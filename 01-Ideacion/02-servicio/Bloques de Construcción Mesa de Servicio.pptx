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4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57E1C-3399-4C2E-83B7-5BCDD121BA9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078CF-3259-4B94-9C83-772BB7EBC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948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350C1-7883-4E4F-8DE0-47394B1ED972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88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D17B6-1F92-D043-D887-B511C4AE9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FFD74D-3468-B782-F31D-D1AC1C8C0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6BC745-09A7-E7C9-746D-6A1236BD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EDA78-6C9C-FE52-B620-9FF94931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6572F8-9870-C534-4C2E-C035305F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123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12CD5-0ED2-8A6F-FF47-F9F071B1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B1727-FABC-A97D-7404-61811043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0BF2CA-F930-2EAF-158C-4B43037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32B48-454B-903C-ADFB-A1444178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594037-276D-AD50-D418-2FD5E319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644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E3009-9262-1574-F3C9-D98AB3573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387751-29FB-C635-DADA-CB6B012F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76BED-7516-FFDE-7001-A80731D0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7518CA-C17D-5327-0CDA-F8499CA1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79F2B5-00D6-5350-85B7-657B51A3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349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F1FE8-E77E-6AB9-D709-86A98F57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10741D-57E6-2B02-D30A-8F222FE55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E58372-6532-98DE-D783-4F101A5F2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D39D1-4ABA-DEF6-5B90-55F8E8B7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650C3D-3624-D78A-DBE3-C4C109BD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D3DF77-8ABC-AAF4-50C7-87BAD4A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578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12AD-A9F0-33B2-3FBC-FDD8986B9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BD8C01-A13F-0322-95AF-763974026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6949DA-9F88-0AEB-4590-C7B996F32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5B3C2B-DB71-A137-0674-81125AC1E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B1196D-D3B5-3813-FADC-3A0B0EDD0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62C5D5-F6B8-A184-DF02-6CD6EBAF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BDFCB7-5647-BB65-4BF3-08C5AAE6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621CB9B-77F9-9A9E-B526-CDD3267F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575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09FD9-C286-9938-0DED-5A397829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B216B2-3CF7-8AC4-A727-A069F484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9D4527-D0E6-79A3-B1A3-3787C62B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9D02F3-3C7F-38C3-5B09-D993F550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066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5E0D540-15FC-8142-1275-F0321CF6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D44B0B-BCA4-56FD-E656-7597D472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F68160-70D0-A43B-845D-CE655203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743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F65E6-6472-2E00-ECEE-C8F313A5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DD4E07-C674-9CA7-679A-631D3FC32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3FDFA1-49E1-8727-ADB8-DB53C4361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320F79-50F3-FE9B-54AE-0A57A7DC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A9BF44-51F6-03CC-8F72-7F6D442B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4E611B-CB76-0718-A208-126495B1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851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7A1BD-F355-B033-35B8-AB307D43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B1F910-8A23-A611-059C-DC5862493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837C84-18CE-EF39-4C56-93A0D9B05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487AB7-7EB8-8AA6-B0B9-A6755ECF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1BBA95-6F74-BF8F-9819-6B3003F4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B16C16-E113-7D30-5CB1-3FEDBA40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6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4768A-F8E6-8DAD-6E01-B698B230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D81D61-BA04-82B6-191D-A84582502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7E4536-EBA5-88A7-A2AF-0C2A3C6E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AB86EE-0229-8529-0E16-790F283A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ED9FD8-19EE-7BAE-4F61-490ADFAE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974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F9F952-6FAD-8214-E619-C27003C6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50EC15-5674-87CA-4F06-F1332EAEE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FCC5D7-9F95-D060-CCDF-7546C139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DA10A-32D5-1AEF-A668-9E28159E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675B4-D007-8F63-2F88-3C05C0A7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367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CF6F59-2322-1C6A-785C-07331430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A963EF-69A9-2F51-8C07-D5AA10565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56A40A-7D52-9945-1474-33A5C5D57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196FB-5C60-4534-8AA9-E620D5584070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85F832-D880-2471-A140-CC9D4D3BB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C64E1E-BB92-BFC8-B428-E94807229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CDAA8-1729-4B30-9E01-704BE4BA2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859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9FDC3-2395-F1CB-A1E4-6844843146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Bloques de Construcción Mesa </a:t>
            </a:r>
            <a:r>
              <a:rPr lang="es-MX"/>
              <a:t>de Servicio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25BAA4-476D-3DB5-070E-1E4816D438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47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699D411-AEBE-4B27-B10B-206826924676}"/>
              </a:ext>
            </a:extLst>
          </p:cNvPr>
          <p:cNvSpPr/>
          <p:nvPr/>
        </p:nvSpPr>
        <p:spPr>
          <a:xfrm>
            <a:off x="2003089" y="489527"/>
            <a:ext cx="1207008" cy="4118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Canales</a:t>
            </a:r>
          </a:p>
          <a:p>
            <a:pPr algn="ctr"/>
            <a:r>
              <a:rPr lang="es-MX" sz="1200" dirty="0"/>
              <a:t>Cliente</a:t>
            </a:r>
          </a:p>
          <a:p>
            <a:pPr algn="ctr"/>
            <a:r>
              <a:rPr lang="es-MX" sz="1200" dirty="0"/>
              <a:t>PersonalSoft</a:t>
            </a:r>
            <a:endParaRPr lang="es-CO" sz="12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C914867-D9C1-E176-537D-8A69D208C29D}"/>
              </a:ext>
            </a:extLst>
          </p:cNvPr>
          <p:cNvSpPr/>
          <p:nvPr/>
        </p:nvSpPr>
        <p:spPr>
          <a:xfrm>
            <a:off x="7377486" y="581187"/>
            <a:ext cx="6751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Nivel 1</a:t>
            </a:r>
            <a:endParaRPr lang="es-CO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FCF6F11-503C-8FCB-1F47-9FF25A25282D}"/>
              </a:ext>
            </a:extLst>
          </p:cNvPr>
          <p:cNvSpPr/>
          <p:nvPr/>
        </p:nvSpPr>
        <p:spPr>
          <a:xfrm>
            <a:off x="8187218" y="591450"/>
            <a:ext cx="6751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Nivel 2</a:t>
            </a:r>
            <a:endParaRPr lang="es-CO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641DD7-6479-AD0E-DE8A-A10CEDE2758B}"/>
              </a:ext>
            </a:extLst>
          </p:cNvPr>
          <p:cNvSpPr/>
          <p:nvPr/>
        </p:nvSpPr>
        <p:spPr>
          <a:xfrm>
            <a:off x="8993034" y="590517"/>
            <a:ext cx="68235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Nivel 3</a:t>
            </a:r>
            <a:endParaRPr lang="es-CO" sz="1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D32CE7-59E5-80A0-F60F-0F1E0E09F3FB}"/>
              </a:ext>
            </a:extLst>
          </p:cNvPr>
          <p:cNvSpPr/>
          <p:nvPr/>
        </p:nvSpPr>
        <p:spPr>
          <a:xfrm>
            <a:off x="6477320" y="2433071"/>
            <a:ext cx="3316224" cy="7178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Operación Aumentada</a:t>
            </a:r>
          </a:p>
          <a:p>
            <a:pPr algn="ctr"/>
            <a:r>
              <a:rPr lang="es-MX" sz="1050" dirty="0"/>
              <a:t>Softers, Automatizaciones, </a:t>
            </a:r>
            <a:r>
              <a:rPr lang="es-CO" sz="1050" dirty="0"/>
              <a:t>Agentes de IA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C6D8B9-CC43-2BB9-1CCB-8B164D7E97DB}"/>
              </a:ext>
            </a:extLst>
          </p:cNvPr>
          <p:cNvSpPr/>
          <p:nvPr/>
        </p:nvSpPr>
        <p:spPr>
          <a:xfrm>
            <a:off x="6477320" y="4002846"/>
            <a:ext cx="3316224" cy="603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KPI Eficiencia Operativa</a:t>
            </a:r>
            <a:endParaRPr lang="es-CO" sz="10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992BFA2-1EB3-53AE-FE1B-424EFFF23267}"/>
              </a:ext>
            </a:extLst>
          </p:cNvPr>
          <p:cNvSpPr/>
          <p:nvPr/>
        </p:nvSpPr>
        <p:spPr>
          <a:xfrm>
            <a:off x="4818375" y="489527"/>
            <a:ext cx="1423599" cy="4118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Catálogo de Servicios</a:t>
            </a:r>
          </a:p>
          <a:p>
            <a:pPr algn="ctr"/>
            <a:r>
              <a:rPr lang="es-MX" dirty="0"/>
              <a:t>&lt;&lt;Proxy&gt;&gt;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6171D58-AE66-DBD5-F795-83451A35EB7F}"/>
              </a:ext>
            </a:extLst>
          </p:cNvPr>
          <p:cNvSpPr/>
          <p:nvPr/>
        </p:nvSpPr>
        <p:spPr>
          <a:xfrm>
            <a:off x="2140564" y="5289789"/>
            <a:ext cx="1491412" cy="509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KDB Procedimental</a:t>
            </a:r>
            <a:endParaRPr lang="es-CO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261B20F-373F-AB45-C7E1-9F0464009A40}"/>
              </a:ext>
            </a:extLst>
          </p:cNvPr>
          <p:cNvSpPr txBox="1"/>
          <p:nvPr/>
        </p:nvSpPr>
        <p:spPr>
          <a:xfrm>
            <a:off x="7984190" y="5842337"/>
            <a:ext cx="4965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KDB Operacional: Conocimiento acumulado de la gestión de PersonalSoft sobre los activos de TI que son gestionados por la mesa se servicios:</a:t>
            </a:r>
          </a:p>
          <a:p>
            <a:r>
              <a:rPr lang="es-MX" sz="1200" dirty="0"/>
              <a:t>- Problema recurrentes y soluciones recurrentes, pronóstico de cumplimiento de SLA/OLA, </a:t>
            </a:r>
            <a:r>
              <a:rPr lang="es-MX" sz="1200" dirty="0" err="1"/>
              <a:t>Deflección</a:t>
            </a:r>
            <a:endParaRPr lang="es-CO" sz="1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0C9669D-5237-9A09-CB4B-8A2397349CDB}"/>
              </a:ext>
            </a:extLst>
          </p:cNvPr>
          <p:cNvSpPr/>
          <p:nvPr/>
        </p:nvSpPr>
        <p:spPr>
          <a:xfrm>
            <a:off x="3313149" y="489527"/>
            <a:ext cx="1423599" cy="41181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Catálogo de Servicios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&lt;&lt;Cliente&gt;&gt;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E1B93D-C6F3-21EA-EBE0-D80E5D9FD588}"/>
              </a:ext>
            </a:extLst>
          </p:cNvPr>
          <p:cNvSpPr txBox="1"/>
          <p:nvPr/>
        </p:nvSpPr>
        <p:spPr>
          <a:xfrm>
            <a:off x="6447598" y="1538735"/>
            <a:ext cx="337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Orquestador de Flujos de Casos</a:t>
            </a:r>
            <a:endParaRPr lang="es-CO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72A214A-DFE2-93CB-0FD2-E2094B2F07A7}"/>
              </a:ext>
            </a:extLst>
          </p:cNvPr>
          <p:cNvSpPr/>
          <p:nvPr/>
        </p:nvSpPr>
        <p:spPr>
          <a:xfrm>
            <a:off x="437065" y="519635"/>
            <a:ext cx="1456801" cy="41030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Flota de Agentes IA Funcionales y asistentes de solución</a:t>
            </a:r>
            <a:endParaRPr lang="es-CO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B220AE7-89E0-D2F8-74DF-8CDC6300FF96}"/>
              </a:ext>
            </a:extLst>
          </p:cNvPr>
          <p:cNvSpPr txBox="1"/>
          <p:nvPr/>
        </p:nvSpPr>
        <p:spPr>
          <a:xfrm rot="16200000">
            <a:off x="-645442" y="2418884"/>
            <a:ext cx="16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Usuarios Final</a:t>
            </a:r>
            <a:endParaRPr lang="es-CO" dirty="0"/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77FB49F8-4BEC-95D0-10DD-5C00881381F4}"/>
              </a:ext>
            </a:extLst>
          </p:cNvPr>
          <p:cNvCxnSpPr>
            <a:cxnSpLocks/>
            <a:stCxn id="23" idx="2"/>
            <a:endCxn id="20" idx="2"/>
          </p:cNvCxnSpPr>
          <p:nvPr/>
        </p:nvCxnSpPr>
        <p:spPr>
          <a:xfrm rot="5400000" flipH="1" flipV="1">
            <a:off x="2587680" y="3185436"/>
            <a:ext cx="15054" cy="2859483"/>
          </a:xfrm>
          <a:prstGeom prst="bentConnector3">
            <a:avLst>
              <a:gd name="adj1" fmla="val -151853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269EE995-24E9-93BB-662E-831B8DE46DD3}"/>
              </a:ext>
            </a:extLst>
          </p:cNvPr>
          <p:cNvCxnSpPr>
            <a:stCxn id="23" idx="2"/>
            <a:endCxn id="15" idx="2"/>
          </p:cNvCxnSpPr>
          <p:nvPr/>
        </p:nvCxnSpPr>
        <p:spPr>
          <a:xfrm rot="5400000" flipH="1" flipV="1">
            <a:off x="3340293" y="2432823"/>
            <a:ext cx="15054" cy="4364709"/>
          </a:xfrm>
          <a:prstGeom prst="bentConnector3">
            <a:avLst>
              <a:gd name="adj1" fmla="val -151853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12E9C52-7D5C-7C74-780C-85E0EDAF0ABA}"/>
              </a:ext>
            </a:extLst>
          </p:cNvPr>
          <p:cNvSpPr/>
          <p:nvPr/>
        </p:nvSpPr>
        <p:spPr>
          <a:xfrm>
            <a:off x="3769451" y="5289789"/>
            <a:ext cx="1491412" cy="509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KDB Operacional de TI</a:t>
            </a:r>
            <a:endParaRPr lang="es-CO" sz="14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8840AC-7B3A-C40B-157F-D63B36B7222E}"/>
              </a:ext>
            </a:extLst>
          </p:cNvPr>
          <p:cNvSpPr/>
          <p:nvPr/>
        </p:nvSpPr>
        <p:spPr>
          <a:xfrm>
            <a:off x="511677" y="5271317"/>
            <a:ext cx="1491412" cy="509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KDB Procesos y Producto</a:t>
            </a:r>
            <a:endParaRPr lang="es-CO" sz="14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D5BD8C3-D571-6D72-2526-6F8324954849}"/>
              </a:ext>
            </a:extLst>
          </p:cNvPr>
          <p:cNvSpPr/>
          <p:nvPr/>
        </p:nvSpPr>
        <p:spPr>
          <a:xfrm>
            <a:off x="6931137" y="5296972"/>
            <a:ext cx="1491412" cy="509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KDB SOX, Seguridad, Regulatorio</a:t>
            </a:r>
            <a:endParaRPr lang="es-CO" sz="14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F0F6C41-78A4-4309-402E-6C0C3CBC1A3C}"/>
              </a:ext>
            </a:extLst>
          </p:cNvPr>
          <p:cNvSpPr/>
          <p:nvPr/>
        </p:nvSpPr>
        <p:spPr>
          <a:xfrm>
            <a:off x="10028890" y="473171"/>
            <a:ext cx="2006092" cy="41331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Servicios Complementarios</a:t>
            </a:r>
            <a:endParaRPr lang="es-CO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057F714-EF6C-37DD-9C39-E941A6DB5CE4}"/>
              </a:ext>
            </a:extLst>
          </p:cNvPr>
          <p:cNvSpPr/>
          <p:nvPr/>
        </p:nvSpPr>
        <p:spPr>
          <a:xfrm>
            <a:off x="5350294" y="5303381"/>
            <a:ext cx="1491412" cy="509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KDB </a:t>
            </a:r>
            <a:r>
              <a:rPr lang="es-MX" sz="1400" dirty="0" err="1"/>
              <a:t>Deflection</a:t>
            </a:r>
            <a:r>
              <a:rPr lang="es-MX" sz="1400" dirty="0"/>
              <a:t> </a:t>
            </a:r>
            <a:r>
              <a:rPr lang="es-MX" sz="1400" dirty="0" err="1"/>
              <a:t>Tkt</a:t>
            </a:r>
            <a:endParaRPr lang="es-CO" sz="14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65B80EC-6B04-84EA-33F4-83E786B5F7A2}"/>
              </a:ext>
            </a:extLst>
          </p:cNvPr>
          <p:cNvSpPr/>
          <p:nvPr/>
        </p:nvSpPr>
        <p:spPr>
          <a:xfrm>
            <a:off x="6584602" y="591450"/>
            <a:ext cx="66220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/>
              <a:t>Nivel </a:t>
            </a:r>
            <a:r>
              <a:rPr lang="es-MX" sz="1400" dirty="0"/>
              <a:t>0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3604949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Panorámica</PresentationFormat>
  <Paragraphs>27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Bloques de Construcción Mesa de Servicio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 Fredy Jimenez Vélez</dc:creator>
  <cp:lastModifiedBy>Jhon Fredy Jimenez Vélez</cp:lastModifiedBy>
  <cp:revision>1</cp:revision>
  <dcterms:created xsi:type="dcterms:W3CDTF">2026-07-15T19:59:28Z</dcterms:created>
  <dcterms:modified xsi:type="dcterms:W3CDTF">2026-07-15T19:59:47Z</dcterms:modified>
</cp:coreProperties>
</file>