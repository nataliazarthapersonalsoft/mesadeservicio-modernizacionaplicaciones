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6" r:id="rId1"/>
    <p:sldMasterId id="2147483648" r:id="rId2"/>
  </p:sldMasterIdLst>
  <p:notesMasterIdLst>
    <p:notesMasterId r:id="rId64"/>
  </p:notesMasterIdLst>
  <p:sldIdLst>
    <p:sldId id="257" r:id="rId3"/>
    <p:sldId id="260" r:id="rId4"/>
    <p:sldId id="321" r:id="rId5"/>
    <p:sldId id="258" r:id="rId6"/>
    <p:sldId id="322" r:id="rId7"/>
    <p:sldId id="329" r:id="rId8"/>
    <p:sldId id="330" r:id="rId9"/>
    <p:sldId id="2567" r:id="rId10"/>
    <p:sldId id="304" r:id="rId11"/>
    <p:sldId id="2568" r:id="rId12"/>
    <p:sldId id="300" r:id="rId13"/>
    <p:sldId id="309" r:id="rId14"/>
    <p:sldId id="323" r:id="rId15"/>
    <p:sldId id="313" r:id="rId16"/>
    <p:sldId id="328" r:id="rId17"/>
    <p:sldId id="315" r:id="rId18"/>
    <p:sldId id="314" r:id="rId19"/>
    <p:sldId id="358" r:id="rId20"/>
    <p:sldId id="302" r:id="rId21"/>
    <p:sldId id="316" r:id="rId22"/>
    <p:sldId id="317" r:id="rId23"/>
    <p:sldId id="332" r:id="rId24"/>
    <p:sldId id="319" r:id="rId25"/>
    <p:sldId id="2566" r:id="rId26"/>
    <p:sldId id="334" r:id="rId27"/>
    <p:sldId id="2569" r:id="rId28"/>
    <p:sldId id="331" r:id="rId29"/>
    <p:sldId id="262" r:id="rId30"/>
    <p:sldId id="326" r:id="rId31"/>
    <p:sldId id="310" r:id="rId32"/>
    <p:sldId id="295" r:id="rId33"/>
    <p:sldId id="357" r:id="rId34"/>
    <p:sldId id="293" r:id="rId35"/>
    <p:sldId id="288" r:id="rId36"/>
    <p:sldId id="289" r:id="rId37"/>
    <p:sldId id="312" r:id="rId38"/>
    <p:sldId id="324" r:id="rId39"/>
    <p:sldId id="335" r:id="rId40"/>
    <p:sldId id="336" r:id="rId41"/>
    <p:sldId id="356" r:id="rId42"/>
    <p:sldId id="274" r:id="rId43"/>
    <p:sldId id="337" r:id="rId44"/>
    <p:sldId id="276" r:id="rId45"/>
    <p:sldId id="339" r:id="rId46"/>
    <p:sldId id="277" r:id="rId47"/>
    <p:sldId id="354" r:id="rId48"/>
    <p:sldId id="341" r:id="rId49"/>
    <p:sldId id="278" r:id="rId50"/>
    <p:sldId id="279" r:id="rId51"/>
    <p:sldId id="343" r:id="rId52"/>
    <p:sldId id="345" r:id="rId53"/>
    <p:sldId id="355" r:id="rId54"/>
    <p:sldId id="307" r:id="rId55"/>
    <p:sldId id="346" r:id="rId56"/>
    <p:sldId id="349" r:id="rId57"/>
    <p:sldId id="350" r:id="rId58"/>
    <p:sldId id="352" r:id="rId59"/>
    <p:sldId id="351" r:id="rId60"/>
    <p:sldId id="353" r:id="rId61"/>
    <p:sldId id="267" r:id="rId62"/>
    <p:sldId id="268" r:id="rId63"/>
  </p:sldIdLst>
  <p:sldSz cx="9144000" cy="5143500" type="screen16x9"/>
  <p:notesSz cx="6858000" cy="9144000"/>
  <p:embeddedFontLst>
    <p:embeddedFont>
      <p:font typeface="Reddit Sans" panose="020B0604020202020204" charset="0"/>
      <p:regular r:id="rId65"/>
      <p:bold r:id="rId66"/>
      <p:italic r:id="rId67"/>
      <p:boldItalic r:id="rId68"/>
    </p:embeddedFont>
    <p:embeddedFont>
      <p:font typeface="Reddit Sans Light" panose="020B0604020202020204" charset="0"/>
      <p:regular r:id="rId69"/>
      <p:bold r:id="rId70"/>
      <p:italic r:id="rId71"/>
      <p:boldItalic r:id="rId72"/>
    </p:embeddedFont>
    <p:embeddedFont>
      <p:font typeface="Reddit Sans Medium" panose="020B0604020202020204" charset="0"/>
      <p:regular r:id="rId73"/>
      <p:bold r:id="rId74"/>
      <p:italic r:id="rId75"/>
      <p:boldItalic r:id="rId76"/>
    </p:embeddedFont>
    <p:embeddedFont>
      <p:font typeface="Reddit Sans SemiBold" panose="020B0604020202020204" charset="0"/>
      <p:regular r:id="rId77"/>
      <p:bold r:id="rId78"/>
      <p:italic r:id="rId79"/>
      <p:boldItalic r:id="rId80"/>
    </p:embeddedFont>
    <p:embeddedFont>
      <p:font typeface="Segoe UI" panose="020B0502040204020203" pitchFamily="34" charset="0"/>
      <p:regular r:id="rId81"/>
      <p:bold r:id="rId82"/>
      <p:italic r:id="rId83"/>
      <p:boldItalic r:id="rId8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86" roundtripDataSignature="AMtx7mjbXstnVTn4VoWkkWw8RkcDPqyOe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4E4E4"/>
    <a:srgbClr val="CBACE3"/>
    <a:srgbClr val="F0F4FA"/>
    <a:srgbClr val="1AA8DB"/>
    <a:srgbClr val="FEFF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42BEEC-EFF1-B70A-649E-43E311917AB8}" v="115" dt="2026-07-10T16:39:16.001"/>
    <p1510:client id="{9CE4EA71-3AC7-DED6-5446-F9041EB978FA}" v="4432" dt="2026-07-12T16:09:19.444"/>
    <p1510:client id="{EACD41E4-5797-A94E-FEDA-C515924ACA8D}" v="1176" dt="2026-07-10T16:29:31.498"/>
  </p1510:revLst>
</p1510:revInfo>
</file>

<file path=ppt/tableStyles.xml><?xml version="1.0" encoding="utf-8"?>
<a:tblStyleLst xmlns:a="http://schemas.openxmlformats.org/drawingml/2006/main" def="{1FEE7CD7-7DD5-4E0E-8F7E-406774204185}">
  <a:tblStyle styleId="{1FEE7CD7-7DD5-4E0E-8F7E-40677420418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font" Target="fonts/font4.fntdata"/><Relationship Id="rId84" Type="http://schemas.openxmlformats.org/officeDocument/2006/relationships/font" Target="fonts/font20.fntdata"/><Relationship Id="rId89" Type="http://schemas.openxmlformats.org/officeDocument/2006/relationships/theme" Target="theme/theme1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font" Target="fonts/font10.fntdata"/><Relationship Id="rId79" Type="http://schemas.openxmlformats.org/officeDocument/2006/relationships/font" Target="fonts/font15.fntdata"/><Relationship Id="rId5" Type="http://schemas.openxmlformats.org/officeDocument/2006/relationships/slide" Target="slides/slide3.xml"/><Relationship Id="rId90" Type="http://schemas.openxmlformats.org/officeDocument/2006/relationships/tableStyles" Target="tableStyles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notesMaster" Target="notesMasters/notesMaster1.xml"/><Relationship Id="rId69" Type="http://schemas.openxmlformats.org/officeDocument/2006/relationships/font" Target="fonts/font5.fntdata"/><Relationship Id="rId77" Type="http://schemas.openxmlformats.org/officeDocument/2006/relationships/font" Target="fonts/font13.fntdata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font" Target="fonts/font8.fntdata"/><Relationship Id="rId80" Type="http://schemas.openxmlformats.org/officeDocument/2006/relationships/font" Target="fonts/font16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font" Target="fonts/font3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font" Target="fonts/font6.fntdata"/><Relationship Id="rId75" Type="http://schemas.openxmlformats.org/officeDocument/2006/relationships/font" Target="fonts/font11.fntdata"/><Relationship Id="rId83" Type="http://schemas.openxmlformats.org/officeDocument/2006/relationships/font" Target="fonts/font19.fntdata"/><Relationship Id="rId88" Type="http://schemas.openxmlformats.org/officeDocument/2006/relationships/viewProps" Target="viewProps.xml"/><Relationship Id="rId9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font" Target="fonts/font1.fntdata"/><Relationship Id="rId73" Type="http://schemas.openxmlformats.org/officeDocument/2006/relationships/font" Target="fonts/font9.fntdata"/><Relationship Id="rId78" Type="http://schemas.openxmlformats.org/officeDocument/2006/relationships/font" Target="fonts/font14.fntdata"/><Relationship Id="rId81" Type="http://schemas.openxmlformats.org/officeDocument/2006/relationships/font" Target="fonts/font17.fntdata"/><Relationship Id="rId86" Type="http://customschemas.google.com/relationships/presentationmetadata" Target="meta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font" Target="fonts/font12.fntdata"/><Relationship Id="rId7" Type="http://schemas.openxmlformats.org/officeDocument/2006/relationships/slide" Target="slides/slide5.xml"/><Relationship Id="rId71" Type="http://schemas.openxmlformats.org/officeDocument/2006/relationships/font" Target="fonts/font7.fntdata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font" Target="fonts/font2.fntdata"/><Relationship Id="rId87" Type="http://schemas.openxmlformats.org/officeDocument/2006/relationships/presProps" Target="presProps.xml"/><Relationship Id="rId61" Type="http://schemas.openxmlformats.org/officeDocument/2006/relationships/slide" Target="slides/slide59.xml"/><Relationship Id="rId82" Type="http://schemas.openxmlformats.org/officeDocument/2006/relationships/font" Target="fonts/font18.fntdata"/><Relationship Id="rId19" Type="http://schemas.openxmlformats.org/officeDocument/2006/relationships/slide" Target="slides/slide1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39_389B0B2A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48_D60752B3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3B_F882B62B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3B_F882B62B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s-E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Valor actual (2024)</c:v>
                </c:pt>
              </c:strCache>
            </c:strRef>
          </c:tx>
          <c:spPr>
            <a:solidFill>
              <a:srgbClr val="187884"/>
            </a:solidFill>
            <a:ln>
              <a:noFill/>
            </a:ln>
          </c:spPr>
          <c:invertIfNegative val="1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8DD-4964-ADED-18A2CF565176}"/>
              </c:ext>
            </c:extLst>
          </c:dPt>
          <c:dPt>
            <c:idx val="1"/>
            <c:invertIfNegative val="0"/>
            <c:bubble3D val="0"/>
            <c:spPr>
              <a:solidFill>
                <a:srgbClr val="A8482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68DD-4964-ADED-18A2CF565176}"/>
              </c:ext>
            </c:extLst>
          </c:dPt>
          <c:dPt>
            <c:idx val="2"/>
            <c:invertIfNegative val="0"/>
            <c:bubble3D val="0"/>
            <c:spPr>
              <a:solidFill>
                <a:srgbClr val="903C5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68DD-4964-ADED-18A2CF565176}"/>
              </c:ext>
            </c:extLst>
          </c:dPt>
          <c:dLbls>
            <c:numFmt formatCode="0.0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000" b="1">
                    <a:solidFill>
                      <a:srgbClr val="183C48"/>
                    </a:solidFill>
                  </a:defRPr>
                </a:pPr>
                <a:endParaRPr lang="es-E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Hoja1!$A$2:$A$4</c:f>
              <c:strCache>
                <c:ptCount val="3"/>
                <c:pt idx="0">
                  <c:v>Growth Market</c:v>
                </c:pt>
                <c:pt idx="1">
                  <c:v>Apps Run</c:v>
                </c:pt>
                <c:pt idx="2">
                  <c:v>Business Research</c:v>
                </c:pt>
              </c:strCache>
            </c:strRef>
          </c:cat>
          <c:val>
            <c:numRef>
              <c:f>Hoja1!$B$2:$B$4</c:f>
              <c:numCache>
                <c:formatCode>0.0</c:formatCode>
                <c:ptCount val="3"/>
                <c:pt idx="0">
                  <c:v>7.8</c:v>
                </c:pt>
                <c:pt idx="1">
                  <c:v>11.4</c:v>
                </c:pt>
                <c:pt idx="2">
                  <c:v>3.7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68DD-4964-ADED-18A2CF565176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Proyección futura</c:v>
                </c:pt>
              </c:strCache>
            </c:strRef>
          </c:tx>
          <c:spPr>
            <a:solidFill>
              <a:srgbClr val="183C48"/>
            </a:solidFill>
            <a:ln>
              <a:noFill/>
            </a:ln>
          </c:spPr>
          <c:invertIfNegative val="1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8-68DD-4964-ADED-18A2CF565176}"/>
              </c:ext>
            </c:extLst>
          </c:dPt>
          <c:dPt>
            <c:idx val="2"/>
            <c:invertIfNegative val="0"/>
            <c:bubble3D val="0"/>
            <c:spPr>
              <a:solidFill>
                <a:srgbClr val="6C482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A-68DD-4964-ADED-18A2CF565176}"/>
              </c:ext>
            </c:extLst>
          </c:dPt>
          <c:dLbls>
            <c:numFmt formatCode="0.0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000" b="1">
                    <a:solidFill>
                      <a:srgbClr val="183C48"/>
                    </a:solidFill>
                  </a:defRPr>
                </a:pPr>
                <a:endParaRPr lang="es-E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Hoja1!$A$2:$A$4</c:f>
              <c:strCache>
                <c:ptCount val="3"/>
                <c:pt idx="0">
                  <c:v>Growth Market</c:v>
                </c:pt>
                <c:pt idx="1">
                  <c:v>Apps Run</c:v>
                </c:pt>
                <c:pt idx="2">
                  <c:v>Business Research</c:v>
                </c:pt>
              </c:strCache>
            </c:strRef>
          </c:cat>
          <c:val>
            <c:numRef>
              <c:f>Hoja1!$C$2:$C$4</c:f>
              <c:numCache>
                <c:formatCode>General</c:formatCode>
                <c:ptCount val="3"/>
                <c:pt idx="0" formatCode="0.0">
                  <c:v>17.399999999999999</c:v>
                </c:pt>
                <c:pt idx="2" formatCode="0.0">
                  <c:v>18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B-68DD-4964-ADED-18A2CF5651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cross"/>
        <c:minorTickMark val="cross"/>
        <c:tickLblPos val="nextTo"/>
        <c:txPr>
          <a:bodyPr/>
          <a:lstStyle/>
          <a:p>
            <a:pPr>
              <a:defRPr sz="1100" b="1">
                <a:solidFill>
                  <a:srgbClr val="1F3B47"/>
                </a:solidFill>
              </a:defRPr>
            </a:pPr>
            <a:endParaRPr lang="es-ES"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E3E1DB"/>
              </a:solidFill>
            </a:ln>
          </c:spPr>
        </c:majorGridlines>
        <c:numFmt formatCode="0" sourceLinked="0"/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8A8A83"/>
                </a:solidFill>
              </a:defRPr>
            </a:pPr>
            <a:endParaRPr lang="es-ES"/>
          </a:p>
        </c:txPr>
        <c:crossAx val="111111111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A5A55"/>
              </a:solidFill>
            </a:defRPr>
          </a:pPr>
          <a:endParaRPr lang="es-ES"/>
        </a:p>
      </c:txPr>
    </c:legend>
    <c:plotVisOnly val="1"/>
    <c:dispBlanksAs val="gap"/>
    <c:showDLblsOverMax val="1"/>
  </c:chart>
  <c:spPr>
    <a:noFill/>
    <a:ln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s-E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Valor actual (2024)</c:v>
                </c:pt>
              </c:strCache>
            </c:strRef>
          </c:tx>
          <c:spPr>
            <a:solidFill>
              <a:srgbClr val="1E8080"/>
            </a:solidFill>
            <a:ln>
              <a:noFill/>
            </a:ln>
          </c:spPr>
          <c:invertIfNegative val="1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DB54-43C7-9D36-C7CC4E048323}"/>
              </c:ext>
            </c:extLst>
          </c:dPt>
          <c:dPt>
            <c:idx val="1"/>
            <c:invertIfNegative val="0"/>
            <c:bubble3D val="0"/>
            <c:spPr>
              <a:solidFill>
                <a:srgbClr val="A44526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DB54-43C7-9D36-C7CC4E048323}"/>
              </c:ext>
            </c:extLst>
          </c:dPt>
          <c:dPt>
            <c:idx val="2"/>
            <c:invertIfNegative val="0"/>
            <c:bubble3D val="0"/>
            <c:spPr>
              <a:solidFill>
                <a:srgbClr val="D6920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DB54-43C7-9D36-C7CC4E04832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1E8080"/>
                        </a:solidFill>
                      </a:rPr>
                      <a:t>$1.8B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DB54-43C7-9D36-C7CC4E04832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A44526"/>
                        </a:solidFill>
                      </a:rPr>
                      <a:t>$0.52B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DB54-43C7-9D36-C7CC4E048323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D69200"/>
                        </a:solidFill>
                      </a:rPr>
                      <a:t>$108M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DB54-43C7-9D36-C7CC4E048323}"/>
                </c:ext>
              </c:extLst>
            </c:dLbl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Hoja1!$A$2:$A$4</c:f>
              <c:strCache>
                <c:ptCount val="3"/>
                <c:pt idx="0">
                  <c:v>Latam</c:v>
                </c:pt>
                <c:pt idx="1">
                  <c:v>Sudamérica</c:v>
                </c:pt>
                <c:pt idx="2">
                  <c:v>Colombia</c:v>
                </c:pt>
              </c:strCache>
            </c:strRef>
          </c:cat>
          <c:val>
            <c:numRef>
              <c:f>Hoja1!$B$2:$B$4</c:f>
              <c:numCache>
                <c:formatCode>0.00</c:formatCode>
                <c:ptCount val="3"/>
                <c:pt idx="0">
                  <c:v>1.8</c:v>
                </c:pt>
                <c:pt idx="1">
                  <c:v>0.52</c:v>
                </c:pt>
                <c:pt idx="2">
                  <c:v>0.108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DB54-43C7-9D36-C7CC4E048323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Proyección futura</c:v>
                </c:pt>
              </c:strCache>
            </c:strRef>
          </c:tx>
          <c:spPr>
            <a:solidFill>
              <a:srgbClr val="104040"/>
            </a:solidFill>
            <a:ln>
              <a:noFill/>
            </a:ln>
          </c:spPr>
          <c:invertIfNegative val="1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8-DB54-43C7-9D36-C7CC4E048323}"/>
              </c:ext>
            </c:extLst>
          </c:dPt>
          <c:dPt>
            <c:idx val="1"/>
            <c:invertIfNegative val="0"/>
            <c:bubble3D val="0"/>
            <c:spPr>
              <a:solidFill>
                <a:srgbClr val="8E3E5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A-DB54-43C7-9D36-C7CC4E048323}"/>
              </c:ext>
            </c:extLst>
          </c:dPt>
          <c:dPt>
            <c:idx val="2"/>
            <c:invertIfNegative val="0"/>
            <c:bubble3D val="0"/>
            <c:spPr>
              <a:solidFill>
                <a:srgbClr val="16233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C-DB54-43C7-9D36-C7CC4E04832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104040"/>
                        </a:solidFill>
                      </a:rPr>
                      <a:t>$2.5B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DB54-43C7-9D36-C7CC4E04832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8E3E50"/>
                        </a:solidFill>
                      </a:rPr>
                      <a:t>$1.26B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DB54-43C7-9D36-C7CC4E048323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000" b="1">
                        <a:solidFill>
                          <a:srgbClr val="16233F"/>
                        </a:solidFill>
                      </a:rPr>
                      <a:t>$250M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DB54-43C7-9D36-C7CC4E048323}"/>
                </c:ext>
              </c:extLst>
            </c:dLbl>
            <c:spPr>
              <a:noFill/>
              <a:ln>
                <a:noFill/>
              </a:ln>
              <a:effectLst/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Hoja1!$A$2:$A$4</c:f>
              <c:strCache>
                <c:ptCount val="3"/>
                <c:pt idx="0">
                  <c:v>Latam</c:v>
                </c:pt>
                <c:pt idx="1">
                  <c:v>Sudamérica</c:v>
                </c:pt>
                <c:pt idx="2">
                  <c:v>Colombia</c:v>
                </c:pt>
              </c:strCache>
            </c:strRef>
          </c:cat>
          <c:val>
            <c:numRef>
              <c:f>Hoja1!$C$2:$C$4</c:f>
              <c:numCache>
                <c:formatCode>0.00</c:formatCode>
                <c:ptCount val="3"/>
                <c:pt idx="0">
                  <c:v>2.5</c:v>
                </c:pt>
                <c:pt idx="1">
                  <c:v>1.26</c:v>
                </c:pt>
                <c:pt idx="2">
                  <c:v>0.25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D-DB54-43C7-9D36-C7CC4E04832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311111111"/>
        <c:axId val="322222222"/>
      </c:barChart>
      <c:catAx>
        <c:axId val="311111111"/>
        <c:scaling>
          <c:orientation val="minMax"/>
        </c:scaling>
        <c:delete val="0"/>
        <c:axPos val="b"/>
        <c:numFmt formatCode="General" sourceLinked="0"/>
        <c:majorTickMark val="cross"/>
        <c:minorTickMark val="cross"/>
        <c:tickLblPos val="nextTo"/>
        <c:txPr>
          <a:bodyPr/>
          <a:lstStyle/>
          <a:p>
            <a:pPr>
              <a:defRPr sz="1000" b="1">
                <a:solidFill>
                  <a:srgbClr val="1F3B47"/>
                </a:solidFill>
              </a:defRPr>
            </a:pPr>
            <a:endParaRPr lang="es-ES"/>
          </a:p>
        </c:txPr>
        <c:crossAx val="322222222"/>
        <c:crosses val="autoZero"/>
        <c:auto val="1"/>
        <c:lblAlgn val="ctr"/>
        <c:lblOffset val="100"/>
        <c:noMultiLvlLbl val="1"/>
      </c:catAx>
      <c:valAx>
        <c:axId val="3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E3E1DB"/>
              </a:solidFill>
            </a:ln>
          </c:spPr>
        </c:majorGridlines>
        <c:numFmt formatCode="0.0&quot;B&quot;" sourceLinked="0"/>
        <c:majorTickMark val="none"/>
        <c:minorTickMark val="none"/>
        <c:tickLblPos val="nextTo"/>
        <c:txPr>
          <a:bodyPr/>
          <a:lstStyle/>
          <a:p>
            <a:pPr>
              <a:defRPr sz="800">
                <a:solidFill>
                  <a:srgbClr val="8A8A83"/>
                </a:solidFill>
              </a:defRPr>
            </a:pPr>
            <a:endParaRPr lang="es-ES"/>
          </a:p>
        </c:txPr>
        <c:crossAx val="31111111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s-ES"/>
  <c:roundedCorners val="0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Cuota de mercado</c:v>
                </c:pt>
              </c:strCache>
            </c:strRef>
          </c:tx>
          <c:dPt>
            <c:idx val="0"/>
            <c:bubble3D val="0"/>
            <c:spPr>
              <a:solidFill>
                <a:srgbClr val="2F7D8F"/>
              </a:solidFill>
              <a:ln w="1905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BEA3-48A2-883F-93DEC6B83946}"/>
              </c:ext>
            </c:extLst>
          </c:dPt>
          <c:dPt>
            <c:idx val="1"/>
            <c:bubble3D val="0"/>
            <c:spPr>
              <a:solidFill>
                <a:srgbClr val="8A8A8A"/>
              </a:solidFill>
              <a:ln w="1905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BEA3-48A2-883F-93DEC6B83946}"/>
              </c:ext>
            </c:extLst>
          </c:dPt>
          <c:dPt>
            <c:idx val="2"/>
            <c:bubble3D val="0"/>
            <c:spPr>
              <a:solidFill>
                <a:srgbClr val="E0B23E"/>
              </a:solidFill>
              <a:ln w="1905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5-BEA3-48A2-883F-93DEC6B83946}"/>
              </c:ext>
            </c:extLst>
          </c:dPt>
          <c:dPt>
            <c:idx val="3"/>
            <c:bubble3D val="0"/>
            <c:spPr>
              <a:solidFill>
                <a:srgbClr val="B0483C"/>
              </a:solidFill>
              <a:ln w="1905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7-BEA3-48A2-883F-93DEC6B83946}"/>
              </c:ext>
            </c:extLst>
          </c:dPt>
          <c:dPt>
            <c:idx val="4"/>
            <c:bubble3D val="0"/>
            <c:spPr>
              <a:solidFill>
                <a:srgbClr val="7A5AA0"/>
              </a:solidFill>
              <a:ln w="1905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9-BEA3-48A2-883F-93DEC6B83946}"/>
              </c:ext>
            </c:extLst>
          </c:dPt>
          <c:dPt>
            <c:idx val="5"/>
            <c:bubble3D val="0"/>
            <c:spPr>
              <a:solidFill>
                <a:srgbClr val="5F9153"/>
              </a:solidFill>
              <a:ln w="1905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B-BEA3-48A2-883F-93DEC6B83946}"/>
              </c:ext>
            </c:extLst>
          </c:dPt>
          <c:dLbls>
            <c:numFmt formatCode="0.0%" sourceLinked="0"/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</a:defRPr>
                </a:pPr>
                <a:endParaRPr lang="es-ES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Hoja1!$A$2:$A$7</c:f>
              <c:strCache>
                <c:ptCount val="6"/>
                <c:pt idx="0">
                  <c:v>ServiceNow</c:v>
                </c:pt>
                <c:pt idx="1">
                  <c:v>Otros</c:v>
                </c:pt>
                <c:pt idx="2">
                  <c:v>Atlassian</c:v>
                </c:pt>
                <c:pt idx="3">
                  <c:v>BMC</c:v>
                </c:pt>
                <c:pt idx="4">
                  <c:v>Ivanti</c:v>
                </c:pt>
                <c:pt idx="5">
                  <c:v>Freshworks</c:v>
                </c:pt>
              </c:strCache>
            </c:strRef>
          </c:cat>
          <c:val>
            <c:numRef>
              <c:f>Hoja1!$B$2:$B$7</c:f>
              <c:numCache>
                <c:formatCode>0.0</c:formatCode>
                <c:ptCount val="6"/>
                <c:pt idx="0">
                  <c:v>44.4</c:v>
                </c:pt>
                <c:pt idx="1">
                  <c:v>22.8</c:v>
                </c:pt>
                <c:pt idx="2">
                  <c:v>12.3</c:v>
                </c:pt>
                <c:pt idx="3">
                  <c:v>8.5</c:v>
                </c:pt>
                <c:pt idx="4">
                  <c:v>6.2</c:v>
                </c:pt>
                <c:pt idx="5">
                  <c:v>5.8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BEA3-48A2-883F-93DEC6B839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A5A55"/>
              </a:solidFill>
            </a:defRPr>
          </a:pPr>
          <a:endParaRPr lang="es-ES"/>
        </a:p>
      </c:txPr>
    </c:legend>
    <c:plotVisOnly val="1"/>
    <c:dispBlanksAs val="gap"/>
    <c:showDLblsOverMax val="1"/>
  </c:chart>
  <c:spPr>
    <a:noFill/>
    <a:ln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s-ES"/>
  <c:roundedCorners val="0"/>
  <c:style val="2"/>
  <c:chart>
    <c:autoTitleDeleted val="1"/>
    <c:plotArea>
      <c:layout>
        <c:manualLayout>
          <c:layoutTarget val="inner"/>
          <c:xMode val="edge"/>
          <c:yMode val="edge"/>
          <c:x val="0.03"/>
          <c:y val="0.03"/>
          <c:w val="0.94"/>
          <c:h val="0.94"/>
        </c:manualLayout>
      </c:layout>
      <c:bubbleChart>
        <c:varyColors val="0"/>
        <c:ser>
          <c:idx val="0"/>
          <c:order val="0"/>
          <c:tx>
            <c:strRef>
              <c:f>Hoja1!$A$2</c:f>
              <c:strCache>
                <c:ptCount val="1"/>
                <c:pt idx="0">
                  <c:v>ServiceNow</c:v>
                </c:pt>
              </c:strCache>
            </c:strRef>
          </c:tx>
          <c:spPr>
            <a:solidFill>
              <a:srgbClr val="16233F"/>
            </a:solidFill>
            <a:ln w="12700">
              <a:solidFill>
                <a:srgbClr val="FFFFFF"/>
              </a:solidFill>
            </a:ln>
          </c:spPr>
          <c:invertIfNegative val="1"/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</a:defRPr>
                </a:pPr>
                <a:endParaRPr lang="es-E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Hoja1!$B$2</c:f>
              <c:numCache>
                <c:formatCode>General</c:formatCode>
                <c:ptCount val="1"/>
                <c:pt idx="0">
                  <c:v>83</c:v>
                </c:pt>
              </c:numCache>
            </c:numRef>
          </c:xVal>
          <c:yVal>
            <c:numRef>
              <c:f>Hoja1!$C$2</c:f>
              <c:numCache>
                <c:formatCode>General</c:formatCode>
                <c:ptCount val="1"/>
                <c:pt idx="0">
                  <c:v>80</c:v>
                </c:pt>
              </c:numCache>
            </c:numRef>
          </c:yVal>
          <c:bubbleSize>
            <c:numRef>
              <c:f>Hoja1!$D$2</c:f>
              <c:numCache>
                <c:formatCode>General</c:formatCode>
                <c:ptCount val="1"/>
                <c:pt idx="0">
                  <c:v>5</c:v>
                </c:pt>
              </c:numCache>
            </c:numRef>
          </c:bubbleSize>
          <c:bubble3D val="0"/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12700"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4651-4641-8111-E31EA3A22074}"/>
            </c:ext>
          </c:extLst>
        </c:ser>
        <c:ser>
          <c:idx val="1"/>
          <c:order val="1"/>
          <c:tx>
            <c:strRef>
              <c:f>Hoja1!$A$3</c:f>
              <c:strCache>
                <c:ptCount val="1"/>
                <c:pt idx="0">
                  <c:v>Aisera</c:v>
                </c:pt>
              </c:strCache>
            </c:strRef>
          </c:tx>
          <c:spPr>
            <a:solidFill>
              <a:srgbClr val="4A9AA6"/>
            </a:solidFill>
            <a:ln w="12700">
              <a:solidFill>
                <a:srgbClr val="FFFFFF"/>
              </a:solidFill>
            </a:ln>
          </c:spPr>
          <c:invertIfNegative val="1"/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</a:defRPr>
                </a:pPr>
                <a:endParaRPr lang="es-E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Hoja1!$B$3</c:f>
              <c:numCache>
                <c:formatCode>General</c:formatCode>
                <c:ptCount val="1"/>
                <c:pt idx="0">
                  <c:v>63</c:v>
                </c:pt>
              </c:numCache>
            </c:numRef>
          </c:xVal>
          <c:yVal>
            <c:numRef>
              <c:f>Hoja1!$C$3</c:f>
              <c:numCache>
                <c:formatCode>General</c:formatCode>
                <c:ptCount val="1"/>
                <c:pt idx="0">
                  <c:v>78</c:v>
                </c:pt>
              </c:numCache>
            </c:numRef>
          </c:yVal>
          <c:bubbleSize>
            <c:numRef>
              <c:f>Hoja1!$D$3</c:f>
              <c:numCache>
                <c:formatCode>General</c:formatCode>
                <c:ptCount val="1"/>
                <c:pt idx="0">
                  <c:v>3.5</c:v>
                </c:pt>
              </c:numCache>
            </c:numRef>
          </c:bubbleSize>
          <c:bubble3D val="0"/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12700"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4651-4641-8111-E31EA3A22074}"/>
            </c:ext>
          </c:extLst>
        </c:ser>
        <c:ser>
          <c:idx val="2"/>
          <c:order val="2"/>
          <c:tx>
            <c:strRef>
              <c:f>Hoja1!$A$4</c:f>
              <c:strCache>
                <c:ptCount val="1"/>
                <c:pt idx="0">
                  <c:v>Moveworks</c:v>
                </c:pt>
              </c:strCache>
            </c:strRef>
          </c:tx>
          <c:spPr>
            <a:solidFill>
              <a:srgbClr val="B06A7F"/>
            </a:solidFill>
            <a:ln w="12700">
              <a:solidFill>
                <a:srgbClr val="FFFFFF"/>
              </a:solidFill>
            </a:ln>
          </c:spPr>
          <c:invertIfNegative val="1"/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</a:defRPr>
                </a:pPr>
                <a:endParaRPr lang="es-E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Hoja1!$B$4</c:f>
              <c:numCache>
                <c:formatCode>General</c:formatCode>
                <c:ptCount val="1"/>
                <c:pt idx="0">
                  <c:v>30</c:v>
                </c:pt>
              </c:numCache>
            </c:numRef>
          </c:xVal>
          <c:yVal>
            <c:numRef>
              <c:f>Hoja1!$C$4</c:f>
              <c:numCache>
                <c:formatCode>General</c:formatCode>
                <c:ptCount val="1"/>
                <c:pt idx="0">
                  <c:v>76</c:v>
                </c:pt>
              </c:numCache>
            </c:numRef>
          </c:yVal>
          <c:bubbleSize>
            <c:numRef>
              <c:f>Hoja1!$D$4</c:f>
              <c:numCache>
                <c:formatCode>General</c:formatCode>
                <c:ptCount val="1"/>
                <c:pt idx="0">
                  <c:v>3.5</c:v>
                </c:pt>
              </c:numCache>
            </c:numRef>
          </c:bubbleSize>
          <c:bubble3D val="0"/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12700"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4651-4641-8111-E31EA3A22074}"/>
            </c:ext>
          </c:extLst>
        </c:ser>
        <c:ser>
          <c:idx val="3"/>
          <c:order val="3"/>
          <c:tx>
            <c:strRef>
              <c:f>Hoja1!$A$5</c:f>
              <c:strCache>
                <c:ptCount val="1"/>
                <c:pt idx="0">
                  <c:v>BMC</c:v>
                </c:pt>
              </c:strCache>
            </c:strRef>
          </c:tx>
          <c:spPr>
            <a:solidFill>
              <a:srgbClr val="C17A63"/>
            </a:solidFill>
            <a:ln w="12700">
              <a:solidFill>
                <a:srgbClr val="FFFFFF"/>
              </a:solidFill>
            </a:ln>
          </c:spPr>
          <c:invertIfNegative val="1"/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</a:defRPr>
                </a:pPr>
                <a:endParaRPr lang="es-E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Hoja1!$B$5</c:f>
              <c:numCache>
                <c:formatCode>General</c:formatCode>
                <c:ptCount val="1"/>
                <c:pt idx="0">
                  <c:v>74</c:v>
                </c:pt>
              </c:numCache>
            </c:numRef>
          </c:xVal>
          <c:yVal>
            <c:numRef>
              <c:f>Hoja1!$C$5</c:f>
              <c:numCache>
                <c:formatCode>General</c:formatCode>
                <c:ptCount val="1"/>
                <c:pt idx="0">
                  <c:v>30</c:v>
                </c:pt>
              </c:numCache>
            </c:numRef>
          </c:yVal>
          <c:bubbleSize>
            <c:numRef>
              <c:f>Hoja1!$D$5</c:f>
              <c:numCache>
                <c:formatCode>General</c:formatCode>
                <c:ptCount val="1"/>
                <c:pt idx="0">
                  <c:v>3.5</c:v>
                </c:pt>
              </c:numCache>
            </c:numRef>
          </c:bubbleSize>
          <c:bubble3D val="0"/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12700"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4651-4641-8111-E31EA3A22074}"/>
            </c:ext>
          </c:extLst>
        </c:ser>
        <c:ser>
          <c:idx val="4"/>
          <c:order val="4"/>
          <c:tx>
            <c:strRef>
              <c:f>Hoja1!$A$6</c:f>
              <c:strCache>
                <c:ptCount val="1"/>
                <c:pt idx="0">
                  <c:v>Atlassian</c:v>
                </c:pt>
              </c:strCache>
            </c:strRef>
          </c:tx>
          <c:spPr>
            <a:solidFill>
              <a:srgbClr val="E0B23E"/>
            </a:solidFill>
            <a:ln w="12700">
              <a:solidFill>
                <a:srgbClr val="FFFFFF"/>
              </a:solidFill>
            </a:ln>
          </c:spPr>
          <c:invertIfNegative val="1"/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</a:defRPr>
                </a:pPr>
                <a:endParaRPr lang="es-E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Hoja1!$B$6</c:f>
              <c:numCache>
                <c:formatCode>General</c:formatCode>
                <c:ptCount val="1"/>
                <c:pt idx="0">
                  <c:v>18</c:v>
                </c:pt>
              </c:numCache>
            </c:numRef>
          </c:xVal>
          <c:yVal>
            <c:numRef>
              <c:f>Hoja1!$C$6</c:f>
              <c:numCache>
                <c:formatCode>General</c:formatCode>
                <c:ptCount val="1"/>
                <c:pt idx="0">
                  <c:v>30</c:v>
                </c:pt>
              </c:numCache>
            </c:numRef>
          </c:yVal>
          <c:bubbleSize>
            <c:numRef>
              <c:f>Hoja1!$D$6</c:f>
              <c:numCache>
                <c:formatCode>General</c:formatCode>
                <c:ptCount val="1"/>
                <c:pt idx="0">
                  <c:v>3</c:v>
                </c:pt>
              </c:numCache>
            </c:numRef>
          </c:bubbleSize>
          <c:bubble3D val="0"/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12700"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4651-4641-8111-E31EA3A22074}"/>
            </c:ext>
          </c:extLst>
        </c:ser>
        <c:ser>
          <c:idx val="5"/>
          <c:order val="5"/>
          <c:tx>
            <c:strRef>
              <c:f>Hoja1!$A$7</c:f>
              <c:strCache>
                <c:ptCount val="1"/>
                <c:pt idx="0">
                  <c:v>Freshworks</c:v>
                </c:pt>
              </c:strCache>
            </c:strRef>
          </c:tx>
          <c:spPr>
            <a:solidFill>
              <a:srgbClr val="5F9153"/>
            </a:solidFill>
            <a:ln w="12700">
              <a:solidFill>
                <a:srgbClr val="FFFFFF"/>
              </a:solidFill>
            </a:ln>
          </c:spPr>
          <c:invertIfNegative val="1"/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</a:defRPr>
                </a:pPr>
                <a:endParaRPr lang="es-E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Hoja1!$B$7</c:f>
              <c:numCache>
                <c:formatCode>General</c:formatCode>
                <c:ptCount val="1"/>
                <c:pt idx="0">
                  <c:v>31</c:v>
                </c:pt>
              </c:numCache>
            </c:numRef>
          </c:xVal>
          <c:yVal>
            <c:numRef>
              <c:f>Hoja1!$C$7</c:f>
              <c:numCache>
                <c:formatCode>General</c:formatCode>
                <c:ptCount val="1"/>
                <c:pt idx="0">
                  <c:v>13</c:v>
                </c:pt>
              </c:numCache>
            </c:numRef>
          </c:yVal>
          <c:bubbleSize>
            <c:numRef>
              <c:f>Hoja1!$D$7</c:f>
              <c:numCache>
                <c:formatCode>General</c:formatCode>
                <c:ptCount val="1"/>
                <c:pt idx="0">
                  <c:v>3</c:v>
                </c:pt>
              </c:numCache>
            </c:numRef>
          </c:bubbleSize>
          <c:bubble3D val="0"/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12700"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4651-4641-8111-E31EA3A22074}"/>
            </c:ext>
          </c:extLst>
        </c:ser>
        <c:ser>
          <c:idx val="6"/>
          <c:order val="6"/>
          <c:tx>
            <c:strRef>
              <c:f>Hoja1!$A$8</c:f>
              <c:strCache>
                <c:ptCount val="1"/>
                <c:pt idx="0">
                  <c:v>SysAid</c:v>
                </c:pt>
              </c:strCache>
            </c:strRef>
          </c:tx>
          <c:spPr>
            <a:solidFill>
              <a:srgbClr val="9E9E9E"/>
            </a:solidFill>
            <a:ln w="12700">
              <a:solidFill>
                <a:srgbClr val="FFFFFF"/>
              </a:solidFill>
            </a:ln>
          </c:spPr>
          <c:invertIfNegative val="1"/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</a:defRPr>
                </a:pPr>
                <a:endParaRPr lang="es-E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Hoja1!$B$8</c:f>
              <c:numCache>
                <c:formatCode>General</c:formatCode>
                <c:ptCount val="1"/>
                <c:pt idx="0">
                  <c:v>44</c:v>
                </c:pt>
              </c:numCache>
            </c:numRef>
          </c:xVal>
          <c:yVal>
            <c:numRef>
              <c:f>Hoja1!$C$8</c:f>
              <c:numCache>
                <c:formatCode>General</c:formatCode>
                <c:ptCount val="1"/>
                <c:pt idx="0">
                  <c:v>22</c:v>
                </c:pt>
              </c:numCache>
            </c:numRef>
          </c:yVal>
          <c:bubbleSize>
            <c:numRef>
              <c:f>Hoja1!$D$8</c:f>
              <c:numCache>
                <c:formatCode>General</c:formatCode>
                <c:ptCount val="1"/>
                <c:pt idx="0">
                  <c:v>2.6</c:v>
                </c:pt>
              </c:numCache>
            </c:numRef>
          </c:bubbleSize>
          <c:bubble3D val="0"/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12700"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4651-4641-8111-E31EA3A22074}"/>
            </c:ext>
          </c:extLst>
        </c:ser>
        <c:ser>
          <c:idx val="7"/>
          <c:order val="7"/>
          <c:tx>
            <c:strRef>
              <c:f>Hoja1!$A$9</c:f>
              <c:strCache>
                <c:ptCount val="1"/>
                <c:pt idx="0">
                  <c:v>ManageEngine</c:v>
                </c:pt>
              </c:strCache>
            </c:strRef>
          </c:tx>
          <c:spPr>
            <a:solidFill>
              <a:srgbClr val="8E5BBF"/>
            </a:solidFill>
            <a:ln w="12700">
              <a:solidFill>
                <a:srgbClr val="FFFFFF"/>
              </a:solidFill>
            </a:ln>
          </c:spPr>
          <c:invertIfNegative val="1"/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</a:defRPr>
                </a:pPr>
                <a:endParaRPr lang="es-E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xVal>
            <c:numRef>
              <c:f>Hoja1!$B$9</c:f>
              <c:numCache>
                <c:formatCode>General</c:formatCode>
                <c:ptCount val="1"/>
                <c:pt idx="0">
                  <c:v>7</c:v>
                </c:pt>
              </c:numCache>
            </c:numRef>
          </c:xVal>
          <c:yVal>
            <c:numRef>
              <c:f>Hoja1!$C$9</c:f>
              <c:numCache>
                <c:formatCode>General</c:formatCode>
                <c:ptCount val="1"/>
                <c:pt idx="0">
                  <c:v>14</c:v>
                </c:pt>
              </c:numCache>
            </c:numRef>
          </c:yVal>
          <c:bubbleSize>
            <c:numRef>
              <c:f>Hoja1!$D$9</c:f>
              <c:numCache>
                <c:formatCode>General</c:formatCode>
                <c:ptCount val="1"/>
                <c:pt idx="0">
                  <c:v>2.6</c:v>
                </c:pt>
              </c:numCache>
            </c:numRef>
          </c:bubbleSize>
          <c:bubble3D val="0"/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12700"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7-4651-4641-8111-E31EA3A2207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60"/>
        <c:showNegBubbles val="0"/>
        <c:axId val="333333333"/>
        <c:axId val="444444444"/>
      </c:bubbleChart>
      <c:valAx>
        <c:axId val="333333333"/>
        <c:scaling>
          <c:orientation val="minMax"/>
          <c:max val="108"/>
          <c:min val="-8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 w="12700">
            <a:solidFill>
              <a:srgbClr val="BFBCB2"/>
            </a:solidFill>
            <a:prstDash val="dash"/>
          </a:ln>
        </c:spPr>
        <c:crossAx val="444444444"/>
        <c:crossesAt val="50"/>
        <c:crossBetween val="midCat"/>
      </c:valAx>
      <c:valAx>
        <c:axId val="444444444"/>
        <c:scaling>
          <c:orientation val="minMax"/>
          <c:max val="108"/>
          <c:min val="-8"/>
        </c:scaling>
        <c:delete val="0"/>
        <c:axPos val="l"/>
        <c:numFmt formatCode="General" sourceLinked="0"/>
        <c:majorTickMark val="none"/>
        <c:minorTickMark val="none"/>
        <c:tickLblPos val="none"/>
        <c:spPr>
          <a:ln w="12700">
            <a:solidFill>
              <a:srgbClr val="BFBCB2"/>
            </a:solidFill>
            <a:prstDash val="dash"/>
          </a:ln>
        </c:spPr>
        <c:crossAx val="333333333"/>
        <c:crossesAt val="50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ing.com/ck/a?!&amp;&amp;p=d500af2f30bdfc2fb481c268b42ccff364d8c6d896f51ecdfd16d3bf116eedcdJmltdHM9MTc4MzM4MjQwMA&amp;ptn=3&amp;ver=2&amp;hsh=4&amp;fclid=10d11685-cdd1-6520-1f35-0107cca364bf&amp;u=a1aHR0cHM6Ly9yZWd1bGFmb3JlbnNpY3MuY29tL2VzL2Jsb2cvc3dhcm1pbmctc3VwcG9ydC1tb2RlbC8&amp;ntb=1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bing.com/ck/a?!&amp;&amp;p=850ece00eb93253a87fbe61242c6bd172bc031ebab6034752dc1f260fc9c0a10JmltdHM9MTc4MzU1NTIwMA&amp;ptn=3&amp;ver=2&amp;hsh=4&amp;fclid=10d11685-cdd1-6520-1f35-0107cca364bf&amp;u=a1aHR0cHM6Ly93d3cuZWVzZWwuYWkvZXMvYmxvZy9tb3Zld29ya3M&amp;ntb=1" TargetMode="Externa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inpresswire.com/article/823090394/xla-institute-releases-groundbreaking-state-of-xla-2025-report?code=9Hv3x5D-vwZo-peK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www.linkedin.com/posts/alannance_get-your-copy-of-the-state-of-xla-2025-published-activity-7340670233575079936-XZ3Q" TargetMode="External"/><Relationship Id="rId4" Type="http://schemas.openxmlformats.org/officeDocument/2006/relationships/hyperlink" Target="https://www.emerce.nl/wire/xla-institute-publiceert-state-xla-2025-rapport" TargetMode="External"/></Relationships>
</file>

<file path=ppt/notesSlides/_rels/notes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ervicenow.com/content/dam/servicenow-assets/public/en-us/doc-type/resource-center/white-paper/the-essentials-of-predictive-aiops-and-visibility.pdf" TargetMode="External"/><Relationship Id="rId3" Type="http://schemas.openxmlformats.org/officeDocument/2006/relationships/hyperlink" Target="https://freshservice.com/assets/resources/freshservice/freshservice-it-service-management-benchmark-report-2024.pdf" TargetMode="External"/><Relationship Id="rId7" Type="http://schemas.openxmlformats.org/officeDocument/2006/relationships/hyperlink" Target="https://www.tcs.com/insights/blogs/generative-ai-outcome-based-pricing-models-service-desk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ivainc.com/blog/shift-left-analysis-how-to-guide-maximize-it-service-management-itsm-efficiency/" TargetMode="External"/><Relationship Id="rId5" Type="http://schemas.openxmlformats.org/officeDocument/2006/relationships/hyperlink" Target="https://www.serviceinnovation.org/kcs/" TargetMode="External"/><Relationship Id="rId4" Type="http://schemas.openxmlformats.org/officeDocument/2006/relationships/hyperlink" Target="https://www.ivanti.com/en-gb/blog/agentic-ai-it-service-autonomy" TargetMode="External"/></Relationships>
</file>

<file path=ppt/notesSlides/_rels/notes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ervicenow.com/content/dam/servicenow-assets/public/en-us/doc-type/resource-center/white-paper/the-essentials-of-predictive-aiops-and-visibility.pdf" TargetMode="External"/><Relationship Id="rId3" Type="http://schemas.openxmlformats.org/officeDocument/2006/relationships/hyperlink" Target="https://freshservice.com/assets/resources/freshservice/freshservice-it-service-management-benchmark-report-2024.pdf" TargetMode="External"/><Relationship Id="rId7" Type="http://schemas.openxmlformats.org/officeDocument/2006/relationships/hyperlink" Target="https://www.tcs.com/insights/blogs/generative-ai-outcome-based-pricing-models-service-desk" TargetMode="External"/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ivainc.com/blog/shift-left-analysis-how-to-guide-maximize-it-service-management-itsm-efficiency/" TargetMode="External"/><Relationship Id="rId5" Type="http://schemas.openxmlformats.org/officeDocument/2006/relationships/hyperlink" Target="https://www.serviceinnovation.org/kcs/" TargetMode="External"/><Relationship Id="rId4" Type="http://schemas.openxmlformats.org/officeDocument/2006/relationships/hyperlink" Target="https://www.ivanti.com/en-gb/blog/agentic-ai-it-service-autonomy" TargetMode="External"/></Relationships>
</file>

<file path=ppt/notesSlides/_rels/notes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uperfinanciera.gov.co" TargetMode="External"/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iso.org/standard/42001" TargetMode="External"/><Relationship Id="rId5" Type="http://schemas.openxmlformats.org/officeDocument/2006/relationships/hyperlink" Target="https://www.superfinanciera.gov.co/publicaciones/10116081/finanzas-abiertas-obligatorias-impulsaran-el-desarrollo-del-sistema-y-la-inclusion-financiera-en-el-pais/" TargetMode="External"/><Relationship Id="rId4" Type="http://schemas.openxmlformats.org/officeDocument/2006/relationships/hyperlink" Target="https://www.superfinanciera.gov.co/" TargetMode="Externa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enviaseo.info/peti/755MesadeServicios.html" TargetMode="External"/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www.linkedin.com/pulse/mesa-de-servicio-inteligente-c%C3%B3mo-la-inteligencia-artificial-est%C3%A1-sbj7e/" TargetMode="External"/><Relationship Id="rId4" Type="http://schemas.openxmlformats.org/officeDocument/2006/relationships/hyperlink" Target="https://www.manageengine.com/latam/service-desk/que-es-una-mesa-de-ayuda.html" TargetMode="Externa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rixmind.com/itil-5-what-changed-and-why-it-matters/" TargetMode="External"/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7e80574407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7e80574407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D79356A8-E404-152B-4307-F14EDF225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57f5ba65c_1_28:notes">
            <a:extLst>
              <a:ext uri="{FF2B5EF4-FFF2-40B4-BE49-F238E27FC236}">
                <a16:creationId xmlns:a16="http://schemas.microsoft.com/office/drawing/2014/main" id="{D6A97513-0F20-F8E2-91E4-81F97AE612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57f5ba65c_1_28:notes">
            <a:extLst>
              <a:ext uri="{FF2B5EF4-FFF2-40B4-BE49-F238E27FC236}">
                <a16:creationId xmlns:a16="http://schemas.microsoft.com/office/drawing/2014/main" id="{BA47EDEE-C416-31E2-19FF-E6F318C37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96727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u="sng" dirty="0">
                <a:solidFill>
                  <a:srgbClr val="1B7B85"/>
                </a:solidFill>
              </a:rPr>
              <a:t>KCS </a:t>
            </a:r>
            <a:r>
              <a:rPr lang="en-US" b="1" dirty="0">
                <a:solidFill>
                  <a:srgbClr val="1B7B85"/>
                </a:solidFill>
              </a:rPr>
              <a:t>(Servicio </a:t>
            </a:r>
            <a:r>
              <a:rPr lang="en-US" b="1" dirty="0" err="1">
                <a:solidFill>
                  <a:srgbClr val="1B7B85"/>
                </a:solidFill>
              </a:rPr>
              <a:t>Centrado</a:t>
            </a:r>
            <a:r>
              <a:rPr lang="en-US" b="1" dirty="0">
                <a:solidFill>
                  <a:srgbClr val="1B7B85"/>
                </a:solidFill>
              </a:rPr>
              <a:t> </a:t>
            </a:r>
            <a:r>
              <a:rPr lang="en-US" b="1" dirty="0" err="1">
                <a:solidFill>
                  <a:srgbClr val="1B7B85"/>
                </a:solidFill>
              </a:rPr>
              <a:t>en</a:t>
            </a:r>
            <a:r>
              <a:rPr lang="en-US" b="1" dirty="0">
                <a:solidFill>
                  <a:srgbClr val="1B7B85"/>
                </a:solidFill>
              </a:rPr>
              <a:t> el </a:t>
            </a:r>
            <a:r>
              <a:rPr lang="en-US" b="1" dirty="0" err="1">
                <a:solidFill>
                  <a:srgbClr val="1B7B85"/>
                </a:solidFill>
              </a:rPr>
              <a:t>conocimiento</a:t>
            </a:r>
            <a:r>
              <a:rPr lang="en-US" b="1" dirty="0">
                <a:solidFill>
                  <a:srgbClr val="1B7B85"/>
                </a:solidFill>
              </a:rPr>
              <a:t>)+IA</a:t>
            </a:r>
            <a:endParaRPr lang="es-ES" dirty="0"/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s-ES" dirty="0">
                <a:solidFill>
                  <a:srgbClr val="6A655E"/>
                </a:solidFill>
              </a:rPr>
              <a:t>Diferencial: Somos más consciente de la operación del negocio. Nos </a:t>
            </a:r>
            <a:r>
              <a:rPr lang="es-ES" dirty="0" err="1">
                <a:solidFill>
                  <a:srgbClr val="6A655E"/>
                </a:solidFill>
              </a:rPr>
              <a:t>vuelvemos</a:t>
            </a:r>
            <a:r>
              <a:rPr lang="es-ES" dirty="0">
                <a:solidFill>
                  <a:srgbClr val="6A655E"/>
                </a:solidFill>
              </a:rPr>
              <a:t> expertos en los procesos de negocio del cliente.</a:t>
            </a: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/>
              <a:t>ITO (Information Technology Outsourcing)</a:t>
            </a:r>
            <a:endParaRPr lang="es-ES"/>
          </a:p>
          <a:p>
            <a:pPr>
              <a:buNone/>
            </a:pPr>
            <a:r>
              <a:rPr lang="en-US" dirty="0" err="1"/>
              <a:t>Externalización</a:t>
            </a:r>
            <a:r>
              <a:rPr lang="en-US" dirty="0"/>
              <a:t> de </a:t>
            </a:r>
            <a:r>
              <a:rPr lang="en-US" dirty="0" err="1"/>
              <a:t>servicios</a:t>
            </a:r>
            <a:r>
              <a:rPr lang="en-US" dirty="0"/>
              <a:t> de </a:t>
            </a:r>
            <a:r>
              <a:rPr lang="en-US" dirty="0" err="1"/>
              <a:t>infraestructura</a:t>
            </a:r>
            <a:r>
              <a:rPr lang="en-US" dirty="0"/>
              <a:t> y </a:t>
            </a:r>
            <a:r>
              <a:rPr lang="en-US" dirty="0" err="1"/>
              <a:t>tecnología</a:t>
            </a:r>
            <a:r>
              <a:rPr lang="en-US" dirty="0"/>
              <a:t>.</a:t>
            </a:r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/>
              <a:t>BPO (Business Process Outsourcing)</a:t>
            </a:r>
          </a:p>
          <a:p>
            <a:pPr>
              <a:buNone/>
            </a:pPr>
            <a:r>
              <a:rPr lang="en-US" dirty="0" err="1"/>
              <a:t>Externalización</a:t>
            </a:r>
            <a:r>
              <a:rPr lang="en-US" dirty="0"/>
              <a:t> de </a:t>
            </a:r>
            <a:r>
              <a:rPr lang="en-US" dirty="0" err="1"/>
              <a:t>procesos</a:t>
            </a:r>
            <a:r>
              <a:rPr lang="en-US" dirty="0"/>
              <a:t> de </a:t>
            </a:r>
            <a:r>
              <a:rPr lang="en-US" dirty="0" err="1"/>
              <a:t>negocio</a:t>
            </a:r>
            <a:r>
              <a:rPr lang="en-US" dirty="0"/>
              <a:t>.</a:t>
            </a:r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/>
              <a:t>KPO (Knowledge Process Outsourcing)</a:t>
            </a:r>
          </a:p>
          <a:p>
            <a:pPr>
              <a:buNone/>
            </a:pPr>
            <a:r>
              <a:rPr lang="en-US" dirty="0" err="1"/>
              <a:t>Externalización</a:t>
            </a:r>
            <a:r>
              <a:rPr lang="en-US" dirty="0"/>
              <a:t> de </a:t>
            </a:r>
            <a:r>
              <a:rPr lang="en-US" dirty="0" err="1"/>
              <a:t>procesos</a:t>
            </a:r>
            <a:r>
              <a:rPr lang="en-US" dirty="0"/>
              <a:t> </a:t>
            </a:r>
            <a:r>
              <a:rPr lang="en-US" dirty="0" err="1"/>
              <a:t>especializados</a:t>
            </a:r>
            <a:r>
              <a:rPr lang="en-US" dirty="0"/>
              <a:t> </a:t>
            </a:r>
            <a:r>
              <a:rPr lang="en-US" dirty="0" err="1"/>
              <a:t>basados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conocimiento</a:t>
            </a:r>
            <a:r>
              <a:rPr lang="en-US" dirty="0"/>
              <a:t> y expertise de </a:t>
            </a:r>
            <a:r>
              <a:rPr lang="en-US" dirty="0" err="1"/>
              <a:t>negocio</a:t>
            </a:r>
            <a:r>
              <a:rPr lang="en-US" dirty="0"/>
              <a:t>.</a:t>
            </a:r>
          </a:p>
          <a:p>
            <a:pPr>
              <a:buNone/>
            </a:pPr>
            <a:endParaRPr lang="en-US"/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/>
              <a:t>ESM: Enterprise Service Management</a:t>
            </a:r>
            <a:endParaRPr lang="es-ES"/>
          </a:p>
          <a:p>
            <a:pPr>
              <a:buNone/>
            </a:pPr>
            <a:r>
              <a:rPr lang="en-US" dirty="0"/>
              <a:t>CMDB: Configuration Management Database (Base de Datos de </a:t>
            </a:r>
            <a:r>
              <a:rPr lang="en-US" dirty="0" err="1"/>
              <a:t>Gestión</a:t>
            </a:r>
            <a:r>
              <a:rPr lang="en-US" dirty="0"/>
              <a:t> de la </a:t>
            </a:r>
            <a:r>
              <a:rPr lang="en-US" dirty="0" err="1"/>
              <a:t>Configuración</a:t>
            </a:r>
            <a:r>
              <a:rPr lang="en-US" dirty="0"/>
              <a:t>)</a:t>
            </a:r>
          </a:p>
          <a:p>
            <a:pPr>
              <a:buNone/>
            </a:pPr>
            <a:r>
              <a:rPr lang="en-US" dirty="0"/>
              <a:t>XLA: Experience Level Agreement (</a:t>
            </a:r>
            <a:r>
              <a:rPr lang="en-US" dirty="0" err="1"/>
              <a:t>Acuerdo</a:t>
            </a:r>
            <a:r>
              <a:rPr lang="en-US" dirty="0"/>
              <a:t> de Nivel de </a:t>
            </a:r>
            <a:r>
              <a:rPr lang="en-US" dirty="0" err="1"/>
              <a:t>Experiencia</a:t>
            </a:r>
            <a:r>
              <a:rPr lang="en-US" dirty="0"/>
              <a:t>)</a:t>
            </a:r>
          </a:p>
          <a:p>
            <a:pPr>
              <a:buNone/>
            </a:pPr>
            <a:r>
              <a:rPr lang="en-US" dirty="0"/>
              <a:t>AIOps: Artificial Intelligence for IT Operations (IA para </a:t>
            </a:r>
            <a:r>
              <a:rPr lang="en-US" dirty="0" err="1"/>
              <a:t>Operaciones</a:t>
            </a:r>
            <a:r>
              <a:rPr lang="en-US" dirty="0"/>
              <a:t> de TI)</a:t>
            </a:r>
          </a:p>
          <a:p>
            <a:pPr>
              <a:buNone/>
            </a:pPr>
            <a:r>
              <a:rPr lang="en-US"/>
              <a:t>AITSM: Artificial Intelligence for IT Service Management</a:t>
            </a:r>
          </a:p>
          <a:p>
            <a:pPr algn="ctr">
              <a:buNone/>
            </a:pPr>
            <a:endParaRPr lang="en-US"/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 dirty="0"/>
              <a:t>La </a:t>
            </a:r>
            <a:r>
              <a:rPr lang="en-US" dirty="0" err="1"/>
              <a:t>línea</a:t>
            </a:r>
            <a:r>
              <a:rPr lang="en-US" dirty="0"/>
              <a:t> temporal de la imagen </a:t>
            </a:r>
            <a:r>
              <a:rPr lang="en-US" dirty="0" err="1"/>
              <a:t>muestra</a:t>
            </a:r>
            <a:r>
              <a:rPr lang="en-US" dirty="0"/>
              <a:t> la </a:t>
            </a:r>
            <a:r>
              <a:rPr lang="en-US" dirty="0" err="1"/>
              <a:t>evolución</a:t>
            </a:r>
            <a:r>
              <a:rPr lang="en-US" dirty="0"/>
              <a:t> </a:t>
            </a:r>
            <a:r>
              <a:rPr lang="en-US" dirty="0" err="1"/>
              <a:t>aproximada</a:t>
            </a:r>
            <a:r>
              <a:rPr lang="en-US" dirty="0"/>
              <a:t>:</a:t>
            </a:r>
          </a:p>
          <a:p>
            <a:pPr>
              <a:buNone/>
            </a:pPr>
            <a:r>
              <a:rPr lang="en-US" b="1"/>
              <a:t>HD → SD → ESM → Digital Workplace → AITSM → Autonomous Service Desk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5288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E23A2-FAEC-0E46-FE8C-B06D6EC94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9EFBB9C-687B-F226-78EA-89C5DDDFE6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CA15902-5BB0-7308-0B42-E185A2E8AD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/>
              <a:t>ITO (Information Technology Outsourcing)</a:t>
            </a:r>
            <a:endParaRPr lang="es-ES"/>
          </a:p>
          <a:p>
            <a:pPr>
              <a:buNone/>
            </a:pPr>
            <a:r>
              <a:rPr lang="en-US" err="1"/>
              <a:t>Externalización</a:t>
            </a:r>
            <a:r>
              <a:rPr lang="en-US"/>
              <a:t> de </a:t>
            </a:r>
            <a:r>
              <a:rPr lang="en-US" err="1"/>
              <a:t>servicios</a:t>
            </a:r>
            <a:r>
              <a:rPr lang="en-US"/>
              <a:t> de </a:t>
            </a:r>
            <a:r>
              <a:rPr lang="en-US" err="1"/>
              <a:t>infraestructura</a:t>
            </a:r>
            <a:r>
              <a:rPr lang="en-US"/>
              <a:t> y </a:t>
            </a:r>
            <a:r>
              <a:rPr lang="en-US" err="1"/>
              <a:t>tecnología</a:t>
            </a:r>
            <a:r>
              <a:rPr lang="en-US"/>
              <a:t>.</a:t>
            </a:r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/>
              <a:t>BPO (Business Process Outsourcing)</a:t>
            </a:r>
          </a:p>
          <a:p>
            <a:pPr>
              <a:buNone/>
            </a:pPr>
            <a:r>
              <a:rPr lang="en-US" err="1"/>
              <a:t>Externalización</a:t>
            </a:r>
            <a:r>
              <a:rPr lang="en-US"/>
              <a:t> de </a:t>
            </a:r>
            <a:r>
              <a:rPr lang="en-US" err="1"/>
              <a:t>procesos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.</a:t>
            </a:r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/>
              <a:t>KPO (Knowledge Process Outsourcing)</a:t>
            </a:r>
          </a:p>
          <a:p>
            <a:pPr>
              <a:buNone/>
            </a:pPr>
            <a:r>
              <a:rPr lang="en-US" err="1"/>
              <a:t>Externalización</a:t>
            </a:r>
            <a:r>
              <a:rPr lang="en-US"/>
              <a:t> de </a:t>
            </a:r>
            <a:r>
              <a:rPr lang="en-US" err="1"/>
              <a:t>procesos</a:t>
            </a:r>
            <a:r>
              <a:rPr lang="en-US"/>
              <a:t> </a:t>
            </a:r>
            <a:r>
              <a:rPr lang="en-US" err="1"/>
              <a:t>especializados</a:t>
            </a:r>
            <a:r>
              <a:rPr lang="en-US"/>
              <a:t> </a:t>
            </a:r>
            <a:r>
              <a:rPr lang="en-US" err="1"/>
              <a:t>basados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conocimiento</a:t>
            </a:r>
            <a:r>
              <a:rPr lang="en-US"/>
              <a:t> y expertise de </a:t>
            </a:r>
            <a:r>
              <a:rPr lang="en-US" err="1"/>
              <a:t>negocio</a:t>
            </a:r>
            <a:r>
              <a:rPr lang="en-US"/>
              <a:t>.</a:t>
            </a:r>
          </a:p>
          <a:p>
            <a:pPr>
              <a:buNone/>
            </a:pPr>
            <a:endParaRPr lang="en-US"/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/>
              <a:t>ESM: Enterprise Service Management</a:t>
            </a:r>
            <a:endParaRPr lang="es-ES"/>
          </a:p>
          <a:p>
            <a:pPr>
              <a:buNone/>
            </a:pPr>
            <a:r>
              <a:rPr lang="en-US"/>
              <a:t>CMDB: Configuration Management Database (Base de Datos de </a:t>
            </a:r>
            <a:r>
              <a:rPr lang="en-US" err="1"/>
              <a:t>Gestión</a:t>
            </a:r>
            <a:r>
              <a:rPr lang="en-US"/>
              <a:t> de la </a:t>
            </a:r>
            <a:r>
              <a:rPr lang="en-US" err="1"/>
              <a:t>Configuración</a:t>
            </a:r>
            <a:r>
              <a:rPr lang="en-US"/>
              <a:t>)</a:t>
            </a:r>
          </a:p>
          <a:p>
            <a:pPr>
              <a:buNone/>
            </a:pPr>
            <a:r>
              <a:rPr lang="en-US"/>
              <a:t>XLA: Experience Level Agreement (</a:t>
            </a:r>
            <a:r>
              <a:rPr lang="en-US" err="1"/>
              <a:t>Acuerdo</a:t>
            </a:r>
            <a:r>
              <a:rPr lang="en-US"/>
              <a:t> de Nivel de </a:t>
            </a:r>
            <a:r>
              <a:rPr lang="en-US" err="1"/>
              <a:t>Experiencia</a:t>
            </a:r>
            <a:r>
              <a:rPr lang="en-US"/>
              <a:t>)</a:t>
            </a:r>
          </a:p>
          <a:p>
            <a:pPr>
              <a:buNone/>
            </a:pPr>
            <a:r>
              <a:rPr lang="en-US"/>
              <a:t>AIOps: Artificial Intelligence for IT Operations (IA para </a:t>
            </a:r>
            <a:r>
              <a:rPr lang="en-US" err="1"/>
              <a:t>Operaciones</a:t>
            </a:r>
            <a:r>
              <a:rPr lang="en-US"/>
              <a:t> de TI)</a:t>
            </a:r>
          </a:p>
          <a:p>
            <a:pPr>
              <a:buNone/>
            </a:pPr>
            <a:r>
              <a:rPr lang="en-US"/>
              <a:t>AITSM: Artificial Intelligence for IT Service Management</a:t>
            </a:r>
          </a:p>
          <a:p>
            <a:pPr algn="ctr">
              <a:buNone/>
            </a:pPr>
            <a:endParaRPr lang="en-US"/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/>
              <a:t>La </a:t>
            </a:r>
            <a:r>
              <a:rPr lang="en-US" err="1"/>
              <a:t>línea</a:t>
            </a:r>
            <a:r>
              <a:rPr lang="en-US"/>
              <a:t> temporal de la imagen </a:t>
            </a:r>
            <a:r>
              <a:rPr lang="en-US" err="1"/>
              <a:t>muestra</a:t>
            </a:r>
            <a:r>
              <a:rPr lang="en-US"/>
              <a:t> la </a:t>
            </a:r>
            <a:r>
              <a:rPr lang="en-US" err="1"/>
              <a:t>evolución</a:t>
            </a:r>
            <a:r>
              <a:rPr lang="en-US"/>
              <a:t> </a:t>
            </a:r>
            <a:r>
              <a:rPr lang="en-US" err="1"/>
              <a:t>aproximada</a:t>
            </a:r>
            <a:r>
              <a:rPr lang="en-US"/>
              <a:t>:</a:t>
            </a:r>
          </a:p>
          <a:p>
            <a:pPr>
              <a:buNone/>
            </a:pPr>
            <a:r>
              <a:rPr lang="en-US" b="1"/>
              <a:t>HD → SD → ESM → Digital Workplace → AITSM → Autonomous Service Desk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1743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Char char="•"/>
            </a:pPr>
            <a:r>
              <a:rPr lang="en-US" b="1"/>
              <a:t>N0–N5:</a:t>
            </a:r>
            <a:r>
              <a:rPr lang="en-US"/>
              <a:t> </a:t>
            </a:r>
            <a:r>
              <a:rPr lang="en-US" err="1"/>
              <a:t>Niveles</a:t>
            </a:r>
            <a:r>
              <a:rPr lang="en-US"/>
              <a:t> de </a:t>
            </a:r>
            <a:r>
              <a:rPr lang="en-US" err="1"/>
              <a:t>soporte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van </a:t>
            </a:r>
            <a:r>
              <a:rPr lang="en-US" err="1"/>
              <a:t>desde</a:t>
            </a:r>
            <a:r>
              <a:rPr lang="en-US"/>
              <a:t> </a:t>
            </a:r>
            <a:r>
              <a:rPr lang="en-US" err="1"/>
              <a:t>autoservicio</a:t>
            </a:r>
            <a:r>
              <a:rPr lang="en-US"/>
              <a:t> (N0) hasta </a:t>
            </a:r>
            <a:r>
              <a:rPr lang="en-US" err="1"/>
              <a:t>expertos</a:t>
            </a:r>
            <a:r>
              <a:rPr lang="en-US"/>
              <a:t> </a:t>
            </a:r>
            <a:r>
              <a:rPr lang="en-US" err="1"/>
              <a:t>especializados</a:t>
            </a:r>
            <a:r>
              <a:rPr lang="en-US"/>
              <a:t> o </a:t>
            </a:r>
            <a:r>
              <a:rPr lang="en-US" err="1"/>
              <a:t>fabricante</a:t>
            </a:r>
            <a:r>
              <a:rPr lang="en-US"/>
              <a:t> (N5).</a:t>
            </a:r>
            <a:endParaRPr lang="es-ES"/>
          </a:p>
          <a:p>
            <a:pPr marL="285750" indent="-285750"/>
            <a:r>
              <a:rPr lang="en-US" b="1" err="1"/>
              <a:t>Deflexión</a:t>
            </a:r>
            <a:r>
              <a:rPr lang="en-US" b="1"/>
              <a:t> (Deflection):</a:t>
            </a:r>
            <a:r>
              <a:rPr lang="en-US"/>
              <a:t> Es el </a:t>
            </a:r>
            <a:r>
              <a:rPr lang="en-US" err="1"/>
              <a:t>porcentaje</a:t>
            </a:r>
            <a:r>
              <a:rPr lang="en-US"/>
              <a:t> o </a:t>
            </a:r>
            <a:r>
              <a:rPr lang="en-US" err="1"/>
              <a:t>número</a:t>
            </a:r>
            <a:r>
              <a:rPr lang="en-US"/>
              <a:t> de </a:t>
            </a:r>
            <a:r>
              <a:rPr lang="en-US" err="1"/>
              <a:t>consultas</a:t>
            </a:r>
            <a:r>
              <a:rPr lang="en-US"/>
              <a:t>, </a:t>
            </a:r>
            <a:r>
              <a:rPr lang="en-US" err="1"/>
              <a:t>incidentes</a:t>
            </a:r>
            <a:r>
              <a:rPr lang="en-US"/>
              <a:t> o solicitudes </a:t>
            </a:r>
            <a:r>
              <a:rPr lang="en-US" err="1"/>
              <a:t>que</a:t>
            </a:r>
            <a:r>
              <a:rPr lang="en-US"/>
              <a:t> se </a:t>
            </a:r>
            <a:r>
              <a:rPr lang="en-US" err="1"/>
              <a:t>resuelven</a:t>
            </a:r>
            <a:r>
              <a:rPr lang="en-US"/>
              <a:t> sin </a:t>
            </a:r>
            <a:r>
              <a:rPr lang="en-US" err="1"/>
              <a:t>necesidad</a:t>
            </a:r>
            <a:r>
              <a:rPr lang="en-US"/>
              <a:t> de </a:t>
            </a:r>
            <a:r>
              <a:rPr lang="en-US" err="1"/>
              <a:t>generar</a:t>
            </a:r>
            <a:r>
              <a:rPr lang="en-US"/>
              <a:t> un ticket o sin </a:t>
            </a:r>
            <a:r>
              <a:rPr lang="en-US" err="1"/>
              <a:t>intervención</a:t>
            </a:r>
            <a:r>
              <a:rPr lang="en-US"/>
              <a:t> de un </a:t>
            </a:r>
            <a:r>
              <a:rPr lang="en-US" err="1"/>
              <a:t>agente</a:t>
            </a:r>
            <a:r>
              <a:rPr lang="en-US"/>
              <a:t> de </a:t>
            </a:r>
            <a:r>
              <a:rPr lang="en-US" err="1"/>
              <a:t>soporte</a:t>
            </a:r>
            <a:r>
              <a:rPr lang="en-US"/>
              <a:t>.</a:t>
            </a:r>
          </a:p>
          <a:p>
            <a:pPr marL="285750" indent="-285750">
              <a:buChar char="•"/>
            </a:pPr>
            <a:r>
              <a:rPr lang="en-US" b="1"/>
              <a:t>GenAI:</a:t>
            </a:r>
            <a:r>
              <a:rPr lang="en-US"/>
              <a:t> </a:t>
            </a:r>
            <a:r>
              <a:rPr lang="en-US" err="1"/>
              <a:t>Inteligencia</a:t>
            </a:r>
            <a:r>
              <a:rPr lang="en-US"/>
              <a:t> Artificial </a:t>
            </a:r>
            <a:r>
              <a:rPr lang="en-US" err="1"/>
              <a:t>Generativa</a:t>
            </a:r>
            <a:r>
              <a:rPr lang="en-US"/>
              <a:t> </a:t>
            </a:r>
            <a:r>
              <a:rPr lang="en-US" err="1"/>
              <a:t>capaz</a:t>
            </a:r>
            <a:r>
              <a:rPr lang="en-US"/>
              <a:t> de </a:t>
            </a:r>
            <a:r>
              <a:rPr lang="en-US" err="1"/>
              <a:t>crear</a:t>
            </a:r>
            <a:r>
              <a:rPr lang="en-US"/>
              <a:t> </a:t>
            </a:r>
            <a:r>
              <a:rPr lang="en-US" err="1"/>
              <a:t>contenido</a:t>
            </a:r>
            <a:r>
              <a:rPr lang="en-US"/>
              <a:t> </a:t>
            </a:r>
            <a:r>
              <a:rPr lang="en-US" err="1"/>
              <a:t>como</a:t>
            </a:r>
            <a:r>
              <a:rPr lang="en-US"/>
              <a:t> </a:t>
            </a:r>
            <a:r>
              <a:rPr lang="en-US" err="1"/>
              <a:t>texto</a:t>
            </a:r>
            <a:r>
              <a:rPr lang="en-US"/>
              <a:t>, </a:t>
            </a:r>
            <a:r>
              <a:rPr lang="en-US" err="1"/>
              <a:t>imágenes</a:t>
            </a:r>
            <a:r>
              <a:rPr lang="en-US"/>
              <a:t> o </a:t>
            </a:r>
            <a:r>
              <a:rPr lang="en-US" err="1"/>
              <a:t>código</a:t>
            </a:r>
            <a:r>
              <a:rPr lang="en-US"/>
              <a:t>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KCS:</a:t>
            </a:r>
            <a:r>
              <a:rPr lang="en-US"/>
              <a:t> </a:t>
            </a:r>
            <a:r>
              <a:rPr lang="en-US" i="1"/>
              <a:t>Knowledge-Centered Service</a:t>
            </a:r>
            <a:r>
              <a:rPr lang="en-US"/>
              <a:t>, </a:t>
            </a:r>
            <a:r>
              <a:rPr lang="en-US" err="1"/>
              <a:t>metodología</a:t>
            </a:r>
            <a:r>
              <a:rPr lang="en-US"/>
              <a:t> para </a:t>
            </a:r>
            <a:r>
              <a:rPr lang="en-US" err="1"/>
              <a:t>capturar</a:t>
            </a:r>
            <a:r>
              <a:rPr lang="en-US"/>
              <a:t> y </a:t>
            </a:r>
            <a:r>
              <a:rPr lang="en-US" err="1"/>
              <a:t>reutilizar</a:t>
            </a:r>
            <a:r>
              <a:rPr lang="en-US"/>
              <a:t> </a:t>
            </a:r>
            <a:r>
              <a:rPr lang="en-US" err="1"/>
              <a:t>conocimiento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la </a:t>
            </a:r>
            <a:r>
              <a:rPr lang="en-US" err="1"/>
              <a:t>resolución</a:t>
            </a:r>
            <a:r>
              <a:rPr lang="en-US"/>
              <a:t> de </a:t>
            </a:r>
            <a:r>
              <a:rPr lang="en-US" err="1"/>
              <a:t>casos</a:t>
            </a:r>
            <a:r>
              <a:rPr lang="en-US"/>
              <a:t>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AIOps:</a:t>
            </a:r>
            <a:r>
              <a:rPr lang="en-US"/>
              <a:t> </a:t>
            </a:r>
            <a:r>
              <a:rPr lang="en-US" i="1"/>
              <a:t>Artificial Intelligence for IT Operations</a:t>
            </a:r>
            <a:r>
              <a:rPr lang="en-US"/>
              <a:t>, </a:t>
            </a:r>
            <a:r>
              <a:rPr lang="en-US" err="1"/>
              <a:t>uso</a:t>
            </a:r>
            <a:r>
              <a:rPr lang="en-US"/>
              <a:t> de IA para </a:t>
            </a:r>
            <a:r>
              <a:rPr lang="en-US" err="1"/>
              <a:t>monitorear</a:t>
            </a:r>
            <a:r>
              <a:rPr lang="en-US"/>
              <a:t>, </a:t>
            </a:r>
            <a:r>
              <a:rPr lang="en-US" err="1"/>
              <a:t>detectar</a:t>
            </a:r>
            <a:r>
              <a:rPr lang="en-US"/>
              <a:t> y resolver </a:t>
            </a:r>
            <a:r>
              <a:rPr lang="en-US" err="1"/>
              <a:t>problemas</a:t>
            </a:r>
            <a:r>
              <a:rPr lang="en-US"/>
              <a:t> de TI.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P1:</a:t>
            </a:r>
            <a:r>
              <a:rPr lang="en-US"/>
              <a:t> </a:t>
            </a:r>
            <a:r>
              <a:rPr lang="en-US" i="1"/>
              <a:t>Priority 1</a:t>
            </a:r>
            <a:r>
              <a:rPr lang="en-US"/>
              <a:t>, </a:t>
            </a:r>
            <a:r>
              <a:rPr lang="en-US" err="1"/>
              <a:t>incidente</a:t>
            </a:r>
            <a:r>
              <a:rPr lang="en-US"/>
              <a:t> de </a:t>
            </a:r>
            <a:r>
              <a:rPr lang="en-US" err="1"/>
              <a:t>máxima</a:t>
            </a:r>
            <a:r>
              <a:rPr lang="en-US"/>
              <a:t> </a:t>
            </a:r>
            <a:r>
              <a:rPr lang="en-US" err="1"/>
              <a:t>criticidad</a:t>
            </a:r>
            <a:r>
              <a:rPr lang="en-US"/>
              <a:t> con alto </a:t>
            </a:r>
            <a:r>
              <a:rPr lang="en-US" err="1"/>
              <a:t>impacto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el </a:t>
            </a:r>
            <a:r>
              <a:rPr lang="en-US" err="1"/>
              <a:t>negocio</a:t>
            </a:r>
            <a:r>
              <a:rPr lang="en-US"/>
              <a:t>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SLA:</a:t>
            </a:r>
            <a:r>
              <a:rPr lang="en-US"/>
              <a:t> </a:t>
            </a:r>
            <a:r>
              <a:rPr lang="en-US" i="1"/>
              <a:t>Service Level Agreement</a:t>
            </a:r>
            <a:r>
              <a:rPr lang="en-US"/>
              <a:t>, </a:t>
            </a:r>
            <a:r>
              <a:rPr lang="en-US" err="1"/>
              <a:t>acuerdo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define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niveles</a:t>
            </a:r>
            <a:r>
              <a:rPr lang="en-US"/>
              <a:t> y </a:t>
            </a:r>
            <a:r>
              <a:rPr lang="en-US" err="1"/>
              <a:t>tiempos</a:t>
            </a:r>
            <a:r>
              <a:rPr lang="en-US"/>
              <a:t> de </a:t>
            </a:r>
            <a:r>
              <a:rPr lang="en-US" err="1"/>
              <a:t>servicio</a:t>
            </a:r>
            <a:r>
              <a:rPr lang="en-US"/>
              <a:t> </a:t>
            </a:r>
            <a:r>
              <a:rPr lang="en-US" err="1"/>
              <a:t>comprometidos</a:t>
            </a:r>
            <a:r>
              <a:rPr lang="en-US"/>
              <a:t>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XLA:</a:t>
            </a:r>
            <a:r>
              <a:rPr lang="en-US"/>
              <a:t> </a:t>
            </a:r>
            <a:r>
              <a:rPr lang="en-US" i="1"/>
              <a:t>Experience Level Agreement</a:t>
            </a:r>
            <a:r>
              <a:rPr lang="en-US"/>
              <a:t>, </a:t>
            </a:r>
            <a:r>
              <a:rPr lang="en-US" err="1"/>
              <a:t>acuerdo</a:t>
            </a:r>
            <a:r>
              <a:rPr lang="en-US"/>
              <a:t> </a:t>
            </a:r>
            <a:r>
              <a:rPr lang="en-US" err="1"/>
              <a:t>enfocado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medir</a:t>
            </a:r>
            <a:r>
              <a:rPr lang="en-US"/>
              <a:t> la </a:t>
            </a:r>
            <a:r>
              <a:rPr lang="en-US" err="1"/>
              <a:t>experiencia</a:t>
            </a:r>
            <a:r>
              <a:rPr lang="en-US"/>
              <a:t> y </a:t>
            </a:r>
            <a:r>
              <a:rPr lang="en-US" err="1"/>
              <a:t>satisfacción</a:t>
            </a:r>
            <a:r>
              <a:rPr lang="en-US"/>
              <a:t> del </a:t>
            </a:r>
            <a:r>
              <a:rPr lang="en-US" err="1"/>
              <a:t>usuario</a:t>
            </a:r>
            <a:r>
              <a:rPr lang="en-US"/>
              <a:t>.</a:t>
            </a:r>
            <a:endParaRPr lang="es-ES"/>
          </a:p>
          <a:p>
            <a:pPr marL="285750" indent="-285750">
              <a:buChar char="•"/>
            </a:pPr>
            <a:r>
              <a:rPr lang="en-US" b="1"/>
              <a:t>DEX:</a:t>
            </a:r>
            <a:r>
              <a:rPr lang="en-US"/>
              <a:t> </a:t>
            </a:r>
            <a:r>
              <a:rPr lang="en-US" i="1"/>
              <a:t>Digital Employee Experience</a:t>
            </a:r>
            <a:r>
              <a:rPr lang="en-US"/>
              <a:t>, </a:t>
            </a:r>
            <a:r>
              <a:rPr lang="en-US" err="1"/>
              <a:t>experiencia</a:t>
            </a:r>
            <a:r>
              <a:rPr lang="en-US"/>
              <a:t> digital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tienen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empleados</a:t>
            </a:r>
            <a:r>
              <a:rPr lang="en-US"/>
              <a:t> al usar </a:t>
            </a:r>
            <a:r>
              <a:rPr lang="en-US" err="1"/>
              <a:t>herramientas</a:t>
            </a:r>
            <a:r>
              <a:rPr lang="en-US"/>
              <a:t> y </a:t>
            </a:r>
            <a:r>
              <a:rPr lang="en-US" err="1"/>
              <a:t>servicios</a:t>
            </a:r>
            <a:r>
              <a:rPr lang="en-US"/>
              <a:t> </a:t>
            </a:r>
            <a:r>
              <a:rPr lang="en-US" err="1"/>
              <a:t>tecnológicos</a:t>
            </a:r>
            <a:r>
              <a:rPr lang="en-US"/>
              <a:t>.</a:t>
            </a:r>
            <a:endParaRPr lang="es-ES"/>
          </a:p>
          <a:p>
            <a:pPr marL="285750" indent="-285750"/>
            <a:r>
              <a:rPr lang="en-US" b="1"/>
              <a:t>Self-healing (</a:t>
            </a:r>
            <a:r>
              <a:rPr lang="en-US" b="1" err="1"/>
              <a:t>Autocuración</a:t>
            </a:r>
            <a:r>
              <a:rPr lang="en-US" b="1"/>
              <a:t>)</a:t>
            </a:r>
            <a:endParaRPr lang="en-US" b="1">
              <a:ea typeface="Calibri"/>
            </a:endParaRPr>
          </a:p>
          <a:p>
            <a:pPr marL="285750" indent="-285750"/>
            <a:r>
              <a:rPr lang="en-US"/>
              <a:t>UC (Underpinning Contract): </a:t>
            </a:r>
            <a:r>
              <a:rPr lang="en-US" b="1" err="1"/>
              <a:t>Contrato</a:t>
            </a:r>
            <a:r>
              <a:rPr lang="en-US" b="1"/>
              <a:t> de </a:t>
            </a:r>
            <a:r>
              <a:rPr lang="en-US" b="1" err="1"/>
              <a:t>Soporte</a:t>
            </a:r>
            <a:r>
              <a:rPr lang="en-US" b="1"/>
              <a:t> o </a:t>
            </a:r>
            <a:r>
              <a:rPr lang="en-US" b="1" err="1"/>
              <a:t>Contrato</a:t>
            </a:r>
            <a:r>
              <a:rPr lang="en-US" b="1"/>
              <a:t> de </a:t>
            </a:r>
            <a:r>
              <a:rPr lang="en-US" b="1" err="1"/>
              <a:t>Sustento</a:t>
            </a:r>
            <a:endParaRPr lang="en-US" err="1"/>
          </a:p>
          <a:p>
            <a:pPr marL="285750" indent="-285750"/>
            <a:r>
              <a:rPr lang="en-US"/>
              <a:t>OLA (Operational Level Agreement)</a:t>
            </a:r>
            <a:endParaRPr lang="en-US" b="1">
              <a:ea typeface="Calibri"/>
            </a:endParaRPr>
          </a:p>
          <a:p>
            <a:pPr marL="285750" indent="-285750"/>
            <a:endParaRPr lang="en-US" b="1">
              <a:ea typeface="Calibri"/>
            </a:endParaRPr>
          </a:p>
          <a:p>
            <a:pPr marL="285750" indent="-285750"/>
            <a:endParaRPr lang="en-US" b="1">
              <a:ea typeface="Calibri"/>
            </a:endParaRPr>
          </a:p>
          <a:p>
            <a:pPr marL="285750" indent="-285750">
              <a:buChar char="•"/>
            </a:pPr>
            <a:endParaRPr lang="en-US">
              <a:ea typeface="Calibri"/>
            </a:endParaRPr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719272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9C7B4-A4D0-A7D4-8F60-2424A8C82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1CDE1-4B3C-E37C-02AD-4E4A90FA74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3FD7554-7A78-594E-1C7F-7F0A09F756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96000"/>
              </a:lnSpc>
              <a:buNone/>
            </a:pPr>
            <a:r>
              <a:rPr lang="es-ES" b="1" dirty="0">
                <a:solidFill>
                  <a:srgbClr val="1C3D75"/>
                </a:solidFill>
                <a:highlight>
                  <a:srgbClr val="F8F4F1"/>
                </a:highlight>
              </a:rPr>
              <a:t>PIR: </a:t>
            </a:r>
            <a:r>
              <a:rPr lang="es-ES" dirty="0">
                <a:solidFill>
                  <a:srgbClr val="5A6472"/>
                </a:solidFill>
                <a:highlight>
                  <a:srgbClr val="F8F4F1"/>
                </a:highlight>
              </a:rPr>
              <a:t>Post </a:t>
            </a:r>
            <a:r>
              <a:rPr lang="es-ES" dirty="0" err="1">
                <a:solidFill>
                  <a:srgbClr val="5A6472"/>
                </a:solidFill>
                <a:highlight>
                  <a:srgbClr val="F8F4F1"/>
                </a:highlight>
              </a:rPr>
              <a:t>Implementation</a:t>
            </a:r>
            <a:r>
              <a:rPr lang="es-ES" dirty="0">
                <a:solidFill>
                  <a:srgbClr val="5A6472"/>
                </a:solidFill>
                <a:highlight>
                  <a:srgbClr val="F8F4F1"/>
                </a:highlight>
              </a:rPr>
              <a:t> </a:t>
            </a:r>
            <a:r>
              <a:rPr lang="es-ES" dirty="0" err="1">
                <a:solidFill>
                  <a:srgbClr val="5A6472"/>
                </a:solidFill>
                <a:highlight>
                  <a:srgbClr val="F8F4F1"/>
                </a:highlight>
              </a:rPr>
              <a:t>Review</a:t>
            </a:r>
            <a:endParaRPr lang="en-US" dirty="0" err="1">
              <a:highlight>
                <a:srgbClr val="F8F4F1"/>
              </a:highlight>
            </a:endParaRPr>
          </a:p>
          <a:p>
            <a:pPr marL="0" indent="0">
              <a:lnSpc>
                <a:spcPct val="96000"/>
              </a:lnSpc>
              <a:buNone/>
            </a:pPr>
            <a:r>
              <a:rPr lang="es-ES" b="1" dirty="0">
                <a:solidFill>
                  <a:srgbClr val="1C3D75"/>
                </a:solidFill>
                <a:highlight>
                  <a:srgbClr val="F8F4F1"/>
                </a:highlight>
              </a:rPr>
              <a:t>KCS: </a:t>
            </a:r>
            <a:r>
              <a:rPr lang="es-ES" dirty="0">
                <a:solidFill>
                  <a:srgbClr val="5A6472"/>
                </a:solidFill>
                <a:highlight>
                  <a:srgbClr val="F8F4F1"/>
                </a:highlight>
              </a:rPr>
              <a:t>Knowledge-</a:t>
            </a:r>
            <a:r>
              <a:rPr lang="es-ES" dirty="0" err="1">
                <a:solidFill>
                  <a:srgbClr val="5A6472"/>
                </a:solidFill>
                <a:highlight>
                  <a:srgbClr val="F8F4F1"/>
                </a:highlight>
              </a:rPr>
              <a:t>Centered</a:t>
            </a:r>
            <a:r>
              <a:rPr lang="es-ES" dirty="0">
                <a:solidFill>
                  <a:srgbClr val="5A6472"/>
                </a:solidFill>
                <a:highlight>
                  <a:srgbClr val="F8F4F1"/>
                </a:highlight>
              </a:rPr>
              <a:t> Service</a:t>
            </a:r>
            <a:endParaRPr lang="en-US" dirty="0">
              <a:highlight>
                <a:srgbClr val="F8F4F1"/>
              </a:highlight>
            </a:endParaRPr>
          </a:p>
          <a:p>
            <a:pPr marL="0" indent="0">
              <a:lnSpc>
                <a:spcPct val="96000"/>
              </a:lnSpc>
              <a:buNone/>
            </a:pPr>
            <a:r>
              <a:rPr lang="es-ES" b="1">
                <a:solidFill>
                  <a:srgbClr val="1C3D75"/>
                </a:solidFill>
                <a:highlight>
                  <a:srgbClr val="F8F4F1"/>
                </a:highlight>
              </a:rPr>
              <a:t>IA: </a:t>
            </a:r>
            <a:r>
              <a:rPr lang="es-ES">
                <a:solidFill>
                  <a:srgbClr val="5A6472"/>
                </a:solidFill>
                <a:highlight>
                  <a:srgbClr val="F8F4F1"/>
                </a:highlight>
              </a:rPr>
              <a:t>Inteligencia Artificial</a:t>
            </a:r>
            <a:endParaRPr lang="en-US"/>
          </a:p>
          <a:p>
            <a:pPr>
              <a:buNone/>
            </a:pPr>
            <a:endParaRPr lang="en-US" dirty="0">
              <a:solidFill>
                <a:srgbClr val="191919"/>
              </a:solidFill>
              <a:highlight>
                <a:srgbClr val="F8F4F1"/>
              </a:highlight>
            </a:endParaRPr>
          </a:p>
          <a:p>
            <a:pPr>
              <a:buNone/>
            </a:pP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El swarming en una mesa de servicios se refiere a un modelo de soporte que utiliza la colaboración y la inteligencia colectiva para resolver problemas de manera más eficiente</a:t>
            </a:r>
            <a:endParaRPr lang="es-ES"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buNone/>
            </a:pP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Moveworks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  <a:hlinkClick r:id="rId4"/>
              </a:rPr>
              <a:t>:</a:t>
            </a:r>
            <a:r>
              <a:rPr lang="en-US" dirty="0">
                <a:solidFill>
                  <a:srgbClr val="191919"/>
                </a:solidFill>
                <a:highlight>
                  <a:srgbClr val="F8F4F1"/>
                </a:highlight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 en una mesa de servicio se refiere a su capacidad para automatizar y mejorar la gestión de solicitudes de empleados. Al integrarse con sistemas empresariales existentes, Moveworks permite a los equipos de soporte ofrecer un soporte unificado y datos consistentes.</a:t>
            </a:r>
          </a:p>
          <a:p>
            <a:pPr>
              <a:buNone/>
            </a:pPr>
            <a:endParaRPr lang="en-US">
              <a:solidFill>
                <a:srgbClr val="191919"/>
              </a:solidFill>
              <a:highlight>
                <a:srgbClr val="F8F4F1"/>
              </a:highlight>
            </a:endParaRPr>
          </a:p>
          <a:p>
            <a:pPr>
              <a:buNone/>
            </a:pP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 P1: se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refiere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casi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siempre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a la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máxima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prioridad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, un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problema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o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situación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que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exige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una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atención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inmediata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y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exhaustiva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porque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, de no ser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así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, las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consecuencias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pueden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ser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verdaderamente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catastróficas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.</a:t>
            </a:r>
          </a:p>
          <a:p>
            <a:pPr>
              <a:buNone/>
            </a:pPr>
            <a:endParaRPr lang="en-US">
              <a:solidFill>
                <a:srgbClr val="222222"/>
              </a:solidFill>
              <a:highlight>
                <a:srgbClr val="FFFFFF"/>
              </a:highlight>
            </a:endParaRPr>
          </a:p>
          <a:p>
            <a:pPr>
              <a:buNone/>
            </a:pPr>
            <a:r>
              <a:rPr lang="en-US" b="1" dirty="0">
                <a:solidFill>
                  <a:srgbClr val="222222"/>
                </a:solidFill>
                <a:highlight>
                  <a:srgbClr val="FFFFFF"/>
                </a:highlight>
              </a:rPr>
              <a:t>Triage: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Evaluación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inicial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de un ticket para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determinar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su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prioridad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,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categoría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, causa probable y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grupo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responsable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 de </a:t>
            </a:r>
            <a:r>
              <a:rPr lang="en-US" dirty="0" err="1">
                <a:solidFill>
                  <a:srgbClr val="222222"/>
                </a:solidFill>
                <a:highlight>
                  <a:srgbClr val="FFFFFF"/>
                </a:highlight>
              </a:rPr>
              <a:t>atenderlo</a:t>
            </a:r>
            <a:r>
              <a:rPr lang="en-US" dirty="0">
                <a:solidFill>
                  <a:srgbClr val="222222"/>
                </a:solidFill>
                <a:highlight>
                  <a:srgbClr val="FFFFFF"/>
                </a:highlight>
              </a:rPr>
              <a:t>.</a:t>
            </a:r>
            <a:endParaRPr lang="en-US" dirty="0"/>
          </a:p>
          <a:p>
            <a:pPr>
              <a:buNone/>
            </a:pPr>
            <a:endParaRPr lang="en-US">
              <a:solidFill>
                <a:srgbClr val="222222"/>
              </a:solidFill>
              <a:highlight>
                <a:srgbClr val="FFFFFF"/>
              </a:highlight>
            </a:endParaRPr>
          </a:p>
          <a:p>
            <a:pPr>
              <a:buNone/>
            </a:pPr>
            <a:r>
              <a:rPr lang="en-US">
                <a:solidFill>
                  <a:srgbClr val="222222"/>
                </a:solidFill>
                <a:highlight>
                  <a:srgbClr val="FFFFFF"/>
                </a:highlight>
              </a:rPr>
              <a:t>IT knowledge discovery investments will grow as generative AI capabilities mature and service managers push to automate the manual process of creating knowledge articles.</a:t>
            </a:r>
            <a:endParaRPr lang="en-US"/>
          </a:p>
          <a:p>
            <a:pPr>
              <a:buNone/>
            </a:pPr>
            <a:endParaRPr lang="en-US">
              <a:solidFill>
                <a:srgbClr val="222222"/>
              </a:solidFill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3400934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>
                <a:latin typeface="Calibri"/>
                <a:ea typeface="Calibri"/>
                <a:cs typeface="Calibri"/>
              </a:rPr>
              <a:t>ITSM: </a:t>
            </a:r>
            <a:r>
              <a:rPr lang="en-US" err="1"/>
              <a:t>Gestión</a:t>
            </a:r>
            <a:r>
              <a:rPr lang="en-US"/>
              <a:t> de </a:t>
            </a:r>
            <a:r>
              <a:rPr lang="en-US" err="1"/>
              <a:t>Servicios</a:t>
            </a:r>
            <a:r>
              <a:rPr lang="en-US"/>
              <a:t> de </a:t>
            </a:r>
            <a:r>
              <a:rPr lang="en-US" err="1"/>
              <a:t>Tecnologías</a:t>
            </a:r>
            <a:r>
              <a:rPr lang="en-US"/>
              <a:t> de la </a:t>
            </a:r>
            <a:r>
              <a:rPr lang="en-US" err="1"/>
              <a:t>Información.Disciplina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gestiona</a:t>
            </a:r>
            <a:r>
              <a:rPr lang="en-US"/>
              <a:t> la </a:t>
            </a:r>
            <a:r>
              <a:rPr lang="en-US" err="1"/>
              <a:t>entrega</a:t>
            </a:r>
            <a:r>
              <a:rPr lang="en-US"/>
              <a:t> y </a:t>
            </a:r>
            <a:r>
              <a:rPr lang="en-US" err="1"/>
              <a:t>mejora</a:t>
            </a:r>
            <a:r>
              <a:rPr lang="en-US"/>
              <a:t> continua de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servicios</a:t>
            </a:r>
            <a:r>
              <a:rPr lang="en-US"/>
              <a:t> de TI para </a:t>
            </a:r>
            <a:r>
              <a:rPr lang="en-US" err="1"/>
              <a:t>generar</a:t>
            </a:r>
            <a:r>
              <a:rPr lang="en-US"/>
              <a:t> valor al </a:t>
            </a:r>
            <a:r>
              <a:rPr lang="en-US" err="1"/>
              <a:t>negocio</a:t>
            </a:r>
            <a:r>
              <a:rPr lang="en-US"/>
              <a:t> y a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usuarios</a:t>
            </a:r>
            <a:endParaRPr lang="en-US" err="1">
              <a:ea typeface="Calibri"/>
            </a:endParaRPr>
          </a:p>
          <a:p>
            <a:pPr>
              <a:buNone/>
            </a:pPr>
            <a:endParaRPr lang="en-US">
              <a:ea typeface="Calibri"/>
            </a:endParaRPr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722112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b="1"/>
              <a:t>CAGR: Compound Annual Growth Rate</a:t>
            </a:r>
            <a:r>
              <a:rPr lang="en-US"/>
              <a:t>,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español</a:t>
            </a:r>
            <a:r>
              <a:rPr lang="en-US"/>
              <a:t> </a:t>
            </a:r>
            <a:r>
              <a:rPr lang="en-US" b="1"/>
              <a:t>Tasa de </a:t>
            </a:r>
            <a:r>
              <a:rPr lang="en-US" b="1" err="1"/>
              <a:t>Crecimiento</a:t>
            </a:r>
            <a:r>
              <a:rPr lang="en-US" b="1"/>
              <a:t> </a:t>
            </a:r>
            <a:r>
              <a:rPr lang="en-US" b="1" err="1"/>
              <a:t>Anual</a:t>
            </a:r>
            <a:r>
              <a:rPr lang="en-US" b="1"/>
              <a:t> </a:t>
            </a:r>
            <a:r>
              <a:rPr lang="en-US" b="1" err="1"/>
              <a:t>Compuesta</a:t>
            </a:r>
            <a:r>
              <a:rPr lang="en-US"/>
              <a:t>.</a:t>
            </a:r>
            <a:endParaRPr lang="es-ES"/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085141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/>
              <a:t>Shift-Left: Cada punto de </a:t>
            </a:r>
            <a:r>
              <a:rPr lang="en-US" err="1"/>
              <a:t>defleccion</a:t>
            </a:r>
            <a:r>
              <a:rPr lang="en-US"/>
              <a:t> = </a:t>
            </a:r>
            <a:r>
              <a:rPr lang="en-US" err="1"/>
              <a:t>ahorro</a:t>
            </a:r>
            <a:r>
              <a:rPr lang="en-US"/>
              <a:t> </a:t>
            </a:r>
            <a:r>
              <a:rPr lang="en-US" err="1"/>
              <a:t>cuantificable</a:t>
            </a:r>
            <a:r>
              <a:rPr lang="en-US"/>
              <a:t> : </a:t>
            </a:r>
            <a:r>
              <a:rPr lang="en-US" err="1"/>
              <a:t>significa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cada</a:t>
            </a:r>
            <a:r>
              <a:rPr lang="en-US"/>
              <a:t> </a:t>
            </a:r>
            <a:r>
              <a:rPr lang="en-US" err="1"/>
              <a:t>caso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se </a:t>
            </a:r>
            <a:r>
              <a:rPr lang="en-US" err="1"/>
              <a:t>resuelve</a:t>
            </a:r>
            <a:r>
              <a:rPr lang="en-US"/>
              <a:t> antes de </a:t>
            </a:r>
            <a:r>
              <a:rPr lang="en-US" err="1"/>
              <a:t>llegar</a:t>
            </a:r>
            <a:r>
              <a:rPr lang="en-US"/>
              <a:t> a </a:t>
            </a:r>
            <a:r>
              <a:rPr lang="en-US" err="1"/>
              <a:t>niveles</a:t>
            </a:r>
            <a:r>
              <a:rPr lang="en-US"/>
              <a:t> de </a:t>
            </a:r>
            <a:r>
              <a:rPr lang="en-US" err="1"/>
              <a:t>soporte</a:t>
            </a:r>
            <a:r>
              <a:rPr lang="en-US"/>
              <a:t> </a:t>
            </a:r>
            <a:r>
              <a:rPr lang="en-US" err="1"/>
              <a:t>más</a:t>
            </a:r>
            <a:r>
              <a:rPr lang="en-US"/>
              <a:t> </a:t>
            </a:r>
            <a:r>
              <a:rPr lang="en-US" err="1"/>
              <a:t>costosos</a:t>
            </a:r>
            <a:r>
              <a:rPr lang="en-US"/>
              <a:t> genera un </a:t>
            </a:r>
            <a:r>
              <a:rPr lang="en-US" err="1"/>
              <a:t>ahorro</a:t>
            </a:r>
            <a:r>
              <a:rPr lang="en-US"/>
              <a:t> </a:t>
            </a:r>
            <a:r>
              <a:rPr lang="en-US" err="1"/>
              <a:t>medible</a:t>
            </a:r>
            <a:r>
              <a:rPr lang="en-US"/>
              <a:t> para la </a:t>
            </a:r>
            <a:r>
              <a:rPr lang="en-US" err="1"/>
              <a:t>organización</a:t>
            </a:r>
            <a:r>
              <a:rPr lang="en-US"/>
              <a:t>.</a:t>
            </a:r>
            <a:endParaRPr lang="es-ES"/>
          </a:p>
          <a:p>
            <a:pPr>
              <a:buNone/>
            </a:pPr>
            <a:r>
              <a:rPr lang="en-US" b="1"/>
              <a:t>Shift-Left (</a:t>
            </a:r>
            <a:r>
              <a:rPr lang="en-US" b="1" err="1"/>
              <a:t>Desplazamiento</a:t>
            </a:r>
            <a:r>
              <a:rPr lang="en-US" b="1"/>
              <a:t> </a:t>
            </a:r>
            <a:r>
              <a:rPr lang="en-US" b="1" err="1"/>
              <a:t>hacia</a:t>
            </a:r>
            <a:r>
              <a:rPr lang="en-US" b="1"/>
              <a:t> la Izquierda):</a:t>
            </a:r>
            <a:r>
              <a:rPr lang="en-US"/>
              <a:t> </a:t>
            </a:r>
            <a:r>
              <a:rPr lang="en-US" err="1"/>
              <a:t>Estrategia</a:t>
            </a:r>
            <a:r>
              <a:rPr lang="en-US"/>
              <a:t> de </a:t>
            </a:r>
            <a:r>
              <a:rPr lang="en-US" err="1"/>
              <a:t>gestión</a:t>
            </a:r>
            <a:r>
              <a:rPr lang="en-US"/>
              <a:t> de </a:t>
            </a:r>
            <a:r>
              <a:rPr lang="en-US" err="1"/>
              <a:t>servicios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busca</a:t>
            </a:r>
            <a:r>
              <a:rPr lang="en-US"/>
              <a:t> resolver </a:t>
            </a:r>
            <a:r>
              <a:rPr lang="en-US" err="1"/>
              <a:t>incidentes</a:t>
            </a:r>
            <a:r>
              <a:rPr lang="en-US"/>
              <a:t> y solicitudes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niveles</a:t>
            </a:r>
            <a:r>
              <a:rPr lang="en-US"/>
              <a:t> </a:t>
            </a:r>
            <a:r>
              <a:rPr lang="en-US" err="1"/>
              <a:t>más</a:t>
            </a:r>
            <a:r>
              <a:rPr lang="en-US"/>
              <a:t> </a:t>
            </a:r>
            <a:r>
              <a:rPr lang="en-US" err="1"/>
              <a:t>cercanos</a:t>
            </a:r>
            <a:r>
              <a:rPr lang="en-US"/>
              <a:t> al </a:t>
            </a:r>
            <a:r>
              <a:rPr lang="en-US" err="1"/>
              <a:t>usuario</a:t>
            </a:r>
            <a:r>
              <a:rPr lang="en-US"/>
              <a:t> (</a:t>
            </a:r>
            <a:r>
              <a:rPr lang="en-US" err="1"/>
              <a:t>autoservicio</a:t>
            </a:r>
            <a:r>
              <a:rPr lang="en-US"/>
              <a:t>, base de </a:t>
            </a:r>
            <a:r>
              <a:rPr lang="en-US" err="1"/>
              <a:t>conocimiento</a:t>
            </a:r>
            <a:r>
              <a:rPr lang="en-US"/>
              <a:t>, chatbot o </a:t>
            </a:r>
            <a:r>
              <a:rPr lang="en-US" err="1"/>
              <a:t>soporte</a:t>
            </a:r>
            <a:r>
              <a:rPr lang="en-US"/>
              <a:t> N1), </a:t>
            </a:r>
            <a:r>
              <a:rPr lang="en-US" err="1"/>
              <a:t>evitando</a:t>
            </a:r>
            <a:r>
              <a:rPr lang="en-US"/>
              <a:t> </a:t>
            </a:r>
            <a:r>
              <a:rPr lang="en-US" err="1"/>
              <a:t>escalaciones</a:t>
            </a:r>
            <a:r>
              <a:rPr lang="en-US"/>
              <a:t> </a:t>
            </a:r>
            <a:r>
              <a:rPr lang="en-US" err="1"/>
              <a:t>innecesarias</a:t>
            </a:r>
            <a:r>
              <a:rPr lang="en-US"/>
              <a:t> y </a:t>
            </a:r>
            <a:r>
              <a:rPr lang="en-US" err="1"/>
              <a:t>reduciendo</a:t>
            </a:r>
            <a:r>
              <a:rPr lang="en-US"/>
              <a:t> </a:t>
            </a:r>
            <a:r>
              <a:rPr lang="en-US" err="1"/>
              <a:t>costos</a:t>
            </a:r>
            <a:r>
              <a:rPr lang="en-US"/>
              <a:t>, </a:t>
            </a:r>
            <a:r>
              <a:rPr lang="en-US" err="1"/>
              <a:t>tiempos</a:t>
            </a:r>
            <a:r>
              <a:rPr lang="en-US"/>
              <a:t> de </a:t>
            </a:r>
            <a:r>
              <a:rPr lang="en-US" err="1"/>
              <a:t>atención</a:t>
            </a:r>
            <a:r>
              <a:rPr lang="en-US"/>
              <a:t> y </a:t>
            </a:r>
            <a:r>
              <a:rPr lang="en-US" err="1"/>
              <a:t>esfuerzo</a:t>
            </a:r>
            <a:r>
              <a:rPr lang="en-US"/>
              <a:t> </a:t>
            </a:r>
            <a:r>
              <a:rPr lang="en-US" err="1"/>
              <a:t>operativo</a:t>
            </a:r>
            <a:r>
              <a:rPr lang="en-US"/>
              <a:t>.</a:t>
            </a:r>
          </a:p>
          <a:p>
            <a:pPr>
              <a:buNone/>
            </a:pPr>
            <a:endParaRPr lang="en-US">
              <a:ea typeface="Calibri"/>
            </a:endParaRPr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895751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/>
              <a:t>5. Benchmarks de </a:t>
            </a:r>
            <a:r>
              <a:rPr lang="en-US" err="1"/>
              <a:t>Madurez</a:t>
            </a:r>
            <a:r>
              <a:rPr lang="en-US"/>
              <a:t> y </a:t>
            </a:r>
            <a:r>
              <a:rPr lang="en-US" err="1"/>
              <a:t>Métricas</a:t>
            </a:r>
            <a:r>
              <a:rPr lang="en-US"/>
              <a:t> de la Industria</a:t>
            </a:r>
            <a:endParaRPr lang="es-ES"/>
          </a:p>
          <a:p>
            <a:pPr>
              <a:buNone/>
            </a:pPr>
            <a:r>
              <a:rPr lang="en-US"/>
              <a:t>Estos benchmarks son el </a:t>
            </a:r>
            <a:r>
              <a:rPr lang="en-US" err="1"/>
              <a:t>insumo</a:t>
            </a:r>
            <a:r>
              <a:rPr lang="en-US"/>
              <a:t> </a:t>
            </a:r>
            <a:r>
              <a:rPr lang="en-US" err="1"/>
              <a:t>crítico</a:t>
            </a:r>
            <a:r>
              <a:rPr lang="en-US"/>
              <a:t> para el Framework de Assessment: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clasificar</a:t>
            </a:r>
            <a:r>
              <a:rPr lang="en-US"/>
              <a:t> </a:t>
            </a:r>
            <a:r>
              <a:rPr lang="en-US" err="1"/>
              <a:t>objetivamente</a:t>
            </a:r>
            <a:r>
              <a:rPr lang="en-US"/>
              <a:t> </a:t>
            </a:r>
            <a:r>
              <a:rPr lang="en-US" err="1"/>
              <a:t>cualquier</a:t>
            </a:r>
            <a:r>
              <a:rPr lang="en-US"/>
              <a:t> mesa </a:t>
            </a:r>
            <a:r>
              <a:rPr lang="en-US" err="1"/>
              <a:t>en</a:t>
            </a:r>
            <a:r>
              <a:rPr lang="en-US"/>
              <a:t> </a:t>
            </a:r>
            <a:r>
              <a:rPr lang="en-US" err="1"/>
              <a:t>su</a:t>
            </a:r>
            <a:r>
              <a:rPr lang="en-US"/>
              <a:t> </a:t>
            </a:r>
            <a:r>
              <a:rPr lang="en-US" err="1"/>
              <a:t>nivel</a:t>
            </a:r>
            <a:r>
              <a:rPr lang="en-US"/>
              <a:t> de </a:t>
            </a:r>
            <a:r>
              <a:rPr lang="en-US" err="1"/>
              <a:t>madurez</a:t>
            </a:r>
            <a:r>
              <a:rPr lang="en-US"/>
              <a:t>.</a:t>
            </a:r>
            <a:endParaRPr lang="es-ES"/>
          </a:p>
          <a:p>
            <a:pPr>
              <a:buNone/>
            </a:pPr>
            <a:r>
              <a:rPr lang="en-US"/>
              <a:t> </a:t>
            </a:r>
            <a:endParaRPr lang="es-ES"/>
          </a:p>
          <a:p>
            <a:pPr>
              <a:buNone/>
            </a:pPr>
            <a:r>
              <a:rPr lang="en-US" err="1"/>
              <a:t>Métrica</a:t>
            </a:r>
            <a:r>
              <a:rPr lang="en-US"/>
              <a:t>    </a:t>
            </a:r>
            <a:r>
              <a:rPr lang="en-US" err="1"/>
              <a:t>Promedio</a:t>
            </a:r>
            <a:r>
              <a:rPr lang="en-US"/>
              <a:t> Industria    World-Class / Best-in-Class    Fuente</a:t>
            </a:r>
            <a:endParaRPr lang="es-ES"/>
          </a:p>
          <a:p>
            <a:pPr>
              <a:buNone/>
            </a:pPr>
            <a:r>
              <a:rPr lang="en-US"/>
              <a:t>FCR (First Contact Resolution)    74%    ≥80%    SQM Group / HDI</a:t>
            </a:r>
            <a:endParaRPr lang="es-ES"/>
          </a:p>
          <a:p>
            <a:pPr>
              <a:buNone/>
            </a:pPr>
            <a:r>
              <a:rPr lang="en-US"/>
              <a:t>MTTR (Mean Time to Resolution)    8.85 horas    &lt;4 horas (bueno) / &lt;1 hora (world-class)    </a:t>
            </a:r>
            <a:r>
              <a:rPr lang="en-US" err="1"/>
              <a:t>MetricNet</a:t>
            </a:r>
            <a:r>
              <a:rPr lang="en-US"/>
              <a:t>/HDI</a:t>
            </a:r>
            <a:endParaRPr lang="es-ES"/>
          </a:p>
          <a:p>
            <a:pPr>
              <a:buNone/>
            </a:pPr>
            <a:r>
              <a:rPr lang="en-US"/>
              <a:t>CSAT    73–86% (</a:t>
            </a:r>
            <a:r>
              <a:rPr lang="en-US" err="1"/>
              <a:t>varía</a:t>
            </a:r>
            <a:r>
              <a:rPr lang="en-US"/>
              <a:t> </a:t>
            </a:r>
            <a:r>
              <a:rPr lang="en-US" err="1"/>
              <a:t>por</a:t>
            </a:r>
            <a:r>
              <a:rPr lang="en-US"/>
              <a:t> </a:t>
            </a:r>
            <a:r>
              <a:rPr lang="en-US" err="1"/>
              <a:t>período</a:t>
            </a:r>
            <a:r>
              <a:rPr lang="en-US"/>
              <a:t>)    ≥90%    HDI metrics / </a:t>
            </a:r>
            <a:r>
              <a:rPr lang="en-US" err="1"/>
              <a:t>HelpDeskFocus</a:t>
            </a:r>
            <a:endParaRPr lang="es-ES" err="1"/>
          </a:p>
          <a:p>
            <a:pPr>
              <a:buNone/>
            </a:pPr>
            <a:r>
              <a:rPr lang="en-US"/>
              <a:t>AHT (Average Handle Time)    6–8 min (</a:t>
            </a:r>
            <a:r>
              <a:rPr lang="en-US" err="1"/>
              <a:t>voz</a:t>
            </a:r>
            <a:r>
              <a:rPr lang="en-US"/>
              <a:t>)    &lt;7 min (</a:t>
            </a:r>
            <a:r>
              <a:rPr lang="en-US" err="1"/>
              <a:t>voz</a:t>
            </a:r>
            <a:r>
              <a:rPr lang="en-US"/>
              <a:t> world-class)    </a:t>
            </a:r>
            <a:r>
              <a:rPr lang="en-US" err="1"/>
              <a:t>IrisAgent</a:t>
            </a:r>
            <a:r>
              <a:rPr lang="en-US"/>
              <a:t> / HDI metrics</a:t>
            </a:r>
            <a:endParaRPr lang="es-ES"/>
          </a:p>
          <a:p>
            <a:pPr>
              <a:buNone/>
            </a:pPr>
            <a:r>
              <a:rPr lang="en-US"/>
              <a:t>Costo </a:t>
            </a:r>
            <a:r>
              <a:rPr lang="en-US" err="1"/>
              <a:t>por</a:t>
            </a:r>
            <a:r>
              <a:rPr lang="en-US"/>
              <a:t> ticket N0    USD 2    —    Giva</a:t>
            </a:r>
            <a:endParaRPr lang="es-ES"/>
          </a:p>
          <a:p>
            <a:pPr>
              <a:buNone/>
            </a:pPr>
            <a:r>
              <a:rPr lang="en-US"/>
              <a:t>Costo </a:t>
            </a:r>
            <a:r>
              <a:rPr lang="en-US" err="1"/>
              <a:t>por</a:t>
            </a:r>
            <a:r>
              <a:rPr lang="en-US"/>
              <a:t> ticket N1    USD 22–35    USD 15–18    </a:t>
            </a:r>
            <a:r>
              <a:rPr lang="en-US" err="1"/>
              <a:t>Kwestra</a:t>
            </a:r>
            <a:endParaRPr lang="es-ES" err="1"/>
          </a:p>
          <a:p>
            <a:pPr>
              <a:buNone/>
            </a:pPr>
            <a:r>
              <a:rPr lang="en-US"/>
              <a:t>Costo </a:t>
            </a:r>
            <a:r>
              <a:rPr lang="en-US" err="1"/>
              <a:t>por</a:t>
            </a:r>
            <a:r>
              <a:rPr lang="en-US"/>
              <a:t> ticket N3    USD 104    —    Giva</a:t>
            </a:r>
            <a:endParaRPr lang="es-ES"/>
          </a:p>
          <a:p>
            <a:pPr>
              <a:buNone/>
            </a:pPr>
            <a:r>
              <a:rPr lang="en-US"/>
              <a:t>Deflection / Ticket deflection rate    23%    40–60% (maduro) / 80–90% (</a:t>
            </a:r>
            <a:r>
              <a:rPr lang="en-US" err="1"/>
              <a:t>casos</a:t>
            </a:r>
            <a:r>
              <a:rPr lang="en-US"/>
              <a:t> </a:t>
            </a:r>
            <a:r>
              <a:rPr lang="en-US" err="1"/>
              <a:t>líderes</a:t>
            </a:r>
            <a:r>
              <a:rPr lang="en-US"/>
              <a:t>)    </a:t>
            </a:r>
            <a:r>
              <a:rPr lang="en-US" err="1"/>
              <a:t>servicedeskagents</a:t>
            </a:r>
            <a:r>
              <a:rPr lang="en-US"/>
              <a:t> / </a:t>
            </a:r>
            <a:r>
              <a:rPr lang="en-US" err="1"/>
              <a:t>Kwestra</a:t>
            </a:r>
            <a:endParaRPr lang="es-ES" err="1"/>
          </a:p>
          <a:p>
            <a:pPr>
              <a:buNone/>
            </a:pPr>
            <a:r>
              <a:rPr lang="en-US"/>
              <a:t>Impacto GenAI </a:t>
            </a:r>
            <a:r>
              <a:rPr lang="en-US" err="1"/>
              <a:t>en</a:t>
            </a:r>
            <a:r>
              <a:rPr lang="en-US"/>
              <a:t> MTTR    -17.8% (SolarWinds) / -26.6% (</a:t>
            </a:r>
            <a:r>
              <a:rPr lang="en-US" err="1"/>
              <a:t>Freshservice</a:t>
            </a:r>
            <a:r>
              <a:rPr lang="en-US"/>
              <a:t>)    —    </a:t>
            </a:r>
            <a:r>
              <a:rPr lang="en-US" err="1"/>
              <a:t>Contentstack</a:t>
            </a:r>
            <a:r>
              <a:rPr lang="en-US"/>
              <a:t> ITSM / </a:t>
            </a:r>
            <a:r>
              <a:rPr lang="en-US" err="1"/>
              <a:t>Freshservice</a:t>
            </a:r>
            <a:r>
              <a:rPr lang="en-US"/>
              <a:t> benchmark</a:t>
            </a:r>
            <a:endParaRPr lang="es-ES"/>
          </a:p>
          <a:p>
            <a:pPr>
              <a:buNone/>
            </a:pPr>
            <a:r>
              <a:rPr lang="en-US"/>
              <a:t>Impacto KCS+IA </a:t>
            </a:r>
            <a:r>
              <a:rPr lang="en-US" err="1"/>
              <a:t>en</a:t>
            </a:r>
            <a:r>
              <a:rPr lang="en-US"/>
              <a:t> FCR    +5–7 puntos    —    SDI</a:t>
            </a:r>
            <a:endParaRPr lang="es-ES"/>
          </a:p>
          <a:p>
            <a:pPr>
              <a:buNone/>
            </a:pPr>
            <a:r>
              <a:rPr lang="en-US"/>
              <a:t>Impacto IA </a:t>
            </a:r>
            <a:r>
              <a:rPr lang="en-US" err="1"/>
              <a:t>en</a:t>
            </a:r>
            <a:r>
              <a:rPr lang="en-US"/>
              <a:t> CSAT    +15–22 pts </a:t>
            </a:r>
            <a:r>
              <a:rPr lang="en-US" err="1"/>
              <a:t>cuando</a:t>
            </a:r>
            <a:r>
              <a:rPr lang="en-US"/>
              <a:t> </a:t>
            </a:r>
            <a:r>
              <a:rPr lang="en-US" err="1"/>
              <a:t>espera</a:t>
            </a:r>
            <a:r>
              <a:rPr lang="en-US"/>
              <a:t> &lt; 5 min    —    Stealth Agents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08862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400"/>
              </a:spcBef>
              <a:buNone/>
            </a:pPr>
            <a:r>
              <a:rPr lang="es-CO" b="1">
                <a:solidFill>
                  <a:srgbClr val="2E3B4E"/>
                </a:solidFill>
              </a:rPr>
              <a:t>Métricas: XLA; </a:t>
            </a:r>
            <a:endParaRPr lang="en-US"/>
          </a:p>
          <a:p>
            <a:pPr marL="0" indent="0">
              <a:buNone/>
            </a:pPr>
            <a:r>
              <a:rPr lang="es-CO" err="1">
                <a:solidFill>
                  <a:srgbClr val="6B6B6B"/>
                </a:solidFill>
                <a:highlight>
                  <a:srgbClr val="FFFF00"/>
                </a:highlight>
              </a:rPr>
              <a:t>Satisfaction</a:t>
            </a:r>
            <a:r>
              <a:rPr lang="es-CO">
                <a:solidFill>
                  <a:srgbClr val="6B6B6B"/>
                </a:solidFill>
                <a:highlight>
                  <a:srgbClr val="FFFF00"/>
                </a:highlight>
              </a:rPr>
              <a:t>, </a:t>
            </a:r>
            <a:r>
              <a:rPr lang="es-CO" err="1">
                <a:solidFill>
                  <a:srgbClr val="6B6B6B"/>
                </a:solidFill>
                <a:highlight>
                  <a:srgbClr val="FFFF00"/>
                </a:highlight>
              </a:rPr>
              <a:t>sentiment</a:t>
            </a:r>
            <a:r>
              <a:rPr lang="es-CO">
                <a:solidFill>
                  <a:srgbClr val="6B6B6B"/>
                </a:solidFill>
                <a:highlight>
                  <a:srgbClr val="FFFF00"/>
                </a:highlight>
              </a:rPr>
              <a:t>, </a:t>
            </a:r>
            <a:r>
              <a:rPr lang="es-CO" err="1">
                <a:solidFill>
                  <a:srgbClr val="6B6B6B"/>
                </a:solidFill>
                <a:highlight>
                  <a:srgbClr val="FFFF00"/>
                </a:highlight>
              </a:rPr>
              <a:t>effort</a:t>
            </a:r>
            <a:r>
              <a:rPr lang="es-CO" u="sng">
                <a:solidFill>
                  <a:srgbClr val="6B6B6B"/>
                </a:solidFill>
                <a:highlight>
                  <a:srgbClr val="FFFF00"/>
                </a:highlight>
              </a:rPr>
              <a:t> (SURA </a:t>
            </a:r>
            <a:r>
              <a:rPr lang="es-CO" u="sng" err="1">
                <a:solidFill>
                  <a:srgbClr val="6B6B6B"/>
                </a:solidFill>
                <a:highlight>
                  <a:srgbClr val="FFFF00"/>
                </a:highlight>
              </a:rPr>
              <a:t>cotizadores</a:t>
            </a:r>
            <a:r>
              <a:rPr lang="es-CO" u="sng">
                <a:solidFill>
                  <a:srgbClr val="6B6B6B"/>
                </a:solidFill>
                <a:highlight>
                  <a:srgbClr val="FFFF00"/>
                </a:highlight>
              </a:rPr>
              <a:t> N2.)</a:t>
            </a:r>
            <a:endParaRPr lang="es-ES"/>
          </a:p>
          <a:p>
            <a:pPr marL="0" indent="0">
              <a:buNone/>
            </a:pPr>
            <a:endParaRPr lang="es-CO" u="sng">
              <a:solidFill>
                <a:srgbClr val="6B6B6B"/>
              </a:solidFill>
              <a:highlight>
                <a:srgbClr val="FFFF00"/>
              </a:highlight>
            </a:endParaRPr>
          </a:p>
          <a:p>
            <a:pPr marL="171450" indent="-171450"/>
            <a:r>
              <a:rPr lang="es-CO" b="1">
                <a:solidFill>
                  <a:srgbClr val="6B6B6B"/>
                </a:solidFill>
                <a:highlight>
                  <a:srgbClr val="FFFF00"/>
                </a:highlight>
              </a:rPr>
              <a:t>Service </a:t>
            </a:r>
            <a:r>
              <a:rPr lang="es-CO" b="1" err="1">
                <a:solidFill>
                  <a:srgbClr val="6B6B6B"/>
                </a:solidFill>
                <a:highlight>
                  <a:srgbClr val="FFFF00"/>
                </a:highlight>
              </a:rPr>
              <a:t>Operations</a:t>
            </a:r>
            <a:r>
              <a:rPr lang="es-CO" b="1">
                <a:solidFill>
                  <a:srgbClr val="6B6B6B"/>
                </a:solidFill>
                <a:highlight>
                  <a:srgbClr val="FFFF00"/>
                </a:highlight>
              </a:rPr>
              <a:t> Center (SOC)</a:t>
            </a:r>
            <a:r>
              <a:rPr lang="es-CO">
                <a:solidFill>
                  <a:srgbClr val="6B6B6B"/>
                </a:solidFill>
                <a:highlight>
                  <a:srgbClr val="FFFF00"/>
                </a:highlight>
              </a:rPr>
              <a:t>: centro de operaciones de servicios encargado de monitorear y gestionar la operación de TI.</a:t>
            </a:r>
            <a:endParaRPr lang="es-CO"/>
          </a:p>
          <a:p>
            <a:pPr marL="171450" indent="-171450"/>
            <a:r>
              <a:rPr lang="es-CO" b="1">
                <a:solidFill>
                  <a:srgbClr val="6B6B6B"/>
                </a:solidFill>
                <a:highlight>
                  <a:srgbClr val="FFFF00"/>
                </a:highlight>
              </a:rPr>
              <a:t>Security </a:t>
            </a:r>
            <a:r>
              <a:rPr lang="es-CO" b="1" err="1">
                <a:solidFill>
                  <a:srgbClr val="6B6B6B"/>
                </a:solidFill>
                <a:highlight>
                  <a:srgbClr val="FFFF00"/>
                </a:highlight>
              </a:rPr>
              <a:t>Operations</a:t>
            </a:r>
            <a:r>
              <a:rPr lang="es-CO" b="1">
                <a:solidFill>
                  <a:srgbClr val="6B6B6B"/>
                </a:solidFill>
                <a:highlight>
                  <a:srgbClr val="FFFF00"/>
                </a:highlight>
              </a:rPr>
              <a:t> Center (SOC)</a:t>
            </a:r>
            <a:r>
              <a:rPr lang="es-CO">
                <a:solidFill>
                  <a:srgbClr val="6B6B6B"/>
                </a:solidFill>
                <a:highlight>
                  <a:srgbClr val="FFFF00"/>
                </a:highlight>
              </a:rPr>
              <a:t>: equipo especializado en monitoreo y respuesta a incidentes de seguridad informática.</a:t>
            </a:r>
            <a:endParaRPr lang="es-CO"/>
          </a:p>
          <a:p>
            <a:pPr marL="0" indent="0">
              <a:buNone/>
            </a:pPr>
            <a:endParaRPr lang="es-CO" u="sng">
              <a:solidFill>
                <a:srgbClr val="6B6B6B"/>
              </a:solidFill>
              <a:highlight>
                <a:srgbClr val="FFFF00"/>
              </a:highlight>
            </a:endParaRPr>
          </a:p>
          <a:p>
            <a:pPr>
              <a:buNone/>
            </a:pPr>
            <a:r>
              <a:rPr lang="es-ES" b="1">
                <a:solidFill>
                  <a:schemeClr val="tx1"/>
                </a:solidFill>
              </a:rPr>
              <a:t>5.2 XLA en la Práctica: Del </a:t>
            </a:r>
            <a:r>
              <a:rPr lang="es-ES" b="1" err="1">
                <a:solidFill>
                  <a:schemeClr val="tx1"/>
                </a:solidFill>
              </a:rPr>
              <a:t>Hype</a:t>
            </a:r>
            <a:r>
              <a:rPr lang="es-ES" b="1">
                <a:solidFill>
                  <a:schemeClr val="tx1"/>
                </a:solidFill>
              </a:rPr>
              <a:t> a la Madurez (2025-2026)</a:t>
            </a:r>
            <a:endParaRPr lang="es-ES">
              <a:solidFill>
                <a:schemeClr val="tx1"/>
              </a:solidFill>
            </a:endParaRPr>
          </a:p>
          <a:p>
            <a:pPr>
              <a:buNone/>
            </a:pPr>
            <a:r>
              <a:rPr lang="en-US">
                <a:solidFill>
                  <a:schemeClr val="tx1"/>
                </a:solidFill>
              </a:rPr>
              <a:t>El primer </a:t>
            </a:r>
            <a:r>
              <a:rPr lang="en-US" err="1">
                <a:solidFill>
                  <a:schemeClr val="tx1"/>
                </a:solidFill>
              </a:rPr>
              <a:t>reporte</a:t>
            </a:r>
            <a:r>
              <a:rPr lang="en-US">
                <a:solidFill>
                  <a:schemeClr val="tx1"/>
                </a:solidFill>
              </a:rPr>
              <a:t> global del </a:t>
            </a:r>
            <a:r>
              <a:rPr lang="en-US" b="1">
                <a:solidFill>
                  <a:schemeClr val="tx1"/>
                </a:solidFill>
              </a:rPr>
              <a:t>XLA Institute, "State of XLA 2025"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presentado</a:t>
            </a:r>
            <a:r>
              <a:rPr lang="en-US">
                <a:solidFill>
                  <a:schemeClr val="tx1"/>
                </a:solidFill>
              </a:rPr>
              <a:t> el 12 de </a:t>
            </a:r>
            <a:r>
              <a:rPr lang="en-US" err="1">
                <a:solidFill>
                  <a:schemeClr val="tx1"/>
                </a:solidFill>
              </a:rPr>
              <a:t>junio</a:t>
            </a:r>
            <a:r>
              <a:rPr lang="en-US">
                <a:solidFill>
                  <a:schemeClr val="tx1"/>
                </a:solidFill>
              </a:rPr>
              <a:t> de 2025, </a:t>
            </a:r>
            <a:r>
              <a:rPr lang="en-US" err="1">
                <a:solidFill>
                  <a:schemeClr val="tx1"/>
                </a:solidFill>
              </a:rPr>
              <a:t>marca</a:t>
            </a:r>
            <a:r>
              <a:rPr lang="en-US">
                <a:solidFill>
                  <a:schemeClr val="tx1"/>
                </a:solidFill>
              </a:rPr>
              <a:t> la </a:t>
            </a:r>
            <a:r>
              <a:rPr lang="en-US" err="1">
                <a:solidFill>
                  <a:schemeClr val="tx1"/>
                </a:solidFill>
              </a:rPr>
              <a:t>transición</a:t>
            </a:r>
            <a:r>
              <a:rPr lang="en-US">
                <a:solidFill>
                  <a:schemeClr val="tx1"/>
                </a:solidFill>
              </a:rPr>
              <a:t> de las XLA </a:t>
            </a:r>
            <a:r>
              <a:rPr lang="en-US" err="1">
                <a:solidFill>
                  <a:schemeClr val="tx1"/>
                </a:solidFill>
              </a:rPr>
              <a:t>desde</a:t>
            </a:r>
            <a:r>
              <a:rPr lang="en-US">
                <a:solidFill>
                  <a:schemeClr val="tx1"/>
                </a:solidFill>
              </a:rPr>
              <a:t> el </a:t>
            </a:r>
            <a:r>
              <a:rPr lang="en-US" err="1">
                <a:solidFill>
                  <a:schemeClr val="tx1"/>
                </a:solidFill>
              </a:rPr>
              <a:t>discurso</a:t>
            </a:r>
            <a:r>
              <a:rPr lang="en-US">
                <a:solidFill>
                  <a:schemeClr val="tx1"/>
                </a:solidFill>
              </a:rPr>
              <a:t> experimental </a:t>
            </a:r>
            <a:r>
              <a:rPr lang="en-US" err="1">
                <a:solidFill>
                  <a:schemeClr val="tx1"/>
                </a:solidFill>
              </a:rPr>
              <a:t>hacia</a:t>
            </a:r>
            <a:r>
              <a:rPr lang="en-US">
                <a:solidFill>
                  <a:schemeClr val="tx1"/>
                </a:solidFill>
              </a:rPr>
              <a:t> la </a:t>
            </a:r>
            <a:r>
              <a:rPr lang="en-US" err="1">
                <a:solidFill>
                  <a:schemeClr val="tx1"/>
                </a:solidFill>
              </a:rPr>
              <a:t>práctica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escalable</a:t>
            </a:r>
            <a:r>
              <a:rPr lang="en-US">
                <a:solidFill>
                  <a:schemeClr val="tx1"/>
                </a:solidFill>
              </a:rPr>
              <a:t>: el </a:t>
            </a:r>
            <a:r>
              <a:rPr lang="en-US" b="1">
                <a:solidFill>
                  <a:schemeClr val="tx1"/>
                </a:solidFill>
              </a:rPr>
              <a:t>68% de las </a:t>
            </a:r>
            <a:r>
              <a:rPr lang="en-US" b="1" err="1">
                <a:solidFill>
                  <a:schemeClr val="tx1"/>
                </a:solidFill>
              </a:rPr>
              <a:t>empresas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encuestadas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planea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implementar</a:t>
            </a:r>
            <a:r>
              <a:rPr lang="en-US" b="1">
                <a:solidFill>
                  <a:schemeClr val="tx1"/>
                </a:solidFill>
              </a:rPr>
              <a:t> XLAs </a:t>
            </a:r>
            <a:r>
              <a:rPr lang="en-US" b="1" err="1">
                <a:solidFill>
                  <a:schemeClr val="tx1"/>
                </a:solidFill>
              </a:rPr>
              <a:t>en</a:t>
            </a:r>
            <a:r>
              <a:rPr lang="en-US" b="1">
                <a:solidFill>
                  <a:schemeClr val="tx1"/>
                </a:solidFill>
              </a:rPr>
              <a:t> 2026</a:t>
            </a:r>
            <a:r>
              <a:rPr lang="en-US">
                <a:solidFill>
                  <a:schemeClr val="tx1"/>
                </a:solidFill>
              </a:rPr>
              <a:t> (</a:t>
            </a:r>
            <a:r>
              <a:rPr lang="en-US" err="1">
                <a:solidFill>
                  <a:schemeClr val="tx1"/>
                </a:solidFill>
              </a:rPr>
              <a:t>algunas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fuentes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citan</a:t>
            </a:r>
            <a:r>
              <a:rPr lang="en-US">
                <a:solidFill>
                  <a:schemeClr val="tx1"/>
                </a:solidFill>
              </a:rPr>
              <a:t> la </a:t>
            </a:r>
            <a:r>
              <a:rPr lang="en-US" err="1">
                <a:solidFill>
                  <a:schemeClr val="tx1"/>
                </a:solidFill>
              </a:rPr>
              <a:t>cifra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como</a:t>
            </a:r>
            <a:r>
              <a:rPr lang="en-US">
                <a:solidFill>
                  <a:schemeClr val="tx1"/>
                </a:solidFill>
              </a:rPr>
              <a:t> "</a:t>
            </a:r>
            <a:r>
              <a:rPr lang="en-US" err="1">
                <a:solidFill>
                  <a:schemeClr val="tx1"/>
                </a:solidFill>
              </a:rPr>
              <a:t>casi</a:t>
            </a:r>
            <a:r>
              <a:rPr lang="en-US">
                <a:solidFill>
                  <a:schemeClr val="tx1"/>
                </a:solidFill>
              </a:rPr>
              <a:t> 70%"), y </a:t>
            </a:r>
            <a:r>
              <a:rPr lang="en-US" err="1">
                <a:solidFill>
                  <a:schemeClr val="tx1"/>
                </a:solidFill>
              </a:rPr>
              <a:t>su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adopción</a:t>
            </a:r>
            <a:r>
              <a:rPr lang="en-US">
                <a:solidFill>
                  <a:schemeClr val="tx1"/>
                </a:solidFill>
              </a:rPr>
              <a:t> se </a:t>
            </a:r>
            <a:r>
              <a:rPr lang="en-US" err="1">
                <a:solidFill>
                  <a:schemeClr val="tx1"/>
                </a:solidFill>
              </a:rPr>
              <a:t>expande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rápidamente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más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allá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los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departamentos</a:t>
            </a:r>
            <a:r>
              <a:rPr lang="en-US">
                <a:solidFill>
                  <a:schemeClr val="tx1"/>
                </a:solidFill>
              </a:rPr>
              <a:t> de TI </a:t>
            </a:r>
            <a:r>
              <a:rPr lang="en-US" err="1">
                <a:solidFill>
                  <a:schemeClr val="tx1"/>
                </a:solidFill>
              </a:rPr>
              <a:t>tradicionales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hacia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salud</a:t>
            </a:r>
            <a:r>
              <a:rPr lang="en-US">
                <a:solidFill>
                  <a:schemeClr val="tx1"/>
                </a:solidFill>
              </a:rPr>
              <a:t>, RR.HH. y </a:t>
            </a:r>
            <a:r>
              <a:rPr lang="en-US" err="1">
                <a:solidFill>
                  <a:schemeClr val="tx1"/>
                </a:solidFill>
              </a:rPr>
              <a:t>finanzas</a:t>
            </a:r>
            <a:r>
              <a:rPr lang="en-US">
                <a:solidFill>
                  <a:schemeClr val="tx1"/>
                </a:solidFill>
              </a:rPr>
              <a:t> — con </a:t>
            </a:r>
            <a:r>
              <a:rPr lang="en-US" err="1">
                <a:solidFill>
                  <a:schemeClr val="tx1"/>
                </a:solidFill>
              </a:rPr>
              <a:t>Brasil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emergiendo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como</a:t>
            </a:r>
            <a:r>
              <a:rPr lang="en-US">
                <a:solidFill>
                  <a:schemeClr val="tx1"/>
                </a:solidFill>
              </a:rPr>
              <a:t> uno de </a:t>
            </a:r>
            <a:r>
              <a:rPr lang="en-US" err="1">
                <a:solidFill>
                  <a:schemeClr val="tx1"/>
                </a:solidFill>
              </a:rPr>
              <a:t>los</a:t>
            </a:r>
            <a:r>
              <a:rPr lang="en-US">
                <a:solidFill>
                  <a:schemeClr val="tx1"/>
                </a:solidFill>
              </a:rPr>
              <a:t> mercados </a:t>
            </a:r>
            <a:r>
              <a:rPr lang="en-US" err="1">
                <a:solidFill>
                  <a:schemeClr val="tx1"/>
                </a:solidFill>
              </a:rPr>
              <a:t>líderes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gestión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experiencia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EIN </a:t>
            </a:r>
            <a:r>
              <a:rPr lang="en-US" err="1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Presswire</a:t>
            </a:r>
            <a:r>
              <a:rPr lang="en-US">
                <a:solidFill>
                  <a:schemeClr val="tx1"/>
                </a:solidFill>
              </a:rPr>
              <a:t>) (</a:t>
            </a:r>
            <a:r>
              <a:rPr lang="en-US" err="1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Emerce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>
              <a:buNone/>
            </a:pPr>
            <a:r>
              <a:rPr lang="en-US">
                <a:solidFill>
                  <a:schemeClr val="tx1"/>
                </a:solidFill>
              </a:rPr>
              <a:t>El </a:t>
            </a:r>
            <a:r>
              <a:rPr lang="en-US" err="1">
                <a:solidFill>
                  <a:schemeClr val="tx1"/>
                </a:solidFill>
              </a:rPr>
              <a:t>reporte</a:t>
            </a:r>
            <a:r>
              <a:rPr lang="en-US">
                <a:solidFill>
                  <a:schemeClr val="tx1"/>
                </a:solidFill>
              </a:rPr>
              <a:t> introduce el </a:t>
            </a:r>
            <a:r>
              <a:rPr lang="en-US" b="1">
                <a:solidFill>
                  <a:schemeClr val="tx1"/>
                </a:solidFill>
              </a:rPr>
              <a:t>Dynamic Experience Management Framework (DEMF)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que</a:t>
            </a:r>
            <a:r>
              <a:rPr lang="en-US">
                <a:solidFill>
                  <a:schemeClr val="tx1"/>
                </a:solidFill>
              </a:rPr>
              <a:t> define dos </a:t>
            </a:r>
            <a:r>
              <a:rPr lang="en-US" err="1">
                <a:solidFill>
                  <a:schemeClr val="tx1"/>
                </a:solidFill>
              </a:rPr>
              <a:t>ejes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madurez</a:t>
            </a:r>
            <a:r>
              <a:rPr lang="en-US">
                <a:solidFill>
                  <a:schemeClr val="tx1"/>
                </a:solidFill>
              </a:rPr>
              <a:t>: </a:t>
            </a:r>
            <a:r>
              <a:rPr lang="en-US" err="1">
                <a:solidFill>
                  <a:schemeClr val="tx1"/>
                </a:solidFill>
              </a:rPr>
              <a:t>madurez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capacidad</a:t>
            </a:r>
            <a:r>
              <a:rPr lang="en-US">
                <a:solidFill>
                  <a:schemeClr val="tx1"/>
                </a:solidFill>
              </a:rPr>
              <a:t> y </a:t>
            </a:r>
            <a:r>
              <a:rPr lang="en-US" err="1">
                <a:solidFill>
                  <a:schemeClr val="tx1"/>
                </a:solidFill>
              </a:rPr>
              <a:t>madurez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creación</a:t>
            </a:r>
            <a:r>
              <a:rPr lang="en-US">
                <a:solidFill>
                  <a:schemeClr val="tx1"/>
                </a:solidFill>
              </a:rPr>
              <a:t> de valor </a:t>
            </a:r>
            <a:r>
              <a:rPr lang="en-US" err="1">
                <a:solidFill>
                  <a:schemeClr val="tx1"/>
                </a:solidFill>
              </a:rPr>
              <a:t>acumulativo</a:t>
            </a:r>
            <a:r>
              <a:rPr lang="en-US">
                <a:solidFill>
                  <a:schemeClr val="tx1"/>
                </a:solidFill>
              </a:rPr>
              <a:t> ("accretive value creation"). Entre sus </a:t>
            </a:r>
            <a:r>
              <a:rPr lang="en-US" err="1">
                <a:solidFill>
                  <a:schemeClr val="tx1"/>
                </a:solidFill>
              </a:rPr>
              <a:t>hallazgos</a:t>
            </a:r>
            <a:r>
              <a:rPr lang="en-US">
                <a:solidFill>
                  <a:schemeClr val="tx1"/>
                </a:solidFill>
              </a:rPr>
              <a:t>: las </a:t>
            </a:r>
            <a:r>
              <a:rPr lang="en-US" err="1">
                <a:solidFill>
                  <a:schemeClr val="tx1"/>
                </a:solidFill>
              </a:rPr>
              <a:t>organizaciones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exitosas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construyen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su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gestión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experiencia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alrededor</a:t>
            </a:r>
            <a:r>
              <a:rPr lang="en-US">
                <a:solidFill>
                  <a:schemeClr val="tx1"/>
                </a:solidFill>
              </a:rPr>
              <a:t> de personas (personas-based), la Digital Employee Experience (DEX) y las XLA </a:t>
            </a:r>
            <a:r>
              <a:rPr lang="en-US" err="1">
                <a:solidFill>
                  <a:schemeClr val="tx1"/>
                </a:solidFill>
              </a:rPr>
              <a:t>convergen</a:t>
            </a:r>
            <a:r>
              <a:rPr lang="en-US">
                <a:solidFill>
                  <a:schemeClr val="tx1"/>
                </a:solidFill>
              </a:rPr>
              <a:t> para </a:t>
            </a:r>
            <a:r>
              <a:rPr lang="en-US" err="1">
                <a:solidFill>
                  <a:schemeClr val="tx1"/>
                </a:solidFill>
              </a:rPr>
              <a:t>sostener</a:t>
            </a:r>
            <a:r>
              <a:rPr lang="en-US">
                <a:solidFill>
                  <a:schemeClr val="tx1"/>
                </a:solidFill>
              </a:rPr>
              <a:t> tanto a </a:t>
            </a:r>
            <a:r>
              <a:rPr lang="en-US" err="1">
                <a:solidFill>
                  <a:schemeClr val="tx1"/>
                </a:solidFill>
              </a:rPr>
              <a:t>empleados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como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resultados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negocio</a:t>
            </a:r>
            <a:r>
              <a:rPr lang="en-US">
                <a:solidFill>
                  <a:schemeClr val="tx1"/>
                </a:solidFill>
              </a:rPr>
              <a:t>, y las XLA </a:t>
            </a:r>
            <a:r>
              <a:rPr lang="en-US" err="1">
                <a:solidFill>
                  <a:schemeClr val="tx1"/>
                </a:solidFill>
              </a:rPr>
              <a:t>desplazan</a:t>
            </a:r>
            <a:r>
              <a:rPr lang="en-US">
                <a:solidFill>
                  <a:schemeClr val="tx1"/>
                </a:solidFill>
              </a:rPr>
              <a:t> el </a:t>
            </a:r>
            <a:r>
              <a:rPr lang="en-US" err="1">
                <a:solidFill>
                  <a:schemeClr val="tx1"/>
                </a:solidFill>
              </a:rPr>
              <a:t>foco</a:t>
            </a:r>
            <a:r>
              <a:rPr lang="en-US">
                <a:solidFill>
                  <a:schemeClr val="tx1"/>
                </a:solidFill>
              </a:rPr>
              <a:t> de la </a:t>
            </a:r>
            <a:r>
              <a:rPr lang="en-US" err="1">
                <a:solidFill>
                  <a:schemeClr val="tx1"/>
                </a:solidFill>
              </a:rPr>
              <a:t>resolución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reactiva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problemas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hacia</a:t>
            </a:r>
            <a:r>
              <a:rPr lang="en-US">
                <a:solidFill>
                  <a:schemeClr val="tx1"/>
                </a:solidFill>
              </a:rPr>
              <a:t> la </a:t>
            </a:r>
            <a:r>
              <a:rPr lang="en-US" err="1">
                <a:solidFill>
                  <a:schemeClr val="tx1"/>
                </a:solidFill>
              </a:rPr>
              <a:t>habilitación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proactiva</a:t>
            </a:r>
            <a:r>
              <a:rPr lang="en-US">
                <a:solidFill>
                  <a:schemeClr val="tx1"/>
                </a:solidFill>
              </a:rPr>
              <a:t> del </a:t>
            </a:r>
            <a:r>
              <a:rPr lang="en-US" err="1">
                <a:solidFill>
                  <a:schemeClr val="tx1"/>
                </a:solidFill>
              </a:rPr>
              <a:t>éxito</a:t>
            </a:r>
            <a:r>
              <a:rPr lang="en-US">
                <a:solidFill>
                  <a:schemeClr val="tx1"/>
                </a:solidFill>
              </a:rPr>
              <a:t> del </a:t>
            </a:r>
            <a:r>
              <a:rPr lang="en-US" err="1">
                <a:solidFill>
                  <a:schemeClr val="tx1"/>
                </a:solidFill>
              </a:rPr>
              <a:t>usuario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 — Alan Nance, XLA Institute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565571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s-ES" b="1">
                <a:solidFill>
                  <a:schemeClr val="tx1"/>
                </a:solidFill>
              </a:rPr>
              <a:t>63% Regulatorios: SFC Circular 007 · Open </a:t>
            </a:r>
            <a:r>
              <a:rPr lang="es-ES" b="1" err="1">
                <a:solidFill>
                  <a:schemeClr val="tx1"/>
                </a:solidFill>
              </a:rPr>
              <a:t>Finance</a:t>
            </a:r>
            <a:r>
              <a:rPr lang="es-ES" b="1">
                <a:solidFill>
                  <a:schemeClr val="tx1"/>
                </a:solidFill>
              </a:rPr>
              <a:t> · ISO 42001 IA</a:t>
            </a:r>
            <a:endParaRPr lang="es-ES">
              <a:solidFill>
                <a:schemeClr val="tx1"/>
              </a:solidFill>
            </a:endParaRPr>
          </a:p>
          <a:p>
            <a:pPr>
              <a:buNone/>
            </a:pPr>
            <a:r>
              <a:rPr lang="es-ES" b="1">
                <a:solidFill>
                  <a:schemeClr val="tx1"/>
                </a:solidFill>
              </a:rPr>
              <a:t>68% Barrera de entrada: cambio de proveedor (costo de </a:t>
            </a:r>
            <a:r>
              <a:rPr lang="es-ES" b="1" err="1">
                <a:solidFill>
                  <a:schemeClr val="tx1"/>
                </a:solidFill>
              </a:rPr>
              <a:t>transicion</a:t>
            </a:r>
            <a:r>
              <a:rPr lang="es-ES" b="1">
                <a:solidFill>
                  <a:schemeClr val="tx1"/>
                </a:solidFill>
              </a:rPr>
              <a:t> 30-90 </a:t>
            </a:r>
            <a:r>
              <a:rPr lang="es-ES" b="1" err="1">
                <a:solidFill>
                  <a:schemeClr val="tx1"/>
                </a:solidFill>
              </a:rPr>
              <a:t>dias</a:t>
            </a:r>
            <a:r>
              <a:rPr lang="es-ES" b="1">
                <a:solidFill>
                  <a:schemeClr val="tx1"/>
                </a:solidFill>
              </a:rPr>
              <a:t>)</a:t>
            </a:r>
            <a:endParaRPr lang="en-US">
              <a:solidFill>
                <a:schemeClr val="tx1"/>
              </a:solidFill>
            </a:endParaRPr>
          </a:p>
          <a:p>
            <a:pPr>
              <a:buNone/>
            </a:pPr>
            <a:endParaRPr lang="en-US">
              <a:solidFill>
                <a:schemeClr val="tx1"/>
              </a:solidFill>
            </a:endParaRPr>
          </a:p>
          <a:p>
            <a:pPr>
              <a:buNone/>
            </a:pPr>
            <a:r>
              <a:rPr lang="en-US">
                <a:solidFill>
                  <a:schemeClr val="tx1"/>
                </a:solidFill>
              </a:rPr>
              <a:t>Las </a:t>
            </a:r>
            <a:r>
              <a:rPr lang="en-US" err="1">
                <a:solidFill>
                  <a:schemeClr val="tx1"/>
                </a:solidFill>
              </a:rPr>
              <a:t>siguientes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tendencias</a:t>
            </a:r>
            <a:r>
              <a:rPr lang="en-US">
                <a:solidFill>
                  <a:schemeClr val="tx1"/>
                </a:solidFill>
              </a:rPr>
              <a:t> son las </a:t>
            </a:r>
            <a:r>
              <a:rPr lang="en-US" err="1">
                <a:solidFill>
                  <a:schemeClr val="tx1"/>
                </a:solidFill>
              </a:rPr>
              <a:t>más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relevantes</a:t>
            </a:r>
            <a:r>
              <a:rPr lang="en-US">
                <a:solidFill>
                  <a:schemeClr val="tx1"/>
                </a:solidFill>
              </a:rPr>
              <a:t> para el </a:t>
            </a:r>
            <a:r>
              <a:rPr lang="en-US" err="1">
                <a:solidFill>
                  <a:schemeClr val="tx1"/>
                </a:solidFill>
              </a:rPr>
              <a:t>diseño</a:t>
            </a:r>
            <a:r>
              <a:rPr lang="en-US">
                <a:solidFill>
                  <a:schemeClr val="tx1"/>
                </a:solidFill>
              </a:rPr>
              <a:t> del </a:t>
            </a:r>
            <a:r>
              <a:rPr lang="en-US" err="1">
                <a:solidFill>
                  <a:schemeClr val="tx1"/>
                </a:solidFill>
              </a:rPr>
              <a:t>portafolio</a:t>
            </a:r>
            <a:r>
              <a:rPr lang="en-US">
                <a:solidFill>
                  <a:schemeClr val="tx1"/>
                </a:solidFill>
              </a:rPr>
              <a:t> Next Gen: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GenAI </a:t>
            </a:r>
            <a:r>
              <a:rPr lang="en-US" b="1" err="1">
                <a:solidFill>
                  <a:schemeClr val="tx1"/>
                </a:solidFill>
              </a:rPr>
              <a:t>como</a:t>
            </a:r>
            <a:r>
              <a:rPr lang="en-US" b="1">
                <a:solidFill>
                  <a:schemeClr val="tx1"/>
                </a:solidFill>
              </a:rPr>
              <a:t> table stakes:</a:t>
            </a:r>
            <a:r>
              <a:rPr lang="en-US">
                <a:solidFill>
                  <a:schemeClr val="tx1"/>
                </a:solidFill>
              </a:rPr>
              <a:t> Los </a:t>
            </a:r>
            <a:r>
              <a:rPr lang="en-US" err="1">
                <a:solidFill>
                  <a:schemeClr val="tx1"/>
                </a:solidFill>
              </a:rPr>
              <a:t>proveedores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que</a:t>
            </a:r>
            <a:r>
              <a:rPr lang="en-US">
                <a:solidFill>
                  <a:schemeClr val="tx1"/>
                </a:solidFill>
              </a:rPr>
              <a:t> no </a:t>
            </a:r>
            <a:r>
              <a:rPr lang="en-US" err="1">
                <a:solidFill>
                  <a:schemeClr val="tx1"/>
                </a:solidFill>
              </a:rPr>
              <a:t>tienen</a:t>
            </a:r>
            <a:r>
              <a:rPr lang="en-US">
                <a:solidFill>
                  <a:schemeClr val="tx1"/>
                </a:solidFill>
              </a:rPr>
              <a:t> GenAI </a:t>
            </a:r>
            <a:r>
              <a:rPr lang="en-US" err="1">
                <a:solidFill>
                  <a:schemeClr val="tx1"/>
                </a:solidFill>
              </a:rPr>
              <a:t>quedan</a:t>
            </a:r>
            <a:r>
              <a:rPr lang="en-US">
                <a:solidFill>
                  <a:schemeClr val="tx1"/>
                </a:solidFill>
              </a:rPr>
              <a:t> fuera de </a:t>
            </a:r>
            <a:r>
              <a:rPr lang="en-US" err="1">
                <a:solidFill>
                  <a:schemeClr val="tx1"/>
                </a:solidFill>
              </a:rPr>
              <a:t>conversación</a:t>
            </a:r>
            <a:r>
              <a:rPr lang="en-US">
                <a:solidFill>
                  <a:schemeClr val="tx1"/>
                </a:solidFill>
              </a:rPr>
              <a:t>. El </a:t>
            </a:r>
            <a:r>
              <a:rPr lang="en-US" err="1">
                <a:solidFill>
                  <a:schemeClr val="tx1"/>
                </a:solidFill>
              </a:rPr>
              <a:t>impacto</a:t>
            </a:r>
            <a:r>
              <a:rPr lang="en-US">
                <a:solidFill>
                  <a:schemeClr val="tx1"/>
                </a:solidFill>
              </a:rPr>
              <a:t> es </a:t>
            </a:r>
            <a:r>
              <a:rPr lang="en-US" err="1">
                <a:solidFill>
                  <a:schemeClr val="tx1"/>
                </a:solidFill>
              </a:rPr>
              <a:t>medible</a:t>
            </a:r>
            <a:r>
              <a:rPr lang="en-US">
                <a:solidFill>
                  <a:schemeClr val="tx1"/>
                </a:solidFill>
              </a:rPr>
              <a:t>: -26.6%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MTTR, +34.6%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resolución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Freshservice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 err="1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Freshservice</a:t>
            </a:r>
            <a:r>
              <a:rPr lang="en-US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benchmark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Agentic AI </a:t>
            </a:r>
            <a:r>
              <a:rPr lang="en-US" b="1" err="1">
                <a:solidFill>
                  <a:schemeClr val="tx1"/>
                </a:solidFill>
              </a:rPr>
              <a:t>como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ventaja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competitiva</a:t>
            </a:r>
            <a:r>
              <a:rPr lang="en-US" b="1">
                <a:solidFill>
                  <a:schemeClr val="tx1"/>
                </a:solidFill>
              </a:rPr>
              <a:t>:</a:t>
            </a:r>
            <a:r>
              <a:rPr lang="en-US">
                <a:solidFill>
                  <a:schemeClr val="tx1"/>
                </a:solidFill>
              </a:rPr>
              <a:t> La </a:t>
            </a:r>
            <a:r>
              <a:rPr lang="en-US" err="1">
                <a:solidFill>
                  <a:schemeClr val="tx1"/>
                </a:solidFill>
              </a:rPr>
              <a:t>distinción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crítica</a:t>
            </a:r>
            <a:r>
              <a:rPr lang="en-US">
                <a:solidFill>
                  <a:schemeClr val="tx1"/>
                </a:solidFill>
              </a:rPr>
              <a:t>: las </a:t>
            </a:r>
            <a:r>
              <a:rPr lang="en-US" err="1">
                <a:solidFill>
                  <a:schemeClr val="tx1"/>
                </a:solidFill>
              </a:rPr>
              <a:t>herramientas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anteriores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respondían</a:t>
            </a:r>
            <a:r>
              <a:rPr lang="en-US">
                <a:solidFill>
                  <a:schemeClr val="tx1"/>
                </a:solidFill>
              </a:rPr>
              <a:t> a </a:t>
            </a:r>
            <a:r>
              <a:rPr lang="en-US" i="1">
                <a:solidFill>
                  <a:schemeClr val="tx1"/>
                </a:solidFill>
              </a:rPr>
              <a:t>prompts</a:t>
            </a:r>
            <a:r>
              <a:rPr lang="en-US">
                <a:solidFill>
                  <a:schemeClr val="tx1"/>
                </a:solidFill>
              </a:rPr>
              <a:t>; </a:t>
            </a:r>
            <a:r>
              <a:rPr lang="en-US" err="1">
                <a:solidFill>
                  <a:schemeClr val="tx1"/>
                </a:solidFill>
              </a:rPr>
              <a:t>los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sistemas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agénticos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persiguen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objetivos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mantienen</a:t>
            </a:r>
            <a:r>
              <a:rPr lang="en-US">
                <a:solidFill>
                  <a:schemeClr val="tx1"/>
                </a:solidFill>
              </a:rPr>
              <a:t> memoria y </a:t>
            </a:r>
            <a:r>
              <a:rPr lang="en-US" err="1">
                <a:solidFill>
                  <a:schemeClr val="tx1"/>
                </a:solidFill>
              </a:rPr>
              <a:t>ejecutan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flujos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multipaso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Ivanti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KCS </a:t>
            </a:r>
            <a:r>
              <a:rPr lang="en-US" b="1" err="1">
                <a:solidFill>
                  <a:schemeClr val="tx1"/>
                </a:solidFill>
              </a:rPr>
              <a:t>como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prerrequisito</a:t>
            </a:r>
            <a:r>
              <a:rPr lang="en-US" b="1">
                <a:solidFill>
                  <a:schemeClr val="tx1"/>
                </a:solidFill>
              </a:rPr>
              <a:t> para la IA:</a:t>
            </a:r>
            <a:r>
              <a:rPr lang="en-US">
                <a:solidFill>
                  <a:schemeClr val="tx1"/>
                </a:solidFill>
              </a:rPr>
              <a:t> "Los </a:t>
            </a:r>
            <a:r>
              <a:rPr lang="en-US" err="1">
                <a:solidFill>
                  <a:schemeClr val="tx1"/>
                </a:solidFill>
              </a:rPr>
              <a:t>datos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validados</a:t>
            </a:r>
            <a:r>
              <a:rPr lang="en-US">
                <a:solidFill>
                  <a:schemeClr val="tx1"/>
                </a:solidFill>
              </a:rPr>
              <a:t> y demand-driven </a:t>
            </a:r>
            <a:r>
              <a:rPr lang="en-US" err="1">
                <a:solidFill>
                  <a:schemeClr val="tx1"/>
                </a:solidFill>
              </a:rPr>
              <a:t>previenen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alucinaciones</a:t>
            </a:r>
            <a:r>
              <a:rPr lang="en-US">
                <a:solidFill>
                  <a:schemeClr val="tx1"/>
                </a:solidFill>
              </a:rPr>
              <a:t> y </a:t>
            </a:r>
            <a:r>
              <a:rPr lang="en-US" err="1">
                <a:solidFill>
                  <a:schemeClr val="tx1"/>
                </a:solidFill>
              </a:rPr>
              <a:t>construyen</a:t>
            </a:r>
            <a:r>
              <a:rPr lang="en-US">
                <a:solidFill>
                  <a:schemeClr val="tx1"/>
                </a:solidFill>
              </a:rPr>
              <a:t> confianza del </a:t>
            </a:r>
            <a:r>
              <a:rPr lang="en-US" err="1">
                <a:solidFill>
                  <a:schemeClr val="tx1"/>
                </a:solidFill>
              </a:rPr>
              <a:t>usuario</a:t>
            </a:r>
            <a:r>
              <a:rPr lang="en-US">
                <a:solidFill>
                  <a:schemeClr val="tx1"/>
                </a:solidFill>
              </a:rPr>
              <a:t>. KCS es un </a:t>
            </a:r>
            <a:r>
              <a:rPr lang="en-US" err="1">
                <a:solidFill>
                  <a:schemeClr val="tx1"/>
                </a:solidFill>
              </a:rPr>
              <a:t>sistema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operativo</a:t>
            </a:r>
            <a:r>
              <a:rPr lang="en-US">
                <a:solidFill>
                  <a:schemeClr val="tx1"/>
                </a:solidFill>
              </a:rPr>
              <a:t> tanto para </a:t>
            </a:r>
            <a:r>
              <a:rPr lang="en-US" err="1">
                <a:solidFill>
                  <a:schemeClr val="tx1"/>
                </a:solidFill>
              </a:rPr>
              <a:t>agentes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humanos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como</a:t>
            </a:r>
            <a:r>
              <a:rPr lang="en-US">
                <a:solidFill>
                  <a:schemeClr val="tx1"/>
                </a:solidFill>
              </a:rPr>
              <a:t> de IA" (</a:t>
            </a:r>
            <a:r>
              <a:rPr lang="en-US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Consortium for Service Innovation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Shift-left con </a:t>
            </a:r>
            <a:r>
              <a:rPr lang="en-US" b="1" err="1">
                <a:solidFill>
                  <a:schemeClr val="tx1"/>
                </a:solidFill>
              </a:rPr>
              <a:t>datos</a:t>
            </a:r>
            <a:r>
              <a:rPr lang="en-US" b="1">
                <a:solidFill>
                  <a:schemeClr val="tx1"/>
                </a:solidFill>
              </a:rPr>
              <a:t>:</a:t>
            </a:r>
            <a:r>
              <a:rPr lang="en-US">
                <a:solidFill>
                  <a:schemeClr val="tx1"/>
                </a:solidFill>
              </a:rPr>
              <a:t> El </a:t>
            </a:r>
            <a:r>
              <a:rPr lang="en-US" err="1">
                <a:solidFill>
                  <a:schemeClr val="tx1"/>
                </a:solidFill>
              </a:rPr>
              <a:t>costo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pasa</a:t>
            </a:r>
            <a:r>
              <a:rPr lang="en-US">
                <a:solidFill>
                  <a:schemeClr val="tx1"/>
                </a:solidFill>
              </a:rPr>
              <a:t> de USD 104 (N3) a USD 2 (N0). Cada punto de </a:t>
            </a:r>
            <a:r>
              <a:rPr lang="en-US" err="1">
                <a:solidFill>
                  <a:schemeClr val="tx1"/>
                </a:solidFill>
              </a:rPr>
              <a:t>deflección</a:t>
            </a:r>
            <a:r>
              <a:rPr lang="en-US">
                <a:solidFill>
                  <a:schemeClr val="tx1"/>
                </a:solidFill>
              </a:rPr>
              <a:t> genera un </a:t>
            </a:r>
            <a:r>
              <a:rPr lang="en-US" err="1">
                <a:solidFill>
                  <a:schemeClr val="tx1"/>
                </a:solidFill>
              </a:rPr>
              <a:t>ahorro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cuantificable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Giva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De SLA a outcomes:</a:t>
            </a:r>
            <a:r>
              <a:rPr lang="en-US">
                <a:solidFill>
                  <a:schemeClr val="tx1"/>
                </a:solidFill>
              </a:rPr>
              <a:t> TCS propone </a:t>
            </a:r>
            <a:r>
              <a:rPr lang="en-US" err="1">
                <a:solidFill>
                  <a:schemeClr val="tx1"/>
                </a:solidFill>
              </a:rPr>
              <a:t>precios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basados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outcomes; la </a:t>
            </a:r>
            <a:r>
              <a:rPr lang="en-US" err="1">
                <a:solidFill>
                  <a:schemeClr val="tx1"/>
                </a:solidFill>
              </a:rPr>
              <a:t>industria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migra</a:t>
            </a:r>
            <a:r>
              <a:rPr lang="en-US">
                <a:solidFill>
                  <a:schemeClr val="tx1"/>
                </a:solidFill>
              </a:rPr>
              <a:t> de "</a:t>
            </a:r>
            <a:r>
              <a:rPr lang="en-US" err="1">
                <a:solidFill>
                  <a:schemeClr val="tx1"/>
                </a:solidFill>
              </a:rPr>
              <a:t>gestionar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esfuerzo</a:t>
            </a:r>
            <a:r>
              <a:rPr lang="en-US">
                <a:solidFill>
                  <a:schemeClr val="tx1"/>
                </a:solidFill>
              </a:rPr>
              <a:t>" a "</a:t>
            </a:r>
            <a:r>
              <a:rPr lang="en-US" err="1">
                <a:solidFill>
                  <a:schemeClr val="tx1"/>
                </a:solidFill>
              </a:rPr>
              <a:t>orquestar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resultados</a:t>
            </a:r>
            <a:r>
              <a:rPr lang="en-US">
                <a:solidFill>
                  <a:schemeClr val="tx1"/>
                </a:solidFill>
              </a:rPr>
              <a:t>" (</a:t>
            </a:r>
            <a:r>
              <a:rPr lang="en-US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TCS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 err="1">
                <a:solidFill>
                  <a:schemeClr val="tx1"/>
                </a:solidFill>
              </a:rPr>
              <a:t>Observabilidad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como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diferenciador</a:t>
            </a:r>
            <a:r>
              <a:rPr lang="en-US" b="1">
                <a:solidFill>
                  <a:schemeClr val="tx1"/>
                </a:solidFill>
              </a:rPr>
              <a:t>:</a:t>
            </a:r>
            <a:r>
              <a:rPr lang="en-US">
                <a:solidFill>
                  <a:schemeClr val="tx1"/>
                </a:solidFill>
              </a:rPr>
              <a:t> La mesa </a:t>
            </a:r>
            <a:r>
              <a:rPr lang="en-US" err="1">
                <a:solidFill>
                  <a:schemeClr val="tx1"/>
                </a:solidFill>
              </a:rPr>
              <a:t>que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detecta</a:t>
            </a:r>
            <a:r>
              <a:rPr lang="en-US">
                <a:solidFill>
                  <a:schemeClr val="tx1"/>
                </a:solidFill>
              </a:rPr>
              <a:t> y </a:t>
            </a:r>
            <a:r>
              <a:rPr lang="en-US" err="1">
                <a:solidFill>
                  <a:schemeClr val="tx1"/>
                </a:solidFill>
              </a:rPr>
              <a:t>resuelve</a:t>
            </a:r>
            <a:r>
              <a:rPr lang="en-US">
                <a:solidFill>
                  <a:schemeClr val="tx1"/>
                </a:solidFill>
              </a:rPr>
              <a:t> antes del </a:t>
            </a:r>
            <a:r>
              <a:rPr lang="en-US" err="1">
                <a:solidFill>
                  <a:schemeClr val="tx1"/>
                </a:solidFill>
              </a:rPr>
              <a:t>reporte</a:t>
            </a:r>
            <a:r>
              <a:rPr lang="en-US">
                <a:solidFill>
                  <a:schemeClr val="tx1"/>
                </a:solidFill>
              </a:rPr>
              <a:t> del </a:t>
            </a:r>
            <a:r>
              <a:rPr lang="en-US" err="1">
                <a:solidFill>
                  <a:schemeClr val="tx1"/>
                </a:solidFill>
              </a:rPr>
              <a:t>usuario</a:t>
            </a:r>
            <a:r>
              <a:rPr lang="en-US">
                <a:solidFill>
                  <a:schemeClr val="tx1"/>
                </a:solidFill>
              </a:rPr>
              <a:t> se </a:t>
            </a:r>
            <a:r>
              <a:rPr lang="en-US" err="1">
                <a:solidFill>
                  <a:schemeClr val="tx1"/>
                </a:solidFill>
              </a:rPr>
              <a:t>vuelve</a:t>
            </a:r>
            <a:r>
              <a:rPr lang="en-US">
                <a:solidFill>
                  <a:schemeClr val="tx1"/>
                </a:solidFill>
              </a:rPr>
              <a:t> invisible para el </a:t>
            </a:r>
            <a:r>
              <a:rPr lang="en-US" err="1">
                <a:solidFill>
                  <a:schemeClr val="tx1"/>
                </a:solidFill>
              </a:rPr>
              <a:t>negocio</a:t>
            </a:r>
            <a:r>
              <a:rPr lang="en-US">
                <a:solidFill>
                  <a:schemeClr val="tx1"/>
                </a:solidFill>
              </a:rPr>
              <a:t> —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el </a:t>
            </a:r>
            <a:r>
              <a:rPr lang="en-US" err="1">
                <a:solidFill>
                  <a:schemeClr val="tx1"/>
                </a:solidFill>
              </a:rPr>
              <a:t>mejor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sentido</a:t>
            </a:r>
            <a:r>
              <a:rPr lang="en-US">
                <a:solidFill>
                  <a:schemeClr val="tx1"/>
                </a:solidFill>
              </a:rPr>
              <a:t> del </a:t>
            </a:r>
            <a:r>
              <a:rPr lang="en-US" err="1">
                <a:solidFill>
                  <a:schemeClr val="tx1"/>
                </a:solidFill>
              </a:rPr>
              <a:t>término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>
                <a:solidFill>
                  <a:schemeClr val="tx1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ServiceNow whitepaper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Agentic AI: del </a:t>
            </a:r>
            <a:r>
              <a:rPr lang="en-US" b="1" err="1">
                <a:solidFill>
                  <a:schemeClr val="tx1"/>
                </a:solidFill>
              </a:rPr>
              <a:t>experimento</a:t>
            </a:r>
            <a:r>
              <a:rPr lang="en-US" b="1">
                <a:solidFill>
                  <a:schemeClr val="tx1"/>
                </a:solidFill>
              </a:rPr>
              <a:t> a </a:t>
            </a:r>
            <a:r>
              <a:rPr lang="en-US" b="1" err="1">
                <a:solidFill>
                  <a:schemeClr val="tx1"/>
                </a:solidFill>
              </a:rPr>
              <a:t>producción</a:t>
            </a:r>
            <a:r>
              <a:rPr lang="en-US" b="1">
                <a:solidFill>
                  <a:schemeClr val="tx1"/>
                </a:solidFill>
              </a:rPr>
              <a:t> (con </a:t>
            </a:r>
            <a:r>
              <a:rPr lang="en-US" b="1" err="1">
                <a:solidFill>
                  <a:schemeClr val="tx1"/>
                </a:solidFill>
              </a:rPr>
              <a:t>matices</a:t>
            </a:r>
            <a:r>
              <a:rPr lang="en-US" b="1">
                <a:solidFill>
                  <a:schemeClr val="tx1"/>
                </a:solidFill>
              </a:rPr>
              <a:t>).</a:t>
            </a:r>
            <a:r>
              <a:rPr lang="en-US">
                <a:solidFill>
                  <a:schemeClr val="tx1"/>
                </a:solidFill>
              </a:rPr>
              <a:t> El </a:t>
            </a:r>
            <a:r>
              <a:rPr lang="en-US" err="1">
                <a:solidFill>
                  <a:schemeClr val="tx1"/>
                </a:solidFill>
              </a:rPr>
              <a:t>año</a:t>
            </a:r>
            <a:r>
              <a:rPr lang="en-US">
                <a:solidFill>
                  <a:schemeClr val="tx1"/>
                </a:solidFill>
              </a:rPr>
              <a:t> 2025-2026 </a:t>
            </a:r>
            <a:r>
              <a:rPr lang="en-US" err="1">
                <a:solidFill>
                  <a:schemeClr val="tx1"/>
                </a:solidFill>
              </a:rPr>
              <a:t>confirma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que</a:t>
            </a:r>
            <a:r>
              <a:rPr lang="en-US">
                <a:solidFill>
                  <a:schemeClr val="tx1"/>
                </a:solidFill>
              </a:rPr>
              <a:t> la IA </a:t>
            </a:r>
            <a:r>
              <a:rPr lang="en-US" err="1">
                <a:solidFill>
                  <a:schemeClr val="tx1"/>
                </a:solidFill>
              </a:rPr>
              <a:t>agéntica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dejó</a:t>
            </a:r>
            <a:r>
              <a:rPr lang="en-US">
                <a:solidFill>
                  <a:schemeClr val="tx1"/>
                </a:solidFill>
              </a:rPr>
              <a:t> de ser un </a:t>
            </a:r>
            <a:r>
              <a:rPr lang="en-US" err="1">
                <a:solidFill>
                  <a:schemeClr val="tx1"/>
                </a:solidFill>
              </a:rPr>
              <a:t>experimento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laboratorio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pero</a:t>
            </a:r>
            <a:r>
              <a:rPr lang="en-US">
                <a:solidFill>
                  <a:schemeClr val="tx1"/>
                </a:solidFill>
              </a:rPr>
              <a:t> la </a:t>
            </a:r>
            <a:r>
              <a:rPr lang="en-US" err="1">
                <a:solidFill>
                  <a:schemeClr val="tx1"/>
                </a:solidFill>
              </a:rPr>
              <a:t>brecha</a:t>
            </a:r>
            <a:r>
              <a:rPr lang="en-US">
                <a:solidFill>
                  <a:schemeClr val="tx1"/>
                </a:solidFill>
              </a:rPr>
              <a:t> entre </a:t>
            </a:r>
            <a:r>
              <a:rPr lang="en-US" err="1">
                <a:solidFill>
                  <a:schemeClr val="tx1"/>
                </a:solidFill>
              </a:rPr>
              <a:t>adopción</a:t>
            </a:r>
            <a:r>
              <a:rPr lang="en-US">
                <a:solidFill>
                  <a:schemeClr val="tx1"/>
                </a:solidFill>
              </a:rPr>
              <a:t> y </a:t>
            </a:r>
            <a:r>
              <a:rPr lang="en-US" err="1">
                <a:solidFill>
                  <a:schemeClr val="tx1"/>
                </a:solidFill>
              </a:rPr>
              <a:t>madurez</a:t>
            </a:r>
            <a:r>
              <a:rPr lang="en-US">
                <a:solidFill>
                  <a:schemeClr val="tx1"/>
                </a:solidFill>
              </a:rPr>
              <a:t> real </a:t>
            </a:r>
            <a:r>
              <a:rPr lang="en-US" err="1">
                <a:solidFill>
                  <a:schemeClr val="tx1"/>
                </a:solidFill>
              </a:rPr>
              <a:t>sigue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siendo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amplia</a:t>
            </a:r>
            <a:r>
              <a:rPr lang="en-US">
                <a:solidFill>
                  <a:schemeClr val="tx1"/>
                </a:solidFill>
              </a:rPr>
              <a:t>:</a:t>
            </a:r>
            <a:endParaRPr lang="es-ES">
              <a:solidFill>
                <a:schemeClr val="tx1"/>
              </a:solidFill>
            </a:endParaRPr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1282496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8D8B2-9732-A649-535B-DED2F1928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21B9EA2-8A21-87A2-16A2-5B7E0C58A6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3463CB2-28C0-10A1-80DC-9310CE29C3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>
                <a:solidFill>
                  <a:schemeClr val="tx1"/>
                </a:solidFill>
              </a:rPr>
              <a:t>Las </a:t>
            </a:r>
            <a:r>
              <a:rPr lang="en-US" err="1">
                <a:solidFill>
                  <a:schemeClr val="tx1"/>
                </a:solidFill>
              </a:rPr>
              <a:t>siguientes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tendencias</a:t>
            </a:r>
            <a:r>
              <a:rPr lang="en-US">
                <a:solidFill>
                  <a:schemeClr val="tx1"/>
                </a:solidFill>
              </a:rPr>
              <a:t> son las </a:t>
            </a:r>
            <a:r>
              <a:rPr lang="en-US" err="1">
                <a:solidFill>
                  <a:schemeClr val="tx1"/>
                </a:solidFill>
              </a:rPr>
              <a:t>más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relevantes</a:t>
            </a:r>
            <a:r>
              <a:rPr lang="en-US">
                <a:solidFill>
                  <a:schemeClr val="tx1"/>
                </a:solidFill>
              </a:rPr>
              <a:t> para el </a:t>
            </a:r>
            <a:r>
              <a:rPr lang="en-US" err="1">
                <a:solidFill>
                  <a:schemeClr val="tx1"/>
                </a:solidFill>
              </a:rPr>
              <a:t>diseño</a:t>
            </a:r>
            <a:r>
              <a:rPr lang="en-US">
                <a:solidFill>
                  <a:schemeClr val="tx1"/>
                </a:solidFill>
              </a:rPr>
              <a:t> del </a:t>
            </a:r>
            <a:r>
              <a:rPr lang="en-US" err="1">
                <a:solidFill>
                  <a:schemeClr val="tx1"/>
                </a:solidFill>
              </a:rPr>
              <a:t>portafolio</a:t>
            </a:r>
            <a:r>
              <a:rPr lang="en-US">
                <a:solidFill>
                  <a:schemeClr val="tx1"/>
                </a:solidFill>
              </a:rPr>
              <a:t> Next Gen: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GenAI </a:t>
            </a:r>
            <a:r>
              <a:rPr lang="en-US" b="1" err="1">
                <a:solidFill>
                  <a:schemeClr val="tx1"/>
                </a:solidFill>
              </a:rPr>
              <a:t>como</a:t>
            </a:r>
            <a:r>
              <a:rPr lang="en-US" b="1">
                <a:solidFill>
                  <a:schemeClr val="tx1"/>
                </a:solidFill>
              </a:rPr>
              <a:t> table stakes:</a:t>
            </a:r>
            <a:r>
              <a:rPr lang="en-US">
                <a:solidFill>
                  <a:schemeClr val="tx1"/>
                </a:solidFill>
              </a:rPr>
              <a:t> Los </a:t>
            </a:r>
            <a:r>
              <a:rPr lang="en-US" err="1">
                <a:solidFill>
                  <a:schemeClr val="tx1"/>
                </a:solidFill>
              </a:rPr>
              <a:t>proveedores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que</a:t>
            </a:r>
            <a:r>
              <a:rPr lang="en-US">
                <a:solidFill>
                  <a:schemeClr val="tx1"/>
                </a:solidFill>
              </a:rPr>
              <a:t> no </a:t>
            </a:r>
            <a:r>
              <a:rPr lang="en-US" err="1">
                <a:solidFill>
                  <a:schemeClr val="tx1"/>
                </a:solidFill>
              </a:rPr>
              <a:t>tienen</a:t>
            </a:r>
            <a:r>
              <a:rPr lang="en-US">
                <a:solidFill>
                  <a:schemeClr val="tx1"/>
                </a:solidFill>
              </a:rPr>
              <a:t> GenAI </a:t>
            </a:r>
            <a:r>
              <a:rPr lang="en-US" err="1">
                <a:solidFill>
                  <a:schemeClr val="tx1"/>
                </a:solidFill>
              </a:rPr>
              <a:t>quedan</a:t>
            </a:r>
            <a:r>
              <a:rPr lang="en-US">
                <a:solidFill>
                  <a:schemeClr val="tx1"/>
                </a:solidFill>
              </a:rPr>
              <a:t> fuera de </a:t>
            </a:r>
            <a:r>
              <a:rPr lang="en-US" err="1">
                <a:solidFill>
                  <a:schemeClr val="tx1"/>
                </a:solidFill>
              </a:rPr>
              <a:t>conversación</a:t>
            </a:r>
            <a:r>
              <a:rPr lang="en-US">
                <a:solidFill>
                  <a:schemeClr val="tx1"/>
                </a:solidFill>
              </a:rPr>
              <a:t>. El </a:t>
            </a:r>
            <a:r>
              <a:rPr lang="en-US" err="1">
                <a:solidFill>
                  <a:schemeClr val="tx1"/>
                </a:solidFill>
              </a:rPr>
              <a:t>impacto</a:t>
            </a:r>
            <a:r>
              <a:rPr lang="en-US">
                <a:solidFill>
                  <a:schemeClr val="tx1"/>
                </a:solidFill>
              </a:rPr>
              <a:t> es </a:t>
            </a:r>
            <a:r>
              <a:rPr lang="en-US" err="1">
                <a:solidFill>
                  <a:schemeClr val="tx1"/>
                </a:solidFill>
              </a:rPr>
              <a:t>medible</a:t>
            </a:r>
            <a:r>
              <a:rPr lang="en-US">
                <a:solidFill>
                  <a:schemeClr val="tx1"/>
                </a:solidFill>
              </a:rPr>
              <a:t>: -26.6%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MTTR, +34.6%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resolución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Freshservice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 err="1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Freshservice</a:t>
            </a:r>
            <a:r>
              <a:rPr lang="en-US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benchmark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Agentic AI </a:t>
            </a:r>
            <a:r>
              <a:rPr lang="en-US" b="1" err="1">
                <a:solidFill>
                  <a:schemeClr val="tx1"/>
                </a:solidFill>
              </a:rPr>
              <a:t>como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ventaja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competitiva</a:t>
            </a:r>
            <a:r>
              <a:rPr lang="en-US" b="1">
                <a:solidFill>
                  <a:schemeClr val="tx1"/>
                </a:solidFill>
              </a:rPr>
              <a:t>:</a:t>
            </a:r>
            <a:r>
              <a:rPr lang="en-US">
                <a:solidFill>
                  <a:schemeClr val="tx1"/>
                </a:solidFill>
              </a:rPr>
              <a:t> La </a:t>
            </a:r>
            <a:r>
              <a:rPr lang="en-US" err="1">
                <a:solidFill>
                  <a:schemeClr val="tx1"/>
                </a:solidFill>
              </a:rPr>
              <a:t>distinción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crítica</a:t>
            </a:r>
            <a:r>
              <a:rPr lang="en-US">
                <a:solidFill>
                  <a:schemeClr val="tx1"/>
                </a:solidFill>
              </a:rPr>
              <a:t>: las </a:t>
            </a:r>
            <a:r>
              <a:rPr lang="en-US" err="1">
                <a:solidFill>
                  <a:schemeClr val="tx1"/>
                </a:solidFill>
              </a:rPr>
              <a:t>herramientas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anteriores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respondían</a:t>
            </a:r>
            <a:r>
              <a:rPr lang="en-US">
                <a:solidFill>
                  <a:schemeClr val="tx1"/>
                </a:solidFill>
              </a:rPr>
              <a:t> a </a:t>
            </a:r>
            <a:r>
              <a:rPr lang="en-US" i="1">
                <a:solidFill>
                  <a:schemeClr val="tx1"/>
                </a:solidFill>
              </a:rPr>
              <a:t>prompts</a:t>
            </a:r>
            <a:r>
              <a:rPr lang="en-US">
                <a:solidFill>
                  <a:schemeClr val="tx1"/>
                </a:solidFill>
              </a:rPr>
              <a:t>; </a:t>
            </a:r>
            <a:r>
              <a:rPr lang="en-US" err="1">
                <a:solidFill>
                  <a:schemeClr val="tx1"/>
                </a:solidFill>
              </a:rPr>
              <a:t>los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sistemas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agénticos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persiguen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objetivos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mantienen</a:t>
            </a:r>
            <a:r>
              <a:rPr lang="en-US">
                <a:solidFill>
                  <a:schemeClr val="tx1"/>
                </a:solidFill>
              </a:rPr>
              <a:t> memoria y </a:t>
            </a:r>
            <a:r>
              <a:rPr lang="en-US" err="1">
                <a:solidFill>
                  <a:schemeClr val="tx1"/>
                </a:solidFill>
              </a:rPr>
              <a:t>ejecutan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flujos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multipaso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Ivanti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KCS </a:t>
            </a:r>
            <a:r>
              <a:rPr lang="en-US" b="1" err="1">
                <a:solidFill>
                  <a:schemeClr val="tx1"/>
                </a:solidFill>
              </a:rPr>
              <a:t>como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prerrequisito</a:t>
            </a:r>
            <a:r>
              <a:rPr lang="en-US" b="1">
                <a:solidFill>
                  <a:schemeClr val="tx1"/>
                </a:solidFill>
              </a:rPr>
              <a:t> para la IA:</a:t>
            </a:r>
            <a:r>
              <a:rPr lang="en-US">
                <a:solidFill>
                  <a:schemeClr val="tx1"/>
                </a:solidFill>
              </a:rPr>
              <a:t> "Los </a:t>
            </a:r>
            <a:r>
              <a:rPr lang="en-US" err="1">
                <a:solidFill>
                  <a:schemeClr val="tx1"/>
                </a:solidFill>
              </a:rPr>
              <a:t>datos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validados</a:t>
            </a:r>
            <a:r>
              <a:rPr lang="en-US">
                <a:solidFill>
                  <a:schemeClr val="tx1"/>
                </a:solidFill>
              </a:rPr>
              <a:t> y demand-driven </a:t>
            </a:r>
            <a:r>
              <a:rPr lang="en-US" err="1">
                <a:solidFill>
                  <a:schemeClr val="tx1"/>
                </a:solidFill>
              </a:rPr>
              <a:t>previenen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alucinaciones</a:t>
            </a:r>
            <a:r>
              <a:rPr lang="en-US">
                <a:solidFill>
                  <a:schemeClr val="tx1"/>
                </a:solidFill>
              </a:rPr>
              <a:t> y </a:t>
            </a:r>
            <a:r>
              <a:rPr lang="en-US" err="1">
                <a:solidFill>
                  <a:schemeClr val="tx1"/>
                </a:solidFill>
              </a:rPr>
              <a:t>construyen</a:t>
            </a:r>
            <a:r>
              <a:rPr lang="en-US">
                <a:solidFill>
                  <a:schemeClr val="tx1"/>
                </a:solidFill>
              </a:rPr>
              <a:t> confianza del </a:t>
            </a:r>
            <a:r>
              <a:rPr lang="en-US" err="1">
                <a:solidFill>
                  <a:schemeClr val="tx1"/>
                </a:solidFill>
              </a:rPr>
              <a:t>usuario</a:t>
            </a:r>
            <a:r>
              <a:rPr lang="en-US">
                <a:solidFill>
                  <a:schemeClr val="tx1"/>
                </a:solidFill>
              </a:rPr>
              <a:t>. KCS es un </a:t>
            </a:r>
            <a:r>
              <a:rPr lang="en-US" err="1">
                <a:solidFill>
                  <a:schemeClr val="tx1"/>
                </a:solidFill>
              </a:rPr>
              <a:t>sistema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operativo</a:t>
            </a:r>
            <a:r>
              <a:rPr lang="en-US">
                <a:solidFill>
                  <a:schemeClr val="tx1"/>
                </a:solidFill>
              </a:rPr>
              <a:t> tanto para </a:t>
            </a:r>
            <a:r>
              <a:rPr lang="en-US" err="1">
                <a:solidFill>
                  <a:schemeClr val="tx1"/>
                </a:solidFill>
              </a:rPr>
              <a:t>agentes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humanos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como</a:t>
            </a:r>
            <a:r>
              <a:rPr lang="en-US">
                <a:solidFill>
                  <a:schemeClr val="tx1"/>
                </a:solidFill>
              </a:rPr>
              <a:t> de IA" (</a:t>
            </a:r>
            <a:r>
              <a:rPr lang="en-US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Consortium for Service Innovation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Shift-left con </a:t>
            </a:r>
            <a:r>
              <a:rPr lang="en-US" b="1" err="1">
                <a:solidFill>
                  <a:schemeClr val="tx1"/>
                </a:solidFill>
              </a:rPr>
              <a:t>datos</a:t>
            </a:r>
            <a:r>
              <a:rPr lang="en-US" b="1">
                <a:solidFill>
                  <a:schemeClr val="tx1"/>
                </a:solidFill>
              </a:rPr>
              <a:t>:</a:t>
            </a:r>
            <a:r>
              <a:rPr lang="en-US">
                <a:solidFill>
                  <a:schemeClr val="tx1"/>
                </a:solidFill>
              </a:rPr>
              <a:t> El </a:t>
            </a:r>
            <a:r>
              <a:rPr lang="en-US" err="1">
                <a:solidFill>
                  <a:schemeClr val="tx1"/>
                </a:solidFill>
              </a:rPr>
              <a:t>costo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pasa</a:t>
            </a:r>
            <a:r>
              <a:rPr lang="en-US">
                <a:solidFill>
                  <a:schemeClr val="tx1"/>
                </a:solidFill>
              </a:rPr>
              <a:t> de USD 104 (N3) a USD 2 (N0). Cada punto de </a:t>
            </a:r>
            <a:r>
              <a:rPr lang="en-US" err="1">
                <a:solidFill>
                  <a:schemeClr val="tx1"/>
                </a:solidFill>
              </a:rPr>
              <a:t>deflección</a:t>
            </a:r>
            <a:r>
              <a:rPr lang="en-US">
                <a:solidFill>
                  <a:schemeClr val="tx1"/>
                </a:solidFill>
              </a:rPr>
              <a:t> genera un </a:t>
            </a:r>
            <a:r>
              <a:rPr lang="en-US" err="1">
                <a:solidFill>
                  <a:schemeClr val="tx1"/>
                </a:solidFill>
              </a:rPr>
              <a:t>ahorro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cuantificable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Giva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De SLA a outcomes:</a:t>
            </a:r>
            <a:r>
              <a:rPr lang="en-US">
                <a:solidFill>
                  <a:schemeClr val="tx1"/>
                </a:solidFill>
              </a:rPr>
              <a:t> TCS propone </a:t>
            </a:r>
            <a:r>
              <a:rPr lang="en-US" err="1">
                <a:solidFill>
                  <a:schemeClr val="tx1"/>
                </a:solidFill>
              </a:rPr>
              <a:t>precios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basados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outcomes; la </a:t>
            </a:r>
            <a:r>
              <a:rPr lang="en-US" err="1">
                <a:solidFill>
                  <a:schemeClr val="tx1"/>
                </a:solidFill>
              </a:rPr>
              <a:t>industria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migra</a:t>
            </a:r>
            <a:r>
              <a:rPr lang="en-US">
                <a:solidFill>
                  <a:schemeClr val="tx1"/>
                </a:solidFill>
              </a:rPr>
              <a:t> de "</a:t>
            </a:r>
            <a:r>
              <a:rPr lang="en-US" err="1">
                <a:solidFill>
                  <a:schemeClr val="tx1"/>
                </a:solidFill>
              </a:rPr>
              <a:t>gestionar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esfuerzo</a:t>
            </a:r>
            <a:r>
              <a:rPr lang="en-US">
                <a:solidFill>
                  <a:schemeClr val="tx1"/>
                </a:solidFill>
              </a:rPr>
              <a:t>" a "</a:t>
            </a:r>
            <a:r>
              <a:rPr lang="en-US" err="1">
                <a:solidFill>
                  <a:schemeClr val="tx1"/>
                </a:solidFill>
              </a:rPr>
              <a:t>orquestar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resultados</a:t>
            </a:r>
            <a:r>
              <a:rPr lang="en-US">
                <a:solidFill>
                  <a:schemeClr val="tx1"/>
                </a:solidFill>
              </a:rPr>
              <a:t>" (</a:t>
            </a:r>
            <a:r>
              <a:rPr lang="en-US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TCS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 err="1">
                <a:solidFill>
                  <a:schemeClr val="tx1"/>
                </a:solidFill>
              </a:rPr>
              <a:t>Observabilidad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como</a:t>
            </a:r>
            <a:r>
              <a:rPr lang="en-US" b="1">
                <a:solidFill>
                  <a:schemeClr val="tx1"/>
                </a:solidFill>
              </a:rPr>
              <a:t> </a:t>
            </a:r>
            <a:r>
              <a:rPr lang="en-US" b="1" err="1">
                <a:solidFill>
                  <a:schemeClr val="tx1"/>
                </a:solidFill>
              </a:rPr>
              <a:t>diferenciador</a:t>
            </a:r>
            <a:r>
              <a:rPr lang="en-US" b="1">
                <a:solidFill>
                  <a:schemeClr val="tx1"/>
                </a:solidFill>
              </a:rPr>
              <a:t>:</a:t>
            </a:r>
            <a:r>
              <a:rPr lang="en-US">
                <a:solidFill>
                  <a:schemeClr val="tx1"/>
                </a:solidFill>
              </a:rPr>
              <a:t> La mesa </a:t>
            </a:r>
            <a:r>
              <a:rPr lang="en-US" err="1">
                <a:solidFill>
                  <a:schemeClr val="tx1"/>
                </a:solidFill>
              </a:rPr>
              <a:t>que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detecta</a:t>
            </a:r>
            <a:r>
              <a:rPr lang="en-US">
                <a:solidFill>
                  <a:schemeClr val="tx1"/>
                </a:solidFill>
              </a:rPr>
              <a:t> y </a:t>
            </a:r>
            <a:r>
              <a:rPr lang="en-US" err="1">
                <a:solidFill>
                  <a:schemeClr val="tx1"/>
                </a:solidFill>
              </a:rPr>
              <a:t>resuelve</a:t>
            </a:r>
            <a:r>
              <a:rPr lang="en-US">
                <a:solidFill>
                  <a:schemeClr val="tx1"/>
                </a:solidFill>
              </a:rPr>
              <a:t> antes del </a:t>
            </a:r>
            <a:r>
              <a:rPr lang="en-US" err="1">
                <a:solidFill>
                  <a:schemeClr val="tx1"/>
                </a:solidFill>
              </a:rPr>
              <a:t>reporte</a:t>
            </a:r>
            <a:r>
              <a:rPr lang="en-US">
                <a:solidFill>
                  <a:schemeClr val="tx1"/>
                </a:solidFill>
              </a:rPr>
              <a:t> del </a:t>
            </a:r>
            <a:r>
              <a:rPr lang="en-US" err="1">
                <a:solidFill>
                  <a:schemeClr val="tx1"/>
                </a:solidFill>
              </a:rPr>
              <a:t>usuario</a:t>
            </a:r>
            <a:r>
              <a:rPr lang="en-US">
                <a:solidFill>
                  <a:schemeClr val="tx1"/>
                </a:solidFill>
              </a:rPr>
              <a:t> se </a:t>
            </a:r>
            <a:r>
              <a:rPr lang="en-US" err="1">
                <a:solidFill>
                  <a:schemeClr val="tx1"/>
                </a:solidFill>
              </a:rPr>
              <a:t>vuelve</a:t>
            </a:r>
            <a:r>
              <a:rPr lang="en-US">
                <a:solidFill>
                  <a:schemeClr val="tx1"/>
                </a:solidFill>
              </a:rPr>
              <a:t> invisible para el </a:t>
            </a:r>
            <a:r>
              <a:rPr lang="en-US" err="1">
                <a:solidFill>
                  <a:schemeClr val="tx1"/>
                </a:solidFill>
              </a:rPr>
              <a:t>negocio</a:t>
            </a:r>
            <a:r>
              <a:rPr lang="en-US">
                <a:solidFill>
                  <a:schemeClr val="tx1"/>
                </a:solidFill>
              </a:rPr>
              <a:t> — </a:t>
            </a:r>
            <a:r>
              <a:rPr lang="en-US" err="1">
                <a:solidFill>
                  <a:schemeClr val="tx1"/>
                </a:solidFill>
              </a:rPr>
              <a:t>en</a:t>
            </a:r>
            <a:r>
              <a:rPr lang="en-US">
                <a:solidFill>
                  <a:schemeClr val="tx1"/>
                </a:solidFill>
              </a:rPr>
              <a:t> el </a:t>
            </a:r>
            <a:r>
              <a:rPr lang="en-US" err="1">
                <a:solidFill>
                  <a:schemeClr val="tx1"/>
                </a:solidFill>
              </a:rPr>
              <a:t>mejor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sentido</a:t>
            </a:r>
            <a:r>
              <a:rPr lang="en-US">
                <a:solidFill>
                  <a:schemeClr val="tx1"/>
                </a:solidFill>
              </a:rPr>
              <a:t> del </a:t>
            </a:r>
            <a:r>
              <a:rPr lang="en-US" err="1">
                <a:solidFill>
                  <a:schemeClr val="tx1"/>
                </a:solidFill>
              </a:rPr>
              <a:t>término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>
                <a:solidFill>
                  <a:schemeClr val="tx1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ServiceNow whitepaper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  <a:p>
            <a:pPr marL="285750" indent="-285750">
              <a:buChar char="•"/>
            </a:pPr>
            <a:r>
              <a:rPr lang="en-US" b="1">
                <a:solidFill>
                  <a:schemeClr val="tx1"/>
                </a:solidFill>
              </a:rPr>
              <a:t>Agentic AI: del </a:t>
            </a:r>
            <a:r>
              <a:rPr lang="en-US" b="1" err="1">
                <a:solidFill>
                  <a:schemeClr val="tx1"/>
                </a:solidFill>
              </a:rPr>
              <a:t>experimento</a:t>
            </a:r>
            <a:r>
              <a:rPr lang="en-US" b="1">
                <a:solidFill>
                  <a:schemeClr val="tx1"/>
                </a:solidFill>
              </a:rPr>
              <a:t> a </a:t>
            </a:r>
            <a:r>
              <a:rPr lang="en-US" b="1" err="1">
                <a:solidFill>
                  <a:schemeClr val="tx1"/>
                </a:solidFill>
              </a:rPr>
              <a:t>producción</a:t>
            </a:r>
            <a:r>
              <a:rPr lang="en-US" b="1">
                <a:solidFill>
                  <a:schemeClr val="tx1"/>
                </a:solidFill>
              </a:rPr>
              <a:t> (con </a:t>
            </a:r>
            <a:r>
              <a:rPr lang="en-US" b="1" err="1">
                <a:solidFill>
                  <a:schemeClr val="tx1"/>
                </a:solidFill>
              </a:rPr>
              <a:t>matices</a:t>
            </a:r>
            <a:r>
              <a:rPr lang="en-US" b="1">
                <a:solidFill>
                  <a:schemeClr val="tx1"/>
                </a:solidFill>
              </a:rPr>
              <a:t>).</a:t>
            </a:r>
            <a:r>
              <a:rPr lang="en-US">
                <a:solidFill>
                  <a:schemeClr val="tx1"/>
                </a:solidFill>
              </a:rPr>
              <a:t> El </a:t>
            </a:r>
            <a:r>
              <a:rPr lang="en-US" err="1">
                <a:solidFill>
                  <a:schemeClr val="tx1"/>
                </a:solidFill>
              </a:rPr>
              <a:t>año</a:t>
            </a:r>
            <a:r>
              <a:rPr lang="en-US">
                <a:solidFill>
                  <a:schemeClr val="tx1"/>
                </a:solidFill>
              </a:rPr>
              <a:t> 2025-2026 </a:t>
            </a:r>
            <a:r>
              <a:rPr lang="en-US" err="1">
                <a:solidFill>
                  <a:schemeClr val="tx1"/>
                </a:solidFill>
              </a:rPr>
              <a:t>confirma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que</a:t>
            </a:r>
            <a:r>
              <a:rPr lang="en-US">
                <a:solidFill>
                  <a:schemeClr val="tx1"/>
                </a:solidFill>
              </a:rPr>
              <a:t> la IA </a:t>
            </a:r>
            <a:r>
              <a:rPr lang="en-US" err="1">
                <a:solidFill>
                  <a:schemeClr val="tx1"/>
                </a:solidFill>
              </a:rPr>
              <a:t>agéntica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dejó</a:t>
            </a:r>
            <a:r>
              <a:rPr lang="en-US">
                <a:solidFill>
                  <a:schemeClr val="tx1"/>
                </a:solidFill>
              </a:rPr>
              <a:t> de ser un </a:t>
            </a:r>
            <a:r>
              <a:rPr lang="en-US" err="1">
                <a:solidFill>
                  <a:schemeClr val="tx1"/>
                </a:solidFill>
              </a:rPr>
              <a:t>experimento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laboratorio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pero</a:t>
            </a:r>
            <a:r>
              <a:rPr lang="en-US">
                <a:solidFill>
                  <a:schemeClr val="tx1"/>
                </a:solidFill>
              </a:rPr>
              <a:t> la </a:t>
            </a:r>
            <a:r>
              <a:rPr lang="en-US" err="1">
                <a:solidFill>
                  <a:schemeClr val="tx1"/>
                </a:solidFill>
              </a:rPr>
              <a:t>brecha</a:t>
            </a:r>
            <a:r>
              <a:rPr lang="en-US">
                <a:solidFill>
                  <a:schemeClr val="tx1"/>
                </a:solidFill>
              </a:rPr>
              <a:t> entre </a:t>
            </a:r>
            <a:r>
              <a:rPr lang="en-US" err="1">
                <a:solidFill>
                  <a:schemeClr val="tx1"/>
                </a:solidFill>
              </a:rPr>
              <a:t>adopción</a:t>
            </a:r>
            <a:r>
              <a:rPr lang="en-US">
                <a:solidFill>
                  <a:schemeClr val="tx1"/>
                </a:solidFill>
              </a:rPr>
              <a:t> y </a:t>
            </a:r>
            <a:r>
              <a:rPr lang="en-US" err="1">
                <a:solidFill>
                  <a:schemeClr val="tx1"/>
                </a:solidFill>
              </a:rPr>
              <a:t>madurez</a:t>
            </a:r>
            <a:r>
              <a:rPr lang="en-US">
                <a:solidFill>
                  <a:schemeClr val="tx1"/>
                </a:solidFill>
              </a:rPr>
              <a:t> real </a:t>
            </a:r>
            <a:r>
              <a:rPr lang="en-US" err="1">
                <a:solidFill>
                  <a:schemeClr val="tx1"/>
                </a:solidFill>
              </a:rPr>
              <a:t>sigue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siendo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amplia</a:t>
            </a:r>
            <a:r>
              <a:rPr lang="en-US">
                <a:solidFill>
                  <a:schemeClr val="tx1"/>
                </a:solidFill>
              </a:rPr>
              <a:t>:</a:t>
            </a:r>
            <a:endParaRPr lang="es-ES">
              <a:solidFill>
                <a:schemeClr val="tx1"/>
              </a:solidFill>
            </a:endParaRPr>
          </a:p>
          <a:p>
            <a:pPr>
              <a:buNone/>
            </a:pPr>
            <a:endParaRPr lang="en-US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5339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A63DE-BA7F-F0A7-A6EC-6E4D44FCE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AC1037-746E-5E18-B011-F4D63BB7D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6BE060-DFB4-75C7-1539-26CD848E2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/>
            <a:r>
              <a:rPr lang="en-US" b="1"/>
              <a:t>SFC:</a:t>
            </a:r>
            <a:r>
              <a:rPr lang="en-US"/>
              <a:t> </a:t>
            </a:r>
            <a:r>
              <a:rPr lang="en-US" err="1"/>
              <a:t>Superintendencia</a:t>
            </a:r>
            <a:r>
              <a:rPr lang="en-US"/>
              <a:t> Financiera de Colombia</a:t>
            </a:r>
            <a:endParaRPr lang="es-ES"/>
          </a:p>
          <a:p>
            <a:pPr marL="171450" indent="-171450"/>
            <a:r>
              <a:rPr lang="en-US" b="1" err="1"/>
              <a:t>SOX:</a:t>
            </a:r>
            <a:r>
              <a:rPr lang="en-US" err="1"/>
              <a:t>Sarbanes-Oxley</a:t>
            </a:r>
            <a:r>
              <a:rPr lang="en-US"/>
              <a:t> Act, Ley </a:t>
            </a:r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establece</a:t>
            </a:r>
            <a:r>
              <a:rPr lang="en-US"/>
              <a:t> </a:t>
            </a:r>
            <a:r>
              <a:rPr lang="en-US" err="1"/>
              <a:t>controles</a:t>
            </a:r>
            <a:r>
              <a:rPr lang="en-US"/>
              <a:t> para </a:t>
            </a:r>
            <a:r>
              <a:rPr lang="en-US" err="1"/>
              <a:t>garantizar</a:t>
            </a:r>
            <a:r>
              <a:rPr lang="en-US"/>
              <a:t> la </a:t>
            </a:r>
            <a:r>
              <a:rPr lang="en-US" err="1"/>
              <a:t>transparencia</a:t>
            </a:r>
            <a:r>
              <a:rPr lang="en-US"/>
              <a:t> y la </a:t>
            </a:r>
            <a:r>
              <a:rPr lang="en-US" err="1"/>
              <a:t>integridad</a:t>
            </a:r>
            <a:r>
              <a:rPr lang="en-US"/>
              <a:t> de la </a:t>
            </a:r>
            <a:r>
              <a:rPr lang="en-US" err="1"/>
              <a:t>información</a:t>
            </a:r>
            <a:r>
              <a:rPr lang="en-US"/>
              <a:t> </a:t>
            </a:r>
            <a:r>
              <a:rPr lang="en-US" err="1"/>
              <a:t>financiera</a:t>
            </a:r>
            <a:r>
              <a:rPr lang="en-US"/>
              <a:t>.</a:t>
            </a:r>
          </a:p>
          <a:p>
            <a:pPr marL="171450" indent="-171450"/>
            <a:r>
              <a:rPr lang="en-US" b="1"/>
              <a:t>BCP (</a:t>
            </a:r>
            <a:r>
              <a:rPr lang="en-US"/>
              <a:t>Business Continuity Plan / Plan de </a:t>
            </a:r>
            <a:r>
              <a:rPr lang="en-US" err="1"/>
              <a:t>Continuidad</a:t>
            </a:r>
            <a:r>
              <a:rPr lang="en-US"/>
              <a:t> del </a:t>
            </a:r>
            <a:r>
              <a:rPr lang="en-US" err="1"/>
              <a:t>Negocio</a:t>
            </a:r>
            <a:r>
              <a:rPr lang="en-US" b="1"/>
              <a:t>):</a:t>
            </a:r>
            <a:r>
              <a:rPr lang="en-US"/>
              <a:t> Plan para </a:t>
            </a:r>
            <a:r>
              <a:rPr lang="en-US" err="1"/>
              <a:t>mantener</a:t>
            </a:r>
            <a:r>
              <a:rPr lang="en-US"/>
              <a:t> </a:t>
            </a:r>
            <a:r>
              <a:rPr lang="en-US" err="1"/>
              <a:t>operativas</a:t>
            </a:r>
            <a:r>
              <a:rPr lang="en-US"/>
              <a:t> las </a:t>
            </a:r>
            <a:r>
              <a:rPr lang="en-US" err="1"/>
              <a:t>funciones</a:t>
            </a:r>
            <a:r>
              <a:rPr lang="en-US"/>
              <a:t> </a:t>
            </a:r>
            <a:r>
              <a:rPr lang="en-US" err="1"/>
              <a:t>críticas</a:t>
            </a:r>
            <a:r>
              <a:rPr lang="en-US"/>
              <a:t> del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durante</a:t>
            </a:r>
            <a:r>
              <a:rPr lang="en-US"/>
              <a:t> </a:t>
            </a:r>
            <a:r>
              <a:rPr lang="en-US" err="1"/>
              <a:t>una</a:t>
            </a:r>
            <a:r>
              <a:rPr lang="en-US"/>
              <a:t> </a:t>
            </a:r>
            <a:r>
              <a:rPr lang="en-US" err="1"/>
              <a:t>interrupción</a:t>
            </a:r>
            <a:r>
              <a:rPr lang="en-US"/>
              <a:t>.</a:t>
            </a:r>
          </a:p>
          <a:p>
            <a:pPr marL="171450" indent="-171450"/>
            <a:r>
              <a:rPr lang="en-US" b="1"/>
              <a:t>DRP (</a:t>
            </a:r>
            <a:r>
              <a:rPr lang="en-US"/>
              <a:t>Disaster Recovery Plan / Plan de </a:t>
            </a:r>
            <a:r>
              <a:rPr lang="en-US" err="1"/>
              <a:t>Recuperación</a:t>
            </a:r>
            <a:r>
              <a:rPr lang="en-US"/>
              <a:t> ante </a:t>
            </a:r>
            <a:r>
              <a:rPr lang="en-US" err="1"/>
              <a:t>Desastres</a:t>
            </a:r>
            <a:r>
              <a:rPr lang="en-US" b="1"/>
              <a:t>):</a:t>
            </a:r>
            <a:r>
              <a:rPr lang="en-US"/>
              <a:t> Plan para </a:t>
            </a:r>
            <a:r>
              <a:rPr lang="en-US" err="1"/>
              <a:t>recuperar</a:t>
            </a:r>
            <a:r>
              <a:rPr lang="en-US"/>
              <a:t> </a:t>
            </a:r>
            <a:r>
              <a:rPr lang="en-US" err="1"/>
              <a:t>sistemas</a:t>
            </a:r>
            <a:r>
              <a:rPr lang="en-US"/>
              <a:t>, </a:t>
            </a:r>
            <a:r>
              <a:rPr lang="en-US" err="1"/>
              <a:t>aplicaciones</a:t>
            </a:r>
            <a:r>
              <a:rPr lang="en-US"/>
              <a:t> y </a:t>
            </a:r>
            <a:r>
              <a:rPr lang="en-US" err="1"/>
              <a:t>datos</a:t>
            </a:r>
            <a:r>
              <a:rPr lang="en-US"/>
              <a:t> </a:t>
            </a:r>
            <a:r>
              <a:rPr lang="en-US" err="1"/>
              <a:t>después</a:t>
            </a:r>
            <a:r>
              <a:rPr lang="en-US"/>
              <a:t> de un </a:t>
            </a:r>
            <a:r>
              <a:rPr lang="en-US" err="1"/>
              <a:t>desastre</a:t>
            </a:r>
            <a:r>
              <a:rPr lang="en-US"/>
              <a:t> o </a:t>
            </a:r>
            <a:r>
              <a:rPr lang="en-US" err="1"/>
              <a:t>incidente</a:t>
            </a:r>
            <a:r>
              <a:rPr lang="en-US"/>
              <a:t> grave.</a:t>
            </a:r>
          </a:p>
          <a:p>
            <a:pPr marL="171450" indent="-171450"/>
            <a:r>
              <a:rPr lang="en-US" b="1"/>
              <a:t>BCP (</a:t>
            </a:r>
            <a:r>
              <a:rPr lang="en-US" err="1"/>
              <a:t>Continuar</a:t>
            </a:r>
            <a:r>
              <a:rPr lang="en-US"/>
              <a:t> operando</a:t>
            </a:r>
            <a:r>
              <a:rPr lang="en-US" b="1"/>
              <a:t>)/DRP (</a:t>
            </a:r>
            <a:r>
              <a:rPr lang="en-US" err="1"/>
              <a:t>Recuperar</a:t>
            </a:r>
            <a:r>
              <a:rPr lang="en-US"/>
              <a:t> la </a:t>
            </a:r>
            <a:r>
              <a:rPr lang="en-US" err="1"/>
              <a:t>tecnología</a:t>
            </a:r>
            <a:r>
              <a:rPr lang="en-US" b="1"/>
              <a:t>):</a:t>
            </a:r>
            <a:r>
              <a:rPr lang="en-US"/>
              <a:t> </a:t>
            </a:r>
            <a:r>
              <a:rPr lang="en-US" err="1"/>
              <a:t>Estrategia</a:t>
            </a:r>
            <a:r>
              <a:rPr lang="en-US"/>
              <a:t> integral para </a:t>
            </a:r>
            <a:r>
              <a:rPr lang="en-US" err="1"/>
              <a:t>asegurar</a:t>
            </a:r>
            <a:r>
              <a:rPr lang="en-US"/>
              <a:t> la </a:t>
            </a:r>
            <a:r>
              <a:rPr lang="en-US" err="1"/>
              <a:t>continuidad</a:t>
            </a:r>
            <a:r>
              <a:rPr lang="en-US"/>
              <a:t> del </a:t>
            </a:r>
            <a:r>
              <a:rPr lang="en-US" err="1"/>
              <a:t>negocio</a:t>
            </a:r>
            <a:r>
              <a:rPr lang="en-US"/>
              <a:t> y la </a:t>
            </a:r>
            <a:r>
              <a:rPr lang="en-US" err="1"/>
              <a:t>recuperación</a:t>
            </a:r>
            <a:r>
              <a:rPr lang="en-US"/>
              <a:t> </a:t>
            </a:r>
            <a:r>
              <a:rPr lang="en-US" err="1"/>
              <a:t>tecnológica</a:t>
            </a:r>
            <a:r>
              <a:rPr lang="en-US"/>
              <a:t> ante </a:t>
            </a:r>
            <a:r>
              <a:rPr lang="en-US" err="1"/>
              <a:t>contingencias</a:t>
            </a:r>
            <a:r>
              <a:rPr lang="en-US"/>
              <a:t>.</a:t>
            </a:r>
          </a:p>
          <a:p>
            <a:pPr marL="158750" indent="0">
              <a:buNone/>
            </a:pPr>
            <a:endParaRPr lang="en-US"/>
          </a:p>
          <a:p>
            <a:r>
              <a:rPr lang="en-US" err="1"/>
              <a:t>Superintendencia</a:t>
            </a:r>
            <a:r>
              <a:rPr lang="en-US"/>
              <a:t> Financiera de Colombia: </a:t>
            </a:r>
            <a:r>
              <a:rPr lang="en-US">
                <a:hlinkClick r:id="rId3"/>
              </a:rPr>
              <a:t>https://www.superfinanciera.gov.co</a:t>
            </a:r>
            <a:r>
              <a:rPr lang="en-US"/>
              <a:t> </a:t>
            </a:r>
            <a:r>
              <a:rPr lang="en-US">
                <a:hlinkClick r:id="rId4"/>
              </a:rPr>
              <a:t>[</a:t>
            </a:r>
            <a:r>
              <a:rPr lang="en-US" err="1">
                <a:hlinkClick r:id="rId4"/>
              </a:rPr>
              <a:t>superfinan</a:t>
            </a:r>
            <a:r>
              <a:rPr lang="en-US">
                <a:hlinkClick r:id="rId4"/>
              </a:rPr>
              <a:t>...era.gov.co]</a:t>
            </a:r>
            <a:endParaRPr lang="es-ES"/>
          </a:p>
          <a:p>
            <a:r>
              <a:rPr lang="en-US"/>
              <a:t>Open Finance Colombia (</a:t>
            </a:r>
            <a:r>
              <a:rPr lang="en-US" err="1"/>
              <a:t>Decreto</a:t>
            </a:r>
            <a:r>
              <a:rPr lang="en-US"/>
              <a:t> 0368 de 2026): </a:t>
            </a:r>
            <a:r>
              <a:rPr lang="en-US" err="1"/>
              <a:t>Superfinanciera</a:t>
            </a:r>
            <a:r>
              <a:rPr lang="en-US"/>
              <a:t> </a:t>
            </a:r>
            <a:r>
              <a:rPr lang="en-US">
                <a:hlinkClick r:id="rId5"/>
              </a:rPr>
              <a:t>[</a:t>
            </a:r>
            <a:r>
              <a:rPr lang="en-US" err="1">
                <a:hlinkClick r:id="rId5"/>
              </a:rPr>
              <a:t>superfinan</a:t>
            </a:r>
            <a:r>
              <a:rPr lang="en-US">
                <a:hlinkClick r:id="rId5"/>
              </a:rPr>
              <a:t>...era.gov.co]</a:t>
            </a:r>
            <a:endParaRPr lang="en-US"/>
          </a:p>
          <a:p>
            <a:r>
              <a:rPr lang="en-US"/>
              <a:t>ISO/IEC 42001: </a:t>
            </a:r>
            <a:r>
              <a:rPr lang="en-US">
                <a:hlinkClick r:id="rId6"/>
              </a:rPr>
              <a:t>https://www.iso.org/standard/42001</a:t>
            </a:r>
            <a:r>
              <a:rPr lang="en-US"/>
              <a:t> </a:t>
            </a:r>
            <a:r>
              <a:rPr lang="en-US">
                <a:hlinkClick r:id="rId6"/>
              </a:rPr>
              <a:t>[iso.org]</a:t>
            </a:r>
            <a:endParaRPr lang="es-ES"/>
          </a:p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B7229A-9FEE-A307-B6A0-D2AEB3C73C9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5428095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B1FFF808-ACEF-2361-1CA3-572FE1F76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57f5ba65c_1_28:notes">
            <a:extLst>
              <a:ext uri="{FF2B5EF4-FFF2-40B4-BE49-F238E27FC236}">
                <a16:creationId xmlns:a16="http://schemas.microsoft.com/office/drawing/2014/main" id="{4F58280E-B152-1D20-4F1F-53D2B38A44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57f5ba65c_1_28:notes">
            <a:extLst>
              <a:ext uri="{FF2B5EF4-FFF2-40B4-BE49-F238E27FC236}">
                <a16:creationId xmlns:a16="http://schemas.microsoft.com/office/drawing/2014/main" id="{9ABC4265-F82C-DCAF-EF13-3750909976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600052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>
          <a:extLst>
            <a:ext uri="{FF2B5EF4-FFF2-40B4-BE49-F238E27FC236}">
              <a16:creationId xmlns:a16="http://schemas.microsoft.com/office/drawing/2014/main" id="{F67EC8EC-D924-C2EE-6728-9FB1E1EDE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>
            <a:extLst>
              <a:ext uri="{FF2B5EF4-FFF2-40B4-BE49-F238E27FC236}">
                <a16:creationId xmlns:a16="http://schemas.microsoft.com/office/drawing/2014/main" id="{ECBE2C72-F4BB-EA9C-2B3B-14D52AD357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p5:notes">
            <a:extLst>
              <a:ext uri="{FF2B5EF4-FFF2-40B4-BE49-F238E27FC236}">
                <a16:creationId xmlns:a16="http://schemas.microsoft.com/office/drawing/2014/main" id="{3465F5D9-09F0-AF07-4782-69A853439C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994737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CE505433-2ACA-69A8-B0C3-A79DA987B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57f5ba65c_1_28:notes">
            <a:extLst>
              <a:ext uri="{FF2B5EF4-FFF2-40B4-BE49-F238E27FC236}">
                <a16:creationId xmlns:a16="http://schemas.microsoft.com/office/drawing/2014/main" id="{603A7570-A496-3D05-6901-598F97D07A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57f5ba65c_1_28:notes">
            <a:extLst>
              <a:ext uri="{FF2B5EF4-FFF2-40B4-BE49-F238E27FC236}">
                <a16:creationId xmlns:a16="http://schemas.microsoft.com/office/drawing/2014/main" id="{71F902F3-8C74-1208-3B51-B4F19066F0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660744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s-ES" err="1"/>
              <a:t>Ref</a:t>
            </a:r>
            <a:r>
              <a:rPr lang="es-ES"/>
              <a:t>: </a:t>
            </a:r>
            <a:r>
              <a:rPr lang="es-ES">
                <a:hlinkClick r:id="rId3"/>
              </a:rPr>
              <a:t>7.5.5 Mesa de Servicios</a:t>
            </a:r>
          </a:p>
          <a:p>
            <a:pPr>
              <a:buNone/>
            </a:pPr>
            <a:endParaRPr lang="es-ES"/>
          </a:p>
          <a:p>
            <a:pPr>
              <a:buNone/>
            </a:pPr>
            <a:r>
              <a:rPr lang="es-ES" err="1"/>
              <a:t>Ref</a:t>
            </a:r>
            <a:r>
              <a:rPr lang="es-ES"/>
              <a:t>: </a:t>
            </a:r>
            <a:r>
              <a:rPr lang="es-ES">
                <a:hlinkClick r:id="rId4"/>
              </a:rPr>
              <a:t>¿Qué es un software de mesa de ayuda? | Guía sobre el software de mesa de ayuda - ManageEngine ServiceDesk Plus</a:t>
            </a:r>
          </a:p>
          <a:p>
            <a:pPr>
              <a:buNone/>
            </a:pPr>
            <a:endParaRPr lang="es-ES"/>
          </a:p>
          <a:p>
            <a:pPr>
              <a:buNone/>
            </a:pPr>
            <a:r>
              <a:rPr lang="es-ES" err="1"/>
              <a:t>Ref</a:t>
            </a:r>
            <a:r>
              <a:rPr lang="es-ES"/>
              <a:t>: </a:t>
            </a:r>
            <a:r>
              <a:rPr lang="es-ES">
                <a:hlinkClick r:id="rId5"/>
              </a:rPr>
              <a:t>(8) Mesa de servicio inteligente: cómo la Inteligencia Artificial está transformando el soporte al cliente | LinkedIn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1464417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b="1">
                <a:solidFill>
                  <a:schemeClr val="tx1"/>
                </a:solidFill>
              </a:rPr>
              <a:t>De ITSM a DPSM:</a:t>
            </a:r>
            <a:r>
              <a:rPr lang="en-US">
                <a:solidFill>
                  <a:schemeClr val="tx1"/>
                </a:solidFill>
              </a:rPr>
              <a:t> ITIL (Version 5) </a:t>
            </a:r>
            <a:r>
              <a:rPr lang="en-US" err="1">
                <a:solidFill>
                  <a:schemeClr val="tx1"/>
                </a:solidFill>
              </a:rPr>
              <a:t>amplía</a:t>
            </a:r>
            <a:r>
              <a:rPr lang="en-US">
                <a:solidFill>
                  <a:schemeClr val="tx1"/>
                </a:solidFill>
              </a:rPr>
              <a:t> el </a:t>
            </a:r>
            <a:r>
              <a:rPr lang="en-US" err="1">
                <a:solidFill>
                  <a:schemeClr val="tx1"/>
                </a:solidFill>
              </a:rPr>
              <a:t>marco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hacia</a:t>
            </a:r>
            <a:r>
              <a:rPr lang="en-US">
                <a:solidFill>
                  <a:schemeClr val="tx1"/>
                </a:solidFill>
              </a:rPr>
              <a:t> la </a:t>
            </a:r>
            <a:r>
              <a:rPr lang="en-US" b="1">
                <a:solidFill>
                  <a:schemeClr val="tx1"/>
                </a:solidFill>
              </a:rPr>
              <a:t>Digital Product and Service Management (DPSM)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unificando</a:t>
            </a:r>
            <a:r>
              <a:rPr lang="en-US">
                <a:solidFill>
                  <a:schemeClr val="tx1"/>
                </a:solidFill>
              </a:rPr>
              <a:t> la </a:t>
            </a:r>
            <a:r>
              <a:rPr lang="en-US" err="1">
                <a:solidFill>
                  <a:schemeClr val="tx1"/>
                </a:solidFill>
              </a:rPr>
              <a:t>gestión</a:t>
            </a:r>
            <a:r>
              <a:rPr lang="en-US">
                <a:solidFill>
                  <a:schemeClr val="tx1"/>
                </a:solidFill>
              </a:rPr>
              <a:t> de </a:t>
            </a:r>
            <a:r>
              <a:rPr lang="en-US" err="1">
                <a:solidFill>
                  <a:schemeClr val="tx1"/>
                </a:solidFill>
              </a:rPr>
              <a:t>productos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digitales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aplicaciones</a:t>
            </a:r>
            <a:r>
              <a:rPr lang="en-US">
                <a:solidFill>
                  <a:schemeClr val="tx1"/>
                </a:solidFill>
              </a:rPr>
              <a:t>, </a:t>
            </a:r>
            <a:r>
              <a:rPr lang="en-US" err="1">
                <a:solidFill>
                  <a:schemeClr val="tx1"/>
                </a:solidFill>
              </a:rPr>
              <a:t>plataformas</a:t>
            </a:r>
            <a:r>
              <a:rPr lang="en-US">
                <a:solidFill>
                  <a:schemeClr val="tx1"/>
                </a:solidFill>
              </a:rPr>
              <a:t> y APIs junto con </a:t>
            </a:r>
            <a:r>
              <a:rPr lang="en-US" err="1">
                <a:solidFill>
                  <a:schemeClr val="tx1"/>
                </a:solidFill>
              </a:rPr>
              <a:t>los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servicios</a:t>
            </a:r>
            <a:r>
              <a:rPr lang="en-US">
                <a:solidFill>
                  <a:schemeClr val="tx1"/>
                </a:solidFill>
              </a:rPr>
              <a:t> de TI </a:t>
            </a:r>
            <a:r>
              <a:rPr lang="en-US" err="1">
                <a:solidFill>
                  <a:schemeClr val="tx1"/>
                </a:solidFill>
              </a:rPr>
              <a:t>tradicionales</a:t>
            </a:r>
            <a:r>
              <a:rPr lang="en-US">
                <a:solidFill>
                  <a:schemeClr val="tx1"/>
                </a:solidFill>
              </a:rPr>
              <a:t> — </a:t>
            </a:r>
            <a:r>
              <a:rPr lang="en-US" err="1">
                <a:solidFill>
                  <a:schemeClr val="tx1"/>
                </a:solidFill>
              </a:rPr>
              <a:t>reflejando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que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muchas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organizaciones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ya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gestionan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estos</a:t>
            </a:r>
            <a:r>
              <a:rPr lang="en-US">
                <a:solidFill>
                  <a:schemeClr val="tx1"/>
                </a:solidFill>
              </a:rPr>
              <a:t> </a:t>
            </a:r>
            <a:r>
              <a:rPr lang="en-US" err="1">
                <a:solidFill>
                  <a:schemeClr val="tx1"/>
                </a:solidFill>
              </a:rPr>
              <a:t>elementos</a:t>
            </a:r>
            <a:r>
              <a:rPr lang="en-US">
                <a:solidFill>
                  <a:schemeClr val="tx1"/>
                </a:solidFill>
              </a:rPr>
              <a:t> de forma </a:t>
            </a:r>
            <a:r>
              <a:rPr lang="en-US" err="1">
                <a:solidFill>
                  <a:schemeClr val="tx1"/>
                </a:solidFill>
              </a:rPr>
              <a:t>convergente</a:t>
            </a:r>
            <a:r>
              <a:rPr lang="en-US">
                <a:solidFill>
                  <a:schemeClr val="tx1"/>
                </a:solidFill>
              </a:rPr>
              <a:t> (</a:t>
            </a:r>
            <a:r>
              <a:rPr lang="en-US" err="1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Rixmind</a:t>
            </a:r>
            <a:r>
              <a:rPr lang="en-US">
                <a:solidFill>
                  <a:schemeClr val="tx1"/>
                </a:solidFill>
              </a:rPr>
              <a:t>).</a:t>
            </a:r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018418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/>
            <a:r>
              <a:rPr lang="en-US" b="1"/>
              <a:t>FCR:</a:t>
            </a:r>
            <a:r>
              <a:rPr lang="en-US"/>
              <a:t> </a:t>
            </a:r>
            <a:r>
              <a:rPr lang="en-US" err="1"/>
              <a:t>Resolución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el Primer Contacto (</a:t>
            </a:r>
            <a:r>
              <a:rPr lang="en-US" i="1"/>
              <a:t>First Contact Resolution</a:t>
            </a:r>
            <a:r>
              <a:rPr lang="en-US"/>
              <a:t>).</a:t>
            </a:r>
            <a:endParaRPr lang="es-ES"/>
          </a:p>
          <a:p>
            <a:pPr marL="171450" indent="-171450"/>
            <a:r>
              <a:rPr lang="en-US" b="1"/>
              <a:t>MTTR:</a:t>
            </a:r>
            <a:r>
              <a:rPr lang="en-US"/>
              <a:t> Tiempo Medio de </a:t>
            </a:r>
            <a:r>
              <a:rPr lang="en-US" err="1"/>
              <a:t>Resolución</a:t>
            </a:r>
            <a:r>
              <a:rPr lang="en-US"/>
              <a:t> (</a:t>
            </a:r>
            <a:r>
              <a:rPr lang="en-US" i="1"/>
              <a:t>Mean Time to Resolution</a:t>
            </a:r>
            <a:r>
              <a:rPr lang="en-US"/>
              <a:t>).</a:t>
            </a:r>
          </a:p>
          <a:p>
            <a:pPr marL="171450" indent="-171450"/>
            <a:r>
              <a:rPr lang="en-US" b="1"/>
              <a:t>SLA:</a:t>
            </a:r>
            <a:r>
              <a:rPr lang="en-US"/>
              <a:t> </a:t>
            </a:r>
            <a:r>
              <a:rPr lang="en-US" err="1"/>
              <a:t>Acuerdo</a:t>
            </a:r>
            <a:r>
              <a:rPr lang="en-US"/>
              <a:t> de Nivel de Servicio (</a:t>
            </a:r>
            <a:r>
              <a:rPr lang="en-US" i="1"/>
              <a:t>Service Level Agreement</a:t>
            </a:r>
            <a:r>
              <a:rPr lang="en-US"/>
              <a:t>).</a:t>
            </a:r>
          </a:p>
          <a:p>
            <a:pPr marL="171450" indent="-171450"/>
            <a:r>
              <a:rPr lang="en-US" b="1"/>
              <a:t>CMDB:</a:t>
            </a:r>
            <a:r>
              <a:rPr lang="en-US"/>
              <a:t> Base de Datos de </a:t>
            </a:r>
            <a:r>
              <a:rPr lang="en-US" err="1"/>
              <a:t>Gestión</a:t>
            </a:r>
            <a:r>
              <a:rPr lang="en-US"/>
              <a:t> de </a:t>
            </a:r>
            <a:r>
              <a:rPr lang="en-US" err="1"/>
              <a:t>Configuración</a:t>
            </a:r>
            <a:r>
              <a:rPr lang="en-US"/>
              <a:t> (</a:t>
            </a:r>
            <a:r>
              <a:rPr lang="en-US" i="1"/>
              <a:t>Configuration Management Database</a:t>
            </a:r>
            <a:r>
              <a:rPr lang="en-US"/>
              <a:t>).</a:t>
            </a:r>
          </a:p>
          <a:p>
            <a:pPr marL="171450" indent="-171450"/>
            <a:r>
              <a:rPr lang="en-US" b="1"/>
              <a:t>KPI:</a:t>
            </a:r>
            <a:r>
              <a:rPr lang="en-US"/>
              <a:t> </a:t>
            </a:r>
            <a:r>
              <a:rPr lang="en-US" err="1"/>
              <a:t>Indicador</a:t>
            </a:r>
            <a:r>
              <a:rPr lang="en-US"/>
              <a:t> Clave de </a:t>
            </a:r>
            <a:r>
              <a:rPr lang="en-US" err="1"/>
              <a:t>Desempeño</a:t>
            </a:r>
            <a:r>
              <a:rPr lang="en-US"/>
              <a:t> (</a:t>
            </a:r>
            <a:r>
              <a:rPr lang="en-US" i="1"/>
              <a:t>Key Performance Indicator</a:t>
            </a:r>
            <a:r>
              <a:rPr lang="en-US"/>
              <a:t>).</a:t>
            </a:r>
          </a:p>
          <a:p>
            <a:pPr marL="171450" indent="-171450"/>
            <a:r>
              <a:rPr lang="en-US" b="1"/>
              <a:t>KCS:</a:t>
            </a:r>
            <a:r>
              <a:rPr lang="en-US"/>
              <a:t> Servicio </a:t>
            </a:r>
            <a:r>
              <a:rPr lang="en-US" err="1"/>
              <a:t>Centrado</a:t>
            </a:r>
            <a:r>
              <a:rPr lang="en-US"/>
              <a:t> </a:t>
            </a:r>
            <a:r>
              <a:rPr lang="en-US" err="1"/>
              <a:t>en</a:t>
            </a:r>
            <a:r>
              <a:rPr lang="en-US"/>
              <a:t> el </a:t>
            </a:r>
            <a:r>
              <a:rPr lang="en-US" err="1"/>
              <a:t>Conocimiento</a:t>
            </a:r>
            <a:r>
              <a:rPr lang="en-US"/>
              <a:t> (</a:t>
            </a:r>
            <a:r>
              <a:rPr lang="en-US" i="1"/>
              <a:t>Knowledge-Centered Service</a:t>
            </a:r>
            <a:r>
              <a:rPr lang="en-US"/>
              <a:t>).</a:t>
            </a:r>
          </a:p>
          <a:p>
            <a:pPr marL="171450" indent="-171450"/>
            <a:r>
              <a:rPr lang="en-US" b="1"/>
              <a:t>CSAT:</a:t>
            </a:r>
            <a:r>
              <a:rPr lang="en-US"/>
              <a:t> </a:t>
            </a:r>
            <a:r>
              <a:rPr lang="en-US" err="1"/>
              <a:t>Satisfacción</a:t>
            </a:r>
            <a:r>
              <a:rPr lang="en-US"/>
              <a:t> del </a:t>
            </a:r>
            <a:r>
              <a:rPr lang="en-US" err="1"/>
              <a:t>Cliente</a:t>
            </a:r>
            <a:r>
              <a:rPr lang="en-US"/>
              <a:t> (</a:t>
            </a:r>
            <a:r>
              <a:rPr lang="en-US" i="1"/>
              <a:t>Customer Satisfaction Score</a:t>
            </a:r>
            <a:r>
              <a:rPr lang="en-US"/>
              <a:t>).</a:t>
            </a:r>
          </a:p>
          <a:p>
            <a:pPr marL="171450" indent="-171450"/>
            <a:r>
              <a:rPr lang="en-US" b="1"/>
              <a:t>IA:</a:t>
            </a:r>
            <a:r>
              <a:rPr lang="en-US"/>
              <a:t> </a:t>
            </a:r>
            <a:r>
              <a:rPr lang="en-US" err="1"/>
              <a:t>Inteligencia</a:t>
            </a:r>
            <a:r>
              <a:rPr lang="en-US"/>
              <a:t> Artificial.</a:t>
            </a:r>
          </a:p>
          <a:p>
            <a:pPr marL="171450" indent="-171450"/>
            <a:r>
              <a:rPr lang="en-US" b="1"/>
              <a:t>AIOps:</a:t>
            </a:r>
            <a:r>
              <a:rPr lang="en-US"/>
              <a:t> </a:t>
            </a:r>
            <a:r>
              <a:rPr lang="en-US" err="1"/>
              <a:t>Inteligencia</a:t>
            </a:r>
            <a:r>
              <a:rPr lang="en-US"/>
              <a:t> Artificial para </a:t>
            </a:r>
            <a:r>
              <a:rPr lang="en-US" err="1"/>
              <a:t>Operaciones</a:t>
            </a:r>
            <a:r>
              <a:rPr lang="en-US"/>
              <a:t> de TI.</a:t>
            </a:r>
          </a:p>
          <a:p>
            <a:pPr marL="171450" indent="-171450"/>
            <a:r>
              <a:rPr lang="en-US" b="1"/>
              <a:t>XLA:</a:t>
            </a:r>
            <a:r>
              <a:rPr lang="en-US"/>
              <a:t> </a:t>
            </a:r>
            <a:r>
              <a:rPr lang="en-US" err="1"/>
              <a:t>Acuerdo</a:t>
            </a:r>
            <a:r>
              <a:rPr lang="en-US"/>
              <a:t> de Nivel de </a:t>
            </a:r>
            <a:r>
              <a:rPr lang="en-US" err="1"/>
              <a:t>Experiencia</a:t>
            </a:r>
            <a:r>
              <a:rPr lang="en-US"/>
              <a:t> (</a:t>
            </a:r>
            <a:r>
              <a:rPr lang="en-US" i="1"/>
              <a:t>Experience Level Agreement</a:t>
            </a:r>
            <a:r>
              <a:rPr lang="en-US"/>
              <a:t>).</a:t>
            </a:r>
          </a:p>
          <a:p>
            <a:pPr marL="171450" indent="-171450"/>
            <a:r>
              <a:rPr lang="en-US" b="1"/>
              <a:t>DEX:</a:t>
            </a:r>
            <a:r>
              <a:rPr lang="en-US"/>
              <a:t> </a:t>
            </a:r>
            <a:r>
              <a:rPr lang="en-US" err="1"/>
              <a:t>Experiencia</a:t>
            </a:r>
            <a:r>
              <a:rPr lang="en-US"/>
              <a:t> Digital del </a:t>
            </a:r>
            <a:r>
              <a:rPr lang="en-US" err="1"/>
              <a:t>Empleado</a:t>
            </a:r>
            <a:r>
              <a:rPr lang="en-US"/>
              <a:t> (</a:t>
            </a:r>
            <a:r>
              <a:rPr lang="en-US" i="1"/>
              <a:t>Digital Employee Experience</a:t>
            </a:r>
            <a:r>
              <a:rPr lang="en-US"/>
              <a:t>).</a:t>
            </a:r>
          </a:p>
          <a:p>
            <a:pPr marL="171450" indent="-171450"/>
            <a:r>
              <a:rPr lang="en-US" b="1"/>
              <a:t>N0:</a:t>
            </a:r>
            <a:r>
              <a:rPr lang="en-US"/>
              <a:t> Nivel de </a:t>
            </a:r>
            <a:r>
              <a:rPr lang="en-US" err="1"/>
              <a:t>autoservicio</a:t>
            </a:r>
            <a:r>
              <a:rPr lang="en-US"/>
              <a:t> </a:t>
            </a:r>
            <a:r>
              <a:rPr lang="en-US" err="1"/>
              <a:t>mediante</a:t>
            </a:r>
            <a:r>
              <a:rPr lang="en-US"/>
              <a:t> portal, chatbot o base de </a:t>
            </a:r>
            <a:r>
              <a:rPr lang="en-US" err="1"/>
              <a:t>conocimiento</a:t>
            </a:r>
            <a:r>
              <a:rPr lang="en-US"/>
              <a:t>.</a:t>
            </a:r>
          </a:p>
          <a:p>
            <a:pPr marL="171450" indent="-171450"/>
            <a:r>
              <a:rPr lang="en-US" b="1"/>
              <a:t>Deflection:</a:t>
            </a:r>
            <a:r>
              <a:rPr lang="en-US"/>
              <a:t> Casos </a:t>
            </a:r>
            <a:r>
              <a:rPr lang="en-US" err="1"/>
              <a:t>resueltos</a:t>
            </a:r>
            <a:r>
              <a:rPr lang="en-US"/>
              <a:t> sin </a:t>
            </a:r>
            <a:r>
              <a:rPr lang="en-US" err="1"/>
              <a:t>generar</a:t>
            </a:r>
            <a:r>
              <a:rPr lang="en-US"/>
              <a:t> ticket o sin </a:t>
            </a:r>
            <a:r>
              <a:rPr lang="en-US" err="1"/>
              <a:t>intervención</a:t>
            </a:r>
            <a:r>
              <a:rPr lang="en-US"/>
              <a:t> humana.</a:t>
            </a:r>
          </a:p>
          <a:p>
            <a:pPr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50045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b="1">
                <a:solidFill>
                  <a:srgbClr val="0C2362"/>
                </a:solidFill>
                <a:highlight>
                  <a:srgbClr val="FFFF00"/>
                </a:highlight>
              </a:rPr>
              <a:t>(NUEVAS OFERTAS: cuales servicios volver obsoletos, servicios </a:t>
            </a:r>
            <a:r>
              <a:rPr lang="es-ES" b="1" err="1">
                <a:solidFill>
                  <a:srgbClr val="0C2362"/>
                </a:solidFill>
                <a:highlight>
                  <a:srgbClr val="FFFF00"/>
                </a:highlight>
              </a:rPr>
              <a:t>lights</a:t>
            </a:r>
            <a:r>
              <a:rPr lang="es-ES" b="1">
                <a:solidFill>
                  <a:srgbClr val="0C2362"/>
                </a:solidFill>
                <a:highlight>
                  <a:srgbClr val="FFFF00"/>
                </a:highlight>
              </a:rPr>
              <a:t>, servicios de operación)</a:t>
            </a:r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77B03-7371-113E-F84B-CED144DC9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9478E7-BBDD-BAD6-01EC-B8DD5F9F21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98F94D-6F89-91E2-0200-117641DB8D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387C25-3735-284B-0AF7-1EC6D5218AEE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2341759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en-US" b="1" err="1">
                <a:solidFill>
                  <a:srgbClr val="0C2362"/>
                </a:solidFill>
              </a:rPr>
              <a:t>Siguiente</a:t>
            </a:r>
            <a:r>
              <a:rPr lang="en-US" b="1">
                <a:solidFill>
                  <a:srgbClr val="0C2362"/>
                </a:solidFill>
              </a:rPr>
              <a:t> paso </a:t>
            </a:r>
            <a:r>
              <a:rPr lang="en-US" b="1" err="1">
                <a:solidFill>
                  <a:srgbClr val="0C2362"/>
                </a:solidFill>
              </a:rPr>
              <a:t>recomendado</a:t>
            </a:r>
            <a:r>
              <a:rPr lang="en-US" b="1">
                <a:solidFill>
                  <a:srgbClr val="0C2362"/>
                </a:solidFill>
              </a:rPr>
              <a:t>: </a:t>
            </a:r>
            <a:r>
              <a:rPr lang="en-US" b="1" err="1">
                <a:solidFill>
                  <a:srgbClr val="0C2362"/>
                </a:solidFill>
              </a:rPr>
              <a:t>desglosar</a:t>
            </a:r>
            <a:r>
              <a:rPr lang="en-US" b="1">
                <a:solidFill>
                  <a:srgbClr val="0C2362"/>
                </a:solidFill>
              </a:rPr>
              <a:t> </a:t>
            </a:r>
            <a:r>
              <a:rPr lang="en-US" b="1" err="1">
                <a:solidFill>
                  <a:srgbClr val="0C2362"/>
                </a:solidFill>
              </a:rPr>
              <a:t>cada</a:t>
            </a:r>
            <a:r>
              <a:rPr lang="en-US" b="1">
                <a:solidFill>
                  <a:srgbClr val="0C2362"/>
                </a:solidFill>
              </a:rPr>
              <a:t> </a:t>
            </a:r>
            <a:r>
              <a:rPr lang="en-US" b="1" err="1">
                <a:solidFill>
                  <a:srgbClr val="0C2362"/>
                </a:solidFill>
              </a:rPr>
              <a:t>módulo</a:t>
            </a:r>
            <a:r>
              <a:rPr lang="en-US" b="1">
                <a:solidFill>
                  <a:srgbClr val="0C2362"/>
                </a:solidFill>
              </a:rPr>
              <a:t> </a:t>
            </a:r>
            <a:r>
              <a:rPr lang="en-US" b="1" err="1">
                <a:solidFill>
                  <a:srgbClr val="0C2362"/>
                </a:solidFill>
              </a:rPr>
              <a:t>en</a:t>
            </a:r>
            <a:r>
              <a:rPr lang="en-US" b="1">
                <a:solidFill>
                  <a:srgbClr val="0C2362"/>
                </a:solidFill>
              </a:rPr>
              <a:t> </a:t>
            </a:r>
            <a:r>
              <a:rPr lang="en-US" b="1" err="1">
                <a:solidFill>
                  <a:srgbClr val="0C2362"/>
                </a:solidFill>
              </a:rPr>
              <a:t>alcance</a:t>
            </a:r>
            <a:r>
              <a:rPr lang="en-US" b="1">
                <a:solidFill>
                  <a:srgbClr val="0C2362"/>
                </a:solidFill>
              </a:rPr>
              <a:t>, roles, </a:t>
            </a:r>
            <a:r>
              <a:rPr lang="en-US" b="1" err="1">
                <a:solidFill>
                  <a:srgbClr val="0C2362"/>
                </a:solidFill>
              </a:rPr>
              <a:t>entregables,herramientas</a:t>
            </a:r>
            <a:r>
              <a:rPr lang="en-US" b="1">
                <a:solidFill>
                  <a:srgbClr val="0C2362"/>
                </a:solidFill>
              </a:rPr>
              <a:t> y pricing.</a:t>
            </a:r>
            <a:endParaRPr lang="en-US"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CE505433-2ACA-69A8-B0C3-A79DA987B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57f5ba65c_1_28:notes">
            <a:extLst>
              <a:ext uri="{FF2B5EF4-FFF2-40B4-BE49-F238E27FC236}">
                <a16:creationId xmlns:a16="http://schemas.microsoft.com/office/drawing/2014/main" id="{603A7570-A496-3D05-6901-598F97D07A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57f5ba65c_1_28:notes">
            <a:extLst>
              <a:ext uri="{FF2B5EF4-FFF2-40B4-BE49-F238E27FC236}">
                <a16:creationId xmlns:a16="http://schemas.microsoft.com/office/drawing/2014/main" id="{71F902F3-8C74-1208-3B51-B4F19066F0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660744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7e80574407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g37e80574407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6" name="Google Shape;18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stático">
  <p:cSld name="TITLE_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g37e80574407_0_7" title="textura.jpg"/>
          <p:cNvPicPr preferRelativeResize="0"/>
          <p:nvPr/>
        </p:nvPicPr>
        <p:blipFill rotWithShape="1">
          <a:blip r:embed="rId2">
            <a:alphaModFix/>
          </a:blip>
          <a:srcRect t="219" b="209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g37e80574407_0_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19" name="Google Shape;19;g37e80574407_0_7"/>
          <p:cNvSpPr txBox="1"/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Reddit Sans SemiBold"/>
              <a:ea typeface="Reddit Sans SemiBold"/>
              <a:cs typeface="Reddit Sans SemiBold"/>
              <a:sym typeface="Reddit Sans SemiBold"/>
            </a:endParaRPr>
          </a:p>
        </p:txBody>
      </p:sp>
      <p:pic>
        <p:nvPicPr>
          <p:cNvPr id="20" name="Google Shape;20;g37e80574407_0_7" title="logo_ne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g37e80574407_0_7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22" name="Google Shape;22;g37e80574407_0_7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+ Contenido Clásico">
  <p:cSld name="TITLE_1_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7e80574407_0_4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43" name="Google Shape;43;g37e80574407_0_46"/>
          <p:cNvSpPr txBox="1"/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Reddit Sans SemiBold"/>
              <a:ea typeface="Reddit Sans SemiBold"/>
              <a:cs typeface="Reddit Sans SemiBold"/>
              <a:sym typeface="Reddit Sans SemiBold"/>
            </a:endParaRPr>
          </a:p>
        </p:txBody>
      </p:sp>
      <p:pic>
        <p:nvPicPr>
          <p:cNvPr id="44" name="Google Shape;44;g37e80574407_0_46" title="isotipo_pos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g37e80574407_0_46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g37e80574407_0_46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/>
          </p:nvPr>
        </p:nvSpPr>
        <p:spPr>
          <a:xfrm>
            <a:off x="361350" y="494725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4000"/>
              <a:buNone/>
              <a:defRPr sz="40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1"/>
          <p:cNvSpPr txBox="1">
            <a:spLocks noGrp="1"/>
          </p:cNvSpPr>
          <p:nvPr>
            <p:ph type="body" idx="1"/>
          </p:nvPr>
        </p:nvSpPr>
        <p:spPr>
          <a:xfrm>
            <a:off x="311700" y="2815250"/>
            <a:ext cx="56667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rgbClr val="0072BC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>
            <a:spLocks noGrp="1"/>
          </p:cNvSpPr>
          <p:nvPr>
            <p:ph type="title"/>
          </p:nvPr>
        </p:nvSpPr>
        <p:spPr>
          <a:xfrm>
            <a:off x="336750" y="1267200"/>
            <a:ext cx="8135700" cy="26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3" name="Google Shape;5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54" name="Google Shape;54;p12" title="isotipo_neg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4103"/>
            <a:ext cx="540000" cy="27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/>
          <p:nvPr/>
        </p:nvSpPr>
        <p:spPr>
          <a:xfrm>
            <a:off x="21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1"/>
          </p:nvPr>
        </p:nvSpPr>
        <p:spPr>
          <a:xfrm>
            <a:off x="464275" y="3428125"/>
            <a:ext cx="3476700" cy="8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2"/>
          </p:nvPr>
        </p:nvSpPr>
        <p:spPr>
          <a:xfrm>
            <a:off x="4939500" y="1208600"/>
            <a:ext cx="3612000" cy="315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61" name="Google Shape;61;p13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8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/>
          <p:nvPr/>
        </p:nvSpPr>
        <p:spPr>
          <a:xfrm>
            <a:off x="0" y="-5675"/>
            <a:ext cx="4572000" cy="514350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" name="Google Shape;64;p14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368675" y="655450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body" idx="1"/>
          </p:nvPr>
        </p:nvSpPr>
        <p:spPr>
          <a:xfrm>
            <a:off x="4858700" y="1311925"/>
            <a:ext cx="3694800" cy="30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7" name="Google Shape;6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68" name="Google Shape;68;p14"/>
          <p:cNvSpPr txBox="1">
            <a:spLocks noGrp="1"/>
          </p:cNvSpPr>
          <p:nvPr>
            <p:ph type="title" idx="2"/>
          </p:nvPr>
        </p:nvSpPr>
        <p:spPr>
          <a:xfrm>
            <a:off x="412475" y="1495950"/>
            <a:ext cx="3734400" cy="292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04">
          <p15:clr>
            <a:srgbClr val="E46962"/>
          </p15:clr>
        </p15:guide>
        <p15:guide id="2" pos="5387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userDrawn="1">
  <p:cSld name="TITLE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1" name="Google Shape;71;p16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BA34F530-57E1-3ACD-6780-261D7941DA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8">
          <p15:clr>
            <a:srgbClr val="E4696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erre" type="blank">
  <p:cSld name="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5" name="Google Shape;75;p15" title="Recurso 1.png"/>
          <p:cNvPicPr preferRelativeResize="0"/>
          <p:nvPr/>
        </p:nvPicPr>
        <p:blipFill rotWithShape="1">
          <a:blip r:embed="rId2">
            <a:alphaModFix/>
          </a:blip>
          <a:srcRect b="7379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5" title="Recurso 4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70050" y="2265624"/>
            <a:ext cx="4803901" cy="457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radecimiento">
  <p:cSld name="BLANK_1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e80574407_0_1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9" name="Google Shape;79;g37e80574407_0_110" title="Recurso 1.png"/>
          <p:cNvPicPr preferRelativeResize="0"/>
          <p:nvPr/>
        </p:nvPicPr>
        <p:blipFill rotWithShape="1">
          <a:blip r:embed="rId2">
            <a:alphaModFix/>
          </a:blip>
          <a:srcRect b="7381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g37e80574407_0_110" title="logo_ne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g37e80574407_0_110"/>
          <p:cNvSpPr txBox="1"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82" name="Google Shape;82;g37e80574407_0_110"/>
          <p:cNvSpPr txBox="1"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100"/>
              <a:buFont typeface="Reddit Sans Black"/>
              <a:buNone/>
              <a:defRPr sz="6100" b="0">
                <a:solidFill>
                  <a:schemeClr val="lt1"/>
                </a:solidFill>
                <a:latin typeface="Reddit Sans Black"/>
                <a:ea typeface="Reddit Sans Black"/>
                <a:cs typeface="Reddit Sans Black"/>
                <a:sym typeface="Reddit Sans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9pPr>
          </a:lstStyle>
          <a:p>
            <a:endParaRPr/>
          </a:p>
        </p:txBody>
      </p:sp>
      <p:sp>
        <p:nvSpPr>
          <p:cNvPr id="83" name="Google Shape;83;g37e80574407_0_110"/>
          <p:cNvSpPr txBox="1"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dit Sans Light"/>
              <a:buNone/>
              <a:defRPr sz="900" b="0">
                <a:solidFill>
                  <a:schemeClr val="lt1"/>
                </a:solidFill>
                <a:latin typeface="Reddit Sans Light"/>
                <a:ea typeface="Reddit Sans Light"/>
                <a:cs typeface="Reddit Sans Light"/>
                <a:sym typeface="Reddit San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386">
          <p15:clr>
            <a:srgbClr val="E46962"/>
          </p15:clr>
        </p15:guide>
        <p15:guide id="2" orient="horz" pos="2903">
          <p15:clr>
            <a:srgbClr val="E46962"/>
          </p15:clr>
        </p15:guide>
        <p15:guide id="3" pos="283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2BC"/>
              </a:buClr>
              <a:buSzPts val="12000"/>
              <a:buNone/>
              <a:defRPr sz="12000">
                <a:solidFill>
                  <a:srgbClr val="0072BC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6" name="Google Shape;96;p19"/>
          <p:cNvSpPr txBox="1">
            <a:spLocks noGrp="1"/>
          </p:cNvSpPr>
          <p:nvPr>
            <p:ph type="body" idx="1"/>
          </p:nvPr>
        </p:nvSpPr>
        <p:spPr>
          <a:xfrm>
            <a:off x="450000" y="2959950"/>
            <a:ext cx="8101500" cy="13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7" name="Google Shape;97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98" name="Google Shape;98;p19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387">
          <p15:clr>
            <a:srgbClr val="E46962"/>
          </p15:clr>
        </p15:guide>
        <p15:guide id="2" pos="283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307800" y="1827720"/>
            <a:ext cx="8536320" cy="1596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>
              <a:buNone/>
              <a:defRPr/>
            </a:lvl1pPr>
          </a:lstStyle>
          <a:p>
            <a:pPr indent="0"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>
              <a:spcBef>
                <a:spcPts val="1417"/>
              </a:spcBef>
              <a:buNone/>
              <a:defRPr/>
            </a:lvl1pPr>
          </a:lstStyle>
          <a:p>
            <a:pPr indent="0">
              <a:spcBef>
                <a:spcPts val="1063"/>
              </a:spcBef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72251460-32DC-45C6-B957-D4BECA177940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94437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userDrawn="1">
  <p:cSld name="TITLE_AND_TWO_COLUMN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4657177" y="1152475"/>
            <a:ext cx="3896100" cy="3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7" name="Google Shape;87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88" name="Google Shape;88;p17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7"/>
          <p:cNvSpPr txBox="1">
            <a:spLocks noGrp="1"/>
          </p:cNvSpPr>
          <p:nvPr>
            <p:ph type="body" idx="2"/>
          </p:nvPr>
        </p:nvSpPr>
        <p:spPr>
          <a:xfrm>
            <a:off x="450000" y="1152475"/>
            <a:ext cx="3896100" cy="3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54C7C093-64D9-3144-9EE6-858CDE2C30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78716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7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90987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ido con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731" y="459486"/>
            <a:ext cx="5266944" cy="77495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 rtl="0"/>
            <a:r>
              <a:rPr lang="es"/>
              <a:t>Haga clic para modificar el estilo de título del patrón</a:t>
            </a:r>
            <a:endParaRPr lang="en-US"/>
          </a:p>
        </p:txBody>
      </p:sp>
      <p:sp>
        <p:nvSpPr>
          <p:cNvPr id="10" name="Marcador de posición de imagen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3256938" cy="51435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 rtlCol="0"/>
          <a:lstStyle>
            <a:lvl1pPr marL="0" indent="0">
              <a:buNone/>
              <a:defRPr/>
            </a:lvl1pPr>
          </a:lstStyle>
          <a:p>
            <a:pPr rtl="0"/>
            <a:r>
              <a:rPr lang="es"/>
              <a:t> </a:t>
            </a:r>
          </a:p>
        </p:txBody>
      </p:sp>
      <p:sp>
        <p:nvSpPr>
          <p:cNvPr id="9" name="Marcador de pie de página 8">
            <a:extLst>
              <a:ext uri="{FF2B5EF4-FFF2-40B4-BE49-F238E27FC236}">
                <a16:creationId xmlns:a16="http://schemas.microsoft.com/office/drawing/2014/main" id="{CD81791C-036D-058C-0055-96793694D6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562731" y="157734"/>
            <a:ext cx="2648578" cy="310020"/>
          </a:xfrm>
        </p:spPr>
        <p:txBody>
          <a:bodyPr rtlCol="0"/>
          <a:lstStyle/>
          <a:p>
            <a:pPr rtl="0"/>
            <a:r>
              <a:rPr lang="es"/>
              <a:t>Texto de pie de página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2A8DE5B-9C41-DE5B-BF91-98510120DCF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7186724" y="157734"/>
            <a:ext cx="1259732" cy="310020"/>
          </a:xfrm>
        </p:spPr>
        <p:txBody>
          <a:bodyPr rtlCol="0"/>
          <a:lstStyle/>
          <a:p>
            <a:pPr rtl="0"/>
            <a:r>
              <a:rPr lang="en-US"/>
              <a:t>11/7/2025</a:t>
            </a:r>
          </a:p>
        </p:txBody>
      </p:sp>
      <p:sp>
        <p:nvSpPr>
          <p:cNvPr id="11" name="Marcador de número de diapositiva 10">
            <a:extLst>
              <a:ext uri="{FF2B5EF4-FFF2-40B4-BE49-F238E27FC236}">
                <a16:creationId xmlns:a16="http://schemas.microsoft.com/office/drawing/2014/main" id="{0E0FD979-F905-C567-8E21-A3EDCE17980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/>
          <a:p>
            <a:pPr rtl="0"/>
            <a:fld id="{753D0FD4-819D-4187-8797-C35567B41C78}" type="slidenum">
              <a:rPr lang="en-US" smtClean="0"/>
              <a:t>‹Nº›</a:t>
            </a:fld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62730" y="1309878"/>
            <a:ext cx="5266944" cy="3605023"/>
          </a:xfrm>
        </p:spPr>
        <p:txBody>
          <a:bodyPr rtlCol="0"/>
          <a:lstStyle/>
          <a:p>
            <a:pPr lvl="0" rtl="0"/>
            <a:r>
              <a:rPr lang="es"/>
              <a:t>Haga clic para modificar los estilos de texto del patrón</a:t>
            </a:r>
          </a:p>
          <a:p>
            <a:pPr lvl="1" rtl="0"/>
            <a:r>
              <a:rPr lang="es"/>
              <a:t>Segundo nivel</a:t>
            </a:r>
          </a:p>
          <a:p>
            <a:pPr lvl="2" rtl="0"/>
            <a:r>
              <a:rPr lang="es"/>
              <a:t>Tercer nivel</a:t>
            </a:r>
          </a:p>
          <a:p>
            <a:pPr lvl="3" rtl="0"/>
            <a:r>
              <a:rPr lang="es"/>
              <a:t>Cuarto nivel</a:t>
            </a:r>
          </a:p>
          <a:p>
            <a:pPr lvl="4" rtl="0"/>
            <a:r>
              <a:rPr lang="es"/>
              <a:t>Quinto nivel</a:t>
            </a:r>
            <a:endParaRPr lang="en-US"/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3259320" y="0"/>
            <a:ext cx="0" cy="51435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40418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stático">
  <p:cSld name="TITL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7;g37e80574407_0_7"/>
          <p:cNvPicPr>
            <a:picLocks noChangeAspect="1"/>
          </p:cNvPicPr>
          <p:nvPr/>
        </p:nvPicPr>
        <p:blipFill rotWithShape="1">
          <a:blip r:embed="rId2">
            <a:alphaModFix/>
          </a:blip>
          <a:srcRect t="219" b="209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ln>
            <a:noFill/>
          </a:ln>
        </p:spPr>
      </p:pic>
      <p:sp>
        <p:nvSpPr>
          <p:cNvPr id="18" name="Google Shape;18;g37e80574407_0_7">
            <a:extLst>
              <a:ext uri="{FF2B5EF4-FFF2-40B4-BE49-F238E27FC236}">
                <a16:creationId xmlns:a16="http://schemas.microsoft.com/office/drawing/2014/main" id="{B1F1B4D1-E690-4E3D-BC28-F902B81251B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19" name="Google Shape;19;g37e80574407_0_7">
            <a:extLst>
              <a:ext uri="{FF2B5EF4-FFF2-40B4-BE49-F238E27FC236}">
                <a16:creationId xmlns:a16="http://schemas.microsoft.com/office/drawing/2014/main" id="{25844D9E-7907-4F22-A074-7B081F402AEA}"/>
              </a:ext>
            </a:extLst>
          </p:cNvPr>
          <p:cNvSpPr>
            <a:spLocks noGrp="1"/>
          </p:cNvSpPr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" name="Google Shape;20;g37e80574407_0_7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ln>
            <a:noFill/>
          </a:ln>
        </p:spPr>
      </p:pic>
      <p:sp>
        <p:nvSpPr>
          <p:cNvPr id="21" name="Google Shape;21;g37e80574407_0_7">
            <a:extLst>
              <a:ext uri="{FF2B5EF4-FFF2-40B4-BE49-F238E27FC236}">
                <a16:creationId xmlns:a16="http://schemas.microsoft.com/office/drawing/2014/main" id="{2FB57A7C-437F-42BA-B53C-D4338DC2B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chemeClr val="lt1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9pPr>
          </a:lstStyle>
          <a:p>
            <a:endParaRPr/>
          </a:p>
        </p:txBody>
      </p:sp>
      <p:sp>
        <p:nvSpPr>
          <p:cNvPr id="22" name="Google Shape;22;g37e80574407_0_7">
            <a:extLst>
              <a:ext uri="{FF2B5EF4-FFF2-40B4-BE49-F238E27FC236}">
                <a16:creationId xmlns:a16="http://schemas.microsoft.com/office/drawing/2014/main" id="{426D5CFE-345B-4A49-911F-78F4C3A99C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+ Contenido Clásico">
  <p:cSld name="TITLE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7e80574407_0_46">
            <a:extLst>
              <a:ext uri="{FF2B5EF4-FFF2-40B4-BE49-F238E27FC236}">
                <a16:creationId xmlns:a16="http://schemas.microsoft.com/office/drawing/2014/main" id="{AC2B24F9-BF8F-4F47-9728-EE6D5F7DDA3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43" name="Google Shape;43;g37e80574407_0_46">
            <a:extLst>
              <a:ext uri="{FF2B5EF4-FFF2-40B4-BE49-F238E27FC236}">
                <a16:creationId xmlns:a16="http://schemas.microsoft.com/office/drawing/2014/main" id="{FC4BF158-4191-4C42-9860-425EE1BDD06D}"/>
              </a:ext>
            </a:extLst>
          </p:cNvPr>
          <p:cNvSpPr>
            <a:spLocks noGrp="1"/>
          </p:cNvSpPr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4" name="Google Shape;44;g37e80574407_0_46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ln>
            <a:noFill/>
          </a:ln>
        </p:spPr>
      </p:pic>
      <p:sp>
        <p:nvSpPr>
          <p:cNvPr id="45" name="Google Shape;45;g37e80574407_0_46">
            <a:extLst>
              <a:ext uri="{FF2B5EF4-FFF2-40B4-BE49-F238E27FC236}">
                <a16:creationId xmlns:a16="http://schemas.microsoft.com/office/drawing/2014/main" id="{4662A93F-6B5F-4650-99EA-136417DEC4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000">
                <a:solidFill>
                  <a:srgbClr val="0E337C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g37e80574407_0_46">
            <a:extLst>
              <a:ext uri="{FF2B5EF4-FFF2-40B4-BE49-F238E27FC236}">
                <a16:creationId xmlns:a16="http://schemas.microsoft.com/office/drawing/2014/main" id="{270D2604-63C8-451C-BE8A-4A120451F2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>
            <a:extLst>
              <a:ext uri="{FF2B5EF4-FFF2-40B4-BE49-F238E27FC236}">
                <a16:creationId xmlns:a16="http://schemas.microsoft.com/office/drawing/2014/main" id="{7D50AF58-B676-47BE-8C6D-250EC4D3E8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350" y="494725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rgbClr val="0E337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1">
            <a:extLst>
              <a:ext uri="{FF2B5EF4-FFF2-40B4-BE49-F238E27FC236}">
                <a16:creationId xmlns:a16="http://schemas.microsoft.com/office/drawing/2014/main" id="{71F7FED3-EB9E-4E62-85FD-9E94811E3A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2815250"/>
            <a:ext cx="56667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11">
            <a:extLst>
              <a:ext uri="{FF2B5EF4-FFF2-40B4-BE49-F238E27FC236}">
                <a16:creationId xmlns:a16="http://schemas.microsoft.com/office/drawing/2014/main" id="{3A16CCED-69D6-4723-B785-3409A4A7C6C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rgbClr val="0072B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>
            <a:extLst>
              <a:ext uri="{FF2B5EF4-FFF2-40B4-BE49-F238E27FC236}">
                <a16:creationId xmlns:a16="http://schemas.microsoft.com/office/drawing/2014/main" id="{BB6C1E23-7014-4B48-B0EA-54D45F6F7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750" y="1267200"/>
            <a:ext cx="8135700" cy="26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9pPr>
          </a:lstStyle>
          <a:p>
            <a:endParaRPr/>
          </a:p>
        </p:txBody>
      </p:sp>
      <p:sp>
        <p:nvSpPr>
          <p:cNvPr id="53" name="Google Shape;53;p12">
            <a:extLst>
              <a:ext uri="{FF2B5EF4-FFF2-40B4-BE49-F238E27FC236}">
                <a16:creationId xmlns:a16="http://schemas.microsoft.com/office/drawing/2014/main" id="{F6EEF040-AE2F-44DB-9865-075D0CEE9E5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54" name="Google Shape;54;p12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4103"/>
            <a:ext cx="540000" cy="2736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>
            <a:extLst>
              <a:ext uri="{FF2B5EF4-FFF2-40B4-BE49-F238E27FC236}">
                <a16:creationId xmlns:a16="http://schemas.microsoft.com/office/drawing/2014/main" id="{1BAF1A59-2F8B-4BF4-B64A-0DEEE27D9EC7}"/>
              </a:ext>
            </a:extLst>
          </p:cNvPr>
          <p:cNvSpPr>
            <a:spLocks noGrp="1"/>
          </p:cNvSpPr>
          <p:nvPr/>
        </p:nvSpPr>
        <p:spPr>
          <a:xfrm>
            <a:off x="21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13">
            <a:extLst>
              <a:ext uri="{FF2B5EF4-FFF2-40B4-BE49-F238E27FC236}">
                <a16:creationId xmlns:a16="http://schemas.microsoft.com/office/drawing/2014/main" id="{2662C8F9-5006-4CC6-AED6-A2CD441DFF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275" y="3428125"/>
            <a:ext cx="3476700" cy="8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A6655D54-16B1-4D78-A722-D1F26E4A4B7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939500" y="1208600"/>
            <a:ext cx="3612000" cy="315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3">
            <a:extLst>
              <a:ext uri="{FF2B5EF4-FFF2-40B4-BE49-F238E27FC236}">
                <a16:creationId xmlns:a16="http://schemas.microsoft.com/office/drawing/2014/main" id="{4AED8AE0-C1B9-4169-8A53-F4F5AB29A20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60" name="Google Shape;60;p13">
            <a:extLst>
              <a:ext uri="{FF2B5EF4-FFF2-40B4-BE49-F238E27FC236}">
                <a16:creationId xmlns:a16="http://schemas.microsoft.com/office/drawing/2014/main" id="{D0ADD963-6F0B-49A6-9DDA-847662A0B6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E337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61" name="Google Shape;61;p13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>
            <a:extLst>
              <a:ext uri="{FF2B5EF4-FFF2-40B4-BE49-F238E27FC236}">
                <a16:creationId xmlns:a16="http://schemas.microsoft.com/office/drawing/2014/main" id="{7D67C296-E9AD-4915-BA06-B6F6B2EC42B6}"/>
              </a:ext>
            </a:extLst>
          </p:cNvPr>
          <p:cNvSpPr>
            <a:spLocks noGrp="1"/>
          </p:cNvSpPr>
          <p:nvPr/>
        </p:nvSpPr>
        <p:spPr>
          <a:xfrm>
            <a:off x="0" y="-5675"/>
            <a:ext cx="4572000" cy="514350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4" name="Google Shape;64;p14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ln>
            <a:noFill/>
          </a:ln>
        </p:spPr>
      </p:pic>
      <p:sp>
        <p:nvSpPr>
          <p:cNvPr id="65" name="Google Shape;65;p14">
            <a:extLst>
              <a:ext uri="{FF2B5EF4-FFF2-40B4-BE49-F238E27FC236}">
                <a16:creationId xmlns:a16="http://schemas.microsoft.com/office/drawing/2014/main" id="{232FDF76-CBF3-4E5C-8FB1-3030B412B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675" y="655450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4">
            <a:extLst>
              <a:ext uri="{FF2B5EF4-FFF2-40B4-BE49-F238E27FC236}">
                <a16:creationId xmlns:a16="http://schemas.microsoft.com/office/drawing/2014/main" id="{279437C4-6BCF-4B1F-B660-DA9C7842D8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58700" y="1311925"/>
            <a:ext cx="3694800" cy="30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>
            <a:endParaRPr/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8B73836B-BAC0-453C-98C1-65A75236F9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321D8131-11BD-44F4-B952-43C1B7777BCC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412475" y="1495950"/>
            <a:ext cx="3734400" cy="292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>
            <a:extLst>
              <a:ext uri="{FF2B5EF4-FFF2-40B4-BE49-F238E27FC236}">
                <a16:creationId xmlns:a16="http://schemas.microsoft.com/office/drawing/2014/main" id="{99B40456-9C26-4E25-812A-F58F94D5439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71" name="Google Shape;71;p16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ln>
            <a:noFill/>
          </a:ln>
        </p:spPr>
      </p:pic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BA34F530-57E1-3ACD-6780-261D7941D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E337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erre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65463B6A-3B5D-42D5-8C0A-A8D6F3C2D84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75" name="Google Shape;75;p15"/>
          <p:cNvPicPr>
            <a:picLocks noChangeAspect="1"/>
          </p:cNvPicPr>
          <p:nvPr/>
        </p:nvPicPr>
        <p:blipFill rotWithShape="1">
          <a:blip r:embed="rId2">
            <a:alphaModFix/>
          </a:blip>
          <a:srcRect b="7379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ln>
            <a:noFill/>
          </a:ln>
        </p:spPr>
      </p:pic>
      <p:pic>
        <p:nvPicPr>
          <p:cNvPr id="76" name="Google Shape;76;p15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70050" y="2265624"/>
            <a:ext cx="4803901" cy="4574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radecimiento">
  <p:cSld name="BLANK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e80574407_0_110">
            <a:extLst>
              <a:ext uri="{FF2B5EF4-FFF2-40B4-BE49-F238E27FC236}">
                <a16:creationId xmlns:a16="http://schemas.microsoft.com/office/drawing/2014/main" id="{D0542C14-919E-485C-87A7-5251DBE7ECE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79" name="Google Shape;79;g37e80574407_0_110"/>
          <p:cNvPicPr>
            <a:picLocks noChangeAspect="1"/>
          </p:cNvPicPr>
          <p:nvPr/>
        </p:nvPicPr>
        <p:blipFill rotWithShape="1">
          <a:blip r:embed="rId2">
            <a:alphaModFix/>
          </a:blip>
          <a:srcRect b="7381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ln>
            <a:noFill/>
          </a:ln>
        </p:spPr>
      </p:pic>
      <p:pic>
        <p:nvPicPr>
          <p:cNvPr id="80" name="Google Shape;80;g37e80574407_0_110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ln>
            <a:noFill/>
          </a:ln>
        </p:spPr>
      </p:pic>
      <p:sp>
        <p:nvSpPr>
          <p:cNvPr id="81" name="Google Shape;81;g37e80574407_0_110">
            <a:extLst>
              <a:ext uri="{FF2B5EF4-FFF2-40B4-BE49-F238E27FC236}">
                <a16:creationId xmlns:a16="http://schemas.microsoft.com/office/drawing/2014/main" id="{4A0B87D1-0F80-492E-9F0A-334D3E371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lt1"/>
                </a:solidFill>
              </a:defRPr>
            </a:lvl1pPr>
            <a:lvl2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2pPr>
            <a:lvl3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3pPr>
            <a:lvl4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4pPr>
            <a:lvl5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5pPr>
            <a:lvl6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6pPr>
            <a:lvl7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7pPr>
            <a:lvl8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8pPr>
            <a:lvl9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00"/>
            </a:lvl9pPr>
          </a:lstStyle>
          <a:p>
            <a:endParaRPr/>
          </a:p>
        </p:txBody>
      </p:sp>
      <p:sp>
        <p:nvSpPr>
          <p:cNvPr id="82" name="Google Shape;82;g37e80574407_0_110">
            <a:extLst>
              <a:ext uri="{FF2B5EF4-FFF2-40B4-BE49-F238E27FC236}">
                <a16:creationId xmlns:a16="http://schemas.microsoft.com/office/drawing/2014/main" id="{D892436E-C895-4668-B0A0-541237687D75}"/>
              </a:ext>
            </a:extLst>
          </p:cNvPr>
          <p:cNvSpPr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100" b="0">
                <a:solidFill>
                  <a:schemeClr val="lt1"/>
                </a:solidFill>
                <a:latin typeface="Reddit Sans Black"/>
                <a:ea typeface="Reddit Sans Black"/>
                <a:cs typeface="Reddit Sans Black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500">
                <a:latin typeface="Reddit Sans Black"/>
                <a:ea typeface="Reddit Sans Black"/>
                <a:cs typeface="Reddit Sans Black"/>
              </a:defRPr>
            </a:lvl9pPr>
          </a:lstStyle>
          <a:p>
            <a:endParaRPr/>
          </a:p>
        </p:txBody>
      </p:sp>
      <p:sp>
        <p:nvSpPr>
          <p:cNvPr id="83" name="Google Shape;83;g37e80574407_0_110">
            <a:extLst>
              <a:ext uri="{FF2B5EF4-FFF2-40B4-BE49-F238E27FC236}">
                <a16:creationId xmlns:a16="http://schemas.microsoft.com/office/drawing/2014/main" id="{98E67182-6C92-488F-A8B6-56EDE400E980}"/>
              </a:ext>
            </a:extLst>
          </p:cNvPr>
          <p:cNvSpPr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>
                <a:solidFill>
                  <a:schemeClr val="lt1"/>
                </a:solidFill>
                <a:latin typeface="Reddit Sans Light"/>
                <a:ea typeface="Reddit Sans Light"/>
                <a:cs typeface="Reddit Sans Light"/>
              </a:defRPr>
            </a:lvl1pPr>
            <a:lvl2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2pPr>
            <a:lvl3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3pPr>
            <a:lvl4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4pPr>
            <a:lvl5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5pPr>
            <a:lvl6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6pPr>
            <a:lvl7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7pPr>
            <a:lvl8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8pPr>
            <a:lvl9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>
                <a:latin typeface="Reddit Sans Light"/>
                <a:ea typeface="Reddit Sans Light"/>
                <a:cs typeface="Reddit Sans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>
            <a:extLst>
              <a:ext uri="{FF2B5EF4-FFF2-40B4-BE49-F238E27FC236}">
                <a16:creationId xmlns:a16="http://schemas.microsoft.com/office/drawing/2014/main" id="{8E6D5907-34E3-4CE9-983B-4E147D000A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>
                <a:solidFill>
                  <a:srgbClr val="0072BC"/>
                </a:solidFill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6" name="Google Shape;96;p19">
            <a:extLst>
              <a:ext uri="{FF2B5EF4-FFF2-40B4-BE49-F238E27FC236}">
                <a16:creationId xmlns:a16="http://schemas.microsoft.com/office/drawing/2014/main" id="{4F839F2F-0F0D-41B9-B28D-AB64487272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0000" y="2959950"/>
            <a:ext cx="8101500" cy="13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>
            <a:endParaRPr/>
          </a:p>
        </p:txBody>
      </p:sp>
      <p:sp>
        <p:nvSpPr>
          <p:cNvPr id="97" name="Google Shape;97;p19">
            <a:extLst>
              <a:ext uri="{FF2B5EF4-FFF2-40B4-BE49-F238E27FC236}">
                <a16:creationId xmlns:a16="http://schemas.microsoft.com/office/drawing/2014/main" id="{F7CD12D5-85E6-4041-B0D2-EF7D45924AA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  <p:pic>
        <p:nvPicPr>
          <p:cNvPr id="98" name="Google Shape;98;p19"/>
          <p:cNvPicPr>
            <a:picLocks noChangeAspect="1"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>
            <a:extLst>
              <a:ext uri="{FF2B5EF4-FFF2-40B4-BE49-F238E27FC236}">
                <a16:creationId xmlns:a16="http://schemas.microsoft.com/office/drawing/2014/main" id="{EB7B3939-448D-4C7E-BAF2-861F4762F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800" y="1827720"/>
            <a:ext cx="8536320" cy="1596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>
              <a:buNone/>
              <a:defRPr/>
            </a:lvl1pPr>
          </a:lstStyle>
          <a:p>
            <a:pPr indent="0">
              <a:buNone/>
            </a:pPr>
            <a:endParaRPr/>
          </a:p>
        </p:txBody>
      </p:sp>
      <p:sp>
        <p:nvSpPr>
          <p:cNvPr id="76" name="PlaceHolder 2">
            <a:extLst>
              <a:ext uri="{FF2B5EF4-FFF2-40B4-BE49-F238E27FC236}">
                <a16:creationId xmlns:a16="http://schemas.microsoft.com/office/drawing/2014/main" id="{DC2F081B-FF45-4D98-A4F2-8210772AA9F1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>
              <a:spcBef>
                <a:spcPts val="1417"/>
              </a:spcBef>
              <a:buNone/>
              <a:defRPr/>
            </a:lvl1pPr>
          </a:lstStyle>
          <a:p>
            <a:pPr indent="0">
              <a:spcBef>
                <a:spcPts val="1063"/>
              </a:spcBef>
              <a:buNone/>
            </a:pPr>
            <a:endParaRPr/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C4FF6657-BD0F-4337-B334-52ED8F7C802A}"/>
              </a:ext>
            </a:extLst>
          </p:cNvPr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72251460-32DC-45C6-B957-D4BECA177940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2858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dit Sans"/>
              <a:buNone/>
              <a:defRPr sz="2800" b="1" i="0" u="none" strike="noStrike" cap="none">
                <a:solidFill>
                  <a:schemeClr val="dk1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eddit Sans"/>
              <a:buChar char="●"/>
              <a:defRPr sz="18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9pPr>
          </a:lstStyle>
          <a:p>
            <a:endParaRPr/>
          </a:p>
        </p:txBody>
      </p:sp>
      <p:sp>
        <p:nvSpPr>
          <p:cNvPr id="8" name="Google Shape;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61" r:id="rId9"/>
    <p:sldLayoutId id="2147483664" r:id="rId10"/>
    <p:sldLayoutId id="2147483665" r:id="rId11"/>
    <p:sldLayoutId id="2147483675" r:id="rId12"/>
    <p:sldLayoutId id="2147483676" r:id="rId13"/>
    <p:sldLayoutId id="2147483677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>
            <a:extLst>
              <a:ext uri="{FF2B5EF4-FFF2-40B4-BE49-F238E27FC236}">
                <a16:creationId xmlns:a16="http://schemas.microsoft.com/office/drawing/2014/main" id="{D4B7FFF8-9AA4-4E53-9ECB-A10FB484A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chemeClr val="dk1"/>
                </a:solidFill>
                <a:latin typeface="Reddit Sans"/>
                <a:ea typeface="Reddit Sans"/>
                <a:cs typeface="Reddit San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endParaRPr/>
          </a:p>
        </p:txBody>
      </p:sp>
      <p:sp>
        <p:nvSpPr>
          <p:cNvPr id="7" name="Google Shape;7;p9">
            <a:extLst>
              <a:ext uri="{FF2B5EF4-FFF2-40B4-BE49-F238E27FC236}">
                <a16:creationId xmlns:a16="http://schemas.microsoft.com/office/drawing/2014/main" id="{0C1FD014-2FA6-495D-9389-E278A0D2DF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8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400" b="0" i="0" u="none" cap="none">
                <a:solidFill>
                  <a:schemeClr val="dk2"/>
                </a:solidFill>
                <a:latin typeface="Reddit Sans"/>
                <a:ea typeface="Reddit Sans"/>
                <a:cs typeface="Reddit Sans"/>
              </a:defRPr>
            </a:lvl9pPr>
          </a:lstStyle>
          <a:p>
            <a:endParaRPr/>
          </a:p>
        </p:txBody>
      </p:sp>
      <p:sp>
        <p:nvSpPr>
          <p:cNvPr id="8" name="Google Shape;8;p9">
            <a:extLst>
              <a:ext uri="{FF2B5EF4-FFF2-40B4-BE49-F238E27FC236}">
                <a16:creationId xmlns:a16="http://schemas.microsoft.com/office/drawing/2014/main" id="{6B0AA307-4D0A-4E91-8EDE-F652AA60ED2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hyperlink" Target="https://fr.slideshare.net/slideshow/dit-yvol4iss03/29363674" TargetMode="External"/><Relationship Id="rId7" Type="http://schemas.openxmlformats.org/officeDocument/2006/relationships/image" Target="../media/image17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svg"/><Relationship Id="rId5" Type="http://schemas.openxmlformats.org/officeDocument/2006/relationships/hyperlink" Target="https://www.ivanti.com/en-gb/blog/agentic-ai-it-service-autonomy" TargetMode="External"/><Relationship Id="rId4" Type="http://schemas.openxmlformats.org/officeDocument/2006/relationships/hyperlink" Target="https://newsroom.servicenow.com/press-releases/details/2025/ServiceNow-Sets-New-Standard-for-Fully-Autonomous-IT-Envisioning-a-Zero-Downtime-Zero-Outage-Future-With-Agentic-AI/default.aspx" TargetMode="Externa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hyperlink" Target="https://fr.slideshare.net/slideshow/dit-yvol4iss03/29363674" TargetMode="External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svg"/><Relationship Id="rId5" Type="http://schemas.openxmlformats.org/officeDocument/2006/relationships/hyperlink" Target="https://www.ivanti.com/en-gb/blog/agentic-ai-it-service-autonomy" TargetMode="External"/><Relationship Id="rId4" Type="http://schemas.openxmlformats.org/officeDocument/2006/relationships/hyperlink" Target="https://newsroom.servicenow.com/press-releases/details/2025/ServiceNow-Sets-New-Standard-for-Fully-Autonomous-IT-Envisioning-a-Zero-Downtime-Zero-Outage-Future-With-Agentic-AI/default.aspx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freshservice.com/assets/resources/freshservice/freshservice-it-service-management-benchmark-report-2024.pdf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scribd.com/document/809079051/Gartner-Reprint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hyperlink" Target="https://www.scribd.com/document/809079051/Gartner-Reprint" TargetMode="External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hyperlink" Target="https://faddom.com/wp-content/uploads/2026/03/2025-Hype-Cycle-for-ITSM-Gartner-Report.pdf" TargetMode="External"/><Relationship Id="rId10" Type="http://schemas.openxmlformats.org/officeDocument/2006/relationships/image" Target="../media/image24.svg"/><Relationship Id="rId4" Type="http://schemas.openxmlformats.org/officeDocument/2006/relationships/hyperlink" Target="https://blog.invgate.com/itsm-gartner-magic-quadrant" TargetMode="External"/><Relationship Id="rId9" Type="http://schemas.openxmlformats.org/officeDocument/2006/relationships/image" Target="../media/image23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ribd.com/document/809079051/Gartner-Reprint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appsruntheworld.com/top-10-it-service-management-software-vendors-and-market-forecast/" TargetMode="External"/><Relationship Id="rId5" Type="http://schemas.openxmlformats.org/officeDocument/2006/relationships/hyperlink" Target="https://www.einpresswire.com/article/823090394/xla-institute-releases-groundbreaking-state-of-xla-2025-report" TargetMode="External"/><Relationship Id="rId4" Type="http://schemas.openxmlformats.org/officeDocument/2006/relationships/hyperlink" Target="https://www.peoplecert.org/news-and-announcements/itil-version-5-explained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7.png"/><Relationship Id="rId7" Type="http://schemas.openxmlformats.org/officeDocument/2006/relationships/image" Target="../media/image30.png"/><Relationship Id="rId12" Type="http://schemas.openxmlformats.org/officeDocument/2006/relationships/hyperlink" Target="https://www.tcs.com/insights/blogs/generative-ai-outcome-based-pricing-models-service-desk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11" Type="http://schemas.openxmlformats.org/officeDocument/2006/relationships/hyperlink" Target="https://www.peoplecert.org/news-and-announcements/itil-version-5-explained" TargetMode="External"/><Relationship Id="rId5" Type="http://schemas.openxmlformats.org/officeDocument/2006/relationships/image" Target="../media/image29.png"/><Relationship Id="rId10" Type="http://schemas.openxmlformats.org/officeDocument/2006/relationships/hyperlink" Target="https://www.brilo.ai/resources/agentic-ai-statistics" TargetMode="External"/><Relationship Id="rId4" Type="http://schemas.openxmlformats.org/officeDocument/2006/relationships/image" Target="../media/image28.png"/><Relationship Id="rId9" Type="http://schemas.openxmlformats.org/officeDocument/2006/relationships/hyperlink" Target="https://www.dynatrace.com/news/press-release/pulse-of-agentic-ai-2026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rowthmarketreports.com/report/it-service-desk-market" TargetMode="Externa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appsruntheworld.com/top-10-it-service-management-software-vendors-and-market-forecast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superfinanciera.gov.co/publicaciones/10116043/sistema-financiero-acelera-implementacion-de-canales-digitales/" TargetMode="External"/><Relationship Id="rId5" Type="http://schemas.openxmlformats.org/officeDocument/2006/relationships/hyperlink" Target="https://www.grandviewresearch.com/industry-analysis/it-service-management-market" TargetMode="External"/><Relationship Id="rId4" Type="http://schemas.openxmlformats.org/officeDocument/2006/relationships/hyperlink" Target="https://www.mordorintelligence.com/industry-reports/south-america-information-technology-service-management-itsm-market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7" Type="http://schemas.openxmlformats.org/officeDocument/2006/relationships/hyperlink" Target="https://www.appsruntheworld.com/top-10-it-service-management-software-vendors-and-market-forecast/" TargetMode="Externa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einpresswire.com/article/823090394/xla-institute-releases-groundbreaking-state-of-xla-2025-report" TargetMode="External"/><Relationship Id="rId5" Type="http://schemas.openxmlformats.org/officeDocument/2006/relationships/hyperlink" Target="https://www.peoplecert.org/news-and-announcements/itil-version-5-explained" TargetMode="External"/><Relationship Id="rId4" Type="http://schemas.openxmlformats.org/officeDocument/2006/relationships/hyperlink" Target="https://www.scribd.com/document/809079051/Gartner-Reprint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freshservice.com/assets/resources/freshservice/freshservice-it-service-management-benchmark-report-2024.pdf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givainc.com/blog/shift-left-analysis-how-to-guide-maximize-it-service-management-itsm-efficiency/" TargetMode="External"/><Relationship Id="rId4" Type="http://schemas.openxmlformats.org/officeDocument/2006/relationships/hyperlink" Target="https://www.ivanti.com/en-gb/blog/agentic-ai-it-service-autonomy" TargetMode="Externa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thinkhdi.com/library/supportworld/2023/metrics-matter-for-it-support/" TargetMode="External"/><Relationship Id="rId13" Type="http://schemas.openxmlformats.org/officeDocument/2006/relationships/hyperlink" Target="https://www.servicedeskinstitute.com/resources/itsm-statistics-facts-and-trends-for-2024/" TargetMode="External"/><Relationship Id="rId3" Type="http://schemas.openxmlformats.org/officeDocument/2006/relationships/hyperlink" Target="https://www.sqmgroup.com/resources/library/blog/what-good-first-call-resolution-rate" TargetMode="External"/><Relationship Id="rId7" Type="http://schemas.openxmlformats.org/officeDocument/2006/relationships/hyperlink" Target="https://irisagent.com/customer-support-metrics/" TargetMode="External"/><Relationship Id="rId12" Type="http://schemas.openxmlformats.org/officeDocument/2006/relationships/hyperlink" Target="https://freshservice.com/assets/resources/freshservice/freshservice-it-service-management-benchmark-report-2024.pdf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helpdeskfocus.com/help-desk-metrics.html" TargetMode="External"/><Relationship Id="rId11" Type="http://schemas.openxmlformats.org/officeDocument/2006/relationships/hyperlink" Target="https://assets.contentstack.io/v3/assets/blt28ff6c4a2cf43126/blt03f46879a7d17fbc/68e4fbe251ce6710ec093b1a/2509_ITSM_ebook_StateofITSM.pdf" TargetMode="External"/><Relationship Id="rId5" Type="http://schemas.openxmlformats.org/officeDocument/2006/relationships/hyperlink" Target="https://www.thinkhdi.com/~/media/HDICorp/Files/Library-Archive/Insider%20Articles/mean-time-to-resolve.pdf" TargetMode="External"/><Relationship Id="rId10" Type="http://schemas.openxmlformats.org/officeDocument/2006/relationships/hyperlink" Target="https://kwestra.com/insights/itsm-automation-roi/" TargetMode="External"/><Relationship Id="rId4" Type="http://schemas.openxmlformats.org/officeDocument/2006/relationships/hyperlink" Target="https://www.thinkhdi.com/~/media/HDICorp/Files/Library-Archive/Insider%20Articles/First%20Contact%20Resolution.pdf" TargetMode="External"/><Relationship Id="rId9" Type="http://schemas.openxmlformats.org/officeDocument/2006/relationships/hyperlink" Target="https://www.givainc.com/blog/shift-left-analysis-how-to-guide-maximize-it-service-management-itsm-efficiency/" TargetMode="External"/><Relationship Id="rId14" Type="http://schemas.openxmlformats.org/officeDocument/2006/relationships/hyperlink" Target="https://stealthagents.com/research/ai-it-helpdesk-automation-statistics-2026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inpresswire.com/article/823090394/xla-institute-releases-groundbreaking-state-of-xla-2025-report?code=9Hv3x5D-vwZo-peK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linkedin.com/posts/alannance_get-your-copy-of-the-state-of-xla-2025-published-activity-7340670233575079936-XZ3Q" TargetMode="External"/><Relationship Id="rId4" Type="http://schemas.openxmlformats.org/officeDocument/2006/relationships/hyperlink" Target="https://www.emerce.nl/wire/xla-institute-publiceert-state-xla-2025-rapport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marketreportsworld.com/" TargetMode="External"/><Relationship Id="rId3" Type="http://schemas.openxmlformats.org/officeDocument/2006/relationships/hyperlink" Target="https://www.brilo.ai/resources/agentic-ai-statistics" TargetMode="External"/><Relationship Id="rId7" Type="http://schemas.openxmlformats.org/officeDocument/2006/relationships/hyperlink" Target="https://www.superfinanciera.gov.co/publicaciones/10116081/finanzas-abiertas-obligatorias-impulsaran-el-desarrollo-del-sistema-y-la-inclusion-financiera-en-el-pais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siit.io/blog/benefits-of-outsourcing-help-desk-services%20%20" TargetMode="External"/><Relationship Id="rId5" Type="http://schemas.openxmlformats.org/officeDocument/2006/relationships/hyperlink" Target="https://www.iso.org/standard/42001" TargetMode="External"/><Relationship Id="rId4" Type="http://schemas.openxmlformats.org/officeDocument/2006/relationships/hyperlink" Target="https://www.dynatrace.com/news/press-release/pulse-of-agentic-ai-2026/" TargetMode="Externa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rilo.ai/resources/agentic-ai-statistics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hyperlink" Target="https://www.dynatrace.com/news/press-release/pulse-of-agentic-ai-2026/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uperfinanciera.gov.co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1.xml"/><Relationship Id="rId5" Type="http://schemas.openxmlformats.org/officeDocument/2006/relationships/hyperlink" Target="https://www.iso.org/standard/42001" TargetMode="External"/><Relationship Id="rId4" Type="http://schemas.openxmlformats.org/officeDocument/2006/relationships/hyperlink" Target="https://www.superfinanciera.gov.co/publicaciones/10116081/finanzas-abiertas-obligatorias-impulsaran-el-desarrollo-del-sistema-y-la-inclusion-financiera-en-el-pais/" TargetMode="Externa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0" Type="http://schemas.openxmlformats.org/officeDocument/2006/relationships/image" Target="../media/image48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0" Type="http://schemas.openxmlformats.org/officeDocument/2006/relationships/image" Target="../media/image48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1.jpeg"/><Relationship Id="rId5" Type="http://schemas.openxmlformats.org/officeDocument/2006/relationships/hyperlink" Target="https://www.manageengine.com/latam/service-desk/que-es-una-mesa-de-ayuda.html" TargetMode="External"/><Relationship Id="rId4" Type="http://schemas.openxmlformats.org/officeDocument/2006/relationships/hyperlink" Target="https://enviaseo.info/peti/755MesadeServicios.html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pulse/mesa-de-servicio-inteligente-c%C3%B3mo-la-inteligencia-artificial-est%C3%A1-sbj7e/" TargetMode="External"/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rixmind.com/itil-5-what-changed-and-why-it-matters/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svg"/><Relationship Id="rId5" Type="http://schemas.openxmlformats.org/officeDocument/2006/relationships/image" Target="../media/image30.png"/><Relationship Id="rId4" Type="http://schemas.openxmlformats.org/officeDocument/2006/relationships/hyperlink" Target="https://www.tidelineinsights.com/blog/itil-5-whats-coming.html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svg"/><Relationship Id="rId4" Type="http://schemas.openxmlformats.org/officeDocument/2006/relationships/image" Target="../media/image60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12" Type="http://schemas.openxmlformats.org/officeDocument/2006/relationships/image" Target="../media/image4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11" Type="http://schemas.openxmlformats.org/officeDocument/2006/relationships/image" Target="../media/image48.png"/><Relationship Id="rId5" Type="http://schemas.openxmlformats.org/officeDocument/2006/relationships/image" Target="../media/image42.png"/><Relationship Id="rId10" Type="http://schemas.openxmlformats.org/officeDocument/2006/relationships/image" Target="../media/image47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1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72.pn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12" Type="http://schemas.openxmlformats.org/officeDocument/2006/relationships/image" Target="../media/image7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6.xml"/><Relationship Id="rId6" Type="http://schemas.openxmlformats.org/officeDocument/2006/relationships/image" Target="../media/image67.png"/><Relationship Id="rId11" Type="http://schemas.openxmlformats.org/officeDocument/2006/relationships/image" Target="../media/image11.png"/><Relationship Id="rId5" Type="http://schemas.openxmlformats.org/officeDocument/2006/relationships/image" Target="../media/image66.png"/><Relationship Id="rId10" Type="http://schemas.openxmlformats.org/officeDocument/2006/relationships/image" Target="../media/image27.png"/><Relationship Id="rId4" Type="http://schemas.openxmlformats.org/officeDocument/2006/relationships/image" Target="../media/image65.png"/><Relationship Id="rId9" Type="http://schemas.openxmlformats.org/officeDocument/2006/relationships/image" Target="../media/image70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1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3" Type="http://schemas.openxmlformats.org/officeDocument/2006/relationships/image" Target="../media/image79.png"/><Relationship Id="rId7" Type="http://schemas.openxmlformats.org/officeDocument/2006/relationships/image" Target="../media/image8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47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1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8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88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5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8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7e80574407_0_130"/>
          <p:cNvSpPr txBox="1">
            <a:spLocks noGrp="1"/>
          </p:cNvSpPr>
          <p:nvPr>
            <p:ph type="ctrTitle"/>
          </p:nvPr>
        </p:nvSpPr>
        <p:spPr>
          <a:xfrm>
            <a:off x="258889" y="1087521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n-US"/>
              <a:t>Mesa de Servicio de Nueva Generación (Next Gen)</a:t>
            </a:r>
            <a:endParaRPr err="1"/>
          </a:p>
        </p:txBody>
      </p:sp>
      <p:sp>
        <p:nvSpPr>
          <p:cNvPr id="110" name="Google Shape;110;g37e80574407_0_130"/>
          <p:cNvSpPr txBox="1">
            <a:spLocks noGrp="1"/>
          </p:cNvSpPr>
          <p:nvPr>
            <p:ph type="subTitle" idx="1"/>
          </p:nvPr>
        </p:nvSpPr>
        <p:spPr>
          <a:xfrm>
            <a:off x="256743" y="2875047"/>
            <a:ext cx="8478900" cy="145118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s-CO">
                <a:solidFill>
                  <a:schemeClr val="bg1"/>
                </a:solidFill>
              </a:rPr>
              <a:t>Estudio de Mercado 2026, </a:t>
            </a:r>
            <a:endParaRPr lang="es-ES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es-ES">
                <a:solidFill>
                  <a:schemeClr val="bg1"/>
                </a:solidFill>
              </a:rPr>
              <a:t>Operación Actual y </a:t>
            </a:r>
          </a:p>
          <a:p>
            <a:pPr>
              <a:lnSpc>
                <a:spcPct val="150000"/>
              </a:lnSpc>
            </a:pPr>
            <a:r>
              <a:rPr lang="es-CO">
                <a:solidFill>
                  <a:schemeClr val="bg1"/>
                </a:solidFill>
              </a:rPr>
              <a:t>Propuesta de Valor del Servicio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"/>
          <p:cNvSpPr txBox="1">
            <a:spLocks noGrp="1"/>
          </p:cNvSpPr>
          <p:nvPr>
            <p:ph type="title"/>
          </p:nvPr>
        </p:nvSpPr>
        <p:spPr>
          <a:xfrm>
            <a:off x="361350" y="324797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s">
                <a:highlight>
                  <a:srgbClr val="FFFFFF"/>
                </a:highlight>
              </a:rPr>
              <a:t>Que busca la Mesa de Servicio de Nueva Generación</a:t>
            </a:r>
            <a:endParaRPr lang="es-ES"/>
          </a:p>
        </p:txBody>
      </p:sp>
      <p:sp>
        <p:nvSpPr>
          <p:cNvPr id="131" name="Google Shape;131;p2"/>
          <p:cNvSpPr txBox="1">
            <a:spLocks noGrp="1"/>
          </p:cNvSpPr>
          <p:nvPr>
            <p:ph type="body" idx="1"/>
          </p:nvPr>
        </p:nvSpPr>
        <p:spPr>
          <a:xfrm>
            <a:off x="361349" y="2820693"/>
            <a:ext cx="5383159" cy="155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r>
              <a:rPr lang="es">
                <a:solidFill>
                  <a:srgbClr val="222222"/>
                </a:solidFill>
                <a:highlight>
                  <a:srgbClr val="FFFFFF"/>
                </a:highlight>
              </a:rPr>
              <a:t>La Mesa de Servicio de Nueva Generación transforma el soporte tecnológico de un costo operativo a una ventaja competitiva sostenible en el tiempo. Estandariza la operación con roles claros, procesos definidos y conocimiento institucionalizado con IA. Convirtiendo la mesa en un servicio predecible, medible y escalable en donde el cliente puede crecer y confiar. </a:t>
            </a:r>
            <a:endParaRPr lang="es-ES"/>
          </a:p>
        </p:txBody>
      </p:sp>
      <p:cxnSp>
        <p:nvCxnSpPr>
          <p:cNvPr id="133" name="Google Shape;133;p2"/>
          <p:cNvCxnSpPr/>
          <p:nvPr/>
        </p:nvCxnSpPr>
        <p:spPr>
          <a:xfrm rot="10800000" flipH="1">
            <a:off x="0" y="2651850"/>
            <a:ext cx="5743800" cy="36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34" name="Google Shape;134;p2" title="isotipo_po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4E772C19-61FD-9E01-8D45-04096758E3D3}"/>
              </a:ext>
            </a:extLst>
          </p:cNvPr>
          <p:cNvSpPr/>
          <p:nvPr/>
        </p:nvSpPr>
        <p:spPr>
          <a:xfrm>
            <a:off x="6206836" y="0"/>
            <a:ext cx="2937164" cy="5143500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pic>
        <p:nvPicPr>
          <p:cNvPr id="132" name="Google Shape;132;p2" title="textura 1.jpg"/>
          <p:cNvPicPr preferRelativeResize="0"/>
          <p:nvPr/>
        </p:nvPicPr>
        <p:blipFill rotWithShape="1">
          <a:blip r:embed="rId4">
            <a:alphaModFix/>
          </a:blip>
          <a:srcRect l="37172" r="5841"/>
          <a:stretch/>
        </p:blipFill>
        <p:spPr>
          <a:xfrm>
            <a:off x="6206836" y="0"/>
            <a:ext cx="293102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A3BCF2-EE01-6D83-5D06-4586A3383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Beneficios eperados de la Mesa de Servicio de Nueva Generación (Servicio Optimo)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5BF19AD-F8F2-0227-5C5D-35F560455039}"/>
              </a:ext>
            </a:extLst>
          </p:cNvPr>
          <p:cNvSpPr/>
          <p:nvPr/>
        </p:nvSpPr>
        <p:spPr>
          <a:xfrm>
            <a:off x="346303" y="2097201"/>
            <a:ext cx="2000250" cy="2003822"/>
          </a:xfrm>
          <a:prstGeom prst="rect">
            <a:avLst/>
          </a:prstGeom>
          <a:solidFill>
            <a:srgbClr val="22AAEE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D3C8E3B2-4CB0-C217-88A2-862FED04A2A7}"/>
              </a:ext>
            </a:extLst>
          </p:cNvPr>
          <p:cNvSpPr/>
          <p:nvPr/>
        </p:nvSpPr>
        <p:spPr>
          <a:xfrm>
            <a:off x="560615" y="2469792"/>
            <a:ext cx="1785938" cy="21386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85"/>
              </a:lnSpc>
            </a:pPr>
            <a:r>
              <a:rPr lang="en-US" sz="1463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Estandarización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CAF53944-A721-5660-BB35-2B3C14C6F607}"/>
              </a:ext>
            </a:extLst>
          </p:cNvPr>
          <p:cNvSpPr/>
          <p:nvPr/>
        </p:nvSpPr>
        <p:spPr>
          <a:xfrm>
            <a:off x="560615" y="2739692"/>
            <a:ext cx="1863291" cy="97724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  <a:spcBef>
                <a:spcPts val="433"/>
              </a:spcBef>
            </a:pP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Implementación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procesos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claros, roles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definidos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y </a:t>
            </a: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gestión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conocimiento</a:t>
            </a:r>
            <a:r>
              <a:rPr lang="en-US" sz="11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.</a:t>
            </a:r>
            <a:endParaRPr lang="en-US" sz="11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0F6CE983-277E-8877-C358-C73FDBF3938C}"/>
              </a:ext>
            </a:extLst>
          </p:cNvPr>
          <p:cNvSpPr/>
          <p:nvPr/>
        </p:nvSpPr>
        <p:spPr>
          <a:xfrm>
            <a:off x="1078538" y="1829311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6C87E7BC-F0F6-71EA-6AC0-03CA0898D287}"/>
              </a:ext>
            </a:extLst>
          </p:cNvPr>
          <p:cNvSpPr/>
          <p:nvPr/>
        </p:nvSpPr>
        <p:spPr>
          <a:xfrm>
            <a:off x="2489428" y="2097201"/>
            <a:ext cx="2000250" cy="2003822"/>
          </a:xfrm>
          <a:prstGeom prst="rect">
            <a:avLst/>
          </a:prstGeom>
          <a:solidFill>
            <a:srgbClr val="1C8EC6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59BF6E43-E894-41CB-6D47-AB7652BB9D97}"/>
              </a:ext>
            </a:extLst>
          </p:cNvPr>
          <p:cNvSpPr/>
          <p:nvPr/>
        </p:nvSpPr>
        <p:spPr>
          <a:xfrm>
            <a:off x="2703740" y="2469792"/>
            <a:ext cx="1785938" cy="4277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85"/>
              </a:lnSpc>
            </a:pP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Beneficios para el</a:t>
            </a:r>
            <a:b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Cliente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BC27C298-2FAF-45D2-D222-D4184FA81DC4}"/>
              </a:ext>
            </a:extLst>
          </p:cNvPr>
          <p:cNvSpPr/>
          <p:nvPr/>
        </p:nvSpPr>
        <p:spPr>
          <a:xfrm>
            <a:off x="2703740" y="2953557"/>
            <a:ext cx="1851125" cy="58634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  <a:spcBef>
                <a:spcPts val="433"/>
              </a:spcBef>
            </a:pP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Cumplimiento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SLAs y </a:t>
            </a: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acceso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a</a:t>
            </a:r>
            <a:br>
              <a:rPr lang="en-US" sz="11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visibilidad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100" kern="0" spc="-23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tiempo</a:t>
            </a:r>
            <a:r>
              <a:rPr lang="en-US" sz="1100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real.</a:t>
            </a:r>
            <a:endParaRPr lang="en-US" sz="1100">
              <a:latin typeface="Reddit Sans"/>
              <a:ea typeface="Reddit Sans"/>
            </a:endParaRPr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D3C69D3B-6A78-0313-1DCF-A7B19A3404C7}"/>
              </a:ext>
            </a:extLst>
          </p:cNvPr>
          <p:cNvSpPr/>
          <p:nvPr/>
        </p:nvSpPr>
        <p:spPr>
          <a:xfrm>
            <a:off x="3221663" y="1829311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66E99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2" name="Image 1" descr="505b5b62.png">
            <a:extLst>
              <a:ext uri="{FF2B5EF4-FFF2-40B4-BE49-F238E27FC236}">
                <a16:creationId xmlns:a16="http://schemas.microsoft.com/office/drawing/2014/main" id="{354B2D46-3F5F-26B4-EEC3-BE4FA53D5F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421" y="2012439"/>
            <a:ext cx="285750" cy="171450"/>
          </a:xfrm>
          <a:prstGeom prst="rect">
            <a:avLst/>
          </a:prstGeom>
        </p:spPr>
      </p:pic>
      <p:sp>
        <p:nvSpPr>
          <p:cNvPr id="24" name="Shape 10">
            <a:extLst>
              <a:ext uri="{FF2B5EF4-FFF2-40B4-BE49-F238E27FC236}">
                <a16:creationId xmlns:a16="http://schemas.microsoft.com/office/drawing/2014/main" id="{0A06C67C-F345-06AF-B4CB-E301A7094EBC}"/>
              </a:ext>
            </a:extLst>
          </p:cNvPr>
          <p:cNvSpPr/>
          <p:nvPr/>
        </p:nvSpPr>
        <p:spPr>
          <a:xfrm>
            <a:off x="4632553" y="2097201"/>
            <a:ext cx="2000250" cy="2003822"/>
          </a:xfrm>
          <a:prstGeom prst="rect">
            <a:avLst/>
          </a:prstGeom>
          <a:solidFill>
            <a:srgbClr val="17719F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4B5A262B-C92D-AC7D-1F5B-10E0529A17AC}"/>
              </a:ext>
            </a:extLst>
          </p:cNvPr>
          <p:cNvSpPr/>
          <p:nvPr/>
        </p:nvSpPr>
        <p:spPr>
          <a:xfrm>
            <a:off x="4846865" y="2469792"/>
            <a:ext cx="1785938" cy="4277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85"/>
              </a:lnSpc>
            </a:pP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Beneficios para</a:t>
            </a:r>
            <a:b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PersonalSoft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1C89C9C3-E661-7BC7-90BC-A4415D498B88}"/>
              </a:ext>
            </a:extLst>
          </p:cNvPr>
          <p:cNvSpPr/>
          <p:nvPr/>
        </p:nvSpPr>
        <p:spPr>
          <a:xfrm>
            <a:off x="4846865" y="2953557"/>
            <a:ext cx="1785938" cy="97724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  <a:spcBef>
                <a:spcPts val="433"/>
              </a:spcBef>
            </a:pP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Optimización de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márgenes operativos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mediante la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automatización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inteligente.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A227AA1F-A86A-1059-3E9E-9D70E5E23345}"/>
              </a:ext>
            </a:extLst>
          </p:cNvPr>
          <p:cNvSpPr/>
          <p:nvPr/>
        </p:nvSpPr>
        <p:spPr>
          <a:xfrm>
            <a:off x="5364788" y="1829311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15172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32" name="Image 2" descr="-327b961e.png">
            <a:extLst>
              <a:ext uri="{FF2B5EF4-FFF2-40B4-BE49-F238E27FC236}">
                <a16:creationId xmlns:a16="http://schemas.microsoft.com/office/drawing/2014/main" id="{E4F0CB68-F772-0EEC-85B3-E8E083F7C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5940" y="2006159"/>
            <a:ext cx="214313" cy="178594"/>
          </a:xfrm>
          <a:prstGeom prst="rect">
            <a:avLst/>
          </a:prstGeom>
        </p:spPr>
      </p:pic>
      <p:sp>
        <p:nvSpPr>
          <p:cNvPr id="34" name="Shape 14">
            <a:extLst>
              <a:ext uri="{FF2B5EF4-FFF2-40B4-BE49-F238E27FC236}">
                <a16:creationId xmlns:a16="http://schemas.microsoft.com/office/drawing/2014/main" id="{A4D8DA01-70F2-AD94-BCB0-0E80F975BA52}"/>
              </a:ext>
            </a:extLst>
          </p:cNvPr>
          <p:cNvSpPr/>
          <p:nvPr/>
        </p:nvSpPr>
        <p:spPr>
          <a:xfrm>
            <a:off x="6775678" y="2097201"/>
            <a:ext cx="2000250" cy="2003822"/>
          </a:xfrm>
          <a:prstGeom prst="rect">
            <a:avLst/>
          </a:prstGeom>
          <a:solidFill>
            <a:srgbClr val="115577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15">
            <a:extLst>
              <a:ext uri="{FF2B5EF4-FFF2-40B4-BE49-F238E27FC236}">
                <a16:creationId xmlns:a16="http://schemas.microsoft.com/office/drawing/2014/main" id="{876DDF71-25E4-1FB7-BAE4-F9D4681992AB}"/>
              </a:ext>
            </a:extLst>
          </p:cNvPr>
          <p:cNvSpPr/>
          <p:nvPr/>
        </p:nvSpPr>
        <p:spPr>
          <a:xfrm>
            <a:off x="6989990" y="2469792"/>
            <a:ext cx="1785938" cy="4277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85"/>
              </a:lnSpc>
            </a:pP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Impacto en el</a:t>
            </a:r>
            <a:b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463" kern="0" spc="-88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Mercado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8" name="Text 16">
            <a:extLst>
              <a:ext uri="{FF2B5EF4-FFF2-40B4-BE49-F238E27FC236}">
                <a16:creationId xmlns:a16="http://schemas.microsoft.com/office/drawing/2014/main" id="{6C13925F-AC98-F240-4399-90C6DBDB9C64}"/>
              </a:ext>
            </a:extLst>
          </p:cNvPr>
          <p:cNvSpPr/>
          <p:nvPr/>
        </p:nvSpPr>
        <p:spPr>
          <a:xfrm>
            <a:off x="6989991" y="2953558"/>
            <a:ext cx="1842083" cy="78179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  <a:spcBef>
                <a:spcPts val="433"/>
              </a:spcBef>
            </a:pP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Posicionamiento como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proveedor estratégico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basado en datos y</a:t>
            </a:r>
            <a:b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herramientas avanzadas.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0" name="Shape 17">
            <a:extLst>
              <a:ext uri="{FF2B5EF4-FFF2-40B4-BE49-F238E27FC236}">
                <a16:creationId xmlns:a16="http://schemas.microsoft.com/office/drawing/2014/main" id="{8127BF9B-08B2-3BA9-575E-545DA3D857F7}"/>
              </a:ext>
            </a:extLst>
          </p:cNvPr>
          <p:cNvSpPr/>
          <p:nvPr/>
        </p:nvSpPr>
        <p:spPr>
          <a:xfrm>
            <a:off x="7507913" y="1829311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B354A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42" name="Image 3" descr="-6dbe241e.png">
            <a:extLst>
              <a:ext uri="{FF2B5EF4-FFF2-40B4-BE49-F238E27FC236}">
                <a16:creationId xmlns:a16="http://schemas.microsoft.com/office/drawing/2014/main" id="{263F34D4-4A07-6E98-B32B-1881409F7A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9063" y="1974765"/>
            <a:ext cx="214313" cy="242888"/>
          </a:xfrm>
          <a:prstGeom prst="rect">
            <a:avLst/>
          </a:prstGeom>
        </p:spPr>
      </p:pic>
      <p:sp>
        <p:nvSpPr>
          <p:cNvPr id="44" name="Text 1">
            <a:extLst>
              <a:ext uri="{FF2B5EF4-FFF2-40B4-BE49-F238E27FC236}">
                <a16:creationId xmlns:a16="http://schemas.microsoft.com/office/drawing/2014/main" id="{2B7F778D-5F66-74AF-32CC-84352651A0C6}"/>
              </a:ext>
            </a:extLst>
          </p:cNvPr>
          <p:cNvSpPr/>
          <p:nvPr/>
        </p:nvSpPr>
        <p:spPr>
          <a:xfrm>
            <a:off x="391545" y="626827"/>
            <a:ext cx="5791881" cy="28573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38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Transformar el soporte de costo operativo a ventaja competitiva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3" name="Gráfico 2" descr="Marcador contorno">
            <a:extLst>
              <a:ext uri="{FF2B5EF4-FFF2-40B4-BE49-F238E27FC236}">
                <a16:creationId xmlns:a16="http://schemas.microsoft.com/office/drawing/2014/main" id="{899E42DB-34A8-3D42-7FA8-C3CDBBC417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81100" y="1929492"/>
            <a:ext cx="332015" cy="326572"/>
          </a:xfrm>
          <a:prstGeom prst="rect">
            <a:avLst/>
          </a:prstGeom>
        </p:spPr>
      </p:pic>
      <p:pic>
        <p:nvPicPr>
          <p:cNvPr id="7" name="Gráfico 6" descr="Diana con relleno sólido">
            <a:extLst>
              <a:ext uri="{FF2B5EF4-FFF2-40B4-BE49-F238E27FC236}">
                <a16:creationId xmlns:a16="http://schemas.microsoft.com/office/drawing/2014/main" id="{30664D31-7980-9DC7-D952-39F7E0D5E0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99265" y="628649"/>
            <a:ext cx="734786" cy="734786"/>
          </a:xfrm>
          <a:prstGeom prst="rect">
            <a:avLst/>
          </a:prstGeom>
        </p:spPr>
      </p:pic>
      <p:sp>
        <p:nvSpPr>
          <p:cNvPr id="11" name="Text 6">
            <a:extLst>
              <a:ext uri="{FF2B5EF4-FFF2-40B4-BE49-F238E27FC236}">
                <a16:creationId xmlns:a16="http://schemas.microsoft.com/office/drawing/2014/main" id="{D73067EA-462D-AC3B-A37F-02C6FD7451E3}"/>
              </a:ext>
            </a:extLst>
          </p:cNvPr>
          <p:cNvSpPr/>
          <p:nvPr/>
        </p:nvSpPr>
        <p:spPr>
          <a:xfrm>
            <a:off x="5680813" y="772610"/>
            <a:ext cx="3159919" cy="20834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s-ES" sz="1400" kern="0" spc="-81">
                <a:solidFill>
                  <a:srgbClr val="00B050"/>
                </a:solidFill>
                <a:latin typeface="Reddit Sans"/>
                <a:ea typeface="Reddit Sans"/>
              </a:rPr>
              <a:t>La promesa comercial: pasar de staff </a:t>
            </a:r>
            <a:r>
              <a:rPr lang="es-ES" sz="1400" kern="0" spc="-81" err="1">
                <a:solidFill>
                  <a:srgbClr val="00B050"/>
                </a:solidFill>
                <a:latin typeface="Reddit Sans"/>
                <a:ea typeface="Reddit Sans"/>
              </a:rPr>
              <a:t>augmentation</a:t>
            </a:r>
            <a:r>
              <a:rPr lang="es-ES" sz="1400" kern="0" spc="-81">
                <a:solidFill>
                  <a:srgbClr val="00B050"/>
                </a:solidFill>
                <a:latin typeface="Reddit Sans"/>
                <a:ea typeface="Reddit Sans"/>
              </a:rPr>
              <a:t> a un servicio gestionado, medible y evolutivo.</a:t>
            </a:r>
            <a:endParaRPr lang="en-US" sz="1400" kern="0" spc="-81">
              <a:solidFill>
                <a:srgbClr val="00B050"/>
              </a:solidFill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28782486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0031" y="283629"/>
            <a:ext cx="8643938" cy="4114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3240"/>
              </a:lnSpc>
            </a:pPr>
            <a:r>
              <a:rPr lang="en-US" sz="1600" b="1" err="1">
                <a:solidFill>
                  <a:srgbClr val="0E337C"/>
                </a:solidFill>
                <a:latin typeface="Reddit Sans"/>
                <a:ea typeface="Reddit Sans"/>
              </a:rPr>
              <a:t>Desafíos</a:t>
            </a:r>
            <a:r>
              <a:rPr lang="en-US" sz="1600" b="1">
                <a:solidFill>
                  <a:srgbClr val="0E337C"/>
                </a:solidFill>
                <a:latin typeface="Reddit Sans"/>
                <a:ea typeface="Reddit Sans"/>
              </a:rPr>
              <a:t> de la </a:t>
            </a:r>
            <a:r>
              <a:rPr lang="en-US" sz="1600" b="1" err="1">
                <a:solidFill>
                  <a:srgbClr val="0E337C"/>
                </a:solidFill>
                <a:latin typeface="Reddit Sans"/>
                <a:ea typeface="Reddit Sans"/>
              </a:rPr>
              <a:t>Operación</a:t>
            </a:r>
            <a:r>
              <a:rPr lang="en-US" sz="1600" b="1">
                <a:solidFill>
                  <a:srgbClr val="0E337C"/>
                </a:solidFill>
                <a:latin typeface="Reddit Sans"/>
                <a:ea typeface="Reddit Sans"/>
              </a:rPr>
              <a:t> Actual</a:t>
            </a:r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250031" y="697584"/>
            <a:ext cx="8643938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Identificación</a:t>
            </a: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 puntos </a:t>
            </a:r>
            <a:r>
              <a:rPr lang="en-US" sz="12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críticos</a:t>
            </a:r>
            <a:endParaRPr lang="en-US" sz="1200" err="1">
              <a:latin typeface="Reddit Sans"/>
              <a:ea typeface="Reddit Sans"/>
            </a:endParaRPr>
          </a:p>
        </p:txBody>
      </p:sp>
      <p:sp>
        <p:nvSpPr>
          <p:cNvPr id="6" name="Text 3"/>
          <p:cNvSpPr/>
          <p:nvPr/>
        </p:nvSpPr>
        <p:spPr>
          <a:xfrm>
            <a:off x="3963080" y="830472"/>
            <a:ext cx="2393156" cy="442203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975" indent="-180975" algn="l" fontAlgn="ctr">
              <a:lnSpc>
                <a:spcPts val="1685"/>
              </a:lnSpc>
              <a:buClr>
                <a:srgbClr val="22AAEE"/>
              </a:buClr>
              <a:buSzPct val="120000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Ausencia de estándares</a:t>
            </a:r>
            <a:endParaRPr lang="es-CO" sz="1200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39"/>
              </a:lnSpc>
              <a:spcBef>
                <a:spcPts val="323"/>
              </a:spcBef>
              <a:buNone/>
            </a:pP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Falta de niveles de servicio</a:t>
            </a:r>
            <a:br>
              <a:rPr lang="es-CO" sz="12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(N1/N2/N3) y roles claramente</a:t>
            </a:r>
            <a:br>
              <a:rPr lang="es-CO" sz="12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definidos.</a:t>
            </a:r>
            <a:endParaRPr lang="es-CO" sz="1200">
              <a:latin typeface="Reddit Sans"/>
              <a:ea typeface="Reddit Sans"/>
            </a:endParaRPr>
          </a:p>
          <a:p>
            <a:pPr marL="180975" indent="-180975" algn="l" fontAlgn="ctr">
              <a:lnSpc>
                <a:spcPts val="1685"/>
              </a:lnSpc>
              <a:spcBef>
                <a:spcPts val="1541"/>
              </a:spcBef>
              <a:buClr>
                <a:srgbClr val="22AAEE"/>
              </a:buClr>
              <a:buSzPct val="120000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Modelo económico</a:t>
            </a:r>
            <a:endParaRPr lang="es-CO" sz="1200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39"/>
              </a:lnSpc>
              <a:spcBef>
                <a:spcPts val="323"/>
              </a:spcBef>
              <a:buNone/>
            </a:pP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Estructura indexada a FTE que</a:t>
            </a:r>
            <a:br>
              <a:rPr lang="es-CO" sz="12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impone barreras críticas para el</a:t>
            </a:r>
            <a:br>
              <a:rPr lang="es-CO" sz="12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escalamiento.</a:t>
            </a:r>
            <a:endParaRPr lang="es-CO" sz="1200">
              <a:latin typeface="Reddit Sans"/>
              <a:ea typeface="Reddit Sans"/>
            </a:endParaRPr>
          </a:p>
          <a:p>
            <a:pPr marL="180975" indent="-180975" fontAlgn="ctr">
              <a:lnSpc>
                <a:spcPts val="1685"/>
              </a:lnSpc>
              <a:spcBef>
                <a:spcPts val="1541"/>
              </a:spcBef>
              <a:buClr>
                <a:srgbClr val="22AAEE"/>
              </a:buClr>
              <a:buSzPct val="120000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Herramientas de gestión de conocimiento</a:t>
            </a:r>
            <a:endParaRPr lang="es-CO" sz="1200" kern="0" spc="-88">
              <a:solidFill>
                <a:srgbClr val="333333"/>
              </a:solidFill>
              <a:latin typeface="Reddit Sans"/>
              <a:ea typeface="Reddit Sans"/>
            </a:endParaRPr>
          </a:p>
          <a:p>
            <a:pPr marL="180975" lvl="1" fontAlgn="ctr">
              <a:lnSpc>
                <a:spcPts val="1539"/>
              </a:lnSpc>
              <a:spcBef>
                <a:spcPts val="323"/>
              </a:spcBef>
            </a:pP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Conocimien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to tácito no</a:t>
            </a:r>
            <a:br>
              <a:rPr lang="es-CO" sz="1200" kern="0" spc="-23">
                <a:latin typeface="Reddit Sans"/>
                <a:ea typeface="Reddit Sans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documentado, g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enerand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 un</a:t>
            </a:r>
            <a:br>
              <a:rPr lang="es-CO" sz="1200" kern="0" spc="-23">
                <a:latin typeface="Reddit Sans"/>
                <a:ea typeface="Reddit Sans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alto riesgo de 'Bus Factor'. Curvas de aprendizaje muy altos. Para que un Softer tenga independencia y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autonomia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en la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operacipon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del cliente puede tomar hasta de 6 mese</a:t>
            </a:r>
            <a:r>
              <a:rPr lang="en-US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s (XM).</a:t>
            </a:r>
          </a:p>
        </p:txBody>
      </p:sp>
      <p:sp>
        <p:nvSpPr>
          <p:cNvPr id="7" name="Text 4"/>
          <p:cNvSpPr/>
          <p:nvPr/>
        </p:nvSpPr>
        <p:spPr>
          <a:xfrm>
            <a:off x="6427674" y="830472"/>
            <a:ext cx="2393156" cy="341750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975" indent="-180975" algn="l" fontAlgn="ctr">
              <a:lnSpc>
                <a:spcPts val="1685"/>
              </a:lnSpc>
              <a:buClr>
                <a:srgbClr val="22AAEE"/>
              </a:buClr>
              <a:buSzPct val="120000"/>
              <a:buChar char="•"/>
            </a:pPr>
            <a:r>
              <a:rPr lang="en-US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Fal</a:t>
            </a:r>
            <a:r>
              <a:rPr lang="es-CO" sz="1200" kern="0" spc="-88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ta</a:t>
            </a: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 de </a:t>
            </a:r>
            <a:r>
              <a:rPr lang="es-CO" sz="1200" kern="0" spc="-88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observabilidad</a:t>
            </a:r>
            <a:endParaRPr lang="es-CO" sz="1200" err="1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39"/>
              </a:lnSpc>
              <a:spcBef>
                <a:spcPts val="323"/>
              </a:spcBef>
              <a:buNone/>
            </a:pP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Dependencia de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KPIs</a:t>
            </a:r>
            <a:br>
              <a:rPr lang="es-CO" sz="12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empíricos, dispersión de</a:t>
            </a:r>
            <a:br>
              <a:rPr lang="es-CO" sz="12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herramientas y procesos de</a:t>
            </a:r>
            <a:br>
              <a:rPr lang="es-CO" sz="12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reporte manuales.</a:t>
            </a:r>
            <a:endParaRPr lang="es-CO" sz="1200">
              <a:latin typeface="Reddit Sans"/>
              <a:ea typeface="Reddit Sans"/>
            </a:endParaRPr>
          </a:p>
          <a:p>
            <a:pPr marL="180975" indent="-180975" algn="l" fontAlgn="ctr">
              <a:lnSpc>
                <a:spcPts val="1685"/>
              </a:lnSpc>
              <a:spcBef>
                <a:spcPts val="1541"/>
              </a:spcBef>
              <a:buClr>
                <a:srgbClr val="22AAEE"/>
              </a:buClr>
              <a:buSzPct val="120000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Brecha </a:t>
            </a:r>
            <a:r>
              <a:rPr lang="es-CO" sz="1200" kern="0" spc="-88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en</a:t>
            </a: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r>
              <a:rPr lang="es-CO" sz="1200" kern="0" spc="-88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Preventa</a:t>
            </a:r>
            <a:endParaRPr lang="es-CO" sz="1200" err="1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39"/>
              </a:lnSpc>
              <a:spcBef>
                <a:spcPts val="323"/>
              </a:spcBef>
              <a:buNone/>
            </a:pP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Desalineación entre la</a:t>
            </a:r>
            <a:br>
              <a:rPr lang="es-CO" sz="12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expectativa comercial y la</a:t>
            </a:r>
            <a:br>
              <a:rPr lang="es-CO" sz="12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realidad operativa, resultando</a:t>
            </a:r>
            <a:br>
              <a:rPr lang="es-CO" sz="12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sub-dimensionamiento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.</a:t>
            </a:r>
          </a:p>
          <a:p>
            <a:pPr marL="180975" indent="-180975" fontAlgn="ctr">
              <a:lnSpc>
                <a:spcPts val="1685"/>
              </a:lnSpc>
              <a:spcBef>
                <a:spcPts val="1541"/>
              </a:spcBef>
              <a:buFont typeface="Arial,Sans-Serif"/>
              <a:buChar char="•"/>
            </a:pPr>
            <a:r>
              <a:rPr lang="es-CO" sz="1200" kern="0" spc="-23">
                <a:solidFill>
                  <a:srgbClr val="333333"/>
                </a:solidFill>
                <a:latin typeface="Reddit Sans"/>
                <a:ea typeface="Reddit Sans"/>
              </a:rPr>
              <a:t>Dimensión de la Capacidad y Roles del equipo</a:t>
            </a:r>
          </a:p>
          <a:p>
            <a:pPr marL="180975" lvl="1">
              <a:lnSpc>
                <a:spcPts val="1539"/>
              </a:lnSpc>
              <a:spcBef>
                <a:spcPts val="323"/>
              </a:spcBef>
            </a:pP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No hay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claridad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en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los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 roles y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perfiles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 para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dimensionar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 las mesas de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servicio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por</a:t>
            </a: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 </a:t>
            </a:r>
            <a:r>
              <a:rPr lang="es-CO" sz="12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niveles</a:t>
            </a:r>
            <a:r>
              <a:rPr lang="en-US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.</a:t>
            </a:r>
            <a:endParaRPr lang="en-US" spc="-23">
              <a:solidFill>
                <a:srgbClr val="000000">
                  <a:alpha val="55000"/>
                </a:srgbClr>
              </a:solidFill>
              <a:latin typeface="Arial"/>
              <a:ea typeface="Reddit Sans"/>
              <a:cs typeface="Arial"/>
            </a:endParaRPr>
          </a:p>
        </p:txBody>
      </p:sp>
      <p:pic>
        <p:nvPicPr>
          <p:cNvPr id="20" name="Ilustracion Desafio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359" y="1105185"/>
            <a:ext cx="3200000" cy="2169000"/>
          </a:xfrm>
          <a:prstGeom prst="rect">
            <a:avLst/>
          </a:prstGeom>
        </p:spPr>
      </p:pic>
      <p:sp>
        <p:nvSpPr>
          <p:cNvPr id="5" name="Text 3">
            <a:extLst>
              <a:ext uri="{FF2B5EF4-FFF2-40B4-BE49-F238E27FC236}">
                <a16:creationId xmlns:a16="http://schemas.microsoft.com/office/drawing/2014/main" id="{F123AE74-6D32-0FDF-671E-BDBBD5EA8815}"/>
              </a:ext>
            </a:extLst>
          </p:cNvPr>
          <p:cNvSpPr/>
          <p:nvPr/>
        </p:nvSpPr>
        <p:spPr>
          <a:xfrm>
            <a:off x="240165" y="3421271"/>
            <a:ext cx="3519827" cy="154276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975" indent="-180975" fontAlgn="ctr">
              <a:lnSpc>
                <a:spcPts val="1685"/>
              </a:lnSpc>
              <a:buClr>
                <a:srgbClr val="22AAEE"/>
              </a:buClr>
              <a:buSzPct val="120000"/>
              <a:buChar char="•"/>
            </a:pPr>
            <a:r>
              <a:rPr lang="es-CO" sz="1200" kern="0" spc="-8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Dimensión de la disponibilidad del equipo</a:t>
            </a:r>
            <a:endParaRPr lang="es-CO" sz="1200" kern="0" spc="-88">
              <a:solidFill>
                <a:srgbClr val="333333"/>
              </a:solidFill>
              <a:latin typeface="Reddit Sans"/>
              <a:ea typeface="Reddit Sans"/>
            </a:endParaRPr>
          </a:p>
          <a:p>
            <a:pPr marL="180975" lvl="1" fontAlgn="ctr">
              <a:lnSpc>
                <a:spcPts val="1539"/>
              </a:lnSpc>
              <a:spcBef>
                <a:spcPts val="323"/>
              </a:spcBef>
            </a:pPr>
            <a:r>
              <a:rPr lang="es-CO" sz="12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Disponibilidad 7x24 sin tener en cuenta la tecnología que soporta, y verse reflejado en horas extras que no hace parte de la bolsa de horas que paga el cliente. (XM)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4091" y="205740"/>
            <a:ext cx="6858000" cy="33855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1">
                <a:solidFill>
                  <a:srgbClr val="213F7D"/>
                </a:solidFill>
              </a:defRPr>
            </a:pPr>
            <a:r>
              <a:rPr lang="es-CO" sz="1600" b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¿Por qué evolucionar la Mesa de Servicios?</a:t>
            </a:r>
            <a:endParaRPr lang="es-CO" sz="1600" b="1">
              <a:solidFill>
                <a:srgbClr val="0E337C"/>
              </a:solidFill>
              <a:latin typeface="Reddit Sans"/>
              <a:ea typeface="Reddit Sans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378381" y="994410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Gobierno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Falta de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marcos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de control y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estandarización</a:t>
            </a:r>
            <a:b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</a:b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en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los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procesos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actuales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.</a:t>
            </a:r>
            <a:endParaRPr lang="es-CO" sz="900">
              <a:solidFill>
                <a:srgbClr val="505050"/>
              </a:solidFill>
              <a:latin typeface="Reddit Sans"/>
              <a:ea typeface="Reddit San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504361" y="994410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Escalabilidad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>
                <a:solidFill>
                  <a:srgbClr val="505050"/>
                </a:solidFill>
                <a:latin typeface="Reddit Sans"/>
                <a:ea typeface="Reddit Sans"/>
              </a:rPr>
              <a:t>Crecimiento</a:t>
            </a:r>
            <a:br>
              <a:rPr lang="es-CO" sz="900">
                <a:latin typeface="Reddit Sans"/>
                <a:ea typeface="Reddit Sans"/>
              </a:rPr>
            </a:br>
            <a:r>
              <a:rPr lang="es-CO" sz="900">
                <a:solidFill>
                  <a:srgbClr val="505050"/>
                </a:solidFill>
                <a:latin typeface="Reddit Sans"/>
                <a:ea typeface="Reddit Sans"/>
              </a:rPr>
              <a:t>basado en FTE</a:t>
            </a:r>
            <a:endParaRPr lang="es-CO" sz="900"/>
          </a:p>
        </p:txBody>
      </p:sp>
      <p:sp>
        <p:nvSpPr>
          <p:cNvPr id="5" name="Rounded Rectangle 4"/>
          <p:cNvSpPr/>
          <p:nvPr/>
        </p:nvSpPr>
        <p:spPr>
          <a:xfrm>
            <a:off x="4630341" y="994410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Automatización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>
                <a:latin typeface="Reddit Sans"/>
                <a:ea typeface="Reddit Sans"/>
              </a:rPr>
              <a:t>Alta dependencia</a:t>
            </a:r>
            <a:br>
              <a:rPr lang="es-CO" sz="900">
                <a:latin typeface="Reddit Sans"/>
                <a:ea typeface="Reddit Sans"/>
              </a:rPr>
            </a:br>
            <a:r>
              <a:rPr lang="es-CO" sz="900">
                <a:latin typeface="Reddit Sans"/>
                <a:ea typeface="Reddit Sans"/>
              </a:rPr>
              <a:t>de tareas manuales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56321" y="994410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Conocimiento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>
                <a:latin typeface="Reddit Sans"/>
                <a:ea typeface="Reddit Sans"/>
              </a:rPr>
              <a:t>Conocimiento</a:t>
            </a:r>
            <a:br>
              <a:rPr lang="es-CO" sz="900">
                <a:latin typeface="Reddit Sans"/>
                <a:ea typeface="Reddit Sans"/>
              </a:rPr>
            </a:br>
            <a:r>
              <a:rPr lang="es-CO" sz="900">
                <a:latin typeface="Reddit Sans"/>
                <a:ea typeface="Reddit Sans"/>
              </a:rPr>
              <a:t>concentrado en personas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8381" y="2297429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 err="1">
                <a:latin typeface="Reddit Sans"/>
                <a:ea typeface="Reddit Sans"/>
              </a:rPr>
              <a:t>Observabilidad</a:t>
            </a:r>
            <a:endParaRPr lang="es-CO" sz="1100"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 err="1">
                <a:latin typeface="Reddit Sans"/>
                <a:ea typeface="Reddit Sans"/>
              </a:rPr>
              <a:t>KPIs</a:t>
            </a:r>
            <a:r>
              <a:rPr lang="es-CO" sz="900">
                <a:latin typeface="Reddit Sans"/>
                <a:ea typeface="Reddit Sans"/>
              </a:rPr>
              <a:t> y SLA</a:t>
            </a:r>
            <a:br>
              <a:rPr lang="es-CO" sz="900">
                <a:latin typeface="Reddit Sans"/>
                <a:ea typeface="Reddit Sans"/>
              </a:rPr>
            </a:br>
            <a:r>
              <a:rPr lang="es-CO" sz="900">
                <a:latin typeface="Reddit Sans"/>
                <a:ea typeface="Reddit Sans"/>
              </a:rPr>
              <a:t>sin estandarizar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4361" y="2297429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Transición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 err="1">
                <a:latin typeface="Reddit Sans"/>
                <a:ea typeface="Reddit Sans"/>
              </a:rPr>
              <a:t>Onboarding</a:t>
            </a:r>
            <a:r>
              <a:rPr lang="es-CO" sz="900">
                <a:latin typeface="Reddit Sans"/>
                <a:ea typeface="Reddit Sans"/>
              </a:rPr>
              <a:t> con</a:t>
            </a:r>
            <a:br>
              <a:rPr lang="es-CO" sz="900">
                <a:latin typeface="Reddit Sans"/>
                <a:ea typeface="Reddit Sans"/>
              </a:rPr>
            </a:br>
            <a:r>
              <a:rPr lang="es-CO" sz="900">
                <a:latin typeface="Reddit Sans"/>
                <a:ea typeface="Reddit Sans"/>
              </a:rPr>
              <a:t>alta fricción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30341" y="2297429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Preventa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Debilidad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en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la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alineación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estratégica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entre las</a:t>
            </a:r>
            <a:b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</a:b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necesidades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de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negocio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y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los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 </a:t>
            </a:r>
            <a:r>
              <a:rPr lang="en-US" sz="900" err="1">
                <a:solidFill>
                  <a:srgbClr val="505050"/>
                </a:solidFill>
                <a:latin typeface="Reddit Sans"/>
                <a:ea typeface="Reddit Sans"/>
              </a:rPr>
              <a:t>servicios</a:t>
            </a:r>
            <a:r>
              <a:rPr lang="en-US" sz="900">
                <a:solidFill>
                  <a:srgbClr val="505050"/>
                </a:solidFill>
                <a:latin typeface="Reddit Sans"/>
                <a:ea typeface="Reddit Sans"/>
              </a:rPr>
              <a:t>.</a:t>
            </a:r>
            <a:endParaRPr lang="es-CO" sz="900">
              <a:solidFill>
                <a:srgbClr val="505050"/>
              </a:solidFill>
              <a:latin typeface="Reddit Sans"/>
              <a:ea typeface="Reddit San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756321" y="2297429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Plataforma &amp; Talento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900">
                <a:latin typeface="Reddit Sans"/>
                <a:ea typeface="Reddit Sans"/>
              </a:rPr>
              <a:t>Retención y</a:t>
            </a:r>
            <a:br>
              <a:rPr lang="es-CO" sz="900">
                <a:latin typeface="Reddit Sans"/>
                <a:ea typeface="Reddit Sans"/>
              </a:rPr>
            </a:br>
            <a:r>
              <a:rPr lang="es-CO" sz="900">
                <a:latin typeface="Reddit Sans"/>
                <a:ea typeface="Reddit Sans"/>
              </a:rPr>
              <a:t>especialización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481" y="4053296"/>
            <a:ext cx="8298180" cy="342900"/>
          </a:xfrm>
          <a:prstGeom prst="roundRect">
            <a:avLst/>
          </a:prstGeom>
          <a:solidFill>
            <a:srgbClr val="213F7D"/>
          </a:solidFill>
          <a:ln>
            <a:solidFill>
              <a:srgbClr val="213F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 lang="en-US" sz="1050">
                <a:latin typeface="Reddit Sans"/>
                <a:ea typeface="Reddit Sans"/>
              </a:rPr>
              <a:t> Mesa de Servicio de Nueva Generación</a:t>
            </a:r>
            <a:r>
              <a:rPr sz="1050">
                <a:latin typeface="Reddit Sans"/>
                <a:ea typeface="Reddit Sans"/>
              </a:rPr>
              <a:t>: </a:t>
            </a:r>
            <a:r>
              <a:rPr lang="en-US" sz="1050">
                <a:latin typeface="Reddit Sans"/>
                <a:ea typeface="Reddit Sans"/>
              </a:rPr>
              <a:t>Una</a:t>
            </a:r>
            <a:r>
              <a:rPr sz="1050">
                <a:latin typeface="Reddit Sans"/>
                <a:ea typeface="Reddit Sans"/>
              </a:rPr>
              <a:t> </a:t>
            </a:r>
            <a:r>
              <a:rPr sz="1050" err="1">
                <a:latin typeface="Reddit Sans"/>
                <a:ea typeface="Reddit Sans"/>
              </a:rPr>
              <a:t>operación</a:t>
            </a:r>
            <a:r>
              <a:rPr sz="1050">
                <a:latin typeface="Reddit Sans"/>
                <a:ea typeface="Reddit Sans"/>
              </a:rPr>
              <a:t> </a:t>
            </a:r>
            <a:r>
              <a:rPr sz="1050" err="1">
                <a:latin typeface="Reddit Sans"/>
                <a:ea typeface="Reddit Sans"/>
              </a:rPr>
              <a:t>estandarizada</a:t>
            </a:r>
            <a:r>
              <a:rPr sz="1050">
                <a:latin typeface="Reddit Sans"/>
                <a:ea typeface="Reddit Sans"/>
              </a:rPr>
              <a:t>, </a:t>
            </a:r>
            <a:r>
              <a:rPr sz="1050" err="1">
                <a:latin typeface="Reddit Sans"/>
                <a:ea typeface="Reddit Sans"/>
              </a:rPr>
              <a:t>automatizada</a:t>
            </a:r>
            <a:r>
              <a:rPr sz="1050">
                <a:latin typeface="Reddit Sans"/>
                <a:ea typeface="Reddit Sans"/>
              </a:rPr>
              <a:t>, </a:t>
            </a:r>
            <a:r>
              <a:rPr sz="1050" err="1">
                <a:latin typeface="Reddit Sans"/>
                <a:ea typeface="Reddit Sans"/>
              </a:rPr>
              <a:t>medible</a:t>
            </a:r>
            <a:r>
              <a:rPr sz="1050">
                <a:latin typeface="Reddit Sans"/>
                <a:ea typeface="Reddit Sans"/>
              </a:rPr>
              <a:t> y </a:t>
            </a:r>
            <a:r>
              <a:rPr sz="1050" err="1">
                <a:latin typeface="Reddit Sans"/>
                <a:ea typeface="Reddit Sans"/>
              </a:rPr>
              <a:t>habilitada</a:t>
            </a:r>
            <a:r>
              <a:rPr sz="1050">
                <a:latin typeface="Reddit Sans"/>
                <a:ea typeface="Reddit Sans"/>
              </a:rPr>
              <a:t> </a:t>
            </a:r>
            <a:r>
              <a:rPr sz="1050" err="1">
                <a:latin typeface="Reddit Sans"/>
                <a:ea typeface="Reddit Sans"/>
              </a:rPr>
              <a:t>por</a:t>
            </a:r>
            <a:r>
              <a:rPr sz="1050">
                <a:latin typeface="Reddit Sans"/>
                <a:ea typeface="Reddit Sans"/>
              </a:rPr>
              <a:t> IA.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4A00E2-8AA6-B2EC-C394-830FBBB47CA4}"/>
              </a:ext>
            </a:extLst>
          </p:cNvPr>
          <p:cNvSpPr txBox="1"/>
          <p:nvPr/>
        </p:nvSpPr>
        <p:spPr>
          <a:xfrm>
            <a:off x="419100" y="541564"/>
            <a:ext cx="4572000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CO" sz="1000">
                <a:solidFill>
                  <a:srgbClr val="6E6E6E"/>
                </a:solidFill>
                <a:latin typeface="Reddit Sans"/>
                <a:ea typeface="Reddit Sans"/>
              </a:rPr>
              <a:t>Principales brechas en el modelo operativo </a:t>
            </a:r>
            <a:r>
              <a:rPr lang="es-CO" sz="1000" b="0" i="0" u="none" strike="noStrike" baseline="0">
                <a:solidFill>
                  <a:srgbClr val="6E6E6E"/>
                </a:solidFill>
                <a:latin typeface="Reddit Sans"/>
                <a:ea typeface="Reddit Sans"/>
              </a:rPr>
              <a:t>actual</a:t>
            </a:r>
            <a:endParaRPr lang="es-CO" sz="1000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27596335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>
          <a:extLst>
            <a:ext uri="{FF2B5EF4-FFF2-40B4-BE49-F238E27FC236}">
              <a16:creationId xmlns:a16="http://schemas.microsoft.com/office/drawing/2014/main" id="{4C0431D9-90B7-34B2-1387-277562976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57f5ba65c_1_28">
            <a:extLst>
              <a:ext uri="{FF2B5EF4-FFF2-40B4-BE49-F238E27FC236}">
                <a16:creationId xmlns:a16="http://schemas.microsoft.com/office/drawing/2014/main" id="{635B94C3-2E23-F602-A2C2-943F546B80B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s"/>
              <a:t>Mesas de Servicio de Nueva Generación</a:t>
            </a:r>
          </a:p>
        </p:txBody>
      </p:sp>
      <p:sp>
        <p:nvSpPr>
          <p:cNvPr id="125" name="Google Shape;125;g3657f5ba65c_1_28">
            <a:extLst>
              <a:ext uri="{FF2B5EF4-FFF2-40B4-BE49-F238E27FC236}">
                <a16:creationId xmlns:a16="http://schemas.microsoft.com/office/drawing/2014/main" id="{F48E14B7-D436-CC99-C5A9-E74D13669BE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34971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es-CO" sz="1400"/>
              <a:t>Estudio de Mercado</a:t>
            </a:r>
          </a:p>
        </p:txBody>
      </p:sp>
    </p:spTree>
    <p:extLst>
      <p:ext uri="{BB962C8B-B14F-4D97-AF65-F5344CB8AC3E}">
        <p14:creationId xmlns:p14="http://schemas.microsoft.com/office/powerpoint/2010/main" val="592861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ángulo: esquinas redondeadas 26">
            <a:extLst>
              <a:ext uri="{FF2B5EF4-FFF2-40B4-BE49-F238E27FC236}">
                <a16:creationId xmlns:a16="http://schemas.microsoft.com/office/drawing/2014/main" id="{672115DA-EB8B-4923-5576-39C986010CA4}"/>
              </a:ext>
            </a:extLst>
          </p:cNvPr>
          <p:cNvSpPr/>
          <p:nvPr/>
        </p:nvSpPr>
        <p:spPr>
          <a:xfrm>
            <a:off x="337880" y="4003152"/>
            <a:ext cx="5362019" cy="587618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8F0889C-1292-80AE-52B7-DEF4A0B15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Evolución de las Mesas de Servicio</a:t>
            </a:r>
          </a:p>
        </p:txBody>
      </p:sp>
      <p:sp>
        <p:nvSpPr>
          <p:cNvPr id="10" name="Timeline"/>
          <p:cNvSpPr/>
          <p:nvPr/>
        </p:nvSpPr>
        <p:spPr>
          <a:xfrm>
            <a:off x="520000" y="2688000"/>
            <a:ext cx="8100000" cy="74000"/>
          </a:xfrm>
          <a:prstGeom prst="rightArrow">
            <a:avLst>
              <a:gd name="adj1" fmla="val 100000"/>
              <a:gd name="adj2" fmla="val 60000"/>
            </a:avLst>
          </a:prstGeom>
          <a:solidFill>
            <a:srgbClr val="C9C4BC"/>
          </a:solidFill>
          <a:ln>
            <a:noFill/>
          </a:ln>
        </p:spPr>
        <p:txBody>
          <a:bodyPr/>
          <a:lstStyle/>
          <a:p>
            <a:endParaRPr lang="es-ES" sz="1000">
              <a:latin typeface="Reddit Sans"/>
              <a:ea typeface="Reddit Sans"/>
            </a:endParaRPr>
          </a:p>
        </p:txBody>
      </p:sp>
      <p:sp>
        <p:nvSpPr>
          <p:cNvPr id="11" name="Circle0"/>
          <p:cNvSpPr/>
          <p:nvPr/>
        </p:nvSpPr>
        <p:spPr>
          <a:xfrm>
            <a:off x="392157" y="2302600"/>
            <a:ext cx="784928" cy="784928"/>
          </a:xfrm>
          <a:prstGeom prst="ellipse">
            <a:avLst/>
          </a:prstGeom>
          <a:solidFill>
            <a:srgbClr val="7A756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HD</a:t>
            </a:r>
          </a:p>
        </p:txBody>
      </p:sp>
      <p:sp>
        <p:nvSpPr>
          <p:cNvPr id="12" name="Circle1"/>
          <p:cNvSpPr/>
          <p:nvPr/>
        </p:nvSpPr>
        <p:spPr>
          <a:xfrm>
            <a:off x="1913929" y="2302600"/>
            <a:ext cx="784928" cy="784928"/>
          </a:xfrm>
          <a:prstGeom prst="ellipse">
            <a:avLst/>
          </a:prstGeom>
          <a:solidFill>
            <a:srgbClr val="1E7E8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SD</a:t>
            </a:r>
          </a:p>
        </p:txBody>
      </p:sp>
      <p:sp>
        <p:nvSpPr>
          <p:cNvPr id="13" name="Circle2"/>
          <p:cNvSpPr/>
          <p:nvPr/>
        </p:nvSpPr>
        <p:spPr>
          <a:xfrm>
            <a:off x="3413929" y="2302600"/>
            <a:ext cx="784928" cy="784928"/>
          </a:xfrm>
          <a:prstGeom prst="ellipse">
            <a:avLst/>
          </a:prstGeom>
          <a:solidFill>
            <a:srgbClr val="A44526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ESM</a:t>
            </a:r>
          </a:p>
        </p:txBody>
      </p:sp>
      <p:sp>
        <p:nvSpPr>
          <p:cNvPr id="14" name="Circle3"/>
          <p:cNvSpPr/>
          <p:nvPr/>
        </p:nvSpPr>
        <p:spPr>
          <a:xfrm>
            <a:off x="4913929" y="2302600"/>
            <a:ext cx="784928" cy="784928"/>
          </a:xfrm>
          <a:prstGeom prst="ellipse">
            <a:avLst/>
          </a:prstGeom>
          <a:solidFill>
            <a:srgbClr val="8E3E5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D/W</a:t>
            </a:r>
          </a:p>
        </p:txBody>
      </p:sp>
      <p:sp>
        <p:nvSpPr>
          <p:cNvPr id="15" name="Circle4"/>
          <p:cNvSpPr/>
          <p:nvPr/>
        </p:nvSpPr>
        <p:spPr>
          <a:xfrm>
            <a:off x="6413929" y="2302600"/>
            <a:ext cx="790371" cy="784928"/>
          </a:xfrm>
          <a:prstGeom prst="ellipse">
            <a:avLst/>
          </a:prstGeom>
          <a:solidFill>
            <a:srgbClr val="D692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A+</a:t>
            </a:r>
          </a:p>
        </p:txBody>
      </p:sp>
      <p:sp>
        <p:nvSpPr>
          <p:cNvPr id="16" name="Circle5"/>
          <p:cNvSpPr/>
          <p:nvPr/>
        </p:nvSpPr>
        <p:spPr>
          <a:xfrm>
            <a:off x="7941144" y="2302600"/>
            <a:ext cx="784928" cy="784928"/>
          </a:xfrm>
          <a:prstGeom prst="ellipse">
            <a:avLst/>
          </a:prstGeom>
          <a:solidFill>
            <a:srgbClr val="16233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AUTONOMO</a:t>
            </a:r>
          </a:p>
        </p:txBody>
      </p:sp>
      <p:sp>
        <p:nvSpPr>
          <p:cNvPr id="20" name="Label0"/>
          <p:cNvSpPr txBox="1"/>
          <p:nvPr/>
        </p:nvSpPr>
        <p:spPr>
          <a:xfrm>
            <a:off x="61771" y="3246829"/>
            <a:ext cx="1560000" cy="86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lstStyle/>
          <a:p>
            <a:pPr algn="ctr"/>
            <a:r>
              <a:rPr lang="es-ES" sz="1000" b="1">
                <a:solidFill>
                  <a:srgbClr val="5A564F"/>
                </a:solidFill>
                <a:latin typeface="Reddit Sans"/>
                <a:ea typeface="Reddit Sans"/>
              </a:rPr>
              <a:t>Help Desk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1970s–90s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Teléfono, Tickets</a:t>
            </a:r>
          </a:p>
        </p:txBody>
      </p:sp>
      <p:sp>
        <p:nvSpPr>
          <p:cNvPr id="21" name="Label1"/>
          <p:cNvSpPr txBox="1"/>
          <p:nvPr/>
        </p:nvSpPr>
        <p:spPr>
          <a:xfrm>
            <a:off x="1523671" y="1369500"/>
            <a:ext cx="1560000" cy="82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>
            <a:noAutofit/>
          </a:bodyPr>
          <a:lstStyle/>
          <a:p>
            <a:pPr algn="ctr"/>
            <a:r>
              <a:rPr lang="es-ES" sz="1000" b="1">
                <a:solidFill>
                  <a:srgbClr val="1E7E82"/>
                </a:solidFill>
                <a:latin typeface="Reddit Sans"/>
                <a:ea typeface="Reddit Sans"/>
              </a:rPr>
              <a:t>Service Desk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ITIL v2/v3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2001–2007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SLA, CMDB</a:t>
            </a:r>
          </a:p>
        </p:txBody>
      </p:sp>
      <p:sp>
        <p:nvSpPr>
          <p:cNvPr id="22" name="Label2"/>
          <p:cNvSpPr txBox="1"/>
          <p:nvPr/>
        </p:nvSpPr>
        <p:spPr>
          <a:xfrm>
            <a:off x="3061771" y="3246829"/>
            <a:ext cx="1560000" cy="8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ctr"/>
            <a:r>
              <a:rPr lang="es-ES" sz="1000" b="1">
                <a:solidFill>
                  <a:srgbClr val="A44526"/>
                </a:solidFill>
                <a:latin typeface="Reddit Sans"/>
                <a:ea typeface="Reddit Sans"/>
              </a:rPr>
              <a:t>Enterprise</a:t>
            </a:r>
          </a:p>
          <a:p>
            <a:pPr algn="ctr"/>
            <a:r>
              <a:rPr lang="es-ES" sz="1000" b="1">
                <a:solidFill>
                  <a:srgbClr val="A44526"/>
                </a:solidFill>
                <a:latin typeface="Reddit Sans"/>
                <a:ea typeface="Reddit Sans"/>
              </a:rPr>
              <a:t>Service </a:t>
            </a:r>
            <a:r>
              <a:rPr lang="es-ES" sz="1000" b="1" err="1">
                <a:solidFill>
                  <a:srgbClr val="A44526"/>
                </a:solidFill>
                <a:latin typeface="Reddit Sans"/>
                <a:ea typeface="Reddit Sans"/>
              </a:rPr>
              <a:t>Managem</a:t>
            </a:r>
            <a:r>
              <a:rPr lang="es-ES" sz="1000" b="1">
                <a:solidFill>
                  <a:srgbClr val="A44526"/>
                </a:solidFill>
                <a:latin typeface="Reddit Sans"/>
                <a:ea typeface="Reddit Sans"/>
              </a:rPr>
              <a:t>ent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2010–2016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HR, Finanzas</a:t>
            </a:r>
          </a:p>
        </p:txBody>
      </p:sp>
      <p:sp>
        <p:nvSpPr>
          <p:cNvPr id="23" name="Label3"/>
          <p:cNvSpPr txBox="1"/>
          <p:nvPr/>
        </p:nvSpPr>
        <p:spPr>
          <a:xfrm>
            <a:off x="4523671" y="1369500"/>
            <a:ext cx="1560000" cy="82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b">
            <a:noAutofit/>
          </a:bodyPr>
          <a:lstStyle/>
          <a:p>
            <a:pPr algn="ctr"/>
            <a:r>
              <a:rPr lang="es-ES" sz="1000" b="1">
                <a:solidFill>
                  <a:srgbClr val="8E3E50"/>
                </a:solidFill>
                <a:latin typeface="Reddit Sans"/>
                <a:ea typeface="Reddit Sans"/>
              </a:rPr>
              <a:t>Digital</a:t>
            </a:r>
          </a:p>
          <a:p>
            <a:pPr algn="ctr"/>
            <a:r>
              <a:rPr lang="es-ES" sz="1000" b="1">
                <a:solidFill>
                  <a:srgbClr val="8E3E50"/>
                </a:solidFill>
                <a:latin typeface="Reddit Sans"/>
                <a:ea typeface="Reddit Sans"/>
              </a:rPr>
              <a:t>Workplace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2015–2020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NLP, </a:t>
            </a:r>
            <a:r>
              <a:rPr lang="es-ES" sz="1000" err="1">
                <a:solidFill>
                  <a:srgbClr val="6A655E"/>
                </a:solidFill>
                <a:latin typeface="Reddit Sans"/>
                <a:ea typeface="Reddit Sans"/>
              </a:rPr>
              <a:t>Chatbot</a:t>
            </a:r>
          </a:p>
        </p:txBody>
      </p:sp>
      <p:sp>
        <p:nvSpPr>
          <p:cNvPr id="24" name="Label4"/>
          <p:cNvSpPr txBox="1"/>
          <p:nvPr/>
        </p:nvSpPr>
        <p:spPr>
          <a:xfrm>
            <a:off x="6061771" y="3246829"/>
            <a:ext cx="1560000" cy="8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ctr"/>
            <a:r>
              <a:rPr lang="es-ES" sz="1000" b="1">
                <a:solidFill>
                  <a:srgbClr val="C57A00"/>
                </a:solidFill>
                <a:latin typeface="Reddit Sans"/>
                <a:ea typeface="Reddit Sans"/>
              </a:rPr>
              <a:t>AITSM (Artificial </a:t>
            </a:r>
            <a:r>
              <a:rPr lang="es-ES" sz="1000" b="1" err="1">
                <a:solidFill>
                  <a:srgbClr val="C57A00"/>
                </a:solidFill>
                <a:latin typeface="Reddit Sans"/>
                <a:ea typeface="Reddit Sans"/>
              </a:rPr>
              <a:t>Intelligence</a:t>
            </a:r>
            <a:r>
              <a:rPr lang="es-ES" sz="1000" b="1">
                <a:solidFill>
                  <a:srgbClr val="C57A00"/>
                </a:solidFill>
                <a:latin typeface="Reddit Sans"/>
                <a:ea typeface="Reddit Sans"/>
              </a:rPr>
              <a:t> </a:t>
            </a:r>
            <a:r>
              <a:rPr lang="es-ES" sz="1000" b="1" err="1">
                <a:solidFill>
                  <a:srgbClr val="C57A00"/>
                </a:solidFill>
                <a:latin typeface="Reddit Sans"/>
                <a:ea typeface="Reddit Sans"/>
              </a:rPr>
              <a:t>for</a:t>
            </a:r>
            <a:r>
              <a:rPr lang="es-ES" sz="1000" b="1">
                <a:solidFill>
                  <a:srgbClr val="C57A00"/>
                </a:solidFill>
                <a:latin typeface="Reddit Sans"/>
                <a:ea typeface="Reddit Sans"/>
              </a:rPr>
              <a:t> IT Service Management)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AI-</a:t>
            </a:r>
            <a:r>
              <a:rPr lang="es-ES" sz="1000" err="1">
                <a:solidFill>
                  <a:srgbClr val="6A655E"/>
                </a:solidFill>
                <a:latin typeface="Reddit Sans"/>
                <a:ea typeface="Reddit Sans"/>
              </a:rPr>
              <a:t>Augmented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2020–2023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GenAI · </a:t>
            </a:r>
            <a:r>
              <a:rPr lang="es-ES" sz="1000" err="1">
                <a:solidFill>
                  <a:srgbClr val="6A655E"/>
                </a:solidFill>
                <a:latin typeface="Reddit Sans"/>
                <a:ea typeface="Reddit Sans"/>
              </a:rPr>
              <a:t>AIOps</a:t>
            </a:r>
          </a:p>
        </p:txBody>
      </p:sp>
      <p:sp>
        <p:nvSpPr>
          <p:cNvPr id="25" name="Label5"/>
          <p:cNvSpPr txBox="1"/>
          <p:nvPr/>
        </p:nvSpPr>
        <p:spPr>
          <a:xfrm>
            <a:off x="7616200" y="1483800"/>
            <a:ext cx="1560000" cy="82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b">
            <a:noAutofit/>
          </a:bodyPr>
          <a:lstStyle/>
          <a:p>
            <a:pPr algn="ctr"/>
            <a:r>
              <a:rPr lang="es-ES" sz="1000" b="1" err="1">
                <a:solidFill>
                  <a:srgbClr val="16233F"/>
                </a:solidFill>
                <a:latin typeface="Reddit Sans"/>
                <a:ea typeface="Reddit Sans"/>
              </a:rPr>
              <a:t>Autonomo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Service </a:t>
            </a:r>
            <a:r>
              <a:rPr lang="es-ES" sz="1000" err="1">
                <a:solidFill>
                  <a:srgbClr val="6A655E"/>
                </a:solidFill>
                <a:latin typeface="Reddit Sans"/>
                <a:ea typeface="Reddit Sans"/>
              </a:rPr>
              <a:t>Desk</a:t>
            </a:r>
          </a:p>
          <a:p>
            <a:pPr algn="ctr"/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2023–2026+</a:t>
            </a:r>
          </a:p>
          <a:p>
            <a:pPr algn="ctr"/>
            <a:r>
              <a:rPr lang="es-ES" sz="1000" err="1">
                <a:solidFill>
                  <a:srgbClr val="6A655E"/>
                </a:solidFill>
                <a:latin typeface="Reddit Sans"/>
                <a:ea typeface="Reddit Sans"/>
              </a:rPr>
              <a:t>Agentic</a:t>
            </a:r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, XLA</a:t>
            </a:r>
          </a:p>
        </p:txBody>
      </p:sp>
      <p:sp>
        <p:nvSpPr>
          <p:cNvPr id="30" name="ReactiveTag"/>
          <p:cNvSpPr txBox="1"/>
          <p:nvPr/>
        </p:nvSpPr>
        <p:spPr>
          <a:xfrm>
            <a:off x="220000" y="1900386"/>
            <a:ext cx="12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ctr"/>
            <a:r>
              <a:rPr lang="es-ES" sz="1000">
                <a:solidFill>
                  <a:srgbClr val="9A958D"/>
                </a:solidFill>
                <a:latin typeface="Reddit Sans"/>
                <a:ea typeface="Reddit Sans"/>
              </a:rPr>
              <a:t>Reactivo</a:t>
            </a:r>
          </a:p>
        </p:txBody>
      </p:sp>
      <p:sp>
        <p:nvSpPr>
          <p:cNvPr id="31" name="Caption"/>
          <p:cNvSpPr txBox="1"/>
          <p:nvPr/>
        </p:nvSpPr>
        <p:spPr>
          <a:xfrm>
            <a:off x="341414" y="4660743"/>
            <a:ext cx="3393872" cy="32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r>
              <a:rPr lang="es-ES" sz="900">
                <a:solidFill>
                  <a:schemeClr val="bg2"/>
                </a:solidFill>
                <a:ea typeface="Reddit Sans"/>
              </a:rPr>
              <a:t>Fuentes:</a:t>
            </a:r>
            <a:r>
              <a:rPr lang="es-ES" sz="900">
                <a:solidFill>
                  <a:srgbClr val="E6EDF3"/>
                </a:solidFill>
                <a:ea typeface="Reddit Sans"/>
              </a:rPr>
              <a:t> </a:t>
            </a:r>
            <a:r>
              <a:rPr lang="es-ES" sz="900">
                <a:solidFill>
                  <a:srgbClr val="2F81F7"/>
                </a:solidFill>
                <a:ea typeface="Reddit Sans"/>
                <a:hlinkClick r:id="rId3"/>
              </a:rPr>
              <a:t>DITY/SlideShare</a:t>
            </a:r>
            <a:r>
              <a:rPr lang="es-ES" sz="900">
                <a:solidFill>
                  <a:srgbClr val="E6EDF3"/>
                </a:solidFill>
                <a:ea typeface="Reddit Sans"/>
              </a:rPr>
              <a:t>, </a:t>
            </a:r>
            <a:r>
              <a:rPr lang="es-ES" sz="900">
                <a:solidFill>
                  <a:srgbClr val="2F81F7"/>
                </a:solidFill>
                <a:ea typeface="Reddit Sans"/>
                <a:hlinkClick r:id="rId4"/>
              </a:rPr>
              <a:t>ServiceNow Newsroom</a:t>
            </a:r>
            <a:r>
              <a:rPr lang="es-ES" sz="900">
                <a:solidFill>
                  <a:srgbClr val="E6EDF3"/>
                </a:solidFill>
                <a:ea typeface="Reddit Sans"/>
              </a:rPr>
              <a:t>, </a:t>
            </a:r>
            <a:r>
              <a:rPr lang="es-ES" sz="900">
                <a:solidFill>
                  <a:srgbClr val="2F81F7"/>
                </a:solidFill>
                <a:ea typeface="Reddit Sans"/>
                <a:hlinkClick r:id="rId5"/>
              </a:rPr>
              <a:t>Ivanti</a:t>
            </a:r>
            <a:endParaRPr lang="es-ES" sz="900">
              <a:solidFill>
                <a:srgbClr val="E6EDF3"/>
              </a:solidFill>
              <a:ea typeface="Reddit Sans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99E3BD9-659B-D31F-979D-8390EB7FEC6B}"/>
              </a:ext>
            </a:extLst>
          </p:cNvPr>
          <p:cNvSpPr txBox="1"/>
          <p:nvPr/>
        </p:nvSpPr>
        <p:spPr>
          <a:xfrm>
            <a:off x="7756376" y="3162979"/>
            <a:ext cx="1279070" cy="135421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800" b="1" u="sng">
                <a:solidFill>
                  <a:srgbClr val="1B7B85"/>
                </a:solidFill>
                <a:latin typeface="Reddit Sans"/>
                <a:ea typeface="Reddit Sans"/>
              </a:rPr>
              <a:t>KCS </a:t>
            </a:r>
            <a:r>
              <a:rPr lang="en-US" sz="800" b="1">
                <a:solidFill>
                  <a:srgbClr val="1B7B85"/>
                </a:solidFill>
                <a:latin typeface="Reddit Sans"/>
                <a:ea typeface="Reddit Sans"/>
              </a:rPr>
              <a:t>(Servicio </a:t>
            </a:r>
            <a:r>
              <a:rPr lang="en-US" sz="800" b="1" err="1">
                <a:solidFill>
                  <a:srgbClr val="1B7B85"/>
                </a:solidFill>
                <a:latin typeface="Reddit Sans"/>
                <a:ea typeface="Reddit Sans"/>
              </a:rPr>
              <a:t>Centrado</a:t>
            </a:r>
            <a:r>
              <a:rPr lang="en-US" sz="800" b="1">
                <a:solidFill>
                  <a:srgbClr val="1B7B85"/>
                </a:solidFill>
                <a:latin typeface="Reddit Sans"/>
                <a:ea typeface="Reddit Sans"/>
              </a:rPr>
              <a:t> </a:t>
            </a:r>
            <a:r>
              <a:rPr lang="en-US" sz="800" b="1" err="1">
                <a:solidFill>
                  <a:srgbClr val="1B7B85"/>
                </a:solidFill>
                <a:latin typeface="Reddit Sans"/>
                <a:ea typeface="Reddit Sans"/>
              </a:rPr>
              <a:t>en</a:t>
            </a:r>
            <a:r>
              <a:rPr lang="en-US" sz="800" b="1">
                <a:solidFill>
                  <a:srgbClr val="1B7B85"/>
                </a:solidFill>
                <a:latin typeface="Reddit Sans"/>
                <a:ea typeface="Reddit Sans"/>
              </a:rPr>
              <a:t> el </a:t>
            </a:r>
            <a:r>
              <a:rPr lang="en-US" sz="800" b="1" err="1">
                <a:solidFill>
                  <a:srgbClr val="1B7B85"/>
                </a:solidFill>
                <a:latin typeface="Reddit Sans"/>
                <a:ea typeface="Reddit Sans"/>
              </a:rPr>
              <a:t>conocimiento</a:t>
            </a:r>
            <a:r>
              <a:rPr lang="en-US" sz="800" b="1">
                <a:solidFill>
                  <a:srgbClr val="1B7B85"/>
                </a:solidFill>
                <a:latin typeface="Reddit Sans"/>
                <a:ea typeface="Reddit Sans"/>
              </a:rPr>
              <a:t>)+IA</a:t>
            </a:r>
            <a:endParaRPr lang="es-ES" sz="800"/>
          </a:p>
          <a:p>
            <a:pPr algn="ctr"/>
            <a:endParaRPr lang="en-US" sz="800" b="1">
              <a:solidFill>
                <a:srgbClr val="1B7B85"/>
              </a:solidFill>
              <a:latin typeface="Reddit Sans"/>
              <a:ea typeface="Reddit Sans"/>
            </a:endParaRPr>
          </a:p>
          <a:p>
            <a:pPr algn="ctr"/>
            <a:r>
              <a:rPr lang="es-ES" sz="800">
                <a:solidFill>
                  <a:srgbClr val="6A655E"/>
                </a:solidFill>
                <a:latin typeface="Reddit Sans"/>
                <a:ea typeface="Reddit Sans"/>
              </a:rPr>
              <a:t>Diferencial: Somos más consciente de la operación del negocio. Nos </a:t>
            </a:r>
            <a:r>
              <a:rPr lang="es-ES" sz="800" err="1">
                <a:solidFill>
                  <a:srgbClr val="6A655E"/>
                </a:solidFill>
                <a:latin typeface="Reddit Sans"/>
                <a:ea typeface="Reddit Sans"/>
              </a:rPr>
              <a:t>vuelvemos</a:t>
            </a:r>
            <a:r>
              <a:rPr lang="es-ES" sz="800">
                <a:solidFill>
                  <a:srgbClr val="6A655E"/>
                </a:solidFill>
                <a:latin typeface="Reddit Sans"/>
                <a:ea typeface="Reddit Sans"/>
              </a:rPr>
              <a:t> expertos en los procesos de negocio del cliente</a:t>
            </a:r>
            <a:r>
              <a:rPr lang="es-ES" sz="1000">
                <a:solidFill>
                  <a:srgbClr val="6A655E"/>
                </a:solidFill>
                <a:latin typeface="Reddit Sans"/>
                <a:ea typeface="Reddit Sans"/>
              </a:rPr>
              <a:t>.</a:t>
            </a:r>
          </a:p>
        </p:txBody>
      </p:sp>
      <p:sp>
        <p:nvSpPr>
          <p:cNvPr id="7" name="Chevron 2">
            <a:extLst>
              <a:ext uri="{FF2B5EF4-FFF2-40B4-BE49-F238E27FC236}">
                <a16:creationId xmlns:a16="http://schemas.microsoft.com/office/drawing/2014/main" id="{E4EA5101-5F07-0769-217B-29DC68CC2A2F}"/>
              </a:ext>
            </a:extLst>
          </p:cNvPr>
          <p:cNvSpPr/>
          <p:nvPr/>
        </p:nvSpPr>
        <p:spPr>
          <a:xfrm>
            <a:off x="339634" y="677091"/>
            <a:ext cx="8654142" cy="574765"/>
          </a:xfrm>
          <a:prstGeom prst="chevron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1400" b="1">
                <a:solidFill>
                  <a:schemeClr val="accent5"/>
                </a:solidFill>
                <a:latin typeface="Reddit Sans"/>
                <a:ea typeface="Reddit Sans"/>
              </a:rPr>
              <a:t>ITO  →</a:t>
            </a:r>
            <a:r>
              <a:rPr lang="es-ES" sz="1400" b="1">
                <a:solidFill>
                  <a:schemeClr val="accent5"/>
                </a:solidFill>
                <a:latin typeface="Reddit Sans"/>
                <a:ea typeface="Reddit Sans"/>
              </a:rPr>
              <a:t> </a:t>
            </a:r>
            <a:r>
              <a:rPr sz="1400" b="1">
                <a:solidFill>
                  <a:schemeClr val="accent5"/>
                </a:solidFill>
                <a:latin typeface="Reddit Sans"/>
                <a:ea typeface="Reddit Sans"/>
              </a:rPr>
              <a:t> </a:t>
            </a:r>
            <a:r>
              <a:rPr lang="es-ES" sz="1400" b="1">
                <a:solidFill>
                  <a:schemeClr val="accent5"/>
                </a:solidFill>
                <a:latin typeface="Reddit Sans"/>
                <a:ea typeface="Reddit Sans"/>
              </a:rPr>
              <a:t>    </a:t>
            </a:r>
            <a:r>
              <a:rPr lang="es-ES" sz="1400" b="1">
                <a:latin typeface="Reddit Sans"/>
                <a:ea typeface="Reddit Sans"/>
              </a:rPr>
              <a:t>                                  </a:t>
            </a:r>
            <a:r>
              <a:rPr lang="es-ES" sz="1400" b="1">
                <a:solidFill>
                  <a:schemeClr val="accent1">
                    <a:lumMod val="76000"/>
                  </a:schemeClr>
                </a:solidFill>
                <a:latin typeface="Reddit Sans"/>
                <a:ea typeface="Reddit Sans"/>
              </a:rPr>
              <a:t>              </a:t>
            </a:r>
            <a:r>
              <a:rPr sz="1400" b="1">
                <a:solidFill>
                  <a:schemeClr val="accent1">
                    <a:lumMod val="76000"/>
                  </a:schemeClr>
                </a:solidFill>
                <a:latin typeface="Reddit Sans"/>
                <a:ea typeface="Reddit Sans"/>
              </a:rPr>
              <a:t>BPO  →  </a:t>
            </a:r>
            <a:r>
              <a:rPr lang="es-ES" sz="1400" b="1">
                <a:solidFill>
                  <a:schemeClr val="accent1">
                    <a:lumMod val="76000"/>
                  </a:schemeClr>
                </a:solidFill>
                <a:latin typeface="Reddit Sans"/>
                <a:ea typeface="Reddit Sans"/>
              </a:rPr>
              <a:t>    </a:t>
            </a:r>
            <a:r>
              <a:rPr lang="es-ES" sz="1400" b="1">
                <a:latin typeface="Reddit Sans"/>
                <a:ea typeface="Reddit Sans"/>
              </a:rPr>
              <a:t>                             </a:t>
            </a:r>
            <a:r>
              <a:rPr lang="es-ES" sz="1400" b="1">
                <a:solidFill>
                  <a:srgbClr val="92D050"/>
                </a:solidFill>
                <a:latin typeface="Reddit Sans"/>
                <a:ea typeface="Reddit Sans"/>
              </a:rPr>
              <a:t>                       </a:t>
            </a:r>
            <a:r>
              <a:rPr sz="1400" b="1">
                <a:solidFill>
                  <a:srgbClr val="92D050"/>
                </a:solidFill>
                <a:latin typeface="Reddit Sans"/>
                <a:ea typeface="Reddit Sans"/>
              </a:rPr>
              <a:t>KPO</a:t>
            </a:r>
          </a:p>
          <a:p>
            <a:r>
              <a:rPr lang="es-ES" sz="900">
                <a:solidFill>
                  <a:schemeClr val="accent5"/>
                </a:solidFill>
                <a:latin typeface="Reddit Sans"/>
                <a:ea typeface="Reddit Sans"/>
                <a:cs typeface="Arial"/>
              </a:rPr>
              <a:t>Infraestructura                                                                           </a:t>
            </a:r>
            <a:r>
              <a:rPr lang="es-ES" sz="900">
                <a:solidFill>
                  <a:schemeClr val="accent1">
                    <a:lumMod val="76000"/>
                  </a:schemeClr>
                </a:solidFill>
                <a:latin typeface="Reddit Sans"/>
                <a:ea typeface="Reddit Sans"/>
                <a:cs typeface="Arial"/>
              </a:rPr>
              <a:t>Procesos                                                                                                         </a:t>
            </a:r>
            <a:r>
              <a:rPr lang="es-ES" sz="900">
                <a:solidFill>
                  <a:srgbClr val="92D050"/>
                </a:solidFill>
                <a:latin typeface="Reddit Sans"/>
                <a:ea typeface="Reddit Sans"/>
                <a:cs typeface="Arial"/>
              </a:rPr>
              <a:t>Conocimiento del Negocio</a:t>
            </a:r>
          </a:p>
        </p:txBody>
      </p:sp>
      <p:pic>
        <p:nvPicPr>
          <p:cNvPr id="9" name="Gráfico 8" descr="Servidor contorno">
            <a:extLst>
              <a:ext uri="{FF2B5EF4-FFF2-40B4-BE49-F238E27FC236}">
                <a16:creationId xmlns:a16="http://schemas.microsoft.com/office/drawing/2014/main" id="{10EA16B0-15F0-7226-AED0-5C6CE04F3E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25360" y="796017"/>
            <a:ext cx="315686" cy="315686"/>
          </a:xfrm>
          <a:prstGeom prst="rect">
            <a:avLst/>
          </a:prstGeom>
        </p:spPr>
      </p:pic>
      <p:pic>
        <p:nvPicPr>
          <p:cNvPr id="17" name="Gráfico 16" descr="Ciclismo en compañía con relleno sólido">
            <a:extLst>
              <a:ext uri="{FF2B5EF4-FFF2-40B4-BE49-F238E27FC236}">
                <a16:creationId xmlns:a16="http://schemas.microsoft.com/office/drawing/2014/main" id="{3BA575A4-5F42-9FF1-1D4C-0A44E5F99D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452256" y="704850"/>
            <a:ext cx="429986" cy="429986"/>
          </a:xfrm>
          <a:prstGeom prst="rect">
            <a:avLst/>
          </a:prstGeom>
        </p:spPr>
      </p:pic>
      <p:pic>
        <p:nvPicPr>
          <p:cNvPr id="18" name="Gráfico 17" descr="Cerebro izquierdo y derecho contorno">
            <a:extLst>
              <a:ext uri="{FF2B5EF4-FFF2-40B4-BE49-F238E27FC236}">
                <a16:creationId xmlns:a16="http://schemas.microsoft.com/office/drawing/2014/main" id="{4452021E-4B26-96A3-4248-DE04BDB7CD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39049" y="770163"/>
            <a:ext cx="266703" cy="266703"/>
          </a:xfrm>
          <a:prstGeom prst="rect">
            <a:avLst/>
          </a:prstGeom>
        </p:spPr>
      </p:pic>
      <p:sp>
        <p:nvSpPr>
          <p:cNvPr id="26" name="Título 1">
            <a:extLst>
              <a:ext uri="{FF2B5EF4-FFF2-40B4-BE49-F238E27FC236}">
                <a16:creationId xmlns:a16="http://schemas.microsoft.com/office/drawing/2014/main" id="{770FE357-F0B5-3C1F-A24E-EFB74DCFFA05}"/>
              </a:ext>
            </a:extLst>
          </p:cNvPr>
          <p:cNvSpPr txBox="1">
            <a:spLocks/>
          </p:cNvSpPr>
          <p:nvPr/>
        </p:nvSpPr>
        <p:spPr>
          <a:xfrm>
            <a:off x="340500" y="4026720"/>
            <a:ext cx="4879972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Font typeface="Reddit Sans"/>
              <a:buNone/>
              <a:defRPr sz="1600" b="1" i="0" u="none" strike="noStrike" cap="none">
                <a:solidFill>
                  <a:srgbClr val="0E337C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1200"/>
              <a:t>La </a:t>
            </a:r>
            <a:r>
              <a:rPr lang="es-ES" sz="1200" err="1"/>
              <a:t>evoluci</a:t>
            </a:r>
            <a:r>
              <a:rPr lang="es-ES" sz="1200"/>
              <a:t>ón de las mesas de servicio no esta hacia más tickets.</a:t>
            </a:r>
          </a:p>
          <a:p>
            <a:r>
              <a:rPr lang="es-ES" sz="1200">
                <a:solidFill>
                  <a:schemeClr val="accent5"/>
                </a:solidFill>
              </a:rPr>
              <a:t>Es hacia más conocimiento del negocio</a:t>
            </a:r>
          </a:p>
        </p:txBody>
      </p:sp>
    </p:spTree>
    <p:extLst>
      <p:ext uri="{BB962C8B-B14F-4D97-AF65-F5344CB8AC3E}">
        <p14:creationId xmlns:p14="http://schemas.microsoft.com/office/powerpoint/2010/main" val="26334472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229F7-1267-1991-7F32-6D05A7104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102"/>
          <p:cNvSpPr/>
          <p:nvPr/>
        </p:nvSpPr>
        <p:spPr>
          <a:xfrm>
            <a:off x="502920" y="822960"/>
            <a:ext cx="8138160" cy="51206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9525">
            <a:solidFill>
              <a:srgbClr val="E2E6EA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1" name="Caption">
            <a:extLst>
              <a:ext uri="{FF2B5EF4-FFF2-40B4-BE49-F238E27FC236}">
                <a16:creationId xmlns:a16="http://schemas.microsoft.com/office/drawing/2014/main" id="{F51B6F8F-CFDF-9B40-AAA2-D9EFBD076B89}"/>
              </a:ext>
            </a:extLst>
          </p:cNvPr>
          <p:cNvSpPr txBox="1"/>
          <p:nvPr/>
        </p:nvSpPr>
        <p:spPr>
          <a:xfrm>
            <a:off x="341414" y="4660743"/>
            <a:ext cx="3393872" cy="32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r>
              <a:rPr lang="es-ES" sz="700">
                <a:solidFill>
                  <a:schemeClr val="bg2"/>
                </a:solidFill>
                <a:latin typeface="Reddit Sans"/>
                <a:ea typeface="Reddit Sans"/>
              </a:rPr>
              <a:t>Fuentes:</a:t>
            </a:r>
            <a:r>
              <a:rPr lang="es-ES" sz="700" dirty="0">
                <a:solidFill>
                  <a:srgbClr val="E6EDF3"/>
                </a:solidFill>
                <a:latin typeface="Reddit Sans"/>
                <a:ea typeface="Reddit Sans"/>
              </a:rPr>
              <a:t> </a:t>
            </a:r>
            <a:r>
              <a:rPr lang="es-ES" sz="700" dirty="0">
                <a:solidFill>
                  <a:srgbClr val="2F81F7"/>
                </a:solidFill>
                <a:latin typeface="Reddit Sans"/>
                <a:ea typeface="Reddit Sans"/>
                <a:hlinkClick r:id="rId3"/>
              </a:rPr>
              <a:t>DITY/SlideShare</a:t>
            </a:r>
            <a:r>
              <a:rPr lang="es-ES" sz="700">
                <a:solidFill>
                  <a:srgbClr val="E6EDF3"/>
                </a:solidFill>
                <a:latin typeface="Reddit Sans"/>
                <a:ea typeface="Reddit Sans"/>
              </a:rPr>
              <a:t>, </a:t>
            </a:r>
            <a:r>
              <a:rPr lang="es-ES" sz="700" dirty="0">
                <a:solidFill>
                  <a:srgbClr val="2F81F7"/>
                </a:solidFill>
                <a:latin typeface="Reddit Sans"/>
                <a:ea typeface="Reddit Sans"/>
                <a:hlinkClick r:id="rId4"/>
              </a:rPr>
              <a:t>ServiceNow Newsroom</a:t>
            </a:r>
            <a:r>
              <a:rPr lang="es-ES" sz="700">
                <a:solidFill>
                  <a:srgbClr val="E6EDF3"/>
                </a:solidFill>
                <a:latin typeface="Reddit Sans"/>
                <a:ea typeface="Reddit Sans"/>
              </a:rPr>
              <a:t>, </a:t>
            </a:r>
            <a:r>
              <a:rPr lang="es-ES" sz="700" dirty="0">
                <a:solidFill>
                  <a:srgbClr val="2F81F7"/>
                </a:solidFill>
                <a:latin typeface="Reddit Sans"/>
                <a:ea typeface="Reddit Sans"/>
                <a:hlinkClick r:id="rId5"/>
              </a:rPr>
              <a:t>Ivanti</a:t>
            </a:r>
            <a:endParaRPr lang="es-ES" sz="700" dirty="0">
              <a:solidFill>
                <a:srgbClr val="E6EDF3"/>
              </a:solidFill>
              <a:latin typeface="Reddit Sans"/>
              <a:ea typeface="Reddit Sans"/>
            </a:endParaRPr>
          </a:p>
        </p:txBody>
      </p:sp>
      <p:sp>
        <p:nvSpPr>
          <p:cNvPr id="101" name="tx101"/>
          <p:cNvSpPr txBox="1"/>
          <p:nvPr/>
        </p:nvSpPr>
        <p:spPr>
          <a:xfrm>
            <a:off x="2743200" y="548640"/>
            <a:ext cx="3657600" cy="219456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/>
            <a:r>
              <a:rPr lang="es-ES" sz="1000">
                <a:solidFill>
                  <a:srgbClr val="5A6B7B"/>
                </a:solidFill>
                <a:latin typeface="Reddit Sans"/>
                <a:ea typeface="Reddit Sans"/>
              </a:rPr>
              <a:t>Evolución del Valor</a:t>
            </a:r>
            <a:endParaRPr lang="es-ES"/>
          </a:p>
        </p:txBody>
      </p:sp>
      <p:sp>
        <p:nvSpPr>
          <p:cNvPr id="103" name="tx103"/>
          <p:cNvSpPr txBox="1"/>
          <p:nvPr/>
        </p:nvSpPr>
        <p:spPr>
          <a:xfrm>
            <a:off x="1234440" y="859536"/>
            <a:ext cx="1280160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1400" b="1">
                <a:solidFill>
                  <a:srgbClr val="1F3A5B"/>
                </a:solidFill>
                <a:latin typeface="Reddit Sans"/>
                <a:ea typeface="Reddit Sans"/>
              </a:rPr>
              <a:t>ITO</a:t>
            </a:r>
          </a:p>
        </p:txBody>
      </p:sp>
      <p:sp>
        <p:nvSpPr>
          <p:cNvPr id="104" name="tx104"/>
          <p:cNvSpPr txBox="1"/>
          <p:nvPr/>
        </p:nvSpPr>
        <p:spPr>
          <a:xfrm>
            <a:off x="960120" y="1115568"/>
            <a:ext cx="1828800" cy="18288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900">
                <a:solidFill>
                  <a:srgbClr val="5A6B7B"/>
                </a:solidFill>
                <a:latin typeface="Reddit Sans"/>
                <a:ea typeface="Reddit Sans"/>
              </a:rPr>
              <a:t>Infraestructura</a:t>
            </a:r>
          </a:p>
        </p:txBody>
      </p:sp>
      <p:sp>
        <p:nvSpPr>
          <p:cNvPr id="105" name="sh105"/>
          <p:cNvSpPr/>
          <p:nvPr/>
        </p:nvSpPr>
        <p:spPr>
          <a:xfrm>
            <a:off x="1874520" y="896112"/>
            <a:ext cx="274320" cy="91440"/>
          </a:xfrm>
          <a:prstGeom prst="roundRect">
            <a:avLst>
              <a:gd name="adj" fmla="val 20000"/>
            </a:avLst>
          </a:prstGeom>
          <a:noFill/>
          <a:ln w="9525">
            <a:solidFill>
              <a:srgbClr val="1F3A5B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6" name="sh106"/>
          <p:cNvSpPr/>
          <p:nvPr/>
        </p:nvSpPr>
        <p:spPr>
          <a:xfrm>
            <a:off x="1874520" y="1005840"/>
            <a:ext cx="274320" cy="91440"/>
          </a:xfrm>
          <a:prstGeom prst="roundRect">
            <a:avLst>
              <a:gd name="adj" fmla="val 20000"/>
            </a:avLst>
          </a:prstGeom>
          <a:noFill/>
          <a:ln w="9525">
            <a:solidFill>
              <a:srgbClr val="1F3A5B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7" name="sh107"/>
          <p:cNvSpPr/>
          <p:nvPr/>
        </p:nvSpPr>
        <p:spPr>
          <a:xfrm>
            <a:off x="1874520" y="1115568"/>
            <a:ext cx="274320" cy="91440"/>
          </a:xfrm>
          <a:prstGeom prst="roundRect">
            <a:avLst>
              <a:gd name="adj" fmla="val 20000"/>
            </a:avLst>
          </a:prstGeom>
          <a:noFill/>
          <a:ln w="9525">
            <a:solidFill>
              <a:srgbClr val="1F3A5B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8" name="sh108"/>
          <p:cNvSpPr/>
          <p:nvPr/>
        </p:nvSpPr>
        <p:spPr>
          <a:xfrm>
            <a:off x="2542032" y="1005840"/>
            <a:ext cx="1143000" cy="13716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09" name="tx109"/>
          <p:cNvSpPr txBox="1"/>
          <p:nvPr/>
        </p:nvSpPr>
        <p:spPr>
          <a:xfrm>
            <a:off x="4138749" y="854094"/>
            <a:ext cx="605246" cy="28520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1400" b="1">
                <a:solidFill>
                  <a:srgbClr val="2E7E85"/>
                </a:solidFill>
                <a:latin typeface="Reddit Sans"/>
                <a:ea typeface="Reddit Sans"/>
              </a:rPr>
              <a:t>BPO</a:t>
            </a:r>
          </a:p>
        </p:txBody>
      </p:sp>
      <p:sp>
        <p:nvSpPr>
          <p:cNvPr id="110" name="tx110"/>
          <p:cNvSpPr txBox="1"/>
          <p:nvPr/>
        </p:nvSpPr>
        <p:spPr>
          <a:xfrm>
            <a:off x="4042954" y="1115568"/>
            <a:ext cx="1737360" cy="18288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900">
                <a:solidFill>
                  <a:srgbClr val="5A6B7B"/>
                </a:solidFill>
                <a:latin typeface="Reddit Sans"/>
                <a:ea typeface="Reddit Sans"/>
              </a:rPr>
              <a:t>Procesos</a:t>
            </a:r>
          </a:p>
        </p:txBody>
      </p:sp>
      <p:sp>
        <p:nvSpPr>
          <p:cNvPr id="111" name="sh111"/>
          <p:cNvSpPr/>
          <p:nvPr/>
        </p:nvSpPr>
        <p:spPr>
          <a:xfrm>
            <a:off x="4800600" y="877824"/>
            <a:ext cx="310896" cy="310896"/>
          </a:xfrm>
          <a:prstGeom prst="gear6">
            <a:avLst>
              <a:gd name="adj1" fmla="val 15000"/>
              <a:gd name="adj2" fmla="val 3000"/>
            </a:avLst>
          </a:prstGeom>
          <a:noFill/>
          <a:ln w="9525">
            <a:solidFill>
              <a:srgbClr val="2E7E85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12" name="sh112"/>
          <p:cNvSpPr/>
          <p:nvPr/>
        </p:nvSpPr>
        <p:spPr>
          <a:xfrm>
            <a:off x="5532120" y="1005840"/>
            <a:ext cx="1143000" cy="13716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4E9A3B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13" name="tx113"/>
          <p:cNvSpPr txBox="1"/>
          <p:nvPr/>
        </p:nvSpPr>
        <p:spPr>
          <a:xfrm>
            <a:off x="7113814" y="854094"/>
            <a:ext cx="804455" cy="28520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1400" b="1">
                <a:solidFill>
                  <a:srgbClr val="4E9A3B"/>
                </a:solidFill>
                <a:latin typeface="Reddit Sans"/>
                <a:ea typeface="Reddit Sans"/>
              </a:rPr>
              <a:t>KPO</a:t>
            </a:r>
          </a:p>
        </p:txBody>
      </p:sp>
      <p:sp>
        <p:nvSpPr>
          <p:cNvPr id="114" name="tx114"/>
          <p:cNvSpPr txBox="1"/>
          <p:nvPr/>
        </p:nvSpPr>
        <p:spPr>
          <a:xfrm>
            <a:off x="6720840" y="1115568"/>
            <a:ext cx="1920240" cy="18288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900">
                <a:solidFill>
                  <a:srgbClr val="5A6B7B"/>
                </a:solidFill>
                <a:latin typeface="Reddit Sans"/>
                <a:ea typeface="Reddit Sans"/>
              </a:rPr>
              <a:t>Conocimiento del negocio</a:t>
            </a:r>
          </a:p>
        </p:txBody>
      </p:sp>
      <p:sp>
        <p:nvSpPr>
          <p:cNvPr id="116" name="sh116"/>
          <p:cNvSpPr/>
          <p:nvPr/>
        </p:nvSpPr>
        <p:spPr>
          <a:xfrm>
            <a:off x="960120" y="2320747"/>
            <a:ext cx="7269480" cy="21946"/>
          </a:xfrm>
          <a:prstGeom prst="roundRect">
            <a:avLst>
              <a:gd name="adj" fmla="val 50000"/>
            </a:avLst>
          </a:prstGeom>
          <a:solidFill>
            <a:srgbClr val="C3C9C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17" name="arrowtip"/>
          <p:cNvSpPr/>
          <p:nvPr/>
        </p:nvSpPr>
        <p:spPr>
          <a:xfrm>
            <a:off x="8193024" y="2281428"/>
            <a:ext cx="146304" cy="100584"/>
          </a:xfrm>
          <a:prstGeom prst="rightArrow">
            <a:avLst>
              <a:gd name="adj1" fmla="val 40000"/>
              <a:gd name="adj2" fmla="val 60000"/>
            </a:avLst>
          </a:prstGeom>
          <a:solidFill>
            <a:srgbClr val="C3C9C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18" name="sh118"/>
          <p:cNvSpPr/>
          <p:nvPr/>
        </p:nvSpPr>
        <p:spPr>
          <a:xfrm>
            <a:off x="594360" y="1965960"/>
            <a:ext cx="731520" cy="731520"/>
          </a:xfrm>
          <a:prstGeom prst="ellipse">
            <a:avLst/>
          </a:prstGeom>
          <a:solidFill>
            <a:srgbClr val="78746B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HD</a:t>
            </a:r>
          </a:p>
        </p:txBody>
      </p:sp>
      <p:sp>
        <p:nvSpPr>
          <p:cNvPr id="119" name="sh119"/>
          <p:cNvSpPr/>
          <p:nvPr/>
        </p:nvSpPr>
        <p:spPr>
          <a:xfrm>
            <a:off x="1920240" y="1965960"/>
            <a:ext cx="731520" cy="731520"/>
          </a:xfrm>
          <a:prstGeom prst="ellipse">
            <a:avLst/>
          </a:prstGeom>
          <a:solidFill>
            <a:srgbClr val="2E7E85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SD</a:t>
            </a:r>
          </a:p>
        </p:txBody>
      </p:sp>
      <p:sp>
        <p:nvSpPr>
          <p:cNvPr id="120" name="sh120"/>
          <p:cNvSpPr/>
          <p:nvPr/>
        </p:nvSpPr>
        <p:spPr>
          <a:xfrm>
            <a:off x="3246120" y="1965960"/>
            <a:ext cx="731520" cy="731520"/>
          </a:xfrm>
          <a:prstGeom prst="ellipse">
            <a:avLst/>
          </a:prstGeom>
          <a:solidFill>
            <a:srgbClr val="A4472A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1100" b="1">
                <a:solidFill>
                  <a:srgbClr val="FFFFFF"/>
                </a:solidFill>
                <a:latin typeface="Reddit Sans"/>
                <a:ea typeface="Reddit Sans"/>
              </a:rPr>
              <a:t>ESM</a:t>
            </a:r>
          </a:p>
        </p:txBody>
      </p:sp>
      <p:sp>
        <p:nvSpPr>
          <p:cNvPr id="121" name="sh121"/>
          <p:cNvSpPr/>
          <p:nvPr/>
        </p:nvSpPr>
        <p:spPr>
          <a:xfrm>
            <a:off x="4572000" y="1965960"/>
            <a:ext cx="731520" cy="731520"/>
          </a:xfrm>
          <a:prstGeom prst="ellipse">
            <a:avLst/>
          </a:prstGeom>
          <a:solidFill>
            <a:srgbClr val="8B4357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1100" b="1">
                <a:solidFill>
                  <a:srgbClr val="FFFFFF"/>
                </a:solidFill>
                <a:latin typeface="Reddit Sans"/>
                <a:ea typeface="Reddit Sans"/>
              </a:rPr>
              <a:t>D/W</a:t>
            </a:r>
          </a:p>
        </p:txBody>
      </p:sp>
      <p:sp>
        <p:nvSpPr>
          <p:cNvPr id="122" name="sh122"/>
          <p:cNvSpPr/>
          <p:nvPr/>
        </p:nvSpPr>
        <p:spPr>
          <a:xfrm>
            <a:off x="5897880" y="1965960"/>
            <a:ext cx="731520" cy="731520"/>
          </a:xfrm>
          <a:prstGeom prst="ellipse">
            <a:avLst/>
          </a:prstGeom>
          <a:solidFill>
            <a:srgbClr val="D2A02A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A+</a:t>
            </a:r>
          </a:p>
        </p:txBody>
      </p:sp>
      <p:sp>
        <p:nvSpPr>
          <p:cNvPr id="123" name="sh123"/>
          <p:cNvSpPr/>
          <p:nvPr/>
        </p:nvSpPr>
        <p:spPr>
          <a:xfrm>
            <a:off x="7452360" y="1965960"/>
            <a:ext cx="731520" cy="731520"/>
          </a:xfrm>
          <a:prstGeom prst="ellipse">
            <a:avLst/>
          </a:prstGeom>
          <a:solidFill>
            <a:srgbClr val="24406A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900" b="1">
                <a:solidFill>
                  <a:srgbClr val="FFFFFF"/>
                </a:solidFill>
                <a:latin typeface="Reddit Sans"/>
                <a:ea typeface="Reddit Sans"/>
              </a:rPr>
              <a:t>AUTONO</a:t>
            </a:r>
          </a:p>
          <a:p>
            <a:pPr algn="ctr">
              <a:lnSpc>
                <a:spcPct val="100000"/>
              </a:lnSpc>
            </a:pPr>
            <a:r>
              <a:rPr lang="es-ES" sz="900" b="1">
                <a:solidFill>
                  <a:srgbClr val="FFFFFF"/>
                </a:solidFill>
                <a:latin typeface="Reddit Sans"/>
                <a:ea typeface="Reddit Sans"/>
              </a:rPr>
              <a:t>MO</a:t>
            </a:r>
          </a:p>
        </p:txBody>
      </p:sp>
      <p:sp>
        <p:nvSpPr>
          <p:cNvPr id="124" name="tx124"/>
          <p:cNvSpPr txBox="1"/>
          <p:nvPr/>
        </p:nvSpPr>
        <p:spPr>
          <a:xfrm>
            <a:off x="320040" y="1572768"/>
            <a:ext cx="1280160" cy="5029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750">
                <a:solidFill>
                  <a:srgbClr val="5A6B7B"/>
                </a:solidFill>
                <a:latin typeface="Reddit Sans"/>
                <a:ea typeface="Reddit Sans"/>
              </a:rPr>
              <a:t>Reactivo</a:t>
            </a:r>
          </a:p>
        </p:txBody>
      </p:sp>
      <p:sp>
        <p:nvSpPr>
          <p:cNvPr id="125" name="tx125"/>
          <p:cNvSpPr txBox="1"/>
          <p:nvPr/>
        </p:nvSpPr>
        <p:spPr>
          <a:xfrm>
            <a:off x="1481546" y="1474579"/>
            <a:ext cx="1554480" cy="5029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750" b="1" dirty="0">
                <a:solidFill>
                  <a:srgbClr val="2E7E85"/>
                </a:solidFill>
                <a:latin typeface="Reddit Sans"/>
                <a:ea typeface="Reddit Sans"/>
              </a:rPr>
              <a:t>Service </a:t>
            </a:r>
            <a:r>
              <a:rPr lang="es-ES" sz="750" b="1" dirty="0" err="1">
                <a:solidFill>
                  <a:srgbClr val="2E7E85"/>
                </a:solidFill>
                <a:latin typeface="Reddit Sans"/>
                <a:ea typeface="Reddit Sans"/>
              </a:rPr>
              <a:t>Desk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ITIL v2/v3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2001–2007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SLA, CMDB</a:t>
            </a:r>
          </a:p>
        </p:txBody>
      </p:sp>
      <p:sp>
        <p:nvSpPr>
          <p:cNvPr id="126" name="tx126"/>
          <p:cNvSpPr txBox="1"/>
          <p:nvPr/>
        </p:nvSpPr>
        <p:spPr>
          <a:xfrm>
            <a:off x="4133306" y="1474579"/>
            <a:ext cx="1554480" cy="5029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750" b="1" dirty="0">
                <a:solidFill>
                  <a:srgbClr val="8B4357"/>
                </a:solidFill>
                <a:latin typeface="Reddit Sans"/>
                <a:ea typeface="Reddit Sans"/>
              </a:rPr>
              <a:t>Digital </a:t>
            </a:r>
            <a:r>
              <a:rPr lang="es-ES" sz="750" b="1" dirty="0" err="1">
                <a:solidFill>
                  <a:srgbClr val="8B4357"/>
                </a:solidFill>
                <a:latin typeface="Reddit Sans"/>
                <a:ea typeface="Reddit Sans"/>
              </a:rPr>
              <a:t>Workplace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2015–2020</a:t>
            </a:r>
            <a:endParaRPr lang="es-ES" sz="750" dirty="0">
              <a:solidFill>
                <a:schemeClr val="bg2"/>
              </a:solidFill>
              <a:latin typeface="Reddit Sans"/>
              <a:ea typeface="Reddit Sans"/>
            </a:endParaRPr>
          </a:p>
          <a:p>
            <a:pPr algn="ctr">
              <a:lnSpc>
                <a:spcPct val="95000"/>
              </a:lnSpc>
            </a:pPr>
            <a:r>
              <a:rPr lang="es-ES" sz="750" dirty="0">
                <a:solidFill>
                  <a:schemeClr val="bg2"/>
                </a:solidFill>
                <a:latin typeface="Reddit Sans"/>
                <a:ea typeface="Reddit Sans"/>
              </a:rPr>
              <a:t>NLP, </a:t>
            </a:r>
            <a:r>
              <a:rPr lang="es-ES" sz="750" dirty="0" err="1">
                <a:solidFill>
                  <a:schemeClr val="bg2"/>
                </a:solidFill>
                <a:latin typeface="Reddit Sans"/>
                <a:ea typeface="Reddit Sans"/>
              </a:rPr>
              <a:t>Chatbot</a:t>
            </a:r>
            <a:endParaRPr lang="es-ES" sz="750">
              <a:solidFill>
                <a:schemeClr val="bg2"/>
              </a:solidFill>
              <a:latin typeface="Reddit Sans"/>
              <a:ea typeface="Reddit Sans"/>
            </a:endParaRPr>
          </a:p>
        </p:txBody>
      </p:sp>
      <p:sp>
        <p:nvSpPr>
          <p:cNvPr id="127" name="tx127"/>
          <p:cNvSpPr txBox="1"/>
          <p:nvPr/>
        </p:nvSpPr>
        <p:spPr>
          <a:xfrm>
            <a:off x="7034349" y="1476974"/>
            <a:ext cx="1600200" cy="5029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750" b="1" dirty="0" err="1">
                <a:solidFill>
                  <a:srgbClr val="24406A"/>
                </a:solidFill>
                <a:latin typeface="Reddit Sans"/>
                <a:ea typeface="Reddit Sans"/>
              </a:rPr>
              <a:t>Autonomo</a:t>
            </a:r>
            <a:endParaRPr lang="es-ES" sz="750" b="1">
              <a:solidFill>
                <a:srgbClr val="24406A"/>
              </a:solidFill>
              <a:latin typeface="Reddit Sans"/>
              <a:ea typeface="Reddit Sans"/>
            </a:endParaRPr>
          </a:p>
          <a:p>
            <a:pPr algn="ctr">
              <a:lnSpc>
                <a:spcPct val="95000"/>
              </a:lnSpc>
            </a:pPr>
            <a:r>
              <a:rPr lang="es-ES" sz="750" dirty="0">
                <a:solidFill>
                  <a:schemeClr val="bg2"/>
                </a:solidFill>
                <a:latin typeface="Reddit Sans"/>
                <a:ea typeface="Reddit Sans"/>
              </a:rPr>
              <a:t>Service </a:t>
            </a:r>
            <a:r>
              <a:rPr lang="es-ES" sz="750" dirty="0" err="1">
                <a:solidFill>
                  <a:schemeClr val="bg2"/>
                </a:solidFill>
                <a:latin typeface="Reddit Sans"/>
                <a:ea typeface="Reddit Sans"/>
              </a:rPr>
              <a:t>Desk</a:t>
            </a:r>
            <a:endParaRPr lang="es-ES" sz="750" dirty="0">
              <a:solidFill>
                <a:schemeClr val="bg2"/>
              </a:solidFill>
              <a:latin typeface="Reddit Sans"/>
              <a:ea typeface="Reddit Sans"/>
            </a:endParaRP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2023–2026+</a:t>
            </a:r>
            <a:endParaRPr lang="es-ES" sz="750" dirty="0">
              <a:solidFill>
                <a:schemeClr val="bg2"/>
              </a:solidFill>
              <a:latin typeface="Reddit Sans"/>
              <a:ea typeface="Reddit Sans"/>
            </a:endParaRPr>
          </a:p>
          <a:p>
            <a:pPr algn="ctr">
              <a:lnSpc>
                <a:spcPct val="95000"/>
              </a:lnSpc>
            </a:pPr>
            <a:r>
              <a:rPr lang="es-ES" sz="750" dirty="0" err="1">
                <a:solidFill>
                  <a:schemeClr val="bg2"/>
                </a:solidFill>
                <a:latin typeface="Reddit Sans"/>
                <a:ea typeface="Reddit Sans"/>
              </a:rPr>
              <a:t>Agentic</a:t>
            </a:r>
            <a:r>
              <a:rPr lang="es-ES" sz="750" dirty="0">
                <a:solidFill>
                  <a:schemeClr val="bg2"/>
                </a:solidFill>
                <a:latin typeface="Reddit Sans"/>
                <a:ea typeface="Reddit Sans"/>
              </a:rPr>
              <a:t>, XLA</a:t>
            </a:r>
          </a:p>
        </p:txBody>
      </p:sp>
      <p:sp>
        <p:nvSpPr>
          <p:cNvPr id="128" name="tx128"/>
          <p:cNvSpPr txBox="1"/>
          <p:nvPr/>
        </p:nvSpPr>
        <p:spPr>
          <a:xfrm>
            <a:off x="182880" y="2761488"/>
            <a:ext cx="1554480" cy="82296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750" b="1">
                <a:solidFill>
                  <a:srgbClr val="33383D"/>
                </a:solidFill>
                <a:latin typeface="Reddit Sans"/>
                <a:ea typeface="Reddit Sans"/>
              </a:rPr>
              <a:t>Help Desk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rgbClr val="33383D"/>
                </a:solidFill>
                <a:latin typeface="Reddit Sans"/>
                <a:ea typeface="Reddit Sans"/>
              </a:rPr>
              <a:t>1970s–90s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rgbClr val="33383D"/>
                </a:solidFill>
                <a:latin typeface="Reddit Sans"/>
                <a:ea typeface="Reddit Sans"/>
              </a:rPr>
              <a:t>Teléfono, Tickets</a:t>
            </a:r>
          </a:p>
        </p:txBody>
      </p:sp>
      <p:sp>
        <p:nvSpPr>
          <p:cNvPr id="129" name="tx129"/>
          <p:cNvSpPr txBox="1"/>
          <p:nvPr/>
        </p:nvSpPr>
        <p:spPr>
          <a:xfrm>
            <a:off x="2743200" y="2761488"/>
            <a:ext cx="1737360" cy="82296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750" b="1">
                <a:solidFill>
                  <a:srgbClr val="A4472A"/>
                </a:solidFill>
                <a:latin typeface="Reddit Sans"/>
                <a:ea typeface="Reddit Sans"/>
              </a:rPr>
              <a:t>Enterprise Service</a:t>
            </a:r>
          </a:p>
          <a:p>
            <a:pPr algn="ctr">
              <a:lnSpc>
                <a:spcPct val="95000"/>
              </a:lnSpc>
            </a:pPr>
            <a:r>
              <a:rPr lang="es-ES" sz="750" b="1">
                <a:solidFill>
                  <a:srgbClr val="A4472A"/>
                </a:solidFill>
                <a:latin typeface="Reddit Sans"/>
                <a:ea typeface="Reddit Sans"/>
              </a:rPr>
              <a:t>Management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2010–2016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HR, Finanzas</a:t>
            </a:r>
          </a:p>
        </p:txBody>
      </p:sp>
      <p:sp>
        <p:nvSpPr>
          <p:cNvPr id="130" name="tx130"/>
          <p:cNvSpPr txBox="1"/>
          <p:nvPr/>
        </p:nvSpPr>
        <p:spPr>
          <a:xfrm>
            <a:off x="5372100" y="2761488"/>
            <a:ext cx="1783080" cy="82296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s-ES" sz="750" b="1" dirty="0">
                <a:solidFill>
                  <a:srgbClr val="C08A1E"/>
                </a:solidFill>
                <a:latin typeface="Reddit Sans"/>
                <a:ea typeface="Reddit Sans"/>
              </a:rPr>
              <a:t>AITSM (Artificial </a:t>
            </a:r>
            <a:r>
              <a:rPr lang="es-ES" sz="750" b="1" dirty="0" err="1">
                <a:solidFill>
                  <a:srgbClr val="C08A1E"/>
                </a:solidFill>
                <a:latin typeface="Reddit Sans"/>
                <a:ea typeface="Reddit Sans"/>
              </a:rPr>
              <a:t>Intelligence</a:t>
            </a:r>
            <a:endParaRPr lang="es-ES" sz="750" b="1" dirty="0">
              <a:solidFill>
                <a:srgbClr val="C08A1E"/>
              </a:solidFill>
              <a:latin typeface="Reddit Sans"/>
              <a:ea typeface="Reddit Sans"/>
            </a:endParaRPr>
          </a:p>
          <a:p>
            <a:pPr algn="ctr">
              <a:lnSpc>
                <a:spcPct val="95000"/>
              </a:lnSpc>
            </a:pPr>
            <a:r>
              <a:rPr lang="es-ES" sz="750" b="1" dirty="0" err="1">
                <a:solidFill>
                  <a:srgbClr val="C08A1E"/>
                </a:solidFill>
                <a:latin typeface="Reddit Sans"/>
                <a:ea typeface="Reddit Sans"/>
              </a:rPr>
              <a:t>for</a:t>
            </a:r>
            <a:r>
              <a:rPr lang="es-ES" sz="750" b="1" dirty="0">
                <a:solidFill>
                  <a:srgbClr val="C08A1E"/>
                </a:solidFill>
                <a:latin typeface="Reddit Sans"/>
                <a:ea typeface="Reddit Sans"/>
              </a:rPr>
              <a:t> IT Service Management)</a:t>
            </a:r>
          </a:p>
          <a:p>
            <a:pPr algn="ctr">
              <a:lnSpc>
                <a:spcPct val="95000"/>
              </a:lnSpc>
            </a:pPr>
            <a:r>
              <a:rPr lang="es-ES" sz="750">
                <a:solidFill>
                  <a:schemeClr val="bg2"/>
                </a:solidFill>
                <a:latin typeface="Reddit Sans"/>
                <a:ea typeface="Reddit Sans"/>
              </a:rPr>
              <a:t>2020–2023</a:t>
            </a:r>
            <a:endParaRPr lang="es-ES" sz="750" dirty="0">
              <a:solidFill>
                <a:schemeClr val="bg2"/>
              </a:solidFill>
              <a:latin typeface="Reddit Sans"/>
              <a:ea typeface="Reddit Sans"/>
            </a:endParaRPr>
          </a:p>
          <a:p>
            <a:pPr algn="ctr">
              <a:lnSpc>
                <a:spcPct val="95000"/>
              </a:lnSpc>
            </a:pPr>
            <a:r>
              <a:rPr lang="es-ES" sz="750" dirty="0">
                <a:solidFill>
                  <a:schemeClr val="bg2"/>
                </a:solidFill>
                <a:latin typeface="Reddit Sans"/>
                <a:ea typeface="Reddit Sans"/>
              </a:rPr>
              <a:t>AI-</a:t>
            </a:r>
            <a:r>
              <a:rPr lang="es-ES" sz="750" dirty="0" err="1">
                <a:solidFill>
                  <a:schemeClr val="bg2"/>
                </a:solidFill>
                <a:latin typeface="Reddit Sans"/>
                <a:ea typeface="Reddit Sans"/>
              </a:rPr>
              <a:t>Augmented</a:t>
            </a:r>
            <a:endParaRPr lang="es-ES" sz="750" dirty="0">
              <a:solidFill>
                <a:schemeClr val="bg2"/>
              </a:solidFill>
              <a:latin typeface="Reddit Sans"/>
              <a:ea typeface="Reddit Sans"/>
            </a:endParaRPr>
          </a:p>
          <a:p>
            <a:pPr algn="ctr">
              <a:lnSpc>
                <a:spcPct val="95000"/>
              </a:lnSpc>
            </a:pPr>
            <a:r>
              <a:rPr lang="es-ES" sz="750" dirty="0">
                <a:solidFill>
                  <a:schemeClr val="bg2"/>
                </a:solidFill>
                <a:latin typeface="Reddit Sans"/>
                <a:ea typeface="Reddit Sans"/>
              </a:rPr>
              <a:t>GenAI · </a:t>
            </a:r>
            <a:r>
              <a:rPr lang="es-ES" sz="750" dirty="0" err="1">
                <a:solidFill>
                  <a:schemeClr val="bg2"/>
                </a:solidFill>
                <a:latin typeface="Reddit Sans"/>
                <a:ea typeface="Reddit Sans"/>
              </a:rPr>
              <a:t>AIOps</a:t>
            </a:r>
            <a:endParaRPr lang="es-ES" sz="750" dirty="0">
              <a:solidFill>
                <a:schemeClr val="bg2"/>
              </a:solidFill>
              <a:latin typeface="Reddit Sans"/>
              <a:ea typeface="Reddit Sans"/>
            </a:endParaRPr>
          </a:p>
        </p:txBody>
      </p:sp>
      <p:sp>
        <p:nvSpPr>
          <p:cNvPr id="131" name="sh131"/>
          <p:cNvSpPr/>
          <p:nvPr/>
        </p:nvSpPr>
        <p:spPr>
          <a:xfrm>
            <a:off x="609601" y="3447939"/>
            <a:ext cx="5613543" cy="1075074"/>
          </a:xfrm>
          <a:prstGeom prst="roundRect">
            <a:avLst>
              <a:gd name="adj" fmla="val 8000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34" name="tx134"/>
          <p:cNvSpPr txBox="1"/>
          <p:nvPr/>
        </p:nvSpPr>
        <p:spPr>
          <a:xfrm>
            <a:off x="1395548" y="3522617"/>
            <a:ext cx="2834640" cy="384048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lang="es-ES" sz="900" b="1">
                <a:solidFill>
                  <a:srgbClr val="1F5FA6"/>
                </a:solidFill>
                <a:latin typeface="Reddit Sans"/>
                <a:ea typeface="Reddit Sans"/>
              </a:rPr>
              <a:t>La evolución de la mesa no es hacia más tickets. </a:t>
            </a:r>
          </a:p>
          <a:p>
            <a:pPr algn="l">
              <a:lnSpc>
                <a:spcPct val="95000"/>
              </a:lnSpc>
            </a:pPr>
            <a:r>
              <a:rPr lang="es-ES" sz="900" b="1">
                <a:solidFill>
                  <a:schemeClr val="accent5"/>
                </a:solidFill>
                <a:latin typeface="Reddit Sans"/>
                <a:ea typeface="Reddit Sans"/>
              </a:rPr>
              <a:t>Es hacia más conocimiento del negocio</a:t>
            </a:r>
            <a:r>
              <a:rPr lang="es-ES" sz="900" b="1">
                <a:solidFill>
                  <a:srgbClr val="1F5FA6"/>
                </a:solidFill>
                <a:latin typeface="Reddit Sans"/>
                <a:ea typeface="Reddit Sans"/>
              </a:rPr>
              <a:t>.</a:t>
            </a:r>
          </a:p>
        </p:txBody>
      </p:sp>
      <p:sp>
        <p:nvSpPr>
          <p:cNvPr id="135" name="sh135"/>
          <p:cNvSpPr/>
          <p:nvPr/>
        </p:nvSpPr>
        <p:spPr>
          <a:xfrm>
            <a:off x="1002574" y="3960005"/>
            <a:ext cx="274320" cy="274320"/>
          </a:xfrm>
          <a:prstGeom prst="ellipse">
            <a:avLst/>
          </a:prstGeom>
          <a:solidFill>
            <a:srgbClr val="EEF1F4"/>
          </a:solidFill>
          <a:ln w="9525">
            <a:solidFill>
              <a:srgbClr val="C3C9C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36" name="tx136"/>
          <p:cNvSpPr txBox="1"/>
          <p:nvPr/>
        </p:nvSpPr>
        <p:spPr>
          <a:xfrm>
            <a:off x="728254" y="4243469"/>
            <a:ext cx="822960" cy="14630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750" b="1">
                <a:solidFill>
                  <a:srgbClr val="33383D"/>
                </a:solidFill>
                <a:latin typeface="Reddit Sans"/>
                <a:ea typeface="Reddit Sans"/>
              </a:rPr>
              <a:t>ITO</a:t>
            </a:r>
          </a:p>
        </p:txBody>
      </p:sp>
      <p:sp>
        <p:nvSpPr>
          <p:cNvPr id="137" name="tx137"/>
          <p:cNvSpPr txBox="1"/>
          <p:nvPr/>
        </p:nvSpPr>
        <p:spPr>
          <a:xfrm>
            <a:off x="609382" y="4389773"/>
            <a:ext cx="1060704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8000"/>
              </a:lnSpc>
            </a:pPr>
            <a:r>
              <a:rPr lang="es-ES" sz="600">
                <a:solidFill>
                  <a:srgbClr val="5A6B7B"/>
                </a:solidFill>
                <a:latin typeface="Reddit Sans"/>
                <a:ea typeface="Reddit Sans"/>
              </a:rPr>
              <a:t>Enfoque en tecnología</a:t>
            </a:r>
          </a:p>
        </p:txBody>
      </p:sp>
      <p:cxnSp>
        <p:nvCxnSpPr>
          <p:cNvPr id="138" name="cx138"/>
          <p:cNvCxnSpPr/>
          <p:nvPr/>
        </p:nvCxnSpPr>
        <p:spPr>
          <a:xfrm>
            <a:off x="1280813" y="4091723"/>
            <a:ext cx="817300" cy="0"/>
          </a:xfrm>
          <a:prstGeom prst="straightConnector1">
            <a:avLst/>
          </a:prstGeom>
          <a:ln w="12700">
            <a:solidFill>
              <a:srgbClr val="9AA3AB"/>
            </a:solidFill>
            <a:tailEnd type="triangle" w="med" len="med"/>
          </a:ln>
        </p:spPr>
      </p:cxnSp>
      <p:sp>
        <p:nvSpPr>
          <p:cNvPr id="139" name="sh139"/>
          <p:cNvSpPr/>
          <p:nvPr/>
        </p:nvSpPr>
        <p:spPr>
          <a:xfrm>
            <a:off x="2145574" y="3960005"/>
            <a:ext cx="274320" cy="274320"/>
          </a:xfrm>
          <a:prstGeom prst="ellipse">
            <a:avLst/>
          </a:prstGeom>
          <a:solidFill>
            <a:srgbClr val="EEF1F4"/>
          </a:solidFill>
          <a:ln w="9525">
            <a:solidFill>
              <a:srgbClr val="C3C9C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40" name="tx140"/>
          <p:cNvSpPr txBox="1"/>
          <p:nvPr/>
        </p:nvSpPr>
        <p:spPr>
          <a:xfrm>
            <a:off x="1871254" y="4243469"/>
            <a:ext cx="822960" cy="14630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750" b="1">
                <a:solidFill>
                  <a:srgbClr val="33383D"/>
                </a:solidFill>
                <a:latin typeface="Reddit Sans"/>
                <a:ea typeface="Reddit Sans"/>
              </a:rPr>
              <a:t>BPO</a:t>
            </a:r>
          </a:p>
        </p:txBody>
      </p:sp>
      <p:sp>
        <p:nvSpPr>
          <p:cNvPr id="141" name="tx141"/>
          <p:cNvSpPr txBox="1"/>
          <p:nvPr/>
        </p:nvSpPr>
        <p:spPr>
          <a:xfrm>
            <a:off x="1752382" y="4389773"/>
            <a:ext cx="1060704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8000"/>
              </a:lnSpc>
            </a:pPr>
            <a:r>
              <a:rPr lang="es-ES" sz="600">
                <a:solidFill>
                  <a:srgbClr val="5A6B7B"/>
                </a:solidFill>
                <a:latin typeface="Reddit Sans"/>
                <a:ea typeface="Reddit Sans"/>
              </a:rPr>
              <a:t>Enfoque en procesos</a:t>
            </a:r>
          </a:p>
        </p:txBody>
      </p:sp>
      <p:cxnSp>
        <p:nvCxnSpPr>
          <p:cNvPr id="142" name="cx142"/>
          <p:cNvCxnSpPr/>
          <p:nvPr/>
        </p:nvCxnSpPr>
        <p:spPr>
          <a:xfrm flipV="1">
            <a:off x="2461912" y="4091723"/>
            <a:ext cx="828186" cy="5442"/>
          </a:xfrm>
          <a:prstGeom prst="straightConnector1">
            <a:avLst/>
          </a:prstGeom>
          <a:ln w="12700">
            <a:solidFill>
              <a:srgbClr val="9AA3AB"/>
            </a:solidFill>
            <a:tailEnd type="triangle" w="med" len="med"/>
          </a:ln>
        </p:spPr>
      </p:cxnSp>
      <p:sp>
        <p:nvSpPr>
          <p:cNvPr id="143" name="sh143"/>
          <p:cNvSpPr/>
          <p:nvPr/>
        </p:nvSpPr>
        <p:spPr>
          <a:xfrm>
            <a:off x="3288574" y="3960005"/>
            <a:ext cx="274320" cy="274320"/>
          </a:xfrm>
          <a:prstGeom prst="ellipse">
            <a:avLst/>
          </a:prstGeom>
          <a:solidFill>
            <a:srgbClr val="EEF1F4"/>
          </a:solidFill>
          <a:ln w="9525">
            <a:solidFill>
              <a:srgbClr val="C3C9C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44" name="tx144"/>
          <p:cNvSpPr txBox="1"/>
          <p:nvPr/>
        </p:nvSpPr>
        <p:spPr>
          <a:xfrm>
            <a:off x="3014254" y="4243469"/>
            <a:ext cx="822960" cy="14630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750" b="1">
                <a:solidFill>
                  <a:srgbClr val="33383D"/>
                </a:solidFill>
                <a:latin typeface="Reddit Sans"/>
                <a:ea typeface="Reddit Sans"/>
              </a:rPr>
              <a:t>KPO</a:t>
            </a:r>
          </a:p>
        </p:txBody>
      </p:sp>
      <p:sp>
        <p:nvSpPr>
          <p:cNvPr id="145" name="tx145"/>
          <p:cNvSpPr txBox="1"/>
          <p:nvPr/>
        </p:nvSpPr>
        <p:spPr>
          <a:xfrm>
            <a:off x="2895382" y="4389773"/>
            <a:ext cx="1060704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8000"/>
              </a:lnSpc>
            </a:pPr>
            <a:r>
              <a:rPr lang="es-ES" sz="600">
                <a:solidFill>
                  <a:srgbClr val="5A6B7B"/>
                </a:solidFill>
                <a:latin typeface="Reddit Sans"/>
                <a:ea typeface="Reddit Sans"/>
              </a:rPr>
              <a:t>Enfoque en conocimiento y valor</a:t>
            </a:r>
          </a:p>
        </p:txBody>
      </p:sp>
      <p:sp>
        <p:nvSpPr>
          <p:cNvPr id="146" name="sh146"/>
          <p:cNvSpPr/>
          <p:nvPr/>
        </p:nvSpPr>
        <p:spPr>
          <a:xfrm>
            <a:off x="4353197" y="3496927"/>
            <a:ext cx="1832064" cy="971657"/>
          </a:xfrm>
          <a:prstGeom prst="roundRect">
            <a:avLst>
              <a:gd name="adj" fmla="val 8000"/>
            </a:avLst>
          </a:prstGeom>
          <a:solidFill>
            <a:srgbClr val="FBFCFD"/>
          </a:solidFill>
          <a:ln w="9525">
            <a:solidFill>
              <a:srgbClr val="DCE1E6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50" name="tx150"/>
          <p:cNvSpPr txBox="1"/>
          <p:nvPr/>
        </p:nvSpPr>
        <p:spPr>
          <a:xfrm>
            <a:off x="4934494" y="3557669"/>
            <a:ext cx="1188720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lang="es-ES" sz="900" b="1">
                <a:solidFill>
                  <a:srgbClr val="1F5FA6"/>
                </a:solidFill>
                <a:latin typeface="Reddit Sans"/>
                <a:ea typeface="Reddit Sans"/>
              </a:rPr>
              <a:t>KCS + IA habilita el salto final:</a:t>
            </a:r>
          </a:p>
        </p:txBody>
      </p:sp>
      <p:sp>
        <p:nvSpPr>
          <p:cNvPr id="151" name="tx151"/>
          <p:cNvSpPr txBox="1"/>
          <p:nvPr/>
        </p:nvSpPr>
        <p:spPr>
          <a:xfrm>
            <a:off x="4477294" y="4078877"/>
            <a:ext cx="1627632" cy="41148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lang="es-ES" sz="850">
                <a:solidFill>
                  <a:srgbClr val="4E9A3B"/>
                </a:solidFill>
                <a:latin typeface="Reddit Sans"/>
                <a:ea typeface="Reddit Sans"/>
              </a:rPr>
              <a:t>de soporte operativo a experto en el negocio del cliente.</a:t>
            </a:r>
          </a:p>
        </p:txBody>
      </p:sp>
      <p:sp>
        <p:nvSpPr>
          <p:cNvPr id="152" name="sh152"/>
          <p:cNvSpPr/>
          <p:nvPr/>
        </p:nvSpPr>
        <p:spPr>
          <a:xfrm>
            <a:off x="7031300" y="2903656"/>
            <a:ext cx="1709711" cy="1668344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5875">
            <a:solidFill>
              <a:srgbClr val="6AA84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54" name="tx154"/>
          <p:cNvSpPr txBox="1"/>
          <p:nvPr/>
        </p:nvSpPr>
        <p:spPr>
          <a:xfrm>
            <a:off x="7585165" y="3049526"/>
            <a:ext cx="1325881" cy="350083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950" b="1">
                <a:solidFill>
                  <a:srgbClr val="1F5FA6"/>
                </a:solidFill>
                <a:latin typeface="Reddit Sans"/>
                <a:ea typeface="Reddit Sans"/>
              </a:rPr>
              <a:t>KCS + IA</a:t>
            </a:r>
          </a:p>
        </p:txBody>
      </p:sp>
      <p:sp>
        <p:nvSpPr>
          <p:cNvPr id="155" name="tx155"/>
          <p:cNvSpPr txBox="1"/>
          <p:nvPr/>
        </p:nvSpPr>
        <p:spPr>
          <a:xfrm>
            <a:off x="7525293" y="3245250"/>
            <a:ext cx="1325881" cy="32091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50" b="1">
                <a:solidFill>
                  <a:srgbClr val="4E9A3B"/>
                </a:solidFill>
                <a:latin typeface="Reddit Sans"/>
                <a:ea typeface="Reddit Sans"/>
              </a:rPr>
              <a:t>Servicio Centrado en el conocimiento + IA</a:t>
            </a:r>
          </a:p>
        </p:txBody>
      </p:sp>
      <p:sp>
        <p:nvSpPr>
          <p:cNvPr id="156" name="sh156"/>
          <p:cNvSpPr/>
          <p:nvPr/>
        </p:nvSpPr>
        <p:spPr>
          <a:xfrm>
            <a:off x="7119474" y="3528278"/>
            <a:ext cx="122355" cy="144127"/>
          </a:xfrm>
          <a:prstGeom prst="ellipse">
            <a:avLst/>
          </a:prstGeom>
          <a:solidFill>
            <a:srgbClr val="6AA84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57" name="chk157"/>
          <p:cNvSpPr/>
          <p:nvPr/>
        </p:nvSpPr>
        <p:spPr>
          <a:xfrm>
            <a:off x="7142334" y="3578352"/>
            <a:ext cx="92964" cy="40278"/>
          </a:xfrm>
          <a:custGeom>
            <a:avLst/>
            <a:gdLst/>
            <a:ahLst/>
            <a:cxnLst/>
            <a:rect l="0" t="0" r="0" b="0"/>
            <a:pathLst>
              <a:path w="100" h="100">
                <a:moveTo>
                  <a:pt x="10" y="55"/>
                </a:moveTo>
                <a:lnTo>
                  <a:pt x="40" y="90"/>
                </a:lnTo>
                <a:lnTo>
                  <a:pt x="95" y="15"/>
                </a:lnTo>
              </a:path>
            </a:pathLst>
          </a:custGeom>
          <a:noFill/>
          <a:ln w="12700" cap="rnd">
            <a:solidFill>
              <a:srgbClr val="FFFFFF"/>
            </a:solidFill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58" name="tx158"/>
          <p:cNvSpPr txBox="1"/>
          <p:nvPr/>
        </p:nvSpPr>
        <p:spPr>
          <a:xfrm>
            <a:off x="7289509" y="3533287"/>
            <a:ext cx="1478498" cy="241226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3A4046"/>
                </a:solidFill>
                <a:latin typeface="Reddit Sans"/>
                <a:ea typeface="Reddit Sans"/>
              </a:rPr>
              <a:t>Entiende procesos y contexto del negocio</a:t>
            </a:r>
          </a:p>
        </p:txBody>
      </p:sp>
      <p:sp>
        <p:nvSpPr>
          <p:cNvPr id="159" name="sh159"/>
          <p:cNvSpPr/>
          <p:nvPr/>
        </p:nvSpPr>
        <p:spPr>
          <a:xfrm>
            <a:off x="7124917" y="3795196"/>
            <a:ext cx="122355" cy="144127"/>
          </a:xfrm>
          <a:prstGeom prst="ellipse">
            <a:avLst/>
          </a:prstGeom>
          <a:solidFill>
            <a:srgbClr val="6AA84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60" name="chk160"/>
          <p:cNvSpPr/>
          <p:nvPr/>
        </p:nvSpPr>
        <p:spPr>
          <a:xfrm>
            <a:off x="7147777" y="3845270"/>
            <a:ext cx="92964" cy="40278"/>
          </a:xfrm>
          <a:custGeom>
            <a:avLst/>
            <a:gdLst/>
            <a:ahLst/>
            <a:cxnLst/>
            <a:rect l="0" t="0" r="0" b="0"/>
            <a:pathLst>
              <a:path w="100" h="100">
                <a:moveTo>
                  <a:pt x="10" y="55"/>
                </a:moveTo>
                <a:lnTo>
                  <a:pt x="40" y="90"/>
                </a:lnTo>
                <a:lnTo>
                  <a:pt x="95" y="15"/>
                </a:lnTo>
              </a:path>
            </a:pathLst>
          </a:custGeom>
          <a:noFill/>
          <a:ln w="12700" cap="rnd">
            <a:solidFill>
              <a:srgbClr val="FFFFFF"/>
            </a:solidFill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161" name="tx161"/>
          <p:cNvSpPr txBox="1"/>
          <p:nvPr/>
        </p:nvSpPr>
        <p:spPr>
          <a:xfrm>
            <a:off x="7289509" y="3811090"/>
            <a:ext cx="1478498" cy="159583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3A4046"/>
                </a:solidFill>
                <a:latin typeface="Reddit Sans"/>
                <a:ea typeface="Reddit Sans"/>
              </a:rPr>
              <a:t>Aprende continuamente</a:t>
            </a:r>
          </a:p>
        </p:txBody>
      </p:sp>
      <p:sp>
        <p:nvSpPr>
          <p:cNvPr id="164" name="tx164"/>
          <p:cNvSpPr txBox="1"/>
          <p:nvPr/>
        </p:nvSpPr>
        <p:spPr>
          <a:xfrm>
            <a:off x="7289509" y="4023580"/>
            <a:ext cx="1478498" cy="126926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3A4046"/>
                </a:solidFill>
                <a:latin typeface="Reddit Sans"/>
                <a:ea typeface="Reddit Sans"/>
              </a:rPr>
              <a:t>Reduce dependencia de expertos</a:t>
            </a:r>
          </a:p>
        </p:txBody>
      </p:sp>
      <p:sp>
        <p:nvSpPr>
          <p:cNvPr id="167" name="tx167"/>
          <p:cNvSpPr txBox="1"/>
          <p:nvPr/>
        </p:nvSpPr>
        <p:spPr>
          <a:xfrm>
            <a:off x="7289509" y="4257839"/>
            <a:ext cx="1478498" cy="214012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3A4046"/>
                </a:solidFill>
                <a:latin typeface="Reddit Sans"/>
                <a:ea typeface="Reddit Sans"/>
              </a:rPr>
              <a:t>Genera insights que impulsan decisiones del negocio</a:t>
            </a:r>
          </a:p>
        </p:txBody>
      </p:sp>
      <p:sp>
        <p:nvSpPr>
          <p:cNvPr id="19" name="sh156">
            <a:extLst>
              <a:ext uri="{FF2B5EF4-FFF2-40B4-BE49-F238E27FC236}">
                <a16:creationId xmlns:a16="http://schemas.microsoft.com/office/drawing/2014/main" id="{67FC85B7-0471-BD57-0EEA-926B6D7E11AF}"/>
              </a:ext>
            </a:extLst>
          </p:cNvPr>
          <p:cNvSpPr/>
          <p:nvPr/>
        </p:nvSpPr>
        <p:spPr>
          <a:xfrm>
            <a:off x="7130360" y="4018135"/>
            <a:ext cx="122355" cy="144127"/>
          </a:xfrm>
          <a:prstGeom prst="ellipse">
            <a:avLst/>
          </a:prstGeom>
          <a:solidFill>
            <a:srgbClr val="6AA84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8" name="chk157">
            <a:extLst>
              <a:ext uri="{FF2B5EF4-FFF2-40B4-BE49-F238E27FC236}">
                <a16:creationId xmlns:a16="http://schemas.microsoft.com/office/drawing/2014/main" id="{CA5CD075-26E9-7525-F97B-27B4E6CC5599}"/>
              </a:ext>
            </a:extLst>
          </p:cNvPr>
          <p:cNvSpPr/>
          <p:nvPr/>
        </p:nvSpPr>
        <p:spPr>
          <a:xfrm>
            <a:off x="7153220" y="4068209"/>
            <a:ext cx="92964" cy="40278"/>
          </a:xfrm>
          <a:custGeom>
            <a:avLst/>
            <a:gdLst/>
            <a:ahLst/>
            <a:cxnLst/>
            <a:rect l="0" t="0" r="0" b="0"/>
            <a:pathLst>
              <a:path w="100" h="100">
                <a:moveTo>
                  <a:pt x="10" y="55"/>
                </a:moveTo>
                <a:lnTo>
                  <a:pt x="40" y="90"/>
                </a:lnTo>
                <a:lnTo>
                  <a:pt x="95" y="15"/>
                </a:lnTo>
              </a:path>
            </a:pathLst>
          </a:custGeom>
          <a:noFill/>
          <a:ln w="12700" cap="rnd">
            <a:solidFill>
              <a:srgbClr val="FFFFFF"/>
            </a:solidFill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9" name="sh156">
            <a:extLst>
              <a:ext uri="{FF2B5EF4-FFF2-40B4-BE49-F238E27FC236}">
                <a16:creationId xmlns:a16="http://schemas.microsoft.com/office/drawing/2014/main" id="{6878BAD3-69E3-D4B4-B264-E00658969181}"/>
              </a:ext>
            </a:extLst>
          </p:cNvPr>
          <p:cNvSpPr/>
          <p:nvPr/>
        </p:nvSpPr>
        <p:spPr>
          <a:xfrm>
            <a:off x="7135802" y="4263063"/>
            <a:ext cx="122355" cy="144127"/>
          </a:xfrm>
          <a:prstGeom prst="ellipse">
            <a:avLst/>
          </a:prstGeom>
          <a:solidFill>
            <a:srgbClr val="6AA84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2" name="chk157">
            <a:extLst>
              <a:ext uri="{FF2B5EF4-FFF2-40B4-BE49-F238E27FC236}">
                <a16:creationId xmlns:a16="http://schemas.microsoft.com/office/drawing/2014/main" id="{5D929F3B-7B25-48A0-1401-0F9689F8E439}"/>
              </a:ext>
            </a:extLst>
          </p:cNvPr>
          <p:cNvSpPr/>
          <p:nvPr/>
        </p:nvSpPr>
        <p:spPr>
          <a:xfrm>
            <a:off x="7158662" y="4313137"/>
            <a:ext cx="92964" cy="40278"/>
          </a:xfrm>
          <a:custGeom>
            <a:avLst/>
            <a:gdLst/>
            <a:ahLst/>
            <a:cxnLst/>
            <a:rect l="0" t="0" r="0" b="0"/>
            <a:pathLst>
              <a:path w="100" h="100">
                <a:moveTo>
                  <a:pt x="10" y="55"/>
                </a:moveTo>
                <a:lnTo>
                  <a:pt x="40" y="90"/>
                </a:lnTo>
                <a:lnTo>
                  <a:pt x="95" y="15"/>
                </a:lnTo>
              </a:path>
            </a:pathLst>
          </a:custGeom>
          <a:noFill/>
          <a:ln w="12700" cap="rnd">
            <a:solidFill>
              <a:srgbClr val="FFFFFF"/>
            </a:solidFill>
          </a:ln>
        </p:spPr>
        <p:txBody>
          <a:bodyPr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34" name="Título 1">
            <a:extLst>
              <a:ext uri="{FF2B5EF4-FFF2-40B4-BE49-F238E27FC236}">
                <a16:creationId xmlns:a16="http://schemas.microsoft.com/office/drawing/2014/main" id="{C56E2FE0-0F1A-F310-964C-B93592B0A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172" y="200392"/>
            <a:ext cx="4199614" cy="224358"/>
          </a:xfrm>
        </p:spPr>
        <p:txBody>
          <a:bodyPr>
            <a:normAutofit fontScale="90000"/>
          </a:bodyPr>
          <a:lstStyle/>
          <a:p>
            <a:r>
              <a:rPr lang="es-ES"/>
              <a:t>Evolución de las Mesas de Servicio</a:t>
            </a:r>
          </a:p>
        </p:txBody>
      </p:sp>
      <p:pic>
        <p:nvPicPr>
          <p:cNvPr id="36" name="Gráfico 35" descr="Cerebro izquierdo y derecho contorno">
            <a:extLst>
              <a:ext uri="{FF2B5EF4-FFF2-40B4-BE49-F238E27FC236}">
                <a16:creationId xmlns:a16="http://schemas.microsoft.com/office/drawing/2014/main" id="{9532999D-ADD0-70CE-B18B-F8759E9FE0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45235" y="808264"/>
            <a:ext cx="391887" cy="391887"/>
          </a:xfrm>
          <a:prstGeom prst="rect">
            <a:avLst/>
          </a:prstGeom>
        </p:spPr>
      </p:pic>
      <p:pic>
        <p:nvPicPr>
          <p:cNvPr id="37" name="Gráfico 36" descr="Cerebro izquierdo y derecho contorno">
            <a:extLst>
              <a:ext uri="{FF2B5EF4-FFF2-40B4-BE49-F238E27FC236}">
                <a16:creationId xmlns:a16="http://schemas.microsoft.com/office/drawing/2014/main" id="{111C11F9-F362-DA76-330D-395349C0C8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94763" y="3007178"/>
            <a:ext cx="391887" cy="391887"/>
          </a:xfrm>
          <a:prstGeom prst="rect">
            <a:avLst/>
          </a:prstGeom>
        </p:spPr>
      </p:pic>
      <p:pic>
        <p:nvPicPr>
          <p:cNvPr id="38" name="Gráfico 37" descr="Cerebro izquierdo y derecho contorno">
            <a:extLst>
              <a:ext uri="{FF2B5EF4-FFF2-40B4-BE49-F238E27FC236}">
                <a16:creationId xmlns:a16="http://schemas.microsoft.com/office/drawing/2014/main" id="{BDD95D7E-1F97-6F11-FEC3-910C232387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82042" y="3959679"/>
            <a:ext cx="266701" cy="266701"/>
          </a:xfrm>
          <a:prstGeom prst="rect">
            <a:avLst/>
          </a:prstGeom>
        </p:spPr>
      </p:pic>
      <p:sp>
        <p:nvSpPr>
          <p:cNvPr id="42" name="sh105">
            <a:extLst>
              <a:ext uri="{FF2B5EF4-FFF2-40B4-BE49-F238E27FC236}">
                <a16:creationId xmlns:a16="http://schemas.microsoft.com/office/drawing/2014/main" id="{F37F5088-1162-15C7-BE90-D6E46E9C99A9}"/>
              </a:ext>
            </a:extLst>
          </p:cNvPr>
          <p:cNvSpPr/>
          <p:nvPr/>
        </p:nvSpPr>
        <p:spPr>
          <a:xfrm>
            <a:off x="1058090" y="3998541"/>
            <a:ext cx="160020" cy="47898"/>
          </a:xfrm>
          <a:prstGeom prst="roundRect">
            <a:avLst>
              <a:gd name="adj" fmla="val 20000"/>
            </a:avLst>
          </a:prstGeom>
          <a:noFill/>
          <a:ln w="9525">
            <a:solidFill>
              <a:srgbClr val="1F3A5B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43" name="sh106">
            <a:extLst>
              <a:ext uri="{FF2B5EF4-FFF2-40B4-BE49-F238E27FC236}">
                <a16:creationId xmlns:a16="http://schemas.microsoft.com/office/drawing/2014/main" id="{9ED5DA7E-48A9-2DD6-2766-B56A15E5B616}"/>
              </a:ext>
            </a:extLst>
          </p:cNvPr>
          <p:cNvSpPr/>
          <p:nvPr/>
        </p:nvSpPr>
        <p:spPr>
          <a:xfrm>
            <a:off x="1058090" y="4059283"/>
            <a:ext cx="160020" cy="42455"/>
          </a:xfrm>
          <a:prstGeom prst="roundRect">
            <a:avLst>
              <a:gd name="adj" fmla="val 20000"/>
            </a:avLst>
          </a:prstGeom>
          <a:noFill/>
          <a:ln w="9525">
            <a:solidFill>
              <a:srgbClr val="1F3A5B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44" name="sh107">
            <a:extLst>
              <a:ext uri="{FF2B5EF4-FFF2-40B4-BE49-F238E27FC236}">
                <a16:creationId xmlns:a16="http://schemas.microsoft.com/office/drawing/2014/main" id="{E4C56738-86C2-D18A-E718-4C02C6A6A7F2}"/>
              </a:ext>
            </a:extLst>
          </p:cNvPr>
          <p:cNvSpPr/>
          <p:nvPr/>
        </p:nvSpPr>
        <p:spPr>
          <a:xfrm>
            <a:off x="1058090" y="4120025"/>
            <a:ext cx="160020" cy="42455"/>
          </a:xfrm>
          <a:prstGeom prst="roundRect">
            <a:avLst>
              <a:gd name="adj" fmla="val 20000"/>
            </a:avLst>
          </a:prstGeom>
          <a:noFill/>
          <a:ln w="9525">
            <a:solidFill>
              <a:srgbClr val="1F3A5B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45" name="sh111">
            <a:extLst>
              <a:ext uri="{FF2B5EF4-FFF2-40B4-BE49-F238E27FC236}">
                <a16:creationId xmlns:a16="http://schemas.microsoft.com/office/drawing/2014/main" id="{206352A0-CD8E-6A64-6B7A-DA9F38054DD7}"/>
              </a:ext>
            </a:extLst>
          </p:cNvPr>
          <p:cNvSpPr/>
          <p:nvPr/>
        </p:nvSpPr>
        <p:spPr>
          <a:xfrm>
            <a:off x="2193471" y="3996580"/>
            <a:ext cx="191154" cy="212926"/>
          </a:xfrm>
          <a:prstGeom prst="gear6">
            <a:avLst>
              <a:gd name="adj1" fmla="val 15000"/>
              <a:gd name="adj2" fmla="val 3000"/>
            </a:avLst>
          </a:prstGeom>
          <a:noFill/>
          <a:ln w="9525">
            <a:solidFill>
              <a:srgbClr val="2E7E85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pic>
        <p:nvPicPr>
          <p:cNvPr id="47" name="Gráfico 46" descr="Diana con relleno sólido">
            <a:extLst>
              <a:ext uri="{FF2B5EF4-FFF2-40B4-BE49-F238E27FC236}">
                <a16:creationId xmlns:a16="http://schemas.microsoft.com/office/drawing/2014/main" id="{994BC6AB-3A9E-A40D-1607-2813104FB1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42065" y="3524248"/>
            <a:ext cx="342902" cy="342902"/>
          </a:xfrm>
          <a:prstGeom prst="rect">
            <a:avLst/>
          </a:prstGeom>
        </p:spPr>
      </p:pic>
      <p:grpSp>
        <p:nvGrpSpPr>
          <p:cNvPr id="50" name="Grupo 49">
            <a:extLst>
              <a:ext uri="{FF2B5EF4-FFF2-40B4-BE49-F238E27FC236}">
                <a16:creationId xmlns:a16="http://schemas.microsoft.com/office/drawing/2014/main" id="{55C920BB-F812-1854-93FD-AEB99B45AEE6}"/>
              </a:ext>
            </a:extLst>
          </p:cNvPr>
          <p:cNvGrpSpPr/>
          <p:nvPr/>
        </p:nvGrpSpPr>
        <p:grpSpPr>
          <a:xfrm>
            <a:off x="882799" y="3528677"/>
            <a:ext cx="337458" cy="315688"/>
            <a:chOff x="180670" y="2821106"/>
            <a:chExt cx="435429" cy="408215"/>
          </a:xfrm>
        </p:grpSpPr>
        <p:sp>
          <p:nvSpPr>
            <p:cNvPr id="49" name="Elipse 48">
              <a:extLst>
                <a:ext uri="{FF2B5EF4-FFF2-40B4-BE49-F238E27FC236}">
                  <a16:creationId xmlns:a16="http://schemas.microsoft.com/office/drawing/2014/main" id="{06F0B3BA-0715-48B0-715F-7F094B2C4C98}"/>
                </a:ext>
              </a:extLst>
            </p:cNvPr>
            <p:cNvSpPr/>
            <p:nvPr/>
          </p:nvSpPr>
          <p:spPr>
            <a:xfrm>
              <a:off x="180670" y="2821106"/>
              <a:ext cx="435429" cy="408215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pic>
          <p:nvPicPr>
            <p:cNvPr id="48" name="Gráfico 47" descr="Usuarios contorno">
              <a:extLst>
                <a:ext uri="{FF2B5EF4-FFF2-40B4-BE49-F238E27FC236}">
                  <a16:creationId xmlns:a16="http://schemas.microsoft.com/office/drawing/2014/main" id="{5B3FD962-1B8A-5DFC-1929-1EFA44420C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39487" y="2838450"/>
              <a:ext cx="321132" cy="32113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70906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ADD985-EB77-52CC-5FEE-24D98A48B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700">
                <a:solidFill>
                  <a:srgbClr val="0C2362"/>
                </a:solidFill>
                <a:latin typeface="Arial"/>
                <a:cs typeface="Arial"/>
              </a:rPr>
              <a:t>Mesa </a:t>
            </a:r>
            <a:r>
              <a:rPr lang="en-US" sz="1700" err="1">
                <a:solidFill>
                  <a:srgbClr val="0C2362"/>
                </a:solidFill>
                <a:latin typeface="Arial"/>
                <a:cs typeface="Arial"/>
              </a:rPr>
              <a:t>tradicional</a:t>
            </a:r>
            <a:r>
              <a:rPr lang="en-US" sz="1700">
                <a:solidFill>
                  <a:srgbClr val="0C2362"/>
                </a:solidFill>
                <a:latin typeface="Arial"/>
                <a:cs typeface="Arial"/>
              </a:rPr>
              <a:t> vs. Mesa de Servicio </a:t>
            </a:r>
            <a:r>
              <a:rPr lang="es-ES" sz="1700">
                <a:solidFill>
                  <a:srgbClr val="0C2362"/>
                </a:solidFill>
                <a:latin typeface="Arial"/>
                <a:cs typeface="Arial"/>
              </a:rPr>
              <a:t>de Nueva Generación (Next Gen)</a:t>
            </a:r>
            <a:endParaRPr lang="en-US" sz="1700" b="0">
              <a:solidFill>
                <a:srgbClr val="000000"/>
              </a:solidFill>
              <a:latin typeface="Arial"/>
              <a:cs typeface="Arial"/>
            </a:endParaRPr>
          </a:p>
          <a:p>
            <a:endParaRPr lang="en-US" sz="1400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4A8EDFEC-ABB1-339E-CF7F-12CBE1723304}"/>
              </a:ext>
            </a:extLst>
          </p:cNvPr>
          <p:cNvSpPr/>
          <p:nvPr/>
        </p:nvSpPr>
        <p:spPr>
          <a:xfrm>
            <a:off x="320040" y="548640"/>
            <a:ext cx="77724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defTabSz="685800" fontAlgn="ctr">
              <a:lnSpc>
                <a:spcPts val="1693"/>
              </a:lnSpc>
              <a:spcBef>
                <a:spcPts val="650"/>
              </a:spcBef>
              <a:buFont typeface="Arial"/>
              <a:buNone/>
            </a:pP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6 Dimensiones de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diferenciación</a:t>
            </a:r>
            <a:endParaRPr lang="en-US" sz="1200" spc="-25">
              <a:solidFill>
                <a:srgbClr val="595959"/>
              </a:solidFill>
              <a:latin typeface="Reddit Sans"/>
              <a:ea typeface="Reddit Sans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3109FC51-DF2B-0E7E-4D02-78993490CFFB}"/>
              </a:ext>
            </a:extLst>
          </p:cNvPr>
          <p:cNvSpPr/>
          <p:nvPr/>
        </p:nvSpPr>
        <p:spPr>
          <a:xfrm>
            <a:off x="398760" y="947604"/>
            <a:ext cx="8346479" cy="347472"/>
          </a:xfrm>
          <a:prstGeom prst="rect">
            <a:avLst/>
          </a:prstGeom>
          <a:solidFill>
            <a:srgbClr val="0D1B5E"/>
          </a:solidFill>
          <a:ln w="12700">
            <a:solidFill>
              <a:srgbClr val="0D1B5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43585282-FF2C-8FA3-AC54-194A315BD2F9}"/>
              </a:ext>
            </a:extLst>
          </p:cNvPr>
          <p:cNvSpPr/>
          <p:nvPr/>
        </p:nvSpPr>
        <p:spPr>
          <a:xfrm>
            <a:off x="432642" y="965892"/>
            <a:ext cx="2243677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Dimension</a:t>
            </a:r>
            <a:endParaRPr lang="en-US" sz="11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E094428-9C97-2FEC-65D9-3C6DEDA633A8}"/>
              </a:ext>
            </a:extLst>
          </p:cNvPr>
          <p:cNvSpPr/>
          <p:nvPr/>
        </p:nvSpPr>
        <p:spPr>
          <a:xfrm>
            <a:off x="2724990" y="965892"/>
            <a:ext cx="29167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FB8B8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Mesa Tradicional (N1-N2)</a:t>
            </a:r>
            <a:endParaRPr lang="en-US" sz="11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04B5BF16-3054-7DF5-D8B3-DB1940518EDF}"/>
              </a:ext>
            </a:extLst>
          </p:cNvPr>
          <p:cNvSpPr/>
          <p:nvPr/>
        </p:nvSpPr>
        <p:spPr>
          <a:xfrm>
            <a:off x="5716348" y="965892"/>
            <a:ext cx="3051401" cy="31089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100" b="1">
                <a:solidFill>
                  <a:srgbClr val="B8FFD8"/>
                </a:solidFill>
                <a:latin typeface="Reddit Sans"/>
                <a:ea typeface="Reddit Sans"/>
                <a:cs typeface="Calibri"/>
              </a:rPr>
              <a:t>Mesa Nueva Generación (N3-N5)</a:t>
            </a:r>
            <a:endParaRPr lang="en-US" sz="1100">
              <a:latin typeface="Reddit Sans"/>
              <a:ea typeface="Reddit Sans"/>
              <a:cs typeface="Calibri"/>
            </a:endParaRPr>
          </a:p>
        </p:txBody>
      </p:sp>
      <p:sp>
        <p:nvSpPr>
          <p:cNvPr id="9" name="Shape 8">
            <a:extLst>
              <a:ext uri="{FF2B5EF4-FFF2-40B4-BE49-F238E27FC236}">
                <a16:creationId xmlns:a16="http://schemas.microsoft.com/office/drawing/2014/main" id="{89F1B814-0040-BE23-53BB-35B3EF14F7C6}"/>
              </a:ext>
            </a:extLst>
          </p:cNvPr>
          <p:cNvSpPr/>
          <p:nvPr/>
        </p:nvSpPr>
        <p:spPr>
          <a:xfrm>
            <a:off x="398760" y="1313364"/>
            <a:ext cx="8346479" cy="489990"/>
          </a:xfrm>
          <a:prstGeom prst="rect">
            <a:avLst/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214E09C8-14C8-3692-5B7B-E891CA35EC5B}"/>
              </a:ext>
            </a:extLst>
          </p:cNvPr>
          <p:cNvSpPr/>
          <p:nvPr/>
        </p:nvSpPr>
        <p:spPr>
          <a:xfrm>
            <a:off x="432218" y="1368228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Modelo </a:t>
            </a:r>
            <a:r>
              <a:rPr lang="es-CO"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operativo</a:t>
            </a:r>
            <a:endParaRPr lang="es-CO" sz="1100">
              <a:latin typeface="Reddit Sans"/>
              <a:ea typeface="Reddit Sans"/>
              <a:cs typeface="Calibri"/>
            </a:endParaRPr>
          </a:p>
        </p:txBody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BAC25C4D-EF1C-2646-6721-47B11C137BD0}"/>
              </a:ext>
            </a:extLst>
          </p:cNvPr>
          <p:cNvSpPr/>
          <p:nvPr/>
        </p:nvSpPr>
        <p:spPr>
          <a:xfrm>
            <a:off x="2680546" y="1496244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3252FAD6-1D31-B738-BF93-CD6665A6B594}"/>
              </a:ext>
            </a:extLst>
          </p:cNvPr>
          <p:cNvSpPr/>
          <p:nvPr/>
        </p:nvSpPr>
        <p:spPr>
          <a:xfrm>
            <a:off x="2896610" y="1368228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Reactivo · escalado manual N1/N2/N3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3" name="Shape 12">
            <a:extLst>
              <a:ext uri="{FF2B5EF4-FFF2-40B4-BE49-F238E27FC236}">
                <a16:creationId xmlns:a16="http://schemas.microsoft.com/office/drawing/2014/main" id="{AB1CEBCD-7A6F-0063-BD97-9EB82C4C527C}"/>
              </a:ext>
            </a:extLst>
          </p:cNvPr>
          <p:cNvSpPr/>
          <p:nvPr/>
        </p:nvSpPr>
        <p:spPr>
          <a:xfrm>
            <a:off x="5688922" y="1496244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69ACAE32-59DB-CC33-29DA-C8E1117C2B0F}"/>
              </a:ext>
            </a:extLst>
          </p:cNvPr>
          <p:cNvSpPr/>
          <p:nvPr/>
        </p:nvSpPr>
        <p:spPr>
          <a:xfrm>
            <a:off x="5906171" y="1368228"/>
            <a:ext cx="2818058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1B7B85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N0-N5 · shift-left inteligente · escalado automatico IA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5" name="Shape 14">
            <a:extLst>
              <a:ext uri="{FF2B5EF4-FFF2-40B4-BE49-F238E27FC236}">
                <a16:creationId xmlns:a16="http://schemas.microsoft.com/office/drawing/2014/main" id="{96C82E92-7B6C-1342-D2F9-CFEDAE8EDC5F}"/>
              </a:ext>
            </a:extLst>
          </p:cNvPr>
          <p:cNvSpPr/>
          <p:nvPr/>
        </p:nvSpPr>
        <p:spPr>
          <a:xfrm>
            <a:off x="398760" y="1880292"/>
            <a:ext cx="8346479" cy="48999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EBEF1F1E-81E8-0B80-0E39-669A46668C89}"/>
              </a:ext>
            </a:extLst>
          </p:cNvPr>
          <p:cNvSpPr/>
          <p:nvPr/>
        </p:nvSpPr>
        <p:spPr>
          <a:xfrm>
            <a:off x="432218" y="1935156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CO"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Inteligencia</a:t>
            </a:r>
            <a:endParaRPr lang="es-CO" sz="1100">
              <a:latin typeface="Reddit Sans"/>
              <a:ea typeface="Reddit Sans"/>
              <a:cs typeface="Calibri"/>
            </a:endParaRP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56C96019-A556-2BE6-774A-6511D9E21F67}"/>
              </a:ext>
            </a:extLst>
          </p:cNvPr>
          <p:cNvSpPr/>
          <p:nvPr/>
        </p:nvSpPr>
        <p:spPr>
          <a:xfrm>
            <a:off x="2680546" y="2063172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C3CE596E-6836-5764-442A-4C80D163FDCA}"/>
              </a:ext>
            </a:extLst>
          </p:cNvPr>
          <p:cNvSpPr/>
          <p:nvPr/>
        </p:nvSpPr>
        <p:spPr>
          <a:xfrm>
            <a:off x="2896610" y="1935156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Scripts de troubleshooting · FAQs estaticas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9" name="Shape 18">
            <a:extLst>
              <a:ext uri="{FF2B5EF4-FFF2-40B4-BE49-F238E27FC236}">
                <a16:creationId xmlns:a16="http://schemas.microsoft.com/office/drawing/2014/main" id="{485D8DC4-88DC-7170-39D7-4E0709A595CE}"/>
              </a:ext>
            </a:extLst>
          </p:cNvPr>
          <p:cNvSpPr/>
          <p:nvPr/>
        </p:nvSpPr>
        <p:spPr>
          <a:xfrm>
            <a:off x="5688922" y="2063172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 19">
            <a:extLst>
              <a:ext uri="{FF2B5EF4-FFF2-40B4-BE49-F238E27FC236}">
                <a16:creationId xmlns:a16="http://schemas.microsoft.com/office/drawing/2014/main" id="{B93BAFCB-8B94-5B1F-5A88-353060832C48}"/>
              </a:ext>
            </a:extLst>
          </p:cNvPr>
          <p:cNvSpPr/>
          <p:nvPr/>
        </p:nvSpPr>
        <p:spPr>
          <a:xfrm>
            <a:off x="5906171" y="1935156"/>
            <a:ext cx="2839830" cy="43009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Virtual agent GenAI ·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agentes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autonomos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· </a:t>
            </a:r>
            <a:r>
              <a:rPr lang="en-US" sz="1000" b="1" u="sng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KCS 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(Servicio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Centrado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en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el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conocimiento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)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+IA</a:t>
            </a:r>
            <a:endParaRPr lang="en-US" sz="1000">
              <a:latin typeface="Reddit Sans"/>
              <a:ea typeface="Reddit Sans"/>
              <a:cs typeface="Calibri"/>
            </a:endParaRPr>
          </a:p>
        </p:txBody>
      </p:sp>
      <p:sp>
        <p:nvSpPr>
          <p:cNvPr id="21" name="Shape 20">
            <a:extLst>
              <a:ext uri="{FF2B5EF4-FFF2-40B4-BE49-F238E27FC236}">
                <a16:creationId xmlns:a16="http://schemas.microsoft.com/office/drawing/2014/main" id="{72C76E2F-B967-F164-6ED9-76FA39CDCE0B}"/>
              </a:ext>
            </a:extLst>
          </p:cNvPr>
          <p:cNvSpPr/>
          <p:nvPr/>
        </p:nvSpPr>
        <p:spPr>
          <a:xfrm>
            <a:off x="398760" y="2447220"/>
            <a:ext cx="8346479" cy="489990"/>
          </a:xfrm>
          <a:prstGeom prst="rect">
            <a:avLst/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Text 21">
            <a:extLst>
              <a:ext uri="{FF2B5EF4-FFF2-40B4-BE49-F238E27FC236}">
                <a16:creationId xmlns:a16="http://schemas.microsoft.com/office/drawing/2014/main" id="{76A5ED8D-F317-D382-F720-AD103799E8C2}"/>
              </a:ext>
            </a:extLst>
          </p:cNvPr>
          <p:cNvSpPr/>
          <p:nvPr/>
        </p:nvSpPr>
        <p:spPr>
          <a:xfrm>
            <a:off x="432218" y="2502084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Automatización</a:t>
            </a:r>
            <a:endParaRPr lang="en-US" sz="1100" err="1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3" name="Shape 22">
            <a:extLst>
              <a:ext uri="{FF2B5EF4-FFF2-40B4-BE49-F238E27FC236}">
                <a16:creationId xmlns:a16="http://schemas.microsoft.com/office/drawing/2014/main" id="{A38DA586-75FF-0B0C-D26D-35C038E1ECB0}"/>
              </a:ext>
            </a:extLst>
          </p:cNvPr>
          <p:cNvSpPr/>
          <p:nvPr/>
        </p:nvSpPr>
        <p:spPr>
          <a:xfrm>
            <a:off x="2680546" y="2630100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 23">
            <a:extLst>
              <a:ext uri="{FF2B5EF4-FFF2-40B4-BE49-F238E27FC236}">
                <a16:creationId xmlns:a16="http://schemas.microsoft.com/office/drawing/2014/main" id="{4B2DA6CB-64A1-A8AD-18F5-FC1A041368B1}"/>
              </a:ext>
            </a:extLst>
          </p:cNvPr>
          <p:cNvSpPr/>
          <p:nvPr/>
        </p:nvSpPr>
        <p:spPr>
          <a:xfrm>
            <a:off x="2896610" y="2502084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Workflows basicos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5" name="Shape 24">
            <a:extLst>
              <a:ext uri="{FF2B5EF4-FFF2-40B4-BE49-F238E27FC236}">
                <a16:creationId xmlns:a16="http://schemas.microsoft.com/office/drawing/2014/main" id="{62EC9F9F-4C5E-A75F-3945-D5C09A985936}"/>
              </a:ext>
            </a:extLst>
          </p:cNvPr>
          <p:cNvSpPr/>
          <p:nvPr/>
        </p:nvSpPr>
        <p:spPr>
          <a:xfrm>
            <a:off x="5688922" y="2630100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 25">
            <a:extLst>
              <a:ext uri="{FF2B5EF4-FFF2-40B4-BE49-F238E27FC236}">
                <a16:creationId xmlns:a16="http://schemas.microsoft.com/office/drawing/2014/main" id="{414BD5C7-EBD6-8EA4-0C44-3D37497CE43A}"/>
              </a:ext>
            </a:extLst>
          </p:cNvPr>
          <p:cNvSpPr/>
          <p:nvPr/>
        </p:nvSpPr>
        <p:spPr>
          <a:xfrm>
            <a:off x="5906171" y="2502084"/>
            <a:ext cx="2818058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Self-healing · auto-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remediacion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· &gt;40%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defleccion</a:t>
            </a:r>
            <a:endParaRPr lang="en-US" sz="1000">
              <a:latin typeface="Reddit Sans"/>
              <a:ea typeface="Reddit Sans"/>
              <a:cs typeface="Calibri"/>
            </a:endParaRPr>
          </a:p>
        </p:txBody>
      </p:sp>
      <p:sp>
        <p:nvSpPr>
          <p:cNvPr id="27" name="Shape 26">
            <a:extLst>
              <a:ext uri="{FF2B5EF4-FFF2-40B4-BE49-F238E27FC236}">
                <a16:creationId xmlns:a16="http://schemas.microsoft.com/office/drawing/2014/main" id="{CCC4E44B-ABFE-9A6D-56B0-BD4DDDB91B8D}"/>
              </a:ext>
            </a:extLst>
          </p:cNvPr>
          <p:cNvSpPr/>
          <p:nvPr/>
        </p:nvSpPr>
        <p:spPr>
          <a:xfrm>
            <a:off x="398760" y="3014148"/>
            <a:ext cx="8346479" cy="48999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8" name="Text 27">
            <a:extLst>
              <a:ext uri="{FF2B5EF4-FFF2-40B4-BE49-F238E27FC236}">
                <a16:creationId xmlns:a16="http://schemas.microsoft.com/office/drawing/2014/main" id="{CFE0FC96-7D40-0AEA-4705-1D8EEFA26D26}"/>
              </a:ext>
            </a:extLst>
          </p:cNvPr>
          <p:cNvSpPr/>
          <p:nvPr/>
        </p:nvSpPr>
        <p:spPr>
          <a:xfrm>
            <a:off x="432218" y="3069012"/>
            <a:ext cx="2198804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Observabilidad</a:t>
            </a:r>
            <a:endParaRPr lang="en-US" sz="11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29" name="Shape 28">
            <a:extLst>
              <a:ext uri="{FF2B5EF4-FFF2-40B4-BE49-F238E27FC236}">
                <a16:creationId xmlns:a16="http://schemas.microsoft.com/office/drawing/2014/main" id="{8E643936-ADB4-18AC-DC7D-F6499124833C}"/>
              </a:ext>
            </a:extLst>
          </p:cNvPr>
          <p:cNvSpPr/>
          <p:nvPr/>
        </p:nvSpPr>
        <p:spPr>
          <a:xfrm>
            <a:off x="2680546" y="3197028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0" name="Text 29">
            <a:extLst>
              <a:ext uri="{FF2B5EF4-FFF2-40B4-BE49-F238E27FC236}">
                <a16:creationId xmlns:a16="http://schemas.microsoft.com/office/drawing/2014/main" id="{725C4751-01D4-056A-A00A-938223D13D49}"/>
              </a:ext>
            </a:extLst>
          </p:cNvPr>
          <p:cNvSpPr/>
          <p:nvPr/>
        </p:nvSpPr>
        <p:spPr>
          <a:xfrm>
            <a:off x="2896610" y="3069012"/>
            <a:ext cx="2692412" cy="391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1A2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Monitoreo reactivo de alertas</a:t>
            </a:r>
            <a:endParaRPr lang="en-US" sz="10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1" name="Shape 30">
            <a:extLst>
              <a:ext uri="{FF2B5EF4-FFF2-40B4-BE49-F238E27FC236}">
                <a16:creationId xmlns:a16="http://schemas.microsoft.com/office/drawing/2014/main" id="{13393221-1582-2197-8E3A-0A0C7C255255}"/>
              </a:ext>
            </a:extLst>
          </p:cNvPr>
          <p:cNvSpPr/>
          <p:nvPr/>
        </p:nvSpPr>
        <p:spPr>
          <a:xfrm>
            <a:off x="5688922" y="3197028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Text 31">
            <a:extLst>
              <a:ext uri="{FF2B5EF4-FFF2-40B4-BE49-F238E27FC236}">
                <a16:creationId xmlns:a16="http://schemas.microsoft.com/office/drawing/2014/main" id="{5ED97B59-AC99-C7E3-7A0A-21894D60C312}"/>
              </a:ext>
            </a:extLst>
          </p:cNvPr>
          <p:cNvSpPr/>
          <p:nvPr/>
        </p:nvSpPr>
        <p:spPr>
          <a:xfrm>
            <a:off x="5906171" y="3069012"/>
            <a:ext cx="2818058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AIOps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predictivo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/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simulación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/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optimización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 ·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prevencion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P1 ·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correlacion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causa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raiz</a:t>
            </a:r>
            <a:endParaRPr lang="en-US" sz="1000" err="1">
              <a:latin typeface="Reddit Sans"/>
              <a:ea typeface="Reddit Sans"/>
              <a:cs typeface="Calibri"/>
            </a:endParaRPr>
          </a:p>
        </p:txBody>
      </p:sp>
      <p:sp>
        <p:nvSpPr>
          <p:cNvPr id="33" name="Shape 32">
            <a:extLst>
              <a:ext uri="{FF2B5EF4-FFF2-40B4-BE49-F238E27FC236}">
                <a16:creationId xmlns:a16="http://schemas.microsoft.com/office/drawing/2014/main" id="{958AF314-F533-6648-AB95-D2DA83323FA1}"/>
              </a:ext>
            </a:extLst>
          </p:cNvPr>
          <p:cNvSpPr/>
          <p:nvPr/>
        </p:nvSpPr>
        <p:spPr>
          <a:xfrm>
            <a:off x="398760" y="3581076"/>
            <a:ext cx="8346479" cy="489990"/>
          </a:xfrm>
          <a:prstGeom prst="rect">
            <a:avLst/>
          </a:prstGeom>
          <a:solidFill>
            <a:srgbClr val="F5F7FC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 33">
            <a:extLst>
              <a:ext uri="{FF2B5EF4-FFF2-40B4-BE49-F238E27FC236}">
                <a16:creationId xmlns:a16="http://schemas.microsoft.com/office/drawing/2014/main" id="{EDC48C0F-2569-9193-E804-DDFAC21A9BE5}"/>
              </a:ext>
            </a:extLst>
          </p:cNvPr>
          <p:cNvSpPr/>
          <p:nvPr/>
        </p:nvSpPr>
        <p:spPr>
          <a:xfrm>
            <a:off x="432218" y="3635940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Medición</a:t>
            </a:r>
            <a:r>
              <a:rPr lang="en-US" sz="1100" b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 de valor</a:t>
            </a:r>
            <a:endParaRPr lang="en-US" sz="1100">
              <a:latin typeface="Reddit Sans"/>
              <a:ea typeface="Reddit Sans"/>
              <a:cs typeface="Calibri"/>
            </a:endParaRPr>
          </a:p>
        </p:txBody>
      </p:sp>
      <p:sp>
        <p:nvSpPr>
          <p:cNvPr id="35" name="Shape 34">
            <a:extLst>
              <a:ext uri="{FF2B5EF4-FFF2-40B4-BE49-F238E27FC236}">
                <a16:creationId xmlns:a16="http://schemas.microsoft.com/office/drawing/2014/main" id="{AD8D5078-66D6-3EDE-2B9E-792A3936CD56}"/>
              </a:ext>
            </a:extLst>
          </p:cNvPr>
          <p:cNvSpPr/>
          <p:nvPr/>
        </p:nvSpPr>
        <p:spPr>
          <a:xfrm>
            <a:off x="2680546" y="3763956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35">
            <a:extLst>
              <a:ext uri="{FF2B5EF4-FFF2-40B4-BE49-F238E27FC236}">
                <a16:creationId xmlns:a16="http://schemas.microsoft.com/office/drawing/2014/main" id="{D7E2076C-25D6-7D82-5D39-5909F60722C9}"/>
              </a:ext>
            </a:extLst>
          </p:cNvPr>
          <p:cNvSpPr/>
          <p:nvPr/>
        </p:nvSpPr>
        <p:spPr>
          <a:xfrm>
            <a:off x="2896610" y="3635940"/>
            <a:ext cx="2692412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SLA / OLA / UC de </a:t>
            </a:r>
            <a:r>
              <a:rPr lang="en-US" sz="100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cumplimiento</a:t>
            </a:r>
            <a:endParaRPr lang="en-US" sz="1000" err="1">
              <a:latin typeface="Reddit Sans"/>
              <a:ea typeface="Reddit Sans"/>
              <a:cs typeface="Calibri"/>
            </a:endParaRPr>
          </a:p>
        </p:txBody>
      </p:sp>
      <p:sp>
        <p:nvSpPr>
          <p:cNvPr id="37" name="Shape 36">
            <a:extLst>
              <a:ext uri="{FF2B5EF4-FFF2-40B4-BE49-F238E27FC236}">
                <a16:creationId xmlns:a16="http://schemas.microsoft.com/office/drawing/2014/main" id="{2C9F1672-C41E-1D59-F96B-6F6BB17D1E2D}"/>
              </a:ext>
            </a:extLst>
          </p:cNvPr>
          <p:cNvSpPr/>
          <p:nvPr/>
        </p:nvSpPr>
        <p:spPr>
          <a:xfrm>
            <a:off x="5688922" y="3763956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8" name="Text 37">
            <a:extLst>
              <a:ext uri="{FF2B5EF4-FFF2-40B4-BE49-F238E27FC236}">
                <a16:creationId xmlns:a16="http://schemas.microsoft.com/office/drawing/2014/main" id="{95B74998-D0F7-1D97-19F5-461413793564}"/>
              </a:ext>
            </a:extLst>
          </p:cNvPr>
          <p:cNvSpPr/>
          <p:nvPr/>
        </p:nvSpPr>
        <p:spPr>
          <a:xfrm>
            <a:off x="5906171" y="3635942"/>
            <a:ext cx="2643886" cy="391989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SLA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(</a:t>
            </a:r>
            <a:r>
              <a:rPr lang="en-US" sz="7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Acuerdo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de Nivel de Servicio)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+ XLA 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(</a:t>
            </a:r>
            <a:r>
              <a:rPr lang="en-US" sz="7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Acuerdo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de Nivel de </a:t>
            </a:r>
            <a:r>
              <a:rPr lang="en-US" sz="7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Experiencia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) 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+ DEX 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(</a:t>
            </a:r>
            <a:r>
              <a:rPr lang="en-US" sz="7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Experiencia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Digital del </a:t>
            </a:r>
            <a:r>
              <a:rPr lang="en-US" sz="7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Empleado</a:t>
            </a:r>
            <a:r>
              <a:rPr lang="en-US" sz="7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) 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+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impacto</a:t>
            </a:r>
            <a:r>
              <a:rPr lang="en-US" sz="10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0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economico</a:t>
            </a:r>
            <a:endParaRPr lang="en-US" sz="1000" b="1">
              <a:solidFill>
                <a:srgbClr val="1B7B85"/>
              </a:solidFill>
              <a:latin typeface="Reddit Sans"/>
              <a:ea typeface="Reddit Sans"/>
              <a:cs typeface="Calibri"/>
            </a:endParaRPr>
          </a:p>
        </p:txBody>
      </p:sp>
      <p:sp>
        <p:nvSpPr>
          <p:cNvPr id="39" name="Shape 38">
            <a:extLst>
              <a:ext uri="{FF2B5EF4-FFF2-40B4-BE49-F238E27FC236}">
                <a16:creationId xmlns:a16="http://schemas.microsoft.com/office/drawing/2014/main" id="{FF25A429-6E0D-E1CC-AEA9-FE3274389E01}"/>
              </a:ext>
            </a:extLst>
          </p:cNvPr>
          <p:cNvSpPr/>
          <p:nvPr/>
        </p:nvSpPr>
        <p:spPr>
          <a:xfrm>
            <a:off x="398760" y="4148004"/>
            <a:ext cx="8346479" cy="48999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0" name="Text 39">
            <a:extLst>
              <a:ext uri="{FF2B5EF4-FFF2-40B4-BE49-F238E27FC236}">
                <a16:creationId xmlns:a16="http://schemas.microsoft.com/office/drawing/2014/main" id="{C1D8BD44-FDC0-B67A-89E7-EB1DD3D5541D}"/>
              </a:ext>
            </a:extLst>
          </p:cNvPr>
          <p:cNvSpPr/>
          <p:nvPr/>
        </p:nvSpPr>
        <p:spPr>
          <a:xfrm>
            <a:off x="432218" y="4202868"/>
            <a:ext cx="2198804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rgbClr val="0D1B5E"/>
                </a:solidFill>
                <a:latin typeface="Reddit Sans"/>
                <a:ea typeface="Reddit Sans"/>
                <a:cs typeface="Calibri"/>
              </a:rPr>
              <a:t>Evolución</a:t>
            </a:r>
            <a:endParaRPr lang="en-US" sz="1100" err="1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1" name="Shape 40">
            <a:extLst>
              <a:ext uri="{FF2B5EF4-FFF2-40B4-BE49-F238E27FC236}">
                <a16:creationId xmlns:a16="http://schemas.microsoft.com/office/drawing/2014/main" id="{5B56FC32-C361-5EB7-FC08-0A35299777FB}"/>
              </a:ext>
            </a:extLst>
          </p:cNvPr>
          <p:cNvSpPr/>
          <p:nvPr/>
        </p:nvSpPr>
        <p:spPr>
          <a:xfrm>
            <a:off x="2680546" y="4330884"/>
            <a:ext cx="143596" cy="1306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2" name="Text 41">
            <a:extLst>
              <a:ext uri="{FF2B5EF4-FFF2-40B4-BE49-F238E27FC236}">
                <a16:creationId xmlns:a16="http://schemas.microsoft.com/office/drawing/2014/main" id="{9C685756-3D5A-DDBC-4681-52D0206F6233}"/>
              </a:ext>
            </a:extLst>
          </p:cNvPr>
          <p:cNvSpPr/>
          <p:nvPr/>
        </p:nvSpPr>
        <p:spPr>
          <a:xfrm>
            <a:off x="2896610" y="4202868"/>
            <a:ext cx="2692412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s-CO" sz="100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Estatico</a:t>
            </a:r>
            <a:r>
              <a:rPr lang="en-US" sz="100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 · </a:t>
            </a:r>
            <a:r>
              <a:rPr lang="en-US" sz="100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cambios</a:t>
            </a:r>
            <a:r>
              <a:rPr lang="en-US" sz="1000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000" err="1">
                <a:solidFill>
                  <a:srgbClr val="1A1A2E"/>
                </a:solidFill>
                <a:latin typeface="Reddit Sans"/>
                <a:ea typeface="Reddit Sans"/>
                <a:cs typeface="Calibri"/>
              </a:rPr>
              <a:t>reactivos</a:t>
            </a:r>
            <a:endParaRPr lang="en-US" sz="1000" err="1">
              <a:latin typeface="Reddit Sans"/>
              <a:ea typeface="Reddit Sans"/>
              <a:cs typeface="Calibri"/>
            </a:endParaRPr>
          </a:p>
        </p:txBody>
      </p:sp>
      <p:sp>
        <p:nvSpPr>
          <p:cNvPr id="43" name="Shape 42">
            <a:extLst>
              <a:ext uri="{FF2B5EF4-FFF2-40B4-BE49-F238E27FC236}">
                <a16:creationId xmlns:a16="http://schemas.microsoft.com/office/drawing/2014/main" id="{4CDD1506-C3BD-C2CF-7127-6A709B9B853E}"/>
              </a:ext>
            </a:extLst>
          </p:cNvPr>
          <p:cNvSpPr/>
          <p:nvPr/>
        </p:nvSpPr>
        <p:spPr>
          <a:xfrm>
            <a:off x="5688922" y="4330884"/>
            <a:ext cx="143596" cy="130664"/>
          </a:xfrm>
          <a:prstGeom prst="rect">
            <a:avLst/>
          </a:prstGeom>
          <a:solidFill>
            <a:srgbClr val="1E7B4B"/>
          </a:solidFill>
          <a:ln w="12700">
            <a:solidFill>
              <a:srgbClr val="1E7B4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4" name="Text 43">
            <a:extLst>
              <a:ext uri="{FF2B5EF4-FFF2-40B4-BE49-F238E27FC236}">
                <a16:creationId xmlns:a16="http://schemas.microsoft.com/office/drawing/2014/main" id="{C937FD0D-D971-01FD-0A8D-3B8C2D0EDFBE}"/>
              </a:ext>
            </a:extLst>
          </p:cNvPr>
          <p:cNvSpPr/>
          <p:nvPr/>
        </p:nvSpPr>
        <p:spPr>
          <a:xfrm>
            <a:off x="5906171" y="4202868"/>
            <a:ext cx="2818058" cy="39199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Roadmap vivo ·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mejora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continua · backlog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priorizado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 · Como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impacto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al 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negocio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/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mejora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de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procesos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. Insights de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impacto</a:t>
            </a:r>
            <a:r>
              <a:rPr lang="en-US" sz="900" b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 al </a:t>
            </a:r>
            <a:r>
              <a:rPr lang="en-US" sz="900" b="1" err="1">
                <a:solidFill>
                  <a:srgbClr val="1B7B85"/>
                </a:solidFill>
                <a:latin typeface="Reddit Sans"/>
                <a:ea typeface="Reddit Sans"/>
                <a:cs typeface="Calibri"/>
              </a:rPr>
              <a:t>negocio</a:t>
            </a:r>
            <a:endParaRPr lang="en-US" sz="900" err="1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3" name="src">
            <a:extLst>
              <a:ext uri="{FF2B5EF4-FFF2-40B4-BE49-F238E27FC236}">
                <a16:creationId xmlns:a16="http://schemas.microsoft.com/office/drawing/2014/main" id="{7059F8EC-A143-4406-D482-0C43B83E8332}"/>
              </a:ext>
            </a:extLst>
          </p:cNvPr>
          <p:cNvSpPr txBox="1">
            <a:spLocks noGrp="1"/>
          </p:cNvSpPr>
          <p:nvPr/>
        </p:nvSpPr>
        <p:spPr>
          <a:xfrm>
            <a:off x="396240" y="4750743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00">
                <a:solidFill>
                  <a:srgbClr val="6B7280"/>
                </a:solidFill>
                <a:latin typeface="Reddit Sans"/>
                <a:ea typeface="Reddit Sans"/>
              </a:rPr>
              <a:t>Fuente: </a:t>
            </a:r>
            <a:r>
              <a:rPr lang="es-ES" sz="700" u="sng">
                <a:solidFill>
                  <a:srgbClr val="1A3A8F"/>
                </a:solidFill>
                <a:latin typeface="Reddit Sans"/>
                <a:ea typeface="Reddit Sans"/>
                <a:hlinkClick r:id="rId3"/>
              </a:rPr>
              <a:t>Freshservice ITSM Benchmark</a:t>
            </a:r>
            <a:r>
              <a:rPr lang="es-ES" sz="700">
                <a:solidFill>
                  <a:srgbClr val="6B7280"/>
                </a:solidFill>
                <a:latin typeface="Reddit Sans"/>
                <a:ea typeface="Reddit Sans"/>
              </a:rPr>
              <a:t>  ·  </a:t>
            </a:r>
            <a:r>
              <a:rPr lang="es-ES" sz="700" u="sng">
                <a:solidFill>
                  <a:srgbClr val="1A3A8F"/>
                </a:solidFill>
                <a:latin typeface="Reddit Sans"/>
                <a:ea typeface="Reddit Sans"/>
                <a:hlinkClick r:id="rId4"/>
              </a:rPr>
              <a:t>Gartner AI in ITSM</a:t>
            </a:r>
            <a:endParaRPr lang="es-ES" sz="700" u="sng">
              <a:solidFill>
                <a:srgbClr val="1A3A8F"/>
              </a:solidFill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38965835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8E7AC-A877-100C-D184-3405C85DF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">
            <a:extLst>
              <a:ext uri="{FF2B5EF4-FFF2-40B4-BE49-F238E27FC236}">
                <a16:creationId xmlns:a16="http://schemas.microsoft.com/office/drawing/2014/main" id="{B332CDAF-C216-D4CD-E3F9-68893A9AD044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650" b="1">
                <a:solidFill>
                  <a:srgbClr val="0C2362"/>
                </a:solidFill>
              </a:defRPr>
            </a:pP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Gartner 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confirma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 el 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cambio donde la</a:t>
            </a:r>
            <a:r>
              <a:rPr sz="1650" b="1" dirty="0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competencia</a:t>
            </a:r>
            <a:r>
              <a:rPr sz="1650" b="1" dirty="0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está</a:t>
            </a:r>
            <a:r>
              <a:rPr sz="1650" b="1" dirty="0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en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 la 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capa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 de IA</a:t>
            </a:r>
            <a:endParaRPr lang="es-ES">
              <a:solidFill>
                <a:srgbClr val="0C2362"/>
              </a:solidFill>
              <a:latin typeface="Reddit Sans"/>
              <a:ea typeface="Reddit Sans"/>
            </a:endParaRPr>
          </a:p>
        </p:txBody>
      </p:sp>
      <p:sp>
        <p:nvSpPr>
          <p:cNvPr id="22" name="src">
            <a:extLst>
              <a:ext uri="{FF2B5EF4-FFF2-40B4-BE49-F238E27FC236}">
                <a16:creationId xmlns:a16="http://schemas.microsoft.com/office/drawing/2014/main" id="{3D3C21ED-CCFE-6C2C-8D9C-61257685ADF5}"/>
              </a:ext>
            </a:extLst>
          </p:cNvPr>
          <p:cNvSpPr txBox="1">
            <a:spLocks noGrp="1"/>
          </p:cNvSpPr>
          <p:nvPr/>
        </p:nvSpPr>
        <p:spPr>
          <a:xfrm>
            <a:off x="385354" y="4745300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fontScale="77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80" i="1">
                <a:solidFill>
                  <a:srgbClr val="6B7280"/>
                </a:solidFill>
                <a:latin typeface="Reddit Sans"/>
                <a:ea typeface="Reddit Sans"/>
              </a:rPr>
              <a:t>Fuente: </a:t>
            </a:r>
            <a:r>
              <a:rPr lang="es-ES" sz="780" u="sng">
                <a:solidFill>
                  <a:srgbClr val="1A3A8F"/>
                </a:solidFill>
                <a:latin typeface="Reddit Sans"/>
                <a:ea typeface="Reddit Sans"/>
                <a:hlinkClick r:id="rId3"/>
              </a:rPr>
              <a:t>Gartner MQ AI Applications</a:t>
            </a:r>
            <a:r>
              <a:rPr lang="es-ES" sz="780" i="1">
                <a:solidFill>
                  <a:srgbClr val="6B7280"/>
                </a:solidFill>
                <a:latin typeface="Reddit Sans"/>
                <a:ea typeface="Reddit Sans"/>
              </a:rPr>
              <a:t>  ·  </a:t>
            </a:r>
            <a:r>
              <a:rPr lang="es-ES" sz="780" u="sng">
                <a:solidFill>
                  <a:srgbClr val="1A3A8F"/>
                </a:solidFill>
                <a:latin typeface="Reddit Sans"/>
                <a:ea typeface="Reddit Sans"/>
                <a:hlinkClick r:id="rId4"/>
              </a:rPr>
              <a:t>InvGate</a:t>
            </a:r>
            <a:r>
              <a:rPr lang="es-ES" sz="780" i="1">
                <a:solidFill>
                  <a:srgbClr val="6B7280"/>
                </a:solidFill>
                <a:latin typeface="Reddit Sans"/>
                <a:ea typeface="Reddit Sans"/>
              </a:rPr>
              <a:t>  ·  </a:t>
            </a:r>
            <a:r>
              <a:rPr lang="es-ES" sz="780" u="sng">
                <a:solidFill>
                  <a:srgbClr val="1A3A8F"/>
                </a:solidFill>
                <a:latin typeface="Reddit Sans"/>
                <a:ea typeface="Reddit Sans"/>
                <a:hlinkClick r:id="rId5"/>
              </a:rPr>
              <a:t>Gartner Retire ITSM MQ</a:t>
            </a:r>
          </a:p>
        </p:txBody>
      </p:sp>
      <p:sp>
        <p:nvSpPr>
          <p:cNvPr id="201" name="tx201"/>
          <p:cNvSpPr txBox="1"/>
          <p:nvPr/>
        </p:nvSpPr>
        <p:spPr>
          <a:xfrm>
            <a:off x="411263" y="646829"/>
            <a:ext cx="8321040" cy="18288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ES" sz="950">
                <a:solidFill>
                  <a:srgbClr val="5A6472"/>
                </a:solidFill>
                <a:latin typeface="Reddit Sans"/>
                <a:ea typeface="Reddit Sans"/>
              </a:rPr>
              <a:t>9 Capacidades críticas de IA que ya definen la compra de la herramienta</a:t>
            </a:r>
          </a:p>
        </p:txBody>
      </p:sp>
      <p:sp>
        <p:nvSpPr>
          <p:cNvPr id="203" name="sh203"/>
          <p:cNvSpPr/>
          <p:nvPr/>
        </p:nvSpPr>
        <p:spPr>
          <a:xfrm>
            <a:off x="384048" y="108421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04" name="sh204"/>
          <p:cNvSpPr/>
          <p:nvPr/>
        </p:nvSpPr>
        <p:spPr>
          <a:xfrm>
            <a:off x="475488" y="1230521"/>
            <a:ext cx="365760" cy="365760"/>
          </a:xfrm>
          <a:prstGeom prst="ellipse">
            <a:avLst/>
          </a:prstGeom>
          <a:solidFill>
            <a:srgbClr val="1E7A80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05" name="sh205"/>
          <p:cNvSpPr/>
          <p:nvPr/>
        </p:nvSpPr>
        <p:spPr>
          <a:xfrm>
            <a:off x="552755" y="1317389"/>
            <a:ext cx="211226" cy="163220"/>
          </a:xfrm>
          <a:prstGeom prst="wedgeRoundRectCallout">
            <a:avLst>
              <a:gd name="adj1" fmla="val -20000"/>
              <a:gd name="adj2" fmla="val 70000"/>
              <a:gd name="adj3" fmla="val 16667"/>
            </a:avLst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06" name="tx206"/>
          <p:cNvSpPr txBox="1"/>
          <p:nvPr/>
        </p:nvSpPr>
        <p:spPr>
          <a:xfrm>
            <a:off x="914400" y="1129937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1E7A80"/>
                </a:solidFill>
                <a:latin typeface="Reddit Sans"/>
                <a:ea typeface="Reddit Sans"/>
              </a:rPr>
              <a:t>1. Agente virtual</a:t>
            </a:r>
          </a:p>
        </p:txBody>
      </p:sp>
      <p:sp>
        <p:nvSpPr>
          <p:cNvPr id="207" name="tx207"/>
          <p:cNvSpPr txBox="1"/>
          <p:nvPr/>
        </p:nvSpPr>
        <p:spPr>
          <a:xfrm>
            <a:off x="914400" y="138596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Asistencia 24/7 con IA conversacional y generativa</a:t>
            </a:r>
          </a:p>
        </p:txBody>
      </p:sp>
      <p:sp>
        <p:nvSpPr>
          <p:cNvPr id="208" name="sh208"/>
          <p:cNvSpPr/>
          <p:nvPr/>
        </p:nvSpPr>
        <p:spPr>
          <a:xfrm>
            <a:off x="3200400" y="108421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09" name="sh209"/>
          <p:cNvSpPr/>
          <p:nvPr/>
        </p:nvSpPr>
        <p:spPr>
          <a:xfrm>
            <a:off x="3291840" y="1230521"/>
            <a:ext cx="365760" cy="365760"/>
          </a:xfrm>
          <a:prstGeom prst="ellipse">
            <a:avLst/>
          </a:prstGeom>
          <a:solidFill>
            <a:srgbClr val="1C3D75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0" name="sh210"/>
          <p:cNvSpPr/>
          <p:nvPr/>
        </p:nvSpPr>
        <p:spPr>
          <a:xfrm>
            <a:off x="3378708" y="1332751"/>
            <a:ext cx="192024" cy="163220"/>
          </a:xfrm>
          <a:prstGeom prst="flowChartDocument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1" name="tx211"/>
          <p:cNvSpPr txBox="1"/>
          <p:nvPr/>
        </p:nvSpPr>
        <p:spPr>
          <a:xfrm>
            <a:off x="3730752" y="1129937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1C3D75"/>
                </a:solidFill>
                <a:latin typeface="Reddit Sans"/>
                <a:ea typeface="Reddit Sans"/>
              </a:rPr>
              <a:t>2. Descubrimiento de conocimiento</a:t>
            </a:r>
          </a:p>
        </p:txBody>
      </p:sp>
      <p:sp>
        <p:nvSpPr>
          <p:cNvPr id="212" name="tx212"/>
          <p:cNvSpPr txBox="1"/>
          <p:nvPr/>
        </p:nvSpPr>
        <p:spPr>
          <a:xfrm>
            <a:off x="3730752" y="138596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Captura y descubrimiento automático del conocimiento y procesos clave</a:t>
            </a:r>
          </a:p>
        </p:txBody>
      </p:sp>
      <p:sp>
        <p:nvSpPr>
          <p:cNvPr id="213" name="sh213"/>
          <p:cNvSpPr/>
          <p:nvPr/>
        </p:nvSpPr>
        <p:spPr>
          <a:xfrm>
            <a:off x="6016752" y="108421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4" name="sh214"/>
          <p:cNvSpPr/>
          <p:nvPr/>
        </p:nvSpPr>
        <p:spPr>
          <a:xfrm>
            <a:off x="6108192" y="1230521"/>
            <a:ext cx="365760" cy="365760"/>
          </a:xfrm>
          <a:prstGeom prst="ellipse">
            <a:avLst/>
          </a:prstGeom>
          <a:solidFill>
            <a:srgbClr val="1E7A80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5" name="sh215"/>
          <p:cNvSpPr/>
          <p:nvPr/>
        </p:nvSpPr>
        <p:spPr>
          <a:xfrm>
            <a:off x="6214262" y="1307788"/>
            <a:ext cx="153619" cy="211226"/>
          </a:xfrm>
          <a:prstGeom prst="upArrow">
            <a:avLst>
              <a:gd name="adj1" fmla="val 50000"/>
              <a:gd name="adj2" fmla="val 50000"/>
            </a:avLst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6" name="tx216"/>
          <p:cNvSpPr txBox="1"/>
          <p:nvPr/>
        </p:nvSpPr>
        <p:spPr>
          <a:xfrm>
            <a:off x="6547104" y="1129937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1E7A80"/>
                </a:solidFill>
                <a:latin typeface="Reddit Sans"/>
                <a:ea typeface="Reddit Sans"/>
              </a:rPr>
              <a:t>3. Escalamiento inteligente</a:t>
            </a:r>
          </a:p>
        </p:txBody>
      </p:sp>
      <p:sp>
        <p:nvSpPr>
          <p:cNvPr id="217" name="tx217"/>
          <p:cNvSpPr txBox="1"/>
          <p:nvPr/>
        </p:nvSpPr>
        <p:spPr>
          <a:xfrm>
            <a:off x="6547104" y="138596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Escala al nivel correcto en el momento adecuado</a:t>
            </a:r>
          </a:p>
        </p:txBody>
      </p:sp>
      <p:sp>
        <p:nvSpPr>
          <p:cNvPr id="218" name="sh218"/>
          <p:cNvSpPr/>
          <p:nvPr/>
        </p:nvSpPr>
        <p:spPr>
          <a:xfrm>
            <a:off x="384048" y="179287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9" name="sh219"/>
          <p:cNvSpPr/>
          <p:nvPr/>
        </p:nvSpPr>
        <p:spPr>
          <a:xfrm>
            <a:off x="475488" y="1939181"/>
            <a:ext cx="365760" cy="365760"/>
          </a:xfrm>
          <a:prstGeom prst="ellipse">
            <a:avLst/>
          </a:prstGeom>
          <a:solidFill>
            <a:srgbClr val="6E2E6E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20" name="sh220"/>
          <p:cNvSpPr/>
          <p:nvPr/>
        </p:nvSpPr>
        <p:spPr>
          <a:xfrm>
            <a:off x="562356" y="2026049"/>
            <a:ext cx="192024" cy="192024"/>
          </a:xfrm>
          <a:prstGeom prst="funnel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21" name="tx221"/>
          <p:cNvSpPr txBox="1"/>
          <p:nvPr/>
        </p:nvSpPr>
        <p:spPr>
          <a:xfrm>
            <a:off x="914400" y="1838597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6E2E6E"/>
                </a:solidFill>
                <a:latin typeface="Reddit Sans"/>
                <a:ea typeface="Reddit Sans"/>
              </a:rPr>
              <a:t>4. Triage inteligente</a:t>
            </a:r>
          </a:p>
        </p:txBody>
      </p:sp>
      <p:sp>
        <p:nvSpPr>
          <p:cNvPr id="222" name="tx222"/>
          <p:cNvSpPr txBox="1"/>
          <p:nvPr/>
        </p:nvSpPr>
        <p:spPr>
          <a:xfrm>
            <a:off x="914400" y="209462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Prioriza y enruta tickets usando IA y contexto</a:t>
            </a:r>
          </a:p>
        </p:txBody>
      </p:sp>
      <p:sp>
        <p:nvSpPr>
          <p:cNvPr id="223" name="sh223"/>
          <p:cNvSpPr/>
          <p:nvPr/>
        </p:nvSpPr>
        <p:spPr>
          <a:xfrm>
            <a:off x="3200400" y="179287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24" name="sh224"/>
          <p:cNvSpPr/>
          <p:nvPr/>
        </p:nvSpPr>
        <p:spPr>
          <a:xfrm>
            <a:off x="3291840" y="1939181"/>
            <a:ext cx="365760" cy="365760"/>
          </a:xfrm>
          <a:prstGeom prst="ellipse">
            <a:avLst/>
          </a:prstGeom>
          <a:solidFill>
            <a:srgbClr val="1C3D75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25" name="sh225"/>
          <p:cNvSpPr/>
          <p:nvPr/>
        </p:nvSpPr>
        <p:spPr>
          <a:xfrm>
            <a:off x="3369107" y="2045251"/>
            <a:ext cx="211226" cy="153619"/>
          </a:xfrm>
          <a:prstGeom prst="flowChartManualInput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26" name="tx226"/>
          <p:cNvSpPr txBox="1"/>
          <p:nvPr/>
        </p:nvSpPr>
        <p:spPr>
          <a:xfrm>
            <a:off x="3730752" y="1838597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1C3D75"/>
                </a:solidFill>
                <a:latin typeface="Reddit Sans"/>
                <a:ea typeface="Reddit Sans"/>
              </a:rPr>
              <a:t>5. Categorización inteligente</a:t>
            </a:r>
          </a:p>
        </p:txBody>
      </p:sp>
      <p:sp>
        <p:nvSpPr>
          <p:cNvPr id="227" name="tx227"/>
          <p:cNvSpPr txBox="1"/>
          <p:nvPr/>
        </p:nvSpPr>
        <p:spPr>
          <a:xfrm>
            <a:off x="3730752" y="209462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Clasificación automática multi-nivel</a:t>
            </a:r>
          </a:p>
        </p:txBody>
      </p:sp>
      <p:sp>
        <p:nvSpPr>
          <p:cNvPr id="228" name="sh228"/>
          <p:cNvSpPr/>
          <p:nvPr/>
        </p:nvSpPr>
        <p:spPr>
          <a:xfrm>
            <a:off x="6016752" y="179287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29" name="sh229"/>
          <p:cNvSpPr/>
          <p:nvPr/>
        </p:nvSpPr>
        <p:spPr>
          <a:xfrm>
            <a:off x="6108192" y="1939181"/>
            <a:ext cx="365760" cy="365760"/>
          </a:xfrm>
          <a:prstGeom prst="ellipse">
            <a:avLst/>
          </a:prstGeom>
          <a:solidFill>
            <a:srgbClr val="6E2E6E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0" name="sh230"/>
          <p:cNvSpPr/>
          <p:nvPr/>
        </p:nvSpPr>
        <p:spPr>
          <a:xfrm>
            <a:off x="6195060" y="2016448"/>
            <a:ext cx="80650" cy="80650"/>
          </a:xfrm>
          <a:prstGeom prst="ellipse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1" name="sh231"/>
          <p:cNvSpPr/>
          <p:nvPr/>
        </p:nvSpPr>
        <p:spPr>
          <a:xfrm>
            <a:off x="6306434" y="2016448"/>
            <a:ext cx="80650" cy="80650"/>
          </a:xfrm>
          <a:prstGeom prst="ellipse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2" name="sh232"/>
          <p:cNvSpPr/>
          <p:nvPr/>
        </p:nvSpPr>
        <p:spPr>
          <a:xfrm>
            <a:off x="6185459" y="2102859"/>
            <a:ext cx="105613" cy="105613"/>
          </a:xfrm>
          <a:prstGeom prst="chord">
            <a:avLst>
              <a:gd name="adj1" fmla="val 0"/>
              <a:gd name="adj2" fmla="val 1080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3" name="sh233"/>
          <p:cNvSpPr/>
          <p:nvPr/>
        </p:nvSpPr>
        <p:spPr>
          <a:xfrm>
            <a:off x="6294912" y="2102859"/>
            <a:ext cx="105613" cy="105613"/>
          </a:xfrm>
          <a:prstGeom prst="chord">
            <a:avLst>
              <a:gd name="adj1" fmla="val 0"/>
              <a:gd name="adj2" fmla="val 1080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4" name="tx234"/>
          <p:cNvSpPr txBox="1"/>
          <p:nvPr/>
        </p:nvSpPr>
        <p:spPr>
          <a:xfrm>
            <a:off x="6547104" y="1838597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6E2E6E"/>
                </a:solidFill>
                <a:latin typeface="Reddit Sans"/>
                <a:ea typeface="Reddit Sans"/>
              </a:rPr>
              <a:t>6. Swarming de expertos</a:t>
            </a:r>
          </a:p>
        </p:txBody>
      </p:sp>
      <p:sp>
        <p:nvSpPr>
          <p:cNvPr id="235" name="tx235"/>
          <p:cNvSpPr txBox="1"/>
          <p:nvPr/>
        </p:nvSpPr>
        <p:spPr>
          <a:xfrm>
            <a:off x="6547104" y="209462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Colaboración asistida por IA para resolver más rápido</a:t>
            </a:r>
          </a:p>
        </p:txBody>
      </p:sp>
      <p:sp>
        <p:nvSpPr>
          <p:cNvPr id="236" name="sh236"/>
          <p:cNvSpPr/>
          <p:nvPr/>
        </p:nvSpPr>
        <p:spPr>
          <a:xfrm>
            <a:off x="384048" y="250153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7" name="sh237"/>
          <p:cNvSpPr/>
          <p:nvPr/>
        </p:nvSpPr>
        <p:spPr>
          <a:xfrm>
            <a:off x="475488" y="2647841"/>
            <a:ext cx="365760" cy="365760"/>
          </a:xfrm>
          <a:prstGeom prst="ellipse">
            <a:avLst/>
          </a:prstGeom>
          <a:solidFill>
            <a:srgbClr val="1C3D75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8" name="sh238"/>
          <p:cNvSpPr/>
          <p:nvPr/>
        </p:nvSpPr>
        <p:spPr>
          <a:xfrm>
            <a:off x="562356" y="2734709"/>
            <a:ext cx="192024" cy="182423"/>
          </a:xfrm>
          <a:prstGeom prst="triangle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9" name="tx239"/>
          <p:cNvSpPr txBox="1"/>
          <p:nvPr/>
        </p:nvSpPr>
        <p:spPr>
          <a:xfrm>
            <a:off x="914400" y="2547257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1C3D75"/>
                </a:solidFill>
                <a:latin typeface="Reddit Sans"/>
                <a:ea typeface="Reddit Sans"/>
              </a:rPr>
              <a:t>7. Detección de P1</a:t>
            </a:r>
          </a:p>
        </p:txBody>
      </p:sp>
      <p:sp>
        <p:nvSpPr>
          <p:cNvPr id="240" name="tx240"/>
          <p:cNvSpPr txBox="1"/>
          <p:nvPr/>
        </p:nvSpPr>
        <p:spPr>
          <a:xfrm>
            <a:off x="914400" y="280328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Identificación automática de incidentes críticos</a:t>
            </a:r>
          </a:p>
        </p:txBody>
      </p:sp>
      <p:sp>
        <p:nvSpPr>
          <p:cNvPr id="241" name="sh241"/>
          <p:cNvSpPr/>
          <p:nvPr/>
        </p:nvSpPr>
        <p:spPr>
          <a:xfrm>
            <a:off x="3200400" y="250153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42" name="sh242"/>
          <p:cNvSpPr/>
          <p:nvPr/>
        </p:nvSpPr>
        <p:spPr>
          <a:xfrm>
            <a:off x="3291840" y="2647841"/>
            <a:ext cx="365760" cy="365760"/>
          </a:xfrm>
          <a:prstGeom prst="ellipse">
            <a:avLst/>
          </a:prstGeom>
          <a:solidFill>
            <a:srgbClr val="1C3D75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43" name="sh243"/>
          <p:cNvSpPr/>
          <p:nvPr/>
        </p:nvSpPr>
        <p:spPr>
          <a:xfrm>
            <a:off x="3378708" y="2734709"/>
            <a:ext cx="144018" cy="144018"/>
          </a:xfrm>
          <a:prstGeom prst="ellipse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44" name="sh244"/>
          <p:cNvSpPr/>
          <p:nvPr/>
        </p:nvSpPr>
        <p:spPr>
          <a:xfrm rot="2700000">
            <a:off x="3497763" y="2853764"/>
            <a:ext cx="19202" cy="7681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45" name="tx245"/>
          <p:cNvSpPr txBox="1"/>
          <p:nvPr/>
        </p:nvSpPr>
        <p:spPr>
          <a:xfrm>
            <a:off x="3730752" y="2547257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1C3D75"/>
                </a:solidFill>
                <a:latin typeface="Reddit Sans"/>
                <a:ea typeface="Reddit Sans"/>
              </a:rPr>
              <a:t>8. Detección de problemas</a:t>
            </a:r>
          </a:p>
        </p:txBody>
      </p:sp>
      <p:sp>
        <p:nvSpPr>
          <p:cNvPr id="246" name="tx246"/>
          <p:cNvSpPr txBox="1"/>
          <p:nvPr/>
        </p:nvSpPr>
        <p:spPr>
          <a:xfrm>
            <a:off x="3730752" y="280328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Descubrimiento de causas raíz y patrones recurrentes</a:t>
            </a:r>
          </a:p>
        </p:txBody>
      </p:sp>
      <p:sp>
        <p:nvSpPr>
          <p:cNvPr id="247" name="sh247"/>
          <p:cNvSpPr/>
          <p:nvPr/>
        </p:nvSpPr>
        <p:spPr>
          <a:xfrm>
            <a:off x="6016752" y="2501537"/>
            <a:ext cx="2706624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7EE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48" name="sh248"/>
          <p:cNvSpPr/>
          <p:nvPr/>
        </p:nvSpPr>
        <p:spPr>
          <a:xfrm>
            <a:off x="6108192" y="2647841"/>
            <a:ext cx="365760" cy="365760"/>
          </a:xfrm>
          <a:prstGeom prst="ellipse">
            <a:avLst/>
          </a:prstGeom>
          <a:solidFill>
            <a:srgbClr val="1E7A80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49" name="sh249"/>
          <p:cNvSpPr/>
          <p:nvPr/>
        </p:nvSpPr>
        <p:spPr>
          <a:xfrm rot="10800000">
            <a:off x="6204661" y="2734709"/>
            <a:ext cx="172822" cy="192024"/>
          </a:xfrm>
          <a:prstGeom prst="pentagon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50" name="tx250"/>
          <p:cNvSpPr txBox="1"/>
          <p:nvPr/>
        </p:nvSpPr>
        <p:spPr>
          <a:xfrm>
            <a:off x="6547104" y="2547257"/>
            <a:ext cx="2084832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00" b="1">
                <a:solidFill>
                  <a:srgbClr val="1E7A80"/>
                </a:solidFill>
                <a:latin typeface="Reddit Sans"/>
                <a:ea typeface="Reddit Sans"/>
              </a:rPr>
              <a:t>9. Riesgo de cambios</a:t>
            </a:r>
          </a:p>
        </p:txBody>
      </p:sp>
      <p:sp>
        <p:nvSpPr>
          <p:cNvPr id="251" name="tx251"/>
          <p:cNvSpPr txBox="1"/>
          <p:nvPr/>
        </p:nvSpPr>
        <p:spPr>
          <a:xfrm>
            <a:off x="6547104" y="2803289"/>
            <a:ext cx="2084832" cy="329184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s-ES" sz="700">
                <a:solidFill>
                  <a:srgbClr val="5A6472"/>
                </a:solidFill>
                <a:latin typeface="Reddit Sans"/>
                <a:ea typeface="Reddit Sans"/>
              </a:rPr>
              <a:t>Evaluación predictiva del riesgo antes de implementar</a:t>
            </a:r>
          </a:p>
        </p:txBody>
      </p:sp>
      <p:sp>
        <p:nvSpPr>
          <p:cNvPr id="252" name="sh252"/>
          <p:cNvSpPr/>
          <p:nvPr/>
        </p:nvSpPr>
        <p:spPr>
          <a:xfrm>
            <a:off x="384048" y="3461004"/>
            <a:ext cx="8375904" cy="603504"/>
          </a:xfrm>
          <a:prstGeom prst="roundRect">
            <a:avLst>
              <a:gd name="adj" fmla="val 18000"/>
            </a:avLst>
          </a:prstGeom>
          <a:solidFill>
            <a:srgbClr val="F4F7FA"/>
          </a:solidFill>
          <a:ln w="9525">
            <a:solidFill>
              <a:srgbClr val="C9D6E5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53" name="sh253"/>
          <p:cNvSpPr/>
          <p:nvPr/>
        </p:nvSpPr>
        <p:spPr>
          <a:xfrm>
            <a:off x="493776" y="3570732"/>
            <a:ext cx="868680" cy="384048"/>
          </a:xfrm>
          <a:prstGeom prst="roundRect">
            <a:avLst>
              <a:gd name="adj" fmla="val 14000"/>
            </a:avLst>
          </a:prstGeom>
          <a:solidFill>
            <a:schemeClr val="bg1"/>
          </a:solidFill>
          <a:ln>
            <a:noFill/>
          </a:ln>
        </p:spPr>
        <p:txBody>
          <a:bodyPr wrap="square" lIns="9000" tIns="4500" rIns="9000" bIns="450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ES" sz="650" b="1">
                <a:solidFill>
                  <a:srgbClr val="0097A7"/>
                </a:solidFill>
                <a:latin typeface="Reddit Sans"/>
                <a:ea typeface="Reddit Sans"/>
              </a:rPr>
              <a:t>NUESTRO</a:t>
            </a:r>
          </a:p>
          <a:p>
            <a:pPr algn="ctr">
              <a:lnSpc>
                <a:spcPct val="100000"/>
              </a:lnSpc>
            </a:pPr>
            <a:r>
              <a:rPr lang="es-ES" sz="650" b="1">
                <a:solidFill>
                  <a:srgbClr val="0097A7"/>
                </a:solidFill>
                <a:latin typeface="Reddit Sans"/>
                <a:ea typeface="Reddit Sans"/>
              </a:rPr>
              <a:t>DIFERENCIAL</a:t>
            </a:r>
          </a:p>
        </p:txBody>
      </p:sp>
      <p:sp>
        <p:nvSpPr>
          <p:cNvPr id="254" name="tx254"/>
          <p:cNvSpPr txBox="1"/>
          <p:nvPr/>
        </p:nvSpPr>
        <p:spPr>
          <a:xfrm>
            <a:off x="1463040" y="3534156"/>
            <a:ext cx="1828800" cy="457200"/>
          </a:xfrm>
          <a:prstGeom prst="rect">
            <a:avLst/>
          </a:prstGeom>
          <a:noFill/>
        </p:spPr>
        <p:txBody>
          <a:bodyPr wrap="square" lIns="18000" tIns="9000" rIns="18000" bIns="9000" rtlCol="0" anchor="ctr">
            <a:noAutofit/>
          </a:bodyPr>
          <a:lstStyle/>
          <a:p>
            <a:pPr algn="l">
              <a:lnSpc>
                <a:spcPct val="92000"/>
              </a:lnSpc>
            </a:pPr>
            <a:r>
              <a:rPr lang="es-ES" sz="1050" b="1">
                <a:solidFill>
                  <a:srgbClr val="1C3D75"/>
                </a:solidFill>
                <a:latin typeface="Reddit Sans"/>
                <a:ea typeface="Reddit Sans"/>
              </a:rPr>
              <a:t>PIR + KCS + IA</a:t>
            </a:r>
          </a:p>
          <a:p>
            <a:pPr algn="l">
              <a:lnSpc>
                <a:spcPct val="92000"/>
              </a:lnSpc>
            </a:pPr>
            <a:r>
              <a:rPr lang="es-ES" sz="650">
                <a:solidFill>
                  <a:srgbClr val="5A6472"/>
                </a:solidFill>
                <a:latin typeface="Reddit Sans"/>
                <a:ea typeface="Reddit Sans"/>
              </a:rPr>
              <a:t>Servicio centrado en el conocimiento potenciado con IA</a:t>
            </a:r>
          </a:p>
        </p:txBody>
      </p:sp>
      <p:sp>
        <p:nvSpPr>
          <p:cNvPr id="255" name="sh255"/>
          <p:cNvSpPr/>
          <p:nvPr/>
        </p:nvSpPr>
        <p:spPr>
          <a:xfrm>
            <a:off x="3664915" y="3520440"/>
            <a:ext cx="246888" cy="246888"/>
          </a:xfrm>
          <a:prstGeom prst="ellipse">
            <a:avLst/>
          </a:prstGeom>
          <a:solidFill>
            <a:srgbClr val="2C5AA8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57" name="tx257"/>
          <p:cNvSpPr txBox="1"/>
          <p:nvPr/>
        </p:nvSpPr>
        <p:spPr>
          <a:xfrm>
            <a:off x="3264408" y="3799114"/>
            <a:ext cx="1066190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6000"/>
              </a:lnSpc>
            </a:pPr>
            <a:r>
              <a:rPr lang="es-ES" sz="600">
                <a:solidFill>
                  <a:srgbClr val="3A4A63"/>
                </a:solidFill>
                <a:latin typeface="Reddit Sans"/>
                <a:ea typeface="Reddit Sans"/>
              </a:rPr>
              <a:t>Aprende del negocio</a:t>
            </a:r>
          </a:p>
        </p:txBody>
      </p:sp>
      <p:sp>
        <p:nvSpPr>
          <p:cNvPr id="258" name="sh258"/>
          <p:cNvSpPr/>
          <p:nvPr/>
        </p:nvSpPr>
        <p:spPr>
          <a:xfrm>
            <a:off x="4749394" y="3520440"/>
            <a:ext cx="246888" cy="246888"/>
          </a:xfrm>
          <a:prstGeom prst="ellipse">
            <a:avLst/>
          </a:prstGeom>
          <a:solidFill>
            <a:srgbClr val="2C5AA8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60" name="tx260"/>
          <p:cNvSpPr txBox="1"/>
          <p:nvPr/>
        </p:nvSpPr>
        <p:spPr>
          <a:xfrm>
            <a:off x="4348886" y="3799114"/>
            <a:ext cx="1066190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6000"/>
              </a:lnSpc>
            </a:pPr>
            <a:r>
              <a:rPr lang="es-ES" sz="600">
                <a:solidFill>
                  <a:srgbClr val="3A4A63"/>
                </a:solidFill>
                <a:latin typeface="Reddit Sans"/>
                <a:ea typeface="Reddit Sans"/>
              </a:rPr>
              <a:t>Captura y organiza conocimiento</a:t>
            </a:r>
          </a:p>
        </p:txBody>
      </p:sp>
      <p:sp>
        <p:nvSpPr>
          <p:cNvPr id="263" name="tx263"/>
          <p:cNvSpPr txBox="1"/>
          <p:nvPr/>
        </p:nvSpPr>
        <p:spPr>
          <a:xfrm>
            <a:off x="5433365" y="3799114"/>
            <a:ext cx="1066190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6000"/>
              </a:lnSpc>
            </a:pPr>
            <a:r>
              <a:rPr lang="es-ES" sz="600">
                <a:solidFill>
                  <a:srgbClr val="3A4A63"/>
                </a:solidFill>
                <a:latin typeface="Reddit Sans"/>
                <a:ea typeface="Reddit Sans"/>
              </a:rPr>
              <a:t>Genera conocimiento reutilizable</a:t>
            </a:r>
          </a:p>
        </p:txBody>
      </p:sp>
      <p:sp>
        <p:nvSpPr>
          <p:cNvPr id="264" name="sh264"/>
          <p:cNvSpPr/>
          <p:nvPr/>
        </p:nvSpPr>
        <p:spPr>
          <a:xfrm>
            <a:off x="6918350" y="3520440"/>
            <a:ext cx="246888" cy="246888"/>
          </a:xfrm>
          <a:prstGeom prst="ellipse">
            <a:avLst/>
          </a:prstGeom>
          <a:solidFill>
            <a:srgbClr val="2C5AA8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65" name="sh265"/>
          <p:cNvSpPr/>
          <p:nvPr/>
        </p:nvSpPr>
        <p:spPr>
          <a:xfrm>
            <a:off x="7013279" y="3572595"/>
            <a:ext cx="57031" cy="57031"/>
          </a:xfrm>
          <a:prstGeom prst="ellipse">
            <a:avLst/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66" name="sh266"/>
          <p:cNvSpPr/>
          <p:nvPr/>
        </p:nvSpPr>
        <p:spPr>
          <a:xfrm>
            <a:off x="6983467" y="3615632"/>
            <a:ext cx="116655" cy="90731"/>
          </a:xfrm>
          <a:prstGeom prst="chord">
            <a:avLst>
              <a:gd name="adj1" fmla="val 0"/>
              <a:gd name="adj2" fmla="val 10800000"/>
            </a:avLst>
          </a:prstGeom>
          <a:noFill/>
          <a:ln w="15875">
            <a:solidFill>
              <a:srgbClr val="FFFFFF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67" name="tx267"/>
          <p:cNvSpPr txBox="1"/>
          <p:nvPr/>
        </p:nvSpPr>
        <p:spPr>
          <a:xfrm>
            <a:off x="6517843" y="3799114"/>
            <a:ext cx="1066190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6000"/>
              </a:lnSpc>
            </a:pPr>
            <a:r>
              <a:rPr lang="es-ES" sz="600">
                <a:solidFill>
                  <a:srgbClr val="3A4A63"/>
                </a:solidFill>
                <a:latin typeface="Reddit Sans"/>
                <a:ea typeface="Reddit Sans"/>
              </a:rPr>
              <a:t>Reduce dependencia de expertos</a:t>
            </a:r>
          </a:p>
        </p:txBody>
      </p:sp>
      <p:sp>
        <p:nvSpPr>
          <p:cNvPr id="268" name="sh268"/>
          <p:cNvSpPr/>
          <p:nvPr/>
        </p:nvSpPr>
        <p:spPr>
          <a:xfrm>
            <a:off x="8002829" y="3520440"/>
            <a:ext cx="246888" cy="246888"/>
          </a:xfrm>
          <a:prstGeom prst="ellipse">
            <a:avLst/>
          </a:prstGeom>
          <a:solidFill>
            <a:srgbClr val="2C5AA8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71" name="tx271"/>
          <p:cNvSpPr txBox="1"/>
          <p:nvPr/>
        </p:nvSpPr>
        <p:spPr>
          <a:xfrm>
            <a:off x="7602322" y="3799114"/>
            <a:ext cx="1066190" cy="274320"/>
          </a:xfrm>
          <a:prstGeom prst="rect">
            <a:avLst/>
          </a:prstGeom>
          <a:noFill/>
        </p:spPr>
        <p:txBody>
          <a:bodyPr wrap="square" lIns="18000" tIns="9000" rIns="18000" bIns="9000" rtlCol="0" anchor="t">
            <a:noAutofit/>
          </a:bodyPr>
          <a:lstStyle/>
          <a:p>
            <a:pPr algn="ctr">
              <a:lnSpc>
                <a:spcPct val="86000"/>
              </a:lnSpc>
            </a:pPr>
            <a:r>
              <a:rPr lang="es-ES" sz="600">
                <a:solidFill>
                  <a:srgbClr val="3A4A63"/>
                </a:solidFill>
                <a:latin typeface="Reddit Sans"/>
                <a:ea typeface="Reddit Sans"/>
              </a:rPr>
              <a:t>Entiende los procesos de negocio del cliente</a:t>
            </a:r>
          </a:p>
        </p:txBody>
      </p:sp>
      <p:sp>
        <p:nvSpPr>
          <p:cNvPr id="272" name="sh272"/>
          <p:cNvSpPr/>
          <p:nvPr/>
        </p:nvSpPr>
        <p:spPr>
          <a:xfrm>
            <a:off x="405819" y="4128516"/>
            <a:ext cx="5836921" cy="526869"/>
          </a:xfrm>
          <a:prstGeom prst="roundRect">
            <a:avLst>
              <a:gd name="adj" fmla="val 14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75" name="sh275"/>
          <p:cNvSpPr/>
          <p:nvPr/>
        </p:nvSpPr>
        <p:spPr>
          <a:xfrm>
            <a:off x="747860" y="4373456"/>
            <a:ext cx="58759" cy="58759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76" name="tx276"/>
          <p:cNvSpPr txBox="1"/>
          <p:nvPr/>
        </p:nvSpPr>
        <p:spPr>
          <a:xfrm>
            <a:off x="1170432" y="4183380"/>
            <a:ext cx="5074920" cy="457200"/>
          </a:xfrm>
          <a:prstGeom prst="rect">
            <a:avLst/>
          </a:prstGeom>
          <a:noFill/>
        </p:spPr>
        <p:txBody>
          <a:bodyPr wrap="square" lIns="18000" tIns="9000" rIns="18000" bIns="9000" rtlCol="0" anchor="ctr">
            <a:noAutofit/>
          </a:bodyPr>
          <a:lstStyle/>
          <a:p>
            <a:pPr algn="l">
              <a:lnSpc>
                <a:spcPct val="94000"/>
              </a:lnSpc>
            </a:pPr>
            <a:r>
              <a:rPr lang="es-ES" sz="950" b="1">
                <a:solidFill>
                  <a:srgbClr val="1C3D75"/>
                </a:solidFill>
                <a:latin typeface="Reddit Sans"/>
                <a:ea typeface="Reddit Sans"/>
              </a:rPr>
              <a:t>La plataforma se comoditiza. La diferenciación está en la </a:t>
            </a:r>
            <a:r>
              <a:rPr lang="es-ES" sz="950" b="1">
                <a:solidFill>
                  <a:srgbClr val="1E7A80"/>
                </a:solidFill>
                <a:latin typeface="Reddit Sans"/>
                <a:ea typeface="Reddit Sans"/>
              </a:rPr>
              <a:t>inteligencia</a:t>
            </a:r>
            <a:r>
              <a:rPr lang="es-ES" sz="950" b="1">
                <a:solidFill>
                  <a:srgbClr val="1C3D75"/>
                </a:solidFill>
                <a:latin typeface="Reddit Sans"/>
                <a:ea typeface="Reddit Sans"/>
              </a:rPr>
              <a:t>, el </a:t>
            </a:r>
            <a:r>
              <a:rPr lang="es-ES" sz="950" b="1">
                <a:solidFill>
                  <a:srgbClr val="1E7A80"/>
                </a:solidFill>
                <a:latin typeface="Reddit Sans"/>
                <a:ea typeface="Reddit Sans"/>
              </a:rPr>
              <a:t>gobierno</a:t>
            </a:r>
            <a:r>
              <a:rPr lang="es-ES" sz="950" b="1">
                <a:solidFill>
                  <a:srgbClr val="1C3D75"/>
                </a:solidFill>
                <a:latin typeface="Reddit Sans"/>
                <a:ea typeface="Reddit Sans"/>
              </a:rPr>
              <a:t> y el </a:t>
            </a:r>
            <a:r>
              <a:rPr lang="es-ES" sz="950" b="1">
                <a:solidFill>
                  <a:srgbClr val="1E7A80"/>
                </a:solidFill>
                <a:latin typeface="Reddit Sans"/>
                <a:ea typeface="Reddit Sans"/>
              </a:rPr>
              <a:t>conocimiento del negocio</a:t>
            </a:r>
            <a:r>
              <a:rPr lang="es-ES" sz="950" b="1">
                <a:solidFill>
                  <a:srgbClr val="1C3D75"/>
                </a:solidFill>
                <a:latin typeface="Reddit Sans"/>
                <a:ea typeface="Reddit Sans"/>
              </a:rPr>
              <a:t>.</a:t>
            </a:r>
          </a:p>
        </p:txBody>
      </p:sp>
      <p:pic>
        <p:nvPicPr>
          <p:cNvPr id="6" name="Gráfico 5" descr="Diana con relleno sólido">
            <a:extLst>
              <a:ext uri="{FF2B5EF4-FFF2-40B4-BE49-F238E27FC236}">
                <a16:creationId xmlns:a16="http://schemas.microsoft.com/office/drawing/2014/main" id="{8ACFE3F9-76CF-BE63-2CE8-3E56AC0558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4094" y="4215491"/>
            <a:ext cx="342902" cy="342902"/>
          </a:xfrm>
          <a:prstGeom prst="rect">
            <a:avLst/>
          </a:prstGeom>
        </p:spPr>
      </p:pic>
      <p:pic>
        <p:nvPicPr>
          <p:cNvPr id="8" name="Gráfico 7" descr="Cerebro izquierdo y derecho contorno">
            <a:extLst>
              <a:ext uri="{FF2B5EF4-FFF2-40B4-BE49-F238E27FC236}">
                <a16:creationId xmlns:a16="http://schemas.microsoft.com/office/drawing/2014/main" id="{5E798210-043C-D52B-5308-D2C15E6087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71206" y="3529692"/>
            <a:ext cx="223159" cy="223159"/>
          </a:xfrm>
          <a:prstGeom prst="rect">
            <a:avLst/>
          </a:prstGeom>
        </p:spPr>
      </p:pic>
      <p:pic>
        <p:nvPicPr>
          <p:cNvPr id="9" name="Gráfico 8" descr="Diana con relleno sólido">
            <a:extLst>
              <a:ext uri="{FF2B5EF4-FFF2-40B4-BE49-F238E27FC236}">
                <a16:creationId xmlns:a16="http://schemas.microsoft.com/office/drawing/2014/main" id="{068262C6-1610-5728-9123-1B0058E6B1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28216" y="3518805"/>
            <a:ext cx="212274" cy="212274"/>
          </a:xfrm>
          <a:prstGeom prst="rect">
            <a:avLst/>
          </a:prstGeom>
        </p:spPr>
      </p:pic>
      <p:pic>
        <p:nvPicPr>
          <p:cNvPr id="10" name="Gráfico 9" descr="Libro abierto contorno">
            <a:extLst>
              <a:ext uri="{FF2B5EF4-FFF2-40B4-BE49-F238E27FC236}">
                <a16:creationId xmlns:a16="http://schemas.microsoft.com/office/drawing/2014/main" id="{32EB5406-4311-0138-9E26-D2DFE9BE0C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746171" y="3521528"/>
            <a:ext cx="239488" cy="239488"/>
          </a:xfrm>
          <a:prstGeom prst="rect">
            <a:avLst/>
          </a:prstGeom>
        </p:spPr>
      </p:pic>
      <p:sp>
        <p:nvSpPr>
          <p:cNvPr id="12" name="sh264">
            <a:extLst>
              <a:ext uri="{FF2B5EF4-FFF2-40B4-BE49-F238E27FC236}">
                <a16:creationId xmlns:a16="http://schemas.microsoft.com/office/drawing/2014/main" id="{40FD073F-FE08-1384-1B18-972656797E6B}"/>
              </a:ext>
            </a:extLst>
          </p:cNvPr>
          <p:cNvSpPr/>
          <p:nvPr/>
        </p:nvSpPr>
        <p:spPr>
          <a:xfrm>
            <a:off x="5769907" y="3531325"/>
            <a:ext cx="246888" cy="246888"/>
          </a:xfrm>
          <a:prstGeom prst="ellipse">
            <a:avLst/>
          </a:prstGeom>
          <a:solidFill>
            <a:srgbClr val="2C5AA8"/>
          </a:solidFill>
          <a:ln>
            <a:noFill/>
          </a:ln>
        </p:spPr>
        <p:txBody>
          <a:bodyPr rtlCol="0" anchor="ctr"/>
          <a:lstStyle/>
          <a:p>
            <a:endParaRPr lang="es-ES">
              <a:latin typeface="Reddit Sans"/>
              <a:ea typeface="Reddit Sans"/>
            </a:endParaRPr>
          </a:p>
        </p:txBody>
      </p:sp>
      <p:pic>
        <p:nvPicPr>
          <p:cNvPr id="13" name="Gráfico 12" descr="Mejora continua con relleno sólido">
            <a:extLst>
              <a:ext uri="{FF2B5EF4-FFF2-40B4-BE49-F238E27FC236}">
                <a16:creationId xmlns:a16="http://schemas.microsoft.com/office/drawing/2014/main" id="{CC4F4394-F1DA-D862-E1BB-478367F45C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739493" y="3497036"/>
            <a:ext cx="3048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3280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E4FA26-9892-86D1-3AA5-CADBC4E5D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290" y="184990"/>
            <a:ext cx="8211000" cy="572700"/>
          </a:xfrm>
        </p:spPr>
        <p:txBody>
          <a:bodyPr>
            <a:normAutofit/>
          </a:bodyPr>
          <a:lstStyle/>
          <a:p>
            <a:r>
              <a:rPr lang="es-ES" sz="1400"/>
              <a:t>Posicionamiento de Plataformas ITSM</a:t>
            </a:r>
            <a:endParaRPr lang="en-US" sz="1400" b="0">
              <a:solidFill>
                <a:srgbClr val="000000"/>
              </a:solidFill>
            </a:endParaRPr>
          </a:p>
          <a:p>
            <a:endParaRPr lang="en-US"/>
          </a:p>
        </p:txBody>
      </p:sp>
      <p:sp>
        <p:nvSpPr>
          <p:cNvPr id="40" name="Text 41">
            <a:extLst>
              <a:ext uri="{FF2B5EF4-FFF2-40B4-BE49-F238E27FC236}">
                <a16:creationId xmlns:a16="http://schemas.microsoft.com/office/drawing/2014/main" id="{F723FB7B-388B-67C2-D240-FF4BB55A64E4}"/>
              </a:ext>
            </a:extLst>
          </p:cNvPr>
          <p:cNvSpPr/>
          <p:nvPr/>
        </p:nvSpPr>
        <p:spPr>
          <a:xfrm>
            <a:off x="8124410" y="4631860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4 / 12</a:t>
            </a:r>
            <a:endParaRPr lang="en-US" sz="8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41" name="Text 3">
            <a:extLst>
              <a:ext uri="{FF2B5EF4-FFF2-40B4-BE49-F238E27FC236}">
                <a16:creationId xmlns:a16="http://schemas.microsoft.com/office/drawing/2014/main" id="{B7FD0913-0BB4-5C52-9D4A-CB0B34E195FF}"/>
              </a:ext>
            </a:extLst>
          </p:cNvPr>
          <p:cNvSpPr/>
          <p:nvPr/>
        </p:nvSpPr>
        <p:spPr>
          <a:xfrm>
            <a:off x="333790" y="503344"/>
            <a:ext cx="77724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defTabSz="685800" fontAlgn="ctr">
              <a:lnSpc>
                <a:spcPts val="1693"/>
              </a:lnSpc>
              <a:spcBef>
                <a:spcPts val="650"/>
              </a:spcBef>
              <a:buFont typeface="Arial"/>
              <a:buNone/>
            </a:pP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Todos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venden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 AI-first</a:t>
            </a:r>
          </a:p>
        </p:txBody>
      </p:sp>
      <p:sp>
        <p:nvSpPr>
          <p:cNvPr id="42" name="ln">
            <a:extLst>
              <a:ext uri="{FF2B5EF4-FFF2-40B4-BE49-F238E27FC236}">
                <a16:creationId xmlns:a16="http://schemas.microsoft.com/office/drawing/2014/main" id="{3B2ACD73-6A1B-DE81-531C-FD32DE9F39ED}"/>
              </a:ext>
            </a:extLst>
          </p:cNvPr>
          <p:cNvSpPr txBox="1">
            <a:spLocks noGrp="1"/>
          </p:cNvSpPr>
          <p:nvPr/>
        </p:nvSpPr>
        <p:spPr>
          <a:xfrm>
            <a:off x="365760" y="822960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ServiceNow</a:t>
            </a:r>
          </a:p>
        </p:txBody>
      </p:sp>
      <p:sp>
        <p:nvSpPr>
          <p:cNvPr id="44" name="bar">
            <a:extLst>
              <a:ext uri="{FF2B5EF4-FFF2-40B4-BE49-F238E27FC236}">
                <a16:creationId xmlns:a16="http://schemas.microsoft.com/office/drawing/2014/main" id="{3D1853AC-9917-FF21-2CE0-E584F4533EF1}"/>
              </a:ext>
            </a:extLst>
          </p:cNvPr>
          <p:cNvSpPr>
            <a:spLocks noGrp="1"/>
          </p:cNvSpPr>
          <p:nvPr/>
        </p:nvSpPr>
        <p:spPr>
          <a:xfrm>
            <a:off x="1737360" y="822960"/>
            <a:ext cx="2111166" cy="402336"/>
          </a:xfrm>
          <a:prstGeom prst="roundRect">
            <a:avLst>
              <a:gd name="adj" fmla="val 8000"/>
            </a:avLst>
          </a:prstGeom>
          <a:solidFill>
            <a:srgbClr val="0D1B5E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46" name="pct">
            <a:extLst>
              <a:ext uri="{FF2B5EF4-FFF2-40B4-BE49-F238E27FC236}">
                <a16:creationId xmlns:a16="http://schemas.microsoft.com/office/drawing/2014/main" id="{FA468F51-9426-DB15-4B34-C49321EFEC60}"/>
              </a:ext>
            </a:extLst>
          </p:cNvPr>
          <p:cNvSpPr txBox="1">
            <a:spLocks noGrp="1"/>
          </p:cNvSpPr>
          <p:nvPr/>
        </p:nvSpPr>
        <p:spPr>
          <a:xfrm>
            <a:off x="3939966" y="822960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44.4%</a:t>
            </a:r>
          </a:p>
        </p:txBody>
      </p:sp>
      <p:sp>
        <p:nvSpPr>
          <p:cNvPr id="48" name="ln">
            <a:extLst>
              <a:ext uri="{FF2B5EF4-FFF2-40B4-BE49-F238E27FC236}">
                <a16:creationId xmlns:a16="http://schemas.microsoft.com/office/drawing/2014/main" id="{F799D0AD-2748-FF38-83AB-FFDDE6EC4E8D}"/>
              </a:ext>
            </a:extLst>
          </p:cNvPr>
          <p:cNvSpPr txBox="1">
            <a:spLocks noGrp="1"/>
          </p:cNvSpPr>
          <p:nvPr/>
        </p:nvSpPr>
        <p:spPr>
          <a:xfrm>
            <a:off x="365760" y="1316736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Atlassian</a:t>
            </a:r>
          </a:p>
        </p:txBody>
      </p:sp>
      <p:sp>
        <p:nvSpPr>
          <p:cNvPr id="50" name="bar">
            <a:extLst>
              <a:ext uri="{FF2B5EF4-FFF2-40B4-BE49-F238E27FC236}">
                <a16:creationId xmlns:a16="http://schemas.microsoft.com/office/drawing/2014/main" id="{3D22674F-15E2-02C3-81B0-94D6D145D268}"/>
              </a:ext>
            </a:extLst>
          </p:cNvPr>
          <p:cNvSpPr>
            <a:spLocks noGrp="1"/>
          </p:cNvSpPr>
          <p:nvPr/>
        </p:nvSpPr>
        <p:spPr>
          <a:xfrm>
            <a:off x="1737360" y="1316736"/>
            <a:ext cx="584850" cy="402336"/>
          </a:xfrm>
          <a:prstGeom prst="roundRect">
            <a:avLst>
              <a:gd name="adj" fmla="val 8000"/>
            </a:avLst>
          </a:prstGeom>
          <a:solidFill>
            <a:srgbClr val="1A3A8F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52" name="pct">
            <a:extLst>
              <a:ext uri="{FF2B5EF4-FFF2-40B4-BE49-F238E27FC236}">
                <a16:creationId xmlns:a16="http://schemas.microsoft.com/office/drawing/2014/main" id="{F7E1EFDD-EB9E-4D81-9E0A-E75EC2F6CE9F}"/>
              </a:ext>
            </a:extLst>
          </p:cNvPr>
          <p:cNvSpPr txBox="1">
            <a:spLocks noGrp="1"/>
          </p:cNvSpPr>
          <p:nvPr/>
        </p:nvSpPr>
        <p:spPr>
          <a:xfrm>
            <a:off x="2413650" y="1316736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12.3%</a:t>
            </a:r>
          </a:p>
        </p:txBody>
      </p:sp>
      <p:sp>
        <p:nvSpPr>
          <p:cNvPr id="54" name="ln">
            <a:extLst>
              <a:ext uri="{FF2B5EF4-FFF2-40B4-BE49-F238E27FC236}">
                <a16:creationId xmlns:a16="http://schemas.microsoft.com/office/drawing/2014/main" id="{694A9F82-8A8D-4636-220C-3EE74279986E}"/>
              </a:ext>
            </a:extLst>
          </p:cNvPr>
          <p:cNvSpPr txBox="1">
            <a:spLocks noGrp="1"/>
          </p:cNvSpPr>
          <p:nvPr/>
        </p:nvSpPr>
        <p:spPr>
          <a:xfrm>
            <a:off x="365760" y="1810512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BMC Helix</a:t>
            </a:r>
          </a:p>
        </p:txBody>
      </p:sp>
      <p:sp>
        <p:nvSpPr>
          <p:cNvPr id="56" name="bar">
            <a:extLst>
              <a:ext uri="{FF2B5EF4-FFF2-40B4-BE49-F238E27FC236}">
                <a16:creationId xmlns:a16="http://schemas.microsoft.com/office/drawing/2014/main" id="{AEFCCA6B-6BF6-1164-C99D-8B4D0E0A8DC1}"/>
              </a:ext>
            </a:extLst>
          </p:cNvPr>
          <p:cNvSpPr>
            <a:spLocks noGrp="1"/>
          </p:cNvSpPr>
          <p:nvPr/>
        </p:nvSpPr>
        <p:spPr>
          <a:xfrm>
            <a:off x="1737360" y="1810512"/>
            <a:ext cx="404164" cy="402336"/>
          </a:xfrm>
          <a:prstGeom prst="roundRect">
            <a:avLst>
              <a:gd name="adj" fmla="val 8000"/>
            </a:avLst>
          </a:prstGeom>
          <a:solidFill>
            <a:srgbClr val="1B7B85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58" name="pct">
            <a:extLst>
              <a:ext uri="{FF2B5EF4-FFF2-40B4-BE49-F238E27FC236}">
                <a16:creationId xmlns:a16="http://schemas.microsoft.com/office/drawing/2014/main" id="{1CA6FE2E-DDA9-A223-26CC-16C70CBAA543}"/>
              </a:ext>
            </a:extLst>
          </p:cNvPr>
          <p:cNvSpPr txBox="1">
            <a:spLocks noGrp="1"/>
          </p:cNvSpPr>
          <p:nvPr/>
        </p:nvSpPr>
        <p:spPr>
          <a:xfrm>
            <a:off x="2232964" y="1810512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8.5%</a:t>
            </a:r>
          </a:p>
        </p:txBody>
      </p:sp>
      <p:sp>
        <p:nvSpPr>
          <p:cNvPr id="60" name="ln">
            <a:extLst>
              <a:ext uri="{FF2B5EF4-FFF2-40B4-BE49-F238E27FC236}">
                <a16:creationId xmlns:a16="http://schemas.microsoft.com/office/drawing/2014/main" id="{AACB0C82-235E-2D44-7E9F-78F6E31F797E}"/>
              </a:ext>
            </a:extLst>
          </p:cNvPr>
          <p:cNvSpPr txBox="1">
            <a:spLocks noGrp="1"/>
          </p:cNvSpPr>
          <p:nvPr/>
        </p:nvSpPr>
        <p:spPr>
          <a:xfrm>
            <a:off x="365760" y="2304288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Ivanti</a:t>
            </a:r>
          </a:p>
        </p:txBody>
      </p:sp>
      <p:sp>
        <p:nvSpPr>
          <p:cNvPr id="62" name="bar">
            <a:extLst>
              <a:ext uri="{FF2B5EF4-FFF2-40B4-BE49-F238E27FC236}">
                <a16:creationId xmlns:a16="http://schemas.microsoft.com/office/drawing/2014/main" id="{0B567FCC-D014-06F8-6C73-BC8443561923}"/>
              </a:ext>
            </a:extLst>
          </p:cNvPr>
          <p:cNvSpPr>
            <a:spLocks noGrp="1"/>
          </p:cNvSpPr>
          <p:nvPr/>
        </p:nvSpPr>
        <p:spPr>
          <a:xfrm>
            <a:off x="1737360" y="2304288"/>
            <a:ext cx="294802" cy="402336"/>
          </a:xfrm>
          <a:prstGeom prst="roundRect">
            <a:avLst>
              <a:gd name="adj" fmla="val 8000"/>
            </a:avLst>
          </a:prstGeom>
          <a:solidFill>
            <a:srgbClr val="1F6FBA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64" name="pct">
            <a:extLst>
              <a:ext uri="{FF2B5EF4-FFF2-40B4-BE49-F238E27FC236}">
                <a16:creationId xmlns:a16="http://schemas.microsoft.com/office/drawing/2014/main" id="{AE7418F8-882F-4679-2319-57DEE0F96BC0}"/>
              </a:ext>
            </a:extLst>
          </p:cNvPr>
          <p:cNvSpPr txBox="1">
            <a:spLocks noGrp="1"/>
          </p:cNvSpPr>
          <p:nvPr/>
        </p:nvSpPr>
        <p:spPr>
          <a:xfrm>
            <a:off x="2123602" y="2304288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6.2%</a:t>
            </a:r>
          </a:p>
        </p:txBody>
      </p:sp>
      <p:sp>
        <p:nvSpPr>
          <p:cNvPr id="66" name="ln">
            <a:extLst>
              <a:ext uri="{FF2B5EF4-FFF2-40B4-BE49-F238E27FC236}">
                <a16:creationId xmlns:a16="http://schemas.microsoft.com/office/drawing/2014/main" id="{C93CE046-7A6A-D68D-D495-5957E38B9601}"/>
              </a:ext>
            </a:extLst>
          </p:cNvPr>
          <p:cNvSpPr txBox="1">
            <a:spLocks noGrp="1"/>
          </p:cNvSpPr>
          <p:nvPr/>
        </p:nvSpPr>
        <p:spPr>
          <a:xfrm>
            <a:off x="365760" y="2798064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Freshworks</a:t>
            </a:r>
          </a:p>
        </p:txBody>
      </p:sp>
      <p:sp>
        <p:nvSpPr>
          <p:cNvPr id="68" name="bar">
            <a:extLst>
              <a:ext uri="{FF2B5EF4-FFF2-40B4-BE49-F238E27FC236}">
                <a16:creationId xmlns:a16="http://schemas.microsoft.com/office/drawing/2014/main" id="{37077E38-F59E-47AF-07D1-4A736E43E4FB}"/>
              </a:ext>
            </a:extLst>
          </p:cNvPr>
          <p:cNvSpPr>
            <a:spLocks noGrp="1"/>
          </p:cNvSpPr>
          <p:nvPr/>
        </p:nvSpPr>
        <p:spPr>
          <a:xfrm>
            <a:off x="1737360" y="2798064"/>
            <a:ext cx="275783" cy="402336"/>
          </a:xfrm>
          <a:prstGeom prst="roundRect">
            <a:avLst>
              <a:gd name="adj" fmla="val 8000"/>
            </a:avLst>
          </a:prstGeom>
          <a:solidFill>
            <a:srgbClr val="5B6B73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70" name="pct">
            <a:extLst>
              <a:ext uri="{FF2B5EF4-FFF2-40B4-BE49-F238E27FC236}">
                <a16:creationId xmlns:a16="http://schemas.microsoft.com/office/drawing/2014/main" id="{2A47226E-7148-1276-0B4C-831F2B8E1BCD}"/>
              </a:ext>
            </a:extLst>
          </p:cNvPr>
          <p:cNvSpPr txBox="1">
            <a:spLocks noGrp="1"/>
          </p:cNvSpPr>
          <p:nvPr/>
        </p:nvSpPr>
        <p:spPr>
          <a:xfrm>
            <a:off x="2104583" y="2798064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5.8%</a:t>
            </a:r>
          </a:p>
        </p:txBody>
      </p:sp>
      <p:sp>
        <p:nvSpPr>
          <p:cNvPr id="72" name="ln">
            <a:extLst>
              <a:ext uri="{FF2B5EF4-FFF2-40B4-BE49-F238E27FC236}">
                <a16:creationId xmlns:a16="http://schemas.microsoft.com/office/drawing/2014/main" id="{35D29E99-D3CA-BEBB-2A3E-65AD758B6DF9}"/>
              </a:ext>
            </a:extLst>
          </p:cNvPr>
          <p:cNvSpPr txBox="1">
            <a:spLocks noGrp="1"/>
          </p:cNvSpPr>
          <p:nvPr/>
        </p:nvSpPr>
        <p:spPr>
          <a:xfrm>
            <a:off x="365760" y="3291840"/>
            <a:ext cx="128016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r"/>
            <a:r>
              <a:rPr lang="es-ES" sz="1050" b="1" i="1">
                <a:solidFill>
                  <a:srgbClr val="0D1B5E"/>
                </a:solidFill>
                <a:latin typeface="Reddit Sans"/>
                <a:ea typeface="Reddit Sans"/>
              </a:rPr>
              <a:t>Otros</a:t>
            </a:r>
          </a:p>
        </p:txBody>
      </p:sp>
      <p:sp>
        <p:nvSpPr>
          <p:cNvPr id="74" name="bar">
            <a:extLst>
              <a:ext uri="{FF2B5EF4-FFF2-40B4-BE49-F238E27FC236}">
                <a16:creationId xmlns:a16="http://schemas.microsoft.com/office/drawing/2014/main" id="{48B9B25E-15B3-3C8B-A9CF-209F1C25E6B0}"/>
              </a:ext>
            </a:extLst>
          </p:cNvPr>
          <p:cNvSpPr>
            <a:spLocks noGrp="1"/>
          </p:cNvSpPr>
          <p:nvPr/>
        </p:nvSpPr>
        <p:spPr>
          <a:xfrm>
            <a:off x="1737360" y="3291840"/>
            <a:ext cx="1084112" cy="402336"/>
          </a:xfrm>
          <a:prstGeom prst="roundRect">
            <a:avLst>
              <a:gd name="adj" fmla="val 8000"/>
            </a:avLst>
          </a:prstGeom>
          <a:solidFill>
            <a:srgbClr val="D1D5DB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76" name="pct">
            <a:extLst>
              <a:ext uri="{FF2B5EF4-FFF2-40B4-BE49-F238E27FC236}">
                <a16:creationId xmlns:a16="http://schemas.microsoft.com/office/drawing/2014/main" id="{C739B923-0CF1-E7FC-0CE0-AC503323BE50}"/>
              </a:ext>
            </a:extLst>
          </p:cNvPr>
          <p:cNvSpPr txBox="1">
            <a:spLocks noGrp="1"/>
          </p:cNvSpPr>
          <p:nvPr/>
        </p:nvSpPr>
        <p:spPr>
          <a:xfrm>
            <a:off x="2912912" y="3291840"/>
            <a:ext cx="640080" cy="40233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100" b="1">
                <a:solidFill>
                  <a:srgbClr val="0D1B5E"/>
                </a:solidFill>
                <a:latin typeface="Reddit Sans"/>
                <a:ea typeface="Reddit Sans"/>
              </a:rPr>
              <a:t>22.8%</a:t>
            </a:r>
          </a:p>
        </p:txBody>
      </p:sp>
      <p:sp>
        <p:nvSpPr>
          <p:cNvPr id="86" name="bn">
            <a:extLst>
              <a:ext uri="{FF2B5EF4-FFF2-40B4-BE49-F238E27FC236}">
                <a16:creationId xmlns:a16="http://schemas.microsoft.com/office/drawing/2014/main" id="{7066C97C-195C-9B3C-074C-F5EA7F30196D}"/>
              </a:ext>
            </a:extLst>
          </p:cNvPr>
          <p:cNvSpPr txBox="1">
            <a:spLocks noGrp="1"/>
          </p:cNvSpPr>
          <p:nvPr/>
        </p:nvSpPr>
        <p:spPr>
          <a:xfrm>
            <a:off x="5507082" y="792045"/>
            <a:ext cx="777240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b="1">
                <a:solidFill>
                  <a:srgbClr val="0097A7"/>
                </a:solidFill>
                <a:latin typeface="Reddit Sans"/>
                <a:ea typeface="Reddit Sans"/>
              </a:rPr>
              <a:t>9</a:t>
            </a:r>
          </a:p>
        </p:txBody>
      </p:sp>
      <p:sp>
        <p:nvSpPr>
          <p:cNvPr id="88" name="bd">
            <a:extLst>
              <a:ext uri="{FF2B5EF4-FFF2-40B4-BE49-F238E27FC236}">
                <a16:creationId xmlns:a16="http://schemas.microsoft.com/office/drawing/2014/main" id="{B6268D97-7923-7BB8-5D8E-F0B6FCF3A71C}"/>
              </a:ext>
            </a:extLst>
          </p:cNvPr>
          <p:cNvSpPr txBox="1">
            <a:spLocks noGrp="1"/>
          </p:cNvSpPr>
          <p:nvPr/>
        </p:nvSpPr>
        <p:spPr>
          <a:xfrm>
            <a:off x="6330042" y="792045"/>
            <a:ext cx="1925682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000">
                <a:solidFill>
                  <a:srgbClr val="333333"/>
                </a:solidFill>
                <a:latin typeface="Reddit Sans"/>
                <a:ea typeface="Reddit Sans"/>
              </a:rPr>
              <a:t>Capacidades IA evaluadas por Gartner
mín. 5 para calificar</a:t>
            </a:r>
          </a:p>
        </p:txBody>
      </p:sp>
      <p:sp>
        <p:nvSpPr>
          <p:cNvPr id="92" name="bn">
            <a:extLst>
              <a:ext uri="{FF2B5EF4-FFF2-40B4-BE49-F238E27FC236}">
                <a16:creationId xmlns:a16="http://schemas.microsoft.com/office/drawing/2014/main" id="{3E8DC062-C6D9-C108-E568-0FBED824BDA1}"/>
              </a:ext>
            </a:extLst>
          </p:cNvPr>
          <p:cNvSpPr txBox="1">
            <a:spLocks noGrp="1"/>
          </p:cNvSpPr>
          <p:nvPr/>
        </p:nvSpPr>
        <p:spPr>
          <a:xfrm>
            <a:off x="5507082" y="1578429"/>
            <a:ext cx="777240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b="1">
                <a:solidFill>
                  <a:srgbClr val="0097A7"/>
                </a:solidFill>
                <a:latin typeface="Reddit Sans"/>
                <a:ea typeface="Reddit Sans"/>
              </a:rPr>
              <a:t>ITIL v5</a:t>
            </a:r>
          </a:p>
        </p:txBody>
      </p:sp>
      <p:sp>
        <p:nvSpPr>
          <p:cNvPr id="94" name="bd">
            <a:extLst>
              <a:ext uri="{FF2B5EF4-FFF2-40B4-BE49-F238E27FC236}">
                <a16:creationId xmlns:a16="http://schemas.microsoft.com/office/drawing/2014/main" id="{609E48BA-D352-26AB-EB4D-208A41127F2D}"/>
              </a:ext>
            </a:extLst>
          </p:cNvPr>
          <p:cNvSpPr txBox="1">
            <a:spLocks noGrp="1"/>
          </p:cNvSpPr>
          <p:nvPr/>
        </p:nvSpPr>
        <p:spPr>
          <a:xfrm>
            <a:off x="6330042" y="1578429"/>
            <a:ext cx="1925682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000">
                <a:solidFill>
                  <a:srgbClr val="333333"/>
                </a:solidFill>
                <a:latin typeface="Reddit Sans"/>
                <a:ea typeface="Reddit Sans"/>
              </a:rPr>
              <a:t>Lanzado 12 feb 2026
Nuevo estándar de la industria</a:t>
            </a:r>
          </a:p>
        </p:txBody>
      </p:sp>
      <p:sp>
        <p:nvSpPr>
          <p:cNvPr id="98" name="bn">
            <a:extLst>
              <a:ext uri="{FF2B5EF4-FFF2-40B4-BE49-F238E27FC236}">
                <a16:creationId xmlns:a16="http://schemas.microsoft.com/office/drawing/2014/main" id="{CC58E608-1FDD-930C-25BC-FED802924F3E}"/>
              </a:ext>
            </a:extLst>
          </p:cNvPr>
          <p:cNvSpPr txBox="1">
            <a:spLocks noGrp="1"/>
          </p:cNvSpPr>
          <p:nvPr/>
        </p:nvSpPr>
        <p:spPr>
          <a:xfrm>
            <a:off x="5507082" y="2364813"/>
            <a:ext cx="777240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b="1">
                <a:solidFill>
                  <a:srgbClr val="0097A7"/>
                </a:solidFill>
                <a:latin typeface="Reddit Sans"/>
                <a:ea typeface="Reddit Sans"/>
              </a:rPr>
              <a:t>68%</a:t>
            </a:r>
          </a:p>
        </p:txBody>
      </p:sp>
      <p:sp>
        <p:nvSpPr>
          <p:cNvPr id="100" name="bd">
            <a:extLst>
              <a:ext uri="{FF2B5EF4-FFF2-40B4-BE49-F238E27FC236}">
                <a16:creationId xmlns:a16="http://schemas.microsoft.com/office/drawing/2014/main" id="{7E57363F-47DB-A74A-AF02-4BCDFC28DCB1}"/>
              </a:ext>
            </a:extLst>
          </p:cNvPr>
          <p:cNvSpPr txBox="1">
            <a:spLocks noGrp="1"/>
          </p:cNvSpPr>
          <p:nvPr/>
        </p:nvSpPr>
        <p:spPr>
          <a:xfrm>
            <a:off x="6330042" y="2364813"/>
            <a:ext cx="1925682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000">
                <a:solidFill>
                  <a:srgbClr val="333333"/>
                </a:solidFill>
                <a:latin typeface="Reddit Sans"/>
                <a:ea typeface="Reddit Sans"/>
              </a:rPr>
              <a:t>Adoptarán XLA en 2026
(Experience Level Agreements)</a:t>
            </a:r>
          </a:p>
        </p:txBody>
      </p:sp>
      <p:sp>
        <p:nvSpPr>
          <p:cNvPr id="104" name="bn">
            <a:extLst>
              <a:ext uri="{FF2B5EF4-FFF2-40B4-BE49-F238E27FC236}">
                <a16:creationId xmlns:a16="http://schemas.microsoft.com/office/drawing/2014/main" id="{B3B47693-D349-15AD-AF78-83FAC494A16A}"/>
              </a:ext>
            </a:extLst>
          </p:cNvPr>
          <p:cNvSpPr txBox="1">
            <a:spLocks noGrp="1"/>
          </p:cNvSpPr>
          <p:nvPr/>
        </p:nvSpPr>
        <p:spPr>
          <a:xfrm>
            <a:off x="5507082" y="3151197"/>
            <a:ext cx="777240" cy="56932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b="1">
                <a:solidFill>
                  <a:srgbClr val="0097A7"/>
                </a:solidFill>
                <a:latin typeface="Reddit Sans"/>
                <a:ea typeface="Reddit Sans"/>
              </a:rPr>
              <a:t>44.4%</a:t>
            </a:r>
          </a:p>
        </p:txBody>
      </p:sp>
      <p:sp>
        <p:nvSpPr>
          <p:cNvPr id="106" name="bd">
            <a:extLst>
              <a:ext uri="{FF2B5EF4-FFF2-40B4-BE49-F238E27FC236}">
                <a16:creationId xmlns:a16="http://schemas.microsoft.com/office/drawing/2014/main" id="{FA9F9116-A413-6B75-BFE3-1D7FBAA1FD52}"/>
              </a:ext>
            </a:extLst>
          </p:cNvPr>
          <p:cNvSpPr txBox="1">
            <a:spLocks noGrp="1"/>
          </p:cNvSpPr>
          <p:nvPr/>
        </p:nvSpPr>
        <p:spPr>
          <a:xfrm>
            <a:off x="6297385" y="3178411"/>
            <a:ext cx="2284910" cy="54210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r>
              <a:rPr lang="es-ES" sz="1000" b="1" err="1">
                <a:solidFill>
                  <a:srgbClr val="333333"/>
                </a:solidFill>
                <a:latin typeface="Reddit Sans"/>
                <a:ea typeface="Reddit Sans"/>
              </a:rPr>
              <a:t>ServiceNow</a:t>
            </a:r>
            <a:r>
              <a:rPr lang="es-ES" sz="1000" b="1">
                <a:solidFill>
                  <a:srgbClr val="333333"/>
                </a:solidFill>
                <a:latin typeface="Reddit Sans"/>
                <a:ea typeface="Reddit Sans"/>
              </a:rPr>
              <a:t> </a:t>
            </a:r>
            <a:r>
              <a:rPr lang="es-ES" sz="1000">
                <a:solidFill>
                  <a:srgbClr val="333333"/>
                </a:solidFill>
                <a:latin typeface="Reddit Sans"/>
                <a:ea typeface="Reddit Sans"/>
              </a:rPr>
              <a:t> Líder
en MQ AI </a:t>
            </a:r>
            <a:r>
              <a:rPr lang="es-ES" sz="1000" err="1">
                <a:solidFill>
                  <a:srgbClr val="333333"/>
                </a:solidFill>
                <a:latin typeface="Reddit Sans"/>
                <a:ea typeface="Reddit Sans"/>
              </a:rPr>
              <a:t>Applications</a:t>
            </a:r>
            <a:r>
              <a:rPr lang="es-ES" sz="1000">
                <a:solidFill>
                  <a:srgbClr val="333333"/>
                </a:solidFill>
                <a:latin typeface="Reddit Sans"/>
                <a:ea typeface="Reddit Sans"/>
              </a:rPr>
              <a:t> in ITSM 2025</a:t>
            </a:r>
          </a:p>
        </p:txBody>
      </p:sp>
      <p:sp>
        <p:nvSpPr>
          <p:cNvPr id="110" name="qtxt">
            <a:extLst>
              <a:ext uri="{FF2B5EF4-FFF2-40B4-BE49-F238E27FC236}">
                <a16:creationId xmlns:a16="http://schemas.microsoft.com/office/drawing/2014/main" id="{60BAE401-2A97-E144-0191-1604F0E984C4}"/>
              </a:ext>
            </a:extLst>
          </p:cNvPr>
          <p:cNvSpPr txBox="1">
            <a:spLocks noGrp="1"/>
          </p:cNvSpPr>
          <p:nvPr/>
        </p:nvSpPr>
        <p:spPr>
          <a:xfrm>
            <a:off x="693419" y="3893602"/>
            <a:ext cx="4434840" cy="56170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s-ES" sz="950" i="1">
                <a:solidFill>
                  <a:schemeClr val="bg2"/>
                </a:solidFill>
                <a:latin typeface="Reddit Sans"/>
                <a:ea typeface="Reddit Sans"/>
              </a:rPr>
              <a:t>"El diferenciador real está en la plataforma propietaria, profundidad de IA y madurez del modelo de gobierno"</a:t>
            </a:r>
          </a:p>
        </p:txBody>
      </p:sp>
      <p:sp>
        <p:nvSpPr>
          <p:cNvPr id="3" name="src">
            <a:extLst>
              <a:ext uri="{FF2B5EF4-FFF2-40B4-BE49-F238E27FC236}">
                <a16:creationId xmlns:a16="http://schemas.microsoft.com/office/drawing/2014/main" id="{998551FB-5122-C5E5-7C81-367AD5D1AD71}"/>
              </a:ext>
            </a:extLst>
          </p:cNvPr>
          <p:cNvSpPr txBox="1">
            <a:spLocks noGrp="1"/>
          </p:cNvSpPr>
          <p:nvPr/>
        </p:nvSpPr>
        <p:spPr>
          <a:xfrm>
            <a:off x="630282" y="4631001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50">
                <a:solidFill>
                  <a:srgbClr val="6B7280"/>
                </a:solidFill>
                <a:latin typeface="Calibri"/>
              </a:rPr>
              <a:t>Fuente: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3"/>
              </a:rPr>
              <a:t>Gartner MQ AI Applications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4"/>
              </a:rPr>
              <a:t>PeopleCert ITIL v5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5"/>
              </a:rPr>
              <a:t>Freshservice XLA Report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6"/>
              </a:rPr>
              <a:t>IDC ITSM Market Share</a:t>
            </a:r>
            <a:endParaRPr lang="es-ES" sz="750" u="sng">
              <a:solidFill>
                <a:srgbClr val="1A3A8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681015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15F133-DCFA-C0B8-1846-1B4B2E47D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7328" y="167734"/>
            <a:ext cx="4145187" cy="572700"/>
          </a:xfrm>
        </p:spPr>
        <p:txBody>
          <a:bodyPr>
            <a:normAutofit fontScale="90000"/>
          </a:bodyPr>
          <a:lstStyle/>
          <a:p>
            <a:r>
              <a:rPr lang="en-US" sz="1800" kern="1200" err="1">
                <a:cs typeface="+mn-cs"/>
                <a:sym typeface="Arial"/>
              </a:rPr>
              <a:t>Brechas</a:t>
            </a:r>
            <a:r>
              <a:rPr lang="en-US" sz="1800" kern="1200">
                <a:cs typeface="+mn-cs"/>
                <a:sym typeface="Arial"/>
              </a:rPr>
              <a:t> del mercado y </a:t>
            </a:r>
            <a:r>
              <a:rPr lang="en-US" sz="1800" kern="1200" err="1">
                <a:cs typeface="+mn-cs"/>
                <a:sym typeface="Arial"/>
              </a:rPr>
              <a:t>oportunidades</a:t>
            </a:r>
            <a:endParaRPr lang="es-ES" sz="1800" kern="1200" err="1">
              <a:cs typeface="+mn-cs"/>
              <a:sym typeface="Arial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D95AC8E-9D82-484D-9010-F28844ECB1E3}"/>
              </a:ext>
            </a:extLst>
          </p:cNvPr>
          <p:cNvSpPr txBox="1"/>
          <p:nvPr/>
        </p:nvSpPr>
        <p:spPr>
          <a:xfrm>
            <a:off x="4435928" y="677636"/>
            <a:ext cx="4305301" cy="41292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lnSpc>
                <a:spcPct val="150000"/>
              </a:lnSpc>
              <a:buChar char="•"/>
            </a:pP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Falta de </a:t>
            </a: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Modelos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 de </a:t>
            </a: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Madurez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​ </a:t>
            </a:r>
            <a:endParaRPr lang="es-ES" sz="1100" b="1">
              <a:solidFill>
                <a:srgbClr val="0E337C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No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existen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modelos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claros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que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ayuden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a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los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clientes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a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entender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su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estado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actual y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evolución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  <a:r>
              <a:rPr lang="en-US" sz="1100" err="1">
                <a:solidFill>
                  <a:srgbClr val="444444"/>
                </a:solidFill>
                <a:latin typeface="Reddit Sans"/>
                <a:cs typeface="Segoe UI"/>
              </a:rPr>
              <a:t>en</a:t>
            </a:r>
            <a:r>
              <a:rPr lang="en-US" sz="1100">
                <a:solidFill>
                  <a:srgbClr val="444444"/>
                </a:solidFill>
                <a:latin typeface="Reddit Sans"/>
                <a:cs typeface="Segoe UI"/>
              </a:rPr>
              <a:t> ITSM con IA.​ </a:t>
            </a:r>
          </a:p>
          <a:p>
            <a:pPr>
              <a:lnSpc>
                <a:spcPct val="150000"/>
              </a:lnSpc>
            </a:pPr>
            <a:endParaRPr lang="en-US" sz="11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Char char="•"/>
            </a:pP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Limitada </a:t>
            </a: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Gobernanza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 de IA​ </a:t>
            </a:r>
          </a:p>
          <a:p>
            <a:pPr>
              <a:lnSpc>
                <a:spcPct val="150000"/>
              </a:lnSpc>
            </a:pPr>
            <a:r>
              <a:rPr lang="en-US" sz="1100">
                <a:latin typeface="Reddit Sans"/>
                <a:ea typeface="Reddit Sans"/>
              </a:rPr>
              <a:t>La </a:t>
            </a:r>
            <a:r>
              <a:rPr lang="en-US" sz="1100" err="1">
                <a:latin typeface="Reddit Sans"/>
                <a:ea typeface="Reddit Sans"/>
              </a:rPr>
              <a:t>gobernanza</a:t>
            </a:r>
            <a:r>
              <a:rPr lang="en-US" sz="1100">
                <a:latin typeface="Reddit Sans"/>
                <a:ea typeface="Reddit Sans"/>
              </a:rPr>
              <a:t> de </a:t>
            </a:r>
            <a:r>
              <a:rPr lang="en-US" sz="1100" err="1">
                <a:latin typeface="Reddit Sans"/>
                <a:ea typeface="Reddit Sans"/>
              </a:rPr>
              <a:t>inteligencia</a:t>
            </a:r>
            <a:r>
              <a:rPr lang="en-US" sz="1100">
                <a:latin typeface="Reddit Sans"/>
                <a:ea typeface="Reddit Sans"/>
              </a:rPr>
              <a:t> artificial </a:t>
            </a:r>
            <a:r>
              <a:rPr lang="en-US" sz="1100" err="1">
                <a:latin typeface="Reddit Sans"/>
                <a:ea typeface="Reddit Sans"/>
              </a:rPr>
              <a:t>está</a:t>
            </a:r>
            <a:r>
              <a:rPr lang="en-US" sz="1100">
                <a:latin typeface="Reddit Sans"/>
                <a:ea typeface="Reddit Sans"/>
              </a:rPr>
              <a:t> poco </a:t>
            </a:r>
            <a:r>
              <a:rPr lang="en-US" sz="1100" err="1">
                <a:latin typeface="Reddit Sans"/>
                <a:ea typeface="Reddit Sans"/>
              </a:rPr>
              <a:t>desarrollada</a:t>
            </a:r>
            <a:r>
              <a:rPr lang="en-US" sz="1100">
                <a:latin typeface="Reddit Sans"/>
                <a:ea typeface="Reddit Sans"/>
              </a:rPr>
              <a:t>, </a:t>
            </a:r>
            <a:r>
              <a:rPr lang="en-US" sz="1100" err="1">
                <a:latin typeface="Reddit Sans"/>
                <a:ea typeface="Reddit Sans"/>
              </a:rPr>
              <a:t>creando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riesgos</a:t>
            </a:r>
            <a:r>
              <a:rPr lang="en-US" sz="1100">
                <a:latin typeface="Reddit Sans"/>
                <a:ea typeface="Reddit Sans"/>
              </a:rPr>
              <a:t> y </a:t>
            </a:r>
            <a:r>
              <a:rPr lang="en-US" sz="1100" err="1">
                <a:latin typeface="Reddit Sans"/>
                <a:ea typeface="Reddit Sans"/>
              </a:rPr>
              <a:t>limitando</a:t>
            </a:r>
            <a:r>
              <a:rPr lang="en-US" sz="1100">
                <a:latin typeface="Reddit Sans"/>
                <a:ea typeface="Reddit Sans"/>
              </a:rPr>
              <a:t> la </a:t>
            </a:r>
            <a:r>
              <a:rPr lang="en-US" sz="1100" err="1">
                <a:latin typeface="Reddit Sans"/>
                <a:ea typeface="Reddit Sans"/>
              </a:rPr>
              <a:t>adopción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tecnológica</a:t>
            </a:r>
            <a:r>
              <a:rPr lang="en-US" sz="1100">
                <a:latin typeface="Reddit Sans"/>
                <a:ea typeface="Reddit Sans"/>
              </a:rPr>
              <a:t>.​ </a:t>
            </a:r>
          </a:p>
          <a:p>
            <a:pPr>
              <a:lnSpc>
                <a:spcPct val="150000"/>
              </a:lnSpc>
            </a:pPr>
            <a:endParaRPr lang="en-US" sz="1100" b="1">
              <a:solidFill>
                <a:srgbClr val="0E337C"/>
              </a:solidFill>
              <a:latin typeface="Reddit Sans"/>
              <a:cs typeface="Segoe UI"/>
            </a:endParaRPr>
          </a:p>
          <a:p>
            <a:pPr marL="171450" indent="-171450">
              <a:lnSpc>
                <a:spcPct val="150000"/>
              </a:lnSpc>
              <a:buChar char="•"/>
            </a:pP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Desalineación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 de </a:t>
            </a: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Modelos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 de Pricing​ </a:t>
            </a:r>
          </a:p>
          <a:p>
            <a:pPr>
              <a:lnSpc>
                <a:spcPct val="150000"/>
              </a:lnSpc>
            </a:pPr>
            <a:r>
              <a:rPr lang="en-US" sz="1100">
                <a:latin typeface="Reddit Sans"/>
                <a:ea typeface="Reddit Sans"/>
              </a:rPr>
              <a:t>Los </a:t>
            </a:r>
            <a:r>
              <a:rPr lang="en-US" sz="1100" err="1">
                <a:latin typeface="Reddit Sans"/>
                <a:ea typeface="Reddit Sans"/>
              </a:rPr>
              <a:t>modelos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tradicionales</a:t>
            </a:r>
            <a:r>
              <a:rPr lang="en-US" sz="1100">
                <a:latin typeface="Reddit Sans"/>
                <a:ea typeface="Reddit Sans"/>
              </a:rPr>
              <a:t> de pricing no se </a:t>
            </a:r>
            <a:r>
              <a:rPr lang="en-US" sz="1100" err="1">
                <a:latin typeface="Reddit Sans"/>
                <a:ea typeface="Reddit Sans"/>
              </a:rPr>
              <a:t>alinean</a:t>
            </a:r>
            <a:r>
              <a:rPr lang="en-US" sz="1100">
                <a:latin typeface="Reddit Sans"/>
                <a:ea typeface="Reddit Sans"/>
              </a:rPr>
              <a:t> con </a:t>
            </a:r>
            <a:r>
              <a:rPr lang="en-US" sz="1100" err="1">
                <a:latin typeface="Reddit Sans"/>
                <a:ea typeface="Reddit Sans"/>
              </a:rPr>
              <a:t>resultados</a:t>
            </a:r>
            <a:r>
              <a:rPr lang="en-US" sz="1100">
                <a:latin typeface="Reddit Sans"/>
                <a:ea typeface="Reddit Sans"/>
              </a:rPr>
              <a:t> de </a:t>
            </a:r>
            <a:r>
              <a:rPr lang="en-US" sz="1100" err="1">
                <a:latin typeface="Reddit Sans"/>
                <a:ea typeface="Reddit Sans"/>
              </a:rPr>
              <a:t>negocio</a:t>
            </a:r>
            <a:r>
              <a:rPr lang="en-US" sz="1100">
                <a:latin typeface="Reddit Sans"/>
                <a:ea typeface="Reddit Sans"/>
              </a:rPr>
              <a:t>, </a:t>
            </a:r>
            <a:r>
              <a:rPr lang="en-US" sz="1100" err="1">
                <a:latin typeface="Reddit Sans"/>
                <a:ea typeface="Reddit Sans"/>
              </a:rPr>
              <a:t>dificultando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demostrar</a:t>
            </a:r>
            <a:r>
              <a:rPr lang="en-US" sz="1100">
                <a:latin typeface="Reddit Sans"/>
                <a:ea typeface="Reddit Sans"/>
              </a:rPr>
              <a:t> valor tangible.​ </a:t>
            </a:r>
          </a:p>
          <a:p>
            <a:pPr>
              <a:lnSpc>
                <a:spcPct val="150000"/>
              </a:lnSpc>
            </a:pPr>
            <a:endParaRPr lang="en-US" sz="1100">
              <a:latin typeface="Reddit Sans"/>
              <a:ea typeface="Reddit Sans"/>
            </a:endParaRPr>
          </a:p>
          <a:p>
            <a:pPr marL="171450" indent="-171450">
              <a:lnSpc>
                <a:spcPct val="150000"/>
              </a:lnSpc>
              <a:buChar char="•"/>
            </a:pP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Oportunidad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 </a:t>
            </a:r>
            <a:r>
              <a:rPr lang="en-US" sz="1100" b="1" err="1">
                <a:solidFill>
                  <a:srgbClr val="0E337C"/>
                </a:solidFill>
                <a:latin typeface="Reddit Sans"/>
                <a:cs typeface="Segoe UI"/>
              </a:rPr>
              <a:t>Estratégica</a:t>
            </a:r>
            <a:r>
              <a:rPr lang="en-US" sz="1100" b="1">
                <a:solidFill>
                  <a:srgbClr val="0E337C"/>
                </a:solidFill>
                <a:latin typeface="Reddit Sans"/>
                <a:cs typeface="Segoe UI"/>
              </a:rPr>
              <a:t>​ </a:t>
            </a:r>
          </a:p>
          <a:p>
            <a:pPr>
              <a:lnSpc>
                <a:spcPct val="150000"/>
              </a:lnSpc>
            </a:pPr>
            <a:r>
              <a:rPr lang="en-US" sz="1100">
                <a:latin typeface="Reddit Sans"/>
                <a:ea typeface="Reddit Sans"/>
              </a:rPr>
              <a:t>Un framework </a:t>
            </a:r>
            <a:r>
              <a:rPr lang="en-US" sz="1100" err="1">
                <a:latin typeface="Reddit Sans"/>
                <a:ea typeface="Reddit Sans"/>
              </a:rPr>
              <a:t>operativo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completo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que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integre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madurez</a:t>
            </a:r>
            <a:r>
              <a:rPr lang="en-US" sz="1100">
                <a:latin typeface="Reddit Sans"/>
                <a:ea typeface="Reddit Sans"/>
              </a:rPr>
              <a:t>, </a:t>
            </a:r>
            <a:r>
              <a:rPr lang="en-US" sz="1100" err="1">
                <a:latin typeface="Reddit Sans"/>
                <a:ea typeface="Reddit Sans"/>
              </a:rPr>
              <a:t>gobernanza</a:t>
            </a:r>
            <a:r>
              <a:rPr lang="en-US" sz="1100">
                <a:latin typeface="Reddit Sans"/>
                <a:ea typeface="Reddit Sans"/>
              </a:rPr>
              <a:t> y </a:t>
            </a:r>
            <a:r>
              <a:rPr lang="en-US" sz="1100" err="1">
                <a:latin typeface="Reddit Sans"/>
                <a:ea typeface="Reddit Sans"/>
              </a:rPr>
              <a:t>alineación</a:t>
            </a:r>
            <a:r>
              <a:rPr lang="en-US" sz="1100">
                <a:latin typeface="Reddit Sans"/>
                <a:ea typeface="Reddit Sans"/>
              </a:rPr>
              <a:t> a </a:t>
            </a:r>
            <a:r>
              <a:rPr lang="en-US" sz="1100" err="1">
                <a:latin typeface="Reddit Sans"/>
                <a:ea typeface="Reddit Sans"/>
              </a:rPr>
              <a:t>resultados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garantiza</a:t>
            </a:r>
            <a:r>
              <a:rPr lang="en-US" sz="1100">
                <a:latin typeface="Reddit Sans"/>
                <a:ea typeface="Reddit Sans"/>
              </a:rPr>
              <a:t> </a:t>
            </a:r>
            <a:r>
              <a:rPr lang="en-US" sz="1100" err="1">
                <a:latin typeface="Reddit Sans"/>
                <a:ea typeface="Reddit Sans"/>
              </a:rPr>
              <a:t>diferenciación</a:t>
            </a:r>
            <a:r>
              <a:rPr lang="en-US" sz="1100">
                <a:latin typeface="Reddit Sans"/>
                <a:ea typeface="Reddit Sans"/>
              </a:rPr>
              <a:t> y valor continuo.</a:t>
            </a:r>
          </a:p>
        </p:txBody>
      </p:sp>
      <p:pic>
        <p:nvPicPr>
          <p:cNvPr id="3" name="Imagen 2" descr="a gap in a bridge">
            <a:extLst>
              <a:ext uri="{FF2B5EF4-FFF2-40B4-BE49-F238E27FC236}">
                <a16:creationId xmlns:a16="http://schemas.microsoft.com/office/drawing/2014/main" id="{BD44B07F-ABDF-9330-3F0C-7F511A4857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72" r="1872" b="156"/>
          <a:stretch>
            <a:fillRect/>
          </a:stretch>
        </p:blipFill>
        <p:spPr>
          <a:xfrm>
            <a:off x="-961736" y="-2041"/>
            <a:ext cx="5015016" cy="5151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73726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9504ED-8B97-81B2-4F4C-21B231961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z="1800"/>
              <a:t>7 Tendencias que definen el mercado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0914D8E-EF4F-E49C-D425-6F1DA6C85EAE}"/>
              </a:ext>
            </a:extLst>
          </p:cNvPr>
          <p:cNvSpPr/>
          <p:nvPr/>
        </p:nvSpPr>
        <p:spPr>
          <a:xfrm>
            <a:off x="329974" y="1177869"/>
            <a:ext cx="2000250" cy="1577408"/>
          </a:xfrm>
          <a:prstGeom prst="rect">
            <a:avLst/>
          </a:prstGeom>
          <a:solidFill>
            <a:srgbClr val="22AAEE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6B283EB-57A8-42D5-CE59-F1D70F74631A}"/>
              </a:ext>
            </a:extLst>
          </p:cNvPr>
          <p:cNvSpPr/>
          <p:nvPr/>
        </p:nvSpPr>
        <p:spPr>
          <a:xfrm>
            <a:off x="544286" y="1470963"/>
            <a:ext cx="1785938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GenAI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C140BA4D-F980-4124-1CF0-2198CE56A45B}"/>
              </a:ext>
            </a:extLst>
          </p:cNvPr>
          <p:cNvSpPr/>
          <p:nvPr/>
        </p:nvSpPr>
        <p:spPr>
          <a:xfrm>
            <a:off x="544286" y="1686839"/>
            <a:ext cx="1856817" cy="46880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Integración de modelos de</a:t>
            </a:r>
            <a:br>
              <a:rPr lang="en-US" sz="900" kern="0" spc="-18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lenguaje para la automatización</a:t>
            </a:r>
            <a:br>
              <a:rPr lang="en-US" sz="900" kern="0" spc="-18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creativa y analítica.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129B338D-5614-647D-E3E6-D2E11960480B}"/>
              </a:ext>
            </a:extLst>
          </p:cNvPr>
          <p:cNvSpPr/>
          <p:nvPr/>
        </p:nvSpPr>
        <p:spPr>
          <a:xfrm>
            <a:off x="1062209" y="909978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12" name="Image 0" descr="-250ad3de.png">
            <a:extLst>
              <a:ext uri="{FF2B5EF4-FFF2-40B4-BE49-F238E27FC236}">
                <a16:creationId xmlns:a16="http://schemas.microsoft.com/office/drawing/2014/main" id="{B69AE644-2A42-B766-51B8-70F60D0D4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296" y="1046016"/>
            <a:ext cx="350044" cy="292894"/>
          </a:xfrm>
          <a:prstGeom prst="rect">
            <a:avLst/>
          </a:prstGeom>
        </p:spPr>
      </p:pic>
      <p:sp>
        <p:nvSpPr>
          <p:cNvPr id="14" name="Shape 6">
            <a:extLst>
              <a:ext uri="{FF2B5EF4-FFF2-40B4-BE49-F238E27FC236}">
                <a16:creationId xmlns:a16="http://schemas.microsoft.com/office/drawing/2014/main" id="{15E70DEB-F9B2-1D78-1292-7BE533CE32D9}"/>
              </a:ext>
            </a:extLst>
          </p:cNvPr>
          <p:cNvSpPr/>
          <p:nvPr/>
        </p:nvSpPr>
        <p:spPr>
          <a:xfrm>
            <a:off x="2473099" y="1177869"/>
            <a:ext cx="2000250" cy="1577408"/>
          </a:xfrm>
          <a:prstGeom prst="rect">
            <a:avLst/>
          </a:prstGeom>
          <a:solidFill>
            <a:srgbClr val="1F9CDA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A9B0020B-9630-E782-722E-3CEB80025705}"/>
              </a:ext>
            </a:extLst>
          </p:cNvPr>
          <p:cNvSpPr/>
          <p:nvPr/>
        </p:nvSpPr>
        <p:spPr>
          <a:xfrm>
            <a:off x="2687411" y="1470963"/>
            <a:ext cx="1785938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Agentic AI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B48E31E9-9B04-0A0E-1EB2-562A6D4B5520}"/>
              </a:ext>
            </a:extLst>
          </p:cNvPr>
          <p:cNvSpPr/>
          <p:nvPr/>
        </p:nvSpPr>
        <p:spPr>
          <a:xfrm>
            <a:off x="2687411" y="1686839"/>
            <a:ext cx="1785938" cy="62507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Evolución hacia sistemas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autónomos capaces de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ejecutar procesos complejos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sin intervención humana.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4494A8F9-2CA1-EE94-50DD-07B6319B31F7}"/>
              </a:ext>
            </a:extLst>
          </p:cNvPr>
          <p:cNvSpPr/>
          <p:nvPr/>
        </p:nvSpPr>
        <p:spPr>
          <a:xfrm>
            <a:off x="3205334" y="909978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97CAD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2" name="Image 1" descr="5719bd22.png">
            <a:extLst>
              <a:ext uri="{FF2B5EF4-FFF2-40B4-BE49-F238E27FC236}">
                <a16:creationId xmlns:a16="http://schemas.microsoft.com/office/drawing/2014/main" id="{3F0F8949-CEF4-3624-F5AE-3799455C0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5093" y="1058572"/>
            <a:ext cx="271463" cy="242888"/>
          </a:xfrm>
          <a:prstGeom prst="rect">
            <a:avLst/>
          </a:prstGeom>
        </p:spPr>
      </p:pic>
      <p:sp>
        <p:nvSpPr>
          <p:cNvPr id="24" name="Shape 10">
            <a:extLst>
              <a:ext uri="{FF2B5EF4-FFF2-40B4-BE49-F238E27FC236}">
                <a16:creationId xmlns:a16="http://schemas.microsoft.com/office/drawing/2014/main" id="{1A331B34-3EDC-F8F7-950A-E16FB0391DB2}"/>
              </a:ext>
            </a:extLst>
          </p:cNvPr>
          <p:cNvSpPr/>
          <p:nvPr/>
        </p:nvSpPr>
        <p:spPr>
          <a:xfrm>
            <a:off x="4616224" y="1177869"/>
            <a:ext cx="2000250" cy="1577408"/>
          </a:xfrm>
          <a:prstGeom prst="rect">
            <a:avLst/>
          </a:prstGeom>
          <a:solidFill>
            <a:srgbClr val="1C8EC6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EDE1921A-6D04-7054-5B36-D540BA7EF308}"/>
              </a:ext>
            </a:extLst>
          </p:cNvPr>
          <p:cNvSpPr/>
          <p:nvPr/>
        </p:nvSpPr>
        <p:spPr>
          <a:xfrm>
            <a:off x="4830536" y="1470964"/>
            <a:ext cx="1785938" cy="3422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KCS (Knowledge</a:t>
            </a:r>
            <a:b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Centered Service)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99878086-71B8-D5D4-C28C-28BED7DAF15C}"/>
              </a:ext>
            </a:extLst>
          </p:cNvPr>
          <p:cNvSpPr/>
          <p:nvPr/>
        </p:nvSpPr>
        <p:spPr>
          <a:xfrm>
            <a:off x="4830536" y="1857953"/>
            <a:ext cx="1785938" cy="46880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Maximización del valor del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conocimiento en la resolución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 incidencias.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462E42AE-F2EA-E4AB-4C57-AF5C20E60CB7}"/>
              </a:ext>
            </a:extLst>
          </p:cNvPr>
          <p:cNvSpPr/>
          <p:nvPr/>
        </p:nvSpPr>
        <p:spPr>
          <a:xfrm>
            <a:off x="5348459" y="909978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66E99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32" name="Image 2" descr="0016b4a2.png">
            <a:extLst>
              <a:ext uri="{FF2B5EF4-FFF2-40B4-BE49-F238E27FC236}">
                <a16:creationId xmlns:a16="http://schemas.microsoft.com/office/drawing/2014/main" id="{1D6E04B2-8B63-78D6-9D55-1E6D929519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2168" y="1058573"/>
            <a:ext cx="185738" cy="242888"/>
          </a:xfrm>
          <a:prstGeom prst="rect">
            <a:avLst/>
          </a:prstGeom>
        </p:spPr>
      </p:pic>
      <p:sp>
        <p:nvSpPr>
          <p:cNvPr id="34" name="Shape 14">
            <a:extLst>
              <a:ext uri="{FF2B5EF4-FFF2-40B4-BE49-F238E27FC236}">
                <a16:creationId xmlns:a16="http://schemas.microsoft.com/office/drawing/2014/main" id="{D4162BD6-CC4C-6409-52B4-AD0C1344ED64}"/>
              </a:ext>
            </a:extLst>
          </p:cNvPr>
          <p:cNvSpPr/>
          <p:nvPr/>
        </p:nvSpPr>
        <p:spPr>
          <a:xfrm>
            <a:off x="6759349" y="1177869"/>
            <a:ext cx="2000250" cy="1577408"/>
          </a:xfrm>
          <a:prstGeom prst="rect">
            <a:avLst/>
          </a:prstGeom>
          <a:solidFill>
            <a:srgbClr val="1A80B3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15">
            <a:extLst>
              <a:ext uri="{FF2B5EF4-FFF2-40B4-BE49-F238E27FC236}">
                <a16:creationId xmlns:a16="http://schemas.microsoft.com/office/drawing/2014/main" id="{A8919F73-7DAD-D929-DD8E-4444AF5D4FB0}"/>
              </a:ext>
            </a:extLst>
          </p:cNvPr>
          <p:cNvSpPr/>
          <p:nvPr/>
        </p:nvSpPr>
        <p:spPr>
          <a:xfrm>
            <a:off x="6973661" y="1470963"/>
            <a:ext cx="1785938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348"/>
              </a:lnSpc>
            </a:pPr>
            <a:r>
              <a:rPr lang="en-US" sz="115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Shift-Left</a:t>
            </a:r>
            <a:endParaRPr lang="en-US" sz="1150" kern="0" spc="-71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sp>
        <p:nvSpPr>
          <p:cNvPr id="38" name="Text 16">
            <a:extLst>
              <a:ext uri="{FF2B5EF4-FFF2-40B4-BE49-F238E27FC236}">
                <a16:creationId xmlns:a16="http://schemas.microsoft.com/office/drawing/2014/main" id="{8D368FF9-9D8F-56EF-7E1D-19F517A0F602}"/>
              </a:ext>
            </a:extLst>
          </p:cNvPr>
          <p:cNvSpPr/>
          <p:nvPr/>
        </p:nvSpPr>
        <p:spPr>
          <a:xfrm>
            <a:off x="6973661" y="1686839"/>
            <a:ext cx="1785938" cy="62507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Estrategia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para </a:t>
            </a: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trasladar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la</a:t>
            </a:r>
            <a:br>
              <a:rPr lang="en-US" sz="900" kern="0" spc="-18"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resolución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 </a:t>
            </a: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problemas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a</a:t>
            </a:r>
            <a:br>
              <a:rPr lang="en-US" sz="900" kern="0" spc="-18"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etapas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más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temprana</a:t>
            </a: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</a:rPr>
              <a:t>s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</a:rPr>
              <a:t> o al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</a:rPr>
            </a:br>
            <a:r>
              <a:rPr lang="en-US" sz="900" kern="0" spc="-18" err="1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</a:rPr>
              <a:t>autoservicio</a:t>
            </a: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</a:rPr>
              <a:t>. </a:t>
            </a:r>
            <a:r>
              <a:rPr lang="es-E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</a:rPr>
              <a:t>Para anticipar, automatizar y resolver. </a:t>
            </a:r>
            <a:endParaRPr lang="en-US" sz="900" kern="0" spc="-18">
              <a:solidFill>
                <a:srgbClr val="FFFFFF">
                  <a:alpha val="80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40" name="Shape 17">
            <a:extLst>
              <a:ext uri="{FF2B5EF4-FFF2-40B4-BE49-F238E27FC236}">
                <a16:creationId xmlns:a16="http://schemas.microsoft.com/office/drawing/2014/main" id="{FBF9F1F8-8EF8-9FDC-4671-08D01B901A07}"/>
              </a:ext>
            </a:extLst>
          </p:cNvPr>
          <p:cNvSpPr/>
          <p:nvPr/>
        </p:nvSpPr>
        <p:spPr>
          <a:xfrm>
            <a:off x="7491584" y="909978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46086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42" name="Image 3" descr="01f2aa22.png">
            <a:extLst>
              <a:ext uri="{FF2B5EF4-FFF2-40B4-BE49-F238E27FC236}">
                <a16:creationId xmlns:a16="http://schemas.microsoft.com/office/drawing/2014/main" id="{D6F53355-D8DC-9F6D-10CF-C1B3B891ED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43317" y="1086864"/>
            <a:ext cx="221456" cy="192881"/>
          </a:xfrm>
          <a:prstGeom prst="rect">
            <a:avLst/>
          </a:prstGeom>
        </p:spPr>
      </p:pic>
      <p:sp>
        <p:nvSpPr>
          <p:cNvPr id="44" name="Shape 18">
            <a:extLst>
              <a:ext uri="{FF2B5EF4-FFF2-40B4-BE49-F238E27FC236}">
                <a16:creationId xmlns:a16="http://schemas.microsoft.com/office/drawing/2014/main" id="{81737293-8CAF-169F-7774-5574CAB89C32}"/>
              </a:ext>
            </a:extLst>
          </p:cNvPr>
          <p:cNvSpPr/>
          <p:nvPr/>
        </p:nvSpPr>
        <p:spPr>
          <a:xfrm>
            <a:off x="329974" y="3056504"/>
            <a:ext cx="2714625" cy="1435894"/>
          </a:xfrm>
          <a:prstGeom prst="rect">
            <a:avLst/>
          </a:prstGeom>
          <a:solidFill>
            <a:srgbClr val="17719F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46" name="Text 19">
            <a:extLst>
              <a:ext uri="{FF2B5EF4-FFF2-40B4-BE49-F238E27FC236}">
                <a16:creationId xmlns:a16="http://schemas.microsoft.com/office/drawing/2014/main" id="{E020F63A-F911-8F36-EA07-8CC6B000F0CA}"/>
              </a:ext>
            </a:extLst>
          </p:cNvPr>
          <p:cNvSpPr/>
          <p:nvPr/>
        </p:nvSpPr>
        <p:spPr>
          <a:xfrm>
            <a:off x="544286" y="3436685"/>
            <a:ext cx="2500313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348"/>
              </a:lnSpc>
            </a:pPr>
            <a:r>
              <a:rPr lang="en-US" sz="1150" kern="0" spc="-71">
                <a:solidFill>
                  <a:srgbClr val="FFFFFF"/>
                </a:solidFill>
                <a:latin typeface="Reddit Sans"/>
                <a:ea typeface="Reddit Sans"/>
              </a:rPr>
              <a:t>De SLA  a Outcomes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8" name="Text 20">
            <a:extLst>
              <a:ext uri="{FF2B5EF4-FFF2-40B4-BE49-F238E27FC236}">
                <a16:creationId xmlns:a16="http://schemas.microsoft.com/office/drawing/2014/main" id="{9306C6FE-541D-EC45-829C-43F54F164A86}"/>
              </a:ext>
            </a:extLst>
          </p:cNvPr>
          <p:cNvSpPr/>
          <p:nvPr/>
        </p:nvSpPr>
        <p:spPr>
          <a:xfrm>
            <a:off x="544286" y="3652560"/>
            <a:ext cx="2500313" cy="46880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Enfoque orientado a resultados de negocio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tangibles más que a la mera entrega de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servicios.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50" name="Shape 21">
            <a:extLst>
              <a:ext uri="{FF2B5EF4-FFF2-40B4-BE49-F238E27FC236}">
                <a16:creationId xmlns:a16="http://schemas.microsoft.com/office/drawing/2014/main" id="{F3381207-CB2F-887C-8F55-E7829979166C}"/>
              </a:ext>
            </a:extLst>
          </p:cNvPr>
          <p:cNvSpPr/>
          <p:nvPr/>
        </p:nvSpPr>
        <p:spPr>
          <a:xfrm>
            <a:off x="1419396" y="2788614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15172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52" name="Image 4" descr="-327b961e.png">
            <a:extLst>
              <a:ext uri="{FF2B5EF4-FFF2-40B4-BE49-F238E27FC236}">
                <a16:creationId xmlns:a16="http://schemas.microsoft.com/office/drawing/2014/main" id="{385C9FAC-1EAE-4F2C-78FC-347EE93075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0548" y="2965462"/>
            <a:ext cx="214313" cy="178594"/>
          </a:xfrm>
          <a:prstGeom prst="rect">
            <a:avLst/>
          </a:prstGeom>
        </p:spPr>
      </p:pic>
      <p:sp>
        <p:nvSpPr>
          <p:cNvPr id="54" name="Shape 22">
            <a:extLst>
              <a:ext uri="{FF2B5EF4-FFF2-40B4-BE49-F238E27FC236}">
                <a16:creationId xmlns:a16="http://schemas.microsoft.com/office/drawing/2014/main" id="{823B772D-821C-8266-2E30-C973A89E2810}"/>
              </a:ext>
            </a:extLst>
          </p:cNvPr>
          <p:cNvSpPr/>
          <p:nvPr/>
        </p:nvSpPr>
        <p:spPr>
          <a:xfrm>
            <a:off x="3187474" y="3056504"/>
            <a:ext cx="2714625" cy="1435894"/>
          </a:xfrm>
          <a:prstGeom prst="rect">
            <a:avLst/>
          </a:prstGeom>
          <a:solidFill>
            <a:srgbClr val="14638B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56" name="Text 23">
            <a:extLst>
              <a:ext uri="{FF2B5EF4-FFF2-40B4-BE49-F238E27FC236}">
                <a16:creationId xmlns:a16="http://schemas.microsoft.com/office/drawing/2014/main" id="{AFE3D3EA-0E11-55F8-EB0A-B9BC9EDDE1DE}"/>
              </a:ext>
            </a:extLst>
          </p:cNvPr>
          <p:cNvSpPr/>
          <p:nvPr/>
        </p:nvSpPr>
        <p:spPr>
          <a:xfrm>
            <a:off x="3401786" y="3436685"/>
            <a:ext cx="2500313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48"/>
              </a:lnSpc>
            </a:pPr>
            <a:r>
              <a:rPr lang="en-US" sz="117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Observabilidad predictiva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58" name="Text 24">
            <a:extLst>
              <a:ext uri="{FF2B5EF4-FFF2-40B4-BE49-F238E27FC236}">
                <a16:creationId xmlns:a16="http://schemas.microsoft.com/office/drawing/2014/main" id="{2E6251BF-E52F-C8C2-CF80-4D95449F579A}"/>
              </a:ext>
            </a:extLst>
          </p:cNvPr>
          <p:cNvSpPr/>
          <p:nvPr/>
        </p:nvSpPr>
        <p:spPr>
          <a:xfrm>
            <a:off x="3401787" y="3652561"/>
            <a:ext cx="2568959" cy="31253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Uso de análisis avanzado para prevenir fallos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antes de que afecten al usuario.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60" name="Shape 25">
            <a:extLst>
              <a:ext uri="{FF2B5EF4-FFF2-40B4-BE49-F238E27FC236}">
                <a16:creationId xmlns:a16="http://schemas.microsoft.com/office/drawing/2014/main" id="{AD745265-C508-4540-E17D-28FB8AC17B20}"/>
              </a:ext>
            </a:extLst>
          </p:cNvPr>
          <p:cNvSpPr/>
          <p:nvPr/>
        </p:nvSpPr>
        <p:spPr>
          <a:xfrm>
            <a:off x="4276896" y="2788614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E435E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62" name="Image 5" descr="53d78b62.png">
            <a:extLst>
              <a:ext uri="{FF2B5EF4-FFF2-40B4-BE49-F238E27FC236}">
                <a16:creationId xmlns:a16="http://schemas.microsoft.com/office/drawing/2014/main" id="{2243BDA0-3EE6-B4D8-E202-6A592148B6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12934" y="2971741"/>
            <a:ext cx="271463" cy="171450"/>
          </a:xfrm>
          <a:prstGeom prst="rect">
            <a:avLst/>
          </a:prstGeom>
        </p:spPr>
      </p:pic>
      <p:sp>
        <p:nvSpPr>
          <p:cNvPr id="64" name="Shape 26">
            <a:extLst>
              <a:ext uri="{FF2B5EF4-FFF2-40B4-BE49-F238E27FC236}">
                <a16:creationId xmlns:a16="http://schemas.microsoft.com/office/drawing/2014/main" id="{B77E5D54-B14F-B6EC-AB4F-43CD1959D409}"/>
              </a:ext>
            </a:extLst>
          </p:cNvPr>
          <p:cNvSpPr/>
          <p:nvPr/>
        </p:nvSpPr>
        <p:spPr>
          <a:xfrm>
            <a:off x="6044974" y="3056504"/>
            <a:ext cx="2714625" cy="1435894"/>
          </a:xfrm>
          <a:prstGeom prst="rect">
            <a:avLst/>
          </a:prstGeom>
          <a:solidFill>
            <a:srgbClr val="115577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3AC13772-6B2B-1805-9F2C-BE7527D8F87D}"/>
              </a:ext>
            </a:extLst>
          </p:cNvPr>
          <p:cNvSpPr/>
          <p:nvPr/>
        </p:nvSpPr>
        <p:spPr>
          <a:xfrm>
            <a:off x="6259286" y="3436685"/>
            <a:ext cx="2500313" cy="1711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348"/>
              </a:lnSpc>
            </a:pPr>
            <a:r>
              <a:rPr lang="en-US" sz="115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ITIL v5 y </a:t>
            </a:r>
            <a:r>
              <a:rPr lang="en-US" sz="1150" kern="0" spc="-7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gobernanza</a:t>
            </a:r>
            <a:r>
              <a:rPr lang="en-US" sz="1150" kern="0" spc="-7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de IA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68" name="Text 28">
            <a:extLst>
              <a:ext uri="{FF2B5EF4-FFF2-40B4-BE49-F238E27FC236}">
                <a16:creationId xmlns:a16="http://schemas.microsoft.com/office/drawing/2014/main" id="{6BD73C05-F811-6AF0-FFFA-E66F7E23F43B}"/>
              </a:ext>
            </a:extLst>
          </p:cNvPr>
          <p:cNvSpPr/>
          <p:nvPr/>
        </p:nvSpPr>
        <p:spPr>
          <a:xfrm>
            <a:off x="6259286" y="3652560"/>
            <a:ext cx="2609478" cy="46880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32"/>
              </a:lnSpc>
              <a:spcBef>
                <a:spcPts val="346"/>
              </a:spcBef>
            </a:pP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Evolución de las mejores prácticas en gestión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 servicios TI hacia la agilidad y la entrega</a:t>
            </a:r>
            <a:b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900" kern="0" spc="-18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continua.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70" name="Shape 29">
            <a:extLst>
              <a:ext uri="{FF2B5EF4-FFF2-40B4-BE49-F238E27FC236}">
                <a16:creationId xmlns:a16="http://schemas.microsoft.com/office/drawing/2014/main" id="{E94EB440-EC53-083D-BFC4-1EE5C94A2D2B}"/>
              </a:ext>
            </a:extLst>
          </p:cNvPr>
          <p:cNvSpPr/>
          <p:nvPr/>
        </p:nvSpPr>
        <p:spPr>
          <a:xfrm>
            <a:off x="7134396" y="2788614"/>
            <a:ext cx="535781" cy="535781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B354A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72" name="Image 6" descr="-41d531de.png">
            <a:extLst>
              <a:ext uri="{FF2B5EF4-FFF2-40B4-BE49-F238E27FC236}">
                <a16:creationId xmlns:a16="http://schemas.microsoft.com/office/drawing/2014/main" id="{D2EB6A91-662C-2B40-DF02-ED238C53DEA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82989" y="2927792"/>
            <a:ext cx="242888" cy="264319"/>
          </a:xfrm>
          <a:prstGeom prst="rect">
            <a:avLst/>
          </a:prstGeom>
        </p:spPr>
      </p:pic>
      <p:sp>
        <p:nvSpPr>
          <p:cNvPr id="74" name="Text 1">
            <a:extLst>
              <a:ext uri="{FF2B5EF4-FFF2-40B4-BE49-F238E27FC236}">
                <a16:creationId xmlns:a16="http://schemas.microsoft.com/office/drawing/2014/main" id="{6B0BC869-E49D-8227-2FBE-24674CEC764E}"/>
              </a:ext>
            </a:extLst>
          </p:cNvPr>
          <p:cNvSpPr/>
          <p:nvPr/>
        </p:nvSpPr>
        <p:spPr>
          <a:xfrm>
            <a:off x="424203" y="621384"/>
            <a:ext cx="8643938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00" kern="0" spc="-25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Fuerzas clave </a:t>
            </a:r>
            <a:r>
              <a:rPr lang="en-US" sz="1200" kern="0" spc="-25" err="1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que</a:t>
            </a:r>
            <a:r>
              <a:rPr lang="en-US" sz="1200" kern="0" spc="-25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200" kern="0" spc="-25" err="1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transformarán</a:t>
            </a:r>
            <a:r>
              <a:rPr lang="en-US" sz="1200" kern="0" spc="-25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 el panorama </a:t>
            </a:r>
            <a:r>
              <a:rPr lang="en-US" sz="1200" kern="0" spc="-25" err="1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tecnológico</a:t>
            </a:r>
            <a:r>
              <a:rPr lang="en-US" sz="1200" kern="0" spc="-25">
                <a:solidFill>
                  <a:srgbClr val="595959"/>
                </a:solidFill>
                <a:latin typeface="Reddit Sans"/>
                <a:ea typeface="Reddit Sans"/>
                <a:cs typeface="Inter Medium" pitchFamily="34" charset="-120"/>
              </a:rPr>
              <a:t> para 2026</a:t>
            </a:r>
            <a:endParaRPr lang="en-US" sz="1200">
              <a:solidFill>
                <a:srgbClr val="595959"/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5" name="src">
            <a:extLst>
              <a:ext uri="{FF2B5EF4-FFF2-40B4-BE49-F238E27FC236}">
                <a16:creationId xmlns:a16="http://schemas.microsoft.com/office/drawing/2014/main" id="{4E27D539-EC37-BF1A-9CD2-6991246DA26C}"/>
              </a:ext>
            </a:extLst>
          </p:cNvPr>
          <p:cNvSpPr txBox="1">
            <a:spLocks noGrp="1"/>
          </p:cNvSpPr>
          <p:nvPr/>
        </p:nvSpPr>
        <p:spPr>
          <a:xfrm>
            <a:off x="320040" y="4658215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50">
                <a:solidFill>
                  <a:srgbClr val="6B7280"/>
                </a:solidFill>
                <a:latin typeface="Calibri"/>
              </a:rPr>
              <a:t>Fuente: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9"/>
              </a:rPr>
              <a:t>Dynatrace AI Observability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10"/>
              </a:rPr>
              <a:t>Gartner Agentic AI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11"/>
              </a:rPr>
              <a:t>PeopleCert ITIL v5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12"/>
              </a:rPr>
              <a:t>TCS IT Services</a:t>
            </a:r>
            <a:endParaRPr lang="es-ES" sz="750" u="sng">
              <a:solidFill>
                <a:srgbClr val="1A3A8F"/>
              </a:solidFill>
              <a:latin typeface="Calibri"/>
            </a:endParaRPr>
          </a:p>
        </p:txBody>
      </p:sp>
      <p:sp>
        <p:nvSpPr>
          <p:cNvPr id="9" name="dsc">
            <a:extLst>
              <a:ext uri="{FF2B5EF4-FFF2-40B4-BE49-F238E27FC236}">
                <a16:creationId xmlns:a16="http://schemas.microsoft.com/office/drawing/2014/main" id="{DE123EA4-048D-1CF1-FB61-0FBA8172EB8B}"/>
              </a:ext>
            </a:extLst>
          </p:cNvPr>
          <p:cNvSpPr txBox="1">
            <a:spLocks noGrp="1"/>
          </p:cNvSpPr>
          <p:nvPr/>
        </p:nvSpPr>
        <p:spPr>
          <a:xfrm>
            <a:off x="431292" y="2435135"/>
            <a:ext cx="1852749" cy="35639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algn="l"/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-26.6% MTTR  ·  +34.6% resolución con GenAI</a:t>
            </a:r>
          </a:p>
        </p:txBody>
      </p:sp>
      <p:sp>
        <p:nvSpPr>
          <p:cNvPr id="13" name="dsc">
            <a:extLst>
              <a:ext uri="{FF2B5EF4-FFF2-40B4-BE49-F238E27FC236}">
                <a16:creationId xmlns:a16="http://schemas.microsoft.com/office/drawing/2014/main" id="{3AD27F7B-18E7-2C7B-964E-4CB9DA4FA951}"/>
              </a:ext>
            </a:extLst>
          </p:cNvPr>
          <p:cNvSpPr txBox="1">
            <a:spLocks noGrp="1"/>
          </p:cNvSpPr>
          <p:nvPr/>
        </p:nvSpPr>
        <p:spPr>
          <a:xfrm>
            <a:off x="425850" y="4248258"/>
            <a:ext cx="2554877" cy="36184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algn="l"/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30% contratos TI </a:t>
            </a:r>
            <a:r>
              <a:rPr lang="es-ES" sz="600" err="1">
                <a:solidFill>
                  <a:schemeClr val="bg1"/>
                </a:solidFill>
                <a:latin typeface="Reddit Sans"/>
                <a:ea typeface="Reddit Sans"/>
              </a:rPr>
              <a:t>enterprise</a:t>
            </a:r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 serán </a:t>
            </a:r>
            <a:r>
              <a:rPr lang="es-ES" sz="600" err="1">
                <a:solidFill>
                  <a:schemeClr val="bg1"/>
                </a:solidFill>
                <a:latin typeface="Reddit Sans"/>
                <a:ea typeface="Reddit Sans"/>
              </a:rPr>
              <a:t>outcome-based</a:t>
            </a:r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 hacia 2029</a:t>
            </a:r>
          </a:p>
        </p:txBody>
      </p:sp>
      <p:sp>
        <p:nvSpPr>
          <p:cNvPr id="17" name="dsc">
            <a:extLst>
              <a:ext uri="{FF2B5EF4-FFF2-40B4-BE49-F238E27FC236}">
                <a16:creationId xmlns:a16="http://schemas.microsoft.com/office/drawing/2014/main" id="{56332DE8-D940-2B20-2898-004B2255ECC1}"/>
              </a:ext>
            </a:extLst>
          </p:cNvPr>
          <p:cNvSpPr txBox="1">
            <a:spLocks noGrp="1"/>
          </p:cNvSpPr>
          <p:nvPr/>
        </p:nvSpPr>
        <p:spPr>
          <a:xfrm>
            <a:off x="6140848" y="4245863"/>
            <a:ext cx="2701834" cy="35639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algn="l"/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8 etapas · 6C AI </a:t>
            </a:r>
            <a:r>
              <a:rPr lang="es-ES" sz="600" err="1">
                <a:solidFill>
                  <a:schemeClr val="bg1"/>
                </a:solidFill>
                <a:latin typeface="Reddit Sans"/>
                <a:ea typeface="Reddit Sans"/>
              </a:rPr>
              <a:t>Capability</a:t>
            </a:r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 Model · gobernanza IA ya no es opcional</a:t>
            </a:r>
          </a:p>
        </p:txBody>
      </p:sp>
      <p:sp>
        <p:nvSpPr>
          <p:cNvPr id="21" name="dsc">
            <a:extLst>
              <a:ext uri="{FF2B5EF4-FFF2-40B4-BE49-F238E27FC236}">
                <a16:creationId xmlns:a16="http://schemas.microsoft.com/office/drawing/2014/main" id="{FE20A471-0E69-78AA-DF4E-916811427E3C}"/>
              </a:ext>
            </a:extLst>
          </p:cNvPr>
          <p:cNvSpPr txBox="1">
            <a:spLocks noGrp="1"/>
          </p:cNvSpPr>
          <p:nvPr/>
        </p:nvSpPr>
        <p:spPr>
          <a:xfrm>
            <a:off x="2569247" y="2418808"/>
            <a:ext cx="1809206" cy="361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51% desplegada · solo 11% plena · &gt;40% proyectos cancelados en 2027</a:t>
            </a:r>
          </a:p>
        </p:txBody>
      </p:sp>
      <p:sp>
        <p:nvSpPr>
          <p:cNvPr id="25" name="dsc">
            <a:extLst>
              <a:ext uri="{FF2B5EF4-FFF2-40B4-BE49-F238E27FC236}">
                <a16:creationId xmlns:a16="http://schemas.microsoft.com/office/drawing/2014/main" id="{7E61382C-ABF6-44B9-5EFD-081A36190A97}"/>
              </a:ext>
            </a:extLst>
          </p:cNvPr>
          <p:cNvSpPr txBox="1">
            <a:spLocks noGrp="1"/>
          </p:cNvSpPr>
          <p:nvPr/>
        </p:nvSpPr>
        <p:spPr>
          <a:xfrm>
            <a:off x="6890875" y="2470839"/>
            <a:ext cx="1907176" cy="35639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N3: USD 104/ticket → N0: USD 2/ticket, cada </a:t>
            </a:r>
            <a:r>
              <a:rPr lang="es-ES" sz="600" err="1">
                <a:solidFill>
                  <a:schemeClr val="bg1"/>
                </a:solidFill>
                <a:latin typeface="Reddit Sans"/>
                <a:ea typeface="Reddit Sans"/>
              </a:rPr>
              <a:t>deflección</a:t>
            </a:r>
            <a:r>
              <a:rPr lang="es-ES" sz="600">
                <a:solidFill>
                  <a:schemeClr val="bg1"/>
                </a:solidFill>
                <a:latin typeface="Reddit Sans"/>
                <a:ea typeface="Reddit Sans"/>
              </a:rPr>
              <a:t> = ahorro medible</a:t>
            </a:r>
            <a:endParaRPr lang="es-ES" sz="6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62371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E4780E-EF61-6AF8-AEAC-C3D4C3DFB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ES" sz="1400"/>
              <a:t>Mercado Global ITSM: Tamaño y Proyección</a:t>
            </a:r>
          </a:p>
          <a:p>
            <a:br>
              <a:rPr lang="en-US" sz="1400"/>
            </a:br>
            <a:endParaRPr lang="en-US" sz="1400"/>
          </a:p>
        </p:txBody>
      </p:sp>
      <p:sp>
        <p:nvSpPr>
          <p:cNvPr id="12" name="ChartSubtitle"/>
          <p:cNvSpPr txBox="1"/>
          <p:nvPr/>
        </p:nvSpPr>
        <p:spPr>
          <a:xfrm rot="16200000">
            <a:off x="-782536" y="2310650"/>
            <a:ext cx="2887686" cy="243672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noAutofit/>
          </a:bodyPr>
          <a:lstStyle/>
          <a:p>
            <a:pPr algn="ctr"/>
            <a:r>
              <a:rPr lang="es-ES" sz="1050">
                <a:solidFill>
                  <a:srgbClr val="8A8A83"/>
                </a:solidFill>
              </a:rPr>
              <a:t>USD Miles de Millones</a:t>
            </a:r>
            <a:endParaRPr lang="es-ES"/>
          </a:p>
        </p:txBody>
      </p:sp>
      <p:graphicFrame>
        <p:nvGraphicFramePr>
          <p:cNvPr id="10" name="Gráfico Mercado ITSM"/>
          <p:cNvGraphicFramePr/>
          <p:nvPr>
            <p:extLst>
              <p:ext uri="{D42A27DB-BD31-4B8C-83A1-F6EECF244321}">
                <p14:modId xmlns:p14="http://schemas.microsoft.com/office/powerpoint/2010/main" val="514862321"/>
              </p:ext>
            </p:extLst>
          </p:nvPr>
        </p:nvGraphicFramePr>
        <p:xfrm>
          <a:off x="843271" y="1200000"/>
          <a:ext cx="8050729" cy="28173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PillGrowth"/>
          <p:cNvSpPr/>
          <p:nvPr/>
        </p:nvSpPr>
        <p:spPr>
          <a:xfrm>
            <a:off x="1352586" y="3944943"/>
            <a:ext cx="1900000" cy="330000"/>
          </a:xfrm>
          <a:prstGeom prst="roundRect">
            <a:avLst>
              <a:gd name="adj" fmla="val 50000"/>
            </a:avLst>
          </a:prstGeom>
          <a:solidFill>
            <a:srgbClr val="DCEAEA"/>
          </a:solidFill>
          <a:ln>
            <a:noFill/>
          </a:ln>
        </p:spPr>
        <p:txBody>
          <a:bodyPr rtlCol="0" anchor="ctr">
            <a:noAutofit/>
          </a:bodyPr>
          <a:lstStyle/>
          <a:p>
            <a:pPr algn="ctr"/>
            <a:r>
              <a:rPr lang="es-ES" sz="1050" b="1">
                <a:solidFill>
                  <a:srgbClr val="16414A"/>
                </a:solidFill>
              </a:rPr>
              <a:t>CAGR 9.3%</a:t>
            </a:r>
          </a:p>
        </p:txBody>
      </p:sp>
      <p:sp>
        <p:nvSpPr>
          <p:cNvPr id="14" name="PillApps"/>
          <p:cNvSpPr/>
          <p:nvPr/>
        </p:nvSpPr>
        <p:spPr>
          <a:xfrm>
            <a:off x="3983586" y="3944943"/>
            <a:ext cx="1900000" cy="330000"/>
          </a:xfrm>
          <a:prstGeom prst="roundRect">
            <a:avLst>
              <a:gd name="adj" fmla="val 50000"/>
            </a:avLst>
          </a:prstGeom>
          <a:solidFill>
            <a:srgbClr val="F2E0D5"/>
          </a:solidFill>
          <a:ln>
            <a:noFill/>
          </a:ln>
        </p:spPr>
        <p:txBody>
          <a:bodyPr rtlCol="0" anchor="ctr">
            <a:noAutofit/>
          </a:bodyPr>
          <a:lstStyle/>
          <a:p>
            <a:pPr algn="ctr"/>
            <a:r>
              <a:rPr lang="es-ES" sz="1050" b="1">
                <a:solidFill>
                  <a:srgbClr val="A84824"/>
                </a:solidFill>
              </a:rPr>
              <a:t>CAGR 14.8%</a:t>
            </a:r>
          </a:p>
        </p:txBody>
      </p:sp>
      <p:sp>
        <p:nvSpPr>
          <p:cNvPr id="15" name="PillBusiness"/>
          <p:cNvSpPr/>
          <p:nvPr/>
        </p:nvSpPr>
        <p:spPr>
          <a:xfrm>
            <a:off x="6614586" y="3944943"/>
            <a:ext cx="1900000" cy="330000"/>
          </a:xfrm>
          <a:prstGeom prst="roundRect">
            <a:avLst>
              <a:gd name="adj" fmla="val 50000"/>
            </a:avLst>
          </a:prstGeom>
          <a:solidFill>
            <a:srgbClr val="EEDCE2"/>
          </a:solidFill>
          <a:ln>
            <a:noFill/>
          </a:ln>
        </p:spPr>
        <p:txBody>
          <a:bodyPr rtlCol="0" anchor="ctr">
            <a:noAutofit/>
          </a:bodyPr>
          <a:lstStyle/>
          <a:p>
            <a:pPr algn="ctr"/>
            <a:r>
              <a:rPr lang="es-ES" sz="1050" b="1">
                <a:solidFill>
                  <a:srgbClr val="903C54"/>
                </a:solidFill>
              </a:rPr>
              <a:t>CAGR 17.2%</a:t>
            </a:r>
          </a:p>
        </p:txBody>
      </p:sp>
      <p:sp>
        <p:nvSpPr>
          <p:cNvPr id="16" name="NoteGrowth"/>
          <p:cNvSpPr txBox="1"/>
          <p:nvPr/>
        </p:nvSpPr>
        <p:spPr>
          <a:xfrm>
            <a:off x="1352586" y="4304943"/>
            <a:ext cx="1900000" cy="240000"/>
          </a:xfrm>
          <a:prstGeom prst="rect">
            <a:avLst/>
          </a:prstGeom>
          <a:noFill/>
        </p:spPr>
        <p:txBody>
          <a:bodyPr rtlCol="0" anchor="t">
            <a:noAutofit/>
          </a:bodyPr>
          <a:lstStyle/>
          <a:p>
            <a:pPr algn="ctr"/>
            <a:r>
              <a:rPr lang="es-ES" sz="850">
                <a:solidFill>
                  <a:srgbClr val="8A8A83"/>
                </a:solidFill>
              </a:rPr>
              <a:t>2024 → 2035</a:t>
            </a:r>
          </a:p>
        </p:txBody>
      </p:sp>
      <p:sp>
        <p:nvSpPr>
          <p:cNvPr id="17" name="NoteApps"/>
          <p:cNvSpPr txBox="1"/>
          <p:nvPr/>
        </p:nvSpPr>
        <p:spPr>
          <a:xfrm>
            <a:off x="3983586" y="4304943"/>
            <a:ext cx="1900000" cy="240000"/>
          </a:xfrm>
          <a:prstGeom prst="rect">
            <a:avLst/>
          </a:prstGeom>
          <a:noFill/>
        </p:spPr>
        <p:txBody>
          <a:bodyPr rtlCol="0" anchor="t">
            <a:noAutofit/>
          </a:bodyPr>
          <a:lstStyle/>
          <a:p>
            <a:pPr algn="ctr"/>
            <a:r>
              <a:rPr lang="es-ES" sz="850">
                <a:solidFill>
                  <a:srgbClr val="8A8A83"/>
                </a:solidFill>
              </a:rPr>
              <a:t>solo 2024</a:t>
            </a:r>
          </a:p>
        </p:txBody>
      </p:sp>
      <p:sp>
        <p:nvSpPr>
          <p:cNvPr id="18" name="NoteBusiness"/>
          <p:cNvSpPr txBox="1"/>
          <p:nvPr/>
        </p:nvSpPr>
        <p:spPr>
          <a:xfrm>
            <a:off x="6614586" y="4304943"/>
            <a:ext cx="1900000" cy="240000"/>
          </a:xfrm>
          <a:prstGeom prst="rect">
            <a:avLst/>
          </a:prstGeom>
          <a:noFill/>
        </p:spPr>
        <p:txBody>
          <a:bodyPr rtlCol="0" anchor="t">
            <a:noAutofit/>
          </a:bodyPr>
          <a:lstStyle/>
          <a:p>
            <a:pPr algn="ctr"/>
            <a:r>
              <a:rPr lang="es-ES" sz="850">
                <a:solidFill>
                  <a:srgbClr val="8A8A83"/>
                </a:solidFill>
              </a:rPr>
              <a:t>2024 → 2035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6BAE6AA-52EB-9743-DE5F-DDE448EB627E}"/>
              </a:ext>
            </a:extLst>
          </p:cNvPr>
          <p:cNvSpPr txBox="1"/>
          <p:nvPr/>
        </p:nvSpPr>
        <p:spPr>
          <a:xfrm>
            <a:off x="250371" y="4661807"/>
            <a:ext cx="7315200" cy="4462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900" b="0">
                <a:solidFill>
                  <a:schemeClr val="bg2"/>
                </a:solidFill>
                <a:latin typeface="-apple-system"/>
                <a:ea typeface="-apple-system"/>
                <a:cs typeface="-apple-system"/>
              </a:rPr>
              <a:t>Fuentes:</a:t>
            </a:r>
            <a:r>
              <a:rPr lang="en-US" sz="900" b="0">
                <a:solidFill>
                  <a:srgbClr val="E6EDF3"/>
                </a:solidFill>
                <a:latin typeface="-apple-system"/>
                <a:ea typeface="-apple-system"/>
                <a:cs typeface="-apple-system"/>
              </a:rPr>
              <a:t> </a:t>
            </a:r>
            <a:r>
              <a:rPr lang="en-US" sz="900" b="0" u="none" strike="noStrike">
                <a:solidFill>
                  <a:srgbClr val="2F81F7"/>
                </a:solidFill>
                <a:latin typeface="-apple-system"/>
                <a:ea typeface="-apple-system"/>
                <a:cs typeface="-apple-system"/>
                <a:hlinkClick r:id="rId3"/>
              </a:rPr>
              <a:t>Growth Market Reports</a:t>
            </a:r>
            <a:r>
              <a:rPr lang="en-US" sz="900" b="0">
                <a:solidFill>
                  <a:srgbClr val="E6EDF3"/>
                </a:solidFill>
                <a:latin typeface="-apple-system"/>
                <a:ea typeface="-apple-system"/>
                <a:cs typeface="-apple-system"/>
              </a:rPr>
              <a:t>, </a:t>
            </a:r>
            <a:r>
              <a:rPr lang="en-US" sz="900" b="0" u="none" strike="noStrike">
                <a:solidFill>
                  <a:srgbClr val="2F81F7"/>
                </a:solidFill>
                <a:latin typeface="-apple-system"/>
                <a:ea typeface="-apple-system"/>
                <a:cs typeface="-apple-system"/>
                <a:hlinkClick r:id="rId4"/>
              </a:rPr>
              <a:t>Apps Run The World</a:t>
            </a:r>
            <a:r>
              <a:rPr lang="en-US" sz="900" b="0">
                <a:solidFill>
                  <a:srgbClr val="E6EDF3"/>
                </a:solidFill>
                <a:latin typeface="-apple-system"/>
                <a:ea typeface="-apple-system"/>
                <a:cs typeface="-apple-system"/>
              </a:rPr>
              <a:t>)</a:t>
            </a:r>
            <a:endParaRPr lang="en-US" sz="900"/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496850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8F4D4865-0F99-8598-73DC-1EAEE649D4A4}"/>
              </a:ext>
            </a:extLst>
          </p:cNvPr>
          <p:cNvSpPr txBox="1"/>
          <p:nvPr/>
        </p:nvSpPr>
        <p:spPr>
          <a:xfrm>
            <a:off x="468085" y="361950"/>
            <a:ext cx="7837714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600" b="1" err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Oportunidad</a:t>
            </a:r>
            <a:r>
              <a:rPr lang="en-US" sz="1600" b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 de Mercado: Colombia y </a:t>
            </a:r>
            <a:r>
              <a:rPr lang="en-US" sz="1600" b="1" err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Latinoamérica</a:t>
            </a:r>
            <a:endParaRPr lang="en-US" sz="1600" b="1" err="1">
              <a:solidFill>
                <a:srgbClr val="0E337C"/>
              </a:solidFill>
              <a:latin typeface="Reddit Sans"/>
              <a:ea typeface="Reddit Sans"/>
            </a:endParaRPr>
          </a:p>
        </p:txBody>
      </p:sp>
      <p:graphicFrame>
        <p:nvGraphicFramePr>
          <p:cNvPr id="11" name="Grafico Oportunidad"/>
          <p:cNvGraphicFramePr/>
          <p:nvPr/>
        </p:nvGraphicFramePr>
        <p:xfrm>
          <a:off x="380000" y="1330000"/>
          <a:ext cx="4600000" cy="26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YC12"/>
          <p:cNvSpPr txBox="1"/>
          <p:nvPr/>
        </p:nvSpPr>
        <p:spPr>
          <a:xfrm>
            <a:off x="957000" y="4020000"/>
            <a:ext cx="130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lstStyle/>
          <a:p>
            <a:pPr algn="ctr"/>
            <a:r>
              <a:rPr lang="es-ES" sz="800">
                <a:solidFill>
                  <a:srgbClr val="8A8A83"/>
                </a:solidFill>
                <a:latin typeface="Reddit Sans"/>
                <a:ea typeface="Reddit Sans"/>
              </a:rPr>
              <a:t>2024 → 2028</a:t>
            </a:r>
          </a:p>
          <a:p>
            <a:pPr algn="ctr"/>
            <a:r>
              <a:rPr lang="es-ES" sz="900" b="1">
                <a:solidFill>
                  <a:srgbClr val="1E8080"/>
                </a:solidFill>
                <a:latin typeface="Reddit Sans"/>
                <a:ea typeface="Reddit Sans"/>
              </a:rPr>
              <a:t>CAGR 12%</a:t>
            </a:r>
          </a:p>
        </p:txBody>
      </p:sp>
      <p:sp>
        <p:nvSpPr>
          <p:cNvPr id="13" name="YC13"/>
          <p:cNvSpPr txBox="1"/>
          <p:nvPr/>
        </p:nvSpPr>
        <p:spPr>
          <a:xfrm>
            <a:off x="2290000" y="4020000"/>
            <a:ext cx="130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lstStyle/>
          <a:p>
            <a:pPr algn="ctr"/>
            <a:r>
              <a:rPr lang="es-ES" sz="800">
                <a:solidFill>
                  <a:srgbClr val="8A8A83"/>
                </a:solidFill>
                <a:latin typeface="Reddit Sans"/>
                <a:ea typeface="Reddit Sans"/>
              </a:rPr>
              <a:t>2025 → 2031</a:t>
            </a:r>
          </a:p>
          <a:p>
            <a:pPr algn="ctr"/>
            <a:r>
              <a:rPr lang="es-ES" sz="900" b="1">
                <a:solidFill>
                  <a:srgbClr val="A44526"/>
                </a:solidFill>
                <a:latin typeface="Reddit Sans"/>
                <a:ea typeface="Reddit Sans"/>
              </a:rPr>
              <a:t>CAGR 16%</a:t>
            </a:r>
          </a:p>
        </p:txBody>
      </p:sp>
      <p:sp>
        <p:nvSpPr>
          <p:cNvPr id="14" name="YC14"/>
          <p:cNvSpPr txBox="1"/>
          <p:nvPr/>
        </p:nvSpPr>
        <p:spPr>
          <a:xfrm>
            <a:off x="3623000" y="4020000"/>
            <a:ext cx="130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lstStyle/>
          <a:p>
            <a:pPr algn="ctr"/>
            <a:r>
              <a:rPr lang="es-ES" sz="800">
                <a:solidFill>
                  <a:srgbClr val="8A8A83"/>
                </a:solidFill>
                <a:latin typeface="Reddit Sans"/>
                <a:ea typeface="Reddit Sans"/>
              </a:rPr>
              <a:t>2026 → 2031</a:t>
            </a:r>
          </a:p>
          <a:p>
            <a:pPr algn="ctr"/>
            <a:r>
              <a:rPr lang="es-ES" sz="900" b="1">
                <a:solidFill>
                  <a:srgbClr val="C57A00"/>
                </a:solidFill>
                <a:latin typeface="Reddit Sans"/>
                <a:ea typeface="Reddit Sans"/>
              </a:rPr>
              <a:t>CAGR 14.08%</a:t>
            </a:r>
          </a:p>
        </p:txBody>
      </p:sp>
      <p:sp>
        <p:nvSpPr>
          <p:cNvPr id="20" name="PanelHeader"/>
          <p:cNvSpPr txBox="1"/>
          <p:nvPr/>
        </p:nvSpPr>
        <p:spPr>
          <a:xfrm>
            <a:off x="5150000" y="1030514"/>
            <a:ext cx="362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s-ES" sz="1200" b="1">
                <a:solidFill>
                  <a:srgbClr val="16233F"/>
                </a:solidFill>
                <a:latin typeface="Reddit Sans"/>
                <a:ea typeface="Reddit Sans"/>
              </a:rPr>
              <a:t>Colombia: Factores de Oportunidad</a:t>
            </a:r>
          </a:p>
        </p:txBody>
      </p:sp>
      <p:sp>
        <p:nvSpPr>
          <p:cNvPr id="21" name="CardNavy"/>
          <p:cNvSpPr txBox="1"/>
          <p:nvPr/>
        </p:nvSpPr>
        <p:spPr>
          <a:xfrm>
            <a:off x="5150000" y="1660000"/>
            <a:ext cx="1770000" cy="1010000"/>
          </a:xfrm>
          <a:prstGeom prst="roundRect">
            <a:avLst>
              <a:gd name="adj" fmla="val 6000"/>
            </a:avLst>
          </a:prstGeom>
          <a:solidFill>
            <a:srgbClr val="16233F"/>
          </a:solidFill>
          <a:ln>
            <a:noFill/>
          </a:ln>
        </p:spPr>
        <p:txBody>
          <a:bodyPr wrap="square" lIns="54000" tIns="54000" rIns="54000" bIns="54000" rtlCol="0" anchor="ctr">
            <a:noAutofit/>
          </a:bodyPr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Reddit Sans"/>
                <a:ea typeface="Reddit Sans"/>
              </a:rPr>
              <a:t>81%</a:t>
            </a:r>
          </a:p>
          <a:p>
            <a:pPr algn="ctr"/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Establecimientos de crédito ya usan IA (SFC 2025)</a:t>
            </a:r>
          </a:p>
          <a:p>
            <a:pPr algn="ctr"/>
            <a:r>
              <a:rPr lang="es-ES" sz="700">
                <a:solidFill>
                  <a:srgbClr val="E8B96B"/>
                </a:solidFill>
                <a:latin typeface="Reddit Sans"/>
                <a:ea typeface="Reddit Sans"/>
              </a:rPr>
              <a:t>→ menor fricción de venta</a:t>
            </a:r>
          </a:p>
        </p:txBody>
      </p:sp>
      <p:sp>
        <p:nvSpPr>
          <p:cNvPr id="22" name="CardTeal"/>
          <p:cNvSpPr txBox="1"/>
          <p:nvPr/>
        </p:nvSpPr>
        <p:spPr>
          <a:xfrm>
            <a:off x="7000000" y="1660000"/>
            <a:ext cx="1770000" cy="1010000"/>
          </a:xfrm>
          <a:prstGeom prst="roundRect">
            <a:avLst>
              <a:gd name="adj" fmla="val 6000"/>
            </a:avLst>
          </a:prstGeom>
          <a:solidFill>
            <a:srgbClr val="1E8080"/>
          </a:solidFill>
          <a:ln>
            <a:noFill/>
          </a:ln>
        </p:spPr>
        <p:txBody>
          <a:bodyPr wrap="square" lIns="54000" tIns="54000" rIns="54000" bIns="54000" rtlCol="0" anchor="ctr">
            <a:noAutofit/>
          </a:bodyPr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Reddit Sans"/>
                <a:ea typeface="Reddit Sans"/>
              </a:rPr>
              <a:t>9.8%</a:t>
            </a:r>
          </a:p>
          <a:p>
            <a:pPr algn="ctr"/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CAGR IT </a:t>
            </a:r>
            <a:r>
              <a:rPr lang="es-ES" sz="750" err="1">
                <a:solidFill>
                  <a:srgbClr val="FFFFFF"/>
                </a:solidFill>
                <a:latin typeface="Reddit Sans"/>
                <a:ea typeface="Reddit Sans"/>
              </a:rPr>
              <a:t>Services</a:t>
            </a:r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 Colombia más rápido</a:t>
            </a:r>
          </a:p>
          <a:p>
            <a:pPr algn="ctr"/>
            <a:r>
              <a:rPr lang="es-ES" sz="700">
                <a:solidFill>
                  <a:srgbClr val="FFE0A3"/>
                </a:solidFill>
                <a:latin typeface="Reddit Sans"/>
                <a:ea typeface="Reddit Sans"/>
              </a:rPr>
              <a:t>de Sudamérica</a:t>
            </a:r>
          </a:p>
        </p:txBody>
      </p:sp>
      <p:sp>
        <p:nvSpPr>
          <p:cNvPr id="23" name="CardRust"/>
          <p:cNvSpPr txBox="1"/>
          <p:nvPr/>
        </p:nvSpPr>
        <p:spPr>
          <a:xfrm>
            <a:off x="5150000" y="2750000"/>
            <a:ext cx="1770000" cy="1010000"/>
          </a:xfrm>
          <a:prstGeom prst="roundRect">
            <a:avLst>
              <a:gd name="adj" fmla="val 6000"/>
            </a:avLst>
          </a:prstGeom>
          <a:solidFill>
            <a:srgbClr val="A44526"/>
          </a:solidFill>
          <a:ln>
            <a:noFill/>
          </a:ln>
        </p:spPr>
        <p:txBody>
          <a:bodyPr wrap="square" lIns="54000" tIns="54000" rIns="54000" bIns="54000" rtlCol="0" anchor="ctr">
            <a:noAutofit/>
          </a:bodyPr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Reddit Sans"/>
                <a:ea typeface="Reddit Sans"/>
              </a:rPr>
              <a:t>13.8%</a:t>
            </a:r>
          </a:p>
          <a:p>
            <a:pPr algn="ctr"/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CAGR Servicios ITSM vs soluciones 61.4%</a:t>
            </a:r>
          </a:p>
          <a:p>
            <a:pPr algn="ctr"/>
            <a:r>
              <a:rPr lang="es-ES" sz="700">
                <a:solidFill>
                  <a:srgbClr val="F0C48A"/>
                </a:solidFill>
                <a:latin typeface="Reddit Sans"/>
                <a:ea typeface="Reddit Sans"/>
              </a:rPr>
              <a:t>→ demanda consultoría ↑</a:t>
            </a:r>
          </a:p>
        </p:txBody>
      </p:sp>
      <p:sp>
        <p:nvSpPr>
          <p:cNvPr id="24" name="CardGreen"/>
          <p:cNvSpPr txBox="1"/>
          <p:nvPr/>
        </p:nvSpPr>
        <p:spPr>
          <a:xfrm>
            <a:off x="7000000" y="2750000"/>
            <a:ext cx="1770000" cy="1010000"/>
          </a:xfrm>
          <a:prstGeom prst="roundRect">
            <a:avLst>
              <a:gd name="adj" fmla="val 6000"/>
            </a:avLst>
          </a:prstGeom>
          <a:solidFill>
            <a:srgbClr val="43781F"/>
          </a:solidFill>
          <a:ln>
            <a:noFill/>
          </a:ln>
        </p:spPr>
        <p:txBody>
          <a:bodyPr wrap="square" lIns="54000" tIns="54000" rIns="54000" bIns="54000" rtlCol="0" anchor="ctr">
            <a:noAutofit/>
          </a:bodyPr>
          <a:lstStyle/>
          <a:p>
            <a:pPr algn="ctr"/>
            <a:r>
              <a:rPr lang="es-ES" sz="1800" b="1">
                <a:solidFill>
                  <a:srgbClr val="FFFFFF"/>
                </a:solidFill>
                <a:latin typeface="Reddit Sans"/>
                <a:ea typeface="Reddit Sans"/>
              </a:rPr>
              <a:t>27.09%</a:t>
            </a:r>
          </a:p>
          <a:p>
            <a:pPr algn="ctr"/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Cuota Service </a:t>
            </a:r>
            <a:r>
              <a:rPr lang="es-ES" sz="750" err="1">
                <a:solidFill>
                  <a:srgbClr val="FFFFFF"/>
                </a:solidFill>
                <a:latin typeface="Reddit Sans"/>
                <a:ea typeface="Reddit Sans"/>
              </a:rPr>
              <a:t>Desk</a:t>
            </a:r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 &amp; </a:t>
            </a:r>
            <a:r>
              <a:rPr lang="es-ES" sz="750" err="1">
                <a:solidFill>
                  <a:srgbClr val="FFFFFF"/>
                </a:solidFill>
                <a:latin typeface="Reddit Sans"/>
                <a:ea typeface="Reddit Sans"/>
              </a:rPr>
              <a:t>Incident</a:t>
            </a:r>
            <a:r>
              <a:rPr lang="es-ES" sz="750">
                <a:solidFill>
                  <a:srgbClr val="FFFFFF"/>
                </a:solidFill>
                <a:latin typeface="Reddit Sans"/>
                <a:ea typeface="Reddit Sans"/>
              </a:rPr>
              <a:t> Management en Colombia.</a:t>
            </a:r>
          </a:p>
          <a:p>
            <a:pPr algn="ctr"/>
            <a:r>
              <a:rPr lang="es-ES" sz="700">
                <a:solidFill>
                  <a:srgbClr val="CDE6B0"/>
                </a:solidFill>
                <a:latin typeface="Reddit Sans"/>
                <a:ea typeface="Reddit Sans"/>
              </a:rPr>
              <a:t>mayor cat. funcional</a:t>
            </a:r>
          </a:p>
        </p:txBody>
      </p:sp>
      <p:sp>
        <p:nvSpPr>
          <p:cNvPr id="25" name="CompCard"/>
          <p:cNvSpPr txBox="1"/>
          <p:nvPr/>
        </p:nvSpPr>
        <p:spPr>
          <a:xfrm>
            <a:off x="5150000" y="3860000"/>
            <a:ext cx="3620000" cy="716457"/>
          </a:xfrm>
          <a:prstGeom prst="roundRect">
            <a:avLst>
              <a:gd name="adj" fmla="val 8000"/>
            </a:avLst>
          </a:prstGeom>
          <a:solidFill>
            <a:srgbClr val="E8E6E0"/>
          </a:solidFill>
          <a:ln>
            <a:noFill/>
          </a:ln>
        </p:spPr>
        <p:txBody>
          <a:bodyPr wrap="square" lIns="45000" tIns="45000" rIns="45000" bIns="45000" rtlCol="0" anchor="ctr">
            <a:noAutofit/>
          </a:bodyPr>
          <a:lstStyle/>
          <a:p>
            <a:pPr algn="ctr"/>
            <a:r>
              <a:rPr lang="es-ES" sz="1000" b="1">
                <a:solidFill>
                  <a:srgbClr val="2A2A2A"/>
                </a:solidFill>
                <a:latin typeface="Reddit Sans"/>
                <a:ea typeface="Reddit Sans"/>
              </a:rPr>
              <a:t>Competencia Local Certificada</a:t>
            </a:r>
          </a:p>
          <a:p>
            <a:pPr algn="ctr"/>
            <a:r>
              <a:rPr lang="es-ES" sz="800">
                <a:solidFill>
                  <a:srgbClr val="6A6A66"/>
                </a:solidFill>
                <a:latin typeface="Reddit Sans"/>
                <a:ea typeface="Reddit Sans"/>
              </a:rPr>
              <a:t>Solo Aranda Software tiene </a:t>
            </a:r>
            <a:r>
              <a:rPr lang="es-ES" sz="800" err="1">
                <a:solidFill>
                  <a:srgbClr val="6A6A66"/>
                </a:solidFill>
                <a:latin typeface="Reddit Sans"/>
                <a:ea typeface="Reddit Sans"/>
              </a:rPr>
              <a:t>PinkVerify</a:t>
            </a:r>
            <a:r>
              <a:rPr lang="es-ES" sz="800">
                <a:solidFill>
                  <a:srgbClr val="6A6A66"/>
                </a:solidFill>
                <a:latin typeface="Reddit Sans"/>
                <a:ea typeface="Reddit Sans"/>
              </a:rPr>
              <a:t> (11 procesos)</a:t>
            </a:r>
          </a:p>
          <a:p>
            <a:pPr algn="ctr"/>
            <a:r>
              <a:rPr lang="es-ES" sz="800">
                <a:solidFill>
                  <a:srgbClr val="6A6A66"/>
                </a:solidFill>
                <a:latin typeface="Reddit Sans"/>
                <a:ea typeface="Reddit Sans"/>
              </a:rPr>
              <a:t>Resto: plataformas globales sin oferta de </a:t>
            </a:r>
            <a:r>
              <a:rPr lang="es-ES" sz="800" err="1">
                <a:solidFill>
                  <a:srgbClr val="6A6A66"/>
                </a:solidFill>
                <a:latin typeface="Reddit Sans"/>
                <a:ea typeface="Reddit Sans"/>
              </a:rPr>
              <a:t>assessment</a:t>
            </a:r>
            <a:endParaRPr lang="es-ES" sz="800">
              <a:solidFill>
                <a:srgbClr val="6A6A66"/>
              </a:solidFill>
              <a:latin typeface="Reddit Sans"/>
              <a:ea typeface="Reddit Sans"/>
            </a:endParaRPr>
          </a:p>
        </p:txBody>
      </p:sp>
      <p:sp>
        <p:nvSpPr>
          <p:cNvPr id="6" name="ChartSubtitle">
            <a:extLst>
              <a:ext uri="{FF2B5EF4-FFF2-40B4-BE49-F238E27FC236}">
                <a16:creationId xmlns:a16="http://schemas.microsoft.com/office/drawing/2014/main" id="{88DF085F-16EE-B9A5-1798-9B5EEBA0D1FE}"/>
              </a:ext>
            </a:extLst>
          </p:cNvPr>
          <p:cNvSpPr txBox="1"/>
          <p:nvPr/>
        </p:nvSpPr>
        <p:spPr>
          <a:xfrm>
            <a:off x="466600" y="702286"/>
            <a:ext cx="7144000" cy="26000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noAutofit/>
          </a:bodyPr>
          <a:lstStyle/>
          <a:p>
            <a:pPr defTabSz="685800" fontAlgn="ctr">
              <a:lnSpc>
                <a:spcPts val="1693"/>
              </a:lnSpc>
              <a:spcBef>
                <a:spcPts val="650"/>
              </a:spcBef>
            </a:pPr>
            <a:r>
              <a:rPr lang="es-ES" sz="1200" spc="-25">
                <a:solidFill>
                  <a:srgbClr val="595959"/>
                </a:solidFill>
                <a:latin typeface="Reddit Sans"/>
                <a:ea typeface="Reddit Sans"/>
              </a:rPr>
              <a:t>Tamaño ITSM, crecimiento por segmento y </a:t>
            </a:r>
            <a:r>
              <a:rPr lang="es-ES" sz="1200" spc="-25" err="1">
                <a:solidFill>
                  <a:srgbClr val="595959"/>
                </a:solidFill>
                <a:latin typeface="Reddit Sans"/>
                <a:ea typeface="Reddit Sans"/>
              </a:rPr>
              <a:t>posici</a:t>
            </a:r>
            <a:r>
              <a:rPr lang="es-ES" sz="1200" spc="-25">
                <a:solidFill>
                  <a:srgbClr val="595959"/>
                </a:solidFill>
                <a:latin typeface="Reddit Sans"/>
                <a:ea typeface="Reddit Sans"/>
              </a:rPr>
              <a:t>ón competitiva local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1628F3E-F381-F83D-8ACF-953CA0532A02}"/>
              </a:ext>
            </a:extLst>
          </p:cNvPr>
          <p:cNvSpPr txBox="1"/>
          <p:nvPr/>
        </p:nvSpPr>
        <p:spPr>
          <a:xfrm>
            <a:off x="576943" y="4525736"/>
            <a:ext cx="4572000" cy="4154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700">
                <a:solidFill>
                  <a:srgbClr val="6A6A66"/>
                </a:solidFill>
                <a:latin typeface="Reddit Sans"/>
                <a:ea typeface="Reddit Sans"/>
              </a:rPr>
              <a:t>Fuente: </a:t>
            </a:r>
            <a:r>
              <a:rPr lang="en-US" sz="700" u="sng">
                <a:solidFill>
                  <a:srgbClr val="2F81F7"/>
                </a:solidFill>
                <a:latin typeface="Reddit Sans"/>
                <a:ea typeface="Reddit Sans"/>
                <a:cs typeface="-apple-system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 </a:t>
            </a:r>
            <a:r>
              <a:rPr lang="en-US" sz="700" u="sng">
                <a:solidFill>
                  <a:srgbClr val="2F81F7"/>
                </a:solidFill>
                <a:latin typeface="Reddit Sans"/>
                <a:ea typeface="Reddit Sans"/>
                <a:cs typeface="-apple-system"/>
                <a:hlinkClick r:id="rId4"/>
              </a:rPr>
              <a:t> </a:t>
            </a:r>
            <a:r>
              <a:rPr lang="en-US" sz="700" u="sng">
                <a:solidFill>
                  <a:srgbClr val="2F81F7"/>
                </a:solidFill>
                <a:latin typeface="Reddit Sans"/>
                <a:ea typeface="Reddit Sans"/>
                <a:cs typeface="-apple-system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Mordor</a:t>
            </a:r>
            <a:r>
              <a:rPr lang="en-US" sz="700" b="0" i="0" u="sng">
                <a:solidFill>
                  <a:srgbClr val="2F81F7"/>
                </a:solidFill>
                <a:latin typeface="Reddit Sans"/>
                <a:ea typeface="Reddit Sans"/>
                <a:cs typeface="-apple-system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Intelligence — South America ITSM Market</a:t>
            </a:r>
            <a:r>
              <a:rPr lang="en-US" sz="700">
                <a:latin typeface="Reddit Sans"/>
                <a:ea typeface="Reddit Sans"/>
              </a:rPr>
              <a:t> </a:t>
            </a:r>
            <a:r>
              <a:rPr lang="es-ES" sz="700">
                <a:solidFill>
                  <a:srgbClr val="1A3A8F"/>
                </a:solidFill>
                <a:highlight>
                  <a:srgbClr val="FFFF00"/>
                </a:highlight>
                <a:latin typeface="Reddit Sans"/>
                <a:ea typeface="Reddit Sans"/>
                <a:hlinkClick r:id="rId5"/>
              </a:rPr>
              <a:t>Grand View Research</a:t>
            </a:r>
            <a:r>
              <a:rPr lang="es-ES" sz="700" i="1">
                <a:solidFill>
                  <a:srgbClr val="6B7280"/>
                </a:solidFill>
                <a:latin typeface="Reddit Sans"/>
                <a:ea typeface="Reddit Sans"/>
              </a:rPr>
              <a:t> · </a:t>
            </a:r>
            <a:r>
              <a:rPr lang="es-ES" sz="700">
                <a:solidFill>
                  <a:srgbClr val="1A3A8F"/>
                </a:solidFill>
                <a:latin typeface="Reddit Sans"/>
                <a:ea typeface="Reddit Sans"/>
                <a:hlinkClick r:id="rId6"/>
              </a:rPr>
              <a:t>Superfinanciera</a:t>
            </a:r>
            <a:endParaRPr lang="en-US" sz="900">
              <a:latin typeface="Reddit Sans"/>
              <a:ea typeface="Reddit Sans"/>
              <a:hlinkClick r:id="" action="ppaction://noaction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algn="ctr"/>
            <a:endParaRPr lang="es-ES"/>
          </a:p>
        </p:txBody>
      </p:sp>
      <p:pic>
        <p:nvPicPr>
          <p:cNvPr id="5" name="Imagen 4" descr="Aranda Software">
            <a:extLst>
              <a:ext uri="{FF2B5EF4-FFF2-40B4-BE49-F238E27FC236}">
                <a16:creationId xmlns:a16="http://schemas.microsoft.com/office/drawing/2014/main" id="{8CEBD39E-C831-D0E8-BAB0-E317D6BFE6C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5226"/>
          <a:stretch>
            <a:fillRect/>
          </a:stretch>
        </p:blipFill>
        <p:spPr>
          <a:xfrm>
            <a:off x="5247593" y="3909330"/>
            <a:ext cx="488499" cy="214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8041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9386BA-FD73-98A3-5F89-724FFBDD1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ES"/>
              <a:t>Posicionamiento de Plataformas ITSM</a:t>
            </a:r>
          </a:p>
          <a:p>
            <a:br>
              <a:rPr lang="en-US"/>
            </a:br>
            <a:endParaRPr lang="en-US"/>
          </a:p>
        </p:txBody>
      </p:sp>
      <p:sp>
        <p:nvSpPr>
          <p:cNvPr id="11" name="Panel Derecho"/>
          <p:cNvSpPr/>
          <p:nvPr/>
        </p:nvSpPr>
        <p:spPr>
          <a:xfrm>
            <a:off x="4298100" y="658114"/>
            <a:ext cx="4700000" cy="3800000"/>
          </a:xfrm>
          <a:prstGeom prst="roundRect">
            <a:avLst>
              <a:gd name="adj" fmla="val 4500"/>
            </a:avLst>
          </a:prstGeom>
          <a:solidFill>
            <a:srgbClr val="F4F2E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" name="Titulo Izq"/>
          <p:cNvSpPr txBox="1"/>
          <p:nvPr/>
        </p:nvSpPr>
        <p:spPr>
          <a:xfrm>
            <a:off x="220980" y="708114"/>
            <a:ext cx="3960000" cy="32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s-ES" sz="1300" b="1">
                <a:solidFill>
                  <a:srgbClr val="1F3B47"/>
                </a:solidFill>
              </a:rPr>
              <a:t>Cuota Mercado ITSM 2024</a:t>
            </a:r>
          </a:p>
        </p:txBody>
      </p:sp>
      <p:sp>
        <p:nvSpPr>
          <p:cNvPr id="13" name="Titulo Der"/>
          <p:cNvSpPr txBox="1"/>
          <p:nvPr/>
        </p:nvSpPr>
        <p:spPr>
          <a:xfrm>
            <a:off x="4298100" y="708114"/>
            <a:ext cx="4700000" cy="32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s-ES" sz="1300" b="1">
                <a:solidFill>
                  <a:srgbClr val="1F3B47"/>
                </a:solidFill>
              </a:rPr>
              <a:t>Gartner MQ — AI Applications in ITSM</a:t>
            </a:r>
          </a:p>
        </p:txBody>
      </p:sp>
      <p:graphicFrame>
        <p:nvGraphicFramePr>
          <p:cNvPr id="14" name="Grafico Cuota"/>
          <p:cNvGraphicFramePr/>
          <p:nvPr>
            <p:extLst>
              <p:ext uri="{D42A27DB-BD31-4B8C-83A1-F6EECF244321}">
                <p14:modId xmlns:p14="http://schemas.microsoft.com/office/powerpoint/2010/main" val="82282076"/>
              </p:ext>
            </p:extLst>
          </p:nvPr>
        </p:nvGraphicFramePr>
        <p:xfrm>
          <a:off x="268100" y="1058114"/>
          <a:ext cx="3860000" cy="332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5" name="Grafico Gartner"/>
          <p:cNvGraphicFramePr/>
          <p:nvPr>
            <p:extLst>
              <p:ext uri="{D42A27DB-BD31-4B8C-83A1-F6EECF244321}">
                <p14:modId xmlns:p14="http://schemas.microsoft.com/office/powerpoint/2010/main" val="2311444827"/>
              </p:ext>
            </p:extLst>
          </p:nvPr>
        </p:nvGraphicFramePr>
        <p:xfrm>
          <a:off x="4398100" y="1128114"/>
          <a:ext cx="4520000" cy="29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q Challengers"/>
          <p:cNvSpPr txBox="1"/>
          <p:nvPr/>
        </p:nvSpPr>
        <p:spPr>
          <a:xfrm>
            <a:off x="4598100" y="1208114"/>
            <a:ext cx="1500000" cy="25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s-ES" sz="1000" i="1">
                <a:solidFill>
                  <a:srgbClr val="8A8A83"/>
                </a:solidFill>
              </a:rPr>
              <a:t>Retadores</a:t>
            </a:r>
            <a:endParaRPr lang="es-ES"/>
          </a:p>
        </p:txBody>
      </p:sp>
      <p:sp>
        <p:nvSpPr>
          <p:cNvPr id="17" name="q Leaders"/>
          <p:cNvSpPr txBox="1"/>
          <p:nvPr/>
        </p:nvSpPr>
        <p:spPr>
          <a:xfrm>
            <a:off x="6658100" y="1208114"/>
            <a:ext cx="1300000" cy="25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s-ES" sz="1000" i="1">
                <a:solidFill>
                  <a:srgbClr val="8A8A83"/>
                </a:solidFill>
              </a:rPr>
              <a:t>Lideres</a:t>
            </a:r>
          </a:p>
        </p:txBody>
      </p:sp>
      <p:sp>
        <p:nvSpPr>
          <p:cNvPr id="18" name="q Niche"/>
          <p:cNvSpPr txBox="1"/>
          <p:nvPr/>
        </p:nvSpPr>
        <p:spPr>
          <a:xfrm>
            <a:off x="4598100" y="3758114"/>
            <a:ext cx="1700000" cy="25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s-ES" sz="1000" i="1">
                <a:solidFill>
                  <a:srgbClr val="8A8A83"/>
                </a:solidFill>
              </a:rPr>
              <a:t>Jugadores de Nicho</a:t>
            </a:r>
          </a:p>
        </p:txBody>
      </p:sp>
      <p:sp>
        <p:nvSpPr>
          <p:cNvPr id="19" name="q Visionaries"/>
          <p:cNvSpPr txBox="1"/>
          <p:nvPr/>
        </p:nvSpPr>
        <p:spPr>
          <a:xfrm>
            <a:off x="7088100" y="3758114"/>
            <a:ext cx="1700000" cy="25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s-ES" sz="1000" i="1">
                <a:solidFill>
                  <a:srgbClr val="8A8A83"/>
                </a:solidFill>
              </a:rPr>
              <a:t>Visionarios</a:t>
            </a:r>
          </a:p>
        </p:txBody>
      </p:sp>
      <p:sp>
        <p:nvSpPr>
          <p:cNvPr id="20" name="Unico Lider"/>
          <p:cNvSpPr txBox="1"/>
          <p:nvPr/>
        </p:nvSpPr>
        <p:spPr>
          <a:xfrm>
            <a:off x="7458100" y="1168114"/>
            <a:ext cx="1450000" cy="23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s-ES" sz="900" b="1">
                <a:solidFill>
                  <a:srgbClr val="C79A1E"/>
                </a:solidFill>
              </a:rPr>
              <a:t>★ Único Líder 2025</a:t>
            </a:r>
          </a:p>
        </p:txBody>
      </p:sp>
      <p:sp>
        <p:nvSpPr>
          <p:cNvPr id="21" name="Eje Ability"/>
          <p:cNvSpPr txBox="1"/>
          <p:nvPr/>
        </p:nvSpPr>
        <p:spPr>
          <a:xfrm>
            <a:off x="4268100" y="1558114"/>
            <a:ext cx="250000" cy="21000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/>
            <a:r>
              <a:rPr lang="es-ES" sz="900">
                <a:solidFill>
                  <a:srgbClr val="8A8A83"/>
                </a:solidFill>
              </a:rPr>
              <a:t>Habilidad para ejecutar</a:t>
            </a:r>
          </a:p>
        </p:txBody>
      </p:sp>
      <p:sp>
        <p:nvSpPr>
          <p:cNvPr id="22" name="Eje Vision"/>
          <p:cNvSpPr txBox="1"/>
          <p:nvPr/>
        </p:nvSpPr>
        <p:spPr>
          <a:xfrm>
            <a:off x="4398100" y="4088114"/>
            <a:ext cx="4520000" cy="22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s-ES" sz="1100">
                <a:solidFill>
                  <a:srgbClr val="8A8A83"/>
                </a:solidFill>
                <a:latin typeface="Segoe UI"/>
                <a:cs typeface="Segoe UI"/>
              </a:rPr>
              <a:t>Integridad de la Visión</a:t>
            </a:r>
            <a:r>
              <a:rPr lang="es-ES" sz="900">
                <a:solidFill>
                  <a:srgbClr val="8A8A83"/>
                </a:solidFill>
              </a:rPr>
              <a:t> →</a:t>
            </a:r>
            <a:endParaRPr lang="es-ES"/>
          </a:p>
        </p:txBody>
      </p:sp>
      <p:sp>
        <p:nvSpPr>
          <p:cNvPr id="23" name="Footer"/>
          <p:cNvSpPr txBox="1"/>
          <p:nvPr/>
        </p:nvSpPr>
        <p:spPr>
          <a:xfrm>
            <a:off x="268100" y="4488114"/>
            <a:ext cx="8730000" cy="24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s-ES" sz="800" b="1">
                <a:solidFill>
                  <a:srgbClr val="1F3B47"/>
                </a:solidFill>
              </a:rPr>
              <a:t>Colombia: USD 108M (2031) · CAGR 14.08%</a:t>
            </a:r>
            <a:r>
              <a:rPr lang="es-ES" sz="800">
                <a:solidFill>
                  <a:srgbClr val="8A8A83"/>
                </a:solidFill>
              </a:rPr>
              <a:t>  —  Único competidor local certificado: Aranda Software (PinkVerify 2025)</a:t>
            </a:r>
          </a:p>
        </p:txBody>
      </p:sp>
      <p:sp>
        <p:nvSpPr>
          <p:cNvPr id="4" name="src">
            <a:extLst>
              <a:ext uri="{FF2B5EF4-FFF2-40B4-BE49-F238E27FC236}">
                <a16:creationId xmlns:a16="http://schemas.microsoft.com/office/drawing/2014/main" id="{6339A5C5-FECB-2147-C918-E88126470F0A}"/>
              </a:ext>
            </a:extLst>
          </p:cNvPr>
          <p:cNvSpPr txBox="1">
            <a:spLocks noGrp="1"/>
          </p:cNvSpPr>
          <p:nvPr/>
        </p:nvSpPr>
        <p:spPr>
          <a:xfrm>
            <a:off x="428897" y="4728972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50">
                <a:solidFill>
                  <a:srgbClr val="6B7280"/>
                </a:solidFill>
                <a:latin typeface="Calibri"/>
              </a:rPr>
              <a:t>Fuente: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4"/>
              </a:rPr>
              <a:t>Gartner MQ AI Applications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5"/>
              </a:rPr>
              <a:t>PeopleCert ITIL v5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6"/>
              </a:rPr>
              <a:t>Freshservice XLA Report</a:t>
            </a:r>
            <a:r>
              <a:rPr lang="es-ES" sz="750">
                <a:solidFill>
                  <a:srgbClr val="6B7280"/>
                </a:solidFill>
                <a:latin typeface="Calibri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Calibri"/>
                <a:hlinkClick r:id="rId7"/>
              </a:rPr>
              <a:t>IDC ITSM Market Share</a:t>
            </a:r>
            <a:endParaRPr lang="es-ES" sz="750" u="sng">
              <a:solidFill>
                <a:srgbClr val="1A3A8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693158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DDB9A8-D478-0381-707A-A4A1B790A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>
                <a:highlight>
                  <a:srgbClr val="FFFF00"/>
                </a:highlight>
              </a:rPr>
              <a:t>Cómo los 12 Grandes Proveedores Posicionan sus Mesas</a:t>
            </a:r>
          </a:p>
          <a:p>
            <a:endParaRPr lang="es-ES"/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063D74C3-F319-DBA3-4147-16621DDD2E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0114901"/>
              </p:ext>
            </p:extLst>
          </p:nvPr>
        </p:nvGraphicFramePr>
        <p:xfrm>
          <a:off x="397698" y="571500"/>
          <a:ext cx="8402364" cy="4667250"/>
        </p:xfrm>
        <a:graphic>
          <a:graphicData uri="http://schemas.openxmlformats.org/drawingml/2006/table">
            <a:tbl>
              <a:tblPr firstRow="1" bandRow="1">
                <a:tableStyleId>{1FEE7CD7-7DD5-4E0E-8F7E-406774204185}</a:tableStyleId>
              </a:tblPr>
              <a:tblGrid>
                <a:gridCol w="910515">
                  <a:extLst>
                    <a:ext uri="{9D8B030D-6E8A-4147-A177-3AD203B41FA5}">
                      <a16:colId xmlns:a16="http://schemas.microsoft.com/office/drawing/2014/main" val="4234215457"/>
                    </a:ext>
                  </a:extLst>
                </a:gridCol>
                <a:gridCol w="1698171">
                  <a:extLst>
                    <a:ext uri="{9D8B030D-6E8A-4147-A177-3AD203B41FA5}">
                      <a16:colId xmlns:a16="http://schemas.microsoft.com/office/drawing/2014/main" val="3507965281"/>
                    </a:ext>
                  </a:extLst>
                </a:gridCol>
                <a:gridCol w="2402114">
                  <a:extLst>
                    <a:ext uri="{9D8B030D-6E8A-4147-A177-3AD203B41FA5}">
                      <a16:colId xmlns:a16="http://schemas.microsoft.com/office/drawing/2014/main" val="497326408"/>
                    </a:ext>
                  </a:extLst>
                </a:gridCol>
                <a:gridCol w="3391564">
                  <a:extLst>
                    <a:ext uri="{9D8B030D-6E8A-4147-A177-3AD203B41FA5}">
                      <a16:colId xmlns:a16="http://schemas.microsoft.com/office/drawing/2014/main" val="2835798315"/>
                    </a:ext>
                  </a:extLst>
                </a:gridCol>
              </a:tblGrid>
              <a:tr h="13120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Empresa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Nombre Comercial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IA / Automatización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Diferenciador Único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3822005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Accenture</a:t>
                      </a:r>
                      <a:endParaRPr lang="es-ES" sz="900" b="0" i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Intelligent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Service Center /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myWizard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®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GenAI,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agentic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AI, agentes virtuales (hasta 85% de llamadas),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self-healing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86% reducción costo/contacto; modelo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human+machine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basado en desempeño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546535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IBM</a:t>
                      </a:r>
                      <a:endParaRPr lang="es-ES" sz="900" b="0" i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IBM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Consulting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AIOps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/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watsonx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Orchestrate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GenAI, ML,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watsonx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, IBM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Concert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zero-touch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operations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No mesa empaquetada — ecosistema de TI autónoma (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AIOps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+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watsonx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)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5246734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Kyndryl</a:t>
                      </a:r>
                      <a:endParaRPr lang="es-ES" sz="900" b="0" i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Interactive AI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for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Service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ASR + NLP + HAU (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Interactions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LLC); resuelve 70% por canales digitales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Concierge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IT con video seguro y AR; 2M contactos/mes, 650+ clientes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35394262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Deloitte</a:t>
                      </a:r>
                      <a:endParaRPr lang="es-ES" sz="900" b="0" i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Next Gen Service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Deep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learning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, detección anomalías,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GenAIOps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OperateEdge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™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Metodología O2I (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Operate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to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Innovate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); sin plataforma propietaria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0136337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Capgemini</a:t>
                      </a:r>
                      <a:endParaRPr lang="es-ES" sz="900" b="0" i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AI-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Powered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Service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Agentes virtuales,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PRiSM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GenAI, remediación autónoma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"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Composable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Service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" (asignación dinámica IA/humano en tiempo real)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4869556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Cognizant</a:t>
                      </a:r>
                      <a:endParaRPr lang="es-ES" sz="900" b="0" i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WorkNext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AI-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powered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Service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NLP, NLU,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chatbot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Bold360ai,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knowledge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on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demand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Single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door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; visión "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zero-touch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service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2030"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1712022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HCLTech</a:t>
                      </a:r>
                      <a:endParaRPr lang="es-ES" sz="900" b="0" i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GenAI-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powered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Digital Service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/ AI Force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CVA, GenAI,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agent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assist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self-heal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, 150+ idiomas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Modelo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Sense→Think→Act→Engage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; AI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Force.Ops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8720051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Infosys</a:t>
                      </a:r>
                      <a:endParaRPr lang="es-ES" sz="900" b="0" i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ITIL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Intelligent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Service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/ ESM Café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IA cognitiva, automatización cognitiva, RPA, 90% contención digital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ESM Café sobre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ServiceNow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; 47 centros, 3M+ usuarios, 75-80% FCR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2464461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TCS</a:t>
                      </a:r>
                      <a:endParaRPr lang="es-ES" sz="900" b="0" i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DeskHelp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/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Cognix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™ /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ignio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Modelo IPSC, autoaprendizaje,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ignio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(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auto-healing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cognitivo), GenAI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Copilot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Machine First™;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ignio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como plataforma de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autohealing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galardonada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83142377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NTT DATA</a:t>
                      </a:r>
                      <a:endParaRPr lang="es-ES" sz="900" b="0" i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NextGen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Service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(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Nucleus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)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GenAI,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agentic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AI,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Nucleus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Virtual Agent, previene 65% de incidentes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Liderazgo en XLA; 87% FCR; 23M+ tickets/año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8403780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DXC</a:t>
                      </a:r>
                      <a:endParaRPr lang="es-ES" sz="900" b="0" i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DXC Service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Desk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/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UPtime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GenAI conversacional,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agent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co-pilot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UPtime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Platform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+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Espressive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Barista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Métricas más completas: 93% FCR, 58% menos costo/contacto, 49% menos MTTR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3714496"/>
                  </a:ext>
                </a:extLst>
              </a:tr>
              <a:tr h="2091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1" i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Wipro</a:t>
                      </a:r>
                      <a:endParaRPr lang="es-ES" sz="900" b="0" i="0">
                        <a:solidFill>
                          <a:schemeClr val="tx1"/>
                        </a:solidFill>
                        <a:effectLst/>
                        <a:latin typeface="Reddit Sans"/>
                        <a:ea typeface="Reddit Sans"/>
                      </a:endParaRP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LiVE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Workspace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™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OneDesk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/ HOLMES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AIOps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, HOLMES,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auto-reparación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proactiva, Azure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OpenAI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5 torres de servicio; </a:t>
                      </a:r>
                      <a:r>
                        <a:rPr lang="es-ES" sz="900" b="0" i="0" dirty="0" err="1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self-heal</a:t>
                      </a:r>
                      <a:r>
                        <a:rPr lang="es-ES" sz="900" b="0" i="0" dirty="0">
                          <a:solidFill>
                            <a:schemeClr val="tx1"/>
                          </a:solidFill>
                          <a:effectLst/>
                          <a:latin typeface="Reddit Sans"/>
                          <a:ea typeface="Reddit Sans"/>
                        </a:rPr>
                        <a:t> antes de que el usuario note el problema</a:t>
                      </a:r>
                    </a:p>
                  </a:txBody>
                  <a:tcPr marL="95250" marR="95250" marT="47625" marB="4762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4585621"/>
                  </a:ext>
                </a:extLst>
              </a:tr>
            </a:tbl>
          </a:graphicData>
        </a:graphic>
      </p:graphicFrame>
      <p:pic>
        <p:nvPicPr>
          <p:cNvPr id="5" name="Imagen 4">
            <a:extLst>
              <a:ext uri="{FF2B5EF4-FFF2-40B4-BE49-F238E27FC236}">
                <a16:creationId xmlns:a16="http://schemas.microsoft.com/office/drawing/2014/main" id="{B40642B7-B3B3-AED8-5AD4-50C10B7942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7004" y="0"/>
            <a:ext cx="771525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755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ellTL">
            <a:extLst>
              <a:ext uri="{FF2B5EF4-FFF2-40B4-BE49-F238E27FC236}">
                <a16:creationId xmlns:a16="http://schemas.microsoft.com/office/drawing/2014/main" id="{02A09E56-0EE2-CC8F-A2E4-C3E07F01F3DA}"/>
              </a:ext>
            </a:extLst>
          </p:cNvPr>
          <p:cNvSpPr/>
          <p:nvPr/>
        </p:nvSpPr>
        <p:spPr>
          <a:xfrm>
            <a:off x="348443" y="2710328"/>
            <a:ext cx="2375000" cy="147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92D05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83129" y="128229"/>
            <a:ext cx="8458000" cy="470000"/>
          </a:xfrm>
        </p:spPr>
        <p:txBody>
          <a:bodyPr>
            <a:normAutofit/>
          </a:bodyPr>
          <a:lstStyle/>
          <a:p>
            <a:r>
              <a:rPr lang="es-ES" dirty="0">
                <a:cs typeface="Reddit Sans Light"/>
              </a:rPr>
              <a:t>Cómo compiten los líderes globales de Service </a:t>
            </a:r>
            <a:r>
              <a:rPr lang="es-ES" dirty="0" err="1">
                <a:cs typeface="Reddit Sans Light"/>
              </a:rPr>
              <a:t>Desk</a:t>
            </a:r>
            <a:endParaRPr lang="es-ES">
              <a:cs typeface="Reddit Sans Light"/>
            </a:endParaRPr>
          </a:p>
        </p:txBody>
      </p:sp>
      <p:sp>
        <p:nvSpPr>
          <p:cNvPr id="301" name="subtitle"/>
          <p:cNvSpPr txBox="1"/>
          <p:nvPr/>
        </p:nvSpPr>
        <p:spPr>
          <a:xfrm>
            <a:off x="343000" y="600000"/>
            <a:ext cx="8458000" cy="2400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rmAutofit/>
          </a:bodyPr>
          <a:lstStyle/>
          <a:p>
            <a:pPr algn="l"/>
            <a:r>
              <a:rPr lang="es-ES" sz="1050" dirty="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La diferenciación ya no está en la plataforma, sino en la capacidad predominante</a:t>
            </a:r>
          </a:p>
        </p:txBody>
      </p:sp>
      <p:sp>
        <p:nvSpPr>
          <p:cNvPr id="302" name="cellTL"/>
          <p:cNvSpPr/>
          <p:nvPr/>
        </p:nvSpPr>
        <p:spPr>
          <a:xfrm>
            <a:off x="343000" y="1170000"/>
            <a:ext cx="2375000" cy="147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0D6F75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03" name="pill"/>
          <p:cNvSpPr/>
          <p:nvPr/>
        </p:nvSpPr>
        <p:spPr>
          <a:xfrm>
            <a:off x="398000" y="1225000"/>
            <a:ext cx="2265000" cy="235000"/>
          </a:xfrm>
          <a:prstGeom prst="roundRect">
            <a:avLst>
              <a:gd name="adj" fmla="val 25000"/>
            </a:avLst>
          </a:prstGeom>
          <a:solidFill>
            <a:schemeClr val="bg1"/>
          </a:solidFill>
          <a:ln>
            <a:solidFill>
              <a:srgbClr val="E4E4E4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800" b="1" dirty="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IA AGÉNTICA AVANZADA</a:t>
            </a:r>
          </a:p>
        </p:txBody>
      </p:sp>
      <p:sp>
        <p:nvSpPr>
          <p:cNvPr id="304" name="chipTL0"/>
          <p:cNvSpPr/>
          <p:nvPr/>
        </p:nvSpPr>
        <p:spPr>
          <a:xfrm>
            <a:off x="422000" y="1509000"/>
            <a:ext cx="1099500" cy="367000"/>
          </a:xfrm>
          <a:prstGeom prst="roundRect">
            <a:avLst>
              <a:gd name="adj" fmla="val 9000"/>
            </a:avLst>
          </a:prstGeom>
          <a:solidFill>
            <a:srgbClr val="F2F4F9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 b="1" dirty="0">
                <a:solidFill>
                  <a:srgbClr val="0D6F75"/>
                </a:solidFill>
                <a:latin typeface="Reddit Sans"/>
                <a:ea typeface="Reddit Sans"/>
                <a:cs typeface="Reddit Sans Light"/>
              </a:rPr>
              <a:t>IBM</a:t>
            </a:r>
          </a:p>
        </p:txBody>
      </p:sp>
      <p:sp>
        <p:nvSpPr>
          <p:cNvPr id="305" name="chipTL1"/>
          <p:cNvSpPr>
            <a:spLocks/>
          </p:cNvSpPr>
          <p:nvPr/>
        </p:nvSpPr>
        <p:spPr>
          <a:xfrm>
            <a:off x="1539500" y="1509000"/>
            <a:ext cx="1099500" cy="367000"/>
          </a:xfrm>
          <a:prstGeom prst="roundRect">
            <a:avLst>
              <a:gd name="adj" fmla="val 9000"/>
            </a:avLst>
          </a:prstGeom>
          <a:solidFill>
            <a:srgbClr val="F2F4F9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 b="1" dirty="0">
                <a:solidFill>
                  <a:srgbClr val="0D6F75"/>
                </a:solidFill>
                <a:latin typeface="Reddit Sans"/>
                <a:ea typeface="Reddit Sans"/>
                <a:cs typeface="Reddit Sans Light"/>
              </a:rPr>
              <a:t>Accenture</a:t>
            </a:r>
          </a:p>
        </p:txBody>
      </p:sp>
      <p:sp>
        <p:nvSpPr>
          <p:cNvPr id="306" name="chipTL2"/>
          <p:cNvSpPr/>
          <p:nvPr/>
        </p:nvSpPr>
        <p:spPr>
          <a:xfrm>
            <a:off x="422000" y="1894000"/>
            <a:ext cx="1099500" cy="367000"/>
          </a:xfrm>
          <a:prstGeom prst="roundRect">
            <a:avLst>
              <a:gd name="adj" fmla="val 9000"/>
            </a:avLst>
          </a:prstGeom>
          <a:solidFill>
            <a:srgbClr val="F2F4F9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 b="1" dirty="0">
                <a:solidFill>
                  <a:srgbClr val="0D6F75"/>
                </a:solidFill>
                <a:latin typeface="Reddit Sans"/>
                <a:ea typeface="Reddit Sans"/>
                <a:cs typeface="Reddit Sans Light"/>
              </a:rPr>
              <a:t>HCLTech</a:t>
            </a:r>
          </a:p>
        </p:txBody>
      </p:sp>
      <p:sp>
        <p:nvSpPr>
          <p:cNvPr id="307" name="chipTL3"/>
          <p:cNvSpPr/>
          <p:nvPr/>
        </p:nvSpPr>
        <p:spPr>
          <a:xfrm>
            <a:off x="1539500" y="1894000"/>
            <a:ext cx="1099500" cy="367000"/>
          </a:xfrm>
          <a:prstGeom prst="roundRect">
            <a:avLst>
              <a:gd name="adj" fmla="val 9000"/>
            </a:avLst>
          </a:prstGeom>
          <a:solidFill>
            <a:srgbClr val="F2F4F9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 b="1" dirty="0">
                <a:solidFill>
                  <a:srgbClr val="0D6F75"/>
                </a:solidFill>
                <a:latin typeface="Reddit Sans"/>
                <a:ea typeface="Reddit Sans"/>
                <a:cs typeface="Reddit Sans Light"/>
              </a:rPr>
              <a:t>ServiceNow</a:t>
            </a:r>
          </a:p>
        </p:txBody>
      </p:sp>
      <p:sp>
        <p:nvSpPr>
          <p:cNvPr id="308" name="txt"/>
          <p:cNvSpPr txBox="1"/>
          <p:nvPr/>
        </p:nvSpPr>
        <p:spPr>
          <a:xfrm>
            <a:off x="413000" y="2280000"/>
            <a:ext cx="2235000" cy="330000"/>
          </a:xfrm>
          <a:prstGeom prst="rect">
            <a:avLst/>
          </a:prstGeom>
          <a:noFill/>
        </p:spPr>
        <p:txBody>
          <a:bodyPr wrap="square" lIns="27000" tIns="14000" rIns="27000" bIns="14000" anchor="b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s-ES" sz="750" dirty="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Razonamiento, memoria y ejecución autónoma en agentes inteligentes.</a:t>
            </a:r>
          </a:p>
        </p:txBody>
      </p:sp>
      <p:sp>
        <p:nvSpPr>
          <p:cNvPr id="309" name="cellTR"/>
          <p:cNvSpPr>
            <a:spLocks/>
          </p:cNvSpPr>
          <p:nvPr/>
        </p:nvSpPr>
        <p:spPr>
          <a:xfrm>
            <a:off x="2847871" y="1170000"/>
            <a:ext cx="2375000" cy="147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2E6FB5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10" name="pill"/>
          <p:cNvSpPr/>
          <p:nvPr/>
        </p:nvSpPr>
        <p:spPr>
          <a:xfrm>
            <a:off x="2902871" y="1225000"/>
            <a:ext cx="2265000" cy="235000"/>
          </a:xfrm>
          <a:prstGeom prst="roundRect">
            <a:avLst>
              <a:gd name="adj" fmla="val 25000"/>
            </a:avLst>
          </a:prstGeom>
          <a:solidFill>
            <a:schemeClr val="bg1"/>
          </a:solidFill>
          <a:ln>
            <a:solidFill>
              <a:srgbClr val="E4E4E4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800" b="1" dirty="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XLA &amp; EXPERIENCIA DEL EMPLEADO</a:t>
            </a:r>
          </a:p>
        </p:txBody>
      </p:sp>
      <p:sp>
        <p:nvSpPr>
          <p:cNvPr id="311" name="chipTR0"/>
          <p:cNvSpPr/>
          <p:nvPr/>
        </p:nvSpPr>
        <p:spPr>
          <a:xfrm>
            <a:off x="2926871" y="1509000"/>
            <a:ext cx="1099500" cy="367000"/>
          </a:xfrm>
          <a:prstGeom prst="roundRect">
            <a:avLst>
              <a:gd name="adj" fmla="val 9000"/>
            </a:avLst>
          </a:prstGeom>
          <a:solidFill>
            <a:srgbClr val="F2F4F9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 b="1" dirty="0">
                <a:solidFill>
                  <a:srgbClr val="2E6FB5"/>
                </a:solidFill>
                <a:latin typeface="Reddit Sans"/>
                <a:ea typeface="Reddit Sans"/>
                <a:cs typeface="Reddit Sans Light"/>
              </a:rPr>
              <a:t>NTT DATA</a:t>
            </a:r>
          </a:p>
        </p:txBody>
      </p:sp>
      <p:sp>
        <p:nvSpPr>
          <p:cNvPr id="312" name="chipTR1"/>
          <p:cNvSpPr/>
          <p:nvPr/>
        </p:nvSpPr>
        <p:spPr>
          <a:xfrm>
            <a:off x="4044371" y="1509000"/>
            <a:ext cx="1099500" cy="367000"/>
          </a:xfrm>
          <a:prstGeom prst="roundRect">
            <a:avLst>
              <a:gd name="adj" fmla="val 9000"/>
            </a:avLst>
          </a:prstGeom>
          <a:solidFill>
            <a:srgbClr val="F2F4F9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 b="1" dirty="0">
                <a:solidFill>
                  <a:srgbClr val="2E6FB5"/>
                </a:solidFill>
                <a:latin typeface="Reddit Sans"/>
                <a:ea typeface="Reddit Sans"/>
                <a:cs typeface="Reddit Sans Light"/>
              </a:rPr>
              <a:t>DXC</a:t>
            </a:r>
          </a:p>
        </p:txBody>
      </p:sp>
      <p:sp>
        <p:nvSpPr>
          <p:cNvPr id="313" name="chipTR2"/>
          <p:cNvSpPr>
            <a:spLocks/>
          </p:cNvSpPr>
          <p:nvPr/>
        </p:nvSpPr>
        <p:spPr>
          <a:xfrm>
            <a:off x="2926871" y="1894000"/>
            <a:ext cx="1099500" cy="367000"/>
          </a:xfrm>
          <a:prstGeom prst="roundRect">
            <a:avLst>
              <a:gd name="adj" fmla="val 9000"/>
            </a:avLst>
          </a:prstGeom>
          <a:solidFill>
            <a:srgbClr val="F2F4F9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 b="1" dirty="0">
                <a:solidFill>
                  <a:srgbClr val="2E6FB5"/>
                </a:solidFill>
                <a:latin typeface="Reddit Sans"/>
                <a:ea typeface="Reddit Sans"/>
                <a:cs typeface="Reddit Sans Light"/>
              </a:rPr>
              <a:t>Infosys</a:t>
            </a:r>
          </a:p>
        </p:txBody>
      </p:sp>
      <p:sp>
        <p:nvSpPr>
          <p:cNvPr id="314" name="chipTR3"/>
          <p:cNvSpPr/>
          <p:nvPr/>
        </p:nvSpPr>
        <p:spPr>
          <a:xfrm>
            <a:off x="4044371" y="1894000"/>
            <a:ext cx="1099500" cy="367000"/>
          </a:xfrm>
          <a:prstGeom prst="roundRect">
            <a:avLst>
              <a:gd name="adj" fmla="val 9000"/>
            </a:avLst>
          </a:prstGeom>
          <a:solidFill>
            <a:srgbClr val="F2F4F9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 b="1" dirty="0">
                <a:solidFill>
                  <a:srgbClr val="2E6FB5"/>
                </a:solidFill>
                <a:latin typeface="Reddit Sans"/>
                <a:ea typeface="Reddit Sans"/>
                <a:cs typeface="Reddit Sans Light"/>
              </a:rPr>
              <a:t>Cognizant</a:t>
            </a:r>
          </a:p>
        </p:txBody>
      </p:sp>
      <p:sp>
        <p:nvSpPr>
          <p:cNvPr id="315" name="txt"/>
          <p:cNvSpPr txBox="1">
            <a:spLocks/>
          </p:cNvSpPr>
          <p:nvPr/>
        </p:nvSpPr>
        <p:spPr>
          <a:xfrm>
            <a:off x="2917871" y="2280000"/>
            <a:ext cx="2235000" cy="330000"/>
          </a:xfrm>
          <a:prstGeom prst="rect">
            <a:avLst/>
          </a:prstGeom>
          <a:noFill/>
        </p:spPr>
        <p:txBody>
          <a:bodyPr wrap="square" lIns="27000" tIns="14000" rIns="27000" bIns="14000" anchor="b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s-ES" sz="750" dirty="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Métricas de experiencia (XLA), sentimiento y productividad del empleado.</a:t>
            </a:r>
          </a:p>
        </p:txBody>
      </p:sp>
      <p:sp>
        <p:nvSpPr>
          <p:cNvPr id="317" name="pill"/>
          <p:cNvSpPr>
            <a:spLocks/>
          </p:cNvSpPr>
          <p:nvPr/>
        </p:nvSpPr>
        <p:spPr>
          <a:xfrm>
            <a:off x="419771" y="2770443"/>
            <a:ext cx="2265000" cy="235000"/>
          </a:xfrm>
          <a:prstGeom prst="roundRect">
            <a:avLst>
              <a:gd name="adj" fmla="val 25000"/>
            </a:avLst>
          </a:prstGeom>
          <a:solidFill>
            <a:schemeClr val="bg1"/>
          </a:solidFill>
          <a:ln>
            <a:solidFill>
              <a:srgbClr val="E4E4E4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800" b="1" dirty="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AUTOMATIZACIÓN Y AUTO-HEALING</a:t>
            </a:r>
          </a:p>
        </p:txBody>
      </p:sp>
      <p:sp>
        <p:nvSpPr>
          <p:cNvPr id="318" name="chipBL0"/>
          <p:cNvSpPr>
            <a:spLocks/>
          </p:cNvSpPr>
          <p:nvPr/>
        </p:nvSpPr>
        <p:spPr>
          <a:xfrm>
            <a:off x="422000" y="3049000"/>
            <a:ext cx="1099500" cy="367000"/>
          </a:xfrm>
          <a:prstGeom prst="roundRect">
            <a:avLst>
              <a:gd name="adj" fmla="val 9000"/>
            </a:avLst>
          </a:prstGeom>
          <a:solidFill>
            <a:srgbClr val="F2F4F9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 b="1" dirty="0">
                <a:solidFill>
                  <a:srgbClr val="4E8A25"/>
                </a:solidFill>
                <a:latin typeface="Reddit Sans"/>
                <a:ea typeface="Reddit Sans"/>
                <a:cs typeface="Reddit Sans Light"/>
              </a:rPr>
              <a:t>TCS</a:t>
            </a:r>
          </a:p>
        </p:txBody>
      </p:sp>
      <p:sp>
        <p:nvSpPr>
          <p:cNvPr id="319" name="chipBL1"/>
          <p:cNvSpPr>
            <a:spLocks/>
          </p:cNvSpPr>
          <p:nvPr/>
        </p:nvSpPr>
        <p:spPr>
          <a:xfrm>
            <a:off x="1539500" y="3049000"/>
            <a:ext cx="1099500" cy="367000"/>
          </a:xfrm>
          <a:prstGeom prst="roundRect">
            <a:avLst>
              <a:gd name="adj" fmla="val 9000"/>
            </a:avLst>
          </a:prstGeom>
          <a:solidFill>
            <a:srgbClr val="F2F4F9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 b="1" dirty="0">
                <a:solidFill>
                  <a:srgbClr val="4E8A25"/>
                </a:solidFill>
                <a:latin typeface="Reddit Sans"/>
                <a:ea typeface="Reddit Sans"/>
                <a:cs typeface="Reddit Sans Light"/>
              </a:rPr>
              <a:t>Wipro</a:t>
            </a:r>
          </a:p>
        </p:txBody>
      </p:sp>
      <p:sp>
        <p:nvSpPr>
          <p:cNvPr id="320" name="chipBL2"/>
          <p:cNvSpPr/>
          <p:nvPr/>
        </p:nvSpPr>
        <p:spPr>
          <a:xfrm>
            <a:off x="422000" y="3434000"/>
            <a:ext cx="1099500" cy="367000"/>
          </a:xfrm>
          <a:prstGeom prst="roundRect">
            <a:avLst>
              <a:gd name="adj" fmla="val 9000"/>
            </a:avLst>
          </a:prstGeom>
          <a:solidFill>
            <a:srgbClr val="F2F4F9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 b="1" dirty="0">
                <a:solidFill>
                  <a:srgbClr val="4E8A25"/>
                </a:solidFill>
                <a:latin typeface="Reddit Sans"/>
                <a:ea typeface="Reddit Sans"/>
                <a:cs typeface="Reddit Sans Light"/>
              </a:rPr>
              <a:t>DXC</a:t>
            </a:r>
          </a:p>
        </p:txBody>
      </p:sp>
      <p:sp>
        <p:nvSpPr>
          <p:cNvPr id="321" name="chipBL3"/>
          <p:cNvSpPr/>
          <p:nvPr/>
        </p:nvSpPr>
        <p:spPr>
          <a:xfrm>
            <a:off x="1539500" y="3434000"/>
            <a:ext cx="1099500" cy="367000"/>
          </a:xfrm>
          <a:prstGeom prst="roundRect">
            <a:avLst>
              <a:gd name="adj" fmla="val 9000"/>
            </a:avLst>
          </a:prstGeom>
          <a:solidFill>
            <a:srgbClr val="F2F4F9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 b="1" dirty="0">
                <a:solidFill>
                  <a:srgbClr val="4E8A25"/>
                </a:solidFill>
                <a:latin typeface="Reddit Sans"/>
                <a:ea typeface="Reddit Sans"/>
                <a:cs typeface="Reddit Sans Light"/>
              </a:rPr>
              <a:t>Capgemini</a:t>
            </a:r>
          </a:p>
        </p:txBody>
      </p:sp>
      <p:sp>
        <p:nvSpPr>
          <p:cNvPr id="322" name="txt"/>
          <p:cNvSpPr txBox="1">
            <a:spLocks/>
          </p:cNvSpPr>
          <p:nvPr/>
        </p:nvSpPr>
        <p:spPr>
          <a:xfrm>
            <a:off x="413000" y="3820000"/>
            <a:ext cx="2235000" cy="330000"/>
          </a:xfrm>
          <a:prstGeom prst="rect">
            <a:avLst/>
          </a:prstGeom>
          <a:noFill/>
        </p:spPr>
        <p:txBody>
          <a:bodyPr wrap="square" lIns="27000" tIns="14000" rIns="27000" bIns="14000" anchor="b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s-ES" sz="750" dirty="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Remediación automática, detección de anomalías y operaciones sin intervención.</a:t>
            </a:r>
          </a:p>
        </p:txBody>
      </p:sp>
      <p:sp>
        <p:nvSpPr>
          <p:cNvPr id="323" name="cellBR"/>
          <p:cNvSpPr>
            <a:spLocks/>
          </p:cNvSpPr>
          <p:nvPr/>
        </p:nvSpPr>
        <p:spPr>
          <a:xfrm>
            <a:off x="2847871" y="2710000"/>
            <a:ext cx="2375000" cy="147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6B3FA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24" name="pill"/>
          <p:cNvSpPr>
            <a:spLocks/>
          </p:cNvSpPr>
          <p:nvPr/>
        </p:nvSpPr>
        <p:spPr>
          <a:xfrm>
            <a:off x="2902871" y="2765000"/>
            <a:ext cx="2265000" cy="235000"/>
          </a:xfrm>
          <a:prstGeom prst="roundRect">
            <a:avLst>
              <a:gd name="adj" fmla="val 25000"/>
            </a:avLst>
          </a:prstGeom>
          <a:solidFill>
            <a:schemeClr val="bg1"/>
          </a:solidFill>
          <a:ln>
            <a:solidFill>
              <a:srgbClr val="E4E4E4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800" b="1" dirty="0">
                <a:solidFill>
                  <a:srgbClr val="083C92"/>
                </a:solidFill>
                <a:latin typeface="Reddit Sans"/>
                <a:ea typeface="Reddit Sans"/>
                <a:cs typeface="Reddit Sans Light"/>
              </a:rPr>
              <a:t>SERVICIOS GESTIONADOS A ESCALA</a:t>
            </a:r>
          </a:p>
        </p:txBody>
      </p:sp>
      <p:sp>
        <p:nvSpPr>
          <p:cNvPr id="325" name="chipBR0"/>
          <p:cNvSpPr>
            <a:spLocks/>
          </p:cNvSpPr>
          <p:nvPr/>
        </p:nvSpPr>
        <p:spPr>
          <a:xfrm>
            <a:off x="2926871" y="3049000"/>
            <a:ext cx="1099500" cy="367000"/>
          </a:xfrm>
          <a:prstGeom prst="roundRect">
            <a:avLst>
              <a:gd name="adj" fmla="val 9000"/>
            </a:avLst>
          </a:prstGeom>
          <a:solidFill>
            <a:srgbClr val="F2F4F9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 b="1" dirty="0">
                <a:solidFill>
                  <a:srgbClr val="6B3FA0"/>
                </a:solidFill>
                <a:latin typeface="Reddit Sans"/>
                <a:ea typeface="Reddit Sans"/>
                <a:cs typeface="Reddit Sans Light"/>
              </a:rPr>
              <a:t>Deloitte</a:t>
            </a:r>
          </a:p>
        </p:txBody>
      </p:sp>
      <p:sp>
        <p:nvSpPr>
          <p:cNvPr id="326" name="chipBR1"/>
          <p:cNvSpPr/>
          <p:nvPr/>
        </p:nvSpPr>
        <p:spPr>
          <a:xfrm>
            <a:off x="4044371" y="3049000"/>
            <a:ext cx="1099500" cy="367000"/>
          </a:xfrm>
          <a:prstGeom prst="roundRect">
            <a:avLst>
              <a:gd name="adj" fmla="val 9000"/>
            </a:avLst>
          </a:prstGeom>
          <a:solidFill>
            <a:srgbClr val="F2F4F9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 b="1" dirty="0">
                <a:solidFill>
                  <a:srgbClr val="6B3FA0"/>
                </a:solidFill>
                <a:latin typeface="Reddit Sans"/>
                <a:ea typeface="Reddit Sans"/>
                <a:cs typeface="Reddit Sans Light"/>
              </a:rPr>
              <a:t>Accenture</a:t>
            </a:r>
          </a:p>
        </p:txBody>
      </p:sp>
      <p:sp>
        <p:nvSpPr>
          <p:cNvPr id="327" name="chipBR2"/>
          <p:cNvSpPr/>
          <p:nvPr/>
        </p:nvSpPr>
        <p:spPr>
          <a:xfrm>
            <a:off x="2926871" y="3434000"/>
            <a:ext cx="1099500" cy="367000"/>
          </a:xfrm>
          <a:prstGeom prst="roundRect">
            <a:avLst>
              <a:gd name="adj" fmla="val 9000"/>
            </a:avLst>
          </a:prstGeom>
          <a:solidFill>
            <a:srgbClr val="F2F4F9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 b="1" dirty="0">
                <a:solidFill>
                  <a:srgbClr val="6B3FA0"/>
                </a:solidFill>
                <a:latin typeface="Reddit Sans"/>
                <a:ea typeface="Reddit Sans"/>
                <a:cs typeface="Reddit Sans Light"/>
              </a:rPr>
              <a:t>Kyndryl</a:t>
            </a:r>
          </a:p>
        </p:txBody>
      </p:sp>
      <p:sp>
        <p:nvSpPr>
          <p:cNvPr id="328" name="chipBR3"/>
          <p:cNvSpPr/>
          <p:nvPr/>
        </p:nvSpPr>
        <p:spPr>
          <a:xfrm>
            <a:off x="4044371" y="3434000"/>
            <a:ext cx="1099500" cy="367000"/>
          </a:xfrm>
          <a:prstGeom prst="roundRect">
            <a:avLst>
              <a:gd name="adj" fmla="val 9000"/>
            </a:avLst>
          </a:prstGeom>
          <a:solidFill>
            <a:srgbClr val="F2F4F9"/>
          </a:solidFill>
          <a:ln w="9525">
            <a:solidFill>
              <a:srgbClr val="E1E5F0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pPr algn="ctr"/>
            <a:r>
              <a:rPr lang="es-ES" sz="900" b="1" dirty="0">
                <a:solidFill>
                  <a:srgbClr val="6B3FA0"/>
                </a:solidFill>
                <a:latin typeface="Reddit Sans"/>
                <a:ea typeface="Reddit Sans"/>
                <a:cs typeface="Reddit Sans Light"/>
              </a:rPr>
              <a:t>Cognizant</a:t>
            </a:r>
          </a:p>
        </p:txBody>
      </p:sp>
      <p:sp>
        <p:nvSpPr>
          <p:cNvPr id="329" name="txt"/>
          <p:cNvSpPr txBox="1"/>
          <p:nvPr/>
        </p:nvSpPr>
        <p:spPr>
          <a:xfrm>
            <a:off x="2917871" y="3820000"/>
            <a:ext cx="2235000" cy="330000"/>
          </a:xfrm>
          <a:prstGeom prst="rect">
            <a:avLst/>
          </a:prstGeom>
          <a:noFill/>
        </p:spPr>
        <p:txBody>
          <a:bodyPr wrap="square" lIns="27000" tIns="14000" rIns="27000" bIns="14000" anchor="b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s-ES" sz="750" dirty="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Operación end-to-end, cobertura global y modelos orientados a resultados.</a:t>
            </a:r>
          </a:p>
        </p:txBody>
      </p:sp>
      <p:sp>
        <p:nvSpPr>
          <p:cNvPr id="330" name="axisY"/>
          <p:cNvSpPr txBox="1"/>
          <p:nvPr/>
        </p:nvSpPr>
        <p:spPr>
          <a:xfrm>
            <a:off x="348443" y="863800"/>
            <a:ext cx="4820000" cy="210000"/>
          </a:xfrm>
          <a:prstGeom prst="rect">
            <a:avLst/>
          </a:prstGeom>
          <a:noFill/>
        </p:spPr>
        <p:txBody>
          <a:bodyPr wrap="square" lIns="27000" tIns="14000" rIns="27000" bIns="14000" anchor="ctr">
            <a:normAutofit/>
          </a:bodyPr>
          <a:lstStyle/>
          <a:p>
            <a:pPr algn="ctr"/>
            <a:r>
              <a:rPr lang="es-ES" sz="850" b="1" dirty="0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▲  MADUREZ DE IA</a:t>
            </a:r>
          </a:p>
        </p:txBody>
      </p:sp>
      <p:sp>
        <p:nvSpPr>
          <p:cNvPr id="331" name="axisX"/>
          <p:cNvSpPr txBox="1"/>
          <p:nvPr/>
        </p:nvSpPr>
        <p:spPr>
          <a:xfrm>
            <a:off x="343000" y="4238543"/>
            <a:ext cx="4820000" cy="210000"/>
          </a:xfrm>
          <a:prstGeom prst="rect">
            <a:avLst/>
          </a:prstGeom>
          <a:noFill/>
        </p:spPr>
        <p:txBody>
          <a:bodyPr wrap="square" lIns="27000" tIns="14000" rIns="27000" bIns="14000" anchor="ctr">
            <a:normAutofit/>
          </a:bodyPr>
          <a:lstStyle/>
          <a:p>
            <a:pPr algn="ctr"/>
            <a:r>
              <a:rPr lang="es-ES" sz="850" b="1" dirty="0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ESCALA OPERATIVA  ▶</a:t>
            </a:r>
          </a:p>
        </p:txBody>
      </p:sp>
      <p:sp>
        <p:nvSpPr>
          <p:cNvPr id="332" name="sb0"/>
          <p:cNvSpPr/>
          <p:nvPr/>
        </p:nvSpPr>
        <p:spPr>
          <a:xfrm>
            <a:off x="5515057" y="598500"/>
            <a:ext cx="3471000" cy="7195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D5D9E6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33" name="acc"/>
          <p:cNvSpPr/>
          <p:nvPr/>
        </p:nvSpPr>
        <p:spPr>
          <a:xfrm>
            <a:off x="5515057" y="598500"/>
            <a:ext cx="55000" cy="719500"/>
          </a:xfrm>
          <a:prstGeom prst="rect">
            <a:avLst/>
          </a:prstGeom>
          <a:solidFill>
            <a:srgbClr val="0D6F7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34" name="mk"/>
          <p:cNvSpPr/>
          <p:nvPr/>
        </p:nvSpPr>
        <p:spPr>
          <a:xfrm>
            <a:off x="5635057" y="658500"/>
            <a:ext cx="150000" cy="150000"/>
          </a:xfrm>
          <a:prstGeom prst="ellipse">
            <a:avLst/>
          </a:prstGeom>
          <a:solidFill>
            <a:srgbClr val="0D6F7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35" name="txt"/>
          <p:cNvSpPr txBox="1"/>
          <p:nvPr/>
        </p:nvSpPr>
        <p:spPr>
          <a:xfrm>
            <a:off x="5825057" y="628500"/>
            <a:ext cx="3131000" cy="210000"/>
          </a:xfrm>
          <a:prstGeom prst="rect">
            <a:avLst/>
          </a:prstGeom>
          <a:noFill/>
        </p:spPr>
        <p:txBody>
          <a:bodyPr wrap="square" lIns="27000" tIns="14000" rIns="27000" bIns="14000" anchor="ctr">
            <a:normAutofit/>
          </a:bodyPr>
          <a:lstStyle/>
          <a:p>
            <a:pPr algn="l"/>
            <a:r>
              <a:rPr lang="es-ES" sz="900" b="1" dirty="0">
                <a:solidFill>
                  <a:srgbClr val="0D6F75"/>
                </a:solidFill>
                <a:latin typeface="Reddit Sans"/>
                <a:ea typeface="Reddit Sans"/>
                <a:cs typeface="Reddit Sans Light"/>
              </a:rPr>
              <a:t>IA Agéntica Avanzada</a:t>
            </a:r>
          </a:p>
        </p:txBody>
      </p:sp>
      <p:sp>
        <p:nvSpPr>
          <p:cNvPr id="336" name="txt"/>
          <p:cNvSpPr txBox="1"/>
          <p:nvPr/>
        </p:nvSpPr>
        <p:spPr>
          <a:xfrm>
            <a:off x="5635057" y="848500"/>
            <a:ext cx="1250000" cy="4495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lang="es-ES" sz="750" b="1" dirty="0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IBM</a:t>
            </a:r>
          </a:p>
          <a:p>
            <a:pPr algn="l">
              <a:lnSpc>
                <a:spcPct val="105000"/>
              </a:lnSpc>
            </a:pPr>
            <a:r>
              <a:rPr lang="es-ES" sz="750" b="1" dirty="0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Accenture</a:t>
            </a:r>
          </a:p>
          <a:p>
            <a:pPr algn="l">
              <a:lnSpc>
                <a:spcPct val="105000"/>
              </a:lnSpc>
            </a:pPr>
            <a:r>
              <a:rPr lang="es-ES" sz="750" b="1" dirty="0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HCLTech</a:t>
            </a:r>
          </a:p>
          <a:p>
            <a:pPr algn="l">
              <a:lnSpc>
                <a:spcPct val="105000"/>
              </a:lnSpc>
            </a:pPr>
            <a:r>
              <a:rPr lang="es-ES" sz="750" b="1" dirty="0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ServiceNow</a:t>
            </a:r>
          </a:p>
        </p:txBody>
      </p:sp>
      <p:sp>
        <p:nvSpPr>
          <p:cNvPr id="337" name="txt"/>
          <p:cNvSpPr txBox="1"/>
          <p:nvPr/>
        </p:nvSpPr>
        <p:spPr>
          <a:xfrm>
            <a:off x="6935057" y="848500"/>
            <a:ext cx="2001000" cy="4495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rmAutofit/>
          </a:bodyPr>
          <a:lstStyle/>
          <a:p>
            <a:pPr marL="118000" indent="-118000" algn="l">
              <a:buClr>
                <a:srgbClr val="0D6F75"/>
              </a:buClr>
              <a:buFont typeface="Arial"/>
              <a:buChar char="•"/>
            </a:pPr>
            <a:r>
              <a:rPr lang="es-ES" sz="750" dirty="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Agentic AI</a:t>
            </a:r>
          </a:p>
          <a:p>
            <a:pPr marL="118000" indent="-118000" algn="l">
              <a:buClr>
                <a:srgbClr val="0D6F75"/>
              </a:buClr>
              <a:buFont typeface="Arial"/>
              <a:buChar char="•"/>
            </a:pPr>
            <a:r>
              <a:rPr lang="es-ES" sz="750" dirty="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Razonamiento y memoria</a:t>
            </a:r>
          </a:p>
          <a:p>
            <a:pPr marL="118000" indent="-118000" algn="l">
              <a:buClr>
                <a:srgbClr val="0D6F75"/>
              </a:buClr>
              <a:buFont typeface="Arial"/>
              <a:buChar char="•"/>
            </a:pPr>
            <a:r>
              <a:rPr lang="es-ES" sz="750" dirty="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Ejecución autónoma</a:t>
            </a:r>
          </a:p>
          <a:p>
            <a:pPr marL="118000" indent="-118000" algn="l">
              <a:buClr>
                <a:srgbClr val="0D6F75"/>
              </a:buClr>
              <a:buFont typeface="Arial"/>
              <a:buChar char="•"/>
            </a:pPr>
            <a:r>
              <a:rPr lang="es-ES" sz="750" dirty="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Zero-touch operations</a:t>
            </a:r>
          </a:p>
        </p:txBody>
      </p:sp>
      <p:sp>
        <p:nvSpPr>
          <p:cNvPr id="338" name="sb1"/>
          <p:cNvSpPr/>
          <p:nvPr/>
        </p:nvSpPr>
        <p:spPr>
          <a:xfrm>
            <a:off x="5515057" y="1362000"/>
            <a:ext cx="3471000" cy="7195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D5D9E6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39" name="acc"/>
          <p:cNvSpPr/>
          <p:nvPr/>
        </p:nvSpPr>
        <p:spPr>
          <a:xfrm>
            <a:off x="5515057" y="1362000"/>
            <a:ext cx="55000" cy="719500"/>
          </a:xfrm>
          <a:prstGeom prst="rect">
            <a:avLst/>
          </a:prstGeom>
          <a:solidFill>
            <a:srgbClr val="4E8A2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0" name="mk"/>
          <p:cNvSpPr/>
          <p:nvPr/>
        </p:nvSpPr>
        <p:spPr>
          <a:xfrm>
            <a:off x="5635057" y="1422000"/>
            <a:ext cx="150000" cy="150000"/>
          </a:xfrm>
          <a:prstGeom prst="ellipse">
            <a:avLst/>
          </a:prstGeom>
          <a:solidFill>
            <a:srgbClr val="4E8A2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1" name="txt"/>
          <p:cNvSpPr txBox="1"/>
          <p:nvPr/>
        </p:nvSpPr>
        <p:spPr>
          <a:xfrm>
            <a:off x="5825057" y="1392000"/>
            <a:ext cx="3131000" cy="210000"/>
          </a:xfrm>
          <a:prstGeom prst="rect">
            <a:avLst/>
          </a:prstGeom>
          <a:noFill/>
        </p:spPr>
        <p:txBody>
          <a:bodyPr wrap="square" lIns="27000" tIns="14000" rIns="27000" bIns="14000" anchor="ctr">
            <a:normAutofit/>
          </a:bodyPr>
          <a:lstStyle/>
          <a:p>
            <a:pPr algn="l"/>
            <a:r>
              <a:rPr lang="es-ES" sz="900" b="1" dirty="0">
                <a:solidFill>
                  <a:srgbClr val="4E8A25"/>
                </a:solidFill>
                <a:latin typeface="Reddit Sans"/>
                <a:ea typeface="Reddit Sans"/>
                <a:cs typeface="Reddit Sans Light"/>
              </a:rPr>
              <a:t>Automatización y Auto-healing</a:t>
            </a:r>
          </a:p>
        </p:txBody>
      </p:sp>
      <p:sp>
        <p:nvSpPr>
          <p:cNvPr id="342" name="txt"/>
          <p:cNvSpPr txBox="1"/>
          <p:nvPr/>
        </p:nvSpPr>
        <p:spPr>
          <a:xfrm>
            <a:off x="5635057" y="1612000"/>
            <a:ext cx="1250000" cy="4495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lang="es-ES" sz="750" b="1" dirty="0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TCS</a:t>
            </a:r>
          </a:p>
          <a:p>
            <a:pPr algn="l">
              <a:lnSpc>
                <a:spcPct val="105000"/>
              </a:lnSpc>
            </a:pPr>
            <a:r>
              <a:rPr lang="es-ES" sz="750" b="1" dirty="0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Wipro</a:t>
            </a:r>
          </a:p>
          <a:p>
            <a:pPr algn="l">
              <a:lnSpc>
                <a:spcPct val="105000"/>
              </a:lnSpc>
            </a:pPr>
            <a:r>
              <a:rPr lang="es-ES" sz="750" b="1" dirty="0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DXC</a:t>
            </a:r>
          </a:p>
          <a:p>
            <a:pPr algn="l">
              <a:lnSpc>
                <a:spcPct val="105000"/>
              </a:lnSpc>
            </a:pPr>
            <a:r>
              <a:rPr lang="es-ES" sz="750" b="1" dirty="0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Capgemini</a:t>
            </a:r>
          </a:p>
        </p:txBody>
      </p:sp>
      <p:sp>
        <p:nvSpPr>
          <p:cNvPr id="343" name="txt"/>
          <p:cNvSpPr txBox="1"/>
          <p:nvPr/>
        </p:nvSpPr>
        <p:spPr>
          <a:xfrm>
            <a:off x="6935057" y="1612000"/>
            <a:ext cx="2001000" cy="4495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rmAutofit/>
          </a:bodyPr>
          <a:lstStyle/>
          <a:p>
            <a:pPr marL="118000" indent="-118000" algn="l">
              <a:buClr>
                <a:srgbClr val="4E8A25"/>
              </a:buClr>
              <a:buFont typeface="Arial"/>
              <a:buChar char="•"/>
            </a:pPr>
            <a:r>
              <a:rPr lang="es-ES" sz="750" dirty="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Auto-remediación</a:t>
            </a:r>
          </a:p>
          <a:p>
            <a:pPr marL="118000" indent="-118000" algn="l">
              <a:buClr>
                <a:srgbClr val="4E8A25"/>
              </a:buClr>
              <a:buFont typeface="Arial"/>
              <a:buChar char="•"/>
            </a:pPr>
            <a:r>
              <a:rPr lang="es-ES" sz="750" dirty="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AIOps y observabilidad</a:t>
            </a:r>
          </a:p>
          <a:p>
            <a:pPr marL="118000" indent="-118000" algn="l">
              <a:buClr>
                <a:srgbClr val="4E8A25"/>
              </a:buClr>
              <a:buFont typeface="Arial"/>
              <a:buChar char="•"/>
            </a:pPr>
            <a:r>
              <a:rPr lang="es-ES" sz="750" dirty="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Prevención de fallos</a:t>
            </a:r>
          </a:p>
          <a:p>
            <a:pPr marL="118000" indent="-118000" algn="l">
              <a:buClr>
                <a:srgbClr val="4E8A25"/>
              </a:buClr>
              <a:buFont typeface="Arial"/>
              <a:buChar char="•"/>
            </a:pPr>
            <a:r>
              <a:rPr lang="es-ES" sz="750" dirty="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Operaciones sin intervención</a:t>
            </a:r>
          </a:p>
        </p:txBody>
      </p:sp>
      <p:sp>
        <p:nvSpPr>
          <p:cNvPr id="344" name="sb2"/>
          <p:cNvSpPr/>
          <p:nvPr/>
        </p:nvSpPr>
        <p:spPr>
          <a:xfrm>
            <a:off x="5515057" y="2125500"/>
            <a:ext cx="3471000" cy="7195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D5D9E6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5" name="acc"/>
          <p:cNvSpPr/>
          <p:nvPr/>
        </p:nvSpPr>
        <p:spPr>
          <a:xfrm>
            <a:off x="5515057" y="2125500"/>
            <a:ext cx="55000" cy="719500"/>
          </a:xfrm>
          <a:prstGeom prst="rect">
            <a:avLst/>
          </a:prstGeom>
          <a:solidFill>
            <a:srgbClr val="2E6FB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6" name="mk"/>
          <p:cNvSpPr>
            <a:spLocks/>
          </p:cNvSpPr>
          <p:nvPr/>
        </p:nvSpPr>
        <p:spPr>
          <a:xfrm>
            <a:off x="5635057" y="2185500"/>
            <a:ext cx="150000" cy="150000"/>
          </a:xfrm>
          <a:prstGeom prst="ellipse">
            <a:avLst/>
          </a:prstGeom>
          <a:solidFill>
            <a:srgbClr val="2E6FB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47" name="txt"/>
          <p:cNvSpPr txBox="1">
            <a:spLocks/>
          </p:cNvSpPr>
          <p:nvPr/>
        </p:nvSpPr>
        <p:spPr>
          <a:xfrm>
            <a:off x="5825057" y="2155500"/>
            <a:ext cx="3131000" cy="210000"/>
          </a:xfrm>
          <a:prstGeom prst="rect">
            <a:avLst/>
          </a:prstGeom>
          <a:noFill/>
        </p:spPr>
        <p:txBody>
          <a:bodyPr wrap="square" lIns="27000" tIns="14000" rIns="27000" bIns="14000" anchor="ctr">
            <a:normAutofit/>
          </a:bodyPr>
          <a:lstStyle/>
          <a:p>
            <a:pPr algn="l"/>
            <a:r>
              <a:rPr lang="es-ES" sz="900" b="1" dirty="0">
                <a:solidFill>
                  <a:srgbClr val="2E6FB5"/>
                </a:solidFill>
                <a:latin typeface="Reddit Sans"/>
                <a:ea typeface="Reddit Sans"/>
                <a:cs typeface="Reddit Sans Light"/>
              </a:rPr>
              <a:t>XLA &amp; Experiencia del Empleado</a:t>
            </a:r>
          </a:p>
        </p:txBody>
      </p:sp>
      <p:sp>
        <p:nvSpPr>
          <p:cNvPr id="348" name="txt"/>
          <p:cNvSpPr txBox="1"/>
          <p:nvPr/>
        </p:nvSpPr>
        <p:spPr>
          <a:xfrm>
            <a:off x="5635057" y="2375500"/>
            <a:ext cx="1250000" cy="4495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lang="es-ES" sz="750" b="1" dirty="0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NTT DATA</a:t>
            </a:r>
          </a:p>
          <a:p>
            <a:pPr algn="l">
              <a:lnSpc>
                <a:spcPct val="105000"/>
              </a:lnSpc>
            </a:pPr>
            <a:r>
              <a:rPr lang="es-ES" sz="750" b="1" dirty="0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DXC</a:t>
            </a:r>
          </a:p>
          <a:p>
            <a:pPr algn="l">
              <a:lnSpc>
                <a:spcPct val="105000"/>
              </a:lnSpc>
            </a:pPr>
            <a:r>
              <a:rPr lang="es-ES" sz="750" b="1" dirty="0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Infosys</a:t>
            </a:r>
          </a:p>
          <a:p>
            <a:pPr algn="l">
              <a:lnSpc>
                <a:spcPct val="105000"/>
              </a:lnSpc>
            </a:pPr>
            <a:r>
              <a:rPr lang="es-ES" sz="750" b="1" dirty="0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Cognizant</a:t>
            </a:r>
          </a:p>
        </p:txBody>
      </p:sp>
      <p:sp>
        <p:nvSpPr>
          <p:cNvPr id="349" name="txt"/>
          <p:cNvSpPr txBox="1">
            <a:spLocks/>
          </p:cNvSpPr>
          <p:nvPr/>
        </p:nvSpPr>
        <p:spPr>
          <a:xfrm>
            <a:off x="6935057" y="2375500"/>
            <a:ext cx="2001000" cy="4495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rmAutofit/>
          </a:bodyPr>
          <a:lstStyle/>
          <a:p>
            <a:pPr marL="118000" indent="-118000" algn="l">
              <a:buClr>
                <a:srgbClr val="2E6FB5"/>
              </a:buClr>
              <a:buFont typeface="Arial"/>
              <a:buChar char="•"/>
            </a:pPr>
            <a:r>
              <a:rPr lang="es-ES" sz="750" dirty="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Experience Level Agreements</a:t>
            </a:r>
          </a:p>
          <a:p>
            <a:pPr marL="118000" indent="-118000" algn="l">
              <a:buClr>
                <a:srgbClr val="2E6FB5"/>
              </a:buClr>
              <a:buFont typeface="Arial"/>
              <a:buChar char="•"/>
            </a:pPr>
            <a:r>
              <a:rPr lang="es-ES" sz="750" dirty="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Sentimiento del empleado</a:t>
            </a:r>
          </a:p>
          <a:p>
            <a:pPr marL="118000" indent="-118000" algn="l">
              <a:buClr>
                <a:srgbClr val="2E6FB5"/>
              </a:buClr>
              <a:buFont typeface="Arial"/>
              <a:buChar char="•"/>
            </a:pPr>
            <a:r>
              <a:rPr lang="es-ES" sz="750" dirty="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Productividad</a:t>
            </a:r>
          </a:p>
          <a:p>
            <a:pPr marL="118000" indent="-118000" algn="l">
              <a:buClr>
                <a:srgbClr val="2E6FB5"/>
              </a:buClr>
              <a:buFont typeface="Arial"/>
              <a:buChar char="•"/>
            </a:pPr>
            <a:r>
              <a:rPr lang="es-ES" sz="750" dirty="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FCR y CSAT superiores</a:t>
            </a:r>
          </a:p>
        </p:txBody>
      </p:sp>
      <p:sp>
        <p:nvSpPr>
          <p:cNvPr id="350" name="sb3"/>
          <p:cNvSpPr>
            <a:spLocks/>
          </p:cNvSpPr>
          <p:nvPr/>
        </p:nvSpPr>
        <p:spPr>
          <a:xfrm>
            <a:off x="5515057" y="2889000"/>
            <a:ext cx="3471000" cy="7195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rgbClr val="D5D9E6"/>
            </a:solidFill>
          </a:ln>
        </p:spPr>
        <p:txBody>
          <a:bodyPr wrap="square" lIns="45000" tIns="10000" rIns="45000" bIns="10000" anchor="ctr">
            <a:normAutofit/>
          </a:bodyPr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51" name="acc"/>
          <p:cNvSpPr/>
          <p:nvPr/>
        </p:nvSpPr>
        <p:spPr>
          <a:xfrm>
            <a:off x="5515057" y="2889000"/>
            <a:ext cx="55000" cy="719500"/>
          </a:xfrm>
          <a:prstGeom prst="rect">
            <a:avLst/>
          </a:prstGeom>
          <a:solidFill>
            <a:srgbClr val="6B3FA0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52" name="mk"/>
          <p:cNvSpPr>
            <a:spLocks/>
          </p:cNvSpPr>
          <p:nvPr/>
        </p:nvSpPr>
        <p:spPr>
          <a:xfrm>
            <a:off x="5635057" y="2949000"/>
            <a:ext cx="150000" cy="150000"/>
          </a:xfrm>
          <a:prstGeom prst="ellipse">
            <a:avLst/>
          </a:prstGeom>
          <a:solidFill>
            <a:srgbClr val="6B3FA0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53" name="txt"/>
          <p:cNvSpPr txBox="1"/>
          <p:nvPr/>
        </p:nvSpPr>
        <p:spPr>
          <a:xfrm>
            <a:off x="5825057" y="2919000"/>
            <a:ext cx="3131000" cy="210000"/>
          </a:xfrm>
          <a:prstGeom prst="rect">
            <a:avLst/>
          </a:prstGeom>
          <a:noFill/>
        </p:spPr>
        <p:txBody>
          <a:bodyPr wrap="square" lIns="27000" tIns="14000" rIns="27000" bIns="14000" anchor="ctr">
            <a:normAutofit/>
          </a:bodyPr>
          <a:lstStyle/>
          <a:p>
            <a:pPr algn="l"/>
            <a:r>
              <a:rPr lang="es-ES" sz="900" b="1" dirty="0">
                <a:solidFill>
                  <a:srgbClr val="6B3FA0"/>
                </a:solidFill>
                <a:latin typeface="Reddit Sans"/>
                <a:ea typeface="Reddit Sans"/>
                <a:cs typeface="Reddit Sans Light"/>
              </a:rPr>
              <a:t>Servicios Gestionados a Escala</a:t>
            </a:r>
          </a:p>
        </p:txBody>
      </p:sp>
      <p:sp>
        <p:nvSpPr>
          <p:cNvPr id="354" name="txt"/>
          <p:cNvSpPr txBox="1"/>
          <p:nvPr/>
        </p:nvSpPr>
        <p:spPr>
          <a:xfrm>
            <a:off x="5635057" y="3139000"/>
            <a:ext cx="1250000" cy="4495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lang="es-ES" sz="750" b="1" dirty="0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Deloitte</a:t>
            </a:r>
          </a:p>
          <a:p>
            <a:pPr algn="l">
              <a:lnSpc>
                <a:spcPct val="105000"/>
              </a:lnSpc>
            </a:pPr>
            <a:r>
              <a:rPr lang="es-ES" sz="750" b="1" dirty="0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Accenture</a:t>
            </a:r>
          </a:p>
          <a:p>
            <a:pPr algn="l">
              <a:lnSpc>
                <a:spcPct val="105000"/>
              </a:lnSpc>
            </a:pPr>
            <a:r>
              <a:rPr lang="es-ES" sz="750" b="1" dirty="0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Kyndryl</a:t>
            </a:r>
          </a:p>
          <a:p>
            <a:pPr algn="l">
              <a:lnSpc>
                <a:spcPct val="105000"/>
              </a:lnSpc>
            </a:pPr>
            <a:r>
              <a:rPr lang="es-ES" sz="750" b="1" dirty="0">
                <a:solidFill>
                  <a:srgbClr val="0C2362"/>
                </a:solidFill>
                <a:latin typeface="Reddit Sans"/>
                <a:ea typeface="Reddit Sans"/>
                <a:cs typeface="Reddit Sans Light"/>
              </a:rPr>
              <a:t>Cognizant</a:t>
            </a:r>
          </a:p>
        </p:txBody>
      </p:sp>
      <p:sp>
        <p:nvSpPr>
          <p:cNvPr id="355" name="txt"/>
          <p:cNvSpPr txBox="1"/>
          <p:nvPr/>
        </p:nvSpPr>
        <p:spPr>
          <a:xfrm>
            <a:off x="6935057" y="3139000"/>
            <a:ext cx="2001000" cy="4495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rmAutofit/>
          </a:bodyPr>
          <a:lstStyle/>
          <a:p>
            <a:pPr marL="118000" indent="-118000" algn="l">
              <a:buClr>
                <a:srgbClr val="6B3FA0"/>
              </a:buClr>
              <a:buFont typeface="Arial"/>
              <a:buChar char="•"/>
            </a:pPr>
            <a:r>
              <a:rPr lang="es-ES" sz="750" dirty="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Cobertura global 24x7</a:t>
            </a:r>
          </a:p>
          <a:p>
            <a:pPr marL="118000" indent="-118000" algn="l">
              <a:buClr>
                <a:srgbClr val="6B3FA0"/>
              </a:buClr>
              <a:buFont typeface="Arial"/>
              <a:buChar char="•"/>
            </a:pPr>
            <a:r>
              <a:rPr lang="es-ES" sz="750" dirty="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Modelos outcome-based</a:t>
            </a:r>
          </a:p>
          <a:p>
            <a:pPr marL="118000" indent="-118000" algn="l">
              <a:buClr>
                <a:srgbClr val="6B3FA0"/>
              </a:buClr>
              <a:buFont typeface="Arial"/>
              <a:buChar char="•"/>
            </a:pPr>
            <a:r>
              <a:rPr lang="es-ES" sz="750" dirty="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Transformación operativa</a:t>
            </a:r>
          </a:p>
          <a:p>
            <a:pPr marL="118000" indent="-118000" algn="l">
              <a:buClr>
                <a:srgbClr val="6B3FA0"/>
              </a:buClr>
              <a:buFont typeface="Arial"/>
              <a:buChar char="•"/>
            </a:pPr>
            <a:r>
              <a:rPr lang="es-ES" sz="750" dirty="0">
                <a:solidFill>
                  <a:srgbClr val="5B5F70"/>
                </a:solidFill>
                <a:latin typeface="Reddit Sans"/>
                <a:ea typeface="Reddit Sans"/>
                <a:cs typeface="Reddit Sans Light"/>
              </a:rPr>
              <a:t>Responsabilidad end-to-end</a:t>
            </a:r>
          </a:p>
        </p:txBody>
      </p:sp>
      <p:sp>
        <p:nvSpPr>
          <p:cNvPr id="356" name="stmt"/>
          <p:cNvSpPr/>
          <p:nvPr/>
        </p:nvSpPr>
        <p:spPr>
          <a:xfrm>
            <a:off x="283128" y="4438157"/>
            <a:ext cx="7591256" cy="438613"/>
          </a:xfrm>
          <a:prstGeom prst="roundRect">
            <a:avLst>
              <a:gd name="adj" fmla="val 7000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45000" tIns="10000" rIns="45000" bIns="10000" anchor="ctr">
            <a:normAutofit/>
          </a:bodyPr>
          <a:lstStyle/>
          <a:p>
            <a:pPr algn="l">
              <a:lnSpc>
                <a:spcPct val="104000"/>
              </a:lnSpc>
            </a:pPr>
            <a:r>
              <a:rPr lang="es-ES" sz="1000" b="1" dirty="0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Los proveedores convergen en capacidades, pero la diferenciación está en la </a:t>
            </a:r>
            <a:r>
              <a:rPr lang="es-ES" sz="1000" b="1" dirty="0">
                <a:solidFill>
                  <a:srgbClr val="7FD4D0"/>
                </a:solidFill>
                <a:latin typeface="Reddit Sans"/>
                <a:ea typeface="Reddit Sans"/>
                <a:cs typeface="Reddit Sans Light"/>
              </a:rPr>
              <a:t>profundidad de la IA, la automatización y los resultados de negocio</a:t>
            </a:r>
            <a:r>
              <a:rPr lang="es-ES" sz="1000" b="1" dirty="0">
                <a:solidFill>
                  <a:srgbClr val="FFFFFF"/>
                </a:solidFill>
                <a:latin typeface="Reddit Sans"/>
                <a:ea typeface="Reddit Sans"/>
                <a:cs typeface="Reddit Sans Light"/>
              </a:rPr>
              <a:t> </a:t>
            </a:r>
            <a:r>
              <a:rPr lang="es-ES" sz="1000" b="1" dirty="0">
                <a:solidFill>
                  <a:schemeClr val="tx1"/>
                </a:solidFill>
                <a:latin typeface="Reddit Sans"/>
                <a:ea typeface="Reddit Sans"/>
                <a:cs typeface="Reddit Sans Light"/>
              </a:rPr>
              <a:t>que entregan.</a:t>
            </a:r>
          </a:p>
        </p:txBody>
      </p:sp>
      <p:sp>
        <p:nvSpPr>
          <p:cNvPr id="357" name="tkdot"/>
          <p:cNvSpPr/>
          <p:nvPr/>
        </p:nvSpPr>
        <p:spPr>
          <a:xfrm>
            <a:off x="5545328" y="3727485"/>
            <a:ext cx="130000" cy="130000"/>
          </a:xfrm>
          <a:prstGeom prst="ellipse">
            <a:avLst/>
          </a:prstGeom>
          <a:solidFill>
            <a:srgbClr val="0D6F7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58" name="txt"/>
          <p:cNvSpPr txBox="1"/>
          <p:nvPr/>
        </p:nvSpPr>
        <p:spPr>
          <a:xfrm>
            <a:off x="5535328" y="3877485"/>
            <a:ext cx="784499" cy="612842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es-ES" sz="700" dirty="0">
                <a:solidFill>
                  <a:srgbClr val="2A2E45"/>
                </a:solidFill>
                <a:latin typeface="Reddit Sans"/>
                <a:ea typeface="Reddit Sans"/>
                <a:cs typeface="Reddit Sans Light"/>
              </a:rPr>
              <a:t>La IA impulsa la autonomía y las decisiones.</a:t>
            </a:r>
          </a:p>
        </p:txBody>
      </p:sp>
      <p:sp>
        <p:nvSpPr>
          <p:cNvPr id="359" name="tkdot"/>
          <p:cNvSpPr/>
          <p:nvPr/>
        </p:nvSpPr>
        <p:spPr>
          <a:xfrm>
            <a:off x="6447357" y="3727485"/>
            <a:ext cx="130000" cy="130000"/>
          </a:xfrm>
          <a:prstGeom prst="ellipse">
            <a:avLst/>
          </a:prstGeom>
          <a:solidFill>
            <a:srgbClr val="4E8A2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60" name="txt"/>
          <p:cNvSpPr txBox="1"/>
          <p:nvPr/>
        </p:nvSpPr>
        <p:spPr>
          <a:xfrm>
            <a:off x="6388371" y="3882928"/>
            <a:ext cx="784499" cy="612842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lang="es-ES" sz="700" dirty="0">
                <a:solidFill>
                  <a:srgbClr val="2A2E45"/>
                </a:solidFill>
                <a:latin typeface="Reddit Sans"/>
                <a:ea typeface="Reddit Sans"/>
                <a:cs typeface="Reddit Sans Light"/>
              </a:rPr>
              <a:t>La automatización reduce costos y previene fallos.</a:t>
            </a:r>
          </a:p>
        </p:txBody>
      </p:sp>
      <p:sp>
        <p:nvSpPr>
          <p:cNvPr id="361" name="tkdot"/>
          <p:cNvSpPr/>
          <p:nvPr/>
        </p:nvSpPr>
        <p:spPr>
          <a:xfrm>
            <a:off x="7251413" y="3732928"/>
            <a:ext cx="130000" cy="130000"/>
          </a:xfrm>
          <a:prstGeom prst="ellipse">
            <a:avLst/>
          </a:prstGeom>
          <a:solidFill>
            <a:srgbClr val="2E6FB5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62" name="txt"/>
          <p:cNvSpPr txBox="1"/>
          <p:nvPr/>
        </p:nvSpPr>
        <p:spPr>
          <a:xfrm>
            <a:off x="7241413" y="3882928"/>
            <a:ext cx="784499" cy="612842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es-ES" sz="700" dirty="0">
                <a:solidFill>
                  <a:srgbClr val="2A2E45"/>
                </a:solidFill>
                <a:latin typeface="Reddit Sans"/>
                <a:ea typeface="Reddit Sans"/>
                <a:cs typeface="Reddit Sans Light"/>
              </a:rPr>
              <a:t>La experiencia del empleado es el nuevo SLA.</a:t>
            </a:r>
          </a:p>
        </p:txBody>
      </p:sp>
      <p:sp>
        <p:nvSpPr>
          <p:cNvPr id="363" name="tkdot"/>
          <p:cNvSpPr/>
          <p:nvPr/>
        </p:nvSpPr>
        <p:spPr>
          <a:xfrm>
            <a:off x="8104456" y="3732928"/>
            <a:ext cx="130000" cy="130000"/>
          </a:xfrm>
          <a:prstGeom prst="ellipse">
            <a:avLst/>
          </a:prstGeom>
          <a:solidFill>
            <a:srgbClr val="6B3FA0"/>
          </a:solidFill>
        </p:spPr>
        <p:txBody>
          <a:bodyPr/>
          <a:lstStyle/>
          <a:p>
            <a:endParaRPr lang="es-ES">
              <a:latin typeface="Reddit Sans"/>
              <a:ea typeface="Reddit Sans"/>
              <a:cs typeface="Reddit Sans Light"/>
            </a:endParaRPr>
          </a:p>
        </p:txBody>
      </p:sp>
      <p:sp>
        <p:nvSpPr>
          <p:cNvPr id="364" name="txt"/>
          <p:cNvSpPr txBox="1"/>
          <p:nvPr/>
        </p:nvSpPr>
        <p:spPr>
          <a:xfrm>
            <a:off x="8105340" y="3882928"/>
            <a:ext cx="855257" cy="612842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lang="es-ES" sz="700" dirty="0">
                <a:solidFill>
                  <a:srgbClr val="2A2E45"/>
                </a:solidFill>
                <a:latin typeface="Reddit Sans"/>
                <a:ea typeface="Reddit Sans"/>
                <a:cs typeface="Reddit Sans Light"/>
              </a:rPr>
              <a:t>El modelo gestionado asegura resultados sostenibles.</a:t>
            </a:r>
          </a:p>
        </p:txBody>
      </p:sp>
      <p:sp>
        <p:nvSpPr>
          <p:cNvPr id="365" name="src"/>
          <p:cNvSpPr txBox="1"/>
          <p:nvPr/>
        </p:nvSpPr>
        <p:spPr>
          <a:xfrm>
            <a:off x="353885" y="4880000"/>
            <a:ext cx="7600000" cy="220000"/>
          </a:xfrm>
          <a:prstGeom prst="rect">
            <a:avLst/>
          </a:prstGeom>
          <a:noFill/>
        </p:spPr>
        <p:txBody>
          <a:bodyPr wrap="square" lIns="27000" tIns="14000" rIns="27000" bIns="14000" anchor="t">
            <a:normAutofit/>
          </a:bodyPr>
          <a:lstStyle/>
          <a:p>
            <a:pPr algn="l"/>
            <a:r>
              <a:rPr lang="es-ES" sz="700" dirty="0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Fuente: Gartner ITSM Market Guide 2024 · Gartner AI </a:t>
            </a:r>
            <a:r>
              <a:rPr lang="es-ES" sz="700" dirty="0" err="1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Applications</a:t>
            </a:r>
            <a:r>
              <a:rPr lang="es-ES" sz="700" dirty="0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 in ITSM 2024 · IDC </a:t>
            </a:r>
            <a:r>
              <a:rPr lang="es-ES" sz="700" dirty="0" err="1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MarketScape</a:t>
            </a:r>
            <a:r>
              <a:rPr lang="es-ES" sz="700" dirty="0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: </a:t>
            </a:r>
            <a:r>
              <a:rPr lang="es-ES" sz="700" dirty="0" err="1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Worldwide</a:t>
            </a:r>
            <a:r>
              <a:rPr lang="es-ES" sz="700" dirty="0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 ITSM 2024 · HDI </a:t>
            </a:r>
            <a:r>
              <a:rPr lang="es-ES" sz="700" dirty="0" err="1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Benchmarks</a:t>
            </a:r>
            <a:r>
              <a:rPr lang="es-ES" sz="700" dirty="0">
                <a:solidFill>
                  <a:srgbClr val="5B5F70"/>
                </a:solidFill>
                <a:highlight>
                  <a:srgbClr val="FFFF00"/>
                </a:highlight>
                <a:latin typeface="Reddit Sans"/>
                <a:ea typeface="Reddit Sans"/>
                <a:cs typeface="Reddit Sans Light"/>
              </a:rPr>
              <a:t> 2024-2025</a:t>
            </a: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10B77E44-CDA2-C401-ABF9-5C520D9C4C6F}"/>
              </a:ext>
            </a:extLst>
          </p:cNvPr>
          <p:cNvCxnSpPr/>
          <p:nvPr/>
        </p:nvCxnSpPr>
        <p:spPr>
          <a:xfrm flipH="1" flipV="1">
            <a:off x="2778434" y="1066800"/>
            <a:ext cx="24063" cy="3112168"/>
          </a:xfrm>
          <a:prstGeom prst="straightConnector1">
            <a:avLst/>
          </a:prstGeom>
          <a:ln w="28575">
            <a:solidFill>
              <a:srgbClr val="E4E4E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E6FC09E6-FD59-EEC1-568A-BCA39B87F200}"/>
              </a:ext>
            </a:extLst>
          </p:cNvPr>
          <p:cNvCxnSpPr>
            <a:cxnSpLocks/>
          </p:cNvCxnSpPr>
          <p:nvPr/>
        </p:nvCxnSpPr>
        <p:spPr>
          <a:xfrm>
            <a:off x="358162" y="4212781"/>
            <a:ext cx="4934379" cy="6589"/>
          </a:xfrm>
          <a:prstGeom prst="straightConnector1">
            <a:avLst/>
          </a:prstGeom>
          <a:ln w="28575">
            <a:solidFill>
              <a:srgbClr val="E4E4E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1B6438-BF5B-F6C9-DE7C-E31F1892E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400"/>
              <a:t>El Costo de No </a:t>
            </a:r>
            <a:r>
              <a:rPr lang="en-US" sz="1400" err="1"/>
              <a:t>Evolucionar</a:t>
            </a:r>
            <a:endParaRPr lang="es-CO" sz="140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34AAC178-FC92-F642-69E8-BC6A6C6E3207}"/>
              </a:ext>
            </a:extLst>
          </p:cNvPr>
          <p:cNvSpPr/>
          <p:nvPr/>
        </p:nvSpPr>
        <p:spPr>
          <a:xfrm>
            <a:off x="312930" y="84417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1B5E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Costo por ticket segun nivel de resolucion</a:t>
            </a:r>
            <a:endParaRPr lang="en-US" sz="12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9" name="Shape 20">
            <a:extLst>
              <a:ext uri="{FF2B5EF4-FFF2-40B4-BE49-F238E27FC236}">
                <a16:creationId xmlns:a16="http://schemas.microsoft.com/office/drawing/2014/main" id="{7FE31A7F-BC0A-F0E6-2C8C-3B58D49E8001}"/>
              </a:ext>
            </a:extLst>
          </p:cNvPr>
          <p:cNvSpPr/>
          <p:nvPr/>
        </p:nvSpPr>
        <p:spPr>
          <a:xfrm>
            <a:off x="312929" y="3982521"/>
            <a:ext cx="5256712" cy="371204"/>
          </a:xfrm>
          <a:prstGeom prst="leftArrow">
            <a:avLst/>
          </a:prstGeom>
          <a:solidFill>
            <a:srgbClr val="1B7B85"/>
          </a:solidFill>
          <a:ln w="12700">
            <a:solidFill>
              <a:srgbClr val="1B7B8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 21">
            <a:extLst>
              <a:ext uri="{FF2B5EF4-FFF2-40B4-BE49-F238E27FC236}">
                <a16:creationId xmlns:a16="http://schemas.microsoft.com/office/drawing/2014/main" id="{B09B687A-2905-F335-0058-C12B2534C3A3}"/>
              </a:ext>
            </a:extLst>
          </p:cNvPr>
          <p:cNvSpPr/>
          <p:nvPr/>
        </p:nvSpPr>
        <p:spPr>
          <a:xfrm>
            <a:off x="-578609" y="4093338"/>
            <a:ext cx="7297782" cy="33462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050" b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Cada ticket </a:t>
            </a:r>
            <a:r>
              <a:rPr lang="en-US" sz="1050" b="1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evitado</a:t>
            </a:r>
            <a:r>
              <a:rPr lang="en-US" sz="1050" b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 </a:t>
            </a:r>
            <a:r>
              <a:rPr lang="en-US" sz="1050" b="1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mediante</a:t>
            </a:r>
            <a:r>
              <a:rPr lang="en-US" sz="1050" b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 Shift-Left reduce </a:t>
            </a:r>
            <a:r>
              <a:rPr lang="en-US" sz="1050" b="1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costos</a:t>
            </a:r>
            <a:r>
              <a:rPr lang="en-US" sz="1050" b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 y </a:t>
            </a:r>
            <a:r>
              <a:rPr lang="en-US" sz="1050" b="1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tiempos</a:t>
            </a:r>
            <a:r>
              <a:rPr lang="en-US" sz="1050" b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 de </a:t>
            </a:r>
            <a:r>
              <a:rPr lang="en-US" sz="1050" b="1" err="1">
                <a:solidFill>
                  <a:srgbClr val="FFFFFF"/>
                </a:solidFill>
                <a:latin typeface="Reddit Sans"/>
                <a:ea typeface="Reddit Sans"/>
                <a:cs typeface="Calibri"/>
              </a:rPr>
              <a:t>resolución</a:t>
            </a:r>
            <a:endParaRPr lang="en-US" sz="1050" b="1">
              <a:solidFill>
                <a:srgbClr val="FFFFFF"/>
              </a:solidFill>
              <a:latin typeface="Reddit Sans"/>
              <a:ea typeface="Reddit Sans"/>
              <a:cs typeface="Calibri"/>
            </a:endParaRPr>
          </a:p>
          <a:p>
            <a:pPr algn="ctr"/>
            <a:endParaRPr lang="en-US" sz="1050" b="1">
              <a:solidFill>
                <a:srgbClr val="FFFFFF"/>
              </a:solidFill>
              <a:latin typeface="Reddit Sans"/>
              <a:ea typeface="Reddit Sans"/>
              <a:cs typeface="Calibri"/>
            </a:endParaRPr>
          </a:p>
        </p:txBody>
      </p:sp>
      <p:sp>
        <p:nvSpPr>
          <p:cNvPr id="51" name="Text 3">
            <a:extLst>
              <a:ext uri="{FF2B5EF4-FFF2-40B4-BE49-F238E27FC236}">
                <a16:creationId xmlns:a16="http://schemas.microsoft.com/office/drawing/2014/main" id="{E848E77C-4CF7-E141-E976-3EFC1688EBE2}"/>
              </a:ext>
            </a:extLst>
          </p:cNvPr>
          <p:cNvSpPr/>
          <p:nvPr/>
        </p:nvSpPr>
        <p:spPr>
          <a:xfrm>
            <a:off x="312930" y="524130"/>
            <a:ext cx="77724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defTabSz="685800" fontAlgn="ctr">
              <a:lnSpc>
                <a:spcPts val="1693"/>
              </a:lnSpc>
              <a:spcBef>
                <a:spcPts val="650"/>
              </a:spcBef>
              <a:buFont typeface="Arial"/>
              <a:buNone/>
            </a:pP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La mesa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reactiva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ya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 es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indefendible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</a:rPr>
              <a:t>comercialmente</a:t>
            </a:r>
          </a:p>
        </p:txBody>
      </p:sp>
      <p:sp>
        <p:nvSpPr>
          <p:cNvPr id="141" name="bar">
            <a:extLst>
              <a:ext uri="{FF2B5EF4-FFF2-40B4-BE49-F238E27FC236}">
                <a16:creationId xmlns:a16="http://schemas.microsoft.com/office/drawing/2014/main" id="{5157805E-5E2A-EA83-FA50-536A233632FB}"/>
              </a:ext>
            </a:extLst>
          </p:cNvPr>
          <p:cNvSpPr>
            <a:spLocks noGrp="1"/>
          </p:cNvSpPr>
          <p:nvPr/>
        </p:nvSpPr>
        <p:spPr>
          <a:xfrm>
            <a:off x="363583" y="1278201"/>
            <a:ext cx="914400" cy="457200"/>
          </a:xfrm>
          <a:prstGeom prst="roundRect">
            <a:avLst>
              <a:gd name="adj" fmla="val 8000"/>
            </a:avLst>
          </a:prstGeom>
          <a:solidFill>
            <a:srgbClr val="2A6B3C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43" name="lbl">
            <a:extLst>
              <a:ext uri="{FF2B5EF4-FFF2-40B4-BE49-F238E27FC236}">
                <a16:creationId xmlns:a16="http://schemas.microsoft.com/office/drawing/2014/main" id="{2B0ADD44-981F-5714-ED4D-60260B63E85A}"/>
              </a:ext>
            </a:extLst>
          </p:cNvPr>
          <p:cNvSpPr txBox="1">
            <a:spLocks noGrp="1"/>
          </p:cNvSpPr>
          <p:nvPr/>
        </p:nvSpPr>
        <p:spPr>
          <a:xfrm>
            <a:off x="436735" y="1278201"/>
            <a:ext cx="8991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Autofit/>
          </a:bodyPr>
          <a:lstStyle/>
          <a:p>
            <a:pPr algn="l"/>
            <a:r>
              <a:rPr lang="es-ES" sz="900" b="1">
                <a:solidFill>
                  <a:srgbClr val="FFFFFF"/>
                </a:solidFill>
                <a:latin typeface="Reddit Sans"/>
                <a:ea typeface="Reddit Sans"/>
              </a:rPr>
              <a:t>N0 Autoservicio</a:t>
            </a:r>
          </a:p>
        </p:txBody>
      </p:sp>
      <p:sp>
        <p:nvSpPr>
          <p:cNvPr id="145" name="cst">
            <a:extLst>
              <a:ext uri="{FF2B5EF4-FFF2-40B4-BE49-F238E27FC236}">
                <a16:creationId xmlns:a16="http://schemas.microsoft.com/office/drawing/2014/main" id="{E4439B9E-F687-74E9-EB92-6EB3C16EDDAD}"/>
              </a:ext>
            </a:extLst>
          </p:cNvPr>
          <p:cNvSpPr txBox="1">
            <a:spLocks noGrp="1"/>
          </p:cNvSpPr>
          <p:nvPr/>
        </p:nvSpPr>
        <p:spPr>
          <a:xfrm>
            <a:off x="1387711" y="1278201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300" b="1">
                <a:solidFill>
                  <a:srgbClr val="0D1B5E"/>
                </a:solidFill>
                <a:latin typeface="Reddit Sans"/>
                <a:ea typeface="Reddit Sans"/>
              </a:rPr>
              <a:t>USD 2</a:t>
            </a:r>
          </a:p>
        </p:txBody>
      </p:sp>
      <p:sp>
        <p:nvSpPr>
          <p:cNvPr id="147" name="bar">
            <a:extLst>
              <a:ext uri="{FF2B5EF4-FFF2-40B4-BE49-F238E27FC236}">
                <a16:creationId xmlns:a16="http://schemas.microsoft.com/office/drawing/2014/main" id="{FBAF12FC-0D1F-F735-64F1-19A358F92296}"/>
              </a:ext>
            </a:extLst>
          </p:cNvPr>
          <p:cNvSpPr>
            <a:spLocks noGrp="1"/>
          </p:cNvSpPr>
          <p:nvPr/>
        </p:nvSpPr>
        <p:spPr>
          <a:xfrm>
            <a:off x="363583" y="1799409"/>
            <a:ext cx="1496785" cy="457200"/>
          </a:xfrm>
          <a:prstGeom prst="roundRect">
            <a:avLst>
              <a:gd name="adj" fmla="val 8000"/>
            </a:avLst>
          </a:prstGeom>
          <a:solidFill>
            <a:srgbClr val="1B7B85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49" name="lbl">
            <a:extLst>
              <a:ext uri="{FF2B5EF4-FFF2-40B4-BE49-F238E27FC236}">
                <a16:creationId xmlns:a16="http://schemas.microsoft.com/office/drawing/2014/main" id="{71C36A62-E4E7-831A-FC2B-84562D562C1F}"/>
              </a:ext>
            </a:extLst>
          </p:cNvPr>
          <p:cNvSpPr txBox="1">
            <a:spLocks noGrp="1"/>
          </p:cNvSpPr>
          <p:nvPr/>
        </p:nvSpPr>
        <p:spPr>
          <a:xfrm>
            <a:off x="436735" y="1799409"/>
            <a:ext cx="12801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N1 Agente Virtual IA</a:t>
            </a:r>
          </a:p>
        </p:txBody>
      </p:sp>
      <p:sp>
        <p:nvSpPr>
          <p:cNvPr id="151" name="cst">
            <a:extLst>
              <a:ext uri="{FF2B5EF4-FFF2-40B4-BE49-F238E27FC236}">
                <a16:creationId xmlns:a16="http://schemas.microsoft.com/office/drawing/2014/main" id="{716CAA39-1F22-F973-E1DF-A49F3614AF42}"/>
              </a:ext>
            </a:extLst>
          </p:cNvPr>
          <p:cNvSpPr txBox="1">
            <a:spLocks noGrp="1"/>
          </p:cNvSpPr>
          <p:nvPr/>
        </p:nvSpPr>
        <p:spPr>
          <a:xfrm>
            <a:off x="1844911" y="1799409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1300" b="1">
                <a:solidFill>
                  <a:srgbClr val="0D1B5E"/>
                </a:solidFill>
                <a:latin typeface="Reddit Sans"/>
                <a:ea typeface="Reddit Sans"/>
              </a:rPr>
              <a:t>USD 8</a:t>
            </a:r>
          </a:p>
        </p:txBody>
      </p:sp>
      <p:sp>
        <p:nvSpPr>
          <p:cNvPr id="153" name="bar">
            <a:extLst>
              <a:ext uri="{FF2B5EF4-FFF2-40B4-BE49-F238E27FC236}">
                <a16:creationId xmlns:a16="http://schemas.microsoft.com/office/drawing/2014/main" id="{B00C8B7D-B467-FA5A-08A0-889448FB396D}"/>
              </a:ext>
            </a:extLst>
          </p:cNvPr>
          <p:cNvSpPr>
            <a:spLocks noGrp="1"/>
          </p:cNvSpPr>
          <p:nvPr/>
        </p:nvSpPr>
        <p:spPr>
          <a:xfrm>
            <a:off x="363583" y="2320617"/>
            <a:ext cx="2299062" cy="457200"/>
          </a:xfrm>
          <a:prstGeom prst="roundRect">
            <a:avLst>
              <a:gd name="adj" fmla="val 8000"/>
            </a:avLst>
          </a:prstGeom>
          <a:solidFill>
            <a:srgbClr val="1F6FBA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55" name="lbl">
            <a:extLst>
              <a:ext uri="{FF2B5EF4-FFF2-40B4-BE49-F238E27FC236}">
                <a16:creationId xmlns:a16="http://schemas.microsoft.com/office/drawing/2014/main" id="{B2DFE1AD-48DF-10FB-2EB4-DB126050808B}"/>
              </a:ext>
            </a:extLst>
          </p:cNvPr>
          <p:cNvSpPr txBox="1">
            <a:spLocks noGrp="1"/>
          </p:cNvSpPr>
          <p:nvPr/>
        </p:nvSpPr>
        <p:spPr>
          <a:xfrm>
            <a:off x="436735" y="2320617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N2 Soporte L1</a:t>
            </a:r>
          </a:p>
        </p:txBody>
      </p:sp>
      <p:sp>
        <p:nvSpPr>
          <p:cNvPr id="157" name="cst">
            <a:extLst>
              <a:ext uri="{FF2B5EF4-FFF2-40B4-BE49-F238E27FC236}">
                <a16:creationId xmlns:a16="http://schemas.microsoft.com/office/drawing/2014/main" id="{60A9ED2F-0787-C608-C521-3DCE9D1E894A}"/>
              </a:ext>
            </a:extLst>
          </p:cNvPr>
          <p:cNvSpPr txBox="1">
            <a:spLocks noGrp="1"/>
          </p:cNvSpPr>
          <p:nvPr/>
        </p:nvSpPr>
        <p:spPr>
          <a:xfrm>
            <a:off x="2576431" y="2320617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lnSpcReduction="10000"/>
          </a:bodyPr>
          <a:lstStyle/>
          <a:p>
            <a:pPr algn="l"/>
            <a:r>
              <a:rPr lang="es-ES" sz="1300" b="1">
                <a:solidFill>
                  <a:srgbClr val="0D1B5E"/>
                </a:solidFill>
                <a:latin typeface="Reddit Sans"/>
                <a:ea typeface="Reddit Sans"/>
              </a:rPr>
              <a:t>USD 22</a:t>
            </a:r>
          </a:p>
        </p:txBody>
      </p:sp>
      <p:sp>
        <p:nvSpPr>
          <p:cNvPr id="159" name="bar">
            <a:extLst>
              <a:ext uri="{FF2B5EF4-FFF2-40B4-BE49-F238E27FC236}">
                <a16:creationId xmlns:a16="http://schemas.microsoft.com/office/drawing/2014/main" id="{36E6D2F2-2A4B-8AE8-33B4-3E2CC238959B}"/>
              </a:ext>
            </a:extLst>
          </p:cNvPr>
          <p:cNvSpPr>
            <a:spLocks noGrp="1"/>
          </p:cNvSpPr>
          <p:nvPr/>
        </p:nvSpPr>
        <p:spPr>
          <a:xfrm>
            <a:off x="363583" y="2841825"/>
            <a:ext cx="3017520" cy="457200"/>
          </a:xfrm>
          <a:prstGeom prst="roundRect">
            <a:avLst>
              <a:gd name="adj" fmla="val 8000"/>
            </a:avLst>
          </a:prstGeom>
          <a:solidFill>
            <a:srgbClr val="1A3A8F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61" name="lbl">
            <a:extLst>
              <a:ext uri="{FF2B5EF4-FFF2-40B4-BE49-F238E27FC236}">
                <a16:creationId xmlns:a16="http://schemas.microsoft.com/office/drawing/2014/main" id="{E40B749C-A2E5-12DB-B139-62F93E4200C8}"/>
              </a:ext>
            </a:extLst>
          </p:cNvPr>
          <p:cNvSpPr txBox="1">
            <a:spLocks noGrp="1"/>
          </p:cNvSpPr>
          <p:nvPr/>
        </p:nvSpPr>
        <p:spPr>
          <a:xfrm>
            <a:off x="436735" y="2841825"/>
            <a:ext cx="319822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900" b="1">
                <a:solidFill>
                  <a:srgbClr val="FFFFFF"/>
                </a:solidFill>
                <a:latin typeface="Reddit Sans"/>
                <a:ea typeface="Reddit Sans"/>
              </a:rPr>
              <a:t>N3 Soporte L2</a:t>
            </a:r>
          </a:p>
        </p:txBody>
      </p:sp>
      <p:sp>
        <p:nvSpPr>
          <p:cNvPr id="163" name="cst">
            <a:extLst>
              <a:ext uri="{FF2B5EF4-FFF2-40B4-BE49-F238E27FC236}">
                <a16:creationId xmlns:a16="http://schemas.microsoft.com/office/drawing/2014/main" id="{239918B0-AEA0-76AF-70C1-C7069D488EE4}"/>
              </a:ext>
            </a:extLst>
          </p:cNvPr>
          <p:cNvSpPr txBox="1">
            <a:spLocks noGrp="1"/>
          </p:cNvSpPr>
          <p:nvPr/>
        </p:nvSpPr>
        <p:spPr>
          <a:xfrm>
            <a:off x="3490831" y="2841825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lnSpcReduction="10000"/>
          </a:bodyPr>
          <a:lstStyle/>
          <a:p>
            <a:pPr algn="l"/>
            <a:r>
              <a:rPr lang="es-ES" sz="1300" b="1">
                <a:solidFill>
                  <a:srgbClr val="0D1B5E"/>
                </a:solidFill>
                <a:latin typeface="Reddit Sans"/>
                <a:ea typeface="Reddit Sans"/>
              </a:rPr>
              <a:t>USD 55</a:t>
            </a:r>
          </a:p>
        </p:txBody>
      </p:sp>
      <p:sp>
        <p:nvSpPr>
          <p:cNvPr id="165" name="bar">
            <a:extLst>
              <a:ext uri="{FF2B5EF4-FFF2-40B4-BE49-F238E27FC236}">
                <a16:creationId xmlns:a16="http://schemas.microsoft.com/office/drawing/2014/main" id="{ADF2DCAC-F3AA-43F8-B4AB-26576FC1B888}"/>
              </a:ext>
            </a:extLst>
          </p:cNvPr>
          <p:cNvSpPr>
            <a:spLocks noGrp="1"/>
          </p:cNvSpPr>
          <p:nvPr/>
        </p:nvSpPr>
        <p:spPr>
          <a:xfrm>
            <a:off x="363583" y="3363033"/>
            <a:ext cx="3749039" cy="457200"/>
          </a:xfrm>
          <a:prstGeom prst="roundRect">
            <a:avLst>
              <a:gd name="adj" fmla="val 8000"/>
            </a:avLst>
          </a:prstGeom>
          <a:solidFill>
            <a:srgbClr val="0D1B5E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67" name="lbl">
            <a:extLst>
              <a:ext uri="{FF2B5EF4-FFF2-40B4-BE49-F238E27FC236}">
                <a16:creationId xmlns:a16="http://schemas.microsoft.com/office/drawing/2014/main" id="{0D4C4E3A-CB71-D89E-30FE-D87891ED0890}"/>
              </a:ext>
            </a:extLst>
          </p:cNvPr>
          <p:cNvSpPr txBox="1">
            <a:spLocks noGrp="1"/>
          </p:cNvSpPr>
          <p:nvPr/>
        </p:nvSpPr>
        <p:spPr>
          <a:xfrm>
            <a:off x="436735" y="3363033"/>
            <a:ext cx="3995056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l"/>
            <a:r>
              <a:rPr lang="es-ES" sz="900" b="1">
                <a:solidFill>
                  <a:srgbClr val="FFFFFF"/>
                </a:solidFill>
                <a:latin typeface="Reddit Sans"/>
                <a:ea typeface="Reddit Sans"/>
              </a:rPr>
              <a:t>N4-N5 Especializado</a:t>
            </a:r>
          </a:p>
        </p:txBody>
      </p:sp>
      <p:sp>
        <p:nvSpPr>
          <p:cNvPr id="169" name="cst">
            <a:extLst>
              <a:ext uri="{FF2B5EF4-FFF2-40B4-BE49-F238E27FC236}">
                <a16:creationId xmlns:a16="http://schemas.microsoft.com/office/drawing/2014/main" id="{516256F4-37AA-EF39-3E54-9E6B464E213A}"/>
              </a:ext>
            </a:extLst>
          </p:cNvPr>
          <p:cNvSpPr txBox="1">
            <a:spLocks noGrp="1"/>
          </p:cNvSpPr>
          <p:nvPr/>
        </p:nvSpPr>
        <p:spPr>
          <a:xfrm>
            <a:off x="4113493" y="3346704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lnSpcReduction="10000"/>
          </a:bodyPr>
          <a:lstStyle/>
          <a:p>
            <a:pPr algn="l"/>
            <a:r>
              <a:rPr lang="es-ES" sz="1300" b="1">
                <a:solidFill>
                  <a:srgbClr val="0D1B5E"/>
                </a:solidFill>
                <a:latin typeface="Reddit Sans"/>
                <a:ea typeface="Reddit Sans"/>
              </a:rPr>
              <a:t>USD 104</a:t>
            </a:r>
          </a:p>
        </p:txBody>
      </p:sp>
      <p:sp>
        <p:nvSpPr>
          <p:cNvPr id="171" name="bhdr">
            <a:extLst>
              <a:ext uri="{FF2B5EF4-FFF2-40B4-BE49-F238E27FC236}">
                <a16:creationId xmlns:a16="http://schemas.microsoft.com/office/drawing/2014/main" id="{72699A02-D9BD-203D-2BBF-B3A35207C06B}"/>
              </a:ext>
            </a:extLst>
          </p:cNvPr>
          <p:cNvSpPr>
            <a:spLocks noGrp="1"/>
          </p:cNvSpPr>
          <p:nvPr/>
        </p:nvSpPr>
        <p:spPr>
          <a:xfrm>
            <a:off x="4732020" y="1196340"/>
            <a:ext cx="3794760" cy="365760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73" name="th">
            <a:extLst>
              <a:ext uri="{FF2B5EF4-FFF2-40B4-BE49-F238E27FC236}">
                <a16:creationId xmlns:a16="http://schemas.microsoft.com/office/drawing/2014/main" id="{82367F01-1427-05FD-3941-50F2F6338D1B}"/>
              </a:ext>
            </a:extLst>
          </p:cNvPr>
          <p:cNvSpPr txBox="1">
            <a:spLocks noGrp="1"/>
          </p:cNvSpPr>
          <p:nvPr/>
        </p:nvSpPr>
        <p:spPr>
          <a:xfrm>
            <a:off x="4737463" y="119634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Métrica</a:t>
            </a:r>
          </a:p>
        </p:txBody>
      </p:sp>
      <p:sp>
        <p:nvSpPr>
          <p:cNvPr id="175" name="th">
            <a:extLst>
              <a:ext uri="{FF2B5EF4-FFF2-40B4-BE49-F238E27FC236}">
                <a16:creationId xmlns:a16="http://schemas.microsoft.com/office/drawing/2014/main" id="{A43800BE-7949-6206-5481-79E9337C8EB5}"/>
              </a:ext>
            </a:extLst>
          </p:cNvPr>
          <p:cNvSpPr txBox="1">
            <a:spLocks noGrp="1"/>
          </p:cNvSpPr>
          <p:nvPr/>
        </p:nvSpPr>
        <p:spPr>
          <a:xfrm>
            <a:off x="6291943" y="119634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Tradicional</a:t>
            </a:r>
          </a:p>
        </p:txBody>
      </p:sp>
      <p:sp>
        <p:nvSpPr>
          <p:cNvPr id="177" name="th">
            <a:extLst>
              <a:ext uri="{FF2B5EF4-FFF2-40B4-BE49-F238E27FC236}">
                <a16:creationId xmlns:a16="http://schemas.microsoft.com/office/drawing/2014/main" id="{5E880A90-7749-D9FE-8EAE-15D7C726958D}"/>
              </a:ext>
            </a:extLst>
          </p:cNvPr>
          <p:cNvSpPr txBox="1">
            <a:spLocks noGrp="1"/>
          </p:cNvSpPr>
          <p:nvPr/>
        </p:nvSpPr>
        <p:spPr>
          <a:xfrm>
            <a:off x="7297783" y="119634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Con IA Agéntica</a:t>
            </a:r>
          </a:p>
        </p:txBody>
      </p:sp>
      <p:sp>
        <p:nvSpPr>
          <p:cNvPr id="179" name="rbg">
            <a:extLst>
              <a:ext uri="{FF2B5EF4-FFF2-40B4-BE49-F238E27FC236}">
                <a16:creationId xmlns:a16="http://schemas.microsoft.com/office/drawing/2014/main" id="{7C37B1C2-815F-2818-F812-5A6691D3D634}"/>
              </a:ext>
            </a:extLst>
          </p:cNvPr>
          <p:cNvSpPr>
            <a:spLocks noGrp="1"/>
          </p:cNvSpPr>
          <p:nvPr/>
        </p:nvSpPr>
        <p:spPr>
          <a:xfrm>
            <a:off x="4737463" y="1562100"/>
            <a:ext cx="3794760" cy="365760"/>
          </a:xfrm>
          <a:prstGeom prst="rect">
            <a:avLst/>
          </a:prstGeom>
          <a:solidFill>
            <a:srgbClr val="F5F7FC"/>
          </a:solidFill>
          <a:ln w="6350">
            <a:solidFill>
              <a:srgbClr val="D1D5DB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181" name="bc">
            <a:extLst>
              <a:ext uri="{FF2B5EF4-FFF2-40B4-BE49-F238E27FC236}">
                <a16:creationId xmlns:a16="http://schemas.microsoft.com/office/drawing/2014/main" id="{C846BEF1-A2FE-C0A0-437E-B3B93D97DA3A}"/>
              </a:ext>
            </a:extLst>
          </p:cNvPr>
          <p:cNvSpPr txBox="1">
            <a:spLocks noGrp="1"/>
          </p:cNvSpPr>
          <p:nvPr/>
        </p:nvSpPr>
        <p:spPr>
          <a:xfrm>
            <a:off x="4737463" y="156210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FCR (1er Contacto)</a:t>
            </a:r>
          </a:p>
        </p:txBody>
      </p:sp>
      <p:sp>
        <p:nvSpPr>
          <p:cNvPr id="183" name="bc">
            <a:extLst>
              <a:ext uri="{FF2B5EF4-FFF2-40B4-BE49-F238E27FC236}">
                <a16:creationId xmlns:a16="http://schemas.microsoft.com/office/drawing/2014/main" id="{AFED1BC0-5B1C-9171-65E0-7E89DE93A22C}"/>
              </a:ext>
            </a:extLst>
          </p:cNvPr>
          <p:cNvSpPr txBox="1">
            <a:spLocks noGrp="1"/>
          </p:cNvSpPr>
          <p:nvPr/>
        </p:nvSpPr>
        <p:spPr>
          <a:xfrm>
            <a:off x="6291943" y="156210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40-55%</a:t>
            </a:r>
          </a:p>
        </p:txBody>
      </p:sp>
      <p:sp>
        <p:nvSpPr>
          <p:cNvPr id="185" name="bc">
            <a:extLst>
              <a:ext uri="{FF2B5EF4-FFF2-40B4-BE49-F238E27FC236}">
                <a16:creationId xmlns:a16="http://schemas.microsoft.com/office/drawing/2014/main" id="{CA6E3487-A0A9-E5C0-7E64-5D59A994F431}"/>
              </a:ext>
            </a:extLst>
          </p:cNvPr>
          <p:cNvSpPr txBox="1">
            <a:spLocks noGrp="1"/>
          </p:cNvSpPr>
          <p:nvPr/>
        </p:nvSpPr>
        <p:spPr>
          <a:xfrm>
            <a:off x="7297783" y="156210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2A6B3C"/>
                </a:solidFill>
                <a:latin typeface="Reddit Sans"/>
                <a:ea typeface="Reddit Sans"/>
              </a:rPr>
              <a:t>75-85%</a:t>
            </a:r>
          </a:p>
        </p:txBody>
      </p:sp>
      <p:sp>
        <p:nvSpPr>
          <p:cNvPr id="187" name="rbg">
            <a:extLst>
              <a:ext uri="{FF2B5EF4-FFF2-40B4-BE49-F238E27FC236}">
                <a16:creationId xmlns:a16="http://schemas.microsoft.com/office/drawing/2014/main" id="{B6CD0C2E-0C95-41E3-2CC1-F9B383D7549D}"/>
              </a:ext>
            </a:extLst>
          </p:cNvPr>
          <p:cNvSpPr>
            <a:spLocks noGrp="1"/>
          </p:cNvSpPr>
          <p:nvPr/>
        </p:nvSpPr>
        <p:spPr>
          <a:xfrm>
            <a:off x="4737463" y="1927860"/>
            <a:ext cx="3794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189" name="bc">
            <a:extLst>
              <a:ext uri="{FF2B5EF4-FFF2-40B4-BE49-F238E27FC236}">
                <a16:creationId xmlns:a16="http://schemas.microsoft.com/office/drawing/2014/main" id="{F14D6286-CE51-E6E6-D95F-ED272FC8C658}"/>
              </a:ext>
            </a:extLst>
          </p:cNvPr>
          <p:cNvSpPr txBox="1">
            <a:spLocks noGrp="1"/>
          </p:cNvSpPr>
          <p:nvPr/>
        </p:nvSpPr>
        <p:spPr>
          <a:xfrm>
            <a:off x="4737463" y="192786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Reducción MTTR</a:t>
            </a:r>
          </a:p>
        </p:txBody>
      </p:sp>
      <p:sp>
        <p:nvSpPr>
          <p:cNvPr id="191" name="bc">
            <a:extLst>
              <a:ext uri="{FF2B5EF4-FFF2-40B4-BE49-F238E27FC236}">
                <a16:creationId xmlns:a16="http://schemas.microsoft.com/office/drawing/2014/main" id="{093B2FAE-DE04-A196-06B3-9EED4CD19003}"/>
              </a:ext>
            </a:extLst>
          </p:cNvPr>
          <p:cNvSpPr txBox="1">
            <a:spLocks noGrp="1"/>
          </p:cNvSpPr>
          <p:nvPr/>
        </p:nvSpPr>
        <p:spPr>
          <a:xfrm>
            <a:off x="6291943" y="192786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base</a:t>
            </a:r>
          </a:p>
        </p:txBody>
      </p:sp>
      <p:sp>
        <p:nvSpPr>
          <p:cNvPr id="193" name="bc">
            <a:extLst>
              <a:ext uri="{FF2B5EF4-FFF2-40B4-BE49-F238E27FC236}">
                <a16:creationId xmlns:a16="http://schemas.microsoft.com/office/drawing/2014/main" id="{8C1913F5-D813-9C09-F6C7-AA498D8E8487}"/>
              </a:ext>
            </a:extLst>
          </p:cNvPr>
          <p:cNvSpPr txBox="1">
            <a:spLocks noGrp="1"/>
          </p:cNvSpPr>
          <p:nvPr/>
        </p:nvSpPr>
        <p:spPr>
          <a:xfrm>
            <a:off x="7297783" y="192786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2A6B3C"/>
                </a:solidFill>
                <a:latin typeface="Reddit Sans"/>
                <a:ea typeface="Reddit Sans"/>
              </a:rPr>
              <a:t>-60 a -70%</a:t>
            </a:r>
          </a:p>
        </p:txBody>
      </p:sp>
      <p:sp>
        <p:nvSpPr>
          <p:cNvPr id="195" name="rbg">
            <a:extLst>
              <a:ext uri="{FF2B5EF4-FFF2-40B4-BE49-F238E27FC236}">
                <a16:creationId xmlns:a16="http://schemas.microsoft.com/office/drawing/2014/main" id="{F6CCF5F1-1B32-29D0-A442-5BD15A44D153}"/>
              </a:ext>
            </a:extLst>
          </p:cNvPr>
          <p:cNvSpPr>
            <a:spLocks noGrp="1"/>
          </p:cNvSpPr>
          <p:nvPr/>
        </p:nvSpPr>
        <p:spPr>
          <a:xfrm>
            <a:off x="4737463" y="2293620"/>
            <a:ext cx="3794760" cy="365760"/>
          </a:xfrm>
          <a:prstGeom prst="rect">
            <a:avLst/>
          </a:prstGeom>
          <a:solidFill>
            <a:srgbClr val="F5F7FC"/>
          </a:solidFill>
          <a:ln w="6350">
            <a:solidFill>
              <a:srgbClr val="D1D5DB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197" name="bc">
            <a:extLst>
              <a:ext uri="{FF2B5EF4-FFF2-40B4-BE49-F238E27FC236}">
                <a16:creationId xmlns:a16="http://schemas.microsoft.com/office/drawing/2014/main" id="{D7093950-99DC-9B24-8CA5-7F6EE7CA1A7A}"/>
              </a:ext>
            </a:extLst>
          </p:cNvPr>
          <p:cNvSpPr txBox="1">
            <a:spLocks noGrp="1"/>
          </p:cNvSpPr>
          <p:nvPr/>
        </p:nvSpPr>
        <p:spPr>
          <a:xfrm>
            <a:off x="4737463" y="229362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Costo / interacción</a:t>
            </a:r>
          </a:p>
        </p:txBody>
      </p:sp>
      <p:sp>
        <p:nvSpPr>
          <p:cNvPr id="199" name="bc">
            <a:extLst>
              <a:ext uri="{FF2B5EF4-FFF2-40B4-BE49-F238E27FC236}">
                <a16:creationId xmlns:a16="http://schemas.microsoft.com/office/drawing/2014/main" id="{FA7A9F1D-F520-D145-7639-AA643FCB5F23}"/>
              </a:ext>
            </a:extLst>
          </p:cNvPr>
          <p:cNvSpPr txBox="1">
            <a:spLocks noGrp="1"/>
          </p:cNvSpPr>
          <p:nvPr/>
        </p:nvSpPr>
        <p:spPr>
          <a:xfrm>
            <a:off x="6291943" y="229362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USD 15-25</a:t>
            </a:r>
          </a:p>
        </p:txBody>
      </p:sp>
      <p:sp>
        <p:nvSpPr>
          <p:cNvPr id="201" name="bc">
            <a:extLst>
              <a:ext uri="{FF2B5EF4-FFF2-40B4-BE49-F238E27FC236}">
                <a16:creationId xmlns:a16="http://schemas.microsoft.com/office/drawing/2014/main" id="{9DA35372-7FB1-17E2-6A0F-A53693069B6A}"/>
              </a:ext>
            </a:extLst>
          </p:cNvPr>
          <p:cNvSpPr txBox="1">
            <a:spLocks noGrp="1"/>
          </p:cNvSpPr>
          <p:nvPr/>
        </p:nvSpPr>
        <p:spPr>
          <a:xfrm>
            <a:off x="7297783" y="229362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2A6B3C"/>
                </a:solidFill>
                <a:latin typeface="Reddit Sans"/>
                <a:ea typeface="Reddit Sans"/>
              </a:rPr>
              <a:t>USD 3-8</a:t>
            </a:r>
          </a:p>
        </p:txBody>
      </p:sp>
      <p:sp>
        <p:nvSpPr>
          <p:cNvPr id="203" name="rbg">
            <a:extLst>
              <a:ext uri="{FF2B5EF4-FFF2-40B4-BE49-F238E27FC236}">
                <a16:creationId xmlns:a16="http://schemas.microsoft.com/office/drawing/2014/main" id="{876C3B31-9ECD-634E-6CF4-8F8397BD536D}"/>
              </a:ext>
            </a:extLst>
          </p:cNvPr>
          <p:cNvSpPr>
            <a:spLocks noGrp="1"/>
          </p:cNvSpPr>
          <p:nvPr/>
        </p:nvSpPr>
        <p:spPr>
          <a:xfrm>
            <a:off x="4737463" y="2659380"/>
            <a:ext cx="3794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205" name="bc">
            <a:extLst>
              <a:ext uri="{FF2B5EF4-FFF2-40B4-BE49-F238E27FC236}">
                <a16:creationId xmlns:a16="http://schemas.microsoft.com/office/drawing/2014/main" id="{CEAAE6F1-8281-3CC6-A33A-EFC7FE5E1D94}"/>
              </a:ext>
            </a:extLst>
          </p:cNvPr>
          <p:cNvSpPr txBox="1">
            <a:spLocks noGrp="1"/>
          </p:cNvSpPr>
          <p:nvPr/>
        </p:nvSpPr>
        <p:spPr>
          <a:xfrm>
            <a:off x="4737463" y="265938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Deflección (Robinhood)</a:t>
            </a:r>
          </a:p>
        </p:txBody>
      </p:sp>
      <p:sp>
        <p:nvSpPr>
          <p:cNvPr id="207" name="bc">
            <a:extLst>
              <a:ext uri="{FF2B5EF4-FFF2-40B4-BE49-F238E27FC236}">
                <a16:creationId xmlns:a16="http://schemas.microsoft.com/office/drawing/2014/main" id="{E41B5E9F-B605-01DD-4386-9A35AFCF3E7F}"/>
              </a:ext>
            </a:extLst>
          </p:cNvPr>
          <p:cNvSpPr txBox="1">
            <a:spLocks noGrp="1"/>
          </p:cNvSpPr>
          <p:nvPr/>
        </p:nvSpPr>
        <p:spPr>
          <a:xfrm>
            <a:off x="6291943" y="265938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—</a:t>
            </a:r>
          </a:p>
        </p:txBody>
      </p:sp>
      <p:sp>
        <p:nvSpPr>
          <p:cNvPr id="209" name="bc">
            <a:extLst>
              <a:ext uri="{FF2B5EF4-FFF2-40B4-BE49-F238E27FC236}">
                <a16:creationId xmlns:a16="http://schemas.microsoft.com/office/drawing/2014/main" id="{BFE8A9FB-411A-CB3B-356E-A92A43AB2EE6}"/>
              </a:ext>
            </a:extLst>
          </p:cNvPr>
          <p:cNvSpPr txBox="1">
            <a:spLocks noGrp="1"/>
          </p:cNvSpPr>
          <p:nvPr/>
        </p:nvSpPr>
        <p:spPr>
          <a:xfrm>
            <a:off x="7297783" y="265938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2A6B3C"/>
                </a:solidFill>
                <a:latin typeface="Reddit Sans"/>
                <a:ea typeface="Reddit Sans"/>
              </a:rPr>
              <a:t>70%</a:t>
            </a:r>
          </a:p>
        </p:txBody>
      </p:sp>
      <p:sp>
        <p:nvSpPr>
          <p:cNvPr id="211" name="rbg">
            <a:extLst>
              <a:ext uri="{FF2B5EF4-FFF2-40B4-BE49-F238E27FC236}">
                <a16:creationId xmlns:a16="http://schemas.microsoft.com/office/drawing/2014/main" id="{F951DD2B-AA1A-02FA-E559-ED687294F73E}"/>
              </a:ext>
            </a:extLst>
          </p:cNvPr>
          <p:cNvSpPr>
            <a:spLocks noGrp="1"/>
          </p:cNvSpPr>
          <p:nvPr/>
        </p:nvSpPr>
        <p:spPr>
          <a:xfrm>
            <a:off x="4737463" y="3025140"/>
            <a:ext cx="3794760" cy="365760"/>
          </a:xfrm>
          <a:prstGeom prst="rect">
            <a:avLst/>
          </a:prstGeom>
          <a:solidFill>
            <a:srgbClr val="F5F7FC"/>
          </a:solidFill>
          <a:ln w="6350">
            <a:solidFill>
              <a:srgbClr val="D1D5DB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213" name="bc">
            <a:extLst>
              <a:ext uri="{FF2B5EF4-FFF2-40B4-BE49-F238E27FC236}">
                <a16:creationId xmlns:a16="http://schemas.microsoft.com/office/drawing/2014/main" id="{FD472BD7-74B6-C946-902D-13B8CC4A26FF}"/>
              </a:ext>
            </a:extLst>
          </p:cNvPr>
          <p:cNvSpPr txBox="1">
            <a:spLocks noGrp="1"/>
          </p:cNvSpPr>
          <p:nvPr/>
        </p:nvSpPr>
        <p:spPr>
          <a:xfrm>
            <a:off x="4737463" y="302514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Reducción tickets</a:t>
            </a:r>
          </a:p>
        </p:txBody>
      </p:sp>
      <p:sp>
        <p:nvSpPr>
          <p:cNvPr id="215" name="bc">
            <a:extLst>
              <a:ext uri="{FF2B5EF4-FFF2-40B4-BE49-F238E27FC236}">
                <a16:creationId xmlns:a16="http://schemas.microsoft.com/office/drawing/2014/main" id="{658AB931-27D3-369F-40E2-9581CF75CF63}"/>
              </a:ext>
            </a:extLst>
          </p:cNvPr>
          <p:cNvSpPr txBox="1">
            <a:spLocks noGrp="1"/>
          </p:cNvSpPr>
          <p:nvPr/>
        </p:nvSpPr>
        <p:spPr>
          <a:xfrm>
            <a:off x="6291943" y="302514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—</a:t>
            </a:r>
          </a:p>
        </p:txBody>
      </p:sp>
      <p:sp>
        <p:nvSpPr>
          <p:cNvPr id="217" name="bc">
            <a:extLst>
              <a:ext uri="{FF2B5EF4-FFF2-40B4-BE49-F238E27FC236}">
                <a16:creationId xmlns:a16="http://schemas.microsoft.com/office/drawing/2014/main" id="{1A3168AC-27D5-E418-7B13-04D9B3134840}"/>
              </a:ext>
            </a:extLst>
          </p:cNvPr>
          <p:cNvSpPr txBox="1">
            <a:spLocks noGrp="1"/>
          </p:cNvSpPr>
          <p:nvPr/>
        </p:nvSpPr>
        <p:spPr>
          <a:xfrm>
            <a:off x="7297783" y="302514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 b="1">
                <a:solidFill>
                  <a:srgbClr val="2A6B3C"/>
                </a:solidFill>
                <a:latin typeface="Reddit Sans"/>
                <a:ea typeface="Reddit Sans"/>
              </a:rPr>
              <a:t>-80%</a:t>
            </a:r>
          </a:p>
        </p:txBody>
      </p:sp>
      <p:sp>
        <p:nvSpPr>
          <p:cNvPr id="219" name="rbg">
            <a:extLst>
              <a:ext uri="{FF2B5EF4-FFF2-40B4-BE49-F238E27FC236}">
                <a16:creationId xmlns:a16="http://schemas.microsoft.com/office/drawing/2014/main" id="{DB149D34-EE8D-5FB2-B320-ADB79E10C1DA}"/>
              </a:ext>
            </a:extLst>
          </p:cNvPr>
          <p:cNvSpPr>
            <a:spLocks noGrp="1"/>
          </p:cNvSpPr>
          <p:nvPr/>
        </p:nvSpPr>
        <p:spPr>
          <a:xfrm>
            <a:off x="4737463" y="3390900"/>
            <a:ext cx="3794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221" name="bc">
            <a:extLst>
              <a:ext uri="{FF2B5EF4-FFF2-40B4-BE49-F238E27FC236}">
                <a16:creationId xmlns:a16="http://schemas.microsoft.com/office/drawing/2014/main" id="{3F90F45C-CB37-8A13-C3C3-4BB01AA9D9EB}"/>
              </a:ext>
            </a:extLst>
          </p:cNvPr>
          <p:cNvSpPr txBox="1">
            <a:spLocks noGrp="1"/>
          </p:cNvSpPr>
          <p:nvPr/>
        </p:nvSpPr>
        <p:spPr>
          <a:xfrm>
            <a:off x="4737463" y="3390900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Resolución autónoma</a:t>
            </a:r>
          </a:p>
        </p:txBody>
      </p:sp>
      <p:sp>
        <p:nvSpPr>
          <p:cNvPr id="223" name="bc">
            <a:extLst>
              <a:ext uri="{FF2B5EF4-FFF2-40B4-BE49-F238E27FC236}">
                <a16:creationId xmlns:a16="http://schemas.microsoft.com/office/drawing/2014/main" id="{B7F6C673-E47B-A1D4-9662-DE437DBC1D85}"/>
              </a:ext>
            </a:extLst>
          </p:cNvPr>
          <p:cNvSpPr txBox="1">
            <a:spLocks noGrp="1"/>
          </p:cNvSpPr>
          <p:nvPr/>
        </p:nvSpPr>
        <p:spPr>
          <a:xfrm>
            <a:off x="6291943" y="3390900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950">
                <a:solidFill>
                  <a:srgbClr val="333333"/>
                </a:solidFill>
                <a:latin typeface="Reddit Sans"/>
                <a:ea typeface="Reddit Sans"/>
              </a:rPr>
              <a:t>—</a:t>
            </a:r>
          </a:p>
        </p:txBody>
      </p:sp>
      <p:sp>
        <p:nvSpPr>
          <p:cNvPr id="225" name="bc">
            <a:extLst>
              <a:ext uri="{FF2B5EF4-FFF2-40B4-BE49-F238E27FC236}">
                <a16:creationId xmlns:a16="http://schemas.microsoft.com/office/drawing/2014/main" id="{6DF9AF60-4A8F-3718-2B5B-6919ECE54B9A}"/>
              </a:ext>
            </a:extLst>
          </p:cNvPr>
          <p:cNvSpPr txBox="1">
            <a:spLocks noGrp="1"/>
          </p:cNvSpPr>
          <p:nvPr/>
        </p:nvSpPr>
        <p:spPr>
          <a:xfrm>
            <a:off x="7297783" y="3390900"/>
            <a:ext cx="1234440" cy="3657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s-ES" sz="950" b="1" u="sng">
                <a:solidFill>
                  <a:srgbClr val="2A6B3C"/>
                </a:solidFill>
                <a:latin typeface="Reddit Sans"/>
                <a:ea typeface="Reddit Sans"/>
              </a:rPr>
              <a:t>84%</a:t>
            </a:r>
          </a:p>
        </p:txBody>
      </p:sp>
      <p:sp>
        <p:nvSpPr>
          <p:cNvPr id="5" name="src">
            <a:extLst>
              <a:ext uri="{FF2B5EF4-FFF2-40B4-BE49-F238E27FC236}">
                <a16:creationId xmlns:a16="http://schemas.microsoft.com/office/drawing/2014/main" id="{C94BB872-B187-C3FA-2DF5-D6DA327DB98F}"/>
              </a:ext>
            </a:extLst>
          </p:cNvPr>
          <p:cNvSpPr txBox="1">
            <a:spLocks noGrp="1"/>
          </p:cNvSpPr>
          <p:nvPr/>
        </p:nvSpPr>
        <p:spPr>
          <a:xfrm>
            <a:off x="320040" y="4462272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50">
                <a:solidFill>
                  <a:srgbClr val="6B7280"/>
                </a:solidFill>
                <a:latin typeface="Reddit Sans"/>
                <a:ea typeface="Reddit Sans"/>
              </a:rPr>
              <a:t>Fuente: </a:t>
            </a:r>
            <a:r>
              <a:rPr lang="es-ES" sz="750" u="sng">
                <a:solidFill>
                  <a:srgbClr val="1A3A8F"/>
                </a:solidFill>
                <a:latin typeface="Reddit Sans"/>
                <a:ea typeface="Reddit Sans"/>
                <a:hlinkClick r:id="rId3"/>
              </a:rPr>
              <a:t>Freshservice State of IT</a:t>
            </a:r>
            <a:r>
              <a:rPr lang="es-ES" sz="750">
                <a:solidFill>
                  <a:srgbClr val="6B7280"/>
                </a:solidFill>
                <a:latin typeface="Reddit Sans"/>
                <a:ea typeface="Reddit Sans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Reddit Sans"/>
                <a:ea typeface="Reddit Sans"/>
                <a:hlinkClick r:id="rId4"/>
              </a:rPr>
              <a:t>Ivanti Agentic AI</a:t>
            </a:r>
            <a:r>
              <a:rPr lang="es-ES" sz="750">
                <a:solidFill>
                  <a:srgbClr val="6B7280"/>
                </a:solidFill>
                <a:latin typeface="Reddit Sans"/>
                <a:ea typeface="Reddit Sans"/>
              </a:rPr>
              <a:t>  ·  </a:t>
            </a:r>
            <a:r>
              <a:rPr lang="es-ES" sz="750" u="sng">
                <a:solidFill>
                  <a:srgbClr val="1A3A8F"/>
                </a:solidFill>
                <a:latin typeface="Reddit Sans"/>
                <a:ea typeface="Reddit Sans"/>
                <a:hlinkClick r:id="rId5"/>
              </a:rPr>
              <a:t>Gartner Cost per Ticket</a:t>
            </a:r>
            <a:endParaRPr lang="es-ES" sz="750" u="sng">
              <a:solidFill>
                <a:srgbClr val="1A3A8F"/>
              </a:solidFill>
              <a:latin typeface="Reddit Sans"/>
              <a:ea typeface="Reddit San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FD303D37-CBEA-BBBA-D0B0-3068D4DD7EAB}"/>
              </a:ext>
            </a:extLst>
          </p:cNvPr>
          <p:cNvSpPr txBox="1"/>
          <p:nvPr/>
        </p:nvSpPr>
        <p:spPr>
          <a:xfrm>
            <a:off x="5742214" y="4041321"/>
            <a:ext cx="2808515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700" b="1" i="0">
                <a:latin typeface="Reddit Sans"/>
                <a:ea typeface="Reddit Sans"/>
                <a:cs typeface="Segoe UI"/>
              </a:rPr>
              <a:t>Shift-Left (</a:t>
            </a:r>
            <a:r>
              <a:rPr lang="en-US" sz="700" b="1" i="0" err="1">
                <a:latin typeface="Reddit Sans"/>
                <a:ea typeface="Reddit Sans"/>
                <a:cs typeface="Segoe UI"/>
              </a:rPr>
              <a:t>Desplazamiento</a:t>
            </a:r>
            <a:r>
              <a:rPr lang="en-US" sz="700" b="1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1" i="0" err="1">
                <a:latin typeface="Reddit Sans"/>
                <a:ea typeface="Reddit Sans"/>
                <a:cs typeface="Segoe UI"/>
              </a:rPr>
              <a:t>hacia</a:t>
            </a:r>
            <a:r>
              <a:rPr lang="en-US" sz="700" b="1" i="0">
                <a:latin typeface="Reddit Sans"/>
                <a:ea typeface="Reddit Sans"/>
                <a:cs typeface="Segoe UI"/>
              </a:rPr>
              <a:t> la Izquierda):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Estrategia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de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gestión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de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servicios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que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busca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resolver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incidentes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y solicitudes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en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los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niveles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más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cercanos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al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usuario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(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autoservicio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, base de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conocimiento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, chatbot o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soporte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N1),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evitando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escalaciones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innecesarias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y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reduciendo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costos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,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tiempos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de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atención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y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esfuerzo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 </a:t>
            </a:r>
            <a:r>
              <a:rPr lang="en-US" sz="700" b="0" i="0" err="1">
                <a:latin typeface="Reddit Sans"/>
                <a:ea typeface="Reddit Sans"/>
                <a:cs typeface="Segoe UI"/>
              </a:rPr>
              <a:t>operativo</a:t>
            </a:r>
            <a:r>
              <a:rPr lang="en-US" sz="700" b="0" i="0">
                <a:latin typeface="Reddit Sans"/>
                <a:ea typeface="Reddit Sans"/>
                <a:cs typeface="Segoe UI"/>
              </a:rPr>
              <a:t>.</a:t>
            </a:r>
          </a:p>
          <a:p>
            <a:pPr algn="ctr"/>
            <a:endParaRPr lang="es-ES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24149974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1A5640-8028-37AE-5A26-6AFA696A5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err="1">
                <a:highlight>
                  <a:srgbClr val="FF0000"/>
                </a:highlight>
              </a:rPr>
              <a:t>Visualización</a:t>
            </a:r>
            <a:r>
              <a:rPr lang="en-US">
                <a:highlight>
                  <a:srgbClr val="FF0000"/>
                </a:highlight>
              </a:rPr>
              <a:t>: Benchmarks de </a:t>
            </a:r>
            <a:r>
              <a:rPr lang="es-CO">
                <a:highlight>
                  <a:srgbClr val="FF0000"/>
                </a:highlight>
              </a:rPr>
              <a:t>industria</a:t>
            </a:r>
            <a:r>
              <a:rPr lang="es-CO" sz="1200">
                <a:highlight>
                  <a:srgbClr val="FF0000"/>
                </a:highlight>
              </a:rPr>
              <a:t> (mesas actuales (capacidad instalada y # de tickets) y comparando con la mesa tradicional. FTE costo: 88 mil pesos hora.         1 dólar de : 3800</a:t>
            </a:r>
          </a:p>
        </p:txBody>
      </p:sp>
      <p:sp>
        <p:nvSpPr>
          <p:cNvPr id="102" name="txt102"/>
          <p:cNvSpPr>
            <a:spLocks noGrp="1"/>
          </p:cNvSpPr>
          <p:nvPr/>
        </p:nvSpPr>
        <p:spPr>
          <a:xfrm>
            <a:off x="387531" y="718240"/>
            <a:ext cx="8412480" cy="237744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defTabSz="685800" fontAlgn="ctr">
              <a:lnSpc>
                <a:spcPts val="1693"/>
              </a:lnSpc>
              <a:spcBef>
                <a:spcPts val="650"/>
              </a:spcBef>
            </a:pPr>
            <a:r>
              <a:rPr lang="es-CO" sz="1200" spc="-25">
                <a:solidFill>
                  <a:srgbClr val="595959"/>
                </a:solidFill>
                <a:latin typeface="Reddit Sans"/>
                <a:ea typeface="Reddit Sans"/>
              </a:rPr>
              <a:t>Promedio industria vs. World-Class vs. Next Gen Objetivo</a:t>
            </a:r>
          </a:p>
        </p:txBody>
      </p:sp>
      <p:sp>
        <p:nvSpPr>
          <p:cNvPr id="103" name="txt103"/>
          <p:cNvSpPr>
            <a:spLocks noGrp="1"/>
          </p:cNvSpPr>
          <p:nvPr/>
        </p:nvSpPr>
        <p:spPr>
          <a:xfrm>
            <a:off x="274320" y="1170432"/>
            <a:ext cx="274320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r>
              <a:rPr lang="es-CO" sz="1250" b="1">
                <a:solidFill>
                  <a:srgbClr val="132346"/>
                </a:solidFill>
                <a:latin typeface="Aptos"/>
              </a:rPr>
              <a:t>FCR (First Contact Resolution)</a:t>
            </a:r>
          </a:p>
        </p:txBody>
      </p:sp>
      <p:sp>
        <p:nvSpPr>
          <p:cNvPr id="104" name="bar104"/>
          <p:cNvSpPr/>
          <p:nvPr/>
        </p:nvSpPr>
        <p:spPr>
          <a:xfrm>
            <a:off x="320040" y="1481328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5" name="bar105"/>
          <p:cNvSpPr/>
          <p:nvPr/>
        </p:nvSpPr>
        <p:spPr>
          <a:xfrm>
            <a:off x="320040" y="1481328"/>
            <a:ext cx="1725473" cy="201168"/>
          </a:xfrm>
          <a:prstGeom prst="roundRect">
            <a:avLst>
              <a:gd name="adj" fmla="val 25000"/>
            </a:avLst>
          </a:prstGeom>
          <a:solidFill>
            <a:srgbClr val="237B89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6" name="txt106"/>
          <p:cNvSpPr>
            <a:spLocks noGrp="1"/>
          </p:cNvSpPr>
          <p:nvPr/>
        </p:nvSpPr>
        <p:spPr>
          <a:xfrm>
            <a:off x="320040" y="1472184"/>
            <a:ext cx="1707185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950" b="1">
                <a:solidFill>
                  <a:srgbClr val="FFFFFF"/>
                </a:solidFill>
                <a:latin typeface="Aptos"/>
              </a:rPr>
              <a:t>74%</a:t>
            </a:r>
          </a:p>
        </p:txBody>
      </p:sp>
      <p:sp>
        <p:nvSpPr>
          <p:cNvPr id="107" name="txt107"/>
          <p:cNvSpPr>
            <a:spLocks noGrp="1"/>
          </p:cNvSpPr>
          <p:nvPr/>
        </p:nvSpPr>
        <p:spPr>
          <a:xfrm>
            <a:off x="320040" y="1687068"/>
            <a:ext cx="2697480" cy="16459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850" b="0">
                <a:solidFill>
                  <a:srgbClr val="7A7A7A"/>
                </a:solidFill>
                <a:latin typeface="Aptos"/>
              </a:rPr>
              <a:t>Promedio industria</a:t>
            </a:r>
          </a:p>
        </p:txBody>
      </p:sp>
      <p:sp>
        <p:nvSpPr>
          <p:cNvPr id="108" name="bar108"/>
          <p:cNvSpPr/>
          <p:nvPr/>
        </p:nvSpPr>
        <p:spPr>
          <a:xfrm>
            <a:off x="320040" y="1956816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9" name="bar109"/>
          <p:cNvSpPr/>
          <p:nvPr/>
        </p:nvSpPr>
        <p:spPr>
          <a:xfrm>
            <a:off x="320040" y="1956816"/>
            <a:ext cx="1865376" cy="201168"/>
          </a:xfrm>
          <a:prstGeom prst="roundRect">
            <a:avLst>
              <a:gd name="adj" fmla="val 25000"/>
            </a:avLst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0" name="txt110"/>
          <p:cNvSpPr>
            <a:spLocks noGrp="1"/>
          </p:cNvSpPr>
          <p:nvPr/>
        </p:nvSpPr>
        <p:spPr>
          <a:xfrm>
            <a:off x="320040" y="1947672"/>
            <a:ext cx="1847088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950" b="1">
                <a:solidFill>
                  <a:srgbClr val="FFFFFF"/>
                </a:solidFill>
                <a:latin typeface="Aptos"/>
              </a:rPr>
              <a:t>80%+</a:t>
            </a:r>
          </a:p>
        </p:txBody>
      </p:sp>
      <p:sp>
        <p:nvSpPr>
          <p:cNvPr id="111" name="txt111"/>
          <p:cNvSpPr>
            <a:spLocks noGrp="1"/>
          </p:cNvSpPr>
          <p:nvPr/>
        </p:nvSpPr>
        <p:spPr>
          <a:xfrm>
            <a:off x="320040" y="2162556"/>
            <a:ext cx="2697480" cy="16459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850" b="0">
                <a:solidFill>
                  <a:srgbClr val="7A7A7A"/>
                </a:solidFill>
                <a:latin typeface="Aptos"/>
              </a:rPr>
              <a:t>World-Class</a:t>
            </a:r>
          </a:p>
        </p:txBody>
      </p:sp>
      <p:sp>
        <p:nvSpPr>
          <p:cNvPr id="112" name="bar112"/>
          <p:cNvSpPr/>
          <p:nvPr/>
        </p:nvSpPr>
        <p:spPr>
          <a:xfrm>
            <a:off x="320040" y="2432304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3" name="bar113"/>
          <p:cNvSpPr/>
          <p:nvPr/>
        </p:nvSpPr>
        <p:spPr>
          <a:xfrm>
            <a:off x="320040" y="2432304"/>
            <a:ext cx="1981962" cy="201168"/>
          </a:xfrm>
          <a:prstGeom prst="roundRect">
            <a:avLst>
              <a:gd name="adj" fmla="val 25000"/>
            </a:avLst>
          </a:prstGeom>
          <a:solidFill>
            <a:srgbClr val="D4A01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4" name="txt114"/>
          <p:cNvSpPr>
            <a:spLocks noGrp="1"/>
          </p:cNvSpPr>
          <p:nvPr/>
        </p:nvSpPr>
        <p:spPr>
          <a:xfrm>
            <a:off x="320040" y="2423160"/>
            <a:ext cx="1963674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950" b="1">
                <a:solidFill>
                  <a:srgbClr val="FFFFFF"/>
                </a:solidFill>
                <a:latin typeface="Aptos"/>
              </a:rPr>
              <a:t>85%+</a:t>
            </a:r>
          </a:p>
        </p:txBody>
      </p:sp>
      <p:sp>
        <p:nvSpPr>
          <p:cNvPr id="115" name="txt115"/>
          <p:cNvSpPr>
            <a:spLocks noGrp="1"/>
          </p:cNvSpPr>
          <p:nvPr/>
        </p:nvSpPr>
        <p:spPr>
          <a:xfrm>
            <a:off x="320040" y="2638044"/>
            <a:ext cx="2697480" cy="16459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r>
              <a:rPr lang="es-CO" sz="850" b="0">
                <a:solidFill>
                  <a:srgbClr val="7A7A7A"/>
                </a:solidFill>
                <a:latin typeface="Aptos"/>
              </a:rPr>
              <a:t>Next </a:t>
            </a:r>
            <a:r>
              <a:rPr lang="es-CO" sz="850">
                <a:solidFill>
                  <a:srgbClr val="7A7A7A"/>
                </a:solidFill>
                <a:latin typeface="Aptos"/>
              </a:rPr>
              <a:t>Gen Objetivo</a:t>
            </a:r>
            <a:r>
              <a:rPr lang="es-CO" sz="850" b="0">
                <a:solidFill>
                  <a:srgbClr val="7A7A7A"/>
                </a:solidFill>
                <a:latin typeface="Aptos"/>
              </a:rPr>
              <a:t> (N5)</a:t>
            </a:r>
          </a:p>
        </p:txBody>
      </p:sp>
      <p:sp>
        <p:nvSpPr>
          <p:cNvPr id="116" name="txt116"/>
          <p:cNvSpPr>
            <a:spLocks noGrp="1"/>
          </p:cNvSpPr>
          <p:nvPr/>
        </p:nvSpPr>
        <p:spPr>
          <a:xfrm>
            <a:off x="274320" y="3112008"/>
            <a:ext cx="274320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r>
              <a:rPr lang="es-CO" sz="1250" b="1">
                <a:solidFill>
                  <a:srgbClr val="132346"/>
                </a:solidFill>
                <a:latin typeface="Aptos"/>
              </a:rPr>
              <a:t>Deflection Rate</a:t>
            </a:r>
          </a:p>
        </p:txBody>
      </p:sp>
      <p:sp>
        <p:nvSpPr>
          <p:cNvPr id="117" name="bar117"/>
          <p:cNvSpPr/>
          <p:nvPr/>
        </p:nvSpPr>
        <p:spPr>
          <a:xfrm>
            <a:off x="320040" y="3467971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8" name="bar118"/>
          <p:cNvSpPr/>
          <p:nvPr/>
        </p:nvSpPr>
        <p:spPr>
          <a:xfrm>
            <a:off x="320040" y="3467971"/>
            <a:ext cx="536296" cy="201168"/>
          </a:xfrm>
          <a:prstGeom prst="roundRect">
            <a:avLst>
              <a:gd name="adj" fmla="val 25000"/>
            </a:avLst>
          </a:prstGeom>
          <a:solidFill>
            <a:srgbClr val="7A7974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9" name="txt119"/>
          <p:cNvSpPr>
            <a:spLocks noGrp="1"/>
          </p:cNvSpPr>
          <p:nvPr/>
        </p:nvSpPr>
        <p:spPr>
          <a:xfrm>
            <a:off x="902056" y="3458827"/>
            <a:ext cx="1371600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950" b="1">
                <a:solidFill>
                  <a:srgbClr val="7A7974"/>
                </a:solidFill>
                <a:latin typeface="Aptos"/>
              </a:rPr>
              <a:t>23%</a:t>
            </a:r>
            <a:r>
              <a:rPr lang="es-CO" sz="950" b="0">
                <a:solidFill>
                  <a:srgbClr val="7A7A7A"/>
                </a:solidFill>
                <a:latin typeface="Aptos"/>
              </a:rPr>
              <a:t>  industria</a:t>
            </a:r>
          </a:p>
        </p:txBody>
      </p:sp>
      <p:sp>
        <p:nvSpPr>
          <p:cNvPr id="120" name="bar120"/>
          <p:cNvSpPr/>
          <p:nvPr/>
        </p:nvSpPr>
        <p:spPr>
          <a:xfrm>
            <a:off x="320040" y="3778867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1" name="bar121"/>
          <p:cNvSpPr/>
          <p:nvPr/>
        </p:nvSpPr>
        <p:spPr>
          <a:xfrm>
            <a:off x="320040" y="3778867"/>
            <a:ext cx="1165860" cy="201168"/>
          </a:xfrm>
          <a:prstGeom prst="roundRect">
            <a:avLst>
              <a:gd name="adj" fmla="val 25000"/>
            </a:avLst>
          </a:prstGeom>
          <a:solidFill>
            <a:srgbClr val="237B89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2" name="txt122"/>
          <p:cNvSpPr>
            <a:spLocks noGrp="1"/>
          </p:cNvSpPr>
          <p:nvPr/>
        </p:nvSpPr>
        <p:spPr>
          <a:xfrm>
            <a:off x="1508760" y="3769723"/>
            <a:ext cx="1371600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950" b="1">
                <a:solidFill>
                  <a:srgbClr val="237B89"/>
                </a:solidFill>
                <a:latin typeface="Aptos"/>
              </a:rPr>
              <a:t>50%</a:t>
            </a:r>
            <a:r>
              <a:rPr lang="es-CO" sz="950" b="0">
                <a:solidFill>
                  <a:srgbClr val="7A7A7A"/>
                </a:solidFill>
                <a:latin typeface="Aptos"/>
              </a:rPr>
              <a:t>  maduro</a:t>
            </a:r>
          </a:p>
        </p:txBody>
      </p:sp>
      <p:sp>
        <p:nvSpPr>
          <p:cNvPr id="123" name="bar123"/>
          <p:cNvSpPr/>
          <p:nvPr/>
        </p:nvSpPr>
        <p:spPr>
          <a:xfrm>
            <a:off x="320040" y="4089763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4" name="bar124"/>
          <p:cNvSpPr/>
          <p:nvPr/>
        </p:nvSpPr>
        <p:spPr>
          <a:xfrm>
            <a:off x="320040" y="4089763"/>
            <a:ext cx="2098548" cy="201168"/>
          </a:xfrm>
          <a:prstGeom prst="roundRect">
            <a:avLst>
              <a:gd name="adj" fmla="val 25000"/>
            </a:avLst>
          </a:prstGeom>
          <a:solidFill>
            <a:srgbClr val="D4A01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5" name="txt125"/>
          <p:cNvSpPr>
            <a:spLocks noGrp="1"/>
          </p:cNvSpPr>
          <p:nvPr/>
        </p:nvSpPr>
        <p:spPr>
          <a:xfrm>
            <a:off x="1508760" y="4080619"/>
            <a:ext cx="1371600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950" b="1">
                <a:solidFill>
                  <a:srgbClr val="D4A017"/>
                </a:solidFill>
                <a:latin typeface="Aptos"/>
              </a:rPr>
              <a:t>90%+</a:t>
            </a:r>
          </a:p>
        </p:txBody>
      </p:sp>
      <p:sp>
        <p:nvSpPr>
          <p:cNvPr id="126" name="txt126"/>
          <p:cNvSpPr>
            <a:spLocks noGrp="1"/>
          </p:cNvSpPr>
          <p:nvPr/>
        </p:nvSpPr>
        <p:spPr>
          <a:xfrm>
            <a:off x="320040" y="4400659"/>
            <a:ext cx="2743200" cy="16459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r>
              <a:rPr lang="es-CO" sz="850" b="0">
                <a:solidFill>
                  <a:srgbClr val="7A7A7A"/>
                </a:solidFill>
                <a:latin typeface="Aptos"/>
              </a:rPr>
              <a:t>Next </a:t>
            </a:r>
            <a:r>
              <a:rPr lang="es-CO" sz="850">
                <a:solidFill>
                  <a:srgbClr val="7A7A7A"/>
                </a:solidFill>
                <a:latin typeface="Aptos"/>
              </a:rPr>
              <a:t>Gen </a:t>
            </a:r>
            <a:r>
              <a:rPr lang="es-CO" sz="850" b="0">
                <a:solidFill>
                  <a:srgbClr val="7A7A7A"/>
                </a:solidFill>
                <a:latin typeface="Aptos"/>
              </a:rPr>
              <a:t>IA </a:t>
            </a:r>
            <a:r>
              <a:rPr lang="es-CO" sz="850" b="0" err="1">
                <a:solidFill>
                  <a:srgbClr val="7A7A7A"/>
                </a:solidFill>
                <a:latin typeface="Aptos"/>
              </a:rPr>
              <a:t>agéntica</a:t>
            </a:r>
            <a:r>
              <a:rPr lang="es-CO" sz="850" b="0">
                <a:solidFill>
                  <a:srgbClr val="7A7A7A"/>
                </a:solidFill>
                <a:latin typeface="Aptos"/>
              </a:rPr>
              <a:t> (casos líderes)</a:t>
            </a:r>
          </a:p>
        </p:txBody>
      </p:sp>
      <p:sp>
        <p:nvSpPr>
          <p:cNvPr id="127" name="txt127"/>
          <p:cNvSpPr>
            <a:spLocks noGrp="1"/>
          </p:cNvSpPr>
          <p:nvPr/>
        </p:nvSpPr>
        <p:spPr>
          <a:xfrm>
            <a:off x="3107871" y="1170432"/>
            <a:ext cx="274320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1250" b="1">
                <a:solidFill>
                  <a:srgbClr val="132346"/>
                </a:solidFill>
                <a:latin typeface="Aptos"/>
              </a:rPr>
              <a:t>MTTR (Mean Time to Resolution)</a:t>
            </a:r>
          </a:p>
        </p:txBody>
      </p:sp>
      <p:sp>
        <p:nvSpPr>
          <p:cNvPr id="128" name="bar128"/>
          <p:cNvSpPr/>
          <p:nvPr/>
        </p:nvSpPr>
        <p:spPr>
          <a:xfrm>
            <a:off x="3246120" y="1481328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9" name="bar129"/>
          <p:cNvSpPr/>
          <p:nvPr/>
        </p:nvSpPr>
        <p:spPr>
          <a:xfrm>
            <a:off x="3246120" y="1481328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A5442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30" name="txt130"/>
          <p:cNvSpPr>
            <a:spLocks noGrp="1"/>
          </p:cNvSpPr>
          <p:nvPr/>
        </p:nvSpPr>
        <p:spPr>
          <a:xfrm>
            <a:off x="3246120" y="1472184"/>
            <a:ext cx="2313432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950" b="1">
                <a:solidFill>
                  <a:srgbClr val="FFFFFF"/>
                </a:solidFill>
                <a:latin typeface="Aptos"/>
              </a:rPr>
              <a:t>8.85h</a:t>
            </a:r>
          </a:p>
        </p:txBody>
      </p:sp>
      <p:sp>
        <p:nvSpPr>
          <p:cNvPr id="131" name="txt131"/>
          <p:cNvSpPr>
            <a:spLocks noGrp="1"/>
          </p:cNvSpPr>
          <p:nvPr/>
        </p:nvSpPr>
        <p:spPr>
          <a:xfrm>
            <a:off x="3246120" y="1737360"/>
            <a:ext cx="2697480" cy="155448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850" b="0">
                <a:solidFill>
                  <a:srgbClr val="7A7A7A"/>
                </a:solidFill>
                <a:latin typeface="Aptos"/>
              </a:rPr>
              <a:t>Bueno</a:t>
            </a:r>
          </a:p>
        </p:txBody>
      </p:sp>
      <p:sp>
        <p:nvSpPr>
          <p:cNvPr id="132" name="bar132"/>
          <p:cNvSpPr/>
          <p:nvPr/>
        </p:nvSpPr>
        <p:spPr>
          <a:xfrm>
            <a:off x="3246120" y="1901952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33" name="bar133"/>
          <p:cNvSpPr/>
          <p:nvPr/>
        </p:nvSpPr>
        <p:spPr>
          <a:xfrm>
            <a:off x="3246120" y="1901952"/>
            <a:ext cx="1049274" cy="201168"/>
          </a:xfrm>
          <a:prstGeom prst="roundRect">
            <a:avLst>
              <a:gd name="adj" fmla="val 25000"/>
            </a:avLst>
          </a:prstGeom>
          <a:solidFill>
            <a:srgbClr val="237B89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34" name="txt134"/>
          <p:cNvSpPr>
            <a:spLocks noGrp="1"/>
          </p:cNvSpPr>
          <p:nvPr/>
        </p:nvSpPr>
        <p:spPr>
          <a:xfrm>
            <a:off x="3246120" y="1892808"/>
            <a:ext cx="1030986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950" b="1">
                <a:solidFill>
                  <a:srgbClr val="FFFFFF"/>
                </a:solidFill>
                <a:latin typeface="Aptos"/>
              </a:rPr>
              <a:t>&lt;4h</a:t>
            </a:r>
          </a:p>
        </p:txBody>
      </p:sp>
      <p:sp>
        <p:nvSpPr>
          <p:cNvPr id="135" name="txt135"/>
          <p:cNvSpPr>
            <a:spLocks noGrp="1"/>
          </p:cNvSpPr>
          <p:nvPr/>
        </p:nvSpPr>
        <p:spPr>
          <a:xfrm>
            <a:off x="3246120" y="2157984"/>
            <a:ext cx="2697480" cy="155448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850" b="0">
                <a:solidFill>
                  <a:srgbClr val="7A7A7A"/>
                </a:solidFill>
                <a:latin typeface="Aptos"/>
              </a:rPr>
              <a:t>World-Class</a:t>
            </a:r>
          </a:p>
        </p:txBody>
      </p:sp>
      <p:sp>
        <p:nvSpPr>
          <p:cNvPr id="136" name="bar136"/>
          <p:cNvSpPr/>
          <p:nvPr/>
        </p:nvSpPr>
        <p:spPr>
          <a:xfrm>
            <a:off x="3246120" y="2322576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37" name="bar137"/>
          <p:cNvSpPr/>
          <p:nvPr/>
        </p:nvSpPr>
        <p:spPr>
          <a:xfrm>
            <a:off x="3246120" y="2322576"/>
            <a:ext cx="349758" cy="201168"/>
          </a:xfrm>
          <a:prstGeom prst="roundRect">
            <a:avLst>
              <a:gd name="adj" fmla="val 25000"/>
            </a:avLst>
          </a:prstGeom>
          <a:solidFill>
            <a:srgbClr val="13234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38" name="txt138"/>
          <p:cNvSpPr>
            <a:spLocks noGrp="1"/>
          </p:cNvSpPr>
          <p:nvPr/>
        </p:nvSpPr>
        <p:spPr>
          <a:xfrm>
            <a:off x="3623310" y="2313432"/>
            <a:ext cx="731520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950" b="1">
                <a:solidFill>
                  <a:srgbClr val="132346"/>
                </a:solidFill>
                <a:latin typeface="Aptos"/>
              </a:rPr>
              <a:t>&lt;1h</a:t>
            </a:r>
          </a:p>
        </p:txBody>
      </p:sp>
      <p:sp>
        <p:nvSpPr>
          <p:cNvPr id="139" name="txt139"/>
          <p:cNvSpPr>
            <a:spLocks noGrp="1"/>
          </p:cNvSpPr>
          <p:nvPr/>
        </p:nvSpPr>
        <p:spPr>
          <a:xfrm>
            <a:off x="3246120" y="2578608"/>
            <a:ext cx="2697480" cy="155448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r>
              <a:rPr lang="es-CO" sz="850" b="0">
                <a:solidFill>
                  <a:srgbClr val="7A7A7A"/>
                </a:solidFill>
                <a:latin typeface="Aptos"/>
              </a:rPr>
              <a:t>Next </a:t>
            </a:r>
            <a:r>
              <a:rPr lang="es-CO" sz="850">
                <a:solidFill>
                  <a:srgbClr val="7A7A7A"/>
                </a:solidFill>
                <a:latin typeface="Aptos"/>
              </a:rPr>
              <a:t>Gen </a:t>
            </a:r>
            <a:r>
              <a:rPr lang="es-CO" sz="850" b="0">
                <a:solidFill>
                  <a:srgbClr val="7A7A7A"/>
                </a:solidFill>
                <a:latin typeface="Aptos"/>
              </a:rPr>
              <a:t>(N5)</a:t>
            </a:r>
          </a:p>
        </p:txBody>
      </p:sp>
      <p:sp>
        <p:nvSpPr>
          <p:cNvPr id="140" name="bar140"/>
          <p:cNvSpPr/>
          <p:nvPr/>
        </p:nvSpPr>
        <p:spPr>
          <a:xfrm>
            <a:off x="3246120" y="2743200"/>
            <a:ext cx="2331720" cy="201168"/>
          </a:xfrm>
          <a:prstGeom prst="roundRect">
            <a:avLst>
              <a:gd name="adj" fmla="val 25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41" name="bar141"/>
          <p:cNvSpPr/>
          <p:nvPr/>
        </p:nvSpPr>
        <p:spPr>
          <a:xfrm>
            <a:off x="3246120" y="2743200"/>
            <a:ext cx="582930" cy="201168"/>
          </a:xfrm>
          <a:prstGeom prst="roundRect">
            <a:avLst>
              <a:gd name="adj" fmla="val 25000"/>
            </a:avLst>
          </a:prstGeom>
          <a:solidFill>
            <a:srgbClr val="D4A01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42" name="txt142"/>
          <p:cNvSpPr>
            <a:spLocks noGrp="1"/>
          </p:cNvSpPr>
          <p:nvPr/>
        </p:nvSpPr>
        <p:spPr>
          <a:xfrm>
            <a:off x="3856482" y="2734056"/>
            <a:ext cx="731520" cy="219456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950" b="1">
                <a:solidFill>
                  <a:srgbClr val="D4A017"/>
                </a:solidFill>
                <a:latin typeface="Aptos"/>
              </a:rPr>
              <a:t>&lt;2h</a:t>
            </a:r>
          </a:p>
        </p:txBody>
      </p:sp>
      <p:sp>
        <p:nvSpPr>
          <p:cNvPr id="143" name="txt143"/>
          <p:cNvSpPr>
            <a:spLocks noGrp="1"/>
          </p:cNvSpPr>
          <p:nvPr/>
        </p:nvSpPr>
        <p:spPr>
          <a:xfrm>
            <a:off x="3200400" y="3108960"/>
            <a:ext cx="274320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r>
              <a:rPr lang="es-CO" sz="1250" b="1">
                <a:solidFill>
                  <a:srgbClr val="132346"/>
                </a:solidFill>
                <a:latin typeface="Aptos"/>
              </a:rPr>
              <a:t>Impacto GenAI en Métricas</a:t>
            </a:r>
          </a:p>
        </p:txBody>
      </p:sp>
      <p:sp>
        <p:nvSpPr>
          <p:cNvPr id="144" name="bar144"/>
          <p:cNvSpPr/>
          <p:nvPr/>
        </p:nvSpPr>
        <p:spPr>
          <a:xfrm>
            <a:off x="3200400" y="3419856"/>
            <a:ext cx="2743200" cy="256032"/>
          </a:xfrm>
          <a:prstGeom prst="roundRect">
            <a:avLst>
              <a:gd name="adj" fmla="val 30000"/>
            </a:avLst>
          </a:prstGeom>
          <a:solidFill>
            <a:srgbClr val="ECEBE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45" name="txt145"/>
          <p:cNvSpPr>
            <a:spLocks noGrp="1"/>
          </p:cNvSpPr>
          <p:nvPr/>
        </p:nvSpPr>
        <p:spPr>
          <a:xfrm>
            <a:off x="3291840" y="3419856"/>
            <a:ext cx="16916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50" b="0">
                <a:solidFill>
                  <a:srgbClr val="132346"/>
                </a:solidFill>
                <a:latin typeface="Aptos"/>
              </a:rPr>
              <a:t>↓ MTTR</a:t>
            </a:r>
          </a:p>
        </p:txBody>
      </p:sp>
      <p:sp>
        <p:nvSpPr>
          <p:cNvPr id="146" name="txt146"/>
          <p:cNvSpPr>
            <a:spLocks noGrp="1"/>
          </p:cNvSpPr>
          <p:nvPr/>
        </p:nvSpPr>
        <p:spPr>
          <a:xfrm>
            <a:off x="4800600" y="3419856"/>
            <a:ext cx="10515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1050" b="1">
                <a:solidFill>
                  <a:srgbClr val="A54426"/>
                </a:solidFill>
                <a:latin typeface="Aptos"/>
              </a:rPr>
              <a:t>−26.6%</a:t>
            </a:r>
          </a:p>
        </p:txBody>
      </p:sp>
      <p:sp>
        <p:nvSpPr>
          <p:cNvPr id="147" name="bar147"/>
          <p:cNvSpPr/>
          <p:nvPr/>
        </p:nvSpPr>
        <p:spPr>
          <a:xfrm>
            <a:off x="3200400" y="3730752"/>
            <a:ext cx="2743200" cy="256032"/>
          </a:xfrm>
          <a:prstGeom prst="roundRect">
            <a:avLst>
              <a:gd name="adj" fmla="val 30000"/>
            </a:avLst>
          </a:prstGeom>
          <a:solidFill>
            <a:srgbClr val="ECEBE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48" name="txt148"/>
          <p:cNvSpPr>
            <a:spLocks noGrp="1"/>
          </p:cNvSpPr>
          <p:nvPr/>
        </p:nvSpPr>
        <p:spPr>
          <a:xfrm>
            <a:off x="3291840" y="3730752"/>
            <a:ext cx="16916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50" b="0">
                <a:solidFill>
                  <a:srgbClr val="132346"/>
                </a:solidFill>
                <a:latin typeface="Aptos"/>
              </a:rPr>
              <a:t>↑ Resolución</a:t>
            </a:r>
          </a:p>
        </p:txBody>
      </p:sp>
      <p:sp>
        <p:nvSpPr>
          <p:cNvPr id="149" name="txt149"/>
          <p:cNvSpPr>
            <a:spLocks noGrp="1"/>
          </p:cNvSpPr>
          <p:nvPr/>
        </p:nvSpPr>
        <p:spPr>
          <a:xfrm>
            <a:off x="4800600" y="3730752"/>
            <a:ext cx="10515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1050" b="1">
                <a:solidFill>
                  <a:srgbClr val="3C7D3C"/>
                </a:solidFill>
                <a:latin typeface="Aptos"/>
              </a:rPr>
              <a:t>+34.6%</a:t>
            </a:r>
          </a:p>
        </p:txBody>
      </p:sp>
      <p:sp>
        <p:nvSpPr>
          <p:cNvPr id="150" name="bar150"/>
          <p:cNvSpPr/>
          <p:nvPr/>
        </p:nvSpPr>
        <p:spPr>
          <a:xfrm>
            <a:off x="3200400" y="4041648"/>
            <a:ext cx="2743200" cy="256032"/>
          </a:xfrm>
          <a:prstGeom prst="roundRect">
            <a:avLst>
              <a:gd name="adj" fmla="val 30000"/>
            </a:avLst>
          </a:prstGeom>
          <a:solidFill>
            <a:srgbClr val="ECEBE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51" name="txt151"/>
          <p:cNvSpPr>
            <a:spLocks noGrp="1"/>
          </p:cNvSpPr>
          <p:nvPr/>
        </p:nvSpPr>
        <p:spPr>
          <a:xfrm>
            <a:off x="3291840" y="4041648"/>
            <a:ext cx="16916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50" b="0">
                <a:solidFill>
                  <a:srgbClr val="132346"/>
                </a:solidFill>
                <a:latin typeface="Aptos"/>
              </a:rPr>
              <a:t>↑ CSAT c/espera</a:t>
            </a:r>
          </a:p>
        </p:txBody>
      </p:sp>
      <p:sp>
        <p:nvSpPr>
          <p:cNvPr id="152" name="txt152"/>
          <p:cNvSpPr>
            <a:spLocks noGrp="1"/>
          </p:cNvSpPr>
          <p:nvPr/>
        </p:nvSpPr>
        <p:spPr>
          <a:xfrm>
            <a:off x="4800600" y="4041648"/>
            <a:ext cx="10515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1050" b="1">
                <a:solidFill>
                  <a:srgbClr val="3C7D3C"/>
                </a:solidFill>
                <a:latin typeface="Aptos"/>
              </a:rPr>
              <a:t>+15–22 pts</a:t>
            </a:r>
          </a:p>
        </p:txBody>
      </p:sp>
      <p:sp>
        <p:nvSpPr>
          <p:cNvPr id="153" name="bar153"/>
          <p:cNvSpPr/>
          <p:nvPr/>
        </p:nvSpPr>
        <p:spPr>
          <a:xfrm>
            <a:off x="3200400" y="4352544"/>
            <a:ext cx="2743200" cy="256032"/>
          </a:xfrm>
          <a:prstGeom prst="roundRect">
            <a:avLst>
              <a:gd name="adj" fmla="val 30000"/>
            </a:avLst>
          </a:prstGeom>
          <a:solidFill>
            <a:srgbClr val="ECEBE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54" name="txt154"/>
          <p:cNvSpPr>
            <a:spLocks noGrp="1"/>
          </p:cNvSpPr>
          <p:nvPr/>
        </p:nvSpPr>
        <p:spPr>
          <a:xfrm>
            <a:off x="3291840" y="4352544"/>
            <a:ext cx="16916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50" b="0">
                <a:solidFill>
                  <a:srgbClr val="132346"/>
                </a:solidFill>
                <a:latin typeface="Aptos"/>
              </a:rPr>
              <a:t>↑ FCR con KCS+IA</a:t>
            </a:r>
          </a:p>
        </p:txBody>
      </p:sp>
      <p:sp>
        <p:nvSpPr>
          <p:cNvPr id="155" name="txt155"/>
          <p:cNvSpPr>
            <a:spLocks noGrp="1"/>
          </p:cNvSpPr>
          <p:nvPr/>
        </p:nvSpPr>
        <p:spPr>
          <a:xfrm>
            <a:off x="4800600" y="4352544"/>
            <a:ext cx="10515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1050" b="1">
                <a:solidFill>
                  <a:srgbClr val="3C7D3C"/>
                </a:solidFill>
                <a:latin typeface="Aptos"/>
              </a:rPr>
              <a:t>5–7 pts</a:t>
            </a:r>
          </a:p>
        </p:txBody>
      </p:sp>
      <p:sp>
        <p:nvSpPr>
          <p:cNvPr id="156" name="txt156"/>
          <p:cNvSpPr>
            <a:spLocks noGrp="1"/>
          </p:cNvSpPr>
          <p:nvPr/>
        </p:nvSpPr>
        <p:spPr>
          <a:xfrm>
            <a:off x="6126480" y="1170432"/>
            <a:ext cx="274320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1250" b="1">
                <a:solidFill>
                  <a:srgbClr val="132346"/>
                </a:solidFill>
                <a:latin typeface="Aptos"/>
              </a:rPr>
              <a:t>Costo por Ticket (USD)</a:t>
            </a:r>
          </a:p>
        </p:txBody>
      </p:sp>
      <p:sp>
        <p:nvSpPr>
          <p:cNvPr id="157" name="bar157"/>
          <p:cNvSpPr/>
          <p:nvPr/>
        </p:nvSpPr>
        <p:spPr>
          <a:xfrm>
            <a:off x="6172200" y="1481328"/>
            <a:ext cx="128016" cy="219456"/>
          </a:xfrm>
          <a:prstGeom prst="roundRect">
            <a:avLst>
              <a:gd name="adj" fmla="val 17500"/>
            </a:avLst>
          </a:prstGeom>
          <a:solidFill>
            <a:srgbClr val="4E7A34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58" name="txt158"/>
          <p:cNvSpPr>
            <a:spLocks noGrp="1"/>
          </p:cNvSpPr>
          <p:nvPr/>
        </p:nvSpPr>
        <p:spPr>
          <a:xfrm>
            <a:off x="6355080" y="1463040"/>
            <a:ext cx="12801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00" b="1">
                <a:solidFill>
                  <a:srgbClr val="132346"/>
                </a:solidFill>
                <a:latin typeface="Aptos"/>
              </a:rPr>
              <a:t>N0: $2</a:t>
            </a:r>
          </a:p>
        </p:txBody>
      </p:sp>
      <p:sp>
        <p:nvSpPr>
          <p:cNvPr id="159" name="txt159"/>
          <p:cNvSpPr>
            <a:spLocks noGrp="1"/>
          </p:cNvSpPr>
          <p:nvPr/>
        </p:nvSpPr>
        <p:spPr>
          <a:xfrm>
            <a:off x="7863840" y="1463040"/>
            <a:ext cx="10058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850" b="0">
                <a:solidFill>
                  <a:srgbClr val="7A7A7A"/>
                </a:solidFill>
                <a:latin typeface="Aptos"/>
              </a:rPr>
              <a:t>Autoservicio</a:t>
            </a:r>
          </a:p>
        </p:txBody>
      </p:sp>
      <p:sp>
        <p:nvSpPr>
          <p:cNvPr id="160" name="bar160"/>
          <p:cNvSpPr/>
          <p:nvPr/>
        </p:nvSpPr>
        <p:spPr>
          <a:xfrm>
            <a:off x="6172200" y="1810512"/>
            <a:ext cx="329184" cy="219456"/>
          </a:xfrm>
          <a:prstGeom prst="roundRect">
            <a:avLst>
              <a:gd name="adj" fmla="val 17500"/>
            </a:avLst>
          </a:prstGeom>
          <a:solidFill>
            <a:srgbClr val="237B89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61" name="txt161"/>
          <p:cNvSpPr>
            <a:spLocks noGrp="1"/>
          </p:cNvSpPr>
          <p:nvPr/>
        </p:nvSpPr>
        <p:spPr>
          <a:xfrm>
            <a:off x="6556248" y="1792224"/>
            <a:ext cx="12801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00" b="1">
                <a:solidFill>
                  <a:srgbClr val="132346"/>
                </a:solidFill>
                <a:latin typeface="Aptos"/>
              </a:rPr>
              <a:t>N1: $22–35</a:t>
            </a:r>
          </a:p>
        </p:txBody>
      </p:sp>
      <p:sp>
        <p:nvSpPr>
          <p:cNvPr id="162" name="txt162"/>
          <p:cNvSpPr>
            <a:spLocks noGrp="1"/>
          </p:cNvSpPr>
          <p:nvPr/>
        </p:nvSpPr>
        <p:spPr>
          <a:xfrm>
            <a:off x="7863840" y="1792224"/>
            <a:ext cx="10058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850" b="0">
                <a:solidFill>
                  <a:srgbClr val="7A7A7A"/>
                </a:solidFill>
                <a:latin typeface="Aptos"/>
              </a:rPr>
              <a:t>1er contacto</a:t>
            </a:r>
          </a:p>
        </p:txBody>
      </p:sp>
      <p:sp>
        <p:nvSpPr>
          <p:cNvPr id="163" name="bar163"/>
          <p:cNvSpPr/>
          <p:nvPr/>
        </p:nvSpPr>
        <p:spPr>
          <a:xfrm>
            <a:off x="6172200" y="2139696"/>
            <a:ext cx="731520" cy="219456"/>
          </a:xfrm>
          <a:prstGeom prst="roundRect">
            <a:avLst>
              <a:gd name="adj" fmla="val 17500"/>
            </a:avLst>
          </a:prstGeom>
          <a:solidFill>
            <a:srgbClr val="D4A01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64" name="txt164"/>
          <p:cNvSpPr>
            <a:spLocks noGrp="1"/>
          </p:cNvSpPr>
          <p:nvPr/>
        </p:nvSpPr>
        <p:spPr>
          <a:xfrm>
            <a:off x="6958584" y="2121408"/>
            <a:ext cx="12801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00" b="1">
                <a:solidFill>
                  <a:srgbClr val="132346"/>
                </a:solidFill>
                <a:latin typeface="Aptos"/>
              </a:rPr>
              <a:t>N2: $69</a:t>
            </a:r>
          </a:p>
        </p:txBody>
      </p:sp>
      <p:sp>
        <p:nvSpPr>
          <p:cNvPr id="165" name="txt165"/>
          <p:cNvSpPr>
            <a:spLocks noGrp="1"/>
          </p:cNvSpPr>
          <p:nvPr/>
        </p:nvSpPr>
        <p:spPr>
          <a:xfrm>
            <a:off x="7863840" y="2121408"/>
            <a:ext cx="10058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850" b="0">
                <a:solidFill>
                  <a:srgbClr val="7A7A7A"/>
                </a:solidFill>
                <a:latin typeface="Aptos"/>
              </a:rPr>
              <a:t>Técnico</a:t>
            </a:r>
          </a:p>
        </p:txBody>
      </p:sp>
      <p:sp>
        <p:nvSpPr>
          <p:cNvPr id="166" name="bar166"/>
          <p:cNvSpPr/>
          <p:nvPr/>
        </p:nvSpPr>
        <p:spPr>
          <a:xfrm>
            <a:off x="6172200" y="2468880"/>
            <a:ext cx="1097280" cy="219456"/>
          </a:xfrm>
          <a:prstGeom prst="roundRect">
            <a:avLst>
              <a:gd name="adj" fmla="val 17500"/>
            </a:avLst>
          </a:prstGeom>
          <a:solidFill>
            <a:srgbClr val="A5442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67" name="txt167"/>
          <p:cNvSpPr>
            <a:spLocks noGrp="1"/>
          </p:cNvSpPr>
          <p:nvPr/>
        </p:nvSpPr>
        <p:spPr>
          <a:xfrm>
            <a:off x="7324344" y="2450592"/>
            <a:ext cx="12801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l"/>
            <a:r>
              <a:rPr lang="es-CO" sz="1000" b="1">
                <a:solidFill>
                  <a:srgbClr val="132346"/>
                </a:solidFill>
                <a:latin typeface="Aptos"/>
              </a:rPr>
              <a:t>N3: $104</a:t>
            </a:r>
          </a:p>
        </p:txBody>
      </p:sp>
      <p:sp>
        <p:nvSpPr>
          <p:cNvPr id="168" name="txt168"/>
          <p:cNvSpPr>
            <a:spLocks noGrp="1"/>
          </p:cNvSpPr>
          <p:nvPr/>
        </p:nvSpPr>
        <p:spPr>
          <a:xfrm>
            <a:off x="7863840" y="2450592"/>
            <a:ext cx="100584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r"/>
            <a:r>
              <a:rPr lang="es-CO" sz="850" b="0">
                <a:solidFill>
                  <a:srgbClr val="7A7A7A"/>
                </a:solidFill>
                <a:latin typeface="Aptos"/>
              </a:rPr>
              <a:t>Arquitecto</a:t>
            </a:r>
          </a:p>
        </p:txBody>
      </p:sp>
      <p:sp>
        <p:nvSpPr>
          <p:cNvPr id="169" name="shp169"/>
          <p:cNvSpPr/>
          <p:nvPr/>
        </p:nvSpPr>
        <p:spPr>
          <a:xfrm>
            <a:off x="6199632" y="2816352"/>
            <a:ext cx="164592" cy="237744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E7A34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70" name="txt170"/>
          <p:cNvSpPr>
            <a:spLocks noGrp="1"/>
          </p:cNvSpPr>
          <p:nvPr/>
        </p:nvSpPr>
        <p:spPr>
          <a:xfrm>
            <a:off x="6437376" y="2761488"/>
            <a:ext cx="2414016" cy="365760"/>
          </a:xfrm>
          <a:prstGeom prst="rect">
            <a:avLst/>
          </a:prstGeom>
          <a:noFill/>
        </p:spPr>
        <p:txBody>
          <a:bodyPr wrap="square" lIns="18000" tIns="6000" rIns="18000" bIns="6000" anchor="ctr">
            <a:normAutofit/>
          </a:bodyPr>
          <a:lstStyle/>
          <a:p>
            <a:pPr algn="l"/>
            <a:r>
              <a:rPr lang="es-CO" sz="900" b="1">
                <a:solidFill>
                  <a:srgbClr val="3C7D3C"/>
                </a:solidFill>
                <a:latin typeface="Aptos"/>
              </a:rPr>
              <a:t>Shift-Left: cada punto de deflección = ahorro $22–102</a:t>
            </a:r>
          </a:p>
        </p:txBody>
      </p:sp>
      <p:sp>
        <p:nvSpPr>
          <p:cNvPr id="171" name="txt171"/>
          <p:cNvSpPr>
            <a:spLocks noGrp="1"/>
          </p:cNvSpPr>
          <p:nvPr/>
        </p:nvSpPr>
        <p:spPr>
          <a:xfrm>
            <a:off x="5559552" y="3273552"/>
            <a:ext cx="288036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1250" b="1">
                <a:solidFill>
                  <a:srgbClr val="132346"/>
                </a:solidFill>
                <a:latin typeface="Aptos"/>
              </a:rPr>
              <a:t>CSAT Objetivo</a:t>
            </a:r>
          </a:p>
        </p:txBody>
      </p:sp>
      <p:sp>
        <p:nvSpPr>
          <p:cNvPr id="172" name="shp172"/>
          <p:cNvSpPr/>
          <p:nvPr/>
        </p:nvSpPr>
        <p:spPr>
          <a:xfrm>
            <a:off x="6382512" y="3529584"/>
            <a:ext cx="1234440" cy="1234440"/>
          </a:xfrm>
          <a:prstGeom prst="donut">
            <a:avLst>
              <a:gd name="adj" fmla="val 17000"/>
            </a:avLst>
          </a:prstGeom>
          <a:solidFill>
            <a:srgbClr val="E4E1D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73" name="shp173"/>
          <p:cNvSpPr/>
          <p:nvPr/>
        </p:nvSpPr>
        <p:spPr>
          <a:xfrm>
            <a:off x="6382512" y="3529584"/>
            <a:ext cx="1234440" cy="1234440"/>
          </a:xfrm>
          <a:prstGeom prst="arc">
            <a:avLst>
              <a:gd name="adj1" fmla="val 15300000"/>
              <a:gd name="adj2" fmla="val 12000000"/>
            </a:avLst>
          </a:prstGeom>
          <a:noFill/>
          <a:ln w="109728" cap="rnd">
            <a:solidFill>
              <a:srgbClr val="237B89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74" name="txt174"/>
          <p:cNvSpPr>
            <a:spLocks noGrp="1"/>
          </p:cNvSpPr>
          <p:nvPr/>
        </p:nvSpPr>
        <p:spPr>
          <a:xfrm>
            <a:off x="6382512" y="3840480"/>
            <a:ext cx="1234440" cy="274320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1500" b="1">
                <a:solidFill>
                  <a:srgbClr val="132346"/>
                </a:solidFill>
                <a:latin typeface="Aptos"/>
              </a:rPr>
              <a:t>73–86%</a:t>
            </a:r>
          </a:p>
        </p:txBody>
      </p:sp>
      <p:sp>
        <p:nvSpPr>
          <p:cNvPr id="175" name="txt175"/>
          <p:cNvSpPr>
            <a:spLocks noGrp="1"/>
          </p:cNvSpPr>
          <p:nvPr/>
        </p:nvSpPr>
        <p:spPr>
          <a:xfrm>
            <a:off x="6382512" y="4114800"/>
            <a:ext cx="1234440" cy="182880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900" b="0">
                <a:solidFill>
                  <a:srgbClr val="7A7A7A"/>
                </a:solidFill>
                <a:latin typeface="Aptos"/>
              </a:rPr>
              <a:t>industria</a:t>
            </a:r>
          </a:p>
        </p:txBody>
      </p:sp>
      <p:sp>
        <p:nvSpPr>
          <p:cNvPr id="176" name="txt176"/>
          <p:cNvSpPr>
            <a:spLocks noGrp="1"/>
          </p:cNvSpPr>
          <p:nvPr/>
        </p:nvSpPr>
        <p:spPr>
          <a:xfrm>
            <a:off x="6382512" y="4297680"/>
            <a:ext cx="1234440" cy="182880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algn="ctr"/>
            <a:r>
              <a:rPr lang="es-CO" sz="900" b="1">
                <a:solidFill>
                  <a:srgbClr val="B8860B"/>
                </a:solidFill>
                <a:latin typeface="Aptos"/>
              </a:rPr>
              <a:t>≥92% N5</a:t>
            </a:r>
          </a:p>
        </p:txBody>
      </p:sp>
      <p:sp>
        <p:nvSpPr>
          <p:cNvPr id="11" name="src">
            <a:extLst>
              <a:ext uri="{FF2B5EF4-FFF2-40B4-BE49-F238E27FC236}">
                <a16:creationId xmlns:a16="http://schemas.microsoft.com/office/drawing/2014/main" id="{DC2C431D-DA19-1000-A4C0-0A08EFD3BEF6}"/>
              </a:ext>
            </a:extLst>
          </p:cNvPr>
          <p:cNvSpPr txBox="1">
            <a:spLocks noGrp="1"/>
          </p:cNvSpPr>
          <p:nvPr/>
        </p:nvSpPr>
        <p:spPr>
          <a:xfrm>
            <a:off x="276497" y="4767072"/>
            <a:ext cx="7686402" cy="52926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750">
                <a:solidFill>
                  <a:srgbClr val="6B7280"/>
                </a:solidFill>
                <a:latin typeface="Reddit Sans"/>
                <a:ea typeface="Reddit Sans"/>
              </a:rPr>
              <a:t>F</a:t>
            </a:r>
            <a:r>
              <a:rPr lang="es-ES" sz="700">
                <a:solidFill>
                  <a:srgbClr val="6B7280"/>
                </a:solidFill>
                <a:latin typeface="Reddit Sans"/>
                <a:ea typeface="Reddit Sans"/>
              </a:rPr>
              <a:t>uente: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3"/>
              </a:rPr>
              <a:t>SQM Group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>
                <a:solidFill>
                  <a:srgbClr val="2F81F7"/>
                </a:solidFill>
                <a:ea typeface="Reddit Sans"/>
                <a:hlinkClick r:id="rId4"/>
              </a:rPr>
              <a:t>HDI</a:t>
            </a:r>
            <a:r>
              <a:rPr lang="es-ES" sz="700">
                <a:solidFill>
                  <a:srgbClr val="6B7280"/>
                </a:solidFill>
                <a:latin typeface="Reddit Sans"/>
                <a:ea typeface="Reddit Sans"/>
              </a:rPr>
              <a:t> ,  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5"/>
              </a:rPr>
              <a:t>MetricNet/HDI, HDI metrics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>
                <a:solidFill>
                  <a:srgbClr val="2F81F7"/>
                </a:solidFill>
                <a:ea typeface="Reddit Sans"/>
                <a:hlinkClick r:id="rId6"/>
              </a:rPr>
              <a:t>HelpDeskFocus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</a:t>
            </a:r>
            <a:r>
              <a:rPr lang="es-ES" sz="700" u="sng">
                <a:solidFill>
                  <a:srgbClr val="1A3A8F"/>
                </a:solidFill>
                <a:latin typeface="Reddit Sans"/>
                <a:ea typeface="Reddit Sans"/>
              </a:rPr>
              <a:t>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7"/>
              </a:rPr>
              <a:t>IrisAgent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>
                <a:solidFill>
                  <a:srgbClr val="2F81F7"/>
                </a:solidFill>
                <a:ea typeface="Reddit Sans"/>
                <a:hlinkClick r:id="rId8"/>
              </a:rPr>
              <a:t>HDI metrics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9"/>
              </a:rPr>
              <a:t>Giva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</a:t>
            </a:r>
            <a:r>
              <a:rPr lang="es-ES" sz="700">
                <a:ea typeface="Reddit Sans"/>
              </a:rPr>
              <a:t>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Kwestra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0"/>
              </a:rPr>
              <a:t>,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0"/>
              </a:rPr>
              <a:t>servicedeskagents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 u="sng">
                <a:solidFill>
                  <a:srgbClr val="2F81F7"/>
                </a:solidFill>
                <a:ea typeface="Reddit Sans"/>
                <a:hlinkClick r:id="rId10"/>
              </a:rPr>
              <a:t>Kwestra</a:t>
            </a:r>
            <a:r>
              <a:rPr lang="es-ES" sz="700" u="sng">
                <a:solidFill>
                  <a:srgbClr val="2F81F7"/>
                </a:solidFill>
                <a:ea typeface="Reddit Sans"/>
              </a:rPr>
              <a:t>,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1"/>
              </a:rPr>
              <a:t>Contentstack ITSM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 / 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2"/>
              </a:rPr>
              <a:t>Freshservice benchmark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</a:t>
            </a:r>
            <a:r>
              <a:rPr lang="es-ES" sz="700">
                <a:ea typeface="Reddit Sans"/>
              </a:rPr>
              <a:t>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13"/>
              </a:rPr>
              <a:t>SDI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 </a:t>
            </a:r>
            <a:r>
              <a:rPr lang="es-ES" sz="700" u="sng">
                <a:solidFill>
                  <a:srgbClr val="2F81F7"/>
                </a:solidFill>
                <a:ea typeface="Reddit Sans"/>
                <a:hlinkClick r:id="rId14"/>
              </a:rPr>
              <a:t>Stealth Agents</a:t>
            </a:r>
            <a:endParaRPr lang="es-ES" sz="700"/>
          </a:p>
        </p:txBody>
      </p:sp>
    </p:spTree>
    <p:extLst>
      <p:ext uri="{BB962C8B-B14F-4D97-AF65-F5344CB8AC3E}">
        <p14:creationId xmlns:p14="http://schemas.microsoft.com/office/powerpoint/2010/main" val="21382822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ECACB6-92CD-5E40-6F53-4475F8079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SLA vs. XLA 4 Capas de Reporte</a:t>
            </a:r>
          </a:p>
          <a:p>
            <a:endParaRPr lang="es-ES"/>
          </a:p>
        </p:txBody>
      </p:sp>
      <p:sp>
        <p:nvSpPr>
          <p:cNvPr id="101" name="tx101"/>
          <p:cNvSpPr>
            <a:spLocks noGrp="1"/>
          </p:cNvSpPr>
          <p:nvPr/>
        </p:nvSpPr>
        <p:spPr>
          <a:xfrm>
            <a:off x="365760" y="502920"/>
            <a:ext cx="8412480" cy="347472"/>
          </a:xfrm>
          <a:prstGeom prst="rect">
            <a:avLst/>
          </a:prstGeom>
          <a:noFill/>
        </p:spPr>
        <p:txBody>
          <a:bodyPr wrap="square" lIns="27000" tIns="9000" rIns="27000" bIns="9000" anchor="t">
            <a:normAutofit/>
          </a:bodyPr>
          <a:lstStyle/>
          <a:p>
            <a:pPr defTabSz="685800" fontAlgn="ctr">
              <a:lnSpc>
                <a:spcPts val="1693"/>
              </a:lnSpc>
              <a:spcBef>
                <a:spcPts val="650"/>
              </a:spcBef>
            </a:pPr>
            <a:r>
              <a:rPr lang="es-CO" sz="1200" spc="-25">
                <a:solidFill>
                  <a:srgbClr val="595959"/>
                </a:solidFill>
                <a:latin typeface="Reddit Sans"/>
                <a:ea typeface="Reddit Sans"/>
              </a:rPr>
              <a:t>SLA vs. XLA: El Nuevo Paradigma de Medición</a:t>
            </a:r>
          </a:p>
        </p:txBody>
      </p:sp>
      <p:sp>
        <p:nvSpPr>
          <p:cNvPr id="102" name="tx102"/>
          <p:cNvSpPr>
            <a:spLocks noGrp="1"/>
          </p:cNvSpPr>
          <p:nvPr/>
        </p:nvSpPr>
        <p:spPr>
          <a:xfrm>
            <a:off x="365760" y="774192"/>
            <a:ext cx="8412480" cy="256032"/>
          </a:xfrm>
          <a:prstGeom prst="rect">
            <a:avLst/>
          </a:prstGeom>
          <a:noFill/>
        </p:spPr>
        <p:txBody>
          <a:bodyPr wrap="none" lIns="18000" tIns="6000" rIns="18000" bIns="6000" anchor="ctr">
            <a:normAutofit/>
          </a:bodyPr>
          <a:lstStyle/>
          <a:p>
            <a:pPr defTabSz="685800" fontAlgn="ctr">
              <a:lnSpc>
                <a:spcPts val="1693"/>
              </a:lnSpc>
              <a:spcBef>
                <a:spcPts val="650"/>
              </a:spcBef>
            </a:pPr>
            <a:r>
              <a:rPr lang="es-CO" sz="1200" spc="-25">
                <a:solidFill>
                  <a:srgbClr val="595959"/>
                </a:solidFill>
                <a:latin typeface="Reddit Sans"/>
                <a:ea typeface="Reddit Sans"/>
              </a:rPr>
              <a:t>68% de empresas planea adoptar XLA en 2026 · XLA Institute “State of XLA 2025”</a:t>
            </a:r>
          </a:p>
        </p:txBody>
      </p:sp>
      <p:sp>
        <p:nvSpPr>
          <p:cNvPr id="103" name="rr103"/>
          <p:cNvSpPr/>
          <p:nvPr/>
        </p:nvSpPr>
        <p:spPr>
          <a:xfrm>
            <a:off x="320040" y="1170432"/>
            <a:ext cx="2514600" cy="2761488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>
            <a:solidFill>
              <a:srgbClr val="E4E4E4"/>
            </a:solidFill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04" name="rr104"/>
          <p:cNvSpPr/>
          <p:nvPr/>
        </p:nvSpPr>
        <p:spPr>
          <a:xfrm>
            <a:off x="320040" y="1170432"/>
            <a:ext cx="2514600" cy="475488"/>
          </a:xfrm>
          <a:prstGeom prst="roundRect">
            <a:avLst>
              <a:gd name="adj" fmla="val 5000"/>
            </a:avLst>
          </a:prstGeom>
          <a:solidFill>
            <a:srgbClr val="7A7974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05" name="tx105"/>
          <p:cNvSpPr>
            <a:spLocks noGrp="1"/>
          </p:cNvSpPr>
          <p:nvPr/>
        </p:nvSpPr>
        <p:spPr>
          <a:xfrm>
            <a:off x="320040" y="1188720"/>
            <a:ext cx="2514600" cy="457200"/>
          </a:xfrm>
          <a:prstGeom prst="rect">
            <a:avLst/>
          </a:prstGeom>
          <a:noFill/>
        </p:spPr>
        <p:txBody>
          <a:bodyPr wrap="square" lIns="27000" tIns="9000" rIns="27000" bIns="9000" anchor="ctr">
            <a:normAutofit/>
          </a:bodyPr>
          <a:lstStyle/>
          <a:p>
            <a:pPr algn="ctr">
              <a:spcBef>
                <a:spcPts val="0"/>
              </a:spcBef>
            </a:pPr>
            <a:r>
              <a:rPr lang="es-CO" sz="1400" b="1" i="0">
                <a:solidFill>
                  <a:srgbClr val="FFFFFF"/>
                </a:solidFill>
                <a:latin typeface="Reddit Sans"/>
                <a:ea typeface="Reddit Sans"/>
              </a:rPr>
              <a:t>SLA</a:t>
            </a:r>
          </a:p>
          <a:p>
            <a:pPr algn="ctr">
              <a:spcBef>
                <a:spcPts val="100"/>
              </a:spcBef>
            </a:pPr>
            <a:r>
              <a:rPr lang="es-CO" sz="850" b="0" i="0">
                <a:solidFill>
                  <a:srgbClr val="FFFFFF"/>
                </a:solidFill>
                <a:latin typeface="Reddit Sans"/>
                <a:ea typeface="Reddit Sans"/>
              </a:rPr>
              <a:t>Service Level Agreement</a:t>
            </a:r>
          </a:p>
        </p:txBody>
      </p:sp>
      <p:sp>
        <p:nvSpPr>
          <p:cNvPr id="106" name="tx106"/>
          <p:cNvSpPr>
            <a:spLocks noGrp="1"/>
          </p:cNvSpPr>
          <p:nvPr/>
        </p:nvSpPr>
        <p:spPr>
          <a:xfrm>
            <a:off x="365760" y="1719072"/>
            <a:ext cx="2423160" cy="2194560"/>
          </a:xfrm>
          <a:prstGeom prst="rect">
            <a:avLst/>
          </a:prstGeom>
          <a:noFill/>
        </p:spPr>
        <p:txBody>
          <a:bodyPr wrap="square" lIns="27000" tIns="9000" rIns="27000" bIns="9000" anchor="t">
            <a:normAutofit/>
          </a:bodyPr>
          <a:lstStyle/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Qué mide:</a:t>
            </a:r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6B6B6B"/>
                </a:solidFill>
                <a:latin typeface="Reddit Sans"/>
                <a:ea typeface="Reddit Sans"/>
              </a:rPr>
              <a:t>Estándares mínimos de entrega</a:t>
            </a:r>
          </a:p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Métricas:</a:t>
            </a:r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6B6B6B"/>
                </a:solidFill>
                <a:latin typeface="Reddit Sans"/>
                <a:ea typeface="Reddit Sans"/>
              </a:rPr>
              <a:t>Tiempo respuesta, uptime, MTTR</a:t>
            </a:r>
          </a:p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Foco:</a:t>
            </a:r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6B6B6B"/>
                </a:solidFill>
                <a:latin typeface="Reddit Sans"/>
                <a:ea typeface="Reddit Sans"/>
              </a:rPr>
              <a:t>Cumplimiento de proceso</a:t>
            </a:r>
          </a:p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Limitación:</a:t>
            </a:r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A3352A"/>
                </a:solidFill>
                <a:latin typeface="Reddit Sans"/>
                <a:ea typeface="Reddit Sans"/>
              </a:rPr>
              <a:t>SLA ✔ ≠ usuario satisfecho</a:t>
            </a:r>
          </a:p>
          <a:p>
            <a:pPr algn="l">
              <a:spcBef>
                <a:spcPts val="800"/>
              </a:spcBef>
            </a:pPr>
            <a:r>
              <a:rPr lang="es-CO" sz="900" b="0" i="1">
                <a:solidFill>
                  <a:srgbClr val="6B6B6B"/>
                </a:solidFill>
                <a:latin typeface="Reddit Sans"/>
                <a:ea typeface="Reddit Sans"/>
              </a:rPr>
              <a:t>“El ticket cerró en tiempo pero el problema real persiste”</a:t>
            </a:r>
          </a:p>
        </p:txBody>
      </p:sp>
      <p:sp>
        <p:nvSpPr>
          <p:cNvPr id="107" name="rr107"/>
          <p:cNvSpPr/>
          <p:nvPr/>
        </p:nvSpPr>
        <p:spPr>
          <a:xfrm>
            <a:off x="3154680" y="1170432"/>
            <a:ext cx="2514600" cy="2761488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>
            <a:solidFill>
              <a:srgbClr val="E4E4E4"/>
            </a:solidFill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08" name="rr108"/>
          <p:cNvSpPr/>
          <p:nvPr/>
        </p:nvSpPr>
        <p:spPr>
          <a:xfrm>
            <a:off x="3154680" y="1170432"/>
            <a:ext cx="2514600" cy="475488"/>
          </a:xfrm>
          <a:prstGeom prst="roundRect">
            <a:avLst>
              <a:gd name="adj" fmla="val 5000"/>
            </a:avLst>
          </a:prstGeom>
          <a:solidFill>
            <a:srgbClr val="20808D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09" name="tx109"/>
          <p:cNvSpPr>
            <a:spLocks noGrp="1"/>
          </p:cNvSpPr>
          <p:nvPr/>
        </p:nvSpPr>
        <p:spPr>
          <a:xfrm>
            <a:off x="3154680" y="1188720"/>
            <a:ext cx="2514600" cy="457200"/>
          </a:xfrm>
          <a:prstGeom prst="rect">
            <a:avLst/>
          </a:prstGeom>
          <a:noFill/>
        </p:spPr>
        <p:txBody>
          <a:bodyPr wrap="square" lIns="27000" tIns="9000" rIns="27000" bIns="9000" anchor="ctr">
            <a:normAutofit/>
          </a:bodyPr>
          <a:lstStyle/>
          <a:p>
            <a:pPr algn="ctr">
              <a:spcBef>
                <a:spcPts val="0"/>
              </a:spcBef>
            </a:pPr>
            <a:r>
              <a:rPr lang="es-CO" sz="1400" b="1" i="0">
                <a:solidFill>
                  <a:srgbClr val="FFFFFF"/>
                </a:solidFill>
                <a:latin typeface="Reddit Sans"/>
                <a:ea typeface="Reddit Sans"/>
              </a:rPr>
              <a:t>XLA</a:t>
            </a:r>
          </a:p>
          <a:p>
            <a:pPr algn="ctr">
              <a:spcBef>
                <a:spcPts val="100"/>
              </a:spcBef>
            </a:pPr>
            <a:r>
              <a:rPr lang="es-CO" sz="850" b="0" i="0">
                <a:solidFill>
                  <a:srgbClr val="FFFFFF"/>
                </a:solidFill>
                <a:latin typeface="Reddit Sans"/>
                <a:ea typeface="Reddit Sans"/>
              </a:rPr>
              <a:t>Experience Level Agreement</a:t>
            </a:r>
          </a:p>
        </p:txBody>
      </p:sp>
      <p:sp>
        <p:nvSpPr>
          <p:cNvPr id="110" name="tx110"/>
          <p:cNvSpPr>
            <a:spLocks noGrp="1"/>
          </p:cNvSpPr>
          <p:nvPr/>
        </p:nvSpPr>
        <p:spPr>
          <a:xfrm>
            <a:off x="3200400" y="1719072"/>
            <a:ext cx="2423160" cy="2194560"/>
          </a:xfrm>
          <a:prstGeom prst="rect">
            <a:avLst/>
          </a:prstGeom>
          <a:noFill/>
        </p:spPr>
        <p:txBody>
          <a:bodyPr wrap="square" lIns="27000" tIns="9000" rIns="27000" bIns="9000" anchor="t">
            <a:normAutofit/>
          </a:bodyPr>
          <a:lstStyle/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Qué mide:</a:t>
            </a:r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6B6B6B"/>
                </a:solidFill>
                <a:latin typeface="Reddit Sans"/>
                <a:ea typeface="Reddit Sans"/>
              </a:rPr>
              <a:t>Experiencia real del empleado</a:t>
            </a:r>
          </a:p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Métricas:</a:t>
            </a:r>
          </a:p>
          <a:p>
            <a:r>
              <a:rPr lang="es-CO" sz="1050">
                <a:solidFill>
                  <a:srgbClr val="6B6B6B"/>
                </a:solidFill>
                <a:latin typeface="Reddit Sans"/>
                <a:ea typeface="Reddit Sans"/>
              </a:rPr>
              <a:t>Satisfacción,</a:t>
            </a:r>
            <a:r>
              <a:rPr lang="es-CO" sz="1050" b="0" i="0">
                <a:solidFill>
                  <a:srgbClr val="6B6B6B"/>
                </a:solidFill>
                <a:latin typeface="Reddit Sans"/>
                <a:ea typeface="Reddit Sans"/>
              </a:rPr>
              <a:t> </a:t>
            </a:r>
            <a:r>
              <a:rPr lang="es-CO" sz="1050">
                <a:solidFill>
                  <a:srgbClr val="6B6B6B"/>
                </a:solidFill>
                <a:latin typeface="Reddit Sans"/>
                <a:ea typeface="Reddit Sans"/>
              </a:rPr>
              <a:t>sentimiento, esfuerzo</a:t>
            </a:r>
          </a:p>
          <a:p>
            <a:pPr>
              <a:spcBef>
                <a:spcPts val="400"/>
              </a:spcBef>
            </a:pPr>
            <a:r>
              <a:rPr lang="es-CO" sz="1050" b="1">
                <a:solidFill>
                  <a:srgbClr val="2E3B4E"/>
                </a:solidFill>
                <a:latin typeface="Reddit Sans"/>
                <a:ea typeface="Reddit Sans"/>
              </a:rPr>
              <a:t>Foco</a:t>
            </a: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:</a:t>
            </a:r>
            <a:endParaRPr lang="es-CO"/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6B6B6B"/>
                </a:solidFill>
                <a:latin typeface="Reddit Sans"/>
                <a:ea typeface="Reddit Sans"/>
              </a:rPr>
              <a:t>Resultado percibido por usuario</a:t>
            </a:r>
          </a:p>
          <a:p>
            <a:pPr algn="l">
              <a:spcBef>
                <a:spcPts val="400"/>
              </a:spcBef>
            </a:pPr>
            <a:r>
              <a:rPr lang="es-CO" sz="1050" b="1" i="0">
                <a:solidFill>
                  <a:srgbClr val="2E3B4E"/>
                </a:solidFill>
                <a:latin typeface="Reddit Sans"/>
                <a:ea typeface="Reddit Sans"/>
              </a:rPr>
              <a:t>Valor:</a:t>
            </a:r>
          </a:p>
          <a:p>
            <a:pPr algn="l">
              <a:spcBef>
                <a:spcPts val="0"/>
              </a:spcBef>
            </a:pPr>
            <a:r>
              <a:rPr lang="es-CO" sz="1050" b="0" i="0">
                <a:solidFill>
                  <a:srgbClr val="20808D"/>
                </a:solidFill>
                <a:latin typeface="Reddit Sans"/>
                <a:ea typeface="Reddit Sans"/>
              </a:rPr>
              <a:t>Habilita </a:t>
            </a:r>
            <a:r>
              <a:rPr lang="es-CO" sz="1050" b="0" i="0" err="1">
                <a:solidFill>
                  <a:srgbClr val="20808D"/>
                </a:solidFill>
                <a:latin typeface="Reddit Sans"/>
                <a:ea typeface="Reddit Sans"/>
              </a:rPr>
              <a:t>pricing</a:t>
            </a:r>
            <a:r>
              <a:rPr lang="es-CO" sz="1050" b="0" i="0">
                <a:solidFill>
                  <a:srgbClr val="20808D"/>
                </a:solidFill>
                <a:latin typeface="Reddit Sans"/>
                <a:ea typeface="Reddit Sans"/>
              </a:rPr>
              <a:t> </a:t>
            </a:r>
            <a:r>
              <a:rPr lang="es-CO" sz="1050" b="0" i="0" err="1">
                <a:solidFill>
                  <a:srgbClr val="20808D"/>
                </a:solidFill>
                <a:latin typeface="Reddit Sans"/>
                <a:ea typeface="Reddit Sans"/>
              </a:rPr>
              <a:t>outcome-based</a:t>
            </a:r>
            <a:endParaRPr lang="es-CO" sz="1050" b="0" i="0">
              <a:solidFill>
                <a:srgbClr val="20808D"/>
              </a:solidFill>
              <a:latin typeface="Reddit Sans"/>
              <a:ea typeface="Reddit Sans"/>
            </a:endParaRPr>
          </a:p>
          <a:p>
            <a:pPr algn="l">
              <a:spcBef>
                <a:spcPts val="800"/>
              </a:spcBef>
            </a:pPr>
            <a:r>
              <a:rPr lang="es-CO" sz="900" b="0" i="1">
                <a:solidFill>
                  <a:srgbClr val="6B6B6B"/>
                </a:solidFill>
                <a:latin typeface="Reddit Sans"/>
                <a:ea typeface="Reddit Sans"/>
              </a:rPr>
              <a:t>“Proactivo: resuelve antes de que el usuario lo note”</a:t>
            </a:r>
          </a:p>
        </p:txBody>
      </p:sp>
      <p:sp>
        <p:nvSpPr>
          <p:cNvPr id="111" name="ar111"/>
          <p:cNvSpPr/>
          <p:nvPr/>
        </p:nvSpPr>
        <p:spPr>
          <a:xfrm>
            <a:off x="2834640" y="2331720"/>
            <a:ext cx="292608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20808D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13" name="tx113"/>
          <p:cNvSpPr>
            <a:spLocks noGrp="1"/>
          </p:cNvSpPr>
          <p:nvPr/>
        </p:nvSpPr>
        <p:spPr>
          <a:xfrm>
            <a:off x="341812" y="4005943"/>
            <a:ext cx="5349240" cy="53035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27000" tIns="9000" rIns="27000" bIns="9000" anchor="ctr">
            <a:normAutofit/>
          </a:bodyPr>
          <a:lstStyle/>
          <a:p>
            <a:pPr algn="ctr">
              <a:spcBef>
                <a:spcPts val="0"/>
              </a:spcBef>
            </a:pPr>
            <a:r>
              <a:rPr lang="es-CO" sz="1100" b="1" i="0">
                <a:solidFill>
                  <a:srgbClr val="20808D"/>
                </a:solidFill>
                <a:latin typeface="Reddit Sans"/>
                <a:ea typeface="Reddit Sans"/>
              </a:rPr>
              <a:t>68% de empresas planea adoptar XLA en 2026</a:t>
            </a:r>
          </a:p>
          <a:p>
            <a:pPr algn="ctr">
              <a:spcBef>
                <a:spcPts val="100"/>
              </a:spcBef>
            </a:pPr>
            <a:r>
              <a:rPr lang="es-CO" sz="850" b="0" i="0">
                <a:solidFill>
                  <a:srgbClr val="6E6E6E"/>
                </a:solidFill>
                <a:latin typeface="Reddit Sans"/>
                <a:ea typeface="Reddit Sans"/>
              </a:rPr>
              <a:t>Brasil lidera en Latam · expansión: Salud, RRHH, Finanzas (XLA Institute, jun 2025)</a:t>
            </a:r>
          </a:p>
        </p:txBody>
      </p:sp>
      <p:sp>
        <p:nvSpPr>
          <p:cNvPr id="114" name="tx114"/>
          <p:cNvSpPr>
            <a:spLocks noGrp="1"/>
          </p:cNvSpPr>
          <p:nvPr/>
        </p:nvSpPr>
        <p:spPr>
          <a:xfrm>
            <a:off x="5989320" y="1133856"/>
            <a:ext cx="2834640" cy="274320"/>
          </a:xfrm>
          <a:prstGeom prst="rect">
            <a:avLst/>
          </a:prstGeom>
          <a:noFill/>
        </p:spPr>
        <p:txBody>
          <a:bodyPr wrap="square" lIns="27000" tIns="9000" rIns="27000" bIns="9000" anchor="t">
            <a:normAutofit/>
          </a:bodyPr>
          <a:lstStyle/>
          <a:p>
            <a:pPr algn="ctr">
              <a:spcBef>
                <a:spcPts val="0"/>
              </a:spcBef>
            </a:pPr>
            <a:r>
              <a:rPr lang="es-CO" sz="1250" b="1" i="0">
                <a:solidFill>
                  <a:srgbClr val="1F3A5F"/>
                </a:solidFill>
                <a:latin typeface="Reddit Sans"/>
                <a:ea typeface="Reddit Sans"/>
              </a:rPr>
              <a:t>4 Capas</a:t>
            </a:r>
          </a:p>
        </p:txBody>
      </p:sp>
      <p:sp>
        <p:nvSpPr>
          <p:cNvPr id="115" name="rr115"/>
          <p:cNvSpPr/>
          <p:nvPr/>
        </p:nvSpPr>
        <p:spPr>
          <a:xfrm>
            <a:off x="5989320" y="1572768"/>
            <a:ext cx="2834640" cy="585216"/>
          </a:xfrm>
          <a:prstGeom prst="roundRect">
            <a:avLst>
              <a:gd name="adj" fmla="val 5000"/>
            </a:avLst>
          </a:prstGeom>
          <a:solidFill>
            <a:srgbClr val="1B3456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16" name="tx116"/>
          <p:cNvSpPr>
            <a:spLocks noGrp="1"/>
          </p:cNvSpPr>
          <p:nvPr/>
        </p:nvSpPr>
        <p:spPr>
          <a:xfrm>
            <a:off x="6080760" y="1600200"/>
            <a:ext cx="2651760" cy="548640"/>
          </a:xfrm>
          <a:prstGeom prst="rect">
            <a:avLst/>
          </a:prstGeom>
          <a:noFill/>
        </p:spPr>
        <p:txBody>
          <a:bodyPr wrap="square" lIns="27000" tIns="9000" rIns="27000" bIns="9000" anchor="ctr">
            <a:normAutofit/>
          </a:bodyPr>
          <a:lstStyle/>
          <a:p>
            <a:pPr algn="l">
              <a:spcBef>
                <a:spcPts val="0"/>
              </a:spcBef>
            </a:pPr>
            <a:r>
              <a:rPr lang="es-CO" sz="1150" b="1" i="0">
                <a:solidFill>
                  <a:srgbClr val="FFFFFF"/>
                </a:solidFill>
                <a:latin typeface="Reddit Sans"/>
                <a:ea typeface="Reddit Sans"/>
              </a:rPr>
              <a:t>1. Confiabilidad Operacional</a:t>
            </a:r>
          </a:p>
          <a:p>
            <a:pPr algn="l">
              <a:spcBef>
                <a:spcPts val="200"/>
              </a:spcBef>
            </a:pPr>
            <a:r>
              <a:rPr lang="es-CO" sz="850" b="0" i="0">
                <a:solidFill>
                  <a:srgbClr val="E8EEF0"/>
                </a:solidFill>
                <a:latin typeface="Reddit Sans"/>
                <a:ea typeface="Reddit Sans"/>
              </a:rPr>
              <a:t>Disponibilidad · SLA · MTTR · Incidentes mayores</a:t>
            </a:r>
          </a:p>
        </p:txBody>
      </p:sp>
      <p:sp>
        <p:nvSpPr>
          <p:cNvPr id="117" name="rr117"/>
          <p:cNvSpPr/>
          <p:nvPr/>
        </p:nvSpPr>
        <p:spPr>
          <a:xfrm>
            <a:off x="5989320" y="2249424"/>
            <a:ext cx="2834640" cy="585216"/>
          </a:xfrm>
          <a:prstGeom prst="roundRect">
            <a:avLst>
              <a:gd name="adj" fmla="val 5000"/>
            </a:avLst>
          </a:prstGeom>
          <a:solidFill>
            <a:srgbClr val="1B474D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18" name="tx118"/>
          <p:cNvSpPr>
            <a:spLocks noGrp="1"/>
          </p:cNvSpPr>
          <p:nvPr/>
        </p:nvSpPr>
        <p:spPr>
          <a:xfrm>
            <a:off x="6080760" y="2276856"/>
            <a:ext cx="2651760" cy="548640"/>
          </a:xfrm>
          <a:prstGeom prst="rect">
            <a:avLst/>
          </a:prstGeom>
          <a:noFill/>
        </p:spPr>
        <p:txBody>
          <a:bodyPr wrap="square" lIns="27000" tIns="9000" rIns="27000" bIns="9000" anchor="ctr">
            <a:normAutofit/>
          </a:bodyPr>
          <a:lstStyle/>
          <a:p>
            <a:pPr algn="l">
              <a:spcBef>
                <a:spcPts val="0"/>
              </a:spcBef>
            </a:pPr>
            <a:r>
              <a:rPr lang="es-CO" sz="1150" b="1" i="0">
                <a:solidFill>
                  <a:srgbClr val="FFFFFF"/>
                </a:solidFill>
                <a:latin typeface="Reddit Sans"/>
                <a:ea typeface="Reddit Sans"/>
              </a:rPr>
              <a:t>2. Eficiencia del Service Desk</a:t>
            </a:r>
          </a:p>
          <a:p>
            <a:pPr algn="l">
              <a:spcBef>
                <a:spcPts val="200"/>
              </a:spcBef>
            </a:pPr>
            <a:r>
              <a:rPr lang="es-CO" sz="850" b="0" i="0">
                <a:solidFill>
                  <a:srgbClr val="E8EEF0"/>
                </a:solidFill>
                <a:latin typeface="Reddit Sans"/>
                <a:ea typeface="Reddit Sans"/>
              </a:rPr>
              <a:t>FCR · Backlog · Costo/ticket · Autoservicio %</a:t>
            </a:r>
          </a:p>
        </p:txBody>
      </p:sp>
      <p:sp>
        <p:nvSpPr>
          <p:cNvPr id="119" name="rr119"/>
          <p:cNvSpPr/>
          <p:nvPr/>
        </p:nvSpPr>
        <p:spPr>
          <a:xfrm>
            <a:off x="5989320" y="2926080"/>
            <a:ext cx="2834640" cy="585216"/>
          </a:xfrm>
          <a:prstGeom prst="roundRect">
            <a:avLst>
              <a:gd name="adj" fmla="val 5000"/>
            </a:avLst>
          </a:prstGeom>
          <a:solidFill>
            <a:srgbClr val="20808D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20" name="tx120"/>
          <p:cNvSpPr>
            <a:spLocks noGrp="1"/>
          </p:cNvSpPr>
          <p:nvPr/>
        </p:nvSpPr>
        <p:spPr>
          <a:xfrm>
            <a:off x="6080760" y="2953512"/>
            <a:ext cx="2651760" cy="548640"/>
          </a:xfrm>
          <a:prstGeom prst="rect">
            <a:avLst/>
          </a:prstGeom>
          <a:noFill/>
        </p:spPr>
        <p:txBody>
          <a:bodyPr wrap="square" lIns="27000" tIns="9000" rIns="27000" bIns="9000" anchor="ctr">
            <a:normAutofit/>
          </a:bodyPr>
          <a:lstStyle/>
          <a:p>
            <a:pPr algn="l">
              <a:spcBef>
                <a:spcPts val="0"/>
              </a:spcBef>
            </a:pPr>
            <a:r>
              <a:rPr lang="es-CO" sz="1150" b="1" i="0">
                <a:solidFill>
                  <a:srgbClr val="FFFFFF"/>
                </a:solidFill>
                <a:latin typeface="Reddit Sans"/>
                <a:ea typeface="Reddit Sans"/>
              </a:rPr>
              <a:t>3. Experiencia de Usuario (XLA)</a:t>
            </a:r>
          </a:p>
          <a:p>
            <a:pPr algn="l">
              <a:spcBef>
                <a:spcPts val="200"/>
              </a:spcBef>
            </a:pPr>
            <a:r>
              <a:rPr lang="es-CO" sz="850" b="0" i="0">
                <a:solidFill>
                  <a:srgbClr val="E8EEF0"/>
                </a:solidFill>
                <a:latin typeface="Reddit Sans"/>
                <a:ea typeface="Reddit Sans"/>
              </a:rPr>
              <a:t>CSAT · Effort score · Sentiment · Journey</a:t>
            </a:r>
          </a:p>
        </p:txBody>
      </p:sp>
      <p:sp>
        <p:nvSpPr>
          <p:cNvPr id="121" name="rr121"/>
          <p:cNvSpPr/>
          <p:nvPr/>
        </p:nvSpPr>
        <p:spPr>
          <a:xfrm>
            <a:off x="5989320" y="3602736"/>
            <a:ext cx="2834640" cy="585216"/>
          </a:xfrm>
          <a:prstGeom prst="roundRect">
            <a:avLst>
              <a:gd name="adj" fmla="val 5000"/>
            </a:avLst>
          </a:prstGeom>
          <a:solidFill>
            <a:srgbClr val="6E964D"/>
          </a:solidFill>
          <a:ln>
            <a:noFill/>
          </a:ln>
        </p:spPr>
        <p:txBody>
          <a:bodyPr/>
          <a:lstStyle/>
          <a:p>
            <a:endParaRPr>
              <a:latin typeface="Reddit Sans"/>
              <a:ea typeface="Reddit Sans"/>
            </a:endParaRPr>
          </a:p>
        </p:txBody>
      </p:sp>
      <p:sp>
        <p:nvSpPr>
          <p:cNvPr id="122" name="tx122"/>
          <p:cNvSpPr>
            <a:spLocks noGrp="1"/>
          </p:cNvSpPr>
          <p:nvPr/>
        </p:nvSpPr>
        <p:spPr>
          <a:xfrm>
            <a:off x="6080760" y="3630168"/>
            <a:ext cx="2651760" cy="548640"/>
          </a:xfrm>
          <a:prstGeom prst="rect">
            <a:avLst/>
          </a:prstGeom>
          <a:noFill/>
        </p:spPr>
        <p:txBody>
          <a:bodyPr wrap="square" lIns="27000" tIns="9000" rIns="27000" bIns="9000" anchor="ctr">
            <a:normAutofit/>
          </a:bodyPr>
          <a:lstStyle/>
          <a:p>
            <a:pPr algn="l">
              <a:spcBef>
                <a:spcPts val="0"/>
              </a:spcBef>
            </a:pPr>
            <a:r>
              <a:rPr lang="es-CO" sz="1150" b="1" i="0">
                <a:solidFill>
                  <a:srgbClr val="FFFFFF"/>
                </a:solidFill>
                <a:latin typeface="Reddit Sans"/>
                <a:ea typeface="Reddit Sans"/>
              </a:rPr>
              <a:t>4. Impacto de Negocio</a:t>
            </a:r>
          </a:p>
          <a:p>
            <a:pPr>
              <a:spcBef>
                <a:spcPts val="200"/>
              </a:spcBef>
            </a:pPr>
            <a:r>
              <a:rPr lang="es-CO" sz="850" b="0" i="0" err="1">
                <a:solidFill>
                  <a:srgbClr val="E8EEF0"/>
                </a:solidFill>
                <a:latin typeface="Reddit Sans"/>
                <a:ea typeface="Reddit Sans"/>
              </a:rPr>
              <a:t>Prod</a:t>
            </a:r>
            <a:r>
              <a:rPr lang="es-CO" sz="850" b="0" i="0">
                <a:solidFill>
                  <a:srgbClr val="E8EEF0"/>
                </a:solidFill>
                <a:latin typeface="Reddit Sans"/>
                <a:ea typeface="Reddit Sans"/>
              </a:rPr>
              <a:t>. perdida · ROI · Riesg</a:t>
            </a:r>
            <a:r>
              <a:rPr lang="es-CO" sz="850">
                <a:solidFill>
                  <a:srgbClr val="E8EEF0"/>
                </a:solidFill>
                <a:latin typeface="Reddit Sans"/>
                <a:ea typeface="Reddit Sans"/>
              </a:rPr>
              <a:t>o (regulatorios,  fraude, cumplimiento </a:t>
            </a:r>
            <a:r>
              <a:rPr lang="es-CO" sz="850" err="1">
                <a:solidFill>
                  <a:srgbClr val="E8EEF0"/>
                </a:solidFill>
                <a:latin typeface="Reddit Sans"/>
                <a:ea typeface="Reddit Sans"/>
              </a:rPr>
              <a:t>SOCs</a:t>
            </a:r>
            <a:r>
              <a:rPr lang="es-CO" sz="850">
                <a:solidFill>
                  <a:srgbClr val="E8EEF0"/>
                </a:solidFill>
                <a:latin typeface="Reddit Sans"/>
                <a:ea typeface="Reddit Sans"/>
              </a:rPr>
              <a:t>)· Evit</a:t>
            </a:r>
            <a:r>
              <a:rPr lang="es-CO" sz="850" b="0" i="0">
                <a:solidFill>
                  <a:srgbClr val="E8EEF0"/>
                </a:solidFill>
                <a:latin typeface="Reddit Sans"/>
                <a:ea typeface="Reddit Sans"/>
              </a:rPr>
              <a:t>ación costos</a:t>
            </a:r>
          </a:p>
        </p:txBody>
      </p:sp>
      <p:sp>
        <p:nvSpPr>
          <p:cNvPr id="5" name="src">
            <a:extLst>
              <a:ext uri="{FF2B5EF4-FFF2-40B4-BE49-F238E27FC236}">
                <a16:creationId xmlns:a16="http://schemas.microsoft.com/office/drawing/2014/main" id="{A87222FE-49B1-30B7-D180-122F8829EB1E}"/>
              </a:ext>
            </a:extLst>
          </p:cNvPr>
          <p:cNvSpPr txBox="1">
            <a:spLocks noGrp="1"/>
          </p:cNvSpPr>
          <p:nvPr/>
        </p:nvSpPr>
        <p:spPr>
          <a:xfrm>
            <a:off x="314597" y="4652772"/>
            <a:ext cx="7642860" cy="4040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700">
                <a:solidFill>
                  <a:srgbClr val="6B7280"/>
                </a:solidFill>
                <a:latin typeface="Reddit Sans"/>
                <a:ea typeface="Reddit Sans"/>
              </a:rPr>
              <a:t>Fuente: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3"/>
              </a:rPr>
              <a:t>EIN Presswire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, </a:t>
            </a:r>
            <a:r>
              <a:rPr lang="es-ES" sz="700">
                <a:solidFill>
                  <a:srgbClr val="2F81F7"/>
                </a:solidFill>
                <a:ea typeface="Reddit Sans"/>
                <a:hlinkClick r:id="rId4"/>
              </a:rPr>
              <a:t>Emerce</a:t>
            </a:r>
            <a:r>
              <a:rPr lang="es-ES" sz="700">
                <a:solidFill>
                  <a:srgbClr val="2F81F7"/>
                </a:solidFill>
                <a:ea typeface="Reddit Sans"/>
              </a:rPr>
              <a:t>,</a:t>
            </a:r>
            <a:r>
              <a:rPr lang="es-ES" sz="700">
                <a:solidFill>
                  <a:srgbClr val="E6EDF3"/>
                </a:solidFill>
                <a:ea typeface="Reddit Sans"/>
              </a:rPr>
              <a:t>  </a:t>
            </a:r>
            <a:r>
              <a:rPr lang="es-ES" sz="700">
                <a:solidFill>
                  <a:srgbClr val="2F81F7"/>
                </a:solidFill>
                <a:ea typeface="Reddit Sans"/>
                <a:hlinkClick r:id="rId5"/>
              </a:rPr>
              <a:t>LinkedIn — Alan Nance, XLA Institute</a:t>
            </a:r>
            <a:endParaRPr lang="es-ES" sz="700">
              <a:solidFill>
                <a:srgbClr val="E6EDF3"/>
              </a:solidFill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16925644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9F6222-CBB1-1BEB-9538-58F418DF4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7971" y="211278"/>
            <a:ext cx="8211000" cy="572700"/>
          </a:xfrm>
        </p:spPr>
        <p:txBody>
          <a:bodyPr>
            <a:normAutofit/>
          </a:bodyPr>
          <a:lstStyle/>
          <a:p>
            <a:r>
              <a:rPr lang="en-US">
                <a:highlight>
                  <a:srgbClr val="FFFF00"/>
                </a:highlight>
              </a:rPr>
              <a:t>SLA vs. XLA 4 </a:t>
            </a:r>
            <a:r>
              <a:rPr lang="en-US" err="1">
                <a:highlight>
                  <a:srgbClr val="FFFF00"/>
                </a:highlight>
              </a:rPr>
              <a:t>Capas</a:t>
            </a:r>
            <a:r>
              <a:rPr lang="en-US">
                <a:highlight>
                  <a:srgbClr val="FFFF00"/>
                </a:highlight>
              </a:rPr>
              <a:t> de </a:t>
            </a:r>
            <a:r>
              <a:rPr lang="en-US" err="1">
                <a:highlight>
                  <a:srgbClr val="FFFF00"/>
                </a:highlight>
              </a:rPr>
              <a:t>Reporte</a:t>
            </a:r>
            <a:endParaRPr lang="es-ES">
              <a:highlight>
                <a:srgbClr val="FFFF00"/>
              </a:highlight>
            </a:endParaRPr>
          </a:p>
          <a:p>
            <a:endParaRPr lang="es-ES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8ADE0D35-1ABE-F9E3-7FE0-06D6EA94F37C}"/>
              </a:ext>
            </a:extLst>
          </p:cNvPr>
          <p:cNvSpPr/>
          <p:nvPr/>
        </p:nvSpPr>
        <p:spPr>
          <a:xfrm>
            <a:off x="331674" y="566955"/>
            <a:ext cx="8643938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38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Evolución: Del Cumplimiento Técnico a la Experiencia del Usuario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8" name="Image 0" descr="-15eb81de.png">
            <a:extLst>
              <a:ext uri="{FF2B5EF4-FFF2-40B4-BE49-F238E27FC236}">
                <a16:creationId xmlns:a16="http://schemas.microsoft.com/office/drawing/2014/main" id="{8022EBDC-2AD1-8D40-F7D1-BA6A89BE6D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7074" y="1307307"/>
            <a:ext cx="1264444" cy="821531"/>
          </a:xfrm>
          <a:prstGeom prst="rect">
            <a:avLst/>
          </a:prstGeom>
        </p:spPr>
      </p:pic>
      <p:sp>
        <p:nvSpPr>
          <p:cNvPr id="10" name="Shape 2">
            <a:extLst>
              <a:ext uri="{FF2B5EF4-FFF2-40B4-BE49-F238E27FC236}">
                <a16:creationId xmlns:a16="http://schemas.microsoft.com/office/drawing/2014/main" id="{6F415D5D-946D-09DF-66CE-D090934A43C0}"/>
              </a:ext>
            </a:extLst>
          </p:cNvPr>
          <p:cNvSpPr/>
          <p:nvPr/>
        </p:nvSpPr>
        <p:spPr>
          <a:xfrm>
            <a:off x="2691766" y="1314450"/>
            <a:ext cx="5199221" cy="0"/>
          </a:xfrm>
          <a:prstGeom prst="line">
            <a:avLst/>
          </a:prstGeom>
          <a:noFill/>
          <a:ln w="12700">
            <a:solidFill>
              <a:srgbClr val="000000">
                <a:alpha val="30000"/>
              </a:srgbClr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3">
            <a:extLst>
              <a:ext uri="{FF2B5EF4-FFF2-40B4-BE49-F238E27FC236}">
                <a16:creationId xmlns:a16="http://schemas.microsoft.com/office/drawing/2014/main" id="{664025EC-65C9-9211-4016-48741FF4C36E}"/>
              </a:ext>
            </a:extLst>
          </p:cNvPr>
          <p:cNvSpPr/>
          <p:nvPr/>
        </p:nvSpPr>
        <p:spPr>
          <a:xfrm>
            <a:off x="1810086" y="1515926"/>
            <a:ext cx="1056047" cy="4114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3240"/>
              </a:lnSpc>
            </a:pPr>
            <a:r>
              <a:rPr lang="en-US" sz="2813" kern="0" spc="-169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1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4" name="Text 4">
            <a:extLst>
              <a:ext uri="{FF2B5EF4-FFF2-40B4-BE49-F238E27FC236}">
                <a16:creationId xmlns:a16="http://schemas.microsoft.com/office/drawing/2014/main" id="{2FC4D74E-85DD-C689-5924-2D55363F9526}"/>
              </a:ext>
            </a:extLst>
          </p:cNvPr>
          <p:cNvSpPr/>
          <p:nvPr/>
        </p:nvSpPr>
        <p:spPr>
          <a:xfrm>
            <a:off x="3219257" y="1517266"/>
            <a:ext cx="4778834" cy="1645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96"/>
              </a:lnSpc>
            </a:pPr>
            <a:r>
              <a:rPr lang="en-US" sz="1125" kern="0" spc="-6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Disponibilidad (SLA)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E77D86EB-0F30-CCDC-8FFC-4BDED8B8C1D1}"/>
              </a:ext>
            </a:extLst>
          </p:cNvPr>
          <p:cNvSpPr/>
          <p:nvPr/>
        </p:nvSpPr>
        <p:spPr>
          <a:xfrm>
            <a:off x="3219257" y="1751893"/>
            <a:ext cx="4778834" cy="17580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85"/>
              </a:lnSpc>
              <a:spcBef>
                <a:spcPts val="542"/>
              </a:spcBef>
            </a:pPr>
            <a: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Enfoque en métricas de infraestructura, tiempos de respuesta y uptime.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18" name="Image 1" descr="-576e059e.png">
            <a:extLst>
              <a:ext uri="{FF2B5EF4-FFF2-40B4-BE49-F238E27FC236}">
                <a16:creationId xmlns:a16="http://schemas.microsoft.com/office/drawing/2014/main" id="{66758A8A-1321-6E4D-C07B-51F910C68F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519" y="2171701"/>
            <a:ext cx="2150269" cy="821531"/>
          </a:xfrm>
          <a:prstGeom prst="rect">
            <a:avLst/>
          </a:prstGeom>
        </p:spPr>
      </p:pic>
      <p:sp>
        <p:nvSpPr>
          <p:cNvPr id="20" name="Shape 6">
            <a:extLst>
              <a:ext uri="{FF2B5EF4-FFF2-40B4-BE49-F238E27FC236}">
                <a16:creationId xmlns:a16="http://schemas.microsoft.com/office/drawing/2014/main" id="{CAD50FDA-FF2E-4B19-A166-D175F178F228}"/>
              </a:ext>
            </a:extLst>
          </p:cNvPr>
          <p:cNvSpPr/>
          <p:nvPr/>
        </p:nvSpPr>
        <p:spPr>
          <a:xfrm>
            <a:off x="3134321" y="2150269"/>
            <a:ext cx="4756666" cy="0"/>
          </a:xfrm>
          <a:prstGeom prst="line">
            <a:avLst/>
          </a:prstGeom>
          <a:noFill/>
          <a:ln w="12700">
            <a:solidFill>
              <a:srgbClr val="000000">
                <a:alpha val="30000"/>
              </a:srgbClr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2F8F3533-A6DB-0C1E-2A8B-0E099A1ECB2E}"/>
              </a:ext>
            </a:extLst>
          </p:cNvPr>
          <p:cNvSpPr/>
          <p:nvPr/>
        </p:nvSpPr>
        <p:spPr>
          <a:xfrm>
            <a:off x="1367530" y="2380320"/>
            <a:ext cx="1941203" cy="4114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3240"/>
              </a:lnSpc>
            </a:pPr>
            <a:r>
              <a:rPr lang="en-US" sz="2813" kern="0" spc="-169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2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DB4D4D6C-2FB4-96DD-6493-5BEF8AAB3D82}"/>
              </a:ext>
            </a:extLst>
          </p:cNvPr>
          <p:cNvSpPr/>
          <p:nvPr/>
        </p:nvSpPr>
        <p:spPr>
          <a:xfrm>
            <a:off x="3661812" y="2295935"/>
            <a:ext cx="4336256" cy="1645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96"/>
              </a:lnSpc>
            </a:pPr>
            <a:r>
              <a:rPr lang="en-US" sz="1125" kern="0" spc="-6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Rendimiento Operativo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CFF06D17-F199-13C7-4523-F06CE7BADBD4}"/>
              </a:ext>
            </a:extLst>
          </p:cNvPr>
          <p:cNvSpPr/>
          <p:nvPr/>
        </p:nvSpPr>
        <p:spPr>
          <a:xfrm>
            <a:off x="3661812" y="2530562"/>
            <a:ext cx="4492280" cy="35160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85"/>
              </a:lnSpc>
              <a:spcBef>
                <a:spcPts val="542"/>
              </a:spcBef>
            </a:pPr>
            <a: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Eficiencia en la resolución de tickets y cumplimiento de procedimientos</a:t>
            </a:r>
            <a:b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internos.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28" name="Image 2" descr="2d3300a2.png">
            <a:extLst>
              <a:ext uri="{FF2B5EF4-FFF2-40B4-BE49-F238E27FC236}">
                <a16:creationId xmlns:a16="http://schemas.microsoft.com/office/drawing/2014/main" id="{18A776DE-F564-5E84-C625-93CAAF4010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964" y="3036094"/>
            <a:ext cx="3036094" cy="821531"/>
          </a:xfrm>
          <a:prstGeom prst="rect">
            <a:avLst/>
          </a:prstGeom>
        </p:spPr>
      </p:pic>
      <p:sp>
        <p:nvSpPr>
          <p:cNvPr id="30" name="Shape 10">
            <a:extLst>
              <a:ext uri="{FF2B5EF4-FFF2-40B4-BE49-F238E27FC236}">
                <a16:creationId xmlns:a16="http://schemas.microsoft.com/office/drawing/2014/main" id="{9F8F91C5-A94A-7FCC-0038-26343D51D55D}"/>
              </a:ext>
            </a:extLst>
          </p:cNvPr>
          <p:cNvSpPr/>
          <p:nvPr/>
        </p:nvSpPr>
        <p:spPr>
          <a:xfrm>
            <a:off x="3576877" y="3014663"/>
            <a:ext cx="4314110" cy="0"/>
          </a:xfrm>
          <a:prstGeom prst="line">
            <a:avLst/>
          </a:prstGeom>
          <a:noFill/>
          <a:ln w="12700">
            <a:solidFill>
              <a:srgbClr val="000000">
                <a:alpha val="30000"/>
              </a:srgbClr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32" name="Text 11">
            <a:extLst>
              <a:ext uri="{FF2B5EF4-FFF2-40B4-BE49-F238E27FC236}">
                <a16:creationId xmlns:a16="http://schemas.microsoft.com/office/drawing/2014/main" id="{1DAFD5F7-F222-9D22-665D-876D214A0F21}"/>
              </a:ext>
            </a:extLst>
          </p:cNvPr>
          <p:cNvSpPr/>
          <p:nvPr/>
        </p:nvSpPr>
        <p:spPr>
          <a:xfrm>
            <a:off x="924974" y="3244714"/>
            <a:ext cx="2826246" cy="4114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3240"/>
              </a:lnSpc>
            </a:pPr>
            <a:r>
              <a:rPr lang="en-US" sz="2813" kern="0" spc="-169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3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4" name="Text 12">
            <a:extLst>
              <a:ext uri="{FF2B5EF4-FFF2-40B4-BE49-F238E27FC236}">
                <a16:creationId xmlns:a16="http://schemas.microsoft.com/office/drawing/2014/main" id="{2785802B-9BB5-2D27-E508-8A7AE545ED2C}"/>
              </a:ext>
            </a:extLst>
          </p:cNvPr>
          <p:cNvSpPr/>
          <p:nvPr/>
        </p:nvSpPr>
        <p:spPr>
          <a:xfrm>
            <a:off x="4104367" y="3160329"/>
            <a:ext cx="3893678" cy="1645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96"/>
              </a:lnSpc>
            </a:pPr>
            <a:r>
              <a:rPr lang="en-US" sz="1125" kern="0" spc="-6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Calidad de Servicio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6" name="Text 13">
            <a:extLst>
              <a:ext uri="{FF2B5EF4-FFF2-40B4-BE49-F238E27FC236}">
                <a16:creationId xmlns:a16="http://schemas.microsoft.com/office/drawing/2014/main" id="{7D428D3A-08A3-42B5-4C93-F87617DEE772}"/>
              </a:ext>
            </a:extLst>
          </p:cNvPr>
          <p:cNvSpPr/>
          <p:nvPr/>
        </p:nvSpPr>
        <p:spPr>
          <a:xfrm>
            <a:off x="4104367" y="3394956"/>
            <a:ext cx="3893678" cy="35160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85"/>
              </a:lnSpc>
              <a:spcBef>
                <a:spcPts val="542"/>
              </a:spcBef>
            </a:pPr>
            <a: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Medición del sentimiento del usuario y facilidad de uso de las</a:t>
            </a:r>
            <a:b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herramientas.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38" name="Image 3" descr="19a256e2.png">
            <a:extLst>
              <a:ext uri="{FF2B5EF4-FFF2-40B4-BE49-F238E27FC236}">
                <a16:creationId xmlns:a16="http://schemas.microsoft.com/office/drawing/2014/main" id="{0F7DE19C-CB6B-B07F-0866-436E3051CD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408" y="3900488"/>
            <a:ext cx="3921919" cy="821531"/>
          </a:xfrm>
          <a:prstGeom prst="rect">
            <a:avLst/>
          </a:prstGeom>
        </p:spPr>
      </p:pic>
      <p:sp>
        <p:nvSpPr>
          <p:cNvPr id="40" name="Shape 14">
            <a:extLst>
              <a:ext uri="{FF2B5EF4-FFF2-40B4-BE49-F238E27FC236}">
                <a16:creationId xmlns:a16="http://schemas.microsoft.com/office/drawing/2014/main" id="{49A45BAE-867C-BEA5-EA87-B1F1C3050E8D}"/>
              </a:ext>
            </a:extLst>
          </p:cNvPr>
          <p:cNvSpPr/>
          <p:nvPr/>
        </p:nvSpPr>
        <p:spPr>
          <a:xfrm>
            <a:off x="4019431" y="3879056"/>
            <a:ext cx="3871556" cy="0"/>
          </a:xfrm>
          <a:prstGeom prst="line">
            <a:avLst/>
          </a:prstGeom>
          <a:noFill/>
          <a:ln w="12700">
            <a:solidFill>
              <a:srgbClr val="000000">
                <a:alpha val="30000"/>
              </a:srgbClr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42" name="Text 15">
            <a:extLst>
              <a:ext uri="{FF2B5EF4-FFF2-40B4-BE49-F238E27FC236}">
                <a16:creationId xmlns:a16="http://schemas.microsoft.com/office/drawing/2014/main" id="{C7616935-AD33-1F1F-69AD-4678224AC29B}"/>
              </a:ext>
            </a:extLst>
          </p:cNvPr>
          <p:cNvSpPr/>
          <p:nvPr/>
        </p:nvSpPr>
        <p:spPr>
          <a:xfrm>
            <a:off x="482419" y="4109108"/>
            <a:ext cx="3711401" cy="4114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3240"/>
              </a:lnSpc>
            </a:pPr>
            <a:r>
              <a:rPr lang="en-US" sz="2813" kern="0" spc="-169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4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C0180383-0D86-6A0D-DD6D-AE5F682B016A}"/>
              </a:ext>
            </a:extLst>
          </p:cNvPr>
          <p:cNvSpPr/>
          <p:nvPr/>
        </p:nvSpPr>
        <p:spPr>
          <a:xfrm>
            <a:off x="4546923" y="4024722"/>
            <a:ext cx="3451213" cy="1645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96"/>
              </a:lnSpc>
            </a:pPr>
            <a:r>
              <a:rPr lang="en-US" sz="1125" kern="0" spc="-6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Valor de Negocio (XLA)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6" name="Text 17">
            <a:extLst>
              <a:ext uri="{FF2B5EF4-FFF2-40B4-BE49-F238E27FC236}">
                <a16:creationId xmlns:a16="http://schemas.microsoft.com/office/drawing/2014/main" id="{5BC9BA03-72A7-03E3-DEA0-5FDE6959F0B8}"/>
              </a:ext>
            </a:extLst>
          </p:cNvPr>
          <p:cNvSpPr/>
          <p:nvPr/>
        </p:nvSpPr>
        <p:spPr>
          <a:xfrm>
            <a:off x="4546923" y="4259349"/>
            <a:ext cx="3451213" cy="35160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85"/>
              </a:lnSpc>
              <a:spcBef>
                <a:spcPts val="542"/>
              </a:spcBef>
            </a:pPr>
            <a: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Impacto real de la tecnología en la productividad y</a:t>
            </a:r>
            <a:b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resultados organizacionales.</a:t>
            </a:r>
            <a:endParaRPr lang="en-US" sz="1013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23497935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A47E7F-9AB6-5D4E-21FF-77F38153A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err="1"/>
              <a:t>Agentic</a:t>
            </a:r>
            <a:r>
              <a:rPr lang="es-ES"/>
              <a:t> AI: Estado Real de Adopción 2025–2026</a:t>
            </a:r>
            <a:endParaRPr lang="en-US"/>
          </a:p>
        </p:txBody>
      </p:sp>
      <p:sp>
        <p:nvSpPr>
          <p:cNvPr id="203" name="rec203"/>
          <p:cNvSpPr/>
          <p:nvPr/>
        </p:nvSpPr>
        <p:spPr>
          <a:xfrm>
            <a:off x="361900" y="663686"/>
            <a:ext cx="8344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r>
              <a:rPr lang="es-ES" sz="1200" spc="-25">
                <a:solidFill>
                  <a:srgbClr val="595959"/>
                </a:solidFill>
                <a:latin typeface="Reddit Sans"/>
                <a:ea typeface="Reddit Sans"/>
              </a:rPr>
              <a:t>Estado real de adopción 2025–2026  ·  Brecha entre experimentación y producción plena</a:t>
            </a:r>
          </a:p>
        </p:txBody>
      </p:sp>
      <p:sp>
        <p:nvSpPr>
          <p:cNvPr id="204" name="rec204"/>
          <p:cNvSpPr/>
          <p:nvPr/>
        </p:nvSpPr>
        <p:spPr>
          <a:xfrm>
            <a:off x="397786" y="1103871"/>
            <a:ext cx="1650000" cy="1650000"/>
          </a:xfrm>
          <a:prstGeom prst="ellipse">
            <a:avLst/>
          </a:prstGeom>
          <a:solidFill>
            <a:srgbClr val="D3E4E4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05" name="rec205"/>
          <p:cNvSpPr/>
          <p:nvPr/>
        </p:nvSpPr>
        <p:spPr>
          <a:xfrm>
            <a:off x="572786" y="1278871"/>
            <a:ext cx="1300000" cy="1300000"/>
          </a:xfrm>
          <a:prstGeom prst="ellipse">
            <a:avLst/>
          </a:prstGeom>
          <a:solidFill>
            <a:srgbClr val="BCD6D6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2400" b="1">
                <a:solidFill>
                  <a:srgbClr val="1F6F6F"/>
                </a:solidFill>
                <a:latin typeface="Reddit Sans"/>
                <a:ea typeface="Reddit Sans"/>
              </a:rPr>
              <a:t>51%</a:t>
            </a:r>
          </a:p>
          <a:p>
            <a:pPr algn="ctr">
              <a:spcBef>
                <a:spcPts val="100"/>
              </a:spcBef>
            </a:pPr>
            <a:r>
              <a:rPr lang="es-ES" sz="750">
                <a:solidFill>
                  <a:srgbClr val="3A5A5A"/>
                </a:solidFill>
                <a:latin typeface="Reddit Sans"/>
                <a:ea typeface="Reddit Sans"/>
              </a:rPr>
              <a:t>con agentes IA</a:t>
            </a:r>
          </a:p>
          <a:p>
            <a:pPr algn="ctr"/>
            <a:r>
              <a:rPr lang="es-ES" sz="750">
                <a:solidFill>
                  <a:srgbClr val="3A5A5A"/>
                </a:solidFill>
                <a:latin typeface="Reddit Sans"/>
                <a:ea typeface="Reddit Sans"/>
              </a:rPr>
              <a:t>desplegados</a:t>
            </a:r>
          </a:p>
        </p:txBody>
      </p:sp>
      <p:sp>
        <p:nvSpPr>
          <p:cNvPr id="206" name="rec206"/>
          <p:cNvSpPr/>
          <p:nvPr/>
        </p:nvSpPr>
        <p:spPr>
          <a:xfrm>
            <a:off x="572786" y="2758871"/>
            <a:ext cx="13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 fontScale="92500"/>
          </a:bodyPr>
          <a:lstStyle/>
          <a:p>
            <a:pPr algn="ctr"/>
            <a:r>
              <a:rPr lang="es-ES" sz="800">
                <a:solidFill>
                  <a:srgbClr val="6B6B6B"/>
                </a:solidFill>
                <a:latin typeface="Reddit Sans"/>
                <a:ea typeface="Reddit Sans"/>
              </a:rPr>
              <a:t>(alguna forma)</a:t>
            </a:r>
          </a:p>
          <a:p>
            <a:pPr algn="ctr">
              <a:spcBef>
                <a:spcPts val="300"/>
              </a:spcBef>
            </a:pPr>
            <a:r>
              <a:rPr lang="es-ES" sz="800">
                <a:solidFill>
                  <a:srgbClr val="6B6B6B"/>
                </a:solidFill>
                <a:latin typeface="Reddit Sans"/>
                <a:ea typeface="Reddit Sans"/>
              </a:rPr>
              <a:t>vs 79% aún experimentando</a:t>
            </a:r>
          </a:p>
        </p:txBody>
      </p:sp>
      <p:sp>
        <p:nvSpPr>
          <p:cNvPr id="207" name="rec207"/>
          <p:cNvSpPr/>
          <p:nvPr/>
        </p:nvSpPr>
        <p:spPr>
          <a:xfrm>
            <a:off x="1982786" y="1288871"/>
            <a:ext cx="1080000" cy="1080000"/>
          </a:xfrm>
          <a:prstGeom prst="ellipse">
            <a:avLst/>
          </a:prstGeom>
          <a:solidFill>
            <a:srgbClr val="D4DBE2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08" name="rec208"/>
          <p:cNvSpPr/>
          <p:nvPr/>
        </p:nvSpPr>
        <p:spPr>
          <a:xfrm>
            <a:off x="2112786" y="1418871"/>
            <a:ext cx="820000" cy="820000"/>
          </a:xfrm>
          <a:prstGeom prst="ellipse">
            <a:avLst/>
          </a:prstGeom>
          <a:solidFill>
            <a:srgbClr val="111F44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1600" b="1">
                <a:solidFill>
                  <a:srgbClr val="FFFFFF"/>
                </a:solidFill>
                <a:latin typeface="Reddit Sans"/>
                <a:ea typeface="Reddit Sans"/>
              </a:rPr>
              <a:t>11%</a:t>
            </a:r>
          </a:p>
          <a:p>
            <a:pPr algn="ctr">
              <a:spcBef>
                <a:spcPts val="80"/>
              </a:spcBef>
            </a:pPr>
            <a:r>
              <a:rPr lang="es-ES" sz="650">
                <a:solidFill>
                  <a:srgbClr val="C7D0DA"/>
                </a:solidFill>
                <a:latin typeface="Reddit Sans"/>
                <a:ea typeface="Reddit Sans"/>
              </a:rPr>
              <a:t>producción</a:t>
            </a:r>
          </a:p>
          <a:p>
            <a:pPr algn="ctr"/>
            <a:r>
              <a:rPr lang="es-ES" sz="650">
                <a:solidFill>
                  <a:srgbClr val="C7D0DA"/>
                </a:solidFill>
                <a:latin typeface="Reddit Sans"/>
                <a:ea typeface="Reddit Sans"/>
              </a:rPr>
              <a:t>plena</a:t>
            </a:r>
          </a:p>
        </p:txBody>
      </p:sp>
      <p:sp>
        <p:nvSpPr>
          <p:cNvPr id="209" name="rec209"/>
          <p:cNvSpPr/>
          <p:nvPr/>
        </p:nvSpPr>
        <p:spPr>
          <a:xfrm>
            <a:off x="1922786" y="2498871"/>
            <a:ext cx="12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ctr"/>
            <a:r>
              <a:rPr lang="es-ES" sz="800">
                <a:solidFill>
                  <a:srgbClr val="6B6B6B"/>
                </a:solidFill>
                <a:latin typeface="Reddit Sans"/>
                <a:ea typeface="Reddit Sans"/>
              </a:rPr>
              <a:t>producción total</a:t>
            </a:r>
          </a:p>
        </p:txBody>
      </p:sp>
      <p:sp>
        <p:nvSpPr>
          <p:cNvPr id="210" name="rec210"/>
          <p:cNvSpPr/>
          <p:nvPr/>
        </p:nvSpPr>
        <p:spPr>
          <a:xfrm>
            <a:off x="3132786" y="1318871"/>
            <a:ext cx="1120000" cy="1120000"/>
          </a:xfrm>
          <a:prstGeom prst="ellipse">
            <a:avLst/>
          </a:prstGeom>
          <a:solidFill>
            <a:srgbClr val="E4C4B8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1" name="rec211"/>
          <p:cNvSpPr/>
          <p:nvPr/>
        </p:nvSpPr>
        <p:spPr>
          <a:xfrm>
            <a:off x="3262786" y="1448871"/>
            <a:ext cx="860000" cy="860000"/>
          </a:xfrm>
          <a:prstGeom prst="ellipse">
            <a:avLst/>
          </a:prstGeom>
          <a:solidFill>
            <a:srgbClr val="D9B0A2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1500" b="1">
                <a:solidFill>
                  <a:srgbClr val="B0472B"/>
                </a:solidFill>
                <a:latin typeface="Reddit Sans"/>
                <a:ea typeface="Reddit Sans"/>
              </a:rPr>
              <a:t>&gt;40%</a:t>
            </a:r>
          </a:p>
          <a:p>
            <a:pPr algn="ctr">
              <a:spcBef>
                <a:spcPts val="80"/>
              </a:spcBef>
            </a:pPr>
            <a:r>
              <a:rPr lang="es-ES" sz="650">
                <a:solidFill>
                  <a:srgbClr val="8A5648"/>
                </a:solidFill>
                <a:latin typeface="Reddit Sans"/>
                <a:ea typeface="Reddit Sans"/>
              </a:rPr>
              <a:t>cancelados</a:t>
            </a:r>
          </a:p>
          <a:p>
            <a:pPr algn="ctr"/>
            <a:r>
              <a:rPr lang="es-ES" sz="650">
                <a:solidFill>
                  <a:srgbClr val="8A5648"/>
                </a:solidFill>
                <a:latin typeface="Reddit Sans"/>
                <a:ea typeface="Reddit Sans"/>
              </a:rPr>
              <a:t>hacia 2027</a:t>
            </a:r>
          </a:p>
        </p:txBody>
      </p:sp>
      <p:sp>
        <p:nvSpPr>
          <p:cNvPr id="212" name="rec212"/>
          <p:cNvSpPr/>
          <p:nvPr/>
        </p:nvSpPr>
        <p:spPr>
          <a:xfrm>
            <a:off x="3022786" y="2558871"/>
            <a:ext cx="14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ctr"/>
            <a:r>
              <a:rPr lang="es-ES" sz="800">
                <a:solidFill>
                  <a:srgbClr val="6B6B6B"/>
                </a:solidFill>
                <a:latin typeface="Reddit Sans"/>
                <a:ea typeface="Reddit Sans"/>
              </a:rPr>
              <a:t>por costo/gobernanza</a:t>
            </a:r>
          </a:p>
          <a:p>
            <a:pPr algn="ctr"/>
            <a:r>
              <a:rPr lang="es-ES" sz="750">
                <a:solidFill>
                  <a:srgbClr val="6B6B6B"/>
                </a:solidFill>
                <a:latin typeface="Reddit Sans"/>
                <a:ea typeface="Reddit Sans"/>
              </a:rPr>
              <a:t>(Gartner proyección)</a:t>
            </a:r>
          </a:p>
        </p:txBody>
      </p:sp>
      <p:sp>
        <p:nvSpPr>
          <p:cNvPr id="213" name="rec213"/>
          <p:cNvSpPr/>
          <p:nvPr/>
        </p:nvSpPr>
        <p:spPr>
          <a:xfrm>
            <a:off x="332786" y="3298871"/>
            <a:ext cx="4050000" cy="820000"/>
          </a:xfrm>
          <a:prstGeom prst="roundRect">
            <a:avLst>
              <a:gd name="adj" fmla="val 6000"/>
            </a:avLst>
          </a:prstGeom>
          <a:solidFill>
            <a:srgbClr val="EDEDED"/>
          </a:solidFill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ctr"/>
            <a:r>
              <a:rPr lang="es-ES" sz="950" b="1">
                <a:solidFill>
                  <a:srgbClr val="132346"/>
                </a:solidFill>
                <a:latin typeface="Reddit Sans"/>
                <a:ea typeface="Reddit Sans"/>
              </a:rPr>
              <a:t>ROI de Automatización ITSM</a:t>
            </a:r>
          </a:p>
          <a:p>
            <a:pPr algn="ctr"/>
            <a:endParaRPr lang="es-ES" sz="950" b="1">
              <a:solidFill>
                <a:srgbClr val="132346"/>
              </a:solidFill>
              <a:latin typeface="Reddit Sans"/>
              <a:ea typeface="Reddit Sans"/>
            </a:endParaRPr>
          </a:p>
          <a:p>
            <a:pPr algn="ctr">
              <a:spcBef>
                <a:spcPts val="120"/>
              </a:spcBef>
            </a:pPr>
            <a:r>
              <a:rPr lang="es-ES" sz="800" err="1">
                <a:solidFill>
                  <a:srgbClr val="555555"/>
                </a:solidFill>
                <a:latin typeface="Reddit Sans"/>
                <a:ea typeface="Reddit Sans"/>
              </a:rPr>
              <a:t>Payback</a:t>
            </a:r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 típico:</a:t>
            </a:r>
            <a:r>
              <a:rPr lang="es-ES" sz="800">
                <a:solidFill>
                  <a:srgbClr val="555555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4–9 meses </a:t>
            </a:r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· 19% de proyectos nunca alcanza ROI positivo</a:t>
            </a:r>
          </a:p>
          <a:p>
            <a:pPr algn="ctr"/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Contratos </a:t>
            </a:r>
            <a:r>
              <a:rPr lang="es-ES" sz="800" err="1">
                <a:solidFill>
                  <a:srgbClr val="555555"/>
                </a:solidFill>
                <a:latin typeface="Reddit Sans"/>
                <a:ea typeface="Reddit Sans"/>
              </a:rPr>
              <a:t>outcome-based</a:t>
            </a:r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: ~30% del mercado hacia 2029</a:t>
            </a:r>
          </a:p>
        </p:txBody>
      </p:sp>
      <p:sp>
        <p:nvSpPr>
          <p:cNvPr id="214" name="rec214"/>
          <p:cNvSpPr/>
          <p:nvPr/>
        </p:nvSpPr>
        <p:spPr>
          <a:xfrm>
            <a:off x="4689243" y="884700"/>
            <a:ext cx="418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250" b="1">
                <a:solidFill>
                  <a:srgbClr val="132346"/>
                </a:solidFill>
                <a:latin typeface="Reddit Sans"/>
                <a:ea typeface="Reddit Sans"/>
              </a:rPr>
              <a:t>Barreras y Casos de Éxito</a:t>
            </a:r>
          </a:p>
        </p:txBody>
      </p:sp>
      <p:sp>
        <p:nvSpPr>
          <p:cNvPr id="215" name="rec215"/>
          <p:cNvSpPr/>
          <p:nvPr/>
        </p:nvSpPr>
        <p:spPr>
          <a:xfrm>
            <a:off x="4689243" y="1164700"/>
            <a:ext cx="418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950" b="1">
                <a:solidFill>
                  <a:srgbClr val="944454"/>
                </a:solidFill>
                <a:latin typeface="Reddit Sans"/>
                <a:ea typeface="Reddit Sans"/>
              </a:rPr>
              <a:t>Principales barreras para producción plena:</a:t>
            </a:r>
          </a:p>
        </p:txBody>
      </p:sp>
      <p:sp>
        <p:nvSpPr>
          <p:cNvPr id="216" name="rec216"/>
          <p:cNvSpPr/>
          <p:nvPr/>
        </p:nvSpPr>
        <p:spPr>
          <a:xfrm>
            <a:off x="4689243" y="1424700"/>
            <a:ext cx="4180000" cy="300000"/>
          </a:xfrm>
          <a:prstGeom prst="roundRect">
            <a:avLst>
              <a:gd name="adj" fmla="val 40000"/>
            </a:avLst>
          </a:prstGeom>
          <a:solidFill>
            <a:srgbClr val="EDE4DE"/>
          </a:solidFill>
          <a:ln>
            <a:noFill/>
          </a:ln>
        </p:spPr>
        <p:txBody>
          <a:bodyPr wrap="square" lIns="45720" tIns="18000" rIns="45720" bIns="18000" anchor="ctr">
            <a:normAutofit lnSpcReduction="10000"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7" name="rec217"/>
          <p:cNvSpPr/>
          <p:nvPr/>
        </p:nvSpPr>
        <p:spPr>
          <a:xfrm>
            <a:off x="4689243" y="1424700"/>
            <a:ext cx="2173600" cy="300000"/>
          </a:xfrm>
          <a:prstGeom prst="roundRect">
            <a:avLst>
              <a:gd name="adj" fmla="val 40000"/>
            </a:avLst>
          </a:prstGeom>
          <a:solidFill>
            <a:srgbClr val="B85C45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52% Seguridad / Privacidad</a:t>
            </a:r>
          </a:p>
        </p:txBody>
      </p:sp>
      <p:sp>
        <p:nvSpPr>
          <p:cNvPr id="218" name="rec218"/>
          <p:cNvSpPr/>
          <p:nvPr/>
        </p:nvSpPr>
        <p:spPr>
          <a:xfrm>
            <a:off x="4689243" y="1794700"/>
            <a:ext cx="4180000" cy="300000"/>
          </a:xfrm>
          <a:prstGeom prst="roundRect">
            <a:avLst>
              <a:gd name="adj" fmla="val 40000"/>
            </a:avLst>
          </a:prstGeom>
          <a:solidFill>
            <a:srgbClr val="EDE4DE"/>
          </a:solidFill>
          <a:ln>
            <a:noFill/>
          </a:ln>
        </p:spPr>
        <p:txBody>
          <a:bodyPr wrap="square" lIns="45720" tIns="18000" rIns="45720" bIns="18000" anchor="ctr">
            <a:normAutofit lnSpcReduction="10000"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19" name="rec219"/>
          <p:cNvSpPr/>
          <p:nvPr/>
        </p:nvSpPr>
        <p:spPr>
          <a:xfrm>
            <a:off x="4689243" y="1794700"/>
            <a:ext cx="2131800" cy="300000"/>
          </a:xfrm>
          <a:prstGeom prst="roundRect">
            <a:avLst>
              <a:gd name="adj" fmla="val 40000"/>
            </a:avLst>
          </a:prstGeom>
          <a:solidFill>
            <a:srgbClr val="B85C45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51% Complejidad técnica</a:t>
            </a:r>
          </a:p>
        </p:txBody>
      </p:sp>
      <p:sp>
        <p:nvSpPr>
          <p:cNvPr id="220" name="rec220"/>
          <p:cNvSpPr/>
          <p:nvPr/>
        </p:nvSpPr>
        <p:spPr>
          <a:xfrm>
            <a:off x="4689243" y="2164700"/>
            <a:ext cx="4180000" cy="300000"/>
          </a:xfrm>
          <a:prstGeom prst="roundRect">
            <a:avLst>
              <a:gd name="adj" fmla="val 40000"/>
            </a:avLst>
          </a:prstGeom>
          <a:solidFill>
            <a:srgbClr val="EDE4DE"/>
          </a:solidFill>
          <a:ln>
            <a:noFill/>
          </a:ln>
        </p:spPr>
        <p:txBody>
          <a:bodyPr wrap="square" lIns="45720" tIns="18000" rIns="45720" bIns="18000" anchor="ctr">
            <a:normAutofit lnSpcReduction="10000"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21" name="rec221"/>
          <p:cNvSpPr/>
          <p:nvPr/>
        </p:nvSpPr>
        <p:spPr>
          <a:xfrm>
            <a:off x="4689243" y="2164700"/>
            <a:ext cx="1839200" cy="300000"/>
          </a:xfrm>
          <a:prstGeom prst="roundRect">
            <a:avLst>
              <a:gd name="adj" fmla="val 40000"/>
            </a:avLst>
          </a:prstGeom>
          <a:solidFill>
            <a:srgbClr val="B85C45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44% Falta de personal</a:t>
            </a:r>
          </a:p>
        </p:txBody>
      </p:sp>
      <p:sp>
        <p:nvSpPr>
          <p:cNvPr id="222" name="rec222"/>
          <p:cNvSpPr/>
          <p:nvPr/>
        </p:nvSpPr>
        <p:spPr>
          <a:xfrm>
            <a:off x="4716457" y="3296957"/>
            <a:ext cx="418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950" b="1">
                <a:solidFill>
                  <a:srgbClr val="132346"/>
                </a:solidFill>
                <a:latin typeface="Reddit Sans"/>
                <a:ea typeface="Reddit Sans"/>
              </a:rPr>
              <a:t>Casos documentados en producción:</a:t>
            </a:r>
          </a:p>
        </p:txBody>
      </p:sp>
      <p:sp>
        <p:nvSpPr>
          <p:cNvPr id="223" name="rec223"/>
          <p:cNvSpPr/>
          <p:nvPr/>
        </p:nvSpPr>
        <p:spPr>
          <a:xfrm>
            <a:off x="4716457" y="3547971"/>
            <a:ext cx="418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l"/>
            <a:r>
              <a:rPr lang="es-ES" sz="900" b="1">
                <a:solidFill>
                  <a:srgbClr val="20808D"/>
                </a:solidFill>
                <a:latin typeface="Reddit Sans"/>
                <a:ea typeface="Reddit Sans"/>
              </a:rPr>
              <a:t>Robinhood + ServiceNow</a:t>
            </a:r>
          </a:p>
          <a:p>
            <a:pPr algn="l">
              <a:spcBef>
                <a:spcPts val="80"/>
              </a:spcBef>
            </a:pPr>
            <a:r>
              <a:rPr lang="es-ES" sz="780">
                <a:solidFill>
                  <a:srgbClr val="555555"/>
                </a:solidFill>
                <a:latin typeface="Reddit Sans"/>
                <a:ea typeface="Reddit Sans"/>
              </a:rPr>
              <a:t>70% deflección · 2.200+ horas/mes eliminadas · 94% satisfacción empleados</a:t>
            </a:r>
          </a:p>
        </p:txBody>
      </p:sp>
      <p:sp>
        <p:nvSpPr>
          <p:cNvPr id="224" name="rec224"/>
          <p:cNvSpPr/>
          <p:nvPr/>
        </p:nvSpPr>
        <p:spPr>
          <a:xfrm>
            <a:off x="4716457" y="3863043"/>
            <a:ext cx="418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l"/>
            <a:r>
              <a:rPr lang="es-ES" sz="900" b="1">
                <a:solidFill>
                  <a:srgbClr val="20808D"/>
                </a:solidFill>
                <a:latin typeface="Reddit Sans"/>
                <a:ea typeface="Reddit Sans"/>
              </a:rPr>
              <a:t>Honeywell + </a:t>
            </a:r>
            <a:r>
              <a:rPr lang="es-ES" sz="900" b="1" err="1">
                <a:solidFill>
                  <a:srgbClr val="20808D"/>
                </a:solidFill>
                <a:latin typeface="Reddit Sans"/>
                <a:ea typeface="Reddit Sans"/>
              </a:rPr>
              <a:t>Moveworks</a:t>
            </a:r>
            <a:endParaRPr lang="es-ES" sz="900" b="1">
              <a:solidFill>
                <a:srgbClr val="20808D"/>
              </a:solidFill>
              <a:latin typeface="Reddit Sans"/>
              <a:ea typeface="Reddit Sans"/>
            </a:endParaRPr>
          </a:p>
          <a:p>
            <a:pPr algn="l">
              <a:spcBef>
                <a:spcPts val="80"/>
              </a:spcBef>
            </a:pPr>
            <a:r>
              <a:rPr lang="es-ES" sz="780">
                <a:solidFill>
                  <a:srgbClr val="555555"/>
                </a:solidFill>
                <a:latin typeface="Reddit Sans"/>
                <a:ea typeface="Reddit Sans"/>
              </a:rPr>
              <a:t>~80% volumen de tickets entrantes</a:t>
            </a:r>
          </a:p>
        </p:txBody>
      </p:sp>
      <p:sp>
        <p:nvSpPr>
          <p:cNvPr id="225" name="rec225"/>
          <p:cNvSpPr/>
          <p:nvPr/>
        </p:nvSpPr>
        <p:spPr>
          <a:xfrm>
            <a:off x="4716457" y="4205328"/>
            <a:ext cx="418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l"/>
            <a:r>
              <a:rPr lang="es-ES" sz="900" b="1">
                <a:solidFill>
                  <a:srgbClr val="20808D"/>
                </a:solidFill>
                <a:latin typeface="Reddit Sans"/>
                <a:ea typeface="Reddit Sans"/>
              </a:rPr>
              <a:t>Salesforce + </a:t>
            </a:r>
            <a:r>
              <a:rPr lang="es-ES" sz="900" b="1" err="1">
                <a:solidFill>
                  <a:srgbClr val="20808D"/>
                </a:solidFill>
                <a:latin typeface="Reddit Sans"/>
                <a:ea typeface="Reddit Sans"/>
              </a:rPr>
              <a:t>Agentforce</a:t>
            </a:r>
          </a:p>
          <a:p>
            <a:pPr algn="l">
              <a:spcBef>
                <a:spcPts val="80"/>
              </a:spcBef>
            </a:pPr>
            <a:r>
              <a:rPr lang="es-ES" sz="780">
                <a:solidFill>
                  <a:srgbClr val="555555"/>
                </a:solidFill>
                <a:latin typeface="Reddit Sans"/>
                <a:ea typeface="Reddit Sans"/>
              </a:rPr>
              <a:t>84% de 380K interacciones resueltas autónomamente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DD5CDC0-E9F1-6898-0A54-17E0FAE56016}"/>
              </a:ext>
            </a:extLst>
          </p:cNvPr>
          <p:cNvSpPr txBox="1"/>
          <p:nvPr/>
        </p:nvSpPr>
        <p:spPr>
          <a:xfrm>
            <a:off x="245609" y="4593431"/>
            <a:ext cx="871945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/>
              <a:t>Fuente: </a:t>
            </a:r>
            <a:r>
              <a:rPr lang="es-ES" sz="600">
                <a:solidFill>
                  <a:srgbClr val="2F81F7"/>
                </a:solidFill>
                <a:hlinkClick r:id="rId3"/>
              </a:rPr>
              <a:t>Brilo AI (vía G2/OneReach.ai)</a:t>
            </a:r>
            <a:r>
              <a:rPr lang="es-ES" sz="600"/>
              <a:t> , </a:t>
            </a:r>
            <a:r>
              <a:rPr lang="es-ES" sz="600">
                <a:solidFill>
                  <a:srgbClr val="2F81F7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Brilo AI (vía </a:t>
            </a:r>
            <a:r>
              <a:rPr lang="es-ES" sz="600">
                <a:solidFill>
                  <a:srgbClr val="2F81F7"/>
                </a:solidFill>
                <a:hlinkClick r:id="rId3"/>
              </a:rPr>
              <a:t>Digital Applied</a:t>
            </a:r>
            <a:r>
              <a:rPr lang="es-ES" sz="600">
                <a:solidFill>
                  <a:srgbClr val="2F81F7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)</a:t>
            </a:r>
            <a:r>
              <a:rPr lang="es-ES" sz="600"/>
              <a:t> , </a:t>
            </a:r>
            <a:r>
              <a:rPr lang="es-ES" sz="600">
                <a:solidFill>
                  <a:srgbClr val="2F81F7"/>
                </a:solidFill>
                <a:hlinkClick r:id="rId3"/>
              </a:rPr>
              <a:t>Gartner, vía Brilo AI</a:t>
            </a:r>
            <a:r>
              <a:rPr lang="es-ES" sz="600">
                <a:solidFill>
                  <a:srgbClr val="2F81F7"/>
                </a:solidFill>
              </a:rPr>
              <a:t> , </a:t>
            </a:r>
            <a:r>
              <a:rPr lang="es-ES" sz="600">
                <a:solidFill>
                  <a:srgbClr val="2F81F7"/>
                </a:solidFill>
                <a:hlinkClick r:id="rId4"/>
              </a:rPr>
              <a:t>Dynatrace — Pulse of Agentic AI 2026</a:t>
            </a:r>
            <a:r>
              <a:rPr lang="es-ES" sz="600"/>
              <a:t> </a:t>
            </a:r>
          </a:p>
          <a:p>
            <a:r>
              <a:rPr lang="es-ES" sz="600"/>
              <a:t>, </a:t>
            </a:r>
            <a:r>
              <a:rPr lang="es-ES" sz="600">
                <a:latin typeface="Segoe UI"/>
                <a:cs typeface="Segoe UI"/>
                <a:hlinkClick r:id="rId5"/>
              </a:rPr>
              <a:t>https://www.iso.org/standard/42001</a:t>
            </a:r>
            <a:r>
              <a:rPr lang="es-ES" sz="600"/>
              <a:t> , </a:t>
            </a:r>
            <a:r>
              <a:rPr lang="es-ES" sz="600">
                <a:latin typeface="Segoe UI"/>
                <a:cs typeface="Segoe UI"/>
                <a:hlinkClick r:id="rId6"/>
              </a:rPr>
              <a:t>https://www.siit.io/blog/benefits-of-outsourcing-help-desk-services  </a:t>
            </a:r>
            <a:r>
              <a:rPr lang="es-ES" sz="600">
                <a:latin typeface="Segoe UI"/>
                <a:cs typeface="Segoe UI"/>
              </a:rPr>
              <a:t>,</a:t>
            </a:r>
            <a:r>
              <a:rPr lang="es-ES" sz="600"/>
              <a:t> </a:t>
            </a:r>
            <a:r>
              <a:rPr lang="es-ES" sz="600">
                <a:latin typeface="Segoe UI"/>
                <a:cs typeface="Segoe UI"/>
                <a:hlinkClick r:id="rId7"/>
              </a:rPr>
              <a:t>https://www.superfinanciera.gov.co/publicaciones/10116081/finanzas-abiertas-obligatorias-impulsaran-el-desarrollo-del-sistema-y-la-inclusion-financiera-en-el-pais/</a:t>
            </a:r>
            <a:r>
              <a:rPr lang="es-ES" sz="600"/>
              <a:t>, </a:t>
            </a:r>
            <a:r>
              <a:rPr lang="es-ES" sz="600">
                <a:latin typeface="Segoe UI"/>
                <a:cs typeface="Segoe UI"/>
                <a:hlinkClick r:id="rId8"/>
              </a:rPr>
              <a:t>https://www.marketreportsworld.com/</a:t>
            </a:r>
            <a:endParaRPr lang="es-ES" sz="800"/>
          </a:p>
        </p:txBody>
      </p:sp>
      <p:sp>
        <p:nvSpPr>
          <p:cNvPr id="22" name="rec218">
            <a:extLst>
              <a:ext uri="{FF2B5EF4-FFF2-40B4-BE49-F238E27FC236}">
                <a16:creationId xmlns:a16="http://schemas.microsoft.com/office/drawing/2014/main" id="{212D5787-53B2-E9AD-9B6E-A295D894C870}"/>
              </a:ext>
            </a:extLst>
          </p:cNvPr>
          <p:cNvSpPr/>
          <p:nvPr/>
        </p:nvSpPr>
        <p:spPr>
          <a:xfrm>
            <a:off x="4689243" y="2524043"/>
            <a:ext cx="4180000" cy="300000"/>
          </a:xfrm>
          <a:prstGeom prst="roundRect">
            <a:avLst>
              <a:gd name="adj" fmla="val 40000"/>
            </a:avLst>
          </a:prstGeom>
          <a:solidFill>
            <a:srgbClr val="EDE4DE"/>
          </a:solidFill>
          <a:ln>
            <a:noFill/>
          </a:ln>
        </p:spPr>
        <p:txBody>
          <a:bodyPr wrap="square" lIns="45720" tIns="18000" rIns="45720" bIns="18000" anchor="ctr">
            <a:normAutofit lnSpcReduction="10000"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3" name="rec219">
            <a:extLst>
              <a:ext uri="{FF2B5EF4-FFF2-40B4-BE49-F238E27FC236}">
                <a16:creationId xmlns:a16="http://schemas.microsoft.com/office/drawing/2014/main" id="{F42B0093-4E78-FF55-D070-216DBD5DD605}"/>
              </a:ext>
            </a:extLst>
          </p:cNvPr>
          <p:cNvSpPr/>
          <p:nvPr/>
        </p:nvSpPr>
        <p:spPr>
          <a:xfrm>
            <a:off x="4689242" y="2529486"/>
            <a:ext cx="2512801" cy="294558"/>
          </a:xfrm>
          <a:prstGeom prst="roundRect">
            <a:avLst>
              <a:gd name="adj" fmla="val 40000"/>
            </a:avLst>
          </a:prstGeom>
          <a:solidFill>
            <a:srgbClr val="B85C45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63% Regulatorios</a:t>
            </a:r>
          </a:p>
        </p:txBody>
      </p:sp>
      <p:sp>
        <p:nvSpPr>
          <p:cNvPr id="24" name="rec220">
            <a:extLst>
              <a:ext uri="{FF2B5EF4-FFF2-40B4-BE49-F238E27FC236}">
                <a16:creationId xmlns:a16="http://schemas.microsoft.com/office/drawing/2014/main" id="{53899979-C7FF-7F28-AC8B-216A44B0AC25}"/>
              </a:ext>
            </a:extLst>
          </p:cNvPr>
          <p:cNvSpPr/>
          <p:nvPr/>
        </p:nvSpPr>
        <p:spPr>
          <a:xfrm>
            <a:off x="4689243" y="2894043"/>
            <a:ext cx="4180000" cy="300000"/>
          </a:xfrm>
          <a:prstGeom prst="roundRect">
            <a:avLst>
              <a:gd name="adj" fmla="val 40000"/>
            </a:avLst>
          </a:prstGeom>
          <a:solidFill>
            <a:srgbClr val="EDE4DE"/>
          </a:solidFill>
          <a:ln>
            <a:noFill/>
          </a:ln>
        </p:spPr>
        <p:txBody>
          <a:bodyPr wrap="square" lIns="45720" tIns="18000" rIns="45720" bIns="18000" anchor="ctr">
            <a:normAutofit lnSpcReduction="10000"/>
          </a:bodyPr>
          <a:lstStyle/>
          <a:p>
            <a:endParaRPr lang="es-ES">
              <a:latin typeface="Reddit Sans"/>
              <a:ea typeface="Reddit Sans"/>
            </a:endParaRPr>
          </a:p>
        </p:txBody>
      </p:sp>
      <p:sp>
        <p:nvSpPr>
          <p:cNvPr id="25" name="rec221">
            <a:extLst>
              <a:ext uri="{FF2B5EF4-FFF2-40B4-BE49-F238E27FC236}">
                <a16:creationId xmlns:a16="http://schemas.microsoft.com/office/drawing/2014/main" id="{E3E155CB-A915-0568-015D-7B0F64D7B4CF}"/>
              </a:ext>
            </a:extLst>
          </p:cNvPr>
          <p:cNvSpPr/>
          <p:nvPr/>
        </p:nvSpPr>
        <p:spPr>
          <a:xfrm>
            <a:off x="4705571" y="2894043"/>
            <a:ext cx="2726386" cy="310885"/>
          </a:xfrm>
          <a:prstGeom prst="roundRect">
            <a:avLst>
              <a:gd name="adj" fmla="val 40000"/>
            </a:avLst>
          </a:prstGeom>
          <a:solidFill>
            <a:srgbClr val="B85C45"/>
          </a:solidFill>
          <a:ln>
            <a:noFill/>
          </a:ln>
        </p:spPr>
        <p:txBody>
          <a:bodyPr wrap="square" lIns="45720" tIns="18000" rIns="45720" bIns="18000" anchor="ctr">
            <a:no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68% Barrera de entrada: Cambio de proveedor</a:t>
            </a:r>
          </a:p>
        </p:txBody>
      </p:sp>
    </p:spTree>
    <p:extLst>
      <p:ext uri="{BB962C8B-B14F-4D97-AF65-F5344CB8AC3E}">
        <p14:creationId xmlns:p14="http://schemas.microsoft.com/office/powerpoint/2010/main" val="13907787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16C00-F63D-59BE-9C91-40270F2E2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CE8F5D-9C69-D5D7-AB68-3356A36A3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Roadmap de </a:t>
            </a:r>
            <a:r>
              <a:rPr lang="en-US" sz="1800" err="1"/>
              <a:t>madurez</a:t>
            </a:r>
            <a:r>
              <a:rPr lang="en-US" sz="1800"/>
              <a:t> y barreras de </a:t>
            </a:r>
            <a:r>
              <a:rPr lang="en-US" sz="1800" err="1"/>
              <a:t>adopción</a:t>
            </a:r>
            <a:endParaRPr lang="es-ES" sz="1800" err="1"/>
          </a:p>
        </p:txBody>
      </p:sp>
      <p:sp>
        <p:nvSpPr>
          <p:cNvPr id="5" name="src">
            <a:extLst>
              <a:ext uri="{FF2B5EF4-FFF2-40B4-BE49-F238E27FC236}">
                <a16:creationId xmlns:a16="http://schemas.microsoft.com/office/drawing/2014/main" id="{B9FE5455-EAB1-C0EF-45B4-625E33B5D925}"/>
              </a:ext>
            </a:extLst>
          </p:cNvPr>
          <p:cNvSpPr txBox="1">
            <a:spLocks noGrp="1"/>
          </p:cNvSpPr>
          <p:nvPr/>
        </p:nvSpPr>
        <p:spPr>
          <a:xfrm>
            <a:off x="320040" y="4658215"/>
            <a:ext cx="7680960" cy="1645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es-ES" sz="750">
                <a:solidFill>
                  <a:srgbClr val="6B7280"/>
                </a:solidFill>
                <a:highlight>
                  <a:srgbClr val="FFFF00"/>
                </a:highlight>
                <a:latin typeface="Calibri"/>
              </a:rPr>
              <a:t>Fuente: </a:t>
            </a:r>
            <a:endParaRPr lang="es-ES" sz="750" u="sng">
              <a:solidFill>
                <a:srgbClr val="1A3A8F"/>
              </a:solidFill>
              <a:latin typeface="Calibri"/>
            </a:endParaRPr>
          </a:p>
        </p:txBody>
      </p:sp>
      <p:sp>
        <p:nvSpPr>
          <p:cNvPr id="11" name="Flecha: a la derecha 10">
            <a:extLst>
              <a:ext uri="{FF2B5EF4-FFF2-40B4-BE49-F238E27FC236}">
                <a16:creationId xmlns:a16="http://schemas.microsoft.com/office/drawing/2014/main" id="{B7AE3DE0-FDCD-5BDE-EA95-EBEEDA72441F}"/>
              </a:ext>
            </a:extLst>
          </p:cNvPr>
          <p:cNvSpPr/>
          <p:nvPr/>
        </p:nvSpPr>
        <p:spPr>
          <a:xfrm>
            <a:off x="736308" y="1556778"/>
            <a:ext cx="7043991" cy="507624"/>
          </a:xfrm>
          <a:prstGeom prst="rightArrow">
            <a:avLst/>
          </a:prstGeom>
          <a:solidFill>
            <a:srgbClr val="CBACE3"/>
          </a:solidFill>
          <a:ln>
            <a:solidFill>
              <a:srgbClr val="CBAC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/>
            <a:endParaRPr lang="es-ES"/>
          </a:p>
        </p:txBody>
      </p:sp>
      <p:sp>
        <p:nvSpPr>
          <p:cNvPr id="15" name="Circle0">
            <a:extLst>
              <a:ext uri="{FF2B5EF4-FFF2-40B4-BE49-F238E27FC236}">
                <a16:creationId xmlns:a16="http://schemas.microsoft.com/office/drawing/2014/main" id="{1DD7BEF3-62E3-F22A-B657-21B4AB393174}"/>
              </a:ext>
            </a:extLst>
          </p:cNvPr>
          <p:cNvSpPr/>
          <p:nvPr/>
        </p:nvSpPr>
        <p:spPr>
          <a:xfrm>
            <a:off x="408485" y="1116058"/>
            <a:ext cx="1323771" cy="1285671"/>
          </a:xfrm>
          <a:prstGeom prst="ellipse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1000" b="1">
                <a:solidFill>
                  <a:srgbClr val="FFFFFF"/>
                </a:solidFill>
                <a:latin typeface="Reddit Sans"/>
                <a:ea typeface="Reddit Sans"/>
              </a:rPr>
              <a:t>Fase de Automatización Cognitiva </a:t>
            </a:r>
            <a:endParaRPr lang="es-ES" sz="1000">
              <a:solidFill>
                <a:srgbClr val="FFFFFF"/>
              </a:solidFill>
              <a:ea typeface="Reddit Sans"/>
            </a:endParaRPr>
          </a:p>
          <a:p>
            <a:pPr algn="ctr"/>
            <a:r>
              <a:rPr lang="en-US" sz="1000" b="1">
                <a:solidFill>
                  <a:srgbClr val="FFFFFF"/>
                </a:solidFill>
                <a:latin typeface="Reddit Sans"/>
                <a:ea typeface="Reddit Sans"/>
              </a:rPr>
              <a:t>2025</a:t>
            </a:r>
            <a:endParaRPr lang="es-ES" sz="1000">
              <a:solidFill>
                <a:srgbClr val="FFFFFF"/>
              </a:solidFill>
            </a:endParaRPr>
          </a:p>
        </p:txBody>
      </p:sp>
      <p:sp>
        <p:nvSpPr>
          <p:cNvPr id="19" name="Circle1">
            <a:extLst>
              <a:ext uri="{FF2B5EF4-FFF2-40B4-BE49-F238E27FC236}">
                <a16:creationId xmlns:a16="http://schemas.microsoft.com/office/drawing/2014/main" id="{C3D3155B-9B9B-DF9C-1572-ED5EA03E08E6}"/>
              </a:ext>
            </a:extLst>
          </p:cNvPr>
          <p:cNvSpPr/>
          <p:nvPr/>
        </p:nvSpPr>
        <p:spPr>
          <a:xfrm>
            <a:off x="2066328" y="1094287"/>
            <a:ext cx="1323771" cy="1285671"/>
          </a:xfrm>
          <a:prstGeom prst="ellipse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1000" b="1" err="1">
                <a:solidFill>
                  <a:srgbClr val="FFFFFF"/>
                </a:solidFill>
                <a:latin typeface="Reddit Sans"/>
                <a:ea typeface="Reddit Sans"/>
              </a:rPr>
              <a:t>Orquestación</a:t>
            </a:r>
            <a:r>
              <a:rPr lang="en-US" sz="1000" b="1">
                <a:solidFill>
                  <a:srgbClr val="FFFFFF"/>
                </a:solidFill>
                <a:latin typeface="Reddit Sans"/>
                <a:ea typeface="Reddit Sans"/>
              </a:rPr>
              <a:t> </a:t>
            </a:r>
            <a:endParaRPr lang="es-ES" sz="1000">
              <a:solidFill>
                <a:srgbClr val="FFFFFF"/>
              </a:solidFill>
              <a:ea typeface="Reddit Sans"/>
            </a:endParaRPr>
          </a:p>
          <a:p>
            <a:pPr algn="ctr"/>
            <a:r>
              <a:rPr lang="en-US" sz="1000" b="1" err="1">
                <a:solidFill>
                  <a:srgbClr val="FFFFFF"/>
                </a:solidFill>
                <a:latin typeface="Reddit Sans"/>
                <a:ea typeface="Reddit Sans"/>
              </a:rPr>
              <a:t>Multiagente</a:t>
            </a:r>
            <a:r>
              <a:rPr lang="en-US" sz="1000" b="1">
                <a:solidFill>
                  <a:srgbClr val="FFFFFF"/>
                </a:solidFill>
                <a:latin typeface="Reddit Sans"/>
                <a:ea typeface="Reddit Sans"/>
              </a:rPr>
              <a:t> </a:t>
            </a:r>
            <a:endParaRPr lang="es-ES" sz="1000">
              <a:solidFill>
                <a:srgbClr val="FFFFFF"/>
              </a:solidFill>
              <a:ea typeface="Reddit Sans"/>
            </a:endParaRPr>
          </a:p>
          <a:p>
            <a:pPr algn="ctr"/>
            <a:r>
              <a:rPr lang="en-US" sz="1000" b="1">
                <a:solidFill>
                  <a:srgbClr val="FFFFFF"/>
                </a:solidFill>
                <a:latin typeface="Reddit Sans"/>
                <a:ea typeface="Reddit Sans"/>
              </a:rPr>
              <a:t>2026</a:t>
            </a:r>
            <a:r>
              <a:rPr lang="en-US" sz="1000">
                <a:solidFill>
                  <a:srgbClr val="FFFFFF"/>
                </a:solidFill>
                <a:latin typeface="Reddit Sans"/>
                <a:ea typeface="Reddit Sans"/>
              </a:rPr>
              <a:t> </a:t>
            </a:r>
            <a:endParaRPr lang="es-ES" sz="1000">
              <a:solidFill>
                <a:srgbClr val="FFFFFF"/>
              </a:solidFill>
            </a:endParaRPr>
          </a:p>
        </p:txBody>
      </p:sp>
      <p:sp>
        <p:nvSpPr>
          <p:cNvPr id="23" name="Circle2">
            <a:extLst>
              <a:ext uri="{FF2B5EF4-FFF2-40B4-BE49-F238E27FC236}">
                <a16:creationId xmlns:a16="http://schemas.microsoft.com/office/drawing/2014/main" id="{CDDEBF7A-0E3A-4780-706B-B7963524973E}"/>
              </a:ext>
            </a:extLst>
          </p:cNvPr>
          <p:cNvSpPr/>
          <p:nvPr/>
        </p:nvSpPr>
        <p:spPr>
          <a:xfrm>
            <a:off x="3827585" y="1121501"/>
            <a:ext cx="1323771" cy="1285671"/>
          </a:xfrm>
          <a:prstGeom prst="ellipse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1000" b="1" err="1">
                <a:solidFill>
                  <a:srgbClr val="FFFFFF"/>
                </a:solidFill>
                <a:latin typeface="Reddit Sans"/>
                <a:ea typeface="Reddit Sans"/>
              </a:rPr>
              <a:t>Operación</a:t>
            </a:r>
            <a:r>
              <a:rPr lang="en-US" sz="1000" b="1">
                <a:solidFill>
                  <a:srgbClr val="FFFFFF"/>
                </a:solidFill>
                <a:latin typeface="Reddit Sans"/>
                <a:ea typeface="Reddit Sans"/>
              </a:rPr>
              <a:t> </a:t>
            </a:r>
            <a:endParaRPr lang="es-ES" sz="1000">
              <a:solidFill>
                <a:srgbClr val="FFFFFF"/>
              </a:solidFill>
              <a:ea typeface="Reddit Sans"/>
            </a:endParaRPr>
          </a:p>
          <a:p>
            <a:pPr algn="ctr"/>
            <a:r>
              <a:rPr lang="en-US" sz="1000" b="1" err="1">
                <a:solidFill>
                  <a:srgbClr val="FFFFFF"/>
                </a:solidFill>
                <a:latin typeface="Reddit Sans"/>
                <a:ea typeface="Reddit Sans"/>
              </a:rPr>
              <a:t>Autónoma</a:t>
            </a:r>
            <a:r>
              <a:rPr lang="en-US" sz="1000" b="1">
                <a:solidFill>
                  <a:srgbClr val="FFFFFF"/>
                </a:solidFill>
                <a:latin typeface="Reddit Sans"/>
                <a:ea typeface="Reddit Sans"/>
              </a:rPr>
              <a:t> </a:t>
            </a:r>
            <a:endParaRPr lang="es-ES" sz="1000">
              <a:solidFill>
                <a:srgbClr val="FFFFFF"/>
              </a:solidFill>
              <a:ea typeface="Reddit Sans"/>
            </a:endParaRPr>
          </a:p>
          <a:p>
            <a:pPr algn="ctr"/>
            <a:r>
              <a:rPr lang="en-US" sz="1000" b="1">
                <a:solidFill>
                  <a:srgbClr val="FFFFFF"/>
                </a:solidFill>
                <a:latin typeface="Reddit Sans"/>
                <a:ea typeface="Reddit Sans"/>
              </a:rPr>
              <a:t>2027</a:t>
            </a:r>
            <a:r>
              <a:rPr lang="en-US" sz="1000">
                <a:solidFill>
                  <a:srgbClr val="FFFFFF"/>
                </a:solidFill>
                <a:latin typeface="Reddit Sans"/>
                <a:ea typeface="Reddit Sans"/>
              </a:rPr>
              <a:t> </a:t>
            </a:r>
            <a:endParaRPr lang="es-ES" sz="1000">
              <a:solidFill>
                <a:srgbClr val="FFFFFF"/>
              </a:solidFill>
            </a:endParaRPr>
          </a:p>
        </p:txBody>
      </p:sp>
      <p:sp>
        <p:nvSpPr>
          <p:cNvPr id="27" name="Circle3">
            <a:extLst>
              <a:ext uri="{FF2B5EF4-FFF2-40B4-BE49-F238E27FC236}">
                <a16:creationId xmlns:a16="http://schemas.microsoft.com/office/drawing/2014/main" id="{E6AD0B4F-7733-F61D-6D2A-FBD943A9FD58}"/>
              </a:ext>
            </a:extLst>
          </p:cNvPr>
          <p:cNvSpPr/>
          <p:nvPr/>
        </p:nvSpPr>
        <p:spPr>
          <a:xfrm>
            <a:off x="5594286" y="1116058"/>
            <a:ext cx="1323771" cy="1285671"/>
          </a:xfrm>
          <a:prstGeom prst="ellipse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1000" b="1">
                <a:solidFill>
                  <a:srgbClr val="FFFFFF"/>
                </a:solidFill>
                <a:latin typeface="Reddit Sans"/>
                <a:ea typeface="Reddit Sans"/>
              </a:rPr>
              <a:t>Barreras de </a:t>
            </a:r>
            <a:r>
              <a:rPr lang="en-US" sz="1000" b="1" err="1">
                <a:solidFill>
                  <a:srgbClr val="FFFFFF"/>
                </a:solidFill>
                <a:latin typeface="Reddit Sans"/>
                <a:ea typeface="Reddit Sans"/>
              </a:rPr>
              <a:t>Adopción</a:t>
            </a:r>
            <a:r>
              <a:rPr lang="en-US" sz="1000">
                <a:solidFill>
                  <a:srgbClr val="FFFFFF"/>
                </a:solidFill>
                <a:latin typeface="Reddit Sans"/>
                <a:ea typeface="Reddit Sans"/>
              </a:rPr>
              <a:t> </a:t>
            </a:r>
            <a:endParaRPr lang="es-ES" sz="1000">
              <a:solidFill>
                <a:srgbClr val="FFFFFF"/>
              </a:solidFill>
              <a:latin typeface="Reddit Sans"/>
              <a:ea typeface="Reddit Sans"/>
            </a:endParaRPr>
          </a:p>
          <a:p>
            <a:pPr algn="ctr"/>
            <a:endParaRPr lang="es-ES" sz="1000" b="1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sp>
        <p:nvSpPr>
          <p:cNvPr id="29" name="Content Placeholder 6">
            <a:extLst>
              <a:ext uri="{FF2B5EF4-FFF2-40B4-BE49-F238E27FC236}">
                <a16:creationId xmlns:a16="http://schemas.microsoft.com/office/drawing/2014/main" id="{8754AB3E-19FA-5ED0-DCBD-D9CD9E020CD8}"/>
              </a:ext>
            </a:extLst>
          </p:cNvPr>
          <p:cNvSpPr>
            <a:spLocks noGrp="1"/>
          </p:cNvSpPr>
          <p:nvPr/>
        </p:nvSpPr>
        <p:spPr>
          <a:xfrm>
            <a:off x="303493" y="2573819"/>
            <a:ext cx="1519864" cy="107289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28600" marR="0" lvl="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800" b="0" i="0" u="none" strike="noStrike" kern="1200" cap="none">
                <a:solidFill>
                  <a:schemeClr val="tx2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685800" marR="0" lvl="1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600" b="0" i="0" u="none" strike="noStrike" kern="1200" cap="none">
                <a:solidFill>
                  <a:schemeClr val="tx2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1143000" marR="0" lvl="2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400" b="0" i="0" u="none" strike="noStrike" kern="1200" cap="none">
                <a:solidFill>
                  <a:schemeClr val="tx2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600200" marR="0" lvl="3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400" b="0" i="0" u="none" strike="noStrike" kern="1200" cap="none">
                <a:solidFill>
                  <a:schemeClr val="tx2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2057400" marR="0" lvl="4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400" b="0" i="0" u="none" strike="noStrike" kern="1200" cap="none">
                <a:solidFill>
                  <a:schemeClr val="tx2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2514600" marR="0" lvl="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971800" marR="0" lvl="6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3429000" marR="0" lvl="7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3886200" marR="0" lvl="8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Char char="•"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0" lvl="0" indent="0" algn="ctr">
              <a:lnSpc>
                <a:spcPct val="100000"/>
              </a:lnSpc>
              <a:spcBef>
                <a:spcPts val="2500"/>
              </a:spcBef>
              <a:buFont typeface="Arial" panose="020B0604020202020204" pitchFamily="34" charset="0"/>
              <a:buNone/>
            </a:pPr>
            <a:endParaRPr lang="en-US" sz="1000" b="1">
              <a:solidFill>
                <a:srgbClr val="7F7F7F"/>
              </a:solidFill>
              <a:latin typeface="Reddit Sans"/>
              <a:ea typeface="Reddit Sans"/>
              <a:cs typeface="Arial"/>
            </a:endParaRPr>
          </a:p>
          <a:p>
            <a:pPr marL="0" lvl="1" indent="0" algn="ctr">
              <a:lnSpc>
                <a:spcPct val="100000"/>
              </a:lnSpc>
              <a:buNone/>
            </a:pP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En 2025, </a:t>
            </a:r>
            <a:endParaRPr lang="en-US" sz="1000">
              <a:solidFill>
                <a:srgbClr val="7F7F7F"/>
              </a:solidFill>
              <a:latin typeface="Reddit Sans"/>
              <a:ea typeface="Reddit Sans"/>
              <a:cs typeface="Arial"/>
            </a:endParaRPr>
          </a:p>
          <a:p>
            <a:pPr marL="0" lvl="1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la IA </a:t>
            </a:r>
            <a:r>
              <a:rPr lang="en-US" sz="1000" err="1">
                <a:solidFill>
                  <a:srgbClr val="7F7F7F"/>
                </a:solidFill>
                <a:latin typeface="Reddit Sans"/>
                <a:ea typeface="Reddit Sans"/>
              </a:rPr>
              <a:t>apoya</a:t>
            </a: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 </a:t>
            </a:r>
            <a:r>
              <a:rPr lang="en-US" sz="1000" err="1">
                <a:solidFill>
                  <a:srgbClr val="7F7F7F"/>
                </a:solidFill>
                <a:latin typeface="Reddit Sans"/>
                <a:ea typeface="Reddit Sans"/>
              </a:rPr>
              <a:t>agentes</a:t>
            </a: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 </a:t>
            </a:r>
            <a:r>
              <a:rPr lang="en-US" sz="1000" err="1">
                <a:solidFill>
                  <a:srgbClr val="7F7F7F"/>
                </a:solidFill>
                <a:latin typeface="Reddit Sans"/>
                <a:ea typeface="Reddit Sans"/>
              </a:rPr>
              <a:t>humanos</a:t>
            </a: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 con chatbots y </a:t>
            </a:r>
            <a:r>
              <a:rPr lang="en-US" sz="1000" err="1">
                <a:solidFill>
                  <a:srgbClr val="7F7F7F"/>
                </a:solidFill>
                <a:latin typeface="Reddit Sans"/>
                <a:ea typeface="Reddit Sans"/>
              </a:rPr>
              <a:t>clasificación</a:t>
            </a: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 </a:t>
            </a:r>
            <a:r>
              <a:rPr lang="en-US" sz="1000" err="1">
                <a:solidFill>
                  <a:srgbClr val="7F7F7F"/>
                </a:solidFill>
                <a:latin typeface="Reddit Sans"/>
                <a:ea typeface="Reddit Sans"/>
              </a:rPr>
              <a:t>automática</a:t>
            </a: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, </a:t>
            </a:r>
            <a:r>
              <a:rPr lang="en-US" sz="1000" err="1">
                <a:solidFill>
                  <a:srgbClr val="7F7F7F"/>
                </a:solidFill>
                <a:latin typeface="Reddit Sans"/>
                <a:ea typeface="Reddit Sans"/>
              </a:rPr>
              <a:t>acelerando</a:t>
            </a: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 </a:t>
            </a:r>
            <a:r>
              <a:rPr lang="en-US" sz="1000" err="1">
                <a:solidFill>
                  <a:srgbClr val="7F7F7F"/>
                </a:solidFill>
                <a:latin typeface="Reddit Sans"/>
                <a:ea typeface="Reddit Sans"/>
              </a:rPr>
              <a:t>tareas</a:t>
            </a: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 sin </a:t>
            </a:r>
            <a:r>
              <a:rPr lang="en-US" sz="1000" err="1">
                <a:solidFill>
                  <a:srgbClr val="7F7F7F"/>
                </a:solidFill>
                <a:latin typeface="Reddit Sans"/>
                <a:ea typeface="Reddit Sans"/>
              </a:rPr>
              <a:t>autonomía</a:t>
            </a:r>
            <a:r>
              <a:rPr lang="en-US" sz="1000">
                <a:solidFill>
                  <a:srgbClr val="7F7F7F"/>
                </a:solidFill>
                <a:latin typeface="Reddit Sans"/>
                <a:ea typeface="Reddit Sans"/>
              </a:rPr>
              <a:t> completa.</a:t>
            </a:r>
            <a:endParaRPr lang="en-US" sz="1000">
              <a:solidFill>
                <a:srgbClr val="7F7F7F"/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31" name="CuadroTexto 8">
            <a:extLst>
              <a:ext uri="{FF2B5EF4-FFF2-40B4-BE49-F238E27FC236}">
                <a16:creationId xmlns:a16="http://schemas.microsoft.com/office/drawing/2014/main" id="{29972A88-FB76-361B-345C-AF637285EECF}"/>
              </a:ext>
            </a:extLst>
          </p:cNvPr>
          <p:cNvSpPr txBox="1"/>
          <p:nvPr/>
        </p:nvSpPr>
        <p:spPr>
          <a:xfrm>
            <a:off x="1926771" y="2424793"/>
            <a:ext cx="1464129" cy="1369606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rtl="0"/>
            <a:r>
              <a:rPr lang="en-US" sz="1000" b="0" i="0">
                <a:solidFill>
                  <a:srgbClr val="7F7F7F"/>
                </a:solidFill>
                <a:latin typeface="Reddit Sans"/>
                <a:ea typeface="Reddit Sans"/>
                <a:cs typeface="Segoe UI"/>
              </a:rPr>
              <a:t>​</a:t>
            </a:r>
          </a:p>
          <a:p>
            <a:pPr algn="ctr" rtl="0"/>
            <a:endParaRPr lang="en-US" sz="1000" b="0" i="0">
              <a:solidFill>
                <a:srgbClr val="7F7F7F"/>
              </a:solidFill>
              <a:latin typeface="Reddit Sans"/>
              <a:ea typeface="Reddit Sans"/>
              <a:cs typeface="Segoe UI"/>
            </a:endParaRPr>
          </a:p>
          <a:p>
            <a:pPr algn="ctr"/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En 2026, </a:t>
            </a:r>
          </a:p>
          <a:p>
            <a:pPr algn="ctr"/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sistemas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coordinan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flujos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completos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con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supervisión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humana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validando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excepciones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y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decisiones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críticas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.​</a:t>
            </a:r>
            <a:endParaRPr lang="en-US">
              <a:cs typeface="+mn-cs"/>
            </a:endParaRPr>
          </a:p>
          <a:p>
            <a:pPr algn="ctr"/>
            <a:endParaRPr lang="es-ES" sz="900" kern="1200">
              <a:solidFill>
                <a:srgbClr val="7F7F7F"/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33" name="CuadroTexto 16">
            <a:extLst>
              <a:ext uri="{FF2B5EF4-FFF2-40B4-BE49-F238E27FC236}">
                <a16:creationId xmlns:a16="http://schemas.microsoft.com/office/drawing/2014/main" id="{27BB7B74-54D9-2EFB-FDDD-7C8E6210A0F4}"/>
              </a:ext>
            </a:extLst>
          </p:cNvPr>
          <p:cNvSpPr txBox="1"/>
          <p:nvPr/>
        </p:nvSpPr>
        <p:spPr>
          <a:xfrm>
            <a:off x="3641271" y="2571752"/>
            <a:ext cx="1801586" cy="938719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rtl="0"/>
            <a:endParaRPr lang="en-US" sz="1000">
              <a:solidFill>
                <a:srgbClr val="7F7F7F"/>
              </a:solidFill>
              <a:latin typeface="Reddit Sans"/>
              <a:ea typeface="Reddit Sans"/>
              <a:cs typeface="Segoe UI"/>
            </a:endParaRPr>
          </a:p>
          <a:p>
            <a:pPr algn="ctr"/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En 2027, la IA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detecta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anomalías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, auto-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remedia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y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previene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incidentes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, con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intervención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humana solo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en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casos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críticos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.​​</a:t>
            </a:r>
          </a:p>
        </p:txBody>
      </p:sp>
      <p:sp>
        <p:nvSpPr>
          <p:cNvPr id="35" name="CuadroTexto 17">
            <a:extLst>
              <a:ext uri="{FF2B5EF4-FFF2-40B4-BE49-F238E27FC236}">
                <a16:creationId xmlns:a16="http://schemas.microsoft.com/office/drawing/2014/main" id="{A87FC08A-F3DF-C97C-0305-D8740C80E197}"/>
              </a:ext>
            </a:extLst>
          </p:cNvPr>
          <p:cNvSpPr txBox="1"/>
          <p:nvPr/>
        </p:nvSpPr>
        <p:spPr>
          <a:xfrm>
            <a:off x="5508170" y="2658837"/>
            <a:ext cx="1567544" cy="92333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Costos de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cambio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,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regulación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,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seguridad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,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complejidad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técnica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y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falta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de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talento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limitan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la </a:t>
            </a:r>
            <a:r>
              <a:rPr lang="en-US" sz="900" kern="1200" err="1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adopción</a:t>
            </a:r>
            <a:r>
              <a:rPr lang="en-US" sz="900" kern="1200">
                <a:solidFill>
                  <a:srgbClr val="7F7F7F"/>
                </a:solidFill>
                <a:latin typeface="Reddit Sans"/>
                <a:ea typeface="Reddit Sans"/>
                <a:cs typeface="+mn-cs"/>
              </a:rPr>
              <a:t> plena de IA.​</a:t>
            </a:r>
            <a:endParaRPr lang="es-ES" sz="900" kern="1200">
              <a:solidFill>
                <a:srgbClr val="7F7F7F"/>
              </a:solidFill>
              <a:latin typeface="Reddit Sans"/>
              <a:ea typeface="Reddit Sans"/>
              <a:cs typeface="+mn-cs"/>
            </a:endParaRPr>
          </a:p>
          <a:p>
            <a:pPr algn="ctr"/>
            <a:endParaRPr lang="es-ES" sz="900" kern="1200">
              <a:solidFill>
                <a:srgbClr val="7F7F7F"/>
              </a:solidFill>
              <a:latin typeface="Reddit Sans"/>
              <a:ea typeface="Reddit Sans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97402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D59CC-74E6-B9F2-E0BF-EDCFD2897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2">
            <a:extLst>
              <a:ext uri="{FF2B5EF4-FFF2-40B4-BE49-F238E27FC236}">
                <a16:creationId xmlns:a16="http://schemas.microsoft.com/office/drawing/2014/main" id="{C9E7E48E-D9E0-CDDD-1AB7-734D4A92A094}"/>
              </a:ext>
            </a:extLst>
          </p:cNvPr>
          <p:cNvSpPr/>
          <p:nvPr/>
        </p:nvSpPr>
        <p:spPr>
          <a:xfrm>
            <a:off x="1990044" y="1527529"/>
            <a:ext cx="1071563" cy="1071563"/>
          </a:xfrm>
          <a:prstGeom prst="ellipse">
            <a:avLst/>
          </a:prstGeom>
          <a:solidFill>
            <a:srgbClr val="FFD9AD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4" name="Shape 5">
            <a:extLst>
              <a:ext uri="{FF2B5EF4-FFF2-40B4-BE49-F238E27FC236}">
                <a16:creationId xmlns:a16="http://schemas.microsoft.com/office/drawing/2014/main" id="{7D87BBD9-9C0E-2C44-190B-50198B7DEC35}"/>
              </a:ext>
            </a:extLst>
          </p:cNvPr>
          <p:cNvSpPr/>
          <p:nvPr/>
        </p:nvSpPr>
        <p:spPr>
          <a:xfrm>
            <a:off x="5919107" y="1527529"/>
            <a:ext cx="1071563" cy="1071563"/>
          </a:xfrm>
          <a:prstGeom prst="ellipse">
            <a:avLst/>
          </a:prstGeom>
          <a:solidFill>
            <a:srgbClr val="FEC088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FC31774-3B5E-5282-B2EE-72CFEE2FD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err="1"/>
              <a:t>Agentic</a:t>
            </a:r>
            <a:r>
              <a:rPr lang="es-ES"/>
              <a:t> AI: Estado Real de Adopción 2025–2026</a:t>
            </a:r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790B42B-6AEB-F586-5B96-636C47BF2B37}"/>
              </a:ext>
            </a:extLst>
          </p:cNvPr>
          <p:cNvSpPr txBox="1"/>
          <p:nvPr/>
        </p:nvSpPr>
        <p:spPr>
          <a:xfrm>
            <a:off x="398009" y="4658745"/>
            <a:ext cx="6161314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/>
              <a:t>Fuente: </a:t>
            </a:r>
            <a:r>
              <a:rPr lang="es-ES" sz="800">
                <a:solidFill>
                  <a:srgbClr val="2F81F7"/>
                </a:solidFill>
                <a:hlinkClick r:id="rId3"/>
              </a:rPr>
              <a:t>Brilo AI (vía G2/OneReach.ai)</a:t>
            </a:r>
            <a:r>
              <a:rPr lang="es-ES" sz="800"/>
              <a:t> , </a:t>
            </a:r>
            <a:r>
              <a:rPr lang="es-ES" sz="800">
                <a:solidFill>
                  <a:srgbClr val="2F81F7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Brilo AI (vía </a:t>
            </a:r>
            <a:r>
              <a:rPr lang="es-ES" sz="800">
                <a:solidFill>
                  <a:srgbClr val="2F81F7"/>
                </a:solidFill>
                <a:hlinkClick r:id="rId3"/>
              </a:rPr>
              <a:t>Digital Applied</a:t>
            </a:r>
            <a:r>
              <a:rPr lang="es-ES" sz="800">
                <a:solidFill>
                  <a:srgbClr val="2F81F7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)</a:t>
            </a:r>
            <a:r>
              <a:rPr lang="es-ES" sz="800"/>
              <a:t> , </a:t>
            </a:r>
            <a:r>
              <a:rPr lang="es-ES" sz="800">
                <a:solidFill>
                  <a:srgbClr val="2F81F7"/>
                </a:solidFill>
                <a:hlinkClick r:id="rId3"/>
              </a:rPr>
              <a:t>Gartner, vía Brilo AI</a:t>
            </a:r>
            <a:r>
              <a:rPr lang="es-ES" sz="800">
                <a:solidFill>
                  <a:srgbClr val="2F81F7"/>
                </a:solidFill>
              </a:rPr>
              <a:t> , </a:t>
            </a:r>
            <a:r>
              <a:rPr lang="es-ES" sz="800">
                <a:solidFill>
                  <a:srgbClr val="2F81F7"/>
                </a:solidFill>
                <a:hlinkClick r:id="rId4"/>
              </a:rPr>
              <a:t>Dynatrace — Pulse of Agentic AI 2026</a:t>
            </a:r>
            <a:r>
              <a:rPr lang="es-ES" sz="800"/>
              <a:t> </a:t>
            </a:r>
          </a:p>
        </p:txBody>
      </p:sp>
      <p:pic>
        <p:nvPicPr>
          <p:cNvPr id="5" name="Image 0">
            <a:extLst>
              <a:ext uri="{FF2B5EF4-FFF2-40B4-BE49-F238E27FC236}">
                <a16:creationId xmlns:a16="http://schemas.microsoft.com/office/drawing/2014/main" id="{B3C686B2-67CE-2049-CFA9-3EF28A147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4219" y="1799606"/>
            <a:ext cx="700088" cy="585788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F9B788E8-EAFC-7A7F-9F78-5A186CBE60AF}"/>
              </a:ext>
            </a:extLst>
          </p:cNvPr>
          <p:cNvSpPr/>
          <p:nvPr/>
        </p:nvSpPr>
        <p:spPr>
          <a:xfrm>
            <a:off x="929912" y="2670977"/>
            <a:ext cx="3191828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685800" marR="0" lvl="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028700" marR="0" lvl="3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371600" marR="0" lvl="4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1714500" marR="0" lvl="5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057400" marR="0" lvl="6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2400300" marR="0" lvl="7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2743200" marR="0" lvl="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Fase 1: Automatización Cognitiva (2025)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571279CF-F899-9C21-6AB8-87368E5E88D9}"/>
              </a:ext>
            </a:extLst>
          </p:cNvPr>
          <p:cNvSpPr/>
          <p:nvPr/>
        </p:nvSpPr>
        <p:spPr>
          <a:xfrm>
            <a:off x="915011" y="2927593"/>
            <a:ext cx="3221630" cy="58634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685800" marR="0" lvl="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028700" marR="0" lvl="3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371600" marR="0" lvl="4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1714500" marR="0" lvl="5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057400" marR="0" lvl="6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2400300" marR="0" lvl="7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2743200" marR="0" lvl="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 fontAlgn="ctr">
              <a:lnSpc>
                <a:spcPts val="1539"/>
              </a:lnSpc>
              <a:spcBef>
                <a:spcPts val="458"/>
              </a:spcBef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Integración de agentes en Service Desk para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triaje de nivel 1 y herramientas de autogestión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 ejecución de scripts.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8" name="Image 1">
            <a:extLst>
              <a:ext uri="{FF2B5EF4-FFF2-40B4-BE49-F238E27FC236}">
                <a16:creationId xmlns:a16="http://schemas.microsoft.com/office/drawing/2014/main" id="{C1E9E10D-A992-DA2E-7FDE-BF15538EA9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1408" y="1818445"/>
            <a:ext cx="428625" cy="485775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1CD857AC-C966-A272-7D1A-13D75F710C08}"/>
              </a:ext>
            </a:extLst>
          </p:cNvPr>
          <p:cNvSpPr/>
          <p:nvPr/>
        </p:nvSpPr>
        <p:spPr>
          <a:xfrm>
            <a:off x="4850960" y="2670977"/>
            <a:ext cx="3207857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685800" marR="0" lvl="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028700" marR="0" lvl="3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371600" marR="0" lvl="4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1714500" marR="0" lvl="5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057400" marR="0" lvl="6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2400300" marR="0" lvl="7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2743200" marR="0" lvl="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Fase 2: Orquestación de Agentes (2026)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4DBA6E8C-F1B7-F043-D74F-57171A7B1207}"/>
              </a:ext>
            </a:extLst>
          </p:cNvPr>
          <p:cNvSpPr/>
          <p:nvPr/>
        </p:nvSpPr>
        <p:spPr>
          <a:xfrm>
            <a:off x="4876913" y="2927593"/>
            <a:ext cx="3155953" cy="58634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342900" marR="0" lvl="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685800" marR="0" lvl="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028700" marR="0" lvl="3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371600" marR="0" lvl="4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1714500" marR="0" lvl="5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057400" marR="0" lvl="6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2400300" marR="0" lvl="7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2743200" marR="0" lvl="8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35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 fontAlgn="ctr">
              <a:lnSpc>
                <a:spcPts val="1539"/>
              </a:lnSpc>
              <a:spcBef>
                <a:spcPts val="458"/>
              </a:spcBef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Despliegue de sistemas multi-agente para la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gestión autónoma de infraestructura en la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nube y mitigación predictiva de incidentes.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6" name="Text 9">
            <a:extLst>
              <a:ext uri="{FF2B5EF4-FFF2-40B4-BE49-F238E27FC236}">
                <a16:creationId xmlns:a16="http://schemas.microsoft.com/office/drawing/2014/main" id="{BF7DCBB5-78AA-628B-34F9-EA9C8618E0CE}"/>
              </a:ext>
            </a:extLst>
          </p:cNvPr>
          <p:cNvSpPr/>
          <p:nvPr/>
        </p:nvSpPr>
        <p:spPr>
          <a:xfrm>
            <a:off x="417910" y="684046"/>
            <a:ext cx="8308181" cy="18104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426"/>
              </a:lnSpc>
            </a:pP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Pilares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Críticos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: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Gobernanza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 y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Seguridad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,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Interoperabilidad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 con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sistemas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legados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 y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Observabilidad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 del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razonamiento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 </a:t>
            </a:r>
            <a:r>
              <a:rPr lang="en-US" sz="1200" spc="-25" err="1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agente</a:t>
            </a:r>
            <a:r>
              <a:rPr lang="en-US" sz="1200" spc="-25">
                <a:solidFill>
                  <a:srgbClr val="595959"/>
                </a:solidFill>
                <a:latin typeface="Reddit Sans"/>
                <a:ea typeface="Reddit Sans"/>
                <a:cs typeface="Arial"/>
              </a:rPr>
              <a:t>.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554042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A010FC-0026-B98C-378C-52D6BE416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">
            <a:extLst>
              <a:ext uri="{FF2B5EF4-FFF2-40B4-BE49-F238E27FC236}">
                <a16:creationId xmlns:a16="http://schemas.microsoft.com/office/drawing/2014/main" id="{4C41A606-C612-AD34-FCE1-E59441EAB7F0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Colombia </a:t>
            </a:r>
            <a:r>
              <a:rPr lang="es-ES" sz="1650" b="1" err="1">
                <a:solidFill>
                  <a:srgbClr val="0C2362"/>
                </a:solidFill>
                <a:latin typeface="Reddit Sans"/>
                <a:ea typeface="Reddit Sans"/>
              </a:rPr>
              <a:t>abre</a:t>
            </a:r>
            <a:r>
              <a:rPr lang="es-ES" sz="1650" b="1" dirty="0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lang="es-ES" sz="1650" b="1" err="1">
                <a:solidFill>
                  <a:srgbClr val="0C2362"/>
                </a:solidFill>
                <a:latin typeface="Reddit Sans"/>
                <a:ea typeface="Reddit Sans"/>
              </a:rPr>
              <a:t>una</a:t>
            </a:r>
            <a:r>
              <a:rPr lang="es-ES" sz="1650" b="1" dirty="0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lang="es-ES" sz="1650" b="1" err="1">
                <a:solidFill>
                  <a:srgbClr val="0C2362"/>
                </a:solidFill>
                <a:latin typeface="Reddit Sans"/>
                <a:ea typeface="Reddit Sans"/>
              </a:rPr>
              <a:t>ventana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 para </a:t>
            </a:r>
            <a:r>
              <a:rPr lang="es-ES" sz="1650" b="1" err="1">
                <a:solidFill>
                  <a:srgbClr val="0C2362"/>
                </a:solidFill>
                <a:latin typeface="Reddit Sans"/>
                <a:ea typeface="Reddit Sans"/>
              </a:rPr>
              <a:t>industrializar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 el </a:t>
            </a:r>
            <a:r>
              <a:rPr lang="es-ES" sz="1650" b="1" err="1">
                <a:solidFill>
                  <a:srgbClr val="0C2362"/>
                </a:solidFill>
                <a:latin typeface="Reddit Sans"/>
                <a:ea typeface="Reddit Sans"/>
              </a:rPr>
              <a:t>servicio</a:t>
            </a:r>
            <a:endParaRPr lang="es-ES" sz="1650" b="1" dirty="0">
              <a:solidFill>
                <a:srgbClr val="0C2362"/>
              </a:solidFill>
              <a:latin typeface="Reddit Sans"/>
              <a:ea typeface="Reddit Sans"/>
            </a:endParaRP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DB3A4721-9D57-A945-2ED3-3ED7086AA915}"/>
              </a:ext>
            </a:extLst>
          </p:cNvPr>
          <p:cNvSpPr>
            <a:spLocks noGrp="1"/>
          </p:cNvSpPr>
          <p:nvPr/>
        </p:nvSpPr>
        <p:spPr>
          <a:xfrm>
            <a:off x="340179" y="553811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050" b="0">
                <a:solidFill>
                  <a:srgbClr val="9AAEE0"/>
                </a:solidFill>
              </a:defRPr>
            </a:pP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Regulación</a:t>
            </a:r>
            <a:r>
              <a:rPr sz="1200" spc="-25">
                <a:solidFill>
                  <a:srgbClr val="595959"/>
                </a:solidFill>
                <a:latin typeface="Reddit Sans"/>
                <a:ea typeface="Reddit Sans"/>
              </a:rPr>
              <a:t>, </a:t>
            </a: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digitalización</a:t>
            </a:r>
            <a:r>
              <a:rPr sz="1200" spc="-25">
                <a:solidFill>
                  <a:srgbClr val="595959"/>
                </a:solidFill>
                <a:latin typeface="Reddit Sans"/>
                <a:ea typeface="Reddit Sans"/>
              </a:rPr>
              <a:t> e IA </a:t>
            </a: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elevan</a:t>
            </a:r>
            <a:r>
              <a:rPr sz="1200" spc="-25">
                <a:solidFill>
                  <a:srgbClr val="595959"/>
                </a:solidFill>
                <a:latin typeface="Reddit Sans"/>
                <a:ea typeface="Reddit Sans"/>
              </a:rPr>
              <a:t> la </a:t>
            </a: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expectativa</a:t>
            </a:r>
            <a:r>
              <a:rPr sz="1200" spc="-25">
                <a:solidFill>
                  <a:srgbClr val="595959"/>
                </a:solidFill>
                <a:latin typeface="Reddit Sans"/>
                <a:ea typeface="Reddit Sans"/>
              </a:rPr>
              <a:t> del </a:t>
            </a:r>
            <a:r>
              <a:rPr sz="1200" spc="-25" err="1">
                <a:solidFill>
                  <a:srgbClr val="595959"/>
                </a:solidFill>
                <a:latin typeface="Reddit Sans"/>
                <a:ea typeface="Reddit Sans"/>
              </a:rPr>
              <a:t>cliente</a:t>
            </a:r>
            <a:endParaRPr lang="es-ES" sz="1200" spc="-25" err="1">
              <a:solidFill>
                <a:srgbClr val="595959"/>
              </a:solidFill>
              <a:latin typeface="Reddit Sans"/>
              <a:ea typeface="Reddit Sans"/>
            </a:endParaRPr>
          </a:p>
        </p:txBody>
      </p:sp>
      <p:sp>
        <p:nvSpPr>
          <p:cNvPr id="76" name="CuadroTexto 75">
            <a:extLst>
              <a:ext uri="{FF2B5EF4-FFF2-40B4-BE49-F238E27FC236}">
                <a16:creationId xmlns:a16="http://schemas.microsoft.com/office/drawing/2014/main" id="{A5821A98-D5BD-2733-EEBB-B051423849F2}"/>
              </a:ext>
            </a:extLst>
          </p:cNvPr>
          <p:cNvSpPr txBox="1"/>
          <p:nvPr/>
        </p:nvSpPr>
        <p:spPr>
          <a:xfrm>
            <a:off x="342899" y="4503964"/>
            <a:ext cx="6417128" cy="35394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900">
                <a:highlight>
                  <a:srgbClr val="FFFF00"/>
                </a:highlight>
              </a:rPr>
              <a:t>Fuente: </a:t>
            </a:r>
            <a:r>
              <a:rPr lang="en-US" sz="900">
                <a:highlight>
                  <a:srgbClr val="FFFF00"/>
                </a:highlight>
                <a:hlinkClick r:id="rId3"/>
              </a:rPr>
              <a:t>https://www.superfinanciera.gov.co</a:t>
            </a:r>
            <a:r>
              <a:rPr lang="en-US" sz="900">
                <a:highlight>
                  <a:srgbClr val="FFFF00"/>
                </a:highlight>
              </a:rPr>
              <a:t> , </a:t>
            </a:r>
            <a:r>
              <a:rPr lang="en-US" sz="900">
                <a:highlight>
                  <a:srgbClr val="FFFF00"/>
                </a:highlight>
                <a:hlinkClick r:id="rId4"/>
              </a:rPr>
              <a:t>[</a:t>
            </a:r>
            <a:r>
              <a:rPr lang="en-US" sz="900" err="1">
                <a:highlight>
                  <a:srgbClr val="FFFF00"/>
                </a:highlight>
                <a:hlinkClick r:id="rId4"/>
              </a:rPr>
              <a:t>superfinan</a:t>
            </a:r>
            <a:r>
              <a:rPr lang="en-US" sz="900">
                <a:highlight>
                  <a:srgbClr val="FFFF00"/>
                </a:highlight>
                <a:hlinkClick r:id="rId4"/>
              </a:rPr>
              <a:t>...era.gov.co]</a:t>
            </a:r>
            <a:r>
              <a:rPr lang="en-US" sz="900">
                <a:highlight>
                  <a:srgbClr val="FFFF00"/>
                </a:highlight>
              </a:rPr>
              <a:t> , </a:t>
            </a:r>
            <a:r>
              <a:rPr lang="en-US" sz="900">
                <a:highlight>
                  <a:srgbClr val="FFFF00"/>
                </a:highlight>
                <a:hlinkClick r:id="rId5"/>
              </a:rPr>
              <a:t>https://www.iso.org/standard/42001</a:t>
            </a:r>
            <a:r>
              <a:rPr lang="en-US" sz="900">
                <a:highlight>
                  <a:srgbClr val="FFFF00"/>
                </a:highlight>
              </a:rPr>
              <a:t> </a:t>
            </a:r>
            <a:r>
              <a:rPr lang="en-US" sz="900">
                <a:highlight>
                  <a:srgbClr val="FFFF00"/>
                </a:highlight>
                <a:hlinkClick r:id="rId5"/>
              </a:rPr>
              <a:t>[iso.org]</a:t>
            </a:r>
            <a:endParaRPr lang="en-US" sz="900">
              <a:highlight>
                <a:srgbClr val="FFFF00"/>
              </a:highlight>
            </a:endParaRPr>
          </a:p>
          <a:p>
            <a:endParaRPr lang="en-US" sz="800"/>
          </a:p>
        </p:txBody>
      </p:sp>
      <p:sp>
        <p:nvSpPr>
          <p:cNvPr id="101" name="kpiIcon"/>
          <p:cNvSpPr/>
          <p:nvPr/>
        </p:nvSpPr>
        <p:spPr>
          <a:xfrm>
            <a:off x="343000" y="930000"/>
            <a:ext cx="360000" cy="360000"/>
          </a:xfrm>
          <a:prstGeom prst="ellipse">
            <a:avLst/>
          </a:prstGeom>
          <a:solidFill>
            <a:srgbClr val="0C2362"/>
          </a:solidFill>
        </p:spPr>
        <p:txBody>
          <a:bodyPr/>
          <a:lstStyle/>
          <a:p>
            <a:endParaRPr lang="es-ES"/>
          </a:p>
        </p:txBody>
      </p:sp>
      <p:sp>
        <p:nvSpPr>
          <p:cNvPr id="102" name="ic"/>
          <p:cNvSpPr/>
          <p:nvPr/>
        </p:nvSpPr>
        <p:spPr>
          <a:xfrm>
            <a:off x="438000" y="985000"/>
            <a:ext cx="170000" cy="95000"/>
          </a:xfrm>
          <a:prstGeom prst="triangle">
            <a:avLst/>
          </a:prstGeom>
          <a:solidFill>
            <a:srgbClr val="FFFFFF"/>
          </a:solidFill>
        </p:spPr>
        <p:txBody>
          <a:bodyPr/>
          <a:lstStyle/>
          <a:p>
            <a:endParaRPr lang="es-ES"/>
          </a:p>
        </p:txBody>
      </p:sp>
      <p:sp>
        <p:nvSpPr>
          <p:cNvPr id="103" name="ic"/>
          <p:cNvSpPr/>
          <p:nvPr/>
        </p:nvSpPr>
        <p:spPr>
          <a:xfrm>
            <a:off x="435000" y="1090000"/>
            <a:ext cx="176000" cy="30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 lang="es-ES"/>
          </a:p>
        </p:txBody>
      </p:sp>
      <p:sp>
        <p:nvSpPr>
          <p:cNvPr id="104" name="txt"/>
          <p:cNvSpPr txBox="1"/>
          <p:nvPr/>
        </p:nvSpPr>
        <p:spPr>
          <a:xfrm>
            <a:off x="773000" y="905000"/>
            <a:ext cx="2262000" cy="40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2400" b="1" dirty="0">
                <a:solidFill>
                  <a:srgbClr val="0C2362"/>
                </a:solidFill>
                <a:latin typeface="Reddit Sans"/>
                <a:ea typeface="Reddit Sans"/>
                <a:cs typeface="Reddit Sans"/>
              </a:rPr>
              <a:t>81%</a:t>
            </a:r>
          </a:p>
        </p:txBody>
      </p:sp>
      <p:sp>
        <p:nvSpPr>
          <p:cNvPr id="105" name="txt"/>
          <p:cNvSpPr txBox="1"/>
          <p:nvPr/>
        </p:nvSpPr>
        <p:spPr>
          <a:xfrm>
            <a:off x="773000" y="1295000"/>
            <a:ext cx="2262000" cy="28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/>
            <a:r>
              <a:rPr lang="es-ES" sz="950" dirty="0">
                <a:solidFill>
                  <a:srgbClr val="595959"/>
                </a:solidFill>
                <a:latin typeface="Reddit Sans"/>
                <a:ea typeface="Reddit Sans"/>
                <a:cs typeface="Reddit Sans"/>
              </a:rPr>
              <a:t>Uso de IA en banca colombiana</a:t>
            </a:r>
          </a:p>
        </p:txBody>
      </p:sp>
      <p:sp>
        <p:nvSpPr>
          <p:cNvPr id="106" name="kpiIcon"/>
          <p:cNvSpPr/>
          <p:nvPr/>
        </p:nvSpPr>
        <p:spPr>
          <a:xfrm>
            <a:off x="3225000" y="930000"/>
            <a:ext cx="360000" cy="360000"/>
          </a:xfrm>
          <a:prstGeom prst="ellipse">
            <a:avLst/>
          </a:prstGeom>
          <a:solidFill>
            <a:srgbClr val="0B4DC4"/>
          </a:solidFill>
        </p:spPr>
        <p:txBody>
          <a:bodyPr/>
          <a:lstStyle/>
          <a:p>
            <a:endParaRPr lang="es-ES"/>
          </a:p>
        </p:txBody>
      </p:sp>
      <p:sp>
        <p:nvSpPr>
          <p:cNvPr id="107" name="ic"/>
          <p:cNvSpPr/>
          <p:nvPr/>
        </p:nvSpPr>
        <p:spPr>
          <a:xfrm>
            <a:off x="3335000" y="985000"/>
            <a:ext cx="140000" cy="190000"/>
          </a:xfrm>
          <a:prstGeom prst="upArrow">
            <a:avLst/>
          </a:prstGeom>
          <a:solidFill>
            <a:srgbClr val="FFFFFF"/>
          </a:solidFill>
        </p:spPr>
        <p:txBody>
          <a:bodyPr/>
          <a:lstStyle/>
          <a:p>
            <a:endParaRPr lang="es-ES"/>
          </a:p>
        </p:txBody>
      </p:sp>
      <p:sp>
        <p:nvSpPr>
          <p:cNvPr id="108" name="txt"/>
          <p:cNvSpPr txBox="1"/>
          <p:nvPr/>
        </p:nvSpPr>
        <p:spPr>
          <a:xfrm>
            <a:off x="3655000" y="905000"/>
            <a:ext cx="2262000" cy="40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2400" b="1" dirty="0">
                <a:solidFill>
                  <a:srgbClr val="0B4DC4"/>
                </a:solidFill>
                <a:latin typeface="Reddit Sans"/>
                <a:ea typeface="Reddit Sans"/>
                <a:cs typeface="Reddit Sans"/>
              </a:rPr>
              <a:t>13.82%</a:t>
            </a:r>
          </a:p>
        </p:txBody>
      </p:sp>
      <p:sp>
        <p:nvSpPr>
          <p:cNvPr id="109" name="txt"/>
          <p:cNvSpPr txBox="1"/>
          <p:nvPr/>
        </p:nvSpPr>
        <p:spPr>
          <a:xfrm>
            <a:off x="3655000" y="1295000"/>
            <a:ext cx="2262000" cy="28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/>
            <a:r>
              <a:rPr lang="es-ES" sz="950" dirty="0">
                <a:solidFill>
                  <a:srgbClr val="595959"/>
                </a:solidFill>
                <a:latin typeface="Reddit Sans"/>
                <a:ea typeface="Reddit Sans"/>
                <a:cs typeface="Reddit Sans"/>
              </a:rPr>
              <a:t>Servicios crecen más rápido que soluciones</a:t>
            </a:r>
          </a:p>
        </p:txBody>
      </p:sp>
      <p:sp>
        <p:nvSpPr>
          <p:cNvPr id="110" name="kpiIcon"/>
          <p:cNvSpPr/>
          <p:nvPr/>
        </p:nvSpPr>
        <p:spPr>
          <a:xfrm>
            <a:off x="6107000" y="930000"/>
            <a:ext cx="360000" cy="360000"/>
          </a:xfrm>
          <a:prstGeom prst="ellipse">
            <a:avLst/>
          </a:prstGeom>
          <a:solidFill>
            <a:srgbClr val="2E8B8D"/>
          </a:solidFill>
        </p:spPr>
        <p:txBody>
          <a:bodyPr/>
          <a:lstStyle/>
          <a:p>
            <a:endParaRPr lang="es-ES"/>
          </a:p>
        </p:txBody>
      </p:sp>
      <p:sp>
        <p:nvSpPr>
          <p:cNvPr id="111" name="ic"/>
          <p:cNvSpPr/>
          <p:nvPr/>
        </p:nvSpPr>
        <p:spPr>
          <a:xfrm rot="8100000">
            <a:off x="6222000" y="985000"/>
            <a:ext cx="140000" cy="150000"/>
          </a:xfrm>
          <a:prstGeom prst="teardrop">
            <a:avLst/>
          </a:prstGeom>
          <a:solidFill>
            <a:srgbClr val="FFFFFF"/>
          </a:solidFill>
        </p:spPr>
        <p:txBody>
          <a:bodyPr/>
          <a:lstStyle/>
          <a:p>
            <a:endParaRPr lang="es-ES"/>
          </a:p>
        </p:txBody>
      </p:sp>
      <p:sp>
        <p:nvSpPr>
          <p:cNvPr id="112" name="txt"/>
          <p:cNvSpPr txBox="1"/>
          <p:nvPr/>
        </p:nvSpPr>
        <p:spPr>
          <a:xfrm>
            <a:off x="6537000" y="905000"/>
            <a:ext cx="2262000" cy="40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2400" b="1" dirty="0">
                <a:solidFill>
                  <a:srgbClr val="2E8B8D"/>
                </a:solidFill>
                <a:latin typeface="Reddit Sans"/>
                <a:ea typeface="Reddit Sans"/>
                <a:cs typeface="Reddit Sans"/>
              </a:rPr>
              <a:t>14.08%</a:t>
            </a:r>
          </a:p>
        </p:txBody>
      </p:sp>
      <p:sp>
        <p:nvSpPr>
          <p:cNvPr id="113" name="txt"/>
          <p:cNvSpPr txBox="1"/>
          <p:nvPr/>
        </p:nvSpPr>
        <p:spPr>
          <a:xfrm>
            <a:off x="6537000" y="1295000"/>
            <a:ext cx="2262000" cy="28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algn="l"/>
            <a:r>
              <a:rPr lang="es-ES" sz="950" dirty="0">
                <a:solidFill>
                  <a:srgbClr val="595959"/>
                </a:solidFill>
                <a:latin typeface="Reddit Sans"/>
                <a:ea typeface="Reddit Sans"/>
                <a:cs typeface="Reddit Sans"/>
              </a:rPr>
              <a:t>CAGR ITSM Colombia hasta 2031</a:t>
            </a:r>
          </a:p>
        </p:txBody>
      </p:sp>
      <p:sp>
        <p:nvSpPr>
          <p:cNvPr id="114" name="card"/>
          <p:cNvSpPr/>
          <p:nvPr/>
        </p:nvSpPr>
        <p:spPr>
          <a:xfrm>
            <a:off x="343000" y="1600000"/>
            <a:ext cx="2692000" cy="1150000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E4E4E4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15" name="catIcon"/>
          <p:cNvSpPr/>
          <p:nvPr/>
        </p:nvSpPr>
        <p:spPr>
          <a:xfrm>
            <a:off x="433000" y="1655000"/>
            <a:ext cx="430000" cy="430000"/>
          </a:xfrm>
          <a:prstGeom prst="ellipse">
            <a:avLst/>
          </a:prstGeom>
          <a:solidFill>
            <a:srgbClr val="0C2362"/>
          </a:solidFill>
        </p:spPr>
        <p:txBody>
          <a:bodyPr/>
          <a:lstStyle/>
          <a:p>
            <a:endParaRPr lang="es-ES"/>
          </a:p>
        </p:txBody>
      </p:sp>
      <p:sp>
        <p:nvSpPr>
          <p:cNvPr id="116" name="ic"/>
          <p:cNvSpPr/>
          <p:nvPr/>
        </p:nvSpPr>
        <p:spPr>
          <a:xfrm rot="5400000">
            <a:off x="508000" y="1730000"/>
            <a:ext cx="280000" cy="280000"/>
          </a:xfrm>
          <a:prstGeom prst="homePlate">
            <a:avLst/>
          </a:prstGeom>
          <a:solidFill>
            <a:srgbClr val="FFFFFF"/>
          </a:solidFill>
        </p:spPr>
        <p:txBody>
          <a:bodyPr/>
          <a:lstStyle/>
          <a:p>
            <a:endParaRPr lang="es-ES"/>
          </a:p>
        </p:txBody>
      </p:sp>
      <p:sp>
        <p:nvSpPr>
          <p:cNvPr id="117" name="txt"/>
          <p:cNvSpPr txBox="1"/>
          <p:nvPr/>
        </p:nvSpPr>
        <p:spPr>
          <a:xfrm>
            <a:off x="903000" y="1670000"/>
            <a:ext cx="2072000" cy="42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1100" b="1" dirty="0">
                <a:solidFill>
                  <a:srgbClr val="0C2362"/>
                </a:solidFill>
                <a:latin typeface="Reddit Sans"/>
                <a:ea typeface="Reddit Sans"/>
                <a:cs typeface="Reddit Sans"/>
              </a:rPr>
              <a:t>BANCA Y SEGUROS</a:t>
            </a:r>
          </a:p>
        </p:txBody>
      </p:sp>
      <p:sp>
        <p:nvSpPr>
          <p:cNvPr id="118" name="txt"/>
          <p:cNvSpPr txBox="1"/>
          <p:nvPr/>
        </p:nvSpPr>
        <p:spPr>
          <a:xfrm>
            <a:off x="463000" y="2140000"/>
            <a:ext cx="2472000" cy="57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marL="137160" indent="-137160" algn="l">
              <a:buFont typeface="Arial"/>
              <a:buChar char="•"/>
            </a:pPr>
            <a:r>
              <a:rPr lang="es-ES" sz="900" dirty="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Continuidad transaccional</a:t>
            </a:r>
          </a:p>
          <a:p>
            <a:pPr marL="137160" indent="-137160" algn="l">
              <a:buFont typeface="Arial"/>
              <a:buChar char="•"/>
            </a:pPr>
            <a:r>
              <a:rPr lang="es-ES" sz="900" dirty="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SFC / SOX, fraude tiempo real</a:t>
            </a:r>
          </a:p>
          <a:p>
            <a:pPr marL="137160" indent="-137160" algn="l">
              <a:buFont typeface="Arial"/>
              <a:buChar char="•"/>
            </a:pPr>
            <a:r>
              <a:rPr lang="es-ES" sz="900" dirty="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BCP / DRP</a:t>
            </a:r>
          </a:p>
          <a:p>
            <a:pPr marL="137160" indent="-137160" algn="l">
              <a:buFont typeface="Arial"/>
              <a:buChar char="•"/>
            </a:pPr>
            <a:r>
              <a:rPr lang="es-ES" sz="900" dirty="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SURA y Bancolombia actuales</a:t>
            </a:r>
          </a:p>
        </p:txBody>
      </p:sp>
      <p:sp>
        <p:nvSpPr>
          <p:cNvPr id="119" name="card"/>
          <p:cNvSpPr/>
          <p:nvPr/>
        </p:nvSpPr>
        <p:spPr>
          <a:xfrm>
            <a:off x="3225000" y="1600000"/>
            <a:ext cx="2692000" cy="1150000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E4E4E4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20" name="catIcon"/>
          <p:cNvSpPr/>
          <p:nvPr/>
        </p:nvSpPr>
        <p:spPr>
          <a:xfrm>
            <a:off x="3315000" y="1655000"/>
            <a:ext cx="430000" cy="430000"/>
          </a:xfrm>
          <a:prstGeom prst="ellipse">
            <a:avLst/>
          </a:prstGeom>
          <a:solidFill>
            <a:srgbClr val="0B4DC4"/>
          </a:solidFill>
        </p:spPr>
        <p:txBody>
          <a:bodyPr/>
          <a:lstStyle/>
          <a:p>
            <a:endParaRPr lang="es-ES"/>
          </a:p>
        </p:txBody>
      </p:sp>
      <p:sp>
        <p:nvSpPr>
          <p:cNvPr id="121" name="ic"/>
          <p:cNvSpPr/>
          <p:nvPr/>
        </p:nvSpPr>
        <p:spPr>
          <a:xfrm>
            <a:off x="3400000" y="1750000"/>
            <a:ext cx="260000" cy="240000"/>
          </a:xfrm>
          <a:prstGeom prst="heart">
            <a:avLst/>
          </a:prstGeom>
          <a:solidFill>
            <a:srgbClr val="FFFFFF"/>
          </a:solidFill>
        </p:spPr>
        <p:txBody>
          <a:bodyPr/>
          <a:lstStyle/>
          <a:p>
            <a:endParaRPr lang="es-ES"/>
          </a:p>
        </p:txBody>
      </p:sp>
      <p:sp>
        <p:nvSpPr>
          <p:cNvPr id="122" name="txt"/>
          <p:cNvSpPr txBox="1"/>
          <p:nvPr/>
        </p:nvSpPr>
        <p:spPr>
          <a:xfrm>
            <a:off x="3785000" y="1670000"/>
            <a:ext cx="2072000" cy="42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1100" b="1" dirty="0">
                <a:solidFill>
                  <a:srgbClr val="0C2362"/>
                </a:solidFill>
                <a:latin typeface="Reddit Sans"/>
                <a:ea typeface="Reddit Sans"/>
                <a:cs typeface="Reddit Sans"/>
              </a:rPr>
              <a:t>SALUD (EPS/IPS)</a:t>
            </a:r>
          </a:p>
        </p:txBody>
      </p:sp>
      <p:sp>
        <p:nvSpPr>
          <p:cNvPr id="123" name="txt"/>
          <p:cNvSpPr txBox="1"/>
          <p:nvPr/>
        </p:nvSpPr>
        <p:spPr>
          <a:xfrm>
            <a:off x="3345000" y="2140000"/>
            <a:ext cx="2472000" cy="57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marL="137160" indent="-137160" algn="l">
              <a:buFont typeface="Arial"/>
              <a:buChar char="•"/>
            </a:pPr>
            <a:r>
              <a:rPr lang="es-ES" sz="900" dirty="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Continuidad asistencial</a:t>
            </a:r>
          </a:p>
          <a:p>
            <a:pPr marL="137160" indent="-137160" algn="l">
              <a:buFont typeface="Arial"/>
              <a:buChar char="•"/>
            </a:pPr>
            <a:r>
              <a:rPr lang="es-ES" sz="900" dirty="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Historia clínica digital</a:t>
            </a:r>
          </a:p>
          <a:p>
            <a:pPr marL="137160" indent="-137160" algn="l">
              <a:buFont typeface="Arial"/>
              <a:buChar char="•"/>
            </a:pPr>
            <a:r>
              <a:rPr lang="es-ES" sz="900" dirty="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Trazabilidad y compliance</a:t>
            </a:r>
          </a:p>
          <a:p>
            <a:pPr marL="137160" indent="-137160" algn="l">
              <a:buFont typeface="Arial"/>
              <a:buChar char="•"/>
            </a:pPr>
            <a:r>
              <a:rPr lang="es-ES" sz="900" dirty="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Minsalud</a:t>
            </a:r>
          </a:p>
        </p:txBody>
      </p:sp>
      <p:sp>
        <p:nvSpPr>
          <p:cNvPr id="124" name="card"/>
          <p:cNvSpPr/>
          <p:nvPr/>
        </p:nvSpPr>
        <p:spPr>
          <a:xfrm>
            <a:off x="6107000" y="1600000"/>
            <a:ext cx="2692000" cy="1150000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E4E4E4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25" name="catIcon"/>
          <p:cNvSpPr/>
          <p:nvPr/>
        </p:nvSpPr>
        <p:spPr>
          <a:xfrm>
            <a:off x="6197000" y="1655000"/>
            <a:ext cx="430000" cy="430000"/>
          </a:xfrm>
          <a:prstGeom prst="ellipse">
            <a:avLst/>
          </a:prstGeom>
          <a:solidFill>
            <a:srgbClr val="2E8B8D"/>
          </a:solidFill>
        </p:spPr>
        <p:txBody>
          <a:bodyPr/>
          <a:lstStyle/>
          <a:p>
            <a:endParaRPr lang="es-ES"/>
          </a:p>
        </p:txBody>
      </p:sp>
      <p:sp>
        <p:nvSpPr>
          <p:cNvPr id="126" name="ic"/>
          <p:cNvSpPr/>
          <p:nvPr/>
        </p:nvSpPr>
        <p:spPr>
          <a:xfrm>
            <a:off x="6312000" y="1740000"/>
            <a:ext cx="200000" cy="260000"/>
          </a:xfrm>
          <a:prstGeom prst="lightningBolt">
            <a:avLst/>
          </a:prstGeom>
          <a:solidFill>
            <a:srgbClr val="FFFFFF"/>
          </a:solidFill>
        </p:spPr>
        <p:txBody>
          <a:bodyPr/>
          <a:lstStyle/>
          <a:p>
            <a:endParaRPr lang="es-ES"/>
          </a:p>
        </p:txBody>
      </p:sp>
      <p:sp>
        <p:nvSpPr>
          <p:cNvPr id="127" name="txt"/>
          <p:cNvSpPr txBox="1"/>
          <p:nvPr/>
        </p:nvSpPr>
        <p:spPr>
          <a:xfrm>
            <a:off x="6667000" y="1670000"/>
            <a:ext cx="2072000" cy="42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1100" b="1" dirty="0">
                <a:solidFill>
                  <a:srgbClr val="0C2362"/>
                </a:solidFill>
                <a:latin typeface="Reddit Sans"/>
                <a:ea typeface="Reddit Sans"/>
                <a:cs typeface="Reddit Sans"/>
              </a:rPr>
              <a:t>ENERGÍA Y UTILITIES</a:t>
            </a:r>
          </a:p>
        </p:txBody>
      </p:sp>
      <p:sp>
        <p:nvSpPr>
          <p:cNvPr id="128" name="txt"/>
          <p:cNvSpPr txBox="1"/>
          <p:nvPr/>
        </p:nvSpPr>
        <p:spPr>
          <a:xfrm>
            <a:off x="6227000" y="2140000"/>
            <a:ext cx="2472000" cy="57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marL="137160" indent="-137160" algn="l">
              <a:buFont typeface="Arial"/>
              <a:buChar char="•"/>
            </a:pPr>
            <a:r>
              <a:rPr lang="es-ES" sz="900" dirty="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Operación crítica 24x7</a:t>
            </a:r>
          </a:p>
          <a:p>
            <a:pPr marL="137160" indent="-137160" algn="l">
              <a:buFont typeface="Arial"/>
              <a:buChar char="•"/>
            </a:pPr>
            <a:r>
              <a:rPr lang="es-ES" sz="900" dirty="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AIOps y observabilidad predictiva</a:t>
            </a:r>
          </a:p>
          <a:p>
            <a:pPr marL="137160" indent="-137160" algn="l">
              <a:buFont typeface="Arial"/>
              <a:buChar char="•"/>
            </a:pPr>
            <a:r>
              <a:rPr lang="es-ES" sz="900" dirty="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Eventos críticos</a:t>
            </a:r>
          </a:p>
          <a:p>
            <a:pPr marL="137160" indent="-137160" algn="l">
              <a:buFont typeface="Arial"/>
              <a:buChar char="•"/>
            </a:pPr>
            <a:r>
              <a:rPr lang="es-ES" sz="900" dirty="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XM y AES</a:t>
            </a:r>
          </a:p>
        </p:txBody>
      </p:sp>
      <p:sp>
        <p:nvSpPr>
          <p:cNvPr id="131" name="txt"/>
          <p:cNvSpPr txBox="1"/>
          <p:nvPr/>
        </p:nvSpPr>
        <p:spPr>
          <a:xfrm>
            <a:off x="773000" y="2810000"/>
            <a:ext cx="3450000" cy="30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1050" b="1" dirty="0">
                <a:solidFill>
                  <a:schemeClr val="accent1">
                    <a:lumMod val="49000"/>
                  </a:schemeClr>
                </a:solidFill>
                <a:latin typeface="Reddit Sans"/>
                <a:ea typeface="Reddit Sans"/>
                <a:cs typeface="Reddit Sans"/>
              </a:rPr>
              <a:t>REGULACIÓN: ACELERADOR DE LA DEMANDA</a:t>
            </a:r>
          </a:p>
        </p:txBody>
      </p:sp>
      <p:sp>
        <p:nvSpPr>
          <p:cNvPr id="132" name="div"/>
          <p:cNvSpPr/>
          <p:nvPr/>
        </p:nvSpPr>
        <p:spPr>
          <a:xfrm>
            <a:off x="4323000" y="2880000"/>
            <a:ext cx="12000" cy="160000"/>
          </a:xfrm>
          <a:prstGeom prst="rect">
            <a:avLst/>
          </a:prstGeom>
          <a:solidFill>
            <a:srgbClr val="6B7BA8"/>
          </a:solidFill>
        </p:spPr>
        <p:txBody>
          <a:bodyPr/>
          <a:lstStyle/>
          <a:p>
            <a:endParaRPr lang="es-ES"/>
          </a:p>
        </p:txBody>
      </p:sp>
      <p:sp>
        <p:nvSpPr>
          <p:cNvPr id="133" name="txt"/>
          <p:cNvSpPr txBox="1"/>
          <p:nvPr/>
        </p:nvSpPr>
        <p:spPr>
          <a:xfrm>
            <a:off x="4473000" y="2810000"/>
            <a:ext cx="4276000" cy="30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950" dirty="0">
                <a:solidFill>
                  <a:schemeClr val="tx1"/>
                </a:solidFill>
                <a:latin typeface="Reddit Sans"/>
                <a:ea typeface="Reddit Sans"/>
                <a:cs typeface="Reddit Sans"/>
              </a:rPr>
              <a:t>Cumplimiento obligatorio que genera demanda de servicios gestionados</a:t>
            </a:r>
          </a:p>
        </p:txBody>
      </p:sp>
      <p:sp>
        <p:nvSpPr>
          <p:cNvPr id="134" name="card"/>
          <p:cNvSpPr/>
          <p:nvPr/>
        </p:nvSpPr>
        <p:spPr>
          <a:xfrm>
            <a:off x="343000" y="3170000"/>
            <a:ext cx="2692000" cy="960000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E4E4E4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35" name="botIcon"/>
          <p:cNvSpPr/>
          <p:nvPr/>
        </p:nvSpPr>
        <p:spPr>
          <a:xfrm>
            <a:off x="423000" y="3225000"/>
            <a:ext cx="300000" cy="300000"/>
          </a:xfrm>
          <a:prstGeom prst="ellipse">
            <a:avLst/>
          </a:prstGeom>
          <a:solidFill>
            <a:srgbClr val="0C2362"/>
          </a:solidFill>
        </p:spPr>
        <p:txBody>
          <a:bodyPr/>
          <a:lstStyle/>
          <a:p>
            <a:endParaRPr lang="es-ES"/>
          </a:p>
        </p:txBody>
      </p:sp>
      <p:sp>
        <p:nvSpPr>
          <p:cNvPr id="136" name="ic"/>
          <p:cNvSpPr/>
          <p:nvPr/>
        </p:nvSpPr>
        <p:spPr>
          <a:xfrm>
            <a:off x="483000" y="3285000"/>
            <a:ext cx="180000" cy="150000"/>
          </a:xfrm>
          <a:prstGeom prst="flowChartDocument">
            <a:avLst/>
          </a:prstGeom>
          <a:solidFill>
            <a:srgbClr val="FFFFFF"/>
          </a:solidFill>
        </p:spPr>
        <p:txBody>
          <a:bodyPr/>
          <a:lstStyle/>
          <a:p>
            <a:endParaRPr lang="es-ES"/>
          </a:p>
        </p:txBody>
      </p:sp>
      <p:sp>
        <p:nvSpPr>
          <p:cNvPr id="137" name="txt"/>
          <p:cNvSpPr txBox="1"/>
          <p:nvPr/>
        </p:nvSpPr>
        <p:spPr>
          <a:xfrm>
            <a:off x="763000" y="3215000"/>
            <a:ext cx="2222000" cy="34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950" b="1" dirty="0">
                <a:solidFill>
                  <a:srgbClr val="0C2362"/>
                </a:solidFill>
                <a:latin typeface="Reddit Sans"/>
                <a:ea typeface="Reddit Sans"/>
                <a:cs typeface="Reddit Sans"/>
              </a:rPr>
              <a:t>SFC CIRCULAR 007 (2024)</a:t>
            </a:r>
          </a:p>
        </p:txBody>
      </p:sp>
      <p:sp>
        <p:nvSpPr>
          <p:cNvPr id="138" name="txt"/>
          <p:cNvSpPr txBox="1"/>
          <p:nvPr/>
        </p:nvSpPr>
        <p:spPr>
          <a:xfrm>
            <a:off x="453000" y="3570000"/>
            <a:ext cx="2502000" cy="53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marL="137160" indent="-137160" algn="l">
              <a:buFont typeface="Arial"/>
              <a:buChar char="•"/>
            </a:pPr>
            <a:r>
              <a:rPr lang="es-ES" sz="820" dirty="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SIEM</a:t>
            </a:r>
          </a:p>
          <a:p>
            <a:pPr marL="137160" indent="-137160" algn="l">
              <a:buFont typeface="Arial"/>
              <a:buChar char="•"/>
            </a:pPr>
            <a:r>
              <a:rPr lang="es-ES" sz="820" dirty="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Gestión de incidentes</a:t>
            </a:r>
          </a:p>
          <a:p>
            <a:pPr marL="137160" indent="-137160" algn="l">
              <a:buFont typeface="Arial"/>
              <a:buChar char="•"/>
            </a:pPr>
            <a:r>
              <a:rPr lang="es-ES" sz="820" dirty="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Gobernanza tecnológica</a:t>
            </a:r>
          </a:p>
          <a:p>
            <a:pPr marL="137160" indent="-137160" algn="l">
              <a:buFont typeface="Arial"/>
              <a:buChar char="•"/>
            </a:pPr>
            <a:r>
              <a:rPr lang="es-ES" sz="820" dirty="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Trazabilidad obligatoria</a:t>
            </a:r>
          </a:p>
        </p:txBody>
      </p:sp>
      <p:sp>
        <p:nvSpPr>
          <p:cNvPr id="139" name="card"/>
          <p:cNvSpPr/>
          <p:nvPr/>
        </p:nvSpPr>
        <p:spPr>
          <a:xfrm>
            <a:off x="3225000" y="3170000"/>
            <a:ext cx="2692000" cy="960000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E4E4E4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40" name="botIcon"/>
          <p:cNvSpPr/>
          <p:nvPr/>
        </p:nvSpPr>
        <p:spPr>
          <a:xfrm>
            <a:off x="3305000" y="3225000"/>
            <a:ext cx="300000" cy="300000"/>
          </a:xfrm>
          <a:prstGeom prst="ellipse">
            <a:avLst/>
          </a:prstGeom>
          <a:solidFill>
            <a:srgbClr val="0B4DC4"/>
          </a:solidFill>
        </p:spPr>
        <p:txBody>
          <a:bodyPr/>
          <a:lstStyle/>
          <a:p>
            <a:endParaRPr lang="es-ES"/>
          </a:p>
        </p:txBody>
      </p:sp>
      <p:sp>
        <p:nvSpPr>
          <p:cNvPr id="141" name="ic"/>
          <p:cNvSpPr/>
          <p:nvPr/>
        </p:nvSpPr>
        <p:spPr>
          <a:xfrm>
            <a:off x="3365000" y="3285000"/>
            <a:ext cx="180000" cy="180000"/>
          </a:xfrm>
          <a:prstGeom prst="donut">
            <a:avLst/>
          </a:prstGeom>
          <a:solidFill>
            <a:srgbClr val="FFFFFF"/>
          </a:solidFill>
        </p:spPr>
        <p:txBody>
          <a:bodyPr/>
          <a:lstStyle/>
          <a:p>
            <a:endParaRPr lang="es-ES"/>
          </a:p>
        </p:txBody>
      </p:sp>
      <p:sp>
        <p:nvSpPr>
          <p:cNvPr id="142" name="txt"/>
          <p:cNvSpPr txBox="1"/>
          <p:nvPr/>
        </p:nvSpPr>
        <p:spPr>
          <a:xfrm>
            <a:off x="3645000" y="3215000"/>
            <a:ext cx="2222000" cy="34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950" b="1" dirty="0">
                <a:solidFill>
                  <a:srgbClr val="0C2362"/>
                </a:solidFill>
                <a:latin typeface="Reddit Sans"/>
                <a:ea typeface="Reddit Sans"/>
                <a:cs typeface="Reddit Sans"/>
              </a:rPr>
              <a:t>OPEN FINANCE (ago 2026)</a:t>
            </a:r>
          </a:p>
        </p:txBody>
      </p:sp>
      <p:sp>
        <p:nvSpPr>
          <p:cNvPr id="143" name="txt"/>
          <p:cNvSpPr txBox="1"/>
          <p:nvPr/>
        </p:nvSpPr>
        <p:spPr>
          <a:xfrm>
            <a:off x="3335000" y="3570000"/>
            <a:ext cx="2502000" cy="53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marL="137160" indent="-137160" algn="l">
              <a:buFont typeface="Arial"/>
              <a:buChar char="•"/>
            </a:pPr>
            <a:r>
              <a:rPr lang="es-ES" sz="820" dirty="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APIs abiertas</a:t>
            </a:r>
          </a:p>
          <a:p>
            <a:pPr marL="137160" indent="-137160" algn="l">
              <a:buFont typeface="Arial"/>
              <a:buChar char="•"/>
            </a:pPr>
            <a:r>
              <a:rPr lang="es-ES" sz="820" dirty="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Continuidad de canales</a:t>
            </a:r>
          </a:p>
          <a:p>
            <a:pPr marL="137160" indent="-137160" algn="l">
              <a:buFont typeface="Arial"/>
              <a:buChar char="•"/>
            </a:pPr>
            <a:r>
              <a:rPr lang="es-ES" sz="820" dirty="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Nuevos vectores de riesgo operacional</a:t>
            </a:r>
          </a:p>
        </p:txBody>
      </p:sp>
      <p:sp>
        <p:nvSpPr>
          <p:cNvPr id="144" name="card"/>
          <p:cNvSpPr/>
          <p:nvPr/>
        </p:nvSpPr>
        <p:spPr>
          <a:xfrm>
            <a:off x="6107000" y="3170000"/>
            <a:ext cx="2692000" cy="960000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E4E4E4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45" name="botIcon"/>
          <p:cNvSpPr/>
          <p:nvPr/>
        </p:nvSpPr>
        <p:spPr>
          <a:xfrm>
            <a:off x="6187000" y="3225000"/>
            <a:ext cx="300000" cy="300000"/>
          </a:xfrm>
          <a:prstGeom prst="ellipse">
            <a:avLst/>
          </a:prstGeom>
          <a:solidFill>
            <a:srgbClr val="2E8B8D"/>
          </a:solidFill>
        </p:spPr>
        <p:txBody>
          <a:bodyPr/>
          <a:lstStyle/>
          <a:p>
            <a:endParaRPr lang="es-ES"/>
          </a:p>
        </p:txBody>
      </p:sp>
      <p:sp>
        <p:nvSpPr>
          <p:cNvPr id="146" name="glyph"/>
          <p:cNvSpPr txBox="1"/>
          <p:nvPr/>
        </p:nvSpPr>
        <p:spPr>
          <a:xfrm>
            <a:off x="6187000" y="3225000"/>
            <a:ext cx="300000" cy="30000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algn="ctr"/>
            <a:r>
              <a:rPr lang="es-ES" sz="700" b="1" dirty="0">
                <a:solidFill>
                  <a:srgbClr val="FFFFFF"/>
                </a:solidFill>
                <a:latin typeface="Reddit Sans"/>
              </a:rPr>
              <a:t>ISO</a:t>
            </a:r>
          </a:p>
        </p:txBody>
      </p:sp>
      <p:sp>
        <p:nvSpPr>
          <p:cNvPr id="147" name="txt"/>
          <p:cNvSpPr txBox="1"/>
          <p:nvPr/>
        </p:nvSpPr>
        <p:spPr>
          <a:xfrm>
            <a:off x="6527000" y="3215000"/>
            <a:ext cx="2222000" cy="340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950" b="1" dirty="0">
                <a:solidFill>
                  <a:srgbClr val="0C2362"/>
                </a:solidFill>
                <a:latin typeface="Reddit Sans"/>
                <a:ea typeface="Reddit Sans"/>
                <a:cs typeface="Reddit Sans"/>
              </a:rPr>
              <a:t>ISO 42001 IA</a:t>
            </a:r>
          </a:p>
        </p:txBody>
      </p:sp>
      <p:sp>
        <p:nvSpPr>
          <p:cNvPr id="148" name="txt"/>
          <p:cNvSpPr txBox="1"/>
          <p:nvPr/>
        </p:nvSpPr>
        <p:spPr>
          <a:xfrm>
            <a:off x="6217000" y="3570000"/>
            <a:ext cx="2502000" cy="530000"/>
          </a:xfrm>
          <a:prstGeom prst="rect">
            <a:avLst/>
          </a:prstGeom>
          <a:noFill/>
        </p:spPr>
        <p:txBody>
          <a:bodyPr wrap="square" lIns="18000" tIns="9000" rIns="18000" bIns="9000" anchor="t">
            <a:normAutofit/>
          </a:bodyPr>
          <a:lstStyle/>
          <a:p>
            <a:pPr marL="137160" indent="-137160" algn="l">
              <a:buFont typeface="Arial"/>
              <a:buChar char="•"/>
            </a:pPr>
            <a:r>
              <a:rPr lang="es-ES" sz="820" dirty="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Gobierno de IA</a:t>
            </a:r>
          </a:p>
          <a:p>
            <a:pPr marL="137160" indent="-137160" algn="l">
              <a:buFont typeface="Arial"/>
              <a:buChar char="•"/>
            </a:pPr>
            <a:r>
              <a:rPr lang="es-ES" sz="820" dirty="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Responsabilidad</a:t>
            </a:r>
          </a:p>
          <a:p>
            <a:pPr marL="137160" indent="-137160" algn="l">
              <a:buFont typeface="Arial"/>
              <a:buChar char="•"/>
            </a:pPr>
            <a:r>
              <a:rPr lang="es-ES" sz="820" dirty="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Transparencia</a:t>
            </a:r>
          </a:p>
          <a:p>
            <a:pPr marL="137160" indent="-137160" algn="l">
              <a:buFont typeface="Arial"/>
              <a:buChar char="•"/>
            </a:pPr>
            <a:r>
              <a:rPr lang="es-ES" sz="820" dirty="0">
                <a:solidFill>
                  <a:srgbClr val="333A4D"/>
                </a:solidFill>
                <a:latin typeface="Reddit Sans"/>
                <a:ea typeface="Reddit Sans"/>
                <a:cs typeface="Reddit Sans"/>
              </a:rPr>
              <a:t>Auditabilidad. Exigido por grandes clientes</a:t>
            </a:r>
          </a:p>
        </p:txBody>
      </p:sp>
      <p:sp>
        <p:nvSpPr>
          <p:cNvPr id="151" name="txt"/>
          <p:cNvSpPr txBox="1"/>
          <p:nvPr/>
        </p:nvSpPr>
        <p:spPr>
          <a:xfrm>
            <a:off x="425671" y="4166329"/>
            <a:ext cx="7916000" cy="335000"/>
          </a:xfrm>
          <a:prstGeom prst="rect">
            <a:avLst/>
          </a:prstGeom>
          <a:noFill/>
        </p:spPr>
        <p:txBody>
          <a:bodyPr wrap="square" lIns="18000" tIns="9000" rIns="18000" bIns="9000" anchor="ctr">
            <a:normAutofit/>
          </a:bodyPr>
          <a:lstStyle/>
          <a:p>
            <a:pPr algn="l"/>
            <a:r>
              <a:rPr lang="es-ES" sz="1050" b="1" dirty="0">
                <a:solidFill>
                  <a:schemeClr val="tx1"/>
                </a:solidFill>
                <a:latin typeface="Reddit Sans"/>
                <a:ea typeface="Reddit Sans"/>
                <a:cs typeface="Reddit Sans"/>
              </a:rPr>
              <a:t>La regulación está transformando el Service </a:t>
            </a:r>
            <a:r>
              <a:rPr lang="es-ES" sz="1050" b="1" dirty="0" err="1">
                <a:solidFill>
                  <a:schemeClr val="tx1"/>
                </a:solidFill>
                <a:latin typeface="Reddit Sans"/>
                <a:ea typeface="Reddit Sans"/>
                <a:cs typeface="Reddit Sans"/>
              </a:rPr>
              <a:t>Desk</a:t>
            </a:r>
            <a:r>
              <a:rPr lang="es-ES" sz="1050" b="1" dirty="0">
                <a:solidFill>
                  <a:schemeClr val="tx1"/>
                </a:solidFill>
                <a:latin typeface="Reddit Sans"/>
                <a:ea typeface="Reddit Sans"/>
                <a:cs typeface="Reddit Sans"/>
              </a:rPr>
              <a:t> en una </a:t>
            </a:r>
            <a:r>
              <a:rPr lang="es-ES" sz="1050" b="1" dirty="0">
                <a:solidFill>
                  <a:schemeClr val="accent1">
                    <a:lumMod val="49000"/>
                  </a:schemeClr>
                </a:solidFill>
                <a:latin typeface="Reddit Sans"/>
                <a:ea typeface="Reddit Sans"/>
                <a:cs typeface="Reddit Sans"/>
              </a:rPr>
              <a:t>capacidad crítica </a:t>
            </a:r>
            <a:r>
              <a:rPr lang="es-ES" sz="1050" b="1" dirty="0">
                <a:solidFill>
                  <a:schemeClr val="tx1"/>
                </a:solidFill>
                <a:latin typeface="Reddit Sans"/>
                <a:ea typeface="Reddit Sans"/>
                <a:cs typeface="Reddit Sans"/>
              </a:rPr>
              <a:t>del negocio.</a:t>
            </a:r>
          </a:p>
        </p:txBody>
      </p:sp>
      <p:cxnSp>
        <p:nvCxnSpPr>
          <p:cNvPr id="3" name="Conector recto de flecha 2">
            <a:extLst>
              <a:ext uri="{FF2B5EF4-FFF2-40B4-BE49-F238E27FC236}">
                <a16:creationId xmlns:a16="http://schemas.microsoft.com/office/drawing/2014/main" id="{10C981B3-81A0-CD9E-A9E4-78CB43BD6637}"/>
              </a:ext>
            </a:extLst>
          </p:cNvPr>
          <p:cNvCxnSpPr/>
          <p:nvPr/>
        </p:nvCxnSpPr>
        <p:spPr>
          <a:xfrm flipV="1">
            <a:off x="345192" y="3052869"/>
            <a:ext cx="8403485" cy="4297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12259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>
          <a:extLst>
            <a:ext uri="{FF2B5EF4-FFF2-40B4-BE49-F238E27FC236}">
              <a16:creationId xmlns:a16="http://schemas.microsoft.com/office/drawing/2014/main" id="{B6DBC5D6-A59B-9220-8E08-1EB16860B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57f5ba65c_1_28">
            <a:extLst>
              <a:ext uri="{FF2B5EF4-FFF2-40B4-BE49-F238E27FC236}">
                <a16:creationId xmlns:a16="http://schemas.microsoft.com/office/drawing/2014/main" id="{A11E1946-1C5C-7483-FF80-3D90E96264A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s"/>
              <a:t>Mesas de Servicio de Nueva Generación</a:t>
            </a:r>
          </a:p>
        </p:txBody>
      </p:sp>
      <p:sp>
        <p:nvSpPr>
          <p:cNvPr id="125" name="Google Shape;125;g3657f5ba65c_1_28">
            <a:extLst>
              <a:ext uri="{FF2B5EF4-FFF2-40B4-BE49-F238E27FC236}">
                <a16:creationId xmlns:a16="http://schemas.microsoft.com/office/drawing/2014/main" id="{166CB5D3-5452-0F28-D678-36EABC00835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/>
            <a:r>
              <a:rPr lang="es-ES"/>
              <a:t>Operación Actual</a:t>
            </a:r>
          </a:p>
        </p:txBody>
      </p:sp>
    </p:spTree>
    <p:extLst>
      <p:ext uri="{BB962C8B-B14F-4D97-AF65-F5344CB8AC3E}">
        <p14:creationId xmlns:p14="http://schemas.microsoft.com/office/powerpoint/2010/main" val="37198613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"/>
          <p:cNvSpPr txBox="1">
            <a:spLocks noGrp="1"/>
          </p:cNvSpPr>
          <p:nvPr>
            <p:ph type="title"/>
          </p:nvPr>
        </p:nvSpPr>
        <p:spPr>
          <a:xfrm>
            <a:off x="359550" y="404904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>
              <a:buClr>
                <a:schemeClr val="dk1"/>
              </a:buClr>
              <a:buSzPct val="54999"/>
            </a:pPr>
            <a:r>
              <a:rPr lang="es" sz="1800">
                <a:solidFill>
                  <a:schemeClr val="bg1"/>
                </a:solidFill>
                <a:sym typeface="Reddit Sans Medium"/>
              </a:rPr>
              <a:t>Mesas de Servicio Actuales</a:t>
            </a:r>
            <a:endParaRPr lang="es-ES">
              <a:solidFill>
                <a:schemeClr val="bg1"/>
              </a:solidFill>
              <a:latin typeface="Reddit Sans" pitchFamily="2" charset="0"/>
              <a:ea typeface="Reddit Sans" pitchFamily="2" charset="0"/>
            </a:endParaRPr>
          </a:p>
        </p:txBody>
      </p:sp>
      <p:sp>
        <p:nvSpPr>
          <p:cNvPr id="146" name="Google Shape;146;p5"/>
          <p:cNvSpPr txBox="1">
            <a:spLocks noGrp="1"/>
          </p:cNvSpPr>
          <p:nvPr>
            <p:ph type="title" idx="2"/>
          </p:nvPr>
        </p:nvSpPr>
        <p:spPr>
          <a:xfrm>
            <a:off x="463050" y="1464657"/>
            <a:ext cx="3757500" cy="19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s"/>
              <a:t>Nuestros Operación Actual</a:t>
            </a:r>
          </a:p>
        </p:txBody>
      </p:sp>
      <p:cxnSp>
        <p:nvCxnSpPr>
          <p:cNvPr id="147" name="Google Shape;147;p5"/>
          <p:cNvCxnSpPr/>
          <p:nvPr/>
        </p:nvCxnSpPr>
        <p:spPr>
          <a:xfrm rot="10800000" flipH="1">
            <a:off x="442269" y="612577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5495EA2D-6DD3-3FCA-401B-6EC35075AA0A}"/>
              </a:ext>
            </a:extLst>
          </p:cNvPr>
          <p:cNvSpPr txBox="1"/>
          <p:nvPr/>
        </p:nvSpPr>
        <p:spPr>
          <a:xfrm>
            <a:off x="4844143" y="797380"/>
            <a:ext cx="3695702" cy="39626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lnSpc>
                <a:spcPts val="1875"/>
              </a:lnSpc>
            </a:pP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Banca y Seguros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SURA, Bancolombia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continuidad de canales transaccionales, cumplimiento SFC/SOX,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gestión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fraude en tiempo real y BCP/DRP.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Energía</a:t>
            </a: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 y </a:t>
            </a:r>
            <a:r>
              <a:rPr lang="es-ES" sz="1100" b="1" i="0" u="none" strike="noStrike" baseline="0" err="1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Utilities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XM, AES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operación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critica 24x7, monitoreo de infraestructura y aplicaciones, </a:t>
            </a:r>
            <a:r>
              <a:rPr lang="es-ES" sz="1100" b="0" i="0" u="none" strike="noStrike" baseline="0" err="1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observabilidad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y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gestión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eventos de alta criticidad.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Salud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Medicarte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continuidad asistencial,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protección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datos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clínicos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(Habeas Data / Supersalud), interoperabilidad RIPS/PISIS y trazabilidad de historia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clínica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.</a:t>
            </a: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ctr"/>
            <a:endParaRPr lang="es-E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4" name="ttl"/>
          <p:cNvSpPr txBox="1">
            <a:spLocks noGrp="1"/>
          </p:cNvSpPr>
          <p:nvPr/>
        </p:nvSpPr>
        <p:spPr>
          <a:xfrm>
            <a:off x="320040" y="91440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algn="l"/>
            <a:r>
              <a:rPr lang="es-ES" sz="2000" b="1">
                <a:solidFill>
                  <a:schemeClr val="accent1">
                    <a:lumMod val="49000"/>
                  </a:schemeClr>
                </a:solidFill>
                <a:highlight>
                  <a:srgbClr val="FF0000"/>
                </a:highlight>
                <a:latin typeface="Reddit Sans"/>
                <a:ea typeface="Reddit Sans"/>
              </a:rPr>
              <a:t>Nuestra </a:t>
            </a:r>
            <a:r>
              <a:rPr lang="es-ES" sz="2000" b="1" err="1">
                <a:solidFill>
                  <a:schemeClr val="accent1">
                    <a:lumMod val="49000"/>
                  </a:schemeClr>
                </a:solidFill>
                <a:highlight>
                  <a:srgbClr val="FF0000"/>
                </a:highlight>
                <a:latin typeface="Reddit Sans"/>
                <a:ea typeface="Reddit Sans"/>
              </a:rPr>
              <a:t>Operacion</a:t>
            </a:r>
            <a:r>
              <a:rPr lang="es-ES" sz="2000" b="1">
                <a:solidFill>
                  <a:schemeClr val="accent1">
                    <a:lumMod val="49000"/>
                  </a:schemeClr>
                </a:solidFill>
                <a:highlight>
                  <a:srgbClr val="FF0000"/>
                </a:highlight>
                <a:latin typeface="Reddit Sans"/>
                <a:ea typeface="Reddit Sans"/>
              </a:rPr>
              <a:t> Actual — 8 Mesas de Servicio Gestionadas</a:t>
            </a:r>
          </a:p>
        </p:txBody>
      </p:sp>
      <p:sp>
        <p:nvSpPr>
          <p:cNvPr id="5" name="sub"/>
          <p:cNvSpPr txBox="1">
            <a:spLocks noGrp="1"/>
          </p:cNvSpPr>
          <p:nvPr/>
        </p:nvSpPr>
        <p:spPr>
          <a:xfrm>
            <a:off x="260169" y="839071"/>
            <a:ext cx="7772400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lnSpcReduction="10000"/>
          </a:bodyPr>
          <a:lstStyle/>
          <a:p>
            <a:pPr algn="l"/>
            <a:r>
              <a:rPr lang="es-ES" sz="1000">
                <a:solidFill>
                  <a:srgbClr val="6B7280"/>
                </a:solidFill>
                <a:latin typeface="Reddit Sans"/>
                <a:ea typeface="Reddit Sans"/>
              </a:rPr>
              <a:t>Banca y Seguros · Energia y Utilities · Diagnosticadas con modelo de madurez N0-N5 propio</a:t>
            </a:r>
          </a:p>
        </p:txBody>
      </p:sp>
      <p:sp>
        <p:nvSpPr>
          <p:cNvPr id="10" name="cb"/>
          <p:cNvSpPr>
            <a:spLocks noGrp="1"/>
          </p:cNvSpPr>
          <p:nvPr/>
        </p:nvSpPr>
        <p:spPr>
          <a:xfrm>
            <a:off x="336369" y="1512244"/>
            <a:ext cx="1481328" cy="3127248"/>
          </a:xfrm>
          <a:prstGeom prst="roundRect">
            <a:avLst>
              <a:gd name="adj" fmla="val 15000"/>
            </a:avLst>
          </a:prstGeom>
          <a:solidFill>
            <a:srgbClr val="E8EDF8"/>
          </a:solidFill>
          <a:ln w="15875">
            <a:solidFill>
              <a:srgbClr val="0D1B5E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11" name="chdr"/>
          <p:cNvSpPr>
            <a:spLocks noGrp="1"/>
          </p:cNvSpPr>
          <p:nvPr/>
        </p:nvSpPr>
        <p:spPr>
          <a:xfrm>
            <a:off x="336369" y="1512244"/>
            <a:ext cx="1481328" cy="402336"/>
          </a:xfrm>
          <a:prstGeom prst="roundRect">
            <a:avLst>
              <a:gd name="adj" fmla="val 15000"/>
            </a:avLst>
          </a:prstGeom>
          <a:solidFill>
            <a:srgbClr val="0D1B5E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2" name="chdr2"/>
          <p:cNvSpPr>
            <a:spLocks noGrp="1"/>
          </p:cNvSpPr>
          <p:nvPr/>
        </p:nvSpPr>
        <p:spPr>
          <a:xfrm>
            <a:off x="336369" y="1768276"/>
            <a:ext cx="1481328" cy="146304"/>
          </a:xfrm>
          <a:prstGeom prst="rect">
            <a:avLst/>
          </a:prstGeom>
          <a:solidFill>
            <a:srgbClr val="0D1B5E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3" name="cnom"/>
          <p:cNvSpPr txBox="1">
            <a:spLocks noGrp="1"/>
          </p:cNvSpPr>
          <p:nvPr/>
        </p:nvSpPr>
        <p:spPr>
          <a:xfrm>
            <a:off x="336369" y="1548820"/>
            <a:ext cx="1481328" cy="32918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100" b="1">
                <a:solidFill>
                  <a:srgbClr val="FFFFFF"/>
                </a:solidFill>
                <a:latin typeface="Reddit Sans"/>
                <a:ea typeface="Reddit Sans"/>
              </a:rPr>
              <a:t>SURA</a:t>
            </a:r>
          </a:p>
        </p:txBody>
      </p:sp>
      <p:sp>
        <p:nvSpPr>
          <p:cNvPr id="14" name="csec"/>
          <p:cNvSpPr txBox="1">
            <a:spLocks noGrp="1"/>
          </p:cNvSpPr>
          <p:nvPr/>
        </p:nvSpPr>
        <p:spPr>
          <a:xfrm>
            <a:off x="409521" y="1969444"/>
            <a:ext cx="1335024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820" b="1">
                <a:solidFill>
                  <a:srgbClr val="0D1B5E"/>
                </a:solidFill>
                <a:latin typeface="Reddit Sans"/>
                <a:ea typeface="Reddit Sans"/>
              </a:rPr>
              <a:t>Seguros · 4 mesas</a:t>
            </a:r>
          </a:p>
        </p:txBody>
      </p:sp>
      <p:sp>
        <p:nvSpPr>
          <p:cNvPr id="15" name="cdesc"/>
          <p:cNvSpPr txBox="1">
            <a:spLocks noGrp="1"/>
          </p:cNvSpPr>
          <p:nvPr/>
        </p:nvSpPr>
        <p:spPr>
          <a:xfrm>
            <a:off x="427809" y="2262052"/>
            <a:ext cx="1298448" cy="2286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60">
                <a:solidFill>
                  <a:srgbClr val="0D1B5E"/>
                </a:solidFill>
                <a:latin typeface="Reddit Sans"/>
                <a:ea typeface="Reddit Sans"/>
              </a:rPr>
              <a:t>Venta Digital
Cotizadores
Torre de Control
Mesa 4</a:t>
            </a:r>
          </a:p>
        </p:txBody>
      </p:sp>
      <p:sp>
        <p:nvSpPr>
          <p:cNvPr id="6" name="cb"/>
          <p:cNvSpPr>
            <a:spLocks noGrp="1"/>
          </p:cNvSpPr>
          <p:nvPr/>
        </p:nvSpPr>
        <p:spPr>
          <a:xfrm>
            <a:off x="1909137" y="1512244"/>
            <a:ext cx="1481328" cy="3127248"/>
          </a:xfrm>
          <a:prstGeom prst="roundRect">
            <a:avLst>
              <a:gd name="adj" fmla="val 15000"/>
            </a:avLst>
          </a:prstGeom>
          <a:solidFill>
            <a:srgbClr val="EBF3FF"/>
          </a:solidFill>
          <a:ln w="15875">
            <a:solidFill>
              <a:srgbClr val="1A3A8F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7" name="chdr"/>
          <p:cNvSpPr>
            <a:spLocks noGrp="1"/>
          </p:cNvSpPr>
          <p:nvPr/>
        </p:nvSpPr>
        <p:spPr>
          <a:xfrm>
            <a:off x="1909137" y="1512244"/>
            <a:ext cx="1481328" cy="402336"/>
          </a:xfrm>
          <a:prstGeom prst="roundRect">
            <a:avLst>
              <a:gd name="adj" fmla="val 15000"/>
            </a:avLst>
          </a:prstGeom>
          <a:solidFill>
            <a:srgbClr val="1A3A8F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8" name="chdr2"/>
          <p:cNvSpPr>
            <a:spLocks noGrp="1"/>
          </p:cNvSpPr>
          <p:nvPr/>
        </p:nvSpPr>
        <p:spPr>
          <a:xfrm>
            <a:off x="1909137" y="1768276"/>
            <a:ext cx="1481328" cy="146304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6" name="cnom"/>
          <p:cNvSpPr txBox="1">
            <a:spLocks noGrp="1"/>
          </p:cNvSpPr>
          <p:nvPr/>
        </p:nvSpPr>
        <p:spPr>
          <a:xfrm>
            <a:off x="1909137" y="1548820"/>
            <a:ext cx="1481328" cy="32918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100" b="1">
                <a:solidFill>
                  <a:srgbClr val="FFFFFF"/>
                </a:solidFill>
                <a:latin typeface="Reddit Sans"/>
                <a:ea typeface="Reddit Sans"/>
              </a:rPr>
              <a:t>Bancolombia</a:t>
            </a:r>
          </a:p>
        </p:txBody>
      </p:sp>
      <p:sp>
        <p:nvSpPr>
          <p:cNvPr id="17" name="csec"/>
          <p:cNvSpPr txBox="1">
            <a:spLocks noGrp="1"/>
          </p:cNvSpPr>
          <p:nvPr/>
        </p:nvSpPr>
        <p:spPr>
          <a:xfrm>
            <a:off x="1982289" y="1969444"/>
            <a:ext cx="1335024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820" b="1">
                <a:solidFill>
                  <a:srgbClr val="1A3A8F"/>
                </a:solidFill>
                <a:latin typeface="Reddit Sans"/>
                <a:ea typeface="Reddit Sans"/>
              </a:rPr>
              <a:t>Banca · 4 mesas</a:t>
            </a:r>
          </a:p>
        </p:txBody>
      </p:sp>
      <p:sp>
        <p:nvSpPr>
          <p:cNvPr id="18" name="cdesc"/>
          <p:cNvSpPr txBox="1">
            <a:spLocks noGrp="1"/>
          </p:cNvSpPr>
          <p:nvPr/>
        </p:nvSpPr>
        <p:spPr>
          <a:xfrm>
            <a:off x="2000577" y="2262052"/>
            <a:ext cx="1298448" cy="2286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60">
                <a:solidFill>
                  <a:srgbClr val="1A3A8F"/>
                </a:solidFill>
                <a:latin typeface="Reddit Sans"/>
                <a:ea typeface="Reddit Sans"/>
              </a:rPr>
              <a:t>Gioti 1
Gioti 2
Gioti 3
Gioti 4</a:t>
            </a:r>
          </a:p>
        </p:txBody>
      </p:sp>
      <p:sp>
        <p:nvSpPr>
          <p:cNvPr id="9" name="cb"/>
          <p:cNvSpPr>
            <a:spLocks noGrp="1"/>
          </p:cNvSpPr>
          <p:nvPr/>
        </p:nvSpPr>
        <p:spPr>
          <a:xfrm>
            <a:off x="3481905" y="1512244"/>
            <a:ext cx="1481328" cy="3127248"/>
          </a:xfrm>
          <a:prstGeom prst="roundRect">
            <a:avLst>
              <a:gd name="adj" fmla="val 15000"/>
            </a:avLst>
          </a:prstGeom>
          <a:solidFill>
            <a:srgbClr val="E8F6F7"/>
          </a:solidFill>
          <a:ln w="15875">
            <a:solidFill>
              <a:srgbClr val="1B7B85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28" name="chdr"/>
          <p:cNvSpPr>
            <a:spLocks noGrp="1"/>
          </p:cNvSpPr>
          <p:nvPr/>
        </p:nvSpPr>
        <p:spPr>
          <a:xfrm>
            <a:off x="3481905" y="1512244"/>
            <a:ext cx="1481328" cy="402336"/>
          </a:xfrm>
          <a:prstGeom prst="roundRect">
            <a:avLst>
              <a:gd name="adj" fmla="val 15000"/>
            </a:avLst>
          </a:prstGeom>
          <a:solidFill>
            <a:srgbClr val="1B7B85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29" name="chdr2"/>
          <p:cNvSpPr>
            <a:spLocks noGrp="1"/>
          </p:cNvSpPr>
          <p:nvPr/>
        </p:nvSpPr>
        <p:spPr>
          <a:xfrm>
            <a:off x="3481905" y="1768276"/>
            <a:ext cx="1481328" cy="146304"/>
          </a:xfrm>
          <a:prstGeom prst="rect">
            <a:avLst/>
          </a:prstGeom>
          <a:solidFill>
            <a:srgbClr val="1B7B85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9" name="cnom"/>
          <p:cNvSpPr txBox="1">
            <a:spLocks noGrp="1"/>
          </p:cNvSpPr>
          <p:nvPr/>
        </p:nvSpPr>
        <p:spPr>
          <a:xfrm>
            <a:off x="3481905" y="1548820"/>
            <a:ext cx="1481328" cy="32918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100" b="1">
                <a:solidFill>
                  <a:srgbClr val="FFFFFF"/>
                </a:solidFill>
                <a:latin typeface="Reddit Sans"/>
                <a:ea typeface="Reddit Sans"/>
              </a:rPr>
              <a:t>XM</a:t>
            </a:r>
          </a:p>
        </p:txBody>
      </p:sp>
      <p:sp>
        <p:nvSpPr>
          <p:cNvPr id="20" name="csec"/>
          <p:cNvSpPr txBox="1">
            <a:spLocks noGrp="1"/>
          </p:cNvSpPr>
          <p:nvPr/>
        </p:nvSpPr>
        <p:spPr>
          <a:xfrm>
            <a:off x="3555057" y="1969444"/>
            <a:ext cx="1335024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820" b="1">
                <a:solidFill>
                  <a:srgbClr val="1B7B85"/>
                </a:solidFill>
                <a:latin typeface="Reddit Sans"/>
                <a:ea typeface="Reddit Sans"/>
              </a:rPr>
              <a:t>Energia · Evaluacion</a:t>
            </a:r>
          </a:p>
        </p:txBody>
      </p:sp>
      <p:sp>
        <p:nvSpPr>
          <p:cNvPr id="21" name="cdesc"/>
          <p:cNvSpPr txBox="1">
            <a:spLocks noGrp="1"/>
          </p:cNvSpPr>
          <p:nvPr/>
        </p:nvSpPr>
        <p:spPr>
          <a:xfrm>
            <a:off x="3573345" y="2262052"/>
            <a:ext cx="1298448" cy="2286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60">
                <a:solidFill>
                  <a:srgbClr val="1B7B85"/>
                </a:solidFill>
                <a:latin typeface="Reddit Sans"/>
                <a:ea typeface="Reddit Sans"/>
              </a:rPr>
              <a:t>Operacion critica 24x7
AIOps potencial alto</a:t>
            </a:r>
          </a:p>
        </p:txBody>
      </p:sp>
      <p:sp>
        <p:nvSpPr>
          <p:cNvPr id="30" name="cb"/>
          <p:cNvSpPr>
            <a:spLocks noGrp="1"/>
          </p:cNvSpPr>
          <p:nvPr/>
        </p:nvSpPr>
        <p:spPr>
          <a:xfrm>
            <a:off x="5054673" y="1512244"/>
            <a:ext cx="1481328" cy="3127248"/>
          </a:xfrm>
          <a:prstGeom prst="roundRect">
            <a:avLst>
              <a:gd name="adj" fmla="val 15000"/>
            </a:avLst>
          </a:prstGeom>
          <a:solidFill>
            <a:srgbClr val="E8F2FF"/>
          </a:solidFill>
          <a:ln w="15875">
            <a:solidFill>
              <a:srgbClr val="1F6FBA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31" name="chdr"/>
          <p:cNvSpPr>
            <a:spLocks noGrp="1"/>
          </p:cNvSpPr>
          <p:nvPr/>
        </p:nvSpPr>
        <p:spPr>
          <a:xfrm>
            <a:off x="5054673" y="1512244"/>
            <a:ext cx="1481328" cy="402336"/>
          </a:xfrm>
          <a:prstGeom prst="roundRect">
            <a:avLst>
              <a:gd name="adj" fmla="val 15000"/>
            </a:avLst>
          </a:prstGeom>
          <a:solidFill>
            <a:srgbClr val="1F6FBA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32" name="chdr2"/>
          <p:cNvSpPr>
            <a:spLocks noGrp="1"/>
          </p:cNvSpPr>
          <p:nvPr/>
        </p:nvSpPr>
        <p:spPr>
          <a:xfrm>
            <a:off x="5054673" y="1768276"/>
            <a:ext cx="1481328" cy="146304"/>
          </a:xfrm>
          <a:prstGeom prst="rect">
            <a:avLst/>
          </a:prstGeom>
          <a:solidFill>
            <a:srgbClr val="1F6FBA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22" name="cnom"/>
          <p:cNvSpPr txBox="1">
            <a:spLocks noGrp="1"/>
          </p:cNvSpPr>
          <p:nvPr/>
        </p:nvSpPr>
        <p:spPr>
          <a:xfrm>
            <a:off x="5054673" y="1548820"/>
            <a:ext cx="1481328" cy="32918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100" b="1">
                <a:solidFill>
                  <a:srgbClr val="FFFFFF"/>
                </a:solidFill>
                <a:latin typeface="Reddit Sans"/>
                <a:ea typeface="Reddit Sans"/>
              </a:rPr>
              <a:t>AES</a:t>
            </a:r>
          </a:p>
        </p:txBody>
      </p:sp>
      <p:sp>
        <p:nvSpPr>
          <p:cNvPr id="23" name="csec"/>
          <p:cNvSpPr txBox="1">
            <a:spLocks noGrp="1"/>
          </p:cNvSpPr>
          <p:nvPr/>
        </p:nvSpPr>
        <p:spPr>
          <a:xfrm>
            <a:off x="5127825" y="1969444"/>
            <a:ext cx="1335024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820" b="1">
                <a:solidFill>
                  <a:srgbClr val="1F6FBA"/>
                </a:solidFill>
                <a:latin typeface="Reddit Sans"/>
                <a:ea typeface="Reddit Sans"/>
              </a:rPr>
              <a:t>Energia · Evaluacion</a:t>
            </a:r>
          </a:p>
        </p:txBody>
      </p:sp>
      <p:sp>
        <p:nvSpPr>
          <p:cNvPr id="24" name="cdesc"/>
          <p:cNvSpPr txBox="1">
            <a:spLocks noGrp="1"/>
          </p:cNvSpPr>
          <p:nvPr/>
        </p:nvSpPr>
        <p:spPr>
          <a:xfrm>
            <a:off x="5146113" y="2262052"/>
            <a:ext cx="1298448" cy="2286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60">
                <a:solidFill>
                  <a:srgbClr val="1F6FBA"/>
                </a:solidFill>
                <a:latin typeface="Reddit Sans"/>
                <a:ea typeface="Reddit Sans"/>
              </a:rPr>
              <a:t>Infraestructura critica
Continuidad operacional</a:t>
            </a:r>
          </a:p>
        </p:txBody>
      </p:sp>
      <p:sp>
        <p:nvSpPr>
          <p:cNvPr id="33" name="cb"/>
          <p:cNvSpPr>
            <a:spLocks noGrp="1"/>
          </p:cNvSpPr>
          <p:nvPr/>
        </p:nvSpPr>
        <p:spPr>
          <a:xfrm>
            <a:off x="6627441" y="1512244"/>
            <a:ext cx="1481328" cy="3127248"/>
          </a:xfrm>
          <a:prstGeom prst="roundRect">
            <a:avLst>
              <a:gd name="adj" fmla="val 15000"/>
            </a:avLst>
          </a:prstGeom>
          <a:solidFill>
            <a:srgbClr val="E8F5EE"/>
          </a:solidFill>
          <a:ln w="15875">
            <a:solidFill>
              <a:srgbClr val="1A6B3C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34" name="chdr"/>
          <p:cNvSpPr>
            <a:spLocks noGrp="1"/>
          </p:cNvSpPr>
          <p:nvPr/>
        </p:nvSpPr>
        <p:spPr>
          <a:xfrm>
            <a:off x="6627441" y="1512244"/>
            <a:ext cx="1481328" cy="402336"/>
          </a:xfrm>
          <a:prstGeom prst="roundRect">
            <a:avLst>
              <a:gd name="adj" fmla="val 15000"/>
            </a:avLst>
          </a:prstGeom>
          <a:solidFill>
            <a:srgbClr val="1A6B3C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35" name="chdr2"/>
          <p:cNvSpPr>
            <a:spLocks noGrp="1"/>
          </p:cNvSpPr>
          <p:nvPr/>
        </p:nvSpPr>
        <p:spPr>
          <a:xfrm>
            <a:off x="6627441" y="1768276"/>
            <a:ext cx="1481328" cy="146304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25" name="cnom"/>
          <p:cNvSpPr txBox="1">
            <a:spLocks noGrp="1"/>
          </p:cNvSpPr>
          <p:nvPr/>
        </p:nvSpPr>
        <p:spPr>
          <a:xfrm>
            <a:off x="6627441" y="1548820"/>
            <a:ext cx="1481328" cy="32918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100" b="1">
                <a:solidFill>
                  <a:srgbClr val="FFFFFF"/>
                </a:solidFill>
                <a:latin typeface="Reddit Sans"/>
                <a:ea typeface="Reddit Sans"/>
              </a:rPr>
              <a:t>MEDICARTE</a:t>
            </a:r>
          </a:p>
        </p:txBody>
      </p:sp>
      <p:sp>
        <p:nvSpPr>
          <p:cNvPr id="26" name="csec"/>
          <p:cNvSpPr txBox="1">
            <a:spLocks noGrp="1"/>
          </p:cNvSpPr>
          <p:nvPr/>
        </p:nvSpPr>
        <p:spPr>
          <a:xfrm>
            <a:off x="6700593" y="1969444"/>
            <a:ext cx="1335024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820" b="1">
                <a:solidFill>
                  <a:srgbClr val="1A6B3C"/>
                </a:solidFill>
                <a:latin typeface="Reddit Sans"/>
                <a:ea typeface="Reddit Sans"/>
              </a:rPr>
              <a:t>Salud · Evaluacion</a:t>
            </a:r>
          </a:p>
        </p:txBody>
      </p:sp>
      <p:sp>
        <p:nvSpPr>
          <p:cNvPr id="27" name="cdesc"/>
          <p:cNvSpPr txBox="1">
            <a:spLocks noGrp="1"/>
          </p:cNvSpPr>
          <p:nvPr/>
        </p:nvSpPr>
        <p:spPr>
          <a:xfrm>
            <a:off x="6718881" y="2262052"/>
            <a:ext cx="1298448" cy="2286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60">
                <a:solidFill>
                  <a:srgbClr val="1A6B3C"/>
                </a:solidFill>
                <a:latin typeface="Reddit Sans"/>
                <a:ea typeface="Reddit Sans"/>
              </a:rPr>
              <a:t>Trazabilidad clinica
Historia clinica
Compliance</a:t>
            </a:r>
          </a:p>
        </p:txBody>
      </p:sp>
    </p:spTree>
    <p:extLst>
      <p:ext uri="{BB962C8B-B14F-4D97-AF65-F5344CB8AC3E}">
        <p14:creationId xmlns:p14="http://schemas.microsoft.com/office/powerpoint/2010/main" val="17038126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>
          <a:extLst>
            <a:ext uri="{FF2B5EF4-FFF2-40B4-BE49-F238E27FC236}">
              <a16:creationId xmlns:a16="http://schemas.microsoft.com/office/drawing/2014/main" id="{AEBFDBAD-7B05-EED9-1EF5-413E891F7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">
            <a:extLst>
              <a:ext uri="{FF2B5EF4-FFF2-40B4-BE49-F238E27FC236}">
                <a16:creationId xmlns:a16="http://schemas.microsoft.com/office/drawing/2014/main" id="{4B2582B4-18D3-4368-CA11-A1D396FEC3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9550" y="404904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>
              <a:buClr>
                <a:schemeClr val="dk1"/>
              </a:buClr>
              <a:buSzPct val="54999"/>
            </a:pPr>
            <a:r>
              <a:rPr lang="es" sz="1800">
                <a:solidFill>
                  <a:schemeClr val="bg1"/>
                </a:solidFill>
                <a:sym typeface="Reddit Sans Medium"/>
              </a:rPr>
              <a:t>Mesas de Servicio Actuales</a:t>
            </a:r>
            <a:endParaRPr lang="es-ES">
              <a:solidFill>
                <a:schemeClr val="bg1"/>
              </a:solidFill>
              <a:latin typeface="Reddit Sans" pitchFamily="2" charset="0"/>
              <a:ea typeface="Reddit Sans" pitchFamily="2" charset="0"/>
            </a:endParaRPr>
          </a:p>
        </p:txBody>
      </p:sp>
      <p:sp>
        <p:nvSpPr>
          <p:cNvPr id="146" name="Google Shape;146;p5">
            <a:extLst>
              <a:ext uri="{FF2B5EF4-FFF2-40B4-BE49-F238E27FC236}">
                <a16:creationId xmlns:a16="http://schemas.microsoft.com/office/drawing/2014/main" id="{E43C39F1-AE88-CEAB-FF66-1C0A9CE8A5E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463050" y="1464657"/>
            <a:ext cx="3757500" cy="19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s"/>
              <a:t>Segmentos de Mercado Priorizados</a:t>
            </a:r>
            <a:endParaRPr lang="es-ES"/>
          </a:p>
        </p:txBody>
      </p:sp>
      <p:cxnSp>
        <p:nvCxnSpPr>
          <p:cNvPr id="147" name="Google Shape;147;p5">
            <a:extLst>
              <a:ext uri="{FF2B5EF4-FFF2-40B4-BE49-F238E27FC236}">
                <a16:creationId xmlns:a16="http://schemas.microsoft.com/office/drawing/2014/main" id="{8BFA854E-B0B5-D66E-A8B9-C86B85A5FA57}"/>
              </a:ext>
            </a:extLst>
          </p:cNvPr>
          <p:cNvCxnSpPr/>
          <p:nvPr/>
        </p:nvCxnSpPr>
        <p:spPr>
          <a:xfrm rot="10800000" flipH="1">
            <a:off x="442269" y="612577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524AE519-5A1F-729A-5BAF-07AFD2B3AFFF}"/>
              </a:ext>
            </a:extLst>
          </p:cNvPr>
          <p:cNvSpPr txBox="1"/>
          <p:nvPr/>
        </p:nvSpPr>
        <p:spPr>
          <a:xfrm>
            <a:off x="4757057" y="693967"/>
            <a:ext cx="3946074" cy="452931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/>
            <a:r>
              <a:rPr lang="es-ES" sz="1100" b="1">
                <a:solidFill>
                  <a:srgbClr val="0E337C"/>
                </a:solidFill>
                <a:latin typeface="Reddit Sans"/>
                <a:cs typeface="Segoe UI"/>
              </a:rPr>
              <a:t>Sector Banca Prioritario </a:t>
            </a:r>
            <a:endParaRPr lang="es-ES"/>
          </a:p>
          <a:p>
            <a:pPr>
              <a:lnSpc>
                <a:spcPct val="150000"/>
              </a:lnSpc>
            </a:pP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Banca destaca por alta regulación, uso avanzado de IA y presión por continuidad operativa, con alta inversión en soluciones. </a:t>
            </a:r>
          </a:p>
          <a:p>
            <a:pPr>
              <a:lnSpc>
                <a:spcPct val="150000"/>
              </a:lnSpc>
            </a:pPr>
            <a:endParaRPr lang="es-ES" sz="700">
              <a:solidFill>
                <a:srgbClr val="444444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cs typeface="Segoe UI"/>
              </a:rPr>
              <a:t>Oportunidades en </a:t>
            </a:r>
            <a:r>
              <a:rPr lang="es-ES" sz="1100" b="1" err="1">
                <a:solidFill>
                  <a:srgbClr val="0E337C"/>
                </a:solidFill>
                <a:latin typeface="Reddit Sans"/>
                <a:cs typeface="Segoe UI"/>
              </a:rPr>
              <a:t>Utilities</a:t>
            </a: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s-ES" sz="1100" err="1">
                <a:solidFill>
                  <a:srgbClr val="444444"/>
                </a:solidFill>
                <a:latin typeface="Reddit Sans"/>
                <a:cs typeface="Segoe UI"/>
              </a:rPr>
              <a:t>Utilities</a:t>
            </a: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 operan 24/7, creando oportunidades para </a:t>
            </a:r>
            <a:r>
              <a:rPr lang="es-ES" sz="1100" err="1">
                <a:solidFill>
                  <a:srgbClr val="444444"/>
                </a:solidFill>
                <a:latin typeface="Reddit Sans"/>
                <a:cs typeface="Segoe UI"/>
              </a:rPr>
              <a:t>AIOps</a:t>
            </a: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 y </a:t>
            </a:r>
            <a:r>
              <a:rPr lang="es-ES" sz="1100" err="1">
                <a:solidFill>
                  <a:srgbClr val="444444"/>
                </a:solidFill>
                <a:latin typeface="Reddit Sans"/>
                <a:cs typeface="Segoe UI"/>
              </a:rPr>
              <a:t>observabilidad</a:t>
            </a: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 predictiva para mejorar operaciones críticas. </a:t>
            </a:r>
          </a:p>
          <a:p>
            <a:pPr>
              <a:lnSpc>
                <a:spcPct val="150000"/>
              </a:lnSpc>
            </a:pPr>
            <a:endParaRPr lang="es-ES" sz="700">
              <a:solidFill>
                <a:srgbClr val="444444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cs typeface="Segoe UI"/>
              </a:rPr>
              <a:t>Empresas Medianas y Deuda Técnica </a:t>
            </a:r>
          </a:p>
          <a:p>
            <a:pPr>
              <a:lnSpc>
                <a:spcPct val="150000"/>
              </a:lnSpc>
            </a:pP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Empresas medianas enfrentan alta deuda técnica y baja madurez, lo que abre oportunidades para modernización rápida. </a:t>
            </a:r>
          </a:p>
          <a:p>
            <a:pPr>
              <a:lnSpc>
                <a:spcPct val="150000"/>
              </a:lnSpc>
            </a:pPr>
            <a:endParaRPr lang="es-ES" sz="700">
              <a:solidFill>
                <a:srgbClr val="444444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cs typeface="Segoe UI"/>
              </a:rPr>
              <a:t>Retos en el Sector Salud </a:t>
            </a:r>
            <a:endParaRPr lang="es-ES" sz="1100">
              <a:solidFill>
                <a:srgbClr val="444444"/>
              </a:solidFill>
              <a:latin typeface="Reddit Sans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es-ES" sz="1100">
                <a:solidFill>
                  <a:srgbClr val="444444"/>
                </a:solidFill>
                <a:latin typeface="Reddit Sans"/>
                <a:cs typeface="Segoe UI"/>
              </a:rPr>
              <a:t>Salud requiere cumplimiento normativo, protección de datos y continuidad, exigiendo soluciones estandarizadas y trazables..</a:t>
            </a:r>
          </a:p>
          <a:p>
            <a:pPr>
              <a:lnSpc>
                <a:spcPct val="150000"/>
              </a:lnSpc>
            </a:pPr>
            <a:endParaRPr lang="es-ES" sz="1100">
              <a:solidFill>
                <a:srgbClr val="444444"/>
              </a:solidFill>
              <a:latin typeface="Reddit Sans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654669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AAA57A6C-32F2-75F4-88EA-B8E0A09981D4}"/>
              </a:ext>
            </a:extLst>
          </p:cNvPr>
          <p:cNvSpPr/>
          <p:nvPr/>
        </p:nvSpPr>
        <p:spPr>
          <a:xfrm>
            <a:off x="429645" y="664927"/>
            <a:ext cx="8643938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Hoja de Ruta </a:t>
            </a:r>
            <a:r>
              <a:rPr lang="en-US" sz="12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hacia</a:t>
            </a: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2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una</a:t>
            </a: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Mesa de Servicio Optima</a:t>
            </a:r>
            <a:endParaRPr lang="en-US" sz="1200">
              <a:latin typeface="Reddit Sans"/>
              <a:ea typeface="Reddit Sans"/>
            </a:endParaRPr>
          </a:p>
        </p:txBody>
      </p:sp>
      <p:pic>
        <p:nvPicPr>
          <p:cNvPr id="6" name="Image 0" descr="-5107849e.png">
            <a:extLst>
              <a:ext uri="{FF2B5EF4-FFF2-40B4-BE49-F238E27FC236}">
                <a16:creationId xmlns:a16="http://schemas.microsoft.com/office/drawing/2014/main" id="{025A2F5B-4420-8B7D-A5CD-CD10AC42B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531" y="1383804"/>
            <a:ext cx="1800225" cy="892969"/>
          </a:xfrm>
          <a:prstGeom prst="rect">
            <a:avLst/>
          </a:prstGeom>
        </p:spPr>
      </p:pic>
      <p:sp>
        <p:nvSpPr>
          <p:cNvPr id="8" name="Text 2">
            <a:extLst>
              <a:ext uri="{FF2B5EF4-FFF2-40B4-BE49-F238E27FC236}">
                <a16:creationId xmlns:a16="http://schemas.microsoft.com/office/drawing/2014/main" id="{2B7F3142-1B3C-F53E-4B3E-7B21A44A2ACF}"/>
              </a:ext>
            </a:extLst>
          </p:cNvPr>
          <p:cNvSpPr/>
          <p:nvPr/>
        </p:nvSpPr>
        <p:spPr>
          <a:xfrm>
            <a:off x="469106" y="1668471"/>
            <a:ext cx="1514475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N1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Inicial</a:t>
            </a:r>
            <a:r>
              <a:rPr lang="en-US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 (ad-hoc)</a:t>
            </a:r>
            <a:endParaRPr lang="en-US" sz="1000" err="1">
              <a:latin typeface="Reddit Sans"/>
              <a:ea typeface="Reddit Sans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DB0E0144-FE35-46F9-4A8B-187F695CCC76}"/>
              </a:ext>
            </a:extLst>
          </p:cNvPr>
          <p:cNvSpPr/>
          <p:nvPr/>
        </p:nvSpPr>
        <p:spPr>
          <a:xfrm>
            <a:off x="538843" y="2374888"/>
            <a:ext cx="1552181" cy="97724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Enfoque reactivo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total; alto riesgo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operativo debido a la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alta rotación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personal.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7830D6CD-2965-65C2-C44F-73D909086768}"/>
              </a:ext>
            </a:extLst>
          </p:cNvPr>
          <p:cNvSpPr/>
          <p:nvPr/>
        </p:nvSpPr>
        <p:spPr>
          <a:xfrm>
            <a:off x="1046049" y="1205210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14" name="Image 1" descr="3c0be2e2.png">
            <a:extLst>
              <a:ext uri="{FF2B5EF4-FFF2-40B4-BE49-F238E27FC236}">
                <a16:creationId xmlns:a16="http://schemas.microsoft.com/office/drawing/2014/main" id="{2BAEFFC3-BBC3-4F56-0BB0-1AB1DC8D3C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1376" y="1300088"/>
            <a:ext cx="150019" cy="171450"/>
          </a:xfrm>
          <a:prstGeom prst="rect">
            <a:avLst/>
          </a:prstGeom>
        </p:spPr>
      </p:pic>
      <p:pic>
        <p:nvPicPr>
          <p:cNvPr id="16" name="Image 2" descr="-664449e.png">
            <a:extLst>
              <a:ext uri="{FF2B5EF4-FFF2-40B4-BE49-F238E27FC236}">
                <a16:creationId xmlns:a16="http://schemas.microsoft.com/office/drawing/2014/main" id="{4FA09899-345D-B4C2-9FC3-93F74178DF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1881" y="1383804"/>
            <a:ext cx="1800225" cy="892969"/>
          </a:xfrm>
          <a:prstGeom prst="rect">
            <a:avLst/>
          </a:prstGeom>
        </p:spPr>
      </p:pic>
      <p:sp>
        <p:nvSpPr>
          <p:cNvPr id="18" name="Text 5">
            <a:extLst>
              <a:ext uri="{FF2B5EF4-FFF2-40B4-BE49-F238E27FC236}">
                <a16:creationId xmlns:a16="http://schemas.microsoft.com/office/drawing/2014/main" id="{A44D84DC-C0F1-0569-CFE0-09EC7CC1CCB3}"/>
              </a:ext>
            </a:extLst>
          </p:cNvPr>
          <p:cNvSpPr/>
          <p:nvPr/>
        </p:nvSpPr>
        <p:spPr>
          <a:xfrm>
            <a:off x="2231912" y="1670000"/>
            <a:ext cx="1300163" cy="3949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N2</a:t>
            </a:r>
            <a:b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Administrado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2785EF54-D1E2-0161-32A0-B1DFB63A88B2}"/>
              </a:ext>
            </a:extLst>
          </p:cNvPr>
          <p:cNvSpPr/>
          <p:nvPr/>
        </p:nvSpPr>
        <p:spPr>
          <a:xfrm>
            <a:off x="2196193" y="2374888"/>
            <a:ext cx="1564794" cy="1172691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Procesos ejecutados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localmente; uso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herramientas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principalmente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como bitácoras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registro.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2" name="Shape 7">
            <a:extLst>
              <a:ext uri="{FF2B5EF4-FFF2-40B4-BE49-F238E27FC236}">
                <a16:creationId xmlns:a16="http://schemas.microsoft.com/office/drawing/2014/main" id="{0C2E1FBF-E2B1-DCBF-083D-7CB44AFF58B9}"/>
              </a:ext>
            </a:extLst>
          </p:cNvPr>
          <p:cNvSpPr/>
          <p:nvPr/>
        </p:nvSpPr>
        <p:spPr>
          <a:xfrm>
            <a:off x="2703399" y="1205210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75A3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4" name="Image 3" descr="327946a2.png">
            <a:extLst>
              <a:ext uri="{FF2B5EF4-FFF2-40B4-BE49-F238E27FC236}">
                <a16:creationId xmlns:a16="http://schemas.microsoft.com/office/drawing/2014/main" id="{3DAAC64B-07A8-B167-0972-44DA0BFF36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20252" y="1301135"/>
            <a:ext cx="128588" cy="164306"/>
          </a:xfrm>
          <a:prstGeom prst="rect">
            <a:avLst/>
          </a:prstGeom>
        </p:spPr>
      </p:pic>
      <p:pic>
        <p:nvPicPr>
          <p:cNvPr id="26" name="Image 4" descr="-63bd839e.png">
            <a:extLst>
              <a:ext uri="{FF2B5EF4-FFF2-40B4-BE49-F238E27FC236}">
                <a16:creationId xmlns:a16="http://schemas.microsoft.com/office/drawing/2014/main" id="{0F7F6763-F632-B591-CFCC-533414C1BA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9231" y="1383804"/>
            <a:ext cx="1800225" cy="892969"/>
          </a:xfrm>
          <a:prstGeom prst="rect">
            <a:avLst/>
          </a:prstGeom>
        </p:spPr>
      </p:pic>
      <p:sp>
        <p:nvSpPr>
          <p:cNvPr id="28" name="Text 8">
            <a:extLst>
              <a:ext uri="{FF2B5EF4-FFF2-40B4-BE49-F238E27FC236}">
                <a16:creationId xmlns:a16="http://schemas.microsoft.com/office/drawing/2014/main" id="{E16478B5-9185-1FAB-1BFF-09DDB5386380}"/>
              </a:ext>
            </a:extLst>
          </p:cNvPr>
          <p:cNvSpPr/>
          <p:nvPr/>
        </p:nvSpPr>
        <p:spPr>
          <a:xfrm>
            <a:off x="3965462" y="1668471"/>
            <a:ext cx="13001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N3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Definido</a:t>
            </a:r>
            <a:endParaRPr lang="en-US" sz="1000" err="1">
              <a:latin typeface="Reddit Sans"/>
              <a:ea typeface="Reddit Sans"/>
            </a:endParaRPr>
          </a:p>
        </p:txBody>
      </p:sp>
      <p:sp>
        <p:nvSpPr>
          <p:cNvPr id="30" name="Text 9">
            <a:extLst>
              <a:ext uri="{FF2B5EF4-FFF2-40B4-BE49-F238E27FC236}">
                <a16:creationId xmlns:a16="http://schemas.microsoft.com/office/drawing/2014/main" id="{BA595339-8B98-A293-5C7E-2FCFAC6424A2}"/>
              </a:ext>
            </a:extLst>
          </p:cNvPr>
          <p:cNvSpPr/>
          <p:nvPr/>
        </p:nvSpPr>
        <p:spPr>
          <a:xfrm>
            <a:off x="3853543" y="2374888"/>
            <a:ext cx="1517913" cy="136814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Procesos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estandarizados a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nivel organizacional;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implementación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RACI, ANS y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Catálogo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Servicios.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2" name="Shape 10">
            <a:extLst>
              <a:ext uri="{FF2B5EF4-FFF2-40B4-BE49-F238E27FC236}">
                <a16:creationId xmlns:a16="http://schemas.microsoft.com/office/drawing/2014/main" id="{5AD75E81-2F9A-CC01-4969-9BD06029BBE4}"/>
              </a:ext>
            </a:extLst>
          </p:cNvPr>
          <p:cNvSpPr/>
          <p:nvPr/>
        </p:nvSpPr>
        <p:spPr>
          <a:xfrm>
            <a:off x="4360749" y="1205210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46086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34" name="Image 5" descr="-26c90fde.png">
            <a:extLst>
              <a:ext uri="{FF2B5EF4-FFF2-40B4-BE49-F238E27FC236}">
                <a16:creationId xmlns:a16="http://schemas.microsoft.com/office/drawing/2014/main" id="{6A814EFE-248D-AE88-5C21-920E62BE27D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51442" y="1295903"/>
            <a:ext cx="178594" cy="178594"/>
          </a:xfrm>
          <a:prstGeom prst="rect">
            <a:avLst/>
          </a:prstGeom>
        </p:spPr>
      </p:pic>
      <p:pic>
        <p:nvPicPr>
          <p:cNvPr id="36" name="Image 6" descr="-5a47b8de.png">
            <a:extLst>
              <a:ext uri="{FF2B5EF4-FFF2-40B4-BE49-F238E27FC236}">
                <a16:creationId xmlns:a16="http://schemas.microsoft.com/office/drawing/2014/main" id="{B585481D-9680-20D6-619C-7D836A7A1F5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6581" y="1383804"/>
            <a:ext cx="1800225" cy="892969"/>
          </a:xfrm>
          <a:prstGeom prst="rect">
            <a:avLst/>
          </a:prstGeom>
        </p:spPr>
      </p:pic>
      <p:sp>
        <p:nvSpPr>
          <p:cNvPr id="38" name="Text 11">
            <a:extLst>
              <a:ext uri="{FF2B5EF4-FFF2-40B4-BE49-F238E27FC236}">
                <a16:creationId xmlns:a16="http://schemas.microsoft.com/office/drawing/2014/main" id="{6C33AB01-C07A-8656-D5BE-7DE50DE1CC15}"/>
              </a:ext>
            </a:extLst>
          </p:cNvPr>
          <p:cNvSpPr/>
          <p:nvPr/>
        </p:nvSpPr>
        <p:spPr>
          <a:xfrm>
            <a:off x="5546612" y="1670000"/>
            <a:ext cx="1300163" cy="3949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N4</a:t>
            </a:r>
            <a:b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Cuantitativo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0" name="Text 12">
            <a:extLst>
              <a:ext uri="{FF2B5EF4-FFF2-40B4-BE49-F238E27FC236}">
                <a16:creationId xmlns:a16="http://schemas.microsoft.com/office/drawing/2014/main" id="{07E30602-2173-2EE9-432A-6A9A28EEFCB5}"/>
              </a:ext>
            </a:extLst>
          </p:cNvPr>
          <p:cNvSpPr/>
          <p:nvPr/>
        </p:nvSpPr>
        <p:spPr>
          <a:xfrm>
            <a:off x="5510893" y="2374888"/>
            <a:ext cx="1541354" cy="97724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Gestión basada en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datos reales;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medición precisa del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costo por ticket y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rendimiento.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2" name="Shape 13">
            <a:extLst>
              <a:ext uri="{FF2B5EF4-FFF2-40B4-BE49-F238E27FC236}">
                <a16:creationId xmlns:a16="http://schemas.microsoft.com/office/drawing/2014/main" id="{D69523D0-8F13-6DAA-9641-7DB56C402C36}"/>
              </a:ext>
            </a:extLst>
          </p:cNvPr>
          <p:cNvSpPr/>
          <p:nvPr/>
        </p:nvSpPr>
        <p:spPr>
          <a:xfrm>
            <a:off x="6018099" y="1205210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F4A68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44" name="Image 7" descr="-38c1a09e.png">
            <a:extLst>
              <a:ext uri="{FF2B5EF4-FFF2-40B4-BE49-F238E27FC236}">
                <a16:creationId xmlns:a16="http://schemas.microsoft.com/office/drawing/2014/main" id="{A0A0F9AD-C340-CEAA-304F-D2A531547EE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25535" y="1323110"/>
            <a:ext cx="142875" cy="121444"/>
          </a:xfrm>
          <a:prstGeom prst="rect">
            <a:avLst/>
          </a:prstGeom>
        </p:spPr>
      </p:pic>
      <p:pic>
        <p:nvPicPr>
          <p:cNvPr id="46" name="Image 8" descr="213ef762.png">
            <a:extLst>
              <a:ext uri="{FF2B5EF4-FFF2-40B4-BE49-F238E27FC236}">
                <a16:creationId xmlns:a16="http://schemas.microsoft.com/office/drawing/2014/main" id="{19FA836F-0F22-CD69-D6C6-A760FA03FC1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53931" y="1383804"/>
            <a:ext cx="1800225" cy="892969"/>
          </a:xfrm>
          <a:prstGeom prst="rect">
            <a:avLst/>
          </a:prstGeom>
        </p:spPr>
      </p:pic>
      <p:sp>
        <p:nvSpPr>
          <p:cNvPr id="48" name="Text 14">
            <a:extLst>
              <a:ext uri="{FF2B5EF4-FFF2-40B4-BE49-F238E27FC236}">
                <a16:creationId xmlns:a16="http://schemas.microsoft.com/office/drawing/2014/main" id="{7B511D7F-7B49-579D-3BF1-D899571FB036}"/>
              </a:ext>
            </a:extLst>
          </p:cNvPr>
          <p:cNvSpPr/>
          <p:nvPr/>
        </p:nvSpPr>
        <p:spPr>
          <a:xfrm>
            <a:off x="7301934" y="1668471"/>
            <a:ext cx="13001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N5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Optimizado</a:t>
            </a:r>
            <a:endParaRPr lang="en-US" sz="1000" err="1">
              <a:latin typeface="Reddit Sans"/>
              <a:ea typeface="Reddit Sans"/>
            </a:endParaRPr>
          </a:p>
        </p:txBody>
      </p:sp>
      <p:sp>
        <p:nvSpPr>
          <p:cNvPr id="50" name="Text 15">
            <a:extLst>
              <a:ext uri="{FF2B5EF4-FFF2-40B4-BE49-F238E27FC236}">
                <a16:creationId xmlns:a16="http://schemas.microsoft.com/office/drawing/2014/main" id="{574307D0-96AF-295B-3AD4-C71772235FD5}"/>
              </a:ext>
            </a:extLst>
          </p:cNvPr>
          <p:cNvSpPr/>
          <p:nvPr/>
        </p:nvSpPr>
        <p:spPr>
          <a:xfrm>
            <a:off x="7168244" y="2374888"/>
            <a:ext cx="1563677" cy="97724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Foco en la mejora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continua; integración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 sistemas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automatizados y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autónomos.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52" name="Shape 16">
            <a:extLst>
              <a:ext uri="{FF2B5EF4-FFF2-40B4-BE49-F238E27FC236}">
                <a16:creationId xmlns:a16="http://schemas.microsoft.com/office/drawing/2014/main" id="{3F73D084-F2D1-9FE2-155F-A5B29A764FC7}"/>
              </a:ext>
            </a:extLst>
          </p:cNvPr>
          <p:cNvSpPr/>
          <p:nvPr/>
        </p:nvSpPr>
        <p:spPr>
          <a:xfrm>
            <a:off x="7675449" y="1205210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chemeClr val="accent5">
                <a:lumMod val="40000"/>
                <a:lumOff val="60000"/>
              </a:schemeClr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54" name="Image 9" descr="0-42f65e.png">
            <a:extLst>
              <a:ext uri="{FF2B5EF4-FFF2-40B4-BE49-F238E27FC236}">
                <a16:creationId xmlns:a16="http://schemas.microsoft.com/office/drawing/2014/main" id="{9904F87E-5766-FFA3-616F-BE1F470CEB1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8699" y="1310554"/>
            <a:ext cx="150019" cy="150019"/>
          </a:xfrm>
          <a:prstGeom prst="rect">
            <a:avLst/>
          </a:prstGeom>
        </p:spPr>
      </p:pic>
      <p:sp>
        <p:nvSpPr>
          <p:cNvPr id="56" name="Titulo">
            <a:extLst>
              <a:ext uri="{FF2B5EF4-FFF2-40B4-BE49-F238E27FC236}">
                <a16:creationId xmlns:a16="http://schemas.microsoft.com/office/drawing/2014/main" id="{51019247-4535-AC63-A22B-9B9685D1D887}"/>
              </a:ext>
            </a:extLst>
          </p:cNvPr>
          <p:cNvSpPr txBox="1">
            <a:spLocks/>
          </p:cNvSpPr>
          <p:nvPr/>
        </p:nvSpPr>
        <p:spPr>
          <a:xfrm>
            <a:off x="340500" y="200392"/>
            <a:ext cx="8211000" cy="5727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1600" b="1">
                <a:solidFill>
                  <a:srgbClr val="0E337C"/>
                </a:solidFill>
                <a:latin typeface="Reddit Sans"/>
                <a:ea typeface="Reddit Sans"/>
              </a:rPr>
              <a:t>N</a:t>
            </a:r>
            <a:r>
              <a:rPr lang="es-ES" sz="1600" b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ivel de Madurez de las Mesas de Servicio – A dónde queremos llegar</a:t>
            </a:r>
          </a:p>
        </p:txBody>
      </p:sp>
      <p:sp>
        <p:nvSpPr>
          <p:cNvPr id="58" name="modelo reactivo">
            <a:extLst>
              <a:ext uri="{FF2B5EF4-FFF2-40B4-BE49-F238E27FC236}">
                <a16:creationId xmlns:a16="http://schemas.microsoft.com/office/drawing/2014/main" id="{1B3F5D90-A9DD-AA8E-5717-437F49F01ED9}"/>
              </a:ext>
            </a:extLst>
          </p:cNvPr>
          <p:cNvSpPr txBox="1"/>
          <p:nvPr/>
        </p:nvSpPr>
        <p:spPr>
          <a:xfrm>
            <a:off x="419101" y="3782786"/>
            <a:ext cx="2682879" cy="457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633806"/>
                </a:solidFill>
              </a:rPr>
              <a:t>Reactivo y Crecimiento Automatizado</a:t>
            </a:r>
          </a:p>
        </p:txBody>
      </p:sp>
      <p:sp>
        <p:nvSpPr>
          <p:cNvPr id="60" name="modelo predictivo">
            <a:extLst>
              <a:ext uri="{FF2B5EF4-FFF2-40B4-BE49-F238E27FC236}">
                <a16:creationId xmlns:a16="http://schemas.microsoft.com/office/drawing/2014/main" id="{D958AA7E-C7E0-1C6C-4E73-F7B12B60E0C0}"/>
              </a:ext>
            </a:extLst>
          </p:cNvPr>
          <p:cNvSpPr txBox="1"/>
          <p:nvPr/>
        </p:nvSpPr>
        <p:spPr>
          <a:xfrm>
            <a:off x="3219451" y="3782786"/>
            <a:ext cx="2682879" cy="4572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0E337C"/>
                </a:solidFill>
              </a:rPr>
              <a:t>Predictivo y Evolutivo</a:t>
            </a:r>
          </a:p>
        </p:txBody>
      </p:sp>
      <p:sp>
        <p:nvSpPr>
          <p:cNvPr id="62" name="modelo autonomo">
            <a:extLst>
              <a:ext uri="{FF2B5EF4-FFF2-40B4-BE49-F238E27FC236}">
                <a16:creationId xmlns:a16="http://schemas.microsoft.com/office/drawing/2014/main" id="{9C3E79B6-7E49-442E-1A5D-A95BFAC020A4}"/>
              </a:ext>
            </a:extLst>
          </p:cNvPr>
          <p:cNvSpPr txBox="1"/>
          <p:nvPr/>
        </p:nvSpPr>
        <p:spPr>
          <a:xfrm>
            <a:off x="6019801" y="3782786"/>
            <a:ext cx="2683629" cy="457200"/>
          </a:xfrm>
          <a:prstGeom prst="rect">
            <a:avLst/>
          </a:prstGeom>
          <a:solidFill>
            <a:srgbClr val="215578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chemeClr val="bg1"/>
                </a:solidFill>
              </a:rPr>
              <a:t>Autónomo e Inteligente</a:t>
            </a:r>
            <a:endParaRPr lang="es" sz="1000" b="1">
              <a:solidFill>
                <a:schemeClr val="bg1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503924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9B3F8-F6E6-BAD1-E2A6-02EAC1C66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ext 53">
            <a:extLst>
              <a:ext uri="{FF2B5EF4-FFF2-40B4-BE49-F238E27FC236}">
                <a16:creationId xmlns:a16="http://schemas.microsoft.com/office/drawing/2014/main" id="{DAB75E3A-25F9-CD28-DF18-093D1347404F}"/>
              </a:ext>
            </a:extLst>
          </p:cNvPr>
          <p:cNvSpPr/>
          <p:nvPr/>
        </p:nvSpPr>
        <p:spPr>
          <a:xfrm>
            <a:off x="8116389" y="4657779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11 / 12</a:t>
            </a:r>
            <a:endParaRPr lang="en-US" sz="800">
              <a:latin typeface="Reddit Sans" panose="020B0604020202020204" charset="0"/>
              <a:ea typeface="Reddit Sans" panose="020B0604020202020204" charset="0"/>
            </a:endParaRPr>
          </a:p>
        </p:txBody>
      </p:sp>
      <p:pic>
        <p:nvPicPr>
          <p:cNvPr id="4" name="Image 0" descr="-5107849e.png">
            <a:extLst>
              <a:ext uri="{FF2B5EF4-FFF2-40B4-BE49-F238E27FC236}">
                <a16:creationId xmlns:a16="http://schemas.microsoft.com/office/drawing/2014/main" id="{28A82C43-E3C6-C6CD-BAC6-F81E06F09D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791"/>
          <a:stretch>
            <a:fillRect/>
          </a:stretch>
        </p:blipFill>
        <p:spPr>
          <a:xfrm>
            <a:off x="346302" y="1737590"/>
            <a:ext cx="1587953" cy="892969"/>
          </a:xfrm>
          <a:prstGeom prst="rect">
            <a:avLst/>
          </a:prstGeom>
        </p:spPr>
      </p:pic>
      <p:sp>
        <p:nvSpPr>
          <p:cNvPr id="18" name="Shape 4">
            <a:extLst>
              <a:ext uri="{FF2B5EF4-FFF2-40B4-BE49-F238E27FC236}">
                <a16:creationId xmlns:a16="http://schemas.microsoft.com/office/drawing/2014/main" id="{F0C4D562-BBCB-B7C0-4400-98FB4BD2D720}"/>
              </a:ext>
            </a:extLst>
          </p:cNvPr>
          <p:cNvSpPr/>
          <p:nvPr/>
        </p:nvSpPr>
        <p:spPr>
          <a:xfrm>
            <a:off x="1067820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</p:sp>
      <p:pic>
        <p:nvPicPr>
          <p:cNvPr id="26" name="Image 1" descr="3c0be2e2.png">
            <a:extLst>
              <a:ext uri="{FF2B5EF4-FFF2-40B4-BE49-F238E27FC236}">
                <a16:creationId xmlns:a16="http://schemas.microsoft.com/office/drawing/2014/main" id="{A674CBB6-8DD1-14B6-CCC7-EC33E782E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147" y="1653874"/>
            <a:ext cx="150019" cy="171450"/>
          </a:xfrm>
          <a:prstGeom prst="rect">
            <a:avLst/>
          </a:prstGeom>
        </p:spPr>
      </p:pic>
      <p:pic>
        <p:nvPicPr>
          <p:cNvPr id="30" name="Image 2" descr="-664449e.png">
            <a:extLst>
              <a:ext uri="{FF2B5EF4-FFF2-40B4-BE49-F238E27FC236}">
                <a16:creationId xmlns:a16="http://schemas.microsoft.com/office/drawing/2014/main" id="{1F13A14C-37E0-CE3B-9F72-1DB8E0C237A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1791"/>
          <a:stretch>
            <a:fillRect/>
          </a:stretch>
        </p:blipFill>
        <p:spPr>
          <a:xfrm>
            <a:off x="3173866" y="1737590"/>
            <a:ext cx="1587953" cy="892969"/>
          </a:xfrm>
          <a:prstGeom prst="rect">
            <a:avLst/>
          </a:prstGeom>
        </p:spPr>
      </p:pic>
      <p:sp>
        <p:nvSpPr>
          <p:cNvPr id="55" name="Text 5">
            <a:extLst>
              <a:ext uri="{FF2B5EF4-FFF2-40B4-BE49-F238E27FC236}">
                <a16:creationId xmlns:a16="http://schemas.microsoft.com/office/drawing/2014/main" id="{5DF28F97-723F-C4DB-468E-C7C0CB50E22F}"/>
              </a:ext>
            </a:extLst>
          </p:cNvPr>
          <p:cNvSpPr/>
          <p:nvPr/>
        </p:nvSpPr>
        <p:spPr>
          <a:xfrm>
            <a:off x="3380355" y="2023786"/>
            <a:ext cx="1300163" cy="3949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N2</a:t>
            </a:r>
            <a:br>
              <a:rPr lang="en-US" sz="1350" kern="0" spc="-81"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Administrado</a:t>
            </a:r>
            <a:r>
              <a:rPr lang="en-US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10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Estandarizado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>
              <a:latin typeface="Reddit Sans"/>
              <a:ea typeface="Reddit Sans"/>
            </a:endParaRPr>
          </a:p>
        </p:txBody>
      </p:sp>
      <p:sp>
        <p:nvSpPr>
          <p:cNvPr id="57" name="Shape 7">
            <a:extLst>
              <a:ext uri="{FF2B5EF4-FFF2-40B4-BE49-F238E27FC236}">
                <a16:creationId xmlns:a16="http://schemas.microsoft.com/office/drawing/2014/main" id="{FD8B39D4-C8B2-E74C-26AB-ACD88FE59515}"/>
              </a:ext>
            </a:extLst>
          </p:cNvPr>
          <p:cNvSpPr/>
          <p:nvPr/>
        </p:nvSpPr>
        <p:spPr>
          <a:xfrm>
            <a:off x="3922599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75A3"/>
            </a:solidFill>
            <a:prstDash val="solid"/>
            <a:miter lim="800000"/>
          </a:ln>
        </p:spPr>
      </p:sp>
      <p:pic>
        <p:nvPicPr>
          <p:cNvPr id="59" name="Image 3" descr="327946a2.png">
            <a:extLst>
              <a:ext uri="{FF2B5EF4-FFF2-40B4-BE49-F238E27FC236}">
                <a16:creationId xmlns:a16="http://schemas.microsoft.com/office/drawing/2014/main" id="{FB5A92C4-8F66-9AAA-69E2-390963ABE9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9452" y="1654921"/>
            <a:ext cx="128588" cy="164306"/>
          </a:xfrm>
          <a:prstGeom prst="rect">
            <a:avLst/>
          </a:prstGeom>
        </p:spPr>
      </p:pic>
      <p:pic>
        <p:nvPicPr>
          <p:cNvPr id="61" name="Image 4" descr="-63bd839e.png">
            <a:extLst>
              <a:ext uri="{FF2B5EF4-FFF2-40B4-BE49-F238E27FC236}">
                <a16:creationId xmlns:a16="http://schemas.microsoft.com/office/drawing/2014/main" id="{BE029EAD-2420-5D09-340A-4230612EDAA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11791"/>
          <a:stretch>
            <a:fillRect/>
          </a:stretch>
        </p:blipFill>
        <p:spPr>
          <a:xfrm>
            <a:off x="4586288" y="1737590"/>
            <a:ext cx="1587953" cy="892969"/>
          </a:xfrm>
          <a:prstGeom prst="rect">
            <a:avLst/>
          </a:prstGeom>
        </p:spPr>
      </p:pic>
      <p:sp>
        <p:nvSpPr>
          <p:cNvPr id="63" name="Text 8">
            <a:extLst>
              <a:ext uri="{FF2B5EF4-FFF2-40B4-BE49-F238E27FC236}">
                <a16:creationId xmlns:a16="http://schemas.microsoft.com/office/drawing/2014/main" id="{82F79720-243B-C485-D65F-3CFA0FFF7672}"/>
              </a:ext>
            </a:extLst>
          </p:cNvPr>
          <p:cNvSpPr/>
          <p:nvPr/>
        </p:nvSpPr>
        <p:spPr>
          <a:xfrm>
            <a:off x="4819991" y="2022257"/>
            <a:ext cx="13001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N3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Definido</a:t>
            </a:r>
            <a:r>
              <a:rPr lang="en-US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endParaRPr lang="en-US" sz="1000" err="1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10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Proactivo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>
              <a:latin typeface="Reddit Sans"/>
              <a:ea typeface="Reddit Sans"/>
            </a:endParaRPr>
          </a:p>
        </p:txBody>
      </p:sp>
      <p:sp>
        <p:nvSpPr>
          <p:cNvPr id="65" name="Shape 10">
            <a:extLst>
              <a:ext uri="{FF2B5EF4-FFF2-40B4-BE49-F238E27FC236}">
                <a16:creationId xmlns:a16="http://schemas.microsoft.com/office/drawing/2014/main" id="{21FD19DC-D90C-6EC9-6E4F-5BEDF21DF408}"/>
              </a:ext>
            </a:extLst>
          </p:cNvPr>
          <p:cNvSpPr/>
          <p:nvPr/>
        </p:nvSpPr>
        <p:spPr>
          <a:xfrm>
            <a:off x="5318692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46086"/>
            </a:solidFill>
            <a:prstDash val="solid"/>
            <a:miter lim="800000"/>
          </a:ln>
        </p:spPr>
      </p:sp>
      <p:pic>
        <p:nvPicPr>
          <p:cNvPr id="67" name="Image 5" descr="-26c90fde.png">
            <a:extLst>
              <a:ext uri="{FF2B5EF4-FFF2-40B4-BE49-F238E27FC236}">
                <a16:creationId xmlns:a16="http://schemas.microsoft.com/office/drawing/2014/main" id="{B762074A-AAB6-4547-B8EE-8780C8481E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9385" y="1649689"/>
            <a:ext cx="178594" cy="178594"/>
          </a:xfrm>
          <a:prstGeom prst="rect">
            <a:avLst/>
          </a:prstGeom>
        </p:spPr>
      </p:pic>
      <p:pic>
        <p:nvPicPr>
          <p:cNvPr id="69" name="Image 6" descr="-5a47b8de.png">
            <a:extLst>
              <a:ext uri="{FF2B5EF4-FFF2-40B4-BE49-F238E27FC236}">
                <a16:creationId xmlns:a16="http://schemas.microsoft.com/office/drawing/2014/main" id="{13BE99D7-74B0-2391-0FBD-845DA3B4F64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1791"/>
          <a:stretch>
            <a:fillRect/>
          </a:stretch>
        </p:blipFill>
        <p:spPr>
          <a:xfrm>
            <a:off x="5998709" y="1737590"/>
            <a:ext cx="1587953" cy="892969"/>
          </a:xfrm>
          <a:prstGeom prst="rect">
            <a:avLst/>
          </a:prstGeom>
        </p:spPr>
      </p:pic>
      <p:sp>
        <p:nvSpPr>
          <p:cNvPr id="71" name="Text 11">
            <a:extLst>
              <a:ext uri="{FF2B5EF4-FFF2-40B4-BE49-F238E27FC236}">
                <a16:creationId xmlns:a16="http://schemas.microsoft.com/office/drawing/2014/main" id="{923C29D6-5D27-7DC6-4DBE-60F29FCE2D59}"/>
              </a:ext>
            </a:extLst>
          </p:cNvPr>
          <p:cNvSpPr/>
          <p:nvPr/>
        </p:nvSpPr>
        <p:spPr>
          <a:xfrm>
            <a:off x="6194312" y="2023786"/>
            <a:ext cx="1300163" cy="3949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N4</a:t>
            </a:r>
            <a:br>
              <a:rPr lang="en-US" sz="1350" kern="0" spc="-81"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Cuantitativo</a:t>
            </a:r>
            <a:r>
              <a:rPr lang="en-US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endParaRPr lang="en-US" sz="1000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10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Predictivo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>
              <a:latin typeface="Reddit Sans"/>
              <a:ea typeface="Reddit Sans"/>
            </a:endParaRPr>
          </a:p>
        </p:txBody>
      </p:sp>
      <p:sp>
        <p:nvSpPr>
          <p:cNvPr id="73" name="Shape 13">
            <a:extLst>
              <a:ext uri="{FF2B5EF4-FFF2-40B4-BE49-F238E27FC236}">
                <a16:creationId xmlns:a16="http://schemas.microsoft.com/office/drawing/2014/main" id="{EAE13724-053A-BD9A-CCE1-974841A3BA84}"/>
              </a:ext>
            </a:extLst>
          </p:cNvPr>
          <p:cNvSpPr/>
          <p:nvPr/>
        </p:nvSpPr>
        <p:spPr>
          <a:xfrm>
            <a:off x="6731113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F4A68"/>
            </a:solidFill>
            <a:prstDash val="solid"/>
            <a:miter lim="800000"/>
          </a:ln>
        </p:spPr>
      </p:sp>
      <p:pic>
        <p:nvPicPr>
          <p:cNvPr id="75" name="Image 7" descr="-38c1a09e.png">
            <a:extLst>
              <a:ext uri="{FF2B5EF4-FFF2-40B4-BE49-F238E27FC236}">
                <a16:creationId xmlns:a16="http://schemas.microsoft.com/office/drawing/2014/main" id="{AF53E443-8DCE-DF12-6949-7E648F53C7B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38549" y="1676896"/>
            <a:ext cx="142875" cy="121444"/>
          </a:xfrm>
          <a:prstGeom prst="rect">
            <a:avLst/>
          </a:prstGeom>
        </p:spPr>
      </p:pic>
      <p:pic>
        <p:nvPicPr>
          <p:cNvPr id="77" name="Image 8" descr="213ef762.png">
            <a:extLst>
              <a:ext uri="{FF2B5EF4-FFF2-40B4-BE49-F238E27FC236}">
                <a16:creationId xmlns:a16="http://schemas.microsoft.com/office/drawing/2014/main" id="{04243153-891A-29F4-1B88-B88850432D77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r="11489"/>
          <a:stretch>
            <a:fillRect/>
          </a:stretch>
        </p:blipFill>
        <p:spPr>
          <a:xfrm>
            <a:off x="7405687" y="1737590"/>
            <a:ext cx="1593396" cy="892969"/>
          </a:xfrm>
          <a:prstGeom prst="rect">
            <a:avLst/>
          </a:prstGeom>
        </p:spPr>
      </p:pic>
      <p:sp>
        <p:nvSpPr>
          <p:cNvPr id="79" name="Text 14">
            <a:extLst>
              <a:ext uri="{FF2B5EF4-FFF2-40B4-BE49-F238E27FC236}">
                <a16:creationId xmlns:a16="http://schemas.microsoft.com/office/drawing/2014/main" id="{98771CCD-97D5-379D-8D6C-BAA750BCE49B}"/>
              </a:ext>
            </a:extLst>
          </p:cNvPr>
          <p:cNvSpPr/>
          <p:nvPr/>
        </p:nvSpPr>
        <p:spPr>
          <a:xfrm>
            <a:off x="7672048" y="2022257"/>
            <a:ext cx="13001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N5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Optimizado</a:t>
            </a:r>
            <a:r>
              <a:rPr lang="en-US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10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Autonomo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 err="1">
              <a:latin typeface="Reddit Sans"/>
              <a:ea typeface="Reddit Sans"/>
            </a:endParaRPr>
          </a:p>
        </p:txBody>
      </p:sp>
      <p:sp>
        <p:nvSpPr>
          <p:cNvPr id="81" name="Shape 16">
            <a:extLst>
              <a:ext uri="{FF2B5EF4-FFF2-40B4-BE49-F238E27FC236}">
                <a16:creationId xmlns:a16="http://schemas.microsoft.com/office/drawing/2014/main" id="{38987B1E-6DD7-970E-0FEB-10AF76909320}"/>
              </a:ext>
            </a:extLst>
          </p:cNvPr>
          <p:cNvSpPr/>
          <p:nvPr/>
        </p:nvSpPr>
        <p:spPr>
          <a:xfrm>
            <a:off x="8116320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chemeClr val="accent5">
                <a:lumMod val="40000"/>
                <a:lumOff val="60000"/>
              </a:schemeClr>
            </a:solidFill>
            <a:prstDash val="solid"/>
            <a:miter lim="800000"/>
          </a:ln>
        </p:spPr>
      </p:sp>
      <p:pic>
        <p:nvPicPr>
          <p:cNvPr id="83" name="Image 9" descr="0-42f65e.png">
            <a:extLst>
              <a:ext uri="{FF2B5EF4-FFF2-40B4-BE49-F238E27FC236}">
                <a16:creationId xmlns:a16="http://schemas.microsoft.com/office/drawing/2014/main" id="{33A8465C-B0B1-510B-1801-04A57CC9FEB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19570" y="1664340"/>
            <a:ext cx="150019" cy="150019"/>
          </a:xfrm>
          <a:prstGeom prst="rect">
            <a:avLst/>
          </a:prstGeom>
        </p:spPr>
      </p:pic>
      <p:pic>
        <p:nvPicPr>
          <p:cNvPr id="84" name="Image 2" descr="-664449e.png">
            <a:extLst>
              <a:ext uri="{FF2B5EF4-FFF2-40B4-BE49-F238E27FC236}">
                <a16:creationId xmlns:a16="http://schemas.microsoft.com/office/drawing/2014/main" id="{2A88DC55-04E6-F620-17B1-89D9F39C16B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1791"/>
          <a:stretch>
            <a:fillRect/>
          </a:stretch>
        </p:blipFill>
        <p:spPr>
          <a:xfrm>
            <a:off x="1769609" y="1737590"/>
            <a:ext cx="1587953" cy="892969"/>
          </a:xfrm>
          <a:prstGeom prst="rect">
            <a:avLst/>
          </a:prstGeom>
        </p:spPr>
      </p:pic>
      <p:sp>
        <p:nvSpPr>
          <p:cNvPr id="85" name="Shape 7">
            <a:extLst>
              <a:ext uri="{FF2B5EF4-FFF2-40B4-BE49-F238E27FC236}">
                <a16:creationId xmlns:a16="http://schemas.microsoft.com/office/drawing/2014/main" id="{53543F60-C102-3C33-EF36-AE86EA803AD0}"/>
              </a:ext>
            </a:extLst>
          </p:cNvPr>
          <p:cNvSpPr/>
          <p:nvPr/>
        </p:nvSpPr>
        <p:spPr>
          <a:xfrm>
            <a:off x="2387713" y="1537224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75A3"/>
            </a:solidFill>
            <a:prstDash val="solid"/>
            <a:miter lim="800000"/>
          </a:ln>
        </p:spPr>
      </p:sp>
      <p:pic>
        <p:nvPicPr>
          <p:cNvPr id="86" name="Image 3" descr="327946a2.png">
            <a:extLst>
              <a:ext uri="{FF2B5EF4-FFF2-40B4-BE49-F238E27FC236}">
                <a16:creationId xmlns:a16="http://schemas.microsoft.com/office/drawing/2014/main" id="{5C861F17-BA45-B4AB-A8CD-5767C29200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4566" y="1633149"/>
            <a:ext cx="128588" cy="164306"/>
          </a:xfrm>
          <a:prstGeom prst="rect">
            <a:avLst/>
          </a:prstGeom>
        </p:spPr>
      </p:pic>
      <p:sp>
        <p:nvSpPr>
          <p:cNvPr id="10" name="Text 2">
            <a:extLst>
              <a:ext uri="{FF2B5EF4-FFF2-40B4-BE49-F238E27FC236}">
                <a16:creationId xmlns:a16="http://schemas.microsoft.com/office/drawing/2014/main" id="{779D3D85-E7C1-EF5B-F7ED-4F5AF8C77598}"/>
              </a:ext>
            </a:extLst>
          </p:cNvPr>
          <p:cNvSpPr/>
          <p:nvPr/>
        </p:nvSpPr>
        <p:spPr>
          <a:xfrm>
            <a:off x="1846148" y="1989600"/>
            <a:ext cx="1514475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N1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Inicial</a:t>
            </a:r>
            <a:r>
              <a:rPr lang="en-US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endParaRPr lang="en-US" sz="1000" err="1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0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(Ad-hoc/ </a:t>
            </a:r>
            <a:r>
              <a:rPr lang="en-US" sz="1000" kern="0" spc="-81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Reactivo</a:t>
            </a:r>
            <a:r>
              <a:rPr lang="en-US" sz="10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>
              <a:latin typeface="Reddit Sans"/>
              <a:ea typeface="Reddit Sans"/>
            </a:endParaRPr>
          </a:p>
        </p:txBody>
      </p:sp>
      <p:sp>
        <p:nvSpPr>
          <p:cNvPr id="87" name="Text 2">
            <a:extLst>
              <a:ext uri="{FF2B5EF4-FFF2-40B4-BE49-F238E27FC236}">
                <a16:creationId xmlns:a16="http://schemas.microsoft.com/office/drawing/2014/main" id="{35C07F31-663C-02DC-57E2-69D87BA37C94}"/>
              </a:ext>
            </a:extLst>
          </p:cNvPr>
          <p:cNvSpPr/>
          <p:nvPr/>
        </p:nvSpPr>
        <p:spPr>
          <a:xfrm>
            <a:off x="420118" y="2022256"/>
            <a:ext cx="1509033" cy="55124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N0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kern="0" spc="-81" err="1">
                <a:solidFill>
                  <a:srgbClr val="333333"/>
                </a:solidFill>
                <a:latin typeface="Reddit Sans"/>
                <a:ea typeface="Reddit Sans"/>
              </a:rPr>
              <a:t>Autoservicio</a:t>
            </a:r>
            <a:r>
              <a:rPr lang="en-US" kern="0" spc="-81">
                <a:solidFill>
                  <a:srgbClr val="333333"/>
                </a:solidFill>
                <a:latin typeface="Reddit Sans"/>
                <a:ea typeface="Reddit Sans"/>
              </a:rPr>
              <a:t> </a:t>
            </a:r>
          </a:p>
          <a:p>
            <a:pPr algn="ctr">
              <a:lnSpc>
                <a:spcPts val="1556"/>
              </a:lnSpc>
            </a:pPr>
            <a:r>
              <a:rPr lang="en-US" sz="1000" kern="0" spc="-81">
                <a:solidFill>
                  <a:srgbClr val="333333"/>
                </a:solidFill>
                <a:latin typeface="Reddit Sans"/>
                <a:ea typeface="Reddit Sans"/>
              </a:rPr>
              <a:t>(Base de </a:t>
            </a:r>
            <a:r>
              <a:rPr lang="en-US" sz="1000" kern="0" spc="-81" err="1">
                <a:solidFill>
                  <a:srgbClr val="333333"/>
                </a:solidFill>
                <a:latin typeface="Reddit Sans"/>
                <a:ea typeface="Reddit Sans"/>
              </a:rPr>
              <a:t>Conocimiento</a:t>
            </a:r>
            <a:r>
              <a:rPr lang="en-US" sz="1000" kern="0" spc="-81">
                <a:solidFill>
                  <a:srgbClr val="333333"/>
                </a:solidFill>
                <a:latin typeface="Reddit Sans"/>
                <a:ea typeface="Reddit Sans"/>
              </a:rPr>
              <a:t>)</a:t>
            </a:r>
            <a:endParaRPr lang="en-US"/>
          </a:p>
        </p:txBody>
      </p:sp>
      <p:sp>
        <p:nvSpPr>
          <p:cNvPr id="89" name="Text 3">
            <a:extLst>
              <a:ext uri="{FF2B5EF4-FFF2-40B4-BE49-F238E27FC236}">
                <a16:creationId xmlns:a16="http://schemas.microsoft.com/office/drawing/2014/main" id="{F2FF73B3-1390-A22D-2CBB-8FA99D797BF5}"/>
              </a:ext>
            </a:extLst>
          </p:cNvPr>
          <p:cNvSpPr/>
          <p:nvPr/>
        </p:nvSpPr>
        <p:spPr>
          <a:xfrm>
            <a:off x="420121" y="3043302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13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N0 - Autoservicio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91" name="Text 4">
            <a:extLst>
              <a:ext uri="{FF2B5EF4-FFF2-40B4-BE49-F238E27FC236}">
                <a16:creationId xmlns:a16="http://schemas.microsoft.com/office/drawing/2014/main" id="{BCD4A989-F3C9-74F4-B3A1-776A44C3F5BA}"/>
              </a:ext>
            </a:extLst>
          </p:cNvPr>
          <p:cNvSpPr/>
          <p:nvPr/>
        </p:nvSpPr>
        <p:spPr>
          <a:xfrm>
            <a:off x="485435" y="3522979"/>
            <a:ext cx="1157289" cy="97008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Empoderamiento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del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usuario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mediante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portales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de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conocimiento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y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automatización. Portal de autoservicio, base de conocimiento, FAQ, chatbot, IA generativa.</a:t>
            </a:r>
          </a:p>
          <a:p>
            <a:pPr algn="ctr">
              <a:lnSpc>
                <a:spcPts val="1139"/>
              </a:lnSpc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93" name="Text 6">
            <a:extLst>
              <a:ext uri="{FF2B5EF4-FFF2-40B4-BE49-F238E27FC236}">
                <a16:creationId xmlns:a16="http://schemas.microsoft.com/office/drawing/2014/main" id="{62F9342F-4771-9447-1B13-EB610D36734E}"/>
              </a:ext>
            </a:extLst>
          </p:cNvPr>
          <p:cNvSpPr/>
          <p:nvPr/>
        </p:nvSpPr>
        <p:spPr>
          <a:xfrm>
            <a:off x="1681503" y="3037859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N1 - Service Desk / Call Center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95" name="Text 7">
            <a:extLst>
              <a:ext uri="{FF2B5EF4-FFF2-40B4-BE49-F238E27FC236}">
                <a16:creationId xmlns:a16="http://schemas.microsoft.com/office/drawing/2014/main" id="{E94328EF-E313-6F3C-1B6C-123BAA19D77A}"/>
              </a:ext>
            </a:extLst>
          </p:cNvPr>
          <p:cNvSpPr/>
          <p:nvPr/>
        </p:nvSpPr>
        <p:spPr>
          <a:xfrm>
            <a:off x="1735931" y="3522979"/>
            <a:ext cx="1168174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Primer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nivel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contacto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;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incidencias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comunes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y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gestión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peticiones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(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registro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tickets).</a:t>
            </a:r>
            <a:endParaRPr lang="en-US" sz="700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97" name="Text 9">
            <a:extLst>
              <a:ext uri="{FF2B5EF4-FFF2-40B4-BE49-F238E27FC236}">
                <a16:creationId xmlns:a16="http://schemas.microsoft.com/office/drawing/2014/main" id="{37490370-97BA-0714-A222-17496C8769A9}"/>
              </a:ext>
            </a:extLst>
          </p:cNvPr>
          <p:cNvSpPr/>
          <p:nvPr/>
        </p:nvSpPr>
        <p:spPr>
          <a:xfrm>
            <a:off x="3187814" y="3021530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N2 -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Especializado</a:t>
            </a:r>
            <a:endParaRPr lang="en-US" sz="1013" err="1">
              <a:latin typeface="Reddit Sans"/>
              <a:ea typeface="Reddit Sans"/>
            </a:endParaRPr>
          </a:p>
        </p:txBody>
      </p:sp>
      <p:sp>
        <p:nvSpPr>
          <p:cNvPr id="99" name="Text 10">
            <a:extLst>
              <a:ext uri="{FF2B5EF4-FFF2-40B4-BE49-F238E27FC236}">
                <a16:creationId xmlns:a16="http://schemas.microsoft.com/office/drawing/2014/main" id="{97C3240B-77E4-C022-93ED-8F91CC2B1840}"/>
              </a:ext>
            </a:extLst>
          </p:cNvPr>
          <p:cNvSpPr/>
          <p:nvPr/>
        </p:nvSpPr>
        <p:spPr>
          <a:xfrm>
            <a:off x="3187814" y="3522980"/>
            <a:ext cx="1277031" cy="91806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Especialistas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técnicos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para la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oblemas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de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mayor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complejidad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Equipos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técnicos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con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conocimientos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específicos</a:t>
            </a:r>
          </a:p>
          <a:p>
            <a:pPr 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aplicaciones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,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infraestructura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o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procesos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</a:t>
            </a:r>
          </a:p>
          <a:p>
            <a:pPr algn="ctr">
              <a:lnSpc>
                <a:spcPts val="1139"/>
              </a:lnSpc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101" name="Text 12">
            <a:extLst>
              <a:ext uri="{FF2B5EF4-FFF2-40B4-BE49-F238E27FC236}">
                <a16:creationId xmlns:a16="http://schemas.microsoft.com/office/drawing/2014/main" id="{A9BCBE2F-4218-9ACB-DB9C-9B726C052719}"/>
              </a:ext>
            </a:extLst>
          </p:cNvPr>
          <p:cNvSpPr/>
          <p:nvPr/>
        </p:nvSpPr>
        <p:spPr>
          <a:xfrm>
            <a:off x="4585267" y="3021530"/>
            <a:ext cx="1168174" cy="292001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N3 –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Expertos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(Nivel de</a:t>
            </a:r>
            <a:br>
              <a:rPr lang="en-US" sz="1000" kern="0" spc="-31">
                <a:latin typeface="Reddit Sans"/>
                <a:ea typeface="Reddit Sans"/>
                <a:cs typeface="Geist Semi Bold" pitchFamily="34" charset="-120"/>
              </a:rPr>
            </a:b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Ingeniería)</a:t>
            </a:r>
            <a:endParaRPr lang="en-US" sz="1000">
              <a:latin typeface="Reddit Sans"/>
              <a:ea typeface="Reddit Sans"/>
            </a:endParaRPr>
          </a:p>
        </p:txBody>
      </p:sp>
      <p:sp>
        <p:nvSpPr>
          <p:cNvPr id="103" name="Text 13">
            <a:extLst>
              <a:ext uri="{FF2B5EF4-FFF2-40B4-BE49-F238E27FC236}">
                <a16:creationId xmlns:a16="http://schemas.microsoft.com/office/drawing/2014/main" id="{B1F36C76-C0F3-5C68-2A77-558B0B008630}"/>
              </a:ext>
            </a:extLst>
          </p:cNvPr>
          <p:cNvSpPr/>
          <p:nvPr/>
        </p:nvSpPr>
        <p:spPr>
          <a:xfrm>
            <a:off x="4603947" y="3522023"/>
            <a:ext cx="1174357" cy="1010591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Análisis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profundo y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n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fallos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críticos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o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incidentes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complejos. Ingenieros senior, arquitectos o especialistas que resuelven problemas complejos y causa raíz.</a:t>
            </a:r>
          </a:p>
          <a:p>
            <a:pPr algn="ctr">
              <a:lnSpc>
                <a:spcPts val="1139"/>
              </a:lnSpc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105" name="Text 15">
            <a:extLst>
              <a:ext uri="{FF2B5EF4-FFF2-40B4-BE49-F238E27FC236}">
                <a16:creationId xmlns:a16="http://schemas.microsoft.com/office/drawing/2014/main" id="{A42066F1-E260-A830-0FC4-F0D7BE34F845}"/>
              </a:ext>
            </a:extLst>
          </p:cNvPr>
          <p:cNvSpPr/>
          <p:nvPr/>
        </p:nvSpPr>
        <p:spPr>
          <a:xfrm>
            <a:off x="6042592" y="3021531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N4 – Terceros (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Proveedor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/ Fabricante)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07" name="Text 16">
            <a:extLst>
              <a:ext uri="{FF2B5EF4-FFF2-40B4-BE49-F238E27FC236}">
                <a16:creationId xmlns:a16="http://schemas.microsoft.com/office/drawing/2014/main" id="{8B48FAD4-7C5D-C451-9662-AE6726204DD7}"/>
              </a:ext>
            </a:extLst>
          </p:cNvPr>
          <p:cNvSpPr/>
          <p:nvPr/>
        </p:nvSpPr>
        <p:spPr>
          <a:xfrm>
            <a:off x="6086135" y="3522979"/>
            <a:ext cx="1168174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39"/>
              </a:lnSpc>
              <a:spcBef>
                <a:spcPts val="349"/>
              </a:spcBef>
            </a:pP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Gestión de proveedores</a:t>
            </a:r>
            <a:b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externos y servicios</a:t>
            </a:r>
            <a:b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especializados fuera de la</a:t>
            </a:r>
            <a:b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organización.</a:t>
            </a:r>
            <a:endParaRPr lang="en-US" sz="700">
              <a:latin typeface="Reddit Sans"/>
              <a:ea typeface="Reddit Sans"/>
            </a:endParaRPr>
          </a:p>
        </p:txBody>
      </p:sp>
      <p:sp>
        <p:nvSpPr>
          <p:cNvPr id="112" name="Text 15">
            <a:extLst>
              <a:ext uri="{FF2B5EF4-FFF2-40B4-BE49-F238E27FC236}">
                <a16:creationId xmlns:a16="http://schemas.microsoft.com/office/drawing/2014/main" id="{7D187DF5-439C-F565-0F64-B429BB33A832}"/>
              </a:ext>
            </a:extLst>
          </p:cNvPr>
          <p:cNvSpPr/>
          <p:nvPr/>
        </p:nvSpPr>
        <p:spPr>
          <a:xfrm>
            <a:off x="7457734" y="3021530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N5 –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Autonomo</a:t>
            </a:r>
            <a:endParaRPr lang="en-US" sz="1013" err="1">
              <a:latin typeface="Reddit Sans"/>
              <a:ea typeface="Reddit Sans"/>
            </a:endParaRPr>
          </a:p>
        </p:txBody>
      </p:sp>
      <p:sp>
        <p:nvSpPr>
          <p:cNvPr id="113" name="Text 16">
            <a:extLst>
              <a:ext uri="{FF2B5EF4-FFF2-40B4-BE49-F238E27FC236}">
                <a16:creationId xmlns:a16="http://schemas.microsoft.com/office/drawing/2014/main" id="{912B63C2-055A-1F1D-198B-175975F73992}"/>
              </a:ext>
            </a:extLst>
          </p:cNvPr>
          <p:cNvSpPr/>
          <p:nvPr/>
        </p:nvSpPr>
        <p:spPr>
          <a:xfrm>
            <a:off x="7528493" y="3522979"/>
            <a:ext cx="1168174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</a:rPr>
              <a:t>IA, automatización, auto-remediación, AIOps y operaciones predictivas.</a:t>
            </a:r>
            <a:endParaRPr lang="es-ES" sz="700" kern="0" spc="-34">
              <a:solidFill>
                <a:srgbClr val="000000">
                  <a:alpha val="65000"/>
                </a:srgbClr>
              </a:solidFill>
              <a:latin typeface="Reddit Sans"/>
              <a:ea typeface="Reddit Sans"/>
            </a:endParaRPr>
          </a:p>
          <a:p>
            <a:pPr algn="ctr">
              <a:lnSpc>
                <a:spcPts val="1139"/>
              </a:lnSpc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5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0B55AC2E-1F99-440A-C595-08997A02FCA5}"/>
              </a:ext>
            </a:extLst>
          </p:cNvPr>
          <p:cNvSpPr/>
          <p:nvPr/>
        </p:nvSpPr>
        <p:spPr>
          <a:xfrm>
            <a:off x="429645" y="664927"/>
            <a:ext cx="8643938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Hoja de Ruta </a:t>
            </a:r>
            <a:r>
              <a:rPr lang="en-US" sz="12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hacia</a:t>
            </a: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2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una</a:t>
            </a:r>
            <a:r>
              <a:rPr lang="en-US" sz="12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Mesa de Servicio Optima</a:t>
            </a:r>
            <a:endParaRPr lang="en-US" sz="1200">
              <a:latin typeface="Reddit Sans"/>
              <a:ea typeface="Reddit Sans"/>
            </a:endParaRPr>
          </a:p>
        </p:txBody>
      </p:sp>
      <p:sp>
        <p:nvSpPr>
          <p:cNvPr id="9" name="Titulo">
            <a:extLst>
              <a:ext uri="{FF2B5EF4-FFF2-40B4-BE49-F238E27FC236}">
                <a16:creationId xmlns:a16="http://schemas.microsoft.com/office/drawing/2014/main" id="{559C00E6-28C4-F4E7-6254-770B61ECB125}"/>
              </a:ext>
            </a:extLst>
          </p:cNvPr>
          <p:cNvSpPr txBox="1">
            <a:spLocks/>
          </p:cNvSpPr>
          <p:nvPr/>
        </p:nvSpPr>
        <p:spPr>
          <a:xfrm>
            <a:off x="356829" y="265706"/>
            <a:ext cx="8211000" cy="5727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1600" b="1">
                <a:solidFill>
                  <a:srgbClr val="0E337C"/>
                </a:solidFill>
                <a:latin typeface="Reddit Sans"/>
                <a:ea typeface="Reddit Sans"/>
              </a:rPr>
              <a:t>N</a:t>
            </a:r>
            <a:r>
              <a:rPr lang="es-ES" sz="1600" b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ivel de Madurez de las Mesas de Servicio – A dónde queremos llegar</a:t>
            </a:r>
          </a:p>
        </p:txBody>
      </p:sp>
      <p:sp>
        <p:nvSpPr>
          <p:cNvPr id="12" name="modelo reactivo">
            <a:extLst>
              <a:ext uri="{FF2B5EF4-FFF2-40B4-BE49-F238E27FC236}">
                <a16:creationId xmlns:a16="http://schemas.microsoft.com/office/drawing/2014/main" id="{8F4CC718-2E8E-86BA-065B-7203DA818D05}"/>
              </a:ext>
            </a:extLst>
          </p:cNvPr>
          <p:cNvSpPr txBox="1"/>
          <p:nvPr/>
        </p:nvSpPr>
        <p:spPr>
          <a:xfrm>
            <a:off x="359230" y="1110342"/>
            <a:ext cx="2775407" cy="37011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633806"/>
                </a:solidFill>
                <a:latin typeface="Reddit Sans"/>
                <a:ea typeface="Reddit Sans"/>
              </a:rPr>
              <a:t>Reactivo y Crecimiento Automatizado</a:t>
            </a:r>
          </a:p>
        </p:txBody>
      </p:sp>
      <p:sp>
        <p:nvSpPr>
          <p:cNvPr id="14" name="modelo predictivo">
            <a:extLst>
              <a:ext uri="{FF2B5EF4-FFF2-40B4-BE49-F238E27FC236}">
                <a16:creationId xmlns:a16="http://schemas.microsoft.com/office/drawing/2014/main" id="{8F4DFA52-E4C3-F9FA-35AC-2B9DDB2580D8}"/>
              </a:ext>
            </a:extLst>
          </p:cNvPr>
          <p:cNvSpPr txBox="1"/>
          <p:nvPr/>
        </p:nvSpPr>
        <p:spPr>
          <a:xfrm>
            <a:off x="3252108" y="1110342"/>
            <a:ext cx="2682879" cy="3701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0E337C"/>
                </a:solidFill>
                <a:latin typeface="Reddit Sans"/>
                <a:ea typeface="Reddit Sans"/>
              </a:rPr>
              <a:t>Predictivo y Evolutivo</a:t>
            </a:r>
          </a:p>
        </p:txBody>
      </p:sp>
      <p:sp>
        <p:nvSpPr>
          <p:cNvPr id="16" name="modelo autonomo">
            <a:extLst>
              <a:ext uri="{FF2B5EF4-FFF2-40B4-BE49-F238E27FC236}">
                <a16:creationId xmlns:a16="http://schemas.microsoft.com/office/drawing/2014/main" id="{1595092C-43F6-10F5-9638-E2CA995E11C0}"/>
              </a:ext>
            </a:extLst>
          </p:cNvPr>
          <p:cNvSpPr txBox="1"/>
          <p:nvPr/>
        </p:nvSpPr>
        <p:spPr>
          <a:xfrm>
            <a:off x="6052458" y="1110342"/>
            <a:ext cx="2683629" cy="370115"/>
          </a:xfrm>
          <a:prstGeom prst="rect">
            <a:avLst/>
          </a:prstGeom>
          <a:solidFill>
            <a:srgbClr val="215578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chemeClr val="bg1"/>
                </a:solidFill>
                <a:latin typeface="Reddit Sans"/>
                <a:ea typeface="Reddit Sans"/>
              </a:rPr>
              <a:t>Autónomo e Inteligente</a:t>
            </a:r>
            <a:endParaRPr lang="es" sz="1000" b="1">
              <a:solidFill>
                <a:schemeClr val="bg1"/>
              </a:solidFill>
              <a:latin typeface="Reddit Sans"/>
              <a:ea typeface="Reddit San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19929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>
          <a:extLst>
            <a:ext uri="{FF2B5EF4-FFF2-40B4-BE49-F238E27FC236}">
              <a16:creationId xmlns:a16="http://schemas.microsoft.com/office/drawing/2014/main" id="{0073EB55-4649-8126-4366-E27BAFF96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57f5ba65c_1_28">
            <a:extLst>
              <a:ext uri="{FF2B5EF4-FFF2-40B4-BE49-F238E27FC236}">
                <a16:creationId xmlns:a16="http://schemas.microsoft.com/office/drawing/2014/main" id="{B5EE3330-01FD-C810-C65B-B47C23803E2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s"/>
              <a:t>Mesas de Servicio de Nueva Generación</a:t>
            </a:r>
          </a:p>
        </p:txBody>
      </p:sp>
      <p:sp>
        <p:nvSpPr>
          <p:cNvPr id="125" name="Google Shape;125;g3657f5ba65c_1_28">
            <a:extLst>
              <a:ext uri="{FF2B5EF4-FFF2-40B4-BE49-F238E27FC236}">
                <a16:creationId xmlns:a16="http://schemas.microsoft.com/office/drawing/2014/main" id="{B949523C-9396-B26E-8B4E-9473B2ABF46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/>
            <a:r>
              <a:rPr lang="es-ES"/>
              <a:t>Propuesta de Servicio Diferenciadora</a:t>
            </a:r>
          </a:p>
        </p:txBody>
      </p:sp>
    </p:spTree>
    <p:extLst>
      <p:ext uri="{BB962C8B-B14F-4D97-AF65-F5344CB8AC3E}">
        <p14:creationId xmlns:p14="http://schemas.microsoft.com/office/powerpoint/2010/main" val="21145422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27063431-2DE3-F60A-F338-FF4742D01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Mesas de Servicio - Referencia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A179637-B69D-C6BA-C75E-06BFC81FE5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52143"/>
            <a:ext cx="4332514" cy="2919369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83EA414D-20B6-9B45-A372-FD29DC40E659}"/>
              </a:ext>
            </a:extLst>
          </p:cNvPr>
          <p:cNvSpPr txBox="1"/>
          <p:nvPr/>
        </p:nvSpPr>
        <p:spPr>
          <a:xfrm>
            <a:off x="1567543" y="4226379"/>
            <a:ext cx="1877786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800">
                <a:hlinkClick r:id="rId4"/>
              </a:rPr>
              <a:t>7.5.5 Mesa de Servicios</a:t>
            </a:r>
            <a:endParaRPr lang="en-US" sz="800"/>
          </a:p>
          <a:p>
            <a:pPr algn="ctr"/>
            <a:endParaRPr lang="es-ES" sz="80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D1F6975-38DB-93CB-B6BA-B658B4E2CF1F}"/>
              </a:ext>
            </a:extLst>
          </p:cNvPr>
          <p:cNvSpPr txBox="1"/>
          <p:nvPr/>
        </p:nvSpPr>
        <p:spPr>
          <a:xfrm>
            <a:off x="5143500" y="4395107"/>
            <a:ext cx="3869872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800">
                <a:hlinkClick r:id="rId5"/>
              </a:rPr>
              <a:t>¿Qué es un software de mesa de ayuda? | Guía sobre el software de mesa de ayuda - ManageEngine ServiceDesk Plus</a:t>
            </a:r>
            <a:endParaRPr lang="en-US" sz="800"/>
          </a:p>
          <a:p>
            <a:pPr algn="ctr"/>
            <a:endParaRPr lang="es-ES"/>
          </a:p>
        </p:txBody>
      </p:sp>
      <p:pic>
        <p:nvPicPr>
          <p:cNvPr id="8" name="Imagen 7" descr="Help desk software for small business">
            <a:extLst>
              <a:ext uri="{FF2B5EF4-FFF2-40B4-BE49-F238E27FC236}">
                <a16:creationId xmlns:a16="http://schemas.microsoft.com/office/drawing/2014/main" id="{15ED6B90-4D20-BFFE-8DEC-B92A0F7C44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22632" y="0"/>
            <a:ext cx="3620364" cy="4218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27572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Contenido del artículo">
            <a:extLst>
              <a:ext uri="{FF2B5EF4-FFF2-40B4-BE49-F238E27FC236}">
                <a16:creationId xmlns:a16="http://schemas.microsoft.com/office/drawing/2014/main" id="{7DF1E554-1AA2-EB5F-9181-655DCB20E4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507" y="111579"/>
            <a:ext cx="7658100" cy="441960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B543981-3B15-19F8-6B0B-D34AF3EB26D8}"/>
              </a:ext>
            </a:extLst>
          </p:cNvPr>
          <p:cNvSpPr txBox="1"/>
          <p:nvPr/>
        </p:nvSpPr>
        <p:spPr>
          <a:xfrm>
            <a:off x="473528" y="4656364"/>
            <a:ext cx="6417128" cy="4308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800">
                <a:hlinkClick r:id="rId3"/>
              </a:rPr>
              <a:t>(8) Mesa de servicio inteligente: cómo la Inteligencia Artificial está transformando el soporte al cliente | LinkedIn</a:t>
            </a:r>
            <a:endParaRPr lang="en-US" sz="800"/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95839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281F8DE4-10A4-27B3-34F6-D359EA68D895}"/>
              </a:ext>
            </a:extLst>
          </p:cNvPr>
          <p:cNvSpPr txBox="1">
            <a:spLocks/>
          </p:cNvSpPr>
          <p:nvPr/>
        </p:nvSpPr>
        <p:spPr>
          <a:xfrm>
            <a:off x="329614" y="-39094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Reddit Sans"/>
              <a:buNone/>
              <a:defRPr sz="5000" b="1" i="0" u="none" strike="noStrike" cap="none">
                <a:solidFill>
                  <a:srgbClr val="0E337C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Font typeface="Arial"/>
              <a:buNone/>
              <a:defRPr sz="5000" b="0" i="0" u="none" strike="noStrike" cap="none">
                <a:solidFill>
                  <a:srgbClr val="0E337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1600"/>
              <a:t>ITIL v2 - </a:t>
            </a:r>
            <a:r>
              <a:rPr lang="en-US" sz="1600" err="1"/>
              <a:t>Diagrama</a:t>
            </a:r>
            <a:r>
              <a:rPr lang="en-US" sz="1600"/>
              <a:t> del Ciclo de Vida y Modelo 6C</a:t>
            </a:r>
            <a:endParaRPr lang="es-ES" sz="1600"/>
          </a:p>
        </p:txBody>
      </p:sp>
      <p:sp>
        <p:nvSpPr>
          <p:cNvPr id="202" name="rec202"/>
          <p:cNvSpPr/>
          <p:nvPr/>
        </p:nvSpPr>
        <p:spPr>
          <a:xfrm>
            <a:off x="363928" y="530129"/>
            <a:ext cx="8144000" cy="2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Autofit/>
          </a:bodyPr>
          <a:lstStyle/>
          <a:p>
            <a:pPr defTabSz="685800" fontAlgn="ctr">
              <a:lnSpc>
                <a:spcPts val="1693"/>
              </a:lnSpc>
              <a:spcBef>
                <a:spcPts val="650"/>
              </a:spcBef>
            </a:pPr>
            <a:r>
              <a:rPr lang="es-ES" sz="12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Lanzado feb–abr 2026 </a:t>
            </a:r>
          </a:p>
        </p:txBody>
      </p:sp>
      <p:sp>
        <p:nvSpPr>
          <p:cNvPr id="203" name="rec203"/>
          <p:cNvSpPr/>
          <p:nvPr/>
        </p:nvSpPr>
        <p:spPr>
          <a:xfrm>
            <a:off x="1657086" y="2184814"/>
            <a:ext cx="1500000" cy="1500000"/>
          </a:xfrm>
          <a:prstGeom prst="ellipse">
            <a:avLst/>
          </a:prstGeom>
          <a:solidFill>
            <a:srgbClr val="132346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1200" b="1">
                <a:solidFill>
                  <a:srgbClr val="FFFFFF"/>
                </a:solidFill>
                <a:latin typeface="Reddit Sans"/>
                <a:ea typeface="Reddit Sans"/>
              </a:rPr>
              <a:t>Ciclo de vida de Productos y Servicios</a:t>
            </a:r>
            <a:endParaRPr lang="es-ES"/>
          </a:p>
        </p:txBody>
      </p:sp>
      <p:sp>
        <p:nvSpPr>
          <p:cNvPr id="204" name="rec204"/>
          <p:cNvSpPr/>
          <p:nvPr/>
        </p:nvSpPr>
        <p:spPr>
          <a:xfrm>
            <a:off x="2047086" y="1174814"/>
            <a:ext cx="720000" cy="720000"/>
          </a:xfrm>
          <a:prstGeom prst="ellipse">
            <a:avLst/>
          </a:prstGeom>
          <a:solidFill>
            <a:srgbClr val="20808D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1</a:t>
            </a:r>
          </a:p>
          <a:p>
            <a:pPr algn="ctr">
              <a:spcBef>
                <a:spcPts val="8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Discover</a:t>
            </a:r>
          </a:p>
        </p:txBody>
      </p:sp>
      <p:sp>
        <p:nvSpPr>
          <p:cNvPr id="205" name="rec205"/>
          <p:cNvSpPr/>
          <p:nvPr/>
        </p:nvSpPr>
        <p:spPr>
          <a:xfrm>
            <a:off x="1757086" y="814814"/>
            <a:ext cx="13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800">
                <a:solidFill>
                  <a:srgbClr val="20808D"/>
                </a:solidFill>
                <a:latin typeface="Reddit Sans"/>
                <a:ea typeface="Reddit Sans"/>
              </a:rPr>
              <a:t>Necesidades</a:t>
            </a:r>
          </a:p>
        </p:txBody>
      </p:sp>
      <p:sp>
        <p:nvSpPr>
          <p:cNvPr id="206" name="rec206"/>
          <p:cNvSpPr/>
          <p:nvPr/>
        </p:nvSpPr>
        <p:spPr>
          <a:xfrm>
            <a:off x="3037035" y="1584864"/>
            <a:ext cx="720000" cy="720000"/>
          </a:xfrm>
          <a:prstGeom prst="ellipse">
            <a:avLst/>
          </a:prstGeom>
          <a:solidFill>
            <a:srgbClr val="1B474C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2</a:t>
            </a:r>
          </a:p>
          <a:p>
            <a:pPr algn="ctr">
              <a:spcBef>
                <a:spcPts val="8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Design</a:t>
            </a:r>
          </a:p>
        </p:txBody>
      </p:sp>
      <p:sp>
        <p:nvSpPr>
          <p:cNvPr id="207" name="rec207"/>
          <p:cNvSpPr/>
          <p:nvPr/>
        </p:nvSpPr>
        <p:spPr>
          <a:xfrm>
            <a:off x="3797035" y="1388884"/>
            <a:ext cx="105005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>
                <a:solidFill>
                  <a:srgbClr val="1B474C"/>
                </a:solidFill>
                <a:latin typeface="Reddit Sans"/>
                <a:ea typeface="Reddit Sans"/>
              </a:rPr>
              <a:t>Arquitectura</a:t>
            </a:r>
          </a:p>
        </p:txBody>
      </p:sp>
      <p:sp>
        <p:nvSpPr>
          <p:cNvPr id="208" name="rec208"/>
          <p:cNvSpPr/>
          <p:nvPr/>
        </p:nvSpPr>
        <p:spPr>
          <a:xfrm>
            <a:off x="3447086" y="2574814"/>
            <a:ext cx="720000" cy="720000"/>
          </a:xfrm>
          <a:prstGeom prst="ellipse">
            <a:avLst/>
          </a:prstGeom>
          <a:solidFill>
            <a:srgbClr val="437A22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3</a:t>
            </a:r>
          </a:p>
          <a:p>
            <a:pPr algn="ctr">
              <a:spcBef>
                <a:spcPts val="8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Acquire</a:t>
            </a:r>
          </a:p>
        </p:txBody>
      </p:sp>
      <p:sp>
        <p:nvSpPr>
          <p:cNvPr id="209" name="rec209"/>
          <p:cNvSpPr/>
          <p:nvPr/>
        </p:nvSpPr>
        <p:spPr>
          <a:xfrm>
            <a:off x="4207086" y="2774814"/>
            <a:ext cx="64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>
                <a:solidFill>
                  <a:srgbClr val="437A22"/>
                </a:solidFill>
                <a:latin typeface="Reddit Sans"/>
                <a:ea typeface="Reddit Sans"/>
              </a:rPr>
              <a:t>Proveedores</a:t>
            </a:r>
          </a:p>
        </p:txBody>
      </p:sp>
      <p:sp>
        <p:nvSpPr>
          <p:cNvPr id="210" name="rec210"/>
          <p:cNvSpPr/>
          <p:nvPr/>
        </p:nvSpPr>
        <p:spPr>
          <a:xfrm>
            <a:off x="3037035" y="3564763"/>
            <a:ext cx="720000" cy="720000"/>
          </a:xfrm>
          <a:prstGeom prst="ellipse">
            <a:avLst/>
          </a:prstGeom>
          <a:solidFill>
            <a:srgbClr val="D19900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4</a:t>
            </a:r>
          </a:p>
          <a:p>
            <a:pPr algn="ctr">
              <a:spcBef>
                <a:spcPts val="8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Build</a:t>
            </a:r>
          </a:p>
        </p:txBody>
      </p:sp>
      <p:sp>
        <p:nvSpPr>
          <p:cNvPr id="211" name="rec211"/>
          <p:cNvSpPr/>
          <p:nvPr/>
        </p:nvSpPr>
        <p:spPr>
          <a:xfrm>
            <a:off x="3797035" y="4160743"/>
            <a:ext cx="105005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00">
                <a:solidFill>
                  <a:srgbClr val="D19900"/>
                </a:solidFill>
                <a:latin typeface="Reddit Sans"/>
                <a:ea typeface="Reddit Sans"/>
              </a:rPr>
              <a:t>Desarrollo</a:t>
            </a:r>
          </a:p>
        </p:txBody>
      </p:sp>
      <p:sp>
        <p:nvSpPr>
          <p:cNvPr id="212" name="rec212"/>
          <p:cNvSpPr/>
          <p:nvPr/>
        </p:nvSpPr>
        <p:spPr>
          <a:xfrm>
            <a:off x="2047086" y="3974814"/>
            <a:ext cx="720000" cy="720000"/>
          </a:xfrm>
          <a:prstGeom prst="ellipse">
            <a:avLst/>
          </a:prstGeom>
          <a:solidFill>
            <a:srgbClr val="964219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5</a:t>
            </a:r>
          </a:p>
          <a:p>
            <a:pPr algn="ctr">
              <a:spcBef>
                <a:spcPts val="80"/>
              </a:spcBef>
            </a:pPr>
            <a:r>
              <a:rPr lang="es-ES" sz="800" err="1">
                <a:solidFill>
                  <a:srgbClr val="FFFFFF"/>
                </a:solidFill>
                <a:latin typeface="Reddit Sans"/>
                <a:ea typeface="Reddit Sans"/>
              </a:rPr>
              <a:t>Transition</a:t>
            </a:r>
            <a:endParaRPr lang="es-ES" sz="800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sp>
        <p:nvSpPr>
          <p:cNvPr id="213" name="rec213"/>
          <p:cNvSpPr/>
          <p:nvPr/>
        </p:nvSpPr>
        <p:spPr>
          <a:xfrm>
            <a:off x="1670000" y="4823500"/>
            <a:ext cx="13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800">
                <a:solidFill>
                  <a:srgbClr val="964219"/>
                </a:solidFill>
                <a:latin typeface="Reddit Sans"/>
                <a:ea typeface="Reddit Sans"/>
              </a:rPr>
              <a:t>A producción</a:t>
            </a:r>
          </a:p>
        </p:txBody>
      </p:sp>
      <p:sp>
        <p:nvSpPr>
          <p:cNvPr id="214" name="rec214"/>
          <p:cNvSpPr/>
          <p:nvPr/>
        </p:nvSpPr>
        <p:spPr>
          <a:xfrm>
            <a:off x="1057136" y="3564763"/>
            <a:ext cx="720000" cy="720000"/>
          </a:xfrm>
          <a:prstGeom prst="ellipse">
            <a:avLst/>
          </a:prstGeom>
          <a:solidFill>
            <a:srgbClr val="A84B2F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6</a:t>
            </a:r>
          </a:p>
          <a:p>
            <a:pPr algn="ctr">
              <a:spcBef>
                <a:spcPts val="80"/>
              </a:spcBef>
            </a:pPr>
            <a:r>
              <a:rPr lang="es-ES" sz="800" err="1">
                <a:solidFill>
                  <a:srgbClr val="FFFFFF"/>
                </a:solidFill>
                <a:latin typeface="Reddit Sans"/>
                <a:ea typeface="Reddit Sans"/>
              </a:rPr>
              <a:t>Operate</a:t>
            </a:r>
            <a:endParaRPr lang="es-ES" sz="800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sp>
        <p:nvSpPr>
          <p:cNvPr id="215" name="rec215"/>
          <p:cNvSpPr/>
          <p:nvPr/>
        </p:nvSpPr>
        <p:spPr>
          <a:xfrm>
            <a:off x="117086" y="4160743"/>
            <a:ext cx="90005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r"/>
            <a:r>
              <a:rPr lang="es-ES" sz="800" err="1">
                <a:solidFill>
                  <a:srgbClr val="A84B2F"/>
                </a:solidFill>
                <a:latin typeface="Reddit Sans"/>
                <a:ea typeface="Reddit Sans"/>
              </a:rPr>
              <a:t>Incident</a:t>
            </a:r>
            <a:r>
              <a:rPr lang="es-ES" sz="800">
                <a:solidFill>
                  <a:srgbClr val="A84B2F"/>
                </a:solidFill>
                <a:latin typeface="Reddit Sans"/>
                <a:ea typeface="Reddit Sans"/>
              </a:rPr>
              <a:t> Management</a:t>
            </a:r>
          </a:p>
        </p:txBody>
      </p:sp>
      <p:sp>
        <p:nvSpPr>
          <p:cNvPr id="216" name="rec216"/>
          <p:cNvSpPr/>
          <p:nvPr/>
        </p:nvSpPr>
        <p:spPr>
          <a:xfrm>
            <a:off x="647086" y="2574814"/>
            <a:ext cx="720000" cy="720000"/>
          </a:xfrm>
          <a:prstGeom prst="ellipse">
            <a:avLst/>
          </a:prstGeom>
          <a:solidFill>
            <a:srgbClr val="944454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7</a:t>
            </a:r>
          </a:p>
          <a:p>
            <a:pPr algn="ctr">
              <a:spcBef>
                <a:spcPts val="80"/>
              </a:spcBef>
            </a:pPr>
            <a:r>
              <a:rPr lang="es-ES" sz="800" err="1">
                <a:solidFill>
                  <a:srgbClr val="FFFFFF"/>
                </a:solidFill>
                <a:latin typeface="Reddit Sans"/>
                <a:ea typeface="Reddit Sans"/>
              </a:rPr>
              <a:t>Deliver</a:t>
            </a:r>
            <a:endParaRPr lang="es-ES" sz="800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sp>
        <p:nvSpPr>
          <p:cNvPr id="217" name="rec217"/>
          <p:cNvSpPr/>
          <p:nvPr/>
        </p:nvSpPr>
        <p:spPr>
          <a:xfrm>
            <a:off x="117086" y="2774814"/>
            <a:ext cx="49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r"/>
            <a:r>
              <a:rPr lang="es-ES" sz="800">
                <a:solidFill>
                  <a:srgbClr val="944454"/>
                </a:solidFill>
                <a:latin typeface="Reddit Sans"/>
                <a:ea typeface="Reddit Sans"/>
              </a:rPr>
              <a:t>Valor real</a:t>
            </a:r>
          </a:p>
        </p:txBody>
      </p:sp>
      <p:sp>
        <p:nvSpPr>
          <p:cNvPr id="218" name="rec218"/>
          <p:cNvSpPr/>
          <p:nvPr/>
        </p:nvSpPr>
        <p:spPr>
          <a:xfrm>
            <a:off x="1057136" y="1584864"/>
            <a:ext cx="720000" cy="720000"/>
          </a:xfrm>
          <a:prstGeom prst="ellipse">
            <a:avLst/>
          </a:prstGeom>
          <a:solidFill>
            <a:srgbClr val="7A38BB"/>
          </a:solidFill>
          <a:ln>
            <a:noFill/>
          </a:ln>
        </p:spPr>
        <p:txBody>
          <a:bodyPr wrap="square" lIns="9000" tIns="18000" rIns="9000" bIns="18000" anchor="ctr">
            <a:normAutofit/>
          </a:bodyPr>
          <a:lstStyle/>
          <a:p>
            <a:pPr algn="ctr"/>
            <a:r>
              <a:rPr lang="es-ES" sz="800" b="1">
                <a:solidFill>
                  <a:srgbClr val="FFFFFF"/>
                </a:solidFill>
                <a:latin typeface="Reddit Sans"/>
                <a:ea typeface="Reddit Sans"/>
              </a:rPr>
              <a:t>8</a:t>
            </a:r>
          </a:p>
          <a:p>
            <a:pPr algn="ctr">
              <a:spcBef>
                <a:spcPts val="80"/>
              </a:spcBef>
            </a:pPr>
            <a:r>
              <a:rPr lang="es-ES" sz="800" err="1">
                <a:solidFill>
                  <a:srgbClr val="FFFFFF"/>
                </a:solidFill>
                <a:latin typeface="Reddit Sans"/>
                <a:ea typeface="Reddit Sans"/>
              </a:rPr>
              <a:t>Support</a:t>
            </a:r>
            <a:endParaRPr lang="es-ES" sz="800">
              <a:solidFill>
                <a:srgbClr val="FFFFFF"/>
              </a:solidFill>
              <a:latin typeface="Reddit Sans"/>
              <a:ea typeface="Reddit Sans"/>
            </a:endParaRPr>
          </a:p>
        </p:txBody>
      </p:sp>
      <p:sp>
        <p:nvSpPr>
          <p:cNvPr id="219" name="rec219"/>
          <p:cNvSpPr/>
          <p:nvPr/>
        </p:nvSpPr>
        <p:spPr>
          <a:xfrm>
            <a:off x="117086" y="1388884"/>
            <a:ext cx="900050" cy="32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r"/>
            <a:r>
              <a:rPr lang="es-ES" sz="800">
                <a:solidFill>
                  <a:srgbClr val="7A38BB"/>
                </a:solidFill>
                <a:latin typeface="Reddit Sans"/>
                <a:ea typeface="Reddit Sans"/>
              </a:rPr>
              <a:t>Mejora continua</a:t>
            </a:r>
          </a:p>
        </p:txBody>
      </p:sp>
      <p:sp>
        <p:nvSpPr>
          <p:cNvPr id="220" name="rec220"/>
          <p:cNvSpPr/>
          <p:nvPr/>
        </p:nvSpPr>
        <p:spPr>
          <a:xfrm>
            <a:off x="4803543" y="994300"/>
            <a:ext cx="42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250" b="1">
                <a:solidFill>
                  <a:srgbClr val="132346"/>
                </a:solidFill>
                <a:latin typeface="Reddit Sans"/>
                <a:ea typeface="Reddit Sans"/>
              </a:rPr>
              <a:t>Modelo 6C de Capacidades IA</a:t>
            </a:r>
          </a:p>
        </p:txBody>
      </p:sp>
      <p:sp>
        <p:nvSpPr>
          <p:cNvPr id="221" name="rec221"/>
          <p:cNvSpPr/>
          <p:nvPr/>
        </p:nvSpPr>
        <p:spPr>
          <a:xfrm>
            <a:off x="4803543" y="1244300"/>
            <a:ext cx="420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850">
                <a:solidFill>
                  <a:srgbClr val="6B6B6B"/>
                </a:solidFill>
                <a:latin typeface="Reddit Sans"/>
                <a:ea typeface="Reddit Sans"/>
              </a:rPr>
              <a:t>36% de contenido nuevo en ITIL (Versión 5)</a:t>
            </a:r>
          </a:p>
        </p:txBody>
      </p:sp>
      <p:sp>
        <p:nvSpPr>
          <p:cNvPr id="222" name="rec222"/>
          <p:cNvSpPr/>
          <p:nvPr/>
        </p:nvSpPr>
        <p:spPr>
          <a:xfrm>
            <a:off x="4803543" y="1534300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20808D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Creación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Generar contenido y soluciones con IA</a:t>
            </a:r>
          </a:p>
        </p:txBody>
      </p:sp>
      <p:sp>
        <p:nvSpPr>
          <p:cNvPr id="223" name="rec223"/>
          <p:cNvSpPr/>
          <p:nvPr/>
        </p:nvSpPr>
        <p:spPr>
          <a:xfrm>
            <a:off x="6963543" y="1534300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1B474D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Curación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Filtrar y mantener outputs de IA</a:t>
            </a:r>
          </a:p>
        </p:txBody>
      </p:sp>
      <p:sp>
        <p:nvSpPr>
          <p:cNvPr id="224" name="rec224"/>
          <p:cNvSpPr/>
          <p:nvPr/>
        </p:nvSpPr>
        <p:spPr>
          <a:xfrm>
            <a:off x="4803543" y="2129300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427A22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Clarificación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Interpretar solicitudes ambiguas</a:t>
            </a:r>
          </a:p>
        </p:txBody>
      </p:sp>
      <p:sp>
        <p:nvSpPr>
          <p:cNvPr id="225" name="rec225"/>
          <p:cNvSpPr/>
          <p:nvPr/>
        </p:nvSpPr>
        <p:spPr>
          <a:xfrm>
            <a:off x="6963543" y="2129300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006494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Cognición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Análisis y soporte a decisiones</a:t>
            </a:r>
          </a:p>
        </p:txBody>
      </p:sp>
      <p:sp>
        <p:nvSpPr>
          <p:cNvPr id="226" name="rec226"/>
          <p:cNvSpPr/>
          <p:nvPr/>
        </p:nvSpPr>
        <p:spPr>
          <a:xfrm>
            <a:off x="4803543" y="2724300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944454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Comunicación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Interacciones usuario-sistema</a:t>
            </a:r>
          </a:p>
        </p:txBody>
      </p:sp>
      <p:sp>
        <p:nvSpPr>
          <p:cNvPr id="227" name="rec227"/>
          <p:cNvSpPr/>
          <p:nvPr/>
        </p:nvSpPr>
        <p:spPr>
          <a:xfrm>
            <a:off x="6963543" y="2724300"/>
            <a:ext cx="2040000" cy="500000"/>
          </a:xfrm>
          <a:prstGeom prst="roundRect">
            <a:avLst>
              <a:gd name="adj" fmla="val 12000"/>
            </a:avLst>
          </a:prstGeom>
          <a:solidFill>
            <a:srgbClr val="132346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l"/>
            <a:r>
              <a:rPr lang="es-ES" sz="1050" b="1">
                <a:solidFill>
                  <a:srgbClr val="FFFFFF"/>
                </a:solidFill>
                <a:latin typeface="Reddit Sans"/>
                <a:ea typeface="Reddit Sans"/>
              </a:rPr>
              <a:t>Coordinación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FFFFFF"/>
                </a:solidFill>
                <a:latin typeface="Reddit Sans"/>
                <a:ea typeface="Reddit Sans"/>
              </a:rPr>
              <a:t>Orquestar agentes IA + humanos</a:t>
            </a:r>
          </a:p>
        </p:txBody>
      </p:sp>
      <p:sp>
        <p:nvSpPr>
          <p:cNvPr id="228" name="rec228"/>
          <p:cNvSpPr/>
          <p:nvPr/>
        </p:nvSpPr>
        <p:spPr>
          <a:xfrm>
            <a:off x="4803543" y="3359300"/>
            <a:ext cx="4200000" cy="760000"/>
          </a:xfrm>
          <a:prstGeom prst="roundRect">
            <a:avLst>
              <a:gd name="adj" fmla="val 6000"/>
            </a:avLst>
          </a:prstGeom>
          <a:solidFill>
            <a:srgbClr val="EDEDED"/>
          </a:solidFill>
          <a:ln>
            <a:noFill/>
          </a:ln>
        </p:spPr>
        <p:txBody>
          <a:bodyPr wrap="square" lIns="45720" tIns="18000" rIns="45720" bIns="18000" anchor="t">
            <a:normAutofit/>
          </a:bodyPr>
          <a:lstStyle/>
          <a:p>
            <a:pPr algn="l"/>
            <a:r>
              <a:rPr lang="es-ES" sz="950" b="1">
                <a:solidFill>
                  <a:srgbClr val="132346"/>
                </a:solidFill>
                <a:latin typeface="Reddit Sans"/>
                <a:ea typeface="Reddit Sans"/>
              </a:rPr>
              <a:t>Gobernanza de IA — Módulo independiente en ITIL v5</a:t>
            </a:r>
          </a:p>
          <a:p>
            <a:pPr algn="l">
              <a:spcBef>
                <a:spcPts val="100"/>
              </a:spcBef>
            </a:pPr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• Responsabilidad sobre outputs de IA</a:t>
            </a:r>
          </a:p>
          <a:p>
            <a:pPr algn="l"/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• Transparencia en decisiones mediadas por IA</a:t>
            </a:r>
          </a:p>
          <a:p>
            <a:pPr algn="l"/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• Rutas de escalamiento cuando falla coordinación entre agentes</a:t>
            </a:r>
          </a:p>
        </p:txBody>
      </p:sp>
      <p:sp>
        <p:nvSpPr>
          <p:cNvPr id="229" name="rec229"/>
          <p:cNvSpPr/>
          <p:nvPr/>
        </p:nvSpPr>
        <p:spPr>
          <a:xfrm>
            <a:off x="4803543" y="4179300"/>
            <a:ext cx="420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850" b="1">
                <a:solidFill>
                  <a:srgbClr val="6B6B6B"/>
                </a:solidFill>
                <a:latin typeface="Reddit Sans"/>
                <a:ea typeface="Reddit Sans"/>
              </a:rPr>
              <a:t>Composición de ITIL v5:</a:t>
            </a:r>
          </a:p>
        </p:txBody>
      </p:sp>
      <p:sp>
        <p:nvSpPr>
          <p:cNvPr id="230" name="rec230"/>
          <p:cNvSpPr/>
          <p:nvPr/>
        </p:nvSpPr>
        <p:spPr>
          <a:xfrm>
            <a:off x="4803543" y="4409300"/>
            <a:ext cx="1680000" cy="300000"/>
          </a:xfrm>
          <a:prstGeom prst="rect">
            <a:avLst/>
          </a:prstGeom>
          <a:solidFill>
            <a:srgbClr val="20808D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750" b="1">
                <a:solidFill>
                  <a:srgbClr val="FFFFFF"/>
                </a:solidFill>
                <a:latin typeface="Reddit Sans"/>
                <a:ea typeface="Reddit Sans"/>
              </a:rPr>
              <a:t>40% retenido</a:t>
            </a:r>
          </a:p>
        </p:txBody>
      </p:sp>
      <p:sp>
        <p:nvSpPr>
          <p:cNvPr id="231" name="rec231"/>
          <p:cNvSpPr/>
          <p:nvPr/>
        </p:nvSpPr>
        <p:spPr>
          <a:xfrm>
            <a:off x="6483543" y="4409300"/>
            <a:ext cx="1008000" cy="300000"/>
          </a:xfrm>
          <a:prstGeom prst="rect">
            <a:avLst/>
          </a:prstGeom>
          <a:solidFill>
            <a:srgbClr val="D19900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750" b="1">
                <a:solidFill>
                  <a:srgbClr val="FFFFFF"/>
                </a:solidFill>
                <a:latin typeface="Reddit Sans"/>
                <a:ea typeface="Reddit Sans"/>
              </a:rPr>
              <a:t>24% actualizado</a:t>
            </a:r>
          </a:p>
        </p:txBody>
      </p:sp>
      <p:sp>
        <p:nvSpPr>
          <p:cNvPr id="232" name="rec232"/>
          <p:cNvSpPr/>
          <p:nvPr/>
        </p:nvSpPr>
        <p:spPr>
          <a:xfrm>
            <a:off x="7491543" y="4409300"/>
            <a:ext cx="1512000" cy="300000"/>
          </a:xfrm>
          <a:prstGeom prst="rect">
            <a:avLst/>
          </a:prstGeom>
          <a:solidFill>
            <a:srgbClr val="132346"/>
          </a:solidFill>
          <a:ln>
            <a:noFill/>
          </a:ln>
        </p:spPr>
        <p:txBody>
          <a:bodyPr wrap="square" lIns="45720" tIns="18000" rIns="45720" bIns="18000" anchor="ctr">
            <a:normAutofit/>
          </a:bodyPr>
          <a:lstStyle/>
          <a:p>
            <a:pPr algn="ctr"/>
            <a:r>
              <a:rPr lang="es-ES" sz="750" b="1">
                <a:solidFill>
                  <a:srgbClr val="FFFFFF"/>
                </a:solidFill>
                <a:latin typeface="Reddit Sans"/>
                <a:ea typeface="Reddit Sans"/>
              </a:rPr>
              <a:t>36% nuevo (6C AI)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5BB5B61-8F8D-288B-89A1-B142AD6A750D}"/>
              </a:ext>
            </a:extLst>
          </p:cNvPr>
          <p:cNvSpPr txBox="1"/>
          <p:nvPr/>
        </p:nvSpPr>
        <p:spPr>
          <a:xfrm>
            <a:off x="7309758" y="4825093"/>
            <a:ext cx="1692728" cy="2000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700">
                <a:solidFill>
                  <a:schemeClr val="tx1"/>
                </a:solidFill>
                <a:latin typeface="Reddit Sans Light"/>
                <a:ea typeface="-apple-system"/>
                <a:cs typeface="Reddit Sans Light"/>
              </a:rPr>
              <a:t>Fuente: </a:t>
            </a:r>
            <a:r>
              <a:rPr lang="en-US" sz="700" b="0" i="0" u="none" strike="noStrike" err="1">
                <a:solidFill>
                  <a:schemeClr val="tx1"/>
                </a:solidFill>
                <a:latin typeface="Reddit Sans Light"/>
                <a:ea typeface="-apple-system"/>
                <a:cs typeface="Reddit Sans Ligh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Rixmind</a:t>
            </a:r>
            <a:r>
              <a:rPr lang="en-US" sz="700" err="1">
                <a:solidFill>
                  <a:schemeClr val="tx1"/>
                </a:solidFill>
                <a:latin typeface="Reddit Sans Light"/>
                <a:ea typeface="-apple-system"/>
                <a:cs typeface="Reddit Sans Light"/>
              </a:rPr>
              <a:t>.y</a:t>
            </a:r>
            <a:r>
              <a:rPr lang="en-US" sz="700">
                <a:solidFill>
                  <a:schemeClr val="tx1"/>
                </a:solidFill>
                <a:latin typeface="Reddit Sans Light"/>
                <a:ea typeface="-apple-system"/>
                <a:cs typeface="Reddit Sans Light"/>
              </a:rPr>
              <a:t> </a:t>
            </a:r>
            <a:r>
              <a:rPr lang="en-US" sz="700">
                <a:solidFill>
                  <a:schemeClr val="tx1"/>
                </a:solidFill>
                <a:latin typeface="Reddit Sans Light"/>
                <a:ea typeface="-apple-system"/>
                <a:cs typeface="Reddit Sans Ligh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Tideline Insights</a:t>
            </a:r>
            <a:endParaRPr lang="en-US" sz="700">
              <a:solidFill>
                <a:schemeClr val="tx1"/>
              </a:solidFill>
              <a:latin typeface="Reddit Sans Light"/>
              <a:cs typeface="Reddit Sans Light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982764B7-F15A-76AA-3504-B79640864FD9}"/>
              </a:ext>
            </a:extLst>
          </p:cNvPr>
          <p:cNvSpPr txBox="1"/>
          <p:nvPr/>
        </p:nvSpPr>
        <p:spPr>
          <a:xfrm>
            <a:off x="4847987" y="639465"/>
            <a:ext cx="3287486" cy="2208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err="1">
                <a:solidFill>
                  <a:srgbClr val="555555"/>
                </a:solidFill>
                <a:latin typeface="Reddit Sans"/>
                <a:ea typeface="Reddit Sans"/>
              </a:rPr>
              <a:t>Conoc</a:t>
            </a:r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imiento e </a:t>
            </a:r>
            <a:r>
              <a:rPr lang="es-ES" sz="800" err="1">
                <a:solidFill>
                  <a:srgbClr val="555555"/>
                </a:solidFill>
                <a:latin typeface="Reddit Sans"/>
                <a:ea typeface="Reddit Sans"/>
              </a:rPr>
              <a:t>insight</a:t>
            </a:r>
            <a:r>
              <a:rPr lang="es-ES" sz="800">
                <a:solidFill>
                  <a:srgbClr val="555555"/>
                </a:solidFill>
                <a:latin typeface="Reddit Sans"/>
                <a:ea typeface="Reddit Sans"/>
              </a:rPr>
              <a:t> de valor para los procesos que no cubrimos</a:t>
            </a:r>
          </a:p>
        </p:txBody>
      </p:sp>
      <p:sp>
        <p:nvSpPr>
          <p:cNvPr id="5" name="Shape 25">
            <a:extLst>
              <a:ext uri="{FF2B5EF4-FFF2-40B4-BE49-F238E27FC236}">
                <a16:creationId xmlns:a16="http://schemas.microsoft.com/office/drawing/2014/main" id="{791F133A-44B3-E7A3-EB4C-22935F87D691}"/>
              </a:ext>
            </a:extLst>
          </p:cNvPr>
          <p:cNvSpPr/>
          <p:nvPr/>
        </p:nvSpPr>
        <p:spPr>
          <a:xfrm>
            <a:off x="2464425" y="1139428"/>
            <a:ext cx="258195" cy="252753"/>
          </a:xfrm>
          <a:prstGeom prst="ellipse">
            <a:avLst/>
          </a:prstGeom>
          <a:solidFill>
            <a:srgbClr val="FFFFFF"/>
          </a:solidFill>
          <a:ln w="38100">
            <a:solidFill>
              <a:schemeClr val="accent1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8" name="Image 5" descr="53d78b62.png">
            <a:extLst>
              <a:ext uri="{FF2B5EF4-FFF2-40B4-BE49-F238E27FC236}">
                <a16:creationId xmlns:a16="http://schemas.microsoft.com/office/drawing/2014/main" id="{2677F50E-5807-DBCB-7B4A-126BF4395E1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2790"/>
          <a:stretch>
            <a:fillRect/>
          </a:stretch>
        </p:blipFill>
        <p:spPr>
          <a:xfrm>
            <a:off x="2524263" y="1213697"/>
            <a:ext cx="146277" cy="89808"/>
          </a:xfrm>
          <a:prstGeom prst="rect">
            <a:avLst/>
          </a:prstGeom>
        </p:spPr>
      </p:pic>
      <p:sp>
        <p:nvSpPr>
          <p:cNvPr id="9" name="Shape 25">
            <a:extLst>
              <a:ext uri="{FF2B5EF4-FFF2-40B4-BE49-F238E27FC236}">
                <a16:creationId xmlns:a16="http://schemas.microsoft.com/office/drawing/2014/main" id="{8AED887D-522E-9CFD-F73B-8EEB6A7F3FB9}"/>
              </a:ext>
            </a:extLst>
          </p:cNvPr>
          <p:cNvSpPr/>
          <p:nvPr/>
        </p:nvSpPr>
        <p:spPr>
          <a:xfrm>
            <a:off x="3482239" y="1514986"/>
            <a:ext cx="258195" cy="252753"/>
          </a:xfrm>
          <a:prstGeom prst="ellipse">
            <a:avLst/>
          </a:prstGeom>
          <a:solidFill>
            <a:srgbClr val="FFFFFF"/>
          </a:solidFill>
          <a:ln w="38100">
            <a:solidFill>
              <a:schemeClr val="accent1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10" name="Image 5" descr="53d78b62.png">
            <a:extLst>
              <a:ext uri="{FF2B5EF4-FFF2-40B4-BE49-F238E27FC236}">
                <a16:creationId xmlns:a16="http://schemas.microsoft.com/office/drawing/2014/main" id="{326E74E4-D12B-9FD6-541F-885D8B79F0A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2790"/>
          <a:stretch>
            <a:fillRect/>
          </a:stretch>
        </p:blipFill>
        <p:spPr>
          <a:xfrm>
            <a:off x="3542077" y="1589255"/>
            <a:ext cx="146277" cy="89808"/>
          </a:xfrm>
          <a:prstGeom prst="rect">
            <a:avLst/>
          </a:prstGeom>
        </p:spPr>
      </p:pic>
      <p:sp>
        <p:nvSpPr>
          <p:cNvPr id="11" name="Shape 25">
            <a:extLst>
              <a:ext uri="{FF2B5EF4-FFF2-40B4-BE49-F238E27FC236}">
                <a16:creationId xmlns:a16="http://schemas.microsoft.com/office/drawing/2014/main" id="{2DAFD415-5750-C0EA-9E12-CC2C603A482F}"/>
              </a:ext>
            </a:extLst>
          </p:cNvPr>
          <p:cNvSpPr/>
          <p:nvPr/>
        </p:nvSpPr>
        <p:spPr>
          <a:xfrm>
            <a:off x="1577238" y="3643142"/>
            <a:ext cx="258195" cy="252753"/>
          </a:xfrm>
          <a:prstGeom prst="ellipse">
            <a:avLst/>
          </a:prstGeom>
          <a:solidFill>
            <a:srgbClr val="FFFFFF"/>
          </a:solidFill>
          <a:ln w="38100">
            <a:solidFill>
              <a:srgbClr val="92D050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3" name="Shape 25">
            <a:extLst>
              <a:ext uri="{FF2B5EF4-FFF2-40B4-BE49-F238E27FC236}">
                <a16:creationId xmlns:a16="http://schemas.microsoft.com/office/drawing/2014/main" id="{70691B23-5FFF-7B09-3D37-1B1E4683BF03}"/>
              </a:ext>
            </a:extLst>
          </p:cNvPr>
          <p:cNvSpPr/>
          <p:nvPr/>
        </p:nvSpPr>
        <p:spPr>
          <a:xfrm>
            <a:off x="2535181" y="3969713"/>
            <a:ext cx="258195" cy="252753"/>
          </a:xfrm>
          <a:prstGeom prst="ellipse">
            <a:avLst/>
          </a:prstGeom>
          <a:solidFill>
            <a:srgbClr val="FFFFFF"/>
          </a:solidFill>
          <a:ln w="38100">
            <a:solidFill>
              <a:srgbClr val="92D050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5" name="Shape 25">
            <a:extLst>
              <a:ext uri="{FF2B5EF4-FFF2-40B4-BE49-F238E27FC236}">
                <a16:creationId xmlns:a16="http://schemas.microsoft.com/office/drawing/2014/main" id="{4C591689-D324-4311-D1A8-12A5AF004BEA}"/>
              </a:ext>
            </a:extLst>
          </p:cNvPr>
          <p:cNvSpPr/>
          <p:nvPr/>
        </p:nvSpPr>
        <p:spPr>
          <a:xfrm>
            <a:off x="3874124" y="2500143"/>
            <a:ext cx="258195" cy="252753"/>
          </a:xfrm>
          <a:prstGeom prst="ellipse">
            <a:avLst/>
          </a:prstGeom>
          <a:solidFill>
            <a:srgbClr val="FFFFFF"/>
          </a:solidFill>
          <a:ln w="38100">
            <a:solidFill>
              <a:schemeClr val="accent1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16" name="Image 5" descr="53d78b62.png">
            <a:extLst>
              <a:ext uri="{FF2B5EF4-FFF2-40B4-BE49-F238E27FC236}">
                <a16:creationId xmlns:a16="http://schemas.microsoft.com/office/drawing/2014/main" id="{F3FD0F5C-9810-5058-8D82-1BE51C83DD6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2790"/>
          <a:stretch>
            <a:fillRect/>
          </a:stretch>
        </p:blipFill>
        <p:spPr>
          <a:xfrm>
            <a:off x="3933962" y="2574412"/>
            <a:ext cx="146277" cy="89808"/>
          </a:xfrm>
          <a:prstGeom prst="rect">
            <a:avLst/>
          </a:prstGeom>
        </p:spPr>
      </p:pic>
      <p:sp>
        <p:nvSpPr>
          <p:cNvPr id="17" name="Shape 25">
            <a:extLst>
              <a:ext uri="{FF2B5EF4-FFF2-40B4-BE49-F238E27FC236}">
                <a16:creationId xmlns:a16="http://schemas.microsoft.com/office/drawing/2014/main" id="{C14CA542-31D4-E41B-05DD-9F7A05E54C0A}"/>
              </a:ext>
            </a:extLst>
          </p:cNvPr>
          <p:cNvSpPr/>
          <p:nvPr/>
        </p:nvSpPr>
        <p:spPr>
          <a:xfrm>
            <a:off x="3574767" y="3626814"/>
            <a:ext cx="258195" cy="252753"/>
          </a:xfrm>
          <a:prstGeom prst="ellipse">
            <a:avLst/>
          </a:prstGeom>
          <a:solidFill>
            <a:srgbClr val="FFFFFF"/>
          </a:solidFill>
          <a:ln w="38100">
            <a:solidFill>
              <a:schemeClr val="accent1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18" name="Image 5" descr="53d78b62.png">
            <a:extLst>
              <a:ext uri="{FF2B5EF4-FFF2-40B4-BE49-F238E27FC236}">
                <a16:creationId xmlns:a16="http://schemas.microsoft.com/office/drawing/2014/main" id="{A365E88B-D0F2-250A-DED6-626FD67CAFC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2790"/>
          <a:stretch>
            <a:fillRect/>
          </a:stretch>
        </p:blipFill>
        <p:spPr>
          <a:xfrm>
            <a:off x="3634605" y="3701083"/>
            <a:ext cx="146277" cy="89808"/>
          </a:xfrm>
          <a:prstGeom prst="rect">
            <a:avLst/>
          </a:prstGeom>
        </p:spPr>
      </p:pic>
      <p:sp>
        <p:nvSpPr>
          <p:cNvPr id="19" name="Shape 25">
            <a:extLst>
              <a:ext uri="{FF2B5EF4-FFF2-40B4-BE49-F238E27FC236}">
                <a16:creationId xmlns:a16="http://schemas.microsoft.com/office/drawing/2014/main" id="{6AA51429-A86F-C854-527F-A85CD7926411}"/>
              </a:ext>
            </a:extLst>
          </p:cNvPr>
          <p:cNvSpPr/>
          <p:nvPr/>
        </p:nvSpPr>
        <p:spPr>
          <a:xfrm>
            <a:off x="4668781" y="491728"/>
            <a:ext cx="258195" cy="252753"/>
          </a:xfrm>
          <a:prstGeom prst="ellipse">
            <a:avLst/>
          </a:prstGeom>
          <a:solidFill>
            <a:srgbClr val="FFFFFF"/>
          </a:solidFill>
          <a:ln w="38100">
            <a:solidFill>
              <a:schemeClr val="accent1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0" name="Image 5" descr="53d78b62.png">
            <a:extLst>
              <a:ext uri="{FF2B5EF4-FFF2-40B4-BE49-F238E27FC236}">
                <a16:creationId xmlns:a16="http://schemas.microsoft.com/office/drawing/2014/main" id="{88A69F69-2842-C6F4-1F58-C85B7E5000C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2790"/>
          <a:stretch>
            <a:fillRect/>
          </a:stretch>
        </p:blipFill>
        <p:spPr>
          <a:xfrm>
            <a:off x="4728619" y="565997"/>
            <a:ext cx="146277" cy="89808"/>
          </a:xfrm>
          <a:prstGeom prst="rect">
            <a:avLst/>
          </a:prstGeom>
        </p:spPr>
      </p:pic>
      <p:sp>
        <p:nvSpPr>
          <p:cNvPr id="21" name="Shape 25">
            <a:extLst>
              <a:ext uri="{FF2B5EF4-FFF2-40B4-BE49-F238E27FC236}">
                <a16:creationId xmlns:a16="http://schemas.microsoft.com/office/drawing/2014/main" id="{23818E27-CB22-2873-2789-F960DFF54F94}"/>
              </a:ext>
            </a:extLst>
          </p:cNvPr>
          <p:cNvSpPr/>
          <p:nvPr/>
        </p:nvSpPr>
        <p:spPr>
          <a:xfrm>
            <a:off x="1054723" y="2516470"/>
            <a:ext cx="258195" cy="252753"/>
          </a:xfrm>
          <a:prstGeom prst="ellipse">
            <a:avLst/>
          </a:prstGeom>
          <a:solidFill>
            <a:srgbClr val="FFFFFF"/>
          </a:solidFill>
          <a:ln w="38100">
            <a:solidFill>
              <a:srgbClr val="92D050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2" name="Shape 25">
            <a:extLst>
              <a:ext uri="{FF2B5EF4-FFF2-40B4-BE49-F238E27FC236}">
                <a16:creationId xmlns:a16="http://schemas.microsoft.com/office/drawing/2014/main" id="{0323800B-679C-A6C2-5285-165F712A5926}"/>
              </a:ext>
            </a:extLst>
          </p:cNvPr>
          <p:cNvSpPr/>
          <p:nvPr/>
        </p:nvSpPr>
        <p:spPr>
          <a:xfrm>
            <a:off x="1452052" y="1547641"/>
            <a:ext cx="258195" cy="252753"/>
          </a:xfrm>
          <a:prstGeom prst="ellipse">
            <a:avLst/>
          </a:prstGeom>
          <a:solidFill>
            <a:srgbClr val="FFFFFF"/>
          </a:solidFill>
          <a:ln w="38100">
            <a:solidFill>
              <a:srgbClr val="92D050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3" name="Gráfico 22" descr="Marca de escudo contorno">
            <a:extLst>
              <a:ext uri="{FF2B5EF4-FFF2-40B4-BE49-F238E27FC236}">
                <a16:creationId xmlns:a16="http://schemas.microsoft.com/office/drawing/2014/main" id="{FABA96AF-DDCE-BB4D-4A0E-B16D0C0445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80458" y="1586593"/>
            <a:ext cx="201386" cy="201384"/>
          </a:xfrm>
          <a:prstGeom prst="rect">
            <a:avLst/>
          </a:prstGeom>
        </p:spPr>
      </p:pic>
      <p:pic>
        <p:nvPicPr>
          <p:cNvPr id="24" name="Gráfico 23" descr="Marca de escudo contorno">
            <a:extLst>
              <a:ext uri="{FF2B5EF4-FFF2-40B4-BE49-F238E27FC236}">
                <a16:creationId xmlns:a16="http://schemas.microsoft.com/office/drawing/2014/main" id="{C0318EF8-2F96-AA03-D09F-1B9AACEC79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3129" y="2544536"/>
            <a:ext cx="201386" cy="201384"/>
          </a:xfrm>
          <a:prstGeom prst="rect">
            <a:avLst/>
          </a:prstGeom>
        </p:spPr>
      </p:pic>
      <p:pic>
        <p:nvPicPr>
          <p:cNvPr id="25" name="Gráfico 24" descr="Marca de escudo contorno">
            <a:extLst>
              <a:ext uri="{FF2B5EF4-FFF2-40B4-BE49-F238E27FC236}">
                <a16:creationId xmlns:a16="http://schemas.microsoft.com/office/drawing/2014/main" id="{839CF182-C4D4-F1E9-06FE-637A152DB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05644" y="3671207"/>
            <a:ext cx="201386" cy="201384"/>
          </a:xfrm>
          <a:prstGeom prst="rect">
            <a:avLst/>
          </a:prstGeom>
        </p:spPr>
      </p:pic>
      <p:pic>
        <p:nvPicPr>
          <p:cNvPr id="26" name="Gráfico 25" descr="Marca de escudo contorno">
            <a:extLst>
              <a:ext uri="{FF2B5EF4-FFF2-40B4-BE49-F238E27FC236}">
                <a16:creationId xmlns:a16="http://schemas.microsoft.com/office/drawing/2014/main" id="{9BB8C132-8A55-0BC5-0EAF-C3492C6E6C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63586" y="3997778"/>
            <a:ext cx="201386" cy="201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7861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346302" y="1435895"/>
            <a:ext cx="2053829" cy="2300288"/>
          </a:xfrm>
          <a:prstGeom prst="rect">
            <a:avLst/>
          </a:prstGeom>
          <a:solidFill>
            <a:srgbClr val="4ACCE8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454720" y="2126271"/>
            <a:ext cx="1836993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  <a:spcBef>
                <a:spcPts val="973"/>
              </a:spcBef>
            </a:pPr>
            <a:r>
              <a:rPr lang="en-US" sz="1200" kern="0" spc="-37" err="1">
                <a:solidFill>
                  <a:srgbClr val="000000"/>
                </a:solidFill>
                <a:latin typeface="Reddit Sans"/>
                <a:ea typeface="Reddit Sans"/>
                <a:cs typeface="Geist Semi Bold" pitchFamily="34" charset="-120"/>
              </a:rPr>
              <a:t>Evolución</a:t>
            </a:r>
            <a:r>
              <a:rPr lang="en-US" sz="1200" kern="0" spc="-37">
                <a:solidFill>
                  <a:srgbClr val="000000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200" kern="0" spc="-37" err="1">
                <a:solidFill>
                  <a:srgbClr val="000000"/>
                </a:solidFill>
                <a:latin typeface="Reddit Sans"/>
                <a:ea typeface="Reddit Sans"/>
                <a:cs typeface="Geist Semi Bold" pitchFamily="34" charset="-120"/>
              </a:rPr>
              <a:t>Estratégica</a:t>
            </a:r>
            <a:endParaRPr lang="en-US" sz="1200" err="1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18164" y="2368266"/>
            <a:ext cx="1910105" cy="7706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17"/>
              </a:lnSpc>
              <a:spcBef>
                <a:spcPts val="491"/>
              </a:spcBef>
            </a:pP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Transformación de la mesa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de servicio de un costo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operativo a un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diferenciador competitivo.</a:t>
            </a:r>
            <a:endParaRPr lang="en-US" sz="10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pic>
        <p:nvPicPr>
          <p:cNvPr id="9" name="Image 0" descr="6b1044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737" y="1656318"/>
            <a:ext cx="250031" cy="328613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471568" y="1435895"/>
            <a:ext cx="2053829" cy="2300288"/>
          </a:xfrm>
          <a:prstGeom prst="rect">
            <a:avLst/>
          </a:prstGeom>
          <a:solidFill>
            <a:srgbClr val="5CC0EA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8"/>
          <p:cNvSpPr/>
          <p:nvPr/>
        </p:nvSpPr>
        <p:spPr>
          <a:xfrm>
            <a:off x="2637661" y="2126271"/>
            <a:ext cx="1721644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  <a:spcBef>
                <a:spcPts val="973"/>
              </a:spcBef>
            </a:pPr>
            <a:r>
              <a:rPr lang="en-US" sz="1200" kern="0" spc="-37" err="1">
                <a:solidFill>
                  <a:srgbClr val="000000"/>
                </a:solidFill>
                <a:latin typeface="Reddit Sans"/>
                <a:ea typeface="Reddit Sans"/>
                <a:cs typeface="Geist Semi Bold" pitchFamily="34" charset="-120"/>
              </a:rPr>
              <a:t>Estandarización</a:t>
            </a:r>
            <a:endParaRPr lang="en-US" sz="1200" err="1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602477" y="2368266"/>
            <a:ext cx="1792010" cy="96329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17"/>
              </a:lnSpc>
              <a:spcBef>
                <a:spcPts val="491"/>
              </a:spcBef>
            </a:pP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Implementación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 de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procesos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 </a:t>
            </a: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estandarizados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 para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garantizar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 </a:t>
            </a: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consistencia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 y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calidad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 </a:t>
            </a: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en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 la </a:t>
            </a: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entrega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 de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 err="1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servicio</a:t>
            </a: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.</a:t>
            </a:r>
            <a:endParaRPr lang="en-US" sz="10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pic>
        <p:nvPicPr>
          <p:cNvPr id="13" name="Image 1" descr="1686ce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6866" y="1645851"/>
            <a:ext cx="350044" cy="35718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596834" y="1435895"/>
            <a:ext cx="2053829" cy="2300288"/>
          </a:xfrm>
          <a:prstGeom prst="rect">
            <a:avLst/>
          </a:prstGeom>
          <a:solidFill>
            <a:srgbClr val="6FB3ED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1"/>
          <p:cNvSpPr/>
          <p:nvPr/>
        </p:nvSpPr>
        <p:spPr>
          <a:xfrm>
            <a:off x="4741495" y="2102049"/>
            <a:ext cx="1764506" cy="16955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336"/>
              </a:lnSpc>
              <a:spcBef>
                <a:spcPts val="924"/>
              </a:spcBef>
            </a:pPr>
            <a:r>
              <a:rPr lang="en-US" sz="1150" kern="0" spc="-35" err="1">
                <a:solidFill>
                  <a:srgbClr val="000000"/>
                </a:solidFill>
                <a:latin typeface="Reddit Sans"/>
                <a:ea typeface="Reddit Sans"/>
                <a:cs typeface="Geist Semi Bold" pitchFamily="34" charset="-120"/>
              </a:rPr>
              <a:t>Inteligencia</a:t>
            </a:r>
            <a:r>
              <a:rPr lang="en-US" sz="1150" kern="0" spc="-35">
                <a:solidFill>
                  <a:srgbClr val="000000"/>
                </a:solidFill>
                <a:latin typeface="Reddit Sans"/>
                <a:ea typeface="Reddit Sans"/>
                <a:cs typeface="Geist Semi Bold" pitchFamily="34" charset="-120"/>
              </a:rPr>
              <a:t> Artificial</a:t>
            </a:r>
            <a:endParaRPr lang="en-US" sz="10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4703499" y="2331877"/>
            <a:ext cx="1840498" cy="7322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42"/>
              </a:lnSpc>
              <a:spcBef>
                <a:spcPts val="466"/>
              </a:spcBef>
            </a:pPr>
            <a:r>
              <a:rPr lang="en-US" sz="1000" kern="0" spc="-43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Integración de IA para</a:t>
            </a:r>
            <a:br>
              <a:rPr lang="en-US" sz="1000" kern="0" spc="-43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3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optimizar la resolución,</a:t>
            </a:r>
            <a:br>
              <a:rPr lang="en-US" sz="1000" kern="0" spc="-43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3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reducir el tiempo de espera</a:t>
            </a:r>
            <a:br>
              <a:rPr lang="en-US" sz="1000" kern="0" spc="-43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3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y potenciar el autoservicio.</a:t>
            </a:r>
            <a:endParaRPr lang="en-US" sz="10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pic>
        <p:nvPicPr>
          <p:cNvPr id="17" name="Image 2" descr="-123f6f1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6736" y="1594021"/>
            <a:ext cx="335756" cy="428625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722100" y="1435895"/>
            <a:ext cx="2053829" cy="2300288"/>
          </a:xfrm>
          <a:prstGeom prst="rect">
            <a:avLst/>
          </a:prstGeom>
          <a:solidFill>
            <a:srgbClr val="81A7EF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4"/>
          <p:cNvSpPr/>
          <p:nvPr/>
        </p:nvSpPr>
        <p:spPr>
          <a:xfrm>
            <a:off x="6831042" y="2126271"/>
            <a:ext cx="1835944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  <a:spcBef>
                <a:spcPts val="973"/>
              </a:spcBef>
            </a:pPr>
            <a:r>
              <a:rPr lang="en-US" sz="1200" kern="0" spc="-37" err="1">
                <a:solidFill>
                  <a:srgbClr val="000000"/>
                </a:solidFill>
                <a:latin typeface="Reddit Sans"/>
                <a:ea typeface="Reddit Sans"/>
                <a:cs typeface="Geist Semi Bold" pitchFamily="34" charset="-120"/>
              </a:rPr>
              <a:t>Escalabilidad</a:t>
            </a:r>
            <a:endParaRPr lang="en-US" sz="10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6791929" y="2368266"/>
            <a:ext cx="1914168" cy="96329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17"/>
              </a:lnSpc>
              <a:spcBef>
                <a:spcPts val="491"/>
              </a:spcBef>
            </a:pP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Arquitectura diseñada para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adaptarse al crecimiento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del negocio y responder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dinámicamente a la</a:t>
            </a:r>
            <a:b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00" kern="0" spc="-45">
                <a:solidFill>
                  <a:srgbClr val="000000"/>
                </a:solidFill>
                <a:latin typeface="Reddit Sans"/>
                <a:ea typeface="Reddit Sans"/>
                <a:cs typeface="Geist Regular" pitchFamily="34" charset="-120"/>
              </a:rPr>
              <a:t>demanda.</a:t>
            </a:r>
            <a:endParaRPr lang="en-US" sz="10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pic>
        <p:nvPicPr>
          <p:cNvPr id="21" name="Image 3" descr="060471a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96567" y="1608178"/>
            <a:ext cx="300038" cy="428625"/>
          </a:xfrm>
          <a:prstGeom prst="rect">
            <a:avLst/>
          </a:prstGeom>
        </p:spPr>
      </p:pic>
      <p:sp>
        <p:nvSpPr>
          <p:cNvPr id="29" name="Título 1">
            <a:extLst>
              <a:ext uri="{FF2B5EF4-FFF2-40B4-BE49-F238E27FC236}">
                <a16:creationId xmlns:a16="http://schemas.microsoft.com/office/drawing/2014/main" id="{D68F6702-9E35-68AC-3981-F297FCE87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Pilares de </a:t>
            </a:r>
            <a:r>
              <a:rPr lang="en-US" err="1"/>
              <a:t>Transformación</a:t>
            </a:r>
            <a:r>
              <a:rPr lang="en-US"/>
              <a:t> de la Mesa de Servicio de Nueva Generación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34434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824C2-5851-4B30-A813-E41E5F7FB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5C7D09-6597-9A73-052C-BF55A5EC7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500" y="200392"/>
            <a:ext cx="3639000" cy="572700"/>
          </a:xfrm>
        </p:spPr>
        <p:txBody>
          <a:bodyPr>
            <a:normAutofit/>
          </a:bodyPr>
          <a:lstStyle/>
          <a:p>
            <a:r>
              <a:rPr lang="en-US" err="1"/>
              <a:t>Que</a:t>
            </a:r>
            <a:r>
              <a:rPr lang="en-US"/>
              <a:t> </a:t>
            </a:r>
            <a:r>
              <a:rPr lang="en-US" err="1"/>
              <a:t>Diferencia</a:t>
            </a:r>
            <a:r>
              <a:rPr lang="en-US"/>
              <a:t> a </a:t>
            </a:r>
            <a:r>
              <a:rPr lang="en-US" err="1"/>
              <a:t>PersonalSoft</a:t>
            </a:r>
            <a:r>
              <a:rPr lang="en-US"/>
              <a:t>?</a:t>
            </a:r>
            <a:endParaRPr lang="es-CO"/>
          </a:p>
        </p:txBody>
      </p:sp>
      <p:sp>
        <p:nvSpPr>
          <p:cNvPr id="16" name="Shape 2">
            <a:extLst>
              <a:ext uri="{FF2B5EF4-FFF2-40B4-BE49-F238E27FC236}">
                <a16:creationId xmlns:a16="http://schemas.microsoft.com/office/drawing/2014/main" id="{3F7E5399-AB8B-0CC3-BAFE-BC4DEC7817BA}"/>
              </a:ext>
            </a:extLst>
          </p:cNvPr>
          <p:cNvSpPr/>
          <p:nvPr/>
        </p:nvSpPr>
        <p:spPr>
          <a:xfrm>
            <a:off x="1047410" y="1523277"/>
            <a:ext cx="1071563" cy="1071563"/>
          </a:xfrm>
          <a:prstGeom prst="ellipse">
            <a:avLst/>
          </a:prstGeom>
          <a:solidFill>
            <a:srgbClr val="FFD9AD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18" name="Image 0" descr="23a43ce2.png">
            <a:extLst>
              <a:ext uri="{FF2B5EF4-FFF2-40B4-BE49-F238E27FC236}">
                <a16:creationId xmlns:a16="http://schemas.microsoft.com/office/drawing/2014/main" id="{41476C43-838D-5395-6766-A4257D3C2F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9717" y="1876975"/>
            <a:ext cx="421481" cy="357188"/>
          </a:xfrm>
          <a:prstGeom prst="rect">
            <a:avLst/>
          </a:prstGeom>
        </p:spPr>
      </p:pic>
      <p:sp>
        <p:nvSpPr>
          <p:cNvPr id="21" name="Text 3">
            <a:extLst>
              <a:ext uri="{FF2B5EF4-FFF2-40B4-BE49-F238E27FC236}">
                <a16:creationId xmlns:a16="http://schemas.microsoft.com/office/drawing/2014/main" id="{67DAA90A-80EF-E42D-4050-80A6E8ADD948}"/>
              </a:ext>
            </a:extLst>
          </p:cNvPr>
          <p:cNvSpPr/>
          <p:nvPr/>
        </p:nvSpPr>
        <p:spPr>
          <a:xfrm>
            <a:off x="254454" y="2666724"/>
            <a:ext cx="2657475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4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Modelo de Madurez (N0-N5)</a:t>
            </a:r>
            <a:endParaRPr lang="en-US" sz="1400">
              <a:latin typeface="Reddit Sans"/>
              <a:ea typeface="Reddit Sans"/>
            </a:endParaRPr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642D4E88-336B-F04F-F544-BBEF975D9B86}"/>
              </a:ext>
            </a:extLst>
          </p:cNvPr>
          <p:cNvSpPr/>
          <p:nvPr/>
        </p:nvSpPr>
        <p:spPr>
          <a:xfrm>
            <a:off x="204411" y="3021312"/>
            <a:ext cx="2822876" cy="144037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Aft>
                <a:spcPts val="200"/>
              </a:spcAft>
            </a:pP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Enfoque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estructurado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para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evaluar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y</a:t>
            </a:r>
            <a:br>
              <a:rPr lang="en-US" sz="10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escalar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capacidades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tecnológicas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,</a:t>
            </a:r>
            <a:br>
              <a:rPr lang="en-US" sz="10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garant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izando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un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crecimiento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continuo y</a:t>
            </a:r>
            <a:b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</a:b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medible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 </a:t>
            </a:r>
            <a:endParaRPr lang="en-US" sz="10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  <a:p>
            <a:pPr algn="ctr">
              <a:spcAft>
                <a:spcPts val="200"/>
              </a:spcAft>
            </a:pP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6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niveles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claros (N0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Autoservicio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a N5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Optimizado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)</a:t>
            </a:r>
            <a:endParaRPr lang="en-US" sz="10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  <a:p>
            <a:pPr algn="ctr">
              <a:spcAft>
                <a:spcPts val="200"/>
              </a:spcAft>
            </a:pP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17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practicas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operativas</a:t>
            </a:r>
            <a:endParaRPr lang="en-US" sz="10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27" name="Shape 5">
            <a:extLst>
              <a:ext uri="{FF2B5EF4-FFF2-40B4-BE49-F238E27FC236}">
                <a16:creationId xmlns:a16="http://schemas.microsoft.com/office/drawing/2014/main" id="{519155E2-5407-A0FF-6341-7B62C30F89D8}"/>
              </a:ext>
            </a:extLst>
          </p:cNvPr>
          <p:cNvSpPr/>
          <p:nvPr/>
        </p:nvSpPr>
        <p:spPr>
          <a:xfrm>
            <a:off x="3976348" y="1523277"/>
            <a:ext cx="1071563" cy="1071563"/>
          </a:xfrm>
          <a:prstGeom prst="ellipse">
            <a:avLst/>
          </a:prstGeom>
          <a:solidFill>
            <a:srgbClr val="FEC088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9" name="Image 1" descr="-6ff4ae9e.png">
            <a:extLst>
              <a:ext uri="{FF2B5EF4-FFF2-40B4-BE49-F238E27FC236}">
                <a16:creationId xmlns:a16="http://schemas.microsoft.com/office/drawing/2014/main" id="{22176A99-9CBF-BF88-4F8D-F1501819E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4704" y="1864422"/>
            <a:ext cx="521494" cy="385763"/>
          </a:xfrm>
          <a:prstGeom prst="rect">
            <a:avLst/>
          </a:prstGeom>
        </p:spPr>
      </p:pic>
      <p:sp>
        <p:nvSpPr>
          <p:cNvPr id="31" name="Text 6">
            <a:extLst>
              <a:ext uri="{FF2B5EF4-FFF2-40B4-BE49-F238E27FC236}">
                <a16:creationId xmlns:a16="http://schemas.microsoft.com/office/drawing/2014/main" id="{159BA64C-A6AB-FD21-09D3-E82FCABB4EFD}"/>
              </a:ext>
            </a:extLst>
          </p:cNvPr>
          <p:cNvSpPr/>
          <p:nvPr/>
        </p:nvSpPr>
        <p:spPr>
          <a:xfrm>
            <a:off x="3122670" y="2666724"/>
            <a:ext cx="2778919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4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Operación gestionada</a:t>
            </a:r>
            <a:endParaRPr lang="en-US" sz="1400">
              <a:latin typeface="Reddit Sans"/>
              <a:ea typeface="Reddit Sans"/>
            </a:endParaRPr>
          </a:p>
        </p:txBody>
      </p:sp>
      <p:sp>
        <p:nvSpPr>
          <p:cNvPr id="33" name="Text 7">
            <a:extLst>
              <a:ext uri="{FF2B5EF4-FFF2-40B4-BE49-F238E27FC236}">
                <a16:creationId xmlns:a16="http://schemas.microsoft.com/office/drawing/2014/main" id="{BEB01E3E-E9CD-A0FA-17BC-0E51CBA8276E}"/>
              </a:ext>
            </a:extLst>
          </p:cNvPr>
          <p:cNvSpPr/>
          <p:nvPr/>
        </p:nvSpPr>
        <p:spPr>
          <a:xfrm>
            <a:off x="3066387" y="3021312"/>
            <a:ext cx="2956799" cy="78179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458"/>
              </a:spcBef>
            </a:pP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Servicios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integrales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 TI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que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permiten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a</a:t>
            </a:r>
            <a:br>
              <a:rPr lang="en-US" sz="1000" kern="0" spc="-23"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los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clientes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delega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r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la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complejidad</a:t>
            </a:r>
            <a:b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</a:b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operativa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para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enfocarse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en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sus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objetivos</a:t>
            </a:r>
            <a:b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</a:b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de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negocio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 Roles, RACI, 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catálogo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, ANS/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XLA,gobierno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mensual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y 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mejora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continua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condatos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</a:t>
            </a:r>
            <a:endParaRPr lang="es-ES" sz="1000">
              <a:latin typeface="Reddit Sans"/>
              <a:ea typeface="Reddit Sans"/>
              <a:cs typeface="Arial"/>
            </a:endParaRPr>
          </a:p>
        </p:txBody>
      </p:sp>
      <p:sp>
        <p:nvSpPr>
          <p:cNvPr id="35" name="Shape 8">
            <a:extLst>
              <a:ext uri="{FF2B5EF4-FFF2-40B4-BE49-F238E27FC236}">
                <a16:creationId xmlns:a16="http://schemas.microsoft.com/office/drawing/2014/main" id="{1C261187-D52B-FE7A-269C-5CFB63641245}"/>
              </a:ext>
            </a:extLst>
          </p:cNvPr>
          <p:cNvSpPr/>
          <p:nvPr/>
        </p:nvSpPr>
        <p:spPr>
          <a:xfrm>
            <a:off x="6905285" y="1523277"/>
            <a:ext cx="1071563" cy="1071563"/>
          </a:xfrm>
          <a:prstGeom prst="ellipse">
            <a:avLst/>
          </a:prstGeom>
          <a:solidFill>
            <a:srgbClr val="FD864D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37" name="Image 2" descr="7f5c7a62.png">
            <a:extLst>
              <a:ext uri="{FF2B5EF4-FFF2-40B4-BE49-F238E27FC236}">
                <a16:creationId xmlns:a16="http://schemas.microsoft.com/office/drawing/2014/main" id="{33EC4EDE-F651-9304-15A2-D22758CEA5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198" y="1876976"/>
            <a:ext cx="485775" cy="364331"/>
          </a:xfrm>
          <a:prstGeom prst="rect">
            <a:avLst/>
          </a:prstGeom>
        </p:spPr>
      </p:pic>
      <p:sp>
        <p:nvSpPr>
          <p:cNvPr id="39" name="Text 9">
            <a:extLst>
              <a:ext uri="{FF2B5EF4-FFF2-40B4-BE49-F238E27FC236}">
                <a16:creationId xmlns:a16="http://schemas.microsoft.com/office/drawing/2014/main" id="{9C03FED1-9CCF-7B4D-C7C1-2F078EF73B17}"/>
              </a:ext>
            </a:extLst>
          </p:cNvPr>
          <p:cNvSpPr/>
          <p:nvPr/>
        </p:nvSpPr>
        <p:spPr>
          <a:xfrm>
            <a:off x="6083754" y="2666724"/>
            <a:ext cx="2714625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4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Inteligencia aplicada</a:t>
            </a:r>
            <a:endParaRPr lang="en-US" sz="1400">
              <a:latin typeface="Reddit Sans"/>
              <a:ea typeface="Reddit Sans"/>
            </a:endParaRPr>
          </a:p>
        </p:txBody>
      </p:sp>
      <p:sp>
        <p:nvSpPr>
          <p:cNvPr id="41" name="Text 10">
            <a:extLst>
              <a:ext uri="{FF2B5EF4-FFF2-40B4-BE49-F238E27FC236}">
                <a16:creationId xmlns:a16="http://schemas.microsoft.com/office/drawing/2014/main" id="{F2E67AF8-7A4C-5763-498B-6599249FC76A}"/>
              </a:ext>
            </a:extLst>
          </p:cNvPr>
          <p:cNvSpPr/>
          <p:nvPr/>
        </p:nvSpPr>
        <p:spPr>
          <a:xfrm>
            <a:off x="6030463" y="3021312"/>
            <a:ext cx="2886521" cy="58634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Aft>
                <a:spcPts val="200"/>
              </a:spcAft>
            </a:pP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Integración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avanzada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KEDB y AIOps</a:t>
            </a:r>
            <a:b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</a:b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para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optimizar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la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resolución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,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predecir</a:t>
            </a:r>
            <a:b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</a:b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fallos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y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maximizar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la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eficiencia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operativa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Observabilidad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predictiva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desde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el 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diseno</a:t>
            </a:r>
            <a:endParaRPr lang="es-ES" sz="1000">
              <a:latin typeface="Reddit Sans"/>
              <a:ea typeface="Reddit Sans"/>
              <a:cs typeface="Arial"/>
            </a:endParaRPr>
          </a:p>
          <a:p>
            <a:pPr algn="ctr">
              <a:spcAft>
                <a:spcPts val="200"/>
              </a:spcAft>
            </a:pP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Correlacion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automatica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alertas-incidentes</a:t>
            </a:r>
            <a:endParaRPr lang="en-US" sz="1000" kern="0" spc="-23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  <a:p>
            <a:pPr algn="ctr">
              <a:spcAft>
                <a:spcPts val="200"/>
              </a:spcAft>
            </a:pP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El 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cliente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sabe 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exactamente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en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que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nivel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esta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 y 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que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cuesta 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subir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</a:t>
            </a:r>
            <a:r>
              <a:rPr lang="en-US" sz="1000" kern="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nivel</a:t>
            </a:r>
            <a:r>
              <a:rPr lang="en-US" sz="1000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</a:t>
            </a:r>
            <a:endParaRPr lang="en-US" sz="1000" kern="0" spc="-23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  <a:p>
            <a:pPr algn="ctr">
              <a:spcBef>
                <a:spcPts val="458"/>
              </a:spcBef>
            </a:pPr>
            <a:endParaRPr lang="en-US" sz="1000" kern="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43" name="Text 1">
            <a:extLst>
              <a:ext uri="{FF2B5EF4-FFF2-40B4-BE49-F238E27FC236}">
                <a16:creationId xmlns:a16="http://schemas.microsoft.com/office/drawing/2014/main" id="{12ADA9BB-4A9E-0367-1CF1-948E185EE846}"/>
              </a:ext>
            </a:extLst>
          </p:cNvPr>
          <p:cNvSpPr/>
          <p:nvPr/>
        </p:nvSpPr>
        <p:spPr>
          <a:xfrm>
            <a:off x="413317" y="664927"/>
            <a:ext cx="3680053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Factores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clave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que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impulsan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nuestra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propuesta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 de valor</a:t>
            </a:r>
            <a:endParaRPr lang="en-US" sz="1000">
              <a:latin typeface="Reddit Sans"/>
              <a:ea typeface="Reddit Sans"/>
              <a:cs typeface="Arial"/>
            </a:endParaRPr>
          </a:p>
        </p:txBody>
      </p:sp>
      <p:pic>
        <p:nvPicPr>
          <p:cNvPr id="3" name="Gráfico 2" descr="Diana con relleno sólido">
            <a:extLst>
              <a:ext uri="{FF2B5EF4-FFF2-40B4-BE49-F238E27FC236}">
                <a16:creationId xmlns:a16="http://schemas.microsoft.com/office/drawing/2014/main" id="{B532D1DA-62DB-AF5D-BEA5-FE51482BEA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72693" y="394606"/>
            <a:ext cx="734786" cy="734786"/>
          </a:xfrm>
          <a:prstGeom prst="rect">
            <a:avLst/>
          </a:prstGeom>
        </p:spPr>
      </p:pic>
      <p:sp>
        <p:nvSpPr>
          <p:cNvPr id="4" name="Text 6">
            <a:extLst>
              <a:ext uri="{FF2B5EF4-FFF2-40B4-BE49-F238E27FC236}">
                <a16:creationId xmlns:a16="http://schemas.microsoft.com/office/drawing/2014/main" id="{6C97A291-6DD5-2A8B-A083-00380257ABFF}"/>
              </a:ext>
            </a:extLst>
          </p:cNvPr>
          <p:cNvSpPr/>
          <p:nvPr/>
        </p:nvSpPr>
        <p:spPr>
          <a:xfrm>
            <a:off x="5430441" y="489581"/>
            <a:ext cx="3159919" cy="20834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s-ES" sz="1400" kern="0" spc="-81">
                <a:solidFill>
                  <a:srgbClr val="00B050"/>
                </a:solidFill>
                <a:latin typeface="Reddit Sans"/>
                <a:ea typeface="Reddit Sans"/>
              </a:rPr>
              <a:t>La promesa comercial: pasar de staff </a:t>
            </a:r>
            <a:r>
              <a:rPr lang="es-ES" sz="1400" kern="0" spc="-81" err="1">
                <a:solidFill>
                  <a:srgbClr val="00B050"/>
                </a:solidFill>
                <a:latin typeface="Reddit Sans"/>
                <a:ea typeface="Reddit Sans"/>
              </a:rPr>
              <a:t>augmentation</a:t>
            </a:r>
            <a:r>
              <a:rPr lang="es-ES" sz="1400" kern="0" spc="-81">
                <a:solidFill>
                  <a:srgbClr val="00B050"/>
                </a:solidFill>
                <a:latin typeface="Reddit Sans"/>
                <a:ea typeface="Reddit Sans"/>
              </a:rPr>
              <a:t> a un servicio gestionado, medible y evolutivo.</a:t>
            </a:r>
            <a:endParaRPr lang="en-US" sz="1400" kern="0" spc="-81">
              <a:solidFill>
                <a:srgbClr val="00B050"/>
              </a:solidFill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16989664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9B3F8-F6E6-BAD1-E2A6-02EAC1C66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modelo reactivo">
            <a:extLst>
              <a:ext uri="{FF2B5EF4-FFF2-40B4-BE49-F238E27FC236}">
                <a16:creationId xmlns:a16="http://schemas.microsoft.com/office/drawing/2014/main" id="{63B05839-3D71-AE88-305C-0E928050B2A8}"/>
              </a:ext>
            </a:extLst>
          </p:cNvPr>
          <p:cNvSpPr txBox="1"/>
          <p:nvPr/>
        </p:nvSpPr>
        <p:spPr>
          <a:xfrm>
            <a:off x="372836" y="4171949"/>
            <a:ext cx="8523064" cy="66402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lIns="91425" tIns="91425" rIns="91425" bIns="91425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endParaRPr lang="es" sz="700" b="1">
              <a:solidFill>
                <a:schemeClr val="tx1"/>
              </a:solidFill>
              <a:latin typeface="Reddit Sans"/>
              <a:ea typeface="Reddit Sans"/>
            </a:endParaRPr>
          </a:p>
          <a:p>
            <a:pPr algn="ctr"/>
            <a:endParaRPr lang="es" sz="700" b="1">
              <a:solidFill>
                <a:schemeClr val="tx1"/>
              </a:solidFill>
              <a:latin typeface="Reddit Sans"/>
              <a:ea typeface="Reddit Sans"/>
            </a:endParaRPr>
          </a:p>
          <a:p>
            <a:pPr algn="ctr"/>
            <a:endParaRPr lang="es" sz="700" b="1">
              <a:solidFill>
                <a:schemeClr val="tx1"/>
              </a:solidFill>
              <a:latin typeface="Reddit Sans"/>
              <a:ea typeface="Reddit Sans"/>
            </a:endParaRPr>
          </a:p>
          <a:p>
            <a:pPr algn="ctr"/>
            <a:endParaRPr lang="es" sz="700" b="1">
              <a:solidFill>
                <a:schemeClr val="tx1"/>
              </a:solidFill>
              <a:latin typeface="Reddit Sans"/>
              <a:ea typeface="Reddit Sans"/>
            </a:endParaRPr>
          </a:p>
          <a:p>
            <a:pPr algn="ctr"/>
            <a:endParaRPr lang="es" sz="700" b="1">
              <a:solidFill>
                <a:schemeClr val="tx1"/>
              </a:solidFill>
              <a:latin typeface="Reddit Sans"/>
              <a:ea typeface="Reddit Sans"/>
            </a:endParaRPr>
          </a:p>
          <a:p>
            <a:pPr algn="ctr"/>
            <a:endParaRPr lang="es" sz="700" b="1">
              <a:solidFill>
                <a:schemeClr val="tx1"/>
              </a:solidFill>
              <a:latin typeface="Reddit Sans"/>
              <a:ea typeface="Reddit Sans"/>
            </a:endParaRPr>
          </a:p>
        </p:txBody>
      </p:sp>
      <p:sp>
        <p:nvSpPr>
          <p:cNvPr id="111" name="Text 18">
            <a:extLst>
              <a:ext uri="{FF2B5EF4-FFF2-40B4-BE49-F238E27FC236}">
                <a16:creationId xmlns:a16="http://schemas.microsoft.com/office/drawing/2014/main" id="{571A3787-9D32-BB3B-CFF1-3FDDDE399B63}"/>
              </a:ext>
            </a:extLst>
          </p:cNvPr>
          <p:cNvSpPr/>
          <p:nvPr/>
        </p:nvSpPr>
        <p:spPr>
          <a:xfrm>
            <a:off x="370454" y="485020"/>
            <a:ext cx="9388248" cy="34607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406"/>
              </a:lnSpc>
            </a:pP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Objetivo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: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Reducción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costos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operativos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y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mejora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en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la experiencia del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usuario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final a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través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la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transferencia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</a:t>
            </a:r>
            <a:r>
              <a:rPr lang="en-US" sz="1000" kern="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conocimiento</a:t>
            </a:r>
            <a:r>
              <a:rPr lang="en-US" sz="1000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F8BADBF-C619-14FE-378A-ED427D78EC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730" y="200392"/>
            <a:ext cx="7111542" cy="572700"/>
          </a:xfrm>
        </p:spPr>
        <p:txBody>
          <a:bodyPr>
            <a:normAutofit/>
          </a:bodyPr>
          <a:lstStyle/>
          <a:p>
            <a:r>
              <a:rPr lang="es-CO"/>
              <a:t>Nuestro Servicio de Mesa de Servicio de Nueva Generación</a:t>
            </a:r>
          </a:p>
        </p:txBody>
      </p:sp>
      <p:sp>
        <p:nvSpPr>
          <p:cNvPr id="89" name="Text 3">
            <a:extLst>
              <a:ext uri="{FF2B5EF4-FFF2-40B4-BE49-F238E27FC236}">
                <a16:creationId xmlns:a16="http://schemas.microsoft.com/office/drawing/2014/main" id="{F2FF73B3-1390-A22D-2CBB-8FA99D797BF5}"/>
              </a:ext>
            </a:extLst>
          </p:cNvPr>
          <p:cNvSpPr/>
          <p:nvPr/>
        </p:nvSpPr>
        <p:spPr>
          <a:xfrm>
            <a:off x="458221" y="2689517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13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N0 - Autoservicio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91" name="Text 4">
            <a:extLst>
              <a:ext uri="{FF2B5EF4-FFF2-40B4-BE49-F238E27FC236}">
                <a16:creationId xmlns:a16="http://schemas.microsoft.com/office/drawing/2014/main" id="{BCD4A989-F3C9-74F4-B3A1-776A44C3F5BA}"/>
              </a:ext>
            </a:extLst>
          </p:cNvPr>
          <p:cNvSpPr/>
          <p:nvPr/>
        </p:nvSpPr>
        <p:spPr>
          <a:xfrm>
            <a:off x="371136" y="2973250"/>
            <a:ext cx="1445760" cy="14821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349"/>
              </a:spcBef>
            </a:pP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Empoderamiento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del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usuario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mediante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portales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de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conocimiento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y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automatización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 Portal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autoservicio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, base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conocimiento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, FAQ, chatbot, IA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generativa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</a:t>
            </a:r>
          </a:p>
          <a:p>
            <a:pPr algn="ctr"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93" name="Text 6">
            <a:extLst>
              <a:ext uri="{FF2B5EF4-FFF2-40B4-BE49-F238E27FC236}">
                <a16:creationId xmlns:a16="http://schemas.microsoft.com/office/drawing/2014/main" id="{62F9342F-4771-9447-1B13-EB610D36734E}"/>
              </a:ext>
            </a:extLst>
          </p:cNvPr>
          <p:cNvSpPr/>
          <p:nvPr/>
        </p:nvSpPr>
        <p:spPr>
          <a:xfrm>
            <a:off x="1817574" y="2716731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N1 - Service Desk / Call Center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95" name="Text 7">
            <a:extLst>
              <a:ext uri="{FF2B5EF4-FFF2-40B4-BE49-F238E27FC236}">
                <a16:creationId xmlns:a16="http://schemas.microsoft.com/office/drawing/2014/main" id="{E94328EF-E313-6F3C-1B6C-123BAA19D77A}"/>
              </a:ext>
            </a:extLst>
          </p:cNvPr>
          <p:cNvSpPr/>
          <p:nvPr/>
        </p:nvSpPr>
        <p:spPr>
          <a:xfrm>
            <a:off x="1768587" y="3109322"/>
            <a:ext cx="1271589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349"/>
              </a:spcBef>
            </a:pP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Primer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nivel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contacto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;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incidencias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comunes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y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gestión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peticiones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(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registro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tickets).</a:t>
            </a:r>
            <a:endParaRPr lang="en-US" sz="700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97" name="Text 9">
            <a:extLst>
              <a:ext uri="{FF2B5EF4-FFF2-40B4-BE49-F238E27FC236}">
                <a16:creationId xmlns:a16="http://schemas.microsoft.com/office/drawing/2014/main" id="{37490370-97BA-0714-A222-17496C8769A9}"/>
              </a:ext>
            </a:extLst>
          </p:cNvPr>
          <p:cNvSpPr/>
          <p:nvPr/>
        </p:nvSpPr>
        <p:spPr>
          <a:xfrm>
            <a:off x="3225914" y="2700402"/>
            <a:ext cx="1168174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N2 -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Especializado</a:t>
            </a:r>
            <a:endParaRPr lang="en-US" sz="1013" err="1">
              <a:latin typeface="Reddit Sans"/>
              <a:ea typeface="Reddit Sans"/>
            </a:endParaRPr>
          </a:p>
        </p:txBody>
      </p:sp>
      <p:sp>
        <p:nvSpPr>
          <p:cNvPr id="99" name="Text 10">
            <a:extLst>
              <a:ext uri="{FF2B5EF4-FFF2-40B4-BE49-F238E27FC236}">
                <a16:creationId xmlns:a16="http://schemas.microsoft.com/office/drawing/2014/main" id="{97C3240B-77E4-C022-93ED-8F91CC2B1840}"/>
              </a:ext>
            </a:extLst>
          </p:cNvPr>
          <p:cNvSpPr/>
          <p:nvPr/>
        </p:nvSpPr>
        <p:spPr>
          <a:xfrm>
            <a:off x="3089843" y="3109323"/>
            <a:ext cx="1592715" cy="67313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349"/>
              </a:spcBef>
            </a:pP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Especialistas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técnicos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para la</a:t>
            </a:r>
            <a:br>
              <a:rPr lang="en-US" sz="700" kern="0" spc="-34"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oblemas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de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mayor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complejidad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Equipos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técnicos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con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conocimientos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específicos</a:t>
            </a:r>
            <a:endParaRPr lang="es-ES"/>
          </a:p>
          <a:p>
            <a:pPr algn="ctr">
              <a:spcBef>
                <a:spcPts val="349"/>
              </a:spcBef>
            </a:pP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aplicaciones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,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infraestructura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o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procesos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</a:t>
            </a:r>
          </a:p>
          <a:p>
            <a:pPr algn="ctr"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101" name="Text 12">
            <a:extLst>
              <a:ext uri="{FF2B5EF4-FFF2-40B4-BE49-F238E27FC236}">
                <a16:creationId xmlns:a16="http://schemas.microsoft.com/office/drawing/2014/main" id="{A9BCBE2F-4218-9ACB-DB9C-9B726C052719}"/>
              </a:ext>
            </a:extLst>
          </p:cNvPr>
          <p:cNvSpPr/>
          <p:nvPr/>
        </p:nvSpPr>
        <p:spPr>
          <a:xfrm>
            <a:off x="4841081" y="2700401"/>
            <a:ext cx="994003" cy="270231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N3 –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Expertos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(Nivel de Ingeniería)</a:t>
            </a:r>
            <a:endParaRPr lang="en-US" sz="1000">
              <a:latin typeface="Reddit Sans"/>
              <a:ea typeface="Reddit Sans"/>
            </a:endParaRPr>
          </a:p>
        </p:txBody>
      </p:sp>
      <p:sp>
        <p:nvSpPr>
          <p:cNvPr id="103" name="Text 13">
            <a:extLst>
              <a:ext uri="{FF2B5EF4-FFF2-40B4-BE49-F238E27FC236}">
                <a16:creationId xmlns:a16="http://schemas.microsoft.com/office/drawing/2014/main" id="{B1F36C76-C0F3-5C68-2A77-558B0B008630}"/>
              </a:ext>
            </a:extLst>
          </p:cNvPr>
          <p:cNvSpPr/>
          <p:nvPr/>
        </p:nvSpPr>
        <p:spPr>
          <a:xfrm>
            <a:off x="4691032" y="3217223"/>
            <a:ext cx="1299543" cy="67313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349"/>
              </a:spcBef>
            </a:pP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Análisis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profundo y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resolució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n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de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fallos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críticos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o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incidentes</a:t>
            </a:r>
            <a:b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</a:b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complejos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 Ingenieros senior,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arquitectos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o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especialistas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que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resuelven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problemas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complejos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 y causa </a:t>
            </a:r>
            <a:r>
              <a:rPr lang="en-US" sz="700" kern="0" spc="-34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raíz</a:t>
            </a:r>
            <a:r>
              <a:rPr lang="en-US" sz="700" kern="0" spc="-34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</a:rPr>
              <a:t>.</a:t>
            </a:r>
          </a:p>
        </p:txBody>
      </p:sp>
      <p:sp>
        <p:nvSpPr>
          <p:cNvPr id="105" name="Text 15">
            <a:extLst>
              <a:ext uri="{FF2B5EF4-FFF2-40B4-BE49-F238E27FC236}">
                <a16:creationId xmlns:a16="http://schemas.microsoft.com/office/drawing/2014/main" id="{A42066F1-E260-A830-0FC4-F0D7BE34F845}"/>
              </a:ext>
            </a:extLst>
          </p:cNvPr>
          <p:cNvSpPr/>
          <p:nvPr/>
        </p:nvSpPr>
        <p:spPr>
          <a:xfrm>
            <a:off x="6292964" y="2716730"/>
            <a:ext cx="1070202" cy="14600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N4 – Terceros (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Proveedor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/ Fabricante)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07" name="Text 16">
            <a:extLst>
              <a:ext uri="{FF2B5EF4-FFF2-40B4-BE49-F238E27FC236}">
                <a16:creationId xmlns:a16="http://schemas.microsoft.com/office/drawing/2014/main" id="{8B48FAD4-7C5D-C451-9662-AE6726204DD7}"/>
              </a:ext>
            </a:extLst>
          </p:cNvPr>
          <p:cNvSpPr/>
          <p:nvPr/>
        </p:nvSpPr>
        <p:spPr>
          <a:xfrm>
            <a:off x="6292963" y="3207293"/>
            <a:ext cx="1168174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349"/>
              </a:spcBef>
            </a:pP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Gestión de proveedores</a:t>
            </a:r>
            <a:b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externos y servicios</a:t>
            </a:r>
            <a:b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especializados fuera de la</a:t>
            </a:r>
            <a:b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organización.</a:t>
            </a:r>
            <a:endParaRPr lang="en-US" sz="700">
              <a:latin typeface="Reddit Sans"/>
              <a:ea typeface="Reddit Sans"/>
            </a:endParaRPr>
          </a:p>
        </p:txBody>
      </p:sp>
      <p:sp>
        <p:nvSpPr>
          <p:cNvPr id="112" name="Text 15">
            <a:extLst>
              <a:ext uri="{FF2B5EF4-FFF2-40B4-BE49-F238E27FC236}">
                <a16:creationId xmlns:a16="http://schemas.microsoft.com/office/drawing/2014/main" id="{7D187DF5-439C-F565-0F64-B429BB33A832}"/>
              </a:ext>
            </a:extLst>
          </p:cNvPr>
          <p:cNvSpPr/>
          <p:nvPr/>
        </p:nvSpPr>
        <p:spPr>
          <a:xfrm>
            <a:off x="7762534" y="2700401"/>
            <a:ext cx="994003" cy="38548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151"/>
              </a:lnSpc>
            </a:pP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N5 –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Soporte</a:t>
            </a:r>
            <a:r>
              <a:rPr lang="en-US" sz="1000" kern="0" spc="-3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 </a:t>
            </a:r>
            <a:r>
              <a:rPr lang="en-US" sz="1000" kern="0" spc="-31" err="1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Autonomo</a:t>
            </a:r>
            <a:endParaRPr lang="en-US" sz="1013" err="1">
              <a:latin typeface="Reddit Sans"/>
              <a:ea typeface="Reddit Sans"/>
            </a:endParaRPr>
          </a:p>
        </p:txBody>
      </p:sp>
      <p:sp>
        <p:nvSpPr>
          <p:cNvPr id="113" name="Text 16">
            <a:extLst>
              <a:ext uri="{FF2B5EF4-FFF2-40B4-BE49-F238E27FC236}">
                <a16:creationId xmlns:a16="http://schemas.microsoft.com/office/drawing/2014/main" id="{912B63C2-055A-1F1D-198B-175975F73992}"/>
              </a:ext>
            </a:extLst>
          </p:cNvPr>
          <p:cNvSpPr/>
          <p:nvPr/>
        </p:nvSpPr>
        <p:spPr>
          <a:xfrm>
            <a:off x="7588364" y="3218179"/>
            <a:ext cx="1168174" cy="57819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700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</a:rPr>
              <a:t>IA, automatización, auto-remediación, AIOps y operaciones predictivas.</a:t>
            </a:r>
            <a:endParaRPr lang="es-ES" sz="700" kern="0" spc="-34">
              <a:solidFill>
                <a:srgbClr val="000000">
                  <a:alpha val="65000"/>
                </a:srgbClr>
              </a:solidFill>
              <a:latin typeface="Reddit Sans"/>
              <a:ea typeface="Reddit Sans"/>
            </a:endParaRPr>
          </a:p>
          <a:p>
            <a:pPr algn="ctr">
              <a:spcBef>
                <a:spcPts val="349"/>
              </a:spcBef>
            </a:pPr>
            <a:endParaRPr lang="en-US" sz="700" kern="0" spc="-34">
              <a:solidFill>
                <a:srgbClr val="000000">
                  <a:alpha val="65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114" name="Text 53">
            <a:extLst>
              <a:ext uri="{FF2B5EF4-FFF2-40B4-BE49-F238E27FC236}">
                <a16:creationId xmlns:a16="http://schemas.microsoft.com/office/drawing/2014/main" id="{DAB75E3A-25F9-CD28-DF18-093D1347404F}"/>
              </a:ext>
            </a:extLst>
          </p:cNvPr>
          <p:cNvSpPr/>
          <p:nvPr/>
        </p:nvSpPr>
        <p:spPr>
          <a:xfrm>
            <a:off x="8078289" y="4880937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r">
              <a:buNone/>
            </a:pPr>
            <a:r>
              <a:rPr lang="en-US" sz="800">
                <a:solidFill>
                  <a:srgbClr val="6B7280"/>
                </a:solidFill>
                <a:latin typeface="Reddit Sans" panose="020B0604020202020204" charset="0"/>
                <a:ea typeface="Reddit Sans" panose="020B0604020202020204" charset="0"/>
                <a:cs typeface="Calibri" pitchFamily="34" charset="-120"/>
              </a:rPr>
              <a:t>11 / 12</a:t>
            </a:r>
            <a:endParaRPr lang="en-US" sz="800">
              <a:latin typeface="Reddit Sans" panose="020B0604020202020204" charset="0"/>
              <a:ea typeface="Reddit Sans" panose="020B0604020202020204" charset="0"/>
            </a:endParaRPr>
          </a:p>
        </p:txBody>
      </p:sp>
      <p:sp>
        <p:nvSpPr>
          <p:cNvPr id="115" name="modelo reactivo">
            <a:extLst>
              <a:ext uri="{FF2B5EF4-FFF2-40B4-BE49-F238E27FC236}">
                <a16:creationId xmlns:a16="http://schemas.microsoft.com/office/drawing/2014/main" id="{8F4CC718-2E8E-86BA-065B-7203DA818D05}"/>
              </a:ext>
            </a:extLst>
          </p:cNvPr>
          <p:cNvSpPr txBox="1"/>
          <p:nvPr/>
        </p:nvSpPr>
        <p:spPr>
          <a:xfrm>
            <a:off x="359229" y="1028700"/>
            <a:ext cx="2682879" cy="3537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wrap="square" lIns="91425" tIns="91425" rIns="91425" bIns="91425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None/>
            </a:pPr>
            <a:r>
              <a:rPr lang="es" sz="1000" b="1">
                <a:solidFill>
                  <a:srgbClr val="633806"/>
                </a:solidFill>
                <a:latin typeface="Reddit Sans"/>
                <a:ea typeface="Reddit Sans"/>
              </a:rPr>
              <a:t>Reactivo y Crecimiento Automatizado</a:t>
            </a:r>
          </a:p>
        </p:txBody>
      </p:sp>
      <p:sp>
        <p:nvSpPr>
          <p:cNvPr id="116" name="modelo predictivo">
            <a:extLst>
              <a:ext uri="{FF2B5EF4-FFF2-40B4-BE49-F238E27FC236}">
                <a16:creationId xmlns:a16="http://schemas.microsoft.com/office/drawing/2014/main" id="{8F4DFA52-E4C3-F9FA-35AC-2B9DDB2580D8}"/>
              </a:ext>
            </a:extLst>
          </p:cNvPr>
          <p:cNvSpPr txBox="1"/>
          <p:nvPr/>
        </p:nvSpPr>
        <p:spPr>
          <a:xfrm>
            <a:off x="3159579" y="1028700"/>
            <a:ext cx="2682879" cy="35378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wrap="square" lIns="91425" tIns="91425" rIns="91425" bIns="91425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None/>
            </a:pPr>
            <a:r>
              <a:rPr lang="es" sz="1000" b="1">
                <a:solidFill>
                  <a:srgbClr val="0E337C"/>
                </a:solidFill>
                <a:latin typeface="Reddit Sans"/>
                <a:ea typeface="Reddit Sans"/>
              </a:rPr>
              <a:t>Predictivo y Evolutivo</a:t>
            </a:r>
          </a:p>
        </p:txBody>
      </p:sp>
      <p:sp>
        <p:nvSpPr>
          <p:cNvPr id="117" name="modelo autonomo">
            <a:extLst>
              <a:ext uri="{FF2B5EF4-FFF2-40B4-BE49-F238E27FC236}">
                <a16:creationId xmlns:a16="http://schemas.microsoft.com/office/drawing/2014/main" id="{1595092C-43F6-10F5-9638-E2CA995E11C0}"/>
              </a:ext>
            </a:extLst>
          </p:cNvPr>
          <p:cNvSpPr txBox="1"/>
          <p:nvPr/>
        </p:nvSpPr>
        <p:spPr>
          <a:xfrm>
            <a:off x="5959929" y="1028700"/>
            <a:ext cx="2683629" cy="353786"/>
          </a:xfrm>
          <a:prstGeom prst="rect">
            <a:avLst/>
          </a:prstGeom>
          <a:solidFill>
            <a:srgbClr val="215578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91425" tIns="91425" rIns="91425" bIns="91425" anchor="ctr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algn="ctr">
              <a:buNone/>
            </a:pPr>
            <a:r>
              <a:rPr lang="es" sz="1000" b="1">
                <a:solidFill>
                  <a:schemeClr val="bg1"/>
                </a:solidFill>
                <a:latin typeface="Reddit Sans"/>
                <a:ea typeface="Reddit Sans"/>
              </a:rPr>
              <a:t>Autónomo e Inteligente</a:t>
            </a:r>
            <a:endParaRPr lang="es" sz="1000" b="1">
              <a:solidFill>
                <a:schemeClr val="bg1"/>
              </a:solidFill>
              <a:latin typeface="Reddit Sans"/>
              <a:ea typeface="Reddit Sans"/>
              <a:cs typeface="Arial"/>
            </a:endParaRPr>
          </a:p>
        </p:txBody>
      </p:sp>
      <p:sp>
        <p:nvSpPr>
          <p:cNvPr id="119" name="text">
            <a:extLst>
              <a:ext uri="{FF2B5EF4-FFF2-40B4-BE49-F238E27FC236}">
                <a16:creationId xmlns:a16="http://schemas.microsoft.com/office/drawing/2014/main" id="{6A0163D3-21EE-1E11-51FD-D7661AE05DB5}"/>
              </a:ext>
            </a:extLst>
          </p:cNvPr>
          <p:cNvSpPr>
            <a:spLocks noGrp="1"/>
          </p:cNvSpPr>
          <p:nvPr/>
        </p:nvSpPr>
        <p:spPr>
          <a:xfrm>
            <a:off x="457201" y="4446816"/>
            <a:ext cx="1521276" cy="38916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Deflexión &gt;30%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Disponible 24x7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b="0">
                <a:solidFill>
                  <a:srgbClr val="172033"/>
                </a:solidFill>
                <a:latin typeface="Reddit Sans"/>
                <a:ea typeface="Reddit Sans"/>
              </a:rPr>
              <a:t>Resuelve solicitudes frecuentes</a:t>
            </a:r>
          </a:p>
        </p:txBody>
      </p:sp>
      <p:sp>
        <p:nvSpPr>
          <p:cNvPr id="121" name="text">
            <a:extLst>
              <a:ext uri="{FF2B5EF4-FFF2-40B4-BE49-F238E27FC236}">
                <a16:creationId xmlns:a16="http://schemas.microsoft.com/office/drawing/2014/main" id="{3AFE1D91-0A1E-C722-7EDC-B63FC372E59A}"/>
              </a:ext>
            </a:extLst>
          </p:cNvPr>
          <p:cNvSpPr>
            <a:spLocks noGrp="1"/>
          </p:cNvSpPr>
          <p:nvPr/>
        </p:nvSpPr>
        <p:spPr>
          <a:xfrm>
            <a:off x="1773011" y="4174671"/>
            <a:ext cx="1374320" cy="66130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n-US" sz="600">
                <a:solidFill>
                  <a:srgbClr val="172033"/>
                </a:solidFill>
                <a:latin typeface="Reddit Sans"/>
                <a:ea typeface="Reddit Sans"/>
              </a:rPr>
              <a:t>FCR &lt;65%</a:t>
            </a:r>
            <a:endParaRPr lang="es-ES" sz="600">
              <a:solidFill>
                <a:srgbClr val="172033"/>
              </a:solidFill>
              <a:latin typeface="Reddit Sans"/>
              <a:ea typeface="Reddit Sans"/>
            </a:endParaRP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n-US" sz="600">
                <a:solidFill>
                  <a:srgbClr val="172033"/>
                </a:solidFill>
                <a:latin typeface="Reddit Sans"/>
                <a:ea typeface="Reddit Sans"/>
              </a:rPr>
              <a:t>MTTR &gt;12h</a:t>
            </a:r>
            <a:endParaRPr lang="es-ES" sz="600">
              <a:solidFill>
                <a:srgbClr val="172033"/>
              </a:solidFill>
              <a:latin typeface="Reddit Sans"/>
              <a:ea typeface="Reddit Sans"/>
            </a:endParaRP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n-US" sz="600">
                <a:solidFill>
                  <a:srgbClr val="172033"/>
                </a:solidFill>
                <a:latin typeface="Reddit Sans"/>
                <a:ea typeface="Reddit Sans"/>
              </a:rPr>
              <a:t>Sin N0</a:t>
            </a:r>
            <a:endParaRPr lang="es-ES" sz="600">
              <a:solidFill>
                <a:srgbClr val="172033"/>
              </a:solidFill>
              <a:latin typeface="Reddit Sans"/>
              <a:ea typeface="Reddit Sans"/>
            </a:endParaRP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n-US" sz="600">
                <a:solidFill>
                  <a:srgbClr val="172033"/>
                </a:solidFill>
                <a:latin typeface="Reddit Sans"/>
                <a:ea typeface="Reddit Sans"/>
              </a:rPr>
              <a:t>Sin catálogo</a:t>
            </a:r>
            <a:endParaRPr sz="600">
              <a:solidFill>
                <a:srgbClr val="172033"/>
              </a:solidFill>
              <a:latin typeface="Reddit Sans"/>
              <a:ea typeface="Reddit Sans"/>
            </a:endParaRP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>
                <a:solidFill>
                  <a:srgbClr val="172033"/>
                </a:solidFill>
                <a:latin typeface="Reddit Sans"/>
                <a:ea typeface="Reddit Sans"/>
              </a:rPr>
              <a:t>Registro y </a:t>
            </a:r>
            <a:r>
              <a:rPr sz="600" err="1">
                <a:solidFill>
                  <a:srgbClr val="172033"/>
                </a:solidFill>
                <a:latin typeface="Reddit Sans"/>
                <a:ea typeface="Reddit Sans"/>
              </a:rPr>
              <a:t>categorización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err="1">
                <a:solidFill>
                  <a:srgbClr val="172033"/>
                </a:solidFill>
                <a:latin typeface="Reddit Sans"/>
                <a:ea typeface="Reddit Sans"/>
              </a:rPr>
              <a:t>Comunicación</a:t>
            </a:r>
            <a:r>
              <a:rPr sz="600">
                <a:solidFill>
                  <a:srgbClr val="172033"/>
                </a:solidFill>
                <a:latin typeface="Reddit Sans"/>
                <a:ea typeface="Reddit Sans"/>
              </a:rPr>
              <a:t> al </a:t>
            </a:r>
            <a:r>
              <a:rPr sz="600" err="1">
                <a:solidFill>
                  <a:srgbClr val="172033"/>
                </a:solidFill>
                <a:latin typeface="Reddit Sans"/>
                <a:ea typeface="Reddit Sans"/>
              </a:rPr>
              <a:t>usuar</a:t>
            </a:r>
            <a:r>
              <a:rPr sz="600" b="0" err="1">
                <a:solidFill>
                  <a:srgbClr val="172033"/>
                </a:solidFill>
                <a:latin typeface="Reddit Sans"/>
                <a:ea typeface="Reddit Sans"/>
              </a:rPr>
              <a:t>io</a:t>
            </a:r>
          </a:p>
        </p:txBody>
      </p:sp>
      <p:sp>
        <p:nvSpPr>
          <p:cNvPr id="123" name="text">
            <a:extLst>
              <a:ext uri="{FF2B5EF4-FFF2-40B4-BE49-F238E27FC236}">
                <a16:creationId xmlns:a16="http://schemas.microsoft.com/office/drawing/2014/main" id="{547BC0BF-FA4F-37FF-8A9D-B708AC4C5B20}"/>
              </a:ext>
            </a:extLst>
          </p:cNvPr>
          <p:cNvSpPr>
            <a:spLocks noGrp="1"/>
          </p:cNvSpPr>
          <p:nvPr/>
        </p:nvSpPr>
        <p:spPr>
          <a:xfrm>
            <a:off x="3175908" y="4174671"/>
            <a:ext cx="1162050" cy="49257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s-ES" sz="600">
                <a:solidFill>
                  <a:srgbClr val="172033"/>
                </a:solidFill>
                <a:latin typeface="Reddit Sans"/>
                <a:ea typeface="Reddit Sans"/>
              </a:rPr>
              <a:t>FCR 65–74%, MTTR 8–12h</a:t>
            </a:r>
            <a:endParaRPr lang="es-ES"/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s-ES" sz="600">
                <a:solidFill>
                  <a:srgbClr val="172033"/>
                </a:solidFill>
                <a:latin typeface="Reddit Sans"/>
                <a:ea typeface="Reddit Sans"/>
              </a:rPr>
              <a:t>SLA, Catálogo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s-ES" sz="600">
                <a:solidFill>
                  <a:srgbClr val="172033"/>
                </a:solidFill>
                <a:latin typeface="Reddit Sans"/>
                <a:ea typeface="Reddit Sans"/>
              </a:rPr>
              <a:t>CMDB, KPI, </a:t>
            </a:r>
            <a:r>
              <a:rPr sz="600">
                <a:solidFill>
                  <a:srgbClr val="172033"/>
                </a:solidFill>
                <a:latin typeface="Reddit Sans"/>
                <a:ea typeface="Reddit Sans"/>
              </a:rPr>
              <a:t>Diagnóstico avanzado</a:t>
            </a:r>
            <a:endParaRPr lang="es-ES" sz="600">
              <a:solidFill>
                <a:srgbClr val="172033"/>
              </a:solidFill>
              <a:latin typeface="Reddit Sans"/>
              <a:ea typeface="Reddit Sans"/>
            </a:endParaRP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err="1">
                <a:solidFill>
                  <a:srgbClr val="172033"/>
                </a:solidFill>
                <a:latin typeface="Reddit Sans"/>
                <a:ea typeface="Reddit Sans"/>
              </a:rPr>
              <a:t>Soporte</a:t>
            </a:r>
            <a:r>
              <a:rPr sz="60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600" err="1">
                <a:solidFill>
                  <a:srgbClr val="172033"/>
                </a:solidFill>
                <a:latin typeface="Reddit Sans"/>
                <a:ea typeface="Reddit Sans"/>
              </a:rPr>
              <a:t>aplicativo</a:t>
            </a:r>
            <a:r>
              <a:rPr sz="600">
                <a:solidFill>
                  <a:srgbClr val="172033"/>
                </a:solidFill>
                <a:latin typeface="Reddit Sans"/>
                <a:ea typeface="Reddit Sans"/>
              </a:rPr>
              <a:t>/campo</a:t>
            </a:r>
          </a:p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sz="600" err="1">
                <a:solidFill>
                  <a:srgbClr val="172033"/>
                </a:solidFill>
                <a:latin typeface="Reddit Sans"/>
                <a:ea typeface="Reddit Sans"/>
              </a:rPr>
              <a:t>Coordinación</a:t>
            </a:r>
            <a:r>
              <a:rPr sz="60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600" err="1">
                <a:solidFill>
                  <a:srgbClr val="172033"/>
                </a:solidFill>
                <a:latin typeface="Reddit Sans"/>
                <a:ea typeface="Reddit Sans"/>
              </a:rPr>
              <a:t>proveedores</a:t>
            </a:r>
            <a:endParaRPr sz="60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125" name="text">
            <a:extLst>
              <a:ext uri="{FF2B5EF4-FFF2-40B4-BE49-F238E27FC236}">
                <a16:creationId xmlns:a16="http://schemas.microsoft.com/office/drawing/2014/main" id="{794BC2E2-347C-8C8B-051E-E54E1FE8FF29}"/>
              </a:ext>
            </a:extLst>
          </p:cNvPr>
          <p:cNvSpPr>
            <a:spLocks noGrp="1"/>
          </p:cNvSpPr>
          <p:nvPr/>
        </p:nvSpPr>
        <p:spPr>
          <a:xfrm>
            <a:off x="4742090" y="4446815"/>
            <a:ext cx="1162050" cy="34017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s-ES" sz="600">
                <a:solidFill>
                  <a:srgbClr val="172033"/>
                </a:solidFill>
                <a:latin typeface="Reddit Sans"/>
                <a:ea typeface="Reddit Sans"/>
              </a:rPr>
              <a:t>FCR ≥75%, MTTR 4–8h, </a:t>
            </a:r>
            <a:r>
              <a:rPr lang="es-ES" sz="600" err="1">
                <a:solidFill>
                  <a:srgbClr val="172033"/>
                </a:solidFill>
                <a:latin typeface="Reddit Sans"/>
                <a:ea typeface="Reddit Sans"/>
              </a:rPr>
              <a:t>Deflection</a:t>
            </a:r>
            <a:r>
              <a:rPr lang="es-ES" sz="600">
                <a:solidFill>
                  <a:srgbClr val="172033"/>
                </a:solidFill>
                <a:latin typeface="Reddit Sans"/>
                <a:ea typeface="Reddit Sans"/>
              </a:rPr>
              <a:t> 20–35% N0 activo KCS, Gobierno formal</a:t>
            </a:r>
            <a:endParaRPr sz="60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127" name="text">
            <a:extLst>
              <a:ext uri="{FF2B5EF4-FFF2-40B4-BE49-F238E27FC236}">
                <a16:creationId xmlns:a16="http://schemas.microsoft.com/office/drawing/2014/main" id="{53F00BD8-6D22-3BE4-05A1-97E1A6CCB8CE}"/>
              </a:ext>
            </a:extLst>
          </p:cNvPr>
          <p:cNvSpPr>
            <a:spLocks noGrp="1"/>
          </p:cNvSpPr>
          <p:nvPr/>
        </p:nvSpPr>
        <p:spPr>
          <a:xfrm>
            <a:off x="6199415" y="4376058"/>
            <a:ext cx="1162050" cy="4871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788" b="0">
                <a:solidFill>
                  <a:srgbClr val="172033"/>
                </a:solidFill>
              </a:defRPr>
            </a:pPr>
            <a:r>
              <a:rPr lang="es-ES" sz="600">
                <a:solidFill>
                  <a:srgbClr val="172033"/>
                </a:solidFill>
                <a:latin typeface="Reddit Sans"/>
                <a:ea typeface="Reddit Sans"/>
              </a:rPr>
              <a:t>FCR ≥80%, MTTR &lt;4h </a:t>
            </a:r>
            <a:r>
              <a:rPr lang="es-ES" sz="600" err="1">
                <a:solidFill>
                  <a:srgbClr val="172033"/>
                </a:solidFill>
                <a:latin typeface="Reddit Sans"/>
                <a:ea typeface="Reddit Sans"/>
              </a:rPr>
              <a:t>Deflection</a:t>
            </a:r>
            <a:r>
              <a:rPr lang="es-ES" sz="600">
                <a:solidFill>
                  <a:srgbClr val="172033"/>
                </a:solidFill>
                <a:latin typeface="Reddit Sans"/>
                <a:ea typeface="Reddit Sans"/>
              </a:rPr>
              <a:t> 35–55% CSAT ≥88%, IA + </a:t>
            </a:r>
            <a:r>
              <a:rPr lang="es-ES" sz="600" err="1">
                <a:solidFill>
                  <a:srgbClr val="172033"/>
                </a:solidFill>
                <a:latin typeface="Reddit Sans"/>
                <a:ea typeface="Reddit Sans"/>
              </a:rPr>
              <a:t>AIOps</a:t>
            </a:r>
            <a:r>
              <a:rPr lang="es-ES" sz="600">
                <a:solidFill>
                  <a:srgbClr val="172033"/>
                </a:solidFill>
                <a:latin typeface="Reddit Sans"/>
                <a:ea typeface="Reddit Sans"/>
              </a:rPr>
              <a:t> XLA medidos DEX monitoreado</a:t>
            </a:r>
            <a:endParaRPr sz="60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01771033-E681-61BD-E911-35B1AAC59CCC}"/>
              </a:ext>
            </a:extLst>
          </p:cNvPr>
          <p:cNvSpPr txBox="1"/>
          <p:nvPr/>
        </p:nvSpPr>
        <p:spPr>
          <a:xfrm>
            <a:off x="375559" y="3867151"/>
            <a:ext cx="8518069" cy="307777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 rtl="0"/>
            <a:r>
              <a:rPr lang="es-ES" sz="700" b="1" i="0" u="none" strike="noStrike" baseline="0">
                <a:solidFill>
                  <a:schemeClr val="tx1"/>
                </a:solidFill>
                <a:latin typeface="Reddit Sans"/>
                <a:ea typeface="Segoe UI"/>
                <a:cs typeface="Segoe UI"/>
              </a:rPr>
              <a:t>Modelo de Soporte </a:t>
            </a:r>
            <a:r>
              <a:rPr lang="es-ES" sz="700" b="0" i="0">
                <a:solidFill>
                  <a:schemeClr val="tx1"/>
                </a:solidFill>
                <a:latin typeface="Reddit Sans"/>
                <a:ea typeface="Segoe UI"/>
                <a:cs typeface="Segoe UI"/>
              </a:rPr>
              <a:t>​</a:t>
            </a:r>
            <a:endParaRPr lang="es-ES">
              <a:solidFill>
                <a:schemeClr val="tx1"/>
              </a:solidFill>
            </a:endParaRPr>
          </a:p>
          <a:p>
            <a:pPr algn="ctr" rtl="0"/>
            <a:r>
              <a:rPr lang="en-US" sz="700" b="1" i="0" u="none" strike="noStrike" baseline="0">
                <a:solidFill>
                  <a:schemeClr val="tx1"/>
                </a:solidFill>
                <a:latin typeface="Reddit Sans"/>
                <a:ea typeface="Segoe UI"/>
                <a:cs typeface="Segoe UI"/>
              </a:rPr>
              <a:t>Shift-left: resolver antes, </a:t>
            </a:r>
            <a:r>
              <a:rPr lang="en-US" sz="700" b="1" i="0" u="none" strike="noStrike" baseline="0" err="1">
                <a:solidFill>
                  <a:schemeClr val="tx1"/>
                </a:solidFill>
                <a:latin typeface="Reddit Sans"/>
                <a:ea typeface="Segoe UI"/>
                <a:cs typeface="Segoe UI"/>
              </a:rPr>
              <a:t>escalar</a:t>
            </a:r>
            <a:r>
              <a:rPr lang="en-US" sz="700" b="1" i="0" u="none" strike="noStrike" baseline="0">
                <a:solidFill>
                  <a:schemeClr val="tx1"/>
                </a:solidFill>
                <a:latin typeface="Reddit Sans"/>
                <a:ea typeface="Segoe UI"/>
                <a:cs typeface="Segoe UI"/>
              </a:rPr>
              <a:t> </a:t>
            </a:r>
            <a:r>
              <a:rPr lang="en-US" sz="700" b="1" i="0" u="none" strike="noStrike" baseline="0" err="1">
                <a:solidFill>
                  <a:schemeClr val="tx1"/>
                </a:solidFill>
                <a:latin typeface="Reddit Sans"/>
                <a:ea typeface="Segoe UI"/>
                <a:cs typeface="Segoe UI"/>
              </a:rPr>
              <a:t>mejor</a:t>
            </a:r>
            <a:r>
              <a:rPr lang="en-US" sz="700" b="1" i="0" u="none" strike="noStrike" baseline="0">
                <a:solidFill>
                  <a:schemeClr val="tx1"/>
                </a:solidFill>
                <a:latin typeface="Reddit Sans"/>
                <a:ea typeface="Segoe UI"/>
                <a:cs typeface="Segoe UI"/>
              </a:rPr>
              <a:t> y </a:t>
            </a:r>
            <a:r>
              <a:rPr lang="en-US" sz="700" b="1" i="0" u="none" strike="noStrike" baseline="0" err="1">
                <a:solidFill>
                  <a:schemeClr val="tx1"/>
                </a:solidFill>
                <a:latin typeface="Reddit Sans"/>
                <a:ea typeface="Segoe UI"/>
                <a:cs typeface="Segoe UI"/>
              </a:rPr>
              <a:t>dejar</a:t>
            </a:r>
            <a:r>
              <a:rPr lang="en-US" sz="700" b="1" i="0" u="none" strike="noStrike" baseline="0">
                <a:solidFill>
                  <a:schemeClr val="tx1"/>
                </a:solidFill>
                <a:latin typeface="Reddit Sans"/>
                <a:ea typeface="Segoe UI"/>
                <a:cs typeface="Segoe UI"/>
              </a:rPr>
              <a:t> </a:t>
            </a:r>
            <a:r>
              <a:rPr lang="en-US" sz="700" b="1" i="0" u="none" strike="noStrike" baseline="0" err="1">
                <a:solidFill>
                  <a:schemeClr val="tx1"/>
                </a:solidFill>
                <a:latin typeface="Reddit Sans"/>
                <a:ea typeface="Segoe UI"/>
                <a:cs typeface="Segoe UI"/>
              </a:rPr>
              <a:t>evidencia</a:t>
            </a:r>
            <a:endParaRPr lang="en-US" sz="700" b="1" i="0" u="none" strike="noStrike" baseline="0">
              <a:solidFill>
                <a:schemeClr val="tx1"/>
              </a:solidFill>
              <a:latin typeface="Reddit Sans"/>
              <a:ea typeface="Segoe UI"/>
              <a:cs typeface="Segoe UI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A96091D-9F50-1CD6-469D-68CA4CF1A06D}"/>
              </a:ext>
            </a:extLst>
          </p:cNvPr>
          <p:cNvSpPr txBox="1"/>
          <p:nvPr/>
        </p:nvSpPr>
        <p:spPr>
          <a:xfrm>
            <a:off x="7560129" y="4275365"/>
            <a:ext cx="1170215" cy="7694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600">
                <a:solidFill>
                  <a:srgbClr val="172033"/>
                </a:solidFill>
                <a:latin typeface="Reddit Sans"/>
                <a:ea typeface="Reddit Sans"/>
              </a:rPr>
              <a:t>FCR ≥85%, MTTR &lt;2h, Deflection ≥55%, CSAT ≥92 ( 50% tickets sin </a:t>
            </a:r>
            <a:r>
              <a:rPr lang="en-US" sz="600" err="1">
                <a:solidFill>
                  <a:srgbClr val="172033"/>
                </a:solidFill>
                <a:latin typeface="Reddit Sans"/>
                <a:ea typeface="Reddit Sans"/>
              </a:rPr>
              <a:t>agente</a:t>
            </a:r>
            <a:r>
              <a:rPr lang="en-US" sz="60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lang="en-US" sz="600" err="1">
                <a:solidFill>
                  <a:srgbClr val="172033"/>
                </a:solidFill>
                <a:latin typeface="Reddit Sans"/>
                <a:ea typeface="Reddit Sans"/>
              </a:rPr>
              <a:t>humano</a:t>
            </a:r>
            <a:r>
              <a:rPr lang="en-US" sz="600">
                <a:solidFill>
                  <a:srgbClr val="172033"/>
                </a:solidFill>
                <a:latin typeface="Reddit Sans"/>
                <a:ea typeface="Reddit Sans"/>
              </a:rPr>
              <a:t>), Pricing </a:t>
            </a:r>
            <a:r>
              <a:rPr lang="en-US" sz="600" err="1">
                <a:solidFill>
                  <a:srgbClr val="172033"/>
                </a:solidFill>
                <a:latin typeface="Reddit Sans"/>
                <a:ea typeface="Reddit Sans"/>
              </a:rPr>
              <a:t>por</a:t>
            </a:r>
            <a:r>
              <a:rPr lang="en-US" sz="600">
                <a:solidFill>
                  <a:srgbClr val="172033"/>
                </a:solidFill>
                <a:latin typeface="Reddit Sans"/>
                <a:ea typeface="Reddit Sans"/>
              </a:rPr>
              <a:t> outcomes Next Gen</a:t>
            </a:r>
            <a:endParaRPr lang="es-ES"/>
          </a:p>
          <a:p>
            <a:pPr algn="ctr"/>
            <a:endParaRPr lang="es-ES"/>
          </a:p>
        </p:txBody>
      </p:sp>
      <p:pic>
        <p:nvPicPr>
          <p:cNvPr id="7" name="Image 0" descr="-5107849e.png">
            <a:extLst>
              <a:ext uri="{FF2B5EF4-FFF2-40B4-BE49-F238E27FC236}">
                <a16:creationId xmlns:a16="http://schemas.microsoft.com/office/drawing/2014/main" id="{D7030BB5-D81F-8A9B-D14D-E4816EDD8C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1791"/>
          <a:stretch>
            <a:fillRect/>
          </a:stretch>
        </p:blipFill>
        <p:spPr>
          <a:xfrm>
            <a:off x="346302" y="1737590"/>
            <a:ext cx="1587953" cy="892969"/>
          </a:xfrm>
          <a:prstGeom prst="rect">
            <a:avLst/>
          </a:prstGeom>
        </p:spPr>
      </p:pic>
      <p:sp>
        <p:nvSpPr>
          <p:cNvPr id="9" name="Shape 4">
            <a:extLst>
              <a:ext uri="{FF2B5EF4-FFF2-40B4-BE49-F238E27FC236}">
                <a16:creationId xmlns:a16="http://schemas.microsoft.com/office/drawing/2014/main" id="{CE0E936A-956B-122D-BFA8-E372482D127B}"/>
              </a:ext>
            </a:extLst>
          </p:cNvPr>
          <p:cNvSpPr/>
          <p:nvPr/>
        </p:nvSpPr>
        <p:spPr>
          <a:xfrm>
            <a:off x="1067820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</p:sp>
      <p:pic>
        <p:nvPicPr>
          <p:cNvPr id="12" name="Image 1" descr="3c0be2e2.png">
            <a:extLst>
              <a:ext uri="{FF2B5EF4-FFF2-40B4-BE49-F238E27FC236}">
                <a16:creationId xmlns:a16="http://schemas.microsoft.com/office/drawing/2014/main" id="{8EF2DF72-B7CA-CF2D-D74B-A517760722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3147" y="1653874"/>
            <a:ext cx="150019" cy="171450"/>
          </a:xfrm>
          <a:prstGeom prst="rect">
            <a:avLst/>
          </a:prstGeom>
        </p:spPr>
      </p:pic>
      <p:pic>
        <p:nvPicPr>
          <p:cNvPr id="14" name="Image 2" descr="-664449e.png">
            <a:extLst>
              <a:ext uri="{FF2B5EF4-FFF2-40B4-BE49-F238E27FC236}">
                <a16:creationId xmlns:a16="http://schemas.microsoft.com/office/drawing/2014/main" id="{A1582877-2845-A03C-32D2-1A85967107C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1791"/>
          <a:stretch>
            <a:fillRect/>
          </a:stretch>
        </p:blipFill>
        <p:spPr>
          <a:xfrm>
            <a:off x="3173866" y="1737590"/>
            <a:ext cx="1587953" cy="892969"/>
          </a:xfrm>
          <a:prstGeom prst="rect">
            <a:avLst/>
          </a:prstGeom>
        </p:spPr>
      </p:pic>
      <p:sp>
        <p:nvSpPr>
          <p:cNvPr id="16" name="Text 5">
            <a:extLst>
              <a:ext uri="{FF2B5EF4-FFF2-40B4-BE49-F238E27FC236}">
                <a16:creationId xmlns:a16="http://schemas.microsoft.com/office/drawing/2014/main" id="{8D275D42-FC06-CB3B-ED05-1FDA82A995D0}"/>
              </a:ext>
            </a:extLst>
          </p:cNvPr>
          <p:cNvSpPr/>
          <p:nvPr/>
        </p:nvSpPr>
        <p:spPr>
          <a:xfrm>
            <a:off x="3380355" y="2023786"/>
            <a:ext cx="1300163" cy="3949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N2</a:t>
            </a:r>
            <a:br>
              <a:rPr lang="en-US" sz="1350" kern="0" spc="-81"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Administrado</a:t>
            </a:r>
            <a:r>
              <a:rPr lang="en-US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10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Estandarizado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>
              <a:latin typeface="Reddit Sans"/>
              <a:ea typeface="Reddit Sans"/>
            </a:endParaRPr>
          </a:p>
        </p:txBody>
      </p:sp>
      <p:sp>
        <p:nvSpPr>
          <p:cNvPr id="19" name="Shape 7">
            <a:extLst>
              <a:ext uri="{FF2B5EF4-FFF2-40B4-BE49-F238E27FC236}">
                <a16:creationId xmlns:a16="http://schemas.microsoft.com/office/drawing/2014/main" id="{F311DA5D-85F9-EF7E-0DBC-696CBCB217F4}"/>
              </a:ext>
            </a:extLst>
          </p:cNvPr>
          <p:cNvSpPr/>
          <p:nvPr/>
        </p:nvSpPr>
        <p:spPr>
          <a:xfrm>
            <a:off x="3922599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75A3"/>
            </a:solidFill>
            <a:prstDash val="solid"/>
            <a:miter lim="800000"/>
          </a:ln>
        </p:spPr>
      </p:sp>
      <p:pic>
        <p:nvPicPr>
          <p:cNvPr id="21" name="Image 3" descr="327946a2.png">
            <a:extLst>
              <a:ext uri="{FF2B5EF4-FFF2-40B4-BE49-F238E27FC236}">
                <a16:creationId xmlns:a16="http://schemas.microsoft.com/office/drawing/2014/main" id="{89AAF305-04C7-A7A6-1B1E-572C4489F8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39452" y="1654921"/>
            <a:ext cx="128588" cy="164306"/>
          </a:xfrm>
          <a:prstGeom prst="rect">
            <a:avLst/>
          </a:prstGeom>
        </p:spPr>
      </p:pic>
      <p:pic>
        <p:nvPicPr>
          <p:cNvPr id="23" name="Image 4" descr="-63bd839e.png">
            <a:extLst>
              <a:ext uri="{FF2B5EF4-FFF2-40B4-BE49-F238E27FC236}">
                <a16:creationId xmlns:a16="http://schemas.microsoft.com/office/drawing/2014/main" id="{097DBBD1-C1FE-AD50-E484-99B251D98CA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11791"/>
          <a:stretch>
            <a:fillRect/>
          </a:stretch>
        </p:blipFill>
        <p:spPr>
          <a:xfrm>
            <a:off x="4586288" y="1737590"/>
            <a:ext cx="1587953" cy="892969"/>
          </a:xfrm>
          <a:prstGeom prst="rect">
            <a:avLst/>
          </a:prstGeom>
        </p:spPr>
      </p:pic>
      <p:sp>
        <p:nvSpPr>
          <p:cNvPr id="25" name="Text 8">
            <a:extLst>
              <a:ext uri="{FF2B5EF4-FFF2-40B4-BE49-F238E27FC236}">
                <a16:creationId xmlns:a16="http://schemas.microsoft.com/office/drawing/2014/main" id="{8819F641-ED11-F5E7-B494-AD9088894EB1}"/>
              </a:ext>
            </a:extLst>
          </p:cNvPr>
          <p:cNvSpPr/>
          <p:nvPr/>
        </p:nvSpPr>
        <p:spPr>
          <a:xfrm>
            <a:off x="4819991" y="2022257"/>
            <a:ext cx="13001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N3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Definido</a:t>
            </a:r>
            <a:r>
              <a:rPr lang="en-US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endParaRPr lang="en-US" sz="1000" err="1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10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Proactivo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>
              <a:latin typeface="Reddit Sans"/>
              <a:ea typeface="Reddit Sans"/>
            </a:endParaRPr>
          </a:p>
        </p:txBody>
      </p:sp>
      <p:sp>
        <p:nvSpPr>
          <p:cNvPr id="28" name="Shape 10">
            <a:extLst>
              <a:ext uri="{FF2B5EF4-FFF2-40B4-BE49-F238E27FC236}">
                <a16:creationId xmlns:a16="http://schemas.microsoft.com/office/drawing/2014/main" id="{E9735C04-2AAB-A364-8A0B-4AAFAA048837}"/>
              </a:ext>
            </a:extLst>
          </p:cNvPr>
          <p:cNvSpPr/>
          <p:nvPr/>
        </p:nvSpPr>
        <p:spPr>
          <a:xfrm>
            <a:off x="5318692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46086"/>
            </a:solidFill>
            <a:prstDash val="solid"/>
            <a:miter lim="800000"/>
          </a:ln>
        </p:spPr>
      </p:sp>
      <p:pic>
        <p:nvPicPr>
          <p:cNvPr id="31" name="Image 5" descr="-26c90fde.png">
            <a:extLst>
              <a:ext uri="{FF2B5EF4-FFF2-40B4-BE49-F238E27FC236}">
                <a16:creationId xmlns:a16="http://schemas.microsoft.com/office/drawing/2014/main" id="{DB1CF924-B9A3-50B7-8B36-3EFDC47640B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9385" y="1649689"/>
            <a:ext cx="178594" cy="178594"/>
          </a:xfrm>
          <a:prstGeom prst="rect">
            <a:avLst/>
          </a:prstGeom>
        </p:spPr>
      </p:pic>
      <p:pic>
        <p:nvPicPr>
          <p:cNvPr id="33" name="Image 6" descr="-5a47b8de.png">
            <a:extLst>
              <a:ext uri="{FF2B5EF4-FFF2-40B4-BE49-F238E27FC236}">
                <a16:creationId xmlns:a16="http://schemas.microsoft.com/office/drawing/2014/main" id="{D2B6653F-E423-32E1-9D6C-0D06F169B9B9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11791"/>
          <a:stretch>
            <a:fillRect/>
          </a:stretch>
        </p:blipFill>
        <p:spPr>
          <a:xfrm>
            <a:off x="5998709" y="1737590"/>
            <a:ext cx="1587953" cy="892969"/>
          </a:xfrm>
          <a:prstGeom prst="rect">
            <a:avLst/>
          </a:prstGeom>
        </p:spPr>
      </p:pic>
      <p:sp>
        <p:nvSpPr>
          <p:cNvPr id="35" name="Text 11">
            <a:extLst>
              <a:ext uri="{FF2B5EF4-FFF2-40B4-BE49-F238E27FC236}">
                <a16:creationId xmlns:a16="http://schemas.microsoft.com/office/drawing/2014/main" id="{2ED1896B-6CEA-F362-6EF4-FC81D471FCA4}"/>
              </a:ext>
            </a:extLst>
          </p:cNvPr>
          <p:cNvSpPr/>
          <p:nvPr/>
        </p:nvSpPr>
        <p:spPr>
          <a:xfrm>
            <a:off x="6194312" y="2023786"/>
            <a:ext cx="1300163" cy="3949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N4</a:t>
            </a:r>
            <a:br>
              <a:rPr lang="en-US" sz="1350" kern="0" spc="-81"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Cuantitativo</a:t>
            </a:r>
            <a:r>
              <a:rPr lang="en-US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endParaRPr lang="en-US" sz="1000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10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Predictivo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>
              <a:latin typeface="Reddit Sans"/>
              <a:ea typeface="Reddit Sans"/>
            </a:endParaRPr>
          </a:p>
        </p:txBody>
      </p:sp>
      <p:sp>
        <p:nvSpPr>
          <p:cNvPr id="37" name="Shape 13">
            <a:extLst>
              <a:ext uri="{FF2B5EF4-FFF2-40B4-BE49-F238E27FC236}">
                <a16:creationId xmlns:a16="http://schemas.microsoft.com/office/drawing/2014/main" id="{3EF448C5-3034-AA2D-ED42-2518C9EF93E7}"/>
              </a:ext>
            </a:extLst>
          </p:cNvPr>
          <p:cNvSpPr/>
          <p:nvPr/>
        </p:nvSpPr>
        <p:spPr>
          <a:xfrm>
            <a:off x="6731113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F4A68"/>
            </a:solidFill>
            <a:prstDash val="solid"/>
            <a:miter lim="800000"/>
          </a:ln>
        </p:spPr>
      </p:sp>
      <p:pic>
        <p:nvPicPr>
          <p:cNvPr id="39" name="Image 7" descr="-38c1a09e.png">
            <a:extLst>
              <a:ext uri="{FF2B5EF4-FFF2-40B4-BE49-F238E27FC236}">
                <a16:creationId xmlns:a16="http://schemas.microsoft.com/office/drawing/2014/main" id="{F396E1C1-A8CE-901C-95AC-22936F3A8F7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38549" y="1676896"/>
            <a:ext cx="142875" cy="121444"/>
          </a:xfrm>
          <a:prstGeom prst="rect">
            <a:avLst/>
          </a:prstGeom>
        </p:spPr>
      </p:pic>
      <p:pic>
        <p:nvPicPr>
          <p:cNvPr id="41" name="Image 8" descr="213ef762.png">
            <a:extLst>
              <a:ext uri="{FF2B5EF4-FFF2-40B4-BE49-F238E27FC236}">
                <a16:creationId xmlns:a16="http://schemas.microsoft.com/office/drawing/2014/main" id="{5F70A49D-A042-9267-5520-7A9BFD59D08D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11489"/>
          <a:stretch>
            <a:fillRect/>
          </a:stretch>
        </p:blipFill>
        <p:spPr>
          <a:xfrm>
            <a:off x="7405687" y="1737590"/>
            <a:ext cx="1593396" cy="892969"/>
          </a:xfrm>
          <a:prstGeom prst="rect">
            <a:avLst/>
          </a:prstGeom>
        </p:spPr>
      </p:pic>
      <p:sp>
        <p:nvSpPr>
          <p:cNvPr id="43" name="Text 14">
            <a:extLst>
              <a:ext uri="{FF2B5EF4-FFF2-40B4-BE49-F238E27FC236}">
                <a16:creationId xmlns:a16="http://schemas.microsoft.com/office/drawing/2014/main" id="{903377EE-A204-8525-2591-F8E74F4C0951}"/>
              </a:ext>
            </a:extLst>
          </p:cNvPr>
          <p:cNvSpPr/>
          <p:nvPr/>
        </p:nvSpPr>
        <p:spPr>
          <a:xfrm>
            <a:off x="7672048" y="2022257"/>
            <a:ext cx="13001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N5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Optimizado</a:t>
            </a:r>
            <a:r>
              <a:rPr lang="en-US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(</a:t>
            </a:r>
            <a:r>
              <a:rPr lang="en-US" sz="1000" kern="0" spc="-81" err="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Autonomo</a:t>
            </a:r>
            <a:r>
              <a:rPr lang="en-US" sz="100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 err="1">
              <a:latin typeface="Reddit Sans"/>
              <a:ea typeface="Reddit Sans"/>
            </a:endParaRPr>
          </a:p>
        </p:txBody>
      </p:sp>
      <p:sp>
        <p:nvSpPr>
          <p:cNvPr id="45" name="Shape 16">
            <a:extLst>
              <a:ext uri="{FF2B5EF4-FFF2-40B4-BE49-F238E27FC236}">
                <a16:creationId xmlns:a16="http://schemas.microsoft.com/office/drawing/2014/main" id="{E19CC8D3-4053-57DD-6225-E9BC171FB24F}"/>
              </a:ext>
            </a:extLst>
          </p:cNvPr>
          <p:cNvSpPr/>
          <p:nvPr/>
        </p:nvSpPr>
        <p:spPr>
          <a:xfrm>
            <a:off x="8116320" y="1558996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chemeClr val="accent5">
                <a:lumMod val="40000"/>
                <a:lumOff val="60000"/>
              </a:schemeClr>
            </a:solidFill>
            <a:prstDash val="solid"/>
            <a:miter lim="800000"/>
          </a:ln>
        </p:spPr>
      </p:sp>
      <p:pic>
        <p:nvPicPr>
          <p:cNvPr id="47" name="Image 9" descr="0-42f65e.png">
            <a:extLst>
              <a:ext uri="{FF2B5EF4-FFF2-40B4-BE49-F238E27FC236}">
                <a16:creationId xmlns:a16="http://schemas.microsoft.com/office/drawing/2014/main" id="{EF30B9F6-D122-74A9-CB1D-5FA2EFD46A4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19570" y="1664340"/>
            <a:ext cx="150019" cy="150019"/>
          </a:xfrm>
          <a:prstGeom prst="rect">
            <a:avLst/>
          </a:prstGeom>
        </p:spPr>
      </p:pic>
      <p:pic>
        <p:nvPicPr>
          <p:cNvPr id="49" name="Image 2" descr="-664449e.png">
            <a:extLst>
              <a:ext uri="{FF2B5EF4-FFF2-40B4-BE49-F238E27FC236}">
                <a16:creationId xmlns:a16="http://schemas.microsoft.com/office/drawing/2014/main" id="{F61E15C5-C1B7-5717-48D6-6A9F268CDE0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1791"/>
          <a:stretch>
            <a:fillRect/>
          </a:stretch>
        </p:blipFill>
        <p:spPr>
          <a:xfrm>
            <a:off x="1769609" y="1737590"/>
            <a:ext cx="1587953" cy="892969"/>
          </a:xfrm>
          <a:prstGeom prst="rect">
            <a:avLst/>
          </a:prstGeom>
        </p:spPr>
      </p:pic>
      <p:sp>
        <p:nvSpPr>
          <p:cNvPr id="51" name="Shape 7">
            <a:extLst>
              <a:ext uri="{FF2B5EF4-FFF2-40B4-BE49-F238E27FC236}">
                <a16:creationId xmlns:a16="http://schemas.microsoft.com/office/drawing/2014/main" id="{F7C4A675-DBE4-E8F0-463F-AEF61CBEE550}"/>
              </a:ext>
            </a:extLst>
          </p:cNvPr>
          <p:cNvSpPr/>
          <p:nvPr/>
        </p:nvSpPr>
        <p:spPr>
          <a:xfrm>
            <a:off x="2387713" y="1537224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875A3"/>
            </a:solidFill>
            <a:prstDash val="solid"/>
            <a:miter lim="800000"/>
          </a:ln>
        </p:spPr>
      </p:sp>
      <p:pic>
        <p:nvPicPr>
          <p:cNvPr id="53" name="Image 3" descr="327946a2.png">
            <a:extLst>
              <a:ext uri="{FF2B5EF4-FFF2-40B4-BE49-F238E27FC236}">
                <a16:creationId xmlns:a16="http://schemas.microsoft.com/office/drawing/2014/main" id="{F1C21463-EA58-3108-134A-8037AFA278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4566" y="1633149"/>
            <a:ext cx="128588" cy="164306"/>
          </a:xfrm>
          <a:prstGeom prst="rect">
            <a:avLst/>
          </a:prstGeom>
        </p:spPr>
      </p:pic>
      <p:sp>
        <p:nvSpPr>
          <p:cNvPr id="56" name="Text 2">
            <a:extLst>
              <a:ext uri="{FF2B5EF4-FFF2-40B4-BE49-F238E27FC236}">
                <a16:creationId xmlns:a16="http://schemas.microsoft.com/office/drawing/2014/main" id="{B1C886E2-3106-45EE-9F68-BCD9BBE6C2FD}"/>
              </a:ext>
            </a:extLst>
          </p:cNvPr>
          <p:cNvSpPr/>
          <p:nvPr/>
        </p:nvSpPr>
        <p:spPr>
          <a:xfrm>
            <a:off x="1846148" y="1989600"/>
            <a:ext cx="1514475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N1 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350" kern="0" spc="-81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Inicial</a:t>
            </a:r>
            <a:r>
              <a:rPr lang="en-US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 </a:t>
            </a:r>
            <a:endParaRPr lang="en-US" sz="1000" err="1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sz="10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(Ad-hoc/ </a:t>
            </a:r>
            <a:r>
              <a:rPr lang="en-US" sz="1000" kern="0" spc="-81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Reactivo</a:t>
            </a:r>
            <a:r>
              <a:rPr lang="en-US" sz="100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)</a:t>
            </a:r>
            <a:endParaRPr lang="en-US" sz="1000">
              <a:latin typeface="Reddit Sans"/>
              <a:ea typeface="Reddit Sans"/>
            </a:endParaRPr>
          </a:p>
        </p:txBody>
      </p:sp>
      <p:sp>
        <p:nvSpPr>
          <p:cNvPr id="60" name="Text 2">
            <a:extLst>
              <a:ext uri="{FF2B5EF4-FFF2-40B4-BE49-F238E27FC236}">
                <a16:creationId xmlns:a16="http://schemas.microsoft.com/office/drawing/2014/main" id="{4D3FF078-130B-5832-985C-9EE82C25E355}"/>
              </a:ext>
            </a:extLst>
          </p:cNvPr>
          <p:cNvSpPr/>
          <p:nvPr/>
        </p:nvSpPr>
        <p:spPr>
          <a:xfrm>
            <a:off x="420118" y="2022256"/>
            <a:ext cx="1509033" cy="55124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N0</a:t>
            </a:r>
            <a:endParaRPr lang="en-US" sz="1013">
              <a:solidFill>
                <a:srgbClr val="000000"/>
              </a:solidFill>
              <a:latin typeface="Reddit Sans"/>
              <a:ea typeface="Reddit Sans"/>
              <a:cs typeface="Inter SemiBold" pitchFamily="34" charset="-120"/>
            </a:endParaRPr>
          </a:p>
          <a:p>
            <a:pPr algn="ctr">
              <a:lnSpc>
                <a:spcPts val="1556"/>
              </a:lnSpc>
            </a:pPr>
            <a:r>
              <a:rPr lang="en-US" kern="0" spc="-81" err="1">
                <a:solidFill>
                  <a:srgbClr val="333333"/>
                </a:solidFill>
                <a:latin typeface="Reddit Sans"/>
                <a:ea typeface="Reddit Sans"/>
              </a:rPr>
              <a:t>Autoservicio</a:t>
            </a:r>
            <a:r>
              <a:rPr lang="en-US" kern="0" spc="-81">
                <a:solidFill>
                  <a:srgbClr val="333333"/>
                </a:solidFill>
                <a:latin typeface="Reddit Sans"/>
                <a:ea typeface="Reddit Sans"/>
              </a:rPr>
              <a:t> </a:t>
            </a:r>
          </a:p>
          <a:p>
            <a:pPr algn="ctr">
              <a:lnSpc>
                <a:spcPts val="1556"/>
              </a:lnSpc>
            </a:pPr>
            <a:r>
              <a:rPr lang="en-US" sz="1000" kern="0" spc="-81">
                <a:solidFill>
                  <a:srgbClr val="333333"/>
                </a:solidFill>
                <a:latin typeface="Reddit Sans"/>
                <a:ea typeface="Reddit Sans"/>
              </a:rPr>
              <a:t>(Base de </a:t>
            </a:r>
            <a:r>
              <a:rPr lang="en-US" sz="1000" kern="0" spc="-81" err="1">
                <a:solidFill>
                  <a:srgbClr val="333333"/>
                </a:solidFill>
                <a:latin typeface="Reddit Sans"/>
                <a:ea typeface="Reddit Sans"/>
              </a:rPr>
              <a:t>Conocimiento</a:t>
            </a:r>
            <a:r>
              <a:rPr lang="en-US" sz="1000" kern="0" spc="-81">
                <a:solidFill>
                  <a:srgbClr val="333333"/>
                </a:solidFill>
                <a:latin typeface="Reddit Sans"/>
                <a:ea typeface="Reddit Sans"/>
              </a:rPr>
              <a:t>)</a:t>
            </a:r>
            <a:endParaRPr lang="en-US"/>
          </a:p>
        </p:txBody>
      </p:sp>
      <p:sp>
        <p:nvSpPr>
          <p:cNvPr id="64" name="CuadroTexto 63">
            <a:extLst>
              <a:ext uri="{FF2B5EF4-FFF2-40B4-BE49-F238E27FC236}">
                <a16:creationId xmlns:a16="http://schemas.microsoft.com/office/drawing/2014/main" id="{37FE7B86-FD12-E2EA-3CA6-6E8E7B52B529}"/>
              </a:ext>
            </a:extLst>
          </p:cNvPr>
          <p:cNvSpPr txBox="1"/>
          <p:nvPr/>
        </p:nvSpPr>
        <p:spPr>
          <a:xfrm>
            <a:off x="375558" y="3638550"/>
            <a:ext cx="1453243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/>
            <a:r>
              <a:rPr lang="es-ES" sz="600" b="1" i="0" u="none" strike="noStrike" baseline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N0: </a:t>
            </a:r>
            <a:r>
              <a:rPr lang="es-ES" sz="600" b="1" i="0" u="none" strike="noStrike" baseline="0" err="1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Banking</a:t>
            </a:r>
            <a:r>
              <a:rPr lang="es-ES" sz="600" b="1" i="0" u="none" strike="noStrike" baseline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 </a:t>
            </a:r>
            <a:r>
              <a:rPr lang="es-ES" sz="600" b="1" i="0" u="none" strike="noStrike" baseline="0" err="1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solution</a:t>
            </a:r>
            <a:r>
              <a:rPr lang="en-US" sz="6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  <a:endParaRPr lang="es-ES"/>
          </a:p>
          <a:p>
            <a:pPr algn="l" rtl="0"/>
            <a:r>
              <a:rPr lang="es-ES" sz="600" b="0" i="0" u="none" strike="noStrike" baseline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Radar para temas regulatorios del estado, ministerios (XM). </a:t>
            </a:r>
            <a:r>
              <a:rPr lang="es-ES" sz="600" b="0" i="0" u="none" strike="noStrike" baseline="0" err="1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Multi-industria</a:t>
            </a:r>
            <a:r>
              <a:rPr lang="es-ES" sz="600" b="0" i="0" u="none" strike="noStrike" baseline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 con bases de conocimiento que la hacen especializada.</a:t>
            </a:r>
            <a:r>
              <a:rPr lang="en-US" sz="6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/>
            <a:r>
              <a:rPr lang="es-ES" sz="600" b="0" i="0" u="none" strike="noStrike" baseline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Anticipar eventos y radar para </a:t>
            </a:r>
            <a:r>
              <a:rPr lang="es-ES" sz="600" b="0" i="0" u="none" strike="noStrike" baseline="0" err="1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compomientos</a:t>
            </a:r>
            <a:r>
              <a:rPr lang="es-ES" sz="600" b="0" i="0" u="none" strike="noStrike" baseline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 inusuales</a:t>
            </a:r>
          </a:p>
        </p:txBody>
      </p:sp>
    </p:spTree>
    <p:extLst>
      <p:ext uri="{BB962C8B-B14F-4D97-AF65-F5344CB8AC3E}">
        <p14:creationId xmlns:p14="http://schemas.microsoft.com/office/powerpoint/2010/main" val="411635309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29403F-FC2E-D77A-0F0C-103BCFB5B29D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6"/>
          </a:solidFill>
        </p:spPr>
        <p:txBody>
          <a:bodyPr/>
          <a:lstStyle/>
          <a:p>
            <a:r>
              <a:rPr lang="es-ES"/>
              <a:t>RFP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343381A-04EF-0DFB-1C88-4B5EAC50A922}"/>
              </a:ext>
            </a:extLst>
          </p:cNvPr>
          <p:cNvSpPr txBox="1"/>
          <p:nvPr/>
        </p:nvSpPr>
        <p:spPr>
          <a:xfrm>
            <a:off x="471066" y="2444958"/>
            <a:ext cx="1475014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>
                <a:highlight>
                  <a:srgbClr val="FFFF00"/>
                </a:highlight>
              </a:rPr>
              <a:t>Un servicio pequeño para responder a una capacidad pequeña, y supera la barrera de entrada.  por un tiempo x si el otro proveedor se desbordo en </a:t>
            </a:r>
            <a:r>
              <a:rPr lang="es-ES" sz="800" err="1">
                <a:highlight>
                  <a:srgbClr val="FFFF00"/>
                </a:highlight>
              </a:rPr>
              <a:t>capacid</a:t>
            </a:r>
            <a:r>
              <a:rPr lang="es-ES" sz="800">
                <a:highlight>
                  <a:srgbClr val="FFFF00"/>
                </a:highlight>
              </a:rPr>
              <a:t>ad.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872723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4">
            <a:extLst>
              <a:ext uri="{FF2B5EF4-FFF2-40B4-BE49-F238E27FC236}">
                <a16:creationId xmlns:a16="http://schemas.microsoft.com/office/drawing/2014/main" id="{CB511400-F229-BAC6-42B8-ECED4C310BC8}"/>
              </a:ext>
            </a:extLst>
          </p:cNvPr>
          <p:cNvSpPr/>
          <p:nvPr/>
        </p:nvSpPr>
        <p:spPr>
          <a:xfrm>
            <a:off x="351745" y="1675381"/>
            <a:ext cx="2053829" cy="2648630"/>
          </a:xfrm>
          <a:prstGeom prst="rect">
            <a:avLst/>
          </a:prstGeom>
          <a:solidFill>
            <a:srgbClr val="4ACCE8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1" name="Shape 7">
            <a:extLst>
              <a:ext uri="{FF2B5EF4-FFF2-40B4-BE49-F238E27FC236}">
                <a16:creationId xmlns:a16="http://schemas.microsoft.com/office/drawing/2014/main" id="{07ACC083-B532-C457-72C8-86F96CE7FDDB}"/>
              </a:ext>
            </a:extLst>
          </p:cNvPr>
          <p:cNvSpPr/>
          <p:nvPr/>
        </p:nvSpPr>
        <p:spPr>
          <a:xfrm>
            <a:off x="2477011" y="1675381"/>
            <a:ext cx="2053829" cy="2648630"/>
          </a:xfrm>
          <a:prstGeom prst="rect">
            <a:avLst/>
          </a:prstGeom>
          <a:solidFill>
            <a:srgbClr val="5CC0EA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3" name="Shape 10">
            <a:extLst>
              <a:ext uri="{FF2B5EF4-FFF2-40B4-BE49-F238E27FC236}">
                <a16:creationId xmlns:a16="http://schemas.microsoft.com/office/drawing/2014/main" id="{4503163C-1193-FB3F-F6BA-CD9C1B36622F}"/>
              </a:ext>
            </a:extLst>
          </p:cNvPr>
          <p:cNvSpPr/>
          <p:nvPr/>
        </p:nvSpPr>
        <p:spPr>
          <a:xfrm>
            <a:off x="4602277" y="1675381"/>
            <a:ext cx="2053829" cy="2648630"/>
          </a:xfrm>
          <a:prstGeom prst="rect">
            <a:avLst/>
          </a:prstGeom>
          <a:solidFill>
            <a:srgbClr val="6FB3ED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5" name="Shape 13">
            <a:extLst>
              <a:ext uri="{FF2B5EF4-FFF2-40B4-BE49-F238E27FC236}">
                <a16:creationId xmlns:a16="http://schemas.microsoft.com/office/drawing/2014/main" id="{A6ABB46D-CA31-1415-F77A-E18E693F3262}"/>
              </a:ext>
            </a:extLst>
          </p:cNvPr>
          <p:cNvSpPr/>
          <p:nvPr/>
        </p:nvSpPr>
        <p:spPr>
          <a:xfrm>
            <a:off x="6727543" y="1675381"/>
            <a:ext cx="2053829" cy="2648630"/>
          </a:xfrm>
          <a:prstGeom prst="rect">
            <a:avLst/>
          </a:prstGeom>
          <a:solidFill>
            <a:srgbClr val="81A7EF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7445FDA1-29EC-4E5B-95DF-C2143677E632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650" b="1">
                <a:solidFill>
                  <a:srgbClr val="0C2362"/>
                </a:solidFill>
              </a:defRPr>
            </a:pP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Catálogo Modular de Servicios</a:t>
            </a:r>
            <a:endParaRPr lang="es-ES" sz="1000">
              <a:latin typeface="Reddit Sans"/>
              <a:ea typeface="Reddit Sans"/>
            </a:endParaRP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BC32E812-1E96-4B8F-BDAB-AE226E591314}"/>
              </a:ext>
            </a:extLst>
          </p:cNvPr>
          <p:cNvSpPr>
            <a:spLocks noGrp="1"/>
          </p:cNvSpPr>
          <p:nvPr/>
        </p:nvSpPr>
        <p:spPr>
          <a:xfrm>
            <a:off x="334736" y="695325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defTabSz="685800" fontAlgn="ctr">
              <a:lnSpc>
                <a:spcPts val="1406"/>
              </a:lnSpc>
              <a:defRPr sz="1050" b="0">
                <a:solidFill>
                  <a:srgbClr val="9AAEE0"/>
                </a:solidFill>
              </a:defRPr>
            </a:pP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Una base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gestionada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más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capacidades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inmersas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y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servicios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complementarios</a:t>
            </a:r>
            <a:endParaRPr lang="es-ES" sz="1000" spc="-25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C8AD8619-10B5-4238-9B73-346B04B397C6}"/>
              </a:ext>
            </a:extLst>
          </p:cNvPr>
          <p:cNvSpPr>
            <a:spLocks noGrp="1"/>
          </p:cNvSpPr>
          <p:nvPr/>
        </p:nvSpPr>
        <p:spPr>
          <a:xfrm>
            <a:off x="601435" y="2294165"/>
            <a:ext cx="1504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050" b="1">
                <a:solidFill>
                  <a:srgbClr val="163B8C"/>
                </a:solidFill>
              </a:defRPr>
            </a:pPr>
            <a:r>
              <a:rPr sz="1200" b="1">
                <a:solidFill>
                  <a:srgbClr val="0C0C0C"/>
                </a:solidFill>
                <a:latin typeface="Reddit Sans"/>
                <a:ea typeface="Reddit Sans"/>
              </a:rPr>
              <a:t>Base </a:t>
            </a:r>
            <a:r>
              <a:rPr lang="es-ES" sz="1200" b="1" err="1">
                <a:solidFill>
                  <a:srgbClr val="0C0C0C"/>
                </a:solidFill>
                <a:latin typeface="Reddit Sans"/>
                <a:ea typeface="Reddit Sans"/>
              </a:rPr>
              <a:t>Operativa</a:t>
            </a:r>
            <a:endParaRPr lang="es-ES" sz="1200" b="1">
              <a:solidFill>
                <a:srgbClr val="0C0C0C"/>
              </a:solidFill>
              <a:latin typeface="Reddit Sans"/>
              <a:ea typeface="Reddit Sans"/>
            </a:endParaRP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B46911AD-3B4A-490F-9268-24A2545FBB20}"/>
              </a:ext>
            </a:extLst>
          </p:cNvPr>
          <p:cNvSpPr>
            <a:spLocks noGrp="1"/>
          </p:cNvSpPr>
          <p:nvPr/>
        </p:nvSpPr>
        <p:spPr>
          <a:xfrm>
            <a:off x="601436" y="3325586"/>
            <a:ext cx="1504950" cy="6912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Punto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único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de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contacto</a:t>
            </a:r>
            <a:endParaRPr lang="es-ES" sz="800" err="1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Gestión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de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incidentes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Gestión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de solicitudes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ANS/SLA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por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prioridad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Reporte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mensual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D98BAD0B-EB72-4DFE-9B81-AB5F6B1AE321}"/>
              </a:ext>
            </a:extLst>
          </p:cNvPr>
          <p:cNvSpPr>
            <a:spLocks noGrp="1"/>
          </p:cNvSpPr>
          <p:nvPr/>
        </p:nvSpPr>
        <p:spPr>
          <a:xfrm>
            <a:off x="2770413" y="2294165"/>
            <a:ext cx="1504950" cy="38372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050" b="1">
                <a:solidFill>
                  <a:srgbClr val="087B83"/>
                </a:solidFill>
              </a:defRPr>
            </a:pPr>
            <a:r>
              <a:rPr sz="1200" b="1" err="1">
                <a:solidFill>
                  <a:srgbClr val="0C0C0C"/>
                </a:solidFill>
                <a:latin typeface="Reddit Sans"/>
                <a:ea typeface="Reddit Sans"/>
              </a:rPr>
              <a:t>Capacidades</a:t>
            </a:r>
            <a:r>
              <a:rPr sz="1200" b="1">
                <a:solidFill>
                  <a:srgbClr val="0C0C0C"/>
                </a:solidFill>
                <a:latin typeface="Reddit Sans"/>
                <a:ea typeface="Reddit Sans"/>
              </a:rPr>
              <a:t> Next</a:t>
            </a:r>
            <a:r>
              <a:rPr lang="es-ES" sz="1200" b="1">
                <a:solidFill>
                  <a:srgbClr val="0C0C0C"/>
                </a:solidFill>
                <a:latin typeface="Reddit Sans"/>
                <a:ea typeface="Reddit Sans"/>
              </a:rPr>
              <a:t> Gen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69B008AD-B51F-4765-BB05-C041ECA5211F}"/>
              </a:ext>
            </a:extLst>
          </p:cNvPr>
          <p:cNvSpPr>
            <a:spLocks noGrp="1"/>
          </p:cNvSpPr>
          <p:nvPr/>
        </p:nvSpPr>
        <p:spPr>
          <a:xfrm>
            <a:off x="2775857" y="3369129"/>
            <a:ext cx="1499508" cy="8218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Portal N0 y agente virtual</a:t>
            </a:r>
            <a:endParaRPr lang="es-ES" sz="800">
              <a:solidFill>
                <a:srgbClr val="595959"/>
              </a:solidFill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KEDB/KCS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Agent assist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AIOps y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observabilidad</a:t>
            </a:r>
            <a:endParaRPr sz="800" b="0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SLA + XLA + DEX</a:t>
            </a:r>
            <a:endParaRPr lang="es-ES" sz="800" b="0">
              <a:solidFill>
                <a:srgbClr val="595959"/>
              </a:solidFill>
              <a:latin typeface="Reddit Sans"/>
              <a:ea typeface="Reddit Sans"/>
            </a:endParaRP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87B05ABA-D5CF-44AA-A0AB-6F671F7283F3}"/>
              </a:ext>
            </a:extLst>
          </p:cNvPr>
          <p:cNvSpPr>
            <a:spLocks noGrp="1"/>
          </p:cNvSpPr>
          <p:nvPr/>
        </p:nvSpPr>
        <p:spPr>
          <a:xfrm>
            <a:off x="4906735" y="2294165"/>
            <a:ext cx="1504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050" b="1">
                <a:solidFill>
                  <a:srgbClr val="20835A"/>
                </a:solidFill>
              </a:defRPr>
            </a:pPr>
            <a:r>
              <a:rPr sz="1200" b="1" err="1">
                <a:solidFill>
                  <a:srgbClr val="0C0C0C"/>
                </a:solidFill>
                <a:latin typeface="Reddit Sans"/>
                <a:ea typeface="Reddit Sans"/>
              </a:rPr>
              <a:t>Servicios</a:t>
            </a:r>
            <a:r>
              <a:rPr lang="es-ES" sz="1200" b="1">
                <a:solidFill>
                  <a:srgbClr val="0C0C0C"/>
                </a:solidFill>
                <a:latin typeface="Reddit Sans"/>
                <a:ea typeface="Reddit Sans"/>
              </a:rPr>
              <a:t> </a:t>
            </a:r>
            <a:r>
              <a:rPr lang="es-ES" sz="1200" b="1" err="1">
                <a:solidFill>
                  <a:srgbClr val="0C0C0C"/>
                </a:solidFill>
                <a:latin typeface="Reddit Sans"/>
                <a:ea typeface="Reddit Sans"/>
              </a:rPr>
              <a:t>Inmersos</a:t>
            </a:r>
            <a:endParaRPr lang="es-ES" sz="1200" b="1">
              <a:solidFill>
                <a:srgbClr val="0C0C0C"/>
              </a:solidFill>
              <a:latin typeface="Reddit Sans"/>
              <a:ea typeface="Reddit Sans"/>
            </a:endParaRP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B489B904-18CD-43B6-978E-47C9F1181ABD}"/>
              </a:ext>
            </a:extLst>
          </p:cNvPr>
          <p:cNvSpPr>
            <a:spLocks noGrp="1"/>
          </p:cNvSpPr>
          <p:nvPr/>
        </p:nvSpPr>
        <p:spPr>
          <a:xfrm>
            <a:off x="4906735" y="3369129"/>
            <a:ext cx="1434193" cy="7728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RACI y gobierno</a:t>
            </a:r>
            <a:endParaRPr lang="es-ES" sz="800">
              <a:solidFill>
                <a:srgbClr val="595959"/>
              </a:solidFill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Catálogo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y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alcance</a:t>
            </a:r>
            <a:endParaRPr sz="800" b="0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Gestión</a:t>
            </a: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 de </a:t>
            </a:r>
            <a:r>
              <a:rPr sz="800" b="0" err="1">
                <a:solidFill>
                  <a:srgbClr val="595959"/>
                </a:solidFill>
                <a:latin typeface="Reddit Sans"/>
                <a:ea typeface="Reddit Sans"/>
              </a:rPr>
              <a:t>problemas</a:t>
            </a:r>
            <a:endParaRPr sz="800" b="0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Disponibilidad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Change enablement</a:t>
            </a:r>
            <a:endParaRPr sz="800">
              <a:solidFill>
                <a:srgbClr val="595959"/>
              </a:solidFill>
            </a:endParaRPr>
          </a:p>
          <a:p>
            <a:pPr marL="171450" indent="-171450">
              <a:buChar char="•"/>
              <a:defRPr sz="863" b="0">
                <a:solidFill>
                  <a:srgbClr val="172033"/>
                </a:solidFill>
              </a:defRPr>
            </a:pPr>
            <a:r>
              <a:rPr sz="800" b="0">
                <a:solidFill>
                  <a:srgbClr val="595959"/>
                </a:solidFill>
                <a:latin typeface="Reddit Sans"/>
                <a:ea typeface="Reddit Sans"/>
              </a:rPr>
              <a:t>Mejora continua</a:t>
            </a: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</a:p>
          <a:p>
            <a:pPr marL="171450" indent="-171450"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800">
                <a:solidFill>
                  <a:srgbClr val="595959"/>
                </a:solidFill>
                <a:latin typeface="Reddit Sans"/>
                <a:ea typeface="Reddit Sans"/>
              </a:rPr>
              <a:t>Evolutivos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A7B9178B-1F8D-456C-A96D-759C1FB56DFC}"/>
              </a:ext>
            </a:extLst>
          </p:cNvPr>
          <p:cNvSpPr>
            <a:spLocks noGrp="1"/>
          </p:cNvSpPr>
          <p:nvPr/>
        </p:nvSpPr>
        <p:spPr>
          <a:xfrm>
            <a:off x="7081156" y="2228851"/>
            <a:ext cx="1504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050" b="1">
                <a:solidFill>
                  <a:srgbClr val="D47A00"/>
                </a:solidFill>
              </a:defRPr>
            </a:pPr>
            <a:r>
              <a:rPr lang="es-ES" sz="1200" b="1">
                <a:solidFill>
                  <a:srgbClr val="0C0C0C"/>
                </a:solidFill>
                <a:latin typeface="Reddit Sans"/>
                <a:ea typeface="Reddit Sans"/>
              </a:rPr>
              <a:t>Servicios </a:t>
            </a:r>
            <a:r>
              <a:rPr sz="1200" b="1">
                <a:solidFill>
                  <a:srgbClr val="0C0C0C"/>
                </a:solidFill>
                <a:latin typeface="Reddit Sans"/>
                <a:ea typeface="Reddit Sans"/>
              </a:rPr>
              <a:t>Complementarios</a:t>
            </a:r>
            <a:endParaRPr lang="es-ES" sz="1200" b="1">
              <a:solidFill>
                <a:srgbClr val="0C0C0C"/>
              </a:solidFill>
              <a:latin typeface="Reddit Sans"/>
              <a:ea typeface="Reddit Sans"/>
            </a:endParaRP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A4377773-95C5-4298-9334-E2E6C731C576}"/>
              </a:ext>
            </a:extLst>
          </p:cNvPr>
          <p:cNvSpPr>
            <a:spLocks noGrp="1"/>
          </p:cNvSpPr>
          <p:nvPr/>
        </p:nvSpPr>
        <p:spPr>
          <a:xfrm>
            <a:off x="7043057" y="2770415"/>
            <a:ext cx="1624692" cy="119742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900" err="1">
                <a:solidFill>
                  <a:srgbClr val="595959"/>
                </a:solidFill>
                <a:highlight>
                  <a:srgbClr val="FFFF00"/>
                </a:highlight>
                <a:latin typeface="Reddit Sans"/>
                <a:ea typeface="Reddit Sans"/>
              </a:rPr>
              <a:t>Assessment</a:t>
            </a:r>
            <a:r>
              <a:rPr lang="es-ES" sz="900">
                <a:solidFill>
                  <a:srgbClr val="595959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del Nivel de Mesa de Servicio</a:t>
            </a:r>
          </a:p>
          <a:p>
            <a:pPr marL="171450" indent="-171450">
              <a:buChar char="•"/>
              <a:defRPr sz="863" b="0">
                <a:solidFill>
                  <a:srgbClr val="172033"/>
                </a:solidFill>
              </a:defRPr>
            </a:pPr>
            <a:r>
              <a:rPr sz="900" b="0" err="1">
                <a:solidFill>
                  <a:srgbClr val="595959"/>
                </a:solidFill>
                <a:latin typeface="Reddit Sans"/>
                <a:ea typeface="Reddit Sans"/>
              </a:rPr>
              <a:t>Modernización</a:t>
            </a:r>
            <a:r>
              <a:rPr sz="900" b="0">
                <a:solidFill>
                  <a:srgbClr val="595959"/>
                </a:solidFill>
                <a:latin typeface="Reddit Sans"/>
                <a:ea typeface="Reddit Sans"/>
              </a:rPr>
              <a:t> </a:t>
            </a:r>
            <a:r>
              <a:rPr lang="es-ES" sz="900">
                <a:solidFill>
                  <a:srgbClr val="595959"/>
                </a:solidFill>
                <a:latin typeface="Reddit Sans"/>
                <a:ea typeface="Reddit Sans"/>
              </a:rPr>
              <a:t>de aplicaciones</a:t>
            </a:r>
            <a:endParaRPr lang="es-ES"/>
          </a:p>
          <a:p>
            <a:pPr marL="171450" indent="-171450"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900">
                <a:solidFill>
                  <a:srgbClr val="595959"/>
                </a:solidFill>
                <a:latin typeface="Reddit Sans"/>
                <a:ea typeface="Reddit Sans"/>
              </a:rPr>
              <a:t>Seguridad</a:t>
            </a:r>
            <a:endParaRPr lang="es-ES" sz="900" b="0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595959"/>
                </a:solidFill>
                <a:latin typeface="Reddit Sans"/>
                <a:ea typeface="Reddit Sans"/>
              </a:rPr>
              <a:t>DevOps / </a:t>
            </a:r>
            <a:r>
              <a:rPr sz="900" b="0" err="1">
                <a:solidFill>
                  <a:srgbClr val="595959"/>
                </a:solidFill>
                <a:latin typeface="Reddit Sans"/>
                <a:ea typeface="Reddit Sans"/>
              </a:rPr>
              <a:t>automatización</a:t>
            </a:r>
            <a:endParaRPr sz="900" b="0">
              <a:solidFill>
                <a:srgbClr val="595959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595959"/>
                </a:solidFill>
                <a:latin typeface="Reddit Sans"/>
                <a:ea typeface="Reddit Sans"/>
              </a:rPr>
              <a:t>Performance engineering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900" b="0" err="1">
                <a:solidFill>
                  <a:srgbClr val="595959"/>
                </a:solidFill>
                <a:highlight>
                  <a:srgbClr val="FFFF00"/>
                </a:highlight>
                <a:latin typeface="Reddit Sans"/>
                <a:ea typeface="Reddit Sans"/>
              </a:rPr>
              <a:t>Gobierno</a:t>
            </a:r>
            <a:r>
              <a:rPr sz="900" b="0">
                <a:solidFill>
                  <a:srgbClr val="595959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de </a:t>
            </a:r>
            <a:r>
              <a:rPr sz="900" b="0" err="1">
                <a:solidFill>
                  <a:srgbClr val="595959"/>
                </a:solidFill>
                <a:highlight>
                  <a:srgbClr val="FFFF00"/>
                </a:highlight>
                <a:latin typeface="Reddit Sans"/>
                <a:ea typeface="Reddit Sans"/>
              </a:rPr>
              <a:t>datos</a:t>
            </a:r>
            <a:r>
              <a:rPr sz="900" b="0">
                <a:solidFill>
                  <a:srgbClr val="595959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e IA</a:t>
            </a:r>
          </a:p>
        </p:txBody>
      </p:sp>
      <p:sp>
        <p:nvSpPr>
          <p:cNvPr id="55" name="Shape 2">
            <a:extLst>
              <a:ext uri="{FF2B5EF4-FFF2-40B4-BE49-F238E27FC236}">
                <a16:creationId xmlns:a16="http://schemas.microsoft.com/office/drawing/2014/main" id="{69C95DC6-388A-6B8F-971A-B933C2E933F0}"/>
              </a:ext>
            </a:extLst>
          </p:cNvPr>
          <p:cNvSpPr/>
          <p:nvPr/>
        </p:nvSpPr>
        <p:spPr>
          <a:xfrm>
            <a:off x="346302" y="1078706"/>
            <a:ext cx="8429625" cy="520304"/>
          </a:xfrm>
          <a:prstGeom prst="rect">
            <a:avLst/>
          </a:prstGeom>
          <a:solidFill>
            <a:srgbClr val="22AAEE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D38E257A-0E3D-D50C-B766-757016C7109A}"/>
              </a:ext>
            </a:extLst>
          </p:cNvPr>
          <p:cNvSpPr/>
          <p:nvPr/>
        </p:nvSpPr>
        <p:spPr>
          <a:xfrm>
            <a:off x="3377094" y="1249339"/>
            <a:ext cx="2368042" cy="18104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26"/>
              </a:lnSpc>
            </a:pPr>
            <a:r>
              <a:rPr lang="en-US" sz="1238" kern="0" spc="-74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Arquitectura de Servicio Integral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59" name="Image 0" descr="-51c0485e.png">
            <a:extLst>
              <a:ext uri="{FF2B5EF4-FFF2-40B4-BE49-F238E27FC236}">
                <a16:creationId xmlns:a16="http://schemas.microsoft.com/office/drawing/2014/main" id="{02CE5549-DF29-9F01-69B9-302A1F81A7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402" y="1810439"/>
            <a:ext cx="257175" cy="285750"/>
          </a:xfrm>
          <a:prstGeom prst="rect">
            <a:avLst/>
          </a:prstGeom>
        </p:spPr>
      </p:pic>
      <p:pic>
        <p:nvPicPr>
          <p:cNvPr id="61" name="Image 1" descr="7a1d5e62.png">
            <a:extLst>
              <a:ext uri="{FF2B5EF4-FFF2-40B4-BE49-F238E27FC236}">
                <a16:creationId xmlns:a16="http://schemas.microsoft.com/office/drawing/2014/main" id="{C37A1F31-8948-26B7-BA87-929A1500CB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9214" y="1817144"/>
            <a:ext cx="300038" cy="300038"/>
          </a:xfrm>
          <a:prstGeom prst="rect">
            <a:avLst/>
          </a:prstGeom>
        </p:spPr>
      </p:pic>
      <p:pic>
        <p:nvPicPr>
          <p:cNvPr id="63" name="Image 2" descr="5fb69d22.png">
            <a:extLst>
              <a:ext uri="{FF2B5EF4-FFF2-40B4-BE49-F238E27FC236}">
                <a16:creationId xmlns:a16="http://schemas.microsoft.com/office/drawing/2014/main" id="{4ED6D8A5-149C-8D64-187D-5582CF4CA4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0552" y="1851472"/>
            <a:ext cx="300038" cy="264319"/>
          </a:xfrm>
          <a:prstGeom prst="rect">
            <a:avLst/>
          </a:prstGeom>
        </p:spPr>
      </p:pic>
      <p:pic>
        <p:nvPicPr>
          <p:cNvPr id="64" name="Image 2" descr="5fb69d22.png">
            <a:extLst>
              <a:ext uri="{FF2B5EF4-FFF2-40B4-BE49-F238E27FC236}">
                <a16:creationId xmlns:a16="http://schemas.microsoft.com/office/drawing/2014/main" id="{70171854-E5AF-3AFE-2F30-6E06F40115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6680" y="1851472"/>
            <a:ext cx="300038" cy="264319"/>
          </a:xfrm>
          <a:prstGeom prst="rect">
            <a:avLst/>
          </a:prstGeom>
        </p:spPr>
      </p:pic>
      <p:sp>
        <p:nvSpPr>
          <p:cNvPr id="65" name="CuadroTexto 64">
            <a:extLst>
              <a:ext uri="{FF2B5EF4-FFF2-40B4-BE49-F238E27FC236}">
                <a16:creationId xmlns:a16="http://schemas.microsoft.com/office/drawing/2014/main" id="{8AC04C55-5236-1115-ED09-496275098826}"/>
              </a:ext>
            </a:extLst>
          </p:cNvPr>
          <p:cNvSpPr txBox="1"/>
          <p:nvPr/>
        </p:nvSpPr>
        <p:spPr>
          <a:xfrm>
            <a:off x="468086" y="2571750"/>
            <a:ext cx="1817915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 defTabSz="685800" fontAlgn="ctr">
              <a:spcBef>
                <a:spcPts val="482"/>
              </a:spcBef>
            </a:pP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Infraestructura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fundamental y</a:t>
            </a:r>
            <a:r>
              <a:rPr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​</a:t>
            </a:r>
            <a:br>
              <a:rPr sz="800" spc="-23">
                <a:latin typeface="Reddit Sans"/>
                <a:ea typeface="Reddit Sans"/>
              </a:rPr>
            </a:b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procesos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centrales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 </a:t>
            </a: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soporte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</a:t>
            </a: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que</a:t>
            </a:r>
            <a:r>
              <a:rPr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​</a:t>
            </a:r>
            <a:br>
              <a:rPr sz="800" spc="-23">
                <a:latin typeface="Reddit Sans"/>
                <a:ea typeface="Reddit Sans"/>
              </a:rPr>
            </a:b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garantizan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la </a:t>
            </a: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estabilidad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y</a:t>
            </a:r>
            <a:r>
              <a:rPr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​</a:t>
            </a:r>
            <a:br>
              <a:rPr sz="800" spc="-23">
                <a:latin typeface="Reddit Sans"/>
                <a:ea typeface="Reddit Sans"/>
              </a:rPr>
            </a:b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continuidad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 del </a:t>
            </a:r>
            <a:r>
              <a:rPr lang="en-US" sz="800" spc="-23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negocio</a:t>
            </a: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</a:rPr>
              <a:t>.</a:t>
            </a:r>
            <a:endParaRPr lang="es-ES" sz="800" spc="-23">
              <a:solidFill>
                <a:srgbClr val="000000">
                  <a:alpha val="55000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67" name="Text 9">
            <a:extLst>
              <a:ext uri="{FF2B5EF4-FFF2-40B4-BE49-F238E27FC236}">
                <a16:creationId xmlns:a16="http://schemas.microsoft.com/office/drawing/2014/main" id="{F5CBAACB-E4AC-C922-AD11-4E0E17911830}"/>
              </a:ext>
            </a:extLst>
          </p:cNvPr>
          <p:cNvSpPr/>
          <p:nvPr/>
        </p:nvSpPr>
        <p:spPr>
          <a:xfrm>
            <a:off x="2623043" y="2668244"/>
            <a:ext cx="1905831" cy="65660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482"/>
              </a:spcBef>
            </a:pP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Innovación tecnológica y soluciones</a:t>
            </a:r>
            <a:b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de próxima generación con enfoque</a:t>
            </a:r>
            <a:b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en IA, automatización y escalabilidad</a:t>
            </a:r>
            <a:b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futura.</a:t>
            </a:r>
            <a:endParaRPr lang="es-ES"/>
          </a:p>
        </p:txBody>
      </p:sp>
      <p:sp>
        <p:nvSpPr>
          <p:cNvPr id="69" name="Text 12">
            <a:extLst>
              <a:ext uri="{FF2B5EF4-FFF2-40B4-BE49-F238E27FC236}">
                <a16:creationId xmlns:a16="http://schemas.microsoft.com/office/drawing/2014/main" id="{354A2E1B-2A3F-FA73-160F-B1496F7F573D}"/>
              </a:ext>
            </a:extLst>
          </p:cNvPr>
          <p:cNvSpPr/>
          <p:nvPr/>
        </p:nvSpPr>
        <p:spPr>
          <a:xfrm>
            <a:off x="4836809" y="2537616"/>
            <a:ext cx="1578129" cy="78179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spcBef>
                <a:spcPts val="482"/>
              </a:spcBef>
            </a:pP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Funcionalidades integradas de forma</a:t>
            </a:r>
            <a:b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nativa en la experiencia operativa</a:t>
            </a:r>
            <a:b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para optimizar flujos de trabajo</a:t>
            </a:r>
            <a:b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</a:br>
            <a:r>
              <a:rPr lang="en-US" sz="80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Arial"/>
              </a:rPr>
              <a:t>mediante integración profunda.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396576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857500" cy="5143500"/>
          </a:xfrm>
          <a:prstGeom prst="rect">
            <a:avLst/>
          </a:prstGeom>
          <a:solidFill>
            <a:srgbClr val="22AAEE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357187" y="970791"/>
            <a:ext cx="1829303" cy="263311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3240"/>
              </a:lnSpc>
            </a:pPr>
            <a:r>
              <a:rPr lang="en-US" sz="2800" kern="0" spc="-169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Modelo Mesa de </a:t>
            </a:r>
            <a:br>
              <a:rPr lang="en-US" sz="2800" kern="0" spc="-169"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2800" kern="0" spc="-169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Servicio de Nueva Generación</a:t>
            </a:r>
            <a:br>
              <a:rPr lang="en-US" sz="2800" kern="0" spc="-169"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2800" kern="0" spc="-169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Next Gen</a:t>
            </a:r>
            <a:endParaRPr lang="en-US" sz="2800">
              <a:latin typeface="Reddit Sans"/>
              <a:ea typeface="Reddit Sans"/>
            </a:endParaRPr>
          </a:p>
        </p:txBody>
      </p:sp>
      <p:sp>
        <p:nvSpPr>
          <p:cNvPr id="4" name="Text 2"/>
          <p:cNvSpPr/>
          <p:nvPr/>
        </p:nvSpPr>
        <p:spPr>
          <a:xfrm>
            <a:off x="357187" y="3737058"/>
            <a:ext cx="2377865" cy="42996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93"/>
              </a:lnSpc>
              <a:spcBef>
                <a:spcPts val="650"/>
              </a:spcBef>
            </a:pPr>
            <a:r>
              <a:rPr lang="en-US" sz="1238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Evaluación Inicial: Un enfoque</a:t>
            </a:r>
            <a:br>
              <a:rPr lang="en-US" sz="1238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238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 4 ejes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5" name="Image 0" descr="7e14c8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6705" y="1637705"/>
            <a:ext cx="485775" cy="485775"/>
          </a:xfrm>
          <a:prstGeom prst="rect">
            <a:avLst/>
          </a:prstGeom>
        </p:spPr>
      </p:pic>
      <p:pic>
        <p:nvPicPr>
          <p:cNvPr id="6" name="Image 1" descr="-3fd293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8689" y="2079689"/>
            <a:ext cx="92869" cy="92869"/>
          </a:xfrm>
          <a:prstGeom prst="rect">
            <a:avLst/>
          </a:prstGeom>
        </p:spPr>
      </p:pic>
      <p:pic>
        <p:nvPicPr>
          <p:cNvPr id="7" name="Image 2" descr="0495c52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3306" y="1637705"/>
            <a:ext cx="485775" cy="485775"/>
          </a:xfrm>
          <a:prstGeom prst="rect">
            <a:avLst/>
          </a:prstGeom>
        </p:spPr>
      </p:pic>
      <p:pic>
        <p:nvPicPr>
          <p:cNvPr id="8" name="Image 3" descr="-3d415e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2801" y="2079689"/>
            <a:ext cx="92869" cy="92869"/>
          </a:xfrm>
          <a:prstGeom prst="rect">
            <a:avLst/>
          </a:prstGeom>
        </p:spPr>
      </p:pic>
      <p:pic>
        <p:nvPicPr>
          <p:cNvPr id="9" name="Image 4" descr="7e14c8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3306" y="3024307"/>
            <a:ext cx="485775" cy="485775"/>
          </a:xfrm>
          <a:prstGeom prst="rect">
            <a:avLst/>
          </a:prstGeom>
        </p:spPr>
      </p:pic>
      <p:pic>
        <p:nvPicPr>
          <p:cNvPr id="10" name="Image 5" descr="-11ea5e1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2801" y="2973801"/>
            <a:ext cx="92869" cy="92869"/>
          </a:xfrm>
          <a:prstGeom prst="rect">
            <a:avLst/>
          </a:prstGeom>
        </p:spPr>
      </p:pic>
      <p:pic>
        <p:nvPicPr>
          <p:cNvPr id="11" name="Image 6" descr="0495c52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6705" y="3024307"/>
            <a:ext cx="485775" cy="485775"/>
          </a:xfrm>
          <a:prstGeom prst="rect">
            <a:avLst/>
          </a:prstGeom>
        </p:spPr>
      </p:pic>
      <p:pic>
        <p:nvPicPr>
          <p:cNvPr id="12" name="Image 7" descr="3aad8ee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08689" y="2973801"/>
            <a:ext cx="92869" cy="92869"/>
          </a:xfrm>
          <a:prstGeom prst="rect">
            <a:avLst/>
          </a:prstGeom>
        </p:spPr>
      </p:pic>
      <p:pic>
        <p:nvPicPr>
          <p:cNvPr id="13" name="Image 8" descr="260f002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00688" y="2071688"/>
            <a:ext cx="1000125" cy="1000125"/>
          </a:xfrm>
          <a:prstGeom prst="rect">
            <a:avLst/>
          </a:prstGeom>
        </p:spPr>
      </p:pic>
      <p:sp>
        <p:nvSpPr>
          <p:cNvPr id="14" name="Text 3"/>
          <p:cNvSpPr/>
          <p:nvPr/>
        </p:nvSpPr>
        <p:spPr>
          <a:xfrm>
            <a:off x="5536406" y="2291804"/>
            <a:ext cx="928688" cy="562571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78"/>
              </a:lnSpc>
            </a:pPr>
            <a:r>
              <a:rPr lang="en-US" sz="1250" kern="0" spc="-77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Modelo de</a:t>
            </a:r>
            <a:br>
              <a:rPr lang="en-US" sz="1250" kern="0" spc="-77"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250" kern="0" spc="-77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Servicio</a:t>
            </a:r>
            <a:br>
              <a:rPr lang="en-US" sz="1250" kern="0" spc="-77"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250" kern="0" spc="-77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Next Gen</a:t>
            </a:r>
            <a:endParaRPr lang="en-US" sz="1250">
              <a:latin typeface="Reddit Sans"/>
              <a:ea typeface="Reddit Sans"/>
            </a:endParaRPr>
          </a:p>
        </p:txBody>
      </p:sp>
      <p:sp>
        <p:nvSpPr>
          <p:cNvPr id="15" name="Shape 4"/>
          <p:cNvSpPr/>
          <p:nvPr/>
        </p:nvSpPr>
        <p:spPr>
          <a:xfrm>
            <a:off x="4565988" y="1136988"/>
            <a:ext cx="535781" cy="535781"/>
          </a:xfrm>
          <a:prstGeom prst="ellipse">
            <a:avLst/>
          </a:prstGeom>
          <a:solidFill>
            <a:srgbClr val="FFD9AD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16" name="Image 9" descr="5719bd2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95733" y="1285567"/>
            <a:ext cx="271463" cy="242888"/>
          </a:xfrm>
          <a:prstGeom prst="rect">
            <a:avLst/>
          </a:prstGeom>
        </p:spPr>
      </p:pic>
      <p:sp>
        <p:nvSpPr>
          <p:cNvPr id="17" name="Text 5"/>
          <p:cNvSpPr/>
          <p:nvPr/>
        </p:nvSpPr>
        <p:spPr>
          <a:xfrm>
            <a:off x="3587294" y="1305312"/>
            <a:ext cx="907256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ctr">
              <a:lnSpc>
                <a:spcPts val="1556"/>
              </a:lnSpc>
            </a:pPr>
            <a:r>
              <a:rPr lang="es-CO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Operativo</a:t>
            </a:r>
            <a:endParaRPr lang="es-CO" sz="1013">
              <a:latin typeface="Reddit Sans"/>
              <a:ea typeface="Reddit Sans"/>
            </a:endParaRPr>
          </a:p>
        </p:txBody>
      </p:sp>
      <p:sp>
        <p:nvSpPr>
          <p:cNvPr id="18" name="Shape 6"/>
          <p:cNvSpPr/>
          <p:nvPr/>
        </p:nvSpPr>
        <p:spPr>
          <a:xfrm>
            <a:off x="6899732" y="1136988"/>
            <a:ext cx="535781" cy="535781"/>
          </a:xfrm>
          <a:prstGeom prst="ellipse">
            <a:avLst/>
          </a:prstGeom>
          <a:solidFill>
            <a:srgbClr val="FEC088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19" name="Image 10" descr="-327b961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60787" y="1313822"/>
            <a:ext cx="214313" cy="178594"/>
          </a:xfrm>
          <a:prstGeom prst="rect">
            <a:avLst/>
          </a:prstGeom>
        </p:spPr>
      </p:pic>
      <p:sp>
        <p:nvSpPr>
          <p:cNvPr id="20" name="Text 7"/>
          <p:cNvSpPr/>
          <p:nvPr/>
        </p:nvSpPr>
        <p:spPr>
          <a:xfrm>
            <a:off x="7506950" y="1305312"/>
            <a:ext cx="101441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56"/>
              </a:lnSpc>
            </a:pPr>
            <a:r>
              <a:rPr lang="es-CO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Inteligencia</a:t>
            </a:r>
            <a:endParaRPr lang="es-CO" sz="1000">
              <a:latin typeface="Reddit Sans"/>
              <a:ea typeface="Reddit Sans"/>
            </a:endParaRPr>
          </a:p>
        </p:txBody>
      </p:sp>
      <p:sp>
        <p:nvSpPr>
          <p:cNvPr id="21" name="Shape 8"/>
          <p:cNvSpPr/>
          <p:nvPr/>
        </p:nvSpPr>
        <p:spPr>
          <a:xfrm>
            <a:off x="6899732" y="3470732"/>
            <a:ext cx="535781" cy="535781"/>
          </a:xfrm>
          <a:prstGeom prst="ellipse">
            <a:avLst/>
          </a:prstGeom>
          <a:solidFill>
            <a:srgbClr val="FD864D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2" name="Image 11" descr="-3d972f5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63924" y="3606678"/>
            <a:ext cx="207169" cy="264319"/>
          </a:xfrm>
          <a:prstGeom prst="rect">
            <a:avLst/>
          </a:prstGeom>
        </p:spPr>
      </p:pic>
      <p:sp>
        <p:nvSpPr>
          <p:cNvPr id="23" name="Text 9"/>
          <p:cNvSpPr/>
          <p:nvPr/>
        </p:nvSpPr>
        <p:spPr>
          <a:xfrm>
            <a:off x="7506951" y="3639057"/>
            <a:ext cx="1035844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56"/>
              </a:lnSpc>
            </a:pPr>
            <a:r>
              <a:rPr lang="es-CO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Experiencia</a:t>
            </a:r>
            <a:endParaRPr lang="es-CO" sz="1000">
              <a:latin typeface="Reddit Sans"/>
              <a:ea typeface="Reddit Sans"/>
            </a:endParaRPr>
          </a:p>
        </p:txBody>
      </p:sp>
      <p:sp>
        <p:nvSpPr>
          <p:cNvPr id="24" name="Shape 10"/>
          <p:cNvSpPr/>
          <p:nvPr/>
        </p:nvSpPr>
        <p:spPr>
          <a:xfrm>
            <a:off x="4565988" y="3470732"/>
            <a:ext cx="535781" cy="535781"/>
          </a:xfrm>
          <a:prstGeom prst="ellipse">
            <a:avLst/>
          </a:prstGeom>
          <a:solidFill>
            <a:srgbClr val="FF8000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5" name="Image 12" descr="-6dc06d9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20847" y="3628651"/>
            <a:ext cx="228600" cy="228600"/>
          </a:xfrm>
          <a:prstGeom prst="rect">
            <a:avLst/>
          </a:prstGeom>
        </p:spPr>
      </p:pic>
      <p:sp>
        <p:nvSpPr>
          <p:cNvPr id="26" name="Text 11"/>
          <p:cNvSpPr/>
          <p:nvPr/>
        </p:nvSpPr>
        <p:spPr>
          <a:xfrm>
            <a:off x="3587294" y="3639057"/>
            <a:ext cx="907256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ctr">
              <a:lnSpc>
                <a:spcPts val="1556"/>
              </a:lnSpc>
            </a:pPr>
            <a:r>
              <a:rPr lang="es-CO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Evolución</a:t>
            </a:r>
            <a:endParaRPr lang="es-CO" sz="1000">
              <a:latin typeface="Reddit Sans"/>
              <a:ea typeface="Reddit Sans"/>
            </a:endParaRP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B169CE74-3EFE-F55F-5D12-32F0DCC1D93B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13441811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">
            <a:extLst>
              <a:ext uri="{FF2B5EF4-FFF2-40B4-BE49-F238E27FC236}">
                <a16:creationId xmlns:a16="http://schemas.microsoft.com/office/drawing/2014/main" id="{F9C8408C-F9F1-4FF9-8A83-3AF25EB4B759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Stack tecnológico: 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Integrarse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 al </a:t>
            </a:r>
            <a:r>
              <a:rPr sz="1650" b="1" err="1">
                <a:solidFill>
                  <a:srgbClr val="0C2362"/>
                </a:solidFill>
                <a:latin typeface="Reddit Sans"/>
                <a:ea typeface="Reddit Sans"/>
              </a:rPr>
              <a:t>ecosistema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 del </a:t>
            </a:r>
            <a:r>
              <a:rPr sz="1650" b="1" err="1">
                <a:solidFill>
                  <a:srgbClr val="0C2362"/>
                </a:solidFill>
                <a:latin typeface="Reddit Sans"/>
                <a:ea typeface="Reddit Sans"/>
              </a:rPr>
              <a:t>cliente</a:t>
            </a:r>
            <a:endParaRPr lang="es-ES" sz="1650" b="1" err="1">
              <a:solidFill>
                <a:srgbClr val="0C2362"/>
              </a:solidFill>
              <a:latin typeface="Reddit Sans"/>
              <a:ea typeface="Reddit Sans"/>
            </a:endParaRP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7F99B6CF-84D4-4913-B588-3CAA65AFEC04}"/>
              </a:ext>
            </a:extLst>
          </p:cNvPr>
          <p:cNvSpPr>
            <a:spLocks noGrp="1"/>
          </p:cNvSpPr>
          <p:nvPr/>
        </p:nvSpPr>
        <p:spPr>
          <a:xfrm>
            <a:off x="361950" y="657225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defTabSz="685800" fontAlgn="ctr">
              <a:lnSpc>
                <a:spcPts val="1406"/>
              </a:lnSpc>
              <a:defRPr sz="1050" b="0">
                <a:solidFill>
                  <a:srgbClr val="9AAEE0"/>
                </a:solidFill>
              </a:defRPr>
            </a:pP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Capas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mínimas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para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operar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,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medir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y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automatizar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sin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amarrar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al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cliente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a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una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herramienta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única</a:t>
            </a:r>
            <a:endParaRPr lang="es-ES" sz="1000" spc="-25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3" name="layer">
            <a:extLst>
              <a:ext uri="{FF2B5EF4-FFF2-40B4-BE49-F238E27FC236}">
                <a16:creationId xmlns:a16="http://schemas.microsoft.com/office/drawing/2014/main" id="{538C9A7E-8E60-4323-A090-E364358D7022}"/>
              </a:ext>
            </a:extLst>
          </p:cNvPr>
          <p:cNvSpPr>
            <a:spLocks noGrp="1"/>
          </p:cNvSpPr>
          <p:nvPr/>
        </p:nvSpPr>
        <p:spPr>
          <a:xfrm>
            <a:off x="876300" y="1028700"/>
            <a:ext cx="7391400" cy="419100"/>
          </a:xfrm>
          <a:prstGeom prst="roundRect">
            <a:avLst>
              <a:gd name="adj" fmla="val 13636"/>
            </a:avLst>
          </a:prstGeom>
          <a:solidFill>
            <a:srgbClr val="F6F8FC"/>
          </a:solidFill>
          <a:ln w="11430">
            <a:solidFill>
              <a:srgbClr val="163B8C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D2A7AB53-8090-466F-9893-E73B6DD61BF6}"/>
              </a:ext>
            </a:extLst>
          </p:cNvPr>
          <p:cNvSpPr>
            <a:spLocks noGrp="1"/>
          </p:cNvSpPr>
          <p:nvPr/>
        </p:nvSpPr>
        <p:spPr>
          <a:xfrm>
            <a:off x="1104900" y="11430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163B8C"/>
                </a:solidFill>
              </a:defRPr>
            </a:pPr>
            <a:r>
              <a:rPr sz="1013" b="1">
                <a:solidFill>
                  <a:srgbClr val="163B8C"/>
                </a:solidFill>
                <a:latin typeface="Reddit Sans"/>
                <a:ea typeface="Reddit Sans"/>
              </a:rPr>
              <a:t>Canales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8C575430-6193-4C63-B135-4BA439C7DE11}"/>
              </a:ext>
            </a:extLst>
          </p:cNvPr>
          <p:cNvSpPr>
            <a:spLocks noGrp="1"/>
          </p:cNvSpPr>
          <p:nvPr/>
        </p:nvSpPr>
        <p:spPr>
          <a:xfrm>
            <a:off x="2857500" y="1143000"/>
            <a:ext cx="495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Portal, chat, WhatsApp, correo, teléfono, API/AIOps</a:t>
            </a:r>
          </a:p>
        </p:txBody>
      </p:sp>
      <p:sp>
        <p:nvSpPr>
          <p:cNvPr id="6" name="layer">
            <a:extLst>
              <a:ext uri="{FF2B5EF4-FFF2-40B4-BE49-F238E27FC236}">
                <a16:creationId xmlns:a16="http://schemas.microsoft.com/office/drawing/2014/main" id="{C441F295-83F4-4548-A6D0-5F51F8A20A11}"/>
              </a:ext>
            </a:extLst>
          </p:cNvPr>
          <p:cNvSpPr>
            <a:spLocks noGrp="1"/>
          </p:cNvSpPr>
          <p:nvPr/>
        </p:nvSpPr>
        <p:spPr>
          <a:xfrm>
            <a:off x="876300" y="1581150"/>
            <a:ext cx="7391400" cy="4191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1430">
            <a:solidFill>
              <a:srgbClr val="087B8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F898201E-55B3-4B70-8B4D-953CD3C750D9}"/>
              </a:ext>
            </a:extLst>
          </p:cNvPr>
          <p:cNvSpPr>
            <a:spLocks noGrp="1"/>
          </p:cNvSpPr>
          <p:nvPr/>
        </p:nvSpPr>
        <p:spPr>
          <a:xfrm>
            <a:off x="1104900" y="169545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087B83"/>
                </a:solidFill>
              </a:defRPr>
            </a:pPr>
            <a:r>
              <a:rPr sz="1013" b="1">
                <a:solidFill>
                  <a:srgbClr val="087B83"/>
                </a:solidFill>
                <a:latin typeface="Reddit Sans"/>
                <a:ea typeface="Reddit Sans"/>
              </a:rPr>
              <a:t>ITSM / CMDB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46FBB9CD-0D24-4B36-BB67-F65BDD529EB6}"/>
              </a:ext>
            </a:extLst>
          </p:cNvPr>
          <p:cNvSpPr>
            <a:spLocks noGrp="1"/>
          </p:cNvSpPr>
          <p:nvPr/>
        </p:nvSpPr>
        <p:spPr>
          <a:xfrm>
            <a:off x="2857500" y="1695450"/>
            <a:ext cx="495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ServiceNow, Jira SM, ADO, ManageEngine o herramienta PS</a:t>
            </a:r>
          </a:p>
        </p:txBody>
      </p:sp>
      <p:sp>
        <p:nvSpPr>
          <p:cNvPr id="9" name="layer">
            <a:extLst>
              <a:ext uri="{FF2B5EF4-FFF2-40B4-BE49-F238E27FC236}">
                <a16:creationId xmlns:a16="http://schemas.microsoft.com/office/drawing/2014/main" id="{26BFFD6D-0A44-4AC4-A766-262D23846206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7391400" cy="419100"/>
          </a:xfrm>
          <a:prstGeom prst="roundRect">
            <a:avLst>
              <a:gd name="adj" fmla="val 13636"/>
            </a:avLst>
          </a:prstGeom>
          <a:solidFill>
            <a:srgbClr val="F6F8FC"/>
          </a:solidFill>
          <a:ln w="11430">
            <a:solidFill>
              <a:srgbClr val="7057E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C8F4A7BE-BEA4-46EA-82AD-493EDB21D41D}"/>
              </a:ext>
            </a:extLst>
          </p:cNvPr>
          <p:cNvSpPr>
            <a:spLocks noGrp="1"/>
          </p:cNvSpPr>
          <p:nvPr/>
        </p:nvSpPr>
        <p:spPr>
          <a:xfrm>
            <a:off x="1104900" y="22479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7057E9"/>
                </a:solidFill>
              </a:defRPr>
            </a:pPr>
            <a:r>
              <a:rPr sz="1013" b="1">
                <a:solidFill>
                  <a:srgbClr val="7057E9"/>
                </a:solidFill>
                <a:latin typeface="Reddit Sans"/>
                <a:ea typeface="Reddit Sans"/>
              </a:rPr>
              <a:t>Conocimiento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CE697010-83B8-4D18-BC4D-85D49DAAC087}"/>
              </a:ext>
            </a:extLst>
          </p:cNvPr>
          <p:cNvSpPr>
            <a:spLocks noGrp="1"/>
          </p:cNvSpPr>
          <p:nvPr/>
        </p:nvSpPr>
        <p:spPr>
          <a:xfrm>
            <a:off x="2857500" y="2247900"/>
            <a:ext cx="495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KEDB, KCS, Confluence, SharePoint, artículos generados</a:t>
            </a:r>
          </a:p>
        </p:txBody>
      </p:sp>
      <p:sp>
        <p:nvSpPr>
          <p:cNvPr id="12" name="layer">
            <a:extLst>
              <a:ext uri="{FF2B5EF4-FFF2-40B4-BE49-F238E27FC236}">
                <a16:creationId xmlns:a16="http://schemas.microsoft.com/office/drawing/2014/main" id="{8BF0411D-3DEB-4455-A21F-FC69D475C426}"/>
              </a:ext>
            </a:extLst>
          </p:cNvPr>
          <p:cNvSpPr>
            <a:spLocks noGrp="1"/>
          </p:cNvSpPr>
          <p:nvPr/>
        </p:nvSpPr>
        <p:spPr>
          <a:xfrm>
            <a:off x="876300" y="2686050"/>
            <a:ext cx="7391400" cy="4191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1430">
            <a:solidFill>
              <a:srgbClr val="20835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D03620C4-45AF-4D52-95EC-0BFF40943DD5}"/>
              </a:ext>
            </a:extLst>
          </p:cNvPr>
          <p:cNvSpPr>
            <a:spLocks noGrp="1"/>
          </p:cNvSpPr>
          <p:nvPr/>
        </p:nvSpPr>
        <p:spPr>
          <a:xfrm>
            <a:off x="1104900" y="280035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20835A"/>
                </a:solidFill>
              </a:defRPr>
            </a:pPr>
            <a:r>
              <a:rPr sz="1013" b="1">
                <a:solidFill>
                  <a:srgbClr val="20835A"/>
                </a:solidFill>
                <a:latin typeface="Reddit Sans"/>
                <a:ea typeface="Reddit Sans"/>
              </a:rPr>
              <a:t>IA / AIOps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69BD8F76-D60B-442D-9E63-D036643AD169}"/>
              </a:ext>
            </a:extLst>
          </p:cNvPr>
          <p:cNvSpPr>
            <a:spLocks noGrp="1"/>
          </p:cNvSpPr>
          <p:nvPr/>
        </p:nvSpPr>
        <p:spPr>
          <a:xfrm>
            <a:off x="2857500" y="2800350"/>
            <a:ext cx="495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Agent assist, NLP, observabilidad, correlación y runbooks</a:t>
            </a:r>
          </a:p>
        </p:txBody>
      </p:sp>
      <p:sp>
        <p:nvSpPr>
          <p:cNvPr id="15" name="layer">
            <a:extLst>
              <a:ext uri="{FF2B5EF4-FFF2-40B4-BE49-F238E27FC236}">
                <a16:creationId xmlns:a16="http://schemas.microsoft.com/office/drawing/2014/main" id="{950D358F-F7D6-460D-A2BD-B9DE783BE7B6}"/>
              </a:ext>
            </a:extLst>
          </p:cNvPr>
          <p:cNvSpPr>
            <a:spLocks noGrp="1"/>
          </p:cNvSpPr>
          <p:nvPr/>
        </p:nvSpPr>
        <p:spPr>
          <a:xfrm>
            <a:off x="876300" y="3238500"/>
            <a:ext cx="7391400" cy="419100"/>
          </a:xfrm>
          <a:prstGeom prst="roundRect">
            <a:avLst>
              <a:gd name="adj" fmla="val 13636"/>
            </a:avLst>
          </a:prstGeom>
          <a:solidFill>
            <a:srgbClr val="F6F8FC"/>
          </a:solidFill>
          <a:ln w="11430">
            <a:solidFill>
              <a:srgbClr val="D47A0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A302AD2D-E25D-4A10-98EF-2CFC1129B8AF}"/>
              </a:ext>
            </a:extLst>
          </p:cNvPr>
          <p:cNvSpPr>
            <a:spLocks noGrp="1"/>
          </p:cNvSpPr>
          <p:nvPr/>
        </p:nvSpPr>
        <p:spPr>
          <a:xfrm>
            <a:off x="1104900" y="33528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D47A00"/>
                </a:solidFill>
              </a:defRPr>
            </a:pPr>
            <a:r>
              <a:rPr sz="1013" b="1">
                <a:solidFill>
                  <a:srgbClr val="D47A00"/>
                </a:solidFill>
                <a:latin typeface="Reddit Sans"/>
                <a:ea typeface="Reddit Sans"/>
              </a:rPr>
              <a:t>Gobierno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5ADA952B-A53E-4E8D-BD2E-66B9B2C37131}"/>
              </a:ext>
            </a:extLst>
          </p:cNvPr>
          <p:cNvSpPr>
            <a:spLocks noGrp="1"/>
          </p:cNvSpPr>
          <p:nvPr/>
        </p:nvSpPr>
        <p:spPr>
          <a:xfrm>
            <a:off x="2857500" y="3352800"/>
            <a:ext cx="495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Dashboards, SLA/XLA, CSAT, auditoría IA, cumplimiento</a:t>
            </a:r>
          </a:p>
        </p:txBody>
      </p:sp>
      <p:sp>
        <p:nvSpPr>
          <p:cNvPr id="18" name="layer">
            <a:extLst>
              <a:ext uri="{FF2B5EF4-FFF2-40B4-BE49-F238E27FC236}">
                <a16:creationId xmlns:a16="http://schemas.microsoft.com/office/drawing/2014/main" id="{B8C261E1-F43F-4731-B424-1A96046B6A54}"/>
              </a:ext>
            </a:extLst>
          </p:cNvPr>
          <p:cNvSpPr>
            <a:spLocks noGrp="1"/>
          </p:cNvSpPr>
          <p:nvPr/>
        </p:nvSpPr>
        <p:spPr>
          <a:xfrm>
            <a:off x="876300" y="3790950"/>
            <a:ext cx="7391400" cy="4191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1430">
            <a:solidFill>
              <a:srgbClr val="5B667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E346C4B4-DF1D-4BD3-AFE6-7C0818FC1818}"/>
              </a:ext>
            </a:extLst>
          </p:cNvPr>
          <p:cNvSpPr>
            <a:spLocks noGrp="1"/>
          </p:cNvSpPr>
          <p:nvPr/>
        </p:nvSpPr>
        <p:spPr>
          <a:xfrm>
            <a:off x="1104900" y="390525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1">
                <a:solidFill>
                  <a:srgbClr val="5B667A"/>
                </a:solidFill>
              </a:defRPr>
            </a:pPr>
            <a:r>
              <a:rPr sz="1013" b="1">
                <a:solidFill>
                  <a:srgbClr val="5B667A"/>
                </a:solidFill>
                <a:latin typeface="Reddit Sans"/>
                <a:ea typeface="Reddit Sans"/>
              </a:rPr>
              <a:t>Seguridad</a:t>
            </a:r>
          </a:p>
        </p:txBody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5940D614-BA13-44F4-9ED4-A5C358C8EB51}"/>
              </a:ext>
            </a:extLst>
          </p:cNvPr>
          <p:cNvSpPr>
            <a:spLocks noGrp="1"/>
          </p:cNvSpPr>
          <p:nvPr/>
        </p:nvSpPr>
        <p:spPr>
          <a:xfrm>
            <a:off x="2857500" y="3905250"/>
            <a:ext cx="495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172033"/>
                </a:solidFill>
              </a:defRPr>
            </a:pPr>
            <a:r>
              <a:rPr sz="900" b="0">
                <a:solidFill>
                  <a:srgbClr val="172033"/>
                </a:solidFill>
                <a:latin typeface="Reddit Sans"/>
                <a:ea typeface="Reddit Sans"/>
              </a:rPr>
              <a:t>SSO/IAM, VPN, cifrado, backup, ISO 27001 / ISO 42001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EE5235F9-738A-136F-1900-969ECFE1EF58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59631712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">
            <a:extLst>
              <a:ext uri="{FF2B5EF4-FFF2-40B4-BE49-F238E27FC236}">
                <a16:creationId xmlns:a16="http://schemas.microsoft.com/office/drawing/2014/main" id="{22DBA085-CCE0-A0C1-9795-15110F198364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sz="1650" b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Stack tecnológico: </a:t>
            </a:r>
            <a:r>
              <a:rPr lang="es-ES" sz="1650" b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Integrarse</a:t>
            </a:r>
            <a:r>
              <a:rPr sz="1650" b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al ecosistema del cliente</a:t>
            </a:r>
            <a:endParaRPr lang="es-ES" sz="1650" b="1">
              <a:solidFill>
                <a:srgbClr val="0C2362"/>
              </a:solidFill>
              <a:highlight>
                <a:srgbClr val="FFFF00"/>
              </a:highlight>
              <a:latin typeface="Reddit Sans"/>
              <a:ea typeface="Reddit Sans"/>
            </a:endParaRP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726D2E62-8901-91ED-6346-E93EFBF060E3}"/>
              </a:ext>
            </a:extLst>
          </p:cNvPr>
          <p:cNvSpPr>
            <a:spLocks noGrp="1"/>
          </p:cNvSpPr>
          <p:nvPr/>
        </p:nvSpPr>
        <p:spPr>
          <a:xfrm>
            <a:off x="361950" y="657225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defTabSz="685800" fontAlgn="ctr">
              <a:lnSpc>
                <a:spcPts val="1406"/>
              </a:lnSpc>
              <a:defRPr sz="1050" b="0">
                <a:solidFill>
                  <a:srgbClr val="9AAEE0"/>
                </a:solidFill>
              </a:defRPr>
            </a:pP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Capas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mínimas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para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operar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,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medir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y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automatizar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sin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amarrar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al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cliente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a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una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herramienta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única</a:t>
            </a:r>
            <a:endParaRPr lang="es-ES" sz="1000" spc="-25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C4C5254-A867-A5C7-DC8C-64977C0BDDA6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  <p:sp>
        <p:nvSpPr>
          <p:cNvPr id="3" name="Shape 2">
            <a:extLst>
              <a:ext uri="{FF2B5EF4-FFF2-40B4-BE49-F238E27FC236}">
                <a16:creationId xmlns:a16="http://schemas.microsoft.com/office/drawing/2014/main" id="{B95E0AFD-DF6D-954E-9DB8-1F440E31FD4B}"/>
              </a:ext>
            </a:extLst>
          </p:cNvPr>
          <p:cNvSpPr/>
          <p:nvPr/>
        </p:nvSpPr>
        <p:spPr>
          <a:xfrm>
            <a:off x="357188" y="1307306"/>
            <a:ext cx="8429625" cy="520304"/>
          </a:xfrm>
          <a:prstGeom prst="rect">
            <a:avLst/>
          </a:prstGeom>
          <a:solidFill>
            <a:srgbClr val="22AAEE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B76604B0-64C7-7D1B-C823-FB713FC7A3D9}"/>
              </a:ext>
            </a:extLst>
          </p:cNvPr>
          <p:cNvSpPr/>
          <p:nvPr/>
        </p:nvSpPr>
        <p:spPr>
          <a:xfrm>
            <a:off x="3287632" y="1477939"/>
            <a:ext cx="2568737" cy="18104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26"/>
              </a:lnSpc>
            </a:pPr>
            <a:r>
              <a:rPr lang="en-US" sz="1238" kern="0" spc="-74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Arquitectura del Ecosistema Digital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AA7F3576-F81F-2C54-49C3-2E49DEF24FE6}"/>
              </a:ext>
            </a:extLst>
          </p:cNvPr>
          <p:cNvSpPr/>
          <p:nvPr/>
        </p:nvSpPr>
        <p:spPr>
          <a:xfrm>
            <a:off x="357188" y="1899047"/>
            <a:ext cx="1628775" cy="22955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E4947301-E3F4-D806-E6EE-27BF06842E7F}"/>
              </a:ext>
            </a:extLst>
          </p:cNvPr>
          <p:cNvSpPr/>
          <p:nvPr/>
        </p:nvSpPr>
        <p:spPr>
          <a:xfrm>
            <a:off x="610791" y="2588085"/>
            <a:ext cx="1121569" cy="18104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26"/>
              </a:lnSpc>
              <a:spcBef>
                <a:spcPts val="963"/>
              </a:spcBef>
            </a:pPr>
            <a:r>
              <a:rPr lang="en-US" sz="1238" kern="0" spc="-74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Canales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2E735DBD-59EB-CC2A-8D8E-8540E0B1056E}"/>
              </a:ext>
            </a:extLst>
          </p:cNvPr>
          <p:cNvSpPr/>
          <p:nvPr/>
        </p:nvSpPr>
        <p:spPr>
          <a:xfrm>
            <a:off x="604217" y="2831530"/>
            <a:ext cx="1134718" cy="78179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39"/>
              </a:lnSpc>
              <a:spcBef>
                <a:spcPts val="482"/>
              </a:spcBef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Puntos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interacción y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experiencia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usuario.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16" name="Image 0" descr="31ef1d22.png">
            <a:extLst>
              <a:ext uri="{FF2B5EF4-FFF2-40B4-BE49-F238E27FC236}">
                <a16:creationId xmlns:a16="http://schemas.microsoft.com/office/drawing/2014/main" id="{D1D9D96C-BE55-CBDB-5E06-5E0B4C370D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701" y="2129898"/>
            <a:ext cx="307181" cy="307181"/>
          </a:xfrm>
          <a:prstGeom prst="rect">
            <a:avLst/>
          </a:prstGeom>
        </p:spPr>
      </p:pic>
      <p:sp>
        <p:nvSpPr>
          <p:cNvPr id="18" name="Shape 7">
            <a:extLst>
              <a:ext uri="{FF2B5EF4-FFF2-40B4-BE49-F238E27FC236}">
                <a16:creationId xmlns:a16="http://schemas.microsoft.com/office/drawing/2014/main" id="{AF2306C6-7D39-9448-36BA-FD0D987F9AC4}"/>
              </a:ext>
            </a:extLst>
          </p:cNvPr>
          <p:cNvSpPr/>
          <p:nvPr/>
        </p:nvSpPr>
        <p:spPr>
          <a:xfrm>
            <a:off x="2057400" y="1899047"/>
            <a:ext cx="1628775" cy="229552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63211482-A078-5FE3-F785-4A30D690ED3F}"/>
              </a:ext>
            </a:extLst>
          </p:cNvPr>
          <p:cNvSpPr/>
          <p:nvPr/>
        </p:nvSpPr>
        <p:spPr>
          <a:xfrm>
            <a:off x="2164556" y="2588085"/>
            <a:ext cx="1414463" cy="18104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26"/>
              </a:lnSpc>
              <a:spcBef>
                <a:spcPts val="963"/>
              </a:spcBef>
            </a:pPr>
            <a:r>
              <a:rPr lang="en-US" sz="1238" kern="0" spc="-74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ITSM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4169E53C-48D4-B70F-072D-12D6B3B11D88}"/>
              </a:ext>
            </a:extLst>
          </p:cNvPr>
          <p:cNvSpPr/>
          <p:nvPr/>
        </p:nvSpPr>
        <p:spPr>
          <a:xfrm>
            <a:off x="2142165" y="2831530"/>
            <a:ext cx="1459245" cy="78179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39"/>
              </a:lnSpc>
              <a:spcBef>
                <a:spcPts val="482"/>
              </a:spcBef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Gestión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servicios de TI para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la eficiencia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operativa.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24" name="Image 1" descr="41353762.png">
            <a:extLst>
              <a:ext uri="{FF2B5EF4-FFF2-40B4-BE49-F238E27FC236}">
                <a16:creationId xmlns:a16="http://schemas.microsoft.com/office/drawing/2014/main" id="{854D8709-612A-0556-9846-38191FF32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9613" y="2155014"/>
            <a:ext cx="350044" cy="257175"/>
          </a:xfrm>
          <a:prstGeom prst="rect">
            <a:avLst/>
          </a:prstGeom>
        </p:spPr>
      </p:pic>
      <p:sp>
        <p:nvSpPr>
          <p:cNvPr id="26" name="Shape 10">
            <a:extLst>
              <a:ext uri="{FF2B5EF4-FFF2-40B4-BE49-F238E27FC236}">
                <a16:creationId xmlns:a16="http://schemas.microsoft.com/office/drawing/2014/main" id="{1AA26F0F-765E-30E3-3C11-3D5B85BBF148}"/>
              </a:ext>
            </a:extLst>
          </p:cNvPr>
          <p:cNvSpPr/>
          <p:nvPr/>
        </p:nvSpPr>
        <p:spPr>
          <a:xfrm>
            <a:off x="3757613" y="1899047"/>
            <a:ext cx="1628775" cy="22955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91E48C88-606D-01AB-6823-06F2D8BEEC84}"/>
              </a:ext>
            </a:extLst>
          </p:cNvPr>
          <p:cNvSpPr/>
          <p:nvPr/>
        </p:nvSpPr>
        <p:spPr>
          <a:xfrm>
            <a:off x="3893344" y="2588085"/>
            <a:ext cx="1357313" cy="18104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26"/>
              </a:lnSpc>
              <a:spcBef>
                <a:spcPts val="963"/>
              </a:spcBef>
            </a:pPr>
            <a:r>
              <a:rPr lang="en-US" sz="1238" kern="0" spc="-74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IA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0" name="Text 12">
            <a:extLst>
              <a:ext uri="{FF2B5EF4-FFF2-40B4-BE49-F238E27FC236}">
                <a16:creationId xmlns:a16="http://schemas.microsoft.com/office/drawing/2014/main" id="{8CA97CC3-1C0B-1511-B7BB-444089897FB9}"/>
              </a:ext>
            </a:extLst>
          </p:cNvPr>
          <p:cNvSpPr/>
          <p:nvPr/>
        </p:nvSpPr>
        <p:spPr>
          <a:xfrm>
            <a:off x="3875038" y="2831530"/>
            <a:ext cx="1393925" cy="781794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39"/>
              </a:lnSpc>
              <a:spcBef>
                <a:spcPts val="482"/>
              </a:spcBef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Capa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inteligencia y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automatización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procesos.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32" name="Image 2" descr="482e7122.png">
            <a:extLst>
              <a:ext uri="{FF2B5EF4-FFF2-40B4-BE49-F238E27FC236}">
                <a16:creationId xmlns:a16="http://schemas.microsoft.com/office/drawing/2014/main" id="{D784F320-6AC9-85E2-3D4D-E94ECE3999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2940" y="2125712"/>
            <a:ext cx="321469" cy="321469"/>
          </a:xfrm>
          <a:prstGeom prst="rect">
            <a:avLst/>
          </a:prstGeom>
        </p:spPr>
      </p:pic>
      <p:sp>
        <p:nvSpPr>
          <p:cNvPr id="34" name="Shape 13">
            <a:extLst>
              <a:ext uri="{FF2B5EF4-FFF2-40B4-BE49-F238E27FC236}">
                <a16:creationId xmlns:a16="http://schemas.microsoft.com/office/drawing/2014/main" id="{80682917-EE59-523D-E793-8B52EB3C3822}"/>
              </a:ext>
            </a:extLst>
          </p:cNvPr>
          <p:cNvSpPr/>
          <p:nvPr/>
        </p:nvSpPr>
        <p:spPr>
          <a:xfrm>
            <a:off x="5457825" y="1899047"/>
            <a:ext cx="1628775" cy="2295525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14">
            <a:extLst>
              <a:ext uri="{FF2B5EF4-FFF2-40B4-BE49-F238E27FC236}">
                <a16:creationId xmlns:a16="http://schemas.microsoft.com/office/drawing/2014/main" id="{0211F154-AE7E-0732-5E2E-D23C8914B204}"/>
              </a:ext>
            </a:extLst>
          </p:cNvPr>
          <p:cNvSpPr/>
          <p:nvPr/>
        </p:nvSpPr>
        <p:spPr>
          <a:xfrm>
            <a:off x="5593556" y="2564085"/>
            <a:ext cx="1357313" cy="17200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355"/>
              </a:lnSpc>
              <a:spcBef>
                <a:spcPts val="915"/>
              </a:spcBef>
            </a:pPr>
            <a:r>
              <a:rPr lang="en-US" sz="1175" kern="0" spc="-7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Gobierno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8" name="Text 15">
            <a:extLst>
              <a:ext uri="{FF2B5EF4-FFF2-40B4-BE49-F238E27FC236}">
                <a16:creationId xmlns:a16="http://schemas.microsoft.com/office/drawing/2014/main" id="{47DB25B1-8175-273E-196F-FA6CE88028DF}"/>
              </a:ext>
            </a:extLst>
          </p:cNvPr>
          <p:cNvSpPr/>
          <p:nvPr/>
        </p:nvSpPr>
        <p:spPr>
          <a:xfrm>
            <a:off x="5574860" y="2795364"/>
            <a:ext cx="1394705" cy="55687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62"/>
              </a:lnSpc>
              <a:spcBef>
                <a:spcPts val="458"/>
              </a:spcBef>
            </a:pPr>
            <a:r>
              <a:rPr lang="en-US" sz="1069" kern="0" spc="-22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Marcos de políticas</a:t>
            </a:r>
            <a:br>
              <a:rPr lang="en-US" sz="1069" kern="0" spc="-22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69" kern="0" spc="-22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y control de</a:t>
            </a:r>
            <a:br>
              <a:rPr lang="en-US" sz="1069" kern="0" spc="-22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69" kern="0" spc="-22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cumplimiento.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40" name="Image 3" descr="76f60f62.png">
            <a:extLst>
              <a:ext uri="{FF2B5EF4-FFF2-40B4-BE49-F238E27FC236}">
                <a16:creationId xmlns:a16="http://schemas.microsoft.com/office/drawing/2014/main" id="{9723224E-0D84-BAA0-9759-7B59D6AA24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014" y="2116782"/>
            <a:ext cx="271463" cy="321469"/>
          </a:xfrm>
          <a:prstGeom prst="rect">
            <a:avLst/>
          </a:prstGeom>
        </p:spPr>
      </p:pic>
      <p:sp>
        <p:nvSpPr>
          <p:cNvPr id="42" name="Shape 16">
            <a:extLst>
              <a:ext uri="{FF2B5EF4-FFF2-40B4-BE49-F238E27FC236}">
                <a16:creationId xmlns:a16="http://schemas.microsoft.com/office/drawing/2014/main" id="{AB0C0FBA-47A3-DD5E-53D3-3D2A4CAE553C}"/>
              </a:ext>
            </a:extLst>
          </p:cNvPr>
          <p:cNvSpPr/>
          <p:nvPr/>
        </p:nvSpPr>
        <p:spPr>
          <a:xfrm>
            <a:off x="7158038" y="1899047"/>
            <a:ext cx="1628775" cy="2295525"/>
          </a:xfrm>
          <a:prstGeom prst="rect">
            <a:avLst/>
          </a:prstGeom>
          <a:solidFill>
            <a:schemeClr val="accent5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44" name="Text 17">
            <a:extLst>
              <a:ext uri="{FF2B5EF4-FFF2-40B4-BE49-F238E27FC236}">
                <a16:creationId xmlns:a16="http://schemas.microsoft.com/office/drawing/2014/main" id="{08E5D4CE-3618-AC53-5126-FED68A669DB7}"/>
              </a:ext>
            </a:extLst>
          </p:cNvPr>
          <p:cNvSpPr/>
          <p:nvPr/>
        </p:nvSpPr>
        <p:spPr>
          <a:xfrm>
            <a:off x="7293769" y="2564085"/>
            <a:ext cx="1357313" cy="17200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355"/>
              </a:lnSpc>
              <a:spcBef>
                <a:spcPts val="915"/>
              </a:spcBef>
            </a:pPr>
            <a:r>
              <a:rPr lang="en-US" sz="1175" kern="0" spc="-7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Seguridad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6" name="Text 18">
            <a:extLst>
              <a:ext uri="{FF2B5EF4-FFF2-40B4-BE49-F238E27FC236}">
                <a16:creationId xmlns:a16="http://schemas.microsoft.com/office/drawing/2014/main" id="{1E939043-9BE8-39A8-4EE5-B215496965C0}"/>
              </a:ext>
            </a:extLst>
          </p:cNvPr>
          <p:cNvSpPr/>
          <p:nvPr/>
        </p:nvSpPr>
        <p:spPr>
          <a:xfrm>
            <a:off x="7273733" y="2795364"/>
            <a:ext cx="1397384" cy="55687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62"/>
              </a:lnSpc>
              <a:spcBef>
                <a:spcPts val="458"/>
              </a:spcBef>
            </a:pPr>
            <a:r>
              <a:rPr lang="en-US" sz="1069" kern="0" spc="-22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Protección de la</a:t>
            </a:r>
            <a:br>
              <a:rPr lang="en-US" sz="1069" kern="0" spc="-22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69" kern="0" spc="-22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integridad y activos</a:t>
            </a:r>
            <a:br>
              <a:rPr lang="en-US" sz="1069" kern="0" spc="-22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69" kern="0" spc="-22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 información.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48" name="Image 4" descr="-30d919e.png">
            <a:extLst>
              <a:ext uri="{FF2B5EF4-FFF2-40B4-BE49-F238E27FC236}">
                <a16:creationId xmlns:a16="http://schemas.microsoft.com/office/drawing/2014/main" id="{AB100201-659E-B753-73F9-7299DF7C0A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3131" y="2112805"/>
            <a:ext cx="242888" cy="328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48726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">
            <a:extLst>
              <a:ext uri="{FF2B5EF4-FFF2-40B4-BE49-F238E27FC236}">
                <a16:creationId xmlns:a16="http://schemas.microsoft.com/office/drawing/2014/main" id="{F4A9ED1E-6E58-41EF-B33E-D84FAD858499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Gobierno operativo: el servicio se controla por ciclos</a:t>
            </a: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96DBF556-EF1C-4B10-9F4F-1368A35BCE1C}"/>
              </a:ext>
            </a:extLst>
          </p:cNvPr>
          <p:cNvSpPr>
            <a:spLocks noGrp="1"/>
          </p:cNvSpPr>
          <p:nvPr/>
        </p:nvSpPr>
        <p:spPr>
          <a:xfrm>
            <a:off x="361950" y="657225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defTabSz="685800" fontAlgn="ctr">
              <a:lnSpc>
                <a:spcPts val="1406"/>
              </a:lnSpc>
              <a:defRPr sz="1050" b="0">
                <a:solidFill>
                  <a:srgbClr val="9AAEE0"/>
                </a:solidFill>
              </a:defRPr>
            </a:pP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Rutinas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claras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para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que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la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mejora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no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dependa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de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héroes</a:t>
            </a:r>
            <a:endParaRPr lang="es-ES" sz="1000" spc="-25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D1D3C868-8914-4670-9279-9CF67622913F}"/>
              </a:ext>
            </a:extLst>
          </p:cNvPr>
          <p:cNvSpPr>
            <a:spLocks noGrp="1"/>
          </p:cNvSpPr>
          <p:nvPr/>
        </p:nvSpPr>
        <p:spPr>
          <a:xfrm>
            <a:off x="609600" y="1276350"/>
            <a:ext cx="2171700" cy="2476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87B83"/>
                </a:solidFill>
              </a:defRPr>
            </a:pPr>
            <a:r>
              <a:rPr sz="1050" b="1">
                <a:solidFill>
                  <a:srgbClr val="0070C0"/>
                </a:solidFill>
                <a:latin typeface="Reddit Sans"/>
                <a:ea typeface="Reddit Sans"/>
              </a:rPr>
              <a:t>Diario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E9EB56C4-CE10-41E0-9D9D-FC95A1D96D89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2171700" cy="11620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Stand-up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operativo</a:t>
            </a:r>
            <a:endParaRPr lang="es-ES" sz="850" err="1"/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Tickets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críticos</a:t>
            </a:r>
            <a:endParaRPr sz="850" b="0">
              <a:solidFill>
                <a:srgbClr val="172033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Alertas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AIOps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Bloqueos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de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capacidad</a:t>
            </a:r>
            <a:endParaRPr sz="850" b="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0E91D4E0-1A53-4498-B1E3-FAF7EDBB8DB1}"/>
              </a:ext>
            </a:extLst>
          </p:cNvPr>
          <p:cNvSpPr>
            <a:spLocks noGrp="1"/>
          </p:cNvSpPr>
          <p:nvPr/>
        </p:nvSpPr>
        <p:spPr>
          <a:xfrm>
            <a:off x="3486150" y="1276350"/>
            <a:ext cx="2171700" cy="2476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163B8C"/>
                </a:solidFill>
              </a:defRPr>
            </a:pPr>
            <a:r>
              <a:rPr sz="1050" b="1">
                <a:solidFill>
                  <a:srgbClr val="0070C0"/>
                </a:solidFill>
                <a:latin typeface="Reddit Sans"/>
                <a:ea typeface="Reddit Sans"/>
              </a:rPr>
              <a:t>Semanal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567563FF-C2D7-4634-8F36-C5B3AD8BBC1C}"/>
              </a:ext>
            </a:extLst>
          </p:cNvPr>
          <p:cNvSpPr>
            <a:spLocks noGrp="1"/>
          </p:cNvSpPr>
          <p:nvPr/>
        </p:nvSpPr>
        <p:spPr>
          <a:xfrm>
            <a:off x="3486150" y="1600200"/>
            <a:ext cx="2171700" cy="11620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Revisión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SLA/XLA</a:t>
            </a:r>
            <a:endParaRPr lang="es-ES" sz="850"/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Tendencias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RCA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Backlog y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cambios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Actualización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KEDB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C96F2F58-7ED2-47BB-BCE8-4EB7A911875C}"/>
              </a:ext>
            </a:extLst>
          </p:cNvPr>
          <p:cNvSpPr>
            <a:spLocks noGrp="1"/>
          </p:cNvSpPr>
          <p:nvPr/>
        </p:nvSpPr>
        <p:spPr>
          <a:xfrm>
            <a:off x="6362700" y="1276350"/>
            <a:ext cx="2171700" cy="2476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D47A00"/>
                </a:solidFill>
              </a:defRPr>
            </a:pPr>
            <a:r>
              <a:rPr sz="1050" b="1">
                <a:solidFill>
                  <a:srgbClr val="0070C0"/>
                </a:solidFill>
                <a:latin typeface="Reddit Sans"/>
                <a:ea typeface="Reddit Sans"/>
              </a:rPr>
              <a:t>Mensual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BC0E508C-8AAF-4375-A547-8BC504097420}"/>
              </a:ext>
            </a:extLst>
          </p:cNvPr>
          <p:cNvSpPr>
            <a:spLocks noGrp="1"/>
          </p:cNvSpPr>
          <p:nvPr/>
        </p:nvSpPr>
        <p:spPr>
          <a:xfrm>
            <a:off x="6362700" y="1600200"/>
            <a:ext cx="2171700" cy="11620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Service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Review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cliente</a:t>
            </a:r>
            <a:endParaRPr lang="es-ES" sz="850" err="1"/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Reporte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ejecutivo</a:t>
            </a:r>
            <a:endParaRPr sz="850" b="0">
              <a:solidFill>
                <a:srgbClr val="172033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Plan de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mejora</a:t>
            </a:r>
            <a:endParaRPr sz="850" b="0">
              <a:solidFill>
                <a:srgbClr val="172033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Ajustes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de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alcance</a:t>
            </a:r>
            <a:endParaRPr sz="850" b="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2B9ED9C4-70A3-47A1-9209-3EF909CF5FD8}"/>
              </a:ext>
            </a:extLst>
          </p:cNvPr>
          <p:cNvSpPr>
            <a:spLocks noGrp="1"/>
          </p:cNvSpPr>
          <p:nvPr/>
        </p:nvSpPr>
        <p:spPr>
          <a:xfrm>
            <a:off x="661307" y="3061607"/>
            <a:ext cx="1807029" cy="106407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050" b="1">
                <a:solidFill>
                  <a:srgbClr val="0C2362"/>
                </a:solidFill>
              </a:defRPr>
            </a:pPr>
            <a:r>
              <a:rPr sz="1050" b="1">
                <a:solidFill>
                  <a:srgbClr val="0070C0"/>
                </a:solidFill>
                <a:highlight>
                  <a:srgbClr val="FFFF00"/>
                </a:highlight>
                <a:latin typeface="Reddit Sans"/>
                <a:ea typeface="Reddit Sans"/>
              </a:rPr>
              <a:t>Roles </a:t>
            </a:r>
            <a:r>
              <a:rPr lang="es-ES" sz="1050" b="1">
                <a:solidFill>
                  <a:srgbClr val="0070C0"/>
                </a:solidFill>
                <a:highlight>
                  <a:srgbClr val="FFFF00"/>
                </a:highlight>
                <a:latin typeface="Reddit Sans"/>
                <a:ea typeface="Reddit Sans"/>
              </a:rPr>
              <a:t>mínimos</a:t>
            </a:r>
            <a:r>
              <a:rPr sz="1050" b="1">
                <a:solidFill>
                  <a:srgbClr val="0070C0"/>
                </a:solidFill>
                <a:highlight>
                  <a:srgbClr val="FFFF00"/>
                </a:highlight>
                <a:latin typeface="Reddit Sans"/>
                <a:ea typeface="Reddit Sans"/>
              </a:rPr>
              <a:t>: </a:t>
            </a:r>
            <a:endParaRPr lang="es-ES" sz="1050">
              <a:solidFill>
                <a:srgbClr val="0070C0"/>
              </a:solidFill>
              <a:highlight>
                <a:srgbClr val="FFFF00"/>
              </a:highlight>
              <a:latin typeface="Reddit Sans"/>
              <a:ea typeface="Reddit Sans"/>
            </a:endParaRPr>
          </a:p>
          <a:p>
            <a:pPr>
              <a:defRPr sz="1050" b="1">
                <a:solidFill>
                  <a:srgbClr val="0C2362"/>
                </a:solidFill>
              </a:defRPr>
            </a:pPr>
            <a:endParaRPr lang="es-ES" sz="1050">
              <a:solidFill>
                <a:srgbClr val="0C2362"/>
              </a:solidFill>
              <a:latin typeface="Reddit Sans"/>
              <a:ea typeface="Reddit Sans"/>
            </a:endParaRPr>
          </a:p>
          <a:p>
            <a:pPr marL="171450" indent="-171450">
              <a:buChar char="•"/>
              <a:defRPr sz="1050" b="1">
                <a:solidFill>
                  <a:srgbClr val="0C2362"/>
                </a:solidFill>
              </a:defRPr>
            </a:pPr>
            <a:r>
              <a:rPr sz="850">
                <a:solidFill>
                  <a:srgbClr val="172033"/>
                </a:solidFill>
                <a:latin typeface="Reddit Sans"/>
                <a:ea typeface="Reddit Sans"/>
              </a:rPr>
              <a:t>Gerente de Mesa</a:t>
            </a:r>
            <a:endParaRPr lang="es-ES" sz="850">
              <a:solidFill>
                <a:srgbClr val="172033"/>
              </a:solidFill>
              <a:latin typeface="Reddit Sans"/>
              <a:ea typeface="Reddit Sans"/>
            </a:endParaRP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sz="850">
                <a:solidFill>
                  <a:srgbClr val="172033"/>
                </a:solidFill>
                <a:highlight>
                  <a:srgbClr val="FFFF00"/>
                </a:highlight>
                <a:latin typeface="Reddit Sans"/>
                <a:ea typeface="Reddit Sans"/>
              </a:rPr>
              <a:t>Coordinador de Servicio</a:t>
            </a:r>
            <a:endParaRPr lang="es-ES" sz="850">
              <a:solidFill>
                <a:srgbClr val="172033"/>
              </a:solidFill>
              <a:highlight>
                <a:srgbClr val="FFFF00"/>
              </a:highlight>
              <a:latin typeface="Reddit Sans"/>
              <a:ea typeface="Reddit Sans"/>
            </a:endParaRP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sz="850" err="1">
                <a:solidFill>
                  <a:srgbClr val="172033"/>
                </a:solidFill>
                <a:latin typeface="Reddit Sans"/>
                <a:ea typeface="Reddit Sans"/>
              </a:rPr>
              <a:t>Líder</a:t>
            </a:r>
            <a:r>
              <a:rPr sz="850">
                <a:solidFill>
                  <a:srgbClr val="172033"/>
                </a:solidFill>
                <a:latin typeface="Reddit Sans"/>
                <a:ea typeface="Reddit Sans"/>
              </a:rPr>
              <a:t> Técnico, </a:t>
            </a:r>
            <a:r>
              <a:rPr sz="850" err="1">
                <a:solidFill>
                  <a:srgbClr val="172033"/>
                </a:solidFill>
                <a:latin typeface="Reddit Sans"/>
                <a:ea typeface="Reddit Sans"/>
              </a:rPr>
              <a:t>Analistas</a:t>
            </a:r>
            <a:r>
              <a:rPr sz="850">
                <a:solidFill>
                  <a:srgbClr val="172033"/>
                </a:solidFill>
                <a:latin typeface="Reddit Sans"/>
                <a:ea typeface="Reddit Sans"/>
              </a:rPr>
              <a:t> N1/</a:t>
            </a:r>
            <a:r>
              <a:rPr lang="es-ES" sz="850">
                <a:solidFill>
                  <a:srgbClr val="172033"/>
                </a:solidFill>
                <a:latin typeface="Reddit Sans"/>
                <a:ea typeface="Reddit Sans"/>
              </a:rPr>
              <a:t>N2</a:t>
            </a: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850">
                <a:solidFill>
                  <a:srgbClr val="172033"/>
                </a:solidFill>
                <a:latin typeface="Reddit Sans"/>
                <a:ea typeface="Reddit Sans"/>
              </a:rPr>
              <a:t>Especialistas</a:t>
            </a:r>
            <a:r>
              <a:rPr sz="85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lang="es-ES" sz="850">
                <a:solidFill>
                  <a:srgbClr val="172033"/>
                </a:solidFill>
                <a:latin typeface="Reddit Sans"/>
                <a:ea typeface="Reddit Sans"/>
              </a:rPr>
              <a:t>N3</a:t>
            </a:r>
          </a:p>
          <a:p>
            <a:pPr marL="171450" indent="-171450">
              <a:buFont typeface="Arial"/>
              <a:buChar char="•"/>
              <a:defRPr sz="863" b="0">
                <a:solidFill>
                  <a:srgbClr val="172033"/>
                </a:solidFill>
              </a:defRPr>
            </a:pPr>
            <a:r>
              <a:rPr lang="es-ES" sz="850">
                <a:solidFill>
                  <a:srgbClr val="172033"/>
                </a:solidFill>
                <a:latin typeface="Reddit Sans"/>
                <a:ea typeface="Reddit Sans"/>
              </a:rPr>
              <a:t>Gobierno</a:t>
            </a:r>
            <a:r>
              <a:rPr sz="850">
                <a:solidFill>
                  <a:srgbClr val="172033"/>
                </a:solidFill>
                <a:latin typeface="Reddit Sans"/>
                <a:ea typeface="Reddit Sans"/>
              </a:rPr>
              <a:t> IA/Datos.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36766F4-82F0-7A77-9BC1-B760E5A21C02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59631712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30F927-7973-C00F-1291-26E7988E0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FB7599A-11BB-C6B2-4E20-5C9A79A796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95" b="4695"/>
          <a:stretch>
            <a:fillRect/>
          </a:stretch>
        </p:blipFill>
        <p:spPr>
          <a:xfrm>
            <a:off x="1571625" y="1091973"/>
            <a:ext cx="6000750" cy="3313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94154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76EEE6-CCF6-1FE2-71E3-3AC29E361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">
            <a:extLst>
              <a:ext uri="{FF2B5EF4-FFF2-40B4-BE49-F238E27FC236}">
                <a16:creationId xmlns:a16="http://schemas.microsoft.com/office/drawing/2014/main" id="{F901F8AD-9DC6-BBBA-1522-DED6DB401EE7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sz="1650" b="1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Gobierno</a:t>
            </a:r>
            <a:r>
              <a:rPr sz="1650" b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</a:t>
            </a:r>
            <a:r>
              <a:rPr sz="1650" b="1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operativo</a:t>
            </a:r>
            <a:r>
              <a:rPr sz="1650" b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: el </a:t>
            </a:r>
            <a:r>
              <a:rPr sz="1650" b="1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servicio</a:t>
            </a:r>
            <a:r>
              <a:rPr sz="1650" b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se </a:t>
            </a:r>
            <a:r>
              <a:rPr sz="1650" b="1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controla</a:t>
            </a:r>
            <a:r>
              <a:rPr sz="1650" b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</a:t>
            </a:r>
            <a:r>
              <a:rPr sz="1650" b="1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por</a:t>
            </a:r>
            <a:r>
              <a:rPr sz="1650" b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 </a:t>
            </a:r>
            <a:r>
              <a:rPr sz="1650" b="1" err="1">
                <a:solidFill>
                  <a:srgbClr val="0C2362"/>
                </a:solidFill>
                <a:highlight>
                  <a:srgbClr val="FFFF00"/>
                </a:highlight>
                <a:latin typeface="Reddit Sans"/>
                <a:ea typeface="Reddit Sans"/>
              </a:rPr>
              <a:t>ciclos</a:t>
            </a:r>
            <a:endParaRPr lang="es-ES" sz="1650" b="1" err="1">
              <a:solidFill>
                <a:srgbClr val="0C2362"/>
              </a:solidFill>
              <a:highlight>
                <a:srgbClr val="FFFF00"/>
              </a:highlight>
              <a:latin typeface="Reddit Sans"/>
              <a:ea typeface="Reddit Sans"/>
            </a:endParaRP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15A57D69-DFE5-7550-4060-24ED3BC93E45}"/>
              </a:ext>
            </a:extLst>
          </p:cNvPr>
          <p:cNvSpPr>
            <a:spLocks noGrp="1"/>
          </p:cNvSpPr>
          <p:nvPr/>
        </p:nvSpPr>
        <p:spPr>
          <a:xfrm>
            <a:off x="361950" y="657225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defTabSz="685800" fontAlgn="ctr">
              <a:lnSpc>
                <a:spcPts val="1406"/>
              </a:lnSpc>
              <a:defRPr sz="1050" b="0">
                <a:solidFill>
                  <a:srgbClr val="9AAEE0"/>
                </a:solidFill>
              </a:defRPr>
            </a:pP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Rutinas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claras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para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que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la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mejora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no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dependa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de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héroes</a:t>
            </a:r>
            <a:endParaRPr lang="es-ES" sz="1000" spc="-25" err="1">
              <a:solidFill>
                <a:srgbClr val="000000">
                  <a:alpha val="55000"/>
                </a:srgbClr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EC09CDB-7BFB-1F12-D81A-97D697A7A05A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  <p:pic>
        <p:nvPicPr>
          <p:cNvPr id="6" name="Image 0" descr="472c3e62.png">
            <a:extLst>
              <a:ext uri="{FF2B5EF4-FFF2-40B4-BE49-F238E27FC236}">
                <a16:creationId xmlns:a16="http://schemas.microsoft.com/office/drawing/2014/main" id="{BD4F3B8A-3877-BFA4-3C94-D52592C17D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317" y="1443245"/>
            <a:ext cx="2907506" cy="892969"/>
          </a:xfrm>
          <a:prstGeom prst="rect">
            <a:avLst/>
          </a:prstGeom>
        </p:spPr>
      </p:pic>
      <p:sp>
        <p:nvSpPr>
          <p:cNvPr id="12" name="Text 2">
            <a:extLst>
              <a:ext uri="{FF2B5EF4-FFF2-40B4-BE49-F238E27FC236}">
                <a16:creationId xmlns:a16="http://schemas.microsoft.com/office/drawing/2014/main" id="{763C01AD-EED1-6AF2-410C-EC8AB720E503}"/>
              </a:ext>
            </a:extLst>
          </p:cNvPr>
          <p:cNvSpPr/>
          <p:nvPr/>
        </p:nvSpPr>
        <p:spPr>
          <a:xfrm>
            <a:off x="333036" y="1825905"/>
            <a:ext cx="2619301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Diario: Stand-up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0DFFF940-ED11-462E-D101-3A468EF422B5}"/>
              </a:ext>
            </a:extLst>
          </p:cNvPr>
          <p:cNvSpPr/>
          <p:nvPr/>
        </p:nvSpPr>
        <p:spPr>
          <a:xfrm>
            <a:off x="511629" y="2434351"/>
            <a:ext cx="2619301" cy="39089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Sincronización rápida y gestión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bloqueos operativos.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A591268A-1575-249A-C718-6133F23F2325}"/>
              </a:ext>
            </a:extLst>
          </p:cNvPr>
          <p:cNvSpPr/>
          <p:nvPr/>
        </p:nvSpPr>
        <p:spPr>
          <a:xfrm>
            <a:off x="1571248" y="1264651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08ECD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1" name="Image 1" descr="-2ca8955e.png">
            <a:extLst>
              <a:ext uri="{FF2B5EF4-FFF2-40B4-BE49-F238E27FC236}">
                <a16:creationId xmlns:a16="http://schemas.microsoft.com/office/drawing/2014/main" id="{48022981-57A5-6983-EB04-59415F3247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8682" y="1382551"/>
            <a:ext cx="142875" cy="121444"/>
          </a:xfrm>
          <a:prstGeom prst="rect">
            <a:avLst/>
          </a:prstGeom>
        </p:spPr>
      </p:pic>
      <p:pic>
        <p:nvPicPr>
          <p:cNvPr id="23" name="Image 2" descr="-6f0fad5e.png">
            <a:extLst>
              <a:ext uri="{FF2B5EF4-FFF2-40B4-BE49-F238E27FC236}">
                <a16:creationId xmlns:a16="http://schemas.microsoft.com/office/drawing/2014/main" id="{67EF8405-8303-22D8-E1BA-F30CA2C852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9493" y="1443245"/>
            <a:ext cx="2907506" cy="892969"/>
          </a:xfrm>
          <a:prstGeom prst="rect">
            <a:avLst/>
          </a:prstGeom>
        </p:spPr>
      </p:pic>
      <p:sp>
        <p:nvSpPr>
          <p:cNvPr id="25" name="Text 5">
            <a:extLst>
              <a:ext uri="{FF2B5EF4-FFF2-40B4-BE49-F238E27FC236}">
                <a16:creationId xmlns:a16="http://schemas.microsoft.com/office/drawing/2014/main" id="{278EFADE-81B9-D3D6-DA44-F694B3B26AE6}"/>
              </a:ext>
            </a:extLst>
          </p:cNvPr>
          <p:cNvSpPr/>
          <p:nvPr/>
        </p:nvSpPr>
        <p:spPr>
          <a:xfrm>
            <a:off x="3309598" y="1825905"/>
            <a:ext cx="2404988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Semanal: SLA / XLA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7" name="Text 6">
            <a:extLst>
              <a:ext uri="{FF2B5EF4-FFF2-40B4-BE49-F238E27FC236}">
                <a16:creationId xmlns:a16="http://schemas.microsoft.com/office/drawing/2014/main" id="{8141466D-2D7E-D4CD-1A4D-5C825E0D79FC}"/>
              </a:ext>
            </a:extLst>
          </p:cNvPr>
          <p:cNvSpPr/>
          <p:nvPr/>
        </p:nvSpPr>
        <p:spPr>
          <a:xfrm>
            <a:off x="3273879" y="2434351"/>
            <a:ext cx="2619301" cy="39089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Análisis de niveles de servicio y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experiencia del usuario.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23205769-EA43-4DF4-C9C7-A908F9C68808}"/>
              </a:ext>
            </a:extLst>
          </p:cNvPr>
          <p:cNvSpPr/>
          <p:nvPr/>
        </p:nvSpPr>
        <p:spPr>
          <a:xfrm>
            <a:off x="4333423" y="1264651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46086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31" name="Image 3" descr="-38c1a09e.png">
            <a:extLst>
              <a:ext uri="{FF2B5EF4-FFF2-40B4-BE49-F238E27FC236}">
                <a16:creationId xmlns:a16="http://schemas.microsoft.com/office/drawing/2014/main" id="{C84BFE4C-D053-42AF-027D-CF071393CE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0859" y="1382551"/>
            <a:ext cx="142875" cy="121444"/>
          </a:xfrm>
          <a:prstGeom prst="rect">
            <a:avLst/>
          </a:prstGeom>
        </p:spPr>
      </p:pic>
      <p:pic>
        <p:nvPicPr>
          <p:cNvPr id="33" name="Image 4" descr="-734981e.png">
            <a:extLst>
              <a:ext uri="{FF2B5EF4-FFF2-40B4-BE49-F238E27FC236}">
                <a16:creationId xmlns:a16="http://schemas.microsoft.com/office/drawing/2014/main" id="{EC0A3137-5559-6D50-2981-D79900D9FD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21780" y="1443245"/>
            <a:ext cx="2907506" cy="892969"/>
          </a:xfrm>
          <a:prstGeom prst="rect">
            <a:avLst/>
          </a:prstGeom>
        </p:spPr>
      </p:pic>
      <p:sp>
        <p:nvSpPr>
          <p:cNvPr id="35" name="Text 8">
            <a:extLst>
              <a:ext uri="{FF2B5EF4-FFF2-40B4-BE49-F238E27FC236}">
                <a16:creationId xmlns:a16="http://schemas.microsoft.com/office/drawing/2014/main" id="{6EA97256-B218-06D6-6229-6DFB3B7FBB22}"/>
              </a:ext>
            </a:extLst>
          </p:cNvPr>
          <p:cNvSpPr/>
          <p:nvPr/>
        </p:nvSpPr>
        <p:spPr>
          <a:xfrm>
            <a:off x="6071848" y="1825905"/>
            <a:ext cx="2404988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Mensual: Service Review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2758C674-803C-4AE8-7B05-026716D11D32}"/>
              </a:ext>
            </a:extLst>
          </p:cNvPr>
          <p:cNvSpPr/>
          <p:nvPr/>
        </p:nvSpPr>
        <p:spPr>
          <a:xfrm>
            <a:off x="6036130" y="2434351"/>
            <a:ext cx="2754875" cy="39089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39"/>
              </a:lnSpc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Evaluación de desempeño, tendencias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y mejora continua.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9" name="Shape 10">
            <a:extLst>
              <a:ext uri="{FF2B5EF4-FFF2-40B4-BE49-F238E27FC236}">
                <a16:creationId xmlns:a16="http://schemas.microsoft.com/office/drawing/2014/main" id="{E84AFF23-236E-8917-A98C-2F40A4B4C9EB}"/>
              </a:ext>
            </a:extLst>
          </p:cNvPr>
          <p:cNvSpPr/>
          <p:nvPr/>
        </p:nvSpPr>
        <p:spPr>
          <a:xfrm>
            <a:off x="7095711" y="1264651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B354A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41" name="Image 5" descr="2f0a8722.png">
            <a:extLst>
              <a:ext uri="{FF2B5EF4-FFF2-40B4-BE49-F238E27FC236}">
                <a16:creationId xmlns:a16="http://schemas.microsoft.com/office/drawing/2014/main" id="{89ABEEF2-8CAE-CF40-43A8-2DDED7E5090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13611" y="1361624"/>
            <a:ext cx="121444" cy="164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266743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">
            <a:extLst>
              <a:ext uri="{FF2B5EF4-FFF2-40B4-BE49-F238E27FC236}">
                <a16:creationId xmlns:a16="http://schemas.microsoft.com/office/drawing/2014/main" id="{106B552C-4355-4AE2-9410-1725D41D4113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C2362"/>
                </a:solidFill>
              </a:defRPr>
            </a:pP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Métricas del servicio: de tickets cerrados a valor demostrado</a:t>
            </a: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A6037EDF-6415-4C01-BD05-61D7B035B888}"/>
              </a:ext>
            </a:extLst>
          </p:cNvPr>
          <p:cNvSpPr>
            <a:spLocks noGrp="1"/>
          </p:cNvSpPr>
          <p:nvPr/>
        </p:nvSpPr>
        <p:spPr>
          <a:xfrm>
            <a:off x="361950" y="657225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defTabSz="685800" fontAlgn="ctr">
              <a:lnSpc>
                <a:spcPts val="1406"/>
              </a:lnSpc>
              <a:defRPr sz="1050" b="0">
                <a:solidFill>
                  <a:srgbClr val="9AAEE0"/>
                </a:solidFill>
              </a:defRPr>
            </a:pP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El tablero debe combinar operación, experiencia, economía y evolución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6BE2B1AF-40A1-4893-AD40-72825B0CE011}"/>
              </a:ext>
            </a:extLst>
          </p:cNvPr>
          <p:cNvSpPr>
            <a:spLocks noGrp="1"/>
          </p:cNvSpPr>
          <p:nvPr/>
        </p:nvSpPr>
        <p:spPr>
          <a:xfrm>
            <a:off x="676275" y="1238250"/>
            <a:ext cx="3409950" cy="2476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163B8C"/>
                </a:solidFill>
              </a:defRPr>
            </a:pPr>
            <a:r>
              <a:rPr sz="1050" b="1">
                <a:solidFill>
                  <a:srgbClr val="163B8C"/>
                </a:solidFill>
                <a:latin typeface="Reddit Sans"/>
                <a:ea typeface="Reddit Sans"/>
              </a:rPr>
              <a:t>Operación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249CC4CB-8055-49BE-AC29-D8D09D268D3B}"/>
              </a:ext>
            </a:extLst>
          </p:cNvPr>
          <p:cNvSpPr>
            <a:spLocks noGrp="1"/>
          </p:cNvSpPr>
          <p:nvPr/>
        </p:nvSpPr>
        <p:spPr>
          <a:xfrm>
            <a:off x="676275" y="1562100"/>
            <a:ext cx="3409950" cy="6667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FCR</a:t>
            </a:r>
            <a:endParaRPr lang="es-ES"/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MTTR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Cumplimiento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SLA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Backlog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por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prioridad</a:t>
            </a:r>
            <a:endParaRPr sz="850" b="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37AEBCC5-2CA9-4A39-B000-22A2CAA641C8}"/>
              </a:ext>
            </a:extLst>
          </p:cNvPr>
          <p:cNvSpPr>
            <a:spLocks noGrp="1"/>
          </p:cNvSpPr>
          <p:nvPr/>
        </p:nvSpPr>
        <p:spPr>
          <a:xfrm>
            <a:off x="5038725" y="1238250"/>
            <a:ext cx="3409950" cy="2476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087B83"/>
                </a:solidFill>
              </a:defRPr>
            </a:pPr>
            <a:r>
              <a:rPr sz="1050" b="1">
                <a:solidFill>
                  <a:srgbClr val="083C92"/>
                </a:solidFill>
                <a:latin typeface="Reddit Sans"/>
                <a:ea typeface="Reddit Sans"/>
              </a:rPr>
              <a:t>Experiencia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8D9E31EE-481C-4A9B-9699-BF471D188B9E}"/>
              </a:ext>
            </a:extLst>
          </p:cNvPr>
          <p:cNvSpPr>
            <a:spLocks noGrp="1"/>
          </p:cNvSpPr>
          <p:nvPr/>
        </p:nvSpPr>
        <p:spPr>
          <a:xfrm>
            <a:off x="5038725" y="1562100"/>
            <a:ext cx="3409950" cy="6667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CSAT</a:t>
            </a:r>
            <a:endParaRPr lang="es-ES"/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XLA / DEX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Esfuerzo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del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usuario</a:t>
            </a:r>
            <a:endParaRPr sz="850" b="0">
              <a:solidFill>
                <a:srgbClr val="172033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Reaperturas</a:t>
            </a:r>
            <a:endParaRPr sz="850" b="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EC74EA49-E021-4A9C-9B1E-96A41D399694}"/>
              </a:ext>
            </a:extLst>
          </p:cNvPr>
          <p:cNvSpPr>
            <a:spLocks noGrp="1"/>
          </p:cNvSpPr>
          <p:nvPr/>
        </p:nvSpPr>
        <p:spPr>
          <a:xfrm>
            <a:off x="676275" y="2509157"/>
            <a:ext cx="3409950" cy="2476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20835A"/>
                </a:solidFill>
              </a:defRPr>
            </a:pPr>
            <a:r>
              <a:rPr sz="1050" b="1">
                <a:solidFill>
                  <a:srgbClr val="083C92"/>
                </a:solidFill>
                <a:latin typeface="Reddit Sans"/>
                <a:ea typeface="Reddit Sans"/>
              </a:rPr>
              <a:t>Economía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E66D574F-9ABD-452F-898E-D7ADC7A3B851}"/>
              </a:ext>
            </a:extLst>
          </p:cNvPr>
          <p:cNvSpPr>
            <a:spLocks noGrp="1"/>
          </p:cNvSpPr>
          <p:nvPr/>
        </p:nvSpPr>
        <p:spPr>
          <a:xfrm>
            <a:off x="676275" y="2833007"/>
            <a:ext cx="3409950" cy="6667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Costo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por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ticket</a:t>
            </a:r>
            <a:endParaRPr lang="es-ES"/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Deflexión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N0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Productividad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por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nivel</a:t>
            </a:r>
            <a:endParaRPr sz="850" b="0">
              <a:solidFill>
                <a:srgbClr val="172033"/>
              </a:solidFill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Margen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del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servicio</a:t>
            </a:r>
            <a:endParaRPr sz="850" b="0">
              <a:solidFill>
                <a:srgbClr val="172033"/>
              </a:solidFill>
              <a:latin typeface="Reddit Sans"/>
              <a:ea typeface="Reddit Sans"/>
            </a:endParaRP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813D23F9-7E23-428D-A120-4DC8897CE9B0}"/>
              </a:ext>
            </a:extLst>
          </p:cNvPr>
          <p:cNvSpPr>
            <a:spLocks noGrp="1"/>
          </p:cNvSpPr>
          <p:nvPr/>
        </p:nvSpPr>
        <p:spPr>
          <a:xfrm>
            <a:off x="5038725" y="2509157"/>
            <a:ext cx="3409950" cy="2476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D47A00"/>
                </a:solidFill>
              </a:defRPr>
            </a:pPr>
            <a:r>
              <a:rPr sz="1050" b="1">
                <a:solidFill>
                  <a:srgbClr val="083C92"/>
                </a:solidFill>
                <a:latin typeface="Reddit Sans"/>
                <a:ea typeface="Reddit Sans"/>
              </a:rPr>
              <a:t>Evolución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83F83CF1-E915-4FC6-969B-4BA3AB85D980}"/>
              </a:ext>
            </a:extLst>
          </p:cNvPr>
          <p:cNvSpPr>
            <a:spLocks noGrp="1"/>
          </p:cNvSpPr>
          <p:nvPr/>
        </p:nvSpPr>
        <p:spPr>
          <a:xfrm>
            <a:off x="5038725" y="2833007"/>
            <a:ext cx="3409950" cy="6667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%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automatización</a:t>
            </a:r>
            <a:endParaRPr lang="es-ES" sz="850" err="1">
              <a:latin typeface="Reddit Sans"/>
              <a:ea typeface="Reddit Sans"/>
            </a:endParaRP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Uso KEDB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Problemas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recurrentes</a:t>
            </a:r>
          </a:p>
          <a:p>
            <a:pPr marL="171450" indent="-171450" algn="l">
              <a:buChar char="•"/>
              <a:defRPr sz="863" b="0">
                <a:solidFill>
                  <a:srgbClr val="172033"/>
                </a:solidFill>
              </a:defRPr>
            </a:pP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Mejoras</a:t>
            </a:r>
            <a:r>
              <a:rPr sz="850" b="0">
                <a:solidFill>
                  <a:srgbClr val="172033"/>
                </a:solidFill>
                <a:latin typeface="Reddit Sans"/>
                <a:ea typeface="Reddit Sans"/>
              </a:rPr>
              <a:t> </a:t>
            </a:r>
            <a:r>
              <a:rPr sz="850" b="0" err="1">
                <a:solidFill>
                  <a:srgbClr val="172033"/>
                </a:solidFill>
                <a:latin typeface="Reddit Sans"/>
                <a:ea typeface="Reddit Sans"/>
              </a:rPr>
              <a:t>implementadas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7449F463-9CDC-437F-8D77-F76E9199DD32}"/>
              </a:ext>
            </a:extLst>
          </p:cNvPr>
          <p:cNvSpPr>
            <a:spLocks noGrp="1"/>
          </p:cNvSpPr>
          <p:nvPr/>
        </p:nvSpPr>
        <p:spPr>
          <a:xfrm>
            <a:off x="595993" y="4148818"/>
            <a:ext cx="7429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algn="ctr">
              <a:defRPr sz="1200" b="1">
                <a:solidFill>
                  <a:srgbClr val="0C2362"/>
                </a:solidFill>
              </a:defRPr>
            </a:pPr>
            <a:r>
              <a:rPr sz="1200" b="1">
                <a:solidFill>
                  <a:srgbClr val="0C2362"/>
                </a:solidFill>
                <a:latin typeface="Reddit Sans"/>
                <a:ea typeface="Reddit Sans"/>
              </a:rPr>
              <a:t>Meta de </a:t>
            </a:r>
            <a:r>
              <a:rPr sz="1200" b="1" err="1">
                <a:solidFill>
                  <a:srgbClr val="0C2362"/>
                </a:solidFill>
                <a:latin typeface="Reddit Sans"/>
                <a:ea typeface="Reddit Sans"/>
              </a:rPr>
              <a:t>madurez</a:t>
            </a:r>
            <a:r>
              <a:rPr sz="1200" b="1">
                <a:solidFill>
                  <a:srgbClr val="0C2362"/>
                </a:solidFill>
                <a:latin typeface="Reddit Sans"/>
                <a:ea typeface="Reddit Sans"/>
              </a:rPr>
              <a:t>: </a:t>
            </a:r>
            <a:r>
              <a:rPr sz="1200" b="1" err="1">
                <a:solidFill>
                  <a:srgbClr val="0C2362"/>
                </a:solidFill>
                <a:latin typeface="Reddit Sans"/>
                <a:ea typeface="Reddit Sans"/>
              </a:rPr>
              <a:t>que</a:t>
            </a:r>
            <a:r>
              <a:rPr sz="1200" b="1">
                <a:solidFill>
                  <a:srgbClr val="0C2362"/>
                </a:solidFill>
                <a:latin typeface="Reddit Sans"/>
                <a:ea typeface="Reddit Sans"/>
              </a:rPr>
              <a:t> el </a:t>
            </a:r>
            <a:r>
              <a:rPr sz="1200" b="1" err="1">
                <a:solidFill>
                  <a:srgbClr val="0C2362"/>
                </a:solidFill>
                <a:latin typeface="Reddit Sans"/>
                <a:ea typeface="Reddit Sans"/>
              </a:rPr>
              <a:t>cliente</a:t>
            </a:r>
            <a:r>
              <a:rPr sz="1200" b="1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sz="1200" b="1" err="1">
                <a:solidFill>
                  <a:srgbClr val="0C2362"/>
                </a:solidFill>
                <a:latin typeface="Reddit Sans"/>
                <a:ea typeface="Reddit Sans"/>
              </a:rPr>
              <a:t>vea</a:t>
            </a:r>
            <a:r>
              <a:rPr sz="1200" b="1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sz="1200" b="1" err="1">
                <a:solidFill>
                  <a:srgbClr val="0C2362"/>
                </a:solidFill>
                <a:latin typeface="Reddit Sans"/>
                <a:ea typeface="Reddit Sans"/>
              </a:rPr>
              <a:t>menos</a:t>
            </a:r>
            <a:r>
              <a:rPr sz="1200" b="1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sz="1200" b="1" err="1">
                <a:solidFill>
                  <a:srgbClr val="0C2362"/>
                </a:solidFill>
                <a:latin typeface="Reddit Sans"/>
                <a:ea typeface="Reddit Sans"/>
              </a:rPr>
              <a:t>interrupciones</a:t>
            </a:r>
            <a:r>
              <a:rPr sz="1200" b="1">
                <a:solidFill>
                  <a:srgbClr val="0C2362"/>
                </a:solidFill>
                <a:latin typeface="Reddit Sans"/>
                <a:ea typeface="Reddit Sans"/>
              </a:rPr>
              <a:t> y </a:t>
            </a:r>
            <a:r>
              <a:rPr lang="es-ES" sz="1200" b="1" err="1">
                <a:solidFill>
                  <a:srgbClr val="0C2362"/>
                </a:solidFill>
                <a:latin typeface="Reddit Sans"/>
                <a:ea typeface="Reddit Sans"/>
              </a:rPr>
              <a:t>PersonalSoft</a:t>
            </a:r>
            <a:r>
              <a:rPr sz="1200" b="1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sz="1200" b="1" err="1">
                <a:solidFill>
                  <a:srgbClr val="0C2362"/>
                </a:solidFill>
                <a:latin typeface="Reddit Sans"/>
                <a:ea typeface="Reddit Sans"/>
              </a:rPr>
              <a:t>vea</a:t>
            </a:r>
            <a:r>
              <a:rPr sz="1200" b="1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sz="1200" b="1" err="1">
                <a:solidFill>
                  <a:srgbClr val="0C2362"/>
                </a:solidFill>
                <a:latin typeface="Reddit Sans"/>
                <a:ea typeface="Reddit Sans"/>
              </a:rPr>
              <a:t>mejor</a:t>
            </a:r>
            <a:r>
              <a:rPr sz="1200" b="1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sz="1200" b="1" err="1">
                <a:solidFill>
                  <a:srgbClr val="0C2362"/>
                </a:solidFill>
                <a:latin typeface="Reddit Sans"/>
                <a:ea typeface="Reddit Sans"/>
              </a:rPr>
              <a:t>margen</a:t>
            </a:r>
            <a:r>
              <a:rPr sz="1200" b="1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sz="1200" b="1" err="1">
                <a:solidFill>
                  <a:srgbClr val="0C2362"/>
                </a:solidFill>
                <a:latin typeface="Reddit Sans"/>
                <a:ea typeface="Reddit Sans"/>
              </a:rPr>
              <a:t>por</a:t>
            </a:r>
            <a:r>
              <a:rPr sz="1200" b="1">
                <a:solidFill>
                  <a:srgbClr val="0C2362"/>
                </a:solidFill>
                <a:latin typeface="Reddit Sans"/>
                <a:ea typeface="Reddit Sans"/>
              </a:rPr>
              <a:t> </a:t>
            </a:r>
            <a:r>
              <a:rPr sz="1200" b="1" err="1">
                <a:solidFill>
                  <a:srgbClr val="0C2362"/>
                </a:solidFill>
                <a:latin typeface="Reddit Sans"/>
                <a:ea typeface="Reddit Sans"/>
              </a:rPr>
              <a:t>automatización</a:t>
            </a:r>
            <a:r>
              <a:rPr sz="1200" b="1">
                <a:solidFill>
                  <a:srgbClr val="0C2362"/>
                </a:solidFill>
                <a:latin typeface="Reddit Sans"/>
                <a:ea typeface="Reddit Sans"/>
              </a:rPr>
              <a:t>.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99CEEC25-F3FE-7107-AE49-998985FD0512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59631712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">
            <a:extLst>
              <a:ext uri="{FF2B5EF4-FFF2-40B4-BE49-F238E27FC236}">
                <a16:creationId xmlns:a16="http://schemas.microsoft.com/office/drawing/2014/main" id="{5026C357-3705-477D-8BBC-14D733773D1B}"/>
              </a:ext>
            </a:extLst>
          </p:cNvPr>
          <p:cNvSpPr>
            <a:spLocks noGrp="1"/>
          </p:cNvSpPr>
          <p:nvPr/>
        </p:nvSpPr>
        <p:spPr>
          <a:xfrm>
            <a:off x="342900" y="266700"/>
            <a:ext cx="82391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>
              <a:defRPr sz="1650" b="1">
                <a:solidFill>
                  <a:srgbClr val="0C2362"/>
                </a:solidFill>
              </a:defRPr>
            </a:pP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Roadmap de </a:t>
            </a:r>
            <a:r>
              <a:rPr sz="1650" b="1" err="1">
                <a:solidFill>
                  <a:srgbClr val="0C2362"/>
                </a:solidFill>
                <a:latin typeface="Reddit Sans"/>
                <a:ea typeface="Reddit Sans"/>
              </a:rPr>
              <a:t>adopción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 para </a:t>
            </a:r>
            <a:r>
              <a:rPr sz="1650" b="1" err="1">
                <a:solidFill>
                  <a:srgbClr val="0C2362"/>
                </a:solidFill>
                <a:latin typeface="Reddit Sans"/>
                <a:ea typeface="Reddit Sans"/>
              </a:rPr>
              <a:t>desplegar</a:t>
            </a:r>
            <a:r>
              <a:rPr sz="1650" b="1">
                <a:solidFill>
                  <a:srgbClr val="0C2362"/>
                </a:solidFill>
                <a:latin typeface="Reddit Sans"/>
                <a:ea typeface="Reddit Sans"/>
              </a:rPr>
              <a:t> la Mesa </a:t>
            </a:r>
            <a:r>
              <a:rPr lang="es-ES" sz="1650" b="1">
                <a:solidFill>
                  <a:srgbClr val="0C2362"/>
                </a:solidFill>
                <a:latin typeface="Reddit Sans"/>
                <a:ea typeface="Reddit Sans"/>
              </a:rPr>
              <a:t>de Servicio de Nueva Generación (Next Gen)</a:t>
            </a:r>
            <a:endParaRPr sz="1650" b="1">
              <a:solidFill>
                <a:srgbClr val="0C2362"/>
              </a:solidFill>
              <a:latin typeface="Reddit Sans"/>
              <a:ea typeface="Reddit Sans"/>
            </a:endParaRPr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BE1E3955-C63B-4395-8EC8-C21A833B5E63}"/>
              </a:ext>
            </a:extLst>
          </p:cNvPr>
          <p:cNvSpPr>
            <a:spLocks noGrp="1"/>
          </p:cNvSpPr>
          <p:nvPr/>
        </p:nvSpPr>
        <p:spPr>
          <a:xfrm>
            <a:off x="334736" y="842282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91440" tIns="45720" rIns="91440" bIns="45720" anchor="t"/>
          <a:lstStyle/>
          <a:p>
            <a:pPr defTabSz="685800" fontAlgn="ctr">
              <a:lnSpc>
                <a:spcPts val="1406"/>
              </a:lnSpc>
              <a:defRPr sz="1050" b="0">
                <a:solidFill>
                  <a:srgbClr val="9AAEE0"/>
                </a:solidFill>
              </a:defRPr>
            </a:pP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Diseñar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el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servicio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en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oleadas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reduce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riesgo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y </a:t>
            </a:r>
            <a:r>
              <a:rPr sz="1000" spc="-25" err="1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acelera</a:t>
            </a:r>
            <a:r>
              <a:rPr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valor</a:t>
            </a:r>
          </a:p>
        </p:txBody>
      </p:sp>
      <p:sp>
        <p:nvSpPr>
          <p:cNvPr id="3" name="phase">
            <a:extLst>
              <a:ext uri="{FF2B5EF4-FFF2-40B4-BE49-F238E27FC236}">
                <a16:creationId xmlns:a16="http://schemas.microsoft.com/office/drawing/2014/main" id="{B18BB039-51DC-4FC2-BD26-FE88F292EA57}"/>
              </a:ext>
            </a:extLst>
          </p:cNvPr>
          <p:cNvSpPr>
            <a:spLocks noGrp="1"/>
          </p:cNvSpPr>
          <p:nvPr/>
        </p:nvSpPr>
        <p:spPr>
          <a:xfrm>
            <a:off x="495300" y="1314450"/>
            <a:ext cx="1790700" cy="200025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phase-head">
            <a:extLst>
              <a:ext uri="{FF2B5EF4-FFF2-40B4-BE49-F238E27FC236}">
                <a16:creationId xmlns:a16="http://schemas.microsoft.com/office/drawing/2014/main" id="{5BB466A5-E0D2-4910-91F0-1275450A95A1}"/>
              </a:ext>
            </a:extLst>
          </p:cNvPr>
          <p:cNvSpPr>
            <a:spLocks noGrp="1"/>
          </p:cNvSpPr>
          <p:nvPr/>
        </p:nvSpPr>
        <p:spPr>
          <a:xfrm>
            <a:off x="495300" y="1314450"/>
            <a:ext cx="1790700" cy="438150"/>
          </a:xfrm>
          <a:prstGeom prst="roundRect">
            <a:avLst>
              <a:gd name="adj" fmla="val 13043"/>
            </a:avLst>
          </a:prstGeom>
          <a:noFill/>
          <a:ln w="0">
            <a:noFill/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CF48EF22-30FF-4E4A-BBAF-380C8613F5DC}"/>
              </a:ext>
            </a:extLst>
          </p:cNvPr>
          <p:cNvSpPr>
            <a:spLocks noGrp="1"/>
          </p:cNvSpPr>
          <p:nvPr/>
        </p:nvSpPr>
        <p:spPr>
          <a:xfrm>
            <a:off x="609600" y="1428750"/>
            <a:ext cx="1562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  <a:latin typeface="Reddit Sans"/>
                <a:ea typeface="Reddit Sans"/>
              </a:rPr>
              <a:t>0-30 días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6823419C-FFE7-4FC4-9779-65B2D35FFE73}"/>
              </a:ext>
            </a:extLst>
          </p:cNvPr>
          <p:cNvSpPr>
            <a:spLocks noGrp="1"/>
          </p:cNvSpPr>
          <p:nvPr/>
        </p:nvSpPr>
        <p:spPr>
          <a:xfrm>
            <a:off x="666750" y="1952625"/>
            <a:ext cx="1447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  <a:latin typeface="Reddit Sans"/>
                <a:ea typeface="Reddit Sans"/>
              </a:rPr>
              <a:t>Diagnóstico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DC047F4B-EEAE-485C-95C2-B3BB95F836DE}"/>
              </a:ext>
            </a:extLst>
          </p:cNvPr>
          <p:cNvSpPr>
            <a:spLocks noGrp="1"/>
          </p:cNvSpPr>
          <p:nvPr/>
        </p:nvSpPr>
        <p:spPr>
          <a:xfrm>
            <a:off x="666750" y="2400300"/>
            <a:ext cx="14478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Madurez N0-N5</a:t>
            </a:r>
          </a:p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Volumen y criticidad</a:t>
            </a:r>
          </a:p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Brechas de gobierno</a:t>
            </a:r>
          </a:p>
        </p:txBody>
      </p:sp>
      <p:sp>
        <p:nvSpPr>
          <p:cNvPr id="8" name="arrow">
            <a:extLst>
              <a:ext uri="{FF2B5EF4-FFF2-40B4-BE49-F238E27FC236}">
                <a16:creationId xmlns:a16="http://schemas.microsoft.com/office/drawing/2014/main" id="{FA92142E-A91A-4AF1-9D4B-9C4632144BF3}"/>
              </a:ext>
            </a:extLst>
          </p:cNvPr>
          <p:cNvSpPr>
            <a:spLocks noGrp="1"/>
          </p:cNvSpPr>
          <p:nvPr/>
        </p:nvSpPr>
        <p:spPr>
          <a:xfrm>
            <a:off x="2324100" y="2095500"/>
            <a:ext cx="361950" cy="285750"/>
          </a:xfrm>
          <a:prstGeom prst="rightArrow">
            <a:avLst/>
          </a:prstGeom>
          <a:solidFill>
            <a:srgbClr val="1E5EBE"/>
          </a:solidFill>
          <a:ln w="11430">
            <a:solidFill>
              <a:srgbClr val="1E5EB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phase">
            <a:extLst>
              <a:ext uri="{FF2B5EF4-FFF2-40B4-BE49-F238E27FC236}">
                <a16:creationId xmlns:a16="http://schemas.microsoft.com/office/drawing/2014/main" id="{3BCEBA44-9549-4355-AB5D-E0FBE80C3305}"/>
              </a:ext>
            </a:extLst>
          </p:cNvPr>
          <p:cNvSpPr>
            <a:spLocks noGrp="1"/>
          </p:cNvSpPr>
          <p:nvPr/>
        </p:nvSpPr>
        <p:spPr>
          <a:xfrm>
            <a:off x="2647950" y="1314450"/>
            <a:ext cx="1790700" cy="200025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phase-head">
            <a:extLst>
              <a:ext uri="{FF2B5EF4-FFF2-40B4-BE49-F238E27FC236}">
                <a16:creationId xmlns:a16="http://schemas.microsoft.com/office/drawing/2014/main" id="{B544B780-B4D8-4061-B53A-E8BDE3D15144}"/>
              </a:ext>
            </a:extLst>
          </p:cNvPr>
          <p:cNvSpPr>
            <a:spLocks noGrp="1"/>
          </p:cNvSpPr>
          <p:nvPr/>
        </p:nvSpPr>
        <p:spPr>
          <a:xfrm>
            <a:off x="2647950" y="1314450"/>
            <a:ext cx="1790700" cy="438150"/>
          </a:xfrm>
          <a:prstGeom prst="roundRect">
            <a:avLst>
              <a:gd name="adj" fmla="val 13043"/>
            </a:avLst>
          </a:prstGeom>
          <a:noFill/>
          <a:ln w="0">
            <a:noFill/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416DE1AC-E1AB-44B3-B389-65BED1C3B6EB}"/>
              </a:ext>
            </a:extLst>
          </p:cNvPr>
          <p:cNvSpPr>
            <a:spLocks noGrp="1"/>
          </p:cNvSpPr>
          <p:nvPr/>
        </p:nvSpPr>
        <p:spPr>
          <a:xfrm>
            <a:off x="2762250" y="1428750"/>
            <a:ext cx="1562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  <a:latin typeface="Reddit Sans"/>
                <a:ea typeface="Reddit Sans"/>
              </a:rPr>
              <a:t>31-60 días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9023BB64-4543-4E1B-8488-6405CE3A5C79}"/>
              </a:ext>
            </a:extLst>
          </p:cNvPr>
          <p:cNvSpPr>
            <a:spLocks noGrp="1"/>
          </p:cNvSpPr>
          <p:nvPr/>
        </p:nvSpPr>
        <p:spPr>
          <a:xfrm>
            <a:off x="2819400" y="1952625"/>
            <a:ext cx="1447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  <a:latin typeface="Reddit Sans"/>
                <a:ea typeface="Reddit Sans"/>
              </a:rPr>
              <a:t>Diseño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310032AA-C8C9-48D0-9562-8DF5049C8250}"/>
              </a:ext>
            </a:extLst>
          </p:cNvPr>
          <p:cNvSpPr>
            <a:spLocks noGrp="1"/>
          </p:cNvSpPr>
          <p:nvPr/>
        </p:nvSpPr>
        <p:spPr>
          <a:xfrm>
            <a:off x="2819400" y="2400300"/>
            <a:ext cx="14478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Catálogo y RACI</a:t>
            </a:r>
          </a:p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SLA/XLA</a:t>
            </a:r>
          </a:p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Modelo económico</a:t>
            </a:r>
          </a:p>
        </p:txBody>
      </p:sp>
      <p:sp>
        <p:nvSpPr>
          <p:cNvPr id="14" name="arrow">
            <a:extLst>
              <a:ext uri="{FF2B5EF4-FFF2-40B4-BE49-F238E27FC236}">
                <a16:creationId xmlns:a16="http://schemas.microsoft.com/office/drawing/2014/main" id="{44A596BA-ABF1-4687-BFC2-7E7E569FA281}"/>
              </a:ext>
            </a:extLst>
          </p:cNvPr>
          <p:cNvSpPr>
            <a:spLocks noGrp="1"/>
          </p:cNvSpPr>
          <p:nvPr/>
        </p:nvSpPr>
        <p:spPr>
          <a:xfrm>
            <a:off x="4476750" y="2095500"/>
            <a:ext cx="361950" cy="285750"/>
          </a:xfrm>
          <a:prstGeom prst="rightArrow">
            <a:avLst/>
          </a:prstGeom>
          <a:solidFill>
            <a:srgbClr val="1E5EBE"/>
          </a:solidFill>
          <a:ln w="11430">
            <a:solidFill>
              <a:srgbClr val="1E5EB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phase">
            <a:extLst>
              <a:ext uri="{FF2B5EF4-FFF2-40B4-BE49-F238E27FC236}">
                <a16:creationId xmlns:a16="http://schemas.microsoft.com/office/drawing/2014/main" id="{95391E5E-9387-4B62-9FD4-E81FB2A8A4C0}"/>
              </a:ext>
            </a:extLst>
          </p:cNvPr>
          <p:cNvSpPr>
            <a:spLocks noGrp="1"/>
          </p:cNvSpPr>
          <p:nvPr/>
        </p:nvSpPr>
        <p:spPr>
          <a:xfrm>
            <a:off x="4800600" y="1314450"/>
            <a:ext cx="1790700" cy="200025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phase-head">
            <a:extLst>
              <a:ext uri="{FF2B5EF4-FFF2-40B4-BE49-F238E27FC236}">
                <a16:creationId xmlns:a16="http://schemas.microsoft.com/office/drawing/2014/main" id="{B4999CAE-7D4D-42BE-AE59-A8A5F85D0BDE}"/>
              </a:ext>
            </a:extLst>
          </p:cNvPr>
          <p:cNvSpPr>
            <a:spLocks noGrp="1"/>
          </p:cNvSpPr>
          <p:nvPr/>
        </p:nvSpPr>
        <p:spPr>
          <a:xfrm>
            <a:off x="4800600" y="1314450"/>
            <a:ext cx="1790700" cy="438150"/>
          </a:xfrm>
          <a:prstGeom prst="roundRect">
            <a:avLst>
              <a:gd name="adj" fmla="val 13043"/>
            </a:avLst>
          </a:prstGeom>
          <a:noFill/>
          <a:ln w="0">
            <a:noFill/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2B01D4A1-AF82-4997-86AE-423D4F53347E}"/>
              </a:ext>
            </a:extLst>
          </p:cNvPr>
          <p:cNvSpPr>
            <a:spLocks noGrp="1"/>
          </p:cNvSpPr>
          <p:nvPr/>
        </p:nvSpPr>
        <p:spPr>
          <a:xfrm>
            <a:off x="4914900" y="1428750"/>
            <a:ext cx="1562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  <a:latin typeface="Reddit Sans"/>
                <a:ea typeface="Reddit Sans"/>
              </a:rPr>
              <a:t>61-90 días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0ED98DB5-A611-4F00-99B0-8179C97A87F8}"/>
              </a:ext>
            </a:extLst>
          </p:cNvPr>
          <p:cNvSpPr>
            <a:spLocks noGrp="1"/>
          </p:cNvSpPr>
          <p:nvPr/>
        </p:nvSpPr>
        <p:spPr>
          <a:xfrm>
            <a:off x="4972050" y="1952625"/>
            <a:ext cx="1447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  <a:latin typeface="Reddit Sans"/>
                <a:ea typeface="Reddit Sans"/>
              </a:rPr>
              <a:t>Implementación</a:t>
            </a:r>
          </a:p>
        </p:txBody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0DA6150A-A490-41F9-A5FF-851ABC78113D}"/>
              </a:ext>
            </a:extLst>
          </p:cNvPr>
          <p:cNvSpPr>
            <a:spLocks noGrp="1"/>
          </p:cNvSpPr>
          <p:nvPr/>
        </p:nvSpPr>
        <p:spPr>
          <a:xfrm>
            <a:off x="4972050" y="2400300"/>
            <a:ext cx="14478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Canales e ITSM</a:t>
            </a:r>
          </a:p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KEDB inicial</a:t>
            </a:r>
          </a:p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Dashboards</a:t>
            </a:r>
          </a:p>
        </p:txBody>
      </p:sp>
      <p:sp>
        <p:nvSpPr>
          <p:cNvPr id="20" name="arrow">
            <a:extLst>
              <a:ext uri="{FF2B5EF4-FFF2-40B4-BE49-F238E27FC236}">
                <a16:creationId xmlns:a16="http://schemas.microsoft.com/office/drawing/2014/main" id="{71CB4D22-B187-410E-ADD7-5AFCEF300116}"/>
              </a:ext>
            </a:extLst>
          </p:cNvPr>
          <p:cNvSpPr>
            <a:spLocks noGrp="1"/>
          </p:cNvSpPr>
          <p:nvPr/>
        </p:nvSpPr>
        <p:spPr>
          <a:xfrm>
            <a:off x="6629400" y="2095500"/>
            <a:ext cx="361950" cy="285750"/>
          </a:xfrm>
          <a:prstGeom prst="rightArrow">
            <a:avLst/>
          </a:prstGeom>
          <a:solidFill>
            <a:srgbClr val="1E5EBE"/>
          </a:solidFill>
          <a:ln w="11430">
            <a:solidFill>
              <a:srgbClr val="1E5EB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phase">
            <a:extLst>
              <a:ext uri="{FF2B5EF4-FFF2-40B4-BE49-F238E27FC236}">
                <a16:creationId xmlns:a16="http://schemas.microsoft.com/office/drawing/2014/main" id="{45813248-0111-4170-ADD9-C08116624AB5}"/>
              </a:ext>
            </a:extLst>
          </p:cNvPr>
          <p:cNvSpPr>
            <a:spLocks noGrp="1"/>
          </p:cNvSpPr>
          <p:nvPr/>
        </p:nvSpPr>
        <p:spPr>
          <a:xfrm>
            <a:off x="6953250" y="1314450"/>
            <a:ext cx="1790700" cy="200025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phase-head">
            <a:extLst>
              <a:ext uri="{FF2B5EF4-FFF2-40B4-BE49-F238E27FC236}">
                <a16:creationId xmlns:a16="http://schemas.microsoft.com/office/drawing/2014/main" id="{ADAF4EA8-9D4F-40D3-8879-0048A008A093}"/>
              </a:ext>
            </a:extLst>
          </p:cNvPr>
          <p:cNvSpPr>
            <a:spLocks noGrp="1"/>
          </p:cNvSpPr>
          <p:nvPr/>
        </p:nvSpPr>
        <p:spPr>
          <a:xfrm>
            <a:off x="6953250" y="1314450"/>
            <a:ext cx="1790700" cy="438150"/>
          </a:xfrm>
          <a:prstGeom prst="roundRect">
            <a:avLst>
              <a:gd name="adj" fmla="val 13043"/>
            </a:avLst>
          </a:prstGeom>
          <a:noFill/>
          <a:ln w="0">
            <a:noFill/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">
            <a:extLst>
              <a:ext uri="{FF2B5EF4-FFF2-40B4-BE49-F238E27FC236}">
                <a16:creationId xmlns:a16="http://schemas.microsoft.com/office/drawing/2014/main" id="{998E00C3-AE28-4538-A557-E84727CEAFE7}"/>
              </a:ext>
            </a:extLst>
          </p:cNvPr>
          <p:cNvSpPr>
            <a:spLocks noGrp="1"/>
          </p:cNvSpPr>
          <p:nvPr/>
        </p:nvSpPr>
        <p:spPr>
          <a:xfrm>
            <a:off x="7067550" y="1428750"/>
            <a:ext cx="1562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  <a:latin typeface="Reddit Sans"/>
                <a:ea typeface="Reddit Sans"/>
              </a:rPr>
              <a:t>90+ días</a:t>
            </a:r>
          </a:p>
        </p:txBody>
      </p:sp>
      <p:sp>
        <p:nvSpPr>
          <p:cNvPr id="24" name="text">
            <a:extLst>
              <a:ext uri="{FF2B5EF4-FFF2-40B4-BE49-F238E27FC236}">
                <a16:creationId xmlns:a16="http://schemas.microsoft.com/office/drawing/2014/main" id="{7CB10D38-3301-4DE9-9BD2-699239AEA614}"/>
              </a:ext>
            </a:extLst>
          </p:cNvPr>
          <p:cNvSpPr>
            <a:spLocks noGrp="1"/>
          </p:cNvSpPr>
          <p:nvPr/>
        </p:nvSpPr>
        <p:spPr>
          <a:xfrm>
            <a:off x="7124700" y="1952625"/>
            <a:ext cx="1447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72033"/>
                </a:solidFill>
              </a:defRPr>
            </a:pPr>
            <a:r>
              <a:rPr sz="1200" b="1">
                <a:solidFill>
                  <a:srgbClr val="172033"/>
                </a:solidFill>
                <a:latin typeface="Reddit Sans"/>
                <a:ea typeface="Reddit Sans"/>
              </a:rPr>
              <a:t>Evolución</a:t>
            </a:r>
          </a:p>
        </p:txBody>
      </p:sp>
      <p:sp>
        <p:nvSpPr>
          <p:cNvPr id="25" name="text">
            <a:extLst>
              <a:ext uri="{FF2B5EF4-FFF2-40B4-BE49-F238E27FC236}">
                <a16:creationId xmlns:a16="http://schemas.microsoft.com/office/drawing/2014/main" id="{9AB128DA-CF83-44F3-87C9-F91E36C3167A}"/>
              </a:ext>
            </a:extLst>
          </p:cNvPr>
          <p:cNvSpPr>
            <a:spLocks noGrp="1"/>
          </p:cNvSpPr>
          <p:nvPr/>
        </p:nvSpPr>
        <p:spPr>
          <a:xfrm>
            <a:off x="7124700" y="2400300"/>
            <a:ext cx="14478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Agent assist</a:t>
            </a:r>
          </a:p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AIOps</a:t>
            </a:r>
          </a:p>
          <a:p>
            <a:pPr algn="ctr">
              <a:defRPr sz="863" b="0">
                <a:solidFill>
                  <a:srgbClr val="172033"/>
                </a:solidFill>
              </a:defRPr>
            </a:pPr>
            <a:r>
              <a:rPr sz="863" b="0">
                <a:solidFill>
                  <a:srgbClr val="172033"/>
                </a:solidFill>
                <a:latin typeface="Reddit Sans"/>
                <a:ea typeface="Reddit Sans"/>
              </a:rPr>
              <a:t>Automatización y roadmap IA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5AF8CF61-8813-8AEC-338E-AC82C6F167D9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59631712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>
            <a:extLst>
              <a:ext uri="{FF2B5EF4-FFF2-40B4-BE49-F238E27FC236}">
                <a16:creationId xmlns:a16="http://schemas.microsoft.com/office/drawing/2014/main" id="{77C97E0E-0EEA-0A12-9BAD-BAA9EDE58223}"/>
              </a:ext>
            </a:extLst>
          </p:cNvPr>
          <p:cNvSpPr/>
          <p:nvPr/>
        </p:nvSpPr>
        <p:spPr>
          <a:xfrm>
            <a:off x="0" y="0"/>
            <a:ext cx="2857500" cy="5143500"/>
          </a:xfrm>
          <a:prstGeom prst="rect">
            <a:avLst/>
          </a:prstGeom>
          <a:solidFill>
            <a:srgbClr val="22AAEE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31DCD7B9-7CB7-75AB-7758-3A7A1AF3FEAA}"/>
              </a:ext>
            </a:extLst>
          </p:cNvPr>
          <p:cNvSpPr/>
          <p:nvPr/>
        </p:nvSpPr>
        <p:spPr>
          <a:xfrm>
            <a:off x="357188" y="1683804"/>
            <a:ext cx="2163395" cy="123430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3240"/>
              </a:lnSpc>
            </a:pPr>
            <a:r>
              <a:rPr lang="en-US" sz="2800" kern="0" spc="-169" err="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Diagrama</a:t>
            </a:r>
            <a:r>
              <a:rPr lang="en-US" sz="2800" kern="0" spc="-169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 de</a:t>
            </a:r>
            <a:br>
              <a:rPr lang="en-US" sz="2800" kern="0" spc="-169"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2800" kern="0" spc="-169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Alto Nivel:</a:t>
            </a:r>
            <a:br>
              <a:rPr lang="en-US" sz="2800" kern="0" spc="-169"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2800" kern="0" spc="-169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Next Gen</a:t>
            </a:r>
            <a:endParaRPr lang="en-US" sz="2800">
              <a:latin typeface="Reddit Sans"/>
              <a:ea typeface="Reddit Sans"/>
            </a:endParaRP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DABFA7EC-C9A8-C672-DE1C-4662AC1EA23B}"/>
              </a:ext>
            </a:extLst>
          </p:cNvPr>
          <p:cNvSpPr/>
          <p:nvPr/>
        </p:nvSpPr>
        <p:spPr>
          <a:xfrm>
            <a:off x="357188" y="3002272"/>
            <a:ext cx="2475756" cy="42996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693"/>
              </a:lnSpc>
              <a:spcBef>
                <a:spcPts val="650"/>
              </a:spcBef>
            </a:pPr>
            <a:r>
              <a:rPr lang="en-US" sz="1238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Modelos de servicio adaptados</a:t>
            </a:r>
            <a:br>
              <a:rPr lang="en-US" sz="1238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238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a infraestructura y agilidad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10" name="Image 0" descr="710556a2.png">
            <a:extLst>
              <a:ext uri="{FF2B5EF4-FFF2-40B4-BE49-F238E27FC236}">
                <a16:creationId xmlns:a16="http://schemas.microsoft.com/office/drawing/2014/main" id="{22C81B10-35AA-67E6-7FED-F76D371731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093" y="1887093"/>
            <a:ext cx="235744" cy="235744"/>
          </a:xfrm>
          <a:prstGeom prst="rect">
            <a:avLst/>
          </a:prstGeom>
        </p:spPr>
      </p:pic>
      <p:pic>
        <p:nvPicPr>
          <p:cNvPr id="12" name="Image 1" descr="-3fd2935e.png">
            <a:extLst>
              <a:ext uri="{FF2B5EF4-FFF2-40B4-BE49-F238E27FC236}">
                <a16:creationId xmlns:a16="http://schemas.microsoft.com/office/drawing/2014/main" id="{7BCBB5F7-C24F-1267-38E8-97698C94B0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689" y="2079689"/>
            <a:ext cx="92869" cy="92869"/>
          </a:xfrm>
          <a:prstGeom prst="rect">
            <a:avLst/>
          </a:prstGeom>
        </p:spPr>
      </p:pic>
      <p:pic>
        <p:nvPicPr>
          <p:cNvPr id="14" name="Image 2" descr="59321022.png">
            <a:extLst>
              <a:ext uri="{FF2B5EF4-FFF2-40B4-BE49-F238E27FC236}">
                <a16:creationId xmlns:a16="http://schemas.microsoft.com/office/drawing/2014/main" id="{D9AAD623-EDC4-49A7-5458-5110C0CCA2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3306" y="1887093"/>
            <a:ext cx="235744" cy="235744"/>
          </a:xfrm>
          <a:prstGeom prst="rect">
            <a:avLst/>
          </a:prstGeom>
        </p:spPr>
      </p:pic>
      <p:pic>
        <p:nvPicPr>
          <p:cNvPr id="16" name="Image 3" descr="-3d415ede.png">
            <a:extLst>
              <a:ext uri="{FF2B5EF4-FFF2-40B4-BE49-F238E27FC236}">
                <a16:creationId xmlns:a16="http://schemas.microsoft.com/office/drawing/2014/main" id="{435CD514-8D1B-5FA1-3D90-D2A07141DC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2801" y="2079689"/>
            <a:ext cx="92869" cy="92869"/>
          </a:xfrm>
          <a:prstGeom prst="rect">
            <a:avLst/>
          </a:prstGeom>
        </p:spPr>
      </p:pic>
      <p:pic>
        <p:nvPicPr>
          <p:cNvPr id="18" name="Image 4" descr="710556a2.png">
            <a:extLst>
              <a:ext uri="{FF2B5EF4-FFF2-40B4-BE49-F238E27FC236}">
                <a16:creationId xmlns:a16="http://schemas.microsoft.com/office/drawing/2014/main" id="{268C2575-675A-39B2-78A6-F1B4C01208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3306" y="3024307"/>
            <a:ext cx="235744" cy="235744"/>
          </a:xfrm>
          <a:prstGeom prst="rect">
            <a:avLst/>
          </a:prstGeom>
        </p:spPr>
      </p:pic>
      <p:pic>
        <p:nvPicPr>
          <p:cNvPr id="20" name="Image 5" descr="-11ea5e1e.png">
            <a:extLst>
              <a:ext uri="{FF2B5EF4-FFF2-40B4-BE49-F238E27FC236}">
                <a16:creationId xmlns:a16="http://schemas.microsoft.com/office/drawing/2014/main" id="{6F55A95A-6CE8-A7A2-E7A4-A4D7AB8ECD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2801" y="2973801"/>
            <a:ext cx="92869" cy="92869"/>
          </a:xfrm>
          <a:prstGeom prst="rect">
            <a:avLst/>
          </a:prstGeom>
        </p:spPr>
      </p:pic>
      <p:pic>
        <p:nvPicPr>
          <p:cNvPr id="22" name="Image 6" descr="59321022.png">
            <a:extLst>
              <a:ext uri="{FF2B5EF4-FFF2-40B4-BE49-F238E27FC236}">
                <a16:creationId xmlns:a16="http://schemas.microsoft.com/office/drawing/2014/main" id="{AB6923B3-C77E-E798-3FD8-14BE889622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6093" y="3024307"/>
            <a:ext cx="235744" cy="235744"/>
          </a:xfrm>
          <a:prstGeom prst="rect">
            <a:avLst/>
          </a:prstGeom>
        </p:spPr>
      </p:pic>
      <p:pic>
        <p:nvPicPr>
          <p:cNvPr id="24" name="Image 7" descr="3aad8ee2.png">
            <a:extLst>
              <a:ext uri="{FF2B5EF4-FFF2-40B4-BE49-F238E27FC236}">
                <a16:creationId xmlns:a16="http://schemas.microsoft.com/office/drawing/2014/main" id="{BBCF81BD-3730-46C3-FFC9-E9F1CEC7CBB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08689" y="2973801"/>
            <a:ext cx="92869" cy="92869"/>
          </a:xfrm>
          <a:prstGeom prst="rect">
            <a:avLst/>
          </a:prstGeom>
        </p:spPr>
      </p:pic>
      <p:pic>
        <p:nvPicPr>
          <p:cNvPr id="26" name="Image 8" descr="260f0022.png">
            <a:extLst>
              <a:ext uri="{FF2B5EF4-FFF2-40B4-BE49-F238E27FC236}">
                <a16:creationId xmlns:a16="http://schemas.microsoft.com/office/drawing/2014/main" id="{A3B314CC-F842-31D1-E05A-A0C7BBE7D13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00688" y="2071688"/>
            <a:ext cx="1000125" cy="1000125"/>
          </a:xfrm>
          <a:prstGeom prst="rect">
            <a:avLst/>
          </a:prstGeom>
        </p:spPr>
      </p:pic>
      <p:sp>
        <p:nvSpPr>
          <p:cNvPr id="28" name="Text 3">
            <a:extLst>
              <a:ext uri="{FF2B5EF4-FFF2-40B4-BE49-F238E27FC236}">
                <a16:creationId xmlns:a16="http://schemas.microsoft.com/office/drawing/2014/main" id="{F87CA395-8FBF-DCFE-0A95-86FF7060FB0A}"/>
              </a:ext>
            </a:extLst>
          </p:cNvPr>
          <p:cNvSpPr/>
          <p:nvPr/>
        </p:nvSpPr>
        <p:spPr>
          <a:xfrm>
            <a:off x="5536406" y="2393603"/>
            <a:ext cx="928688" cy="35540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0"/>
              </a:lnSpc>
            </a:pPr>
            <a:r>
              <a:rPr lang="en-US" sz="1200" kern="0" spc="-73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Next Gen</a:t>
            </a:r>
            <a:br>
              <a:rPr lang="en-US" sz="1200" kern="0" spc="-73">
                <a:latin typeface="Reddit Sans"/>
                <a:ea typeface="Reddit Sans"/>
                <a:cs typeface="Inter SemiBold" pitchFamily="34" charset="-120"/>
              </a:rPr>
            </a:br>
            <a:r>
              <a:rPr lang="en-US" sz="1200" kern="0" spc="-73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Ecosystem</a:t>
            </a:r>
            <a:endParaRPr lang="en-US" sz="1200">
              <a:latin typeface="Reddit Sans"/>
              <a:ea typeface="Reddit Sans"/>
            </a:endParaRPr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75B8E55B-E236-D86E-A32E-3BE2AC0A0A8F}"/>
              </a:ext>
            </a:extLst>
          </p:cNvPr>
          <p:cNvSpPr/>
          <p:nvPr/>
        </p:nvSpPr>
        <p:spPr>
          <a:xfrm>
            <a:off x="4087356" y="987415"/>
            <a:ext cx="1493044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Dedicado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2" name="Text 5">
            <a:extLst>
              <a:ext uri="{FF2B5EF4-FFF2-40B4-BE49-F238E27FC236}">
                <a16:creationId xmlns:a16="http://schemas.microsoft.com/office/drawing/2014/main" id="{D8910881-5EC0-32AA-A1B2-116D052892B7}"/>
              </a:ext>
            </a:extLst>
          </p:cNvPr>
          <p:cNvSpPr/>
          <p:nvPr/>
        </p:nvSpPr>
        <p:spPr>
          <a:xfrm>
            <a:off x="4062878" y="1244032"/>
            <a:ext cx="1542001" cy="58634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39"/>
              </a:lnSpc>
              <a:spcBef>
                <a:spcPts val="458"/>
              </a:spcBef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Recursos exclusivos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para máxima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estabilidad y control.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7027B846-5E6F-BFE3-726B-F41A9F4EF7EF}"/>
              </a:ext>
            </a:extLst>
          </p:cNvPr>
          <p:cNvSpPr/>
          <p:nvPr/>
        </p:nvSpPr>
        <p:spPr>
          <a:xfrm>
            <a:off x="6403240" y="987415"/>
            <a:ext cx="1528763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Compartido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6" name="Text 7">
            <a:extLst>
              <a:ext uri="{FF2B5EF4-FFF2-40B4-BE49-F238E27FC236}">
                <a16:creationId xmlns:a16="http://schemas.microsoft.com/office/drawing/2014/main" id="{C02F8FC0-06C9-58FE-7D66-EBA8CF801B31}"/>
              </a:ext>
            </a:extLst>
          </p:cNvPr>
          <p:cNvSpPr/>
          <p:nvPr/>
        </p:nvSpPr>
        <p:spPr>
          <a:xfrm>
            <a:off x="6374967" y="1244032"/>
            <a:ext cx="1585310" cy="58634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39"/>
              </a:lnSpc>
              <a:spcBef>
                <a:spcPts val="458"/>
              </a:spcBef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Modelo eficiente que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optimiza la utilización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 activos.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8" name="Text 8">
            <a:extLst>
              <a:ext uri="{FF2B5EF4-FFF2-40B4-BE49-F238E27FC236}">
                <a16:creationId xmlns:a16="http://schemas.microsoft.com/office/drawing/2014/main" id="{EA0909CB-7876-BEE4-AE4E-CBE3A82B0E83}"/>
              </a:ext>
            </a:extLst>
          </p:cNvPr>
          <p:cNvSpPr/>
          <p:nvPr/>
        </p:nvSpPr>
        <p:spPr>
          <a:xfrm>
            <a:off x="6413957" y="3321159"/>
            <a:ext cx="1507331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Express Alfa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0" name="Text 9">
            <a:extLst>
              <a:ext uri="{FF2B5EF4-FFF2-40B4-BE49-F238E27FC236}">
                <a16:creationId xmlns:a16="http://schemas.microsoft.com/office/drawing/2014/main" id="{6C444354-AD6C-B7B0-8A48-4F73E2614D23}"/>
              </a:ext>
            </a:extLst>
          </p:cNvPr>
          <p:cNvSpPr/>
          <p:nvPr/>
        </p:nvSpPr>
        <p:spPr>
          <a:xfrm>
            <a:off x="6386866" y="3577776"/>
            <a:ext cx="1561512" cy="58634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39"/>
              </a:lnSpc>
              <a:spcBef>
                <a:spcPts val="458"/>
              </a:spcBef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Solución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despliegue ágil para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respuesta inmediata.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2" name="Text 10">
            <a:extLst>
              <a:ext uri="{FF2B5EF4-FFF2-40B4-BE49-F238E27FC236}">
                <a16:creationId xmlns:a16="http://schemas.microsoft.com/office/drawing/2014/main" id="{7A1C46E8-4C0A-3B24-C3B8-2E9D5AD594F9}"/>
              </a:ext>
            </a:extLst>
          </p:cNvPr>
          <p:cNvSpPr/>
          <p:nvPr/>
        </p:nvSpPr>
        <p:spPr>
          <a:xfrm>
            <a:off x="4037350" y="3321159"/>
            <a:ext cx="1593056" cy="197458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56"/>
              </a:lnSpc>
            </a:pPr>
            <a:r>
              <a:rPr lang="en-US" sz="1350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Full Next</a:t>
            </a:r>
            <a:r>
              <a:rPr lang="en-US" kern="0" spc="-81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 Gen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4" name="Text 11">
            <a:extLst>
              <a:ext uri="{FF2B5EF4-FFF2-40B4-BE49-F238E27FC236}">
                <a16:creationId xmlns:a16="http://schemas.microsoft.com/office/drawing/2014/main" id="{3E5F4973-E586-A444-09F3-2981E965EDA7}"/>
              </a:ext>
            </a:extLst>
          </p:cNvPr>
          <p:cNvSpPr/>
          <p:nvPr/>
        </p:nvSpPr>
        <p:spPr>
          <a:xfrm>
            <a:off x="4007480" y="3577776"/>
            <a:ext cx="1652796" cy="58634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39"/>
              </a:lnSpc>
              <a:spcBef>
                <a:spcPts val="458"/>
              </a:spcBef>
            </a:pP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Integración integral de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todas las capacidades</a:t>
            </a:r>
            <a:b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125" kern="0" spc="-23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y servicios.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CFB6BBC6-D102-8CF3-6173-616C94960329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85801246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0A2320-3CDA-75E4-D3C1-EADB3F285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err="1"/>
              <a:t>Modelos</a:t>
            </a:r>
            <a:r>
              <a:rPr lang="en-US"/>
              <a:t> de </a:t>
            </a:r>
            <a:r>
              <a:rPr lang="en-US" err="1"/>
              <a:t>Precio</a:t>
            </a:r>
            <a:r>
              <a:rPr lang="en-US"/>
              <a:t>: De FTE a Outcomes</a:t>
            </a:r>
            <a:endParaRPr lang="es-ES"/>
          </a:p>
          <a:p>
            <a:endParaRPr lang="es-ES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B01CF2D8-F4BB-D085-2CD2-419639C04B6D}"/>
              </a:ext>
            </a:extLst>
          </p:cNvPr>
          <p:cNvSpPr/>
          <p:nvPr/>
        </p:nvSpPr>
        <p:spPr>
          <a:xfrm>
            <a:off x="429645" y="664927"/>
            <a:ext cx="8643938" cy="2149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93"/>
              </a:lnSpc>
              <a:spcBef>
                <a:spcPts val="650"/>
              </a:spcBef>
            </a:pPr>
            <a:r>
              <a:rPr lang="en-US" sz="1238" kern="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Evolución hacia un modelo basado en el valor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6" name="Image 0" descr="75ad58e2.png">
            <a:extLst>
              <a:ext uri="{FF2B5EF4-FFF2-40B4-BE49-F238E27FC236}">
                <a16:creationId xmlns:a16="http://schemas.microsoft.com/office/drawing/2014/main" id="{D22CD3D5-1D54-FB20-C3B7-DC9FDD9717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9464" y="1307306"/>
            <a:ext cx="1564481" cy="1114425"/>
          </a:xfrm>
          <a:prstGeom prst="rect">
            <a:avLst/>
          </a:prstGeom>
        </p:spPr>
      </p:pic>
      <p:sp>
        <p:nvSpPr>
          <p:cNvPr id="8" name="Shape 2">
            <a:extLst>
              <a:ext uri="{FF2B5EF4-FFF2-40B4-BE49-F238E27FC236}">
                <a16:creationId xmlns:a16="http://schemas.microsoft.com/office/drawing/2014/main" id="{C267CBC4-0E8F-700C-F7E1-9AE335A1D257}"/>
              </a:ext>
            </a:extLst>
          </p:cNvPr>
          <p:cNvSpPr/>
          <p:nvPr/>
        </p:nvSpPr>
        <p:spPr>
          <a:xfrm>
            <a:off x="2691766" y="1314450"/>
            <a:ext cx="5199221" cy="0"/>
          </a:xfrm>
          <a:prstGeom prst="line">
            <a:avLst/>
          </a:prstGeom>
          <a:noFill/>
          <a:ln w="12700">
            <a:solidFill>
              <a:srgbClr val="000000">
                <a:alpha val="30000"/>
              </a:srgbClr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6CEAE80A-E575-40F0-F103-404BFCF4EE67}"/>
              </a:ext>
            </a:extLst>
          </p:cNvPr>
          <p:cNvSpPr/>
          <p:nvPr/>
        </p:nvSpPr>
        <p:spPr>
          <a:xfrm>
            <a:off x="1736280" y="1662373"/>
            <a:ext cx="1203722" cy="4114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3240"/>
              </a:lnSpc>
            </a:pPr>
            <a:r>
              <a:rPr lang="en-US" sz="2813" kern="0" spc="-169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1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33F4C1FF-7F6C-EC58-C348-4C513CDC1D25}"/>
              </a:ext>
            </a:extLst>
          </p:cNvPr>
          <p:cNvSpPr/>
          <p:nvPr/>
        </p:nvSpPr>
        <p:spPr>
          <a:xfrm>
            <a:off x="3366867" y="1663713"/>
            <a:ext cx="4631271" cy="1645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96"/>
              </a:lnSpc>
            </a:pPr>
            <a:r>
              <a:rPr lang="en-US" sz="1125" kern="0" spc="-6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Pago por FTE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C730D491-7919-D5BF-F8C9-C8E66B9242FE}"/>
              </a:ext>
            </a:extLst>
          </p:cNvPr>
          <p:cNvSpPr/>
          <p:nvPr/>
        </p:nvSpPr>
        <p:spPr>
          <a:xfrm>
            <a:off x="3366867" y="1898340"/>
            <a:ext cx="4660080" cy="17580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85"/>
              </a:lnSpc>
              <a:spcBef>
                <a:spcPts val="542"/>
              </a:spcBef>
            </a:pPr>
            <a: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Enfoque basado en el esfuerzo, tiempo y capacidad dedicada al proyecto.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16" name="Image 1" descr="042b0622.png">
            <a:extLst>
              <a:ext uri="{FF2B5EF4-FFF2-40B4-BE49-F238E27FC236}">
                <a16:creationId xmlns:a16="http://schemas.microsoft.com/office/drawing/2014/main" id="{F01B51DA-38FE-823D-EB59-9AD607379B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389" y="2464594"/>
            <a:ext cx="2743200" cy="1114425"/>
          </a:xfrm>
          <a:prstGeom prst="rect">
            <a:avLst/>
          </a:prstGeom>
        </p:spPr>
      </p:pic>
      <p:sp>
        <p:nvSpPr>
          <p:cNvPr id="18" name="Shape 6">
            <a:extLst>
              <a:ext uri="{FF2B5EF4-FFF2-40B4-BE49-F238E27FC236}">
                <a16:creationId xmlns:a16="http://schemas.microsoft.com/office/drawing/2014/main" id="{A5A8B984-C055-547F-EBC5-D8C121346EBB}"/>
              </a:ext>
            </a:extLst>
          </p:cNvPr>
          <p:cNvSpPr/>
          <p:nvPr/>
        </p:nvSpPr>
        <p:spPr>
          <a:xfrm>
            <a:off x="3281839" y="2443163"/>
            <a:ext cx="4609148" cy="0"/>
          </a:xfrm>
          <a:prstGeom prst="line">
            <a:avLst/>
          </a:prstGeom>
          <a:noFill/>
          <a:ln w="12700">
            <a:solidFill>
              <a:srgbClr val="000000">
                <a:alpha val="30000"/>
              </a:srgbClr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F526A5DE-A84A-C5DB-8D3D-825AE7B2DC08}"/>
              </a:ext>
            </a:extLst>
          </p:cNvPr>
          <p:cNvSpPr/>
          <p:nvPr/>
        </p:nvSpPr>
        <p:spPr>
          <a:xfrm>
            <a:off x="1146206" y="2819660"/>
            <a:ext cx="2383780" cy="4114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3240"/>
              </a:lnSpc>
            </a:pPr>
            <a:r>
              <a:rPr lang="en-US" sz="2813" kern="0" spc="-169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2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46A10479-993E-B86B-1B9A-96413B7EEA43}"/>
              </a:ext>
            </a:extLst>
          </p:cNvPr>
          <p:cNvSpPr/>
          <p:nvPr/>
        </p:nvSpPr>
        <p:spPr>
          <a:xfrm>
            <a:off x="3956941" y="2735275"/>
            <a:ext cx="4041130" cy="1645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96"/>
              </a:lnSpc>
            </a:pPr>
            <a:r>
              <a:rPr lang="en-US" sz="1125" kern="0" spc="-6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Pago por Ticket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E07FCDBC-A9DB-4753-E103-AF38DCE7595E}"/>
              </a:ext>
            </a:extLst>
          </p:cNvPr>
          <p:cNvSpPr/>
          <p:nvPr/>
        </p:nvSpPr>
        <p:spPr>
          <a:xfrm>
            <a:off x="3956941" y="2969903"/>
            <a:ext cx="4041130" cy="35160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85"/>
              </a:lnSpc>
              <a:spcBef>
                <a:spcPts val="542"/>
              </a:spcBef>
            </a:pPr>
            <a: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Enfoque operativo basado en el volumen de transacciones o</a:t>
            </a:r>
            <a:b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incidentes resueltos.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26" name="Image 2" descr="680d2f62.png">
            <a:extLst>
              <a:ext uri="{FF2B5EF4-FFF2-40B4-BE49-F238E27FC236}">
                <a16:creationId xmlns:a16="http://schemas.microsoft.com/office/drawing/2014/main" id="{43B78CFE-E6A9-7DC2-A57F-1ADF4CE800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316" y="3621881"/>
            <a:ext cx="3921919" cy="1114425"/>
          </a:xfrm>
          <a:prstGeom prst="rect">
            <a:avLst/>
          </a:prstGeom>
        </p:spPr>
      </p:pic>
      <p:sp>
        <p:nvSpPr>
          <p:cNvPr id="28" name="Shape 10">
            <a:extLst>
              <a:ext uri="{FF2B5EF4-FFF2-40B4-BE49-F238E27FC236}">
                <a16:creationId xmlns:a16="http://schemas.microsoft.com/office/drawing/2014/main" id="{C4F276D3-4706-7144-8A38-96BE76437299}"/>
              </a:ext>
            </a:extLst>
          </p:cNvPr>
          <p:cNvSpPr/>
          <p:nvPr/>
        </p:nvSpPr>
        <p:spPr>
          <a:xfrm>
            <a:off x="3871913" y="3600450"/>
            <a:ext cx="4019074" cy="0"/>
          </a:xfrm>
          <a:prstGeom prst="line">
            <a:avLst/>
          </a:prstGeom>
          <a:noFill/>
          <a:ln w="12700">
            <a:solidFill>
              <a:srgbClr val="000000">
                <a:alpha val="30000"/>
              </a:srgbClr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30" name="Text 11">
            <a:extLst>
              <a:ext uri="{FF2B5EF4-FFF2-40B4-BE49-F238E27FC236}">
                <a16:creationId xmlns:a16="http://schemas.microsoft.com/office/drawing/2014/main" id="{45A5D4DC-FE08-2825-C603-BCFD1E5F47F0}"/>
              </a:ext>
            </a:extLst>
          </p:cNvPr>
          <p:cNvSpPr/>
          <p:nvPr/>
        </p:nvSpPr>
        <p:spPr>
          <a:xfrm>
            <a:off x="556132" y="3976948"/>
            <a:ext cx="3563950" cy="4114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3240"/>
              </a:lnSpc>
            </a:pPr>
            <a:r>
              <a:rPr lang="en-US" sz="2813" kern="0" spc="-169">
                <a:solidFill>
                  <a:srgbClr val="FFFFFF"/>
                </a:solidFill>
                <a:latin typeface="Reddit Sans"/>
                <a:ea typeface="Reddit Sans"/>
                <a:cs typeface="Inter SemiBold" pitchFamily="34" charset="-120"/>
              </a:rPr>
              <a:t>3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2" name="Text 12">
            <a:extLst>
              <a:ext uri="{FF2B5EF4-FFF2-40B4-BE49-F238E27FC236}">
                <a16:creationId xmlns:a16="http://schemas.microsoft.com/office/drawing/2014/main" id="{0484A888-A134-14AC-EF48-0984681B38C7}"/>
              </a:ext>
            </a:extLst>
          </p:cNvPr>
          <p:cNvSpPr/>
          <p:nvPr/>
        </p:nvSpPr>
        <p:spPr>
          <a:xfrm>
            <a:off x="4547015" y="3892563"/>
            <a:ext cx="3451101" cy="16453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96"/>
              </a:lnSpc>
            </a:pPr>
            <a:r>
              <a:rPr lang="en-US" sz="1125" kern="0" spc="-68">
                <a:solidFill>
                  <a:srgbClr val="333333"/>
                </a:solidFill>
                <a:latin typeface="Reddit Sans"/>
                <a:ea typeface="Reddit Sans"/>
                <a:cs typeface="Inter SemiBold" pitchFamily="34" charset="-120"/>
              </a:rPr>
              <a:t>Pago por Outcome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4" name="Text 13">
            <a:extLst>
              <a:ext uri="{FF2B5EF4-FFF2-40B4-BE49-F238E27FC236}">
                <a16:creationId xmlns:a16="http://schemas.microsoft.com/office/drawing/2014/main" id="{544E297C-74FB-2F96-AC4B-EC5601FFDD6D}"/>
              </a:ext>
            </a:extLst>
          </p:cNvPr>
          <p:cNvSpPr/>
          <p:nvPr/>
        </p:nvSpPr>
        <p:spPr>
          <a:xfrm>
            <a:off x="4547015" y="4127190"/>
            <a:ext cx="3451101" cy="35160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85"/>
              </a:lnSpc>
              <a:spcBef>
                <a:spcPts val="542"/>
              </a:spcBef>
            </a:pPr>
            <a: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Enfoque estratégico donde la remuneración está</a:t>
            </a:r>
            <a:b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</a:br>
            <a:r>
              <a:rPr lang="en-US" sz="1013" kern="0" spc="-20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Inter Medium" pitchFamily="34" charset="-120"/>
              </a:rPr>
              <a:t>vinculada a resultados de negocio y KPIs definidos.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7C1D81D7-10AF-02AD-9F56-9095D182E1C0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245495022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B5DE9F-3C79-8B8C-D54C-E45EEE058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2FCD05C-74BC-3DCF-1CDE-28D0D26200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959"/>
            <a:ext cx="9144000" cy="5087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30707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36844F-A555-6B31-9B61-001473605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CO"/>
              <a:t>Mesa de Servicio de Nueva Generación</a:t>
            </a:r>
            <a:br>
              <a:rPr lang="es-CO"/>
            </a:br>
            <a:r>
              <a:rPr lang="es-ES" b="0"/>
              <a:t>Modelos de Precio: De FTE a </a:t>
            </a:r>
            <a:r>
              <a:rPr lang="es-ES" b="0" err="1"/>
              <a:t>Outcomes</a:t>
            </a:r>
            <a:r>
              <a:rPr lang="es-ES" b="0"/>
              <a:t> </a:t>
            </a:r>
            <a:endParaRPr lang="es-CO" b="0">
              <a:solidFill>
                <a:srgbClr val="000000"/>
              </a:solidFill>
            </a:endParaRPr>
          </a:p>
          <a:p>
            <a:pPr defTabSz="685800" fontAlgn="ctr">
              <a:lnSpc>
                <a:spcPts val="1406"/>
              </a:lnSpc>
              <a:buClr>
                <a:srgbClr val="000000"/>
              </a:buClr>
              <a:buFont typeface="Arial"/>
              <a:defRPr sz="1050" b="0">
                <a:solidFill>
                  <a:srgbClr val="9AAEE0"/>
                </a:solidFill>
              </a:defRPr>
            </a:pPr>
            <a:endParaRPr lang="es-CO" sz="1100" b="0" spc="-25">
              <a:solidFill>
                <a:srgbClr val="000000">
                  <a:alpha val="55000"/>
                </a:srgbClr>
              </a:solidFill>
              <a:cs typeface="+mn-cs"/>
              <a:sym typeface="Arial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147F5800-07BA-9795-E2BC-5921D7FB5CCE}"/>
              </a:ext>
            </a:extLst>
          </p:cNvPr>
          <p:cNvSpPr/>
          <p:nvPr/>
        </p:nvSpPr>
        <p:spPr>
          <a:xfrm>
            <a:off x="341811" y="701040"/>
            <a:ext cx="77724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s-CO"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Diagrama</a:t>
            </a:r>
            <a:r>
              <a:rPr lang="en-US"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 de alto </a:t>
            </a:r>
            <a:r>
              <a:rPr lang="es-CO" sz="1000" spc="-25">
                <a:solidFill>
                  <a:srgbClr val="000000">
                    <a:alpha val="55000"/>
                  </a:srgbClr>
                </a:solidFill>
                <a:latin typeface="Reddit Sans"/>
                <a:ea typeface="Reddit Sans"/>
                <a:cs typeface="+mn-cs"/>
              </a:rPr>
              <a:t>nivel</a:t>
            </a:r>
          </a:p>
        </p:txBody>
      </p:sp>
      <p:sp>
        <p:nvSpPr>
          <p:cNvPr id="7" name="mhdr">
            <a:extLst>
              <a:ext uri="{FF2B5EF4-FFF2-40B4-BE49-F238E27FC236}">
                <a16:creationId xmlns:a16="http://schemas.microsoft.com/office/drawing/2014/main" id="{11FFC374-B16F-59FB-6D34-D1C4371D0054}"/>
              </a:ext>
            </a:extLst>
          </p:cNvPr>
          <p:cNvSpPr>
            <a:spLocks noGrp="1"/>
          </p:cNvSpPr>
          <p:nvPr/>
        </p:nvSpPr>
        <p:spPr>
          <a:xfrm>
            <a:off x="390797" y="1082040"/>
            <a:ext cx="7635240" cy="256032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9" name="mhdrtxt">
            <a:extLst>
              <a:ext uri="{FF2B5EF4-FFF2-40B4-BE49-F238E27FC236}">
                <a16:creationId xmlns:a16="http://schemas.microsoft.com/office/drawing/2014/main" id="{E8B306E9-A6BA-2DB8-93C3-5AEF32FBBDF6}"/>
              </a:ext>
            </a:extLst>
          </p:cNvPr>
          <p:cNvSpPr txBox="1">
            <a:spLocks noGrp="1"/>
          </p:cNvSpPr>
          <p:nvPr/>
        </p:nvSpPr>
        <p:spPr>
          <a:xfrm>
            <a:off x="483326" y="1076597"/>
            <a:ext cx="7646124" cy="29957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SERVICIO BASE — MESA NEXT GEN (N0 → N3)</a:t>
            </a:r>
          </a:p>
        </p:txBody>
      </p:sp>
      <p:sp>
        <p:nvSpPr>
          <p:cNvPr id="11" name="sbg">
            <a:extLst>
              <a:ext uri="{FF2B5EF4-FFF2-40B4-BE49-F238E27FC236}">
                <a16:creationId xmlns:a16="http://schemas.microsoft.com/office/drawing/2014/main" id="{C44DD99C-240B-1B08-F9CE-4E32BEBE6592}"/>
              </a:ext>
            </a:extLst>
          </p:cNvPr>
          <p:cNvSpPr>
            <a:spLocks noGrp="1"/>
          </p:cNvSpPr>
          <p:nvPr/>
        </p:nvSpPr>
        <p:spPr>
          <a:xfrm>
            <a:off x="390797" y="1402080"/>
            <a:ext cx="1828800" cy="84124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19050">
            <a:solidFill>
              <a:srgbClr val="0D1B5E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13" name="shdr">
            <a:extLst>
              <a:ext uri="{FF2B5EF4-FFF2-40B4-BE49-F238E27FC236}">
                <a16:creationId xmlns:a16="http://schemas.microsoft.com/office/drawing/2014/main" id="{AE5B32E0-E760-2378-4666-12655DE5EE3F}"/>
              </a:ext>
            </a:extLst>
          </p:cNvPr>
          <p:cNvSpPr>
            <a:spLocks noGrp="1"/>
          </p:cNvSpPr>
          <p:nvPr/>
        </p:nvSpPr>
        <p:spPr>
          <a:xfrm>
            <a:off x="390797" y="1402080"/>
            <a:ext cx="1828800" cy="329184"/>
          </a:xfrm>
          <a:prstGeom prst="roundRect">
            <a:avLst>
              <a:gd name="adj" fmla="val 12000"/>
            </a:avLst>
          </a:prstGeom>
          <a:solidFill>
            <a:srgbClr val="0D1B5E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5" name="shdr2">
            <a:extLst>
              <a:ext uri="{FF2B5EF4-FFF2-40B4-BE49-F238E27FC236}">
                <a16:creationId xmlns:a16="http://schemas.microsoft.com/office/drawing/2014/main" id="{2CECBD38-CACE-5FCE-38F2-7C53AF17EBFB}"/>
              </a:ext>
            </a:extLst>
          </p:cNvPr>
          <p:cNvSpPr>
            <a:spLocks noGrp="1"/>
          </p:cNvSpPr>
          <p:nvPr/>
        </p:nvSpPr>
        <p:spPr>
          <a:xfrm>
            <a:off x="390797" y="1603248"/>
            <a:ext cx="1828800" cy="128016"/>
          </a:xfrm>
          <a:prstGeom prst="rect">
            <a:avLst/>
          </a:prstGeom>
          <a:solidFill>
            <a:srgbClr val="0D1B5E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17" name="stit">
            <a:extLst>
              <a:ext uri="{FF2B5EF4-FFF2-40B4-BE49-F238E27FC236}">
                <a16:creationId xmlns:a16="http://schemas.microsoft.com/office/drawing/2014/main" id="{49D105DC-5C38-76CC-4C0F-0D5858B68B0D}"/>
              </a:ext>
            </a:extLst>
          </p:cNvPr>
          <p:cNvSpPr txBox="1">
            <a:spLocks noGrp="1"/>
          </p:cNvSpPr>
          <p:nvPr/>
        </p:nvSpPr>
        <p:spPr>
          <a:xfrm>
            <a:off x="390797" y="1438656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fontScale="62500" lnSpcReduction="20000"/>
          </a:bodyPr>
          <a:lstStyle/>
          <a:p>
            <a:pPr algn="ctr"/>
            <a:r>
              <a:rPr lang="es-ES" sz="980" b="1">
                <a:solidFill>
                  <a:srgbClr val="FFFFFF"/>
                </a:solidFill>
                <a:latin typeface="Reddit Sans"/>
                <a:ea typeface="Reddit Sans"/>
              </a:rPr>
              <a:t>Equipo
Dedicado</a:t>
            </a:r>
          </a:p>
        </p:txBody>
      </p:sp>
      <p:sp>
        <p:nvSpPr>
          <p:cNvPr id="19" name="sdesc">
            <a:extLst>
              <a:ext uri="{FF2B5EF4-FFF2-40B4-BE49-F238E27FC236}">
                <a16:creationId xmlns:a16="http://schemas.microsoft.com/office/drawing/2014/main" id="{28BDE801-04BB-5BFF-836A-6523F051F930}"/>
              </a:ext>
            </a:extLst>
          </p:cNvPr>
          <p:cNvSpPr txBox="1">
            <a:spLocks noGrp="1"/>
          </p:cNvSpPr>
          <p:nvPr/>
        </p:nvSpPr>
        <p:spPr>
          <a:xfrm>
            <a:off x="482237" y="1786128"/>
            <a:ext cx="1645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fontScale="92500"/>
          </a:bodyPr>
          <a:lstStyle/>
          <a:p>
            <a:pPr algn="l"/>
            <a:r>
              <a:rPr lang="es-ES" sz="850">
                <a:solidFill>
                  <a:srgbClr val="0D1B5E"/>
                </a:solidFill>
                <a:latin typeface="Reddit Sans"/>
                <a:ea typeface="Reddit Sans"/>
              </a:rPr>
              <a:t>FTE asignado · Alta personalización · SLA exclusivo</a:t>
            </a:r>
          </a:p>
        </p:txBody>
      </p:sp>
      <p:sp>
        <p:nvSpPr>
          <p:cNvPr id="21" name="sbg">
            <a:extLst>
              <a:ext uri="{FF2B5EF4-FFF2-40B4-BE49-F238E27FC236}">
                <a16:creationId xmlns:a16="http://schemas.microsoft.com/office/drawing/2014/main" id="{9CA6DAA6-8B0C-C124-D8EA-7328366DCE04}"/>
              </a:ext>
            </a:extLst>
          </p:cNvPr>
          <p:cNvSpPr>
            <a:spLocks noGrp="1"/>
          </p:cNvSpPr>
          <p:nvPr/>
        </p:nvSpPr>
        <p:spPr>
          <a:xfrm>
            <a:off x="2329325" y="1402080"/>
            <a:ext cx="1828800" cy="84124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19050">
            <a:solidFill>
              <a:srgbClr val="1A3A8F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23" name="shdr">
            <a:extLst>
              <a:ext uri="{FF2B5EF4-FFF2-40B4-BE49-F238E27FC236}">
                <a16:creationId xmlns:a16="http://schemas.microsoft.com/office/drawing/2014/main" id="{54F719CD-A4DF-D419-B236-37B6CE8914EC}"/>
              </a:ext>
            </a:extLst>
          </p:cNvPr>
          <p:cNvSpPr>
            <a:spLocks noGrp="1"/>
          </p:cNvSpPr>
          <p:nvPr/>
        </p:nvSpPr>
        <p:spPr>
          <a:xfrm>
            <a:off x="2329325" y="1402080"/>
            <a:ext cx="1828800" cy="329184"/>
          </a:xfrm>
          <a:prstGeom prst="roundRect">
            <a:avLst>
              <a:gd name="adj" fmla="val 12000"/>
            </a:avLst>
          </a:prstGeom>
          <a:solidFill>
            <a:srgbClr val="1A3A8F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25" name="shdr2">
            <a:extLst>
              <a:ext uri="{FF2B5EF4-FFF2-40B4-BE49-F238E27FC236}">
                <a16:creationId xmlns:a16="http://schemas.microsoft.com/office/drawing/2014/main" id="{BC159D2D-CFA0-E144-AAF8-0161088D0F34}"/>
              </a:ext>
            </a:extLst>
          </p:cNvPr>
          <p:cNvSpPr>
            <a:spLocks noGrp="1"/>
          </p:cNvSpPr>
          <p:nvPr/>
        </p:nvSpPr>
        <p:spPr>
          <a:xfrm>
            <a:off x="2329325" y="1603248"/>
            <a:ext cx="1828800" cy="128016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27" name="stit">
            <a:extLst>
              <a:ext uri="{FF2B5EF4-FFF2-40B4-BE49-F238E27FC236}">
                <a16:creationId xmlns:a16="http://schemas.microsoft.com/office/drawing/2014/main" id="{E59CA6A9-BE15-A199-802E-0AF021417E97}"/>
              </a:ext>
            </a:extLst>
          </p:cNvPr>
          <p:cNvSpPr txBox="1">
            <a:spLocks noGrp="1"/>
          </p:cNvSpPr>
          <p:nvPr/>
        </p:nvSpPr>
        <p:spPr>
          <a:xfrm>
            <a:off x="2329325" y="1438656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fontScale="62500" lnSpcReduction="20000"/>
          </a:bodyPr>
          <a:lstStyle/>
          <a:p>
            <a:pPr algn="ctr"/>
            <a:r>
              <a:rPr lang="es-ES" sz="980" b="1">
                <a:solidFill>
                  <a:srgbClr val="FFFFFF"/>
                </a:solidFill>
                <a:latin typeface="Reddit Sans"/>
                <a:ea typeface="Reddit Sans"/>
              </a:rPr>
              <a:t>Soporte
Compartido</a:t>
            </a:r>
          </a:p>
        </p:txBody>
      </p:sp>
      <p:sp>
        <p:nvSpPr>
          <p:cNvPr id="29" name="sdesc">
            <a:extLst>
              <a:ext uri="{FF2B5EF4-FFF2-40B4-BE49-F238E27FC236}">
                <a16:creationId xmlns:a16="http://schemas.microsoft.com/office/drawing/2014/main" id="{1491757A-584A-A238-1186-CDF1B734CE39}"/>
              </a:ext>
            </a:extLst>
          </p:cNvPr>
          <p:cNvSpPr txBox="1">
            <a:spLocks noGrp="1"/>
          </p:cNvSpPr>
          <p:nvPr/>
        </p:nvSpPr>
        <p:spPr>
          <a:xfrm>
            <a:off x="2420765" y="1786128"/>
            <a:ext cx="1645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50">
                <a:solidFill>
                  <a:srgbClr val="1A3A8F"/>
                </a:solidFill>
                <a:latin typeface="Reddit Sans"/>
                <a:ea typeface="Reddit Sans"/>
              </a:rPr>
              <a:t>Pool de talento · Eficiencia de costo · SLA compartido</a:t>
            </a:r>
          </a:p>
        </p:txBody>
      </p:sp>
      <p:sp>
        <p:nvSpPr>
          <p:cNvPr id="31" name="sbg">
            <a:extLst>
              <a:ext uri="{FF2B5EF4-FFF2-40B4-BE49-F238E27FC236}">
                <a16:creationId xmlns:a16="http://schemas.microsoft.com/office/drawing/2014/main" id="{C4BA225E-1A22-C02C-DE7D-3421B34E5A15}"/>
              </a:ext>
            </a:extLst>
          </p:cNvPr>
          <p:cNvSpPr>
            <a:spLocks noGrp="1"/>
          </p:cNvSpPr>
          <p:nvPr/>
        </p:nvSpPr>
        <p:spPr>
          <a:xfrm>
            <a:off x="4267853" y="1402080"/>
            <a:ext cx="1828800" cy="84124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19050">
            <a:solidFill>
              <a:srgbClr val="1B7B85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33" name="shdr">
            <a:extLst>
              <a:ext uri="{FF2B5EF4-FFF2-40B4-BE49-F238E27FC236}">
                <a16:creationId xmlns:a16="http://schemas.microsoft.com/office/drawing/2014/main" id="{07BDBE75-C4AC-E170-302A-554E6CB70632}"/>
              </a:ext>
            </a:extLst>
          </p:cNvPr>
          <p:cNvSpPr>
            <a:spLocks noGrp="1"/>
          </p:cNvSpPr>
          <p:nvPr/>
        </p:nvSpPr>
        <p:spPr>
          <a:xfrm>
            <a:off x="4267853" y="1402080"/>
            <a:ext cx="1828800" cy="329184"/>
          </a:xfrm>
          <a:prstGeom prst="roundRect">
            <a:avLst>
              <a:gd name="adj" fmla="val 12000"/>
            </a:avLst>
          </a:prstGeom>
          <a:solidFill>
            <a:srgbClr val="1B7B85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35" name="shdr2">
            <a:extLst>
              <a:ext uri="{FF2B5EF4-FFF2-40B4-BE49-F238E27FC236}">
                <a16:creationId xmlns:a16="http://schemas.microsoft.com/office/drawing/2014/main" id="{4878AC91-4738-A86E-2078-62334CA94310}"/>
              </a:ext>
            </a:extLst>
          </p:cNvPr>
          <p:cNvSpPr>
            <a:spLocks noGrp="1"/>
          </p:cNvSpPr>
          <p:nvPr/>
        </p:nvSpPr>
        <p:spPr>
          <a:xfrm>
            <a:off x="4267853" y="1603248"/>
            <a:ext cx="1828800" cy="128016"/>
          </a:xfrm>
          <a:prstGeom prst="rect">
            <a:avLst/>
          </a:prstGeom>
          <a:solidFill>
            <a:srgbClr val="1B7B85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37" name="stit">
            <a:extLst>
              <a:ext uri="{FF2B5EF4-FFF2-40B4-BE49-F238E27FC236}">
                <a16:creationId xmlns:a16="http://schemas.microsoft.com/office/drawing/2014/main" id="{DAA1AAFA-7AF2-47E9-8E25-D725E4738EB9}"/>
              </a:ext>
            </a:extLst>
          </p:cNvPr>
          <p:cNvSpPr txBox="1">
            <a:spLocks noGrp="1"/>
          </p:cNvSpPr>
          <p:nvPr/>
        </p:nvSpPr>
        <p:spPr>
          <a:xfrm>
            <a:off x="4267853" y="1438656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fontScale="62500" lnSpcReduction="20000"/>
          </a:bodyPr>
          <a:lstStyle/>
          <a:p>
            <a:pPr algn="ctr"/>
            <a:r>
              <a:rPr lang="es-ES" sz="980" b="1">
                <a:solidFill>
                  <a:srgbClr val="FFFFFF"/>
                </a:solidFill>
                <a:latin typeface="Reddit Sans"/>
                <a:ea typeface="Reddit Sans"/>
              </a:rPr>
              <a:t>Express
Alfa</a:t>
            </a:r>
          </a:p>
        </p:txBody>
      </p:sp>
      <p:sp>
        <p:nvSpPr>
          <p:cNvPr id="39" name="sdesc">
            <a:extLst>
              <a:ext uri="{FF2B5EF4-FFF2-40B4-BE49-F238E27FC236}">
                <a16:creationId xmlns:a16="http://schemas.microsoft.com/office/drawing/2014/main" id="{652DDA70-568E-CC80-87A1-30765CB9F851}"/>
              </a:ext>
            </a:extLst>
          </p:cNvPr>
          <p:cNvSpPr txBox="1">
            <a:spLocks noGrp="1"/>
          </p:cNvSpPr>
          <p:nvPr/>
        </p:nvSpPr>
        <p:spPr>
          <a:xfrm>
            <a:off x="4359293" y="1786128"/>
            <a:ext cx="1645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850">
                <a:solidFill>
                  <a:srgbClr val="1B7B85"/>
                </a:solidFill>
                <a:latin typeface="Reddit Sans"/>
                <a:ea typeface="Reddit Sans"/>
              </a:rPr>
              <a:t>Requerimientos simples · Pay-per-use · Onboarding rápido</a:t>
            </a:r>
          </a:p>
        </p:txBody>
      </p:sp>
      <p:sp>
        <p:nvSpPr>
          <p:cNvPr id="41" name="sbg">
            <a:extLst>
              <a:ext uri="{FF2B5EF4-FFF2-40B4-BE49-F238E27FC236}">
                <a16:creationId xmlns:a16="http://schemas.microsoft.com/office/drawing/2014/main" id="{BE437EB3-9E25-2FF6-9180-360B01D01B67}"/>
              </a:ext>
            </a:extLst>
          </p:cNvPr>
          <p:cNvSpPr>
            <a:spLocks noGrp="1"/>
          </p:cNvSpPr>
          <p:nvPr/>
        </p:nvSpPr>
        <p:spPr>
          <a:xfrm>
            <a:off x="6206381" y="1402080"/>
            <a:ext cx="1828800" cy="841248"/>
          </a:xfrm>
          <a:prstGeom prst="roundRect">
            <a:avLst>
              <a:gd name="adj" fmla="val 12000"/>
            </a:avLst>
          </a:prstGeom>
          <a:solidFill>
            <a:srgbClr val="F5F7FC"/>
          </a:solidFill>
          <a:ln w="19050">
            <a:solidFill>
              <a:srgbClr val="1F6FBA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43" name="shdr">
            <a:extLst>
              <a:ext uri="{FF2B5EF4-FFF2-40B4-BE49-F238E27FC236}">
                <a16:creationId xmlns:a16="http://schemas.microsoft.com/office/drawing/2014/main" id="{962B9A80-BE13-9A56-6893-9E8A3D0A2148}"/>
              </a:ext>
            </a:extLst>
          </p:cNvPr>
          <p:cNvSpPr>
            <a:spLocks noGrp="1"/>
          </p:cNvSpPr>
          <p:nvPr/>
        </p:nvSpPr>
        <p:spPr>
          <a:xfrm>
            <a:off x="6206381" y="1402080"/>
            <a:ext cx="1828800" cy="329184"/>
          </a:xfrm>
          <a:prstGeom prst="roundRect">
            <a:avLst>
              <a:gd name="adj" fmla="val 12000"/>
            </a:avLst>
          </a:prstGeom>
          <a:solidFill>
            <a:srgbClr val="1F6FBA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45" name="shdr2">
            <a:extLst>
              <a:ext uri="{FF2B5EF4-FFF2-40B4-BE49-F238E27FC236}">
                <a16:creationId xmlns:a16="http://schemas.microsoft.com/office/drawing/2014/main" id="{B895B166-10F9-1DE0-4412-D55A95B644AA}"/>
              </a:ext>
            </a:extLst>
          </p:cNvPr>
          <p:cNvSpPr>
            <a:spLocks noGrp="1"/>
          </p:cNvSpPr>
          <p:nvPr/>
        </p:nvSpPr>
        <p:spPr>
          <a:xfrm>
            <a:off x="6206381" y="1603248"/>
            <a:ext cx="1828800" cy="128016"/>
          </a:xfrm>
          <a:prstGeom prst="rect">
            <a:avLst/>
          </a:prstGeom>
          <a:solidFill>
            <a:srgbClr val="1F6FBA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47" name="stit">
            <a:extLst>
              <a:ext uri="{FF2B5EF4-FFF2-40B4-BE49-F238E27FC236}">
                <a16:creationId xmlns:a16="http://schemas.microsoft.com/office/drawing/2014/main" id="{87F21207-F57A-5468-82A3-9C6BCFC74050}"/>
              </a:ext>
            </a:extLst>
          </p:cNvPr>
          <p:cNvSpPr txBox="1">
            <a:spLocks noGrp="1"/>
          </p:cNvSpPr>
          <p:nvPr/>
        </p:nvSpPr>
        <p:spPr>
          <a:xfrm>
            <a:off x="6206381" y="1438656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 fontScale="62500" lnSpcReduction="20000"/>
          </a:bodyPr>
          <a:lstStyle/>
          <a:p>
            <a:pPr algn="ctr"/>
            <a:r>
              <a:rPr lang="es-ES" sz="950" b="1">
                <a:solidFill>
                  <a:srgbClr val="FFFFFF"/>
                </a:solidFill>
                <a:latin typeface="Reddit Sans"/>
                <a:ea typeface="Reddit Sans"/>
              </a:rPr>
              <a:t>Full
Next Gen</a:t>
            </a:r>
          </a:p>
        </p:txBody>
      </p:sp>
      <p:sp>
        <p:nvSpPr>
          <p:cNvPr id="49" name="sdesc">
            <a:extLst>
              <a:ext uri="{FF2B5EF4-FFF2-40B4-BE49-F238E27FC236}">
                <a16:creationId xmlns:a16="http://schemas.microsoft.com/office/drawing/2014/main" id="{EB3D0BBD-4C9C-3634-B269-2CB6FD54AA5B}"/>
              </a:ext>
            </a:extLst>
          </p:cNvPr>
          <p:cNvSpPr txBox="1">
            <a:spLocks noGrp="1"/>
          </p:cNvSpPr>
          <p:nvPr/>
        </p:nvSpPr>
        <p:spPr>
          <a:xfrm>
            <a:off x="6297821" y="1786128"/>
            <a:ext cx="1645920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fontScale="92500"/>
          </a:bodyPr>
          <a:lstStyle/>
          <a:p>
            <a:pPr algn="l"/>
            <a:r>
              <a:rPr lang="es-ES" sz="850">
                <a:solidFill>
                  <a:srgbClr val="1F6FBA"/>
                </a:solidFill>
                <a:latin typeface="Reddit Sans"/>
                <a:ea typeface="Reddit Sans"/>
              </a:rPr>
              <a:t>N0+N1+N2+N3+IA · AIOps · KCS · Outcome-based · Premium</a:t>
            </a:r>
          </a:p>
        </p:txBody>
      </p:sp>
      <p:sp>
        <p:nvSpPr>
          <p:cNvPr id="51" name="chdr">
            <a:extLst>
              <a:ext uri="{FF2B5EF4-FFF2-40B4-BE49-F238E27FC236}">
                <a16:creationId xmlns:a16="http://schemas.microsoft.com/office/drawing/2014/main" id="{5091B0D8-ED97-13D1-E770-C5FA2A1C2B55}"/>
              </a:ext>
            </a:extLst>
          </p:cNvPr>
          <p:cNvSpPr>
            <a:spLocks noGrp="1"/>
          </p:cNvSpPr>
          <p:nvPr/>
        </p:nvSpPr>
        <p:spPr>
          <a:xfrm>
            <a:off x="390797" y="2334768"/>
            <a:ext cx="7635240" cy="256032"/>
          </a:xfrm>
          <a:prstGeom prst="rect">
            <a:avLst/>
          </a:prstGeom>
          <a:solidFill>
            <a:srgbClr val="1B7B85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53" name="chtxt">
            <a:extLst>
              <a:ext uri="{FF2B5EF4-FFF2-40B4-BE49-F238E27FC236}">
                <a16:creationId xmlns:a16="http://schemas.microsoft.com/office/drawing/2014/main" id="{07489D35-C59A-C742-13E9-25ABA3A50B3C}"/>
              </a:ext>
            </a:extLst>
          </p:cNvPr>
          <p:cNvSpPr txBox="1">
            <a:spLocks noGrp="1"/>
          </p:cNvSpPr>
          <p:nvPr/>
        </p:nvSpPr>
        <p:spPr>
          <a:xfrm>
            <a:off x="543197" y="2334768"/>
            <a:ext cx="763524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PORTAFOLIO COMPLEMENTARIO — Servicios adicionales que aceleran la madurez</a:t>
            </a:r>
          </a:p>
        </p:txBody>
      </p:sp>
      <p:sp>
        <p:nvSpPr>
          <p:cNvPr id="55" name="cbg">
            <a:extLst>
              <a:ext uri="{FF2B5EF4-FFF2-40B4-BE49-F238E27FC236}">
                <a16:creationId xmlns:a16="http://schemas.microsoft.com/office/drawing/2014/main" id="{0E9CCE97-C1CA-E0FD-AF5B-22D246342B1A}"/>
              </a:ext>
            </a:extLst>
          </p:cNvPr>
          <p:cNvSpPr>
            <a:spLocks noGrp="1"/>
          </p:cNvSpPr>
          <p:nvPr/>
        </p:nvSpPr>
        <p:spPr>
          <a:xfrm>
            <a:off x="390797" y="26639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A6B3C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57" name="cbar">
            <a:extLst>
              <a:ext uri="{FF2B5EF4-FFF2-40B4-BE49-F238E27FC236}">
                <a16:creationId xmlns:a16="http://schemas.microsoft.com/office/drawing/2014/main" id="{ED7B8A9A-718F-FF96-90EC-23333ED3D8C9}"/>
              </a:ext>
            </a:extLst>
          </p:cNvPr>
          <p:cNvSpPr>
            <a:spLocks noGrp="1"/>
          </p:cNvSpPr>
          <p:nvPr/>
        </p:nvSpPr>
        <p:spPr>
          <a:xfrm>
            <a:off x="390797" y="26639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2A6B3C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59" name="ctxt">
            <a:extLst>
              <a:ext uri="{FF2B5EF4-FFF2-40B4-BE49-F238E27FC236}">
                <a16:creationId xmlns:a16="http://schemas.microsoft.com/office/drawing/2014/main" id="{F0FD1526-604A-0D10-B5BD-37983CE757E7}"/>
              </a:ext>
            </a:extLst>
          </p:cNvPr>
          <p:cNvSpPr txBox="1">
            <a:spLocks noGrp="1"/>
          </p:cNvSpPr>
          <p:nvPr/>
        </p:nvSpPr>
        <p:spPr>
          <a:xfrm>
            <a:off x="537101" y="27005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lnSpcReduction="10000"/>
          </a:bodyPr>
          <a:lstStyle/>
          <a:p>
            <a:pPr algn="l"/>
            <a:r>
              <a:rPr lang="es-ES" sz="920" b="1">
                <a:solidFill>
                  <a:srgbClr val="2A6B3C"/>
                </a:solidFill>
                <a:latin typeface="Reddit Sans"/>
                <a:ea typeface="Reddit Sans"/>
              </a:rPr>
              <a:t>Modernización de Aplicaciones</a:t>
            </a:r>
          </a:p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Migración · Refactor · Cloud Native</a:t>
            </a:r>
          </a:p>
        </p:txBody>
      </p:sp>
      <p:sp>
        <p:nvSpPr>
          <p:cNvPr id="61" name="cbg">
            <a:extLst>
              <a:ext uri="{FF2B5EF4-FFF2-40B4-BE49-F238E27FC236}">
                <a16:creationId xmlns:a16="http://schemas.microsoft.com/office/drawing/2014/main" id="{EE8298DB-83E8-A248-54E5-EE36C38A273F}"/>
              </a:ext>
            </a:extLst>
          </p:cNvPr>
          <p:cNvSpPr>
            <a:spLocks noGrp="1"/>
          </p:cNvSpPr>
          <p:nvPr/>
        </p:nvSpPr>
        <p:spPr>
          <a:xfrm>
            <a:off x="2951117" y="26639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B7B85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63" name="cbar">
            <a:extLst>
              <a:ext uri="{FF2B5EF4-FFF2-40B4-BE49-F238E27FC236}">
                <a16:creationId xmlns:a16="http://schemas.microsoft.com/office/drawing/2014/main" id="{187AA5B3-2EC3-D3E9-0138-4C6EC3F106DF}"/>
              </a:ext>
            </a:extLst>
          </p:cNvPr>
          <p:cNvSpPr>
            <a:spLocks noGrp="1"/>
          </p:cNvSpPr>
          <p:nvPr/>
        </p:nvSpPr>
        <p:spPr>
          <a:xfrm>
            <a:off x="2951117" y="26639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1B7B85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65" name="ctxt">
            <a:extLst>
              <a:ext uri="{FF2B5EF4-FFF2-40B4-BE49-F238E27FC236}">
                <a16:creationId xmlns:a16="http://schemas.microsoft.com/office/drawing/2014/main" id="{99680DFF-1577-1923-FF6C-040DCAFAC68E}"/>
              </a:ext>
            </a:extLst>
          </p:cNvPr>
          <p:cNvSpPr txBox="1">
            <a:spLocks noGrp="1"/>
          </p:cNvSpPr>
          <p:nvPr/>
        </p:nvSpPr>
        <p:spPr>
          <a:xfrm>
            <a:off x="3097421" y="27005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lnSpcReduction="10000"/>
          </a:bodyPr>
          <a:lstStyle/>
          <a:p>
            <a:pPr algn="l"/>
            <a:r>
              <a:rPr lang="es-ES" sz="920" b="1">
                <a:solidFill>
                  <a:srgbClr val="1B7B85"/>
                </a:solidFill>
                <a:latin typeface="Reddit Sans"/>
                <a:ea typeface="Reddit Sans"/>
              </a:rPr>
              <a:t>Observabilidad / AIOps</a:t>
            </a:r>
          </a:p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Dynatrace · Datadog · Nexthink</a:t>
            </a:r>
          </a:p>
        </p:txBody>
      </p:sp>
      <p:sp>
        <p:nvSpPr>
          <p:cNvPr id="67" name="cbg">
            <a:extLst>
              <a:ext uri="{FF2B5EF4-FFF2-40B4-BE49-F238E27FC236}">
                <a16:creationId xmlns:a16="http://schemas.microsoft.com/office/drawing/2014/main" id="{FEC17A7C-D0B7-C028-630D-2C21113A0870}"/>
              </a:ext>
            </a:extLst>
          </p:cNvPr>
          <p:cNvSpPr>
            <a:spLocks noGrp="1"/>
          </p:cNvSpPr>
          <p:nvPr/>
        </p:nvSpPr>
        <p:spPr>
          <a:xfrm>
            <a:off x="5511437" y="26639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69" name="cbar">
            <a:extLst>
              <a:ext uri="{FF2B5EF4-FFF2-40B4-BE49-F238E27FC236}">
                <a16:creationId xmlns:a16="http://schemas.microsoft.com/office/drawing/2014/main" id="{8E1BE8F2-C05A-0F6C-F97F-028D61638718}"/>
              </a:ext>
            </a:extLst>
          </p:cNvPr>
          <p:cNvSpPr>
            <a:spLocks noGrp="1"/>
          </p:cNvSpPr>
          <p:nvPr/>
        </p:nvSpPr>
        <p:spPr>
          <a:xfrm>
            <a:off x="5511437" y="26639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71" name="ctxt">
            <a:extLst>
              <a:ext uri="{FF2B5EF4-FFF2-40B4-BE49-F238E27FC236}">
                <a16:creationId xmlns:a16="http://schemas.microsoft.com/office/drawing/2014/main" id="{67778E89-95AC-6B13-A94F-4FFE117862C0}"/>
              </a:ext>
            </a:extLst>
          </p:cNvPr>
          <p:cNvSpPr txBox="1">
            <a:spLocks noGrp="1"/>
          </p:cNvSpPr>
          <p:nvPr/>
        </p:nvSpPr>
        <p:spPr>
          <a:xfrm>
            <a:off x="5657741" y="27005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lnSpcReduction="10000"/>
          </a:bodyPr>
          <a:lstStyle/>
          <a:p>
            <a:pPr algn="l"/>
            <a:r>
              <a:rPr lang="es-ES" sz="920" b="1">
                <a:solidFill>
                  <a:srgbClr val="C00000"/>
                </a:solidFill>
                <a:latin typeface="Reddit Sans"/>
                <a:ea typeface="Reddit Sans"/>
              </a:rPr>
              <a:t>Seguridad Aplicativa</a:t>
            </a:r>
          </a:p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SAST · DAST · ISO 27001</a:t>
            </a:r>
          </a:p>
        </p:txBody>
      </p:sp>
      <p:sp>
        <p:nvSpPr>
          <p:cNvPr id="73" name="cbg">
            <a:extLst>
              <a:ext uri="{FF2B5EF4-FFF2-40B4-BE49-F238E27FC236}">
                <a16:creationId xmlns:a16="http://schemas.microsoft.com/office/drawing/2014/main" id="{C51E67D2-47E7-16DE-DA55-96EAB9504536}"/>
              </a:ext>
            </a:extLst>
          </p:cNvPr>
          <p:cNvSpPr>
            <a:spLocks noGrp="1"/>
          </p:cNvSpPr>
          <p:nvPr/>
        </p:nvSpPr>
        <p:spPr>
          <a:xfrm>
            <a:off x="390797" y="31211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6FBA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75" name="cbar">
            <a:extLst>
              <a:ext uri="{FF2B5EF4-FFF2-40B4-BE49-F238E27FC236}">
                <a16:creationId xmlns:a16="http://schemas.microsoft.com/office/drawing/2014/main" id="{4588DD0A-A0AF-3B6D-157C-82FFC4ABFAD4}"/>
              </a:ext>
            </a:extLst>
          </p:cNvPr>
          <p:cNvSpPr>
            <a:spLocks noGrp="1"/>
          </p:cNvSpPr>
          <p:nvPr/>
        </p:nvSpPr>
        <p:spPr>
          <a:xfrm>
            <a:off x="390797" y="31211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1F6FBA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77" name="ctxt">
            <a:extLst>
              <a:ext uri="{FF2B5EF4-FFF2-40B4-BE49-F238E27FC236}">
                <a16:creationId xmlns:a16="http://schemas.microsoft.com/office/drawing/2014/main" id="{2E58338A-CEC1-CCD6-65E0-2F74435D0AA7}"/>
              </a:ext>
            </a:extLst>
          </p:cNvPr>
          <p:cNvSpPr txBox="1">
            <a:spLocks noGrp="1"/>
          </p:cNvSpPr>
          <p:nvPr/>
        </p:nvSpPr>
        <p:spPr>
          <a:xfrm>
            <a:off x="537101" y="31577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lnSpcReduction="10000"/>
          </a:bodyPr>
          <a:lstStyle/>
          <a:p>
            <a:pPr algn="l"/>
            <a:r>
              <a:rPr lang="es-ES" sz="920" b="1">
                <a:solidFill>
                  <a:srgbClr val="1F6FBA"/>
                </a:solidFill>
                <a:latin typeface="Reddit Sans"/>
                <a:ea typeface="Reddit Sans"/>
              </a:rPr>
              <a:t>Automatización y DevOps</a:t>
            </a:r>
          </a:p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CI/CD · IaC · Runbooks auto</a:t>
            </a:r>
          </a:p>
        </p:txBody>
      </p:sp>
      <p:sp>
        <p:nvSpPr>
          <p:cNvPr id="79" name="cbg">
            <a:extLst>
              <a:ext uri="{FF2B5EF4-FFF2-40B4-BE49-F238E27FC236}">
                <a16:creationId xmlns:a16="http://schemas.microsoft.com/office/drawing/2014/main" id="{9A1E43E9-7584-405F-03C9-BA4ADCFF4815}"/>
              </a:ext>
            </a:extLst>
          </p:cNvPr>
          <p:cNvSpPr>
            <a:spLocks noGrp="1"/>
          </p:cNvSpPr>
          <p:nvPr/>
        </p:nvSpPr>
        <p:spPr>
          <a:xfrm>
            <a:off x="2951117" y="31211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81" name="cbar">
            <a:extLst>
              <a:ext uri="{FF2B5EF4-FFF2-40B4-BE49-F238E27FC236}">
                <a16:creationId xmlns:a16="http://schemas.microsoft.com/office/drawing/2014/main" id="{089AA222-1275-CB54-D96D-350FE11258CE}"/>
              </a:ext>
            </a:extLst>
          </p:cNvPr>
          <p:cNvSpPr>
            <a:spLocks noGrp="1"/>
          </p:cNvSpPr>
          <p:nvPr/>
        </p:nvSpPr>
        <p:spPr>
          <a:xfrm>
            <a:off x="2951117" y="31211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6B7280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83" name="ctxt">
            <a:extLst>
              <a:ext uri="{FF2B5EF4-FFF2-40B4-BE49-F238E27FC236}">
                <a16:creationId xmlns:a16="http://schemas.microsoft.com/office/drawing/2014/main" id="{BA2DB184-CFE5-BAA5-60D5-59747B6E3FE4}"/>
              </a:ext>
            </a:extLst>
          </p:cNvPr>
          <p:cNvSpPr txBox="1">
            <a:spLocks noGrp="1"/>
          </p:cNvSpPr>
          <p:nvPr/>
        </p:nvSpPr>
        <p:spPr>
          <a:xfrm>
            <a:off x="3097421" y="31577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lnSpcReduction="10000"/>
          </a:bodyPr>
          <a:lstStyle/>
          <a:p>
            <a:pPr algn="l"/>
            <a:r>
              <a:rPr lang="es-ES" sz="920" b="1">
                <a:solidFill>
                  <a:srgbClr val="6B7280"/>
                </a:solidFill>
                <a:latin typeface="Reddit Sans"/>
                <a:ea typeface="Reddit Sans"/>
              </a:rPr>
              <a:t>Performance Engineering</a:t>
            </a:r>
          </a:p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Pruebas de carga · Tuning</a:t>
            </a:r>
          </a:p>
        </p:txBody>
      </p:sp>
      <p:sp>
        <p:nvSpPr>
          <p:cNvPr id="85" name="cbg">
            <a:extLst>
              <a:ext uri="{FF2B5EF4-FFF2-40B4-BE49-F238E27FC236}">
                <a16:creationId xmlns:a16="http://schemas.microsoft.com/office/drawing/2014/main" id="{780333AF-C260-0118-972B-193A5983CE78}"/>
              </a:ext>
            </a:extLst>
          </p:cNvPr>
          <p:cNvSpPr>
            <a:spLocks noGrp="1"/>
          </p:cNvSpPr>
          <p:nvPr/>
        </p:nvSpPr>
        <p:spPr>
          <a:xfrm>
            <a:off x="5511437" y="3121152"/>
            <a:ext cx="2487168" cy="402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D1B5E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87" name="cbar">
            <a:extLst>
              <a:ext uri="{FF2B5EF4-FFF2-40B4-BE49-F238E27FC236}">
                <a16:creationId xmlns:a16="http://schemas.microsoft.com/office/drawing/2014/main" id="{660B996E-663C-E661-FCDC-7F9409B2D935}"/>
              </a:ext>
            </a:extLst>
          </p:cNvPr>
          <p:cNvSpPr>
            <a:spLocks noGrp="1"/>
          </p:cNvSpPr>
          <p:nvPr/>
        </p:nvSpPr>
        <p:spPr>
          <a:xfrm>
            <a:off x="5511437" y="3121152"/>
            <a:ext cx="91440" cy="402336"/>
          </a:xfrm>
          <a:prstGeom prst="roundRect">
            <a:avLst>
              <a:gd name="adj" fmla="val 10000"/>
            </a:avLst>
          </a:prstGeom>
          <a:solidFill>
            <a:srgbClr val="0D1B5E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89" name="ctxt">
            <a:extLst>
              <a:ext uri="{FF2B5EF4-FFF2-40B4-BE49-F238E27FC236}">
                <a16:creationId xmlns:a16="http://schemas.microsoft.com/office/drawing/2014/main" id="{C1106803-684A-5ACB-5134-7C919CD006F2}"/>
              </a:ext>
            </a:extLst>
          </p:cNvPr>
          <p:cNvSpPr txBox="1">
            <a:spLocks noGrp="1"/>
          </p:cNvSpPr>
          <p:nvPr/>
        </p:nvSpPr>
        <p:spPr>
          <a:xfrm>
            <a:off x="5657741" y="31577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lnSpcReduction="10000"/>
          </a:bodyPr>
          <a:lstStyle/>
          <a:p>
            <a:pPr algn="l"/>
            <a:r>
              <a:rPr lang="es-ES" sz="920" b="1">
                <a:solidFill>
                  <a:srgbClr val="0D1B5E"/>
                </a:solidFill>
                <a:latin typeface="Reddit Sans"/>
                <a:ea typeface="Reddit Sans"/>
              </a:rPr>
              <a:t>Gobierno de Datos e IA</a:t>
            </a:r>
          </a:p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ISO 42001 · MLOps · Compliance</a:t>
            </a:r>
          </a:p>
        </p:txBody>
      </p:sp>
      <p:sp>
        <p:nvSpPr>
          <p:cNvPr id="91" name="phdr">
            <a:extLst>
              <a:ext uri="{FF2B5EF4-FFF2-40B4-BE49-F238E27FC236}">
                <a16:creationId xmlns:a16="http://schemas.microsoft.com/office/drawing/2014/main" id="{764760E5-CE0E-2CE1-674E-C73A5EEADC0C}"/>
              </a:ext>
            </a:extLst>
          </p:cNvPr>
          <p:cNvSpPr>
            <a:spLocks noGrp="1"/>
          </p:cNvSpPr>
          <p:nvPr/>
        </p:nvSpPr>
        <p:spPr>
          <a:xfrm>
            <a:off x="390797" y="3651504"/>
            <a:ext cx="7635240" cy="256032"/>
          </a:xfrm>
          <a:prstGeom prst="rect">
            <a:avLst/>
          </a:prstGeom>
          <a:solidFill>
            <a:srgbClr val="0D1B5E"/>
          </a:solidFill>
          <a:ln>
            <a:noFill/>
          </a:ln>
        </p:spPr>
        <p:txBody>
          <a:bodyPr/>
          <a:lstStyle/>
          <a:p>
            <a:endParaRPr lang="es-CO"/>
          </a:p>
        </p:txBody>
      </p:sp>
      <p:sp>
        <p:nvSpPr>
          <p:cNvPr id="93" name="phdrtxt">
            <a:extLst>
              <a:ext uri="{FF2B5EF4-FFF2-40B4-BE49-F238E27FC236}">
                <a16:creationId xmlns:a16="http://schemas.microsoft.com/office/drawing/2014/main" id="{27599C63-912F-E15A-758A-F51625AC30B4}"/>
              </a:ext>
            </a:extLst>
          </p:cNvPr>
          <p:cNvSpPr txBox="1">
            <a:spLocks noGrp="1"/>
          </p:cNvSpPr>
          <p:nvPr/>
        </p:nvSpPr>
        <p:spPr>
          <a:xfrm>
            <a:off x="537754" y="3651504"/>
            <a:ext cx="763524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/>
          </a:bodyPr>
          <a:lstStyle/>
          <a:p>
            <a:pPr algn="ctr"/>
            <a:r>
              <a:rPr lang="es-ES" sz="1000" b="1">
                <a:solidFill>
                  <a:srgbClr val="FFFFFF"/>
                </a:solidFill>
                <a:latin typeface="Reddit Sans"/>
                <a:ea typeface="Reddit Sans"/>
              </a:rPr>
              <a:t>EVOLUCIÓN DEL MODELO DE PRECIO — De esfuerzo a resultados medibles</a:t>
            </a:r>
          </a:p>
        </p:txBody>
      </p:sp>
      <p:sp>
        <p:nvSpPr>
          <p:cNvPr id="95" name="pbg">
            <a:extLst>
              <a:ext uri="{FF2B5EF4-FFF2-40B4-BE49-F238E27FC236}">
                <a16:creationId xmlns:a16="http://schemas.microsoft.com/office/drawing/2014/main" id="{B0C9F68A-A12F-BA1B-19E8-26B09B03920A}"/>
              </a:ext>
            </a:extLst>
          </p:cNvPr>
          <p:cNvSpPr>
            <a:spLocks noGrp="1"/>
          </p:cNvSpPr>
          <p:nvPr/>
        </p:nvSpPr>
        <p:spPr>
          <a:xfrm>
            <a:off x="390797" y="3980687"/>
            <a:ext cx="1828800" cy="817299"/>
          </a:xfrm>
          <a:prstGeom prst="roundRect">
            <a:avLst>
              <a:gd name="adj" fmla="val 10000"/>
            </a:avLst>
          </a:prstGeom>
          <a:solidFill>
            <a:srgbClr val="F5F7FC"/>
          </a:solidFill>
          <a:ln w="9525">
            <a:solidFill>
              <a:srgbClr val="6B7280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97" name="ptit">
            <a:extLst>
              <a:ext uri="{FF2B5EF4-FFF2-40B4-BE49-F238E27FC236}">
                <a16:creationId xmlns:a16="http://schemas.microsoft.com/office/drawing/2014/main" id="{81E9F2E0-4E98-8BED-0CA2-2397254D88C3}"/>
              </a:ext>
            </a:extLst>
          </p:cNvPr>
          <p:cNvSpPr txBox="1">
            <a:spLocks noGrp="1"/>
          </p:cNvSpPr>
          <p:nvPr/>
        </p:nvSpPr>
        <p:spPr>
          <a:xfrm>
            <a:off x="482237" y="4017263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000" b="1">
                <a:solidFill>
                  <a:srgbClr val="6B7280"/>
                </a:solidFill>
                <a:latin typeface="Reddit Sans"/>
                <a:ea typeface="Reddit Sans"/>
              </a:rPr>
              <a:t>Por FTE</a:t>
            </a:r>
          </a:p>
        </p:txBody>
      </p:sp>
      <p:sp>
        <p:nvSpPr>
          <p:cNvPr id="99" name="pdesc">
            <a:extLst>
              <a:ext uri="{FF2B5EF4-FFF2-40B4-BE49-F238E27FC236}">
                <a16:creationId xmlns:a16="http://schemas.microsoft.com/office/drawing/2014/main" id="{8E485CBA-2577-8E5D-4733-7FB9993CF0B0}"/>
              </a:ext>
            </a:extLst>
          </p:cNvPr>
          <p:cNvSpPr txBox="1">
            <a:spLocks noGrp="1"/>
          </p:cNvSpPr>
          <p:nvPr/>
        </p:nvSpPr>
        <p:spPr>
          <a:xfrm>
            <a:off x="482237" y="4255007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fontScale="77500" lnSpcReduction="20000"/>
          </a:bodyPr>
          <a:lstStyle/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Precio fijo por persona
Riesgo PS alto · Predecible</a:t>
            </a:r>
          </a:p>
        </p:txBody>
      </p:sp>
      <p:sp>
        <p:nvSpPr>
          <p:cNvPr id="101" name="arr">
            <a:extLst>
              <a:ext uri="{FF2B5EF4-FFF2-40B4-BE49-F238E27FC236}">
                <a16:creationId xmlns:a16="http://schemas.microsoft.com/office/drawing/2014/main" id="{907466AB-23EB-CFB0-7023-D1A3492A4162}"/>
              </a:ext>
            </a:extLst>
          </p:cNvPr>
          <p:cNvSpPr txBox="1">
            <a:spLocks noGrp="1"/>
          </p:cNvSpPr>
          <p:nvPr/>
        </p:nvSpPr>
        <p:spPr>
          <a:xfrm>
            <a:off x="2219597" y="4145279"/>
            <a:ext cx="109728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fontScale="92500" lnSpcReduction="20000"/>
          </a:bodyPr>
          <a:lstStyle/>
          <a:p>
            <a:pPr algn="ctr"/>
            <a:r>
              <a:rPr lang="es-ES" sz="1200" b="1">
                <a:solidFill>
                  <a:srgbClr val="1B7B85"/>
                </a:solidFill>
                <a:latin typeface="Reddit Sans"/>
                <a:ea typeface="Reddit Sans"/>
              </a:rPr>
              <a:t>→</a:t>
            </a:r>
          </a:p>
        </p:txBody>
      </p:sp>
      <p:sp>
        <p:nvSpPr>
          <p:cNvPr id="103" name="pbg">
            <a:extLst>
              <a:ext uri="{FF2B5EF4-FFF2-40B4-BE49-F238E27FC236}">
                <a16:creationId xmlns:a16="http://schemas.microsoft.com/office/drawing/2014/main" id="{8D8DC231-13A5-09D4-4815-F97BDF8D3BD4}"/>
              </a:ext>
            </a:extLst>
          </p:cNvPr>
          <p:cNvSpPr>
            <a:spLocks noGrp="1"/>
          </p:cNvSpPr>
          <p:nvPr/>
        </p:nvSpPr>
        <p:spPr>
          <a:xfrm>
            <a:off x="2329325" y="3980687"/>
            <a:ext cx="1828800" cy="817299"/>
          </a:xfrm>
          <a:prstGeom prst="roundRect">
            <a:avLst>
              <a:gd name="adj" fmla="val 10000"/>
            </a:avLst>
          </a:prstGeom>
          <a:solidFill>
            <a:srgbClr val="F5F7FC"/>
          </a:solidFill>
          <a:ln w="9525">
            <a:solidFill>
              <a:srgbClr val="1B7B85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105" name="ptit">
            <a:extLst>
              <a:ext uri="{FF2B5EF4-FFF2-40B4-BE49-F238E27FC236}">
                <a16:creationId xmlns:a16="http://schemas.microsoft.com/office/drawing/2014/main" id="{2F78AB25-46C7-9F91-DD9F-06AD2E6E0C06}"/>
              </a:ext>
            </a:extLst>
          </p:cNvPr>
          <p:cNvSpPr txBox="1">
            <a:spLocks noGrp="1"/>
          </p:cNvSpPr>
          <p:nvPr/>
        </p:nvSpPr>
        <p:spPr>
          <a:xfrm>
            <a:off x="2420765" y="4017263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000" b="1">
                <a:solidFill>
                  <a:srgbClr val="1B7B85"/>
                </a:solidFill>
                <a:latin typeface="Reddit Sans"/>
                <a:ea typeface="Reddit Sans"/>
              </a:rPr>
              <a:t>Por Ticket</a:t>
            </a:r>
          </a:p>
        </p:txBody>
      </p:sp>
      <p:sp>
        <p:nvSpPr>
          <p:cNvPr id="107" name="pdesc">
            <a:extLst>
              <a:ext uri="{FF2B5EF4-FFF2-40B4-BE49-F238E27FC236}">
                <a16:creationId xmlns:a16="http://schemas.microsoft.com/office/drawing/2014/main" id="{B430BFD1-A4DE-F76C-3E85-EDF2EB780505}"/>
              </a:ext>
            </a:extLst>
          </p:cNvPr>
          <p:cNvSpPr txBox="1">
            <a:spLocks noGrp="1"/>
          </p:cNvSpPr>
          <p:nvPr/>
        </p:nvSpPr>
        <p:spPr>
          <a:xfrm>
            <a:off x="2420765" y="4255007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fontScale="77500" lnSpcReduction="20000"/>
          </a:bodyPr>
          <a:lstStyle/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Pay-per-use · Alineado a volumen
Shift-Left incentivado</a:t>
            </a:r>
          </a:p>
        </p:txBody>
      </p:sp>
      <p:sp>
        <p:nvSpPr>
          <p:cNvPr id="109" name="arr">
            <a:extLst>
              <a:ext uri="{FF2B5EF4-FFF2-40B4-BE49-F238E27FC236}">
                <a16:creationId xmlns:a16="http://schemas.microsoft.com/office/drawing/2014/main" id="{58841477-9DA9-3628-BC1C-940F15E2EAE7}"/>
              </a:ext>
            </a:extLst>
          </p:cNvPr>
          <p:cNvSpPr txBox="1">
            <a:spLocks noGrp="1"/>
          </p:cNvSpPr>
          <p:nvPr/>
        </p:nvSpPr>
        <p:spPr>
          <a:xfrm>
            <a:off x="4158125" y="4145279"/>
            <a:ext cx="109728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fontScale="92500" lnSpcReduction="20000"/>
          </a:bodyPr>
          <a:lstStyle/>
          <a:p>
            <a:pPr algn="ctr"/>
            <a:r>
              <a:rPr lang="es-ES" sz="1200" b="1">
                <a:solidFill>
                  <a:srgbClr val="1B7B85"/>
                </a:solidFill>
                <a:latin typeface="Reddit Sans"/>
                <a:ea typeface="Reddit Sans"/>
              </a:rPr>
              <a:t>→</a:t>
            </a:r>
          </a:p>
        </p:txBody>
      </p:sp>
      <p:sp>
        <p:nvSpPr>
          <p:cNvPr id="111" name="pbg">
            <a:extLst>
              <a:ext uri="{FF2B5EF4-FFF2-40B4-BE49-F238E27FC236}">
                <a16:creationId xmlns:a16="http://schemas.microsoft.com/office/drawing/2014/main" id="{21B47E69-A02F-AD84-5AF5-FEEA7BCF43CC}"/>
              </a:ext>
            </a:extLst>
          </p:cNvPr>
          <p:cNvSpPr>
            <a:spLocks noGrp="1"/>
          </p:cNvSpPr>
          <p:nvPr/>
        </p:nvSpPr>
        <p:spPr>
          <a:xfrm>
            <a:off x="4267853" y="3980687"/>
            <a:ext cx="1828800" cy="817299"/>
          </a:xfrm>
          <a:prstGeom prst="roundRect">
            <a:avLst>
              <a:gd name="adj" fmla="val 10000"/>
            </a:avLst>
          </a:prstGeom>
          <a:solidFill>
            <a:srgbClr val="F5F7FC"/>
          </a:solidFill>
          <a:ln w="9525">
            <a:solidFill>
              <a:srgbClr val="1A3A8F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113" name="ptit">
            <a:extLst>
              <a:ext uri="{FF2B5EF4-FFF2-40B4-BE49-F238E27FC236}">
                <a16:creationId xmlns:a16="http://schemas.microsoft.com/office/drawing/2014/main" id="{0BD0FBE4-856F-DB15-1BD3-C7D2393BC6D5}"/>
              </a:ext>
            </a:extLst>
          </p:cNvPr>
          <p:cNvSpPr txBox="1">
            <a:spLocks noGrp="1"/>
          </p:cNvSpPr>
          <p:nvPr/>
        </p:nvSpPr>
        <p:spPr>
          <a:xfrm>
            <a:off x="4359293" y="4017263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/>
          </a:bodyPr>
          <a:lstStyle/>
          <a:p>
            <a:pPr algn="l"/>
            <a:r>
              <a:rPr lang="es-ES" sz="1000" b="1">
                <a:solidFill>
                  <a:srgbClr val="1A3A8F"/>
                </a:solidFill>
                <a:latin typeface="Reddit Sans"/>
                <a:ea typeface="Reddit Sans"/>
              </a:rPr>
              <a:t>Outcome-Based</a:t>
            </a:r>
          </a:p>
        </p:txBody>
      </p:sp>
      <p:sp>
        <p:nvSpPr>
          <p:cNvPr id="115" name="pdesc">
            <a:extLst>
              <a:ext uri="{FF2B5EF4-FFF2-40B4-BE49-F238E27FC236}">
                <a16:creationId xmlns:a16="http://schemas.microsoft.com/office/drawing/2014/main" id="{212605A2-662E-07AE-C631-8430F60FBBF5}"/>
              </a:ext>
            </a:extLst>
          </p:cNvPr>
          <p:cNvSpPr txBox="1">
            <a:spLocks noGrp="1"/>
          </p:cNvSpPr>
          <p:nvPr/>
        </p:nvSpPr>
        <p:spPr>
          <a:xfrm>
            <a:off x="4359293" y="4255007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fontScale="77500" lnSpcReduction="20000"/>
          </a:bodyPr>
          <a:lstStyle/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Outcomes × Precio por Outcome
Shared savings 15-25%</a:t>
            </a:r>
          </a:p>
        </p:txBody>
      </p:sp>
      <p:sp>
        <p:nvSpPr>
          <p:cNvPr id="117" name="arr">
            <a:extLst>
              <a:ext uri="{FF2B5EF4-FFF2-40B4-BE49-F238E27FC236}">
                <a16:creationId xmlns:a16="http://schemas.microsoft.com/office/drawing/2014/main" id="{261B59FF-83E8-028B-36D9-B9799CAB463C}"/>
              </a:ext>
            </a:extLst>
          </p:cNvPr>
          <p:cNvSpPr txBox="1">
            <a:spLocks noGrp="1"/>
          </p:cNvSpPr>
          <p:nvPr/>
        </p:nvSpPr>
        <p:spPr>
          <a:xfrm>
            <a:off x="6096653" y="4145279"/>
            <a:ext cx="109728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rmAutofit fontScale="92500" lnSpcReduction="20000"/>
          </a:bodyPr>
          <a:lstStyle/>
          <a:p>
            <a:pPr algn="ctr"/>
            <a:r>
              <a:rPr lang="es-ES" sz="1200" b="1">
                <a:solidFill>
                  <a:srgbClr val="1B7B85"/>
                </a:solidFill>
                <a:latin typeface="Reddit Sans"/>
                <a:ea typeface="Reddit Sans"/>
              </a:rPr>
              <a:t>→</a:t>
            </a:r>
          </a:p>
        </p:txBody>
      </p:sp>
      <p:sp>
        <p:nvSpPr>
          <p:cNvPr id="119" name="pbg">
            <a:extLst>
              <a:ext uri="{FF2B5EF4-FFF2-40B4-BE49-F238E27FC236}">
                <a16:creationId xmlns:a16="http://schemas.microsoft.com/office/drawing/2014/main" id="{F066019D-C137-1FA2-CEDC-1E20036F0836}"/>
              </a:ext>
            </a:extLst>
          </p:cNvPr>
          <p:cNvSpPr>
            <a:spLocks noGrp="1"/>
          </p:cNvSpPr>
          <p:nvPr/>
        </p:nvSpPr>
        <p:spPr>
          <a:xfrm>
            <a:off x="6206381" y="3980687"/>
            <a:ext cx="1828800" cy="817299"/>
          </a:xfrm>
          <a:prstGeom prst="roundRect">
            <a:avLst>
              <a:gd name="adj" fmla="val 10000"/>
            </a:avLst>
          </a:prstGeom>
          <a:solidFill>
            <a:srgbClr val="EBF5FF"/>
          </a:solidFill>
          <a:ln w="15875">
            <a:solidFill>
              <a:srgbClr val="0D1B5E"/>
            </a:solidFill>
          </a:ln>
        </p:spPr>
        <p:txBody>
          <a:bodyPr/>
          <a:lstStyle/>
          <a:p>
            <a:endParaRPr lang="es-CO"/>
          </a:p>
        </p:txBody>
      </p:sp>
      <p:sp>
        <p:nvSpPr>
          <p:cNvPr id="121" name="ptit">
            <a:extLst>
              <a:ext uri="{FF2B5EF4-FFF2-40B4-BE49-F238E27FC236}">
                <a16:creationId xmlns:a16="http://schemas.microsoft.com/office/drawing/2014/main" id="{DF509C14-BA18-91EE-9834-3685C397DBB3}"/>
              </a:ext>
            </a:extLst>
          </p:cNvPr>
          <p:cNvSpPr txBox="1">
            <a:spLocks noGrp="1"/>
          </p:cNvSpPr>
          <p:nvPr/>
        </p:nvSpPr>
        <p:spPr>
          <a:xfrm>
            <a:off x="6297821" y="4017263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r>
              <a:rPr lang="es-ES" sz="1000" b="1">
                <a:solidFill>
                  <a:srgbClr val="0D1B5E"/>
                </a:solidFill>
                <a:latin typeface="Reddit Sans"/>
                <a:ea typeface="Reddit Sans"/>
              </a:rPr>
              <a:t>Full Next Gen</a:t>
            </a:r>
          </a:p>
        </p:txBody>
      </p:sp>
      <p:sp>
        <p:nvSpPr>
          <p:cNvPr id="123" name="pdesc">
            <a:extLst>
              <a:ext uri="{FF2B5EF4-FFF2-40B4-BE49-F238E27FC236}">
                <a16:creationId xmlns:a16="http://schemas.microsoft.com/office/drawing/2014/main" id="{E8BFAAD6-2A5F-9830-EB72-3EE426C2887B}"/>
              </a:ext>
            </a:extLst>
          </p:cNvPr>
          <p:cNvSpPr txBox="1">
            <a:spLocks noGrp="1"/>
          </p:cNvSpPr>
          <p:nvPr/>
        </p:nvSpPr>
        <p:spPr>
          <a:xfrm>
            <a:off x="6297821" y="4255007"/>
            <a:ext cx="16459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normAutofit fontScale="77500" lnSpcReduction="20000"/>
          </a:bodyPr>
          <a:lstStyle/>
          <a:p>
            <a:pPr algn="l"/>
            <a:r>
              <a:rPr lang="es-ES" sz="800">
                <a:solidFill>
                  <a:srgbClr val="6B7280"/>
                </a:solidFill>
                <a:latin typeface="Reddit Sans"/>
                <a:ea typeface="Reddit Sans"/>
              </a:rPr>
              <a:t>Outcome + AIOps + XLA + KCS
Premium · Máximo valor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AA6E818-1736-0429-307B-141CA753BD64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59631712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23">
          <a:extLst>
            <a:ext uri="{FF2B5EF4-FFF2-40B4-BE49-F238E27FC236}">
              <a16:creationId xmlns:a16="http://schemas.microsoft.com/office/drawing/2014/main" id="{0073EB55-4649-8126-4366-E27BAFF96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57f5ba65c_1_28">
            <a:extLst>
              <a:ext uri="{FF2B5EF4-FFF2-40B4-BE49-F238E27FC236}">
                <a16:creationId xmlns:a16="http://schemas.microsoft.com/office/drawing/2014/main" id="{B5EE3330-01FD-C810-C65B-B47C23803E2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s"/>
              <a:t>Mesas de Servicio de Nueva Generación</a:t>
            </a:r>
          </a:p>
        </p:txBody>
      </p:sp>
      <p:sp>
        <p:nvSpPr>
          <p:cNvPr id="125" name="Google Shape;125;g3657f5ba65c_1_28">
            <a:extLst>
              <a:ext uri="{FF2B5EF4-FFF2-40B4-BE49-F238E27FC236}">
                <a16:creationId xmlns:a16="http://schemas.microsoft.com/office/drawing/2014/main" id="{B949523C-9396-B26E-8B4E-9473B2ABF46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/>
            <a:r>
              <a:rPr lang="es-ES"/>
              <a:t>Automatizaciones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36955EA-CCC0-BCAA-4C74-AC57A8DD98BD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8485294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30B284-8EB4-B42B-53D1-E3F329668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829" y="260263"/>
            <a:ext cx="8211000" cy="572700"/>
          </a:xfrm>
        </p:spPr>
        <p:txBody>
          <a:bodyPr>
            <a:normAutofit/>
          </a:bodyPr>
          <a:lstStyle/>
          <a:p>
            <a:r>
              <a:rPr lang="en-US"/>
              <a:t>Los Tres Pilares de la Nueva Mesa</a:t>
            </a:r>
            <a:endParaRPr lang="es-ES"/>
          </a:p>
          <a:p>
            <a:endParaRPr lang="es-E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5A719FD-0B5A-4EB7-EC49-67431DC8983E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98A1B510-9F86-DC26-59FF-C5C59A3F3F7D}"/>
              </a:ext>
            </a:extLst>
          </p:cNvPr>
          <p:cNvSpPr/>
          <p:nvPr/>
        </p:nvSpPr>
        <p:spPr>
          <a:xfrm>
            <a:off x="357188" y="1300163"/>
            <a:ext cx="8429625" cy="521494"/>
          </a:xfrm>
          <a:prstGeom prst="rect">
            <a:avLst/>
          </a:prstGeom>
          <a:solidFill>
            <a:srgbClr val="48DC92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5028D37F-D704-AD21-3229-76BBD60C7FDD}"/>
              </a:ext>
            </a:extLst>
          </p:cNvPr>
          <p:cNvSpPr/>
          <p:nvPr/>
        </p:nvSpPr>
        <p:spPr>
          <a:xfrm>
            <a:off x="2536735" y="1472729"/>
            <a:ext cx="4070531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</a:pPr>
            <a:r>
              <a:rPr lang="en-US" sz="1238" kern="0" spc="-37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Arquitectura de Operaciones de Nueva Generación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1690EFFD-13D7-2E28-42BE-4D89F42D7767}"/>
              </a:ext>
            </a:extLst>
          </p:cNvPr>
          <p:cNvSpPr/>
          <p:nvPr/>
        </p:nvSpPr>
        <p:spPr>
          <a:xfrm>
            <a:off x="357188" y="1893094"/>
            <a:ext cx="2762250" cy="2300288"/>
          </a:xfrm>
          <a:prstGeom prst="rect">
            <a:avLst/>
          </a:prstGeom>
          <a:solidFill>
            <a:srgbClr val="4FC9E9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90831486-4878-3ADE-BADF-4EB1C18CFFE3}"/>
              </a:ext>
            </a:extLst>
          </p:cNvPr>
          <p:cNvSpPr/>
          <p:nvPr/>
        </p:nvSpPr>
        <p:spPr>
          <a:xfrm>
            <a:off x="588169" y="2583470"/>
            <a:ext cx="2300288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  <a:spcBef>
                <a:spcPts val="973"/>
              </a:spcBef>
            </a:pPr>
            <a:r>
              <a:rPr lang="en-US" sz="1238" kern="0" spc="-37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Automatización Inteligente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74487358-BE15-5E18-0F88-3220A1F4221C}"/>
              </a:ext>
            </a:extLst>
          </p:cNvPr>
          <p:cNvSpPr/>
          <p:nvPr/>
        </p:nvSpPr>
        <p:spPr>
          <a:xfrm>
            <a:off x="525226" y="2825465"/>
            <a:ext cx="2426174" cy="7706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17"/>
              </a:lnSpc>
              <a:spcBef>
                <a:spcPts val="491"/>
              </a:spcBef>
            </a:pPr>
            <a:r>
              <a:rPr lang="en-US" sz="1125" kern="0" spc="-45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Optimización de workflows para</a:t>
            </a:r>
            <a:br>
              <a:rPr lang="en-US" sz="1125" kern="0" spc="-45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tareas repetitivas y despliegues</a:t>
            </a:r>
            <a:br>
              <a:rPr lang="en-US" sz="1125" kern="0" spc="-45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automatizados que incrementan la</a:t>
            </a:r>
            <a:br>
              <a:rPr lang="en-US" sz="1125" kern="0" spc="-45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velocidad de resolución.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16" name="Image 0" descr="6af88662.png">
            <a:extLst>
              <a:ext uri="{FF2B5EF4-FFF2-40B4-BE49-F238E27FC236}">
                <a16:creationId xmlns:a16="http://schemas.microsoft.com/office/drawing/2014/main" id="{E6665FF3-08BF-DBCE-ED59-E127450E5C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102" y="2119796"/>
            <a:ext cx="364331" cy="321469"/>
          </a:xfrm>
          <a:prstGeom prst="rect">
            <a:avLst/>
          </a:prstGeom>
        </p:spPr>
      </p:pic>
      <p:sp>
        <p:nvSpPr>
          <p:cNvPr id="18" name="Shape 7">
            <a:extLst>
              <a:ext uri="{FF2B5EF4-FFF2-40B4-BE49-F238E27FC236}">
                <a16:creationId xmlns:a16="http://schemas.microsoft.com/office/drawing/2014/main" id="{AF00B28B-4A26-7583-E7CC-834730C22382}"/>
              </a:ext>
            </a:extLst>
          </p:cNvPr>
          <p:cNvSpPr/>
          <p:nvPr/>
        </p:nvSpPr>
        <p:spPr>
          <a:xfrm>
            <a:off x="3190875" y="1893094"/>
            <a:ext cx="2762250" cy="2300288"/>
          </a:xfrm>
          <a:prstGeom prst="rect">
            <a:avLst/>
          </a:prstGeom>
          <a:solidFill>
            <a:srgbClr val="66BAEC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2FA161F6-ABBA-1DB5-459E-1E74C643DC34}"/>
              </a:ext>
            </a:extLst>
          </p:cNvPr>
          <p:cNvSpPr/>
          <p:nvPr/>
        </p:nvSpPr>
        <p:spPr>
          <a:xfrm>
            <a:off x="3321844" y="2583470"/>
            <a:ext cx="2500313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  <a:spcBef>
                <a:spcPts val="973"/>
              </a:spcBef>
            </a:pPr>
            <a:r>
              <a:rPr lang="en-US" sz="1238" kern="0" spc="-37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Inteligencia Artificial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7E8DB327-15DE-5A75-75C3-8C1F769952F8}"/>
              </a:ext>
            </a:extLst>
          </p:cNvPr>
          <p:cNvSpPr/>
          <p:nvPr/>
        </p:nvSpPr>
        <p:spPr>
          <a:xfrm>
            <a:off x="3249458" y="2825465"/>
            <a:ext cx="2645085" cy="77063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17"/>
              </a:lnSpc>
              <a:spcBef>
                <a:spcPts val="491"/>
              </a:spcBef>
            </a:pPr>
            <a:r>
              <a:rPr lang="en-US" sz="1125" kern="0" spc="-45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Implementación avanzada de agentes</a:t>
            </a:r>
            <a:br>
              <a:rPr lang="en-US" sz="1125" kern="0" spc="-45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virtuales y análisis predictivo para la</a:t>
            </a:r>
            <a:br>
              <a:rPr lang="en-US" sz="1125" kern="0" spc="-45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detección y mitigación proactiva de</a:t>
            </a:r>
            <a:br>
              <a:rPr lang="en-US" sz="1125" kern="0" spc="-45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incidentes.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24" name="Image 1" descr="-42fdaf9e.png">
            <a:extLst>
              <a:ext uri="{FF2B5EF4-FFF2-40B4-BE49-F238E27FC236}">
                <a16:creationId xmlns:a16="http://schemas.microsoft.com/office/drawing/2014/main" id="{54860B3B-B7BC-6797-5B45-D58C56DE35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484" y="2103054"/>
            <a:ext cx="471488" cy="392906"/>
          </a:xfrm>
          <a:prstGeom prst="rect">
            <a:avLst/>
          </a:prstGeom>
        </p:spPr>
      </p:pic>
      <p:sp>
        <p:nvSpPr>
          <p:cNvPr id="26" name="Shape 10">
            <a:extLst>
              <a:ext uri="{FF2B5EF4-FFF2-40B4-BE49-F238E27FC236}">
                <a16:creationId xmlns:a16="http://schemas.microsoft.com/office/drawing/2014/main" id="{39EB4137-1140-7C2F-9F5F-7FA81B2A9DCF}"/>
              </a:ext>
            </a:extLst>
          </p:cNvPr>
          <p:cNvSpPr/>
          <p:nvPr/>
        </p:nvSpPr>
        <p:spPr>
          <a:xfrm>
            <a:off x="6024563" y="1893094"/>
            <a:ext cx="2762250" cy="2300288"/>
          </a:xfrm>
          <a:prstGeom prst="rect">
            <a:avLst/>
          </a:prstGeom>
          <a:solidFill>
            <a:srgbClr val="7CAAEE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160F180B-7E01-AF44-024A-4A5C8B0AE2E6}"/>
              </a:ext>
            </a:extLst>
          </p:cNvPr>
          <p:cNvSpPr/>
          <p:nvPr/>
        </p:nvSpPr>
        <p:spPr>
          <a:xfrm>
            <a:off x="6151960" y="2559248"/>
            <a:ext cx="2507456" cy="169553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336"/>
              </a:lnSpc>
              <a:spcBef>
                <a:spcPts val="924"/>
              </a:spcBef>
            </a:pPr>
            <a:r>
              <a:rPr lang="en-US" sz="1175" kern="0" spc="-35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Autoservicio Guiado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0" name="Text 12">
            <a:extLst>
              <a:ext uri="{FF2B5EF4-FFF2-40B4-BE49-F238E27FC236}">
                <a16:creationId xmlns:a16="http://schemas.microsoft.com/office/drawing/2014/main" id="{ACE6880C-784A-848D-268C-1EED3D42F76F}"/>
              </a:ext>
            </a:extLst>
          </p:cNvPr>
          <p:cNvSpPr/>
          <p:nvPr/>
        </p:nvSpPr>
        <p:spPr>
          <a:xfrm>
            <a:off x="6077430" y="2789076"/>
            <a:ext cx="2656515" cy="73223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42"/>
              </a:lnSpc>
              <a:spcBef>
                <a:spcPts val="466"/>
              </a:spcBef>
            </a:pPr>
            <a:r>
              <a:rPr lang="en-US" sz="1069" kern="0" spc="-4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Desarrollo de portales de conocimiento</a:t>
            </a:r>
            <a:br>
              <a:rPr lang="en-US" sz="1069" kern="0" spc="-4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69" kern="0" spc="-4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intuitivos que empoderan al usuario final</a:t>
            </a:r>
            <a:br>
              <a:rPr lang="en-US" sz="1069" kern="0" spc="-4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69" kern="0" spc="-4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y reducen la dependencia del soporte</a:t>
            </a:r>
            <a:br>
              <a:rPr lang="en-US" sz="1069" kern="0" spc="-4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69" kern="0" spc="-43">
                <a:solidFill>
                  <a:srgbClr val="FFFFFF">
                    <a:alpha val="80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tradicional.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32" name="Image 2" descr="0fa498e2.png">
            <a:extLst>
              <a:ext uri="{FF2B5EF4-FFF2-40B4-BE49-F238E27FC236}">
                <a16:creationId xmlns:a16="http://schemas.microsoft.com/office/drawing/2014/main" id="{7B250128-5F4B-06EF-C763-4933ECDE78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4751" y="2106890"/>
            <a:ext cx="342900" cy="328613"/>
          </a:xfrm>
          <a:prstGeom prst="rect">
            <a:avLst/>
          </a:prstGeom>
        </p:spPr>
      </p:pic>
      <p:sp>
        <p:nvSpPr>
          <p:cNvPr id="34" name="Shape 13">
            <a:extLst>
              <a:ext uri="{FF2B5EF4-FFF2-40B4-BE49-F238E27FC236}">
                <a16:creationId xmlns:a16="http://schemas.microsoft.com/office/drawing/2014/main" id="{35A8696A-B649-3AEA-763C-613B7AEA7343}"/>
              </a:ext>
            </a:extLst>
          </p:cNvPr>
          <p:cNvSpPr/>
          <p:nvPr/>
        </p:nvSpPr>
        <p:spPr>
          <a:xfrm>
            <a:off x="357188" y="4264819"/>
            <a:ext cx="8429625" cy="521494"/>
          </a:xfrm>
          <a:prstGeom prst="rect">
            <a:avLst/>
          </a:prstGeom>
          <a:solidFill>
            <a:srgbClr val="48DC92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14">
            <a:extLst>
              <a:ext uri="{FF2B5EF4-FFF2-40B4-BE49-F238E27FC236}">
                <a16:creationId xmlns:a16="http://schemas.microsoft.com/office/drawing/2014/main" id="{DC84F4C3-DFFE-56A2-1B0F-590E9F39980D}"/>
              </a:ext>
            </a:extLst>
          </p:cNvPr>
          <p:cNvSpPr/>
          <p:nvPr/>
        </p:nvSpPr>
        <p:spPr>
          <a:xfrm>
            <a:off x="1314450" y="4443747"/>
            <a:ext cx="6515100" cy="16229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278"/>
              </a:lnSpc>
            </a:pPr>
            <a:r>
              <a:rPr lang="en-US" sz="1125" kern="0" spc="-34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Semi Bold" pitchFamily="34" charset="-120"/>
              </a:rPr>
              <a:t>TRANSFORMACIÓN HACIA LA EFICIENCIA OPERATIVA Y EL EMPODERAMIENTO DEL USUARIO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B343E4C0-01EB-1989-7FE2-3FC66F4A4405}"/>
              </a:ext>
            </a:extLst>
          </p:cNvPr>
          <p:cNvSpPr/>
          <p:nvPr/>
        </p:nvSpPr>
        <p:spPr>
          <a:xfrm>
            <a:off x="407874" y="668249"/>
            <a:ext cx="8643938" cy="21196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70"/>
              </a:lnSpc>
              <a:spcBef>
                <a:spcPts val="852"/>
              </a:spcBef>
            </a:pPr>
            <a:r>
              <a:rPr lang="en-US" sz="1238" kern="0" spc="-5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Fundamentos estratégicos</a:t>
            </a:r>
            <a:endParaRPr lang="en-US" sz="1013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282152326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8F9B37F-AF1A-1042-C47B-1838B8CDA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4106AB-9535-B3D2-DBE8-7243E7720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err="1"/>
              <a:t>Ecosistema</a:t>
            </a:r>
            <a:r>
              <a:rPr lang="en-US"/>
              <a:t> de la Nueva Mesa de Servicio</a:t>
            </a:r>
            <a:endParaRPr lang="es-ES"/>
          </a:p>
          <a:p>
            <a:endParaRPr lang="es-E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99A5534-02AD-2D3F-A2CB-E47C96CA197F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611CE5BD-3E1F-D7BE-BB86-D6601BB58BF4}"/>
              </a:ext>
            </a:extLst>
          </p:cNvPr>
          <p:cNvSpPr/>
          <p:nvPr/>
        </p:nvSpPr>
        <p:spPr>
          <a:xfrm>
            <a:off x="429645" y="619263"/>
            <a:ext cx="8643938" cy="21196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70"/>
              </a:lnSpc>
              <a:spcBef>
                <a:spcPts val="852"/>
              </a:spcBef>
            </a:pPr>
            <a:r>
              <a:rPr lang="en-US" sz="1200" kern="0" spc="-5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Arquitectura</a:t>
            </a:r>
            <a:r>
              <a:rPr lang="en-US" sz="1200" kern="0" spc="-5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de alto </a:t>
            </a:r>
            <a:r>
              <a:rPr lang="en-US" sz="1200" kern="0" spc="-5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nivel</a:t>
            </a:r>
            <a:endParaRPr lang="en-US" sz="1200" err="1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pic>
        <p:nvPicPr>
          <p:cNvPr id="7" name="Image 0" descr="21da9562.png">
            <a:extLst>
              <a:ext uri="{FF2B5EF4-FFF2-40B4-BE49-F238E27FC236}">
                <a16:creationId xmlns:a16="http://schemas.microsoft.com/office/drawing/2014/main" id="{B947A7B6-D38D-30DE-B9DD-23E2E2CC64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9464" y="1300163"/>
            <a:ext cx="1564481" cy="1114425"/>
          </a:xfrm>
          <a:prstGeom prst="rect">
            <a:avLst/>
          </a:prstGeom>
        </p:spPr>
      </p:pic>
      <p:sp>
        <p:nvSpPr>
          <p:cNvPr id="9" name="Shape 2">
            <a:extLst>
              <a:ext uri="{FF2B5EF4-FFF2-40B4-BE49-F238E27FC236}">
                <a16:creationId xmlns:a16="http://schemas.microsoft.com/office/drawing/2014/main" id="{548C416B-6965-E5BC-F8A4-7CD31F069F43}"/>
              </a:ext>
            </a:extLst>
          </p:cNvPr>
          <p:cNvSpPr/>
          <p:nvPr/>
        </p:nvSpPr>
        <p:spPr>
          <a:xfrm>
            <a:off x="2691766" y="1307306"/>
            <a:ext cx="5199221" cy="0"/>
          </a:xfrm>
          <a:prstGeom prst="line">
            <a:avLst/>
          </a:prstGeom>
          <a:noFill/>
          <a:ln w="12700">
            <a:solidFill>
              <a:srgbClr val="000000">
                <a:alpha val="30000"/>
              </a:srgbClr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F7EA866-0191-582D-F571-91879E5CB95B}"/>
              </a:ext>
            </a:extLst>
          </p:cNvPr>
          <p:cNvSpPr/>
          <p:nvPr/>
        </p:nvSpPr>
        <p:spPr>
          <a:xfrm>
            <a:off x="1736280" y="1683470"/>
            <a:ext cx="1203722" cy="35495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2795"/>
              </a:lnSpc>
            </a:pPr>
            <a:r>
              <a:rPr lang="en-US" sz="2813" kern="0" spc="-169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1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5124CE46-9C9E-F9B2-ADFF-99612F8D940D}"/>
              </a:ext>
            </a:extLst>
          </p:cNvPr>
          <p:cNvSpPr/>
          <p:nvPr/>
        </p:nvSpPr>
        <p:spPr>
          <a:xfrm>
            <a:off x="3366867" y="1571960"/>
            <a:ext cx="4631271" cy="16229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78"/>
              </a:lnSpc>
            </a:pPr>
            <a:r>
              <a:rPr lang="en-US" sz="1125" kern="0" spc="-34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Capa 1: Omni-canalidad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5ADEC5DE-D03A-8B31-8936-18990D8F11D9}"/>
              </a:ext>
            </a:extLst>
          </p:cNvPr>
          <p:cNvSpPr/>
          <p:nvPr/>
        </p:nvSpPr>
        <p:spPr>
          <a:xfrm>
            <a:off x="3366868" y="1805359"/>
            <a:ext cx="4856756" cy="34691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66"/>
              </a:lnSpc>
              <a:spcBef>
                <a:spcPts val="549"/>
              </a:spcBef>
            </a:pPr>
            <a:r>
              <a:rPr lang="en-US" sz="1013" kern="0" spc="-41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Puntos de contacto integrados: Microsoft Teams, Slack, Portal Web y Aplicación</a:t>
            </a:r>
            <a:br>
              <a:rPr lang="en-US" sz="1013" kern="0" spc="-41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13" kern="0" spc="-41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Móvil.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17" name="Image 1" descr="517ee562.png">
            <a:extLst>
              <a:ext uri="{FF2B5EF4-FFF2-40B4-BE49-F238E27FC236}">
                <a16:creationId xmlns:a16="http://schemas.microsoft.com/office/drawing/2014/main" id="{CE05D48D-EA54-F1FC-CAB7-07AA486578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389" y="2457450"/>
            <a:ext cx="2743200" cy="1114425"/>
          </a:xfrm>
          <a:prstGeom prst="rect">
            <a:avLst/>
          </a:prstGeom>
        </p:spPr>
      </p:pic>
      <p:sp>
        <p:nvSpPr>
          <p:cNvPr id="19" name="Shape 6">
            <a:extLst>
              <a:ext uri="{FF2B5EF4-FFF2-40B4-BE49-F238E27FC236}">
                <a16:creationId xmlns:a16="http://schemas.microsoft.com/office/drawing/2014/main" id="{190D5B4B-16B7-6DFB-0D57-5CC2155BB69D}"/>
              </a:ext>
            </a:extLst>
          </p:cNvPr>
          <p:cNvSpPr/>
          <p:nvPr/>
        </p:nvSpPr>
        <p:spPr>
          <a:xfrm>
            <a:off x="3281839" y="2436019"/>
            <a:ext cx="4609148" cy="0"/>
          </a:xfrm>
          <a:prstGeom prst="line">
            <a:avLst/>
          </a:prstGeom>
          <a:noFill/>
          <a:ln w="12700">
            <a:solidFill>
              <a:srgbClr val="000000">
                <a:alpha val="30000"/>
              </a:srgbClr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92CD5D8A-2414-8C1B-BFD3-F83FF4D0FC3D}"/>
              </a:ext>
            </a:extLst>
          </p:cNvPr>
          <p:cNvSpPr/>
          <p:nvPr/>
        </p:nvSpPr>
        <p:spPr>
          <a:xfrm>
            <a:off x="1146206" y="2840757"/>
            <a:ext cx="2383780" cy="35495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2795"/>
              </a:lnSpc>
            </a:pPr>
            <a:r>
              <a:rPr lang="en-US" sz="2813" kern="0" spc="-169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2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A510AFE2-9824-A370-1A07-D4E7C95A0546}"/>
              </a:ext>
            </a:extLst>
          </p:cNvPr>
          <p:cNvSpPr/>
          <p:nvPr/>
        </p:nvSpPr>
        <p:spPr>
          <a:xfrm>
            <a:off x="3956941" y="2729247"/>
            <a:ext cx="4041130" cy="16229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78"/>
              </a:lnSpc>
            </a:pPr>
            <a:r>
              <a:rPr lang="en-US" sz="1125" kern="0" spc="-34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Capa 2: Inteligencia Central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CCF1FB93-A37E-D5FF-3329-AC7218F2B60B}"/>
              </a:ext>
            </a:extLst>
          </p:cNvPr>
          <p:cNvSpPr/>
          <p:nvPr/>
        </p:nvSpPr>
        <p:spPr>
          <a:xfrm>
            <a:off x="3956941" y="2962647"/>
            <a:ext cx="4041130" cy="34691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66"/>
              </a:lnSpc>
              <a:spcBef>
                <a:spcPts val="549"/>
              </a:spcBef>
            </a:pPr>
            <a:r>
              <a:rPr lang="en-US" sz="1013" kern="0" spc="-41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Núcleo compuesto por Motor de IA, Procesamiento de Lenguaje</a:t>
            </a:r>
            <a:br>
              <a:rPr lang="en-US" sz="1013" kern="0" spc="-41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13" kern="0" spc="-41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Natural (NLP) y Base de Conocimiento.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27" name="Image 2" descr="400f81a2.png">
            <a:extLst>
              <a:ext uri="{FF2B5EF4-FFF2-40B4-BE49-F238E27FC236}">
                <a16:creationId xmlns:a16="http://schemas.microsoft.com/office/drawing/2014/main" id="{46BA60E4-3ADB-A4C0-0805-60AA505220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316" y="3614738"/>
            <a:ext cx="3921919" cy="1114425"/>
          </a:xfrm>
          <a:prstGeom prst="rect">
            <a:avLst/>
          </a:prstGeom>
        </p:spPr>
      </p:pic>
      <p:sp>
        <p:nvSpPr>
          <p:cNvPr id="29" name="Shape 10">
            <a:extLst>
              <a:ext uri="{FF2B5EF4-FFF2-40B4-BE49-F238E27FC236}">
                <a16:creationId xmlns:a16="http://schemas.microsoft.com/office/drawing/2014/main" id="{8062187E-C7C2-A08F-EC90-2AE669B381A5}"/>
              </a:ext>
            </a:extLst>
          </p:cNvPr>
          <p:cNvSpPr/>
          <p:nvPr/>
        </p:nvSpPr>
        <p:spPr>
          <a:xfrm>
            <a:off x="3871913" y="3593306"/>
            <a:ext cx="4019074" cy="0"/>
          </a:xfrm>
          <a:prstGeom prst="line">
            <a:avLst/>
          </a:prstGeom>
          <a:noFill/>
          <a:ln w="12700">
            <a:solidFill>
              <a:srgbClr val="000000">
                <a:alpha val="30000"/>
              </a:srgbClr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8073FB33-E8B4-6608-4BEE-7DC5BDA725F0}"/>
              </a:ext>
            </a:extLst>
          </p:cNvPr>
          <p:cNvSpPr/>
          <p:nvPr/>
        </p:nvSpPr>
        <p:spPr>
          <a:xfrm>
            <a:off x="556132" y="3998045"/>
            <a:ext cx="3563950" cy="354955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2795"/>
              </a:lnSpc>
            </a:pPr>
            <a:r>
              <a:rPr lang="en-US" sz="2813" kern="0" spc="-169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3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3" name="Text 12">
            <a:extLst>
              <a:ext uri="{FF2B5EF4-FFF2-40B4-BE49-F238E27FC236}">
                <a16:creationId xmlns:a16="http://schemas.microsoft.com/office/drawing/2014/main" id="{7A07B84A-3781-0809-E299-9D97D2568C27}"/>
              </a:ext>
            </a:extLst>
          </p:cNvPr>
          <p:cNvSpPr/>
          <p:nvPr/>
        </p:nvSpPr>
        <p:spPr>
          <a:xfrm>
            <a:off x="4547015" y="3886535"/>
            <a:ext cx="3451101" cy="16229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278"/>
              </a:lnSpc>
            </a:pPr>
            <a:r>
              <a:rPr lang="en-US" sz="1125" kern="0" spc="-34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Capa 3: Automatización &amp; Backend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35" name="Text 13">
            <a:extLst>
              <a:ext uri="{FF2B5EF4-FFF2-40B4-BE49-F238E27FC236}">
                <a16:creationId xmlns:a16="http://schemas.microsoft.com/office/drawing/2014/main" id="{39AE6D52-51E2-0600-81AF-3A42AB119F8A}"/>
              </a:ext>
            </a:extLst>
          </p:cNvPr>
          <p:cNvSpPr/>
          <p:nvPr/>
        </p:nvSpPr>
        <p:spPr>
          <a:xfrm>
            <a:off x="4547014" y="4119934"/>
            <a:ext cx="3620408" cy="34691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366"/>
              </a:lnSpc>
              <a:spcBef>
                <a:spcPts val="549"/>
              </a:spcBef>
            </a:pPr>
            <a:r>
              <a:rPr lang="en-US" sz="1013" kern="0" spc="-41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Ejecución técnica y orquestación mediante integración con</a:t>
            </a:r>
            <a:br>
              <a:rPr lang="en-US" sz="1013" kern="0" spc="-41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013" kern="0" spc="-41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ITSM, Cloud, APIs y Gestión de Identidad.</a:t>
            </a:r>
            <a:endParaRPr lang="en-US" sz="1013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385062135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7301FC8-D505-39EE-5ABD-25B714C5C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8D2074-8531-1F52-ABA1-1EB04C2B4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err="1"/>
              <a:t>Automatización</a:t>
            </a:r>
            <a:r>
              <a:rPr lang="en-US"/>
              <a:t>: </a:t>
            </a:r>
            <a:r>
              <a:rPr lang="en-US" err="1"/>
              <a:t>Eliminando</a:t>
            </a:r>
            <a:r>
              <a:rPr lang="en-US"/>
              <a:t> el Ruido</a:t>
            </a:r>
            <a:endParaRPr lang="es-ES"/>
          </a:p>
          <a:p>
            <a:endParaRPr lang="es-E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497F57B-5636-B94D-175A-DCED01B91606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5F592A09-46E2-D71A-6DAF-9E43BC0180E4}"/>
              </a:ext>
            </a:extLst>
          </p:cNvPr>
          <p:cNvSpPr/>
          <p:nvPr/>
        </p:nvSpPr>
        <p:spPr>
          <a:xfrm>
            <a:off x="250031" y="777106"/>
            <a:ext cx="8643938" cy="21196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670"/>
              </a:lnSpc>
              <a:spcBef>
                <a:spcPts val="852"/>
              </a:spcBef>
            </a:pPr>
            <a:r>
              <a:rPr lang="en-US" sz="1238" kern="0" spc="-5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Más eficiencia, menos tickets</a:t>
            </a:r>
            <a:endParaRPr lang="en-US" sz="1013">
              <a:latin typeface="Reddit Sans"/>
              <a:ea typeface="Reddit Sans"/>
            </a:endParaRPr>
          </a:p>
        </p:txBody>
      </p:sp>
      <p:pic>
        <p:nvPicPr>
          <p:cNvPr id="7" name="Image 0" descr="12fa5fa2.png">
            <a:extLst>
              <a:ext uri="{FF2B5EF4-FFF2-40B4-BE49-F238E27FC236}">
                <a16:creationId xmlns:a16="http://schemas.microsoft.com/office/drawing/2014/main" id="{868EDE02-CD3A-C444-7245-17AC03AEA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88" y="2073809"/>
            <a:ext cx="4286250" cy="892969"/>
          </a:xfrm>
          <a:prstGeom prst="rect">
            <a:avLst/>
          </a:prstGeom>
        </p:spPr>
      </p:pic>
      <p:sp>
        <p:nvSpPr>
          <p:cNvPr id="9" name="Text 2">
            <a:extLst>
              <a:ext uri="{FF2B5EF4-FFF2-40B4-BE49-F238E27FC236}">
                <a16:creationId xmlns:a16="http://schemas.microsoft.com/office/drawing/2014/main" id="{F7B4F50F-AF88-9F96-F14F-ED80DCE02696}"/>
              </a:ext>
            </a:extLst>
          </p:cNvPr>
          <p:cNvSpPr/>
          <p:nvPr/>
        </p:nvSpPr>
        <p:spPr>
          <a:xfrm>
            <a:off x="392906" y="2457807"/>
            <a:ext cx="4000500" cy="19466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34"/>
              </a:lnSpc>
            </a:pPr>
            <a:r>
              <a:rPr lang="en-US" sz="1350" kern="0" spc="-41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Depuración de tickets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6E09278-60CD-16B3-4B83-A37130BBCB63}"/>
              </a:ext>
            </a:extLst>
          </p:cNvPr>
          <p:cNvSpPr/>
          <p:nvPr/>
        </p:nvSpPr>
        <p:spPr>
          <a:xfrm>
            <a:off x="571500" y="3066254"/>
            <a:ext cx="4000500" cy="3853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17"/>
              </a:lnSpc>
            </a:pPr>
            <a:r>
              <a:rPr lang="en-US" sz="1125" kern="0" spc="-45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Clasificación automática eficiente mediante el uso de</a:t>
            </a:r>
            <a:br>
              <a:rPr lang="en-US" sz="1125" kern="0" spc="-45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Procesamiento de Lenguaje Natural (NLP).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F9871ABC-F628-28E3-7385-19229EDCC520}"/>
              </a:ext>
            </a:extLst>
          </p:cNvPr>
          <p:cNvSpPr/>
          <p:nvPr/>
        </p:nvSpPr>
        <p:spPr>
          <a:xfrm>
            <a:off x="2321719" y="1895215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882FF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15" name="Image 1" descr="3798c222.png">
            <a:extLst>
              <a:ext uri="{FF2B5EF4-FFF2-40B4-BE49-F238E27FC236}">
                <a16:creationId xmlns:a16="http://schemas.microsoft.com/office/drawing/2014/main" id="{E00F1685-119B-F1AD-2AB3-DAC1AF9CCA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3110" y="1985907"/>
            <a:ext cx="235744" cy="200025"/>
          </a:xfrm>
          <a:prstGeom prst="rect">
            <a:avLst/>
          </a:prstGeom>
        </p:spPr>
      </p:pic>
      <p:pic>
        <p:nvPicPr>
          <p:cNvPr id="17" name="Image 2" descr="-253adcde.png">
            <a:extLst>
              <a:ext uri="{FF2B5EF4-FFF2-40B4-BE49-F238E27FC236}">
                <a16:creationId xmlns:a16="http://schemas.microsoft.com/office/drawing/2014/main" id="{A935299D-0F40-F951-4759-314E8D4447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0563" y="2073809"/>
            <a:ext cx="4286250" cy="892969"/>
          </a:xfrm>
          <a:prstGeom prst="rect">
            <a:avLst/>
          </a:prstGeom>
        </p:spPr>
      </p:pic>
      <p:sp>
        <p:nvSpPr>
          <p:cNvPr id="19" name="Text 5">
            <a:extLst>
              <a:ext uri="{FF2B5EF4-FFF2-40B4-BE49-F238E27FC236}">
                <a16:creationId xmlns:a16="http://schemas.microsoft.com/office/drawing/2014/main" id="{57C1B6A4-7622-0554-B262-21B124F99B89}"/>
              </a:ext>
            </a:extLst>
          </p:cNvPr>
          <p:cNvSpPr/>
          <p:nvPr/>
        </p:nvSpPr>
        <p:spPr>
          <a:xfrm>
            <a:off x="4750594" y="2457807"/>
            <a:ext cx="3786188" cy="19466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534"/>
              </a:lnSpc>
            </a:pPr>
            <a:r>
              <a:rPr lang="en-US" sz="1350" kern="0" spc="-41">
                <a:solidFill>
                  <a:srgbClr val="FFFFFF"/>
                </a:solidFill>
                <a:latin typeface="Reddit Sans"/>
                <a:ea typeface="Reddit Sans"/>
                <a:cs typeface="Geist Semi Bold" pitchFamily="34" charset="-120"/>
              </a:rPr>
              <a:t>Resolución de primer nivel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4BABFE20-C45E-C727-35A8-D8EC389264A4}"/>
              </a:ext>
            </a:extLst>
          </p:cNvPr>
          <p:cNvSpPr/>
          <p:nvPr/>
        </p:nvSpPr>
        <p:spPr>
          <a:xfrm>
            <a:off x="4714875" y="3066254"/>
            <a:ext cx="4000500" cy="385316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ctr">
              <a:lnSpc>
                <a:spcPts val="1517"/>
              </a:lnSpc>
            </a:pPr>
            <a:r>
              <a:rPr lang="en-US" sz="1125" kern="0" spc="-45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Implementación de bots para tareas rutinarias como el</a:t>
            </a:r>
            <a:br>
              <a:rPr lang="en-US" sz="1125" kern="0" spc="-45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restablecimiento de contraseñas y gestión de accesos.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23" name="Shape 7">
            <a:extLst>
              <a:ext uri="{FF2B5EF4-FFF2-40B4-BE49-F238E27FC236}">
                <a16:creationId xmlns:a16="http://schemas.microsoft.com/office/drawing/2014/main" id="{AB867845-F486-1385-C9F1-558BDD30801D}"/>
              </a:ext>
            </a:extLst>
          </p:cNvPr>
          <p:cNvSpPr/>
          <p:nvPr/>
        </p:nvSpPr>
        <p:spPr>
          <a:xfrm>
            <a:off x="6465094" y="1895215"/>
            <a:ext cx="357188" cy="35718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27CA78"/>
            </a:solidFill>
            <a:prstDash val="solid"/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25" name="Image 3" descr="-6127765e.png">
            <a:extLst>
              <a:ext uri="{FF2B5EF4-FFF2-40B4-BE49-F238E27FC236}">
                <a16:creationId xmlns:a16="http://schemas.microsoft.com/office/drawing/2014/main" id="{59494E2A-77B2-1712-940C-97F0F7F413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2066" y="1981721"/>
            <a:ext cx="164306" cy="185738"/>
          </a:xfrm>
          <a:prstGeom prst="rect">
            <a:avLst/>
          </a:prstGeom>
        </p:spPr>
      </p:pic>
      <p:sp>
        <p:nvSpPr>
          <p:cNvPr id="27" name="Shape 8">
            <a:extLst>
              <a:ext uri="{FF2B5EF4-FFF2-40B4-BE49-F238E27FC236}">
                <a16:creationId xmlns:a16="http://schemas.microsoft.com/office/drawing/2014/main" id="{241CA0A8-3459-CC07-F7F6-E8361D9AA4E8}"/>
              </a:ext>
            </a:extLst>
          </p:cNvPr>
          <p:cNvSpPr/>
          <p:nvPr/>
        </p:nvSpPr>
        <p:spPr>
          <a:xfrm>
            <a:off x="0" y="4600575"/>
            <a:ext cx="9144000" cy="542925"/>
          </a:xfrm>
          <a:prstGeom prst="rect">
            <a:avLst/>
          </a:prstGeom>
          <a:solidFill>
            <a:srgbClr val="F2F2F2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29" name="Text 9">
            <a:extLst>
              <a:ext uri="{FF2B5EF4-FFF2-40B4-BE49-F238E27FC236}">
                <a16:creationId xmlns:a16="http://schemas.microsoft.com/office/drawing/2014/main" id="{9273AC0C-4A04-D090-F9E2-8746CC631419}"/>
              </a:ext>
            </a:extLst>
          </p:cNvPr>
          <p:cNvSpPr/>
          <p:nvPr/>
        </p:nvSpPr>
        <p:spPr>
          <a:xfrm>
            <a:off x="1007269" y="4783857"/>
            <a:ext cx="7129463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</a:pPr>
            <a:r>
              <a:rPr lang="en-US" sz="1238" kern="0" spc="-37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Liberar tiempo del personal técnico para enfocarse en proyectos estratégicos de alto impacto.</a:t>
            </a:r>
            <a:endParaRPr lang="en-US" sz="1013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13986292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766C061-0741-2D27-2BDD-3C9143C34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856126-5B19-339C-8C9E-DF65C0C0A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err="1"/>
              <a:t>Inteligencia</a:t>
            </a:r>
            <a:r>
              <a:rPr lang="en-US"/>
              <a:t> Artificial y </a:t>
            </a:r>
            <a:r>
              <a:rPr lang="en-US" err="1"/>
              <a:t>Análisis</a:t>
            </a:r>
            <a:r>
              <a:rPr lang="en-US"/>
              <a:t> </a:t>
            </a:r>
            <a:r>
              <a:rPr lang="en-US" err="1"/>
              <a:t>Predictivo</a:t>
            </a:r>
            <a:endParaRPr lang="es-ES" err="1"/>
          </a:p>
          <a:p>
            <a:endParaRPr lang="es-E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C6A6BA3-256A-8853-E8B5-4F8018A040CA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E9EB9C3D-EC08-8EE9-6339-C833B27ABCE8}"/>
              </a:ext>
            </a:extLst>
          </p:cNvPr>
          <p:cNvSpPr/>
          <p:nvPr/>
        </p:nvSpPr>
        <p:spPr>
          <a:xfrm>
            <a:off x="424202" y="668249"/>
            <a:ext cx="8643938" cy="21196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70"/>
              </a:lnSpc>
              <a:spcBef>
                <a:spcPts val="852"/>
              </a:spcBef>
            </a:pPr>
            <a:r>
              <a:rPr lang="en-US" sz="1200" kern="0" spc="-5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Anticiparse</a:t>
            </a:r>
            <a:r>
              <a:rPr lang="en-US" sz="1200" kern="0" spc="-50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 al </a:t>
            </a:r>
            <a:r>
              <a:rPr lang="en-US" sz="1200" kern="0" spc="-50" err="1">
                <a:solidFill>
                  <a:srgbClr val="000000">
                    <a:alpha val="64999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problema</a:t>
            </a:r>
            <a:endParaRPr lang="en-US" sz="1200" err="1">
              <a:solidFill>
                <a:srgbClr val="000000">
                  <a:alpha val="64999"/>
                </a:srgbClr>
              </a:solidFill>
              <a:latin typeface="Reddit Sans"/>
              <a:ea typeface="Reddit Sans"/>
            </a:endParaRPr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5AF66803-448B-1721-876C-853FAA55BE00}"/>
              </a:ext>
            </a:extLst>
          </p:cNvPr>
          <p:cNvSpPr/>
          <p:nvPr/>
        </p:nvSpPr>
        <p:spPr>
          <a:xfrm>
            <a:off x="357188" y="1300163"/>
            <a:ext cx="8429625" cy="2943225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pic>
        <p:nvPicPr>
          <p:cNvPr id="9" name="Image 0" descr="-168f1d9e.png">
            <a:extLst>
              <a:ext uri="{FF2B5EF4-FFF2-40B4-BE49-F238E27FC236}">
                <a16:creationId xmlns:a16="http://schemas.microsoft.com/office/drawing/2014/main" id="{090AD43B-1ADB-09B4-F96B-8EDACB39B3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313" y="1157288"/>
            <a:ext cx="8715375" cy="3228975"/>
          </a:xfrm>
          <a:prstGeom prst="rect">
            <a:avLst/>
          </a:prstGeom>
        </p:spPr>
      </p:pic>
      <p:sp>
        <p:nvSpPr>
          <p:cNvPr id="11" name="Shape 3">
            <a:extLst>
              <a:ext uri="{FF2B5EF4-FFF2-40B4-BE49-F238E27FC236}">
                <a16:creationId xmlns:a16="http://schemas.microsoft.com/office/drawing/2014/main" id="{DE5A255C-FB00-4A4A-24C4-C7E3CA30D134}"/>
              </a:ext>
            </a:extLst>
          </p:cNvPr>
          <p:cNvSpPr/>
          <p:nvPr/>
        </p:nvSpPr>
        <p:spPr>
          <a:xfrm>
            <a:off x="0" y="4600575"/>
            <a:ext cx="9144000" cy="542925"/>
          </a:xfrm>
          <a:prstGeom prst="rect">
            <a:avLst/>
          </a:prstGeom>
          <a:solidFill>
            <a:srgbClr val="F2F2F2"/>
          </a:solidFill>
          <a:ln>
            <a:miter lim="800000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7C689EDF-A6C3-9A7A-777C-221BD550FE2F}"/>
              </a:ext>
            </a:extLst>
          </p:cNvPr>
          <p:cNvSpPr/>
          <p:nvPr/>
        </p:nvSpPr>
        <p:spPr>
          <a:xfrm>
            <a:off x="617935" y="4783857"/>
            <a:ext cx="7908131" cy="178482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ctr">
              <a:lnSpc>
                <a:spcPts val="1406"/>
              </a:lnSpc>
            </a:pPr>
            <a:r>
              <a:rPr lang="en-US" sz="1238" kern="0" spc="-37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La implementación de IA permite una transición hacia un modelo de servicio proactivo y basado en datos.</a:t>
            </a:r>
            <a:endParaRPr lang="en-US" sz="1013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85608675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345D27-B80B-F925-29C6-94F8B32CF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err="1"/>
              <a:t>Enfoque</a:t>
            </a:r>
            <a:r>
              <a:rPr lang="en-US"/>
              <a:t> </a:t>
            </a:r>
            <a:r>
              <a:rPr lang="en-US" err="1"/>
              <a:t>en</a:t>
            </a:r>
            <a:r>
              <a:rPr lang="en-US"/>
              <a:t> la </a:t>
            </a:r>
            <a:r>
              <a:rPr lang="en-US" err="1"/>
              <a:t>Experiencia</a:t>
            </a:r>
            <a:r>
              <a:rPr lang="en-US"/>
              <a:t> del </a:t>
            </a:r>
            <a:r>
              <a:rPr lang="en-US" err="1"/>
              <a:t>Usuario</a:t>
            </a:r>
            <a:r>
              <a:rPr lang="en-US"/>
              <a:t> (UX)</a:t>
            </a:r>
            <a:endParaRPr lang="es-ES"/>
          </a:p>
          <a:p>
            <a:endParaRPr lang="es-E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94BD4BE-B53F-A1BD-F89E-39DB59DA59F3}"/>
              </a:ext>
            </a:extLst>
          </p:cNvPr>
          <p:cNvSpPr txBox="1"/>
          <p:nvPr/>
        </p:nvSpPr>
        <p:spPr>
          <a:xfrm>
            <a:off x="6399697" y="2549"/>
            <a:ext cx="2743200" cy="307777"/>
          </a:xfrm>
          <a:prstGeom prst="rect">
            <a:avLst/>
          </a:prstGeom>
          <a:solidFill>
            <a:schemeClr val="accent6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/>
              <a:t>Draft</a:t>
            </a: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AF9DD6E9-E8CA-6F91-0D52-8C926E2C1F9A}"/>
              </a:ext>
            </a:extLst>
          </p:cNvPr>
          <p:cNvSpPr/>
          <p:nvPr/>
        </p:nvSpPr>
        <p:spPr>
          <a:xfrm>
            <a:off x="714375" y="2306427"/>
            <a:ext cx="3929063" cy="1478980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975" indent="-180975" algn="l" fontAlgn="ctr">
              <a:lnSpc>
                <a:spcPts val="1661"/>
              </a:lnSpc>
              <a:buClr>
                <a:srgbClr val="48DC92"/>
              </a:buClr>
              <a:buSzPct val="120000"/>
              <a:buChar char="•"/>
            </a:pPr>
            <a:r>
              <a:rPr lang="en-US" sz="1463" kern="0" spc="-44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Omnicanalidad</a:t>
            </a:r>
            <a:endParaRPr lang="en-US" sz="1013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17"/>
              </a:lnSpc>
              <a:spcBef>
                <a:spcPts val="330"/>
              </a:spcBef>
              <a:buNone/>
            </a:pPr>
            <a:r>
              <a:rPr lang="en-US" sz="1125" kern="0" spc="-45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El usuario elige libremente cómo pedir ayuda a través de</a:t>
            </a:r>
            <a:br>
              <a:rPr lang="en-US" sz="1125" kern="0" spc="-45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múltiples canales como Teams, Slack, Web o Voz.</a:t>
            </a:r>
            <a:endParaRPr lang="en-US" sz="1013">
              <a:latin typeface="Reddit Sans"/>
              <a:ea typeface="Reddit Sans"/>
            </a:endParaRPr>
          </a:p>
          <a:p>
            <a:pPr marL="180975" indent="-180975" algn="l" fontAlgn="ctr">
              <a:lnSpc>
                <a:spcPts val="1661"/>
              </a:lnSpc>
              <a:spcBef>
                <a:spcPts val="1553"/>
              </a:spcBef>
              <a:buClr>
                <a:srgbClr val="48DC92"/>
              </a:buClr>
              <a:buSzPct val="120000"/>
              <a:buChar char="•"/>
            </a:pPr>
            <a:r>
              <a:rPr lang="en-US" sz="1463" kern="0" spc="-44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Reducción de fricción</a:t>
            </a:r>
            <a:endParaRPr lang="en-US" sz="1013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17"/>
              </a:lnSpc>
              <a:spcBef>
                <a:spcPts val="330"/>
              </a:spcBef>
              <a:buNone/>
            </a:pPr>
            <a:r>
              <a:rPr lang="en-US" sz="1125" kern="0" spc="-45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Implementación de interfaces simples, rápidas y</a:t>
            </a:r>
            <a:br>
              <a:rPr lang="en-US" sz="1125" kern="0" spc="-45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accesibles para agilizar la interacción.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6D33A9A5-3EA9-5B9D-EF3D-5B6F22112D21}"/>
              </a:ext>
            </a:extLst>
          </p:cNvPr>
          <p:cNvSpPr/>
          <p:nvPr/>
        </p:nvSpPr>
        <p:spPr>
          <a:xfrm>
            <a:off x="4714875" y="2306427"/>
            <a:ext cx="3929063" cy="63891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975" indent="-180975" algn="l" fontAlgn="ctr">
              <a:lnSpc>
                <a:spcPts val="1661"/>
              </a:lnSpc>
              <a:buClr>
                <a:srgbClr val="48DC92"/>
              </a:buClr>
              <a:buSzPct val="120000"/>
              <a:buChar char="•"/>
            </a:pPr>
            <a:r>
              <a:rPr lang="en-US" sz="1463" kern="0" spc="-44">
                <a:solidFill>
                  <a:srgbClr val="333333"/>
                </a:solidFill>
                <a:latin typeface="Reddit Sans"/>
                <a:ea typeface="Reddit Sans"/>
                <a:cs typeface="Geist Semi Bold" pitchFamily="34" charset="-120"/>
              </a:rPr>
              <a:t>Empatía digital</a:t>
            </a:r>
            <a:endParaRPr lang="en-US" sz="1013">
              <a:latin typeface="Reddit Sans"/>
              <a:ea typeface="Reddit Sans"/>
            </a:endParaRPr>
          </a:p>
          <a:p>
            <a:pPr marL="180975" lvl="1" indent="0" algn="l" fontAlgn="ctr">
              <a:lnSpc>
                <a:spcPts val="1517"/>
              </a:lnSpc>
              <a:spcBef>
                <a:spcPts val="330"/>
              </a:spcBef>
              <a:buNone/>
            </a:pPr>
            <a:r>
              <a:rPr lang="en-US" sz="1125" kern="0" spc="-45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Comunicación clara, humana y cercana, incluso en</a:t>
            </a:r>
            <a:br>
              <a:rPr lang="en-US" sz="1125" kern="0" spc="-45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</a:br>
            <a:r>
              <a:rPr lang="en-US" sz="1125" kern="0" spc="-45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procesos automatizados.</a:t>
            </a:r>
            <a:endParaRPr lang="en-US" sz="1013">
              <a:latin typeface="Reddit Sans"/>
              <a:ea typeface="Reddit Sans"/>
            </a:endParaRPr>
          </a:p>
        </p:txBody>
      </p:sp>
      <p:sp>
        <p:nvSpPr>
          <p:cNvPr id="10" name="Text 1">
            <a:extLst>
              <a:ext uri="{FF2B5EF4-FFF2-40B4-BE49-F238E27FC236}">
                <a16:creationId xmlns:a16="http://schemas.microsoft.com/office/drawing/2014/main" id="{81124747-6026-D9F6-BBDA-7CF4978F7DD2}"/>
              </a:ext>
            </a:extLst>
          </p:cNvPr>
          <p:cNvSpPr/>
          <p:nvPr/>
        </p:nvSpPr>
        <p:spPr>
          <a:xfrm>
            <a:off x="451416" y="668249"/>
            <a:ext cx="8643938" cy="211969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t"/>
          <a:lstStyle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lnSpc>
                <a:spcPts val="1670"/>
              </a:lnSpc>
              <a:spcBef>
                <a:spcPts val="852"/>
              </a:spcBef>
            </a:pPr>
            <a:r>
              <a:rPr lang="en-US" sz="1238" kern="0" spc="-50">
                <a:solidFill>
                  <a:srgbClr val="000000">
                    <a:alpha val="65000"/>
                  </a:srgbClr>
                </a:solidFill>
                <a:latin typeface="Reddit Sans"/>
                <a:ea typeface="Reddit Sans"/>
                <a:cs typeface="Geist Regular" pitchFamily="34" charset="-120"/>
              </a:rPr>
              <a:t>El usuario como centro del diseño</a:t>
            </a:r>
            <a:endParaRPr lang="en-US" sz="1013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410145469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6"/>
          <p:cNvSpPr txBox="1"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We make it happen</a:t>
            </a:r>
            <a:endParaRPr/>
          </a:p>
        </p:txBody>
      </p:sp>
      <p:sp>
        <p:nvSpPr>
          <p:cNvPr id="189" name="Google Shape;189;p6"/>
          <p:cNvSpPr txBox="1"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¡Gracias!</a:t>
            </a:r>
            <a:endParaRPr/>
          </a:p>
        </p:txBody>
      </p:sp>
      <p:sp>
        <p:nvSpPr>
          <p:cNvPr id="190" name="Google Shape;190;p6"/>
          <p:cNvSpPr txBox="1"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Centro Empresarial Ciudad del Río C2, Cra. 48 #20-114, Oficina 1026</a:t>
            </a:r>
            <a:endParaRPr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 +57 324 549 77 70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Presentación en pantalla (16:9)</PresentationFormat>
  <Slides>61</Slides>
  <Notes>35</Notes>
  <HiddenSlides>26</HiddenSlides>
  <ScaleCrop>false</ScaleCrop>
  <HeadingPairs>
    <vt:vector size="4" baseType="variant">
      <vt:variant>
        <vt:lpstr>Tema</vt:lpstr>
      </vt:variant>
      <vt:variant>
        <vt:i4>2</vt:i4>
      </vt:variant>
      <vt:variant>
        <vt:lpstr>Títulos de diapositiva</vt:lpstr>
      </vt:variant>
      <vt:variant>
        <vt:i4>61</vt:i4>
      </vt:variant>
    </vt:vector>
  </HeadingPairs>
  <TitlesOfParts>
    <vt:vector size="63" baseType="lpstr">
      <vt:lpstr>Simple Light</vt:lpstr>
      <vt:lpstr>Simple Light</vt:lpstr>
      <vt:lpstr>Mesa de Servicio de Nueva Generación (Next Gen)</vt:lpstr>
      <vt:lpstr>Que busca la Mesa de Servicio de Nueva Generación</vt:lpstr>
      <vt:lpstr>Beneficios eperados de la Mesa de Servicio de Nueva Generación (Servicio Optimo)</vt:lpstr>
      <vt:lpstr>Presentación de PowerPoint</vt:lpstr>
      <vt:lpstr>Presentación de PowerPoint</vt:lpstr>
      <vt:lpstr>Mesas de Servicio de Nueva Generación</vt:lpstr>
      <vt:lpstr>Evolución de las Mesas de Servicio</vt:lpstr>
      <vt:lpstr>Evolución de las Mesas de Servicio</vt:lpstr>
      <vt:lpstr>Mesa tradicional vs. Mesa de Servicio de Nueva Generación (Next Gen) </vt:lpstr>
      <vt:lpstr>Presentación de PowerPoint</vt:lpstr>
      <vt:lpstr>Posicionamiento de Plataformas ITSM </vt:lpstr>
      <vt:lpstr>Brechas del mercado y oportunidades</vt:lpstr>
      <vt:lpstr>7 Tendencias que definen el mercado</vt:lpstr>
      <vt:lpstr>Mercado Global ITSM: Tamaño y Proyección  </vt:lpstr>
      <vt:lpstr>Presentación de PowerPoint</vt:lpstr>
      <vt:lpstr>Posicionamiento de Plataformas ITSM  </vt:lpstr>
      <vt:lpstr>Cómo los 12 Grandes Proveedores Posicionan sus Mesas </vt:lpstr>
      <vt:lpstr>Cómo compiten los líderes globales de Service Desk</vt:lpstr>
      <vt:lpstr>El Costo de No Evolucionar</vt:lpstr>
      <vt:lpstr>Visualización: Benchmarks de industria (mesas actuales (capacidad instalada y # de tickets) y comparando con la mesa tradicional. FTE costo: 88 mil pesos hora.         1 dólar de : 3800</vt:lpstr>
      <vt:lpstr>SLA vs. XLA 4 Capas de Reporte </vt:lpstr>
      <vt:lpstr>SLA vs. XLA 4 Capas de Reporte </vt:lpstr>
      <vt:lpstr>Agentic AI: Estado Real de Adopción 2025–2026</vt:lpstr>
      <vt:lpstr>Roadmap de madurez y barreras de adopción</vt:lpstr>
      <vt:lpstr>Agentic AI: Estado Real de Adopción 2025–2026</vt:lpstr>
      <vt:lpstr>Presentación de PowerPoint</vt:lpstr>
      <vt:lpstr>Mesas de Servicio de Nueva Generación</vt:lpstr>
      <vt:lpstr>Mesas de Servicio Actuales</vt:lpstr>
      <vt:lpstr>Presentación de PowerPoint</vt:lpstr>
      <vt:lpstr>Mesas de Servicio Actuales</vt:lpstr>
      <vt:lpstr>Presentación de PowerPoint</vt:lpstr>
      <vt:lpstr>Presentación de PowerPoint</vt:lpstr>
      <vt:lpstr>Mesas de Servicio de Nueva Generación</vt:lpstr>
      <vt:lpstr>Mesas de Servicio - Referencia</vt:lpstr>
      <vt:lpstr>Presentación de PowerPoint</vt:lpstr>
      <vt:lpstr>Presentación de PowerPoint</vt:lpstr>
      <vt:lpstr>Pilares de Transformación de la Mesa de Servicio de Nueva Generación </vt:lpstr>
      <vt:lpstr>Que Diferencia a PersonalSoft?</vt:lpstr>
      <vt:lpstr>Nuestro Servicio de Mesa de Servicio de Nueva Generación</vt:lpstr>
      <vt:lpstr>RFP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Modelos de Precio: De FTE a Outcomes </vt:lpstr>
      <vt:lpstr>Presentación de PowerPoint</vt:lpstr>
      <vt:lpstr>Mesa de Servicio de Nueva Generación Modelos de Precio: De FTE a Outcomes  </vt:lpstr>
      <vt:lpstr>Mesas de Servicio de Nueva Generación</vt:lpstr>
      <vt:lpstr>Los Tres Pilares de la Nueva Mesa </vt:lpstr>
      <vt:lpstr>Ecosistema de la Nueva Mesa de Servicio </vt:lpstr>
      <vt:lpstr>Automatización: Eliminando el Ruido </vt:lpstr>
      <vt:lpstr>Inteligencia Artificial y Análisis Predictivo </vt:lpstr>
      <vt:lpstr>Enfoque en la Experiencia del Usuario (UX) </vt:lpstr>
      <vt:lpstr>Presentación de PowerPoint</vt:lpstr>
      <vt:lpstr>We make it happen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268</cp:revision>
  <dcterms:modified xsi:type="dcterms:W3CDTF">2026-07-12T16:09:34Z</dcterms:modified>
</cp:coreProperties>
</file>