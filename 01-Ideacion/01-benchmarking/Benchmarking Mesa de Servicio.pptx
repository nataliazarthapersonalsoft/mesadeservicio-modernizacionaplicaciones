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42"/>
  </p:notesMasterIdLst>
  <p:sldIdLst>
    <p:sldId id="257" r:id="rId3"/>
    <p:sldId id="260" r:id="rId4"/>
    <p:sldId id="256" r:id="rId5"/>
    <p:sldId id="309" r:id="rId6"/>
    <p:sldId id="262" r:id="rId7"/>
    <p:sldId id="310" r:id="rId8"/>
    <p:sldId id="285" r:id="rId9"/>
    <p:sldId id="287" r:id="rId10"/>
    <p:sldId id="308" r:id="rId11"/>
    <p:sldId id="313" r:id="rId12"/>
    <p:sldId id="299" r:id="rId13"/>
    <p:sldId id="300" r:id="rId14"/>
    <p:sldId id="314" r:id="rId15"/>
    <p:sldId id="315" r:id="rId16"/>
    <p:sldId id="301" r:id="rId17"/>
    <p:sldId id="302" r:id="rId18"/>
    <p:sldId id="316" r:id="rId19"/>
    <p:sldId id="317" r:id="rId20"/>
    <p:sldId id="311" r:id="rId21"/>
    <p:sldId id="312" r:id="rId22"/>
    <p:sldId id="319" r:id="rId23"/>
    <p:sldId id="288" r:id="rId24"/>
    <p:sldId id="289" r:id="rId25"/>
    <p:sldId id="293" r:id="rId26"/>
    <p:sldId id="303" r:id="rId27"/>
    <p:sldId id="271" r:id="rId28"/>
    <p:sldId id="304" r:id="rId29"/>
    <p:sldId id="306" r:id="rId30"/>
    <p:sldId id="318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307" r:id="rId39"/>
    <p:sldId id="267" r:id="rId40"/>
    <p:sldId id="268" r:id="rId41"/>
  </p:sldIdLst>
  <p:sldSz cx="9144000" cy="5143500" type="screen16x9"/>
  <p:notesSz cx="6858000" cy="9144000"/>
  <p:embeddedFontLst>
    <p:embeddedFont>
      <p:font typeface="Reddit Sans" panose="020B0604020202020204" charset="0"/>
      <p:regular r:id="rId43"/>
      <p:bold r:id="rId44"/>
      <p:italic r:id="rId45"/>
      <p:boldItalic r:id="rId46"/>
    </p:embeddedFont>
    <p:embeddedFont>
      <p:font typeface="Reddit Sans Medium" panose="020B0604020202020204" charset="0"/>
      <p:regular r:id="rId47"/>
      <p:bold r:id="rId48"/>
      <p:italic r:id="rId49"/>
      <p:boldItalic r:id="rId50"/>
    </p:embeddedFont>
    <p:embeddedFont>
      <p:font typeface="Reddit Sans SemiBold" panose="020B0604020202020204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9C7AEB-803E-58E8-3032-67EAC5529C77}" v="1406" dt="2026-07-08T21:07:31.329"/>
    <p1510:client id="{8CFE1048-07CD-42CF-A5E3-F35DEFEF98BF}" v="1632" dt="2026-07-08T20:34:32.701"/>
    <p1510:client id="{C5740E76-A8B1-842A-8097-940ADCC85B94}" v="225" dt="2026-07-07T22:26:35.199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customschemas.google.com/relationships/presentationmetadata" Target="meta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font" Target="fonts/font9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4.fntdata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7.fntdata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500af2f30bdfc2fb481c268b42ccff364d8c6d896f51ecdfd16d3bf116eedcdJmltdHM9MTc4MzM4MjQwMA&amp;ptn=3&amp;ver=2&amp;hsh=4&amp;fclid=10d11685-cdd1-6520-1f35-0107cca364bf&amp;u=a1aHR0cHM6Ly9yZWd1bGFmb3JlbnNpY3MuY29tL2VzL2Jsb2cvc3dhcm1pbmctc3VwcG9ydC1tb2RlbC8&amp;ntb=1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2dbf307e6b4f5b1804b834a3caf1d17ca1a38a0141c5178a37461f5d2a40923JmltdHM9MTc4MzM4MjQwMA&amp;ptn=3&amp;ver=2&amp;hsh=4&amp;fclid=10d11685-cdd1-6520-1f35-0107cca364bf&amp;u=a1aHR0cHM6Ly93d3cuZ2VuZXN5cy1nbG9iYWwuY29tL21vZGVsby1zaGlmdC1sZWZ0LXNvcG9ydGUtdGkv&amp;ntb=1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nviaseo.info/peti/755MesadeServicios.html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ulse/mesa-de-servicio-inteligente-c%C3%B3mo-la-inteligencia-artificial-est%C3%A1-sbj7e/" TargetMode="External"/><Relationship Id="rId4" Type="http://schemas.openxmlformats.org/officeDocument/2006/relationships/hyperlink" Target="https://www.manageengine.com/latam/service-desk/que-es-una-mesa-de-ayuda.html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>
          <a:extLst>
            <a:ext uri="{FF2B5EF4-FFF2-40B4-BE49-F238E27FC236}">
              <a16:creationId xmlns:a16="http://schemas.microsoft.com/office/drawing/2014/main" id="{F67EC8EC-D924-C2EE-6728-9FB1E1ED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>
            <a:extLst>
              <a:ext uri="{FF2B5EF4-FFF2-40B4-BE49-F238E27FC236}">
                <a16:creationId xmlns:a16="http://schemas.microsoft.com/office/drawing/2014/main" id="{ECBE2C72-F4BB-EA9C-2B3B-14D52AD35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>
            <a:extLst>
              <a:ext uri="{FF2B5EF4-FFF2-40B4-BE49-F238E27FC236}">
                <a16:creationId xmlns:a16="http://schemas.microsoft.com/office/drawing/2014/main" id="{3465F5D9-09F0-AF07-4782-69A853439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947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AIOps: es la </a:t>
            </a:r>
            <a:r>
              <a:rPr lang="en-US" err="1"/>
              <a:t>aplicación</a:t>
            </a:r>
            <a:r>
              <a:rPr lang="en-US"/>
              <a:t> de </a:t>
            </a:r>
            <a:r>
              <a:rPr lang="en-US" err="1"/>
              <a:t>inteligencia</a:t>
            </a:r>
            <a:r>
              <a:rPr lang="en-US"/>
              <a:t> artificial y machine learning para </a:t>
            </a:r>
            <a:r>
              <a:rPr lang="en-US" err="1"/>
              <a:t>automatizar</a:t>
            </a:r>
            <a:r>
              <a:rPr lang="en-US"/>
              <a:t>, </a:t>
            </a:r>
            <a:r>
              <a:rPr lang="en-US" err="1"/>
              <a:t>optimizar</a:t>
            </a:r>
            <a:r>
              <a:rPr lang="en-US"/>
              <a:t> y </a:t>
            </a:r>
            <a:r>
              <a:rPr lang="en-US" err="1"/>
              <a:t>mejorar</a:t>
            </a:r>
            <a:r>
              <a:rPr lang="en-US"/>
              <a:t> las </a:t>
            </a:r>
            <a:r>
              <a:rPr lang="en-US" err="1"/>
              <a:t>operaciones</a:t>
            </a:r>
            <a:r>
              <a:rPr lang="en-US"/>
              <a:t> de TI.</a:t>
            </a:r>
          </a:p>
          <a:p>
            <a:pPr>
              <a:buNone/>
            </a:pPr>
            <a:r>
              <a:rPr lang="en-US">
                <a:highlight>
                  <a:srgbClr val="FFFFFF"/>
                </a:highlight>
              </a:rPr>
              <a:t>El Bus Factor: </a:t>
            </a:r>
            <a:r>
              <a:rPr lang="en-US" err="1">
                <a:highlight>
                  <a:srgbClr val="FFFFFF"/>
                </a:highlight>
              </a:rPr>
              <a:t>mide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cuántas</a:t>
            </a:r>
            <a:r>
              <a:rPr lang="en-US">
                <a:highlight>
                  <a:srgbClr val="FFFFFF"/>
                </a:highlight>
              </a:rPr>
              <a:t> personas </a:t>
            </a:r>
            <a:r>
              <a:rPr lang="en-US" err="1">
                <a:highlight>
                  <a:srgbClr val="FFFFFF"/>
                </a:highlight>
              </a:rPr>
              <a:t>tendrían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que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salir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mañana</a:t>
            </a:r>
            <a:r>
              <a:rPr lang="en-US">
                <a:highlight>
                  <a:srgbClr val="FFFFFF"/>
                </a:highlight>
              </a:rPr>
              <a:t> para </a:t>
            </a:r>
            <a:r>
              <a:rPr lang="en-US" err="1">
                <a:highlight>
                  <a:srgbClr val="FFFFFF"/>
                </a:highlight>
              </a:rPr>
              <a:t>que</a:t>
            </a:r>
            <a:r>
              <a:rPr lang="en-US">
                <a:highlight>
                  <a:srgbClr val="FFFFFF"/>
                </a:highlight>
              </a:rPr>
              <a:t> un </a:t>
            </a:r>
            <a:r>
              <a:rPr lang="en-US" err="1">
                <a:highlight>
                  <a:srgbClr val="FFFFFF"/>
                </a:highlight>
              </a:rPr>
              <a:t>proceso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crítico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colapse</a:t>
            </a:r>
            <a:r>
              <a:rPr lang="en-US">
                <a:highlight>
                  <a:srgbClr val="FFFFFF"/>
                </a:highlight>
              </a:rPr>
              <a:t>. Bus factor alto = </a:t>
            </a:r>
            <a:r>
              <a:rPr lang="en-US" err="1">
                <a:highlight>
                  <a:srgbClr val="FFFFFF"/>
                </a:highlight>
              </a:rPr>
              <a:t>riesgo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operativo</a:t>
            </a:r>
            <a:r>
              <a:rPr lang="en-US">
                <a:highlight>
                  <a:srgbClr val="FFFFFF"/>
                </a:highlight>
              </a:rPr>
              <a:t> alto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1508815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AD35F874-1F94-53C8-4BD8-BA84CF5EE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D3FB6E8F-CFB8-96CF-9D4D-629273B98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DDE1CA99-7249-BF1C-C019-A59E84F033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0312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6EA6F-EDCE-4DB8-767B-47820C7EF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3067665-EB74-9CB2-B385-A5E1BA046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EACE5BB-9ED9-4928-7A70-9830832278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s-CO" sz="1100" b="0" i="0" u="none" strike="noStrike" cap="none" dirty="0">
                <a:solidFill>
                  <a:srgbClr val="000000"/>
                </a:solidFill>
                <a:effectLst/>
                <a:latin typeface="Reddit Sans" panose="020B0604020202020204" charset="0"/>
                <a:ea typeface="Reddit Sans" panose="020B0604020202020204" charset="0"/>
                <a:cs typeface="Arial"/>
                <a:sym typeface="Arial"/>
              </a:rPr>
              <a:t>ITSM (Gestión de Servicios de TI) es el </a:t>
            </a:r>
            <a:r>
              <a:rPr lang="es-CO" dirty="0">
                <a:latin typeface="Reddit Sans" panose="020B0604020202020204" charset="0"/>
                <a:ea typeface="Reddit Sans" panose="020B0604020202020204" charset="0"/>
              </a:rPr>
              <a:t>enfoque estratégico para diseñar, entregar, gestionar y mejorar los servicios tecnológicos que una empresa ofrece.</a:t>
            </a:r>
          </a:p>
        </p:txBody>
      </p:sp>
    </p:spTree>
    <p:extLst>
      <p:ext uri="{BB962C8B-B14F-4D97-AF65-F5344CB8AC3E}">
        <p14:creationId xmlns:p14="http://schemas.microsoft.com/office/powerpoint/2010/main" val="41652701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3"/>
              </a:rPr>
              <a:t>El swarming en una mesa de servicios se refiere a un modelo de soporte que utiliza la colaboración y la inteligencia colectiva para resolver problemas de manera más eficiente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9955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3"/>
              </a:rPr>
              <a:t>Shift-left para la Mesa de servicios de TI es el movimiento del soporte de TI más cerca de la primera línea operativa y el usuario/cliente final.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74118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3"/>
              </a:rPr>
              <a:t>7.5.5 Mesa de Servicios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4"/>
              </a:rPr>
              <a:t>¿Qué es un software de mesa de ayuda? | Guía sobre el software de mesa de ayuda - ManageEngine ServiceDesk Plus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5"/>
              </a:rPr>
              <a:t>(8) Mesa de servicio inteligente: cómo la Inteligencia Artificial está transformando el soporte al cliente | LinkedIn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46441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US" b="1" dirty="0" err="1">
                <a:solidFill>
                  <a:srgbClr val="0C2362"/>
                </a:solidFill>
              </a:rPr>
              <a:t>Siguiente</a:t>
            </a:r>
            <a:r>
              <a:rPr lang="en-US" b="1" dirty="0">
                <a:solidFill>
                  <a:srgbClr val="0C2362"/>
                </a:solidFill>
              </a:rPr>
              <a:t> paso </a:t>
            </a:r>
            <a:r>
              <a:rPr lang="en-US" b="1" dirty="0" err="1">
                <a:solidFill>
                  <a:srgbClr val="0C2362"/>
                </a:solidFill>
              </a:rPr>
              <a:t>recomendado</a:t>
            </a:r>
            <a:r>
              <a:rPr lang="en-US" b="1" dirty="0">
                <a:solidFill>
                  <a:srgbClr val="0C2362"/>
                </a:solidFill>
              </a:rPr>
              <a:t>: </a:t>
            </a:r>
            <a:r>
              <a:rPr lang="en-US" b="1" dirty="0" err="1">
                <a:solidFill>
                  <a:srgbClr val="0C2362"/>
                </a:solidFill>
              </a:rPr>
              <a:t>desglosar</a:t>
            </a:r>
            <a:r>
              <a:rPr lang="en-US" b="1" dirty="0">
                <a:solidFill>
                  <a:srgbClr val="0C2362"/>
                </a:solidFill>
              </a:rPr>
              <a:t> </a:t>
            </a:r>
            <a:r>
              <a:rPr lang="en-US" b="1" dirty="0" err="1">
                <a:solidFill>
                  <a:srgbClr val="0C2362"/>
                </a:solidFill>
              </a:rPr>
              <a:t>cada</a:t>
            </a:r>
            <a:r>
              <a:rPr lang="en-US" b="1" dirty="0">
                <a:solidFill>
                  <a:srgbClr val="0C2362"/>
                </a:solidFill>
              </a:rPr>
              <a:t> </a:t>
            </a:r>
            <a:r>
              <a:rPr lang="en-US" b="1" dirty="0" err="1">
                <a:solidFill>
                  <a:srgbClr val="0C2362"/>
                </a:solidFill>
              </a:rPr>
              <a:t>módulo</a:t>
            </a:r>
            <a:r>
              <a:rPr lang="en-US" b="1" dirty="0">
                <a:solidFill>
                  <a:srgbClr val="0C2362"/>
                </a:solidFill>
              </a:rPr>
              <a:t> </a:t>
            </a:r>
            <a:r>
              <a:rPr lang="en-US" b="1" dirty="0" err="1">
                <a:solidFill>
                  <a:srgbClr val="0C2362"/>
                </a:solidFill>
              </a:rPr>
              <a:t>en</a:t>
            </a:r>
            <a:r>
              <a:rPr lang="en-US" b="1" dirty="0">
                <a:solidFill>
                  <a:srgbClr val="0C2362"/>
                </a:solidFill>
              </a:rPr>
              <a:t> </a:t>
            </a:r>
            <a:r>
              <a:rPr lang="en-US" b="1" dirty="0" err="1">
                <a:solidFill>
                  <a:srgbClr val="0C2362"/>
                </a:solidFill>
              </a:rPr>
              <a:t>alcance</a:t>
            </a:r>
            <a:r>
              <a:rPr lang="en-US" b="1" dirty="0">
                <a:solidFill>
                  <a:srgbClr val="0C2362"/>
                </a:solidFill>
              </a:rPr>
              <a:t>, roles, </a:t>
            </a:r>
            <a:r>
              <a:rPr lang="en-US" b="1" dirty="0" err="1">
                <a:solidFill>
                  <a:srgbClr val="0C2362"/>
                </a:solidFill>
              </a:rPr>
              <a:t>entregables,herramientas</a:t>
            </a:r>
            <a:r>
              <a:rPr lang="en-US" b="1" dirty="0">
                <a:solidFill>
                  <a:srgbClr val="0C2362"/>
                </a:solidFill>
              </a:rPr>
              <a:t> y pricing.</a:t>
            </a:r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8716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7;g37e80574407_0_7"/>
          <p:cNvPicPr>
            <a:picLocks noChangeAspect="1"/>
          </p:cNvPicPr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ln>
            <a:noFill/>
          </a:ln>
        </p:spPr>
      </p:pic>
      <p:sp>
        <p:nvSpPr>
          <p:cNvPr id="18" name="Google Shape;18;g37e80574407_0_7">
            <a:extLst>
              <a:ext uri="{FF2B5EF4-FFF2-40B4-BE49-F238E27FC236}">
                <a16:creationId xmlns:a16="http://schemas.microsoft.com/office/drawing/2014/main" id="{B1F1B4D1-E690-4E3D-BC28-F902B81251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9" name="Google Shape;19;g37e80574407_0_7">
            <a:extLst>
              <a:ext uri="{FF2B5EF4-FFF2-40B4-BE49-F238E27FC236}">
                <a16:creationId xmlns:a16="http://schemas.microsoft.com/office/drawing/2014/main" id="{25844D9E-7907-4F22-A074-7B081F402AEA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g37e80574407_0_7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21" name="Google Shape;21;g37e80574407_0_7">
            <a:extLst>
              <a:ext uri="{FF2B5EF4-FFF2-40B4-BE49-F238E27FC236}">
                <a16:creationId xmlns:a16="http://schemas.microsoft.com/office/drawing/2014/main" id="{2FB57A7C-437F-42BA-B53C-D4338DC2B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>
            <a:extLst>
              <a:ext uri="{FF2B5EF4-FFF2-40B4-BE49-F238E27FC236}">
                <a16:creationId xmlns:a16="http://schemas.microsoft.com/office/drawing/2014/main" id="{426D5CFE-345B-4A49-911F-78F4C3A99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>
            <a:extLst>
              <a:ext uri="{FF2B5EF4-FFF2-40B4-BE49-F238E27FC236}">
                <a16:creationId xmlns:a16="http://schemas.microsoft.com/office/drawing/2014/main" id="{AC2B24F9-BF8F-4F47-9728-EE6D5F7DDA3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43" name="Google Shape;43;g37e80574407_0_46">
            <a:extLst>
              <a:ext uri="{FF2B5EF4-FFF2-40B4-BE49-F238E27FC236}">
                <a16:creationId xmlns:a16="http://schemas.microsoft.com/office/drawing/2014/main" id="{FC4BF158-4191-4C42-9860-425EE1BDD06D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" name="Google Shape;44;g37e80574407_0_46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ln>
            <a:noFill/>
          </a:ln>
        </p:spPr>
      </p:pic>
      <p:sp>
        <p:nvSpPr>
          <p:cNvPr id="45" name="Google Shape;45;g37e80574407_0_46">
            <a:extLst>
              <a:ext uri="{FF2B5EF4-FFF2-40B4-BE49-F238E27FC236}">
                <a16:creationId xmlns:a16="http://schemas.microsoft.com/office/drawing/2014/main" id="{4662A93F-6B5F-4650-99EA-136417DEC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>
            <a:extLst>
              <a:ext uri="{FF2B5EF4-FFF2-40B4-BE49-F238E27FC236}">
                <a16:creationId xmlns:a16="http://schemas.microsoft.com/office/drawing/2014/main" id="{270D2604-63C8-451C-BE8A-4A120451F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>
            <a:extLst>
              <a:ext uri="{FF2B5EF4-FFF2-40B4-BE49-F238E27FC236}">
                <a16:creationId xmlns:a16="http://schemas.microsoft.com/office/drawing/2014/main" id="{7D50AF58-B676-47BE-8C6D-250EC4D3E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>
            <a:extLst>
              <a:ext uri="{FF2B5EF4-FFF2-40B4-BE49-F238E27FC236}">
                <a16:creationId xmlns:a16="http://schemas.microsoft.com/office/drawing/2014/main" id="{71F7FED3-EB9E-4E62-85FD-9E94811E3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>
            <a:extLst>
              <a:ext uri="{FF2B5EF4-FFF2-40B4-BE49-F238E27FC236}">
                <a16:creationId xmlns:a16="http://schemas.microsoft.com/office/drawing/2014/main" id="{3A16CCED-69D6-4723-B785-3409A4A7C6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>
            <a:extLst>
              <a:ext uri="{FF2B5EF4-FFF2-40B4-BE49-F238E27FC236}">
                <a16:creationId xmlns:a16="http://schemas.microsoft.com/office/drawing/2014/main" id="{BB6C1E23-7014-4B48-B0EA-54D45F6F7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>
            <a:extLst>
              <a:ext uri="{FF2B5EF4-FFF2-40B4-BE49-F238E27FC236}">
                <a16:creationId xmlns:a16="http://schemas.microsoft.com/office/drawing/2014/main" id="{F6EEF040-AE2F-44DB-9865-075D0CEE9E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54" name="Google Shape;54;p12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1BAF1A59-2F8B-4BF4-B64A-0DEEE27D9EC7}"/>
              </a:ext>
            </a:extLst>
          </p:cNvPr>
          <p:cNvSpPr>
            <a:spLocks noGrp="1"/>
          </p:cNvSpPr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2662C8F9-5006-4CC6-AED6-A2CD441DFF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A6655D54-16B1-4D78-A722-D1F26E4A4B7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4AED8AE0-C1B9-4169-8A53-F4F5AB29A20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D0ADD963-6F0B-49A6-9DDA-847662A0B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>
            <a:extLst>
              <a:ext uri="{FF2B5EF4-FFF2-40B4-BE49-F238E27FC236}">
                <a16:creationId xmlns:a16="http://schemas.microsoft.com/office/drawing/2014/main" id="{7D67C296-E9AD-4915-BA06-B6F6B2EC42B6}"/>
              </a:ext>
            </a:extLst>
          </p:cNvPr>
          <p:cNvSpPr>
            <a:spLocks noGrp="1"/>
          </p:cNvSpPr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14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232FDF76-CBF3-4E5C-8FB1-3030B412B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279437C4-6BCF-4B1F-B660-DA9C7842D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8B73836B-BAC0-453C-98C1-65A75236F9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21D8131-11BD-44F4-B952-43C1B7777BCC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99B40456-9C26-4E25-812A-F58F94D543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1" name="Google Shape;71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65463B6A-3B5D-42D5-8C0A-A8D6F3C2D8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5" name="Google Shape;75;p15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76" name="Google Shape;76;p1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>
            <a:extLst>
              <a:ext uri="{FF2B5EF4-FFF2-40B4-BE49-F238E27FC236}">
                <a16:creationId xmlns:a16="http://schemas.microsoft.com/office/drawing/2014/main" id="{D0542C14-919E-485C-87A7-5251DBE7EC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9" name="Google Shape;79;g37e80574407_0_110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80" name="Google Shape;80;g37e80574407_0_110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81" name="Google Shape;81;g37e80574407_0_110">
            <a:extLst>
              <a:ext uri="{FF2B5EF4-FFF2-40B4-BE49-F238E27FC236}">
                <a16:creationId xmlns:a16="http://schemas.microsoft.com/office/drawing/2014/main" id="{4A0B87D1-0F80-492E-9F0A-334D3E371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lt1"/>
                </a:solidFill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>
            <a:extLst>
              <a:ext uri="{FF2B5EF4-FFF2-40B4-BE49-F238E27FC236}">
                <a16:creationId xmlns:a16="http://schemas.microsoft.com/office/drawing/2014/main" id="{D892436E-C895-4668-B0A0-541237687D75}"/>
              </a:ext>
            </a:extLst>
          </p:cNvPr>
          <p:cNvSpPr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>
            <a:extLst>
              <a:ext uri="{FF2B5EF4-FFF2-40B4-BE49-F238E27FC236}">
                <a16:creationId xmlns:a16="http://schemas.microsoft.com/office/drawing/2014/main" id="{98E67182-6C92-488F-A8B6-56EDE400E980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>
            <a:extLst>
              <a:ext uri="{FF2B5EF4-FFF2-40B4-BE49-F238E27FC236}">
                <a16:creationId xmlns:a16="http://schemas.microsoft.com/office/drawing/2014/main" id="{8E6D5907-34E3-4CE9-983B-4E147D000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>
                <a:solidFill>
                  <a:srgbClr val="0072B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>
            <a:extLst>
              <a:ext uri="{FF2B5EF4-FFF2-40B4-BE49-F238E27FC236}">
                <a16:creationId xmlns:a16="http://schemas.microsoft.com/office/drawing/2014/main" id="{4F839F2F-0F0D-41B9-B28D-AB6448727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>
            <a:extLst>
              <a:ext uri="{FF2B5EF4-FFF2-40B4-BE49-F238E27FC236}">
                <a16:creationId xmlns:a16="http://schemas.microsoft.com/office/drawing/2014/main" id="{F7CD12D5-85E6-4041-B0D2-EF7D45924A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98" name="Google Shape;98;p19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>
            <a:extLst>
              <a:ext uri="{FF2B5EF4-FFF2-40B4-BE49-F238E27FC236}">
                <a16:creationId xmlns:a16="http://schemas.microsoft.com/office/drawing/2014/main" id="{EB7B3939-448D-4C7E-BAF2-861F4762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/>
          </a:p>
        </p:txBody>
      </p:sp>
      <p:sp>
        <p:nvSpPr>
          <p:cNvPr id="76" name="PlaceHolder 2">
            <a:extLst>
              <a:ext uri="{FF2B5EF4-FFF2-40B4-BE49-F238E27FC236}">
                <a16:creationId xmlns:a16="http://schemas.microsoft.com/office/drawing/2014/main" id="{DC2F081B-FF45-4D98-A4F2-8210772AA9F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C4FF6657-BD0F-4337-B334-52ED8F7C802A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4" r:id="rId10"/>
    <p:sldLayoutId id="2147483665" r:id="rId11"/>
    <p:sldLayoutId id="214748367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>
            <a:extLst>
              <a:ext uri="{FF2B5EF4-FFF2-40B4-BE49-F238E27FC236}">
                <a16:creationId xmlns:a16="http://schemas.microsoft.com/office/drawing/2014/main" id="{D4B7FFF8-9AA4-4E53-9ECB-A10FB484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dk1"/>
                </a:solidFill>
                <a:latin typeface="Reddit Sans"/>
                <a:ea typeface="Reddit Sans"/>
                <a:cs typeface="Reddit San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9">
            <a:extLst>
              <a:ext uri="{FF2B5EF4-FFF2-40B4-BE49-F238E27FC236}">
                <a16:creationId xmlns:a16="http://schemas.microsoft.com/office/drawing/2014/main" id="{0C1FD014-2FA6-495D-9389-E278A0D2D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9pPr>
          </a:lstStyle>
          <a:p>
            <a:endParaRPr/>
          </a:p>
        </p:txBody>
      </p:sp>
      <p:sp>
        <p:nvSpPr>
          <p:cNvPr id="8" name="Google Shape;8;p9">
            <a:extLst>
              <a:ext uri="{FF2B5EF4-FFF2-40B4-BE49-F238E27FC236}">
                <a16:creationId xmlns:a16="http://schemas.microsoft.com/office/drawing/2014/main" id="{6B0AA307-4D0A-4E91-8EDE-F652AA60ED2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rdorintelligence.com/industry-reports/it-service-management-marke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hyperlink" Target="https://www.superfinanciera.gov.co/inicio/normativa/normativa-general/circulares-externas/ce-007-de-2024-12139" TargetMode="External"/><Relationship Id="rId4" Type="http://schemas.openxmlformats.org/officeDocument/2006/relationships/hyperlink" Target="https://www.grandviewresearch.com/industry-analysis/it-service-management-marke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artner.com/en/documents/5533963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gartner.com/en/information-technology/insights/it-service-management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oplecert.org/browse-certifications/it-governance-and-service-management/ITIL-1/itil-4-foundation-3435" TargetMode="External"/><Relationship Id="rId2" Type="http://schemas.openxmlformats.org/officeDocument/2006/relationships/hyperlink" Target="https://www.gartner.com/en/documents/5533963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idc.com/getdoc.jsp?containerId=US51006924" TargetMode="External"/><Relationship Id="rId4" Type="http://schemas.openxmlformats.org/officeDocument/2006/relationships/hyperlink" Target="https://www.freshworks.com/freshservice/resources/reports/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ynatrace.com/resources/ebooks/the-state-of-observability-2025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tcs.com/insights/topics/technology/ai-in-it-service-management" TargetMode="External"/><Relationship Id="rId5" Type="http://schemas.openxmlformats.org/officeDocument/2006/relationships/hyperlink" Target="https://www.peoplecert.org/browse-certifications/it-governance-and-service-management/ITIL-1" TargetMode="External"/><Relationship Id="rId4" Type="http://schemas.openxmlformats.org/officeDocument/2006/relationships/hyperlink" Target="https://www.gartner.com/en/articles/the-4-top-enterprise-applications-of-agentic-ai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vanti.com/resources/v/doc/itsm/agentic-ai-itsm" TargetMode="External"/><Relationship Id="rId2" Type="http://schemas.openxmlformats.org/officeDocument/2006/relationships/hyperlink" Target="https://www.freshworks.com/freshservice/state-of-it-service-management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gartner.com/en/information-technology/insights/it-service-management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jpeg"/><Relationship Id="rId5" Type="http://schemas.openxmlformats.org/officeDocument/2006/relationships/hyperlink" Target="https://www.manageengine.com/latam/service-desk/que-es-una-mesa-de-ayuda.html" TargetMode="External"/><Relationship Id="rId4" Type="http://schemas.openxmlformats.org/officeDocument/2006/relationships/hyperlink" Target="https://enviaseo.info/peti/755MesadeServicios.html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mesa-de-servicio-inteligente-c%C3%B3mo-la-inteligencia-artificial-est%C3%A1-sbj7e/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artner.com/en/documents/5523963" TargetMode="External"/><Relationship Id="rId2" Type="http://schemas.openxmlformats.org/officeDocument/2006/relationships/hyperlink" Target="https://www.peoplecert.org/browse-certifications/it-governance-and-service-management/ITIL-1" TargetMode="Externa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artner.com/en/documents/5533963" TargetMode="External"/><Relationship Id="rId2" Type="http://schemas.openxmlformats.org/officeDocument/2006/relationships/hyperlink" Target="https://www.freshworks.com/freshservice/state-of-it-service-management/" TargetMode="Externa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mmiinstitute.com/learning/appraisals/levels" TargetMode="External"/><Relationship Id="rId2" Type="http://schemas.openxmlformats.org/officeDocument/2006/relationships/hyperlink" Target="https://www.peoplecert.org/browse-certifications/it-governance-and-service-management/ITIL-1" TargetMode="Externa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256743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CO"/>
              <a:t>Estudio de Mercado 2026</a:t>
            </a:r>
            <a:endParaRPr lang="es-ES"/>
          </a:p>
          <a:p>
            <a:pPr marL="0" indent="0"/>
            <a:r>
              <a:rPr lang="es-CO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268821" y="161511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Propuesta de Valor del </a:t>
            </a:r>
            <a:r>
              <a:rPr lang="es" dirty="0">
                <a:highlight>
                  <a:srgbClr val="FFFFFF"/>
                </a:highlight>
              </a:rPr>
              <a:t>Servicio</a:t>
            </a:r>
            <a:endParaRPr lang="es-ES" dirty="0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181734" y="17919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16231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D1A1633-87B8-69A8-F58D-616529537203}"/>
              </a:ext>
            </a:extLst>
          </p:cNvPr>
          <p:cNvSpPr txBox="1"/>
          <p:nvPr/>
        </p:nvSpPr>
        <p:spPr>
          <a:xfrm>
            <a:off x="3978729" y="3458938"/>
            <a:ext cx="1763485" cy="8771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accent1"/>
                </a:solidFill>
                <a:latin typeface="Reddit Sans"/>
                <a:ea typeface="Segoe UI"/>
                <a:cs typeface="Segoe UI"/>
              </a:rPr>
              <a:t>Para el mercado</a:t>
            </a:r>
            <a:r>
              <a:rPr lang="en-US" sz="1000" b="0" i="0">
                <a:solidFill>
                  <a:schemeClr val="accent1"/>
                </a:solidFill>
                <a:latin typeface="Reddit Sans"/>
                <a:ea typeface="Segoe UI"/>
                <a:cs typeface="Segoe UI"/>
              </a:rPr>
              <a:t>​</a:t>
            </a:r>
            <a:endParaRPr lang="es-ES"/>
          </a:p>
          <a:p>
            <a:pPr algn="l" rtl="0"/>
            <a:r>
              <a:rPr lang="es-ES" sz="900" b="0" i="0" u="none" strike="noStrike" baseline="0">
                <a:solidFill>
                  <a:schemeClr val="bg1">
                    <a:lumMod val="49000"/>
                  </a:schemeClr>
                </a:solidFill>
                <a:latin typeface="Reddit Sans"/>
                <a:ea typeface="Segoe UI"/>
                <a:cs typeface="Segoe UI"/>
              </a:rPr>
              <a:t>Un diferenciador real: el proveedor que llega con datos, herramientas y evolución continua.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FCE1D9E-1DD5-4E17-C87C-666E3BEBC55A}"/>
              </a:ext>
            </a:extLst>
          </p:cNvPr>
          <p:cNvSpPr txBox="1"/>
          <p:nvPr/>
        </p:nvSpPr>
        <p:spPr>
          <a:xfrm>
            <a:off x="179614" y="3458937"/>
            <a:ext cx="1638301" cy="10797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2250"/>
              </a:lnSpc>
            </a:pPr>
            <a:r>
              <a:rPr lang="es-ES" sz="1000" b="1" i="0" u="none" strike="noStrike" baseline="0">
                <a:solidFill>
                  <a:schemeClr val="accent1"/>
                </a:solidFill>
                <a:latin typeface="Reddit Sans"/>
                <a:ea typeface="Segoe UI"/>
                <a:cs typeface="Segoe UI"/>
              </a:rPr>
              <a:t>Para el cliente</a:t>
            </a:r>
            <a:r>
              <a:rPr lang="en-US" sz="1000" b="0" i="0" u="none" strike="noStrike" baseline="0">
                <a:solidFill>
                  <a:schemeClr val="accent1"/>
                </a:solidFill>
                <a:latin typeface="Reddit Sans"/>
                <a:ea typeface="Segoe UI"/>
                <a:cs typeface="Segoe UI"/>
              </a:rPr>
              <a:t>​</a:t>
            </a:r>
            <a:r>
              <a:rPr lang="en-US" sz="1000" b="0" i="0">
                <a:solidFill>
                  <a:schemeClr val="accent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s-ES" sz="900" b="0" i="0" u="none" strike="noStrike" baseline="0" dirty="0" err="1">
                <a:solidFill>
                  <a:schemeClr val="bg1">
                    <a:lumMod val="49000"/>
                  </a:schemeClr>
                </a:solidFill>
                <a:latin typeface="Reddit Sans"/>
                <a:ea typeface="Segoe UI"/>
                <a:cs typeface="Segoe UI"/>
              </a:rPr>
              <a:t>SLAs</a:t>
            </a:r>
            <a:r>
              <a:rPr lang="es-ES" sz="900" b="0" i="0" u="none" strike="noStrike" baseline="0" dirty="0">
                <a:solidFill>
                  <a:schemeClr val="bg1">
                    <a:lumMod val="49000"/>
                  </a:schemeClr>
                </a:solidFill>
                <a:latin typeface="Reddit Sans"/>
                <a:ea typeface="Segoe UI"/>
                <a:cs typeface="Segoe UI"/>
              </a:rPr>
              <a:t> cumplidos, menos interrupciones y visibilidad real de la operación en tiempo real.</a:t>
            </a:r>
            <a:r>
              <a:rPr lang="en-US" sz="900" b="0" i="0" u="none" strike="noStrike" baseline="0" dirty="0">
                <a:solidFill>
                  <a:schemeClr val="bg1">
                    <a:lumMod val="49000"/>
                  </a:schemeClr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 sz="900" dirty="0">
              <a:solidFill>
                <a:schemeClr val="bg1">
                  <a:lumMod val="76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67C14FE-D254-3FEB-937C-A6119D289BF1}"/>
              </a:ext>
            </a:extLst>
          </p:cNvPr>
          <p:cNvSpPr txBox="1"/>
          <p:nvPr/>
        </p:nvSpPr>
        <p:spPr>
          <a:xfrm>
            <a:off x="2095500" y="3458935"/>
            <a:ext cx="1627415" cy="8797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2250"/>
              </a:lnSpc>
            </a:pPr>
            <a:r>
              <a:rPr lang="es-ES" sz="1000" b="1" i="0" u="none" strike="noStrike" baseline="0" dirty="0">
                <a:solidFill>
                  <a:schemeClr val="accent1"/>
                </a:solidFill>
                <a:latin typeface="Reddit Sans"/>
                <a:ea typeface="Segoe UI"/>
                <a:cs typeface="Segoe UI"/>
              </a:rPr>
              <a:t>Para </a:t>
            </a:r>
            <a:r>
              <a:rPr lang="es-ES" sz="1000" b="1" i="0" u="none" strike="noStrike" baseline="0" dirty="0" err="1">
                <a:solidFill>
                  <a:schemeClr val="accent1"/>
                </a:solidFill>
                <a:latin typeface="Reddit Sans"/>
                <a:ea typeface="Segoe UI"/>
                <a:cs typeface="Segoe UI"/>
              </a:rPr>
              <a:t>PersonalSoft</a:t>
            </a:r>
            <a:r>
              <a:rPr lang="en-US" sz="1000" b="0" i="0" u="none" strike="noStrike" baseline="0" dirty="0">
                <a:solidFill>
                  <a:schemeClr val="accent1"/>
                </a:solidFill>
                <a:latin typeface="Reddit Sans"/>
                <a:ea typeface="Segoe UI"/>
                <a:cs typeface="Segoe UI"/>
              </a:rPr>
              <a:t>​</a:t>
            </a:r>
            <a:r>
              <a:rPr lang="en-US" sz="1000" b="0" i="0" dirty="0">
                <a:solidFill>
                  <a:schemeClr val="accent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s-ES" sz="900" b="0" i="0" u="none" strike="noStrike" baseline="0">
                <a:solidFill>
                  <a:schemeClr val="bg1">
                    <a:lumMod val="49000"/>
                  </a:schemeClr>
                </a:solidFill>
                <a:latin typeface="Reddit Sans"/>
                <a:ea typeface="Segoe UI"/>
                <a:cs typeface="Segoe UI"/>
              </a:rPr>
              <a:t>Márgenes que mejoran con la automatización.</a:t>
            </a:r>
            <a:r>
              <a:rPr lang="en-US" sz="900" b="0" i="0" u="none" strike="noStrike" baseline="0">
                <a:solidFill>
                  <a:schemeClr val="bg1">
                    <a:lumMod val="49000"/>
                  </a:schemeClr>
                </a:solidFill>
                <a:latin typeface="Reddit Sans"/>
                <a:ea typeface="Segoe UI"/>
                <a:cs typeface="Segoe UI"/>
              </a:rPr>
              <a:t>​</a:t>
            </a:r>
            <a:r>
              <a:rPr lang="en-US" sz="900" b="0" i="0">
                <a:solidFill>
                  <a:schemeClr val="bg1">
                    <a:lumMod val="49000"/>
                  </a:schemeClr>
                </a:solidFill>
                <a:latin typeface="Reddit Sans"/>
                <a:ea typeface="Segoe UI"/>
                <a:cs typeface="Segoe UI"/>
              </a:rPr>
              <a:t>​</a:t>
            </a:r>
            <a:endParaRPr lang="en-US" sz="1000" b="0" i="0" dirty="0">
              <a:solidFill>
                <a:schemeClr val="bg1">
                  <a:lumMod val="49000"/>
                </a:schemeClr>
              </a:solidFill>
              <a:latin typeface="Reddit Sans"/>
              <a:ea typeface="Segoe UI"/>
              <a:cs typeface="Segoe UI"/>
            </a:endParaRPr>
          </a:p>
          <a:p>
            <a:pPr algn="ctr"/>
            <a:endParaRPr lang="es-E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7838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4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4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1000">
                <a:latin typeface="Reddit Sans"/>
                <a:ea typeface="Reddit Sans"/>
              </a:rPr>
              <a:t>Modelo operativo</a:t>
            </a:r>
            <a:br>
              <a:rPr lang="es-CO" sz="1000" dirty="0">
                <a:latin typeface="Reddit Sans"/>
                <a:ea typeface="Reddit Sans"/>
              </a:rPr>
            </a:br>
            <a:r>
              <a:rPr lang="es-CO" sz="1000">
                <a:latin typeface="Reddit Sans"/>
                <a:ea typeface="Reddit Sans"/>
              </a:rPr>
              <a:t>no estandarizado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0436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4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4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1000">
                <a:latin typeface="Reddit Sans"/>
                <a:ea typeface="Reddit Sans"/>
              </a:rPr>
              <a:t>Crecimiento</a:t>
            </a:r>
            <a:br>
              <a:rPr lang="es-CO" sz="1000" dirty="0">
                <a:latin typeface="Reddit Sans"/>
                <a:ea typeface="Reddit Sans"/>
              </a:rPr>
            </a:br>
            <a:r>
              <a:rPr lang="es-CO" sz="1000">
                <a:latin typeface="Reddit Sans"/>
                <a:ea typeface="Reddit Sans"/>
              </a:rPr>
              <a:t>basado en FTE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3034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4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4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1000">
                <a:latin typeface="Reddit Sans"/>
                <a:ea typeface="Reddit Sans"/>
              </a:rPr>
              <a:t>Alta dependencia</a:t>
            </a:r>
            <a:br>
              <a:rPr lang="es-CO" sz="1000" dirty="0">
                <a:latin typeface="Reddit Sans"/>
                <a:ea typeface="Reddit Sans"/>
              </a:rPr>
            </a:br>
            <a:r>
              <a:rPr lang="es-CO" sz="1000">
                <a:latin typeface="Reddit Sans"/>
                <a:ea typeface="Reddit Sans"/>
              </a:rPr>
              <a:t>de tareas manuales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5632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4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4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1000">
                <a:latin typeface="Reddit Sans"/>
                <a:ea typeface="Reddit Sans"/>
              </a:rPr>
              <a:t>Conocimiento</a:t>
            </a:r>
            <a:br>
              <a:rPr lang="es-CO" sz="1000" dirty="0">
                <a:latin typeface="Reddit Sans"/>
                <a:ea typeface="Reddit Sans"/>
              </a:rPr>
            </a:br>
            <a:r>
              <a:rPr lang="es-CO" sz="1000">
                <a:latin typeface="Reddit Sans"/>
                <a:ea typeface="Reddit Sans"/>
              </a:rPr>
              <a:t>concentrado en personas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38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400" err="1">
                <a:latin typeface="Reddit Sans"/>
                <a:ea typeface="Reddit Sans"/>
              </a:rPr>
              <a:t>Observabilidad</a:t>
            </a:r>
            <a:endParaRPr lang="es-CO" sz="140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4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1000" dirty="0" err="1">
                <a:latin typeface="Reddit Sans"/>
                <a:ea typeface="Reddit Sans"/>
              </a:rPr>
              <a:t>KPIs</a:t>
            </a:r>
            <a:r>
              <a:rPr lang="es-CO" sz="1000" dirty="0">
                <a:latin typeface="Reddit Sans"/>
                <a:ea typeface="Reddit Sans"/>
              </a:rPr>
              <a:t> y SLA</a:t>
            </a:r>
            <a:br>
              <a:rPr lang="es-CO" sz="1000" dirty="0">
                <a:latin typeface="Reddit Sans"/>
                <a:ea typeface="Reddit Sans"/>
              </a:rPr>
            </a:br>
            <a:r>
              <a:rPr lang="es-CO" sz="1000" dirty="0">
                <a:latin typeface="Reddit Sans"/>
                <a:ea typeface="Reddit Sans"/>
              </a:rPr>
              <a:t>sin estandarizar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36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4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4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1000" dirty="0" err="1">
                <a:latin typeface="Reddit Sans"/>
                <a:ea typeface="Reddit Sans"/>
              </a:rPr>
              <a:t>Onboarding</a:t>
            </a:r>
            <a:r>
              <a:rPr lang="es-CO" sz="1000" dirty="0">
                <a:latin typeface="Reddit Sans"/>
                <a:ea typeface="Reddit Sans"/>
              </a:rPr>
              <a:t> con</a:t>
            </a:r>
            <a:br>
              <a:rPr lang="es-CO" sz="1000" dirty="0">
                <a:latin typeface="Reddit Sans"/>
                <a:ea typeface="Reddit Sans"/>
              </a:rPr>
            </a:br>
            <a:r>
              <a:rPr lang="es-CO" sz="1000" dirty="0">
                <a:latin typeface="Reddit Sans"/>
                <a:ea typeface="Reddit Sans"/>
              </a:rPr>
              <a:t>alta fricción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034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4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4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1000">
                <a:latin typeface="Reddit Sans"/>
                <a:ea typeface="Reddit Sans"/>
              </a:rPr>
              <a:t>Dimensionamiento</a:t>
            </a:r>
            <a:br>
              <a:rPr lang="es-CO" sz="1000" dirty="0">
                <a:latin typeface="Reddit Sans"/>
                <a:ea typeface="Reddit Sans"/>
              </a:rPr>
            </a:br>
            <a:r>
              <a:rPr lang="es-CO" sz="1000">
                <a:latin typeface="Reddit Sans"/>
                <a:ea typeface="Reddit Sans"/>
              </a:rPr>
              <a:t>insuficiente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5632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400">
                <a:latin typeface="Reddit Sans"/>
                <a:ea typeface="Reddit Sans"/>
              </a:rPr>
              <a:t>Plataforma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4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1000">
                <a:latin typeface="Reddit Sans"/>
                <a:ea typeface="Reddit Sans"/>
              </a:rPr>
              <a:t>Retención y</a:t>
            </a:r>
            <a:br>
              <a:rPr lang="es-CO" sz="1000" dirty="0">
                <a:latin typeface="Reddit Sans"/>
                <a:ea typeface="Reddit Sans"/>
              </a:rPr>
            </a:br>
            <a:r>
              <a:rPr lang="es-CO" sz="1000">
                <a:latin typeface="Reddit Sans"/>
                <a:ea typeface="Reddit Sans"/>
              </a:rPr>
              <a:t>especialización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481" y="4053296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>
                <a:latin typeface="Reddit Sans"/>
                <a:ea typeface="Reddit Sans"/>
              </a:rPr>
              <a:t> Mesa de Servicio de Nueva Generación</a:t>
            </a:r>
            <a:r>
              <a:rPr sz="1050">
                <a:latin typeface="Reddit Sans"/>
                <a:ea typeface="Reddit Sans"/>
              </a:rPr>
              <a:t>: </a:t>
            </a:r>
            <a:r>
              <a:rPr lang="en-US" sz="1050">
                <a:latin typeface="Reddit Sans"/>
                <a:ea typeface="Reddit Sans"/>
              </a:rPr>
              <a:t>Una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operación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estandarizada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automatizada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medible</a:t>
            </a:r>
            <a:r>
              <a:rPr sz="1050">
                <a:latin typeface="Reddit Sans"/>
                <a:ea typeface="Reddit Sans"/>
              </a:rPr>
              <a:t> y </a:t>
            </a:r>
            <a:r>
              <a:rPr sz="1050" err="1">
                <a:latin typeface="Reddit Sans"/>
                <a:ea typeface="Reddit Sans"/>
              </a:rPr>
              <a:t>habilitada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por</a:t>
            </a:r>
            <a:r>
              <a:rPr sz="105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381000" y="547007"/>
            <a:ext cx="457200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9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Principales brechas del modelo operativo actual</a:t>
            </a:r>
            <a:r>
              <a:rPr lang="es-CO" sz="900" b="0" i="0">
                <a:solidFill>
                  <a:srgbClr val="000000"/>
                </a:solidFill>
                <a:latin typeface="Reddit Sans"/>
                <a:ea typeface="Reddit Sans"/>
              </a:rPr>
              <a:t>​</a:t>
            </a:r>
            <a:endParaRPr lang="es-CO">
              <a:latin typeface="Reddit Sans"/>
              <a:ea typeface="Reddit Sans"/>
            </a:endParaRPr>
          </a:p>
          <a:p>
            <a:pPr algn="ctr"/>
            <a:endParaRPr lang="es-CO">
              <a:latin typeface="Reddit Sans"/>
              <a:ea typeface="Reddit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2">
            <a:extLst>
              <a:ext uri="{FF2B5EF4-FFF2-40B4-BE49-F238E27FC236}">
                <a16:creationId xmlns:a16="http://schemas.microsoft.com/office/drawing/2014/main" id="{623E63C6-3026-A4C8-1A1D-ED5AF21F9D37}"/>
              </a:ext>
            </a:extLst>
          </p:cNvPr>
          <p:cNvSpPr/>
          <p:nvPr/>
        </p:nvSpPr>
        <p:spPr>
          <a:xfrm>
            <a:off x="340281" y="3802924"/>
            <a:ext cx="4490900" cy="959575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endParaRPr lang="es-CO" sz="1400" b="1" dirty="0">
              <a:solidFill>
                <a:srgbClr val="213F7D"/>
              </a:solidFill>
              <a:latin typeface="Reddit Sans"/>
              <a:ea typeface="Reddit Sans"/>
            </a:endParaRPr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BBF41AF2-8F1A-A51E-163A-4BAFCFFD8F0E}"/>
              </a:ext>
            </a:extLst>
          </p:cNvPr>
          <p:cNvSpPr/>
          <p:nvPr/>
        </p:nvSpPr>
        <p:spPr>
          <a:xfrm>
            <a:off x="340282" y="2763338"/>
            <a:ext cx="4490900" cy="959575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endParaRPr lang="es-CO" sz="1400" b="1" dirty="0">
              <a:solidFill>
                <a:srgbClr val="213F7D"/>
              </a:solidFill>
              <a:latin typeface="Reddit Sans"/>
              <a:ea typeface="Reddit Sans"/>
            </a:endParaRPr>
          </a:p>
        </p:txBody>
      </p:sp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E30C310E-2681-D6E2-62FA-521F760F6BBC}"/>
              </a:ext>
            </a:extLst>
          </p:cNvPr>
          <p:cNvSpPr/>
          <p:nvPr/>
        </p:nvSpPr>
        <p:spPr>
          <a:xfrm>
            <a:off x="340282" y="1723753"/>
            <a:ext cx="4490900" cy="959575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endParaRPr lang="es-CO" sz="1400" b="1" dirty="0">
              <a:solidFill>
                <a:srgbClr val="213F7D"/>
              </a:solidFill>
              <a:latin typeface="Reddit Sans"/>
              <a:ea typeface="Reddit Sans"/>
            </a:endParaRPr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FD725EAA-5DE4-78BB-B837-29AE994A29CB}"/>
              </a:ext>
            </a:extLst>
          </p:cNvPr>
          <p:cNvSpPr/>
          <p:nvPr/>
        </p:nvSpPr>
        <p:spPr>
          <a:xfrm>
            <a:off x="362053" y="700497"/>
            <a:ext cx="4490900" cy="959575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endParaRPr lang="es-CO" sz="1400" b="1" dirty="0">
              <a:solidFill>
                <a:srgbClr val="213F7D"/>
              </a:solidFill>
              <a:latin typeface="Reddit Sans"/>
              <a:ea typeface="Reddit San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115F133-DCFA-C0B8-1846-1B4B2E47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800" kern="1200" dirty="0" err="1">
                <a:cs typeface="+mn-cs"/>
                <a:sym typeface="Arial"/>
              </a:rPr>
              <a:t>Brechas</a:t>
            </a:r>
            <a:r>
              <a:rPr lang="en-US" sz="1800" kern="1200" dirty="0">
                <a:cs typeface="+mn-cs"/>
                <a:sym typeface="Arial"/>
              </a:rPr>
              <a:t> del mercado y </a:t>
            </a:r>
            <a:r>
              <a:rPr lang="en-US" sz="1800" kern="1200" dirty="0" err="1">
                <a:cs typeface="+mn-cs"/>
                <a:sym typeface="Arial"/>
              </a:rPr>
              <a:t>oportunidades</a:t>
            </a:r>
            <a:endParaRPr lang="es-ES" sz="1800" kern="1200" dirty="0" err="1">
              <a:cs typeface="+mn-cs"/>
              <a:sym typeface="Arial"/>
            </a:endParaRPr>
          </a:p>
        </p:txBody>
      </p:sp>
      <p:pic>
        <p:nvPicPr>
          <p:cNvPr id="4" name="Content Placeholder 3" descr="Concepto de Aseguramiento de la Calidad con Iconos y Palabras Clave">
            <a:extLst>
              <a:ext uri="{FF2B5EF4-FFF2-40B4-BE49-F238E27FC236}">
                <a16:creationId xmlns:a16="http://schemas.microsoft.com/office/drawing/2014/main" id="{FF8F9810-FC62-43E6-9839-27EF1F1D8CDC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rcRect r="-1" b="7811"/>
          <a:stretch>
            <a:fillRect/>
          </a:stretch>
        </p:blipFill>
        <p:spPr>
          <a:xfrm>
            <a:off x="5394413" y="772322"/>
            <a:ext cx="3450226" cy="31824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D95AC8E-9D82-484D-9010-F28844ECB1E3}"/>
              </a:ext>
            </a:extLst>
          </p:cNvPr>
          <p:cNvSpPr txBox="1"/>
          <p:nvPr/>
        </p:nvSpPr>
        <p:spPr>
          <a:xfrm>
            <a:off x="359229" y="699407"/>
            <a:ext cx="4365172" cy="41292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Falta de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Madurez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  <a:endParaRPr lang="es-E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No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existen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modelos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claros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que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ayuden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los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clientes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entender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su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estado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actual y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evolución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dirty="0" err="1">
                <a:solidFill>
                  <a:srgbClr val="444444"/>
                </a:solidFill>
                <a:latin typeface="Reddit Sans"/>
                <a:cs typeface="Segoe UI"/>
              </a:rPr>
              <a:t>en</a:t>
            </a:r>
            <a:r>
              <a:rPr lang="en-US" sz="1100" dirty="0">
                <a:solidFill>
                  <a:srgbClr val="444444"/>
                </a:solidFill>
                <a:latin typeface="Reddit Sans"/>
                <a:cs typeface="Segoe UI"/>
              </a:rPr>
              <a:t> ITSM con IA.​ </a:t>
            </a:r>
          </a:p>
          <a:p>
            <a:pPr>
              <a:lnSpc>
                <a:spcPct val="150000"/>
              </a:lnSpc>
            </a:pPr>
            <a:endParaRPr lang="en-US" sz="1100" dirty="0">
              <a:latin typeface="Reddit Sans"/>
              <a:ea typeface="Reddit Sans"/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Limitada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Gobernanza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de IA​ </a:t>
            </a:r>
            <a:endParaRPr lang="en-U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latin typeface="Reddit Sans"/>
                <a:ea typeface="Reddit Sans"/>
              </a:rPr>
              <a:t>La </a:t>
            </a:r>
            <a:r>
              <a:rPr lang="en-US" sz="1100" dirty="0" err="1">
                <a:latin typeface="Reddit Sans"/>
                <a:ea typeface="Reddit Sans"/>
              </a:rPr>
              <a:t>gobernanza</a:t>
            </a:r>
            <a:r>
              <a:rPr lang="en-US" sz="1100" dirty="0">
                <a:latin typeface="Reddit Sans"/>
                <a:ea typeface="Reddit Sans"/>
              </a:rPr>
              <a:t> de </a:t>
            </a:r>
            <a:r>
              <a:rPr lang="en-US" sz="1100" dirty="0" err="1">
                <a:latin typeface="Reddit Sans"/>
                <a:ea typeface="Reddit Sans"/>
              </a:rPr>
              <a:t>inteligencia</a:t>
            </a:r>
            <a:r>
              <a:rPr lang="en-US" sz="1100" dirty="0">
                <a:latin typeface="Reddit Sans"/>
                <a:ea typeface="Reddit Sans"/>
              </a:rPr>
              <a:t> artificial </a:t>
            </a:r>
            <a:r>
              <a:rPr lang="en-US" sz="1100" dirty="0" err="1">
                <a:latin typeface="Reddit Sans"/>
                <a:ea typeface="Reddit Sans"/>
              </a:rPr>
              <a:t>está</a:t>
            </a:r>
            <a:r>
              <a:rPr lang="en-US" sz="1100" dirty="0">
                <a:latin typeface="Reddit Sans"/>
                <a:ea typeface="Reddit Sans"/>
              </a:rPr>
              <a:t> poco </a:t>
            </a:r>
            <a:r>
              <a:rPr lang="en-US" sz="1100" dirty="0" err="1">
                <a:latin typeface="Reddit Sans"/>
                <a:ea typeface="Reddit Sans"/>
              </a:rPr>
              <a:t>desarrollada</a:t>
            </a:r>
            <a:r>
              <a:rPr lang="en-US" sz="1100" dirty="0">
                <a:latin typeface="Reddit Sans"/>
                <a:ea typeface="Reddit Sans"/>
              </a:rPr>
              <a:t>, </a:t>
            </a:r>
            <a:r>
              <a:rPr lang="en-US" sz="1100" dirty="0" err="1">
                <a:latin typeface="Reddit Sans"/>
                <a:ea typeface="Reddit Sans"/>
              </a:rPr>
              <a:t>creando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riesgos</a:t>
            </a:r>
            <a:r>
              <a:rPr lang="en-US" sz="1100" dirty="0">
                <a:latin typeface="Reddit Sans"/>
                <a:ea typeface="Reddit Sans"/>
              </a:rPr>
              <a:t> y </a:t>
            </a:r>
            <a:r>
              <a:rPr lang="en-US" sz="1100" dirty="0" err="1">
                <a:latin typeface="Reddit Sans"/>
                <a:ea typeface="Reddit Sans"/>
              </a:rPr>
              <a:t>limitando</a:t>
            </a:r>
            <a:r>
              <a:rPr lang="en-US" sz="1100" dirty="0">
                <a:latin typeface="Reddit Sans"/>
                <a:ea typeface="Reddit Sans"/>
              </a:rPr>
              <a:t> la </a:t>
            </a:r>
            <a:r>
              <a:rPr lang="en-US" sz="1100" dirty="0" err="1">
                <a:latin typeface="Reddit Sans"/>
                <a:ea typeface="Reddit Sans"/>
              </a:rPr>
              <a:t>adopción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tecnológica</a:t>
            </a:r>
            <a:r>
              <a:rPr lang="en-US" sz="1100" dirty="0">
                <a:latin typeface="Reddit Sans"/>
                <a:ea typeface="Reddit Sans"/>
              </a:rPr>
              <a:t>.​ </a:t>
            </a:r>
          </a:p>
          <a:p>
            <a:pPr>
              <a:lnSpc>
                <a:spcPct val="150000"/>
              </a:lnSpc>
            </a:pPr>
            <a:endParaRPr lang="en-US" sz="1100" b="1" dirty="0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Desalineación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de Pricing​ </a:t>
            </a:r>
            <a:endParaRPr lang="en-U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latin typeface="Reddit Sans"/>
                <a:ea typeface="Reddit Sans"/>
              </a:rPr>
              <a:t>Los </a:t>
            </a:r>
            <a:r>
              <a:rPr lang="en-US" sz="1100" dirty="0" err="1">
                <a:latin typeface="Reddit Sans"/>
                <a:ea typeface="Reddit Sans"/>
              </a:rPr>
              <a:t>modelos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tradicionales</a:t>
            </a:r>
            <a:r>
              <a:rPr lang="en-US" sz="1100" dirty="0">
                <a:latin typeface="Reddit Sans"/>
                <a:ea typeface="Reddit Sans"/>
              </a:rPr>
              <a:t> de pricing no se </a:t>
            </a:r>
            <a:r>
              <a:rPr lang="en-US" sz="1100" dirty="0" err="1">
                <a:latin typeface="Reddit Sans"/>
                <a:ea typeface="Reddit Sans"/>
              </a:rPr>
              <a:t>alinean</a:t>
            </a:r>
            <a:r>
              <a:rPr lang="en-US" sz="1100" dirty="0">
                <a:latin typeface="Reddit Sans"/>
                <a:ea typeface="Reddit Sans"/>
              </a:rPr>
              <a:t> con </a:t>
            </a:r>
            <a:r>
              <a:rPr lang="en-US" sz="1100" dirty="0" err="1">
                <a:latin typeface="Reddit Sans"/>
                <a:ea typeface="Reddit Sans"/>
              </a:rPr>
              <a:t>resultados</a:t>
            </a:r>
            <a:r>
              <a:rPr lang="en-US" sz="1100" dirty="0">
                <a:latin typeface="Reddit Sans"/>
                <a:ea typeface="Reddit Sans"/>
              </a:rPr>
              <a:t> de </a:t>
            </a:r>
            <a:r>
              <a:rPr lang="en-US" sz="1100" dirty="0" err="1">
                <a:latin typeface="Reddit Sans"/>
                <a:ea typeface="Reddit Sans"/>
              </a:rPr>
              <a:t>negocio</a:t>
            </a:r>
            <a:r>
              <a:rPr lang="en-US" sz="1100" dirty="0">
                <a:latin typeface="Reddit Sans"/>
                <a:ea typeface="Reddit Sans"/>
              </a:rPr>
              <a:t>, </a:t>
            </a:r>
            <a:r>
              <a:rPr lang="en-US" sz="1100" dirty="0" err="1">
                <a:latin typeface="Reddit Sans"/>
                <a:ea typeface="Reddit Sans"/>
              </a:rPr>
              <a:t>dificultando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demostrar</a:t>
            </a:r>
            <a:r>
              <a:rPr lang="en-US" sz="1100" dirty="0">
                <a:latin typeface="Reddit Sans"/>
                <a:ea typeface="Reddit Sans"/>
              </a:rPr>
              <a:t> valor tangible.​ </a:t>
            </a:r>
          </a:p>
          <a:p>
            <a:pPr>
              <a:lnSpc>
                <a:spcPct val="150000"/>
              </a:lnSpc>
            </a:pPr>
            <a:endParaRPr lang="en-US" sz="1100" dirty="0">
              <a:latin typeface="Reddit Sans"/>
              <a:ea typeface="Reddit Sans"/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Oportunidad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 </a:t>
            </a:r>
            <a:r>
              <a:rPr lang="en-US" sz="1100" b="1" dirty="0" err="1">
                <a:solidFill>
                  <a:srgbClr val="0E337C"/>
                </a:solidFill>
                <a:latin typeface="Reddit Sans"/>
                <a:cs typeface="Segoe UI"/>
              </a:rPr>
              <a:t>Estratégica</a:t>
            </a:r>
            <a:r>
              <a:rPr lang="en-US" sz="1100" b="1" dirty="0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  <a:endParaRPr lang="en-U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latin typeface="Reddit Sans"/>
                <a:ea typeface="Reddit Sans"/>
              </a:rPr>
              <a:t>Un framework </a:t>
            </a:r>
            <a:r>
              <a:rPr lang="en-US" sz="1100" dirty="0" err="1">
                <a:latin typeface="Reddit Sans"/>
                <a:ea typeface="Reddit Sans"/>
              </a:rPr>
              <a:t>operativo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completo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que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integre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madurez</a:t>
            </a:r>
            <a:r>
              <a:rPr lang="en-US" sz="1100" dirty="0">
                <a:latin typeface="Reddit Sans"/>
                <a:ea typeface="Reddit Sans"/>
              </a:rPr>
              <a:t>, </a:t>
            </a:r>
            <a:r>
              <a:rPr lang="en-US" sz="1100" dirty="0" err="1">
                <a:latin typeface="Reddit Sans"/>
                <a:ea typeface="Reddit Sans"/>
              </a:rPr>
              <a:t>gobernanza</a:t>
            </a:r>
            <a:r>
              <a:rPr lang="en-US" sz="1100" dirty="0">
                <a:latin typeface="Reddit Sans"/>
                <a:ea typeface="Reddit Sans"/>
              </a:rPr>
              <a:t> y </a:t>
            </a:r>
            <a:r>
              <a:rPr lang="en-US" sz="1100" dirty="0" err="1">
                <a:latin typeface="Reddit Sans"/>
                <a:ea typeface="Reddit Sans"/>
              </a:rPr>
              <a:t>alineación</a:t>
            </a:r>
            <a:r>
              <a:rPr lang="en-US" sz="1100" dirty="0">
                <a:latin typeface="Reddit Sans"/>
                <a:ea typeface="Reddit Sans"/>
              </a:rPr>
              <a:t> a </a:t>
            </a:r>
            <a:r>
              <a:rPr lang="en-US" sz="1100" dirty="0" err="1">
                <a:latin typeface="Reddit Sans"/>
                <a:ea typeface="Reddit Sans"/>
              </a:rPr>
              <a:t>resultados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garantiza</a:t>
            </a:r>
            <a:r>
              <a:rPr lang="en-US" sz="1100" dirty="0">
                <a:latin typeface="Reddit Sans"/>
                <a:ea typeface="Reddit Sans"/>
              </a:rPr>
              <a:t> </a:t>
            </a:r>
            <a:r>
              <a:rPr lang="en-US" sz="1100" dirty="0" err="1">
                <a:latin typeface="Reddit Sans"/>
                <a:ea typeface="Reddit Sans"/>
              </a:rPr>
              <a:t>diferenciación</a:t>
            </a:r>
            <a:r>
              <a:rPr lang="en-US" sz="1100" dirty="0">
                <a:latin typeface="Reddit Sans"/>
                <a:ea typeface="Reddit Sans"/>
              </a:rPr>
              <a:t> y valor continuo</a:t>
            </a:r>
          </a:p>
        </p:txBody>
      </p:sp>
    </p:spTree>
    <p:extLst>
      <p:ext uri="{BB962C8B-B14F-4D97-AF65-F5344CB8AC3E}">
        <p14:creationId xmlns:p14="http://schemas.microsoft.com/office/powerpoint/2010/main" val="3167372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rgbClr val="263474"/>
                </a:solidFill>
                <a:sym typeface="Reddit Sans Medium"/>
              </a:rPr>
              <a:t>Mesas de Servicio Actuales</a:t>
            </a:r>
            <a:endParaRPr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>
          <a:extLst>
            <a:ext uri="{FF2B5EF4-FFF2-40B4-BE49-F238E27FC236}">
              <a16:creationId xmlns:a16="http://schemas.microsoft.com/office/drawing/2014/main" id="{AEBFDBAD-7B05-EED9-1EF5-413E891F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>
            <a:extLst>
              <a:ext uri="{FF2B5EF4-FFF2-40B4-BE49-F238E27FC236}">
                <a16:creationId xmlns:a16="http://schemas.microsoft.com/office/drawing/2014/main" id="{4B2582B4-18D3-4368-CA11-A1D396FEC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rgbClr val="263474"/>
                </a:solidFill>
                <a:sym typeface="Reddit Sans Medium"/>
              </a:rPr>
              <a:t>Mesas de Servicio Actuales</a:t>
            </a:r>
            <a:endParaRPr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>
            <a:extLst>
              <a:ext uri="{FF2B5EF4-FFF2-40B4-BE49-F238E27FC236}">
                <a16:creationId xmlns:a16="http://schemas.microsoft.com/office/drawing/2014/main" id="{E43C39F1-AE88-CEAB-FF66-1C0A9CE8A5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Segmentos de Mercado Priorizados</a:t>
            </a:r>
            <a:endParaRPr lang="es-ES"/>
          </a:p>
        </p:txBody>
      </p:sp>
      <p:cxnSp>
        <p:nvCxnSpPr>
          <p:cNvPr id="147" name="Google Shape;147;p5">
            <a:extLst>
              <a:ext uri="{FF2B5EF4-FFF2-40B4-BE49-F238E27FC236}">
                <a16:creationId xmlns:a16="http://schemas.microsoft.com/office/drawing/2014/main" id="{8BFA854E-B0B5-D66E-A8B9-C86B85A5FA57}"/>
              </a:ext>
            </a:extLst>
          </p:cNvPr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24AE519-5A1F-729A-5BAF-07AFD2B3AFFF}"/>
              </a:ext>
            </a:extLst>
          </p:cNvPr>
          <p:cNvSpPr txBox="1"/>
          <p:nvPr/>
        </p:nvSpPr>
        <p:spPr>
          <a:xfrm>
            <a:off x="4757057" y="628653"/>
            <a:ext cx="4152902" cy="43677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Sector Banca Prioritario </a:t>
            </a:r>
            <a:endParaRPr lang="es-ES"/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Banca destaca por alta regulación, uso avanzado de IA y presión por continuidad operativa, con alta inversión en soluciones. </a:t>
            </a:r>
          </a:p>
          <a:p>
            <a:pPr>
              <a:lnSpc>
                <a:spcPct val="150000"/>
              </a:lnSpc>
            </a:pPr>
            <a:endParaRPr lang="es-ES" sz="700" dirty="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 dirty="0">
                <a:solidFill>
                  <a:srgbClr val="0E337C"/>
                </a:solidFill>
                <a:latin typeface="Reddit Sans"/>
                <a:cs typeface="Segoe UI"/>
              </a:rPr>
              <a:t>Oportunidades en </a:t>
            </a:r>
            <a:r>
              <a:rPr lang="es-ES" sz="1100" b="1" dirty="0" err="1">
                <a:solidFill>
                  <a:srgbClr val="0E337C"/>
                </a:solidFill>
                <a:latin typeface="Reddit Sans"/>
                <a:cs typeface="Segoe UI"/>
              </a:rPr>
              <a:t>Utilities</a:t>
            </a:r>
            <a:r>
              <a:rPr lang="es-ES" sz="1100" dirty="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s-ES" sz="1100" dirty="0" err="1">
                <a:solidFill>
                  <a:srgbClr val="444444"/>
                </a:solidFill>
                <a:latin typeface="Reddit Sans"/>
                <a:cs typeface="Segoe UI"/>
              </a:rPr>
              <a:t>Utilities</a:t>
            </a:r>
            <a:r>
              <a:rPr lang="es-ES" sz="1100" dirty="0">
                <a:solidFill>
                  <a:srgbClr val="444444"/>
                </a:solidFill>
                <a:latin typeface="Reddit Sans"/>
                <a:cs typeface="Segoe UI"/>
              </a:rPr>
              <a:t> operan 24/7, creando oportunidades para </a:t>
            </a:r>
            <a:r>
              <a:rPr lang="es-ES" sz="1100" dirty="0" err="1">
                <a:solidFill>
                  <a:srgbClr val="444444"/>
                </a:solidFill>
                <a:latin typeface="Reddit Sans"/>
                <a:cs typeface="Segoe UI"/>
              </a:rPr>
              <a:t>AIOps</a:t>
            </a:r>
            <a:r>
              <a:rPr lang="es-ES" sz="1100" dirty="0">
                <a:solidFill>
                  <a:srgbClr val="444444"/>
                </a:solidFill>
                <a:latin typeface="Reddit Sans"/>
                <a:cs typeface="Segoe UI"/>
              </a:rPr>
              <a:t> y </a:t>
            </a:r>
            <a:r>
              <a:rPr lang="es-ES" sz="1100" dirty="0" err="1">
                <a:solidFill>
                  <a:srgbClr val="444444"/>
                </a:solidFill>
                <a:latin typeface="Reddit Sans"/>
                <a:cs typeface="Segoe UI"/>
              </a:rPr>
              <a:t>observabilidad</a:t>
            </a:r>
            <a:r>
              <a:rPr lang="es-ES" sz="1100" dirty="0">
                <a:solidFill>
                  <a:srgbClr val="444444"/>
                </a:solidFill>
                <a:latin typeface="Reddit Sans"/>
                <a:cs typeface="Segoe UI"/>
              </a:rPr>
              <a:t> predictiva para mejorar operaciones críticas. </a:t>
            </a:r>
          </a:p>
          <a:p>
            <a:pPr>
              <a:lnSpc>
                <a:spcPct val="150000"/>
              </a:lnSpc>
            </a:pPr>
            <a:endParaRPr lang="es-ES" sz="700" dirty="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Empresas Medianas y Deuda Técnica </a:t>
            </a: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Empresas medianas enfrentan alta deuda técnica y baja madurez, lo que abre oportunidades para modernización rápida. </a:t>
            </a:r>
          </a:p>
          <a:p>
            <a:pPr>
              <a:lnSpc>
                <a:spcPct val="150000"/>
              </a:lnSpc>
            </a:pPr>
            <a:endParaRPr lang="es-ES" sz="700" dirty="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Retos en el Sector Salud </a:t>
            </a: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Salud requiere cumplimiento normativo, protección de datos y continuidad, exigiendo soluciones estandarizadas y trazables..</a:t>
            </a:r>
          </a:p>
          <a:p>
            <a:pPr>
              <a:lnSpc>
                <a:spcPct val="150000"/>
              </a:lnSpc>
            </a:pP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5466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Nivel de Madurez de las Mesas de Servicio – A dónde queremos llegar</a:t>
            </a:r>
          </a:p>
        </p:txBody>
      </p:sp>
      <p:sp>
        <p:nvSpPr>
          <p:cNvPr id="3" name="Subtitulo"/>
          <p:cNvSpPr txBox="1">
            <a:spLocks noGrp="1"/>
          </p:cNvSpPr>
          <p:nvPr>
            <p:ph type="subTitle" idx="4294967295"/>
          </p:nvPr>
        </p:nvSpPr>
        <p:spPr>
          <a:xfrm>
            <a:off x="239486" y="542698"/>
            <a:ext cx="6194199" cy="563790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s-ES" sz="1000"/>
              <a:t>ITIL v5 · Escala N1 a N5 · 4 dimensiones · 17 practicas a evaluar</a:t>
            </a:r>
          </a:p>
        </p:txBody>
      </p:sp>
      <p:sp>
        <p:nvSpPr>
          <p:cNvPr id="10" name="N1 box"/>
          <p:cNvSpPr txBox="1"/>
          <p:nvPr/>
        </p:nvSpPr>
        <p:spPr>
          <a:xfrm>
            <a:off x="457200" y="1371600"/>
            <a:ext cx="1371600" cy="914400"/>
          </a:xfrm>
          <a:prstGeom prst="rect">
            <a:avLst/>
          </a:prstGeom>
          <a:solidFill>
            <a:srgbClr val="FAECE7"/>
          </a:solidFill>
          <a:ln w="19050">
            <a:solidFill>
              <a:srgbClr val="D0021B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D0021B"/>
                </a:solidFill>
              </a:rPr>
              <a:t>N1</a:t>
            </a:r>
          </a:p>
          <a:p>
            <a:pPr algn="ctr">
              <a:buNone/>
            </a:pPr>
            <a:r>
              <a:rPr lang="es" sz="900" b="1">
                <a:solidFill>
                  <a:srgbClr val="D0021B"/>
                </a:solidFill>
              </a:rPr>
              <a:t>Inicial</a:t>
            </a:r>
          </a:p>
        </p:txBody>
      </p:sp>
      <p:sp>
        <p:nvSpPr>
          <p:cNvPr id="11" name="flecha1"/>
          <p:cNvSpPr txBox="1"/>
          <p:nvPr/>
        </p:nvSpPr>
        <p:spPr>
          <a:xfrm>
            <a:off x="1828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N2 box"/>
          <p:cNvSpPr txBox="1"/>
          <p:nvPr/>
        </p:nvSpPr>
        <p:spPr>
          <a:xfrm>
            <a:off x="2171700" y="1371600"/>
            <a:ext cx="1371600" cy="914400"/>
          </a:xfrm>
          <a:prstGeom prst="rect">
            <a:avLst/>
          </a:prstGeom>
          <a:solidFill>
            <a:srgbClr val="FAEEDA"/>
          </a:solidFill>
          <a:ln w="19050">
            <a:solidFill>
              <a:srgbClr val="EF9F27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633806"/>
                </a:solidFill>
              </a:rPr>
              <a:t>N2</a:t>
            </a:r>
          </a:p>
          <a:p>
            <a:pPr algn="ctr">
              <a:buNone/>
            </a:pPr>
            <a:r>
              <a:rPr lang="es" sz="900" b="1">
                <a:solidFill>
                  <a:srgbClr val="633806"/>
                </a:solidFill>
              </a:rPr>
              <a:t>Administrado</a:t>
            </a:r>
          </a:p>
        </p:txBody>
      </p:sp>
      <p:sp>
        <p:nvSpPr>
          <p:cNvPr id="13" name="flecha2"/>
          <p:cNvSpPr txBox="1"/>
          <p:nvPr/>
        </p:nvSpPr>
        <p:spPr>
          <a:xfrm>
            <a:off x="3543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N3 box"/>
          <p:cNvSpPr txBox="1"/>
          <p:nvPr/>
        </p:nvSpPr>
        <p:spPr>
          <a:xfrm>
            <a:off x="3886200" y="1371600"/>
            <a:ext cx="1371600" cy="914400"/>
          </a:xfrm>
          <a:prstGeom prst="rect">
            <a:avLst/>
          </a:prstGeom>
          <a:solidFill>
            <a:srgbClr val="E6F1FB"/>
          </a:solidFill>
          <a:ln w="28575">
            <a:solidFill>
              <a:srgbClr val="0E337C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E337C"/>
                </a:solidFill>
              </a:rPr>
              <a:t>N3 ★</a:t>
            </a:r>
          </a:p>
          <a:p>
            <a:pPr algn="ctr">
              <a:buNone/>
            </a:pPr>
            <a:r>
              <a:rPr lang="es" sz="900" b="1">
                <a:solidFill>
                  <a:srgbClr val="0E337C"/>
                </a:solidFill>
              </a:rPr>
              <a:t>Definido</a:t>
            </a:r>
          </a:p>
        </p:txBody>
      </p:sp>
      <p:sp>
        <p:nvSpPr>
          <p:cNvPr id="15" name="flecha3"/>
          <p:cNvSpPr txBox="1"/>
          <p:nvPr/>
        </p:nvSpPr>
        <p:spPr>
          <a:xfrm>
            <a:off x="5257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N4 box"/>
          <p:cNvSpPr txBox="1"/>
          <p:nvPr/>
        </p:nvSpPr>
        <p:spPr>
          <a:xfrm>
            <a:off x="5600700" y="1371600"/>
            <a:ext cx="1371600" cy="914400"/>
          </a:xfrm>
          <a:prstGeom prst="rect">
            <a:avLst/>
          </a:prstGeom>
          <a:solidFill>
            <a:srgbClr val="EEEDFE"/>
          </a:solidFill>
          <a:ln w="19050">
            <a:solidFill>
              <a:srgbClr val="3C3489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3C3489"/>
                </a:solidFill>
              </a:rPr>
              <a:t>N4</a:t>
            </a:r>
          </a:p>
          <a:p>
            <a:pPr algn="ctr">
              <a:buNone/>
            </a:pPr>
            <a:r>
              <a:rPr lang="es" sz="900" b="1">
                <a:solidFill>
                  <a:srgbClr val="3C3489"/>
                </a:solidFill>
              </a:rPr>
              <a:t>Cuantitativo</a:t>
            </a:r>
          </a:p>
        </p:txBody>
      </p:sp>
      <p:sp>
        <p:nvSpPr>
          <p:cNvPr id="17" name="flecha4"/>
          <p:cNvSpPr txBox="1"/>
          <p:nvPr/>
        </p:nvSpPr>
        <p:spPr>
          <a:xfrm>
            <a:off x="6972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N5 box"/>
          <p:cNvSpPr txBox="1"/>
          <p:nvPr/>
        </p:nvSpPr>
        <p:spPr>
          <a:xfrm>
            <a:off x="7315200" y="1371600"/>
            <a:ext cx="1371600" cy="914400"/>
          </a:xfrm>
          <a:prstGeom prst="rect">
            <a:avLst/>
          </a:prstGeom>
          <a:solidFill>
            <a:srgbClr val="E1F5EE"/>
          </a:solidFill>
          <a:ln w="57150">
            <a:solidFill>
              <a:srgbClr val="92D050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85041"/>
                </a:solidFill>
              </a:rPr>
              <a:t>N5</a:t>
            </a:r>
          </a:p>
          <a:p>
            <a:pPr algn="ctr">
              <a:buNone/>
            </a:pPr>
            <a:r>
              <a:rPr lang="es" sz="900" b="1">
                <a:solidFill>
                  <a:srgbClr val="085041"/>
                </a:solidFill>
              </a:rPr>
              <a:t>Optimizado</a:t>
            </a:r>
          </a:p>
        </p:txBody>
      </p:sp>
      <p:sp>
        <p:nvSpPr>
          <p:cNvPr id="20" name="desc N1"/>
          <p:cNvSpPr txBox="1"/>
          <p:nvPr/>
        </p:nvSpPr>
        <p:spPr>
          <a:xfrm>
            <a:off x="457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</a:pPr>
            <a:r>
              <a:rPr lang="es" sz="900">
                <a:solidFill>
                  <a:srgbClr val="666666"/>
                </a:solidFill>
              </a:rPr>
              <a:t>Reactivo total. Conocimiento en personas. Bus factor alto (rotación).</a:t>
            </a:r>
          </a:p>
        </p:txBody>
      </p:sp>
      <p:sp>
        <p:nvSpPr>
          <p:cNvPr id="21" name="desc N2"/>
          <p:cNvSpPr txBox="1"/>
          <p:nvPr/>
        </p:nvSpPr>
        <p:spPr>
          <a:xfrm>
            <a:off x="2171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Procesos por mesa. Herramienta como bitácora. Mínimo Mesa de Ayuda.</a:t>
            </a:r>
          </a:p>
        </p:txBody>
      </p:sp>
      <p:sp>
        <p:nvSpPr>
          <p:cNvPr id="22" name="desc N3"/>
          <p:cNvSpPr txBox="1"/>
          <p:nvPr/>
        </p:nvSpPr>
        <p:spPr>
          <a:xfrm>
            <a:off x="3886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 b="1">
                <a:solidFill>
                  <a:srgbClr val="0E337C"/>
                </a:solidFill>
              </a:rPr>
              <a:t>Estandarizado. RACI, ANS y catálogo. Mínimo Mesa de Soporte. </a:t>
            </a:r>
          </a:p>
        </p:txBody>
      </p:sp>
      <p:sp>
        <p:nvSpPr>
          <p:cNvPr id="23" name="desc N4"/>
          <p:cNvSpPr txBox="1"/>
          <p:nvPr/>
        </p:nvSpPr>
        <p:spPr>
          <a:xfrm>
            <a:off x="5600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Datos reales. KPIs medidos. Costo por ticket calculado.</a:t>
            </a:r>
          </a:p>
        </p:txBody>
      </p:sp>
      <p:sp>
        <p:nvSpPr>
          <p:cNvPr id="24" name="desc N5"/>
          <p:cNvSpPr txBox="1"/>
          <p:nvPr/>
        </p:nvSpPr>
        <p:spPr>
          <a:xfrm>
            <a:off x="7315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Mejora continua automatizada. </a:t>
            </a:r>
          </a:p>
        </p:txBody>
      </p:sp>
      <p:sp>
        <p:nvSpPr>
          <p:cNvPr id="30" name="modelo reactivo"/>
          <p:cNvSpPr txBox="1"/>
          <p:nvPr/>
        </p:nvSpPr>
        <p:spPr>
          <a:xfrm>
            <a:off x="457200" y="3543300"/>
            <a:ext cx="2742750" cy="457200"/>
          </a:xfrm>
          <a:prstGeom prst="rect">
            <a:avLst/>
          </a:prstGeom>
          <a:solidFill>
            <a:srgbClr val="FAEEDA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</a:rPr>
              <a:t>Reactivo y Crecimiento Automatizado</a:t>
            </a:r>
          </a:p>
        </p:txBody>
      </p:sp>
      <p:sp>
        <p:nvSpPr>
          <p:cNvPr id="31" name="modelo predictivo"/>
          <p:cNvSpPr txBox="1"/>
          <p:nvPr/>
        </p:nvSpPr>
        <p:spPr>
          <a:xfrm>
            <a:off x="3257550" y="3543300"/>
            <a:ext cx="2742750" cy="457200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</a:rPr>
              <a:t>Predictivo y Evolutivo</a:t>
            </a:r>
          </a:p>
        </p:txBody>
      </p:sp>
      <p:sp>
        <p:nvSpPr>
          <p:cNvPr id="32" name="modelo autonomo"/>
          <p:cNvSpPr txBox="1"/>
          <p:nvPr/>
        </p:nvSpPr>
        <p:spPr>
          <a:xfrm>
            <a:off x="6057900" y="3543300"/>
            <a:ext cx="2743500" cy="457200"/>
          </a:xfrm>
          <a:prstGeom prst="rect">
            <a:avLst/>
          </a:prstGeom>
          <a:solidFill>
            <a:srgbClr val="E1F5EE"/>
          </a:solidFill>
          <a:ln w="57150">
            <a:solidFill>
              <a:srgbClr val="92D050"/>
            </a:solidFill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85041"/>
                </a:solidFill>
              </a:rPr>
              <a:t>Autónomo e Inteligente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1AA56E4B-D6D8-65F3-C952-37A0C27F0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CCEE9CC7-872E-C3D2-EC82-3E23F2D992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 dirty="0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C6683957-388A-9E43-6E8E-841DDAB357F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4971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CO" sz="1400"/>
              <a:t>Mercado Actual</a:t>
            </a:r>
          </a:p>
        </p:txBody>
      </p:sp>
    </p:spTree>
    <p:extLst>
      <p:ext uri="{BB962C8B-B14F-4D97-AF65-F5344CB8AC3E}">
        <p14:creationId xmlns:p14="http://schemas.microsoft.com/office/powerpoint/2010/main" val="2787691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A2EAA-18D9-BDBE-9317-4753D3119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274E0D-ABBF-A4B9-7406-6475C9709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914" y="169498"/>
            <a:ext cx="8211000" cy="572700"/>
          </a:xfrm>
        </p:spPr>
        <p:txBody>
          <a:bodyPr>
            <a:normAutofit/>
          </a:bodyPr>
          <a:lstStyle/>
          <a:p>
            <a:r>
              <a:rPr lang="en-US" dirty="0"/>
              <a:t>El Mercado Global ITSM (</a:t>
            </a:r>
            <a:r>
              <a:rPr lang="en-US" err="1"/>
              <a:t>Gestión</a:t>
            </a:r>
            <a:r>
              <a:rPr lang="en-US" dirty="0"/>
              <a:t> Integral de </a:t>
            </a:r>
            <a:r>
              <a:rPr lang="en-US" err="1"/>
              <a:t>los</a:t>
            </a:r>
            <a:r>
              <a:rPr lang="en-US" dirty="0"/>
              <a:t> </a:t>
            </a:r>
            <a:r>
              <a:rPr lang="en-US" err="1"/>
              <a:t>Servicios</a:t>
            </a:r>
            <a:r>
              <a:rPr lang="en-US" dirty="0"/>
              <a:t> de TI)</a:t>
            </a:r>
            <a:endParaRPr lang="es-CO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69EFA54B-0C6E-CC1F-6102-BF57BF054D5D}"/>
              </a:ext>
            </a:extLst>
          </p:cNvPr>
          <p:cNvSpPr/>
          <p:nvPr/>
        </p:nvSpPr>
        <p:spPr>
          <a:xfrm>
            <a:off x="340500" y="871012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26CCEFE4-E344-F8FE-CB41-730931063E4F}"/>
              </a:ext>
            </a:extLst>
          </p:cNvPr>
          <p:cNvSpPr/>
          <p:nvPr/>
        </p:nvSpPr>
        <p:spPr>
          <a:xfrm>
            <a:off x="450228" y="962452"/>
            <a:ext cx="1746504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3A8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USD 11.4B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FE9E3C38-771F-BF17-FE48-98AA587E6AEC}"/>
              </a:ext>
            </a:extLst>
          </p:cNvPr>
          <p:cNvSpPr/>
          <p:nvPr/>
        </p:nvSpPr>
        <p:spPr>
          <a:xfrm>
            <a:off x="431940" y="164002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Mercado global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ITSM 2024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13A6F50A-9917-8EB1-C785-92E609FCA687}"/>
              </a:ext>
            </a:extLst>
          </p:cNvPr>
          <p:cNvSpPr/>
          <p:nvPr/>
        </p:nvSpPr>
        <p:spPr>
          <a:xfrm>
            <a:off x="2471052" y="871012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52C5DADE-6707-312B-213E-564F79261980}"/>
              </a:ext>
            </a:extLst>
          </p:cNvPr>
          <p:cNvSpPr/>
          <p:nvPr/>
        </p:nvSpPr>
        <p:spPr>
          <a:xfrm>
            <a:off x="2580780" y="962452"/>
            <a:ext cx="1746504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6FBA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+14%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F6B9BC75-329F-AA07-8B47-C5F853FEC8EF}"/>
              </a:ext>
            </a:extLst>
          </p:cNvPr>
          <p:cNvSpPr/>
          <p:nvPr/>
        </p:nvSpPr>
        <p:spPr>
          <a:xfrm>
            <a:off x="2562492" y="164002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Crecimiento anual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(CAGR global)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42786A4F-AC35-AFFE-B28D-07F8CD08ACB6}"/>
              </a:ext>
            </a:extLst>
          </p:cNvPr>
          <p:cNvSpPr/>
          <p:nvPr/>
        </p:nvSpPr>
        <p:spPr>
          <a:xfrm>
            <a:off x="4601604" y="871012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76EC807C-5AD0-599D-8C56-6686748BE528}"/>
              </a:ext>
            </a:extLst>
          </p:cNvPr>
          <p:cNvSpPr/>
          <p:nvPr/>
        </p:nvSpPr>
        <p:spPr>
          <a:xfrm>
            <a:off x="4711332" y="962452"/>
            <a:ext cx="1746504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USD 108M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960A0036-A4FA-B57E-7424-E1DE12395481}"/>
              </a:ext>
            </a:extLst>
          </p:cNvPr>
          <p:cNvSpPr/>
          <p:nvPr/>
        </p:nvSpPr>
        <p:spPr>
          <a:xfrm>
            <a:off x="4693044" y="164002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Mercado ITSM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Colombia 2026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5D8E8711-2BB8-0323-42AF-EC0016C1D3AD}"/>
              </a:ext>
            </a:extLst>
          </p:cNvPr>
          <p:cNvSpPr/>
          <p:nvPr/>
        </p:nvSpPr>
        <p:spPr>
          <a:xfrm>
            <a:off x="6732156" y="871012"/>
            <a:ext cx="1965960" cy="1325880"/>
          </a:xfrm>
          <a:prstGeom prst="roundRect">
            <a:avLst>
              <a:gd name="adj" fmla="val 5517"/>
            </a:avLst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88B1F5BF-D7D8-8C80-97A3-3A2813CBAB99}"/>
              </a:ext>
            </a:extLst>
          </p:cNvPr>
          <p:cNvSpPr/>
          <p:nvPr/>
        </p:nvSpPr>
        <p:spPr>
          <a:xfrm>
            <a:off x="6841884" y="962452"/>
            <a:ext cx="1746504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14.08%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09B1A052-83F6-6F1E-5456-AAB70A824504}"/>
              </a:ext>
            </a:extLst>
          </p:cNvPr>
          <p:cNvSpPr/>
          <p:nvPr/>
        </p:nvSpPr>
        <p:spPr>
          <a:xfrm>
            <a:off x="6731066" y="1427751"/>
            <a:ext cx="1864723" cy="5303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n-US" sz="1000" dirty="0">
                <a:solidFill>
                  <a:srgbClr val="6B7280"/>
                </a:solidFill>
                <a:latin typeface="Reddit Sans"/>
                <a:ea typeface="Reddit Sans"/>
                <a:cs typeface="Calibri"/>
              </a:rPr>
              <a:t>CAGR </a:t>
            </a:r>
            <a:r>
              <a:rPr lang="en-US" sz="700" dirty="0">
                <a:solidFill>
                  <a:srgbClr val="6B7280"/>
                </a:solidFill>
                <a:latin typeface="Reddit Sans"/>
                <a:ea typeface="Reddit Sans"/>
                <a:cs typeface="Calibri"/>
              </a:rPr>
              <a:t>(Tasa de </a:t>
            </a:r>
            <a:r>
              <a:rPr lang="en-US" sz="700" dirty="0" err="1">
                <a:solidFill>
                  <a:srgbClr val="6B7280"/>
                </a:solidFill>
                <a:latin typeface="Reddit Sans"/>
                <a:ea typeface="Reddit Sans"/>
                <a:cs typeface="Calibri"/>
              </a:rPr>
              <a:t>crecimiento</a:t>
            </a:r>
            <a:r>
              <a:rPr lang="en-US" sz="700" dirty="0">
                <a:solidFill>
                  <a:srgbClr val="6B7280"/>
                </a:solidFill>
                <a:latin typeface="Reddit Sans"/>
                <a:ea typeface="Reddit Sans"/>
                <a:cs typeface="Calibri"/>
              </a:rPr>
              <a:t> </a:t>
            </a:r>
            <a:r>
              <a:rPr lang="en-US" sz="700" dirty="0" err="1">
                <a:solidFill>
                  <a:srgbClr val="6B7280"/>
                </a:solidFill>
                <a:latin typeface="Reddit Sans"/>
                <a:ea typeface="Reddit Sans"/>
                <a:cs typeface="Calibri"/>
              </a:rPr>
              <a:t>anual</a:t>
            </a:r>
            <a:r>
              <a:rPr lang="en-US" sz="700" dirty="0">
                <a:solidFill>
                  <a:srgbClr val="6B7280"/>
                </a:solidFill>
                <a:latin typeface="Reddit Sans"/>
                <a:ea typeface="Reddit Sans"/>
                <a:cs typeface="Calibri"/>
              </a:rPr>
              <a:t> </a:t>
            </a:r>
            <a:r>
              <a:rPr lang="en-US" sz="700" dirty="0" err="1">
                <a:solidFill>
                  <a:srgbClr val="6B7280"/>
                </a:solidFill>
                <a:latin typeface="Reddit Sans"/>
                <a:ea typeface="Reddit Sans"/>
                <a:cs typeface="Calibri"/>
              </a:rPr>
              <a:t>compuesta</a:t>
            </a:r>
            <a:r>
              <a:rPr lang="en-US" sz="700" dirty="0">
                <a:solidFill>
                  <a:srgbClr val="6B7280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dirty="0">
                <a:solidFill>
                  <a:srgbClr val="6B7280"/>
                </a:solidFill>
                <a:latin typeface="Reddit Sans"/>
                <a:ea typeface="Reddit Sans"/>
                <a:cs typeface="Calibri"/>
              </a:rPr>
              <a:t>Colombia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hasta 2031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768006AD-C857-B240-DF38-559E8DC555DC}"/>
              </a:ext>
            </a:extLst>
          </p:cNvPr>
          <p:cNvSpPr/>
          <p:nvPr/>
        </p:nvSpPr>
        <p:spPr>
          <a:xfrm>
            <a:off x="235338" y="4628308"/>
            <a:ext cx="8595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Mordor Intelligence — ITSM Market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Grand View Research — Latin America ITSM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 ·  </a:t>
            </a:r>
            <a:r>
              <a:rPr lang="en-US" sz="750" u="sng" dirty="0" err="1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Superfinanciera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Colombia — Circular 007</a:t>
            </a:r>
            <a:endParaRPr lang="en-US" sz="750">
              <a:highlight>
                <a:srgbClr val="FFFF00"/>
              </a:highlight>
              <a:latin typeface="Reddit Sans"/>
              <a:ea typeface="Reddit Sans"/>
              <a:cs typeface="Calibri"/>
            </a:endParaRPr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61E76BB6-F317-62A8-60EB-33F2E58A0F71}"/>
              </a:ext>
            </a:extLst>
          </p:cNvPr>
          <p:cNvSpPr/>
          <p:nvPr/>
        </p:nvSpPr>
        <p:spPr>
          <a:xfrm>
            <a:off x="271914" y="46956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Tamano, crecimiento y oportunidad en Colombia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2" name="thdr">
            <a:extLst>
              <a:ext uri="{FF2B5EF4-FFF2-40B4-BE49-F238E27FC236}">
                <a16:creationId xmlns:a16="http://schemas.microsoft.com/office/drawing/2014/main" id="{9E82202C-1B41-F146-37EF-03785FC38950}"/>
              </a:ext>
            </a:extLst>
          </p:cNvPr>
          <p:cNvSpPr>
            <a:spLocks noGrp="1"/>
          </p:cNvSpPr>
          <p:nvPr/>
        </p:nvSpPr>
        <p:spPr>
          <a:xfrm>
            <a:off x="365760" y="2630642"/>
            <a:ext cx="5020492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44" name="th">
            <a:extLst>
              <a:ext uri="{FF2B5EF4-FFF2-40B4-BE49-F238E27FC236}">
                <a16:creationId xmlns:a16="http://schemas.microsoft.com/office/drawing/2014/main" id="{74C25C71-930E-6617-0560-EDF61867C1EF}"/>
              </a:ext>
            </a:extLst>
          </p:cNvPr>
          <p:cNvSpPr txBox="1">
            <a:spLocks noGrp="1"/>
          </p:cNvSpPr>
          <p:nvPr/>
        </p:nvSpPr>
        <p:spPr>
          <a:xfrm>
            <a:off x="365760" y="2630642"/>
            <a:ext cx="145433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50" b="1" dirty="0">
                <a:solidFill>
                  <a:srgbClr val="FFFFFF"/>
                </a:solidFill>
                <a:latin typeface="Reddit Sans Light"/>
              </a:rPr>
              <a:t>Región</a:t>
            </a:r>
          </a:p>
        </p:txBody>
      </p:sp>
      <p:sp>
        <p:nvSpPr>
          <p:cNvPr id="46" name="th">
            <a:extLst>
              <a:ext uri="{FF2B5EF4-FFF2-40B4-BE49-F238E27FC236}">
                <a16:creationId xmlns:a16="http://schemas.microsoft.com/office/drawing/2014/main" id="{CE246457-BA30-C55C-3BA3-517AD299C2A5}"/>
              </a:ext>
            </a:extLst>
          </p:cNvPr>
          <p:cNvSpPr txBox="1">
            <a:spLocks noGrp="1"/>
          </p:cNvSpPr>
          <p:nvPr/>
        </p:nvSpPr>
        <p:spPr>
          <a:xfrm>
            <a:off x="1694906" y="2630642"/>
            <a:ext cx="12725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50" b="1" dirty="0">
                <a:solidFill>
                  <a:srgbClr val="FFFFFF"/>
                </a:solidFill>
                <a:latin typeface="Reddit Sans Light"/>
              </a:rPr>
              <a:t>Tamaño 2024-2026</a:t>
            </a:r>
          </a:p>
        </p:txBody>
      </p:sp>
      <p:sp>
        <p:nvSpPr>
          <p:cNvPr id="48" name="th">
            <a:extLst>
              <a:ext uri="{FF2B5EF4-FFF2-40B4-BE49-F238E27FC236}">
                <a16:creationId xmlns:a16="http://schemas.microsoft.com/office/drawing/2014/main" id="{99E37F24-7565-BD28-BA96-24B25D1B109E}"/>
              </a:ext>
            </a:extLst>
          </p:cNvPr>
          <p:cNvSpPr txBox="1">
            <a:spLocks noGrp="1"/>
          </p:cNvSpPr>
          <p:nvPr/>
        </p:nvSpPr>
        <p:spPr>
          <a:xfrm>
            <a:off x="3027317" y="2630642"/>
            <a:ext cx="1331323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50" b="1" dirty="0">
                <a:solidFill>
                  <a:srgbClr val="FFFFFF"/>
                </a:solidFill>
                <a:latin typeface="Reddit Sans Light"/>
              </a:rPr>
              <a:t>Proyección</a:t>
            </a:r>
          </a:p>
        </p:txBody>
      </p:sp>
      <p:sp>
        <p:nvSpPr>
          <p:cNvPr id="50" name="th">
            <a:extLst>
              <a:ext uri="{FF2B5EF4-FFF2-40B4-BE49-F238E27FC236}">
                <a16:creationId xmlns:a16="http://schemas.microsoft.com/office/drawing/2014/main" id="{628D6CFD-6F32-F6A1-A560-1757FEBD3694}"/>
              </a:ext>
            </a:extLst>
          </p:cNvPr>
          <p:cNvSpPr txBox="1">
            <a:spLocks noGrp="1"/>
          </p:cNvSpPr>
          <p:nvPr/>
        </p:nvSpPr>
        <p:spPr>
          <a:xfrm>
            <a:off x="4353197" y="2630642"/>
            <a:ext cx="9677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50" b="1" dirty="0">
                <a:solidFill>
                  <a:srgbClr val="FFFFFF"/>
                </a:solidFill>
                <a:latin typeface="Reddit Sans Light"/>
              </a:rPr>
              <a:t>CAGR</a:t>
            </a:r>
          </a:p>
        </p:txBody>
      </p:sp>
      <p:sp>
        <p:nvSpPr>
          <p:cNvPr id="52" name="rbg">
            <a:extLst>
              <a:ext uri="{FF2B5EF4-FFF2-40B4-BE49-F238E27FC236}">
                <a16:creationId xmlns:a16="http://schemas.microsoft.com/office/drawing/2014/main" id="{A644AA6C-7826-D177-E2D7-2D9C057F6A07}"/>
              </a:ext>
            </a:extLst>
          </p:cNvPr>
          <p:cNvSpPr>
            <a:spLocks noGrp="1"/>
          </p:cNvSpPr>
          <p:nvPr/>
        </p:nvSpPr>
        <p:spPr>
          <a:xfrm>
            <a:off x="365760" y="2996402"/>
            <a:ext cx="5020492" cy="384048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54" name="rc">
            <a:extLst>
              <a:ext uri="{FF2B5EF4-FFF2-40B4-BE49-F238E27FC236}">
                <a16:creationId xmlns:a16="http://schemas.microsoft.com/office/drawing/2014/main" id="{45668545-C3A1-4CD9-44DE-0472AA7B4C54}"/>
              </a:ext>
            </a:extLst>
          </p:cNvPr>
          <p:cNvSpPr txBox="1">
            <a:spLocks noGrp="1"/>
          </p:cNvSpPr>
          <p:nvPr/>
        </p:nvSpPr>
        <p:spPr>
          <a:xfrm>
            <a:off x="365760" y="2996402"/>
            <a:ext cx="145433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dirty="0">
                <a:solidFill>
                  <a:srgbClr val="333333"/>
                </a:solidFill>
                <a:latin typeface="Reddit Sans Light"/>
              </a:rPr>
              <a:t>América Latina</a:t>
            </a:r>
          </a:p>
        </p:txBody>
      </p:sp>
      <p:sp>
        <p:nvSpPr>
          <p:cNvPr id="56" name="rc">
            <a:extLst>
              <a:ext uri="{FF2B5EF4-FFF2-40B4-BE49-F238E27FC236}">
                <a16:creationId xmlns:a16="http://schemas.microsoft.com/office/drawing/2014/main" id="{EC82CBD1-1A18-0DAE-842C-6CFDBF22D417}"/>
              </a:ext>
            </a:extLst>
          </p:cNvPr>
          <p:cNvSpPr txBox="1">
            <a:spLocks noGrp="1"/>
          </p:cNvSpPr>
          <p:nvPr/>
        </p:nvSpPr>
        <p:spPr>
          <a:xfrm>
            <a:off x="1694906" y="2996402"/>
            <a:ext cx="12725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dirty="0">
                <a:solidFill>
                  <a:srgbClr val="333333"/>
                </a:solidFill>
                <a:latin typeface="Reddit Sans Light"/>
              </a:rPr>
              <a:t>USD 1.8 billones</a:t>
            </a:r>
          </a:p>
        </p:txBody>
      </p:sp>
      <p:sp>
        <p:nvSpPr>
          <p:cNvPr id="58" name="rc">
            <a:extLst>
              <a:ext uri="{FF2B5EF4-FFF2-40B4-BE49-F238E27FC236}">
                <a16:creationId xmlns:a16="http://schemas.microsoft.com/office/drawing/2014/main" id="{22A964C5-1C34-9A4D-5924-733845377424}"/>
              </a:ext>
            </a:extLst>
          </p:cNvPr>
          <p:cNvSpPr txBox="1">
            <a:spLocks noGrp="1"/>
          </p:cNvSpPr>
          <p:nvPr/>
        </p:nvSpPr>
        <p:spPr>
          <a:xfrm>
            <a:off x="3027317" y="2996402"/>
            <a:ext cx="1331323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dirty="0">
                <a:solidFill>
                  <a:srgbClr val="333333"/>
                </a:solidFill>
                <a:latin typeface="Reddit Sans Light"/>
              </a:rPr>
              <a:t>USD 2.5B (2028)</a:t>
            </a:r>
          </a:p>
        </p:txBody>
      </p:sp>
      <p:sp>
        <p:nvSpPr>
          <p:cNvPr id="60" name="rc">
            <a:extLst>
              <a:ext uri="{FF2B5EF4-FFF2-40B4-BE49-F238E27FC236}">
                <a16:creationId xmlns:a16="http://schemas.microsoft.com/office/drawing/2014/main" id="{690AEA1A-5863-4B56-158B-9F571B41A90C}"/>
              </a:ext>
            </a:extLst>
          </p:cNvPr>
          <p:cNvSpPr txBox="1">
            <a:spLocks noGrp="1"/>
          </p:cNvSpPr>
          <p:nvPr/>
        </p:nvSpPr>
        <p:spPr>
          <a:xfrm>
            <a:off x="4353197" y="2996402"/>
            <a:ext cx="9677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dirty="0">
                <a:solidFill>
                  <a:srgbClr val="333333"/>
                </a:solidFill>
                <a:latin typeface="Reddit Sans Light"/>
              </a:rPr>
              <a:t>12%</a:t>
            </a:r>
          </a:p>
        </p:txBody>
      </p:sp>
      <p:sp>
        <p:nvSpPr>
          <p:cNvPr id="62" name="rbg">
            <a:extLst>
              <a:ext uri="{FF2B5EF4-FFF2-40B4-BE49-F238E27FC236}">
                <a16:creationId xmlns:a16="http://schemas.microsoft.com/office/drawing/2014/main" id="{1DAA1D3C-AFD2-75C0-BD38-3013967B4044}"/>
              </a:ext>
            </a:extLst>
          </p:cNvPr>
          <p:cNvSpPr>
            <a:spLocks noGrp="1"/>
          </p:cNvSpPr>
          <p:nvPr/>
        </p:nvSpPr>
        <p:spPr>
          <a:xfrm>
            <a:off x="365760" y="3380450"/>
            <a:ext cx="502049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64" name="rc">
            <a:extLst>
              <a:ext uri="{FF2B5EF4-FFF2-40B4-BE49-F238E27FC236}">
                <a16:creationId xmlns:a16="http://schemas.microsoft.com/office/drawing/2014/main" id="{9F6AABBE-17EA-7FAC-A723-68D91DB6376A}"/>
              </a:ext>
            </a:extLst>
          </p:cNvPr>
          <p:cNvSpPr txBox="1">
            <a:spLocks noGrp="1"/>
          </p:cNvSpPr>
          <p:nvPr/>
        </p:nvSpPr>
        <p:spPr>
          <a:xfrm>
            <a:off x="365760" y="3380450"/>
            <a:ext cx="145433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dirty="0">
                <a:solidFill>
                  <a:srgbClr val="333333"/>
                </a:solidFill>
                <a:latin typeface="Reddit Sans Light"/>
              </a:rPr>
              <a:t>Sudamérica</a:t>
            </a:r>
          </a:p>
        </p:txBody>
      </p:sp>
      <p:sp>
        <p:nvSpPr>
          <p:cNvPr id="66" name="rc">
            <a:extLst>
              <a:ext uri="{FF2B5EF4-FFF2-40B4-BE49-F238E27FC236}">
                <a16:creationId xmlns:a16="http://schemas.microsoft.com/office/drawing/2014/main" id="{5D7EED7A-990A-92B0-A382-C6360330ECFD}"/>
              </a:ext>
            </a:extLst>
          </p:cNvPr>
          <p:cNvSpPr txBox="1">
            <a:spLocks noGrp="1"/>
          </p:cNvSpPr>
          <p:nvPr/>
        </p:nvSpPr>
        <p:spPr>
          <a:xfrm>
            <a:off x="1694906" y="3380450"/>
            <a:ext cx="12725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dirty="0">
                <a:solidFill>
                  <a:srgbClr val="333333"/>
                </a:solidFill>
                <a:latin typeface="Reddit Sans Light"/>
              </a:rPr>
              <a:t>USD 0.52 billones</a:t>
            </a:r>
          </a:p>
        </p:txBody>
      </p:sp>
      <p:sp>
        <p:nvSpPr>
          <p:cNvPr id="68" name="rc">
            <a:extLst>
              <a:ext uri="{FF2B5EF4-FFF2-40B4-BE49-F238E27FC236}">
                <a16:creationId xmlns:a16="http://schemas.microsoft.com/office/drawing/2014/main" id="{A5DFDB6A-3BF3-5788-756A-E8552A251EE1}"/>
              </a:ext>
            </a:extLst>
          </p:cNvPr>
          <p:cNvSpPr txBox="1">
            <a:spLocks noGrp="1"/>
          </p:cNvSpPr>
          <p:nvPr/>
        </p:nvSpPr>
        <p:spPr>
          <a:xfrm>
            <a:off x="3027317" y="3380450"/>
            <a:ext cx="1331323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dirty="0">
                <a:solidFill>
                  <a:srgbClr val="333333"/>
                </a:solidFill>
                <a:latin typeface="Reddit Sans Light"/>
              </a:rPr>
              <a:t>USD 1.26B (2031)</a:t>
            </a:r>
          </a:p>
        </p:txBody>
      </p:sp>
      <p:sp>
        <p:nvSpPr>
          <p:cNvPr id="70" name="rc">
            <a:extLst>
              <a:ext uri="{FF2B5EF4-FFF2-40B4-BE49-F238E27FC236}">
                <a16:creationId xmlns:a16="http://schemas.microsoft.com/office/drawing/2014/main" id="{1A6A4858-DC02-0D93-0975-E4E1297130CC}"/>
              </a:ext>
            </a:extLst>
          </p:cNvPr>
          <p:cNvSpPr txBox="1">
            <a:spLocks noGrp="1"/>
          </p:cNvSpPr>
          <p:nvPr/>
        </p:nvSpPr>
        <p:spPr>
          <a:xfrm>
            <a:off x="4353197" y="3380450"/>
            <a:ext cx="9677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dirty="0">
                <a:solidFill>
                  <a:srgbClr val="333333"/>
                </a:solidFill>
                <a:latin typeface="Reddit Sans Light"/>
              </a:rPr>
              <a:t>16%</a:t>
            </a:r>
          </a:p>
        </p:txBody>
      </p:sp>
      <p:sp>
        <p:nvSpPr>
          <p:cNvPr id="72" name="rbg">
            <a:extLst>
              <a:ext uri="{FF2B5EF4-FFF2-40B4-BE49-F238E27FC236}">
                <a16:creationId xmlns:a16="http://schemas.microsoft.com/office/drawing/2014/main" id="{8D556E55-5643-8097-8D6E-0E1741096796}"/>
              </a:ext>
            </a:extLst>
          </p:cNvPr>
          <p:cNvSpPr>
            <a:spLocks noGrp="1"/>
          </p:cNvSpPr>
          <p:nvPr/>
        </p:nvSpPr>
        <p:spPr>
          <a:xfrm>
            <a:off x="365760" y="3764498"/>
            <a:ext cx="5020492" cy="384048"/>
          </a:xfrm>
          <a:prstGeom prst="rect">
            <a:avLst/>
          </a:prstGeom>
          <a:solidFill>
            <a:srgbClr val="E8F4FF"/>
          </a:solidFill>
          <a:ln w="6350">
            <a:solidFill>
              <a:srgbClr val="D1D5DB"/>
            </a:solidFill>
          </a:ln>
        </p:spPr>
      </p:sp>
      <p:sp>
        <p:nvSpPr>
          <p:cNvPr id="74" name="rc">
            <a:extLst>
              <a:ext uri="{FF2B5EF4-FFF2-40B4-BE49-F238E27FC236}">
                <a16:creationId xmlns:a16="http://schemas.microsoft.com/office/drawing/2014/main" id="{B3AE7870-50E2-1835-2E1D-6F5A9257926C}"/>
              </a:ext>
            </a:extLst>
          </p:cNvPr>
          <p:cNvSpPr txBox="1">
            <a:spLocks noGrp="1"/>
          </p:cNvSpPr>
          <p:nvPr/>
        </p:nvSpPr>
        <p:spPr>
          <a:xfrm>
            <a:off x="365760" y="3764498"/>
            <a:ext cx="145433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 dirty="0">
                <a:solidFill>
                  <a:srgbClr val="0D1B5E"/>
                </a:solidFill>
                <a:latin typeface="Reddit Sans Light"/>
              </a:rPr>
              <a:t>Colombia ★</a:t>
            </a:r>
          </a:p>
        </p:txBody>
      </p:sp>
      <p:sp>
        <p:nvSpPr>
          <p:cNvPr id="76" name="rc">
            <a:extLst>
              <a:ext uri="{FF2B5EF4-FFF2-40B4-BE49-F238E27FC236}">
                <a16:creationId xmlns:a16="http://schemas.microsoft.com/office/drawing/2014/main" id="{46D8D741-A4A7-7529-9F95-C8B5BE82260D}"/>
              </a:ext>
            </a:extLst>
          </p:cNvPr>
          <p:cNvSpPr txBox="1">
            <a:spLocks noGrp="1"/>
          </p:cNvSpPr>
          <p:nvPr/>
        </p:nvSpPr>
        <p:spPr>
          <a:xfrm>
            <a:off x="1694906" y="3764498"/>
            <a:ext cx="12725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 dirty="0">
                <a:solidFill>
                  <a:srgbClr val="0D1B5E"/>
                </a:solidFill>
                <a:latin typeface="Reddit Sans Light"/>
              </a:rPr>
              <a:t>USD 108.5M (2026)</a:t>
            </a:r>
          </a:p>
        </p:txBody>
      </p:sp>
      <p:sp>
        <p:nvSpPr>
          <p:cNvPr id="78" name="rc">
            <a:extLst>
              <a:ext uri="{FF2B5EF4-FFF2-40B4-BE49-F238E27FC236}">
                <a16:creationId xmlns:a16="http://schemas.microsoft.com/office/drawing/2014/main" id="{45BA2C43-2A9E-9276-E9FA-F28600200AE6}"/>
              </a:ext>
            </a:extLst>
          </p:cNvPr>
          <p:cNvSpPr txBox="1">
            <a:spLocks noGrp="1"/>
          </p:cNvSpPr>
          <p:nvPr/>
        </p:nvSpPr>
        <p:spPr>
          <a:xfrm>
            <a:off x="3027317" y="3764498"/>
            <a:ext cx="1331323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 dirty="0">
                <a:solidFill>
                  <a:srgbClr val="0D1B5E"/>
                </a:solidFill>
                <a:latin typeface="Reddit Sans Light"/>
              </a:rPr>
              <a:t>USD 209.7M (2031)</a:t>
            </a:r>
          </a:p>
        </p:txBody>
      </p:sp>
      <p:sp>
        <p:nvSpPr>
          <p:cNvPr id="80" name="rc">
            <a:extLst>
              <a:ext uri="{FF2B5EF4-FFF2-40B4-BE49-F238E27FC236}">
                <a16:creationId xmlns:a16="http://schemas.microsoft.com/office/drawing/2014/main" id="{626206F5-2D5C-AE78-36C9-206FF1FC93AC}"/>
              </a:ext>
            </a:extLst>
          </p:cNvPr>
          <p:cNvSpPr txBox="1">
            <a:spLocks noGrp="1"/>
          </p:cNvSpPr>
          <p:nvPr/>
        </p:nvSpPr>
        <p:spPr>
          <a:xfrm>
            <a:off x="4353197" y="3764498"/>
            <a:ext cx="9677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 dirty="0">
                <a:solidFill>
                  <a:srgbClr val="0D1B5E"/>
                </a:solidFill>
                <a:latin typeface="Reddit Sans Light"/>
              </a:rPr>
              <a:t>14.08%</a:t>
            </a:r>
          </a:p>
        </p:txBody>
      </p:sp>
      <p:sp>
        <p:nvSpPr>
          <p:cNvPr id="82" name="ibg">
            <a:extLst>
              <a:ext uri="{FF2B5EF4-FFF2-40B4-BE49-F238E27FC236}">
                <a16:creationId xmlns:a16="http://schemas.microsoft.com/office/drawing/2014/main" id="{9B306A66-761E-906B-71FF-43EEF69D22E1}"/>
              </a:ext>
            </a:extLst>
          </p:cNvPr>
          <p:cNvSpPr>
            <a:spLocks noGrp="1"/>
          </p:cNvSpPr>
          <p:nvPr/>
        </p:nvSpPr>
        <p:spPr>
          <a:xfrm>
            <a:off x="5547360" y="2655461"/>
            <a:ext cx="3360420" cy="1621100"/>
          </a:xfrm>
          <a:prstGeom prst="roundRect">
            <a:avLst>
              <a:gd name="adj" fmla="val 15000"/>
            </a:avLst>
          </a:prstGeom>
          <a:solidFill>
            <a:srgbClr val="EBF5FF"/>
          </a:solidFill>
          <a:ln w="15875">
            <a:solidFill>
              <a:srgbClr val="1F6FBA"/>
            </a:solidFill>
          </a:ln>
        </p:spPr>
      </p:sp>
      <p:sp>
        <p:nvSpPr>
          <p:cNvPr id="84" name="it1">
            <a:extLst>
              <a:ext uri="{FF2B5EF4-FFF2-40B4-BE49-F238E27FC236}">
                <a16:creationId xmlns:a16="http://schemas.microsoft.com/office/drawing/2014/main" id="{2CFCBED3-2CB4-29A4-145F-C943E2C81566}"/>
              </a:ext>
            </a:extLst>
          </p:cNvPr>
          <p:cNvSpPr txBox="1">
            <a:spLocks noGrp="1"/>
          </p:cNvSpPr>
          <p:nvPr/>
        </p:nvSpPr>
        <p:spPr>
          <a:xfrm>
            <a:off x="5673634" y="2806555"/>
            <a:ext cx="3238500" cy="6611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r>
              <a:rPr lang="es-ES" sz="1050" b="1" dirty="0">
                <a:solidFill>
                  <a:srgbClr val="0D1B5E"/>
                </a:solidFill>
                <a:latin typeface="Reddit Sans Light"/>
              </a:rPr>
              <a:t>★  9.8% CAGR IT </a:t>
            </a:r>
            <a:r>
              <a:rPr lang="es-ES" sz="1050" b="1" dirty="0" err="1">
                <a:solidFill>
                  <a:srgbClr val="0D1B5E"/>
                </a:solidFill>
                <a:latin typeface="Reddit Sans Light"/>
              </a:rPr>
              <a:t>Services</a:t>
            </a:r>
            <a:r>
              <a:rPr lang="es-ES" sz="1050" b="1" dirty="0">
                <a:solidFill>
                  <a:srgbClr val="0D1B5E"/>
                </a:solidFill>
                <a:latin typeface="Reddit Sans Light"/>
              </a:rPr>
              <a:t>: El más alto de Sudamérica      </a:t>
            </a:r>
            <a:endParaRPr lang="es-ES"/>
          </a:p>
          <a:p>
            <a:r>
              <a:rPr lang="es-ES" sz="1050" b="1">
                <a:solidFill>
                  <a:srgbClr val="0D1B5E"/>
                </a:solidFill>
                <a:latin typeface="Reddit Sans Light"/>
              </a:rPr>
              <a:t>★  81% de la banca colombiana ya usa IA      </a:t>
            </a:r>
            <a:endParaRPr lang="es-ES"/>
          </a:p>
          <a:p>
            <a:r>
              <a:rPr lang="es-ES" sz="1050" b="1">
                <a:solidFill>
                  <a:srgbClr val="0D1B5E"/>
                </a:solidFill>
                <a:latin typeface="Reddit Sans Light"/>
              </a:rPr>
              <a:t>★  </a:t>
            </a:r>
            <a:r>
              <a:rPr lang="es-ES" sz="1050" b="1" dirty="0">
                <a:solidFill>
                  <a:srgbClr val="0D1B5E"/>
                </a:solidFill>
                <a:latin typeface="Reddit Sans Light"/>
              </a:rPr>
              <a:t>Colombia lidera el crecimiento</a:t>
            </a:r>
            <a:endParaRPr lang="es-ES"/>
          </a:p>
        </p:txBody>
      </p:sp>
      <p:sp>
        <p:nvSpPr>
          <p:cNvPr id="86" name="it2">
            <a:extLst>
              <a:ext uri="{FF2B5EF4-FFF2-40B4-BE49-F238E27FC236}">
                <a16:creationId xmlns:a16="http://schemas.microsoft.com/office/drawing/2014/main" id="{3E825E28-8C17-2746-A4D6-71FAAA814A01}"/>
              </a:ext>
            </a:extLst>
          </p:cNvPr>
          <p:cNvSpPr txBox="1">
            <a:spLocks noGrp="1"/>
          </p:cNvSpPr>
          <p:nvPr/>
        </p:nvSpPr>
        <p:spPr>
          <a:xfrm>
            <a:off x="5673634" y="3516957"/>
            <a:ext cx="2901043" cy="62658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r>
              <a:rPr lang="es-ES" sz="950" dirty="0">
                <a:solidFill>
                  <a:srgbClr val="1A3A8F"/>
                </a:solidFill>
                <a:latin typeface="Reddit Sans Light"/>
              </a:rPr>
              <a:t>★  Servicios crecen más rápido que software      </a:t>
            </a:r>
            <a:endParaRPr lang="es-ES"/>
          </a:p>
          <a:p>
            <a:r>
              <a:rPr lang="es-ES" sz="950">
                <a:solidFill>
                  <a:srgbClr val="1A3A8F"/>
                </a:solidFill>
                <a:latin typeface="Reddit Sans Light"/>
              </a:rPr>
              <a:t>★  Aranda: </a:t>
            </a:r>
            <a:r>
              <a:rPr lang="es-ES" sz="950" dirty="0">
                <a:solidFill>
                  <a:srgbClr val="1A3A8F"/>
                </a:solidFill>
                <a:latin typeface="Reddit Sans Light"/>
              </a:rPr>
              <a:t>único competidor local      </a:t>
            </a:r>
            <a:endParaRPr lang="es-ES"/>
          </a:p>
          <a:p>
            <a:pPr algn="l"/>
            <a:endParaRPr lang="es-ES" sz="950" dirty="0">
              <a:solidFill>
                <a:srgbClr val="1A3A8F"/>
              </a:solidFill>
              <a:latin typeface="Reddit Sans Light"/>
            </a:endParaRPr>
          </a:p>
        </p:txBody>
      </p:sp>
      <p:pic>
        <p:nvPicPr>
          <p:cNvPr id="88" name="Imagen 87" descr="Aranda Software">
            <a:extLst>
              <a:ext uri="{FF2B5EF4-FFF2-40B4-BE49-F238E27FC236}">
                <a16:creationId xmlns:a16="http://schemas.microsoft.com/office/drawing/2014/main" id="{403162CE-8E95-7698-D01E-1F889F02E51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226"/>
          <a:stretch>
            <a:fillRect/>
          </a:stretch>
        </p:blipFill>
        <p:spPr>
          <a:xfrm>
            <a:off x="7598908" y="3669846"/>
            <a:ext cx="444956" cy="18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989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E4780E-EF61-6AF8-AEAC-C3D4C3DFB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sz="1400" dirty="0" err="1"/>
              <a:t>LVisualización</a:t>
            </a:r>
            <a:r>
              <a:rPr lang="es-ES" sz="1400" dirty="0"/>
              <a:t>: Mercado Global ITSM</a:t>
            </a:r>
          </a:p>
          <a:p>
            <a:br>
              <a:rPr lang="en-US" sz="1400" dirty="0"/>
            </a:br>
            <a:endParaRPr lang="en-US" sz="1400" dirty="0"/>
          </a:p>
        </p:txBody>
      </p:sp>
      <p:pic>
        <p:nvPicPr>
          <p:cNvPr id="3" name="Imagen 2" descr="Mercado Global ITSM — Tamaño y Proyección por fuente analítica">
            <a:extLst>
              <a:ext uri="{FF2B5EF4-FFF2-40B4-BE49-F238E27FC236}">
                <a16:creationId xmlns:a16="http://schemas.microsoft.com/office/drawing/2014/main" id="{1307C9D6-A5DD-63CF-B704-30D1E6AE9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0170"/>
            <a:ext cx="9144000" cy="446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685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4">
            <a:extLst>
              <a:ext uri="{FF2B5EF4-FFF2-40B4-BE49-F238E27FC236}">
                <a16:creationId xmlns:a16="http://schemas.microsoft.com/office/drawing/2014/main" id="{D0B19F7C-44D1-8557-EE8D-014F78E0818A}"/>
              </a:ext>
            </a:extLst>
          </p:cNvPr>
          <p:cNvSpPr/>
          <p:nvPr/>
        </p:nvSpPr>
        <p:spPr>
          <a:xfrm>
            <a:off x="436512" y="947699"/>
            <a:ext cx="3931920" cy="1950000"/>
          </a:xfrm>
          <a:prstGeom prst="roundRect">
            <a:avLst>
              <a:gd name="adj" fmla="val 2139"/>
            </a:avLst>
          </a:prstGeom>
          <a:solidFill>
            <a:schemeClr val="bg1"/>
          </a:solidFill>
          <a:ln w="12700">
            <a:solidFill>
              <a:schemeClr val="accent2">
                <a:lumMod val="50000"/>
                <a:lumOff val="50000"/>
              </a:schemeClr>
            </a:solidFill>
            <a:prstDash val="solid"/>
          </a:ln>
        </p:spPr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3370D9BC-BB67-4BDC-28E2-A9839C6C0311}"/>
              </a:ext>
            </a:extLst>
          </p:cNvPr>
          <p:cNvSpPr/>
          <p:nvPr/>
        </p:nvSpPr>
        <p:spPr>
          <a:xfrm>
            <a:off x="505092" y="947699"/>
            <a:ext cx="3694176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 b="1" dirty="0">
                <a:solidFill>
                  <a:schemeClr val="tx1"/>
                </a:solidFill>
                <a:latin typeface="Reddit Sans"/>
                <a:ea typeface="Reddit Sans"/>
                <a:cs typeface="Calibri"/>
              </a:rPr>
              <a:t>ANTES: </a:t>
            </a:r>
            <a:r>
              <a:rPr lang="en-US" sz="1100" b="1" dirty="0" err="1">
                <a:solidFill>
                  <a:schemeClr val="tx1"/>
                </a:solidFill>
                <a:latin typeface="Reddit Sans"/>
                <a:ea typeface="Reddit Sans"/>
                <a:cs typeface="Calibri"/>
              </a:rPr>
              <a:t>Plataformas</a:t>
            </a:r>
            <a:r>
              <a:rPr lang="en-US" sz="1100" b="1" dirty="0">
                <a:solidFill>
                  <a:schemeClr val="tx1"/>
                </a:solidFill>
                <a:latin typeface="Reddit Sans"/>
                <a:ea typeface="Reddit Sans"/>
                <a:cs typeface="Calibri"/>
              </a:rPr>
              <a:t> ITSM (hasta 2023)</a:t>
            </a:r>
            <a:endParaRPr lang="en-US" sz="1100">
              <a:solidFill>
                <a:schemeClr val="tx1"/>
              </a:solidFill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52B6BD0-AB8B-08F8-A01B-3D48EC2E766A}"/>
              </a:ext>
            </a:extLst>
          </p:cNvPr>
          <p:cNvSpPr/>
          <p:nvPr/>
        </p:nvSpPr>
        <p:spPr>
          <a:xfrm>
            <a:off x="505092" y="1300000"/>
            <a:ext cx="36941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Plataforma = diferenciador principal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CE76F7EF-DAE6-93D4-8383-3B4CD5B6A314}"/>
              </a:ext>
            </a:extLst>
          </p:cNvPr>
          <p:cNvSpPr/>
          <p:nvPr/>
        </p:nvSpPr>
        <p:spPr>
          <a:xfrm>
            <a:off x="505092" y="1560000"/>
            <a:ext cx="36941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Ranking de vendors por funcionalidad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8605779B-88F5-D352-2D8A-A7941BAB2101}"/>
              </a:ext>
            </a:extLst>
          </p:cNvPr>
          <p:cNvSpPr/>
          <p:nvPr/>
        </p:nvSpPr>
        <p:spPr>
          <a:xfrm>
            <a:off x="505092" y="1820000"/>
            <a:ext cx="36941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ServiceNow vs BMC vs Ivanti vs Freshworks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6ABC817C-2950-5F79-D0FF-ABD0384B74CC}"/>
              </a:ext>
            </a:extLst>
          </p:cNvPr>
          <p:cNvSpPr/>
          <p:nvPr/>
        </p:nvSpPr>
        <p:spPr>
          <a:xfrm>
            <a:off x="505092" y="2080000"/>
            <a:ext cx="36941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</a:t>
            </a:r>
            <a:r>
              <a:rPr lang="en-US" sz="8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Criterio de compra: "¿quién </a:t>
            </a: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tiene </a:t>
            </a:r>
            <a:r>
              <a:rPr lang="en-US" sz="8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más módulos</a:t>
            </a: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?"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40612625-8400-E47D-23E9-0537E142C424}"/>
              </a:ext>
            </a:extLst>
          </p:cNvPr>
          <p:cNvSpPr/>
          <p:nvPr/>
        </p:nvSpPr>
        <p:spPr>
          <a:xfrm>
            <a:off x="505092" y="2340000"/>
            <a:ext cx="36941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Retirado 2023: "Comoditizacion y falta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de diferenciacion en plataformas ITSM"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EF83C6D0-41FD-F49A-DFC6-C03791D5D68D}"/>
              </a:ext>
            </a:extLst>
          </p:cNvPr>
          <p:cNvSpPr/>
          <p:nvPr/>
        </p:nvSpPr>
        <p:spPr>
          <a:xfrm>
            <a:off x="4382148" y="1648000"/>
            <a:ext cx="640080" cy="548640"/>
          </a:xfrm>
          <a:prstGeom prst="rightArrow">
            <a:avLst/>
          </a:prstGeom>
          <a:solidFill>
            <a:schemeClr val="accent1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CAD9BC76-AAC9-B0E3-087F-11067FACA0A8}"/>
              </a:ext>
            </a:extLst>
          </p:cNvPr>
          <p:cNvSpPr/>
          <p:nvPr/>
        </p:nvSpPr>
        <p:spPr>
          <a:xfrm>
            <a:off x="5033332" y="947699"/>
            <a:ext cx="3410494" cy="1955442"/>
          </a:xfrm>
          <a:prstGeom prst="roundRect">
            <a:avLst>
              <a:gd name="adj" fmla="val 213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977F8511-1352-CC0C-6605-6AA7DFDF36AB}"/>
              </a:ext>
            </a:extLst>
          </p:cNvPr>
          <p:cNvSpPr/>
          <p:nvPr/>
        </p:nvSpPr>
        <p:spPr>
          <a:xfrm>
            <a:off x="5168532" y="947699"/>
            <a:ext cx="3630168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 b="1" dirty="0">
                <a:solidFill>
                  <a:schemeClr val="tx1"/>
                </a:solidFill>
                <a:latin typeface="Reddit Sans"/>
                <a:ea typeface="Reddit Sans"/>
                <a:cs typeface="Calibri"/>
              </a:rPr>
              <a:t>AHORA:  </a:t>
            </a:r>
            <a:r>
              <a:rPr lang="en-US" sz="1100" b="1" dirty="0">
                <a:solidFill>
                  <a:schemeClr val="tx1"/>
                </a:solidFill>
                <a:ea typeface="Reddit Sans"/>
              </a:rPr>
              <a:t>Application IA </a:t>
            </a:r>
            <a:r>
              <a:rPr lang="en-US" sz="1100" b="1">
                <a:solidFill>
                  <a:schemeClr val="tx1"/>
                </a:solidFill>
                <a:ea typeface="Reddit Sans"/>
              </a:rPr>
              <a:t>En ITSM</a:t>
            </a:r>
            <a:endParaRPr lang="en-US" sz="1100">
              <a:solidFill>
                <a:schemeClr val="tx1"/>
              </a:solidFill>
              <a:ea typeface="Reddit Sans"/>
            </a:endParaRPr>
          </a:p>
          <a:p>
            <a:r>
              <a:rPr lang="en-US" sz="1100" b="1">
                <a:solidFill>
                  <a:schemeClr val="tx1"/>
                </a:solidFill>
                <a:latin typeface="Reddit Sans"/>
                <a:ea typeface="Reddit Sans"/>
                <a:cs typeface="Calibri"/>
              </a:rPr>
              <a:t> (2024-2025)</a:t>
            </a:r>
            <a:endParaRPr lang="en-US" sz="1100">
              <a:solidFill>
                <a:schemeClr val="tx1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F9863D2B-943A-7082-2C40-4683EBE91848}"/>
              </a:ext>
            </a:extLst>
          </p:cNvPr>
          <p:cNvSpPr/>
          <p:nvPr/>
        </p:nvSpPr>
        <p:spPr>
          <a:xfrm>
            <a:off x="5168532" y="1280000"/>
            <a:ext cx="3630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Inteligencia = diferenciador principal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46EB2A4E-54B7-B2F6-AA2C-FF7EEF601A15}"/>
              </a:ext>
            </a:extLst>
          </p:cNvPr>
          <p:cNvSpPr/>
          <p:nvPr/>
        </p:nvSpPr>
        <p:spPr>
          <a:xfrm>
            <a:off x="5168532" y="1505000"/>
            <a:ext cx="3630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9 capacidades </a:t>
            </a:r>
            <a:r>
              <a:rPr lang="en-US" sz="8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críticas </a:t>
            </a: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de IA evaluadas</a:t>
            </a:r>
            <a:r>
              <a:rPr lang="en-US" sz="8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(abajo)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A4CE71F4-110F-1386-A382-E7801E75612D}"/>
              </a:ext>
            </a:extLst>
          </p:cNvPr>
          <p:cNvSpPr/>
          <p:nvPr/>
        </p:nvSpPr>
        <p:spPr>
          <a:xfrm>
            <a:off x="5168532" y="1730000"/>
            <a:ext cx="3630168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▪  Solo 1 Lider </a:t>
            </a:r>
            <a:r>
              <a:rPr lang="en-US" sz="8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en</a:t>
            </a:r>
            <a:r>
              <a:rPr lang="en-US" sz="8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2025: </a:t>
            </a:r>
            <a:r>
              <a:rPr lang="en-US" sz="800" b="1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ServiceNow</a:t>
            </a:r>
            <a:endParaRPr lang="en-US" sz="800" b="1">
              <a:latin typeface="Reddit Sans"/>
              <a:ea typeface="Reddit Sans"/>
              <a:cs typeface="Calibri"/>
            </a:endParaRP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BF8090C2-C149-679F-54AE-14E730EA0744}"/>
              </a:ext>
            </a:extLst>
          </p:cNvPr>
          <p:cNvSpPr/>
          <p:nvPr/>
        </p:nvSpPr>
        <p:spPr>
          <a:xfrm>
            <a:off x="5168532" y="1955000"/>
            <a:ext cx="3630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Challenger: Moveworks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2F929BF-B342-23A2-6FBF-6976F7051838}"/>
              </a:ext>
            </a:extLst>
          </p:cNvPr>
          <p:cNvSpPr/>
          <p:nvPr/>
        </p:nvSpPr>
        <p:spPr>
          <a:xfrm>
            <a:off x="5168532" y="2180000"/>
            <a:ext cx="3630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▪  Niche: BMC, Freshworks, SymphonyAI...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DF86FF12-AE91-4146-0149-CBB1AA0C144D}"/>
              </a:ext>
            </a:extLst>
          </p:cNvPr>
          <p:cNvSpPr/>
          <p:nvPr/>
        </p:nvSpPr>
        <p:spPr>
          <a:xfrm>
            <a:off x="5168532" y="2339686"/>
            <a:ext cx="3630168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▪  La </a:t>
            </a:r>
            <a:r>
              <a:rPr lang="en-US" sz="8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plataforma</a:t>
            </a:r>
            <a:r>
              <a:rPr lang="en-US" sz="8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es </a:t>
            </a:r>
            <a:r>
              <a:rPr lang="en-US" sz="8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insumo</a:t>
            </a:r>
            <a:r>
              <a:rPr lang="en-US" sz="8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, el framework</a:t>
            </a:r>
            <a:endParaRPr lang="en-US" sz="800" dirty="0">
              <a:latin typeface="Reddit Sans"/>
              <a:ea typeface="Reddit Sans"/>
              <a:cs typeface="Calibri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de IA y </a:t>
            </a:r>
            <a:r>
              <a:rPr lang="en-US" sz="8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gobierno</a:t>
            </a:r>
            <a:r>
              <a:rPr lang="en-US" sz="8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es el </a:t>
            </a:r>
            <a:r>
              <a:rPr lang="en-US" sz="8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producto</a:t>
            </a:r>
            <a:endParaRPr lang="en-US" sz="800" dirty="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455F574C-ABCD-138E-CCA3-6585B423DC66}"/>
              </a:ext>
            </a:extLst>
          </p:cNvPr>
          <p:cNvSpPr/>
          <p:nvPr/>
        </p:nvSpPr>
        <p:spPr>
          <a:xfrm>
            <a:off x="429763" y="4443537"/>
            <a:ext cx="7943307" cy="274320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  <p:txBody>
          <a:bodyPr lIns="91440" tIns="45720" rIns="91440" bIns="4572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Para </a:t>
            </a:r>
            <a:r>
              <a:rPr lang="en-US" sz="9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PersonalSoft</a:t>
            </a: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: El </a:t>
            </a:r>
            <a:r>
              <a:rPr lang="en-US" sz="9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diferenciador</a:t>
            </a: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no es la Plataforma, es el framework de </a:t>
            </a:r>
            <a:r>
              <a:rPr lang="en-US" sz="9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madurez</a:t>
            </a: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y </a:t>
            </a:r>
            <a:r>
              <a:rPr lang="en-US" sz="9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gobierno</a:t>
            </a: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que</a:t>
            </a: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aplicamos</a:t>
            </a: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sobre</a:t>
            </a: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ella</a:t>
            </a:r>
            <a:endParaRPr lang="en-US" sz="900">
              <a:latin typeface="Reddit Sans"/>
              <a:ea typeface="Reddit Sans"/>
              <a:cs typeface="Calibri"/>
            </a:endParaRPr>
          </a:p>
        </p:txBody>
      </p:sp>
      <p:sp>
        <p:nvSpPr>
          <p:cNvPr id="20" name="Text 22">
            <a:extLst>
              <a:ext uri="{FF2B5EF4-FFF2-40B4-BE49-F238E27FC236}">
                <a16:creationId xmlns:a16="http://schemas.microsoft.com/office/drawing/2014/main" id="{E0E5B276-8F3C-47DF-7F00-60BD420809AE}"/>
              </a:ext>
            </a:extLst>
          </p:cNvPr>
          <p:cNvSpPr/>
          <p:nvPr/>
        </p:nvSpPr>
        <p:spPr>
          <a:xfrm>
            <a:off x="214226" y="4795146"/>
            <a:ext cx="8595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MQ AI Applications in ITSM 2025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— Retire ITSM MQ 2023</a:t>
            </a:r>
            <a:endParaRPr lang="en-US" sz="750">
              <a:highlight>
                <a:srgbClr val="FFFF00"/>
              </a:highlight>
              <a:latin typeface="Reddit Sans"/>
              <a:ea typeface="Reddit Sans"/>
              <a:cs typeface="Calibri"/>
            </a:endParaRPr>
          </a:p>
        </p:txBody>
      </p:sp>
      <p:sp>
        <p:nvSpPr>
          <p:cNvPr id="36" name="pill">
            <a:extLst>
              <a:ext uri="{FF2B5EF4-FFF2-40B4-BE49-F238E27FC236}">
                <a16:creationId xmlns:a16="http://schemas.microsoft.com/office/drawing/2014/main" id="{48A6F9DB-8713-E8A0-0D3B-3DD48A9EFBFB}"/>
              </a:ext>
            </a:extLst>
          </p:cNvPr>
          <p:cNvSpPr>
            <a:spLocks noGrp="1"/>
          </p:cNvSpPr>
          <p:nvPr/>
        </p:nvSpPr>
        <p:spPr>
          <a:xfrm>
            <a:off x="435429" y="3243942"/>
            <a:ext cx="2457450" cy="31840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38" name="text">
            <a:extLst>
              <a:ext uri="{FF2B5EF4-FFF2-40B4-BE49-F238E27FC236}">
                <a16:creationId xmlns:a16="http://schemas.microsoft.com/office/drawing/2014/main" id="{41FBD87C-2C7A-32E7-1E0A-093B72A29DCF}"/>
              </a:ext>
            </a:extLst>
          </p:cNvPr>
          <p:cNvSpPr>
            <a:spLocks noGrp="1"/>
          </p:cNvSpPr>
          <p:nvPr/>
        </p:nvSpPr>
        <p:spPr>
          <a:xfrm>
            <a:off x="530679" y="3320142"/>
            <a:ext cx="2266950" cy="166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000" b="1">
                <a:solidFill>
                  <a:srgbClr val="163B8C"/>
                </a:solidFill>
                <a:latin typeface="Reddit Sans"/>
                <a:ea typeface="Reddit Sans"/>
              </a:rPr>
              <a:t>Agente virtual</a:t>
            </a:r>
          </a:p>
        </p:txBody>
      </p:sp>
      <p:sp>
        <p:nvSpPr>
          <p:cNvPr id="40" name="pill">
            <a:extLst>
              <a:ext uri="{FF2B5EF4-FFF2-40B4-BE49-F238E27FC236}">
                <a16:creationId xmlns:a16="http://schemas.microsoft.com/office/drawing/2014/main" id="{FD2D3B42-BEE9-36CD-10A0-D8B4E404763D}"/>
              </a:ext>
            </a:extLst>
          </p:cNvPr>
          <p:cNvSpPr>
            <a:spLocks noGrp="1"/>
          </p:cNvSpPr>
          <p:nvPr/>
        </p:nvSpPr>
        <p:spPr>
          <a:xfrm>
            <a:off x="3178629" y="3243942"/>
            <a:ext cx="2457450" cy="31840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42" name="text">
            <a:extLst>
              <a:ext uri="{FF2B5EF4-FFF2-40B4-BE49-F238E27FC236}">
                <a16:creationId xmlns:a16="http://schemas.microsoft.com/office/drawing/2014/main" id="{E57882B5-EE45-A1C0-8CB5-6EF7E29829E0}"/>
              </a:ext>
            </a:extLst>
          </p:cNvPr>
          <p:cNvSpPr>
            <a:spLocks noGrp="1"/>
          </p:cNvSpPr>
          <p:nvPr/>
        </p:nvSpPr>
        <p:spPr>
          <a:xfrm>
            <a:off x="3273879" y="3320142"/>
            <a:ext cx="2266950" cy="166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000" b="1">
                <a:solidFill>
                  <a:srgbClr val="087B83"/>
                </a:solidFill>
                <a:latin typeface="Reddit Sans"/>
                <a:ea typeface="Reddit Sans"/>
              </a:rPr>
              <a:t>Descubrimiento de conocimiento</a:t>
            </a:r>
          </a:p>
        </p:txBody>
      </p:sp>
      <p:sp>
        <p:nvSpPr>
          <p:cNvPr id="44" name="pill">
            <a:extLst>
              <a:ext uri="{FF2B5EF4-FFF2-40B4-BE49-F238E27FC236}">
                <a16:creationId xmlns:a16="http://schemas.microsoft.com/office/drawing/2014/main" id="{6325AC71-CF9D-096B-C9B3-F38542DCC605}"/>
              </a:ext>
            </a:extLst>
          </p:cNvPr>
          <p:cNvSpPr>
            <a:spLocks noGrp="1"/>
          </p:cNvSpPr>
          <p:nvPr/>
        </p:nvSpPr>
        <p:spPr>
          <a:xfrm>
            <a:off x="5921829" y="3243942"/>
            <a:ext cx="2457450" cy="31840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46" name="text">
            <a:extLst>
              <a:ext uri="{FF2B5EF4-FFF2-40B4-BE49-F238E27FC236}">
                <a16:creationId xmlns:a16="http://schemas.microsoft.com/office/drawing/2014/main" id="{898BCFF4-E615-BD8C-673F-CA4B3984A353}"/>
              </a:ext>
            </a:extLst>
          </p:cNvPr>
          <p:cNvSpPr>
            <a:spLocks noGrp="1"/>
          </p:cNvSpPr>
          <p:nvPr/>
        </p:nvSpPr>
        <p:spPr>
          <a:xfrm>
            <a:off x="6017079" y="3320142"/>
            <a:ext cx="2266950" cy="166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000" b="1">
                <a:solidFill>
                  <a:srgbClr val="163B8C"/>
                </a:solidFill>
                <a:latin typeface="Reddit Sans"/>
                <a:ea typeface="Reddit Sans"/>
              </a:rPr>
              <a:t>Escalamiento inteligente</a:t>
            </a:r>
          </a:p>
        </p:txBody>
      </p:sp>
      <p:sp>
        <p:nvSpPr>
          <p:cNvPr id="48" name="pill">
            <a:extLst>
              <a:ext uri="{FF2B5EF4-FFF2-40B4-BE49-F238E27FC236}">
                <a16:creationId xmlns:a16="http://schemas.microsoft.com/office/drawing/2014/main" id="{91BB4D74-6BF3-1FC4-CA68-183EE6ADCF6A}"/>
              </a:ext>
            </a:extLst>
          </p:cNvPr>
          <p:cNvSpPr>
            <a:spLocks noGrp="1"/>
          </p:cNvSpPr>
          <p:nvPr/>
        </p:nvSpPr>
        <p:spPr>
          <a:xfrm>
            <a:off x="435429" y="3643992"/>
            <a:ext cx="2457450" cy="31840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50" name="text">
            <a:extLst>
              <a:ext uri="{FF2B5EF4-FFF2-40B4-BE49-F238E27FC236}">
                <a16:creationId xmlns:a16="http://schemas.microsoft.com/office/drawing/2014/main" id="{23836748-4848-E8D1-1D44-3336B4CFEBF7}"/>
              </a:ext>
            </a:extLst>
          </p:cNvPr>
          <p:cNvSpPr>
            <a:spLocks noGrp="1"/>
          </p:cNvSpPr>
          <p:nvPr/>
        </p:nvSpPr>
        <p:spPr>
          <a:xfrm>
            <a:off x="530679" y="3720192"/>
            <a:ext cx="2266950" cy="166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000" b="1">
                <a:solidFill>
                  <a:srgbClr val="087B83"/>
                </a:solidFill>
                <a:latin typeface="Reddit Sans"/>
                <a:ea typeface="Reddit Sans"/>
              </a:rPr>
              <a:t>Triage inteligente</a:t>
            </a:r>
          </a:p>
        </p:txBody>
      </p:sp>
      <p:sp>
        <p:nvSpPr>
          <p:cNvPr id="52" name="pill">
            <a:extLst>
              <a:ext uri="{FF2B5EF4-FFF2-40B4-BE49-F238E27FC236}">
                <a16:creationId xmlns:a16="http://schemas.microsoft.com/office/drawing/2014/main" id="{0A7BB525-07A4-9DA1-EED5-7C67F91029B0}"/>
              </a:ext>
            </a:extLst>
          </p:cNvPr>
          <p:cNvSpPr>
            <a:spLocks noGrp="1"/>
          </p:cNvSpPr>
          <p:nvPr/>
        </p:nvSpPr>
        <p:spPr>
          <a:xfrm>
            <a:off x="3178629" y="3643992"/>
            <a:ext cx="2457450" cy="31840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54" name="text">
            <a:extLst>
              <a:ext uri="{FF2B5EF4-FFF2-40B4-BE49-F238E27FC236}">
                <a16:creationId xmlns:a16="http://schemas.microsoft.com/office/drawing/2014/main" id="{61992E17-B5C8-7BAE-2480-F55273DCD25C}"/>
              </a:ext>
            </a:extLst>
          </p:cNvPr>
          <p:cNvSpPr>
            <a:spLocks noGrp="1"/>
          </p:cNvSpPr>
          <p:nvPr/>
        </p:nvSpPr>
        <p:spPr>
          <a:xfrm>
            <a:off x="3273879" y="3720192"/>
            <a:ext cx="2266950" cy="166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000" b="1">
                <a:solidFill>
                  <a:srgbClr val="163B8C"/>
                </a:solidFill>
                <a:latin typeface="Reddit Sans"/>
                <a:ea typeface="Reddit Sans"/>
              </a:rPr>
              <a:t>Categorización</a:t>
            </a:r>
          </a:p>
        </p:txBody>
      </p:sp>
      <p:sp>
        <p:nvSpPr>
          <p:cNvPr id="56" name="pill">
            <a:extLst>
              <a:ext uri="{FF2B5EF4-FFF2-40B4-BE49-F238E27FC236}">
                <a16:creationId xmlns:a16="http://schemas.microsoft.com/office/drawing/2014/main" id="{5616BC14-7E4D-6153-FA79-96C1851F0075}"/>
              </a:ext>
            </a:extLst>
          </p:cNvPr>
          <p:cNvSpPr>
            <a:spLocks noGrp="1"/>
          </p:cNvSpPr>
          <p:nvPr/>
        </p:nvSpPr>
        <p:spPr>
          <a:xfrm>
            <a:off x="5921829" y="3643992"/>
            <a:ext cx="2457450" cy="31840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58" name="text">
            <a:extLst>
              <a:ext uri="{FF2B5EF4-FFF2-40B4-BE49-F238E27FC236}">
                <a16:creationId xmlns:a16="http://schemas.microsoft.com/office/drawing/2014/main" id="{4FB6D22E-5311-265A-8B75-AFF25DCE1A02}"/>
              </a:ext>
            </a:extLst>
          </p:cNvPr>
          <p:cNvSpPr>
            <a:spLocks noGrp="1"/>
          </p:cNvSpPr>
          <p:nvPr/>
        </p:nvSpPr>
        <p:spPr>
          <a:xfrm>
            <a:off x="6017079" y="3720192"/>
            <a:ext cx="2266950" cy="166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000" b="1">
                <a:solidFill>
                  <a:srgbClr val="087B83"/>
                </a:solidFill>
                <a:latin typeface="Reddit Sans"/>
                <a:ea typeface="Reddit Sans"/>
              </a:rPr>
              <a:t>Swarming de expertos</a:t>
            </a:r>
          </a:p>
        </p:txBody>
      </p:sp>
      <p:sp>
        <p:nvSpPr>
          <p:cNvPr id="60" name="pill">
            <a:extLst>
              <a:ext uri="{FF2B5EF4-FFF2-40B4-BE49-F238E27FC236}">
                <a16:creationId xmlns:a16="http://schemas.microsoft.com/office/drawing/2014/main" id="{1898A4DD-C6E8-2649-C085-DAEBBDF422DD}"/>
              </a:ext>
            </a:extLst>
          </p:cNvPr>
          <p:cNvSpPr>
            <a:spLocks noGrp="1"/>
          </p:cNvSpPr>
          <p:nvPr/>
        </p:nvSpPr>
        <p:spPr>
          <a:xfrm>
            <a:off x="435429" y="4044042"/>
            <a:ext cx="2457450" cy="31840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62" name="text">
            <a:extLst>
              <a:ext uri="{FF2B5EF4-FFF2-40B4-BE49-F238E27FC236}">
                <a16:creationId xmlns:a16="http://schemas.microsoft.com/office/drawing/2014/main" id="{C0F5C7BB-0075-66D6-DFA4-8A1FFEBFC63F}"/>
              </a:ext>
            </a:extLst>
          </p:cNvPr>
          <p:cNvSpPr>
            <a:spLocks noGrp="1"/>
          </p:cNvSpPr>
          <p:nvPr/>
        </p:nvSpPr>
        <p:spPr>
          <a:xfrm>
            <a:off x="530679" y="4120242"/>
            <a:ext cx="2266950" cy="166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000" b="1">
                <a:solidFill>
                  <a:srgbClr val="163B8C"/>
                </a:solidFill>
                <a:latin typeface="Reddit Sans"/>
                <a:ea typeface="Reddit Sans"/>
              </a:rPr>
              <a:t>Detección de P1</a:t>
            </a:r>
          </a:p>
        </p:txBody>
      </p:sp>
      <p:sp>
        <p:nvSpPr>
          <p:cNvPr id="64" name="pill">
            <a:extLst>
              <a:ext uri="{FF2B5EF4-FFF2-40B4-BE49-F238E27FC236}">
                <a16:creationId xmlns:a16="http://schemas.microsoft.com/office/drawing/2014/main" id="{FC099CE1-9380-CEFB-E740-70FC30F6B770}"/>
              </a:ext>
            </a:extLst>
          </p:cNvPr>
          <p:cNvSpPr>
            <a:spLocks noGrp="1"/>
          </p:cNvSpPr>
          <p:nvPr/>
        </p:nvSpPr>
        <p:spPr>
          <a:xfrm>
            <a:off x="3178629" y="4044042"/>
            <a:ext cx="2457450" cy="31840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66" name="text">
            <a:extLst>
              <a:ext uri="{FF2B5EF4-FFF2-40B4-BE49-F238E27FC236}">
                <a16:creationId xmlns:a16="http://schemas.microsoft.com/office/drawing/2014/main" id="{6B44A992-7F0B-A82A-DF7D-D542DD438742}"/>
              </a:ext>
            </a:extLst>
          </p:cNvPr>
          <p:cNvSpPr>
            <a:spLocks noGrp="1"/>
          </p:cNvSpPr>
          <p:nvPr/>
        </p:nvSpPr>
        <p:spPr>
          <a:xfrm>
            <a:off x="3273879" y="4120242"/>
            <a:ext cx="2266950" cy="166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000" b="1">
                <a:solidFill>
                  <a:srgbClr val="087B83"/>
                </a:solidFill>
                <a:latin typeface="Reddit Sans"/>
                <a:ea typeface="Reddit Sans"/>
              </a:rPr>
              <a:t>Detección de problemas</a:t>
            </a:r>
          </a:p>
        </p:txBody>
      </p:sp>
      <p:sp>
        <p:nvSpPr>
          <p:cNvPr id="68" name="pill">
            <a:extLst>
              <a:ext uri="{FF2B5EF4-FFF2-40B4-BE49-F238E27FC236}">
                <a16:creationId xmlns:a16="http://schemas.microsoft.com/office/drawing/2014/main" id="{449C3698-5520-68FE-F626-14624B964176}"/>
              </a:ext>
            </a:extLst>
          </p:cNvPr>
          <p:cNvSpPr>
            <a:spLocks noGrp="1"/>
          </p:cNvSpPr>
          <p:nvPr/>
        </p:nvSpPr>
        <p:spPr>
          <a:xfrm>
            <a:off x="5921829" y="4044042"/>
            <a:ext cx="2457450" cy="31840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70" name="text">
            <a:extLst>
              <a:ext uri="{FF2B5EF4-FFF2-40B4-BE49-F238E27FC236}">
                <a16:creationId xmlns:a16="http://schemas.microsoft.com/office/drawing/2014/main" id="{603FB488-F6ED-C174-16D6-9782A11196E8}"/>
              </a:ext>
            </a:extLst>
          </p:cNvPr>
          <p:cNvSpPr>
            <a:spLocks noGrp="1"/>
          </p:cNvSpPr>
          <p:nvPr/>
        </p:nvSpPr>
        <p:spPr>
          <a:xfrm>
            <a:off x="6017079" y="4120242"/>
            <a:ext cx="2266950" cy="166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000" b="1">
                <a:solidFill>
                  <a:srgbClr val="163B8C"/>
                </a:solidFill>
                <a:latin typeface="Reddit Sans"/>
                <a:ea typeface="Reddit Sans"/>
              </a:rPr>
              <a:t>Riesgo de cambios</a:t>
            </a:r>
          </a:p>
        </p:txBody>
      </p:sp>
      <p:sp>
        <p:nvSpPr>
          <p:cNvPr id="74" name="text">
            <a:extLst>
              <a:ext uri="{FF2B5EF4-FFF2-40B4-BE49-F238E27FC236}">
                <a16:creationId xmlns:a16="http://schemas.microsoft.com/office/drawing/2014/main" id="{8A32F562-F5D9-F64E-0422-1439F3F2D28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 Light"/>
              </a:rPr>
              <a:t>Gartner confirma el cambio: la competencia está en la capa de IA</a:t>
            </a:r>
          </a:p>
        </p:txBody>
      </p:sp>
      <p:sp>
        <p:nvSpPr>
          <p:cNvPr id="76" name="text">
            <a:extLst>
              <a:ext uri="{FF2B5EF4-FFF2-40B4-BE49-F238E27FC236}">
                <a16:creationId xmlns:a16="http://schemas.microsoft.com/office/drawing/2014/main" id="{C2356CA2-30C0-65B3-F15E-C77283D1B807}"/>
              </a:ext>
            </a:extLst>
          </p:cNvPr>
          <p:cNvSpPr>
            <a:spLocks noGrp="1"/>
          </p:cNvSpPr>
          <p:nvPr/>
        </p:nvSpPr>
        <p:spPr>
          <a:xfrm>
            <a:off x="334736" y="586468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AAEE0"/>
                </a:solidFill>
              </a:defRPr>
            </a:pPr>
            <a:r>
              <a:rPr sz="1050" b="0">
                <a:solidFill>
                  <a:srgbClr val="9AAEE0"/>
                </a:solidFill>
                <a:latin typeface="Reddit Sans Light"/>
              </a:rPr>
              <a:t>La plataforma base se comoditiza; la diferenciación pasa a inteligencia, gobierno y adopción</a:t>
            </a:r>
          </a:p>
        </p:txBody>
      </p:sp>
      <p:sp>
        <p:nvSpPr>
          <p:cNvPr id="78" name="text">
            <a:extLst>
              <a:ext uri="{FF2B5EF4-FFF2-40B4-BE49-F238E27FC236}">
                <a16:creationId xmlns:a16="http://schemas.microsoft.com/office/drawing/2014/main" id="{4CB190D4-7D01-6345-11B6-657B21028DDE}"/>
              </a:ext>
            </a:extLst>
          </p:cNvPr>
          <p:cNvSpPr>
            <a:spLocks noGrp="1"/>
          </p:cNvSpPr>
          <p:nvPr/>
        </p:nvSpPr>
        <p:spPr>
          <a:xfrm>
            <a:off x="408215" y="2960915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0C2362"/>
                </a:solidFill>
              </a:defRPr>
            </a:pPr>
            <a:r>
              <a:rPr sz="900" b="1">
                <a:solidFill>
                  <a:srgbClr val="0C2362"/>
                </a:solidFill>
                <a:latin typeface="Reddit Sans Light"/>
              </a:rPr>
              <a:t>9 capacidades críticas de IA que ya definen la compra</a:t>
            </a:r>
          </a:p>
        </p:txBody>
      </p:sp>
    </p:spTree>
    <p:extLst>
      <p:ext uri="{BB962C8B-B14F-4D97-AF65-F5344CB8AC3E}">
        <p14:creationId xmlns:p14="http://schemas.microsoft.com/office/powerpoint/2010/main" val="3697225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4FA26-9892-86D1-3AA5-CADBC4E5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90" y="184990"/>
            <a:ext cx="8211000" cy="572700"/>
          </a:xfrm>
        </p:spPr>
        <p:txBody>
          <a:bodyPr>
            <a:normAutofit/>
          </a:bodyPr>
          <a:lstStyle/>
          <a:p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Los 12 Grandes </a:t>
            </a:r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ya</a:t>
            </a:r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 </a:t>
            </a:r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Convergieron</a:t>
            </a:r>
            <a:endParaRPr lang="es-CO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8" name="Text 39">
            <a:extLst>
              <a:ext uri="{FF2B5EF4-FFF2-40B4-BE49-F238E27FC236}">
                <a16:creationId xmlns:a16="http://schemas.microsoft.com/office/drawing/2014/main" id="{43598009-C347-9DF0-53E3-AEC4619C772B}"/>
              </a:ext>
            </a:extLst>
          </p:cNvPr>
          <p:cNvSpPr/>
          <p:nvPr/>
        </p:nvSpPr>
        <p:spPr>
          <a:xfrm>
            <a:off x="0" y="4586140"/>
            <a:ext cx="8595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MQ AI Applications in ITSM 2025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 ·  </a:t>
            </a:r>
            <a:r>
              <a:rPr lang="en-US" sz="750" u="sng" dirty="0" err="1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PeopleCert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ITIL v5 Launch Feb 2026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 ·  </a:t>
            </a:r>
            <a:r>
              <a:rPr lang="en-US" sz="750" u="sng" dirty="0" err="1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XLA Report 2026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IDC ITSM Market Share 2024</a:t>
            </a:r>
            <a:endParaRPr lang="en-US" sz="750">
              <a:highlight>
                <a:srgbClr val="FFFF00"/>
              </a:highlight>
              <a:latin typeface="Reddit Sans"/>
              <a:ea typeface="Reddit Sans"/>
              <a:cs typeface="Calibri"/>
            </a:endParaRPr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723FB7B-388B-67C2-D240-FF4BB55A64E4}"/>
              </a:ext>
            </a:extLst>
          </p:cNvPr>
          <p:cNvSpPr/>
          <p:nvPr/>
        </p:nvSpPr>
        <p:spPr>
          <a:xfrm>
            <a:off x="8124410" y="463186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/ 12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B7FD0913-0BB4-5C52-9D4A-CB0B34E195FF}"/>
              </a:ext>
            </a:extLst>
          </p:cNvPr>
          <p:cNvSpPr/>
          <p:nvPr/>
        </p:nvSpPr>
        <p:spPr>
          <a:xfrm>
            <a:off x="333790" y="503344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Todos </a:t>
            </a:r>
            <a:r>
              <a:rPr lang="en-US" sz="1100" dirty="0" err="1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venden</a:t>
            </a: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 AI-first</a:t>
            </a:r>
          </a:p>
        </p:txBody>
      </p:sp>
      <p:sp>
        <p:nvSpPr>
          <p:cNvPr id="42" name="ln">
            <a:extLst>
              <a:ext uri="{FF2B5EF4-FFF2-40B4-BE49-F238E27FC236}">
                <a16:creationId xmlns:a16="http://schemas.microsoft.com/office/drawing/2014/main" id="{3B2ACD73-6A1B-DE81-531C-FD32DE9F39ED}"/>
              </a:ext>
            </a:extLst>
          </p:cNvPr>
          <p:cNvSpPr txBox="1">
            <a:spLocks noGrp="1"/>
          </p:cNvSpPr>
          <p:nvPr/>
        </p:nvSpPr>
        <p:spPr>
          <a:xfrm>
            <a:off x="365760" y="82296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 dirty="0">
                <a:solidFill>
                  <a:srgbClr val="0D1B5E"/>
                </a:solidFill>
                <a:latin typeface="Reddit Sans"/>
                <a:ea typeface="Reddit Sans"/>
              </a:rPr>
              <a:t>ServiceNow</a:t>
            </a:r>
          </a:p>
        </p:txBody>
      </p:sp>
      <p:sp>
        <p:nvSpPr>
          <p:cNvPr id="44" name="bar">
            <a:extLst>
              <a:ext uri="{FF2B5EF4-FFF2-40B4-BE49-F238E27FC236}">
                <a16:creationId xmlns:a16="http://schemas.microsoft.com/office/drawing/2014/main" id="{3D1853AC-9917-FF21-2CE0-E584F4533EF1}"/>
              </a:ext>
            </a:extLst>
          </p:cNvPr>
          <p:cNvSpPr>
            <a:spLocks noGrp="1"/>
          </p:cNvSpPr>
          <p:nvPr/>
        </p:nvSpPr>
        <p:spPr>
          <a:xfrm>
            <a:off x="1737360" y="822960"/>
            <a:ext cx="2111166" cy="402336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46" name="pct">
            <a:extLst>
              <a:ext uri="{FF2B5EF4-FFF2-40B4-BE49-F238E27FC236}">
                <a16:creationId xmlns:a16="http://schemas.microsoft.com/office/drawing/2014/main" id="{FA468F51-9426-DB15-4B34-C49321EFEC60}"/>
              </a:ext>
            </a:extLst>
          </p:cNvPr>
          <p:cNvSpPr txBox="1">
            <a:spLocks noGrp="1"/>
          </p:cNvSpPr>
          <p:nvPr/>
        </p:nvSpPr>
        <p:spPr>
          <a:xfrm>
            <a:off x="3939966" y="82296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48" name="ln">
            <a:extLst>
              <a:ext uri="{FF2B5EF4-FFF2-40B4-BE49-F238E27FC236}">
                <a16:creationId xmlns:a16="http://schemas.microsoft.com/office/drawing/2014/main" id="{F799D0AD-2748-FF38-83AB-FFDDE6EC4E8D}"/>
              </a:ext>
            </a:extLst>
          </p:cNvPr>
          <p:cNvSpPr txBox="1">
            <a:spLocks noGrp="1"/>
          </p:cNvSpPr>
          <p:nvPr/>
        </p:nvSpPr>
        <p:spPr>
          <a:xfrm>
            <a:off x="365760" y="1316736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 dirty="0">
                <a:solidFill>
                  <a:srgbClr val="0D1B5E"/>
                </a:solidFill>
                <a:latin typeface="Reddit Sans"/>
                <a:ea typeface="Reddit Sans"/>
              </a:rPr>
              <a:t>Atlassian</a:t>
            </a:r>
          </a:p>
        </p:txBody>
      </p:sp>
      <p:sp>
        <p:nvSpPr>
          <p:cNvPr id="50" name="bar">
            <a:extLst>
              <a:ext uri="{FF2B5EF4-FFF2-40B4-BE49-F238E27FC236}">
                <a16:creationId xmlns:a16="http://schemas.microsoft.com/office/drawing/2014/main" id="{3D22674F-15E2-02C3-81B0-94D6D145D268}"/>
              </a:ext>
            </a:extLst>
          </p:cNvPr>
          <p:cNvSpPr>
            <a:spLocks noGrp="1"/>
          </p:cNvSpPr>
          <p:nvPr/>
        </p:nvSpPr>
        <p:spPr>
          <a:xfrm>
            <a:off x="1737360" y="1316736"/>
            <a:ext cx="584850" cy="402336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52" name="pct">
            <a:extLst>
              <a:ext uri="{FF2B5EF4-FFF2-40B4-BE49-F238E27FC236}">
                <a16:creationId xmlns:a16="http://schemas.microsoft.com/office/drawing/2014/main" id="{F7E1EFDD-EB9E-4D81-9E0A-E75EC2F6CE9F}"/>
              </a:ext>
            </a:extLst>
          </p:cNvPr>
          <p:cNvSpPr txBox="1">
            <a:spLocks noGrp="1"/>
          </p:cNvSpPr>
          <p:nvPr/>
        </p:nvSpPr>
        <p:spPr>
          <a:xfrm>
            <a:off x="2413650" y="1316736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12.3%</a:t>
            </a:r>
          </a:p>
        </p:txBody>
      </p:sp>
      <p:sp>
        <p:nvSpPr>
          <p:cNvPr id="54" name="ln">
            <a:extLst>
              <a:ext uri="{FF2B5EF4-FFF2-40B4-BE49-F238E27FC236}">
                <a16:creationId xmlns:a16="http://schemas.microsoft.com/office/drawing/2014/main" id="{694A9F82-8A8D-4636-220C-3EE74279986E}"/>
              </a:ext>
            </a:extLst>
          </p:cNvPr>
          <p:cNvSpPr txBox="1">
            <a:spLocks noGrp="1"/>
          </p:cNvSpPr>
          <p:nvPr/>
        </p:nvSpPr>
        <p:spPr>
          <a:xfrm>
            <a:off x="365760" y="1810512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 dirty="0">
                <a:solidFill>
                  <a:srgbClr val="0D1B5E"/>
                </a:solidFill>
                <a:latin typeface="Reddit Sans"/>
                <a:ea typeface="Reddit Sans"/>
              </a:rPr>
              <a:t>BMC Helix</a:t>
            </a:r>
          </a:p>
        </p:txBody>
      </p:sp>
      <p:sp>
        <p:nvSpPr>
          <p:cNvPr id="56" name="bar">
            <a:extLst>
              <a:ext uri="{FF2B5EF4-FFF2-40B4-BE49-F238E27FC236}">
                <a16:creationId xmlns:a16="http://schemas.microsoft.com/office/drawing/2014/main" id="{AEFCCA6B-6BF6-1164-C99D-8B4D0E0A8DC1}"/>
              </a:ext>
            </a:extLst>
          </p:cNvPr>
          <p:cNvSpPr>
            <a:spLocks noGrp="1"/>
          </p:cNvSpPr>
          <p:nvPr/>
        </p:nvSpPr>
        <p:spPr>
          <a:xfrm>
            <a:off x="1737360" y="1810512"/>
            <a:ext cx="404164" cy="402336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58" name="pct">
            <a:extLst>
              <a:ext uri="{FF2B5EF4-FFF2-40B4-BE49-F238E27FC236}">
                <a16:creationId xmlns:a16="http://schemas.microsoft.com/office/drawing/2014/main" id="{1CA6FE2E-DDA9-A223-26CC-16C70CBAA543}"/>
              </a:ext>
            </a:extLst>
          </p:cNvPr>
          <p:cNvSpPr txBox="1">
            <a:spLocks noGrp="1"/>
          </p:cNvSpPr>
          <p:nvPr/>
        </p:nvSpPr>
        <p:spPr>
          <a:xfrm>
            <a:off x="2232964" y="1810512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8.5%</a:t>
            </a:r>
          </a:p>
        </p:txBody>
      </p:sp>
      <p:sp>
        <p:nvSpPr>
          <p:cNvPr id="60" name="ln">
            <a:extLst>
              <a:ext uri="{FF2B5EF4-FFF2-40B4-BE49-F238E27FC236}">
                <a16:creationId xmlns:a16="http://schemas.microsoft.com/office/drawing/2014/main" id="{AACB0C82-235E-2D44-7E9F-78F6E31F797E}"/>
              </a:ext>
            </a:extLst>
          </p:cNvPr>
          <p:cNvSpPr txBox="1">
            <a:spLocks noGrp="1"/>
          </p:cNvSpPr>
          <p:nvPr/>
        </p:nvSpPr>
        <p:spPr>
          <a:xfrm>
            <a:off x="365760" y="2304288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 dirty="0">
                <a:solidFill>
                  <a:srgbClr val="0D1B5E"/>
                </a:solidFill>
                <a:latin typeface="Reddit Sans"/>
                <a:ea typeface="Reddit Sans"/>
              </a:rPr>
              <a:t>Ivanti</a:t>
            </a:r>
          </a:p>
        </p:txBody>
      </p:sp>
      <p:sp>
        <p:nvSpPr>
          <p:cNvPr id="62" name="bar">
            <a:extLst>
              <a:ext uri="{FF2B5EF4-FFF2-40B4-BE49-F238E27FC236}">
                <a16:creationId xmlns:a16="http://schemas.microsoft.com/office/drawing/2014/main" id="{0B567FCC-D014-06F8-6C73-BC8443561923}"/>
              </a:ext>
            </a:extLst>
          </p:cNvPr>
          <p:cNvSpPr>
            <a:spLocks noGrp="1"/>
          </p:cNvSpPr>
          <p:nvPr/>
        </p:nvSpPr>
        <p:spPr>
          <a:xfrm>
            <a:off x="1737360" y="2304288"/>
            <a:ext cx="294802" cy="402336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64" name="pct">
            <a:extLst>
              <a:ext uri="{FF2B5EF4-FFF2-40B4-BE49-F238E27FC236}">
                <a16:creationId xmlns:a16="http://schemas.microsoft.com/office/drawing/2014/main" id="{AE7418F8-882F-4679-2319-57DEE0F96BC0}"/>
              </a:ext>
            </a:extLst>
          </p:cNvPr>
          <p:cNvSpPr txBox="1">
            <a:spLocks noGrp="1"/>
          </p:cNvSpPr>
          <p:nvPr/>
        </p:nvSpPr>
        <p:spPr>
          <a:xfrm>
            <a:off x="2123602" y="2304288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6.2%</a:t>
            </a:r>
          </a:p>
        </p:txBody>
      </p:sp>
      <p:sp>
        <p:nvSpPr>
          <p:cNvPr id="66" name="ln">
            <a:extLst>
              <a:ext uri="{FF2B5EF4-FFF2-40B4-BE49-F238E27FC236}">
                <a16:creationId xmlns:a16="http://schemas.microsoft.com/office/drawing/2014/main" id="{C93CE046-7A6A-D68D-D495-5957E38B9601}"/>
              </a:ext>
            </a:extLst>
          </p:cNvPr>
          <p:cNvSpPr txBox="1">
            <a:spLocks noGrp="1"/>
          </p:cNvSpPr>
          <p:nvPr/>
        </p:nvSpPr>
        <p:spPr>
          <a:xfrm>
            <a:off x="365760" y="2798064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 dirty="0">
                <a:solidFill>
                  <a:srgbClr val="0D1B5E"/>
                </a:solidFill>
                <a:latin typeface="Reddit Sans"/>
                <a:ea typeface="Reddit Sans"/>
              </a:rPr>
              <a:t>Freshworks</a:t>
            </a:r>
          </a:p>
        </p:txBody>
      </p:sp>
      <p:sp>
        <p:nvSpPr>
          <p:cNvPr id="68" name="bar">
            <a:extLst>
              <a:ext uri="{FF2B5EF4-FFF2-40B4-BE49-F238E27FC236}">
                <a16:creationId xmlns:a16="http://schemas.microsoft.com/office/drawing/2014/main" id="{37077E38-F59E-47AF-07D1-4A736E43E4FB}"/>
              </a:ext>
            </a:extLst>
          </p:cNvPr>
          <p:cNvSpPr>
            <a:spLocks noGrp="1"/>
          </p:cNvSpPr>
          <p:nvPr/>
        </p:nvSpPr>
        <p:spPr>
          <a:xfrm>
            <a:off x="1737360" y="2798064"/>
            <a:ext cx="275783" cy="402336"/>
          </a:xfrm>
          <a:prstGeom prst="roundRect">
            <a:avLst>
              <a:gd name="adj" fmla="val 8000"/>
            </a:avLst>
          </a:prstGeom>
          <a:solidFill>
            <a:srgbClr val="5B6B73"/>
          </a:solidFill>
          <a:ln>
            <a:noFill/>
          </a:ln>
        </p:spPr>
      </p:sp>
      <p:sp>
        <p:nvSpPr>
          <p:cNvPr id="70" name="pct">
            <a:extLst>
              <a:ext uri="{FF2B5EF4-FFF2-40B4-BE49-F238E27FC236}">
                <a16:creationId xmlns:a16="http://schemas.microsoft.com/office/drawing/2014/main" id="{2A47226E-7148-1276-0B4C-831F2B8E1BCD}"/>
              </a:ext>
            </a:extLst>
          </p:cNvPr>
          <p:cNvSpPr txBox="1">
            <a:spLocks noGrp="1"/>
          </p:cNvSpPr>
          <p:nvPr/>
        </p:nvSpPr>
        <p:spPr>
          <a:xfrm>
            <a:off x="2104583" y="2798064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5.8%</a:t>
            </a:r>
          </a:p>
        </p:txBody>
      </p:sp>
      <p:sp>
        <p:nvSpPr>
          <p:cNvPr id="72" name="ln">
            <a:extLst>
              <a:ext uri="{FF2B5EF4-FFF2-40B4-BE49-F238E27FC236}">
                <a16:creationId xmlns:a16="http://schemas.microsoft.com/office/drawing/2014/main" id="{35D29E99-D3CA-BEBB-2A3E-65AD758B6DF9}"/>
              </a:ext>
            </a:extLst>
          </p:cNvPr>
          <p:cNvSpPr txBox="1">
            <a:spLocks noGrp="1"/>
          </p:cNvSpPr>
          <p:nvPr/>
        </p:nvSpPr>
        <p:spPr>
          <a:xfrm>
            <a:off x="365760" y="329184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 dirty="0">
                <a:solidFill>
                  <a:srgbClr val="0D1B5E"/>
                </a:solidFill>
                <a:latin typeface="Reddit Sans"/>
                <a:ea typeface="Reddit Sans"/>
              </a:rPr>
              <a:t>Otros</a:t>
            </a:r>
          </a:p>
        </p:txBody>
      </p:sp>
      <p:sp>
        <p:nvSpPr>
          <p:cNvPr id="74" name="bar">
            <a:extLst>
              <a:ext uri="{FF2B5EF4-FFF2-40B4-BE49-F238E27FC236}">
                <a16:creationId xmlns:a16="http://schemas.microsoft.com/office/drawing/2014/main" id="{48B9B25E-15B3-3C8B-A9CF-209F1C25E6B0}"/>
              </a:ext>
            </a:extLst>
          </p:cNvPr>
          <p:cNvSpPr>
            <a:spLocks noGrp="1"/>
          </p:cNvSpPr>
          <p:nvPr/>
        </p:nvSpPr>
        <p:spPr>
          <a:xfrm>
            <a:off x="1737360" y="3291840"/>
            <a:ext cx="1084112" cy="402336"/>
          </a:xfrm>
          <a:prstGeom prst="roundRect">
            <a:avLst>
              <a:gd name="adj" fmla="val 8000"/>
            </a:avLst>
          </a:prstGeom>
          <a:solidFill>
            <a:srgbClr val="D1D5DB"/>
          </a:solidFill>
          <a:ln>
            <a:noFill/>
          </a:ln>
        </p:spPr>
      </p:sp>
      <p:sp>
        <p:nvSpPr>
          <p:cNvPr id="76" name="pct">
            <a:extLst>
              <a:ext uri="{FF2B5EF4-FFF2-40B4-BE49-F238E27FC236}">
                <a16:creationId xmlns:a16="http://schemas.microsoft.com/office/drawing/2014/main" id="{C739B923-0CF1-E7FC-0CE0-AC503323BE50}"/>
              </a:ext>
            </a:extLst>
          </p:cNvPr>
          <p:cNvSpPr txBox="1">
            <a:spLocks noGrp="1"/>
          </p:cNvSpPr>
          <p:nvPr/>
        </p:nvSpPr>
        <p:spPr>
          <a:xfrm>
            <a:off x="2912912" y="329184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22.8%</a:t>
            </a:r>
          </a:p>
        </p:txBody>
      </p:sp>
      <p:sp>
        <p:nvSpPr>
          <p:cNvPr id="78" name="rbg">
            <a:extLst>
              <a:ext uri="{FF2B5EF4-FFF2-40B4-BE49-F238E27FC236}">
                <a16:creationId xmlns:a16="http://schemas.microsoft.com/office/drawing/2014/main" id="{3803186D-0046-C5C8-FBA3-80F1EA8BD125}"/>
              </a:ext>
            </a:extLst>
          </p:cNvPr>
          <p:cNvSpPr>
            <a:spLocks noGrp="1"/>
          </p:cNvSpPr>
          <p:nvPr/>
        </p:nvSpPr>
        <p:spPr>
          <a:xfrm>
            <a:off x="5239293" y="603069"/>
            <a:ext cx="3221082" cy="3531324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80" name="rhdr">
            <a:extLst>
              <a:ext uri="{FF2B5EF4-FFF2-40B4-BE49-F238E27FC236}">
                <a16:creationId xmlns:a16="http://schemas.microsoft.com/office/drawing/2014/main" id="{34EEC26D-F8C3-354D-2E41-1CA581940681}"/>
              </a:ext>
            </a:extLst>
          </p:cNvPr>
          <p:cNvSpPr>
            <a:spLocks noGrp="1"/>
          </p:cNvSpPr>
          <p:nvPr/>
        </p:nvSpPr>
        <p:spPr>
          <a:xfrm>
            <a:off x="5233851" y="603069"/>
            <a:ext cx="3221082" cy="327660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82" name="rhtxt">
            <a:extLst>
              <a:ext uri="{FF2B5EF4-FFF2-40B4-BE49-F238E27FC236}">
                <a16:creationId xmlns:a16="http://schemas.microsoft.com/office/drawing/2014/main" id="{AECC54F2-F24C-55BE-148D-9A196984FE4D}"/>
              </a:ext>
            </a:extLst>
          </p:cNvPr>
          <p:cNvSpPr txBox="1">
            <a:spLocks noGrp="1"/>
          </p:cNvSpPr>
          <p:nvPr/>
        </p:nvSpPr>
        <p:spPr>
          <a:xfrm>
            <a:off x="5239294" y="603069"/>
            <a:ext cx="3221082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FFFFFF"/>
                </a:solidFill>
                <a:latin typeface="Reddit Sans"/>
                <a:ea typeface="Reddit Sans"/>
              </a:rPr>
              <a:t>La brecha real</a:t>
            </a:r>
          </a:p>
        </p:txBody>
      </p:sp>
      <p:sp>
        <p:nvSpPr>
          <p:cNvPr id="86" name="bn">
            <a:extLst>
              <a:ext uri="{FF2B5EF4-FFF2-40B4-BE49-F238E27FC236}">
                <a16:creationId xmlns:a16="http://schemas.microsoft.com/office/drawing/2014/main" id="{7066C97C-195C-9B3C-074C-F5EA7F30196D}"/>
              </a:ext>
            </a:extLst>
          </p:cNvPr>
          <p:cNvSpPr txBox="1">
            <a:spLocks noGrp="1"/>
          </p:cNvSpPr>
          <p:nvPr/>
        </p:nvSpPr>
        <p:spPr>
          <a:xfrm>
            <a:off x="5371011" y="1096845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700" b="1" dirty="0">
                <a:solidFill>
                  <a:srgbClr val="0D1B5E"/>
                </a:solidFill>
                <a:latin typeface="Reddit Sans"/>
                <a:ea typeface="Reddit Sans"/>
              </a:rPr>
              <a:t>9</a:t>
            </a:r>
          </a:p>
        </p:txBody>
      </p:sp>
      <p:sp>
        <p:nvSpPr>
          <p:cNvPr id="88" name="bd">
            <a:extLst>
              <a:ext uri="{FF2B5EF4-FFF2-40B4-BE49-F238E27FC236}">
                <a16:creationId xmlns:a16="http://schemas.microsoft.com/office/drawing/2014/main" id="{B6268D97-7923-7BB8-5D8E-F0B6FCF3A71C}"/>
              </a:ext>
            </a:extLst>
          </p:cNvPr>
          <p:cNvSpPr txBox="1">
            <a:spLocks noGrp="1"/>
          </p:cNvSpPr>
          <p:nvPr/>
        </p:nvSpPr>
        <p:spPr>
          <a:xfrm>
            <a:off x="6193971" y="1096845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880" dirty="0">
                <a:solidFill>
                  <a:srgbClr val="333333"/>
                </a:solidFill>
                <a:latin typeface="Reddit Sans"/>
                <a:ea typeface="Reddit Sans"/>
              </a:rPr>
              <a:t>Capacidades IA evaluadas por Gartner
mín. 5 para calificar</a:t>
            </a:r>
          </a:p>
        </p:txBody>
      </p:sp>
      <p:sp>
        <p:nvSpPr>
          <p:cNvPr id="92" name="bn">
            <a:extLst>
              <a:ext uri="{FF2B5EF4-FFF2-40B4-BE49-F238E27FC236}">
                <a16:creationId xmlns:a16="http://schemas.microsoft.com/office/drawing/2014/main" id="{3E8DC062-C6D9-C108-E568-0FBED824BDA1}"/>
              </a:ext>
            </a:extLst>
          </p:cNvPr>
          <p:cNvSpPr txBox="1">
            <a:spLocks noGrp="1"/>
          </p:cNvSpPr>
          <p:nvPr/>
        </p:nvSpPr>
        <p:spPr>
          <a:xfrm>
            <a:off x="5371011" y="1883229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ctr"/>
            <a:r>
              <a:rPr lang="es-ES" sz="1700" b="1" dirty="0">
                <a:solidFill>
                  <a:srgbClr val="1A3A8F"/>
                </a:solidFill>
                <a:latin typeface="Reddit Sans"/>
                <a:ea typeface="Reddit Sans"/>
              </a:rPr>
              <a:t>ITIL v5</a:t>
            </a:r>
          </a:p>
        </p:txBody>
      </p:sp>
      <p:sp>
        <p:nvSpPr>
          <p:cNvPr id="94" name="bd">
            <a:extLst>
              <a:ext uri="{FF2B5EF4-FFF2-40B4-BE49-F238E27FC236}">
                <a16:creationId xmlns:a16="http://schemas.microsoft.com/office/drawing/2014/main" id="{609E48BA-D352-26AB-EB4D-208A41127F2D}"/>
              </a:ext>
            </a:extLst>
          </p:cNvPr>
          <p:cNvSpPr txBox="1">
            <a:spLocks noGrp="1"/>
          </p:cNvSpPr>
          <p:nvPr/>
        </p:nvSpPr>
        <p:spPr>
          <a:xfrm>
            <a:off x="6193971" y="1883229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880" dirty="0">
                <a:solidFill>
                  <a:srgbClr val="333333"/>
                </a:solidFill>
                <a:latin typeface="Reddit Sans"/>
                <a:ea typeface="Reddit Sans"/>
              </a:rPr>
              <a:t>Lanzado 12 feb 2026
Nuevo estándar de la industria</a:t>
            </a:r>
          </a:p>
        </p:txBody>
      </p:sp>
      <p:sp>
        <p:nvSpPr>
          <p:cNvPr id="98" name="bn">
            <a:extLst>
              <a:ext uri="{FF2B5EF4-FFF2-40B4-BE49-F238E27FC236}">
                <a16:creationId xmlns:a16="http://schemas.microsoft.com/office/drawing/2014/main" id="{CC58E608-1FDD-930C-25BC-FED802924F3E}"/>
              </a:ext>
            </a:extLst>
          </p:cNvPr>
          <p:cNvSpPr txBox="1">
            <a:spLocks noGrp="1"/>
          </p:cNvSpPr>
          <p:nvPr/>
        </p:nvSpPr>
        <p:spPr>
          <a:xfrm>
            <a:off x="5371011" y="2669613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700" b="1" dirty="0">
                <a:solidFill>
                  <a:srgbClr val="1B7B85"/>
                </a:solidFill>
                <a:latin typeface="Reddit Sans"/>
                <a:ea typeface="Reddit Sans"/>
              </a:rPr>
              <a:t>68%</a:t>
            </a:r>
          </a:p>
        </p:txBody>
      </p:sp>
      <p:sp>
        <p:nvSpPr>
          <p:cNvPr id="100" name="bd">
            <a:extLst>
              <a:ext uri="{FF2B5EF4-FFF2-40B4-BE49-F238E27FC236}">
                <a16:creationId xmlns:a16="http://schemas.microsoft.com/office/drawing/2014/main" id="{7E57363F-47DB-A74A-AF02-4BCDFC28DCB1}"/>
              </a:ext>
            </a:extLst>
          </p:cNvPr>
          <p:cNvSpPr txBox="1">
            <a:spLocks noGrp="1"/>
          </p:cNvSpPr>
          <p:nvPr/>
        </p:nvSpPr>
        <p:spPr>
          <a:xfrm>
            <a:off x="6193971" y="2669613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880" dirty="0">
                <a:solidFill>
                  <a:srgbClr val="333333"/>
                </a:solidFill>
                <a:latin typeface="Reddit Sans"/>
                <a:ea typeface="Reddit Sans"/>
              </a:rPr>
              <a:t>Adoptarán XLA en 2026
(Experience Level Agreements)</a:t>
            </a:r>
          </a:p>
        </p:txBody>
      </p:sp>
      <p:sp>
        <p:nvSpPr>
          <p:cNvPr id="104" name="bn">
            <a:extLst>
              <a:ext uri="{FF2B5EF4-FFF2-40B4-BE49-F238E27FC236}">
                <a16:creationId xmlns:a16="http://schemas.microsoft.com/office/drawing/2014/main" id="{B3B47693-D349-15AD-AF78-83FAC494A16A}"/>
              </a:ext>
            </a:extLst>
          </p:cNvPr>
          <p:cNvSpPr txBox="1">
            <a:spLocks noGrp="1"/>
          </p:cNvSpPr>
          <p:nvPr/>
        </p:nvSpPr>
        <p:spPr>
          <a:xfrm>
            <a:off x="5371011" y="3455997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ctr"/>
            <a:r>
              <a:rPr lang="es-ES" sz="1700" b="1" dirty="0">
                <a:solidFill>
                  <a:srgbClr val="1F6FBA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106" name="bd">
            <a:extLst>
              <a:ext uri="{FF2B5EF4-FFF2-40B4-BE49-F238E27FC236}">
                <a16:creationId xmlns:a16="http://schemas.microsoft.com/office/drawing/2014/main" id="{FA9F9116-A413-6B75-BFE3-1D7FBAA1FD52}"/>
              </a:ext>
            </a:extLst>
          </p:cNvPr>
          <p:cNvSpPr txBox="1">
            <a:spLocks noGrp="1"/>
          </p:cNvSpPr>
          <p:nvPr/>
        </p:nvSpPr>
        <p:spPr>
          <a:xfrm>
            <a:off x="6193971" y="3455997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880" dirty="0">
                <a:solidFill>
                  <a:srgbClr val="333333"/>
                </a:solidFill>
                <a:latin typeface="Reddit Sans"/>
                <a:ea typeface="Reddit Sans"/>
              </a:rPr>
              <a:t>Cuota ServiceNow — Solo 1 Líder
en MQ AI Applications in ITSM 2025</a:t>
            </a:r>
          </a:p>
        </p:txBody>
      </p:sp>
      <p:sp>
        <p:nvSpPr>
          <p:cNvPr id="110" name="qtxt">
            <a:extLst>
              <a:ext uri="{FF2B5EF4-FFF2-40B4-BE49-F238E27FC236}">
                <a16:creationId xmlns:a16="http://schemas.microsoft.com/office/drawing/2014/main" id="{60BAE401-2A97-E144-0191-1604F0E984C4}"/>
              </a:ext>
            </a:extLst>
          </p:cNvPr>
          <p:cNvSpPr txBox="1">
            <a:spLocks noGrp="1"/>
          </p:cNvSpPr>
          <p:nvPr/>
        </p:nvSpPr>
        <p:spPr>
          <a:xfrm>
            <a:off x="693419" y="4127644"/>
            <a:ext cx="4434840" cy="3276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 fontScale="92500" lnSpcReduction="20000"/>
          </a:bodyPr>
          <a:lstStyle/>
          <a:p>
            <a:pPr algn="ctr"/>
            <a:r>
              <a:rPr lang="es-ES" sz="950" i="1" dirty="0">
                <a:solidFill>
                  <a:schemeClr val="bg2"/>
                </a:solidFill>
                <a:latin typeface="Reddit Sans"/>
                <a:ea typeface="Reddit Sans"/>
              </a:rPr>
              <a:t>"El diferenciador real está en plataforma propietaria, profundidad de IA y madurez del modelo de gobierno"</a:t>
            </a:r>
          </a:p>
        </p:txBody>
      </p:sp>
    </p:spTree>
    <p:extLst>
      <p:ext uri="{BB962C8B-B14F-4D97-AF65-F5344CB8AC3E}">
        <p14:creationId xmlns:p14="http://schemas.microsoft.com/office/powerpoint/2010/main" val="22681015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DDB9A8-D478-0381-707A-A4A1B790A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Cómo los 12 Grandes Proveedores Posicionan sus Mesas</a:t>
            </a:r>
          </a:p>
          <a:p>
            <a:endParaRPr lang="es-ES" dirty="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63D74C3-F319-DBA3-4147-16621DDD2E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204356"/>
              </p:ext>
            </p:extLst>
          </p:nvPr>
        </p:nvGraphicFramePr>
        <p:xfrm>
          <a:off x="441241" y="642257"/>
          <a:ext cx="7833335" cy="4286250"/>
        </p:xfrm>
        <a:graphic>
          <a:graphicData uri="http://schemas.openxmlformats.org/drawingml/2006/table">
            <a:tbl>
              <a:tblPr firstRow="1" bandRow="1">
                <a:tableStyleId>{1FEE7CD7-7DD5-4E0E-8F7E-406774204185}</a:tableStyleId>
              </a:tblPr>
              <a:tblGrid>
                <a:gridCol w="910515">
                  <a:extLst>
                    <a:ext uri="{9D8B030D-6E8A-4147-A177-3AD203B41FA5}">
                      <a16:colId xmlns:a16="http://schemas.microsoft.com/office/drawing/2014/main" val="4234215457"/>
                    </a:ext>
                  </a:extLst>
                </a:gridCol>
                <a:gridCol w="2117313">
                  <a:extLst>
                    <a:ext uri="{9D8B030D-6E8A-4147-A177-3AD203B41FA5}">
                      <a16:colId xmlns:a16="http://schemas.microsoft.com/office/drawing/2014/main" val="3507965281"/>
                    </a:ext>
                  </a:extLst>
                </a:gridCol>
                <a:gridCol w="2406367">
                  <a:extLst>
                    <a:ext uri="{9D8B030D-6E8A-4147-A177-3AD203B41FA5}">
                      <a16:colId xmlns:a16="http://schemas.microsoft.com/office/drawing/2014/main" val="497326408"/>
                    </a:ext>
                  </a:extLst>
                </a:gridCol>
                <a:gridCol w="2399140">
                  <a:extLst>
                    <a:ext uri="{9D8B030D-6E8A-4147-A177-3AD203B41FA5}">
                      <a16:colId xmlns:a16="http://schemas.microsoft.com/office/drawing/2014/main" val="2835798315"/>
                    </a:ext>
                  </a:extLst>
                </a:gridCol>
              </a:tblGrid>
              <a:tr h="1331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Empresa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Nombre Comercial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IA / Automatización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Diferenciador Único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822005"/>
                  </a:ext>
                </a:extLst>
              </a:tr>
              <a:tr h="2021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Accenture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Intelligent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Center /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myWizard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®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agentic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AI, agentes virtuales (hasta 85% de llamadas),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self-healing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86% reducción costo/contacto; modelo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human+machine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basado en desempeño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546535"/>
                  </a:ext>
                </a:extLst>
              </a:tr>
              <a:tr h="2021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IBM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IBM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Consulting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Orchestrate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ML,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IBM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Concert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zero-touch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operations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No mesa empaquetada — ecosistema de TI autónoma (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+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246734"/>
                  </a:ext>
                </a:extLst>
              </a:tr>
              <a:tr h="2021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Kyndryl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Interactive AI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for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ASR + NLP + HAU (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Interactions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LLC); resuelve 70% por canales digitales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Concierge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IT con video seguro y AR; 2M contactos/mes, 650+ clientes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5394262"/>
                  </a:ext>
                </a:extLst>
              </a:tr>
              <a:tr h="2021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Deloitte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Next Gen Service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Deep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learning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detección anomalías,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GenAIOps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OperateEdge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Metodología O2I (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to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Innovate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); sin plataforma propietaria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0136337"/>
                  </a:ext>
                </a:extLst>
              </a:tr>
              <a:tr h="2021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Capgemini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AI-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Agentes virtuales,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PRiSM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GenAI, remediación autónoma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"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Composable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" (asignación dinámica IA/humano en tiempo real)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4869556"/>
                  </a:ext>
                </a:extLst>
              </a:tr>
              <a:tr h="1331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Cognizant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WorkNext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AI-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NLP, NLU,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chatbot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Bold360ai,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knowledge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on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demand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Single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door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visión "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zero-touch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service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2030"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1712022"/>
                  </a:ext>
                </a:extLst>
              </a:tr>
              <a:tr h="1331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HCLTech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GenAI-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Digital Service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AI Force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CVA, GenAI,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assist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150+ idiomas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Modelo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Sense→Think→Act→Engage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AI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Force.Ops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720051"/>
                  </a:ext>
                </a:extLst>
              </a:tr>
              <a:tr h="2021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Infosys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ITIL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Intelligent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ESM Café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IA cognitiva, automatización cognitiva, RPA, 90% contención digital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ESM Café sobre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ServiceNow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47 centros, 3M+ usuarios, 75-80% FCR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464461"/>
                  </a:ext>
                </a:extLst>
              </a:tr>
              <a:tr h="2021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TCS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DeskHelp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Cognix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 /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Modelo IPSC, autoaprendizaje,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(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auto-healing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cognitivo), GenAI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Copilot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Machine First™;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como plataforma de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autohealing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galardonada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3142377"/>
                  </a:ext>
                </a:extLst>
              </a:tr>
              <a:tr h="2021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NTT DATA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NextGen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(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Nucleus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agentic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Nucleus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Virtual Agent, previene 65% de incidentes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Liderazgo en XLA; 87% FCR; 23M+ tickets/año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8403780"/>
                  </a:ext>
                </a:extLst>
              </a:tr>
              <a:tr h="2021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DXC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DXC Service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UPtime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 conversacional,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co-pilot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UPtime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Platform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+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Espressive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Barista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Métricas más completas: 93% FCR, 58% menos costo/contacto, 49% menos MTTR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714496"/>
                  </a:ext>
                </a:extLst>
              </a:tr>
              <a:tr h="2711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1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Wipro</a:t>
                      </a:r>
                      <a:endParaRPr lang="es-ES" sz="800" b="0" i="0" dirty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LiVE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Workspace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OneDesk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HOLMES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HOLMES,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auto-reparación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proactiva, Azure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OpenAI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5 torres de servicio; </a:t>
                      </a:r>
                      <a:r>
                        <a:rPr lang="es-ES" sz="8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</a:t>
                      </a:r>
                      <a:r>
                        <a:rPr lang="es-ES" sz="8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antes de que el usuario note el problema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45856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75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386BA-FD73-98A3-5F89-724FFBDD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/>
              <a:t>Posicionamiento de Plataformas ITSM</a:t>
            </a:r>
          </a:p>
          <a:p>
            <a:br>
              <a:rPr lang="en-US" dirty="0"/>
            </a:br>
            <a:endParaRPr lang="en-US" dirty="0"/>
          </a:p>
        </p:txBody>
      </p:sp>
      <p:pic>
        <p:nvPicPr>
          <p:cNvPr id="3" name="Imagen 2" descr="Posicionamiento Competitivo — Cuota de mercado y Gartner MQ 2025">
            <a:extLst>
              <a:ext uri="{FF2B5EF4-FFF2-40B4-BE49-F238E27FC236}">
                <a16:creationId xmlns:a16="http://schemas.microsoft.com/office/drawing/2014/main" id="{8FB9F73D-CB58-7FAC-B97D-5736154EC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1565"/>
            <a:ext cx="91440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3158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41C89-6334-9E35-5C50-DD710F42C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7 </a:t>
            </a:r>
            <a:r>
              <a:rPr lang="en-US" dirty="0" err="1"/>
              <a:t>Tendencias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definen</a:t>
            </a:r>
            <a:r>
              <a:rPr lang="en-US" dirty="0"/>
              <a:t> el Mercado</a:t>
            </a:r>
            <a:endParaRPr lang="es-CO" dirty="0"/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D22B8986-269C-67DD-DEF3-53CE541F95E8}"/>
              </a:ext>
            </a:extLst>
          </p:cNvPr>
          <p:cNvSpPr/>
          <p:nvPr/>
        </p:nvSpPr>
        <p:spPr>
          <a:xfrm>
            <a:off x="148320" y="4617720"/>
            <a:ext cx="8595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Dynatrace AI Observability Report 2025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Agentic AI Hype Cycle 2025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  ·  </a:t>
            </a:r>
            <a:r>
              <a:rPr lang="en-US" sz="750" u="sng" dirty="0" err="1">
                <a:solidFill>
                  <a:srgbClr val="8899BB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PeopleCert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ITIL 4 AI Capability Model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 IT Services Market Trends 2026</a:t>
            </a:r>
            <a:endParaRPr lang="en-US" sz="750">
              <a:highlight>
                <a:srgbClr val="FFFF00"/>
              </a:highlight>
              <a:latin typeface="Calibri"/>
              <a:ea typeface="Calibri"/>
              <a:cs typeface="Calibri"/>
            </a:endParaRPr>
          </a:p>
        </p:txBody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AC08CA58-BE0E-84AE-41E1-DDE51A92D838}"/>
              </a:ext>
            </a:extLst>
          </p:cNvPr>
          <p:cNvSpPr/>
          <p:nvPr/>
        </p:nvSpPr>
        <p:spPr>
          <a:xfrm>
            <a:off x="8138160" y="4864608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800" dirty="0"/>
          </a:p>
        </p:txBody>
      </p:sp>
      <p:sp>
        <p:nvSpPr>
          <p:cNvPr id="34" name="Text 3">
            <a:extLst>
              <a:ext uri="{FF2B5EF4-FFF2-40B4-BE49-F238E27FC236}">
                <a16:creationId xmlns:a16="http://schemas.microsoft.com/office/drawing/2014/main" id="{166BF15B-A6AF-9849-AE30-20DD569175B3}"/>
              </a:ext>
            </a:extLst>
          </p:cNvPr>
          <p:cNvSpPr/>
          <p:nvPr/>
        </p:nvSpPr>
        <p:spPr>
          <a:xfrm>
            <a:off x="320040" y="55363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Las fuerzas que dan forma a la mesa de servicios 2024-2026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5" name="tbg">
            <a:extLst>
              <a:ext uri="{FF2B5EF4-FFF2-40B4-BE49-F238E27FC236}">
                <a16:creationId xmlns:a16="http://schemas.microsoft.com/office/drawing/2014/main" id="{FEAD8A77-5435-8973-7E6C-5A1E6D7F2202}"/>
              </a:ext>
            </a:extLst>
          </p:cNvPr>
          <p:cNvSpPr>
            <a:spLocks noGrp="1"/>
          </p:cNvSpPr>
          <p:nvPr/>
        </p:nvSpPr>
        <p:spPr>
          <a:xfrm>
            <a:off x="320040" y="1065929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37" name="nbg">
            <a:extLst>
              <a:ext uri="{FF2B5EF4-FFF2-40B4-BE49-F238E27FC236}">
                <a16:creationId xmlns:a16="http://schemas.microsoft.com/office/drawing/2014/main" id="{2DB27CB8-4295-3C92-B363-90F594ACE9CB}"/>
              </a:ext>
            </a:extLst>
          </p:cNvPr>
          <p:cNvSpPr>
            <a:spLocks noGrp="1"/>
          </p:cNvSpPr>
          <p:nvPr/>
        </p:nvSpPr>
        <p:spPr>
          <a:xfrm>
            <a:off x="320040" y="1065929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39" name="num">
            <a:extLst>
              <a:ext uri="{FF2B5EF4-FFF2-40B4-BE49-F238E27FC236}">
                <a16:creationId xmlns:a16="http://schemas.microsoft.com/office/drawing/2014/main" id="{0F31E9CD-97EF-E0BD-4040-E486FB6187FA}"/>
              </a:ext>
            </a:extLst>
          </p:cNvPr>
          <p:cNvSpPr txBox="1">
            <a:spLocks noGrp="1"/>
          </p:cNvSpPr>
          <p:nvPr/>
        </p:nvSpPr>
        <p:spPr>
          <a:xfrm>
            <a:off x="341811" y="1098586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FFFFFF"/>
                </a:solidFill>
                <a:latin typeface="Reddit Sans"/>
                <a:ea typeface="Reddit Sans"/>
              </a:rPr>
              <a:t>01</a:t>
            </a:r>
          </a:p>
        </p:txBody>
      </p:sp>
      <p:sp>
        <p:nvSpPr>
          <p:cNvPr id="41" name="tit">
            <a:extLst>
              <a:ext uri="{FF2B5EF4-FFF2-40B4-BE49-F238E27FC236}">
                <a16:creationId xmlns:a16="http://schemas.microsoft.com/office/drawing/2014/main" id="{6550447D-F70A-D873-2B2F-81E1616604B9}"/>
              </a:ext>
            </a:extLst>
          </p:cNvPr>
          <p:cNvSpPr txBox="1">
            <a:spLocks noGrp="1"/>
          </p:cNvSpPr>
          <p:nvPr/>
        </p:nvSpPr>
        <p:spPr>
          <a:xfrm>
            <a:off x="850392" y="1148225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GenAI como table stakes</a:t>
            </a:r>
          </a:p>
        </p:txBody>
      </p:sp>
      <p:sp>
        <p:nvSpPr>
          <p:cNvPr id="43" name="dsc">
            <a:extLst>
              <a:ext uri="{FF2B5EF4-FFF2-40B4-BE49-F238E27FC236}">
                <a16:creationId xmlns:a16="http://schemas.microsoft.com/office/drawing/2014/main" id="{E29898C9-6169-5B0A-51EA-F803B641CF7F}"/>
              </a:ext>
            </a:extLst>
          </p:cNvPr>
          <p:cNvSpPr txBox="1">
            <a:spLocks noGrp="1"/>
          </p:cNvSpPr>
          <p:nvPr/>
        </p:nvSpPr>
        <p:spPr>
          <a:xfrm>
            <a:off x="850392" y="1449977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dirty="0">
                <a:solidFill>
                  <a:srgbClr val="6B7280"/>
                </a:solidFill>
                <a:latin typeface="Reddit Sans"/>
                <a:ea typeface="Reddit Sans"/>
              </a:rPr>
              <a:t>-26.6% MTTR  ·  +34.6% resolución con GenAI</a:t>
            </a:r>
          </a:p>
        </p:txBody>
      </p:sp>
      <p:sp>
        <p:nvSpPr>
          <p:cNvPr id="45" name="tbg">
            <a:extLst>
              <a:ext uri="{FF2B5EF4-FFF2-40B4-BE49-F238E27FC236}">
                <a16:creationId xmlns:a16="http://schemas.microsoft.com/office/drawing/2014/main" id="{5F375AE4-B285-4B15-47B5-86A71F4AEE7C}"/>
              </a:ext>
            </a:extLst>
          </p:cNvPr>
          <p:cNvSpPr>
            <a:spLocks noGrp="1"/>
          </p:cNvSpPr>
          <p:nvPr/>
        </p:nvSpPr>
        <p:spPr>
          <a:xfrm>
            <a:off x="4297680" y="1065929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47" name="nbg">
            <a:extLst>
              <a:ext uri="{FF2B5EF4-FFF2-40B4-BE49-F238E27FC236}">
                <a16:creationId xmlns:a16="http://schemas.microsoft.com/office/drawing/2014/main" id="{9418D24B-59DF-E067-FB7B-69575481A626}"/>
              </a:ext>
            </a:extLst>
          </p:cNvPr>
          <p:cNvSpPr>
            <a:spLocks noGrp="1"/>
          </p:cNvSpPr>
          <p:nvPr/>
        </p:nvSpPr>
        <p:spPr>
          <a:xfrm>
            <a:off x="4297680" y="1065929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49" name="num">
            <a:extLst>
              <a:ext uri="{FF2B5EF4-FFF2-40B4-BE49-F238E27FC236}">
                <a16:creationId xmlns:a16="http://schemas.microsoft.com/office/drawing/2014/main" id="{CB81A769-21E3-BFCF-EDF5-8B3CC7A28FCD}"/>
              </a:ext>
            </a:extLst>
          </p:cNvPr>
          <p:cNvSpPr txBox="1">
            <a:spLocks noGrp="1"/>
          </p:cNvSpPr>
          <p:nvPr/>
        </p:nvSpPr>
        <p:spPr>
          <a:xfrm>
            <a:off x="4319451" y="1098586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FFFFFF"/>
                </a:solidFill>
                <a:latin typeface="Reddit Sans"/>
                <a:ea typeface="Reddit Sans"/>
              </a:rPr>
              <a:t>02</a:t>
            </a:r>
          </a:p>
        </p:txBody>
      </p:sp>
      <p:sp>
        <p:nvSpPr>
          <p:cNvPr id="51" name="tit">
            <a:extLst>
              <a:ext uri="{FF2B5EF4-FFF2-40B4-BE49-F238E27FC236}">
                <a16:creationId xmlns:a16="http://schemas.microsoft.com/office/drawing/2014/main" id="{47A38AF1-910B-62DC-939E-7C76AA9C2F3A}"/>
              </a:ext>
            </a:extLst>
          </p:cNvPr>
          <p:cNvSpPr txBox="1">
            <a:spLocks noGrp="1"/>
          </p:cNvSpPr>
          <p:nvPr/>
        </p:nvSpPr>
        <p:spPr>
          <a:xfrm>
            <a:off x="4828032" y="1148225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Agentic AI: del lab a producción</a:t>
            </a:r>
          </a:p>
        </p:txBody>
      </p:sp>
      <p:sp>
        <p:nvSpPr>
          <p:cNvPr id="53" name="dsc">
            <a:extLst>
              <a:ext uri="{FF2B5EF4-FFF2-40B4-BE49-F238E27FC236}">
                <a16:creationId xmlns:a16="http://schemas.microsoft.com/office/drawing/2014/main" id="{A63E870B-0656-7A9C-BD42-FA0395B0E5D1}"/>
              </a:ext>
            </a:extLst>
          </p:cNvPr>
          <p:cNvSpPr txBox="1">
            <a:spLocks noGrp="1"/>
          </p:cNvSpPr>
          <p:nvPr/>
        </p:nvSpPr>
        <p:spPr>
          <a:xfrm>
            <a:off x="4828032" y="1449977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dirty="0">
                <a:solidFill>
                  <a:srgbClr val="6B7280"/>
                </a:solidFill>
                <a:latin typeface="Reddit Sans"/>
                <a:ea typeface="Reddit Sans"/>
              </a:rPr>
              <a:t>51% desplegada · solo 11% plena · &gt;40% proyectos cancelados en 2027</a:t>
            </a:r>
          </a:p>
        </p:txBody>
      </p:sp>
      <p:sp>
        <p:nvSpPr>
          <p:cNvPr id="55" name="tbg">
            <a:extLst>
              <a:ext uri="{FF2B5EF4-FFF2-40B4-BE49-F238E27FC236}">
                <a16:creationId xmlns:a16="http://schemas.microsoft.com/office/drawing/2014/main" id="{78ED7BD5-3328-1E86-1CD3-F3ABFB7D5EBC}"/>
              </a:ext>
            </a:extLst>
          </p:cNvPr>
          <p:cNvSpPr>
            <a:spLocks noGrp="1"/>
          </p:cNvSpPr>
          <p:nvPr/>
        </p:nvSpPr>
        <p:spPr>
          <a:xfrm>
            <a:off x="320040" y="1907177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57" name="nbg">
            <a:extLst>
              <a:ext uri="{FF2B5EF4-FFF2-40B4-BE49-F238E27FC236}">
                <a16:creationId xmlns:a16="http://schemas.microsoft.com/office/drawing/2014/main" id="{5BC0A9C8-B806-46EB-BD6C-ED2E701953C3}"/>
              </a:ext>
            </a:extLst>
          </p:cNvPr>
          <p:cNvSpPr>
            <a:spLocks noGrp="1"/>
          </p:cNvSpPr>
          <p:nvPr/>
        </p:nvSpPr>
        <p:spPr>
          <a:xfrm>
            <a:off x="320040" y="1907177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59" name="num">
            <a:extLst>
              <a:ext uri="{FF2B5EF4-FFF2-40B4-BE49-F238E27FC236}">
                <a16:creationId xmlns:a16="http://schemas.microsoft.com/office/drawing/2014/main" id="{D8562C94-6B4C-8925-E7C7-2C331F3EB62A}"/>
              </a:ext>
            </a:extLst>
          </p:cNvPr>
          <p:cNvSpPr txBox="1">
            <a:spLocks noGrp="1"/>
          </p:cNvSpPr>
          <p:nvPr/>
        </p:nvSpPr>
        <p:spPr>
          <a:xfrm>
            <a:off x="341811" y="1939834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FFFFFF"/>
                </a:solidFill>
                <a:latin typeface="Reddit Sans"/>
                <a:ea typeface="Reddit Sans"/>
              </a:rPr>
              <a:t>03</a:t>
            </a:r>
          </a:p>
        </p:txBody>
      </p:sp>
      <p:sp>
        <p:nvSpPr>
          <p:cNvPr id="61" name="tit">
            <a:extLst>
              <a:ext uri="{FF2B5EF4-FFF2-40B4-BE49-F238E27FC236}">
                <a16:creationId xmlns:a16="http://schemas.microsoft.com/office/drawing/2014/main" id="{A2DB0DF9-D904-E75C-93A4-CC1D7FC46BD0}"/>
              </a:ext>
            </a:extLst>
          </p:cNvPr>
          <p:cNvSpPr txBox="1">
            <a:spLocks noGrp="1"/>
          </p:cNvSpPr>
          <p:nvPr/>
        </p:nvSpPr>
        <p:spPr>
          <a:xfrm>
            <a:off x="850392" y="1989473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KCS como prerrequisito</a:t>
            </a:r>
          </a:p>
        </p:txBody>
      </p:sp>
      <p:sp>
        <p:nvSpPr>
          <p:cNvPr id="63" name="dsc">
            <a:extLst>
              <a:ext uri="{FF2B5EF4-FFF2-40B4-BE49-F238E27FC236}">
                <a16:creationId xmlns:a16="http://schemas.microsoft.com/office/drawing/2014/main" id="{F769A8A7-3CF0-C2A0-FB61-F296A546B0FD}"/>
              </a:ext>
            </a:extLst>
          </p:cNvPr>
          <p:cNvSpPr txBox="1">
            <a:spLocks noGrp="1"/>
          </p:cNvSpPr>
          <p:nvPr/>
        </p:nvSpPr>
        <p:spPr>
          <a:xfrm>
            <a:off x="850392" y="2291225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dirty="0">
                <a:solidFill>
                  <a:srgbClr val="6B7280"/>
                </a:solidFill>
                <a:latin typeface="Reddit Sans"/>
                <a:ea typeface="Reddit Sans"/>
              </a:rPr>
              <a:t>Datos validados previenen alucinaciones — base de IA confiable</a:t>
            </a:r>
          </a:p>
        </p:txBody>
      </p:sp>
      <p:sp>
        <p:nvSpPr>
          <p:cNvPr id="65" name="tbg">
            <a:extLst>
              <a:ext uri="{FF2B5EF4-FFF2-40B4-BE49-F238E27FC236}">
                <a16:creationId xmlns:a16="http://schemas.microsoft.com/office/drawing/2014/main" id="{CB97808D-A242-0907-4551-2A5994170ACB}"/>
              </a:ext>
            </a:extLst>
          </p:cNvPr>
          <p:cNvSpPr>
            <a:spLocks noGrp="1"/>
          </p:cNvSpPr>
          <p:nvPr/>
        </p:nvSpPr>
        <p:spPr>
          <a:xfrm>
            <a:off x="4297680" y="1907177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67" name="nbg">
            <a:extLst>
              <a:ext uri="{FF2B5EF4-FFF2-40B4-BE49-F238E27FC236}">
                <a16:creationId xmlns:a16="http://schemas.microsoft.com/office/drawing/2014/main" id="{5E812209-F87E-832B-E09E-E60A053D8752}"/>
              </a:ext>
            </a:extLst>
          </p:cNvPr>
          <p:cNvSpPr>
            <a:spLocks noGrp="1"/>
          </p:cNvSpPr>
          <p:nvPr/>
        </p:nvSpPr>
        <p:spPr>
          <a:xfrm>
            <a:off x="4297680" y="1907177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69" name="num">
            <a:extLst>
              <a:ext uri="{FF2B5EF4-FFF2-40B4-BE49-F238E27FC236}">
                <a16:creationId xmlns:a16="http://schemas.microsoft.com/office/drawing/2014/main" id="{1DF2AA28-B5D4-D0F2-E013-670761AFC094}"/>
              </a:ext>
            </a:extLst>
          </p:cNvPr>
          <p:cNvSpPr txBox="1">
            <a:spLocks noGrp="1"/>
          </p:cNvSpPr>
          <p:nvPr/>
        </p:nvSpPr>
        <p:spPr>
          <a:xfrm>
            <a:off x="4319451" y="1939834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FFFFFF"/>
                </a:solidFill>
                <a:latin typeface="Reddit Sans"/>
                <a:ea typeface="Reddit Sans"/>
              </a:rPr>
              <a:t>04</a:t>
            </a:r>
          </a:p>
        </p:txBody>
      </p:sp>
      <p:sp>
        <p:nvSpPr>
          <p:cNvPr id="71" name="tit">
            <a:extLst>
              <a:ext uri="{FF2B5EF4-FFF2-40B4-BE49-F238E27FC236}">
                <a16:creationId xmlns:a16="http://schemas.microsoft.com/office/drawing/2014/main" id="{A42665E5-797C-554B-20C2-A8CE6D1D7E37}"/>
              </a:ext>
            </a:extLst>
          </p:cNvPr>
          <p:cNvSpPr txBox="1">
            <a:spLocks noGrp="1"/>
          </p:cNvSpPr>
          <p:nvPr/>
        </p:nvSpPr>
        <p:spPr>
          <a:xfrm>
            <a:off x="4828032" y="1989473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Shift-Left con datos</a:t>
            </a:r>
          </a:p>
        </p:txBody>
      </p:sp>
      <p:sp>
        <p:nvSpPr>
          <p:cNvPr id="73" name="dsc">
            <a:extLst>
              <a:ext uri="{FF2B5EF4-FFF2-40B4-BE49-F238E27FC236}">
                <a16:creationId xmlns:a16="http://schemas.microsoft.com/office/drawing/2014/main" id="{0154591C-78F3-F179-7168-28460E8FB0F7}"/>
              </a:ext>
            </a:extLst>
          </p:cNvPr>
          <p:cNvSpPr txBox="1">
            <a:spLocks noGrp="1"/>
          </p:cNvSpPr>
          <p:nvPr/>
        </p:nvSpPr>
        <p:spPr>
          <a:xfrm>
            <a:off x="4828032" y="2291225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dirty="0">
                <a:solidFill>
                  <a:srgbClr val="6B7280"/>
                </a:solidFill>
                <a:latin typeface="Reddit Sans"/>
                <a:ea typeface="Reddit Sans"/>
              </a:rPr>
              <a:t>N3: USD 104/ticket → N0: USD 2/ticket — cada deflección = ahorro medible</a:t>
            </a:r>
          </a:p>
        </p:txBody>
      </p:sp>
      <p:sp>
        <p:nvSpPr>
          <p:cNvPr id="75" name="tbg">
            <a:extLst>
              <a:ext uri="{FF2B5EF4-FFF2-40B4-BE49-F238E27FC236}">
                <a16:creationId xmlns:a16="http://schemas.microsoft.com/office/drawing/2014/main" id="{29A51720-7144-38BA-FBF5-D66AA162D09B}"/>
              </a:ext>
            </a:extLst>
          </p:cNvPr>
          <p:cNvSpPr>
            <a:spLocks noGrp="1"/>
          </p:cNvSpPr>
          <p:nvPr/>
        </p:nvSpPr>
        <p:spPr>
          <a:xfrm>
            <a:off x="320040" y="2748425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77" name="nbg">
            <a:extLst>
              <a:ext uri="{FF2B5EF4-FFF2-40B4-BE49-F238E27FC236}">
                <a16:creationId xmlns:a16="http://schemas.microsoft.com/office/drawing/2014/main" id="{7B6EF073-B7E0-A645-C5A8-4F0AE6180677}"/>
              </a:ext>
            </a:extLst>
          </p:cNvPr>
          <p:cNvSpPr>
            <a:spLocks noGrp="1"/>
          </p:cNvSpPr>
          <p:nvPr/>
        </p:nvSpPr>
        <p:spPr>
          <a:xfrm>
            <a:off x="320040" y="2748425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>
            <a:noFill/>
          </a:ln>
        </p:spPr>
      </p:sp>
      <p:sp>
        <p:nvSpPr>
          <p:cNvPr id="79" name="num">
            <a:extLst>
              <a:ext uri="{FF2B5EF4-FFF2-40B4-BE49-F238E27FC236}">
                <a16:creationId xmlns:a16="http://schemas.microsoft.com/office/drawing/2014/main" id="{C63AC77E-850D-B24C-4792-938E758199C6}"/>
              </a:ext>
            </a:extLst>
          </p:cNvPr>
          <p:cNvSpPr txBox="1">
            <a:spLocks noGrp="1"/>
          </p:cNvSpPr>
          <p:nvPr/>
        </p:nvSpPr>
        <p:spPr>
          <a:xfrm>
            <a:off x="341811" y="2781082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FFFFFF"/>
                </a:solidFill>
                <a:latin typeface="Reddit Sans"/>
                <a:ea typeface="Reddit Sans"/>
              </a:rPr>
              <a:t>05</a:t>
            </a:r>
          </a:p>
        </p:txBody>
      </p:sp>
      <p:sp>
        <p:nvSpPr>
          <p:cNvPr id="81" name="tit">
            <a:extLst>
              <a:ext uri="{FF2B5EF4-FFF2-40B4-BE49-F238E27FC236}">
                <a16:creationId xmlns:a16="http://schemas.microsoft.com/office/drawing/2014/main" id="{EDEB4F0F-961F-2E4D-3160-6EA7D0243692}"/>
              </a:ext>
            </a:extLst>
          </p:cNvPr>
          <p:cNvSpPr txBox="1">
            <a:spLocks noGrp="1"/>
          </p:cNvSpPr>
          <p:nvPr/>
        </p:nvSpPr>
        <p:spPr>
          <a:xfrm>
            <a:off x="850392" y="2830721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De SLA a Outcomes</a:t>
            </a:r>
          </a:p>
        </p:txBody>
      </p:sp>
      <p:sp>
        <p:nvSpPr>
          <p:cNvPr id="83" name="dsc">
            <a:extLst>
              <a:ext uri="{FF2B5EF4-FFF2-40B4-BE49-F238E27FC236}">
                <a16:creationId xmlns:a16="http://schemas.microsoft.com/office/drawing/2014/main" id="{9E8C207C-30A1-CCFC-9851-E81DD19A83C6}"/>
              </a:ext>
            </a:extLst>
          </p:cNvPr>
          <p:cNvSpPr txBox="1">
            <a:spLocks noGrp="1"/>
          </p:cNvSpPr>
          <p:nvPr/>
        </p:nvSpPr>
        <p:spPr>
          <a:xfrm>
            <a:off x="850392" y="3132473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dirty="0">
                <a:solidFill>
                  <a:srgbClr val="6B7280"/>
                </a:solidFill>
                <a:latin typeface="Reddit Sans"/>
                <a:ea typeface="Reddit Sans"/>
              </a:rPr>
              <a:t>30% contratos TI enterprise serán outcome-based hacia 2029</a:t>
            </a:r>
          </a:p>
        </p:txBody>
      </p:sp>
      <p:sp>
        <p:nvSpPr>
          <p:cNvPr id="85" name="tbg">
            <a:extLst>
              <a:ext uri="{FF2B5EF4-FFF2-40B4-BE49-F238E27FC236}">
                <a16:creationId xmlns:a16="http://schemas.microsoft.com/office/drawing/2014/main" id="{FE9F5A36-BF1D-FF3B-5933-60DE217082EC}"/>
              </a:ext>
            </a:extLst>
          </p:cNvPr>
          <p:cNvSpPr>
            <a:spLocks noGrp="1"/>
          </p:cNvSpPr>
          <p:nvPr/>
        </p:nvSpPr>
        <p:spPr>
          <a:xfrm>
            <a:off x="4297680" y="2748425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87" name="nbg">
            <a:extLst>
              <a:ext uri="{FF2B5EF4-FFF2-40B4-BE49-F238E27FC236}">
                <a16:creationId xmlns:a16="http://schemas.microsoft.com/office/drawing/2014/main" id="{35009AB2-2A4A-D430-C93D-47F679E2282C}"/>
              </a:ext>
            </a:extLst>
          </p:cNvPr>
          <p:cNvSpPr>
            <a:spLocks noGrp="1"/>
          </p:cNvSpPr>
          <p:nvPr/>
        </p:nvSpPr>
        <p:spPr>
          <a:xfrm>
            <a:off x="4297680" y="2748425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89" name="num">
            <a:extLst>
              <a:ext uri="{FF2B5EF4-FFF2-40B4-BE49-F238E27FC236}">
                <a16:creationId xmlns:a16="http://schemas.microsoft.com/office/drawing/2014/main" id="{F3E527D9-0A21-5705-80E1-74DE384F8B20}"/>
              </a:ext>
            </a:extLst>
          </p:cNvPr>
          <p:cNvSpPr txBox="1">
            <a:spLocks noGrp="1"/>
          </p:cNvSpPr>
          <p:nvPr/>
        </p:nvSpPr>
        <p:spPr>
          <a:xfrm>
            <a:off x="4319451" y="2781082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FFFFFF"/>
                </a:solidFill>
                <a:latin typeface="Reddit Sans"/>
                <a:ea typeface="Reddit Sans"/>
              </a:rPr>
              <a:t>06</a:t>
            </a:r>
          </a:p>
        </p:txBody>
      </p:sp>
      <p:sp>
        <p:nvSpPr>
          <p:cNvPr id="91" name="tit">
            <a:extLst>
              <a:ext uri="{FF2B5EF4-FFF2-40B4-BE49-F238E27FC236}">
                <a16:creationId xmlns:a16="http://schemas.microsoft.com/office/drawing/2014/main" id="{40700858-4F67-0656-4021-88A43231BE46}"/>
              </a:ext>
            </a:extLst>
          </p:cNvPr>
          <p:cNvSpPr txBox="1">
            <a:spLocks noGrp="1"/>
          </p:cNvSpPr>
          <p:nvPr/>
        </p:nvSpPr>
        <p:spPr>
          <a:xfrm>
            <a:off x="4828032" y="2830721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Observabilidad predictiva</a:t>
            </a:r>
          </a:p>
        </p:txBody>
      </p:sp>
      <p:sp>
        <p:nvSpPr>
          <p:cNvPr id="93" name="dsc">
            <a:extLst>
              <a:ext uri="{FF2B5EF4-FFF2-40B4-BE49-F238E27FC236}">
                <a16:creationId xmlns:a16="http://schemas.microsoft.com/office/drawing/2014/main" id="{CF143D6F-DE28-75B6-ABE8-46983A60DE08}"/>
              </a:ext>
            </a:extLst>
          </p:cNvPr>
          <p:cNvSpPr txBox="1">
            <a:spLocks noGrp="1"/>
          </p:cNvSpPr>
          <p:nvPr/>
        </p:nvSpPr>
        <p:spPr>
          <a:xfrm>
            <a:off x="4828032" y="3132473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dirty="0">
                <a:solidFill>
                  <a:srgbClr val="6B7280"/>
                </a:solidFill>
                <a:latin typeface="Reddit Sans"/>
                <a:ea typeface="Reddit Sans"/>
              </a:rPr>
              <a:t>Mesa que detecta antes del reporte del usuario es invisible — en el mejor sentido</a:t>
            </a:r>
          </a:p>
        </p:txBody>
      </p:sp>
      <p:sp>
        <p:nvSpPr>
          <p:cNvPr id="95" name="tbg">
            <a:extLst>
              <a:ext uri="{FF2B5EF4-FFF2-40B4-BE49-F238E27FC236}">
                <a16:creationId xmlns:a16="http://schemas.microsoft.com/office/drawing/2014/main" id="{3903BF14-E4D2-8CBB-B1BB-2E375AD999CE}"/>
              </a:ext>
            </a:extLst>
          </p:cNvPr>
          <p:cNvSpPr>
            <a:spLocks noGrp="1"/>
          </p:cNvSpPr>
          <p:nvPr/>
        </p:nvSpPr>
        <p:spPr>
          <a:xfrm>
            <a:off x="320040" y="3589673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97" name="nbg">
            <a:extLst>
              <a:ext uri="{FF2B5EF4-FFF2-40B4-BE49-F238E27FC236}">
                <a16:creationId xmlns:a16="http://schemas.microsoft.com/office/drawing/2014/main" id="{B6FA2DF3-D949-A861-A954-C8A9DE358EB4}"/>
              </a:ext>
            </a:extLst>
          </p:cNvPr>
          <p:cNvSpPr>
            <a:spLocks noGrp="1"/>
          </p:cNvSpPr>
          <p:nvPr/>
        </p:nvSpPr>
        <p:spPr>
          <a:xfrm>
            <a:off x="320040" y="3589673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99" name="num">
            <a:extLst>
              <a:ext uri="{FF2B5EF4-FFF2-40B4-BE49-F238E27FC236}">
                <a16:creationId xmlns:a16="http://schemas.microsoft.com/office/drawing/2014/main" id="{DA444C1A-F491-F1D0-764E-5FC1132486BF}"/>
              </a:ext>
            </a:extLst>
          </p:cNvPr>
          <p:cNvSpPr txBox="1">
            <a:spLocks noGrp="1"/>
          </p:cNvSpPr>
          <p:nvPr/>
        </p:nvSpPr>
        <p:spPr>
          <a:xfrm>
            <a:off x="341811" y="3622330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FFFFFF"/>
                </a:solidFill>
                <a:latin typeface="Reddit Sans"/>
                <a:ea typeface="Reddit Sans"/>
              </a:rPr>
              <a:t>07</a:t>
            </a:r>
          </a:p>
        </p:txBody>
      </p:sp>
      <p:sp>
        <p:nvSpPr>
          <p:cNvPr id="101" name="tit">
            <a:extLst>
              <a:ext uri="{FF2B5EF4-FFF2-40B4-BE49-F238E27FC236}">
                <a16:creationId xmlns:a16="http://schemas.microsoft.com/office/drawing/2014/main" id="{7072CD12-1D2F-819C-9D82-6EF1A23170FD}"/>
              </a:ext>
            </a:extLst>
          </p:cNvPr>
          <p:cNvSpPr txBox="1">
            <a:spLocks noGrp="1"/>
          </p:cNvSpPr>
          <p:nvPr/>
        </p:nvSpPr>
        <p:spPr>
          <a:xfrm>
            <a:off x="850392" y="3671969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 dirty="0">
                <a:solidFill>
                  <a:srgbClr val="0D1B5E"/>
                </a:solidFill>
                <a:latin typeface="Reddit Sans"/>
                <a:ea typeface="Reddit Sans"/>
              </a:rPr>
              <a:t>ITIL v5 y gobernanza IA</a:t>
            </a:r>
          </a:p>
        </p:txBody>
      </p:sp>
      <p:sp>
        <p:nvSpPr>
          <p:cNvPr id="103" name="dsc">
            <a:extLst>
              <a:ext uri="{FF2B5EF4-FFF2-40B4-BE49-F238E27FC236}">
                <a16:creationId xmlns:a16="http://schemas.microsoft.com/office/drawing/2014/main" id="{E6A1C6E7-2F50-3C54-1311-4877D275D137}"/>
              </a:ext>
            </a:extLst>
          </p:cNvPr>
          <p:cNvSpPr txBox="1">
            <a:spLocks noGrp="1"/>
          </p:cNvSpPr>
          <p:nvPr/>
        </p:nvSpPr>
        <p:spPr>
          <a:xfrm>
            <a:off x="850392" y="3973721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dirty="0">
                <a:solidFill>
                  <a:srgbClr val="6B7280"/>
                </a:solidFill>
                <a:latin typeface="Reddit Sans"/>
                <a:ea typeface="Reddit Sans"/>
              </a:rPr>
              <a:t>8 etapas · 6C AI Capability Model · gobernanza IA ya no es opcional</a:t>
            </a:r>
          </a:p>
        </p:txBody>
      </p:sp>
    </p:spTree>
    <p:extLst>
      <p:ext uri="{BB962C8B-B14F-4D97-AF65-F5344CB8AC3E}">
        <p14:creationId xmlns:p14="http://schemas.microsoft.com/office/powerpoint/2010/main" val="1555643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B6438-BF5B-F6C9-DE7C-E31F1892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El Costo de No </a:t>
            </a:r>
            <a:r>
              <a:rPr lang="en-US" sz="1400" dirty="0" err="1"/>
              <a:t>Evolucionar</a:t>
            </a:r>
            <a:endParaRPr lang="es-CO" sz="1400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4AAC178-FC92-F642-69E8-BC6A6C6E3207}"/>
              </a:ext>
            </a:extLst>
          </p:cNvPr>
          <p:cNvSpPr/>
          <p:nvPr/>
        </p:nvSpPr>
        <p:spPr>
          <a:xfrm>
            <a:off x="312930" y="84417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por ticket segun nivel de resolucion</a:t>
            </a:r>
            <a:endParaRPr lang="en-US" sz="1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FE31A7F-BC0A-F0E6-2C8C-3B58D49E8001}"/>
              </a:ext>
            </a:extLst>
          </p:cNvPr>
          <p:cNvSpPr/>
          <p:nvPr/>
        </p:nvSpPr>
        <p:spPr>
          <a:xfrm>
            <a:off x="312930" y="3998850"/>
            <a:ext cx="4663440" cy="365760"/>
          </a:xfrm>
          <a:prstGeom prst="leftArrow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B09B687A-2905-F335-0058-C12B2534C3A3}"/>
              </a:ext>
            </a:extLst>
          </p:cNvPr>
          <p:cNvSpPr/>
          <p:nvPr/>
        </p:nvSpPr>
        <p:spPr>
          <a:xfrm>
            <a:off x="450090" y="4017138"/>
            <a:ext cx="4434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Shift-Left: Cada punto de defleccion = ahorro cuantificable</a:t>
            </a:r>
            <a:endParaRPr lang="en-US" sz="10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0" name="Text 51">
            <a:extLst>
              <a:ext uri="{FF2B5EF4-FFF2-40B4-BE49-F238E27FC236}">
                <a16:creationId xmlns:a16="http://schemas.microsoft.com/office/drawing/2014/main" id="{2539AF75-7CFB-C18E-660F-5C359868078E}"/>
              </a:ext>
            </a:extLst>
          </p:cNvPr>
          <p:cNvSpPr/>
          <p:nvPr/>
        </p:nvSpPr>
        <p:spPr>
          <a:xfrm>
            <a:off x="312930" y="4629786"/>
            <a:ext cx="8595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Fuente: </a:t>
            </a:r>
            <a:r>
              <a:rPr lang="en-US" sz="750" u="sng" dirty="0" err="1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State of IT 2025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 Agentic AI Service Management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Cost per Ticket Benchmark</a:t>
            </a:r>
            <a:endParaRPr lang="en-US" sz="750">
              <a:highlight>
                <a:srgbClr val="FFFF00"/>
              </a:highlight>
              <a:latin typeface="Reddit Sans"/>
              <a:ea typeface="Reddit Sans"/>
              <a:cs typeface="Calibri"/>
            </a:endParaRPr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E848E77C-4CF7-E141-E976-3EFC1688EBE2}"/>
              </a:ext>
            </a:extLst>
          </p:cNvPr>
          <p:cNvSpPr/>
          <p:nvPr/>
        </p:nvSpPr>
        <p:spPr>
          <a:xfrm>
            <a:off x="312930" y="52413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La mesa reactiva ya es indefendible comercialmente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41" name="bar">
            <a:extLst>
              <a:ext uri="{FF2B5EF4-FFF2-40B4-BE49-F238E27FC236}">
                <a16:creationId xmlns:a16="http://schemas.microsoft.com/office/drawing/2014/main" id="{5157805E-5E2A-EA83-FA50-536A233632FB}"/>
              </a:ext>
            </a:extLst>
          </p:cNvPr>
          <p:cNvSpPr>
            <a:spLocks noGrp="1"/>
          </p:cNvSpPr>
          <p:nvPr/>
        </p:nvSpPr>
        <p:spPr>
          <a:xfrm>
            <a:off x="363583" y="1278201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A6B3C"/>
          </a:solidFill>
          <a:ln>
            <a:noFill/>
          </a:ln>
        </p:spPr>
      </p:sp>
      <p:sp>
        <p:nvSpPr>
          <p:cNvPr id="143" name="lbl">
            <a:extLst>
              <a:ext uri="{FF2B5EF4-FFF2-40B4-BE49-F238E27FC236}">
                <a16:creationId xmlns:a16="http://schemas.microsoft.com/office/drawing/2014/main" id="{2B0ADD44-981F-5714-ED4D-60260B63E85A}"/>
              </a:ext>
            </a:extLst>
          </p:cNvPr>
          <p:cNvSpPr txBox="1">
            <a:spLocks noGrp="1"/>
          </p:cNvSpPr>
          <p:nvPr/>
        </p:nvSpPr>
        <p:spPr>
          <a:xfrm>
            <a:off x="436735" y="1278201"/>
            <a:ext cx="899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/>
            <a:r>
              <a:rPr lang="es-ES" sz="900" b="1" dirty="0">
                <a:solidFill>
                  <a:srgbClr val="FFFFFF"/>
                </a:solidFill>
                <a:latin typeface="Reddit Sans"/>
                <a:ea typeface="Reddit Sans"/>
              </a:rPr>
              <a:t>N0 Autoservicio</a:t>
            </a:r>
          </a:p>
        </p:txBody>
      </p:sp>
      <p:sp>
        <p:nvSpPr>
          <p:cNvPr id="145" name="cst">
            <a:extLst>
              <a:ext uri="{FF2B5EF4-FFF2-40B4-BE49-F238E27FC236}">
                <a16:creationId xmlns:a16="http://schemas.microsoft.com/office/drawing/2014/main" id="{E4439B9E-F687-74E9-EB92-6EB3C16EDDAD}"/>
              </a:ext>
            </a:extLst>
          </p:cNvPr>
          <p:cNvSpPr txBox="1">
            <a:spLocks noGrp="1"/>
          </p:cNvSpPr>
          <p:nvPr/>
        </p:nvSpPr>
        <p:spPr>
          <a:xfrm>
            <a:off x="1387711" y="1278201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 dirty="0">
                <a:solidFill>
                  <a:srgbClr val="0D1B5E"/>
                </a:solidFill>
                <a:latin typeface="Reddit Sans"/>
                <a:ea typeface="Reddit Sans"/>
              </a:rPr>
              <a:t>USD 2</a:t>
            </a:r>
          </a:p>
        </p:txBody>
      </p:sp>
      <p:sp>
        <p:nvSpPr>
          <p:cNvPr id="147" name="bar">
            <a:extLst>
              <a:ext uri="{FF2B5EF4-FFF2-40B4-BE49-F238E27FC236}">
                <a16:creationId xmlns:a16="http://schemas.microsoft.com/office/drawing/2014/main" id="{FBAF12FC-0D1F-F735-64F1-19A358F92296}"/>
              </a:ext>
            </a:extLst>
          </p:cNvPr>
          <p:cNvSpPr>
            <a:spLocks noGrp="1"/>
          </p:cNvSpPr>
          <p:nvPr/>
        </p:nvSpPr>
        <p:spPr>
          <a:xfrm>
            <a:off x="363583" y="1799409"/>
            <a:ext cx="1496785" cy="457200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149" name="lbl">
            <a:extLst>
              <a:ext uri="{FF2B5EF4-FFF2-40B4-BE49-F238E27FC236}">
                <a16:creationId xmlns:a16="http://schemas.microsoft.com/office/drawing/2014/main" id="{71C36A62-E4E7-831A-FC2B-84562D562C1F}"/>
              </a:ext>
            </a:extLst>
          </p:cNvPr>
          <p:cNvSpPr txBox="1">
            <a:spLocks noGrp="1"/>
          </p:cNvSpPr>
          <p:nvPr/>
        </p:nvSpPr>
        <p:spPr>
          <a:xfrm>
            <a:off x="436735" y="1799409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 dirty="0">
                <a:solidFill>
                  <a:srgbClr val="FFFFFF"/>
                </a:solidFill>
                <a:latin typeface="Reddit Sans"/>
                <a:ea typeface="Reddit Sans"/>
              </a:rPr>
              <a:t>N1 Agente Virtual IA</a:t>
            </a:r>
          </a:p>
        </p:txBody>
      </p:sp>
      <p:sp>
        <p:nvSpPr>
          <p:cNvPr id="151" name="cst">
            <a:extLst>
              <a:ext uri="{FF2B5EF4-FFF2-40B4-BE49-F238E27FC236}">
                <a16:creationId xmlns:a16="http://schemas.microsoft.com/office/drawing/2014/main" id="{716CAA39-1F22-F973-E1DF-A49F3614AF42}"/>
              </a:ext>
            </a:extLst>
          </p:cNvPr>
          <p:cNvSpPr txBox="1">
            <a:spLocks noGrp="1"/>
          </p:cNvSpPr>
          <p:nvPr/>
        </p:nvSpPr>
        <p:spPr>
          <a:xfrm>
            <a:off x="1844911" y="1799409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 dirty="0">
                <a:solidFill>
                  <a:srgbClr val="0D1B5E"/>
                </a:solidFill>
                <a:latin typeface="Reddit Sans"/>
                <a:ea typeface="Reddit Sans"/>
              </a:rPr>
              <a:t>USD 8</a:t>
            </a:r>
          </a:p>
        </p:txBody>
      </p:sp>
      <p:sp>
        <p:nvSpPr>
          <p:cNvPr id="153" name="bar">
            <a:extLst>
              <a:ext uri="{FF2B5EF4-FFF2-40B4-BE49-F238E27FC236}">
                <a16:creationId xmlns:a16="http://schemas.microsoft.com/office/drawing/2014/main" id="{B00C8B7D-B467-FA5A-08A0-889448FB396D}"/>
              </a:ext>
            </a:extLst>
          </p:cNvPr>
          <p:cNvSpPr>
            <a:spLocks noGrp="1"/>
          </p:cNvSpPr>
          <p:nvPr/>
        </p:nvSpPr>
        <p:spPr>
          <a:xfrm>
            <a:off x="363583" y="2320617"/>
            <a:ext cx="2299062" cy="457200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155" name="lbl">
            <a:extLst>
              <a:ext uri="{FF2B5EF4-FFF2-40B4-BE49-F238E27FC236}">
                <a16:creationId xmlns:a16="http://schemas.microsoft.com/office/drawing/2014/main" id="{B2DFE1AD-48DF-10FB-2EB4-DB126050808B}"/>
              </a:ext>
            </a:extLst>
          </p:cNvPr>
          <p:cNvSpPr txBox="1">
            <a:spLocks noGrp="1"/>
          </p:cNvSpPr>
          <p:nvPr/>
        </p:nvSpPr>
        <p:spPr>
          <a:xfrm>
            <a:off x="436735" y="2320617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 dirty="0">
                <a:solidFill>
                  <a:srgbClr val="FFFFFF"/>
                </a:solidFill>
                <a:latin typeface="Reddit Sans"/>
                <a:ea typeface="Reddit Sans"/>
              </a:rPr>
              <a:t>N2 Soporte L1</a:t>
            </a:r>
          </a:p>
        </p:txBody>
      </p:sp>
      <p:sp>
        <p:nvSpPr>
          <p:cNvPr id="157" name="cst">
            <a:extLst>
              <a:ext uri="{FF2B5EF4-FFF2-40B4-BE49-F238E27FC236}">
                <a16:creationId xmlns:a16="http://schemas.microsoft.com/office/drawing/2014/main" id="{60A9ED2F-0787-C608-C521-3DCE9D1E894A}"/>
              </a:ext>
            </a:extLst>
          </p:cNvPr>
          <p:cNvSpPr txBox="1">
            <a:spLocks noGrp="1"/>
          </p:cNvSpPr>
          <p:nvPr/>
        </p:nvSpPr>
        <p:spPr>
          <a:xfrm>
            <a:off x="2576431" y="2320617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 dirty="0">
                <a:solidFill>
                  <a:srgbClr val="0D1B5E"/>
                </a:solidFill>
                <a:latin typeface="Reddit Sans"/>
                <a:ea typeface="Reddit Sans"/>
              </a:rPr>
              <a:t>USD 22</a:t>
            </a:r>
          </a:p>
        </p:txBody>
      </p:sp>
      <p:sp>
        <p:nvSpPr>
          <p:cNvPr id="159" name="bar">
            <a:extLst>
              <a:ext uri="{FF2B5EF4-FFF2-40B4-BE49-F238E27FC236}">
                <a16:creationId xmlns:a16="http://schemas.microsoft.com/office/drawing/2014/main" id="{36E6D2F2-2A4B-8AE8-33B4-3E2CC238959B}"/>
              </a:ext>
            </a:extLst>
          </p:cNvPr>
          <p:cNvSpPr>
            <a:spLocks noGrp="1"/>
          </p:cNvSpPr>
          <p:nvPr/>
        </p:nvSpPr>
        <p:spPr>
          <a:xfrm>
            <a:off x="363583" y="2841825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161" name="lbl">
            <a:extLst>
              <a:ext uri="{FF2B5EF4-FFF2-40B4-BE49-F238E27FC236}">
                <a16:creationId xmlns:a16="http://schemas.microsoft.com/office/drawing/2014/main" id="{E40B749C-A2E5-12DB-B139-62F93E4200C8}"/>
              </a:ext>
            </a:extLst>
          </p:cNvPr>
          <p:cNvSpPr txBox="1">
            <a:spLocks noGrp="1"/>
          </p:cNvSpPr>
          <p:nvPr/>
        </p:nvSpPr>
        <p:spPr>
          <a:xfrm>
            <a:off x="436735" y="2841825"/>
            <a:ext cx="319822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 dirty="0">
                <a:solidFill>
                  <a:srgbClr val="FFFFFF"/>
                </a:solidFill>
                <a:latin typeface="Reddit Sans"/>
                <a:ea typeface="Reddit Sans"/>
              </a:rPr>
              <a:t>N3 Soporte L2</a:t>
            </a:r>
          </a:p>
        </p:txBody>
      </p:sp>
      <p:sp>
        <p:nvSpPr>
          <p:cNvPr id="163" name="cst">
            <a:extLst>
              <a:ext uri="{FF2B5EF4-FFF2-40B4-BE49-F238E27FC236}">
                <a16:creationId xmlns:a16="http://schemas.microsoft.com/office/drawing/2014/main" id="{239918B0-AEA0-76AF-70C1-C7069D488EE4}"/>
              </a:ext>
            </a:extLst>
          </p:cNvPr>
          <p:cNvSpPr txBox="1">
            <a:spLocks noGrp="1"/>
          </p:cNvSpPr>
          <p:nvPr/>
        </p:nvSpPr>
        <p:spPr>
          <a:xfrm>
            <a:off x="3490831" y="2841825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 dirty="0">
                <a:solidFill>
                  <a:srgbClr val="0D1B5E"/>
                </a:solidFill>
                <a:latin typeface="Reddit Sans"/>
                <a:ea typeface="Reddit Sans"/>
              </a:rPr>
              <a:t>USD 55</a:t>
            </a:r>
          </a:p>
        </p:txBody>
      </p:sp>
      <p:sp>
        <p:nvSpPr>
          <p:cNvPr id="165" name="bar">
            <a:extLst>
              <a:ext uri="{FF2B5EF4-FFF2-40B4-BE49-F238E27FC236}">
                <a16:creationId xmlns:a16="http://schemas.microsoft.com/office/drawing/2014/main" id="{ADF2DCAC-F3AA-43F8-B4AB-26576FC1B888}"/>
              </a:ext>
            </a:extLst>
          </p:cNvPr>
          <p:cNvSpPr>
            <a:spLocks noGrp="1"/>
          </p:cNvSpPr>
          <p:nvPr/>
        </p:nvSpPr>
        <p:spPr>
          <a:xfrm>
            <a:off x="363583" y="3363033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167" name="lbl">
            <a:extLst>
              <a:ext uri="{FF2B5EF4-FFF2-40B4-BE49-F238E27FC236}">
                <a16:creationId xmlns:a16="http://schemas.microsoft.com/office/drawing/2014/main" id="{0D4C4E3A-CB71-D89E-30FE-D87891ED0890}"/>
              </a:ext>
            </a:extLst>
          </p:cNvPr>
          <p:cNvSpPr txBox="1">
            <a:spLocks noGrp="1"/>
          </p:cNvSpPr>
          <p:nvPr/>
        </p:nvSpPr>
        <p:spPr>
          <a:xfrm>
            <a:off x="436735" y="3363033"/>
            <a:ext cx="399505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 dirty="0">
                <a:solidFill>
                  <a:srgbClr val="FFFFFF"/>
                </a:solidFill>
                <a:latin typeface="Reddit Sans"/>
                <a:ea typeface="Reddit Sans"/>
              </a:rPr>
              <a:t>N4-N5 Especializado</a:t>
            </a:r>
          </a:p>
        </p:txBody>
      </p:sp>
      <p:sp>
        <p:nvSpPr>
          <p:cNvPr id="169" name="cst">
            <a:extLst>
              <a:ext uri="{FF2B5EF4-FFF2-40B4-BE49-F238E27FC236}">
                <a16:creationId xmlns:a16="http://schemas.microsoft.com/office/drawing/2014/main" id="{516256F4-37AA-EF39-3E54-9E6B464E213A}"/>
              </a:ext>
            </a:extLst>
          </p:cNvPr>
          <p:cNvSpPr txBox="1">
            <a:spLocks noGrp="1"/>
          </p:cNvSpPr>
          <p:nvPr/>
        </p:nvSpPr>
        <p:spPr>
          <a:xfrm>
            <a:off x="4113493" y="3346704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 dirty="0">
                <a:solidFill>
                  <a:srgbClr val="0D1B5E"/>
                </a:solidFill>
                <a:latin typeface="Reddit Sans"/>
                <a:ea typeface="Reddit Sans"/>
              </a:rPr>
              <a:t>USD 104</a:t>
            </a:r>
          </a:p>
        </p:txBody>
      </p:sp>
      <p:sp>
        <p:nvSpPr>
          <p:cNvPr id="171" name="bhdr">
            <a:extLst>
              <a:ext uri="{FF2B5EF4-FFF2-40B4-BE49-F238E27FC236}">
                <a16:creationId xmlns:a16="http://schemas.microsoft.com/office/drawing/2014/main" id="{72699A02-D9BD-203D-2BBF-B3A35207C06B}"/>
              </a:ext>
            </a:extLst>
          </p:cNvPr>
          <p:cNvSpPr>
            <a:spLocks noGrp="1"/>
          </p:cNvSpPr>
          <p:nvPr/>
        </p:nvSpPr>
        <p:spPr>
          <a:xfrm>
            <a:off x="4732020" y="1196340"/>
            <a:ext cx="37947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173" name="th">
            <a:extLst>
              <a:ext uri="{FF2B5EF4-FFF2-40B4-BE49-F238E27FC236}">
                <a16:creationId xmlns:a16="http://schemas.microsoft.com/office/drawing/2014/main" id="{82367F01-1427-05FD-3941-50F2F6338D1B}"/>
              </a:ext>
            </a:extLst>
          </p:cNvPr>
          <p:cNvSpPr txBox="1">
            <a:spLocks noGrp="1"/>
          </p:cNvSpPr>
          <p:nvPr/>
        </p:nvSpPr>
        <p:spPr>
          <a:xfrm>
            <a:off x="4737463" y="11963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 dirty="0">
                <a:solidFill>
                  <a:srgbClr val="FFFFFF"/>
                </a:solidFill>
                <a:latin typeface="Reddit Sans"/>
                <a:ea typeface="Reddit Sans"/>
              </a:rPr>
              <a:t>Métrica</a:t>
            </a:r>
          </a:p>
        </p:txBody>
      </p:sp>
      <p:sp>
        <p:nvSpPr>
          <p:cNvPr id="175" name="th">
            <a:extLst>
              <a:ext uri="{FF2B5EF4-FFF2-40B4-BE49-F238E27FC236}">
                <a16:creationId xmlns:a16="http://schemas.microsoft.com/office/drawing/2014/main" id="{A43800BE-7949-6206-5481-79E9337C8EB5}"/>
              </a:ext>
            </a:extLst>
          </p:cNvPr>
          <p:cNvSpPr txBox="1">
            <a:spLocks noGrp="1"/>
          </p:cNvSpPr>
          <p:nvPr/>
        </p:nvSpPr>
        <p:spPr>
          <a:xfrm>
            <a:off x="6291943" y="11963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 dirty="0">
                <a:solidFill>
                  <a:srgbClr val="FFFFFF"/>
                </a:solidFill>
                <a:latin typeface="Reddit Sans"/>
                <a:ea typeface="Reddit Sans"/>
              </a:rPr>
              <a:t>Tradicional</a:t>
            </a:r>
          </a:p>
        </p:txBody>
      </p:sp>
      <p:sp>
        <p:nvSpPr>
          <p:cNvPr id="177" name="th">
            <a:extLst>
              <a:ext uri="{FF2B5EF4-FFF2-40B4-BE49-F238E27FC236}">
                <a16:creationId xmlns:a16="http://schemas.microsoft.com/office/drawing/2014/main" id="{5E880A90-7749-D9FE-8EAE-15D7C726958D}"/>
              </a:ext>
            </a:extLst>
          </p:cNvPr>
          <p:cNvSpPr txBox="1">
            <a:spLocks noGrp="1"/>
          </p:cNvSpPr>
          <p:nvPr/>
        </p:nvSpPr>
        <p:spPr>
          <a:xfrm>
            <a:off x="7297783" y="11963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 dirty="0">
                <a:solidFill>
                  <a:srgbClr val="FFFFFF"/>
                </a:solidFill>
                <a:latin typeface="Reddit Sans"/>
                <a:ea typeface="Reddit Sans"/>
              </a:rPr>
              <a:t>Con IA Agéntica</a:t>
            </a:r>
          </a:p>
        </p:txBody>
      </p:sp>
      <p:sp>
        <p:nvSpPr>
          <p:cNvPr id="179" name="rbg">
            <a:extLst>
              <a:ext uri="{FF2B5EF4-FFF2-40B4-BE49-F238E27FC236}">
                <a16:creationId xmlns:a16="http://schemas.microsoft.com/office/drawing/2014/main" id="{7C37B1C2-815F-2818-F812-5A6691D3D634}"/>
              </a:ext>
            </a:extLst>
          </p:cNvPr>
          <p:cNvSpPr>
            <a:spLocks noGrp="1"/>
          </p:cNvSpPr>
          <p:nvPr/>
        </p:nvSpPr>
        <p:spPr>
          <a:xfrm>
            <a:off x="4737463" y="156210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181" name="bc">
            <a:extLst>
              <a:ext uri="{FF2B5EF4-FFF2-40B4-BE49-F238E27FC236}">
                <a16:creationId xmlns:a16="http://schemas.microsoft.com/office/drawing/2014/main" id="{C846BEF1-A2FE-C0A0-437E-B3B93D97DA3A}"/>
              </a:ext>
            </a:extLst>
          </p:cNvPr>
          <p:cNvSpPr txBox="1">
            <a:spLocks noGrp="1"/>
          </p:cNvSpPr>
          <p:nvPr/>
        </p:nvSpPr>
        <p:spPr>
          <a:xfrm>
            <a:off x="4737463" y="15621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FCR (1er Contacto)</a:t>
            </a:r>
          </a:p>
        </p:txBody>
      </p:sp>
      <p:sp>
        <p:nvSpPr>
          <p:cNvPr id="183" name="bc">
            <a:extLst>
              <a:ext uri="{FF2B5EF4-FFF2-40B4-BE49-F238E27FC236}">
                <a16:creationId xmlns:a16="http://schemas.microsoft.com/office/drawing/2014/main" id="{AFED1BC0-5B1C-9171-65E0-7E89DE93A22C}"/>
              </a:ext>
            </a:extLst>
          </p:cNvPr>
          <p:cNvSpPr txBox="1">
            <a:spLocks noGrp="1"/>
          </p:cNvSpPr>
          <p:nvPr/>
        </p:nvSpPr>
        <p:spPr>
          <a:xfrm>
            <a:off x="6291943" y="15621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40-55%</a:t>
            </a:r>
          </a:p>
        </p:txBody>
      </p:sp>
      <p:sp>
        <p:nvSpPr>
          <p:cNvPr id="185" name="bc">
            <a:extLst>
              <a:ext uri="{FF2B5EF4-FFF2-40B4-BE49-F238E27FC236}">
                <a16:creationId xmlns:a16="http://schemas.microsoft.com/office/drawing/2014/main" id="{CA6E3487-A0A9-E5C0-7E64-5D59A994F431}"/>
              </a:ext>
            </a:extLst>
          </p:cNvPr>
          <p:cNvSpPr txBox="1">
            <a:spLocks noGrp="1"/>
          </p:cNvSpPr>
          <p:nvPr/>
        </p:nvSpPr>
        <p:spPr>
          <a:xfrm>
            <a:off x="7297783" y="15621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 dirty="0">
                <a:solidFill>
                  <a:srgbClr val="2A6B3C"/>
                </a:solidFill>
                <a:latin typeface="Reddit Sans"/>
                <a:ea typeface="Reddit Sans"/>
              </a:rPr>
              <a:t>75-85%</a:t>
            </a:r>
          </a:p>
        </p:txBody>
      </p:sp>
      <p:sp>
        <p:nvSpPr>
          <p:cNvPr id="187" name="rbg">
            <a:extLst>
              <a:ext uri="{FF2B5EF4-FFF2-40B4-BE49-F238E27FC236}">
                <a16:creationId xmlns:a16="http://schemas.microsoft.com/office/drawing/2014/main" id="{B6CD0C2E-0C95-41E3-2CC1-F9B383D7549D}"/>
              </a:ext>
            </a:extLst>
          </p:cNvPr>
          <p:cNvSpPr>
            <a:spLocks noGrp="1"/>
          </p:cNvSpPr>
          <p:nvPr/>
        </p:nvSpPr>
        <p:spPr>
          <a:xfrm>
            <a:off x="4737463" y="192786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89" name="bc">
            <a:extLst>
              <a:ext uri="{FF2B5EF4-FFF2-40B4-BE49-F238E27FC236}">
                <a16:creationId xmlns:a16="http://schemas.microsoft.com/office/drawing/2014/main" id="{F14D6286-CE51-E6E6-D95F-ED272FC8C658}"/>
              </a:ext>
            </a:extLst>
          </p:cNvPr>
          <p:cNvSpPr txBox="1">
            <a:spLocks noGrp="1"/>
          </p:cNvSpPr>
          <p:nvPr/>
        </p:nvSpPr>
        <p:spPr>
          <a:xfrm>
            <a:off x="4737463" y="192786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Reducción MTTR</a:t>
            </a:r>
          </a:p>
        </p:txBody>
      </p:sp>
      <p:sp>
        <p:nvSpPr>
          <p:cNvPr id="191" name="bc">
            <a:extLst>
              <a:ext uri="{FF2B5EF4-FFF2-40B4-BE49-F238E27FC236}">
                <a16:creationId xmlns:a16="http://schemas.microsoft.com/office/drawing/2014/main" id="{093B2FAE-DE04-A196-06B3-9EED4CD19003}"/>
              </a:ext>
            </a:extLst>
          </p:cNvPr>
          <p:cNvSpPr txBox="1">
            <a:spLocks noGrp="1"/>
          </p:cNvSpPr>
          <p:nvPr/>
        </p:nvSpPr>
        <p:spPr>
          <a:xfrm>
            <a:off x="6291943" y="192786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base</a:t>
            </a:r>
          </a:p>
        </p:txBody>
      </p:sp>
      <p:sp>
        <p:nvSpPr>
          <p:cNvPr id="193" name="bc">
            <a:extLst>
              <a:ext uri="{FF2B5EF4-FFF2-40B4-BE49-F238E27FC236}">
                <a16:creationId xmlns:a16="http://schemas.microsoft.com/office/drawing/2014/main" id="{8C1913F5-D813-9C09-F6C7-AA498D8E8487}"/>
              </a:ext>
            </a:extLst>
          </p:cNvPr>
          <p:cNvSpPr txBox="1">
            <a:spLocks noGrp="1"/>
          </p:cNvSpPr>
          <p:nvPr/>
        </p:nvSpPr>
        <p:spPr>
          <a:xfrm>
            <a:off x="7297783" y="192786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 dirty="0">
                <a:solidFill>
                  <a:srgbClr val="2A6B3C"/>
                </a:solidFill>
                <a:latin typeface="Reddit Sans"/>
                <a:ea typeface="Reddit Sans"/>
              </a:rPr>
              <a:t>-60 a -70%</a:t>
            </a:r>
          </a:p>
        </p:txBody>
      </p:sp>
      <p:sp>
        <p:nvSpPr>
          <p:cNvPr id="195" name="rbg">
            <a:extLst>
              <a:ext uri="{FF2B5EF4-FFF2-40B4-BE49-F238E27FC236}">
                <a16:creationId xmlns:a16="http://schemas.microsoft.com/office/drawing/2014/main" id="{F6CCF5F1-1B32-29D0-A442-5BD15A44D153}"/>
              </a:ext>
            </a:extLst>
          </p:cNvPr>
          <p:cNvSpPr>
            <a:spLocks noGrp="1"/>
          </p:cNvSpPr>
          <p:nvPr/>
        </p:nvSpPr>
        <p:spPr>
          <a:xfrm>
            <a:off x="4737463" y="229362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197" name="bc">
            <a:extLst>
              <a:ext uri="{FF2B5EF4-FFF2-40B4-BE49-F238E27FC236}">
                <a16:creationId xmlns:a16="http://schemas.microsoft.com/office/drawing/2014/main" id="{D7093950-99DC-9B24-8CA5-7F6EE7CA1A7A}"/>
              </a:ext>
            </a:extLst>
          </p:cNvPr>
          <p:cNvSpPr txBox="1">
            <a:spLocks noGrp="1"/>
          </p:cNvSpPr>
          <p:nvPr/>
        </p:nvSpPr>
        <p:spPr>
          <a:xfrm>
            <a:off x="4737463" y="229362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Costo / interacción</a:t>
            </a:r>
          </a:p>
        </p:txBody>
      </p:sp>
      <p:sp>
        <p:nvSpPr>
          <p:cNvPr id="199" name="bc">
            <a:extLst>
              <a:ext uri="{FF2B5EF4-FFF2-40B4-BE49-F238E27FC236}">
                <a16:creationId xmlns:a16="http://schemas.microsoft.com/office/drawing/2014/main" id="{FA7A9F1D-F520-D145-7639-AA643FCB5F23}"/>
              </a:ext>
            </a:extLst>
          </p:cNvPr>
          <p:cNvSpPr txBox="1">
            <a:spLocks noGrp="1"/>
          </p:cNvSpPr>
          <p:nvPr/>
        </p:nvSpPr>
        <p:spPr>
          <a:xfrm>
            <a:off x="6291943" y="22936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USD 15-25</a:t>
            </a:r>
          </a:p>
        </p:txBody>
      </p:sp>
      <p:sp>
        <p:nvSpPr>
          <p:cNvPr id="201" name="bc">
            <a:extLst>
              <a:ext uri="{FF2B5EF4-FFF2-40B4-BE49-F238E27FC236}">
                <a16:creationId xmlns:a16="http://schemas.microsoft.com/office/drawing/2014/main" id="{9DA35372-7FB1-17E2-6A0F-A53693069B6A}"/>
              </a:ext>
            </a:extLst>
          </p:cNvPr>
          <p:cNvSpPr txBox="1">
            <a:spLocks noGrp="1"/>
          </p:cNvSpPr>
          <p:nvPr/>
        </p:nvSpPr>
        <p:spPr>
          <a:xfrm>
            <a:off x="7297783" y="229362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 dirty="0">
                <a:solidFill>
                  <a:srgbClr val="2A6B3C"/>
                </a:solidFill>
                <a:latin typeface="Reddit Sans"/>
                <a:ea typeface="Reddit Sans"/>
              </a:rPr>
              <a:t>USD 3-8</a:t>
            </a:r>
          </a:p>
        </p:txBody>
      </p:sp>
      <p:sp>
        <p:nvSpPr>
          <p:cNvPr id="203" name="rbg">
            <a:extLst>
              <a:ext uri="{FF2B5EF4-FFF2-40B4-BE49-F238E27FC236}">
                <a16:creationId xmlns:a16="http://schemas.microsoft.com/office/drawing/2014/main" id="{876C3B31-9ECD-634E-6CF4-8F8397BD536D}"/>
              </a:ext>
            </a:extLst>
          </p:cNvPr>
          <p:cNvSpPr>
            <a:spLocks noGrp="1"/>
          </p:cNvSpPr>
          <p:nvPr/>
        </p:nvSpPr>
        <p:spPr>
          <a:xfrm>
            <a:off x="4737463" y="265938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205" name="bc">
            <a:extLst>
              <a:ext uri="{FF2B5EF4-FFF2-40B4-BE49-F238E27FC236}">
                <a16:creationId xmlns:a16="http://schemas.microsoft.com/office/drawing/2014/main" id="{CEAAE6F1-8281-3CC6-A33A-EFC7FE5E1D94}"/>
              </a:ext>
            </a:extLst>
          </p:cNvPr>
          <p:cNvSpPr txBox="1">
            <a:spLocks noGrp="1"/>
          </p:cNvSpPr>
          <p:nvPr/>
        </p:nvSpPr>
        <p:spPr>
          <a:xfrm>
            <a:off x="4737463" y="265938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Deflección (Robinhood)</a:t>
            </a:r>
          </a:p>
        </p:txBody>
      </p:sp>
      <p:sp>
        <p:nvSpPr>
          <p:cNvPr id="207" name="bc">
            <a:extLst>
              <a:ext uri="{FF2B5EF4-FFF2-40B4-BE49-F238E27FC236}">
                <a16:creationId xmlns:a16="http://schemas.microsoft.com/office/drawing/2014/main" id="{E41B5E9F-B605-01DD-4386-9A35AFCF3E7F}"/>
              </a:ext>
            </a:extLst>
          </p:cNvPr>
          <p:cNvSpPr txBox="1">
            <a:spLocks noGrp="1"/>
          </p:cNvSpPr>
          <p:nvPr/>
        </p:nvSpPr>
        <p:spPr>
          <a:xfrm>
            <a:off x="6291943" y="265938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09" name="bc">
            <a:extLst>
              <a:ext uri="{FF2B5EF4-FFF2-40B4-BE49-F238E27FC236}">
                <a16:creationId xmlns:a16="http://schemas.microsoft.com/office/drawing/2014/main" id="{BFE8A9FB-411A-CB3B-356E-A92A43AB2EE6}"/>
              </a:ext>
            </a:extLst>
          </p:cNvPr>
          <p:cNvSpPr txBox="1">
            <a:spLocks noGrp="1"/>
          </p:cNvSpPr>
          <p:nvPr/>
        </p:nvSpPr>
        <p:spPr>
          <a:xfrm>
            <a:off x="7297783" y="265938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 dirty="0">
                <a:solidFill>
                  <a:srgbClr val="2A6B3C"/>
                </a:solidFill>
                <a:latin typeface="Reddit Sans"/>
                <a:ea typeface="Reddit Sans"/>
              </a:rPr>
              <a:t>70%</a:t>
            </a:r>
          </a:p>
        </p:txBody>
      </p:sp>
      <p:sp>
        <p:nvSpPr>
          <p:cNvPr id="211" name="rbg">
            <a:extLst>
              <a:ext uri="{FF2B5EF4-FFF2-40B4-BE49-F238E27FC236}">
                <a16:creationId xmlns:a16="http://schemas.microsoft.com/office/drawing/2014/main" id="{F951DD2B-AA1A-02FA-E559-ED687294F73E}"/>
              </a:ext>
            </a:extLst>
          </p:cNvPr>
          <p:cNvSpPr>
            <a:spLocks noGrp="1"/>
          </p:cNvSpPr>
          <p:nvPr/>
        </p:nvSpPr>
        <p:spPr>
          <a:xfrm>
            <a:off x="4737463" y="302514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213" name="bc">
            <a:extLst>
              <a:ext uri="{FF2B5EF4-FFF2-40B4-BE49-F238E27FC236}">
                <a16:creationId xmlns:a16="http://schemas.microsoft.com/office/drawing/2014/main" id="{FD472BD7-74B6-C946-902D-13B8CC4A26FF}"/>
              </a:ext>
            </a:extLst>
          </p:cNvPr>
          <p:cNvSpPr txBox="1">
            <a:spLocks noGrp="1"/>
          </p:cNvSpPr>
          <p:nvPr/>
        </p:nvSpPr>
        <p:spPr>
          <a:xfrm>
            <a:off x="4737463" y="30251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Reducción tickets</a:t>
            </a:r>
          </a:p>
        </p:txBody>
      </p:sp>
      <p:sp>
        <p:nvSpPr>
          <p:cNvPr id="215" name="bc">
            <a:extLst>
              <a:ext uri="{FF2B5EF4-FFF2-40B4-BE49-F238E27FC236}">
                <a16:creationId xmlns:a16="http://schemas.microsoft.com/office/drawing/2014/main" id="{658AB931-27D3-369F-40E2-9581CF75CF63}"/>
              </a:ext>
            </a:extLst>
          </p:cNvPr>
          <p:cNvSpPr txBox="1">
            <a:spLocks noGrp="1"/>
          </p:cNvSpPr>
          <p:nvPr/>
        </p:nvSpPr>
        <p:spPr>
          <a:xfrm>
            <a:off x="6291943" y="30251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17" name="bc">
            <a:extLst>
              <a:ext uri="{FF2B5EF4-FFF2-40B4-BE49-F238E27FC236}">
                <a16:creationId xmlns:a16="http://schemas.microsoft.com/office/drawing/2014/main" id="{1A3168AC-27D5-E418-7B13-04D9B3134840}"/>
              </a:ext>
            </a:extLst>
          </p:cNvPr>
          <p:cNvSpPr txBox="1">
            <a:spLocks noGrp="1"/>
          </p:cNvSpPr>
          <p:nvPr/>
        </p:nvSpPr>
        <p:spPr>
          <a:xfrm>
            <a:off x="7297783" y="30251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 dirty="0">
                <a:solidFill>
                  <a:srgbClr val="2A6B3C"/>
                </a:solidFill>
                <a:latin typeface="Reddit Sans"/>
                <a:ea typeface="Reddit Sans"/>
              </a:rPr>
              <a:t>-80%</a:t>
            </a:r>
          </a:p>
        </p:txBody>
      </p:sp>
      <p:sp>
        <p:nvSpPr>
          <p:cNvPr id="219" name="rbg">
            <a:extLst>
              <a:ext uri="{FF2B5EF4-FFF2-40B4-BE49-F238E27FC236}">
                <a16:creationId xmlns:a16="http://schemas.microsoft.com/office/drawing/2014/main" id="{DB149D34-EE8D-5FB2-B320-ADB79E10C1DA}"/>
              </a:ext>
            </a:extLst>
          </p:cNvPr>
          <p:cNvSpPr>
            <a:spLocks noGrp="1"/>
          </p:cNvSpPr>
          <p:nvPr/>
        </p:nvSpPr>
        <p:spPr>
          <a:xfrm>
            <a:off x="4737463" y="339090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221" name="bc">
            <a:extLst>
              <a:ext uri="{FF2B5EF4-FFF2-40B4-BE49-F238E27FC236}">
                <a16:creationId xmlns:a16="http://schemas.microsoft.com/office/drawing/2014/main" id="{3F90F45C-CB37-8A13-C3C3-4BB01AA9D9EB}"/>
              </a:ext>
            </a:extLst>
          </p:cNvPr>
          <p:cNvSpPr txBox="1">
            <a:spLocks noGrp="1"/>
          </p:cNvSpPr>
          <p:nvPr/>
        </p:nvSpPr>
        <p:spPr>
          <a:xfrm>
            <a:off x="4737463" y="33909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Resolución autónoma</a:t>
            </a:r>
          </a:p>
        </p:txBody>
      </p:sp>
      <p:sp>
        <p:nvSpPr>
          <p:cNvPr id="223" name="bc">
            <a:extLst>
              <a:ext uri="{FF2B5EF4-FFF2-40B4-BE49-F238E27FC236}">
                <a16:creationId xmlns:a16="http://schemas.microsoft.com/office/drawing/2014/main" id="{B7F6C673-E47B-A1D4-9662-DE437DBC1D85}"/>
              </a:ext>
            </a:extLst>
          </p:cNvPr>
          <p:cNvSpPr txBox="1">
            <a:spLocks noGrp="1"/>
          </p:cNvSpPr>
          <p:nvPr/>
        </p:nvSpPr>
        <p:spPr>
          <a:xfrm>
            <a:off x="6291943" y="33909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dirty="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25" name="bc">
            <a:extLst>
              <a:ext uri="{FF2B5EF4-FFF2-40B4-BE49-F238E27FC236}">
                <a16:creationId xmlns:a16="http://schemas.microsoft.com/office/drawing/2014/main" id="{6DF9AF60-4A8F-3718-2B5B-6919ECE54B9A}"/>
              </a:ext>
            </a:extLst>
          </p:cNvPr>
          <p:cNvSpPr txBox="1">
            <a:spLocks noGrp="1"/>
          </p:cNvSpPr>
          <p:nvPr/>
        </p:nvSpPr>
        <p:spPr>
          <a:xfrm>
            <a:off x="7297783" y="33909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 dirty="0">
                <a:solidFill>
                  <a:srgbClr val="2A6B3C"/>
                </a:solidFill>
                <a:latin typeface="Reddit Sans"/>
                <a:ea typeface="Reddit Sans"/>
              </a:rPr>
              <a:t>84%</a:t>
            </a:r>
          </a:p>
        </p:txBody>
      </p:sp>
    </p:spTree>
    <p:extLst>
      <p:ext uri="{BB962C8B-B14F-4D97-AF65-F5344CB8AC3E}">
        <p14:creationId xmlns:p14="http://schemas.microsoft.com/office/powerpoint/2010/main" val="24149974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A5640-8028-37AE-5A26-6AFA696A5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dirty="0"/>
              <a:t>Visualización: </a:t>
            </a:r>
            <a:r>
              <a:rPr lang="es-ES" dirty="0" err="1"/>
              <a:t>Benchmarks</a:t>
            </a:r>
            <a:r>
              <a:rPr lang="es-ES" dirty="0"/>
              <a:t> Industria</a:t>
            </a:r>
            <a:br>
              <a:rPr lang="en-US" dirty="0"/>
            </a:br>
            <a:endParaRPr lang="en-US"/>
          </a:p>
        </p:txBody>
      </p:sp>
      <p:pic>
        <p:nvPicPr>
          <p:cNvPr id="3" name="Imagen 2" descr="Benchmarks Industria — FCR, MTTR, Deflection, Impacto GenAI">
            <a:extLst>
              <a:ext uri="{FF2B5EF4-FFF2-40B4-BE49-F238E27FC236}">
                <a16:creationId xmlns:a16="http://schemas.microsoft.com/office/drawing/2014/main" id="{3082462C-DD9E-E307-1ECA-2C56D21BC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1810"/>
            <a:ext cx="9144000" cy="4253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2822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ECACB6-92CD-5E40-6F53-4475F8079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SLA vs. XLA — Comparativa Visual y 4 Capas de Reporte</a:t>
            </a:r>
          </a:p>
          <a:p>
            <a:endParaRPr lang="es-ES" dirty="0"/>
          </a:p>
        </p:txBody>
      </p:sp>
      <p:pic>
        <p:nvPicPr>
          <p:cNvPr id="3" name="Imagen 2" descr="SLA vs. XLA — Comparativa y 4 capas de reporte ejecutivo">
            <a:extLst>
              <a:ext uri="{FF2B5EF4-FFF2-40B4-BE49-F238E27FC236}">
                <a16:creationId xmlns:a16="http://schemas.microsoft.com/office/drawing/2014/main" id="{A4710F1C-7A3A-5E72-E7E2-55624AABA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4981"/>
            <a:ext cx="9144000" cy="4253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5644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B427DE-39A9-DDB8-2FA3-5ABA7EF41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/>
              <a:t>Colombia: La Ventana Temporal. </a:t>
            </a:r>
          </a:p>
        </p:txBody>
      </p:sp>
      <p:sp>
        <p:nvSpPr>
          <p:cNvPr id="4" name="cbg">
            <a:extLst>
              <a:ext uri="{FF2B5EF4-FFF2-40B4-BE49-F238E27FC236}">
                <a16:creationId xmlns:a16="http://schemas.microsoft.com/office/drawing/2014/main" id="{66B52FD0-8236-D5E6-0FE2-7053E46500C3}"/>
              </a:ext>
            </a:extLst>
          </p:cNvPr>
          <p:cNvSpPr>
            <a:spLocks noGrp="1"/>
          </p:cNvSpPr>
          <p:nvPr/>
        </p:nvSpPr>
        <p:spPr>
          <a:xfrm>
            <a:off x="320040" y="777240"/>
            <a:ext cx="2560320" cy="331012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6" name="chdr">
            <a:extLst>
              <a:ext uri="{FF2B5EF4-FFF2-40B4-BE49-F238E27FC236}">
                <a16:creationId xmlns:a16="http://schemas.microsoft.com/office/drawing/2014/main" id="{A6E201B4-CEDA-8CC9-8B95-6D7EA050DE07}"/>
              </a:ext>
            </a:extLst>
          </p:cNvPr>
          <p:cNvSpPr>
            <a:spLocks noGrp="1"/>
          </p:cNvSpPr>
          <p:nvPr/>
        </p:nvSpPr>
        <p:spPr>
          <a:xfrm>
            <a:off x="320040" y="77724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8" name="chdr2">
            <a:extLst>
              <a:ext uri="{FF2B5EF4-FFF2-40B4-BE49-F238E27FC236}">
                <a16:creationId xmlns:a16="http://schemas.microsoft.com/office/drawing/2014/main" id="{CD2C2FE9-39F4-69EB-84FB-E83F1FCC38CE}"/>
              </a:ext>
            </a:extLst>
          </p:cNvPr>
          <p:cNvSpPr>
            <a:spLocks noGrp="1"/>
          </p:cNvSpPr>
          <p:nvPr/>
        </p:nvSpPr>
        <p:spPr>
          <a:xfrm>
            <a:off x="320040" y="1051560"/>
            <a:ext cx="2560320" cy="182880"/>
          </a:xfrm>
          <a:prstGeom prst="rect">
            <a:avLst/>
          </a:prstGeom>
          <a:solidFill>
            <a:srgbClr val="1F6FBA"/>
          </a:solidFill>
          <a:ln>
            <a:noFill/>
          </a:ln>
        </p:spPr>
      </p:sp>
      <p:sp>
        <p:nvSpPr>
          <p:cNvPr id="10" name="ctit">
            <a:extLst>
              <a:ext uri="{FF2B5EF4-FFF2-40B4-BE49-F238E27FC236}">
                <a16:creationId xmlns:a16="http://schemas.microsoft.com/office/drawing/2014/main" id="{8F050C4F-2774-2C2C-AF66-6D379CC42EED}"/>
              </a:ext>
            </a:extLst>
          </p:cNvPr>
          <p:cNvSpPr txBox="1">
            <a:spLocks noGrp="1"/>
          </p:cNvSpPr>
          <p:nvPr/>
        </p:nvSpPr>
        <p:spPr>
          <a:xfrm>
            <a:off x="320040" y="832104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50" b="1" dirty="0">
                <a:solidFill>
                  <a:srgbClr val="FFFFFF"/>
                </a:solidFill>
                <a:latin typeface="Reddit Sans"/>
                <a:ea typeface="Reddit Sans"/>
              </a:rPr>
              <a:t>El mercado crece</a:t>
            </a:r>
          </a:p>
        </p:txBody>
      </p:sp>
      <p:sp>
        <p:nvSpPr>
          <p:cNvPr id="12" name="ci">
            <a:extLst>
              <a:ext uri="{FF2B5EF4-FFF2-40B4-BE49-F238E27FC236}">
                <a16:creationId xmlns:a16="http://schemas.microsoft.com/office/drawing/2014/main" id="{30D59188-82E5-3A11-679F-047D65E2BF9C}"/>
              </a:ext>
            </a:extLst>
          </p:cNvPr>
          <p:cNvSpPr txBox="1">
            <a:spLocks noGrp="1"/>
          </p:cNvSpPr>
          <p:nvPr/>
        </p:nvSpPr>
        <p:spPr>
          <a:xfrm>
            <a:off x="411480" y="1325880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9.8% CAGR IT Services — más alto de Sudamérica</a:t>
            </a:r>
          </a:p>
        </p:txBody>
      </p:sp>
      <p:sp>
        <p:nvSpPr>
          <p:cNvPr id="14" name="ci">
            <a:extLst>
              <a:ext uri="{FF2B5EF4-FFF2-40B4-BE49-F238E27FC236}">
                <a16:creationId xmlns:a16="http://schemas.microsoft.com/office/drawing/2014/main" id="{AAC2BE48-1DBA-7615-5D91-9BE87D551BA5}"/>
              </a:ext>
            </a:extLst>
          </p:cNvPr>
          <p:cNvSpPr txBox="1">
            <a:spLocks noGrp="1"/>
          </p:cNvSpPr>
          <p:nvPr/>
        </p:nvSpPr>
        <p:spPr>
          <a:xfrm>
            <a:off x="411480" y="1856232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Servicios (13.82%) crecen más que software</a:t>
            </a:r>
          </a:p>
        </p:txBody>
      </p:sp>
      <p:sp>
        <p:nvSpPr>
          <p:cNvPr id="16" name="ci">
            <a:extLst>
              <a:ext uri="{FF2B5EF4-FFF2-40B4-BE49-F238E27FC236}">
                <a16:creationId xmlns:a16="http://schemas.microsoft.com/office/drawing/2014/main" id="{7CF0D0CD-686A-1769-8630-FAC01BAD52D6}"/>
              </a:ext>
            </a:extLst>
          </p:cNvPr>
          <p:cNvSpPr txBox="1">
            <a:spLocks noGrp="1"/>
          </p:cNvSpPr>
          <p:nvPr/>
        </p:nvSpPr>
        <p:spPr>
          <a:xfrm>
            <a:off x="411480" y="2386584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USD 108M → USD 210M para 2031</a:t>
            </a:r>
          </a:p>
        </p:txBody>
      </p:sp>
      <p:sp>
        <p:nvSpPr>
          <p:cNvPr id="18" name="ci">
            <a:extLst>
              <a:ext uri="{FF2B5EF4-FFF2-40B4-BE49-F238E27FC236}">
                <a16:creationId xmlns:a16="http://schemas.microsoft.com/office/drawing/2014/main" id="{B1611C92-F41E-B319-C805-43CE6D2DA3B3}"/>
              </a:ext>
            </a:extLst>
          </p:cNvPr>
          <p:cNvSpPr txBox="1">
            <a:spLocks noGrp="1"/>
          </p:cNvSpPr>
          <p:nvPr/>
        </p:nvSpPr>
        <p:spPr>
          <a:xfrm>
            <a:off x="411480" y="2916936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Open Finance, 5G y multinacionales aceleran</a:t>
            </a:r>
          </a:p>
        </p:txBody>
      </p:sp>
      <p:sp>
        <p:nvSpPr>
          <p:cNvPr id="20" name="cbg">
            <a:extLst>
              <a:ext uri="{FF2B5EF4-FFF2-40B4-BE49-F238E27FC236}">
                <a16:creationId xmlns:a16="http://schemas.microsoft.com/office/drawing/2014/main" id="{17F01457-80D6-FB37-CE87-7533A9F9185F}"/>
              </a:ext>
            </a:extLst>
          </p:cNvPr>
          <p:cNvSpPr>
            <a:spLocks noGrp="1"/>
          </p:cNvSpPr>
          <p:nvPr/>
        </p:nvSpPr>
        <p:spPr>
          <a:xfrm>
            <a:off x="3017520" y="777240"/>
            <a:ext cx="2560320" cy="331012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22" name="chdr">
            <a:extLst>
              <a:ext uri="{FF2B5EF4-FFF2-40B4-BE49-F238E27FC236}">
                <a16:creationId xmlns:a16="http://schemas.microsoft.com/office/drawing/2014/main" id="{D5EF7AE3-D54A-748F-B0F6-0756BC63E6D2}"/>
              </a:ext>
            </a:extLst>
          </p:cNvPr>
          <p:cNvSpPr>
            <a:spLocks noGrp="1"/>
          </p:cNvSpPr>
          <p:nvPr/>
        </p:nvSpPr>
        <p:spPr>
          <a:xfrm>
            <a:off x="3017520" y="77724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24" name="chdr2">
            <a:extLst>
              <a:ext uri="{FF2B5EF4-FFF2-40B4-BE49-F238E27FC236}">
                <a16:creationId xmlns:a16="http://schemas.microsoft.com/office/drawing/2014/main" id="{6EEB6C79-890B-CBC6-3E53-28DC18254495}"/>
              </a:ext>
            </a:extLst>
          </p:cNvPr>
          <p:cNvSpPr>
            <a:spLocks noGrp="1"/>
          </p:cNvSpPr>
          <p:nvPr/>
        </p:nvSpPr>
        <p:spPr>
          <a:xfrm>
            <a:off x="3017520" y="1051560"/>
            <a:ext cx="2560320" cy="182880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26" name="ctit">
            <a:extLst>
              <a:ext uri="{FF2B5EF4-FFF2-40B4-BE49-F238E27FC236}">
                <a16:creationId xmlns:a16="http://schemas.microsoft.com/office/drawing/2014/main" id="{8970FD4B-3312-FCF8-D37A-A09B613A4E64}"/>
              </a:ext>
            </a:extLst>
          </p:cNvPr>
          <p:cNvSpPr txBox="1">
            <a:spLocks noGrp="1"/>
          </p:cNvSpPr>
          <p:nvPr/>
        </p:nvSpPr>
        <p:spPr>
          <a:xfrm>
            <a:off x="3017520" y="832104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50" b="1" dirty="0">
                <a:solidFill>
                  <a:srgbClr val="FFFFFF"/>
                </a:solidFill>
                <a:latin typeface="Reddit Sans"/>
                <a:ea typeface="Reddit Sans"/>
              </a:rPr>
              <a:t>El sector financiero está listo</a:t>
            </a:r>
          </a:p>
        </p:txBody>
      </p:sp>
      <p:sp>
        <p:nvSpPr>
          <p:cNvPr id="28" name="ci">
            <a:extLst>
              <a:ext uri="{FF2B5EF4-FFF2-40B4-BE49-F238E27FC236}">
                <a16:creationId xmlns:a16="http://schemas.microsoft.com/office/drawing/2014/main" id="{E76F3E54-2FC7-DEBB-2326-B57724726D49}"/>
              </a:ext>
            </a:extLst>
          </p:cNvPr>
          <p:cNvSpPr txBox="1">
            <a:spLocks noGrp="1"/>
          </p:cNvSpPr>
          <p:nvPr/>
        </p:nvSpPr>
        <p:spPr>
          <a:xfrm>
            <a:off x="3108960" y="1325880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81% establecimientos de crédito ya usa IA</a:t>
            </a:r>
          </a:p>
        </p:txBody>
      </p:sp>
      <p:sp>
        <p:nvSpPr>
          <p:cNvPr id="30" name="ci">
            <a:extLst>
              <a:ext uri="{FF2B5EF4-FFF2-40B4-BE49-F238E27FC236}">
                <a16:creationId xmlns:a16="http://schemas.microsoft.com/office/drawing/2014/main" id="{2B082AD7-45C6-2581-2B78-C1715EAE9125}"/>
              </a:ext>
            </a:extLst>
          </p:cNvPr>
          <p:cNvSpPr txBox="1">
            <a:spLocks noGrp="1"/>
          </p:cNvSpPr>
          <p:nvPr/>
        </p:nvSpPr>
        <p:spPr>
          <a:xfrm>
            <a:off x="3108960" y="1856232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SFC Circular 007: SIEM, gestión incidentes, gobernanza</a:t>
            </a:r>
          </a:p>
        </p:txBody>
      </p:sp>
      <p:sp>
        <p:nvSpPr>
          <p:cNvPr id="32" name="ci">
            <a:extLst>
              <a:ext uri="{FF2B5EF4-FFF2-40B4-BE49-F238E27FC236}">
                <a16:creationId xmlns:a16="http://schemas.microsoft.com/office/drawing/2014/main" id="{493AEC33-DC43-EBED-20E1-54872EFC6F40}"/>
              </a:ext>
            </a:extLst>
          </p:cNvPr>
          <p:cNvSpPr txBox="1">
            <a:spLocks noGrp="1"/>
          </p:cNvSpPr>
          <p:nvPr/>
        </p:nvSpPr>
        <p:spPr>
          <a:xfrm>
            <a:off x="3108960" y="2386584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Open Finance: plazo hasta agosto 2026</a:t>
            </a:r>
          </a:p>
        </p:txBody>
      </p:sp>
      <p:sp>
        <p:nvSpPr>
          <p:cNvPr id="34" name="ci">
            <a:extLst>
              <a:ext uri="{FF2B5EF4-FFF2-40B4-BE49-F238E27FC236}">
                <a16:creationId xmlns:a16="http://schemas.microsoft.com/office/drawing/2014/main" id="{4498C244-23DA-0488-62D7-2DACA8680393}"/>
              </a:ext>
            </a:extLst>
          </p:cNvPr>
          <p:cNvSpPr txBox="1">
            <a:spLocks noGrp="1"/>
          </p:cNvSpPr>
          <p:nvPr/>
        </p:nvSpPr>
        <p:spPr>
          <a:xfrm>
            <a:off x="3108960" y="2916936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SURA y Bancolombia con presión regulatoria</a:t>
            </a:r>
          </a:p>
        </p:txBody>
      </p:sp>
      <p:sp>
        <p:nvSpPr>
          <p:cNvPr id="36" name="cbg">
            <a:extLst>
              <a:ext uri="{FF2B5EF4-FFF2-40B4-BE49-F238E27FC236}">
                <a16:creationId xmlns:a16="http://schemas.microsoft.com/office/drawing/2014/main" id="{B1ADCD12-5C36-2F79-4457-8F7EB32D6360}"/>
              </a:ext>
            </a:extLst>
          </p:cNvPr>
          <p:cNvSpPr>
            <a:spLocks noGrp="1"/>
          </p:cNvSpPr>
          <p:nvPr/>
        </p:nvSpPr>
        <p:spPr>
          <a:xfrm>
            <a:off x="5715000" y="777240"/>
            <a:ext cx="2560320" cy="331012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38" name="chdr">
            <a:extLst>
              <a:ext uri="{FF2B5EF4-FFF2-40B4-BE49-F238E27FC236}">
                <a16:creationId xmlns:a16="http://schemas.microsoft.com/office/drawing/2014/main" id="{9DD8AEDF-BD56-7E9E-3266-E6541563ADE6}"/>
              </a:ext>
            </a:extLst>
          </p:cNvPr>
          <p:cNvSpPr>
            <a:spLocks noGrp="1"/>
          </p:cNvSpPr>
          <p:nvPr/>
        </p:nvSpPr>
        <p:spPr>
          <a:xfrm>
            <a:off x="5715000" y="77724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40" name="chdr2">
            <a:extLst>
              <a:ext uri="{FF2B5EF4-FFF2-40B4-BE49-F238E27FC236}">
                <a16:creationId xmlns:a16="http://schemas.microsoft.com/office/drawing/2014/main" id="{081FB901-6990-9C24-1F5A-167D1DCB5649}"/>
              </a:ext>
            </a:extLst>
          </p:cNvPr>
          <p:cNvSpPr>
            <a:spLocks noGrp="1"/>
          </p:cNvSpPr>
          <p:nvPr/>
        </p:nvSpPr>
        <p:spPr>
          <a:xfrm>
            <a:off x="5715000" y="1051560"/>
            <a:ext cx="2560320" cy="182880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42" name="ctit">
            <a:extLst>
              <a:ext uri="{FF2B5EF4-FFF2-40B4-BE49-F238E27FC236}">
                <a16:creationId xmlns:a16="http://schemas.microsoft.com/office/drawing/2014/main" id="{45E12AAB-47B2-4561-DADA-FD68B7015C6B}"/>
              </a:ext>
            </a:extLst>
          </p:cNvPr>
          <p:cNvSpPr txBox="1">
            <a:spLocks noGrp="1"/>
          </p:cNvSpPr>
          <p:nvPr/>
        </p:nvSpPr>
        <p:spPr>
          <a:xfrm>
            <a:off x="5715000" y="832104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50" b="1" dirty="0">
                <a:solidFill>
                  <a:srgbClr val="FFFFFF"/>
                </a:solidFill>
                <a:latin typeface="Reddit Sans"/>
                <a:ea typeface="Reddit Sans"/>
              </a:rPr>
              <a:t>La competencia tiene brechas</a:t>
            </a:r>
          </a:p>
        </p:txBody>
      </p:sp>
      <p:sp>
        <p:nvSpPr>
          <p:cNvPr id="44" name="ci">
            <a:extLst>
              <a:ext uri="{FF2B5EF4-FFF2-40B4-BE49-F238E27FC236}">
                <a16:creationId xmlns:a16="http://schemas.microsoft.com/office/drawing/2014/main" id="{A72BC5A6-E924-9594-41BB-C736EFD0BB1A}"/>
              </a:ext>
            </a:extLst>
          </p:cNvPr>
          <p:cNvSpPr txBox="1">
            <a:spLocks noGrp="1"/>
          </p:cNvSpPr>
          <p:nvPr/>
        </p:nvSpPr>
        <p:spPr>
          <a:xfrm>
            <a:off x="5806440" y="1325880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Aranda: único competidor local relevante</a:t>
            </a:r>
          </a:p>
        </p:txBody>
      </p:sp>
      <p:sp>
        <p:nvSpPr>
          <p:cNvPr id="46" name="ci">
            <a:extLst>
              <a:ext uri="{FF2B5EF4-FFF2-40B4-BE49-F238E27FC236}">
                <a16:creationId xmlns:a16="http://schemas.microsoft.com/office/drawing/2014/main" id="{C6FEA3DA-176E-50F8-B23C-2CEC08995BF1}"/>
              </a:ext>
            </a:extLst>
          </p:cNvPr>
          <p:cNvSpPr txBox="1">
            <a:spLocks noGrp="1"/>
          </p:cNvSpPr>
          <p:nvPr/>
        </p:nvSpPr>
        <p:spPr>
          <a:xfrm>
            <a:off x="5806440" y="1856232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Vendors globales compiten como software, no assessment</a:t>
            </a:r>
          </a:p>
        </p:txBody>
      </p:sp>
      <p:sp>
        <p:nvSpPr>
          <p:cNvPr id="48" name="ci">
            <a:extLst>
              <a:ext uri="{FF2B5EF4-FFF2-40B4-BE49-F238E27FC236}">
                <a16:creationId xmlns:a16="http://schemas.microsoft.com/office/drawing/2014/main" id="{1AB00BF0-210C-8877-4253-6C18ADD98999}"/>
              </a:ext>
            </a:extLst>
          </p:cNvPr>
          <p:cNvSpPr txBox="1">
            <a:spLocks noGrp="1"/>
          </p:cNvSpPr>
          <p:nvPr/>
        </p:nvSpPr>
        <p:spPr>
          <a:xfrm>
            <a:off x="5806440" y="2386584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Nadie tiene modelo de madurez propio publicado</a:t>
            </a:r>
          </a:p>
        </p:txBody>
      </p:sp>
      <p:sp>
        <p:nvSpPr>
          <p:cNvPr id="50" name="ci">
            <a:extLst>
              <a:ext uri="{FF2B5EF4-FFF2-40B4-BE49-F238E27FC236}">
                <a16:creationId xmlns:a16="http://schemas.microsoft.com/office/drawing/2014/main" id="{121B3565-58BF-826C-0446-EB86D23DF1B1}"/>
              </a:ext>
            </a:extLst>
          </p:cNvPr>
          <p:cNvSpPr txBox="1">
            <a:spLocks noGrp="1"/>
          </p:cNvSpPr>
          <p:nvPr/>
        </p:nvSpPr>
        <p:spPr>
          <a:xfrm>
            <a:off x="5806440" y="2916936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30" dirty="0">
                <a:solidFill>
                  <a:srgbClr val="333333"/>
                </a:solidFill>
                <a:latin typeface="Reddit Sans"/>
                <a:ea typeface="Reddit Sans"/>
              </a:rPr>
              <a:t>•  BMC, Ivanti, ManageEngine recién ingresan</a:t>
            </a:r>
          </a:p>
        </p:txBody>
      </p:sp>
      <p:sp>
        <p:nvSpPr>
          <p:cNvPr id="52" name="concl">
            <a:extLst>
              <a:ext uri="{FF2B5EF4-FFF2-40B4-BE49-F238E27FC236}">
                <a16:creationId xmlns:a16="http://schemas.microsoft.com/office/drawing/2014/main" id="{A4F99DAE-D145-BE17-C291-59199F0AE469}"/>
              </a:ext>
            </a:extLst>
          </p:cNvPr>
          <p:cNvSpPr>
            <a:spLocks noGrp="1"/>
          </p:cNvSpPr>
          <p:nvPr/>
        </p:nvSpPr>
        <p:spPr>
          <a:xfrm>
            <a:off x="320040" y="4133087"/>
            <a:ext cx="8001000" cy="31089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F59E0B"/>
            </a:solidFill>
          </a:ln>
        </p:spPr>
      </p:sp>
      <p:sp>
        <p:nvSpPr>
          <p:cNvPr id="54" name="ctxt">
            <a:extLst>
              <a:ext uri="{FF2B5EF4-FFF2-40B4-BE49-F238E27FC236}">
                <a16:creationId xmlns:a16="http://schemas.microsoft.com/office/drawing/2014/main" id="{86DC8543-628F-FDD8-9946-8C9A01D2BD59}"/>
              </a:ext>
            </a:extLst>
          </p:cNvPr>
          <p:cNvSpPr txBox="1">
            <a:spLocks noGrp="1"/>
          </p:cNvSpPr>
          <p:nvPr/>
        </p:nvSpPr>
        <p:spPr>
          <a:xfrm>
            <a:off x="457200" y="4133087"/>
            <a:ext cx="77724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60" b="1" dirty="0">
                <a:solidFill>
                  <a:srgbClr val="92400E"/>
                </a:solidFill>
                <a:latin typeface="Reddit Sans"/>
                <a:ea typeface="Reddit Sans"/>
              </a:rPr>
              <a:t>Regulación exigente + banca IA-madura + mercado en expansión = ventana comercial concreta antes que los globales tengan framework propio</a:t>
            </a:r>
          </a:p>
        </p:txBody>
      </p:sp>
      <p:sp>
        <p:nvSpPr>
          <p:cNvPr id="56" name="src">
            <a:extLst>
              <a:ext uri="{FF2B5EF4-FFF2-40B4-BE49-F238E27FC236}">
                <a16:creationId xmlns:a16="http://schemas.microsoft.com/office/drawing/2014/main" id="{A8D6F140-BD14-BF50-95F6-D4137283DF3E}"/>
              </a:ext>
            </a:extLst>
          </p:cNvPr>
          <p:cNvSpPr txBox="1">
            <a:spLocks noGrp="1"/>
          </p:cNvSpPr>
          <p:nvPr/>
        </p:nvSpPr>
        <p:spPr>
          <a:xfrm>
            <a:off x="341811" y="4627517"/>
            <a:ext cx="75895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780" i="1" dirty="0">
                <a:solidFill>
                  <a:srgbClr val="6B7280"/>
                </a:solidFill>
                <a:latin typeface="Reddit Sans"/>
                <a:ea typeface="Reddit Sans"/>
              </a:rPr>
              <a:t>Fuente: Mordor Intelligence — Colombia IT Services 2031  ·  SFC — Circular Externa 007 de 2024  ·  Aranda Software</a:t>
            </a: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3D16C708-4805-6EDD-C5CB-13B9322F42FC}"/>
              </a:ext>
            </a:extLst>
          </p:cNvPr>
          <p:cNvSpPr txBox="1"/>
          <p:nvPr/>
        </p:nvSpPr>
        <p:spPr>
          <a:xfrm>
            <a:off x="342900" y="492579"/>
            <a:ext cx="742405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900" b="1" i="0" u="none" strike="noStrike" baseline="0" dirty="0">
                <a:solidFill>
                  <a:schemeClr val="bg1">
                    <a:lumMod val="49000"/>
                  </a:schemeClr>
                </a:solidFill>
                <a:latin typeface="Reddit Sans"/>
              </a:rPr>
              <a:t>El mercado más dinámico de IT </a:t>
            </a:r>
            <a:r>
              <a:rPr lang="es-ES" sz="900" b="1" i="0" u="none" strike="noStrike" baseline="0" dirty="0" err="1">
                <a:solidFill>
                  <a:schemeClr val="bg1">
                    <a:lumMod val="49000"/>
                  </a:schemeClr>
                </a:solidFill>
                <a:latin typeface="Reddit Sans"/>
              </a:rPr>
              <a:t>Services</a:t>
            </a:r>
            <a:r>
              <a:rPr lang="es-ES" sz="900" b="1" i="0" u="none" strike="noStrike" baseline="0" dirty="0">
                <a:solidFill>
                  <a:schemeClr val="bg1">
                    <a:lumMod val="49000"/>
                  </a:schemeClr>
                </a:solidFill>
                <a:latin typeface="Reddit Sans"/>
              </a:rPr>
              <a:t> en Sudamérica</a:t>
            </a:r>
            <a:endParaRPr lang="es-ES" sz="900" dirty="0">
              <a:solidFill>
                <a:schemeClr val="bg1">
                  <a:lumMod val="49000"/>
                </a:schemeClr>
              </a:solidFill>
            </a:endParaRPr>
          </a:p>
          <a:p>
            <a:pPr algn="ctr"/>
            <a:endParaRPr lang="es-ES" sz="900"/>
          </a:p>
        </p:txBody>
      </p:sp>
    </p:spTree>
    <p:extLst>
      <p:ext uri="{BB962C8B-B14F-4D97-AF65-F5344CB8AC3E}">
        <p14:creationId xmlns:p14="http://schemas.microsoft.com/office/powerpoint/2010/main" val="19910845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TIL Version 5 — Ciclo de vida 8 etapas y Modelo 6C de IA">
            <a:extLst>
              <a:ext uri="{FF2B5EF4-FFF2-40B4-BE49-F238E27FC236}">
                <a16:creationId xmlns:a16="http://schemas.microsoft.com/office/drawing/2014/main" id="{EB40EBA7-6AAB-75EB-77B7-40E3DDDAF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1942"/>
            <a:ext cx="9144000" cy="4465674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281F8DE4-10A4-27B3-34F6-D359EA68D895}"/>
              </a:ext>
            </a:extLst>
          </p:cNvPr>
          <p:cNvSpPr txBox="1">
            <a:spLocks/>
          </p:cNvSpPr>
          <p:nvPr/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4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Reddit Sans"/>
              <a:buNone/>
              <a:defRPr sz="50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400" dirty="0">
                <a:latin typeface="Reddit Sans" panose="020B0604020202020204" charset="0"/>
                <a:ea typeface="Reddit Sans" panose="020B0604020202020204" charset="0"/>
              </a:rPr>
              <a:t>ITIL (Version 5): </a:t>
            </a:r>
            <a:r>
              <a:rPr lang="en-US" sz="3400" dirty="0" err="1">
                <a:latin typeface="Reddit Sans" panose="020B0604020202020204" charset="0"/>
                <a:ea typeface="Reddit Sans" panose="020B0604020202020204" charset="0"/>
              </a:rPr>
              <a:t>Diagrama</a:t>
            </a:r>
            <a:r>
              <a:rPr lang="en-US" sz="3400" dirty="0">
                <a:latin typeface="Reddit Sans" panose="020B0604020202020204" charset="0"/>
                <a:ea typeface="Reddit Sans" panose="020B0604020202020204" charset="0"/>
              </a:rPr>
              <a:t> del Ciclo de Vida y Modelo 6C</a:t>
            </a:r>
            <a:endParaRPr lang="es-ES" sz="3400" dirty="0">
              <a:latin typeface="Reddit Sans" panose="020B0604020202020204" charset="0"/>
              <a:ea typeface="Reddit Sans" panose="020B060402020202020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786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A47E7F-9AB6-5D4E-21FF-77F38153A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/>
              <a:t>Agentic AI: Estado Real de Adopción 2025–2026</a:t>
            </a:r>
            <a:endParaRPr lang="en-US"/>
          </a:p>
        </p:txBody>
      </p:sp>
      <p:pic>
        <p:nvPicPr>
          <p:cNvPr id="3" name="Imagen 2" descr="Agentic AI — Estado de adopción 2025-2026 y casos de éxito">
            <a:extLst>
              <a:ext uri="{FF2B5EF4-FFF2-40B4-BE49-F238E27FC236}">
                <a16:creationId xmlns:a16="http://schemas.microsoft.com/office/drawing/2014/main" id="{0DBA85FD-258E-D362-7F76-196EA358B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9278"/>
            <a:ext cx="9144000" cy="4040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7787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7063431-2DE3-F60A-F338-FF4742D01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Mesas de Servicio - Referencia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A179637-B69D-C6BA-C75E-06BFC81FE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52143"/>
            <a:ext cx="4332514" cy="2919369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EA414D-20B6-9B45-A372-FD29DC40E659}"/>
              </a:ext>
            </a:extLst>
          </p:cNvPr>
          <p:cNvSpPr txBox="1"/>
          <p:nvPr/>
        </p:nvSpPr>
        <p:spPr>
          <a:xfrm>
            <a:off x="1567543" y="4226379"/>
            <a:ext cx="1877786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4"/>
              </a:rPr>
              <a:t>7.5.5 Mesa de Servicios</a:t>
            </a:r>
            <a:endParaRPr lang="en-US" sz="800"/>
          </a:p>
          <a:p>
            <a:pPr algn="ctr"/>
            <a:endParaRPr lang="es-ES" sz="80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D1F6975-38DB-93CB-B6BA-B658B4E2CF1F}"/>
              </a:ext>
            </a:extLst>
          </p:cNvPr>
          <p:cNvSpPr txBox="1"/>
          <p:nvPr/>
        </p:nvSpPr>
        <p:spPr>
          <a:xfrm>
            <a:off x="5143500" y="4395107"/>
            <a:ext cx="3869872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5"/>
              </a:rPr>
              <a:t>¿Qué es un software de mesa de ayuda? | Guía sobre el software de mesa de ayuda - ManageEngine ServiceDesk Plus</a:t>
            </a:r>
            <a:endParaRPr lang="en-US" sz="800"/>
          </a:p>
          <a:p>
            <a:pPr algn="ctr"/>
            <a:endParaRPr lang="es-ES"/>
          </a:p>
        </p:txBody>
      </p:sp>
      <p:pic>
        <p:nvPicPr>
          <p:cNvPr id="8" name="Imagen 7" descr="Help desk software for small business">
            <a:extLst>
              <a:ext uri="{FF2B5EF4-FFF2-40B4-BE49-F238E27FC236}">
                <a16:creationId xmlns:a16="http://schemas.microsoft.com/office/drawing/2014/main" id="{15ED6B90-4D20-BFFE-8DEC-B92A0F7C44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2632" y="0"/>
            <a:ext cx="3620364" cy="4218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7572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Contenido del artículo">
            <a:extLst>
              <a:ext uri="{FF2B5EF4-FFF2-40B4-BE49-F238E27FC236}">
                <a16:creationId xmlns:a16="http://schemas.microsoft.com/office/drawing/2014/main" id="{7DF1E554-1AA2-EB5F-9181-655DCB20E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07" y="111579"/>
            <a:ext cx="7658100" cy="44196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B543981-3B15-19F8-6B0B-D34AF3EB26D8}"/>
              </a:ext>
            </a:extLst>
          </p:cNvPr>
          <p:cNvSpPr txBox="1"/>
          <p:nvPr/>
        </p:nvSpPr>
        <p:spPr>
          <a:xfrm>
            <a:off x="473528" y="4656364"/>
            <a:ext cx="6417128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3"/>
              </a:rPr>
              <a:t>(8) Mesa de servicio inteligente: cómo la Inteligencia Artificial está transformando el soporte al cliente | LinkedIn</a:t>
            </a:r>
            <a:endParaRPr lang="en-US" sz="80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583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 dirty="0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Propuesta de Servicio Diferenciada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14542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A96980-A4BE-F0A1-5662-995F774AA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Que</a:t>
            </a:r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 </a:t>
            </a:r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Diferencia</a:t>
            </a:r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 a </a:t>
            </a:r>
            <a:r>
              <a:rPr lang="en-US" dirty="0" err="1">
                <a:latin typeface="Reddit Sans" panose="020B0604020202020204" charset="0"/>
                <a:ea typeface="Reddit Sans" panose="020B0604020202020204" charset="0"/>
              </a:rPr>
              <a:t>PersonalSoft</a:t>
            </a:r>
            <a:r>
              <a:rPr lang="en-US" dirty="0">
                <a:latin typeface="Reddit Sans" panose="020B0604020202020204" charset="0"/>
                <a:ea typeface="Reddit Sans" panose="020B0604020202020204" charset="0"/>
              </a:rPr>
              <a:t>?</a:t>
            </a:r>
            <a:endParaRPr lang="es-CO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4767F079-1D04-4540-7FDE-49D342302A68}"/>
              </a:ext>
            </a:extLst>
          </p:cNvPr>
          <p:cNvSpPr/>
          <p:nvPr/>
        </p:nvSpPr>
        <p:spPr>
          <a:xfrm>
            <a:off x="408396" y="993373"/>
            <a:ext cx="3796620" cy="1664208"/>
          </a:xfrm>
          <a:prstGeom prst="roundRect">
            <a:avLst>
              <a:gd name="adj" fmla="val 4396"/>
            </a:avLst>
          </a:prstGeom>
          <a:solidFill>
            <a:srgbClr val="C8DEF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3842FA7A-E771-0507-17AC-7775414EEDB3}"/>
              </a:ext>
            </a:extLst>
          </p:cNvPr>
          <p:cNvSpPr/>
          <p:nvPr/>
        </p:nvSpPr>
        <p:spPr>
          <a:xfrm>
            <a:off x="408396" y="993373"/>
            <a:ext cx="3796620" cy="365760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3CDD2098-85CF-49FF-1743-0152812143F5}"/>
              </a:ext>
            </a:extLst>
          </p:cNvPr>
          <p:cNvSpPr/>
          <p:nvPr/>
        </p:nvSpPr>
        <p:spPr>
          <a:xfrm>
            <a:off x="518124" y="1029949"/>
            <a:ext cx="35985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Modelo de Madurez Propio N0-N5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A8648CD9-4581-9254-C260-AB9A27B09AA0}"/>
              </a:ext>
            </a:extLst>
          </p:cNvPr>
          <p:cNvSpPr/>
          <p:nvPr/>
        </p:nvSpPr>
        <p:spPr>
          <a:xfrm>
            <a:off x="518124" y="1403111"/>
            <a:ext cx="3598536" cy="11704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>
              <a:spcAft>
                <a:spcPts val="200"/>
              </a:spcAft>
            </a:pP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Clasificador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 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inicial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 de mesa de 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ayuda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 /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soporte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, 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nivel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 N0-N5 y 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brechas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 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 4dimensiones.</a:t>
            </a:r>
            <a:endParaRPr lang="es-ES" sz="1000" dirty="0">
              <a:latin typeface="Reddit Sans"/>
              <a:ea typeface="Reddit Sans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6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niveles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claros (N0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Autoservicio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a N5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Optimizado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)</a:t>
            </a:r>
            <a:endParaRPr lang="en-US" sz="1000">
              <a:latin typeface="Reddit Sans"/>
              <a:ea typeface="Reddit Sans"/>
              <a:cs typeface="Calibri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17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practicas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operativas</a:t>
            </a:r>
            <a:endParaRPr lang="en-US" sz="1000">
              <a:latin typeface="Reddit Sans"/>
              <a:ea typeface="Reddit Sans"/>
              <a:cs typeface="Calibri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endParaRPr lang="en-US" sz="1000" dirty="0">
              <a:solidFill>
                <a:srgbClr val="1A1A2E"/>
              </a:solidFill>
              <a:latin typeface="Reddit Sans"/>
              <a:ea typeface="Reddit Sans"/>
              <a:cs typeface="Calibri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endParaRPr lang="en-US" sz="1000" dirty="0">
              <a:solidFill>
                <a:srgbClr val="1A1A2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C4649C0C-2DB5-229D-089B-CC33345D748E}"/>
              </a:ext>
            </a:extLst>
          </p:cNvPr>
          <p:cNvSpPr/>
          <p:nvPr/>
        </p:nvSpPr>
        <p:spPr>
          <a:xfrm>
            <a:off x="4572000" y="982969"/>
            <a:ext cx="3796620" cy="1664208"/>
          </a:xfrm>
          <a:prstGeom prst="roundRect">
            <a:avLst>
              <a:gd name="adj" fmla="val 4396"/>
            </a:avLst>
          </a:prstGeom>
          <a:solidFill>
            <a:srgbClr val="C8EBEF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02710572-CEAA-85F9-D5EA-28BE993B7522}"/>
              </a:ext>
            </a:extLst>
          </p:cNvPr>
          <p:cNvSpPr/>
          <p:nvPr/>
        </p:nvSpPr>
        <p:spPr>
          <a:xfrm>
            <a:off x="4572000" y="982969"/>
            <a:ext cx="3796620" cy="365760"/>
          </a:xfrm>
          <a:prstGeom prst="rect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56A9A7AE-CD9A-E60C-4EF9-99AA7647CF05}"/>
              </a:ext>
            </a:extLst>
          </p:cNvPr>
          <p:cNvSpPr/>
          <p:nvPr/>
        </p:nvSpPr>
        <p:spPr>
          <a:xfrm>
            <a:off x="4681728" y="1019545"/>
            <a:ext cx="3598536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Operacion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Gestionada</a:t>
            </a:r>
            <a:endParaRPr lang="es-ES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DF42E98C-DAA6-0F3D-876A-176A19061C18}"/>
              </a:ext>
            </a:extLst>
          </p:cNvPr>
          <p:cNvSpPr/>
          <p:nvPr/>
        </p:nvSpPr>
        <p:spPr>
          <a:xfrm>
            <a:off x="4681728" y="1403593"/>
            <a:ext cx="3598536" cy="11704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>
              <a:spcAft>
                <a:spcPts val="200"/>
              </a:spcAft>
            </a:pP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Roles, RACI, 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catálogo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, ANS/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XLA,gobierno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 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mensual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 y 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mejora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 continua </a:t>
            </a:r>
            <a:r>
              <a:rPr lang="en-US" sz="1000" dirty="0" err="1">
                <a:solidFill>
                  <a:srgbClr val="172033"/>
                </a:solidFill>
                <a:latin typeface="Reddit Sans"/>
                <a:ea typeface="Reddit Sans"/>
              </a:rPr>
              <a:t>condatos</a:t>
            </a:r>
            <a:r>
              <a:rPr lang="en-US" sz="1000" dirty="0">
                <a:solidFill>
                  <a:srgbClr val="172033"/>
                </a:solidFill>
                <a:latin typeface="Reddit Sans"/>
                <a:ea typeface="Reddit Sans"/>
              </a:rPr>
              <a:t>.</a:t>
            </a:r>
            <a:endParaRPr lang="es-ES" sz="1000" dirty="0">
              <a:latin typeface="Reddit Sans"/>
              <a:ea typeface="Reddit Sans"/>
            </a:endParaRPr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5A2B670B-0ED5-06F7-4FA6-8DF8079653AA}"/>
              </a:ext>
            </a:extLst>
          </p:cNvPr>
          <p:cNvSpPr/>
          <p:nvPr/>
        </p:nvSpPr>
        <p:spPr>
          <a:xfrm>
            <a:off x="408396" y="2776453"/>
            <a:ext cx="3796620" cy="1664208"/>
          </a:xfrm>
          <a:prstGeom prst="roundRect">
            <a:avLst>
              <a:gd name="adj" fmla="val 4396"/>
            </a:avLst>
          </a:prstGeom>
          <a:solidFill>
            <a:srgbClr val="C8DEFF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CBAA4465-CB7A-A612-3565-1F96AB9D8A32}"/>
              </a:ext>
            </a:extLst>
          </p:cNvPr>
          <p:cNvSpPr/>
          <p:nvPr/>
        </p:nvSpPr>
        <p:spPr>
          <a:xfrm>
            <a:off x="408396" y="2776453"/>
            <a:ext cx="3796620" cy="365760"/>
          </a:xfrm>
          <a:prstGeom prst="rect">
            <a:avLst/>
          </a:prstGeom>
          <a:solidFill>
            <a:srgbClr val="1F6FBA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C417D0D9-E950-1762-A3BE-8F6F84FBA51F}"/>
              </a:ext>
            </a:extLst>
          </p:cNvPr>
          <p:cNvSpPr/>
          <p:nvPr/>
        </p:nvSpPr>
        <p:spPr>
          <a:xfrm>
            <a:off x="518124" y="2813029"/>
            <a:ext cx="3598536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Inteligencia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Aplicada</a:t>
            </a: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E1B096F6-5DB9-4852-6CD3-4C3360F843DE}"/>
              </a:ext>
            </a:extLst>
          </p:cNvPr>
          <p:cNvSpPr/>
          <p:nvPr/>
        </p:nvSpPr>
        <p:spPr>
          <a:xfrm>
            <a:off x="518124" y="3197077"/>
            <a:ext cx="3598536" cy="11704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00">
                <a:solidFill>
                  <a:srgbClr val="172033"/>
                </a:solidFill>
                <a:latin typeface="Reddit Sans"/>
                <a:ea typeface="Reddit Sans"/>
              </a:rPr>
              <a:t>KEDB/KCS, agent assist, AIOPs</a:t>
            </a:r>
            <a:endParaRPr lang="en-US" sz="1000" dirty="0">
              <a:solidFill>
                <a:srgbClr val="1A1A2E"/>
              </a:solidFill>
              <a:latin typeface="Reddit Sans"/>
              <a:ea typeface="Reddit Sans"/>
              <a:cs typeface="Calibri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Observabilidad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predictiva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desde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el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diseno</a:t>
            </a:r>
            <a:endParaRPr lang="en-US" sz="1000">
              <a:latin typeface="Reddit Sans"/>
              <a:ea typeface="Reddit Sans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Correlacion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automatica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alertas-incidentes</a:t>
            </a:r>
            <a:endParaRPr lang="en-US" sz="1000" dirty="0" err="1">
              <a:latin typeface="Reddit Sans"/>
              <a:ea typeface="Reddit Sans"/>
              <a:cs typeface="Calibri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El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cliente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sabe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exactamente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en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que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nivel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esta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y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que</a:t>
            </a:r>
            <a:r>
              <a:rPr lang="en-US" sz="1000" dirty="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cuesta </a:t>
            </a:r>
            <a:r>
              <a:rPr lang="en-US" sz="1000" dirty="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subir</a:t>
            </a:r>
            <a:endParaRPr lang="en-US" sz="1000" dirty="0">
              <a:solidFill>
                <a:srgbClr val="1A1A2E"/>
              </a:solidFill>
              <a:latin typeface="Reddit Sans"/>
              <a:ea typeface="Reddit Sans"/>
              <a:cs typeface="Calibri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endParaRPr lang="en-US" sz="1000" dirty="0">
              <a:solidFill>
                <a:srgbClr val="1A1A2E"/>
              </a:solidFill>
              <a:latin typeface="Reddit Sans"/>
              <a:ea typeface="Reddit Sans"/>
              <a:cs typeface="Calibri"/>
            </a:endParaRPr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endParaRPr lang="en-US" sz="1000" dirty="0">
              <a:latin typeface="Reddit Sans"/>
              <a:ea typeface="Reddit Sans"/>
            </a:endParaRPr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9C66D96F-AE8F-0B17-9FB1-3EE418565749}"/>
              </a:ext>
            </a:extLst>
          </p:cNvPr>
          <p:cNvSpPr/>
          <p:nvPr/>
        </p:nvSpPr>
        <p:spPr>
          <a:xfrm>
            <a:off x="274320" y="4617720"/>
            <a:ext cx="8595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Fuente: </a:t>
            </a:r>
            <a:r>
              <a:rPr lang="en-US" sz="750" u="sng" dirty="0" err="1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PeopleCert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ITIL v5 — AI Capability Model</a:t>
            </a:r>
            <a:r>
              <a:rPr lang="en-US" sz="750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Outcome-Based IT Contracts 2025</a:t>
            </a:r>
            <a:endParaRPr lang="en-US" sz="750">
              <a:highlight>
                <a:srgbClr val="FFFF00"/>
              </a:highlight>
              <a:latin typeface="Reddit Sans"/>
              <a:ea typeface="Reddit Sans"/>
            </a:endParaRP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D72D495F-6EA5-E92D-487C-A49086E49EC7}"/>
              </a:ext>
            </a:extLst>
          </p:cNvPr>
          <p:cNvSpPr/>
          <p:nvPr/>
        </p:nvSpPr>
        <p:spPr>
          <a:xfrm>
            <a:off x="340500" y="569426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Los 3 </a:t>
            </a:r>
            <a:r>
              <a:rPr lang="en-US" sz="1100" dirty="0" err="1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pilares</a:t>
            </a: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100" dirty="0" err="1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que</a:t>
            </a: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100" dirty="0" err="1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ningun</a:t>
            </a: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100" dirty="0" err="1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competidor</a:t>
            </a: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100" dirty="0" err="1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tiene</a:t>
            </a: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100" dirty="0" err="1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como</a:t>
            </a: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100" dirty="0" err="1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oferta</a:t>
            </a: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100" dirty="0" err="1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integrada</a:t>
            </a:r>
            <a:endParaRPr lang="en-US" sz="1100" dirty="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2ACB0774-55C6-1966-7AA9-AABC56D72946}"/>
              </a:ext>
            </a:extLst>
          </p:cNvPr>
          <p:cNvSpPr>
            <a:spLocks noGrp="1"/>
          </p:cNvSpPr>
          <p:nvPr/>
        </p:nvSpPr>
        <p:spPr>
          <a:xfrm>
            <a:off x="5829300" y="3061606"/>
            <a:ext cx="2226130" cy="13035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425" b="1">
                <a:solidFill>
                  <a:srgbClr val="0C2362"/>
                </a:solidFill>
              </a:defRPr>
            </a:pPr>
            <a:r>
              <a:rPr b="1" dirty="0">
                <a:solidFill>
                  <a:srgbClr val="0C2362"/>
                </a:solidFill>
              </a:rPr>
              <a:t>La </a:t>
            </a:r>
            <a:r>
              <a:rPr b="1" dirty="0" err="1">
                <a:solidFill>
                  <a:srgbClr val="0C2362"/>
                </a:solidFill>
              </a:rPr>
              <a:t>promesa</a:t>
            </a:r>
            <a:r>
              <a:rPr b="1" dirty="0">
                <a:solidFill>
                  <a:srgbClr val="0C2362"/>
                </a:solidFill>
              </a:rPr>
              <a:t> </a:t>
            </a:r>
            <a:r>
              <a:rPr b="1" dirty="0" err="1">
                <a:solidFill>
                  <a:srgbClr val="0C2362"/>
                </a:solidFill>
              </a:rPr>
              <a:t>comercial</a:t>
            </a:r>
            <a:r>
              <a:rPr b="1" dirty="0">
                <a:solidFill>
                  <a:srgbClr val="0C2362"/>
                </a:solidFill>
              </a:rPr>
              <a:t>: pasar de staff augmentation a un </a:t>
            </a:r>
            <a:r>
              <a:rPr b="1" dirty="0" err="1">
                <a:solidFill>
                  <a:srgbClr val="0C2362"/>
                </a:solidFill>
              </a:rPr>
              <a:t>servicio</a:t>
            </a:r>
            <a:r>
              <a:rPr b="1" dirty="0">
                <a:solidFill>
                  <a:srgbClr val="0C2362"/>
                </a:solidFill>
              </a:rPr>
              <a:t> </a:t>
            </a:r>
            <a:r>
              <a:rPr b="1" dirty="0" err="1">
                <a:solidFill>
                  <a:srgbClr val="0C2362"/>
                </a:solidFill>
              </a:rPr>
              <a:t>gestionado</a:t>
            </a:r>
            <a:r>
              <a:rPr b="1" dirty="0">
                <a:solidFill>
                  <a:srgbClr val="0C2362"/>
                </a:solidFill>
              </a:rPr>
              <a:t>, </a:t>
            </a:r>
            <a:r>
              <a:rPr b="1" dirty="0" err="1">
                <a:solidFill>
                  <a:srgbClr val="0C2362"/>
                </a:solidFill>
              </a:rPr>
              <a:t>medible</a:t>
            </a:r>
            <a:r>
              <a:rPr b="1" dirty="0">
                <a:solidFill>
                  <a:srgbClr val="0C2362"/>
                </a:solidFill>
              </a:rPr>
              <a:t> y </a:t>
            </a:r>
            <a:r>
              <a:rPr b="1" dirty="0" err="1">
                <a:solidFill>
                  <a:srgbClr val="0C2362"/>
                </a:solidFill>
              </a:rPr>
              <a:t>evolutivo</a:t>
            </a:r>
            <a:r>
              <a:rPr b="1" dirty="0">
                <a:solidFill>
                  <a:srgbClr val="0C2362"/>
                </a:solidFill>
              </a:rPr>
              <a:t>.</a:t>
            </a:r>
          </a:p>
        </p:txBody>
      </p:sp>
      <p:sp>
        <p:nvSpPr>
          <p:cNvPr id="23" name="Estrella: 5 puntas 22">
            <a:extLst>
              <a:ext uri="{FF2B5EF4-FFF2-40B4-BE49-F238E27FC236}">
                <a16:creationId xmlns:a16="http://schemas.microsoft.com/office/drawing/2014/main" id="{3B83B1DC-4198-9F8A-D65E-44F7AE042B88}"/>
              </a:ext>
            </a:extLst>
          </p:cNvPr>
          <p:cNvSpPr/>
          <p:nvPr/>
        </p:nvSpPr>
        <p:spPr>
          <a:xfrm>
            <a:off x="4914900" y="3198223"/>
            <a:ext cx="914400" cy="914400"/>
          </a:xfrm>
          <a:prstGeom prst="star5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3122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">
            <a:extLst>
              <a:ext uri="{FF2B5EF4-FFF2-40B4-BE49-F238E27FC236}">
                <a16:creationId xmlns:a16="http://schemas.microsoft.com/office/drawing/2014/main" id="{7CE5B647-E18D-4527-9BD0-C47DB7969747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</a:rPr>
              <a:t>Colombia abre una ventana para industrializar el servicio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E706031D-C4A5-4EBF-8777-2D5C00C4CFC0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AAEE0"/>
                </a:solidFill>
              </a:defRPr>
            </a:pPr>
            <a:r>
              <a:rPr sz="1050" b="0">
                <a:solidFill>
                  <a:srgbClr val="9AAEE0"/>
                </a:solidFill>
              </a:rPr>
              <a:t>Regulación, digitalización e IA elevan la expectativa del cliente</a:t>
            </a:r>
          </a:p>
        </p:txBody>
      </p:sp>
      <p:sp>
        <p:nvSpPr>
          <p:cNvPr id="3" name="metric-card">
            <a:extLst>
              <a:ext uri="{FF2B5EF4-FFF2-40B4-BE49-F238E27FC236}">
                <a16:creationId xmlns:a16="http://schemas.microsoft.com/office/drawing/2014/main" id="{E7F2BDC5-CAA7-40D1-BFE1-A964A181AA67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2095500" cy="1028700"/>
          </a:xfrm>
          <a:prstGeom prst="roundRect">
            <a:avLst>
              <a:gd name="adj" fmla="val 5556"/>
            </a:avLst>
          </a:prstGeom>
          <a:solidFill>
            <a:srgbClr val="F2F6FC"/>
          </a:solidFill>
          <a:ln w="11430">
            <a:solidFill>
              <a:srgbClr val="C8D1E1"/>
            </a:solidFill>
            <a:prstDash val="solid"/>
          </a:ln>
        </p:spPr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7465B298-155A-42C6-9BA5-50F0297A092B}"/>
              </a:ext>
            </a:extLst>
          </p:cNvPr>
          <p:cNvSpPr>
            <a:spLocks noGrp="1"/>
          </p:cNvSpPr>
          <p:nvPr/>
        </p:nvSpPr>
        <p:spPr>
          <a:xfrm>
            <a:off x="819150" y="140970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>
                <a:solidFill>
                  <a:srgbClr val="087B83"/>
                </a:solidFill>
              </a:defRPr>
            </a:pPr>
            <a:r>
              <a:rPr sz="1950" b="1">
                <a:solidFill>
                  <a:srgbClr val="087B83"/>
                </a:solidFill>
              </a:rPr>
              <a:t>81%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603E9784-79C2-43F0-8AB9-B875DACECDC1}"/>
              </a:ext>
            </a:extLst>
          </p:cNvPr>
          <p:cNvSpPr>
            <a:spLocks noGrp="1"/>
          </p:cNvSpPr>
          <p:nvPr/>
        </p:nvSpPr>
        <p:spPr>
          <a:xfrm>
            <a:off x="828675" y="18478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Banca colombiana con uso de IA</a:t>
            </a:r>
          </a:p>
        </p:txBody>
      </p:sp>
      <p:sp>
        <p:nvSpPr>
          <p:cNvPr id="6" name="metric-card">
            <a:extLst>
              <a:ext uri="{FF2B5EF4-FFF2-40B4-BE49-F238E27FC236}">
                <a16:creationId xmlns:a16="http://schemas.microsoft.com/office/drawing/2014/main" id="{00F2F4F7-D4C2-4476-986E-2EAABF094CF6}"/>
              </a:ext>
            </a:extLst>
          </p:cNvPr>
          <p:cNvSpPr>
            <a:spLocks noGrp="1"/>
          </p:cNvSpPr>
          <p:nvPr/>
        </p:nvSpPr>
        <p:spPr>
          <a:xfrm>
            <a:off x="3524250" y="1219200"/>
            <a:ext cx="2095500" cy="1028700"/>
          </a:xfrm>
          <a:prstGeom prst="roundRect">
            <a:avLst>
              <a:gd name="adj" fmla="val 5556"/>
            </a:avLst>
          </a:prstGeom>
          <a:solidFill>
            <a:srgbClr val="F2F6FC"/>
          </a:solidFill>
          <a:ln w="11430">
            <a:solidFill>
              <a:srgbClr val="C8D1E1"/>
            </a:solidFill>
            <a:prstDash val="solid"/>
          </a:ln>
        </p:spPr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509228B1-6AA1-4C7F-878E-346D4F01C03B}"/>
              </a:ext>
            </a:extLst>
          </p:cNvPr>
          <p:cNvSpPr>
            <a:spLocks noGrp="1"/>
          </p:cNvSpPr>
          <p:nvPr/>
        </p:nvSpPr>
        <p:spPr>
          <a:xfrm>
            <a:off x="3657600" y="140970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>
                <a:solidFill>
                  <a:srgbClr val="163B8C"/>
                </a:solidFill>
              </a:defRPr>
            </a:pPr>
            <a:r>
              <a:rPr sz="1950" b="1">
                <a:solidFill>
                  <a:srgbClr val="163B8C"/>
                </a:solidFill>
              </a:rPr>
              <a:t>63.45%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238C93A3-1F69-4F1B-93D5-96A897EF7F20}"/>
              </a:ext>
            </a:extLst>
          </p:cNvPr>
          <p:cNvSpPr>
            <a:spLocks noGrp="1"/>
          </p:cNvSpPr>
          <p:nvPr/>
        </p:nvSpPr>
        <p:spPr>
          <a:xfrm>
            <a:off x="3667125" y="18478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Adopción cloud como impulsor</a:t>
            </a:r>
          </a:p>
        </p:txBody>
      </p:sp>
      <p:sp>
        <p:nvSpPr>
          <p:cNvPr id="9" name="metric-card">
            <a:extLst>
              <a:ext uri="{FF2B5EF4-FFF2-40B4-BE49-F238E27FC236}">
                <a16:creationId xmlns:a16="http://schemas.microsoft.com/office/drawing/2014/main" id="{11E3B50C-F828-42BE-8CAB-CAB006B7FD3F}"/>
              </a:ext>
            </a:extLst>
          </p:cNvPr>
          <p:cNvSpPr>
            <a:spLocks noGrp="1"/>
          </p:cNvSpPr>
          <p:nvPr/>
        </p:nvSpPr>
        <p:spPr>
          <a:xfrm>
            <a:off x="6362700" y="1219200"/>
            <a:ext cx="2095500" cy="1028700"/>
          </a:xfrm>
          <a:prstGeom prst="roundRect">
            <a:avLst>
              <a:gd name="adj" fmla="val 5556"/>
            </a:avLst>
          </a:prstGeom>
          <a:solidFill>
            <a:srgbClr val="F2F6FC"/>
          </a:solidFill>
          <a:ln w="11430">
            <a:solidFill>
              <a:srgbClr val="C8D1E1"/>
            </a:solidFill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5139F2D8-4618-4CC2-A496-B62051FE0C65}"/>
              </a:ext>
            </a:extLst>
          </p:cNvPr>
          <p:cNvSpPr>
            <a:spLocks noGrp="1"/>
          </p:cNvSpPr>
          <p:nvPr/>
        </p:nvSpPr>
        <p:spPr>
          <a:xfrm>
            <a:off x="6496050" y="140970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>
                <a:solidFill>
                  <a:srgbClr val="20835A"/>
                </a:solidFill>
              </a:defRPr>
            </a:pPr>
            <a:r>
              <a:rPr sz="1950" b="1">
                <a:solidFill>
                  <a:srgbClr val="20835A"/>
                </a:solidFill>
              </a:rPr>
              <a:t>13.82%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AB137064-5525-4722-9B97-6D18CAF76334}"/>
              </a:ext>
            </a:extLst>
          </p:cNvPr>
          <p:cNvSpPr>
            <a:spLocks noGrp="1"/>
          </p:cNvSpPr>
          <p:nvPr/>
        </p:nvSpPr>
        <p:spPr>
          <a:xfrm>
            <a:off x="6505575" y="18478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Servicios crecen más rápido que soluciones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EC033D6D-1EA2-4578-A4A6-D48598C34431}"/>
              </a:ext>
            </a:extLst>
          </p:cNvPr>
          <p:cNvSpPr>
            <a:spLocks noGrp="1"/>
          </p:cNvSpPr>
          <p:nvPr/>
        </p:nvSpPr>
        <p:spPr>
          <a:xfrm>
            <a:off x="813707" y="2748643"/>
            <a:ext cx="2076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163B8C"/>
                </a:solidFill>
              </a:rPr>
              <a:t>Banca y seguros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C3E732BC-C0FA-48FC-BF62-703D1E74110F}"/>
              </a:ext>
            </a:extLst>
          </p:cNvPr>
          <p:cNvSpPr>
            <a:spLocks noGrp="1"/>
          </p:cNvSpPr>
          <p:nvPr/>
        </p:nvSpPr>
        <p:spPr>
          <a:xfrm>
            <a:off x="813707" y="3072493"/>
            <a:ext cx="2076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</a:rPr>
              <a:t>Continuidad, trazabilidad, SFC/SOX, fraude y canales digitales.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196E92AA-5E0D-45B5-85A1-14F657DA347A}"/>
              </a:ext>
            </a:extLst>
          </p:cNvPr>
          <p:cNvSpPr>
            <a:spLocks noGrp="1"/>
          </p:cNvSpPr>
          <p:nvPr/>
        </p:nvSpPr>
        <p:spPr>
          <a:xfrm>
            <a:off x="3480707" y="2748643"/>
            <a:ext cx="2076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83C92"/>
                </a:solidFill>
              </a:rPr>
              <a:t>Salud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97C29AF0-F78C-4564-879E-FEE33A683FD4}"/>
              </a:ext>
            </a:extLst>
          </p:cNvPr>
          <p:cNvSpPr>
            <a:spLocks noGrp="1"/>
          </p:cNvSpPr>
          <p:nvPr/>
        </p:nvSpPr>
        <p:spPr>
          <a:xfrm>
            <a:off x="3480707" y="3072493"/>
            <a:ext cx="2076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</a:rPr>
              <a:t>Continuidad asistencial, datos clínicos y trazabilidad de historia.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83738C10-A811-4ECE-B7BD-F990BE658C7B}"/>
              </a:ext>
            </a:extLst>
          </p:cNvPr>
          <p:cNvSpPr>
            <a:spLocks noGrp="1"/>
          </p:cNvSpPr>
          <p:nvPr/>
        </p:nvSpPr>
        <p:spPr>
          <a:xfrm>
            <a:off x="6147707" y="2748643"/>
            <a:ext cx="2076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083C92"/>
                </a:solidFill>
              </a:rPr>
              <a:t>Energía y utilities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AD0956D4-C837-474A-8B69-F35F311127C3}"/>
              </a:ext>
            </a:extLst>
          </p:cNvPr>
          <p:cNvSpPr>
            <a:spLocks noGrp="1"/>
          </p:cNvSpPr>
          <p:nvPr/>
        </p:nvSpPr>
        <p:spPr>
          <a:xfrm>
            <a:off x="6147707" y="3072493"/>
            <a:ext cx="2076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</a:rPr>
              <a:t>Operación crítica 24x7, eventos, observabilidad y continuidad.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67F6A455-3D2F-465A-98E5-4425A8188CA7}"/>
              </a:ext>
            </a:extLst>
          </p:cNvPr>
          <p:cNvSpPr>
            <a:spLocks noGrp="1"/>
          </p:cNvSpPr>
          <p:nvPr/>
        </p:nvSpPr>
        <p:spPr>
          <a:xfrm>
            <a:off x="2000250" y="4876800"/>
            <a:ext cx="50958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563" b="0">
                <a:solidFill>
                  <a:srgbClr val="8EA1C8"/>
                </a:solidFill>
              </a:defRPr>
            </a:pPr>
            <a:r>
              <a:rPr sz="550" b="0" dirty="0">
                <a:solidFill>
                  <a:srgbClr val="8EA1C8"/>
                </a:solidFill>
                <a:highlight>
                  <a:srgbClr val="FFFF00"/>
                </a:highlight>
              </a:rPr>
              <a:t>Fuente: Mordor Intelligence Colombia ITSM; </a:t>
            </a:r>
            <a:r>
              <a:rPr sz="550" b="0" dirty="0" err="1">
                <a:solidFill>
                  <a:srgbClr val="8EA1C8"/>
                </a:solidFill>
                <a:highlight>
                  <a:srgbClr val="FFFF00"/>
                </a:highlight>
              </a:rPr>
              <a:t>Superintendencia</a:t>
            </a:r>
            <a:r>
              <a:rPr sz="550" b="0" dirty="0">
                <a:solidFill>
                  <a:srgbClr val="8EA1C8"/>
                </a:solidFill>
                <a:highlight>
                  <a:srgbClr val="FFFF00"/>
                </a:highlight>
              </a:rPr>
              <a:t> Financiera; </a:t>
            </a:r>
            <a:r>
              <a:rPr sz="550" b="0" dirty="0" err="1">
                <a:solidFill>
                  <a:srgbClr val="8EA1C8"/>
                </a:solidFill>
                <a:highlight>
                  <a:srgbClr val="FFFF00"/>
                </a:highlight>
              </a:rPr>
              <a:t>estudio</a:t>
            </a:r>
            <a:r>
              <a:rPr sz="550" b="0" dirty="0">
                <a:solidFill>
                  <a:srgbClr val="8EA1C8"/>
                </a:solidFill>
                <a:highlight>
                  <a:srgbClr val="FFFF00"/>
                </a:highlight>
              </a:rPr>
              <a:t> de mercado</a:t>
            </a:r>
            <a:endParaRPr lang="es-ES" sz="550" b="0" dirty="0">
              <a:solidFill>
                <a:srgbClr val="8EA1C8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06140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DD985-EB77-52CC-5FEE-24D98A48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700" dirty="0">
                <a:solidFill>
                  <a:srgbClr val="0C2362"/>
                </a:solidFill>
                <a:latin typeface="Arial"/>
                <a:cs typeface="Arial"/>
              </a:rPr>
              <a:t>Mesa </a:t>
            </a:r>
            <a:r>
              <a:rPr lang="en-US" sz="1700" dirty="0" err="1">
                <a:solidFill>
                  <a:srgbClr val="0C2362"/>
                </a:solidFill>
                <a:latin typeface="Arial"/>
                <a:cs typeface="Arial"/>
              </a:rPr>
              <a:t>tradicional</a:t>
            </a:r>
            <a:r>
              <a:rPr lang="en-US" sz="1700" dirty="0">
                <a:solidFill>
                  <a:srgbClr val="0C2362"/>
                </a:solidFill>
                <a:latin typeface="Arial"/>
                <a:cs typeface="Arial"/>
              </a:rPr>
              <a:t> vs. Mesa </a:t>
            </a:r>
            <a:r>
              <a:rPr lang="es-ES" sz="1700" dirty="0">
                <a:solidFill>
                  <a:srgbClr val="0C2362"/>
                </a:solidFill>
                <a:latin typeface="Arial"/>
                <a:cs typeface="Arial"/>
              </a:rPr>
              <a:t>de Nueva Generación (Gen Next)</a:t>
            </a:r>
            <a:endParaRPr lang="en-US" sz="1700" b="0" dirty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sz="14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4A8EDFEC-ABB1-339E-CF7F-12CBE1723304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6 dimensiones de diferenciacion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3109FC51-DF2B-0E7E-4D02-78993490CFFB}"/>
              </a:ext>
            </a:extLst>
          </p:cNvPr>
          <p:cNvSpPr/>
          <p:nvPr/>
        </p:nvSpPr>
        <p:spPr>
          <a:xfrm>
            <a:off x="398760" y="947604"/>
            <a:ext cx="8346479" cy="347472"/>
          </a:xfrm>
          <a:prstGeom prst="rect">
            <a:avLst/>
          </a:prstGeom>
          <a:solidFill>
            <a:srgbClr val="0D1B5E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3585282-FF2C-8FA3-AC54-194A315BD2F9}"/>
              </a:ext>
            </a:extLst>
          </p:cNvPr>
          <p:cNvSpPr/>
          <p:nvPr/>
        </p:nvSpPr>
        <p:spPr>
          <a:xfrm>
            <a:off x="432642" y="965892"/>
            <a:ext cx="224367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Dimension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E094428-9C97-2FEC-65D9-3C6DEDA633A8}"/>
              </a:ext>
            </a:extLst>
          </p:cNvPr>
          <p:cNvSpPr/>
          <p:nvPr/>
        </p:nvSpPr>
        <p:spPr>
          <a:xfrm>
            <a:off x="2724990" y="965892"/>
            <a:ext cx="2916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8B8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Mesa Tradicional (N1-N2)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04B5BF16-3054-7DF5-D8B3-DB1940518EDF}"/>
              </a:ext>
            </a:extLst>
          </p:cNvPr>
          <p:cNvSpPr/>
          <p:nvPr/>
        </p:nvSpPr>
        <p:spPr>
          <a:xfrm>
            <a:off x="5716348" y="965892"/>
            <a:ext cx="3051401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100" b="1" dirty="0">
                <a:solidFill>
                  <a:srgbClr val="B8FFD8"/>
                </a:solidFill>
                <a:latin typeface="Reddit Sans"/>
                <a:ea typeface="Reddit Sans"/>
                <a:cs typeface="Calibri"/>
              </a:rPr>
              <a:t>Mesa Nueva Generación </a:t>
            </a:r>
            <a:r>
              <a:rPr lang="en-US" sz="1100" b="1">
                <a:solidFill>
                  <a:srgbClr val="B8FFD8"/>
                </a:solidFill>
                <a:latin typeface="Reddit Sans"/>
                <a:ea typeface="Reddit Sans"/>
                <a:cs typeface="Calibri"/>
              </a:rPr>
              <a:t>(N3-N5)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89F1B814-0040-BE23-53BB-35B3EF14F7C6}"/>
              </a:ext>
            </a:extLst>
          </p:cNvPr>
          <p:cNvSpPr/>
          <p:nvPr/>
        </p:nvSpPr>
        <p:spPr>
          <a:xfrm>
            <a:off x="398760" y="1313364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14E09C8-14C8-3692-5B7B-E891CA35EC5B}"/>
              </a:ext>
            </a:extLst>
          </p:cNvPr>
          <p:cNvSpPr/>
          <p:nvPr/>
        </p:nvSpPr>
        <p:spPr>
          <a:xfrm>
            <a:off x="432218" y="136822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Modelo </a:t>
            </a: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operativo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BAC25C4D-EF1C-2646-6721-47B11C137BD0}"/>
              </a:ext>
            </a:extLst>
          </p:cNvPr>
          <p:cNvSpPr/>
          <p:nvPr/>
        </p:nvSpPr>
        <p:spPr>
          <a:xfrm>
            <a:off x="2680546" y="149624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252FAD6-1D31-B738-BF93-CD6665A6B594}"/>
              </a:ext>
            </a:extLst>
          </p:cNvPr>
          <p:cNvSpPr/>
          <p:nvPr/>
        </p:nvSpPr>
        <p:spPr>
          <a:xfrm>
            <a:off x="2896610" y="136822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Reactivo · escalado manual N1/N2/N3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B1CEBCD-7A6F-0063-BD97-9EB82C4C527C}"/>
              </a:ext>
            </a:extLst>
          </p:cNvPr>
          <p:cNvSpPr/>
          <p:nvPr/>
        </p:nvSpPr>
        <p:spPr>
          <a:xfrm>
            <a:off x="5688922" y="149624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9ACAE32-59DB-CC33-29DA-C8E1117C2B0F}"/>
              </a:ext>
            </a:extLst>
          </p:cNvPr>
          <p:cNvSpPr/>
          <p:nvPr/>
        </p:nvSpPr>
        <p:spPr>
          <a:xfrm>
            <a:off x="5906171" y="136822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N0-N5 · shift-left inteligente · escalado automatico IA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6C82E92-7B6C-1342-D2F9-CFEDAE8EDC5F}"/>
              </a:ext>
            </a:extLst>
          </p:cNvPr>
          <p:cNvSpPr/>
          <p:nvPr/>
        </p:nvSpPr>
        <p:spPr>
          <a:xfrm>
            <a:off x="398760" y="1880292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EBEF1F1E-81E8-0B80-0E39-669A46668C89}"/>
              </a:ext>
            </a:extLst>
          </p:cNvPr>
          <p:cNvSpPr/>
          <p:nvPr/>
        </p:nvSpPr>
        <p:spPr>
          <a:xfrm>
            <a:off x="432218" y="1935156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Inteligencia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C96019-A556-2BE6-774A-6511D9E21F67}"/>
              </a:ext>
            </a:extLst>
          </p:cNvPr>
          <p:cNvSpPr/>
          <p:nvPr/>
        </p:nvSpPr>
        <p:spPr>
          <a:xfrm>
            <a:off x="2680546" y="2063172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3CE596E-6836-5764-442A-4C80D163FDCA}"/>
              </a:ext>
            </a:extLst>
          </p:cNvPr>
          <p:cNvSpPr/>
          <p:nvPr/>
        </p:nvSpPr>
        <p:spPr>
          <a:xfrm>
            <a:off x="2896610" y="1935156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Scripts de troubleshooting · FAQs estaticas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485D8DC4-88DC-7170-39D7-4E0709A595CE}"/>
              </a:ext>
            </a:extLst>
          </p:cNvPr>
          <p:cNvSpPr/>
          <p:nvPr/>
        </p:nvSpPr>
        <p:spPr>
          <a:xfrm>
            <a:off x="5688922" y="2063172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B93BAFCB-8B94-5B1F-5A88-353060832C48}"/>
              </a:ext>
            </a:extLst>
          </p:cNvPr>
          <p:cNvSpPr/>
          <p:nvPr/>
        </p:nvSpPr>
        <p:spPr>
          <a:xfrm>
            <a:off x="5906171" y="1935156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Virtual agent GenAI · agentes autonomos · KCS+IA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72C76E2F-B967-F164-6ED9-76FA39CDCE0B}"/>
              </a:ext>
            </a:extLst>
          </p:cNvPr>
          <p:cNvSpPr/>
          <p:nvPr/>
        </p:nvSpPr>
        <p:spPr>
          <a:xfrm>
            <a:off x="398760" y="2447220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76A5ED8D-F317-D382-F720-AD103799E8C2}"/>
              </a:ext>
            </a:extLst>
          </p:cNvPr>
          <p:cNvSpPr/>
          <p:nvPr/>
        </p:nvSpPr>
        <p:spPr>
          <a:xfrm>
            <a:off x="432218" y="2502084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Automatización</a:t>
            </a:r>
            <a:endParaRPr lang="en-US" sz="1100" dirty="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A38DA586-75FF-0B0C-D26D-35C038E1ECB0}"/>
              </a:ext>
            </a:extLst>
          </p:cNvPr>
          <p:cNvSpPr/>
          <p:nvPr/>
        </p:nvSpPr>
        <p:spPr>
          <a:xfrm>
            <a:off x="2680546" y="2630100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B2DA6CB-64A1-A8AD-18F5-FC1A041368B1}"/>
              </a:ext>
            </a:extLst>
          </p:cNvPr>
          <p:cNvSpPr/>
          <p:nvPr/>
        </p:nvSpPr>
        <p:spPr>
          <a:xfrm>
            <a:off x="2896610" y="2502084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Workflows basicos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2EC9F9F-4C5E-A75F-3945-D5C09A985936}"/>
              </a:ext>
            </a:extLst>
          </p:cNvPr>
          <p:cNvSpPr/>
          <p:nvPr/>
        </p:nvSpPr>
        <p:spPr>
          <a:xfrm>
            <a:off x="5688922" y="2630100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414BD5C7-EBD6-8EA4-0C44-3D37497CE43A}"/>
              </a:ext>
            </a:extLst>
          </p:cNvPr>
          <p:cNvSpPr/>
          <p:nvPr/>
        </p:nvSpPr>
        <p:spPr>
          <a:xfrm>
            <a:off x="5906171" y="2502084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Self-healing · auto-remediacion · &gt;40% defleccion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CCC4E44B-ABFE-9A6D-56B0-BD4DDDB91B8D}"/>
              </a:ext>
            </a:extLst>
          </p:cNvPr>
          <p:cNvSpPr/>
          <p:nvPr/>
        </p:nvSpPr>
        <p:spPr>
          <a:xfrm>
            <a:off x="398760" y="3014148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CFE0FC96-7D40-0AEA-4705-1D8EEFA26D26}"/>
              </a:ext>
            </a:extLst>
          </p:cNvPr>
          <p:cNvSpPr/>
          <p:nvPr/>
        </p:nvSpPr>
        <p:spPr>
          <a:xfrm>
            <a:off x="432218" y="3069012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Observabilidad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E643936-ADB4-18AC-DC7D-F6499124833C}"/>
              </a:ext>
            </a:extLst>
          </p:cNvPr>
          <p:cNvSpPr/>
          <p:nvPr/>
        </p:nvSpPr>
        <p:spPr>
          <a:xfrm>
            <a:off x="2680546" y="3197028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725C4751-01D4-056A-A00A-938223D13D49}"/>
              </a:ext>
            </a:extLst>
          </p:cNvPr>
          <p:cNvSpPr/>
          <p:nvPr/>
        </p:nvSpPr>
        <p:spPr>
          <a:xfrm>
            <a:off x="2896610" y="3069012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Monitoreo reactivo de alertas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13393221-1582-2197-8E3A-0A0C7C255255}"/>
              </a:ext>
            </a:extLst>
          </p:cNvPr>
          <p:cNvSpPr/>
          <p:nvPr/>
        </p:nvSpPr>
        <p:spPr>
          <a:xfrm>
            <a:off x="5688922" y="3197028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ED97B59-AC99-C7E3-7A0A-21894D60C312}"/>
              </a:ext>
            </a:extLst>
          </p:cNvPr>
          <p:cNvSpPr/>
          <p:nvPr/>
        </p:nvSpPr>
        <p:spPr>
          <a:xfrm>
            <a:off x="5906171" y="3069012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AIOps predictivo · prevencion P1 · correlacion causa raiz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958AF314-F533-6648-AB95-D2DA83323FA1}"/>
              </a:ext>
            </a:extLst>
          </p:cNvPr>
          <p:cNvSpPr/>
          <p:nvPr/>
        </p:nvSpPr>
        <p:spPr>
          <a:xfrm>
            <a:off x="398760" y="3581076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EDC48C0F-2569-9193-E804-DDFAC21A9BE5}"/>
              </a:ext>
            </a:extLst>
          </p:cNvPr>
          <p:cNvSpPr/>
          <p:nvPr/>
        </p:nvSpPr>
        <p:spPr>
          <a:xfrm>
            <a:off x="432218" y="3635940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Medición</a:t>
            </a:r>
            <a:r>
              <a:rPr lang="en-US" sz="1100" b="1" dirty="0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valor</a:t>
            </a:r>
            <a:endParaRPr lang="en-US" sz="1100" dirty="0">
              <a:latin typeface="Reddit Sans"/>
              <a:ea typeface="Reddit Sans"/>
              <a:cs typeface="Calibri"/>
            </a:endParaRPr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AD8D5078-66D6-3EDE-2B9E-792A3936CD56}"/>
              </a:ext>
            </a:extLst>
          </p:cNvPr>
          <p:cNvSpPr/>
          <p:nvPr/>
        </p:nvSpPr>
        <p:spPr>
          <a:xfrm>
            <a:off x="2680546" y="3763956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7E2076C-25D6-7D82-5D39-5909F60722C9}"/>
              </a:ext>
            </a:extLst>
          </p:cNvPr>
          <p:cNvSpPr/>
          <p:nvPr/>
        </p:nvSpPr>
        <p:spPr>
          <a:xfrm>
            <a:off x="2896610" y="3635940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SLA de cumplimiento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2C9F1672-C41E-1D59-F96B-6F6BB17D1E2D}"/>
              </a:ext>
            </a:extLst>
          </p:cNvPr>
          <p:cNvSpPr/>
          <p:nvPr/>
        </p:nvSpPr>
        <p:spPr>
          <a:xfrm>
            <a:off x="5688922" y="3763956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95B74998-D0F7-1D97-19F5-461413793564}"/>
              </a:ext>
            </a:extLst>
          </p:cNvPr>
          <p:cNvSpPr/>
          <p:nvPr/>
        </p:nvSpPr>
        <p:spPr>
          <a:xfrm>
            <a:off x="5906171" y="3635940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SLA + XLA + DEX + impacto economico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FF25A429-6E0D-E1CC-AEA9-FE3274389E01}"/>
              </a:ext>
            </a:extLst>
          </p:cNvPr>
          <p:cNvSpPr/>
          <p:nvPr/>
        </p:nvSpPr>
        <p:spPr>
          <a:xfrm>
            <a:off x="398760" y="4148004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C1D8BD44-FDC0-B67A-89E7-EB1DD3D5541D}"/>
              </a:ext>
            </a:extLst>
          </p:cNvPr>
          <p:cNvSpPr/>
          <p:nvPr/>
        </p:nvSpPr>
        <p:spPr>
          <a:xfrm>
            <a:off x="432218" y="420286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Evolución</a:t>
            </a:r>
            <a:endParaRPr lang="en-US" sz="1100" dirty="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5B56FC32-C361-5EB7-FC08-0A35299777FB}"/>
              </a:ext>
            </a:extLst>
          </p:cNvPr>
          <p:cNvSpPr/>
          <p:nvPr/>
        </p:nvSpPr>
        <p:spPr>
          <a:xfrm>
            <a:off x="2680546" y="433088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9C685756-3D5A-DDBC-4681-52D0206F6233}"/>
              </a:ext>
            </a:extLst>
          </p:cNvPr>
          <p:cNvSpPr/>
          <p:nvPr/>
        </p:nvSpPr>
        <p:spPr>
          <a:xfrm>
            <a:off x="2896610" y="420286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Estatico · cambios reactivos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4CDD1506-C3BD-C2CF-7127-6A709B9B853E}"/>
              </a:ext>
            </a:extLst>
          </p:cNvPr>
          <p:cNvSpPr/>
          <p:nvPr/>
        </p:nvSpPr>
        <p:spPr>
          <a:xfrm>
            <a:off x="5688922" y="433088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C937FD0D-D971-01FD-0A8D-3B8C2D0EDFBE}"/>
              </a:ext>
            </a:extLst>
          </p:cNvPr>
          <p:cNvSpPr/>
          <p:nvPr/>
        </p:nvSpPr>
        <p:spPr>
          <a:xfrm>
            <a:off x="5906171" y="420286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Roadmap vivo · mejora continua · backlog priorizado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5" name="Text 44">
            <a:extLst>
              <a:ext uri="{FF2B5EF4-FFF2-40B4-BE49-F238E27FC236}">
                <a16:creationId xmlns:a16="http://schemas.microsoft.com/office/drawing/2014/main" id="{337DCDAD-21E5-4497-D396-8F012D50A7EB}"/>
              </a:ext>
            </a:extLst>
          </p:cNvPr>
          <p:cNvSpPr/>
          <p:nvPr/>
        </p:nvSpPr>
        <p:spPr>
          <a:xfrm>
            <a:off x="172389" y="475150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 ITSM Benchmark Report 2025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AI in ITSM — Key Capabilities 2025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5835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905650-4EA2-FD56-4A23-E34B42267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Nuestro Servicio de Mesa de Servicio de Nueva Generación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7EBE7D27-AE46-8073-4A29-A4E3308125B3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BBDD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14 dimensiones · 4 ejes · 1 propuesta diferenciada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7D6DAFA1-A5A2-6BEA-E642-CFA405F2D4CE}"/>
              </a:ext>
            </a:extLst>
          </p:cNvPr>
          <p:cNvSpPr/>
          <p:nvPr/>
        </p:nvSpPr>
        <p:spPr>
          <a:xfrm>
            <a:off x="320040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3689324A-9E66-26D4-AC5B-F101A9E26330}"/>
              </a:ext>
            </a:extLst>
          </p:cNvPr>
          <p:cNvSpPr/>
          <p:nvPr/>
        </p:nvSpPr>
        <p:spPr>
          <a:xfrm>
            <a:off x="320040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48454676-1C6A-4AB6-3872-41863CAE7ABB}"/>
              </a:ext>
            </a:extLst>
          </p:cNvPr>
          <p:cNvSpPr/>
          <p:nvPr/>
        </p:nvSpPr>
        <p:spPr>
          <a:xfrm>
            <a:off x="320040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Autoservicio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3CCE086A-F21A-4995-35D0-B5B01BC09EFB}"/>
              </a:ext>
            </a:extLst>
          </p:cNvPr>
          <p:cNvSpPr/>
          <p:nvPr/>
        </p:nvSpPr>
        <p:spPr>
          <a:xfrm>
            <a:off x="1755648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3A9B5C"/>
          </a:solidFill>
          <a:ln w="12700">
            <a:solidFill>
              <a:srgbClr val="3A9B5C"/>
            </a:solidFill>
            <a:prstDash val="solid"/>
          </a:ln>
        </p:spPr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5C1C861A-08DB-43FB-2A56-B3E4284FC3EF}"/>
              </a:ext>
            </a:extLst>
          </p:cNvPr>
          <p:cNvSpPr/>
          <p:nvPr/>
        </p:nvSpPr>
        <p:spPr>
          <a:xfrm>
            <a:off x="1755648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N1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FD13FBB-000B-264A-F28C-EB85903544FD}"/>
              </a:ext>
            </a:extLst>
          </p:cNvPr>
          <p:cNvSpPr/>
          <p:nvPr/>
        </p:nvSpPr>
        <p:spPr>
          <a:xfrm>
            <a:off x="1755648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Inicial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2951E31C-8540-B467-6862-63DD2BA7491F}"/>
              </a:ext>
            </a:extLst>
          </p:cNvPr>
          <p:cNvSpPr/>
          <p:nvPr/>
        </p:nvSpPr>
        <p:spPr>
          <a:xfrm>
            <a:off x="3191256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B42AEAAB-F0C3-D7B2-2695-228C8ADA2BA4}"/>
              </a:ext>
            </a:extLst>
          </p:cNvPr>
          <p:cNvSpPr/>
          <p:nvPr/>
        </p:nvSpPr>
        <p:spPr>
          <a:xfrm>
            <a:off x="3191256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N2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DE051FD4-D789-4287-4895-8B916620100C}"/>
              </a:ext>
            </a:extLst>
          </p:cNvPr>
          <p:cNvSpPr/>
          <p:nvPr/>
        </p:nvSpPr>
        <p:spPr>
          <a:xfrm>
            <a:off x="3191256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Administrado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9FEF47BA-904A-6BA0-531B-D7D5220A5818}"/>
              </a:ext>
            </a:extLst>
          </p:cNvPr>
          <p:cNvSpPr/>
          <p:nvPr/>
        </p:nvSpPr>
        <p:spPr>
          <a:xfrm>
            <a:off x="4626864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D2225454-DF4B-D6A8-86E8-280B116FF366}"/>
              </a:ext>
            </a:extLst>
          </p:cNvPr>
          <p:cNvSpPr/>
          <p:nvPr/>
        </p:nvSpPr>
        <p:spPr>
          <a:xfrm>
            <a:off x="4626864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N3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CFC3803A-94CC-98AD-7DC5-52917C207FB4}"/>
              </a:ext>
            </a:extLst>
          </p:cNvPr>
          <p:cNvSpPr/>
          <p:nvPr/>
        </p:nvSpPr>
        <p:spPr>
          <a:xfrm>
            <a:off x="4626864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Definido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6172EE52-3312-0CA5-1C2F-8535C1A3FABC}"/>
              </a:ext>
            </a:extLst>
          </p:cNvPr>
          <p:cNvSpPr/>
          <p:nvPr/>
        </p:nvSpPr>
        <p:spPr>
          <a:xfrm>
            <a:off x="6062472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1F6FBA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23" name="Text 22">
            <a:extLst>
              <a:ext uri="{FF2B5EF4-FFF2-40B4-BE49-F238E27FC236}">
                <a16:creationId xmlns:a16="http://schemas.microsoft.com/office/drawing/2014/main" id="{9EEC9E16-DA23-72BF-AA26-7BC0A6F452BD}"/>
              </a:ext>
            </a:extLst>
          </p:cNvPr>
          <p:cNvSpPr/>
          <p:nvPr/>
        </p:nvSpPr>
        <p:spPr>
          <a:xfrm>
            <a:off x="6062472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N4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AA417C7-A679-6FE9-FA97-44DB1FB7CF52}"/>
              </a:ext>
            </a:extLst>
          </p:cNvPr>
          <p:cNvSpPr/>
          <p:nvPr/>
        </p:nvSpPr>
        <p:spPr>
          <a:xfrm>
            <a:off x="6062472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Cuantitativo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45EB680D-475F-FE9A-ED0A-D85785D63DA6}"/>
              </a:ext>
            </a:extLst>
          </p:cNvPr>
          <p:cNvSpPr/>
          <p:nvPr/>
        </p:nvSpPr>
        <p:spPr>
          <a:xfrm>
            <a:off x="7498080" y="987552"/>
            <a:ext cx="1335024" cy="960120"/>
          </a:xfrm>
          <a:prstGeom prst="roundRect">
            <a:avLst>
              <a:gd name="adj" fmla="val 5714"/>
            </a:avLst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970877D2-1D6A-523D-8A76-4B171B997FC9}"/>
              </a:ext>
            </a:extLst>
          </p:cNvPr>
          <p:cNvSpPr/>
          <p:nvPr/>
        </p:nvSpPr>
        <p:spPr>
          <a:xfrm>
            <a:off x="7498080" y="1024128"/>
            <a:ext cx="1335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N5</a:t>
            </a:r>
            <a:endParaRPr lang="en-US" sz="22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A4A27C26-0AE8-8D6F-91E9-CB7BF4F1ED3A}"/>
              </a:ext>
            </a:extLst>
          </p:cNvPr>
          <p:cNvSpPr/>
          <p:nvPr/>
        </p:nvSpPr>
        <p:spPr>
          <a:xfrm>
            <a:off x="7498080" y="1481328"/>
            <a:ext cx="13350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Optimizado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Text 30">
            <a:extLst>
              <a:ext uri="{FF2B5EF4-FFF2-40B4-BE49-F238E27FC236}">
                <a16:creationId xmlns:a16="http://schemas.microsoft.com/office/drawing/2014/main" id="{2D1A1FEE-0DC3-AE59-3A0B-947E5E92BA6E}"/>
              </a:ext>
            </a:extLst>
          </p:cNvPr>
          <p:cNvSpPr/>
          <p:nvPr/>
        </p:nvSpPr>
        <p:spPr>
          <a:xfrm>
            <a:off x="329184" y="2203704"/>
            <a:ext cx="666288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200" b="1" noProof="0" dirty="0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Los 4 Ejes de nuestra evaluación inicial de las Mesas de Servicio actuales</a:t>
            </a:r>
            <a:endParaRPr lang="es-CO" sz="1200" noProof="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2" name="Shape 31">
            <a:extLst>
              <a:ext uri="{FF2B5EF4-FFF2-40B4-BE49-F238E27FC236}">
                <a16:creationId xmlns:a16="http://schemas.microsoft.com/office/drawing/2014/main" id="{12FB0547-751E-62D8-CEB6-C39BA7935A72}"/>
              </a:ext>
            </a:extLst>
          </p:cNvPr>
          <p:cNvSpPr/>
          <p:nvPr/>
        </p:nvSpPr>
        <p:spPr>
          <a:xfrm>
            <a:off x="329184" y="2551176"/>
            <a:ext cx="4059936" cy="896112"/>
          </a:xfrm>
          <a:prstGeom prst="roundRect">
            <a:avLst>
              <a:gd name="adj" fmla="val 6122"/>
            </a:avLst>
          </a:prstGeom>
          <a:solidFill>
            <a:srgbClr val="F5F7FC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08DF3819-DD70-332F-3650-C9D09244283E}"/>
              </a:ext>
            </a:extLst>
          </p:cNvPr>
          <p:cNvSpPr/>
          <p:nvPr/>
        </p:nvSpPr>
        <p:spPr>
          <a:xfrm>
            <a:off x="420623" y="2697480"/>
            <a:ext cx="458949" cy="475488"/>
          </a:xfrm>
          <a:prstGeom prst="ellipse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FA216459-DACF-D699-DCD6-975F2EDB087A}"/>
              </a:ext>
            </a:extLst>
          </p:cNvPr>
          <p:cNvSpPr/>
          <p:nvPr/>
        </p:nvSpPr>
        <p:spPr>
          <a:xfrm>
            <a:off x="420623" y="2697480"/>
            <a:ext cx="45894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</a:t>
            </a:r>
            <a:endParaRPr lang="en-US" sz="14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5" name="Text 34">
            <a:extLst>
              <a:ext uri="{FF2B5EF4-FFF2-40B4-BE49-F238E27FC236}">
                <a16:creationId xmlns:a16="http://schemas.microsoft.com/office/drawing/2014/main" id="{613D828C-74FF-59D5-14F6-5EE70B57B98E}"/>
              </a:ext>
            </a:extLst>
          </p:cNvPr>
          <p:cNvSpPr/>
          <p:nvPr/>
        </p:nvSpPr>
        <p:spPr>
          <a:xfrm>
            <a:off x="987552" y="2624328"/>
            <a:ext cx="3336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8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Modelo Operativo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0334A319-CAB5-F46B-5D25-40DB2DF57511}"/>
              </a:ext>
            </a:extLst>
          </p:cNvPr>
          <p:cNvSpPr/>
          <p:nvPr/>
        </p:nvSpPr>
        <p:spPr>
          <a:xfrm>
            <a:off x="987552" y="2971800"/>
            <a:ext cx="3336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dim: Niveles · Gobierno · Catalogo · Modelo Economico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92E8CBE5-5803-E04B-B29C-D1BA9546C532}"/>
              </a:ext>
            </a:extLst>
          </p:cNvPr>
          <p:cNvSpPr/>
          <p:nvPr/>
        </p:nvSpPr>
        <p:spPr>
          <a:xfrm>
            <a:off x="4764024" y="2551176"/>
            <a:ext cx="4059936" cy="896112"/>
          </a:xfrm>
          <a:prstGeom prst="roundRect">
            <a:avLst>
              <a:gd name="adj" fmla="val 6122"/>
            </a:avLst>
          </a:prstGeom>
          <a:solidFill>
            <a:srgbClr val="F5F7FC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38" name="Shape 37">
            <a:extLst>
              <a:ext uri="{FF2B5EF4-FFF2-40B4-BE49-F238E27FC236}">
                <a16:creationId xmlns:a16="http://schemas.microsoft.com/office/drawing/2014/main" id="{3A197CD0-0BAE-DA26-95CD-08C4B9F15900}"/>
              </a:ext>
            </a:extLst>
          </p:cNvPr>
          <p:cNvSpPr/>
          <p:nvPr/>
        </p:nvSpPr>
        <p:spPr>
          <a:xfrm>
            <a:off x="4855463" y="2697480"/>
            <a:ext cx="458949" cy="475488"/>
          </a:xfrm>
          <a:prstGeom prst="ellipse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39" name="Text 38">
            <a:extLst>
              <a:ext uri="{FF2B5EF4-FFF2-40B4-BE49-F238E27FC236}">
                <a16:creationId xmlns:a16="http://schemas.microsoft.com/office/drawing/2014/main" id="{F0A5956F-08BA-2D1C-41DA-43D1FD164BAB}"/>
              </a:ext>
            </a:extLst>
          </p:cNvPr>
          <p:cNvSpPr/>
          <p:nvPr/>
        </p:nvSpPr>
        <p:spPr>
          <a:xfrm>
            <a:off x="4855463" y="2697480"/>
            <a:ext cx="45894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B</a:t>
            </a:r>
            <a:endParaRPr lang="en-US" sz="14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694E7E96-8EC0-BD63-0F98-502CC29D8001}"/>
              </a:ext>
            </a:extLst>
          </p:cNvPr>
          <p:cNvSpPr/>
          <p:nvPr/>
        </p:nvSpPr>
        <p:spPr>
          <a:xfrm>
            <a:off x="5422392" y="2624328"/>
            <a:ext cx="3336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Inteligencia y Automatizacion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40">
            <a:extLst>
              <a:ext uri="{FF2B5EF4-FFF2-40B4-BE49-F238E27FC236}">
                <a16:creationId xmlns:a16="http://schemas.microsoft.com/office/drawing/2014/main" id="{8DEBE875-F6F4-DD68-EB9E-65609E5AC821}"/>
              </a:ext>
            </a:extLst>
          </p:cNvPr>
          <p:cNvSpPr/>
          <p:nvPr/>
        </p:nvSpPr>
        <p:spPr>
          <a:xfrm>
            <a:off x="5422392" y="2971800"/>
            <a:ext cx="3336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dim: IA · Automatizacion · Knowledge Hub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2" name="Shape 41">
            <a:extLst>
              <a:ext uri="{FF2B5EF4-FFF2-40B4-BE49-F238E27FC236}">
                <a16:creationId xmlns:a16="http://schemas.microsoft.com/office/drawing/2014/main" id="{55B360B4-0B81-31B4-BDCA-2FEE447CD29C}"/>
              </a:ext>
            </a:extLst>
          </p:cNvPr>
          <p:cNvSpPr/>
          <p:nvPr/>
        </p:nvSpPr>
        <p:spPr>
          <a:xfrm>
            <a:off x="329184" y="3557016"/>
            <a:ext cx="4059936" cy="896112"/>
          </a:xfrm>
          <a:prstGeom prst="roundRect">
            <a:avLst>
              <a:gd name="adj" fmla="val 6122"/>
            </a:avLst>
          </a:prstGeom>
          <a:solidFill>
            <a:srgbClr val="F5F7FC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7A265E44-B030-4C5B-F0B5-EFF59B69EE8C}"/>
              </a:ext>
            </a:extLst>
          </p:cNvPr>
          <p:cNvSpPr/>
          <p:nvPr/>
        </p:nvSpPr>
        <p:spPr>
          <a:xfrm>
            <a:off x="420623" y="3703320"/>
            <a:ext cx="458949" cy="475488"/>
          </a:xfrm>
          <a:prstGeom prst="ellipse">
            <a:avLst/>
          </a:prstGeom>
          <a:solidFill>
            <a:srgbClr val="1F6FBA"/>
          </a:solidFill>
          <a:ln w="12700">
            <a:solidFill>
              <a:srgbClr val="1F6FBA"/>
            </a:solidFill>
            <a:prstDash val="solid"/>
          </a:ln>
        </p:spPr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AA9B8754-BCCC-E880-E3B0-1BBEE7F07AC9}"/>
              </a:ext>
            </a:extLst>
          </p:cNvPr>
          <p:cNvSpPr/>
          <p:nvPr/>
        </p:nvSpPr>
        <p:spPr>
          <a:xfrm>
            <a:off x="420623" y="3703320"/>
            <a:ext cx="45894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</a:t>
            </a:r>
            <a:endParaRPr lang="en-US" sz="14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5" name="Text 44">
            <a:extLst>
              <a:ext uri="{FF2B5EF4-FFF2-40B4-BE49-F238E27FC236}">
                <a16:creationId xmlns:a16="http://schemas.microsoft.com/office/drawing/2014/main" id="{4F079B37-1D34-C592-AE4A-B46238FFEC2D}"/>
              </a:ext>
            </a:extLst>
          </p:cNvPr>
          <p:cNvSpPr/>
          <p:nvPr/>
        </p:nvSpPr>
        <p:spPr>
          <a:xfrm>
            <a:off x="987552" y="3630168"/>
            <a:ext cx="3336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BA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Experiencia y Medicion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6" name="Text 45">
            <a:extLst>
              <a:ext uri="{FF2B5EF4-FFF2-40B4-BE49-F238E27FC236}">
                <a16:creationId xmlns:a16="http://schemas.microsoft.com/office/drawing/2014/main" id="{0A3F064A-DBD6-4B82-3741-199809A48636}"/>
              </a:ext>
            </a:extLst>
          </p:cNvPr>
          <p:cNvSpPr/>
          <p:nvPr/>
        </p:nvSpPr>
        <p:spPr>
          <a:xfrm>
            <a:off x="987552" y="3977640"/>
            <a:ext cx="3336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dim: Autoservicio N0 · SLA+XLA · DEX · Calidad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7" name="Shape 46">
            <a:extLst>
              <a:ext uri="{FF2B5EF4-FFF2-40B4-BE49-F238E27FC236}">
                <a16:creationId xmlns:a16="http://schemas.microsoft.com/office/drawing/2014/main" id="{84E774D2-C1F3-86F2-4213-5574471DD169}"/>
              </a:ext>
            </a:extLst>
          </p:cNvPr>
          <p:cNvSpPr/>
          <p:nvPr/>
        </p:nvSpPr>
        <p:spPr>
          <a:xfrm>
            <a:off x="4764024" y="3557016"/>
            <a:ext cx="4059936" cy="896112"/>
          </a:xfrm>
          <a:prstGeom prst="roundRect">
            <a:avLst>
              <a:gd name="adj" fmla="val 6122"/>
            </a:avLst>
          </a:prstGeom>
          <a:solidFill>
            <a:srgbClr val="F5F7FC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48" name="Shape 47">
            <a:extLst>
              <a:ext uri="{FF2B5EF4-FFF2-40B4-BE49-F238E27FC236}">
                <a16:creationId xmlns:a16="http://schemas.microsoft.com/office/drawing/2014/main" id="{38EBEE1C-8B52-3CA3-C1AF-12C63F9F1C48}"/>
              </a:ext>
            </a:extLst>
          </p:cNvPr>
          <p:cNvSpPr/>
          <p:nvPr/>
        </p:nvSpPr>
        <p:spPr>
          <a:xfrm>
            <a:off x="4855463" y="3703320"/>
            <a:ext cx="458949" cy="475488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49" name="Text 48">
            <a:extLst>
              <a:ext uri="{FF2B5EF4-FFF2-40B4-BE49-F238E27FC236}">
                <a16:creationId xmlns:a16="http://schemas.microsoft.com/office/drawing/2014/main" id="{021C2B72-E504-97C4-1F57-C7F45315F8FD}"/>
              </a:ext>
            </a:extLst>
          </p:cNvPr>
          <p:cNvSpPr/>
          <p:nvPr/>
        </p:nvSpPr>
        <p:spPr>
          <a:xfrm>
            <a:off x="4855463" y="3703320"/>
            <a:ext cx="45894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</a:t>
            </a:r>
            <a:endParaRPr lang="en-US" sz="14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0" name="Text 49">
            <a:extLst>
              <a:ext uri="{FF2B5EF4-FFF2-40B4-BE49-F238E27FC236}">
                <a16:creationId xmlns:a16="http://schemas.microsoft.com/office/drawing/2014/main" id="{C3F8675D-03FB-56F5-2EC2-D2B1E2A47B66}"/>
              </a:ext>
            </a:extLst>
          </p:cNvPr>
          <p:cNvSpPr/>
          <p:nvPr/>
        </p:nvSpPr>
        <p:spPr>
          <a:xfrm>
            <a:off x="5422392" y="3630168"/>
            <a:ext cx="3336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61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Evolucion y Gobierno</a:t>
            </a:r>
            <a:endParaRPr lang="en-US" sz="11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1" name="Text 50">
            <a:extLst>
              <a:ext uri="{FF2B5EF4-FFF2-40B4-BE49-F238E27FC236}">
                <a16:creationId xmlns:a16="http://schemas.microsoft.com/office/drawing/2014/main" id="{B078A32D-A85E-5DF2-69FE-BC96E1E73F0A}"/>
              </a:ext>
            </a:extLst>
          </p:cNvPr>
          <p:cNvSpPr/>
          <p:nvPr/>
        </p:nvSpPr>
        <p:spPr>
          <a:xfrm>
            <a:off x="5422392" y="3977640"/>
            <a:ext cx="3336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2 dim: Roadmap · Modelo de Transicion</a:t>
            </a:r>
            <a:endParaRPr lang="en-US" sz="100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2" name="Text 51">
            <a:extLst>
              <a:ext uri="{FF2B5EF4-FFF2-40B4-BE49-F238E27FC236}">
                <a16:creationId xmlns:a16="http://schemas.microsoft.com/office/drawing/2014/main" id="{DE329361-E801-3752-8908-D7E041EB7617}"/>
              </a:ext>
            </a:extLst>
          </p:cNvPr>
          <p:cNvSpPr/>
          <p:nvPr/>
        </p:nvSpPr>
        <p:spPr>
          <a:xfrm>
            <a:off x="315296" y="4590288"/>
            <a:ext cx="799503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Fuente: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PeopleCert ITIL 4 — Practica de Mejora Continua</a:t>
            </a:r>
            <a:r>
              <a:rPr lang="en-US" sz="750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  ·  </a:t>
            </a:r>
            <a:r>
              <a:rPr lang="en-US" sz="750" u="sng" dirty="0">
                <a:solidFill>
                  <a:srgbClr val="8899BB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CMMI Institute — Maturity Model Reference</a:t>
            </a:r>
            <a:endParaRPr lang="en-US" sz="750" dirty="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54" name="Text 53">
            <a:extLst>
              <a:ext uri="{FF2B5EF4-FFF2-40B4-BE49-F238E27FC236}">
                <a16:creationId xmlns:a16="http://schemas.microsoft.com/office/drawing/2014/main" id="{A82B4265-469F-E87F-DF26-C67AA9F1747E}"/>
              </a:ext>
            </a:extLst>
          </p:cNvPr>
          <p:cNvSpPr/>
          <p:nvPr/>
        </p:nvSpPr>
        <p:spPr>
          <a:xfrm>
            <a:off x="8138160" y="4864608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 dirty="0">
              <a:latin typeface="Reddit Sans" panose="020B0604020202020204" charset="0"/>
              <a:ea typeface="Reddi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8071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A7D095-C533-4B13-DFC2-0F8B497B8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/>
              <a:t>Modelo de Madurez — Escalera Visual</a:t>
            </a:r>
          </a:p>
          <a:p>
            <a:br>
              <a:rPr lang="en-US" dirty="0"/>
            </a:br>
            <a:endParaRPr lang="en-US" dirty="0"/>
          </a:p>
        </p:txBody>
      </p:sp>
      <p:pic>
        <p:nvPicPr>
          <p:cNvPr id="3" name="Imagen 2" descr="Modelo de Madurez Gen Next — 5 Niveles (escalera visual)">
            <a:extLst>
              <a:ext uri="{FF2B5EF4-FFF2-40B4-BE49-F238E27FC236}">
                <a16:creationId xmlns:a16="http://schemas.microsoft.com/office/drawing/2014/main" id="{78369CD4-B6E1-C709-AC67-AACE41B36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7890"/>
            <a:ext cx="9144000" cy="382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7423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>
            <a:extLst>
              <a:ext uri="{FF2B5EF4-FFF2-40B4-BE49-F238E27FC236}">
                <a16:creationId xmlns:a16="http://schemas.microsoft.com/office/drawing/2014/main" id="{6F0AC5A8-D76C-4821-B701-B360740B2F1F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Servicio Gen Next: una arquitectura de atención y aprendizaje continuo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081C4F43-44D2-4B04-89F6-F12917EB5539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AAEE0"/>
                </a:solidFill>
              </a:defRPr>
            </a:pPr>
            <a:r>
              <a:rPr sz="1050" b="0">
                <a:solidFill>
                  <a:srgbClr val="9AAEE0"/>
                </a:solidFill>
                <a:latin typeface="Reddit Sans"/>
                <a:ea typeface="Reddit Sans"/>
              </a:rPr>
              <a:t>N0-N3, gobierno, conocimiento e IA conectados en un solo modelo</a:t>
            </a:r>
          </a:p>
        </p:txBody>
      </p:sp>
      <p:sp>
        <p:nvSpPr>
          <p:cNvPr id="3" name="card">
            <a:extLst>
              <a:ext uri="{FF2B5EF4-FFF2-40B4-BE49-F238E27FC236}">
                <a16:creationId xmlns:a16="http://schemas.microsoft.com/office/drawing/2014/main" id="{60E3295D-4A0B-47EA-A896-1398F5B027BB}"/>
              </a:ext>
            </a:extLst>
          </p:cNvPr>
          <p:cNvSpPr>
            <a:spLocks noGrp="1"/>
          </p:cNvSpPr>
          <p:nvPr/>
        </p:nvSpPr>
        <p:spPr>
          <a:xfrm>
            <a:off x="438150" y="1333500"/>
            <a:ext cx="1600200" cy="1571625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1430">
            <a:solidFill>
              <a:srgbClr val="20835A"/>
            </a:solidFill>
            <a:prstDash val="solid"/>
          </a:ln>
        </p:spPr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80485157-C0FA-4EDF-9EA9-DBD42C08BD92}"/>
              </a:ext>
            </a:extLst>
          </p:cNvPr>
          <p:cNvSpPr>
            <a:spLocks noGrp="1"/>
          </p:cNvSpPr>
          <p:nvPr/>
        </p:nvSpPr>
        <p:spPr>
          <a:xfrm>
            <a:off x="590550" y="1466850"/>
            <a:ext cx="1295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0835A"/>
                </a:solidFill>
              </a:defRPr>
            </a:pPr>
            <a:r>
              <a:rPr sz="1050" b="1">
                <a:solidFill>
                  <a:srgbClr val="20835A"/>
                </a:solidFill>
                <a:latin typeface="Reddit Sans"/>
                <a:ea typeface="Reddit Sans"/>
              </a:rPr>
              <a:t>N0 Autoservicio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4C1D7E6D-8B31-4C67-B4F9-728343EEFDDD}"/>
              </a:ext>
            </a:extLst>
          </p:cNvPr>
          <p:cNvSpPr>
            <a:spLocks noGrp="1"/>
          </p:cNvSpPr>
          <p:nvPr/>
        </p:nvSpPr>
        <p:spPr>
          <a:xfrm>
            <a:off x="590550" y="1790700"/>
            <a:ext cx="1295400" cy="1019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Portal, catálogo, FAQ, agente virtual y KEDB expuesta al usuario.</a:t>
            </a:r>
          </a:p>
        </p:txBody>
      </p:sp>
      <p:sp>
        <p:nvSpPr>
          <p:cNvPr id="6" name="arrow">
            <a:extLst>
              <a:ext uri="{FF2B5EF4-FFF2-40B4-BE49-F238E27FC236}">
                <a16:creationId xmlns:a16="http://schemas.microsoft.com/office/drawing/2014/main" id="{DBEED432-DE78-4612-9DD1-093307257845}"/>
              </a:ext>
            </a:extLst>
          </p:cNvPr>
          <p:cNvSpPr>
            <a:spLocks noGrp="1"/>
          </p:cNvSpPr>
          <p:nvPr/>
        </p:nvSpPr>
        <p:spPr>
          <a:xfrm>
            <a:off x="2095500" y="1885950"/>
            <a:ext cx="400050" cy="3238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AFA13955-7FB5-4FAD-90D4-91D7AEB5B82B}"/>
              </a:ext>
            </a:extLst>
          </p:cNvPr>
          <p:cNvSpPr>
            <a:spLocks noGrp="1"/>
          </p:cNvSpPr>
          <p:nvPr/>
        </p:nvSpPr>
        <p:spPr>
          <a:xfrm>
            <a:off x="2484664" y="1328057"/>
            <a:ext cx="1600200" cy="1571625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049BC206-F8D7-421D-8E02-DCEC30F65651}"/>
              </a:ext>
            </a:extLst>
          </p:cNvPr>
          <p:cNvSpPr>
            <a:spLocks noGrp="1"/>
          </p:cNvSpPr>
          <p:nvPr/>
        </p:nvSpPr>
        <p:spPr>
          <a:xfrm>
            <a:off x="2495550" y="1466850"/>
            <a:ext cx="1295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87B83"/>
                </a:solidFill>
                <a:latin typeface="Reddit Sans"/>
                <a:ea typeface="Reddit Sans"/>
              </a:rPr>
              <a:t>N1 Front-end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8C48EC8C-C7A1-4328-BC13-860C66938EF6}"/>
              </a:ext>
            </a:extLst>
          </p:cNvPr>
          <p:cNvSpPr>
            <a:spLocks noGrp="1"/>
          </p:cNvSpPr>
          <p:nvPr/>
        </p:nvSpPr>
        <p:spPr>
          <a:xfrm>
            <a:off x="2495550" y="1790700"/>
            <a:ext cx="1295400" cy="1019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Intake, clasificación, FCR, comunicación y escalamiento estructurado.</a:t>
            </a:r>
          </a:p>
        </p:txBody>
      </p:sp>
      <p:sp>
        <p:nvSpPr>
          <p:cNvPr id="10" name="arrow">
            <a:extLst>
              <a:ext uri="{FF2B5EF4-FFF2-40B4-BE49-F238E27FC236}">
                <a16:creationId xmlns:a16="http://schemas.microsoft.com/office/drawing/2014/main" id="{6BC27E40-2F05-4E72-928D-92ADEA63C1B7}"/>
              </a:ext>
            </a:extLst>
          </p:cNvPr>
          <p:cNvSpPr>
            <a:spLocks noGrp="1"/>
          </p:cNvSpPr>
          <p:nvPr/>
        </p:nvSpPr>
        <p:spPr>
          <a:xfrm>
            <a:off x="4000500" y="1885950"/>
            <a:ext cx="400050" cy="3238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11" name="card">
            <a:extLst>
              <a:ext uri="{FF2B5EF4-FFF2-40B4-BE49-F238E27FC236}">
                <a16:creationId xmlns:a16="http://schemas.microsoft.com/office/drawing/2014/main" id="{6A27D17C-4B2B-4199-A98A-832B49D08669}"/>
              </a:ext>
            </a:extLst>
          </p:cNvPr>
          <p:cNvSpPr>
            <a:spLocks noGrp="1"/>
          </p:cNvSpPr>
          <p:nvPr/>
        </p:nvSpPr>
        <p:spPr>
          <a:xfrm>
            <a:off x="4389664" y="1328057"/>
            <a:ext cx="1600200" cy="1571625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1430">
            <a:solidFill>
              <a:srgbClr val="D47A00"/>
            </a:solidFill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01400567-55EB-4857-8E99-3693631695DE}"/>
              </a:ext>
            </a:extLst>
          </p:cNvPr>
          <p:cNvSpPr>
            <a:spLocks noGrp="1"/>
          </p:cNvSpPr>
          <p:nvPr/>
        </p:nvSpPr>
        <p:spPr>
          <a:xfrm>
            <a:off x="4400550" y="1466850"/>
            <a:ext cx="1295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D47A00"/>
                </a:solidFill>
                <a:latin typeface="Reddit Sans"/>
                <a:ea typeface="Reddit Sans"/>
              </a:rPr>
              <a:t>N2 Especializado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410F7E68-7240-4088-9D6C-FAE96CB6EA7B}"/>
              </a:ext>
            </a:extLst>
          </p:cNvPr>
          <p:cNvSpPr>
            <a:spLocks noGrp="1"/>
          </p:cNvSpPr>
          <p:nvPr/>
        </p:nvSpPr>
        <p:spPr>
          <a:xfrm>
            <a:off x="4400550" y="1790700"/>
            <a:ext cx="1295400" cy="1019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Diagnóstico técnico, coordinación, soporte aplicativo y proveedores.</a:t>
            </a:r>
          </a:p>
        </p:txBody>
      </p:sp>
      <p:sp>
        <p:nvSpPr>
          <p:cNvPr id="14" name="arrow">
            <a:extLst>
              <a:ext uri="{FF2B5EF4-FFF2-40B4-BE49-F238E27FC236}">
                <a16:creationId xmlns:a16="http://schemas.microsoft.com/office/drawing/2014/main" id="{DECE7C22-C157-486C-B33E-F76A38343B3C}"/>
              </a:ext>
            </a:extLst>
          </p:cNvPr>
          <p:cNvSpPr>
            <a:spLocks noGrp="1"/>
          </p:cNvSpPr>
          <p:nvPr/>
        </p:nvSpPr>
        <p:spPr>
          <a:xfrm>
            <a:off x="5905500" y="1885950"/>
            <a:ext cx="400050" cy="3238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15" name="card">
            <a:extLst>
              <a:ext uri="{FF2B5EF4-FFF2-40B4-BE49-F238E27FC236}">
                <a16:creationId xmlns:a16="http://schemas.microsoft.com/office/drawing/2014/main" id="{5DA69E41-AF4F-4D3E-999E-EF3DD307D9C0}"/>
              </a:ext>
            </a:extLst>
          </p:cNvPr>
          <p:cNvSpPr>
            <a:spLocks noGrp="1"/>
          </p:cNvSpPr>
          <p:nvPr/>
        </p:nvSpPr>
        <p:spPr>
          <a:xfrm>
            <a:off x="6294664" y="1328057"/>
            <a:ext cx="1600200" cy="1571625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F8D012C8-0FBC-4235-93DA-7DA1EB027863}"/>
              </a:ext>
            </a:extLst>
          </p:cNvPr>
          <p:cNvSpPr>
            <a:spLocks noGrp="1"/>
          </p:cNvSpPr>
          <p:nvPr/>
        </p:nvSpPr>
        <p:spPr>
          <a:xfrm>
            <a:off x="6305550" y="1466850"/>
            <a:ext cx="1295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163B8C"/>
                </a:solidFill>
                <a:latin typeface="Reddit Sans"/>
                <a:ea typeface="Reddit Sans"/>
              </a:rPr>
              <a:t>N3 Back-end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EB19A0A6-6FF0-490E-8E11-EFB8DB379814}"/>
              </a:ext>
            </a:extLst>
          </p:cNvPr>
          <p:cNvSpPr>
            <a:spLocks noGrp="1"/>
          </p:cNvSpPr>
          <p:nvPr/>
        </p:nvSpPr>
        <p:spPr>
          <a:xfrm>
            <a:off x="6305550" y="1790700"/>
            <a:ext cx="1295400" cy="1019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Causa raíz, parches, alto impacto, cambios y dominio profundo.</a:t>
            </a:r>
          </a:p>
        </p:txBody>
      </p:sp>
      <p:sp>
        <p:nvSpPr>
          <p:cNvPr id="18" name="hub">
            <a:extLst>
              <a:ext uri="{FF2B5EF4-FFF2-40B4-BE49-F238E27FC236}">
                <a16:creationId xmlns:a16="http://schemas.microsoft.com/office/drawing/2014/main" id="{D1CBAAEA-712E-4A72-95AF-B035AC1E8AB0}"/>
              </a:ext>
            </a:extLst>
          </p:cNvPr>
          <p:cNvSpPr>
            <a:spLocks noGrp="1"/>
          </p:cNvSpPr>
          <p:nvPr/>
        </p:nvSpPr>
        <p:spPr>
          <a:xfrm>
            <a:off x="1028700" y="3565071"/>
            <a:ext cx="7086600" cy="685800"/>
          </a:xfrm>
          <a:prstGeom prst="roundRect">
            <a:avLst>
              <a:gd name="adj" fmla="val 8333"/>
            </a:avLst>
          </a:prstGeom>
          <a:solidFill>
            <a:srgbClr val="F5F8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C11E4150-4F01-45CB-A8F2-E0BA432C9F68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6705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425" b="1">
                <a:solidFill>
                  <a:srgbClr val="0C2362"/>
                </a:solidFill>
              </a:defRPr>
            </a:pPr>
            <a:r>
              <a:rPr lang="es-ES" b="1" dirty="0">
                <a:solidFill>
                  <a:srgbClr val="0C2362"/>
                </a:solidFill>
                <a:latin typeface="Reddit Sans"/>
                <a:ea typeface="Reddit Sans"/>
              </a:rPr>
              <a:t>Base de Conocimiento Hub</a:t>
            </a:r>
            <a:r>
              <a:rPr b="1" dirty="0">
                <a:solidFill>
                  <a:srgbClr val="0C2362"/>
                </a:solidFill>
                <a:latin typeface="Reddit Sans"/>
                <a:ea typeface="Reddit Sans"/>
              </a:rPr>
              <a:t> + AIOps + </a:t>
            </a:r>
            <a:r>
              <a:rPr b="1" dirty="0" err="1">
                <a:solidFill>
                  <a:srgbClr val="0C2362"/>
                </a:solidFill>
                <a:latin typeface="Reddit Sans"/>
                <a:ea typeface="Reddit Sans"/>
              </a:rPr>
              <a:t>Gobierno</a:t>
            </a:r>
            <a:r>
              <a:rPr b="1" dirty="0">
                <a:solidFill>
                  <a:srgbClr val="0C2362"/>
                </a:solidFill>
                <a:latin typeface="Reddit Sans"/>
                <a:ea typeface="Reddit Sans"/>
              </a:rPr>
              <a:t> SLA/XLA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9F0CB0B8-DBB4-48E9-BF7B-01C47DA57480}"/>
              </a:ext>
            </a:extLst>
          </p:cNvPr>
          <p:cNvSpPr>
            <a:spLocks noGrp="1"/>
          </p:cNvSpPr>
          <p:nvPr/>
        </p:nvSpPr>
        <p:spPr>
          <a:xfrm>
            <a:off x="1219200" y="3952875"/>
            <a:ext cx="6705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  <a:latin typeface="Reddit Sans"/>
                <a:ea typeface="Reddit Sans"/>
              </a:rPr>
              <a:t>Cada interacción alimenta conocimiento, automatización, métricas y planes de mejora.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white-canvas">
            <a:extLst>
              <a:ext uri="{FF2B5EF4-FFF2-40B4-BE49-F238E27FC236}">
                <a16:creationId xmlns:a16="http://schemas.microsoft.com/office/drawing/2014/main" id="{445D28AD-E749-4F5D-90BC-F62F8D3E3A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445FDA1-29EC-4E5B-95DF-C2143677E632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El servicio debe venderse como catálogo modular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BC32E812-1E96-4B8F-BDAB-AE226E591314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AAEE0"/>
                </a:solidFill>
              </a:defRPr>
            </a:pPr>
            <a:r>
              <a:rPr sz="1050" b="0">
                <a:solidFill>
                  <a:srgbClr val="9AAEE0"/>
                </a:solidFill>
                <a:latin typeface="Reddit Sans"/>
                <a:ea typeface="Reddit Sans"/>
              </a:rPr>
              <a:t>Una base gestionada más capacidades inmersas y servicios complementarios</a:t>
            </a:r>
          </a:p>
        </p:txBody>
      </p:sp>
      <p:sp>
        <p:nvSpPr>
          <p:cNvPr id="4" name="card">
            <a:extLst>
              <a:ext uri="{FF2B5EF4-FFF2-40B4-BE49-F238E27FC236}">
                <a16:creationId xmlns:a16="http://schemas.microsoft.com/office/drawing/2014/main" id="{3F4A0128-AE6C-4D26-B49F-1C19BBDA9D7A}"/>
              </a:ext>
            </a:extLst>
          </p:cNvPr>
          <p:cNvSpPr>
            <a:spLocks noGrp="1"/>
          </p:cNvSpPr>
          <p:nvPr/>
        </p:nvSpPr>
        <p:spPr>
          <a:xfrm>
            <a:off x="400050" y="1143000"/>
            <a:ext cx="1809750" cy="276225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8AD8619-10B5-4238-9B73-346B04B397C6}"/>
              </a:ext>
            </a:extLst>
          </p:cNvPr>
          <p:cNvSpPr>
            <a:spLocks noGrp="1"/>
          </p:cNvSpPr>
          <p:nvPr/>
        </p:nvSpPr>
        <p:spPr>
          <a:xfrm>
            <a:off x="552450" y="1276350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 dirty="0">
                <a:solidFill>
                  <a:srgbClr val="163B8C"/>
                </a:solidFill>
                <a:latin typeface="Reddit Sans"/>
                <a:ea typeface="Reddit Sans"/>
              </a:rPr>
              <a:t>Base </a:t>
            </a:r>
            <a:r>
              <a:rPr lang="es-ES" sz="1050" b="1" dirty="0" err="1">
                <a:solidFill>
                  <a:srgbClr val="163B8C"/>
                </a:solidFill>
                <a:latin typeface="Reddit Sans"/>
                <a:ea typeface="Reddit Sans"/>
              </a:rPr>
              <a:t>Operativa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46911AD-3B4A-490F-9268-24A2545FBB20}"/>
              </a:ext>
            </a:extLst>
          </p:cNvPr>
          <p:cNvSpPr>
            <a:spLocks noGrp="1"/>
          </p:cNvSpPr>
          <p:nvPr/>
        </p:nvSpPr>
        <p:spPr>
          <a:xfrm>
            <a:off x="552450" y="1600200"/>
            <a:ext cx="1504950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Punto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único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contacto</a:t>
            </a:r>
            <a:endParaRPr lang="es-ES" sz="850" dirty="0" err="1"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Gestión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incidentes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Gestión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de solicitudes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ANS/SLA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prioridad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Reporte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ACDD0597-694D-4454-8D49-F492530B15DF}"/>
              </a:ext>
            </a:extLst>
          </p:cNvPr>
          <p:cNvSpPr>
            <a:spLocks noGrp="1"/>
          </p:cNvSpPr>
          <p:nvPr/>
        </p:nvSpPr>
        <p:spPr>
          <a:xfrm>
            <a:off x="2552700" y="1143000"/>
            <a:ext cx="1809750" cy="276225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98BAD0B-EB72-4DFE-9B81-AB5F6B1AE321}"/>
              </a:ext>
            </a:extLst>
          </p:cNvPr>
          <p:cNvSpPr>
            <a:spLocks noGrp="1"/>
          </p:cNvSpPr>
          <p:nvPr/>
        </p:nvSpPr>
        <p:spPr>
          <a:xfrm>
            <a:off x="2705100" y="1276350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87B83"/>
                </a:solidFill>
                <a:latin typeface="Reddit Sans"/>
                <a:ea typeface="Reddit Sans"/>
              </a:rPr>
              <a:t>Capacidades Gen Next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69B008AD-B51F-4765-BB05-C041ECA5211F}"/>
              </a:ext>
            </a:extLst>
          </p:cNvPr>
          <p:cNvSpPr>
            <a:spLocks noGrp="1"/>
          </p:cNvSpPr>
          <p:nvPr/>
        </p:nvSpPr>
        <p:spPr>
          <a:xfrm>
            <a:off x="2705100" y="1600200"/>
            <a:ext cx="1504950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Portal N0 y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agente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virtual</a:t>
            </a:r>
            <a:endParaRPr lang="es-ES" sz="850" dirty="0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KEDB/KCS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Agent assist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AIOps y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observabilidad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SLA + XLA + DEX</a:t>
            </a:r>
          </a:p>
        </p:txBody>
      </p:sp>
      <p:sp>
        <p:nvSpPr>
          <p:cNvPr id="10" name="card">
            <a:extLst>
              <a:ext uri="{FF2B5EF4-FFF2-40B4-BE49-F238E27FC236}">
                <a16:creationId xmlns:a16="http://schemas.microsoft.com/office/drawing/2014/main" id="{75AE288F-84DD-4128-8757-CC7A59D22E14}"/>
              </a:ext>
            </a:extLst>
          </p:cNvPr>
          <p:cNvSpPr>
            <a:spLocks noGrp="1"/>
          </p:cNvSpPr>
          <p:nvPr/>
        </p:nvSpPr>
        <p:spPr>
          <a:xfrm>
            <a:off x="4705350" y="1143000"/>
            <a:ext cx="1809750" cy="276225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11430">
            <a:solidFill>
              <a:srgbClr val="20835A"/>
            </a:solidFill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7B05ABA-D5CF-44AA-A0AB-6F671F7283F3}"/>
              </a:ext>
            </a:extLst>
          </p:cNvPr>
          <p:cNvSpPr>
            <a:spLocks noGrp="1"/>
          </p:cNvSpPr>
          <p:nvPr/>
        </p:nvSpPr>
        <p:spPr>
          <a:xfrm>
            <a:off x="4857750" y="1276350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1">
                <a:solidFill>
                  <a:srgbClr val="20835A"/>
                </a:solidFill>
              </a:defRPr>
            </a:pPr>
            <a:r>
              <a:rPr sz="1050" b="1" err="1">
                <a:solidFill>
                  <a:srgbClr val="20835A"/>
                </a:solidFill>
                <a:latin typeface="Reddit Sans"/>
                <a:ea typeface="Reddit Sans"/>
              </a:rPr>
              <a:t>Servicios</a:t>
            </a:r>
            <a:r>
              <a:rPr lang="es-ES" sz="1050" b="1" dirty="0">
                <a:solidFill>
                  <a:srgbClr val="20835A"/>
                </a:solidFill>
                <a:latin typeface="Reddit Sans"/>
                <a:ea typeface="Reddit Sans"/>
              </a:rPr>
              <a:t> </a:t>
            </a:r>
            <a:r>
              <a:rPr lang="es-ES" sz="1050" b="1" err="1">
                <a:solidFill>
                  <a:srgbClr val="20835A"/>
                </a:solidFill>
                <a:latin typeface="Reddit Sans"/>
                <a:ea typeface="Reddit Sans"/>
              </a:rPr>
              <a:t>Inmersos</a:t>
            </a:r>
            <a:endParaRPr lang="es-ES" sz="1050" b="1" dirty="0" err="1">
              <a:solidFill>
                <a:srgbClr val="20835A"/>
              </a:solidFill>
              <a:latin typeface="Reddit Sans"/>
              <a:ea typeface="Reddit Sans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489B904-18CD-43B6-978E-47C9F1181ABD}"/>
              </a:ext>
            </a:extLst>
          </p:cNvPr>
          <p:cNvSpPr>
            <a:spLocks noGrp="1"/>
          </p:cNvSpPr>
          <p:nvPr/>
        </p:nvSpPr>
        <p:spPr>
          <a:xfrm>
            <a:off x="4857750" y="1600200"/>
            <a:ext cx="1504950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RACI y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gobierno</a:t>
            </a:r>
            <a:endParaRPr lang="es-ES" sz="850" err="1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Catálogo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y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alcance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Gestión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problemas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Change enablement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Mejora continua</a:t>
            </a:r>
          </a:p>
        </p:txBody>
      </p:sp>
      <p:sp>
        <p:nvSpPr>
          <p:cNvPr id="13" name="card">
            <a:extLst>
              <a:ext uri="{FF2B5EF4-FFF2-40B4-BE49-F238E27FC236}">
                <a16:creationId xmlns:a16="http://schemas.microsoft.com/office/drawing/2014/main" id="{AE063C85-68A6-4E84-8AD1-1F9494589A2E}"/>
              </a:ext>
            </a:extLst>
          </p:cNvPr>
          <p:cNvSpPr>
            <a:spLocks noGrp="1"/>
          </p:cNvSpPr>
          <p:nvPr/>
        </p:nvSpPr>
        <p:spPr>
          <a:xfrm>
            <a:off x="6858000" y="1143000"/>
            <a:ext cx="1809750" cy="276225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11430">
            <a:solidFill>
              <a:srgbClr val="D47A00"/>
            </a:solidFill>
            <a:prstDash val="solid"/>
          </a:ln>
        </p:spPr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7B9178B-1F8D-456C-A96D-759C1FB56DFC}"/>
              </a:ext>
            </a:extLst>
          </p:cNvPr>
          <p:cNvSpPr>
            <a:spLocks noGrp="1"/>
          </p:cNvSpPr>
          <p:nvPr/>
        </p:nvSpPr>
        <p:spPr>
          <a:xfrm>
            <a:off x="7010400" y="1276350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D47A00"/>
                </a:solidFill>
                <a:latin typeface="Reddit Sans"/>
                <a:ea typeface="Reddit Sans"/>
              </a:rPr>
              <a:t>Complementarios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4377773-95C5-4298-9334-E2E6C731C576}"/>
              </a:ext>
            </a:extLst>
          </p:cNvPr>
          <p:cNvSpPr>
            <a:spLocks noGrp="1"/>
          </p:cNvSpPr>
          <p:nvPr/>
        </p:nvSpPr>
        <p:spPr>
          <a:xfrm>
            <a:off x="7010400" y="1600200"/>
            <a:ext cx="1504950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Modernización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lang="es-ES" sz="850" dirty="0">
                <a:solidFill>
                  <a:srgbClr val="172033"/>
                </a:solidFill>
                <a:latin typeface="Reddit Sans"/>
                <a:ea typeface="Reddit Sans"/>
              </a:rPr>
              <a:t>de </a:t>
            </a: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aplicaciones</a:t>
            </a:r>
            <a:endParaRPr lang="es-ES" sz="850" dirty="0" err="1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Seguridad</a:t>
            </a:r>
            <a:endParaRPr lang="es-ES"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DevOps /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automatización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Performance engineering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Gobierno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datos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e IA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BE0BCA3D-F675-40A3-9867-805C6CAD0118}"/>
              </a:ext>
            </a:extLst>
          </p:cNvPr>
          <p:cNvSpPr>
            <a:spLocks noGrp="1"/>
          </p:cNvSpPr>
          <p:nvPr/>
        </p:nvSpPr>
        <p:spPr>
          <a:xfrm>
            <a:off x="802821" y="4234543"/>
            <a:ext cx="7524750" cy="5252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125" b="1">
                <a:solidFill>
                  <a:srgbClr val="0C2362"/>
                </a:solidFill>
              </a:defRPr>
            </a:pPr>
            <a:r>
              <a:rPr sz="1100" b="1" dirty="0">
                <a:solidFill>
                  <a:srgbClr val="0C2362"/>
                </a:solidFill>
                <a:latin typeface="Reddit Sans"/>
                <a:ea typeface="Reddit Sans"/>
              </a:rPr>
              <a:t>Principio </a:t>
            </a:r>
            <a:r>
              <a:rPr sz="1100" b="1" dirty="0" err="1">
                <a:solidFill>
                  <a:srgbClr val="0C2362"/>
                </a:solidFill>
                <a:latin typeface="Reddit Sans"/>
                <a:ea typeface="Reddit Sans"/>
              </a:rPr>
              <a:t>comercial</a:t>
            </a:r>
            <a:r>
              <a:rPr sz="1100" b="1" dirty="0">
                <a:solidFill>
                  <a:srgbClr val="0C2362"/>
                </a:solidFill>
                <a:latin typeface="Reddit Sans"/>
                <a:ea typeface="Reddit Sans"/>
              </a:rPr>
              <a:t>: </a:t>
            </a:r>
            <a:r>
              <a:rPr lang="es-ES" sz="1100" b="1" dirty="0">
                <a:solidFill>
                  <a:srgbClr val="0C2362"/>
                </a:solidFill>
                <a:latin typeface="Reddit Sans"/>
                <a:ea typeface="Reddit Sans"/>
              </a:rPr>
              <a:t>Herramienta</a:t>
            </a:r>
            <a:r>
              <a:rPr sz="1100" b="1" dirty="0">
                <a:solidFill>
                  <a:srgbClr val="0C2362"/>
                </a:solidFill>
                <a:latin typeface="Reddit Sans"/>
                <a:ea typeface="Reddit Sans"/>
              </a:rPr>
              <a:t> del </a:t>
            </a:r>
            <a:r>
              <a:rPr sz="1100" b="1" dirty="0" err="1">
                <a:solidFill>
                  <a:srgbClr val="0C2362"/>
                </a:solidFill>
                <a:latin typeface="Reddit Sans"/>
                <a:ea typeface="Reddit Sans"/>
              </a:rPr>
              <a:t>cliente</a:t>
            </a:r>
            <a:r>
              <a:rPr sz="1100" b="1" dirty="0">
                <a:solidFill>
                  <a:srgbClr val="0C2362"/>
                </a:solidFill>
                <a:latin typeface="Reddit Sans"/>
                <a:ea typeface="Reddit Sans"/>
              </a:rPr>
              <a:t> primero; </a:t>
            </a:r>
            <a:r>
              <a:rPr sz="1100" b="1" dirty="0" err="1">
                <a:solidFill>
                  <a:srgbClr val="0C2362"/>
                </a:solidFill>
                <a:latin typeface="Reddit Sans"/>
                <a:ea typeface="Reddit Sans"/>
              </a:rPr>
              <a:t>si</a:t>
            </a:r>
            <a:r>
              <a:rPr sz="1100" b="1" dirty="0">
                <a:solidFill>
                  <a:srgbClr val="0C2362"/>
                </a:solidFill>
                <a:latin typeface="Reddit Sans"/>
                <a:ea typeface="Reddit Sans"/>
              </a:rPr>
              <a:t> no </a:t>
            </a:r>
            <a:r>
              <a:rPr sz="1100" b="1" dirty="0" err="1">
                <a:solidFill>
                  <a:srgbClr val="0C2362"/>
                </a:solidFill>
                <a:latin typeface="Reddit Sans"/>
                <a:ea typeface="Reddit Sans"/>
              </a:rPr>
              <a:t>tiene</a:t>
            </a:r>
            <a:r>
              <a:rPr sz="1100" b="1" dirty="0">
                <a:solidFill>
                  <a:srgbClr val="0C2362"/>
                </a:solidFill>
                <a:latin typeface="Reddit Sans"/>
                <a:ea typeface="Reddit Sans"/>
              </a:rPr>
              <a:t>,</a:t>
            </a:r>
            <a:r>
              <a:rPr sz="110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lang="es-ES" sz="110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PersonalSoft</a:t>
            </a:r>
            <a:r>
              <a:rPr lang="es-ES" sz="110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10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provee</a:t>
            </a:r>
            <a:r>
              <a:rPr sz="110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10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una</a:t>
            </a:r>
            <a:r>
              <a:rPr sz="110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10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herramienta</a:t>
            </a:r>
            <a:r>
              <a:rPr sz="110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100" b="1" dirty="0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estándar</a:t>
            </a:r>
            <a:r>
              <a:rPr sz="1100" b="1" dirty="0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.</a:t>
            </a:r>
            <a:endParaRPr lang="es-ES" sz="1100" b="1" dirty="0">
              <a:solidFill>
                <a:srgbClr val="0C2362"/>
              </a:solidFill>
              <a:highlight>
                <a:srgbClr val="FFFF00"/>
              </a:highlight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6396576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">
            <a:extLst>
              <a:ext uri="{FF2B5EF4-FFF2-40B4-BE49-F238E27FC236}">
                <a16:creationId xmlns:a16="http://schemas.microsoft.com/office/drawing/2014/main" id="{4BA2C36F-0C7D-484D-8DC1-8556EF621397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Modelo de soporte por niveles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F8A567B6-6649-4974-859B-C0DF30C9B728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AAEE0"/>
                </a:solidFill>
              </a:defRPr>
            </a:pPr>
            <a:r>
              <a:rPr sz="1050" b="0">
                <a:solidFill>
                  <a:srgbClr val="9AAEE0"/>
                </a:solidFill>
                <a:latin typeface="Reddit Sans"/>
                <a:ea typeface="Reddit Sans"/>
              </a:rPr>
              <a:t>Shift-left: resolver antes, escalar mejor y dejar evidencia</a:t>
            </a:r>
          </a:p>
        </p:txBody>
      </p:sp>
      <p:sp>
        <p:nvSpPr>
          <p:cNvPr id="3" name="level">
            <a:extLst>
              <a:ext uri="{FF2B5EF4-FFF2-40B4-BE49-F238E27FC236}">
                <a16:creationId xmlns:a16="http://schemas.microsoft.com/office/drawing/2014/main" id="{ADD71AA4-9DBD-4EE8-A09E-680C8A5639E4}"/>
              </a:ext>
            </a:extLst>
          </p:cNvPr>
          <p:cNvSpPr>
            <a:spLocks noGrp="1"/>
          </p:cNvSpPr>
          <p:nvPr/>
        </p:nvSpPr>
        <p:spPr>
          <a:xfrm>
            <a:off x="361950" y="1200150"/>
            <a:ext cx="1428750" cy="2476500"/>
          </a:xfrm>
          <a:prstGeom prst="roundRect">
            <a:avLst>
              <a:gd name="adj" fmla="val 4000"/>
            </a:avLst>
          </a:prstGeom>
          <a:noFill/>
          <a:ln w="11430">
            <a:solidFill>
              <a:srgbClr val="20835A"/>
            </a:solidFill>
            <a:prstDash val="solid"/>
          </a:ln>
        </p:spPr>
      </p:sp>
      <p:sp>
        <p:nvSpPr>
          <p:cNvPr id="4" name="num">
            <a:extLst>
              <a:ext uri="{FF2B5EF4-FFF2-40B4-BE49-F238E27FC236}">
                <a16:creationId xmlns:a16="http://schemas.microsoft.com/office/drawing/2014/main" id="{8CAEFFF1-DC89-4F18-AFEC-4A312E2FC608}"/>
              </a:ext>
            </a:extLst>
          </p:cNvPr>
          <p:cNvSpPr>
            <a:spLocks noGrp="1"/>
          </p:cNvSpPr>
          <p:nvPr/>
        </p:nvSpPr>
        <p:spPr>
          <a:xfrm>
            <a:off x="762000" y="1390650"/>
            <a:ext cx="628650" cy="628650"/>
          </a:xfrm>
          <a:prstGeom prst="ellipse">
            <a:avLst/>
          </a:prstGeom>
          <a:solidFill>
            <a:srgbClr val="20835A"/>
          </a:solidFill>
          <a:ln w="11430">
            <a:solidFill>
              <a:srgbClr val="20835A"/>
            </a:solidFill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19E6F9AB-D72F-4943-B6B7-F9A4E9D4EF9F}"/>
              </a:ext>
            </a:extLst>
          </p:cNvPr>
          <p:cNvSpPr>
            <a:spLocks noGrp="1"/>
          </p:cNvSpPr>
          <p:nvPr/>
        </p:nvSpPr>
        <p:spPr>
          <a:xfrm>
            <a:off x="762000" y="1524000"/>
            <a:ext cx="628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Reddit Sans"/>
                <a:ea typeface="Reddit Sans"/>
              </a:rPr>
              <a:t>N0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AD383DDD-D67F-44EB-9ABF-093AC65F52C5}"/>
              </a:ext>
            </a:extLst>
          </p:cNvPr>
          <p:cNvSpPr>
            <a:spLocks noGrp="1"/>
          </p:cNvSpPr>
          <p:nvPr/>
        </p:nvSpPr>
        <p:spPr>
          <a:xfrm>
            <a:off x="476250" y="21336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0835A"/>
                </a:solidFill>
              </a:defRPr>
            </a:pPr>
            <a:r>
              <a:rPr sz="1050" b="1">
                <a:solidFill>
                  <a:srgbClr val="20835A"/>
                </a:solidFill>
                <a:latin typeface="Reddit Sans"/>
                <a:ea typeface="Reddit Sans"/>
              </a:rPr>
              <a:t>Autoservicio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E5FE1754-B6BE-4985-B05A-0E5D9FAA17AD}"/>
              </a:ext>
            </a:extLst>
          </p:cNvPr>
          <p:cNvSpPr>
            <a:spLocks noGrp="1"/>
          </p:cNvSpPr>
          <p:nvPr/>
        </p:nvSpPr>
        <p:spPr>
          <a:xfrm>
            <a:off x="495300" y="2552700"/>
            <a:ext cx="1162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Deflexión &gt;30%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Disponible 24x7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Resuelve solicitudes frecuentes</a:t>
            </a:r>
          </a:p>
        </p:txBody>
      </p:sp>
      <p:sp>
        <p:nvSpPr>
          <p:cNvPr id="8" name="level">
            <a:extLst>
              <a:ext uri="{FF2B5EF4-FFF2-40B4-BE49-F238E27FC236}">
                <a16:creationId xmlns:a16="http://schemas.microsoft.com/office/drawing/2014/main" id="{D49BD82A-E91E-4B4A-A8FE-B3F556108E36}"/>
              </a:ext>
            </a:extLst>
          </p:cNvPr>
          <p:cNvSpPr>
            <a:spLocks noGrp="1"/>
          </p:cNvSpPr>
          <p:nvPr/>
        </p:nvSpPr>
        <p:spPr>
          <a:xfrm>
            <a:off x="2085975" y="1200150"/>
            <a:ext cx="1428750" cy="2476500"/>
          </a:xfrm>
          <a:prstGeom prst="roundRect">
            <a:avLst>
              <a:gd name="adj" fmla="val 4000"/>
            </a:avLst>
          </a:prstGeom>
          <a:noFill/>
          <a:ln w="11430">
            <a:solidFill>
              <a:srgbClr val="087B83"/>
            </a:solidFill>
            <a:prstDash val="solid"/>
          </a:ln>
        </p:spPr>
      </p:sp>
      <p:sp>
        <p:nvSpPr>
          <p:cNvPr id="9" name="num">
            <a:extLst>
              <a:ext uri="{FF2B5EF4-FFF2-40B4-BE49-F238E27FC236}">
                <a16:creationId xmlns:a16="http://schemas.microsoft.com/office/drawing/2014/main" id="{EF31C768-5AB8-49C9-9ABA-1B2F02A5A470}"/>
              </a:ext>
            </a:extLst>
          </p:cNvPr>
          <p:cNvSpPr>
            <a:spLocks noGrp="1"/>
          </p:cNvSpPr>
          <p:nvPr/>
        </p:nvSpPr>
        <p:spPr>
          <a:xfrm>
            <a:off x="2486025" y="1390650"/>
            <a:ext cx="628650" cy="628650"/>
          </a:xfrm>
          <a:prstGeom prst="ellipse">
            <a:avLst/>
          </a:prstGeom>
          <a:solidFill>
            <a:srgbClr val="087B83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8AA24BFF-CF1F-4564-97E2-EFD683648E1C}"/>
              </a:ext>
            </a:extLst>
          </p:cNvPr>
          <p:cNvSpPr>
            <a:spLocks noGrp="1"/>
          </p:cNvSpPr>
          <p:nvPr/>
        </p:nvSpPr>
        <p:spPr>
          <a:xfrm>
            <a:off x="2486025" y="1524000"/>
            <a:ext cx="628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Reddit Sans"/>
                <a:ea typeface="Reddit Sans"/>
              </a:rPr>
              <a:t>N1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4B66B86C-C702-4E79-A0FB-5694512375AF}"/>
              </a:ext>
            </a:extLst>
          </p:cNvPr>
          <p:cNvSpPr>
            <a:spLocks noGrp="1"/>
          </p:cNvSpPr>
          <p:nvPr/>
        </p:nvSpPr>
        <p:spPr>
          <a:xfrm>
            <a:off x="2200275" y="21336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87B83"/>
                </a:solidFill>
                <a:latin typeface="Reddit Sans"/>
                <a:ea typeface="Reddit Sans"/>
              </a:rPr>
              <a:t>Front-end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473AC0CD-4379-4211-ACE9-84059576A54D}"/>
              </a:ext>
            </a:extLst>
          </p:cNvPr>
          <p:cNvSpPr>
            <a:spLocks noGrp="1"/>
          </p:cNvSpPr>
          <p:nvPr/>
        </p:nvSpPr>
        <p:spPr>
          <a:xfrm>
            <a:off x="2219325" y="2552700"/>
            <a:ext cx="1162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FCR objetivo &gt;75%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Registro y categorización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Comunicación al usuario</a:t>
            </a:r>
          </a:p>
        </p:txBody>
      </p:sp>
      <p:sp>
        <p:nvSpPr>
          <p:cNvPr id="13" name="level">
            <a:extLst>
              <a:ext uri="{FF2B5EF4-FFF2-40B4-BE49-F238E27FC236}">
                <a16:creationId xmlns:a16="http://schemas.microsoft.com/office/drawing/2014/main" id="{DDBC134D-498E-43DA-A553-B4EF3D829B25}"/>
              </a:ext>
            </a:extLst>
          </p:cNvPr>
          <p:cNvSpPr>
            <a:spLocks noGrp="1"/>
          </p:cNvSpPr>
          <p:nvPr/>
        </p:nvSpPr>
        <p:spPr>
          <a:xfrm>
            <a:off x="3810000" y="1200150"/>
            <a:ext cx="1428750" cy="2476500"/>
          </a:xfrm>
          <a:prstGeom prst="roundRect">
            <a:avLst>
              <a:gd name="adj" fmla="val 4000"/>
            </a:avLst>
          </a:prstGeom>
          <a:noFill/>
          <a:ln w="11430">
            <a:solidFill>
              <a:srgbClr val="D47A00"/>
            </a:solidFill>
            <a:prstDash val="solid"/>
          </a:ln>
        </p:spPr>
      </p:sp>
      <p:sp>
        <p:nvSpPr>
          <p:cNvPr id="14" name="num">
            <a:extLst>
              <a:ext uri="{FF2B5EF4-FFF2-40B4-BE49-F238E27FC236}">
                <a16:creationId xmlns:a16="http://schemas.microsoft.com/office/drawing/2014/main" id="{060EE539-2AEA-481D-B74B-93035099920F}"/>
              </a:ext>
            </a:extLst>
          </p:cNvPr>
          <p:cNvSpPr>
            <a:spLocks noGrp="1"/>
          </p:cNvSpPr>
          <p:nvPr/>
        </p:nvSpPr>
        <p:spPr>
          <a:xfrm>
            <a:off x="4210050" y="1390650"/>
            <a:ext cx="628650" cy="628650"/>
          </a:xfrm>
          <a:prstGeom prst="ellipse">
            <a:avLst/>
          </a:prstGeom>
          <a:solidFill>
            <a:srgbClr val="D47A00"/>
          </a:solidFill>
          <a:ln w="11430">
            <a:solidFill>
              <a:srgbClr val="D47A00"/>
            </a:solidFill>
            <a:prstDash val="solid"/>
          </a:ln>
        </p:spPr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4F91EED3-00DE-4038-AC85-29F32029B76F}"/>
              </a:ext>
            </a:extLst>
          </p:cNvPr>
          <p:cNvSpPr>
            <a:spLocks noGrp="1"/>
          </p:cNvSpPr>
          <p:nvPr/>
        </p:nvSpPr>
        <p:spPr>
          <a:xfrm>
            <a:off x="4210050" y="1524000"/>
            <a:ext cx="628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Reddit Sans"/>
                <a:ea typeface="Reddit Sans"/>
              </a:rPr>
              <a:t>N2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FD834AFA-2076-4931-AC6A-9B20FF51636E}"/>
              </a:ext>
            </a:extLst>
          </p:cNvPr>
          <p:cNvSpPr>
            <a:spLocks noGrp="1"/>
          </p:cNvSpPr>
          <p:nvPr/>
        </p:nvSpPr>
        <p:spPr>
          <a:xfrm>
            <a:off x="3924300" y="21336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D47A00"/>
                </a:solidFill>
                <a:latin typeface="Reddit Sans"/>
                <a:ea typeface="Reddit Sans"/>
              </a:rPr>
              <a:t>Especializado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47AD315E-2B4E-42AA-81D2-CE48C0198C5D}"/>
              </a:ext>
            </a:extLst>
          </p:cNvPr>
          <p:cNvSpPr>
            <a:spLocks noGrp="1"/>
          </p:cNvSpPr>
          <p:nvPr/>
        </p:nvSpPr>
        <p:spPr>
          <a:xfrm>
            <a:off x="3943350" y="2552700"/>
            <a:ext cx="1162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Diagnóstico avanzado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Soporte aplicativo/campo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Coordinación proveedores</a:t>
            </a:r>
          </a:p>
        </p:txBody>
      </p:sp>
      <p:sp>
        <p:nvSpPr>
          <p:cNvPr id="18" name="level">
            <a:extLst>
              <a:ext uri="{FF2B5EF4-FFF2-40B4-BE49-F238E27FC236}">
                <a16:creationId xmlns:a16="http://schemas.microsoft.com/office/drawing/2014/main" id="{EAC72BB2-F0A7-4EF7-8256-E9E46144F508}"/>
              </a:ext>
            </a:extLst>
          </p:cNvPr>
          <p:cNvSpPr>
            <a:spLocks noGrp="1"/>
          </p:cNvSpPr>
          <p:nvPr/>
        </p:nvSpPr>
        <p:spPr>
          <a:xfrm>
            <a:off x="5534025" y="1200150"/>
            <a:ext cx="1428750" cy="2476500"/>
          </a:xfrm>
          <a:prstGeom prst="roundRect">
            <a:avLst>
              <a:gd name="adj" fmla="val 4000"/>
            </a:avLst>
          </a:prstGeom>
          <a:noFill/>
          <a:ln w="11430">
            <a:solidFill>
              <a:srgbClr val="163B8C"/>
            </a:solidFill>
            <a:prstDash val="solid"/>
          </a:ln>
        </p:spPr>
      </p:sp>
      <p:sp>
        <p:nvSpPr>
          <p:cNvPr id="19" name="num">
            <a:extLst>
              <a:ext uri="{FF2B5EF4-FFF2-40B4-BE49-F238E27FC236}">
                <a16:creationId xmlns:a16="http://schemas.microsoft.com/office/drawing/2014/main" id="{F01E94BD-7F56-4E89-8B6D-259634408296}"/>
              </a:ext>
            </a:extLst>
          </p:cNvPr>
          <p:cNvSpPr>
            <a:spLocks noGrp="1"/>
          </p:cNvSpPr>
          <p:nvPr/>
        </p:nvSpPr>
        <p:spPr>
          <a:xfrm>
            <a:off x="5934075" y="1390650"/>
            <a:ext cx="628650" cy="628650"/>
          </a:xfrm>
          <a:prstGeom prst="ellipse">
            <a:avLst/>
          </a:prstGeom>
          <a:solidFill>
            <a:srgbClr val="163B8C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E2512E8D-AAC7-46E8-8C00-E162A5E9F315}"/>
              </a:ext>
            </a:extLst>
          </p:cNvPr>
          <p:cNvSpPr>
            <a:spLocks noGrp="1"/>
          </p:cNvSpPr>
          <p:nvPr/>
        </p:nvSpPr>
        <p:spPr>
          <a:xfrm>
            <a:off x="5934075" y="1524000"/>
            <a:ext cx="628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Reddit Sans"/>
                <a:ea typeface="Reddit Sans"/>
              </a:rPr>
              <a:t>N3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BB242D4D-FD09-4F63-8CA0-9821F67FCF9A}"/>
              </a:ext>
            </a:extLst>
          </p:cNvPr>
          <p:cNvSpPr>
            <a:spLocks noGrp="1"/>
          </p:cNvSpPr>
          <p:nvPr/>
        </p:nvSpPr>
        <p:spPr>
          <a:xfrm>
            <a:off x="5648325" y="21336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163B8C"/>
                </a:solidFill>
                <a:latin typeface="Reddit Sans"/>
                <a:ea typeface="Reddit Sans"/>
              </a:rPr>
              <a:t>Back-end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439A02E6-C1FD-44AE-AAFC-4E454FB96E01}"/>
              </a:ext>
            </a:extLst>
          </p:cNvPr>
          <p:cNvSpPr>
            <a:spLocks noGrp="1"/>
          </p:cNvSpPr>
          <p:nvPr/>
        </p:nvSpPr>
        <p:spPr>
          <a:xfrm>
            <a:off x="5667375" y="2552700"/>
            <a:ext cx="1162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P1/P2 y RCA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Parches y cambios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Especialistas de dominio</a:t>
            </a:r>
          </a:p>
        </p:txBody>
      </p:sp>
      <p:sp>
        <p:nvSpPr>
          <p:cNvPr id="23" name="level">
            <a:extLst>
              <a:ext uri="{FF2B5EF4-FFF2-40B4-BE49-F238E27FC236}">
                <a16:creationId xmlns:a16="http://schemas.microsoft.com/office/drawing/2014/main" id="{9407E459-DB56-4ABB-A014-BA866536AB46}"/>
              </a:ext>
            </a:extLst>
          </p:cNvPr>
          <p:cNvSpPr>
            <a:spLocks noGrp="1"/>
          </p:cNvSpPr>
          <p:nvPr/>
        </p:nvSpPr>
        <p:spPr>
          <a:xfrm>
            <a:off x="7258050" y="1200150"/>
            <a:ext cx="1428750" cy="2476500"/>
          </a:xfrm>
          <a:prstGeom prst="roundRect">
            <a:avLst>
              <a:gd name="adj" fmla="val 4000"/>
            </a:avLst>
          </a:prstGeom>
          <a:noFill/>
          <a:ln w="11430">
            <a:solidFill>
              <a:srgbClr val="5B667A"/>
            </a:solidFill>
            <a:prstDash val="solid"/>
          </a:ln>
        </p:spPr>
      </p:sp>
      <p:sp>
        <p:nvSpPr>
          <p:cNvPr id="24" name="num">
            <a:extLst>
              <a:ext uri="{FF2B5EF4-FFF2-40B4-BE49-F238E27FC236}">
                <a16:creationId xmlns:a16="http://schemas.microsoft.com/office/drawing/2014/main" id="{39887DA5-A099-4865-AC83-382C620B4A7E}"/>
              </a:ext>
            </a:extLst>
          </p:cNvPr>
          <p:cNvSpPr>
            <a:spLocks noGrp="1"/>
          </p:cNvSpPr>
          <p:nvPr/>
        </p:nvSpPr>
        <p:spPr>
          <a:xfrm>
            <a:off x="7658100" y="1390650"/>
            <a:ext cx="628650" cy="628650"/>
          </a:xfrm>
          <a:prstGeom prst="ellipse">
            <a:avLst/>
          </a:prstGeom>
          <a:solidFill>
            <a:srgbClr val="5B667A"/>
          </a:solidFill>
          <a:ln w="11430">
            <a:solidFill>
              <a:srgbClr val="5B667A"/>
            </a:solidFill>
            <a:prstDash val="solid"/>
          </a:ln>
        </p:spPr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E8426460-155F-40A5-81AC-6B0D8BBF5629}"/>
              </a:ext>
            </a:extLst>
          </p:cNvPr>
          <p:cNvSpPr>
            <a:spLocks noGrp="1"/>
          </p:cNvSpPr>
          <p:nvPr/>
        </p:nvSpPr>
        <p:spPr>
          <a:xfrm>
            <a:off x="7658100" y="1524000"/>
            <a:ext cx="628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Reddit Sans"/>
                <a:ea typeface="Reddit Sans"/>
              </a:rPr>
              <a:t>N4</a:t>
            </a:r>
          </a:p>
        </p:txBody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B808F776-9559-4B26-AAFF-647D77D945F0}"/>
              </a:ext>
            </a:extLst>
          </p:cNvPr>
          <p:cNvSpPr>
            <a:spLocks noGrp="1"/>
          </p:cNvSpPr>
          <p:nvPr/>
        </p:nvSpPr>
        <p:spPr>
          <a:xfrm>
            <a:off x="7372350" y="21336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5B667A"/>
                </a:solidFill>
              </a:defRPr>
            </a:pPr>
            <a:r>
              <a:rPr sz="1050" b="1">
                <a:solidFill>
                  <a:srgbClr val="5B667A"/>
                </a:solidFill>
                <a:latin typeface="Reddit Sans"/>
                <a:ea typeface="Reddit Sans"/>
              </a:rPr>
              <a:t>Terceros</a:t>
            </a:r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1AC84733-FF56-4FD8-B9B3-01F6AE2B322F}"/>
              </a:ext>
            </a:extLst>
          </p:cNvPr>
          <p:cNvSpPr>
            <a:spLocks noGrp="1"/>
          </p:cNvSpPr>
          <p:nvPr/>
        </p:nvSpPr>
        <p:spPr>
          <a:xfrm>
            <a:off x="7391400" y="2552700"/>
            <a:ext cx="1162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Fabricantes, cloud,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operadores y soporte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788" b="0">
                <a:solidFill>
                  <a:srgbClr val="172033"/>
                </a:solidFill>
                <a:latin typeface="Reddit Sans"/>
                <a:ea typeface="Reddit Sans"/>
              </a:rPr>
              <a:t>especializado externo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220DCAEE-9E69-41C0-B01D-7C67772834C2}"/>
              </a:ext>
            </a:extLst>
          </p:cNvPr>
          <p:cNvSpPr>
            <a:spLocks noGrp="1"/>
          </p:cNvSpPr>
          <p:nvPr/>
        </p:nvSpPr>
        <p:spPr>
          <a:xfrm>
            <a:off x="764721" y="4114800"/>
            <a:ext cx="762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C2362"/>
                </a:solidFill>
              </a:defRPr>
            </a:pPr>
            <a:r>
              <a:rPr sz="1350" b="1">
                <a:solidFill>
                  <a:srgbClr val="0C2362"/>
                </a:solidFill>
                <a:latin typeface="Reddit Sans"/>
                <a:ea typeface="Reddit Sans"/>
              </a:rPr>
              <a:t>La clave no es evitar escalamiento; es escalar con contexto, evidencia y aprendizaje.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>
            <a:extLst>
              <a:ext uri="{FF2B5EF4-FFF2-40B4-BE49-F238E27FC236}">
                <a16:creationId xmlns:a16="http://schemas.microsoft.com/office/drawing/2014/main" id="{F9C8408C-F9F1-4FF9-8A83-3AF25EB4B75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Stack tecnológico: integrarse al ecosistema del cliente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F99B6CF-84D4-4913-B588-3CAA65AFEC04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AAEE0"/>
                </a:solidFill>
              </a:defRPr>
            </a:pPr>
            <a:r>
              <a:rPr sz="1050" b="0">
                <a:solidFill>
                  <a:srgbClr val="9AAEE0"/>
                </a:solidFill>
                <a:latin typeface="Reddit Sans"/>
                <a:ea typeface="Reddit Sans"/>
              </a:rPr>
              <a:t>Capas mínimas para operar, medir y automatizar sin amarrar al cliente a una herramienta única</a:t>
            </a:r>
          </a:p>
        </p:txBody>
      </p:sp>
      <p:sp>
        <p:nvSpPr>
          <p:cNvPr id="3" name="layer">
            <a:extLst>
              <a:ext uri="{FF2B5EF4-FFF2-40B4-BE49-F238E27FC236}">
                <a16:creationId xmlns:a16="http://schemas.microsoft.com/office/drawing/2014/main" id="{538C9A7E-8E60-4323-A090-E364358D7022}"/>
              </a:ext>
            </a:extLst>
          </p:cNvPr>
          <p:cNvSpPr>
            <a:spLocks noGrp="1"/>
          </p:cNvSpPr>
          <p:nvPr/>
        </p:nvSpPr>
        <p:spPr>
          <a:xfrm>
            <a:off x="876300" y="10287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2A7AB53-8090-466F-9893-E73B6DD61BF6}"/>
              </a:ext>
            </a:extLst>
          </p:cNvPr>
          <p:cNvSpPr>
            <a:spLocks noGrp="1"/>
          </p:cNvSpPr>
          <p:nvPr/>
        </p:nvSpPr>
        <p:spPr>
          <a:xfrm>
            <a:off x="1104900" y="1143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163B8C"/>
                </a:solidFill>
              </a:defRPr>
            </a:pPr>
            <a:r>
              <a:rPr sz="1013" b="1">
                <a:solidFill>
                  <a:srgbClr val="163B8C"/>
                </a:solidFill>
                <a:latin typeface="Reddit Sans"/>
                <a:ea typeface="Reddit Sans"/>
              </a:rPr>
              <a:t>Canales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C575430-6193-4C63-B135-4BA439C7DE11}"/>
              </a:ext>
            </a:extLst>
          </p:cNvPr>
          <p:cNvSpPr>
            <a:spLocks noGrp="1"/>
          </p:cNvSpPr>
          <p:nvPr/>
        </p:nvSpPr>
        <p:spPr>
          <a:xfrm>
            <a:off x="2857500" y="11430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Portal, chat, WhatsApp, correo, teléfono, API/AIOps</a:t>
            </a:r>
          </a:p>
        </p:txBody>
      </p:sp>
      <p:sp>
        <p:nvSpPr>
          <p:cNvPr id="6" name="layer">
            <a:extLst>
              <a:ext uri="{FF2B5EF4-FFF2-40B4-BE49-F238E27FC236}">
                <a16:creationId xmlns:a16="http://schemas.microsoft.com/office/drawing/2014/main" id="{C441F295-83F4-4548-A6D0-5F51F8A20A11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898201E-55B3-4B70-8B4D-953CD3C750D9}"/>
              </a:ext>
            </a:extLst>
          </p:cNvPr>
          <p:cNvSpPr>
            <a:spLocks noGrp="1"/>
          </p:cNvSpPr>
          <p:nvPr/>
        </p:nvSpPr>
        <p:spPr>
          <a:xfrm>
            <a:off x="1104900" y="16954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087B83"/>
                </a:solidFill>
              </a:defRPr>
            </a:pPr>
            <a:r>
              <a:rPr sz="1013" b="1">
                <a:solidFill>
                  <a:srgbClr val="087B83"/>
                </a:solidFill>
                <a:latin typeface="Reddit Sans"/>
                <a:ea typeface="Reddit Sans"/>
              </a:rPr>
              <a:t>ITSM / CMDB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6FBB9CD-0D24-4B36-BB67-F65BDD529EB6}"/>
              </a:ext>
            </a:extLst>
          </p:cNvPr>
          <p:cNvSpPr>
            <a:spLocks noGrp="1"/>
          </p:cNvSpPr>
          <p:nvPr/>
        </p:nvSpPr>
        <p:spPr>
          <a:xfrm>
            <a:off x="2857500" y="16954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ServiceNow, Jira SM, ADO, ManageEngine o herramienta PS</a:t>
            </a:r>
          </a:p>
        </p:txBody>
      </p:sp>
      <p:sp>
        <p:nvSpPr>
          <p:cNvPr id="9" name="layer">
            <a:extLst>
              <a:ext uri="{FF2B5EF4-FFF2-40B4-BE49-F238E27FC236}">
                <a16:creationId xmlns:a16="http://schemas.microsoft.com/office/drawing/2014/main" id="{26BFFD6D-0A44-4AC4-A766-262D23846206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7057E9"/>
            </a:solidFill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8F4A7BE-BEA4-46EA-82AD-493EDB21D41D}"/>
              </a:ext>
            </a:extLst>
          </p:cNvPr>
          <p:cNvSpPr>
            <a:spLocks noGrp="1"/>
          </p:cNvSpPr>
          <p:nvPr/>
        </p:nvSpPr>
        <p:spPr>
          <a:xfrm>
            <a:off x="1104900" y="22479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7057E9"/>
                </a:solidFill>
              </a:defRPr>
            </a:pPr>
            <a:r>
              <a:rPr sz="1013" b="1">
                <a:solidFill>
                  <a:srgbClr val="7057E9"/>
                </a:solidFill>
                <a:latin typeface="Reddit Sans"/>
                <a:ea typeface="Reddit Sans"/>
              </a:rPr>
              <a:t>Conocimiento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E697010-83B8-4D18-BC4D-85D49DAAC087}"/>
              </a:ext>
            </a:extLst>
          </p:cNvPr>
          <p:cNvSpPr>
            <a:spLocks noGrp="1"/>
          </p:cNvSpPr>
          <p:nvPr/>
        </p:nvSpPr>
        <p:spPr>
          <a:xfrm>
            <a:off x="2857500" y="22479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KEDB, KCS, Confluence, SharePoint, artículos generados</a:t>
            </a:r>
          </a:p>
        </p:txBody>
      </p:sp>
      <p:sp>
        <p:nvSpPr>
          <p:cNvPr id="12" name="layer">
            <a:extLst>
              <a:ext uri="{FF2B5EF4-FFF2-40B4-BE49-F238E27FC236}">
                <a16:creationId xmlns:a16="http://schemas.microsoft.com/office/drawing/2014/main" id="{8BF0411D-3DEB-4455-A21F-FC69D475C426}"/>
              </a:ext>
            </a:extLst>
          </p:cNvPr>
          <p:cNvSpPr>
            <a:spLocks noGrp="1"/>
          </p:cNvSpPr>
          <p:nvPr/>
        </p:nvSpPr>
        <p:spPr>
          <a:xfrm>
            <a:off x="876300" y="26860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20835A"/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D03620C4-45AF-4D52-95EC-0BFF40943DD5}"/>
              </a:ext>
            </a:extLst>
          </p:cNvPr>
          <p:cNvSpPr>
            <a:spLocks noGrp="1"/>
          </p:cNvSpPr>
          <p:nvPr/>
        </p:nvSpPr>
        <p:spPr>
          <a:xfrm>
            <a:off x="1104900" y="28003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20835A"/>
                </a:solidFill>
              </a:defRPr>
            </a:pPr>
            <a:r>
              <a:rPr sz="1013" b="1">
                <a:solidFill>
                  <a:srgbClr val="20835A"/>
                </a:solidFill>
                <a:latin typeface="Reddit Sans"/>
                <a:ea typeface="Reddit Sans"/>
              </a:rPr>
              <a:t>IA / AIOps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69BD8F76-D60B-442D-9E63-D036643AD169}"/>
              </a:ext>
            </a:extLst>
          </p:cNvPr>
          <p:cNvSpPr>
            <a:spLocks noGrp="1"/>
          </p:cNvSpPr>
          <p:nvPr/>
        </p:nvSpPr>
        <p:spPr>
          <a:xfrm>
            <a:off x="2857500" y="28003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Agent assist, NLP, observabilidad, correlación y runbooks</a:t>
            </a:r>
          </a:p>
        </p:txBody>
      </p:sp>
      <p:sp>
        <p:nvSpPr>
          <p:cNvPr id="15" name="layer">
            <a:extLst>
              <a:ext uri="{FF2B5EF4-FFF2-40B4-BE49-F238E27FC236}">
                <a16:creationId xmlns:a16="http://schemas.microsoft.com/office/drawing/2014/main" id="{950D358F-F7D6-460D-A2BD-B9DE783BE7B6}"/>
              </a:ext>
            </a:extLst>
          </p:cNvPr>
          <p:cNvSpPr>
            <a:spLocks noGrp="1"/>
          </p:cNvSpPr>
          <p:nvPr/>
        </p:nvSpPr>
        <p:spPr>
          <a:xfrm>
            <a:off x="876300" y="32385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D47A00"/>
            </a:solidFill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A302AD2D-E25D-4A10-98EF-2CFC1129B8AF}"/>
              </a:ext>
            </a:extLst>
          </p:cNvPr>
          <p:cNvSpPr>
            <a:spLocks noGrp="1"/>
          </p:cNvSpPr>
          <p:nvPr/>
        </p:nvSpPr>
        <p:spPr>
          <a:xfrm>
            <a:off x="1104900" y="33528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D47A00"/>
                </a:solidFill>
              </a:defRPr>
            </a:pPr>
            <a:r>
              <a:rPr sz="1013" b="1">
                <a:solidFill>
                  <a:srgbClr val="D47A00"/>
                </a:solidFill>
                <a:latin typeface="Reddit Sans"/>
                <a:ea typeface="Reddit Sans"/>
              </a:rPr>
              <a:t>Gobierno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ADA952B-A53E-4E8D-BD2E-66B9B2C37131}"/>
              </a:ext>
            </a:extLst>
          </p:cNvPr>
          <p:cNvSpPr>
            <a:spLocks noGrp="1"/>
          </p:cNvSpPr>
          <p:nvPr/>
        </p:nvSpPr>
        <p:spPr>
          <a:xfrm>
            <a:off x="2857500" y="33528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Dashboards, SLA/XLA, CSAT, auditoría IA, cumplimiento</a:t>
            </a:r>
          </a:p>
        </p:txBody>
      </p:sp>
      <p:sp>
        <p:nvSpPr>
          <p:cNvPr id="18" name="layer">
            <a:extLst>
              <a:ext uri="{FF2B5EF4-FFF2-40B4-BE49-F238E27FC236}">
                <a16:creationId xmlns:a16="http://schemas.microsoft.com/office/drawing/2014/main" id="{B8C261E1-F43F-4731-B424-1A96046B6A54}"/>
              </a:ext>
            </a:extLst>
          </p:cNvPr>
          <p:cNvSpPr>
            <a:spLocks noGrp="1"/>
          </p:cNvSpPr>
          <p:nvPr/>
        </p:nvSpPr>
        <p:spPr>
          <a:xfrm>
            <a:off x="876300" y="37909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5B667A"/>
            </a:solidFill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E346C4B4-DF1D-4BD3-AFE6-7C0818FC1818}"/>
              </a:ext>
            </a:extLst>
          </p:cNvPr>
          <p:cNvSpPr>
            <a:spLocks noGrp="1"/>
          </p:cNvSpPr>
          <p:nvPr/>
        </p:nvSpPr>
        <p:spPr>
          <a:xfrm>
            <a:off x="1104900" y="39052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5B667A"/>
                </a:solidFill>
              </a:defRPr>
            </a:pPr>
            <a:r>
              <a:rPr sz="1013" b="1">
                <a:solidFill>
                  <a:srgbClr val="5B667A"/>
                </a:solidFill>
                <a:latin typeface="Reddit Sans"/>
                <a:ea typeface="Reddit Sans"/>
              </a:rPr>
              <a:t>Seguridad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5940D614-BA13-44F4-9ED4-A5C358C8EB51}"/>
              </a:ext>
            </a:extLst>
          </p:cNvPr>
          <p:cNvSpPr>
            <a:spLocks noGrp="1"/>
          </p:cNvSpPr>
          <p:nvPr/>
        </p:nvSpPr>
        <p:spPr>
          <a:xfrm>
            <a:off x="2857500" y="3905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SSO/IAM, VPN, cifrado, backup, ISO 27001 / ISO 42001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">
            <a:extLst>
              <a:ext uri="{FF2B5EF4-FFF2-40B4-BE49-F238E27FC236}">
                <a16:creationId xmlns:a16="http://schemas.microsoft.com/office/drawing/2014/main" id="{F4A9ED1E-6E58-41EF-B33E-D84FAD85849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Gobierno operativo: el servicio se controla por ciclos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96DBF556-EF1C-4B10-9F4F-1368A35BCE1C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AAEE0"/>
                </a:solidFill>
              </a:defRPr>
            </a:pPr>
            <a:r>
              <a:rPr sz="1050" b="0">
                <a:solidFill>
                  <a:srgbClr val="9AAEE0"/>
                </a:solidFill>
                <a:latin typeface="Reddit Sans"/>
                <a:ea typeface="Reddit Sans"/>
              </a:rPr>
              <a:t>Rutinas claras para que la mejora no dependa de héroes</a:t>
            </a:r>
          </a:p>
        </p:txBody>
      </p:sp>
      <p:sp>
        <p:nvSpPr>
          <p:cNvPr id="3" name="card">
            <a:extLst>
              <a:ext uri="{FF2B5EF4-FFF2-40B4-BE49-F238E27FC236}">
                <a16:creationId xmlns:a16="http://schemas.microsoft.com/office/drawing/2014/main" id="{33A0200C-2BF8-4C5F-A91E-90828BE0D397}"/>
              </a:ext>
            </a:extLst>
          </p:cNvPr>
          <p:cNvSpPr>
            <a:spLocks noGrp="1"/>
          </p:cNvSpPr>
          <p:nvPr/>
        </p:nvSpPr>
        <p:spPr>
          <a:xfrm>
            <a:off x="457200" y="1143000"/>
            <a:ext cx="2476500" cy="1714500"/>
          </a:xfrm>
          <a:prstGeom prst="roundRect">
            <a:avLst>
              <a:gd name="adj" fmla="val 3333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1D3C868-8914-4670-9279-9CF67622913F}"/>
              </a:ext>
            </a:extLst>
          </p:cNvPr>
          <p:cNvSpPr>
            <a:spLocks noGrp="1"/>
          </p:cNvSpPr>
          <p:nvPr/>
        </p:nvSpPr>
        <p:spPr>
          <a:xfrm>
            <a:off x="60960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87B83"/>
                </a:solidFill>
                <a:latin typeface="Reddit Sans"/>
                <a:ea typeface="Reddit Sans"/>
              </a:rPr>
              <a:t>Diario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E9EB56C4-CE10-41E0-9D9D-FC95A1D96D8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Stand-up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operativo</a:t>
            </a:r>
            <a:endParaRPr lang="es-ES" sz="850" err="1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Tickets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críticos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Alertas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AIOps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Bloqueos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capacidad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B547BFEC-93BA-4C75-BE1A-6691CEACA597}"/>
              </a:ext>
            </a:extLst>
          </p:cNvPr>
          <p:cNvSpPr>
            <a:spLocks noGrp="1"/>
          </p:cNvSpPr>
          <p:nvPr/>
        </p:nvSpPr>
        <p:spPr>
          <a:xfrm>
            <a:off x="3333750" y="1143000"/>
            <a:ext cx="2476500" cy="1714500"/>
          </a:xfrm>
          <a:prstGeom prst="roundRect">
            <a:avLst>
              <a:gd name="adj" fmla="val 3333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0E91D4E0-1A53-4498-B1E3-FAF7EDBB8DB1}"/>
              </a:ext>
            </a:extLst>
          </p:cNvPr>
          <p:cNvSpPr>
            <a:spLocks noGrp="1"/>
          </p:cNvSpPr>
          <p:nvPr/>
        </p:nvSpPr>
        <p:spPr>
          <a:xfrm>
            <a:off x="348615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163B8C"/>
                </a:solidFill>
                <a:latin typeface="Reddit Sans"/>
                <a:ea typeface="Reddit Sans"/>
              </a:rPr>
              <a:t>Semanal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567563FF-C2D7-4634-8F36-C5B3AD8BBC1C}"/>
              </a:ext>
            </a:extLst>
          </p:cNvPr>
          <p:cNvSpPr>
            <a:spLocks noGrp="1"/>
          </p:cNvSpPr>
          <p:nvPr/>
        </p:nvSpPr>
        <p:spPr>
          <a:xfrm>
            <a:off x="348615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Revisión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SLA/XLA</a:t>
            </a:r>
            <a:endParaRPr lang="es-ES" sz="850" dirty="0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Tendencias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RCA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Backlog y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cambios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Actualización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KEDB</a:t>
            </a:r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C4EFE8A7-55E9-4877-9914-1774E17DC9FD}"/>
              </a:ext>
            </a:extLst>
          </p:cNvPr>
          <p:cNvSpPr>
            <a:spLocks noGrp="1"/>
          </p:cNvSpPr>
          <p:nvPr/>
        </p:nvSpPr>
        <p:spPr>
          <a:xfrm>
            <a:off x="6210300" y="1143000"/>
            <a:ext cx="2476500" cy="1714500"/>
          </a:xfrm>
          <a:prstGeom prst="roundRect">
            <a:avLst>
              <a:gd name="adj" fmla="val 3333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96F2F58-7ED2-47BB-BCE8-4EB7A911875C}"/>
              </a:ext>
            </a:extLst>
          </p:cNvPr>
          <p:cNvSpPr>
            <a:spLocks noGrp="1"/>
          </p:cNvSpPr>
          <p:nvPr/>
        </p:nvSpPr>
        <p:spPr>
          <a:xfrm>
            <a:off x="636270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D47A00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BC0E508C-8AAF-4375-A547-8BC504097420}"/>
              </a:ext>
            </a:extLst>
          </p:cNvPr>
          <p:cNvSpPr>
            <a:spLocks noGrp="1"/>
          </p:cNvSpPr>
          <p:nvPr/>
        </p:nvSpPr>
        <p:spPr>
          <a:xfrm>
            <a:off x="636270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Service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Review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cliente</a:t>
            </a:r>
            <a:endParaRPr lang="es-ES" sz="850" dirty="0" err="1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Reporte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ejecutivo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Plan de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mejora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Ajustes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alcance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" name="governance">
            <a:extLst>
              <a:ext uri="{FF2B5EF4-FFF2-40B4-BE49-F238E27FC236}">
                <a16:creationId xmlns:a16="http://schemas.microsoft.com/office/drawing/2014/main" id="{18F64C68-39AB-4412-8B1C-85FD59229663}"/>
              </a:ext>
            </a:extLst>
          </p:cNvPr>
          <p:cNvSpPr>
            <a:spLocks noGrp="1"/>
          </p:cNvSpPr>
          <p:nvPr/>
        </p:nvSpPr>
        <p:spPr>
          <a:xfrm>
            <a:off x="457200" y="2986768"/>
            <a:ext cx="2313215" cy="1641021"/>
          </a:xfrm>
          <a:prstGeom prst="roundRect">
            <a:avLst>
              <a:gd name="adj" fmla="val 9091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2B9ED9C4-70A3-47A1-9209-3EF909CF5FD8}"/>
              </a:ext>
            </a:extLst>
          </p:cNvPr>
          <p:cNvSpPr>
            <a:spLocks noGrp="1"/>
          </p:cNvSpPr>
          <p:nvPr/>
        </p:nvSpPr>
        <p:spPr>
          <a:xfrm>
            <a:off x="661307" y="3061607"/>
            <a:ext cx="1807029" cy="10640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1">
                <a:solidFill>
                  <a:srgbClr val="0C2362"/>
                </a:solidFill>
              </a:defRPr>
            </a:pPr>
            <a:r>
              <a:rPr sz="1050" b="1">
                <a:solidFill>
                  <a:srgbClr val="0C2362"/>
                </a:solidFill>
                <a:latin typeface="Reddit Sans"/>
                <a:ea typeface="Reddit Sans"/>
              </a:rPr>
              <a:t>Roles </a:t>
            </a:r>
            <a:r>
              <a:rPr lang="es-ES" sz="1050" b="1">
                <a:solidFill>
                  <a:srgbClr val="0C2362"/>
                </a:solidFill>
                <a:latin typeface="Reddit Sans"/>
                <a:ea typeface="Reddit Sans"/>
              </a:rPr>
              <a:t>mínimos</a:t>
            </a:r>
            <a:r>
              <a:rPr sz="1050" b="1">
                <a:solidFill>
                  <a:srgbClr val="0C2362"/>
                </a:solidFill>
                <a:latin typeface="Reddit Sans"/>
                <a:ea typeface="Reddit Sans"/>
              </a:rPr>
              <a:t>: </a:t>
            </a:r>
            <a:endParaRPr lang="es-ES"/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50" err="1">
                <a:solidFill>
                  <a:srgbClr val="172033"/>
                </a:solidFill>
                <a:latin typeface="Reddit Sans"/>
                <a:ea typeface="Reddit Sans"/>
              </a:rPr>
              <a:t>Gerente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de Mesa</a:t>
            </a:r>
            <a:endParaRPr lang="es-ES" sz="85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50" err="1">
                <a:solidFill>
                  <a:srgbClr val="172033"/>
                </a:solidFill>
                <a:latin typeface="Reddit Sans"/>
                <a:ea typeface="Reddit Sans"/>
              </a:rPr>
              <a:t>Coordinador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de Servicio</a:t>
            </a:r>
            <a:endParaRPr lang="es-ES" sz="85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50" err="1">
                <a:solidFill>
                  <a:srgbClr val="172033"/>
                </a:solidFill>
                <a:latin typeface="Reddit Sans"/>
                <a:ea typeface="Reddit Sans"/>
              </a:rPr>
              <a:t>Líder</a:t>
            </a:r>
            <a:r>
              <a:rPr sz="850" dirty="0">
                <a:solidFill>
                  <a:srgbClr val="172033"/>
                </a:solidFill>
                <a:latin typeface="Reddit Sans"/>
                <a:ea typeface="Reddit Sans"/>
              </a:rPr>
              <a:t> Técnico, </a:t>
            </a:r>
            <a:r>
              <a:rPr sz="850" err="1">
                <a:solidFill>
                  <a:srgbClr val="172033"/>
                </a:solidFill>
                <a:latin typeface="Reddit Sans"/>
                <a:ea typeface="Reddit Sans"/>
              </a:rPr>
              <a:t>Analistas</a:t>
            </a:r>
            <a:r>
              <a:rPr sz="85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N1/</a:t>
            </a: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N2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50" err="1">
                <a:solidFill>
                  <a:srgbClr val="172033"/>
                </a:solidFill>
                <a:latin typeface="Reddit Sans"/>
                <a:ea typeface="Reddit Sans"/>
              </a:rPr>
              <a:t>Especialistas</a:t>
            </a:r>
            <a:r>
              <a:rPr sz="85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N3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Gobierno</a:t>
            </a:r>
            <a:r>
              <a:rPr sz="850" dirty="0">
                <a:solidFill>
                  <a:srgbClr val="172033"/>
                </a:solidFill>
                <a:latin typeface="Reddit Sans"/>
                <a:ea typeface="Reddit Sans"/>
              </a:rPr>
              <a:t> IA/Datos.</a:t>
            </a:r>
            <a:endParaRPr sz="850">
              <a:solidFill>
                <a:srgbClr val="172033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">
            <a:extLst>
              <a:ext uri="{FF2B5EF4-FFF2-40B4-BE49-F238E27FC236}">
                <a16:creationId xmlns:a16="http://schemas.microsoft.com/office/drawing/2014/main" id="{106B552C-4355-4AE2-9410-1725D41D4113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Métricas del servicio: de tickets cerrados a valor demostrado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A6037EDF-6415-4C01-BD05-61D7B035B888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AAEE0"/>
                </a:solidFill>
              </a:defRPr>
            </a:pPr>
            <a:r>
              <a:rPr sz="1050" b="0">
                <a:solidFill>
                  <a:srgbClr val="9AAEE0"/>
                </a:solidFill>
                <a:latin typeface="Reddit Sans"/>
                <a:ea typeface="Reddit Sans"/>
              </a:rPr>
              <a:t>El tablero debe combinar operación, experiencia, economía y evolución</a:t>
            </a:r>
          </a:p>
        </p:txBody>
      </p:sp>
      <p:sp>
        <p:nvSpPr>
          <p:cNvPr id="3" name="card">
            <a:extLst>
              <a:ext uri="{FF2B5EF4-FFF2-40B4-BE49-F238E27FC236}">
                <a16:creationId xmlns:a16="http://schemas.microsoft.com/office/drawing/2014/main" id="{70B14468-72BC-4B35-ADF5-A730CD4365C1}"/>
              </a:ext>
            </a:extLst>
          </p:cNvPr>
          <p:cNvSpPr>
            <a:spLocks noGrp="1"/>
          </p:cNvSpPr>
          <p:nvPr/>
        </p:nvSpPr>
        <p:spPr>
          <a:xfrm>
            <a:off x="523875" y="1104900"/>
            <a:ext cx="3714750" cy="1219200"/>
          </a:xfrm>
          <a:prstGeom prst="roundRect">
            <a:avLst>
              <a:gd name="adj" fmla="val 4688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6BE2B1AF-40A1-4893-AD40-72825B0CE011}"/>
              </a:ext>
            </a:extLst>
          </p:cNvPr>
          <p:cNvSpPr>
            <a:spLocks noGrp="1"/>
          </p:cNvSpPr>
          <p:nvPr/>
        </p:nvSpPr>
        <p:spPr>
          <a:xfrm>
            <a:off x="676275" y="123825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163B8C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249CC4CB-8055-49BE-AC29-D8D09D268D3B}"/>
              </a:ext>
            </a:extLst>
          </p:cNvPr>
          <p:cNvSpPr>
            <a:spLocks noGrp="1"/>
          </p:cNvSpPr>
          <p:nvPr/>
        </p:nvSpPr>
        <p:spPr>
          <a:xfrm>
            <a:off x="676275" y="156210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FCR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MTTR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Cumplimiento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SLA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Backlog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prioridad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AF662970-52ED-4834-BF9D-E4C09E03FBD4}"/>
              </a:ext>
            </a:extLst>
          </p:cNvPr>
          <p:cNvSpPr>
            <a:spLocks noGrp="1"/>
          </p:cNvSpPr>
          <p:nvPr/>
        </p:nvSpPr>
        <p:spPr>
          <a:xfrm>
            <a:off x="4886325" y="1104900"/>
            <a:ext cx="3714750" cy="1219200"/>
          </a:xfrm>
          <a:prstGeom prst="roundRect">
            <a:avLst>
              <a:gd name="adj" fmla="val 4688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37AEBCC5-2CA9-4A39-B000-22A2CAA641C8}"/>
              </a:ext>
            </a:extLst>
          </p:cNvPr>
          <p:cNvSpPr>
            <a:spLocks noGrp="1"/>
          </p:cNvSpPr>
          <p:nvPr/>
        </p:nvSpPr>
        <p:spPr>
          <a:xfrm>
            <a:off x="5038725" y="123825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Experiencia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8D9E31EE-481C-4A9B-9699-BF471D188B9E}"/>
              </a:ext>
            </a:extLst>
          </p:cNvPr>
          <p:cNvSpPr>
            <a:spLocks noGrp="1"/>
          </p:cNvSpPr>
          <p:nvPr/>
        </p:nvSpPr>
        <p:spPr>
          <a:xfrm>
            <a:off x="5038725" y="156210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CSAT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XLA / DEX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Esfuerzo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del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usuario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Reaperturas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5A238B9C-B9D4-4D92-AEAE-6E642E021177}"/>
              </a:ext>
            </a:extLst>
          </p:cNvPr>
          <p:cNvSpPr>
            <a:spLocks noGrp="1"/>
          </p:cNvSpPr>
          <p:nvPr/>
        </p:nvSpPr>
        <p:spPr>
          <a:xfrm>
            <a:off x="523875" y="2724150"/>
            <a:ext cx="3714750" cy="1219200"/>
          </a:xfrm>
          <a:prstGeom prst="roundRect">
            <a:avLst>
              <a:gd name="adj" fmla="val 4688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EC74EA49-E021-4A9C-9B1E-96A41D399694}"/>
              </a:ext>
            </a:extLst>
          </p:cNvPr>
          <p:cNvSpPr>
            <a:spLocks noGrp="1"/>
          </p:cNvSpPr>
          <p:nvPr/>
        </p:nvSpPr>
        <p:spPr>
          <a:xfrm>
            <a:off x="676275" y="285750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0835A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Economía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E66D574F-9ABD-452F-898E-D7ADC7A3B851}"/>
              </a:ext>
            </a:extLst>
          </p:cNvPr>
          <p:cNvSpPr>
            <a:spLocks noGrp="1"/>
          </p:cNvSpPr>
          <p:nvPr/>
        </p:nvSpPr>
        <p:spPr>
          <a:xfrm>
            <a:off x="676275" y="318135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Costo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ticket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Deflexión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N0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Productividad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nivel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Margen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del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servicio</a:t>
            </a:r>
            <a:endParaRPr sz="850" b="0" dirty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" name="card">
            <a:extLst>
              <a:ext uri="{FF2B5EF4-FFF2-40B4-BE49-F238E27FC236}">
                <a16:creationId xmlns:a16="http://schemas.microsoft.com/office/drawing/2014/main" id="{1C20C22D-E18E-47EF-B54A-DD1D1318A126}"/>
              </a:ext>
            </a:extLst>
          </p:cNvPr>
          <p:cNvSpPr>
            <a:spLocks noGrp="1"/>
          </p:cNvSpPr>
          <p:nvPr/>
        </p:nvSpPr>
        <p:spPr>
          <a:xfrm>
            <a:off x="4886325" y="2724150"/>
            <a:ext cx="3714750" cy="1219200"/>
          </a:xfrm>
          <a:prstGeom prst="roundRect">
            <a:avLst>
              <a:gd name="adj" fmla="val 4688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13D23F9-7E23-428D-A120-4DC8897CE9B0}"/>
              </a:ext>
            </a:extLst>
          </p:cNvPr>
          <p:cNvSpPr>
            <a:spLocks noGrp="1"/>
          </p:cNvSpPr>
          <p:nvPr/>
        </p:nvSpPr>
        <p:spPr>
          <a:xfrm>
            <a:off x="5038725" y="285750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Evolución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3F83CF1-E915-4FC6-969B-4BA3AB85D980}"/>
              </a:ext>
            </a:extLst>
          </p:cNvPr>
          <p:cNvSpPr>
            <a:spLocks noGrp="1"/>
          </p:cNvSpPr>
          <p:nvPr/>
        </p:nvSpPr>
        <p:spPr>
          <a:xfrm>
            <a:off x="5038725" y="318135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%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automatización</a:t>
            </a:r>
            <a:endParaRPr lang="es-ES" sz="850" dirty="0" err="1"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Uso KEDB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Problemas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recurrentes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Mejoras</a:t>
            </a:r>
            <a:r>
              <a:rPr sz="850" b="0" dirty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dirty="0" err="1">
                <a:solidFill>
                  <a:srgbClr val="172033"/>
                </a:solidFill>
                <a:latin typeface="Reddit Sans"/>
                <a:ea typeface="Reddit Sans"/>
              </a:rPr>
              <a:t>implementadas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7449F463-9CDC-437F-8D77-F76E9199DD32}"/>
              </a:ext>
            </a:extLst>
          </p:cNvPr>
          <p:cNvSpPr>
            <a:spLocks noGrp="1"/>
          </p:cNvSpPr>
          <p:nvPr/>
        </p:nvSpPr>
        <p:spPr>
          <a:xfrm>
            <a:off x="857250" y="4333875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C2362"/>
                </a:solidFill>
              </a:defRPr>
            </a:pP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Meta de madurez: que el cliente vea menos interrupciones y PS vea mejor margen por automatización.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">
            <a:extLst>
              <a:ext uri="{FF2B5EF4-FFF2-40B4-BE49-F238E27FC236}">
                <a16:creationId xmlns:a16="http://schemas.microsoft.com/office/drawing/2014/main" id="{5026C357-3705-477D-8BBC-14D733773D1B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Roadmap de adopción para desplegar la Mesa Gen Next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BE1E3955-C63B-4395-8EC8-C21A833B5E63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AAEE0"/>
                </a:solidFill>
              </a:defRPr>
            </a:pPr>
            <a:r>
              <a:rPr sz="1050" b="0">
                <a:solidFill>
                  <a:srgbClr val="9AAEE0"/>
                </a:solidFill>
                <a:latin typeface="Reddit Sans"/>
                <a:ea typeface="Reddit Sans"/>
              </a:rPr>
              <a:t>Diseñar el servicio en oleadas reduce riesgo y acelera valor</a:t>
            </a:r>
          </a:p>
        </p:txBody>
      </p:sp>
      <p:sp>
        <p:nvSpPr>
          <p:cNvPr id="3" name="phase">
            <a:extLst>
              <a:ext uri="{FF2B5EF4-FFF2-40B4-BE49-F238E27FC236}">
                <a16:creationId xmlns:a16="http://schemas.microsoft.com/office/drawing/2014/main" id="{B18BB039-51DC-4FC2-BD26-FE88F292EA57}"/>
              </a:ext>
            </a:extLst>
          </p:cNvPr>
          <p:cNvSpPr>
            <a:spLocks noGrp="1"/>
          </p:cNvSpPr>
          <p:nvPr/>
        </p:nvSpPr>
        <p:spPr>
          <a:xfrm>
            <a:off x="49530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phase-head">
            <a:extLst>
              <a:ext uri="{FF2B5EF4-FFF2-40B4-BE49-F238E27FC236}">
                <a16:creationId xmlns:a16="http://schemas.microsoft.com/office/drawing/2014/main" id="{5BB466A5-E0D2-4910-91F0-1275450A95A1}"/>
              </a:ext>
            </a:extLst>
          </p:cNvPr>
          <p:cNvSpPr>
            <a:spLocks noGrp="1"/>
          </p:cNvSpPr>
          <p:nvPr/>
        </p:nvSpPr>
        <p:spPr>
          <a:xfrm>
            <a:off x="49530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F48EF22-30FF-4E4A-BBAF-380C8613F5DC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0-30 días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6823419C-FFE7-4FC4-9779-65B2D35FFE73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Diagnóstico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C047F4B-EEAE-485C-95C2-B3BB95F836DE}"/>
              </a:ext>
            </a:extLst>
          </p:cNvPr>
          <p:cNvSpPr>
            <a:spLocks noGrp="1"/>
          </p:cNvSpPr>
          <p:nvPr/>
        </p:nvSpPr>
        <p:spPr>
          <a:xfrm>
            <a:off x="66675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Madurez N0-N5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Volumen y criticidad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Brechas de gobierno</a:t>
            </a:r>
          </a:p>
        </p:txBody>
      </p:sp>
      <p:sp>
        <p:nvSpPr>
          <p:cNvPr id="8" name="arrow">
            <a:extLst>
              <a:ext uri="{FF2B5EF4-FFF2-40B4-BE49-F238E27FC236}">
                <a16:creationId xmlns:a16="http://schemas.microsoft.com/office/drawing/2014/main" id="{FA92142E-A91A-4AF1-9D4B-9C4632144BF3}"/>
              </a:ext>
            </a:extLst>
          </p:cNvPr>
          <p:cNvSpPr>
            <a:spLocks noGrp="1"/>
          </p:cNvSpPr>
          <p:nvPr/>
        </p:nvSpPr>
        <p:spPr>
          <a:xfrm>
            <a:off x="232410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9" name="phase">
            <a:extLst>
              <a:ext uri="{FF2B5EF4-FFF2-40B4-BE49-F238E27FC236}">
                <a16:creationId xmlns:a16="http://schemas.microsoft.com/office/drawing/2014/main" id="{3BCEBA44-9549-4355-AB5D-E0FBE80C3305}"/>
              </a:ext>
            </a:extLst>
          </p:cNvPr>
          <p:cNvSpPr>
            <a:spLocks noGrp="1"/>
          </p:cNvSpPr>
          <p:nvPr/>
        </p:nvSpPr>
        <p:spPr>
          <a:xfrm>
            <a:off x="264795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" name="phase-head">
            <a:extLst>
              <a:ext uri="{FF2B5EF4-FFF2-40B4-BE49-F238E27FC236}">
                <a16:creationId xmlns:a16="http://schemas.microsoft.com/office/drawing/2014/main" id="{B544B780-B4D8-4061-B53A-E8BDE3D15144}"/>
              </a:ext>
            </a:extLst>
          </p:cNvPr>
          <p:cNvSpPr>
            <a:spLocks noGrp="1"/>
          </p:cNvSpPr>
          <p:nvPr/>
        </p:nvSpPr>
        <p:spPr>
          <a:xfrm>
            <a:off x="264795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416DE1AC-E1AB-44B3-B389-65BED1C3B6EB}"/>
              </a:ext>
            </a:extLst>
          </p:cNvPr>
          <p:cNvSpPr>
            <a:spLocks noGrp="1"/>
          </p:cNvSpPr>
          <p:nvPr/>
        </p:nvSpPr>
        <p:spPr>
          <a:xfrm>
            <a:off x="276225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31-60 días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9023BB64-4543-4E1B-8488-6405CE3A5C79}"/>
              </a:ext>
            </a:extLst>
          </p:cNvPr>
          <p:cNvSpPr>
            <a:spLocks noGrp="1"/>
          </p:cNvSpPr>
          <p:nvPr/>
        </p:nvSpPr>
        <p:spPr>
          <a:xfrm>
            <a:off x="281940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Diseño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310032AA-C8C9-48D0-9562-8DF5049C8250}"/>
              </a:ext>
            </a:extLst>
          </p:cNvPr>
          <p:cNvSpPr>
            <a:spLocks noGrp="1"/>
          </p:cNvSpPr>
          <p:nvPr/>
        </p:nvSpPr>
        <p:spPr>
          <a:xfrm>
            <a:off x="281940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Catálogo y RACI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SLA/XLA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Modelo económico</a:t>
            </a:r>
          </a:p>
        </p:txBody>
      </p:sp>
      <p:sp>
        <p:nvSpPr>
          <p:cNvPr id="14" name="arrow">
            <a:extLst>
              <a:ext uri="{FF2B5EF4-FFF2-40B4-BE49-F238E27FC236}">
                <a16:creationId xmlns:a16="http://schemas.microsoft.com/office/drawing/2014/main" id="{44A596BA-ABF1-4687-BFC2-7E7E569FA281}"/>
              </a:ext>
            </a:extLst>
          </p:cNvPr>
          <p:cNvSpPr>
            <a:spLocks noGrp="1"/>
          </p:cNvSpPr>
          <p:nvPr/>
        </p:nvSpPr>
        <p:spPr>
          <a:xfrm>
            <a:off x="447675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15" name="phase">
            <a:extLst>
              <a:ext uri="{FF2B5EF4-FFF2-40B4-BE49-F238E27FC236}">
                <a16:creationId xmlns:a16="http://schemas.microsoft.com/office/drawing/2014/main" id="{95391E5E-9387-4B62-9FD4-E81FB2A8A4C0}"/>
              </a:ext>
            </a:extLst>
          </p:cNvPr>
          <p:cNvSpPr>
            <a:spLocks noGrp="1"/>
          </p:cNvSpPr>
          <p:nvPr/>
        </p:nvSpPr>
        <p:spPr>
          <a:xfrm>
            <a:off x="480060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" name="phase-head">
            <a:extLst>
              <a:ext uri="{FF2B5EF4-FFF2-40B4-BE49-F238E27FC236}">
                <a16:creationId xmlns:a16="http://schemas.microsoft.com/office/drawing/2014/main" id="{B4999CAE-7D4D-42BE-AE59-A8A5F85D0BDE}"/>
              </a:ext>
            </a:extLst>
          </p:cNvPr>
          <p:cNvSpPr>
            <a:spLocks noGrp="1"/>
          </p:cNvSpPr>
          <p:nvPr/>
        </p:nvSpPr>
        <p:spPr>
          <a:xfrm>
            <a:off x="480060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2B01D4A1-AF82-4997-86AE-423D4F53347E}"/>
              </a:ext>
            </a:extLst>
          </p:cNvPr>
          <p:cNvSpPr>
            <a:spLocks noGrp="1"/>
          </p:cNvSpPr>
          <p:nvPr/>
        </p:nvSpPr>
        <p:spPr>
          <a:xfrm>
            <a:off x="491490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61-90 días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0ED98DB5-A611-4F00-99B0-8179C97A87F8}"/>
              </a:ext>
            </a:extLst>
          </p:cNvPr>
          <p:cNvSpPr>
            <a:spLocks noGrp="1"/>
          </p:cNvSpPr>
          <p:nvPr/>
        </p:nvSpPr>
        <p:spPr>
          <a:xfrm>
            <a:off x="497205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Implementación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0DA6150A-A490-41F9-A5FF-851ABC78113D}"/>
              </a:ext>
            </a:extLst>
          </p:cNvPr>
          <p:cNvSpPr>
            <a:spLocks noGrp="1"/>
          </p:cNvSpPr>
          <p:nvPr/>
        </p:nvSpPr>
        <p:spPr>
          <a:xfrm>
            <a:off x="497205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Canales e ITSM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KEDB inicial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Dashboards</a:t>
            </a:r>
          </a:p>
        </p:txBody>
      </p:sp>
      <p:sp>
        <p:nvSpPr>
          <p:cNvPr id="20" name="arrow">
            <a:extLst>
              <a:ext uri="{FF2B5EF4-FFF2-40B4-BE49-F238E27FC236}">
                <a16:creationId xmlns:a16="http://schemas.microsoft.com/office/drawing/2014/main" id="{71CB4D22-B187-410E-ADD7-5AFCEF300116}"/>
              </a:ext>
            </a:extLst>
          </p:cNvPr>
          <p:cNvSpPr>
            <a:spLocks noGrp="1"/>
          </p:cNvSpPr>
          <p:nvPr/>
        </p:nvSpPr>
        <p:spPr>
          <a:xfrm>
            <a:off x="662940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21" name="phase">
            <a:extLst>
              <a:ext uri="{FF2B5EF4-FFF2-40B4-BE49-F238E27FC236}">
                <a16:creationId xmlns:a16="http://schemas.microsoft.com/office/drawing/2014/main" id="{45813248-0111-4170-ADD9-C08116624AB5}"/>
              </a:ext>
            </a:extLst>
          </p:cNvPr>
          <p:cNvSpPr>
            <a:spLocks noGrp="1"/>
          </p:cNvSpPr>
          <p:nvPr/>
        </p:nvSpPr>
        <p:spPr>
          <a:xfrm>
            <a:off x="695325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" name="phase-head">
            <a:extLst>
              <a:ext uri="{FF2B5EF4-FFF2-40B4-BE49-F238E27FC236}">
                <a16:creationId xmlns:a16="http://schemas.microsoft.com/office/drawing/2014/main" id="{ADAF4EA8-9D4F-40D3-8879-0048A008A093}"/>
              </a:ext>
            </a:extLst>
          </p:cNvPr>
          <p:cNvSpPr>
            <a:spLocks noGrp="1"/>
          </p:cNvSpPr>
          <p:nvPr/>
        </p:nvSpPr>
        <p:spPr>
          <a:xfrm>
            <a:off x="695325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998E00C3-AE28-4538-A557-E84727CEAFE7}"/>
              </a:ext>
            </a:extLst>
          </p:cNvPr>
          <p:cNvSpPr>
            <a:spLocks noGrp="1"/>
          </p:cNvSpPr>
          <p:nvPr/>
        </p:nvSpPr>
        <p:spPr>
          <a:xfrm>
            <a:off x="706755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90+ días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7CB10D38-3301-4DE9-9BD2-699239AEA614}"/>
              </a:ext>
            </a:extLst>
          </p:cNvPr>
          <p:cNvSpPr>
            <a:spLocks noGrp="1"/>
          </p:cNvSpPr>
          <p:nvPr/>
        </p:nvSpPr>
        <p:spPr>
          <a:xfrm>
            <a:off x="712470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Evolución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9AB128DA-CF83-44F3-87C9-F91E36C3167A}"/>
              </a:ext>
            </a:extLst>
          </p:cNvPr>
          <p:cNvSpPr>
            <a:spLocks noGrp="1"/>
          </p:cNvSpPr>
          <p:nvPr/>
        </p:nvSpPr>
        <p:spPr>
          <a:xfrm>
            <a:off x="712470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Agent assist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AIOps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Automatización y roadmap IA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6844F-A555-6B31-9B61-00147360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/>
              <a:t>Mesa de Servicio de Nueva Generación</a:t>
            </a:r>
            <a:endParaRPr lang="es-ES" b="0">
              <a:solidFill>
                <a:srgbClr val="000000"/>
              </a:solidFill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47F5800-07BA-9795-E2BC-5921D7FB5CCE}"/>
              </a:ext>
            </a:extLst>
          </p:cNvPr>
          <p:cNvSpPr/>
          <p:nvPr/>
        </p:nvSpPr>
        <p:spPr>
          <a:xfrm>
            <a:off x="363582" y="771797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s-CO" sz="110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Diagrama</a:t>
            </a:r>
            <a:r>
              <a:rPr lang="en-US" sz="1100" dirty="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 de alto </a:t>
            </a:r>
            <a:r>
              <a:rPr lang="es-CO" sz="1100">
                <a:solidFill>
                  <a:srgbClr val="AABBDD"/>
                </a:solidFill>
                <a:latin typeface="Reddit Sans"/>
                <a:ea typeface="Reddit Sans"/>
                <a:cs typeface="Calibri"/>
              </a:rPr>
              <a:t>nivel</a:t>
            </a:r>
          </a:p>
        </p:txBody>
      </p:sp>
      <p:sp>
        <p:nvSpPr>
          <p:cNvPr id="7" name="mhdr">
            <a:extLst>
              <a:ext uri="{FF2B5EF4-FFF2-40B4-BE49-F238E27FC236}">
                <a16:creationId xmlns:a16="http://schemas.microsoft.com/office/drawing/2014/main" id="{11FFC374-B16F-59FB-6D34-D1C4371D0054}"/>
              </a:ext>
            </a:extLst>
          </p:cNvPr>
          <p:cNvSpPr>
            <a:spLocks noGrp="1"/>
          </p:cNvSpPr>
          <p:nvPr/>
        </p:nvSpPr>
        <p:spPr>
          <a:xfrm>
            <a:off x="390797" y="1082040"/>
            <a:ext cx="7635240" cy="256032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9" name="mhdrtxt">
            <a:extLst>
              <a:ext uri="{FF2B5EF4-FFF2-40B4-BE49-F238E27FC236}">
                <a16:creationId xmlns:a16="http://schemas.microsoft.com/office/drawing/2014/main" id="{E8B306E9-A6BA-2DB8-93C3-5AEF32FBBDF6}"/>
              </a:ext>
            </a:extLst>
          </p:cNvPr>
          <p:cNvSpPr txBox="1">
            <a:spLocks noGrp="1"/>
          </p:cNvSpPr>
          <p:nvPr/>
        </p:nvSpPr>
        <p:spPr>
          <a:xfrm>
            <a:off x="483326" y="1076597"/>
            <a:ext cx="7646124" cy="29957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 dirty="0">
                <a:solidFill>
                  <a:srgbClr val="FFFFFF"/>
                </a:solidFill>
                <a:latin typeface="Reddit Sans"/>
                <a:ea typeface="Reddit Sans"/>
              </a:rPr>
              <a:t>SERVICIO BASE — MESA GEN NEXT (N0 → N3)</a:t>
            </a:r>
          </a:p>
        </p:txBody>
      </p:sp>
      <p:sp>
        <p:nvSpPr>
          <p:cNvPr id="11" name="sbg">
            <a:extLst>
              <a:ext uri="{FF2B5EF4-FFF2-40B4-BE49-F238E27FC236}">
                <a16:creationId xmlns:a16="http://schemas.microsoft.com/office/drawing/2014/main" id="{C44DD99C-240B-1B08-F9CE-4E32BEBE6592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0D1B5E"/>
            </a:solidFill>
          </a:ln>
        </p:spPr>
      </p:sp>
      <p:sp>
        <p:nvSpPr>
          <p:cNvPr id="13" name="shdr">
            <a:extLst>
              <a:ext uri="{FF2B5EF4-FFF2-40B4-BE49-F238E27FC236}">
                <a16:creationId xmlns:a16="http://schemas.microsoft.com/office/drawing/2014/main" id="{AE5B32E0-E760-2378-4666-12655DE5EE3F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15" name="shdr2">
            <a:extLst>
              <a:ext uri="{FF2B5EF4-FFF2-40B4-BE49-F238E27FC236}">
                <a16:creationId xmlns:a16="http://schemas.microsoft.com/office/drawing/2014/main" id="{2CECBD38-CACE-5FCE-38F2-7C53AF17EBFB}"/>
              </a:ext>
            </a:extLst>
          </p:cNvPr>
          <p:cNvSpPr>
            <a:spLocks noGrp="1"/>
          </p:cNvSpPr>
          <p:nvPr/>
        </p:nvSpPr>
        <p:spPr>
          <a:xfrm>
            <a:off x="390797" y="1603248"/>
            <a:ext cx="1828800" cy="12801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17" name="stit">
            <a:extLst>
              <a:ext uri="{FF2B5EF4-FFF2-40B4-BE49-F238E27FC236}">
                <a16:creationId xmlns:a16="http://schemas.microsoft.com/office/drawing/2014/main" id="{49D105DC-5C38-76CC-4C0F-0D5858B68B0D}"/>
              </a:ext>
            </a:extLst>
          </p:cNvPr>
          <p:cNvSpPr txBox="1">
            <a:spLocks noGrp="1"/>
          </p:cNvSpPr>
          <p:nvPr/>
        </p:nvSpPr>
        <p:spPr>
          <a:xfrm>
            <a:off x="390797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 dirty="0">
                <a:solidFill>
                  <a:srgbClr val="FFFFFF"/>
                </a:solidFill>
                <a:latin typeface="Reddit Sans"/>
                <a:ea typeface="Reddit Sans"/>
              </a:rPr>
              <a:t>Equipo
Dedicado</a:t>
            </a:r>
          </a:p>
        </p:txBody>
      </p:sp>
      <p:sp>
        <p:nvSpPr>
          <p:cNvPr id="19" name="sdesc">
            <a:extLst>
              <a:ext uri="{FF2B5EF4-FFF2-40B4-BE49-F238E27FC236}">
                <a16:creationId xmlns:a16="http://schemas.microsoft.com/office/drawing/2014/main" id="{28BDE801-04BB-5BFF-836A-6523F051F930}"/>
              </a:ext>
            </a:extLst>
          </p:cNvPr>
          <p:cNvSpPr txBox="1">
            <a:spLocks noGrp="1"/>
          </p:cNvSpPr>
          <p:nvPr/>
        </p:nvSpPr>
        <p:spPr>
          <a:xfrm>
            <a:off x="482237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 dirty="0">
                <a:solidFill>
                  <a:srgbClr val="0D1B5E"/>
                </a:solidFill>
                <a:latin typeface="Reddit Sans"/>
                <a:ea typeface="Reddit Sans"/>
              </a:rPr>
              <a:t>FTE asignado · Alta personalización · SLA exclusivo</a:t>
            </a:r>
          </a:p>
        </p:txBody>
      </p:sp>
      <p:sp>
        <p:nvSpPr>
          <p:cNvPr id="21" name="sbg">
            <a:extLst>
              <a:ext uri="{FF2B5EF4-FFF2-40B4-BE49-F238E27FC236}">
                <a16:creationId xmlns:a16="http://schemas.microsoft.com/office/drawing/2014/main" id="{9CA6DAA6-8B0C-C124-D8EA-7328366DCE04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A3A8F"/>
            </a:solidFill>
          </a:ln>
        </p:spPr>
      </p:sp>
      <p:sp>
        <p:nvSpPr>
          <p:cNvPr id="23" name="shdr">
            <a:extLst>
              <a:ext uri="{FF2B5EF4-FFF2-40B4-BE49-F238E27FC236}">
                <a16:creationId xmlns:a16="http://schemas.microsoft.com/office/drawing/2014/main" id="{54F719CD-A4DF-D419-B236-37B6CE8914EC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25" name="shdr2">
            <a:extLst>
              <a:ext uri="{FF2B5EF4-FFF2-40B4-BE49-F238E27FC236}">
                <a16:creationId xmlns:a16="http://schemas.microsoft.com/office/drawing/2014/main" id="{BC159D2D-CFA0-E144-AAF8-0161088D0F34}"/>
              </a:ext>
            </a:extLst>
          </p:cNvPr>
          <p:cNvSpPr>
            <a:spLocks noGrp="1"/>
          </p:cNvSpPr>
          <p:nvPr/>
        </p:nvSpPr>
        <p:spPr>
          <a:xfrm>
            <a:off x="2329325" y="1603248"/>
            <a:ext cx="1828800" cy="12801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7" name="stit">
            <a:extLst>
              <a:ext uri="{FF2B5EF4-FFF2-40B4-BE49-F238E27FC236}">
                <a16:creationId xmlns:a16="http://schemas.microsoft.com/office/drawing/2014/main" id="{E59CA6A9-BE15-A199-802E-0AF021417E97}"/>
              </a:ext>
            </a:extLst>
          </p:cNvPr>
          <p:cNvSpPr txBox="1">
            <a:spLocks noGrp="1"/>
          </p:cNvSpPr>
          <p:nvPr/>
        </p:nvSpPr>
        <p:spPr>
          <a:xfrm>
            <a:off x="2329325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 dirty="0">
                <a:solidFill>
                  <a:srgbClr val="FFFFFF"/>
                </a:solidFill>
                <a:latin typeface="Reddit Sans"/>
                <a:ea typeface="Reddit Sans"/>
              </a:rPr>
              <a:t>Soporte
Compartido</a:t>
            </a:r>
          </a:p>
        </p:txBody>
      </p:sp>
      <p:sp>
        <p:nvSpPr>
          <p:cNvPr id="29" name="sdesc">
            <a:extLst>
              <a:ext uri="{FF2B5EF4-FFF2-40B4-BE49-F238E27FC236}">
                <a16:creationId xmlns:a16="http://schemas.microsoft.com/office/drawing/2014/main" id="{1491757A-584A-A238-1186-CDF1B734CE39}"/>
              </a:ext>
            </a:extLst>
          </p:cNvPr>
          <p:cNvSpPr txBox="1">
            <a:spLocks noGrp="1"/>
          </p:cNvSpPr>
          <p:nvPr/>
        </p:nvSpPr>
        <p:spPr>
          <a:xfrm>
            <a:off x="2420765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 dirty="0">
                <a:solidFill>
                  <a:srgbClr val="1A3A8F"/>
                </a:solidFill>
                <a:latin typeface="Reddit Sans"/>
                <a:ea typeface="Reddit Sans"/>
              </a:rPr>
              <a:t>Pool de talento · Eficiencia de costo · SLA compartido</a:t>
            </a:r>
          </a:p>
        </p:txBody>
      </p:sp>
      <p:sp>
        <p:nvSpPr>
          <p:cNvPr id="31" name="sbg">
            <a:extLst>
              <a:ext uri="{FF2B5EF4-FFF2-40B4-BE49-F238E27FC236}">
                <a16:creationId xmlns:a16="http://schemas.microsoft.com/office/drawing/2014/main" id="{C4BA225E-1A22-C02C-DE7D-3421B34E5A15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B7B85"/>
            </a:solidFill>
          </a:ln>
        </p:spPr>
      </p:sp>
      <p:sp>
        <p:nvSpPr>
          <p:cNvPr id="33" name="shdr">
            <a:extLst>
              <a:ext uri="{FF2B5EF4-FFF2-40B4-BE49-F238E27FC236}">
                <a16:creationId xmlns:a16="http://schemas.microsoft.com/office/drawing/2014/main" id="{07BDBE75-C4AC-E170-302A-554E6CB70632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35" name="shdr2">
            <a:extLst>
              <a:ext uri="{FF2B5EF4-FFF2-40B4-BE49-F238E27FC236}">
                <a16:creationId xmlns:a16="http://schemas.microsoft.com/office/drawing/2014/main" id="{4878AC91-4738-A86E-2078-62334CA94310}"/>
              </a:ext>
            </a:extLst>
          </p:cNvPr>
          <p:cNvSpPr>
            <a:spLocks noGrp="1"/>
          </p:cNvSpPr>
          <p:nvPr/>
        </p:nvSpPr>
        <p:spPr>
          <a:xfrm>
            <a:off x="4267853" y="1603248"/>
            <a:ext cx="1828800" cy="128016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37" name="stit">
            <a:extLst>
              <a:ext uri="{FF2B5EF4-FFF2-40B4-BE49-F238E27FC236}">
                <a16:creationId xmlns:a16="http://schemas.microsoft.com/office/drawing/2014/main" id="{DAA1AAFA-7AF2-47E9-8E25-D725E4738EB9}"/>
              </a:ext>
            </a:extLst>
          </p:cNvPr>
          <p:cNvSpPr txBox="1">
            <a:spLocks noGrp="1"/>
          </p:cNvSpPr>
          <p:nvPr/>
        </p:nvSpPr>
        <p:spPr>
          <a:xfrm>
            <a:off x="4267853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 dirty="0">
                <a:solidFill>
                  <a:srgbClr val="FFFFFF"/>
                </a:solidFill>
                <a:latin typeface="Reddit Sans"/>
                <a:ea typeface="Reddit Sans"/>
              </a:rPr>
              <a:t>Express
Alfa</a:t>
            </a:r>
          </a:p>
        </p:txBody>
      </p:sp>
      <p:sp>
        <p:nvSpPr>
          <p:cNvPr id="39" name="sdesc">
            <a:extLst>
              <a:ext uri="{FF2B5EF4-FFF2-40B4-BE49-F238E27FC236}">
                <a16:creationId xmlns:a16="http://schemas.microsoft.com/office/drawing/2014/main" id="{652DDA70-568E-CC80-87A1-30765CB9F851}"/>
              </a:ext>
            </a:extLst>
          </p:cNvPr>
          <p:cNvSpPr txBox="1">
            <a:spLocks noGrp="1"/>
          </p:cNvSpPr>
          <p:nvPr/>
        </p:nvSpPr>
        <p:spPr>
          <a:xfrm>
            <a:off x="4359293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 dirty="0">
                <a:solidFill>
                  <a:srgbClr val="1B7B85"/>
                </a:solidFill>
                <a:latin typeface="Reddit Sans"/>
                <a:ea typeface="Reddit Sans"/>
              </a:rPr>
              <a:t>Requerimientos simples · Pay-per-use · Onboarding rápido</a:t>
            </a:r>
          </a:p>
        </p:txBody>
      </p:sp>
      <p:sp>
        <p:nvSpPr>
          <p:cNvPr id="41" name="sbg">
            <a:extLst>
              <a:ext uri="{FF2B5EF4-FFF2-40B4-BE49-F238E27FC236}">
                <a16:creationId xmlns:a16="http://schemas.microsoft.com/office/drawing/2014/main" id="{BE437EB3-9E25-2FF6-9180-360B01D01B67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F6FBA"/>
            </a:solidFill>
          </a:ln>
        </p:spPr>
      </p:sp>
      <p:sp>
        <p:nvSpPr>
          <p:cNvPr id="43" name="shdr">
            <a:extLst>
              <a:ext uri="{FF2B5EF4-FFF2-40B4-BE49-F238E27FC236}">
                <a16:creationId xmlns:a16="http://schemas.microsoft.com/office/drawing/2014/main" id="{962B9A80-BE13-9A56-6893-9E8A3D0A2148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45" name="shdr2">
            <a:extLst>
              <a:ext uri="{FF2B5EF4-FFF2-40B4-BE49-F238E27FC236}">
                <a16:creationId xmlns:a16="http://schemas.microsoft.com/office/drawing/2014/main" id="{B895B166-10F9-1DE0-4412-D55A95B644AA}"/>
              </a:ext>
            </a:extLst>
          </p:cNvPr>
          <p:cNvSpPr>
            <a:spLocks noGrp="1"/>
          </p:cNvSpPr>
          <p:nvPr/>
        </p:nvSpPr>
        <p:spPr>
          <a:xfrm>
            <a:off x="6206381" y="1603248"/>
            <a:ext cx="1828800" cy="128016"/>
          </a:xfrm>
          <a:prstGeom prst="rect">
            <a:avLst/>
          </a:prstGeom>
          <a:solidFill>
            <a:srgbClr val="1F6FBA"/>
          </a:solidFill>
          <a:ln>
            <a:noFill/>
          </a:ln>
        </p:spPr>
      </p:sp>
      <p:sp>
        <p:nvSpPr>
          <p:cNvPr id="47" name="stit">
            <a:extLst>
              <a:ext uri="{FF2B5EF4-FFF2-40B4-BE49-F238E27FC236}">
                <a16:creationId xmlns:a16="http://schemas.microsoft.com/office/drawing/2014/main" id="{87F21207-F57A-5468-82A3-9C6BCFC74050}"/>
              </a:ext>
            </a:extLst>
          </p:cNvPr>
          <p:cNvSpPr txBox="1">
            <a:spLocks noGrp="1"/>
          </p:cNvSpPr>
          <p:nvPr/>
        </p:nvSpPr>
        <p:spPr>
          <a:xfrm>
            <a:off x="6206381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 dirty="0">
                <a:solidFill>
                  <a:srgbClr val="FFFFFF"/>
                </a:solidFill>
                <a:latin typeface="Reddit Sans"/>
                <a:ea typeface="Reddit Sans"/>
              </a:rPr>
              <a:t>Full
Gen Next</a:t>
            </a:r>
          </a:p>
        </p:txBody>
      </p:sp>
      <p:sp>
        <p:nvSpPr>
          <p:cNvPr id="49" name="sdesc">
            <a:extLst>
              <a:ext uri="{FF2B5EF4-FFF2-40B4-BE49-F238E27FC236}">
                <a16:creationId xmlns:a16="http://schemas.microsoft.com/office/drawing/2014/main" id="{EB3D0BBD-4C9C-3634-B269-2CB6FD54AA5B}"/>
              </a:ext>
            </a:extLst>
          </p:cNvPr>
          <p:cNvSpPr txBox="1">
            <a:spLocks noGrp="1"/>
          </p:cNvSpPr>
          <p:nvPr/>
        </p:nvSpPr>
        <p:spPr>
          <a:xfrm>
            <a:off x="6297821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 dirty="0">
                <a:solidFill>
                  <a:srgbClr val="1F6FBA"/>
                </a:solidFill>
                <a:latin typeface="Reddit Sans"/>
                <a:ea typeface="Reddit Sans"/>
              </a:rPr>
              <a:t>N0+N1+N2+N3+IA · AIOps · KCS · Outcome-based · Premium</a:t>
            </a:r>
          </a:p>
        </p:txBody>
      </p:sp>
      <p:sp>
        <p:nvSpPr>
          <p:cNvPr id="51" name="chdr">
            <a:extLst>
              <a:ext uri="{FF2B5EF4-FFF2-40B4-BE49-F238E27FC236}">
                <a16:creationId xmlns:a16="http://schemas.microsoft.com/office/drawing/2014/main" id="{5091B0D8-ED97-13D1-E770-C5FA2A1C2B55}"/>
              </a:ext>
            </a:extLst>
          </p:cNvPr>
          <p:cNvSpPr>
            <a:spLocks noGrp="1"/>
          </p:cNvSpPr>
          <p:nvPr/>
        </p:nvSpPr>
        <p:spPr>
          <a:xfrm>
            <a:off x="390797" y="2334768"/>
            <a:ext cx="763524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53" name="chtxt">
            <a:extLst>
              <a:ext uri="{FF2B5EF4-FFF2-40B4-BE49-F238E27FC236}">
                <a16:creationId xmlns:a16="http://schemas.microsoft.com/office/drawing/2014/main" id="{07489D35-C59A-C742-13E9-25ABA3A50B3C}"/>
              </a:ext>
            </a:extLst>
          </p:cNvPr>
          <p:cNvSpPr txBox="1">
            <a:spLocks noGrp="1"/>
          </p:cNvSpPr>
          <p:nvPr/>
        </p:nvSpPr>
        <p:spPr>
          <a:xfrm>
            <a:off x="543197" y="2334768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 dirty="0">
                <a:solidFill>
                  <a:srgbClr val="FFFFFF"/>
                </a:solidFill>
                <a:latin typeface="Reddit Sans"/>
                <a:ea typeface="Reddit Sans"/>
              </a:rPr>
              <a:t>PORTAFOLIO COMPLEMENTARIO — Servicios adicionales que aceleran la madurez</a:t>
            </a:r>
          </a:p>
        </p:txBody>
      </p:sp>
      <p:sp>
        <p:nvSpPr>
          <p:cNvPr id="55" name="cbg">
            <a:extLst>
              <a:ext uri="{FF2B5EF4-FFF2-40B4-BE49-F238E27FC236}">
                <a16:creationId xmlns:a16="http://schemas.microsoft.com/office/drawing/2014/main" id="{0E9CCE97-C1CA-E0FD-AF5B-22D246342B1A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6B3C"/>
            </a:solidFill>
          </a:ln>
        </p:spPr>
      </p:sp>
      <p:sp>
        <p:nvSpPr>
          <p:cNvPr id="57" name="cbar">
            <a:extLst>
              <a:ext uri="{FF2B5EF4-FFF2-40B4-BE49-F238E27FC236}">
                <a16:creationId xmlns:a16="http://schemas.microsoft.com/office/drawing/2014/main" id="{ED7B8A9A-718F-FF96-90EC-23333ED3D8C9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2A6B3C"/>
          </a:solidFill>
          <a:ln>
            <a:noFill/>
          </a:ln>
        </p:spPr>
      </p:sp>
      <p:sp>
        <p:nvSpPr>
          <p:cNvPr id="59" name="ctxt">
            <a:extLst>
              <a:ext uri="{FF2B5EF4-FFF2-40B4-BE49-F238E27FC236}">
                <a16:creationId xmlns:a16="http://schemas.microsoft.com/office/drawing/2014/main" id="{F0FD1526-604A-0D10-B5BD-37983CE757E7}"/>
              </a:ext>
            </a:extLst>
          </p:cNvPr>
          <p:cNvSpPr txBox="1">
            <a:spLocks noGrp="1"/>
          </p:cNvSpPr>
          <p:nvPr/>
        </p:nvSpPr>
        <p:spPr>
          <a:xfrm>
            <a:off x="53710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 dirty="0">
                <a:solidFill>
                  <a:srgbClr val="2A6B3C"/>
                </a:solidFill>
                <a:latin typeface="Reddit Sans"/>
                <a:ea typeface="Reddit Sans"/>
              </a:rPr>
              <a:t>Modernización de Aplicaciones</a:t>
            </a:r>
          </a:p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Migración · Refactor · Cloud Native</a:t>
            </a:r>
          </a:p>
        </p:txBody>
      </p:sp>
      <p:sp>
        <p:nvSpPr>
          <p:cNvPr id="61" name="cbg">
            <a:extLst>
              <a:ext uri="{FF2B5EF4-FFF2-40B4-BE49-F238E27FC236}">
                <a16:creationId xmlns:a16="http://schemas.microsoft.com/office/drawing/2014/main" id="{EE8298DB-83E8-A248-54E5-EE36C38A273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7B85"/>
            </a:solidFill>
          </a:ln>
        </p:spPr>
      </p:sp>
      <p:sp>
        <p:nvSpPr>
          <p:cNvPr id="63" name="cbar">
            <a:extLst>
              <a:ext uri="{FF2B5EF4-FFF2-40B4-BE49-F238E27FC236}">
                <a16:creationId xmlns:a16="http://schemas.microsoft.com/office/drawing/2014/main" id="{187AA5B3-2EC3-D3E9-0138-4C6EC3F106D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65" name="ctxt">
            <a:extLst>
              <a:ext uri="{FF2B5EF4-FFF2-40B4-BE49-F238E27FC236}">
                <a16:creationId xmlns:a16="http://schemas.microsoft.com/office/drawing/2014/main" id="{99680DFF-1577-1923-FF6C-040DCAFAC68E}"/>
              </a:ext>
            </a:extLst>
          </p:cNvPr>
          <p:cNvSpPr txBox="1">
            <a:spLocks noGrp="1"/>
          </p:cNvSpPr>
          <p:nvPr/>
        </p:nvSpPr>
        <p:spPr>
          <a:xfrm>
            <a:off x="309742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 dirty="0">
                <a:solidFill>
                  <a:srgbClr val="1B7B85"/>
                </a:solidFill>
                <a:latin typeface="Reddit Sans"/>
                <a:ea typeface="Reddit Sans"/>
              </a:rPr>
              <a:t>Observabilidad / AIOps</a:t>
            </a:r>
          </a:p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Dynatrace · Datadog · Nexthink</a:t>
            </a:r>
          </a:p>
        </p:txBody>
      </p:sp>
      <p:sp>
        <p:nvSpPr>
          <p:cNvPr id="67" name="cbg">
            <a:extLst>
              <a:ext uri="{FF2B5EF4-FFF2-40B4-BE49-F238E27FC236}">
                <a16:creationId xmlns:a16="http://schemas.microsoft.com/office/drawing/2014/main" id="{FEC17A7C-D0B7-C028-630D-2C21113A0870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</p:spPr>
      </p:sp>
      <p:sp>
        <p:nvSpPr>
          <p:cNvPr id="69" name="cbar">
            <a:extLst>
              <a:ext uri="{FF2B5EF4-FFF2-40B4-BE49-F238E27FC236}">
                <a16:creationId xmlns:a16="http://schemas.microsoft.com/office/drawing/2014/main" id="{8E1BE8F2-C05A-0F6C-F97F-028D61638718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</p:spPr>
      </p:sp>
      <p:sp>
        <p:nvSpPr>
          <p:cNvPr id="71" name="ctxt">
            <a:extLst>
              <a:ext uri="{FF2B5EF4-FFF2-40B4-BE49-F238E27FC236}">
                <a16:creationId xmlns:a16="http://schemas.microsoft.com/office/drawing/2014/main" id="{67778E89-95AC-6B13-A94F-4FFE117862C0}"/>
              </a:ext>
            </a:extLst>
          </p:cNvPr>
          <p:cNvSpPr txBox="1">
            <a:spLocks noGrp="1"/>
          </p:cNvSpPr>
          <p:nvPr/>
        </p:nvSpPr>
        <p:spPr>
          <a:xfrm>
            <a:off x="565774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 dirty="0">
                <a:solidFill>
                  <a:srgbClr val="C00000"/>
                </a:solidFill>
                <a:latin typeface="Reddit Sans"/>
                <a:ea typeface="Reddit Sans"/>
              </a:rPr>
              <a:t>Seguridad Aplicativa</a:t>
            </a:r>
          </a:p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SAST · DAST · ISO 27001</a:t>
            </a:r>
          </a:p>
        </p:txBody>
      </p:sp>
      <p:sp>
        <p:nvSpPr>
          <p:cNvPr id="73" name="cbg">
            <a:extLst>
              <a:ext uri="{FF2B5EF4-FFF2-40B4-BE49-F238E27FC236}">
                <a16:creationId xmlns:a16="http://schemas.microsoft.com/office/drawing/2014/main" id="{C51E67D2-47E7-16DE-DA55-96EAB9504536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6FBA"/>
            </a:solidFill>
          </a:ln>
        </p:spPr>
      </p:sp>
      <p:sp>
        <p:nvSpPr>
          <p:cNvPr id="75" name="cbar">
            <a:extLst>
              <a:ext uri="{FF2B5EF4-FFF2-40B4-BE49-F238E27FC236}">
                <a16:creationId xmlns:a16="http://schemas.microsoft.com/office/drawing/2014/main" id="{4588DD0A-A0AF-3B6D-157C-82FFC4ABFAD4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77" name="ctxt">
            <a:extLst>
              <a:ext uri="{FF2B5EF4-FFF2-40B4-BE49-F238E27FC236}">
                <a16:creationId xmlns:a16="http://schemas.microsoft.com/office/drawing/2014/main" id="{2E58338A-CEC1-CCD6-65E0-2F74435D0AA7}"/>
              </a:ext>
            </a:extLst>
          </p:cNvPr>
          <p:cNvSpPr txBox="1">
            <a:spLocks noGrp="1"/>
          </p:cNvSpPr>
          <p:nvPr/>
        </p:nvSpPr>
        <p:spPr>
          <a:xfrm>
            <a:off x="53710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 dirty="0">
                <a:solidFill>
                  <a:srgbClr val="1F6FBA"/>
                </a:solidFill>
                <a:latin typeface="Reddit Sans"/>
                <a:ea typeface="Reddit Sans"/>
              </a:rPr>
              <a:t>Automatización y DevOps</a:t>
            </a:r>
          </a:p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CI/CD · IaC · Runbooks auto</a:t>
            </a:r>
          </a:p>
        </p:txBody>
      </p:sp>
      <p:sp>
        <p:nvSpPr>
          <p:cNvPr id="79" name="cbg">
            <a:extLst>
              <a:ext uri="{FF2B5EF4-FFF2-40B4-BE49-F238E27FC236}">
                <a16:creationId xmlns:a16="http://schemas.microsoft.com/office/drawing/2014/main" id="{9A1E43E9-7584-405F-03C9-BA4ADCFF4815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</p:spPr>
      </p:sp>
      <p:sp>
        <p:nvSpPr>
          <p:cNvPr id="81" name="cbar">
            <a:extLst>
              <a:ext uri="{FF2B5EF4-FFF2-40B4-BE49-F238E27FC236}">
                <a16:creationId xmlns:a16="http://schemas.microsoft.com/office/drawing/2014/main" id="{089AA222-1275-CB54-D96D-350FE11258CE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>
            <a:noFill/>
          </a:ln>
        </p:spPr>
      </p:sp>
      <p:sp>
        <p:nvSpPr>
          <p:cNvPr id="83" name="ctxt">
            <a:extLst>
              <a:ext uri="{FF2B5EF4-FFF2-40B4-BE49-F238E27FC236}">
                <a16:creationId xmlns:a16="http://schemas.microsoft.com/office/drawing/2014/main" id="{BA2DB184-CFE5-BAA5-60D5-59747B6E3FE4}"/>
              </a:ext>
            </a:extLst>
          </p:cNvPr>
          <p:cNvSpPr txBox="1">
            <a:spLocks noGrp="1"/>
          </p:cNvSpPr>
          <p:nvPr/>
        </p:nvSpPr>
        <p:spPr>
          <a:xfrm>
            <a:off x="309742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 dirty="0">
                <a:solidFill>
                  <a:srgbClr val="6B7280"/>
                </a:solidFill>
                <a:latin typeface="Reddit Sans"/>
                <a:ea typeface="Reddit Sans"/>
              </a:rPr>
              <a:t>Performance Engineering</a:t>
            </a:r>
          </a:p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Pruebas de carga · Tuning</a:t>
            </a:r>
          </a:p>
        </p:txBody>
      </p:sp>
      <p:sp>
        <p:nvSpPr>
          <p:cNvPr id="85" name="cbg">
            <a:extLst>
              <a:ext uri="{FF2B5EF4-FFF2-40B4-BE49-F238E27FC236}">
                <a16:creationId xmlns:a16="http://schemas.microsoft.com/office/drawing/2014/main" id="{780333AF-C260-0118-972B-193A5983CE78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1B5E"/>
            </a:solidFill>
          </a:ln>
        </p:spPr>
      </p:sp>
      <p:sp>
        <p:nvSpPr>
          <p:cNvPr id="87" name="cbar">
            <a:extLst>
              <a:ext uri="{FF2B5EF4-FFF2-40B4-BE49-F238E27FC236}">
                <a16:creationId xmlns:a16="http://schemas.microsoft.com/office/drawing/2014/main" id="{660B996E-663C-E661-FCDC-7F9409B2D935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89" name="ctxt">
            <a:extLst>
              <a:ext uri="{FF2B5EF4-FFF2-40B4-BE49-F238E27FC236}">
                <a16:creationId xmlns:a16="http://schemas.microsoft.com/office/drawing/2014/main" id="{C1106803-684A-5ACB-5134-7C919CD006F2}"/>
              </a:ext>
            </a:extLst>
          </p:cNvPr>
          <p:cNvSpPr txBox="1">
            <a:spLocks noGrp="1"/>
          </p:cNvSpPr>
          <p:nvPr/>
        </p:nvSpPr>
        <p:spPr>
          <a:xfrm>
            <a:off x="565774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 dirty="0">
                <a:solidFill>
                  <a:srgbClr val="0D1B5E"/>
                </a:solidFill>
                <a:latin typeface="Reddit Sans"/>
                <a:ea typeface="Reddit Sans"/>
              </a:rPr>
              <a:t>Gobierno de Datos e IA</a:t>
            </a:r>
          </a:p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ISO 42001 · MLOps · Compliance</a:t>
            </a:r>
          </a:p>
        </p:txBody>
      </p:sp>
      <p:sp>
        <p:nvSpPr>
          <p:cNvPr id="91" name="phdr">
            <a:extLst>
              <a:ext uri="{FF2B5EF4-FFF2-40B4-BE49-F238E27FC236}">
                <a16:creationId xmlns:a16="http://schemas.microsoft.com/office/drawing/2014/main" id="{764760E5-CE0E-2CE1-674E-C73A5EEADC0C}"/>
              </a:ext>
            </a:extLst>
          </p:cNvPr>
          <p:cNvSpPr>
            <a:spLocks noGrp="1"/>
          </p:cNvSpPr>
          <p:nvPr/>
        </p:nvSpPr>
        <p:spPr>
          <a:xfrm>
            <a:off x="390797" y="3651504"/>
            <a:ext cx="7635240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93" name="phdrtxt">
            <a:extLst>
              <a:ext uri="{FF2B5EF4-FFF2-40B4-BE49-F238E27FC236}">
                <a16:creationId xmlns:a16="http://schemas.microsoft.com/office/drawing/2014/main" id="{27599C63-912F-E15A-758A-F51625AC30B4}"/>
              </a:ext>
            </a:extLst>
          </p:cNvPr>
          <p:cNvSpPr txBox="1">
            <a:spLocks noGrp="1"/>
          </p:cNvSpPr>
          <p:nvPr/>
        </p:nvSpPr>
        <p:spPr>
          <a:xfrm>
            <a:off x="537754" y="3651504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 dirty="0">
                <a:solidFill>
                  <a:srgbClr val="FFFFFF"/>
                </a:solidFill>
                <a:latin typeface="Reddit Sans"/>
                <a:ea typeface="Reddit Sans"/>
              </a:rPr>
              <a:t>EVOLUCIÓN DEL MODELO DE PRECIO — De esfuerzo a resultados medibles</a:t>
            </a:r>
          </a:p>
        </p:txBody>
      </p:sp>
      <p:sp>
        <p:nvSpPr>
          <p:cNvPr id="95" name="pbg">
            <a:extLst>
              <a:ext uri="{FF2B5EF4-FFF2-40B4-BE49-F238E27FC236}">
                <a16:creationId xmlns:a16="http://schemas.microsoft.com/office/drawing/2014/main" id="{B0C9F68A-A12F-BA1B-19E8-26B09B03920A}"/>
              </a:ext>
            </a:extLst>
          </p:cNvPr>
          <p:cNvSpPr>
            <a:spLocks noGrp="1"/>
          </p:cNvSpPr>
          <p:nvPr/>
        </p:nvSpPr>
        <p:spPr>
          <a:xfrm>
            <a:off x="390797" y="3980687"/>
            <a:ext cx="1828800" cy="566928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6B7280"/>
            </a:solidFill>
          </a:ln>
        </p:spPr>
      </p:sp>
      <p:sp>
        <p:nvSpPr>
          <p:cNvPr id="97" name="ptit">
            <a:extLst>
              <a:ext uri="{FF2B5EF4-FFF2-40B4-BE49-F238E27FC236}">
                <a16:creationId xmlns:a16="http://schemas.microsoft.com/office/drawing/2014/main" id="{81E9F2E0-4E98-8BED-0CA2-2397254D88C3}"/>
              </a:ext>
            </a:extLst>
          </p:cNvPr>
          <p:cNvSpPr txBox="1">
            <a:spLocks noGrp="1"/>
          </p:cNvSpPr>
          <p:nvPr/>
        </p:nvSpPr>
        <p:spPr>
          <a:xfrm>
            <a:off x="482237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 dirty="0">
                <a:solidFill>
                  <a:srgbClr val="6B7280"/>
                </a:solidFill>
                <a:latin typeface="Reddit Sans"/>
                <a:ea typeface="Reddit Sans"/>
              </a:rPr>
              <a:t>Por FTE</a:t>
            </a:r>
          </a:p>
        </p:txBody>
      </p:sp>
      <p:sp>
        <p:nvSpPr>
          <p:cNvPr id="99" name="pdesc">
            <a:extLst>
              <a:ext uri="{FF2B5EF4-FFF2-40B4-BE49-F238E27FC236}">
                <a16:creationId xmlns:a16="http://schemas.microsoft.com/office/drawing/2014/main" id="{8E485CBA-2577-8E5D-4733-7FB9993CF0B0}"/>
              </a:ext>
            </a:extLst>
          </p:cNvPr>
          <p:cNvSpPr txBox="1">
            <a:spLocks noGrp="1"/>
          </p:cNvSpPr>
          <p:nvPr/>
        </p:nvSpPr>
        <p:spPr>
          <a:xfrm>
            <a:off x="482237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Precio fijo por persona
Riesgo PS alto · Predecible</a:t>
            </a:r>
          </a:p>
        </p:txBody>
      </p:sp>
      <p:sp>
        <p:nvSpPr>
          <p:cNvPr id="101" name="arr">
            <a:extLst>
              <a:ext uri="{FF2B5EF4-FFF2-40B4-BE49-F238E27FC236}">
                <a16:creationId xmlns:a16="http://schemas.microsoft.com/office/drawing/2014/main" id="{907466AB-23EB-CFB0-7023-D1A3492A4162}"/>
              </a:ext>
            </a:extLst>
          </p:cNvPr>
          <p:cNvSpPr txBox="1">
            <a:spLocks noGrp="1"/>
          </p:cNvSpPr>
          <p:nvPr/>
        </p:nvSpPr>
        <p:spPr>
          <a:xfrm>
            <a:off x="2219597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03" name="pbg">
            <a:extLst>
              <a:ext uri="{FF2B5EF4-FFF2-40B4-BE49-F238E27FC236}">
                <a16:creationId xmlns:a16="http://schemas.microsoft.com/office/drawing/2014/main" id="{8D8DC231-13A5-09D4-4815-F97BDF8D3BD4}"/>
              </a:ext>
            </a:extLst>
          </p:cNvPr>
          <p:cNvSpPr>
            <a:spLocks noGrp="1"/>
          </p:cNvSpPr>
          <p:nvPr/>
        </p:nvSpPr>
        <p:spPr>
          <a:xfrm>
            <a:off x="2329325" y="3980687"/>
            <a:ext cx="1828800" cy="566928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B7B85"/>
            </a:solidFill>
          </a:ln>
        </p:spPr>
      </p:sp>
      <p:sp>
        <p:nvSpPr>
          <p:cNvPr id="105" name="ptit">
            <a:extLst>
              <a:ext uri="{FF2B5EF4-FFF2-40B4-BE49-F238E27FC236}">
                <a16:creationId xmlns:a16="http://schemas.microsoft.com/office/drawing/2014/main" id="{2F78AB25-46C7-9F91-DD9F-06AD2E6E0C06}"/>
              </a:ext>
            </a:extLst>
          </p:cNvPr>
          <p:cNvSpPr txBox="1">
            <a:spLocks noGrp="1"/>
          </p:cNvSpPr>
          <p:nvPr/>
        </p:nvSpPr>
        <p:spPr>
          <a:xfrm>
            <a:off x="2420765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 dirty="0">
                <a:solidFill>
                  <a:srgbClr val="1B7B85"/>
                </a:solidFill>
                <a:latin typeface="Reddit Sans"/>
                <a:ea typeface="Reddit Sans"/>
              </a:rPr>
              <a:t>Por Ticket</a:t>
            </a:r>
          </a:p>
        </p:txBody>
      </p:sp>
      <p:sp>
        <p:nvSpPr>
          <p:cNvPr id="107" name="pdesc">
            <a:extLst>
              <a:ext uri="{FF2B5EF4-FFF2-40B4-BE49-F238E27FC236}">
                <a16:creationId xmlns:a16="http://schemas.microsoft.com/office/drawing/2014/main" id="{B430BFD1-A4DE-F76C-3E85-EDF2EB780505}"/>
              </a:ext>
            </a:extLst>
          </p:cNvPr>
          <p:cNvSpPr txBox="1">
            <a:spLocks noGrp="1"/>
          </p:cNvSpPr>
          <p:nvPr/>
        </p:nvSpPr>
        <p:spPr>
          <a:xfrm>
            <a:off x="2420765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Pay-per-use · Alineado a volumen
Shift-Left incentivado</a:t>
            </a:r>
          </a:p>
        </p:txBody>
      </p:sp>
      <p:sp>
        <p:nvSpPr>
          <p:cNvPr id="109" name="arr">
            <a:extLst>
              <a:ext uri="{FF2B5EF4-FFF2-40B4-BE49-F238E27FC236}">
                <a16:creationId xmlns:a16="http://schemas.microsoft.com/office/drawing/2014/main" id="{58841477-9DA9-3628-BC1C-940F15E2EAE7}"/>
              </a:ext>
            </a:extLst>
          </p:cNvPr>
          <p:cNvSpPr txBox="1">
            <a:spLocks noGrp="1"/>
          </p:cNvSpPr>
          <p:nvPr/>
        </p:nvSpPr>
        <p:spPr>
          <a:xfrm>
            <a:off x="4158125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1" name="pbg">
            <a:extLst>
              <a:ext uri="{FF2B5EF4-FFF2-40B4-BE49-F238E27FC236}">
                <a16:creationId xmlns:a16="http://schemas.microsoft.com/office/drawing/2014/main" id="{21B47E69-A02F-AD84-5AF5-FEEA7BCF43CC}"/>
              </a:ext>
            </a:extLst>
          </p:cNvPr>
          <p:cNvSpPr>
            <a:spLocks noGrp="1"/>
          </p:cNvSpPr>
          <p:nvPr/>
        </p:nvSpPr>
        <p:spPr>
          <a:xfrm>
            <a:off x="4267853" y="3980687"/>
            <a:ext cx="1828800" cy="566928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A3A8F"/>
            </a:solidFill>
          </a:ln>
        </p:spPr>
      </p:sp>
      <p:sp>
        <p:nvSpPr>
          <p:cNvPr id="113" name="ptit">
            <a:extLst>
              <a:ext uri="{FF2B5EF4-FFF2-40B4-BE49-F238E27FC236}">
                <a16:creationId xmlns:a16="http://schemas.microsoft.com/office/drawing/2014/main" id="{0BD0FBE4-856F-DB15-1BD3-C7D2393BC6D5}"/>
              </a:ext>
            </a:extLst>
          </p:cNvPr>
          <p:cNvSpPr txBox="1">
            <a:spLocks noGrp="1"/>
          </p:cNvSpPr>
          <p:nvPr/>
        </p:nvSpPr>
        <p:spPr>
          <a:xfrm>
            <a:off x="4359293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 dirty="0">
                <a:solidFill>
                  <a:srgbClr val="1A3A8F"/>
                </a:solidFill>
                <a:latin typeface="Reddit Sans"/>
                <a:ea typeface="Reddit Sans"/>
              </a:rPr>
              <a:t>Outcome-Based</a:t>
            </a:r>
          </a:p>
        </p:txBody>
      </p:sp>
      <p:sp>
        <p:nvSpPr>
          <p:cNvPr id="115" name="pdesc">
            <a:extLst>
              <a:ext uri="{FF2B5EF4-FFF2-40B4-BE49-F238E27FC236}">
                <a16:creationId xmlns:a16="http://schemas.microsoft.com/office/drawing/2014/main" id="{212605A2-662E-07AE-C631-8430F60FBBF5}"/>
              </a:ext>
            </a:extLst>
          </p:cNvPr>
          <p:cNvSpPr txBox="1">
            <a:spLocks noGrp="1"/>
          </p:cNvSpPr>
          <p:nvPr/>
        </p:nvSpPr>
        <p:spPr>
          <a:xfrm>
            <a:off x="4359293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Outcomes × Precio por Outcome
Shared savings 15-25%</a:t>
            </a:r>
          </a:p>
        </p:txBody>
      </p:sp>
      <p:sp>
        <p:nvSpPr>
          <p:cNvPr id="117" name="arr">
            <a:extLst>
              <a:ext uri="{FF2B5EF4-FFF2-40B4-BE49-F238E27FC236}">
                <a16:creationId xmlns:a16="http://schemas.microsoft.com/office/drawing/2014/main" id="{261B59FF-83E8-028B-36D9-B9799CAB463C}"/>
              </a:ext>
            </a:extLst>
          </p:cNvPr>
          <p:cNvSpPr txBox="1">
            <a:spLocks noGrp="1"/>
          </p:cNvSpPr>
          <p:nvPr/>
        </p:nvSpPr>
        <p:spPr>
          <a:xfrm>
            <a:off x="6096653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 dirty="0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9" name="pbg">
            <a:extLst>
              <a:ext uri="{FF2B5EF4-FFF2-40B4-BE49-F238E27FC236}">
                <a16:creationId xmlns:a16="http://schemas.microsoft.com/office/drawing/2014/main" id="{F066019D-C137-1FA2-CEDC-1E20036F0836}"/>
              </a:ext>
            </a:extLst>
          </p:cNvPr>
          <p:cNvSpPr>
            <a:spLocks noGrp="1"/>
          </p:cNvSpPr>
          <p:nvPr/>
        </p:nvSpPr>
        <p:spPr>
          <a:xfrm>
            <a:off x="6206381" y="3980687"/>
            <a:ext cx="1828800" cy="566928"/>
          </a:xfrm>
          <a:prstGeom prst="roundRect">
            <a:avLst>
              <a:gd name="adj" fmla="val 10000"/>
            </a:avLst>
          </a:prstGeom>
          <a:solidFill>
            <a:srgbClr val="EBF5FF"/>
          </a:solidFill>
          <a:ln w="15875">
            <a:solidFill>
              <a:srgbClr val="0D1B5E"/>
            </a:solidFill>
          </a:ln>
        </p:spPr>
      </p:sp>
      <p:sp>
        <p:nvSpPr>
          <p:cNvPr id="121" name="ptit">
            <a:extLst>
              <a:ext uri="{FF2B5EF4-FFF2-40B4-BE49-F238E27FC236}">
                <a16:creationId xmlns:a16="http://schemas.microsoft.com/office/drawing/2014/main" id="{DF509C14-BA18-91EE-9834-3685C397DBB3}"/>
              </a:ext>
            </a:extLst>
          </p:cNvPr>
          <p:cNvSpPr txBox="1">
            <a:spLocks noGrp="1"/>
          </p:cNvSpPr>
          <p:nvPr/>
        </p:nvSpPr>
        <p:spPr>
          <a:xfrm>
            <a:off x="6297821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 dirty="0">
                <a:solidFill>
                  <a:srgbClr val="0D1B5E"/>
                </a:solidFill>
                <a:latin typeface="Reddit Sans"/>
                <a:ea typeface="Reddit Sans"/>
              </a:rPr>
              <a:t>Full Gen Next</a:t>
            </a:r>
          </a:p>
        </p:txBody>
      </p:sp>
      <p:sp>
        <p:nvSpPr>
          <p:cNvPr id="123" name="pdesc">
            <a:extLst>
              <a:ext uri="{FF2B5EF4-FFF2-40B4-BE49-F238E27FC236}">
                <a16:creationId xmlns:a16="http://schemas.microsoft.com/office/drawing/2014/main" id="{E8BFAAD6-2A5F-9830-EB72-3EE426C2887B}"/>
              </a:ext>
            </a:extLst>
          </p:cNvPr>
          <p:cNvSpPr txBox="1">
            <a:spLocks noGrp="1"/>
          </p:cNvSpPr>
          <p:nvPr/>
        </p:nvSpPr>
        <p:spPr>
          <a:xfrm>
            <a:off x="6297821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 dirty="0">
                <a:solidFill>
                  <a:srgbClr val="6B7280"/>
                </a:solidFill>
                <a:latin typeface="Reddit Sans"/>
                <a:ea typeface="Reddit Sans"/>
              </a:rPr>
              <a:t>Outcome + AIOps + XLA + KCS
Premium · Máximo valor</a:t>
            </a:r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B8BF7608-F948-0447-8344-EB981BA95A49}"/>
              </a:ext>
            </a:extLst>
          </p:cNvPr>
          <p:cNvSpPr txBox="1"/>
          <p:nvPr/>
        </p:nvSpPr>
        <p:spPr>
          <a:xfrm>
            <a:off x="342900" y="498022"/>
            <a:ext cx="8855528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dirty="0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Modelos de</a:t>
            </a:r>
            <a:r>
              <a:rPr lang="es-ES" sz="1600" b="1" dirty="0">
                <a:solidFill>
                  <a:srgbClr val="0E337C"/>
                </a:solidFill>
                <a:latin typeface="Reddit Sans"/>
                <a:ea typeface="Reddit Sans"/>
              </a:rPr>
              <a:t> Precio: De FTE a </a:t>
            </a:r>
            <a:r>
              <a:rPr lang="es-ES" sz="1600" b="1" dirty="0" err="1">
                <a:solidFill>
                  <a:srgbClr val="0E337C"/>
                </a:solidFill>
                <a:latin typeface="Reddit Sans"/>
                <a:ea typeface="Reddit Sans"/>
              </a:rPr>
              <a:t>Outcomes</a:t>
            </a:r>
            <a:r>
              <a:rPr sz="1600" b="1" dirty="0">
                <a:solidFill>
                  <a:srgbClr val="0E337C"/>
                </a:solidFill>
                <a:latin typeface="Reddit Sans"/>
                <a:ea typeface="Reddit Sans"/>
              </a:rPr>
              <a:t>​</a:t>
            </a:r>
            <a:endParaRPr lang="es-ES" sz="1600" b="1" dirty="0">
              <a:solidFill>
                <a:srgbClr val="0E337C"/>
              </a:solidFill>
              <a:latin typeface="Reddit Sans"/>
              <a:ea typeface="Reddit Sans"/>
            </a:endParaRP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1934</Words>
  <Application>Microsoft Office PowerPoint</Application>
  <PresentationFormat>Presentación en pantalla (16:9)</PresentationFormat>
  <Paragraphs>327</Paragraphs>
  <Slides>39</Slides>
  <Notes>21</Notes>
  <HiddenSlides>2</HiddenSlides>
  <MMClips>0</MMClip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39</vt:i4>
      </vt:variant>
    </vt:vector>
  </HeadingPairs>
  <TitlesOfParts>
    <vt:vector size="41" baseType="lpstr">
      <vt:lpstr>Simple Light</vt:lpstr>
      <vt:lpstr>Simple Light</vt:lpstr>
      <vt:lpstr>Mesa de Servicio de Nueva Generación</vt:lpstr>
      <vt:lpstr>Propuesta de Valor del Servicio</vt:lpstr>
      <vt:lpstr>Presentación de PowerPoint</vt:lpstr>
      <vt:lpstr>Brechas del mercado y oportunidades</vt:lpstr>
      <vt:lpstr>Mesas de Servicio Actuales</vt:lpstr>
      <vt:lpstr>Mesas de Servicio Actuales</vt:lpstr>
      <vt:lpstr>Nivel de Madurez de las Mesas de Servicio – A dónde queremos llegar</vt:lpstr>
      <vt:lpstr>Mesas de Servicio de Nueva Generación</vt:lpstr>
      <vt:lpstr>El Mercado Global ITSM (Gestión Integral de los Servicios de TI)</vt:lpstr>
      <vt:lpstr>LVisualización: Mercado Global ITSM  </vt:lpstr>
      <vt:lpstr>Presentación de PowerPoint</vt:lpstr>
      <vt:lpstr>Los 12 Grandes ya Convergieron</vt:lpstr>
      <vt:lpstr>Cómo los 12 Grandes Proveedores Posicionan sus Mesas </vt:lpstr>
      <vt:lpstr>Posicionamiento de Plataformas ITSM  </vt:lpstr>
      <vt:lpstr>7 Tendencias que definen el Mercado</vt:lpstr>
      <vt:lpstr>El Costo de No Evolucionar</vt:lpstr>
      <vt:lpstr>Visualización: Benchmarks Industria </vt:lpstr>
      <vt:lpstr>SLA vs. XLA — Comparativa Visual y 4 Capas de Reporte </vt:lpstr>
      <vt:lpstr>Colombia: La Ventana Temporal. </vt:lpstr>
      <vt:lpstr>Presentación de PowerPoint</vt:lpstr>
      <vt:lpstr>Agentic AI: Estado Real de Adopción 2025–2026</vt:lpstr>
      <vt:lpstr>Mesas de Servicio - Referencia</vt:lpstr>
      <vt:lpstr>Presentación de PowerPoint</vt:lpstr>
      <vt:lpstr>Mesas de Servicio de Nueva Generación</vt:lpstr>
      <vt:lpstr>Que Diferencia a PersonalSoft?</vt:lpstr>
      <vt:lpstr>Presentación de PowerPoint</vt:lpstr>
      <vt:lpstr>Mesa tradicional vs. Mesa de Nueva Generación (Gen Next) </vt:lpstr>
      <vt:lpstr>Nuestro Servicio de Mesa de Servicio de Nueva Generación</vt:lpstr>
      <vt:lpstr>Modelo de Madurez — Escalera Visual 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Mesa de Servicio de Nueva Generación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Natalia Zartha Suarez</cp:lastModifiedBy>
  <cp:revision>1363</cp:revision>
  <dcterms:modified xsi:type="dcterms:W3CDTF">2026-07-08T21:08:36Z</dcterms:modified>
</cp:coreProperties>
</file>