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6" r:id="rId1"/>
    <p:sldMasterId id="2147483648" r:id="rId2"/>
  </p:sldMasterIdLst>
  <p:notesMasterIdLst>
    <p:notesMasterId r:id="rId57"/>
  </p:notesMasterIdLst>
  <p:sldIdLst>
    <p:sldId id="257" r:id="rId3"/>
    <p:sldId id="260" r:id="rId4"/>
    <p:sldId id="321" r:id="rId5"/>
    <p:sldId id="258" r:id="rId6"/>
    <p:sldId id="322" r:id="rId7"/>
    <p:sldId id="329" r:id="rId8"/>
    <p:sldId id="2567" r:id="rId9"/>
    <p:sldId id="304" r:id="rId10"/>
    <p:sldId id="2568" r:id="rId11"/>
    <p:sldId id="300" r:id="rId12"/>
    <p:sldId id="309" r:id="rId13"/>
    <p:sldId id="323" r:id="rId14"/>
    <p:sldId id="328" r:id="rId15"/>
    <p:sldId id="358" r:id="rId16"/>
    <p:sldId id="302" r:id="rId17"/>
    <p:sldId id="316" r:id="rId18"/>
    <p:sldId id="317" r:id="rId19"/>
    <p:sldId id="319" r:id="rId20"/>
    <p:sldId id="2566" r:id="rId21"/>
    <p:sldId id="2569" r:id="rId22"/>
    <p:sldId id="331" r:id="rId23"/>
    <p:sldId id="262" r:id="rId24"/>
    <p:sldId id="2577" r:id="rId25"/>
    <p:sldId id="2570" r:id="rId26"/>
    <p:sldId id="2588" r:id="rId27"/>
    <p:sldId id="2590" r:id="rId28"/>
    <p:sldId id="2591" r:id="rId29"/>
    <p:sldId id="2593" r:id="rId30"/>
    <p:sldId id="2592" r:id="rId31"/>
    <p:sldId id="2580" r:id="rId32"/>
    <p:sldId id="2581" r:id="rId33"/>
    <p:sldId id="2596" r:id="rId34"/>
    <p:sldId id="2595" r:id="rId35"/>
    <p:sldId id="2583" r:id="rId36"/>
    <p:sldId id="2589" r:id="rId37"/>
    <p:sldId id="2594" r:id="rId38"/>
    <p:sldId id="2584" r:id="rId39"/>
    <p:sldId id="310" r:id="rId40"/>
    <p:sldId id="357" r:id="rId41"/>
    <p:sldId id="293" r:id="rId42"/>
    <p:sldId id="312" r:id="rId43"/>
    <p:sldId id="324" r:id="rId44"/>
    <p:sldId id="335" r:id="rId45"/>
    <p:sldId id="336" r:id="rId46"/>
    <p:sldId id="2571" r:id="rId47"/>
    <p:sldId id="2572" r:id="rId48"/>
    <p:sldId id="2573" r:id="rId49"/>
    <p:sldId id="2574" r:id="rId50"/>
    <p:sldId id="2575" r:id="rId51"/>
    <p:sldId id="274" r:id="rId52"/>
    <p:sldId id="276" r:id="rId53"/>
    <p:sldId id="307" r:id="rId54"/>
    <p:sldId id="267" r:id="rId55"/>
    <p:sldId id="268" r:id="rId56"/>
  </p:sldIdLst>
  <p:sldSz cx="9144000" cy="5143500" type="screen16x9"/>
  <p:notesSz cx="6858000" cy="9144000"/>
  <p:embeddedFontLst>
    <p:embeddedFont>
      <p:font typeface="Reddit Sans" panose="020B0604020202020204" charset="0"/>
      <p:regular r:id="rId58"/>
      <p:bold r:id="rId59"/>
      <p:italic r:id="rId60"/>
      <p:boldItalic r:id="rId61"/>
    </p:embeddedFont>
    <p:embeddedFont>
      <p:font typeface="Reddit Sans Light" panose="020B0604020202020204" charset="0"/>
      <p:regular r:id="rId62"/>
      <p:bold r:id="rId63"/>
      <p:italic r:id="rId64"/>
      <p:boldItalic r:id="rId65"/>
    </p:embeddedFont>
    <p:embeddedFont>
      <p:font typeface="Reddit Sans Medium" panose="020B0604020202020204" charset="0"/>
      <p:regular r:id="rId66"/>
      <p:bold r:id="rId67"/>
      <p:italic r:id="rId68"/>
      <p:boldItalic r:id="rId69"/>
    </p:embeddedFont>
    <p:embeddedFont>
      <p:font typeface="Reddit Sans SemiBold" panose="020B0604020202020204" charset="0"/>
      <p:regular r:id="rId70"/>
      <p:bold r:id="rId71"/>
      <p:italic r:id="rId72"/>
      <p:boldItalic r:id="rId73"/>
    </p:embeddedFont>
    <p:embeddedFont>
      <p:font typeface="Segoe UI" panose="020B0502040204020203" pitchFamily="34" charset="0"/>
      <p:regular r:id="rId74"/>
      <p:bold r:id="rId75"/>
      <p:italic r:id="rId76"/>
      <p:boldItalic r:id="rId7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6" roundtripDataSignature="AMtx7mjbXstnVTn4VoWkkWw8RkcDPqyO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BF39"/>
    <a:srgbClr val="EBF1FA"/>
    <a:srgbClr val="CBACE3"/>
    <a:srgbClr val="FCF4EB"/>
    <a:srgbClr val="ECDFF7"/>
    <a:srgbClr val="E4E4E4"/>
    <a:srgbClr val="F0F4FA"/>
    <a:srgbClr val="1AA8DB"/>
    <a:srgbClr val="FEFF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E5A05DB-B08E-CF20-942E-2489ADF5169B}" v="2243" dt="2026-07-14T20:10:37.662"/>
    <p1510:client id="{88784FCC-9A78-C45C-3FC1-CD2EA649FB7C}" v="751" dt="2026-07-14T21:23:07.657"/>
    <p1510:client id="{96719BF3-080A-6932-741C-55D5A84931DC}" v="1273" dt="2026-07-14T22:37:03.543"/>
    <p1510:client id="{9BA9D397-B0A2-443C-22D0-5ECE1D4075AA}" v="1483" dt="2026-07-14T16:10:56.685"/>
    <p1510:client id="{AA249537-B5B0-7E69-648A-99FB2E4E88D6}" v="57" dt="2026-07-14T22:41:40.460"/>
  </p1510:revLst>
</p1510:revInfo>
</file>

<file path=ppt/tableStyles.xml><?xml version="1.0" encoding="utf-8"?>
<a:tblStyleLst xmlns:a="http://schemas.openxmlformats.org/drawingml/2006/main" def="{1FEE7CD7-7DD5-4E0E-8F7E-406774204185}">
  <a:tblStyle styleId="{1FEE7CD7-7DD5-4E0E-8F7E-4067742041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font" Target="fonts/font6.fntdata"/><Relationship Id="rId68" Type="http://schemas.openxmlformats.org/officeDocument/2006/relationships/font" Target="fonts/font11.fntdata"/><Relationship Id="rId89" Type="http://schemas.openxmlformats.org/officeDocument/2006/relationships/theme" Target="theme/theme1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font" Target="fonts/font1.fntdata"/><Relationship Id="rId74" Type="http://schemas.openxmlformats.org/officeDocument/2006/relationships/font" Target="fonts/font17.fntdata"/><Relationship Id="rId5" Type="http://schemas.openxmlformats.org/officeDocument/2006/relationships/slide" Target="slides/slide3.xml"/><Relationship Id="rId61" Type="http://schemas.openxmlformats.org/officeDocument/2006/relationships/font" Target="fonts/font4.fntdata"/><Relationship Id="rId90" Type="http://schemas.openxmlformats.org/officeDocument/2006/relationships/tableStyles" Target="tableStyle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font" Target="fonts/font7.fntdata"/><Relationship Id="rId69" Type="http://schemas.openxmlformats.org/officeDocument/2006/relationships/font" Target="fonts/font12.fntdata"/><Relationship Id="rId77" Type="http://schemas.openxmlformats.org/officeDocument/2006/relationships/font" Target="fonts/font20.fnt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font" Target="fonts/font15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font" Target="fonts/font2.fntdata"/><Relationship Id="rId67" Type="http://schemas.openxmlformats.org/officeDocument/2006/relationships/font" Target="fonts/font10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font" Target="fonts/font5.fntdata"/><Relationship Id="rId70" Type="http://schemas.openxmlformats.org/officeDocument/2006/relationships/font" Target="fonts/font13.fntdata"/><Relationship Id="rId75" Type="http://schemas.openxmlformats.org/officeDocument/2006/relationships/font" Target="fonts/font18.fntdata"/><Relationship Id="rId88" Type="http://schemas.openxmlformats.org/officeDocument/2006/relationships/viewProps" Target="viewProps.xml"/><Relationship Id="rId9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font" Target="fonts/font3.fntdata"/><Relationship Id="rId65" Type="http://schemas.openxmlformats.org/officeDocument/2006/relationships/font" Target="fonts/font8.fntdata"/><Relationship Id="rId73" Type="http://schemas.openxmlformats.org/officeDocument/2006/relationships/font" Target="fonts/font16.fntdata"/><Relationship Id="rId86" Type="http://customschemas.google.com/relationships/presentationmetadata" Target="meta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font" Target="fonts/font19.fntdata"/><Relationship Id="rId7" Type="http://schemas.openxmlformats.org/officeDocument/2006/relationships/slide" Target="slides/slide5.xml"/><Relationship Id="rId71" Type="http://schemas.openxmlformats.org/officeDocument/2006/relationships/font" Target="fonts/font14.fntdata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font" Target="fonts/font9.fntdata"/><Relationship Id="rId87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s-E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Valor actual (2024)</c:v>
                </c:pt>
              </c:strCache>
            </c:strRef>
          </c:tx>
          <c:spPr>
            <a:solidFill>
              <a:srgbClr val="1E8080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B54-43C7-9D36-C7CC4E048323}"/>
              </c:ext>
            </c:extLst>
          </c:dPt>
          <c:dPt>
            <c:idx val="1"/>
            <c:invertIfNegative val="0"/>
            <c:bubble3D val="0"/>
            <c:spPr>
              <a:solidFill>
                <a:srgbClr val="A44526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DB54-43C7-9D36-C7CC4E048323}"/>
              </c:ext>
            </c:extLst>
          </c:dPt>
          <c:dPt>
            <c:idx val="2"/>
            <c:invertIfNegative val="0"/>
            <c:bubble3D val="0"/>
            <c:spPr>
              <a:solidFill>
                <a:srgbClr val="D6920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DB54-43C7-9D36-C7CC4E04832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1E8080"/>
                        </a:solidFill>
                      </a:rPr>
                      <a:t>$1.8B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DB54-43C7-9D36-C7CC4E04832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A44526"/>
                        </a:solidFill>
                      </a:rPr>
                      <a:t>$0.52B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DB54-43C7-9D36-C7CC4E04832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D69200"/>
                        </a:solidFill>
                      </a:rPr>
                      <a:t>$108M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DB54-43C7-9D36-C7CC4E048323}"/>
                </c:ext>
              </c:extLst>
            </c:dLbl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Latam</c:v>
                </c:pt>
                <c:pt idx="1">
                  <c:v>Sudamérica</c:v>
                </c:pt>
                <c:pt idx="2">
                  <c:v>Colombia</c:v>
                </c:pt>
              </c:strCache>
            </c:strRef>
          </c:cat>
          <c:val>
            <c:numRef>
              <c:f>Hoja1!$B$2:$B$4</c:f>
              <c:numCache>
                <c:formatCode>0.00</c:formatCode>
                <c:ptCount val="3"/>
                <c:pt idx="0">
                  <c:v>1.8</c:v>
                </c:pt>
                <c:pt idx="1">
                  <c:v>0.52</c:v>
                </c:pt>
                <c:pt idx="2">
                  <c:v>0.108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DB54-43C7-9D36-C7CC4E048323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Proyección futura</c:v>
                </c:pt>
              </c:strCache>
            </c:strRef>
          </c:tx>
          <c:spPr>
            <a:solidFill>
              <a:srgbClr val="104040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8-DB54-43C7-9D36-C7CC4E048323}"/>
              </c:ext>
            </c:extLst>
          </c:dPt>
          <c:dPt>
            <c:idx val="1"/>
            <c:invertIfNegative val="0"/>
            <c:bubble3D val="0"/>
            <c:spPr>
              <a:solidFill>
                <a:srgbClr val="8E3E5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A-DB54-43C7-9D36-C7CC4E048323}"/>
              </c:ext>
            </c:extLst>
          </c:dPt>
          <c:dPt>
            <c:idx val="2"/>
            <c:invertIfNegative val="0"/>
            <c:bubble3D val="0"/>
            <c:spPr>
              <a:solidFill>
                <a:srgbClr val="16233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C-DB54-43C7-9D36-C7CC4E04832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104040"/>
                        </a:solidFill>
                      </a:rPr>
                      <a:t>$2.5B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DB54-43C7-9D36-C7CC4E04832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8E3E50"/>
                        </a:solidFill>
                      </a:rPr>
                      <a:t>$1.26B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DB54-43C7-9D36-C7CC4E04832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16233F"/>
                        </a:solidFill>
                      </a:rPr>
                      <a:t>$250M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DB54-43C7-9D36-C7CC4E048323}"/>
                </c:ext>
              </c:extLst>
            </c:dLbl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Latam</c:v>
                </c:pt>
                <c:pt idx="1">
                  <c:v>Sudamérica</c:v>
                </c:pt>
                <c:pt idx="2">
                  <c:v>Colombia</c:v>
                </c:pt>
              </c:strCache>
            </c:strRef>
          </c:cat>
          <c:val>
            <c:numRef>
              <c:f>Hoja1!$C$2:$C$4</c:f>
              <c:numCache>
                <c:formatCode>0.00</c:formatCode>
                <c:ptCount val="3"/>
                <c:pt idx="0">
                  <c:v>2.5</c:v>
                </c:pt>
                <c:pt idx="1">
                  <c:v>1.26</c:v>
                </c:pt>
                <c:pt idx="2">
                  <c:v>0.25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D-DB54-43C7-9D36-C7CC4E0483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311111111"/>
        <c:axId val="322222222"/>
      </c:barChart>
      <c:catAx>
        <c:axId val="311111111"/>
        <c:scaling>
          <c:orientation val="minMax"/>
        </c:scaling>
        <c:delete val="0"/>
        <c:axPos val="b"/>
        <c:numFmt formatCode="General" sourceLinked="0"/>
        <c:majorTickMark val="cross"/>
        <c:minorTickMark val="cross"/>
        <c:tickLblPos val="nextTo"/>
        <c:txPr>
          <a:bodyPr/>
          <a:lstStyle/>
          <a:p>
            <a:pPr>
              <a:defRPr sz="1000" b="1">
                <a:solidFill>
                  <a:srgbClr val="1F3B47"/>
                </a:solidFill>
              </a:defRPr>
            </a:pPr>
            <a:endParaRPr lang="es-ES"/>
          </a:p>
        </c:txPr>
        <c:crossAx val="322222222"/>
        <c:crosses val="autoZero"/>
        <c:auto val="1"/>
        <c:lblAlgn val="ctr"/>
        <c:lblOffset val="100"/>
        <c:noMultiLvlLbl val="1"/>
      </c:catAx>
      <c:valAx>
        <c:axId val="3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E3E1DB"/>
              </a:solidFill>
            </a:ln>
          </c:spPr>
        </c:majorGridlines>
        <c:numFmt formatCode="0.0&quot;B&quot;" sourceLinked="0"/>
        <c:majorTickMark val="none"/>
        <c:minorTickMark val="none"/>
        <c:tickLblPos val="nextTo"/>
        <c:txPr>
          <a:bodyPr/>
          <a:lstStyle/>
          <a:p>
            <a:pPr>
              <a:defRPr sz="800">
                <a:solidFill>
                  <a:srgbClr val="8A8A83"/>
                </a:solidFill>
              </a:defRPr>
            </a:pPr>
            <a:endParaRPr lang="es-ES"/>
          </a:p>
        </c:txPr>
        <c:crossAx val="31111111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ing.com/ck/a?!&amp;&amp;p=d500af2f30bdfc2fb481c268b42ccff364d8c6d896f51ecdfd16d3bf116eedcdJmltdHM9MTc4MzM4MjQwMA&amp;ptn=3&amp;ver=2&amp;hsh=4&amp;fclid=10d11685-cdd1-6520-1f35-0107cca364bf&amp;u=a1aHR0cHM6Ly9yZWd1bGFmb3JlbnNpY3MuY29tL2VzL2Jsb2cvc3dhcm1pbmctc3VwcG9ydC1tb2RlbC8&amp;ntb=1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bing.com/ck/a?!&amp;&amp;p=850ece00eb93253a87fbe61242c6bd172bc031ebab6034752dc1f260fc9c0a10JmltdHM9MTc4MzU1NTIwMA&amp;ptn=3&amp;ver=2&amp;hsh=4&amp;fclid=10d11685-cdd1-6520-1f35-0107cca364bf&amp;u=a1aHR0cHM6Ly93d3cuZWVzZWwuYWkvZXMvYmxvZy9tb3Zld29ya3M&amp;ntb=1" TargetMode="Externa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inpresswire.com/article/823090394/xla-institute-releases-groundbreaking-state-of-xla-2025-report?code=9Hv3x5D-vwZo-peK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www.linkedin.com/posts/alannance_get-your-copy-of-the-state-of-xla-2025-published-activity-7340670233575079936-XZ3Q" TargetMode="External"/><Relationship Id="rId4" Type="http://schemas.openxmlformats.org/officeDocument/2006/relationships/hyperlink" Target="https://www.emerce.nl/wire/xla-institute-publiceert-state-xla-2025-rapport" TargetMode="External"/></Relationships>
</file>

<file path=ppt/notesSlides/_rels/notes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ervicenow.com/content/dam/servicenow-assets/public/en-us/doc-type/resource-center/white-paper/the-essentials-of-predictive-aiops-and-visibility.pdf" TargetMode="External"/><Relationship Id="rId3" Type="http://schemas.openxmlformats.org/officeDocument/2006/relationships/hyperlink" Target="https://freshservice.com/assets/resources/freshservice/freshservice-it-service-management-benchmark-report-2024.pdf" TargetMode="External"/><Relationship Id="rId7" Type="http://schemas.openxmlformats.org/officeDocument/2006/relationships/hyperlink" Target="https://www.tcs.com/insights/blogs/generative-ai-outcome-based-pricing-models-service-desk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ivainc.com/blog/shift-left-analysis-how-to-guide-maximize-it-service-management-itsm-efficiency/" TargetMode="External"/><Relationship Id="rId5" Type="http://schemas.openxmlformats.org/officeDocument/2006/relationships/hyperlink" Target="https://www.serviceinnovation.org/kcs/" TargetMode="External"/><Relationship Id="rId4" Type="http://schemas.openxmlformats.org/officeDocument/2006/relationships/hyperlink" Target="https://www.ivanti.com/en-gb/blog/agentic-ai-it-service-autonomy" TargetMode="Externa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uperfinanciera.gov.co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iso.org/standard/42001" TargetMode="External"/><Relationship Id="rId5" Type="http://schemas.openxmlformats.org/officeDocument/2006/relationships/hyperlink" Target="https://www.superfinanciera.gov.co/publicaciones/10116081/finanzas-abiertas-obligatorias-impulsaran-el-desarrollo-del-sistema-y-la-inclusion-financiera-en-el-pais/" TargetMode="External"/><Relationship Id="rId4" Type="http://schemas.openxmlformats.org/officeDocument/2006/relationships/hyperlink" Target="https://www.superfinanciera.gov.co/" TargetMode="Externa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rixmind.com/itil-5-what-changed-and-why-it-matters/" TargetMode="External"/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7e80574407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7e80574407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D79356A8-E404-152B-4307-F14EDF225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D6A97513-0F20-F8E2-91E4-81F97AE612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BA47EDEE-C416-31E2-19FF-E6F318C37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96727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E23A2-FAEC-0E46-FE8C-B06D6EC94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9EFBB9C-687B-F226-78EA-89C5DDDFE6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CA15902-5BB0-7308-0B42-E185A2E8AD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/>
              <a:t>ITO (Information Technology Outsourcing)</a:t>
            </a:r>
            <a:endParaRPr lang="es-ES"/>
          </a:p>
          <a:p>
            <a:pPr>
              <a:buNone/>
            </a:pPr>
            <a:r>
              <a:rPr lang="en-US" err="1"/>
              <a:t>Externalización</a:t>
            </a:r>
            <a:r>
              <a:rPr lang="en-US"/>
              <a:t> de </a:t>
            </a:r>
            <a:r>
              <a:rPr lang="en-US" err="1"/>
              <a:t>servicios</a:t>
            </a:r>
            <a:r>
              <a:rPr lang="en-US"/>
              <a:t> de </a:t>
            </a:r>
            <a:r>
              <a:rPr lang="en-US" err="1"/>
              <a:t>infraestructura</a:t>
            </a:r>
            <a:r>
              <a:rPr lang="en-US"/>
              <a:t> y </a:t>
            </a:r>
            <a:r>
              <a:rPr lang="en-US" err="1"/>
              <a:t>tecnología</a:t>
            </a:r>
            <a:r>
              <a:rPr lang="en-US"/>
              <a:t>.</a:t>
            </a:r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/>
              <a:t>BPO (Business Process Outsourcing)</a:t>
            </a:r>
          </a:p>
          <a:p>
            <a:pPr>
              <a:buNone/>
            </a:pPr>
            <a:r>
              <a:rPr lang="en-US" err="1"/>
              <a:t>Externalización</a:t>
            </a:r>
            <a:r>
              <a:rPr lang="en-US"/>
              <a:t> de </a:t>
            </a:r>
            <a:r>
              <a:rPr lang="en-US" err="1"/>
              <a:t>procesos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.</a:t>
            </a:r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/>
              <a:t>KPO (Knowledge Process Outsourcing)</a:t>
            </a:r>
          </a:p>
          <a:p>
            <a:pPr>
              <a:buNone/>
            </a:pPr>
            <a:r>
              <a:rPr lang="en-US" err="1"/>
              <a:t>Externalización</a:t>
            </a:r>
            <a:r>
              <a:rPr lang="en-US"/>
              <a:t> de </a:t>
            </a:r>
            <a:r>
              <a:rPr lang="en-US" err="1"/>
              <a:t>procesos</a:t>
            </a:r>
            <a:r>
              <a:rPr lang="en-US"/>
              <a:t> </a:t>
            </a:r>
            <a:r>
              <a:rPr lang="en-US" err="1"/>
              <a:t>especializados</a:t>
            </a:r>
            <a:r>
              <a:rPr lang="en-US"/>
              <a:t> </a:t>
            </a:r>
            <a:r>
              <a:rPr lang="en-US" err="1"/>
              <a:t>basados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conocimiento</a:t>
            </a:r>
            <a:r>
              <a:rPr lang="en-US"/>
              <a:t> y expertise de </a:t>
            </a:r>
            <a:r>
              <a:rPr lang="en-US" err="1"/>
              <a:t>negocio</a:t>
            </a:r>
            <a:r>
              <a:rPr lang="en-US"/>
              <a:t>.</a:t>
            </a:r>
          </a:p>
          <a:p>
            <a:pPr>
              <a:buNone/>
            </a:pPr>
            <a:endParaRPr lang="en-US"/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/>
              <a:t>ESM: Enterprise Service Management</a:t>
            </a:r>
            <a:endParaRPr lang="es-ES"/>
          </a:p>
          <a:p>
            <a:pPr>
              <a:buNone/>
            </a:pPr>
            <a:r>
              <a:rPr lang="en-US"/>
              <a:t>CMDB: Configuration Management Database (Base de Datos de </a:t>
            </a:r>
            <a:r>
              <a:rPr lang="en-US" err="1"/>
              <a:t>Gestión</a:t>
            </a:r>
            <a:r>
              <a:rPr lang="en-US"/>
              <a:t> de la </a:t>
            </a:r>
            <a:r>
              <a:rPr lang="en-US" err="1"/>
              <a:t>Configuración</a:t>
            </a:r>
            <a:r>
              <a:rPr lang="en-US"/>
              <a:t>)</a:t>
            </a:r>
          </a:p>
          <a:p>
            <a:pPr>
              <a:buNone/>
            </a:pPr>
            <a:r>
              <a:rPr lang="en-US"/>
              <a:t>XLA: Experience Level Agreement (</a:t>
            </a:r>
            <a:r>
              <a:rPr lang="en-US" err="1"/>
              <a:t>Acuerdo</a:t>
            </a:r>
            <a:r>
              <a:rPr lang="en-US"/>
              <a:t> de Nivel de </a:t>
            </a:r>
            <a:r>
              <a:rPr lang="en-US" err="1"/>
              <a:t>Experiencia</a:t>
            </a:r>
            <a:r>
              <a:rPr lang="en-US"/>
              <a:t>)</a:t>
            </a:r>
          </a:p>
          <a:p>
            <a:pPr>
              <a:buNone/>
            </a:pPr>
            <a:r>
              <a:rPr lang="en-US"/>
              <a:t>AIOps: Artificial Intelligence for IT Operations (IA para </a:t>
            </a:r>
            <a:r>
              <a:rPr lang="en-US" err="1"/>
              <a:t>Operaciones</a:t>
            </a:r>
            <a:r>
              <a:rPr lang="en-US"/>
              <a:t> de TI)</a:t>
            </a:r>
          </a:p>
          <a:p>
            <a:pPr>
              <a:buNone/>
            </a:pPr>
            <a:r>
              <a:rPr lang="en-US"/>
              <a:t>AITSM: Artificial Intelligence for IT Service Management</a:t>
            </a:r>
          </a:p>
          <a:p>
            <a:pPr algn="ctr">
              <a:buNone/>
            </a:pPr>
            <a:endParaRPr lang="en-US"/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/>
              <a:t>La </a:t>
            </a:r>
            <a:r>
              <a:rPr lang="en-US" err="1"/>
              <a:t>línea</a:t>
            </a:r>
            <a:r>
              <a:rPr lang="en-US"/>
              <a:t> temporal de la imagen </a:t>
            </a:r>
            <a:r>
              <a:rPr lang="en-US" err="1"/>
              <a:t>muestra</a:t>
            </a:r>
            <a:r>
              <a:rPr lang="en-US"/>
              <a:t> la </a:t>
            </a:r>
            <a:r>
              <a:rPr lang="en-US" err="1"/>
              <a:t>evolución</a:t>
            </a:r>
            <a:r>
              <a:rPr lang="en-US"/>
              <a:t> </a:t>
            </a:r>
            <a:r>
              <a:rPr lang="en-US" err="1"/>
              <a:t>aproximada</a:t>
            </a:r>
            <a:r>
              <a:rPr lang="en-US"/>
              <a:t>:</a:t>
            </a:r>
          </a:p>
          <a:p>
            <a:pPr>
              <a:buNone/>
            </a:pPr>
            <a:r>
              <a:rPr lang="en-US" b="1"/>
              <a:t>HD → SD → ESM → Digital Workplace → AITSM → Autonomous Service Desk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1743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Char char="•"/>
            </a:pPr>
            <a:r>
              <a:rPr lang="en-US" b="1"/>
              <a:t>N0–N5:</a:t>
            </a:r>
            <a:r>
              <a:rPr lang="en-US"/>
              <a:t> </a:t>
            </a:r>
            <a:r>
              <a:rPr lang="en-US" err="1"/>
              <a:t>Niveles</a:t>
            </a:r>
            <a:r>
              <a:rPr lang="en-US"/>
              <a:t> de </a:t>
            </a:r>
            <a:r>
              <a:rPr lang="en-US" err="1"/>
              <a:t>soporte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van </a:t>
            </a:r>
            <a:r>
              <a:rPr lang="en-US" err="1"/>
              <a:t>desde</a:t>
            </a:r>
            <a:r>
              <a:rPr lang="en-US"/>
              <a:t> </a:t>
            </a:r>
            <a:r>
              <a:rPr lang="en-US" err="1"/>
              <a:t>autoservicio</a:t>
            </a:r>
            <a:r>
              <a:rPr lang="en-US"/>
              <a:t> (N0) hasta </a:t>
            </a:r>
            <a:r>
              <a:rPr lang="en-US" err="1"/>
              <a:t>expertos</a:t>
            </a:r>
            <a:r>
              <a:rPr lang="en-US"/>
              <a:t> </a:t>
            </a:r>
            <a:r>
              <a:rPr lang="en-US" err="1"/>
              <a:t>especializados</a:t>
            </a:r>
            <a:r>
              <a:rPr lang="en-US"/>
              <a:t> o </a:t>
            </a:r>
            <a:r>
              <a:rPr lang="en-US" err="1"/>
              <a:t>fabricante</a:t>
            </a:r>
            <a:r>
              <a:rPr lang="en-US"/>
              <a:t> (N5).</a:t>
            </a:r>
            <a:endParaRPr lang="es-ES"/>
          </a:p>
          <a:p>
            <a:pPr marL="285750" indent="-285750"/>
            <a:r>
              <a:rPr lang="en-US" b="1" err="1"/>
              <a:t>Deflexión</a:t>
            </a:r>
            <a:r>
              <a:rPr lang="en-US" b="1"/>
              <a:t> (Deflection):</a:t>
            </a:r>
            <a:r>
              <a:rPr lang="en-US"/>
              <a:t> Es el </a:t>
            </a:r>
            <a:r>
              <a:rPr lang="en-US" err="1"/>
              <a:t>porcentaje</a:t>
            </a:r>
            <a:r>
              <a:rPr lang="en-US"/>
              <a:t> o </a:t>
            </a:r>
            <a:r>
              <a:rPr lang="en-US" err="1"/>
              <a:t>número</a:t>
            </a:r>
            <a:r>
              <a:rPr lang="en-US"/>
              <a:t> de </a:t>
            </a:r>
            <a:r>
              <a:rPr lang="en-US" err="1"/>
              <a:t>consultas</a:t>
            </a:r>
            <a:r>
              <a:rPr lang="en-US"/>
              <a:t>, </a:t>
            </a:r>
            <a:r>
              <a:rPr lang="en-US" err="1"/>
              <a:t>incidentes</a:t>
            </a:r>
            <a:r>
              <a:rPr lang="en-US"/>
              <a:t> o solicitudes </a:t>
            </a:r>
            <a:r>
              <a:rPr lang="en-US" err="1"/>
              <a:t>que</a:t>
            </a:r>
            <a:r>
              <a:rPr lang="en-US"/>
              <a:t> se </a:t>
            </a:r>
            <a:r>
              <a:rPr lang="en-US" err="1"/>
              <a:t>resuelven</a:t>
            </a:r>
            <a:r>
              <a:rPr lang="en-US"/>
              <a:t> sin </a:t>
            </a:r>
            <a:r>
              <a:rPr lang="en-US" err="1"/>
              <a:t>necesidad</a:t>
            </a:r>
            <a:r>
              <a:rPr lang="en-US"/>
              <a:t> de </a:t>
            </a:r>
            <a:r>
              <a:rPr lang="en-US" err="1"/>
              <a:t>generar</a:t>
            </a:r>
            <a:r>
              <a:rPr lang="en-US"/>
              <a:t> un ticket o sin </a:t>
            </a:r>
            <a:r>
              <a:rPr lang="en-US" err="1"/>
              <a:t>intervención</a:t>
            </a:r>
            <a:r>
              <a:rPr lang="en-US"/>
              <a:t> de un </a:t>
            </a:r>
            <a:r>
              <a:rPr lang="en-US" err="1"/>
              <a:t>agente</a:t>
            </a:r>
            <a:r>
              <a:rPr lang="en-US"/>
              <a:t> de </a:t>
            </a:r>
            <a:r>
              <a:rPr lang="en-US" err="1"/>
              <a:t>soporte</a:t>
            </a:r>
            <a:r>
              <a:rPr lang="en-US"/>
              <a:t>.</a:t>
            </a:r>
          </a:p>
          <a:p>
            <a:pPr marL="285750" indent="-285750">
              <a:buChar char="•"/>
            </a:pPr>
            <a:r>
              <a:rPr lang="en-US" b="1"/>
              <a:t>GenAI:</a:t>
            </a:r>
            <a:r>
              <a:rPr lang="en-US"/>
              <a:t> </a:t>
            </a:r>
            <a:r>
              <a:rPr lang="en-US" err="1"/>
              <a:t>Inteligencia</a:t>
            </a:r>
            <a:r>
              <a:rPr lang="en-US"/>
              <a:t> Artificial </a:t>
            </a:r>
            <a:r>
              <a:rPr lang="en-US" err="1"/>
              <a:t>Generativa</a:t>
            </a:r>
            <a:r>
              <a:rPr lang="en-US"/>
              <a:t> </a:t>
            </a:r>
            <a:r>
              <a:rPr lang="en-US" err="1"/>
              <a:t>capaz</a:t>
            </a:r>
            <a:r>
              <a:rPr lang="en-US"/>
              <a:t> de </a:t>
            </a:r>
            <a:r>
              <a:rPr lang="en-US" err="1"/>
              <a:t>crear</a:t>
            </a:r>
            <a:r>
              <a:rPr lang="en-US"/>
              <a:t> </a:t>
            </a:r>
            <a:r>
              <a:rPr lang="en-US" err="1"/>
              <a:t>contenido</a:t>
            </a:r>
            <a:r>
              <a:rPr lang="en-US"/>
              <a:t> </a:t>
            </a:r>
            <a:r>
              <a:rPr lang="en-US" err="1"/>
              <a:t>como</a:t>
            </a:r>
            <a:r>
              <a:rPr lang="en-US"/>
              <a:t> </a:t>
            </a:r>
            <a:r>
              <a:rPr lang="en-US" err="1"/>
              <a:t>texto</a:t>
            </a:r>
            <a:r>
              <a:rPr lang="en-US"/>
              <a:t>, </a:t>
            </a:r>
            <a:r>
              <a:rPr lang="en-US" err="1"/>
              <a:t>imágenes</a:t>
            </a:r>
            <a:r>
              <a:rPr lang="en-US"/>
              <a:t> o </a:t>
            </a:r>
            <a:r>
              <a:rPr lang="en-US" err="1"/>
              <a:t>código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KCS:</a:t>
            </a:r>
            <a:r>
              <a:rPr lang="en-US"/>
              <a:t> </a:t>
            </a:r>
            <a:r>
              <a:rPr lang="en-US" i="1"/>
              <a:t>Knowledge-Centered Service</a:t>
            </a:r>
            <a:r>
              <a:rPr lang="en-US"/>
              <a:t>, </a:t>
            </a:r>
            <a:r>
              <a:rPr lang="en-US" err="1"/>
              <a:t>metodología</a:t>
            </a:r>
            <a:r>
              <a:rPr lang="en-US"/>
              <a:t> para </a:t>
            </a:r>
            <a:r>
              <a:rPr lang="en-US" err="1"/>
              <a:t>capturar</a:t>
            </a:r>
            <a:r>
              <a:rPr lang="en-US"/>
              <a:t> y </a:t>
            </a:r>
            <a:r>
              <a:rPr lang="en-US" err="1"/>
              <a:t>reutilizar</a:t>
            </a:r>
            <a:r>
              <a:rPr lang="en-US"/>
              <a:t> </a:t>
            </a:r>
            <a:r>
              <a:rPr lang="en-US" err="1"/>
              <a:t>conocimiento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la </a:t>
            </a:r>
            <a:r>
              <a:rPr lang="en-US" err="1"/>
              <a:t>resolución</a:t>
            </a:r>
            <a:r>
              <a:rPr lang="en-US"/>
              <a:t> de </a:t>
            </a:r>
            <a:r>
              <a:rPr lang="en-US" err="1"/>
              <a:t>casos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AIOps:</a:t>
            </a:r>
            <a:r>
              <a:rPr lang="en-US"/>
              <a:t> </a:t>
            </a:r>
            <a:r>
              <a:rPr lang="en-US" i="1"/>
              <a:t>Artificial Intelligence for IT Operations</a:t>
            </a:r>
            <a:r>
              <a:rPr lang="en-US"/>
              <a:t>, </a:t>
            </a:r>
            <a:r>
              <a:rPr lang="en-US" err="1"/>
              <a:t>uso</a:t>
            </a:r>
            <a:r>
              <a:rPr lang="en-US"/>
              <a:t> de IA para </a:t>
            </a:r>
            <a:r>
              <a:rPr lang="en-US" err="1"/>
              <a:t>monitorear</a:t>
            </a:r>
            <a:r>
              <a:rPr lang="en-US"/>
              <a:t>, </a:t>
            </a:r>
            <a:r>
              <a:rPr lang="en-US" err="1"/>
              <a:t>detectar</a:t>
            </a:r>
            <a:r>
              <a:rPr lang="en-US"/>
              <a:t> y resolver </a:t>
            </a:r>
            <a:r>
              <a:rPr lang="en-US" err="1"/>
              <a:t>problemas</a:t>
            </a:r>
            <a:r>
              <a:rPr lang="en-US"/>
              <a:t> de TI.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P1:</a:t>
            </a:r>
            <a:r>
              <a:rPr lang="en-US"/>
              <a:t> </a:t>
            </a:r>
            <a:r>
              <a:rPr lang="en-US" i="1"/>
              <a:t>Priority 1</a:t>
            </a:r>
            <a:r>
              <a:rPr lang="en-US"/>
              <a:t>, </a:t>
            </a:r>
            <a:r>
              <a:rPr lang="en-US" err="1"/>
              <a:t>incidente</a:t>
            </a:r>
            <a:r>
              <a:rPr lang="en-US"/>
              <a:t> de </a:t>
            </a:r>
            <a:r>
              <a:rPr lang="en-US" err="1"/>
              <a:t>máxima</a:t>
            </a:r>
            <a:r>
              <a:rPr lang="en-US"/>
              <a:t> </a:t>
            </a:r>
            <a:r>
              <a:rPr lang="en-US" err="1"/>
              <a:t>criticidad</a:t>
            </a:r>
            <a:r>
              <a:rPr lang="en-US"/>
              <a:t> con alto </a:t>
            </a:r>
            <a:r>
              <a:rPr lang="en-US" err="1"/>
              <a:t>impacto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el </a:t>
            </a:r>
            <a:r>
              <a:rPr lang="en-US" err="1"/>
              <a:t>negocio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SLA:</a:t>
            </a:r>
            <a:r>
              <a:rPr lang="en-US"/>
              <a:t> </a:t>
            </a:r>
            <a:r>
              <a:rPr lang="en-US" i="1"/>
              <a:t>Service Level Agreement</a:t>
            </a:r>
            <a:r>
              <a:rPr lang="en-US"/>
              <a:t>, </a:t>
            </a:r>
            <a:r>
              <a:rPr lang="en-US" err="1"/>
              <a:t>acuerdo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define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niveles</a:t>
            </a:r>
            <a:r>
              <a:rPr lang="en-US"/>
              <a:t> y </a:t>
            </a:r>
            <a:r>
              <a:rPr lang="en-US" err="1"/>
              <a:t>tiempos</a:t>
            </a:r>
            <a:r>
              <a:rPr lang="en-US"/>
              <a:t> de </a:t>
            </a:r>
            <a:r>
              <a:rPr lang="en-US" err="1"/>
              <a:t>servicio</a:t>
            </a:r>
            <a:r>
              <a:rPr lang="en-US"/>
              <a:t> </a:t>
            </a:r>
            <a:r>
              <a:rPr lang="en-US" err="1"/>
              <a:t>comprometidos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XLA:</a:t>
            </a:r>
            <a:r>
              <a:rPr lang="en-US"/>
              <a:t> </a:t>
            </a:r>
            <a:r>
              <a:rPr lang="en-US" i="1"/>
              <a:t>Experience Level Agreement</a:t>
            </a:r>
            <a:r>
              <a:rPr lang="en-US"/>
              <a:t>, </a:t>
            </a:r>
            <a:r>
              <a:rPr lang="en-US" err="1"/>
              <a:t>acuerdo</a:t>
            </a:r>
            <a:r>
              <a:rPr lang="en-US"/>
              <a:t> </a:t>
            </a:r>
            <a:r>
              <a:rPr lang="en-US" err="1"/>
              <a:t>enfocado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medir</a:t>
            </a:r>
            <a:r>
              <a:rPr lang="en-US"/>
              <a:t> la </a:t>
            </a:r>
            <a:r>
              <a:rPr lang="en-US" err="1"/>
              <a:t>experiencia</a:t>
            </a:r>
            <a:r>
              <a:rPr lang="en-US"/>
              <a:t> y </a:t>
            </a:r>
            <a:r>
              <a:rPr lang="en-US" err="1"/>
              <a:t>satisfacción</a:t>
            </a:r>
            <a:r>
              <a:rPr lang="en-US"/>
              <a:t> del </a:t>
            </a:r>
            <a:r>
              <a:rPr lang="en-US" err="1"/>
              <a:t>usuario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DEX:</a:t>
            </a:r>
            <a:r>
              <a:rPr lang="en-US"/>
              <a:t> </a:t>
            </a:r>
            <a:r>
              <a:rPr lang="en-US" i="1"/>
              <a:t>Digital Employee Experience</a:t>
            </a:r>
            <a:r>
              <a:rPr lang="en-US"/>
              <a:t>, </a:t>
            </a:r>
            <a:r>
              <a:rPr lang="en-US" err="1"/>
              <a:t>experiencia</a:t>
            </a:r>
            <a:r>
              <a:rPr lang="en-US"/>
              <a:t> digital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tienen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empleados</a:t>
            </a:r>
            <a:r>
              <a:rPr lang="en-US"/>
              <a:t> al usar </a:t>
            </a:r>
            <a:r>
              <a:rPr lang="en-US" err="1"/>
              <a:t>herramientas</a:t>
            </a:r>
            <a:r>
              <a:rPr lang="en-US"/>
              <a:t> y </a:t>
            </a:r>
            <a:r>
              <a:rPr lang="en-US" err="1"/>
              <a:t>servicios</a:t>
            </a:r>
            <a:r>
              <a:rPr lang="en-US"/>
              <a:t> </a:t>
            </a:r>
            <a:r>
              <a:rPr lang="en-US" err="1"/>
              <a:t>tecnológicos</a:t>
            </a:r>
            <a:r>
              <a:rPr lang="en-US"/>
              <a:t>.</a:t>
            </a:r>
            <a:endParaRPr lang="es-ES"/>
          </a:p>
          <a:p>
            <a:pPr marL="285750" indent="-285750"/>
            <a:r>
              <a:rPr lang="en-US" b="1"/>
              <a:t>Self-healing (</a:t>
            </a:r>
            <a:r>
              <a:rPr lang="en-US" b="1" err="1"/>
              <a:t>Autocuración</a:t>
            </a:r>
            <a:r>
              <a:rPr lang="en-US" b="1"/>
              <a:t>)</a:t>
            </a:r>
            <a:endParaRPr lang="en-US" b="1">
              <a:ea typeface="Calibri"/>
            </a:endParaRPr>
          </a:p>
          <a:p>
            <a:pPr marL="285750" indent="-285750"/>
            <a:r>
              <a:rPr lang="en-US"/>
              <a:t>UC (Underpinning Contract): </a:t>
            </a:r>
            <a:r>
              <a:rPr lang="en-US" b="1" err="1"/>
              <a:t>Contrato</a:t>
            </a:r>
            <a:r>
              <a:rPr lang="en-US" b="1"/>
              <a:t> de </a:t>
            </a:r>
            <a:r>
              <a:rPr lang="en-US" b="1" err="1"/>
              <a:t>Soporte</a:t>
            </a:r>
            <a:r>
              <a:rPr lang="en-US" b="1"/>
              <a:t> o </a:t>
            </a:r>
            <a:r>
              <a:rPr lang="en-US" b="1" err="1"/>
              <a:t>Contrato</a:t>
            </a:r>
            <a:r>
              <a:rPr lang="en-US" b="1"/>
              <a:t> de </a:t>
            </a:r>
            <a:r>
              <a:rPr lang="en-US" b="1" err="1"/>
              <a:t>Sustento</a:t>
            </a:r>
            <a:endParaRPr lang="en-US" err="1"/>
          </a:p>
          <a:p>
            <a:pPr marL="285750" indent="-285750"/>
            <a:r>
              <a:rPr lang="en-US"/>
              <a:t>OLA (Operational Level Agreement)</a:t>
            </a:r>
            <a:endParaRPr lang="en-US" b="1">
              <a:ea typeface="Calibri"/>
            </a:endParaRPr>
          </a:p>
          <a:p>
            <a:pPr marL="285750" indent="-285750"/>
            <a:endParaRPr lang="en-US" b="1">
              <a:ea typeface="Calibri"/>
            </a:endParaRPr>
          </a:p>
          <a:p>
            <a:pPr marL="285750" indent="-285750"/>
            <a:endParaRPr lang="en-US" b="1">
              <a:ea typeface="Calibri"/>
            </a:endParaRPr>
          </a:p>
          <a:p>
            <a:pPr marL="285750" indent="-285750">
              <a:buChar char="•"/>
            </a:pPr>
            <a:endParaRPr lang="en-US">
              <a:ea typeface="Calibri"/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719272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9C7B4-A4D0-A7D4-8F60-2424A8C82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1CDE1-4B3C-E37C-02AD-4E4A90FA74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3FD7554-7A78-594E-1C7F-7F0A09F756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96000"/>
              </a:lnSpc>
              <a:buNone/>
            </a:pPr>
            <a:r>
              <a:rPr lang="es-ES" b="1">
                <a:solidFill>
                  <a:srgbClr val="1C3D75"/>
                </a:solidFill>
                <a:highlight>
                  <a:srgbClr val="F8F4F1"/>
                </a:highlight>
              </a:rPr>
              <a:t>PIR: </a:t>
            </a:r>
            <a:r>
              <a:rPr lang="es-ES">
                <a:solidFill>
                  <a:srgbClr val="5A6472"/>
                </a:solidFill>
                <a:highlight>
                  <a:srgbClr val="F8F4F1"/>
                </a:highlight>
              </a:rPr>
              <a:t>Post </a:t>
            </a:r>
            <a:r>
              <a:rPr lang="es-ES" err="1">
                <a:solidFill>
                  <a:srgbClr val="5A6472"/>
                </a:solidFill>
                <a:highlight>
                  <a:srgbClr val="F8F4F1"/>
                </a:highlight>
              </a:rPr>
              <a:t>Implementation</a:t>
            </a:r>
            <a:r>
              <a:rPr lang="es-ES">
                <a:solidFill>
                  <a:srgbClr val="5A6472"/>
                </a:solidFill>
                <a:highlight>
                  <a:srgbClr val="F8F4F1"/>
                </a:highlight>
              </a:rPr>
              <a:t> </a:t>
            </a:r>
            <a:r>
              <a:rPr lang="es-ES" err="1">
                <a:solidFill>
                  <a:srgbClr val="5A6472"/>
                </a:solidFill>
                <a:highlight>
                  <a:srgbClr val="F8F4F1"/>
                </a:highlight>
              </a:rPr>
              <a:t>Review</a:t>
            </a:r>
            <a:endParaRPr lang="en-US" err="1">
              <a:highlight>
                <a:srgbClr val="F8F4F1"/>
              </a:highlight>
            </a:endParaRPr>
          </a:p>
          <a:p>
            <a:pPr marL="0" indent="0">
              <a:lnSpc>
                <a:spcPct val="96000"/>
              </a:lnSpc>
              <a:buNone/>
            </a:pPr>
            <a:r>
              <a:rPr lang="es-ES" b="1">
                <a:solidFill>
                  <a:srgbClr val="1C3D75"/>
                </a:solidFill>
                <a:highlight>
                  <a:srgbClr val="F8F4F1"/>
                </a:highlight>
              </a:rPr>
              <a:t>KCS: </a:t>
            </a:r>
            <a:r>
              <a:rPr lang="es-ES">
                <a:solidFill>
                  <a:srgbClr val="5A6472"/>
                </a:solidFill>
                <a:highlight>
                  <a:srgbClr val="F8F4F1"/>
                </a:highlight>
              </a:rPr>
              <a:t>Knowledge-</a:t>
            </a:r>
            <a:r>
              <a:rPr lang="es-ES" err="1">
                <a:solidFill>
                  <a:srgbClr val="5A6472"/>
                </a:solidFill>
                <a:highlight>
                  <a:srgbClr val="F8F4F1"/>
                </a:highlight>
              </a:rPr>
              <a:t>Centered</a:t>
            </a:r>
            <a:r>
              <a:rPr lang="es-ES">
                <a:solidFill>
                  <a:srgbClr val="5A6472"/>
                </a:solidFill>
                <a:highlight>
                  <a:srgbClr val="F8F4F1"/>
                </a:highlight>
              </a:rPr>
              <a:t> Service</a:t>
            </a:r>
            <a:endParaRPr lang="en-US">
              <a:highlight>
                <a:srgbClr val="F8F4F1"/>
              </a:highlight>
            </a:endParaRPr>
          </a:p>
          <a:p>
            <a:pPr marL="0" indent="0">
              <a:lnSpc>
                <a:spcPct val="96000"/>
              </a:lnSpc>
              <a:buNone/>
            </a:pPr>
            <a:r>
              <a:rPr lang="es-ES" b="1">
                <a:solidFill>
                  <a:srgbClr val="1C3D75"/>
                </a:solidFill>
                <a:highlight>
                  <a:srgbClr val="F8F4F1"/>
                </a:highlight>
              </a:rPr>
              <a:t>IA: </a:t>
            </a:r>
            <a:r>
              <a:rPr lang="es-ES">
                <a:solidFill>
                  <a:srgbClr val="5A6472"/>
                </a:solidFill>
                <a:highlight>
                  <a:srgbClr val="F8F4F1"/>
                </a:highlight>
              </a:rPr>
              <a:t>Inteligencia Artificial</a:t>
            </a:r>
            <a:endParaRPr lang="en-US"/>
          </a:p>
          <a:p>
            <a:pPr>
              <a:buNone/>
            </a:pPr>
            <a:endParaRPr lang="en-US">
              <a:solidFill>
                <a:srgbClr val="191919"/>
              </a:solidFill>
              <a:highlight>
                <a:srgbClr val="F8F4F1"/>
              </a:highlight>
            </a:endParaRPr>
          </a:p>
          <a:p>
            <a:pPr>
              <a:buNone/>
            </a:pP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 swarming en una mesa de servicios se refiere a un modelo de soporte que utiliza la colaboración y la inteligencia colectiva para resolver problemas de manera más eficiente</a:t>
            </a:r>
            <a:endParaRPr lang="es-ES"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buNone/>
            </a:pP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Moveworks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  <a:hlinkClick r:id="rId4"/>
              </a:rPr>
              <a:t>:</a:t>
            </a:r>
            <a:r>
              <a:rPr lang="en-US">
                <a:solidFill>
                  <a:srgbClr val="191919"/>
                </a:solidFill>
                <a:highlight>
                  <a:srgbClr val="F8F4F1"/>
                </a:highlight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en una mesa de servicio se refiere a su capacidad para automatizar y mejorar la gestión de solicitudes de empleados. Al integrarse con sistemas empresariales existentes, Moveworks permite a los equipos de soporte ofrecer un soporte unificado y datos consistentes.</a:t>
            </a:r>
          </a:p>
          <a:p>
            <a:pPr>
              <a:buNone/>
            </a:pPr>
            <a:endParaRPr lang="en-US">
              <a:solidFill>
                <a:srgbClr val="191919"/>
              </a:solidFill>
              <a:highlight>
                <a:srgbClr val="F8F4F1"/>
              </a:highlight>
            </a:endParaRPr>
          </a:p>
          <a:p>
            <a:pPr>
              <a:buNone/>
            </a:pP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 P1: se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refiere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casi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siempre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a la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máxima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prioridad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, un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problema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o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situación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que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exige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una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atención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inmediata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y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exhaustiva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porque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, de no ser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así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, las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consecuencias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pueden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ser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verdaderamente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catastróficas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.</a:t>
            </a:r>
          </a:p>
          <a:p>
            <a:pPr>
              <a:buNone/>
            </a:pPr>
            <a:endParaRPr lang="en-US">
              <a:solidFill>
                <a:srgbClr val="222222"/>
              </a:solidFill>
              <a:highlight>
                <a:srgbClr val="FFFFFF"/>
              </a:highlight>
            </a:endParaRPr>
          </a:p>
          <a:p>
            <a:pPr>
              <a:buNone/>
            </a:pPr>
            <a:r>
              <a:rPr lang="en-US" b="1">
                <a:solidFill>
                  <a:srgbClr val="222222"/>
                </a:solidFill>
                <a:highlight>
                  <a:srgbClr val="FFFFFF"/>
                </a:highlight>
              </a:rPr>
              <a:t>Triage: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Evaluación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inicial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de un ticket para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determinar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su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prioridad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,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categoría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, causa probable y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grupo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responsable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 de </a:t>
            </a:r>
            <a:r>
              <a:rPr lang="en-US" err="1">
                <a:solidFill>
                  <a:srgbClr val="222222"/>
                </a:solidFill>
                <a:highlight>
                  <a:srgbClr val="FFFFFF"/>
                </a:highlight>
              </a:rPr>
              <a:t>atenderlo</a:t>
            </a: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.</a:t>
            </a:r>
            <a:endParaRPr lang="en-US"/>
          </a:p>
          <a:p>
            <a:pPr>
              <a:buNone/>
            </a:pPr>
            <a:endParaRPr lang="en-US">
              <a:solidFill>
                <a:srgbClr val="222222"/>
              </a:solidFill>
              <a:highlight>
                <a:srgbClr val="FFFFFF"/>
              </a:highlight>
            </a:endParaRPr>
          </a:p>
          <a:p>
            <a:pPr>
              <a:buNone/>
            </a:pP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IT knowledge discovery investments will grow as generative AI capabilities mature and service managers push to automate the manual process of creating knowledge articles.</a:t>
            </a:r>
            <a:endParaRPr lang="en-US"/>
          </a:p>
          <a:p>
            <a:pPr>
              <a:buNone/>
            </a:pPr>
            <a:endParaRPr lang="en-US">
              <a:solidFill>
                <a:srgbClr val="222222"/>
              </a:solidFill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3400934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>
                <a:latin typeface="Calibri"/>
                <a:ea typeface="Calibri"/>
                <a:cs typeface="Calibri"/>
              </a:rPr>
              <a:t>ITSM: </a:t>
            </a:r>
            <a:r>
              <a:rPr lang="en-US" err="1"/>
              <a:t>Gestión</a:t>
            </a:r>
            <a:r>
              <a:rPr lang="en-US"/>
              <a:t> de </a:t>
            </a:r>
            <a:r>
              <a:rPr lang="en-US" err="1"/>
              <a:t>Servicios</a:t>
            </a:r>
            <a:r>
              <a:rPr lang="en-US"/>
              <a:t> de </a:t>
            </a:r>
            <a:r>
              <a:rPr lang="en-US" err="1"/>
              <a:t>Tecnologías</a:t>
            </a:r>
            <a:r>
              <a:rPr lang="en-US"/>
              <a:t> de la </a:t>
            </a:r>
            <a:r>
              <a:rPr lang="en-US" err="1"/>
              <a:t>Información.Disciplina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gestiona</a:t>
            </a:r>
            <a:r>
              <a:rPr lang="en-US"/>
              <a:t> la </a:t>
            </a:r>
            <a:r>
              <a:rPr lang="en-US" err="1"/>
              <a:t>entrega</a:t>
            </a:r>
            <a:r>
              <a:rPr lang="en-US"/>
              <a:t> y </a:t>
            </a:r>
            <a:r>
              <a:rPr lang="en-US" err="1"/>
              <a:t>mejora</a:t>
            </a:r>
            <a:r>
              <a:rPr lang="en-US"/>
              <a:t> continua de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servicios</a:t>
            </a:r>
            <a:r>
              <a:rPr lang="en-US"/>
              <a:t> de TI para </a:t>
            </a:r>
            <a:r>
              <a:rPr lang="en-US" err="1"/>
              <a:t>generar</a:t>
            </a:r>
            <a:r>
              <a:rPr lang="en-US"/>
              <a:t> valor al </a:t>
            </a:r>
            <a:r>
              <a:rPr lang="en-US" err="1"/>
              <a:t>negocio</a:t>
            </a:r>
            <a:r>
              <a:rPr lang="en-US"/>
              <a:t> y a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usuarios</a:t>
            </a:r>
            <a:endParaRPr lang="en-US" err="1">
              <a:ea typeface="Calibri"/>
            </a:endParaRPr>
          </a:p>
          <a:p>
            <a:pPr>
              <a:buNone/>
            </a:pPr>
            <a:endParaRPr lang="en-US">
              <a:ea typeface="Calibri"/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722112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b="1"/>
              <a:t>CAGR: Compound Annual Growth Rate</a:t>
            </a:r>
            <a:r>
              <a:rPr lang="en-US"/>
              <a:t>,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español</a:t>
            </a:r>
            <a:r>
              <a:rPr lang="en-US"/>
              <a:t> </a:t>
            </a:r>
            <a:r>
              <a:rPr lang="en-US" b="1"/>
              <a:t>Tasa de </a:t>
            </a:r>
            <a:r>
              <a:rPr lang="en-US" b="1" err="1"/>
              <a:t>Crecimiento</a:t>
            </a:r>
            <a:r>
              <a:rPr lang="en-US" b="1"/>
              <a:t> </a:t>
            </a:r>
            <a:r>
              <a:rPr lang="en-US" b="1" err="1"/>
              <a:t>Anual</a:t>
            </a:r>
            <a:r>
              <a:rPr lang="en-US" b="1"/>
              <a:t> </a:t>
            </a:r>
            <a:r>
              <a:rPr lang="en-US" b="1" err="1"/>
              <a:t>Compuesta</a:t>
            </a:r>
            <a:r>
              <a:rPr lang="en-US"/>
              <a:t>.</a:t>
            </a:r>
            <a:endParaRPr lang="es-ES"/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085141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 err="1"/>
              <a:t>Autohealing</a:t>
            </a:r>
            <a:r>
              <a:rPr lang="en-US" dirty="0"/>
              <a:t> (o </a:t>
            </a:r>
            <a:r>
              <a:rPr lang="en-US" b="1" dirty="0" err="1"/>
              <a:t>autocuración</a:t>
            </a:r>
            <a:r>
              <a:rPr lang="en-US" dirty="0"/>
              <a:t>)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b="1" dirty="0"/>
              <a:t>mesa de </a:t>
            </a:r>
            <a:r>
              <a:rPr lang="en-US" b="1" dirty="0" err="1"/>
              <a:t>servicio</a:t>
            </a:r>
            <a:r>
              <a:rPr lang="en-US" b="1" dirty="0"/>
              <a:t> (Service Desk)</a:t>
            </a:r>
            <a:r>
              <a:rPr lang="en-US" dirty="0"/>
              <a:t> es la </a:t>
            </a:r>
            <a:r>
              <a:rPr lang="en-US" dirty="0" err="1"/>
              <a:t>capacidad</a:t>
            </a:r>
            <a:r>
              <a:rPr lang="en-US" dirty="0"/>
              <a:t> de un </a:t>
            </a:r>
            <a:r>
              <a:rPr lang="en-US" dirty="0" err="1"/>
              <a:t>sistema</a:t>
            </a:r>
            <a:r>
              <a:rPr lang="en-US" dirty="0"/>
              <a:t> para </a:t>
            </a:r>
            <a:r>
              <a:rPr lang="en-US" b="1" dirty="0" err="1"/>
              <a:t>detectar</a:t>
            </a:r>
            <a:r>
              <a:rPr lang="en-US" b="1" dirty="0"/>
              <a:t> y resolver </a:t>
            </a:r>
            <a:r>
              <a:rPr lang="en-US" b="1" dirty="0" err="1"/>
              <a:t>automáticamente</a:t>
            </a:r>
            <a:r>
              <a:rPr lang="en-US" b="1" dirty="0"/>
              <a:t> </a:t>
            </a:r>
            <a:r>
              <a:rPr lang="en-US" b="1" dirty="0" err="1"/>
              <a:t>incidentes</a:t>
            </a:r>
            <a:r>
              <a:rPr lang="en-US" b="1" dirty="0"/>
              <a:t> o </a:t>
            </a:r>
            <a:r>
              <a:rPr lang="en-US" b="1" dirty="0" err="1"/>
              <a:t>problemas</a:t>
            </a:r>
            <a:r>
              <a:rPr lang="en-US" b="1" dirty="0"/>
              <a:t> </a:t>
            </a:r>
            <a:r>
              <a:rPr lang="en-US" b="1" dirty="0" err="1"/>
              <a:t>comunes</a:t>
            </a:r>
            <a:r>
              <a:rPr lang="en-US" b="1" dirty="0"/>
              <a:t> sin </a:t>
            </a:r>
            <a:r>
              <a:rPr lang="en-US" b="1" dirty="0" err="1"/>
              <a:t>intervención</a:t>
            </a:r>
            <a:r>
              <a:rPr lang="en-US" b="1" dirty="0"/>
              <a:t> humana</a:t>
            </a:r>
            <a:r>
              <a:rPr lang="en-US" dirty="0"/>
              <a:t>.</a:t>
            </a:r>
            <a:endParaRPr lang="es-ES" dirty="0"/>
          </a:p>
          <a:p>
            <a:pPr>
              <a:buNone/>
            </a:pPr>
            <a:endParaRPr lang="en-US" dirty="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187408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/>
              <a:t>Shift-Left: Cada punto de </a:t>
            </a:r>
            <a:r>
              <a:rPr lang="en-US" err="1"/>
              <a:t>defleccion</a:t>
            </a:r>
            <a:r>
              <a:rPr lang="en-US"/>
              <a:t> = </a:t>
            </a:r>
            <a:r>
              <a:rPr lang="en-US" err="1"/>
              <a:t>ahorro</a:t>
            </a:r>
            <a:r>
              <a:rPr lang="en-US"/>
              <a:t> </a:t>
            </a:r>
            <a:r>
              <a:rPr lang="en-US" err="1"/>
              <a:t>cuantificable</a:t>
            </a:r>
            <a:r>
              <a:rPr lang="en-US"/>
              <a:t> : </a:t>
            </a:r>
            <a:r>
              <a:rPr lang="en-US" err="1"/>
              <a:t>significa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cada</a:t>
            </a:r>
            <a:r>
              <a:rPr lang="en-US"/>
              <a:t> </a:t>
            </a:r>
            <a:r>
              <a:rPr lang="en-US" err="1"/>
              <a:t>caso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se </a:t>
            </a:r>
            <a:r>
              <a:rPr lang="en-US" err="1"/>
              <a:t>resuelve</a:t>
            </a:r>
            <a:r>
              <a:rPr lang="en-US"/>
              <a:t> antes de </a:t>
            </a:r>
            <a:r>
              <a:rPr lang="en-US" err="1"/>
              <a:t>llegar</a:t>
            </a:r>
            <a:r>
              <a:rPr lang="en-US"/>
              <a:t> a </a:t>
            </a:r>
            <a:r>
              <a:rPr lang="en-US" err="1"/>
              <a:t>niveles</a:t>
            </a:r>
            <a:r>
              <a:rPr lang="en-US"/>
              <a:t> de </a:t>
            </a:r>
            <a:r>
              <a:rPr lang="en-US" err="1"/>
              <a:t>soporte</a:t>
            </a:r>
            <a:r>
              <a:rPr lang="en-US"/>
              <a:t> </a:t>
            </a:r>
            <a:r>
              <a:rPr lang="en-US" err="1"/>
              <a:t>más</a:t>
            </a:r>
            <a:r>
              <a:rPr lang="en-US"/>
              <a:t> </a:t>
            </a:r>
            <a:r>
              <a:rPr lang="en-US" err="1"/>
              <a:t>costosos</a:t>
            </a:r>
            <a:r>
              <a:rPr lang="en-US"/>
              <a:t> genera un </a:t>
            </a:r>
            <a:r>
              <a:rPr lang="en-US" err="1"/>
              <a:t>ahorro</a:t>
            </a:r>
            <a:r>
              <a:rPr lang="en-US"/>
              <a:t> </a:t>
            </a:r>
            <a:r>
              <a:rPr lang="en-US" err="1"/>
              <a:t>medible</a:t>
            </a:r>
            <a:r>
              <a:rPr lang="en-US"/>
              <a:t> para la </a:t>
            </a:r>
            <a:r>
              <a:rPr lang="en-US" err="1"/>
              <a:t>organización</a:t>
            </a:r>
            <a:r>
              <a:rPr lang="en-US"/>
              <a:t>.</a:t>
            </a:r>
            <a:endParaRPr lang="es-ES"/>
          </a:p>
          <a:p>
            <a:pPr>
              <a:buNone/>
            </a:pPr>
            <a:r>
              <a:rPr lang="en-US" b="1"/>
              <a:t>Shift-Left (</a:t>
            </a:r>
            <a:r>
              <a:rPr lang="en-US" b="1" err="1"/>
              <a:t>Desplazamiento</a:t>
            </a:r>
            <a:r>
              <a:rPr lang="en-US" b="1"/>
              <a:t> </a:t>
            </a:r>
            <a:r>
              <a:rPr lang="en-US" b="1" err="1"/>
              <a:t>hacia</a:t>
            </a:r>
            <a:r>
              <a:rPr lang="en-US" b="1"/>
              <a:t> la Izquierda):</a:t>
            </a:r>
            <a:r>
              <a:rPr lang="en-US"/>
              <a:t> </a:t>
            </a:r>
            <a:r>
              <a:rPr lang="en-US" err="1"/>
              <a:t>Estrategia</a:t>
            </a:r>
            <a:r>
              <a:rPr lang="en-US"/>
              <a:t> de </a:t>
            </a:r>
            <a:r>
              <a:rPr lang="en-US" err="1"/>
              <a:t>gestión</a:t>
            </a:r>
            <a:r>
              <a:rPr lang="en-US"/>
              <a:t> de </a:t>
            </a:r>
            <a:r>
              <a:rPr lang="en-US" err="1"/>
              <a:t>servicios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busca</a:t>
            </a:r>
            <a:r>
              <a:rPr lang="en-US"/>
              <a:t> resolver </a:t>
            </a:r>
            <a:r>
              <a:rPr lang="en-US" err="1"/>
              <a:t>incidentes</a:t>
            </a:r>
            <a:r>
              <a:rPr lang="en-US"/>
              <a:t> y solicitudes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niveles</a:t>
            </a:r>
            <a:r>
              <a:rPr lang="en-US"/>
              <a:t> </a:t>
            </a:r>
            <a:r>
              <a:rPr lang="en-US" err="1"/>
              <a:t>más</a:t>
            </a:r>
            <a:r>
              <a:rPr lang="en-US"/>
              <a:t> </a:t>
            </a:r>
            <a:r>
              <a:rPr lang="en-US" err="1"/>
              <a:t>cercanos</a:t>
            </a:r>
            <a:r>
              <a:rPr lang="en-US"/>
              <a:t> al </a:t>
            </a:r>
            <a:r>
              <a:rPr lang="en-US" err="1"/>
              <a:t>usuario</a:t>
            </a:r>
            <a:r>
              <a:rPr lang="en-US"/>
              <a:t> (</a:t>
            </a:r>
            <a:r>
              <a:rPr lang="en-US" err="1"/>
              <a:t>autoservicio</a:t>
            </a:r>
            <a:r>
              <a:rPr lang="en-US"/>
              <a:t>, base de </a:t>
            </a:r>
            <a:r>
              <a:rPr lang="en-US" err="1"/>
              <a:t>conocimiento</a:t>
            </a:r>
            <a:r>
              <a:rPr lang="en-US"/>
              <a:t>, chatbot o </a:t>
            </a:r>
            <a:r>
              <a:rPr lang="en-US" err="1"/>
              <a:t>soporte</a:t>
            </a:r>
            <a:r>
              <a:rPr lang="en-US"/>
              <a:t> N1), </a:t>
            </a:r>
            <a:r>
              <a:rPr lang="en-US" err="1"/>
              <a:t>evitando</a:t>
            </a:r>
            <a:r>
              <a:rPr lang="en-US"/>
              <a:t> </a:t>
            </a:r>
            <a:r>
              <a:rPr lang="en-US" err="1"/>
              <a:t>escalaciones</a:t>
            </a:r>
            <a:r>
              <a:rPr lang="en-US"/>
              <a:t> </a:t>
            </a:r>
            <a:r>
              <a:rPr lang="en-US" err="1"/>
              <a:t>innecesarias</a:t>
            </a:r>
            <a:r>
              <a:rPr lang="en-US"/>
              <a:t> y </a:t>
            </a:r>
            <a:r>
              <a:rPr lang="en-US" err="1"/>
              <a:t>reduciendo</a:t>
            </a:r>
            <a:r>
              <a:rPr lang="en-US"/>
              <a:t> </a:t>
            </a:r>
            <a:r>
              <a:rPr lang="en-US" err="1"/>
              <a:t>costos</a:t>
            </a:r>
            <a:r>
              <a:rPr lang="en-US"/>
              <a:t>, </a:t>
            </a:r>
            <a:r>
              <a:rPr lang="en-US" err="1"/>
              <a:t>tiempos</a:t>
            </a:r>
            <a:r>
              <a:rPr lang="en-US"/>
              <a:t> de </a:t>
            </a:r>
            <a:r>
              <a:rPr lang="en-US" err="1"/>
              <a:t>atención</a:t>
            </a:r>
            <a:r>
              <a:rPr lang="en-US"/>
              <a:t> y </a:t>
            </a:r>
            <a:r>
              <a:rPr lang="en-US" err="1"/>
              <a:t>esfuerzo</a:t>
            </a:r>
            <a:r>
              <a:rPr lang="en-US"/>
              <a:t> </a:t>
            </a:r>
            <a:r>
              <a:rPr lang="en-US" err="1"/>
              <a:t>operativo</a:t>
            </a:r>
            <a:r>
              <a:rPr lang="en-US"/>
              <a:t>.</a:t>
            </a:r>
          </a:p>
          <a:p>
            <a:pPr>
              <a:buNone/>
            </a:pPr>
            <a:endParaRPr lang="en-US">
              <a:ea typeface="Calibri"/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895751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/>
              <a:t>5. Benchmarks de </a:t>
            </a:r>
            <a:r>
              <a:rPr lang="en-US" err="1"/>
              <a:t>Madurez</a:t>
            </a:r>
            <a:r>
              <a:rPr lang="en-US"/>
              <a:t> y </a:t>
            </a:r>
            <a:r>
              <a:rPr lang="en-US" err="1"/>
              <a:t>Métricas</a:t>
            </a:r>
            <a:r>
              <a:rPr lang="en-US"/>
              <a:t> de la Industria</a:t>
            </a:r>
            <a:endParaRPr lang="es-ES"/>
          </a:p>
          <a:p>
            <a:pPr>
              <a:buNone/>
            </a:pPr>
            <a:r>
              <a:rPr lang="en-US"/>
              <a:t>Estos benchmarks son el </a:t>
            </a:r>
            <a:r>
              <a:rPr lang="en-US" err="1"/>
              <a:t>insumo</a:t>
            </a:r>
            <a:r>
              <a:rPr lang="en-US"/>
              <a:t> </a:t>
            </a:r>
            <a:r>
              <a:rPr lang="en-US" err="1"/>
              <a:t>crítico</a:t>
            </a:r>
            <a:r>
              <a:rPr lang="en-US"/>
              <a:t> para el Framework de Assessment: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clasificar</a:t>
            </a:r>
            <a:r>
              <a:rPr lang="en-US"/>
              <a:t> </a:t>
            </a:r>
            <a:r>
              <a:rPr lang="en-US" err="1"/>
              <a:t>objetivamente</a:t>
            </a:r>
            <a:r>
              <a:rPr lang="en-US"/>
              <a:t> </a:t>
            </a:r>
            <a:r>
              <a:rPr lang="en-US" err="1"/>
              <a:t>cualquier</a:t>
            </a:r>
            <a:r>
              <a:rPr lang="en-US"/>
              <a:t> mesa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su</a:t>
            </a:r>
            <a:r>
              <a:rPr lang="en-US"/>
              <a:t> </a:t>
            </a:r>
            <a:r>
              <a:rPr lang="en-US" err="1"/>
              <a:t>nivel</a:t>
            </a:r>
            <a:r>
              <a:rPr lang="en-US"/>
              <a:t> de </a:t>
            </a:r>
            <a:r>
              <a:rPr lang="en-US" err="1"/>
              <a:t>madurez</a:t>
            </a:r>
            <a:r>
              <a:rPr lang="en-US"/>
              <a:t>.</a:t>
            </a:r>
            <a:endParaRPr lang="es-ES"/>
          </a:p>
          <a:p>
            <a:pPr>
              <a:buNone/>
            </a:pPr>
            <a:r>
              <a:rPr lang="en-US"/>
              <a:t> </a:t>
            </a:r>
            <a:endParaRPr lang="es-ES"/>
          </a:p>
          <a:p>
            <a:pPr>
              <a:buNone/>
            </a:pPr>
            <a:r>
              <a:rPr lang="en-US" err="1"/>
              <a:t>Métrica</a:t>
            </a:r>
            <a:r>
              <a:rPr lang="en-US"/>
              <a:t>    </a:t>
            </a:r>
            <a:r>
              <a:rPr lang="en-US" err="1"/>
              <a:t>Promedio</a:t>
            </a:r>
            <a:r>
              <a:rPr lang="en-US"/>
              <a:t> Industria    World-Class / Best-in-Class    Fuente</a:t>
            </a:r>
            <a:endParaRPr lang="es-ES"/>
          </a:p>
          <a:p>
            <a:pPr>
              <a:buNone/>
            </a:pPr>
            <a:r>
              <a:rPr lang="en-US"/>
              <a:t>FCR (First Contact Resolution)    74%    ≥80%    SQM Group / HDI</a:t>
            </a:r>
            <a:endParaRPr lang="es-ES"/>
          </a:p>
          <a:p>
            <a:pPr>
              <a:buNone/>
            </a:pPr>
            <a:r>
              <a:rPr lang="en-US"/>
              <a:t>MTTR (Mean Time to Resolution)    8.85 horas    &lt;4 horas (bueno) / &lt;1 hora (world-class)    </a:t>
            </a:r>
            <a:r>
              <a:rPr lang="en-US" err="1"/>
              <a:t>MetricNet</a:t>
            </a:r>
            <a:r>
              <a:rPr lang="en-US"/>
              <a:t>/HDI</a:t>
            </a:r>
            <a:endParaRPr lang="es-ES"/>
          </a:p>
          <a:p>
            <a:pPr>
              <a:buNone/>
            </a:pPr>
            <a:r>
              <a:rPr lang="en-US"/>
              <a:t>CSAT    73–86% (</a:t>
            </a:r>
            <a:r>
              <a:rPr lang="en-US" err="1"/>
              <a:t>varía</a:t>
            </a:r>
            <a:r>
              <a:rPr lang="en-US"/>
              <a:t> </a:t>
            </a:r>
            <a:r>
              <a:rPr lang="en-US" err="1"/>
              <a:t>por</a:t>
            </a:r>
            <a:r>
              <a:rPr lang="en-US"/>
              <a:t> </a:t>
            </a:r>
            <a:r>
              <a:rPr lang="en-US" err="1"/>
              <a:t>período</a:t>
            </a:r>
            <a:r>
              <a:rPr lang="en-US"/>
              <a:t>)    ≥90%    HDI metrics / </a:t>
            </a:r>
            <a:r>
              <a:rPr lang="en-US" err="1"/>
              <a:t>HelpDeskFocus</a:t>
            </a:r>
            <a:endParaRPr lang="es-ES" err="1"/>
          </a:p>
          <a:p>
            <a:pPr>
              <a:buNone/>
            </a:pPr>
            <a:r>
              <a:rPr lang="en-US"/>
              <a:t>AHT (Average Handle Time)    6–8 min (</a:t>
            </a:r>
            <a:r>
              <a:rPr lang="en-US" err="1"/>
              <a:t>voz</a:t>
            </a:r>
            <a:r>
              <a:rPr lang="en-US"/>
              <a:t>)    &lt;7 min (</a:t>
            </a:r>
            <a:r>
              <a:rPr lang="en-US" err="1"/>
              <a:t>voz</a:t>
            </a:r>
            <a:r>
              <a:rPr lang="en-US"/>
              <a:t> world-class)    </a:t>
            </a:r>
            <a:r>
              <a:rPr lang="en-US" err="1"/>
              <a:t>IrisAgent</a:t>
            </a:r>
            <a:r>
              <a:rPr lang="en-US"/>
              <a:t> / HDI metrics</a:t>
            </a:r>
            <a:endParaRPr lang="es-ES"/>
          </a:p>
          <a:p>
            <a:pPr>
              <a:buNone/>
            </a:pPr>
            <a:r>
              <a:rPr lang="en-US"/>
              <a:t>Costo </a:t>
            </a:r>
            <a:r>
              <a:rPr lang="en-US" err="1"/>
              <a:t>por</a:t>
            </a:r>
            <a:r>
              <a:rPr lang="en-US"/>
              <a:t> ticket N0    USD 2    —    Giva</a:t>
            </a:r>
            <a:endParaRPr lang="es-ES"/>
          </a:p>
          <a:p>
            <a:pPr>
              <a:buNone/>
            </a:pPr>
            <a:r>
              <a:rPr lang="en-US"/>
              <a:t>Costo </a:t>
            </a:r>
            <a:r>
              <a:rPr lang="en-US" err="1"/>
              <a:t>por</a:t>
            </a:r>
            <a:r>
              <a:rPr lang="en-US"/>
              <a:t> ticket N1    USD 22–35    USD 15–18    </a:t>
            </a:r>
            <a:r>
              <a:rPr lang="en-US" err="1"/>
              <a:t>Kwestra</a:t>
            </a:r>
            <a:endParaRPr lang="es-ES" err="1"/>
          </a:p>
          <a:p>
            <a:pPr>
              <a:buNone/>
            </a:pPr>
            <a:r>
              <a:rPr lang="en-US"/>
              <a:t>Costo </a:t>
            </a:r>
            <a:r>
              <a:rPr lang="en-US" err="1"/>
              <a:t>por</a:t>
            </a:r>
            <a:r>
              <a:rPr lang="en-US"/>
              <a:t> ticket N3    USD 104    —    Giva</a:t>
            </a:r>
            <a:endParaRPr lang="es-ES"/>
          </a:p>
          <a:p>
            <a:pPr>
              <a:buNone/>
            </a:pPr>
            <a:r>
              <a:rPr lang="en-US"/>
              <a:t>Deflection / Ticket deflection rate    23%    40–60% (maduro) / 80–90% (</a:t>
            </a:r>
            <a:r>
              <a:rPr lang="en-US" err="1"/>
              <a:t>casos</a:t>
            </a:r>
            <a:r>
              <a:rPr lang="en-US"/>
              <a:t> </a:t>
            </a:r>
            <a:r>
              <a:rPr lang="en-US" err="1"/>
              <a:t>líderes</a:t>
            </a:r>
            <a:r>
              <a:rPr lang="en-US"/>
              <a:t>)    </a:t>
            </a:r>
            <a:r>
              <a:rPr lang="en-US" err="1"/>
              <a:t>servicedeskagents</a:t>
            </a:r>
            <a:r>
              <a:rPr lang="en-US"/>
              <a:t> / </a:t>
            </a:r>
            <a:r>
              <a:rPr lang="en-US" err="1"/>
              <a:t>Kwestra</a:t>
            </a:r>
            <a:endParaRPr lang="es-ES" err="1"/>
          </a:p>
          <a:p>
            <a:pPr>
              <a:buNone/>
            </a:pPr>
            <a:r>
              <a:rPr lang="en-US"/>
              <a:t>Impacto GenAI </a:t>
            </a:r>
            <a:r>
              <a:rPr lang="en-US" err="1"/>
              <a:t>en</a:t>
            </a:r>
            <a:r>
              <a:rPr lang="en-US"/>
              <a:t> MTTR    -17.8% (SolarWinds) / -26.6% (</a:t>
            </a:r>
            <a:r>
              <a:rPr lang="en-US" err="1"/>
              <a:t>Freshservice</a:t>
            </a:r>
            <a:r>
              <a:rPr lang="en-US"/>
              <a:t>)    —    </a:t>
            </a:r>
            <a:r>
              <a:rPr lang="en-US" err="1"/>
              <a:t>Contentstack</a:t>
            </a:r>
            <a:r>
              <a:rPr lang="en-US"/>
              <a:t> ITSM / </a:t>
            </a:r>
            <a:r>
              <a:rPr lang="en-US" err="1"/>
              <a:t>Freshservice</a:t>
            </a:r>
            <a:r>
              <a:rPr lang="en-US"/>
              <a:t> benchmark</a:t>
            </a:r>
            <a:endParaRPr lang="es-ES"/>
          </a:p>
          <a:p>
            <a:pPr>
              <a:buNone/>
            </a:pPr>
            <a:r>
              <a:rPr lang="en-US"/>
              <a:t>Impacto KCS+IA </a:t>
            </a:r>
            <a:r>
              <a:rPr lang="en-US" err="1"/>
              <a:t>en</a:t>
            </a:r>
            <a:r>
              <a:rPr lang="en-US"/>
              <a:t> FCR    +5–7 puntos    —    SDI</a:t>
            </a:r>
            <a:endParaRPr lang="es-ES"/>
          </a:p>
          <a:p>
            <a:pPr>
              <a:buNone/>
            </a:pPr>
            <a:r>
              <a:rPr lang="en-US"/>
              <a:t>Impacto IA </a:t>
            </a:r>
            <a:r>
              <a:rPr lang="en-US" err="1"/>
              <a:t>en</a:t>
            </a:r>
            <a:r>
              <a:rPr lang="en-US"/>
              <a:t> CSAT    +15–22 pts </a:t>
            </a:r>
            <a:r>
              <a:rPr lang="en-US" err="1"/>
              <a:t>cuando</a:t>
            </a:r>
            <a:r>
              <a:rPr lang="en-US"/>
              <a:t> </a:t>
            </a:r>
            <a:r>
              <a:rPr lang="en-US" err="1"/>
              <a:t>espera</a:t>
            </a:r>
            <a:r>
              <a:rPr lang="en-US"/>
              <a:t> &lt; 5 min    —    Stealth Agents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08862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400"/>
              </a:spcBef>
              <a:buNone/>
            </a:pPr>
            <a:r>
              <a:rPr lang="es-CO" b="1">
                <a:solidFill>
                  <a:srgbClr val="2E3B4E"/>
                </a:solidFill>
              </a:rPr>
              <a:t>Métricas: XLA; </a:t>
            </a:r>
            <a:endParaRPr lang="en-US"/>
          </a:p>
          <a:p>
            <a:pPr marL="0" indent="0">
              <a:buNone/>
            </a:pPr>
            <a:r>
              <a:rPr lang="es-CO" err="1">
                <a:solidFill>
                  <a:srgbClr val="6B6B6B"/>
                </a:solidFill>
                <a:highlight>
                  <a:srgbClr val="FFFF00"/>
                </a:highlight>
              </a:rPr>
              <a:t>Satisfaction</a:t>
            </a:r>
            <a:r>
              <a:rPr lang="es-CO">
                <a:solidFill>
                  <a:srgbClr val="6B6B6B"/>
                </a:solidFill>
                <a:highlight>
                  <a:srgbClr val="FFFF00"/>
                </a:highlight>
              </a:rPr>
              <a:t>, </a:t>
            </a:r>
            <a:r>
              <a:rPr lang="es-CO" err="1">
                <a:solidFill>
                  <a:srgbClr val="6B6B6B"/>
                </a:solidFill>
                <a:highlight>
                  <a:srgbClr val="FFFF00"/>
                </a:highlight>
              </a:rPr>
              <a:t>sentiment</a:t>
            </a:r>
            <a:r>
              <a:rPr lang="es-CO">
                <a:solidFill>
                  <a:srgbClr val="6B6B6B"/>
                </a:solidFill>
                <a:highlight>
                  <a:srgbClr val="FFFF00"/>
                </a:highlight>
              </a:rPr>
              <a:t>, </a:t>
            </a:r>
            <a:r>
              <a:rPr lang="es-CO" err="1">
                <a:solidFill>
                  <a:srgbClr val="6B6B6B"/>
                </a:solidFill>
                <a:highlight>
                  <a:srgbClr val="FFFF00"/>
                </a:highlight>
              </a:rPr>
              <a:t>effort</a:t>
            </a:r>
            <a:r>
              <a:rPr lang="es-CO" u="sng">
                <a:solidFill>
                  <a:srgbClr val="6B6B6B"/>
                </a:solidFill>
                <a:highlight>
                  <a:srgbClr val="FFFF00"/>
                </a:highlight>
              </a:rPr>
              <a:t> (SURA </a:t>
            </a:r>
            <a:r>
              <a:rPr lang="es-CO" u="sng" err="1">
                <a:solidFill>
                  <a:srgbClr val="6B6B6B"/>
                </a:solidFill>
                <a:highlight>
                  <a:srgbClr val="FFFF00"/>
                </a:highlight>
              </a:rPr>
              <a:t>cotizadores</a:t>
            </a:r>
            <a:r>
              <a:rPr lang="es-CO" u="sng">
                <a:solidFill>
                  <a:srgbClr val="6B6B6B"/>
                </a:solidFill>
                <a:highlight>
                  <a:srgbClr val="FFFF00"/>
                </a:highlight>
              </a:rPr>
              <a:t> N2.)</a:t>
            </a:r>
            <a:endParaRPr lang="es-ES"/>
          </a:p>
          <a:p>
            <a:pPr marL="0" indent="0">
              <a:buNone/>
            </a:pPr>
            <a:endParaRPr lang="es-CO" u="sng">
              <a:solidFill>
                <a:srgbClr val="6B6B6B"/>
              </a:solidFill>
              <a:highlight>
                <a:srgbClr val="FFFF00"/>
              </a:highlight>
            </a:endParaRPr>
          </a:p>
          <a:p>
            <a:pPr marL="171450" indent="-171450"/>
            <a:r>
              <a:rPr lang="es-CO" b="1">
                <a:solidFill>
                  <a:srgbClr val="6B6B6B"/>
                </a:solidFill>
                <a:highlight>
                  <a:srgbClr val="FFFF00"/>
                </a:highlight>
              </a:rPr>
              <a:t>Service </a:t>
            </a:r>
            <a:r>
              <a:rPr lang="es-CO" b="1" err="1">
                <a:solidFill>
                  <a:srgbClr val="6B6B6B"/>
                </a:solidFill>
                <a:highlight>
                  <a:srgbClr val="FFFF00"/>
                </a:highlight>
              </a:rPr>
              <a:t>Operations</a:t>
            </a:r>
            <a:r>
              <a:rPr lang="es-CO" b="1">
                <a:solidFill>
                  <a:srgbClr val="6B6B6B"/>
                </a:solidFill>
                <a:highlight>
                  <a:srgbClr val="FFFF00"/>
                </a:highlight>
              </a:rPr>
              <a:t> Center (SOC)</a:t>
            </a:r>
            <a:r>
              <a:rPr lang="es-CO">
                <a:solidFill>
                  <a:srgbClr val="6B6B6B"/>
                </a:solidFill>
                <a:highlight>
                  <a:srgbClr val="FFFF00"/>
                </a:highlight>
              </a:rPr>
              <a:t>: centro de operaciones de servicios encargado de monitorear y gestionar la operación de TI.</a:t>
            </a:r>
            <a:endParaRPr lang="es-CO"/>
          </a:p>
          <a:p>
            <a:pPr marL="171450" indent="-171450"/>
            <a:r>
              <a:rPr lang="es-CO" b="1">
                <a:solidFill>
                  <a:srgbClr val="6B6B6B"/>
                </a:solidFill>
                <a:highlight>
                  <a:srgbClr val="FFFF00"/>
                </a:highlight>
              </a:rPr>
              <a:t>Security </a:t>
            </a:r>
            <a:r>
              <a:rPr lang="es-CO" b="1" err="1">
                <a:solidFill>
                  <a:srgbClr val="6B6B6B"/>
                </a:solidFill>
                <a:highlight>
                  <a:srgbClr val="FFFF00"/>
                </a:highlight>
              </a:rPr>
              <a:t>Operations</a:t>
            </a:r>
            <a:r>
              <a:rPr lang="es-CO" b="1">
                <a:solidFill>
                  <a:srgbClr val="6B6B6B"/>
                </a:solidFill>
                <a:highlight>
                  <a:srgbClr val="FFFF00"/>
                </a:highlight>
              </a:rPr>
              <a:t> Center (SOC)</a:t>
            </a:r>
            <a:r>
              <a:rPr lang="es-CO">
                <a:solidFill>
                  <a:srgbClr val="6B6B6B"/>
                </a:solidFill>
                <a:highlight>
                  <a:srgbClr val="FFFF00"/>
                </a:highlight>
              </a:rPr>
              <a:t>: equipo especializado en monitoreo y respuesta a incidentes de seguridad informática.</a:t>
            </a:r>
            <a:endParaRPr lang="es-CO"/>
          </a:p>
          <a:p>
            <a:pPr marL="0" indent="0">
              <a:buNone/>
            </a:pPr>
            <a:endParaRPr lang="es-CO" u="sng">
              <a:solidFill>
                <a:srgbClr val="6B6B6B"/>
              </a:solidFill>
              <a:highlight>
                <a:srgbClr val="FFFF00"/>
              </a:highlight>
            </a:endParaRPr>
          </a:p>
          <a:p>
            <a:pPr>
              <a:buNone/>
            </a:pPr>
            <a:r>
              <a:rPr lang="es-ES" b="1">
                <a:solidFill>
                  <a:schemeClr val="tx1"/>
                </a:solidFill>
              </a:rPr>
              <a:t>5.2 XLA en la Práctica: Del </a:t>
            </a:r>
            <a:r>
              <a:rPr lang="es-ES" b="1" err="1">
                <a:solidFill>
                  <a:schemeClr val="tx1"/>
                </a:solidFill>
              </a:rPr>
              <a:t>Hype</a:t>
            </a:r>
            <a:r>
              <a:rPr lang="es-ES" b="1">
                <a:solidFill>
                  <a:schemeClr val="tx1"/>
                </a:solidFill>
              </a:rPr>
              <a:t> a la Madurez (2025-2026)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>
                <a:solidFill>
                  <a:schemeClr val="tx1"/>
                </a:solidFill>
              </a:rPr>
              <a:t>El primer </a:t>
            </a:r>
            <a:r>
              <a:rPr lang="en-US" err="1">
                <a:solidFill>
                  <a:schemeClr val="tx1"/>
                </a:solidFill>
              </a:rPr>
              <a:t>reporte</a:t>
            </a:r>
            <a:r>
              <a:rPr lang="en-US">
                <a:solidFill>
                  <a:schemeClr val="tx1"/>
                </a:solidFill>
              </a:rPr>
              <a:t> global del </a:t>
            </a:r>
            <a:r>
              <a:rPr lang="en-US" b="1">
                <a:solidFill>
                  <a:schemeClr val="tx1"/>
                </a:solidFill>
              </a:rPr>
              <a:t>XLA Institute, "State of XLA 2025"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presentado</a:t>
            </a:r>
            <a:r>
              <a:rPr lang="en-US">
                <a:solidFill>
                  <a:schemeClr val="tx1"/>
                </a:solidFill>
              </a:rPr>
              <a:t> el 12 de </a:t>
            </a:r>
            <a:r>
              <a:rPr lang="en-US" err="1">
                <a:solidFill>
                  <a:schemeClr val="tx1"/>
                </a:solidFill>
              </a:rPr>
              <a:t>junio</a:t>
            </a:r>
            <a:r>
              <a:rPr lang="en-US">
                <a:solidFill>
                  <a:schemeClr val="tx1"/>
                </a:solidFill>
              </a:rPr>
              <a:t> de 2025, </a:t>
            </a:r>
            <a:r>
              <a:rPr lang="en-US" err="1">
                <a:solidFill>
                  <a:schemeClr val="tx1"/>
                </a:solidFill>
              </a:rPr>
              <a:t>marca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transición</a:t>
            </a:r>
            <a:r>
              <a:rPr lang="en-US">
                <a:solidFill>
                  <a:schemeClr val="tx1"/>
                </a:solidFill>
              </a:rPr>
              <a:t> de las XLA </a:t>
            </a:r>
            <a:r>
              <a:rPr lang="en-US" err="1">
                <a:solidFill>
                  <a:schemeClr val="tx1"/>
                </a:solidFill>
              </a:rPr>
              <a:t>desde</a:t>
            </a:r>
            <a:r>
              <a:rPr lang="en-US">
                <a:solidFill>
                  <a:schemeClr val="tx1"/>
                </a:solidFill>
              </a:rPr>
              <a:t> el </a:t>
            </a:r>
            <a:r>
              <a:rPr lang="en-US" err="1">
                <a:solidFill>
                  <a:schemeClr val="tx1"/>
                </a:solidFill>
              </a:rPr>
              <a:t>discurso</a:t>
            </a:r>
            <a:r>
              <a:rPr lang="en-US">
                <a:solidFill>
                  <a:schemeClr val="tx1"/>
                </a:solidFill>
              </a:rPr>
              <a:t> experimental </a:t>
            </a:r>
            <a:r>
              <a:rPr lang="en-US" err="1">
                <a:solidFill>
                  <a:schemeClr val="tx1"/>
                </a:solidFill>
              </a:rPr>
              <a:t>hacia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práctica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escalable</a:t>
            </a:r>
            <a:r>
              <a:rPr lang="en-US">
                <a:solidFill>
                  <a:schemeClr val="tx1"/>
                </a:solidFill>
              </a:rPr>
              <a:t>: el </a:t>
            </a:r>
            <a:r>
              <a:rPr lang="en-US" b="1">
                <a:solidFill>
                  <a:schemeClr val="tx1"/>
                </a:solidFill>
              </a:rPr>
              <a:t>68% de las </a:t>
            </a:r>
            <a:r>
              <a:rPr lang="en-US" b="1" err="1">
                <a:solidFill>
                  <a:schemeClr val="tx1"/>
                </a:solidFill>
              </a:rPr>
              <a:t>empresas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encuestadas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planea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implementar</a:t>
            </a:r>
            <a:r>
              <a:rPr lang="en-US" b="1">
                <a:solidFill>
                  <a:schemeClr val="tx1"/>
                </a:solidFill>
              </a:rPr>
              <a:t> XLAs </a:t>
            </a:r>
            <a:r>
              <a:rPr lang="en-US" b="1" err="1">
                <a:solidFill>
                  <a:schemeClr val="tx1"/>
                </a:solidFill>
              </a:rPr>
              <a:t>en</a:t>
            </a:r>
            <a:r>
              <a:rPr lang="en-US" b="1">
                <a:solidFill>
                  <a:schemeClr val="tx1"/>
                </a:solidFill>
              </a:rPr>
              <a:t> 2026</a:t>
            </a:r>
            <a:r>
              <a:rPr lang="en-US">
                <a:solidFill>
                  <a:schemeClr val="tx1"/>
                </a:solidFill>
              </a:rPr>
              <a:t> (</a:t>
            </a:r>
            <a:r>
              <a:rPr lang="en-US" err="1">
                <a:solidFill>
                  <a:schemeClr val="tx1"/>
                </a:solidFill>
              </a:rPr>
              <a:t>algunas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fuentes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citan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cifra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como</a:t>
            </a:r>
            <a:r>
              <a:rPr lang="en-US">
                <a:solidFill>
                  <a:schemeClr val="tx1"/>
                </a:solidFill>
              </a:rPr>
              <a:t> "</a:t>
            </a:r>
            <a:r>
              <a:rPr lang="en-US" err="1">
                <a:solidFill>
                  <a:schemeClr val="tx1"/>
                </a:solidFill>
              </a:rPr>
              <a:t>casi</a:t>
            </a:r>
            <a:r>
              <a:rPr lang="en-US">
                <a:solidFill>
                  <a:schemeClr val="tx1"/>
                </a:solidFill>
              </a:rPr>
              <a:t> 70%"), y </a:t>
            </a:r>
            <a:r>
              <a:rPr lang="en-US" err="1">
                <a:solidFill>
                  <a:schemeClr val="tx1"/>
                </a:solidFill>
              </a:rPr>
              <a:t>su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adopción</a:t>
            </a:r>
            <a:r>
              <a:rPr lang="en-US">
                <a:solidFill>
                  <a:schemeClr val="tx1"/>
                </a:solidFill>
              </a:rPr>
              <a:t> se </a:t>
            </a:r>
            <a:r>
              <a:rPr lang="en-US" err="1">
                <a:solidFill>
                  <a:schemeClr val="tx1"/>
                </a:solidFill>
              </a:rPr>
              <a:t>expande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rápidamente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más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allá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los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departamentos</a:t>
            </a:r>
            <a:r>
              <a:rPr lang="en-US">
                <a:solidFill>
                  <a:schemeClr val="tx1"/>
                </a:solidFill>
              </a:rPr>
              <a:t> de TI </a:t>
            </a:r>
            <a:r>
              <a:rPr lang="en-US" err="1">
                <a:solidFill>
                  <a:schemeClr val="tx1"/>
                </a:solidFill>
              </a:rPr>
              <a:t>tradicionales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hacia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salud</a:t>
            </a:r>
            <a:r>
              <a:rPr lang="en-US">
                <a:solidFill>
                  <a:schemeClr val="tx1"/>
                </a:solidFill>
              </a:rPr>
              <a:t>, RR.HH. y </a:t>
            </a:r>
            <a:r>
              <a:rPr lang="en-US" err="1">
                <a:solidFill>
                  <a:schemeClr val="tx1"/>
                </a:solidFill>
              </a:rPr>
              <a:t>finanzas</a:t>
            </a:r>
            <a:r>
              <a:rPr lang="en-US">
                <a:solidFill>
                  <a:schemeClr val="tx1"/>
                </a:solidFill>
              </a:rPr>
              <a:t> — con </a:t>
            </a:r>
            <a:r>
              <a:rPr lang="en-US" err="1">
                <a:solidFill>
                  <a:schemeClr val="tx1"/>
                </a:solidFill>
              </a:rPr>
              <a:t>Brasil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emergiendo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como</a:t>
            </a:r>
            <a:r>
              <a:rPr lang="en-US">
                <a:solidFill>
                  <a:schemeClr val="tx1"/>
                </a:solidFill>
              </a:rPr>
              <a:t> uno de </a:t>
            </a:r>
            <a:r>
              <a:rPr lang="en-US" err="1">
                <a:solidFill>
                  <a:schemeClr val="tx1"/>
                </a:solidFill>
              </a:rPr>
              <a:t>los</a:t>
            </a:r>
            <a:r>
              <a:rPr lang="en-US">
                <a:solidFill>
                  <a:schemeClr val="tx1"/>
                </a:solidFill>
              </a:rPr>
              <a:t> mercados </a:t>
            </a:r>
            <a:r>
              <a:rPr lang="en-US" err="1">
                <a:solidFill>
                  <a:schemeClr val="tx1"/>
                </a:solidFill>
              </a:rPr>
              <a:t>líderes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gestión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experiencia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EIN </a:t>
            </a:r>
            <a:r>
              <a:rPr lang="en-US" err="1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Presswire</a:t>
            </a:r>
            <a:r>
              <a:rPr lang="en-US">
                <a:solidFill>
                  <a:schemeClr val="tx1"/>
                </a:solidFill>
              </a:rPr>
              <a:t>) (</a:t>
            </a:r>
            <a:r>
              <a:rPr lang="en-US" err="1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Emerce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>
                <a:solidFill>
                  <a:schemeClr val="tx1"/>
                </a:solidFill>
              </a:rPr>
              <a:t>El </a:t>
            </a:r>
            <a:r>
              <a:rPr lang="en-US" err="1">
                <a:solidFill>
                  <a:schemeClr val="tx1"/>
                </a:solidFill>
              </a:rPr>
              <a:t>reporte</a:t>
            </a:r>
            <a:r>
              <a:rPr lang="en-US">
                <a:solidFill>
                  <a:schemeClr val="tx1"/>
                </a:solidFill>
              </a:rPr>
              <a:t> introduce el </a:t>
            </a:r>
            <a:r>
              <a:rPr lang="en-US" b="1">
                <a:solidFill>
                  <a:schemeClr val="tx1"/>
                </a:solidFill>
              </a:rPr>
              <a:t>Dynamic Experience Management Framework (DEMF)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define dos </a:t>
            </a:r>
            <a:r>
              <a:rPr lang="en-US" err="1">
                <a:solidFill>
                  <a:schemeClr val="tx1"/>
                </a:solidFill>
              </a:rPr>
              <a:t>ejes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madurez</a:t>
            </a:r>
            <a:r>
              <a:rPr lang="en-US">
                <a:solidFill>
                  <a:schemeClr val="tx1"/>
                </a:solidFill>
              </a:rPr>
              <a:t>: </a:t>
            </a:r>
            <a:r>
              <a:rPr lang="en-US" err="1">
                <a:solidFill>
                  <a:schemeClr val="tx1"/>
                </a:solidFill>
              </a:rPr>
              <a:t>madurez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capacidad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madurez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creación</a:t>
            </a:r>
            <a:r>
              <a:rPr lang="en-US">
                <a:solidFill>
                  <a:schemeClr val="tx1"/>
                </a:solidFill>
              </a:rPr>
              <a:t> de valor </a:t>
            </a:r>
            <a:r>
              <a:rPr lang="en-US" err="1">
                <a:solidFill>
                  <a:schemeClr val="tx1"/>
                </a:solidFill>
              </a:rPr>
              <a:t>acumulativo</a:t>
            </a:r>
            <a:r>
              <a:rPr lang="en-US">
                <a:solidFill>
                  <a:schemeClr val="tx1"/>
                </a:solidFill>
              </a:rPr>
              <a:t> ("accretive value creation"). Entre sus </a:t>
            </a:r>
            <a:r>
              <a:rPr lang="en-US" err="1">
                <a:solidFill>
                  <a:schemeClr val="tx1"/>
                </a:solidFill>
              </a:rPr>
              <a:t>hallazgos</a:t>
            </a:r>
            <a:r>
              <a:rPr lang="en-US">
                <a:solidFill>
                  <a:schemeClr val="tx1"/>
                </a:solidFill>
              </a:rPr>
              <a:t>: las </a:t>
            </a:r>
            <a:r>
              <a:rPr lang="en-US" err="1">
                <a:solidFill>
                  <a:schemeClr val="tx1"/>
                </a:solidFill>
              </a:rPr>
              <a:t>organizaciones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exitosas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construyen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su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gestión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experiencia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alrededor</a:t>
            </a:r>
            <a:r>
              <a:rPr lang="en-US">
                <a:solidFill>
                  <a:schemeClr val="tx1"/>
                </a:solidFill>
              </a:rPr>
              <a:t> de personas (personas-based), la Digital Employee Experience (DEX) y las XLA </a:t>
            </a:r>
            <a:r>
              <a:rPr lang="en-US" err="1">
                <a:solidFill>
                  <a:schemeClr val="tx1"/>
                </a:solidFill>
              </a:rPr>
              <a:t>convergen</a:t>
            </a:r>
            <a:r>
              <a:rPr lang="en-US">
                <a:solidFill>
                  <a:schemeClr val="tx1"/>
                </a:solidFill>
              </a:rPr>
              <a:t> para </a:t>
            </a:r>
            <a:r>
              <a:rPr lang="en-US" err="1">
                <a:solidFill>
                  <a:schemeClr val="tx1"/>
                </a:solidFill>
              </a:rPr>
              <a:t>sostener</a:t>
            </a:r>
            <a:r>
              <a:rPr lang="en-US">
                <a:solidFill>
                  <a:schemeClr val="tx1"/>
                </a:solidFill>
              </a:rPr>
              <a:t> tanto a </a:t>
            </a:r>
            <a:r>
              <a:rPr lang="en-US" err="1">
                <a:solidFill>
                  <a:schemeClr val="tx1"/>
                </a:solidFill>
              </a:rPr>
              <a:t>empleados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como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resultados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negocio</a:t>
            </a:r>
            <a:r>
              <a:rPr lang="en-US">
                <a:solidFill>
                  <a:schemeClr val="tx1"/>
                </a:solidFill>
              </a:rPr>
              <a:t>, y las XLA </a:t>
            </a:r>
            <a:r>
              <a:rPr lang="en-US" err="1">
                <a:solidFill>
                  <a:schemeClr val="tx1"/>
                </a:solidFill>
              </a:rPr>
              <a:t>desplazan</a:t>
            </a:r>
            <a:r>
              <a:rPr lang="en-US">
                <a:solidFill>
                  <a:schemeClr val="tx1"/>
                </a:solidFill>
              </a:rPr>
              <a:t> el </a:t>
            </a:r>
            <a:r>
              <a:rPr lang="en-US" err="1">
                <a:solidFill>
                  <a:schemeClr val="tx1"/>
                </a:solidFill>
              </a:rPr>
              <a:t>foco</a:t>
            </a:r>
            <a:r>
              <a:rPr lang="en-US">
                <a:solidFill>
                  <a:schemeClr val="tx1"/>
                </a:solidFill>
              </a:rPr>
              <a:t> de la </a:t>
            </a:r>
            <a:r>
              <a:rPr lang="en-US" err="1">
                <a:solidFill>
                  <a:schemeClr val="tx1"/>
                </a:solidFill>
              </a:rPr>
              <a:t>resolución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reactiva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problemas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hacia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habilitación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proactiva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éxito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usuario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 — Alan Nance, XLA Institute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565571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s-ES" b="1">
                <a:solidFill>
                  <a:schemeClr val="tx1"/>
                </a:solidFill>
              </a:rPr>
              <a:t>63% Regulatorios: SFC Circular 007 · Open </a:t>
            </a:r>
            <a:r>
              <a:rPr lang="es-ES" b="1" err="1">
                <a:solidFill>
                  <a:schemeClr val="tx1"/>
                </a:solidFill>
              </a:rPr>
              <a:t>Finance</a:t>
            </a:r>
            <a:r>
              <a:rPr lang="es-ES" b="1">
                <a:solidFill>
                  <a:schemeClr val="tx1"/>
                </a:solidFill>
              </a:rPr>
              <a:t> · ISO 42001 IA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r>
              <a:rPr lang="es-ES" b="1">
                <a:solidFill>
                  <a:schemeClr val="tx1"/>
                </a:solidFill>
              </a:rPr>
              <a:t>68% Barrera de entrada: cambio de proveedor (costo de </a:t>
            </a:r>
            <a:r>
              <a:rPr lang="es-ES" b="1" err="1">
                <a:solidFill>
                  <a:schemeClr val="tx1"/>
                </a:solidFill>
              </a:rPr>
              <a:t>transicion</a:t>
            </a:r>
            <a:r>
              <a:rPr lang="es-ES" b="1">
                <a:solidFill>
                  <a:schemeClr val="tx1"/>
                </a:solidFill>
              </a:rPr>
              <a:t> 30-90 </a:t>
            </a:r>
            <a:r>
              <a:rPr lang="es-ES" b="1" err="1">
                <a:solidFill>
                  <a:schemeClr val="tx1"/>
                </a:solidFill>
              </a:rPr>
              <a:t>dias</a:t>
            </a:r>
            <a:r>
              <a:rPr lang="es-ES" b="1">
                <a:solidFill>
                  <a:schemeClr val="tx1"/>
                </a:solidFill>
              </a:rPr>
              <a:t>)</a:t>
            </a:r>
            <a:endParaRPr lang="en-US">
              <a:solidFill>
                <a:schemeClr val="tx1"/>
              </a:solidFill>
            </a:endParaRPr>
          </a:p>
          <a:p>
            <a:pPr>
              <a:buNone/>
            </a:pPr>
            <a:endParaRPr lang="en-US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>
                <a:solidFill>
                  <a:schemeClr val="tx1"/>
                </a:solidFill>
              </a:rPr>
              <a:t>Las </a:t>
            </a:r>
            <a:r>
              <a:rPr lang="en-US" err="1">
                <a:solidFill>
                  <a:schemeClr val="tx1"/>
                </a:solidFill>
              </a:rPr>
              <a:t>siguientes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tendencias</a:t>
            </a:r>
            <a:r>
              <a:rPr lang="en-US">
                <a:solidFill>
                  <a:schemeClr val="tx1"/>
                </a:solidFill>
              </a:rPr>
              <a:t> son las </a:t>
            </a:r>
            <a:r>
              <a:rPr lang="en-US" err="1">
                <a:solidFill>
                  <a:schemeClr val="tx1"/>
                </a:solidFill>
              </a:rPr>
              <a:t>más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relevantes</a:t>
            </a:r>
            <a:r>
              <a:rPr lang="en-US">
                <a:solidFill>
                  <a:schemeClr val="tx1"/>
                </a:solidFill>
              </a:rPr>
              <a:t> para el </a:t>
            </a:r>
            <a:r>
              <a:rPr lang="en-US" err="1">
                <a:solidFill>
                  <a:schemeClr val="tx1"/>
                </a:solidFill>
              </a:rPr>
              <a:t>diseño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portafolio</a:t>
            </a:r>
            <a:r>
              <a:rPr lang="en-US">
                <a:solidFill>
                  <a:schemeClr val="tx1"/>
                </a:solidFill>
              </a:rPr>
              <a:t> Next Gen: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GenAI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table stakes:</a:t>
            </a:r>
            <a:r>
              <a:rPr lang="en-US">
                <a:solidFill>
                  <a:schemeClr val="tx1"/>
                </a:solidFill>
              </a:rPr>
              <a:t> Los </a:t>
            </a:r>
            <a:r>
              <a:rPr lang="en-US" err="1">
                <a:solidFill>
                  <a:schemeClr val="tx1"/>
                </a:solidFill>
              </a:rPr>
              <a:t>proveedores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no </a:t>
            </a:r>
            <a:r>
              <a:rPr lang="en-US" err="1">
                <a:solidFill>
                  <a:schemeClr val="tx1"/>
                </a:solidFill>
              </a:rPr>
              <a:t>tienen</a:t>
            </a:r>
            <a:r>
              <a:rPr lang="en-US">
                <a:solidFill>
                  <a:schemeClr val="tx1"/>
                </a:solidFill>
              </a:rPr>
              <a:t> GenAI </a:t>
            </a:r>
            <a:r>
              <a:rPr lang="en-US" err="1">
                <a:solidFill>
                  <a:schemeClr val="tx1"/>
                </a:solidFill>
              </a:rPr>
              <a:t>quedan</a:t>
            </a:r>
            <a:r>
              <a:rPr lang="en-US">
                <a:solidFill>
                  <a:schemeClr val="tx1"/>
                </a:solidFill>
              </a:rPr>
              <a:t> fuera de </a:t>
            </a:r>
            <a:r>
              <a:rPr lang="en-US" err="1">
                <a:solidFill>
                  <a:schemeClr val="tx1"/>
                </a:solidFill>
              </a:rPr>
              <a:t>conversación</a:t>
            </a:r>
            <a:r>
              <a:rPr lang="en-US">
                <a:solidFill>
                  <a:schemeClr val="tx1"/>
                </a:solidFill>
              </a:rPr>
              <a:t>. El </a:t>
            </a:r>
            <a:r>
              <a:rPr lang="en-US" err="1">
                <a:solidFill>
                  <a:schemeClr val="tx1"/>
                </a:solidFill>
              </a:rPr>
              <a:t>impacto</a:t>
            </a:r>
            <a:r>
              <a:rPr lang="en-US">
                <a:solidFill>
                  <a:schemeClr val="tx1"/>
                </a:solidFill>
              </a:rPr>
              <a:t> es </a:t>
            </a:r>
            <a:r>
              <a:rPr lang="en-US" err="1">
                <a:solidFill>
                  <a:schemeClr val="tx1"/>
                </a:solidFill>
              </a:rPr>
              <a:t>medible</a:t>
            </a:r>
            <a:r>
              <a:rPr lang="en-US">
                <a:solidFill>
                  <a:schemeClr val="tx1"/>
                </a:solidFill>
              </a:rPr>
              <a:t>: -26.6%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MTTR, +34.6%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resolución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Freshservice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 err="1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Freshservice</a:t>
            </a:r>
            <a:r>
              <a:rPr lang="en-US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benchmark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Agentic AI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ventaja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competitiva</a:t>
            </a:r>
            <a:r>
              <a:rPr lang="en-US" b="1">
                <a:solidFill>
                  <a:schemeClr val="tx1"/>
                </a:solidFill>
              </a:rPr>
              <a:t>:</a:t>
            </a:r>
            <a:r>
              <a:rPr lang="en-US">
                <a:solidFill>
                  <a:schemeClr val="tx1"/>
                </a:solidFill>
              </a:rPr>
              <a:t> La </a:t>
            </a:r>
            <a:r>
              <a:rPr lang="en-US" err="1">
                <a:solidFill>
                  <a:schemeClr val="tx1"/>
                </a:solidFill>
              </a:rPr>
              <a:t>distinción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crítica</a:t>
            </a:r>
            <a:r>
              <a:rPr lang="en-US">
                <a:solidFill>
                  <a:schemeClr val="tx1"/>
                </a:solidFill>
              </a:rPr>
              <a:t>: las </a:t>
            </a:r>
            <a:r>
              <a:rPr lang="en-US" err="1">
                <a:solidFill>
                  <a:schemeClr val="tx1"/>
                </a:solidFill>
              </a:rPr>
              <a:t>herramientas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anteriores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respondían</a:t>
            </a:r>
            <a:r>
              <a:rPr lang="en-US">
                <a:solidFill>
                  <a:schemeClr val="tx1"/>
                </a:solidFill>
              </a:rPr>
              <a:t> a </a:t>
            </a:r>
            <a:r>
              <a:rPr lang="en-US" i="1">
                <a:solidFill>
                  <a:schemeClr val="tx1"/>
                </a:solidFill>
              </a:rPr>
              <a:t>prompts</a:t>
            </a:r>
            <a:r>
              <a:rPr lang="en-US">
                <a:solidFill>
                  <a:schemeClr val="tx1"/>
                </a:solidFill>
              </a:rPr>
              <a:t>; </a:t>
            </a:r>
            <a:r>
              <a:rPr lang="en-US" err="1">
                <a:solidFill>
                  <a:schemeClr val="tx1"/>
                </a:solidFill>
              </a:rPr>
              <a:t>los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sistemas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agénticos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persiguen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objetivos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mantienen</a:t>
            </a:r>
            <a:r>
              <a:rPr lang="en-US">
                <a:solidFill>
                  <a:schemeClr val="tx1"/>
                </a:solidFill>
              </a:rPr>
              <a:t> memoria y </a:t>
            </a:r>
            <a:r>
              <a:rPr lang="en-US" err="1">
                <a:solidFill>
                  <a:schemeClr val="tx1"/>
                </a:solidFill>
              </a:rPr>
              <a:t>ejecutan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flujos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multipaso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Ivanti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KCS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prerrequisito</a:t>
            </a:r>
            <a:r>
              <a:rPr lang="en-US" b="1">
                <a:solidFill>
                  <a:schemeClr val="tx1"/>
                </a:solidFill>
              </a:rPr>
              <a:t> para la IA:</a:t>
            </a:r>
            <a:r>
              <a:rPr lang="en-US">
                <a:solidFill>
                  <a:schemeClr val="tx1"/>
                </a:solidFill>
              </a:rPr>
              <a:t> "Los </a:t>
            </a:r>
            <a:r>
              <a:rPr lang="en-US" err="1">
                <a:solidFill>
                  <a:schemeClr val="tx1"/>
                </a:solidFill>
              </a:rPr>
              <a:t>datos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validados</a:t>
            </a:r>
            <a:r>
              <a:rPr lang="en-US">
                <a:solidFill>
                  <a:schemeClr val="tx1"/>
                </a:solidFill>
              </a:rPr>
              <a:t> y demand-driven </a:t>
            </a:r>
            <a:r>
              <a:rPr lang="en-US" err="1">
                <a:solidFill>
                  <a:schemeClr val="tx1"/>
                </a:solidFill>
              </a:rPr>
              <a:t>previenen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alucinaciones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construyen</a:t>
            </a:r>
            <a:r>
              <a:rPr lang="en-US">
                <a:solidFill>
                  <a:schemeClr val="tx1"/>
                </a:solidFill>
              </a:rPr>
              <a:t> confianza del </a:t>
            </a:r>
            <a:r>
              <a:rPr lang="en-US" err="1">
                <a:solidFill>
                  <a:schemeClr val="tx1"/>
                </a:solidFill>
              </a:rPr>
              <a:t>usuario</a:t>
            </a:r>
            <a:r>
              <a:rPr lang="en-US">
                <a:solidFill>
                  <a:schemeClr val="tx1"/>
                </a:solidFill>
              </a:rPr>
              <a:t>. KCS es un </a:t>
            </a:r>
            <a:r>
              <a:rPr lang="en-US" err="1">
                <a:solidFill>
                  <a:schemeClr val="tx1"/>
                </a:solidFill>
              </a:rPr>
              <a:t>sistema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operativo</a:t>
            </a:r>
            <a:r>
              <a:rPr lang="en-US">
                <a:solidFill>
                  <a:schemeClr val="tx1"/>
                </a:solidFill>
              </a:rPr>
              <a:t> tanto para </a:t>
            </a:r>
            <a:r>
              <a:rPr lang="en-US" err="1">
                <a:solidFill>
                  <a:schemeClr val="tx1"/>
                </a:solidFill>
              </a:rPr>
              <a:t>agentes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humanos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como</a:t>
            </a:r>
            <a:r>
              <a:rPr lang="en-US">
                <a:solidFill>
                  <a:schemeClr val="tx1"/>
                </a:solidFill>
              </a:rPr>
              <a:t> de IA" (</a:t>
            </a:r>
            <a:r>
              <a:rPr lang="en-US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Consortium for Service Innovation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Shift-left con </a:t>
            </a:r>
            <a:r>
              <a:rPr lang="en-US" b="1" err="1">
                <a:solidFill>
                  <a:schemeClr val="tx1"/>
                </a:solidFill>
              </a:rPr>
              <a:t>datos</a:t>
            </a:r>
            <a:r>
              <a:rPr lang="en-US" b="1">
                <a:solidFill>
                  <a:schemeClr val="tx1"/>
                </a:solidFill>
              </a:rPr>
              <a:t>:</a:t>
            </a:r>
            <a:r>
              <a:rPr lang="en-US">
                <a:solidFill>
                  <a:schemeClr val="tx1"/>
                </a:solidFill>
              </a:rPr>
              <a:t> El </a:t>
            </a:r>
            <a:r>
              <a:rPr lang="en-US" err="1">
                <a:solidFill>
                  <a:schemeClr val="tx1"/>
                </a:solidFill>
              </a:rPr>
              <a:t>costo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pasa</a:t>
            </a:r>
            <a:r>
              <a:rPr lang="en-US">
                <a:solidFill>
                  <a:schemeClr val="tx1"/>
                </a:solidFill>
              </a:rPr>
              <a:t> de USD 104 (N3) a USD 2 (N0). Cada punto de </a:t>
            </a:r>
            <a:r>
              <a:rPr lang="en-US" err="1">
                <a:solidFill>
                  <a:schemeClr val="tx1"/>
                </a:solidFill>
              </a:rPr>
              <a:t>deflección</a:t>
            </a:r>
            <a:r>
              <a:rPr lang="en-US">
                <a:solidFill>
                  <a:schemeClr val="tx1"/>
                </a:solidFill>
              </a:rPr>
              <a:t> genera un </a:t>
            </a:r>
            <a:r>
              <a:rPr lang="en-US" err="1">
                <a:solidFill>
                  <a:schemeClr val="tx1"/>
                </a:solidFill>
              </a:rPr>
              <a:t>ahorro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cuantificable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Giva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De SLA a outcomes:</a:t>
            </a:r>
            <a:r>
              <a:rPr lang="en-US">
                <a:solidFill>
                  <a:schemeClr val="tx1"/>
                </a:solidFill>
              </a:rPr>
              <a:t> TCS propone </a:t>
            </a:r>
            <a:r>
              <a:rPr lang="en-US" err="1">
                <a:solidFill>
                  <a:schemeClr val="tx1"/>
                </a:solidFill>
              </a:rPr>
              <a:t>precios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basados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outcomes; la </a:t>
            </a:r>
            <a:r>
              <a:rPr lang="en-US" err="1">
                <a:solidFill>
                  <a:schemeClr val="tx1"/>
                </a:solidFill>
              </a:rPr>
              <a:t>industria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migra</a:t>
            </a:r>
            <a:r>
              <a:rPr lang="en-US">
                <a:solidFill>
                  <a:schemeClr val="tx1"/>
                </a:solidFill>
              </a:rPr>
              <a:t> de "</a:t>
            </a:r>
            <a:r>
              <a:rPr lang="en-US" err="1">
                <a:solidFill>
                  <a:schemeClr val="tx1"/>
                </a:solidFill>
              </a:rPr>
              <a:t>gestionar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esfuerzo</a:t>
            </a:r>
            <a:r>
              <a:rPr lang="en-US">
                <a:solidFill>
                  <a:schemeClr val="tx1"/>
                </a:solidFill>
              </a:rPr>
              <a:t>" a "</a:t>
            </a:r>
            <a:r>
              <a:rPr lang="en-US" err="1">
                <a:solidFill>
                  <a:schemeClr val="tx1"/>
                </a:solidFill>
              </a:rPr>
              <a:t>orquestar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resultados</a:t>
            </a:r>
            <a:r>
              <a:rPr lang="en-US">
                <a:solidFill>
                  <a:schemeClr val="tx1"/>
                </a:solidFill>
              </a:rPr>
              <a:t>" (</a:t>
            </a:r>
            <a:r>
              <a:rPr lang="en-US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TCS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 err="1">
                <a:solidFill>
                  <a:schemeClr val="tx1"/>
                </a:solidFill>
              </a:rPr>
              <a:t>Observabilidad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diferenciador</a:t>
            </a:r>
            <a:r>
              <a:rPr lang="en-US" b="1">
                <a:solidFill>
                  <a:schemeClr val="tx1"/>
                </a:solidFill>
              </a:rPr>
              <a:t>:</a:t>
            </a:r>
            <a:r>
              <a:rPr lang="en-US">
                <a:solidFill>
                  <a:schemeClr val="tx1"/>
                </a:solidFill>
              </a:rPr>
              <a:t> La mesa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detecta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resuelve</a:t>
            </a:r>
            <a:r>
              <a:rPr lang="en-US">
                <a:solidFill>
                  <a:schemeClr val="tx1"/>
                </a:solidFill>
              </a:rPr>
              <a:t> antes del </a:t>
            </a:r>
            <a:r>
              <a:rPr lang="en-US" err="1">
                <a:solidFill>
                  <a:schemeClr val="tx1"/>
                </a:solidFill>
              </a:rPr>
              <a:t>reporte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usuario</a:t>
            </a:r>
            <a:r>
              <a:rPr lang="en-US">
                <a:solidFill>
                  <a:schemeClr val="tx1"/>
                </a:solidFill>
              </a:rPr>
              <a:t> se </a:t>
            </a:r>
            <a:r>
              <a:rPr lang="en-US" err="1">
                <a:solidFill>
                  <a:schemeClr val="tx1"/>
                </a:solidFill>
              </a:rPr>
              <a:t>vuelve</a:t>
            </a:r>
            <a:r>
              <a:rPr lang="en-US">
                <a:solidFill>
                  <a:schemeClr val="tx1"/>
                </a:solidFill>
              </a:rPr>
              <a:t> invisible para el </a:t>
            </a:r>
            <a:r>
              <a:rPr lang="en-US" err="1">
                <a:solidFill>
                  <a:schemeClr val="tx1"/>
                </a:solidFill>
              </a:rPr>
              <a:t>negocio</a:t>
            </a:r>
            <a:r>
              <a:rPr lang="en-US">
                <a:solidFill>
                  <a:schemeClr val="tx1"/>
                </a:solidFill>
              </a:rPr>
              <a:t> —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el </a:t>
            </a:r>
            <a:r>
              <a:rPr lang="en-US" err="1">
                <a:solidFill>
                  <a:schemeClr val="tx1"/>
                </a:solidFill>
              </a:rPr>
              <a:t>mejor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sentido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término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ServiceNow whitepaper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Agentic AI: del </a:t>
            </a:r>
            <a:r>
              <a:rPr lang="en-US" b="1" err="1">
                <a:solidFill>
                  <a:schemeClr val="tx1"/>
                </a:solidFill>
              </a:rPr>
              <a:t>experimento</a:t>
            </a:r>
            <a:r>
              <a:rPr lang="en-US" b="1">
                <a:solidFill>
                  <a:schemeClr val="tx1"/>
                </a:solidFill>
              </a:rPr>
              <a:t> a </a:t>
            </a:r>
            <a:r>
              <a:rPr lang="en-US" b="1" err="1">
                <a:solidFill>
                  <a:schemeClr val="tx1"/>
                </a:solidFill>
              </a:rPr>
              <a:t>producción</a:t>
            </a:r>
            <a:r>
              <a:rPr lang="en-US" b="1">
                <a:solidFill>
                  <a:schemeClr val="tx1"/>
                </a:solidFill>
              </a:rPr>
              <a:t> (con </a:t>
            </a:r>
            <a:r>
              <a:rPr lang="en-US" b="1" err="1">
                <a:solidFill>
                  <a:schemeClr val="tx1"/>
                </a:solidFill>
              </a:rPr>
              <a:t>matices</a:t>
            </a:r>
            <a:r>
              <a:rPr lang="en-US" b="1">
                <a:solidFill>
                  <a:schemeClr val="tx1"/>
                </a:solidFill>
              </a:rPr>
              <a:t>).</a:t>
            </a:r>
            <a:r>
              <a:rPr lang="en-US">
                <a:solidFill>
                  <a:schemeClr val="tx1"/>
                </a:solidFill>
              </a:rPr>
              <a:t> El </a:t>
            </a:r>
            <a:r>
              <a:rPr lang="en-US" err="1">
                <a:solidFill>
                  <a:schemeClr val="tx1"/>
                </a:solidFill>
              </a:rPr>
              <a:t>año</a:t>
            </a:r>
            <a:r>
              <a:rPr lang="en-US">
                <a:solidFill>
                  <a:schemeClr val="tx1"/>
                </a:solidFill>
              </a:rPr>
              <a:t> 2025-2026 </a:t>
            </a:r>
            <a:r>
              <a:rPr lang="en-US" err="1">
                <a:solidFill>
                  <a:schemeClr val="tx1"/>
                </a:solidFill>
              </a:rPr>
              <a:t>confirma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la IA </a:t>
            </a:r>
            <a:r>
              <a:rPr lang="en-US" err="1">
                <a:solidFill>
                  <a:schemeClr val="tx1"/>
                </a:solidFill>
              </a:rPr>
              <a:t>agéntica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dejó</a:t>
            </a:r>
            <a:r>
              <a:rPr lang="en-US">
                <a:solidFill>
                  <a:schemeClr val="tx1"/>
                </a:solidFill>
              </a:rPr>
              <a:t> de ser un </a:t>
            </a:r>
            <a:r>
              <a:rPr lang="en-US" err="1">
                <a:solidFill>
                  <a:schemeClr val="tx1"/>
                </a:solidFill>
              </a:rPr>
              <a:t>experimento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laboratorio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pero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brecha</a:t>
            </a:r>
            <a:r>
              <a:rPr lang="en-US">
                <a:solidFill>
                  <a:schemeClr val="tx1"/>
                </a:solidFill>
              </a:rPr>
              <a:t> entre </a:t>
            </a:r>
            <a:r>
              <a:rPr lang="en-US" err="1">
                <a:solidFill>
                  <a:schemeClr val="tx1"/>
                </a:solidFill>
              </a:rPr>
              <a:t>adopción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madurez</a:t>
            </a:r>
            <a:r>
              <a:rPr lang="en-US">
                <a:solidFill>
                  <a:schemeClr val="tx1"/>
                </a:solidFill>
              </a:rPr>
              <a:t> real </a:t>
            </a:r>
            <a:r>
              <a:rPr lang="en-US" err="1">
                <a:solidFill>
                  <a:schemeClr val="tx1"/>
                </a:solidFill>
              </a:rPr>
              <a:t>sigue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siendo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amplia</a:t>
            </a:r>
            <a:r>
              <a:rPr lang="en-US">
                <a:solidFill>
                  <a:schemeClr val="tx1"/>
                </a:solidFill>
              </a:rPr>
              <a:t>: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28249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A63DE-BA7F-F0A7-A6EC-6E4D44FCE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AC1037-746E-5E18-B011-F4D63BB7D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6BE060-DFB4-75C7-1539-26CD848E2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/>
            <a:r>
              <a:rPr lang="es-ES">
                <a:solidFill>
                  <a:srgbClr val="595959"/>
                </a:solidFill>
              </a:rPr>
              <a:t>CAGR : </a:t>
            </a:r>
            <a:r>
              <a:rPr lang="es-ES" b="1" err="1">
                <a:solidFill>
                  <a:srgbClr val="595959"/>
                </a:solidFill>
              </a:rPr>
              <a:t>Compound</a:t>
            </a:r>
            <a:r>
              <a:rPr lang="es-ES" b="1">
                <a:solidFill>
                  <a:srgbClr val="595959"/>
                </a:solidFill>
              </a:rPr>
              <a:t> </a:t>
            </a:r>
            <a:r>
              <a:rPr lang="es-ES" b="1" err="1">
                <a:solidFill>
                  <a:srgbClr val="595959"/>
                </a:solidFill>
              </a:rPr>
              <a:t>Annual</a:t>
            </a:r>
            <a:r>
              <a:rPr lang="es-ES" b="1">
                <a:solidFill>
                  <a:srgbClr val="595959"/>
                </a:solidFill>
              </a:rPr>
              <a:t> </a:t>
            </a:r>
            <a:r>
              <a:rPr lang="es-ES" b="1" err="1">
                <a:solidFill>
                  <a:srgbClr val="595959"/>
                </a:solidFill>
              </a:rPr>
              <a:t>Growth</a:t>
            </a:r>
            <a:r>
              <a:rPr lang="es-ES" b="1">
                <a:solidFill>
                  <a:srgbClr val="595959"/>
                </a:solidFill>
              </a:rPr>
              <a:t> Rate</a:t>
            </a:r>
            <a:r>
              <a:rPr lang="es-ES">
                <a:solidFill>
                  <a:srgbClr val="595959"/>
                </a:solidFill>
              </a:rPr>
              <a:t>, o en español, </a:t>
            </a:r>
            <a:r>
              <a:rPr lang="es-ES" b="1">
                <a:solidFill>
                  <a:srgbClr val="595959"/>
                </a:solidFill>
              </a:rPr>
              <a:t>Tasa de Crecimiento Anual Compuesta</a:t>
            </a:r>
            <a:r>
              <a:rPr lang="es-ES">
                <a:solidFill>
                  <a:srgbClr val="595959"/>
                </a:solidFill>
              </a:rPr>
              <a:t>.</a:t>
            </a:r>
            <a:endParaRPr lang="en-US" b="1"/>
          </a:p>
          <a:p>
            <a:pPr marL="171450" indent="-171450"/>
            <a:r>
              <a:rPr lang="en-US" b="1"/>
              <a:t>SFC:</a:t>
            </a:r>
            <a:r>
              <a:rPr lang="en-US"/>
              <a:t> </a:t>
            </a:r>
            <a:r>
              <a:rPr lang="en-US" err="1"/>
              <a:t>Superintendencia</a:t>
            </a:r>
            <a:r>
              <a:rPr lang="en-US"/>
              <a:t> Financiera de Colombia</a:t>
            </a:r>
            <a:endParaRPr lang="es-ES"/>
          </a:p>
          <a:p>
            <a:pPr marL="171450" indent="-171450"/>
            <a:r>
              <a:rPr lang="en-US" b="1" err="1"/>
              <a:t>SOX:</a:t>
            </a:r>
            <a:r>
              <a:rPr lang="en-US" err="1"/>
              <a:t>Sarbanes-Oxley</a:t>
            </a:r>
            <a:r>
              <a:rPr lang="en-US"/>
              <a:t> Act, Ley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establece</a:t>
            </a:r>
            <a:r>
              <a:rPr lang="en-US"/>
              <a:t> </a:t>
            </a:r>
            <a:r>
              <a:rPr lang="en-US" err="1"/>
              <a:t>controles</a:t>
            </a:r>
            <a:r>
              <a:rPr lang="en-US"/>
              <a:t> para </a:t>
            </a:r>
            <a:r>
              <a:rPr lang="en-US" err="1"/>
              <a:t>garantizar</a:t>
            </a:r>
            <a:r>
              <a:rPr lang="en-US"/>
              <a:t> la </a:t>
            </a:r>
            <a:r>
              <a:rPr lang="en-US" err="1"/>
              <a:t>transparencia</a:t>
            </a:r>
            <a:r>
              <a:rPr lang="en-US"/>
              <a:t> y la </a:t>
            </a:r>
            <a:r>
              <a:rPr lang="en-US" err="1"/>
              <a:t>integridad</a:t>
            </a:r>
            <a:r>
              <a:rPr lang="en-US"/>
              <a:t> de la </a:t>
            </a:r>
            <a:r>
              <a:rPr lang="en-US" err="1"/>
              <a:t>información</a:t>
            </a:r>
            <a:r>
              <a:rPr lang="en-US"/>
              <a:t> </a:t>
            </a:r>
            <a:r>
              <a:rPr lang="en-US" err="1"/>
              <a:t>financiera</a:t>
            </a:r>
            <a:r>
              <a:rPr lang="en-US"/>
              <a:t>.</a:t>
            </a:r>
          </a:p>
          <a:p>
            <a:pPr marL="171450" indent="-171450"/>
            <a:r>
              <a:rPr lang="en-US" b="1"/>
              <a:t>BCP (</a:t>
            </a:r>
            <a:r>
              <a:rPr lang="en-US"/>
              <a:t>Business Continuity Plan / Plan de </a:t>
            </a:r>
            <a:r>
              <a:rPr lang="en-US" err="1"/>
              <a:t>Continuidad</a:t>
            </a:r>
            <a:r>
              <a:rPr lang="en-US"/>
              <a:t> del </a:t>
            </a:r>
            <a:r>
              <a:rPr lang="en-US" err="1"/>
              <a:t>Negocio</a:t>
            </a:r>
            <a:r>
              <a:rPr lang="en-US" b="1"/>
              <a:t>):</a:t>
            </a:r>
            <a:r>
              <a:rPr lang="en-US"/>
              <a:t> Plan para </a:t>
            </a:r>
            <a:r>
              <a:rPr lang="en-US" err="1"/>
              <a:t>mantener</a:t>
            </a:r>
            <a:r>
              <a:rPr lang="en-US"/>
              <a:t> </a:t>
            </a:r>
            <a:r>
              <a:rPr lang="en-US" err="1"/>
              <a:t>operativas</a:t>
            </a:r>
            <a:r>
              <a:rPr lang="en-US"/>
              <a:t> las </a:t>
            </a:r>
            <a:r>
              <a:rPr lang="en-US" err="1"/>
              <a:t>funciones</a:t>
            </a:r>
            <a:r>
              <a:rPr lang="en-US"/>
              <a:t> </a:t>
            </a:r>
            <a:r>
              <a:rPr lang="en-US" err="1"/>
              <a:t>críticas</a:t>
            </a:r>
            <a:r>
              <a:rPr lang="en-US"/>
              <a:t> del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durante</a:t>
            </a:r>
            <a:r>
              <a:rPr lang="en-US"/>
              <a:t> </a:t>
            </a:r>
            <a:r>
              <a:rPr lang="en-US" err="1"/>
              <a:t>una</a:t>
            </a:r>
            <a:r>
              <a:rPr lang="en-US"/>
              <a:t> </a:t>
            </a:r>
            <a:r>
              <a:rPr lang="en-US" err="1"/>
              <a:t>interrupción</a:t>
            </a:r>
            <a:r>
              <a:rPr lang="en-US"/>
              <a:t>.</a:t>
            </a:r>
          </a:p>
          <a:p>
            <a:pPr marL="171450" indent="-171450"/>
            <a:r>
              <a:rPr lang="en-US" b="1"/>
              <a:t>DRP (</a:t>
            </a:r>
            <a:r>
              <a:rPr lang="en-US"/>
              <a:t>Disaster Recovery Plan / Plan de </a:t>
            </a:r>
            <a:r>
              <a:rPr lang="en-US" err="1"/>
              <a:t>Recuperación</a:t>
            </a:r>
            <a:r>
              <a:rPr lang="en-US"/>
              <a:t> ante </a:t>
            </a:r>
            <a:r>
              <a:rPr lang="en-US" err="1"/>
              <a:t>Desastres</a:t>
            </a:r>
            <a:r>
              <a:rPr lang="en-US" b="1"/>
              <a:t>):</a:t>
            </a:r>
            <a:r>
              <a:rPr lang="en-US"/>
              <a:t> Plan para </a:t>
            </a:r>
            <a:r>
              <a:rPr lang="en-US" err="1"/>
              <a:t>recuperar</a:t>
            </a:r>
            <a:r>
              <a:rPr lang="en-US"/>
              <a:t> </a:t>
            </a:r>
            <a:r>
              <a:rPr lang="en-US" err="1"/>
              <a:t>sistemas</a:t>
            </a:r>
            <a:r>
              <a:rPr lang="en-US"/>
              <a:t>, </a:t>
            </a:r>
            <a:r>
              <a:rPr lang="en-US" err="1"/>
              <a:t>aplicaciones</a:t>
            </a:r>
            <a:r>
              <a:rPr lang="en-US"/>
              <a:t> y </a:t>
            </a:r>
            <a:r>
              <a:rPr lang="en-US" err="1"/>
              <a:t>datos</a:t>
            </a:r>
            <a:r>
              <a:rPr lang="en-US"/>
              <a:t> </a:t>
            </a:r>
            <a:r>
              <a:rPr lang="en-US" err="1"/>
              <a:t>después</a:t>
            </a:r>
            <a:r>
              <a:rPr lang="en-US"/>
              <a:t> de un </a:t>
            </a:r>
            <a:r>
              <a:rPr lang="en-US" err="1"/>
              <a:t>desastre</a:t>
            </a:r>
            <a:r>
              <a:rPr lang="en-US"/>
              <a:t> o </a:t>
            </a:r>
            <a:r>
              <a:rPr lang="en-US" err="1"/>
              <a:t>incidente</a:t>
            </a:r>
            <a:r>
              <a:rPr lang="en-US"/>
              <a:t> grave.</a:t>
            </a:r>
          </a:p>
          <a:p>
            <a:pPr marL="171450" indent="-171450"/>
            <a:r>
              <a:rPr lang="en-US" b="1"/>
              <a:t>BCP (</a:t>
            </a:r>
            <a:r>
              <a:rPr lang="en-US" err="1"/>
              <a:t>Continuar</a:t>
            </a:r>
            <a:r>
              <a:rPr lang="en-US"/>
              <a:t> operando</a:t>
            </a:r>
            <a:r>
              <a:rPr lang="en-US" b="1"/>
              <a:t>)/DRP (</a:t>
            </a:r>
            <a:r>
              <a:rPr lang="en-US" err="1"/>
              <a:t>Recuperar</a:t>
            </a:r>
            <a:r>
              <a:rPr lang="en-US"/>
              <a:t> la </a:t>
            </a:r>
            <a:r>
              <a:rPr lang="en-US" err="1"/>
              <a:t>tecnología</a:t>
            </a:r>
            <a:r>
              <a:rPr lang="en-US" b="1"/>
              <a:t>):</a:t>
            </a:r>
            <a:r>
              <a:rPr lang="en-US"/>
              <a:t> </a:t>
            </a:r>
            <a:r>
              <a:rPr lang="en-US" err="1"/>
              <a:t>Estrategia</a:t>
            </a:r>
            <a:r>
              <a:rPr lang="en-US"/>
              <a:t> integral para </a:t>
            </a:r>
            <a:r>
              <a:rPr lang="en-US" err="1"/>
              <a:t>asegurar</a:t>
            </a:r>
            <a:r>
              <a:rPr lang="en-US"/>
              <a:t> la </a:t>
            </a:r>
            <a:r>
              <a:rPr lang="en-US" err="1"/>
              <a:t>continuidad</a:t>
            </a:r>
            <a:r>
              <a:rPr lang="en-US"/>
              <a:t> del </a:t>
            </a:r>
            <a:r>
              <a:rPr lang="en-US" err="1"/>
              <a:t>negocio</a:t>
            </a:r>
            <a:r>
              <a:rPr lang="en-US"/>
              <a:t> y la </a:t>
            </a:r>
            <a:r>
              <a:rPr lang="en-US" err="1"/>
              <a:t>recuperación</a:t>
            </a:r>
            <a:r>
              <a:rPr lang="en-US"/>
              <a:t> </a:t>
            </a:r>
            <a:r>
              <a:rPr lang="en-US" err="1"/>
              <a:t>tecnológica</a:t>
            </a:r>
            <a:r>
              <a:rPr lang="en-US"/>
              <a:t> ante </a:t>
            </a:r>
            <a:r>
              <a:rPr lang="en-US" err="1"/>
              <a:t>contingencias</a:t>
            </a:r>
            <a:r>
              <a:rPr lang="en-US"/>
              <a:t>.</a:t>
            </a:r>
          </a:p>
          <a:p>
            <a:pPr marL="158750" indent="0">
              <a:buNone/>
            </a:pPr>
            <a:endParaRPr lang="en-US"/>
          </a:p>
          <a:p>
            <a:r>
              <a:rPr lang="en-US" err="1"/>
              <a:t>Superintendencia</a:t>
            </a:r>
            <a:r>
              <a:rPr lang="en-US"/>
              <a:t> Financiera de Colombia: </a:t>
            </a:r>
            <a:r>
              <a:rPr lang="en-US">
                <a:hlinkClick r:id="rId3"/>
              </a:rPr>
              <a:t>https://www.superfinanciera.gov.co</a:t>
            </a:r>
            <a:r>
              <a:rPr lang="en-US"/>
              <a:t> </a:t>
            </a:r>
            <a:r>
              <a:rPr lang="en-US">
                <a:hlinkClick r:id="rId4"/>
              </a:rPr>
              <a:t>[</a:t>
            </a:r>
            <a:r>
              <a:rPr lang="en-US" err="1">
                <a:hlinkClick r:id="rId4"/>
              </a:rPr>
              <a:t>superfinan</a:t>
            </a:r>
            <a:r>
              <a:rPr lang="en-US">
                <a:hlinkClick r:id="rId4"/>
              </a:rPr>
              <a:t>...era.gov.co]</a:t>
            </a:r>
            <a:endParaRPr lang="es-ES"/>
          </a:p>
          <a:p>
            <a:r>
              <a:rPr lang="en-US"/>
              <a:t>Open Finance Colombia (</a:t>
            </a:r>
            <a:r>
              <a:rPr lang="en-US" err="1"/>
              <a:t>Decreto</a:t>
            </a:r>
            <a:r>
              <a:rPr lang="en-US"/>
              <a:t> 0368 de 2026): </a:t>
            </a:r>
            <a:r>
              <a:rPr lang="en-US" err="1"/>
              <a:t>Superfinanciera</a:t>
            </a:r>
            <a:r>
              <a:rPr lang="en-US"/>
              <a:t> </a:t>
            </a:r>
            <a:r>
              <a:rPr lang="en-US">
                <a:hlinkClick r:id="rId5"/>
              </a:rPr>
              <a:t>[</a:t>
            </a:r>
            <a:r>
              <a:rPr lang="en-US" err="1">
                <a:hlinkClick r:id="rId5"/>
              </a:rPr>
              <a:t>superfinan</a:t>
            </a:r>
            <a:r>
              <a:rPr lang="en-US">
                <a:hlinkClick r:id="rId5"/>
              </a:rPr>
              <a:t>...era.gov.co]</a:t>
            </a:r>
            <a:endParaRPr lang="en-US"/>
          </a:p>
          <a:p>
            <a:r>
              <a:rPr lang="en-US"/>
              <a:t>ISO/IEC 42001: </a:t>
            </a:r>
            <a:r>
              <a:rPr lang="en-US">
                <a:hlinkClick r:id="rId6"/>
              </a:rPr>
              <a:t>https://www.iso.org/standard/42001</a:t>
            </a:r>
            <a:r>
              <a:rPr lang="en-US"/>
              <a:t> </a:t>
            </a:r>
            <a:r>
              <a:rPr lang="en-US">
                <a:hlinkClick r:id="rId6"/>
              </a:rPr>
              <a:t>[iso.org]</a:t>
            </a:r>
            <a:endParaRPr lang="es-ES"/>
          </a:p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B7229A-9FEE-A307-B6A0-D2AEB3C73C9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542809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B1FFF808-ACEF-2361-1CA3-572FE1F76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4F58280E-B152-1D20-4F1F-53D2B38A44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9ABC4265-F82C-DCAF-EF13-3750909976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60005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>
          <a:extLst>
            <a:ext uri="{FF2B5EF4-FFF2-40B4-BE49-F238E27FC236}">
              <a16:creationId xmlns:a16="http://schemas.microsoft.com/office/drawing/2014/main" id="{F67EC8EC-D924-C2EE-6728-9FB1E1EDE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>
            <a:extLst>
              <a:ext uri="{FF2B5EF4-FFF2-40B4-BE49-F238E27FC236}">
                <a16:creationId xmlns:a16="http://schemas.microsoft.com/office/drawing/2014/main" id="{ECBE2C72-F4BB-EA9C-2B3B-14D52AD357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>
            <a:extLst>
              <a:ext uri="{FF2B5EF4-FFF2-40B4-BE49-F238E27FC236}">
                <a16:creationId xmlns:a16="http://schemas.microsoft.com/office/drawing/2014/main" id="{3465F5D9-09F0-AF07-4782-69A853439C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99473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CE505433-2ACA-69A8-B0C3-A79DA987B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603A7570-A496-3D05-6901-598F97D07A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71F902F3-8C74-1208-3B51-B4F19066F0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66074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b="1">
                <a:solidFill>
                  <a:schemeClr val="tx1"/>
                </a:solidFill>
              </a:rPr>
              <a:t>De ITSM a DPSM:</a:t>
            </a:r>
            <a:r>
              <a:rPr lang="en-US">
                <a:solidFill>
                  <a:schemeClr val="tx1"/>
                </a:solidFill>
              </a:rPr>
              <a:t> ITIL (Version 5) </a:t>
            </a:r>
            <a:r>
              <a:rPr lang="en-US" err="1">
                <a:solidFill>
                  <a:schemeClr val="tx1"/>
                </a:solidFill>
              </a:rPr>
              <a:t>amplía</a:t>
            </a:r>
            <a:r>
              <a:rPr lang="en-US">
                <a:solidFill>
                  <a:schemeClr val="tx1"/>
                </a:solidFill>
              </a:rPr>
              <a:t> el </a:t>
            </a:r>
            <a:r>
              <a:rPr lang="en-US" err="1">
                <a:solidFill>
                  <a:schemeClr val="tx1"/>
                </a:solidFill>
              </a:rPr>
              <a:t>marco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hacia</a:t>
            </a:r>
            <a:r>
              <a:rPr lang="en-US">
                <a:solidFill>
                  <a:schemeClr val="tx1"/>
                </a:solidFill>
              </a:rPr>
              <a:t> la </a:t>
            </a:r>
            <a:r>
              <a:rPr lang="en-US" b="1">
                <a:solidFill>
                  <a:schemeClr val="tx1"/>
                </a:solidFill>
              </a:rPr>
              <a:t>Digital Product and Service Management (DPSM)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unificando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gestión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productos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digitales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aplicaciones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plataformas</a:t>
            </a:r>
            <a:r>
              <a:rPr lang="en-US">
                <a:solidFill>
                  <a:schemeClr val="tx1"/>
                </a:solidFill>
              </a:rPr>
              <a:t> y APIs junto con </a:t>
            </a:r>
            <a:r>
              <a:rPr lang="en-US" err="1">
                <a:solidFill>
                  <a:schemeClr val="tx1"/>
                </a:solidFill>
              </a:rPr>
              <a:t>los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servicios</a:t>
            </a:r>
            <a:r>
              <a:rPr lang="en-US">
                <a:solidFill>
                  <a:schemeClr val="tx1"/>
                </a:solidFill>
              </a:rPr>
              <a:t> de TI </a:t>
            </a:r>
            <a:r>
              <a:rPr lang="en-US" err="1">
                <a:solidFill>
                  <a:schemeClr val="tx1"/>
                </a:solidFill>
              </a:rPr>
              <a:t>tradicionales</a:t>
            </a:r>
            <a:r>
              <a:rPr lang="en-US">
                <a:solidFill>
                  <a:schemeClr val="tx1"/>
                </a:solidFill>
              </a:rPr>
              <a:t> — </a:t>
            </a:r>
            <a:r>
              <a:rPr lang="en-US" err="1">
                <a:solidFill>
                  <a:schemeClr val="tx1"/>
                </a:solidFill>
              </a:rPr>
              <a:t>reflejando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muchas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organizaciones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ya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gestionan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estos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elementos</a:t>
            </a:r>
            <a:r>
              <a:rPr lang="en-US">
                <a:solidFill>
                  <a:schemeClr val="tx1"/>
                </a:solidFill>
              </a:rPr>
              <a:t> de forma </a:t>
            </a:r>
            <a:r>
              <a:rPr lang="en-US" err="1">
                <a:solidFill>
                  <a:schemeClr val="tx1"/>
                </a:solidFill>
              </a:rPr>
              <a:t>convergente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 err="1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Rixmind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01841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Char char="•"/>
            </a:pPr>
            <a:r>
              <a:rPr lang="en-US" b="1"/>
              <a:t>PIR (Post Implementation Review):</a:t>
            </a:r>
            <a:r>
              <a:rPr lang="en-US"/>
              <a:t> </a:t>
            </a:r>
            <a:r>
              <a:rPr lang="en-US" err="1"/>
              <a:t>Revisión</a:t>
            </a:r>
            <a:r>
              <a:rPr lang="en-US"/>
              <a:t> posterior a la </a:t>
            </a:r>
            <a:r>
              <a:rPr lang="en-US" err="1"/>
              <a:t>implementación</a:t>
            </a:r>
            <a:r>
              <a:rPr lang="en-US"/>
              <a:t> para </a:t>
            </a:r>
            <a:r>
              <a:rPr lang="en-US" err="1"/>
              <a:t>evaluar</a:t>
            </a:r>
            <a:r>
              <a:rPr lang="en-US"/>
              <a:t> </a:t>
            </a:r>
            <a:r>
              <a:rPr lang="en-US" err="1"/>
              <a:t>resultados</a:t>
            </a:r>
            <a:r>
              <a:rPr lang="en-US"/>
              <a:t>, </a:t>
            </a:r>
            <a:r>
              <a:rPr lang="en-US" err="1"/>
              <a:t>identificar</a:t>
            </a:r>
            <a:r>
              <a:rPr lang="en-US"/>
              <a:t> </a:t>
            </a:r>
            <a:r>
              <a:rPr lang="en-US" err="1"/>
              <a:t>lecciones</a:t>
            </a:r>
            <a:r>
              <a:rPr lang="en-US"/>
              <a:t> </a:t>
            </a:r>
            <a:r>
              <a:rPr lang="en-US" err="1"/>
              <a:t>aprendidas</a:t>
            </a:r>
            <a:r>
              <a:rPr lang="en-US"/>
              <a:t> y </a:t>
            </a:r>
            <a:r>
              <a:rPr lang="en-US" err="1"/>
              <a:t>oportunidades</a:t>
            </a:r>
            <a:r>
              <a:rPr lang="en-US"/>
              <a:t> de </a:t>
            </a:r>
            <a:r>
              <a:rPr lang="en-US" err="1"/>
              <a:t>mejora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KCS (Knowledge-Centered Service):</a:t>
            </a:r>
            <a:r>
              <a:rPr lang="en-US"/>
              <a:t> </a:t>
            </a:r>
            <a:r>
              <a:rPr lang="en-US" err="1"/>
              <a:t>Metodología</a:t>
            </a:r>
            <a:r>
              <a:rPr lang="en-US"/>
              <a:t> de </a:t>
            </a:r>
            <a:r>
              <a:rPr lang="en-US" err="1"/>
              <a:t>gestión</a:t>
            </a:r>
            <a:r>
              <a:rPr lang="en-US"/>
              <a:t> del </a:t>
            </a:r>
            <a:r>
              <a:rPr lang="en-US" err="1"/>
              <a:t>conocimiento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documenta y </a:t>
            </a:r>
            <a:r>
              <a:rPr lang="en-US" err="1"/>
              <a:t>reutiliza</a:t>
            </a:r>
            <a:r>
              <a:rPr lang="en-US"/>
              <a:t> </a:t>
            </a:r>
            <a:r>
              <a:rPr lang="en-US" err="1"/>
              <a:t>soluciones</a:t>
            </a:r>
            <a:r>
              <a:rPr lang="en-US"/>
              <a:t> </a:t>
            </a:r>
            <a:r>
              <a:rPr lang="en-US" err="1"/>
              <a:t>durante</a:t>
            </a:r>
            <a:r>
              <a:rPr lang="en-US"/>
              <a:t> la </a:t>
            </a:r>
            <a:r>
              <a:rPr lang="en-US" err="1"/>
              <a:t>atención</a:t>
            </a:r>
            <a:r>
              <a:rPr lang="en-US"/>
              <a:t> de </a:t>
            </a:r>
            <a:r>
              <a:rPr lang="en-US" err="1"/>
              <a:t>incidencias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IA (</a:t>
            </a:r>
            <a:r>
              <a:rPr lang="en-US" b="1" err="1"/>
              <a:t>Inteligencia</a:t>
            </a:r>
            <a:r>
              <a:rPr lang="en-US" b="1"/>
              <a:t> Artificial):</a:t>
            </a:r>
            <a:r>
              <a:rPr lang="en-US"/>
              <a:t> </a:t>
            </a:r>
            <a:r>
              <a:rPr lang="en-US" err="1"/>
              <a:t>Tecnología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permite</a:t>
            </a:r>
            <a:r>
              <a:rPr lang="en-US"/>
              <a:t> a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sistemas</a:t>
            </a:r>
            <a:r>
              <a:rPr lang="en-US"/>
              <a:t> </a:t>
            </a:r>
            <a:r>
              <a:rPr lang="en-US" err="1"/>
              <a:t>analizar</a:t>
            </a:r>
            <a:r>
              <a:rPr lang="en-US"/>
              <a:t> </a:t>
            </a:r>
            <a:r>
              <a:rPr lang="en-US" err="1"/>
              <a:t>información</a:t>
            </a:r>
            <a:r>
              <a:rPr lang="en-US"/>
              <a:t>, </a:t>
            </a:r>
            <a:r>
              <a:rPr lang="en-US" err="1"/>
              <a:t>aprender</a:t>
            </a:r>
            <a:r>
              <a:rPr lang="en-US"/>
              <a:t> </a:t>
            </a:r>
            <a:r>
              <a:rPr lang="en-US" err="1"/>
              <a:t>patrones</a:t>
            </a:r>
            <a:r>
              <a:rPr lang="en-US"/>
              <a:t>, </a:t>
            </a:r>
            <a:r>
              <a:rPr lang="en-US" err="1"/>
              <a:t>generar</a:t>
            </a:r>
            <a:r>
              <a:rPr lang="en-US"/>
              <a:t> </a:t>
            </a:r>
            <a:r>
              <a:rPr lang="en-US" err="1"/>
              <a:t>contenido</a:t>
            </a:r>
            <a:r>
              <a:rPr lang="en-US"/>
              <a:t> y </a:t>
            </a:r>
            <a:r>
              <a:rPr lang="en-US" err="1"/>
              <a:t>automatizar</a:t>
            </a:r>
            <a:r>
              <a:rPr lang="en-US"/>
              <a:t> </a:t>
            </a:r>
            <a:r>
              <a:rPr lang="en-US" err="1"/>
              <a:t>tareas</a:t>
            </a:r>
            <a:r>
              <a:rPr lang="en-US"/>
              <a:t>.</a:t>
            </a:r>
            <a:endParaRPr lang="es-ES"/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386478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b="1">
                <a:solidFill>
                  <a:schemeClr val="tx1"/>
                </a:solidFill>
              </a:rPr>
              <a:t>Modelo de Soporte </a:t>
            </a:r>
            <a:r>
              <a:rPr lang="es-ES">
                <a:solidFill>
                  <a:schemeClr val="tx1"/>
                </a:solidFill>
              </a:rPr>
              <a:t> </a:t>
            </a:r>
            <a:endParaRPr lang="es-ES"/>
          </a:p>
          <a:p>
            <a:pPr marL="0" indent="0">
              <a:buNone/>
            </a:pPr>
            <a:r>
              <a:rPr lang="en-US" b="1">
                <a:solidFill>
                  <a:schemeClr val="tx1"/>
                </a:solidFill>
              </a:rPr>
              <a:t>Shift-left:</a:t>
            </a:r>
            <a:r>
              <a:rPr lang="en-US">
                <a:solidFill>
                  <a:schemeClr val="tx1"/>
                </a:solidFill>
              </a:rPr>
              <a:t> resolver antes, </a:t>
            </a:r>
            <a:r>
              <a:rPr lang="en-US" err="1">
                <a:solidFill>
                  <a:schemeClr val="tx1"/>
                </a:solidFill>
              </a:rPr>
              <a:t>escalar</a:t>
            </a:r>
            <a:r>
              <a:rPr lang="en-US">
                <a:solidFill>
                  <a:schemeClr val="tx1"/>
                </a:solidFill>
              </a:rPr>
              <a:t> </a:t>
            </a:r>
            <a:r>
              <a:rPr lang="en-US" err="1">
                <a:solidFill>
                  <a:schemeClr val="tx1"/>
                </a:solidFill>
              </a:rPr>
              <a:t>mejor</a:t>
            </a:r>
            <a:r>
              <a:rPr lang="en-US">
                <a:solidFill>
                  <a:schemeClr val="tx1"/>
                </a:solidFill>
              </a:rPr>
              <a:t> y </a:t>
            </a:r>
            <a:r>
              <a:rPr lang="en-US" err="1">
                <a:solidFill>
                  <a:schemeClr val="tx1"/>
                </a:solidFill>
              </a:rPr>
              <a:t>dejar</a:t>
            </a:r>
            <a:r>
              <a:rPr lang="en-US">
                <a:solidFill>
                  <a:schemeClr val="tx1"/>
                </a:solidFill>
              </a:rPr>
              <a:t> </a:t>
            </a:r>
            <a:r>
              <a:rPr lang="en-US" err="1">
                <a:solidFill>
                  <a:schemeClr val="tx1"/>
                </a:solidFill>
              </a:rPr>
              <a:t>evidencia</a:t>
            </a:r>
            <a:endParaRPr lang="en-US" err="1"/>
          </a:p>
          <a:p>
            <a:pPr marL="0" indent="0">
              <a:buNone/>
            </a:pPr>
            <a:endParaRPr lang="es-ES"/>
          </a:p>
          <a:p>
            <a:pPr marL="171450" indent="-171450"/>
            <a:r>
              <a:rPr lang="en-US" b="1"/>
              <a:t>FCR:</a:t>
            </a:r>
            <a:r>
              <a:rPr lang="en-US"/>
              <a:t> </a:t>
            </a:r>
            <a:r>
              <a:rPr lang="en-US" err="1"/>
              <a:t>Resolución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el Primer Contacto (</a:t>
            </a:r>
            <a:r>
              <a:rPr lang="en-US" i="1"/>
              <a:t>First Contact Resolution</a:t>
            </a:r>
            <a:r>
              <a:rPr lang="en-US"/>
              <a:t>).</a:t>
            </a:r>
            <a:endParaRPr lang="es-ES"/>
          </a:p>
          <a:p>
            <a:pPr marL="171450" indent="-171450"/>
            <a:r>
              <a:rPr lang="en-US" b="1"/>
              <a:t>MTTR:</a:t>
            </a:r>
            <a:r>
              <a:rPr lang="en-US"/>
              <a:t> Tiempo Medio de </a:t>
            </a:r>
            <a:r>
              <a:rPr lang="en-US" err="1"/>
              <a:t>Resolución</a:t>
            </a:r>
            <a:r>
              <a:rPr lang="en-US"/>
              <a:t> (</a:t>
            </a:r>
            <a:r>
              <a:rPr lang="en-US" i="1"/>
              <a:t>Mean Time to Resolution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SLA:</a:t>
            </a:r>
            <a:r>
              <a:rPr lang="en-US"/>
              <a:t> </a:t>
            </a:r>
            <a:r>
              <a:rPr lang="en-US" err="1"/>
              <a:t>Acuerdo</a:t>
            </a:r>
            <a:r>
              <a:rPr lang="en-US"/>
              <a:t> de Nivel de Servicio (</a:t>
            </a:r>
            <a:r>
              <a:rPr lang="en-US" i="1"/>
              <a:t>Service Level Agreement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CMDB:</a:t>
            </a:r>
            <a:r>
              <a:rPr lang="en-US"/>
              <a:t> Base de Datos de </a:t>
            </a:r>
            <a:r>
              <a:rPr lang="en-US" err="1"/>
              <a:t>Gestión</a:t>
            </a:r>
            <a:r>
              <a:rPr lang="en-US"/>
              <a:t> de </a:t>
            </a:r>
            <a:r>
              <a:rPr lang="en-US" err="1"/>
              <a:t>Configuración</a:t>
            </a:r>
            <a:r>
              <a:rPr lang="en-US"/>
              <a:t> (</a:t>
            </a:r>
            <a:r>
              <a:rPr lang="en-US" i="1"/>
              <a:t>Configuration Management Database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KPI:</a:t>
            </a:r>
            <a:r>
              <a:rPr lang="en-US"/>
              <a:t> </a:t>
            </a:r>
            <a:r>
              <a:rPr lang="en-US" err="1"/>
              <a:t>Indicador</a:t>
            </a:r>
            <a:r>
              <a:rPr lang="en-US"/>
              <a:t> Clave de </a:t>
            </a:r>
            <a:r>
              <a:rPr lang="en-US" err="1"/>
              <a:t>Desempeño</a:t>
            </a:r>
            <a:r>
              <a:rPr lang="en-US"/>
              <a:t> (</a:t>
            </a:r>
            <a:r>
              <a:rPr lang="en-US" i="1"/>
              <a:t>Key Performance Indicator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KCS:</a:t>
            </a:r>
            <a:r>
              <a:rPr lang="en-US"/>
              <a:t> Servicio </a:t>
            </a:r>
            <a:r>
              <a:rPr lang="en-US" err="1"/>
              <a:t>Centrado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el </a:t>
            </a:r>
            <a:r>
              <a:rPr lang="en-US" err="1"/>
              <a:t>Conocimiento</a:t>
            </a:r>
            <a:r>
              <a:rPr lang="en-US"/>
              <a:t> (</a:t>
            </a:r>
            <a:r>
              <a:rPr lang="en-US" i="1"/>
              <a:t>Knowledge-Centered Service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CSAT:</a:t>
            </a:r>
            <a:r>
              <a:rPr lang="en-US"/>
              <a:t> </a:t>
            </a:r>
            <a:r>
              <a:rPr lang="en-US" err="1"/>
              <a:t>Satisfacción</a:t>
            </a:r>
            <a:r>
              <a:rPr lang="en-US"/>
              <a:t> del </a:t>
            </a:r>
            <a:r>
              <a:rPr lang="en-US" err="1"/>
              <a:t>Cliente</a:t>
            </a:r>
            <a:r>
              <a:rPr lang="en-US"/>
              <a:t> (</a:t>
            </a:r>
            <a:r>
              <a:rPr lang="en-US" i="1"/>
              <a:t>Customer Satisfaction Score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IA:</a:t>
            </a:r>
            <a:r>
              <a:rPr lang="en-US"/>
              <a:t> </a:t>
            </a:r>
            <a:r>
              <a:rPr lang="en-US" err="1"/>
              <a:t>Inteligencia</a:t>
            </a:r>
            <a:r>
              <a:rPr lang="en-US"/>
              <a:t> Artificial.</a:t>
            </a:r>
          </a:p>
          <a:p>
            <a:pPr marL="171450" indent="-171450"/>
            <a:r>
              <a:rPr lang="en-US" b="1"/>
              <a:t>AIOps:</a:t>
            </a:r>
            <a:r>
              <a:rPr lang="en-US"/>
              <a:t> </a:t>
            </a:r>
            <a:r>
              <a:rPr lang="en-US" err="1"/>
              <a:t>Inteligencia</a:t>
            </a:r>
            <a:r>
              <a:rPr lang="en-US"/>
              <a:t> Artificial para </a:t>
            </a:r>
            <a:r>
              <a:rPr lang="en-US" err="1"/>
              <a:t>Operaciones</a:t>
            </a:r>
            <a:r>
              <a:rPr lang="en-US"/>
              <a:t> de TI.</a:t>
            </a:r>
          </a:p>
          <a:p>
            <a:pPr marL="171450" indent="-171450"/>
            <a:r>
              <a:rPr lang="en-US" b="1"/>
              <a:t>XLA:</a:t>
            </a:r>
            <a:r>
              <a:rPr lang="en-US"/>
              <a:t> </a:t>
            </a:r>
            <a:r>
              <a:rPr lang="en-US" err="1"/>
              <a:t>Acuerdo</a:t>
            </a:r>
            <a:r>
              <a:rPr lang="en-US"/>
              <a:t> de Nivel de </a:t>
            </a:r>
            <a:r>
              <a:rPr lang="en-US" err="1"/>
              <a:t>Experiencia</a:t>
            </a:r>
            <a:r>
              <a:rPr lang="en-US"/>
              <a:t> (</a:t>
            </a:r>
            <a:r>
              <a:rPr lang="en-US" i="1"/>
              <a:t>Experience Level Agreement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DEX:</a:t>
            </a:r>
            <a:r>
              <a:rPr lang="en-US"/>
              <a:t> </a:t>
            </a:r>
            <a:r>
              <a:rPr lang="en-US" err="1"/>
              <a:t>Experiencia</a:t>
            </a:r>
            <a:r>
              <a:rPr lang="en-US"/>
              <a:t> Digital del </a:t>
            </a:r>
            <a:r>
              <a:rPr lang="en-US" err="1"/>
              <a:t>Empleado</a:t>
            </a:r>
            <a:r>
              <a:rPr lang="en-US"/>
              <a:t> (</a:t>
            </a:r>
            <a:r>
              <a:rPr lang="en-US" i="1"/>
              <a:t>Digital Employee Experience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N0:</a:t>
            </a:r>
            <a:r>
              <a:rPr lang="en-US"/>
              <a:t> Nivel de </a:t>
            </a:r>
            <a:r>
              <a:rPr lang="en-US" err="1"/>
              <a:t>autoservicio</a:t>
            </a:r>
            <a:r>
              <a:rPr lang="en-US"/>
              <a:t> </a:t>
            </a:r>
            <a:r>
              <a:rPr lang="en-US" err="1"/>
              <a:t>mediante</a:t>
            </a:r>
            <a:r>
              <a:rPr lang="en-US"/>
              <a:t> portal, chatbot o base de </a:t>
            </a:r>
            <a:r>
              <a:rPr lang="en-US" err="1"/>
              <a:t>conocimiento</a:t>
            </a:r>
            <a:r>
              <a:rPr lang="en-US"/>
              <a:t>.</a:t>
            </a:r>
          </a:p>
          <a:p>
            <a:pPr marL="171450" indent="-171450"/>
            <a:r>
              <a:rPr lang="en-US" b="1"/>
              <a:t>Deflection:</a:t>
            </a:r>
            <a:r>
              <a:rPr lang="en-US"/>
              <a:t> Casos </a:t>
            </a:r>
            <a:r>
              <a:rPr lang="en-US" err="1"/>
              <a:t>resueltos</a:t>
            </a:r>
            <a:r>
              <a:rPr lang="en-US"/>
              <a:t> sin </a:t>
            </a:r>
            <a:r>
              <a:rPr lang="en-US" err="1"/>
              <a:t>generar</a:t>
            </a:r>
            <a:r>
              <a:rPr lang="en-US"/>
              <a:t> ticket o sin </a:t>
            </a:r>
            <a:r>
              <a:rPr lang="en-US" err="1"/>
              <a:t>intervención</a:t>
            </a:r>
            <a:r>
              <a:rPr lang="en-US"/>
              <a:t> humana.</a:t>
            </a:r>
          </a:p>
          <a:p>
            <a:pPr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5004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b="1">
                <a:solidFill>
                  <a:srgbClr val="0C2362"/>
                </a:solidFill>
                <a:highlight>
                  <a:srgbClr val="FFFF00"/>
                </a:highlight>
              </a:rPr>
              <a:t>(NUEVAS OFERTAS: cuales servicios volver obsoletos, servicios </a:t>
            </a:r>
            <a:r>
              <a:rPr lang="es-ES" b="1" err="1">
                <a:solidFill>
                  <a:srgbClr val="0C2362"/>
                </a:solidFill>
                <a:highlight>
                  <a:srgbClr val="FFFF00"/>
                </a:highlight>
              </a:rPr>
              <a:t>lights</a:t>
            </a:r>
            <a:r>
              <a:rPr lang="es-ES" b="1">
                <a:solidFill>
                  <a:srgbClr val="0C2362"/>
                </a:solidFill>
                <a:highlight>
                  <a:srgbClr val="FFFF00"/>
                </a:highlight>
              </a:rPr>
              <a:t>, servicios de operación)</a:t>
            </a:r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7e80574407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g37e80574407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stático">
  <p:cSld name="TITLE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g37e80574407_0_7" title="textura.jpg"/>
          <p:cNvPicPr preferRelativeResize="0"/>
          <p:nvPr/>
        </p:nvPicPr>
        <p:blipFill rotWithShape="1">
          <a:blip r:embed="rId2">
            <a:alphaModFix/>
          </a:blip>
          <a:srcRect t="219" b="20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g37e80574407_0_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19" name="Google Shape;19;g37e80574407_0_7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20" name="Google Shape;20;g37e80574407_0_7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g37e80574407_0_7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22" name="Google Shape;22;g37e80574407_0_7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Contenido Clásico">
  <p:cSld name="TITLE_1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7e80574407_0_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43" name="Google Shape;43;g37e80574407_0_46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44" name="Google Shape;44;g37e80574407_0_46" title="isotipo_pos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g37e80574407_0_46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g37e80574407_0_46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/>
          </p:nvPr>
        </p:nvSpPr>
        <p:spPr>
          <a:xfrm>
            <a:off x="361350" y="494725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4000"/>
              <a:buNone/>
              <a:defRPr sz="40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2815250"/>
            <a:ext cx="56667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0072BC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title"/>
          </p:nvPr>
        </p:nvSpPr>
        <p:spPr>
          <a:xfrm>
            <a:off x="336750" y="1267200"/>
            <a:ext cx="81357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54" name="Google Shape;54;p12" title="isotipo_neg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4103"/>
            <a:ext cx="540000" cy="27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/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1"/>
          </p:nvPr>
        </p:nvSpPr>
        <p:spPr>
          <a:xfrm>
            <a:off x="464275" y="3428125"/>
            <a:ext cx="3476700" cy="8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2"/>
          </p:nvPr>
        </p:nvSpPr>
        <p:spPr>
          <a:xfrm>
            <a:off x="4939500" y="1208600"/>
            <a:ext cx="3612000" cy="31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61" name="Google Shape;61;p13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/>
          <p:nvPr/>
        </p:nvSpPr>
        <p:spPr>
          <a:xfrm>
            <a:off x="0" y="-5675"/>
            <a:ext cx="4572000" cy="51435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p14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368675" y="655450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body" idx="1"/>
          </p:nvPr>
        </p:nvSpPr>
        <p:spPr>
          <a:xfrm>
            <a:off x="4858700" y="1311925"/>
            <a:ext cx="3694800" cy="30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title" idx="2"/>
          </p:nvPr>
        </p:nvSpPr>
        <p:spPr>
          <a:xfrm>
            <a:off x="412475" y="1495950"/>
            <a:ext cx="3734400" cy="292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04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1" name="Google Shape;71;p16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BA34F530-57E1-3ACD-6780-261D7941DA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erre" type="blank">
  <p:cSld name="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5" name="Google Shape;75;p15" title="Recurso 1.png"/>
          <p:cNvPicPr preferRelativeResize="0"/>
          <p:nvPr/>
        </p:nvPicPr>
        <p:blipFill rotWithShape="1">
          <a:blip r:embed="rId2">
            <a:alphaModFix/>
          </a:blip>
          <a:srcRect b="7379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5" title="Recurso 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0050" y="2265624"/>
            <a:ext cx="4803901" cy="457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radecimiento">
  <p:cSld name="BLANK_1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e80574407_0_1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9" name="Google Shape;79;g37e80574407_0_110" title="Recurso 1.png"/>
          <p:cNvPicPr preferRelativeResize="0"/>
          <p:nvPr/>
        </p:nvPicPr>
        <p:blipFill rotWithShape="1">
          <a:blip r:embed="rId2">
            <a:alphaModFix/>
          </a:blip>
          <a:srcRect b="7381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g37e80574407_0_110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g37e80574407_0_110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2" name="Google Shape;82;g37e80574407_0_110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100"/>
              <a:buFont typeface="Reddit Sans Black"/>
              <a:buNone/>
              <a:defRPr sz="6100" b="0">
                <a:solidFill>
                  <a:schemeClr val="lt1"/>
                </a:solidFill>
                <a:latin typeface="Reddit Sans Black"/>
                <a:ea typeface="Reddit Sans Black"/>
                <a:cs typeface="Reddit Sans Black"/>
                <a:sym typeface="Reddit Sans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9pPr>
          </a:lstStyle>
          <a:p>
            <a:endParaRPr/>
          </a:p>
        </p:txBody>
      </p:sp>
      <p:sp>
        <p:nvSpPr>
          <p:cNvPr id="83" name="Google Shape;83;g37e80574407_0_110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dit Sans Light"/>
              <a:buNone/>
              <a:defRPr sz="900" b="0">
                <a:solidFill>
                  <a:schemeClr val="lt1"/>
                </a:solidFill>
                <a:latin typeface="Reddit Sans Light"/>
                <a:ea typeface="Reddit Sans Light"/>
                <a:cs typeface="Reddit Sans Light"/>
                <a:sym typeface="Reddit San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6">
          <p15:clr>
            <a:srgbClr val="E46962"/>
          </p15:clr>
        </p15:guide>
        <p15:guide id="2" orient="horz" pos="2903">
          <p15:clr>
            <a:srgbClr val="E46962"/>
          </p15:clr>
        </p15:guide>
        <p15:guide id="3" pos="28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2BC"/>
              </a:buClr>
              <a:buSzPts val="12000"/>
              <a:buNone/>
              <a:defRPr sz="12000">
                <a:solidFill>
                  <a:srgbClr val="0072B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6" name="Google Shape;96;p19"/>
          <p:cNvSpPr txBox="1">
            <a:spLocks noGrp="1"/>
          </p:cNvSpPr>
          <p:nvPr>
            <p:ph type="body" idx="1"/>
          </p:nvPr>
        </p:nvSpPr>
        <p:spPr>
          <a:xfrm>
            <a:off x="450000" y="2959950"/>
            <a:ext cx="8101500" cy="13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98" name="Google Shape;98;p19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7">
          <p15:clr>
            <a:srgbClr val="E46962"/>
          </p15:clr>
        </p15:guide>
        <p15:guide id="2" pos="283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9443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userDrawn="1">
  <p:cSld name="TITLE_AND_TWO_COLUMN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4657177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88" name="Google Shape;88;p17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>
            <a:spLocks noGrp="1"/>
          </p:cNvSpPr>
          <p:nvPr>
            <p:ph type="body" idx="2"/>
          </p:nvPr>
        </p:nvSpPr>
        <p:spPr>
          <a:xfrm>
            <a:off x="450000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54C7C093-64D9-3144-9EE6-858CDE2C30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78716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90987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ido con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731" y="459486"/>
            <a:ext cx="5266944" cy="77495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 rtl="0"/>
            <a:r>
              <a:rPr lang="es"/>
              <a:t>Haga clic para modificar el estilo de título del patrón</a:t>
            </a:r>
            <a:endParaRPr lang="en-US"/>
          </a:p>
        </p:txBody>
      </p:sp>
      <p:sp>
        <p:nvSpPr>
          <p:cNvPr id="10" name="Marcador de posición de imagen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3256938" cy="51435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es"/>
              <a:t> </a:t>
            </a:r>
          </a:p>
        </p:txBody>
      </p:sp>
      <p:sp>
        <p:nvSpPr>
          <p:cNvPr id="9" name="Marcador de pie de página 8">
            <a:extLst>
              <a:ext uri="{FF2B5EF4-FFF2-40B4-BE49-F238E27FC236}">
                <a16:creationId xmlns:a16="http://schemas.microsoft.com/office/drawing/2014/main" id="{CD81791C-036D-058C-0055-96793694D6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562731" y="157734"/>
            <a:ext cx="2648578" cy="310020"/>
          </a:xfrm>
        </p:spPr>
        <p:txBody>
          <a:bodyPr rtlCol="0"/>
          <a:lstStyle/>
          <a:p>
            <a:pPr rtl="0"/>
            <a:r>
              <a:rPr lang="es"/>
              <a:t>Texto de pie de página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2A8DE5B-9C41-DE5B-BF91-98510120DCF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186724" y="157734"/>
            <a:ext cx="1259732" cy="310020"/>
          </a:xfrm>
        </p:spPr>
        <p:txBody>
          <a:bodyPr rtlCol="0"/>
          <a:lstStyle/>
          <a:p>
            <a:pPr rtl="0"/>
            <a:r>
              <a:rPr lang="en-US"/>
              <a:t>11/7/2025</a:t>
            </a:r>
          </a:p>
        </p:txBody>
      </p:sp>
      <p:sp>
        <p:nvSpPr>
          <p:cNvPr id="11" name="Marcador de número de diapositiva 10">
            <a:extLst>
              <a:ext uri="{FF2B5EF4-FFF2-40B4-BE49-F238E27FC236}">
                <a16:creationId xmlns:a16="http://schemas.microsoft.com/office/drawing/2014/main" id="{0E0FD979-F905-C567-8E21-A3EDCE17980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 rtl="0"/>
            <a:fld id="{753D0FD4-819D-4187-8797-C35567B41C78}" type="slidenum">
              <a:rPr lang="en-US" smtClean="0"/>
              <a:t>‹Nº›</a:t>
            </a:fld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62730" y="1309878"/>
            <a:ext cx="5266944" cy="3605023"/>
          </a:xfrm>
        </p:spPr>
        <p:txBody>
          <a:bodyPr rtlCol="0"/>
          <a:lstStyle/>
          <a:p>
            <a:pPr lvl="0" rtl="0"/>
            <a:r>
              <a:rPr lang="es"/>
              <a:t>Haga clic para modificar los estilos de texto del patrón</a:t>
            </a:r>
          </a:p>
          <a:p>
            <a:pPr lvl="1" rtl="0"/>
            <a:r>
              <a:rPr lang="es"/>
              <a:t>Segundo nivel</a:t>
            </a:r>
          </a:p>
          <a:p>
            <a:pPr lvl="2" rtl="0"/>
            <a:r>
              <a:rPr lang="es"/>
              <a:t>Tercer nivel</a:t>
            </a:r>
          </a:p>
          <a:p>
            <a:pPr lvl="3" rtl="0"/>
            <a:r>
              <a:rPr lang="es"/>
              <a:t>Cuarto nivel</a:t>
            </a:r>
          </a:p>
          <a:p>
            <a:pPr lvl="4" rtl="0"/>
            <a:r>
              <a:rPr lang="es"/>
              <a:t>Quinto nivel</a:t>
            </a:r>
            <a:endParaRPr lang="en-US"/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3259320" y="0"/>
            <a:ext cx="0" cy="51435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40418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stático">
  <p:cSld name="TITL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7;g37e80574407_0_7"/>
          <p:cNvPicPr>
            <a:picLocks noChangeAspect="1"/>
          </p:cNvPicPr>
          <p:nvPr/>
        </p:nvPicPr>
        <p:blipFill rotWithShape="1">
          <a:blip r:embed="rId2">
            <a:alphaModFix/>
          </a:blip>
          <a:srcRect t="219" b="20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ln>
            <a:noFill/>
          </a:ln>
        </p:spPr>
      </p:pic>
      <p:sp>
        <p:nvSpPr>
          <p:cNvPr id="18" name="Google Shape;18;g37e80574407_0_7">
            <a:extLst>
              <a:ext uri="{FF2B5EF4-FFF2-40B4-BE49-F238E27FC236}">
                <a16:creationId xmlns:a16="http://schemas.microsoft.com/office/drawing/2014/main" id="{B1F1B4D1-E690-4E3D-BC28-F902B81251B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19" name="Google Shape;19;g37e80574407_0_7">
            <a:extLst>
              <a:ext uri="{FF2B5EF4-FFF2-40B4-BE49-F238E27FC236}">
                <a16:creationId xmlns:a16="http://schemas.microsoft.com/office/drawing/2014/main" id="{25844D9E-7907-4F22-A074-7B081F402AEA}"/>
              </a:ext>
            </a:extLst>
          </p:cNvPr>
          <p:cNvSpPr>
            <a:spLocks noGrp="1"/>
          </p:cNvSpPr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" name="Google Shape;20;g37e80574407_0_7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ln>
            <a:noFill/>
          </a:ln>
        </p:spPr>
      </p:pic>
      <p:sp>
        <p:nvSpPr>
          <p:cNvPr id="21" name="Google Shape;21;g37e80574407_0_7">
            <a:extLst>
              <a:ext uri="{FF2B5EF4-FFF2-40B4-BE49-F238E27FC236}">
                <a16:creationId xmlns:a16="http://schemas.microsoft.com/office/drawing/2014/main" id="{2FB57A7C-437F-42BA-B53C-D4338DC2B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chemeClr val="lt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9pPr>
          </a:lstStyle>
          <a:p>
            <a:endParaRPr/>
          </a:p>
        </p:txBody>
      </p:sp>
      <p:sp>
        <p:nvSpPr>
          <p:cNvPr id="22" name="Google Shape;22;g37e80574407_0_7">
            <a:extLst>
              <a:ext uri="{FF2B5EF4-FFF2-40B4-BE49-F238E27FC236}">
                <a16:creationId xmlns:a16="http://schemas.microsoft.com/office/drawing/2014/main" id="{426D5CFE-345B-4A49-911F-78F4C3A99C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Contenido Clásico">
  <p:cSld name="TITLE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7e80574407_0_46">
            <a:extLst>
              <a:ext uri="{FF2B5EF4-FFF2-40B4-BE49-F238E27FC236}">
                <a16:creationId xmlns:a16="http://schemas.microsoft.com/office/drawing/2014/main" id="{AC2B24F9-BF8F-4F47-9728-EE6D5F7DDA3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43" name="Google Shape;43;g37e80574407_0_46">
            <a:extLst>
              <a:ext uri="{FF2B5EF4-FFF2-40B4-BE49-F238E27FC236}">
                <a16:creationId xmlns:a16="http://schemas.microsoft.com/office/drawing/2014/main" id="{FC4BF158-4191-4C42-9860-425EE1BDD06D}"/>
              </a:ext>
            </a:extLst>
          </p:cNvPr>
          <p:cNvSpPr>
            <a:spLocks noGrp="1"/>
          </p:cNvSpPr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4" name="Google Shape;44;g37e80574407_0_46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ln>
            <a:noFill/>
          </a:ln>
        </p:spPr>
      </p:pic>
      <p:sp>
        <p:nvSpPr>
          <p:cNvPr id="45" name="Google Shape;45;g37e80574407_0_46">
            <a:extLst>
              <a:ext uri="{FF2B5EF4-FFF2-40B4-BE49-F238E27FC236}">
                <a16:creationId xmlns:a16="http://schemas.microsoft.com/office/drawing/2014/main" id="{4662A93F-6B5F-4650-99EA-136417DEC4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g37e80574407_0_46">
            <a:extLst>
              <a:ext uri="{FF2B5EF4-FFF2-40B4-BE49-F238E27FC236}">
                <a16:creationId xmlns:a16="http://schemas.microsoft.com/office/drawing/2014/main" id="{270D2604-63C8-451C-BE8A-4A120451F2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>
            <a:extLst>
              <a:ext uri="{FF2B5EF4-FFF2-40B4-BE49-F238E27FC236}">
                <a16:creationId xmlns:a16="http://schemas.microsoft.com/office/drawing/2014/main" id="{7D50AF58-B676-47BE-8C6D-250EC4D3E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350" y="494725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rgbClr val="0E337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>
            <a:extLst>
              <a:ext uri="{FF2B5EF4-FFF2-40B4-BE49-F238E27FC236}">
                <a16:creationId xmlns:a16="http://schemas.microsoft.com/office/drawing/2014/main" id="{71F7FED3-EB9E-4E62-85FD-9E94811E3A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2815250"/>
            <a:ext cx="56667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>
            <a:extLst>
              <a:ext uri="{FF2B5EF4-FFF2-40B4-BE49-F238E27FC236}">
                <a16:creationId xmlns:a16="http://schemas.microsoft.com/office/drawing/2014/main" id="{3A16CCED-69D6-4723-B785-3409A4A7C6C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0072B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>
            <a:extLst>
              <a:ext uri="{FF2B5EF4-FFF2-40B4-BE49-F238E27FC236}">
                <a16:creationId xmlns:a16="http://schemas.microsoft.com/office/drawing/2014/main" id="{BB6C1E23-7014-4B48-B0EA-54D45F6F7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750" y="1267200"/>
            <a:ext cx="81357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9pPr>
          </a:lstStyle>
          <a:p>
            <a:endParaRPr/>
          </a:p>
        </p:txBody>
      </p:sp>
      <p:sp>
        <p:nvSpPr>
          <p:cNvPr id="53" name="Google Shape;53;p12">
            <a:extLst>
              <a:ext uri="{FF2B5EF4-FFF2-40B4-BE49-F238E27FC236}">
                <a16:creationId xmlns:a16="http://schemas.microsoft.com/office/drawing/2014/main" id="{F6EEF040-AE2F-44DB-9865-075D0CEE9E5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54" name="Google Shape;54;p12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4103"/>
            <a:ext cx="540000" cy="2736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>
            <a:extLst>
              <a:ext uri="{FF2B5EF4-FFF2-40B4-BE49-F238E27FC236}">
                <a16:creationId xmlns:a16="http://schemas.microsoft.com/office/drawing/2014/main" id="{1BAF1A59-2F8B-4BF4-B64A-0DEEE27D9EC7}"/>
              </a:ext>
            </a:extLst>
          </p:cNvPr>
          <p:cNvSpPr>
            <a:spLocks noGrp="1"/>
          </p:cNvSpPr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2662C8F9-5006-4CC6-AED6-A2CD441DFF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75" y="3428125"/>
            <a:ext cx="3476700" cy="8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A6655D54-16B1-4D78-A722-D1F26E4A4B7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939500" y="1208600"/>
            <a:ext cx="3612000" cy="31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4AED8AE0-C1B9-4169-8A53-F4F5AB29A20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D0ADD963-6F0B-49A6-9DDA-847662A0B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E337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61" name="Google Shape;61;p13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>
            <a:extLst>
              <a:ext uri="{FF2B5EF4-FFF2-40B4-BE49-F238E27FC236}">
                <a16:creationId xmlns:a16="http://schemas.microsoft.com/office/drawing/2014/main" id="{7D67C296-E9AD-4915-BA06-B6F6B2EC42B6}"/>
              </a:ext>
            </a:extLst>
          </p:cNvPr>
          <p:cNvSpPr>
            <a:spLocks noGrp="1"/>
          </p:cNvSpPr>
          <p:nvPr/>
        </p:nvSpPr>
        <p:spPr>
          <a:xfrm>
            <a:off x="0" y="-5675"/>
            <a:ext cx="4572000" cy="51435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4" name="Google Shape;64;p14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  <p:sp>
        <p:nvSpPr>
          <p:cNvPr id="65" name="Google Shape;65;p14">
            <a:extLst>
              <a:ext uri="{FF2B5EF4-FFF2-40B4-BE49-F238E27FC236}">
                <a16:creationId xmlns:a16="http://schemas.microsoft.com/office/drawing/2014/main" id="{232FDF76-CBF3-4E5C-8FB1-3030B412B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675" y="655450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4">
            <a:extLst>
              <a:ext uri="{FF2B5EF4-FFF2-40B4-BE49-F238E27FC236}">
                <a16:creationId xmlns:a16="http://schemas.microsoft.com/office/drawing/2014/main" id="{279437C4-6BCF-4B1F-B660-DA9C7842D8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58700" y="1311925"/>
            <a:ext cx="3694800" cy="30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8B73836B-BAC0-453C-98C1-65A75236F9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321D8131-11BD-44F4-B952-43C1B7777BCC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412475" y="1495950"/>
            <a:ext cx="3734400" cy="292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>
            <a:extLst>
              <a:ext uri="{FF2B5EF4-FFF2-40B4-BE49-F238E27FC236}">
                <a16:creationId xmlns:a16="http://schemas.microsoft.com/office/drawing/2014/main" id="{99B40456-9C26-4E25-812A-F58F94D5439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71" name="Google Shape;71;p16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BA34F530-57E1-3ACD-6780-261D7941D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E337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erre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65463B6A-3B5D-42D5-8C0A-A8D6F3C2D84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75" name="Google Shape;75;p15"/>
          <p:cNvPicPr>
            <a:picLocks noChangeAspect="1"/>
          </p:cNvPicPr>
          <p:nvPr/>
        </p:nvPicPr>
        <p:blipFill rotWithShape="1">
          <a:blip r:embed="rId2">
            <a:alphaModFix/>
          </a:blip>
          <a:srcRect b="7379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ln>
            <a:noFill/>
          </a:ln>
        </p:spPr>
      </p:pic>
      <p:pic>
        <p:nvPicPr>
          <p:cNvPr id="76" name="Google Shape;76;p15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0050" y="2265624"/>
            <a:ext cx="4803901" cy="4574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radecimiento">
  <p:cSld name="BLANK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e80574407_0_110">
            <a:extLst>
              <a:ext uri="{FF2B5EF4-FFF2-40B4-BE49-F238E27FC236}">
                <a16:creationId xmlns:a16="http://schemas.microsoft.com/office/drawing/2014/main" id="{D0542C14-919E-485C-87A7-5251DBE7ECE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79" name="Google Shape;79;g37e80574407_0_110"/>
          <p:cNvPicPr>
            <a:picLocks noChangeAspect="1"/>
          </p:cNvPicPr>
          <p:nvPr/>
        </p:nvPicPr>
        <p:blipFill rotWithShape="1">
          <a:blip r:embed="rId2">
            <a:alphaModFix/>
          </a:blip>
          <a:srcRect b="7381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ln>
            <a:noFill/>
          </a:ln>
        </p:spPr>
      </p:pic>
      <p:pic>
        <p:nvPicPr>
          <p:cNvPr id="80" name="Google Shape;80;g37e80574407_0_110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ln>
            <a:noFill/>
          </a:ln>
        </p:spPr>
      </p:pic>
      <p:sp>
        <p:nvSpPr>
          <p:cNvPr id="81" name="Google Shape;81;g37e80574407_0_110">
            <a:extLst>
              <a:ext uri="{FF2B5EF4-FFF2-40B4-BE49-F238E27FC236}">
                <a16:creationId xmlns:a16="http://schemas.microsoft.com/office/drawing/2014/main" id="{4A0B87D1-0F80-492E-9F0A-334D3E371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lt1"/>
                </a:solidFill>
              </a:defRPr>
            </a:lvl1pPr>
            <a:lvl2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2pPr>
            <a:lvl3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3pPr>
            <a:lvl4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4pPr>
            <a:lvl5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5pPr>
            <a:lvl6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6pPr>
            <a:lvl7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7pPr>
            <a:lvl8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8pPr>
            <a:lvl9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9pPr>
          </a:lstStyle>
          <a:p>
            <a:endParaRPr/>
          </a:p>
        </p:txBody>
      </p:sp>
      <p:sp>
        <p:nvSpPr>
          <p:cNvPr id="82" name="Google Shape;82;g37e80574407_0_110">
            <a:extLst>
              <a:ext uri="{FF2B5EF4-FFF2-40B4-BE49-F238E27FC236}">
                <a16:creationId xmlns:a16="http://schemas.microsoft.com/office/drawing/2014/main" id="{D892436E-C895-4668-B0A0-541237687D75}"/>
              </a:ext>
            </a:extLst>
          </p:cNvPr>
          <p:cNvSpPr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100" b="0">
                <a:solidFill>
                  <a:schemeClr val="lt1"/>
                </a:solidFill>
                <a:latin typeface="Reddit Sans Black"/>
                <a:ea typeface="Reddit Sans Black"/>
                <a:cs typeface="Reddit Sans Black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9pPr>
          </a:lstStyle>
          <a:p>
            <a:endParaRPr/>
          </a:p>
        </p:txBody>
      </p:sp>
      <p:sp>
        <p:nvSpPr>
          <p:cNvPr id="83" name="Google Shape;83;g37e80574407_0_110">
            <a:extLst>
              <a:ext uri="{FF2B5EF4-FFF2-40B4-BE49-F238E27FC236}">
                <a16:creationId xmlns:a16="http://schemas.microsoft.com/office/drawing/2014/main" id="{98E67182-6C92-488F-A8B6-56EDE400E980}"/>
              </a:ext>
            </a:extLst>
          </p:cNvPr>
          <p:cNvSpPr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lt1"/>
                </a:solidFill>
                <a:latin typeface="Reddit Sans Light"/>
                <a:ea typeface="Reddit Sans Light"/>
                <a:cs typeface="Reddit Sans Light"/>
              </a:defRPr>
            </a:lvl1pPr>
            <a:lvl2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2pPr>
            <a:lvl3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3pPr>
            <a:lvl4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4pPr>
            <a:lvl5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5pPr>
            <a:lvl6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6pPr>
            <a:lvl7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7pPr>
            <a:lvl8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8pPr>
            <a:lvl9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>
            <a:extLst>
              <a:ext uri="{FF2B5EF4-FFF2-40B4-BE49-F238E27FC236}">
                <a16:creationId xmlns:a16="http://schemas.microsoft.com/office/drawing/2014/main" id="{8E6D5907-34E3-4CE9-983B-4E147D000A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>
                <a:solidFill>
                  <a:srgbClr val="0072BC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6" name="Google Shape;96;p19">
            <a:extLst>
              <a:ext uri="{FF2B5EF4-FFF2-40B4-BE49-F238E27FC236}">
                <a16:creationId xmlns:a16="http://schemas.microsoft.com/office/drawing/2014/main" id="{4F839F2F-0F0D-41B9-B28D-AB6448727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0000" y="2959950"/>
            <a:ext cx="8101500" cy="13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19">
            <a:extLst>
              <a:ext uri="{FF2B5EF4-FFF2-40B4-BE49-F238E27FC236}">
                <a16:creationId xmlns:a16="http://schemas.microsoft.com/office/drawing/2014/main" id="{F7CD12D5-85E6-4041-B0D2-EF7D45924AA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98" name="Google Shape;98;p19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>
            <a:extLst>
              <a:ext uri="{FF2B5EF4-FFF2-40B4-BE49-F238E27FC236}">
                <a16:creationId xmlns:a16="http://schemas.microsoft.com/office/drawing/2014/main" id="{EB7B3939-448D-4C7E-BAF2-861F4762F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/>
          </a:p>
        </p:txBody>
      </p:sp>
      <p:sp>
        <p:nvSpPr>
          <p:cNvPr id="76" name="PlaceHolder 2">
            <a:extLst>
              <a:ext uri="{FF2B5EF4-FFF2-40B4-BE49-F238E27FC236}">
                <a16:creationId xmlns:a16="http://schemas.microsoft.com/office/drawing/2014/main" id="{DC2F081B-FF45-4D98-A4F2-8210772AA9F1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/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C4FF6657-BD0F-4337-B334-52ED8F7C802A}"/>
              </a:ext>
            </a:extLst>
          </p:cNvPr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858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dit Sans"/>
              <a:buNone/>
              <a:defRPr sz="2800" b="1" i="0" u="none" strike="noStrike" cap="none">
                <a:solidFill>
                  <a:schemeClr val="dk1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eddit Sans"/>
              <a:buChar char="●"/>
              <a:defRPr sz="18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9pPr>
          </a:lstStyle>
          <a:p>
            <a:endParaRPr/>
          </a:p>
        </p:txBody>
      </p:sp>
      <p:sp>
        <p:nvSpPr>
          <p:cNvPr id="8" name="Google Shape;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61" r:id="rId9"/>
    <p:sldLayoutId id="2147483664" r:id="rId10"/>
    <p:sldLayoutId id="2147483665" r:id="rId11"/>
    <p:sldLayoutId id="2147483675" r:id="rId12"/>
    <p:sldLayoutId id="2147483676" r:id="rId13"/>
    <p:sldLayoutId id="2147483677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>
            <a:extLst>
              <a:ext uri="{FF2B5EF4-FFF2-40B4-BE49-F238E27FC236}">
                <a16:creationId xmlns:a16="http://schemas.microsoft.com/office/drawing/2014/main" id="{D4B7FFF8-9AA4-4E53-9ECB-A10FB484A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chemeClr val="dk1"/>
                </a:solidFill>
                <a:latin typeface="Reddit Sans"/>
                <a:ea typeface="Reddit Sans"/>
                <a:cs typeface="Reddit San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7" name="Google Shape;7;p9">
            <a:extLst>
              <a:ext uri="{FF2B5EF4-FFF2-40B4-BE49-F238E27FC236}">
                <a16:creationId xmlns:a16="http://schemas.microsoft.com/office/drawing/2014/main" id="{0C1FD014-2FA6-495D-9389-E278A0D2DF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8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9pPr>
          </a:lstStyle>
          <a:p>
            <a:endParaRPr/>
          </a:p>
        </p:txBody>
      </p:sp>
      <p:sp>
        <p:nvSpPr>
          <p:cNvPr id="8" name="Google Shape;8;p9">
            <a:extLst>
              <a:ext uri="{FF2B5EF4-FFF2-40B4-BE49-F238E27FC236}">
                <a16:creationId xmlns:a16="http://schemas.microsoft.com/office/drawing/2014/main" id="{6B0AA307-4D0A-4E91-8EDE-F652AA60ED2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hyperlink" Target="https://fr.slideshare.net/slideshow/dit-yvol4iss03/29363674" TargetMode="External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5" Type="http://schemas.openxmlformats.org/officeDocument/2006/relationships/hyperlink" Target="https://www.ivanti.com/en-gb/blog/agentic-ai-it-service-autonomy" TargetMode="External"/><Relationship Id="rId4" Type="http://schemas.openxmlformats.org/officeDocument/2006/relationships/hyperlink" Target="https://newsroom.servicenow.com/press-releases/details/2025/ServiceNow-Sets-New-Standard-for-Fully-Autonomous-IT-Envisioning-a-Zero-Downtime-Zero-Outage-Future-With-Agentic-AI/default.aspx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freshservice.com/assets/resources/freshservice/freshservice-it-service-management-benchmark-report-2024.pdf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scribd.com/document/809079051/Gartner-Reprint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ribd.com/document/809079051/Gartner-Reprint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hyperlink" Target="https://faddom.com/wp-content/uploads/2026/03/2025-Hype-Cycle-for-ITSM-Gartner-Report.pdf" TargetMode="External"/><Relationship Id="rId4" Type="http://schemas.openxmlformats.org/officeDocument/2006/relationships/hyperlink" Target="https://blog.invgate.com/itsm-gartner-magic-quadrant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ribd.com/document/809079051/Gartner-Reprint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appsruntheworld.com/top-10-it-service-management-software-vendors-and-market-forecast/" TargetMode="External"/><Relationship Id="rId5" Type="http://schemas.openxmlformats.org/officeDocument/2006/relationships/hyperlink" Target="https://www.einpresswire.com/article/823090394/xla-institute-releases-groundbreaking-state-of-xla-2025-report" TargetMode="External"/><Relationship Id="rId4" Type="http://schemas.openxmlformats.org/officeDocument/2006/relationships/hyperlink" Target="https://www.peoplecert.org/news-and-announcements/itil-version-5-explained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12" Type="http://schemas.openxmlformats.org/officeDocument/2006/relationships/hyperlink" Target="https://www.tcs.com/insights/blogs/generative-ai-outcome-based-pricing-models-service-desk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hyperlink" Target="https://www.peoplecert.org/news-and-announcements/itil-version-5-explained" TargetMode="External"/><Relationship Id="rId5" Type="http://schemas.openxmlformats.org/officeDocument/2006/relationships/image" Target="../media/image22.png"/><Relationship Id="rId10" Type="http://schemas.openxmlformats.org/officeDocument/2006/relationships/hyperlink" Target="https://www.brilo.ai/resources/agentic-ai-statistics" TargetMode="External"/><Relationship Id="rId4" Type="http://schemas.openxmlformats.org/officeDocument/2006/relationships/image" Target="../media/image21.png"/><Relationship Id="rId9" Type="http://schemas.openxmlformats.org/officeDocument/2006/relationships/hyperlink" Target="https://www.dynatrace.com/news/press-release/pulse-of-agentic-ai-2026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superfinanciera.gov.co/publicaciones/10116043/sistema-financiero-acelera-implementacion-de-canales-digitales/" TargetMode="External"/><Relationship Id="rId5" Type="http://schemas.openxmlformats.org/officeDocument/2006/relationships/hyperlink" Target="https://www.grandviewresearch.com/industry-analysis/it-service-management-market" TargetMode="External"/><Relationship Id="rId4" Type="http://schemas.openxmlformats.org/officeDocument/2006/relationships/hyperlink" Target="https://www.mordorintelligence.com/industry-reports/south-america-information-technology-service-management-itsm-market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freshservice.com/assets/resources/freshservice/freshservice-it-service-management-benchmark-report-2024.pdf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givainc.com/blog/shift-left-analysis-how-to-guide-maximize-it-service-management-itsm-efficiency/" TargetMode="External"/><Relationship Id="rId4" Type="http://schemas.openxmlformats.org/officeDocument/2006/relationships/hyperlink" Target="https://www.ivanti.com/en-gb/blog/agentic-ai-it-service-autonomy" TargetMode="Externa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hinkhdi.com/library/supportworld/2023/metrics-matter-for-it-support/" TargetMode="External"/><Relationship Id="rId13" Type="http://schemas.openxmlformats.org/officeDocument/2006/relationships/hyperlink" Target="https://www.servicedeskinstitute.com/resources/itsm-statistics-facts-and-trends-for-2024/" TargetMode="External"/><Relationship Id="rId3" Type="http://schemas.openxmlformats.org/officeDocument/2006/relationships/hyperlink" Target="https://www.sqmgroup.com/resources/library/blog/what-good-first-call-resolution-rate" TargetMode="External"/><Relationship Id="rId7" Type="http://schemas.openxmlformats.org/officeDocument/2006/relationships/hyperlink" Target="https://irisagent.com/customer-support-metrics/" TargetMode="External"/><Relationship Id="rId12" Type="http://schemas.openxmlformats.org/officeDocument/2006/relationships/hyperlink" Target="https://freshservice.com/assets/resources/freshservice/freshservice-it-service-management-benchmark-report-2024.pdf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helpdeskfocus.com/help-desk-metrics.html" TargetMode="External"/><Relationship Id="rId11" Type="http://schemas.openxmlformats.org/officeDocument/2006/relationships/hyperlink" Target="https://assets.contentstack.io/v3/assets/blt28ff6c4a2cf43126/blt03f46879a7d17fbc/68e4fbe251ce6710ec093b1a/2509_ITSM_ebook_StateofITSM.pdf" TargetMode="External"/><Relationship Id="rId5" Type="http://schemas.openxmlformats.org/officeDocument/2006/relationships/hyperlink" Target="https://www.thinkhdi.com/~/media/HDICorp/Files/Library-Archive/Insider%20Articles/mean-time-to-resolve.pdf" TargetMode="External"/><Relationship Id="rId10" Type="http://schemas.openxmlformats.org/officeDocument/2006/relationships/hyperlink" Target="https://kwestra.com/insights/itsm-automation-roi/" TargetMode="External"/><Relationship Id="rId4" Type="http://schemas.openxmlformats.org/officeDocument/2006/relationships/hyperlink" Target="https://www.thinkhdi.com/~/media/HDICorp/Files/Library-Archive/Insider%20Articles/First%20Contact%20Resolution.pdf" TargetMode="External"/><Relationship Id="rId9" Type="http://schemas.openxmlformats.org/officeDocument/2006/relationships/hyperlink" Target="https://www.givainc.com/blog/shift-left-analysis-how-to-guide-maximize-it-service-management-itsm-efficiency/" TargetMode="External"/><Relationship Id="rId14" Type="http://schemas.openxmlformats.org/officeDocument/2006/relationships/hyperlink" Target="https://stealthagents.com/research/ai-it-helpdesk-automation-statistics-2026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inpresswire.com/article/823090394/xla-institute-releases-groundbreaking-state-of-xla-2025-report?code=9Hv3x5D-vwZo-peK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linkedin.com/posts/alannance_get-your-copy-of-the-state-of-xla-2025-published-activity-7340670233575079936-XZ3Q" TargetMode="External"/><Relationship Id="rId4" Type="http://schemas.openxmlformats.org/officeDocument/2006/relationships/hyperlink" Target="https://www.emerce.nl/wire/xla-institute-publiceert-state-xla-2025-rapport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arketreportsworld.com/" TargetMode="External"/><Relationship Id="rId3" Type="http://schemas.openxmlformats.org/officeDocument/2006/relationships/hyperlink" Target="https://www.brilo.ai/resources/agentic-ai-statistics" TargetMode="External"/><Relationship Id="rId7" Type="http://schemas.openxmlformats.org/officeDocument/2006/relationships/hyperlink" Target="https://www.superfinanciera.gov.co/publicaciones/10116081/finanzas-abiertas-obligatorias-impulsaran-el-desarrollo-del-sistema-y-la-inclusion-financiera-en-el-pais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siit.io/blog/benefits-of-outsourcing-help-desk-services%20%20" TargetMode="External"/><Relationship Id="rId5" Type="http://schemas.openxmlformats.org/officeDocument/2006/relationships/hyperlink" Target="https://www.iso.org/standard/42001" TargetMode="External"/><Relationship Id="rId4" Type="http://schemas.openxmlformats.org/officeDocument/2006/relationships/hyperlink" Target="https://www.dynatrace.com/news/press-release/pulse-of-agentic-ai-2026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ynatrace.com/news/press-release/pulse-of-agentic-ai-2026/" TargetMode="External"/><Relationship Id="rId7" Type="http://schemas.openxmlformats.org/officeDocument/2006/relationships/image" Target="../media/image29.svg"/><Relationship Id="rId2" Type="http://schemas.openxmlformats.org/officeDocument/2006/relationships/hyperlink" Target="https://www.brilo.ai/resources/agentic-ai-statistics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uperfinanciera.gov.co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iso.org/standard/42001" TargetMode="External"/><Relationship Id="rId4" Type="http://schemas.openxmlformats.org/officeDocument/2006/relationships/hyperlink" Target="https://www.superfinanciera.gov.co/publicaciones/10116081/finanzas-abiertas-obligatorias-impulsaran-el-desarrollo-del-sistema-y-la-inclusion-financiera-en-el-pais/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ivainc.com/blog/shift-left-analysis-how-to-guide-maximize-it-service-management-itsm-efficiency/" TargetMode="External"/><Relationship Id="rId13" Type="http://schemas.openxmlformats.org/officeDocument/2006/relationships/hyperlink" Target="https://stealthagents.com/research/ai-it-helpdesk-automation-statistics-2026" TargetMode="External"/><Relationship Id="rId3" Type="http://schemas.openxmlformats.org/officeDocument/2006/relationships/hyperlink" Target="https://www.thinkhdi.com/~/media/HDICorp/Files/Library-Archive/Insider%20Articles/First%20Contact%20Resolution.pdf" TargetMode="External"/><Relationship Id="rId7" Type="http://schemas.openxmlformats.org/officeDocument/2006/relationships/hyperlink" Target="https://www.thinkhdi.com/library/supportworld/2023/metrics-matter-for-it-support/" TargetMode="External"/><Relationship Id="rId12" Type="http://schemas.openxmlformats.org/officeDocument/2006/relationships/hyperlink" Target="https://www.servicedeskinstitute.com/resources/itsm-statistics-facts-and-trends-for-2024/" TargetMode="External"/><Relationship Id="rId2" Type="http://schemas.openxmlformats.org/officeDocument/2006/relationships/hyperlink" Target="https://www.sqmgroup.com/resources/library/blog/what-good-first-call-resolution-rate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irisagent.com/customer-support-metrics/" TargetMode="External"/><Relationship Id="rId11" Type="http://schemas.openxmlformats.org/officeDocument/2006/relationships/hyperlink" Target="https://freshservice.com/assets/resources/freshservice/freshservice-it-service-management-benchmark-report-2024.pdf" TargetMode="External"/><Relationship Id="rId5" Type="http://schemas.openxmlformats.org/officeDocument/2006/relationships/hyperlink" Target="https://www.helpdeskfocus.com/help-desk-metrics.html" TargetMode="External"/><Relationship Id="rId10" Type="http://schemas.openxmlformats.org/officeDocument/2006/relationships/hyperlink" Target="https://assets.contentstack.io/v3/assets/blt28ff6c4a2cf43126/blt03f46879a7d17fbc/68e4fbe251ce6710ec093b1a/2509_ITSM_ebook_StateofITSM.pdf" TargetMode="External"/><Relationship Id="rId4" Type="http://schemas.openxmlformats.org/officeDocument/2006/relationships/hyperlink" Target="https://www.thinkhdi.com/~/media/HDICorp/Files/Library-Archive/Insider%20Articles/mean-time-to-resolve.pdf" TargetMode="External"/><Relationship Id="rId9" Type="http://schemas.openxmlformats.org/officeDocument/2006/relationships/hyperlink" Target="https://kwestra.com/insights/itsm-automation-roi/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etricnet.com/service-desk-benchmarks/" TargetMode="External"/><Relationship Id="rId2" Type="http://schemas.openxmlformats.org/officeDocument/2006/relationships/hyperlink" Target="https://www.thinkhdi.com/~/media/HDICorp/Files/Standards/HDI-SC-Standard-v-5-0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givainc.com/blog/shift-left-analysis-how-to-guide-maximize-it-service-management-itsm-efficiency/" TargetMode="Externa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image" Target="../media/image37.png"/><Relationship Id="rId10" Type="http://schemas.openxmlformats.org/officeDocument/2006/relationships/image" Target="../media/image42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rixmind.com/itil-5-what-changed-and-why-it-matters/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svg"/><Relationship Id="rId5" Type="http://schemas.openxmlformats.org/officeDocument/2006/relationships/image" Target="../media/image23.png"/><Relationship Id="rId4" Type="http://schemas.openxmlformats.org/officeDocument/2006/relationships/hyperlink" Target="https://www.tidelineinsights.com/blog/itil-5-whats-coming.html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3" Type="http://schemas.openxmlformats.org/officeDocument/2006/relationships/image" Target="../media/image45.png"/><Relationship Id="rId7" Type="http://schemas.openxmlformats.org/officeDocument/2006/relationships/image" Target="../media/image48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47.png"/><Relationship Id="rId10" Type="http://schemas.openxmlformats.org/officeDocument/2006/relationships/image" Target="../media/image51.svg"/><Relationship Id="rId4" Type="http://schemas.openxmlformats.org/officeDocument/2006/relationships/image" Target="../media/image46.png"/><Relationship Id="rId9" Type="http://schemas.openxmlformats.org/officeDocument/2006/relationships/image" Target="../media/image50.sv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11" Type="http://schemas.openxmlformats.org/officeDocument/2006/relationships/image" Target="../media/image42.png"/><Relationship Id="rId5" Type="http://schemas.openxmlformats.org/officeDocument/2006/relationships/image" Target="../media/image36.png"/><Relationship Id="rId10" Type="http://schemas.openxmlformats.org/officeDocument/2006/relationships/image" Target="../media/image41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1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7e80574407_0_130"/>
          <p:cNvSpPr txBox="1">
            <a:spLocks noGrp="1"/>
          </p:cNvSpPr>
          <p:nvPr>
            <p:ph type="ctrTitle"/>
          </p:nvPr>
        </p:nvSpPr>
        <p:spPr>
          <a:xfrm>
            <a:off x="258889" y="1087521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n-US"/>
              <a:t>Mesa de Servicio de Nueva Generación (Next Gen)</a:t>
            </a:r>
            <a:endParaRPr err="1"/>
          </a:p>
        </p:txBody>
      </p:sp>
      <p:sp>
        <p:nvSpPr>
          <p:cNvPr id="110" name="Google Shape;110;g37e80574407_0_130"/>
          <p:cNvSpPr txBox="1">
            <a:spLocks noGrp="1"/>
          </p:cNvSpPr>
          <p:nvPr>
            <p:ph type="subTitle" idx="1"/>
          </p:nvPr>
        </p:nvSpPr>
        <p:spPr>
          <a:xfrm>
            <a:off x="256743" y="2875047"/>
            <a:ext cx="8478900" cy="145118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s-CO">
                <a:solidFill>
                  <a:schemeClr val="bg1"/>
                </a:solidFill>
              </a:rPr>
              <a:t>Estudio de Mercado 2026, </a:t>
            </a:r>
            <a:endParaRPr lang="es-ES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s-ES">
                <a:solidFill>
                  <a:schemeClr val="bg1"/>
                </a:solidFill>
              </a:rPr>
              <a:t>Operación Actual y </a:t>
            </a:r>
          </a:p>
          <a:p>
            <a:pPr>
              <a:lnSpc>
                <a:spcPct val="150000"/>
              </a:lnSpc>
            </a:pPr>
            <a:r>
              <a:rPr lang="es-CO">
                <a:solidFill>
                  <a:schemeClr val="bg1"/>
                </a:solidFill>
              </a:rPr>
              <a:t>Propuesta de Valor del Servicio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"/>
          <p:cNvSpPr txBox="1">
            <a:spLocks noGrp="1"/>
          </p:cNvSpPr>
          <p:nvPr>
            <p:ph type="title"/>
          </p:nvPr>
        </p:nvSpPr>
        <p:spPr>
          <a:xfrm>
            <a:off x="361350" y="324797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s">
                <a:highlight>
                  <a:srgbClr val="FFFFFF"/>
                </a:highlight>
              </a:rPr>
              <a:t>Que busca la Mesa de Servicio de Nueva Generación</a:t>
            </a:r>
            <a:endParaRPr lang="es-ES"/>
          </a:p>
        </p:txBody>
      </p:sp>
      <p:sp>
        <p:nvSpPr>
          <p:cNvPr id="131" name="Google Shape;131;p2"/>
          <p:cNvSpPr txBox="1">
            <a:spLocks noGrp="1"/>
          </p:cNvSpPr>
          <p:nvPr>
            <p:ph type="body" idx="1"/>
          </p:nvPr>
        </p:nvSpPr>
        <p:spPr>
          <a:xfrm>
            <a:off x="361349" y="2820693"/>
            <a:ext cx="5383159" cy="155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s">
                <a:solidFill>
                  <a:srgbClr val="222222"/>
                </a:solidFill>
                <a:highlight>
                  <a:srgbClr val="FFFFFF"/>
                </a:highlight>
              </a:rPr>
              <a:t>La Mesa de Servicio de Nueva Generación transforma el soporte tecnológico de un costo operativo a una ventaja competitiva sostenible en el tiempo. Estandariza la operación con roles claros, procesos definidos y conocimiento institucionalizado con IA. Convirtiendo la mesa en un servicio predecible, medible y escalable en donde el cliente puede crecer y confiar. </a:t>
            </a:r>
            <a:endParaRPr lang="es-ES"/>
          </a:p>
        </p:txBody>
      </p:sp>
      <p:cxnSp>
        <p:nvCxnSpPr>
          <p:cNvPr id="133" name="Google Shape;133;p2"/>
          <p:cNvCxnSpPr/>
          <p:nvPr/>
        </p:nvCxnSpPr>
        <p:spPr>
          <a:xfrm rot="10800000" flipH="1">
            <a:off x="0" y="2651850"/>
            <a:ext cx="5743800" cy="36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34" name="Google Shape;134;p2" title="isotipo_po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4E772C19-61FD-9E01-8D45-04096758E3D3}"/>
              </a:ext>
            </a:extLst>
          </p:cNvPr>
          <p:cNvSpPr/>
          <p:nvPr/>
        </p:nvSpPr>
        <p:spPr>
          <a:xfrm>
            <a:off x="6206836" y="0"/>
            <a:ext cx="2937164" cy="5143500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132" name="Google Shape;132;p2" title="textura 1.jpg"/>
          <p:cNvPicPr preferRelativeResize="0"/>
          <p:nvPr/>
        </p:nvPicPr>
        <p:blipFill rotWithShape="1">
          <a:blip r:embed="rId4">
            <a:alphaModFix/>
          </a:blip>
          <a:srcRect l="37172" r="5841"/>
          <a:stretch/>
        </p:blipFill>
        <p:spPr>
          <a:xfrm>
            <a:off x="6206836" y="0"/>
            <a:ext cx="293102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A3BCF2-EE01-6D83-5D06-4586A3383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Beneficios eperados de la Mesa de Servicio de Nueva Generación (Servicio Optimo)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5BF19AD-F8F2-0227-5C5D-35F560455039}"/>
              </a:ext>
            </a:extLst>
          </p:cNvPr>
          <p:cNvSpPr/>
          <p:nvPr/>
        </p:nvSpPr>
        <p:spPr>
          <a:xfrm>
            <a:off x="346303" y="2097201"/>
            <a:ext cx="2000250" cy="2003822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D3C8E3B2-4CB0-C217-88A2-862FED04A2A7}"/>
              </a:ext>
            </a:extLst>
          </p:cNvPr>
          <p:cNvSpPr/>
          <p:nvPr/>
        </p:nvSpPr>
        <p:spPr>
          <a:xfrm>
            <a:off x="560615" y="2469792"/>
            <a:ext cx="1785938" cy="21386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Estandarización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AF53944-A721-5660-BB35-2B3C14C6F607}"/>
              </a:ext>
            </a:extLst>
          </p:cNvPr>
          <p:cNvSpPr/>
          <p:nvPr/>
        </p:nvSpPr>
        <p:spPr>
          <a:xfrm>
            <a:off x="560615" y="2739692"/>
            <a:ext cx="1863291" cy="9772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Implementación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procesos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claros, roles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definidos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y </a:t>
            </a: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gestión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conocimiento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.</a:t>
            </a:r>
            <a:endParaRPr lang="en-US" sz="11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0F6CE983-277E-8877-C358-C73FDBF3938C}"/>
              </a:ext>
            </a:extLst>
          </p:cNvPr>
          <p:cNvSpPr/>
          <p:nvPr/>
        </p:nvSpPr>
        <p:spPr>
          <a:xfrm>
            <a:off x="1078538" y="1829311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6C87E7BC-F0F6-71EA-6AC0-03CA0898D287}"/>
              </a:ext>
            </a:extLst>
          </p:cNvPr>
          <p:cNvSpPr/>
          <p:nvPr/>
        </p:nvSpPr>
        <p:spPr>
          <a:xfrm>
            <a:off x="2489428" y="2097201"/>
            <a:ext cx="2000250" cy="2003822"/>
          </a:xfrm>
          <a:prstGeom prst="rect">
            <a:avLst/>
          </a:prstGeom>
          <a:solidFill>
            <a:srgbClr val="1C8EC6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59BF6E43-E894-41CB-6D47-AB7652BB9D97}"/>
              </a:ext>
            </a:extLst>
          </p:cNvPr>
          <p:cNvSpPr/>
          <p:nvPr/>
        </p:nvSpPr>
        <p:spPr>
          <a:xfrm>
            <a:off x="2703740" y="2469792"/>
            <a:ext cx="1785938" cy="4277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Beneficios para el</a:t>
            </a:r>
            <a:b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Cliente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BC27C298-2FAF-45D2-D222-D4184FA81DC4}"/>
              </a:ext>
            </a:extLst>
          </p:cNvPr>
          <p:cNvSpPr/>
          <p:nvPr/>
        </p:nvSpPr>
        <p:spPr>
          <a:xfrm>
            <a:off x="2703740" y="2953557"/>
            <a:ext cx="1851125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Cumplimiento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SLAs y </a:t>
            </a: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acceso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a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visibilidad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tiempo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real.</a:t>
            </a:r>
            <a:endParaRPr lang="en-US" sz="1100">
              <a:latin typeface="Reddit Sans"/>
              <a:ea typeface="Reddit Sans"/>
            </a:endParaRPr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D3C69D3B-6A78-0313-1DCF-A7B19A3404C7}"/>
              </a:ext>
            </a:extLst>
          </p:cNvPr>
          <p:cNvSpPr/>
          <p:nvPr/>
        </p:nvSpPr>
        <p:spPr>
          <a:xfrm>
            <a:off x="3221663" y="1829311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66E99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2" name="Image 1" descr="505b5b62.png">
            <a:extLst>
              <a:ext uri="{FF2B5EF4-FFF2-40B4-BE49-F238E27FC236}">
                <a16:creationId xmlns:a16="http://schemas.microsoft.com/office/drawing/2014/main" id="{354B2D46-3F5F-26B4-EEC3-BE4FA53D5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421" y="2012439"/>
            <a:ext cx="285750" cy="171450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0A06C67C-F345-06AF-B4CB-E301A7094EBC}"/>
              </a:ext>
            </a:extLst>
          </p:cNvPr>
          <p:cNvSpPr/>
          <p:nvPr/>
        </p:nvSpPr>
        <p:spPr>
          <a:xfrm>
            <a:off x="4632553" y="2097201"/>
            <a:ext cx="2000250" cy="2003822"/>
          </a:xfrm>
          <a:prstGeom prst="rect">
            <a:avLst/>
          </a:prstGeom>
          <a:solidFill>
            <a:srgbClr val="17719F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4B5A262B-C92D-AC7D-1F5B-10E0529A17AC}"/>
              </a:ext>
            </a:extLst>
          </p:cNvPr>
          <p:cNvSpPr/>
          <p:nvPr/>
        </p:nvSpPr>
        <p:spPr>
          <a:xfrm>
            <a:off x="4846865" y="2469792"/>
            <a:ext cx="1785938" cy="4277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Beneficios para</a:t>
            </a:r>
            <a:b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PersonalSoft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1C89C9C3-E661-7BC7-90BC-A4415D498B88}"/>
              </a:ext>
            </a:extLst>
          </p:cNvPr>
          <p:cNvSpPr/>
          <p:nvPr/>
        </p:nvSpPr>
        <p:spPr>
          <a:xfrm>
            <a:off x="4846865" y="2953557"/>
            <a:ext cx="1785938" cy="9772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Optimización de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márgenes operativos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mediante la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automatización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inteligente.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A227AA1F-A86A-1059-3E9E-9D70E5E23345}"/>
              </a:ext>
            </a:extLst>
          </p:cNvPr>
          <p:cNvSpPr/>
          <p:nvPr/>
        </p:nvSpPr>
        <p:spPr>
          <a:xfrm>
            <a:off x="5364788" y="1829311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15172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32" name="Image 2" descr="-327b961e.png">
            <a:extLst>
              <a:ext uri="{FF2B5EF4-FFF2-40B4-BE49-F238E27FC236}">
                <a16:creationId xmlns:a16="http://schemas.microsoft.com/office/drawing/2014/main" id="{E4F0CB68-F772-0EEC-85B3-E8E083F7C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5940" y="2006159"/>
            <a:ext cx="214313" cy="178594"/>
          </a:xfrm>
          <a:prstGeom prst="rect">
            <a:avLst/>
          </a:prstGeom>
        </p:spPr>
      </p:pic>
      <p:sp>
        <p:nvSpPr>
          <p:cNvPr id="34" name="Shape 14">
            <a:extLst>
              <a:ext uri="{FF2B5EF4-FFF2-40B4-BE49-F238E27FC236}">
                <a16:creationId xmlns:a16="http://schemas.microsoft.com/office/drawing/2014/main" id="{A4D8DA01-70F2-AD94-BCB0-0E80F975BA52}"/>
              </a:ext>
            </a:extLst>
          </p:cNvPr>
          <p:cNvSpPr/>
          <p:nvPr/>
        </p:nvSpPr>
        <p:spPr>
          <a:xfrm>
            <a:off x="6775678" y="2097201"/>
            <a:ext cx="2000250" cy="2003822"/>
          </a:xfrm>
          <a:prstGeom prst="rect">
            <a:avLst/>
          </a:prstGeom>
          <a:solidFill>
            <a:srgbClr val="115577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15">
            <a:extLst>
              <a:ext uri="{FF2B5EF4-FFF2-40B4-BE49-F238E27FC236}">
                <a16:creationId xmlns:a16="http://schemas.microsoft.com/office/drawing/2014/main" id="{876DDF71-25E4-1FB7-BAE4-F9D4681992AB}"/>
              </a:ext>
            </a:extLst>
          </p:cNvPr>
          <p:cNvSpPr/>
          <p:nvPr/>
        </p:nvSpPr>
        <p:spPr>
          <a:xfrm>
            <a:off x="6989990" y="2469792"/>
            <a:ext cx="1785938" cy="4277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Impacto en el</a:t>
            </a:r>
            <a:b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Mercado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8" name="Text 16">
            <a:extLst>
              <a:ext uri="{FF2B5EF4-FFF2-40B4-BE49-F238E27FC236}">
                <a16:creationId xmlns:a16="http://schemas.microsoft.com/office/drawing/2014/main" id="{6C13925F-AC98-F240-4399-90C6DBDB9C64}"/>
              </a:ext>
            </a:extLst>
          </p:cNvPr>
          <p:cNvSpPr/>
          <p:nvPr/>
        </p:nvSpPr>
        <p:spPr>
          <a:xfrm>
            <a:off x="6989991" y="2953558"/>
            <a:ext cx="1842083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Posicionamiento como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proveedor estratégico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basado en datos y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herramientas avanzadas.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0" name="Shape 17">
            <a:extLst>
              <a:ext uri="{FF2B5EF4-FFF2-40B4-BE49-F238E27FC236}">
                <a16:creationId xmlns:a16="http://schemas.microsoft.com/office/drawing/2014/main" id="{8127BF9B-08B2-3BA9-575E-545DA3D857F7}"/>
              </a:ext>
            </a:extLst>
          </p:cNvPr>
          <p:cNvSpPr/>
          <p:nvPr/>
        </p:nvSpPr>
        <p:spPr>
          <a:xfrm>
            <a:off x="7507913" y="1829311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B354A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42" name="Image 3" descr="-6dbe241e.png">
            <a:extLst>
              <a:ext uri="{FF2B5EF4-FFF2-40B4-BE49-F238E27FC236}">
                <a16:creationId xmlns:a16="http://schemas.microsoft.com/office/drawing/2014/main" id="{263F34D4-4A07-6E98-B32B-1881409F7A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9063" y="1974765"/>
            <a:ext cx="214313" cy="242888"/>
          </a:xfrm>
          <a:prstGeom prst="rect">
            <a:avLst/>
          </a:prstGeom>
        </p:spPr>
      </p:pic>
      <p:sp>
        <p:nvSpPr>
          <p:cNvPr id="44" name="Text 1">
            <a:extLst>
              <a:ext uri="{FF2B5EF4-FFF2-40B4-BE49-F238E27FC236}">
                <a16:creationId xmlns:a16="http://schemas.microsoft.com/office/drawing/2014/main" id="{2B7F778D-5F66-74AF-32CC-84352651A0C6}"/>
              </a:ext>
            </a:extLst>
          </p:cNvPr>
          <p:cNvSpPr/>
          <p:nvPr/>
        </p:nvSpPr>
        <p:spPr>
          <a:xfrm>
            <a:off x="391545" y="626827"/>
            <a:ext cx="5791881" cy="28573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38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Transformar el soporte de costo operativo a ventaja competitiva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3" name="Gráfico 2" descr="Marcador contorno">
            <a:extLst>
              <a:ext uri="{FF2B5EF4-FFF2-40B4-BE49-F238E27FC236}">
                <a16:creationId xmlns:a16="http://schemas.microsoft.com/office/drawing/2014/main" id="{899E42DB-34A8-3D42-7FA8-C3CDBBC417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81100" y="1929492"/>
            <a:ext cx="332015" cy="326572"/>
          </a:xfrm>
          <a:prstGeom prst="rect">
            <a:avLst/>
          </a:prstGeom>
        </p:spPr>
      </p:pic>
      <p:pic>
        <p:nvPicPr>
          <p:cNvPr id="7" name="Gráfico 6" descr="Diana con relleno sólido">
            <a:extLst>
              <a:ext uri="{FF2B5EF4-FFF2-40B4-BE49-F238E27FC236}">
                <a16:creationId xmlns:a16="http://schemas.microsoft.com/office/drawing/2014/main" id="{30664D31-7980-9DC7-D952-39F7E0D5E0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02679" y="699406"/>
            <a:ext cx="533401" cy="538844"/>
          </a:xfrm>
          <a:prstGeom prst="rect">
            <a:avLst/>
          </a:prstGeom>
        </p:spPr>
      </p:pic>
      <p:sp>
        <p:nvSpPr>
          <p:cNvPr id="11" name="Text 6">
            <a:extLst>
              <a:ext uri="{FF2B5EF4-FFF2-40B4-BE49-F238E27FC236}">
                <a16:creationId xmlns:a16="http://schemas.microsoft.com/office/drawing/2014/main" id="{D73067EA-462D-AC3B-A37F-02C6FD7451E3}"/>
              </a:ext>
            </a:extLst>
          </p:cNvPr>
          <p:cNvSpPr/>
          <p:nvPr/>
        </p:nvSpPr>
        <p:spPr>
          <a:xfrm>
            <a:off x="5680813" y="772610"/>
            <a:ext cx="3078277" cy="7363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s-ES" sz="1200" kern="0" spc="-81" dirty="0">
                <a:solidFill>
                  <a:srgbClr val="00B050"/>
                </a:solidFill>
                <a:latin typeface="Reddit Sans"/>
                <a:ea typeface="Reddit Sans"/>
              </a:rPr>
              <a:t>La promesa comercial: pasar de staff </a:t>
            </a:r>
            <a:r>
              <a:rPr lang="es-ES" sz="1200" kern="0" spc="-81" dirty="0" err="1">
                <a:solidFill>
                  <a:srgbClr val="00B050"/>
                </a:solidFill>
                <a:latin typeface="Reddit Sans"/>
                <a:ea typeface="Reddit Sans"/>
              </a:rPr>
              <a:t>augmentation</a:t>
            </a:r>
            <a:r>
              <a:rPr lang="es-ES" sz="1200" kern="0" spc="-81" dirty="0">
                <a:solidFill>
                  <a:srgbClr val="00B050"/>
                </a:solidFill>
                <a:latin typeface="Reddit Sans"/>
                <a:ea typeface="Reddit Sans"/>
              </a:rPr>
              <a:t> a un servicio gestionado, medible y evolutivo.</a:t>
            </a:r>
            <a:endParaRPr lang="en-US" sz="1200" kern="0" spc="-81" dirty="0">
              <a:solidFill>
                <a:srgbClr val="00B050"/>
              </a:solidFill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2878248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0031" y="283629"/>
            <a:ext cx="8643938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3240"/>
              </a:lnSpc>
            </a:pPr>
            <a:r>
              <a:rPr lang="en-US" sz="1600" b="1" err="1">
                <a:solidFill>
                  <a:srgbClr val="0E337C"/>
                </a:solidFill>
                <a:latin typeface="Reddit Sans"/>
                <a:ea typeface="Reddit Sans"/>
              </a:rPr>
              <a:t>Desafíos</a:t>
            </a:r>
            <a:r>
              <a:rPr lang="en-US" sz="1600" b="1">
                <a:solidFill>
                  <a:srgbClr val="0E337C"/>
                </a:solidFill>
                <a:latin typeface="Reddit Sans"/>
                <a:ea typeface="Reddit Sans"/>
              </a:rPr>
              <a:t> de la </a:t>
            </a:r>
            <a:r>
              <a:rPr lang="en-US" sz="1600" b="1" err="1">
                <a:solidFill>
                  <a:srgbClr val="0E337C"/>
                </a:solidFill>
                <a:latin typeface="Reddit Sans"/>
                <a:ea typeface="Reddit Sans"/>
              </a:rPr>
              <a:t>Operación</a:t>
            </a:r>
            <a:r>
              <a:rPr lang="en-US" sz="1600" b="1">
                <a:solidFill>
                  <a:srgbClr val="0E337C"/>
                </a:solidFill>
                <a:latin typeface="Reddit Sans"/>
                <a:ea typeface="Reddit Sans"/>
              </a:rPr>
              <a:t> Actual</a:t>
            </a:r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250031" y="697584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Identificación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puntos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críticos</a:t>
            </a:r>
            <a:endParaRPr lang="en-US" sz="1200" err="1">
              <a:latin typeface="Reddit Sans"/>
              <a:ea typeface="Reddit Sans"/>
            </a:endParaRPr>
          </a:p>
        </p:txBody>
      </p:sp>
      <p:sp>
        <p:nvSpPr>
          <p:cNvPr id="6" name="Text 3"/>
          <p:cNvSpPr/>
          <p:nvPr/>
        </p:nvSpPr>
        <p:spPr>
          <a:xfrm>
            <a:off x="3963080" y="830472"/>
            <a:ext cx="2393156" cy="442203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algn="l" fontAlgn="ctr">
              <a:lnSpc>
                <a:spcPts val="1685"/>
              </a:lnSpc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Ausencia de estándares</a:t>
            </a:r>
            <a:endParaRPr lang="es-CO" sz="1200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Falta de niveles de servicio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(N1/N2/N3) y roles claramente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definidos.</a:t>
            </a:r>
            <a:endParaRPr lang="es-CO" sz="1200">
              <a:latin typeface="Reddit Sans"/>
              <a:ea typeface="Reddit Sans"/>
            </a:endParaRPr>
          </a:p>
          <a:p>
            <a:pPr marL="180975" indent="-180975" algn="l" fontAlgn="ctr">
              <a:lnSpc>
                <a:spcPts val="1685"/>
              </a:lnSpc>
              <a:spcBef>
                <a:spcPts val="1541"/>
              </a:spcBef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Modelo económico</a:t>
            </a:r>
            <a:endParaRPr lang="es-CO" sz="1200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Estructura indexada a FTE que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impone barreras críticas para el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escalamiento.</a:t>
            </a:r>
            <a:endParaRPr lang="es-CO" sz="1200">
              <a:latin typeface="Reddit Sans"/>
              <a:ea typeface="Reddit Sans"/>
            </a:endParaRPr>
          </a:p>
          <a:p>
            <a:pPr marL="180975" indent="-180975" fontAlgn="ctr">
              <a:lnSpc>
                <a:spcPts val="1685"/>
              </a:lnSpc>
              <a:spcBef>
                <a:spcPts val="1541"/>
              </a:spcBef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Herramientas de gestión de conocimiento</a:t>
            </a:r>
            <a:endParaRPr lang="es-CO" sz="1200" kern="0" spc="-88">
              <a:solidFill>
                <a:srgbClr val="333333"/>
              </a:solidFill>
              <a:latin typeface="Reddit Sans"/>
              <a:ea typeface="Reddit Sans"/>
            </a:endParaRPr>
          </a:p>
          <a:p>
            <a:pPr marL="180975" lvl="1" fontAlgn="ctr">
              <a:lnSpc>
                <a:spcPts val="1539"/>
              </a:lnSpc>
              <a:spcBef>
                <a:spcPts val="323"/>
              </a:spcBef>
            </a:pP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Conocimien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to tácito no</a:t>
            </a:r>
            <a:br>
              <a:rPr lang="es-CO" sz="1200" kern="0" spc="-23">
                <a:latin typeface="Reddit Sans"/>
                <a:ea typeface="Reddit Sans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documentado, g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enerand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 un</a:t>
            </a:r>
            <a:br>
              <a:rPr lang="es-CO" sz="1200" kern="0" spc="-23">
                <a:latin typeface="Reddit Sans"/>
                <a:ea typeface="Reddit Sans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alto riesgo de 'Bus Factor'. Curvas de aprendizaje muy altos. Para que un Softer tenga independencia y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autonomia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en la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operacipon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del cliente puede tomar hasta de 6 mese</a:t>
            </a:r>
            <a:r>
              <a:rPr lang="en-US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s (XM).</a:t>
            </a:r>
          </a:p>
        </p:txBody>
      </p:sp>
      <p:sp>
        <p:nvSpPr>
          <p:cNvPr id="7" name="Text 4"/>
          <p:cNvSpPr/>
          <p:nvPr/>
        </p:nvSpPr>
        <p:spPr>
          <a:xfrm>
            <a:off x="6427674" y="830472"/>
            <a:ext cx="2393156" cy="341750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algn="l" fontAlgn="ctr">
              <a:lnSpc>
                <a:spcPts val="1685"/>
              </a:lnSpc>
              <a:buClr>
                <a:srgbClr val="22AAEE"/>
              </a:buClr>
              <a:buSzPct val="120000"/>
              <a:buChar char="•"/>
            </a:pPr>
            <a:r>
              <a:rPr lang="en-US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Fal</a:t>
            </a:r>
            <a:r>
              <a:rPr lang="es-CO" sz="1200" kern="0" spc="-88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ta</a:t>
            </a: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de </a:t>
            </a:r>
            <a:r>
              <a:rPr lang="es-CO" sz="1200" kern="0" spc="-88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observabilidad</a:t>
            </a:r>
            <a:endParaRPr lang="es-CO" sz="1200" err="1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Dependencia de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KPIs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empíricos, dispersión de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herramientas y procesos de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reporte manuales.</a:t>
            </a:r>
            <a:endParaRPr lang="es-CO" sz="1200">
              <a:latin typeface="Reddit Sans"/>
              <a:ea typeface="Reddit Sans"/>
            </a:endParaRPr>
          </a:p>
          <a:p>
            <a:pPr marL="180975" indent="-180975" algn="l" fontAlgn="ctr">
              <a:lnSpc>
                <a:spcPts val="1685"/>
              </a:lnSpc>
              <a:spcBef>
                <a:spcPts val="1541"/>
              </a:spcBef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Brecha </a:t>
            </a:r>
            <a:r>
              <a:rPr lang="es-CO" sz="1200" kern="0" spc="-88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en</a:t>
            </a: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r>
              <a:rPr lang="es-CO" sz="1200" kern="0" spc="-88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Preventa</a:t>
            </a:r>
            <a:endParaRPr lang="es-CO" sz="1200" err="1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Desalineación entre la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expectativa comercial y la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realidad operativa, resultando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sub-dimensionamiento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.</a:t>
            </a:r>
          </a:p>
          <a:p>
            <a:pPr marL="180975" indent="-180975" fontAlgn="ctr">
              <a:lnSpc>
                <a:spcPts val="1685"/>
              </a:lnSpc>
              <a:spcBef>
                <a:spcPts val="1541"/>
              </a:spcBef>
              <a:buFont typeface="Arial,Sans-Serif"/>
              <a:buChar char="•"/>
            </a:pPr>
            <a:r>
              <a:rPr lang="es-CO" sz="1200" kern="0" spc="-23">
                <a:solidFill>
                  <a:srgbClr val="333333"/>
                </a:solidFill>
                <a:latin typeface="Reddit Sans"/>
                <a:ea typeface="Reddit Sans"/>
              </a:rPr>
              <a:t>Dimensión de la Capacidad y Roles del equipo</a:t>
            </a:r>
          </a:p>
          <a:p>
            <a:pPr marL="180975" lvl="1">
              <a:lnSpc>
                <a:spcPts val="1539"/>
              </a:lnSpc>
              <a:spcBef>
                <a:spcPts val="323"/>
              </a:spcBef>
            </a:pP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No hay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claridad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en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los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roles y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perfiles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para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dimensionar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las mesas de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servicio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por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niveles</a:t>
            </a:r>
            <a:r>
              <a:rPr lang="en-US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.</a:t>
            </a:r>
            <a:endParaRPr lang="en-US" spc="-23">
              <a:solidFill>
                <a:srgbClr val="000000">
                  <a:alpha val="55000"/>
                </a:srgbClr>
              </a:solidFill>
              <a:latin typeface="Arial"/>
              <a:ea typeface="Reddit Sans"/>
              <a:cs typeface="Arial"/>
            </a:endParaRPr>
          </a:p>
        </p:txBody>
      </p:sp>
      <p:pic>
        <p:nvPicPr>
          <p:cNvPr id="20" name="Ilustracion Desafio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359" y="1105185"/>
            <a:ext cx="3200000" cy="2169000"/>
          </a:xfrm>
          <a:prstGeom prst="rect">
            <a:avLst/>
          </a:prstGeom>
        </p:spPr>
      </p:pic>
      <p:sp>
        <p:nvSpPr>
          <p:cNvPr id="5" name="Text 3">
            <a:extLst>
              <a:ext uri="{FF2B5EF4-FFF2-40B4-BE49-F238E27FC236}">
                <a16:creationId xmlns:a16="http://schemas.microsoft.com/office/drawing/2014/main" id="{F123AE74-6D32-0FDF-671E-BDBBD5EA8815}"/>
              </a:ext>
            </a:extLst>
          </p:cNvPr>
          <p:cNvSpPr/>
          <p:nvPr/>
        </p:nvSpPr>
        <p:spPr>
          <a:xfrm>
            <a:off x="240165" y="3421271"/>
            <a:ext cx="3519827" cy="154276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fontAlgn="ctr">
              <a:lnSpc>
                <a:spcPts val="1685"/>
              </a:lnSpc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Dimensión de la disponibilidad del equipo</a:t>
            </a:r>
            <a:endParaRPr lang="es-CO" sz="1200" kern="0" spc="-88">
              <a:solidFill>
                <a:srgbClr val="333333"/>
              </a:solidFill>
              <a:latin typeface="Reddit Sans"/>
              <a:ea typeface="Reddit Sans"/>
            </a:endParaRPr>
          </a:p>
          <a:p>
            <a:pPr marL="180975" lvl="1" fontAlgn="ctr">
              <a:lnSpc>
                <a:spcPts val="1539"/>
              </a:lnSpc>
              <a:spcBef>
                <a:spcPts val="323"/>
              </a:spcBef>
            </a:pP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Disponibilidad 7x24 sin tener en cuenta la tecnología que soporta, y verse reflejado en horas extras que no hace parte de la bolsa de horas que paga el cliente. (XM)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4091" y="205740"/>
            <a:ext cx="6858000" cy="33855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1">
                <a:solidFill>
                  <a:srgbClr val="213F7D"/>
                </a:solidFill>
              </a:defRPr>
            </a:pPr>
            <a:r>
              <a:rPr lang="es-CO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¿Por qué evolucionar la Mesa de Servicios?</a:t>
            </a:r>
            <a:endParaRPr lang="es-CO" sz="1600" b="1">
              <a:solidFill>
                <a:srgbClr val="0E337C"/>
              </a:solidFill>
              <a:latin typeface="Reddit Sans"/>
              <a:ea typeface="Reddit Sans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37838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Gobierno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Falta de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marcos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de control y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estandarización</a:t>
            </a:r>
            <a:b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</a:b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en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los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procesos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actuales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.</a:t>
            </a:r>
            <a:endParaRPr lang="es-CO" sz="900">
              <a:solidFill>
                <a:srgbClr val="505050"/>
              </a:solidFill>
              <a:latin typeface="Reddit Sans"/>
              <a:ea typeface="Reddit San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50436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Escalabilidad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>
                <a:solidFill>
                  <a:srgbClr val="505050"/>
                </a:solidFill>
                <a:latin typeface="Reddit Sans"/>
                <a:ea typeface="Reddit Sans"/>
              </a:rPr>
              <a:t>Crecimiento</a:t>
            </a:r>
            <a:br>
              <a:rPr lang="es-CO" sz="900">
                <a:latin typeface="Reddit Sans"/>
                <a:ea typeface="Reddit Sans"/>
              </a:rPr>
            </a:br>
            <a:r>
              <a:rPr lang="es-CO" sz="900">
                <a:solidFill>
                  <a:srgbClr val="505050"/>
                </a:solidFill>
                <a:latin typeface="Reddit Sans"/>
                <a:ea typeface="Reddit Sans"/>
              </a:rPr>
              <a:t>basado en FTE</a:t>
            </a:r>
            <a:endParaRPr lang="es-CO" sz="900"/>
          </a:p>
        </p:txBody>
      </p:sp>
      <p:sp>
        <p:nvSpPr>
          <p:cNvPr id="5" name="Rounded Rectangle 4"/>
          <p:cNvSpPr/>
          <p:nvPr/>
        </p:nvSpPr>
        <p:spPr>
          <a:xfrm>
            <a:off x="463034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Automatización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>
                <a:latin typeface="Reddit Sans"/>
                <a:ea typeface="Reddit Sans"/>
              </a:rPr>
              <a:t>Alta dependencia</a:t>
            </a:r>
            <a:br>
              <a:rPr lang="es-CO" sz="900">
                <a:latin typeface="Reddit Sans"/>
                <a:ea typeface="Reddit Sans"/>
              </a:rPr>
            </a:br>
            <a:r>
              <a:rPr lang="es-CO" sz="900">
                <a:latin typeface="Reddit Sans"/>
                <a:ea typeface="Reddit Sans"/>
              </a:rPr>
              <a:t>de tareas manuales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5632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Conocimiento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>
                <a:latin typeface="Reddit Sans"/>
                <a:ea typeface="Reddit Sans"/>
              </a:rPr>
              <a:t>Conocimiento</a:t>
            </a:r>
            <a:br>
              <a:rPr lang="es-CO" sz="900">
                <a:latin typeface="Reddit Sans"/>
                <a:ea typeface="Reddit Sans"/>
              </a:rPr>
            </a:br>
            <a:r>
              <a:rPr lang="es-CO" sz="900">
                <a:latin typeface="Reddit Sans"/>
                <a:ea typeface="Reddit Sans"/>
              </a:rPr>
              <a:t>concentrado en personas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838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 err="1">
                <a:latin typeface="Reddit Sans"/>
                <a:ea typeface="Reddit Sans"/>
              </a:rPr>
              <a:t>Observabilidad</a:t>
            </a:r>
            <a:endParaRPr lang="es-CO" sz="1100"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err="1">
                <a:latin typeface="Reddit Sans"/>
                <a:ea typeface="Reddit Sans"/>
              </a:rPr>
              <a:t>KPIs</a:t>
            </a:r>
            <a:r>
              <a:rPr lang="es-CO" sz="900">
                <a:latin typeface="Reddit Sans"/>
                <a:ea typeface="Reddit Sans"/>
              </a:rPr>
              <a:t> y SLA</a:t>
            </a:r>
            <a:br>
              <a:rPr lang="es-CO" sz="900">
                <a:latin typeface="Reddit Sans"/>
                <a:ea typeface="Reddit Sans"/>
              </a:rPr>
            </a:br>
            <a:r>
              <a:rPr lang="es-CO" sz="900">
                <a:latin typeface="Reddit Sans"/>
                <a:ea typeface="Reddit Sans"/>
              </a:rPr>
              <a:t>sin estandarizar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436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Transición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err="1">
                <a:latin typeface="Reddit Sans"/>
                <a:ea typeface="Reddit Sans"/>
              </a:rPr>
              <a:t>Onboarding</a:t>
            </a:r>
            <a:r>
              <a:rPr lang="es-CO" sz="900">
                <a:latin typeface="Reddit Sans"/>
                <a:ea typeface="Reddit Sans"/>
              </a:rPr>
              <a:t> con</a:t>
            </a:r>
            <a:br>
              <a:rPr lang="es-CO" sz="900">
                <a:latin typeface="Reddit Sans"/>
                <a:ea typeface="Reddit Sans"/>
              </a:rPr>
            </a:br>
            <a:r>
              <a:rPr lang="es-CO" sz="900">
                <a:latin typeface="Reddit Sans"/>
                <a:ea typeface="Reddit Sans"/>
              </a:rPr>
              <a:t>alta fricción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3034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Preventa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Debilidad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en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la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alineación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estratégica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entre las</a:t>
            </a:r>
            <a:b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</a:b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necesidades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de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negocio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y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los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servicios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.</a:t>
            </a:r>
            <a:endParaRPr lang="es-CO" sz="900">
              <a:solidFill>
                <a:srgbClr val="505050"/>
              </a:solidFill>
              <a:latin typeface="Reddit Sans"/>
              <a:ea typeface="Reddit San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75632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Plataforma &amp; Talento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>
                <a:latin typeface="Reddit Sans"/>
                <a:ea typeface="Reddit Sans"/>
              </a:rPr>
              <a:t>Retención y</a:t>
            </a:r>
            <a:br>
              <a:rPr lang="es-CO" sz="900">
                <a:latin typeface="Reddit Sans"/>
                <a:ea typeface="Reddit Sans"/>
              </a:rPr>
            </a:br>
            <a:r>
              <a:rPr lang="es-CO" sz="900">
                <a:latin typeface="Reddit Sans"/>
                <a:ea typeface="Reddit Sans"/>
              </a:rPr>
              <a:t>especialización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481" y="4053296"/>
            <a:ext cx="8298180" cy="342900"/>
          </a:xfrm>
          <a:prstGeom prst="roundRect">
            <a:avLst/>
          </a:prstGeom>
          <a:solidFill>
            <a:srgbClr val="213F7D"/>
          </a:solidFill>
          <a:ln>
            <a:solidFill>
              <a:srgbClr val="213F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 lang="en-US" sz="1050">
                <a:latin typeface="Reddit Sans"/>
                <a:ea typeface="Reddit Sans"/>
              </a:rPr>
              <a:t> Mesa de Servicio de Nueva Generación</a:t>
            </a:r>
            <a:r>
              <a:rPr sz="1050">
                <a:latin typeface="Reddit Sans"/>
                <a:ea typeface="Reddit Sans"/>
              </a:rPr>
              <a:t>: </a:t>
            </a:r>
            <a:r>
              <a:rPr lang="en-US" sz="1050">
                <a:latin typeface="Reddit Sans"/>
                <a:ea typeface="Reddit Sans"/>
              </a:rPr>
              <a:t>Una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operación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estandarizada</a:t>
            </a:r>
            <a:r>
              <a:rPr sz="1050">
                <a:latin typeface="Reddit Sans"/>
                <a:ea typeface="Reddit Sans"/>
              </a:rPr>
              <a:t>, </a:t>
            </a:r>
            <a:r>
              <a:rPr sz="1050" err="1">
                <a:latin typeface="Reddit Sans"/>
                <a:ea typeface="Reddit Sans"/>
              </a:rPr>
              <a:t>automatizada</a:t>
            </a:r>
            <a:r>
              <a:rPr sz="1050">
                <a:latin typeface="Reddit Sans"/>
                <a:ea typeface="Reddit Sans"/>
              </a:rPr>
              <a:t>, </a:t>
            </a:r>
            <a:r>
              <a:rPr sz="1050" err="1">
                <a:latin typeface="Reddit Sans"/>
                <a:ea typeface="Reddit Sans"/>
              </a:rPr>
              <a:t>medible</a:t>
            </a:r>
            <a:r>
              <a:rPr sz="1050">
                <a:latin typeface="Reddit Sans"/>
                <a:ea typeface="Reddit Sans"/>
              </a:rPr>
              <a:t> y </a:t>
            </a:r>
            <a:r>
              <a:rPr sz="1050" err="1">
                <a:latin typeface="Reddit Sans"/>
                <a:ea typeface="Reddit Sans"/>
              </a:rPr>
              <a:t>habilitada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por</a:t>
            </a:r>
            <a:r>
              <a:rPr sz="1050">
                <a:latin typeface="Reddit Sans"/>
                <a:ea typeface="Reddit Sans"/>
              </a:rPr>
              <a:t> IA.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4A00E2-8AA6-B2EC-C394-830FBBB47CA4}"/>
              </a:ext>
            </a:extLst>
          </p:cNvPr>
          <p:cNvSpPr txBox="1"/>
          <p:nvPr/>
        </p:nvSpPr>
        <p:spPr>
          <a:xfrm>
            <a:off x="419100" y="541564"/>
            <a:ext cx="4572000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CO" sz="1000">
                <a:solidFill>
                  <a:srgbClr val="6E6E6E"/>
                </a:solidFill>
                <a:latin typeface="Reddit Sans"/>
                <a:ea typeface="Reddit Sans"/>
              </a:rPr>
              <a:t>Principales brechas en el modelo operativo </a:t>
            </a:r>
            <a:r>
              <a:rPr lang="es-CO" sz="1000" b="0" i="0" u="none" strike="noStrike" baseline="0">
                <a:solidFill>
                  <a:srgbClr val="6E6E6E"/>
                </a:solidFill>
                <a:latin typeface="Reddit Sans"/>
                <a:ea typeface="Reddit Sans"/>
              </a:rPr>
              <a:t>actual</a:t>
            </a:r>
            <a:endParaRPr lang="es-CO" sz="1000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27596335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4C0431D9-90B7-34B2-1387-277562976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635B94C3-2E23-F602-A2C2-943F546B80B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/>
              <a:t>Mesas de Servicio de Nueva Generación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F48E14B7-D436-CC99-C5A9-E74D13669BE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34971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s-CO" sz="1400"/>
              <a:t>Estudio de Mercado</a:t>
            </a:r>
          </a:p>
        </p:txBody>
      </p:sp>
    </p:spTree>
    <p:extLst>
      <p:ext uri="{BB962C8B-B14F-4D97-AF65-F5344CB8AC3E}">
        <p14:creationId xmlns:p14="http://schemas.microsoft.com/office/powerpoint/2010/main" val="592861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229F7-1267-1991-7F32-6D05A7104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102"/>
          <p:cNvSpPr/>
          <p:nvPr/>
        </p:nvSpPr>
        <p:spPr>
          <a:xfrm>
            <a:off x="502920" y="822960"/>
            <a:ext cx="8138160" cy="51206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9525">
            <a:solidFill>
              <a:srgbClr val="E2E6EA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1" name="Caption">
            <a:extLst>
              <a:ext uri="{FF2B5EF4-FFF2-40B4-BE49-F238E27FC236}">
                <a16:creationId xmlns:a16="http://schemas.microsoft.com/office/drawing/2014/main" id="{F51B6F8F-CFDF-9B40-AAA2-D9EFBD076B89}"/>
              </a:ext>
            </a:extLst>
          </p:cNvPr>
          <p:cNvSpPr txBox="1"/>
          <p:nvPr/>
        </p:nvSpPr>
        <p:spPr>
          <a:xfrm>
            <a:off x="341414" y="4660743"/>
            <a:ext cx="3393872" cy="32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r>
              <a:rPr lang="es-ES" sz="700">
                <a:solidFill>
                  <a:schemeClr val="bg2"/>
                </a:solidFill>
                <a:latin typeface="Reddit Sans"/>
                <a:ea typeface="Reddit Sans"/>
              </a:rPr>
              <a:t>Fuentes:</a:t>
            </a:r>
            <a:r>
              <a:rPr lang="es-ES" sz="700">
                <a:solidFill>
                  <a:srgbClr val="E6EDF3"/>
                </a:solidFill>
                <a:latin typeface="Reddit Sans"/>
                <a:ea typeface="Reddit Sans"/>
              </a:rPr>
              <a:t> </a:t>
            </a:r>
            <a:r>
              <a:rPr lang="es-ES" sz="700">
                <a:solidFill>
                  <a:srgbClr val="2F81F7"/>
                </a:solidFill>
                <a:latin typeface="Reddit Sans"/>
                <a:ea typeface="Reddit Sans"/>
                <a:hlinkClick r:id="rId3"/>
              </a:rPr>
              <a:t>DITY/SlideShare</a:t>
            </a:r>
            <a:r>
              <a:rPr lang="es-ES" sz="700">
                <a:solidFill>
                  <a:srgbClr val="E6EDF3"/>
                </a:solidFill>
                <a:latin typeface="Reddit Sans"/>
                <a:ea typeface="Reddit Sans"/>
              </a:rPr>
              <a:t>, </a:t>
            </a:r>
            <a:r>
              <a:rPr lang="es-ES" sz="700">
                <a:solidFill>
                  <a:srgbClr val="2F81F7"/>
                </a:solidFill>
                <a:latin typeface="Reddit Sans"/>
                <a:ea typeface="Reddit Sans"/>
                <a:hlinkClick r:id="rId4"/>
              </a:rPr>
              <a:t>ServiceNow Newsroom</a:t>
            </a:r>
            <a:r>
              <a:rPr lang="es-ES" sz="700">
                <a:solidFill>
                  <a:srgbClr val="E6EDF3"/>
                </a:solidFill>
                <a:latin typeface="Reddit Sans"/>
                <a:ea typeface="Reddit Sans"/>
              </a:rPr>
              <a:t>, </a:t>
            </a:r>
            <a:r>
              <a:rPr lang="es-ES" sz="700">
                <a:solidFill>
                  <a:srgbClr val="2F81F7"/>
                </a:solidFill>
                <a:latin typeface="Reddit Sans"/>
                <a:ea typeface="Reddit Sans"/>
                <a:hlinkClick r:id="rId5"/>
              </a:rPr>
              <a:t>Ivanti</a:t>
            </a:r>
            <a:endParaRPr lang="es-ES" sz="700">
              <a:solidFill>
                <a:srgbClr val="E6EDF3"/>
              </a:solidFill>
              <a:latin typeface="Reddit Sans"/>
              <a:ea typeface="Reddit Sans"/>
            </a:endParaRPr>
          </a:p>
        </p:txBody>
      </p:sp>
      <p:sp>
        <p:nvSpPr>
          <p:cNvPr id="101" name="tx101"/>
          <p:cNvSpPr txBox="1"/>
          <p:nvPr/>
        </p:nvSpPr>
        <p:spPr>
          <a:xfrm>
            <a:off x="2743200" y="548640"/>
            <a:ext cx="3657600" cy="219456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/>
            <a:r>
              <a:rPr lang="es-ES" sz="1000">
                <a:solidFill>
                  <a:srgbClr val="5A6B7B"/>
                </a:solidFill>
                <a:latin typeface="Reddit Sans"/>
                <a:ea typeface="Reddit Sans"/>
              </a:rPr>
              <a:t>Evolución del Valor</a:t>
            </a:r>
            <a:endParaRPr lang="es-ES"/>
          </a:p>
        </p:txBody>
      </p:sp>
      <p:sp>
        <p:nvSpPr>
          <p:cNvPr id="103" name="tx103"/>
          <p:cNvSpPr txBox="1"/>
          <p:nvPr/>
        </p:nvSpPr>
        <p:spPr>
          <a:xfrm>
            <a:off x="1234440" y="859536"/>
            <a:ext cx="128016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1400" b="1">
                <a:solidFill>
                  <a:srgbClr val="1F3A5B"/>
                </a:solidFill>
                <a:latin typeface="Reddit Sans"/>
                <a:ea typeface="Reddit Sans"/>
              </a:rPr>
              <a:t>ITO</a:t>
            </a:r>
          </a:p>
        </p:txBody>
      </p:sp>
      <p:sp>
        <p:nvSpPr>
          <p:cNvPr id="104" name="tx104"/>
          <p:cNvSpPr txBox="1"/>
          <p:nvPr/>
        </p:nvSpPr>
        <p:spPr>
          <a:xfrm>
            <a:off x="960120" y="1115568"/>
            <a:ext cx="1828800" cy="18288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900">
                <a:solidFill>
                  <a:srgbClr val="5A6B7B"/>
                </a:solidFill>
                <a:latin typeface="Reddit Sans"/>
                <a:ea typeface="Reddit Sans"/>
              </a:rPr>
              <a:t>Infraestructura</a:t>
            </a:r>
          </a:p>
        </p:txBody>
      </p:sp>
      <p:sp>
        <p:nvSpPr>
          <p:cNvPr id="105" name="sh105"/>
          <p:cNvSpPr/>
          <p:nvPr/>
        </p:nvSpPr>
        <p:spPr>
          <a:xfrm>
            <a:off x="1874520" y="896112"/>
            <a:ext cx="274320" cy="91440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6" name="sh106"/>
          <p:cNvSpPr/>
          <p:nvPr/>
        </p:nvSpPr>
        <p:spPr>
          <a:xfrm>
            <a:off x="1874520" y="1005840"/>
            <a:ext cx="274320" cy="91440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7" name="sh107"/>
          <p:cNvSpPr/>
          <p:nvPr/>
        </p:nvSpPr>
        <p:spPr>
          <a:xfrm>
            <a:off x="1874520" y="1115568"/>
            <a:ext cx="274320" cy="91440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8" name="sh108"/>
          <p:cNvSpPr/>
          <p:nvPr/>
        </p:nvSpPr>
        <p:spPr>
          <a:xfrm>
            <a:off x="2542032" y="1005840"/>
            <a:ext cx="1143000" cy="13716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9" name="tx109"/>
          <p:cNvSpPr txBox="1"/>
          <p:nvPr/>
        </p:nvSpPr>
        <p:spPr>
          <a:xfrm>
            <a:off x="4138749" y="854094"/>
            <a:ext cx="605246" cy="2852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1400" b="1">
                <a:solidFill>
                  <a:srgbClr val="2E7E85"/>
                </a:solidFill>
                <a:latin typeface="Reddit Sans"/>
                <a:ea typeface="Reddit Sans"/>
              </a:rPr>
              <a:t>BPO</a:t>
            </a:r>
          </a:p>
        </p:txBody>
      </p:sp>
      <p:sp>
        <p:nvSpPr>
          <p:cNvPr id="110" name="tx110"/>
          <p:cNvSpPr txBox="1"/>
          <p:nvPr/>
        </p:nvSpPr>
        <p:spPr>
          <a:xfrm>
            <a:off x="4042954" y="1115568"/>
            <a:ext cx="1737360" cy="18288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900">
                <a:solidFill>
                  <a:srgbClr val="5A6B7B"/>
                </a:solidFill>
                <a:latin typeface="Reddit Sans"/>
                <a:ea typeface="Reddit Sans"/>
              </a:rPr>
              <a:t>Procesos</a:t>
            </a:r>
          </a:p>
        </p:txBody>
      </p:sp>
      <p:sp>
        <p:nvSpPr>
          <p:cNvPr id="111" name="sh111"/>
          <p:cNvSpPr/>
          <p:nvPr/>
        </p:nvSpPr>
        <p:spPr>
          <a:xfrm>
            <a:off x="4800600" y="877824"/>
            <a:ext cx="310896" cy="310896"/>
          </a:xfrm>
          <a:prstGeom prst="gear6">
            <a:avLst>
              <a:gd name="adj1" fmla="val 15000"/>
              <a:gd name="adj2" fmla="val 3000"/>
            </a:avLst>
          </a:prstGeom>
          <a:noFill/>
          <a:ln w="9525">
            <a:solidFill>
              <a:srgbClr val="2E7E85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2" name="sh112"/>
          <p:cNvSpPr/>
          <p:nvPr/>
        </p:nvSpPr>
        <p:spPr>
          <a:xfrm>
            <a:off x="5532120" y="1005840"/>
            <a:ext cx="1143000" cy="13716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4E9A3B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3" name="tx113"/>
          <p:cNvSpPr txBox="1"/>
          <p:nvPr/>
        </p:nvSpPr>
        <p:spPr>
          <a:xfrm>
            <a:off x="7113814" y="854094"/>
            <a:ext cx="804455" cy="2852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1400" b="1">
                <a:solidFill>
                  <a:srgbClr val="4E9A3B"/>
                </a:solidFill>
                <a:latin typeface="Reddit Sans"/>
                <a:ea typeface="Reddit Sans"/>
              </a:rPr>
              <a:t>KPO</a:t>
            </a:r>
          </a:p>
        </p:txBody>
      </p:sp>
      <p:sp>
        <p:nvSpPr>
          <p:cNvPr id="114" name="tx114"/>
          <p:cNvSpPr txBox="1"/>
          <p:nvPr/>
        </p:nvSpPr>
        <p:spPr>
          <a:xfrm>
            <a:off x="6720840" y="1115568"/>
            <a:ext cx="1920240" cy="18288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900">
                <a:solidFill>
                  <a:srgbClr val="5A6B7B"/>
                </a:solidFill>
                <a:latin typeface="Reddit Sans"/>
                <a:ea typeface="Reddit Sans"/>
              </a:rPr>
              <a:t>Conocimiento del negocio</a:t>
            </a:r>
          </a:p>
        </p:txBody>
      </p:sp>
      <p:sp>
        <p:nvSpPr>
          <p:cNvPr id="116" name="sh116"/>
          <p:cNvSpPr/>
          <p:nvPr/>
        </p:nvSpPr>
        <p:spPr>
          <a:xfrm>
            <a:off x="960120" y="2320747"/>
            <a:ext cx="7269480" cy="21946"/>
          </a:xfrm>
          <a:prstGeom prst="roundRect">
            <a:avLst>
              <a:gd name="adj" fmla="val 50000"/>
            </a:avLst>
          </a:prstGeom>
          <a:solidFill>
            <a:srgbClr val="C3C9C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7" name="arrowtip"/>
          <p:cNvSpPr/>
          <p:nvPr/>
        </p:nvSpPr>
        <p:spPr>
          <a:xfrm>
            <a:off x="8193024" y="2281428"/>
            <a:ext cx="146304" cy="100584"/>
          </a:xfrm>
          <a:prstGeom prst="rightArrow">
            <a:avLst>
              <a:gd name="adj1" fmla="val 40000"/>
              <a:gd name="adj2" fmla="val 60000"/>
            </a:avLst>
          </a:prstGeom>
          <a:solidFill>
            <a:srgbClr val="C3C9C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8" name="sh118"/>
          <p:cNvSpPr/>
          <p:nvPr/>
        </p:nvSpPr>
        <p:spPr>
          <a:xfrm>
            <a:off x="594360" y="1965960"/>
            <a:ext cx="731520" cy="731520"/>
          </a:xfrm>
          <a:prstGeom prst="ellipse">
            <a:avLst/>
          </a:prstGeom>
          <a:solidFill>
            <a:srgbClr val="78746B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HD</a:t>
            </a:r>
          </a:p>
        </p:txBody>
      </p:sp>
      <p:sp>
        <p:nvSpPr>
          <p:cNvPr id="119" name="sh119"/>
          <p:cNvSpPr/>
          <p:nvPr/>
        </p:nvSpPr>
        <p:spPr>
          <a:xfrm>
            <a:off x="1920240" y="1965960"/>
            <a:ext cx="731520" cy="731520"/>
          </a:xfrm>
          <a:prstGeom prst="ellipse">
            <a:avLst/>
          </a:prstGeom>
          <a:solidFill>
            <a:srgbClr val="2E7E85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SD</a:t>
            </a:r>
          </a:p>
        </p:txBody>
      </p:sp>
      <p:sp>
        <p:nvSpPr>
          <p:cNvPr id="120" name="sh120"/>
          <p:cNvSpPr/>
          <p:nvPr/>
        </p:nvSpPr>
        <p:spPr>
          <a:xfrm>
            <a:off x="3246120" y="1965960"/>
            <a:ext cx="731520" cy="731520"/>
          </a:xfrm>
          <a:prstGeom prst="ellipse">
            <a:avLst/>
          </a:prstGeom>
          <a:solidFill>
            <a:srgbClr val="A4472A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ESM</a:t>
            </a:r>
          </a:p>
        </p:txBody>
      </p:sp>
      <p:sp>
        <p:nvSpPr>
          <p:cNvPr id="121" name="sh121"/>
          <p:cNvSpPr/>
          <p:nvPr/>
        </p:nvSpPr>
        <p:spPr>
          <a:xfrm>
            <a:off x="4572000" y="1965960"/>
            <a:ext cx="731520" cy="731520"/>
          </a:xfrm>
          <a:prstGeom prst="ellipse">
            <a:avLst/>
          </a:prstGeom>
          <a:solidFill>
            <a:srgbClr val="8B4357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D/W</a:t>
            </a:r>
          </a:p>
        </p:txBody>
      </p:sp>
      <p:sp>
        <p:nvSpPr>
          <p:cNvPr id="122" name="sh122"/>
          <p:cNvSpPr/>
          <p:nvPr/>
        </p:nvSpPr>
        <p:spPr>
          <a:xfrm>
            <a:off x="5897880" y="1965960"/>
            <a:ext cx="731520" cy="731520"/>
          </a:xfrm>
          <a:prstGeom prst="ellipse">
            <a:avLst/>
          </a:prstGeom>
          <a:solidFill>
            <a:srgbClr val="D2A02A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A+</a:t>
            </a:r>
          </a:p>
        </p:txBody>
      </p:sp>
      <p:sp>
        <p:nvSpPr>
          <p:cNvPr id="123" name="sh123"/>
          <p:cNvSpPr/>
          <p:nvPr/>
        </p:nvSpPr>
        <p:spPr>
          <a:xfrm>
            <a:off x="7452360" y="1965960"/>
            <a:ext cx="731520" cy="731520"/>
          </a:xfrm>
          <a:prstGeom prst="ellipse">
            <a:avLst/>
          </a:prstGeom>
          <a:solidFill>
            <a:srgbClr val="24406A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AUTONO</a:t>
            </a:r>
          </a:p>
          <a:p>
            <a:pPr algn="ctr">
              <a:lnSpc>
                <a:spcPct val="100000"/>
              </a:lnSpc>
            </a:pPr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MO</a:t>
            </a:r>
          </a:p>
        </p:txBody>
      </p:sp>
      <p:sp>
        <p:nvSpPr>
          <p:cNvPr id="124" name="tx124"/>
          <p:cNvSpPr txBox="1"/>
          <p:nvPr/>
        </p:nvSpPr>
        <p:spPr>
          <a:xfrm>
            <a:off x="320040" y="1572768"/>
            <a:ext cx="1280160" cy="5029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750">
                <a:solidFill>
                  <a:srgbClr val="5A6B7B"/>
                </a:solidFill>
                <a:latin typeface="Reddit Sans"/>
                <a:ea typeface="Reddit Sans"/>
              </a:rPr>
              <a:t>Reactivo</a:t>
            </a:r>
          </a:p>
        </p:txBody>
      </p:sp>
      <p:sp>
        <p:nvSpPr>
          <p:cNvPr id="125" name="tx125"/>
          <p:cNvSpPr txBox="1"/>
          <p:nvPr/>
        </p:nvSpPr>
        <p:spPr>
          <a:xfrm>
            <a:off x="1481546" y="1474579"/>
            <a:ext cx="1554480" cy="5029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750" b="1">
                <a:solidFill>
                  <a:srgbClr val="2E7E85"/>
                </a:solidFill>
                <a:latin typeface="Reddit Sans"/>
                <a:ea typeface="Reddit Sans"/>
              </a:rPr>
              <a:t>Service </a:t>
            </a:r>
            <a:r>
              <a:rPr lang="es-ES" sz="750" b="1" err="1">
                <a:solidFill>
                  <a:srgbClr val="2E7E85"/>
                </a:solidFill>
                <a:latin typeface="Reddit Sans"/>
                <a:ea typeface="Reddit Sans"/>
              </a:rPr>
              <a:t>Desk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ITIL v2/v3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2001–2007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SLA, CMDB</a:t>
            </a:r>
          </a:p>
        </p:txBody>
      </p:sp>
      <p:sp>
        <p:nvSpPr>
          <p:cNvPr id="126" name="tx126"/>
          <p:cNvSpPr txBox="1"/>
          <p:nvPr/>
        </p:nvSpPr>
        <p:spPr>
          <a:xfrm>
            <a:off x="4133306" y="1474579"/>
            <a:ext cx="1554480" cy="5029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750" b="1">
                <a:solidFill>
                  <a:srgbClr val="8B4357"/>
                </a:solidFill>
                <a:latin typeface="Reddit Sans"/>
                <a:ea typeface="Reddit Sans"/>
              </a:rPr>
              <a:t>Digital </a:t>
            </a:r>
            <a:r>
              <a:rPr lang="es-ES" sz="750" b="1" err="1">
                <a:solidFill>
                  <a:srgbClr val="8B4357"/>
                </a:solidFill>
                <a:latin typeface="Reddit Sans"/>
                <a:ea typeface="Reddit Sans"/>
              </a:rPr>
              <a:t>Workplace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2015–2020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NLP, </a:t>
            </a:r>
            <a:r>
              <a:rPr lang="es-ES" sz="750" err="1">
                <a:solidFill>
                  <a:schemeClr val="bg2"/>
                </a:solidFill>
                <a:latin typeface="Reddit Sans"/>
                <a:ea typeface="Reddit Sans"/>
              </a:rPr>
              <a:t>Chatbot</a:t>
            </a:r>
            <a:endParaRPr lang="es-ES" sz="750">
              <a:solidFill>
                <a:schemeClr val="bg2"/>
              </a:solidFill>
              <a:latin typeface="Reddit Sans"/>
              <a:ea typeface="Reddit Sans"/>
            </a:endParaRPr>
          </a:p>
        </p:txBody>
      </p:sp>
      <p:sp>
        <p:nvSpPr>
          <p:cNvPr id="127" name="tx127"/>
          <p:cNvSpPr txBox="1"/>
          <p:nvPr/>
        </p:nvSpPr>
        <p:spPr>
          <a:xfrm>
            <a:off x="7034349" y="1476974"/>
            <a:ext cx="1600200" cy="5029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750" b="1" err="1">
                <a:solidFill>
                  <a:srgbClr val="24406A"/>
                </a:solidFill>
                <a:latin typeface="Reddit Sans"/>
                <a:ea typeface="Reddit Sans"/>
              </a:rPr>
              <a:t>Autonomo</a:t>
            </a:r>
            <a:endParaRPr lang="es-ES" sz="750" b="1">
              <a:solidFill>
                <a:srgbClr val="24406A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Service </a:t>
            </a:r>
            <a:r>
              <a:rPr lang="es-ES" sz="750" err="1">
                <a:solidFill>
                  <a:schemeClr val="bg2"/>
                </a:solidFill>
                <a:latin typeface="Reddit Sans"/>
                <a:ea typeface="Reddit Sans"/>
              </a:rPr>
              <a:t>Desk</a:t>
            </a:r>
            <a:endParaRPr lang="es-ES" sz="750">
              <a:solidFill>
                <a:schemeClr val="bg2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2023–2026+</a:t>
            </a:r>
          </a:p>
          <a:p>
            <a:pPr algn="ctr">
              <a:lnSpc>
                <a:spcPct val="95000"/>
              </a:lnSpc>
            </a:pPr>
            <a:r>
              <a:rPr lang="es-ES" sz="750" err="1">
                <a:solidFill>
                  <a:schemeClr val="bg2"/>
                </a:solidFill>
                <a:latin typeface="Reddit Sans"/>
                <a:ea typeface="Reddit Sans"/>
              </a:rPr>
              <a:t>Agentic</a:t>
            </a: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, XLA</a:t>
            </a:r>
          </a:p>
        </p:txBody>
      </p:sp>
      <p:sp>
        <p:nvSpPr>
          <p:cNvPr id="128" name="tx128"/>
          <p:cNvSpPr txBox="1"/>
          <p:nvPr/>
        </p:nvSpPr>
        <p:spPr>
          <a:xfrm>
            <a:off x="182880" y="2761488"/>
            <a:ext cx="1554480" cy="82296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750" b="1">
                <a:solidFill>
                  <a:srgbClr val="33383D"/>
                </a:solidFill>
                <a:latin typeface="Reddit Sans"/>
                <a:ea typeface="Reddit Sans"/>
              </a:rPr>
              <a:t>Help Desk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rgbClr val="33383D"/>
                </a:solidFill>
                <a:latin typeface="Reddit Sans"/>
                <a:ea typeface="Reddit Sans"/>
              </a:rPr>
              <a:t>1970s–90s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rgbClr val="33383D"/>
                </a:solidFill>
                <a:latin typeface="Reddit Sans"/>
                <a:ea typeface="Reddit Sans"/>
              </a:rPr>
              <a:t>Teléfono, Tickets</a:t>
            </a:r>
          </a:p>
        </p:txBody>
      </p:sp>
      <p:sp>
        <p:nvSpPr>
          <p:cNvPr id="129" name="tx129"/>
          <p:cNvSpPr txBox="1"/>
          <p:nvPr/>
        </p:nvSpPr>
        <p:spPr>
          <a:xfrm>
            <a:off x="2743200" y="2761488"/>
            <a:ext cx="1737360" cy="82296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750" b="1">
                <a:solidFill>
                  <a:srgbClr val="A4472A"/>
                </a:solidFill>
                <a:latin typeface="Reddit Sans"/>
                <a:ea typeface="Reddit Sans"/>
              </a:rPr>
              <a:t>Enterprise Service</a:t>
            </a:r>
          </a:p>
          <a:p>
            <a:pPr algn="ctr">
              <a:lnSpc>
                <a:spcPct val="95000"/>
              </a:lnSpc>
            </a:pPr>
            <a:r>
              <a:rPr lang="es-ES" sz="750" b="1">
                <a:solidFill>
                  <a:srgbClr val="A4472A"/>
                </a:solidFill>
                <a:latin typeface="Reddit Sans"/>
                <a:ea typeface="Reddit Sans"/>
              </a:rPr>
              <a:t>Management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2010–2016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HR, Finanzas</a:t>
            </a:r>
          </a:p>
        </p:txBody>
      </p:sp>
      <p:sp>
        <p:nvSpPr>
          <p:cNvPr id="130" name="tx130"/>
          <p:cNvSpPr txBox="1"/>
          <p:nvPr/>
        </p:nvSpPr>
        <p:spPr>
          <a:xfrm>
            <a:off x="5372100" y="2761488"/>
            <a:ext cx="1783080" cy="82296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750" b="1">
                <a:solidFill>
                  <a:srgbClr val="C08A1E"/>
                </a:solidFill>
                <a:latin typeface="Reddit Sans"/>
                <a:ea typeface="Reddit Sans"/>
              </a:rPr>
              <a:t>AITSM (Artificial </a:t>
            </a:r>
            <a:r>
              <a:rPr lang="es-ES" sz="750" b="1" err="1">
                <a:solidFill>
                  <a:srgbClr val="C08A1E"/>
                </a:solidFill>
                <a:latin typeface="Reddit Sans"/>
                <a:ea typeface="Reddit Sans"/>
              </a:rPr>
              <a:t>Intelligence</a:t>
            </a:r>
            <a:endParaRPr lang="es-ES" sz="750" b="1">
              <a:solidFill>
                <a:srgbClr val="C08A1E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 b="1" err="1">
                <a:solidFill>
                  <a:srgbClr val="C08A1E"/>
                </a:solidFill>
                <a:latin typeface="Reddit Sans"/>
                <a:ea typeface="Reddit Sans"/>
              </a:rPr>
              <a:t>for</a:t>
            </a:r>
            <a:r>
              <a:rPr lang="es-ES" sz="750" b="1">
                <a:solidFill>
                  <a:srgbClr val="C08A1E"/>
                </a:solidFill>
                <a:latin typeface="Reddit Sans"/>
                <a:ea typeface="Reddit Sans"/>
              </a:rPr>
              <a:t> IT Service Management)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2020–2023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AI-</a:t>
            </a:r>
            <a:r>
              <a:rPr lang="es-ES" sz="750" err="1">
                <a:solidFill>
                  <a:schemeClr val="bg2"/>
                </a:solidFill>
                <a:latin typeface="Reddit Sans"/>
                <a:ea typeface="Reddit Sans"/>
              </a:rPr>
              <a:t>Augmented</a:t>
            </a:r>
            <a:endParaRPr lang="es-ES" sz="750">
              <a:solidFill>
                <a:schemeClr val="bg2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GenAI · </a:t>
            </a:r>
            <a:r>
              <a:rPr lang="es-ES" sz="750" err="1">
                <a:solidFill>
                  <a:schemeClr val="bg2"/>
                </a:solidFill>
                <a:latin typeface="Reddit Sans"/>
                <a:ea typeface="Reddit Sans"/>
              </a:rPr>
              <a:t>AIOps</a:t>
            </a:r>
            <a:endParaRPr lang="es-ES" sz="750">
              <a:solidFill>
                <a:schemeClr val="bg2"/>
              </a:solidFill>
              <a:latin typeface="Reddit Sans"/>
              <a:ea typeface="Reddit Sans"/>
            </a:endParaRPr>
          </a:p>
        </p:txBody>
      </p:sp>
      <p:sp>
        <p:nvSpPr>
          <p:cNvPr id="131" name="sh131"/>
          <p:cNvSpPr/>
          <p:nvPr/>
        </p:nvSpPr>
        <p:spPr>
          <a:xfrm>
            <a:off x="609601" y="3447939"/>
            <a:ext cx="5613543" cy="1075074"/>
          </a:xfrm>
          <a:prstGeom prst="roundRect">
            <a:avLst>
              <a:gd name="adj" fmla="val 8000"/>
            </a:avLst>
          </a:prstGeom>
          <a:ln w="12700"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34" name="tx134"/>
          <p:cNvSpPr txBox="1"/>
          <p:nvPr/>
        </p:nvSpPr>
        <p:spPr>
          <a:xfrm>
            <a:off x="1395548" y="3522617"/>
            <a:ext cx="2834640" cy="384048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lang="es-ES" sz="900" b="1">
                <a:solidFill>
                  <a:srgbClr val="1F5FA6"/>
                </a:solidFill>
                <a:latin typeface="Reddit Sans"/>
                <a:ea typeface="Reddit Sans"/>
              </a:rPr>
              <a:t>La evolución de la mesa no es hacia más tickets. </a:t>
            </a:r>
          </a:p>
          <a:p>
            <a:pPr algn="l">
              <a:lnSpc>
                <a:spcPct val="95000"/>
              </a:lnSpc>
            </a:pPr>
            <a:r>
              <a:rPr lang="es-ES" sz="900" b="1">
                <a:solidFill>
                  <a:schemeClr val="accent5"/>
                </a:solidFill>
                <a:latin typeface="Reddit Sans"/>
                <a:ea typeface="Reddit Sans"/>
              </a:rPr>
              <a:t>Es hacia más conocimiento del negocio</a:t>
            </a:r>
            <a:r>
              <a:rPr lang="es-ES" sz="900" b="1">
                <a:solidFill>
                  <a:srgbClr val="1F5FA6"/>
                </a:solidFill>
                <a:latin typeface="Reddit Sans"/>
                <a:ea typeface="Reddit Sans"/>
              </a:rPr>
              <a:t>.</a:t>
            </a:r>
          </a:p>
        </p:txBody>
      </p:sp>
      <p:sp>
        <p:nvSpPr>
          <p:cNvPr id="135" name="sh135"/>
          <p:cNvSpPr/>
          <p:nvPr/>
        </p:nvSpPr>
        <p:spPr>
          <a:xfrm>
            <a:off x="1002574" y="3960005"/>
            <a:ext cx="274320" cy="274320"/>
          </a:xfrm>
          <a:prstGeom prst="ellipse">
            <a:avLst/>
          </a:prstGeom>
          <a:solidFill>
            <a:srgbClr val="EEF1F4"/>
          </a:solidFill>
          <a:ln w="9525">
            <a:solidFill>
              <a:srgbClr val="C3C9C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36" name="tx136"/>
          <p:cNvSpPr txBox="1"/>
          <p:nvPr/>
        </p:nvSpPr>
        <p:spPr>
          <a:xfrm>
            <a:off x="728254" y="4243469"/>
            <a:ext cx="822960" cy="1463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750" b="1">
                <a:solidFill>
                  <a:srgbClr val="33383D"/>
                </a:solidFill>
                <a:latin typeface="Reddit Sans"/>
                <a:ea typeface="Reddit Sans"/>
              </a:rPr>
              <a:t>ITO</a:t>
            </a:r>
          </a:p>
        </p:txBody>
      </p:sp>
      <p:sp>
        <p:nvSpPr>
          <p:cNvPr id="137" name="tx137"/>
          <p:cNvSpPr txBox="1"/>
          <p:nvPr/>
        </p:nvSpPr>
        <p:spPr>
          <a:xfrm>
            <a:off x="609382" y="4389773"/>
            <a:ext cx="1060704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8000"/>
              </a:lnSpc>
            </a:pPr>
            <a:r>
              <a:rPr lang="es-ES" sz="600">
                <a:solidFill>
                  <a:srgbClr val="5A6B7B"/>
                </a:solidFill>
                <a:latin typeface="Reddit Sans"/>
                <a:ea typeface="Reddit Sans"/>
              </a:rPr>
              <a:t>Enfoque en tecnología</a:t>
            </a:r>
          </a:p>
        </p:txBody>
      </p:sp>
      <p:cxnSp>
        <p:nvCxnSpPr>
          <p:cNvPr id="138" name="cx138"/>
          <p:cNvCxnSpPr/>
          <p:nvPr/>
        </p:nvCxnSpPr>
        <p:spPr>
          <a:xfrm>
            <a:off x="1280813" y="4091723"/>
            <a:ext cx="817300" cy="0"/>
          </a:xfrm>
          <a:prstGeom prst="straightConnector1">
            <a:avLst/>
          </a:prstGeom>
          <a:ln w="12700">
            <a:solidFill>
              <a:srgbClr val="9AA3AB"/>
            </a:solidFill>
            <a:tailEnd type="triangle" w="med" len="med"/>
          </a:ln>
        </p:spPr>
      </p:cxnSp>
      <p:sp>
        <p:nvSpPr>
          <p:cNvPr id="139" name="sh139"/>
          <p:cNvSpPr/>
          <p:nvPr/>
        </p:nvSpPr>
        <p:spPr>
          <a:xfrm>
            <a:off x="2145574" y="3960005"/>
            <a:ext cx="274320" cy="274320"/>
          </a:xfrm>
          <a:prstGeom prst="ellipse">
            <a:avLst/>
          </a:prstGeom>
          <a:solidFill>
            <a:srgbClr val="EEF1F4"/>
          </a:solidFill>
          <a:ln w="9525">
            <a:solidFill>
              <a:srgbClr val="C3C9C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40" name="tx140"/>
          <p:cNvSpPr txBox="1"/>
          <p:nvPr/>
        </p:nvSpPr>
        <p:spPr>
          <a:xfrm>
            <a:off x="1871254" y="4243469"/>
            <a:ext cx="822960" cy="1463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750" b="1">
                <a:solidFill>
                  <a:srgbClr val="33383D"/>
                </a:solidFill>
                <a:latin typeface="Reddit Sans"/>
                <a:ea typeface="Reddit Sans"/>
              </a:rPr>
              <a:t>BPO</a:t>
            </a:r>
          </a:p>
        </p:txBody>
      </p:sp>
      <p:sp>
        <p:nvSpPr>
          <p:cNvPr id="141" name="tx141"/>
          <p:cNvSpPr txBox="1"/>
          <p:nvPr/>
        </p:nvSpPr>
        <p:spPr>
          <a:xfrm>
            <a:off x="1752382" y="4389773"/>
            <a:ext cx="1060704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8000"/>
              </a:lnSpc>
            </a:pPr>
            <a:r>
              <a:rPr lang="es-ES" sz="600">
                <a:solidFill>
                  <a:srgbClr val="5A6B7B"/>
                </a:solidFill>
                <a:latin typeface="Reddit Sans"/>
                <a:ea typeface="Reddit Sans"/>
              </a:rPr>
              <a:t>Enfoque en procesos</a:t>
            </a:r>
          </a:p>
        </p:txBody>
      </p:sp>
      <p:cxnSp>
        <p:nvCxnSpPr>
          <p:cNvPr id="142" name="cx142"/>
          <p:cNvCxnSpPr/>
          <p:nvPr/>
        </p:nvCxnSpPr>
        <p:spPr>
          <a:xfrm flipV="1">
            <a:off x="2461912" y="4091723"/>
            <a:ext cx="828186" cy="5442"/>
          </a:xfrm>
          <a:prstGeom prst="straightConnector1">
            <a:avLst/>
          </a:prstGeom>
          <a:ln w="12700">
            <a:solidFill>
              <a:srgbClr val="9AA3AB"/>
            </a:solidFill>
            <a:tailEnd type="triangle" w="med" len="med"/>
          </a:ln>
        </p:spPr>
      </p:cxnSp>
      <p:sp>
        <p:nvSpPr>
          <p:cNvPr id="143" name="sh143"/>
          <p:cNvSpPr/>
          <p:nvPr/>
        </p:nvSpPr>
        <p:spPr>
          <a:xfrm>
            <a:off x="3288574" y="3960005"/>
            <a:ext cx="274320" cy="274320"/>
          </a:xfrm>
          <a:prstGeom prst="ellipse">
            <a:avLst/>
          </a:prstGeom>
          <a:solidFill>
            <a:srgbClr val="EEF1F4"/>
          </a:solidFill>
          <a:ln w="9525">
            <a:solidFill>
              <a:srgbClr val="C3C9C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44" name="tx144"/>
          <p:cNvSpPr txBox="1"/>
          <p:nvPr/>
        </p:nvSpPr>
        <p:spPr>
          <a:xfrm>
            <a:off x="3014254" y="4243469"/>
            <a:ext cx="822960" cy="1463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750" b="1">
                <a:solidFill>
                  <a:srgbClr val="33383D"/>
                </a:solidFill>
                <a:latin typeface="Reddit Sans"/>
                <a:ea typeface="Reddit Sans"/>
              </a:rPr>
              <a:t>KPO</a:t>
            </a:r>
          </a:p>
        </p:txBody>
      </p:sp>
      <p:sp>
        <p:nvSpPr>
          <p:cNvPr id="145" name="tx145"/>
          <p:cNvSpPr txBox="1"/>
          <p:nvPr/>
        </p:nvSpPr>
        <p:spPr>
          <a:xfrm>
            <a:off x="2895382" y="4389773"/>
            <a:ext cx="1060704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8000"/>
              </a:lnSpc>
            </a:pPr>
            <a:r>
              <a:rPr lang="es-ES" sz="600">
                <a:solidFill>
                  <a:srgbClr val="5A6B7B"/>
                </a:solidFill>
                <a:latin typeface="Reddit Sans"/>
                <a:ea typeface="Reddit Sans"/>
              </a:rPr>
              <a:t>Enfoque en conocimiento y valor</a:t>
            </a:r>
          </a:p>
        </p:txBody>
      </p:sp>
      <p:sp>
        <p:nvSpPr>
          <p:cNvPr id="146" name="sh146"/>
          <p:cNvSpPr/>
          <p:nvPr/>
        </p:nvSpPr>
        <p:spPr>
          <a:xfrm>
            <a:off x="4353197" y="3496927"/>
            <a:ext cx="1832064" cy="971657"/>
          </a:xfrm>
          <a:prstGeom prst="roundRect">
            <a:avLst>
              <a:gd name="adj" fmla="val 8000"/>
            </a:avLst>
          </a:prstGeom>
          <a:solidFill>
            <a:srgbClr val="FBFCFD"/>
          </a:solidFill>
          <a:ln w="9525">
            <a:solidFill>
              <a:srgbClr val="DCE1E6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50" name="tx150"/>
          <p:cNvSpPr txBox="1"/>
          <p:nvPr/>
        </p:nvSpPr>
        <p:spPr>
          <a:xfrm>
            <a:off x="4934494" y="3557669"/>
            <a:ext cx="118872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lang="es-ES" sz="900" b="1">
                <a:solidFill>
                  <a:srgbClr val="1F5FA6"/>
                </a:solidFill>
                <a:latin typeface="Reddit Sans"/>
                <a:ea typeface="Reddit Sans"/>
              </a:rPr>
              <a:t>KCS + IA habilita el salto final:</a:t>
            </a:r>
          </a:p>
        </p:txBody>
      </p:sp>
      <p:sp>
        <p:nvSpPr>
          <p:cNvPr id="151" name="tx151"/>
          <p:cNvSpPr txBox="1"/>
          <p:nvPr/>
        </p:nvSpPr>
        <p:spPr>
          <a:xfrm>
            <a:off x="4477294" y="4078877"/>
            <a:ext cx="1627632" cy="41148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lang="es-ES" sz="850">
                <a:solidFill>
                  <a:srgbClr val="4E9A3B"/>
                </a:solidFill>
                <a:latin typeface="Reddit Sans"/>
                <a:ea typeface="Reddit Sans"/>
              </a:rPr>
              <a:t>de soporte operativo a experto en el negocio del cliente.</a:t>
            </a:r>
          </a:p>
        </p:txBody>
      </p:sp>
      <p:sp>
        <p:nvSpPr>
          <p:cNvPr id="152" name="sh152"/>
          <p:cNvSpPr/>
          <p:nvPr/>
        </p:nvSpPr>
        <p:spPr>
          <a:xfrm>
            <a:off x="7031300" y="2903656"/>
            <a:ext cx="1709711" cy="1668344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6AA84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54" name="tx154"/>
          <p:cNvSpPr txBox="1"/>
          <p:nvPr/>
        </p:nvSpPr>
        <p:spPr>
          <a:xfrm>
            <a:off x="7585165" y="3049526"/>
            <a:ext cx="1325881" cy="350083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950" b="1">
                <a:solidFill>
                  <a:srgbClr val="1F5FA6"/>
                </a:solidFill>
                <a:latin typeface="Reddit Sans"/>
                <a:ea typeface="Reddit Sans"/>
              </a:rPr>
              <a:t>KCS + IA</a:t>
            </a:r>
          </a:p>
        </p:txBody>
      </p:sp>
      <p:sp>
        <p:nvSpPr>
          <p:cNvPr id="155" name="tx155"/>
          <p:cNvSpPr txBox="1"/>
          <p:nvPr/>
        </p:nvSpPr>
        <p:spPr>
          <a:xfrm>
            <a:off x="7525293" y="3245250"/>
            <a:ext cx="1325881" cy="32091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50" b="1">
                <a:solidFill>
                  <a:srgbClr val="4E9A3B"/>
                </a:solidFill>
                <a:latin typeface="Reddit Sans"/>
                <a:ea typeface="Reddit Sans"/>
              </a:rPr>
              <a:t>Servicio Centrado en el conocimiento + IA</a:t>
            </a:r>
          </a:p>
        </p:txBody>
      </p:sp>
      <p:sp>
        <p:nvSpPr>
          <p:cNvPr id="156" name="sh156"/>
          <p:cNvSpPr/>
          <p:nvPr/>
        </p:nvSpPr>
        <p:spPr>
          <a:xfrm>
            <a:off x="7119474" y="3528278"/>
            <a:ext cx="122355" cy="144127"/>
          </a:xfrm>
          <a:prstGeom prst="ellipse">
            <a:avLst/>
          </a:prstGeom>
          <a:solidFill>
            <a:srgbClr val="6AA84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57" name="chk157"/>
          <p:cNvSpPr/>
          <p:nvPr/>
        </p:nvSpPr>
        <p:spPr>
          <a:xfrm>
            <a:off x="7142334" y="3578352"/>
            <a:ext cx="92964" cy="40278"/>
          </a:xfrm>
          <a:custGeom>
            <a:avLst/>
            <a:gdLst/>
            <a:ahLst/>
            <a:cxnLst/>
            <a:rect l="0" t="0" r="0" b="0"/>
            <a:pathLst>
              <a:path w="100" h="100">
                <a:moveTo>
                  <a:pt x="10" y="55"/>
                </a:moveTo>
                <a:lnTo>
                  <a:pt x="40" y="90"/>
                </a:lnTo>
                <a:lnTo>
                  <a:pt x="95" y="15"/>
                </a:lnTo>
              </a:path>
            </a:pathLst>
          </a:custGeom>
          <a:noFill/>
          <a:ln w="12700" cap="rnd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58" name="tx158"/>
          <p:cNvSpPr txBox="1"/>
          <p:nvPr/>
        </p:nvSpPr>
        <p:spPr>
          <a:xfrm>
            <a:off x="7289509" y="3533287"/>
            <a:ext cx="1478498" cy="241226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3A4046"/>
                </a:solidFill>
                <a:latin typeface="Reddit Sans"/>
                <a:ea typeface="Reddit Sans"/>
              </a:rPr>
              <a:t>Entiende procesos y contexto del negocio</a:t>
            </a:r>
          </a:p>
        </p:txBody>
      </p:sp>
      <p:sp>
        <p:nvSpPr>
          <p:cNvPr id="159" name="sh159"/>
          <p:cNvSpPr/>
          <p:nvPr/>
        </p:nvSpPr>
        <p:spPr>
          <a:xfrm>
            <a:off x="7124917" y="3795196"/>
            <a:ext cx="122355" cy="144127"/>
          </a:xfrm>
          <a:prstGeom prst="ellipse">
            <a:avLst/>
          </a:prstGeom>
          <a:solidFill>
            <a:srgbClr val="6AA84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60" name="chk160"/>
          <p:cNvSpPr/>
          <p:nvPr/>
        </p:nvSpPr>
        <p:spPr>
          <a:xfrm>
            <a:off x="7147777" y="3845270"/>
            <a:ext cx="92964" cy="40278"/>
          </a:xfrm>
          <a:custGeom>
            <a:avLst/>
            <a:gdLst/>
            <a:ahLst/>
            <a:cxnLst/>
            <a:rect l="0" t="0" r="0" b="0"/>
            <a:pathLst>
              <a:path w="100" h="100">
                <a:moveTo>
                  <a:pt x="10" y="55"/>
                </a:moveTo>
                <a:lnTo>
                  <a:pt x="40" y="90"/>
                </a:lnTo>
                <a:lnTo>
                  <a:pt x="95" y="15"/>
                </a:lnTo>
              </a:path>
            </a:pathLst>
          </a:custGeom>
          <a:noFill/>
          <a:ln w="12700" cap="rnd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61" name="tx161"/>
          <p:cNvSpPr txBox="1"/>
          <p:nvPr/>
        </p:nvSpPr>
        <p:spPr>
          <a:xfrm>
            <a:off x="7289509" y="3811090"/>
            <a:ext cx="1478498" cy="159583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3A4046"/>
                </a:solidFill>
                <a:latin typeface="Reddit Sans"/>
                <a:ea typeface="Reddit Sans"/>
              </a:rPr>
              <a:t>Aprende continuamente</a:t>
            </a:r>
          </a:p>
        </p:txBody>
      </p:sp>
      <p:sp>
        <p:nvSpPr>
          <p:cNvPr id="164" name="tx164"/>
          <p:cNvSpPr txBox="1"/>
          <p:nvPr/>
        </p:nvSpPr>
        <p:spPr>
          <a:xfrm>
            <a:off x="7289509" y="4023580"/>
            <a:ext cx="1478498" cy="126926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3A4046"/>
                </a:solidFill>
                <a:latin typeface="Reddit Sans"/>
                <a:ea typeface="Reddit Sans"/>
              </a:rPr>
              <a:t>Reduce dependencia de expertos</a:t>
            </a:r>
          </a:p>
        </p:txBody>
      </p:sp>
      <p:sp>
        <p:nvSpPr>
          <p:cNvPr id="167" name="tx167"/>
          <p:cNvSpPr txBox="1"/>
          <p:nvPr/>
        </p:nvSpPr>
        <p:spPr>
          <a:xfrm>
            <a:off x="7289509" y="4257839"/>
            <a:ext cx="1478498" cy="214012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3A4046"/>
                </a:solidFill>
                <a:latin typeface="Reddit Sans"/>
                <a:ea typeface="Reddit Sans"/>
              </a:rPr>
              <a:t>Genera insights que impulsan decisiones del negocio</a:t>
            </a:r>
          </a:p>
        </p:txBody>
      </p:sp>
      <p:sp>
        <p:nvSpPr>
          <p:cNvPr id="19" name="sh156">
            <a:extLst>
              <a:ext uri="{FF2B5EF4-FFF2-40B4-BE49-F238E27FC236}">
                <a16:creationId xmlns:a16="http://schemas.microsoft.com/office/drawing/2014/main" id="{67FC85B7-0471-BD57-0EEA-926B6D7E11AF}"/>
              </a:ext>
            </a:extLst>
          </p:cNvPr>
          <p:cNvSpPr/>
          <p:nvPr/>
        </p:nvSpPr>
        <p:spPr>
          <a:xfrm>
            <a:off x="7130360" y="4018135"/>
            <a:ext cx="122355" cy="144127"/>
          </a:xfrm>
          <a:prstGeom prst="ellipse">
            <a:avLst/>
          </a:prstGeom>
          <a:solidFill>
            <a:srgbClr val="6AA84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8" name="chk157">
            <a:extLst>
              <a:ext uri="{FF2B5EF4-FFF2-40B4-BE49-F238E27FC236}">
                <a16:creationId xmlns:a16="http://schemas.microsoft.com/office/drawing/2014/main" id="{CA5CD075-26E9-7525-F97B-27B4E6CC5599}"/>
              </a:ext>
            </a:extLst>
          </p:cNvPr>
          <p:cNvSpPr/>
          <p:nvPr/>
        </p:nvSpPr>
        <p:spPr>
          <a:xfrm>
            <a:off x="7153220" y="4068209"/>
            <a:ext cx="92964" cy="40278"/>
          </a:xfrm>
          <a:custGeom>
            <a:avLst/>
            <a:gdLst/>
            <a:ahLst/>
            <a:cxnLst/>
            <a:rect l="0" t="0" r="0" b="0"/>
            <a:pathLst>
              <a:path w="100" h="100">
                <a:moveTo>
                  <a:pt x="10" y="55"/>
                </a:moveTo>
                <a:lnTo>
                  <a:pt x="40" y="90"/>
                </a:lnTo>
                <a:lnTo>
                  <a:pt x="95" y="15"/>
                </a:lnTo>
              </a:path>
            </a:pathLst>
          </a:custGeom>
          <a:noFill/>
          <a:ln w="12700" cap="rnd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9" name="sh156">
            <a:extLst>
              <a:ext uri="{FF2B5EF4-FFF2-40B4-BE49-F238E27FC236}">
                <a16:creationId xmlns:a16="http://schemas.microsoft.com/office/drawing/2014/main" id="{6878BAD3-69E3-D4B4-B264-E00658969181}"/>
              </a:ext>
            </a:extLst>
          </p:cNvPr>
          <p:cNvSpPr/>
          <p:nvPr/>
        </p:nvSpPr>
        <p:spPr>
          <a:xfrm>
            <a:off x="7135802" y="4263063"/>
            <a:ext cx="122355" cy="144127"/>
          </a:xfrm>
          <a:prstGeom prst="ellipse">
            <a:avLst/>
          </a:prstGeom>
          <a:solidFill>
            <a:srgbClr val="6AA84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2" name="chk157">
            <a:extLst>
              <a:ext uri="{FF2B5EF4-FFF2-40B4-BE49-F238E27FC236}">
                <a16:creationId xmlns:a16="http://schemas.microsoft.com/office/drawing/2014/main" id="{5D929F3B-7B25-48A0-1401-0F9689F8E439}"/>
              </a:ext>
            </a:extLst>
          </p:cNvPr>
          <p:cNvSpPr/>
          <p:nvPr/>
        </p:nvSpPr>
        <p:spPr>
          <a:xfrm>
            <a:off x="7158662" y="4313137"/>
            <a:ext cx="92964" cy="40278"/>
          </a:xfrm>
          <a:custGeom>
            <a:avLst/>
            <a:gdLst/>
            <a:ahLst/>
            <a:cxnLst/>
            <a:rect l="0" t="0" r="0" b="0"/>
            <a:pathLst>
              <a:path w="100" h="100">
                <a:moveTo>
                  <a:pt x="10" y="55"/>
                </a:moveTo>
                <a:lnTo>
                  <a:pt x="40" y="90"/>
                </a:lnTo>
                <a:lnTo>
                  <a:pt x="95" y="15"/>
                </a:lnTo>
              </a:path>
            </a:pathLst>
          </a:custGeom>
          <a:noFill/>
          <a:ln w="12700" cap="rnd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C56E2FE0-0F1A-F310-964C-B93592B0A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172" y="200392"/>
            <a:ext cx="4199614" cy="224358"/>
          </a:xfrm>
        </p:spPr>
        <p:txBody>
          <a:bodyPr>
            <a:normAutofit fontScale="90000"/>
          </a:bodyPr>
          <a:lstStyle/>
          <a:p>
            <a:r>
              <a:rPr lang="es-ES"/>
              <a:t>Evolución de las Mesas de Servicio</a:t>
            </a:r>
          </a:p>
        </p:txBody>
      </p:sp>
      <p:pic>
        <p:nvPicPr>
          <p:cNvPr id="36" name="Gráfico 35" descr="Cerebro izquierdo y derecho contorno">
            <a:extLst>
              <a:ext uri="{FF2B5EF4-FFF2-40B4-BE49-F238E27FC236}">
                <a16:creationId xmlns:a16="http://schemas.microsoft.com/office/drawing/2014/main" id="{9532999D-ADD0-70CE-B18B-F8759E9FE0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45235" y="808264"/>
            <a:ext cx="391887" cy="391887"/>
          </a:xfrm>
          <a:prstGeom prst="rect">
            <a:avLst/>
          </a:prstGeom>
        </p:spPr>
      </p:pic>
      <p:pic>
        <p:nvPicPr>
          <p:cNvPr id="37" name="Gráfico 36" descr="Cerebro izquierdo y derecho contorno">
            <a:extLst>
              <a:ext uri="{FF2B5EF4-FFF2-40B4-BE49-F238E27FC236}">
                <a16:creationId xmlns:a16="http://schemas.microsoft.com/office/drawing/2014/main" id="{111C11F9-F362-DA76-330D-395349C0C8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94763" y="3007178"/>
            <a:ext cx="391887" cy="391887"/>
          </a:xfrm>
          <a:prstGeom prst="rect">
            <a:avLst/>
          </a:prstGeom>
        </p:spPr>
      </p:pic>
      <p:pic>
        <p:nvPicPr>
          <p:cNvPr id="38" name="Gráfico 37" descr="Cerebro izquierdo y derecho contorno">
            <a:extLst>
              <a:ext uri="{FF2B5EF4-FFF2-40B4-BE49-F238E27FC236}">
                <a16:creationId xmlns:a16="http://schemas.microsoft.com/office/drawing/2014/main" id="{BDD95D7E-1F97-6F11-FEC3-910C232387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82042" y="3959679"/>
            <a:ext cx="266701" cy="266701"/>
          </a:xfrm>
          <a:prstGeom prst="rect">
            <a:avLst/>
          </a:prstGeom>
        </p:spPr>
      </p:pic>
      <p:sp>
        <p:nvSpPr>
          <p:cNvPr id="42" name="sh105">
            <a:extLst>
              <a:ext uri="{FF2B5EF4-FFF2-40B4-BE49-F238E27FC236}">
                <a16:creationId xmlns:a16="http://schemas.microsoft.com/office/drawing/2014/main" id="{F37F5088-1162-15C7-BE90-D6E46E9C99A9}"/>
              </a:ext>
            </a:extLst>
          </p:cNvPr>
          <p:cNvSpPr/>
          <p:nvPr/>
        </p:nvSpPr>
        <p:spPr>
          <a:xfrm>
            <a:off x="1058090" y="3998541"/>
            <a:ext cx="160020" cy="47898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43" name="sh106">
            <a:extLst>
              <a:ext uri="{FF2B5EF4-FFF2-40B4-BE49-F238E27FC236}">
                <a16:creationId xmlns:a16="http://schemas.microsoft.com/office/drawing/2014/main" id="{9ED5DA7E-48A9-2DD6-2766-B56A15E5B616}"/>
              </a:ext>
            </a:extLst>
          </p:cNvPr>
          <p:cNvSpPr/>
          <p:nvPr/>
        </p:nvSpPr>
        <p:spPr>
          <a:xfrm>
            <a:off x="1058090" y="4059283"/>
            <a:ext cx="160020" cy="42455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44" name="sh107">
            <a:extLst>
              <a:ext uri="{FF2B5EF4-FFF2-40B4-BE49-F238E27FC236}">
                <a16:creationId xmlns:a16="http://schemas.microsoft.com/office/drawing/2014/main" id="{E4C56738-86C2-D18A-E718-4C02C6A6A7F2}"/>
              </a:ext>
            </a:extLst>
          </p:cNvPr>
          <p:cNvSpPr/>
          <p:nvPr/>
        </p:nvSpPr>
        <p:spPr>
          <a:xfrm>
            <a:off x="1058090" y="4120025"/>
            <a:ext cx="160020" cy="42455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45" name="sh111">
            <a:extLst>
              <a:ext uri="{FF2B5EF4-FFF2-40B4-BE49-F238E27FC236}">
                <a16:creationId xmlns:a16="http://schemas.microsoft.com/office/drawing/2014/main" id="{206352A0-CD8E-6A64-6B7A-DA9F38054DD7}"/>
              </a:ext>
            </a:extLst>
          </p:cNvPr>
          <p:cNvSpPr/>
          <p:nvPr/>
        </p:nvSpPr>
        <p:spPr>
          <a:xfrm>
            <a:off x="2193471" y="3996580"/>
            <a:ext cx="191154" cy="212926"/>
          </a:xfrm>
          <a:prstGeom prst="gear6">
            <a:avLst>
              <a:gd name="adj1" fmla="val 15000"/>
              <a:gd name="adj2" fmla="val 3000"/>
            </a:avLst>
          </a:prstGeom>
          <a:noFill/>
          <a:ln w="9525">
            <a:solidFill>
              <a:srgbClr val="2E7E85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pic>
        <p:nvPicPr>
          <p:cNvPr id="47" name="Gráfico 46" descr="Diana con relleno sólido">
            <a:extLst>
              <a:ext uri="{FF2B5EF4-FFF2-40B4-BE49-F238E27FC236}">
                <a16:creationId xmlns:a16="http://schemas.microsoft.com/office/drawing/2014/main" id="{994BC6AB-3A9E-A40D-1607-2813104FB1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42065" y="3524248"/>
            <a:ext cx="342902" cy="342902"/>
          </a:xfrm>
          <a:prstGeom prst="rect">
            <a:avLst/>
          </a:prstGeom>
        </p:spPr>
      </p:pic>
      <p:grpSp>
        <p:nvGrpSpPr>
          <p:cNvPr id="50" name="Grupo 49">
            <a:extLst>
              <a:ext uri="{FF2B5EF4-FFF2-40B4-BE49-F238E27FC236}">
                <a16:creationId xmlns:a16="http://schemas.microsoft.com/office/drawing/2014/main" id="{55C920BB-F812-1854-93FD-AEB99B45AEE6}"/>
              </a:ext>
            </a:extLst>
          </p:cNvPr>
          <p:cNvGrpSpPr/>
          <p:nvPr/>
        </p:nvGrpSpPr>
        <p:grpSpPr>
          <a:xfrm>
            <a:off x="882799" y="3528677"/>
            <a:ext cx="337458" cy="315688"/>
            <a:chOff x="180670" y="2821106"/>
            <a:chExt cx="435429" cy="408215"/>
          </a:xfrm>
        </p:grpSpPr>
        <p:sp>
          <p:nvSpPr>
            <p:cNvPr id="49" name="Elipse 48">
              <a:extLst>
                <a:ext uri="{FF2B5EF4-FFF2-40B4-BE49-F238E27FC236}">
                  <a16:creationId xmlns:a16="http://schemas.microsoft.com/office/drawing/2014/main" id="{06F0B3BA-0715-48B0-715F-7F094B2C4C98}"/>
                </a:ext>
              </a:extLst>
            </p:cNvPr>
            <p:cNvSpPr/>
            <p:nvPr/>
          </p:nvSpPr>
          <p:spPr>
            <a:xfrm>
              <a:off x="180670" y="2821106"/>
              <a:ext cx="435429" cy="408215"/>
            </a:xfrm>
            <a:prstGeom prst="ellipse">
              <a:avLst/>
            </a:prstGeom>
            <a:noFill/>
            <a:ln w="127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pic>
          <p:nvPicPr>
            <p:cNvPr id="48" name="Gráfico 47" descr="Usuarios contorno">
              <a:extLst>
                <a:ext uri="{FF2B5EF4-FFF2-40B4-BE49-F238E27FC236}">
                  <a16:creationId xmlns:a16="http://schemas.microsoft.com/office/drawing/2014/main" id="{5B3FD962-1B8A-5DFC-1929-1EFA44420C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39487" y="2838450"/>
              <a:ext cx="321132" cy="3211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70906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ADD985-EB77-52CC-5FEE-24D98A48B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700">
                <a:solidFill>
                  <a:srgbClr val="0C2362"/>
                </a:solidFill>
                <a:latin typeface="Arial"/>
                <a:cs typeface="Arial"/>
              </a:rPr>
              <a:t>Mesa </a:t>
            </a:r>
            <a:r>
              <a:rPr lang="en-US" sz="1700" err="1">
                <a:solidFill>
                  <a:srgbClr val="0C2362"/>
                </a:solidFill>
                <a:latin typeface="Arial"/>
                <a:cs typeface="Arial"/>
              </a:rPr>
              <a:t>tradicional</a:t>
            </a:r>
            <a:r>
              <a:rPr lang="en-US" sz="1700">
                <a:solidFill>
                  <a:srgbClr val="0C2362"/>
                </a:solidFill>
                <a:latin typeface="Arial"/>
                <a:cs typeface="Arial"/>
              </a:rPr>
              <a:t> vs. Mesa de Servicio </a:t>
            </a:r>
            <a:r>
              <a:rPr lang="es-ES" sz="1700">
                <a:solidFill>
                  <a:srgbClr val="0C2362"/>
                </a:solidFill>
                <a:latin typeface="Arial"/>
                <a:cs typeface="Arial"/>
              </a:rPr>
              <a:t>de Nueva Generación (Next Gen)</a:t>
            </a:r>
            <a:endParaRPr lang="en-US" sz="1700" b="0">
              <a:solidFill>
                <a:srgbClr val="000000"/>
              </a:solidFill>
              <a:latin typeface="Arial"/>
              <a:cs typeface="Arial"/>
            </a:endParaRPr>
          </a:p>
          <a:p>
            <a:endParaRPr lang="en-US" sz="140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4A8EDFEC-ABB1-339E-CF7F-12CBE1723304}"/>
              </a:ext>
            </a:extLst>
          </p:cNvPr>
          <p:cNvSpPr/>
          <p:nvPr/>
        </p:nvSpPr>
        <p:spPr>
          <a:xfrm>
            <a:off x="320040" y="548640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defTabSz="685800" fontAlgn="ctr">
              <a:lnSpc>
                <a:spcPts val="1693"/>
              </a:lnSpc>
              <a:spcBef>
                <a:spcPts val="650"/>
              </a:spcBef>
              <a:buFont typeface="Arial"/>
              <a:buNone/>
            </a:pP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6 Dimensiones de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diferenciación</a:t>
            </a:r>
            <a:endParaRPr lang="en-US" sz="1200" spc="-25">
              <a:solidFill>
                <a:srgbClr val="595959"/>
              </a:solidFill>
              <a:latin typeface="Reddit Sans"/>
              <a:ea typeface="Reddit Sans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3109FC51-DF2B-0E7E-4D02-78993490CFFB}"/>
              </a:ext>
            </a:extLst>
          </p:cNvPr>
          <p:cNvSpPr/>
          <p:nvPr/>
        </p:nvSpPr>
        <p:spPr>
          <a:xfrm>
            <a:off x="398760" y="947604"/>
            <a:ext cx="8346479" cy="347472"/>
          </a:xfrm>
          <a:prstGeom prst="rect">
            <a:avLst/>
          </a:prstGeom>
          <a:solidFill>
            <a:srgbClr val="0D1B5E"/>
          </a:solidFill>
          <a:ln w="12700">
            <a:solidFill>
              <a:srgbClr val="0D1B5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43585282-FF2C-8FA3-AC54-194A315BD2F9}"/>
              </a:ext>
            </a:extLst>
          </p:cNvPr>
          <p:cNvSpPr/>
          <p:nvPr/>
        </p:nvSpPr>
        <p:spPr>
          <a:xfrm>
            <a:off x="432642" y="965892"/>
            <a:ext cx="224367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Dimension</a:t>
            </a:r>
            <a:endParaRPr lang="en-US" sz="11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E094428-9C97-2FEC-65D9-3C6DEDA633A8}"/>
              </a:ext>
            </a:extLst>
          </p:cNvPr>
          <p:cNvSpPr/>
          <p:nvPr/>
        </p:nvSpPr>
        <p:spPr>
          <a:xfrm>
            <a:off x="2724990" y="965892"/>
            <a:ext cx="29167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B8B8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Mesa Tradicional (N1-N2)</a:t>
            </a:r>
            <a:endParaRPr lang="en-US" sz="11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04B5BF16-3054-7DF5-D8B3-DB1940518EDF}"/>
              </a:ext>
            </a:extLst>
          </p:cNvPr>
          <p:cNvSpPr/>
          <p:nvPr/>
        </p:nvSpPr>
        <p:spPr>
          <a:xfrm>
            <a:off x="5716348" y="965892"/>
            <a:ext cx="3051401" cy="31089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100" b="1">
                <a:solidFill>
                  <a:srgbClr val="B8FFD8"/>
                </a:solidFill>
                <a:latin typeface="Reddit Sans"/>
                <a:ea typeface="Reddit Sans"/>
                <a:cs typeface="Calibri"/>
              </a:rPr>
              <a:t>Mesa Nueva Generación (N3-N5)</a:t>
            </a:r>
            <a:endParaRPr lang="en-US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9" name="Shape 8">
            <a:extLst>
              <a:ext uri="{FF2B5EF4-FFF2-40B4-BE49-F238E27FC236}">
                <a16:creationId xmlns:a16="http://schemas.microsoft.com/office/drawing/2014/main" id="{89F1B814-0040-BE23-53BB-35B3EF14F7C6}"/>
              </a:ext>
            </a:extLst>
          </p:cNvPr>
          <p:cNvSpPr/>
          <p:nvPr/>
        </p:nvSpPr>
        <p:spPr>
          <a:xfrm>
            <a:off x="398760" y="1313364"/>
            <a:ext cx="8346479" cy="489990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214E09C8-14C8-3692-5B7B-E891CA35EC5B}"/>
              </a:ext>
            </a:extLst>
          </p:cNvPr>
          <p:cNvSpPr/>
          <p:nvPr/>
        </p:nvSpPr>
        <p:spPr>
          <a:xfrm>
            <a:off x="432218" y="1368228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Modelo </a:t>
            </a:r>
            <a:r>
              <a:rPr lang="es-CO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operativo</a:t>
            </a:r>
            <a:endParaRPr lang="es-CO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BAC25C4D-EF1C-2646-6721-47B11C137BD0}"/>
              </a:ext>
            </a:extLst>
          </p:cNvPr>
          <p:cNvSpPr/>
          <p:nvPr/>
        </p:nvSpPr>
        <p:spPr>
          <a:xfrm>
            <a:off x="2680546" y="1496244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3252FAD6-1D31-B738-BF93-CD6665A6B594}"/>
              </a:ext>
            </a:extLst>
          </p:cNvPr>
          <p:cNvSpPr/>
          <p:nvPr/>
        </p:nvSpPr>
        <p:spPr>
          <a:xfrm>
            <a:off x="2896610" y="1368228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Reactivo · escalado manual N1/N2/N3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AB1CEBCD-7A6F-0063-BD97-9EB82C4C527C}"/>
              </a:ext>
            </a:extLst>
          </p:cNvPr>
          <p:cNvSpPr/>
          <p:nvPr/>
        </p:nvSpPr>
        <p:spPr>
          <a:xfrm>
            <a:off x="5688922" y="1496244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69ACAE32-59DB-CC33-29DA-C8E1117C2B0F}"/>
              </a:ext>
            </a:extLst>
          </p:cNvPr>
          <p:cNvSpPr/>
          <p:nvPr/>
        </p:nvSpPr>
        <p:spPr>
          <a:xfrm>
            <a:off x="5906171" y="1368228"/>
            <a:ext cx="2818058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N0-N5 · shift-left inteligente · escalado automatico IA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5" name="Shape 14">
            <a:extLst>
              <a:ext uri="{FF2B5EF4-FFF2-40B4-BE49-F238E27FC236}">
                <a16:creationId xmlns:a16="http://schemas.microsoft.com/office/drawing/2014/main" id="{96C82E92-7B6C-1342-D2F9-CFEDAE8EDC5F}"/>
              </a:ext>
            </a:extLst>
          </p:cNvPr>
          <p:cNvSpPr/>
          <p:nvPr/>
        </p:nvSpPr>
        <p:spPr>
          <a:xfrm>
            <a:off x="398760" y="1880292"/>
            <a:ext cx="8346479" cy="489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EBEF1F1E-81E8-0B80-0E39-669A46668C89}"/>
              </a:ext>
            </a:extLst>
          </p:cNvPr>
          <p:cNvSpPr/>
          <p:nvPr/>
        </p:nvSpPr>
        <p:spPr>
          <a:xfrm>
            <a:off x="432218" y="1935156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CO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Inteligencia</a:t>
            </a:r>
            <a:endParaRPr lang="es-CO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56C96019-A556-2BE6-774A-6511D9E21F67}"/>
              </a:ext>
            </a:extLst>
          </p:cNvPr>
          <p:cNvSpPr/>
          <p:nvPr/>
        </p:nvSpPr>
        <p:spPr>
          <a:xfrm>
            <a:off x="2680546" y="2063172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C3CE596E-6836-5764-442A-4C80D163FDCA}"/>
              </a:ext>
            </a:extLst>
          </p:cNvPr>
          <p:cNvSpPr/>
          <p:nvPr/>
        </p:nvSpPr>
        <p:spPr>
          <a:xfrm>
            <a:off x="2896610" y="1935156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Scripts de troubleshooting · FAQs estaticas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9" name="Shape 18">
            <a:extLst>
              <a:ext uri="{FF2B5EF4-FFF2-40B4-BE49-F238E27FC236}">
                <a16:creationId xmlns:a16="http://schemas.microsoft.com/office/drawing/2014/main" id="{485D8DC4-88DC-7170-39D7-4E0709A595CE}"/>
              </a:ext>
            </a:extLst>
          </p:cNvPr>
          <p:cNvSpPr/>
          <p:nvPr/>
        </p:nvSpPr>
        <p:spPr>
          <a:xfrm>
            <a:off x="5688922" y="2063172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19">
            <a:extLst>
              <a:ext uri="{FF2B5EF4-FFF2-40B4-BE49-F238E27FC236}">
                <a16:creationId xmlns:a16="http://schemas.microsoft.com/office/drawing/2014/main" id="{B93BAFCB-8B94-5B1F-5A88-353060832C48}"/>
              </a:ext>
            </a:extLst>
          </p:cNvPr>
          <p:cNvSpPr/>
          <p:nvPr/>
        </p:nvSpPr>
        <p:spPr>
          <a:xfrm>
            <a:off x="5906171" y="1935156"/>
            <a:ext cx="2839830" cy="43009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Virtual agent GenAI ·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agentes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autonomos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· </a:t>
            </a:r>
            <a:r>
              <a:rPr lang="en-US" sz="1000" b="1" u="sng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KCS 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(Servicio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Centrado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en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el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conocimiento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)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+IA</a:t>
            </a:r>
            <a:endParaRPr lang="en-US" sz="1000">
              <a:latin typeface="Reddit Sans"/>
              <a:ea typeface="Reddit Sans"/>
              <a:cs typeface="Calibri"/>
            </a:endParaRPr>
          </a:p>
        </p:txBody>
      </p:sp>
      <p:sp>
        <p:nvSpPr>
          <p:cNvPr id="21" name="Shape 20">
            <a:extLst>
              <a:ext uri="{FF2B5EF4-FFF2-40B4-BE49-F238E27FC236}">
                <a16:creationId xmlns:a16="http://schemas.microsoft.com/office/drawing/2014/main" id="{72C76E2F-B967-F164-6ED9-76FA39CDCE0B}"/>
              </a:ext>
            </a:extLst>
          </p:cNvPr>
          <p:cNvSpPr/>
          <p:nvPr/>
        </p:nvSpPr>
        <p:spPr>
          <a:xfrm>
            <a:off x="398760" y="2447220"/>
            <a:ext cx="8346479" cy="489990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 21">
            <a:extLst>
              <a:ext uri="{FF2B5EF4-FFF2-40B4-BE49-F238E27FC236}">
                <a16:creationId xmlns:a16="http://schemas.microsoft.com/office/drawing/2014/main" id="{76A5ED8D-F317-D382-F720-AD103799E8C2}"/>
              </a:ext>
            </a:extLst>
          </p:cNvPr>
          <p:cNvSpPr/>
          <p:nvPr/>
        </p:nvSpPr>
        <p:spPr>
          <a:xfrm>
            <a:off x="432218" y="2502084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Automatización</a:t>
            </a:r>
            <a:endParaRPr lang="en-US" sz="1100" err="1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3" name="Shape 22">
            <a:extLst>
              <a:ext uri="{FF2B5EF4-FFF2-40B4-BE49-F238E27FC236}">
                <a16:creationId xmlns:a16="http://schemas.microsoft.com/office/drawing/2014/main" id="{A38DA586-75FF-0B0C-D26D-35C038E1ECB0}"/>
              </a:ext>
            </a:extLst>
          </p:cNvPr>
          <p:cNvSpPr/>
          <p:nvPr/>
        </p:nvSpPr>
        <p:spPr>
          <a:xfrm>
            <a:off x="2680546" y="2630100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3">
            <a:extLst>
              <a:ext uri="{FF2B5EF4-FFF2-40B4-BE49-F238E27FC236}">
                <a16:creationId xmlns:a16="http://schemas.microsoft.com/office/drawing/2014/main" id="{4B2DA6CB-64A1-A8AD-18F5-FC1A041368B1}"/>
              </a:ext>
            </a:extLst>
          </p:cNvPr>
          <p:cNvSpPr/>
          <p:nvPr/>
        </p:nvSpPr>
        <p:spPr>
          <a:xfrm>
            <a:off x="2896610" y="2502084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Workflows basicos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5" name="Shape 24">
            <a:extLst>
              <a:ext uri="{FF2B5EF4-FFF2-40B4-BE49-F238E27FC236}">
                <a16:creationId xmlns:a16="http://schemas.microsoft.com/office/drawing/2014/main" id="{62EC9F9F-4C5E-A75F-3945-D5C09A985936}"/>
              </a:ext>
            </a:extLst>
          </p:cNvPr>
          <p:cNvSpPr/>
          <p:nvPr/>
        </p:nvSpPr>
        <p:spPr>
          <a:xfrm>
            <a:off x="5688922" y="2630100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25">
            <a:extLst>
              <a:ext uri="{FF2B5EF4-FFF2-40B4-BE49-F238E27FC236}">
                <a16:creationId xmlns:a16="http://schemas.microsoft.com/office/drawing/2014/main" id="{414BD5C7-EBD6-8EA4-0C44-3D37497CE43A}"/>
              </a:ext>
            </a:extLst>
          </p:cNvPr>
          <p:cNvSpPr/>
          <p:nvPr/>
        </p:nvSpPr>
        <p:spPr>
          <a:xfrm>
            <a:off x="5906171" y="2502084"/>
            <a:ext cx="2818058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Self-healing · auto-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remediacion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· &gt;40%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defleccion</a:t>
            </a:r>
            <a:endParaRPr lang="en-US" sz="1000">
              <a:latin typeface="Reddit Sans"/>
              <a:ea typeface="Reddit Sans"/>
              <a:cs typeface="Calibri"/>
            </a:endParaRPr>
          </a:p>
        </p:txBody>
      </p:sp>
      <p:sp>
        <p:nvSpPr>
          <p:cNvPr id="27" name="Shape 26">
            <a:extLst>
              <a:ext uri="{FF2B5EF4-FFF2-40B4-BE49-F238E27FC236}">
                <a16:creationId xmlns:a16="http://schemas.microsoft.com/office/drawing/2014/main" id="{CCC4E44B-ABFE-9A6D-56B0-BD4DDDB91B8D}"/>
              </a:ext>
            </a:extLst>
          </p:cNvPr>
          <p:cNvSpPr/>
          <p:nvPr/>
        </p:nvSpPr>
        <p:spPr>
          <a:xfrm>
            <a:off x="398760" y="3014148"/>
            <a:ext cx="8346479" cy="489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7">
            <a:extLst>
              <a:ext uri="{FF2B5EF4-FFF2-40B4-BE49-F238E27FC236}">
                <a16:creationId xmlns:a16="http://schemas.microsoft.com/office/drawing/2014/main" id="{CFE0FC96-7D40-0AEA-4705-1D8EEFA26D26}"/>
              </a:ext>
            </a:extLst>
          </p:cNvPr>
          <p:cNvSpPr/>
          <p:nvPr/>
        </p:nvSpPr>
        <p:spPr>
          <a:xfrm>
            <a:off x="432218" y="3069012"/>
            <a:ext cx="2198804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Observabilidad</a:t>
            </a:r>
            <a:endParaRPr lang="en-US" sz="11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9" name="Shape 28">
            <a:extLst>
              <a:ext uri="{FF2B5EF4-FFF2-40B4-BE49-F238E27FC236}">
                <a16:creationId xmlns:a16="http://schemas.microsoft.com/office/drawing/2014/main" id="{8E643936-ADB4-18AC-DC7D-F6499124833C}"/>
              </a:ext>
            </a:extLst>
          </p:cNvPr>
          <p:cNvSpPr/>
          <p:nvPr/>
        </p:nvSpPr>
        <p:spPr>
          <a:xfrm>
            <a:off x="2680546" y="3197028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 29">
            <a:extLst>
              <a:ext uri="{FF2B5EF4-FFF2-40B4-BE49-F238E27FC236}">
                <a16:creationId xmlns:a16="http://schemas.microsoft.com/office/drawing/2014/main" id="{725C4751-01D4-056A-A00A-938223D13D49}"/>
              </a:ext>
            </a:extLst>
          </p:cNvPr>
          <p:cNvSpPr/>
          <p:nvPr/>
        </p:nvSpPr>
        <p:spPr>
          <a:xfrm>
            <a:off x="2896610" y="3069012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Monitoreo reactivo de alertas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1" name="Shape 30">
            <a:extLst>
              <a:ext uri="{FF2B5EF4-FFF2-40B4-BE49-F238E27FC236}">
                <a16:creationId xmlns:a16="http://schemas.microsoft.com/office/drawing/2014/main" id="{13393221-1582-2197-8E3A-0A0C7C255255}"/>
              </a:ext>
            </a:extLst>
          </p:cNvPr>
          <p:cNvSpPr/>
          <p:nvPr/>
        </p:nvSpPr>
        <p:spPr>
          <a:xfrm>
            <a:off x="5688922" y="3197028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1">
            <a:extLst>
              <a:ext uri="{FF2B5EF4-FFF2-40B4-BE49-F238E27FC236}">
                <a16:creationId xmlns:a16="http://schemas.microsoft.com/office/drawing/2014/main" id="{5ED97B59-AC99-C7E3-7A0A-21894D60C312}"/>
              </a:ext>
            </a:extLst>
          </p:cNvPr>
          <p:cNvSpPr/>
          <p:nvPr/>
        </p:nvSpPr>
        <p:spPr>
          <a:xfrm>
            <a:off x="5906171" y="3069012"/>
            <a:ext cx="2818058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AIOps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predictivo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/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simulación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/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optimización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 ·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prevencion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P1 ·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correlacion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causa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raiz</a:t>
            </a:r>
            <a:endParaRPr lang="en-US" sz="1000" err="1">
              <a:latin typeface="Reddit Sans"/>
              <a:ea typeface="Reddit Sans"/>
              <a:cs typeface="Calibri"/>
            </a:endParaRPr>
          </a:p>
        </p:txBody>
      </p:sp>
      <p:sp>
        <p:nvSpPr>
          <p:cNvPr id="33" name="Shape 32">
            <a:extLst>
              <a:ext uri="{FF2B5EF4-FFF2-40B4-BE49-F238E27FC236}">
                <a16:creationId xmlns:a16="http://schemas.microsoft.com/office/drawing/2014/main" id="{958AF314-F533-6648-AB95-D2DA83323FA1}"/>
              </a:ext>
            </a:extLst>
          </p:cNvPr>
          <p:cNvSpPr/>
          <p:nvPr/>
        </p:nvSpPr>
        <p:spPr>
          <a:xfrm>
            <a:off x="398760" y="3581076"/>
            <a:ext cx="8346479" cy="489990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3">
            <a:extLst>
              <a:ext uri="{FF2B5EF4-FFF2-40B4-BE49-F238E27FC236}">
                <a16:creationId xmlns:a16="http://schemas.microsoft.com/office/drawing/2014/main" id="{EDC48C0F-2569-9193-E804-DDFAC21A9BE5}"/>
              </a:ext>
            </a:extLst>
          </p:cNvPr>
          <p:cNvSpPr/>
          <p:nvPr/>
        </p:nvSpPr>
        <p:spPr>
          <a:xfrm>
            <a:off x="432218" y="3635940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Medición</a:t>
            </a:r>
            <a:r>
              <a:rPr lang="en-US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 de valor</a:t>
            </a:r>
            <a:endParaRPr lang="en-US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35" name="Shape 34">
            <a:extLst>
              <a:ext uri="{FF2B5EF4-FFF2-40B4-BE49-F238E27FC236}">
                <a16:creationId xmlns:a16="http://schemas.microsoft.com/office/drawing/2014/main" id="{AD8D5078-66D6-3EDE-2B9E-792A3936CD56}"/>
              </a:ext>
            </a:extLst>
          </p:cNvPr>
          <p:cNvSpPr/>
          <p:nvPr/>
        </p:nvSpPr>
        <p:spPr>
          <a:xfrm>
            <a:off x="2680546" y="3763956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5">
            <a:extLst>
              <a:ext uri="{FF2B5EF4-FFF2-40B4-BE49-F238E27FC236}">
                <a16:creationId xmlns:a16="http://schemas.microsoft.com/office/drawing/2014/main" id="{D7E2076C-25D6-7D82-5D39-5909F60722C9}"/>
              </a:ext>
            </a:extLst>
          </p:cNvPr>
          <p:cNvSpPr/>
          <p:nvPr/>
        </p:nvSpPr>
        <p:spPr>
          <a:xfrm>
            <a:off x="2896610" y="3635940"/>
            <a:ext cx="2692412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SLA / OLA / UC de </a:t>
            </a:r>
            <a:r>
              <a:rPr lang="en-US" sz="100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cumplimiento</a:t>
            </a:r>
            <a:endParaRPr lang="en-US" sz="1000" err="1">
              <a:latin typeface="Reddit Sans"/>
              <a:ea typeface="Reddit Sans"/>
              <a:cs typeface="Calibri"/>
            </a:endParaRPr>
          </a:p>
        </p:txBody>
      </p:sp>
      <p:sp>
        <p:nvSpPr>
          <p:cNvPr id="37" name="Shape 36">
            <a:extLst>
              <a:ext uri="{FF2B5EF4-FFF2-40B4-BE49-F238E27FC236}">
                <a16:creationId xmlns:a16="http://schemas.microsoft.com/office/drawing/2014/main" id="{2C9F1672-C41E-1D59-F96B-6F6BB17D1E2D}"/>
              </a:ext>
            </a:extLst>
          </p:cNvPr>
          <p:cNvSpPr/>
          <p:nvPr/>
        </p:nvSpPr>
        <p:spPr>
          <a:xfrm>
            <a:off x="5688922" y="3763956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Text 37">
            <a:extLst>
              <a:ext uri="{FF2B5EF4-FFF2-40B4-BE49-F238E27FC236}">
                <a16:creationId xmlns:a16="http://schemas.microsoft.com/office/drawing/2014/main" id="{95B74998-D0F7-1D97-19F5-461413793564}"/>
              </a:ext>
            </a:extLst>
          </p:cNvPr>
          <p:cNvSpPr/>
          <p:nvPr/>
        </p:nvSpPr>
        <p:spPr>
          <a:xfrm>
            <a:off x="5906171" y="3635942"/>
            <a:ext cx="2643886" cy="391989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SLA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(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Acuerdo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de Nivel de Servicio)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+ XLA 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(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Acuerdo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de Nivel de 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Experiencia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) 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+ DEX 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(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Experiencia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Digital del 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Empleado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) 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+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impacto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economico</a:t>
            </a:r>
            <a:endParaRPr lang="en-US" sz="1000" b="1">
              <a:solidFill>
                <a:srgbClr val="1B7B85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39" name="Shape 38">
            <a:extLst>
              <a:ext uri="{FF2B5EF4-FFF2-40B4-BE49-F238E27FC236}">
                <a16:creationId xmlns:a16="http://schemas.microsoft.com/office/drawing/2014/main" id="{FF25A429-6E0D-E1CC-AEA9-FE3274389E01}"/>
              </a:ext>
            </a:extLst>
          </p:cNvPr>
          <p:cNvSpPr/>
          <p:nvPr/>
        </p:nvSpPr>
        <p:spPr>
          <a:xfrm>
            <a:off x="398760" y="4148004"/>
            <a:ext cx="8346479" cy="489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0" name="Text 39">
            <a:extLst>
              <a:ext uri="{FF2B5EF4-FFF2-40B4-BE49-F238E27FC236}">
                <a16:creationId xmlns:a16="http://schemas.microsoft.com/office/drawing/2014/main" id="{C1D8BD44-FDC0-B67A-89E7-EB1DD3D5541D}"/>
              </a:ext>
            </a:extLst>
          </p:cNvPr>
          <p:cNvSpPr/>
          <p:nvPr/>
        </p:nvSpPr>
        <p:spPr>
          <a:xfrm>
            <a:off x="432218" y="4202868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Evolución</a:t>
            </a:r>
            <a:endParaRPr lang="en-US" sz="1100" err="1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1" name="Shape 40">
            <a:extLst>
              <a:ext uri="{FF2B5EF4-FFF2-40B4-BE49-F238E27FC236}">
                <a16:creationId xmlns:a16="http://schemas.microsoft.com/office/drawing/2014/main" id="{5B56FC32-C361-5EB7-FC08-0A35299777FB}"/>
              </a:ext>
            </a:extLst>
          </p:cNvPr>
          <p:cNvSpPr/>
          <p:nvPr/>
        </p:nvSpPr>
        <p:spPr>
          <a:xfrm>
            <a:off x="2680546" y="4330884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2" name="Text 41">
            <a:extLst>
              <a:ext uri="{FF2B5EF4-FFF2-40B4-BE49-F238E27FC236}">
                <a16:creationId xmlns:a16="http://schemas.microsoft.com/office/drawing/2014/main" id="{9C685756-3D5A-DDBC-4681-52D0206F6233}"/>
              </a:ext>
            </a:extLst>
          </p:cNvPr>
          <p:cNvSpPr/>
          <p:nvPr/>
        </p:nvSpPr>
        <p:spPr>
          <a:xfrm>
            <a:off x="2896610" y="4202868"/>
            <a:ext cx="2692412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CO" sz="100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Estatico</a:t>
            </a:r>
            <a:r>
              <a:rPr lang="en-US" sz="100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· </a:t>
            </a:r>
            <a:r>
              <a:rPr lang="en-US" sz="100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cambios</a:t>
            </a:r>
            <a:r>
              <a:rPr lang="en-US" sz="100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reactivos</a:t>
            </a:r>
            <a:endParaRPr lang="en-US" sz="1000" err="1">
              <a:latin typeface="Reddit Sans"/>
              <a:ea typeface="Reddit Sans"/>
              <a:cs typeface="Calibri"/>
            </a:endParaRPr>
          </a:p>
        </p:txBody>
      </p:sp>
      <p:sp>
        <p:nvSpPr>
          <p:cNvPr id="43" name="Shape 42">
            <a:extLst>
              <a:ext uri="{FF2B5EF4-FFF2-40B4-BE49-F238E27FC236}">
                <a16:creationId xmlns:a16="http://schemas.microsoft.com/office/drawing/2014/main" id="{4CDD1506-C3BD-C2CF-7127-6A709B9B853E}"/>
              </a:ext>
            </a:extLst>
          </p:cNvPr>
          <p:cNvSpPr/>
          <p:nvPr/>
        </p:nvSpPr>
        <p:spPr>
          <a:xfrm>
            <a:off x="5688922" y="4330884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4" name="Text 43">
            <a:extLst>
              <a:ext uri="{FF2B5EF4-FFF2-40B4-BE49-F238E27FC236}">
                <a16:creationId xmlns:a16="http://schemas.microsoft.com/office/drawing/2014/main" id="{C937FD0D-D971-01FD-0A8D-3B8C2D0EDFBE}"/>
              </a:ext>
            </a:extLst>
          </p:cNvPr>
          <p:cNvSpPr/>
          <p:nvPr/>
        </p:nvSpPr>
        <p:spPr>
          <a:xfrm>
            <a:off x="5906171" y="4202868"/>
            <a:ext cx="2818058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Roadmap vivo ·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mejora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continua · backlog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priorizado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 · Como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impacto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al 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negocio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/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mejora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de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procesos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. Insights de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impacto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al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negocio</a:t>
            </a:r>
            <a:endParaRPr lang="en-US" sz="900" err="1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" name="src">
            <a:extLst>
              <a:ext uri="{FF2B5EF4-FFF2-40B4-BE49-F238E27FC236}">
                <a16:creationId xmlns:a16="http://schemas.microsoft.com/office/drawing/2014/main" id="{7059F8EC-A143-4406-D482-0C43B83E8332}"/>
              </a:ext>
            </a:extLst>
          </p:cNvPr>
          <p:cNvSpPr txBox="1">
            <a:spLocks noGrp="1"/>
          </p:cNvSpPr>
          <p:nvPr/>
        </p:nvSpPr>
        <p:spPr>
          <a:xfrm>
            <a:off x="396240" y="4750743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Fuente: </a:t>
            </a:r>
            <a:r>
              <a:rPr lang="es-ES" sz="700" u="sng">
                <a:solidFill>
                  <a:srgbClr val="1A3A8F"/>
                </a:solidFill>
                <a:latin typeface="Reddit Sans"/>
                <a:ea typeface="Reddit Sans"/>
                <a:hlinkClick r:id="rId3"/>
              </a:rPr>
              <a:t>Freshservice ITSM Benchmark</a:t>
            </a:r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00" u="sng">
                <a:solidFill>
                  <a:srgbClr val="1A3A8F"/>
                </a:solidFill>
                <a:latin typeface="Reddit Sans"/>
                <a:ea typeface="Reddit Sans"/>
                <a:hlinkClick r:id="rId4"/>
              </a:rPr>
              <a:t>Gartner AI in ITSM</a:t>
            </a:r>
            <a:endParaRPr lang="es-ES" sz="700" u="sng">
              <a:solidFill>
                <a:srgbClr val="1A3A8F"/>
              </a:solidFill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38965835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8E7AC-A877-100C-D184-3405C85DF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">
            <a:extLst>
              <a:ext uri="{FF2B5EF4-FFF2-40B4-BE49-F238E27FC236}">
                <a16:creationId xmlns:a16="http://schemas.microsoft.com/office/drawing/2014/main" id="{B332CDAF-C216-D4CD-E3F9-68893A9AD044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Gartner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confirma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el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cambio donde la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competencia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está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en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la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capa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de IA</a:t>
            </a:r>
            <a:endParaRPr lang="es-ES">
              <a:solidFill>
                <a:srgbClr val="0C2362"/>
              </a:solidFill>
              <a:latin typeface="Reddit Sans"/>
              <a:ea typeface="Reddit Sans"/>
            </a:endParaRPr>
          </a:p>
        </p:txBody>
      </p:sp>
      <p:sp>
        <p:nvSpPr>
          <p:cNvPr id="22" name="src">
            <a:extLst>
              <a:ext uri="{FF2B5EF4-FFF2-40B4-BE49-F238E27FC236}">
                <a16:creationId xmlns:a16="http://schemas.microsoft.com/office/drawing/2014/main" id="{3D3C21ED-CCFE-6C2C-8D9C-61257685ADF5}"/>
              </a:ext>
            </a:extLst>
          </p:cNvPr>
          <p:cNvSpPr txBox="1">
            <a:spLocks noGrp="1"/>
          </p:cNvSpPr>
          <p:nvPr/>
        </p:nvSpPr>
        <p:spPr>
          <a:xfrm>
            <a:off x="385354" y="4745300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fontScale="77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80" i="1">
                <a:solidFill>
                  <a:srgbClr val="6B7280"/>
                </a:solidFill>
                <a:latin typeface="Reddit Sans"/>
                <a:ea typeface="Reddit Sans"/>
              </a:rPr>
              <a:t>Fuente: </a:t>
            </a:r>
            <a:r>
              <a:rPr lang="es-ES" sz="780" u="sng">
                <a:solidFill>
                  <a:srgbClr val="1A3A8F"/>
                </a:solidFill>
                <a:latin typeface="Reddit Sans"/>
                <a:ea typeface="Reddit Sans"/>
                <a:hlinkClick r:id="rId3"/>
              </a:rPr>
              <a:t>Gartner MQ AI Applications</a:t>
            </a:r>
            <a:r>
              <a:rPr lang="es-ES" sz="780" i="1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80" u="sng">
                <a:solidFill>
                  <a:srgbClr val="1A3A8F"/>
                </a:solidFill>
                <a:latin typeface="Reddit Sans"/>
                <a:ea typeface="Reddit Sans"/>
                <a:hlinkClick r:id="rId4"/>
              </a:rPr>
              <a:t>InvGate</a:t>
            </a:r>
            <a:r>
              <a:rPr lang="es-ES" sz="780" i="1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80" u="sng">
                <a:solidFill>
                  <a:srgbClr val="1A3A8F"/>
                </a:solidFill>
                <a:latin typeface="Reddit Sans"/>
                <a:ea typeface="Reddit Sans"/>
                <a:hlinkClick r:id="rId5"/>
              </a:rPr>
              <a:t>Gartner Retire ITSM MQ</a:t>
            </a:r>
          </a:p>
        </p:txBody>
      </p:sp>
      <p:sp>
        <p:nvSpPr>
          <p:cNvPr id="201" name="tx201"/>
          <p:cNvSpPr txBox="1"/>
          <p:nvPr/>
        </p:nvSpPr>
        <p:spPr>
          <a:xfrm>
            <a:off x="411263" y="646829"/>
            <a:ext cx="8321040" cy="18288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950">
                <a:solidFill>
                  <a:srgbClr val="5A6472"/>
                </a:solidFill>
                <a:latin typeface="Reddit Sans"/>
                <a:ea typeface="Reddit Sans"/>
              </a:rPr>
              <a:t>9 Capacidades críticas de IA que ya definen la compra de la herramienta</a:t>
            </a:r>
          </a:p>
        </p:txBody>
      </p:sp>
      <p:sp>
        <p:nvSpPr>
          <p:cNvPr id="203" name="sh203"/>
          <p:cNvSpPr/>
          <p:nvPr/>
        </p:nvSpPr>
        <p:spPr>
          <a:xfrm>
            <a:off x="384048" y="108421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4" name="sh204"/>
          <p:cNvSpPr/>
          <p:nvPr/>
        </p:nvSpPr>
        <p:spPr>
          <a:xfrm>
            <a:off x="475488" y="1230521"/>
            <a:ext cx="365760" cy="365760"/>
          </a:xfrm>
          <a:prstGeom prst="ellipse">
            <a:avLst/>
          </a:prstGeom>
          <a:solidFill>
            <a:srgbClr val="1E7A80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5" name="sh205"/>
          <p:cNvSpPr/>
          <p:nvPr/>
        </p:nvSpPr>
        <p:spPr>
          <a:xfrm>
            <a:off x="552755" y="1317389"/>
            <a:ext cx="211226" cy="163220"/>
          </a:xfrm>
          <a:prstGeom prst="wedgeRoundRectCallout">
            <a:avLst>
              <a:gd name="adj1" fmla="val -20000"/>
              <a:gd name="adj2" fmla="val 70000"/>
              <a:gd name="adj3" fmla="val 16667"/>
            </a:avLst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6" name="tx206"/>
          <p:cNvSpPr txBox="1"/>
          <p:nvPr/>
        </p:nvSpPr>
        <p:spPr>
          <a:xfrm>
            <a:off x="898071" y="1211580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E7A80"/>
                </a:solidFill>
                <a:latin typeface="Reddit Sans"/>
                <a:ea typeface="Reddit Sans"/>
              </a:rPr>
              <a:t>1. Agente virtual</a:t>
            </a:r>
          </a:p>
        </p:txBody>
      </p:sp>
      <p:sp>
        <p:nvSpPr>
          <p:cNvPr id="207" name="tx207"/>
          <p:cNvSpPr txBox="1"/>
          <p:nvPr/>
        </p:nvSpPr>
        <p:spPr>
          <a:xfrm>
            <a:off x="914400" y="138596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Asistencia 24/7 con IA conversacional y generativa</a:t>
            </a:r>
          </a:p>
        </p:txBody>
      </p:sp>
      <p:sp>
        <p:nvSpPr>
          <p:cNvPr id="208" name="sh208"/>
          <p:cNvSpPr/>
          <p:nvPr/>
        </p:nvSpPr>
        <p:spPr>
          <a:xfrm>
            <a:off x="3200400" y="108421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9" name="sh209"/>
          <p:cNvSpPr/>
          <p:nvPr/>
        </p:nvSpPr>
        <p:spPr>
          <a:xfrm>
            <a:off x="3291840" y="1230521"/>
            <a:ext cx="365760" cy="365760"/>
          </a:xfrm>
          <a:prstGeom prst="ellipse">
            <a:avLst/>
          </a:prstGeom>
          <a:solidFill>
            <a:srgbClr val="1C3D75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0" name="sh210"/>
          <p:cNvSpPr/>
          <p:nvPr/>
        </p:nvSpPr>
        <p:spPr>
          <a:xfrm>
            <a:off x="3378708" y="1332751"/>
            <a:ext cx="192024" cy="163220"/>
          </a:xfrm>
          <a:prstGeom prst="flowChartDocument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1" name="tx211"/>
          <p:cNvSpPr txBox="1"/>
          <p:nvPr/>
        </p:nvSpPr>
        <p:spPr>
          <a:xfrm>
            <a:off x="3708981" y="1200694"/>
            <a:ext cx="2313431" cy="268878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C3D75"/>
                </a:solidFill>
                <a:latin typeface="Reddit Sans"/>
                <a:ea typeface="Reddit Sans"/>
              </a:rPr>
              <a:t>2. Descubrimiento de conocimiento</a:t>
            </a:r>
          </a:p>
        </p:txBody>
      </p:sp>
      <p:sp>
        <p:nvSpPr>
          <p:cNvPr id="212" name="tx212"/>
          <p:cNvSpPr txBox="1"/>
          <p:nvPr/>
        </p:nvSpPr>
        <p:spPr>
          <a:xfrm>
            <a:off x="3730752" y="138596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Captura y descubrimiento automático del conocimiento y procesos clave</a:t>
            </a:r>
          </a:p>
        </p:txBody>
      </p:sp>
      <p:sp>
        <p:nvSpPr>
          <p:cNvPr id="213" name="sh213"/>
          <p:cNvSpPr/>
          <p:nvPr/>
        </p:nvSpPr>
        <p:spPr>
          <a:xfrm>
            <a:off x="6016752" y="108421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4" name="sh214"/>
          <p:cNvSpPr/>
          <p:nvPr/>
        </p:nvSpPr>
        <p:spPr>
          <a:xfrm>
            <a:off x="6108192" y="1230521"/>
            <a:ext cx="365760" cy="365760"/>
          </a:xfrm>
          <a:prstGeom prst="ellipse">
            <a:avLst/>
          </a:prstGeom>
          <a:solidFill>
            <a:srgbClr val="1E7A80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5" name="sh215"/>
          <p:cNvSpPr/>
          <p:nvPr/>
        </p:nvSpPr>
        <p:spPr>
          <a:xfrm>
            <a:off x="6214262" y="1307788"/>
            <a:ext cx="153619" cy="211226"/>
          </a:xfrm>
          <a:prstGeom prst="upArrow">
            <a:avLst>
              <a:gd name="adj1" fmla="val 50000"/>
              <a:gd name="adj2" fmla="val 50000"/>
            </a:avLst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6" name="tx216"/>
          <p:cNvSpPr txBox="1"/>
          <p:nvPr/>
        </p:nvSpPr>
        <p:spPr>
          <a:xfrm>
            <a:off x="6525333" y="1195251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E7A80"/>
                </a:solidFill>
                <a:latin typeface="Reddit Sans"/>
                <a:ea typeface="Reddit Sans"/>
              </a:rPr>
              <a:t>3. Escalamiento inteligente</a:t>
            </a:r>
          </a:p>
        </p:txBody>
      </p:sp>
      <p:sp>
        <p:nvSpPr>
          <p:cNvPr id="217" name="tx217"/>
          <p:cNvSpPr txBox="1"/>
          <p:nvPr/>
        </p:nvSpPr>
        <p:spPr>
          <a:xfrm>
            <a:off x="6547104" y="138596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Escala al nivel correcto en el momento adecuado</a:t>
            </a:r>
          </a:p>
        </p:txBody>
      </p:sp>
      <p:sp>
        <p:nvSpPr>
          <p:cNvPr id="218" name="sh218"/>
          <p:cNvSpPr/>
          <p:nvPr/>
        </p:nvSpPr>
        <p:spPr>
          <a:xfrm>
            <a:off x="384048" y="179287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9" name="sh219"/>
          <p:cNvSpPr/>
          <p:nvPr/>
        </p:nvSpPr>
        <p:spPr>
          <a:xfrm>
            <a:off x="475488" y="1939181"/>
            <a:ext cx="365760" cy="365760"/>
          </a:xfrm>
          <a:prstGeom prst="ellipse">
            <a:avLst/>
          </a:prstGeom>
          <a:solidFill>
            <a:srgbClr val="6E2E6E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0" name="sh220"/>
          <p:cNvSpPr/>
          <p:nvPr/>
        </p:nvSpPr>
        <p:spPr>
          <a:xfrm>
            <a:off x="562356" y="2026049"/>
            <a:ext cx="192024" cy="192024"/>
          </a:xfrm>
          <a:prstGeom prst="funnel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1" name="tx221"/>
          <p:cNvSpPr txBox="1"/>
          <p:nvPr/>
        </p:nvSpPr>
        <p:spPr>
          <a:xfrm>
            <a:off x="898071" y="1887583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6E2E6E"/>
                </a:solidFill>
                <a:latin typeface="Reddit Sans"/>
                <a:ea typeface="Reddit Sans"/>
              </a:rPr>
              <a:t>4. Triage inteligente</a:t>
            </a:r>
          </a:p>
        </p:txBody>
      </p:sp>
      <p:sp>
        <p:nvSpPr>
          <p:cNvPr id="222" name="tx222"/>
          <p:cNvSpPr txBox="1"/>
          <p:nvPr/>
        </p:nvSpPr>
        <p:spPr>
          <a:xfrm>
            <a:off x="914400" y="209462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Prioriza y enruta tickets usando IA y contexto</a:t>
            </a:r>
          </a:p>
        </p:txBody>
      </p:sp>
      <p:sp>
        <p:nvSpPr>
          <p:cNvPr id="223" name="sh223"/>
          <p:cNvSpPr/>
          <p:nvPr/>
        </p:nvSpPr>
        <p:spPr>
          <a:xfrm>
            <a:off x="3200400" y="179287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4" name="sh224"/>
          <p:cNvSpPr/>
          <p:nvPr/>
        </p:nvSpPr>
        <p:spPr>
          <a:xfrm>
            <a:off x="3291840" y="1939181"/>
            <a:ext cx="365760" cy="365760"/>
          </a:xfrm>
          <a:prstGeom prst="ellipse">
            <a:avLst/>
          </a:prstGeom>
          <a:solidFill>
            <a:srgbClr val="1C3D75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5" name="sh225"/>
          <p:cNvSpPr/>
          <p:nvPr/>
        </p:nvSpPr>
        <p:spPr>
          <a:xfrm>
            <a:off x="3369107" y="2045251"/>
            <a:ext cx="211226" cy="153619"/>
          </a:xfrm>
          <a:prstGeom prst="flowChartManualInput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6" name="tx226"/>
          <p:cNvSpPr txBox="1"/>
          <p:nvPr/>
        </p:nvSpPr>
        <p:spPr>
          <a:xfrm>
            <a:off x="3747081" y="1903911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C3D75"/>
                </a:solidFill>
                <a:latin typeface="Reddit Sans"/>
                <a:ea typeface="Reddit Sans"/>
              </a:rPr>
              <a:t>5. Categorización inteligente</a:t>
            </a:r>
          </a:p>
        </p:txBody>
      </p:sp>
      <p:sp>
        <p:nvSpPr>
          <p:cNvPr id="227" name="tx227"/>
          <p:cNvSpPr txBox="1"/>
          <p:nvPr/>
        </p:nvSpPr>
        <p:spPr>
          <a:xfrm>
            <a:off x="3730752" y="209462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Clasificación automática multi-nivel</a:t>
            </a:r>
          </a:p>
        </p:txBody>
      </p:sp>
      <p:sp>
        <p:nvSpPr>
          <p:cNvPr id="228" name="sh228"/>
          <p:cNvSpPr/>
          <p:nvPr/>
        </p:nvSpPr>
        <p:spPr>
          <a:xfrm>
            <a:off x="6016752" y="179287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9" name="sh229"/>
          <p:cNvSpPr/>
          <p:nvPr/>
        </p:nvSpPr>
        <p:spPr>
          <a:xfrm>
            <a:off x="6108192" y="1939181"/>
            <a:ext cx="365760" cy="365760"/>
          </a:xfrm>
          <a:prstGeom prst="ellipse">
            <a:avLst/>
          </a:prstGeom>
          <a:solidFill>
            <a:srgbClr val="6E2E6E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0" name="sh230"/>
          <p:cNvSpPr/>
          <p:nvPr/>
        </p:nvSpPr>
        <p:spPr>
          <a:xfrm>
            <a:off x="6195060" y="2016448"/>
            <a:ext cx="80650" cy="80650"/>
          </a:xfrm>
          <a:prstGeom prst="ellipse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1" name="sh231"/>
          <p:cNvSpPr/>
          <p:nvPr/>
        </p:nvSpPr>
        <p:spPr>
          <a:xfrm>
            <a:off x="6306434" y="2016448"/>
            <a:ext cx="80650" cy="80650"/>
          </a:xfrm>
          <a:prstGeom prst="ellipse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2" name="sh232"/>
          <p:cNvSpPr/>
          <p:nvPr/>
        </p:nvSpPr>
        <p:spPr>
          <a:xfrm>
            <a:off x="6185459" y="2102859"/>
            <a:ext cx="105613" cy="105613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3" name="sh233"/>
          <p:cNvSpPr/>
          <p:nvPr/>
        </p:nvSpPr>
        <p:spPr>
          <a:xfrm>
            <a:off x="6294912" y="2102859"/>
            <a:ext cx="105613" cy="105613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4" name="tx234"/>
          <p:cNvSpPr txBox="1"/>
          <p:nvPr/>
        </p:nvSpPr>
        <p:spPr>
          <a:xfrm>
            <a:off x="6525333" y="1903911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6E2E6E"/>
                </a:solidFill>
                <a:latin typeface="Reddit Sans"/>
                <a:ea typeface="Reddit Sans"/>
              </a:rPr>
              <a:t>6. Swarming de expertos</a:t>
            </a:r>
          </a:p>
        </p:txBody>
      </p:sp>
      <p:sp>
        <p:nvSpPr>
          <p:cNvPr id="235" name="tx235"/>
          <p:cNvSpPr txBox="1"/>
          <p:nvPr/>
        </p:nvSpPr>
        <p:spPr>
          <a:xfrm>
            <a:off x="6547104" y="209462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Colaboración asistida por IA para resolver más rápido</a:t>
            </a:r>
          </a:p>
        </p:txBody>
      </p:sp>
      <p:sp>
        <p:nvSpPr>
          <p:cNvPr id="236" name="sh236"/>
          <p:cNvSpPr/>
          <p:nvPr/>
        </p:nvSpPr>
        <p:spPr>
          <a:xfrm>
            <a:off x="384048" y="250153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7" name="sh237"/>
          <p:cNvSpPr/>
          <p:nvPr/>
        </p:nvSpPr>
        <p:spPr>
          <a:xfrm>
            <a:off x="475488" y="2647841"/>
            <a:ext cx="365760" cy="365760"/>
          </a:xfrm>
          <a:prstGeom prst="ellipse">
            <a:avLst/>
          </a:prstGeom>
          <a:solidFill>
            <a:srgbClr val="1C3D75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8" name="sh238"/>
          <p:cNvSpPr/>
          <p:nvPr/>
        </p:nvSpPr>
        <p:spPr>
          <a:xfrm>
            <a:off x="562356" y="2734709"/>
            <a:ext cx="192024" cy="182423"/>
          </a:xfrm>
          <a:prstGeom prst="triangle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9" name="tx239"/>
          <p:cNvSpPr txBox="1"/>
          <p:nvPr/>
        </p:nvSpPr>
        <p:spPr>
          <a:xfrm>
            <a:off x="898071" y="2628900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C3D75"/>
                </a:solidFill>
                <a:latin typeface="Reddit Sans"/>
                <a:ea typeface="Reddit Sans"/>
              </a:rPr>
              <a:t>7. Detección de P1</a:t>
            </a:r>
          </a:p>
        </p:txBody>
      </p:sp>
      <p:sp>
        <p:nvSpPr>
          <p:cNvPr id="240" name="tx240"/>
          <p:cNvSpPr txBox="1"/>
          <p:nvPr/>
        </p:nvSpPr>
        <p:spPr>
          <a:xfrm>
            <a:off x="914400" y="280328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Identificación automática de incidentes críticos</a:t>
            </a:r>
          </a:p>
        </p:txBody>
      </p:sp>
      <p:sp>
        <p:nvSpPr>
          <p:cNvPr id="241" name="sh241"/>
          <p:cNvSpPr/>
          <p:nvPr/>
        </p:nvSpPr>
        <p:spPr>
          <a:xfrm>
            <a:off x="3200400" y="250153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42" name="sh242"/>
          <p:cNvSpPr/>
          <p:nvPr/>
        </p:nvSpPr>
        <p:spPr>
          <a:xfrm>
            <a:off x="3291840" y="2647841"/>
            <a:ext cx="365760" cy="365760"/>
          </a:xfrm>
          <a:prstGeom prst="ellipse">
            <a:avLst/>
          </a:prstGeom>
          <a:solidFill>
            <a:srgbClr val="1C3D75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43" name="sh243"/>
          <p:cNvSpPr/>
          <p:nvPr/>
        </p:nvSpPr>
        <p:spPr>
          <a:xfrm>
            <a:off x="3378708" y="2734709"/>
            <a:ext cx="144018" cy="144018"/>
          </a:xfrm>
          <a:prstGeom prst="ellipse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44" name="sh244"/>
          <p:cNvSpPr/>
          <p:nvPr/>
        </p:nvSpPr>
        <p:spPr>
          <a:xfrm rot="2700000">
            <a:off x="3497763" y="2853764"/>
            <a:ext cx="19202" cy="7681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45" name="tx245"/>
          <p:cNvSpPr txBox="1"/>
          <p:nvPr/>
        </p:nvSpPr>
        <p:spPr>
          <a:xfrm>
            <a:off x="3747081" y="2612571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C3D75"/>
                </a:solidFill>
                <a:latin typeface="Reddit Sans"/>
                <a:ea typeface="Reddit Sans"/>
              </a:rPr>
              <a:t>8. Detección de problemas</a:t>
            </a:r>
          </a:p>
        </p:txBody>
      </p:sp>
      <p:sp>
        <p:nvSpPr>
          <p:cNvPr id="246" name="tx246"/>
          <p:cNvSpPr txBox="1"/>
          <p:nvPr/>
        </p:nvSpPr>
        <p:spPr>
          <a:xfrm>
            <a:off x="3730752" y="280328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Descubrimiento de causas raíz y patrones recurrentes</a:t>
            </a:r>
          </a:p>
        </p:txBody>
      </p:sp>
      <p:sp>
        <p:nvSpPr>
          <p:cNvPr id="247" name="sh247"/>
          <p:cNvSpPr/>
          <p:nvPr/>
        </p:nvSpPr>
        <p:spPr>
          <a:xfrm>
            <a:off x="6016752" y="250153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48" name="sh248"/>
          <p:cNvSpPr/>
          <p:nvPr/>
        </p:nvSpPr>
        <p:spPr>
          <a:xfrm>
            <a:off x="6108192" y="2647841"/>
            <a:ext cx="365760" cy="365760"/>
          </a:xfrm>
          <a:prstGeom prst="ellipse">
            <a:avLst/>
          </a:prstGeom>
          <a:solidFill>
            <a:srgbClr val="1E7A80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49" name="sh249"/>
          <p:cNvSpPr/>
          <p:nvPr/>
        </p:nvSpPr>
        <p:spPr>
          <a:xfrm rot="10800000">
            <a:off x="6204661" y="2734709"/>
            <a:ext cx="172822" cy="192024"/>
          </a:xfrm>
          <a:prstGeom prst="pentagon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50" name="tx250"/>
          <p:cNvSpPr txBox="1"/>
          <p:nvPr/>
        </p:nvSpPr>
        <p:spPr>
          <a:xfrm>
            <a:off x="6525333" y="2612571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E7A80"/>
                </a:solidFill>
                <a:latin typeface="Reddit Sans"/>
                <a:ea typeface="Reddit Sans"/>
              </a:rPr>
              <a:t>9. Riesgo de cambios</a:t>
            </a:r>
          </a:p>
        </p:txBody>
      </p:sp>
      <p:sp>
        <p:nvSpPr>
          <p:cNvPr id="251" name="tx251"/>
          <p:cNvSpPr txBox="1"/>
          <p:nvPr/>
        </p:nvSpPr>
        <p:spPr>
          <a:xfrm>
            <a:off x="6547104" y="280328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Evaluación predictiva del riesgo antes de implementar</a:t>
            </a:r>
          </a:p>
        </p:txBody>
      </p:sp>
      <p:sp>
        <p:nvSpPr>
          <p:cNvPr id="272" name="sh272"/>
          <p:cNvSpPr/>
          <p:nvPr/>
        </p:nvSpPr>
        <p:spPr>
          <a:xfrm>
            <a:off x="411262" y="3595116"/>
            <a:ext cx="8318864" cy="515984"/>
          </a:xfrm>
          <a:prstGeom prst="roundRect">
            <a:avLst>
              <a:gd name="adj" fmla="val 14000"/>
            </a:avLst>
          </a:prstGeom>
          <a:noFill/>
          <a:ln w="12700">
            <a:solidFill>
              <a:srgbClr val="92D050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75" name="sh275"/>
          <p:cNvSpPr/>
          <p:nvPr/>
        </p:nvSpPr>
        <p:spPr>
          <a:xfrm>
            <a:off x="753303" y="3840056"/>
            <a:ext cx="58759" cy="5875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76" name="tx276"/>
          <p:cNvSpPr txBox="1"/>
          <p:nvPr/>
        </p:nvSpPr>
        <p:spPr>
          <a:xfrm>
            <a:off x="1159546" y="3644537"/>
            <a:ext cx="6783977" cy="424543"/>
          </a:xfrm>
          <a:prstGeom prst="rect">
            <a:avLst/>
          </a:prstGeom>
          <a:noFill/>
        </p:spPr>
        <p:txBody>
          <a:bodyPr wrap="square" lIns="18000" tIns="9000" rIns="18000" bIns="9000" rtlCol="0" anchor="ctr">
            <a:noAutofit/>
          </a:bodyPr>
          <a:lstStyle/>
          <a:p>
            <a:pPr algn="l">
              <a:lnSpc>
                <a:spcPct val="94000"/>
              </a:lnSpc>
            </a:pPr>
            <a:r>
              <a:rPr lang="es-ES" sz="950" b="1">
                <a:solidFill>
                  <a:srgbClr val="1C3D75"/>
                </a:solidFill>
                <a:latin typeface="Reddit Sans"/>
                <a:ea typeface="Reddit Sans"/>
              </a:rPr>
              <a:t>La plataforma se comoditiza. La diferenciación está en la </a:t>
            </a:r>
            <a:r>
              <a:rPr lang="es-ES" sz="950" b="1">
                <a:solidFill>
                  <a:srgbClr val="1E7A80"/>
                </a:solidFill>
                <a:latin typeface="Reddit Sans"/>
                <a:ea typeface="Reddit Sans"/>
              </a:rPr>
              <a:t>inteligencia</a:t>
            </a:r>
            <a:r>
              <a:rPr lang="es-ES" sz="950" b="1">
                <a:solidFill>
                  <a:srgbClr val="1C3D75"/>
                </a:solidFill>
                <a:latin typeface="Reddit Sans"/>
                <a:ea typeface="Reddit Sans"/>
              </a:rPr>
              <a:t>, el </a:t>
            </a:r>
            <a:r>
              <a:rPr lang="es-ES" sz="950" b="1">
                <a:solidFill>
                  <a:srgbClr val="1E7A80"/>
                </a:solidFill>
                <a:latin typeface="Reddit Sans"/>
                <a:ea typeface="Reddit Sans"/>
              </a:rPr>
              <a:t>gobierno</a:t>
            </a:r>
            <a:r>
              <a:rPr lang="es-ES" sz="950" b="1">
                <a:solidFill>
                  <a:srgbClr val="1C3D75"/>
                </a:solidFill>
                <a:latin typeface="Reddit Sans"/>
                <a:ea typeface="Reddit Sans"/>
              </a:rPr>
              <a:t> y el </a:t>
            </a:r>
            <a:r>
              <a:rPr lang="es-ES" sz="950" b="1">
                <a:solidFill>
                  <a:srgbClr val="1E7A80"/>
                </a:solidFill>
                <a:latin typeface="Reddit Sans"/>
                <a:ea typeface="Reddit Sans"/>
              </a:rPr>
              <a:t>conocimiento del negocio</a:t>
            </a:r>
            <a:r>
              <a:rPr lang="es-ES" sz="950" b="1">
                <a:solidFill>
                  <a:srgbClr val="1C3D75"/>
                </a:solidFill>
                <a:latin typeface="Reddit Sans"/>
                <a:ea typeface="Reddit Sans"/>
              </a:rPr>
              <a:t>.</a:t>
            </a:r>
          </a:p>
        </p:txBody>
      </p:sp>
      <p:pic>
        <p:nvPicPr>
          <p:cNvPr id="6" name="Gráfico 5" descr="Diana con relleno sólido">
            <a:extLst>
              <a:ext uri="{FF2B5EF4-FFF2-40B4-BE49-F238E27FC236}">
                <a16:creationId xmlns:a16="http://schemas.microsoft.com/office/drawing/2014/main" id="{8ACFE3F9-76CF-BE63-2CE8-3E56AC0558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9537" y="3682091"/>
            <a:ext cx="342902" cy="342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328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E4FA26-9892-86D1-3AA5-CADBC4E5D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290" y="184990"/>
            <a:ext cx="8211000" cy="572700"/>
          </a:xfrm>
        </p:spPr>
        <p:txBody>
          <a:bodyPr>
            <a:normAutofit/>
          </a:bodyPr>
          <a:lstStyle/>
          <a:p>
            <a:r>
              <a:rPr lang="es-ES" sz="1400"/>
              <a:t>Posicionamiento de Plataformas ITSM</a:t>
            </a:r>
            <a:endParaRPr lang="en-US" sz="1400" b="0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0" name="Text 41">
            <a:extLst>
              <a:ext uri="{FF2B5EF4-FFF2-40B4-BE49-F238E27FC236}">
                <a16:creationId xmlns:a16="http://schemas.microsoft.com/office/drawing/2014/main" id="{F723FB7B-388B-67C2-D240-FF4BB55A64E4}"/>
              </a:ext>
            </a:extLst>
          </p:cNvPr>
          <p:cNvSpPr/>
          <p:nvPr/>
        </p:nvSpPr>
        <p:spPr>
          <a:xfrm>
            <a:off x="8124410" y="4631860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4 / 12</a:t>
            </a:r>
            <a:endParaRPr lang="en-US" sz="8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1" name="Text 3">
            <a:extLst>
              <a:ext uri="{FF2B5EF4-FFF2-40B4-BE49-F238E27FC236}">
                <a16:creationId xmlns:a16="http://schemas.microsoft.com/office/drawing/2014/main" id="{B7FD0913-0BB4-5C52-9D4A-CB0B34E195FF}"/>
              </a:ext>
            </a:extLst>
          </p:cNvPr>
          <p:cNvSpPr/>
          <p:nvPr/>
        </p:nvSpPr>
        <p:spPr>
          <a:xfrm>
            <a:off x="333790" y="503344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defTabSz="685800" fontAlgn="ctr">
              <a:lnSpc>
                <a:spcPts val="1693"/>
              </a:lnSpc>
              <a:spcBef>
                <a:spcPts val="650"/>
              </a:spcBef>
              <a:buFont typeface="Arial"/>
              <a:buNone/>
            </a:pP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Todos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venden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 AI-first</a:t>
            </a:r>
          </a:p>
        </p:txBody>
      </p:sp>
      <p:sp>
        <p:nvSpPr>
          <p:cNvPr id="42" name="ln">
            <a:extLst>
              <a:ext uri="{FF2B5EF4-FFF2-40B4-BE49-F238E27FC236}">
                <a16:creationId xmlns:a16="http://schemas.microsoft.com/office/drawing/2014/main" id="{3B2ACD73-6A1B-DE81-531C-FD32DE9F39ED}"/>
              </a:ext>
            </a:extLst>
          </p:cNvPr>
          <p:cNvSpPr txBox="1">
            <a:spLocks noGrp="1"/>
          </p:cNvSpPr>
          <p:nvPr/>
        </p:nvSpPr>
        <p:spPr>
          <a:xfrm>
            <a:off x="365760" y="822960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ServiceNow</a:t>
            </a:r>
          </a:p>
        </p:txBody>
      </p:sp>
      <p:sp>
        <p:nvSpPr>
          <p:cNvPr id="44" name="bar">
            <a:extLst>
              <a:ext uri="{FF2B5EF4-FFF2-40B4-BE49-F238E27FC236}">
                <a16:creationId xmlns:a16="http://schemas.microsoft.com/office/drawing/2014/main" id="{3D1853AC-9917-FF21-2CE0-E584F4533EF1}"/>
              </a:ext>
            </a:extLst>
          </p:cNvPr>
          <p:cNvSpPr>
            <a:spLocks noGrp="1"/>
          </p:cNvSpPr>
          <p:nvPr/>
        </p:nvSpPr>
        <p:spPr>
          <a:xfrm>
            <a:off x="1737360" y="822960"/>
            <a:ext cx="2111166" cy="402336"/>
          </a:xfrm>
          <a:prstGeom prst="roundRect">
            <a:avLst>
              <a:gd name="adj" fmla="val 8000"/>
            </a:avLst>
          </a:prstGeom>
          <a:solidFill>
            <a:srgbClr val="0D1B5E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46" name="pct">
            <a:extLst>
              <a:ext uri="{FF2B5EF4-FFF2-40B4-BE49-F238E27FC236}">
                <a16:creationId xmlns:a16="http://schemas.microsoft.com/office/drawing/2014/main" id="{FA468F51-9426-DB15-4B34-C49321EFEC60}"/>
              </a:ext>
            </a:extLst>
          </p:cNvPr>
          <p:cNvSpPr txBox="1">
            <a:spLocks noGrp="1"/>
          </p:cNvSpPr>
          <p:nvPr/>
        </p:nvSpPr>
        <p:spPr>
          <a:xfrm>
            <a:off x="3939966" y="822960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44.4%</a:t>
            </a:r>
          </a:p>
        </p:txBody>
      </p:sp>
      <p:sp>
        <p:nvSpPr>
          <p:cNvPr id="48" name="ln">
            <a:extLst>
              <a:ext uri="{FF2B5EF4-FFF2-40B4-BE49-F238E27FC236}">
                <a16:creationId xmlns:a16="http://schemas.microsoft.com/office/drawing/2014/main" id="{F799D0AD-2748-FF38-83AB-FFDDE6EC4E8D}"/>
              </a:ext>
            </a:extLst>
          </p:cNvPr>
          <p:cNvSpPr txBox="1">
            <a:spLocks noGrp="1"/>
          </p:cNvSpPr>
          <p:nvPr/>
        </p:nvSpPr>
        <p:spPr>
          <a:xfrm>
            <a:off x="365760" y="1316736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Atlassian</a:t>
            </a:r>
          </a:p>
        </p:txBody>
      </p:sp>
      <p:sp>
        <p:nvSpPr>
          <p:cNvPr id="50" name="bar">
            <a:extLst>
              <a:ext uri="{FF2B5EF4-FFF2-40B4-BE49-F238E27FC236}">
                <a16:creationId xmlns:a16="http://schemas.microsoft.com/office/drawing/2014/main" id="{3D22674F-15E2-02C3-81B0-94D6D145D268}"/>
              </a:ext>
            </a:extLst>
          </p:cNvPr>
          <p:cNvSpPr>
            <a:spLocks noGrp="1"/>
          </p:cNvSpPr>
          <p:nvPr/>
        </p:nvSpPr>
        <p:spPr>
          <a:xfrm>
            <a:off x="1737360" y="1316736"/>
            <a:ext cx="584850" cy="402336"/>
          </a:xfrm>
          <a:prstGeom prst="roundRect">
            <a:avLst>
              <a:gd name="adj" fmla="val 8000"/>
            </a:avLst>
          </a:prstGeom>
          <a:solidFill>
            <a:srgbClr val="1A3A8F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52" name="pct">
            <a:extLst>
              <a:ext uri="{FF2B5EF4-FFF2-40B4-BE49-F238E27FC236}">
                <a16:creationId xmlns:a16="http://schemas.microsoft.com/office/drawing/2014/main" id="{F7E1EFDD-EB9E-4D81-9E0A-E75EC2F6CE9F}"/>
              </a:ext>
            </a:extLst>
          </p:cNvPr>
          <p:cNvSpPr txBox="1">
            <a:spLocks noGrp="1"/>
          </p:cNvSpPr>
          <p:nvPr/>
        </p:nvSpPr>
        <p:spPr>
          <a:xfrm>
            <a:off x="2413650" y="1316736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12.3%</a:t>
            </a:r>
          </a:p>
        </p:txBody>
      </p:sp>
      <p:sp>
        <p:nvSpPr>
          <p:cNvPr id="54" name="ln">
            <a:extLst>
              <a:ext uri="{FF2B5EF4-FFF2-40B4-BE49-F238E27FC236}">
                <a16:creationId xmlns:a16="http://schemas.microsoft.com/office/drawing/2014/main" id="{694A9F82-8A8D-4636-220C-3EE74279986E}"/>
              </a:ext>
            </a:extLst>
          </p:cNvPr>
          <p:cNvSpPr txBox="1">
            <a:spLocks noGrp="1"/>
          </p:cNvSpPr>
          <p:nvPr/>
        </p:nvSpPr>
        <p:spPr>
          <a:xfrm>
            <a:off x="365760" y="1810512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BMC Helix</a:t>
            </a:r>
          </a:p>
        </p:txBody>
      </p:sp>
      <p:sp>
        <p:nvSpPr>
          <p:cNvPr id="56" name="bar">
            <a:extLst>
              <a:ext uri="{FF2B5EF4-FFF2-40B4-BE49-F238E27FC236}">
                <a16:creationId xmlns:a16="http://schemas.microsoft.com/office/drawing/2014/main" id="{AEFCCA6B-6BF6-1164-C99D-8B4D0E0A8DC1}"/>
              </a:ext>
            </a:extLst>
          </p:cNvPr>
          <p:cNvSpPr>
            <a:spLocks noGrp="1"/>
          </p:cNvSpPr>
          <p:nvPr/>
        </p:nvSpPr>
        <p:spPr>
          <a:xfrm>
            <a:off x="1737360" y="1810512"/>
            <a:ext cx="404164" cy="402336"/>
          </a:xfrm>
          <a:prstGeom prst="roundRect">
            <a:avLst>
              <a:gd name="adj" fmla="val 8000"/>
            </a:avLst>
          </a:prstGeom>
          <a:solidFill>
            <a:srgbClr val="1B7B85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58" name="pct">
            <a:extLst>
              <a:ext uri="{FF2B5EF4-FFF2-40B4-BE49-F238E27FC236}">
                <a16:creationId xmlns:a16="http://schemas.microsoft.com/office/drawing/2014/main" id="{1CA6FE2E-DDA9-A223-26CC-16C70CBAA543}"/>
              </a:ext>
            </a:extLst>
          </p:cNvPr>
          <p:cNvSpPr txBox="1">
            <a:spLocks noGrp="1"/>
          </p:cNvSpPr>
          <p:nvPr/>
        </p:nvSpPr>
        <p:spPr>
          <a:xfrm>
            <a:off x="2232964" y="1810512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8.5%</a:t>
            </a:r>
          </a:p>
        </p:txBody>
      </p:sp>
      <p:sp>
        <p:nvSpPr>
          <p:cNvPr id="60" name="ln">
            <a:extLst>
              <a:ext uri="{FF2B5EF4-FFF2-40B4-BE49-F238E27FC236}">
                <a16:creationId xmlns:a16="http://schemas.microsoft.com/office/drawing/2014/main" id="{AACB0C82-235E-2D44-7E9F-78F6E31F797E}"/>
              </a:ext>
            </a:extLst>
          </p:cNvPr>
          <p:cNvSpPr txBox="1">
            <a:spLocks noGrp="1"/>
          </p:cNvSpPr>
          <p:nvPr/>
        </p:nvSpPr>
        <p:spPr>
          <a:xfrm>
            <a:off x="365760" y="2304288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Ivanti</a:t>
            </a:r>
          </a:p>
        </p:txBody>
      </p:sp>
      <p:sp>
        <p:nvSpPr>
          <p:cNvPr id="62" name="bar">
            <a:extLst>
              <a:ext uri="{FF2B5EF4-FFF2-40B4-BE49-F238E27FC236}">
                <a16:creationId xmlns:a16="http://schemas.microsoft.com/office/drawing/2014/main" id="{0B567FCC-D014-06F8-6C73-BC8443561923}"/>
              </a:ext>
            </a:extLst>
          </p:cNvPr>
          <p:cNvSpPr>
            <a:spLocks noGrp="1"/>
          </p:cNvSpPr>
          <p:nvPr/>
        </p:nvSpPr>
        <p:spPr>
          <a:xfrm>
            <a:off x="1737360" y="2304288"/>
            <a:ext cx="294802" cy="402336"/>
          </a:xfrm>
          <a:prstGeom prst="roundRect">
            <a:avLst>
              <a:gd name="adj" fmla="val 8000"/>
            </a:avLst>
          </a:prstGeom>
          <a:solidFill>
            <a:srgbClr val="1F6FBA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64" name="pct">
            <a:extLst>
              <a:ext uri="{FF2B5EF4-FFF2-40B4-BE49-F238E27FC236}">
                <a16:creationId xmlns:a16="http://schemas.microsoft.com/office/drawing/2014/main" id="{AE7418F8-882F-4679-2319-57DEE0F96BC0}"/>
              </a:ext>
            </a:extLst>
          </p:cNvPr>
          <p:cNvSpPr txBox="1">
            <a:spLocks noGrp="1"/>
          </p:cNvSpPr>
          <p:nvPr/>
        </p:nvSpPr>
        <p:spPr>
          <a:xfrm>
            <a:off x="2123602" y="2304288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6.2%</a:t>
            </a:r>
          </a:p>
        </p:txBody>
      </p:sp>
      <p:sp>
        <p:nvSpPr>
          <p:cNvPr id="66" name="ln">
            <a:extLst>
              <a:ext uri="{FF2B5EF4-FFF2-40B4-BE49-F238E27FC236}">
                <a16:creationId xmlns:a16="http://schemas.microsoft.com/office/drawing/2014/main" id="{C93CE046-7A6A-D68D-D495-5957E38B9601}"/>
              </a:ext>
            </a:extLst>
          </p:cNvPr>
          <p:cNvSpPr txBox="1">
            <a:spLocks noGrp="1"/>
          </p:cNvSpPr>
          <p:nvPr/>
        </p:nvSpPr>
        <p:spPr>
          <a:xfrm>
            <a:off x="365760" y="2798064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Freshworks</a:t>
            </a:r>
          </a:p>
        </p:txBody>
      </p:sp>
      <p:sp>
        <p:nvSpPr>
          <p:cNvPr id="68" name="bar">
            <a:extLst>
              <a:ext uri="{FF2B5EF4-FFF2-40B4-BE49-F238E27FC236}">
                <a16:creationId xmlns:a16="http://schemas.microsoft.com/office/drawing/2014/main" id="{37077E38-F59E-47AF-07D1-4A736E43E4FB}"/>
              </a:ext>
            </a:extLst>
          </p:cNvPr>
          <p:cNvSpPr>
            <a:spLocks noGrp="1"/>
          </p:cNvSpPr>
          <p:nvPr/>
        </p:nvSpPr>
        <p:spPr>
          <a:xfrm>
            <a:off x="1737360" y="2798064"/>
            <a:ext cx="275783" cy="402336"/>
          </a:xfrm>
          <a:prstGeom prst="roundRect">
            <a:avLst>
              <a:gd name="adj" fmla="val 8000"/>
            </a:avLst>
          </a:prstGeom>
          <a:solidFill>
            <a:srgbClr val="5B6B73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70" name="pct">
            <a:extLst>
              <a:ext uri="{FF2B5EF4-FFF2-40B4-BE49-F238E27FC236}">
                <a16:creationId xmlns:a16="http://schemas.microsoft.com/office/drawing/2014/main" id="{2A47226E-7148-1276-0B4C-831F2B8E1BCD}"/>
              </a:ext>
            </a:extLst>
          </p:cNvPr>
          <p:cNvSpPr txBox="1">
            <a:spLocks noGrp="1"/>
          </p:cNvSpPr>
          <p:nvPr/>
        </p:nvSpPr>
        <p:spPr>
          <a:xfrm>
            <a:off x="2104583" y="2798064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5.8%</a:t>
            </a:r>
          </a:p>
        </p:txBody>
      </p:sp>
      <p:sp>
        <p:nvSpPr>
          <p:cNvPr id="72" name="ln">
            <a:extLst>
              <a:ext uri="{FF2B5EF4-FFF2-40B4-BE49-F238E27FC236}">
                <a16:creationId xmlns:a16="http://schemas.microsoft.com/office/drawing/2014/main" id="{35D29E99-D3CA-BEBB-2A3E-65AD758B6DF9}"/>
              </a:ext>
            </a:extLst>
          </p:cNvPr>
          <p:cNvSpPr txBox="1">
            <a:spLocks noGrp="1"/>
          </p:cNvSpPr>
          <p:nvPr/>
        </p:nvSpPr>
        <p:spPr>
          <a:xfrm>
            <a:off x="365760" y="3291840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Otros</a:t>
            </a:r>
          </a:p>
        </p:txBody>
      </p:sp>
      <p:sp>
        <p:nvSpPr>
          <p:cNvPr id="74" name="bar">
            <a:extLst>
              <a:ext uri="{FF2B5EF4-FFF2-40B4-BE49-F238E27FC236}">
                <a16:creationId xmlns:a16="http://schemas.microsoft.com/office/drawing/2014/main" id="{48B9B25E-15B3-3C8B-A9CF-209F1C25E6B0}"/>
              </a:ext>
            </a:extLst>
          </p:cNvPr>
          <p:cNvSpPr>
            <a:spLocks noGrp="1"/>
          </p:cNvSpPr>
          <p:nvPr/>
        </p:nvSpPr>
        <p:spPr>
          <a:xfrm>
            <a:off x="1737360" y="3291840"/>
            <a:ext cx="1084112" cy="402336"/>
          </a:xfrm>
          <a:prstGeom prst="roundRect">
            <a:avLst>
              <a:gd name="adj" fmla="val 8000"/>
            </a:avLst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76" name="pct">
            <a:extLst>
              <a:ext uri="{FF2B5EF4-FFF2-40B4-BE49-F238E27FC236}">
                <a16:creationId xmlns:a16="http://schemas.microsoft.com/office/drawing/2014/main" id="{C739B923-0CF1-E7FC-0CE0-AC503323BE50}"/>
              </a:ext>
            </a:extLst>
          </p:cNvPr>
          <p:cNvSpPr txBox="1">
            <a:spLocks noGrp="1"/>
          </p:cNvSpPr>
          <p:nvPr/>
        </p:nvSpPr>
        <p:spPr>
          <a:xfrm>
            <a:off x="2912912" y="3291840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22.8%</a:t>
            </a:r>
          </a:p>
        </p:txBody>
      </p:sp>
      <p:sp>
        <p:nvSpPr>
          <p:cNvPr id="86" name="bn">
            <a:extLst>
              <a:ext uri="{FF2B5EF4-FFF2-40B4-BE49-F238E27FC236}">
                <a16:creationId xmlns:a16="http://schemas.microsoft.com/office/drawing/2014/main" id="{7066C97C-195C-9B3C-074C-F5EA7F30196D}"/>
              </a:ext>
            </a:extLst>
          </p:cNvPr>
          <p:cNvSpPr txBox="1">
            <a:spLocks noGrp="1"/>
          </p:cNvSpPr>
          <p:nvPr/>
        </p:nvSpPr>
        <p:spPr>
          <a:xfrm>
            <a:off x="5507082" y="792045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b="1">
                <a:solidFill>
                  <a:srgbClr val="0097A7"/>
                </a:solidFill>
                <a:latin typeface="Reddit Sans"/>
                <a:ea typeface="Reddit Sans"/>
              </a:rPr>
              <a:t>9</a:t>
            </a:r>
          </a:p>
        </p:txBody>
      </p:sp>
      <p:sp>
        <p:nvSpPr>
          <p:cNvPr id="88" name="bd">
            <a:extLst>
              <a:ext uri="{FF2B5EF4-FFF2-40B4-BE49-F238E27FC236}">
                <a16:creationId xmlns:a16="http://schemas.microsoft.com/office/drawing/2014/main" id="{B6268D97-7923-7BB8-5D8E-F0B6FCF3A71C}"/>
              </a:ext>
            </a:extLst>
          </p:cNvPr>
          <p:cNvSpPr txBox="1">
            <a:spLocks noGrp="1"/>
          </p:cNvSpPr>
          <p:nvPr/>
        </p:nvSpPr>
        <p:spPr>
          <a:xfrm>
            <a:off x="6330042" y="792045"/>
            <a:ext cx="1925682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Capacidades IA evaluadas por Gartner
mín. 5 para calificar</a:t>
            </a:r>
          </a:p>
        </p:txBody>
      </p:sp>
      <p:sp>
        <p:nvSpPr>
          <p:cNvPr id="92" name="bn">
            <a:extLst>
              <a:ext uri="{FF2B5EF4-FFF2-40B4-BE49-F238E27FC236}">
                <a16:creationId xmlns:a16="http://schemas.microsoft.com/office/drawing/2014/main" id="{3E8DC062-C6D9-C108-E568-0FBED824BDA1}"/>
              </a:ext>
            </a:extLst>
          </p:cNvPr>
          <p:cNvSpPr txBox="1">
            <a:spLocks noGrp="1"/>
          </p:cNvSpPr>
          <p:nvPr/>
        </p:nvSpPr>
        <p:spPr>
          <a:xfrm>
            <a:off x="5507082" y="1578429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b="1">
                <a:solidFill>
                  <a:srgbClr val="0097A7"/>
                </a:solidFill>
                <a:latin typeface="Reddit Sans"/>
                <a:ea typeface="Reddit Sans"/>
              </a:rPr>
              <a:t>ITIL v5</a:t>
            </a:r>
          </a:p>
        </p:txBody>
      </p:sp>
      <p:sp>
        <p:nvSpPr>
          <p:cNvPr id="94" name="bd">
            <a:extLst>
              <a:ext uri="{FF2B5EF4-FFF2-40B4-BE49-F238E27FC236}">
                <a16:creationId xmlns:a16="http://schemas.microsoft.com/office/drawing/2014/main" id="{609E48BA-D352-26AB-EB4D-208A41127F2D}"/>
              </a:ext>
            </a:extLst>
          </p:cNvPr>
          <p:cNvSpPr txBox="1">
            <a:spLocks noGrp="1"/>
          </p:cNvSpPr>
          <p:nvPr/>
        </p:nvSpPr>
        <p:spPr>
          <a:xfrm>
            <a:off x="6330042" y="1578429"/>
            <a:ext cx="1925682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Lanzado 12 feb 2026
Nuevo estándar de la industria</a:t>
            </a:r>
          </a:p>
        </p:txBody>
      </p:sp>
      <p:sp>
        <p:nvSpPr>
          <p:cNvPr id="98" name="bn">
            <a:extLst>
              <a:ext uri="{FF2B5EF4-FFF2-40B4-BE49-F238E27FC236}">
                <a16:creationId xmlns:a16="http://schemas.microsoft.com/office/drawing/2014/main" id="{CC58E608-1FDD-930C-25BC-FED802924F3E}"/>
              </a:ext>
            </a:extLst>
          </p:cNvPr>
          <p:cNvSpPr txBox="1">
            <a:spLocks noGrp="1"/>
          </p:cNvSpPr>
          <p:nvPr/>
        </p:nvSpPr>
        <p:spPr>
          <a:xfrm>
            <a:off x="5507082" y="2364813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b="1">
                <a:solidFill>
                  <a:srgbClr val="0097A7"/>
                </a:solidFill>
                <a:latin typeface="Reddit Sans"/>
                <a:ea typeface="Reddit Sans"/>
              </a:rPr>
              <a:t>~70%</a:t>
            </a:r>
          </a:p>
        </p:txBody>
      </p:sp>
      <p:sp>
        <p:nvSpPr>
          <p:cNvPr id="100" name="bd">
            <a:extLst>
              <a:ext uri="{FF2B5EF4-FFF2-40B4-BE49-F238E27FC236}">
                <a16:creationId xmlns:a16="http://schemas.microsoft.com/office/drawing/2014/main" id="{7E57363F-47DB-A74A-AF02-4BCDFC28DCB1}"/>
              </a:ext>
            </a:extLst>
          </p:cNvPr>
          <p:cNvSpPr txBox="1">
            <a:spLocks noGrp="1"/>
          </p:cNvSpPr>
          <p:nvPr/>
        </p:nvSpPr>
        <p:spPr>
          <a:xfrm>
            <a:off x="6330042" y="2364813"/>
            <a:ext cx="1925682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Adoptarán XLA en 2026
(Experience Level Agreements)</a:t>
            </a:r>
          </a:p>
        </p:txBody>
      </p:sp>
      <p:sp>
        <p:nvSpPr>
          <p:cNvPr id="104" name="bn">
            <a:extLst>
              <a:ext uri="{FF2B5EF4-FFF2-40B4-BE49-F238E27FC236}">
                <a16:creationId xmlns:a16="http://schemas.microsoft.com/office/drawing/2014/main" id="{B3B47693-D349-15AD-AF78-83FAC494A16A}"/>
              </a:ext>
            </a:extLst>
          </p:cNvPr>
          <p:cNvSpPr txBox="1">
            <a:spLocks noGrp="1"/>
          </p:cNvSpPr>
          <p:nvPr/>
        </p:nvSpPr>
        <p:spPr>
          <a:xfrm>
            <a:off x="5507082" y="3151197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b="1">
                <a:solidFill>
                  <a:srgbClr val="0097A7"/>
                </a:solidFill>
                <a:latin typeface="Reddit Sans"/>
                <a:ea typeface="Reddit Sans"/>
              </a:rPr>
              <a:t>44.4%</a:t>
            </a:r>
          </a:p>
        </p:txBody>
      </p:sp>
      <p:sp>
        <p:nvSpPr>
          <p:cNvPr id="106" name="bd">
            <a:extLst>
              <a:ext uri="{FF2B5EF4-FFF2-40B4-BE49-F238E27FC236}">
                <a16:creationId xmlns:a16="http://schemas.microsoft.com/office/drawing/2014/main" id="{FA9F9116-A413-6B75-BFE3-1D7FBAA1FD52}"/>
              </a:ext>
            </a:extLst>
          </p:cNvPr>
          <p:cNvSpPr txBox="1">
            <a:spLocks noGrp="1"/>
          </p:cNvSpPr>
          <p:nvPr/>
        </p:nvSpPr>
        <p:spPr>
          <a:xfrm>
            <a:off x="6297385" y="3178411"/>
            <a:ext cx="2284910" cy="54210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r>
              <a:rPr lang="es-ES" sz="1000" b="1" err="1">
                <a:solidFill>
                  <a:srgbClr val="333333"/>
                </a:solidFill>
                <a:latin typeface="Reddit Sans"/>
                <a:ea typeface="Reddit Sans"/>
              </a:rPr>
              <a:t>ServiceNow</a:t>
            </a:r>
            <a:r>
              <a:rPr lang="es-ES" sz="1000" b="1">
                <a:solidFill>
                  <a:srgbClr val="333333"/>
                </a:solidFill>
                <a:latin typeface="Reddit Sans"/>
                <a:ea typeface="Reddit Sans"/>
              </a:rPr>
              <a:t> </a:t>
            </a:r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 Líder
en MQ AI </a:t>
            </a:r>
            <a:r>
              <a:rPr lang="es-ES" sz="1000" err="1">
                <a:solidFill>
                  <a:srgbClr val="333333"/>
                </a:solidFill>
                <a:latin typeface="Reddit Sans"/>
                <a:ea typeface="Reddit Sans"/>
              </a:rPr>
              <a:t>Applications</a:t>
            </a:r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 in ITSM 2025</a:t>
            </a:r>
          </a:p>
        </p:txBody>
      </p:sp>
      <p:sp>
        <p:nvSpPr>
          <p:cNvPr id="110" name="qtxt">
            <a:extLst>
              <a:ext uri="{FF2B5EF4-FFF2-40B4-BE49-F238E27FC236}">
                <a16:creationId xmlns:a16="http://schemas.microsoft.com/office/drawing/2014/main" id="{60BAE401-2A97-E144-0191-1604F0E984C4}"/>
              </a:ext>
            </a:extLst>
          </p:cNvPr>
          <p:cNvSpPr txBox="1">
            <a:spLocks noGrp="1"/>
          </p:cNvSpPr>
          <p:nvPr/>
        </p:nvSpPr>
        <p:spPr>
          <a:xfrm>
            <a:off x="693419" y="3893602"/>
            <a:ext cx="4434840" cy="56170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s-ES" sz="950" i="1">
                <a:solidFill>
                  <a:schemeClr val="bg2"/>
                </a:solidFill>
                <a:latin typeface="Reddit Sans"/>
                <a:ea typeface="Reddit Sans"/>
              </a:rPr>
              <a:t>"El diferenciador real está en la plataforma propietaria, profundidad de IA y madurez del modelo de gobierno"</a:t>
            </a:r>
          </a:p>
        </p:txBody>
      </p:sp>
      <p:sp>
        <p:nvSpPr>
          <p:cNvPr id="3" name="src">
            <a:extLst>
              <a:ext uri="{FF2B5EF4-FFF2-40B4-BE49-F238E27FC236}">
                <a16:creationId xmlns:a16="http://schemas.microsoft.com/office/drawing/2014/main" id="{998551FB-5122-C5E5-7C81-367AD5D1AD71}"/>
              </a:ext>
            </a:extLst>
          </p:cNvPr>
          <p:cNvSpPr txBox="1">
            <a:spLocks noGrp="1"/>
          </p:cNvSpPr>
          <p:nvPr/>
        </p:nvSpPr>
        <p:spPr>
          <a:xfrm>
            <a:off x="630282" y="4631001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50">
                <a:solidFill>
                  <a:srgbClr val="6B7280"/>
                </a:solidFill>
                <a:latin typeface="Calibri"/>
              </a:rPr>
              <a:t>Fuente: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3"/>
              </a:rPr>
              <a:t>Gartner MQ AI Applications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4"/>
              </a:rPr>
              <a:t>PeopleCert ITIL v5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5"/>
              </a:rPr>
              <a:t>Freshservice XLA Report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6"/>
              </a:rPr>
              <a:t>Apps Run The World (2024)</a:t>
            </a:r>
            <a:endParaRPr lang="es-ES" sz="750" u="sng">
              <a:solidFill>
                <a:srgbClr val="1A3A8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681015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15F133-DCFA-C0B8-1846-1B4B2E47D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7328" y="167734"/>
            <a:ext cx="4145187" cy="572700"/>
          </a:xfrm>
        </p:spPr>
        <p:txBody>
          <a:bodyPr>
            <a:normAutofit fontScale="90000"/>
          </a:bodyPr>
          <a:lstStyle/>
          <a:p>
            <a:r>
              <a:rPr lang="en-US" sz="1800" kern="1200" err="1">
                <a:cs typeface="+mn-cs"/>
                <a:sym typeface="Arial"/>
              </a:rPr>
              <a:t>Brechas</a:t>
            </a:r>
            <a:r>
              <a:rPr lang="en-US" sz="1800" kern="1200">
                <a:cs typeface="+mn-cs"/>
                <a:sym typeface="Arial"/>
              </a:rPr>
              <a:t> del mercado y </a:t>
            </a:r>
            <a:r>
              <a:rPr lang="en-US" sz="1800" kern="1200" err="1">
                <a:cs typeface="+mn-cs"/>
                <a:sym typeface="Arial"/>
              </a:rPr>
              <a:t>oportunidades</a:t>
            </a:r>
            <a:endParaRPr lang="es-ES" sz="1800" kern="1200" err="1">
              <a:cs typeface="+mn-cs"/>
              <a:sym typeface="Arial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D95AC8E-9D82-484D-9010-F28844ECB1E3}"/>
              </a:ext>
            </a:extLst>
          </p:cNvPr>
          <p:cNvSpPr txBox="1"/>
          <p:nvPr/>
        </p:nvSpPr>
        <p:spPr>
          <a:xfrm>
            <a:off x="4435928" y="677636"/>
            <a:ext cx="4305301" cy="41292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lnSpc>
                <a:spcPct val="150000"/>
              </a:lnSpc>
              <a:buChar char="•"/>
            </a:pP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Falta de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Modelos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de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Madurez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​ </a:t>
            </a:r>
            <a:endParaRPr lang="es-ES" sz="1100" b="1">
              <a:solidFill>
                <a:srgbClr val="0E337C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No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existen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modelos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claros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que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ayuden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a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los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clientes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a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entender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su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estado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actual y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evolución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en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ITSM con IA.​ </a:t>
            </a:r>
          </a:p>
          <a:p>
            <a:pPr>
              <a:lnSpc>
                <a:spcPct val="150000"/>
              </a:lnSpc>
            </a:pPr>
            <a:endParaRPr lang="en-US" sz="11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Char char="•"/>
            </a:pP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Limitada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Gobernanza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de IA​ </a:t>
            </a:r>
          </a:p>
          <a:p>
            <a:pPr>
              <a:lnSpc>
                <a:spcPct val="150000"/>
              </a:lnSpc>
            </a:pPr>
            <a:r>
              <a:rPr lang="en-US" sz="1100">
                <a:latin typeface="Reddit Sans"/>
                <a:ea typeface="Reddit Sans"/>
              </a:rPr>
              <a:t>La </a:t>
            </a:r>
            <a:r>
              <a:rPr lang="en-US" sz="1100" err="1">
                <a:latin typeface="Reddit Sans"/>
                <a:ea typeface="Reddit Sans"/>
              </a:rPr>
              <a:t>gobernanza</a:t>
            </a:r>
            <a:r>
              <a:rPr lang="en-US" sz="1100">
                <a:latin typeface="Reddit Sans"/>
                <a:ea typeface="Reddit Sans"/>
              </a:rPr>
              <a:t> de </a:t>
            </a:r>
            <a:r>
              <a:rPr lang="en-US" sz="1100" err="1">
                <a:latin typeface="Reddit Sans"/>
                <a:ea typeface="Reddit Sans"/>
              </a:rPr>
              <a:t>inteligencia</a:t>
            </a:r>
            <a:r>
              <a:rPr lang="en-US" sz="1100">
                <a:latin typeface="Reddit Sans"/>
                <a:ea typeface="Reddit Sans"/>
              </a:rPr>
              <a:t> artificial </a:t>
            </a:r>
            <a:r>
              <a:rPr lang="en-US" sz="1100" err="1">
                <a:latin typeface="Reddit Sans"/>
                <a:ea typeface="Reddit Sans"/>
              </a:rPr>
              <a:t>está</a:t>
            </a:r>
            <a:r>
              <a:rPr lang="en-US" sz="1100">
                <a:latin typeface="Reddit Sans"/>
                <a:ea typeface="Reddit Sans"/>
              </a:rPr>
              <a:t> poco </a:t>
            </a:r>
            <a:r>
              <a:rPr lang="en-US" sz="1100" err="1">
                <a:latin typeface="Reddit Sans"/>
                <a:ea typeface="Reddit Sans"/>
              </a:rPr>
              <a:t>desarrollada</a:t>
            </a:r>
            <a:r>
              <a:rPr lang="en-US" sz="1100">
                <a:latin typeface="Reddit Sans"/>
                <a:ea typeface="Reddit Sans"/>
              </a:rPr>
              <a:t>, </a:t>
            </a:r>
            <a:r>
              <a:rPr lang="en-US" sz="1100" err="1">
                <a:latin typeface="Reddit Sans"/>
                <a:ea typeface="Reddit Sans"/>
              </a:rPr>
              <a:t>creando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riesgos</a:t>
            </a:r>
            <a:r>
              <a:rPr lang="en-US" sz="1100">
                <a:latin typeface="Reddit Sans"/>
                <a:ea typeface="Reddit Sans"/>
              </a:rPr>
              <a:t> y </a:t>
            </a:r>
            <a:r>
              <a:rPr lang="en-US" sz="1100" err="1">
                <a:latin typeface="Reddit Sans"/>
                <a:ea typeface="Reddit Sans"/>
              </a:rPr>
              <a:t>limitando</a:t>
            </a:r>
            <a:r>
              <a:rPr lang="en-US" sz="1100">
                <a:latin typeface="Reddit Sans"/>
                <a:ea typeface="Reddit Sans"/>
              </a:rPr>
              <a:t> la </a:t>
            </a:r>
            <a:r>
              <a:rPr lang="en-US" sz="1100" err="1">
                <a:latin typeface="Reddit Sans"/>
                <a:ea typeface="Reddit Sans"/>
              </a:rPr>
              <a:t>adopción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tecnológica</a:t>
            </a:r>
            <a:r>
              <a:rPr lang="en-US" sz="1100">
                <a:latin typeface="Reddit Sans"/>
                <a:ea typeface="Reddit Sans"/>
              </a:rPr>
              <a:t>.​ </a:t>
            </a:r>
          </a:p>
          <a:p>
            <a:pPr>
              <a:lnSpc>
                <a:spcPct val="150000"/>
              </a:lnSpc>
            </a:pPr>
            <a:endParaRPr lang="en-US" sz="1100" b="1">
              <a:solidFill>
                <a:srgbClr val="0E337C"/>
              </a:solidFill>
              <a:latin typeface="Reddit Sans"/>
              <a:cs typeface="Segoe UI"/>
            </a:endParaRPr>
          </a:p>
          <a:p>
            <a:pPr marL="171450" indent="-171450">
              <a:lnSpc>
                <a:spcPct val="150000"/>
              </a:lnSpc>
              <a:buChar char="•"/>
            </a:pP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Desalineación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de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Modelos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de Pricing​ </a:t>
            </a:r>
          </a:p>
          <a:p>
            <a:pPr>
              <a:lnSpc>
                <a:spcPct val="150000"/>
              </a:lnSpc>
            </a:pPr>
            <a:r>
              <a:rPr lang="en-US" sz="1100">
                <a:latin typeface="Reddit Sans"/>
                <a:ea typeface="Reddit Sans"/>
              </a:rPr>
              <a:t>Los </a:t>
            </a:r>
            <a:r>
              <a:rPr lang="en-US" sz="1100" err="1">
                <a:latin typeface="Reddit Sans"/>
                <a:ea typeface="Reddit Sans"/>
              </a:rPr>
              <a:t>modelos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tradicionales</a:t>
            </a:r>
            <a:r>
              <a:rPr lang="en-US" sz="1100">
                <a:latin typeface="Reddit Sans"/>
                <a:ea typeface="Reddit Sans"/>
              </a:rPr>
              <a:t> de pricing no se </a:t>
            </a:r>
            <a:r>
              <a:rPr lang="en-US" sz="1100" err="1">
                <a:latin typeface="Reddit Sans"/>
                <a:ea typeface="Reddit Sans"/>
              </a:rPr>
              <a:t>alinean</a:t>
            </a:r>
            <a:r>
              <a:rPr lang="en-US" sz="1100">
                <a:latin typeface="Reddit Sans"/>
                <a:ea typeface="Reddit Sans"/>
              </a:rPr>
              <a:t> con </a:t>
            </a:r>
            <a:r>
              <a:rPr lang="en-US" sz="1100" err="1">
                <a:latin typeface="Reddit Sans"/>
                <a:ea typeface="Reddit Sans"/>
              </a:rPr>
              <a:t>resultados</a:t>
            </a:r>
            <a:r>
              <a:rPr lang="en-US" sz="1100">
                <a:latin typeface="Reddit Sans"/>
                <a:ea typeface="Reddit Sans"/>
              </a:rPr>
              <a:t> de </a:t>
            </a:r>
            <a:r>
              <a:rPr lang="en-US" sz="1100" err="1">
                <a:latin typeface="Reddit Sans"/>
                <a:ea typeface="Reddit Sans"/>
              </a:rPr>
              <a:t>negocio</a:t>
            </a:r>
            <a:r>
              <a:rPr lang="en-US" sz="1100">
                <a:latin typeface="Reddit Sans"/>
                <a:ea typeface="Reddit Sans"/>
              </a:rPr>
              <a:t>, </a:t>
            </a:r>
            <a:r>
              <a:rPr lang="en-US" sz="1100" err="1">
                <a:latin typeface="Reddit Sans"/>
                <a:ea typeface="Reddit Sans"/>
              </a:rPr>
              <a:t>dificultando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demostrar</a:t>
            </a:r>
            <a:r>
              <a:rPr lang="en-US" sz="1100">
                <a:latin typeface="Reddit Sans"/>
                <a:ea typeface="Reddit Sans"/>
              </a:rPr>
              <a:t> valor tangible.​ </a:t>
            </a:r>
          </a:p>
          <a:p>
            <a:pPr>
              <a:lnSpc>
                <a:spcPct val="150000"/>
              </a:lnSpc>
            </a:pPr>
            <a:endParaRPr lang="en-US" sz="11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Char char="•"/>
            </a:pP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Oportunidad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Estratégica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​ </a:t>
            </a:r>
          </a:p>
          <a:p>
            <a:pPr>
              <a:lnSpc>
                <a:spcPct val="150000"/>
              </a:lnSpc>
            </a:pPr>
            <a:r>
              <a:rPr lang="en-US" sz="1100">
                <a:latin typeface="Reddit Sans"/>
                <a:ea typeface="Reddit Sans"/>
              </a:rPr>
              <a:t>Un framework </a:t>
            </a:r>
            <a:r>
              <a:rPr lang="en-US" sz="1100" err="1">
                <a:latin typeface="Reddit Sans"/>
                <a:ea typeface="Reddit Sans"/>
              </a:rPr>
              <a:t>operativo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completo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que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integre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madurez</a:t>
            </a:r>
            <a:r>
              <a:rPr lang="en-US" sz="1100">
                <a:latin typeface="Reddit Sans"/>
                <a:ea typeface="Reddit Sans"/>
              </a:rPr>
              <a:t>, </a:t>
            </a:r>
            <a:r>
              <a:rPr lang="en-US" sz="1100" err="1">
                <a:latin typeface="Reddit Sans"/>
                <a:ea typeface="Reddit Sans"/>
              </a:rPr>
              <a:t>gobernanza</a:t>
            </a:r>
            <a:r>
              <a:rPr lang="en-US" sz="1100">
                <a:latin typeface="Reddit Sans"/>
                <a:ea typeface="Reddit Sans"/>
              </a:rPr>
              <a:t> y </a:t>
            </a:r>
            <a:r>
              <a:rPr lang="en-US" sz="1100" err="1">
                <a:latin typeface="Reddit Sans"/>
                <a:ea typeface="Reddit Sans"/>
              </a:rPr>
              <a:t>alineación</a:t>
            </a:r>
            <a:r>
              <a:rPr lang="en-US" sz="1100">
                <a:latin typeface="Reddit Sans"/>
                <a:ea typeface="Reddit Sans"/>
              </a:rPr>
              <a:t> a </a:t>
            </a:r>
            <a:r>
              <a:rPr lang="en-US" sz="1100" err="1">
                <a:latin typeface="Reddit Sans"/>
                <a:ea typeface="Reddit Sans"/>
              </a:rPr>
              <a:t>resultados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garantiza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diferenciación</a:t>
            </a:r>
            <a:r>
              <a:rPr lang="en-US" sz="1100">
                <a:latin typeface="Reddit Sans"/>
                <a:ea typeface="Reddit Sans"/>
              </a:rPr>
              <a:t> y valor continuo.</a:t>
            </a:r>
          </a:p>
        </p:txBody>
      </p:sp>
      <p:pic>
        <p:nvPicPr>
          <p:cNvPr id="3" name="Imagen 2" descr="a gap in a bridge">
            <a:extLst>
              <a:ext uri="{FF2B5EF4-FFF2-40B4-BE49-F238E27FC236}">
                <a16:creationId xmlns:a16="http://schemas.microsoft.com/office/drawing/2014/main" id="{BD44B07F-ABDF-9330-3F0C-7F511A4857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72" r="1872" b="156"/>
          <a:stretch>
            <a:fillRect/>
          </a:stretch>
        </p:blipFill>
        <p:spPr>
          <a:xfrm>
            <a:off x="-961736" y="-2041"/>
            <a:ext cx="5015016" cy="515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3726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9504ED-8B97-81B2-4F4C-21B231961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1800"/>
              <a:t>7 Tendencias que definen el mercado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0914D8E-EF4F-E49C-D425-6F1DA6C85EAE}"/>
              </a:ext>
            </a:extLst>
          </p:cNvPr>
          <p:cNvSpPr/>
          <p:nvPr/>
        </p:nvSpPr>
        <p:spPr>
          <a:xfrm>
            <a:off x="329974" y="1177869"/>
            <a:ext cx="2000250" cy="1577408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6B283EB-57A8-42D5-CE59-F1D70F74631A}"/>
              </a:ext>
            </a:extLst>
          </p:cNvPr>
          <p:cNvSpPr/>
          <p:nvPr/>
        </p:nvSpPr>
        <p:spPr>
          <a:xfrm>
            <a:off x="544286" y="1470963"/>
            <a:ext cx="1785938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GenAI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140BA4D-F980-4124-1CF0-2198CE56A45B}"/>
              </a:ext>
            </a:extLst>
          </p:cNvPr>
          <p:cNvSpPr/>
          <p:nvPr/>
        </p:nvSpPr>
        <p:spPr>
          <a:xfrm>
            <a:off x="544286" y="1686839"/>
            <a:ext cx="1856817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Integración de modelos de</a:t>
            </a:r>
            <a:b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lenguaje para la automatización</a:t>
            </a:r>
            <a:b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creativa y analítica.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129B338D-5614-647D-E3E6-D2E11960480B}"/>
              </a:ext>
            </a:extLst>
          </p:cNvPr>
          <p:cNvSpPr/>
          <p:nvPr/>
        </p:nvSpPr>
        <p:spPr>
          <a:xfrm>
            <a:off x="1062209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2" name="Image 0" descr="-250ad3de.png">
            <a:extLst>
              <a:ext uri="{FF2B5EF4-FFF2-40B4-BE49-F238E27FC236}">
                <a16:creationId xmlns:a16="http://schemas.microsoft.com/office/drawing/2014/main" id="{B69AE644-2A42-B766-51B8-70F60D0D4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296" y="1046016"/>
            <a:ext cx="350044" cy="292894"/>
          </a:xfrm>
          <a:prstGeom prst="rect">
            <a:avLst/>
          </a:prstGeom>
        </p:spPr>
      </p:pic>
      <p:sp>
        <p:nvSpPr>
          <p:cNvPr id="14" name="Shape 6">
            <a:extLst>
              <a:ext uri="{FF2B5EF4-FFF2-40B4-BE49-F238E27FC236}">
                <a16:creationId xmlns:a16="http://schemas.microsoft.com/office/drawing/2014/main" id="{15E70DEB-F9B2-1D78-1292-7BE533CE32D9}"/>
              </a:ext>
            </a:extLst>
          </p:cNvPr>
          <p:cNvSpPr/>
          <p:nvPr/>
        </p:nvSpPr>
        <p:spPr>
          <a:xfrm>
            <a:off x="2473099" y="1177869"/>
            <a:ext cx="2000250" cy="1577408"/>
          </a:xfrm>
          <a:prstGeom prst="rect">
            <a:avLst/>
          </a:prstGeom>
          <a:solidFill>
            <a:srgbClr val="1F9CDA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A9B0020B-9630-E782-722E-3CEB80025705}"/>
              </a:ext>
            </a:extLst>
          </p:cNvPr>
          <p:cNvSpPr/>
          <p:nvPr/>
        </p:nvSpPr>
        <p:spPr>
          <a:xfrm>
            <a:off x="2687411" y="1470963"/>
            <a:ext cx="1785938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Agentic AI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B48E31E9-9B04-0A0E-1EB2-562A6D4B5520}"/>
              </a:ext>
            </a:extLst>
          </p:cNvPr>
          <p:cNvSpPr/>
          <p:nvPr/>
        </p:nvSpPr>
        <p:spPr>
          <a:xfrm>
            <a:off x="2687411" y="1686839"/>
            <a:ext cx="1785938" cy="6250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Evolución hacia sistemas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autónomos capaces de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ejecutar procesos complejos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sin intervención humana.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4494A8F9-2CA1-EE94-50DD-07B6319B31F7}"/>
              </a:ext>
            </a:extLst>
          </p:cNvPr>
          <p:cNvSpPr/>
          <p:nvPr/>
        </p:nvSpPr>
        <p:spPr>
          <a:xfrm>
            <a:off x="3205334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97CA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2" name="Image 1" descr="5719bd22.png">
            <a:extLst>
              <a:ext uri="{FF2B5EF4-FFF2-40B4-BE49-F238E27FC236}">
                <a16:creationId xmlns:a16="http://schemas.microsoft.com/office/drawing/2014/main" id="{3F0F8949-CEF4-3624-F5AE-3799455C0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5093" y="1058572"/>
            <a:ext cx="271463" cy="242888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1A331B34-3EDC-F8F7-950A-E16FB0391DB2}"/>
              </a:ext>
            </a:extLst>
          </p:cNvPr>
          <p:cNvSpPr/>
          <p:nvPr/>
        </p:nvSpPr>
        <p:spPr>
          <a:xfrm>
            <a:off x="4616224" y="1177869"/>
            <a:ext cx="2000250" cy="1577408"/>
          </a:xfrm>
          <a:prstGeom prst="rect">
            <a:avLst/>
          </a:prstGeom>
          <a:solidFill>
            <a:srgbClr val="1C8EC6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EDE1921A-6D04-7054-5B36-D540BA7EF308}"/>
              </a:ext>
            </a:extLst>
          </p:cNvPr>
          <p:cNvSpPr/>
          <p:nvPr/>
        </p:nvSpPr>
        <p:spPr>
          <a:xfrm>
            <a:off x="4830536" y="1470964"/>
            <a:ext cx="1785938" cy="3422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KCS (Knowledge</a:t>
            </a:r>
            <a:b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Centered Service)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99878086-71B8-D5D4-C28C-28BED7DAF15C}"/>
              </a:ext>
            </a:extLst>
          </p:cNvPr>
          <p:cNvSpPr/>
          <p:nvPr/>
        </p:nvSpPr>
        <p:spPr>
          <a:xfrm>
            <a:off x="4830536" y="1857953"/>
            <a:ext cx="1785938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Maximización del valor del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conocimiento en la resolución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incidencias.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462E42AE-F2EA-E4AB-4C57-AF5C20E60CB7}"/>
              </a:ext>
            </a:extLst>
          </p:cNvPr>
          <p:cNvSpPr/>
          <p:nvPr/>
        </p:nvSpPr>
        <p:spPr>
          <a:xfrm>
            <a:off x="5348459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66E99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32" name="Image 2" descr="0016b4a2.png">
            <a:extLst>
              <a:ext uri="{FF2B5EF4-FFF2-40B4-BE49-F238E27FC236}">
                <a16:creationId xmlns:a16="http://schemas.microsoft.com/office/drawing/2014/main" id="{1D6E04B2-8B63-78D6-9D55-1E6D929519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2168" y="1058573"/>
            <a:ext cx="185738" cy="242888"/>
          </a:xfrm>
          <a:prstGeom prst="rect">
            <a:avLst/>
          </a:prstGeom>
        </p:spPr>
      </p:pic>
      <p:sp>
        <p:nvSpPr>
          <p:cNvPr id="34" name="Shape 14">
            <a:extLst>
              <a:ext uri="{FF2B5EF4-FFF2-40B4-BE49-F238E27FC236}">
                <a16:creationId xmlns:a16="http://schemas.microsoft.com/office/drawing/2014/main" id="{D4162BD6-CC4C-6409-52B4-AD0C1344ED64}"/>
              </a:ext>
            </a:extLst>
          </p:cNvPr>
          <p:cNvSpPr/>
          <p:nvPr/>
        </p:nvSpPr>
        <p:spPr>
          <a:xfrm>
            <a:off x="6759349" y="1177869"/>
            <a:ext cx="2000250" cy="1577408"/>
          </a:xfrm>
          <a:prstGeom prst="rect">
            <a:avLst/>
          </a:prstGeom>
          <a:solidFill>
            <a:srgbClr val="1A80B3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15">
            <a:extLst>
              <a:ext uri="{FF2B5EF4-FFF2-40B4-BE49-F238E27FC236}">
                <a16:creationId xmlns:a16="http://schemas.microsoft.com/office/drawing/2014/main" id="{A8919F73-7DAD-D929-DD8E-4444AF5D4FB0}"/>
              </a:ext>
            </a:extLst>
          </p:cNvPr>
          <p:cNvSpPr/>
          <p:nvPr/>
        </p:nvSpPr>
        <p:spPr>
          <a:xfrm>
            <a:off x="6973661" y="1470963"/>
            <a:ext cx="1785938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348"/>
              </a:lnSpc>
            </a:pPr>
            <a:r>
              <a:rPr lang="en-US" sz="115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Shift-Left</a:t>
            </a:r>
            <a:endParaRPr lang="en-US" sz="1150" kern="0" spc="-71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38" name="Text 16">
            <a:extLst>
              <a:ext uri="{FF2B5EF4-FFF2-40B4-BE49-F238E27FC236}">
                <a16:creationId xmlns:a16="http://schemas.microsoft.com/office/drawing/2014/main" id="{8D368FF9-9D8F-56EF-7E1D-19F517A0F602}"/>
              </a:ext>
            </a:extLst>
          </p:cNvPr>
          <p:cNvSpPr/>
          <p:nvPr/>
        </p:nvSpPr>
        <p:spPr>
          <a:xfrm>
            <a:off x="6973661" y="1686839"/>
            <a:ext cx="1785938" cy="6250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Estrategia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para 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trasladar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la</a:t>
            </a:r>
            <a:br>
              <a:rPr lang="en-US" sz="900" kern="0" spc="-18"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resolución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problemas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a</a:t>
            </a:r>
            <a:br>
              <a:rPr lang="en-US" sz="900" kern="0" spc="-18"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etapas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más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temprana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s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 o al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</a:b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autoservicio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. </a:t>
            </a:r>
            <a:r>
              <a:rPr lang="es-E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Para anticipar, automatizar y resolver. </a:t>
            </a:r>
            <a:endParaRPr lang="en-US" sz="900" kern="0" spc="-18">
              <a:solidFill>
                <a:srgbClr val="FFFFFF">
                  <a:alpha val="80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40" name="Shape 17">
            <a:extLst>
              <a:ext uri="{FF2B5EF4-FFF2-40B4-BE49-F238E27FC236}">
                <a16:creationId xmlns:a16="http://schemas.microsoft.com/office/drawing/2014/main" id="{FBF9F1F8-8EF8-9FDC-4671-08D01B901A07}"/>
              </a:ext>
            </a:extLst>
          </p:cNvPr>
          <p:cNvSpPr/>
          <p:nvPr/>
        </p:nvSpPr>
        <p:spPr>
          <a:xfrm>
            <a:off x="7491584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42" name="Image 3" descr="01f2aa22.png">
            <a:extLst>
              <a:ext uri="{FF2B5EF4-FFF2-40B4-BE49-F238E27FC236}">
                <a16:creationId xmlns:a16="http://schemas.microsoft.com/office/drawing/2014/main" id="{D6F53355-D8DC-9F6D-10CF-C1B3B891ED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3317" y="1086864"/>
            <a:ext cx="221456" cy="192881"/>
          </a:xfrm>
          <a:prstGeom prst="rect">
            <a:avLst/>
          </a:prstGeom>
        </p:spPr>
      </p:pic>
      <p:sp>
        <p:nvSpPr>
          <p:cNvPr id="44" name="Shape 18">
            <a:extLst>
              <a:ext uri="{FF2B5EF4-FFF2-40B4-BE49-F238E27FC236}">
                <a16:creationId xmlns:a16="http://schemas.microsoft.com/office/drawing/2014/main" id="{81737293-8CAF-169F-7774-5574CAB89C32}"/>
              </a:ext>
            </a:extLst>
          </p:cNvPr>
          <p:cNvSpPr/>
          <p:nvPr/>
        </p:nvSpPr>
        <p:spPr>
          <a:xfrm>
            <a:off x="329974" y="3056504"/>
            <a:ext cx="2714625" cy="1435894"/>
          </a:xfrm>
          <a:prstGeom prst="rect">
            <a:avLst/>
          </a:prstGeom>
          <a:solidFill>
            <a:srgbClr val="17719F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46" name="Text 19">
            <a:extLst>
              <a:ext uri="{FF2B5EF4-FFF2-40B4-BE49-F238E27FC236}">
                <a16:creationId xmlns:a16="http://schemas.microsoft.com/office/drawing/2014/main" id="{E020F63A-F911-8F36-EA07-8CC6B000F0CA}"/>
              </a:ext>
            </a:extLst>
          </p:cNvPr>
          <p:cNvSpPr/>
          <p:nvPr/>
        </p:nvSpPr>
        <p:spPr>
          <a:xfrm>
            <a:off x="544286" y="3436685"/>
            <a:ext cx="2500313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348"/>
              </a:lnSpc>
            </a:pPr>
            <a:r>
              <a:rPr lang="en-US" sz="1150" kern="0" spc="-71">
                <a:solidFill>
                  <a:srgbClr val="FFFFFF"/>
                </a:solidFill>
                <a:latin typeface="Reddit Sans"/>
                <a:ea typeface="Reddit Sans"/>
              </a:rPr>
              <a:t>De SLA  a Outcomes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9306C6FE-541D-EC45-829C-43F54F164A86}"/>
              </a:ext>
            </a:extLst>
          </p:cNvPr>
          <p:cNvSpPr/>
          <p:nvPr/>
        </p:nvSpPr>
        <p:spPr>
          <a:xfrm>
            <a:off x="544286" y="3652560"/>
            <a:ext cx="2500313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 orientado a resultados de negocio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tangibles más que a la mera entrega de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servicios.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50" name="Shape 21">
            <a:extLst>
              <a:ext uri="{FF2B5EF4-FFF2-40B4-BE49-F238E27FC236}">
                <a16:creationId xmlns:a16="http://schemas.microsoft.com/office/drawing/2014/main" id="{F3381207-CB2F-887C-8F55-E7829979166C}"/>
              </a:ext>
            </a:extLst>
          </p:cNvPr>
          <p:cNvSpPr/>
          <p:nvPr/>
        </p:nvSpPr>
        <p:spPr>
          <a:xfrm>
            <a:off x="1419396" y="2788614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15172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52" name="Image 4" descr="-327b961e.png">
            <a:extLst>
              <a:ext uri="{FF2B5EF4-FFF2-40B4-BE49-F238E27FC236}">
                <a16:creationId xmlns:a16="http://schemas.microsoft.com/office/drawing/2014/main" id="{385C9FAC-1EAE-4F2C-78FC-347EE93075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0548" y="2965462"/>
            <a:ext cx="214313" cy="178594"/>
          </a:xfrm>
          <a:prstGeom prst="rect">
            <a:avLst/>
          </a:prstGeom>
        </p:spPr>
      </p:pic>
      <p:sp>
        <p:nvSpPr>
          <p:cNvPr id="54" name="Shape 22">
            <a:extLst>
              <a:ext uri="{FF2B5EF4-FFF2-40B4-BE49-F238E27FC236}">
                <a16:creationId xmlns:a16="http://schemas.microsoft.com/office/drawing/2014/main" id="{823B772D-821C-8266-2E30-C973A89E2810}"/>
              </a:ext>
            </a:extLst>
          </p:cNvPr>
          <p:cNvSpPr/>
          <p:nvPr/>
        </p:nvSpPr>
        <p:spPr>
          <a:xfrm>
            <a:off x="3187474" y="3056504"/>
            <a:ext cx="2714625" cy="1435894"/>
          </a:xfrm>
          <a:prstGeom prst="rect">
            <a:avLst/>
          </a:prstGeom>
          <a:solidFill>
            <a:srgbClr val="14638B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56" name="Text 23">
            <a:extLst>
              <a:ext uri="{FF2B5EF4-FFF2-40B4-BE49-F238E27FC236}">
                <a16:creationId xmlns:a16="http://schemas.microsoft.com/office/drawing/2014/main" id="{AFE3D3EA-0E11-55F8-EB0A-B9BC9EDDE1DE}"/>
              </a:ext>
            </a:extLst>
          </p:cNvPr>
          <p:cNvSpPr/>
          <p:nvPr/>
        </p:nvSpPr>
        <p:spPr>
          <a:xfrm>
            <a:off x="3401786" y="3436685"/>
            <a:ext cx="2500313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Observabilidad predictiva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58" name="Text 24">
            <a:extLst>
              <a:ext uri="{FF2B5EF4-FFF2-40B4-BE49-F238E27FC236}">
                <a16:creationId xmlns:a16="http://schemas.microsoft.com/office/drawing/2014/main" id="{2E6251BF-E52F-C8C2-CF80-4D95449F579A}"/>
              </a:ext>
            </a:extLst>
          </p:cNvPr>
          <p:cNvSpPr/>
          <p:nvPr/>
        </p:nvSpPr>
        <p:spPr>
          <a:xfrm>
            <a:off x="3401787" y="3652561"/>
            <a:ext cx="2568959" cy="31253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Uso de análisis avanzado para prevenir fallos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antes de que afecten al usuario.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60" name="Shape 25">
            <a:extLst>
              <a:ext uri="{FF2B5EF4-FFF2-40B4-BE49-F238E27FC236}">
                <a16:creationId xmlns:a16="http://schemas.microsoft.com/office/drawing/2014/main" id="{AD745265-C508-4540-E17D-28FB8AC17B20}"/>
              </a:ext>
            </a:extLst>
          </p:cNvPr>
          <p:cNvSpPr/>
          <p:nvPr/>
        </p:nvSpPr>
        <p:spPr>
          <a:xfrm>
            <a:off x="4276896" y="2788614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E435E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62" name="Image 5" descr="53d78b62.png">
            <a:extLst>
              <a:ext uri="{FF2B5EF4-FFF2-40B4-BE49-F238E27FC236}">
                <a16:creationId xmlns:a16="http://schemas.microsoft.com/office/drawing/2014/main" id="{2243BDA0-3EE6-B4D8-E202-6A592148B6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12934" y="2971741"/>
            <a:ext cx="271463" cy="171450"/>
          </a:xfrm>
          <a:prstGeom prst="rect">
            <a:avLst/>
          </a:prstGeom>
        </p:spPr>
      </p:pic>
      <p:sp>
        <p:nvSpPr>
          <p:cNvPr id="64" name="Shape 26">
            <a:extLst>
              <a:ext uri="{FF2B5EF4-FFF2-40B4-BE49-F238E27FC236}">
                <a16:creationId xmlns:a16="http://schemas.microsoft.com/office/drawing/2014/main" id="{B77E5D54-B14F-B6EC-AB4F-43CD1959D409}"/>
              </a:ext>
            </a:extLst>
          </p:cNvPr>
          <p:cNvSpPr/>
          <p:nvPr/>
        </p:nvSpPr>
        <p:spPr>
          <a:xfrm>
            <a:off x="6044974" y="3056504"/>
            <a:ext cx="2714625" cy="1435894"/>
          </a:xfrm>
          <a:prstGeom prst="rect">
            <a:avLst/>
          </a:prstGeom>
          <a:solidFill>
            <a:srgbClr val="115577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3AC13772-6B2B-1805-9F2C-BE7527D8F87D}"/>
              </a:ext>
            </a:extLst>
          </p:cNvPr>
          <p:cNvSpPr/>
          <p:nvPr/>
        </p:nvSpPr>
        <p:spPr>
          <a:xfrm>
            <a:off x="6259286" y="3436685"/>
            <a:ext cx="2500313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348"/>
              </a:lnSpc>
            </a:pPr>
            <a:r>
              <a:rPr lang="en-US" sz="115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ITIL v5 y </a:t>
            </a:r>
            <a:r>
              <a:rPr lang="en-US" sz="1150" kern="0" spc="-7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gobernanza</a:t>
            </a:r>
            <a:r>
              <a:rPr lang="en-US" sz="115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de IA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68" name="Text 28">
            <a:extLst>
              <a:ext uri="{FF2B5EF4-FFF2-40B4-BE49-F238E27FC236}">
                <a16:creationId xmlns:a16="http://schemas.microsoft.com/office/drawing/2014/main" id="{6BD73C05-F811-6AF0-FFFA-E66F7E23F43B}"/>
              </a:ext>
            </a:extLst>
          </p:cNvPr>
          <p:cNvSpPr/>
          <p:nvPr/>
        </p:nvSpPr>
        <p:spPr>
          <a:xfrm>
            <a:off x="6259286" y="3652560"/>
            <a:ext cx="2609478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Evolución de las mejores prácticas en gestión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servicios TI hacia la agilidad y la entrega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continua.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70" name="Shape 29">
            <a:extLst>
              <a:ext uri="{FF2B5EF4-FFF2-40B4-BE49-F238E27FC236}">
                <a16:creationId xmlns:a16="http://schemas.microsoft.com/office/drawing/2014/main" id="{E94EB440-EC53-083D-BFC4-1EE5C94A2D2B}"/>
              </a:ext>
            </a:extLst>
          </p:cNvPr>
          <p:cNvSpPr/>
          <p:nvPr/>
        </p:nvSpPr>
        <p:spPr>
          <a:xfrm>
            <a:off x="7134396" y="2788614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B354A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72" name="Image 6" descr="-41d531de.png">
            <a:extLst>
              <a:ext uri="{FF2B5EF4-FFF2-40B4-BE49-F238E27FC236}">
                <a16:creationId xmlns:a16="http://schemas.microsoft.com/office/drawing/2014/main" id="{D2EB6A91-662C-2B40-DF02-ED238C53DE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82989" y="2927792"/>
            <a:ext cx="242888" cy="264319"/>
          </a:xfrm>
          <a:prstGeom prst="rect">
            <a:avLst/>
          </a:prstGeom>
        </p:spPr>
      </p:pic>
      <p:sp>
        <p:nvSpPr>
          <p:cNvPr id="74" name="Text 1">
            <a:extLst>
              <a:ext uri="{FF2B5EF4-FFF2-40B4-BE49-F238E27FC236}">
                <a16:creationId xmlns:a16="http://schemas.microsoft.com/office/drawing/2014/main" id="{6B0BC869-E49D-8227-2FBE-24674CEC764E}"/>
              </a:ext>
            </a:extLst>
          </p:cNvPr>
          <p:cNvSpPr/>
          <p:nvPr/>
        </p:nvSpPr>
        <p:spPr>
          <a:xfrm>
            <a:off x="424203" y="621384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00" kern="0" spc="-25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Fuerzas clave </a:t>
            </a:r>
            <a:r>
              <a:rPr lang="en-US" sz="1200" kern="0" spc="-25" err="1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que</a:t>
            </a:r>
            <a:r>
              <a:rPr lang="en-US" sz="1200" kern="0" spc="-25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200" kern="0" spc="-25" err="1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transformarán</a:t>
            </a:r>
            <a:r>
              <a:rPr lang="en-US" sz="1200" kern="0" spc="-25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 el panorama </a:t>
            </a:r>
            <a:r>
              <a:rPr lang="en-US" sz="1200" kern="0" spc="-25" err="1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tecnológico</a:t>
            </a:r>
            <a:r>
              <a:rPr lang="en-US" sz="1200" kern="0" spc="-25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 para 2026</a:t>
            </a:r>
            <a:endParaRPr lang="en-US" sz="1200">
              <a:solidFill>
                <a:srgbClr val="595959"/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5" name="src">
            <a:extLst>
              <a:ext uri="{FF2B5EF4-FFF2-40B4-BE49-F238E27FC236}">
                <a16:creationId xmlns:a16="http://schemas.microsoft.com/office/drawing/2014/main" id="{4E27D539-EC37-BF1A-9CD2-6991246DA26C}"/>
              </a:ext>
            </a:extLst>
          </p:cNvPr>
          <p:cNvSpPr txBox="1">
            <a:spLocks noGrp="1"/>
          </p:cNvSpPr>
          <p:nvPr/>
        </p:nvSpPr>
        <p:spPr>
          <a:xfrm>
            <a:off x="320040" y="4658215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50">
                <a:solidFill>
                  <a:srgbClr val="6B7280"/>
                </a:solidFill>
                <a:latin typeface="Calibri"/>
              </a:rPr>
              <a:t>Fuente: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9"/>
              </a:rPr>
              <a:t>Dynatrace AI Observability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10"/>
              </a:rPr>
              <a:t>Gartner Agentic AI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11"/>
              </a:rPr>
              <a:t>PeopleCert ITIL v5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12"/>
              </a:rPr>
              <a:t>TCS IT Services</a:t>
            </a:r>
            <a:endParaRPr lang="es-ES" sz="750" u="sng">
              <a:solidFill>
                <a:srgbClr val="1A3A8F"/>
              </a:solidFill>
              <a:latin typeface="Calibri"/>
            </a:endParaRPr>
          </a:p>
        </p:txBody>
      </p:sp>
      <p:sp>
        <p:nvSpPr>
          <p:cNvPr id="9" name="dsc">
            <a:extLst>
              <a:ext uri="{FF2B5EF4-FFF2-40B4-BE49-F238E27FC236}">
                <a16:creationId xmlns:a16="http://schemas.microsoft.com/office/drawing/2014/main" id="{DE123EA4-048D-1CF1-FB61-0FBA8172EB8B}"/>
              </a:ext>
            </a:extLst>
          </p:cNvPr>
          <p:cNvSpPr txBox="1">
            <a:spLocks noGrp="1"/>
          </p:cNvSpPr>
          <p:nvPr/>
        </p:nvSpPr>
        <p:spPr>
          <a:xfrm>
            <a:off x="431292" y="2435135"/>
            <a:ext cx="1852749" cy="35639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-26.6% tiempo de respuesta (GenAI)  ·  +34.6% resoluciones más rápidas (GenAI)</a:t>
            </a:r>
          </a:p>
        </p:txBody>
      </p:sp>
      <p:sp>
        <p:nvSpPr>
          <p:cNvPr id="13" name="dsc">
            <a:extLst>
              <a:ext uri="{FF2B5EF4-FFF2-40B4-BE49-F238E27FC236}">
                <a16:creationId xmlns:a16="http://schemas.microsoft.com/office/drawing/2014/main" id="{3AD27F7B-18E7-2C7B-964E-4CB9DA4FA951}"/>
              </a:ext>
            </a:extLst>
          </p:cNvPr>
          <p:cNvSpPr txBox="1">
            <a:spLocks noGrp="1"/>
          </p:cNvSpPr>
          <p:nvPr/>
        </p:nvSpPr>
        <p:spPr>
          <a:xfrm>
            <a:off x="425850" y="4248258"/>
            <a:ext cx="2554877" cy="36184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Contratos TI </a:t>
            </a:r>
            <a:r>
              <a:rPr lang="es-ES" sz="600" err="1">
                <a:solidFill>
                  <a:schemeClr val="bg1"/>
                </a:solidFill>
                <a:latin typeface="Reddit Sans"/>
                <a:ea typeface="Reddit Sans"/>
              </a:rPr>
              <a:t>enterprise</a:t>
            </a:r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 serán </a:t>
            </a:r>
            <a:r>
              <a:rPr lang="es-ES" sz="600" err="1">
                <a:solidFill>
                  <a:schemeClr val="bg1"/>
                </a:solidFill>
                <a:latin typeface="Reddit Sans"/>
                <a:ea typeface="Reddit Sans"/>
              </a:rPr>
              <a:t>outcome-based</a:t>
            </a:r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 (tendencia global)</a:t>
            </a:r>
          </a:p>
        </p:txBody>
      </p:sp>
      <p:sp>
        <p:nvSpPr>
          <p:cNvPr id="17" name="dsc">
            <a:extLst>
              <a:ext uri="{FF2B5EF4-FFF2-40B4-BE49-F238E27FC236}">
                <a16:creationId xmlns:a16="http://schemas.microsoft.com/office/drawing/2014/main" id="{56332DE8-D940-2B20-2898-004B2255ECC1}"/>
              </a:ext>
            </a:extLst>
          </p:cNvPr>
          <p:cNvSpPr txBox="1">
            <a:spLocks noGrp="1"/>
          </p:cNvSpPr>
          <p:nvPr/>
        </p:nvSpPr>
        <p:spPr>
          <a:xfrm>
            <a:off x="6140848" y="4245863"/>
            <a:ext cx="2701834" cy="35639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8 etapas · 6C AI </a:t>
            </a:r>
            <a:r>
              <a:rPr lang="es-ES" sz="600" err="1">
                <a:solidFill>
                  <a:schemeClr val="bg1"/>
                </a:solidFill>
                <a:latin typeface="Reddit Sans"/>
                <a:ea typeface="Reddit Sans"/>
              </a:rPr>
              <a:t>Capability</a:t>
            </a:r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 Model · gobernanza IA ya no es opcional</a:t>
            </a:r>
          </a:p>
        </p:txBody>
      </p:sp>
      <p:sp>
        <p:nvSpPr>
          <p:cNvPr id="21" name="dsc">
            <a:extLst>
              <a:ext uri="{FF2B5EF4-FFF2-40B4-BE49-F238E27FC236}">
                <a16:creationId xmlns:a16="http://schemas.microsoft.com/office/drawing/2014/main" id="{FE20A471-0E69-78AA-DF4E-916811427E3C}"/>
              </a:ext>
            </a:extLst>
          </p:cNvPr>
          <p:cNvSpPr txBox="1">
            <a:spLocks noGrp="1"/>
          </p:cNvSpPr>
          <p:nvPr/>
        </p:nvSpPr>
        <p:spPr>
          <a:xfrm>
            <a:off x="2569247" y="2418808"/>
            <a:ext cx="1809206" cy="361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51% desplegada · solo 11% plena · &gt;40% proyectos cancelados en 2027</a:t>
            </a:r>
          </a:p>
        </p:txBody>
      </p:sp>
      <p:sp>
        <p:nvSpPr>
          <p:cNvPr id="25" name="dsc">
            <a:extLst>
              <a:ext uri="{FF2B5EF4-FFF2-40B4-BE49-F238E27FC236}">
                <a16:creationId xmlns:a16="http://schemas.microsoft.com/office/drawing/2014/main" id="{7E61382C-ABF6-44B9-5EFD-081A36190A97}"/>
              </a:ext>
            </a:extLst>
          </p:cNvPr>
          <p:cNvSpPr txBox="1">
            <a:spLocks noGrp="1"/>
          </p:cNvSpPr>
          <p:nvPr/>
        </p:nvSpPr>
        <p:spPr>
          <a:xfrm>
            <a:off x="6890875" y="2470839"/>
            <a:ext cx="1907176" cy="35639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N3: USD 104/ticket → N0: USD 2/ticket, cada </a:t>
            </a:r>
            <a:r>
              <a:rPr lang="es-ES" sz="600" err="1">
                <a:solidFill>
                  <a:schemeClr val="bg1"/>
                </a:solidFill>
                <a:latin typeface="Reddit Sans"/>
                <a:ea typeface="Reddit Sans"/>
              </a:rPr>
              <a:t>deflección</a:t>
            </a:r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 = ahorro medible</a:t>
            </a:r>
            <a:endParaRPr lang="es-ES" sz="6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62371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8F4D4865-0F99-8598-73DC-1EAEE649D4A4}"/>
              </a:ext>
            </a:extLst>
          </p:cNvPr>
          <p:cNvSpPr txBox="1"/>
          <p:nvPr/>
        </p:nvSpPr>
        <p:spPr>
          <a:xfrm>
            <a:off x="468085" y="361950"/>
            <a:ext cx="7837714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600" b="1" err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Oportunidad</a:t>
            </a:r>
            <a:r>
              <a:rPr lang="en-US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 de Mercado: Colombia y </a:t>
            </a:r>
            <a:r>
              <a:rPr lang="en-US" sz="1600" b="1" err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Latinoamérica</a:t>
            </a:r>
            <a:endParaRPr lang="en-US" sz="1600" b="1" err="1">
              <a:solidFill>
                <a:srgbClr val="0E337C"/>
              </a:solidFill>
              <a:latin typeface="Reddit Sans"/>
              <a:ea typeface="Reddit Sans"/>
            </a:endParaRPr>
          </a:p>
        </p:txBody>
      </p:sp>
      <p:graphicFrame>
        <p:nvGraphicFramePr>
          <p:cNvPr id="11" name="Grafico Oportunidad"/>
          <p:cNvGraphicFramePr/>
          <p:nvPr/>
        </p:nvGraphicFramePr>
        <p:xfrm>
          <a:off x="380000" y="1330000"/>
          <a:ext cx="4600000" cy="26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YC12"/>
          <p:cNvSpPr txBox="1"/>
          <p:nvPr/>
        </p:nvSpPr>
        <p:spPr>
          <a:xfrm>
            <a:off x="957000" y="4020000"/>
            <a:ext cx="130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lstStyle/>
          <a:p>
            <a:pPr algn="ctr"/>
            <a:r>
              <a:rPr lang="es-ES" sz="800">
                <a:solidFill>
                  <a:srgbClr val="8A8A83"/>
                </a:solidFill>
                <a:latin typeface="Reddit Sans"/>
                <a:ea typeface="Reddit Sans"/>
              </a:rPr>
              <a:t>2024 → 2028</a:t>
            </a:r>
          </a:p>
          <a:p>
            <a:pPr algn="ctr"/>
            <a:r>
              <a:rPr lang="es-ES" sz="900" b="1">
                <a:solidFill>
                  <a:srgbClr val="1E8080"/>
                </a:solidFill>
                <a:latin typeface="Reddit Sans"/>
                <a:ea typeface="Reddit Sans"/>
              </a:rPr>
              <a:t>CAGR 12%</a:t>
            </a:r>
          </a:p>
        </p:txBody>
      </p:sp>
      <p:sp>
        <p:nvSpPr>
          <p:cNvPr id="13" name="YC13"/>
          <p:cNvSpPr txBox="1"/>
          <p:nvPr/>
        </p:nvSpPr>
        <p:spPr>
          <a:xfrm>
            <a:off x="2290000" y="4020000"/>
            <a:ext cx="130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lstStyle/>
          <a:p>
            <a:pPr algn="ctr"/>
            <a:r>
              <a:rPr lang="es-ES" sz="800">
                <a:solidFill>
                  <a:srgbClr val="8A8A83"/>
                </a:solidFill>
                <a:latin typeface="Reddit Sans"/>
                <a:ea typeface="Reddit Sans"/>
              </a:rPr>
              <a:t>2025 → 2031</a:t>
            </a:r>
          </a:p>
          <a:p>
            <a:pPr algn="ctr"/>
            <a:r>
              <a:rPr lang="es-ES" sz="900" b="1">
                <a:solidFill>
                  <a:srgbClr val="A44526"/>
                </a:solidFill>
                <a:latin typeface="Reddit Sans"/>
                <a:ea typeface="Reddit Sans"/>
              </a:rPr>
              <a:t>CAGR 16%</a:t>
            </a:r>
          </a:p>
        </p:txBody>
      </p:sp>
      <p:sp>
        <p:nvSpPr>
          <p:cNvPr id="14" name="YC14"/>
          <p:cNvSpPr txBox="1"/>
          <p:nvPr/>
        </p:nvSpPr>
        <p:spPr>
          <a:xfrm>
            <a:off x="3623000" y="4020000"/>
            <a:ext cx="130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lstStyle/>
          <a:p>
            <a:pPr algn="ctr"/>
            <a:r>
              <a:rPr lang="es-ES" sz="800">
                <a:solidFill>
                  <a:srgbClr val="8A8A83"/>
                </a:solidFill>
                <a:latin typeface="Reddit Sans"/>
                <a:ea typeface="Reddit Sans"/>
              </a:rPr>
              <a:t>2026 → 2031</a:t>
            </a:r>
          </a:p>
          <a:p>
            <a:pPr algn="ctr"/>
            <a:r>
              <a:rPr lang="es-ES" sz="900" b="1">
                <a:solidFill>
                  <a:srgbClr val="C57A00"/>
                </a:solidFill>
                <a:latin typeface="Reddit Sans"/>
                <a:ea typeface="Reddit Sans"/>
              </a:rPr>
              <a:t>CAGR 14.08%</a:t>
            </a:r>
          </a:p>
        </p:txBody>
      </p:sp>
      <p:sp>
        <p:nvSpPr>
          <p:cNvPr id="20" name="PanelHeader"/>
          <p:cNvSpPr txBox="1"/>
          <p:nvPr/>
        </p:nvSpPr>
        <p:spPr>
          <a:xfrm>
            <a:off x="5150000" y="1030514"/>
            <a:ext cx="362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s-ES" sz="1200" b="1">
                <a:solidFill>
                  <a:srgbClr val="16233F"/>
                </a:solidFill>
                <a:latin typeface="Reddit Sans"/>
                <a:ea typeface="Reddit Sans"/>
              </a:rPr>
              <a:t>Colombia: Factores de Oportunidad</a:t>
            </a:r>
          </a:p>
        </p:txBody>
      </p:sp>
      <p:sp>
        <p:nvSpPr>
          <p:cNvPr id="21" name="CardNavy"/>
          <p:cNvSpPr txBox="1"/>
          <p:nvPr/>
        </p:nvSpPr>
        <p:spPr>
          <a:xfrm>
            <a:off x="5150000" y="1660000"/>
            <a:ext cx="1770000" cy="1010000"/>
          </a:xfrm>
          <a:prstGeom prst="roundRect">
            <a:avLst>
              <a:gd name="adj" fmla="val 6000"/>
            </a:avLst>
          </a:prstGeom>
          <a:solidFill>
            <a:srgbClr val="16233F"/>
          </a:solidFill>
          <a:ln>
            <a:noFill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Reddit Sans"/>
                <a:ea typeface="Reddit Sans"/>
              </a:rPr>
              <a:t>81%</a:t>
            </a:r>
          </a:p>
          <a:p>
            <a:pPr algn="ctr"/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Establecimientos de crédito ya usan IA (SFC 2025)</a:t>
            </a:r>
          </a:p>
          <a:p>
            <a:pPr algn="ctr"/>
            <a:r>
              <a:rPr lang="es-ES" sz="700">
                <a:solidFill>
                  <a:srgbClr val="E8B96B"/>
                </a:solidFill>
                <a:latin typeface="Reddit Sans"/>
                <a:ea typeface="Reddit Sans"/>
              </a:rPr>
              <a:t>→ menor fricción de venta</a:t>
            </a:r>
          </a:p>
        </p:txBody>
      </p:sp>
      <p:sp>
        <p:nvSpPr>
          <p:cNvPr id="22" name="CardTeal"/>
          <p:cNvSpPr txBox="1"/>
          <p:nvPr/>
        </p:nvSpPr>
        <p:spPr>
          <a:xfrm>
            <a:off x="7000000" y="1660000"/>
            <a:ext cx="1770000" cy="1010000"/>
          </a:xfrm>
          <a:prstGeom prst="roundRect">
            <a:avLst>
              <a:gd name="adj" fmla="val 6000"/>
            </a:avLst>
          </a:prstGeom>
          <a:solidFill>
            <a:srgbClr val="1E8080"/>
          </a:solidFill>
          <a:ln>
            <a:noFill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Reddit Sans"/>
                <a:ea typeface="Reddit Sans"/>
              </a:rPr>
              <a:t>9.8%</a:t>
            </a:r>
          </a:p>
          <a:p>
            <a:pPr algn="ctr"/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CAGR IT </a:t>
            </a:r>
            <a:r>
              <a:rPr lang="es-ES" sz="750" err="1">
                <a:solidFill>
                  <a:srgbClr val="FFFFFF"/>
                </a:solidFill>
                <a:latin typeface="Reddit Sans"/>
                <a:ea typeface="Reddit Sans"/>
              </a:rPr>
              <a:t>Services</a:t>
            </a:r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 Colombia más rápido</a:t>
            </a:r>
          </a:p>
          <a:p>
            <a:pPr algn="ctr"/>
            <a:r>
              <a:rPr lang="es-ES" sz="700">
                <a:solidFill>
                  <a:srgbClr val="FFE0A3"/>
                </a:solidFill>
                <a:latin typeface="Reddit Sans"/>
                <a:ea typeface="Reddit Sans"/>
              </a:rPr>
              <a:t>de Sudamérica</a:t>
            </a:r>
          </a:p>
        </p:txBody>
      </p:sp>
      <p:sp>
        <p:nvSpPr>
          <p:cNvPr id="23" name="CardRust"/>
          <p:cNvSpPr txBox="1"/>
          <p:nvPr/>
        </p:nvSpPr>
        <p:spPr>
          <a:xfrm>
            <a:off x="5150000" y="2750000"/>
            <a:ext cx="1770000" cy="1010000"/>
          </a:xfrm>
          <a:prstGeom prst="roundRect">
            <a:avLst>
              <a:gd name="adj" fmla="val 6000"/>
            </a:avLst>
          </a:prstGeom>
          <a:solidFill>
            <a:srgbClr val="A44526"/>
          </a:solidFill>
          <a:ln>
            <a:noFill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Reddit Sans"/>
                <a:ea typeface="Reddit Sans"/>
              </a:rPr>
              <a:t>13.8%</a:t>
            </a:r>
          </a:p>
          <a:p>
            <a:pPr algn="ctr"/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CAGR Servicios ITSM · Soluciones tienen cuota 61.4%</a:t>
            </a:r>
          </a:p>
          <a:p>
            <a:pPr algn="ctr"/>
            <a:r>
              <a:rPr lang="es-ES" sz="700">
                <a:solidFill>
                  <a:srgbClr val="F0C48A"/>
                </a:solidFill>
                <a:latin typeface="Reddit Sans"/>
                <a:ea typeface="Reddit Sans"/>
              </a:rPr>
              <a:t>→ demanda consultoría ↑</a:t>
            </a:r>
          </a:p>
        </p:txBody>
      </p:sp>
      <p:sp>
        <p:nvSpPr>
          <p:cNvPr id="24" name="CardGreen"/>
          <p:cNvSpPr txBox="1"/>
          <p:nvPr/>
        </p:nvSpPr>
        <p:spPr>
          <a:xfrm>
            <a:off x="7000000" y="2750000"/>
            <a:ext cx="1770000" cy="1010000"/>
          </a:xfrm>
          <a:prstGeom prst="roundRect">
            <a:avLst>
              <a:gd name="adj" fmla="val 6000"/>
            </a:avLst>
          </a:prstGeom>
          <a:solidFill>
            <a:srgbClr val="43781F"/>
          </a:solidFill>
          <a:ln>
            <a:noFill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Reddit Sans"/>
                <a:ea typeface="Reddit Sans"/>
              </a:rPr>
              <a:t>27.09%</a:t>
            </a:r>
          </a:p>
          <a:p>
            <a:pPr algn="ctr"/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Cuota Service </a:t>
            </a:r>
            <a:r>
              <a:rPr lang="es-ES" sz="750" err="1">
                <a:solidFill>
                  <a:srgbClr val="FFFFFF"/>
                </a:solidFill>
                <a:latin typeface="Reddit Sans"/>
                <a:ea typeface="Reddit Sans"/>
              </a:rPr>
              <a:t>Desk</a:t>
            </a:r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 &amp; </a:t>
            </a:r>
            <a:r>
              <a:rPr lang="es-ES" sz="750" err="1">
                <a:solidFill>
                  <a:srgbClr val="FFFFFF"/>
                </a:solidFill>
                <a:latin typeface="Reddit Sans"/>
                <a:ea typeface="Reddit Sans"/>
              </a:rPr>
              <a:t>Incident</a:t>
            </a:r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 Management en Colombia.</a:t>
            </a:r>
          </a:p>
          <a:p>
            <a:pPr algn="ctr"/>
            <a:r>
              <a:rPr lang="es-ES" sz="700">
                <a:solidFill>
                  <a:srgbClr val="CDE6B0"/>
                </a:solidFill>
                <a:latin typeface="Reddit Sans"/>
                <a:ea typeface="Reddit Sans"/>
              </a:rPr>
              <a:t>mayor cat. funcional</a:t>
            </a:r>
          </a:p>
        </p:txBody>
      </p:sp>
      <p:sp>
        <p:nvSpPr>
          <p:cNvPr id="25" name="CompCard"/>
          <p:cNvSpPr txBox="1"/>
          <p:nvPr/>
        </p:nvSpPr>
        <p:spPr>
          <a:xfrm>
            <a:off x="5150000" y="3860000"/>
            <a:ext cx="3620000" cy="716457"/>
          </a:xfrm>
          <a:prstGeom prst="roundRect">
            <a:avLst>
              <a:gd name="adj" fmla="val 8000"/>
            </a:avLst>
          </a:prstGeom>
          <a:solidFill>
            <a:srgbClr val="E8E6E0"/>
          </a:solidFill>
          <a:ln>
            <a:noFill/>
          </a:ln>
        </p:spPr>
        <p:txBody>
          <a:bodyPr wrap="square" lIns="45000" tIns="45000" rIns="45000" bIns="45000" rtlCol="0" anchor="ctr">
            <a:noAutofit/>
          </a:bodyPr>
          <a:lstStyle/>
          <a:p>
            <a:pPr algn="ctr"/>
            <a:r>
              <a:rPr lang="es-ES" sz="1000" b="1">
                <a:solidFill>
                  <a:srgbClr val="2A2A2A"/>
                </a:solidFill>
                <a:latin typeface="Reddit Sans"/>
                <a:ea typeface="Reddit Sans"/>
              </a:rPr>
              <a:t>Competencia Local Certificada</a:t>
            </a:r>
          </a:p>
          <a:p>
            <a:pPr algn="ctr"/>
            <a:r>
              <a:rPr lang="es-ES" sz="800">
                <a:solidFill>
                  <a:srgbClr val="6A6A66"/>
                </a:solidFill>
                <a:latin typeface="Reddit Sans"/>
                <a:ea typeface="Reddit Sans"/>
              </a:rPr>
              <a:t>Solo Aranda Software tiene </a:t>
            </a:r>
            <a:r>
              <a:rPr lang="es-ES" sz="800" err="1">
                <a:solidFill>
                  <a:srgbClr val="6A6A66"/>
                </a:solidFill>
                <a:latin typeface="Reddit Sans"/>
                <a:ea typeface="Reddit Sans"/>
              </a:rPr>
              <a:t>PinkVerify</a:t>
            </a:r>
            <a:r>
              <a:rPr lang="es-ES" sz="800">
                <a:solidFill>
                  <a:srgbClr val="6A6A66"/>
                </a:solidFill>
                <a:latin typeface="Reddit Sans"/>
                <a:ea typeface="Reddit Sans"/>
              </a:rPr>
              <a:t> (11 procesos)</a:t>
            </a:r>
          </a:p>
          <a:p>
            <a:pPr algn="ctr"/>
            <a:r>
              <a:rPr lang="es-ES" sz="800">
                <a:solidFill>
                  <a:srgbClr val="6A6A66"/>
                </a:solidFill>
                <a:latin typeface="Reddit Sans"/>
                <a:ea typeface="Reddit Sans"/>
              </a:rPr>
              <a:t>Resto: plataformas globales sin oferta de </a:t>
            </a:r>
            <a:r>
              <a:rPr lang="es-ES" sz="800" err="1">
                <a:solidFill>
                  <a:srgbClr val="6A6A66"/>
                </a:solidFill>
                <a:latin typeface="Reddit Sans"/>
                <a:ea typeface="Reddit Sans"/>
              </a:rPr>
              <a:t>assessment</a:t>
            </a:r>
            <a:endParaRPr lang="es-ES" sz="800">
              <a:solidFill>
                <a:srgbClr val="6A6A66"/>
              </a:solidFill>
              <a:latin typeface="Reddit Sans"/>
              <a:ea typeface="Reddit Sans"/>
            </a:endParaRPr>
          </a:p>
        </p:txBody>
      </p:sp>
      <p:sp>
        <p:nvSpPr>
          <p:cNvPr id="6" name="ChartSubtitle">
            <a:extLst>
              <a:ext uri="{FF2B5EF4-FFF2-40B4-BE49-F238E27FC236}">
                <a16:creationId xmlns:a16="http://schemas.microsoft.com/office/drawing/2014/main" id="{88DF085F-16EE-B9A5-1798-9B5EEBA0D1FE}"/>
              </a:ext>
            </a:extLst>
          </p:cNvPr>
          <p:cNvSpPr txBox="1"/>
          <p:nvPr/>
        </p:nvSpPr>
        <p:spPr>
          <a:xfrm>
            <a:off x="466600" y="702286"/>
            <a:ext cx="7144000" cy="26000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ES" sz="1200" spc="-25">
                <a:solidFill>
                  <a:srgbClr val="595959"/>
                </a:solidFill>
                <a:latin typeface="Reddit Sans"/>
                <a:ea typeface="Reddit Sans"/>
              </a:rPr>
              <a:t>Tamaño ITSM, crecimiento por segmento y </a:t>
            </a:r>
            <a:r>
              <a:rPr lang="es-ES" sz="1200" spc="-25" err="1">
                <a:solidFill>
                  <a:srgbClr val="595959"/>
                </a:solidFill>
                <a:latin typeface="Reddit Sans"/>
                <a:ea typeface="Reddit Sans"/>
              </a:rPr>
              <a:t>posici</a:t>
            </a:r>
            <a:r>
              <a:rPr lang="es-ES" sz="1200" spc="-25">
                <a:solidFill>
                  <a:srgbClr val="595959"/>
                </a:solidFill>
                <a:latin typeface="Reddit Sans"/>
                <a:ea typeface="Reddit Sans"/>
              </a:rPr>
              <a:t>ón competitiva local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1628F3E-F381-F83D-8ACF-953CA0532A02}"/>
              </a:ext>
            </a:extLst>
          </p:cNvPr>
          <p:cNvSpPr txBox="1"/>
          <p:nvPr/>
        </p:nvSpPr>
        <p:spPr>
          <a:xfrm>
            <a:off x="576943" y="4525736"/>
            <a:ext cx="4572000" cy="4154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700" dirty="0">
                <a:solidFill>
                  <a:srgbClr val="6A6A66"/>
                </a:solidFill>
                <a:latin typeface="Reddit Sans"/>
                <a:ea typeface="Reddit Sans"/>
              </a:rPr>
              <a:t>Fuente: </a:t>
            </a:r>
            <a:r>
              <a:rPr lang="en-US" sz="700" u="sng" dirty="0">
                <a:solidFill>
                  <a:srgbClr val="2F81F7"/>
                </a:solidFill>
                <a:latin typeface="Reddit Sans"/>
                <a:ea typeface="Reddit Sans"/>
                <a:cs typeface="-apple-syste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</a:t>
            </a:r>
            <a:r>
              <a:rPr lang="en-US" sz="700" u="sng" dirty="0">
                <a:solidFill>
                  <a:srgbClr val="2F81F7"/>
                </a:solidFill>
                <a:latin typeface="Reddit Sans"/>
                <a:ea typeface="Reddit Sans"/>
                <a:cs typeface="-apple-system"/>
                <a:hlinkClick r:id="rId4"/>
              </a:rPr>
              <a:t> </a:t>
            </a:r>
            <a:r>
              <a:rPr lang="en-US" sz="700" u="sng" dirty="0">
                <a:solidFill>
                  <a:srgbClr val="2F81F7"/>
                </a:solidFill>
                <a:latin typeface="Reddit Sans"/>
                <a:ea typeface="Reddit Sans"/>
                <a:cs typeface="-apple-syste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Mordor</a:t>
            </a:r>
            <a:r>
              <a:rPr lang="en-US" sz="700" b="0" i="0" u="sng" dirty="0">
                <a:solidFill>
                  <a:srgbClr val="2F81F7"/>
                </a:solidFill>
                <a:latin typeface="Reddit Sans"/>
                <a:ea typeface="Reddit Sans"/>
                <a:cs typeface="-apple-syste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Intelligence — South America ITSM Market</a:t>
            </a:r>
            <a:r>
              <a:rPr lang="en-US" sz="700" dirty="0">
                <a:latin typeface="Reddit Sans"/>
                <a:ea typeface="Reddit Sans"/>
              </a:rPr>
              <a:t> </a:t>
            </a:r>
            <a:r>
              <a:rPr lang="es-ES" sz="700" dirty="0">
                <a:solidFill>
                  <a:srgbClr val="1A3A8F"/>
                </a:solidFill>
                <a:highlight>
                  <a:srgbClr val="FFFF00"/>
                </a:highlight>
                <a:latin typeface="Reddit Sans"/>
                <a:ea typeface="Reddit Sans"/>
                <a:hlinkClick r:id="rId5"/>
              </a:rPr>
              <a:t>Grand View </a:t>
            </a:r>
            <a:r>
              <a:rPr lang="es-ES" sz="700" dirty="0" err="1">
                <a:solidFill>
                  <a:srgbClr val="1A3A8F"/>
                </a:solidFill>
                <a:highlight>
                  <a:srgbClr val="FFFF00"/>
                </a:highlight>
                <a:latin typeface="Reddit Sans"/>
                <a:ea typeface="Reddit Sans"/>
                <a:hlinkClick r:id="rId5"/>
              </a:rPr>
              <a:t>Research</a:t>
            </a:r>
            <a:r>
              <a:rPr lang="es-ES" sz="700" i="1" dirty="0">
                <a:solidFill>
                  <a:srgbClr val="6B7280"/>
                </a:solidFill>
                <a:latin typeface="Reddit Sans"/>
                <a:ea typeface="Reddit Sans"/>
              </a:rPr>
              <a:t> · </a:t>
            </a:r>
            <a:r>
              <a:rPr lang="es-ES" sz="700" dirty="0">
                <a:solidFill>
                  <a:srgbClr val="1A3A8F"/>
                </a:solidFill>
                <a:latin typeface="Reddit Sans"/>
                <a:ea typeface="Reddit Sans"/>
                <a:hlinkClick r:id="rId6"/>
              </a:rPr>
              <a:t>Superfinanciera</a:t>
            </a:r>
            <a:endParaRPr lang="en-US" sz="900" dirty="0">
              <a:latin typeface="Reddit Sans"/>
              <a:ea typeface="Reddit Sans"/>
              <a:hlinkClick r:id="" action="ppaction://noaction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algn="ctr"/>
            <a:endParaRPr lang="es-ES" dirty="0"/>
          </a:p>
        </p:txBody>
      </p:sp>
      <p:pic>
        <p:nvPicPr>
          <p:cNvPr id="5" name="Imagen 4" descr="Aranda Software">
            <a:extLst>
              <a:ext uri="{FF2B5EF4-FFF2-40B4-BE49-F238E27FC236}">
                <a16:creationId xmlns:a16="http://schemas.microsoft.com/office/drawing/2014/main" id="{8CEBD39E-C831-D0E8-BAB0-E317D6BFE6C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5226"/>
          <a:stretch>
            <a:fillRect/>
          </a:stretch>
        </p:blipFill>
        <p:spPr>
          <a:xfrm>
            <a:off x="5247593" y="3909330"/>
            <a:ext cx="488499" cy="214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8041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3129" y="128229"/>
            <a:ext cx="8458000" cy="470000"/>
          </a:xfrm>
        </p:spPr>
        <p:txBody>
          <a:bodyPr>
            <a:normAutofit/>
          </a:bodyPr>
          <a:lstStyle/>
          <a:p>
            <a:r>
              <a:rPr lang="es-ES">
                <a:cs typeface="Reddit Sans Light"/>
              </a:rPr>
              <a:t>Cómo compiten los líderes globales de Service </a:t>
            </a:r>
            <a:r>
              <a:rPr lang="es-ES" err="1">
                <a:cs typeface="Reddit Sans Light"/>
              </a:rPr>
              <a:t>Desk</a:t>
            </a:r>
            <a:endParaRPr lang="es-ES">
              <a:cs typeface="Reddit Sans Light"/>
            </a:endParaRPr>
          </a:p>
        </p:txBody>
      </p:sp>
      <p:sp>
        <p:nvSpPr>
          <p:cNvPr id="301" name="subtitle"/>
          <p:cNvSpPr txBox="1"/>
          <p:nvPr/>
        </p:nvSpPr>
        <p:spPr>
          <a:xfrm>
            <a:off x="343000" y="600000"/>
            <a:ext cx="8458000" cy="2400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rmAutofit/>
          </a:bodyPr>
          <a:lstStyle/>
          <a:p>
            <a:pPr algn="l"/>
            <a:r>
              <a:rPr lang="es-ES" sz="105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La diferenciación ya no está en la plataforma, sino en la capacidad predominante</a:t>
            </a:r>
          </a:p>
        </p:txBody>
      </p:sp>
      <p:sp>
        <p:nvSpPr>
          <p:cNvPr id="303" name="pill"/>
          <p:cNvSpPr/>
          <p:nvPr/>
        </p:nvSpPr>
        <p:spPr>
          <a:xfrm>
            <a:off x="398000" y="1225000"/>
            <a:ext cx="2265000" cy="235000"/>
          </a:xfrm>
          <a:prstGeom prst="roundRect">
            <a:avLst>
              <a:gd name="adj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800" b="1">
                <a:solidFill>
                  <a:schemeClr val="accent5"/>
                </a:solidFill>
                <a:latin typeface="Reddit Sans"/>
                <a:ea typeface="Reddit Sans"/>
                <a:cs typeface="Reddit Sans Light"/>
              </a:rPr>
              <a:t>IA AGÉNTICA AVANZADA</a:t>
            </a:r>
          </a:p>
        </p:txBody>
      </p:sp>
      <p:sp>
        <p:nvSpPr>
          <p:cNvPr id="304" name="chipTL0"/>
          <p:cNvSpPr/>
          <p:nvPr/>
        </p:nvSpPr>
        <p:spPr>
          <a:xfrm>
            <a:off x="422000" y="1509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IBM</a:t>
            </a:r>
          </a:p>
        </p:txBody>
      </p:sp>
      <p:sp>
        <p:nvSpPr>
          <p:cNvPr id="305" name="chipTL1"/>
          <p:cNvSpPr>
            <a:spLocks/>
          </p:cNvSpPr>
          <p:nvPr/>
        </p:nvSpPr>
        <p:spPr>
          <a:xfrm>
            <a:off x="1539500" y="1509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Accenture</a:t>
            </a:r>
          </a:p>
        </p:txBody>
      </p:sp>
      <p:sp>
        <p:nvSpPr>
          <p:cNvPr id="306" name="chipTL2"/>
          <p:cNvSpPr/>
          <p:nvPr/>
        </p:nvSpPr>
        <p:spPr>
          <a:xfrm>
            <a:off x="422000" y="1894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HCLTech</a:t>
            </a:r>
          </a:p>
        </p:txBody>
      </p:sp>
      <p:sp>
        <p:nvSpPr>
          <p:cNvPr id="307" name="chipTL3"/>
          <p:cNvSpPr/>
          <p:nvPr/>
        </p:nvSpPr>
        <p:spPr>
          <a:xfrm>
            <a:off x="1539500" y="1894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ServiceNow</a:t>
            </a:r>
          </a:p>
        </p:txBody>
      </p:sp>
      <p:sp>
        <p:nvSpPr>
          <p:cNvPr id="308" name="txt"/>
          <p:cNvSpPr txBox="1"/>
          <p:nvPr/>
        </p:nvSpPr>
        <p:spPr>
          <a:xfrm>
            <a:off x="413000" y="2280000"/>
            <a:ext cx="2235000" cy="330000"/>
          </a:xfrm>
          <a:prstGeom prst="rect">
            <a:avLst/>
          </a:prstGeom>
          <a:noFill/>
        </p:spPr>
        <p:txBody>
          <a:bodyPr wrap="square" lIns="27000" tIns="14000" rIns="27000" bIns="14000" anchor="b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s-ES" sz="75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Razonamiento, memoria y ejecución autónoma en agentes inteligentes.</a:t>
            </a:r>
          </a:p>
        </p:txBody>
      </p:sp>
      <p:sp>
        <p:nvSpPr>
          <p:cNvPr id="310" name="pill"/>
          <p:cNvSpPr/>
          <p:nvPr/>
        </p:nvSpPr>
        <p:spPr>
          <a:xfrm>
            <a:off x="2902871" y="1225000"/>
            <a:ext cx="2265000" cy="235000"/>
          </a:xfrm>
          <a:prstGeom prst="roundRect">
            <a:avLst>
              <a:gd name="adj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800" b="1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XLA &amp; EXPERIENCIA DEL EMPLEADO</a:t>
            </a:r>
          </a:p>
        </p:txBody>
      </p:sp>
      <p:sp>
        <p:nvSpPr>
          <p:cNvPr id="311" name="chipTR0"/>
          <p:cNvSpPr/>
          <p:nvPr/>
        </p:nvSpPr>
        <p:spPr>
          <a:xfrm>
            <a:off x="2926871" y="1509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NTT DATA</a:t>
            </a:r>
          </a:p>
        </p:txBody>
      </p:sp>
      <p:sp>
        <p:nvSpPr>
          <p:cNvPr id="312" name="chipTR1"/>
          <p:cNvSpPr/>
          <p:nvPr/>
        </p:nvSpPr>
        <p:spPr>
          <a:xfrm>
            <a:off x="4044371" y="1509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DXC</a:t>
            </a:r>
          </a:p>
        </p:txBody>
      </p:sp>
      <p:sp>
        <p:nvSpPr>
          <p:cNvPr id="313" name="chipTR2"/>
          <p:cNvSpPr>
            <a:spLocks/>
          </p:cNvSpPr>
          <p:nvPr/>
        </p:nvSpPr>
        <p:spPr>
          <a:xfrm>
            <a:off x="2926871" y="1894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Infosys</a:t>
            </a:r>
          </a:p>
        </p:txBody>
      </p:sp>
      <p:sp>
        <p:nvSpPr>
          <p:cNvPr id="314" name="chipTR3"/>
          <p:cNvSpPr/>
          <p:nvPr/>
        </p:nvSpPr>
        <p:spPr>
          <a:xfrm>
            <a:off x="4044371" y="1894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Cognizant</a:t>
            </a:r>
          </a:p>
        </p:txBody>
      </p:sp>
      <p:sp>
        <p:nvSpPr>
          <p:cNvPr id="315" name="txt"/>
          <p:cNvSpPr txBox="1">
            <a:spLocks/>
          </p:cNvSpPr>
          <p:nvPr/>
        </p:nvSpPr>
        <p:spPr>
          <a:xfrm>
            <a:off x="2917871" y="2280000"/>
            <a:ext cx="2235000" cy="330000"/>
          </a:xfrm>
          <a:prstGeom prst="rect">
            <a:avLst/>
          </a:prstGeom>
          <a:noFill/>
        </p:spPr>
        <p:txBody>
          <a:bodyPr wrap="square" lIns="27000" tIns="14000" rIns="27000" bIns="14000" anchor="b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s-ES" sz="75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Métricas de experiencia (XLA), sentimiento y productividad del empleado.</a:t>
            </a:r>
          </a:p>
        </p:txBody>
      </p:sp>
      <p:sp>
        <p:nvSpPr>
          <p:cNvPr id="317" name="pill"/>
          <p:cNvSpPr>
            <a:spLocks/>
          </p:cNvSpPr>
          <p:nvPr/>
        </p:nvSpPr>
        <p:spPr>
          <a:xfrm>
            <a:off x="419771" y="2770443"/>
            <a:ext cx="2265000" cy="235000"/>
          </a:xfrm>
          <a:prstGeom prst="roundRect">
            <a:avLst>
              <a:gd name="adj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800" b="1">
                <a:solidFill>
                  <a:srgbClr val="7FBF39"/>
                </a:solidFill>
                <a:latin typeface="Reddit Sans"/>
                <a:ea typeface="Reddit Sans"/>
                <a:cs typeface="Reddit Sans Light"/>
              </a:rPr>
              <a:t>AUTOMATIZACIÓN Y AUTO-HEALING</a:t>
            </a:r>
          </a:p>
        </p:txBody>
      </p:sp>
      <p:sp>
        <p:nvSpPr>
          <p:cNvPr id="318" name="chipBL0"/>
          <p:cNvSpPr>
            <a:spLocks/>
          </p:cNvSpPr>
          <p:nvPr/>
        </p:nvSpPr>
        <p:spPr>
          <a:xfrm>
            <a:off x="422000" y="3049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TCS</a:t>
            </a:r>
          </a:p>
        </p:txBody>
      </p:sp>
      <p:sp>
        <p:nvSpPr>
          <p:cNvPr id="319" name="chipBL1"/>
          <p:cNvSpPr>
            <a:spLocks/>
          </p:cNvSpPr>
          <p:nvPr/>
        </p:nvSpPr>
        <p:spPr>
          <a:xfrm>
            <a:off x="1539500" y="3049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Wipro</a:t>
            </a:r>
          </a:p>
        </p:txBody>
      </p:sp>
      <p:sp>
        <p:nvSpPr>
          <p:cNvPr id="320" name="chipBL2"/>
          <p:cNvSpPr/>
          <p:nvPr/>
        </p:nvSpPr>
        <p:spPr>
          <a:xfrm>
            <a:off x="422000" y="3434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DXC</a:t>
            </a:r>
          </a:p>
        </p:txBody>
      </p:sp>
      <p:sp>
        <p:nvSpPr>
          <p:cNvPr id="321" name="chipBL3"/>
          <p:cNvSpPr/>
          <p:nvPr/>
        </p:nvSpPr>
        <p:spPr>
          <a:xfrm>
            <a:off x="1539500" y="3434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Capgemini</a:t>
            </a:r>
          </a:p>
        </p:txBody>
      </p:sp>
      <p:sp>
        <p:nvSpPr>
          <p:cNvPr id="322" name="txt"/>
          <p:cNvSpPr txBox="1">
            <a:spLocks/>
          </p:cNvSpPr>
          <p:nvPr/>
        </p:nvSpPr>
        <p:spPr>
          <a:xfrm>
            <a:off x="413000" y="3820000"/>
            <a:ext cx="2235000" cy="330000"/>
          </a:xfrm>
          <a:prstGeom prst="rect">
            <a:avLst/>
          </a:prstGeom>
          <a:noFill/>
        </p:spPr>
        <p:txBody>
          <a:bodyPr wrap="square" lIns="27000" tIns="14000" rIns="27000" bIns="14000" anchor="b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s-ES" sz="75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Remediación automática, detección de anomalías y operaciones sin intervención.</a:t>
            </a:r>
          </a:p>
        </p:txBody>
      </p:sp>
      <p:sp>
        <p:nvSpPr>
          <p:cNvPr id="324" name="pill"/>
          <p:cNvSpPr>
            <a:spLocks/>
          </p:cNvSpPr>
          <p:nvPr/>
        </p:nvSpPr>
        <p:spPr>
          <a:xfrm>
            <a:off x="2902871" y="2765000"/>
            <a:ext cx="2265000" cy="235000"/>
          </a:xfrm>
          <a:prstGeom prst="roundRect">
            <a:avLst>
              <a:gd name="adj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800" b="1">
                <a:solidFill>
                  <a:srgbClr val="7030A0"/>
                </a:solidFill>
                <a:latin typeface="Reddit Sans"/>
                <a:ea typeface="Reddit Sans"/>
                <a:cs typeface="Reddit Sans Light"/>
              </a:rPr>
              <a:t>SERVICIOS GESTIONADOS A ESCALA</a:t>
            </a:r>
          </a:p>
        </p:txBody>
      </p:sp>
      <p:sp>
        <p:nvSpPr>
          <p:cNvPr id="325" name="chipBR0"/>
          <p:cNvSpPr>
            <a:spLocks/>
          </p:cNvSpPr>
          <p:nvPr/>
        </p:nvSpPr>
        <p:spPr>
          <a:xfrm>
            <a:off x="2926871" y="3049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Deloitte</a:t>
            </a:r>
          </a:p>
        </p:txBody>
      </p:sp>
      <p:sp>
        <p:nvSpPr>
          <p:cNvPr id="326" name="chipBR1"/>
          <p:cNvSpPr/>
          <p:nvPr/>
        </p:nvSpPr>
        <p:spPr>
          <a:xfrm>
            <a:off x="4044371" y="3049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Accenture</a:t>
            </a:r>
          </a:p>
        </p:txBody>
      </p:sp>
      <p:sp>
        <p:nvSpPr>
          <p:cNvPr id="327" name="chipBR2"/>
          <p:cNvSpPr/>
          <p:nvPr/>
        </p:nvSpPr>
        <p:spPr>
          <a:xfrm>
            <a:off x="2926871" y="3434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Kyndryl</a:t>
            </a:r>
          </a:p>
        </p:txBody>
      </p:sp>
      <p:sp>
        <p:nvSpPr>
          <p:cNvPr id="328" name="chipBR3"/>
          <p:cNvSpPr/>
          <p:nvPr/>
        </p:nvSpPr>
        <p:spPr>
          <a:xfrm>
            <a:off x="4044371" y="3434000"/>
            <a:ext cx="1099500" cy="367000"/>
          </a:xfrm>
          <a:prstGeom prst="roundRect">
            <a:avLst>
              <a:gd name="adj" fmla="val 9000"/>
            </a:avLst>
          </a:prstGeom>
          <a:solidFill>
            <a:schemeClr val="bg1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Cognizant</a:t>
            </a:r>
          </a:p>
        </p:txBody>
      </p:sp>
      <p:sp>
        <p:nvSpPr>
          <p:cNvPr id="329" name="txt"/>
          <p:cNvSpPr txBox="1"/>
          <p:nvPr/>
        </p:nvSpPr>
        <p:spPr>
          <a:xfrm>
            <a:off x="2917871" y="3820000"/>
            <a:ext cx="2235000" cy="330000"/>
          </a:xfrm>
          <a:prstGeom prst="rect">
            <a:avLst/>
          </a:prstGeom>
          <a:noFill/>
        </p:spPr>
        <p:txBody>
          <a:bodyPr wrap="square" lIns="27000" tIns="14000" rIns="27000" bIns="14000" anchor="b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s-ES" sz="75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Operación end-to-end, cobertura global y modelos orientados a resultados.</a:t>
            </a:r>
          </a:p>
        </p:txBody>
      </p:sp>
      <p:sp>
        <p:nvSpPr>
          <p:cNvPr id="330" name="axisY"/>
          <p:cNvSpPr txBox="1"/>
          <p:nvPr/>
        </p:nvSpPr>
        <p:spPr>
          <a:xfrm>
            <a:off x="1300943" y="847472"/>
            <a:ext cx="3862058" cy="220886"/>
          </a:xfrm>
          <a:prstGeom prst="rect">
            <a:avLst/>
          </a:prstGeom>
          <a:noFill/>
        </p:spPr>
        <p:txBody>
          <a:bodyPr wrap="square" lIns="27000" tIns="14000" rIns="27000" bIns="14000" anchor="ctr">
            <a:normAutofit/>
          </a:bodyPr>
          <a:lstStyle/>
          <a:p>
            <a:pPr algn="ctr"/>
            <a:r>
              <a:rPr lang="es-ES" sz="85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▲  MADUREZ DE IA</a:t>
            </a:r>
          </a:p>
        </p:txBody>
      </p:sp>
      <p:sp>
        <p:nvSpPr>
          <p:cNvPr id="331" name="axisX"/>
          <p:cNvSpPr txBox="1"/>
          <p:nvPr/>
        </p:nvSpPr>
        <p:spPr>
          <a:xfrm>
            <a:off x="343000" y="4238543"/>
            <a:ext cx="4820000" cy="210000"/>
          </a:xfrm>
          <a:prstGeom prst="rect">
            <a:avLst/>
          </a:prstGeom>
          <a:noFill/>
        </p:spPr>
        <p:txBody>
          <a:bodyPr wrap="square" lIns="27000" tIns="14000" rIns="27000" bIns="14000" anchor="ctr">
            <a:normAutofit/>
          </a:bodyPr>
          <a:lstStyle/>
          <a:p>
            <a:pPr algn="ctr"/>
            <a:r>
              <a:rPr lang="es-ES" sz="85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ESCALA OPERATIVA  ▶</a:t>
            </a:r>
          </a:p>
        </p:txBody>
      </p:sp>
      <p:sp>
        <p:nvSpPr>
          <p:cNvPr id="332" name="sb0"/>
          <p:cNvSpPr/>
          <p:nvPr/>
        </p:nvSpPr>
        <p:spPr>
          <a:xfrm>
            <a:off x="5515057" y="598500"/>
            <a:ext cx="3471000" cy="7195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D5D9E6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33" name="acc"/>
          <p:cNvSpPr/>
          <p:nvPr/>
        </p:nvSpPr>
        <p:spPr>
          <a:xfrm>
            <a:off x="5515057" y="598500"/>
            <a:ext cx="55000" cy="719500"/>
          </a:xfrm>
          <a:prstGeom prst="rect">
            <a:avLst/>
          </a:prstGeom>
          <a:solidFill>
            <a:srgbClr val="0D6F7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34" name="mk"/>
          <p:cNvSpPr/>
          <p:nvPr/>
        </p:nvSpPr>
        <p:spPr>
          <a:xfrm>
            <a:off x="5635057" y="658500"/>
            <a:ext cx="150000" cy="150000"/>
          </a:xfrm>
          <a:prstGeom prst="ellipse">
            <a:avLst/>
          </a:prstGeom>
          <a:solidFill>
            <a:srgbClr val="0D6F7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35" name="txt"/>
          <p:cNvSpPr txBox="1"/>
          <p:nvPr/>
        </p:nvSpPr>
        <p:spPr>
          <a:xfrm>
            <a:off x="5825057" y="628500"/>
            <a:ext cx="3131000" cy="210000"/>
          </a:xfrm>
          <a:prstGeom prst="rect">
            <a:avLst/>
          </a:prstGeom>
          <a:noFill/>
        </p:spPr>
        <p:txBody>
          <a:bodyPr wrap="square" lIns="27000" tIns="14000" rIns="27000" bIns="14000" anchor="ctr">
            <a:normAutofit/>
          </a:bodyPr>
          <a:lstStyle/>
          <a:p>
            <a:pPr algn="l"/>
            <a:r>
              <a:rPr lang="es-ES" sz="900" b="1">
                <a:solidFill>
                  <a:srgbClr val="0D6F75"/>
                </a:solidFill>
                <a:latin typeface="Reddit Sans"/>
                <a:ea typeface="Reddit Sans"/>
                <a:cs typeface="Reddit Sans Light"/>
              </a:rPr>
              <a:t>IA Agéntica Avanzada</a:t>
            </a:r>
          </a:p>
        </p:txBody>
      </p:sp>
      <p:sp>
        <p:nvSpPr>
          <p:cNvPr id="336" name="txt"/>
          <p:cNvSpPr txBox="1"/>
          <p:nvPr/>
        </p:nvSpPr>
        <p:spPr>
          <a:xfrm>
            <a:off x="5635057" y="837614"/>
            <a:ext cx="1250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IBM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Accenture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HCLTech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ServiceNow</a:t>
            </a:r>
          </a:p>
        </p:txBody>
      </p:sp>
      <p:sp>
        <p:nvSpPr>
          <p:cNvPr id="337" name="txt"/>
          <p:cNvSpPr txBox="1"/>
          <p:nvPr/>
        </p:nvSpPr>
        <p:spPr>
          <a:xfrm>
            <a:off x="6935057" y="837614"/>
            <a:ext cx="2001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marL="118000" indent="-118000" algn="l">
              <a:buClr>
                <a:srgbClr val="0D6F7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Agentic AI</a:t>
            </a:r>
          </a:p>
          <a:p>
            <a:pPr marL="118000" indent="-118000" algn="l">
              <a:buClr>
                <a:srgbClr val="0D6F7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Razonamiento y memoria</a:t>
            </a:r>
          </a:p>
          <a:p>
            <a:pPr marL="118000" indent="-118000" algn="l">
              <a:buClr>
                <a:srgbClr val="0D6F7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Ejecución autónoma</a:t>
            </a:r>
          </a:p>
          <a:p>
            <a:pPr marL="118000" indent="-118000" algn="l">
              <a:buClr>
                <a:srgbClr val="0D6F7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Zero-touch operations</a:t>
            </a:r>
          </a:p>
        </p:txBody>
      </p:sp>
      <p:sp>
        <p:nvSpPr>
          <p:cNvPr id="338" name="sb1"/>
          <p:cNvSpPr/>
          <p:nvPr/>
        </p:nvSpPr>
        <p:spPr>
          <a:xfrm>
            <a:off x="5515057" y="1362000"/>
            <a:ext cx="3471000" cy="7195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D5D9E6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39" name="acc"/>
          <p:cNvSpPr/>
          <p:nvPr/>
        </p:nvSpPr>
        <p:spPr>
          <a:xfrm>
            <a:off x="5515057" y="1362000"/>
            <a:ext cx="55000" cy="719500"/>
          </a:xfrm>
          <a:prstGeom prst="rect">
            <a:avLst/>
          </a:prstGeom>
          <a:solidFill>
            <a:srgbClr val="4E8A2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0" name="mk"/>
          <p:cNvSpPr/>
          <p:nvPr/>
        </p:nvSpPr>
        <p:spPr>
          <a:xfrm>
            <a:off x="5635057" y="1422000"/>
            <a:ext cx="150000" cy="150000"/>
          </a:xfrm>
          <a:prstGeom prst="ellipse">
            <a:avLst/>
          </a:prstGeom>
          <a:solidFill>
            <a:srgbClr val="4E8A2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1" name="txt"/>
          <p:cNvSpPr txBox="1"/>
          <p:nvPr/>
        </p:nvSpPr>
        <p:spPr>
          <a:xfrm>
            <a:off x="5825057" y="1392000"/>
            <a:ext cx="3131000" cy="210000"/>
          </a:xfrm>
          <a:prstGeom prst="rect">
            <a:avLst/>
          </a:prstGeom>
          <a:noFill/>
        </p:spPr>
        <p:txBody>
          <a:bodyPr wrap="square" lIns="27000" tIns="14000" rIns="27000" bIns="14000" anchor="ctr">
            <a:normAutofit/>
          </a:bodyPr>
          <a:lstStyle/>
          <a:p>
            <a:pPr algn="l"/>
            <a:r>
              <a:rPr lang="es-ES" sz="900" b="1">
                <a:solidFill>
                  <a:srgbClr val="4E8A25"/>
                </a:solidFill>
                <a:latin typeface="Reddit Sans"/>
                <a:ea typeface="Reddit Sans"/>
                <a:cs typeface="Reddit Sans Light"/>
              </a:rPr>
              <a:t>Automatización y Auto-healing</a:t>
            </a:r>
          </a:p>
        </p:txBody>
      </p:sp>
      <p:sp>
        <p:nvSpPr>
          <p:cNvPr id="342" name="txt"/>
          <p:cNvSpPr txBox="1"/>
          <p:nvPr/>
        </p:nvSpPr>
        <p:spPr>
          <a:xfrm>
            <a:off x="5635057" y="1601114"/>
            <a:ext cx="1250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TCS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Wipro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DXC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Capgemini</a:t>
            </a:r>
          </a:p>
        </p:txBody>
      </p:sp>
      <p:sp>
        <p:nvSpPr>
          <p:cNvPr id="343" name="txt"/>
          <p:cNvSpPr txBox="1"/>
          <p:nvPr/>
        </p:nvSpPr>
        <p:spPr>
          <a:xfrm>
            <a:off x="6935057" y="1601114"/>
            <a:ext cx="2001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marL="118000" indent="-118000" algn="l">
              <a:buClr>
                <a:srgbClr val="4E8A2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Auto-remediación</a:t>
            </a:r>
          </a:p>
          <a:p>
            <a:pPr marL="118000" indent="-118000" algn="l">
              <a:buClr>
                <a:srgbClr val="4E8A2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AIOps y observabilidad</a:t>
            </a:r>
          </a:p>
          <a:p>
            <a:pPr marL="118000" indent="-118000" algn="l">
              <a:buClr>
                <a:srgbClr val="4E8A2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Prevención de fallos</a:t>
            </a:r>
          </a:p>
          <a:p>
            <a:pPr marL="118000" indent="-118000" algn="l">
              <a:buClr>
                <a:srgbClr val="4E8A2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Operaciones sin intervención</a:t>
            </a:r>
          </a:p>
        </p:txBody>
      </p:sp>
      <p:sp>
        <p:nvSpPr>
          <p:cNvPr id="344" name="sb2"/>
          <p:cNvSpPr/>
          <p:nvPr/>
        </p:nvSpPr>
        <p:spPr>
          <a:xfrm>
            <a:off x="5515057" y="2125500"/>
            <a:ext cx="3471000" cy="7195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D5D9E6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5" name="acc"/>
          <p:cNvSpPr/>
          <p:nvPr/>
        </p:nvSpPr>
        <p:spPr>
          <a:xfrm>
            <a:off x="5515057" y="2125500"/>
            <a:ext cx="55000" cy="719500"/>
          </a:xfrm>
          <a:prstGeom prst="rect">
            <a:avLst/>
          </a:prstGeom>
          <a:solidFill>
            <a:srgbClr val="2E6FB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6" name="mk"/>
          <p:cNvSpPr>
            <a:spLocks/>
          </p:cNvSpPr>
          <p:nvPr/>
        </p:nvSpPr>
        <p:spPr>
          <a:xfrm>
            <a:off x="5635057" y="2185500"/>
            <a:ext cx="150000" cy="150000"/>
          </a:xfrm>
          <a:prstGeom prst="ellipse">
            <a:avLst/>
          </a:prstGeom>
          <a:solidFill>
            <a:srgbClr val="2E6FB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7" name="txt"/>
          <p:cNvSpPr txBox="1">
            <a:spLocks/>
          </p:cNvSpPr>
          <p:nvPr/>
        </p:nvSpPr>
        <p:spPr>
          <a:xfrm>
            <a:off x="5825057" y="2155500"/>
            <a:ext cx="3131000" cy="210000"/>
          </a:xfrm>
          <a:prstGeom prst="rect">
            <a:avLst/>
          </a:prstGeom>
          <a:noFill/>
        </p:spPr>
        <p:txBody>
          <a:bodyPr wrap="square" lIns="27000" tIns="14000" rIns="27000" bIns="14000" anchor="ctr">
            <a:normAutofit/>
          </a:bodyPr>
          <a:lstStyle/>
          <a:p>
            <a:pPr algn="l"/>
            <a:r>
              <a:rPr lang="es-ES" sz="900" b="1">
                <a:solidFill>
                  <a:srgbClr val="2E6FB5"/>
                </a:solidFill>
                <a:latin typeface="Reddit Sans"/>
                <a:ea typeface="Reddit Sans"/>
                <a:cs typeface="Reddit Sans Light"/>
              </a:rPr>
              <a:t>XLA &amp; Experiencia del Empleado</a:t>
            </a:r>
          </a:p>
        </p:txBody>
      </p:sp>
      <p:sp>
        <p:nvSpPr>
          <p:cNvPr id="348" name="txt"/>
          <p:cNvSpPr txBox="1"/>
          <p:nvPr/>
        </p:nvSpPr>
        <p:spPr>
          <a:xfrm>
            <a:off x="5635057" y="2364614"/>
            <a:ext cx="1250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NTT DATA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DXC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Infosys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Cognizant</a:t>
            </a:r>
          </a:p>
        </p:txBody>
      </p:sp>
      <p:sp>
        <p:nvSpPr>
          <p:cNvPr id="349" name="txt"/>
          <p:cNvSpPr txBox="1">
            <a:spLocks/>
          </p:cNvSpPr>
          <p:nvPr/>
        </p:nvSpPr>
        <p:spPr>
          <a:xfrm>
            <a:off x="6935057" y="2364614"/>
            <a:ext cx="2001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marL="118000" indent="-118000" algn="l">
              <a:buClr>
                <a:srgbClr val="2E6FB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Experience Level Agreements</a:t>
            </a:r>
          </a:p>
          <a:p>
            <a:pPr marL="118000" indent="-118000" algn="l">
              <a:buClr>
                <a:srgbClr val="2E6FB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Sentimiento del empleado</a:t>
            </a:r>
          </a:p>
          <a:p>
            <a:pPr marL="118000" indent="-118000" algn="l">
              <a:buClr>
                <a:srgbClr val="2E6FB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Productividad</a:t>
            </a:r>
          </a:p>
          <a:p>
            <a:pPr marL="118000" indent="-118000" algn="l">
              <a:buClr>
                <a:srgbClr val="2E6FB5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FCR y CSAT superiores</a:t>
            </a:r>
          </a:p>
        </p:txBody>
      </p:sp>
      <p:sp>
        <p:nvSpPr>
          <p:cNvPr id="350" name="sb3"/>
          <p:cNvSpPr>
            <a:spLocks/>
          </p:cNvSpPr>
          <p:nvPr/>
        </p:nvSpPr>
        <p:spPr>
          <a:xfrm>
            <a:off x="5515057" y="2889000"/>
            <a:ext cx="3471000" cy="7195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D5D9E6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51" name="acc"/>
          <p:cNvSpPr/>
          <p:nvPr/>
        </p:nvSpPr>
        <p:spPr>
          <a:xfrm>
            <a:off x="5515057" y="2889000"/>
            <a:ext cx="55000" cy="719500"/>
          </a:xfrm>
          <a:prstGeom prst="rect">
            <a:avLst/>
          </a:prstGeom>
          <a:solidFill>
            <a:srgbClr val="6B3FA0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52" name="mk"/>
          <p:cNvSpPr>
            <a:spLocks/>
          </p:cNvSpPr>
          <p:nvPr/>
        </p:nvSpPr>
        <p:spPr>
          <a:xfrm>
            <a:off x="5635057" y="2949000"/>
            <a:ext cx="150000" cy="150000"/>
          </a:xfrm>
          <a:prstGeom prst="ellipse">
            <a:avLst/>
          </a:prstGeom>
          <a:solidFill>
            <a:srgbClr val="6B3FA0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53" name="txt"/>
          <p:cNvSpPr txBox="1"/>
          <p:nvPr/>
        </p:nvSpPr>
        <p:spPr>
          <a:xfrm>
            <a:off x="5825057" y="2919000"/>
            <a:ext cx="3131000" cy="210000"/>
          </a:xfrm>
          <a:prstGeom prst="rect">
            <a:avLst/>
          </a:prstGeom>
          <a:noFill/>
        </p:spPr>
        <p:txBody>
          <a:bodyPr wrap="square" lIns="27000" tIns="14000" rIns="27000" bIns="14000" anchor="ctr">
            <a:normAutofit/>
          </a:bodyPr>
          <a:lstStyle/>
          <a:p>
            <a:pPr algn="l"/>
            <a:r>
              <a:rPr lang="es-ES" sz="900" b="1">
                <a:solidFill>
                  <a:srgbClr val="6B3FA0"/>
                </a:solidFill>
                <a:latin typeface="Reddit Sans"/>
                <a:ea typeface="Reddit Sans"/>
                <a:cs typeface="Reddit Sans Light"/>
              </a:rPr>
              <a:t>Servicios Gestionados a Escala</a:t>
            </a:r>
          </a:p>
        </p:txBody>
      </p:sp>
      <p:sp>
        <p:nvSpPr>
          <p:cNvPr id="354" name="txt"/>
          <p:cNvSpPr txBox="1"/>
          <p:nvPr/>
        </p:nvSpPr>
        <p:spPr>
          <a:xfrm>
            <a:off x="5635057" y="3128114"/>
            <a:ext cx="1250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Deloitte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Accenture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Kyndryl</a:t>
            </a:r>
          </a:p>
          <a:p>
            <a:pPr algn="l">
              <a:lnSpc>
                <a:spcPct val="105000"/>
              </a:lnSpc>
            </a:pPr>
            <a:r>
              <a:rPr lang="es-ES" sz="700" b="1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Cognizant</a:t>
            </a:r>
          </a:p>
        </p:txBody>
      </p:sp>
      <p:sp>
        <p:nvSpPr>
          <p:cNvPr id="355" name="txt"/>
          <p:cNvSpPr txBox="1"/>
          <p:nvPr/>
        </p:nvSpPr>
        <p:spPr>
          <a:xfrm>
            <a:off x="6935057" y="3128114"/>
            <a:ext cx="2001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marL="118000" indent="-118000" algn="l">
              <a:buClr>
                <a:srgbClr val="6B3FA0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Cobertura global 24x7</a:t>
            </a:r>
          </a:p>
          <a:p>
            <a:pPr marL="118000" indent="-118000" algn="l">
              <a:buClr>
                <a:srgbClr val="6B3FA0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Modelos outcome-based</a:t>
            </a:r>
          </a:p>
          <a:p>
            <a:pPr marL="118000" indent="-118000" algn="l">
              <a:buClr>
                <a:srgbClr val="6B3FA0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Transformación operativa</a:t>
            </a:r>
          </a:p>
          <a:p>
            <a:pPr marL="118000" indent="-118000" algn="l">
              <a:buClr>
                <a:srgbClr val="6B3FA0"/>
              </a:buClr>
              <a:buFont typeface="Arial"/>
              <a:buChar char="•"/>
            </a:pPr>
            <a:r>
              <a:rPr lang="es-ES" sz="70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Responsabilidad end-to-end</a:t>
            </a:r>
          </a:p>
        </p:txBody>
      </p:sp>
      <p:sp>
        <p:nvSpPr>
          <p:cNvPr id="356" name="stmt"/>
          <p:cNvSpPr/>
          <p:nvPr/>
        </p:nvSpPr>
        <p:spPr>
          <a:xfrm>
            <a:off x="342999" y="4443599"/>
            <a:ext cx="7591256" cy="378743"/>
          </a:xfrm>
          <a:prstGeom prst="roundRect">
            <a:avLst>
              <a:gd name="adj" fmla="val 7000"/>
            </a:avLst>
          </a:prstGeom>
          <a:ln w="127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45000" tIns="10000" rIns="45000" bIns="10000" anchor="ctr">
            <a:normAutofit/>
          </a:bodyPr>
          <a:lstStyle/>
          <a:p>
            <a:pPr algn="l">
              <a:lnSpc>
                <a:spcPct val="104000"/>
              </a:lnSpc>
            </a:pPr>
            <a:r>
              <a:rPr lang="es-ES" sz="900" b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Los proveedores convergen en capacidades, pero la diferenciación está en la </a:t>
            </a:r>
            <a:r>
              <a:rPr lang="es-ES" sz="900" b="1">
                <a:solidFill>
                  <a:srgbClr val="7FD4D0"/>
                </a:solidFill>
                <a:latin typeface="Reddit Sans"/>
                <a:ea typeface="Reddit Sans"/>
                <a:cs typeface="Reddit Sans Light"/>
              </a:rPr>
              <a:t>profundidad de la IA, la automatización y los resultados de negocio</a:t>
            </a:r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s-ES" sz="900" b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que entregan.</a:t>
            </a:r>
          </a:p>
        </p:txBody>
      </p:sp>
      <p:sp>
        <p:nvSpPr>
          <p:cNvPr id="357" name="tkdot"/>
          <p:cNvSpPr/>
          <p:nvPr/>
        </p:nvSpPr>
        <p:spPr>
          <a:xfrm>
            <a:off x="5545328" y="3727485"/>
            <a:ext cx="130000" cy="130000"/>
          </a:xfrm>
          <a:prstGeom prst="ellipse">
            <a:avLst/>
          </a:prstGeom>
          <a:solidFill>
            <a:srgbClr val="0D6F7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58" name="txt"/>
          <p:cNvSpPr txBox="1"/>
          <p:nvPr/>
        </p:nvSpPr>
        <p:spPr>
          <a:xfrm>
            <a:off x="5535328" y="3877485"/>
            <a:ext cx="784499" cy="612842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es-ES" sz="600">
                <a:solidFill>
                  <a:srgbClr val="2A2E45"/>
                </a:solidFill>
                <a:latin typeface="Reddit Sans"/>
                <a:ea typeface="Reddit Sans"/>
                <a:cs typeface="Reddit Sans Light"/>
              </a:rPr>
              <a:t>La IA impulsa la autonomía y las decisiones.</a:t>
            </a:r>
          </a:p>
        </p:txBody>
      </p:sp>
      <p:sp>
        <p:nvSpPr>
          <p:cNvPr id="359" name="tkdot"/>
          <p:cNvSpPr/>
          <p:nvPr/>
        </p:nvSpPr>
        <p:spPr>
          <a:xfrm>
            <a:off x="6447357" y="3727485"/>
            <a:ext cx="130000" cy="130000"/>
          </a:xfrm>
          <a:prstGeom prst="ellipse">
            <a:avLst/>
          </a:prstGeom>
          <a:solidFill>
            <a:srgbClr val="4E8A2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0" name="txt"/>
          <p:cNvSpPr txBox="1"/>
          <p:nvPr/>
        </p:nvSpPr>
        <p:spPr>
          <a:xfrm>
            <a:off x="6388371" y="3882928"/>
            <a:ext cx="784499" cy="612842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lang="es-ES" sz="600">
                <a:solidFill>
                  <a:srgbClr val="2A2E45"/>
                </a:solidFill>
                <a:latin typeface="Reddit Sans"/>
                <a:ea typeface="Reddit Sans"/>
                <a:cs typeface="Reddit Sans Light"/>
              </a:rPr>
              <a:t>La automatización reduce costos y previene fallos.</a:t>
            </a:r>
          </a:p>
        </p:txBody>
      </p:sp>
      <p:sp>
        <p:nvSpPr>
          <p:cNvPr id="361" name="tkdot"/>
          <p:cNvSpPr/>
          <p:nvPr/>
        </p:nvSpPr>
        <p:spPr>
          <a:xfrm>
            <a:off x="7251413" y="3732928"/>
            <a:ext cx="130000" cy="130000"/>
          </a:xfrm>
          <a:prstGeom prst="ellipse">
            <a:avLst/>
          </a:prstGeom>
          <a:solidFill>
            <a:srgbClr val="2E6FB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2" name="txt"/>
          <p:cNvSpPr txBox="1"/>
          <p:nvPr/>
        </p:nvSpPr>
        <p:spPr>
          <a:xfrm>
            <a:off x="7241413" y="3882928"/>
            <a:ext cx="784499" cy="612842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es-ES" sz="600">
                <a:solidFill>
                  <a:srgbClr val="2A2E45"/>
                </a:solidFill>
                <a:latin typeface="Reddit Sans"/>
                <a:ea typeface="Reddit Sans"/>
                <a:cs typeface="Reddit Sans Light"/>
              </a:rPr>
              <a:t>La experiencia del empleado es el nuevo SLA.</a:t>
            </a:r>
          </a:p>
        </p:txBody>
      </p:sp>
      <p:sp>
        <p:nvSpPr>
          <p:cNvPr id="363" name="tkdot"/>
          <p:cNvSpPr/>
          <p:nvPr/>
        </p:nvSpPr>
        <p:spPr>
          <a:xfrm>
            <a:off x="8104456" y="3732928"/>
            <a:ext cx="130000" cy="130000"/>
          </a:xfrm>
          <a:prstGeom prst="ellipse">
            <a:avLst/>
          </a:prstGeom>
          <a:solidFill>
            <a:srgbClr val="6B3FA0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4" name="txt"/>
          <p:cNvSpPr txBox="1"/>
          <p:nvPr/>
        </p:nvSpPr>
        <p:spPr>
          <a:xfrm>
            <a:off x="8105340" y="3882928"/>
            <a:ext cx="855257" cy="612842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lang="es-ES" sz="600">
                <a:solidFill>
                  <a:srgbClr val="2A2E45"/>
                </a:solidFill>
                <a:latin typeface="Reddit Sans"/>
                <a:ea typeface="Reddit Sans"/>
                <a:cs typeface="Reddit Sans Light"/>
              </a:rPr>
              <a:t>El modelo gestionado asegura resultados sostenibles.</a:t>
            </a:r>
          </a:p>
        </p:txBody>
      </p:sp>
      <p:sp>
        <p:nvSpPr>
          <p:cNvPr id="365" name="src"/>
          <p:cNvSpPr txBox="1"/>
          <p:nvPr/>
        </p:nvSpPr>
        <p:spPr>
          <a:xfrm>
            <a:off x="353885" y="4880000"/>
            <a:ext cx="7600000" cy="2200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rmAutofit/>
          </a:bodyPr>
          <a:lstStyle/>
          <a:p>
            <a:pPr algn="l"/>
            <a:r>
              <a:rPr lang="es-ES" sz="700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Fuente: Gartner ITSM Market Guide 2024 · Gartner AI </a:t>
            </a:r>
            <a:r>
              <a:rPr lang="es-ES" sz="700" err="1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Applications</a:t>
            </a:r>
            <a:r>
              <a:rPr lang="es-ES" sz="700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 in ITSM 2024 · IDC </a:t>
            </a:r>
            <a:r>
              <a:rPr lang="es-ES" sz="700" err="1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MarketScape</a:t>
            </a:r>
            <a:r>
              <a:rPr lang="es-ES" sz="700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: </a:t>
            </a:r>
            <a:r>
              <a:rPr lang="es-ES" sz="700" err="1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Worldwide</a:t>
            </a:r>
            <a:r>
              <a:rPr lang="es-ES" sz="700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 ITSM 2024 · HDI </a:t>
            </a:r>
            <a:r>
              <a:rPr lang="es-ES" sz="700" err="1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Benchmarks</a:t>
            </a:r>
            <a:r>
              <a:rPr lang="es-ES" sz="700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 2024-2025</a:t>
            </a: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10B77E44-CDA2-C401-ABF9-5C520D9C4C6F}"/>
              </a:ext>
            </a:extLst>
          </p:cNvPr>
          <p:cNvCxnSpPr/>
          <p:nvPr/>
        </p:nvCxnSpPr>
        <p:spPr>
          <a:xfrm flipH="1" flipV="1">
            <a:off x="2778434" y="1066800"/>
            <a:ext cx="24063" cy="3112168"/>
          </a:xfrm>
          <a:prstGeom prst="straightConnector1">
            <a:avLst/>
          </a:prstGeom>
          <a:ln w="28575">
            <a:solidFill>
              <a:srgbClr val="E4E4E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E6FC09E6-FD59-EEC1-568A-BCA39B87F200}"/>
              </a:ext>
            </a:extLst>
          </p:cNvPr>
          <p:cNvCxnSpPr>
            <a:cxnSpLocks/>
          </p:cNvCxnSpPr>
          <p:nvPr/>
        </p:nvCxnSpPr>
        <p:spPr>
          <a:xfrm flipV="1">
            <a:off x="352720" y="4203042"/>
            <a:ext cx="4907164" cy="15181"/>
          </a:xfrm>
          <a:prstGeom prst="straightConnector1">
            <a:avLst/>
          </a:prstGeom>
          <a:ln w="28575">
            <a:solidFill>
              <a:srgbClr val="E4E4E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mk">
            <a:extLst>
              <a:ext uri="{FF2B5EF4-FFF2-40B4-BE49-F238E27FC236}">
                <a16:creationId xmlns:a16="http://schemas.microsoft.com/office/drawing/2014/main" id="{C971E5F3-1445-3338-E008-0A5EE02BE569}"/>
              </a:ext>
            </a:extLst>
          </p:cNvPr>
          <p:cNvSpPr>
            <a:spLocks/>
          </p:cNvSpPr>
          <p:nvPr/>
        </p:nvSpPr>
        <p:spPr>
          <a:xfrm>
            <a:off x="2924514" y="2802043"/>
            <a:ext cx="150000" cy="150000"/>
          </a:xfrm>
          <a:prstGeom prst="ellipse">
            <a:avLst/>
          </a:prstGeom>
          <a:solidFill>
            <a:srgbClr val="6B3FA0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" name="mk">
            <a:extLst>
              <a:ext uri="{FF2B5EF4-FFF2-40B4-BE49-F238E27FC236}">
                <a16:creationId xmlns:a16="http://schemas.microsoft.com/office/drawing/2014/main" id="{8DD62482-CAFD-92A8-0EC4-6BE1ED18E5C0}"/>
              </a:ext>
            </a:extLst>
          </p:cNvPr>
          <p:cNvSpPr>
            <a:spLocks/>
          </p:cNvSpPr>
          <p:nvPr/>
        </p:nvSpPr>
        <p:spPr>
          <a:xfrm>
            <a:off x="2924514" y="1243885"/>
            <a:ext cx="150000" cy="150000"/>
          </a:xfrm>
          <a:prstGeom prst="ellipse">
            <a:avLst/>
          </a:prstGeom>
          <a:solidFill>
            <a:srgbClr val="2E6FB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" name="mk">
            <a:extLst>
              <a:ext uri="{FF2B5EF4-FFF2-40B4-BE49-F238E27FC236}">
                <a16:creationId xmlns:a16="http://schemas.microsoft.com/office/drawing/2014/main" id="{80D00D46-CF6B-8282-C64B-C7C3259E2024}"/>
              </a:ext>
            </a:extLst>
          </p:cNvPr>
          <p:cNvSpPr/>
          <p:nvPr/>
        </p:nvSpPr>
        <p:spPr>
          <a:xfrm>
            <a:off x="420800" y="2799043"/>
            <a:ext cx="150000" cy="150000"/>
          </a:xfrm>
          <a:prstGeom prst="ellipse">
            <a:avLst/>
          </a:prstGeom>
          <a:solidFill>
            <a:srgbClr val="4E8A2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6" name="mk">
            <a:extLst>
              <a:ext uri="{FF2B5EF4-FFF2-40B4-BE49-F238E27FC236}">
                <a16:creationId xmlns:a16="http://schemas.microsoft.com/office/drawing/2014/main" id="{68D6A990-98AC-1DC1-EA58-1A393AB99E9A}"/>
              </a:ext>
            </a:extLst>
          </p:cNvPr>
          <p:cNvSpPr/>
          <p:nvPr/>
        </p:nvSpPr>
        <p:spPr>
          <a:xfrm>
            <a:off x="415357" y="1246328"/>
            <a:ext cx="150000" cy="150000"/>
          </a:xfrm>
          <a:prstGeom prst="ellipse">
            <a:avLst/>
          </a:prstGeom>
          <a:solidFill>
            <a:srgbClr val="0D6F7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1B6438-BF5B-F6C9-DE7C-E31F1892E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/>
              <a:t>El Costo de No </a:t>
            </a:r>
            <a:r>
              <a:rPr lang="en-US" sz="1400" err="1"/>
              <a:t>Evolucionar</a:t>
            </a:r>
            <a:endParaRPr lang="es-CO" sz="140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34AAC178-FC92-F642-69E8-BC6A6C6E3207}"/>
              </a:ext>
            </a:extLst>
          </p:cNvPr>
          <p:cNvSpPr/>
          <p:nvPr/>
        </p:nvSpPr>
        <p:spPr>
          <a:xfrm>
            <a:off x="312930" y="84417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Costo por ticket segun nivel de resolucion</a:t>
            </a:r>
            <a:endParaRPr lang="en-US" sz="12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9" name="Shape 20">
            <a:extLst>
              <a:ext uri="{FF2B5EF4-FFF2-40B4-BE49-F238E27FC236}">
                <a16:creationId xmlns:a16="http://schemas.microsoft.com/office/drawing/2014/main" id="{7FE31A7F-BC0A-F0E6-2C8C-3B58D49E8001}"/>
              </a:ext>
            </a:extLst>
          </p:cNvPr>
          <p:cNvSpPr/>
          <p:nvPr/>
        </p:nvSpPr>
        <p:spPr>
          <a:xfrm>
            <a:off x="312929" y="3982521"/>
            <a:ext cx="5256712" cy="371204"/>
          </a:xfrm>
          <a:prstGeom prst="leftArrow">
            <a:avLst/>
          </a:prstGeom>
          <a:solidFill>
            <a:srgbClr val="1B7B85"/>
          </a:solidFill>
          <a:ln w="12700">
            <a:solidFill>
              <a:srgbClr val="1B7B8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B09B687A-2905-F335-0058-C12B2534C3A3}"/>
              </a:ext>
            </a:extLst>
          </p:cNvPr>
          <p:cNvSpPr/>
          <p:nvPr/>
        </p:nvSpPr>
        <p:spPr>
          <a:xfrm>
            <a:off x="-578609" y="4093338"/>
            <a:ext cx="7297782" cy="33462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Cada ticket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evitado</a:t>
            </a:r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mediante</a:t>
            </a:r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Shift-Left reduce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costos</a:t>
            </a:r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y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tiempos</a:t>
            </a:r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de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resolución</a:t>
            </a:r>
            <a:endParaRPr lang="en-US" sz="1050" b="1">
              <a:solidFill>
                <a:srgbClr val="FFFFFF"/>
              </a:solidFill>
              <a:latin typeface="Reddit Sans"/>
              <a:ea typeface="Reddit Sans"/>
              <a:cs typeface="Calibri"/>
            </a:endParaRPr>
          </a:p>
          <a:p>
            <a:pPr algn="ctr"/>
            <a:endParaRPr lang="en-US" sz="1050" b="1">
              <a:solidFill>
                <a:srgbClr val="FFFFFF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51" name="Text 3">
            <a:extLst>
              <a:ext uri="{FF2B5EF4-FFF2-40B4-BE49-F238E27FC236}">
                <a16:creationId xmlns:a16="http://schemas.microsoft.com/office/drawing/2014/main" id="{E848E77C-4CF7-E141-E976-3EFC1688EBE2}"/>
              </a:ext>
            </a:extLst>
          </p:cNvPr>
          <p:cNvSpPr/>
          <p:nvPr/>
        </p:nvSpPr>
        <p:spPr>
          <a:xfrm>
            <a:off x="312930" y="524130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defTabSz="685800" fontAlgn="ctr">
              <a:lnSpc>
                <a:spcPts val="1693"/>
              </a:lnSpc>
              <a:spcBef>
                <a:spcPts val="650"/>
              </a:spcBef>
              <a:buFont typeface="Arial"/>
              <a:buNone/>
            </a:pP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La mesa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reactiva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ya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 es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indefendible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comercialmente</a:t>
            </a:r>
          </a:p>
        </p:txBody>
      </p:sp>
      <p:sp>
        <p:nvSpPr>
          <p:cNvPr id="141" name="bar">
            <a:extLst>
              <a:ext uri="{FF2B5EF4-FFF2-40B4-BE49-F238E27FC236}">
                <a16:creationId xmlns:a16="http://schemas.microsoft.com/office/drawing/2014/main" id="{5157805E-5E2A-EA83-FA50-536A233632FB}"/>
              </a:ext>
            </a:extLst>
          </p:cNvPr>
          <p:cNvSpPr>
            <a:spLocks noGrp="1"/>
          </p:cNvSpPr>
          <p:nvPr/>
        </p:nvSpPr>
        <p:spPr>
          <a:xfrm>
            <a:off x="363583" y="1278201"/>
            <a:ext cx="914400" cy="457200"/>
          </a:xfrm>
          <a:prstGeom prst="roundRect">
            <a:avLst>
              <a:gd name="adj" fmla="val 8000"/>
            </a:avLst>
          </a:prstGeom>
          <a:solidFill>
            <a:srgbClr val="2A6B3C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43" name="lbl">
            <a:extLst>
              <a:ext uri="{FF2B5EF4-FFF2-40B4-BE49-F238E27FC236}">
                <a16:creationId xmlns:a16="http://schemas.microsoft.com/office/drawing/2014/main" id="{2B0ADD44-981F-5714-ED4D-60260B63E85A}"/>
              </a:ext>
            </a:extLst>
          </p:cNvPr>
          <p:cNvSpPr txBox="1">
            <a:spLocks noGrp="1"/>
          </p:cNvSpPr>
          <p:nvPr/>
        </p:nvSpPr>
        <p:spPr>
          <a:xfrm>
            <a:off x="436735" y="1278201"/>
            <a:ext cx="8991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N0 Autoservicio</a:t>
            </a:r>
          </a:p>
        </p:txBody>
      </p:sp>
      <p:sp>
        <p:nvSpPr>
          <p:cNvPr id="145" name="cst">
            <a:extLst>
              <a:ext uri="{FF2B5EF4-FFF2-40B4-BE49-F238E27FC236}">
                <a16:creationId xmlns:a16="http://schemas.microsoft.com/office/drawing/2014/main" id="{E4439B9E-F687-74E9-EB92-6EB3C16EDDAD}"/>
              </a:ext>
            </a:extLst>
          </p:cNvPr>
          <p:cNvSpPr txBox="1">
            <a:spLocks noGrp="1"/>
          </p:cNvSpPr>
          <p:nvPr/>
        </p:nvSpPr>
        <p:spPr>
          <a:xfrm>
            <a:off x="1387711" y="1278201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200" b="1">
                <a:solidFill>
                  <a:srgbClr val="0D1B5E"/>
                </a:solidFill>
                <a:latin typeface="Reddit Sans"/>
                <a:ea typeface="Reddit Sans"/>
              </a:rPr>
              <a:t>USD 2</a:t>
            </a:r>
          </a:p>
        </p:txBody>
      </p:sp>
      <p:sp>
        <p:nvSpPr>
          <p:cNvPr id="147" name="bar">
            <a:extLst>
              <a:ext uri="{FF2B5EF4-FFF2-40B4-BE49-F238E27FC236}">
                <a16:creationId xmlns:a16="http://schemas.microsoft.com/office/drawing/2014/main" id="{FBAF12FC-0D1F-F735-64F1-19A358F92296}"/>
              </a:ext>
            </a:extLst>
          </p:cNvPr>
          <p:cNvSpPr>
            <a:spLocks noGrp="1"/>
          </p:cNvSpPr>
          <p:nvPr/>
        </p:nvSpPr>
        <p:spPr>
          <a:xfrm>
            <a:off x="363583" y="1799409"/>
            <a:ext cx="1496785" cy="457200"/>
          </a:xfrm>
          <a:prstGeom prst="roundRect">
            <a:avLst>
              <a:gd name="adj" fmla="val 8000"/>
            </a:avLst>
          </a:prstGeom>
          <a:solidFill>
            <a:srgbClr val="1B7B85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49" name="lbl">
            <a:extLst>
              <a:ext uri="{FF2B5EF4-FFF2-40B4-BE49-F238E27FC236}">
                <a16:creationId xmlns:a16="http://schemas.microsoft.com/office/drawing/2014/main" id="{71C36A62-E4E7-831A-FC2B-84562D562C1F}"/>
              </a:ext>
            </a:extLst>
          </p:cNvPr>
          <p:cNvSpPr txBox="1">
            <a:spLocks noGrp="1"/>
          </p:cNvSpPr>
          <p:nvPr/>
        </p:nvSpPr>
        <p:spPr>
          <a:xfrm>
            <a:off x="436735" y="1799409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N1 Agente Virtual IA</a:t>
            </a:r>
          </a:p>
        </p:txBody>
      </p:sp>
      <p:sp>
        <p:nvSpPr>
          <p:cNvPr id="151" name="cst">
            <a:extLst>
              <a:ext uri="{FF2B5EF4-FFF2-40B4-BE49-F238E27FC236}">
                <a16:creationId xmlns:a16="http://schemas.microsoft.com/office/drawing/2014/main" id="{716CAA39-1F22-F973-E1DF-A49F3614AF42}"/>
              </a:ext>
            </a:extLst>
          </p:cNvPr>
          <p:cNvSpPr txBox="1">
            <a:spLocks noGrp="1"/>
          </p:cNvSpPr>
          <p:nvPr/>
        </p:nvSpPr>
        <p:spPr>
          <a:xfrm>
            <a:off x="1844911" y="1799409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200" b="1">
                <a:solidFill>
                  <a:srgbClr val="0D1B5E"/>
                </a:solidFill>
                <a:latin typeface="Reddit Sans"/>
                <a:ea typeface="Reddit Sans"/>
              </a:rPr>
              <a:t>USD 8</a:t>
            </a:r>
          </a:p>
        </p:txBody>
      </p:sp>
      <p:sp>
        <p:nvSpPr>
          <p:cNvPr id="153" name="bar">
            <a:extLst>
              <a:ext uri="{FF2B5EF4-FFF2-40B4-BE49-F238E27FC236}">
                <a16:creationId xmlns:a16="http://schemas.microsoft.com/office/drawing/2014/main" id="{B00C8B7D-B467-FA5A-08A0-889448FB396D}"/>
              </a:ext>
            </a:extLst>
          </p:cNvPr>
          <p:cNvSpPr>
            <a:spLocks noGrp="1"/>
          </p:cNvSpPr>
          <p:nvPr/>
        </p:nvSpPr>
        <p:spPr>
          <a:xfrm>
            <a:off x="363583" y="2320617"/>
            <a:ext cx="2299062" cy="457200"/>
          </a:xfrm>
          <a:prstGeom prst="roundRect">
            <a:avLst>
              <a:gd name="adj" fmla="val 8000"/>
            </a:avLst>
          </a:prstGeom>
          <a:solidFill>
            <a:srgbClr val="1F6FBA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55" name="lbl">
            <a:extLst>
              <a:ext uri="{FF2B5EF4-FFF2-40B4-BE49-F238E27FC236}">
                <a16:creationId xmlns:a16="http://schemas.microsoft.com/office/drawing/2014/main" id="{B2DFE1AD-48DF-10FB-2EB4-DB126050808B}"/>
              </a:ext>
            </a:extLst>
          </p:cNvPr>
          <p:cNvSpPr txBox="1">
            <a:spLocks noGrp="1"/>
          </p:cNvSpPr>
          <p:nvPr/>
        </p:nvSpPr>
        <p:spPr>
          <a:xfrm>
            <a:off x="436735" y="2320617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N2 Soporte L1</a:t>
            </a:r>
          </a:p>
        </p:txBody>
      </p:sp>
      <p:sp>
        <p:nvSpPr>
          <p:cNvPr id="157" name="cst">
            <a:extLst>
              <a:ext uri="{FF2B5EF4-FFF2-40B4-BE49-F238E27FC236}">
                <a16:creationId xmlns:a16="http://schemas.microsoft.com/office/drawing/2014/main" id="{60A9ED2F-0787-C608-C521-3DCE9D1E894A}"/>
              </a:ext>
            </a:extLst>
          </p:cNvPr>
          <p:cNvSpPr txBox="1">
            <a:spLocks noGrp="1"/>
          </p:cNvSpPr>
          <p:nvPr/>
        </p:nvSpPr>
        <p:spPr>
          <a:xfrm>
            <a:off x="2576431" y="2320617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lnSpcReduction="10000"/>
          </a:bodyPr>
          <a:lstStyle/>
          <a:p>
            <a:pPr algn="l"/>
            <a:r>
              <a:rPr lang="es-ES" sz="1200" b="1">
                <a:solidFill>
                  <a:srgbClr val="0D1B5E"/>
                </a:solidFill>
                <a:latin typeface="Reddit Sans"/>
                <a:ea typeface="Reddit Sans"/>
              </a:rPr>
              <a:t>USD 22</a:t>
            </a:r>
          </a:p>
        </p:txBody>
      </p:sp>
      <p:sp>
        <p:nvSpPr>
          <p:cNvPr id="159" name="bar">
            <a:extLst>
              <a:ext uri="{FF2B5EF4-FFF2-40B4-BE49-F238E27FC236}">
                <a16:creationId xmlns:a16="http://schemas.microsoft.com/office/drawing/2014/main" id="{36E6D2F2-2A4B-8AE8-33B4-3E2CC238959B}"/>
              </a:ext>
            </a:extLst>
          </p:cNvPr>
          <p:cNvSpPr>
            <a:spLocks noGrp="1"/>
          </p:cNvSpPr>
          <p:nvPr/>
        </p:nvSpPr>
        <p:spPr>
          <a:xfrm>
            <a:off x="363583" y="2841825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1A3A8F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61" name="lbl">
            <a:extLst>
              <a:ext uri="{FF2B5EF4-FFF2-40B4-BE49-F238E27FC236}">
                <a16:creationId xmlns:a16="http://schemas.microsoft.com/office/drawing/2014/main" id="{E40B749C-A2E5-12DB-B139-62F93E4200C8}"/>
              </a:ext>
            </a:extLst>
          </p:cNvPr>
          <p:cNvSpPr txBox="1">
            <a:spLocks noGrp="1"/>
          </p:cNvSpPr>
          <p:nvPr/>
        </p:nvSpPr>
        <p:spPr>
          <a:xfrm>
            <a:off x="436735" y="2841825"/>
            <a:ext cx="319822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N3 Soporte L2</a:t>
            </a:r>
          </a:p>
        </p:txBody>
      </p:sp>
      <p:sp>
        <p:nvSpPr>
          <p:cNvPr id="163" name="cst">
            <a:extLst>
              <a:ext uri="{FF2B5EF4-FFF2-40B4-BE49-F238E27FC236}">
                <a16:creationId xmlns:a16="http://schemas.microsoft.com/office/drawing/2014/main" id="{239918B0-AEA0-76AF-70C1-C7069D488EE4}"/>
              </a:ext>
            </a:extLst>
          </p:cNvPr>
          <p:cNvSpPr txBox="1">
            <a:spLocks noGrp="1"/>
          </p:cNvSpPr>
          <p:nvPr/>
        </p:nvSpPr>
        <p:spPr>
          <a:xfrm>
            <a:off x="3490831" y="2841825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lnSpcReduction="10000"/>
          </a:bodyPr>
          <a:lstStyle/>
          <a:p>
            <a:pPr algn="l"/>
            <a:r>
              <a:rPr lang="es-ES" sz="1200" b="1">
                <a:solidFill>
                  <a:srgbClr val="0D1B5E"/>
                </a:solidFill>
                <a:latin typeface="Reddit Sans"/>
                <a:ea typeface="Reddit Sans"/>
              </a:rPr>
              <a:t>USD 55</a:t>
            </a:r>
          </a:p>
        </p:txBody>
      </p:sp>
      <p:sp>
        <p:nvSpPr>
          <p:cNvPr id="165" name="bar">
            <a:extLst>
              <a:ext uri="{FF2B5EF4-FFF2-40B4-BE49-F238E27FC236}">
                <a16:creationId xmlns:a16="http://schemas.microsoft.com/office/drawing/2014/main" id="{ADF2DCAC-F3AA-43F8-B4AB-26576FC1B888}"/>
              </a:ext>
            </a:extLst>
          </p:cNvPr>
          <p:cNvSpPr>
            <a:spLocks noGrp="1"/>
          </p:cNvSpPr>
          <p:nvPr/>
        </p:nvSpPr>
        <p:spPr>
          <a:xfrm>
            <a:off x="363583" y="3363033"/>
            <a:ext cx="3749039" cy="457200"/>
          </a:xfrm>
          <a:prstGeom prst="roundRect">
            <a:avLst>
              <a:gd name="adj" fmla="val 8000"/>
            </a:avLst>
          </a:prstGeom>
          <a:solidFill>
            <a:srgbClr val="0D1B5E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67" name="lbl">
            <a:extLst>
              <a:ext uri="{FF2B5EF4-FFF2-40B4-BE49-F238E27FC236}">
                <a16:creationId xmlns:a16="http://schemas.microsoft.com/office/drawing/2014/main" id="{0D4C4E3A-CB71-D89E-30FE-D87891ED0890}"/>
              </a:ext>
            </a:extLst>
          </p:cNvPr>
          <p:cNvSpPr txBox="1">
            <a:spLocks noGrp="1"/>
          </p:cNvSpPr>
          <p:nvPr/>
        </p:nvSpPr>
        <p:spPr>
          <a:xfrm>
            <a:off x="436735" y="3363033"/>
            <a:ext cx="3995056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N4-N5 Especializado</a:t>
            </a:r>
          </a:p>
        </p:txBody>
      </p:sp>
      <p:sp>
        <p:nvSpPr>
          <p:cNvPr id="169" name="cst">
            <a:extLst>
              <a:ext uri="{FF2B5EF4-FFF2-40B4-BE49-F238E27FC236}">
                <a16:creationId xmlns:a16="http://schemas.microsoft.com/office/drawing/2014/main" id="{516256F4-37AA-EF39-3E54-9E6B464E213A}"/>
              </a:ext>
            </a:extLst>
          </p:cNvPr>
          <p:cNvSpPr txBox="1">
            <a:spLocks noGrp="1"/>
          </p:cNvSpPr>
          <p:nvPr/>
        </p:nvSpPr>
        <p:spPr>
          <a:xfrm>
            <a:off x="4113493" y="3346704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lnSpcReduction="10000"/>
          </a:bodyPr>
          <a:lstStyle/>
          <a:p>
            <a:pPr algn="l"/>
            <a:r>
              <a:rPr lang="es-ES" sz="1200" b="1">
                <a:solidFill>
                  <a:srgbClr val="0D1B5E"/>
                </a:solidFill>
                <a:latin typeface="Reddit Sans"/>
                <a:ea typeface="Reddit Sans"/>
              </a:rPr>
              <a:t>USD 104</a:t>
            </a:r>
          </a:p>
        </p:txBody>
      </p:sp>
      <p:sp>
        <p:nvSpPr>
          <p:cNvPr id="171" name="bhdr">
            <a:extLst>
              <a:ext uri="{FF2B5EF4-FFF2-40B4-BE49-F238E27FC236}">
                <a16:creationId xmlns:a16="http://schemas.microsoft.com/office/drawing/2014/main" id="{72699A02-D9BD-203D-2BBF-B3A35207C06B}"/>
              </a:ext>
            </a:extLst>
          </p:cNvPr>
          <p:cNvSpPr>
            <a:spLocks noGrp="1"/>
          </p:cNvSpPr>
          <p:nvPr/>
        </p:nvSpPr>
        <p:spPr>
          <a:xfrm>
            <a:off x="4732020" y="1196340"/>
            <a:ext cx="3794760" cy="365760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73" name="th">
            <a:extLst>
              <a:ext uri="{FF2B5EF4-FFF2-40B4-BE49-F238E27FC236}">
                <a16:creationId xmlns:a16="http://schemas.microsoft.com/office/drawing/2014/main" id="{82367F01-1427-05FD-3941-50F2F6338D1B}"/>
              </a:ext>
            </a:extLst>
          </p:cNvPr>
          <p:cNvSpPr txBox="1">
            <a:spLocks noGrp="1"/>
          </p:cNvSpPr>
          <p:nvPr/>
        </p:nvSpPr>
        <p:spPr>
          <a:xfrm>
            <a:off x="4737463" y="119634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Métrica</a:t>
            </a:r>
          </a:p>
        </p:txBody>
      </p:sp>
      <p:sp>
        <p:nvSpPr>
          <p:cNvPr id="175" name="th">
            <a:extLst>
              <a:ext uri="{FF2B5EF4-FFF2-40B4-BE49-F238E27FC236}">
                <a16:creationId xmlns:a16="http://schemas.microsoft.com/office/drawing/2014/main" id="{A43800BE-7949-6206-5481-79E9337C8EB5}"/>
              </a:ext>
            </a:extLst>
          </p:cNvPr>
          <p:cNvSpPr txBox="1">
            <a:spLocks noGrp="1"/>
          </p:cNvSpPr>
          <p:nvPr/>
        </p:nvSpPr>
        <p:spPr>
          <a:xfrm>
            <a:off x="6291943" y="119634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Tradicional</a:t>
            </a:r>
          </a:p>
        </p:txBody>
      </p:sp>
      <p:sp>
        <p:nvSpPr>
          <p:cNvPr id="177" name="th">
            <a:extLst>
              <a:ext uri="{FF2B5EF4-FFF2-40B4-BE49-F238E27FC236}">
                <a16:creationId xmlns:a16="http://schemas.microsoft.com/office/drawing/2014/main" id="{5E880A90-7749-D9FE-8EAE-15D7C726958D}"/>
              </a:ext>
            </a:extLst>
          </p:cNvPr>
          <p:cNvSpPr txBox="1">
            <a:spLocks noGrp="1"/>
          </p:cNvSpPr>
          <p:nvPr/>
        </p:nvSpPr>
        <p:spPr>
          <a:xfrm>
            <a:off x="7297783" y="119634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Con IA Agéntica</a:t>
            </a:r>
          </a:p>
        </p:txBody>
      </p:sp>
      <p:sp>
        <p:nvSpPr>
          <p:cNvPr id="179" name="rbg">
            <a:extLst>
              <a:ext uri="{FF2B5EF4-FFF2-40B4-BE49-F238E27FC236}">
                <a16:creationId xmlns:a16="http://schemas.microsoft.com/office/drawing/2014/main" id="{7C37B1C2-815F-2818-F812-5A6691D3D634}"/>
              </a:ext>
            </a:extLst>
          </p:cNvPr>
          <p:cNvSpPr>
            <a:spLocks noGrp="1"/>
          </p:cNvSpPr>
          <p:nvPr/>
        </p:nvSpPr>
        <p:spPr>
          <a:xfrm>
            <a:off x="4737463" y="1562100"/>
            <a:ext cx="3794760" cy="365760"/>
          </a:xfrm>
          <a:prstGeom prst="rect">
            <a:avLst/>
          </a:prstGeom>
          <a:solidFill>
            <a:srgbClr val="F5F7FC"/>
          </a:solidFill>
          <a:ln w="6350">
            <a:solidFill>
              <a:srgbClr val="D1D5DB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81" name="bc">
            <a:extLst>
              <a:ext uri="{FF2B5EF4-FFF2-40B4-BE49-F238E27FC236}">
                <a16:creationId xmlns:a16="http://schemas.microsoft.com/office/drawing/2014/main" id="{C846BEF1-A2FE-C0A0-437E-B3B93D97DA3A}"/>
              </a:ext>
            </a:extLst>
          </p:cNvPr>
          <p:cNvSpPr txBox="1">
            <a:spLocks noGrp="1"/>
          </p:cNvSpPr>
          <p:nvPr/>
        </p:nvSpPr>
        <p:spPr>
          <a:xfrm>
            <a:off x="4737463" y="156210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FCR (1er Contacto)</a:t>
            </a:r>
          </a:p>
        </p:txBody>
      </p:sp>
      <p:sp>
        <p:nvSpPr>
          <p:cNvPr id="183" name="bc">
            <a:extLst>
              <a:ext uri="{FF2B5EF4-FFF2-40B4-BE49-F238E27FC236}">
                <a16:creationId xmlns:a16="http://schemas.microsoft.com/office/drawing/2014/main" id="{AFED1BC0-5B1C-9171-65E0-7E89DE93A22C}"/>
              </a:ext>
            </a:extLst>
          </p:cNvPr>
          <p:cNvSpPr txBox="1">
            <a:spLocks noGrp="1"/>
          </p:cNvSpPr>
          <p:nvPr/>
        </p:nvSpPr>
        <p:spPr>
          <a:xfrm>
            <a:off x="6291943" y="156210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40-55%</a:t>
            </a:r>
          </a:p>
        </p:txBody>
      </p:sp>
      <p:sp>
        <p:nvSpPr>
          <p:cNvPr id="185" name="bc">
            <a:extLst>
              <a:ext uri="{FF2B5EF4-FFF2-40B4-BE49-F238E27FC236}">
                <a16:creationId xmlns:a16="http://schemas.microsoft.com/office/drawing/2014/main" id="{CA6E3487-A0A9-E5C0-7E64-5D59A994F431}"/>
              </a:ext>
            </a:extLst>
          </p:cNvPr>
          <p:cNvSpPr txBox="1">
            <a:spLocks noGrp="1"/>
          </p:cNvSpPr>
          <p:nvPr/>
        </p:nvSpPr>
        <p:spPr>
          <a:xfrm>
            <a:off x="7297783" y="156210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75-85%</a:t>
            </a:r>
          </a:p>
        </p:txBody>
      </p:sp>
      <p:sp>
        <p:nvSpPr>
          <p:cNvPr id="187" name="rbg">
            <a:extLst>
              <a:ext uri="{FF2B5EF4-FFF2-40B4-BE49-F238E27FC236}">
                <a16:creationId xmlns:a16="http://schemas.microsoft.com/office/drawing/2014/main" id="{B6CD0C2E-0C95-41E3-2CC1-F9B383D7549D}"/>
              </a:ext>
            </a:extLst>
          </p:cNvPr>
          <p:cNvSpPr>
            <a:spLocks noGrp="1"/>
          </p:cNvSpPr>
          <p:nvPr/>
        </p:nvSpPr>
        <p:spPr>
          <a:xfrm>
            <a:off x="4737463" y="1927860"/>
            <a:ext cx="3794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89" name="bc">
            <a:extLst>
              <a:ext uri="{FF2B5EF4-FFF2-40B4-BE49-F238E27FC236}">
                <a16:creationId xmlns:a16="http://schemas.microsoft.com/office/drawing/2014/main" id="{F14D6286-CE51-E6E6-D95F-ED272FC8C658}"/>
              </a:ext>
            </a:extLst>
          </p:cNvPr>
          <p:cNvSpPr txBox="1">
            <a:spLocks noGrp="1"/>
          </p:cNvSpPr>
          <p:nvPr/>
        </p:nvSpPr>
        <p:spPr>
          <a:xfrm>
            <a:off x="4737463" y="192786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Reducción MTTR</a:t>
            </a:r>
          </a:p>
        </p:txBody>
      </p:sp>
      <p:sp>
        <p:nvSpPr>
          <p:cNvPr id="191" name="bc">
            <a:extLst>
              <a:ext uri="{FF2B5EF4-FFF2-40B4-BE49-F238E27FC236}">
                <a16:creationId xmlns:a16="http://schemas.microsoft.com/office/drawing/2014/main" id="{093B2FAE-DE04-A196-06B3-9EED4CD19003}"/>
              </a:ext>
            </a:extLst>
          </p:cNvPr>
          <p:cNvSpPr txBox="1">
            <a:spLocks noGrp="1"/>
          </p:cNvSpPr>
          <p:nvPr/>
        </p:nvSpPr>
        <p:spPr>
          <a:xfrm>
            <a:off x="6291943" y="192786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base</a:t>
            </a:r>
          </a:p>
        </p:txBody>
      </p:sp>
      <p:sp>
        <p:nvSpPr>
          <p:cNvPr id="193" name="bc">
            <a:extLst>
              <a:ext uri="{FF2B5EF4-FFF2-40B4-BE49-F238E27FC236}">
                <a16:creationId xmlns:a16="http://schemas.microsoft.com/office/drawing/2014/main" id="{8C1913F5-D813-9C09-F6C7-AA498D8E8487}"/>
              </a:ext>
            </a:extLst>
          </p:cNvPr>
          <p:cNvSpPr txBox="1">
            <a:spLocks noGrp="1"/>
          </p:cNvSpPr>
          <p:nvPr/>
        </p:nvSpPr>
        <p:spPr>
          <a:xfrm>
            <a:off x="7297783" y="192786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-60 a -70%</a:t>
            </a:r>
          </a:p>
        </p:txBody>
      </p:sp>
      <p:sp>
        <p:nvSpPr>
          <p:cNvPr id="195" name="rbg">
            <a:extLst>
              <a:ext uri="{FF2B5EF4-FFF2-40B4-BE49-F238E27FC236}">
                <a16:creationId xmlns:a16="http://schemas.microsoft.com/office/drawing/2014/main" id="{F6CCF5F1-1B32-29D0-A442-5BD15A44D153}"/>
              </a:ext>
            </a:extLst>
          </p:cNvPr>
          <p:cNvSpPr>
            <a:spLocks noGrp="1"/>
          </p:cNvSpPr>
          <p:nvPr/>
        </p:nvSpPr>
        <p:spPr>
          <a:xfrm>
            <a:off x="4737463" y="2293620"/>
            <a:ext cx="3794760" cy="365760"/>
          </a:xfrm>
          <a:prstGeom prst="rect">
            <a:avLst/>
          </a:prstGeom>
          <a:solidFill>
            <a:srgbClr val="F5F7FC"/>
          </a:solidFill>
          <a:ln w="6350">
            <a:solidFill>
              <a:srgbClr val="D1D5DB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97" name="bc">
            <a:extLst>
              <a:ext uri="{FF2B5EF4-FFF2-40B4-BE49-F238E27FC236}">
                <a16:creationId xmlns:a16="http://schemas.microsoft.com/office/drawing/2014/main" id="{D7093950-99DC-9B24-8CA5-7F6EE7CA1A7A}"/>
              </a:ext>
            </a:extLst>
          </p:cNvPr>
          <p:cNvSpPr txBox="1">
            <a:spLocks noGrp="1"/>
          </p:cNvSpPr>
          <p:nvPr/>
        </p:nvSpPr>
        <p:spPr>
          <a:xfrm>
            <a:off x="4737463" y="229362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Costo / interacción</a:t>
            </a:r>
          </a:p>
        </p:txBody>
      </p:sp>
      <p:sp>
        <p:nvSpPr>
          <p:cNvPr id="199" name="bc">
            <a:extLst>
              <a:ext uri="{FF2B5EF4-FFF2-40B4-BE49-F238E27FC236}">
                <a16:creationId xmlns:a16="http://schemas.microsoft.com/office/drawing/2014/main" id="{FA7A9F1D-F520-D145-7639-AA643FCB5F23}"/>
              </a:ext>
            </a:extLst>
          </p:cNvPr>
          <p:cNvSpPr txBox="1">
            <a:spLocks noGrp="1"/>
          </p:cNvSpPr>
          <p:nvPr/>
        </p:nvSpPr>
        <p:spPr>
          <a:xfrm>
            <a:off x="6291943" y="229362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USD 15-25</a:t>
            </a:r>
          </a:p>
        </p:txBody>
      </p:sp>
      <p:sp>
        <p:nvSpPr>
          <p:cNvPr id="201" name="bc">
            <a:extLst>
              <a:ext uri="{FF2B5EF4-FFF2-40B4-BE49-F238E27FC236}">
                <a16:creationId xmlns:a16="http://schemas.microsoft.com/office/drawing/2014/main" id="{9DA35372-7FB1-17E2-6A0F-A53693069B6A}"/>
              </a:ext>
            </a:extLst>
          </p:cNvPr>
          <p:cNvSpPr txBox="1">
            <a:spLocks noGrp="1"/>
          </p:cNvSpPr>
          <p:nvPr/>
        </p:nvSpPr>
        <p:spPr>
          <a:xfrm>
            <a:off x="7297783" y="229362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USD 3-8</a:t>
            </a:r>
          </a:p>
        </p:txBody>
      </p:sp>
      <p:sp>
        <p:nvSpPr>
          <p:cNvPr id="203" name="rbg">
            <a:extLst>
              <a:ext uri="{FF2B5EF4-FFF2-40B4-BE49-F238E27FC236}">
                <a16:creationId xmlns:a16="http://schemas.microsoft.com/office/drawing/2014/main" id="{876C3B31-9ECD-634E-6CF4-8F8397BD536D}"/>
              </a:ext>
            </a:extLst>
          </p:cNvPr>
          <p:cNvSpPr>
            <a:spLocks noGrp="1"/>
          </p:cNvSpPr>
          <p:nvPr/>
        </p:nvSpPr>
        <p:spPr>
          <a:xfrm>
            <a:off x="4737463" y="2659380"/>
            <a:ext cx="3794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205" name="bc">
            <a:extLst>
              <a:ext uri="{FF2B5EF4-FFF2-40B4-BE49-F238E27FC236}">
                <a16:creationId xmlns:a16="http://schemas.microsoft.com/office/drawing/2014/main" id="{CEAAE6F1-8281-3CC6-A33A-EFC7FE5E1D94}"/>
              </a:ext>
            </a:extLst>
          </p:cNvPr>
          <p:cNvSpPr txBox="1">
            <a:spLocks noGrp="1"/>
          </p:cNvSpPr>
          <p:nvPr/>
        </p:nvSpPr>
        <p:spPr>
          <a:xfrm>
            <a:off x="4737463" y="265938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Deflección (Robinhood)</a:t>
            </a:r>
          </a:p>
        </p:txBody>
      </p:sp>
      <p:sp>
        <p:nvSpPr>
          <p:cNvPr id="207" name="bc">
            <a:extLst>
              <a:ext uri="{FF2B5EF4-FFF2-40B4-BE49-F238E27FC236}">
                <a16:creationId xmlns:a16="http://schemas.microsoft.com/office/drawing/2014/main" id="{E41B5E9F-B605-01DD-4386-9A35AFCF3E7F}"/>
              </a:ext>
            </a:extLst>
          </p:cNvPr>
          <p:cNvSpPr txBox="1">
            <a:spLocks noGrp="1"/>
          </p:cNvSpPr>
          <p:nvPr/>
        </p:nvSpPr>
        <p:spPr>
          <a:xfrm>
            <a:off x="6291943" y="265938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—</a:t>
            </a:r>
          </a:p>
        </p:txBody>
      </p:sp>
      <p:sp>
        <p:nvSpPr>
          <p:cNvPr id="209" name="bc">
            <a:extLst>
              <a:ext uri="{FF2B5EF4-FFF2-40B4-BE49-F238E27FC236}">
                <a16:creationId xmlns:a16="http://schemas.microsoft.com/office/drawing/2014/main" id="{BFE8A9FB-411A-CB3B-356E-A92A43AB2EE6}"/>
              </a:ext>
            </a:extLst>
          </p:cNvPr>
          <p:cNvSpPr txBox="1">
            <a:spLocks noGrp="1"/>
          </p:cNvSpPr>
          <p:nvPr/>
        </p:nvSpPr>
        <p:spPr>
          <a:xfrm>
            <a:off x="7297783" y="265938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70%</a:t>
            </a:r>
          </a:p>
        </p:txBody>
      </p:sp>
      <p:sp>
        <p:nvSpPr>
          <p:cNvPr id="211" name="rbg">
            <a:extLst>
              <a:ext uri="{FF2B5EF4-FFF2-40B4-BE49-F238E27FC236}">
                <a16:creationId xmlns:a16="http://schemas.microsoft.com/office/drawing/2014/main" id="{F951DD2B-AA1A-02FA-E559-ED687294F73E}"/>
              </a:ext>
            </a:extLst>
          </p:cNvPr>
          <p:cNvSpPr>
            <a:spLocks noGrp="1"/>
          </p:cNvSpPr>
          <p:nvPr/>
        </p:nvSpPr>
        <p:spPr>
          <a:xfrm>
            <a:off x="4737463" y="3025140"/>
            <a:ext cx="3794760" cy="365760"/>
          </a:xfrm>
          <a:prstGeom prst="rect">
            <a:avLst/>
          </a:prstGeom>
          <a:solidFill>
            <a:srgbClr val="F5F7FC"/>
          </a:solidFill>
          <a:ln w="6350">
            <a:solidFill>
              <a:srgbClr val="D1D5DB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213" name="bc">
            <a:extLst>
              <a:ext uri="{FF2B5EF4-FFF2-40B4-BE49-F238E27FC236}">
                <a16:creationId xmlns:a16="http://schemas.microsoft.com/office/drawing/2014/main" id="{FD472BD7-74B6-C946-902D-13B8CC4A26FF}"/>
              </a:ext>
            </a:extLst>
          </p:cNvPr>
          <p:cNvSpPr txBox="1">
            <a:spLocks noGrp="1"/>
          </p:cNvSpPr>
          <p:nvPr/>
        </p:nvSpPr>
        <p:spPr>
          <a:xfrm>
            <a:off x="4737463" y="302514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Reducción tickets</a:t>
            </a:r>
          </a:p>
        </p:txBody>
      </p:sp>
      <p:sp>
        <p:nvSpPr>
          <p:cNvPr id="215" name="bc">
            <a:extLst>
              <a:ext uri="{FF2B5EF4-FFF2-40B4-BE49-F238E27FC236}">
                <a16:creationId xmlns:a16="http://schemas.microsoft.com/office/drawing/2014/main" id="{658AB931-27D3-369F-40E2-9581CF75CF63}"/>
              </a:ext>
            </a:extLst>
          </p:cNvPr>
          <p:cNvSpPr txBox="1">
            <a:spLocks noGrp="1"/>
          </p:cNvSpPr>
          <p:nvPr/>
        </p:nvSpPr>
        <p:spPr>
          <a:xfrm>
            <a:off x="6291943" y="302514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—</a:t>
            </a:r>
          </a:p>
        </p:txBody>
      </p:sp>
      <p:sp>
        <p:nvSpPr>
          <p:cNvPr id="217" name="bc">
            <a:extLst>
              <a:ext uri="{FF2B5EF4-FFF2-40B4-BE49-F238E27FC236}">
                <a16:creationId xmlns:a16="http://schemas.microsoft.com/office/drawing/2014/main" id="{1A3168AC-27D5-E418-7B13-04D9B3134840}"/>
              </a:ext>
            </a:extLst>
          </p:cNvPr>
          <p:cNvSpPr txBox="1">
            <a:spLocks noGrp="1"/>
          </p:cNvSpPr>
          <p:nvPr/>
        </p:nvSpPr>
        <p:spPr>
          <a:xfrm>
            <a:off x="7297783" y="302514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-80%</a:t>
            </a:r>
          </a:p>
        </p:txBody>
      </p:sp>
      <p:sp>
        <p:nvSpPr>
          <p:cNvPr id="219" name="rbg">
            <a:extLst>
              <a:ext uri="{FF2B5EF4-FFF2-40B4-BE49-F238E27FC236}">
                <a16:creationId xmlns:a16="http://schemas.microsoft.com/office/drawing/2014/main" id="{DB149D34-EE8D-5FB2-B320-ADB79E10C1DA}"/>
              </a:ext>
            </a:extLst>
          </p:cNvPr>
          <p:cNvSpPr>
            <a:spLocks noGrp="1"/>
          </p:cNvSpPr>
          <p:nvPr/>
        </p:nvSpPr>
        <p:spPr>
          <a:xfrm>
            <a:off x="4737463" y="3390900"/>
            <a:ext cx="3794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221" name="bc">
            <a:extLst>
              <a:ext uri="{FF2B5EF4-FFF2-40B4-BE49-F238E27FC236}">
                <a16:creationId xmlns:a16="http://schemas.microsoft.com/office/drawing/2014/main" id="{3F90F45C-CB37-8A13-C3C3-4BB01AA9D9EB}"/>
              </a:ext>
            </a:extLst>
          </p:cNvPr>
          <p:cNvSpPr txBox="1">
            <a:spLocks noGrp="1"/>
          </p:cNvSpPr>
          <p:nvPr/>
        </p:nvSpPr>
        <p:spPr>
          <a:xfrm>
            <a:off x="4737463" y="339090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Resolución autónoma</a:t>
            </a:r>
          </a:p>
        </p:txBody>
      </p:sp>
      <p:sp>
        <p:nvSpPr>
          <p:cNvPr id="223" name="bc">
            <a:extLst>
              <a:ext uri="{FF2B5EF4-FFF2-40B4-BE49-F238E27FC236}">
                <a16:creationId xmlns:a16="http://schemas.microsoft.com/office/drawing/2014/main" id="{B7F6C673-E47B-A1D4-9662-DE437DBC1D85}"/>
              </a:ext>
            </a:extLst>
          </p:cNvPr>
          <p:cNvSpPr txBox="1">
            <a:spLocks noGrp="1"/>
          </p:cNvSpPr>
          <p:nvPr/>
        </p:nvSpPr>
        <p:spPr>
          <a:xfrm>
            <a:off x="6291943" y="339090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—</a:t>
            </a:r>
          </a:p>
        </p:txBody>
      </p:sp>
      <p:sp>
        <p:nvSpPr>
          <p:cNvPr id="225" name="bc">
            <a:extLst>
              <a:ext uri="{FF2B5EF4-FFF2-40B4-BE49-F238E27FC236}">
                <a16:creationId xmlns:a16="http://schemas.microsoft.com/office/drawing/2014/main" id="{6DF9AF60-4A8F-3718-2B5B-6919ECE54B9A}"/>
              </a:ext>
            </a:extLst>
          </p:cNvPr>
          <p:cNvSpPr txBox="1">
            <a:spLocks noGrp="1"/>
          </p:cNvSpPr>
          <p:nvPr/>
        </p:nvSpPr>
        <p:spPr>
          <a:xfrm>
            <a:off x="7297783" y="339090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s-ES" sz="950" b="1" u="sng">
                <a:solidFill>
                  <a:srgbClr val="2A6B3C"/>
                </a:solidFill>
                <a:latin typeface="Reddit Sans"/>
                <a:ea typeface="Reddit Sans"/>
              </a:rPr>
              <a:t>84%</a:t>
            </a:r>
          </a:p>
        </p:txBody>
      </p:sp>
      <p:sp>
        <p:nvSpPr>
          <p:cNvPr id="5" name="src">
            <a:extLst>
              <a:ext uri="{FF2B5EF4-FFF2-40B4-BE49-F238E27FC236}">
                <a16:creationId xmlns:a16="http://schemas.microsoft.com/office/drawing/2014/main" id="{C94BB872-B187-C3FA-2DF5-D6DA327DB98F}"/>
              </a:ext>
            </a:extLst>
          </p:cNvPr>
          <p:cNvSpPr txBox="1">
            <a:spLocks noGrp="1"/>
          </p:cNvSpPr>
          <p:nvPr/>
        </p:nvSpPr>
        <p:spPr>
          <a:xfrm>
            <a:off x="320040" y="4462272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Fuente: </a:t>
            </a:r>
            <a:r>
              <a:rPr lang="es-ES" sz="750" u="sng">
                <a:solidFill>
                  <a:srgbClr val="1A3A8F"/>
                </a:solidFill>
                <a:latin typeface="Reddit Sans"/>
                <a:ea typeface="Reddit Sans"/>
                <a:hlinkClick r:id="rId3"/>
              </a:rPr>
              <a:t>Freshservice State of IT</a:t>
            </a:r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Reddit Sans"/>
                <a:ea typeface="Reddit Sans"/>
                <a:hlinkClick r:id="rId4"/>
              </a:rPr>
              <a:t>Ivanti Agentic AI</a:t>
            </a:r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Reddit Sans"/>
                <a:ea typeface="Reddit Sans"/>
                <a:hlinkClick r:id="rId5"/>
              </a:rPr>
              <a:t>Gartner Cost per Ticket</a:t>
            </a:r>
            <a:endParaRPr lang="es-ES" sz="750" u="sng">
              <a:solidFill>
                <a:srgbClr val="1A3A8F"/>
              </a:solidFill>
              <a:latin typeface="Reddit Sans"/>
              <a:ea typeface="Reddit San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D303D37-CBEA-BBBA-D0B0-3068D4DD7EAB}"/>
              </a:ext>
            </a:extLst>
          </p:cNvPr>
          <p:cNvSpPr txBox="1"/>
          <p:nvPr/>
        </p:nvSpPr>
        <p:spPr>
          <a:xfrm>
            <a:off x="5742214" y="4041321"/>
            <a:ext cx="2808515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700" b="1" i="0">
                <a:latin typeface="Reddit Sans"/>
                <a:ea typeface="Reddit Sans"/>
                <a:cs typeface="Segoe UI"/>
              </a:rPr>
              <a:t>Shift-Left (</a:t>
            </a:r>
            <a:r>
              <a:rPr lang="en-US" sz="700" b="1" i="0" err="1">
                <a:latin typeface="Reddit Sans"/>
                <a:ea typeface="Reddit Sans"/>
                <a:cs typeface="Segoe UI"/>
              </a:rPr>
              <a:t>Desplazamiento</a:t>
            </a:r>
            <a:r>
              <a:rPr lang="en-US" sz="700" b="1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1" i="0" err="1">
                <a:latin typeface="Reddit Sans"/>
                <a:ea typeface="Reddit Sans"/>
                <a:cs typeface="Segoe UI"/>
              </a:rPr>
              <a:t>hacia</a:t>
            </a:r>
            <a:r>
              <a:rPr lang="en-US" sz="700" b="1" i="0">
                <a:latin typeface="Reddit Sans"/>
                <a:ea typeface="Reddit Sans"/>
                <a:cs typeface="Segoe UI"/>
              </a:rPr>
              <a:t> la Izquierda):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Estrategia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de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gestión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de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servicios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que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busca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resolver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incidentes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y solicitudes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en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los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niveles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más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cercanos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al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usuario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(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autoservicio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, base de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conocimiento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, chatbot o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soporte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N1),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evitando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escalaciones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innecesarias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y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reduciendo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costos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,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tiempos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de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atención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y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esfuerzo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operativo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.</a:t>
            </a:r>
          </a:p>
          <a:p>
            <a:pPr algn="ctr"/>
            <a:endParaRPr lang="es-ES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24149974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1A5640-8028-37AE-5A26-6AFA696A5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3415" y="178621"/>
            <a:ext cx="8232771" cy="398529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Visualización</a:t>
            </a:r>
            <a:r>
              <a:rPr lang="en-US" dirty="0"/>
              <a:t>: Benchmarks de </a:t>
            </a:r>
            <a:r>
              <a:rPr lang="es-CO" dirty="0"/>
              <a:t>industria</a:t>
            </a:r>
            <a:r>
              <a:rPr lang="es-CO" sz="1200" dirty="0"/>
              <a:t> </a:t>
            </a:r>
          </a:p>
        </p:txBody>
      </p:sp>
      <p:sp>
        <p:nvSpPr>
          <p:cNvPr id="102" name="txt102"/>
          <p:cNvSpPr>
            <a:spLocks noGrp="1"/>
          </p:cNvSpPr>
          <p:nvPr/>
        </p:nvSpPr>
        <p:spPr>
          <a:xfrm>
            <a:off x="311331" y="631155"/>
            <a:ext cx="8412480" cy="237744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CO" sz="1200" spc="-25">
                <a:solidFill>
                  <a:srgbClr val="595959"/>
                </a:solidFill>
                <a:latin typeface="Reddit Sans"/>
                <a:ea typeface="Reddit Sans"/>
              </a:rPr>
              <a:t>Promedio industria vs. World-Class vs. Next Gen Objetivo</a:t>
            </a:r>
          </a:p>
        </p:txBody>
      </p:sp>
      <p:sp>
        <p:nvSpPr>
          <p:cNvPr id="103" name="txt103"/>
          <p:cNvSpPr>
            <a:spLocks noGrp="1"/>
          </p:cNvSpPr>
          <p:nvPr/>
        </p:nvSpPr>
        <p:spPr>
          <a:xfrm>
            <a:off x="274320" y="1170432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1250" b="1">
                <a:solidFill>
                  <a:srgbClr val="132346"/>
                </a:solidFill>
                <a:latin typeface="Aptos"/>
              </a:rPr>
              <a:t>FCR (First Contact Resolution)</a:t>
            </a:r>
          </a:p>
        </p:txBody>
      </p:sp>
      <p:sp>
        <p:nvSpPr>
          <p:cNvPr id="104" name="bar104"/>
          <p:cNvSpPr/>
          <p:nvPr/>
        </p:nvSpPr>
        <p:spPr>
          <a:xfrm>
            <a:off x="320040" y="1481328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5" name="bar105"/>
          <p:cNvSpPr/>
          <p:nvPr/>
        </p:nvSpPr>
        <p:spPr>
          <a:xfrm>
            <a:off x="320040" y="1481328"/>
            <a:ext cx="1725473" cy="201168"/>
          </a:xfrm>
          <a:prstGeom prst="roundRect">
            <a:avLst>
              <a:gd name="adj" fmla="val 25000"/>
            </a:avLst>
          </a:prstGeom>
          <a:solidFill>
            <a:srgbClr val="237B89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6" name="txt106"/>
          <p:cNvSpPr>
            <a:spLocks noGrp="1"/>
          </p:cNvSpPr>
          <p:nvPr/>
        </p:nvSpPr>
        <p:spPr>
          <a:xfrm>
            <a:off x="320040" y="1472184"/>
            <a:ext cx="1707185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74%</a:t>
            </a:r>
          </a:p>
        </p:txBody>
      </p:sp>
      <p:sp>
        <p:nvSpPr>
          <p:cNvPr id="107" name="txt107"/>
          <p:cNvSpPr>
            <a:spLocks noGrp="1"/>
          </p:cNvSpPr>
          <p:nvPr/>
        </p:nvSpPr>
        <p:spPr>
          <a:xfrm>
            <a:off x="320040" y="1687068"/>
            <a:ext cx="2697480" cy="16459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Promedio industria</a:t>
            </a:r>
          </a:p>
        </p:txBody>
      </p:sp>
      <p:sp>
        <p:nvSpPr>
          <p:cNvPr id="108" name="bar108"/>
          <p:cNvSpPr/>
          <p:nvPr/>
        </p:nvSpPr>
        <p:spPr>
          <a:xfrm>
            <a:off x="320040" y="1956816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9" name="bar109"/>
          <p:cNvSpPr/>
          <p:nvPr/>
        </p:nvSpPr>
        <p:spPr>
          <a:xfrm>
            <a:off x="320040" y="1956816"/>
            <a:ext cx="1865376" cy="201168"/>
          </a:xfrm>
          <a:prstGeom prst="roundRect">
            <a:avLst>
              <a:gd name="adj" fmla="val 25000"/>
            </a:avLst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0" name="txt110"/>
          <p:cNvSpPr>
            <a:spLocks noGrp="1"/>
          </p:cNvSpPr>
          <p:nvPr/>
        </p:nvSpPr>
        <p:spPr>
          <a:xfrm>
            <a:off x="320040" y="1947672"/>
            <a:ext cx="1847088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80%+</a:t>
            </a:r>
          </a:p>
        </p:txBody>
      </p:sp>
      <p:sp>
        <p:nvSpPr>
          <p:cNvPr id="111" name="txt111"/>
          <p:cNvSpPr>
            <a:spLocks noGrp="1"/>
          </p:cNvSpPr>
          <p:nvPr/>
        </p:nvSpPr>
        <p:spPr>
          <a:xfrm>
            <a:off x="320040" y="2162556"/>
            <a:ext cx="2697480" cy="16459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World-Class</a:t>
            </a:r>
          </a:p>
        </p:txBody>
      </p:sp>
      <p:sp>
        <p:nvSpPr>
          <p:cNvPr id="112" name="bar112"/>
          <p:cNvSpPr/>
          <p:nvPr/>
        </p:nvSpPr>
        <p:spPr>
          <a:xfrm>
            <a:off x="320040" y="2432304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3" name="bar113"/>
          <p:cNvSpPr/>
          <p:nvPr/>
        </p:nvSpPr>
        <p:spPr>
          <a:xfrm>
            <a:off x="320040" y="2432304"/>
            <a:ext cx="1981962" cy="201168"/>
          </a:xfrm>
          <a:prstGeom prst="roundRect">
            <a:avLst>
              <a:gd name="adj" fmla="val 250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4" name="txt114"/>
          <p:cNvSpPr>
            <a:spLocks noGrp="1"/>
          </p:cNvSpPr>
          <p:nvPr/>
        </p:nvSpPr>
        <p:spPr>
          <a:xfrm>
            <a:off x="320040" y="2423160"/>
            <a:ext cx="1963674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85%+</a:t>
            </a:r>
          </a:p>
        </p:txBody>
      </p:sp>
      <p:sp>
        <p:nvSpPr>
          <p:cNvPr id="115" name="txt115"/>
          <p:cNvSpPr>
            <a:spLocks noGrp="1"/>
          </p:cNvSpPr>
          <p:nvPr/>
        </p:nvSpPr>
        <p:spPr>
          <a:xfrm>
            <a:off x="320040" y="2638044"/>
            <a:ext cx="2697480" cy="16459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850" b="0">
                <a:solidFill>
                  <a:srgbClr val="7A7A7A"/>
                </a:solidFill>
                <a:latin typeface="Aptos"/>
              </a:rPr>
              <a:t>Next </a:t>
            </a:r>
            <a:r>
              <a:rPr lang="es-CO" sz="850">
                <a:solidFill>
                  <a:srgbClr val="7A7A7A"/>
                </a:solidFill>
                <a:latin typeface="Aptos"/>
              </a:rPr>
              <a:t>Gen Objetivo</a:t>
            </a:r>
            <a:r>
              <a:rPr lang="es-CO" sz="850" b="0">
                <a:solidFill>
                  <a:srgbClr val="7A7A7A"/>
                </a:solidFill>
                <a:latin typeface="Aptos"/>
              </a:rPr>
              <a:t> (N5)</a:t>
            </a:r>
          </a:p>
        </p:txBody>
      </p:sp>
      <p:sp>
        <p:nvSpPr>
          <p:cNvPr id="116" name="txt116"/>
          <p:cNvSpPr>
            <a:spLocks noGrp="1"/>
          </p:cNvSpPr>
          <p:nvPr/>
        </p:nvSpPr>
        <p:spPr>
          <a:xfrm>
            <a:off x="274320" y="3112008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1250" b="1">
                <a:solidFill>
                  <a:srgbClr val="132346"/>
                </a:solidFill>
                <a:latin typeface="Aptos"/>
              </a:rPr>
              <a:t>Deflection Rate</a:t>
            </a:r>
          </a:p>
        </p:txBody>
      </p:sp>
      <p:sp>
        <p:nvSpPr>
          <p:cNvPr id="117" name="bar117"/>
          <p:cNvSpPr/>
          <p:nvPr/>
        </p:nvSpPr>
        <p:spPr>
          <a:xfrm>
            <a:off x="320040" y="3467971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8" name="bar118"/>
          <p:cNvSpPr/>
          <p:nvPr/>
        </p:nvSpPr>
        <p:spPr>
          <a:xfrm>
            <a:off x="320040" y="3467971"/>
            <a:ext cx="536296" cy="201168"/>
          </a:xfrm>
          <a:prstGeom prst="roundRect">
            <a:avLst>
              <a:gd name="adj" fmla="val 25000"/>
            </a:avLst>
          </a:prstGeom>
          <a:solidFill>
            <a:srgbClr val="7A7974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9" name="txt119"/>
          <p:cNvSpPr>
            <a:spLocks noGrp="1"/>
          </p:cNvSpPr>
          <p:nvPr/>
        </p:nvSpPr>
        <p:spPr>
          <a:xfrm>
            <a:off x="902056" y="3458827"/>
            <a:ext cx="137160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7A7974"/>
                </a:solidFill>
                <a:latin typeface="Aptos"/>
              </a:rPr>
              <a:t>23%</a:t>
            </a:r>
            <a:r>
              <a:rPr lang="es-CO" sz="950" b="0">
                <a:solidFill>
                  <a:srgbClr val="7A7A7A"/>
                </a:solidFill>
                <a:latin typeface="Aptos"/>
              </a:rPr>
              <a:t>  industria</a:t>
            </a:r>
          </a:p>
        </p:txBody>
      </p:sp>
      <p:sp>
        <p:nvSpPr>
          <p:cNvPr id="120" name="bar120"/>
          <p:cNvSpPr/>
          <p:nvPr/>
        </p:nvSpPr>
        <p:spPr>
          <a:xfrm>
            <a:off x="320040" y="3778867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1" name="bar121"/>
          <p:cNvSpPr/>
          <p:nvPr/>
        </p:nvSpPr>
        <p:spPr>
          <a:xfrm>
            <a:off x="320040" y="3778867"/>
            <a:ext cx="1165860" cy="201168"/>
          </a:xfrm>
          <a:prstGeom prst="roundRect">
            <a:avLst>
              <a:gd name="adj" fmla="val 25000"/>
            </a:avLst>
          </a:prstGeom>
          <a:solidFill>
            <a:srgbClr val="237B89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2" name="txt122"/>
          <p:cNvSpPr>
            <a:spLocks noGrp="1"/>
          </p:cNvSpPr>
          <p:nvPr/>
        </p:nvSpPr>
        <p:spPr>
          <a:xfrm>
            <a:off x="1508760" y="3769723"/>
            <a:ext cx="137160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237B89"/>
                </a:solidFill>
                <a:latin typeface="Aptos"/>
              </a:rPr>
              <a:t>50%</a:t>
            </a:r>
            <a:r>
              <a:rPr lang="es-CO" sz="950" b="0">
                <a:solidFill>
                  <a:srgbClr val="7A7A7A"/>
                </a:solidFill>
                <a:latin typeface="Aptos"/>
              </a:rPr>
              <a:t>  maduro</a:t>
            </a:r>
          </a:p>
        </p:txBody>
      </p:sp>
      <p:sp>
        <p:nvSpPr>
          <p:cNvPr id="123" name="bar123"/>
          <p:cNvSpPr/>
          <p:nvPr/>
        </p:nvSpPr>
        <p:spPr>
          <a:xfrm>
            <a:off x="320040" y="4089763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4" name="bar124"/>
          <p:cNvSpPr/>
          <p:nvPr/>
        </p:nvSpPr>
        <p:spPr>
          <a:xfrm>
            <a:off x="320040" y="4089763"/>
            <a:ext cx="2098548" cy="201168"/>
          </a:xfrm>
          <a:prstGeom prst="roundRect">
            <a:avLst>
              <a:gd name="adj" fmla="val 250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5" name="txt125"/>
          <p:cNvSpPr>
            <a:spLocks noGrp="1"/>
          </p:cNvSpPr>
          <p:nvPr/>
        </p:nvSpPr>
        <p:spPr>
          <a:xfrm>
            <a:off x="1508760" y="4080619"/>
            <a:ext cx="137160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D4A017"/>
                </a:solidFill>
                <a:latin typeface="Aptos"/>
              </a:rPr>
              <a:t>90%+</a:t>
            </a:r>
          </a:p>
        </p:txBody>
      </p:sp>
      <p:sp>
        <p:nvSpPr>
          <p:cNvPr id="126" name="txt126"/>
          <p:cNvSpPr>
            <a:spLocks noGrp="1"/>
          </p:cNvSpPr>
          <p:nvPr/>
        </p:nvSpPr>
        <p:spPr>
          <a:xfrm>
            <a:off x="320040" y="4400659"/>
            <a:ext cx="2743200" cy="16459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850" b="0">
                <a:solidFill>
                  <a:srgbClr val="7A7A7A"/>
                </a:solidFill>
                <a:latin typeface="Aptos"/>
              </a:rPr>
              <a:t>Next </a:t>
            </a:r>
            <a:r>
              <a:rPr lang="es-CO" sz="850">
                <a:solidFill>
                  <a:srgbClr val="7A7A7A"/>
                </a:solidFill>
                <a:latin typeface="Aptos"/>
              </a:rPr>
              <a:t>Gen </a:t>
            </a:r>
            <a:r>
              <a:rPr lang="es-CO" sz="850" b="0">
                <a:solidFill>
                  <a:srgbClr val="7A7A7A"/>
                </a:solidFill>
                <a:latin typeface="Aptos"/>
              </a:rPr>
              <a:t>IA </a:t>
            </a:r>
            <a:r>
              <a:rPr lang="es-CO" sz="850" b="0" err="1">
                <a:solidFill>
                  <a:srgbClr val="7A7A7A"/>
                </a:solidFill>
                <a:latin typeface="Aptos"/>
              </a:rPr>
              <a:t>agéntica</a:t>
            </a:r>
            <a:r>
              <a:rPr lang="es-CO" sz="850" b="0">
                <a:solidFill>
                  <a:srgbClr val="7A7A7A"/>
                </a:solidFill>
                <a:latin typeface="Aptos"/>
              </a:rPr>
              <a:t> (casos líderes)</a:t>
            </a:r>
          </a:p>
        </p:txBody>
      </p:sp>
      <p:sp>
        <p:nvSpPr>
          <p:cNvPr id="127" name="txt127"/>
          <p:cNvSpPr>
            <a:spLocks noGrp="1"/>
          </p:cNvSpPr>
          <p:nvPr/>
        </p:nvSpPr>
        <p:spPr>
          <a:xfrm>
            <a:off x="3107871" y="1170432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250" b="1">
                <a:solidFill>
                  <a:srgbClr val="132346"/>
                </a:solidFill>
                <a:latin typeface="Aptos"/>
              </a:rPr>
              <a:t>MTTR (Mean Time to Resolution)</a:t>
            </a:r>
          </a:p>
        </p:txBody>
      </p:sp>
      <p:sp>
        <p:nvSpPr>
          <p:cNvPr id="128" name="bar128"/>
          <p:cNvSpPr/>
          <p:nvPr/>
        </p:nvSpPr>
        <p:spPr>
          <a:xfrm>
            <a:off x="3246120" y="1481328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9" name="bar129"/>
          <p:cNvSpPr/>
          <p:nvPr/>
        </p:nvSpPr>
        <p:spPr>
          <a:xfrm>
            <a:off x="3246120" y="1481328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A5442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0" name="txt130"/>
          <p:cNvSpPr>
            <a:spLocks noGrp="1"/>
          </p:cNvSpPr>
          <p:nvPr/>
        </p:nvSpPr>
        <p:spPr>
          <a:xfrm>
            <a:off x="3246120" y="1472184"/>
            <a:ext cx="2313432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8.85h</a:t>
            </a:r>
          </a:p>
        </p:txBody>
      </p:sp>
      <p:sp>
        <p:nvSpPr>
          <p:cNvPr id="131" name="txt131"/>
          <p:cNvSpPr>
            <a:spLocks noGrp="1"/>
          </p:cNvSpPr>
          <p:nvPr/>
        </p:nvSpPr>
        <p:spPr>
          <a:xfrm>
            <a:off x="3246120" y="1737360"/>
            <a:ext cx="2697480" cy="155448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Bueno</a:t>
            </a:r>
          </a:p>
        </p:txBody>
      </p:sp>
      <p:sp>
        <p:nvSpPr>
          <p:cNvPr id="132" name="bar132"/>
          <p:cNvSpPr/>
          <p:nvPr/>
        </p:nvSpPr>
        <p:spPr>
          <a:xfrm>
            <a:off x="3246120" y="1901952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3" name="bar133"/>
          <p:cNvSpPr/>
          <p:nvPr/>
        </p:nvSpPr>
        <p:spPr>
          <a:xfrm>
            <a:off x="3246120" y="1901952"/>
            <a:ext cx="1049274" cy="201168"/>
          </a:xfrm>
          <a:prstGeom prst="roundRect">
            <a:avLst>
              <a:gd name="adj" fmla="val 25000"/>
            </a:avLst>
          </a:prstGeom>
          <a:solidFill>
            <a:srgbClr val="237B89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4" name="txt134"/>
          <p:cNvSpPr>
            <a:spLocks noGrp="1"/>
          </p:cNvSpPr>
          <p:nvPr/>
        </p:nvSpPr>
        <p:spPr>
          <a:xfrm>
            <a:off x="3246120" y="1892808"/>
            <a:ext cx="1030986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&lt;4h</a:t>
            </a:r>
          </a:p>
        </p:txBody>
      </p:sp>
      <p:sp>
        <p:nvSpPr>
          <p:cNvPr id="135" name="txt135"/>
          <p:cNvSpPr>
            <a:spLocks noGrp="1"/>
          </p:cNvSpPr>
          <p:nvPr/>
        </p:nvSpPr>
        <p:spPr>
          <a:xfrm>
            <a:off x="3246120" y="2157984"/>
            <a:ext cx="2697480" cy="155448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World-Class</a:t>
            </a:r>
          </a:p>
        </p:txBody>
      </p:sp>
      <p:sp>
        <p:nvSpPr>
          <p:cNvPr id="136" name="bar136"/>
          <p:cNvSpPr/>
          <p:nvPr/>
        </p:nvSpPr>
        <p:spPr>
          <a:xfrm>
            <a:off x="3246120" y="2322576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7" name="bar137"/>
          <p:cNvSpPr/>
          <p:nvPr/>
        </p:nvSpPr>
        <p:spPr>
          <a:xfrm>
            <a:off x="3246120" y="2322576"/>
            <a:ext cx="349758" cy="201168"/>
          </a:xfrm>
          <a:prstGeom prst="roundRect">
            <a:avLst>
              <a:gd name="adj" fmla="val 25000"/>
            </a:avLst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8" name="txt138"/>
          <p:cNvSpPr>
            <a:spLocks noGrp="1"/>
          </p:cNvSpPr>
          <p:nvPr/>
        </p:nvSpPr>
        <p:spPr>
          <a:xfrm>
            <a:off x="3623310" y="2313432"/>
            <a:ext cx="73152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132346"/>
                </a:solidFill>
                <a:latin typeface="Aptos"/>
              </a:rPr>
              <a:t>&lt;1h</a:t>
            </a:r>
          </a:p>
        </p:txBody>
      </p:sp>
      <p:sp>
        <p:nvSpPr>
          <p:cNvPr id="139" name="txt139"/>
          <p:cNvSpPr>
            <a:spLocks noGrp="1"/>
          </p:cNvSpPr>
          <p:nvPr/>
        </p:nvSpPr>
        <p:spPr>
          <a:xfrm>
            <a:off x="3246120" y="2578608"/>
            <a:ext cx="2697480" cy="155448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850" b="0">
                <a:solidFill>
                  <a:srgbClr val="7A7A7A"/>
                </a:solidFill>
                <a:latin typeface="Aptos"/>
              </a:rPr>
              <a:t>Next </a:t>
            </a:r>
            <a:r>
              <a:rPr lang="es-CO" sz="850">
                <a:solidFill>
                  <a:srgbClr val="7A7A7A"/>
                </a:solidFill>
                <a:latin typeface="Aptos"/>
              </a:rPr>
              <a:t>Gen </a:t>
            </a:r>
            <a:r>
              <a:rPr lang="es-CO" sz="850" b="0">
                <a:solidFill>
                  <a:srgbClr val="7A7A7A"/>
                </a:solidFill>
                <a:latin typeface="Aptos"/>
              </a:rPr>
              <a:t>(N5)</a:t>
            </a:r>
          </a:p>
        </p:txBody>
      </p:sp>
      <p:sp>
        <p:nvSpPr>
          <p:cNvPr id="140" name="bar140"/>
          <p:cNvSpPr/>
          <p:nvPr/>
        </p:nvSpPr>
        <p:spPr>
          <a:xfrm>
            <a:off x="3246120" y="2743200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1" name="bar141"/>
          <p:cNvSpPr/>
          <p:nvPr/>
        </p:nvSpPr>
        <p:spPr>
          <a:xfrm>
            <a:off x="3246120" y="2743200"/>
            <a:ext cx="582930" cy="201168"/>
          </a:xfrm>
          <a:prstGeom prst="roundRect">
            <a:avLst>
              <a:gd name="adj" fmla="val 250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2" name="txt142"/>
          <p:cNvSpPr>
            <a:spLocks noGrp="1"/>
          </p:cNvSpPr>
          <p:nvPr/>
        </p:nvSpPr>
        <p:spPr>
          <a:xfrm>
            <a:off x="3856482" y="2734056"/>
            <a:ext cx="73152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D4A017"/>
                </a:solidFill>
                <a:latin typeface="Aptos"/>
              </a:rPr>
              <a:t>&lt;2h</a:t>
            </a:r>
          </a:p>
        </p:txBody>
      </p:sp>
      <p:sp>
        <p:nvSpPr>
          <p:cNvPr id="143" name="txt143"/>
          <p:cNvSpPr>
            <a:spLocks noGrp="1"/>
          </p:cNvSpPr>
          <p:nvPr/>
        </p:nvSpPr>
        <p:spPr>
          <a:xfrm>
            <a:off x="3200400" y="3108960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1250" b="1">
                <a:solidFill>
                  <a:srgbClr val="132346"/>
                </a:solidFill>
                <a:latin typeface="Aptos"/>
              </a:rPr>
              <a:t>Impacto GenAI en Métricas</a:t>
            </a:r>
          </a:p>
        </p:txBody>
      </p:sp>
      <p:sp>
        <p:nvSpPr>
          <p:cNvPr id="144" name="bar144"/>
          <p:cNvSpPr/>
          <p:nvPr/>
        </p:nvSpPr>
        <p:spPr>
          <a:xfrm>
            <a:off x="3200400" y="3419856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ECEBE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5" name="txt145"/>
          <p:cNvSpPr>
            <a:spLocks noGrp="1"/>
          </p:cNvSpPr>
          <p:nvPr/>
        </p:nvSpPr>
        <p:spPr>
          <a:xfrm>
            <a:off x="3291840" y="3419856"/>
            <a:ext cx="16916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50" b="0">
                <a:solidFill>
                  <a:srgbClr val="132346"/>
                </a:solidFill>
                <a:latin typeface="Aptos"/>
              </a:rPr>
              <a:t>↓ MTTR</a:t>
            </a:r>
          </a:p>
        </p:txBody>
      </p:sp>
      <p:sp>
        <p:nvSpPr>
          <p:cNvPr id="146" name="txt146"/>
          <p:cNvSpPr>
            <a:spLocks noGrp="1"/>
          </p:cNvSpPr>
          <p:nvPr/>
        </p:nvSpPr>
        <p:spPr>
          <a:xfrm>
            <a:off x="4800600" y="3419856"/>
            <a:ext cx="10515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1050" b="1">
                <a:solidFill>
                  <a:srgbClr val="A54426"/>
                </a:solidFill>
                <a:latin typeface="Aptos"/>
              </a:rPr>
              <a:t>−26.6%</a:t>
            </a:r>
          </a:p>
        </p:txBody>
      </p:sp>
      <p:sp>
        <p:nvSpPr>
          <p:cNvPr id="147" name="bar147"/>
          <p:cNvSpPr/>
          <p:nvPr/>
        </p:nvSpPr>
        <p:spPr>
          <a:xfrm>
            <a:off x="3200400" y="3730752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ECEBE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8" name="txt148"/>
          <p:cNvSpPr>
            <a:spLocks noGrp="1"/>
          </p:cNvSpPr>
          <p:nvPr/>
        </p:nvSpPr>
        <p:spPr>
          <a:xfrm>
            <a:off x="3291840" y="3730752"/>
            <a:ext cx="16916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50" b="0">
                <a:solidFill>
                  <a:srgbClr val="132346"/>
                </a:solidFill>
                <a:latin typeface="Aptos"/>
              </a:rPr>
              <a:t>↑ Resolución</a:t>
            </a:r>
          </a:p>
        </p:txBody>
      </p:sp>
      <p:sp>
        <p:nvSpPr>
          <p:cNvPr id="149" name="txt149"/>
          <p:cNvSpPr>
            <a:spLocks noGrp="1"/>
          </p:cNvSpPr>
          <p:nvPr/>
        </p:nvSpPr>
        <p:spPr>
          <a:xfrm>
            <a:off x="4800600" y="3730752"/>
            <a:ext cx="10515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1050" b="1">
                <a:solidFill>
                  <a:srgbClr val="3C7D3C"/>
                </a:solidFill>
                <a:latin typeface="Aptos"/>
              </a:rPr>
              <a:t>+34.6%</a:t>
            </a:r>
          </a:p>
        </p:txBody>
      </p:sp>
      <p:sp>
        <p:nvSpPr>
          <p:cNvPr id="150" name="bar150"/>
          <p:cNvSpPr/>
          <p:nvPr/>
        </p:nvSpPr>
        <p:spPr>
          <a:xfrm>
            <a:off x="3200400" y="4041648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ECEBE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1" name="txt151"/>
          <p:cNvSpPr>
            <a:spLocks noGrp="1"/>
          </p:cNvSpPr>
          <p:nvPr/>
        </p:nvSpPr>
        <p:spPr>
          <a:xfrm>
            <a:off x="3291840" y="4041648"/>
            <a:ext cx="16916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50" b="0">
                <a:solidFill>
                  <a:srgbClr val="132346"/>
                </a:solidFill>
                <a:latin typeface="Aptos"/>
              </a:rPr>
              <a:t>↑ CSAT c/espera</a:t>
            </a:r>
          </a:p>
        </p:txBody>
      </p:sp>
      <p:sp>
        <p:nvSpPr>
          <p:cNvPr id="152" name="txt152"/>
          <p:cNvSpPr>
            <a:spLocks noGrp="1"/>
          </p:cNvSpPr>
          <p:nvPr/>
        </p:nvSpPr>
        <p:spPr>
          <a:xfrm>
            <a:off x="4800600" y="4041648"/>
            <a:ext cx="10515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1050" b="1">
                <a:solidFill>
                  <a:srgbClr val="3C7D3C"/>
                </a:solidFill>
                <a:latin typeface="Aptos"/>
              </a:rPr>
              <a:t>+15–22 pts</a:t>
            </a:r>
          </a:p>
        </p:txBody>
      </p:sp>
      <p:sp>
        <p:nvSpPr>
          <p:cNvPr id="153" name="bar153"/>
          <p:cNvSpPr/>
          <p:nvPr/>
        </p:nvSpPr>
        <p:spPr>
          <a:xfrm>
            <a:off x="3200400" y="4352544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ECEBE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4" name="txt154"/>
          <p:cNvSpPr>
            <a:spLocks noGrp="1"/>
          </p:cNvSpPr>
          <p:nvPr/>
        </p:nvSpPr>
        <p:spPr>
          <a:xfrm>
            <a:off x="3291840" y="4352544"/>
            <a:ext cx="16916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50" b="0">
                <a:solidFill>
                  <a:srgbClr val="132346"/>
                </a:solidFill>
                <a:latin typeface="Aptos"/>
              </a:rPr>
              <a:t>↑ FCR con KCS+IA</a:t>
            </a:r>
          </a:p>
        </p:txBody>
      </p:sp>
      <p:sp>
        <p:nvSpPr>
          <p:cNvPr id="155" name="txt155"/>
          <p:cNvSpPr>
            <a:spLocks noGrp="1"/>
          </p:cNvSpPr>
          <p:nvPr/>
        </p:nvSpPr>
        <p:spPr>
          <a:xfrm>
            <a:off x="4800600" y="4352544"/>
            <a:ext cx="10515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1050" b="1">
                <a:solidFill>
                  <a:srgbClr val="3C7D3C"/>
                </a:solidFill>
                <a:latin typeface="Aptos"/>
              </a:rPr>
              <a:t>5–7 pts</a:t>
            </a:r>
          </a:p>
        </p:txBody>
      </p:sp>
      <p:sp>
        <p:nvSpPr>
          <p:cNvPr id="156" name="txt156"/>
          <p:cNvSpPr>
            <a:spLocks noGrp="1"/>
          </p:cNvSpPr>
          <p:nvPr/>
        </p:nvSpPr>
        <p:spPr>
          <a:xfrm>
            <a:off x="6126480" y="1170432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250" b="1">
                <a:solidFill>
                  <a:srgbClr val="132346"/>
                </a:solidFill>
                <a:latin typeface="Aptos"/>
              </a:rPr>
              <a:t>Costo por Ticket (USD)</a:t>
            </a:r>
          </a:p>
        </p:txBody>
      </p:sp>
      <p:sp>
        <p:nvSpPr>
          <p:cNvPr id="157" name="bar157"/>
          <p:cNvSpPr/>
          <p:nvPr/>
        </p:nvSpPr>
        <p:spPr>
          <a:xfrm>
            <a:off x="6172200" y="1481328"/>
            <a:ext cx="128016" cy="219456"/>
          </a:xfrm>
          <a:prstGeom prst="roundRect">
            <a:avLst>
              <a:gd name="adj" fmla="val 17500"/>
            </a:avLst>
          </a:prstGeom>
          <a:solidFill>
            <a:srgbClr val="4E7A34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8" name="txt158"/>
          <p:cNvSpPr>
            <a:spLocks noGrp="1"/>
          </p:cNvSpPr>
          <p:nvPr/>
        </p:nvSpPr>
        <p:spPr>
          <a:xfrm>
            <a:off x="6355080" y="1463040"/>
            <a:ext cx="12801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00" b="1">
                <a:solidFill>
                  <a:srgbClr val="132346"/>
                </a:solidFill>
                <a:latin typeface="Aptos"/>
              </a:rPr>
              <a:t>N0: $2</a:t>
            </a:r>
          </a:p>
        </p:txBody>
      </p:sp>
      <p:sp>
        <p:nvSpPr>
          <p:cNvPr id="159" name="txt159"/>
          <p:cNvSpPr>
            <a:spLocks noGrp="1"/>
          </p:cNvSpPr>
          <p:nvPr/>
        </p:nvSpPr>
        <p:spPr>
          <a:xfrm>
            <a:off x="7863840" y="1463040"/>
            <a:ext cx="10058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850" b="0">
                <a:solidFill>
                  <a:srgbClr val="7A7A7A"/>
                </a:solidFill>
                <a:latin typeface="Aptos"/>
              </a:rPr>
              <a:t>Autoservicio</a:t>
            </a:r>
          </a:p>
        </p:txBody>
      </p:sp>
      <p:sp>
        <p:nvSpPr>
          <p:cNvPr id="160" name="bar160"/>
          <p:cNvSpPr/>
          <p:nvPr/>
        </p:nvSpPr>
        <p:spPr>
          <a:xfrm>
            <a:off x="6172200" y="1810512"/>
            <a:ext cx="329184" cy="219456"/>
          </a:xfrm>
          <a:prstGeom prst="roundRect">
            <a:avLst>
              <a:gd name="adj" fmla="val 17500"/>
            </a:avLst>
          </a:prstGeom>
          <a:solidFill>
            <a:srgbClr val="237B89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1" name="txt161"/>
          <p:cNvSpPr>
            <a:spLocks noGrp="1"/>
          </p:cNvSpPr>
          <p:nvPr/>
        </p:nvSpPr>
        <p:spPr>
          <a:xfrm>
            <a:off x="6556248" y="1792224"/>
            <a:ext cx="12801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00" b="1">
                <a:solidFill>
                  <a:srgbClr val="132346"/>
                </a:solidFill>
                <a:latin typeface="Aptos"/>
              </a:rPr>
              <a:t>N1: $22–35</a:t>
            </a:r>
          </a:p>
        </p:txBody>
      </p:sp>
      <p:sp>
        <p:nvSpPr>
          <p:cNvPr id="162" name="txt162"/>
          <p:cNvSpPr>
            <a:spLocks noGrp="1"/>
          </p:cNvSpPr>
          <p:nvPr/>
        </p:nvSpPr>
        <p:spPr>
          <a:xfrm>
            <a:off x="7863840" y="1792224"/>
            <a:ext cx="10058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850" b="0">
                <a:solidFill>
                  <a:srgbClr val="7A7A7A"/>
                </a:solidFill>
                <a:latin typeface="Aptos"/>
              </a:rPr>
              <a:t>1er contacto</a:t>
            </a:r>
          </a:p>
        </p:txBody>
      </p:sp>
      <p:sp>
        <p:nvSpPr>
          <p:cNvPr id="163" name="bar163"/>
          <p:cNvSpPr/>
          <p:nvPr/>
        </p:nvSpPr>
        <p:spPr>
          <a:xfrm>
            <a:off x="6172200" y="2139696"/>
            <a:ext cx="731520" cy="219456"/>
          </a:xfrm>
          <a:prstGeom prst="roundRect">
            <a:avLst>
              <a:gd name="adj" fmla="val 175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4" name="txt164"/>
          <p:cNvSpPr>
            <a:spLocks noGrp="1"/>
          </p:cNvSpPr>
          <p:nvPr/>
        </p:nvSpPr>
        <p:spPr>
          <a:xfrm>
            <a:off x="6958584" y="2121408"/>
            <a:ext cx="12801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00" b="1">
                <a:solidFill>
                  <a:srgbClr val="132346"/>
                </a:solidFill>
                <a:latin typeface="Aptos"/>
              </a:rPr>
              <a:t>N2: $69</a:t>
            </a:r>
          </a:p>
        </p:txBody>
      </p:sp>
      <p:sp>
        <p:nvSpPr>
          <p:cNvPr id="165" name="txt165"/>
          <p:cNvSpPr>
            <a:spLocks noGrp="1"/>
          </p:cNvSpPr>
          <p:nvPr/>
        </p:nvSpPr>
        <p:spPr>
          <a:xfrm>
            <a:off x="7863840" y="2121408"/>
            <a:ext cx="10058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850" b="0">
                <a:solidFill>
                  <a:srgbClr val="7A7A7A"/>
                </a:solidFill>
                <a:latin typeface="Aptos"/>
              </a:rPr>
              <a:t>Técnico</a:t>
            </a:r>
          </a:p>
        </p:txBody>
      </p:sp>
      <p:sp>
        <p:nvSpPr>
          <p:cNvPr id="166" name="bar166"/>
          <p:cNvSpPr/>
          <p:nvPr/>
        </p:nvSpPr>
        <p:spPr>
          <a:xfrm>
            <a:off x="6172200" y="2468880"/>
            <a:ext cx="1097280" cy="219456"/>
          </a:xfrm>
          <a:prstGeom prst="roundRect">
            <a:avLst>
              <a:gd name="adj" fmla="val 17500"/>
            </a:avLst>
          </a:prstGeom>
          <a:solidFill>
            <a:srgbClr val="A5442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7" name="txt167"/>
          <p:cNvSpPr>
            <a:spLocks noGrp="1"/>
          </p:cNvSpPr>
          <p:nvPr/>
        </p:nvSpPr>
        <p:spPr>
          <a:xfrm>
            <a:off x="7324344" y="2450592"/>
            <a:ext cx="12801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00" b="1">
                <a:solidFill>
                  <a:srgbClr val="132346"/>
                </a:solidFill>
                <a:latin typeface="Aptos"/>
              </a:rPr>
              <a:t>N3: $104</a:t>
            </a:r>
          </a:p>
        </p:txBody>
      </p:sp>
      <p:sp>
        <p:nvSpPr>
          <p:cNvPr id="168" name="txt168"/>
          <p:cNvSpPr>
            <a:spLocks noGrp="1"/>
          </p:cNvSpPr>
          <p:nvPr/>
        </p:nvSpPr>
        <p:spPr>
          <a:xfrm>
            <a:off x="7863840" y="2450592"/>
            <a:ext cx="10058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850" b="0">
                <a:solidFill>
                  <a:srgbClr val="7A7A7A"/>
                </a:solidFill>
                <a:latin typeface="Aptos"/>
              </a:rPr>
              <a:t>Arquitecto</a:t>
            </a:r>
          </a:p>
        </p:txBody>
      </p:sp>
      <p:sp>
        <p:nvSpPr>
          <p:cNvPr id="169" name="shp169"/>
          <p:cNvSpPr/>
          <p:nvPr/>
        </p:nvSpPr>
        <p:spPr>
          <a:xfrm>
            <a:off x="6199632" y="2816352"/>
            <a:ext cx="164592" cy="237744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E7A34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70" name="txt170"/>
          <p:cNvSpPr>
            <a:spLocks noGrp="1"/>
          </p:cNvSpPr>
          <p:nvPr/>
        </p:nvSpPr>
        <p:spPr>
          <a:xfrm>
            <a:off x="6437376" y="2761488"/>
            <a:ext cx="2414016" cy="365760"/>
          </a:xfrm>
          <a:prstGeom prst="rect">
            <a:avLst/>
          </a:prstGeom>
          <a:noFill/>
        </p:spPr>
        <p:txBody>
          <a:bodyPr wrap="square" lIns="18000" tIns="6000" rIns="18000" bIns="6000" anchor="ctr">
            <a:normAutofit/>
          </a:bodyPr>
          <a:lstStyle/>
          <a:p>
            <a:pPr algn="l"/>
            <a:r>
              <a:rPr lang="es-CO" sz="900" b="1">
                <a:solidFill>
                  <a:srgbClr val="3C7D3C"/>
                </a:solidFill>
                <a:latin typeface="Aptos"/>
              </a:rPr>
              <a:t>Shift-Left: cada punto de deflección = ahorro $22–102</a:t>
            </a:r>
          </a:p>
        </p:txBody>
      </p:sp>
      <p:sp>
        <p:nvSpPr>
          <p:cNvPr id="171" name="txt171"/>
          <p:cNvSpPr>
            <a:spLocks noGrp="1"/>
          </p:cNvSpPr>
          <p:nvPr/>
        </p:nvSpPr>
        <p:spPr>
          <a:xfrm>
            <a:off x="5559552" y="3273552"/>
            <a:ext cx="28803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250" b="1">
                <a:solidFill>
                  <a:srgbClr val="132346"/>
                </a:solidFill>
                <a:latin typeface="Aptos"/>
              </a:rPr>
              <a:t>CSAT Objetivo</a:t>
            </a:r>
          </a:p>
        </p:txBody>
      </p:sp>
      <p:sp>
        <p:nvSpPr>
          <p:cNvPr id="172" name="shp172"/>
          <p:cNvSpPr/>
          <p:nvPr/>
        </p:nvSpPr>
        <p:spPr>
          <a:xfrm>
            <a:off x="6382512" y="3529584"/>
            <a:ext cx="1234440" cy="1234440"/>
          </a:xfrm>
          <a:prstGeom prst="donut">
            <a:avLst>
              <a:gd name="adj" fmla="val 17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73" name="shp173"/>
          <p:cNvSpPr/>
          <p:nvPr/>
        </p:nvSpPr>
        <p:spPr>
          <a:xfrm>
            <a:off x="6382512" y="3529584"/>
            <a:ext cx="1234440" cy="1234440"/>
          </a:xfrm>
          <a:prstGeom prst="arc">
            <a:avLst>
              <a:gd name="adj1" fmla="val 15300000"/>
              <a:gd name="adj2" fmla="val 12000000"/>
            </a:avLst>
          </a:prstGeom>
          <a:noFill/>
          <a:ln w="109728" cap="rnd">
            <a:solidFill>
              <a:srgbClr val="237B89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74" name="txt174"/>
          <p:cNvSpPr>
            <a:spLocks noGrp="1"/>
          </p:cNvSpPr>
          <p:nvPr/>
        </p:nvSpPr>
        <p:spPr>
          <a:xfrm>
            <a:off x="6382512" y="3840480"/>
            <a:ext cx="1234440" cy="274320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500" b="1">
                <a:solidFill>
                  <a:srgbClr val="132346"/>
                </a:solidFill>
                <a:latin typeface="Aptos"/>
              </a:rPr>
              <a:t>73–86%</a:t>
            </a:r>
          </a:p>
        </p:txBody>
      </p:sp>
      <p:sp>
        <p:nvSpPr>
          <p:cNvPr id="175" name="txt175"/>
          <p:cNvSpPr>
            <a:spLocks noGrp="1"/>
          </p:cNvSpPr>
          <p:nvPr/>
        </p:nvSpPr>
        <p:spPr>
          <a:xfrm>
            <a:off x="6382512" y="4114800"/>
            <a:ext cx="1234440" cy="182880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900" b="0">
                <a:solidFill>
                  <a:srgbClr val="7A7A7A"/>
                </a:solidFill>
                <a:latin typeface="Aptos"/>
              </a:rPr>
              <a:t>industria</a:t>
            </a:r>
          </a:p>
        </p:txBody>
      </p:sp>
      <p:sp>
        <p:nvSpPr>
          <p:cNvPr id="176" name="txt176"/>
          <p:cNvSpPr>
            <a:spLocks noGrp="1"/>
          </p:cNvSpPr>
          <p:nvPr/>
        </p:nvSpPr>
        <p:spPr>
          <a:xfrm>
            <a:off x="6382512" y="4297680"/>
            <a:ext cx="1234440" cy="182880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900" b="1">
                <a:solidFill>
                  <a:srgbClr val="B8860B"/>
                </a:solidFill>
                <a:latin typeface="Aptos"/>
              </a:rPr>
              <a:t>≥92% N5</a:t>
            </a:r>
          </a:p>
        </p:txBody>
      </p:sp>
      <p:sp>
        <p:nvSpPr>
          <p:cNvPr id="11" name="src">
            <a:extLst>
              <a:ext uri="{FF2B5EF4-FFF2-40B4-BE49-F238E27FC236}">
                <a16:creationId xmlns:a16="http://schemas.microsoft.com/office/drawing/2014/main" id="{DC2C431D-DA19-1000-A4C0-0A08EFD3BEF6}"/>
              </a:ext>
            </a:extLst>
          </p:cNvPr>
          <p:cNvSpPr txBox="1">
            <a:spLocks noGrp="1"/>
          </p:cNvSpPr>
          <p:nvPr/>
        </p:nvSpPr>
        <p:spPr>
          <a:xfrm>
            <a:off x="178526" y="4837829"/>
            <a:ext cx="8905602" cy="3714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F</a:t>
            </a:r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uente: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3"/>
              </a:rPr>
              <a:t>HDI/MetricNet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4"/>
              </a:rPr>
              <a:t>HDI</a:t>
            </a:r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 ,  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5"/>
              </a:rPr>
              <a:t>MetricNet/HDI, HDI metrics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6"/>
              </a:rPr>
              <a:t>HelpDeskFocus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 u="sng">
                <a:solidFill>
                  <a:srgbClr val="1A3A8F"/>
                </a:solidFill>
                <a:latin typeface="Reddit Sans"/>
                <a:ea typeface="Reddit Sans"/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7"/>
              </a:rPr>
              <a:t>IrisAgent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8"/>
              </a:rPr>
              <a:t>HDI metrics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9"/>
              </a:rPr>
              <a:t>Giva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>
                <a:ea typeface="Reddit Sans"/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Kwestra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0"/>
              </a:rPr>
              <a:t>,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0"/>
              </a:rPr>
              <a:t>servicedeskagents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 u="sng">
                <a:solidFill>
                  <a:srgbClr val="2F81F7"/>
                </a:solidFill>
                <a:ea typeface="Reddit Sans"/>
                <a:hlinkClick r:id="rId10"/>
              </a:rPr>
              <a:t>Kwestra</a:t>
            </a:r>
            <a:r>
              <a:rPr lang="es-ES" sz="700" u="sng">
                <a:solidFill>
                  <a:srgbClr val="2F81F7"/>
                </a:solidFill>
                <a:ea typeface="Reddit Sans"/>
              </a:rPr>
              <a:t>,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1"/>
              </a:rPr>
              <a:t>Freshservice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2"/>
              </a:rPr>
              <a:t>Freshservice benchmark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>
                <a:ea typeface="Reddit Sans"/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3"/>
              </a:rPr>
              <a:t>SDI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 </a:t>
            </a:r>
            <a:r>
              <a:rPr lang="es-ES" sz="700" u="sng">
                <a:solidFill>
                  <a:srgbClr val="2F81F7"/>
                </a:solidFill>
                <a:ea typeface="Reddit Sans"/>
                <a:hlinkClick r:id="rId14"/>
              </a:rPr>
              <a:t>Stealth Agents</a:t>
            </a:r>
            <a:endParaRPr lang="es-ES" sz="700"/>
          </a:p>
        </p:txBody>
      </p:sp>
    </p:spTree>
    <p:extLst>
      <p:ext uri="{BB962C8B-B14F-4D97-AF65-F5344CB8AC3E}">
        <p14:creationId xmlns:p14="http://schemas.microsoft.com/office/powerpoint/2010/main" val="21382822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ECACB6-92CD-5E40-6F53-4475F8079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SLA vs. XLA 4 Capas de Reporte</a:t>
            </a:r>
          </a:p>
          <a:p>
            <a:endParaRPr lang="es-ES"/>
          </a:p>
        </p:txBody>
      </p:sp>
      <p:sp>
        <p:nvSpPr>
          <p:cNvPr id="101" name="tx101"/>
          <p:cNvSpPr>
            <a:spLocks noGrp="1"/>
          </p:cNvSpPr>
          <p:nvPr/>
        </p:nvSpPr>
        <p:spPr>
          <a:xfrm>
            <a:off x="365760" y="502920"/>
            <a:ext cx="8412480" cy="347472"/>
          </a:xfrm>
          <a:prstGeom prst="rect">
            <a:avLst/>
          </a:prstGeom>
          <a:noFill/>
        </p:spPr>
        <p:txBody>
          <a:bodyPr wrap="square" lIns="27000" tIns="9000" rIns="27000" bIns="9000" anchor="t">
            <a:norm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CO" sz="1200" spc="-25">
                <a:solidFill>
                  <a:srgbClr val="595959"/>
                </a:solidFill>
                <a:latin typeface="Reddit Sans"/>
                <a:ea typeface="Reddit Sans"/>
              </a:rPr>
              <a:t>SLA vs. XLA: El Nuevo Paradigma de Medición</a:t>
            </a:r>
          </a:p>
        </p:txBody>
      </p:sp>
      <p:sp>
        <p:nvSpPr>
          <p:cNvPr id="102" name="tx102"/>
          <p:cNvSpPr>
            <a:spLocks noGrp="1"/>
          </p:cNvSpPr>
          <p:nvPr/>
        </p:nvSpPr>
        <p:spPr>
          <a:xfrm>
            <a:off x="365760" y="774192"/>
            <a:ext cx="841248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CO" sz="1200" spc="-25">
                <a:solidFill>
                  <a:srgbClr val="595959"/>
                </a:solidFill>
                <a:latin typeface="Reddit Sans"/>
                <a:ea typeface="Reddit Sans"/>
              </a:rPr>
              <a:t>Casi 70% de empresas planea adoptar XLA en 2026 · XLA Institute “State of XLA 2025”</a:t>
            </a:r>
          </a:p>
        </p:txBody>
      </p:sp>
      <p:sp>
        <p:nvSpPr>
          <p:cNvPr id="103" name="rr103"/>
          <p:cNvSpPr/>
          <p:nvPr/>
        </p:nvSpPr>
        <p:spPr>
          <a:xfrm>
            <a:off x="320040" y="1170432"/>
            <a:ext cx="2514600" cy="2761488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>
            <a:solidFill>
              <a:srgbClr val="E4E4E4"/>
            </a:solidFill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4" name="rr104"/>
          <p:cNvSpPr/>
          <p:nvPr/>
        </p:nvSpPr>
        <p:spPr>
          <a:xfrm>
            <a:off x="320040" y="1170432"/>
            <a:ext cx="2514600" cy="475488"/>
          </a:xfrm>
          <a:prstGeom prst="roundRect">
            <a:avLst>
              <a:gd name="adj" fmla="val 5000"/>
            </a:avLst>
          </a:prstGeom>
          <a:solidFill>
            <a:srgbClr val="7A7974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5" name="tx105"/>
          <p:cNvSpPr>
            <a:spLocks noGrp="1"/>
          </p:cNvSpPr>
          <p:nvPr/>
        </p:nvSpPr>
        <p:spPr>
          <a:xfrm>
            <a:off x="320040" y="1188720"/>
            <a:ext cx="2514600" cy="45720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ctr">
              <a:spcBef>
                <a:spcPts val="0"/>
              </a:spcBef>
            </a:pPr>
            <a:r>
              <a:rPr lang="es-CO" sz="1400" b="1" i="0">
                <a:solidFill>
                  <a:srgbClr val="FFFFFF"/>
                </a:solidFill>
                <a:latin typeface="Reddit Sans"/>
                <a:ea typeface="Reddit Sans"/>
              </a:rPr>
              <a:t>SLA</a:t>
            </a:r>
          </a:p>
          <a:p>
            <a:pPr algn="ctr">
              <a:spcBef>
                <a:spcPts val="100"/>
              </a:spcBef>
            </a:pPr>
            <a:r>
              <a:rPr lang="es-CO" sz="850" b="0" i="0">
                <a:solidFill>
                  <a:srgbClr val="FFFFFF"/>
                </a:solidFill>
                <a:latin typeface="Reddit Sans"/>
                <a:ea typeface="Reddit Sans"/>
              </a:rPr>
              <a:t>Service Level Agreement</a:t>
            </a:r>
          </a:p>
        </p:txBody>
      </p:sp>
      <p:sp>
        <p:nvSpPr>
          <p:cNvPr id="106" name="tx106"/>
          <p:cNvSpPr>
            <a:spLocks noGrp="1"/>
          </p:cNvSpPr>
          <p:nvPr/>
        </p:nvSpPr>
        <p:spPr>
          <a:xfrm>
            <a:off x="365760" y="1719072"/>
            <a:ext cx="2423160" cy="2194560"/>
          </a:xfrm>
          <a:prstGeom prst="rect">
            <a:avLst/>
          </a:prstGeom>
          <a:noFill/>
        </p:spPr>
        <p:txBody>
          <a:bodyPr wrap="square" lIns="27000" tIns="9000" rIns="27000" bIns="9000" anchor="t">
            <a:normAutofit/>
          </a:bodyPr>
          <a:lstStyle/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Qué mide: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Estándares mínimos de entrega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Métricas: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Tiempo respuesta, uptime, MTTR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Foco: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Cumplimiento de proceso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Limitación: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A3352A"/>
                </a:solidFill>
                <a:latin typeface="Reddit Sans"/>
                <a:ea typeface="Reddit Sans"/>
              </a:rPr>
              <a:t>SLA ✔ ≠ usuario satisfecho</a:t>
            </a:r>
          </a:p>
          <a:p>
            <a:pPr algn="l">
              <a:spcBef>
                <a:spcPts val="800"/>
              </a:spcBef>
            </a:pPr>
            <a:r>
              <a:rPr lang="es-CO" sz="900" b="0" i="1">
                <a:solidFill>
                  <a:srgbClr val="6B6B6B"/>
                </a:solidFill>
                <a:latin typeface="Reddit Sans"/>
                <a:ea typeface="Reddit Sans"/>
              </a:rPr>
              <a:t>“El ticket cerró en tiempo pero el problema real persiste”</a:t>
            </a:r>
          </a:p>
        </p:txBody>
      </p:sp>
      <p:sp>
        <p:nvSpPr>
          <p:cNvPr id="107" name="rr107"/>
          <p:cNvSpPr/>
          <p:nvPr/>
        </p:nvSpPr>
        <p:spPr>
          <a:xfrm>
            <a:off x="3154680" y="1170432"/>
            <a:ext cx="2514600" cy="2761488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>
            <a:solidFill>
              <a:srgbClr val="E4E4E4"/>
            </a:solidFill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8" name="rr108"/>
          <p:cNvSpPr/>
          <p:nvPr/>
        </p:nvSpPr>
        <p:spPr>
          <a:xfrm>
            <a:off x="3154680" y="1170432"/>
            <a:ext cx="2514600" cy="475488"/>
          </a:xfrm>
          <a:prstGeom prst="roundRect">
            <a:avLst>
              <a:gd name="adj" fmla="val 5000"/>
            </a:avLst>
          </a:prstGeom>
          <a:solidFill>
            <a:srgbClr val="20808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9" name="tx109"/>
          <p:cNvSpPr>
            <a:spLocks noGrp="1"/>
          </p:cNvSpPr>
          <p:nvPr/>
        </p:nvSpPr>
        <p:spPr>
          <a:xfrm>
            <a:off x="3154680" y="1188720"/>
            <a:ext cx="2514600" cy="45720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ctr">
              <a:spcBef>
                <a:spcPts val="0"/>
              </a:spcBef>
            </a:pPr>
            <a:r>
              <a:rPr lang="es-CO" sz="1400" b="1" i="0">
                <a:solidFill>
                  <a:srgbClr val="FFFFFF"/>
                </a:solidFill>
                <a:latin typeface="Reddit Sans"/>
                <a:ea typeface="Reddit Sans"/>
              </a:rPr>
              <a:t>XLA</a:t>
            </a:r>
          </a:p>
          <a:p>
            <a:pPr algn="ctr">
              <a:spcBef>
                <a:spcPts val="100"/>
              </a:spcBef>
            </a:pPr>
            <a:r>
              <a:rPr lang="es-CO" sz="850" b="0" i="0">
                <a:solidFill>
                  <a:srgbClr val="FFFFFF"/>
                </a:solidFill>
                <a:latin typeface="Reddit Sans"/>
                <a:ea typeface="Reddit Sans"/>
              </a:rPr>
              <a:t>Experience Level Agreement</a:t>
            </a:r>
          </a:p>
        </p:txBody>
      </p:sp>
      <p:sp>
        <p:nvSpPr>
          <p:cNvPr id="110" name="tx110"/>
          <p:cNvSpPr>
            <a:spLocks noGrp="1"/>
          </p:cNvSpPr>
          <p:nvPr/>
        </p:nvSpPr>
        <p:spPr>
          <a:xfrm>
            <a:off x="3200400" y="1719072"/>
            <a:ext cx="2423160" cy="2194560"/>
          </a:xfrm>
          <a:prstGeom prst="rect">
            <a:avLst/>
          </a:prstGeom>
          <a:noFill/>
        </p:spPr>
        <p:txBody>
          <a:bodyPr wrap="square" lIns="27000" tIns="9000" rIns="27000" bIns="9000" anchor="t">
            <a:normAutofit/>
          </a:bodyPr>
          <a:lstStyle/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Qué mide: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Experiencia real del empleado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Métricas:</a:t>
            </a:r>
          </a:p>
          <a:p>
            <a:r>
              <a:rPr lang="es-CO" sz="1050">
                <a:solidFill>
                  <a:srgbClr val="6B6B6B"/>
                </a:solidFill>
                <a:latin typeface="Reddit Sans"/>
                <a:ea typeface="Reddit Sans"/>
              </a:rPr>
              <a:t>Satisfacción,</a:t>
            </a: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 </a:t>
            </a:r>
            <a:r>
              <a:rPr lang="es-CO" sz="1050">
                <a:solidFill>
                  <a:srgbClr val="6B6B6B"/>
                </a:solidFill>
                <a:latin typeface="Reddit Sans"/>
                <a:ea typeface="Reddit Sans"/>
              </a:rPr>
              <a:t>sentimiento, esfuerzo</a:t>
            </a:r>
          </a:p>
          <a:p>
            <a:pPr>
              <a:spcBef>
                <a:spcPts val="400"/>
              </a:spcBef>
            </a:pPr>
            <a:r>
              <a:rPr lang="es-CO" sz="1050" b="1">
                <a:solidFill>
                  <a:srgbClr val="2E3B4E"/>
                </a:solidFill>
                <a:latin typeface="Reddit Sans"/>
                <a:ea typeface="Reddit Sans"/>
              </a:rPr>
              <a:t>Foco</a:t>
            </a: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:</a:t>
            </a:r>
            <a:endParaRPr lang="es-CO"/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Resultado percibido por usuario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Valor: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20808D"/>
                </a:solidFill>
                <a:latin typeface="Reddit Sans"/>
                <a:ea typeface="Reddit Sans"/>
              </a:rPr>
              <a:t>Habilita </a:t>
            </a:r>
            <a:r>
              <a:rPr lang="es-CO" sz="1050" b="0" i="0" err="1">
                <a:solidFill>
                  <a:srgbClr val="20808D"/>
                </a:solidFill>
                <a:latin typeface="Reddit Sans"/>
                <a:ea typeface="Reddit Sans"/>
              </a:rPr>
              <a:t>pricing</a:t>
            </a:r>
            <a:r>
              <a:rPr lang="es-CO" sz="1050" b="0" i="0">
                <a:solidFill>
                  <a:srgbClr val="20808D"/>
                </a:solidFill>
                <a:latin typeface="Reddit Sans"/>
                <a:ea typeface="Reddit Sans"/>
              </a:rPr>
              <a:t> </a:t>
            </a:r>
            <a:r>
              <a:rPr lang="es-CO" sz="1050" b="0" i="0" err="1">
                <a:solidFill>
                  <a:srgbClr val="20808D"/>
                </a:solidFill>
                <a:latin typeface="Reddit Sans"/>
                <a:ea typeface="Reddit Sans"/>
              </a:rPr>
              <a:t>outcome-based</a:t>
            </a:r>
            <a:endParaRPr lang="es-CO" sz="1050" b="0" i="0">
              <a:solidFill>
                <a:srgbClr val="20808D"/>
              </a:solidFill>
              <a:latin typeface="Reddit Sans"/>
              <a:ea typeface="Reddit Sans"/>
            </a:endParaRPr>
          </a:p>
          <a:p>
            <a:pPr algn="l">
              <a:spcBef>
                <a:spcPts val="800"/>
              </a:spcBef>
            </a:pPr>
            <a:r>
              <a:rPr lang="es-CO" sz="900" b="0" i="1">
                <a:solidFill>
                  <a:srgbClr val="6B6B6B"/>
                </a:solidFill>
                <a:latin typeface="Reddit Sans"/>
                <a:ea typeface="Reddit Sans"/>
              </a:rPr>
              <a:t>“Proactivo: resuelve antes de que el usuario lo note”</a:t>
            </a:r>
          </a:p>
        </p:txBody>
      </p:sp>
      <p:sp>
        <p:nvSpPr>
          <p:cNvPr id="111" name="ar111"/>
          <p:cNvSpPr/>
          <p:nvPr/>
        </p:nvSpPr>
        <p:spPr>
          <a:xfrm>
            <a:off x="2834640" y="2331720"/>
            <a:ext cx="292608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20808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3" name="tx113"/>
          <p:cNvSpPr>
            <a:spLocks noGrp="1"/>
          </p:cNvSpPr>
          <p:nvPr/>
        </p:nvSpPr>
        <p:spPr>
          <a:xfrm>
            <a:off x="341812" y="4005943"/>
            <a:ext cx="5349240" cy="530352"/>
          </a:xfrm>
          <a:prstGeom prst="rect">
            <a:avLst/>
          </a:prstGeom>
          <a:ln w="127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27000" tIns="9000" rIns="27000" bIns="9000" anchor="ctr">
            <a:normAutofit/>
          </a:bodyPr>
          <a:lstStyle/>
          <a:p>
            <a:pPr algn="ctr">
              <a:spcBef>
                <a:spcPts val="0"/>
              </a:spcBef>
            </a:pPr>
            <a:r>
              <a:rPr lang="es-CO" sz="1100" b="1" i="0">
                <a:solidFill>
                  <a:srgbClr val="20808D"/>
                </a:solidFill>
                <a:latin typeface="Reddit Sans"/>
                <a:ea typeface="Reddit Sans"/>
              </a:rPr>
              <a:t>Casi 70% de empresas planea adoptar XLA en 2026</a:t>
            </a:r>
          </a:p>
          <a:p>
            <a:pPr algn="ctr">
              <a:spcBef>
                <a:spcPts val="100"/>
              </a:spcBef>
            </a:pPr>
            <a:r>
              <a:rPr lang="es-CO" sz="850" b="0" i="0">
                <a:solidFill>
                  <a:srgbClr val="6E6E6E"/>
                </a:solidFill>
                <a:latin typeface="Reddit Sans"/>
                <a:ea typeface="Reddit Sans"/>
              </a:rPr>
              <a:t>Brasil lidera en Latam · expansión: Salud, RRHH, Finanzas (XLA Institute, jun 2025)</a:t>
            </a:r>
          </a:p>
        </p:txBody>
      </p:sp>
      <p:sp>
        <p:nvSpPr>
          <p:cNvPr id="114" name="tx114"/>
          <p:cNvSpPr>
            <a:spLocks noGrp="1"/>
          </p:cNvSpPr>
          <p:nvPr/>
        </p:nvSpPr>
        <p:spPr>
          <a:xfrm>
            <a:off x="5989320" y="1133856"/>
            <a:ext cx="2834640" cy="274320"/>
          </a:xfrm>
          <a:prstGeom prst="rect">
            <a:avLst/>
          </a:prstGeom>
          <a:noFill/>
        </p:spPr>
        <p:txBody>
          <a:bodyPr wrap="square" lIns="27000" tIns="9000" rIns="27000" bIns="9000" anchor="t">
            <a:normAutofit/>
          </a:bodyPr>
          <a:lstStyle/>
          <a:p>
            <a:pPr algn="ctr">
              <a:spcBef>
                <a:spcPts val="0"/>
              </a:spcBef>
            </a:pPr>
            <a:r>
              <a:rPr lang="es-CO" sz="1250" b="1" i="0">
                <a:solidFill>
                  <a:srgbClr val="1F3A5F"/>
                </a:solidFill>
                <a:latin typeface="Reddit Sans"/>
                <a:ea typeface="Reddit Sans"/>
              </a:rPr>
              <a:t>4 Capas</a:t>
            </a:r>
          </a:p>
        </p:txBody>
      </p:sp>
      <p:sp>
        <p:nvSpPr>
          <p:cNvPr id="115" name="rr115"/>
          <p:cNvSpPr/>
          <p:nvPr/>
        </p:nvSpPr>
        <p:spPr>
          <a:xfrm>
            <a:off x="5989320" y="1572768"/>
            <a:ext cx="2834640" cy="585216"/>
          </a:xfrm>
          <a:prstGeom prst="roundRect">
            <a:avLst>
              <a:gd name="adj" fmla="val 5000"/>
            </a:avLst>
          </a:prstGeom>
          <a:solidFill>
            <a:srgbClr val="1B345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6" name="tx116"/>
          <p:cNvSpPr>
            <a:spLocks noGrp="1"/>
          </p:cNvSpPr>
          <p:nvPr/>
        </p:nvSpPr>
        <p:spPr>
          <a:xfrm>
            <a:off x="6080760" y="1600200"/>
            <a:ext cx="2651760" cy="54864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es-CO" sz="1150" b="1" i="0">
                <a:solidFill>
                  <a:srgbClr val="FFFFFF"/>
                </a:solidFill>
                <a:latin typeface="Reddit Sans"/>
                <a:ea typeface="Reddit Sans"/>
              </a:rPr>
              <a:t>1. Confiabilidad Operacional</a:t>
            </a:r>
          </a:p>
          <a:p>
            <a:pPr algn="l">
              <a:spcBef>
                <a:spcPts val="200"/>
              </a:spcBef>
            </a:pPr>
            <a:r>
              <a:rPr lang="es-CO" sz="850" b="0" i="0">
                <a:solidFill>
                  <a:srgbClr val="E8EEF0"/>
                </a:solidFill>
                <a:latin typeface="Reddit Sans"/>
                <a:ea typeface="Reddit Sans"/>
              </a:rPr>
              <a:t>Disponibilidad · SLA · MTTR · Incidentes mayores</a:t>
            </a:r>
          </a:p>
        </p:txBody>
      </p:sp>
      <p:sp>
        <p:nvSpPr>
          <p:cNvPr id="117" name="rr117"/>
          <p:cNvSpPr/>
          <p:nvPr/>
        </p:nvSpPr>
        <p:spPr>
          <a:xfrm>
            <a:off x="5989320" y="2249424"/>
            <a:ext cx="2834640" cy="585216"/>
          </a:xfrm>
          <a:prstGeom prst="roundRect">
            <a:avLst>
              <a:gd name="adj" fmla="val 5000"/>
            </a:avLst>
          </a:prstGeom>
          <a:solidFill>
            <a:srgbClr val="1B474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8" name="tx118"/>
          <p:cNvSpPr>
            <a:spLocks noGrp="1"/>
          </p:cNvSpPr>
          <p:nvPr/>
        </p:nvSpPr>
        <p:spPr>
          <a:xfrm>
            <a:off x="6080760" y="2276856"/>
            <a:ext cx="2651760" cy="54864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es-CO" sz="1150" b="1" i="0">
                <a:solidFill>
                  <a:srgbClr val="FFFFFF"/>
                </a:solidFill>
                <a:latin typeface="Reddit Sans"/>
                <a:ea typeface="Reddit Sans"/>
              </a:rPr>
              <a:t>2. Eficiencia del Service Desk</a:t>
            </a:r>
          </a:p>
          <a:p>
            <a:pPr algn="l">
              <a:spcBef>
                <a:spcPts val="200"/>
              </a:spcBef>
            </a:pPr>
            <a:r>
              <a:rPr lang="es-CO" sz="850" b="0" i="0">
                <a:solidFill>
                  <a:srgbClr val="E8EEF0"/>
                </a:solidFill>
                <a:latin typeface="Reddit Sans"/>
                <a:ea typeface="Reddit Sans"/>
              </a:rPr>
              <a:t>FCR · Backlog · Costo/ticket · Autoservicio %</a:t>
            </a:r>
          </a:p>
        </p:txBody>
      </p:sp>
      <p:sp>
        <p:nvSpPr>
          <p:cNvPr id="119" name="rr119"/>
          <p:cNvSpPr/>
          <p:nvPr/>
        </p:nvSpPr>
        <p:spPr>
          <a:xfrm>
            <a:off x="5989320" y="2926080"/>
            <a:ext cx="2834640" cy="585216"/>
          </a:xfrm>
          <a:prstGeom prst="roundRect">
            <a:avLst>
              <a:gd name="adj" fmla="val 5000"/>
            </a:avLst>
          </a:prstGeom>
          <a:solidFill>
            <a:srgbClr val="20808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20" name="tx120"/>
          <p:cNvSpPr>
            <a:spLocks noGrp="1"/>
          </p:cNvSpPr>
          <p:nvPr/>
        </p:nvSpPr>
        <p:spPr>
          <a:xfrm>
            <a:off x="6080760" y="2953512"/>
            <a:ext cx="2651760" cy="54864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es-CO" sz="1150" b="1" i="0">
                <a:solidFill>
                  <a:srgbClr val="FFFFFF"/>
                </a:solidFill>
                <a:latin typeface="Reddit Sans"/>
                <a:ea typeface="Reddit Sans"/>
              </a:rPr>
              <a:t>3. Experiencia de Usuario (XLA)</a:t>
            </a:r>
          </a:p>
          <a:p>
            <a:pPr algn="l">
              <a:spcBef>
                <a:spcPts val="200"/>
              </a:spcBef>
            </a:pPr>
            <a:r>
              <a:rPr lang="es-CO" sz="850" b="0" i="0">
                <a:solidFill>
                  <a:srgbClr val="E8EEF0"/>
                </a:solidFill>
                <a:latin typeface="Reddit Sans"/>
                <a:ea typeface="Reddit Sans"/>
              </a:rPr>
              <a:t>CSAT · Effort score · Sentiment · Journey</a:t>
            </a:r>
          </a:p>
        </p:txBody>
      </p:sp>
      <p:sp>
        <p:nvSpPr>
          <p:cNvPr id="121" name="rr121"/>
          <p:cNvSpPr/>
          <p:nvPr/>
        </p:nvSpPr>
        <p:spPr>
          <a:xfrm>
            <a:off x="5989320" y="3602736"/>
            <a:ext cx="2834640" cy="585216"/>
          </a:xfrm>
          <a:prstGeom prst="roundRect">
            <a:avLst>
              <a:gd name="adj" fmla="val 5000"/>
            </a:avLst>
          </a:prstGeom>
          <a:solidFill>
            <a:srgbClr val="6E964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22" name="tx122"/>
          <p:cNvSpPr>
            <a:spLocks noGrp="1"/>
          </p:cNvSpPr>
          <p:nvPr/>
        </p:nvSpPr>
        <p:spPr>
          <a:xfrm>
            <a:off x="6080760" y="3630168"/>
            <a:ext cx="2651760" cy="54864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es-CO" sz="1150" b="1" i="0">
                <a:solidFill>
                  <a:srgbClr val="FFFFFF"/>
                </a:solidFill>
                <a:latin typeface="Reddit Sans"/>
                <a:ea typeface="Reddit Sans"/>
              </a:rPr>
              <a:t>4. Impacto de Negocio</a:t>
            </a:r>
          </a:p>
          <a:p>
            <a:pPr>
              <a:spcBef>
                <a:spcPts val="200"/>
              </a:spcBef>
            </a:pPr>
            <a:r>
              <a:rPr lang="es-CO" sz="850" b="0" i="0" err="1">
                <a:solidFill>
                  <a:srgbClr val="E8EEF0"/>
                </a:solidFill>
                <a:latin typeface="Reddit Sans"/>
                <a:ea typeface="Reddit Sans"/>
              </a:rPr>
              <a:t>Prod</a:t>
            </a:r>
            <a:r>
              <a:rPr lang="es-CO" sz="850" b="0" i="0">
                <a:solidFill>
                  <a:srgbClr val="E8EEF0"/>
                </a:solidFill>
                <a:latin typeface="Reddit Sans"/>
                <a:ea typeface="Reddit Sans"/>
              </a:rPr>
              <a:t>. perdida · ROI · Riesg</a:t>
            </a:r>
            <a:r>
              <a:rPr lang="es-CO" sz="850">
                <a:solidFill>
                  <a:srgbClr val="E8EEF0"/>
                </a:solidFill>
                <a:latin typeface="Reddit Sans"/>
                <a:ea typeface="Reddit Sans"/>
              </a:rPr>
              <a:t>o (regulatorios,  fraude, cumplimiento </a:t>
            </a:r>
            <a:r>
              <a:rPr lang="es-CO" sz="850" err="1">
                <a:solidFill>
                  <a:srgbClr val="E8EEF0"/>
                </a:solidFill>
                <a:latin typeface="Reddit Sans"/>
                <a:ea typeface="Reddit Sans"/>
              </a:rPr>
              <a:t>SOCs</a:t>
            </a:r>
            <a:r>
              <a:rPr lang="es-CO" sz="850">
                <a:solidFill>
                  <a:srgbClr val="E8EEF0"/>
                </a:solidFill>
                <a:latin typeface="Reddit Sans"/>
                <a:ea typeface="Reddit Sans"/>
              </a:rPr>
              <a:t>)· Evit</a:t>
            </a:r>
            <a:r>
              <a:rPr lang="es-CO" sz="850" b="0" i="0">
                <a:solidFill>
                  <a:srgbClr val="E8EEF0"/>
                </a:solidFill>
                <a:latin typeface="Reddit Sans"/>
                <a:ea typeface="Reddit Sans"/>
              </a:rPr>
              <a:t>ación costos</a:t>
            </a:r>
          </a:p>
        </p:txBody>
      </p:sp>
      <p:sp>
        <p:nvSpPr>
          <p:cNvPr id="5" name="src">
            <a:extLst>
              <a:ext uri="{FF2B5EF4-FFF2-40B4-BE49-F238E27FC236}">
                <a16:creationId xmlns:a16="http://schemas.microsoft.com/office/drawing/2014/main" id="{A87222FE-49B1-30B7-D180-122F8829EB1E}"/>
              </a:ext>
            </a:extLst>
          </p:cNvPr>
          <p:cNvSpPr txBox="1">
            <a:spLocks noGrp="1"/>
          </p:cNvSpPr>
          <p:nvPr/>
        </p:nvSpPr>
        <p:spPr>
          <a:xfrm>
            <a:off x="314597" y="4652772"/>
            <a:ext cx="7642860" cy="4040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Fuente: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3"/>
              </a:rPr>
              <a:t>EIN Presswire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,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4"/>
              </a:rPr>
              <a:t>Emerce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 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5"/>
              </a:rPr>
              <a:t>LinkedIn — Alan Nance, XLA Institute</a:t>
            </a:r>
            <a:endParaRPr lang="es-ES" sz="700">
              <a:solidFill>
                <a:srgbClr val="E6EDF3"/>
              </a:solidFill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16925644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A47E7F-9AB6-5D4E-21FF-77F38153A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err="1"/>
              <a:t>Agentic</a:t>
            </a:r>
            <a:r>
              <a:rPr lang="es-ES"/>
              <a:t> AI: Estado Real de Adopción 2025–2026</a:t>
            </a:r>
            <a:endParaRPr lang="en-US"/>
          </a:p>
        </p:txBody>
      </p:sp>
      <p:sp>
        <p:nvSpPr>
          <p:cNvPr id="203" name="rec203"/>
          <p:cNvSpPr/>
          <p:nvPr/>
        </p:nvSpPr>
        <p:spPr>
          <a:xfrm>
            <a:off x="361900" y="663686"/>
            <a:ext cx="8344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r>
              <a:rPr lang="es-ES" sz="1200" spc="-25">
                <a:solidFill>
                  <a:srgbClr val="595959"/>
                </a:solidFill>
                <a:latin typeface="Reddit Sans"/>
                <a:ea typeface="Reddit Sans"/>
              </a:rPr>
              <a:t>Estado real de adopción 2025–2026  ·  Brecha entre experimentación y producción plena</a:t>
            </a:r>
          </a:p>
        </p:txBody>
      </p:sp>
      <p:sp>
        <p:nvSpPr>
          <p:cNvPr id="204" name="rec204"/>
          <p:cNvSpPr/>
          <p:nvPr/>
        </p:nvSpPr>
        <p:spPr>
          <a:xfrm>
            <a:off x="397786" y="1103871"/>
            <a:ext cx="1650000" cy="1650000"/>
          </a:xfrm>
          <a:prstGeom prst="ellipse">
            <a:avLst/>
          </a:prstGeom>
          <a:solidFill>
            <a:srgbClr val="D3E4E4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5" name="rec205"/>
          <p:cNvSpPr/>
          <p:nvPr/>
        </p:nvSpPr>
        <p:spPr>
          <a:xfrm>
            <a:off x="572786" y="1278871"/>
            <a:ext cx="1300000" cy="1300000"/>
          </a:xfrm>
          <a:prstGeom prst="ellipse">
            <a:avLst/>
          </a:prstGeom>
          <a:solidFill>
            <a:srgbClr val="BCD6D6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2400" b="1">
                <a:solidFill>
                  <a:srgbClr val="1F6F6F"/>
                </a:solidFill>
                <a:latin typeface="Reddit Sans"/>
                <a:ea typeface="Reddit Sans"/>
              </a:rPr>
              <a:t>51%</a:t>
            </a:r>
          </a:p>
          <a:p>
            <a:pPr algn="ctr">
              <a:spcBef>
                <a:spcPts val="100"/>
              </a:spcBef>
            </a:pPr>
            <a:r>
              <a:rPr lang="es-ES" sz="750">
                <a:solidFill>
                  <a:srgbClr val="3A5A5A"/>
                </a:solidFill>
                <a:latin typeface="Reddit Sans"/>
                <a:ea typeface="Reddit Sans"/>
              </a:rPr>
              <a:t>con agentes IA</a:t>
            </a:r>
          </a:p>
          <a:p>
            <a:pPr algn="ctr"/>
            <a:r>
              <a:rPr lang="es-ES" sz="750">
                <a:solidFill>
                  <a:srgbClr val="3A5A5A"/>
                </a:solidFill>
                <a:latin typeface="Reddit Sans"/>
                <a:ea typeface="Reddit Sans"/>
              </a:rPr>
              <a:t>desplegados</a:t>
            </a:r>
          </a:p>
        </p:txBody>
      </p:sp>
      <p:sp>
        <p:nvSpPr>
          <p:cNvPr id="206" name="rec206"/>
          <p:cNvSpPr/>
          <p:nvPr/>
        </p:nvSpPr>
        <p:spPr>
          <a:xfrm>
            <a:off x="572786" y="2758871"/>
            <a:ext cx="13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 fontScale="92500"/>
          </a:bodyPr>
          <a:lstStyle/>
          <a:p>
            <a:pPr algn="ctr"/>
            <a:r>
              <a:rPr lang="es-ES" sz="800">
                <a:solidFill>
                  <a:srgbClr val="6B6B6B"/>
                </a:solidFill>
                <a:latin typeface="Reddit Sans"/>
                <a:ea typeface="Reddit Sans"/>
              </a:rPr>
              <a:t>(alguna forma)</a:t>
            </a:r>
          </a:p>
          <a:p>
            <a:pPr algn="ctr">
              <a:spcBef>
                <a:spcPts val="300"/>
              </a:spcBef>
            </a:pPr>
            <a:r>
              <a:rPr lang="es-ES" sz="800">
                <a:solidFill>
                  <a:srgbClr val="6B6B6B"/>
                </a:solidFill>
                <a:latin typeface="Reddit Sans"/>
                <a:ea typeface="Reddit Sans"/>
              </a:rPr>
              <a:t>vs 79% aún experimentando</a:t>
            </a:r>
          </a:p>
        </p:txBody>
      </p:sp>
      <p:sp>
        <p:nvSpPr>
          <p:cNvPr id="207" name="rec207"/>
          <p:cNvSpPr/>
          <p:nvPr/>
        </p:nvSpPr>
        <p:spPr>
          <a:xfrm>
            <a:off x="1982786" y="1288871"/>
            <a:ext cx="1080000" cy="1080000"/>
          </a:xfrm>
          <a:prstGeom prst="ellipse">
            <a:avLst/>
          </a:prstGeom>
          <a:solidFill>
            <a:srgbClr val="D4DBE2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8" name="rec208"/>
          <p:cNvSpPr/>
          <p:nvPr/>
        </p:nvSpPr>
        <p:spPr>
          <a:xfrm>
            <a:off x="2112786" y="1418871"/>
            <a:ext cx="820000" cy="820000"/>
          </a:xfrm>
          <a:prstGeom prst="ellipse">
            <a:avLst/>
          </a:prstGeom>
          <a:solidFill>
            <a:srgbClr val="111F44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1600" b="1">
                <a:solidFill>
                  <a:srgbClr val="FFFFFF"/>
                </a:solidFill>
                <a:latin typeface="Reddit Sans"/>
                <a:ea typeface="Reddit Sans"/>
              </a:rPr>
              <a:t>11%</a:t>
            </a:r>
          </a:p>
          <a:p>
            <a:pPr algn="ctr">
              <a:spcBef>
                <a:spcPts val="80"/>
              </a:spcBef>
            </a:pPr>
            <a:r>
              <a:rPr lang="es-ES" sz="650">
                <a:solidFill>
                  <a:srgbClr val="C7D0DA"/>
                </a:solidFill>
                <a:latin typeface="Reddit Sans"/>
                <a:ea typeface="Reddit Sans"/>
              </a:rPr>
              <a:t>producción</a:t>
            </a:r>
          </a:p>
          <a:p>
            <a:pPr algn="ctr"/>
            <a:r>
              <a:rPr lang="es-ES" sz="650">
                <a:solidFill>
                  <a:srgbClr val="C7D0DA"/>
                </a:solidFill>
                <a:latin typeface="Reddit Sans"/>
                <a:ea typeface="Reddit Sans"/>
              </a:rPr>
              <a:t>plena</a:t>
            </a:r>
          </a:p>
        </p:txBody>
      </p:sp>
      <p:sp>
        <p:nvSpPr>
          <p:cNvPr id="209" name="rec209"/>
          <p:cNvSpPr/>
          <p:nvPr/>
        </p:nvSpPr>
        <p:spPr>
          <a:xfrm>
            <a:off x="1922786" y="2498871"/>
            <a:ext cx="1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ctr"/>
            <a:r>
              <a:rPr lang="es-ES" sz="800">
                <a:solidFill>
                  <a:srgbClr val="6B6B6B"/>
                </a:solidFill>
                <a:latin typeface="Reddit Sans"/>
                <a:ea typeface="Reddit Sans"/>
              </a:rPr>
              <a:t>producción total</a:t>
            </a:r>
          </a:p>
        </p:txBody>
      </p:sp>
      <p:sp>
        <p:nvSpPr>
          <p:cNvPr id="210" name="rec210"/>
          <p:cNvSpPr/>
          <p:nvPr/>
        </p:nvSpPr>
        <p:spPr>
          <a:xfrm>
            <a:off x="3132786" y="1318871"/>
            <a:ext cx="1120000" cy="1120000"/>
          </a:xfrm>
          <a:prstGeom prst="ellipse">
            <a:avLst/>
          </a:prstGeom>
          <a:solidFill>
            <a:srgbClr val="E4C4B8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1" name="rec211"/>
          <p:cNvSpPr/>
          <p:nvPr/>
        </p:nvSpPr>
        <p:spPr>
          <a:xfrm>
            <a:off x="3262786" y="1448871"/>
            <a:ext cx="860000" cy="860000"/>
          </a:xfrm>
          <a:prstGeom prst="ellipse">
            <a:avLst/>
          </a:prstGeom>
          <a:solidFill>
            <a:srgbClr val="D9B0A2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1500" b="1">
                <a:solidFill>
                  <a:srgbClr val="B0472B"/>
                </a:solidFill>
                <a:latin typeface="Reddit Sans"/>
                <a:ea typeface="Reddit Sans"/>
              </a:rPr>
              <a:t>&gt;40%</a:t>
            </a:r>
          </a:p>
          <a:p>
            <a:pPr algn="ctr">
              <a:spcBef>
                <a:spcPts val="80"/>
              </a:spcBef>
            </a:pPr>
            <a:r>
              <a:rPr lang="es-ES" sz="650">
                <a:solidFill>
                  <a:srgbClr val="8A5648"/>
                </a:solidFill>
                <a:latin typeface="Reddit Sans"/>
                <a:ea typeface="Reddit Sans"/>
              </a:rPr>
              <a:t>cancelados</a:t>
            </a:r>
          </a:p>
          <a:p>
            <a:pPr algn="ctr"/>
            <a:r>
              <a:rPr lang="es-ES" sz="650">
                <a:solidFill>
                  <a:srgbClr val="8A5648"/>
                </a:solidFill>
                <a:latin typeface="Reddit Sans"/>
                <a:ea typeface="Reddit Sans"/>
              </a:rPr>
              <a:t>hacia 2027</a:t>
            </a:r>
          </a:p>
        </p:txBody>
      </p:sp>
      <p:sp>
        <p:nvSpPr>
          <p:cNvPr id="212" name="rec212"/>
          <p:cNvSpPr/>
          <p:nvPr/>
        </p:nvSpPr>
        <p:spPr>
          <a:xfrm>
            <a:off x="3022786" y="2558871"/>
            <a:ext cx="14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ctr"/>
            <a:r>
              <a:rPr lang="es-ES" sz="800">
                <a:solidFill>
                  <a:srgbClr val="6B6B6B"/>
                </a:solidFill>
                <a:latin typeface="Reddit Sans"/>
                <a:ea typeface="Reddit Sans"/>
              </a:rPr>
              <a:t>por costo/gobernanza</a:t>
            </a:r>
          </a:p>
          <a:p>
            <a:pPr algn="ctr"/>
            <a:r>
              <a:rPr lang="es-ES" sz="750">
                <a:solidFill>
                  <a:srgbClr val="6B6B6B"/>
                </a:solidFill>
                <a:latin typeface="Reddit Sans"/>
                <a:ea typeface="Reddit Sans"/>
              </a:rPr>
              <a:t>(Gartner proyección)</a:t>
            </a:r>
          </a:p>
        </p:txBody>
      </p:sp>
      <p:sp>
        <p:nvSpPr>
          <p:cNvPr id="213" name="rec213"/>
          <p:cNvSpPr/>
          <p:nvPr/>
        </p:nvSpPr>
        <p:spPr>
          <a:xfrm>
            <a:off x="338228" y="3424057"/>
            <a:ext cx="4044558" cy="945185"/>
          </a:xfrm>
          <a:prstGeom prst="roundRect">
            <a:avLst>
              <a:gd name="adj" fmla="val 6000"/>
            </a:avLst>
          </a:prstGeom>
          <a:noFill/>
          <a:ln>
            <a:solidFill>
              <a:schemeClr val="accent1"/>
            </a:solidFill>
          </a:ln>
        </p:spPr>
        <p:txBody>
          <a:bodyPr wrap="square" lIns="45720" tIns="18000" rIns="45720" bIns="18000" anchor="t">
            <a:normAutofit/>
          </a:bodyPr>
          <a:lstStyle/>
          <a:p>
            <a:pPr algn="ctr"/>
            <a:r>
              <a:rPr lang="es-ES" sz="950" b="1">
                <a:solidFill>
                  <a:srgbClr val="132346"/>
                </a:solidFill>
                <a:latin typeface="Reddit Sans"/>
                <a:ea typeface="Reddit Sans"/>
              </a:rPr>
              <a:t>ROI de Automatización ITSM</a:t>
            </a:r>
          </a:p>
          <a:p>
            <a:pPr algn="ctr"/>
            <a:endParaRPr lang="es-ES" sz="950" b="1">
              <a:solidFill>
                <a:srgbClr val="132346"/>
              </a:solidFill>
              <a:latin typeface="Reddit Sans"/>
              <a:ea typeface="Reddit Sans"/>
            </a:endParaRPr>
          </a:p>
          <a:p>
            <a:pPr algn="ctr">
              <a:spcBef>
                <a:spcPts val="120"/>
              </a:spcBef>
            </a:pPr>
            <a:r>
              <a:rPr lang="es-ES" sz="800" err="1">
                <a:solidFill>
                  <a:srgbClr val="555555"/>
                </a:solidFill>
                <a:latin typeface="Reddit Sans"/>
                <a:ea typeface="Reddit Sans"/>
              </a:rPr>
              <a:t>Payback</a:t>
            </a:r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 típico:</a:t>
            </a:r>
            <a:r>
              <a:rPr lang="es-ES" sz="800">
                <a:solidFill>
                  <a:srgbClr val="555555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4–9 meses </a:t>
            </a:r>
          </a:p>
          <a:p>
            <a:pPr algn="ctr"/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Contratos </a:t>
            </a:r>
            <a:r>
              <a:rPr lang="es-ES" sz="800" err="1">
                <a:solidFill>
                  <a:srgbClr val="555555"/>
                </a:solidFill>
                <a:latin typeface="Reddit Sans"/>
                <a:ea typeface="Reddit Sans"/>
              </a:rPr>
              <a:t>outcome-based</a:t>
            </a:r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: migración gradual a modelos outcome-based (Gartner/TCS)</a:t>
            </a:r>
          </a:p>
        </p:txBody>
      </p:sp>
      <p:sp>
        <p:nvSpPr>
          <p:cNvPr id="214" name="rec214"/>
          <p:cNvSpPr/>
          <p:nvPr/>
        </p:nvSpPr>
        <p:spPr>
          <a:xfrm>
            <a:off x="4689243" y="884700"/>
            <a:ext cx="418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250" b="1">
                <a:solidFill>
                  <a:srgbClr val="132346"/>
                </a:solidFill>
                <a:latin typeface="Reddit Sans"/>
                <a:ea typeface="Reddit Sans"/>
              </a:rPr>
              <a:t>Barreras y Casos de Éxito</a:t>
            </a:r>
          </a:p>
        </p:txBody>
      </p:sp>
      <p:sp>
        <p:nvSpPr>
          <p:cNvPr id="215" name="rec215"/>
          <p:cNvSpPr/>
          <p:nvPr/>
        </p:nvSpPr>
        <p:spPr>
          <a:xfrm>
            <a:off x="4689243" y="1164700"/>
            <a:ext cx="418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950" b="1">
                <a:solidFill>
                  <a:srgbClr val="944454"/>
                </a:solidFill>
                <a:latin typeface="Reddit Sans"/>
                <a:ea typeface="Reddit Sans"/>
              </a:rPr>
              <a:t>Principales barreras para producción plena:</a:t>
            </a:r>
          </a:p>
        </p:txBody>
      </p:sp>
      <p:sp>
        <p:nvSpPr>
          <p:cNvPr id="216" name="rec216"/>
          <p:cNvSpPr/>
          <p:nvPr/>
        </p:nvSpPr>
        <p:spPr>
          <a:xfrm>
            <a:off x="4689243" y="1424700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 lnSpcReduction="10000"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7" name="rec217"/>
          <p:cNvSpPr/>
          <p:nvPr/>
        </p:nvSpPr>
        <p:spPr>
          <a:xfrm>
            <a:off x="4689243" y="1424700"/>
            <a:ext cx="2173600" cy="300000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52% Seguridad / Privacidad</a:t>
            </a:r>
          </a:p>
        </p:txBody>
      </p:sp>
      <p:sp>
        <p:nvSpPr>
          <p:cNvPr id="218" name="rec218"/>
          <p:cNvSpPr/>
          <p:nvPr/>
        </p:nvSpPr>
        <p:spPr>
          <a:xfrm>
            <a:off x="4689243" y="1794700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 lnSpcReduction="10000"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9" name="rec219"/>
          <p:cNvSpPr/>
          <p:nvPr/>
        </p:nvSpPr>
        <p:spPr>
          <a:xfrm>
            <a:off x="4689243" y="1794700"/>
            <a:ext cx="2131800" cy="300000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51% Complejidad técnica</a:t>
            </a:r>
          </a:p>
        </p:txBody>
      </p:sp>
      <p:sp>
        <p:nvSpPr>
          <p:cNvPr id="220" name="rec220"/>
          <p:cNvSpPr/>
          <p:nvPr/>
        </p:nvSpPr>
        <p:spPr>
          <a:xfrm>
            <a:off x="4689243" y="2164700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 lnSpcReduction="10000"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1" name="rec221"/>
          <p:cNvSpPr/>
          <p:nvPr/>
        </p:nvSpPr>
        <p:spPr>
          <a:xfrm>
            <a:off x="4689243" y="2164700"/>
            <a:ext cx="1839200" cy="300000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44% Falta de personal</a:t>
            </a:r>
          </a:p>
        </p:txBody>
      </p:sp>
      <p:sp>
        <p:nvSpPr>
          <p:cNvPr id="222" name="rec222"/>
          <p:cNvSpPr/>
          <p:nvPr/>
        </p:nvSpPr>
        <p:spPr>
          <a:xfrm>
            <a:off x="4716457" y="3296957"/>
            <a:ext cx="418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950" b="1">
                <a:solidFill>
                  <a:srgbClr val="132346"/>
                </a:solidFill>
                <a:latin typeface="Reddit Sans"/>
                <a:ea typeface="Reddit Sans"/>
              </a:rPr>
              <a:t>Casos documentados en producción:</a:t>
            </a:r>
          </a:p>
        </p:txBody>
      </p:sp>
      <p:sp>
        <p:nvSpPr>
          <p:cNvPr id="223" name="rec223"/>
          <p:cNvSpPr/>
          <p:nvPr/>
        </p:nvSpPr>
        <p:spPr>
          <a:xfrm>
            <a:off x="4716457" y="3547971"/>
            <a:ext cx="418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l"/>
            <a:r>
              <a:rPr lang="es-ES" sz="900" b="1">
                <a:latin typeface="Reddit Sans"/>
                <a:ea typeface="Reddit Sans"/>
              </a:rPr>
              <a:t>Robinhood + ServiceNow</a:t>
            </a:r>
          </a:p>
          <a:p>
            <a:pPr algn="l">
              <a:spcBef>
                <a:spcPts val="80"/>
              </a:spcBef>
            </a:pPr>
            <a:r>
              <a:rPr lang="es-ES" sz="780">
                <a:latin typeface="Reddit Sans"/>
                <a:ea typeface="Reddit Sans"/>
              </a:rPr>
              <a:t>70% deflección · 2.200+ horas/mes eliminadas · 94% satisfacción empleados</a:t>
            </a:r>
          </a:p>
        </p:txBody>
      </p:sp>
      <p:sp>
        <p:nvSpPr>
          <p:cNvPr id="224" name="rec224"/>
          <p:cNvSpPr/>
          <p:nvPr/>
        </p:nvSpPr>
        <p:spPr>
          <a:xfrm>
            <a:off x="4716457" y="3895700"/>
            <a:ext cx="418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l"/>
            <a:r>
              <a:rPr lang="es-ES" sz="900" b="1">
                <a:latin typeface="Reddit Sans"/>
                <a:ea typeface="Reddit Sans"/>
              </a:rPr>
              <a:t>Honeywell + </a:t>
            </a:r>
            <a:r>
              <a:rPr lang="es-ES" sz="900" b="1" err="1">
                <a:latin typeface="Reddit Sans"/>
                <a:ea typeface="Reddit Sans"/>
              </a:rPr>
              <a:t>Moveworks</a:t>
            </a:r>
            <a:endParaRPr lang="es-ES" sz="900" b="1">
              <a:latin typeface="Reddit Sans"/>
              <a:ea typeface="Reddit Sans"/>
            </a:endParaRPr>
          </a:p>
          <a:p>
            <a:pPr algn="l">
              <a:spcBef>
                <a:spcPts val="80"/>
              </a:spcBef>
            </a:pPr>
            <a:r>
              <a:rPr lang="es-ES" sz="780">
                <a:latin typeface="Reddit Sans"/>
                <a:ea typeface="Reddit Sans"/>
              </a:rPr>
              <a:t>~80% volumen de tickets entrantes</a:t>
            </a:r>
          </a:p>
        </p:txBody>
      </p:sp>
      <p:sp>
        <p:nvSpPr>
          <p:cNvPr id="225" name="rec225"/>
          <p:cNvSpPr/>
          <p:nvPr/>
        </p:nvSpPr>
        <p:spPr>
          <a:xfrm>
            <a:off x="4716457" y="4243428"/>
            <a:ext cx="418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l"/>
            <a:r>
              <a:rPr lang="es-ES" sz="900" b="1">
                <a:latin typeface="Reddit Sans"/>
                <a:ea typeface="Reddit Sans"/>
              </a:rPr>
              <a:t>Salesforce + </a:t>
            </a:r>
            <a:r>
              <a:rPr lang="es-ES" sz="900" b="1" err="1">
                <a:latin typeface="Reddit Sans"/>
                <a:ea typeface="Reddit Sans"/>
              </a:rPr>
              <a:t>Agentforce</a:t>
            </a:r>
          </a:p>
          <a:p>
            <a:pPr algn="l">
              <a:spcBef>
                <a:spcPts val="80"/>
              </a:spcBef>
            </a:pPr>
            <a:r>
              <a:rPr lang="es-ES" sz="780">
                <a:latin typeface="Reddit Sans"/>
                <a:ea typeface="Reddit Sans"/>
              </a:rPr>
              <a:t>84% de 380K interacciones resueltas autónomamente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DD5CDC0-E9F1-6898-0A54-17E0FAE56016}"/>
              </a:ext>
            </a:extLst>
          </p:cNvPr>
          <p:cNvSpPr txBox="1"/>
          <p:nvPr/>
        </p:nvSpPr>
        <p:spPr>
          <a:xfrm>
            <a:off x="245609" y="4593431"/>
            <a:ext cx="871945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/>
              <a:t>Fuente: </a:t>
            </a:r>
            <a:r>
              <a:rPr lang="es-ES" sz="600">
                <a:solidFill>
                  <a:srgbClr val="2F81F7"/>
                </a:solidFill>
                <a:hlinkClick r:id="rId3"/>
              </a:rPr>
              <a:t>ServiceNow / Robinhood</a:t>
            </a:r>
            <a:r>
              <a:rPr lang="es-ES" sz="600"/>
              <a:t> , </a:t>
            </a:r>
            <a:r>
              <a:rPr lang="es-ES" sz="600">
                <a:solidFill>
                  <a:srgbClr val="2F81F7"/>
                </a:solidFill>
                <a:hlinkClick r:id="rId3"/>
              </a:rPr>
              <a:t>Moveworks / Honeywell</a:t>
            </a:r>
            <a:r>
              <a:rPr lang="es-ES" sz="600"/>
              <a:t> , </a:t>
            </a:r>
            <a:r>
              <a:rPr lang="es-ES" sz="600">
                <a:solidFill>
                  <a:srgbClr val="2F81F7"/>
                </a:solidFill>
                <a:hlinkClick r:id="rId3"/>
              </a:rPr>
              <a:t>Salesforce / Agentforce</a:t>
            </a:r>
            <a:r>
              <a:rPr lang="es-ES" sz="600">
                <a:solidFill>
                  <a:srgbClr val="2F81F7"/>
                </a:solidFill>
              </a:rPr>
              <a:t> , </a:t>
            </a:r>
            <a:r>
              <a:rPr lang="es-ES" sz="600">
                <a:solidFill>
                  <a:srgbClr val="2F81F7"/>
                </a:solidFill>
                <a:hlinkClick r:id="rId4"/>
              </a:rPr>
              <a:t>Dynatrace — Pulse of Agentic AI 2026</a:t>
            </a:r>
            <a:r>
              <a:rPr lang="es-ES" sz="600"/>
              <a:t> </a:t>
            </a:r>
          </a:p>
          <a:p>
            <a:r>
              <a:rPr lang="es-ES" sz="600"/>
              <a:t>, </a:t>
            </a:r>
            <a:r>
              <a:rPr lang="es-ES" sz="600">
                <a:latin typeface="Segoe UI"/>
                <a:cs typeface="Segoe UI"/>
                <a:hlinkClick r:id="rId5"/>
              </a:rPr>
              <a:t>https://www.iso.org/standard/42001</a:t>
            </a:r>
            <a:r>
              <a:rPr lang="es-ES" sz="600"/>
              <a:t> , </a:t>
            </a:r>
            <a:r>
              <a:rPr lang="es-ES" sz="600">
                <a:latin typeface="Segoe UI"/>
                <a:cs typeface="Segoe UI"/>
                <a:hlinkClick r:id="rId6"/>
              </a:rPr>
              <a:t>https://www.siit.io/blog/benefits-of-outsourcing-help-desk-services  </a:t>
            </a:r>
            <a:r>
              <a:rPr lang="es-ES" sz="600">
                <a:latin typeface="Segoe UI"/>
                <a:cs typeface="Segoe UI"/>
              </a:rPr>
              <a:t>,</a:t>
            </a:r>
            <a:r>
              <a:rPr lang="es-ES" sz="600"/>
              <a:t> </a:t>
            </a:r>
            <a:r>
              <a:rPr lang="es-ES" sz="600">
                <a:latin typeface="Segoe UI"/>
                <a:cs typeface="Segoe UI"/>
                <a:hlinkClick r:id="rId7"/>
              </a:rPr>
              <a:t>https://www.superfinanciera.gov.co/publicaciones/10116081/finanzas-abiertas-obligatorias-impulsaran-el-desarrollo-del-sistema-y-la-inclusion-financiera-en-el-pais/</a:t>
            </a:r>
            <a:r>
              <a:rPr lang="es-ES" sz="600"/>
              <a:t>, </a:t>
            </a:r>
            <a:r>
              <a:rPr lang="es-ES" sz="600">
                <a:latin typeface="Segoe UI"/>
                <a:cs typeface="Segoe UI"/>
                <a:hlinkClick r:id="rId8"/>
              </a:rPr>
              <a:t>https://www.marketreportsworld.com/</a:t>
            </a:r>
            <a:endParaRPr lang="es-ES" sz="800"/>
          </a:p>
        </p:txBody>
      </p:sp>
      <p:sp>
        <p:nvSpPr>
          <p:cNvPr id="22" name="rec218">
            <a:extLst>
              <a:ext uri="{FF2B5EF4-FFF2-40B4-BE49-F238E27FC236}">
                <a16:creationId xmlns:a16="http://schemas.microsoft.com/office/drawing/2014/main" id="{212D5787-53B2-E9AD-9B6E-A295D894C870}"/>
              </a:ext>
            </a:extLst>
          </p:cNvPr>
          <p:cNvSpPr/>
          <p:nvPr/>
        </p:nvSpPr>
        <p:spPr>
          <a:xfrm>
            <a:off x="4689243" y="2524043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 lnSpcReduction="10000"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" name="rec219">
            <a:extLst>
              <a:ext uri="{FF2B5EF4-FFF2-40B4-BE49-F238E27FC236}">
                <a16:creationId xmlns:a16="http://schemas.microsoft.com/office/drawing/2014/main" id="{F42B0093-4E78-FF55-D070-216DBD5DD605}"/>
              </a:ext>
            </a:extLst>
          </p:cNvPr>
          <p:cNvSpPr/>
          <p:nvPr/>
        </p:nvSpPr>
        <p:spPr>
          <a:xfrm>
            <a:off x="4689242" y="2529486"/>
            <a:ext cx="2512801" cy="294558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63% Regulatorios</a:t>
            </a:r>
          </a:p>
        </p:txBody>
      </p:sp>
      <p:sp>
        <p:nvSpPr>
          <p:cNvPr id="24" name="rec220">
            <a:extLst>
              <a:ext uri="{FF2B5EF4-FFF2-40B4-BE49-F238E27FC236}">
                <a16:creationId xmlns:a16="http://schemas.microsoft.com/office/drawing/2014/main" id="{53899979-C7FF-7F28-AC8B-216A44B0AC25}"/>
              </a:ext>
            </a:extLst>
          </p:cNvPr>
          <p:cNvSpPr/>
          <p:nvPr/>
        </p:nvSpPr>
        <p:spPr>
          <a:xfrm>
            <a:off x="4689243" y="2894043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 lnSpcReduction="10000"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5" name="rec221">
            <a:extLst>
              <a:ext uri="{FF2B5EF4-FFF2-40B4-BE49-F238E27FC236}">
                <a16:creationId xmlns:a16="http://schemas.microsoft.com/office/drawing/2014/main" id="{E3E155CB-A915-0568-015D-7B0F64D7B4CF}"/>
              </a:ext>
            </a:extLst>
          </p:cNvPr>
          <p:cNvSpPr/>
          <p:nvPr/>
        </p:nvSpPr>
        <p:spPr>
          <a:xfrm>
            <a:off x="4705571" y="2894043"/>
            <a:ext cx="2726386" cy="310885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68% Barrera de entrada: Cambio de proveedor</a:t>
            </a:r>
          </a:p>
        </p:txBody>
      </p:sp>
    </p:spTree>
    <p:extLst>
      <p:ext uri="{BB962C8B-B14F-4D97-AF65-F5344CB8AC3E}">
        <p14:creationId xmlns:p14="http://schemas.microsoft.com/office/powerpoint/2010/main" val="13907787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16C00-F63D-59BE-9C91-40270F2E2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CE8F5D-9C69-D5D7-AB68-3356A36A3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Roadmap de </a:t>
            </a:r>
            <a:r>
              <a:rPr lang="en-US" sz="1800" err="1"/>
              <a:t>madurez</a:t>
            </a:r>
            <a:r>
              <a:rPr lang="en-US" sz="1800"/>
              <a:t> y barreras de </a:t>
            </a:r>
            <a:r>
              <a:rPr lang="en-US" sz="1800" err="1"/>
              <a:t>adopción</a:t>
            </a:r>
            <a:r>
              <a:rPr lang="en-US" sz="1800"/>
              <a:t> de la IA</a:t>
            </a:r>
            <a:endParaRPr lang="es-ES" sz="1800" err="1"/>
          </a:p>
        </p:txBody>
      </p:sp>
      <p:sp>
        <p:nvSpPr>
          <p:cNvPr id="5" name="src">
            <a:extLst>
              <a:ext uri="{FF2B5EF4-FFF2-40B4-BE49-F238E27FC236}">
                <a16:creationId xmlns:a16="http://schemas.microsoft.com/office/drawing/2014/main" id="{B9FE5455-EAB1-C0EF-45B4-625E33B5D925}"/>
              </a:ext>
            </a:extLst>
          </p:cNvPr>
          <p:cNvSpPr txBox="1">
            <a:spLocks noGrp="1"/>
          </p:cNvSpPr>
          <p:nvPr/>
        </p:nvSpPr>
        <p:spPr>
          <a:xfrm>
            <a:off x="320040" y="4658215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700">
                <a:solidFill>
                  <a:srgbClr val="6B7280"/>
                </a:solidFill>
                <a:latin typeface="Calibri"/>
              </a:rPr>
              <a:t>Fuente: </a:t>
            </a:r>
            <a:r>
              <a:rPr lang="es-ES" sz="700">
                <a:solidFill>
                  <a:srgbClr val="2F81F7"/>
                </a:solidFill>
                <a:hlinkClick r:id="rId2"/>
              </a:rPr>
              <a:t>Brilo AI (vía G2/OneReach.ai)</a:t>
            </a:r>
            <a:r>
              <a:rPr lang="es-ES" sz="700"/>
              <a:t> , </a:t>
            </a:r>
            <a:r>
              <a:rPr lang="es-ES" sz="700">
                <a:solidFill>
                  <a:srgbClr val="2F81F7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Brilo AI (vía </a:t>
            </a:r>
            <a:r>
              <a:rPr lang="es-ES" sz="700">
                <a:solidFill>
                  <a:srgbClr val="2F81F7"/>
                </a:solidFill>
                <a:hlinkClick r:id="rId2"/>
              </a:rPr>
              <a:t>Digital Applied</a:t>
            </a:r>
            <a:r>
              <a:rPr lang="es-ES" sz="700">
                <a:solidFill>
                  <a:srgbClr val="2F81F7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</a:t>
            </a:r>
            <a:r>
              <a:rPr lang="es-ES" sz="700"/>
              <a:t> , </a:t>
            </a:r>
            <a:r>
              <a:rPr lang="es-ES" sz="700">
                <a:solidFill>
                  <a:srgbClr val="2F81F7"/>
                </a:solidFill>
                <a:hlinkClick r:id="rId2"/>
              </a:rPr>
              <a:t>Gartner, vía Brilo AI</a:t>
            </a:r>
            <a:r>
              <a:rPr lang="es-ES" sz="700">
                <a:solidFill>
                  <a:srgbClr val="2F81F7"/>
                </a:solidFill>
              </a:rPr>
              <a:t> , </a:t>
            </a:r>
            <a:r>
              <a:rPr lang="es-ES" sz="700">
                <a:solidFill>
                  <a:srgbClr val="2F81F7"/>
                </a:solidFill>
                <a:hlinkClick r:id="rId3"/>
              </a:rPr>
              <a:t>Dynatrace — Pulse of Agentic AI 2026</a:t>
            </a:r>
            <a:r>
              <a:rPr lang="es-ES" sz="700"/>
              <a:t> </a:t>
            </a:r>
          </a:p>
          <a:p>
            <a:pPr algn="l"/>
            <a:endParaRPr lang="es-ES" sz="750">
              <a:solidFill>
                <a:srgbClr val="6B7280"/>
              </a:solidFill>
              <a:highlight>
                <a:srgbClr val="FFFF00"/>
              </a:highlight>
              <a:latin typeface="Calibri"/>
            </a:endParaRPr>
          </a:p>
        </p:txBody>
      </p:sp>
      <p:sp>
        <p:nvSpPr>
          <p:cNvPr id="11" name="Flecha: a la derecha 10">
            <a:extLst>
              <a:ext uri="{FF2B5EF4-FFF2-40B4-BE49-F238E27FC236}">
                <a16:creationId xmlns:a16="http://schemas.microsoft.com/office/drawing/2014/main" id="{B7AE3DE0-FDCD-5BDE-EA95-EBEEDA72441F}"/>
              </a:ext>
            </a:extLst>
          </p:cNvPr>
          <p:cNvSpPr/>
          <p:nvPr/>
        </p:nvSpPr>
        <p:spPr>
          <a:xfrm>
            <a:off x="997565" y="1371721"/>
            <a:ext cx="7043991" cy="164724"/>
          </a:xfrm>
          <a:prstGeom prst="rightArrow">
            <a:avLst/>
          </a:prstGeom>
          <a:solidFill>
            <a:srgbClr val="CBACE3"/>
          </a:solidFill>
          <a:ln>
            <a:solidFill>
              <a:srgbClr val="CBAC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endParaRPr lang="es-ES"/>
          </a:p>
        </p:txBody>
      </p:sp>
      <p:sp>
        <p:nvSpPr>
          <p:cNvPr id="15" name="Circle0">
            <a:extLst>
              <a:ext uri="{FF2B5EF4-FFF2-40B4-BE49-F238E27FC236}">
                <a16:creationId xmlns:a16="http://schemas.microsoft.com/office/drawing/2014/main" id="{1DD7BEF3-62E3-F22A-B657-21B4AB393174}"/>
              </a:ext>
            </a:extLst>
          </p:cNvPr>
          <p:cNvSpPr/>
          <p:nvPr/>
        </p:nvSpPr>
        <p:spPr>
          <a:xfrm>
            <a:off x="533671" y="2035900"/>
            <a:ext cx="1595913" cy="616200"/>
          </a:xfrm>
          <a:prstGeom prst="ellipse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1000" b="1">
                <a:latin typeface="Reddit Sans"/>
                <a:ea typeface="Reddit Sans"/>
              </a:rPr>
              <a:t>Fase de Automatización Cognitiva </a:t>
            </a:r>
            <a:endParaRPr lang="es-ES" sz="1000">
              <a:ea typeface="Reddit Sans"/>
            </a:endParaRPr>
          </a:p>
          <a:p>
            <a:pPr algn="ctr"/>
            <a:r>
              <a:rPr lang="en-US" sz="1000" b="1">
                <a:latin typeface="Reddit Sans"/>
                <a:ea typeface="Reddit Sans"/>
              </a:rPr>
              <a:t>2025</a:t>
            </a:r>
            <a:endParaRPr lang="es-ES" sz="1000"/>
          </a:p>
        </p:txBody>
      </p:sp>
      <p:sp>
        <p:nvSpPr>
          <p:cNvPr id="19" name="Circle1">
            <a:extLst>
              <a:ext uri="{FF2B5EF4-FFF2-40B4-BE49-F238E27FC236}">
                <a16:creationId xmlns:a16="http://schemas.microsoft.com/office/drawing/2014/main" id="{C3D3155B-9B9B-DF9C-1572-ED5EA03E08E6}"/>
              </a:ext>
            </a:extLst>
          </p:cNvPr>
          <p:cNvSpPr/>
          <p:nvPr/>
        </p:nvSpPr>
        <p:spPr>
          <a:xfrm>
            <a:off x="2191514" y="2014129"/>
            <a:ext cx="1595913" cy="616200"/>
          </a:xfrm>
          <a:prstGeom prst="ellipse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1000" b="1" err="1">
                <a:latin typeface="Reddit Sans"/>
                <a:ea typeface="Reddit Sans"/>
              </a:rPr>
              <a:t>Orquestación</a:t>
            </a:r>
            <a:r>
              <a:rPr lang="en-US" sz="1000" b="1">
                <a:latin typeface="Reddit Sans"/>
                <a:ea typeface="Reddit Sans"/>
              </a:rPr>
              <a:t> </a:t>
            </a:r>
            <a:endParaRPr lang="es-ES" sz="1000">
              <a:ea typeface="Reddit Sans"/>
            </a:endParaRPr>
          </a:p>
          <a:p>
            <a:pPr algn="ctr"/>
            <a:r>
              <a:rPr lang="en-US" sz="1000" b="1" err="1">
                <a:latin typeface="Reddit Sans"/>
                <a:ea typeface="Reddit Sans"/>
              </a:rPr>
              <a:t>Multiagente</a:t>
            </a:r>
            <a:r>
              <a:rPr lang="en-US" sz="1000" b="1">
                <a:latin typeface="Reddit Sans"/>
                <a:ea typeface="Reddit Sans"/>
              </a:rPr>
              <a:t> </a:t>
            </a:r>
            <a:endParaRPr lang="es-ES" sz="1000">
              <a:ea typeface="Reddit Sans"/>
            </a:endParaRPr>
          </a:p>
          <a:p>
            <a:pPr algn="ctr"/>
            <a:r>
              <a:rPr lang="en-US" sz="1000" b="1">
                <a:latin typeface="Reddit Sans"/>
                <a:ea typeface="Reddit Sans"/>
              </a:rPr>
              <a:t>2026</a:t>
            </a:r>
            <a:r>
              <a:rPr lang="en-US" sz="1000">
                <a:latin typeface="Reddit Sans"/>
                <a:ea typeface="Reddit Sans"/>
              </a:rPr>
              <a:t> </a:t>
            </a:r>
            <a:endParaRPr lang="es-ES" sz="1000"/>
          </a:p>
        </p:txBody>
      </p:sp>
      <p:sp>
        <p:nvSpPr>
          <p:cNvPr id="23" name="Circle2">
            <a:extLst>
              <a:ext uri="{FF2B5EF4-FFF2-40B4-BE49-F238E27FC236}">
                <a16:creationId xmlns:a16="http://schemas.microsoft.com/office/drawing/2014/main" id="{CDDEBF7A-0E3A-4780-706B-B7963524973E}"/>
              </a:ext>
            </a:extLst>
          </p:cNvPr>
          <p:cNvSpPr/>
          <p:nvPr/>
        </p:nvSpPr>
        <p:spPr>
          <a:xfrm>
            <a:off x="3952771" y="2041343"/>
            <a:ext cx="1595913" cy="616200"/>
          </a:xfrm>
          <a:prstGeom prst="ellipse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1000" b="1" err="1">
                <a:latin typeface="Reddit Sans"/>
                <a:ea typeface="Reddit Sans"/>
              </a:rPr>
              <a:t>Operación</a:t>
            </a:r>
            <a:r>
              <a:rPr lang="en-US" sz="1000" b="1">
                <a:latin typeface="Reddit Sans"/>
                <a:ea typeface="Reddit Sans"/>
              </a:rPr>
              <a:t> </a:t>
            </a:r>
            <a:endParaRPr lang="es-ES" sz="1000">
              <a:ea typeface="Reddit Sans"/>
            </a:endParaRPr>
          </a:p>
          <a:p>
            <a:pPr algn="ctr"/>
            <a:r>
              <a:rPr lang="en-US" sz="1000" b="1" err="1">
                <a:latin typeface="Reddit Sans"/>
                <a:ea typeface="Reddit Sans"/>
              </a:rPr>
              <a:t>Autónoma</a:t>
            </a:r>
            <a:r>
              <a:rPr lang="en-US" sz="1000" b="1">
                <a:latin typeface="Reddit Sans"/>
                <a:ea typeface="Reddit Sans"/>
              </a:rPr>
              <a:t> </a:t>
            </a:r>
            <a:endParaRPr lang="es-ES" sz="1000">
              <a:ea typeface="Reddit Sans"/>
            </a:endParaRPr>
          </a:p>
          <a:p>
            <a:pPr algn="ctr"/>
            <a:r>
              <a:rPr lang="en-US" sz="1000" b="1">
                <a:latin typeface="Reddit Sans"/>
                <a:ea typeface="Reddit Sans"/>
              </a:rPr>
              <a:t>2027</a:t>
            </a:r>
            <a:r>
              <a:rPr lang="en-US" sz="1000">
                <a:latin typeface="Reddit Sans"/>
                <a:ea typeface="Reddit Sans"/>
              </a:rPr>
              <a:t> </a:t>
            </a:r>
            <a:endParaRPr lang="es-ES" sz="1000"/>
          </a:p>
        </p:txBody>
      </p:sp>
      <p:sp>
        <p:nvSpPr>
          <p:cNvPr id="27" name="Circle3">
            <a:extLst>
              <a:ext uri="{FF2B5EF4-FFF2-40B4-BE49-F238E27FC236}">
                <a16:creationId xmlns:a16="http://schemas.microsoft.com/office/drawing/2014/main" id="{E6AD0B4F-7733-F61D-6D2A-FBD943A9FD58}"/>
              </a:ext>
            </a:extLst>
          </p:cNvPr>
          <p:cNvSpPr/>
          <p:nvPr/>
        </p:nvSpPr>
        <p:spPr>
          <a:xfrm>
            <a:off x="5719472" y="2035900"/>
            <a:ext cx="1595913" cy="616200"/>
          </a:xfrm>
          <a:prstGeom prst="ellipse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1000" b="1">
                <a:latin typeface="Reddit Sans"/>
                <a:ea typeface="Reddit Sans"/>
              </a:rPr>
              <a:t>Barreras de </a:t>
            </a:r>
            <a:r>
              <a:rPr lang="en-US" sz="1000" b="1" err="1">
                <a:latin typeface="Reddit Sans"/>
                <a:ea typeface="Reddit Sans"/>
              </a:rPr>
              <a:t>Adopción</a:t>
            </a:r>
            <a:r>
              <a:rPr lang="en-US" sz="1000">
                <a:latin typeface="Reddit Sans"/>
                <a:ea typeface="Reddit Sans"/>
              </a:rPr>
              <a:t> </a:t>
            </a:r>
            <a:endParaRPr lang="es-ES" sz="1000">
              <a:latin typeface="Reddit Sans"/>
              <a:ea typeface="Reddit Sans"/>
            </a:endParaRPr>
          </a:p>
          <a:p>
            <a:pPr algn="ctr"/>
            <a:endParaRPr lang="es-ES" sz="1000" b="1">
              <a:latin typeface="Reddit Sans"/>
              <a:ea typeface="Reddit Sans"/>
            </a:endParaRPr>
          </a:p>
        </p:txBody>
      </p:sp>
      <p:sp>
        <p:nvSpPr>
          <p:cNvPr id="29" name="Content Placeholder 6">
            <a:extLst>
              <a:ext uri="{FF2B5EF4-FFF2-40B4-BE49-F238E27FC236}">
                <a16:creationId xmlns:a16="http://schemas.microsoft.com/office/drawing/2014/main" id="{8754AB3E-19FA-5ED0-DCBD-D9CD9E020CD8}"/>
              </a:ext>
            </a:extLst>
          </p:cNvPr>
          <p:cNvSpPr>
            <a:spLocks noGrp="1"/>
          </p:cNvSpPr>
          <p:nvPr/>
        </p:nvSpPr>
        <p:spPr>
          <a:xfrm>
            <a:off x="602850" y="2639133"/>
            <a:ext cx="1519864" cy="107289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28600" marR="0" lvl="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2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685800" marR="0" lvl="1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600" b="0" i="0" u="none" strike="noStrike" kern="1200" cap="none">
                <a:solidFill>
                  <a:schemeClr val="tx2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1143000" marR="0" lvl="2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400" b="0" i="0" u="none" strike="noStrike" kern="1200" cap="none">
                <a:solidFill>
                  <a:schemeClr val="tx2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600200" marR="0" lvl="3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400" b="0" i="0" u="none" strike="noStrike" kern="1200" cap="none">
                <a:solidFill>
                  <a:schemeClr val="tx2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2057400" marR="0" lvl="4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400" b="0" i="0" u="none" strike="noStrike" kern="1200" cap="none">
                <a:solidFill>
                  <a:schemeClr val="tx2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2514600" marR="0" lvl="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971800" marR="0" lvl="6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429000" marR="0" lvl="7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3886200" marR="0" lvl="8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0" lvl="0" indent="0" algn="ctr">
              <a:lnSpc>
                <a:spcPct val="100000"/>
              </a:lnSpc>
              <a:spcBef>
                <a:spcPts val="2500"/>
              </a:spcBef>
              <a:buFont typeface="Arial" panose="020B0604020202020204" pitchFamily="34" charset="0"/>
              <a:buNone/>
            </a:pPr>
            <a:endParaRPr lang="en-US" sz="1000" b="1">
              <a:solidFill>
                <a:srgbClr val="7F7F7F"/>
              </a:solidFill>
              <a:latin typeface="Reddit Sans"/>
              <a:ea typeface="Reddit Sans"/>
              <a:cs typeface="Arial"/>
            </a:endParaRPr>
          </a:p>
          <a:p>
            <a:pPr marL="0" lvl="1" indent="0" algn="ctr">
              <a:lnSpc>
                <a:spcPct val="100000"/>
              </a:lnSpc>
              <a:buNone/>
            </a:pP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En 2025, </a:t>
            </a:r>
            <a:endParaRPr lang="en-US" sz="1000">
              <a:solidFill>
                <a:srgbClr val="7F7F7F"/>
              </a:solidFill>
              <a:latin typeface="Reddit Sans"/>
              <a:ea typeface="Reddit Sans"/>
              <a:cs typeface="Arial"/>
            </a:endParaRPr>
          </a:p>
          <a:p>
            <a:pPr marL="0" lvl="1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la IA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apoya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agentes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humanos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con chatbots y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clasificación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automática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,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acelerando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tareas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sin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autonomía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completa.</a:t>
            </a:r>
            <a:endParaRPr lang="en-US" sz="1000">
              <a:solidFill>
                <a:srgbClr val="7F7F7F"/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31" name="CuadroTexto 8">
            <a:extLst>
              <a:ext uri="{FF2B5EF4-FFF2-40B4-BE49-F238E27FC236}">
                <a16:creationId xmlns:a16="http://schemas.microsoft.com/office/drawing/2014/main" id="{29972A88-FB76-361B-345C-AF637285EECF}"/>
              </a:ext>
            </a:extLst>
          </p:cNvPr>
          <p:cNvSpPr txBox="1"/>
          <p:nvPr/>
        </p:nvSpPr>
        <p:spPr>
          <a:xfrm>
            <a:off x="2226128" y="2490107"/>
            <a:ext cx="1464129" cy="1369606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rtl="0"/>
            <a:r>
              <a:rPr lang="en-US" sz="1000" b="0" i="0">
                <a:solidFill>
                  <a:srgbClr val="7F7F7F"/>
                </a:solidFill>
                <a:latin typeface="Reddit Sans"/>
                <a:ea typeface="Reddit Sans"/>
                <a:cs typeface="Segoe UI"/>
              </a:rPr>
              <a:t>​</a:t>
            </a:r>
          </a:p>
          <a:p>
            <a:pPr algn="ctr" rtl="0"/>
            <a:endParaRPr lang="en-US" sz="1000" b="0" i="0">
              <a:solidFill>
                <a:srgbClr val="7F7F7F"/>
              </a:solidFill>
              <a:latin typeface="Reddit Sans"/>
              <a:ea typeface="Reddit Sans"/>
              <a:cs typeface="Segoe UI"/>
            </a:endParaRPr>
          </a:p>
          <a:p>
            <a:pPr algn="ctr"/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En 2026, </a:t>
            </a:r>
          </a:p>
          <a:p>
            <a:pPr algn="ctr"/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sistemas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coordinan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flujos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completos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con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supervisión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humana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validando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excepciones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y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decisiones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críticas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.​</a:t>
            </a:r>
            <a:endParaRPr lang="en-US">
              <a:cs typeface="+mn-cs"/>
            </a:endParaRPr>
          </a:p>
          <a:p>
            <a:pPr algn="ctr"/>
            <a:endParaRPr lang="es-ES" sz="900" kern="1200">
              <a:solidFill>
                <a:srgbClr val="7F7F7F"/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33" name="CuadroTexto 16">
            <a:extLst>
              <a:ext uri="{FF2B5EF4-FFF2-40B4-BE49-F238E27FC236}">
                <a16:creationId xmlns:a16="http://schemas.microsoft.com/office/drawing/2014/main" id="{27BB7B74-54D9-2EFB-FDDD-7C8E6210A0F4}"/>
              </a:ext>
            </a:extLst>
          </p:cNvPr>
          <p:cNvSpPr txBox="1"/>
          <p:nvPr/>
        </p:nvSpPr>
        <p:spPr>
          <a:xfrm>
            <a:off x="3940628" y="2637066"/>
            <a:ext cx="1801586" cy="938719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rtl="0"/>
            <a:endParaRPr lang="en-US" sz="1000">
              <a:solidFill>
                <a:srgbClr val="7F7F7F"/>
              </a:solidFill>
              <a:latin typeface="Reddit Sans"/>
              <a:ea typeface="Reddit Sans"/>
              <a:cs typeface="Segoe UI"/>
            </a:endParaRPr>
          </a:p>
          <a:p>
            <a:pPr algn="ctr"/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En 2027, la IA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detecta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anomalías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, auto-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remedia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y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previene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incidentes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, con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intervención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humana solo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en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casos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críticos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.​​</a:t>
            </a:r>
          </a:p>
        </p:txBody>
      </p:sp>
      <p:sp>
        <p:nvSpPr>
          <p:cNvPr id="35" name="CuadroTexto 17">
            <a:extLst>
              <a:ext uri="{FF2B5EF4-FFF2-40B4-BE49-F238E27FC236}">
                <a16:creationId xmlns:a16="http://schemas.microsoft.com/office/drawing/2014/main" id="{A87FC08A-F3DF-C97C-0305-D8740C80E197}"/>
              </a:ext>
            </a:extLst>
          </p:cNvPr>
          <p:cNvSpPr txBox="1"/>
          <p:nvPr/>
        </p:nvSpPr>
        <p:spPr>
          <a:xfrm>
            <a:off x="5807527" y="2724151"/>
            <a:ext cx="1567544" cy="92333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Costos de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cambio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,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regulación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,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seguridad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,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complejidad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técnica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y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falta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de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talento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limitan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la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adopción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plena de IA.​</a:t>
            </a:r>
            <a:endParaRPr lang="es-ES" sz="900" kern="1200">
              <a:solidFill>
                <a:srgbClr val="7F7F7F"/>
              </a:solidFill>
              <a:latin typeface="Reddit Sans"/>
              <a:ea typeface="Reddit Sans"/>
              <a:cs typeface="+mn-cs"/>
            </a:endParaRPr>
          </a:p>
          <a:p>
            <a:pPr algn="ctr"/>
            <a:endParaRPr lang="es-ES" sz="900" kern="1200">
              <a:solidFill>
                <a:srgbClr val="7F7F7F"/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81991DB3-AFD0-042D-91E8-2F2B1EA34017}"/>
              </a:ext>
            </a:extLst>
          </p:cNvPr>
          <p:cNvSpPr/>
          <p:nvPr/>
        </p:nvSpPr>
        <p:spPr>
          <a:xfrm>
            <a:off x="814387" y="890715"/>
            <a:ext cx="1071563" cy="1071563"/>
          </a:xfrm>
          <a:prstGeom prst="ellipse">
            <a:avLst/>
          </a:prstGeom>
          <a:solidFill>
            <a:srgbClr val="FFD9AD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A143DC11-952E-FC0A-4FD3-4E633689BFD8}"/>
              </a:ext>
            </a:extLst>
          </p:cNvPr>
          <p:cNvSpPr/>
          <p:nvPr/>
        </p:nvSpPr>
        <p:spPr>
          <a:xfrm>
            <a:off x="2441121" y="956029"/>
            <a:ext cx="1071563" cy="1071563"/>
          </a:xfrm>
          <a:prstGeom prst="ellipse">
            <a:avLst/>
          </a:prstGeom>
          <a:solidFill>
            <a:srgbClr val="FEC088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4" name="Image 0">
            <a:extLst>
              <a:ext uri="{FF2B5EF4-FFF2-40B4-BE49-F238E27FC236}">
                <a16:creationId xmlns:a16="http://schemas.microsoft.com/office/drawing/2014/main" id="{BBDD3E90-AA27-C5BD-05A3-ECC18F7700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562" y="1162792"/>
            <a:ext cx="700088" cy="585788"/>
          </a:xfrm>
          <a:prstGeom prst="rect">
            <a:avLst/>
          </a:prstGeom>
        </p:spPr>
      </p:pic>
      <p:pic>
        <p:nvPicPr>
          <p:cNvPr id="17" name="Image 1">
            <a:extLst>
              <a:ext uri="{FF2B5EF4-FFF2-40B4-BE49-F238E27FC236}">
                <a16:creationId xmlns:a16="http://schemas.microsoft.com/office/drawing/2014/main" id="{78651700-F166-BDE1-27F3-04346ADE29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63422" y="1246945"/>
            <a:ext cx="428625" cy="485775"/>
          </a:xfrm>
          <a:prstGeom prst="rect">
            <a:avLst/>
          </a:prstGeom>
        </p:spPr>
      </p:pic>
      <p:sp>
        <p:nvSpPr>
          <p:cNvPr id="18" name="Shape 5">
            <a:extLst>
              <a:ext uri="{FF2B5EF4-FFF2-40B4-BE49-F238E27FC236}">
                <a16:creationId xmlns:a16="http://schemas.microsoft.com/office/drawing/2014/main" id="{D2348FA2-3D7B-94EC-2CD3-C74B0F7BDAA9}"/>
              </a:ext>
            </a:extLst>
          </p:cNvPr>
          <p:cNvSpPr/>
          <p:nvPr/>
        </p:nvSpPr>
        <p:spPr>
          <a:xfrm>
            <a:off x="4220935" y="912486"/>
            <a:ext cx="1071563" cy="1071563"/>
          </a:xfrm>
          <a:prstGeom prst="ellipse">
            <a:avLst/>
          </a:prstGeom>
          <a:solidFill>
            <a:srgbClr val="FEC088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1" name="Shape 5">
            <a:extLst>
              <a:ext uri="{FF2B5EF4-FFF2-40B4-BE49-F238E27FC236}">
                <a16:creationId xmlns:a16="http://schemas.microsoft.com/office/drawing/2014/main" id="{FC3B3C23-5397-DEF7-1642-3BF699658397}"/>
              </a:ext>
            </a:extLst>
          </p:cNvPr>
          <p:cNvSpPr/>
          <p:nvPr/>
        </p:nvSpPr>
        <p:spPr>
          <a:xfrm>
            <a:off x="6087835" y="945143"/>
            <a:ext cx="1071563" cy="1071563"/>
          </a:xfrm>
          <a:prstGeom prst="ellipse">
            <a:avLst/>
          </a:prstGeom>
          <a:solidFill>
            <a:srgbClr val="FEC088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4" name="Gráfico 23" descr="Inteligencia artificial contorno">
            <a:extLst>
              <a:ext uri="{FF2B5EF4-FFF2-40B4-BE49-F238E27FC236}">
                <a16:creationId xmlns:a16="http://schemas.microsoft.com/office/drawing/2014/main" id="{35C6A644-8197-FE53-8CA5-E1E2C4BDF8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35928" y="1085850"/>
            <a:ext cx="674915" cy="674915"/>
          </a:xfrm>
          <a:prstGeom prst="rect">
            <a:avLst/>
          </a:prstGeom>
        </p:spPr>
      </p:pic>
      <p:pic>
        <p:nvPicPr>
          <p:cNvPr id="30" name="Gráfico 29" descr="Cerebro izquierdo y derecho contorno">
            <a:extLst>
              <a:ext uri="{FF2B5EF4-FFF2-40B4-BE49-F238E27FC236}">
                <a16:creationId xmlns:a16="http://schemas.microsoft.com/office/drawing/2014/main" id="{06DE0EC2-F6E6-034B-E2FD-003F1AADB8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59286" y="1123950"/>
            <a:ext cx="723900" cy="729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7402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A010FC-0026-B98C-378C-52D6BE416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">
            <a:extLst>
              <a:ext uri="{FF2B5EF4-FFF2-40B4-BE49-F238E27FC236}">
                <a16:creationId xmlns:a16="http://schemas.microsoft.com/office/drawing/2014/main" id="{4C41A606-C612-AD34-FCE1-E59441EAB7F0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Colombia </a:t>
            </a:r>
            <a:r>
              <a:rPr lang="es-ES" sz="1650" b="1" err="1">
                <a:solidFill>
                  <a:srgbClr val="0C2362"/>
                </a:solidFill>
                <a:latin typeface="Reddit Sans"/>
                <a:ea typeface="Reddit Sans"/>
              </a:rPr>
              <a:t>abre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lang="es-ES" sz="1650" b="1" err="1">
                <a:solidFill>
                  <a:srgbClr val="0C2362"/>
                </a:solidFill>
                <a:latin typeface="Reddit Sans"/>
                <a:ea typeface="Reddit Sans"/>
              </a:rPr>
              <a:t>una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lang="es-ES" sz="1650" b="1" err="1">
                <a:solidFill>
                  <a:srgbClr val="0C2362"/>
                </a:solidFill>
                <a:latin typeface="Reddit Sans"/>
                <a:ea typeface="Reddit Sans"/>
              </a:rPr>
              <a:t>ventana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 para </a:t>
            </a:r>
            <a:r>
              <a:rPr lang="es-ES" sz="1650" b="1" err="1">
                <a:solidFill>
                  <a:srgbClr val="0C2362"/>
                </a:solidFill>
                <a:latin typeface="Reddit Sans"/>
                <a:ea typeface="Reddit Sans"/>
              </a:rPr>
              <a:t>industrializar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 el </a:t>
            </a:r>
            <a:r>
              <a:rPr lang="es-ES" sz="1650" b="1" err="1">
                <a:solidFill>
                  <a:srgbClr val="0C2362"/>
                </a:solidFill>
                <a:latin typeface="Reddit Sans"/>
                <a:ea typeface="Reddit Sans"/>
              </a:rPr>
              <a:t>servicio</a:t>
            </a:r>
            <a:endParaRPr lang="es-ES" sz="1650" b="1">
              <a:solidFill>
                <a:srgbClr val="0C2362"/>
              </a:solidFill>
              <a:latin typeface="Reddit Sans"/>
              <a:ea typeface="Reddit Sans"/>
            </a:endParaRP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DB3A4721-9D57-A945-2ED3-3ED7086AA915}"/>
              </a:ext>
            </a:extLst>
          </p:cNvPr>
          <p:cNvSpPr>
            <a:spLocks noGrp="1"/>
          </p:cNvSpPr>
          <p:nvPr/>
        </p:nvSpPr>
        <p:spPr>
          <a:xfrm>
            <a:off x="340179" y="553811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050" b="0">
                <a:solidFill>
                  <a:srgbClr val="9AAEE0"/>
                </a:solidFill>
              </a:defRPr>
            </a:pP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Regulación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,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digitalización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 e IA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elevan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 la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expectativa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 del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cliente</a:t>
            </a:r>
            <a:endParaRPr lang="es-ES" sz="1200" spc="-25" err="1">
              <a:solidFill>
                <a:srgbClr val="595959"/>
              </a:solidFill>
              <a:latin typeface="Reddit Sans"/>
              <a:ea typeface="Reddit Sans"/>
            </a:endParaRPr>
          </a:p>
        </p:txBody>
      </p:sp>
      <p:sp>
        <p:nvSpPr>
          <p:cNvPr id="76" name="CuadroTexto 75">
            <a:extLst>
              <a:ext uri="{FF2B5EF4-FFF2-40B4-BE49-F238E27FC236}">
                <a16:creationId xmlns:a16="http://schemas.microsoft.com/office/drawing/2014/main" id="{A5821A98-D5BD-2733-EEBB-B051423849F2}"/>
              </a:ext>
            </a:extLst>
          </p:cNvPr>
          <p:cNvSpPr txBox="1"/>
          <p:nvPr/>
        </p:nvSpPr>
        <p:spPr>
          <a:xfrm>
            <a:off x="337456" y="4661807"/>
            <a:ext cx="6417128" cy="3539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900">
                <a:highlight>
                  <a:srgbClr val="FFFF00"/>
                </a:highlight>
              </a:rPr>
              <a:t>Fuente: </a:t>
            </a:r>
            <a:r>
              <a:rPr lang="en-US" sz="900">
                <a:highlight>
                  <a:srgbClr val="FFFF00"/>
                </a:highlight>
                <a:hlinkClick r:id="rId3"/>
              </a:rPr>
              <a:t>https://www.superfinanciera.gov.co</a:t>
            </a:r>
            <a:r>
              <a:rPr lang="en-US" sz="900">
                <a:highlight>
                  <a:srgbClr val="FFFF00"/>
                </a:highlight>
              </a:rPr>
              <a:t> , </a:t>
            </a:r>
            <a:r>
              <a:rPr lang="en-US" sz="900">
                <a:highlight>
                  <a:srgbClr val="FFFF00"/>
                </a:highlight>
                <a:hlinkClick r:id="rId4"/>
              </a:rPr>
              <a:t>[</a:t>
            </a:r>
            <a:r>
              <a:rPr lang="en-US" sz="900" err="1">
                <a:highlight>
                  <a:srgbClr val="FFFF00"/>
                </a:highlight>
                <a:hlinkClick r:id="rId4"/>
              </a:rPr>
              <a:t>superfinan</a:t>
            </a:r>
            <a:r>
              <a:rPr lang="en-US" sz="900">
                <a:highlight>
                  <a:srgbClr val="FFFF00"/>
                </a:highlight>
                <a:hlinkClick r:id="rId4"/>
              </a:rPr>
              <a:t>...era.gov.co]</a:t>
            </a:r>
            <a:r>
              <a:rPr lang="en-US" sz="900">
                <a:highlight>
                  <a:srgbClr val="FFFF00"/>
                </a:highlight>
              </a:rPr>
              <a:t> , </a:t>
            </a:r>
            <a:r>
              <a:rPr lang="en-US" sz="900">
                <a:highlight>
                  <a:srgbClr val="FFFF00"/>
                </a:highlight>
                <a:hlinkClick r:id="rId5"/>
              </a:rPr>
              <a:t>https://www.iso.org/standard/42001</a:t>
            </a:r>
            <a:r>
              <a:rPr lang="en-US" sz="900">
                <a:highlight>
                  <a:srgbClr val="FFFF00"/>
                </a:highlight>
              </a:rPr>
              <a:t> </a:t>
            </a:r>
            <a:r>
              <a:rPr lang="en-US" sz="900">
                <a:highlight>
                  <a:srgbClr val="FFFF00"/>
                </a:highlight>
                <a:hlinkClick r:id="rId5"/>
              </a:rPr>
              <a:t>[iso.org]</a:t>
            </a:r>
            <a:endParaRPr lang="en-US" sz="900">
              <a:highlight>
                <a:srgbClr val="FFFF00"/>
              </a:highlight>
            </a:endParaRPr>
          </a:p>
          <a:p>
            <a:endParaRPr lang="en-US" sz="800"/>
          </a:p>
        </p:txBody>
      </p:sp>
      <p:sp>
        <p:nvSpPr>
          <p:cNvPr id="101" name="kpiIcon"/>
          <p:cNvSpPr/>
          <p:nvPr/>
        </p:nvSpPr>
        <p:spPr>
          <a:xfrm>
            <a:off x="343000" y="930000"/>
            <a:ext cx="360000" cy="360000"/>
          </a:xfrm>
          <a:prstGeom prst="ellipse">
            <a:avLst/>
          </a:prstGeom>
          <a:solidFill>
            <a:srgbClr val="0C2362"/>
          </a:solidFill>
        </p:spPr>
        <p:txBody>
          <a:bodyPr/>
          <a:lstStyle/>
          <a:p>
            <a:endParaRPr lang="es-ES"/>
          </a:p>
        </p:txBody>
      </p:sp>
      <p:sp>
        <p:nvSpPr>
          <p:cNvPr id="102" name="ic"/>
          <p:cNvSpPr/>
          <p:nvPr/>
        </p:nvSpPr>
        <p:spPr>
          <a:xfrm>
            <a:off x="438000" y="985000"/>
            <a:ext cx="170000" cy="95000"/>
          </a:xfrm>
          <a:prstGeom prst="triangle">
            <a:avLst/>
          </a:prstGeom>
          <a:solidFill>
            <a:srgbClr val="FFFFFF"/>
          </a:solidFill>
        </p:spPr>
        <p:txBody>
          <a:bodyPr/>
          <a:lstStyle/>
          <a:p>
            <a:endParaRPr lang="es-ES"/>
          </a:p>
        </p:txBody>
      </p:sp>
      <p:sp>
        <p:nvSpPr>
          <p:cNvPr id="103" name="ic"/>
          <p:cNvSpPr/>
          <p:nvPr/>
        </p:nvSpPr>
        <p:spPr>
          <a:xfrm>
            <a:off x="435000" y="1090000"/>
            <a:ext cx="176000" cy="30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s-ES"/>
          </a:p>
        </p:txBody>
      </p:sp>
      <p:sp>
        <p:nvSpPr>
          <p:cNvPr id="104" name="txt"/>
          <p:cNvSpPr txBox="1"/>
          <p:nvPr/>
        </p:nvSpPr>
        <p:spPr>
          <a:xfrm>
            <a:off x="773000" y="905000"/>
            <a:ext cx="2262000" cy="40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2400" b="1">
                <a:solidFill>
                  <a:srgbClr val="0C2362"/>
                </a:solidFill>
                <a:latin typeface="Reddit Sans"/>
                <a:ea typeface="Reddit Sans"/>
                <a:cs typeface="Reddit Sans"/>
              </a:rPr>
              <a:t>81%</a:t>
            </a:r>
          </a:p>
        </p:txBody>
      </p:sp>
      <p:sp>
        <p:nvSpPr>
          <p:cNvPr id="105" name="txt"/>
          <p:cNvSpPr txBox="1"/>
          <p:nvPr/>
        </p:nvSpPr>
        <p:spPr>
          <a:xfrm>
            <a:off x="773000" y="1295000"/>
            <a:ext cx="2262000" cy="28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/>
            <a:r>
              <a:rPr lang="es-ES" sz="950">
                <a:solidFill>
                  <a:srgbClr val="595959"/>
                </a:solidFill>
                <a:latin typeface="Reddit Sans"/>
                <a:ea typeface="Reddit Sans"/>
                <a:cs typeface="Reddit Sans"/>
              </a:rPr>
              <a:t>Uso de IA en banca colombiana</a:t>
            </a:r>
          </a:p>
        </p:txBody>
      </p:sp>
      <p:sp>
        <p:nvSpPr>
          <p:cNvPr id="106" name="kpiIcon"/>
          <p:cNvSpPr/>
          <p:nvPr/>
        </p:nvSpPr>
        <p:spPr>
          <a:xfrm>
            <a:off x="3225000" y="930000"/>
            <a:ext cx="360000" cy="360000"/>
          </a:xfrm>
          <a:prstGeom prst="ellipse">
            <a:avLst/>
          </a:prstGeom>
          <a:solidFill>
            <a:srgbClr val="0B4DC4"/>
          </a:solidFill>
        </p:spPr>
        <p:txBody>
          <a:bodyPr/>
          <a:lstStyle/>
          <a:p>
            <a:endParaRPr lang="es-ES"/>
          </a:p>
        </p:txBody>
      </p:sp>
      <p:sp>
        <p:nvSpPr>
          <p:cNvPr id="107" name="ic"/>
          <p:cNvSpPr/>
          <p:nvPr/>
        </p:nvSpPr>
        <p:spPr>
          <a:xfrm>
            <a:off x="3335000" y="985000"/>
            <a:ext cx="140000" cy="190000"/>
          </a:xfrm>
          <a:prstGeom prst="upArrow">
            <a:avLst/>
          </a:prstGeom>
          <a:solidFill>
            <a:srgbClr val="FFFFFF"/>
          </a:solidFill>
        </p:spPr>
        <p:txBody>
          <a:bodyPr/>
          <a:lstStyle/>
          <a:p>
            <a:endParaRPr lang="es-ES"/>
          </a:p>
        </p:txBody>
      </p:sp>
      <p:sp>
        <p:nvSpPr>
          <p:cNvPr id="108" name="txt"/>
          <p:cNvSpPr txBox="1"/>
          <p:nvPr/>
        </p:nvSpPr>
        <p:spPr>
          <a:xfrm>
            <a:off x="3655000" y="905000"/>
            <a:ext cx="2262000" cy="40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2400" b="1">
                <a:solidFill>
                  <a:srgbClr val="0B4DC4"/>
                </a:solidFill>
                <a:latin typeface="Reddit Sans"/>
                <a:ea typeface="Reddit Sans"/>
                <a:cs typeface="Reddit Sans"/>
              </a:rPr>
              <a:t>13.82%</a:t>
            </a:r>
          </a:p>
        </p:txBody>
      </p:sp>
      <p:sp>
        <p:nvSpPr>
          <p:cNvPr id="109" name="txt"/>
          <p:cNvSpPr txBox="1"/>
          <p:nvPr/>
        </p:nvSpPr>
        <p:spPr>
          <a:xfrm>
            <a:off x="3655000" y="1295000"/>
            <a:ext cx="2262000" cy="28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/>
            <a:r>
              <a:rPr lang="es-ES" sz="950">
                <a:solidFill>
                  <a:srgbClr val="595959"/>
                </a:solidFill>
                <a:latin typeface="Reddit Sans"/>
                <a:ea typeface="Reddit Sans"/>
                <a:cs typeface="Reddit Sans"/>
              </a:rPr>
              <a:t>Servicios crecen más rápido que soluciones</a:t>
            </a:r>
          </a:p>
        </p:txBody>
      </p:sp>
      <p:sp>
        <p:nvSpPr>
          <p:cNvPr id="110" name="kpiIcon"/>
          <p:cNvSpPr/>
          <p:nvPr/>
        </p:nvSpPr>
        <p:spPr>
          <a:xfrm>
            <a:off x="6107000" y="930000"/>
            <a:ext cx="360000" cy="360000"/>
          </a:xfrm>
          <a:prstGeom prst="ellipse">
            <a:avLst/>
          </a:prstGeom>
          <a:solidFill>
            <a:srgbClr val="2E8B8D"/>
          </a:solidFill>
        </p:spPr>
        <p:txBody>
          <a:bodyPr/>
          <a:lstStyle/>
          <a:p>
            <a:endParaRPr lang="es-ES"/>
          </a:p>
        </p:txBody>
      </p:sp>
      <p:sp>
        <p:nvSpPr>
          <p:cNvPr id="111" name="ic"/>
          <p:cNvSpPr/>
          <p:nvPr/>
        </p:nvSpPr>
        <p:spPr>
          <a:xfrm rot="8100000">
            <a:off x="6222000" y="985000"/>
            <a:ext cx="140000" cy="150000"/>
          </a:xfrm>
          <a:prstGeom prst="teardrop">
            <a:avLst/>
          </a:prstGeom>
          <a:solidFill>
            <a:srgbClr val="FFFFFF"/>
          </a:solidFill>
        </p:spPr>
        <p:txBody>
          <a:bodyPr/>
          <a:lstStyle/>
          <a:p>
            <a:endParaRPr lang="es-ES"/>
          </a:p>
        </p:txBody>
      </p:sp>
      <p:sp>
        <p:nvSpPr>
          <p:cNvPr id="112" name="txt"/>
          <p:cNvSpPr txBox="1"/>
          <p:nvPr/>
        </p:nvSpPr>
        <p:spPr>
          <a:xfrm>
            <a:off x="6537000" y="905000"/>
            <a:ext cx="2262000" cy="40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2400" b="1">
                <a:solidFill>
                  <a:srgbClr val="2E8B8D"/>
                </a:solidFill>
                <a:latin typeface="Reddit Sans"/>
                <a:ea typeface="Reddit Sans"/>
                <a:cs typeface="Reddit Sans"/>
              </a:rPr>
              <a:t>14.08%</a:t>
            </a:r>
          </a:p>
        </p:txBody>
      </p:sp>
      <p:sp>
        <p:nvSpPr>
          <p:cNvPr id="113" name="txt"/>
          <p:cNvSpPr txBox="1"/>
          <p:nvPr/>
        </p:nvSpPr>
        <p:spPr>
          <a:xfrm>
            <a:off x="6537000" y="1295000"/>
            <a:ext cx="2262000" cy="28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/>
            <a:r>
              <a:rPr lang="es-ES" sz="950">
                <a:solidFill>
                  <a:srgbClr val="595959"/>
                </a:solidFill>
                <a:latin typeface="Reddit Sans"/>
                <a:ea typeface="Reddit Sans"/>
                <a:cs typeface="Reddit Sans"/>
              </a:rPr>
              <a:t>CAGR ITSM Colombia hasta 2031</a:t>
            </a:r>
          </a:p>
        </p:txBody>
      </p:sp>
      <p:sp>
        <p:nvSpPr>
          <p:cNvPr id="116" name="ic"/>
          <p:cNvSpPr/>
          <p:nvPr/>
        </p:nvSpPr>
        <p:spPr>
          <a:xfrm rot="5400000">
            <a:off x="486229" y="1730000"/>
            <a:ext cx="198358" cy="198358"/>
          </a:xfrm>
          <a:prstGeom prst="homePlate">
            <a:avLst/>
          </a:prstGeom>
          <a:solidFill>
            <a:srgbClr val="FFFFFF"/>
          </a:solidFill>
        </p:spPr>
        <p:txBody>
          <a:bodyPr/>
          <a:lstStyle/>
          <a:p>
            <a:endParaRPr lang="es-ES"/>
          </a:p>
        </p:txBody>
      </p:sp>
      <p:sp>
        <p:nvSpPr>
          <p:cNvPr id="117" name="txt"/>
          <p:cNvSpPr txBox="1"/>
          <p:nvPr/>
        </p:nvSpPr>
        <p:spPr>
          <a:xfrm>
            <a:off x="451243" y="1653671"/>
            <a:ext cx="2072000" cy="42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  <a:cs typeface="Reddit Sans"/>
              </a:rPr>
              <a:t>BANCA Y SEGUROS</a:t>
            </a:r>
          </a:p>
        </p:txBody>
      </p:sp>
      <p:sp>
        <p:nvSpPr>
          <p:cNvPr id="118" name="txt"/>
          <p:cNvSpPr txBox="1"/>
          <p:nvPr/>
        </p:nvSpPr>
        <p:spPr>
          <a:xfrm>
            <a:off x="473886" y="2058357"/>
            <a:ext cx="2472000" cy="57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Continuidad transaccional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SFC / SOX, fraude tiempo real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BCP / DRP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SURA y Bancolombia actuales</a:t>
            </a:r>
          </a:p>
        </p:txBody>
      </p:sp>
      <p:sp>
        <p:nvSpPr>
          <p:cNvPr id="122" name="txt"/>
          <p:cNvSpPr txBox="1"/>
          <p:nvPr/>
        </p:nvSpPr>
        <p:spPr>
          <a:xfrm>
            <a:off x="3349571" y="1670000"/>
            <a:ext cx="2072000" cy="42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  <a:cs typeface="Reddit Sans"/>
              </a:rPr>
              <a:t>SALUD (EPS/IPS)</a:t>
            </a:r>
          </a:p>
        </p:txBody>
      </p:sp>
      <p:sp>
        <p:nvSpPr>
          <p:cNvPr id="123" name="txt"/>
          <p:cNvSpPr txBox="1"/>
          <p:nvPr/>
        </p:nvSpPr>
        <p:spPr>
          <a:xfrm>
            <a:off x="3355886" y="2058357"/>
            <a:ext cx="2472000" cy="57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Continuidad asistencial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Historia clínica digital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Trazabilidad y compliance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Minsalud</a:t>
            </a:r>
          </a:p>
        </p:txBody>
      </p:sp>
      <p:sp>
        <p:nvSpPr>
          <p:cNvPr id="127" name="txt"/>
          <p:cNvSpPr txBox="1"/>
          <p:nvPr/>
        </p:nvSpPr>
        <p:spPr>
          <a:xfrm>
            <a:off x="6286000" y="1670000"/>
            <a:ext cx="2072000" cy="42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  <a:cs typeface="Reddit Sans"/>
              </a:rPr>
              <a:t>ENERGÍA Y UTILITIES</a:t>
            </a:r>
          </a:p>
        </p:txBody>
      </p:sp>
      <p:sp>
        <p:nvSpPr>
          <p:cNvPr id="128" name="txt"/>
          <p:cNvSpPr txBox="1"/>
          <p:nvPr/>
        </p:nvSpPr>
        <p:spPr>
          <a:xfrm>
            <a:off x="6237886" y="2058357"/>
            <a:ext cx="2472000" cy="57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Operación crítica 24x7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AIOps y observabilidad predictiva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Eventos críticos</a:t>
            </a:r>
          </a:p>
          <a:p>
            <a:pPr marL="137160" indent="-137160" algn="l">
              <a:buFont typeface="Arial"/>
              <a:buChar char="•"/>
            </a:pPr>
            <a:r>
              <a:rPr lang="es-ES" sz="80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XM y AES</a:t>
            </a:r>
          </a:p>
        </p:txBody>
      </p:sp>
      <p:sp>
        <p:nvSpPr>
          <p:cNvPr id="131" name="txt"/>
          <p:cNvSpPr txBox="1"/>
          <p:nvPr/>
        </p:nvSpPr>
        <p:spPr>
          <a:xfrm>
            <a:off x="773000" y="2810000"/>
            <a:ext cx="3450000" cy="30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050" b="1">
                <a:solidFill>
                  <a:schemeClr val="accent1">
                    <a:lumMod val="49000"/>
                  </a:schemeClr>
                </a:solidFill>
                <a:latin typeface="Reddit Sans"/>
                <a:ea typeface="Reddit Sans"/>
                <a:cs typeface="Reddit Sans"/>
              </a:rPr>
              <a:t>REGULACIÓN: ACELERADOR DE LA DEMANDA</a:t>
            </a:r>
          </a:p>
        </p:txBody>
      </p:sp>
      <p:sp>
        <p:nvSpPr>
          <p:cNvPr id="133" name="txt"/>
          <p:cNvSpPr txBox="1"/>
          <p:nvPr/>
        </p:nvSpPr>
        <p:spPr>
          <a:xfrm>
            <a:off x="3972257" y="2777343"/>
            <a:ext cx="4276000" cy="30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950">
                <a:solidFill>
                  <a:schemeClr val="tx1"/>
                </a:solidFill>
                <a:latin typeface="Reddit Sans"/>
                <a:ea typeface="Reddit Sans"/>
                <a:cs typeface="Reddit Sans"/>
              </a:rPr>
              <a:t>Cumplimiento obligatorio que genera demanda de servicios gestionados</a:t>
            </a:r>
          </a:p>
        </p:txBody>
      </p:sp>
      <p:sp>
        <p:nvSpPr>
          <p:cNvPr id="137" name="txt"/>
          <p:cNvSpPr txBox="1"/>
          <p:nvPr/>
        </p:nvSpPr>
        <p:spPr>
          <a:xfrm>
            <a:off x="343900" y="3215000"/>
            <a:ext cx="2222000" cy="34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  <a:cs typeface="Reddit Sans"/>
              </a:rPr>
              <a:t>SFC CIRCULAR 007 (2024)</a:t>
            </a:r>
          </a:p>
        </p:txBody>
      </p:sp>
      <p:sp>
        <p:nvSpPr>
          <p:cNvPr id="138" name="txt"/>
          <p:cNvSpPr txBox="1"/>
          <p:nvPr/>
        </p:nvSpPr>
        <p:spPr>
          <a:xfrm>
            <a:off x="453000" y="3570000"/>
            <a:ext cx="2502000" cy="53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SIEM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Gestión de incidentes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Gobernanza tecnológica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Trazabilidad obligatoria</a:t>
            </a:r>
          </a:p>
        </p:txBody>
      </p:sp>
      <p:sp>
        <p:nvSpPr>
          <p:cNvPr id="142" name="txt"/>
          <p:cNvSpPr txBox="1"/>
          <p:nvPr/>
        </p:nvSpPr>
        <p:spPr>
          <a:xfrm>
            <a:off x="3274886" y="3187786"/>
            <a:ext cx="2222000" cy="34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  <a:cs typeface="Reddit Sans"/>
              </a:rPr>
              <a:t>OPEN FINANCE (ago 2026)</a:t>
            </a:r>
          </a:p>
        </p:txBody>
      </p:sp>
      <p:sp>
        <p:nvSpPr>
          <p:cNvPr id="143" name="txt"/>
          <p:cNvSpPr txBox="1"/>
          <p:nvPr/>
        </p:nvSpPr>
        <p:spPr>
          <a:xfrm>
            <a:off x="3335000" y="3570000"/>
            <a:ext cx="2502000" cy="53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APIs abiertas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Continuidad de canales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Nuevos vectores de riesgo operacional</a:t>
            </a:r>
          </a:p>
        </p:txBody>
      </p:sp>
      <p:sp>
        <p:nvSpPr>
          <p:cNvPr id="146" name="glyph"/>
          <p:cNvSpPr txBox="1"/>
          <p:nvPr/>
        </p:nvSpPr>
        <p:spPr>
          <a:xfrm>
            <a:off x="6187000" y="3225000"/>
            <a:ext cx="300000" cy="30000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algn="ctr"/>
            <a:r>
              <a:rPr lang="es-ES" sz="700" b="1">
                <a:solidFill>
                  <a:srgbClr val="FFFFFF"/>
                </a:solidFill>
                <a:latin typeface="Reddit Sans"/>
              </a:rPr>
              <a:t>ISO</a:t>
            </a:r>
          </a:p>
        </p:txBody>
      </p:sp>
      <p:sp>
        <p:nvSpPr>
          <p:cNvPr id="147" name="txt"/>
          <p:cNvSpPr txBox="1"/>
          <p:nvPr/>
        </p:nvSpPr>
        <p:spPr>
          <a:xfrm>
            <a:off x="6140557" y="3204114"/>
            <a:ext cx="2222000" cy="34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  <a:cs typeface="Reddit Sans"/>
              </a:rPr>
              <a:t>ISO 42001 IA</a:t>
            </a:r>
          </a:p>
        </p:txBody>
      </p:sp>
      <p:sp>
        <p:nvSpPr>
          <p:cNvPr id="148" name="txt"/>
          <p:cNvSpPr txBox="1"/>
          <p:nvPr/>
        </p:nvSpPr>
        <p:spPr>
          <a:xfrm>
            <a:off x="6217000" y="3570000"/>
            <a:ext cx="2502000" cy="53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Gobierno de IA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Responsabilidad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Transparencia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Auditabilidad. Exigido por grandes clientes</a:t>
            </a:r>
          </a:p>
        </p:txBody>
      </p: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10C981B3-81A0-CD9E-A9E4-78CB43BD6637}"/>
              </a:ext>
            </a:extLst>
          </p:cNvPr>
          <p:cNvCxnSpPr/>
          <p:nvPr/>
        </p:nvCxnSpPr>
        <p:spPr>
          <a:xfrm flipV="1">
            <a:off x="345192" y="3052869"/>
            <a:ext cx="8403485" cy="4297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o 5">
            <a:extLst>
              <a:ext uri="{FF2B5EF4-FFF2-40B4-BE49-F238E27FC236}">
                <a16:creationId xmlns:a16="http://schemas.microsoft.com/office/drawing/2014/main" id="{42C067BF-548D-5FD6-B0DB-5EF693F37227}"/>
              </a:ext>
            </a:extLst>
          </p:cNvPr>
          <p:cNvGrpSpPr/>
          <p:nvPr/>
        </p:nvGrpSpPr>
        <p:grpSpPr>
          <a:xfrm>
            <a:off x="338228" y="4245928"/>
            <a:ext cx="7016357" cy="357359"/>
            <a:chOff x="338228" y="4349342"/>
            <a:chExt cx="7299385" cy="357359"/>
          </a:xfrm>
        </p:grpSpPr>
        <p:sp>
          <p:nvSpPr>
            <p:cNvPr id="151" name="txt"/>
            <p:cNvSpPr txBox="1"/>
            <p:nvPr/>
          </p:nvSpPr>
          <p:spPr>
            <a:xfrm>
              <a:off x="425671" y="4351386"/>
              <a:ext cx="5864043" cy="313229"/>
            </a:xfrm>
            <a:prstGeom prst="rect">
              <a:avLst/>
            </a:prstGeom>
            <a:noFill/>
          </p:spPr>
          <p:txBody>
            <a:bodyPr wrap="square" lIns="18000" tIns="9000" rIns="18000" bIns="9000" anchor="ctr">
              <a:normAutofit/>
            </a:bodyPr>
            <a:lstStyle/>
            <a:p>
              <a:pPr algn="l"/>
              <a:r>
                <a:rPr lang="es-ES" sz="1050" b="1">
                  <a:solidFill>
                    <a:schemeClr val="tx1"/>
                  </a:solidFill>
                  <a:latin typeface="Reddit Sans"/>
                  <a:ea typeface="Reddit Sans"/>
                  <a:cs typeface="Reddit Sans"/>
                </a:rPr>
                <a:t>La regulación está transformando el Service </a:t>
              </a:r>
              <a:r>
                <a:rPr lang="es-ES" sz="1050" b="1" err="1">
                  <a:solidFill>
                    <a:schemeClr val="tx1"/>
                  </a:solidFill>
                  <a:latin typeface="Reddit Sans"/>
                  <a:ea typeface="Reddit Sans"/>
                  <a:cs typeface="Reddit Sans"/>
                </a:rPr>
                <a:t>Desk</a:t>
              </a:r>
              <a:r>
                <a:rPr lang="es-ES" sz="1050" b="1">
                  <a:solidFill>
                    <a:schemeClr val="tx1"/>
                  </a:solidFill>
                  <a:latin typeface="Reddit Sans"/>
                  <a:ea typeface="Reddit Sans"/>
                  <a:cs typeface="Reddit Sans"/>
                </a:rPr>
                <a:t> en una </a:t>
              </a:r>
              <a:r>
                <a:rPr lang="es-ES" sz="1050" b="1">
                  <a:solidFill>
                    <a:schemeClr val="accent1">
                      <a:lumMod val="49000"/>
                    </a:schemeClr>
                  </a:solidFill>
                  <a:latin typeface="Reddit Sans"/>
                  <a:ea typeface="Reddit Sans"/>
                  <a:cs typeface="Reddit Sans"/>
                </a:rPr>
                <a:t>capacidad crítica </a:t>
              </a:r>
              <a:r>
                <a:rPr lang="es-ES" sz="1050" b="1">
                  <a:solidFill>
                    <a:schemeClr val="tx1"/>
                  </a:solidFill>
                  <a:latin typeface="Reddit Sans"/>
                  <a:ea typeface="Reddit Sans"/>
                  <a:cs typeface="Reddit Sans"/>
                </a:rPr>
                <a:t>del negocio.</a:t>
              </a:r>
            </a:p>
          </p:txBody>
        </p:sp>
        <p:sp>
          <p:nvSpPr>
            <p:cNvPr id="5" name="rec213">
              <a:extLst>
                <a:ext uri="{FF2B5EF4-FFF2-40B4-BE49-F238E27FC236}">
                  <a16:creationId xmlns:a16="http://schemas.microsoft.com/office/drawing/2014/main" id="{9DE38FBE-B974-E01E-8EFA-A65A4CD8478A}"/>
                </a:ext>
              </a:extLst>
            </p:cNvPr>
            <p:cNvSpPr/>
            <p:nvPr/>
          </p:nvSpPr>
          <p:spPr>
            <a:xfrm>
              <a:off x="338228" y="4349342"/>
              <a:ext cx="7299385" cy="357359"/>
            </a:xfrm>
            <a:prstGeom prst="roundRect">
              <a:avLst>
                <a:gd name="adj" fmla="val 6000"/>
              </a:avLst>
            </a:prstGeom>
            <a:noFill/>
            <a:ln>
              <a:solidFill>
                <a:schemeClr val="accent1"/>
              </a:solidFill>
            </a:ln>
          </p:spPr>
          <p:txBody>
            <a:bodyPr wrap="square" lIns="45720" tIns="18000" rIns="45720" bIns="18000" anchor="t">
              <a:normAutofit/>
            </a:bodyPr>
            <a:lstStyle/>
            <a:p>
              <a:pPr algn="ctr"/>
              <a:endParaRPr lang="es-ES" sz="950" b="1">
                <a:solidFill>
                  <a:srgbClr val="132346"/>
                </a:solidFill>
                <a:latin typeface="Reddit Sans"/>
                <a:ea typeface="Reddit San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12259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B6DBC5D6-A59B-9220-8E08-1EB16860B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A11E1946-1C5C-7483-FF80-3D90E96264A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/>
              <a:t>Mesas de Servicio de Nueva Generación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166CB5D3-5452-0F28-D678-36EABC00835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ES"/>
              <a:t>Operación Actual</a:t>
            </a:r>
          </a:p>
        </p:txBody>
      </p:sp>
    </p:spTree>
    <p:extLst>
      <p:ext uri="{BB962C8B-B14F-4D97-AF65-F5344CB8AC3E}">
        <p14:creationId xmlns:p14="http://schemas.microsoft.com/office/powerpoint/2010/main" val="37198613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/>
          <p:cNvSpPr txBox="1">
            <a:spLocks noGrp="1"/>
          </p:cNvSpPr>
          <p:nvPr>
            <p:ph type="title"/>
          </p:nvPr>
        </p:nvSpPr>
        <p:spPr>
          <a:xfrm>
            <a:off x="359550" y="404904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>
              <a:buClr>
                <a:schemeClr val="dk1"/>
              </a:buClr>
              <a:buSzPct val="54999"/>
            </a:pPr>
            <a:r>
              <a:rPr lang="es" sz="1800">
                <a:solidFill>
                  <a:schemeClr val="bg1"/>
                </a:solidFill>
                <a:sym typeface="Reddit Sans Medium"/>
              </a:rPr>
              <a:t>Mesas de Servicio Actuales</a:t>
            </a:r>
            <a:endParaRPr lang="es-ES">
              <a:solidFill>
                <a:schemeClr val="bg1"/>
              </a:solidFill>
              <a:latin typeface="Reddit Sans" pitchFamily="2" charset="0"/>
              <a:ea typeface="Reddit Sans" pitchFamily="2" charset="0"/>
            </a:endParaRPr>
          </a:p>
        </p:txBody>
      </p:sp>
      <p:sp>
        <p:nvSpPr>
          <p:cNvPr id="146" name="Google Shape;146;p5"/>
          <p:cNvSpPr txBox="1">
            <a:spLocks noGrp="1"/>
          </p:cNvSpPr>
          <p:nvPr>
            <p:ph type="title" idx="2"/>
          </p:nvPr>
        </p:nvSpPr>
        <p:spPr>
          <a:xfrm>
            <a:off x="463050" y="1464657"/>
            <a:ext cx="3757500" cy="19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s"/>
              <a:t>Nuestros Operación Actual</a:t>
            </a:r>
          </a:p>
        </p:txBody>
      </p:sp>
      <p:cxnSp>
        <p:nvCxnSpPr>
          <p:cNvPr id="147" name="Google Shape;147;p5"/>
          <p:cNvCxnSpPr/>
          <p:nvPr/>
        </p:nvCxnSpPr>
        <p:spPr>
          <a:xfrm rot="10800000" flipH="1">
            <a:off x="442269" y="612577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5495EA2D-6DD3-3FCA-401B-6EC35075AA0A}"/>
              </a:ext>
            </a:extLst>
          </p:cNvPr>
          <p:cNvSpPr txBox="1"/>
          <p:nvPr/>
        </p:nvSpPr>
        <p:spPr>
          <a:xfrm>
            <a:off x="4844143" y="797380"/>
            <a:ext cx="3695702" cy="39626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ts val="1875"/>
              </a:lnSpc>
            </a:pP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Banca y Seguros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SURA, Bancolombia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continuidad de canales transaccionales, cumplimiento SFC/SOX,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gestión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fraude en tiempo real y BCP/DRP.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Energía</a:t>
            </a: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 y </a:t>
            </a:r>
            <a:r>
              <a:rPr lang="es-ES" sz="1100" b="1" i="0" u="none" strike="noStrike" baseline="0" err="1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Utilities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XM, AES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operación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critica 24x7, monitoreo de infraestructura y aplicaciones, </a:t>
            </a:r>
            <a:r>
              <a:rPr lang="es-ES" sz="1100" b="0" i="0" u="none" strike="noStrike" baseline="0" err="1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observabilidad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y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gestión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eventos de alta criticidad.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Salud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Medicarte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continuidad asistencial,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protección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datos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clínicos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(Habeas Data / Supersalud), interoperabilidad RIPS/PISIS y trazabilidad de historia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clínica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.</a:t>
            </a: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ctr"/>
            <a:endParaRPr lang="es-E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>
            <a:extLst>
              <a:ext uri="{FF2B5EF4-FFF2-40B4-BE49-F238E27FC236}">
                <a16:creationId xmlns:a16="http://schemas.microsoft.com/office/drawing/2014/main" id="{EF145EE0-E561-FEDD-0C89-684520E996B9}"/>
              </a:ext>
            </a:extLst>
          </p:cNvPr>
          <p:cNvSpPr/>
          <p:nvPr/>
        </p:nvSpPr>
        <p:spPr>
          <a:xfrm>
            <a:off x="348343" y="914944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C8BFDA1F-B97B-FF8B-A810-F7E06937EFF1}"/>
              </a:ext>
            </a:extLst>
          </p:cNvPr>
          <p:cNvSpPr/>
          <p:nvPr/>
        </p:nvSpPr>
        <p:spPr>
          <a:xfrm>
            <a:off x="522514" y="931926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0072BC"/>
                </a:solidFill>
                <a:latin typeface="Reddit Sans Light"/>
                <a:ea typeface="Calibri" pitchFamily="34" charset="-122"/>
                <a:cs typeface="Reddit Sans Light"/>
              </a:rPr>
              <a:t>11</a:t>
            </a:r>
            <a:endParaRPr lang="en-US" sz="3000">
              <a:latin typeface="Reddit Sans Light"/>
              <a:cs typeface="Reddit Sans Light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46FD97E7-60D9-A9C3-3133-8B4DB1EDCFCF}"/>
              </a:ext>
            </a:extLst>
          </p:cNvPr>
          <p:cNvSpPr/>
          <p:nvPr/>
        </p:nvSpPr>
        <p:spPr>
          <a:xfrm>
            <a:off x="522514" y="1480566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Mesas</a:t>
            </a:r>
            <a:endParaRPr lang="en-US" sz="975">
              <a:latin typeface="Reddit Sans Light"/>
              <a:cs typeface="Reddit Sans Light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9A2EAD06-D9DA-48BD-49DD-24A84487FEAA}"/>
              </a:ext>
            </a:extLst>
          </p:cNvPr>
          <p:cNvSpPr/>
          <p:nvPr/>
        </p:nvSpPr>
        <p:spPr>
          <a:xfrm>
            <a:off x="1907068" y="914944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3C601815-30F7-DFDA-B98B-2FB993338CB6}"/>
              </a:ext>
            </a:extLst>
          </p:cNvPr>
          <p:cNvSpPr/>
          <p:nvPr/>
        </p:nvSpPr>
        <p:spPr>
          <a:xfrm>
            <a:off x="2064911" y="931926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017490"/>
                </a:solidFill>
                <a:latin typeface="Reddit Sans Light"/>
                <a:ea typeface="Calibri"/>
                <a:cs typeface="Reddit Sans Light"/>
              </a:rPr>
              <a:t>57</a:t>
            </a:r>
            <a:endParaRPr lang="en-US" sz="3000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43A6272A-CFCF-7A50-12C1-F31339E8BE35}"/>
              </a:ext>
            </a:extLst>
          </p:cNvPr>
          <p:cNvSpPr/>
          <p:nvPr/>
        </p:nvSpPr>
        <p:spPr>
          <a:xfrm>
            <a:off x="2064911" y="1480566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75">
                <a:solidFill>
                  <a:srgbClr val="5A6472"/>
                </a:solidFill>
                <a:latin typeface="Reddit Sans Light"/>
                <a:ea typeface="Calibri Light" pitchFamily="34" charset="-122"/>
                <a:cs typeface="Reddit Sans Light"/>
              </a:rPr>
              <a:t>FTE totales</a:t>
            </a:r>
            <a:endParaRPr lang="en-US" sz="975">
              <a:latin typeface="Reddit Sans Light"/>
              <a:cs typeface="Reddit Sans Light"/>
            </a:endParaRPr>
          </a:p>
        </p:txBody>
      </p:sp>
      <p:sp>
        <p:nvSpPr>
          <p:cNvPr id="18" name="Shape 7">
            <a:extLst>
              <a:ext uri="{FF2B5EF4-FFF2-40B4-BE49-F238E27FC236}">
                <a16:creationId xmlns:a16="http://schemas.microsoft.com/office/drawing/2014/main" id="{19F71853-6564-A7BC-D8B0-D167CA5F647F}"/>
              </a:ext>
            </a:extLst>
          </p:cNvPr>
          <p:cNvSpPr/>
          <p:nvPr/>
        </p:nvSpPr>
        <p:spPr>
          <a:xfrm>
            <a:off x="3520222" y="920387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73794636-C541-3A48-3C9E-D80BB73EC66F}"/>
              </a:ext>
            </a:extLst>
          </p:cNvPr>
          <p:cNvSpPr/>
          <p:nvPr/>
        </p:nvSpPr>
        <p:spPr>
          <a:xfrm>
            <a:off x="3705279" y="937369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B3261E"/>
                </a:solidFill>
                <a:latin typeface="Reddit Sans Light"/>
                <a:ea typeface="Calibri"/>
                <a:cs typeface="Reddit Sans Light"/>
              </a:rPr>
              <a:t>2</a:t>
            </a:r>
            <a:endParaRPr lang="en-US" sz="3000" b="1" dirty="0">
              <a:solidFill>
                <a:srgbClr val="B3261E"/>
              </a:solidFill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BB954CE0-F03D-7590-5363-C3A58DAE5E55}"/>
              </a:ext>
            </a:extLst>
          </p:cNvPr>
          <p:cNvSpPr/>
          <p:nvPr/>
        </p:nvSpPr>
        <p:spPr>
          <a:xfrm>
            <a:off x="3705279" y="1486009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En</a:t>
            </a:r>
            <a:r>
              <a:rPr lang="en-US" sz="950" dirty="0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 N3</a:t>
            </a:r>
            <a:endParaRPr lang="en-US" sz="950" dirty="0">
              <a:latin typeface="Reddit Sans Light"/>
              <a:ea typeface="Calibri Light"/>
              <a:cs typeface="Reddit Sans Light"/>
            </a:endParaRPr>
          </a:p>
        </p:txBody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9FDC9B93-707B-C2BF-913D-568E2AAC1F34}"/>
              </a:ext>
            </a:extLst>
          </p:cNvPr>
          <p:cNvSpPr/>
          <p:nvPr/>
        </p:nvSpPr>
        <p:spPr>
          <a:xfrm>
            <a:off x="5078947" y="925830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89DA9FAC-E29B-87AD-F1AC-8D3881AC4186}"/>
              </a:ext>
            </a:extLst>
          </p:cNvPr>
          <p:cNvSpPr/>
          <p:nvPr/>
        </p:nvSpPr>
        <p:spPr>
          <a:xfrm>
            <a:off x="5274890" y="937369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1F7A4D"/>
                </a:solidFill>
                <a:latin typeface="Reddit Sans Light"/>
                <a:ea typeface="Calibri" pitchFamily="34" charset="-122"/>
                <a:cs typeface="Reddit Sans Light"/>
              </a:rPr>
              <a:t>4</a:t>
            </a:r>
            <a:endParaRPr lang="en-US" sz="3000">
              <a:latin typeface="Reddit Sans Light"/>
              <a:cs typeface="Reddit Sans Light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CEAACE51-BC11-9F28-D4EB-E90BA7B2AA55}"/>
              </a:ext>
            </a:extLst>
          </p:cNvPr>
          <p:cNvSpPr/>
          <p:nvPr/>
        </p:nvSpPr>
        <p:spPr>
          <a:xfrm>
            <a:off x="5274890" y="1447909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 dirty="0" err="1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Clientes</a:t>
            </a:r>
            <a:endParaRPr lang="en-US" sz="975" dirty="0" err="1">
              <a:latin typeface="Reddit Sans Light"/>
              <a:cs typeface="Reddit Sans Light"/>
            </a:endParaRPr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8C4996C0-D6D7-24E3-25E1-EB43CBF58650}"/>
              </a:ext>
            </a:extLst>
          </p:cNvPr>
          <p:cNvSpPr/>
          <p:nvPr/>
        </p:nvSpPr>
        <p:spPr>
          <a:xfrm>
            <a:off x="332014" y="1936024"/>
            <a:ext cx="2558143" cy="2091690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2" name="Shape 14">
            <a:extLst>
              <a:ext uri="{FF2B5EF4-FFF2-40B4-BE49-F238E27FC236}">
                <a16:creationId xmlns:a16="http://schemas.microsoft.com/office/drawing/2014/main" id="{ACC30066-899D-3C09-3059-9BB6B2602527}"/>
              </a:ext>
            </a:extLst>
          </p:cNvPr>
          <p:cNvSpPr/>
          <p:nvPr/>
        </p:nvSpPr>
        <p:spPr>
          <a:xfrm>
            <a:off x="332014" y="1936024"/>
            <a:ext cx="2558143" cy="37719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24CF1C35-E4D3-0C6A-7A97-AF081690E26D}"/>
              </a:ext>
            </a:extLst>
          </p:cNvPr>
          <p:cNvSpPr/>
          <p:nvPr/>
        </p:nvSpPr>
        <p:spPr>
          <a:xfrm>
            <a:off x="434884" y="1936024"/>
            <a:ext cx="14325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FFFFFF"/>
                </a:solidFill>
                <a:latin typeface="Reddit Sans Light"/>
                <a:ea typeface="Calibri" pitchFamily="34" charset="-122"/>
                <a:cs typeface="Reddit Sans Light"/>
              </a:rPr>
              <a:t>N1 · Operación Reactiva</a:t>
            </a:r>
            <a:endParaRPr lang="en-US" sz="975">
              <a:latin typeface="Reddit Sans Light"/>
              <a:cs typeface="Reddit Sans Light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39053475-1421-F7C8-AD15-75DB9723B730}"/>
              </a:ext>
            </a:extLst>
          </p:cNvPr>
          <p:cNvSpPr/>
          <p:nvPr/>
        </p:nvSpPr>
        <p:spPr>
          <a:xfrm>
            <a:off x="1931669" y="2006781"/>
            <a:ext cx="81751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950" b="1">
                <a:solidFill>
                  <a:srgbClr val="FFFFFF"/>
                </a:solidFill>
                <a:latin typeface="Reddit Sans Light"/>
                <a:ea typeface="Calibri"/>
                <a:cs typeface="Reddit Sans Light"/>
              </a:rPr>
              <a:t>5 mesa</a:t>
            </a:r>
            <a:endParaRPr lang="en-US" sz="950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3564960B-23C8-45DA-2745-C36574CC176D}"/>
              </a:ext>
            </a:extLst>
          </p:cNvPr>
          <p:cNvSpPr/>
          <p:nvPr/>
        </p:nvSpPr>
        <p:spPr>
          <a:xfrm>
            <a:off x="534489" y="3047454"/>
            <a:ext cx="2539636" cy="703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225"/>
              </a:spcAft>
            </a:pP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COES </a:t>
            </a:r>
            <a:r>
              <a:rPr lang="en-US" sz="10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Integración</a:t>
            </a: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.</a:t>
            </a:r>
            <a:endParaRPr lang="en-US" sz="1000" dirty="0">
              <a:latin typeface="Reddit Sans"/>
              <a:ea typeface="Reddit Sans"/>
              <a:cs typeface="Reddit Sans Light"/>
            </a:endParaRPr>
          </a:p>
          <a:p>
            <a:pPr algn="ctr">
              <a:spcAft>
                <a:spcPts val="225"/>
              </a:spcAft>
            </a:pPr>
            <a:r>
              <a:rPr lang="en-US" sz="100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COES Datos</a:t>
            </a:r>
            <a:endParaRPr lang="en-US" sz="1000">
              <a:latin typeface="Reddit Sans"/>
              <a:ea typeface="Reddit Sans"/>
              <a:cs typeface="Reddit Sans Light"/>
            </a:endParaRPr>
          </a:p>
          <a:p>
            <a:pPr algn="ctr">
              <a:spcAft>
                <a:spcPts val="225"/>
              </a:spcAft>
            </a:pP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10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Soporte</a:t>
            </a:r>
            <a:endParaRPr lang="en-US" sz="1000">
              <a:latin typeface="Reddit Sans"/>
              <a:ea typeface="Reddit Sans"/>
              <a:cs typeface="Reddit Sans Light"/>
            </a:endParaRPr>
          </a:p>
          <a:p>
            <a:pPr algn="ctr">
              <a:spcAft>
                <a:spcPts val="225"/>
              </a:spcAft>
            </a:pP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 Emma</a:t>
            </a:r>
            <a:endParaRPr lang="en-US" sz="1000" dirty="0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  <a:p>
            <a:pPr algn="ctr">
              <a:spcAft>
                <a:spcPts val="225"/>
              </a:spcAft>
            </a:pP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Emma </a:t>
            </a:r>
            <a:r>
              <a:rPr lang="en-US" sz="10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Iseries</a:t>
            </a:r>
            <a:endParaRPr lang="en-US" sz="1000" dirty="0" err="1">
              <a:solidFill>
                <a:srgbClr val="000000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0" name="Shape 18">
            <a:extLst>
              <a:ext uri="{FF2B5EF4-FFF2-40B4-BE49-F238E27FC236}">
                <a16:creationId xmlns:a16="http://schemas.microsoft.com/office/drawing/2014/main" id="{09E80C49-1784-AFE6-C216-5CE00A928742}"/>
              </a:ext>
            </a:extLst>
          </p:cNvPr>
          <p:cNvSpPr/>
          <p:nvPr/>
        </p:nvSpPr>
        <p:spPr>
          <a:xfrm>
            <a:off x="3267238" y="1936024"/>
            <a:ext cx="2558143" cy="2091690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2" name="Shape 19">
            <a:extLst>
              <a:ext uri="{FF2B5EF4-FFF2-40B4-BE49-F238E27FC236}">
                <a16:creationId xmlns:a16="http://schemas.microsoft.com/office/drawing/2014/main" id="{54F05A97-B24A-C53A-D343-169FE3831E11}"/>
              </a:ext>
            </a:extLst>
          </p:cNvPr>
          <p:cNvSpPr/>
          <p:nvPr/>
        </p:nvSpPr>
        <p:spPr>
          <a:xfrm>
            <a:off x="3267238" y="1936024"/>
            <a:ext cx="2558143" cy="37719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</p:sp>
      <p:sp>
        <p:nvSpPr>
          <p:cNvPr id="44" name="Text 20">
            <a:extLst>
              <a:ext uri="{FF2B5EF4-FFF2-40B4-BE49-F238E27FC236}">
                <a16:creationId xmlns:a16="http://schemas.microsoft.com/office/drawing/2014/main" id="{92BEB23B-D0A0-26DC-FF99-9ABFEA148B3D}"/>
              </a:ext>
            </a:extLst>
          </p:cNvPr>
          <p:cNvSpPr/>
          <p:nvPr/>
        </p:nvSpPr>
        <p:spPr>
          <a:xfrm>
            <a:off x="3370108" y="1936024"/>
            <a:ext cx="143256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>
                <a:solidFill>
                  <a:srgbClr val="FFFFFF"/>
                </a:solidFill>
                <a:latin typeface="Reddit Sans Light"/>
                <a:ea typeface="Calibri" pitchFamily="34" charset="-122"/>
                <a:cs typeface="Reddit Sans Light"/>
              </a:rPr>
              <a:t>N2 · Herramienta Activa</a:t>
            </a:r>
            <a:endParaRPr lang="en-US" sz="975">
              <a:latin typeface="Reddit Sans Light"/>
              <a:cs typeface="Reddit Sans Light"/>
            </a:endParaRPr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1C5DEF9A-FFC6-13CE-8541-DF862A2A84FA}"/>
              </a:ext>
            </a:extLst>
          </p:cNvPr>
          <p:cNvSpPr/>
          <p:nvPr/>
        </p:nvSpPr>
        <p:spPr>
          <a:xfrm>
            <a:off x="4888665" y="1990453"/>
            <a:ext cx="76853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950" b="1">
                <a:solidFill>
                  <a:srgbClr val="FFFFFF"/>
                </a:solidFill>
                <a:latin typeface="Reddit Sans Light"/>
                <a:ea typeface="Calibri"/>
                <a:cs typeface="Reddit Sans Light"/>
              </a:rPr>
              <a:t>5 mesas</a:t>
            </a:r>
            <a:endParaRPr lang="en-US" sz="950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48" name="Text 22">
            <a:extLst>
              <a:ext uri="{FF2B5EF4-FFF2-40B4-BE49-F238E27FC236}">
                <a16:creationId xmlns:a16="http://schemas.microsoft.com/office/drawing/2014/main" id="{72653892-AC8C-CBD6-79C1-85AAC042BB70}"/>
              </a:ext>
            </a:extLst>
          </p:cNvPr>
          <p:cNvSpPr/>
          <p:nvPr/>
        </p:nvSpPr>
        <p:spPr>
          <a:xfrm>
            <a:off x="2996183" y="2944042"/>
            <a:ext cx="1815737" cy="539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225"/>
              </a:spcAft>
              <a:buNone/>
            </a:pPr>
            <a:r>
              <a:rPr lang="en-US" sz="10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Cotizadores</a:t>
            </a:r>
            <a:endParaRPr lang="en-US" sz="1000" dirty="0" err="1">
              <a:latin typeface="Reddit Sans"/>
              <a:ea typeface="Reddit Sans"/>
              <a:cs typeface="Reddit Sans Light"/>
            </a:endParaRPr>
          </a:p>
          <a:p>
            <a:pPr marL="0" indent="0" algn="ctr">
              <a:spcAft>
                <a:spcPts val="225"/>
              </a:spcAft>
              <a:buNone/>
            </a:pPr>
            <a:r>
              <a:rPr lang="en-US" sz="100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Venta Digital</a:t>
            </a:r>
            <a:endParaRPr lang="en-US" sz="1000">
              <a:latin typeface="Reddit Sans"/>
              <a:ea typeface="Reddit Sans"/>
              <a:cs typeface="Reddit Sans Light"/>
            </a:endParaRPr>
          </a:p>
          <a:p>
            <a:pPr marL="0" indent="0" algn="ctr">
              <a:spcAft>
                <a:spcPts val="225"/>
              </a:spcAft>
              <a:buNone/>
            </a:pPr>
            <a:r>
              <a:rPr lang="en-US" sz="10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Automatización</a:t>
            </a:r>
            <a:endParaRPr lang="en-US" sz="1000" dirty="0" err="1">
              <a:latin typeface="Reddit Sans"/>
              <a:ea typeface="Reddit Sans"/>
              <a:cs typeface="Reddit Sans Light"/>
            </a:endParaRPr>
          </a:p>
          <a:p>
            <a:pPr marL="0" indent="0" algn="ctr">
              <a:spcAft>
                <a:spcPts val="225"/>
              </a:spcAft>
              <a:buNone/>
            </a:pP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Canales </a:t>
            </a:r>
            <a:r>
              <a:rPr lang="en-US" sz="10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Masivos</a:t>
            </a:r>
            <a:endParaRPr lang="en-US" sz="1000" dirty="0" err="1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0" name="Shape 23">
            <a:extLst>
              <a:ext uri="{FF2B5EF4-FFF2-40B4-BE49-F238E27FC236}">
                <a16:creationId xmlns:a16="http://schemas.microsoft.com/office/drawing/2014/main" id="{F6DB335E-8497-36B2-29D1-A99F72ACCB5F}"/>
              </a:ext>
            </a:extLst>
          </p:cNvPr>
          <p:cNvSpPr/>
          <p:nvPr/>
        </p:nvSpPr>
        <p:spPr>
          <a:xfrm>
            <a:off x="6202462" y="1936024"/>
            <a:ext cx="2558143" cy="2091690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2" name="Shape 24">
            <a:extLst>
              <a:ext uri="{FF2B5EF4-FFF2-40B4-BE49-F238E27FC236}">
                <a16:creationId xmlns:a16="http://schemas.microsoft.com/office/drawing/2014/main" id="{A9CCE7CF-3E2A-DC0B-B2FA-FE8DB1E34887}"/>
              </a:ext>
            </a:extLst>
          </p:cNvPr>
          <p:cNvSpPr/>
          <p:nvPr/>
        </p:nvSpPr>
        <p:spPr>
          <a:xfrm>
            <a:off x="6202462" y="1936024"/>
            <a:ext cx="2558143" cy="37719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</p:sp>
      <p:sp>
        <p:nvSpPr>
          <p:cNvPr id="54" name="Text 25">
            <a:extLst>
              <a:ext uri="{FF2B5EF4-FFF2-40B4-BE49-F238E27FC236}">
                <a16:creationId xmlns:a16="http://schemas.microsoft.com/office/drawing/2014/main" id="{4436C922-BFF7-8292-582C-A83FAA29A772}"/>
              </a:ext>
            </a:extLst>
          </p:cNvPr>
          <p:cNvSpPr/>
          <p:nvPr/>
        </p:nvSpPr>
        <p:spPr>
          <a:xfrm>
            <a:off x="6289003" y="1936024"/>
            <a:ext cx="40930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50" b="1">
                <a:solidFill>
                  <a:srgbClr val="FFFFFF"/>
                </a:solidFill>
                <a:latin typeface="Reddit Sans Light"/>
                <a:ea typeface="Calibri"/>
                <a:cs typeface="Reddit Sans Light"/>
              </a:rPr>
              <a:t>N3</a:t>
            </a:r>
            <a:endParaRPr lang="en-US" sz="975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56" name="Text 26">
            <a:extLst>
              <a:ext uri="{FF2B5EF4-FFF2-40B4-BE49-F238E27FC236}">
                <a16:creationId xmlns:a16="http://schemas.microsoft.com/office/drawing/2014/main" id="{4552EAD8-AA87-92D6-6974-D301B38A6547}"/>
              </a:ext>
            </a:extLst>
          </p:cNvPr>
          <p:cNvSpPr/>
          <p:nvPr/>
        </p:nvSpPr>
        <p:spPr>
          <a:xfrm>
            <a:off x="7987174" y="1990453"/>
            <a:ext cx="60524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950" b="1">
                <a:solidFill>
                  <a:srgbClr val="FFFFFF"/>
                </a:solidFill>
                <a:latin typeface="Reddit Sans Light"/>
                <a:ea typeface="Calibri"/>
                <a:cs typeface="Reddit Sans Light"/>
              </a:rPr>
              <a:t>2 mesas</a:t>
            </a:r>
            <a:endParaRPr lang="en-US" sz="950"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58" name="Text 27">
            <a:extLst>
              <a:ext uri="{FF2B5EF4-FFF2-40B4-BE49-F238E27FC236}">
                <a16:creationId xmlns:a16="http://schemas.microsoft.com/office/drawing/2014/main" id="{3A66E8B3-3227-F4DF-9117-22E082EE5136}"/>
              </a:ext>
            </a:extLst>
          </p:cNvPr>
          <p:cNvSpPr/>
          <p:nvPr/>
        </p:nvSpPr>
        <p:spPr>
          <a:xfrm>
            <a:off x="6339622" y="241608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spcAft>
                <a:spcPts val="225"/>
              </a:spcAft>
              <a:buNone/>
            </a:pPr>
            <a:endParaRPr lang="en-US" sz="938">
              <a:latin typeface="Reddit Sans Light"/>
              <a:cs typeface="Reddit Sans Light"/>
            </a:endParaRPr>
          </a:p>
        </p:txBody>
      </p:sp>
      <p:sp>
        <p:nvSpPr>
          <p:cNvPr id="60" name="Shape 28">
            <a:extLst>
              <a:ext uri="{FF2B5EF4-FFF2-40B4-BE49-F238E27FC236}">
                <a16:creationId xmlns:a16="http://schemas.microsoft.com/office/drawing/2014/main" id="{3617E2F5-3A18-ACE4-E271-63674AA1C2BA}"/>
              </a:ext>
            </a:extLst>
          </p:cNvPr>
          <p:cNvSpPr/>
          <p:nvPr/>
        </p:nvSpPr>
        <p:spPr>
          <a:xfrm>
            <a:off x="342900" y="4349931"/>
            <a:ext cx="8455914" cy="327225"/>
          </a:xfrm>
          <a:prstGeom prst="roundRect">
            <a:avLst>
              <a:gd name="adj" fmla="val 8065"/>
            </a:avLst>
          </a:prstGeom>
          <a:solidFill>
            <a:schemeClr val="bg1"/>
          </a:solidFill>
          <a:ln>
            <a:solidFill>
              <a:srgbClr val="4472C4"/>
            </a:solidFill>
          </a:ln>
        </p:spPr>
      </p:sp>
      <p:sp>
        <p:nvSpPr>
          <p:cNvPr id="62" name="Text 29">
            <a:extLst>
              <a:ext uri="{FF2B5EF4-FFF2-40B4-BE49-F238E27FC236}">
                <a16:creationId xmlns:a16="http://schemas.microsoft.com/office/drawing/2014/main" id="{690CF84A-296B-2272-5D41-DB6EC483EA01}"/>
              </a:ext>
            </a:extLst>
          </p:cNvPr>
          <p:cNvSpPr/>
          <p:nvPr/>
        </p:nvSpPr>
        <p:spPr>
          <a:xfrm>
            <a:off x="480060" y="4366260"/>
            <a:ext cx="8181594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En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este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levantamiento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inicial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no se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incluyó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a MEDICARTE,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ya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que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actualmente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se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encuentra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en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proceso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 de </a:t>
            </a:r>
            <a:r>
              <a:rPr lang="en-US" sz="1100" b="1" dirty="0" err="1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empalme</a:t>
            </a:r>
            <a:r>
              <a:rPr lang="en-US" sz="1100" b="1" dirty="0">
                <a:solidFill>
                  <a:schemeClr val="accent1">
                    <a:lumMod val="49000"/>
                  </a:schemeClr>
                </a:solidFill>
                <a:latin typeface="Reddit Sans Light"/>
                <a:ea typeface="Calibri Light"/>
                <a:cs typeface="Reddit Sans Light"/>
              </a:rPr>
              <a:t>.</a:t>
            </a:r>
            <a:endParaRPr lang="es-ES" sz="1100" b="1">
              <a:solidFill>
                <a:schemeClr val="accent1">
                  <a:lumMod val="49000"/>
                </a:schemeClr>
              </a:solidFill>
              <a:latin typeface="Reddit Sans Light"/>
              <a:cs typeface="Reddit Sans Light"/>
            </a:endParaRPr>
          </a:p>
          <a:p>
            <a:endParaRPr lang="en-US" sz="950" b="1" dirty="0">
              <a:solidFill>
                <a:schemeClr val="accent1">
                  <a:lumMod val="49000"/>
                </a:schemeClr>
              </a:solidFill>
              <a:latin typeface="Reddit Sans Light"/>
              <a:ea typeface="Calibri Light"/>
              <a:cs typeface="Reddit Sans Light"/>
            </a:endParaRPr>
          </a:p>
        </p:txBody>
      </p:sp>
      <p:sp>
        <p:nvSpPr>
          <p:cNvPr id="3" name="Text 22">
            <a:extLst>
              <a:ext uri="{FF2B5EF4-FFF2-40B4-BE49-F238E27FC236}">
                <a16:creationId xmlns:a16="http://schemas.microsoft.com/office/drawing/2014/main" id="{7A8C7BD1-9176-A15B-5946-3D3FC0332A13}"/>
              </a:ext>
            </a:extLst>
          </p:cNvPr>
          <p:cNvSpPr/>
          <p:nvPr/>
        </p:nvSpPr>
        <p:spPr>
          <a:xfrm>
            <a:off x="6289112" y="2944041"/>
            <a:ext cx="917666" cy="1698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225"/>
              </a:spcAft>
              <a:buNone/>
            </a:pPr>
            <a:r>
              <a:rPr lang="en-US" sz="1000" dirty="0" err="1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Cotizadores</a:t>
            </a:r>
          </a:p>
        </p:txBody>
      </p:sp>
      <p:pic>
        <p:nvPicPr>
          <p:cNvPr id="4" name="Gráfico 3" descr="The logo of , showing a stylized leaf above the site name in bold, modern font. Links to the homepage.">
            <a:extLst>
              <a:ext uri="{FF2B5EF4-FFF2-40B4-BE49-F238E27FC236}">
                <a16:creationId xmlns:a16="http://schemas.microsoft.com/office/drawing/2014/main" id="{A0D4B0DF-F4E8-7E49-32F1-8519B02EC3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19224" y="2364921"/>
            <a:ext cx="487137" cy="206829"/>
          </a:xfrm>
          <a:prstGeom prst="rect">
            <a:avLst/>
          </a:prstGeom>
        </p:spPr>
      </p:pic>
      <p:pic>
        <p:nvPicPr>
          <p:cNvPr id="7" name="Gráfico 6" descr="Logo Bancolombia">
            <a:extLst>
              <a:ext uri="{FF2B5EF4-FFF2-40B4-BE49-F238E27FC236}">
                <a16:creationId xmlns:a16="http://schemas.microsoft.com/office/drawing/2014/main" id="{43D69C67-E535-7C60-A4E0-120FBA08E3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6722" y="2673122"/>
            <a:ext cx="1326697" cy="374197"/>
          </a:xfrm>
          <a:prstGeom prst="rect">
            <a:avLst/>
          </a:prstGeom>
        </p:spPr>
      </p:pic>
      <p:pic>
        <p:nvPicPr>
          <p:cNvPr id="9" name="Gráfico 8" descr="logo Sura">
            <a:extLst>
              <a:ext uri="{FF2B5EF4-FFF2-40B4-BE49-F238E27FC236}">
                <a16:creationId xmlns:a16="http://schemas.microsoft.com/office/drawing/2014/main" id="{76884242-5B78-E8F5-196D-24CD953435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54853" y="2400299"/>
            <a:ext cx="987879" cy="342901"/>
          </a:xfrm>
          <a:prstGeom prst="rect">
            <a:avLst/>
          </a:prstGeom>
        </p:spPr>
      </p:pic>
      <p:pic>
        <p:nvPicPr>
          <p:cNvPr id="11" name="Imagen 10" descr="Logo">
            <a:extLst>
              <a:ext uri="{FF2B5EF4-FFF2-40B4-BE49-F238E27FC236}">
                <a16:creationId xmlns:a16="http://schemas.microsoft.com/office/drawing/2014/main" id="{895562EC-799E-D3C4-DC5A-4BE673F215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3321" y="2363561"/>
            <a:ext cx="778331" cy="410937"/>
          </a:xfrm>
          <a:prstGeom prst="rect">
            <a:avLst/>
          </a:prstGeom>
        </p:spPr>
      </p:pic>
      <p:pic>
        <p:nvPicPr>
          <p:cNvPr id="15" name="Gráfico 14" descr="logo Sura">
            <a:extLst>
              <a:ext uri="{FF2B5EF4-FFF2-40B4-BE49-F238E27FC236}">
                <a16:creationId xmlns:a16="http://schemas.microsoft.com/office/drawing/2014/main" id="{4E0D61E5-7B27-245D-52E8-8BECA618E7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45010" y="2427513"/>
            <a:ext cx="987879" cy="342901"/>
          </a:xfrm>
          <a:prstGeom prst="rect">
            <a:avLst/>
          </a:prstGeom>
        </p:spPr>
      </p:pic>
      <p:pic>
        <p:nvPicPr>
          <p:cNvPr id="17" name="Imagen 16" descr="Logo">
            <a:extLst>
              <a:ext uri="{FF2B5EF4-FFF2-40B4-BE49-F238E27FC236}">
                <a16:creationId xmlns:a16="http://schemas.microsoft.com/office/drawing/2014/main" id="{5A463B06-EF9E-16FF-193B-A64DB0EEFF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3478" y="2390775"/>
            <a:ext cx="778331" cy="410937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3D4FF19C-DA59-E7C8-94CD-FC7572D8F0DB}"/>
              </a:ext>
            </a:extLst>
          </p:cNvPr>
          <p:cNvSpPr txBox="1"/>
          <p:nvPr/>
        </p:nvSpPr>
        <p:spPr>
          <a:xfrm>
            <a:off x="7364185" y="2724149"/>
            <a:ext cx="1741715" cy="4343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 rtl="0"/>
            <a:r>
              <a:rPr lang="en-US" sz="1000" b="0" i="0">
                <a:solidFill>
                  <a:srgbClr val="000000"/>
                </a:solidFill>
                <a:latin typeface="Reddit Sans"/>
                <a:ea typeface="Reddit Sans"/>
                <a:cs typeface="Segoe UI"/>
              </a:rPr>
              <a:t>​</a:t>
            </a:r>
          </a:p>
          <a:p>
            <a:pPr algn="ctr">
              <a:lnSpc>
                <a:spcPts val="1575"/>
              </a:lnSpc>
            </a:pPr>
            <a:r>
              <a:rPr lang="en-US" sz="1000" dirty="0">
                <a:solidFill>
                  <a:srgbClr val="1C1C1C"/>
                </a:solidFill>
                <a:latin typeface="Reddit Sans"/>
                <a:ea typeface="Reddit Sans"/>
                <a:cs typeface="Segoe UI"/>
              </a:rPr>
              <a:t>HU</a:t>
            </a:r>
            <a:r>
              <a:rPr lang="en-US" sz="1000" b="0" i="0" u="none" strike="noStrike" baseline="0" dirty="0">
                <a:solidFill>
                  <a:srgbClr val="1C1C1C"/>
                </a:solidFill>
                <a:latin typeface="Reddit Sans"/>
                <a:ea typeface="Reddit Sans"/>
                <a:cs typeface="Segoe UI"/>
              </a:rPr>
              <a:t> </a:t>
            </a:r>
            <a:r>
              <a:rPr lang="en-US" sz="1000" b="0" i="0" u="none" strike="noStrike" baseline="0" dirty="0" err="1">
                <a:solidFill>
                  <a:srgbClr val="1C1C1C"/>
                </a:solidFill>
                <a:latin typeface="Reddit Sans"/>
                <a:ea typeface="Reddit Sans"/>
                <a:cs typeface="Segoe UI"/>
              </a:rPr>
              <a:t>Evolutivas</a:t>
            </a:r>
          </a:p>
        </p:txBody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C57F8888-D775-3BF7-793F-61267ABCCDC6}"/>
              </a:ext>
            </a:extLst>
          </p:cNvPr>
          <p:cNvSpPr/>
          <p:nvPr/>
        </p:nvSpPr>
        <p:spPr>
          <a:xfrm>
            <a:off x="4819540" y="2922271"/>
            <a:ext cx="961209" cy="578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225"/>
              </a:spcAft>
            </a:pPr>
            <a:r>
              <a:rPr lang="es-CO" sz="100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Soporte App Criticas</a:t>
            </a:r>
          </a:p>
        </p:txBody>
      </p:sp>
      <p:sp>
        <p:nvSpPr>
          <p:cNvPr id="29" name="ttl">
            <a:extLst>
              <a:ext uri="{FF2B5EF4-FFF2-40B4-BE49-F238E27FC236}">
                <a16:creationId xmlns:a16="http://schemas.microsoft.com/office/drawing/2014/main" id="{D6522D37-9C92-E81E-6C63-45AC32BF548F}"/>
              </a:ext>
            </a:extLst>
          </p:cNvPr>
          <p:cNvSpPr txBox="1">
            <a:spLocks noGrp="1"/>
          </p:cNvSpPr>
          <p:nvPr/>
        </p:nvSpPr>
        <p:spPr>
          <a:xfrm>
            <a:off x="320040" y="173083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l"/>
            <a:r>
              <a:rPr lang="es-ES" sz="2000" b="1" dirty="0">
                <a:solidFill>
                  <a:schemeClr val="accent1">
                    <a:lumMod val="49000"/>
                  </a:schemeClr>
                </a:solidFill>
                <a:latin typeface="Reddit Sans"/>
                <a:ea typeface="Reddit Sans"/>
              </a:rPr>
              <a:t>Nuestra </a:t>
            </a:r>
            <a:r>
              <a:rPr lang="es-ES" sz="2000" b="1">
                <a:solidFill>
                  <a:schemeClr val="accent1">
                    <a:lumMod val="49000"/>
                  </a:schemeClr>
                </a:solidFill>
                <a:latin typeface="Reddit Sans"/>
                <a:ea typeface="Reddit Sans"/>
              </a:rPr>
              <a:t>Operación</a:t>
            </a:r>
            <a:r>
              <a:rPr lang="es-ES" sz="2000" b="1" dirty="0">
                <a:solidFill>
                  <a:schemeClr val="accent1">
                    <a:lumMod val="49000"/>
                  </a:schemeClr>
                </a:solidFill>
                <a:latin typeface="Reddit Sans"/>
                <a:ea typeface="Reddit Sans"/>
              </a:rPr>
              <a:t> Actual</a:t>
            </a:r>
          </a:p>
        </p:txBody>
      </p:sp>
      <p:sp>
        <p:nvSpPr>
          <p:cNvPr id="33" name="sub">
            <a:extLst>
              <a:ext uri="{FF2B5EF4-FFF2-40B4-BE49-F238E27FC236}">
                <a16:creationId xmlns:a16="http://schemas.microsoft.com/office/drawing/2014/main" id="{5A023ACB-452D-09FE-CAB0-D835DE0CC855}"/>
              </a:ext>
            </a:extLst>
          </p:cNvPr>
          <p:cNvSpPr txBox="1">
            <a:spLocks noGrp="1"/>
          </p:cNvSpPr>
          <p:nvPr/>
        </p:nvSpPr>
        <p:spPr>
          <a:xfrm>
            <a:off x="320040" y="566928"/>
            <a:ext cx="7772400" cy="23774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 lnSpcReduction="10000"/>
          </a:bodyPr>
          <a:lstStyle/>
          <a:p>
            <a:pPr algn="l"/>
            <a:r>
              <a:rPr lang="es-ES" sz="1000" dirty="0">
                <a:solidFill>
                  <a:srgbClr val="6B7280"/>
                </a:solidFill>
                <a:latin typeface="Reddit Sans"/>
                <a:ea typeface="Reddit Sans"/>
              </a:rPr>
              <a:t>Banca y Seguros · Energía y </a:t>
            </a:r>
            <a:r>
              <a:rPr lang="es-ES" sz="1000" dirty="0" err="1">
                <a:solidFill>
                  <a:srgbClr val="6B7280"/>
                </a:solidFill>
                <a:latin typeface="Reddit Sans"/>
                <a:ea typeface="Reddit Sans"/>
              </a:rPr>
              <a:t>Utilities</a:t>
            </a:r>
            <a:r>
              <a:rPr lang="es-ES" sz="1000" dirty="0">
                <a:solidFill>
                  <a:srgbClr val="6B7280"/>
                </a:solidFill>
                <a:latin typeface="Reddit Sans"/>
                <a:ea typeface="Reddit Sans"/>
              </a:rPr>
              <a:t> · Diagnosticadas con modelo de madurez N0-N5 propio</a:t>
            </a:r>
          </a:p>
        </p:txBody>
      </p:sp>
      <p:sp>
        <p:nvSpPr>
          <p:cNvPr id="2" name="Shape 10">
            <a:extLst>
              <a:ext uri="{FF2B5EF4-FFF2-40B4-BE49-F238E27FC236}">
                <a16:creationId xmlns:a16="http://schemas.microsoft.com/office/drawing/2014/main" id="{EF0FF842-835D-9AA8-2EFA-E7A5FB04F8CE}"/>
              </a:ext>
            </a:extLst>
          </p:cNvPr>
          <p:cNvSpPr/>
          <p:nvPr/>
        </p:nvSpPr>
        <p:spPr>
          <a:xfrm>
            <a:off x="6717247" y="914944"/>
            <a:ext cx="1279616" cy="77343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" name="Text 11">
            <a:extLst>
              <a:ext uri="{FF2B5EF4-FFF2-40B4-BE49-F238E27FC236}">
                <a16:creationId xmlns:a16="http://schemas.microsoft.com/office/drawing/2014/main" id="{F7D46063-4A67-428F-7409-01FA53B4BB0F}"/>
              </a:ext>
            </a:extLst>
          </p:cNvPr>
          <p:cNvSpPr/>
          <p:nvPr/>
        </p:nvSpPr>
        <p:spPr>
          <a:xfrm>
            <a:off x="6913190" y="926483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sz="3000" b="1" dirty="0">
              <a:solidFill>
                <a:srgbClr val="1F7A4D"/>
              </a:solidFill>
              <a:latin typeface="Reddit Sans Light"/>
              <a:ea typeface="Calibri"/>
              <a:cs typeface="Reddit Sans Light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EE68B4E7-36CA-E303-43C9-E5B05500E214}"/>
              </a:ext>
            </a:extLst>
          </p:cNvPr>
          <p:cNvSpPr/>
          <p:nvPr/>
        </p:nvSpPr>
        <p:spPr>
          <a:xfrm>
            <a:off x="6913190" y="1437023"/>
            <a:ext cx="95848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50" dirty="0" err="1">
                <a:solidFill>
                  <a:srgbClr val="5A6472"/>
                </a:solidFill>
                <a:latin typeface="Reddit Sans Light"/>
                <a:ea typeface="Calibri Light"/>
                <a:cs typeface="Reddit Sans Light"/>
              </a:rPr>
              <a:t>Applicaciones</a:t>
            </a:r>
            <a:endParaRPr lang="en-US" sz="975" dirty="0" err="1">
              <a:latin typeface="Reddit Sans Light"/>
              <a:cs typeface="Reddit Sans Light"/>
            </a:endParaRPr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6041C1E6-7FE4-0BE7-8E9A-439271DA0562}"/>
              </a:ext>
            </a:extLst>
          </p:cNvPr>
          <p:cNvSpPr/>
          <p:nvPr/>
        </p:nvSpPr>
        <p:spPr>
          <a:xfrm>
            <a:off x="6885975" y="937368"/>
            <a:ext cx="958488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7030A0"/>
                </a:solidFill>
                <a:latin typeface="Reddit Sans Light"/>
                <a:ea typeface="Calibri"/>
                <a:cs typeface="Reddit Sans Light"/>
              </a:rPr>
              <a:t>x</a:t>
            </a:r>
            <a:endParaRPr lang="es-ES">
              <a:solidFill>
                <a:srgbClr val="7030A0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438332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1A85AB29-3E46-933C-6579-812A0A90BF01}"/>
              </a:ext>
            </a:extLst>
          </p:cNvPr>
          <p:cNvSpPr/>
          <p:nvPr/>
        </p:nvSpPr>
        <p:spPr>
          <a:xfrm>
            <a:off x="761999" y="316230"/>
            <a:ext cx="7966058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rgbClr val="0E337C"/>
                </a:solidFill>
                <a:latin typeface="Reddit Sans"/>
                <a:ea typeface="Reddit Sans"/>
                <a:cs typeface="Reddit Sans Light"/>
                <a:sym typeface="Reddit Sans"/>
              </a:rPr>
              <a:t>   ASE</a:t>
            </a:r>
            <a:endParaRPr lang="es-ES" sz="1400">
              <a:latin typeface="Reddit Sans"/>
              <a:ea typeface="Reddit Sans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1B174B41-2534-2DDB-D755-573AA23A9EF0}"/>
              </a:ext>
            </a:extLst>
          </p:cNvPr>
          <p:cNvSpPr/>
          <p:nvPr/>
        </p:nvSpPr>
        <p:spPr>
          <a:xfrm>
            <a:off x="359227" y="677527"/>
            <a:ext cx="8455914" cy="66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Contrato</a:t>
            </a:r>
            <a:r>
              <a:rPr lang="en-US" sz="900" dirty="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: </a:t>
            </a:r>
            <a:r>
              <a:rPr lang="en-US" sz="900" dirty="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vence</a:t>
            </a:r>
            <a:r>
              <a:rPr lang="en-US" sz="900" dirty="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 </a:t>
            </a:r>
            <a:r>
              <a:rPr lang="en-US" sz="900" dirty="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agosto</a:t>
            </a:r>
            <a:r>
              <a:rPr lang="en-US" sz="900" dirty="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 2026 · RFP </a:t>
            </a:r>
            <a:r>
              <a:rPr lang="en-US" sz="900" dirty="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activo</a:t>
            </a:r>
            <a:r>
              <a:rPr lang="en-US" sz="900" dirty="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 con </a:t>
            </a:r>
            <a:r>
              <a:rPr lang="en-US" sz="900" dirty="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más</a:t>
            </a:r>
            <a:r>
              <a:rPr lang="en-US" sz="900" dirty="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 </a:t>
            </a:r>
            <a:r>
              <a:rPr lang="en-US" sz="900" dirty="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competidores</a:t>
            </a:r>
            <a:r>
              <a:rPr lang="en-US" sz="900" dirty="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 · </a:t>
            </a:r>
            <a:r>
              <a:rPr lang="en-US" sz="900" dirty="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Oportunidad</a:t>
            </a:r>
            <a:r>
              <a:rPr lang="en-US" sz="900" dirty="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 de </a:t>
            </a:r>
            <a:r>
              <a:rPr lang="en-US" sz="900" dirty="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reconversión</a:t>
            </a:r>
            <a:r>
              <a:rPr lang="en-US" sz="900" dirty="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 a managed service</a:t>
            </a:r>
          </a:p>
          <a:p>
            <a:r>
              <a:rPr lang="en-US" sz="900" dirty="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Herramienta</a:t>
            </a:r>
            <a:r>
              <a:rPr lang="en-US" sz="900" dirty="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 N1:</a:t>
            </a:r>
          </a:p>
          <a:p>
            <a:r>
              <a:rPr lang="en-US" sz="900" dirty="0" err="1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Soporte</a:t>
            </a:r>
            <a:r>
              <a:rPr lang="en-US" sz="900" dirty="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: </a:t>
            </a: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16809503-22DB-9889-DE78-CC5B5299AF39}"/>
              </a:ext>
            </a:extLst>
          </p:cNvPr>
          <p:cNvSpPr/>
          <p:nvPr/>
        </p:nvSpPr>
        <p:spPr>
          <a:xfrm>
            <a:off x="304800" y="1264376"/>
            <a:ext cx="8455914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267071E3-C75F-EE89-2A37-AAD3BDF31F5E}"/>
              </a:ext>
            </a:extLst>
          </p:cNvPr>
          <p:cNvSpPr/>
          <p:nvPr/>
        </p:nvSpPr>
        <p:spPr>
          <a:xfrm>
            <a:off x="304800" y="1264376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BD507D70-3AE7-04D0-AFD2-0EAC7330B64D}"/>
              </a:ext>
            </a:extLst>
          </p:cNvPr>
          <p:cNvSpPr/>
          <p:nvPr/>
        </p:nvSpPr>
        <p:spPr>
          <a:xfrm>
            <a:off x="441960" y="1264376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Soporte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IT/OT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en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Planta · Energía</a:t>
            </a:r>
            <a:endParaRPr lang="en-US" sz="1100" dirty="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3DE1F8DC-5FEE-E676-21DC-E1068E039E99}"/>
              </a:ext>
            </a:extLst>
          </p:cNvPr>
          <p:cNvSpPr/>
          <p:nvPr/>
        </p:nvSpPr>
        <p:spPr>
          <a:xfrm>
            <a:off x="510540" y="1744436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4</a:t>
            </a:r>
            <a:endParaRPr lang="en-US" sz="3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A8034584-9083-7DF0-F3A5-E82B982A6571}"/>
              </a:ext>
            </a:extLst>
          </p:cNvPr>
          <p:cNvSpPr/>
          <p:nvPr/>
        </p:nvSpPr>
        <p:spPr>
          <a:xfrm>
            <a:off x="510540" y="21902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B48EADF9-2797-147B-C132-F312D88F6975}"/>
              </a:ext>
            </a:extLst>
          </p:cNvPr>
          <p:cNvSpPr/>
          <p:nvPr/>
        </p:nvSpPr>
        <p:spPr>
          <a:xfrm>
            <a:off x="1830977" y="1760765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N/D</a:t>
            </a:r>
            <a:endParaRPr lang="en-US" sz="3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E4D126B8-723F-0CDC-481E-4A41ECA0D157}"/>
              </a:ext>
            </a:extLst>
          </p:cNvPr>
          <p:cNvSpPr/>
          <p:nvPr/>
        </p:nvSpPr>
        <p:spPr>
          <a:xfrm>
            <a:off x="1830977" y="2206535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Tickets/mes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E25898AC-B1EF-7180-86D2-418CC7C0E2ED}"/>
              </a:ext>
            </a:extLst>
          </p:cNvPr>
          <p:cNvSpPr/>
          <p:nvPr/>
        </p:nvSpPr>
        <p:spPr>
          <a:xfrm>
            <a:off x="3254828" y="1760765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N/D</a:t>
            </a:r>
            <a:endParaRPr lang="en-US" sz="3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F808B7D9-C809-77FD-A20A-6C27C6176397}"/>
              </a:ext>
            </a:extLst>
          </p:cNvPr>
          <p:cNvSpPr/>
          <p:nvPr/>
        </p:nvSpPr>
        <p:spPr>
          <a:xfrm>
            <a:off x="3254828" y="2206535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4841727A-448D-D948-2BF3-30CE5FD46798}"/>
              </a:ext>
            </a:extLst>
          </p:cNvPr>
          <p:cNvSpPr/>
          <p:nvPr/>
        </p:nvSpPr>
        <p:spPr>
          <a:xfrm>
            <a:off x="4624251" y="1766208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N/D</a:t>
            </a:r>
            <a:endParaRPr lang="en-US" sz="3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5D0A5D1D-89D1-6E4B-18B9-B52474A86D40}"/>
              </a:ext>
            </a:extLst>
          </p:cNvPr>
          <p:cNvSpPr/>
          <p:nvPr/>
        </p:nvSpPr>
        <p:spPr>
          <a:xfrm>
            <a:off x="4624251" y="2211978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 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F0034334-40A4-ED45-0E4D-9A586E1851AC}"/>
              </a:ext>
            </a:extLst>
          </p:cNvPr>
          <p:cNvSpPr/>
          <p:nvPr/>
        </p:nvSpPr>
        <p:spPr>
          <a:xfrm>
            <a:off x="510540" y="2498816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B796A2F1-2418-E77E-32E1-864C72B8C34E}"/>
              </a:ext>
            </a:extLst>
          </p:cNvPr>
          <p:cNvSpPr/>
          <p:nvPr/>
        </p:nvSpPr>
        <p:spPr>
          <a:xfrm>
            <a:off x="4762500" y="2498816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B65C6964-1D55-3313-D02F-2F0B4F4AA51B}"/>
              </a:ext>
            </a:extLst>
          </p:cNvPr>
          <p:cNvSpPr/>
          <p:nvPr/>
        </p:nvSpPr>
        <p:spPr>
          <a:xfrm>
            <a:off x="510540" y="2704556"/>
            <a:ext cx="397764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75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Modelo actual: staffing puro en planta física</a:t>
            </a:r>
            <a:endParaRPr lang="en-US" sz="975"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975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Contrato vigente hasta agosto 2026</a:t>
            </a:r>
            <a:endParaRPr lang="en-US" sz="975"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975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RFP abierto con 4-5 competidores activos</a:t>
            </a:r>
            <a:endParaRPr lang="en-US" sz="975"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975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El cliente quiere pasar a managed service completo</a:t>
            </a:r>
            <a:endParaRPr lang="en-US" sz="975"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975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PS debe cargar toda la operación — oportunidad de crecimiento</a:t>
            </a:r>
            <a:endParaRPr lang="en-US" sz="97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AA4DD2AB-75A9-097A-CF01-197A34B65643}"/>
              </a:ext>
            </a:extLst>
          </p:cNvPr>
          <p:cNvSpPr/>
          <p:nvPr/>
        </p:nvSpPr>
        <p:spPr>
          <a:xfrm>
            <a:off x="4762500" y="2704556"/>
            <a:ext cx="3840480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75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Sin métricas ni KPIs formales de ningún tipo</a:t>
            </a:r>
            <a:endParaRPr lang="en-US" sz="975"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975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Sin SLA contractual documentado</a:t>
            </a:r>
            <a:endParaRPr lang="en-US" sz="975"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975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Sin gobierno ni RACI definido</a:t>
            </a:r>
            <a:endParaRPr lang="en-US" sz="975"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975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Sin KEDB ni gestión de conocimiento</a:t>
            </a:r>
            <a:endParaRPr lang="en-US" sz="975"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975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Infraestructura on-premise sin escalabilidad</a:t>
            </a:r>
            <a:endParaRPr lang="en-US" sz="975">
              <a:latin typeface="Reddit Sans"/>
              <a:ea typeface="Reddit Sans"/>
              <a:cs typeface="Reddit Sans Light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975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Soporte físico en planta — disponibilidad limitada</a:t>
            </a:r>
            <a:endParaRPr lang="en-US" sz="97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C262E403-5373-7EE0-8667-96770348380A}"/>
              </a:ext>
            </a:extLst>
          </p:cNvPr>
          <p:cNvSpPr/>
          <p:nvPr/>
        </p:nvSpPr>
        <p:spPr>
          <a:xfrm>
            <a:off x="359229" y="318298"/>
            <a:ext cx="400486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N1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AFD507D-04A7-080E-6E4A-F3C21367876D}"/>
              </a:ext>
            </a:extLst>
          </p:cNvPr>
          <p:cNvSpPr/>
          <p:nvPr/>
        </p:nvSpPr>
        <p:spPr>
          <a:xfrm>
            <a:off x="359228" y="595884"/>
            <a:ext cx="84559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90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Lideradas por: </a:t>
            </a:r>
            <a:r>
              <a:rPr lang="en-US" sz="900">
                <a:solidFill>
                  <a:srgbClr val="132346"/>
                </a:solidFill>
                <a:highlight>
                  <a:srgbClr val="FFFFFF"/>
                </a:highlight>
                <a:latin typeface="Reddit Sans"/>
                <a:ea typeface="Reddit Sans"/>
                <a:cs typeface="Calibri Light"/>
              </a:rPr>
              <a:t>Michael Arevalo Luna</a:t>
            </a:r>
            <a:endParaRPr lang="es-ES" sz="900">
              <a:solidFill>
                <a:srgbClr val="132346"/>
              </a:solidFill>
              <a:highlight>
                <a:srgbClr val="FFFFFF"/>
              </a:highlight>
              <a:latin typeface="Reddit Sans"/>
              <a:ea typeface="Reddit Sans"/>
              <a:cs typeface="Calibri Light"/>
            </a:endParaRPr>
          </a:p>
        </p:txBody>
      </p:sp>
      <p:sp>
        <p:nvSpPr>
          <p:cNvPr id="5" name="Text 12">
            <a:extLst>
              <a:ext uri="{FF2B5EF4-FFF2-40B4-BE49-F238E27FC236}">
                <a16:creationId xmlns:a16="http://schemas.microsoft.com/office/drawing/2014/main" id="{C547CE20-478B-5FF0-B3E6-9FA4C7A859CE}"/>
              </a:ext>
            </a:extLst>
          </p:cNvPr>
          <p:cNvSpPr/>
          <p:nvPr/>
        </p:nvSpPr>
        <p:spPr>
          <a:xfrm>
            <a:off x="6616337" y="1760765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x</a:t>
            </a:r>
            <a:endParaRPr lang="es-ES"/>
          </a:p>
        </p:txBody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2F09C70E-2CA9-0D80-0376-E6F0231974D1}"/>
              </a:ext>
            </a:extLst>
          </p:cNvPr>
          <p:cNvSpPr/>
          <p:nvPr/>
        </p:nvSpPr>
        <p:spPr>
          <a:xfrm>
            <a:off x="6616336" y="2190207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dirty="0" err="1"/>
          </a:p>
        </p:txBody>
      </p:sp>
    </p:spTree>
    <p:extLst>
      <p:ext uri="{BB962C8B-B14F-4D97-AF65-F5344CB8AC3E}">
        <p14:creationId xmlns:p14="http://schemas.microsoft.com/office/powerpoint/2010/main" val="25677430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BE3EF-505A-A9AA-3DD7-2340C0CFC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2">
            <a:extLst>
              <a:ext uri="{FF2B5EF4-FFF2-40B4-BE49-F238E27FC236}">
                <a16:creationId xmlns:a16="http://schemas.microsoft.com/office/drawing/2014/main" id="{E614E6D6-0DA2-1578-495D-60117A6F7CAE}"/>
              </a:ext>
            </a:extLst>
          </p:cNvPr>
          <p:cNvSpPr/>
          <p:nvPr/>
        </p:nvSpPr>
        <p:spPr>
          <a:xfrm>
            <a:off x="283028" y="3131275"/>
            <a:ext cx="8455914" cy="1728652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8BE41FEF-DD12-CD8A-FECE-11B57284022A}"/>
              </a:ext>
            </a:extLst>
          </p:cNvPr>
          <p:cNvSpPr/>
          <p:nvPr/>
        </p:nvSpPr>
        <p:spPr>
          <a:xfrm>
            <a:off x="332014" y="3120389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C41FB6A4-A0E5-08F0-51BD-A9F67EE4928A}"/>
              </a:ext>
            </a:extLst>
          </p:cNvPr>
          <p:cNvSpPr/>
          <p:nvPr/>
        </p:nvSpPr>
        <p:spPr>
          <a:xfrm>
            <a:off x="1164769" y="316230"/>
            <a:ext cx="7557846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rgbClr val="0E337C"/>
                </a:solidFill>
                <a:latin typeface="Reddit Sans"/>
                <a:ea typeface="Reddit Sans"/>
                <a:cs typeface="Reddit Sans Light"/>
                <a:sym typeface="Reddit Sans"/>
              </a:rPr>
              <a:t>    SURA</a:t>
            </a:r>
            <a:endParaRPr lang="es-ES" sz="1400">
              <a:latin typeface="Reddit Sans"/>
              <a:ea typeface="Reddit Sans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6E708224-8AB7-F20F-AB49-F708F87CC8AC}"/>
              </a:ext>
            </a:extLst>
          </p:cNvPr>
          <p:cNvSpPr/>
          <p:nvPr/>
        </p:nvSpPr>
        <p:spPr>
          <a:xfrm>
            <a:off x="332014" y="1302475"/>
            <a:ext cx="8455914" cy="1728652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9318D3E4-80AD-589B-EE30-4EA8C56F0CF6}"/>
              </a:ext>
            </a:extLst>
          </p:cNvPr>
          <p:cNvSpPr/>
          <p:nvPr/>
        </p:nvSpPr>
        <p:spPr>
          <a:xfrm>
            <a:off x="342900" y="1302475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2267A0CA-08D4-FF07-9D67-7EC771F16370}"/>
              </a:ext>
            </a:extLst>
          </p:cNvPr>
          <p:cNvSpPr/>
          <p:nvPr/>
        </p:nvSpPr>
        <p:spPr>
          <a:xfrm>
            <a:off x="480060" y="1302475"/>
            <a:ext cx="83166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N2-N3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Cotizadores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: 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Soporte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operación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plataforma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cotizadores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para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venta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seguros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;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atención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principalmente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incidentes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con bajo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volumen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de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requerimientos</a:t>
            </a: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067E5589-714E-6974-161F-791DE51F2B39}"/>
              </a:ext>
            </a:extLst>
          </p:cNvPr>
          <p:cNvSpPr/>
          <p:nvPr/>
        </p:nvSpPr>
        <p:spPr>
          <a:xfrm>
            <a:off x="548640" y="1782535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4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09DCF838-9BBE-14D9-2F80-C2C3974E281C}"/>
              </a:ext>
            </a:extLst>
          </p:cNvPr>
          <p:cNvSpPr/>
          <p:nvPr/>
        </p:nvSpPr>
        <p:spPr>
          <a:xfrm>
            <a:off x="548640" y="2124891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29BF4869-D295-EE03-CADD-BF1543FFC228}"/>
              </a:ext>
            </a:extLst>
          </p:cNvPr>
          <p:cNvSpPr/>
          <p:nvPr/>
        </p:nvSpPr>
        <p:spPr>
          <a:xfrm>
            <a:off x="1907177" y="1787978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668</a:t>
            </a:r>
            <a:endParaRPr lang="es-ES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8B67306F-8BF3-DED2-A4D9-9FA8D3A1CDD3}"/>
              </a:ext>
            </a:extLst>
          </p:cNvPr>
          <p:cNvSpPr/>
          <p:nvPr/>
        </p:nvSpPr>
        <p:spPr>
          <a:xfrm>
            <a:off x="1907177" y="2130334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Tickets/mes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45F01504-CC6E-8F47-1863-C9B380D62E61}"/>
              </a:ext>
            </a:extLst>
          </p:cNvPr>
          <p:cNvSpPr/>
          <p:nvPr/>
        </p:nvSpPr>
        <p:spPr>
          <a:xfrm>
            <a:off x="3216728" y="1815192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N/D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3780BEC4-3EB1-9929-8C38-9C939A33CA18}"/>
              </a:ext>
            </a:extLst>
          </p:cNvPr>
          <p:cNvSpPr/>
          <p:nvPr/>
        </p:nvSpPr>
        <p:spPr>
          <a:xfrm>
            <a:off x="3091543" y="2157548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3BE52F09-E1B6-9F86-A128-7900F2C183E0}"/>
              </a:ext>
            </a:extLst>
          </p:cNvPr>
          <p:cNvSpPr/>
          <p:nvPr/>
        </p:nvSpPr>
        <p:spPr>
          <a:xfrm>
            <a:off x="4335779" y="1804306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N/D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50979E78-07FE-1C55-9257-E52E5EEE8580}"/>
              </a:ext>
            </a:extLst>
          </p:cNvPr>
          <p:cNvSpPr/>
          <p:nvPr/>
        </p:nvSpPr>
        <p:spPr>
          <a:xfrm>
            <a:off x="4324893" y="2157548"/>
            <a:ext cx="1947454" cy="211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 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9DB8946C-38E7-7A80-461C-29EF308C7C09}"/>
              </a:ext>
            </a:extLst>
          </p:cNvPr>
          <p:cNvSpPr/>
          <p:nvPr/>
        </p:nvSpPr>
        <p:spPr>
          <a:xfrm>
            <a:off x="701040" y="2335529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7E8CC78D-8910-9CB9-25B0-46B48750AD3F}"/>
              </a:ext>
            </a:extLst>
          </p:cNvPr>
          <p:cNvSpPr/>
          <p:nvPr/>
        </p:nvSpPr>
        <p:spPr>
          <a:xfrm>
            <a:off x="4778829" y="2335529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1ABD29D1-06B5-1648-054C-78EFE108942C}"/>
              </a:ext>
            </a:extLst>
          </p:cNvPr>
          <p:cNvSpPr/>
          <p:nvPr/>
        </p:nvSpPr>
        <p:spPr>
          <a:xfrm>
            <a:off x="499654" y="2524941"/>
            <a:ext cx="3977640" cy="26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</a:t>
            </a: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E96163CB-45D5-F809-787B-CB795BE21DFB}"/>
              </a:ext>
            </a:extLst>
          </p:cNvPr>
          <p:cNvSpPr/>
          <p:nvPr/>
        </p:nvSpPr>
        <p:spPr>
          <a:xfrm>
            <a:off x="4751614" y="2524941"/>
            <a:ext cx="3840480" cy="26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</a:t>
            </a: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D0670633-9994-2DD5-6A44-033753CB8296}"/>
              </a:ext>
            </a:extLst>
          </p:cNvPr>
          <p:cNvSpPr/>
          <p:nvPr/>
        </p:nvSpPr>
        <p:spPr>
          <a:xfrm>
            <a:off x="337459" y="318298"/>
            <a:ext cx="825026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N2 - N3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C65D8E17-F696-0C7A-EA0F-08EF126831F0}"/>
              </a:ext>
            </a:extLst>
          </p:cNvPr>
          <p:cNvSpPr txBox="1">
            <a:spLocks noGrp="1"/>
          </p:cNvSpPr>
          <p:nvPr/>
        </p:nvSpPr>
        <p:spPr>
          <a:xfrm>
            <a:off x="314596" y="645740"/>
            <a:ext cx="8305800" cy="41583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Lideradas por:  Elsy </a:t>
            </a:r>
            <a:r>
              <a:rPr lang="es-ES" sz="900" dirty="0" err="1">
                <a:solidFill>
                  <a:srgbClr val="132346"/>
                </a:solidFill>
                <a:latin typeface="Reddit Sans"/>
                <a:ea typeface="Reddit Sans"/>
              </a:rPr>
              <a:t>Marin</a:t>
            </a:r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 · </a:t>
            </a:r>
            <a:endParaRPr lang="es-ES"/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Herramienta N1: BMC Helix ITSM · 17 FTE totales · 1.525 tickets/mes · Modelo: FTE Dedicado</a:t>
            </a:r>
            <a:endParaRPr lang="es-ES"/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Contrato: Agosto con posible renovación hasta diciembre de 2026.  Propuesta con mirada de optimización; Compañía de Conexión / negociación comercial para el 2027. Se debe competir con otros proveedores</a:t>
            </a: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Soporte:</a:t>
            </a:r>
            <a:endParaRPr lang="es-ES" sz="900" dirty="0">
              <a:solidFill>
                <a:srgbClr val="132346"/>
              </a:solidFill>
              <a:latin typeface="Reddit Sans"/>
              <a:ea typeface="Reddit Sans"/>
            </a:endParaRPr>
          </a:p>
          <a:p>
            <a:endParaRPr lang="es-ES" sz="900" dirty="0">
              <a:solidFill>
                <a:srgbClr val="132346"/>
              </a:solidFill>
              <a:latin typeface="Reddit Sans"/>
              <a:ea typeface="Reddit Sans"/>
            </a:endParaRPr>
          </a:p>
        </p:txBody>
      </p:sp>
      <p:sp>
        <p:nvSpPr>
          <p:cNvPr id="17" name="Text 4">
            <a:extLst>
              <a:ext uri="{FF2B5EF4-FFF2-40B4-BE49-F238E27FC236}">
                <a16:creationId xmlns:a16="http://schemas.microsoft.com/office/drawing/2014/main" id="{14A13F7B-96FD-AB80-0FFD-F4E657AB7901}"/>
              </a:ext>
            </a:extLst>
          </p:cNvPr>
          <p:cNvSpPr/>
          <p:nvPr/>
        </p:nvSpPr>
        <p:spPr>
          <a:xfrm>
            <a:off x="474617" y="3114946"/>
            <a:ext cx="83166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N2 Digital Venta: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Soporte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a canal digital de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venta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y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análisis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de causa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raíz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.</a:t>
            </a:r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1F419E6F-3670-4619-7F81-95F850A386C7}"/>
              </a:ext>
            </a:extLst>
          </p:cNvPr>
          <p:cNvSpPr/>
          <p:nvPr/>
        </p:nvSpPr>
        <p:spPr>
          <a:xfrm>
            <a:off x="581297" y="4376600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28965076-5CE2-02B4-A63D-ECD034896999}"/>
              </a:ext>
            </a:extLst>
          </p:cNvPr>
          <p:cNvSpPr/>
          <p:nvPr/>
        </p:nvSpPr>
        <p:spPr>
          <a:xfrm>
            <a:off x="4659086" y="4376600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1" name="Text 12">
            <a:extLst>
              <a:ext uri="{FF2B5EF4-FFF2-40B4-BE49-F238E27FC236}">
                <a16:creationId xmlns:a16="http://schemas.microsoft.com/office/drawing/2014/main" id="{651E7A52-FD27-B8D1-DBBF-5C695E099D45}"/>
              </a:ext>
            </a:extLst>
          </p:cNvPr>
          <p:cNvSpPr/>
          <p:nvPr/>
        </p:nvSpPr>
        <p:spPr>
          <a:xfrm>
            <a:off x="5838008" y="1793421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x</a:t>
            </a:r>
            <a:endParaRPr lang="es-ES"/>
          </a:p>
        </p:txBody>
      </p:sp>
      <p:sp>
        <p:nvSpPr>
          <p:cNvPr id="43" name="Text 13">
            <a:extLst>
              <a:ext uri="{FF2B5EF4-FFF2-40B4-BE49-F238E27FC236}">
                <a16:creationId xmlns:a16="http://schemas.microsoft.com/office/drawing/2014/main" id="{7C9BE13C-0CE5-F911-C40A-6A6B8C764C93}"/>
              </a:ext>
            </a:extLst>
          </p:cNvPr>
          <p:cNvSpPr/>
          <p:nvPr/>
        </p:nvSpPr>
        <p:spPr>
          <a:xfrm>
            <a:off x="5838007" y="2222863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dirty="0" err="1"/>
          </a:p>
        </p:txBody>
      </p:sp>
      <p:sp>
        <p:nvSpPr>
          <p:cNvPr id="44" name="Text 6">
            <a:extLst>
              <a:ext uri="{FF2B5EF4-FFF2-40B4-BE49-F238E27FC236}">
                <a16:creationId xmlns:a16="http://schemas.microsoft.com/office/drawing/2014/main" id="{85528674-EF95-1FBB-EFAF-09209B70C88B}"/>
              </a:ext>
            </a:extLst>
          </p:cNvPr>
          <p:cNvSpPr/>
          <p:nvPr/>
        </p:nvSpPr>
        <p:spPr>
          <a:xfrm>
            <a:off x="543197" y="3605892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147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5" name="Text 7">
            <a:extLst>
              <a:ext uri="{FF2B5EF4-FFF2-40B4-BE49-F238E27FC236}">
                <a16:creationId xmlns:a16="http://schemas.microsoft.com/office/drawing/2014/main" id="{C722B9B7-35CD-37DE-DB78-9F7B4043B47F}"/>
              </a:ext>
            </a:extLst>
          </p:cNvPr>
          <p:cNvSpPr/>
          <p:nvPr/>
        </p:nvSpPr>
        <p:spPr>
          <a:xfrm>
            <a:off x="543197" y="3948248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6" name="Text 8">
            <a:extLst>
              <a:ext uri="{FF2B5EF4-FFF2-40B4-BE49-F238E27FC236}">
                <a16:creationId xmlns:a16="http://schemas.microsoft.com/office/drawing/2014/main" id="{C6CF76BA-3E0F-9356-FAB8-516FF95BDC35}"/>
              </a:ext>
            </a:extLst>
          </p:cNvPr>
          <p:cNvSpPr/>
          <p:nvPr/>
        </p:nvSpPr>
        <p:spPr>
          <a:xfrm>
            <a:off x="1901734" y="3611335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668</a:t>
            </a:r>
            <a:endParaRPr lang="es-ES"/>
          </a:p>
        </p:txBody>
      </p:sp>
      <p:sp>
        <p:nvSpPr>
          <p:cNvPr id="47" name="Text 9">
            <a:extLst>
              <a:ext uri="{FF2B5EF4-FFF2-40B4-BE49-F238E27FC236}">
                <a16:creationId xmlns:a16="http://schemas.microsoft.com/office/drawing/2014/main" id="{0F68F337-A152-4E6F-D531-C438C0201388}"/>
              </a:ext>
            </a:extLst>
          </p:cNvPr>
          <p:cNvSpPr/>
          <p:nvPr/>
        </p:nvSpPr>
        <p:spPr>
          <a:xfrm>
            <a:off x="1901734" y="3953691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Tickets/mes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8" name="Text 10">
            <a:extLst>
              <a:ext uri="{FF2B5EF4-FFF2-40B4-BE49-F238E27FC236}">
                <a16:creationId xmlns:a16="http://schemas.microsoft.com/office/drawing/2014/main" id="{510809F7-17F9-EEC5-FBB5-ADD1FD74010A}"/>
              </a:ext>
            </a:extLst>
          </p:cNvPr>
          <p:cNvSpPr/>
          <p:nvPr/>
        </p:nvSpPr>
        <p:spPr>
          <a:xfrm>
            <a:off x="3211285" y="3638549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N/D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9" name="Text 11">
            <a:extLst>
              <a:ext uri="{FF2B5EF4-FFF2-40B4-BE49-F238E27FC236}">
                <a16:creationId xmlns:a16="http://schemas.microsoft.com/office/drawing/2014/main" id="{C5ACEDF5-8BBC-8AE1-62E0-0D5E0C051876}"/>
              </a:ext>
            </a:extLst>
          </p:cNvPr>
          <p:cNvSpPr/>
          <p:nvPr/>
        </p:nvSpPr>
        <p:spPr>
          <a:xfrm>
            <a:off x="3086100" y="3980905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0" name="Text 12">
            <a:extLst>
              <a:ext uri="{FF2B5EF4-FFF2-40B4-BE49-F238E27FC236}">
                <a16:creationId xmlns:a16="http://schemas.microsoft.com/office/drawing/2014/main" id="{398D88B3-D459-3A64-580A-9B9961758CDB}"/>
              </a:ext>
            </a:extLst>
          </p:cNvPr>
          <p:cNvSpPr/>
          <p:nvPr/>
        </p:nvSpPr>
        <p:spPr>
          <a:xfrm>
            <a:off x="4330336" y="3627663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N/D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1" name="Text 13">
            <a:extLst>
              <a:ext uri="{FF2B5EF4-FFF2-40B4-BE49-F238E27FC236}">
                <a16:creationId xmlns:a16="http://schemas.microsoft.com/office/drawing/2014/main" id="{006987E2-3FAC-92DE-5771-1975C0DC2FA0}"/>
              </a:ext>
            </a:extLst>
          </p:cNvPr>
          <p:cNvSpPr/>
          <p:nvPr/>
        </p:nvSpPr>
        <p:spPr>
          <a:xfrm>
            <a:off x="4319450" y="3980905"/>
            <a:ext cx="1947454" cy="211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 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2" name="Text 12">
            <a:extLst>
              <a:ext uri="{FF2B5EF4-FFF2-40B4-BE49-F238E27FC236}">
                <a16:creationId xmlns:a16="http://schemas.microsoft.com/office/drawing/2014/main" id="{3A540782-8A79-38E1-D2B2-5DFFE89221DC}"/>
              </a:ext>
            </a:extLst>
          </p:cNvPr>
          <p:cNvSpPr/>
          <p:nvPr/>
        </p:nvSpPr>
        <p:spPr>
          <a:xfrm>
            <a:off x="5832565" y="3616778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x</a:t>
            </a:r>
            <a:endParaRPr lang="es-ES"/>
          </a:p>
        </p:txBody>
      </p:sp>
      <p:sp>
        <p:nvSpPr>
          <p:cNvPr id="53" name="Text 13">
            <a:extLst>
              <a:ext uri="{FF2B5EF4-FFF2-40B4-BE49-F238E27FC236}">
                <a16:creationId xmlns:a16="http://schemas.microsoft.com/office/drawing/2014/main" id="{5CC83082-E2EC-9C5D-D573-99BD714EC23B}"/>
              </a:ext>
            </a:extLst>
          </p:cNvPr>
          <p:cNvSpPr/>
          <p:nvPr/>
        </p:nvSpPr>
        <p:spPr>
          <a:xfrm>
            <a:off x="5838007" y="40190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dirty="0" err="1"/>
          </a:p>
        </p:txBody>
      </p:sp>
    </p:spTree>
    <p:extLst>
      <p:ext uri="{BB962C8B-B14F-4D97-AF65-F5344CB8AC3E}">
        <p14:creationId xmlns:p14="http://schemas.microsoft.com/office/powerpoint/2010/main" val="21152334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00209-D4AE-875A-CC42-B245F806D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2">
            <a:extLst>
              <a:ext uri="{FF2B5EF4-FFF2-40B4-BE49-F238E27FC236}">
                <a16:creationId xmlns:a16="http://schemas.microsoft.com/office/drawing/2014/main" id="{020D75A5-A715-6807-E2AA-BFACB42C0137}"/>
              </a:ext>
            </a:extLst>
          </p:cNvPr>
          <p:cNvSpPr/>
          <p:nvPr/>
        </p:nvSpPr>
        <p:spPr>
          <a:xfrm>
            <a:off x="337457" y="3136718"/>
            <a:ext cx="8455914" cy="1728652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48DA4417-3E2D-35EB-7103-9BD9CBA2F25D}"/>
              </a:ext>
            </a:extLst>
          </p:cNvPr>
          <p:cNvSpPr/>
          <p:nvPr/>
        </p:nvSpPr>
        <p:spPr>
          <a:xfrm>
            <a:off x="332014" y="3142161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78C0637D-F5DC-FFE0-248C-596E17DC288C}"/>
              </a:ext>
            </a:extLst>
          </p:cNvPr>
          <p:cNvSpPr/>
          <p:nvPr/>
        </p:nvSpPr>
        <p:spPr>
          <a:xfrm>
            <a:off x="761999" y="316230"/>
            <a:ext cx="7966058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rgbClr val="0E337C"/>
                </a:solidFill>
                <a:latin typeface="Reddit Sans"/>
                <a:ea typeface="Reddit Sans"/>
                <a:cs typeface="Reddit Sans Light"/>
                <a:sym typeface="Reddit Sans"/>
              </a:rPr>
              <a:t>   SURA</a:t>
            </a:r>
            <a:endParaRPr lang="es-ES" sz="1400">
              <a:latin typeface="Reddit Sans"/>
              <a:ea typeface="Reddit Sans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975050A0-27B2-E5BB-AB6D-6A66F974CA60}"/>
              </a:ext>
            </a:extLst>
          </p:cNvPr>
          <p:cNvSpPr/>
          <p:nvPr/>
        </p:nvSpPr>
        <p:spPr>
          <a:xfrm>
            <a:off x="332014" y="1324247"/>
            <a:ext cx="8455914" cy="1728652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86C82808-7438-BC6D-95DF-F67924E16665}"/>
              </a:ext>
            </a:extLst>
          </p:cNvPr>
          <p:cNvSpPr/>
          <p:nvPr/>
        </p:nvSpPr>
        <p:spPr>
          <a:xfrm>
            <a:off x="342900" y="1324247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A3B6513F-04E9-2ADE-D932-54FA0855FF2F}"/>
              </a:ext>
            </a:extLst>
          </p:cNvPr>
          <p:cNvSpPr/>
          <p:nvPr/>
        </p:nvSpPr>
        <p:spPr>
          <a:xfrm>
            <a:off x="480060" y="1324247"/>
            <a:ext cx="83166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N2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Automatización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: _</a:t>
            </a: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9500E9CB-276A-D1AF-F9FE-D676B7E4067E}"/>
              </a:ext>
            </a:extLst>
          </p:cNvPr>
          <p:cNvSpPr/>
          <p:nvPr/>
        </p:nvSpPr>
        <p:spPr>
          <a:xfrm>
            <a:off x="701040" y="2357301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EDB2C49F-FA80-E6CC-237F-41D9074E9B11}"/>
              </a:ext>
            </a:extLst>
          </p:cNvPr>
          <p:cNvSpPr/>
          <p:nvPr/>
        </p:nvSpPr>
        <p:spPr>
          <a:xfrm>
            <a:off x="4778829" y="2357301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EB5CF038-5476-92D2-B351-AB248EECE904}"/>
              </a:ext>
            </a:extLst>
          </p:cNvPr>
          <p:cNvSpPr/>
          <p:nvPr/>
        </p:nvSpPr>
        <p:spPr>
          <a:xfrm>
            <a:off x="499654" y="2546713"/>
            <a:ext cx="3977640" cy="26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</a:t>
            </a: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52D840D8-EF71-666C-664C-E12044C2CCF6}"/>
              </a:ext>
            </a:extLst>
          </p:cNvPr>
          <p:cNvSpPr/>
          <p:nvPr/>
        </p:nvSpPr>
        <p:spPr>
          <a:xfrm>
            <a:off x="4751614" y="2546713"/>
            <a:ext cx="3840480" cy="26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</a:t>
            </a: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2E8A29DD-4BB7-0A4D-1E85-5AC88236D013}"/>
              </a:ext>
            </a:extLst>
          </p:cNvPr>
          <p:cNvSpPr/>
          <p:nvPr/>
        </p:nvSpPr>
        <p:spPr>
          <a:xfrm>
            <a:off x="359229" y="318298"/>
            <a:ext cx="400486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N2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52E1C7C6-6A7D-5B4C-A06C-B6BD2C8EEFA8}"/>
              </a:ext>
            </a:extLst>
          </p:cNvPr>
          <p:cNvSpPr txBox="1">
            <a:spLocks noGrp="1"/>
          </p:cNvSpPr>
          <p:nvPr/>
        </p:nvSpPr>
        <p:spPr>
          <a:xfrm>
            <a:off x="287382" y="678397"/>
            <a:ext cx="8305800" cy="6117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Lideradas por: Elsy </a:t>
            </a:r>
            <a:r>
              <a:rPr lang="es-ES" sz="900" dirty="0" err="1">
                <a:solidFill>
                  <a:srgbClr val="132346"/>
                </a:solidFill>
                <a:latin typeface="Reddit Sans"/>
                <a:ea typeface="Reddit Sans"/>
              </a:rPr>
              <a:t>Marin</a:t>
            </a:r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 ·</a:t>
            </a:r>
            <a:endParaRPr lang="es-ES" dirty="0"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Herramienta N1: BMC Helix ITSM · 17 FTE totales · 1.525 tickets/mes ·</a:t>
            </a:r>
            <a:endParaRPr lang="es-ES"/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Contrato</a:t>
            </a:r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 Modelo: FTE Dedicado</a:t>
            </a: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Soporte: </a:t>
            </a:r>
            <a:endParaRPr lang="es-ES" sz="900" dirty="0">
              <a:solidFill>
                <a:srgbClr val="132346"/>
              </a:solidFill>
              <a:latin typeface="Reddit Sans"/>
              <a:ea typeface="Reddit Sans"/>
            </a:endParaRPr>
          </a:p>
        </p:txBody>
      </p:sp>
      <p:sp>
        <p:nvSpPr>
          <p:cNvPr id="17" name="Text 4">
            <a:extLst>
              <a:ext uri="{FF2B5EF4-FFF2-40B4-BE49-F238E27FC236}">
                <a16:creationId xmlns:a16="http://schemas.microsoft.com/office/drawing/2014/main" id="{3B467A1A-B761-2E9C-CF6B-1F72E44F3690}"/>
              </a:ext>
            </a:extLst>
          </p:cNvPr>
          <p:cNvSpPr/>
          <p:nvPr/>
        </p:nvSpPr>
        <p:spPr>
          <a:xfrm>
            <a:off x="474617" y="3136718"/>
            <a:ext cx="83166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N2 Canales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Masivos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: _</a:t>
            </a:r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FE001DDB-F4D7-F317-C72B-5DA1BA0976F0}"/>
              </a:ext>
            </a:extLst>
          </p:cNvPr>
          <p:cNvSpPr/>
          <p:nvPr/>
        </p:nvSpPr>
        <p:spPr>
          <a:xfrm>
            <a:off x="581297" y="4398372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1B28FA4F-FF50-825F-51BE-D50BAE39FD24}"/>
              </a:ext>
            </a:extLst>
          </p:cNvPr>
          <p:cNvSpPr/>
          <p:nvPr/>
        </p:nvSpPr>
        <p:spPr>
          <a:xfrm>
            <a:off x="4659086" y="4398372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E02C3BFD-2917-CA23-5561-62DD82AA38A2}"/>
              </a:ext>
            </a:extLst>
          </p:cNvPr>
          <p:cNvSpPr/>
          <p:nvPr/>
        </p:nvSpPr>
        <p:spPr>
          <a:xfrm>
            <a:off x="548640" y="1804307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4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28349B4D-E0FD-5902-2E54-4802E1B3E81A}"/>
              </a:ext>
            </a:extLst>
          </p:cNvPr>
          <p:cNvSpPr/>
          <p:nvPr/>
        </p:nvSpPr>
        <p:spPr>
          <a:xfrm>
            <a:off x="548640" y="2146663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3E766BA8-E0DC-2DA2-FB33-93B14C428A54}"/>
              </a:ext>
            </a:extLst>
          </p:cNvPr>
          <p:cNvSpPr/>
          <p:nvPr/>
        </p:nvSpPr>
        <p:spPr>
          <a:xfrm>
            <a:off x="1907177" y="18097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512</a:t>
            </a:r>
            <a:endParaRPr lang="es-ES"/>
          </a:p>
        </p:txBody>
      </p:sp>
      <p:sp>
        <p:nvSpPr>
          <p:cNvPr id="41" name="Text 9">
            <a:extLst>
              <a:ext uri="{FF2B5EF4-FFF2-40B4-BE49-F238E27FC236}">
                <a16:creationId xmlns:a16="http://schemas.microsoft.com/office/drawing/2014/main" id="{9D25CDC6-D1A1-0447-66DD-69A456D3BC00}"/>
              </a:ext>
            </a:extLst>
          </p:cNvPr>
          <p:cNvSpPr/>
          <p:nvPr/>
        </p:nvSpPr>
        <p:spPr>
          <a:xfrm>
            <a:off x="1907177" y="21521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Tickets/mes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3" name="Text 10">
            <a:extLst>
              <a:ext uri="{FF2B5EF4-FFF2-40B4-BE49-F238E27FC236}">
                <a16:creationId xmlns:a16="http://schemas.microsoft.com/office/drawing/2014/main" id="{2EB3C36F-DDB6-9E44-B092-7A0E3E14FDCC}"/>
              </a:ext>
            </a:extLst>
          </p:cNvPr>
          <p:cNvSpPr/>
          <p:nvPr/>
        </p:nvSpPr>
        <p:spPr>
          <a:xfrm>
            <a:off x="3216728" y="1836964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N/D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5" name="Text 11">
            <a:extLst>
              <a:ext uri="{FF2B5EF4-FFF2-40B4-BE49-F238E27FC236}">
                <a16:creationId xmlns:a16="http://schemas.microsoft.com/office/drawing/2014/main" id="{35A22733-1FB9-F014-0B51-1DF9C149DBE6}"/>
              </a:ext>
            </a:extLst>
          </p:cNvPr>
          <p:cNvSpPr/>
          <p:nvPr/>
        </p:nvSpPr>
        <p:spPr>
          <a:xfrm>
            <a:off x="3091543" y="2179320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7" name="Text 12">
            <a:extLst>
              <a:ext uri="{FF2B5EF4-FFF2-40B4-BE49-F238E27FC236}">
                <a16:creationId xmlns:a16="http://schemas.microsoft.com/office/drawing/2014/main" id="{E2A5A94C-EDE0-2A02-0D9B-DB6CED5287B1}"/>
              </a:ext>
            </a:extLst>
          </p:cNvPr>
          <p:cNvSpPr/>
          <p:nvPr/>
        </p:nvSpPr>
        <p:spPr>
          <a:xfrm>
            <a:off x="4335779" y="1826078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N/D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9" name="Text 13">
            <a:extLst>
              <a:ext uri="{FF2B5EF4-FFF2-40B4-BE49-F238E27FC236}">
                <a16:creationId xmlns:a16="http://schemas.microsoft.com/office/drawing/2014/main" id="{05334B2B-DE06-0D1E-DB05-8E45DE0AD598}"/>
              </a:ext>
            </a:extLst>
          </p:cNvPr>
          <p:cNvSpPr/>
          <p:nvPr/>
        </p:nvSpPr>
        <p:spPr>
          <a:xfrm>
            <a:off x="4324893" y="2179320"/>
            <a:ext cx="1947454" cy="211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 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1" name="Text 12">
            <a:extLst>
              <a:ext uri="{FF2B5EF4-FFF2-40B4-BE49-F238E27FC236}">
                <a16:creationId xmlns:a16="http://schemas.microsoft.com/office/drawing/2014/main" id="{228C1B5E-3ABC-11E8-6F56-206B14C90DE3}"/>
              </a:ext>
            </a:extLst>
          </p:cNvPr>
          <p:cNvSpPr/>
          <p:nvPr/>
        </p:nvSpPr>
        <p:spPr>
          <a:xfrm>
            <a:off x="5838008" y="1815193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x</a:t>
            </a:r>
            <a:endParaRPr lang="es-ES"/>
          </a:p>
        </p:txBody>
      </p:sp>
      <p:sp>
        <p:nvSpPr>
          <p:cNvPr id="53" name="Text 6">
            <a:extLst>
              <a:ext uri="{FF2B5EF4-FFF2-40B4-BE49-F238E27FC236}">
                <a16:creationId xmlns:a16="http://schemas.microsoft.com/office/drawing/2014/main" id="{8362DFE6-EB1F-281A-E832-4439DEF89950}"/>
              </a:ext>
            </a:extLst>
          </p:cNvPr>
          <p:cNvSpPr/>
          <p:nvPr/>
        </p:nvSpPr>
        <p:spPr>
          <a:xfrm>
            <a:off x="515983" y="3687536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4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5" name="Text 7">
            <a:extLst>
              <a:ext uri="{FF2B5EF4-FFF2-40B4-BE49-F238E27FC236}">
                <a16:creationId xmlns:a16="http://schemas.microsoft.com/office/drawing/2014/main" id="{12DD470F-867E-9BD4-7EA1-955FF394C4A1}"/>
              </a:ext>
            </a:extLst>
          </p:cNvPr>
          <p:cNvSpPr/>
          <p:nvPr/>
        </p:nvSpPr>
        <p:spPr>
          <a:xfrm>
            <a:off x="515983" y="4029892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7" name="Text 8">
            <a:extLst>
              <a:ext uri="{FF2B5EF4-FFF2-40B4-BE49-F238E27FC236}">
                <a16:creationId xmlns:a16="http://schemas.microsoft.com/office/drawing/2014/main" id="{054B591B-6840-4BB3-7384-E34EC52A03EB}"/>
              </a:ext>
            </a:extLst>
          </p:cNvPr>
          <p:cNvSpPr/>
          <p:nvPr/>
        </p:nvSpPr>
        <p:spPr>
          <a:xfrm>
            <a:off x="1874520" y="3692979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171</a:t>
            </a:r>
            <a:endParaRPr lang="es-ES"/>
          </a:p>
        </p:txBody>
      </p:sp>
      <p:sp>
        <p:nvSpPr>
          <p:cNvPr id="59" name="Text 9">
            <a:extLst>
              <a:ext uri="{FF2B5EF4-FFF2-40B4-BE49-F238E27FC236}">
                <a16:creationId xmlns:a16="http://schemas.microsoft.com/office/drawing/2014/main" id="{67180CBA-7BDA-B8A4-8C64-06B6B1CCE68F}"/>
              </a:ext>
            </a:extLst>
          </p:cNvPr>
          <p:cNvSpPr/>
          <p:nvPr/>
        </p:nvSpPr>
        <p:spPr>
          <a:xfrm>
            <a:off x="1874520" y="4035335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Tickets/mes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61" name="Text 10">
            <a:extLst>
              <a:ext uri="{FF2B5EF4-FFF2-40B4-BE49-F238E27FC236}">
                <a16:creationId xmlns:a16="http://schemas.microsoft.com/office/drawing/2014/main" id="{71C89233-482E-57D0-226A-A495A0F86B7D}"/>
              </a:ext>
            </a:extLst>
          </p:cNvPr>
          <p:cNvSpPr/>
          <p:nvPr/>
        </p:nvSpPr>
        <p:spPr>
          <a:xfrm>
            <a:off x="3184071" y="3720193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N/D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63" name="Text 11">
            <a:extLst>
              <a:ext uri="{FF2B5EF4-FFF2-40B4-BE49-F238E27FC236}">
                <a16:creationId xmlns:a16="http://schemas.microsoft.com/office/drawing/2014/main" id="{BE6CBEF7-C3FE-358B-75EC-3EE3D71656EB}"/>
              </a:ext>
            </a:extLst>
          </p:cNvPr>
          <p:cNvSpPr/>
          <p:nvPr/>
        </p:nvSpPr>
        <p:spPr>
          <a:xfrm>
            <a:off x="3058886" y="4062549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65" name="Text 12">
            <a:extLst>
              <a:ext uri="{FF2B5EF4-FFF2-40B4-BE49-F238E27FC236}">
                <a16:creationId xmlns:a16="http://schemas.microsoft.com/office/drawing/2014/main" id="{1FB19362-9081-30C1-E935-AF64A6A7D095}"/>
              </a:ext>
            </a:extLst>
          </p:cNvPr>
          <p:cNvSpPr/>
          <p:nvPr/>
        </p:nvSpPr>
        <p:spPr>
          <a:xfrm>
            <a:off x="4303122" y="3709307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N/D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67" name="Text 13">
            <a:extLst>
              <a:ext uri="{FF2B5EF4-FFF2-40B4-BE49-F238E27FC236}">
                <a16:creationId xmlns:a16="http://schemas.microsoft.com/office/drawing/2014/main" id="{4B39F6C3-B493-56C3-2A3D-11D43DAAED21}"/>
              </a:ext>
            </a:extLst>
          </p:cNvPr>
          <p:cNvSpPr/>
          <p:nvPr/>
        </p:nvSpPr>
        <p:spPr>
          <a:xfrm>
            <a:off x="4292236" y="4062549"/>
            <a:ext cx="1947454" cy="211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 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62CB0CBD-D7FF-38E6-298C-DCE51D112E26}"/>
              </a:ext>
            </a:extLst>
          </p:cNvPr>
          <p:cNvSpPr/>
          <p:nvPr/>
        </p:nvSpPr>
        <p:spPr>
          <a:xfrm>
            <a:off x="5805351" y="3698422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x</a:t>
            </a:r>
            <a:endParaRPr lang="es-ES"/>
          </a:p>
        </p:txBody>
      </p:sp>
      <p:sp>
        <p:nvSpPr>
          <p:cNvPr id="71" name="Text 13">
            <a:extLst>
              <a:ext uri="{FF2B5EF4-FFF2-40B4-BE49-F238E27FC236}">
                <a16:creationId xmlns:a16="http://schemas.microsoft.com/office/drawing/2014/main" id="{C50CFAAB-6DC2-2070-C53C-14C505B9E729}"/>
              </a:ext>
            </a:extLst>
          </p:cNvPr>
          <p:cNvSpPr/>
          <p:nvPr/>
        </p:nvSpPr>
        <p:spPr>
          <a:xfrm>
            <a:off x="5838007" y="2244635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dirty="0" err="1"/>
          </a:p>
        </p:txBody>
      </p:sp>
      <p:sp>
        <p:nvSpPr>
          <p:cNvPr id="73" name="Text 13">
            <a:extLst>
              <a:ext uri="{FF2B5EF4-FFF2-40B4-BE49-F238E27FC236}">
                <a16:creationId xmlns:a16="http://schemas.microsoft.com/office/drawing/2014/main" id="{E3E802AC-62AA-C101-765C-6CF4414DD087}"/>
              </a:ext>
            </a:extLst>
          </p:cNvPr>
          <p:cNvSpPr/>
          <p:nvPr/>
        </p:nvSpPr>
        <p:spPr>
          <a:xfrm>
            <a:off x="5838008" y="4165964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dirty="0" err="1"/>
          </a:p>
        </p:txBody>
      </p:sp>
    </p:spTree>
    <p:extLst>
      <p:ext uri="{BB962C8B-B14F-4D97-AF65-F5344CB8AC3E}">
        <p14:creationId xmlns:p14="http://schemas.microsoft.com/office/powerpoint/2010/main" val="37211580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82F73-AD14-0770-24B8-683BDD5CA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2">
            <a:extLst>
              <a:ext uri="{FF2B5EF4-FFF2-40B4-BE49-F238E27FC236}">
                <a16:creationId xmlns:a16="http://schemas.microsoft.com/office/drawing/2014/main" id="{9F022EEA-718C-D12A-1E88-FD475FD17996}"/>
              </a:ext>
            </a:extLst>
          </p:cNvPr>
          <p:cNvSpPr/>
          <p:nvPr/>
        </p:nvSpPr>
        <p:spPr>
          <a:xfrm>
            <a:off x="337457" y="3142161"/>
            <a:ext cx="8455914" cy="1728652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C13CBDF5-DF89-E50A-E968-E87EE60F37D4}"/>
              </a:ext>
            </a:extLst>
          </p:cNvPr>
          <p:cNvSpPr/>
          <p:nvPr/>
        </p:nvSpPr>
        <p:spPr>
          <a:xfrm>
            <a:off x="332014" y="3147604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3A80D1B9-88A7-8C66-7E06-A1D2413B72C5}"/>
              </a:ext>
            </a:extLst>
          </p:cNvPr>
          <p:cNvSpPr/>
          <p:nvPr/>
        </p:nvSpPr>
        <p:spPr>
          <a:xfrm>
            <a:off x="1387927" y="316230"/>
            <a:ext cx="7334688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rgbClr val="0E337C"/>
                </a:solidFill>
                <a:latin typeface="Reddit Sans"/>
                <a:ea typeface="Reddit Sans"/>
                <a:cs typeface="Reddit Sans Light"/>
                <a:sym typeface="Reddit Sans"/>
              </a:rPr>
              <a:t>   SURA</a:t>
            </a:r>
            <a:endParaRPr lang="es-ES" sz="1400">
              <a:latin typeface="Reddit Sans"/>
              <a:ea typeface="Reddit Sans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850E2DD8-AA18-D440-3B87-4744302E2585}"/>
              </a:ext>
            </a:extLst>
          </p:cNvPr>
          <p:cNvSpPr/>
          <p:nvPr/>
        </p:nvSpPr>
        <p:spPr>
          <a:xfrm>
            <a:off x="332014" y="1329690"/>
            <a:ext cx="8455914" cy="1728652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F876C6DA-B623-96FE-919B-CBF6F7C274C8}"/>
              </a:ext>
            </a:extLst>
          </p:cNvPr>
          <p:cNvSpPr/>
          <p:nvPr/>
        </p:nvSpPr>
        <p:spPr>
          <a:xfrm>
            <a:off x="342900" y="1329690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920B77EC-84A8-9626-7285-1043F1F761EB}"/>
              </a:ext>
            </a:extLst>
          </p:cNvPr>
          <p:cNvSpPr/>
          <p:nvPr/>
        </p:nvSpPr>
        <p:spPr>
          <a:xfrm>
            <a:off x="480060" y="1329690"/>
            <a:ext cx="83166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N2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Automatización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: </a:t>
            </a: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D19BC29A-89F6-45E3-87E0-11708577C4F0}"/>
              </a:ext>
            </a:extLst>
          </p:cNvPr>
          <p:cNvSpPr/>
          <p:nvPr/>
        </p:nvSpPr>
        <p:spPr>
          <a:xfrm>
            <a:off x="6966857" y="246561"/>
            <a:ext cx="1676400" cy="427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950" b="1">
                <a:solidFill>
                  <a:schemeClr val="bg1">
                    <a:lumMod val="49000"/>
                  </a:schemeClr>
                </a:solidFill>
                <a:latin typeface="Reddit Sans"/>
                <a:ea typeface="Reddit Sans"/>
                <a:cs typeface="Reddit Sans Light"/>
              </a:rPr>
              <a:t>⚠ RENOVACIÓN AGOSTO</a:t>
            </a:r>
            <a:endParaRPr lang="en-US" sz="950" b="1">
              <a:solidFill>
                <a:schemeClr val="bg1">
                  <a:lumMod val="49000"/>
                </a:schemeClr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623B294A-CE46-5B0D-3450-ED9CCF0E5A67}"/>
              </a:ext>
            </a:extLst>
          </p:cNvPr>
          <p:cNvSpPr/>
          <p:nvPr/>
        </p:nvSpPr>
        <p:spPr>
          <a:xfrm>
            <a:off x="701040" y="2362744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49F064C5-2121-F6B9-0671-1211EDF1AEB8}"/>
              </a:ext>
            </a:extLst>
          </p:cNvPr>
          <p:cNvSpPr/>
          <p:nvPr/>
        </p:nvSpPr>
        <p:spPr>
          <a:xfrm>
            <a:off x="4778829" y="2362744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CF674099-A0C7-0D26-BD77-CA87B0498C5A}"/>
              </a:ext>
            </a:extLst>
          </p:cNvPr>
          <p:cNvSpPr/>
          <p:nvPr/>
        </p:nvSpPr>
        <p:spPr>
          <a:xfrm>
            <a:off x="499654" y="2552156"/>
            <a:ext cx="3977640" cy="26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</a:t>
            </a: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88CCE201-A394-5440-0F9D-528CEBCDE804}"/>
              </a:ext>
            </a:extLst>
          </p:cNvPr>
          <p:cNvSpPr/>
          <p:nvPr/>
        </p:nvSpPr>
        <p:spPr>
          <a:xfrm>
            <a:off x="4751614" y="2552156"/>
            <a:ext cx="3840480" cy="26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</a:t>
            </a: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E56CE44F-30A3-C64E-B83A-2F5257850DEA}"/>
              </a:ext>
            </a:extLst>
          </p:cNvPr>
          <p:cNvSpPr/>
          <p:nvPr/>
        </p:nvSpPr>
        <p:spPr>
          <a:xfrm>
            <a:off x="342901" y="318298"/>
            <a:ext cx="1042742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N2 - N3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DDCF1A36-91F4-A623-293B-8139B9E89837}"/>
              </a:ext>
            </a:extLst>
          </p:cNvPr>
          <p:cNvSpPr txBox="1">
            <a:spLocks noGrp="1"/>
          </p:cNvSpPr>
          <p:nvPr/>
        </p:nvSpPr>
        <p:spPr>
          <a:xfrm>
            <a:off x="287382" y="678397"/>
            <a:ext cx="8305800" cy="6117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Lideradas por Elsy </a:t>
            </a:r>
            <a:r>
              <a:rPr lang="es-ES" sz="900" dirty="0" err="1">
                <a:solidFill>
                  <a:srgbClr val="132346"/>
                </a:solidFill>
                <a:latin typeface="Reddit Sans"/>
                <a:ea typeface="Reddit Sans"/>
              </a:rPr>
              <a:t>Marin</a:t>
            </a:r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 · </a:t>
            </a:r>
            <a:endParaRPr lang="es-ES"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Herramienta N1: BMC Helix ITSM · 17 FTE totales · 1.525 tickets/mes · </a:t>
            </a:r>
            <a:endParaRPr lang="es-ES"/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Contrato Modelo: FTE Dedicado</a:t>
            </a: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Soporte: </a:t>
            </a:r>
            <a:endParaRPr lang="es-ES" sz="900" dirty="0">
              <a:solidFill>
                <a:srgbClr val="132346"/>
              </a:solidFill>
              <a:latin typeface="Reddit Sans"/>
              <a:ea typeface="Reddit Sans"/>
            </a:endParaRPr>
          </a:p>
        </p:txBody>
      </p:sp>
      <p:sp>
        <p:nvSpPr>
          <p:cNvPr id="17" name="Text 4">
            <a:extLst>
              <a:ext uri="{FF2B5EF4-FFF2-40B4-BE49-F238E27FC236}">
                <a16:creationId xmlns:a16="http://schemas.microsoft.com/office/drawing/2014/main" id="{D223BA42-FDAF-A444-CDCC-ADDA70FB26E4}"/>
              </a:ext>
            </a:extLst>
          </p:cNvPr>
          <p:cNvSpPr/>
          <p:nvPr/>
        </p:nvSpPr>
        <p:spPr>
          <a:xfrm>
            <a:off x="474617" y="3142161"/>
            <a:ext cx="83166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N2 Canales </a:t>
            </a:r>
            <a:r>
              <a:rPr lang="en-US" sz="1100" b="1" dirty="0" err="1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Masivos</a:t>
            </a:r>
            <a:r>
              <a:rPr lang="en-US" sz="11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: </a:t>
            </a:r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9B8A6D1E-4B1B-0E3E-3049-568BE1B2C52B}"/>
              </a:ext>
            </a:extLst>
          </p:cNvPr>
          <p:cNvSpPr/>
          <p:nvPr/>
        </p:nvSpPr>
        <p:spPr>
          <a:xfrm>
            <a:off x="581297" y="4403815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6AC2A1FE-BA63-35A6-009F-BB064996A574}"/>
              </a:ext>
            </a:extLst>
          </p:cNvPr>
          <p:cNvSpPr/>
          <p:nvPr/>
        </p:nvSpPr>
        <p:spPr>
          <a:xfrm>
            <a:off x="4659086" y="4403815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5E78C9F8-A271-F213-B61B-1501066A06E6}"/>
              </a:ext>
            </a:extLst>
          </p:cNvPr>
          <p:cNvSpPr/>
          <p:nvPr/>
        </p:nvSpPr>
        <p:spPr>
          <a:xfrm>
            <a:off x="548640" y="18097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4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7B15F97D-49D2-FAA0-3ED5-DEC32CE308F9}"/>
              </a:ext>
            </a:extLst>
          </p:cNvPr>
          <p:cNvSpPr/>
          <p:nvPr/>
        </p:nvSpPr>
        <p:spPr>
          <a:xfrm>
            <a:off x="548640" y="21521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DCF13A26-45E4-4651-7F2D-91741FFC1E40}"/>
              </a:ext>
            </a:extLst>
          </p:cNvPr>
          <p:cNvSpPr/>
          <p:nvPr/>
        </p:nvSpPr>
        <p:spPr>
          <a:xfrm>
            <a:off x="1907177" y="1815193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x</a:t>
            </a:r>
            <a:endParaRPr lang="en-US" sz="2000" b="1" dirty="0">
              <a:solidFill>
                <a:srgbClr val="132346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1" name="Text 9">
            <a:extLst>
              <a:ext uri="{FF2B5EF4-FFF2-40B4-BE49-F238E27FC236}">
                <a16:creationId xmlns:a16="http://schemas.microsoft.com/office/drawing/2014/main" id="{43F40B16-2CF4-C6B0-8BA9-5D70F20DCDCF}"/>
              </a:ext>
            </a:extLst>
          </p:cNvPr>
          <p:cNvSpPr/>
          <p:nvPr/>
        </p:nvSpPr>
        <p:spPr>
          <a:xfrm>
            <a:off x="1907177" y="2157549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Tickets/mes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3" name="Text 10">
            <a:extLst>
              <a:ext uri="{FF2B5EF4-FFF2-40B4-BE49-F238E27FC236}">
                <a16:creationId xmlns:a16="http://schemas.microsoft.com/office/drawing/2014/main" id="{6E926F4D-120D-2F31-76B8-6CF7A502FBDC}"/>
              </a:ext>
            </a:extLst>
          </p:cNvPr>
          <p:cNvSpPr/>
          <p:nvPr/>
        </p:nvSpPr>
        <p:spPr>
          <a:xfrm>
            <a:off x="3216728" y="1842407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N/D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5" name="Text 11">
            <a:extLst>
              <a:ext uri="{FF2B5EF4-FFF2-40B4-BE49-F238E27FC236}">
                <a16:creationId xmlns:a16="http://schemas.microsoft.com/office/drawing/2014/main" id="{36BA4730-04C7-D2A5-68EE-F4D6D1F4D3D8}"/>
              </a:ext>
            </a:extLst>
          </p:cNvPr>
          <p:cNvSpPr/>
          <p:nvPr/>
        </p:nvSpPr>
        <p:spPr>
          <a:xfrm>
            <a:off x="3091543" y="2184763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7" name="Text 12">
            <a:extLst>
              <a:ext uri="{FF2B5EF4-FFF2-40B4-BE49-F238E27FC236}">
                <a16:creationId xmlns:a16="http://schemas.microsoft.com/office/drawing/2014/main" id="{966AA7D3-A519-365B-22FE-01B0EE7D330C}"/>
              </a:ext>
            </a:extLst>
          </p:cNvPr>
          <p:cNvSpPr/>
          <p:nvPr/>
        </p:nvSpPr>
        <p:spPr>
          <a:xfrm>
            <a:off x="4335779" y="1831521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N/D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49" name="Text 13">
            <a:extLst>
              <a:ext uri="{FF2B5EF4-FFF2-40B4-BE49-F238E27FC236}">
                <a16:creationId xmlns:a16="http://schemas.microsoft.com/office/drawing/2014/main" id="{3110C70B-1CCF-C227-FD17-DA6527A53655}"/>
              </a:ext>
            </a:extLst>
          </p:cNvPr>
          <p:cNvSpPr/>
          <p:nvPr/>
        </p:nvSpPr>
        <p:spPr>
          <a:xfrm>
            <a:off x="4324893" y="2184763"/>
            <a:ext cx="1947454" cy="211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 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1" name="Text 12">
            <a:extLst>
              <a:ext uri="{FF2B5EF4-FFF2-40B4-BE49-F238E27FC236}">
                <a16:creationId xmlns:a16="http://schemas.microsoft.com/office/drawing/2014/main" id="{F6B9E8CD-B060-2C7F-6E44-AA485881312C}"/>
              </a:ext>
            </a:extLst>
          </p:cNvPr>
          <p:cNvSpPr/>
          <p:nvPr/>
        </p:nvSpPr>
        <p:spPr>
          <a:xfrm>
            <a:off x="5838008" y="1820636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x</a:t>
            </a:r>
            <a:endParaRPr lang="es-ES"/>
          </a:p>
        </p:txBody>
      </p:sp>
      <p:sp>
        <p:nvSpPr>
          <p:cNvPr id="52" name="Text 6">
            <a:extLst>
              <a:ext uri="{FF2B5EF4-FFF2-40B4-BE49-F238E27FC236}">
                <a16:creationId xmlns:a16="http://schemas.microsoft.com/office/drawing/2014/main" id="{DB67B840-6EF5-9F51-317A-45C419F6097E}"/>
              </a:ext>
            </a:extLst>
          </p:cNvPr>
          <p:cNvSpPr/>
          <p:nvPr/>
        </p:nvSpPr>
        <p:spPr>
          <a:xfrm>
            <a:off x="466997" y="3671207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4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3" name="Text 7">
            <a:extLst>
              <a:ext uri="{FF2B5EF4-FFF2-40B4-BE49-F238E27FC236}">
                <a16:creationId xmlns:a16="http://schemas.microsoft.com/office/drawing/2014/main" id="{FE975F22-2EF3-0496-F24E-6A381D4BF752}"/>
              </a:ext>
            </a:extLst>
          </p:cNvPr>
          <p:cNvSpPr/>
          <p:nvPr/>
        </p:nvSpPr>
        <p:spPr>
          <a:xfrm>
            <a:off x="466997" y="4013563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4" name="Text 8">
            <a:extLst>
              <a:ext uri="{FF2B5EF4-FFF2-40B4-BE49-F238E27FC236}">
                <a16:creationId xmlns:a16="http://schemas.microsoft.com/office/drawing/2014/main" id="{D05AD632-733A-974E-DDB7-4855740F0ABB}"/>
              </a:ext>
            </a:extLst>
          </p:cNvPr>
          <p:cNvSpPr/>
          <p:nvPr/>
        </p:nvSpPr>
        <p:spPr>
          <a:xfrm>
            <a:off x="1825534" y="36766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x</a:t>
            </a:r>
            <a:endParaRPr lang="en-US" sz="2000" b="1" dirty="0">
              <a:solidFill>
                <a:srgbClr val="132346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5" name="Text 9">
            <a:extLst>
              <a:ext uri="{FF2B5EF4-FFF2-40B4-BE49-F238E27FC236}">
                <a16:creationId xmlns:a16="http://schemas.microsoft.com/office/drawing/2014/main" id="{909DF4B0-539F-825D-3777-306B835D074F}"/>
              </a:ext>
            </a:extLst>
          </p:cNvPr>
          <p:cNvSpPr/>
          <p:nvPr/>
        </p:nvSpPr>
        <p:spPr>
          <a:xfrm>
            <a:off x="1825534" y="40190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Tickets/mes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6" name="Text 10">
            <a:extLst>
              <a:ext uri="{FF2B5EF4-FFF2-40B4-BE49-F238E27FC236}">
                <a16:creationId xmlns:a16="http://schemas.microsoft.com/office/drawing/2014/main" id="{FD176200-E973-64E5-8D0B-C82F9A229B7B}"/>
              </a:ext>
            </a:extLst>
          </p:cNvPr>
          <p:cNvSpPr/>
          <p:nvPr/>
        </p:nvSpPr>
        <p:spPr>
          <a:xfrm>
            <a:off x="3135085" y="3703864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N/D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7" name="Text 11">
            <a:extLst>
              <a:ext uri="{FF2B5EF4-FFF2-40B4-BE49-F238E27FC236}">
                <a16:creationId xmlns:a16="http://schemas.microsoft.com/office/drawing/2014/main" id="{E1884AA3-E413-B333-C3E9-02C786A6AAFD}"/>
              </a:ext>
            </a:extLst>
          </p:cNvPr>
          <p:cNvSpPr/>
          <p:nvPr/>
        </p:nvSpPr>
        <p:spPr>
          <a:xfrm>
            <a:off x="3009900" y="4046220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8" name="Text 12">
            <a:extLst>
              <a:ext uri="{FF2B5EF4-FFF2-40B4-BE49-F238E27FC236}">
                <a16:creationId xmlns:a16="http://schemas.microsoft.com/office/drawing/2014/main" id="{9DC7AFE7-D48E-8F9A-A824-408E24A3CE82}"/>
              </a:ext>
            </a:extLst>
          </p:cNvPr>
          <p:cNvSpPr/>
          <p:nvPr/>
        </p:nvSpPr>
        <p:spPr>
          <a:xfrm>
            <a:off x="4254136" y="3692978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N/D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59" name="Text 13">
            <a:extLst>
              <a:ext uri="{FF2B5EF4-FFF2-40B4-BE49-F238E27FC236}">
                <a16:creationId xmlns:a16="http://schemas.microsoft.com/office/drawing/2014/main" id="{CCCDA00D-F123-C1C3-F83F-9170B96F9976}"/>
              </a:ext>
            </a:extLst>
          </p:cNvPr>
          <p:cNvSpPr/>
          <p:nvPr/>
        </p:nvSpPr>
        <p:spPr>
          <a:xfrm>
            <a:off x="4243250" y="4046220"/>
            <a:ext cx="1947454" cy="2111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 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60" name="Text 12">
            <a:extLst>
              <a:ext uri="{FF2B5EF4-FFF2-40B4-BE49-F238E27FC236}">
                <a16:creationId xmlns:a16="http://schemas.microsoft.com/office/drawing/2014/main" id="{9C962134-04B7-6832-09B5-5DF135249B34}"/>
              </a:ext>
            </a:extLst>
          </p:cNvPr>
          <p:cNvSpPr/>
          <p:nvPr/>
        </p:nvSpPr>
        <p:spPr>
          <a:xfrm>
            <a:off x="5756365" y="3682093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x</a:t>
            </a:r>
            <a:endParaRPr lang="es-ES"/>
          </a:p>
        </p:txBody>
      </p:sp>
      <p:sp>
        <p:nvSpPr>
          <p:cNvPr id="62" name="Text 13">
            <a:extLst>
              <a:ext uri="{FF2B5EF4-FFF2-40B4-BE49-F238E27FC236}">
                <a16:creationId xmlns:a16="http://schemas.microsoft.com/office/drawing/2014/main" id="{CAF1CFE4-4FF1-AA4A-DA52-CB19C8BFACEA}"/>
              </a:ext>
            </a:extLst>
          </p:cNvPr>
          <p:cNvSpPr/>
          <p:nvPr/>
        </p:nvSpPr>
        <p:spPr>
          <a:xfrm>
            <a:off x="5838007" y="2250078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dirty="0" err="1"/>
          </a:p>
        </p:txBody>
      </p:sp>
      <p:sp>
        <p:nvSpPr>
          <p:cNvPr id="64" name="Text 13">
            <a:extLst>
              <a:ext uri="{FF2B5EF4-FFF2-40B4-BE49-F238E27FC236}">
                <a16:creationId xmlns:a16="http://schemas.microsoft.com/office/drawing/2014/main" id="{AD336609-DA8A-F4BA-86C1-699788CF2B26}"/>
              </a:ext>
            </a:extLst>
          </p:cNvPr>
          <p:cNvSpPr/>
          <p:nvPr/>
        </p:nvSpPr>
        <p:spPr>
          <a:xfrm>
            <a:off x="5838008" y="4171407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dirty="0" err="1"/>
          </a:p>
        </p:txBody>
      </p:sp>
    </p:spTree>
    <p:extLst>
      <p:ext uri="{BB962C8B-B14F-4D97-AF65-F5344CB8AC3E}">
        <p14:creationId xmlns:p14="http://schemas.microsoft.com/office/powerpoint/2010/main" val="28691819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C6475-6AC7-B9BA-37B5-BC74A6559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B798F28B-CCBE-73CC-A01F-6D9AF8586ABF}"/>
              </a:ext>
            </a:extLst>
          </p:cNvPr>
          <p:cNvSpPr/>
          <p:nvPr/>
        </p:nvSpPr>
        <p:spPr>
          <a:xfrm>
            <a:off x="1366156" y="316230"/>
            <a:ext cx="7356459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  </a:t>
            </a:r>
            <a:r>
              <a:rPr lang="en-US" sz="1400" b="1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XM</a:t>
            </a:r>
            <a:endParaRPr lang="en-US" sz="1400" b="1" dirty="0" err="1">
              <a:solidFill>
                <a:srgbClr val="0E337C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32FEFBC1-09CC-CB4A-F846-1A15A505A4B0}"/>
              </a:ext>
            </a:extLst>
          </p:cNvPr>
          <p:cNvSpPr/>
          <p:nvPr/>
        </p:nvSpPr>
        <p:spPr>
          <a:xfrm>
            <a:off x="342899" y="1269818"/>
            <a:ext cx="8455913" cy="3192781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9598FA2B-C597-35E2-F5F6-821C0E4FA34A}"/>
              </a:ext>
            </a:extLst>
          </p:cNvPr>
          <p:cNvSpPr/>
          <p:nvPr/>
        </p:nvSpPr>
        <p:spPr>
          <a:xfrm>
            <a:off x="342900" y="1204504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3802847D-905D-812A-3143-6DF5D87AD6F0}"/>
              </a:ext>
            </a:extLst>
          </p:cNvPr>
          <p:cNvSpPr/>
          <p:nvPr/>
        </p:nvSpPr>
        <p:spPr>
          <a:xfrm>
            <a:off x="480060" y="1062990"/>
            <a:ext cx="83166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100" b="1" dirty="0">
              <a:solidFill>
                <a:srgbClr val="FFFFFF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221658D6-D3C0-AB8D-D2E0-96A98D2DD731}"/>
              </a:ext>
            </a:extLst>
          </p:cNvPr>
          <p:cNvSpPr/>
          <p:nvPr/>
        </p:nvSpPr>
        <p:spPr>
          <a:xfrm>
            <a:off x="548640" y="15430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4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8A099932-FE70-1FED-8760-8A2B1F8B149E}"/>
              </a:ext>
            </a:extLst>
          </p:cNvPr>
          <p:cNvSpPr/>
          <p:nvPr/>
        </p:nvSpPr>
        <p:spPr>
          <a:xfrm>
            <a:off x="548640" y="18854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6FF4EB55-1478-2F09-F489-AF72C6B8CAFF}"/>
              </a:ext>
            </a:extLst>
          </p:cNvPr>
          <p:cNvSpPr/>
          <p:nvPr/>
        </p:nvSpPr>
        <p:spPr>
          <a:xfrm>
            <a:off x="2674620" y="15430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90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257EC123-6CC2-21FB-4FC2-7C13A8447AFD}"/>
              </a:ext>
            </a:extLst>
          </p:cNvPr>
          <p:cNvSpPr/>
          <p:nvPr/>
        </p:nvSpPr>
        <p:spPr>
          <a:xfrm>
            <a:off x="2674620" y="18854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Tickets/mes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E55C2F69-CE3A-5741-A740-4139D74A8202}"/>
              </a:ext>
            </a:extLst>
          </p:cNvPr>
          <p:cNvSpPr/>
          <p:nvPr/>
        </p:nvSpPr>
        <p:spPr>
          <a:xfrm>
            <a:off x="4800600" y="15430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N/D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B4A8BF67-EF3B-4D85-4603-A75C65C054A2}"/>
              </a:ext>
            </a:extLst>
          </p:cNvPr>
          <p:cNvSpPr/>
          <p:nvPr/>
        </p:nvSpPr>
        <p:spPr>
          <a:xfrm>
            <a:off x="4800600" y="18854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77E39CD0-14CE-8B6B-FF0D-EC52E45F9FE5}"/>
              </a:ext>
            </a:extLst>
          </p:cNvPr>
          <p:cNvSpPr/>
          <p:nvPr/>
        </p:nvSpPr>
        <p:spPr>
          <a:xfrm>
            <a:off x="6229894" y="1521279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N/D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F9F7D8A7-A73F-CB85-AF38-AE125F79515F}"/>
              </a:ext>
            </a:extLst>
          </p:cNvPr>
          <p:cNvSpPr/>
          <p:nvPr/>
        </p:nvSpPr>
        <p:spPr>
          <a:xfrm>
            <a:off x="6229894" y="1863635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</a:t>
            </a:r>
            <a:r>
              <a:rPr lang="en-US" sz="800">
                <a:solidFill>
                  <a:srgbClr val="000000"/>
                </a:solidFill>
                <a:latin typeface="Reddit Sans"/>
                <a:ea typeface="Reddit Sans"/>
                <a:cs typeface="Reddit Sans Light"/>
              </a:rPr>
              <a:t>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540E4989-2AB4-D7F3-1D26-C03EB489A992}"/>
              </a:ext>
            </a:extLst>
          </p:cNvPr>
          <p:cNvSpPr/>
          <p:nvPr/>
        </p:nvSpPr>
        <p:spPr>
          <a:xfrm>
            <a:off x="701040" y="2096044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BB4B7B31-D259-E1AF-8769-0C7652F56120}"/>
              </a:ext>
            </a:extLst>
          </p:cNvPr>
          <p:cNvSpPr/>
          <p:nvPr/>
        </p:nvSpPr>
        <p:spPr>
          <a:xfrm>
            <a:off x="4778829" y="2096044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9E131C3B-8D0F-4C5F-9CFA-4C0CB1918FB9}"/>
              </a:ext>
            </a:extLst>
          </p:cNvPr>
          <p:cNvSpPr/>
          <p:nvPr/>
        </p:nvSpPr>
        <p:spPr>
          <a:xfrm>
            <a:off x="499654" y="2285456"/>
            <a:ext cx="3977640" cy="26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</a:t>
            </a: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B9B08419-E535-4189-A419-F1A27E9C7B26}"/>
              </a:ext>
            </a:extLst>
          </p:cNvPr>
          <p:cNvSpPr/>
          <p:nvPr/>
        </p:nvSpPr>
        <p:spPr>
          <a:xfrm>
            <a:off x="4751614" y="2285456"/>
            <a:ext cx="2790009" cy="26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</a:t>
            </a: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8C8C5F07-3EAE-209B-57A4-5DEAB4AF2B59}"/>
              </a:ext>
            </a:extLst>
          </p:cNvPr>
          <p:cNvSpPr/>
          <p:nvPr/>
        </p:nvSpPr>
        <p:spPr>
          <a:xfrm>
            <a:off x="342901" y="318298"/>
            <a:ext cx="1020971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N2 - N3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EA809BB5-68D4-CA11-10BC-E889C01399D9}"/>
              </a:ext>
            </a:extLst>
          </p:cNvPr>
          <p:cNvSpPr txBox="1">
            <a:spLocks noGrp="1"/>
          </p:cNvSpPr>
          <p:nvPr/>
        </p:nvSpPr>
        <p:spPr>
          <a:xfrm>
            <a:off x="287382" y="678397"/>
            <a:ext cx="8289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Lideradas por Diego Serna · </a:t>
            </a:r>
            <a:endParaRPr lang="es-ES" dirty="0">
              <a:ea typeface="Calibri"/>
            </a:endParaRPr>
          </a:p>
          <a:p>
            <a:r>
              <a:rPr lang="es-ES" sz="900" dirty="0">
                <a:solidFill>
                  <a:srgbClr val="132346"/>
                </a:solidFill>
                <a:latin typeface="Calibri"/>
                <a:ea typeface="Calibri"/>
                <a:cs typeface="Calibri"/>
              </a:rPr>
              <a:t>C</a:t>
            </a:r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ontrato: </a:t>
            </a:r>
            <a:r>
              <a:rPr lang="es-ES" sz="900" dirty="0" err="1">
                <a:solidFill>
                  <a:srgbClr val="132346"/>
                </a:solidFill>
                <a:latin typeface="Reddit Sans"/>
                <a:ea typeface="Reddit Sans"/>
              </a:rPr>
              <a:t>Staffing</a:t>
            </a:r>
            <a:r>
              <a:rPr lang="es-ES" sz="900" dirty="0">
                <a:solidFill>
                  <a:srgbClr val="132346"/>
                </a:solidFill>
                <a:latin typeface="Reddit Sans"/>
                <a:ea typeface="Reddit Sans"/>
              </a:rPr>
              <a:t> · Vigente hasta Julio 2027 ·</a:t>
            </a:r>
            <a:endParaRPr lang="es-ES" dirty="0"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Herramienta N1:</a:t>
            </a:r>
            <a:endParaRPr lang="es-ES" sz="900" dirty="0">
              <a:solidFill>
                <a:srgbClr val="132346"/>
              </a:solidFill>
              <a:latin typeface="Reddit Sans"/>
              <a:ea typeface="Reddit Sans"/>
            </a:endParaRPr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Soporte 24x7 a 14 componentes críticos (11 apps + 3 tareas) </a:t>
            </a:r>
            <a:endParaRPr lang="es-ES"/>
          </a:p>
        </p:txBody>
      </p:sp>
      <p:sp>
        <p:nvSpPr>
          <p:cNvPr id="3" name="Text 12">
            <a:extLst>
              <a:ext uri="{FF2B5EF4-FFF2-40B4-BE49-F238E27FC236}">
                <a16:creationId xmlns:a16="http://schemas.microsoft.com/office/drawing/2014/main" id="{2E46CD37-1FC9-749A-3BE1-A5DE19EF6144}"/>
              </a:ext>
            </a:extLst>
          </p:cNvPr>
          <p:cNvSpPr/>
          <p:nvPr/>
        </p:nvSpPr>
        <p:spPr>
          <a:xfrm>
            <a:off x="7193279" y="1515836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14</a:t>
            </a:r>
            <a:endParaRPr lang="es-ES"/>
          </a:p>
        </p:txBody>
      </p:sp>
      <p:sp>
        <p:nvSpPr>
          <p:cNvPr id="5" name="Text 13">
            <a:extLst>
              <a:ext uri="{FF2B5EF4-FFF2-40B4-BE49-F238E27FC236}">
                <a16:creationId xmlns:a16="http://schemas.microsoft.com/office/drawing/2014/main" id="{2C0BF800-1FB0-4AC7-7B98-772DF5905135}"/>
              </a:ext>
            </a:extLst>
          </p:cNvPr>
          <p:cNvSpPr/>
          <p:nvPr/>
        </p:nvSpPr>
        <p:spPr>
          <a:xfrm>
            <a:off x="7193279" y="1858192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dirty="0" err="1"/>
          </a:p>
        </p:txBody>
      </p:sp>
      <p:sp>
        <p:nvSpPr>
          <p:cNvPr id="7" name="cl">
            <a:extLst>
              <a:ext uri="{FF2B5EF4-FFF2-40B4-BE49-F238E27FC236}">
                <a16:creationId xmlns:a16="http://schemas.microsoft.com/office/drawing/2014/main" id="{2EEB1F61-3DF2-A27A-E8C8-D6513224E882}"/>
              </a:ext>
            </a:extLst>
          </p:cNvPr>
          <p:cNvSpPr txBox="1">
            <a:spLocks noGrp="1"/>
          </p:cNvSpPr>
          <p:nvPr/>
        </p:nvSpPr>
        <p:spPr>
          <a:xfrm>
            <a:off x="566928" y="2322576"/>
            <a:ext cx="3973722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860" dirty="0">
                <a:solidFill>
                  <a:srgbClr val="1C1C1C"/>
                </a:solidFill>
                <a:latin typeface="Calibri"/>
              </a:rPr>
              <a:t>·  Soporte a 14 componentes: 11 aplicaciones + 3 tareas críticas del mercado eléctrico</a:t>
            </a:r>
          </a:p>
        </p:txBody>
      </p:sp>
      <p:sp>
        <p:nvSpPr>
          <p:cNvPr id="11" name="cl">
            <a:extLst>
              <a:ext uri="{FF2B5EF4-FFF2-40B4-BE49-F238E27FC236}">
                <a16:creationId xmlns:a16="http://schemas.microsoft.com/office/drawing/2014/main" id="{491AC3FA-E0A9-F842-9D8F-C56A4031FC5B}"/>
              </a:ext>
            </a:extLst>
          </p:cNvPr>
          <p:cNvSpPr txBox="1">
            <a:spLocks noGrp="1"/>
          </p:cNvSpPr>
          <p:nvPr/>
        </p:nvSpPr>
        <p:spPr>
          <a:xfrm>
            <a:off x="566928" y="2596896"/>
            <a:ext cx="3973722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860" dirty="0">
                <a:solidFill>
                  <a:srgbClr val="1C1C1C"/>
                </a:solidFill>
                <a:latin typeface="Calibri"/>
              </a:rPr>
              <a:t>·  Herramienta: ServiceNow (del cliente) — PersonalSoft paga la licencia</a:t>
            </a:r>
          </a:p>
        </p:txBody>
      </p:sp>
      <p:sp>
        <p:nvSpPr>
          <p:cNvPr id="41" name="cl">
            <a:extLst>
              <a:ext uri="{FF2B5EF4-FFF2-40B4-BE49-F238E27FC236}">
                <a16:creationId xmlns:a16="http://schemas.microsoft.com/office/drawing/2014/main" id="{7A9B67B5-19D5-2572-B757-B4D79A60E79D}"/>
              </a:ext>
            </a:extLst>
          </p:cNvPr>
          <p:cNvSpPr txBox="1">
            <a:spLocks noGrp="1"/>
          </p:cNvSpPr>
          <p:nvPr/>
        </p:nvSpPr>
        <p:spPr>
          <a:xfrm>
            <a:off x="566928" y="2871216"/>
            <a:ext cx="3973722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860" dirty="0">
                <a:solidFill>
                  <a:srgbClr val="1C1C1C"/>
                </a:solidFill>
                <a:latin typeface="Calibri"/>
              </a:rPr>
              <a:t>·  Disponibilidad: 24x7 · Solo 4 FTE para cobertura completa (muy justo)</a:t>
            </a:r>
          </a:p>
        </p:txBody>
      </p:sp>
      <p:sp>
        <p:nvSpPr>
          <p:cNvPr id="43" name="cl">
            <a:extLst>
              <a:ext uri="{FF2B5EF4-FFF2-40B4-BE49-F238E27FC236}">
                <a16:creationId xmlns:a16="http://schemas.microsoft.com/office/drawing/2014/main" id="{8BDF369F-1E3F-E42F-E890-597A536C01DF}"/>
              </a:ext>
            </a:extLst>
          </p:cNvPr>
          <p:cNvSpPr txBox="1">
            <a:spLocks noGrp="1"/>
          </p:cNvSpPr>
          <p:nvPr/>
        </p:nvSpPr>
        <p:spPr>
          <a:xfrm>
            <a:off x="566928" y="3145536"/>
            <a:ext cx="3973722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860" dirty="0">
                <a:solidFill>
                  <a:srgbClr val="1C1C1C"/>
                </a:solidFill>
                <a:latin typeface="Calibri"/>
              </a:rPr>
              <a:t>·  Modelo: Staffing · Contrato vigente hasta julio 2027</a:t>
            </a:r>
          </a:p>
        </p:txBody>
      </p:sp>
      <p:sp>
        <p:nvSpPr>
          <p:cNvPr id="45" name="cl">
            <a:extLst>
              <a:ext uri="{FF2B5EF4-FFF2-40B4-BE49-F238E27FC236}">
                <a16:creationId xmlns:a16="http://schemas.microsoft.com/office/drawing/2014/main" id="{D8595023-596C-FD2F-AB7F-B61A536B44B5}"/>
              </a:ext>
            </a:extLst>
          </p:cNvPr>
          <p:cNvSpPr txBox="1">
            <a:spLocks noGrp="1"/>
          </p:cNvSpPr>
          <p:nvPr/>
        </p:nvSpPr>
        <p:spPr>
          <a:xfrm>
            <a:off x="566928" y="3419856"/>
            <a:ext cx="3973722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860" dirty="0">
                <a:solidFill>
                  <a:srgbClr val="1C1C1C"/>
                </a:solidFill>
                <a:latin typeface="Calibri"/>
              </a:rPr>
              <a:t>·  90 tickets/mes pero cada componente tiene alta complejidad técnica</a:t>
            </a:r>
          </a:p>
        </p:txBody>
      </p:sp>
      <p:sp>
        <p:nvSpPr>
          <p:cNvPr id="47" name="cl">
            <a:extLst>
              <a:ext uri="{FF2B5EF4-FFF2-40B4-BE49-F238E27FC236}">
                <a16:creationId xmlns:a16="http://schemas.microsoft.com/office/drawing/2014/main" id="{E9F06566-2A19-7F6B-E2A9-5AE644654323}"/>
              </a:ext>
            </a:extLst>
          </p:cNvPr>
          <p:cNvSpPr txBox="1">
            <a:spLocks noGrp="1"/>
          </p:cNvSpPr>
          <p:nvPr/>
        </p:nvSpPr>
        <p:spPr>
          <a:xfrm>
            <a:off x="566928" y="3694176"/>
            <a:ext cx="3973722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860" dirty="0">
                <a:solidFill>
                  <a:srgbClr val="1C1C1C"/>
                </a:solidFill>
                <a:latin typeface="Calibri"/>
              </a:rPr>
              <a:t>·  Tix/FTE = 22.5 vs industria 80+ → trabajo no ticketado o subutilización</a:t>
            </a:r>
          </a:p>
        </p:txBody>
      </p:sp>
      <p:sp>
        <p:nvSpPr>
          <p:cNvPr id="49" name="d">
            <a:extLst>
              <a:ext uri="{FF2B5EF4-FFF2-40B4-BE49-F238E27FC236}">
                <a16:creationId xmlns:a16="http://schemas.microsoft.com/office/drawing/2014/main" id="{FC308614-7C19-8A31-76C9-C981DAB173EF}"/>
              </a:ext>
            </a:extLst>
          </p:cNvPr>
          <p:cNvSpPr txBox="1">
            <a:spLocks noGrp="1"/>
          </p:cNvSpPr>
          <p:nvPr/>
        </p:nvSpPr>
        <p:spPr>
          <a:xfrm>
            <a:off x="4676285" y="2324535"/>
            <a:ext cx="5008518" cy="2579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880" b="1" dirty="0">
                <a:solidFill>
                  <a:srgbClr val="B3261E"/>
                </a:solidFill>
                <a:latin typeface="Calibri"/>
              </a:rPr>
              <a:t>●  </a:t>
            </a:r>
            <a:r>
              <a:rPr lang="es-ES" sz="840" dirty="0">
                <a:solidFill>
                  <a:srgbClr val="1C1C1C"/>
                </a:solidFill>
                <a:latin typeface="Calibri"/>
              </a:rPr>
              <a:t>D3 · Sin autoservicio — todo llega por call o correo</a:t>
            </a:r>
          </a:p>
        </p:txBody>
      </p:sp>
      <p:sp>
        <p:nvSpPr>
          <p:cNvPr id="51" name="d">
            <a:extLst>
              <a:ext uri="{FF2B5EF4-FFF2-40B4-BE49-F238E27FC236}">
                <a16:creationId xmlns:a16="http://schemas.microsoft.com/office/drawing/2014/main" id="{F72D80B5-C8A8-CAD2-35DE-123CA7F9B18D}"/>
              </a:ext>
            </a:extLst>
          </p:cNvPr>
          <p:cNvSpPr txBox="1">
            <a:spLocks noGrp="1"/>
          </p:cNvSpPr>
          <p:nvPr/>
        </p:nvSpPr>
        <p:spPr>
          <a:xfrm>
            <a:off x="4659957" y="2635431"/>
            <a:ext cx="391994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880" b="1" dirty="0">
                <a:solidFill>
                  <a:srgbClr val="B3261E"/>
                </a:solidFill>
                <a:latin typeface="Calibri"/>
              </a:rPr>
              <a:t>●  </a:t>
            </a:r>
            <a:r>
              <a:rPr lang="es-ES" sz="840" dirty="0">
                <a:solidFill>
                  <a:srgbClr val="1C1C1C"/>
                </a:solidFill>
                <a:latin typeface="Calibri"/>
              </a:rPr>
              <a:t>D7 · Sin dashboard — sin visibilidad ejecutiva en tiempo real</a:t>
            </a:r>
          </a:p>
        </p:txBody>
      </p:sp>
      <p:sp>
        <p:nvSpPr>
          <p:cNvPr id="53" name="d">
            <a:extLst>
              <a:ext uri="{FF2B5EF4-FFF2-40B4-BE49-F238E27FC236}">
                <a16:creationId xmlns:a16="http://schemas.microsoft.com/office/drawing/2014/main" id="{821114BE-A66F-4A84-E1A5-80F40A38F703}"/>
              </a:ext>
            </a:extLst>
          </p:cNvPr>
          <p:cNvSpPr txBox="1">
            <a:spLocks noGrp="1"/>
          </p:cNvSpPr>
          <p:nvPr/>
        </p:nvSpPr>
        <p:spPr>
          <a:xfrm>
            <a:off x="4659957" y="2946327"/>
            <a:ext cx="391994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880" b="1" dirty="0">
                <a:solidFill>
                  <a:srgbClr val="B3261E"/>
                </a:solidFill>
                <a:latin typeface="Calibri"/>
              </a:rPr>
              <a:t>●  </a:t>
            </a:r>
            <a:r>
              <a:rPr lang="es-ES" sz="840" dirty="0">
                <a:solidFill>
                  <a:srgbClr val="1C1C1C"/>
                </a:solidFill>
                <a:latin typeface="Calibri"/>
              </a:rPr>
              <a:t>D11 · Postura 100% reactiva — sin anticipación ni prevencion</a:t>
            </a:r>
          </a:p>
        </p:txBody>
      </p:sp>
      <p:sp>
        <p:nvSpPr>
          <p:cNvPr id="55" name="d">
            <a:extLst>
              <a:ext uri="{FF2B5EF4-FFF2-40B4-BE49-F238E27FC236}">
                <a16:creationId xmlns:a16="http://schemas.microsoft.com/office/drawing/2014/main" id="{BDE48833-7920-9EB5-7107-FB7C2DB9E5C5}"/>
              </a:ext>
            </a:extLst>
          </p:cNvPr>
          <p:cNvSpPr txBox="1">
            <a:spLocks noGrp="1"/>
          </p:cNvSpPr>
          <p:nvPr/>
        </p:nvSpPr>
        <p:spPr>
          <a:xfrm>
            <a:off x="4659957" y="3257223"/>
            <a:ext cx="391994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880" b="1" dirty="0">
                <a:solidFill>
                  <a:srgbClr val="B3261E"/>
                </a:solidFill>
                <a:latin typeface="Calibri"/>
              </a:rPr>
              <a:t>●  </a:t>
            </a:r>
            <a:r>
              <a:rPr lang="es-ES" sz="840" dirty="0">
                <a:solidFill>
                  <a:srgbClr val="1C1C1C"/>
                </a:solidFill>
                <a:latin typeface="Calibri"/>
              </a:rPr>
              <a:t>D12 · Sin gobierno claro — sin RACI ni ANS formales con XM</a:t>
            </a:r>
          </a:p>
        </p:txBody>
      </p:sp>
      <p:sp>
        <p:nvSpPr>
          <p:cNvPr id="57" name="d">
            <a:extLst>
              <a:ext uri="{FF2B5EF4-FFF2-40B4-BE49-F238E27FC236}">
                <a16:creationId xmlns:a16="http://schemas.microsoft.com/office/drawing/2014/main" id="{BFE7C3B5-F05D-2513-6636-99D7E48D7C70}"/>
              </a:ext>
            </a:extLst>
          </p:cNvPr>
          <p:cNvSpPr txBox="1">
            <a:spLocks noGrp="1"/>
          </p:cNvSpPr>
          <p:nvPr/>
        </p:nvSpPr>
        <p:spPr>
          <a:xfrm>
            <a:off x="4659957" y="3568119"/>
            <a:ext cx="391994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880" b="1" dirty="0">
                <a:solidFill>
                  <a:srgbClr val="B3261E"/>
                </a:solidFill>
                <a:latin typeface="Calibri"/>
              </a:rPr>
              <a:t>●  </a:t>
            </a:r>
            <a:r>
              <a:rPr lang="es-ES" sz="840" dirty="0">
                <a:solidFill>
                  <a:srgbClr val="1C1C1C"/>
                </a:solidFill>
                <a:latin typeface="Calibri"/>
              </a:rPr>
              <a:t>D16 · Brechas vendido vs ejecutado — volumetría mal estimada</a:t>
            </a:r>
          </a:p>
        </p:txBody>
      </p:sp>
    </p:spTree>
    <p:extLst>
      <p:ext uri="{BB962C8B-B14F-4D97-AF65-F5344CB8AC3E}">
        <p14:creationId xmlns:p14="http://schemas.microsoft.com/office/powerpoint/2010/main" val="37033083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6D39E-E5A7-7BC9-28AA-BBB25D44A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FD2CCED1-1E48-C86A-33D2-FD5AC7231E69}"/>
              </a:ext>
            </a:extLst>
          </p:cNvPr>
          <p:cNvSpPr/>
          <p:nvPr/>
        </p:nvSpPr>
        <p:spPr>
          <a:xfrm>
            <a:off x="843642" y="316230"/>
            <a:ext cx="7878973" cy="275409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  </a:t>
            </a:r>
            <a:r>
              <a:rPr lang="en-US" sz="1400" b="1" dirty="0" err="1">
                <a:solidFill>
                  <a:srgbClr val="0E337C"/>
                </a:solidFill>
                <a:latin typeface="Reddit Sans"/>
                <a:ea typeface="Reddit Sans"/>
                <a:cs typeface="Reddit Sans Light"/>
              </a:rPr>
              <a:t>Bancolombia</a:t>
            </a: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CB26EE1-5E05-ADB8-655D-EAA878DC62D8}"/>
              </a:ext>
            </a:extLst>
          </p:cNvPr>
          <p:cNvSpPr/>
          <p:nvPr/>
        </p:nvSpPr>
        <p:spPr>
          <a:xfrm>
            <a:off x="337457" y="1220832"/>
            <a:ext cx="8455913" cy="3241767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02785061-0886-D81B-1F63-9FB3A184E5D4}"/>
              </a:ext>
            </a:extLst>
          </p:cNvPr>
          <p:cNvSpPr/>
          <p:nvPr/>
        </p:nvSpPr>
        <p:spPr>
          <a:xfrm>
            <a:off x="337457" y="1220833"/>
            <a:ext cx="8455914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AC964F71-7322-A740-01D7-51807B77BB2D}"/>
              </a:ext>
            </a:extLst>
          </p:cNvPr>
          <p:cNvSpPr/>
          <p:nvPr/>
        </p:nvSpPr>
        <p:spPr>
          <a:xfrm>
            <a:off x="480060" y="1062990"/>
            <a:ext cx="831668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100" b="1" dirty="0">
              <a:solidFill>
                <a:srgbClr val="FFFFFF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8DBC91F5-3507-448C-32AD-381FA5E71CDF}"/>
              </a:ext>
            </a:extLst>
          </p:cNvPr>
          <p:cNvSpPr/>
          <p:nvPr/>
        </p:nvSpPr>
        <p:spPr>
          <a:xfrm>
            <a:off x="548640" y="15430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4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96DEC461-FE08-C08F-AC6D-98E041314F9D}"/>
              </a:ext>
            </a:extLst>
          </p:cNvPr>
          <p:cNvSpPr/>
          <p:nvPr/>
        </p:nvSpPr>
        <p:spPr>
          <a:xfrm>
            <a:off x="548640" y="18854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FTE en planta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416E95A1-5408-423D-6759-D4FB2C2DF3B0}"/>
              </a:ext>
            </a:extLst>
          </p:cNvPr>
          <p:cNvSpPr/>
          <p:nvPr/>
        </p:nvSpPr>
        <p:spPr>
          <a:xfrm>
            <a:off x="2674620" y="15430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90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59779161-7A89-85C8-D360-3F29A3359A04}"/>
              </a:ext>
            </a:extLst>
          </p:cNvPr>
          <p:cNvSpPr/>
          <p:nvPr/>
        </p:nvSpPr>
        <p:spPr>
          <a:xfrm>
            <a:off x="2674620" y="18854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Tickets/mes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7E193574-29B9-0D42-B56D-0B0A4692A800}"/>
              </a:ext>
            </a:extLst>
          </p:cNvPr>
          <p:cNvSpPr/>
          <p:nvPr/>
        </p:nvSpPr>
        <p:spPr>
          <a:xfrm>
            <a:off x="4800600" y="1543050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N/D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2AD11DD1-A2D9-5247-2829-57AD1B193B9C}"/>
              </a:ext>
            </a:extLst>
          </p:cNvPr>
          <p:cNvSpPr/>
          <p:nvPr/>
        </p:nvSpPr>
        <p:spPr>
          <a:xfrm>
            <a:off x="4800600" y="1885406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25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MTTR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460866D2-F387-BE2D-71B8-C56A34C2B03C}"/>
              </a:ext>
            </a:extLst>
          </p:cNvPr>
          <p:cNvSpPr/>
          <p:nvPr/>
        </p:nvSpPr>
        <p:spPr>
          <a:xfrm>
            <a:off x="6229894" y="1521279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N/D</a:t>
            </a:r>
            <a:endParaRPr lang="en-US" sz="2000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F84F583B-9D57-AEC1-AFF9-AEF5D337FDE7}"/>
              </a:ext>
            </a:extLst>
          </p:cNvPr>
          <p:cNvSpPr/>
          <p:nvPr/>
        </p:nvSpPr>
        <p:spPr>
          <a:xfrm>
            <a:off x="6229894" y="1863635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SLA</a:t>
            </a:r>
            <a:r>
              <a:rPr lang="en-US" sz="800">
                <a:solidFill>
                  <a:srgbClr val="000000"/>
                </a:solidFill>
                <a:latin typeface="Reddit Sans"/>
                <a:ea typeface="Reddit Sans"/>
                <a:cs typeface="Reddit Sans Light"/>
              </a:rPr>
              <a:t>/ OLA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2" name="Text 14">
            <a:extLst>
              <a:ext uri="{FF2B5EF4-FFF2-40B4-BE49-F238E27FC236}">
                <a16:creationId xmlns:a16="http://schemas.microsoft.com/office/drawing/2014/main" id="{9D8BDC4D-63B2-D51F-63AF-43BD62D886B8}"/>
              </a:ext>
            </a:extLst>
          </p:cNvPr>
          <p:cNvSpPr/>
          <p:nvPr/>
        </p:nvSpPr>
        <p:spPr>
          <a:xfrm>
            <a:off x="701040" y="2096044"/>
            <a:ext cx="39776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017490"/>
                </a:solidFill>
                <a:latin typeface="Reddit Sans"/>
                <a:ea typeface="Reddit Sans"/>
                <a:cs typeface="Reddit Sans Light"/>
              </a:rPr>
              <a:t>CONTEXTO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AF456EA6-C4D2-CD52-EE20-B35F98DE2017}"/>
              </a:ext>
            </a:extLst>
          </p:cNvPr>
          <p:cNvSpPr/>
          <p:nvPr/>
        </p:nvSpPr>
        <p:spPr>
          <a:xfrm>
            <a:off x="4778829" y="2096044"/>
            <a:ext cx="384048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>
                <a:solidFill>
                  <a:srgbClr val="B3261E"/>
                </a:solidFill>
                <a:latin typeface="Reddit Sans"/>
                <a:ea typeface="Reddit Sans"/>
                <a:cs typeface="Reddit Sans Light"/>
              </a:rPr>
              <a:t>BRECHAS CRÍTICAS</a:t>
            </a:r>
            <a:endParaRPr lang="en-US" sz="825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D56AB6FE-7E86-E274-4CCE-4A48985B6428}"/>
              </a:ext>
            </a:extLst>
          </p:cNvPr>
          <p:cNvSpPr/>
          <p:nvPr/>
        </p:nvSpPr>
        <p:spPr>
          <a:xfrm>
            <a:off x="499654" y="2285456"/>
            <a:ext cx="3977640" cy="26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</a:t>
            </a: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8C203546-945B-9850-49A8-5A7C5BD31D96}"/>
              </a:ext>
            </a:extLst>
          </p:cNvPr>
          <p:cNvSpPr/>
          <p:nvPr/>
        </p:nvSpPr>
        <p:spPr>
          <a:xfrm>
            <a:off x="4751614" y="2285456"/>
            <a:ext cx="2790009" cy="26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US" sz="950">
                <a:solidFill>
                  <a:srgbClr val="1C1C1C"/>
                </a:solidFill>
                <a:latin typeface="Reddit Sans"/>
                <a:ea typeface="Reddit Sans"/>
                <a:cs typeface="Reddit Sans Light"/>
              </a:rPr>
              <a:t>· </a:t>
            </a:r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244D3723-A978-2BDF-88C1-D4EBCDFE8DFD}"/>
              </a:ext>
            </a:extLst>
          </p:cNvPr>
          <p:cNvSpPr/>
          <p:nvPr/>
        </p:nvSpPr>
        <p:spPr>
          <a:xfrm>
            <a:off x="342901" y="318298"/>
            <a:ext cx="498457" cy="27432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b="1">
                <a:solidFill>
                  <a:schemeClr val="bg1"/>
                </a:solidFill>
                <a:latin typeface="Reddit Sans"/>
                <a:ea typeface="Reddit Sans"/>
                <a:cs typeface="Reddit Sans Light"/>
              </a:rPr>
              <a:t>N2</a:t>
            </a:r>
          </a:p>
        </p:txBody>
      </p:sp>
      <p:sp>
        <p:nvSpPr>
          <p:cNvPr id="13" name="sub">
            <a:extLst>
              <a:ext uri="{FF2B5EF4-FFF2-40B4-BE49-F238E27FC236}">
                <a16:creationId xmlns:a16="http://schemas.microsoft.com/office/drawing/2014/main" id="{E9BE6C14-7D53-0008-0015-46150E7D88B6}"/>
              </a:ext>
            </a:extLst>
          </p:cNvPr>
          <p:cNvSpPr txBox="1">
            <a:spLocks noGrp="1"/>
          </p:cNvSpPr>
          <p:nvPr/>
        </p:nvSpPr>
        <p:spPr>
          <a:xfrm>
            <a:off x="287382" y="678397"/>
            <a:ext cx="8289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Lideradas por Paula Andrea Soto · </a:t>
            </a:r>
            <a:endParaRPr lang="es-ES"/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Herramienta N1: Helix (Bancolombia) · 32 FTE totales · 700–3.000 tickets/mesa/mes · Sin SLA — rige ANS del Banco y COES</a:t>
            </a:r>
            <a:endParaRPr lang="es-ES"/>
          </a:p>
          <a:p>
            <a:r>
              <a:rPr lang="es-ES" sz="900">
                <a:solidFill>
                  <a:srgbClr val="132346"/>
                </a:solidFill>
                <a:latin typeface="Reddit Sans"/>
                <a:ea typeface="Reddit Sans"/>
              </a:rPr>
              <a:t>Soporte 24x7</a:t>
            </a:r>
            <a:endParaRPr lang="es-ES" sz="900" dirty="0">
              <a:solidFill>
                <a:srgbClr val="132346"/>
              </a:solidFill>
              <a:latin typeface="Reddit Sans"/>
              <a:ea typeface="Reddit Sans"/>
            </a:endParaRPr>
          </a:p>
          <a:p>
            <a:endParaRPr lang="es-ES" sz="900" dirty="0">
              <a:solidFill>
                <a:srgbClr val="132346"/>
              </a:solidFill>
              <a:latin typeface="Reddit Sans"/>
              <a:ea typeface="Reddit Sans"/>
            </a:endParaRPr>
          </a:p>
        </p:txBody>
      </p:sp>
      <p:sp>
        <p:nvSpPr>
          <p:cNvPr id="3" name="Text 12">
            <a:extLst>
              <a:ext uri="{FF2B5EF4-FFF2-40B4-BE49-F238E27FC236}">
                <a16:creationId xmlns:a16="http://schemas.microsoft.com/office/drawing/2014/main" id="{FC82E36D-E047-FFA6-7AF3-44B1E37A6D76}"/>
              </a:ext>
            </a:extLst>
          </p:cNvPr>
          <p:cNvSpPr/>
          <p:nvPr/>
        </p:nvSpPr>
        <p:spPr>
          <a:xfrm>
            <a:off x="7193279" y="1515836"/>
            <a:ext cx="192024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b="1">
                <a:solidFill>
                  <a:srgbClr val="132346"/>
                </a:solidFill>
                <a:latin typeface="Reddit Sans"/>
                <a:ea typeface="Reddit Sans"/>
                <a:cs typeface="Reddit Sans Light"/>
              </a:rPr>
              <a:t>14</a:t>
            </a:r>
            <a:endParaRPr lang="es-ES"/>
          </a:p>
        </p:txBody>
      </p:sp>
      <p:sp>
        <p:nvSpPr>
          <p:cNvPr id="5" name="Text 13">
            <a:extLst>
              <a:ext uri="{FF2B5EF4-FFF2-40B4-BE49-F238E27FC236}">
                <a16:creationId xmlns:a16="http://schemas.microsoft.com/office/drawing/2014/main" id="{E14755DC-D521-D1BF-5BB6-86EF6C6BE482}"/>
              </a:ext>
            </a:extLst>
          </p:cNvPr>
          <p:cNvSpPr/>
          <p:nvPr/>
        </p:nvSpPr>
        <p:spPr>
          <a:xfrm>
            <a:off x="7193279" y="1858192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 dirty="0" err="1">
                <a:solidFill>
                  <a:srgbClr val="5A6472"/>
                </a:solidFill>
                <a:latin typeface="Reddit Sans"/>
                <a:ea typeface="Reddit Sans"/>
                <a:cs typeface="Reddit Sans Light"/>
              </a:rPr>
              <a:t>Aplicaciones</a:t>
            </a:r>
            <a:endParaRPr lang="es-ES" dirty="0" err="1"/>
          </a:p>
        </p:txBody>
      </p:sp>
    </p:spTree>
    <p:extLst>
      <p:ext uri="{BB962C8B-B14F-4D97-AF65-F5344CB8AC3E}">
        <p14:creationId xmlns:p14="http://schemas.microsoft.com/office/powerpoint/2010/main" val="11753114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C5400E17-6F52-36D3-3EA7-834AB78AC514}"/>
              </a:ext>
            </a:extLst>
          </p:cNvPr>
          <p:cNvSpPr/>
          <p:nvPr/>
        </p:nvSpPr>
        <p:spPr>
          <a:xfrm>
            <a:off x="342900" y="240030"/>
            <a:ext cx="84559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950" b="1" dirty="0">
                <a:solidFill>
                  <a:srgbClr val="132346"/>
                </a:solidFill>
                <a:latin typeface="Reddit Sans"/>
                <a:ea typeface="Reddit Sans"/>
                <a:cs typeface="Calibri"/>
              </a:rPr>
              <a:t>Dolores </a:t>
            </a:r>
            <a:r>
              <a:rPr lang="en-US" sz="1950" b="1" dirty="0" err="1">
                <a:solidFill>
                  <a:srgbClr val="132346"/>
                </a:solidFill>
                <a:latin typeface="Reddit Sans"/>
                <a:ea typeface="Reddit Sans"/>
                <a:cs typeface="Calibri"/>
              </a:rPr>
              <a:t>Críticos</a:t>
            </a:r>
            <a:r>
              <a:rPr lang="en-US" sz="1950" b="1" dirty="0">
                <a:solidFill>
                  <a:srgbClr val="132346"/>
                </a:solidFill>
                <a:latin typeface="Reddit Sans"/>
                <a:ea typeface="Reddit Sans"/>
                <a:cs typeface="Calibri"/>
              </a:rPr>
              <a:t> — </a:t>
            </a:r>
            <a:r>
              <a:rPr lang="en-US" sz="1950" b="1" dirty="0" err="1">
                <a:solidFill>
                  <a:srgbClr val="132346"/>
                </a:solidFill>
                <a:latin typeface="Reddit Sans"/>
                <a:ea typeface="Reddit Sans"/>
                <a:cs typeface="Calibri"/>
              </a:rPr>
              <a:t>Parte</a:t>
            </a:r>
            <a:r>
              <a:rPr lang="en-US" sz="1950" b="1" dirty="0">
                <a:solidFill>
                  <a:srgbClr val="132346"/>
                </a:solidFill>
                <a:latin typeface="Reddit Sans"/>
                <a:ea typeface="Reddit Sans"/>
                <a:cs typeface="Calibri"/>
              </a:rPr>
              <a:t> 1 de 2</a:t>
            </a: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2D9533AD-E866-2120-3AAA-D54FF198E98B}"/>
              </a:ext>
            </a:extLst>
          </p:cNvPr>
          <p:cNvSpPr/>
          <p:nvPr/>
        </p:nvSpPr>
        <p:spPr>
          <a:xfrm>
            <a:off x="342900" y="672084"/>
            <a:ext cx="84559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950" dirty="0" err="1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Presentes</a:t>
            </a:r>
            <a:r>
              <a:rPr lang="en-US" sz="950" dirty="0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 </a:t>
            </a:r>
            <a:r>
              <a:rPr lang="en-US" sz="950" dirty="0" err="1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en</a:t>
            </a:r>
            <a:r>
              <a:rPr lang="en-US" sz="950" dirty="0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 </a:t>
            </a:r>
            <a:r>
              <a:rPr lang="en-US" sz="950" dirty="0" err="1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más</a:t>
            </a:r>
            <a:r>
              <a:rPr lang="en-US" sz="950" dirty="0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 de la </a:t>
            </a:r>
            <a:r>
              <a:rPr lang="en-US" sz="950" dirty="0" err="1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mitad</a:t>
            </a:r>
            <a:r>
              <a:rPr lang="en-US" sz="950" dirty="0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 de las 11 mesas</a:t>
            </a: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1474D591-1D0D-7E5B-202A-8B1BD6739676}"/>
              </a:ext>
            </a:extLst>
          </p:cNvPr>
          <p:cNvSpPr/>
          <p:nvPr/>
        </p:nvSpPr>
        <p:spPr>
          <a:xfrm>
            <a:off x="342900" y="1179576"/>
            <a:ext cx="58293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2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D20</a:t>
            </a:r>
            <a:endParaRPr lang="en-US" sz="1125" dirty="0">
              <a:latin typeface="Reddit Sans"/>
              <a:ea typeface="Reddit Sans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F7C26EC-B883-B59F-F60A-98F02D7CBB68}"/>
              </a:ext>
            </a:extLst>
          </p:cNvPr>
          <p:cNvSpPr/>
          <p:nvPr/>
        </p:nvSpPr>
        <p:spPr>
          <a:xfrm>
            <a:off x="960120" y="1179576"/>
            <a:ext cx="294894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Ausencia de gobierno formal (SLA, escalamiento, responsabilidades)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4725FD-E949-2C5C-4A4E-8784602F59B9}"/>
              </a:ext>
            </a:extLst>
          </p:cNvPr>
          <p:cNvSpPr/>
          <p:nvPr/>
        </p:nvSpPr>
        <p:spPr>
          <a:xfrm>
            <a:off x="3977640" y="1316736"/>
            <a:ext cx="3909060" cy="260604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14" name="Shape 5">
            <a:extLst>
              <a:ext uri="{FF2B5EF4-FFF2-40B4-BE49-F238E27FC236}">
                <a16:creationId xmlns:a16="http://schemas.microsoft.com/office/drawing/2014/main" id="{BBA89A9F-EFAE-F4FC-0A80-2BDCB94580CC}"/>
              </a:ext>
            </a:extLst>
          </p:cNvPr>
          <p:cNvSpPr/>
          <p:nvPr/>
        </p:nvSpPr>
        <p:spPr>
          <a:xfrm>
            <a:off x="3977640" y="1316736"/>
            <a:ext cx="3909060" cy="26060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C490153E-AB11-9659-5D2D-8BA96BC79393}"/>
              </a:ext>
            </a:extLst>
          </p:cNvPr>
          <p:cNvSpPr/>
          <p:nvPr/>
        </p:nvSpPr>
        <p:spPr>
          <a:xfrm>
            <a:off x="7955280" y="128244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11/11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EF6CF520-5181-81B9-BCA9-DE6AE8125B3B}"/>
              </a:ext>
            </a:extLst>
          </p:cNvPr>
          <p:cNvSpPr/>
          <p:nvPr/>
        </p:nvSpPr>
        <p:spPr>
          <a:xfrm>
            <a:off x="342900" y="1762506"/>
            <a:ext cx="58293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2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D16</a:t>
            </a:r>
            <a:endParaRPr lang="en-US" sz="1125" dirty="0">
              <a:latin typeface="Reddit Sans"/>
              <a:ea typeface="Reddit Sans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BD778023-3206-6875-3C96-2DC6C2E9EAC2}"/>
              </a:ext>
            </a:extLst>
          </p:cNvPr>
          <p:cNvSpPr/>
          <p:nvPr/>
        </p:nvSpPr>
        <p:spPr>
          <a:xfrm>
            <a:off x="960120" y="1762506"/>
            <a:ext cx="294894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dirty="0" err="1">
                <a:solidFill>
                  <a:srgbClr val="1C1C1C"/>
                </a:solidFill>
                <a:latin typeface="Reddit Sans"/>
                <a:ea typeface="Reddit Sans"/>
                <a:cs typeface="Calibri Light"/>
              </a:rPr>
              <a:t>Gestión</a:t>
            </a:r>
            <a:r>
              <a:rPr lang="en-US" sz="900" dirty="0">
                <a:solidFill>
                  <a:srgbClr val="1C1C1C"/>
                </a:solidFill>
                <a:latin typeface="Reddit Sans"/>
                <a:ea typeface="Reddit Sans"/>
                <a:cs typeface="Calibri Light"/>
              </a:rPr>
              <a:t> de </a:t>
            </a:r>
            <a:r>
              <a:rPr lang="en-US" sz="900" dirty="0" err="1">
                <a:solidFill>
                  <a:srgbClr val="1C1C1C"/>
                </a:solidFill>
                <a:latin typeface="Reddit Sans"/>
                <a:ea typeface="Reddit Sans"/>
                <a:cs typeface="Calibri Light"/>
              </a:rPr>
              <a:t>conocimiento</a:t>
            </a:r>
            <a:r>
              <a:rPr lang="en-US" sz="900" dirty="0">
                <a:solidFill>
                  <a:srgbClr val="1C1C1C"/>
                </a:solidFill>
                <a:latin typeface="Reddit Sans"/>
                <a:ea typeface="Reddit Sans"/>
                <a:cs typeface="Calibri Light"/>
              </a:rPr>
              <a:t> informal — solo </a:t>
            </a:r>
            <a:r>
              <a:rPr lang="en-US" sz="900" dirty="0" err="1">
                <a:solidFill>
                  <a:srgbClr val="1C1C1C"/>
                </a:solidFill>
                <a:latin typeface="Reddit Sans"/>
                <a:ea typeface="Reddit Sans"/>
                <a:cs typeface="Calibri Light"/>
              </a:rPr>
              <a:t>en</a:t>
            </a:r>
            <a:r>
              <a:rPr lang="en-US" sz="900" dirty="0">
                <a:solidFill>
                  <a:srgbClr val="1C1C1C"/>
                </a:solidFill>
                <a:latin typeface="Reddit Sans"/>
                <a:ea typeface="Reddit Sans"/>
                <a:cs typeface="Calibri Light"/>
              </a:rPr>
              <a:t> la cabeza de las personas</a:t>
            </a:r>
            <a:endParaRPr lang="en-US" sz="900" dirty="0">
              <a:latin typeface="Reddit Sans"/>
              <a:ea typeface="Reddit Sans"/>
              <a:cs typeface="Calibri Light"/>
            </a:endParaRPr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605F7AAE-33ED-70DF-CBD3-844F11B9A264}"/>
              </a:ext>
            </a:extLst>
          </p:cNvPr>
          <p:cNvSpPr/>
          <p:nvPr/>
        </p:nvSpPr>
        <p:spPr>
          <a:xfrm>
            <a:off x="3977640" y="1899666"/>
            <a:ext cx="3909060" cy="260604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6BDFB223-37B7-CFD7-4804-1A3D9D8905F2}"/>
              </a:ext>
            </a:extLst>
          </p:cNvPr>
          <p:cNvSpPr/>
          <p:nvPr/>
        </p:nvSpPr>
        <p:spPr>
          <a:xfrm>
            <a:off x="3977640" y="1899666"/>
            <a:ext cx="3198322" cy="26060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A4C0FDA3-7376-F340-B8A2-515947837991}"/>
              </a:ext>
            </a:extLst>
          </p:cNvPr>
          <p:cNvSpPr/>
          <p:nvPr/>
        </p:nvSpPr>
        <p:spPr>
          <a:xfrm>
            <a:off x="7244542" y="186537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9/11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F3C451BF-90CC-165D-112F-3ED1D93AA689}"/>
              </a:ext>
            </a:extLst>
          </p:cNvPr>
          <p:cNvSpPr/>
          <p:nvPr/>
        </p:nvSpPr>
        <p:spPr>
          <a:xfrm>
            <a:off x="342900" y="2345436"/>
            <a:ext cx="58293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2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D9</a:t>
            </a:r>
            <a:endParaRPr lang="en-US" sz="1125" dirty="0">
              <a:latin typeface="Reddit Sans"/>
              <a:ea typeface="Reddit Sans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F90400AC-2DD4-6CDE-71B1-089FC062269E}"/>
              </a:ext>
            </a:extLst>
          </p:cNvPr>
          <p:cNvSpPr/>
          <p:nvPr/>
        </p:nvSpPr>
        <p:spPr>
          <a:xfrm>
            <a:off x="960120" y="2345436"/>
            <a:ext cx="294894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Sin estandarización de proceso ni RACI definido entre mesas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32" name="Shape 14">
            <a:extLst>
              <a:ext uri="{FF2B5EF4-FFF2-40B4-BE49-F238E27FC236}">
                <a16:creationId xmlns:a16="http://schemas.microsoft.com/office/drawing/2014/main" id="{1E009C9F-6938-1FE1-5CE1-25528F7DF105}"/>
              </a:ext>
            </a:extLst>
          </p:cNvPr>
          <p:cNvSpPr/>
          <p:nvPr/>
        </p:nvSpPr>
        <p:spPr>
          <a:xfrm>
            <a:off x="3977640" y="2482596"/>
            <a:ext cx="3909060" cy="260604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34" name="Shape 15">
            <a:extLst>
              <a:ext uri="{FF2B5EF4-FFF2-40B4-BE49-F238E27FC236}">
                <a16:creationId xmlns:a16="http://schemas.microsoft.com/office/drawing/2014/main" id="{82982DFC-BE78-CE29-FE95-399DE3C9FBF1}"/>
              </a:ext>
            </a:extLst>
          </p:cNvPr>
          <p:cNvSpPr/>
          <p:nvPr/>
        </p:nvSpPr>
        <p:spPr>
          <a:xfrm>
            <a:off x="3977640" y="2482596"/>
            <a:ext cx="2487584" cy="260604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07785ACF-FCF5-A31D-2B0A-A39BCAC8DAC6}"/>
              </a:ext>
            </a:extLst>
          </p:cNvPr>
          <p:cNvSpPr/>
          <p:nvPr/>
        </p:nvSpPr>
        <p:spPr>
          <a:xfrm>
            <a:off x="6533804" y="244830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7/11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5D5C0E93-0BA6-854E-9D7F-632CD281F75F}"/>
              </a:ext>
            </a:extLst>
          </p:cNvPr>
          <p:cNvSpPr/>
          <p:nvPr/>
        </p:nvSpPr>
        <p:spPr>
          <a:xfrm>
            <a:off x="342900" y="2928366"/>
            <a:ext cx="58293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2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D13</a:t>
            </a:r>
            <a:endParaRPr lang="en-US" sz="1125" dirty="0">
              <a:latin typeface="Reddit Sans"/>
              <a:ea typeface="Reddit Sans"/>
            </a:endParaRPr>
          </a:p>
        </p:txBody>
      </p:sp>
      <p:sp>
        <p:nvSpPr>
          <p:cNvPr id="40" name="Text 18">
            <a:extLst>
              <a:ext uri="{FF2B5EF4-FFF2-40B4-BE49-F238E27FC236}">
                <a16:creationId xmlns:a16="http://schemas.microsoft.com/office/drawing/2014/main" id="{77B120C1-B47F-F1D5-B641-F505AEF88864}"/>
              </a:ext>
            </a:extLst>
          </p:cNvPr>
          <p:cNvSpPr/>
          <p:nvPr/>
        </p:nvSpPr>
        <p:spPr>
          <a:xfrm>
            <a:off x="960120" y="2928366"/>
            <a:ext cx="294894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Sin métricas formales ni dashboard de KPIs operacionales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42" name="Shape 19">
            <a:extLst>
              <a:ext uri="{FF2B5EF4-FFF2-40B4-BE49-F238E27FC236}">
                <a16:creationId xmlns:a16="http://schemas.microsoft.com/office/drawing/2014/main" id="{067EE241-9F77-E557-1FB1-1D341AD37A61}"/>
              </a:ext>
            </a:extLst>
          </p:cNvPr>
          <p:cNvSpPr/>
          <p:nvPr/>
        </p:nvSpPr>
        <p:spPr>
          <a:xfrm>
            <a:off x="3977640" y="3065526"/>
            <a:ext cx="3909060" cy="260604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44" name="Shape 20">
            <a:extLst>
              <a:ext uri="{FF2B5EF4-FFF2-40B4-BE49-F238E27FC236}">
                <a16:creationId xmlns:a16="http://schemas.microsoft.com/office/drawing/2014/main" id="{093B6400-7FBB-D150-213E-46721B404DC7}"/>
              </a:ext>
            </a:extLst>
          </p:cNvPr>
          <p:cNvSpPr/>
          <p:nvPr/>
        </p:nvSpPr>
        <p:spPr>
          <a:xfrm>
            <a:off x="3977640" y="3065526"/>
            <a:ext cx="2487584" cy="260604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C839B680-C59A-916F-A72F-30AD16C1E6DF}"/>
              </a:ext>
            </a:extLst>
          </p:cNvPr>
          <p:cNvSpPr/>
          <p:nvPr/>
        </p:nvSpPr>
        <p:spPr>
          <a:xfrm>
            <a:off x="6533804" y="303123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7/11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48" name="Text 22">
            <a:extLst>
              <a:ext uri="{FF2B5EF4-FFF2-40B4-BE49-F238E27FC236}">
                <a16:creationId xmlns:a16="http://schemas.microsoft.com/office/drawing/2014/main" id="{019D5E76-B73E-80A9-F29B-832E99052E3A}"/>
              </a:ext>
            </a:extLst>
          </p:cNvPr>
          <p:cNvSpPr/>
          <p:nvPr/>
        </p:nvSpPr>
        <p:spPr>
          <a:xfrm>
            <a:off x="342900" y="3511296"/>
            <a:ext cx="58293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2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D3</a:t>
            </a:r>
            <a:endParaRPr lang="en-US" sz="1125" dirty="0">
              <a:latin typeface="Reddit Sans"/>
              <a:ea typeface="Reddit Sans"/>
            </a:endParaRPr>
          </a:p>
        </p:txBody>
      </p:sp>
      <p:sp>
        <p:nvSpPr>
          <p:cNvPr id="50" name="Text 23">
            <a:extLst>
              <a:ext uri="{FF2B5EF4-FFF2-40B4-BE49-F238E27FC236}">
                <a16:creationId xmlns:a16="http://schemas.microsoft.com/office/drawing/2014/main" id="{2F515447-CC4D-4E6C-FD0D-A330C9A9EBCE}"/>
              </a:ext>
            </a:extLst>
          </p:cNvPr>
          <p:cNvSpPr/>
          <p:nvPr/>
        </p:nvSpPr>
        <p:spPr>
          <a:xfrm>
            <a:off x="960120" y="3511296"/>
            <a:ext cx="2948940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Sin KB / KEDB documentado — resolución depende del experto disponible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52" name="Shape 24">
            <a:extLst>
              <a:ext uri="{FF2B5EF4-FFF2-40B4-BE49-F238E27FC236}">
                <a16:creationId xmlns:a16="http://schemas.microsoft.com/office/drawing/2014/main" id="{AC607055-9572-F24D-ED28-6DCD43F1CBA6}"/>
              </a:ext>
            </a:extLst>
          </p:cNvPr>
          <p:cNvSpPr/>
          <p:nvPr/>
        </p:nvSpPr>
        <p:spPr>
          <a:xfrm>
            <a:off x="3977640" y="3648456"/>
            <a:ext cx="3909060" cy="260604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54" name="Shape 25">
            <a:extLst>
              <a:ext uri="{FF2B5EF4-FFF2-40B4-BE49-F238E27FC236}">
                <a16:creationId xmlns:a16="http://schemas.microsoft.com/office/drawing/2014/main" id="{18EAAD36-328C-9C1E-7F56-650E123A3C0E}"/>
              </a:ext>
            </a:extLst>
          </p:cNvPr>
          <p:cNvSpPr/>
          <p:nvPr/>
        </p:nvSpPr>
        <p:spPr>
          <a:xfrm>
            <a:off x="3977640" y="3648456"/>
            <a:ext cx="2132215" cy="260604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56" name="Text 26">
            <a:extLst>
              <a:ext uri="{FF2B5EF4-FFF2-40B4-BE49-F238E27FC236}">
                <a16:creationId xmlns:a16="http://schemas.microsoft.com/office/drawing/2014/main" id="{212781F7-6505-78C0-F963-EBDDAC26EACE}"/>
              </a:ext>
            </a:extLst>
          </p:cNvPr>
          <p:cNvSpPr/>
          <p:nvPr/>
        </p:nvSpPr>
        <p:spPr>
          <a:xfrm>
            <a:off x="6178435" y="361416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6/11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58" name="Shape 27">
            <a:extLst>
              <a:ext uri="{FF2B5EF4-FFF2-40B4-BE49-F238E27FC236}">
                <a16:creationId xmlns:a16="http://schemas.microsoft.com/office/drawing/2014/main" id="{1B4526EE-8269-D721-8C0F-E0F1414798E5}"/>
              </a:ext>
            </a:extLst>
          </p:cNvPr>
          <p:cNvSpPr/>
          <p:nvPr/>
        </p:nvSpPr>
        <p:spPr>
          <a:xfrm>
            <a:off x="342900" y="4217670"/>
            <a:ext cx="8455914" cy="4800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>
            <a:solidFill>
              <a:srgbClr val="4472C4"/>
            </a:solidFill>
          </a:ln>
        </p:spPr>
      </p:sp>
      <p:sp>
        <p:nvSpPr>
          <p:cNvPr id="60" name="Text 28">
            <a:extLst>
              <a:ext uri="{FF2B5EF4-FFF2-40B4-BE49-F238E27FC236}">
                <a16:creationId xmlns:a16="http://schemas.microsoft.com/office/drawing/2014/main" id="{27097DFD-CD09-7E61-DDCC-E58FEBD5DD45}"/>
              </a:ext>
            </a:extLst>
          </p:cNvPr>
          <p:cNvSpPr/>
          <p:nvPr/>
        </p:nvSpPr>
        <p:spPr>
          <a:xfrm>
            <a:off x="480060" y="4217670"/>
            <a:ext cx="818159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50" b="1" dirty="0">
                <a:latin typeface="Reddit Sans"/>
                <a:ea typeface="Reddit Sans"/>
                <a:cs typeface="Calibri Light"/>
              </a:rPr>
              <a:t> </a:t>
            </a:r>
            <a:r>
              <a:rPr lang="en-US" sz="950" dirty="0">
                <a:latin typeface="Reddit Sans"/>
                <a:ea typeface="Reddit Sans"/>
                <a:cs typeface="Calibri Light"/>
              </a:rPr>
              <a:t>D20 y D16 </a:t>
            </a:r>
            <a:r>
              <a:rPr lang="en-US" sz="950" dirty="0" err="1">
                <a:latin typeface="Reddit Sans"/>
                <a:ea typeface="Reddit Sans"/>
                <a:cs typeface="Calibri Light"/>
              </a:rPr>
              <a:t>presentes</a:t>
            </a:r>
            <a:r>
              <a:rPr lang="en-US" sz="950" dirty="0">
                <a:latin typeface="Reddit Sans"/>
                <a:ea typeface="Reddit Sans"/>
                <a:cs typeface="Calibri Light"/>
              </a:rPr>
              <a:t> </a:t>
            </a:r>
            <a:r>
              <a:rPr lang="en-US" sz="950" dirty="0" err="1">
                <a:latin typeface="Reddit Sans"/>
                <a:ea typeface="Reddit Sans"/>
                <a:cs typeface="Calibri Light"/>
              </a:rPr>
              <a:t>en</a:t>
            </a:r>
            <a:r>
              <a:rPr lang="en-US" sz="950" dirty="0">
                <a:latin typeface="Reddit Sans"/>
                <a:ea typeface="Reddit Sans"/>
                <a:cs typeface="Calibri Light"/>
              </a:rPr>
              <a:t> la </a:t>
            </a:r>
            <a:r>
              <a:rPr lang="en-US" sz="950" dirty="0" err="1">
                <a:latin typeface="Reddit Sans"/>
                <a:ea typeface="Reddit Sans"/>
                <a:cs typeface="Calibri Light"/>
              </a:rPr>
              <a:t>totalidad</a:t>
            </a:r>
            <a:r>
              <a:rPr lang="en-US" sz="950" dirty="0">
                <a:latin typeface="Reddit Sans"/>
                <a:ea typeface="Reddit Sans"/>
                <a:cs typeface="Calibri Light"/>
              </a:rPr>
              <a:t> de mesas — el </a:t>
            </a:r>
            <a:r>
              <a:rPr lang="en-US" sz="950" dirty="0" err="1">
                <a:latin typeface="Reddit Sans"/>
                <a:ea typeface="Reddit Sans"/>
                <a:cs typeface="Calibri Light"/>
              </a:rPr>
              <a:t>problema</a:t>
            </a:r>
            <a:r>
              <a:rPr lang="en-US" sz="950" dirty="0">
                <a:latin typeface="Reddit Sans"/>
                <a:ea typeface="Reddit Sans"/>
                <a:cs typeface="Calibri Light"/>
              </a:rPr>
              <a:t> es </a:t>
            </a:r>
            <a:r>
              <a:rPr lang="en-US" sz="950" dirty="0" err="1">
                <a:latin typeface="Reddit Sans"/>
                <a:ea typeface="Reddit Sans"/>
                <a:cs typeface="Calibri Light"/>
              </a:rPr>
              <a:t>estructural</a:t>
            </a:r>
            <a:r>
              <a:rPr lang="en-US" sz="950" dirty="0">
                <a:latin typeface="Reddit Sans"/>
                <a:ea typeface="Reddit Sans"/>
                <a:cs typeface="Calibri Light"/>
              </a:rPr>
              <a:t>, no </a:t>
            </a:r>
            <a:r>
              <a:rPr lang="en-US" sz="950" dirty="0" err="1">
                <a:latin typeface="Reddit Sans"/>
                <a:ea typeface="Reddit Sans"/>
                <a:cs typeface="Calibri Light"/>
              </a:rPr>
              <a:t>operativo</a:t>
            </a:r>
            <a:r>
              <a:rPr lang="en-US" sz="950" dirty="0">
                <a:latin typeface="Reddit Sans"/>
                <a:ea typeface="Reddit Sans"/>
                <a:cs typeface="Calibri Ligh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931308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9680F953-661E-6F27-112F-71CF5A615264}"/>
              </a:ext>
            </a:extLst>
          </p:cNvPr>
          <p:cNvSpPr/>
          <p:nvPr/>
        </p:nvSpPr>
        <p:spPr>
          <a:xfrm>
            <a:off x="342900" y="240030"/>
            <a:ext cx="84559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950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Dolores Críticos — Parte 2 de 2 · Impacto Operacional</a:t>
            </a:r>
            <a:endParaRPr lang="en-US" sz="1950" dirty="0">
              <a:latin typeface="Reddit Sans"/>
              <a:ea typeface="Reddit Sans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92D19271-AA76-3284-897A-19C29C233808}"/>
              </a:ext>
            </a:extLst>
          </p:cNvPr>
          <p:cNvSpPr/>
          <p:nvPr/>
        </p:nvSpPr>
        <p:spPr>
          <a:xfrm>
            <a:off x="342900" y="672084"/>
            <a:ext cx="84559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975" dirty="0">
                <a:solidFill>
                  <a:srgbClr val="017490"/>
                </a:solidFill>
                <a:latin typeface="Reddit Sans"/>
                <a:ea typeface="Reddit Sans"/>
                <a:cs typeface="Calibri Light" pitchFamily="34" charset="-120"/>
              </a:rPr>
              <a:t>Dolores recurrentes que generan sobrecarga, errores y riesgo de continuidad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18D0C203-52D1-11B7-F34C-8E8D766DB819}"/>
              </a:ext>
            </a:extLst>
          </p:cNvPr>
          <p:cNvSpPr/>
          <p:nvPr/>
        </p:nvSpPr>
        <p:spPr>
          <a:xfrm>
            <a:off x="342900" y="1131570"/>
            <a:ext cx="58293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D7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D5A3DC4D-302A-4982-6B96-426D8D4A23DC}"/>
              </a:ext>
            </a:extLst>
          </p:cNvPr>
          <p:cNvSpPr/>
          <p:nvPr/>
        </p:nvSpPr>
        <p:spPr>
          <a:xfrm>
            <a:off x="960120" y="1131570"/>
            <a:ext cx="29489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Capacidad insuficiente — demanda supera el equipo disponible</a:t>
            </a:r>
            <a:endParaRPr lang="en-US" sz="900" dirty="0">
              <a:latin typeface="Reddit Sans"/>
              <a:ea typeface="Reddit Sans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78C689AF-9240-48A0-5AC7-717839F265D2}"/>
              </a:ext>
            </a:extLst>
          </p:cNvPr>
          <p:cNvSpPr/>
          <p:nvPr/>
        </p:nvSpPr>
        <p:spPr>
          <a:xfrm>
            <a:off x="3977640" y="1241298"/>
            <a:ext cx="3909060" cy="233172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14" name="Shape 5">
            <a:extLst>
              <a:ext uri="{FF2B5EF4-FFF2-40B4-BE49-F238E27FC236}">
                <a16:creationId xmlns:a16="http://schemas.microsoft.com/office/drawing/2014/main" id="{E5E8CD2D-51E2-4843-C65F-D4D8A80F6EE5}"/>
              </a:ext>
            </a:extLst>
          </p:cNvPr>
          <p:cNvSpPr/>
          <p:nvPr/>
        </p:nvSpPr>
        <p:spPr>
          <a:xfrm>
            <a:off x="3977641" y="1241298"/>
            <a:ext cx="1776845" cy="233172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2252A263-6434-E495-F52B-916D5D0CCA0E}"/>
              </a:ext>
            </a:extLst>
          </p:cNvPr>
          <p:cNvSpPr/>
          <p:nvPr/>
        </p:nvSpPr>
        <p:spPr>
          <a:xfrm>
            <a:off x="5823065" y="120015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5/11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822674AB-E352-6A28-BA07-4E4823139CA2}"/>
              </a:ext>
            </a:extLst>
          </p:cNvPr>
          <p:cNvSpPr/>
          <p:nvPr/>
        </p:nvSpPr>
        <p:spPr>
          <a:xfrm>
            <a:off x="342900" y="1577340"/>
            <a:ext cx="58293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D1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06926587-EAD0-36BB-288F-44EBBC89A11A}"/>
              </a:ext>
            </a:extLst>
          </p:cNvPr>
          <p:cNvSpPr/>
          <p:nvPr/>
        </p:nvSpPr>
        <p:spPr>
          <a:xfrm>
            <a:off x="960120" y="1577340"/>
            <a:ext cx="29489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Bus factor crítico — 1-4 personas concentran todo el conocimiento</a:t>
            </a:r>
            <a:endParaRPr lang="en-US" sz="900" dirty="0">
              <a:latin typeface="Reddit Sans"/>
              <a:ea typeface="Reddit Sans"/>
            </a:endParaRPr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DCD169B3-6E21-9D57-9B14-353BFC408289}"/>
              </a:ext>
            </a:extLst>
          </p:cNvPr>
          <p:cNvSpPr/>
          <p:nvPr/>
        </p:nvSpPr>
        <p:spPr>
          <a:xfrm>
            <a:off x="3977640" y="1687068"/>
            <a:ext cx="3909060" cy="233172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606545B4-2675-781C-2924-FFF77CBC379A}"/>
              </a:ext>
            </a:extLst>
          </p:cNvPr>
          <p:cNvSpPr/>
          <p:nvPr/>
        </p:nvSpPr>
        <p:spPr>
          <a:xfrm>
            <a:off x="3977641" y="1687068"/>
            <a:ext cx="1776845" cy="23317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3F0FD9FE-17A5-C13D-8AE3-0351B3F0E9A6}"/>
              </a:ext>
            </a:extLst>
          </p:cNvPr>
          <p:cNvSpPr/>
          <p:nvPr/>
        </p:nvSpPr>
        <p:spPr>
          <a:xfrm>
            <a:off x="5823065" y="164592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5/11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9FBA18AC-75B6-69FA-7CF7-8697372C2832}"/>
              </a:ext>
            </a:extLst>
          </p:cNvPr>
          <p:cNvSpPr/>
          <p:nvPr/>
        </p:nvSpPr>
        <p:spPr>
          <a:xfrm>
            <a:off x="342900" y="2023110"/>
            <a:ext cx="58293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D18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7B7179A4-48BA-FC57-1EA2-5878CDE4A7C4}"/>
              </a:ext>
            </a:extLst>
          </p:cNvPr>
          <p:cNvSpPr/>
          <p:nvPr/>
        </p:nvSpPr>
        <p:spPr>
          <a:xfrm>
            <a:off x="960120" y="2023110"/>
            <a:ext cx="29489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Sin cobertura nocturna / fin de semana en mesas críticas</a:t>
            </a:r>
            <a:endParaRPr lang="en-US" sz="900" dirty="0">
              <a:latin typeface="Reddit Sans"/>
              <a:ea typeface="Reddit Sans"/>
            </a:endParaRPr>
          </a:p>
        </p:txBody>
      </p:sp>
      <p:sp>
        <p:nvSpPr>
          <p:cNvPr id="32" name="Shape 14">
            <a:extLst>
              <a:ext uri="{FF2B5EF4-FFF2-40B4-BE49-F238E27FC236}">
                <a16:creationId xmlns:a16="http://schemas.microsoft.com/office/drawing/2014/main" id="{937A6487-649D-DE83-FAE5-66F08A2DFF1A}"/>
              </a:ext>
            </a:extLst>
          </p:cNvPr>
          <p:cNvSpPr/>
          <p:nvPr/>
        </p:nvSpPr>
        <p:spPr>
          <a:xfrm>
            <a:off x="3977640" y="2132838"/>
            <a:ext cx="3909060" cy="233172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34" name="Shape 15">
            <a:extLst>
              <a:ext uri="{FF2B5EF4-FFF2-40B4-BE49-F238E27FC236}">
                <a16:creationId xmlns:a16="http://schemas.microsoft.com/office/drawing/2014/main" id="{454C3707-67C9-D52A-3ACE-6324410D3F6D}"/>
              </a:ext>
            </a:extLst>
          </p:cNvPr>
          <p:cNvSpPr/>
          <p:nvPr/>
        </p:nvSpPr>
        <p:spPr>
          <a:xfrm>
            <a:off x="3977640" y="2132838"/>
            <a:ext cx="1421477" cy="233172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6218BCAB-B234-3C14-D749-2598583D665C}"/>
              </a:ext>
            </a:extLst>
          </p:cNvPr>
          <p:cNvSpPr/>
          <p:nvPr/>
        </p:nvSpPr>
        <p:spPr>
          <a:xfrm>
            <a:off x="5467697" y="209169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4/11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CD0F51B3-7FFA-67FB-F1D9-A70B321065AA}"/>
              </a:ext>
            </a:extLst>
          </p:cNvPr>
          <p:cNvSpPr/>
          <p:nvPr/>
        </p:nvSpPr>
        <p:spPr>
          <a:xfrm>
            <a:off x="342900" y="2468880"/>
            <a:ext cx="58293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D11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40" name="Text 18">
            <a:extLst>
              <a:ext uri="{FF2B5EF4-FFF2-40B4-BE49-F238E27FC236}">
                <a16:creationId xmlns:a16="http://schemas.microsoft.com/office/drawing/2014/main" id="{8350811C-504F-8D01-9EC5-424C2FA76F5E}"/>
              </a:ext>
            </a:extLst>
          </p:cNvPr>
          <p:cNvSpPr/>
          <p:nvPr/>
        </p:nvSpPr>
        <p:spPr>
          <a:xfrm>
            <a:off x="960120" y="2468880"/>
            <a:ext cx="29489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Herramienta de gestión del cliente (no de PS) — sin control de datos</a:t>
            </a:r>
            <a:endParaRPr lang="en-US" sz="900" dirty="0">
              <a:latin typeface="Reddit Sans"/>
              <a:ea typeface="Reddit Sans"/>
            </a:endParaRPr>
          </a:p>
        </p:txBody>
      </p:sp>
      <p:sp>
        <p:nvSpPr>
          <p:cNvPr id="42" name="Shape 19">
            <a:extLst>
              <a:ext uri="{FF2B5EF4-FFF2-40B4-BE49-F238E27FC236}">
                <a16:creationId xmlns:a16="http://schemas.microsoft.com/office/drawing/2014/main" id="{DCE6494D-913C-C582-62B1-59B3C84A4AAB}"/>
              </a:ext>
            </a:extLst>
          </p:cNvPr>
          <p:cNvSpPr/>
          <p:nvPr/>
        </p:nvSpPr>
        <p:spPr>
          <a:xfrm>
            <a:off x="3977640" y="2578608"/>
            <a:ext cx="3909060" cy="233172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44" name="Shape 20">
            <a:extLst>
              <a:ext uri="{FF2B5EF4-FFF2-40B4-BE49-F238E27FC236}">
                <a16:creationId xmlns:a16="http://schemas.microsoft.com/office/drawing/2014/main" id="{05FFE816-F7A8-55D6-E993-E1C8C7DA219D}"/>
              </a:ext>
            </a:extLst>
          </p:cNvPr>
          <p:cNvSpPr/>
          <p:nvPr/>
        </p:nvSpPr>
        <p:spPr>
          <a:xfrm>
            <a:off x="3977640" y="2578608"/>
            <a:ext cx="1421477" cy="233172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FAB69A29-8DF7-9614-6472-3EA8168B102D}"/>
              </a:ext>
            </a:extLst>
          </p:cNvPr>
          <p:cNvSpPr/>
          <p:nvPr/>
        </p:nvSpPr>
        <p:spPr>
          <a:xfrm>
            <a:off x="5467697" y="253746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4/11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48" name="Text 22">
            <a:extLst>
              <a:ext uri="{FF2B5EF4-FFF2-40B4-BE49-F238E27FC236}">
                <a16:creationId xmlns:a16="http://schemas.microsoft.com/office/drawing/2014/main" id="{EF6837E3-97B3-EEB4-8FDA-30A05399AC08}"/>
              </a:ext>
            </a:extLst>
          </p:cNvPr>
          <p:cNvSpPr/>
          <p:nvPr/>
        </p:nvSpPr>
        <p:spPr>
          <a:xfrm>
            <a:off x="342900" y="2914650"/>
            <a:ext cx="58293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D5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50" name="Text 23">
            <a:extLst>
              <a:ext uri="{FF2B5EF4-FFF2-40B4-BE49-F238E27FC236}">
                <a16:creationId xmlns:a16="http://schemas.microsoft.com/office/drawing/2014/main" id="{4DCB54BB-5757-D281-429E-DF1B9E7B5596}"/>
              </a:ext>
            </a:extLst>
          </p:cNvPr>
          <p:cNvSpPr/>
          <p:nvPr/>
        </p:nvSpPr>
        <p:spPr>
          <a:xfrm>
            <a:off x="960120" y="2914650"/>
            <a:ext cx="29489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Sin causa raíz ni gestión proactiva de incidentes</a:t>
            </a:r>
            <a:endParaRPr lang="en-US" sz="900" dirty="0">
              <a:latin typeface="Reddit Sans"/>
              <a:ea typeface="Reddit Sans"/>
            </a:endParaRPr>
          </a:p>
        </p:txBody>
      </p:sp>
      <p:sp>
        <p:nvSpPr>
          <p:cNvPr id="52" name="Shape 24">
            <a:extLst>
              <a:ext uri="{FF2B5EF4-FFF2-40B4-BE49-F238E27FC236}">
                <a16:creationId xmlns:a16="http://schemas.microsoft.com/office/drawing/2014/main" id="{42005D65-9513-90AD-C9FD-DB2A67EA13C9}"/>
              </a:ext>
            </a:extLst>
          </p:cNvPr>
          <p:cNvSpPr/>
          <p:nvPr/>
        </p:nvSpPr>
        <p:spPr>
          <a:xfrm>
            <a:off x="3977640" y="3024378"/>
            <a:ext cx="3909060" cy="233172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54" name="Shape 25">
            <a:extLst>
              <a:ext uri="{FF2B5EF4-FFF2-40B4-BE49-F238E27FC236}">
                <a16:creationId xmlns:a16="http://schemas.microsoft.com/office/drawing/2014/main" id="{A9B5C8B9-0CB0-C11D-DBF9-9624A16EFD3B}"/>
              </a:ext>
            </a:extLst>
          </p:cNvPr>
          <p:cNvSpPr/>
          <p:nvPr/>
        </p:nvSpPr>
        <p:spPr>
          <a:xfrm>
            <a:off x="3977640" y="3024378"/>
            <a:ext cx="1421477" cy="233172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56" name="Text 26">
            <a:extLst>
              <a:ext uri="{FF2B5EF4-FFF2-40B4-BE49-F238E27FC236}">
                <a16:creationId xmlns:a16="http://schemas.microsoft.com/office/drawing/2014/main" id="{80894721-B9C0-FF29-5D72-C4A27D54300E}"/>
              </a:ext>
            </a:extLst>
          </p:cNvPr>
          <p:cNvSpPr/>
          <p:nvPr/>
        </p:nvSpPr>
        <p:spPr>
          <a:xfrm>
            <a:off x="5467697" y="298323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4/11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58" name="Text 27">
            <a:extLst>
              <a:ext uri="{FF2B5EF4-FFF2-40B4-BE49-F238E27FC236}">
                <a16:creationId xmlns:a16="http://schemas.microsoft.com/office/drawing/2014/main" id="{A9B39169-5D42-6283-CE51-B129DD8F608E}"/>
              </a:ext>
            </a:extLst>
          </p:cNvPr>
          <p:cNvSpPr/>
          <p:nvPr/>
        </p:nvSpPr>
        <p:spPr>
          <a:xfrm>
            <a:off x="342900" y="3360420"/>
            <a:ext cx="58293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D15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60" name="Text 28">
            <a:extLst>
              <a:ext uri="{FF2B5EF4-FFF2-40B4-BE49-F238E27FC236}">
                <a16:creationId xmlns:a16="http://schemas.microsoft.com/office/drawing/2014/main" id="{5E1FFD80-F574-9C4B-5F30-953698879912}"/>
              </a:ext>
            </a:extLst>
          </p:cNvPr>
          <p:cNvSpPr/>
          <p:nvPr/>
        </p:nvSpPr>
        <p:spPr>
          <a:xfrm>
            <a:off x="960120" y="3360420"/>
            <a:ext cx="29489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Tickets sin documentar lección aprendida — reincidencia alta</a:t>
            </a:r>
            <a:endParaRPr lang="en-US" sz="900" dirty="0">
              <a:latin typeface="Reddit Sans"/>
              <a:ea typeface="Reddit Sans"/>
            </a:endParaRPr>
          </a:p>
        </p:txBody>
      </p:sp>
      <p:sp>
        <p:nvSpPr>
          <p:cNvPr id="62" name="Shape 29">
            <a:extLst>
              <a:ext uri="{FF2B5EF4-FFF2-40B4-BE49-F238E27FC236}">
                <a16:creationId xmlns:a16="http://schemas.microsoft.com/office/drawing/2014/main" id="{ADCBD4FE-DBD2-F9EE-E4E5-AA5C2336CAE8}"/>
              </a:ext>
            </a:extLst>
          </p:cNvPr>
          <p:cNvSpPr/>
          <p:nvPr/>
        </p:nvSpPr>
        <p:spPr>
          <a:xfrm>
            <a:off x="3977640" y="3470148"/>
            <a:ext cx="3909060" cy="233172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64" name="Shape 30">
            <a:extLst>
              <a:ext uri="{FF2B5EF4-FFF2-40B4-BE49-F238E27FC236}">
                <a16:creationId xmlns:a16="http://schemas.microsoft.com/office/drawing/2014/main" id="{D8ECD55E-4713-B42A-FB0A-611B3253E20F}"/>
              </a:ext>
            </a:extLst>
          </p:cNvPr>
          <p:cNvSpPr/>
          <p:nvPr/>
        </p:nvSpPr>
        <p:spPr>
          <a:xfrm>
            <a:off x="3977640" y="3470148"/>
            <a:ext cx="1066107" cy="233172"/>
          </a:xfrm>
          <a:prstGeom prst="rect">
            <a:avLst/>
          </a:prstGeom>
          <a:solidFill>
            <a:srgbClr val="132346"/>
          </a:solidFill>
          <a:ln/>
        </p:spPr>
      </p:sp>
      <p:sp>
        <p:nvSpPr>
          <p:cNvPr id="66" name="Text 31">
            <a:extLst>
              <a:ext uri="{FF2B5EF4-FFF2-40B4-BE49-F238E27FC236}">
                <a16:creationId xmlns:a16="http://schemas.microsoft.com/office/drawing/2014/main" id="{10E3360B-CFB0-0828-C870-CA6BAD8F2EC8}"/>
              </a:ext>
            </a:extLst>
          </p:cNvPr>
          <p:cNvSpPr/>
          <p:nvPr/>
        </p:nvSpPr>
        <p:spPr>
          <a:xfrm>
            <a:off x="5112327" y="342900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3/11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68" name="Text 32">
            <a:extLst>
              <a:ext uri="{FF2B5EF4-FFF2-40B4-BE49-F238E27FC236}">
                <a16:creationId xmlns:a16="http://schemas.microsoft.com/office/drawing/2014/main" id="{90F72D2F-9CB6-625E-E5E5-F4F7B8F87CE4}"/>
              </a:ext>
            </a:extLst>
          </p:cNvPr>
          <p:cNvSpPr/>
          <p:nvPr/>
        </p:nvSpPr>
        <p:spPr>
          <a:xfrm>
            <a:off x="342900" y="3806190"/>
            <a:ext cx="58293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D22</a:t>
            </a:r>
            <a:endParaRPr lang="en-US" sz="975" dirty="0">
              <a:latin typeface="Reddit Sans"/>
              <a:ea typeface="Reddit Sans"/>
            </a:endParaRPr>
          </a:p>
        </p:txBody>
      </p:sp>
      <p:sp>
        <p:nvSpPr>
          <p:cNvPr id="70" name="Text 33">
            <a:extLst>
              <a:ext uri="{FF2B5EF4-FFF2-40B4-BE49-F238E27FC236}">
                <a16:creationId xmlns:a16="http://schemas.microsoft.com/office/drawing/2014/main" id="{9211CE7F-7CE3-4036-23FC-59757EBE43AF}"/>
              </a:ext>
            </a:extLst>
          </p:cNvPr>
          <p:cNvSpPr/>
          <p:nvPr/>
        </p:nvSpPr>
        <p:spPr>
          <a:xfrm>
            <a:off x="960120" y="3806190"/>
            <a:ext cx="294894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Modelo económico mal calibrado — precio/ticket no refleja costo real</a:t>
            </a:r>
            <a:endParaRPr lang="en-US" sz="900" dirty="0">
              <a:latin typeface="Reddit Sans"/>
              <a:ea typeface="Reddit Sans"/>
            </a:endParaRPr>
          </a:p>
        </p:txBody>
      </p:sp>
      <p:sp>
        <p:nvSpPr>
          <p:cNvPr id="72" name="Shape 34">
            <a:extLst>
              <a:ext uri="{FF2B5EF4-FFF2-40B4-BE49-F238E27FC236}">
                <a16:creationId xmlns:a16="http://schemas.microsoft.com/office/drawing/2014/main" id="{A834F26D-E24C-7268-7852-F404355DB86E}"/>
              </a:ext>
            </a:extLst>
          </p:cNvPr>
          <p:cNvSpPr/>
          <p:nvPr/>
        </p:nvSpPr>
        <p:spPr>
          <a:xfrm>
            <a:off x="3977640" y="3915918"/>
            <a:ext cx="3909060" cy="233172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74" name="Shape 35">
            <a:extLst>
              <a:ext uri="{FF2B5EF4-FFF2-40B4-BE49-F238E27FC236}">
                <a16:creationId xmlns:a16="http://schemas.microsoft.com/office/drawing/2014/main" id="{4CF0C8D9-5AA3-51FA-2334-7B1DB6500B44}"/>
              </a:ext>
            </a:extLst>
          </p:cNvPr>
          <p:cNvSpPr/>
          <p:nvPr/>
        </p:nvSpPr>
        <p:spPr>
          <a:xfrm>
            <a:off x="3977640" y="3915918"/>
            <a:ext cx="1066107" cy="233172"/>
          </a:xfrm>
          <a:prstGeom prst="rect">
            <a:avLst/>
          </a:prstGeom>
          <a:solidFill>
            <a:srgbClr val="132346"/>
          </a:solidFill>
          <a:ln/>
        </p:spPr>
      </p:sp>
      <p:sp>
        <p:nvSpPr>
          <p:cNvPr id="76" name="Text 36">
            <a:extLst>
              <a:ext uri="{FF2B5EF4-FFF2-40B4-BE49-F238E27FC236}">
                <a16:creationId xmlns:a16="http://schemas.microsoft.com/office/drawing/2014/main" id="{D8DCDBC2-27E4-C3C2-9F7C-9A21DF58AC0E}"/>
              </a:ext>
            </a:extLst>
          </p:cNvPr>
          <p:cNvSpPr/>
          <p:nvPr/>
        </p:nvSpPr>
        <p:spPr>
          <a:xfrm>
            <a:off x="5112327" y="387477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3/11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78" name="Shape 37">
            <a:extLst>
              <a:ext uri="{FF2B5EF4-FFF2-40B4-BE49-F238E27FC236}">
                <a16:creationId xmlns:a16="http://schemas.microsoft.com/office/drawing/2014/main" id="{4A3ED498-0B49-BE02-D5C9-6D2DC4BCF582}"/>
              </a:ext>
            </a:extLst>
          </p:cNvPr>
          <p:cNvSpPr/>
          <p:nvPr/>
        </p:nvSpPr>
        <p:spPr>
          <a:xfrm>
            <a:off x="342900" y="4217670"/>
            <a:ext cx="8455914" cy="4800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>
            <a:solidFill>
              <a:srgbClr val="4472C4"/>
            </a:solidFill>
          </a:ln>
        </p:spPr>
      </p:sp>
      <p:sp>
        <p:nvSpPr>
          <p:cNvPr id="80" name="Text 38">
            <a:extLst>
              <a:ext uri="{FF2B5EF4-FFF2-40B4-BE49-F238E27FC236}">
                <a16:creationId xmlns:a16="http://schemas.microsoft.com/office/drawing/2014/main" id="{F42D67EE-5E59-35EE-B905-2B8837D00FFD}"/>
              </a:ext>
            </a:extLst>
          </p:cNvPr>
          <p:cNvSpPr/>
          <p:nvPr/>
        </p:nvSpPr>
        <p:spPr>
          <a:xfrm>
            <a:off x="480060" y="4217670"/>
            <a:ext cx="818159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b="1" dirty="0">
                <a:latin typeface="Reddit Sans"/>
                <a:ea typeface="Reddit Sans"/>
                <a:cs typeface="Calibri Light"/>
              </a:rPr>
              <a:t> </a:t>
            </a:r>
            <a:r>
              <a:rPr lang="en-US" sz="900" dirty="0">
                <a:latin typeface="Reddit Sans"/>
                <a:ea typeface="Reddit Sans"/>
                <a:cs typeface="Calibri Light"/>
              </a:rPr>
              <a:t>Bus factor (D1) y </a:t>
            </a:r>
            <a:r>
              <a:rPr lang="en-US" sz="900" dirty="0" err="1">
                <a:latin typeface="Reddit Sans"/>
                <a:ea typeface="Reddit Sans"/>
                <a:cs typeface="Calibri Light"/>
              </a:rPr>
              <a:t>capacidad</a:t>
            </a:r>
            <a:r>
              <a:rPr lang="en-US" sz="900" dirty="0">
                <a:latin typeface="Reddit Sans"/>
                <a:ea typeface="Reddit Sans"/>
                <a:cs typeface="Calibri Light"/>
              </a:rPr>
              <a:t> (D7) son </a:t>
            </a:r>
            <a:r>
              <a:rPr lang="en-US" sz="900" dirty="0" err="1">
                <a:latin typeface="Reddit Sans"/>
                <a:ea typeface="Reddit Sans"/>
                <a:cs typeface="Calibri Light"/>
              </a:rPr>
              <a:t>riesgo</a:t>
            </a:r>
            <a:r>
              <a:rPr lang="en-US" sz="900" dirty="0">
                <a:latin typeface="Reddit Sans"/>
                <a:ea typeface="Reddit Sans"/>
                <a:cs typeface="Calibri Light"/>
              </a:rPr>
              <a:t> de </a:t>
            </a:r>
            <a:r>
              <a:rPr lang="en-US" sz="900" dirty="0" err="1">
                <a:latin typeface="Reddit Sans"/>
                <a:ea typeface="Reddit Sans"/>
                <a:cs typeface="Calibri Light"/>
              </a:rPr>
              <a:t>continuidad</a:t>
            </a:r>
            <a:r>
              <a:rPr lang="en-US" sz="900" dirty="0">
                <a:latin typeface="Reddit Sans"/>
                <a:ea typeface="Reddit Sans"/>
                <a:cs typeface="Calibri Light"/>
              </a:rPr>
              <a:t> </a:t>
            </a:r>
            <a:r>
              <a:rPr lang="en-US" sz="900" dirty="0" err="1">
                <a:latin typeface="Reddit Sans"/>
                <a:ea typeface="Reddit Sans"/>
                <a:cs typeface="Calibri Light"/>
              </a:rPr>
              <a:t>inmediato</a:t>
            </a:r>
            <a:r>
              <a:rPr lang="en-US" sz="900" dirty="0">
                <a:latin typeface="Reddit Sans"/>
                <a:ea typeface="Reddit Sans"/>
                <a:cs typeface="Calibri Light"/>
              </a:rPr>
              <a:t>. El </a:t>
            </a:r>
            <a:r>
              <a:rPr lang="en-US" sz="900" dirty="0" err="1">
                <a:latin typeface="Reddit Sans"/>
                <a:ea typeface="Reddit Sans"/>
                <a:cs typeface="Calibri Light"/>
              </a:rPr>
              <a:t>modelo</a:t>
            </a:r>
            <a:r>
              <a:rPr lang="en-US" sz="900" dirty="0">
                <a:latin typeface="Reddit Sans"/>
                <a:ea typeface="Reddit Sans"/>
                <a:cs typeface="Calibri Light"/>
              </a:rPr>
              <a:t> </a:t>
            </a:r>
            <a:r>
              <a:rPr lang="en-US" sz="900" dirty="0" err="1">
                <a:latin typeface="Reddit Sans"/>
                <a:ea typeface="Reddit Sans"/>
                <a:cs typeface="Calibri Light"/>
              </a:rPr>
              <a:t>económico</a:t>
            </a:r>
            <a:r>
              <a:rPr lang="en-US" sz="900" dirty="0">
                <a:latin typeface="Reddit Sans"/>
                <a:ea typeface="Reddit Sans"/>
                <a:cs typeface="Calibri Light"/>
              </a:rPr>
              <a:t> (D22) </a:t>
            </a:r>
            <a:r>
              <a:rPr lang="en-US" sz="900" dirty="0" err="1">
                <a:latin typeface="Reddit Sans"/>
                <a:ea typeface="Reddit Sans"/>
                <a:cs typeface="Calibri Light"/>
              </a:rPr>
              <a:t>debe</a:t>
            </a:r>
            <a:r>
              <a:rPr lang="en-US" sz="900" dirty="0">
                <a:latin typeface="Reddit Sans"/>
                <a:ea typeface="Reddit Sans"/>
                <a:cs typeface="Calibri Light"/>
              </a:rPr>
              <a:t> </a:t>
            </a:r>
            <a:r>
              <a:rPr lang="en-US" sz="900" dirty="0" err="1">
                <a:latin typeface="Reddit Sans"/>
                <a:ea typeface="Reddit Sans"/>
                <a:cs typeface="Calibri Light"/>
              </a:rPr>
              <a:t>recalibrarse</a:t>
            </a:r>
            <a:r>
              <a:rPr lang="en-US" sz="900" dirty="0">
                <a:latin typeface="Reddit Sans"/>
                <a:ea typeface="Reddit Sans"/>
                <a:cs typeface="Calibri Light"/>
              </a:rPr>
              <a:t> </a:t>
            </a:r>
            <a:r>
              <a:rPr lang="en-US" sz="900" dirty="0" err="1">
                <a:latin typeface="Reddit Sans"/>
                <a:ea typeface="Reddit Sans"/>
                <a:cs typeface="Calibri Light"/>
              </a:rPr>
              <a:t>en</a:t>
            </a:r>
            <a:r>
              <a:rPr lang="en-US" sz="900" dirty="0">
                <a:latin typeface="Reddit Sans"/>
                <a:ea typeface="Reddit Sans"/>
                <a:cs typeface="Calibri Light"/>
              </a:rPr>
              <a:t> la </a:t>
            </a:r>
            <a:r>
              <a:rPr lang="en-US" sz="900" dirty="0" err="1">
                <a:latin typeface="Reddit Sans"/>
                <a:ea typeface="Reddit Sans"/>
                <a:cs typeface="Calibri Light"/>
              </a:rPr>
              <a:t>propuesta</a:t>
            </a:r>
            <a:r>
              <a:rPr lang="en-US" sz="900" dirty="0">
                <a:latin typeface="Reddit Sans"/>
                <a:ea typeface="Reddit Sans"/>
                <a:cs typeface="Calibri Light"/>
              </a:rPr>
              <a:t> Next Gen.</a:t>
            </a:r>
            <a:endParaRPr lang="en-US" sz="900">
              <a:latin typeface="Reddit Sans"/>
              <a:ea typeface="Reddit Sans"/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29710668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5ABD62-546E-981A-BFE6-E59CC3AC8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Mapa de Dolores </a:t>
            </a:r>
            <a:r>
              <a:rPr lang="es-ES"/>
              <a:t>Críticos</a:t>
            </a:r>
            <a:endParaRPr lang="es-ES" dirty="0"/>
          </a:p>
        </p:txBody>
      </p:sp>
      <p:sp>
        <p:nvSpPr>
          <p:cNvPr id="4" name="sub">
            <a:extLst>
              <a:ext uri="{FF2B5EF4-FFF2-40B4-BE49-F238E27FC236}">
                <a16:creationId xmlns:a16="http://schemas.microsoft.com/office/drawing/2014/main" id="{DBA0FF28-AD5E-AA5B-81CF-383728684079}"/>
              </a:ext>
            </a:extLst>
          </p:cNvPr>
          <p:cNvSpPr txBox="1">
            <a:spLocks noGrp="1"/>
          </p:cNvSpPr>
          <p:nvPr/>
        </p:nvSpPr>
        <p:spPr>
          <a:xfrm>
            <a:off x="342029" y="552559"/>
            <a:ext cx="771753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950" dirty="0">
                <a:latin typeface="Calibri"/>
              </a:rPr>
              <a:t>● Confirmado · ◐ Parcial · ○ No identificado · Agrupado por </a:t>
            </a:r>
            <a:r>
              <a:rPr lang="es-ES" sz="950">
                <a:latin typeface="Calibri"/>
              </a:rPr>
              <a:t>categoría</a:t>
            </a:r>
            <a:endParaRPr lang="es-ES" sz="95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813605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10" name="dhdr"/>
          <p:cNvSpPr>
            <a:spLocks noGrp="1"/>
          </p:cNvSpPr>
          <p:nvPr/>
        </p:nvSpPr>
        <p:spPr>
          <a:xfrm>
            <a:off x="320040" y="768096"/>
            <a:ext cx="2560320" cy="438912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11" name="dht"/>
          <p:cNvSpPr txBox="1">
            <a:spLocks noGrp="1"/>
          </p:cNvSpPr>
          <p:nvPr/>
        </p:nvSpPr>
        <p:spPr>
          <a:xfrm>
            <a:off x="320040" y="768096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880" b="1" dirty="0">
                <a:solidFill>
                  <a:srgbClr val="FFFFFF"/>
                </a:solidFill>
                <a:latin typeface="Calibri"/>
              </a:rPr>
              <a:t>DOLOR CRITICO</a:t>
            </a:r>
          </a:p>
        </p:txBody>
      </p:sp>
      <p:sp>
        <p:nvSpPr>
          <p:cNvPr id="12" name="sura_hdr"/>
          <p:cNvSpPr>
            <a:spLocks noGrp="1"/>
          </p:cNvSpPr>
          <p:nvPr/>
        </p:nvSpPr>
        <p:spPr>
          <a:xfrm>
            <a:off x="2880360" y="768096"/>
            <a:ext cx="1645920" cy="219456"/>
          </a:xfrm>
          <a:prstGeom prst="rect">
            <a:avLst/>
          </a:prstGeom>
          <a:solidFill>
            <a:srgbClr val="1E2F80"/>
          </a:solidFill>
          <a:ln>
            <a:noFill/>
          </a:ln>
        </p:spPr>
      </p:sp>
      <p:sp>
        <p:nvSpPr>
          <p:cNvPr id="13" name="sura_ht"/>
          <p:cNvSpPr txBox="1">
            <a:spLocks noGrp="1"/>
          </p:cNvSpPr>
          <p:nvPr/>
        </p:nvSpPr>
        <p:spPr>
          <a:xfrm>
            <a:off x="2880360" y="7680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780" b="1" dirty="0">
                <a:solidFill>
                  <a:srgbClr val="FFFFFF"/>
                </a:solidFill>
                <a:latin typeface="Calibri"/>
              </a:rPr>
              <a:t>SURA</a:t>
            </a:r>
          </a:p>
        </p:txBody>
      </p:sp>
      <p:sp>
        <p:nvSpPr>
          <p:cNvPr id="20" name="ch"/>
          <p:cNvSpPr>
            <a:spLocks noGrp="1"/>
          </p:cNvSpPr>
          <p:nvPr/>
        </p:nvSpPr>
        <p:spPr>
          <a:xfrm>
            <a:off x="2880360" y="987552"/>
            <a:ext cx="411480" cy="219456"/>
          </a:xfrm>
          <a:prstGeom prst="rect">
            <a:avLst/>
          </a:prstGeom>
          <a:solidFill>
            <a:srgbClr val="1A3A8F"/>
          </a:solidFill>
          <a:ln>
            <a:noFill/>
          </a:ln>
        </p:spPr>
      </p:sp>
      <p:sp>
        <p:nvSpPr>
          <p:cNvPr id="21" name="cht"/>
          <p:cNvSpPr txBox="1">
            <a:spLocks noGrp="1"/>
          </p:cNvSpPr>
          <p:nvPr/>
        </p:nvSpPr>
        <p:spPr>
          <a:xfrm>
            <a:off x="2880360" y="98755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FFFFFF"/>
                </a:solidFill>
                <a:latin typeface="Calibri"/>
              </a:rPr>
              <a:t>SURA
Cotiz.</a:t>
            </a:r>
          </a:p>
        </p:txBody>
      </p:sp>
      <p:sp>
        <p:nvSpPr>
          <p:cNvPr id="22" name="ch"/>
          <p:cNvSpPr>
            <a:spLocks noGrp="1"/>
          </p:cNvSpPr>
          <p:nvPr/>
        </p:nvSpPr>
        <p:spPr>
          <a:xfrm>
            <a:off x="3291840" y="987552"/>
            <a:ext cx="411480" cy="219456"/>
          </a:xfrm>
          <a:prstGeom prst="rect">
            <a:avLst/>
          </a:prstGeom>
          <a:solidFill>
            <a:srgbClr val="1A3A8F"/>
          </a:solidFill>
          <a:ln>
            <a:noFill/>
          </a:ln>
        </p:spPr>
      </p:sp>
      <p:sp>
        <p:nvSpPr>
          <p:cNvPr id="23" name="cht"/>
          <p:cNvSpPr txBox="1">
            <a:spLocks noGrp="1"/>
          </p:cNvSpPr>
          <p:nvPr/>
        </p:nvSpPr>
        <p:spPr>
          <a:xfrm>
            <a:off x="3291840" y="98755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FFFFFF"/>
                </a:solidFill>
                <a:latin typeface="Calibri"/>
              </a:rPr>
              <a:t>SURA
V.Dig.</a:t>
            </a:r>
          </a:p>
        </p:txBody>
      </p:sp>
      <p:sp>
        <p:nvSpPr>
          <p:cNvPr id="24" name="ch"/>
          <p:cNvSpPr>
            <a:spLocks noGrp="1"/>
          </p:cNvSpPr>
          <p:nvPr/>
        </p:nvSpPr>
        <p:spPr>
          <a:xfrm>
            <a:off x="3703320" y="987552"/>
            <a:ext cx="411480" cy="219456"/>
          </a:xfrm>
          <a:prstGeom prst="rect">
            <a:avLst/>
          </a:prstGeom>
          <a:solidFill>
            <a:srgbClr val="1A3A8F"/>
          </a:solidFill>
          <a:ln>
            <a:noFill/>
          </a:ln>
        </p:spPr>
      </p:sp>
      <p:sp>
        <p:nvSpPr>
          <p:cNvPr id="25" name="cht"/>
          <p:cNvSpPr txBox="1">
            <a:spLocks noGrp="1"/>
          </p:cNvSpPr>
          <p:nvPr/>
        </p:nvSpPr>
        <p:spPr>
          <a:xfrm>
            <a:off x="3703320" y="98755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FFFFFF"/>
                </a:solidFill>
                <a:latin typeface="Calibri"/>
              </a:rPr>
              <a:t>SURA
Auto.</a:t>
            </a:r>
          </a:p>
        </p:txBody>
      </p:sp>
      <p:sp>
        <p:nvSpPr>
          <p:cNvPr id="26" name="ch"/>
          <p:cNvSpPr>
            <a:spLocks noGrp="1"/>
          </p:cNvSpPr>
          <p:nvPr/>
        </p:nvSpPr>
        <p:spPr>
          <a:xfrm>
            <a:off x="4114800" y="987552"/>
            <a:ext cx="411480" cy="219456"/>
          </a:xfrm>
          <a:prstGeom prst="rect">
            <a:avLst/>
          </a:prstGeom>
          <a:solidFill>
            <a:srgbClr val="1A3A8F"/>
          </a:solidFill>
          <a:ln>
            <a:noFill/>
          </a:ln>
        </p:spPr>
      </p:sp>
      <p:sp>
        <p:nvSpPr>
          <p:cNvPr id="27" name="cht"/>
          <p:cNvSpPr txBox="1">
            <a:spLocks noGrp="1"/>
          </p:cNvSpPr>
          <p:nvPr/>
        </p:nvSpPr>
        <p:spPr>
          <a:xfrm>
            <a:off x="4114800" y="98755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FFFFFF"/>
                </a:solidFill>
                <a:latin typeface="Calibri"/>
              </a:rPr>
              <a:t>SURA
Canales</a:t>
            </a:r>
          </a:p>
        </p:txBody>
      </p:sp>
      <p:sp>
        <p:nvSpPr>
          <p:cNvPr id="28" name="ch"/>
          <p:cNvSpPr>
            <a:spLocks noGrp="1"/>
          </p:cNvSpPr>
          <p:nvPr/>
        </p:nvSpPr>
        <p:spPr>
          <a:xfrm>
            <a:off x="4526280" y="987552"/>
            <a:ext cx="411480" cy="219456"/>
          </a:xfrm>
          <a:prstGeom prst="rect">
            <a:avLst/>
          </a:prstGeom>
          <a:solidFill>
            <a:srgbClr val="1B7B85"/>
          </a:solidFill>
          <a:ln>
            <a:noFill/>
          </a:ln>
        </p:spPr>
      </p:sp>
      <p:sp>
        <p:nvSpPr>
          <p:cNvPr id="29" name="cht"/>
          <p:cNvSpPr txBox="1">
            <a:spLocks noGrp="1"/>
          </p:cNvSpPr>
          <p:nvPr/>
        </p:nvSpPr>
        <p:spPr>
          <a:xfrm>
            <a:off x="4526280" y="98755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FFFFFF"/>
                </a:solidFill>
                <a:latin typeface="Calibri"/>
              </a:rPr>
              <a:t>XM</a:t>
            </a:r>
          </a:p>
        </p:txBody>
      </p:sp>
      <p:sp>
        <p:nvSpPr>
          <p:cNvPr id="30" name="ch"/>
          <p:cNvSpPr>
            <a:spLocks noGrp="1"/>
          </p:cNvSpPr>
          <p:nvPr/>
        </p:nvSpPr>
        <p:spPr>
          <a:xfrm>
            <a:off x="4937760" y="987552"/>
            <a:ext cx="411480" cy="219456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31" name="cht"/>
          <p:cNvSpPr txBox="1">
            <a:spLocks noGrp="1"/>
          </p:cNvSpPr>
          <p:nvPr/>
        </p:nvSpPr>
        <p:spPr>
          <a:xfrm>
            <a:off x="4937760" y="98755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FFFFFF"/>
                </a:solidFill>
                <a:latin typeface="Calibri"/>
              </a:rPr>
              <a:t>AES</a:t>
            </a:r>
          </a:p>
        </p:txBody>
      </p:sp>
      <p:sp>
        <p:nvSpPr>
          <p:cNvPr id="32" name="ch"/>
          <p:cNvSpPr>
            <a:spLocks noGrp="1"/>
          </p:cNvSpPr>
          <p:nvPr/>
        </p:nvSpPr>
        <p:spPr>
          <a:xfrm>
            <a:off x="5349240" y="987552"/>
            <a:ext cx="411480" cy="219456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33" name="cht"/>
          <p:cNvSpPr txBox="1">
            <a:spLocks noGrp="1"/>
          </p:cNvSpPr>
          <p:nvPr/>
        </p:nvSpPr>
        <p:spPr>
          <a:xfrm>
            <a:off x="5349240" y="98755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FFFFFF"/>
                </a:solidFill>
                <a:latin typeface="Calibri"/>
              </a:rPr>
              <a:t>BCO
COES-I</a:t>
            </a:r>
          </a:p>
        </p:txBody>
      </p:sp>
      <p:sp>
        <p:nvSpPr>
          <p:cNvPr id="34" name="ch"/>
          <p:cNvSpPr>
            <a:spLocks noGrp="1"/>
          </p:cNvSpPr>
          <p:nvPr/>
        </p:nvSpPr>
        <p:spPr>
          <a:xfrm>
            <a:off x="5760720" y="987552"/>
            <a:ext cx="411480" cy="219456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35" name="cht"/>
          <p:cNvSpPr txBox="1">
            <a:spLocks noGrp="1"/>
          </p:cNvSpPr>
          <p:nvPr/>
        </p:nvSpPr>
        <p:spPr>
          <a:xfrm>
            <a:off x="5760720" y="98755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FFFFFF"/>
                </a:solidFill>
                <a:latin typeface="Calibri"/>
              </a:rPr>
              <a:t>BCO
COES-D</a:t>
            </a:r>
          </a:p>
        </p:txBody>
      </p:sp>
      <p:sp>
        <p:nvSpPr>
          <p:cNvPr id="36" name="ch"/>
          <p:cNvSpPr>
            <a:spLocks noGrp="1"/>
          </p:cNvSpPr>
          <p:nvPr/>
        </p:nvSpPr>
        <p:spPr>
          <a:xfrm>
            <a:off x="6172200" y="987552"/>
            <a:ext cx="411480" cy="219456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37" name="cht"/>
          <p:cNvSpPr txBox="1">
            <a:spLocks noGrp="1"/>
          </p:cNvSpPr>
          <p:nvPr/>
        </p:nvSpPr>
        <p:spPr>
          <a:xfrm>
            <a:off x="6172200" y="98755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FFFFFF"/>
                </a:solidFill>
                <a:latin typeface="Calibri"/>
              </a:rPr>
              <a:t>BCO
Sop.</a:t>
            </a:r>
          </a:p>
        </p:txBody>
      </p:sp>
      <p:sp>
        <p:nvSpPr>
          <p:cNvPr id="38" name="ch"/>
          <p:cNvSpPr>
            <a:spLocks noGrp="1"/>
          </p:cNvSpPr>
          <p:nvPr/>
        </p:nvSpPr>
        <p:spPr>
          <a:xfrm>
            <a:off x="6583680" y="987552"/>
            <a:ext cx="411480" cy="219456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39" name="cht"/>
          <p:cNvSpPr txBox="1">
            <a:spLocks noGrp="1"/>
          </p:cNvSpPr>
          <p:nvPr/>
        </p:nvSpPr>
        <p:spPr>
          <a:xfrm>
            <a:off x="6583680" y="98755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FFFFFF"/>
                </a:solidFill>
                <a:latin typeface="Calibri"/>
              </a:rPr>
              <a:t>BCO
Emma</a:t>
            </a:r>
          </a:p>
        </p:txBody>
      </p:sp>
      <p:sp>
        <p:nvSpPr>
          <p:cNvPr id="40" name="ch"/>
          <p:cNvSpPr>
            <a:spLocks noGrp="1"/>
          </p:cNvSpPr>
          <p:nvPr/>
        </p:nvSpPr>
        <p:spPr>
          <a:xfrm>
            <a:off x="6995160" y="987552"/>
            <a:ext cx="411480" cy="219456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41" name="cht"/>
          <p:cNvSpPr txBox="1">
            <a:spLocks noGrp="1"/>
          </p:cNvSpPr>
          <p:nvPr/>
        </p:nvSpPr>
        <p:spPr>
          <a:xfrm>
            <a:off x="6995160" y="98755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FFFFFF"/>
                </a:solidFill>
                <a:latin typeface="Calibri"/>
              </a:rPr>
              <a:t>BCO
iSeries</a:t>
            </a:r>
          </a:p>
        </p:txBody>
      </p:sp>
      <p:sp>
        <p:nvSpPr>
          <p:cNvPr id="100" name="cb"/>
          <p:cNvSpPr>
            <a:spLocks noGrp="1"/>
          </p:cNvSpPr>
          <p:nvPr/>
        </p:nvSpPr>
        <p:spPr>
          <a:xfrm>
            <a:off x="320040" y="1207008"/>
            <a:ext cx="402336" cy="219456"/>
          </a:xfrm>
          <a:prstGeom prst="rect">
            <a:avLst/>
          </a:prstGeom>
          <a:solidFill>
            <a:srgbClr val="EEF2FF"/>
          </a:solidFill>
          <a:ln w="6350">
            <a:solidFill>
              <a:srgbClr val="C8D6E8"/>
            </a:solidFill>
          </a:ln>
        </p:spPr>
      </p:sp>
      <p:sp>
        <p:nvSpPr>
          <p:cNvPr id="101" name="ct"/>
          <p:cNvSpPr txBox="1">
            <a:spLocks noGrp="1"/>
          </p:cNvSpPr>
          <p:nvPr/>
        </p:nvSpPr>
        <p:spPr>
          <a:xfrm>
            <a:off x="320040" y="1207008"/>
            <a:ext cx="40233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0D1B5E"/>
                </a:solidFill>
                <a:latin typeface="Calibri"/>
              </a:rPr>
              <a:t>GOB</a:t>
            </a:r>
          </a:p>
        </p:txBody>
      </p:sp>
      <p:sp>
        <p:nvSpPr>
          <p:cNvPr id="102" name="db"/>
          <p:cNvSpPr>
            <a:spLocks noGrp="1"/>
          </p:cNvSpPr>
          <p:nvPr/>
        </p:nvSpPr>
        <p:spPr>
          <a:xfrm>
            <a:off x="722376" y="1207008"/>
            <a:ext cx="2157984" cy="219456"/>
          </a:xfrm>
          <a:prstGeom prst="rect">
            <a:avLst/>
          </a:prstGeom>
          <a:solidFill>
            <a:srgbClr val="EEF2FF"/>
          </a:solidFill>
          <a:ln w="6350">
            <a:solidFill>
              <a:srgbClr val="C8D6E8"/>
            </a:solidFill>
          </a:ln>
        </p:spPr>
      </p:sp>
      <p:sp>
        <p:nvSpPr>
          <p:cNvPr id="103" name="dt"/>
          <p:cNvSpPr txBox="1">
            <a:spLocks noGrp="1"/>
          </p:cNvSpPr>
          <p:nvPr/>
        </p:nvSpPr>
        <p:spPr>
          <a:xfrm>
            <a:off x="777240" y="1207008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Sin RACI ni roles definidos</a:t>
            </a:r>
          </a:p>
        </p:txBody>
      </p:sp>
      <p:sp>
        <p:nvSpPr>
          <p:cNvPr id="104" name="c"/>
          <p:cNvSpPr>
            <a:spLocks noGrp="1"/>
          </p:cNvSpPr>
          <p:nvPr/>
        </p:nvSpPr>
        <p:spPr>
          <a:xfrm>
            <a:off x="2880360" y="120700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05" name="ct2"/>
          <p:cNvSpPr txBox="1">
            <a:spLocks noGrp="1"/>
          </p:cNvSpPr>
          <p:nvPr/>
        </p:nvSpPr>
        <p:spPr>
          <a:xfrm>
            <a:off x="2880360" y="120700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6" name="c"/>
          <p:cNvSpPr>
            <a:spLocks noGrp="1"/>
          </p:cNvSpPr>
          <p:nvPr/>
        </p:nvSpPr>
        <p:spPr>
          <a:xfrm>
            <a:off x="3291840" y="120700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06" name="ct2"/>
          <p:cNvSpPr txBox="1">
            <a:spLocks noGrp="1"/>
          </p:cNvSpPr>
          <p:nvPr/>
        </p:nvSpPr>
        <p:spPr>
          <a:xfrm>
            <a:off x="3291840" y="120700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7" name="c"/>
          <p:cNvSpPr>
            <a:spLocks noGrp="1"/>
          </p:cNvSpPr>
          <p:nvPr/>
        </p:nvSpPr>
        <p:spPr>
          <a:xfrm>
            <a:off x="3703320" y="120700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07" name="ct2"/>
          <p:cNvSpPr txBox="1">
            <a:spLocks noGrp="1"/>
          </p:cNvSpPr>
          <p:nvPr/>
        </p:nvSpPr>
        <p:spPr>
          <a:xfrm>
            <a:off x="3703320" y="120700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8" name="c"/>
          <p:cNvSpPr>
            <a:spLocks noGrp="1"/>
          </p:cNvSpPr>
          <p:nvPr/>
        </p:nvSpPr>
        <p:spPr>
          <a:xfrm>
            <a:off x="4114800" y="120700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08" name="ct2"/>
          <p:cNvSpPr txBox="1">
            <a:spLocks noGrp="1"/>
          </p:cNvSpPr>
          <p:nvPr/>
        </p:nvSpPr>
        <p:spPr>
          <a:xfrm>
            <a:off x="4114800" y="120700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9" name="c"/>
          <p:cNvSpPr>
            <a:spLocks noGrp="1"/>
          </p:cNvSpPr>
          <p:nvPr/>
        </p:nvSpPr>
        <p:spPr>
          <a:xfrm>
            <a:off x="4526280" y="120700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09" name="ct2"/>
          <p:cNvSpPr txBox="1">
            <a:spLocks noGrp="1"/>
          </p:cNvSpPr>
          <p:nvPr/>
        </p:nvSpPr>
        <p:spPr>
          <a:xfrm>
            <a:off x="4526280" y="120700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14" name="c"/>
          <p:cNvSpPr>
            <a:spLocks noGrp="1"/>
          </p:cNvSpPr>
          <p:nvPr/>
        </p:nvSpPr>
        <p:spPr>
          <a:xfrm>
            <a:off x="4937760" y="120700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10" name="ct2"/>
          <p:cNvSpPr txBox="1">
            <a:spLocks noGrp="1"/>
          </p:cNvSpPr>
          <p:nvPr/>
        </p:nvSpPr>
        <p:spPr>
          <a:xfrm>
            <a:off x="4937760" y="120700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15" name="c"/>
          <p:cNvSpPr>
            <a:spLocks noGrp="1"/>
          </p:cNvSpPr>
          <p:nvPr/>
        </p:nvSpPr>
        <p:spPr>
          <a:xfrm>
            <a:off x="5349240" y="120700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11" name="ct2"/>
          <p:cNvSpPr txBox="1">
            <a:spLocks noGrp="1"/>
          </p:cNvSpPr>
          <p:nvPr/>
        </p:nvSpPr>
        <p:spPr>
          <a:xfrm>
            <a:off x="5349240" y="120700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16" name="c"/>
          <p:cNvSpPr>
            <a:spLocks noGrp="1"/>
          </p:cNvSpPr>
          <p:nvPr/>
        </p:nvSpPr>
        <p:spPr>
          <a:xfrm>
            <a:off x="5760720" y="120700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12" name="ct2"/>
          <p:cNvSpPr txBox="1">
            <a:spLocks noGrp="1"/>
          </p:cNvSpPr>
          <p:nvPr/>
        </p:nvSpPr>
        <p:spPr>
          <a:xfrm>
            <a:off x="5760720" y="120700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17" name="c"/>
          <p:cNvSpPr>
            <a:spLocks noGrp="1"/>
          </p:cNvSpPr>
          <p:nvPr/>
        </p:nvSpPr>
        <p:spPr>
          <a:xfrm>
            <a:off x="6172200" y="120700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13" name="ct2"/>
          <p:cNvSpPr txBox="1">
            <a:spLocks noGrp="1"/>
          </p:cNvSpPr>
          <p:nvPr/>
        </p:nvSpPr>
        <p:spPr>
          <a:xfrm>
            <a:off x="6172200" y="120700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18" name="c"/>
          <p:cNvSpPr>
            <a:spLocks noGrp="1"/>
          </p:cNvSpPr>
          <p:nvPr/>
        </p:nvSpPr>
        <p:spPr>
          <a:xfrm>
            <a:off x="6583680" y="120700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14" name="ct2"/>
          <p:cNvSpPr txBox="1">
            <a:spLocks noGrp="1"/>
          </p:cNvSpPr>
          <p:nvPr/>
        </p:nvSpPr>
        <p:spPr>
          <a:xfrm>
            <a:off x="6583680" y="120700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19" name="c"/>
          <p:cNvSpPr>
            <a:spLocks noGrp="1"/>
          </p:cNvSpPr>
          <p:nvPr/>
        </p:nvSpPr>
        <p:spPr>
          <a:xfrm>
            <a:off x="6995160" y="120700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15" name="ct2"/>
          <p:cNvSpPr txBox="1">
            <a:spLocks noGrp="1"/>
          </p:cNvSpPr>
          <p:nvPr/>
        </p:nvSpPr>
        <p:spPr>
          <a:xfrm>
            <a:off x="6995160" y="120700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5" name="db"/>
          <p:cNvSpPr>
            <a:spLocks noGrp="1"/>
          </p:cNvSpPr>
          <p:nvPr/>
        </p:nvSpPr>
        <p:spPr>
          <a:xfrm>
            <a:off x="722376" y="1426464"/>
            <a:ext cx="2157984" cy="219456"/>
          </a:xfrm>
          <a:prstGeom prst="rect">
            <a:avLst/>
          </a:prstGeom>
          <a:solidFill>
            <a:srgbClr val="EEF2FF"/>
          </a:solidFill>
          <a:ln w="6350">
            <a:solidFill>
              <a:srgbClr val="C8D6E8"/>
            </a:solidFill>
          </a:ln>
        </p:spPr>
      </p:sp>
      <p:sp>
        <p:nvSpPr>
          <p:cNvPr id="46" name="dt"/>
          <p:cNvSpPr txBox="1">
            <a:spLocks noGrp="1"/>
          </p:cNvSpPr>
          <p:nvPr/>
        </p:nvSpPr>
        <p:spPr>
          <a:xfrm>
            <a:off x="777240" y="1426464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Sin gobierno — sin ANS formales</a:t>
            </a:r>
          </a:p>
        </p:txBody>
      </p:sp>
      <p:sp>
        <p:nvSpPr>
          <p:cNvPr id="47" name="c"/>
          <p:cNvSpPr>
            <a:spLocks noGrp="1"/>
          </p:cNvSpPr>
          <p:nvPr/>
        </p:nvSpPr>
        <p:spPr>
          <a:xfrm>
            <a:off x="2880360" y="1426464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48" name="ct2"/>
          <p:cNvSpPr txBox="1">
            <a:spLocks noGrp="1"/>
          </p:cNvSpPr>
          <p:nvPr/>
        </p:nvSpPr>
        <p:spPr>
          <a:xfrm>
            <a:off x="2880360" y="142646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9" name="c"/>
          <p:cNvSpPr>
            <a:spLocks noGrp="1"/>
          </p:cNvSpPr>
          <p:nvPr/>
        </p:nvSpPr>
        <p:spPr>
          <a:xfrm>
            <a:off x="3291840" y="1426464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50" name="ct2"/>
          <p:cNvSpPr txBox="1">
            <a:spLocks noGrp="1"/>
          </p:cNvSpPr>
          <p:nvPr/>
        </p:nvSpPr>
        <p:spPr>
          <a:xfrm>
            <a:off x="3291840" y="142646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1" name="c"/>
          <p:cNvSpPr>
            <a:spLocks noGrp="1"/>
          </p:cNvSpPr>
          <p:nvPr/>
        </p:nvSpPr>
        <p:spPr>
          <a:xfrm>
            <a:off x="3703320" y="1426464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17" name="ct2"/>
          <p:cNvSpPr txBox="1">
            <a:spLocks noGrp="1"/>
          </p:cNvSpPr>
          <p:nvPr/>
        </p:nvSpPr>
        <p:spPr>
          <a:xfrm>
            <a:off x="3703320" y="142646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2" name="c"/>
          <p:cNvSpPr>
            <a:spLocks noGrp="1"/>
          </p:cNvSpPr>
          <p:nvPr/>
        </p:nvSpPr>
        <p:spPr>
          <a:xfrm>
            <a:off x="4114800" y="1426464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18" name="ct2"/>
          <p:cNvSpPr txBox="1">
            <a:spLocks noGrp="1"/>
          </p:cNvSpPr>
          <p:nvPr/>
        </p:nvSpPr>
        <p:spPr>
          <a:xfrm>
            <a:off x="4114800" y="142646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3" name="c"/>
          <p:cNvSpPr>
            <a:spLocks noGrp="1"/>
          </p:cNvSpPr>
          <p:nvPr/>
        </p:nvSpPr>
        <p:spPr>
          <a:xfrm>
            <a:off x="4526280" y="1426464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19" name="ct2"/>
          <p:cNvSpPr txBox="1">
            <a:spLocks noGrp="1"/>
          </p:cNvSpPr>
          <p:nvPr/>
        </p:nvSpPr>
        <p:spPr>
          <a:xfrm>
            <a:off x="4526280" y="142646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4" name="c"/>
          <p:cNvSpPr>
            <a:spLocks noGrp="1"/>
          </p:cNvSpPr>
          <p:nvPr/>
        </p:nvSpPr>
        <p:spPr>
          <a:xfrm>
            <a:off x="4937760" y="1426464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20" name="ct2"/>
          <p:cNvSpPr txBox="1">
            <a:spLocks noGrp="1"/>
          </p:cNvSpPr>
          <p:nvPr/>
        </p:nvSpPr>
        <p:spPr>
          <a:xfrm>
            <a:off x="4937760" y="142646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5" name="c"/>
          <p:cNvSpPr>
            <a:spLocks noGrp="1"/>
          </p:cNvSpPr>
          <p:nvPr/>
        </p:nvSpPr>
        <p:spPr>
          <a:xfrm>
            <a:off x="5349240" y="1426464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21" name="ct2"/>
          <p:cNvSpPr txBox="1">
            <a:spLocks noGrp="1"/>
          </p:cNvSpPr>
          <p:nvPr/>
        </p:nvSpPr>
        <p:spPr>
          <a:xfrm>
            <a:off x="5349240" y="142646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6" name="c"/>
          <p:cNvSpPr>
            <a:spLocks noGrp="1"/>
          </p:cNvSpPr>
          <p:nvPr/>
        </p:nvSpPr>
        <p:spPr>
          <a:xfrm>
            <a:off x="5760720" y="1426464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22" name="ct2"/>
          <p:cNvSpPr txBox="1">
            <a:spLocks noGrp="1"/>
          </p:cNvSpPr>
          <p:nvPr/>
        </p:nvSpPr>
        <p:spPr>
          <a:xfrm>
            <a:off x="5760720" y="142646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7" name="c"/>
          <p:cNvSpPr>
            <a:spLocks noGrp="1"/>
          </p:cNvSpPr>
          <p:nvPr/>
        </p:nvSpPr>
        <p:spPr>
          <a:xfrm>
            <a:off x="6172200" y="1426464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23" name="ct2"/>
          <p:cNvSpPr txBox="1">
            <a:spLocks noGrp="1"/>
          </p:cNvSpPr>
          <p:nvPr/>
        </p:nvSpPr>
        <p:spPr>
          <a:xfrm>
            <a:off x="6172200" y="142646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8" name="c"/>
          <p:cNvSpPr>
            <a:spLocks noGrp="1"/>
          </p:cNvSpPr>
          <p:nvPr/>
        </p:nvSpPr>
        <p:spPr>
          <a:xfrm>
            <a:off x="6583680" y="1426464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24" name="ct2"/>
          <p:cNvSpPr txBox="1">
            <a:spLocks noGrp="1"/>
          </p:cNvSpPr>
          <p:nvPr/>
        </p:nvSpPr>
        <p:spPr>
          <a:xfrm>
            <a:off x="6583680" y="142646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9" name="c"/>
          <p:cNvSpPr>
            <a:spLocks noGrp="1"/>
          </p:cNvSpPr>
          <p:nvPr/>
        </p:nvSpPr>
        <p:spPr>
          <a:xfrm>
            <a:off x="6995160" y="1426464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25" name="ct2"/>
          <p:cNvSpPr txBox="1">
            <a:spLocks noGrp="1"/>
          </p:cNvSpPr>
          <p:nvPr/>
        </p:nvSpPr>
        <p:spPr>
          <a:xfrm>
            <a:off x="6995160" y="142646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61" name="db"/>
          <p:cNvSpPr>
            <a:spLocks noGrp="1"/>
          </p:cNvSpPr>
          <p:nvPr/>
        </p:nvSpPr>
        <p:spPr>
          <a:xfrm>
            <a:off x="722376" y="1645920"/>
            <a:ext cx="2157984" cy="219456"/>
          </a:xfrm>
          <a:prstGeom prst="rect">
            <a:avLst/>
          </a:prstGeom>
          <a:solidFill>
            <a:srgbClr val="EEF2FF"/>
          </a:solidFill>
          <a:ln w="6350">
            <a:solidFill>
              <a:srgbClr val="C8D6E8"/>
            </a:solidFill>
          </a:ln>
        </p:spPr>
      </p:sp>
      <p:sp>
        <p:nvSpPr>
          <p:cNvPr id="62" name="dt"/>
          <p:cNvSpPr txBox="1">
            <a:spLocks noGrp="1"/>
          </p:cNvSpPr>
          <p:nvPr/>
        </p:nvSpPr>
        <p:spPr>
          <a:xfrm>
            <a:off x="777240" y="1645920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Catalogo de servicios desactualizado</a:t>
            </a:r>
          </a:p>
        </p:txBody>
      </p:sp>
      <p:sp>
        <p:nvSpPr>
          <p:cNvPr id="63" name="c"/>
          <p:cNvSpPr>
            <a:spLocks noGrp="1"/>
          </p:cNvSpPr>
          <p:nvPr/>
        </p:nvSpPr>
        <p:spPr>
          <a:xfrm>
            <a:off x="2880360" y="164592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448" name="ct2"/>
          <p:cNvSpPr txBox="1">
            <a:spLocks noGrp="1"/>
          </p:cNvSpPr>
          <p:nvPr/>
        </p:nvSpPr>
        <p:spPr>
          <a:xfrm>
            <a:off x="2880360" y="164592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49" name="c"/>
          <p:cNvSpPr>
            <a:spLocks noGrp="1"/>
          </p:cNvSpPr>
          <p:nvPr/>
        </p:nvSpPr>
        <p:spPr>
          <a:xfrm>
            <a:off x="3291840" y="164592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450" name="ct2"/>
          <p:cNvSpPr txBox="1">
            <a:spLocks noGrp="1"/>
          </p:cNvSpPr>
          <p:nvPr/>
        </p:nvSpPr>
        <p:spPr>
          <a:xfrm>
            <a:off x="3291840" y="164592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51" name="c"/>
          <p:cNvSpPr>
            <a:spLocks noGrp="1"/>
          </p:cNvSpPr>
          <p:nvPr/>
        </p:nvSpPr>
        <p:spPr>
          <a:xfrm>
            <a:off x="3703320" y="164592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27" name="ct2"/>
          <p:cNvSpPr txBox="1">
            <a:spLocks noGrp="1"/>
          </p:cNvSpPr>
          <p:nvPr/>
        </p:nvSpPr>
        <p:spPr>
          <a:xfrm>
            <a:off x="3703320" y="164592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52" name="c"/>
          <p:cNvSpPr>
            <a:spLocks noGrp="1"/>
          </p:cNvSpPr>
          <p:nvPr/>
        </p:nvSpPr>
        <p:spPr>
          <a:xfrm>
            <a:off x="4114800" y="164592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28" name="ct2"/>
          <p:cNvSpPr txBox="1">
            <a:spLocks noGrp="1"/>
          </p:cNvSpPr>
          <p:nvPr/>
        </p:nvSpPr>
        <p:spPr>
          <a:xfrm>
            <a:off x="4114800" y="164592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53" name="c"/>
          <p:cNvSpPr>
            <a:spLocks noGrp="1"/>
          </p:cNvSpPr>
          <p:nvPr/>
        </p:nvSpPr>
        <p:spPr>
          <a:xfrm>
            <a:off x="4526280" y="164592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29" name="ct2"/>
          <p:cNvSpPr txBox="1">
            <a:spLocks noGrp="1"/>
          </p:cNvSpPr>
          <p:nvPr/>
        </p:nvSpPr>
        <p:spPr>
          <a:xfrm>
            <a:off x="4526280" y="164592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54" name="c"/>
          <p:cNvSpPr>
            <a:spLocks noGrp="1"/>
          </p:cNvSpPr>
          <p:nvPr/>
        </p:nvSpPr>
        <p:spPr>
          <a:xfrm>
            <a:off x="4937760" y="164592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30" name="ct2"/>
          <p:cNvSpPr txBox="1">
            <a:spLocks noGrp="1"/>
          </p:cNvSpPr>
          <p:nvPr/>
        </p:nvSpPr>
        <p:spPr>
          <a:xfrm>
            <a:off x="4937760" y="164592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55" name="c"/>
          <p:cNvSpPr>
            <a:spLocks noGrp="1"/>
          </p:cNvSpPr>
          <p:nvPr/>
        </p:nvSpPr>
        <p:spPr>
          <a:xfrm>
            <a:off x="5349240" y="164592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31" name="ct2"/>
          <p:cNvSpPr txBox="1">
            <a:spLocks noGrp="1"/>
          </p:cNvSpPr>
          <p:nvPr/>
        </p:nvSpPr>
        <p:spPr>
          <a:xfrm>
            <a:off x="5349240" y="164592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56" name="c"/>
          <p:cNvSpPr>
            <a:spLocks noGrp="1"/>
          </p:cNvSpPr>
          <p:nvPr/>
        </p:nvSpPr>
        <p:spPr>
          <a:xfrm>
            <a:off x="5760720" y="164592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32" name="ct2"/>
          <p:cNvSpPr txBox="1">
            <a:spLocks noGrp="1"/>
          </p:cNvSpPr>
          <p:nvPr/>
        </p:nvSpPr>
        <p:spPr>
          <a:xfrm>
            <a:off x="5760720" y="164592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57" name="c"/>
          <p:cNvSpPr>
            <a:spLocks noGrp="1"/>
          </p:cNvSpPr>
          <p:nvPr/>
        </p:nvSpPr>
        <p:spPr>
          <a:xfrm>
            <a:off x="6172200" y="164592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33" name="ct2"/>
          <p:cNvSpPr txBox="1">
            <a:spLocks noGrp="1"/>
          </p:cNvSpPr>
          <p:nvPr/>
        </p:nvSpPr>
        <p:spPr>
          <a:xfrm>
            <a:off x="6172200" y="164592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58" name="c"/>
          <p:cNvSpPr>
            <a:spLocks noGrp="1"/>
          </p:cNvSpPr>
          <p:nvPr/>
        </p:nvSpPr>
        <p:spPr>
          <a:xfrm>
            <a:off x="6583680" y="164592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34" name="ct2"/>
          <p:cNvSpPr txBox="1">
            <a:spLocks noGrp="1"/>
          </p:cNvSpPr>
          <p:nvPr/>
        </p:nvSpPr>
        <p:spPr>
          <a:xfrm>
            <a:off x="6583680" y="164592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59" name="c"/>
          <p:cNvSpPr>
            <a:spLocks noGrp="1"/>
          </p:cNvSpPr>
          <p:nvPr/>
        </p:nvSpPr>
        <p:spPr>
          <a:xfrm>
            <a:off x="6995160" y="164592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35" name="ct2"/>
          <p:cNvSpPr txBox="1">
            <a:spLocks noGrp="1"/>
          </p:cNvSpPr>
          <p:nvPr/>
        </p:nvSpPr>
        <p:spPr>
          <a:xfrm>
            <a:off x="6995160" y="164592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61" name="cb"/>
          <p:cNvSpPr>
            <a:spLocks noGrp="1"/>
          </p:cNvSpPr>
          <p:nvPr/>
        </p:nvSpPr>
        <p:spPr>
          <a:xfrm>
            <a:off x="320040" y="1865376"/>
            <a:ext cx="402336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462" name="ct"/>
          <p:cNvSpPr txBox="1">
            <a:spLocks noGrp="1"/>
          </p:cNvSpPr>
          <p:nvPr/>
        </p:nvSpPr>
        <p:spPr>
          <a:xfrm>
            <a:off x="320040" y="1865376"/>
            <a:ext cx="40233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1A3A8F"/>
                </a:solidFill>
                <a:latin typeface="Calibri"/>
              </a:rPr>
              <a:t>OPS</a:t>
            </a:r>
          </a:p>
        </p:txBody>
      </p:sp>
      <p:sp>
        <p:nvSpPr>
          <p:cNvPr id="463" name="db"/>
          <p:cNvSpPr>
            <a:spLocks noGrp="1"/>
          </p:cNvSpPr>
          <p:nvPr/>
        </p:nvSpPr>
        <p:spPr>
          <a:xfrm>
            <a:off x="722376" y="1865376"/>
            <a:ext cx="2157984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464" name="dt"/>
          <p:cNvSpPr txBox="1">
            <a:spLocks noGrp="1"/>
          </p:cNvSpPr>
          <p:nvPr/>
        </p:nvSpPr>
        <p:spPr>
          <a:xfrm>
            <a:off x="777240" y="1865376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Postura 100% reactiva</a:t>
            </a:r>
          </a:p>
        </p:txBody>
      </p:sp>
      <p:sp>
        <p:nvSpPr>
          <p:cNvPr id="465" name="c"/>
          <p:cNvSpPr>
            <a:spLocks noGrp="1"/>
          </p:cNvSpPr>
          <p:nvPr/>
        </p:nvSpPr>
        <p:spPr>
          <a:xfrm>
            <a:off x="2880360" y="186537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466" name="ct2"/>
          <p:cNvSpPr txBox="1">
            <a:spLocks noGrp="1"/>
          </p:cNvSpPr>
          <p:nvPr/>
        </p:nvSpPr>
        <p:spPr>
          <a:xfrm>
            <a:off x="2880360" y="186537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67" name="c"/>
          <p:cNvSpPr>
            <a:spLocks noGrp="1"/>
          </p:cNvSpPr>
          <p:nvPr/>
        </p:nvSpPr>
        <p:spPr>
          <a:xfrm>
            <a:off x="3291840" y="1865376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468" name="ct2"/>
          <p:cNvSpPr txBox="1">
            <a:spLocks noGrp="1"/>
          </p:cNvSpPr>
          <p:nvPr/>
        </p:nvSpPr>
        <p:spPr>
          <a:xfrm>
            <a:off x="3291840" y="186537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69" name="c"/>
          <p:cNvSpPr>
            <a:spLocks noGrp="1"/>
          </p:cNvSpPr>
          <p:nvPr/>
        </p:nvSpPr>
        <p:spPr>
          <a:xfrm>
            <a:off x="3703320" y="1865376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37" name="ct2"/>
          <p:cNvSpPr txBox="1">
            <a:spLocks noGrp="1"/>
          </p:cNvSpPr>
          <p:nvPr/>
        </p:nvSpPr>
        <p:spPr>
          <a:xfrm>
            <a:off x="3703320" y="186537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470" name="c"/>
          <p:cNvSpPr>
            <a:spLocks noGrp="1"/>
          </p:cNvSpPr>
          <p:nvPr/>
        </p:nvSpPr>
        <p:spPr>
          <a:xfrm>
            <a:off x="4114800" y="186537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38" name="ct2"/>
          <p:cNvSpPr txBox="1">
            <a:spLocks noGrp="1"/>
          </p:cNvSpPr>
          <p:nvPr/>
        </p:nvSpPr>
        <p:spPr>
          <a:xfrm>
            <a:off x="4114800" y="186537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71" name="c"/>
          <p:cNvSpPr>
            <a:spLocks noGrp="1"/>
          </p:cNvSpPr>
          <p:nvPr/>
        </p:nvSpPr>
        <p:spPr>
          <a:xfrm>
            <a:off x="4526280" y="186537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39" name="ct2"/>
          <p:cNvSpPr txBox="1">
            <a:spLocks noGrp="1"/>
          </p:cNvSpPr>
          <p:nvPr/>
        </p:nvSpPr>
        <p:spPr>
          <a:xfrm>
            <a:off x="4526280" y="186537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72" name="c"/>
          <p:cNvSpPr>
            <a:spLocks noGrp="1"/>
          </p:cNvSpPr>
          <p:nvPr/>
        </p:nvSpPr>
        <p:spPr>
          <a:xfrm>
            <a:off x="4937760" y="186537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40" name="ct2"/>
          <p:cNvSpPr txBox="1">
            <a:spLocks noGrp="1"/>
          </p:cNvSpPr>
          <p:nvPr/>
        </p:nvSpPr>
        <p:spPr>
          <a:xfrm>
            <a:off x="4937760" y="186537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73" name="c"/>
          <p:cNvSpPr>
            <a:spLocks noGrp="1"/>
          </p:cNvSpPr>
          <p:nvPr/>
        </p:nvSpPr>
        <p:spPr>
          <a:xfrm>
            <a:off x="5349240" y="186537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41" name="ct2"/>
          <p:cNvSpPr txBox="1">
            <a:spLocks noGrp="1"/>
          </p:cNvSpPr>
          <p:nvPr/>
        </p:nvSpPr>
        <p:spPr>
          <a:xfrm>
            <a:off x="5349240" y="186537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74" name="c"/>
          <p:cNvSpPr>
            <a:spLocks noGrp="1"/>
          </p:cNvSpPr>
          <p:nvPr/>
        </p:nvSpPr>
        <p:spPr>
          <a:xfrm>
            <a:off x="5760720" y="186537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42" name="ct2"/>
          <p:cNvSpPr txBox="1">
            <a:spLocks noGrp="1"/>
          </p:cNvSpPr>
          <p:nvPr/>
        </p:nvSpPr>
        <p:spPr>
          <a:xfrm>
            <a:off x="5760720" y="186537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75" name="c"/>
          <p:cNvSpPr>
            <a:spLocks noGrp="1"/>
          </p:cNvSpPr>
          <p:nvPr/>
        </p:nvSpPr>
        <p:spPr>
          <a:xfrm>
            <a:off x="6172200" y="186537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43" name="ct2"/>
          <p:cNvSpPr txBox="1">
            <a:spLocks noGrp="1"/>
          </p:cNvSpPr>
          <p:nvPr/>
        </p:nvSpPr>
        <p:spPr>
          <a:xfrm>
            <a:off x="6172200" y="186537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76" name="c"/>
          <p:cNvSpPr>
            <a:spLocks noGrp="1"/>
          </p:cNvSpPr>
          <p:nvPr/>
        </p:nvSpPr>
        <p:spPr>
          <a:xfrm>
            <a:off x="6583680" y="186537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44" name="ct2"/>
          <p:cNvSpPr txBox="1">
            <a:spLocks noGrp="1"/>
          </p:cNvSpPr>
          <p:nvPr/>
        </p:nvSpPr>
        <p:spPr>
          <a:xfrm>
            <a:off x="6583680" y="186537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77" name="c"/>
          <p:cNvSpPr>
            <a:spLocks noGrp="1"/>
          </p:cNvSpPr>
          <p:nvPr/>
        </p:nvSpPr>
        <p:spPr>
          <a:xfrm>
            <a:off x="6995160" y="186537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45" name="ct2"/>
          <p:cNvSpPr txBox="1">
            <a:spLocks noGrp="1"/>
          </p:cNvSpPr>
          <p:nvPr/>
        </p:nvSpPr>
        <p:spPr>
          <a:xfrm>
            <a:off x="6995160" y="186537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79" name="db"/>
          <p:cNvSpPr>
            <a:spLocks noGrp="1"/>
          </p:cNvSpPr>
          <p:nvPr/>
        </p:nvSpPr>
        <p:spPr>
          <a:xfrm>
            <a:off x="722376" y="2084832"/>
            <a:ext cx="2157984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480" name="dt"/>
          <p:cNvSpPr txBox="1">
            <a:spLocks noGrp="1"/>
          </p:cNvSpPr>
          <p:nvPr/>
        </p:nvSpPr>
        <p:spPr>
          <a:xfrm>
            <a:off x="777240" y="2084832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Sin autoservicio — todo por call</a:t>
            </a:r>
          </a:p>
        </p:txBody>
      </p:sp>
      <p:sp>
        <p:nvSpPr>
          <p:cNvPr id="481" name="c"/>
          <p:cNvSpPr>
            <a:spLocks noGrp="1"/>
          </p:cNvSpPr>
          <p:nvPr/>
        </p:nvSpPr>
        <p:spPr>
          <a:xfrm>
            <a:off x="2880360" y="2084832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482" name="ct2"/>
          <p:cNvSpPr txBox="1">
            <a:spLocks noGrp="1"/>
          </p:cNvSpPr>
          <p:nvPr/>
        </p:nvSpPr>
        <p:spPr>
          <a:xfrm>
            <a:off x="2880360" y="208483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83" name="c"/>
          <p:cNvSpPr>
            <a:spLocks noGrp="1"/>
          </p:cNvSpPr>
          <p:nvPr/>
        </p:nvSpPr>
        <p:spPr>
          <a:xfrm>
            <a:off x="3291840" y="2084832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484" name="ct2"/>
          <p:cNvSpPr txBox="1">
            <a:spLocks noGrp="1"/>
          </p:cNvSpPr>
          <p:nvPr/>
        </p:nvSpPr>
        <p:spPr>
          <a:xfrm>
            <a:off x="3291840" y="208483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85" name="c"/>
          <p:cNvSpPr>
            <a:spLocks noGrp="1"/>
          </p:cNvSpPr>
          <p:nvPr/>
        </p:nvSpPr>
        <p:spPr>
          <a:xfrm>
            <a:off x="3703320" y="2084832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47" name="ct2"/>
          <p:cNvSpPr txBox="1">
            <a:spLocks noGrp="1"/>
          </p:cNvSpPr>
          <p:nvPr/>
        </p:nvSpPr>
        <p:spPr>
          <a:xfrm>
            <a:off x="3703320" y="208483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86" name="c"/>
          <p:cNvSpPr>
            <a:spLocks noGrp="1"/>
          </p:cNvSpPr>
          <p:nvPr/>
        </p:nvSpPr>
        <p:spPr>
          <a:xfrm>
            <a:off x="4114800" y="2084832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48" name="ct2"/>
          <p:cNvSpPr txBox="1">
            <a:spLocks noGrp="1"/>
          </p:cNvSpPr>
          <p:nvPr/>
        </p:nvSpPr>
        <p:spPr>
          <a:xfrm>
            <a:off x="4114800" y="208483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87" name="c"/>
          <p:cNvSpPr>
            <a:spLocks noGrp="1"/>
          </p:cNvSpPr>
          <p:nvPr/>
        </p:nvSpPr>
        <p:spPr>
          <a:xfrm>
            <a:off x="4526280" y="2084832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49" name="ct2"/>
          <p:cNvSpPr txBox="1">
            <a:spLocks noGrp="1"/>
          </p:cNvSpPr>
          <p:nvPr/>
        </p:nvSpPr>
        <p:spPr>
          <a:xfrm>
            <a:off x="4526280" y="208483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88" name="c"/>
          <p:cNvSpPr>
            <a:spLocks noGrp="1"/>
          </p:cNvSpPr>
          <p:nvPr/>
        </p:nvSpPr>
        <p:spPr>
          <a:xfrm>
            <a:off x="4937760" y="2084832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50" name="ct2"/>
          <p:cNvSpPr txBox="1">
            <a:spLocks noGrp="1"/>
          </p:cNvSpPr>
          <p:nvPr/>
        </p:nvSpPr>
        <p:spPr>
          <a:xfrm>
            <a:off x="4937760" y="208483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89" name="c"/>
          <p:cNvSpPr>
            <a:spLocks noGrp="1"/>
          </p:cNvSpPr>
          <p:nvPr/>
        </p:nvSpPr>
        <p:spPr>
          <a:xfrm>
            <a:off x="5349240" y="2084832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51" name="ct2"/>
          <p:cNvSpPr txBox="1">
            <a:spLocks noGrp="1"/>
          </p:cNvSpPr>
          <p:nvPr/>
        </p:nvSpPr>
        <p:spPr>
          <a:xfrm>
            <a:off x="5349240" y="208483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90" name="c"/>
          <p:cNvSpPr>
            <a:spLocks noGrp="1"/>
          </p:cNvSpPr>
          <p:nvPr/>
        </p:nvSpPr>
        <p:spPr>
          <a:xfrm>
            <a:off x="5760720" y="2084832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52" name="ct2"/>
          <p:cNvSpPr txBox="1">
            <a:spLocks noGrp="1"/>
          </p:cNvSpPr>
          <p:nvPr/>
        </p:nvSpPr>
        <p:spPr>
          <a:xfrm>
            <a:off x="5760720" y="208483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91" name="c"/>
          <p:cNvSpPr>
            <a:spLocks noGrp="1"/>
          </p:cNvSpPr>
          <p:nvPr/>
        </p:nvSpPr>
        <p:spPr>
          <a:xfrm>
            <a:off x="6172200" y="2084832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53" name="ct2"/>
          <p:cNvSpPr txBox="1">
            <a:spLocks noGrp="1"/>
          </p:cNvSpPr>
          <p:nvPr/>
        </p:nvSpPr>
        <p:spPr>
          <a:xfrm>
            <a:off x="6172200" y="208483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92" name="c"/>
          <p:cNvSpPr>
            <a:spLocks noGrp="1"/>
          </p:cNvSpPr>
          <p:nvPr/>
        </p:nvSpPr>
        <p:spPr>
          <a:xfrm>
            <a:off x="6583680" y="2084832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54" name="ct2"/>
          <p:cNvSpPr txBox="1">
            <a:spLocks noGrp="1"/>
          </p:cNvSpPr>
          <p:nvPr/>
        </p:nvSpPr>
        <p:spPr>
          <a:xfrm>
            <a:off x="6583680" y="208483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93" name="c"/>
          <p:cNvSpPr>
            <a:spLocks noGrp="1"/>
          </p:cNvSpPr>
          <p:nvPr/>
        </p:nvSpPr>
        <p:spPr>
          <a:xfrm>
            <a:off x="6995160" y="2084832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55" name="ct2"/>
          <p:cNvSpPr txBox="1">
            <a:spLocks noGrp="1"/>
          </p:cNvSpPr>
          <p:nvPr/>
        </p:nvSpPr>
        <p:spPr>
          <a:xfrm>
            <a:off x="6995160" y="208483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95" name="db"/>
          <p:cNvSpPr>
            <a:spLocks noGrp="1"/>
          </p:cNvSpPr>
          <p:nvPr/>
        </p:nvSpPr>
        <p:spPr>
          <a:xfrm>
            <a:off x="722376" y="2304288"/>
            <a:ext cx="2157984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496" name="dt"/>
          <p:cNvSpPr txBox="1">
            <a:spLocks noGrp="1"/>
          </p:cNvSpPr>
          <p:nvPr/>
        </p:nvSpPr>
        <p:spPr>
          <a:xfrm>
            <a:off x="777240" y="2304288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Scope creep — alcance no controlado</a:t>
            </a:r>
          </a:p>
        </p:txBody>
      </p:sp>
      <p:sp>
        <p:nvSpPr>
          <p:cNvPr id="497" name="c"/>
          <p:cNvSpPr>
            <a:spLocks noGrp="1"/>
          </p:cNvSpPr>
          <p:nvPr/>
        </p:nvSpPr>
        <p:spPr>
          <a:xfrm>
            <a:off x="2880360" y="230428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498" name="ct2"/>
          <p:cNvSpPr txBox="1">
            <a:spLocks noGrp="1"/>
          </p:cNvSpPr>
          <p:nvPr/>
        </p:nvSpPr>
        <p:spPr>
          <a:xfrm>
            <a:off x="2880360" y="230428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499" name="c"/>
          <p:cNvSpPr>
            <a:spLocks noGrp="1"/>
          </p:cNvSpPr>
          <p:nvPr/>
        </p:nvSpPr>
        <p:spPr>
          <a:xfrm>
            <a:off x="3291840" y="230428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501" name="ct2"/>
          <p:cNvSpPr txBox="1">
            <a:spLocks noGrp="1"/>
          </p:cNvSpPr>
          <p:nvPr/>
        </p:nvSpPr>
        <p:spPr>
          <a:xfrm>
            <a:off x="3291840" y="230428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02" name="c"/>
          <p:cNvSpPr>
            <a:spLocks noGrp="1"/>
          </p:cNvSpPr>
          <p:nvPr/>
        </p:nvSpPr>
        <p:spPr>
          <a:xfrm>
            <a:off x="3703320" y="230428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57" name="ct2"/>
          <p:cNvSpPr txBox="1">
            <a:spLocks noGrp="1"/>
          </p:cNvSpPr>
          <p:nvPr/>
        </p:nvSpPr>
        <p:spPr>
          <a:xfrm>
            <a:off x="3703320" y="230428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03" name="c"/>
          <p:cNvSpPr>
            <a:spLocks noGrp="1"/>
          </p:cNvSpPr>
          <p:nvPr/>
        </p:nvSpPr>
        <p:spPr>
          <a:xfrm>
            <a:off x="4114800" y="230428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58" name="ct2"/>
          <p:cNvSpPr txBox="1">
            <a:spLocks noGrp="1"/>
          </p:cNvSpPr>
          <p:nvPr/>
        </p:nvSpPr>
        <p:spPr>
          <a:xfrm>
            <a:off x="4114800" y="230428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04" name="c"/>
          <p:cNvSpPr>
            <a:spLocks noGrp="1"/>
          </p:cNvSpPr>
          <p:nvPr/>
        </p:nvSpPr>
        <p:spPr>
          <a:xfrm>
            <a:off x="4526280" y="2304288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59" name="ct2"/>
          <p:cNvSpPr txBox="1">
            <a:spLocks noGrp="1"/>
          </p:cNvSpPr>
          <p:nvPr/>
        </p:nvSpPr>
        <p:spPr>
          <a:xfrm>
            <a:off x="4526280" y="230428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05" name="c"/>
          <p:cNvSpPr>
            <a:spLocks noGrp="1"/>
          </p:cNvSpPr>
          <p:nvPr/>
        </p:nvSpPr>
        <p:spPr>
          <a:xfrm>
            <a:off x="4937760" y="2304288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60" name="ct2"/>
          <p:cNvSpPr txBox="1">
            <a:spLocks noGrp="1"/>
          </p:cNvSpPr>
          <p:nvPr/>
        </p:nvSpPr>
        <p:spPr>
          <a:xfrm>
            <a:off x="4937760" y="230428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06" name="c"/>
          <p:cNvSpPr>
            <a:spLocks noGrp="1"/>
          </p:cNvSpPr>
          <p:nvPr/>
        </p:nvSpPr>
        <p:spPr>
          <a:xfrm>
            <a:off x="5349240" y="2304288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61" name="ct2"/>
          <p:cNvSpPr txBox="1">
            <a:spLocks noGrp="1"/>
          </p:cNvSpPr>
          <p:nvPr/>
        </p:nvSpPr>
        <p:spPr>
          <a:xfrm>
            <a:off x="5349240" y="230428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07" name="c"/>
          <p:cNvSpPr>
            <a:spLocks noGrp="1"/>
          </p:cNvSpPr>
          <p:nvPr/>
        </p:nvSpPr>
        <p:spPr>
          <a:xfrm>
            <a:off x="5760720" y="2304288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62" name="ct2"/>
          <p:cNvSpPr txBox="1">
            <a:spLocks noGrp="1"/>
          </p:cNvSpPr>
          <p:nvPr/>
        </p:nvSpPr>
        <p:spPr>
          <a:xfrm>
            <a:off x="5760720" y="230428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08" name="c"/>
          <p:cNvSpPr>
            <a:spLocks noGrp="1"/>
          </p:cNvSpPr>
          <p:nvPr/>
        </p:nvSpPr>
        <p:spPr>
          <a:xfrm>
            <a:off x="6172200" y="2304288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63" name="ct2"/>
          <p:cNvSpPr txBox="1">
            <a:spLocks noGrp="1"/>
          </p:cNvSpPr>
          <p:nvPr/>
        </p:nvSpPr>
        <p:spPr>
          <a:xfrm>
            <a:off x="6172200" y="230428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09" name="c"/>
          <p:cNvSpPr>
            <a:spLocks noGrp="1"/>
          </p:cNvSpPr>
          <p:nvPr/>
        </p:nvSpPr>
        <p:spPr>
          <a:xfrm>
            <a:off x="6583680" y="2304288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64" name="ct2"/>
          <p:cNvSpPr txBox="1">
            <a:spLocks noGrp="1"/>
          </p:cNvSpPr>
          <p:nvPr/>
        </p:nvSpPr>
        <p:spPr>
          <a:xfrm>
            <a:off x="6583680" y="230428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10" name="c"/>
          <p:cNvSpPr>
            <a:spLocks noGrp="1"/>
          </p:cNvSpPr>
          <p:nvPr/>
        </p:nvSpPr>
        <p:spPr>
          <a:xfrm>
            <a:off x="6995160" y="2304288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65" name="ct2"/>
          <p:cNvSpPr txBox="1">
            <a:spLocks noGrp="1"/>
          </p:cNvSpPr>
          <p:nvPr/>
        </p:nvSpPr>
        <p:spPr>
          <a:xfrm>
            <a:off x="6995160" y="230428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64" name="db"/>
          <p:cNvSpPr>
            <a:spLocks noGrp="1"/>
          </p:cNvSpPr>
          <p:nvPr/>
        </p:nvSpPr>
        <p:spPr>
          <a:xfrm>
            <a:off x="722376" y="2523744"/>
            <a:ext cx="2157984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65" name="dt"/>
          <p:cNvSpPr txBox="1">
            <a:spLocks noGrp="1"/>
          </p:cNvSpPr>
          <p:nvPr/>
        </p:nvSpPr>
        <p:spPr>
          <a:xfrm>
            <a:off x="777240" y="2523744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SLAs incumplidos / penalizaciones</a:t>
            </a:r>
          </a:p>
        </p:txBody>
      </p:sp>
      <p:sp>
        <p:nvSpPr>
          <p:cNvPr id="66" name="c"/>
          <p:cNvSpPr>
            <a:spLocks noGrp="1"/>
          </p:cNvSpPr>
          <p:nvPr/>
        </p:nvSpPr>
        <p:spPr>
          <a:xfrm>
            <a:off x="2880360" y="2523744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67" name="ct2"/>
          <p:cNvSpPr txBox="1">
            <a:spLocks noGrp="1"/>
          </p:cNvSpPr>
          <p:nvPr/>
        </p:nvSpPr>
        <p:spPr>
          <a:xfrm>
            <a:off x="2880360" y="252374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68" name="c"/>
          <p:cNvSpPr>
            <a:spLocks noGrp="1"/>
          </p:cNvSpPr>
          <p:nvPr/>
        </p:nvSpPr>
        <p:spPr>
          <a:xfrm>
            <a:off x="3291840" y="2523744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69" name="ct2"/>
          <p:cNvSpPr txBox="1">
            <a:spLocks noGrp="1"/>
          </p:cNvSpPr>
          <p:nvPr/>
        </p:nvSpPr>
        <p:spPr>
          <a:xfrm>
            <a:off x="3291840" y="252374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70" name="c"/>
          <p:cNvSpPr>
            <a:spLocks noGrp="1"/>
          </p:cNvSpPr>
          <p:nvPr/>
        </p:nvSpPr>
        <p:spPr>
          <a:xfrm>
            <a:off x="3703320" y="2523744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167" name="ct2"/>
          <p:cNvSpPr txBox="1">
            <a:spLocks noGrp="1"/>
          </p:cNvSpPr>
          <p:nvPr/>
        </p:nvSpPr>
        <p:spPr>
          <a:xfrm>
            <a:off x="3703320" y="252374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71" name="c"/>
          <p:cNvSpPr>
            <a:spLocks noGrp="1"/>
          </p:cNvSpPr>
          <p:nvPr/>
        </p:nvSpPr>
        <p:spPr>
          <a:xfrm>
            <a:off x="4114800" y="2523744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68" name="ct2"/>
          <p:cNvSpPr txBox="1">
            <a:spLocks noGrp="1"/>
          </p:cNvSpPr>
          <p:nvPr/>
        </p:nvSpPr>
        <p:spPr>
          <a:xfrm>
            <a:off x="4114800" y="252374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72" name="c"/>
          <p:cNvSpPr>
            <a:spLocks noGrp="1"/>
          </p:cNvSpPr>
          <p:nvPr/>
        </p:nvSpPr>
        <p:spPr>
          <a:xfrm>
            <a:off x="4526280" y="2523744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169" name="ct2"/>
          <p:cNvSpPr txBox="1">
            <a:spLocks noGrp="1"/>
          </p:cNvSpPr>
          <p:nvPr/>
        </p:nvSpPr>
        <p:spPr>
          <a:xfrm>
            <a:off x="4526280" y="252374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73" name="c"/>
          <p:cNvSpPr>
            <a:spLocks noGrp="1"/>
          </p:cNvSpPr>
          <p:nvPr/>
        </p:nvSpPr>
        <p:spPr>
          <a:xfrm>
            <a:off x="4937760" y="2523744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170" name="ct2"/>
          <p:cNvSpPr txBox="1">
            <a:spLocks noGrp="1"/>
          </p:cNvSpPr>
          <p:nvPr/>
        </p:nvSpPr>
        <p:spPr>
          <a:xfrm>
            <a:off x="4937760" y="252374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74" name="c"/>
          <p:cNvSpPr>
            <a:spLocks noGrp="1"/>
          </p:cNvSpPr>
          <p:nvPr/>
        </p:nvSpPr>
        <p:spPr>
          <a:xfrm>
            <a:off x="5349240" y="2523744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171" name="ct2"/>
          <p:cNvSpPr txBox="1">
            <a:spLocks noGrp="1"/>
          </p:cNvSpPr>
          <p:nvPr/>
        </p:nvSpPr>
        <p:spPr>
          <a:xfrm>
            <a:off x="5349240" y="252374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75" name="c"/>
          <p:cNvSpPr>
            <a:spLocks noGrp="1"/>
          </p:cNvSpPr>
          <p:nvPr/>
        </p:nvSpPr>
        <p:spPr>
          <a:xfrm>
            <a:off x="5760720" y="2523744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172" name="ct2"/>
          <p:cNvSpPr txBox="1">
            <a:spLocks noGrp="1"/>
          </p:cNvSpPr>
          <p:nvPr/>
        </p:nvSpPr>
        <p:spPr>
          <a:xfrm>
            <a:off x="5760720" y="252374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76" name="c"/>
          <p:cNvSpPr>
            <a:spLocks noGrp="1"/>
          </p:cNvSpPr>
          <p:nvPr/>
        </p:nvSpPr>
        <p:spPr>
          <a:xfrm>
            <a:off x="6172200" y="2523744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173" name="ct2"/>
          <p:cNvSpPr txBox="1">
            <a:spLocks noGrp="1"/>
          </p:cNvSpPr>
          <p:nvPr/>
        </p:nvSpPr>
        <p:spPr>
          <a:xfrm>
            <a:off x="6172200" y="252374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77" name="c"/>
          <p:cNvSpPr>
            <a:spLocks noGrp="1"/>
          </p:cNvSpPr>
          <p:nvPr/>
        </p:nvSpPr>
        <p:spPr>
          <a:xfrm>
            <a:off x="6583680" y="2523744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174" name="ct2"/>
          <p:cNvSpPr txBox="1">
            <a:spLocks noGrp="1"/>
          </p:cNvSpPr>
          <p:nvPr/>
        </p:nvSpPr>
        <p:spPr>
          <a:xfrm>
            <a:off x="6583680" y="252374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78" name="c"/>
          <p:cNvSpPr>
            <a:spLocks noGrp="1"/>
          </p:cNvSpPr>
          <p:nvPr/>
        </p:nvSpPr>
        <p:spPr>
          <a:xfrm>
            <a:off x="6995160" y="2523744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175" name="ct2"/>
          <p:cNvSpPr txBox="1">
            <a:spLocks noGrp="1"/>
          </p:cNvSpPr>
          <p:nvPr/>
        </p:nvSpPr>
        <p:spPr>
          <a:xfrm>
            <a:off x="6995160" y="252374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80" name="cb"/>
          <p:cNvSpPr>
            <a:spLocks noGrp="1"/>
          </p:cNvSpPr>
          <p:nvPr/>
        </p:nvSpPr>
        <p:spPr>
          <a:xfrm>
            <a:off x="320040" y="2743200"/>
            <a:ext cx="402336" cy="219456"/>
          </a:xfrm>
          <a:prstGeom prst="rect">
            <a:avLst/>
          </a:prstGeom>
          <a:solidFill>
            <a:srgbClr val="E4F4F6"/>
          </a:solidFill>
          <a:ln w="6350">
            <a:solidFill>
              <a:srgbClr val="C8D6E8"/>
            </a:solidFill>
          </a:ln>
        </p:spPr>
      </p:sp>
      <p:sp>
        <p:nvSpPr>
          <p:cNvPr id="81" name="ct"/>
          <p:cNvSpPr txBox="1">
            <a:spLocks noGrp="1"/>
          </p:cNvSpPr>
          <p:nvPr/>
        </p:nvSpPr>
        <p:spPr>
          <a:xfrm>
            <a:off x="320040" y="2743200"/>
            <a:ext cx="40233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1B7B85"/>
                </a:solidFill>
                <a:latin typeface="Calibri"/>
              </a:rPr>
              <a:t>MET</a:t>
            </a:r>
          </a:p>
        </p:txBody>
      </p:sp>
      <p:sp>
        <p:nvSpPr>
          <p:cNvPr id="82" name="db"/>
          <p:cNvSpPr>
            <a:spLocks noGrp="1"/>
          </p:cNvSpPr>
          <p:nvPr/>
        </p:nvSpPr>
        <p:spPr>
          <a:xfrm>
            <a:off x="722376" y="2743200"/>
            <a:ext cx="2157984" cy="219456"/>
          </a:xfrm>
          <a:prstGeom prst="rect">
            <a:avLst/>
          </a:prstGeom>
          <a:solidFill>
            <a:srgbClr val="E4F4F6"/>
          </a:solidFill>
          <a:ln w="6350">
            <a:solidFill>
              <a:srgbClr val="C8D6E8"/>
            </a:solidFill>
          </a:ln>
        </p:spPr>
      </p:sp>
      <p:sp>
        <p:nvSpPr>
          <p:cNvPr id="83" name="dt"/>
          <p:cNvSpPr txBox="1">
            <a:spLocks noGrp="1"/>
          </p:cNvSpPr>
          <p:nvPr/>
        </p:nvSpPr>
        <p:spPr>
          <a:xfrm>
            <a:off x="777240" y="2743200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Sin metricas ni KPIs</a:t>
            </a:r>
          </a:p>
        </p:txBody>
      </p:sp>
      <p:sp>
        <p:nvSpPr>
          <p:cNvPr id="84" name="c"/>
          <p:cNvSpPr>
            <a:spLocks noGrp="1"/>
          </p:cNvSpPr>
          <p:nvPr/>
        </p:nvSpPr>
        <p:spPr>
          <a:xfrm>
            <a:off x="2880360" y="274320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85" name="ct2"/>
          <p:cNvSpPr txBox="1">
            <a:spLocks noGrp="1"/>
          </p:cNvSpPr>
          <p:nvPr/>
        </p:nvSpPr>
        <p:spPr>
          <a:xfrm>
            <a:off x="2880360" y="274320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86" name="c"/>
          <p:cNvSpPr>
            <a:spLocks noGrp="1"/>
          </p:cNvSpPr>
          <p:nvPr/>
        </p:nvSpPr>
        <p:spPr>
          <a:xfrm>
            <a:off x="3291840" y="274320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87" name="ct2"/>
          <p:cNvSpPr txBox="1">
            <a:spLocks noGrp="1"/>
          </p:cNvSpPr>
          <p:nvPr/>
        </p:nvSpPr>
        <p:spPr>
          <a:xfrm>
            <a:off x="3291840" y="274320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88" name="c"/>
          <p:cNvSpPr>
            <a:spLocks noGrp="1"/>
          </p:cNvSpPr>
          <p:nvPr/>
        </p:nvSpPr>
        <p:spPr>
          <a:xfrm>
            <a:off x="3703320" y="2743200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77" name="ct2"/>
          <p:cNvSpPr txBox="1">
            <a:spLocks noGrp="1"/>
          </p:cNvSpPr>
          <p:nvPr/>
        </p:nvSpPr>
        <p:spPr>
          <a:xfrm>
            <a:off x="3703320" y="274320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89" name="c"/>
          <p:cNvSpPr>
            <a:spLocks noGrp="1"/>
          </p:cNvSpPr>
          <p:nvPr/>
        </p:nvSpPr>
        <p:spPr>
          <a:xfrm>
            <a:off x="4114800" y="274320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78" name="ct2"/>
          <p:cNvSpPr txBox="1">
            <a:spLocks noGrp="1"/>
          </p:cNvSpPr>
          <p:nvPr/>
        </p:nvSpPr>
        <p:spPr>
          <a:xfrm>
            <a:off x="4114800" y="274320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90" name="c"/>
          <p:cNvSpPr>
            <a:spLocks noGrp="1"/>
          </p:cNvSpPr>
          <p:nvPr/>
        </p:nvSpPr>
        <p:spPr>
          <a:xfrm>
            <a:off x="4526280" y="274320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79" name="ct2"/>
          <p:cNvSpPr txBox="1">
            <a:spLocks noGrp="1"/>
          </p:cNvSpPr>
          <p:nvPr/>
        </p:nvSpPr>
        <p:spPr>
          <a:xfrm>
            <a:off x="4526280" y="274320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91" name="c"/>
          <p:cNvSpPr>
            <a:spLocks noGrp="1"/>
          </p:cNvSpPr>
          <p:nvPr/>
        </p:nvSpPr>
        <p:spPr>
          <a:xfrm>
            <a:off x="4937760" y="274320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80" name="ct2"/>
          <p:cNvSpPr txBox="1">
            <a:spLocks noGrp="1"/>
          </p:cNvSpPr>
          <p:nvPr/>
        </p:nvSpPr>
        <p:spPr>
          <a:xfrm>
            <a:off x="4937760" y="274320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92" name="c"/>
          <p:cNvSpPr>
            <a:spLocks noGrp="1"/>
          </p:cNvSpPr>
          <p:nvPr/>
        </p:nvSpPr>
        <p:spPr>
          <a:xfrm>
            <a:off x="5349240" y="274320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81" name="ct2"/>
          <p:cNvSpPr txBox="1">
            <a:spLocks noGrp="1"/>
          </p:cNvSpPr>
          <p:nvPr/>
        </p:nvSpPr>
        <p:spPr>
          <a:xfrm>
            <a:off x="5349240" y="274320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93" name="c"/>
          <p:cNvSpPr>
            <a:spLocks noGrp="1"/>
          </p:cNvSpPr>
          <p:nvPr/>
        </p:nvSpPr>
        <p:spPr>
          <a:xfrm>
            <a:off x="5760720" y="274320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82" name="ct2"/>
          <p:cNvSpPr txBox="1">
            <a:spLocks noGrp="1"/>
          </p:cNvSpPr>
          <p:nvPr/>
        </p:nvSpPr>
        <p:spPr>
          <a:xfrm>
            <a:off x="5760720" y="274320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94" name="c"/>
          <p:cNvSpPr>
            <a:spLocks noGrp="1"/>
          </p:cNvSpPr>
          <p:nvPr/>
        </p:nvSpPr>
        <p:spPr>
          <a:xfrm>
            <a:off x="6172200" y="274320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83" name="ct2"/>
          <p:cNvSpPr txBox="1">
            <a:spLocks noGrp="1"/>
          </p:cNvSpPr>
          <p:nvPr/>
        </p:nvSpPr>
        <p:spPr>
          <a:xfrm>
            <a:off x="6172200" y="274320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95" name="c"/>
          <p:cNvSpPr>
            <a:spLocks noGrp="1"/>
          </p:cNvSpPr>
          <p:nvPr/>
        </p:nvSpPr>
        <p:spPr>
          <a:xfrm>
            <a:off x="6583680" y="274320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84" name="ct2"/>
          <p:cNvSpPr txBox="1">
            <a:spLocks noGrp="1"/>
          </p:cNvSpPr>
          <p:nvPr/>
        </p:nvSpPr>
        <p:spPr>
          <a:xfrm>
            <a:off x="6583680" y="274320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96" name="c"/>
          <p:cNvSpPr>
            <a:spLocks noGrp="1"/>
          </p:cNvSpPr>
          <p:nvPr/>
        </p:nvSpPr>
        <p:spPr>
          <a:xfrm>
            <a:off x="6995160" y="274320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85" name="ct2"/>
          <p:cNvSpPr txBox="1">
            <a:spLocks noGrp="1"/>
          </p:cNvSpPr>
          <p:nvPr/>
        </p:nvSpPr>
        <p:spPr>
          <a:xfrm>
            <a:off x="6995160" y="274320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98" name="db"/>
          <p:cNvSpPr>
            <a:spLocks noGrp="1"/>
          </p:cNvSpPr>
          <p:nvPr/>
        </p:nvSpPr>
        <p:spPr>
          <a:xfrm>
            <a:off x="722376" y="2962656"/>
            <a:ext cx="2157984" cy="219456"/>
          </a:xfrm>
          <a:prstGeom prst="rect">
            <a:avLst/>
          </a:prstGeom>
          <a:solidFill>
            <a:srgbClr val="E4F4F6"/>
          </a:solidFill>
          <a:ln w="6350">
            <a:solidFill>
              <a:srgbClr val="C8D6E8"/>
            </a:solidFill>
          </a:ln>
        </p:spPr>
      </p:sp>
      <p:sp>
        <p:nvSpPr>
          <p:cNvPr id="99" name="dt"/>
          <p:cNvSpPr txBox="1">
            <a:spLocks noGrp="1"/>
          </p:cNvSpPr>
          <p:nvPr/>
        </p:nvSpPr>
        <p:spPr>
          <a:xfrm>
            <a:off x="777240" y="2962656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Sin dashboard ejecutivo</a:t>
            </a:r>
          </a:p>
        </p:txBody>
      </p:sp>
      <p:sp>
        <p:nvSpPr>
          <p:cNvPr id="257" name="c"/>
          <p:cNvSpPr>
            <a:spLocks noGrp="1"/>
          </p:cNvSpPr>
          <p:nvPr/>
        </p:nvSpPr>
        <p:spPr>
          <a:xfrm>
            <a:off x="2880360" y="2962656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258" name="ct2"/>
          <p:cNvSpPr txBox="1">
            <a:spLocks noGrp="1"/>
          </p:cNvSpPr>
          <p:nvPr/>
        </p:nvSpPr>
        <p:spPr>
          <a:xfrm>
            <a:off x="2880360" y="296265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259" name="c"/>
          <p:cNvSpPr>
            <a:spLocks noGrp="1"/>
          </p:cNvSpPr>
          <p:nvPr/>
        </p:nvSpPr>
        <p:spPr>
          <a:xfrm>
            <a:off x="3291840" y="296265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60" name="ct2"/>
          <p:cNvSpPr txBox="1">
            <a:spLocks noGrp="1"/>
          </p:cNvSpPr>
          <p:nvPr/>
        </p:nvSpPr>
        <p:spPr>
          <a:xfrm>
            <a:off x="3291840" y="296265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261" name="c"/>
          <p:cNvSpPr>
            <a:spLocks noGrp="1"/>
          </p:cNvSpPr>
          <p:nvPr/>
        </p:nvSpPr>
        <p:spPr>
          <a:xfrm>
            <a:off x="3703320" y="296265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87" name="ct2"/>
          <p:cNvSpPr txBox="1">
            <a:spLocks noGrp="1"/>
          </p:cNvSpPr>
          <p:nvPr/>
        </p:nvSpPr>
        <p:spPr>
          <a:xfrm>
            <a:off x="3703320" y="296265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262" name="c"/>
          <p:cNvSpPr>
            <a:spLocks noGrp="1"/>
          </p:cNvSpPr>
          <p:nvPr/>
        </p:nvSpPr>
        <p:spPr>
          <a:xfrm>
            <a:off x="4114800" y="2962656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88" name="ct2"/>
          <p:cNvSpPr txBox="1">
            <a:spLocks noGrp="1"/>
          </p:cNvSpPr>
          <p:nvPr/>
        </p:nvSpPr>
        <p:spPr>
          <a:xfrm>
            <a:off x="4114800" y="296265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63" name="c"/>
          <p:cNvSpPr>
            <a:spLocks noGrp="1"/>
          </p:cNvSpPr>
          <p:nvPr/>
        </p:nvSpPr>
        <p:spPr>
          <a:xfrm>
            <a:off x="4526280" y="296265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189" name="ct2"/>
          <p:cNvSpPr txBox="1">
            <a:spLocks noGrp="1"/>
          </p:cNvSpPr>
          <p:nvPr/>
        </p:nvSpPr>
        <p:spPr>
          <a:xfrm>
            <a:off x="4526280" y="296265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264" name="c"/>
          <p:cNvSpPr>
            <a:spLocks noGrp="1"/>
          </p:cNvSpPr>
          <p:nvPr/>
        </p:nvSpPr>
        <p:spPr>
          <a:xfrm>
            <a:off x="4937760" y="2962656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90" name="ct2"/>
          <p:cNvSpPr txBox="1">
            <a:spLocks noGrp="1"/>
          </p:cNvSpPr>
          <p:nvPr/>
        </p:nvSpPr>
        <p:spPr>
          <a:xfrm>
            <a:off x="4937760" y="296265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65" name="c"/>
          <p:cNvSpPr>
            <a:spLocks noGrp="1"/>
          </p:cNvSpPr>
          <p:nvPr/>
        </p:nvSpPr>
        <p:spPr>
          <a:xfrm>
            <a:off x="5349240" y="2962656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91" name="ct2"/>
          <p:cNvSpPr txBox="1">
            <a:spLocks noGrp="1"/>
          </p:cNvSpPr>
          <p:nvPr/>
        </p:nvSpPr>
        <p:spPr>
          <a:xfrm>
            <a:off x="5349240" y="296265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66" name="c"/>
          <p:cNvSpPr>
            <a:spLocks noGrp="1"/>
          </p:cNvSpPr>
          <p:nvPr/>
        </p:nvSpPr>
        <p:spPr>
          <a:xfrm>
            <a:off x="5760720" y="2962656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92" name="ct2"/>
          <p:cNvSpPr txBox="1">
            <a:spLocks noGrp="1"/>
          </p:cNvSpPr>
          <p:nvPr/>
        </p:nvSpPr>
        <p:spPr>
          <a:xfrm>
            <a:off x="5760720" y="296265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67" name="c"/>
          <p:cNvSpPr>
            <a:spLocks noGrp="1"/>
          </p:cNvSpPr>
          <p:nvPr/>
        </p:nvSpPr>
        <p:spPr>
          <a:xfrm>
            <a:off x="6172200" y="2962656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93" name="ct2"/>
          <p:cNvSpPr txBox="1">
            <a:spLocks noGrp="1"/>
          </p:cNvSpPr>
          <p:nvPr/>
        </p:nvSpPr>
        <p:spPr>
          <a:xfrm>
            <a:off x="6172200" y="296265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68" name="c"/>
          <p:cNvSpPr>
            <a:spLocks noGrp="1"/>
          </p:cNvSpPr>
          <p:nvPr/>
        </p:nvSpPr>
        <p:spPr>
          <a:xfrm>
            <a:off x="6583680" y="2962656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94" name="ct2"/>
          <p:cNvSpPr txBox="1">
            <a:spLocks noGrp="1"/>
          </p:cNvSpPr>
          <p:nvPr/>
        </p:nvSpPr>
        <p:spPr>
          <a:xfrm>
            <a:off x="6583680" y="296265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69" name="c"/>
          <p:cNvSpPr>
            <a:spLocks noGrp="1"/>
          </p:cNvSpPr>
          <p:nvPr/>
        </p:nvSpPr>
        <p:spPr>
          <a:xfrm>
            <a:off x="6995160" y="2962656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95" name="ct2"/>
          <p:cNvSpPr txBox="1">
            <a:spLocks noGrp="1"/>
          </p:cNvSpPr>
          <p:nvPr/>
        </p:nvSpPr>
        <p:spPr>
          <a:xfrm>
            <a:off x="6995160" y="296265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71" name="cb"/>
          <p:cNvSpPr>
            <a:spLocks noGrp="1"/>
          </p:cNvSpPr>
          <p:nvPr/>
        </p:nvSpPr>
        <p:spPr>
          <a:xfrm>
            <a:off x="320040" y="3182112"/>
            <a:ext cx="402336" cy="219456"/>
          </a:xfrm>
          <a:prstGeom prst="rect">
            <a:avLst/>
          </a:prstGeom>
          <a:solidFill>
            <a:srgbClr val="F3F0FF"/>
          </a:solidFill>
          <a:ln w="6350">
            <a:solidFill>
              <a:srgbClr val="C8D6E8"/>
            </a:solidFill>
          </a:ln>
        </p:spPr>
      </p:sp>
      <p:sp>
        <p:nvSpPr>
          <p:cNvPr id="272" name="ct"/>
          <p:cNvSpPr txBox="1">
            <a:spLocks noGrp="1"/>
          </p:cNvSpPr>
          <p:nvPr/>
        </p:nvSpPr>
        <p:spPr>
          <a:xfrm>
            <a:off x="320040" y="3182112"/>
            <a:ext cx="40233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5B21B6"/>
                </a:solidFill>
                <a:latin typeface="Calibri"/>
              </a:rPr>
              <a:t>TAL</a:t>
            </a:r>
          </a:p>
        </p:txBody>
      </p:sp>
      <p:sp>
        <p:nvSpPr>
          <p:cNvPr id="273" name="db"/>
          <p:cNvSpPr>
            <a:spLocks noGrp="1"/>
          </p:cNvSpPr>
          <p:nvPr/>
        </p:nvSpPr>
        <p:spPr>
          <a:xfrm>
            <a:off x="722376" y="3182112"/>
            <a:ext cx="2157984" cy="219456"/>
          </a:xfrm>
          <a:prstGeom prst="rect">
            <a:avLst/>
          </a:prstGeom>
          <a:solidFill>
            <a:srgbClr val="F3F0FF"/>
          </a:solidFill>
          <a:ln w="6350">
            <a:solidFill>
              <a:srgbClr val="C8D6E8"/>
            </a:solidFill>
          </a:ln>
        </p:spPr>
      </p:sp>
      <p:sp>
        <p:nvSpPr>
          <p:cNvPr id="274" name="dt"/>
          <p:cNvSpPr txBox="1">
            <a:spLocks noGrp="1"/>
          </p:cNvSpPr>
          <p:nvPr/>
        </p:nvSpPr>
        <p:spPr>
          <a:xfrm>
            <a:off x="777240" y="3182112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Rotacion — perdida conocimiento</a:t>
            </a:r>
          </a:p>
        </p:txBody>
      </p:sp>
      <p:sp>
        <p:nvSpPr>
          <p:cNvPr id="275" name="c"/>
          <p:cNvSpPr>
            <a:spLocks noGrp="1"/>
          </p:cNvSpPr>
          <p:nvPr/>
        </p:nvSpPr>
        <p:spPr>
          <a:xfrm>
            <a:off x="2880360" y="318211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76" name="ct2"/>
          <p:cNvSpPr txBox="1">
            <a:spLocks noGrp="1"/>
          </p:cNvSpPr>
          <p:nvPr/>
        </p:nvSpPr>
        <p:spPr>
          <a:xfrm>
            <a:off x="2880360" y="318211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77" name="c"/>
          <p:cNvSpPr>
            <a:spLocks noGrp="1"/>
          </p:cNvSpPr>
          <p:nvPr/>
        </p:nvSpPr>
        <p:spPr>
          <a:xfrm>
            <a:off x="3291840" y="318211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78" name="ct2"/>
          <p:cNvSpPr txBox="1">
            <a:spLocks noGrp="1"/>
          </p:cNvSpPr>
          <p:nvPr/>
        </p:nvSpPr>
        <p:spPr>
          <a:xfrm>
            <a:off x="3291840" y="318211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79" name="c"/>
          <p:cNvSpPr>
            <a:spLocks noGrp="1"/>
          </p:cNvSpPr>
          <p:nvPr/>
        </p:nvSpPr>
        <p:spPr>
          <a:xfrm>
            <a:off x="3703320" y="318211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97" name="ct2"/>
          <p:cNvSpPr txBox="1">
            <a:spLocks noGrp="1"/>
          </p:cNvSpPr>
          <p:nvPr/>
        </p:nvSpPr>
        <p:spPr>
          <a:xfrm>
            <a:off x="3703320" y="318211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80" name="c"/>
          <p:cNvSpPr>
            <a:spLocks noGrp="1"/>
          </p:cNvSpPr>
          <p:nvPr/>
        </p:nvSpPr>
        <p:spPr>
          <a:xfrm>
            <a:off x="4114800" y="318211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98" name="ct2"/>
          <p:cNvSpPr txBox="1">
            <a:spLocks noGrp="1"/>
          </p:cNvSpPr>
          <p:nvPr/>
        </p:nvSpPr>
        <p:spPr>
          <a:xfrm>
            <a:off x="4114800" y="318211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81" name="c"/>
          <p:cNvSpPr>
            <a:spLocks noGrp="1"/>
          </p:cNvSpPr>
          <p:nvPr/>
        </p:nvSpPr>
        <p:spPr>
          <a:xfrm>
            <a:off x="4526280" y="318211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199" name="ct2"/>
          <p:cNvSpPr txBox="1">
            <a:spLocks noGrp="1"/>
          </p:cNvSpPr>
          <p:nvPr/>
        </p:nvSpPr>
        <p:spPr>
          <a:xfrm>
            <a:off x="4526280" y="318211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82" name="c"/>
          <p:cNvSpPr>
            <a:spLocks noGrp="1"/>
          </p:cNvSpPr>
          <p:nvPr/>
        </p:nvSpPr>
        <p:spPr>
          <a:xfrm>
            <a:off x="4937760" y="318211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00" name="ct2"/>
          <p:cNvSpPr txBox="1">
            <a:spLocks noGrp="1"/>
          </p:cNvSpPr>
          <p:nvPr/>
        </p:nvSpPr>
        <p:spPr>
          <a:xfrm>
            <a:off x="4937760" y="318211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83" name="c"/>
          <p:cNvSpPr>
            <a:spLocks noGrp="1"/>
          </p:cNvSpPr>
          <p:nvPr/>
        </p:nvSpPr>
        <p:spPr>
          <a:xfrm>
            <a:off x="5349240" y="318211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01" name="ct2"/>
          <p:cNvSpPr txBox="1">
            <a:spLocks noGrp="1"/>
          </p:cNvSpPr>
          <p:nvPr/>
        </p:nvSpPr>
        <p:spPr>
          <a:xfrm>
            <a:off x="5349240" y="318211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84" name="c"/>
          <p:cNvSpPr>
            <a:spLocks noGrp="1"/>
          </p:cNvSpPr>
          <p:nvPr/>
        </p:nvSpPr>
        <p:spPr>
          <a:xfrm>
            <a:off x="5760720" y="318211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02" name="ct2"/>
          <p:cNvSpPr txBox="1">
            <a:spLocks noGrp="1"/>
          </p:cNvSpPr>
          <p:nvPr/>
        </p:nvSpPr>
        <p:spPr>
          <a:xfrm>
            <a:off x="5760720" y="318211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85" name="c"/>
          <p:cNvSpPr>
            <a:spLocks noGrp="1"/>
          </p:cNvSpPr>
          <p:nvPr/>
        </p:nvSpPr>
        <p:spPr>
          <a:xfrm>
            <a:off x="6172200" y="318211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03" name="ct2"/>
          <p:cNvSpPr txBox="1">
            <a:spLocks noGrp="1"/>
          </p:cNvSpPr>
          <p:nvPr/>
        </p:nvSpPr>
        <p:spPr>
          <a:xfrm>
            <a:off x="6172200" y="318211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86" name="c"/>
          <p:cNvSpPr>
            <a:spLocks noGrp="1"/>
          </p:cNvSpPr>
          <p:nvPr/>
        </p:nvSpPr>
        <p:spPr>
          <a:xfrm>
            <a:off x="6583680" y="318211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04" name="ct2"/>
          <p:cNvSpPr txBox="1">
            <a:spLocks noGrp="1"/>
          </p:cNvSpPr>
          <p:nvPr/>
        </p:nvSpPr>
        <p:spPr>
          <a:xfrm>
            <a:off x="6583680" y="318211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87" name="c"/>
          <p:cNvSpPr>
            <a:spLocks noGrp="1"/>
          </p:cNvSpPr>
          <p:nvPr/>
        </p:nvSpPr>
        <p:spPr>
          <a:xfrm>
            <a:off x="6995160" y="318211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05" name="ct2"/>
          <p:cNvSpPr txBox="1">
            <a:spLocks noGrp="1"/>
          </p:cNvSpPr>
          <p:nvPr/>
        </p:nvSpPr>
        <p:spPr>
          <a:xfrm>
            <a:off x="6995160" y="318211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289" name="db"/>
          <p:cNvSpPr>
            <a:spLocks noGrp="1"/>
          </p:cNvSpPr>
          <p:nvPr/>
        </p:nvSpPr>
        <p:spPr>
          <a:xfrm>
            <a:off x="722376" y="3401568"/>
            <a:ext cx="2157984" cy="219456"/>
          </a:xfrm>
          <a:prstGeom prst="rect">
            <a:avLst/>
          </a:prstGeom>
          <a:solidFill>
            <a:srgbClr val="F3F0FF"/>
          </a:solidFill>
          <a:ln w="6350">
            <a:solidFill>
              <a:srgbClr val="C8D6E8"/>
            </a:solidFill>
          </a:ln>
        </p:spPr>
      </p:sp>
      <p:sp>
        <p:nvSpPr>
          <p:cNvPr id="290" name="dt"/>
          <p:cNvSpPr txBox="1">
            <a:spLocks noGrp="1"/>
          </p:cNvSpPr>
          <p:nvPr/>
        </p:nvSpPr>
        <p:spPr>
          <a:xfrm>
            <a:off x="777240" y="3401568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Asignacion sin modelo demanda</a:t>
            </a:r>
          </a:p>
        </p:txBody>
      </p:sp>
      <p:sp>
        <p:nvSpPr>
          <p:cNvPr id="291" name="c"/>
          <p:cNvSpPr>
            <a:spLocks noGrp="1"/>
          </p:cNvSpPr>
          <p:nvPr/>
        </p:nvSpPr>
        <p:spPr>
          <a:xfrm>
            <a:off x="2880360" y="340156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92" name="ct2"/>
          <p:cNvSpPr txBox="1">
            <a:spLocks noGrp="1"/>
          </p:cNvSpPr>
          <p:nvPr/>
        </p:nvSpPr>
        <p:spPr>
          <a:xfrm>
            <a:off x="2880360" y="340156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293" name="c"/>
          <p:cNvSpPr>
            <a:spLocks noGrp="1"/>
          </p:cNvSpPr>
          <p:nvPr/>
        </p:nvSpPr>
        <p:spPr>
          <a:xfrm>
            <a:off x="3291840" y="340156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94" name="ct2"/>
          <p:cNvSpPr txBox="1">
            <a:spLocks noGrp="1"/>
          </p:cNvSpPr>
          <p:nvPr/>
        </p:nvSpPr>
        <p:spPr>
          <a:xfrm>
            <a:off x="3291840" y="340156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295" name="c"/>
          <p:cNvSpPr>
            <a:spLocks noGrp="1"/>
          </p:cNvSpPr>
          <p:nvPr/>
        </p:nvSpPr>
        <p:spPr>
          <a:xfrm>
            <a:off x="3703320" y="340156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07" name="ct2"/>
          <p:cNvSpPr txBox="1">
            <a:spLocks noGrp="1"/>
          </p:cNvSpPr>
          <p:nvPr/>
        </p:nvSpPr>
        <p:spPr>
          <a:xfrm>
            <a:off x="3703320" y="340156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296" name="c"/>
          <p:cNvSpPr>
            <a:spLocks noGrp="1"/>
          </p:cNvSpPr>
          <p:nvPr/>
        </p:nvSpPr>
        <p:spPr>
          <a:xfrm>
            <a:off x="4114800" y="340156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08" name="ct2"/>
          <p:cNvSpPr txBox="1">
            <a:spLocks noGrp="1"/>
          </p:cNvSpPr>
          <p:nvPr/>
        </p:nvSpPr>
        <p:spPr>
          <a:xfrm>
            <a:off x="4114800" y="340156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297" name="c"/>
          <p:cNvSpPr>
            <a:spLocks noGrp="1"/>
          </p:cNvSpPr>
          <p:nvPr/>
        </p:nvSpPr>
        <p:spPr>
          <a:xfrm>
            <a:off x="4526280" y="340156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09" name="ct2"/>
          <p:cNvSpPr txBox="1">
            <a:spLocks noGrp="1"/>
          </p:cNvSpPr>
          <p:nvPr/>
        </p:nvSpPr>
        <p:spPr>
          <a:xfrm>
            <a:off x="4526280" y="340156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298" name="c"/>
          <p:cNvSpPr>
            <a:spLocks noGrp="1"/>
          </p:cNvSpPr>
          <p:nvPr/>
        </p:nvSpPr>
        <p:spPr>
          <a:xfrm>
            <a:off x="4937760" y="340156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10" name="ct2"/>
          <p:cNvSpPr txBox="1">
            <a:spLocks noGrp="1"/>
          </p:cNvSpPr>
          <p:nvPr/>
        </p:nvSpPr>
        <p:spPr>
          <a:xfrm>
            <a:off x="4937760" y="340156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299" name="c"/>
          <p:cNvSpPr>
            <a:spLocks noGrp="1"/>
          </p:cNvSpPr>
          <p:nvPr/>
        </p:nvSpPr>
        <p:spPr>
          <a:xfrm>
            <a:off x="5349240" y="340156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11" name="ct2"/>
          <p:cNvSpPr txBox="1">
            <a:spLocks noGrp="1"/>
          </p:cNvSpPr>
          <p:nvPr/>
        </p:nvSpPr>
        <p:spPr>
          <a:xfrm>
            <a:off x="5349240" y="340156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300" name="c"/>
          <p:cNvSpPr>
            <a:spLocks noGrp="1"/>
          </p:cNvSpPr>
          <p:nvPr/>
        </p:nvSpPr>
        <p:spPr>
          <a:xfrm>
            <a:off x="5760720" y="340156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12" name="ct2"/>
          <p:cNvSpPr txBox="1">
            <a:spLocks noGrp="1"/>
          </p:cNvSpPr>
          <p:nvPr/>
        </p:nvSpPr>
        <p:spPr>
          <a:xfrm>
            <a:off x="5760720" y="340156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301" name="c"/>
          <p:cNvSpPr>
            <a:spLocks noGrp="1"/>
          </p:cNvSpPr>
          <p:nvPr/>
        </p:nvSpPr>
        <p:spPr>
          <a:xfrm>
            <a:off x="6172200" y="340156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13" name="ct2"/>
          <p:cNvSpPr txBox="1">
            <a:spLocks noGrp="1"/>
          </p:cNvSpPr>
          <p:nvPr/>
        </p:nvSpPr>
        <p:spPr>
          <a:xfrm>
            <a:off x="6172200" y="340156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302" name="c"/>
          <p:cNvSpPr>
            <a:spLocks noGrp="1"/>
          </p:cNvSpPr>
          <p:nvPr/>
        </p:nvSpPr>
        <p:spPr>
          <a:xfrm>
            <a:off x="6583680" y="340156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14" name="ct2"/>
          <p:cNvSpPr txBox="1">
            <a:spLocks noGrp="1"/>
          </p:cNvSpPr>
          <p:nvPr/>
        </p:nvSpPr>
        <p:spPr>
          <a:xfrm>
            <a:off x="6583680" y="340156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303" name="c"/>
          <p:cNvSpPr>
            <a:spLocks noGrp="1"/>
          </p:cNvSpPr>
          <p:nvPr/>
        </p:nvSpPr>
        <p:spPr>
          <a:xfrm>
            <a:off x="6995160" y="3401568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15" name="ct2"/>
          <p:cNvSpPr txBox="1">
            <a:spLocks noGrp="1"/>
          </p:cNvSpPr>
          <p:nvPr/>
        </p:nvSpPr>
        <p:spPr>
          <a:xfrm>
            <a:off x="6995160" y="3401568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305" name="db"/>
          <p:cNvSpPr>
            <a:spLocks noGrp="1"/>
          </p:cNvSpPr>
          <p:nvPr/>
        </p:nvSpPr>
        <p:spPr>
          <a:xfrm>
            <a:off x="722376" y="3621024"/>
            <a:ext cx="2157984" cy="219456"/>
          </a:xfrm>
          <a:prstGeom prst="rect">
            <a:avLst/>
          </a:prstGeom>
          <a:solidFill>
            <a:srgbClr val="F3F0FF"/>
          </a:solidFill>
          <a:ln w="6350">
            <a:solidFill>
              <a:srgbClr val="C8D6E8"/>
            </a:solidFill>
          </a:ln>
        </p:spPr>
      </p:sp>
      <p:sp>
        <p:nvSpPr>
          <p:cNvPr id="306" name="dt"/>
          <p:cNvSpPr txBox="1">
            <a:spLocks noGrp="1"/>
          </p:cNvSpPr>
          <p:nvPr/>
        </p:nvSpPr>
        <p:spPr>
          <a:xfrm>
            <a:off x="777240" y="3621024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Penalizacion de la eficiencia</a:t>
            </a:r>
          </a:p>
        </p:txBody>
      </p:sp>
      <p:sp>
        <p:nvSpPr>
          <p:cNvPr id="307" name="c"/>
          <p:cNvSpPr>
            <a:spLocks noGrp="1"/>
          </p:cNvSpPr>
          <p:nvPr/>
        </p:nvSpPr>
        <p:spPr>
          <a:xfrm>
            <a:off x="2880360" y="3621024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308" name="ct2"/>
          <p:cNvSpPr txBox="1">
            <a:spLocks noGrp="1"/>
          </p:cNvSpPr>
          <p:nvPr/>
        </p:nvSpPr>
        <p:spPr>
          <a:xfrm>
            <a:off x="2880360" y="362102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309" name="c"/>
          <p:cNvSpPr>
            <a:spLocks noGrp="1"/>
          </p:cNvSpPr>
          <p:nvPr/>
        </p:nvSpPr>
        <p:spPr>
          <a:xfrm>
            <a:off x="3291840" y="3621024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310" name="ct2"/>
          <p:cNvSpPr txBox="1">
            <a:spLocks noGrp="1"/>
          </p:cNvSpPr>
          <p:nvPr/>
        </p:nvSpPr>
        <p:spPr>
          <a:xfrm>
            <a:off x="3291840" y="362102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311" name="c"/>
          <p:cNvSpPr>
            <a:spLocks noGrp="1"/>
          </p:cNvSpPr>
          <p:nvPr/>
        </p:nvSpPr>
        <p:spPr>
          <a:xfrm>
            <a:off x="3703320" y="3621024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17" name="ct2"/>
          <p:cNvSpPr txBox="1">
            <a:spLocks noGrp="1"/>
          </p:cNvSpPr>
          <p:nvPr/>
        </p:nvSpPr>
        <p:spPr>
          <a:xfrm>
            <a:off x="3703320" y="362102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312" name="c"/>
          <p:cNvSpPr>
            <a:spLocks noGrp="1"/>
          </p:cNvSpPr>
          <p:nvPr/>
        </p:nvSpPr>
        <p:spPr>
          <a:xfrm>
            <a:off x="4114800" y="3621024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218" name="ct2"/>
          <p:cNvSpPr txBox="1">
            <a:spLocks noGrp="1"/>
          </p:cNvSpPr>
          <p:nvPr/>
        </p:nvSpPr>
        <p:spPr>
          <a:xfrm>
            <a:off x="4114800" y="362102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313" name="c"/>
          <p:cNvSpPr>
            <a:spLocks noGrp="1"/>
          </p:cNvSpPr>
          <p:nvPr/>
        </p:nvSpPr>
        <p:spPr>
          <a:xfrm>
            <a:off x="4526280" y="3621024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19" name="ct2"/>
          <p:cNvSpPr txBox="1">
            <a:spLocks noGrp="1"/>
          </p:cNvSpPr>
          <p:nvPr/>
        </p:nvSpPr>
        <p:spPr>
          <a:xfrm>
            <a:off x="4526280" y="362102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314" name="c"/>
          <p:cNvSpPr>
            <a:spLocks noGrp="1"/>
          </p:cNvSpPr>
          <p:nvPr/>
        </p:nvSpPr>
        <p:spPr>
          <a:xfrm>
            <a:off x="4937760" y="3621024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20" name="ct2"/>
          <p:cNvSpPr txBox="1">
            <a:spLocks noGrp="1"/>
          </p:cNvSpPr>
          <p:nvPr/>
        </p:nvSpPr>
        <p:spPr>
          <a:xfrm>
            <a:off x="4937760" y="362102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315" name="c"/>
          <p:cNvSpPr>
            <a:spLocks noGrp="1"/>
          </p:cNvSpPr>
          <p:nvPr/>
        </p:nvSpPr>
        <p:spPr>
          <a:xfrm>
            <a:off x="5349240" y="3621024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21" name="ct2"/>
          <p:cNvSpPr txBox="1">
            <a:spLocks noGrp="1"/>
          </p:cNvSpPr>
          <p:nvPr/>
        </p:nvSpPr>
        <p:spPr>
          <a:xfrm>
            <a:off x="5349240" y="362102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316" name="c"/>
          <p:cNvSpPr>
            <a:spLocks noGrp="1"/>
          </p:cNvSpPr>
          <p:nvPr/>
        </p:nvSpPr>
        <p:spPr>
          <a:xfrm>
            <a:off x="5760720" y="3621024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22" name="ct2"/>
          <p:cNvSpPr txBox="1">
            <a:spLocks noGrp="1"/>
          </p:cNvSpPr>
          <p:nvPr/>
        </p:nvSpPr>
        <p:spPr>
          <a:xfrm>
            <a:off x="5760720" y="362102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317" name="c"/>
          <p:cNvSpPr>
            <a:spLocks noGrp="1"/>
          </p:cNvSpPr>
          <p:nvPr/>
        </p:nvSpPr>
        <p:spPr>
          <a:xfrm>
            <a:off x="6172200" y="3621024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23" name="ct2"/>
          <p:cNvSpPr txBox="1">
            <a:spLocks noGrp="1"/>
          </p:cNvSpPr>
          <p:nvPr/>
        </p:nvSpPr>
        <p:spPr>
          <a:xfrm>
            <a:off x="6172200" y="362102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318" name="c"/>
          <p:cNvSpPr>
            <a:spLocks noGrp="1"/>
          </p:cNvSpPr>
          <p:nvPr/>
        </p:nvSpPr>
        <p:spPr>
          <a:xfrm>
            <a:off x="6583680" y="3621024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24" name="ct2"/>
          <p:cNvSpPr txBox="1">
            <a:spLocks noGrp="1"/>
          </p:cNvSpPr>
          <p:nvPr/>
        </p:nvSpPr>
        <p:spPr>
          <a:xfrm>
            <a:off x="6583680" y="362102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319" name="c"/>
          <p:cNvSpPr>
            <a:spLocks noGrp="1"/>
          </p:cNvSpPr>
          <p:nvPr/>
        </p:nvSpPr>
        <p:spPr>
          <a:xfrm>
            <a:off x="6995160" y="3621024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25" name="ct2"/>
          <p:cNvSpPr txBox="1">
            <a:spLocks noGrp="1"/>
          </p:cNvSpPr>
          <p:nvPr/>
        </p:nvSpPr>
        <p:spPr>
          <a:xfrm>
            <a:off x="6995160" y="3621024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13" name="cb"/>
          <p:cNvSpPr>
            <a:spLocks noGrp="1"/>
          </p:cNvSpPr>
          <p:nvPr/>
        </p:nvSpPr>
        <p:spPr>
          <a:xfrm>
            <a:off x="320040" y="3840480"/>
            <a:ext cx="402336" cy="219456"/>
          </a:xfrm>
          <a:prstGeom prst="rect">
            <a:avLst/>
          </a:prstGeom>
          <a:solidFill>
            <a:srgbClr val="F8F0F6"/>
          </a:solidFill>
          <a:ln w="6350">
            <a:solidFill>
              <a:srgbClr val="C8D6E8"/>
            </a:solidFill>
          </a:ln>
        </p:spPr>
      </p:sp>
      <p:sp>
        <p:nvSpPr>
          <p:cNvPr id="514" name="ct"/>
          <p:cNvSpPr txBox="1">
            <a:spLocks noGrp="1"/>
          </p:cNvSpPr>
          <p:nvPr/>
        </p:nvSpPr>
        <p:spPr>
          <a:xfrm>
            <a:off x="320040" y="3840480"/>
            <a:ext cx="40233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580" b="1" dirty="0">
                <a:solidFill>
                  <a:srgbClr val="6B2D5E"/>
                </a:solidFill>
                <a:latin typeface="Calibri"/>
              </a:rPr>
              <a:t>COM</a:t>
            </a:r>
          </a:p>
        </p:txBody>
      </p:sp>
      <p:sp>
        <p:nvSpPr>
          <p:cNvPr id="515" name="db"/>
          <p:cNvSpPr>
            <a:spLocks noGrp="1"/>
          </p:cNvSpPr>
          <p:nvPr/>
        </p:nvSpPr>
        <p:spPr>
          <a:xfrm>
            <a:off x="722376" y="3840480"/>
            <a:ext cx="2157984" cy="219456"/>
          </a:xfrm>
          <a:prstGeom prst="rect">
            <a:avLst/>
          </a:prstGeom>
          <a:solidFill>
            <a:srgbClr val="F8F0F6"/>
          </a:solidFill>
          <a:ln w="6350">
            <a:solidFill>
              <a:srgbClr val="C8D6E8"/>
            </a:solidFill>
          </a:ln>
        </p:spPr>
      </p:sp>
      <p:sp>
        <p:nvSpPr>
          <p:cNvPr id="516" name="dt"/>
          <p:cNvSpPr txBox="1">
            <a:spLocks noGrp="1"/>
          </p:cNvSpPr>
          <p:nvPr/>
        </p:nvSpPr>
        <p:spPr>
          <a:xfrm>
            <a:off x="777240" y="3840480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Brechas vendido vs ejecutado</a:t>
            </a:r>
          </a:p>
        </p:txBody>
      </p:sp>
      <p:sp>
        <p:nvSpPr>
          <p:cNvPr id="517" name="c"/>
          <p:cNvSpPr>
            <a:spLocks noGrp="1"/>
          </p:cNvSpPr>
          <p:nvPr/>
        </p:nvSpPr>
        <p:spPr>
          <a:xfrm>
            <a:off x="2880360" y="384048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518" name="ct2"/>
          <p:cNvSpPr txBox="1">
            <a:spLocks noGrp="1"/>
          </p:cNvSpPr>
          <p:nvPr/>
        </p:nvSpPr>
        <p:spPr>
          <a:xfrm>
            <a:off x="2880360" y="384048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19" name="c"/>
          <p:cNvSpPr>
            <a:spLocks noGrp="1"/>
          </p:cNvSpPr>
          <p:nvPr/>
        </p:nvSpPr>
        <p:spPr>
          <a:xfrm>
            <a:off x="3291840" y="384048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520" name="ct2"/>
          <p:cNvSpPr txBox="1">
            <a:spLocks noGrp="1"/>
          </p:cNvSpPr>
          <p:nvPr/>
        </p:nvSpPr>
        <p:spPr>
          <a:xfrm>
            <a:off x="3291840" y="384048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21" name="c"/>
          <p:cNvSpPr>
            <a:spLocks noGrp="1"/>
          </p:cNvSpPr>
          <p:nvPr/>
        </p:nvSpPr>
        <p:spPr>
          <a:xfrm>
            <a:off x="3703320" y="384048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27" name="ct2"/>
          <p:cNvSpPr txBox="1">
            <a:spLocks noGrp="1"/>
          </p:cNvSpPr>
          <p:nvPr/>
        </p:nvSpPr>
        <p:spPr>
          <a:xfrm>
            <a:off x="3703320" y="384048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22" name="c"/>
          <p:cNvSpPr>
            <a:spLocks noGrp="1"/>
          </p:cNvSpPr>
          <p:nvPr/>
        </p:nvSpPr>
        <p:spPr>
          <a:xfrm>
            <a:off x="4114800" y="384048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28" name="ct2"/>
          <p:cNvSpPr txBox="1">
            <a:spLocks noGrp="1"/>
          </p:cNvSpPr>
          <p:nvPr/>
        </p:nvSpPr>
        <p:spPr>
          <a:xfrm>
            <a:off x="4114800" y="384048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23" name="c"/>
          <p:cNvSpPr>
            <a:spLocks noGrp="1"/>
          </p:cNvSpPr>
          <p:nvPr/>
        </p:nvSpPr>
        <p:spPr>
          <a:xfrm>
            <a:off x="4526280" y="384048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29" name="ct2"/>
          <p:cNvSpPr txBox="1">
            <a:spLocks noGrp="1"/>
          </p:cNvSpPr>
          <p:nvPr/>
        </p:nvSpPr>
        <p:spPr>
          <a:xfrm>
            <a:off x="4526280" y="384048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24" name="c"/>
          <p:cNvSpPr>
            <a:spLocks noGrp="1"/>
          </p:cNvSpPr>
          <p:nvPr/>
        </p:nvSpPr>
        <p:spPr>
          <a:xfrm>
            <a:off x="4937760" y="384048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30" name="ct2"/>
          <p:cNvSpPr txBox="1">
            <a:spLocks noGrp="1"/>
          </p:cNvSpPr>
          <p:nvPr/>
        </p:nvSpPr>
        <p:spPr>
          <a:xfrm>
            <a:off x="4937760" y="384048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25" name="c"/>
          <p:cNvSpPr>
            <a:spLocks noGrp="1"/>
          </p:cNvSpPr>
          <p:nvPr/>
        </p:nvSpPr>
        <p:spPr>
          <a:xfrm>
            <a:off x="5349240" y="384048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31" name="ct2"/>
          <p:cNvSpPr txBox="1">
            <a:spLocks noGrp="1"/>
          </p:cNvSpPr>
          <p:nvPr/>
        </p:nvSpPr>
        <p:spPr>
          <a:xfrm>
            <a:off x="5349240" y="384048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26" name="c"/>
          <p:cNvSpPr>
            <a:spLocks noGrp="1"/>
          </p:cNvSpPr>
          <p:nvPr/>
        </p:nvSpPr>
        <p:spPr>
          <a:xfrm>
            <a:off x="5760720" y="384048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32" name="ct2"/>
          <p:cNvSpPr txBox="1">
            <a:spLocks noGrp="1"/>
          </p:cNvSpPr>
          <p:nvPr/>
        </p:nvSpPr>
        <p:spPr>
          <a:xfrm>
            <a:off x="5760720" y="384048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27" name="c"/>
          <p:cNvSpPr>
            <a:spLocks noGrp="1"/>
          </p:cNvSpPr>
          <p:nvPr/>
        </p:nvSpPr>
        <p:spPr>
          <a:xfrm>
            <a:off x="6172200" y="384048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33" name="ct2"/>
          <p:cNvSpPr txBox="1">
            <a:spLocks noGrp="1"/>
          </p:cNvSpPr>
          <p:nvPr/>
        </p:nvSpPr>
        <p:spPr>
          <a:xfrm>
            <a:off x="6172200" y="384048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28" name="c"/>
          <p:cNvSpPr>
            <a:spLocks noGrp="1"/>
          </p:cNvSpPr>
          <p:nvPr/>
        </p:nvSpPr>
        <p:spPr>
          <a:xfrm>
            <a:off x="6583680" y="384048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34" name="ct2"/>
          <p:cNvSpPr txBox="1">
            <a:spLocks noGrp="1"/>
          </p:cNvSpPr>
          <p:nvPr/>
        </p:nvSpPr>
        <p:spPr>
          <a:xfrm>
            <a:off x="6583680" y="384048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29" name="c"/>
          <p:cNvSpPr>
            <a:spLocks noGrp="1"/>
          </p:cNvSpPr>
          <p:nvPr/>
        </p:nvSpPr>
        <p:spPr>
          <a:xfrm>
            <a:off x="6995160" y="3840480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35" name="ct2"/>
          <p:cNvSpPr txBox="1">
            <a:spLocks noGrp="1"/>
          </p:cNvSpPr>
          <p:nvPr/>
        </p:nvSpPr>
        <p:spPr>
          <a:xfrm>
            <a:off x="6995160" y="3840480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31" name="db"/>
          <p:cNvSpPr>
            <a:spLocks noGrp="1"/>
          </p:cNvSpPr>
          <p:nvPr/>
        </p:nvSpPr>
        <p:spPr>
          <a:xfrm>
            <a:off x="722376" y="4059936"/>
            <a:ext cx="2157984" cy="219456"/>
          </a:xfrm>
          <a:prstGeom prst="rect">
            <a:avLst/>
          </a:prstGeom>
          <a:solidFill>
            <a:srgbClr val="F8F0F6"/>
          </a:solidFill>
          <a:ln w="6350">
            <a:solidFill>
              <a:srgbClr val="C8D6E8"/>
            </a:solidFill>
          </a:ln>
        </p:spPr>
      </p:sp>
      <p:sp>
        <p:nvSpPr>
          <p:cNvPr id="532" name="dt"/>
          <p:cNvSpPr txBox="1">
            <a:spLocks noGrp="1"/>
          </p:cNvSpPr>
          <p:nvPr/>
        </p:nvSpPr>
        <p:spPr>
          <a:xfrm>
            <a:off x="777240" y="4059936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Sin KEDB — gestion informal</a:t>
            </a:r>
          </a:p>
        </p:txBody>
      </p:sp>
      <p:sp>
        <p:nvSpPr>
          <p:cNvPr id="533" name="c"/>
          <p:cNvSpPr>
            <a:spLocks noGrp="1"/>
          </p:cNvSpPr>
          <p:nvPr/>
        </p:nvSpPr>
        <p:spPr>
          <a:xfrm>
            <a:off x="2880360" y="4059936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534" name="ct2"/>
          <p:cNvSpPr txBox="1">
            <a:spLocks noGrp="1"/>
          </p:cNvSpPr>
          <p:nvPr/>
        </p:nvSpPr>
        <p:spPr>
          <a:xfrm>
            <a:off x="2880360" y="405993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535" name="c"/>
          <p:cNvSpPr>
            <a:spLocks noGrp="1"/>
          </p:cNvSpPr>
          <p:nvPr/>
        </p:nvSpPr>
        <p:spPr>
          <a:xfrm>
            <a:off x="3291840" y="4059936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536" name="ct2"/>
          <p:cNvSpPr txBox="1">
            <a:spLocks noGrp="1"/>
          </p:cNvSpPr>
          <p:nvPr/>
        </p:nvSpPr>
        <p:spPr>
          <a:xfrm>
            <a:off x="3291840" y="405993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537" name="c"/>
          <p:cNvSpPr>
            <a:spLocks noGrp="1"/>
          </p:cNvSpPr>
          <p:nvPr/>
        </p:nvSpPr>
        <p:spPr>
          <a:xfrm>
            <a:off x="3703320" y="4059936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237" name="ct2"/>
          <p:cNvSpPr txBox="1">
            <a:spLocks noGrp="1"/>
          </p:cNvSpPr>
          <p:nvPr/>
        </p:nvSpPr>
        <p:spPr>
          <a:xfrm>
            <a:off x="3703320" y="405993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538" name="c"/>
          <p:cNvSpPr>
            <a:spLocks noGrp="1"/>
          </p:cNvSpPr>
          <p:nvPr/>
        </p:nvSpPr>
        <p:spPr>
          <a:xfrm>
            <a:off x="4114800" y="4059936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238" name="ct2"/>
          <p:cNvSpPr txBox="1">
            <a:spLocks noGrp="1"/>
          </p:cNvSpPr>
          <p:nvPr/>
        </p:nvSpPr>
        <p:spPr>
          <a:xfrm>
            <a:off x="4114800" y="405993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539" name="c"/>
          <p:cNvSpPr>
            <a:spLocks noGrp="1"/>
          </p:cNvSpPr>
          <p:nvPr/>
        </p:nvSpPr>
        <p:spPr>
          <a:xfrm>
            <a:off x="4526280" y="4059936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39" name="ct2"/>
          <p:cNvSpPr txBox="1">
            <a:spLocks noGrp="1"/>
          </p:cNvSpPr>
          <p:nvPr/>
        </p:nvSpPr>
        <p:spPr>
          <a:xfrm>
            <a:off x="4526280" y="405993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40" name="c"/>
          <p:cNvSpPr>
            <a:spLocks noGrp="1"/>
          </p:cNvSpPr>
          <p:nvPr/>
        </p:nvSpPr>
        <p:spPr>
          <a:xfrm>
            <a:off x="4937760" y="4059936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240" name="ct2"/>
          <p:cNvSpPr txBox="1">
            <a:spLocks noGrp="1"/>
          </p:cNvSpPr>
          <p:nvPr/>
        </p:nvSpPr>
        <p:spPr>
          <a:xfrm>
            <a:off x="4937760" y="405993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541" name="c"/>
          <p:cNvSpPr>
            <a:spLocks noGrp="1"/>
          </p:cNvSpPr>
          <p:nvPr/>
        </p:nvSpPr>
        <p:spPr>
          <a:xfrm>
            <a:off x="5349240" y="4059936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241" name="ct2"/>
          <p:cNvSpPr txBox="1">
            <a:spLocks noGrp="1"/>
          </p:cNvSpPr>
          <p:nvPr/>
        </p:nvSpPr>
        <p:spPr>
          <a:xfrm>
            <a:off x="5349240" y="405993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542" name="c"/>
          <p:cNvSpPr>
            <a:spLocks noGrp="1"/>
          </p:cNvSpPr>
          <p:nvPr/>
        </p:nvSpPr>
        <p:spPr>
          <a:xfrm>
            <a:off x="5760720" y="4059936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242" name="ct2"/>
          <p:cNvSpPr txBox="1">
            <a:spLocks noGrp="1"/>
          </p:cNvSpPr>
          <p:nvPr/>
        </p:nvSpPr>
        <p:spPr>
          <a:xfrm>
            <a:off x="5760720" y="405993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543" name="c"/>
          <p:cNvSpPr>
            <a:spLocks noGrp="1"/>
          </p:cNvSpPr>
          <p:nvPr/>
        </p:nvSpPr>
        <p:spPr>
          <a:xfrm>
            <a:off x="6172200" y="4059936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243" name="ct2"/>
          <p:cNvSpPr txBox="1">
            <a:spLocks noGrp="1"/>
          </p:cNvSpPr>
          <p:nvPr/>
        </p:nvSpPr>
        <p:spPr>
          <a:xfrm>
            <a:off x="6172200" y="405993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544" name="c"/>
          <p:cNvSpPr>
            <a:spLocks noGrp="1"/>
          </p:cNvSpPr>
          <p:nvPr/>
        </p:nvSpPr>
        <p:spPr>
          <a:xfrm>
            <a:off x="6583680" y="4059936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244" name="ct2"/>
          <p:cNvSpPr txBox="1">
            <a:spLocks noGrp="1"/>
          </p:cNvSpPr>
          <p:nvPr/>
        </p:nvSpPr>
        <p:spPr>
          <a:xfrm>
            <a:off x="6583680" y="405993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545" name="c"/>
          <p:cNvSpPr>
            <a:spLocks noGrp="1"/>
          </p:cNvSpPr>
          <p:nvPr/>
        </p:nvSpPr>
        <p:spPr>
          <a:xfrm>
            <a:off x="6995160" y="4059936"/>
            <a:ext cx="411480" cy="219456"/>
          </a:xfrm>
          <a:prstGeom prst="rect">
            <a:avLst/>
          </a:prstGeom>
          <a:solidFill>
            <a:srgbClr val="EBF4FF"/>
          </a:solidFill>
          <a:ln w="6350">
            <a:solidFill>
              <a:srgbClr val="C8D6E8"/>
            </a:solidFill>
          </a:ln>
        </p:spPr>
      </p:sp>
      <p:sp>
        <p:nvSpPr>
          <p:cNvPr id="245" name="ct2"/>
          <p:cNvSpPr txBox="1">
            <a:spLocks noGrp="1"/>
          </p:cNvSpPr>
          <p:nvPr/>
        </p:nvSpPr>
        <p:spPr>
          <a:xfrm>
            <a:off x="6995160" y="4059936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C8D6E8"/>
                </a:solidFill>
                <a:latin typeface="Calibri"/>
              </a:rPr>
              <a:t>○</a:t>
            </a:r>
          </a:p>
        </p:txBody>
      </p:sp>
      <p:sp>
        <p:nvSpPr>
          <p:cNvPr id="547" name="db"/>
          <p:cNvSpPr>
            <a:spLocks noGrp="1"/>
          </p:cNvSpPr>
          <p:nvPr/>
        </p:nvSpPr>
        <p:spPr>
          <a:xfrm>
            <a:off x="722376" y="4279392"/>
            <a:ext cx="2157984" cy="219456"/>
          </a:xfrm>
          <a:prstGeom prst="rect">
            <a:avLst/>
          </a:prstGeom>
          <a:solidFill>
            <a:srgbClr val="F8F0F6"/>
          </a:solidFill>
          <a:ln w="6350">
            <a:solidFill>
              <a:srgbClr val="C8D6E8"/>
            </a:solidFill>
          </a:ln>
        </p:spPr>
      </p:sp>
      <p:sp>
        <p:nvSpPr>
          <p:cNvPr id="548" name="dt"/>
          <p:cNvSpPr txBox="1">
            <a:spLocks noGrp="1"/>
          </p:cNvSpPr>
          <p:nvPr/>
        </p:nvSpPr>
        <p:spPr>
          <a:xfrm>
            <a:off x="777240" y="4279392"/>
            <a:ext cx="2048256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60" dirty="0">
                <a:solidFill>
                  <a:srgbClr val="0D1B5E"/>
                </a:solidFill>
                <a:latin typeface="Calibri"/>
              </a:rPr>
              <a:t>Herramientas fragmentadas</a:t>
            </a:r>
          </a:p>
        </p:txBody>
      </p:sp>
      <p:sp>
        <p:nvSpPr>
          <p:cNvPr id="549" name="c"/>
          <p:cNvSpPr>
            <a:spLocks noGrp="1"/>
          </p:cNvSpPr>
          <p:nvPr/>
        </p:nvSpPr>
        <p:spPr>
          <a:xfrm>
            <a:off x="2880360" y="427939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550" name="ct2"/>
          <p:cNvSpPr txBox="1">
            <a:spLocks noGrp="1"/>
          </p:cNvSpPr>
          <p:nvPr/>
        </p:nvSpPr>
        <p:spPr>
          <a:xfrm>
            <a:off x="2880360" y="427939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51" name="c"/>
          <p:cNvSpPr>
            <a:spLocks noGrp="1"/>
          </p:cNvSpPr>
          <p:nvPr/>
        </p:nvSpPr>
        <p:spPr>
          <a:xfrm>
            <a:off x="3291840" y="427939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552" name="ct2"/>
          <p:cNvSpPr txBox="1">
            <a:spLocks noGrp="1"/>
          </p:cNvSpPr>
          <p:nvPr/>
        </p:nvSpPr>
        <p:spPr>
          <a:xfrm>
            <a:off x="3291840" y="427939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53" name="c"/>
          <p:cNvSpPr>
            <a:spLocks noGrp="1"/>
          </p:cNvSpPr>
          <p:nvPr/>
        </p:nvSpPr>
        <p:spPr>
          <a:xfrm>
            <a:off x="3703320" y="427939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47" name="ct2"/>
          <p:cNvSpPr txBox="1">
            <a:spLocks noGrp="1"/>
          </p:cNvSpPr>
          <p:nvPr/>
        </p:nvSpPr>
        <p:spPr>
          <a:xfrm>
            <a:off x="3703320" y="427939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54" name="c"/>
          <p:cNvSpPr>
            <a:spLocks noGrp="1"/>
          </p:cNvSpPr>
          <p:nvPr/>
        </p:nvSpPr>
        <p:spPr>
          <a:xfrm>
            <a:off x="4114800" y="427939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48" name="ct2"/>
          <p:cNvSpPr txBox="1">
            <a:spLocks noGrp="1"/>
          </p:cNvSpPr>
          <p:nvPr/>
        </p:nvSpPr>
        <p:spPr>
          <a:xfrm>
            <a:off x="4114800" y="427939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55" name="c"/>
          <p:cNvSpPr>
            <a:spLocks noGrp="1"/>
          </p:cNvSpPr>
          <p:nvPr/>
        </p:nvSpPr>
        <p:spPr>
          <a:xfrm>
            <a:off x="4526280" y="427939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49" name="ct2"/>
          <p:cNvSpPr txBox="1">
            <a:spLocks noGrp="1"/>
          </p:cNvSpPr>
          <p:nvPr/>
        </p:nvSpPr>
        <p:spPr>
          <a:xfrm>
            <a:off x="4526280" y="427939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56" name="c"/>
          <p:cNvSpPr>
            <a:spLocks noGrp="1"/>
          </p:cNvSpPr>
          <p:nvPr/>
        </p:nvSpPr>
        <p:spPr>
          <a:xfrm>
            <a:off x="4937760" y="4279392"/>
            <a:ext cx="411480" cy="219456"/>
          </a:xfrm>
          <a:prstGeom prst="rect">
            <a:avLst/>
          </a:prstGeom>
          <a:solidFill>
            <a:srgbClr val="FAECEC"/>
          </a:solidFill>
          <a:ln w="6350">
            <a:solidFill>
              <a:srgbClr val="C8D6E8"/>
            </a:solidFill>
          </a:ln>
        </p:spPr>
      </p:sp>
      <p:sp>
        <p:nvSpPr>
          <p:cNvPr id="250" name="ct2"/>
          <p:cNvSpPr txBox="1">
            <a:spLocks noGrp="1"/>
          </p:cNvSpPr>
          <p:nvPr/>
        </p:nvSpPr>
        <p:spPr>
          <a:xfrm>
            <a:off x="4937760" y="427939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91C1C"/>
                </a:solidFill>
                <a:latin typeface="Calibri"/>
              </a:rPr>
              <a:t>●</a:t>
            </a:r>
          </a:p>
        </p:txBody>
      </p:sp>
      <p:sp>
        <p:nvSpPr>
          <p:cNvPr id="557" name="c"/>
          <p:cNvSpPr>
            <a:spLocks noGrp="1"/>
          </p:cNvSpPr>
          <p:nvPr/>
        </p:nvSpPr>
        <p:spPr>
          <a:xfrm>
            <a:off x="5349240" y="427939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51" name="ct2"/>
          <p:cNvSpPr txBox="1">
            <a:spLocks noGrp="1"/>
          </p:cNvSpPr>
          <p:nvPr/>
        </p:nvSpPr>
        <p:spPr>
          <a:xfrm>
            <a:off x="5349240" y="427939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58" name="c"/>
          <p:cNvSpPr>
            <a:spLocks noGrp="1"/>
          </p:cNvSpPr>
          <p:nvPr/>
        </p:nvSpPr>
        <p:spPr>
          <a:xfrm>
            <a:off x="5760720" y="427939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52" name="ct2"/>
          <p:cNvSpPr txBox="1">
            <a:spLocks noGrp="1"/>
          </p:cNvSpPr>
          <p:nvPr/>
        </p:nvSpPr>
        <p:spPr>
          <a:xfrm>
            <a:off x="5760720" y="427939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59" name="c"/>
          <p:cNvSpPr>
            <a:spLocks noGrp="1"/>
          </p:cNvSpPr>
          <p:nvPr/>
        </p:nvSpPr>
        <p:spPr>
          <a:xfrm>
            <a:off x="6172200" y="427939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53" name="ct2"/>
          <p:cNvSpPr txBox="1">
            <a:spLocks noGrp="1"/>
          </p:cNvSpPr>
          <p:nvPr/>
        </p:nvSpPr>
        <p:spPr>
          <a:xfrm>
            <a:off x="6172200" y="427939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60" name="c"/>
          <p:cNvSpPr>
            <a:spLocks noGrp="1"/>
          </p:cNvSpPr>
          <p:nvPr/>
        </p:nvSpPr>
        <p:spPr>
          <a:xfrm>
            <a:off x="6583680" y="427939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54" name="ct2"/>
          <p:cNvSpPr txBox="1">
            <a:spLocks noGrp="1"/>
          </p:cNvSpPr>
          <p:nvPr/>
        </p:nvSpPr>
        <p:spPr>
          <a:xfrm>
            <a:off x="6583680" y="427939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  <p:sp>
        <p:nvSpPr>
          <p:cNvPr id="561" name="c"/>
          <p:cNvSpPr>
            <a:spLocks noGrp="1"/>
          </p:cNvSpPr>
          <p:nvPr/>
        </p:nvSpPr>
        <p:spPr>
          <a:xfrm>
            <a:off x="6995160" y="4279392"/>
            <a:ext cx="411480" cy="219456"/>
          </a:xfrm>
          <a:prstGeom prst="rect">
            <a:avLst/>
          </a:prstGeom>
          <a:solidFill>
            <a:srgbClr val="FEF9C3"/>
          </a:solidFill>
          <a:ln w="6350">
            <a:solidFill>
              <a:srgbClr val="C8D6E8"/>
            </a:solidFill>
          </a:ln>
        </p:spPr>
      </p:sp>
      <p:sp>
        <p:nvSpPr>
          <p:cNvPr id="255" name="ct2"/>
          <p:cNvSpPr txBox="1">
            <a:spLocks noGrp="1"/>
          </p:cNvSpPr>
          <p:nvPr/>
        </p:nvSpPr>
        <p:spPr>
          <a:xfrm>
            <a:off x="6995160" y="4279392"/>
            <a:ext cx="411480" cy="21945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1000" b="1" dirty="0">
                <a:solidFill>
                  <a:srgbClr val="B45309"/>
                </a:solidFill>
                <a:latin typeface="Calibri"/>
              </a:rPr>
              <a:t>◐</a:t>
            </a:r>
          </a:p>
        </p:txBody>
      </p:sp>
    </p:spTree>
    <p:extLst>
      <p:ext uri="{BB962C8B-B14F-4D97-AF65-F5344CB8AC3E}">
        <p14:creationId xmlns:p14="http://schemas.microsoft.com/office/powerpoint/2010/main" val="24159581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98904784-1FEF-360A-E160-2DD109EE14D0}"/>
              </a:ext>
            </a:extLst>
          </p:cNvPr>
          <p:cNvSpPr/>
          <p:nvPr/>
        </p:nvSpPr>
        <p:spPr>
          <a:xfrm>
            <a:off x="342900" y="240030"/>
            <a:ext cx="84559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950" b="1">
                <a:solidFill>
                  <a:srgbClr val="132346"/>
                </a:solidFill>
                <a:latin typeface="Calibri"/>
                <a:ea typeface="Calibri"/>
                <a:cs typeface="Calibri"/>
              </a:rPr>
              <a:t>Oportunidades de Mejora</a:t>
            </a: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62F1F850-60C9-69E7-8C44-E9DDCD2E8873}"/>
              </a:ext>
            </a:extLst>
          </p:cNvPr>
          <p:cNvSpPr/>
          <p:nvPr/>
        </p:nvSpPr>
        <p:spPr>
          <a:xfrm>
            <a:off x="310243" y="723900"/>
            <a:ext cx="4120242" cy="3690257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F939E145-84D0-7046-ED8F-566B78FC8998}"/>
              </a:ext>
            </a:extLst>
          </p:cNvPr>
          <p:cNvSpPr/>
          <p:nvPr/>
        </p:nvSpPr>
        <p:spPr>
          <a:xfrm>
            <a:off x="310243" y="723900"/>
            <a:ext cx="4120242" cy="685800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8A55A45D-D824-9EB3-C40C-A9680A059E13}"/>
              </a:ext>
            </a:extLst>
          </p:cNvPr>
          <p:cNvSpPr/>
          <p:nvPr/>
        </p:nvSpPr>
        <p:spPr>
          <a:xfrm>
            <a:off x="481693" y="837655"/>
            <a:ext cx="3940628" cy="332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Las mesas actuales necesitan</a:t>
            </a:r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A38EC3BC-83FE-049B-BAC2-DFB58B39162D}"/>
              </a:ext>
            </a:extLst>
          </p:cNvPr>
          <p:cNvSpPr/>
          <p:nvPr/>
        </p:nvSpPr>
        <p:spPr>
          <a:xfrm>
            <a:off x="484959" y="1526721"/>
            <a:ext cx="3877491" cy="2635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Formalizar RACI y niveles en todas las mesas </a:t>
            </a:r>
            <a:endParaRPr lang="es-CO" sz="900">
              <a:solidFill>
                <a:srgbClr val="1C1C1C"/>
              </a:solidFill>
              <a:latin typeface="Reddit Sans"/>
              <a:ea typeface="Reddit Sans"/>
              <a:cs typeface="Calibri Light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Implementar CSAT básico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Documentar KEDB mínimo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 dirty="0" err="1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Dashboard</a:t>
            </a:r>
            <a:r>
              <a:rPr lang="es-CO" sz="900" dirty="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 para las mesas de servicio </a:t>
            </a:r>
            <a:endParaRPr lang="es-CO" sz="900" dirty="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 dirty="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Dashboard para la operación de </a:t>
            </a:r>
            <a:r>
              <a:rPr lang="es-CO" sz="900" dirty="0" err="1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PersonalSoft</a:t>
            </a:r>
            <a:r>
              <a:rPr lang="es-CO" sz="900" dirty="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 </a:t>
            </a:r>
            <a:endParaRPr lang="es-CO" sz="900" dirty="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Implementar automatizaciones (mesas de soporte, gestión de horas extras y recargos) (dolores de XM y Bancolombia)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Implementar el Top tendencia, para predecir comportamiento inusual (Bancolombia lo hace)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Implementar un plan carrera (Bancolombia lo hace)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Modelo de gestión del conocimiento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Se necesita un modo de dimensionamiento para las capacidades de soporte, disponibilidad y roles del equipo. </a:t>
            </a:r>
            <a:endParaRPr lang="es-CO" sz="9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spcAft>
                <a:spcPts val="900"/>
              </a:spcAft>
              <a:buSzPct val="100000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Definir un modelo de gobierno</a:t>
            </a:r>
            <a:endParaRPr lang="es-CO" sz="900">
              <a:latin typeface="Reddit Sans"/>
              <a:ea typeface="Reddit Sans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D450DD2F-8092-F4F3-9041-C6D9786E0224}"/>
              </a:ext>
            </a:extLst>
          </p:cNvPr>
          <p:cNvSpPr/>
          <p:nvPr/>
        </p:nvSpPr>
        <p:spPr>
          <a:xfrm>
            <a:off x="4493406" y="723900"/>
            <a:ext cx="4430485" cy="3690257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14796837-BFCD-EAAD-6CB4-5BEFD896C81D}"/>
              </a:ext>
            </a:extLst>
          </p:cNvPr>
          <p:cNvSpPr/>
          <p:nvPr/>
        </p:nvSpPr>
        <p:spPr>
          <a:xfrm>
            <a:off x="4493406" y="723900"/>
            <a:ext cx="4430485" cy="685800"/>
          </a:xfrm>
          <a:prstGeom prst="rect">
            <a:avLst/>
          </a:prstGeom>
          <a:solidFill>
            <a:srgbClr val="1F7A4D"/>
          </a:solidFill>
          <a:ln/>
        </p:spPr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785B0F7B-4D98-D2F1-EA0A-AD1245E4CEB7}"/>
              </a:ext>
            </a:extLst>
          </p:cNvPr>
          <p:cNvSpPr/>
          <p:nvPr/>
        </p:nvSpPr>
        <p:spPr>
          <a:xfrm>
            <a:off x="4719284" y="837655"/>
            <a:ext cx="4294414" cy="4626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Mesa de Servicio de Nueva Generación (Next Gent)</a:t>
            </a:r>
            <a:endParaRPr lang="en-US" sz="1650" dirty="0">
              <a:latin typeface="Calibri"/>
              <a:ea typeface="Calibri"/>
              <a:cs typeface="Calibri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3630686D-7B38-75EB-D3F4-D22F080F0174}"/>
              </a:ext>
            </a:extLst>
          </p:cNvPr>
          <p:cNvSpPr/>
          <p:nvPr/>
        </p:nvSpPr>
        <p:spPr>
          <a:xfrm>
            <a:off x="4787864" y="1526721"/>
            <a:ext cx="2331720" cy="2091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Autoservicio ≥ 50%</a:t>
            </a:r>
          </a:p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s-CO" sz="900" dirty="0" err="1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AIOps</a:t>
            </a:r>
            <a:r>
              <a:rPr lang="es-CO" sz="900" dirty="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 en producción</a:t>
            </a:r>
          </a:p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s-CO" sz="900" dirty="0" err="1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Pricing</a:t>
            </a:r>
            <a:r>
              <a:rPr lang="es-CO" sz="900" dirty="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 por </a:t>
            </a:r>
            <a:r>
              <a:rPr lang="es-CO" sz="900" dirty="0" err="1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outcomes</a:t>
            </a:r>
          </a:p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s-CO" sz="900" dirty="0" err="1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Insight</a:t>
            </a:r>
            <a:r>
              <a:rPr lang="es-CO" sz="900" dirty="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 del mercado</a:t>
            </a:r>
          </a:p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Conocimiento de Negocio</a:t>
            </a:r>
          </a:p>
          <a:p>
            <a:pPr marL="171450" indent="-171450">
              <a:lnSpc>
                <a:spcPct val="150000"/>
              </a:lnSpc>
              <a:buSzPct val="100000"/>
              <a:buFont typeface="Arial"/>
              <a:buChar char="•"/>
            </a:pPr>
            <a:r>
              <a:rPr lang="es-CO" sz="900">
                <a:solidFill>
                  <a:srgbClr val="1C1C1C"/>
                </a:solidFill>
                <a:latin typeface="Reddit Sans"/>
                <a:ea typeface="Reddit Sans"/>
                <a:cs typeface="+mn-lt"/>
              </a:rPr>
              <a:t>Referente del sector</a:t>
            </a:r>
            <a:endParaRPr lang="en-US" sz="900" dirty="0">
              <a:solidFill>
                <a:srgbClr val="1C1C1C"/>
              </a:solidFill>
              <a:latin typeface="Reddit Sans"/>
              <a:ea typeface="Reddit Sans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037376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992BDF04-FAAF-2B45-1BBC-81AF3FF191E1}"/>
              </a:ext>
            </a:extLst>
          </p:cNvPr>
          <p:cNvSpPr/>
          <p:nvPr/>
        </p:nvSpPr>
        <p:spPr>
          <a:xfrm>
            <a:off x="342900" y="240030"/>
            <a:ext cx="84559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950" b="1" dirty="0">
                <a:solidFill>
                  <a:srgbClr val="132346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</a:rPr>
              <a:t>Benchmarks de Industria vs Mesas </a:t>
            </a:r>
            <a:r>
              <a:rPr lang="en-US" sz="1950" b="1" dirty="0" err="1">
                <a:solidFill>
                  <a:srgbClr val="132346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</a:rPr>
              <a:t>Actuales</a:t>
            </a:r>
            <a:r>
              <a:rPr lang="en-US" sz="1950" b="1" dirty="0">
                <a:solidFill>
                  <a:srgbClr val="132346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</a:rPr>
              <a:t> </a:t>
            </a:r>
            <a:r>
              <a:rPr lang="en-US" sz="1950" b="1" dirty="0" err="1">
                <a:solidFill>
                  <a:srgbClr val="132346"/>
                </a:solidFill>
                <a:highlight>
                  <a:srgbClr val="FFFF00"/>
                </a:highlight>
                <a:latin typeface="Reddit Sans"/>
                <a:ea typeface="Reddit Sans"/>
                <a:cs typeface="Calibri"/>
              </a:rPr>
              <a:t>PersonalSoft</a:t>
            </a:r>
            <a:endParaRPr lang="en-US" sz="1950">
              <a:highlight>
                <a:srgbClr val="FFFF00"/>
              </a:highlight>
              <a:latin typeface="Reddit Sans"/>
              <a:ea typeface="Reddit Sans"/>
              <a:cs typeface="Calibri"/>
            </a:endParaRP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E8733C4F-6EF6-22D0-8788-0CFCB1A3A862}"/>
              </a:ext>
            </a:extLst>
          </p:cNvPr>
          <p:cNvSpPr/>
          <p:nvPr/>
        </p:nvSpPr>
        <p:spPr>
          <a:xfrm>
            <a:off x="342900" y="601327"/>
            <a:ext cx="84559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50" dirty="0" err="1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Promedio</a:t>
            </a:r>
            <a:r>
              <a:rPr lang="en-US" sz="950" dirty="0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 </a:t>
            </a:r>
            <a:r>
              <a:rPr lang="en-US" sz="950" dirty="0" err="1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industria</a:t>
            </a:r>
            <a:r>
              <a:rPr lang="en-US" sz="950" dirty="0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 · World-Class · PS Mesas </a:t>
            </a:r>
            <a:r>
              <a:rPr lang="en-US" sz="950" dirty="0" err="1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Actuales</a:t>
            </a:r>
            <a:r>
              <a:rPr lang="en-US" sz="950" dirty="0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 · Next Gen </a:t>
            </a:r>
            <a:r>
              <a:rPr lang="en-US" sz="950" dirty="0" err="1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Objetivo</a:t>
            </a:r>
            <a:r>
              <a:rPr lang="en-US" sz="950" dirty="0">
                <a:solidFill>
                  <a:srgbClr val="017490"/>
                </a:solidFill>
                <a:latin typeface="Reddit Sans"/>
                <a:ea typeface="Reddit Sans"/>
                <a:cs typeface="Calibri Light"/>
              </a:rPr>
              <a:t> (N3-N5)</a:t>
            </a:r>
            <a:endParaRPr lang="en-US" sz="950" dirty="0">
              <a:latin typeface="Reddit Sans"/>
              <a:ea typeface="Reddit Sans"/>
              <a:cs typeface="Calibri Light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A58870E8-E938-2A92-E553-5AF95E9EA832}"/>
              </a:ext>
            </a:extLst>
          </p:cNvPr>
          <p:cNvSpPr/>
          <p:nvPr/>
        </p:nvSpPr>
        <p:spPr>
          <a:xfrm>
            <a:off x="342900" y="973836"/>
            <a:ext cx="150876" cy="123444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161C30D-9637-BDDE-C328-2F2ED5D8EA11}"/>
              </a:ext>
            </a:extLst>
          </p:cNvPr>
          <p:cNvSpPr/>
          <p:nvPr/>
        </p:nvSpPr>
        <p:spPr>
          <a:xfrm>
            <a:off x="534924" y="953262"/>
            <a:ext cx="1508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13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Industria promedio</a:t>
            </a:r>
            <a:endParaRPr lang="en-US" sz="713" dirty="0">
              <a:latin typeface="Reddit Sans"/>
              <a:ea typeface="Reddit Sans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9CB9A903-61E6-0579-233C-C656539FE4F9}"/>
              </a:ext>
            </a:extLst>
          </p:cNvPr>
          <p:cNvSpPr/>
          <p:nvPr/>
        </p:nvSpPr>
        <p:spPr>
          <a:xfrm>
            <a:off x="2091690" y="973836"/>
            <a:ext cx="150876" cy="123444"/>
          </a:xfrm>
          <a:prstGeom prst="rect">
            <a:avLst/>
          </a:prstGeom>
          <a:solidFill>
            <a:srgbClr val="132346"/>
          </a:solidFill>
          <a:ln/>
        </p:spPr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7EC84D1C-9D4C-26D4-8F37-D121F721CDCC}"/>
              </a:ext>
            </a:extLst>
          </p:cNvPr>
          <p:cNvSpPr/>
          <p:nvPr/>
        </p:nvSpPr>
        <p:spPr>
          <a:xfrm>
            <a:off x="2283714" y="953262"/>
            <a:ext cx="1508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13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World-Class</a:t>
            </a:r>
            <a:endParaRPr lang="en-US" sz="713" dirty="0">
              <a:latin typeface="Reddit Sans"/>
              <a:ea typeface="Reddit Sans"/>
            </a:endParaRPr>
          </a:p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A5A37BDD-E810-5DA2-8584-FD5CCAFCC00D}"/>
              </a:ext>
            </a:extLst>
          </p:cNvPr>
          <p:cNvSpPr/>
          <p:nvPr/>
        </p:nvSpPr>
        <p:spPr>
          <a:xfrm>
            <a:off x="3840480" y="973836"/>
            <a:ext cx="150876" cy="123444"/>
          </a:xfrm>
          <a:prstGeom prst="rect">
            <a:avLst/>
          </a:prstGeom>
          <a:solidFill>
            <a:srgbClr val="8B3A0F"/>
          </a:solidFill>
          <a:ln/>
        </p:spPr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63EE52D7-7A3E-A809-5ECB-202AC117E8D3}"/>
              </a:ext>
            </a:extLst>
          </p:cNvPr>
          <p:cNvSpPr/>
          <p:nvPr/>
        </p:nvSpPr>
        <p:spPr>
          <a:xfrm>
            <a:off x="4032504" y="953262"/>
            <a:ext cx="1508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>
                <a:solidFill>
                  <a:srgbClr val="5A6472"/>
                </a:solidFill>
                <a:latin typeface="Reddit Sans"/>
                <a:ea typeface="Reddit Sans"/>
                <a:cs typeface="Calibri Light"/>
              </a:rPr>
              <a:t>Next Gen N5</a:t>
            </a:r>
            <a:endParaRPr lang="en-US" sz="700">
              <a:latin typeface="Reddit Sans"/>
              <a:ea typeface="Reddit Sans"/>
              <a:cs typeface="Calibri Light"/>
            </a:endParaRPr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BC721357-EE1D-1878-E728-2ECEE076E07E}"/>
              </a:ext>
            </a:extLst>
          </p:cNvPr>
          <p:cNvSpPr/>
          <p:nvPr/>
        </p:nvSpPr>
        <p:spPr>
          <a:xfrm>
            <a:off x="5589270" y="973836"/>
            <a:ext cx="150876" cy="12344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57F2A9B9-358E-F432-8723-8A7FB0EC9894}"/>
              </a:ext>
            </a:extLst>
          </p:cNvPr>
          <p:cNvSpPr/>
          <p:nvPr/>
        </p:nvSpPr>
        <p:spPr>
          <a:xfrm>
            <a:off x="5781294" y="953262"/>
            <a:ext cx="1508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00" dirty="0" err="1">
                <a:solidFill>
                  <a:srgbClr val="5A6472"/>
                </a:solidFill>
                <a:latin typeface="Reddit Sans"/>
                <a:ea typeface="Reddit Sans"/>
                <a:cs typeface="Calibri Light"/>
              </a:rPr>
              <a:t>PersonalSoft</a:t>
            </a:r>
            <a:r>
              <a:rPr lang="en-US" sz="700" dirty="0">
                <a:solidFill>
                  <a:srgbClr val="5A6472"/>
                </a:solidFill>
                <a:latin typeface="Reddit Sans"/>
                <a:ea typeface="Reddit Sans"/>
                <a:cs typeface="Calibri Light"/>
              </a:rPr>
              <a:t> Mesas </a:t>
            </a:r>
            <a:r>
              <a:rPr lang="en-US" sz="700" dirty="0" err="1">
                <a:solidFill>
                  <a:srgbClr val="5A6472"/>
                </a:solidFill>
                <a:latin typeface="Reddit Sans"/>
                <a:ea typeface="Reddit Sans"/>
                <a:cs typeface="Calibri Light"/>
              </a:rPr>
              <a:t>Actuales</a:t>
            </a:r>
            <a:endParaRPr lang="en-US" sz="700" dirty="0" err="1">
              <a:latin typeface="Reddit Sans"/>
              <a:ea typeface="Reddit Sans"/>
              <a:cs typeface="Calibri Light"/>
            </a:endParaRPr>
          </a:p>
        </p:txBody>
      </p:sp>
      <p:sp>
        <p:nvSpPr>
          <p:cNvPr id="24" name="Shape 10">
            <a:extLst>
              <a:ext uri="{FF2B5EF4-FFF2-40B4-BE49-F238E27FC236}">
                <a16:creationId xmlns:a16="http://schemas.microsoft.com/office/drawing/2014/main" id="{4B837C3F-17AA-E370-5603-90F0EAA26E92}"/>
              </a:ext>
            </a:extLst>
          </p:cNvPr>
          <p:cNvSpPr/>
          <p:nvPr/>
        </p:nvSpPr>
        <p:spPr>
          <a:xfrm>
            <a:off x="7338060" y="973836"/>
            <a:ext cx="150876" cy="123444"/>
          </a:xfrm>
          <a:prstGeom prst="rect">
            <a:avLst/>
          </a:prstGeom>
          <a:solidFill>
            <a:srgbClr val="1F7A4D"/>
          </a:solidFill>
          <a:ln/>
        </p:spPr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66A7D6EC-5CCD-304B-C283-21202874F7CC}"/>
              </a:ext>
            </a:extLst>
          </p:cNvPr>
          <p:cNvSpPr/>
          <p:nvPr/>
        </p:nvSpPr>
        <p:spPr>
          <a:xfrm>
            <a:off x="7530084" y="953262"/>
            <a:ext cx="1508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00" dirty="0" err="1">
                <a:solidFill>
                  <a:srgbClr val="5A6472"/>
                </a:solidFill>
                <a:latin typeface="Reddit Sans"/>
                <a:ea typeface="Reddit Sans"/>
                <a:cs typeface="Calibri Light"/>
              </a:rPr>
              <a:t>PersonalSoft</a:t>
            </a:r>
            <a:r>
              <a:rPr lang="en-US" sz="700" dirty="0">
                <a:solidFill>
                  <a:srgbClr val="5A6472"/>
                </a:solidFill>
                <a:latin typeface="Reddit Sans"/>
                <a:ea typeface="Reddit Sans"/>
                <a:cs typeface="Calibri Light"/>
              </a:rPr>
              <a:t> — Buena </a:t>
            </a:r>
            <a:r>
              <a:rPr lang="en-US" sz="700" dirty="0" err="1">
                <a:solidFill>
                  <a:srgbClr val="5A6472"/>
                </a:solidFill>
                <a:latin typeface="Reddit Sans"/>
                <a:ea typeface="Reddit Sans"/>
                <a:cs typeface="Calibri Light"/>
              </a:rPr>
              <a:t>referencia</a:t>
            </a:r>
            <a:endParaRPr lang="en-US" sz="700" dirty="0" err="1">
              <a:latin typeface="Reddit Sans"/>
              <a:ea typeface="Reddit Sans"/>
              <a:cs typeface="Calibri Light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0A195DA2-215B-9317-C7BF-0248A8020921}"/>
              </a:ext>
            </a:extLst>
          </p:cNvPr>
          <p:cNvSpPr/>
          <p:nvPr/>
        </p:nvSpPr>
        <p:spPr>
          <a:xfrm>
            <a:off x="342900" y="1179576"/>
            <a:ext cx="26746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FCR (First Contact Resolution)</a:t>
            </a:r>
            <a:endParaRPr lang="en-US" sz="825" dirty="0">
              <a:latin typeface="Reddit Sans"/>
              <a:ea typeface="Reddit Sans"/>
            </a:endParaRPr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4C08FB23-C53B-CB4B-74FA-D1CADE7CAFCD}"/>
              </a:ext>
            </a:extLst>
          </p:cNvPr>
          <p:cNvSpPr/>
          <p:nvPr/>
        </p:nvSpPr>
        <p:spPr>
          <a:xfrm>
            <a:off x="342900" y="1419606"/>
            <a:ext cx="2400300" cy="205740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32" name="Shape 14">
            <a:extLst>
              <a:ext uri="{FF2B5EF4-FFF2-40B4-BE49-F238E27FC236}">
                <a16:creationId xmlns:a16="http://schemas.microsoft.com/office/drawing/2014/main" id="{1DC30F96-B246-0A3E-4FCB-1196045730AE}"/>
              </a:ext>
            </a:extLst>
          </p:cNvPr>
          <p:cNvSpPr/>
          <p:nvPr/>
        </p:nvSpPr>
        <p:spPr>
          <a:xfrm>
            <a:off x="342900" y="1419606"/>
            <a:ext cx="1776222" cy="205740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C7F95F08-5406-42D6-E622-AE363F29A5E9}"/>
              </a:ext>
            </a:extLst>
          </p:cNvPr>
          <p:cNvSpPr/>
          <p:nvPr/>
        </p:nvSpPr>
        <p:spPr>
          <a:xfrm>
            <a:off x="2153412" y="1392174"/>
            <a:ext cx="4800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13" b="1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74%</a:t>
            </a:r>
            <a:endParaRPr lang="en-US" sz="713" dirty="0">
              <a:latin typeface="Reddit Sans"/>
              <a:ea typeface="Reddit Sans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20DDEE67-6C97-8165-5A31-5E0D0436F7EB}"/>
              </a:ext>
            </a:extLst>
          </p:cNvPr>
          <p:cNvSpPr/>
          <p:nvPr/>
        </p:nvSpPr>
        <p:spPr>
          <a:xfrm>
            <a:off x="342900" y="1625346"/>
            <a:ext cx="240030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00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Promedio industria</a:t>
            </a:r>
            <a:endParaRPr lang="en-US" sz="600" dirty="0">
              <a:latin typeface="Reddit Sans"/>
              <a:ea typeface="Reddit Sans"/>
            </a:endParaRPr>
          </a:p>
        </p:txBody>
      </p:sp>
      <p:sp>
        <p:nvSpPr>
          <p:cNvPr id="38" name="Shape 17">
            <a:extLst>
              <a:ext uri="{FF2B5EF4-FFF2-40B4-BE49-F238E27FC236}">
                <a16:creationId xmlns:a16="http://schemas.microsoft.com/office/drawing/2014/main" id="{B308DEC5-C548-CFDA-1ECC-2A01350FFA89}"/>
              </a:ext>
            </a:extLst>
          </p:cNvPr>
          <p:cNvSpPr/>
          <p:nvPr/>
        </p:nvSpPr>
        <p:spPr>
          <a:xfrm>
            <a:off x="342900" y="1762506"/>
            <a:ext cx="2400300" cy="205740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40" name="Shape 18">
            <a:extLst>
              <a:ext uri="{FF2B5EF4-FFF2-40B4-BE49-F238E27FC236}">
                <a16:creationId xmlns:a16="http://schemas.microsoft.com/office/drawing/2014/main" id="{0B5EE023-57D3-3DF5-7BE4-4E79AD840914}"/>
              </a:ext>
            </a:extLst>
          </p:cNvPr>
          <p:cNvSpPr/>
          <p:nvPr/>
        </p:nvSpPr>
        <p:spPr>
          <a:xfrm>
            <a:off x="342900" y="1762506"/>
            <a:ext cx="1920240" cy="205740"/>
          </a:xfrm>
          <a:prstGeom prst="rect">
            <a:avLst/>
          </a:prstGeom>
          <a:solidFill>
            <a:srgbClr val="132346"/>
          </a:solidFill>
          <a:ln/>
        </p:spPr>
      </p:sp>
      <p:sp>
        <p:nvSpPr>
          <p:cNvPr id="42" name="Text 19">
            <a:extLst>
              <a:ext uri="{FF2B5EF4-FFF2-40B4-BE49-F238E27FC236}">
                <a16:creationId xmlns:a16="http://schemas.microsoft.com/office/drawing/2014/main" id="{5A560491-22C4-E4BF-1450-C465923513F1}"/>
              </a:ext>
            </a:extLst>
          </p:cNvPr>
          <p:cNvSpPr/>
          <p:nvPr/>
        </p:nvSpPr>
        <p:spPr>
          <a:xfrm>
            <a:off x="2297430" y="1735074"/>
            <a:ext cx="4800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13" b="1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80%</a:t>
            </a:r>
            <a:endParaRPr lang="en-US" sz="713" dirty="0">
              <a:latin typeface="Reddit Sans"/>
              <a:ea typeface="Reddit Sans"/>
            </a:endParaRPr>
          </a:p>
        </p:txBody>
      </p:sp>
      <p:sp>
        <p:nvSpPr>
          <p:cNvPr id="44" name="Text 20">
            <a:extLst>
              <a:ext uri="{FF2B5EF4-FFF2-40B4-BE49-F238E27FC236}">
                <a16:creationId xmlns:a16="http://schemas.microsoft.com/office/drawing/2014/main" id="{7A368D3E-16CE-D205-0CBF-828259F10ECC}"/>
              </a:ext>
            </a:extLst>
          </p:cNvPr>
          <p:cNvSpPr/>
          <p:nvPr/>
        </p:nvSpPr>
        <p:spPr>
          <a:xfrm>
            <a:off x="342900" y="1968246"/>
            <a:ext cx="240030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00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World-Class</a:t>
            </a:r>
            <a:endParaRPr lang="en-US" sz="600" dirty="0">
              <a:latin typeface="Reddit Sans"/>
              <a:ea typeface="Reddit Sans"/>
            </a:endParaRPr>
          </a:p>
        </p:txBody>
      </p:sp>
      <p:sp>
        <p:nvSpPr>
          <p:cNvPr id="46" name="Shape 21">
            <a:extLst>
              <a:ext uri="{FF2B5EF4-FFF2-40B4-BE49-F238E27FC236}">
                <a16:creationId xmlns:a16="http://schemas.microsoft.com/office/drawing/2014/main" id="{F6A60DC0-77B2-FA94-DDF6-34FF70C5F5AA}"/>
              </a:ext>
            </a:extLst>
          </p:cNvPr>
          <p:cNvSpPr/>
          <p:nvPr/>
        </p:nvSpPr>
        <p:spPr>
          <a:xfrm>
            <a:off x="342900" y="2105406"/>
            <a:ext cx="2400300" cy="205740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48" name="Shape 22">
            <a:extLst>
              <a:ext uri="{FF2B5EF4-FFF2-40B4-BE49-F238E27FC236}">
                <a16:creationId xmlns:a16="http://schemas.microsoft.com/office/drawing/2014/main" id="{E5837D9F-BB91-C020-A40F-21DCA6983F78}"/>
              </a:ext>
            </a:extLst>
          </p:cNvPr>
          <p:cNvSpPr/>
          <p:nvPr/>
        </p:nvSpPr>
        <p:spPr>
          <a:xfrm>
            <a:off x="342900" y="2105406"/>
            <a:ext cx="2040255" cy="205740"/>
          </a:xfrm>
          <a:prstGeom prst="rect">
            <a:avLst/>
          </a:prstGeom>
          <a:solidFill>
            <a:srgbClr val="8B3A0F"/>
          </a:solidFill>
          <a:ln/>
        </p:spPr>
      </p:sp>
      <p:sp>
        <p:nvSpPr>
          <p:cNvPr id="50" name="Text 23">
            <a:extLst>
              <a:ext uri="{FF2B5EF4-FFF2-40B4-BE49-F238E27FC236}">
                <a16:creationId xmlns:a16="http://schemas.microsoft.com/office/drawing/2014/main" id="{EF3C7360-D95E-C5C5-7A68-63874AE54EF7}"/>
              </a:ext>
            </a:extLst>
          </p:cNvPr>
          <p:cNvSpPr/>
          <p:nvPr/>
        </p:nvSpPr>
        <p:spPr>
          <a:xfrm>
            <a:off x="2417445" y="2077974"/>
            <a:ext cx="4800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13" b="1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85%</a:t>
            </a:r>
            <a:endParaRPr lang="en-US" sz="713" dirty="0">
              <a:latin typeface="Reddit Sans"/>
              <a:ea typeface="Reddit Sans"/>
            </a:endParaRPr>
          </a:p>
        </p:txBody>
      </p:sp>
      <p:sp>
        <p:nvSpPr>
          <p:cNvPr id="52" name="Text 24">
            <a:extLst>
              <a:ext uri="{FF2B5EF4-FFF2-40B4-BE49-F238E27FC236}">
                <a16:creationId xmlns:a16="http://schemas.microsoft.com/office/drawing/2014/main" id="{1085DA1E-EC79-7A0C-EAEA-7B2442F3351E}"/>
              </a:ext>
            </a:extLst>
          </p:cNvPr>
          <p:cNvSpPr/>
          <p:nvPr/>
        </p:nvSpPr>
        <p:spPr>
          <a:xfrm>
            <a:off x="342900" y="2311146"/>
            <a:ext cx="240030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00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Gen Next N5</a:t>
            </a:r>
            <a:endParaRPr lang="en-US" sz="600" dirty="0">
              <a:latin typeface="Reddit Sans"/>
              <a:ea typeface="Reddit Sans"/>
            </a:endParaRPr>
          </a:p>
        </p:txBody>
      </p:sp>
      <p:sp>
        <p:nvSpPr>
          <p:cNvPr id="54" name="Shape 25">
            <a:extLst>
              <a:ext uri="{FF2B5EF4-FFF2-40B4-BE49-F238E27FC236}">
                <a16:creationId xmlns:a16="http://schemas.microsoft.com/office/drawing/2014/main" id="{9CA8A6AC-7668-BD90-D2C4-D147559C190C}"/>
              </a:ext>
            </a:extLst>
          </p:cNvPr>
          <p:cNvSpPr/>
          <p:nvPr/>
        </p:nvSpPr>
        <p:spPr>
          <a:xfrm>
            <a:off x="342900" y="2276856"/>
            <a:ext cx="2606040" cy="288036"/>
          </a:xfrm>
          <a:prstGeom prst="roundRect">
            <a:avLst>
              <a:gd name="adj" fmla="val 9524"/>
            </a:avLst>
          </a:prstGeom>
          <a:solidFill>
            <a:srgbClr val="FDECEA"/>
          </a:solidFill>
          <a:ln w="9525">
            <a:solidFill>
              <a:srgbClr val="B3261E"/>
            </a:solidFill>
            <a:prstDash val="solid"/>
          </a:ln>
        </p:spPr>
      </p:sp>
      <p:sp>
        <p:nvSpPr>
          <p:cNvPr id="56" name="Text 26">
            <a:extLst>
              <a:ext uri="{FF2B5EF4-FFF2-40B4-BE49-F238E27FC236}">
                <a16:creationId xmlns:a16="http://schemas.microsoft.com/office/drawing/2014/main" id="{35BE8E9F-9337-71F4-6C37-716C476E784C}"/>
              </a:ext>
            </a:extLst>
          </p:cNvPr>
          <p:cNvSpPr/>
          <p:nvPr/>
        </p:nvSpPr>
        <p:spPr>
          <a:xfrm>
            <a:off x="377190" y="2290572"/>
            <a:ext cx="25374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13" b="1" dirty="0">
                <a:solidFill>
                  <a:srgbClr val="B3261E"/>
                </a:solidFill>
                <a:latin typeface="Reddit Sans"/>
                <a:ea typeface="Reddit Sans"/>
                <a:cs typeface="Calibri Light" pitchFamily="34" charset="-120"/>
              </a:rPr>
              <a:t>PS: 0 mesas miden FCR formalmente</a:t>
            </a:r>
            <a:endParaRPr lang="en-US" sz="713" dirty="0">
              <a:latin typeface="Reddit Sans"/>
              <a:ea typeface="Reddit Sans"/>
            </a:endParaRPr>
          </a:p>
        </p:txBody>
      </p:sp>
      <p:sp>
        <p:nvSpPr>
          <p:cNvPr id="58" name="Text 27">
            <a:extLst>
              <a:ext uri="{FF2B5EF4-FFF2-40B4-BE49-F238E27FC236}">
                <a16:creationId xmlns:a16="http://schemas.microsoft.com/office/drawing/2014/main" id="{539FA0D7-2A38-6009-8608-50DBD69E6DA5}"/>
              </a:ext>
            </a:extLst>
          </p:cNvPr>
          <p:cNvSpPr/>
          <p:nvPr/>
        </p:nvSpPr>
        <p:spPr>
          <a:xfrm>
            <a:off x="342900" y="2948940"/>
            <a:ext cx="26746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Deflection Rate (N0 Autoservicio)</a:t>
            </a:r>
            <a:endParaRPr lang="en-US" sz="825" dirty="0">
              <a:latin typeface="Reddit Sans"/>
              <a:ea typeface="Reddit Sans"/>
            </a:endParaRPr>
          </a:p>
        </p:txBody>
      </p:sp>
      <p:sp>
        <p:nvSpPr>
          <p:cNvPr id="60" name="Shape 28">
            <a:extLst>
              <a:ext uri="{FF2B5EF4-FFF2-40B4-BE49-F238E27FC236}">
                <a16:creationId xmlns:a16="http://schemas.microsoft.com/office/drawing/2014/main" id="{4D9E0AA8-E7EA-1BE1-260D-570EB819F7C3}"/>
              </a:ext>
            </a:extLst>
          </p:cNvPr>
          <p:cNvSpPr/>
          <p:nvPr/>
        </p:nvSpPr>
        <p:spPr>
          <a:xfrm>
            <a:off x="342900" y="3175254"/>
            <a:ext cx="2400300" cy="205740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62" name="Shape 29">
            <a:extLst>
              <a:ext uri="{FF2B5EF4-FFF2-40B4-BE49-F238E27FC236}">
                <a16:creationId xmlns:a16="http://schemas.microsoft.com/office/drawing/2014/main" id="{70832193-8B34-C568-7C84-CBA83BF491B2}"/>
              </a:ext>
            </a:extLst>
          </p:cNvPr>
          <p:cNvSpPr/>
          <p:nvPr/>
        </p:nvSpPr>
        <p:spPr>
          <a:xfrm>
            <a:off x="342900" y="3175254"/>
            <a:ext cx="552069" cy="205740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64" name="Text 30">
            <a:extLst>
              <a:ext uri="{FF2B5EF4-FFF2-40B4-BE49-F238E27FC236}">
                <a16:creationId xmlns:a16="http://schemas.microsoft.com/office/drawing/2014/main" id="{AAB32707-C267-BE86-B6BB-AC7318F7DDD1}"/>
              </a:ext>
            </a:extLst>
          </p:cNvPr>
          <p:cNvSpPr/>
          <p:nvPr/>
        </p:nvSpPr>
        <p:spPr>
          <a:xfrm>
            <a:off x="342900" y="3380994"/>
            <a:ext cx="240030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00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23%  industria promedio</a:t>
            </a:r>
            <a:endParaRPr lang="en-US" sz="600" dirty="0">
              <a:latin typeface="Reddit Sans"/>
              <a:ea typeface="Reddit Sans"/>
            </a:endParaRPr>
          </a:p>
        </p:txBody>
      </p:sp>
      <p:sp>
        <p:nvSpPr>
          <p:cNvPr id="66" name="Shape 31">
            <a:extLst>
              <a:ext uri="{FF2B5EF4-FFF2-40B4-BE49-F238E27FC236}">
                <a16:creationId xmlns:a16="http://schemas.microsoft.com/office/drawing/2014/main" id="{90C4C1FF-01DD-78F3-A4AE-BB0B56A0127E}"/>
              </a:ext>
            </a:extLst>
          </p:cNvPr>
          <p:cNvSpPr/>
          <p:nvPr/>
        </p:nvSpPr>
        <p:spPr>
          <a:xfrm>
            <a:off x="342900" y="3518154"/>
            <a:ext cx="2400300" cy="205740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68" name="Shape 32">
            <a:extLst>
              <a:ext uri="{FF2B5EF4-FFF2-40B4-BE49-F238E27FC236}">
                <a16:creationId xmlns:a16="http://schemas.microsoft.com/office/drawing/2014/main" id="{9EB2D265-74EF-8777-2BF4-8044DAB87CFE}"/>
              </a:ext>
            </a:extLst>
          </p:cNvPr>
          <p:cNvSpPr/>
          <p:nvPr/>
        </p:nvSpPr>
        <p:spPr>
          <a:xfrm>
            <a:off x="342900" y="3518154"/>
            <a:ext cx="1200150" cy="205740"/>
          </a:xfrm>
          <a:prstGeom prst="rect">
            <a:avLst/>
          </a:prstGeom>
          <a:solidFill>
            <a:srgbClr val="132346"/>
          </a:solidFill>
          <a:ln/>
        </p:spPr>
      </p:sp>
      <p:sp>
        <p:nvSpPr>
          <p:cNvPr id="70" name="Text 33">
            <a:extLst>
              <a:ext uri="{FF2B5EF4-FFF2-40B4-BE49-F238E27FC236}">
                <a16:creationId xmlns:a16="http://schemas.microsoft.com/office/drawing/2014/main" id="{DB2CEB3C-CBB8-AFCC-DBC5-8D4132C0F7C5}"/>
              </a:ext>
            </a:extLst>
          </p:cNvPr>
          <p:cNvSpPr/>
          <p:nvPr/>
        </p:nvSpPr>
        <p:spPr>
          <a:xfrm>
            <a:off x="342900" y="3723894"/>
            <a:ext cx="240030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00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50%  maduro</a:t>
            </a:r>
            <a:endParaRPr lang="en-US" sz="600" dirty="0">
              <a:latin typeface="Reddit Sans"/>
              <a:ea typeface="Reddit Sans"/>
            </a:endParaRPr>
          </a:p>
        </p:txBody>
      </p:sp>
      <p:sp>
        <p:nvSpPr>
          <p:cNvPr id="72" name="Shape 34">
            <a:extLst>
              <a:ext uri="{FF2B5EF4-FFF2-40B4-BE49-F238E27FC236}">
                <a16:creationId xmlns:a16="http://schemas.microsoft.com/office/drawing/2014/main" id="{CFB6BD04-D84F-D693-9072-9422B490E85B}"/>
              </a:ext>
            </a:extLst>
          </p:cNvPr>
          <p:cNvSpPr/>
          <p:nvPr/>
        </p:nvSpPr>
        <p:spPr>
          <a:xfrm>
            <a:off x="342900" y="3861054"/>
            <a:ext cx="2400300" cy="205740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74" name="Shape 35">
            <a:extLst>
              <a:ext uri="{FF2B5EF4-FFF2-40B4-BE49-F238E27FC236}">
                <a16:creationId xmlns:a16="http://schemas.microsoft.com/office/drawing/2014/main" id="{BD623A1C-F698-B45C-52F7-33226E3BD199}"/>
              </a:ext>
            </a:extLst>
          </p:cNvPr>
          <p:cNvSpPr/>
          <p:nvPr/>
        </p:nvSpPr>
        <p:spPr>
          <a:xfrm>
            <a:off x="342900" y="3861054"/>
            <a:ext cx="2040255" cy="205740"/>
          </a:xfrm>
          <a:prstGeom prst="rect">
            <a:avLst/>
          </a:prstGeom>
          <a:solidFill>
            <a:srgbClr val="8B3A0F"/>
          </a:solidFill>
          <a:ln/>
        </p:spPr>
      </p:sp>
      <p:sp>
        <p:nvSpPr>
          <p:cNvPr id="76" name="Text 36">
            <a:extLst>
              <a:ext uri="{FF2B5EF4-FFF2-40B4-BE49-F238E27FC236}">
                <a16:creationId xmlns:a16="http://schemas.microsoft.com/office/drawing/2014/main" id="{EB28BC49-89A4-451A-A0C8-9B087B9018BD}"/>
              </a:ext>
            </a:extLst>
          </p:cNvPr>
          <p:cNvSpPr/>
          <p:nvPr/>
        </p:nvSpPr>
        <p:spPr>
          <a:xfrm>
            <a:off x="342900" y="4066794"/>
            <a:ext cx="240030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00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85%+  Gen Next IA agéntica</a:t>
            </a:r>
            <a:endParaRPr lang="en-US" sz="600" dirty="0">
              <a:latin typeface="Reddit Sans"/>
              <a:ea typeface="Reddit Sans"/>
            </a:endParaRPr>
          </a:p>
        </p:txBody>
      </p:sp>
      <p:sp>
        <p:nvSpPr>
          <p:cNvPr id="78" name="Shape 37">
            <a:extLst>
              <a:ext uri="{FF2B5EF4-FFF2-40B4-BE49-F238E27FC236}">
                <a16:creationId xmlns:a16="http://schemas.microsoft.com/office/drawing/2014/main" id="{A095DDDC-A2AA-B747-0C27-32C3290CC2B2}"/>
              </a:ext>
            </a:extLst>
          </p:cNvPr>
          <p:cNvSpPr/>
          <p:nvPr/>
        </p:nvSpPr>
        <p:spPr>
          <a:xfrm>
            <a:off x="342900" y="4046220"/>
            <a:ext cx="2606040" cy="246888"/>
          </a:xfrm>
          <a:prstGeom prst="roundRect">
            <a:avLst>
              <a:gd name="adj" fmla="val 11111"/>
            </a:avLst>
          </a:prstGeom>
          <a:solidFill>
            <a:srgbClr val="FDECEA"/>
          </a:solidFill>
          <a:ln w="9525">
            <a:solidFill>
              <a:srgbClr val="B3261E"/>
            </a:solidFill>
            <a:prstDash val="solid"/>
          </a:ln>
        </p:spPr>
      </p:sp>
      <p:sp>
        <p:nvSpPr>
          <p:cNvPr id="80" name="Text 38">
            <a:extLst>
              <a:ext uri="{FF2B5EF4-FFF2-40B4-BE49-F238E27FC236}">
                <a16:creationId xmlns:a16="http://schemas.microsoft.com/office/drawing/2014/main" id="{95060A94-29DF-564A-B03D-02ABD1268F06}"/>
              </a:ext>
            </a:extLst>
          </p:cNvPr>
          <p:cNvSpPr/>
          <p:nvPr/>
        </p:nvSpPr>
        <p:spPr>
          <a:xfrm>
            <a:off x="377190" y="4059936"/>
            <a:ext cx="25374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13" b="1" dirty="0">
                <a:solidFill>
                  <a:srgbClr val="B3261E"/>
                </a:solidFill>
                <a:latin typeface="Reddit Sans"/>
                <a:ea typeface="Reddit Sans"/>
                <a:cs typeface="Calibri Light" pitchFamily="34" charset="-120"/>
              </a:rPr>
              <a:t>PS: 0% deflexión — ninguna mesa tiene N0</a:t>
            </a:r>
            <a:endParaRPr lang="en-US" sz="713" dirty="0">
              <a:latin typeface="Reddit Sans"/>
              <a:ea typeface="Reddit Sans"/>
            </a:endParaRPr>
          </a:p>
        </p:txBody>
      </p:sp>
      <p:sp>
        <p:nvSpPr>
          <p:cNvPr id="82" name="Text 39">
            <a:extLst>
              <a:ext uri="{FF2B5EF4-FFF2-40B4-BE49-F238E27FC236}">
                <a16:creationId xmlns:a16="http://schemas.microsoft.com/office/drawing/2014/main" id="{3705AF17-98B1-CB6E-452A-FD4FF6424F2B}"/>
              </a:ext>
            </a:extLst>
          </p:cNvPr>
          <p:cNvSpPr/>
          <p:nvPr/>
        </p:nvSpPr>
        <p:spPr>
          <a:xfrm>
            <a:off x="3154680" y="1179576"/>
            <a:ext cx="26746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MTTR (Mean Time to Resolution)</a:t>
            </a:r>
            <a:endParaRPr lang="en-US" sz="825" dirty="0">
              <a:latin typeface="Reddit Sans"/>
              <a:ea typeface="Reddit Sans"/>
            </a:endParaRPr>
          </a:p>
        </p:txBody>
      </p:sp>
      <p:sp>
        <p:nvSpPr>
          <p:cNvPr id="84" name="Shape 40">
            <a:extLst>
              <a:ext uri="{FF2B5EF4-FFF2-40B4-BE49-F238E27FC236}">
                <a16:creationId xmlns:a16="http://schemas.microsoft.com/office/drawing/2014/main" id="{596EA5D7-F4A1-B0EF-4982-9DCD55CD92B0}"/>
              </a:ext>
            </a:extLst>
          </p:cNvPr>
          <p:cNvSpPr/>
          <p:nvPr/>
        </p:nvSpPr>
        <p:spPr>
          <a:xfrm>
            <a:off x="3154680" y="1405890"/>
            <a:ext cx="2400300" cy="150876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86" name="Shape 41">
            <a:extLst>
              <a:ext uri="{FF2B5EF4-FFF2-40B4-BE49-F238E27FC236}">
                <a16:creationId xmlns:a16="http://schemas.microsoft.com/office/drawing/2014/main" id="{1C1CE12B-C7E1-FCBF-4631-4B7297DCF13A}"/>
              </a:ext>
            </a:extLst>
          </p:cNvPr>
          <p:cNvSpPr/>
          <p:nvPr/>
        </p:nvSpPr>
        <p:spPr>
          <a:xfrm>
            <a:off x="3307080" y="1558290"/>
            <a:ext cx="2400300" cy="150876"/>
          </a:xfrm>
          <a:prstGeom prst="rect">
            <a:avLst/>
          </a:prstGeom>
          <a:solidFill>
            <a:srgbClr val="C0C8D2"/>
          </a:solidFill>
          <a:ln/>
        </p:spPr>
      </p:sp>
      <p:sp>
        <p:nvSpPr>
          <p:cNvPr id="88" name="Text 42">
            <a:extLst>
              <a:ext uri="{FF2B5EF4-FFF2-40B4-BE49-F238E27FC236}">
                <a16:creationId xmlns:a16="http://schemas.microsoft.com/office/drawing/2014/main" id="{B8E73687-6093-AC14-9310-5DDA044F4841}"/>
              </a:ext>
            </a:extLst>
          </p:cNvPr>
          <p:cNvSpPr/>
          <p:nvPr/>
        </p:nvSpPr>
        <p:spPr>
          <a:xfrm>
            <a:off x="3154680" y="1556766"/>
            <a:ext cx="2400300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25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Promedio · 8.85h</a:t>
            </a:r>
            <a:endParaRPr lang="en-US" sz="525" dirty="0">
              <a:latin typeface="Reddit Sans"/>
              <a:ea typeface="Reddit Sans"/>
            </a:endParaRPr>
          </a:p>
        </p:txBody>
      </p:sp>
      <p:sp>
        <p:nvSpPr>
          <p:cNvPr id="90" name="Shape 43">
            <a:extLst>
              <a:ext uri="{FF2B5EF4-FFF2-40B4-BE49-F238E27FC236}">
                <a16:creationId xmlns:a16="http://schemas.microsoft.com/office/drawing/2014/main" id="{CBA98464-351F-7358-0840-C058BBD0AF56}"/>
              </a:ext>
            </a:extLst>
          </p:cNvPr>
          <p:cNvSpPr/>
          <p:nvPr/>
        </p:nvSpPr>
        <p:spPr>
          <a:xfrm>
            <a:off x="3154680" y="1645920"/>
            <a:ext cx="2400300" cy="150876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92" name="Shape 44">
            <a:extLst>
              <a:ext uri="{FF2B5EF4-FFF2-40B4-BE49-F238E27FC236}">
                <a16:creationId xmlns:a16="http://schemas.microsoft.com/office/drawing/2014/main" id="{E7ED4063-99F3-7B8B-4FB0-3AB258B729CB}"/>
              </a:ext>
            </a:extLst>
          </p:cNvPr>
          <p:cNvSpPr/>
          <p:nvPr/>
        </p:nvSpPr>
        <p:spPr>
          <a:xfrm>
            <a:off x="3154680" y="1645920"/>
            <a:ext cx="1320165" cy="150876"/>
          </a:xfrm>
          <a:prstGeom prst="rect">
            <a:avLst/>
          </a:prstGeom>
          <a:solidFill>
            <a:srgbClr val="017490"/>
          </a:solidFill>
          <a:ln/>
        </p:spPr>
      </p:sp>
      <p:sp>
        <p:nvSpPr>
          <p:cNvPr id="94" name="Text 45">
            <a:extLst>
              <a:ext uri="{FF2B5EF4-FFF2-40B4-BE49-F238E27FC236}">
                <a16:creationId xmlns:a16="http://schemas.microsoft.com/office/drawing/2014/main" id="{DA341197-79A5-1570-0503-A4A90BAEEE80}"/>
              </a:ext>
            </a:extLst>
          </p:cNvPr>
          <p:cNvSpPr/>
          <p:nvPr/>
        </p:nvSpPr>
        <p:spPr>
          <a:xfrm>
            <a:off x="3154680" y="1796796"/>
            <a:ext cx="2400300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25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Bueno · &lt;4h</a:t>
            </a:r>
            <a:endParaRPr lang="en-US" sz="525" dirty="0">
              <a:latin typeface="Reddit Sans"/>
              <a:ea typeface="Reddit Sans"/>
            </a:endParaRPr>
          </a:p>
        </p:txBody>
      </p:sp>
      <p:sp>
        <p:nvSpPr>
          <p:cNvPr id="96" name="Shape 46">
            <a:extLst>
              <a:ext uri="{FF2B5EF4-FFF2-40B4-BE49-F238E27FC236}">
                <a16:creationId xmlns:a16="http://schemas.microsoft.com/office/drawing/2014/main" id="{94D12513-3A3B-2A26-9158-655FFBF09603}"/>
              </a:ext>
            </a:extLst>
          </p:cNvPr>
          <p:cNvSpPr/>
          <p:nvPr/>
        </p:nvSpPr>
        <p:spPr>
          <a:xfrm>
            <a:off x="3154680" y="1885950"/>
            <a:ext cx="2400300" cy="150876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98" name="Shape 47">
            <a:extLst>
              <a:ext uri="{FF2B5EF4-FFF2-40B4-BE49-F238E27FC236}">
                <a16:creationId xmlns:a16="http://schemas.microsoft.com/office/drawing/2014/main" id="{36DB96D7-5199-E1E8-B706-F30201A5C15C}"/>
              </a:ext>
            </a:extLst>
          </p:cNvPr>
          <p:cNvSpPr/>
          <p:nvPr/>
        </p:nvSpPr>
        <p:spPr>
          <a:xfrm>
            <a:off x="3154680" y="1885950"/>
            <a:ext cx="360045" cy="150876"/>
          </a:xfrm>
          <a:prstGeom prst="rect">
            <a:avLst/>
          </a:prstGeom>
          <a:solidFill>
            <a:srgbClr val="132346"/>
          </a:solidFill>
          <a:ln/>
        </p:spPr>
      </p:sp>
      <p:sp>
        <p:nvSpPr>
          <p:cNvPr id="100" name="Text 48">
            <a:extLst>
              <a:ext uri="{FF2B5EF4-FFF2-40B4-BE49-F238E27FC236}">
                <a16:creationId xmlns:a16="http://schemas.microsoft.com/office/drawing/2014/main" id="{3828F00D-B303-1D6E-2EFA-4A73AA3990E7}"/>
              </a:ext>
            </a:extLst>
          </p:cNvPr>
          <p:cNvSpPr/>
          <p:nvPr/>
        </p:nvSpPr>
        <p:spPr>
          <a:xfrm>
            <a:off x="3154680" y="2036826"/>
            <a:ext cx="2400300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25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World-Class · &lt;1h</a:t>
            </a:r>
            <a:endParaRPr lang="en-US" sz="525" dirty="0">
              <a:latin typeface="Reddit Sans"/>
              <a:ea typeface="Reddit Sans"/>
            </a:endParaRPr>
          </a:p>
        </p:txBody>
      </p:sp>
      <p:sp>
        <p:nvSpPr>
          <p:cNvPr id="102" name="Shape 49">
            <a:extLst>
              <a:ext uri="{FF2B5EF4-FFF2-40B4-BE49-F238E27FC236}">
                <a16:creationId xmlns:a16="http://schemas.microsoft.com/office/drawing/2014/main" id="{2556255C-8894-6562-81A1-E83F1EE1D7B6}"/>
              </a:ext>
            </a:extLst>
          </p:cNvPr>
          <p:cNvSpPr/>
          <p:nvPr/>
        </p:nvSpPr>
        <p:spPr>
          <a:xfrm>
            <a:off x="3154680" y="2125980"/>
            <a:ext cx="2400300" cy="150876"/>
          </a:xfrm>
          <a:prstGeom prst="rect">
            <a:avLst/>
          </a:prstGeom>
          <a:solidFill>
            <a:srgbClr val="E4E9F0"/>
          </a:solidFill>
          <a:ln/>
        </p:spPr>
      </p:sp>
      <p:sp>
        <p:nvSpPr>
          <p:cNvPr id="104" name="Shape 50">
            <a:extLst>
              <a:ext uri="{FF2B5EF4-FFF2-40B4-BE49-F238E27FC236}">
                <a16:creationId xmlns:a16="http://schemas.microsoft.com/office/drawing/2014/main" id="{95D45A02-04CF-0DE8-FFBB-C189472EC4B8}"/>
              </a:ext>
            </a:extLst>
          </p:cNvPr>
          <p:cNvSpPr/>
          <p:nvPr/>
        </p:nvSpPr>
        <p:spPr>
          <a:xfrm>
            <a:off x="3154680" y="2125980"/>
            <a:ext cx="360045" cy="150876"/>
          </a:xfrm>
          <a:prstGeom prst="rect">
            <a:avLst/>
          </a:prstGeom>
          <a:solidFill>
            <a:srgbClr val="8B3A0F"/>
          </a:solidFill>
          <a:ln/>
        </p:spPr>
      </p:sp>
      <p:sp>
        <p:nvSpPr>
          <p:cNvPr id="106" name="Text 51">
            <a:extLst>
              <a:ext uri="{FF2B5EF4-FFF2-40B4-BE49-F238E27FC236}">
                <a16:creationId xmlns:a16="http://schemas.microsoft.com/office/drawing/2014/main" id="{3A99DC57-AA14-CBBE-C075-C73D61F3B3E8}"/>
              </a:ext>
            </a:extLst>
          </p:cNvPr>
          <p:cNvSpPr/>
          <p:nvPr/>
        </p:nvSpPr>
        <p:spPr>
          <a:xfrm>
            <a:off x="3154680" y="2276856"/>
            <a:ext cx="2400300" cy="9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25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Gen Next N5 · &lt;1h</a:t>
            </a:r>
            <a:endParaRPr lang="en-US" sz="525" dirty="0">
              <a:latin typeface="Reddit Sans"/>
              <a:ea typeface="Reddit Sans"/>
            </a:endParaRPr>
          </a:p>
        </p:txBody>
      </p:sp>
      <p:sp>
        <p:nvSpPr>
          <p:cNvPr id="108" name="Shape 52">
            <a:extLst>
              <a:ext uri="{FF2B5EF4-FFF2-40B4-BE49-F238E27FC236}">
                <a16:creationId xmlns:a16="http://schemas.microsoft.com/office/drawing/2014/main" id="{6A015F83-0C07-89C1-BBD7-9501A1F6BB69}"/>
              </a:ext>
            </a:extLst>
          </p:cNvPr>
          <p:cNvSpPr/>
          <p:nvPr/>
        </p:nvSpPr>
        <p:spPr>
          <a:xfrm>
            <a:off x="3154680" y="2400300"/>
            <a:ext cx="2606040" cy="116586"/>
          </a:xfrm>
          <a:prstGeom prst="roundRect">
            <a:avLst>
              <a:gd name="adj" fmla="val 17647"/>
            </a:avLst>
          </a:prstGeom>
          <a:solidFill>
            <a:srgbClr val="E8F5E9"/>
          </a:solidFill>
          <a:ln w="6350">
            <a:solidFill>
              <a:srgbClr val="1F7A4D"/>
            </a:solidFill>
            <a:prstDash val="solid"/>
          </a:ln>
        </p:spPr>
      </p:sp>
      <p:sp>
        <p:nvSpPr>
          <p:cNvPr id="110" name="Text 53">
            <a:extLst>
              <a:ext uri="{FF2B5EF4-FFF2-40B4-BE49-F238E27FC236}">
                <a16:creationId xmlns:a16="http://schemas.microsoft.com/office/drawing/2014/main" id="{056E4A3A-C4EC-D98A-4142-6EFD8302F7B1}"/>
              </a:ext>
            </a:extLst>
          </p:cNvPr>
          <p:cNvSpPr/>
          <p:nvPr/>
        </p:nvSpPr>
        <p:spPr>
          <a:xfrm>
            <a:off x="3209544" y="2400300"/>
            <a:ext cx="2523744" cy="1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38" b="1" dirty="0">
                <a:solidFill>
                  <a:srgbClr val="1F7A4D"/>
                </a:solidFill>
                <a:latin typeface="Reddit Sans"/>
                <a:ea typeface="Reddit Sans"/>
                <a:cs typeface="Calibri Light" pitchFamily="34" charset="-120"/>
              </a:rPr>
              <a:t>SURA Automatización: 2.98h ✓</a:t>
            </a:r>
            <a:endParaRPr lang="en-US" sz="638" dirty="0">
              <a:latin typeface="Reddit Sans"/>
              <a:ea typeface="Reddit Sans"/>
            </a:endParaRPr>
          </a:p>
        </p:txBody>
      </p:sp>
      <p:sp>
        <p:nvSpPr>
          <p:cNvPr id="112" name="Shape 54">
            <a:extLst>
              <a:ext uri="{FF2B5EF4-FFF2-40B4-BE49-F238E27FC236}">
                <a16:creationId xmlns:a16="http://schemas.microsoft.com/office/drawing/2014/main" id="{6E2F73F7-F96B-737C-C679-8512FE200D9B}"/>
              </a:ext>
            </a:extLst>
          </p:cNvPr>
          <p:cNvSpPr/>
          <p:nvPr/>
        </p:nvSpPr>
        <p:spPr>
          <a:xfrm>
            <a:off x="3154680" y="2530602"/>
            <a:ext cx="2606040" cy="116586"/>
          </a:xfrm>
          <a:prstGeom prst="roundRect">
            <a:avLst>
              <a:gd name="adj" fmla="val 17647"/>
            </a:avLst>
          </a:prstGeom>
          <a:solidFill>
            <a:srgbClr val="FDECEA"/>
          </a:solidFill>
          <a:ln w="6350">
            <a:solidFill>
              <a:srgbClr val="8B3A0F"/>
            </a:solidFill>
            <a:prstDash val="solid"/>
          </a:ln>
        </p:spPr>
      </p:sp>
      <p:sp>
        <p:nvSpPr>
          <p:cNvPr id="114" name="Text 55">
            <a:extLst>
              <a:ext uri="{FF2B5EF4-FFF2-40B4-BE49-F238E27FC236}">
                <a16:creationId xmlns:a16="http://schemas.microsoft.com/office/drawing/2014/main" id="{9609BFBD-4985-95FC-5ADD-6914DDD9B316}"/>
              </a:ext>
            </a:extLst>
          </p:cNvPr>
          <p:cNvSpPr/>
          <p:nvPr/>
        </p:nvSpPr>
        <p:spPr>
          <a:xfrm>
            <a:off x="3209544" y="2530602"/>
            <a:ext cx="2523744" cy="1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38" dirty="0">
                <a:solidFill>
                  <a:srgbClr val="8B3A0F"/>
                </a:solidFill>
                <a:latin typeface="Reddit Sans"/>
                <a:ea typeface="Reddit Sans"/>
                <a:cs typeface="Calibri Light" pitchFamily="34" charset="-120"/>
              </a:rPr>
              <a:t>SURA Venta Digital: 12.38h</a:t>
            </a:r>
            <a:endParaRPr lang="en-US" sz="638" dirty="0">
              <a:latin typeface="Reddit Sans"/>
              <a:ea typeface="Reddit Sans"/>
            </a:endParaRPr>
          </a:p>
        </p:txBody>
      </p:sp>
      <p:sp>
        <p:nvSpPr>
          <p:cNvPr id="116" name="Shape 56">
            <a:extLst>
              <a:ext uri="{FF2B5EF4-FFF2-40B4-BE49-F238E27FC236}">
                <a16:creationId xmlns:a16="http://schemas.microsoft.com/office/drawing/2014/main" id="{938D5ED9-D433-DD85-C4B8-E99A875CD05F}"/>
              </a:ext>
            </a:extLst>
          </p:cNvPr>
          <p:cNvSpPr/>
          <p:nvPr/>
        </p:nvSpPr>
        <p:spPr>
          <a:xfrm>
            <a:off x="3154680" y="2660904"/>
            <a:ext cx="2606040" cy="116586"/>
          </a:xfrm>
          <a:prstGeom prst="roundRect">
            <a:avLst>
              <a:gd name="adj" fmla="val 17647"/>
            </a:avLst>
          </a:prstGeom>
          <a:solidFill>
            <a:srgbClr val="FDECEA"/>
          </a:solidFill>
          <a:ln w="6350">
            <a:solidFill>
              <a:srgbClr val="B3261E"/>
            </a:solidFill>
            <a:prstDash val="solid"/>
          </a:ln>
        </p:spPr>
      </p:sp>
      <p:sp>
        <p:nvSpPr>
          <p:cNvPr id="118" name="Text 57">
            <a:extLst>
              <a:ext uri="{FF2B5EF4-FFF2-40B4-BE49-F238E27FC236}">
                <a16:creationId xmlns:a16="http://schemas.microsoft.com/office/drawing/2014/main" id="{5214960A-6525-210A-818A-34BF38955A4F}"/>
              </a:ext>
            </a:extLst>
          </p:cNvPr>
          <p:cNvSpPr/>
          <p:nvPr/>
        </p:nvSpPr>
        <p:spPr>
          <a:xfrm>
            <a:off x="3209544" y="2660904"/>
            <a:ext cx="2523744" cy="1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38" dirty="0">
                <a:solidFill>
                  <a:srgbClr val="B3261E"/>
                </a:solidFill>
                <a:latin typeface="Reddit Sans"/>
                <a:ea typeface="Reddit Sans"/>
                <a:cs typeface="Calibri Light" pitchFamily="34" charset="-120"/>
              </a:rPr>
              <a:t>SURA Canales Masivos: 17.92h</a:t>
            </a:r>
            <a:endParaRPr lang="en-US" sz="638" dirty="0">
              <a:latin typeface="Reddit Sans"/>
              <a:ea typeface="Reddit Sans"/>
            </a:endParaRPr>
          </a:p>
        </p:txBody>
      </p:sp>
      <p:sp>
        <p:nvSpPr>
          <p:cNvPr id="120" name="Shape 58">
            <a:extLst>
              <a:ext uri="{FF2B5EF4-FFF2-40B4-BE49-F238E27FC236}">
                <a16:creationId xmlns:a16="http://schemas.microsoft.com/office/drawing/2014/main" id="{C746B554-274C-B689-3FF3-EACF57D5D0C6}"/>
              </a:ext>
            </a:extLst>
          </p:cNvPr>
          <p:cNvSpPr/>
          <p:nvPr/>
        </p:nvSpPr>
        <p:spPr>
          <a:xfrm>
            <a:off x="3154680" y="2791206"/>
            <a:ext cx="2606040" cy="116586"/>
          </a:xfrm>
          <a:prstGeom prst="roundRect">
            <a:avLst>
              <a:gd name="adj" fmla="val 17647"/>
            </a:avLst>
          </a:prstGeom>
          <a:solidFill>
            <a:srgbClr val="FDECEA"/>
          </a:solidFill>
          <a:ln w="6350">
            <a:solidFill>
              <a:srgbClr val="B3261E"/>
            </a:solidFill>
            <a:prstDash val="solid"/>
          </a:ln>
        </p:spPr>
      </p:sp>
      <p:sp>
        <p:nvSpPr>
          <p:cNvPr id="122" name="Text 59">
            <a:extLst>
              <a:ext uri="{FF2B5EF4-FFF2-40B4-BE49-F238E27FC236}">
                <a16:creationId xmlns:a16="http://schemas.microsoft.com/office/drawing/2014/main" id="{12B56E0D-CF73-C191-1240-D0ACA6BF016C}"/>
              </a:ext>
            </a:extLst>
          </p:cNvPr>
          <p:cNvSpPr/>
          <p:nvPr/>
        </p:nvSpPr>
        <p:spPr>
          <a:xfrm>
            <a:off x="3209544" y="2791206"/>
            <a:ext cx="2523744" cy="1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38" dirty="0">
                <a:solidFill>
                  <a:srgbClr val="B3261E"/>
                </a:solidFill>
                <a:latin typeface="Reddit Sans"/>
                <a:ea typeface="Reddit Sans"/>
                <a:cs typeface="Calibri Light" pitchFamily="34" charset="-120"/>
              </a:rPr>
              <a:t>SURA Cotizadores: 24.58h ⚠</a:t>
            </a:r>
            <a:endParaRPr lang="en-US" sz="638" dirty="0">
              <a:latin typeface="Reddit Sans"/>
              <a:ea typeface="Reddit Sans"/>
            </a:endParaRPr>
          </a:p>
        </p:txBody>
      </p:sp>
      <p:sp>
        <p:nvSpPr>
          <p:cNvPr id="124" name="Text 60">
            <a:extLst>
              <a:ext uri="{FF2B5EF4-FFF2-40B4-BE49-F238E27FC236}">
                <a16:creationId xmlns:a16="http://schemas.microsoft.com/office/drawing/2014/main" id="{4E6C817B-68EC-4C05-CD4A-F1A58A313E52}"/>
              </a:ext>
            </a:extLst>
          </p:cNvPr>
          <p:cNvSpPr/>
          <p:nvPr/>
        </p:nvSpPr>
        <p:spPr>
          <a:xfrm>
            <a:off x="3154680" y="2948940"/>
            <a:ext cx="26746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Impacto GenAI en Métricas</a:t>
            </a:r>
            <a:endParaRPr lang="en-US" sz="825" dirty="0">
              <a:latin typeface="Reddit Sans"/>
              <a:ea typeface="Reddit Sans"/>
            </a:endParaRPr>
          </a:p>
        </p:txBody>
      </p:sp>
      <p:sp>
        <p:nvSpPr>
          <p:cNvPr id="126" name="Text 61">
            <a:extLst>
              <a:ext uri="{FF2B5EF4-FFF2-40B4-BE49-F238E27FC236}">
                <a16:creationId xmlns:a16="http://schemas.microsoft.com/office/drawing/2014/main" id="{6DD60170-BDA0-52A1-9867-873B9220DFAB}"/>
              </a:ext>
            </a:extLst>
          </p:cNvPr>
          <p:cNvSpPr/>
          <p:nvPr/>
        </p:nvSpPr>
        <p:spPr>
          <a:xfrm>
            <a:off x="3154680" y="3195828"/>
            <a:ext cx="137160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↓ MTTR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128" name="Shape 62">
            <a:extLst>
              <a:ext uri="{FF2B5EF4-FFF2-40B4-BE49-F238E27FC236}">
                <a16:creationId xmlns:a16="http://schemas.microsoft.com/office/drawing/2014/main" id="{46BCF342-D86D-56F1-0898-3C358C5ADCE5}"/>
              </a:ext>
            </a:extLst>
          </p:cNvPr>
          <p:cNvSpPr/>
          <p:nvPr/>
        </p:nvSpPr>
        <p:spPr>
          <a:xfrm>
            <a:off x="4594860" y="3223260"/>
            <a:ext cx="891540" cy="205740"/>
          </a:xfrm>
          <a:prstGeom prst="roundRect">
            <a:avLst>
              <a:gd name="adj" fmla="val 13333"/>
            </a:avLst>
          </a:prstGeom>
          <a:solidFill>
            <a:srgbClr val="1F7A4D"/>
          </a:solidFill>
          <a:ln/>
        </p:spPr>
      </p:sp>
      <p:sp>
        <p:nvSpPr>
          <p:cNvPr id="130" name="Text 63">
            <a:extLst>
              <a:ext uri="{FF2B5EF4-FFF2-40B4-BE49-F238E27FC236}">
                <a16:creationId xmlns:a16="http://schemas.microsoft.com/office/drawing/2014/main" id="{88C6C4FB-3AAE-F2B6-D326-766296D6FC18}"/>
              </a:ext>
            </a:extLst>
          </p:cNvPr>
          <p:cNvSpPr/>
          <p:nvPr/>
        </p:nvSpPr>
        <p:spPr>
          <a:xfrm>
            <a:off x="4573089" y="3234146"/>
            <a:ext cx="8915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eddit Sans"/>
                <a:ea typeface="Reddit Sans"/>
                <a:cs typeface="Calibri" pitchFamily="34" charset="-120"/>
              </a:rPr>
              <a:t>-26.6%</a:t>
            </a:r>
            <a:endParaRPr lang="en-US" sz="900" dirty="0">
              <a:latin typeface="Reddit Sans"/>
              <a:ea typeface="Reddit Sans"/>
            </a:endParaRPr>
          </a:p>
        </p:txBody>
      </p:sp>
      <p:sp>
        <p:nvSpPr>
          <p:cNvPr id="132" name="Text 64">
            <a:extLst>
              <a:ext uri="{FF2B5EF4-FFF2-40B4-BE49-F238E27FC236}">
                <a16:creationId xmlns:a16="http://schemas.microsoft.com/office/drawing/2014/main" id="{8E342286-9B82-8D7C-1490-E01E60F816EC}"/>
              </a:ext>
            </a:extLst>
          </p:cNvPr>
          <p:cNvSpPr/>
          <p:nvPr/>
        </p:nvSpPr>
        <p:spPr>
          <a:xfrm>
            <a:off x="3154680" y="3483864"/>
            <a:ext cx="137160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↑ Resolución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134" name="Shape 65">
            <a:extLst>
              <a:ext uri="{FF2B5EF4-FFF2-40B4-BE49-F238E27FC236}">
                <a16:creationId xmlns:a16="http://schemas.microsoft.com/office/drawing/2014/main" id="{17185A00-CB9A-A6C5-2F7C-95F08F61E9A2}"/>
              </a:ext>
            </a:extLst>
          </p:cNvPr>
          <p:cNvSpPr/>
          <p:nvPr/>
        </p:nvSpPr>
        <p:spPr>
          <a:xfrm>
            <a:off x="4594860" y="3511296"/>
            <a:ext cx="891540" cy="205740"/>
          </a:xfrm>
          <a:prstGeom prst="roundRect">
            <a:avLst>
              <a:gd name="adj" fmla="val 13333"/>
            </a:avLst>
          </a:prstGeom>
          <a:solidFill>
            <a:srgbClr val="017490"/>
          </a:solidFill>
          <a:ln/>
        </p:spPr>
      </p:sp>
      <p:sp>
        <p:nvSpPr>
          <p:cNvPr id="136" name="Text 66">
            <a:extLst>
              <a:ext uri="{FF2B5EF4-FFF2-40B4-BE49-F238E27FC236}">
                <a16:creationId xmlns:a16="http://schemas.microsoft.com/office/drawing/2014/main" id="{F1F5A6CA-3449-2AB1-93C8-F0D4F52C2103}"/>
              </a:ext>
            </a:extLst>
          </p:cNvPr>
          <p:cNvSpPr/>
          <p:nvPr/>
        </p:nvSpPr>
        <p:spPr>
          <a:xfrm>
            <a:off x="4649289" y="3511296"/>
            <a:ext cx="8915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eddit Sans"/>
                <a:ea typeface="Reddit Sans"/>
                <a:cs typeface="Calibri" pitchFamily="34" charset="-120"/>
              </a:rPr>
              <a:t>+34.6%</a:t>
            </a:r>
            <a:endParaRPr lang="en-US" sz="900" dirty="0">
              <a:latin typeface="Reddit Sans"/>
              <a:ea typeface="Reddit Sans"/>
            </a:endParaRPr>
          </a:p>
        </p:txBody>
      </p:sp>
      <p:sp>
        <p:nvSpPr>
          <p:cNvPr id="138" name="Text 67">
            <a:extLst>
              <a:ext uri="{FF2B5EF4-FFF2-40B4-BE49-F238E27FC236}">
                <a16:creationId xmlns:a16="http://schemas.microsoft.com/office/drawing/2014/main" id="{82B9DEF4-50D9-1CC5-1377-809DC1D12E37}"/>
              </a:ext>
            </a:extLst>
          </p:cNvPr>
          <p:cNvSpPr/>
          <p:nvPr/>
        </p:nvSpPr>
        <p:spPr>
          <a:xfrm>
            <a:off x="3154680" y="3771900"/>
            <a:ext cx="137160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↑ FCR con KCS+IA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140" name="Shape 68">
            <a:extLst>
              <a:ext uri="{FF2B5EF4-FFF2-40B4-BE49-F238E27FC236}">
                <a16:creationId xmlns:a16="http://schemas.microsoft.com/office/drawing/2014/main" id="{542F77AB-7070-2021-8171-76ABE774053E}"/>
              </a:ext>
            </a:extLst>
          </p:cNvPr>
          <p:cNvSpPr/>
          <p:nvPr/>
        </p:nvSpPr>
        <p:spPr>
          <a:xfrm>
            <a:off x="4594860" y="3799332"/>
            <a:ext cx="891540" cy="205740"/>
          </a:xfrm>
          <a:prstGeom prst="roundRect">
            <a:avLst>
              <a:gd name="adj" fmla="val 13333"/>
            </a:avLst>
          </a:prstGeom>
          <a:solidFill>
            <a:srgbClr val="017490"/>
          </a:solidFill>
          <a:ln/>
        </p:spPr>
      </p:sp>
      <p:sp>
        <p:nvSpPr>
          <p:cNvPr id="142" name="Text 69">
            <a:extLst>
              <a:ext uri="{FF2B5EF4-FFF2-40B4-BE49-F238E27FC236}">
                <a16:creationId xmlns:a16="http://schemas.microsoft.com/office/drawing/2014/main" id="{FBAB2337-1689-6F63-FD09-0197797CEC58}"/>
              </a:ext>
            </a:extLst>
          </p:cNvPr>
          <p:cNvSpPr/>
          <p:nvPr/>
        </p:nvSpPr>
        <p:spPr>
          <a:xfrm>
            <a:off x="4573089" y="3804775"/>
            <a:ext cx="8915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eddit Sans"/>
                <a:ea typeface="Reddit Sans"/>
                <a:cs typeface="Calibri" pitchFamily="34" charset="-120"/>
              </a:rPr>
              <a:t>+5-7 pts</a:t>
            </a:r>
            <a:endParaRPr lang="en-US" sz="900" dirty="0">
              <a:latin typeface="Reddit Sans"/>
              <a:ea typeface="Reddit Sans"/>
            </a:endParaRPr>
          </a:p>
        </p:txBody>
      </p:sp>
      <p:sp>
        <p:nvSpPr>
          <p:cNvPr id="144" name="Text 70">
            <a:extLst>
              <a:ext uri="{FF2B5EF4-FFF2-40B4-BE49-F238E27FC236}">
                <a16:creationId xmlns:a16="http://schemas.microsoft.com/office/drawing/2014/main" id="{2EDAEDCC-F71F-23A8-3CC3-1E7F7E1E6E4F}"/>
              </a:ext>
            </a:extLst>
          </p:cNvPr>
          <p:cNvSpPr/>
          <p:nvPr/>
        </p:nvSpPr>
        <p:spPr>
          <a:xfrm>
            <a:off x="3154680" y="4059936"/>
            <a:ext cx="137160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8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↑ CSAT con espera &lt;5min</a:t>
            </a:r>
            <a:endParaRPr lang="en-US" sz="938" dirty="0">
              <a:latin typeface="Reddit Sans"/>
              <a:ea typeface="Reddit Sans"/>
            </a:endParaRPr>
          </a:p>
        </p:txBody>
      </p:sp>
      <p:sp>
        <p:nvSpPr>
          <p:cNvPr id="146" name="Shape 71">
            <a:extLst>
              <a:ext uri="{FF2B5EF4-FFF2-40B4-BE49-F238E27FC236}">
                <a16:creationId xmlns:a16="http://schemas.microsoft.com/office/drawing/2014/main" id="{45AE4D72-8070-804A-53EA-DD0952334E21}"/>
              </a:ext>
            </a:extLst>
          </p:cNvPr>
          <p:cNvSpPr/>
          <p:nvPr/>
        </p:nvSpPr>
        <p:spPr>
          <a:xfrm>
            <a:off x="4594860" y="4087368"/>
            <a:ext cx="891540" cy="205740"/>
          </a:xfrm>
          <a:prstGeom prst="roundRect">
            <a:avLst>
              <a:gd name="adj" fmla="val 13333"/>
            </a:avLst>
          </a:prstGeom>
          <a:solidFill>
            <a:srgbClr val="1F7A4D"/>
          </a:solidFill>
          <a:ln/>
        </p:spPr>
      </p:sp>
      <p:sp>
        <p:nvSpPr>
          <p:cNvPr id="148" name="Text 72">
            <a:extLst>
              <a:ext uri="{FF2B5EF4-FFF2-40B4-BE49-F238E27FC236}">
                <a16:creationId xmlns:a16="http://schemas.microsoft.com/office/drawing/2014/main" id="{422E8ECF-BB45-82B4-C68C-A3599D3D6D98}"/>
              </a:ext>
            </a:extLst>
          </p:cNvPr>
          <p:cNvSpPr/>
          <p:nvPr/>
        </p:nvSpPr>
        <p:spPr>
          <a:xfrm>
            <a:off x="4649289" y="4087368"/>
            <a:ext cx="8915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Reddit Sans"/>
                <a:ea typeface="Reddit Sans"/>
                <a:cs typeface="Calibri" pitchFamily="34" charset="-120"/>
              </a:rPr>
              <a:t>+15-22 pts</a:t>
            </a:r>
            <a:endParaRPr lang="en-US" sz="900" dirty="0">
              <a:latin typeface="Reddit Sans"/>
              <a:ea typeface="Reddit Sans"/>
            </a:endParaRPr>
          </a:p>
        </p:txBody>
      </p:sp>
      <p:sp>
        <p:nvSpPr>
          <p:cNvPr id="150" name="Text 73">
            <a:extLst>
              <a:ext uri="{FF2B5EF4-FFF2-40B4-BE49-F238E27FC236}">
                <a16:creationId xmlns:a16="http://schemas.microsoft.com/office/drawing/2014/main" id="{3EA555CD-4F07-FEA5-911F-0F551A9E4415}"/>
              </a:ext>
            </a:extLst>
          </p:cNvPr>
          <p:cNvSpPr/>
          <p:nvPr/>
        </p:nvSpPr>
        <p:spPr>
          <a:xfrm>
            <a:off x="5897880" y="1179576"/>
            <a:ext cx="2880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2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Costo por Ticket (USD)</a:t>
            </a:r>
            <a:endParaRPr lang="en-US" sz="825" dirty="0">
              <a:latin typeface="Reddit Sans"/>
              <a:ea typeface="Reddit Sans"/>
            </a:endParaRPr>
          </a:p>
        </p:txBody>
      </p:sp>
      <p:sp>
        <p:nvSpPr>
          <p:cNvPr id="152" name="Shape 74">
            <a:extLst>
              <a:ext uri="{FF2B5EF4-FFF2-40B4-BE49-F238E27FC236}">
                <a16:creationId xmlns:a16="http://schemas.microsoft.com/office/drawing/2014/main" id="{3E7A724F-A3DF-D7FC-1134-85B4E34A83FB}"/>
              </a:ext>
            </a:extLst>
          </p:cNvPr>
          <p:cNvSpPr/>
          <p:nvPr/>
        </p:nvSpPr>
        <p:spPr>
          <a:xfrm>
            <a:off x="5897880" y="1426464"/>
            <a:ext cx="822960" cy="260604"/>
          </a:xfrm>
          <a:prstGeom prst="roundRect">
            <a:avLst>
              <a:gd name="adj" fmla="val 10526"/>
            </a:avLst>
          </a:prstGeom>
          <a:solidFill>
            <a:srgbClr val="E4E9F0"/>
          </a:solidFill>
          <a:ln/>
        </p:spPr>
      </p:sp>
      <p:sp>
        <p:nvSpPr>
          <p:cNvPr id="154" name="Text 75">
            <a:extLst>
              <a:ext uri="{FF2B5EF4-FFF2-40B4-BE49-F238E27FC236}">
                <a16:creationId xmlns:a16="http://schemas.microsoft.com/office/drawing/2014/main" id="{CF970A8E-3059-E6C3-7CB1-BC568269DE4B}"/>
              </a:ext>
            </a:extLst>
          </p:cNvPr>
          <p:cNvSpPr/>
          <p:nvPr/>
        </p:nvSpPr>
        <p:spPr>
          <a:xfrm>
            <a:off x="5966460" y="1426464"/>
            <a:ext cx="8229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50" b="1" dirty="0">
                <a:solidFill>
                  <a:srgbClr val="5A6472"/>
                </a:solidFill>
                <a:latin typeface="Reddit Sans"/>
                <a:ea typeface="Reddit Sans"/>
                <a:cs typeface="Calibri" pitchFamily="34" charset="-120"/>
              </a:rPr>
              <a:t>$2</a:t>
            </a:r>
            <a:endParaRPr lang="en-US" sz="1050" dirty="0">
              <a:latin typeface="Reddit Sans"/>
              <a:ea typeface="Reddit Sans"/>
            </a:endParaRPr>
          </a:p>
        </p:txBody>
      </p:sp>
      <p:sp>
        <p:nvSpPr>
          <p:cNvPr id="156" name="Text 76">
            <a:extLst>
              <a:ext uri="{FF2B5EF4-FFF2-40B4-BE49-F238E27FC236}">
                <a16:creationId xmlns:a16="http://schemas.microsoft.com/office/drawing/2014/main" id="{0AA8C38D-48F4-EE3D-699E-793E5983BAC5}"/>
              </a:ext>
            </a:extLst>
          </p:cNvPr>
          <p:cNvSpPr/>
          <p:nvPr/>
        </p:nvSpPr>
        <p:spPr>
          <a:xfrm>
            <a:off x="6858000" y="1426464"/>
            <a:ext cx="164592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50" dirty="0">
                <a:solidFill>
                  <a:srgbClr val="5A6472"/>
                </a:solidFill>
                <a:latin typeface="Reddit Sans"/>
                <a:ea typeface="Reddit Sans"/>
                <a:cs typeface="Calibri Light" pitchFamily="34" charset="-120"/>
              </a:rPr>
              <a:t>N0 · Autoservicio</a:t>
            </a:r>
            <a:endParaRPr lang="en-US" sz="750" dirty="0">
              <a:latin typeface="Reddit Sans"/>
              <a:ea typeface="Reddit Sans"/>
            </a:endParaRPr>
          </a:p>
        </p:txBody>
      </p:sp>
      <p:sp>
        <p:nvSpPr>
          <p:cNvPr id="158" name="Shape 77">
            <a:extLst>
              <a:ext uri="{FF2B5EF4-FFF2-40B4-BE49-F238E27FC236}">
                <a16:creationId xmlns:a16="http://schemas.microsoft.com/office/drawing/2014/main" id="{9B64831B-5ADE-2FEF-19C4-93B750B0A14F}"/>
              </a:ext>
            </a:extLst>
          </p:cNvPr>
          <p:cNvSpPr/>
          <p:nvPr/>
        </p:nvSpPr>
        <p:spPr>
          <a:xfrm>
            <a:off x="5897880" y="1783080"/>
            <a:ext cx="1783080" cy="260604"/>
          </a:xfrm>
          <a:prstGeom prst="roundRect">
            <a:avLst>
              <a:gd name="adj" fmla="val 10526"/>
            </a:avLst>
          </a:prstGeom>
          <a:solidFill>
            <a:srgbClr val="017490"/>
          </a:solidFill>
          <a:ln/>
        </p:spPr>
      </p:sp>
      <p:sp>
        <p:nvSpPr>
          <p:cNvPr id="160" name="Text 78">
            <a:extLst>
              <a:ext uri="{FF2B5EF4-FFF2-40B4-BE49-F238E27FC236}">
                <a16:creationId xmlns:a16="http://schemas.microsoft.com/office/drawing/2014/main" id="{F2D6E8D4-5E7A-64FA-2446-5EFFD61EB62A}"/>
              </a:ext>
            </a:extLst>
          </p:cNvPr>
          <p:cNvSpPr/>
          <p:nvPr/>
        </p:nvSpPr>
        <p:spPr>
          <a:xfrm>
            <a:off x="5966460" y="1783080"/>
            <a:ext cx="8229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Reddit Sans"/>
                <a:ea typeface="Reddit Sans"/>
                <a:cs typeface="Calibri" pitchFamily="34" charset="-120"/>
              </a:rPr>
              <a:t>$22-35</a:t>
            </a:r>
            <a:endParaRPr lang="en-US" sz="1050" dirty="0">
              <a:latin typeface="Reddit Sans"/>
              <a:ea typeface="Reddit Sans"/>
            </a:endParaRPr>
          </a:p>
        </p:txBody>
      </p:sp>
      <p:sp>
        <p:nvSpPr>
          <p:cNvPr id="162" name="Text 79">
            <a:extLst>
              <a:ext uri="{FF2B5EF4-FFF2-40B4-BE49-F238E27FC236}">
                <a16:creationId xmlns:a16="http://schemas.microsoft.com/office/drawing/2014/main" id="{62ACC994-21E9-C466-0DB7-A8F85F95BCFE}"/>
              </a:ext>
            </a:extLst>
          </p:cNvPr>
          <p:cNvSpPr/>
          <p:nvPr/>
        </p:nvSpPr>
        <p:spPr>
          <a:xfrm>
            <a:off x="6858000" y="1783080"/>
            <a:ext cx="164592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Reddit Sans"/>
                <a:ea typeface="Reddit Sans"/>
                <a:cs typeface="Calibri Light" pitchFamily="34" charset="-120"/>
              </a:rPr>
              <a:t>N1 · 1er contacto</a:t>
            </a:r>
            <a:endParaRPr lang="en-US" sz="750" dirty="0">
              <a:latin typeface="Reddit Sans"/>
              <a:ea typeface="Reddit Sans"/>
            </a:endParaRPr>
          </a:p>
        </p:txBody>
      </p:sp>
      <p:sp>
        <p:nvSpPr>
          <p:cNvPr id="164" name="Shape 80">
            <a:extLst>
              <a:ext uri="{FF2B5EF4-FFF2-40B4-BE49-F238E27FC236}">
                <a16:creationId xmlns:a16="http://schemas.microsoft.com/office/drawing/2014/main" id="{5F4B0C2C-A8B4-3ECA-6DE7-4BB478E5241B}"/>
              </a:ext>
            </a:extLst>
          </p:cNvPr>
          <p:cNvSpPr/>
          <p:nvPr/>
        </p:nvSpPr>
        <p:spPr>
          <a:xfrm>
            <a:off x="5897880" y="2139696"/>
            <a:ext cx="2194560" cy="260604"/>
          </a:xfrm>
          <a:prstGeom prst="roundRect">
            <a:avLst>
              <a:gd name="adj" fmla="val 10526"/>
            </a:avLst>
          </a:prstGeom>
          <a:solidFill>
            <a:srgbClr val="132346"/>
          </a:solidFill>
          <a:ln/>
        </p:spPr>
      </p:sp>
      <p:sp>
        <p:nvSpPr>
          <p:cNvPr id="166" name="Text 81">
            <a:extLst>
              <a:ext uri="{FF2B5EF4-FFF2-40B4-BE49-F238E27FC236}">
                <a16:creationId xmlns:a16="http://schemas.microsoft.com/office/drawing/2014/main" id="{5426C0E4-5F7E-2830-676C-0DD8C2DEF6A8}"/>
              </a:ext>
            </a:extLst>
          </p:cNvPr>
          <p:cNvSpPr/>
          <p:nvPr/>
        </p:nvSpPr>
        <p:spPr>
          <a:xfrm>
            <a:off x="5966460" y="2139696"/>
            <a:ext cx="8229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Reddit Sans"/>
                <a:ea typeface="Reddit Sans"/>
                <a:cs typeface="Calibri" pitchFamily="34" charset="-120"/>
              </a:rPr>
              <a:t>$69</a:t>
            </a:r>
            <a:endParaRPr lang="en-US" sz="1050" dirty="0">
              <a:latin typeface="Reddit Sans"/>
              <a:ea typeface="Reddit Sans"/>
            </a:endParaRPr>
          </a:p>
        </p:txBody>
      </p:sp>
      <p:sp>
        <p:nvSpPr>
          <p:cNvPr id="168" name="Text 82">
            <a:extLst>
              <a:ext uri="{FF2B5EF4-FFF2-40B4-BE49-F238E27FC236}">
                <a16:creationId xmlns:a16="http://schemas.microsoft.com/office/drawing/2014/main" id="{7A7B450A-08AF-BC03-E48D-AEDAF0428A58}"/>
              </a:ext>
            </a:extLst>
          </p:cNvPr>
          <p:cNvSpPr/>
          <p:nvPr/>
        </p:nvSpPr>
        <p:spPr>
          <a:xfrm>
            <a:off x="6858000" y="2139696"/>
            <a:ext cx="164592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Reddit Sans"/>
                <a:ea typeface="Reddit Sans"/>
                <a:cs typeface="Calibri Light" pitchFamily="34" charset="-120"/>
              </a:rPr>
              <a:t>N2 · Técnico</a:t>
            </a:r>
            <a:endParaRPr lang="en-US" sz="750" dirty="0">
              <a:latin typeface="Reddit Sans"/>
              <a:ea typeface="Reddit Sans"/>
            </a:endParaRPr>
          </a:p>
        </p:txBody>
      </p:sp>
      <p:sp>
        <p:nvSpPr>
          <p:cNvPr id="170" name="Shape 83">
            <a:extLst>
              <a:ext uri="{FF2B5EF4-FFF2-40B4-BE49-F238E27FC236}">
                <a16:creationId xmlns:a16="http://schemas.microsoft.com/office/drawing/2014/main" id="{EAC68774-0A0E-45A7-9CB6-3E305BC8A00B}"/>
              </a:ext>
            </a:extLst>
          </p:cNvPr>
          <p:cNvSpPr/>
          <p:nvPr/>
        </p:nvSpPr>
        <p:spPr>
          <a:xfrm>
            <a:off x="5897880" y="2496312"/>
            <a:ext cx="2743200" cy="260604"/>
          </a:xfrm>
          <a:prstGeom prst="roundRect">
            <a:avLst>
              <a:gd name="adj" fmla="val 10526"/>
            </a:avLst>
          </a:prstGeom>
          <a:solidFill>
            <a:srgbClr val="8B3A0F"/>
          </a:solidFill>
          <a:ln/>
        </p:spPr>
      </p:sp>
      <p:sp>
        <p:nvSpPr>
          <p:cNvPr id="172" name="Text 84">
            <a:extLst>
              <a:ext uri="{FF2B5EF4-FFF2-40B4-BE49-F238E27FC236}">
                <a16:creationId xmlns:a16="http://schemas.microsoft.com/office/drawing/2014/main" id="{274CE2CF-5823-AEAD-DEBE-3DF5AA9941B1}"/>
              </a:ext>
            </a:extLst>
          </p:cNvPr>
          <p:cNvSpPr/>
          <p:nvPr/>
        </p:nvSpPr>
        <p:spPr>
          <a:xfrm>
            <a:off x="5966460" y="2496312"/>
            <a:ext cx="82296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Reddit Sans"/>
                <a:ea typeface="Reddit Sans"/>
                <a:cs typeface="Calibri" pitchFamily="34" charset="-120"/>
              </a:rPr>
              <a:t>$104</a:t>
            </a:r>
            <a:endParaRPr lang="en-US" sz="1050" dirty="0">
              <a:latin typeface="Reddit Sans"/>
              <a:ea typeface="Reddit Sans"/>
            </a:endParaRPr>
          </a:p>
        </p:txBody>
      </p:sp>
      <p:sp>
        <p:nvSpPr>
          <p:cNvPr id="174" name="Text 85">
            <a:extLst>
              <a:ext uri="{FF2B5EF4-FFF2-40B4-BE49-F238E27FC236}">
                <a16:creationId xmlns:a16="http://schemas.microsoft.com/office/drawing/2014/main" id="{241F28EF-96FB-D06B-13AD-E1E69E4378B2}"/>
              </a:ext>
            </a:extLst>
          </p:cNvPr>
          <p:cNvSpPr/>
          <p:nvPr/>
        </p:nvSpPr>
        <p:spPr>
          <a:xfrm>
            <a:off x="6858000" y="2496312"/>
            <a:ext cx="164592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50" dirty="0">
                <a:solidFill>
                  <a:srgbClr val="FFFFFF"/>
                </a:solidFill>
                <a:latin typeface="Reddit Sans"/>
                <a:ea typeface="Reddit Sans"/>
                <a:cs typeface="Calibri Light" pitchFamily="34" charset="-120"/>
              </a:rPr>
              <a:t>N3 · Arquitecto</a:t>
            </a:r>
            <a:endParaRPr lang="en-US" sz="750" dirty="0">
              <a:latin typeface="Reddit Sans"/>
              <a:ea typeface="Reddit Sans"/>
            </a:endParaRPr>
          </a:p>
        </p:txBody>
      </p:sp>
      <p:sp>
        <p:nvSpPr>
          <p:cNvPr id="176" name="Shape 86">
            <a:extLst>
              <a:ext uri="{FF2B5EF4-FFF2-40B4-BE49-F238E27FC236}">
                <a16:creationId xmlns:a16="http://schemas.microsoft.com/office/drawing/2014/main" id="{C1F1D421-3972-ABAD-220B-D5684AB3E6B6}"/>
              </a:ext>
            </a:extLst>
          </p:cNvPr>
          <p:cNvSpPr/>
          <p:nvPr/>
        </p:nvSpPr>
        <p:spPr>
          <a:xfrm>
            <a:off x="5897880" y="2756916"/>
            <a:ext cx="2811780" cy="301752"/>
          </a:xfrm>
          <a:prstGeom prst="roundRect">
            <a:avLst>
              <a:gd name="adj" fmla="val 11364"/>
            </a:avLst>
          </a:prstGeom>
          <a:solidFill>
            <a:srgbClr val="E8F5E9"/>
          </a:solidFill>
          <a:ln w="9525">
            <a:solidFill>
              <a:srgbClr val="1F7A4D"/>
            </a:solidFill>
            <a:prstDash val="solid"/>
          </a:ln>
        </p:spPr>
      </p:sp>
      <p:sp>
        <p:nvSpPr>
          <p:cNvPr id="178" name="Text 87">
            <a:extLst>
              <a:ext uri="{FF2B5EF4-FFF2-40B4-BE49-F238E27FC236}">
                <a16:creationId xmlns:a16="http://schemas.microsoft.com/office/drawing/2014/main" id="{8A2B583B-B3C4-0552-D44E-A4AB1ACB77FE}"/>
              </a:ext>
            </a:extLst>
          </p:cNvPr>
          <p:cNvSpPr/>
          <p:nvPr/>
        </p:nvSpPr>
        <p:spPr>
          <a:xfrm>
            <a:off x="5966460" y="2763774"/>
            <a:ext cx="26746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13" b="1" dirty="0">
                <a:solidFill>
                  <a:srgbClr val="1F7A4D"/>
                </a:solidFill>
                <a:latin typeface="Reddit Sans"/>
                <a:ea typeface="Reddit Sans"/>
                <a:cs typeface="Calibri Light" pitchFamily="34" charset="-120"/>
              </a:rPr>
              <a:t>↓ Shift-Left: cada punto de deflexión = ahorro $22-102 por ticket</a:t>
            </a:r>
            <a:endParaRPr lang="en-US" sz="713" dirty="0">
              <a:latin typeface="Reddit Sans"/>
              <a:ea typeface="Reddit Sans"/>
            </a:endParaRPr>
          </a:p>
        </p:txBody>
      </p:sp>
      <p:sp>
        <p:nvSpPr>
          <p:cNvPr id="180" name="Text 88">
            <a:extLst>
              <a:ext uri="{FF2B5EF4-FFF2-40B4-BE49-F238E27FC236}">
                <a16:creationId xmlns:a16="http://schemas.microsoft.com/office/drawing/2014/main" id="{8405D94D-3BC2-7DF7-E79E-2584E0311B59}"/>
              </a:ext>
            </a:extLst>
          </p:cNvPr>
          <p:cNvSpPr/>
          <p:nvPr/>
        </p:nvSpPr>
        <p:spPr>
          <a:xfrm>
            <a:off x="5897880" y="3113532"/>
            <a:ext cx="28117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75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PS Mesas Actuales — Costo/ticket</a:t>
            </a:r>
            <a:endParaRPr lang="en-US" sz="675" dirty="0">
              <a:latin typeface="Reddit Sans"/>
              <a:ea typeface="Reddit Sans"/>
            </a:endParaRPr>
          </a:p>
        </p:txBody>
      </p:sp>
      <p:sp>
        <p:nvSpPr>
          <p:cNvPr id="182" name="Text 89">
            <a:extLst>
              <a:ext uri="{FF2B5EF4-FFF2-40B4-BE49-F238E27FC236}">
                <a16:creationId xmlns:a16="http://schemas.microsoft.com/office/drawing/2014/main" id="{20F3A75E-58C6-7BB0-A021-AF3E0B15E1D3}"/>
              </a:ext>
            </a:extLst>
          </p:cNvPr>
          <p:cNvSpPr/>
          <p:nvPr/>
        </p:nvSpPr>
        <p:spPr>
          <a:xfrm>
            <a:off x="5966460" y="3278124"/>
            <a:ext cx="2743200" cy="130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38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SURA Cotizadores: $40  vs $35 ind. +$5</a:t>
            </a:r>
            <a:endParaRPr lang="en-US" sz="638" dirty="0">
              <a:latin typeface="Reddit Sans"/>
              <a:ea typeface="Reddit Sans"/>
            </a:endParaRPr>
          </a:p>
        </p:txBody>
      </p:sp>
      <p:sp>
        <p:nvSpPr>
          <p:cNvPr id="184" name="Text 90">
            <a:extLst>
              <a:ext uri="{FF2B5EF4-FFF2-40B4-BE49-F238E27FC236}">
                <a16:creationId xmlns:a16="http://schemas.microsoft.com/office/drawing/2014/main" id="{3A7E7428-38DB-3686-2A70-942E7EB31DC3}"/>
              </a:ext>
            </a:extLst>
          </p:cNvPr>
          <p:cNvSpPr/>
          <p:nvPr/>
        </p:nvSpPr>
        <p:spPr>
          <a:xfrm>
            <a:off x="5966460" y="3415284"/>
            <a:ext cx="2743200" cy="130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38" dirty="0">
                <a:solidFill>
                  <a:srgbClr val="1C1C1C"/>
                </a:solidFill>
                <a:latin typeface="Reddit Sans"/>
                <a:ea typeface="Reddit Sans"/>
                <a:cs typeface="Calibri Light" pitchFamily="34" charset="-120"/>
              </a:rPr>
              <a:t>SURA Automatización: $39  vs $35 ind. +$4</a:t>
            </a:r>
            <a:endParaRPr lang="en-US" sz="638" dirty="0">
              <a:latin typeface="Reddit Sans"/>
              <a:ea typeface="Reddit Sans"/>
            </a:endParaRPr>
          </a:p>
        </p:txBody>
      </p:sp>
      <p:sp>
        <p:nvSpPr>
          <p:cNvPr id="186" name="Text 91">
            <a:extLst>
              <a:ext uri="{FF2B5EF4-FFF2-40B4-BE49-F238E27FC236}">
                <a16:creationId xmlns:a16="http://schemas.microsoft.com/office/drawing/2014/main" id="{2E13AD5F-79A8-90A7-833E-CE517654A843}"/>
              </a:ext>
            </a:extLst>
          </p:cNvPr>
          <p:cNvSpPr/>
          <p:nvPr/>
        </p:nvSpPr>
        <p:spPr>
          <a:xfrm>
            <a:off x="5966460" y="3552444"/>
            <a:ext cx="2743200" cy="130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38" b="1" dirty="0">
                <a:solidFill>
                  <a:srgbClr val="B3261E"/>
                </a:solidFill>
                <a:latin typeface="Reddit Sans"/>
                <a:ea typeface="Reddit Sans"/>
                <a:cs typeface="Calibri Light" pitchFamily="34" charset="-120"/>
              </a:rPr>
              <a:t>XM Apps Críticas: $149 · 4 FTE / 90 tix ⚠</a:t>
            </a:r>
            <a:endParaRPr lang="en-US" sz="638" dirty="0">
              <a:latin typeface="Reddit Sans"/>
              <a:ea typeface="Reddit Sans"/>
            </a:endParaRPr>
          </a:p>
        </p:txBody>
      </p:sp>
      <p:sp>
        <p:nvSpPr>
          <p:cNvPr id="188" name="Text 92">
            <a:extLst>
              <a:ext uri="{FF2B5EF4-FFF2-40B4-BE49-F238E27FC236}">
                <a16:creationId xmlns:a16="http://schemas.microsoft.com/office/drawing/2014/main" id="{06D05902-DDB0-EFEF-B4F9-BB16F6CEDCA0}"/>
              </a:ext>
            </a:extLst>
          </p:cNvPr>
          <p:cNvSpPr/>
          <p:nvPr/>
        </p:nvSpPr>
        <p:spPr>
          <a:xfrm>
            <a:off x="5897880" y="3730752"/>
            <a:ext cx="28117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50" b="1" dirty="0">
                <a:solidFill>
                  <a:srgbClr val="132346"/>
                </a:solidFill>
                <a:latin typeface="Reddit Sans"/>
                <a:ea typeface="Reddit Sans"/>
                <a:cs typeface="Calibri" pitchFamily="34" charset="-120"/>
              </a:rPr>
              <a:t>CSAT Objetivo</a:t>
            </a:r>
            <a:endParaRPr lang="en-US" sz="750" dirty="0">
              <a:latin typeface="Reddit Sans"/>
              <a:ea typeface="Reddit Sans"/>
            </a:endParaRPr>
          </a:p>
        </p:txBody>
      </p:sp>
      <p:sp>
        <p:nvSpPr>
          <p:cNvPr id="190" name="Text 93">
            <a:extLst>
              <a:ext uri="{FF2B5EF4-FFF2-40B4-BE49-F238E27FC236}">
                <a16:creationId xmlns:a16="http://schemas.microsoft.com/office/drawing/2014/main" id="{FF82D2BB-C20E-7793-86B7-5F902F902CA6}"/>
              </a:ext>
            </a:extLst>
          </p:cNvPr>
          <p:cNvSpPr/>
          <p:nvPr/>
        </p:nvSpPr>
        <p:spPr>
          <a:xfrm>
            <a:off x="5897880" y="3895344"/>
            <a:ext cx="2743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50" b="1" dirty="0">
                <a:solidFill>
                  <a:srgbClr val="017490"/>
                </a:solidFill>
                <a:latin typeface="Reddit Sans"/>
                <a:ea typeface="Reddit Sans"/>
                <a:cs typeface="Calibri" pitchFamily="34" charset="-120"/>
              </a:rPr>
              <a:t>73-86% Industria</a:t>
            </a:r>
            <a:endParaRPr lang="en-US" sz="750" dirty="0">
              <a:latin typeface="Reddit Sans"/>
              <a:ea typeface="Reddit Sans"/>
            </a:endParaRPr>
          </a:p>
        </p:txBody>
      </p:sp>
      <p:sp>
        <p:nvSpPr>
          <p:cNvPr id="192" name="Text 94">
            <a:extLst>
              <a:ext uri="{FF2B5EF4-FFF2-40B4-BE49-F238E27FC236}">
                <a16:creationId xmlns:a16="http://schemas.microsoft.com/office/drawing/2014/main" id="{97957C70-E6B7-F76B-BB2A-6D2737CB17FD}"/>
              </a:ext>
            </a:extLst>
          </p:cNvPr>
          <p:cNvSpPr/>
          <p:nvPr/>
        </p:nvSpPr>
        <p:spPr>
          <a:xfrm>
            <a:off x="5897880" y="4059936"/>
            <a:ext cx="2743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750" b="1" dirty="0">
                <a:solidFill>
                  <a:srgbClr val="1F7A4D"/>
                </a:solidFill>
                <a:latin typeface="Reddit Sans"/>
                <a:ea typeface="Reddit Sans"/>
                <a:cs typeface="Calibri" pitchFamily="34" charset="-120"/>
              </a:rPr>
              <a:t>≥92%  Gen Next N5</a:t>
            </a:r>
            <a:endParaRPr lang="en-US" sz="750" dirty="0">
              <a:latin typeface="Reddit Sans"/>
              <a:ea typeface="Reddit Sans"/>
            </a:endParaRPr>
          </a:p>
        </p:txBody>
      </p:sp>
      <p:sp>
        <p:nvSpPr>
          <p:cNvPr id="194" name="Shape 95">
            <a:extLst>
              <a:ext uri="{FF2B5EF4-FFF2-40B4-BE49-F238E27FC236}">
                <a16:creationId xmlns:a16="http://schemas.microsoft.com/office/drawing/2014/main" id="{30E1B649-5D36-FC3E-BD6B-0F7D0E22594A}"/>
              </a:ext>
            </a:extLst>
          </p:cNvPr>
          <p:cNvSpPr/>
          <p:nvPr/>
        </p:nvSpPr>
        <p:spPr>
          <a:xfrm>
            <a:off x="5897880" y="4238244"/>
            <a:ext cx="2811780" cy="192024"/>
          </a:xfrm>
          <a:prstGeom prst="roundRect">
            <a:avLst>
              <a:gd name="adj" fmla="val 14286"/>
            </a:avLst>
          </a:prstGeom>
          <a:solidFill>
            <a:srgbClr val="FDECEA"/>
          </a:solidFill>
          <a:ln w="9525">
            <a:solidFill>
              <a:srgbClr val="B3261E"/>
            </a:solidFill>
            <a:prstDash val="solid"/>
          </a:ln>
        </p:spPr>
      </p:sp>
      <p:sp>
        <p:nvSpPr>
          <p:cNvPr id="196" name="Text 96">
            <a:extLst>
              <a:ext uri="{FF2B5EF4-FFF2-40B4-BE49-F238E27FC236}">
                <a16:creationId xmlns:a16="http://schemas.microsoft.com/office/drawing/2014/main" id="{BB11BC19-E48C-6B02-7E1C-E395040A523E}"/>
              </a:ext>
            </a:extLst>
          </p:cNvPr>
          <p:cNvSpPr/>
          <p:nvPr/>
        </p:nvSpPr>
        <p:spPr>
          <a:xfrm>
            <a:off x="5966460" y="4245102"/>
            <a:ext cx="27432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675" b="1" dirty="0">
                <a:solidFill>
                  <a:srgbClr val="B3261E"/>
                </a:solidFill>
                <a:latin typeface="Reddit Sans"/>
                <a:ea typeface="Reddit Sans"/>
                <a:cs typeface="Calibri Light" pitchFamily="34" charset="-120"/>
              </a:rPr>
              <a:t>PS: sin CSAT formal en ninguna mesa</a:t>
            </a:r>
            <a:endParaRPr lang="en-US" sz="675" dirty="0">
              <a:latin typeface="Reddit Sans"/>
              <a:ea typeface="Reddit Sans"/>
            </a:endParaRPr>
          </a:p>
        </p:txBody>
      </p:sp>
      <p:sp>
        <p:nvSpPr>
          <p:cNvPr id="3" name="src">
            <a:extLst>
              <a:ext uri="{FF2B5EF4-FFF2-40B4-BE49-F238E27FC236}">
                <a16:creationId xmlns:a16="http://schemas.microsoft.com/office/drawing/2014/main" id="{9B85F058-1F9F-6B94-B311-8482897D7ECD}"/>
              </a:ext>
            </a:extLst>
          </p:cNvPr>
          <p:cNvSpPr txBox="1">
            <a:spLocks noGrp="1"/>
          </p:cNvSpPr>
          <p:nvPr/>
        </p:nvSpPr>
        <p:spPr>
          <a:xfrm>
            <a:off x="341811" y="4549358"/>
            <a:ext cx="7702731" cy="3714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F</a:t>
            </a:r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uente: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2"/>
              </a:rPr>
              <a:t>HDI/MetricNet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3"/>
              </a:rPr>
              <a:t>HDI</a:t>
            </a:r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 ,  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4"/>
              </a:rPr>
              <a:t>MetricNet/HDI, HDI metrics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5"/>
              </a:rPr>
              <a:t>HelpDeskFocus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 u="sng">
                <a:solidFill>
                  <a:srgbClr val="1A3A8F"/>
                </a:solidFill>
                <a:latin typeface="Reddit Sans"/>
                <a:ea typeface="Reddit Sans"/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6"/>
              </a:rPr>
              <a:t>IrisAgent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7"/>
              </a:rPr>
              <a:t>HDI metrics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8"/>
              </a:rPr>
              <a:t>Giva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>
                <a:ea typeface="Reddit Sans"/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Kwestra</a:t>
            </a:r>
            <a:r>
              <a:rPr lang="es-ES" sz="700">
                <a:solidFill>
                  <a:srgbClr val="2F81F7"/>
                </a:solidFill>
                <a:ea typeface="Reddit Sans"/>
                <a:hlinkClick r:id="rId9"/>
              </a:rPr>
              <a:t>,</a:t>
            </a:r>
            <a:r>
              <a:rPr lang="es-ES" sz="700">
                <a:solidFill>
                  <a:srgbClr val="2F81F7"/>
                </a:solidFill>
                <a:ea typeface="Reddit Sans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9"/>
              </a:rPr>
              <a:t>servicedeskagents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 u="sng">
                <a:solidFill>
                  <a:srgbClr val="2F81F7"/>
                </a:solidFill>
                <a:ea typeface="Reddit Sans"/>
                <a:hlinkClick r:id="rId9"/>
              </a:rPr>
              <a:t>Kwestra</a:t>
            </a:r>
            <a:r>
              <a:rPr lang="es-ES" sz="700" u="sng">
                <a:solidFill>
                  <a:srgbClr val="2F81F7"/>
                </a:solidFill>
                <a:ea typeface="Reddit Sans"/>
              </a:rPr>
              <a:t>,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0"/>
              </a:rPr>
              <a:t>Freshservice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1"/>
              </a:rPr>
              <a:t>Freshservice benchmark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>
                <a:ea typeface="Reddit Sans"/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2"/>
              </a:rPr>
              <a:t>SDI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 </a:t>
            </a:r>
            <a:r>
              <a:rPr lang="es-ES" sz="700" u="sng">
                <a:solidFill>
                  <a:srgbClr val="2F81F7"/>
                </a:solidFill>
                <a:ea typeface="Reddit Sans"/>
                <a:hlinkClick r:id="rId13"/>
              </a:rPr>
              <a:t>Stealth Agents</a:t>
            </a:r>
            <a:endParaRPr lang="es-ES" sz="700"/>
          </a:p>
        </p:txBody>
      </p:sp>
    </p:spTree>
    <p:extLst>
      <p:ext uri="{BB962C8B-B14F-4D97-AF65-F5344CB8AC3E}">
        <p14:creationId xmlns:p14="http://schemas.microsoft.com/office/powerpoint/2010/main" val="8471091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4" name="ttl"/>
          <p:cNvSpPr txBox="1">
            <a:spLocks noGrp="1"/>
          </p:cNvSpPr>
          <p:nvPr/>
        </p:nvSpPr>
        <p:spPr>
          <a:xfrm>
            <a:off x="320040" y="91440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2000" b="1" dirty="0" err="1">
                <a:solidFill>
                  <a:schemeClr val="accent1">
                    <a:lumMod val="49000"/>
                  </a:schemeClr>
                </a:solidFill>
                <a:latin typeface="Calibri"/>
              </a:rPr>
              <a:t>Metodologia</a:t>
            </a:r>
            <a:r>
              <a:rPr lang="es-ES" sz="2000" b="1" dirty="0">
                <a:solidFill>
                  <a:schemeClr val="accent1">
                    <a:lumMod val="49000"/>
                  </a:schemeClr>
                </a:solidFill>
                <a:latin typeface="Calibri"/>
              </a:rPr>
              <a:t> de Calculo — Capacidad Instalada y Costo por Ticket</a:t>
            </a:r>
          </a:p>
        </p:txBody>
      </p:sp>
      <p:sp>
        <p:nvSpPr>
          <p:cNvPr id="5" name="sub"/>
          <p:cNvSpPr txBox="1">
            <a:spLocks noGrp="1"/>
          </p:cNvSpPr>
          <p:nvPr/>
        </p:nvSpPr>
        <p:spPr>
          <a:xfrm>
            <a:off x="320040" y="566928"/>
            <a:ext cx="7772400" cy="23774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1000" dirty="0">
                <a:solidFill>
                  <a:schemeClr val="accent1">
                    <a:lumMod val="49000"/>
                  </a:schemeClr>
                </a:solidFill>
                <a:latin typeface="Calibri"/>
              </a:rPr>
              <a:t>Formula: FTE × 160 horas/mes × $88.000 COP ÷ tickets/mes = Costo/ticket COP  ·  ÷ $4.200 = USD  ·  Fuente: Levantamiento interno PS Julio 2026</a:t>
            </a:r>
          </a:p>
        </p:txBody>
      </p:sp>
      <p:sp>
        <p:nvSpPr>
          <p:cNvPr id="10" name="fb"/>
          <p:cNvSpPr>
            <a:spLocks noGrp="1"/>
          </p:cNvSpPr>
          <p:nvPr/>
        </p:nvSpPr>
        <p:spPr>
          <a:xfrm>
            <a:off x="320040" y="804672"/>
            <a:ext cx="7717536" cy="402336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5875">
            <a:solidFill>
              <a:srgbClr val="1A3A8F"/>
            </a:solidFill>
          </a:ln>
        </p:spPr>
      </p:sp>
      <p:sp>
        <p:nvSpPr>
          <p:cNvPr id="11" name="ft"/>
          <p:cNvSpPr txBox="1">
            <a:spLocks noGrp="1"/>
          </p:cNvSpPr>
          <p:nvPr/>
        </p:nvSpPr>
        <p:spPr>
          <a:xfrm>
            <a:off x="457200" y="822960"/>
            <a:ext cx="7498079" cy="40233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900" b="1" dirty="0">
                <a:solidFill>
                  <a:srgbClr val="1A3A8F"/>
                </a:solidFill>
                <a:latin typeface="Calibri"/>
              </a:rPr>
              <a:t>Capacidad instalada (h/mes) = FTE × 160h  ·  Costo mensual COP = FTE × 160h × $88.000  ·  Costo/ticket COP = Costo mensual ÷ tickets/mes  ·  Costo/ticket USD = COP ÷ $4.200</a:t>
            </a:r>
          </a:p>
        </p:txBody>
      </p:sp>
      <p:sp>
        <p:nvSpPr>
          <p:cNvPr id="20" name="thdr"/>
          <p:cNvSpPr>
            <a:spLocks noGrp="1"/>
          </p:cNvSpPr>
          <p:nvPr/>
        </p:nvSpPr>
        <p:spPr>
          <a:xfrm>
            <a:off x="320040" y="1280160"/>
            <a:ext cx="7955279" cy="384048"/>
          </a:xfrm>
          <a:prstGeom prst="rect">
            <a:avLst/>
          </a:prstGeom>
          <a:solidFill>
            <a:srgbClr val="0D1B5E"/>
          </a:solidFill>
          <a:ln>
            <a:noFill/>
          </a:ln>
        </p:spPr>
      </p:sp>
      <p:sp>
        <p:nvSpPr>
          <p:cNvPr id="21" name="th"/>
          <p:cNvSpPr txBox="1">
            <a:spLocks noGrp="1"/>
          </p:cNvSpPr>
          <p:nvPr/>
        </p:nvSpPr>
        <p:spPr>
          <a:xfrm>
            <a:off x="320040" y="1280160"/>
            <a:ext cx="118872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Mesa</a:t>
            </a:r>
          </a:p>
        </p:txBody>
      </p:sp>
      <p:sp>
        <p:nvSpPr>
          <p:cNvPr id="22" name="th"/>
          <p:cNvSpPr txBox="1">
            <a:spLocks noGrp="1"/>
          </p:cNvSpPr>
          <p:nvPr/>
        </p:nvSpPr>
        <p:spPr>
          <a:xfrm>
            <a:off x="1508760" y="1280160"/>
            <a:ext cx="566928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Cliente</a:t>
            </a:r>
          </a:p>
        </p:txBody>
      </p:sp>
      <p:sp>
        <p:nvSpPr>
          <p:cNvPr id="23" name="th"/>
          <p:cNvSpPr txBox="1">
            <a:spLocks noGrp="1"/>
          </p:cNvSpPr>
          <p:nvPr/>
        </p:nvSpPr>
        <p:spPr>
          <a:xfrm>
            <a:off x="2075688" y="1280160"/>
            <a:ext cx="347472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Nivel</a:t>
            </a:r>
          </a:p>
        </p:txBody>
      </p:sp>
      <p:sp>
        <p:nvSpPr>
          <p:cNvPr id="24" name="th"/>
          <p:cNvSpPr txBox="1">
            <a:spLocks noGrp="1"/>
          </p:cNvSpPr>
          <p:nvPr/>
        </p:nvSpPr>
        <p:spPr>
          <a:xfrm>
            <a:off x="2423160" y="1280160"/>
            <a:ext cx="310896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FTE</a:t>
            </a:r>
          </a:p>
        </p:txBody>
      </p:sp>
      <p:sp>
        <p:nvSpPr>
          <p:cNvPr id="25" name="th"/>
          <p:cNvSpPr txBox="1">
            <a:spLocks noGrp="1"/>
          </p:cNvSpPr>
          <p:nvPr/>
        </p:nvSpPr>
        <p:spPr>
          <a:xfrm>
            <a:off x="2734056" y="1280160"/>
            <a:ext cx="493776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Tickets
/mes</a:t>
            </a:r>
          </a:p>
        </p:txBody>
      </p:sp>
      <p:sp>
        <p:nvSpPr>
          <p:cNvPr id="26" name="th"/>
          <p:cNvSpPr txBox="1">
            <a:spLocks noGrp="1"/>
          </p:cNvSpPr>
          <p:nvPr/>
        </p:nvSpPr>
        <p:spPr>
          <a:xfrm>
            <a:off x="3227832" y="128016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Tix/
FTE</a:t>
            </a:r>
          </a:p>
        </p:txBody>
      </p:sp>
      <p:sp>
        <p:nvSpPr>
          <p:cNvPr id="27" name="th"/>
          <p:cNvSpPr txBox="1">
            <a:spLocks noGrp="1"/>
          </p:cNvSpPr>
          <p:nvPr/>
        </p:nvSpPr>
        <p:spPr>
          <a:xfrm>
            <a:off x="3611880" y="1280160"/>
            <a:ext cx="493776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Cap.
h/mes</a:t>
            </a:r>
          </a:p>
        </p:txBody>
      </p:sp>
      <p:sp>
        <p:nvSpPr>
          <p:cNvPr id="28" name="th"/>
          <p:cNvSpPr txBox="1">
            <a:spLocks noGrp="1"/>
          </p:cNvSpPr>
          <p:nvPr/>
        </p:nvSpPr>
        <p:spPr>
          <a:xfrm>
            <a:off x="4105656" y="1280160"/>
            <a:ext cx="4572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MTTR
(h)</a:t>
            </a:r>
          </a:p>
        </p:txBody>
      </p:sp>
      <p:sp>
        <p:nvSpPr>
          <p:cNvPr id="29" name="th"/>
          <p:cNvSpPr txBox="1">
            <a:spLocks noGrp="1"/>
          </p:cNvSpPr>
          <p:nvPr/>
        </p:nvSpPr>
        <p:spPr>
          <a:xfrm>
            <a:off x="4562856" y="1280160"/>
            <a:ext cx="402336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SLA %</a:t>
            </a:r>
          </a:p>
        </p:txBody>
      </p:sp>
      <p:sp>
        <p:nvSpPr>
          <p:cNvPr id="30" name="th"/>
          <p:cNvSpPr txBox="1">
            <a:spLocks noGrp="1"/>
          </p:cNvSpPr>
          <p:nvPr/>
        </p:nvSpPr>
        <p:spPr>
          <a:xfrm>
            <a:off x="4965192" y="1280160"/>
            <a:ext cx="82296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Costo mes
COP</a:t>
            </a:r>
          </a:p>
        </p:txBody>
      </p:sp>
      <p:sp>
        <p:nvSpPr>
          <p:cNvPr id="31" name="th"/>
          <p:cNvSpPr txBox="1">
            <a:spLocks noGrp="1"/>
          </p:cNvSpPr>
          <p:nvPr/>
        </p:nvSpPr>
        <p:spPr>
          <a:xfrm>
            <a:off x="5788152" y="1280160"/>
            <a:ext cx="749808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Costo/tix
COP</a:t>
            </a:r>
          </a:p>
        </p:txBody>
      </p:sp>
      <p:sp>
        <p:nvSpPr>
          <p:cNvPr id="32" name="th"/>
          <p:cNvSpPr txBox="1">
            <a:spLocks noGrp="1"/>
          </p:cNvSpPr>
          <p:nvPr/>
        </p:nvSpPr>
        <p:spPr>
          <a:xfrm>
            <a:off x="6537960" y="1280160"/>
            <a:ext cx="676656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Costo/tix
USD</a:t>
            </a:r>
          </a:p>
        </p:txBody>
      </p:sp>
      <p:sp>
        <p:nvSpPr>
          <p:cNvPr id="33" name="th"/>
          <p:cNvSpPr txBox="1">
            <a:spLocks noGrp="1"/>
          </p:cNvSpPr>
          <p:nvPr/>
        </p:nvSpPr>
        <p:spPr>
          <a:xfrm>
            <a:off x="7214616" y="1280160"/>
            <a:ext cx="585216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FFFFFF"/>
                </a:solidFill>
                <a:latin typeface="Calibri"/>
              </a:rPr>
              <a:t>vs Ind.
$35 USD</a:t>
            </a:r>
          </a:p>
        </p:txBody>
      </p:sp>
      <p:sp>
        <p:nvSpPr>
          <p:cNvPr id="6" name="rb"/>
          <p:cNvSpPr>
            <a:spLocks noGrp="1"/>
          </p:cNvSpPr>
          <p:nvPr/>
        </p:nvSpPr>
        <p:spPr>
          <a:xfrm>
            <a:off x="320040" y="1664208"/>
            <a:ext cx="7955279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7" name="c"/>
          <p:cNvSpPr txBox="1">
            <a:spLocks noGrp="1"/>
          </p:cNvSpPr>
          <p:nvPr/>
        </p:nvSpPr>
        <p:spPr>
          <a:xfrm>
            <a:off x="320040" y="166420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 dirty="0">
                <a:solidFill>
                  <a:srgbClr val="0D1B5E"/>
                </a:solidFill>
                <a:latin typeface="Calibri"/>
              </a:rPr>
              <a:t>SURA Cotizadores</a:t>
            </a:r>
          </a:p>
        </p:txBody>
      </p:sp>
      <p:sp>
        <p:nvSpPr>
          <p:cNvPr id="8" name="c"/>
          <p:cNvSpPr txBox="1">
            <a:spLocks noGrp="1"/>
          </p:cNvSpPr>
          <p:nvPr/>
        </p:nvSpPr>
        <p:spPr>
          <a:xfrm>
            <a:off x="1508760" y="166420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SURA</a:t>
            </a:r>
          </a:p>
        </p:txBody>
      </p:sp>
      <p:sp>
        <p:nvSpPr>
          <p:cNvPr id="9" name="c"/>
          <p:cNvSpPr txBox="1">
            <a:spLocks noGrp="1"/>
          </p:cNvSpPr>
          <p:nvPr/>
        </p:nvSpPr>
        <p:spPr>
          <a:xfrm>
            <a:off x="2075688" y="166420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92400E"/>
                </a:solidFill>
                <a:latin typeface="Calibri"/>
              </a:rPr>
              <a:t>N2</a:t>
            </a:r>
          </a:p>
        </p:txBody>
      </p:sp>
      <p:sp>
        <p:nvSpPr>
          <p:cNvPr id="34" name="c"/>
          <p:cNvSpPr txBox="1">
            <a:spLocks noGrp="1"/>
          </p:cNvSpPr>
          <p:nvPr/>
        </p:nvSpPr>
        <p:spPr>
          <a:xfrm>
            <a:off x="2423160" y="166420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8</a:t>
            </a:r>
          </a:p>
        </p:txBody>
      </p:sp>
      <p:sp>
        <p:nvSpPr>
          <p:cNvPr id="35" name="c"/>
          <p:cNvSpPr txBox="1">
            <a:spLocks noGrp="1"/>
          </p:cNvSpPr>
          <p:nvPr/>
        </p:nvSpPr>
        <p:spPr>
          <a:xfrm>
            <a:off x="2734056" y="166420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668</a:t>
            </a:r>
          </a:p>
        </p:txBody>
      </p:sp>
      <p:sp>
        <p:nvSpPr>
          <p:cNvPr id="36" name="c"/>
          <p:cNvSpPr txBox="1">
            <a:spLocks noGrp="1"/>
          </p:cNvSpPr>
          <p:nvPr/>
        </p:nvSpPr>
        <p:spPr>
          <a:xfrm>
            <a:off x="3227832" y="166420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84</a:t>
            </a:r>
          </a:p>
        </p:txBody>
      </p:sp>
      <p:sp>
        <p:nvSpPr>
          <p:cNvPr id="37" name="c"/>
          <p:cNvSpPr txBox="1">
            <a:spLocks noGrp="1"/>
          </p:cNvSpPr>
          <p:nvPr/>
        </p:nvSpPr>
        <p:spPr>
          <a:xfrm>
            <a:off x="3611880" y="166420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1,280h</a:t>
            </a:r>
          </a:p>
        </p:txBody>
      </p:sp>
      <p:sp>
        <p:nvSpPr>
          <p:cNvPr id="38" name="c"/>
          <p:cNvSpPr txBox="1">
            <a:spLocks noGrp="1"/>
          </p:cNvSpPr>
          <p:nvPr/>
        </p:nvSpPr>
        <p:spPr>
          <a:xfrm>
            <a:off x="4105656" y="166420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C00000"/>
                </a:solidFill>
                <a:latin typeface="Calibri"/>
              </a:rPr>
              <a:t>24.58h</a:t>
            </a:r>
          </a:p>
        </p:txBody>
      </p:sp>
      <p:sp>
        <p:nvSpPr>
          <p:cNvPr id="39" name="c"/>
          <p:cNvSpPr txBox="1">
            <a:spLocks noGrp="1"/>
          </p:cNvSpPr>
          <p:nvPr/>
        </p:nvSpPr>
        <p:spPr>
          <a:xfrm>
            <a:off x="4562856" y="166420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C00000"/>
                </a:solidFill>
                <a:latin typeface="Calibri"/>
              </a:rPr>
              <a:t>70%</a:t>
            </a:r>
          </a:p>
        </p:txBody>
      </p:sp>
      <p:sp>
        <p:nvSpPr>
          <p:cNvPr id="40" name="c"/>
          <p:cNvSpPr txBox="1">
            <a:spLocks noGrp="1"/>
          </p:cNvSpPr>
          <p:nvPr/>
        </p:nvSpPr>
        <p:spPr>
          <a:xfrm>
            <a:off x="4965192" y="166420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$112.6M</a:t>
            </a:r>
          </a:p>
        </p:txBody>
      </p:sp>
      <p:sp>
        <p:nvSpPr>
          <p:cNvPr id="41" name="c"/>
          <p:cNvSpPr txBox="1">
            <a:spLocks noGrp="1"/>
          </p:cNvSpPr>
          <p:nvPr/>
        </p:nvSpPr>
        <p:spPr>
          <a:xfrm>
            <a:off x="5788152" y="166420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$168,623</a:t>
            </a:r>
          </a:p>
        </p:txBody>
      </p:sp>
      <p:sp>
        <p:nvSpPr>
          <p:cNvPr id="42" name="c"/>
          <p:cNvSpPr txBox="1">
            <a:spLocks noGrp="1"/>
          </p:cNvSpPr>
          <p:nvPr/>
        </p:nvSpPr>
        <p:spPr>
          <a:xfrm>
            <a:off x="6537960" y="166420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$40</a:t>
            </a:r>
          </a:p>
        </p:txBody>
      </p:sp>
      <p:sp>
        <p:nvSpPr>
          <p:cNvPr id="43" name="c"/>
          <p:cNvSpPr txBox="1">
            <a:spLocks noGrp="1"/>
          </p:cNvSpPr>
          <p:nvPr/>
        </p:nvSpPr>
        <p:spPr>
          <a:xfrm>
            <a:off x="7214616" y="166420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+$5</a:t>
            </a:r>
          </a:p>
        </p:txBody>
      </p:sp>
      <p:sp>
        <p:nvSpPr>
          <p:cNvPr id="45" name="rb"/>
          <p:cNvSpPr>
            <a:spLocks noGrp="1"/>
          </p:cNvSpPr>
          <p:nvPr/>
        </p:nvSpPr>
        <p:spPr>
          <a:xfrm>
            <a:off x="320040" y="1938528"/>
            <a:ext cx="7955279" cy="274320"/>
          </a:xfrm>
          <a:prstGeom prst="rect">
            <a:avLst/>
          </a:prstGeom>
          <a:solidFill>
            <a:srgbClr val="F7F9FC"/>
          </a:solidFill>
          <a:ln w="6350">
            <a:solidFill>
              <a:srgbClr val="D1D5DB"/>
            </a:solidFill>
          </a:ln>
        </p:spPr>
      </p:sp>
      <p:sp>
        <p:nvSpPr>
          <p:cNvPr id="46" name="c"/>
          <p:cNvSpPr txBox="1">
            <a:spLocks noGrp="1"/>
          </p:cNvSpPr>
          <p:nvPr/>
        </p:nvSpPr>
        <p:spPr>
          <a:xfrm>
            <a:off x="320040" y="193852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 dirty="0">
                <a:solidFill>
                  <a:srgbClr val="0D1B5E"/>
                </a:solidFill>
                <a:latin typeface="Calibri"/>
              </a:rPr>
              <a:t>SURA Venta Digital</a:t>
            </a:r>
          </a:p>
        </p:txBody>
      </p:sp>
      <p:sp>
        <p:nvSpPr>
          <p:cNvPr id="47" name="c"/>
          <p:cNvSpPr txBox="1">
            <a:spLocks noGrp="1"/>
          </p:cNvSpPr>
          <p:nvPr/>
        </p:nvSpPr>
        <p:spPr>
          <a:xfrm>
            <a:off x="1508760" y="193852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SURA</a:t>
            </a:r>
          </a:p>
        </p:txBody>
      </p:sp>
      <p:sp>
        <p:nvSpPr>
          <p:cNvPr id="48" name="c"/>
          <p:cNvSpPr txBox="1">
            <a:spLocks noGrp="1"/>
          </p:cNvSpPr>
          <p:nvPr/>
        </p:nvSpPr>
        <p:spPr>
          <a:xfrm>
            <a:off x="2075688" y="193852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92400E"/>
                </a:solidFill>
                <a:latin typeface="Calibri"/>
              </a:rPr>
              <a:t>N2</a:t>
            </a:r>
          </a:p>
        </p:txBody>
      </p:sp>
      <p:sp>
        <p:nvSpPr>
          <p:cNvPr id="49" name="c"/>
          <p:cNvSpPr txBox="1">
            <a:spLocks noGrp="1"/>
          </p:cNvSpPr>
          <p:nvPr/>
        </p:nvSpPr>
        <p:spPr>
          <a:xfrm>
            <a:off x="2423160" y="193852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2</a:t>
            </a:r>
          </a:p>
        </p:txBody>
      </p:sp>
      <p:sp>
        <p:nvSpPr>
          <p:cNvPr id="50" name="c"/>
          <p:cNvSpPr txBox="1">
            <a:spLocks noGrp="1"/>
          </p:cNvSpPr>
          <p:nvPr/>
        </p:nvSpPr>
        <p:spPr>
          <a:xfrm>
            <a:off x="2734056" y="193852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174</a:t>
            </a:r>
          </a:p>
        </p:txBody>
      </p:sp>
      <p:sp>
        <p:nvSpPr>
          <p:cNvPr id="51" name="c"/>
          <p:cNvSpPr txBox="1">
            <a:spLocks noGrp="1"/>
          </p:cNvSpPr>
          <p:nvPr/>
        </p:nvSpPr>
        <p:spPr>
          <a:xfrm>
            <a:off x="3227832" y="193852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87</a:t>
            </a:r>
          </a:p>
        </p:txBody>
      </p:sp>
      <p:sp>
        <p:nvSpPr>
          <p:cNvPr id="52" name="c"/>
          <p:cNvSpPr txBox="1">
            <a:spLocks noGrp="1"/>
          </p:cNvSpPr>
          <p:nvPr/>
        </p:nvSpPr>
        <p:spPr>
          <a:xfrm>
            <a:off x="3611880" y="193852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320h</a:t>
            </a:r>
          </a:p>
        </p:txBody>
      </p:sp>
      <p:sp>
        <p:nvSpPr>
          <p:cNvPr id="53" name="c"/>
          <p:cNvSpPr txBox="1">
            <a:spLocks noGrp="1"/>
          </p:cNvSpPr>
          <p:nvPr/>
        </p:nvSpPr>
        <p:spPr>
          <a:xfrm>
            <a:off x="4105656" y="193852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C00000"/>
                </a:solidFill>
                <a:latin typeface="Calibri"/>
              </a:rPr>
              <a:t>12.38h</a:t>
            </a:r>
          </a:p>
        </p:txBody>
      </p:sp>
      <p:sp>
        <p:nvSpPr>
          <p:cNvPr id="54" name="c"/>
          <p:cNvSpPr txBox="1">
            <a:spLocks noGrp="1"/>
          </p:cNvSpPr>
          <p:nvPr/>
        </p:nvSpPr>
        <p:spPr>
          <a:xfrm>
            <a:off x="4562856" y="193852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C00000"/>
                </a:solidFill>
                <a:latin typeface="Calibri"/>
              </a:rPr>
              <a:t>74%</a:t>
            </a:r>
          </a:p>
        </p:txBody>
      </p:sp>
      <p:sp>
        <p:nvSpPr>
          <p:cNvPr id="55" name="c"/>
          <p:cNvSpPr txBox="1">
            <a:spLocks noGrp="1"/>
          </p:cNvSpPr>
          <p:nvPr/>
        </p:nvSpPr>
        <p:spPr>
          <a:xfrm>
            <a:off x="4965192" y="193852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$28.2M</a:t>
            </a:r>
          </a:p>
        </p:txBody>
      </p:sp>
      <p:sp>
        <p:nvSpPr>
          <p:cNvPr id="56" name="c"/>
          <p:cNvSpPr txBox="1">
            <a:spLocks noGrp="1"/>
          </p:cNvSpPr>
          <p:nvPr/>
        </p:nvSpPr>
        <p:spPr>
          <a:xfrm>
            <a:off x="5788152" y="193852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$161,839</a:t>
            </a:r>
          </a:p>
        </p:txBody>
      </p:sp>
      <p:sp>
        <p:nvSpPr>
          <p:cNvPr id="57" name="c"/>
          <p:cNvSpPr txBox="1">
            <a:spLocks noGrp="1"/>
          </p:cNvSpPr>
          <p:nvPr/>
        </p:nvSpPr>
        <p:spPr>
          <a:xfrm>
            <a:off x="6537960" y="193852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$39</a:t>
            </a:r>
          </a:p>
        </p:txBody>
      </p:sp>
      <p:sp>
        <p:nvSpPr>
          <p:cNvPr id="58" name="c"/>
          <p:cNvSpPr txBox="1">
            <a:spLocks noGrp="1"/>
          </p:cNvSpPr>
          <p:nvPr/>
        </p:nvSpPr>
        <p:spPr>
          <a:xfrm>
            <a:off x="7214616" y="193852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+$4</a:t>
            </a:r>
          </a:p>
        </p:txBody>
      </p:sp>
      <p:sp>
        <p:nvSpPr>
          <p:cNvPr id="60" name="rb"/>
          <p:cNvSpPr>
            <a:spLocks noGrp="1"/>
          </p:cNvSpPr>
          <p:nvPr/>
        </p:nvSpPr>
        <p:spPr>
          <a:xfrm>
            <a:off x="320040" y="2212848"/>
            <a:ext cx="7955279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61" name="c"/>
          <p:cNvSpPr txBox="1">
            <a:spLocks noGrp="1"/>
          </p:cNvSpPr>
          <p:nvPr/>
        </p:nvSpPr>
        <p:spPr>
          <a:xfrm>
            <a:off x="320040" y="221284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 dirty="0">
                <a:solidFill>
                  <a:srgbClr val="0D1B5E"/>
                </a:solidFill>
                <a:latin typeface="Calibri"/>
              </a:rPr>
              <a:t>SURA Automatizacion</a:t>
            </a:r>
          </a:p>
        </p:txBody>
      </p:sp>
      <p:sp>
        <p:nvSpPr>
          <p:cNvPr id="62" name="c"/>
          <p:cNvSpPr txBox="1">
            <a:spLocks noGrp="1"/>
          </p:cNvSpPr>
          <p:nvPr/>
        </p:nvSpPr>
        <p:spPr>
          <a:xfrm>
            <a:off x="1508760" y="221284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SURA</a:t>
            </a:r>
          </a:p>
        </p:txBody>
      </p:sp>
      <p:sp>
        <p:nvSpPr>
          <p:cNvPr id="63" name="c"/>
          <p:cNvSpPr txBox="1">
            <a:spLocks noGrp="1"/>
          </p:cNvSpPr>
          <p:nvPr/>
        </p:nvSpPr>
        <p:spPr>
          <a:xfrm>
            <a:off x="2075688" y="221284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92400E"/>
                </a:solidFill>
                <a:latin typeface="Calibri"/>
              </a:rPr>
              <a:t>N2</a:t>
            </a:r>
          </a:p>
        </p:txBody>
      </p:sp>
      <p:sp>
        <p:nvSpPr>
          <p:cNvPr id="64" name="c"/>
          <p:cNvSpPr txBox="1">
            <a:spLocks noGrp="1"/>
          </p:cNvSpPr>
          <p:nvPr/>
        </p:nvSpPr>
        <p:spPr>
          <a:xfrm>
            <a:off x="2423160" y="221284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6</a:t>
            </a:r>
          </a:p>
        </p:txBody>
      </p:sp>
      <p:sp>
        <p:nvSpPr>
          <p:cNvPr id="65" name="c"/>
          <p:cNvSpPr txBox="1">
            <a:spLocks noGrp="1"/>
          </p:cNvSpPr>
          <p:nvPr/>
        </p:nvSpPr>
        <p:spPr>
          <a:xfrm>
            <a:off x="2734056" y="221284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512</a:t>
            </a:r>
          </a:p>
        </p:txBody>
      </p:sp>
      <p:sp>
        <p:nvSpPr>
          <p:cNvPr id="66" name="c"/>
          <p:cNvSpPr txBox="1">
            <a:spLocks noGrp="1"/>
          </p:cNvSpPr>
          <p:nvPr/>
        </p:nvSpPr>
        <p:spPr>
          <a:xfrm>
            <a:off x="3227832" y="221284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85</a:t>
            </a:r>
          </a:p>
        </p:txBody>
      </p:sp>
      <p:sp>
        <p:nvSpPr>
          <p:cNvPr id="67" name="c"/>
          <p:cNvSpPr txBox="1">
            <a:spLocks noGrp="1"/>
          </p:cNvSpPr>
          <p:nvPr/>
        </p:nvSpPr>
        <p:spPr>
          <a:xfrm>
            <a:off x="3611880" y="221284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960h</a:t>
            </a:r>
          </a:p>
        </p:txBody>
      </p:sp>
      <p:sp>
        <p:nvSpPr>
          <p:cNvPr id="68" name="c"/>
          <p:cNvSpPr txBox="1">
            <a:spLocks noGrp="1"/>
          </p:cNvSpPr>
          <p:nvPr/>
        </p:nvSpPr>
        <p:spPr>
          <a:xfrm>
            <a:off x="4105656" y="221284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A6B3C"/>
                </a:solidFill>
                <a:latin typeface="Calibri"/>
              </a:rPr>
              <a:t>2.98h</a:t>
            </a:r>
          </a:p>
        </p:txBody>
      </p:sp>
      <p:sp>
        <p:nvSpPr>
          <p:cNvPr id="69" name="c"/>
          <p:cNvSpPr txBox="1">
            <a:spLocks noGrp="1"/>
          </p:cNvSpPr>
          <p:nvPr/>
        </p:nvSpPr>
        <p:spPr>
          <a:xfrm>
            <a:off x="4562856" y="221284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A6B3C"/>
                </a:solidFill>
                <a:latin typeface="Calibri"/>
              </a:rPr>
              <a:t>98%</a:t>
            </a:r>
          </a:p>
        </p:txBody>
      </p:sp>
      <p:sp>
        <p:nvSpPr>
          <p:cNvPr id="70" name="c"/>
          <p:cNvSpPr txBox="1">
            <a:spLocks noGrp="1"/>
          </p:cNvSpPr>
          <p:nvPr/>
        </p:nvSpPr>
        <p:spPr>
          <a:xfrm>
            <a:off x="4965192" y="221284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$84.5M</a:t>
            </a:r>
          </a:p>
        </p:txBody>
      </p:sp>
      <p:sp>
        <p:nvSpPr>
          <p:cNvPr id="71" name="c"/>
          <p:cNvSpPr txBox="1">
            <a:spLocks noGrp="1"/>
          </p:cNvSpPr>
          <p:nvPr/>
        </p:nvSpPr>
        <p:spPr>
          <a:xfrm>
            <a:off x="5788152" y="221284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$165,000</a:t>
            </a:r>
          </a:p>
        </p:txBody>
      </p:sp>
      <p:sp>
        <p:nvSpPr>
          <p:cNvPr id="72" name="c"/>
          <p:cNvSpPr txBox="1">
            <a:spLocks noGrp="1"/>
          </p:cNvSpPr>
          <p:nvPr/>
        </p:nvSpPr>
        <p:spPr>
          <a:xfrm>
            <a:off x="6537960" y="221284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$39</a:t>
            </a:r>
          </a:p>
        </p:txBody>
      </p:sp>
      <p:sp>
        <p:nvSpPr>
          <p:cNvPr id="73" name="c"/>
          <p:cNvSpPr txBox="1">
            <a:spLocks noGrp="1"/>
          </p:cNvSpPr>
          <p:nvPr/>
        </p:nvSpPr>
        <p:spPr>
          <a:xfrm>
            <a:off x="7214616" y="221284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+$4</a:t>
            </a:r>
          </a:p>
        </p:txBody>
      </p:sp>
      <p:sp>
        <p:nvSpPr>
          <p:cNvPr id="75" name="rb"/>
          <p:cNvSpPr>
            <a:spLocks noGrp="1"/>
          </p:cNvSpPr>
          <p:nvPr/>
        </p:nvSpPr>
        <p:spPr>
          <a:xfrm>
            <a:off x="320040" y="2487168"/>
            <a:ext cx="7955279" cy="274320"/>
          </a:xfrm>
          <a:prstGeom prst="rect">
            <a:avLst/>
          </a:prstGeom>
          <a:solidFill>
            <a:srgbClr val="F7F9FC"/>
          </a:solidFill>
          <a:ln w="6350">
            <a:solidFill>
              <a:srgbClr val="D1D5DB"/>
            </a:solidFill>
          </a:ln>
        </p:spPr>
      </p:sp>
      <p:sp>
        <p:nvSpPr>
          <p:cNvPr id="76" name="c"/>
          <p:cNvSpPr txBox="1">
            <a:spLocks noGrp="1"/>
          </p:cNvSpPr>
          <p:nvPr/>
        </p:nvSpPr>
        <p:spPr>
          <a:xfrm>
            <a:off x="320040" y="248716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 dirty="0">
                <a:solidFill>
                  <a:srgbClr val="0D1B5E"/>
                </a:solidFill>
                <a:latin typeface="Calibri"/>
              </a:rPr>
              <a:t>SURA Canales Masivos</a:t>
            </a:r>
          </a:p>
        </p:txBody>
      </p:sp>
      <p:sp>
        <p:nvSpPr>
          <p:cNvPr id="77" name="c"/>
          <p:cNvSpPr txBox="1">
            <a:spLocks noGrp="1"/>
          </p:cNvSpPr>
          <p:nvPr/>
        </p:nvSpPr>
        <p:spPr>
          <a:xfrm>
            <a:off x="1508760" y="248716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SURA</a:t>
            </a:r>
          </a:p>
        </p:txBody>
      </p:sp>
      <p:sp>
        <p:nvSpPr>
          <p:cNvPr id="78" name="c"/>
          <p:cNvSpPr txBox="1">
            <a:spLocks noGrp="1"/>
          </p:cNvSpPr>
          <p:nvPr/>
        </p:nvSpPr>
        <p:spPr>
          <a:xfrm>
            <a:off x="2075688" y="248716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92400E"/>
                </a:solidFill>
                <a:latin typeface="Calibri"/>
              </a:rPr>
              <a:t>N2</a:t>
            </a:r>
          </a:p>
        </p:txBody>
      </p:sp>
      <p:sp>
        <p:nvSpPr>
          <p:cNvPr id="79" name="c"/>
          <p:cNvSpPr txBox="1">
            <a:spLocks noGrp="1"/>
          </p:cNvSpPr>
          <p:nvPr/>
        </p:nvSpPr>
        <p:spPr>
          <a:xfrm>
            <a:off x="2423160" y="248716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1</a:t>
            </a:r>
          </a:p>
        </p:txBody>
      </p:sp>
      <p:sp>
        <p:nvSpPr>
          <p:cNvPr id="80" name="c"/>
          <p:cNvSpPr txBox="1">
            <a:spLocks noGrp="1"/>
          </p:cNvSpPr>
          <p:nvPr/>
        </p:nvSpPr>
        <p:spPr>
          <a:xfrm>
            <a:off x="2734056" y="248716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171</a:t>
            </a:r>
          </a:p>
        </p:txBody>
      </p:sp>
      <p:sp>
        <p:nvSpPr>
          <p:cNvPr id="81" name="c"/>
          <p:cNvSpPr txBox="1">
            <a:spLocks noGrp="1"/>
          </p:cNvSpPr>
          <p:nvPr/>
        </p:nvSpPr>
        <p:spPr>
          <a:xfrm>
            <a:off x="3227832" y="248716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171</a:t>
            </a:r>
          </a:p>
        </p:txBody>
      </p:sp>
      <p:sp>
        <p:nvSpPr>
          <p:cNvPr id="82" name="c"/>
          <p:cNvSpPr txBox="1">
            <a:spLocks noGrp="1"/>
          </p:cNvSpPr>
          <p:nvPr/>
        </p:nvSpPr>
        <p:spPr>
          <a:xfrm>
            <a:off x="3611880" y="248716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160h</a:t>
            </a:r>
          </a:p>
        </p:txBody>
      </p:sp>
      <p:sp>
        <p:nvSpPr>
          <p:cNvPr id="83" name="c"/>
          <p:cNvSpPr txBox="1">
            <a:spLocks noGrp="1"/>
          </p:cNvSpPr>
          <p:nvPr/>
        </p:nvSpPr>
        <p:spPr>
          <a:xfrm>
            <a:off x="4105656" y="248716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C00000"/>
                </a:solidFill>
                <a:latin typeface="Calibri"/>
              </a:rPr>
              <a:t>17.92h</a:t>
            </a:r>
          </a:p>
        </p:txBody>
      </p:sp>
      <p:sp>
        <p:nvSpPr>
          <p:cNvPr id="84" name="c"/>
          <p:cNvSpPr txBox="1">
            <a:spLocks noGrp="1"/>
          </p:cNvSpPr>
          <p:nvPr/>
        </p:nvSpPr>
        <p:spPr>
          <a:xfrm>
            <a:off x="4562856" y="248716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C00000"/>
                </a:solidFill>
                <a:latin typeface="Calibri"/>
              </a:rPr>
              <a:t>72%</a:t>
            </a:r>
          </a:p>
        </p:txBody>
      </p:sp>
      <p:sp>
        <p:nvSpPr>
          <p:cNvPr id="85" name="c"/>
          <p:cNvSpPr txBox="1">
            <a:spLocks noGrp="1"/>
          </p:cNvSpPr>
          <p:nvPr/>
        </p:nvSpPr>
        <p:spPr>
          <a:xfrm>
            <a:off x="4965192" y="248716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$14.1M</a:t>
            </a:r>
          </a:p>
        </p:txBody>
      </p:sp>
      <p:sp>
        <p:nvSpPr>
          <p:cNvPr id="86" name="c"/>
          <p:cNvSpPr txBox="1">
            <a:spLocks noGrp="1"/>
          </p:cNvSpPr>
          <p:nvPr/>
        </p:nvSpPr>
        <p:spPr>
          <a:xfrm>
            <a:off x="5788152" y="248716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$82,339</a:t>
            </a:r>
          </a:p>
        </p:txBody>
      </p:sp>
      <p:sp>
        <p:nvSpPr>
          <p:cNvPr id="87" name="c"/>
          <p:cNvSpPr txBox="1">
            <a:spLocks noGrp="1"/>
          </p:cNvSpPr>
          <p:nvPr/>
        </p:nvSpPr>
        <p:spPr>
          <a:xfrm>
            <a:off x="6537960" y="248716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$20</a:t>
            </a:r>
          </a:p>
        </p:txBody>
      </p:sp>
      <p:sp>
        <p:nvSpPr>
          <p:cNvPr id="88" name="c"/>
          <p:cNvSpPr txBox="1">
            <a:spLocks noGrp="1"/>
          </p:cNvSpPr>
          <p:nvPr/>
        </p:nvSpPr>
        <p:spPr>
          <a:xfrm>
            <a:off x="7214616" y="248716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1A6B3C"/>
                </a:solidFill>
                <a:latin typeface="Calibri"/>
              </a:rPr>
              <a:t>-$15</a:t>
            </a:r>
          </a:p>
        </p:txBody>
      </p:sp>
      <p:sp>
        <p:nvSpPr>
          <p:cNvPr id="90" name="rb"/>
          <p:cNvSpPr>
            <a:spLocks noGrp="1"/>
          </p:cNvSpPr>
          <p:nvPr/>
        </p:nvSpPr>
        <p:spPr>
          <a:xfrm>
            <a:off x="320040" y="2761488"/>
            <a:ext cx="7955279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91" name="c"/>
          <p:cNvSpPr txBox="1">
            <a:spLocks noGrp="1"/>
          </p:cNvSpPr>
          <p:nvPr/>
        </p:nvSpPr>
        <p:spPr>
          <a:xfrm>
            <a:off x="320040" y="276148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 dirty="0">
                <a:solidFill>
                  <a:srgbClr val="0D1B5E"/>
                </a:solidFill>
                <a:latin typeface="Calibri"/>
              </a:rPr>
              <a:t>XM — Apps Criticas</a:t>
            </a:r>
          </a:p>
        </p:txBody>
      </p:sp>
      <p:sp>
        <p:nvSpPr>
          <p:cNvPr id="92" name="c"/>
          <p:cNvSpPr txBox="1">
            <a:spLocks noGrp="1"/>
          </p:cNvSpPr>
          <p:nvPr/>
        </p:nvSpPr>
        <p:spPr>
          <a:xfrm>
            <a:off x="1508760" y="276148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XM</a:t>
            </a:r>
          </a:p>
        </p:txBody>
      </p:sp>
      <p:sp>
        <p:nvSpPr>
          <p:cNvPr id="93" name="c"/>
          <p:cNvSpPr txBox="1">
            <a:spLocks noGrp="1"/>
          </p:cNvSpPr>
          <p:nvPr/>
        </p:nvSpPr>
        <p:spPr>
          <a:xfrm>
            <a:off x="2075688" y="276148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92400E"/>
                </a:solidFill>
                <a:latin typeface="Calibri"/>
              </a:rPr>
              <a:t>N2</a:t>
            </a:r>
          </a:p>
        </p:txBody>
      </p:sp>
      <p:sp>
        <p:nvSpPr>
          <p:cNvPr id="94" name="c"/>
          <p:cNvSpPr txBox="1">
            <a:spLocks noGrp="1"/>
          </p:cNvSpPr>
          <p:nvPr/>
        </p:nvSpPr>
        <p:spPr>
          <a:xfrm>
            <a:off x="2423160" y="276148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4</a:t>
            </a:r>
          </a:p>
        </p:txBody>
      </p:sp>
      <p:sp>
        <p:nvSpPr>
          <p:cNvPr id="95" name="c"/>
          <p:cNvSpPr txBox="1">
            <a:spLocks noGrp="1"/>
          </p:cNvSpPr>
          <p:nvPr/>
        </p:nvSpPr>
        <p:spPr>
          <a:xfrm>
            <a:off x="2734056" y="276148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90</a:t>
            </a:r>
          </a:p>
        </p:txBody>
      </p:sp>
      <p:sp>
        <p:nvSpPr>
          <p:cNvPr id="96" name="c"/>
          <p:cNvSpPr txBox="1">
            <a:spLocks noGrp="1"/>
          </p:cNvSpPr>
          <p:nvPr/>
        </p:nvSpPr>
        <p:spPr>
          <a:xfrm>
            <a:off x="3227832" y="276148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22</a:t>
            </a:r>
          </a:p>
        </p:txBody>
      </p:sp>
      <p:sp>
        <p:nvSpPr>
          <p:cNvPr id="97" name="c"/>
          <p:cNvSpPr txBox="1">
            <a:spLocks noGrp="1"/>
          </p:cNvSpPr>
          <p:nvPr/>
        </p:nvSpPr>
        <p:spPr>
          <a:xfrm>
            <a:off x="3611880" y="276148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640h</a:t>
            </a:r>
          </a:p>
        </p:txBody>
      </p:sp>
      <p:sp>
        <p:nvSpPr>
          <p:cNvPr id="98" name="c"/>
          <p:cNvSpPr txBox="1">
            <a:spLocks noGrp="1"/>
          </p:cNvSpPr>
          <p:nvPr/>
        </p:nvSpPr>
        <p:spPr>
          <a:xfrm>
            <a:off x="4105656" y="27614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99" name="c"/>
          <p:cNvSpPr txBox="1">
            <a:spLocks noGrp="1"/>
          </p:cNvSpPr>
          <p:nvPr/>
        </p:nvSpPr>
        <p:spPr>
          <a:xfrm>
            <a:off x="4562856" y="276148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00" name="c"/>
          <p:cNvSpPr txBox="1">
            <a:spLocks noGrp="1"/>
          </p:cNvSpPr>
          <p:nvPr/>
        </p:nvSpPr>
        <p:spPr>
          <a:xfrm>
            <a:off x="4965192" y="276148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$56.3M</a:t>
            </a:r>
          </a:p>
        </p:txBody>
      </p:sp>
      <p:sp>
        <p:nvSpPr>
          <p:cNvPr id="101" name="c"/>
          <p:cNvSpPr txBox="1">
            <a:spLocks noGrp="1"/>
          </p:cNvSpPr>
          <p:nvPr/>
        </p:nvSpPr>
        <p:spPr>
          <a:xfrm>
            <a:off x="5788152" y="276148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$625,778</a:t>
            </a:r>
          </a:p>
        </p:txBody>
      </p:sp>
      <p:sp>
        <p:nvSpPr>
          <p:cNvPr id="102" name="c"/>
          <p:cNvSpPr txBox="1">
            <a:spLocks noGrp="1"/>
          </p:cNvSpPr>
          <p:nvPr/>
        </p:nvSpPr>
        <p:spPr>
          <a:xfrm>
            <a:off x="6537960" y="276148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$149</a:t>
            </a:r>
          </a:p>
        </p:txBody>
      </p:sp>
      <p:sp>
        <p:nvSpPr>
          <p:cNvPr id="103" name="c"/>
          <p:cNvSpPr txBox="1">
            <a:spLocks noGrp="1"/>
          </p:cNvSpPr>
          <p:nvPr/>
        </p:nvSpPr>
        <p:spPr>
          <a:xfrm>
            <a:off x="7214616" y="276148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+$114</a:t>
            </a:r>
          </a:p>
        </p:txBody>
      </p:sp>
      <p:sp>
        <p:nvSpPr>
          <p:cNvPr id="105" name="rb"/>
          <p:cNvSpPr>
            <a:spLocks noGrp="1"/>
          </p:cNvSpPr>
          <p:nvPr/>
        </p:nvSpPr>
        <p:spPr>
          <a:xfrm>
            <a:off x="320040" y="3035808"/>
            <a:ext cx="7955279" cy="274320"/>
          </a:xfrm>
          <a:prstGeom prst="rect">
            <a:avLst/>
          </a:prstGeom>
          <a:solidFill>
            <a:srgbClr val="F7F9FC"/>
          </a:solidFill>
          <a:ln w="6350">
            <a:solidFill>
              <a:srgbClr val="D1D5DB"/>
            </a:solidFill>
          </a:ln>
        </p:spPr>
      </p:sp>
      <p:sp>
        <p:nvSpPr>
          <p:cNvPr id="106" name="c"/>
          <p:cNvSpPr txBox="1">
            <a:spLocks noGrp="1"/>
          </p:cNvSpPr>
          <p:nvPr/>
        </p:nvSpPr>
        <p:spPr>
          <a:xfrm>
            <a:off x="320040" y="303580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 dirty="0">
                <a:solidFill>
                  <a:srgbClr val="0D1B5E"/>
                </a:solidFill>
                <a:latin typeface="Calibri"/>
              </a:rPr>
              <a:t>AES — Soporte IT/OT</a:t>
            </a:r>
          </a:p>
        </p:txBody>
      </p:sp>
      <p:sp>
        <p:nvSpPr>
          <p:cNvPr id="107" name="c"/>
          <p:cNvSpPr txBox="1">
            <a:spLocks noGrp="1"/>
          </p:cNvSpPr>
          <p:nvPr/>
        </p:nvSpPr>
        <p:spPr>
          <a:xfrm>
            <a:off x="1508760" y="303580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AES</a:t>
            </a:r>
          </a:p>
        </p:txBody>
      </p:sp>
      <p:sp>
        <p:nvSpPr>
          <p:cNvPr id="108" name="c"/>
          <p:cNvSpPr txBox="1">
            <a:spLocks noGrp="1"/>
          </p:cNvSpPr>
          <p:nvPr/>
        </p:nvSpPr>
        <p:spPr>
          <a:xfrm>
            <a:off x="2075688" y="303580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N1</a:t>
            </a:r>
          </a:p>
        </p:txBody>
      </p:sp>
      <p:sp>
        <p:nvSpPr>
          <p:cNvPr id="109" name="c"/>
          <p:cNvSpPr txBox="1">
            <a:spLocks noGrp="1"/>
          </p:cNvSpPr>
          <p:nvPr/>
        </p:nvSpPr>
        <p:spPr>
          <a:xfrm>
            <a:off x="2423160" y="303580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4</a:t>
            </a:r>
          </a:p>
        </p:txBody>
      </p:sp>
      <p:sp>
        <p:nvSpPr>
          <p:cNvPr id="110" name="c"/>
          <p:cNvSpPr txBox="1">
            <a:spLocks noGrp="1"/>
          </p:cNvSpPr>
          <p:nvPr/>
        </p:nvSpPr>
        <p:spPr>
          <a:xfrm>
            <a:off x="2734056" y="303580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N/D</a:t>
            </a:r>
          </a:p>
        </p:txBody>
      </p:sp>
      <p:sp>
        <p:nvSpPr>
          <p:cNvPr id="111" name="c"/>
          <p:cNvSpPr txBox="1">
            <a:spLocks noGrp="1"/>
          </p:cNvSpPr>
          <p:nvPr/>
        </p:nvSpPr>
        <p:spPr>
          <a:xfrm>
            <a:off x="3227832" y="303580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N/D</a:t>
            </a:r>
          </a:p>
        </p:txBody>
      </p:sp>
      <p:sp>
        <p:nvSpPr>
          <p:cNvPr id="112" name="c"/>
          <p:cNvSpPr txBox="1">
            <a:spLocks noGrp="1"/>
          </p:cNvSpPr>
          <p:nvPr/>
        </p:nvSpPr>
        <p:spPr>
          <a:xfrm>
            <a:off x="3611880" y="303580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640h</a:t>
            </a:r>
          </a:p>
        </p:txBody>
      </p:sp>
      <p:sp>
        <p:nvSpPr>
          <p:cNvPr id="113" name="c"/>
          <p:cNvSpPr txBox="1">
            <a:spLocks noGrp="1"/>
          </p:cNvSpPr>
          <p:nvPr/>
        </p:nvSpPr>
        <p:spPr>
          <a:xfrm>
            <a:off x="4105656" y="303580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14" name="c"/>
          <p:cNvSpPr txBox="1">
            <a:spLocks noGrp="1"/>
          </p:cNvSpPr>
          <p:nvPr/>
        </p:nvSpPr>
        <p:spPr>
          <a:xfrm>
            <a:off x="4562856" y="303580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15" name="c"/>
          <p:cNvSpPr txBox="1">
            <a:spLocks noGrp="1"/>
          </p:cNvSpPr>
          <p:nvPr/>
        </p:nvSpPr>
        <p:spPr>
          <a:xfrm>
            <a:off x="4965192" y="303580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$56.3M</a:t>
            </a:r>
          </a:p>
        </p:txBody>
      </p:sp>
      <p:sp>
        <p:nvSpPr>
          <p:cNvPr id="116" name="c"/>
          <p:cNvSpPr txBox="1">
            <a:spLocks noGrp="1"/>
          </p:cNvSpPr>
          <p:nvPr/>
        </p:nvSpPr>
        <p:spPr>
          <a:xfrm>
            <a:off x="5788152" y="303580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17" name="c"/>
          <p:cNvSpPr txBox="1">
            <a:spLocks noGrp="1"/>
          </p:cNvSpPr>
          <p:nvPr/>
        </p:nvSpPr>
        <p:spPr>
          <a:xfrm>
            <a:off x="6537960" y="303580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18" name="c"/>
          <p:cNvSpPr txBox="1">
            <a:spLocks noGrp="1"/>
          </p:cNvSpPr>
          <p:nvPr/>
        </p:nvSpPr>
        <p:spPr>
          <a:xfrm>
            <a:off x="7214616" y="303580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20" name="rb"/>
          <p:cNvSpPr>
            <a:spLocks noGrp="1"/>
          </p:cNvSpPr>
          <p:nvPr/>
        </p:nvSpPr>
        <p:spPr>
          <a:xfrm>
            <a:off x="320040" y="3310128"/>
            <a:ext cx="7955279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121" name="c"/>
          <p:cNvSpPr txBox="1">
            <a:spLocks noGrp="1"/>
          </p:cNvSpPr>
          <p:nvPr/>
        </p:nvSpPr>
        <p:spPr>
          <a:xfrm>
            <a:off x="320040" y="331012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 dirty="0">
                <a:solidFill>
                  <a:srgbClr val="0D1B5E"/>
                </a:solidFill>
                <a:latin typeface="Calibri"/>
              </a:rPr>
              <a:t>BCO COES Integracion</a:t>
            </a:r>
          </a:p>
        </p:txBody>
      </p:sp>
      <p:sp>
        <p:nvSpPr>
          <p:cNvPr id="122" name="c"/>
          <p:cNvSpPr txBox="1">
            <a:spLocks noGrp="1"/>
          </p:cNvSpPr>
          <p:nvPr/>
        </p:nvSpPr>
        <p:spPr>
          <a:xfrm>
            <a:off x="1508760" y="331012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BCO</a:t>
            </a:r>
          </a:p>
        </p:txBody>
      </p:sp>
      <p:sp>
        <p:nvSpPr>
          <p:cNvPr id="123" name="c"/>
          <p:cNvSpPr txBox="1">
            <a:spLocks noGrp="1"/>
          </p:cNvSpPr>
          <p:nvPr/>
        </p:nvSpPr>
        <p:spPr>
          <a:xfrm>
            <a:off x="2075688" y="331012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N1</a:t>
            </a:r>
          </a:p>
        </p:txBody>
      </p:sp>
      <p:sp>
        <p:nvSpPr>
          <p:cNvPr id="124" name="c"/>
          <p:cNvSpPr txBox="1">
            <a:spLocks noGrp="1"/>
          </p:cNvSpPr>
          <p:nvPr/>
        </p:nvSpPr>
        <p:spPr>
          <a:xfrm>
            <a:off x="2423160" y="331012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7</a:t>
            </a:r>
          </a:p>
        </p:txBody>
      </p:sp>
      <p:sp>
        <p:nvSpPr>
          <p:cNvPr id="125" name="c"/>
          <p:cNvSpPr txBox="1">
            <a:spLocks noGrp="1"/>
          </p:cNvSpPr>
          <p:nvPr/>
        </p:nvSpPr>
        <p:spPr>
          <a:xfrm>
            <a:off x="2734056" y="331012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N/D</a:t>
            </a:r>
          </a:p>
        </p:txBody>
      </p:sp>
      <p:sp>
        <p:nvSpPr>
          <p:cNvPr id="126" name="c"/>
          <p:cNvSpPr txBox="1">
            <a:spLocks noGrp="1"/>
          </p:cNvSpPr>
          <p:nvPr/>
        </p:nvSpPr>
        <p:spPr>
          <a:xfrm>
            <a:off x="3227832" y="331012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N/D</a:t>
            </a:r>
          </a:p>
        </p:txBody>
      </p:sp>
      <p:sp>
        <p:nvSpPr>
          <p:cNvPr id="127" name="c"/>
          <p:cNvSpPr txBox="1">
            <a:spLocks noGrp="1"/>
          </p:cNvSpPr>
          <p:nvPr/>
        </p:nvSpPr>
        <p:spPr>
          <a:xfrm>
            <a:off x="3611880" y="331012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1,120h</a:t>
            </a:r>
          </a:p>
        </p:txBody>
      </p:sp>
      <p:sp>
        <p:nvSpPr>
          <p:cNvPr id="128" name="c"/>
          <p:cNvSpPr txBox="1">
            <a:spLocks noGrp="1"/>
          </p:cNvSpPr>
          <p:nvPr/>
        </p:nvSpPr>
        <p:spPr>
          <a:xfrm>
            <a:off x="4105656" y="331012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29" name="c"/>
          <p:cNvSpPr txBox="1">
            <a:spLocks noGrp="1"/>
          </p:cNvSpPr>
          <p:nvPr/>
        </p:nvSpPr>
        <p:spPr>
          <a:xfrm>
            <a:off x="4562856" y="331012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30" name="c"/>
          <p:cNvSpPr txBox="1">
            <a:spLocks noGrp="1"/>
          </p:cNvSpPr>
          <p:nvPr/>
        </p:nvSpPr>
        <p:spPr>
          <a:xfrm>
            <a:off x="4965192" y="331012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$98.6M</a:t>
            </a:r>
          </a:p>
        </p:txBody>
      </p:sp>
      <p:sp>
        <p:nvSpPr>
          <p:cNvPr id="131" name="c"/>
          <p:cNvSpPr txBox="1">
            <a:spLocks noGrp="1"/>
          </p:cNvSpPr>
          <p:nvPr/>
        </p:nvSpPr>
        <p:spPr>
          <a:xfrm>
            <a:off x="5788152" y="331012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32" name="c"/>
          <p:cNvSpPr txBox="1">
            <a:spLocks noGrp="1"/>
          </p:cNvSpPr>
          <p:nvPr/>
        </p:nvSpPr>
        <p:spPr>
          <a:xfrm>
            <a:off x="6537960" y="331012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33" name="c"/>
          <p:cNvSpPr txBox="1">
            <a:spLocks noGrp="1"/>
          </p:cNvSpPr>
          <p:nvPr/>
        </p:nvSpPr>
        <p:spPr>
          <a:xfrm>
            <a:off x="7214616" y="331012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35" name="rb"/>
          <p:cNvSpPr>
            <a:spLocks noGrp="1"/>
          </p:cNvSpPr>
          <p:nvPr/>
        </p:nvSpPr>
        <p:spPr>
          <a:xfrm>
            <a:off x="320040" y="3584448"/>
            <a:ext cx="7955279" cy="274320"/>
          </a:xfrm>
          <a:prstGeom prst="rect">
            <a:avLst/>
          </a:prstGeom>
          <a:solidFill>
            <a:srgbClr val="F7F9FC"/>
          </a:solidFill>
          <a:ln w="6350">
            <a:solidFill>
              <a:srgbClr val="D1D5DB"/>
            </a:solidFill>
          </a:ln>
        </p:spPr>
      </p:sp>
      <p:sp>
        <p:nvSpPr>
          <p:cNvPr id="136" name="c"/>
          <p:cNvSpPr txBox="1">
            <a:spLocks noGrp="1"/>
          </p:cNvSpPr>
          <p:nvPr/>
        </p:nvSpPr>
        <p:spPr>
          <a:xfrm>
            <a:off x="320040" y="358444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 dirty="0">
                <a:solidFill>
                  <a:srgbClr val="0D1B5E"/>
                </a:solidFill>
                <a:latin typeface="Calibri"/>
              </a:rPr>
              <a:t>BCO COES Datos</a:t>
            </a:r>
          </a:p>
        </p:txBody>
      </p:sp>
      <p:sp>
        <p:nvSpPr>
          <p:cNvPr id="137" name="c"/>
          <p:cNvSpPr txBox="1">
            <a:spLocks noGrp="1"/>
          </p:cNvSpPr>
          <p:nvPr/>
        </p:nvSpPr>
        <p:spPr>
          <a:xfrm>
            <a:off x="1508760" y="358444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BCO</a:t>
            </a:r>
          </a:p>
        </p:txBody>
      </p:sp>
      <p:sp>
        <p:nvSpPr>
          <p:cNvPr id="138" name="c"/>
          <p:cNvSpPr txBox="1">
            <a:spLocks noGrp="1"/>
          </p:cNvSpPr>
          <p:nvPr/>
        </p:nvSpPr>
        <p:spPr>
          <a:xfrm>
            <a:off x="2075688" y="358444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N1</a:t>
            </a:r>
          </a:p>
        </p:txBody>
      </p:sp>
      <p:sp>
        <p:nvSpPr>
          <p:cNvPr id="139" name="c"/>
          <p:cNvSpPr txBox="1">
            <a:spLocks noGrp="1"/>
          </p:cNvSpPr>
          <p:nvPr/>
        </p:nvSpPr>
        <p:spPr>
          <a:xfrm>
            <a:off x="2423160" y="358444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7</a:t>
            </a:r>
          </a:p>
        </p:txBody>
      </p:sp>
      <p:sp>
        <p:nvSpPr>
          <p:cNvPr id="140" name="c"/>
          <p:cNvSpPr txBox="1">
            <a:spLocks noGrp="1"/>
          </p:cNvSpPr>
          <p:nvPr/>
        </p:nvSpPr>
        <p:spPr>
          <a:xfrm>
            <a:off x="2734056" y="358444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N/D</a:t>
            </a:r>
          </a:p>
        </p:txBody>
      </p:sp>
      <p:sp>
        <p:nvSpPr>
          <p:cNvPr id="141" name="c"/>
          <p:cNvSpPr txBox="1">
            <a:spLocks noGrp="1"/>
          </p:cNvSpPr>
          <p:nvPr/>
        </p:nvSpPr>
        <p:spPr>
          <a:xfrm>
            <a:off x="3227832" y="358444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N/D</a:t>
            </a:r>
          </a:p>
        </p:txBody>
      </p:sp>
      <p:sp>
        <p:nvSpPr>
          <p:cNvPr id="142" name="c"/>
          <p:cNvSpPr txBox="1">
            <a:spLocks noGrp="1"/>
          </p:cNvSpPr>
          <p:nvPr/>
        </p:nvSpPr>
        <p:spPr>
          <a:xfrm>
            <a:off x="3611880" y="358444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1,120h</a:t>
            </a:r>
          </a:p>
        </p:txBody>
      </p:sp>
      <p:sp>
        <p:nvSpPr>
          <p:cNvPr id="143" name="c"/>
          <p:cNvSpPr txBox="1">
            <a:spLocks noGrp="1"/>
          </p:cNvSpPr>
          <p:nvPr/>
        </p:nvSpPr>
        <p:spPr>
          <a:xfrm>
            <a:off x="4105656" y="358444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44" name="c"/>
          <p:cNvSpPr txBox="1">
            <a:spLocks noGrp="1"/>
          </p:cNvSpPr>
          <p:nvPr/>
        </p:nvSpPr>
        <p:spPr>
          <a:xfrm>
            <a:off x="4562856" y="358444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45" name="c"/>
          <p:cNvSpPr txBox="1">
            <a:spLocks noGrp="1"/>
          </p:cNvSpPr>
          <p:nvPr/>
        </p:nvSpPr>
        <p:spPr>
          <a:xfrm>
            <a:off x="4965192" y="358444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$98.6M</a:t>
            </a:r>
          </a:p>
        </p:txBody>
      </p:sp>
      <p:sp>
        <p:nvSpPr>
          <p:cNvPr id="146" name="c"/>
          <p:cNvSpPr txBox="1">
            <a:spLocks noGrp="1"/>
          </p:cNvSpPr>
          <p:nvPr/>
        </p:nvSpPr>
        <p:spPr>
          <a:xfrm>
            <a:off x="5788152" y="358444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47" name="c"/>
          <p:cNvSpPr txBox="1">
            <a:spLocks noGrp="1"/>
          </p:cNvSpPr>
          <p:nvPr/>
        </p:nvSpPr>
        <p:spPr>
          <a:xfrm>
            <a:off x="6537960" y="358444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48" name="c"/>
          <p:cNvSpPr txBox="1">
            <a:spLocks noGrp="1"/>
          </p:cNvSpPr>
          <p:nvPr/>
        </p:nvSpPr>
        <p:spPr>
          <a:xfrm>
            <a:off x="7214616" y="358444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50" name="rb"/>
          <p:cNvSpPr>
            <a:spLocks noGrp="1"/>
          </p:cNvSpPr>
          <p:nvPr/>
        </p:nvSpPr>
        <p:spPr>
          <a:xfrm>
            <a:off x="320040" y="3858768"/>
            <a:ext cx="7955279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151" name="c"/>
          <p:cNvSpPr txBox="1">
            <a:spLocks noGrp="1"/>
          </p:cNvSpPr>
          <p:nvPr/>
        </p:nvSpPr>
        <p:spPr>
          <a:xfrm>
            <a:off x="320040" y="385876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 dirty="0">
                <a:solidFill>
                  <a:srgbClr val="0D1B5E"/>
                </a:solidFill>
                <a:latin typeface="Calibri"/>
              </a:rPr>
              <a:t>BCO Soporte</a:t>
            </a:r>
          </a:p>
        </p:txBody>
      </p:sp>
      <p:sp>
        <p:nvSpPr>
          <p:cNvPr id="152" name="c"/>
          <p:cNvSpPr txBox="1">
            <a:spLocks noGrp="1"/>
          </p:cNvSpPr>
          <p:nvPr/>
        </p:nvSpPr>
        <p:spPr>
          <a:xfrm>
            <a:off x="1508760" y="385876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BCO</a:t>
            </a:r>
          </a:p>
        </p:txBody>
      </p:sp>
      <p:sp>
        <p:nvSpPr>
          <p:cNvPr id="153" name="c"/>
          <p:cNvSpPr txBox="1">
            <a:spLocks noGrp="1"/>
          </p:cNvSpPr>
          <p:nvPr/>
        </p:nvSpPr>
        <p:spPr>
          <a:xfrm>
            <a:off x="2075688" y="385876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N1</a:t>
            </a:r>
          </a:p>
        </p:txBody>
      </p:sp>
      <p:sp>
        <p:nvSpPr>
          <p:cNvPr id="154" name="c"/>
          <p:cNvSpPr txBox="1">
            <a:spLocks noGrp="1"/>
          </p:cNvSpPr>
          <p:nvPr/>
        </p:nvSpPr>
        <p:spPr>
          <a:xfrm>
            <a:off x="2423160" y="385876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13</a:t>
            </a:r>
          </a:p>
        </p:txBody>
      </p:sp>
      <p:sp>
        <p:nvSpPr>
          <p:cNvPr id="155" name="c"/>
          <p:cNvSpPr txBox="1">
            <a:spLocks noGrp="1"/>
          </p:cNvSpPr>
          <p:nvPr/>
        </p:nvSpPr>
        <p:spPr>
          <a:xfrm>
            <a:off x="2734056" y="385876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N/D</a:t>
            </a:r>
          </a:p>
        </p:txBody>
      </p:sp>
      <p:sp>
        <p:nvSpPr>
          <p:cNvPr id="156" name="c"/>
          <p:cNvSpPr txBox="1">
            <a:spLocks noGrp="1"/>
          </p:cNvSpPr>
          <p:nvPr/>
        </p:nvSpPr>
        <p:spPr>
          <a:xfrm>
            <a:off x="3227832" y="385876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N/D</a:t>
            </a:r>
          </a:p>
        </p:txBody>
      </p:sp>
      <p:sp>
        <p:nvSpPr>
          <p:cNvPr id="157" name="c"/>
          <p:cNvSpPr txBox="1">
            <a:spLocks noGrp="1"/>
          </p:cNvSpPr>
          <p:nvPr/>
        </p:nvSpPr>
        <p:spPr>
          <a:xfrm>
            <a:off x="3611880" y="385876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2,080h</a:t>
            </a:r>
          </a:p>
        </p:txBody>
      </p:sp>
      <p:sp>
        <p:nvSpPr>
          <p:cNvPr id="158" name="c"/>
          <p:cNvSpPr txBox="1">
            <a:spLocks noGrp="1"/>
          </p:cNvSpPr>
          <p:nvPr/>
        </p:nvSpPr>
        <p:spPr>
          <a:xfrm>
            <a:off x="4105656" y="385876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59" name="c"/>
          <p:cNvSpPr txBox="1">
            <a:spLocks noGrp="1"/>
          </p:cNvSpPr>
          <p:nvPr/>
        </p:nvSpPr>
        <p:spPr>
          <a:xfrm>
            <a:off x="4562856" y="385876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60" name="c"/>
          <p:cNvSpPr txBox="1">
            <a:spLocks noGrp="1"/>
          </p:cNvSpPr>
          <p:nvPr/>
        </p:nvSpPr>
        <p:spPr>
          <a:xfrm>
            <a:off x="4965192" y="385876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$183.0M</a:t>
            </a:r>
          </a:p>
        </p:txBody>
      </p:sp>
      <p:sp>
        <p:nvSpPr>
          <p:cNvPr id="161" name="c"/>
          <p:cNvSpPr txBox="1">
            <a:spLocks noGrp="1"/>
          </p:cNvSpPr>
          <p:nvPr/>
        </p:nvSpPr>
        <p:spPr>
          <a:xfrm>
            <a:off x="5788152" y="385876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62" name="c"/>
          <p:cNvSpPr txBox="1">
            <a:spLocks noGrp="1"/>
          </p:cNvSpPr>
          <p:nvPr/>
        </p:nvSpPr>
        <p:spPr>
          <a:xfrm>
            <a:off x="6537960" y="385876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63" name="c"/>
          <p:cNvSpPr txBox="1">
            <a:spLocks noGrp="1"/>
          </p:cNvSpPr>
          <p:nvPr/>
        </p:nvSpPr>
        <p:spPr>
          <a:xfrm>
            <a:off x="7214616" y="385876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65" name="rb"/>
          <p:cNvSpPr>
            <a:spLocks noGrp="1"/>
          </p:cNvSpPr>
          <p:nvPr/>
        </p:nvSpPr>
        <p:spPr>
          <a:xfrm>
            <a:off x="320040" y="4133088"/>
            <a:ext cx="7955279" cy="274320"/>
          </a:xfrm>
          <a:prstGeom prst="rect">
            <a:avLst/>
          </a:prstGeom>
          <a:solidFill>
            <a:srgbClr val="F7F9FC"/>
          </a:solidFill>
          <a:ln w="6350">
            <a:solidFill>
              <a:srgbClr val="D1D5DB"/>
            </a:solidFill>
          </a:ln>
        </p:spPr>
      </p:sp>
      <p:sp>
        <p:nvSpPr>
          <p:cNvPr id="166" name="c"/>
          <p:cNvSpPr txBox="1">
            <a:spLocks noGrp="1"/>
          </p:cNvSpPr>
          <p:nvPr/>
        </p:nvSpPr>
        <p:spPr>
          <a:xfrm>
            <a:off x="320040" y="413308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 dirty="0">
                <a:solidFill>
                  <a:srgbClr val="0D1B5E"/>
                </a:solidFill>
                <a:latin typeface="Calibri"/>
              </a:rPr>
              <a:t>BCO COES Emma</a:t>
            </a:r>
          </a:p>
        </p:txBody>
      </p:sp>
      <p:sp>
        <p:nvSpPr>
          <p:cNvPr id="167" name="c"/>
          <p:cNvSpPr txBox="1">
            <a:spLocks noGrp="1"/>
          </p:cNvSpPr>
          <p:nvPr/>
        </p:nvSpPr>
        <p:spPr>
          <a:xfrm>
            <a:off x="1508760" y="413308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BCO</a:t>
            </a:r>
          </a:p>
        </p:txBody>
      </p:sp>
      <p:sp>
        <p:nvSpPr>
          <p:cNvPr id="168" name="c"/>
          <p:cNvSpPr txBox="1">
            <a:spLocks noGrp="1"/>
          </p:cNvSpPr>
          <p:nvPr/>
        </p:nvSpPr>
        <p:spPr>
          <a:xfrm>
            <a:off x="2075688" y="413308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N1</a:t>
            </a:r>
          </a:p>
        </p:txBody>
      </p:sp>
      <p:sp>
        <p:nvSpPr>
          <p:cNvPr id="169" name="c"/>
          <p:cNvSpPr txBox="1">
            <a:spLocks noGrp="1"/>
          </p:cNvSpPr>
          <p:nvPr/>
        </p:nvSpPr>
        <p:spPr>
          <a:xfrm>
            <a:off x="2423160" y="413308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4</a:t>
            </a:r>
          </a:p>
        </p:txBody>
      </p:sp>
      <p:sp>
        <p:nvSpPr>
          <p:cNvPr id="170" name="c"/>
          <p:cNvSpPr txBox="1">
            <a:spLocks noGrp="1"/>
          </p:cNvSpPr>
          <p:nvPr/>
        </p:nvSpPr>
        <p:spPr>
          <a:xfrm>
            <a:off x="2734056" y="413308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N/D</a:t>
            </a:r>
          </a:p>
        </p:txBody>
      </p:sp>
      <p:sp>
        <p:nvSpPr>
          <p:cNvPr id="171" name="c"/>
          <p:cNvSpPr txBox="1">
            <a:spLocks noGrp="1"/>
          </p:cNvSpPr>
          <p:nvPr/>
        </p:nvSpPr>
        <p:spPr>
          <a:xfrm>
            <a:off x="3227832" y="413308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N/D</a:t>
            </a:r>
          </a:p>
        </p:txBody>
      </p:sp>
      <p:sp>
        <p:nvSpPr>
          <p:cNvPr id="172" name="c"/>
          <p:cNvSpPr txBox="1">
            <a:spLocks noGrp="1"/>
          </p:cNvSpPr>
          <p:nvPr/>
        </p:nvSpPr>
        <p:spPr>
          <a:xfrm>
            <a:off x="3611880" y="413308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640h</a:t>
            </a:r>
          </a:p>
        </p:txBody>
      </p:sp>
      <p:sp>
        <p:nvSpPr>
          <p:cNvPr id="173" name="c"/>
          <p:cNvSpPr txBox="1">
            <a:spLocks noGrp="1"/>
          </p:cNvSpPr>
          <p:nvPr/>
        </p:nvSpPr>
        <p:spPr>
          <a:xfrm>
            <a:off x="4105656" y="4133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74" name="c"/>
          <p:cNvSpPr txBox="1">
            <a:spLocks noGrp="1"/>
          </p:cNvSpPr>
          <p:nvPr/>
        </p:nvSpPr>
        <p:spPr>
          <a:xfrm>
            <a:off x="4562856" y="413308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75" name="c"/>
          <p:cNvSpPr txBox="1">
            <a:spLocks noGrp="1"/>
          </p:cNvSpPr>
          <p:nvPr/>
        </p:nvSpPr>
        <p:spPr>
          <a:xfrm>
            <a:off x="4965192" y="413308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$56.3M</a:t>
            </a:r>
          </a:p>
        </p:txBody>
      </p:sp>
      <p:sp>
        <p:nvSpPr>
          <p:cNvPr id="176" name="c"/>
          <p:cNvSpPr txBox="1">
            <a:spLocks noGrp="1"/>
          </p:cNvSpPr>
          <p:nvPr/>
        </p:nvSpPr>
        <p:spPr>
          <a:xfrm>
            <a:off x="5788152" y="413308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77" name="c"/>
          <p:cNvSpPr txBox="1">
            <a:spLocks noGrp="1"/>
          </p:cNvSpPr>
          <p:nvPr/>
        </p:nvSpPr>
        <p:spPr>
          <a:xfrm>
            <a:off x="6537960" y="413308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78" name="c"/>
          <p:cNvSpPr txBox="1">
            <a:spLocks noGrp="1"/>
          </p:cNvSpPr>
          <p:nvPr/>
        </p:nvSpPr>
        <p:spPr>
          <a:xfrm>
            <a:off x="7214616" y="413308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80" name="rb"/>
          <p:cNvSpPr>
            <a:spLocks noGrp="1"/>
          </p:cNvSpPr>
          <p:nvPr/>
        </p:nvSpPr>
        <p:spPr>
          <a:xfrm>
            <a:off x="320040" y="4407408"/>
            <a:ext cx="7955279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</p:sp>
      <p:sp>
        <p:nvSpPr>
          <p:cNvPr id="181" name="c"/>
          <p:cNvSpPr txBox="1">
            <a:spLocks noGrp="1"/>
          </p:cNvSpPr>
          <p:nvPr/>
        </p:nvSpPr>
        <p:spPr>
          <a:xfrm>
            <a:off x="320040" y="440740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 dirty="0">
                <a:solidFill>
                  <a:srgbClr val="0D1B5E"/>
                </a:solidFill>
                <a:latin typeface="Calibri"/>
              </a:rPr>
              <a:t>BCO Emma Iseries</a:t>
            </a:r>
          </a:p>
        </p:txBody>
      </p:sp>
      <p:sp>
        <p:nvSpPr>
          <p:cNvPr id="182" name="c"/>
          <p:cNvSpPr txBox="1">
            <a:spLocks noGrp="1"/>
          </p:cNvSpPr>
          <p:nvPr/>
        </p:nvSpPr>
        <p:spPr>
          <a:xfrm>
            <a:off x="1508760" y="440740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BCO</a:t>
            </a:r>
          </a:p>
        </p:txBody>
      </p:sp>
      <p:sp>
        <p:nvSpPr>
          <p:cNvPr id="183" name="c"/>
          <p:cNvSpPr txBox="1">
            <a:spLocks noGrp="1"/>
          </p:cNvSpPr>
          <p:nvPr/>
        </p:nvSpPr>
        <p:spPr>
          <a:xfrm>
            <a:off x="2075688" y="440740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N1</a:t>
            </a:r>
          </a:p>
        </p:txBody>
      </p:sp>
      <p:sp>
        <p:nvSpPr>
          <p:cNvPr id="184" name="c"/>
          <p:cNvSpPr txBox="1">
            <a:spLocks noGrp="1"/>
          </p:cNvSpPr>
          <p:nvPr/>
        </p:nvSpPr>
        <p:spPr>
          <a:xfrm>
            <a:off x="2423160" y="440740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1</a:t>
            </a:r>
          </a:p>
        </p:txBody>
      </p:sp>
      <p:sp>
        <p:nvSpPr>
          <p:cNvPr id="185" name="c"/>
          <p:cNvSpPr txBox="1">
            <a:spLocks noGrp="1"/>
          </p:cNvSpPr>
          <p:nvPr/>
        </p:nvSpPr>
        <p:spPr>
          <a:xfrm>
            <a:off x="2734056" y="440740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N/D</a:t>
            </a:r>
          </a:p>
        </p:txBody>
      </p:sp>
      <p:sp>
        <p:nvSpPr>
          <p:cNvPr id="186" name="c"/>
          <p:cNvSpPr txBox="1">
            <a:spLocks noGrp="1"/>
          </p:cNvSpPr>
          <p:nvPr/>
        </p:nvSpPr>
        <p:spPr>
          <a:xfrm>
            <a:off x="3227832" y="440740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N/D</a:t>
            </a:r>
          </a:p>
        </p:txBody>
      </p:sp>
      <p:sp>
        <p:nvSpPr>
          <p:cNvPr id="187" name="c"/>
          <p:cNvSpPr txBox="1">
            <a:spLocks noGrp="1"/>
          </p:cNvSpPr>
          <p:nvPr/>
        </p:nvSpPr>
        <p:spPr>
          <a:xfrm>
            <a:off x="3611880" y="440740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160h</a:t>
            </a:r>
          </a:p>
        </p:txBody>
      </p:sp>
      <p:sp>
        <p:nvSpPr>
          <p:cNvPr id="188" name="c"/>
          <p:cNvSpPr txBox="1">
            <a:spLocks noGrp="1"/>
          </p:cNvSpPr>
          <p:nvPr/>
        </p:nvSpPr>
        <p:spPr>
          <a:xfrm>
            <a:off x="4105656" y="440740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89" name="c"/>
          <p:cNvSpPr txBox="1">
            <a:spLocks noGrp="1"/>
          </p:cNvSpPr>
          <p:nvPr/>
        </p:nvSpPr>
        <p:spPr>
          <a:xfrm>
            <a:off x="4562856" y="440740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90" name="c"/>
          <p:cNvSpPr txBox="1">
            <a:spLocks noGrp="1"/>
          </p:cNvSpPr>
          <p:nvPr/>
        </p:nvSpPr>
        <p:spPr>
          <a:xfrm>
            <a:off x="4965192" y="440740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$14.1M</a:t>
            </a:r>
          </a:p>
        </p:txBody>
      </p:sp>
      <p:sp>
        <p:nvSpPr>
          <p:cNvPr id="191" name="c"/>
          <p:cNvSpPr txBox="1">
            <a:spLocks noGrp="1"/>
          </p:cNvSpPr>
          <p:nvPr/>
        </p:nvSpPr>
        <p:spPr>
          <a:xfrm>
            <a:off x="5788152" y="440740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92" name="c"/>
          <p:cNvSpPr txBox="1">
            <a:spLocks noGrp="1"/>
          </p:cNvSpPr>
          <p:nvPr/>
        </p:nvSpPr>
        <p:spPr>
          <a:xfrm>
            <a:off x="6537960" y="440740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193" name="c"/>
          <p:cNvSpPr txBox="1">
            <a:spLocks noGrp="1"/>
          </p:cNvSpPr>
          <p:nvPr/>
        </p:nvSpPr>
        <p:spPr>
          <a:xfrm>
            <a:off x="7214616" y="440740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95" name="rb"/>
          <p:cNvSpPr>
            <a:spLocks noGrp="1"/>
          </p:cNvSpPr>
          <p:nvPr/>
        </p:nvSpPr>
        <p:spPr>
          <a:xfrm>
            <a:off x="320040" y="4681728"/>
            <a:ext cx="7955279" cy="274320"/>
          </a:xfrm>
          <a:prstGeom prst="rect">
            <a:avLst/>
          </a:prstGeom>
          <a:solidFill>
            <a:srgbClr val="F7F9FC"/>
          </a:solidFill>
          <a:ln w="6350">
            <a:solidFill>
              <a:srgbClr val="D1D5DB"/>
            </a:solidFill>
          </a:ln>
        </p:spPr>
      </p:sp>
      <p:sp>
        <p:nvSpPr>
          <p:cNvPr id="196" name="c"/>
          <p:cNvSpPr txBox="1">
            <a:spLocks noGrp="1"/>
          </p:cNvSpPr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700" b="1" dirty="0">
                <a:solidFill>
                  <a:srgbClr val="0D1B5E"/>
                </a:solidFill>
                <a:latin typeface="Calibri"/>
              </a:rPr>
              <a:t>MEDICARTE</a:t>
            </a:r>
          </a:p>
        </p:txBody>
      </p:sp>
      <p:sp>
        <p:nvSpPr>
          <p:cNvPr id="197" name="c"/>
          <p:cNvSpPr txBox="1">
            <a:spLocks noGrp="1"/>
          </p:cNvSpPr>
          <p:nvPr/>
        </p:nvSpPr>
        <p:spPr>
          <a:xfrm>
            <a:off x="1508760" y="468172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7280"/>
                </a:solidFill>
                <a:latin typeface="Calibri"/>
              </a:rPr>
              <a:t>MEDI</a:t>
            </a:r>
          </a:p>
        </p:txBody>
      </p:sp>
      <p:sp>
        <p:nvSpPr>
          <p:cNvPr id="198" name="c"/>
          <p:cNvSpPr txBox="1">
            <a:spLocks noGrp="1"/>
          </p:cNvSpPr>
          <p:nvPr/>
        </p:nvSpPr>
        <p:spPr>
          <a:xfrm>
            <a:off x="2075688" y="468172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N1</a:t>
            </a:r>
          </a:p>
        </p:txBody>
      </p:sp>
      <p:sp>
        <p:nvSpPr>
          <p:cNvPr id="199" name="c"/>
          <p:cNvSpPr txBox="1">
            <a:spLocks noGrp="1"/>
          </p:cNvSpPr>
          <p:nvPr/>
        </p:nvSpPr>
        <p:spPr>
          <a:xfrm>
            <a:off x="2423160" y="468172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12</a:t>
            </a:r>
          </a:p>
        </p:txBody>
      </p:sp>
      <p:sp>
        <p:nvSpPr>
          <p:cNvPr id="200" name="c"/>
          <p:cNvSpPr txBox="1">
            <a:spLocks noGrp="1"/>
          </p:cNvSpPr>
          <p:nvPr/>
        </p:nvSpPr>
        <p:spPr>
          <a:xfrm>
            <a:off x="2734056" y="468172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N/D</a:t>
            </a:r>
          </a:p>
        </p:txBody>
      </p:sp>
      <p:sp>
        <p:nvSpPr>
          <p:cNvPr id="201" name="c"/>
          <p:cNvSpPr txBox="1">
            <a:spLocks noGrp="1"/>
          </p:cNvSpPr>
          <p:nvPr/>
        </p:nvSpPr>
        <p:spPr>
          <a:xfrm>
            <a:off x="3227832" y="468172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N/D</a:t>
            </a:r>
          </a:p>
        </p:txBody>
      </p:sp>
      <p:sp>
        <p:nvSpPr>
          <p:cNvPr id="202" name="c"/>
          <p:cNvSpPr txBox="1">
            <a:spLocks noGrp="1"/>
          </p:cNvSpPr>
          <p:nvPr/>
        </p:nvSpPr>
        <p:spPr>
          <a:xfrm>
            <a:off x="3611880" y="468172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B7B85"/>
                </a:solidFill>
                <a:latin typeface="Calibri"/>
              </a:rPr>
              <a:t>1,920h</a:t>
            </a:r>
          </a:p>
        </p:txBody>
      </p:sp>
      <p:sp>
        <p:nvSpPr>
          <p:cNvPr id="203" name="c"/>
          <p:cNvSpPr txBox="1">
            <a:spLocks noGrp="1"/>
          </p:cNvSpPr>
          <p:nvPr/>
        </p:nvSpPr>
        <p:spPr>
          <a:xfrm>
            <a:off x="4105656" y="468172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1A6B3C"/>
                </a:solidFill>
                <a:latin typeface="Calibri"/>
              </a:rPr>
              <a:t>0.55h</a:t>
            </a:r>
          </a:p>
        </p:txBody>
      </p:sp>
      <p:sp>
        <p:nvSpPr>
          <p:cNvPr id="204" name="c"/>
          <p:cNvSpPr txBox="1">
            <a:spLocks noGrp="1"/>
          </p:cNvSpPr>
          <p:nvPr/>
        </p:nvSpPr>
        <p:spPr>
          <a:xfrm>
            <a:off x="4562856" y="468172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92400E"/>
                </a:solidFill>
                <a:latin typeface="Calibri"/>
              </a:rPr>
              <a:t>89%</a:t>
            </a:r>
          </a:p>
        </p:txBody>
      </p:sp>
      <p:sp>
        <p:nvSpPr>
          <p:cNvPr id="205" name="c"/>
          <p:cNvSpPr txBox="1">
            <a:spLocks noGrp="1"/>
          </p:cNvSpPr>
          <p:nvPr/>
        </p:nvSpPr>
        <p:spPr>
          <a:xfrm>
            <a:off x="4965192" y="468172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0D1B5E"/>
                </a:solidFill>
                <a:latin typeface="Calibri"/>
              </a:rPr>
              <a:t>$169.0M</a:t>
            </a:r>
          </a:p>
        </p:txBody>
      </p:sp>
      <p:sp>
        <p:nvSpPr>
          <p:cNvPr id="206" name="c"/>
          <p:cNvSpPr txBox="1">
            <a:spLocks noGrp="1"/>
          </p:cNvSpPr>
          <p:nvPr/>
        </p:nvSpPr>
        <p:spPr>
          <a:xfrm>
            <a:off x="5788152" y="468172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207" name="c"/>
          <p:cNvSpPr txBox="1">
            <a:spLocks noGrp="1"/>
          </p:cNvSpPr>
          <p:nvPr/>
        </p:nvSpPr>
        <p:spPr>
          <a:xfrm>
            <a:off x="6537960" y="468172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dirty="0">
                <a:solidFill>
                  <a:srgbClr val="6B2D5E"/>
                </a:solidFill>
                <a:latin typeface="Calibri"/>
              </a:rPr>
              <a:t>N/D</a:t>
            </a:r>
          </a:p>
        </p:txBody>
      </p:sp>
      <p:sp>
        <p:nvSpPr>
          <p:cNvPr id="208" name="c"/>
          <p:cNvSpPr txBox="1">
            <a:spLocks noGrp="1"/>
          </p:cNvSpPr>
          <p:nvPr/>
        </p:nvSpPr>
        <p:spPr>
          <a:xfrm>
            <a:off x="7214616" y="468172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7280"/>
                </a:solidFill>
                <a:latin typeface="Calibri"/>
              </a:rPr>
              <a:t>N/D</a:t>
            </a:r>
          </a:p>
        </p:txBody>
      </p:sp>
      <p:sp>
        <p:nvSpPr>
          <p:cNvPr id="12" name="tot"/>
          <p:cNvSpPr>
            <a:spLocks noGrp="1"/>
          </p:cNvSpPr>
          <p:nvPr/>
        </p:nvSpPr>
        <p:spPr>
          <a:xfrm>
            <a:off x="320040" y="4956048"/>
            <a:ext cx="7955279" cy="274320"/>
          </a:xfrm>
          <a:prstGeom prst="rect">
            <a:avLst/>
          </a:prstGeom>
          <a:solidFill>
            <a:srgbClr val="EDE9FE"/>
          </a:solidFill>
          <a:ln w="12700">
            <a:solidFill>
              <a:srgbClr val="6B2D5E"/>
            </a:solidFill>
          </a:ln>
        </p:spPr>
      </p:sp>
      <p:sp>
        <p:nvSpPr>
          <p:cNvPr id="13" name="tc"/>
          <p:cNvSpPr txBox="1">
            <a:spLocks noGrp="1"/>
          </p:cNvSpPr>
          <p:nvPr/>
        </p:nvSpPr>
        <p:spPr>
          <a:xfrm>
            <a:off x="320040" y="495604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680" b="1" dirty="0">
                <a:solidFill>
                  <a:srgbClr val="6B2D5E"/>
                </a:solidFill>
                <a:latin typeface="Calibri"/>
              </a:rPr>
              <a:t>TOTAL SURA (4 mesas)</a:t>
            </a:r>
          </a:p>
        </p:txBody>
      </p:sp>
      <p:sp>
        <p:nvSpPr>
          <p:cNvPr id="14" name="tc"/>
          <p:cNvSpPr txBox="1">
            <a:spLocks noGrp="1"/>
          </p:cNvSpPr>
          <p:nvPr/>
        </p:nvSpPr>
        <p:spPr>
          <a:xfrm>
            <a:off x="1508760" y="4956048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2D5E"/>
                </a:solidFill>
                <a:latin typeface="Calibri"/>
              </a:rPr>
              <a:t>SURA</a:t>
            </a:r>
          </a:p>
        </p:txBody>
      </p:sp>
      <p:sp>
        <p:nvSpPr>
          <p:cNvPr id="15" name="tc"/>
          <p:cNvSpPr txBox="1">
            <a:spLocks noGrp="1"/>
          </p:cNvSpPr>
          <p:nvPr/>
        </p:nvSpPr>
        <p:spPr>
          <a:xfrm>
            <a:off x="2075688" y="4956048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2D5E"/>
                </a:solidFill>
                <a:latin typeface="Calibri"/>
              </a:rPr>
              <a:t>N2</a:t>
            </a:r>
          </a:p>
        </p:txBody>
      </p:sp>
      <p:sp>
        <p:nvSpPr>
          <p:cNvPr id="16" name="tc"/>
          <p:cNvSpPr txBox="1">
            <a:spLocks noGrp="1"/>
          </p:cNvSpPr>
          <p:nvPr/>
        </p:nvSpPr>
        <p:spPr>
          <a:xfrm>
            <a:off x="2423160" y="4956048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2D5E"/>
                </a:solidFill>
                <a:latin typeface="Calibri"/>
              </a:rPr>
              <a:t>17</a:t>
            </a:r>
          </a:p>
        </p:txBody>
      </p:sp>
      <p:sp>
        <p:nvSpPr>
          <p:cNvPr id="17" name="tc"/>
          <p:cNvSpPr txBox="1">
            <a:spLocks noGrp="1"/>
          </p:cNvSpPr>
          <p:nvPr/>
        </p:nvSpPr>
        <p:spPr>
          <a:xfrm>
            <a:off x="2734056" y="495604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2D5E"/>
                </a:solidFill>
                <a:latin typeface="Calibri"/>
              </a:rPr>
              <a:t>1,525</a:t>
            </a:r>
          </a:p>
        </p:txBody>
      </p:sp>
      <p:sp>
        <p:nvSpPr>
          <p:cNvPr id="18" name="tc"/>
          <p:cNvSpPr txBox="1">
            <a:spLocks noGrp="1"/>
          </p:cNvSpPr>
          <p:nvPr/>
        </p:nvSpPr>
        <p:spPr>
          <a:xfrm>
            <a:off x="3227832" y="4956048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2D5E"/>
                </a:solidFill>
                <a:latin typeface="Calibri"/>
              </a:rPr>
              <a:t>89</a:t>
            </a:r>
          </a:p>
        </p:txBody>
      </p:sp>
      <p:sp>
        <p:nvSpPr>
          <p:cNvPr id="19" name="tc"/>
          <p:cNvSpPr txBox="1">
            <a:spLocks noGrp="1"/>
          </p:cNvSpPr>
          <p:nvPr/>
        </p:nvSpPr>
        <p:spPr>
          <a:xfrm>
            <a:off x="3611880" y="4956048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2D5E"/>
                </a:solidFill>
                <a:latin typeface="Calibri"/>
              </a:rPr>
              <a:t>2,720h</a:t>
            </a:r>
          </a:p>
        </p:txBody>
      </p:sp>
      <p:sp>
        <p:nvSpPr>
          <p:cNvPr id="44" name="tc"/>
          <p:cNvSpPr txBox="1">
            <a:spLocks noGrp="1"/>
          </p:cNvSpPr>
          <p:nvPr/>
        </p:nvSpPr>
        <p:spPr>
          <a:xfrm>
            <a:off x="4105656" y="495604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2D5E"/>
                </a:solidFill>
                <a:latin typeface="Calibri"/>
              </a:rPr>
              <a:t>14.5h prom</a:t>
            </a:r>
          </a:p>
        </p:txBody>
      </p:sp>
      <p:sp>
        <p:nvSpPr>
          <p:cNvPr id="209" name="tc"/>
          <p:cNvSpPr txBox="1">
            <a:spLocks noGrp="1"/>
          </p:cNvSpPr>
          <p:nvPr/>
        </p:nvSpPr>
        <p:spPr>
          <a:xfrm>
            <a:off x="4562856" y="4956048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78.5%</a:t>
            </a:r>
          </a:p>
        </p:txBody>
      </p:sp>
      <p:sp>
        <p:nvSpPr>
          <p:cNvPr id="210" name="tc"/>
          <p:cNvSpPr txBox="1">
            <a:spLocks noGrp="1"/>
          </p:cNvSpPr>
          <p:nvPr/>
        </p:nvSpPr>
        <p:spPr>
          <a:xfrm>
            <a:off x="4965192" y="495604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$239M</a:t>
            </a:r>
          </a:p>
        </p:txBody>
      </p:sp>
      <p:sp>
        <p:nvSpPr>
          <p:cNvPr id="211" name="tc"/>
          <p:cNvSpPr txBox="1">
            <a:spLocks noGrp="1"/>
          </p:cNvSpPr>
          <p:nvPr/>
        </p:nvSpPr>
        <p:spPr>
          <a:xfrm>
            <a:off x="5788152" y="4956048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2D5E"/>
                </a:solidFill>
                <a:latin typeface="Calibri"/>
              </a:rPr>
              <a:t>$156,957</a:t>
            </a:r>
          </a:p>
        </p:txBody>
      </p:sp>
      <p:sp>
        <p:nvSpPr>
          <p:cNvPr id="212" name="tc"/>
          <p:cNvSpPr txBox="1">
            <a:spLocks noGrp="1"/>
          </p:cNvSpPr>
          <p:nvPr/>
        </p:nvSpPr>
        <p:spPr>
          <a:xfrm>
            <a:off x="6537960" y="4956048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6B2D5E"/>
                </a:solidFill>
                <a:latin typeface="Calibri"/>
              </a:rPr>
              <a:t>$37</a:t>
            </a:r>
          </a:p>
        </p:txBody>
      </p:sp>
      <p:sp>
        <p:nvSpPr>
          <p:cNvPr id="213" name="tc"/>
          <p:cNvSpPr txBox="1">
            <a:spLocks noGrp="1"/>
          </p:cNvSpPr>
          <p:nvPr/>
        </p:nvSpPr>
        <p:spPr>
          <a:xfrm>
            <a:off x="7214616" y="4956048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80" b="1" dirty="0">
                <a:solidFill>
                  <a:srgbClr val="C00000"/>
                </a:solidFill>
                <a:latin typeface="Calibri"/>
              </a:rPr>
              <a:t>+$2</a:t>
            </a:r>
          </a:p>
        </p:txBody>
      </p:sp>
      <p:sp>
        <p:nvSpPr>
          <p:cNvPr id="215" name="bco_tot"/>
          <p:cNvSpPr>
            <a:spLocks noGrp="1"/>
          </p:cNvSpPr>
          <p:nvPr/>
        </p:nvSpPr>
        <p:spPr>
          <a:xfrm>
            <a:off x="320040" y="5266944"/>
            <a:ext cx="7955279" cy="274320"/>
          </a:xfrm>
          <a:prstGeom prst="rect">
            <a:avLst/>
          </a:prstGeom>
          <a:solidFill>
            <a:srgbClr val="EBF5FF"/>
          </a:solidFill>
          <a:ln w="12700">
            <a:solidFill>
              <a:srgbClr val="1A3A8F"/>
            </a:solidFill>
          </a:ln>
        </p:spPr>
      </p:sp>
      <p:sp>
        <p:nvSpPr>
          <p:cNvPr id="216" name="bc"/>
          <p:cNvSpPr txBox="1">
            <a:spLocks noGrp="1"/>
          </p:cNvSpPr>
          <p:nvPr/>
        </p:nvSpPr>
        <p:spPr>
          <a:xfrm>
            <a:off x="320040" y="526694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s-ES" sz="660" b="1" dirty="0">
                <a:solidFill>
                  <a:srgbClr val="1A3A8F"/>
                </a:solidFill>
                <a:latin typeface="Calibri"/>
              </a:rPr>
              <a:t>TOTAL BCO (5 mesas)</a:t>
            </a:r>
          </a:p>
        </p:txBody>
      </p:sp>
      <p:sp>
        <p:nvSpPr>
          <p:cNvPr id="217" name="bc"/>
          <p:cNvSpPr txBox="1">
            <a:spLocks noGrp="1"/>
          </p:cNvSpPr>
          <p:nvPr/>
        </p:nvSpPr>
        <p:spPr>
          <a:xfrm>
            <a:off x="1508760" y="5266944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 dirty="0">
                <a:solidFill>
                  <a:srgbClr val="1A3A8F"/>
                </a:solidFill>
                <a:latin typeface="Calibri"/>
              </a:rPr>
              <a:t>BCO</a:t>
            </a:r>
          </a:p>
        </p:txBody>
      </p:sp>
      <p:sp>
        <p:nvSpPr>
          <p:cNvPr id="218" name="bc"/>
          <p:cNvSpPr txBox="1">
            <a:spLocks noGrp="1"/>
          </p:cNvSpPr>
          <p:nvPr/>
        </p:nvSpPr>
        <p:spPr>
          <a:xfrm>
            <a:off x="2075688" y="5266944"/>
            <a:ext cx="34747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 dirty="0">
                <a:solidFill>
                  <a:srgbClr val="1A3A8F"/>
                </a:solidFill>
                <a:latin typeface="Calibri"/>
              </a:rPr>
              <a:t>N1</a:t>
            </a:r>
          </a:p>
        </p:txBody>
      </p:sp>
      <p:sp>
        <p:nvSpPr>
          <p:cNvPr id="219" name="bc"/>
          <p:cNvSpPr txBox="1">
            <a:spLocks noGrp="1"/>
          </p:cNvSpPr>
          <p:nvPr/>
        </p:nvSpPr>
        <p:spPr>
          <a:xfrm>
            <a:off x="2423160" y="5266944"/>
            <a:ext cx="31089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 dirty="0">
                <a:solidFill>
                  <a:srgbClr val="1A3A8F"/>
                </a:solidFill>
                <a:latin typeface="Calibri"/>
              </a:rPr>
              <a:t>32</a:t>
            </a:r>
          </a:p>
        </p:txBody>
      </p:sp>
      <p:sp>
        <p:nvSpPr>
          <p:cNvPr id="220" name="bc"/>
          <p:cNvSpPr txBox="1">
            <a:spLocks noGrp="1"/>
          </p:cNvSpPr>
          <p:nvPr/>
        </p:nvSpPr>
        <p:spPr>
          <a:xfrm>
            <a:off x="2734056" y="5266944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 dirty="0">
                <a:solidFill>
                  <a:srgbClr val="1A3A8F"/>
                </a:solidFill>
                <a:latin typeface="Calibri"/>
              </a:rPr>
              <a:t>N/D (700-3000/mesa)</a:t>
            </a:r>
          </a:p>
        </p:txBody>
      </p:sp>
      <p:sp>
        <p:nvSpPr>
          <p:cNvPr id="221" name="bc"/>
          <p:cNvSpPr txBox="1">
            <a:spLocks noGrp="1"/>
          </p:cNvSpPr>
          <p:nvPr/>
        </p:nvSpPr>
        <p:spPr>
          <a:xfrm>
            <a:off x="3227832" y="5266944"/>
            <a:ext cx="38404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 dirty="0">
                <a:solidFill>
                  <a:srgbClr val="1A3A8F"/>
                </a:solidFill>
                <a:latin typeface="Calibri"/>
              </a:rPr>
              <a:t>80-250</a:t>
            </a:r>
          </a:p>
        </p:txBody>
      </p:sp>
      <p:sp>
        <p:nvSpPr>
          <p:cNvPr id="222" name="bc"/>
          <p:cNvSpPr txBox="1">
            <a:spLocks noGrp="1"/>
          </p:cNvSpPr>
          <p:nvPr/>
        </p:nvSpPr>
        <p:spPr>
          <a:xfrm>
            <a:off x="3611880" y="5266944"/>
            <a:ext cx="49377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 dirty="0">
                <a:solidFill>
                  <a:srgbClr val="1A3A8F"/>
                </a:solidFill>
                <a:latin typeface="Calibri"/>
              </a:rPr>
              <a:t>5,120h</a:t>
            </a:r>
          </a:p>
        </p:txBody>
      </p:sp>
      <p:sp>
        <p:nvSpPr>
          <p:cNvPr id="223" name="bc"/>
          <p:cNvSpPr txBox="1">
            <a:spLocks noGrp="1"/>
          </p:cNvSpPr>
          <p:nvPr/>
        </p:nvSpPr>
        <p:spPr>
          <a:xfrm>
            <a:off x="4105656" y="5266944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 dirty="0">
                <a:solidFill>
                  <a:srgbClr val="1A3A8F"/>
                </a:solidFill>
                <a:latin typeface="Calibri"/>
              </a:rPr>
              <a:t>0.5-3h</a:t>
            </a:r>
          </a:p>
        </p:txBody>
      </p:sp>
      <p:sp>
        <p:nvSpPr>
          <p:cNvPr id="224" name="bc"/>
          <p:cNvSpPr txBox="1">
            <a:spLocks noGrp="1"/>
          </p:cNvSpPr>
          <p:nvPr/>
        </p:nvSpPr>
        <p:spPr>
          <a:xfrm>
            <a:off x="4562856" y="5266944"/>
            <a:ext cx="40233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 dirty="0">
                <a:solidFill>
                  <a:srgbClr val="1A3A8F"/>
                </a:solidFill>
                <a:latin typeface="Calibri"/>
              </a:rPr>
              <a:t>Sin ANS formal</a:t>
            </a:r>
          </a:p>
        </p:txBody>
      </p:sp>
      <p:sp>
        <p:nvSpPr>
          <p:cNvPr id="225" name="bc"/>
          <p:cNvSpPr txBox="1">
            <a:spLocks noGrp="1"/>
          </p:cNvSpPr>
          <p:nvPr/>
        </p:nvSpPr>
        <p:spPr>
          <a:xfrm>
            <a:off x="4965192" y="5266944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 dirty="0">
                <a:solidFill>
                  <a:srgbClr val="1A3A8F"/>
                </a:solidFill>
                <a:latin typeface="Calibri"/>
              </a:rPr>
              <a:t>$451M</a:t>
            </a:r>
          </a:p>
        </p:txBody>
      </p:sp>
      <p:sp>
        <p:nvSpPr>
          <p:cNvPr id="226" name="bc"/>
          <p:cNvSpPr txBox="1">
            <a:spLocks noGrp="1"/>
          </p:cNvSpPr>
          <p:nvPr/>
        </p:nvSpPr>
        <p:spPr>
          <a:xfrm>
            <a:off x="5788152" y="5266944"/>
            <a:ext cx="749808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 dirty="0">
                <a:solidFill>
                  <a:srgbClr val="1A3A8F"/>
                </a:solidFill>
                <a:latin typeface="Calibri"/>
              </a:rPr>
              <a:t>N/D</a:t>
            </a:r>
          </a:p>
        </p:txBody>
      </p:sp>
      <p:sp>
        <p:nvSpPr>
          <p:cNvPr id="227" name="bc"/>
          <p:cNvSpPr txBox="1">
            <a:spLocks noGrp="1"/>
          </p:cNvSpPr>
          <p:nvPr/>
        </p:nvSpPr>
        <p:spPr>
          <a:xfrm>
            <a:off x="6537960" y="5266944"/>
            <a:ext cx="67665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 dirty="0">
                <a:solidFill>
                  <a:srgbClr val="1A3A8F"/>
                </a:solidFill>
                <a:latin typeface="Calibri"/>
              </a:rPr>
              <a:t>N/D</a:t>
            </a:r>
          </a:p>
        </p:txBody>
      </p:sp>
      <p:sp>
        <p:nvSpPr>
          <p:cNvPr id="228" name="bc"/>
          <p:cNvSpPr txBox="1">
            <a:spLocks noGrp="1"/>
          </p:cNvSpPr>
          <p:nvPr/>
        </p:nvSpPr>
        <p:spPr>
          <a:xfrm>
            <a:off x="7214616" y="5266944"/>
            <a:ext cx="585216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s-ES" sz="660" b="1" dirty="0">
                <a:solidFill>
                  <a:srgbClr val="1A3A8F"/>
                </a:solidFill>
                <a:latin typeface="Calibri"/>
              </a:rPr>
              <a:t>N/D</a:t>
            </a:r>
          </a:p>
        </p:txBody>
      </p:sp>
      <p:sp>
        <p:nvSpPr>
          <p:cNvPr id="230" name="nb1"/>
          <p:cNvSpPr>
            <a:spLocks noGrp="1"/>
          </p:cNvSpPr>
          <p:nvPr/>
        </p:nvSpPr>
        <p:spPr>
          <a:xfrm>
            <a:off x="320040" y="5596128"/>
            <a:ext cx="3794760" cy="493776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B45309"/>
            </a:solidFill>
          </a:ln>
        </p:spPr>
      </p:sp>
      <p:sp>
        <p:nvSpPr>
          <p:cNvPr id="231" name="nt1"/>
          <p:cNvSpPr txBox="1">
            <a:spLocks noGrp="1"/>
          </p:cNvSpPr>
          <p:nvPr/>
        </p:nvSpPr>
        <p:spPr>
          <a:xfrm>
            <a:off x="411480" y="5632704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860" b="1" dirty="0">
                <a:solidFill>
                  <a:srgbClr val="92400E"/>
                </a:solidFill>
                <a:latin typeface="Calibri"/>
              </a:rPr>
              <a:t>⚠  XM — Anomalia: </a:t>
            </a:r>
            <a:r>
              <a:rPr lang="es-ES" sz="840" dirty="0">
                <a:solidFill>
                  <a:srgbClr val="92400E"/>
                </a:solidFill>
                <a:latin typeface="Calibri"/>
              </a:rPr>
              <a:t>USD $149/ticket porque 4 FTE resuelven solo 90 tix/mes (22 tix/FTE vs 80+ industria). Mucho trabajo no-ticketado — soporte 24x7 a 14 componentes criticos.</a:t>
            </a:r>
          </a:p>
        </p:txBody>
      </p:sp>
      <p:sp>
        <p:nvSpPr>
          <p:cNvPr id="232" name="nb2"/>
          <p:cNvSpPr>
            <a:spLocks noGrp="1"/>
          </p:cNvSpPr>
          <p:nvPr/>
        </p:nvSpPr>
        <p:spPr>
          <a:xfrm>
            <a:off x="4041648" y="5596128"/>
            <a:ext cx="3904487" cy="493776"/>
          </a:xfrm>
          <a:prstGeom prst="roundRect">
            <a:avLst>
              <a:gd name="adj" fmla="val 8000"/>
            </a:avLst>
          </a:prstGeom>
          <a:solidFill>
            <a:srgbClr val="E8F5EE"/>
          </a:solidFill>
          <a:ln w="12700">
            <a:solidFill>
              <a:srgbClr val="1A6B3C"/>
            </a:solidFill>
          </a:ln>
        </p:spPr>
      </p:sp>
      <p:sp>
        <p:nvSpPr>
          <p:cNvPr id="233" name="nt2"/>
          <p:cNvSpPr txBox="1">
            <a:spLocks noGrp="1"/>
          </p:cNvSpPr>
          <p:nvPr/>
        </p:nvSpPr>
        <p:spPr>
          <a:xfrm>
            <a:off x="4133087" y="5632704"/>
            <a:ext cx="3767328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860" b="1" dirty="0">
                <a:solidFill>
                  <a:srgbClr val="1A6B3C"/>
                </a:solidFill>
                <a:latin typeface="Calibri"/>
              </a:rPr>
              <a:t>✓  MEDICARTE — Mejor desempeño: </a:t>
            </a:r>
            <a:r>
              <a:rPr lang="es-ES" sz="840" dirty="0">
                <a:solidFill>
                  <a:srgbClr val="1A6B3C"/>
                </a:solidFill>
                <a:latin typeface="Calibri"/>
              </a:rPr>
              <a:t>FCR 68% · MTTR 0.55h · SLA 89% · 8% autoservicio N0. Unica mesa con metricas formales. Referencia de como deberian verse todas.</a:t>
            </a:r>
          </a:p>
        </p:txBody>
      </p:sp>
      <p:sp>
        <p:nvSpPr>
          <p:cNvPr id="240" name="src"/>
          <p:cNvSpPr txBox="1">
            <a:spLocks noGrp="1"/>
          </p:cNvSpPr>
          <p:nvPr/>
        </p:nvSpPr>
        <p:spPr>
          <a:xfrm>
            <a:off x="320040" y="4462272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780" i="1" dirty="0">
                <a:solidFill>
                  <a:srgbClr val="6B7280"/>
                </a:solidFill>
                <a:latin typeface="Calibri"/>
              </a:rPr>
              <a:t>Fuente: Levantamiento interno PersonalSoft · Excel Levantamiento_Mesas_Julio_2026 · Transcripts: Elsy Marin (SURA), Michael Arevalo (AES), Diego Serna (XM), Virginia &amp; Lina (BCO), Bancolombia · Benchmarks: </a:t>
            </a:r>
            <a:r>
              <a:rPr lang="es-ES" sz="780" u="sng" dirty="0">
                <a:solidFill>
                  <a:srgbClr val="1A3A8F"/>
                </a:solidFill>
                <a:latin typeface="Calibri"/>
                <a:hlinkClick r:id="rId2"/>
              </a:rPr>
              <a:t>HDI Standard</a:t>
            </a:r>
            <a:r>
              <a:rPr lang="es-ES" sz="780" dirty="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80" u="sng" dirty="0">
                <a:solidFill>
                  <a:srgbClr val="1A3A8F"/>
                </a:solidFill>
                <a:latin typeface="Calibri"/>
                <a:hlinkClick r:id="rId3"/>
              </a:rPr>
              <a:t>MetricNet MTTR</a:t>
            </a:r>
            <a:r>
              <a:rPr lang="es-ES" sz="780" dirty="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80" u="sng" dirty="0">
                <a:solidFill>
                  <a:srgbClr val="1A3A8F"/>
                </a:solidFill>
                <a:latin typeface="Calibri"/>
                <a:hlinkClick r:id="rId4"/>
              </a:rPr>
              <a:t>Gartner Cost per Ticket</a:t>
            </a:r>
          </a:p>
        </p:txBody>
      </p:sp>
    </p:spTree>
    <p:extLst>
      <p:ext uri="{BB962C8B-B14F-4D97-AF65-F5344CB8AC3E}">
        <p14:creationId xmlns:p14="http://schemas.microsoft.com/office/powerpoint/2010/main" val="11534261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E53F43-04D1-9DE1-63DA-152676867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eddit Sans Light"/>
                <a:cs typeface="Reddit Sans Light"/>
              </a:rPr>
              <a:t>Lo </a:t>
            </a:r>
            <a:r>
              <a:rPr lang="en-US" dirty="0" err="1">
                <a:latin typeface="Reddit Sans Light"/>
                <a:cs typeface="Reddit Sans Light"/>
              </a:rPr>
              <a:t>que</a:t>
            </a:r>
            <a:r>
              <a:rPr lang="en-US" dirty="0">
                <a:latin typeface="Reddit Sans Light"/>
                <a:cs typeface="Reddit Sans Light"/>
              </a:rPr>
              <a:t> </a:t>
            </a:r>
            <a:r>
              <a:rPr lang="en-US" dirty="0" err="1">
                <a:latin typeface="Reddit Sans Light"/>
                <a:cs typeface="Reddit Sans Light"/>
              </a:rPr>
              <a:t>nos</a:t>
            </a:r>
            <a:r>
              <a:rPr lang="en-US" dirty="0">
                <a:latin typeface="Reddit Sans Light"/>
                <a:cs typeface="Reddit Sans Light"/>
              </a:rPr>
              <a:t> </a:t>
            </a:r>
            <a:r>
              <a:rPr lang="en-US" dirty="0" err="1">
                <a:latin typeface="Reddit Sans Light"/>
                <a:cs typeface="Reddit Sans Light"/>
              </a:rPr>
              <a:t>dijeron</a:t>
            </a:r>
            <a:r>
              <a:rPr lang="en-US" dirty="0">
                <a:latin typeface="Reddit Sans Light"/>
                <a:cs typeface="Reddit Sans Light"/>
              </a:rPr>
              <a:t> — Voz </a:t>
            </a:r>
            <a:r>
              <a:rPr lang="en-US" dirty="0" err="1">
                <a:latin typeface="Reddit Sans Light"/>
                <a:cs typeface="Reddit Sans Light"/>
              </a:rPr>
              <a:t>directa</a:t>
            </a:r>
            <a:r>
              <a:rPr lang="en-US" dirty="0">
                <a:latin typeface="Reddit Sans Light"/>
                <a:cs typeface="Reddit Sans Light"/>
              </a:rPr>
              <a:t> de </a:t>
            </a:r>
            <a:r>
              <a:rPr lang="en-US" dirty="0" err="1">
                <a:latin typeface="Reddit Sans Light"/>
                <a:cs typeface="Reddit Sans Light"/>
              </a:rPr>
              <a:t>los</a:t>
            </a:r>
            <a:r>
              <a:rPr lang="en-US" dirty="0">
                <a:latin typeface="Reddit Sans Light"/>
                <a:cs typeface="Reddit Sans Light"/>
              </a:rPr>
              <a:t> </a:t>
            </a:r>
            <a:r>
              <a:rPr lang="en-US" dirty="0" err="1">
                <a:latin typeface="Reddit Sans Light"/>
                <a:cs typeface="Reddit Sans Light"/>
              </a:rPr>
              <a:t>líderes</a:t>
            </a:r>
            <a:r>
              <a:rPr lang="en-US" dirty="0">
                <a:latin typeface="Reddit Sans Light"/>
                <a:cs typeface="Reddit Sans Light"/>
              </a:rPr>
              <a:t> de mesa</a:t>
            </a:r>
            <a:endParaRPr lang="es-ES" dirty="0">
              <a:latin typeface="Reddit Sans Light"/>
              <a:cs typeface="Reddit Sans Light"/>
            </a:endParaRPr>
          </a:p>
          <a:p>
            <a:endParaRPr lang="es-ES" dirty="0">
              <a:latin typeface="Reddit Sans Light"/>
              <a:cs typeface="Reddit Sans Light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6180CFB9-3873-7C00-C153-CF971F4BECF1}"/>
              </a:ext>
            </a:extLst>
          </p:cNvPr>
          <p:cNvSpPr/>
          <p:nvPr/>
        </p:nvSpPr>
        <p:spPr>
          <a:xfrm>
            <a:off x="342900" y="891540"/>
            <a:ext cx="4149090" cy="1611630"/>
          </a:xfrm>
          <a:prstGeom prst="roundRect">
            <a:avLst>
              <a:gd name="adj" fmla="val 2553"/>
            </a:avLst>
          </a:prstGeom>
          <a:solidFill>
            <a:srgbClr val="1C2E52"/>
          </a:solidFill>
          <a:ln/>
        </p:spPr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F021ADA5-5DD0-5C06-1D2C-DB5B28934647}"/>
              </a:ext>
            </a:extLst>
          </p:cNvPr>
          <p:cNvSpPr/>
          <p:nvPr/>
        </p:nvSpPr>
        <p:spPr>
          <a:xfrm>
            <a:off x="480060" y="925830"/>
            <a:ext cx="685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300" b="1" dirty="0">
                <a:solidFill>
                  <a:srgbClr val="0072BC"/>
                </a:solidFill>
                <a:latin typeface="Reddit Sans Light"/>
                <a:ea typeface="Calibri" pitchFamily="34" charset="-122"/>
                <a:cs typeface="Reddit Sans Light"/>
              </a:rPr>
              <a:t>“</a:t>
            </a:r>
            <a:endParaRPr lang="en-US" sz="3300" dirty="0">
              <a:latin typeface="Reddit Sans Light"/>
              <a:cs typeface="Reddit Sans Light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7204C9EB-2BA1-0C92-FA80-62712063B242}"/>
              </a:ext>
            </a:extLst>
          </p:cNvPr>
          <p:cNvSpPr/>
          <p:nvPr/>
        </p:nvSpPr>
        <p:spPr>
          <a:xfrm>
            <a:off x="582930" y="1268730"/>
            <a:ext cx="366903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 pitchFamily="34" charset="-122"/>
                <a:cs typeface="Reddit Sans Light"/>
              </a:rPr>
              <a:t>Mis dolores principales son capacidad, gestión de conocimiento y disponibilidad. Los 4 chicos de soporte son mi personal clave y necesito gente muy experta.</a:t>
            </a:r>
            <a:endParaRPr lang="en-US" sz="900" dirty="0">
              <a:latin typeface="Reddit Sans Light"/>
              <a:cs typeface="Reddit Sans Light"/>
            </a:endParaRPr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5F5FFC23-6CBF-9AFB-6904-F5889B9A4F24}"/>
              </a:ext>
            </a:extLst>
          </p:cNvPr>
          <p:cNvSpPr/>
          <p:nvPr/>
        </p:nvSpPr>
        <p:spPr>
          <a:xfrm>
            <a:off x="582930" y="2160270"/>
            <a:ext cx="3669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0072BC"/>
                </a:solidFill>
                <a:latin typeface="Reddit Sans Light"/>
                <a:ea typeface="Calibri" pitchFamily="34" charset="-122"/>
                <a:cs typeface="Reddit Sans Light"/>
              </a:rPr>
              <a:t>Diego Serna</a:t>
            </a:r>
            <a:r>
              <a:rPr lang="en-US" sz="975" dirty="0">
                <a:solidFill>
                  <a:srgbClr val="A9B4C7"/>
                </a:solidFill>
                <a:latin typeface="Reddit Sans Light"/>
                <a:ea typeface="Calibri" pitchFamily="34" charset="-122"/>
                <a:cs typeface="Reddit Sans Light"/>
              </a:rPr>
              <a:t>  ·  XM</a:t>
            </a:r>
            <a:endParaRPr lang="en-US" sz="975" dirty="0">
              <a:latin typeface="Reddit Sans Light"/>
              <a:cs typeface="Reddit Sans Light"/>
            </a:endParaRPr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1A6E34B2-23A7-2C24-C0C9-AA4105B9830F}"/>
              </a:ext>
            </a:extLst>
          </p:cNvPr>
          <p:cNvSpPr/>
          <p:nvPr/>
        </p:nvSpPr>
        <p:spPr>
          <a:xfrm>
            <a:off x="4732020" y="891540"/>
            <a:ext cx="4149090" cy="1611630"/>
          </a:xfrm>
          <a:prstGeom prst="roundRect">
            <a:avLst>
              <a:gd name="adj" fmla="val 2553"/>
            </a:avLst>
          </a:prstGeom>
          <a:solidFill>
            <a:srgbClr val="1C2E52"/>
          </a:solidFill>
          <a:ln/>
        </p:spPr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0F3B86D1-0F93-31EC-E34E-94A2839EA464}"/>
              </a:ext>
            </a:extLst>
          </p:cNvPr>
          <p:cNvSpPr/>
          <p:nvPr/>
        </p:nvSpPr>
        <p:spPr>
          <a:xfrm>
            <a:off x="4869180" y="925830"/>
            <a:ext cx="685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300" b="1" dirty="0">
                <a:solidFill>
                  <a:srgbClr val="017490"/>
                </a:solidFill>
                <a:latin typeface="Reddit Sans Light"/>
                <a:ea typeface="Calibri" pitchFamily="34" charset="-122"/>
                <a:cs typeface="Reddit Sans Light"/>
              </a:rPr>
              <a:t>“</a:t>
            </a:r>
            <a:endParaRPr lang="en-US" sz="3300" dirty="0">
              <a:latin typeface="Reddit Sans Light"/>
              <a:cs typeface="Reddit Sans Light"/>
            </a:endParaRPr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80E3B439-A57C-975F-0212-0486F4D7BF1F}"/>
              </a:ext>
            </a:extLst>
          </p:cNvPr>
          <p:cNvSpPr/>
          <p:nvPr/>
        </p:nvSpPr>
        <p:spPr>
          <a:xfrm>
            <a:off x="4972050" y="1268730"/>
            <a:ext cx="366903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 pitchFamily="34" charset="-122"/>
                <a:cs typeface="Reddit Sans Light"/>
              </a:rPr>
              <a:t>No hay algo claro en PersonalSoft que nos determine los límites de los niveles. El servicio no fue bien vendido según ITIL.</a:t>
            </a:r>
            <a:endParaRPr lang="en-US" sz="900" dirty="0">
              <a:latin typeface="Reddit Sans Light"/>
              <a:cs typeface="Reddit Sans Light"/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8BCD10BF-6DA4-A9D1-BA95-369A26DBE7D8}"/>
              </a:ext>
            </a:extLst>
          </p:cNvPr>
          <p:cNvSpPr/>
          <p:nvPr/>
        </p:nvSpPr>
        <p:spPr>
          <a:xfrm>
            <a:off x="4972050" y="2160270"/>
            <a:ext cx="3669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017490"/>
                </a:solidFill>
                <a:latin typeface="Reddit Sans Light"/>
                <a:ea typeface="Calibri" pitchFamily="34" charset="-122"/>
                <a:cs typeface="Reddit Sans Light"/>
              </a:rPr>
              <a:t>Virginia</a:t>
            </a:r>
            <a:r>
              <a:rPr lang="en-US" sz="975" dirty="0">
                <a:solidFill>
                  <a:srgbClr val="A9B4C7"/>
                </a:solidFill>
                <a:latin typeface="Reddit Sans Light"/>
                <a:ea typeface="Calibri" pitchFamily="34" charset="-122"/>
                <a:cs typeface="Reddit Sans Light"/>
              </a:rPr>
              <a:t>  ·  SURA</a:t>
            </a:r>
            <a:endParaRPr lang="en-US" sz="975" dirty="0">
              <a:latin typeface="Reddit Sans Light"/>
              <a:cs typeface="Reddit Sans Light"/>
            </a:endParaRPr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1339D07C-C0FD-B114-5F7F-9E440BE84D8B}"/>
              </a:ext>
            </a:extLst>
          </p:cNvPr>
          <p:cNvSpPr/>
          <p:nvPr/>
        </p:nvSpPr>
        <p:spPr>
          <a:xfrm>
            <a:off x="342900" y="2743200"/>
            <a:ext cx="4149090" cy="1611630"/>
          </a:xfrm>
          <a:prstGeom prst="roundRect">
            <a:avLst>
              <a:gd name="adj" fmla="val 2553"/>
            </a:avLst>
          </a:prstGeom>
          <a:solidFill>
            <a:srgbClr val="1C2E52"/>
          </a:solidFill>
          <a:ln/>
        </p:spPr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85B6E520-FC5B-86C6-23D4-09CFEC89145D}"/>
              </a:ext>
            </a:extLst>
          </p:cNvPr>
          <p:cNvSpPr/>
          <p:nvPr/>
        </p:nvSpPr>
        <p:spPr>
          <a:xfrm>
            <a:off x="480060" y="2777490"/>
            <a:ext cx="685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300" b="1" dirty="0">
                <a:solidFill>
                  <a:srgbClr val="D4A017"/>
                </a:solidFill>
                <a:latin typeface="Reddit Sans Light"/>
                <a:ea typeface="Calibri" pitchFamily="34" charset="-122"/>
                <a:cs typeface="Reddit Sans Light"/>
              </a:rPr>
              <a:t>“</a:t>
            </a:r>
            <a:endParaRPr lang="en-US" sz="3300" dirty="0">
              <a:latin typeface="Reddit Sans Light"/>
              <a:cs typeface="Reddit Sans Light"/>
            </a:endParaRPr>
          </a:p>
        </p:txBody>
      </p:sp>
      <p:sp>
        <p:nvSpPr>
          <p:cNvPr id="24" name="Text 11">
            <a:extLst>
              <a:ext uri="{FF2B5EF4-FFF2-40B4-BE49-F238E27FC236}">
                <a16:creationId xmlns:a16="http://schemas.microsoft.com/office/drawing/2014/main" id="{F4F650D9-1B7D-98B4-8547-725A391967B2}"/>
              </a:ext>
            </a:extLst>
          </p:cNvPr>
          <p:cNvSpPr/>
          <p:nvPr/>
        </p:nvSpPr>
        <p:spPr>
          <a:xfrm>
            <a:off x="582930" y="3120390"/>
            <a:ext cx="366903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 pitchFamily="34" charset="-122"/>
                <a:cs typeface="Reddit Sans Light"/>
              </a:rPr>
              <a:t>El modelo va a cambiar al punto en que nos vamos a cargar de absolutamente toda la operación. Es una oportunidad.</a:t>
            </a:r>
            <a:endParaRPr lang="en-US" sz="900" dirty="0">
              <a:latin typeface="Reddit Sans Light"/>
              <a:cs typeface="Reddit Sans Light"/>
            </a:endParaRPr>
          </a:p>
        </p:txBody>
      </p:sp>
      <p:sp>
        <p:nvSpPr>
          <p:cNvPr id="26" name="Text 12">
            <a:extLst>
              <a:ext uri="{FF2B5EF4-FFF2-40B4-BE49-F238E27FC236}">
                <a16:creationId xmlns:a16="http://schemas.microsoft.com/office/drawing/2014/main" id="{9A14174B-27BA-23D0-3FA1-A716545991F5}"/>
              </a:ext>
            </a:extLst>
          </p:cNvPr>
          <p:cNvSpPr/>
          <p:nvPr/>
        </p:nvSpPr>
        <p:spPr>
          <a:xfrm>
            <a:off x="582930" y="4011930"/>
            <a:ext cx="3669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75" b="1" dirty="0">
                <a:solidFill>
                  <a:srgbClr val="D4A017"/>
                </a:solidFill>
                <a:latin typeface="Reddit Sans Light"/>
                <a:ea typeface="Calibri" pitchFamily="34" charset="-122"/>
                <a:cs typeface="Reddit Sans Light"/>
              </a:rPr>
              <a:t>Michael Arévalo</a:t>
            </a:r>
            <a:r>
              <a:rPr lang="en-US" sz="975" dirty="0">
                <a:solidFill>
                  <a:srgbClr val="A9B4C7"/>
                </a:solidFill>
                <a:latin typeface="Reddit Sans Light"/>
                <a:ea typeface="Calibri" pitchFamily="34" charset="-122"/>
                <a:cs typeface="Reddit Sans Light"/>
              </a:rPr>
              <a:t>  ·  AES</a:t>
            </a:r>
            <a:endParaRPr lang="en-US" sz="975" dirty="0">
              <a:latin typeface="Reddit Sans Light"/>
              <a:cs typeface="Reddit Sans Light"/>
            </a:endParaRPr>
          </a:p>
        </p:txBody>
      </p:sp>
      <p:sp>
        <p:nvSpPr>
          <p:cNvPr id="28" name="Shape 13">
            <a:extLst>
              <a:ext uri="{FF2B5EF4-FFF2-40B4-BE49-F238E27FC236}">
                <a16:creationId xmlns:a16="http://schemas.microsoft.com/office/drawing/2014/main" id="{A24DCC76-DB81-57F7-81FC-A398DEBE6965}"/>
              </a:ext>
            </a:extLst>
          </p:cNvPr>
          <p:cNvSpPr/>
          <p:nvPr/>
        </p:nvSpPr>
        <p:spPr>
          <a:xfrm>
            <a:off x="4732020" y="2743200"/>
            <a:ext cx="4149090" cy="1611630"/>
          </a:xfrm>
          <a:prstGeom prst="roundRect">
            <a:avLst>
              <a:gd name="adj" fmla="val 2553"/>
            </a:avLst>
          </a:prstGeom>
          <a:solidFill>
            <a:srgbClr val="1C2E52"/>
          </a:solidFill>
          <a:ln/>
        </p:spPr>
      </p:sp>
      <p:sp>
        <p:nvSpPr>
          <p:cNvPr id="30" name="Text 14">
            <a:extLst>
              <a:ext uri="{FF2B5EF4-FFF2-40B4-BE49-F238E27FC236}">
                <a16:creationId xmlns:a16="http://schemas.microsoft.com/office/drawing/2014/main" id="{876C14A1-21B4-F701-0421-1B2FAA71BF5F}"/>
              </a:ext>
            </a:extLst>
          </p:cNvPr>
          <p:cNvSpPr/>
          <p:nvPr/>
        </p:nvSpPr>
        <p:spPr>
          <a:xfrm>
            <a:off x="4869180" y="2777490"/>
            <a:ext cx="685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300" b="1" dirty="0">
                <a:solidFill>
                  <a:srgbClr val="1F7A4D"/>
                </a:solidFill>
                <a:latin typeface="Reddit Sans Light"/>
                <a:ea typeface="Calibri" pitchFamily="34" charset="-122"/>
                <a:cs typeface="Reddit Sans Light"/>
              </a:rPr>
              <a:t>“</a:t>
            </a:r>
            <a:endParaRPr lang="en-US" sz="3300" dirty="0">
              <a:latin typeface="Reddit Sans Light"/>
              <a:cs typeface="Reddit Sans Light"/>
            </a:endParaRPr>
          </a:p>
        </p:txBody>
      </p:sp>
      <p:sp>
        <p:nvSpPr>
          <p:cNvPr id="32" name="Text 15">
            <a:extLst>
              <a:ext uri="{FF2B5EF4-FFF2-40B4-BE49-F238E27FC236}">
                <a16:creationId xmlns:a16="http://schemas.microsoft.com/office/drawing/2014/main" id="{A9C47E8A-0006-DB56-06DC-AAF78D96F72D}"/>
              </a:ext>
            </a:extLst>
          </p:cNvPr>
          <p:cNvSpPr/>
          <p:nvPr/>
        </p:nvSpPr>
        <p:spPr>
          <a:xfrm>
            <a:off x="4972050" y="3120390"/>
            <a:ext cx="366903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Los </a:t>
            </a:r>
            <a:r>
              <a:rPr lang="en-US" sz="900" i="1" dirty="0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regarcos</a:t>
            </a: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900" i="1" dirty="0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debo</a:t>
            </a: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 </a:t>
            </a:r>
            <a:r>
              <a:rPr lang="en-US" sz="900" i="1" dirty="0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pasarlos</a:t>
            </a: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 a mano </a:t>
            </a:r>
            <a:r>
              <a:rPr lang="en-US" sz="900" i="1" dirty="0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colaborar</a:t>
            </a: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900" i="1" dirty="0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por</a:t>
            </a: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 </a:t>
            </a:r>
            <a:r>
              <a:rPr lang="en-US" sz="900" i="1" dirty="0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colaborar</a:t>
            </a: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 y se </a:t>
            </a:r>
            <a:r>
              <a:rPr lang="en-US" sz="900" i="1" dirty="0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presta</a:t>
            </a: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 para el error </a:t>
            </a:r>
            <a:r>
              <a:rPr lang="en-US" sz="900" i="1" dirty="0" err="1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humano</a:t>
            </a:r>
            <a:r>
              <a:rPr lang="en-US" sz="900" i="1" dirty="0">
                <a:solidFill>
                  <a:srgbClr val="E4EAF3"/>
                </a:solidFill>
                <a:latin typeface="Reddit Sans Light"/>
                <a:ea typeface="Calibri Light"/>
                <a:cs typeface="Reddit Sans Light"/>
              </a:rPr>
              <a:t>.</a:t>
            </a:r>
          </a:p>
        </p:txBody>
      </p:sp>
      <p:sp>
        <p:nvSpPr>
          <p:cNvPr id="34" name="Text 16">
            <a:extLst>
              <a:ext uri="{FF2B5EF4-FFF2-40B4-BE49-F238E27FC236}">
                <a16:creationId xmlns:a16="http://schemas.microsoft.com/office/drawing/2014/main" id="{E6EFC550-6557-2751-4FFE-188CA4277146}"/>
              </a:ext>
            </a:extLst>
          </p:cNvPr>
          <p:cNvSpPr/>
          <p:nvPr/>
        </p:nvSpPr>
        <p:spPr>
          <a:xfrm>
            <a:off x="4972050" y="4011930"/>
            <a:ext cx="3669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50" b="1" dirty="0">
                <a:solidFill>
                  <a:srgbClr val="1F7A4D"/>
                </a:solidFill>
                <a:latin typeface="Reddit Sans Light"/>
                <a:ea typeface="Calibri"/>
                <a:cs typeface="Reddit Sans Light"/>
              </a:rPr>
              <a:t>Paul Andre Soto</a:t>
            </a:r>
            <a:r>
              <a:rPr lang="en-US" sz="950" dirty="0">
                <a:solidFill>
                  <a:srgbClr val="A9B4C7"/>
                </a:solidFill>
                <a:latin typeface="Reddit Sans Light"/>
                <a:ea typeface="Calibri"/>
                <a:cs typeface="Reddit Sans Light"/>
              </a:rPr>
              <a:t> ·  </a:t>
            </a:r>
            <a:r>
              <a:rPr lang="en-US" sz="950" dirty="0" err="1">
                <a:solidFill>
                  <a:srgbClr val="A9B4C7"/>
                </a:solidFill>
                <a:latin typeface="Reddit Sans Light"/>
                <a:ea typeface="Calibri"/>
                <a:cs typeface="Reddit Sans Light"/>
              </a:rPr>
              <a:t>Bancolombia</a:t>
            </a:r>
            <a:endParaRPr lang="en-US" sz="975" dirty="0" err="1">
              <a:latin typeface="Reddit Sans Light"/>
              <a:cs typeface="Reddit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1460234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>
          <a:extLst>
            <a:ext uri="{FF2B5EF4-FFF2-40B4-BE49-F238E27FC236}">
              <a16:creationId xmlns:a16="http://schemas.microsoft.com/office/drawing/2014/main" id="{AEBFDBAD-7B05-EED9-1EF5-413E891F7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>
            <a:extLst>
              <a:ext uri="{FF2B5EF4-FFF2-40B4-BE49-F238E27FC236}">
                <a16:creationId xmlns:a16="http://schemas.microsoft.com/office/drawing/2014/main" id="{4B2582B4-18D3-4368-CA11-A1D396FEC3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9550" y="404904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>
              <a:buClr>
                <a:schemeClr val="dk1"/>
              </a:buClr>
              <a:buSzPct val="54999"/>
            </a:pPr>
            <a:r>
              <a:rPr lang="es" sz="1800">
                <a:solidFill>
                  <a:schemeClr val="bg1"/>
                </a:solidFill>
                <a:sym typeface="Reddit Sans Medium"/>
              </a:rPr>
              <a:t>Mesas de Servicio Actuales</a:t>
            </a:r>
            <a:endParaRPr lang="es-ES">
              <a:solidFill>
                <a:schemeClr val="bg1"/>
              </a:solidFill>
              <a:latin typeface="Reddit Sans" pitchFamily="2" charset="0"/>
              <a:ea typeface="Reddit Sans" pitchFamily="2" charset="0"/>
            </a:endParaRPr>
          </a:p>
        </p:txBody>
      </p:sp>
      <p:sp>
        <p:nvSpPr>
          <p:cNvPr id="146" name="Google Shape;146;p5">
            <a:extLst>
              <a:ext uri="{FF2B5EF4-FFF2-40B4-BE49-F238E27FC236}">
                <a16:creationId xmlns:a16="http://schemas.microsoft.com/office/drawing/2014/main" id="{E43C39F1-AE88-CEAB-FF66-1C0A9CE8A5E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463050" y="1464657"/>
            <a:ext cx="3757500" cy="19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s"/>
              <a:t>Segmentos de Mercado Priorizados</a:t>
            </a:r>
            <a:endParaRPr lang="es-ES"/>
          </a:p>
        </p:txBody>
      </p:sp>
      <p:cxnSp>
        <p:nvCxnSpPr>
          <p:cNvPr id="147" name="Google Shape;147;p5">
            <a:extLst>
              <a:ext uri="{FF2B5EF4-FFF2-40B4-BE49-F238E27FC236}">
                <a16:creationId xmlns:a16="http://schemas.microsoft.com/office/drawing/2014/main" id="{8BFA854E-B0B5-D66E-A8B9-C86B85A5FA57}"/>
              </a:ext>
            </a:extLst>
          </p:cNvPr>
          <p:cNvCxnSpPr/>
          <p:nvPr/>
        </p:nvCxnSpPr>
        <p:spPr>
          <a:xfrm rot="10800000" flipH="1">
            <a:off x="442269" y="612577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524AE519-5A1F-729A-5BAF-07AFD2B3AFFF}"/>
              </a:ext>
            </a:extLst>
          </p:cNvPr>
          <p:cNvSpPr txBox="1"/>
          <p:nvPr/>
        </p:nvSpPr>
        <p:spPr>
          <a:xfrm>
            <a:off x="4757057" y="693967"/>
            <a:ext cx="3946074" cy="452931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/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Sector Banca Prioritario </a:t>
            </a:r>
            <a:endParaRPr lang="es-ES"/>
          </a:p>
          <a:p>
            <a:pPr>
              <a:lnSpc>
                <a:spcPct val="150000"/>
              </a:lnSpc>
            </a:pP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Banca destaca por alta regulación, uso avanzado de IA y presión por continuidad operativa, con alta inversión en soluciones. </a:t>
            </a:r>
          </a:p>
          <a:p>
            <a:pPr>
              <a:lnSpc>
                <a:spcPct val="150000"/>
              </a:lnSpc>
            </a:pPr>
            <a:endParaRPr lang="es-ES" sz="7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Oportunidades en </a:t>
            </a:r>
            <a:r>
              <a:rPr lang="es-ES" sz="1100" b="1" err="1">
                <a:solidFill>
                  <a:srgbClr val="0E337C"/>
                </a:solidFill>
                <a:latin typeface="Reddit Sans"/>
                <a:cs typeface="Segoe UI"/>
              </a:rPr>
              <a:t>Utilities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s-ES" sz="1100" err="1">
                <a:solidFill>
                  <a:srgbClr val="444444"/>
                </a:solidFill>
                <a:latin typeface="Reddit Sans"/>
                <a:cs typeface="Segoe UI"/>
              </a:rPr>
              <a:t>Utilities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operan 24/7, creando oportunidades para </a:t>
            </a:r>
            <a:r>
              <a:rPr lang="es-ES" sz="1100" err="1">
                <a:solidFill>
                  <a:srgbClr val="444444"/>
                </a:solidFill>
                <a:latin typeface="Reddit Sans"/>
                <a:cs typeface="Segoe UI"/>
              </a:rPr>
              <a:t>AIOps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y </a:t>
            </a:r>
            <a:r>
              <a:rPr lang="es-ES" sz="1100" err="1">
                <a:solidFill>
                  <a:srgbClr val="444444"/>
                </a:solidFill>
                <a:latin typeface="Reddit Sans"/>
                <a:cs typeface="Segoe UI"/>
              </a:rPr>
              <a:t>observabilidad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predictiva para mejorar operaciones críticas. </a:t>
            </a:r>
          </a:p>
          <a:p>
            <a:pPr>
              <a:lnSpc>
                <a:spcPct val="150000"/>
              </a:lnSpc>
            </a:pPr>
            <a:endParaRPr lang="es-ES" sz="7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Empresas Medianas y Deuda Técnica </a:t>
            </a:r>
          </a:p>
          <a:p>
            <a:pPr>
              <a:lnSpc>
                <a:spcPct val="150000"/>
              </a:lnSpc>
            </a:pP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Empresas medianas enfrentan alta deuda técnica y baja madurez, lo que abre oportunidades para modernización rápida. </a:t>
            </a:r>
          </a:p>
          <a:p>
            <a:pPr>
              <a:lnSpc>
                <a:spcPct val="150000"/>
              </a:lnSpc>
            </a:pPr>
            <a:endParaRPr lang="es-ES" sz="7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Retos en el Sector Salud </a:t>
            </a:r>
            <a:endParaRPr lang="es-ES" sz="11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Salud requiere cumplimiento normativo, protección de datos y continuidad, exigiendo soluciones estandarizadas y trazables..</a:t>
            </a:r>
          </a:p>
          <a:p>
            <a:pPr>
              <a:lnSpc>
                <a:spcPct val="150000"/>
              </a:lnSpc>
            </a:pPr>
            <a:endParaRPr lang="es-ES" sz="1100">
              <a:solidFill>
                <a:srgbClr val="444444"/>
              </a:solidFill>
              <a:latin typeface="Reddit Sans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654669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059B3F8-F6E6-BAD1-E2A6-02EAC1C66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53">
            <a:extLst>
              <a:ext uri="{FF2B5EF4-FFF2-40B4-BE49-F238E27FC236}">
                <a16:creationId xmlns:a16="http://schemas.microsoft.com/office/drawing/2014/main" id="{DAB75E3A-25F9-CD28-DF18-093D1347404F}"/>
              </a:ext>
            </a:extLst>
          </p:cNvPr>
          <p:cNvSpPr/>
          <p:nvPr/>
        </p:nvSpPr>
        <p:spPr>
          <a:xfrm>
            <a:off x="8116389" y="4657779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11 / 12</a:t>
            </a:r>
            <a:endParaRPr lang="en-US" sz="800">
              <a:latin typeface="Reddit Sans" panose="020B0604020202020204" charset="0"/>
              <a:ea typeface="Reddit Sans" panose="020B0604020202020204" charset="0"/>
            </a:endParaRPr>
          </a:p>
        </p:txBody>
      </p:sp>
      <p:pic>
        <p:nvPicPr>
          <p:cNvPr id="4" name="Image 0" descr="-5107849e.png">
            <a:extLst>
              <a:ext uri="{FF2B5EF4-FFF2-40B4-BE49-F238E27FC236}">
                <a16:creationId xmlns:a16="http://schemas.microsoft.com/office/drawing/2014/main" id="{28A82C43-E3C6-C6CD-BAC6-F81E06F09D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791"/>
          <a:stretch>
            <a:fillRect/>
          </a:stretch>
        </p:blipFill>
        <p:spPr>
          <a:xfrm>
            <a:off x="346302" y="1737590"/>
            <a:ext cx="1587953" cy="892969"/>
          </a:xfrm>
          <a:prstGeom prst="rect">
            <a:avLst/>
          </a:prstGeom>
        </p:spPr>
      </p:pic>
      <p:sp>
        <p:nvSpPr>
          <p:cNvPr id="18" name="Shape 4">
            <a:extLst>
              <a:ext uri="{FF2B5EF4-FFF2-40B4-BE49-F238E27FC236}">
                <a16:creationId xmlns:a16="http://schemas.microsoft.com/office/drawing/2014/main" id="{F0C4D562-BBCB-B7C0-4400-98FB4BD2D720}"/>
              </a:ext>
            </a:extLst>
          </p:cNvPr>
          <p:cNvSpPr/>
          <p:nvPr/>
        </p:nvSpPr>
        <p:spPr>
          <a:xfrm>
            <a:off x="1067820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</p:sp>
      <p:pic>
        <p:nvPicPr>
          <p:cNvPr id="26" name="Image 1" descr="3c0be2e2.png">
            <a:extLst>
              <a:ext uri="{FF2B5EF4-FFF2-40B4-BE49-F238E27FC236}">
                <a16:creationId xmlns:a16="http://schemas.microsoft.com/office/drawing/2014/main" id="{A674CBB6-8DD1-14B6-CCC7-EC33E782E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147" y="1653874"/>
            <a:ext cx="150019" cy="171450"/>
          </a:xfrm>
          <a:prstGeom prst="rect">
            <a:avLst/>
          </a:prstGeom>
        </p:spPr>
      </p:pic>
      <p:pic>
        <p:nvPicPr>
          <p:cNvPr id="30" name="Image 2" descr="-664449e.png">
            <a:extLst>
              <a:ext uri="{FF2B5EF4-FFF2-40B4-BE49-F238E27FC236}">
                <a16:creationId xmlns:a16="http://schemas.microsoft.com/office/drawing/2014/main" id="{1F13A14C-37E0-CE3B-9F72-1DB8E0C237A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791"/>
          <a:stretch>
            <a:fillRect/>
          </a:stretch>
        </p:blipFill>
        <p:spPr>
          <a:xfrm>
            <a:off x="3173866" y="1737590"/>
            <a:ext cx="1587953" cy="892969"/>
          </a:xfrm>
          <a:prstGeom prst="rect">
            <a:avLst/>
          </a:prstGeom>
        </p:spPr>
      </p:pic>
      <p:sp>
        <p:nvSpPr>
          <p:cNvPr id="55" name="Text 5">
            <a:extLst>
              <a:ext uri="{FF2B5EF4-FFF2-40B4-BE49-F238E27FC236}">
                <a16:creationId xmlns:a16="http://schemas.microsoft.com/office/drawing/2014/main" id="{5DF28F97-723F-C4DB-468E-C7C0CB50E22F}"/>
              </a:ext>
            </a:extLst>
          </p:cNvPr>
          <p:cNvSpPr/>
          <p:nvPr/>
        </p:nvSpPr>
        <p:spPr>
          <a:xfrm>
            <a:off x="3380355" y="2023786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N2</a:t>
            </a:r>
            <a:br>
              <a:rPr lang="en-US" sz="1350" kern="0" spc="-81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Administrado</a:t>
            </a:r>
            <a:r>
              <a:rPr lang="en-US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Estandarizado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57" name="Shape 7">
            <a:extLst>
              <a:ext uri="{FF2B5EF4-FFF2-40B4-BE49-F238E27FC236}">
                <a16:creationId xmlns:a16="http://schemas.microsoft.com/office/drawing/2014/main" id="{FD8B39D4-C8B2-E74C-26AB-ACD88FE59515}"/>
              </a:ext>
            </a:extLst>
          </p:cNvPr>
          <p:cNvSpPr/>
          <p:nvPr/>
        </p:nvSpPr>
        <p:spPr>
          <a:xfrm>
            <a:off x="3922599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</p:sp>
      <p:pic>
        <p:nvPicPr>
          <p:cNvPr id="59" name="Image 3" descr="327946a2.png">
            <a:extLst>
              <a:ext uri="{FF2B5EF4-FFF2-40B4-BE49-F238E27FC236}">
                <a16:creationId xmlns:a16="http://schemas.microsoft.com/office/drawing/2014/main" id="{FB5A92C4-8F66-9AAA-69E2-390963ABE9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9452" y="1654921"/>
            <a:ext cx="128588" cy="164306"/>
          </a:xfrm>
          <a:prstGeom prst="rect">
            <a:avLst/>
          </a:prstGeom>
        </p:spPr>
      </p:pic>
      <p:pic>
        <p:nvPicPr>
          <p:cNvPr id="61" name="Image 4" descr="-63bd839e.png">
            <a:extLst>
              <a:ext uri="{FF2B5EF4-FFF2-40B4-BE49-F238E27FC236}">
                <a16:creationId xmlns:a16="http://schemas.microsoft.com/office/drawing/2014/main" id="{BE029EAD-2420-5D09-340A-4230612EDAA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11791"/>
          <a:stretch>
            <a:fillRect/>
          </a:stretch>
        </p:blipFill>
        <p:spPr>
          <a:xfrm>
            <a:off x="4586288" y="1737590"/>
            <a:ext cx="1587953" cy="892969"/>
          </a:xfrm>
          <a:prstGeom prst="rect">
            <a:avLst/>
          </a:prstGeom>
        </p:spPr>
      </p:pic>
      <p:sp>
        <p:nvSpPr>
          <p:cNvPr id="63" name="Text 8">
            <a:extLst>
              <a:ext uri="{FF2B5EF4-FFF2-40B4-BE49-F238E27FC236}">
                <a16:creationId xmlns:a16="http://schemas.microsoft.com/office/drawing/2014/main" id="{82F79720-243B-C485-D65F-3CFA0FFF7672}"/>
              </a:ext>
            </a:extLst>
          </p:cNvPr>
          <p:cNvSpPr/>
          <p:nvPr/>
        </p:nvSpPr>
        <p:spPr>
          <a:xfrm>
            <a:off x="4819991" y="2022257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N3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Definido</a:t>
            </a:r>
            <a:r>
              <a:rPr lang="en-US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1000" err="1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Proactivo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65" name="Shape 10">
            <a:extLst>
              <a:ext uri="{FF2B5EF4-FFF2-40B4-BE49-F238E27FC236}">
                <a16:creationId xmlns:a16="http://schemas.microsoft.com/office/drawing/2014/main" id="{21FD19DC-D90C-6EC9-6E4F-5BEDF21DF408}"/>
              </a:ext>
            </a:extLst>
          </p:cNvPr>
          <p:cNvSpPr/>
          <p:nvPr/>
        </p:nvSpPr>
        <p:spPr>
          <a:xfrm>
            <a:off x="5318692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</p:sp>
      <p:pic>
        <p:nvPicPr>
          <p:cNvPr id="67" name="Image 5" descr="-26c90fde.png">
            <a:extLst>
              <a:ext uri="{FF2B5EF4-FFF2-40B4-BE49-F238E27FC236}">
                <a16:creationId xmlns:a16="http://schemas.microsoft.com/office/drawing/2014/main" id="{B762074A-AAB6-4547-B8EE-8780C8481E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9385" y="1649689"/>
            <a:ext cx="178594" cy="178594"/>
          </a:xfrm>
          <a:prstGeom prst="rect">
            <a:avLst/>
          </a:prstGeom>
        </p:spPr>
      </p:pic>
      <p:pic>
        <p:nvPicPr>
          <p:cNvPr id="69" name="Image 6" descr="-5a47b8de.png">
            <a:extLst>
              <a:ext uri="{FF2B5EF4-FFF2-40B4-BE49-F238E27FC236}">
                <a16:creationId xmlns:a16="http://schemas.microsoft.com/office/drawing/2014/main" id="{13BE99D7-74B0-2391-0FBD-845DA3B4F64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1791"/>
          <a:stretch>
            <a:fillRect/>
          </a:stretch>
        </p:blipFill>
        <p:spPr>
          <a:xfrm>
            <a:off x="5998709" y="1737590"/>
            <a:ext cx="1587953" cy="892969"/>
          </a:xfrm>
          <a:prstGeom prst="rect">
            <a:avLst/>
          </a:prstGeom>
        </p:spPr>
      </p:pic>
      <p:sp>
        <p:nvSpPr>
          <p:cNvPr id="71" name="Text 11">
            <a:extLst>
              <a:ext uri="{FF2B5EF4-FFF2-40B4-BE49-F238E27FC236}">
                <a16:creationId xmlns:a16="http://schemas.microsoft.com/office/drawing/2014/main" id="{923C29D6-5D27-7DC6-4DBE-60F29FCE2D59}"/>
              </a:ext>
            </a:extLst>
          </p:cNvPr>
          <p:cNvSpPr/>
          <p:nvPr/>
        </p:nvSpPr>
        <p:spPr>
          <a:xfrm>
            <a:off x="6194312" y="2023786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N4</a:t>
            </a:r>
            <a:br>
              <a:rPr lang="en-US" sz="1350" kern="0" spc="-81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Cuantitativo</a:t>
            </a:r>
            <a:r>
              <a:rPr lang="en-US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Predictivo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73" name="Shape 13">
            <a:extLst>
              <a:ext uri="{FF2B5EF4-FFF2-40B4-BE49-F238E27FC236}">
                <a16:creationId xmlns:a16="http://schemas.microsoft.com/office/drawing/2014/main" id="{EAE13724-053A-BD9A-CCE1-974841A3BA84}"/>
              </a:ext>
            </a:extLst>
          </p:cNvPr>
          <p:cNvSpPr/>
          <p:nvPr/>
        </p:nvSpPr>
        <p:spPr>
          <a:xfrm>
            <a:off x="6731113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F4A68"/>
            </a:solidFill>
            <a:prstDash val="solid"/>
            <a:miter lim="800000"/>
          </a:ln>
        </p:spPr>
      </p:sp>
      <p:pic>
        <p:nvPicPr>
          <p:cNvPr id="75" name="Image 7" descr="-38c1a09e.png">
            <a:extLst>
              <a:ext uri="{FF2B5EF4-FFF2-40B4-BE49-F238E27FC236}">
                <a16:creationId xmlns:a16="http://schemas.microsoft.com/office/drawing/2014/main" id="{AF53E443-8DCE-DF12-6949-7E648F53C7B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38549" y="1676896"/>
            <a:ext cx="142875" cy="121444"/>
          </a:xfrm>
          <a:prstGeom prst="rect">
            <a:avLst/>
          </a:prstGeom>
        </p:spPr>
      </p:pic>
      <p:pic>
        <p:nvPicPr>
          <p:cNvPr id="77" name="Image 8" descr="213ef762.png">
            <a:extLst>
              <a:ext uri="{FF2B5EF4-FFF2-40B4-BE49-F238E27FC236}">
                <a16:creationId xmlns:a16="http://schemas.microsoft.com/office/drawing/2014/main" id="{04243153-891A-29F4-1B88-B88850432D77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11489"/>
          <a:stretch>
            <a:fillRect/>
          </a:stretch>
        </p:blipFill>
        <p:spPr>
          <a:xfrm>
            <a:off x="7405687" y="1737590"/>
            <a:ext cx="1593396" cy="892969"/>
          </a:xfrm>
          <a:prstGeom prst="rect">
            <a:avLst/>
          </a:prstGeom>
        </p:spPr>
      </p:pic>
      <p:sp>
        <p:nvSpPr>
          <p:cNvPr id="79" name="Text 14">
            <a:extLst>
              <a:ext uri="{FF2B5EF4-FFF2-40B4-BE49-F238E27FC236}">
                <a16:creationId xmlns:a16="http://schemas.microsoft.com/office/drawing/2014/main" id="{98771CCD-97D5-379D-8D6C-BAA750BCE49B}"/>
              </a:ext>
            </a:extLst>
          </p:cNvPr>
          <p:cNvSpPr/>
          <p:nvPr/>
        </p:nvSpPr>
        <p:spPr>
          <a:xfrm>
            <a:off x="7672048" y="2022257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N5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Optimizado</a:t>
            </a:r>
            <a:r>
              <a:rPr lang="en-US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Autonomo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 err="1">
              <a:latin typeface="Reddit Sans"/>
              <a:ea typeface="Reddit Sans"/>
            </a:endParaRPr>
          </a:p>
        </p:txBody>
      </p:sp>
      <p:sp>
        <p:nvSpPr>
          <p:cNvPr id="81" name="Shape 16">
            <a:extLst>
              <a:ext uri="{FF2B5EF4-FFF2-40B4-BE49-F238E27FC236}">
                <a16:creationId xmlns:a16="http://schemas.microsoft.com/office/drawing/2014/main" id="{38987B1E-6DD7-970E-0FEB-10AF76909320}"/>
              </a:ext>
            </a:extLst>
          </p:cNvPr>
          <p:cNvSpPr/>
          <p:nvPr/>
        </p:nvSpPr>
        <p:spPr>
          <a:xfrm>
            <a:off x="8116320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chemeClr val="accent5">
                <a:lumMod val="40000"/>
                <a:lumOff val="60000"/>
              </a:schemeClr>
            </a:solidFill>
            <a:prstDash val="solid"/>
            <a:miter lim="800000"/>
          </a:ln>
        </p:spPr>
      </p:sp>
      <p:pic>
        <p:nvPicPr>
          <p:cNvPr id="83" name="Image 9" descr="0-42f65e.png">
            <a:extLst>
              <a:ext uri="{FF2B5EF4-FFF2-40B4-BE49-F238E27FC236}">
                <a16:creationId xmlns:a16="http://schemas.microsoft.com/office/drawing/2014/main" id="{33A8465C-B0B1-510B-1801-04A57CC9FEB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19570" y="1664340"/>
            <a:ext cx="150019" cy="150019"/>
          </a:xfrm>
          <a:prstGeom prst="rect">
            <a:avLst/>
          </a:prstGeom>
        </p:spPr>
      </p:pic>
      <p:pic>
        <p:nvPicPr>
          <p:cNvPr id="84" name="Image 2" descr="-664449e.png">
            <a:extLst>
              <a:ext uri="{FF2B5EF4-FFF2-40B4-BE49-F238E27FC236}">
                <a16:creationId xmlns:a16="http://schemas.microsoft.com/office/drawing/2014/main" id="{2A88DC55-04E6-F620-17B1-89D9F39C16B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791"/>
          <a:stretch>
            <a:fillRect/>
          </a:stretch>
        </p:blipFill>
        <p:spPr>
          <a:xfrm>
            <a:off x="1769609" y="1737590"/>
            <a:ext cx="1587953" cy="892969"/>
          </a:xfrm>
          <a:prstGeom prst="rect">
            <a:avLst/>
          </a:prstGeom>
        </p:spPr>
      </p:pic>
      <p:sp>
        <p:nvSpPr>
          <p:cNvPr id="85" name="Shape 7">
            <a:extLst>
              <a:ext uri="{FF2B5EF4-FFF2-40B4-BE49-F238E27FC236}">
                <a16:creationId xmlns:a16="http://schemas.microsoft.com/office/drawing/2014/main" id="{53543F60-C102-3C33-EF36-AE86EA803AD0}"/>
              </a:ext>
            </a:extLst>
          </p:cNvPr>
          <p:cNvSpPr/>
          <p:nvPr/>
        </p:nvSpPr>
        <p:spPr>
          <a:xfrm>
            <a:off x="2387713" y="1537224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</p:sp>
      <p:pic>
        <p:nvPicPr>
          <p:cNvPr id="86" name="Image 3" descr="327946a2.png">
            <a:extLst>
              <a:ext uri="{FF2B5EF4-FFF2-40B4-BE49-F238E27FC236}">
                <a16:creationId xmlns:a16="http://schemas.microsoft.com/office/drawing/2014/main" id="{5C861F17-BA45-B4AB-A8CD-5767C29200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4566" y="1633149"/>
            <a:ext cx="128588" cy="164306"/>
          </a:xfrm>
          <a:prstGeom prst="rect">
            <a:avLst/>
          </a:prstGeom>
        </p:spPr>
      </p:pic>
      <p:sp>
        <p:nvSpPr>
          <p:cNvPr id="10" name="Text 2">
            <a:extLst>
              <a:ext uri="{FF2B5EF4-FFF2-40B4-BE49-F238E27FC236}">
                <a16:creationId xmlns:a16="http://schemas.microsoft.com/office/drawing/2014/main" id="{779D3D85-E7C1-EF5B-F7ED-4F5AF8C77598}"/>
              </a:ext>
            </a:extLst>
          </p:cNvPr>
          <p:cNvSpPr/>
          <p:nvPr/>
        </p:nvSpPr>
        <p:spPr>
          <a:xfrm>
            <a:off x="1846148" y="1989600"/>
            <a:ext cx="1514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N1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Inicial</a:t>
            </a: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1000" err="1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0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(Ad-hoc/ </a:t>
            </a:r>
            <a:r>
              <a:rPr lang="en-US" sz="1000" kern="0" spc="-81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Reactivo</a:t>
            </a:r>
            <a:r>
              <a:rPr lang="en-US" sz="10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87" name="Text 2">
            <a:extLst>
              <a:ext uri="{FF2B5EF4-FFF2-40B4-BE49-F238E27FC236}">
                <a16:creationId xmlns:a16="http://schemas.microsoft.com/office/drawing/2014/main" id="{35C07F31-663C-02DC-57E2-69D87BA37C94}"/>
              </a:ext>
            </a:extLst>
          </p:cNvPr>
          <p:cNvSpPr/>
          <p:nvPr/>
        </p:nvSpPr>
        <p:spPr>
          <a:xfrm>
            <a:off x="420118" y="2022256"/>
            <a:ext cx="1509033" cy="55124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N0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kern="0" spc="-81" err="1">
                <a:solidFill>
                  <a:srgbClr val="333333"/>
                </a:solidFill>
                <a:latin typeface="Reddit Sans"/>
                <a:ea typeface="Reddit Sans"/>
              </a:rPr>
              <a:t>Autoservicio</a:t>
            </a: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</a:rPr>
              <a:t> </a:t>
            </a:r>
          </a:p>
          <a:p>
            <a:pPr algn="ctr">
              <a:lnSpc>
                <a:spcPts val="1556"/>
              </a:lnSpc>
            </a:pPr>
            <a:r>
              <a:rPr lang="en-US" sz="1000" kern="0" spc="-81">
                <a:solidFill>
                  <a:srgbClr val="333333"/>
                </a:solidFill>
                <a:latin typeface="Reddit Sans"/>
                <a:ea typeface="Reddit Sans"/>
              </a:rPr>
              <a:t>(Base de </a:t>
            </a:r>
            <a:r>
              <a:rPr lang="en-US" sz="1000" kern="0" spc="-81" err="1">
                <a:solidFill>
                  <a:srgbClr val="333333"/>
                </a:solidFill>
                <a:latin typeface="Reddit Sans"/>
                <a:ea typeface="Reddit Sans"/>
              </a:rPr>
              <a:t>Conocimiento</a:t>
            </a:r>
            <a:r>
              <a:rPr lang="en-US" sz="1000" kern="0" spc="-81">
                <a:solidFill>
                  <a:srgbClr val="333333"/>
                </a:solidFill>
                <a:latin typeface="Reddit Sans"/>
                <a:ea typeface="Reddit Sans"/>
              </a:rPr>
              <a:t>)</a:t>
            </a:r>
            <a:endParaRPr lang="en-US"/>
          </a:p>
        </p:txBody>
      </p:sp>
      <p:sp>
        <p:nvSpPr>
          <p:cNvPr id="89" name="Text 3">
            <a:extLst>
              <a:ext uri="{FF2B5EF4-FFF2-40B4-BE49-F238E27FC236}">
                <a16:creationId xmlns:a16="http://schemas.microsoft.com/office/drawing/2014/main" id="{F2FF73B3-1390-A22D-2CBB-8FA99D797BF5}"/>
              </a:ext>
            </a:extLst>
          </p:cNvPr>
          <p:cNvSpPr/>
          <p:nvPr/>
        </p:nvSpPr>
        <p:spPr>
          <a:xfrm>
            <a:off x="420121" y="3043302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13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N0 - Autoservicio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91" name="Text 4">
            <a:extLst>
              <a:ext uri="{FF2B5EF4-FFF2-40B4-BE49-F238E27FC236}">
                <a16:creationId xmlns:a16="http://schemas.microsoft.com/office/drawing/2014/main" id="{BCD4A989-F3C9-74F4-B3A1-776A44C3F5BA}"/>
              </a:ext>
            </a:extLst>
          </p:cNvPr>
          <p:cNvSpPr/>
          <p:nvPr/>
        </p:nvSpPr>
        <p:spPr>
          <a:xfrm>
            <a:off x="485435" y="3522979"/>
            <a:ext cx="1157289" cy="97008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Empoderamiento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del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usuario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mediante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portales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de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y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automatización. Portal de autoservicio, base de conocimiento, FAQ, chatbot, IA generativa.</a:t>
            </a: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93" name="Text 6">
            <a:extLst>
              <a:ext uri="{FF2B5EF4-FFF2-40B4-BE49-F238E27FC236}">
                <a16:creationId xmlns:a16="http://schemas.microsoft.com/office/drawing/2014/main" id="{62F9342F-4771-9447-1B13-EB610D36734E}"/>
              </a:ext>
            </a:extLst>
          </p:cNvPr>
          <p:cNvSpPr/>
          <p:nvPr/>
        </p:nvSpPr>
        <p:spPr>
          <a:xfrm>
            <a:off x="1681503" y="3037859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N1 - Service Desk / Call Center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95" name="Text 7">
            <a:extLst>
              <a:ext uri="{FF2B5EF4-FFF2-40B4-BE49-F238E27FC236}">
                <a16:creationId xmlns:a16="http://schemas.microsoft.com/office/drawing/2014/main" id="{E94328EF-E313-6F3C-1B6C-123BAA19D77A}"/>
              </a:ext>
            </a:extLst>
          </p:cNvPr>
          <p:cNvSpPr/>
          <p:nvPr/>
        </p:nvSpPr>
        <p:spPr>
          <a:xfrm>
            <a:off x="1735931" y="3522979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Primer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nivel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contacto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;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incidencias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comunes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y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gestión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peticiones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(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registro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tickets).</a:t>
            </a:r>
            <a:endParaRPr lang="en-US" sz="700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97" name="Text 9">
            <a:extLst>
              <a:ext uri="{FF2B5EF4-FFF2-40B4-BE49-F238E27FC236}">
                <a16:creationId xmlns:a16="http://schemas.microsoft.com/office/drawing/2014/main" id="{37490370-97BA-0714-A222-17496C8769A9}"/>
              </a:ext>
            </a:extLst>
          </p:cNvPr>
          <p:cNvSpPr/>
          <p:nvPr/>
        </p:nvSpPr>
        <p:spPr>
          <a:xfrm>
            <a:off x="3187814" y="3021530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N2 -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Especializado</a:t>
            </a:r>
            <a:endParaRPr lang="en-US" sz="1013" err="1">
              <a:latin typeface="Reddit Sans"/>
              <a:ea typeface="Reddit Sans"/>
            </a:endParaRPr>
          </a:p>
        </p:txBody>
      </p:sp>
      <p:sp>
        <p:nvSpPr>
          <p:cNvPr id="99" name="Text 10">
            <a:extLst>
              <a:ext uri="{FF2B5EF4-FFF2-40B4-BE49-F238E27FC236}">
                <a16:creationId xmlns:a16="http://schemas.microsoft.com/office/drawing/2014/main" id="{97C3240B-77E4-C022-93ED-8F91CC2B1840}"/>
              </a:ext>
            </a:extLst>
          </p:cNvPr>
          <p:cNvSpPr/>
          <p:nvPr/>
        </p:nvSpPr>
        <p:spPr>
          <a:xfrm>
            <a:off x="3187814" y="3522980"/>
            <a:ext cx="1277031" cy="91806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Especialistas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técnicos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para la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oblemas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de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mayor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complejidad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Equipos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técnicos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con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específicos</a:t>
            </a: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aplicaciones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,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infraestructura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procesos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</a:t>
            </a: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1" name="Text 12">
            <a:extLst>
              <a:ext uri="{FF2B5EF4-FFF2-40B4-BE49-F238E27FC236}">
                <a16:creationId xmlns:a16="http://schemas.microsoft.com/office/drawing/2014/main" id="{A9BCBE2F-4218-9ACB-DB9C-9B726C052719}"/>
              </a:ext>
            </a:extLst>
          </p:cNvPr>
          <p:cNvSpPr/>
          <p:nvPr/>
        </p:nvSpPr>
        <p:spPr>
          <a:xfrm>
            <a:off x="4585267" y="3021530"/>
            <a:ext cx="1168174" cy="29200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N3 –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Expertos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(Nivel de</a:t>
            </a:r>
            <a:br>
              <a:rPr lang="en-US" sz="1000" kern="0" spc="-31">
                <a:latin typeface="Reddit Sans"/>
                <a:ea typeface="Reddit Sans"/>
                <a:cs typeface="Geist Semi Bold" pitchFamily="34" charset="-120"/>
              </a:rPr>
            </a:b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Ingeniería)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103" name="Text 13">
            <a:extLst>
              <a:ext uri="{FF2B5EF4-FFF2-40B4-BE49-F238E27FC236}">
                <a16:creationId xmlns:a16="http://schemas.microsoft.com/office/drawing/2014/main" id="{B1F36C76-C0F3-5C68-2A77-558B0B008630}"/>
              </a:ext>
            </a:extLst>
          </p:cNvPr>
          <p:cNvSpPr/>
          <p:nvPr/>
        </p:nvSpPr>
        <p:spPr>
          <a:xfrm>
            <a:off x="4603947" y="3522023"/>
            <a:ext cx="1174357" cy="101059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Análisis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profundo y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n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fallos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críticos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incidentes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complejos. Ingenieros senior, arquitectos o especialistas que resuelven problemas complejos y causa raíz.</a:t>
            </a: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5" name="Text 15">
            <a:extLst>
              <a:ext uri="{FF2B5EF4-FFF2-40B4-BE49-F238E27FC236}">
                <a16:creationId xmlns:a16="http://schemas.microsoft.com/office/drawing/2014/main" id="{A42066F1-E260-A830-0FC4-F0D7BE34F845}"/>
              </a:ext>
            </a:extLst>
          </p:cNvPr>
          <p:cNvSpPr/>
          <p:nvPr/>
        </p:nvSpPr>
        <p:spPr>
          <a:xfrm>
            <a:off x="6042592" y="3021531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N4 – Terceros (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Proveedor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/ Fabricante)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07" name="Text 16">
            <a:extLst>
              <a:ext uri="{FF2B5EF4-FFF2-40B4-BE49-F238E27FC236}">
                <a16:creationId xmlns:a16="http://schemas.microsoft.com/office/drawing/2014/main" id="{8B48FAD4-7C5D-C451-9662-AE6726204DD7}"/>
              </a:ext>
            </a:extLst>
          </p:cNvPr>
          <p:cNvSpPr/>
          <p:nvPr/>
        </p:nvSpPr>
        <p:spPr>
          <a:xfrm>
            <a:off x="6086135" y="3522979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Gestión de proveedores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externos y servicios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especializados fuera de la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organización.</a:t>
            </a:r>
            <a:endParaRPr lang="en-US" sz="700">
              <a:latin typeface="Reddit Sans"/>
              <a:ea typeface="Reddit Sans"/>
            </a:endParaRPr>
          </a:p>
        </p:txBody>
      </p:sp>
      <p:sp>
        <p:nvSpPr>
          <p:cNvPr id="112" name="Text 15">
            <a:extLst>
              <a:ext uri="{FF2B5EF4-FFF2-40B4-BE49-F238E27FC236}">
                <a16:creationId xmlns:a16="http://schemas.microsoft.com/office/drawing/2014/main" id="{7D187DF5-439C-F565-0F64-B429BB33A832}"/>
              </a:ext>
            </a:extLst>
          </p:cNvPr>
          <p:cNvSpPr/>
          <p:nvPr/>
        </p:nvSpPr>
        <p:spPr>
          <a:xfrm>
            <a:off x="7457734" y="3021530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N5 –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Autonomo</a:t>
            </a:r>
            <a:endParaRPr lang="en-US" sz="1013" err="1">
              <a:latin typeface="Reddit Sans"/>
              <a:ea typeface="Reddit Sans"/>
            </a:endParaRPr>
          </a:p>
        </p:txBody>
      </p:sp>
      <p:sp>
        <p:nvSpPr>
          <p:cNvPr id="113" name="Text 16">
            <a:extLst>
              <a:ext uri="{FF2B5EF4-FFF2-40B4-BE49-F238E27FC236}">
                <a16:creationId xmlns:a16="http://schemas.microsoft.com/office/drawing/2014/main" id="{912B63C2-055A-1F1D-198B-175975F73992}"/>
              </a:ext>
            </a:extLst>
          </p:cNvPr>
          <p:cNvSpPr/>
          <p:nvPr/>
        </p:nvSpPr>
        <p:spPr>
          <a:xfrm>
            <a:off x="7528493" y="3522979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</a:rPr>
              <a:t>IA, automatización, auto-remediación, AIOps y operaciones predictivas.</a:t>
            </a:r>
            <a:endParaRPr lang="es-ES" sz="700" kern="0" spc="-34">
              <a:solidFill>
                <a:srgbClr val="000000">
                  <a:alpha val="65000"/>
                </a:srgbClr>
              </a:solidFill>
              <a:latin typeface="Reddit Sans"/>
              <a:ea typeface="Reddit Sans"/>
            </a:endParaRP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0B55AC2E-1F99-440A-C595-08997A02FCA5}"/>
              </a:ext>
            </a:extLst>
          </p:cNvPr>
          <p:cNvSpPr/>
          <p:nvPr/>
        </p:nvSpPr>
        <p:spPr>
          <a:xfrm>
            <a:off x="429645" y="664927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Hoja de Ruta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hacia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una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Mesa de Servicio Optima</a:t>
            </a:r>
            <a:endParaRPr lang="en-US" sz="1200">
              <a:latin typeface="Reddit Sans"/>
              <a:ea typeface="Reddit Sans"/>
            </a:endParaRPr>
          </a:p>
        </p:txBody>
      </p:sp>
      <p:sp>
        <p:nvSpPr>
          <p:cNvPr id="9" name="Titulo">
            <a:extLst>
              <a:ext uri="{FF2B5EF4-FFF2-40B4-BE49-F238E27FC236}">
                <a16:creationId xmlns:a16="http://schemas.microsoft.com/office/drawing/2014/main" id="{559C00E6-28C4-F4E7-6254-770B61ECB125}"/>
              </a:ext>
            </a:extLst>
          </p:cNvPr>
          <p:cNvSpPr txBox="1">
            <a:spLocks/>
          </p:cNvSpPr>
          <p:nvPr/>
        </p:nvSpPr>
        <p:spPr>
          <a:xfrm>
            <a:off x="356829" y="265706"/>
            <a:ext cx="8211000" cy="5727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1600" b="1">
                <a:solidFill>
                  <a:srgbClr val="0E337C"/>
                </a:solidFill>
                <a:latin typeface="Reddit Sans"/>
                <a:ea typeface="Reddit Sans"/>
              </a:rPr>
              <a:t>N</a:t>
            </a:r>
            <a:r>
              <a:rPr lang="es-ES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ivel de Madurez de las Mesas de Servicio – A dónde queremos llegar</a:t>
            </a:r>
          </a:p>
        </p:txBody>
      </p:sp>
      <p:sp>
        <p:nvSpPr>
          <p:cNvPr id="12" name="modelo reactivo">
            <a:extLst>
              <a:ext uri="{FF2B5EF4-FFF2-40B4-BE49-F238E27FC236}">
                <a16:creationId xmlns:a16="http://schemas.microsoft.com/office/drawing/2014/main" id="{8F4CC718-2E8E-86BA-065B-7203DA818D05}"/>
              </a:ext>
            </a:extLst>
          </p:cNvPr>
          <p:cNvSpPr txBox="1"/>
          <p:nvPr/>
        </p:nvSpPr>
        <p:spPr>
          <a:xfrm>
            <a:off x="359230" y="1110342"/>
            <a:ext cx="2775407" cy="37011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633806"/>
                </a:solidFill>
                <a:latin typeface="Reddit Sans"/>
                <a:ea typeface="Reddit Sans"/>
              </a:rPr>
              <a:t>Reactivo y Crecimiento Automatizado</a:t>
            </a:r>
          </a:p>
        </p:txBody>
      </p:sp>
      <p:sp>
        <p:nvSpPr>
          <p:cNvPr id="14" name="modelo predictivo">
            <a:extLst>
              <a:ext uri="{FF2B5EF4-FFF2-40B4-BE49-F238E27FC236}">
                <a16:creationId xmlns:a16="http://schemas.microsoft.com/office/drawing/2014/main" id="{8F4DFA52-E4C3-F9FA-35AC-2B9DDB2580D8}"/>
              </a:ext>
            </a:extLst>
          </p:cNvPr>
          <p:cNvSpPr txBox="1"/>
          <p:nvPr/>
        </p:nvSpPr>
        <p:spPr>
          <a:xfrm>
            <a:off x="3252108" y="1110342"/>
            <a:ext cx="2682879" cy="3701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0E337C"/>
                </a:solidFill>
                <a:latin typeface="Reddit Sans"/>
                <a:ea typeface="Reddit Sans"/>
              </a:rPr>
              <a:t>Predictivo y Evolutivo</a:t>
            </a:r>
          </a:p>
        </p:txBody>
      </p:sp>
      <p:sp>
        <p:nvSpPr>
          <p:cNvPr id="16" name="modelo autonomo">
            <a:extLst>
              <a:ext uri="{FF2B5EF4-FFF2-40B4-BE49-F238E27FC236}">
                <a16:creationId xmlns:a16="http://schemas.microsoft.com/office/drawing/2014/main" id="{1595092C-43F6-10F5-9638-E2CA995E11C0}"/>
              </a:ext>
            </a:extLst>
          </p:cNvPr>
          <p:cNvSpPr txBox="1"/>
          <p:nvPr/>
        </p:nvSpPr>
        <p:spPr>
          <a:xfrm>
            <a:off x="6052458" y="1110342"/>
            <a:ext cx="2683629" cy="370115"/>
          </a:xfrm>
          <a:prstGeom prst="rect">
            <a:avLst/>
          </a:prstGeom>
          <a:solidFill>
            <a:srgbClr val="215578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chemeClr val="bg1"/>
                </a:solidFill>
                <a:latin typeface="Reddit Sans"/>
                <a:ea typeface="Reddit Sans"/>
              </a:rPr>
              <a:t>Autónomo e Inteligente</a:t>
            </a:r>
            <a:endParaRPr lang="es" sz="1000" b="1">
              <a:solidFill>
                <a:schemeClr val="bg1"/>
              </a:solidFill>
              <a:latin typeface="Reddit Sans"/>
              <a:ea typeface="Reddit San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199295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0073EB55-4649-8126-4366-E27BAFF96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B5EE3330-01FD-C810-C65B-B47C23803E2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/>
              <a:t>Mesas de Servicio de Nueva Generación (Next Gen)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B949523C-9396-B26E-8B4E-9473B2ABF46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ES"/>
              <a:t>Propuesta de Servicio Diferenciadora</a:t>
            </a:r>
          </a:p>
        </p:txBody>
      </p:sp>
    </p:spTree>
    <p:extLst>
      <p:ext uri="{BB962C8B-B14F-4D97-AF65-F5344CB8AC3E}">
        <p14:creationId xmlns:p14="http://schemas.microsoft.com/office/powerpoint/2010/main" val="211454228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281F8DE4-10A4-27B3-34F6-D359EA68D895}"/>
              </a:ext>
            </a:extLst>
          </p:cNvPr>
          <p:cNvSpPr txBox="1">
            <a:spLocks/>
          </p:cNvSpPr>
          <p:nvPr/>
        </p:nvSpPr>
        <p:spPr>
          <a:xfrm>
            <a:off x="329614" y="-39094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Reddit Sans"/>
              <a:buNone/>
              <a:defRPr sz="5000" b="1" i="0" u="none" strike="noStrike" cap="none">
                <a:solidFill>
                  <a:srgbClr val="0E337C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600"/>
              <a:t>ITIL v5 - </a:t>
            </a:r>
            <a:r>
              <a:rPr lang="en-US" sz="1600" err="1"/>
              <a:t>Diagrama</a:t>
            </a:r>
            <a:r>
              <a:rPr lang="en-US" sz="1600"/>
              <a:t> del Ciclo de Vida y Modelo 6C</a:t>
            </a:r>
            <a:endParaRPr lang="es-ES" sz="1600"/>
          </a:p>
        </p:txBody>
      </p:sp>
      <p:sp>
        <p:nvSpPr>
          <p:cNvPr id="202" name="rec202"/>
          <p:cNvSpPr/>
          <p:nvPr/>
        </p:nvSpPr>
        <p:spPr>
          <a:xfrm>
            <a:off x="363928" y="530129"/>
            <a:ext cx="8144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ES" sz="12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Lanzado feb–abr 2026 </a:t>
            </a:r>
          </a:p>
        </p:txBody>
      </p:sp>
      <p:sp>
        <p:nvSpPr>
          <p:cNvPr id="203" name="rec203"/>
          <p:cNvSpPr/>
          <p:nvPr/>
        </p:nvSpPr>
        <p:spPr>
          <a:xfrm>
            <a:off x="1657086" y="2184814"/>
            <a:ext cx="1500000" cy="1500000"/>
          </a:xfrm>
          <a:prstGeom prst="ellipse">
            <a:avLst/>
          </a:prstGeom>
          <a:solidFill>
            <a:srgbClr val="132346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Ciclo de vida de Productos y Servicios</a:t>
            </a:r>
            <a:endParaRPr lang="es-ES"/>
          </a:p>
        </p:txBody>
      </p:sp>
      <p:sp>
        <p:nvSpPr>
          <p:cNvPr id="204" name="rec204"/>
          <p:cNvSpPr/>
          <p:nvPr/>
        </p:nvSpPr>
        <p:spPr>
          <a:xfrm>
            <a:off x="2047086" y="1174814"/>
            <a:ext cx="720000" cy="720000"/>
          </a:xfrm>
          <a:prstGeom prst="ellipse">
            <a:avLst/>
          </a:prstGeom>
          <a:solidFill>
            <a:srgbClr val="20808D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1</a:t>
            </a:r>
          </a:p>
          <a:p>
            <a:pPr algn="ctr">
              <a:spcBef>
                <a:spcPts val="8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Discover</a:t>
            </a:r>
          </a:p>
        </p:txBody>
      </p:sp>
      <p:sp>
        <p:nvSpPr>
          <p:cNvPr id="205" name="rec205"/>
          <p:cNvSpPr/>
          <p:nvPr/>
        </p:nvSpPr>
        <p:spPr>
          <a:xfrm>
            <a:off x="1757086" y="814814"/>
            <a:ext cx="13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800">
                <a:solidFill>
                  <a:srgbClr val="20808D"/>
                </a:solidFill>
                <a:latin typeface="Reddit Sans"/>
                <a:ea typeface="Reddit Sans"/>
              </a:rPr>
              <a:t>Necesidades</a:t>
            </a:r>
          </a:p>
        </p:txBody>
      </p:sp>
      <p:sp>
        <p:nvSpPr>
          <p:cNvPr id="206" name="rec206"/>
          <p:cNvSpPr/>
          <p:nvPr/>
        </p:nvSpPr>
        <p:spPr>
          <a:xfrm>
            <a:off x="3037035" y="1584864"/>
            <a:ext cx="720000" cy="720000"/>
          </a:xfrm>
          <a:prstGeom prst="ellipse">
            <a:avLst/>
          </a:prstGeom>
          <a:solidFill>
            <a:srgbClr val="1B474C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2</a:t>
            </a:r>
          </a:p>
          <a:p>
            <a:pPr algn="ctr">
              <a:spcBef>
                <a:spcPts val="8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Design</a:t>
            </a:r>
          </a:p>
        </p:txBody>
      </p:sp>
      <p:sp>
        <p:nvSpPr>
          <p:cNvPr id="207" name="rec207"/>
          <p:cNvSpPr/>
          <p:nvPr/>
        </p:nvSpPr>
        <p:spPr>
          <a:xfrm>
            <a:off x="3797035" y="1388884"/>
            <a:ext cx="105005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>
                <a:solidFill>
                  <a:srgbClr val="1B474C"/>
                </a:solidFill>
                <a:latin typeface="Reddit Sans"/>
                <a:ea typeface="Reddit Sans"/>
              </a:rPr>
              <a:t>Arquitectura</a:t>
            </a:r>
          </a:p>
        </p:txBody>
      </p:sp>
      <p:sp>
        <p:nvSpPr>
          <p:cNvPr id="208" name="rec208"/>
          <p:cNvSpPr/>
          <p:nvPr/>
        </p:nvSpPr>
        <p:spPr>
          <a:xfrm>
            <a:off x="3447086" y="2574814"/>
            <a:ext cx="720000" cy="720000"/>
          </a:xfrm>
          <a:prstGeom prst="ellipse">
            <a:avLst/>
          </a:prstGeom>
          <a:solidFill>
            <a:srgbClr val="437A22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3</a:t>
            </a:r>
          </a:p>
          <a:p>
            <a:pPr algn="ctr">
              <a:spcBef>
                <a:spcPts val="8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Acquire</a:t>
            </a:r>
          </a:p>
        </p:txBody>
      </p:sp>
      <p:sp>
        <p:nvSpPr>
          <p:cNvPr id="209" name="rec209"/>
          <p:cNvSpPr/>
          <p:nvPr/>
        </p:nvSpPr>
        <p:spPr>
          <a:xfrm>
            <a:off x="4207086" y="2774814"/>
            <a:ext cx="64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>
                <a:solidFill>
                  <a:srgbClr val="437A22"/>
                </a:solidFill>
                <a:latin typeface="Reddit Sans"/>
                <a:ea typeface="Reddit Sans"/>
              </a:rPr>
              <a:t>Proveedores</a:t>
            </a:r>
          </a:p>
        </p:txBody>
      </p:sp>
      <p:sp>
        <p:nvSpPr>
          <p:cNvPr id="210" name="rec210"/>
          <p:cNvSpPr/>
          <p:nvPr/>
        </p:nvSpPr>
        <p:spPr>
          <a:xfrm>
            <a:off x="3037035" y="3564763"/>
            <a:ext cx="720000" cy="720000"/>
          </a:xfrm>
          <a:prstGeom prst="ellipse">
            <a:avLst/>
          </a:prstGeom>
          <a:solidFill>
            <a:srgbClr val="D19900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4</a:t>
            </a:r>
          </a:p>
          <a:p>
            <a:pPr algn="ctr">
              <a:spcBef>
                <a:spcPts val="8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Build</a:t>
            </a:r>
          </a:p>
        </p:txBody>
      </p:sp>
      <p:sp>
        <p:nvSpPr>
          <p:cNvPr id="211" name="rec211"/>
          <p:cNvSpPr/>
          <p:nvPr/>
        </p:nvSpPr>
        <p:spPr>
          <a:xfrm>
            <a:off x="3797035" y="4160743"/>
            <a:ext cx="105005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>
                <a:solidFill>
                  <a:srgbClr val="D19900"/>
                </a:solidFill>
                <a:latin typeface="Reddit Sans"/>
                <a:ea typeface="Reddit Sans"/>
              </a:rPr>
              <a:t>Desarrollo</a:t>
            </a:r>
          </a:p>
        </p:txBody>
      </p:sp>
      <p:sp>
        <p:nvSpPr>
          <p:cNvPr id="212" name="rec212"/>
          <p:cNvSpPr/>
          <p:nvPr/>
        </p:nvSpPr>
        <p:spPr>
          <a:xfrm>
            <a:off x="2047086" y="3974814"/>
            <a:ext cx="720000" cy="720000"/>
          </a:xfrm>
          <a:prstGeom prst="ellipse">
            <a:avLst/>
          </a:prstGeom>
          <a:solidFill>
            <a:srgbClr val="964219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5</a:t>
            </a:r>
          </a:p>
          <a:p>
            <a:pPr algn="ctr">
              <a:spcBef>
                <a:spcPts val="80"/>
              </a:spcBef>
            </a:pPr>
            <a:r>
              <a:rPr lang="es-ES" sz="800" err="1">
                <a:solidFill>
                  <a:srgbClr val="FFFFFF"/>
                </a:solidFill>
                <a:latin typeface="Reddit Sans"/>
                <a:ea typeface="Reddit Sans"/>
              </a:rPr>
              <a:t>Transition</a:t>
            </a:r>
            <a:endParaRPr lang="es-ES" sz="8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213" name="rec213"/>
          <p:cNvSpPr/>
          <p:nvPr/>
        </p:nvSpPr>
        <p:spPr>
          <a:xfrm>
            <a:off x="1670000" y="4823500"/>
            <a:ext cx="13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800">
                <a:solidFill>
                  <a:srgbClr val="964219"/>
                </a:solidFill>
                <a:latin typeface="Reddit Sans"/>
                <a:ea typeface="Reddit Sans"/>
              </a:rPr>
              <a:t>A producción</a:t>
            </a:r>
          </a:p>
        </p:txBody>
      </p:sp>
      <p:sp>
        <p:nvSpPr>
          <p:cNvPr id="214" name="rec214"/>
          <p:cNvSpPr/>
          <p:nvPr/>
        </p:nvSpPr>
        <p:spPr>
          <a:xfrm>
            <a:off x="1057136" y="3564763"/>
            <a:ext cx="720000" cy="720000"/>
          </a:xfrm>
          <a:prstGeom prst="ellipse">
            <a:avLst/>
          </a:prstGeom>
          <a:solidFill>
            <a:srgbClr val="A84B2F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6</a:t>
            </a:r>
          </a:p>
          <a:p>
            <a:pPr algn="ctr">
              <a:spcBef>
                <a:spcPts val="80"/>
              </a:spcBef>
            </a:pPr>
            <a:r>
              <a:rPr lang="es-ES" sz="800" err="1">
                <a:solidFill>
                  <a:srgbClr val="FFFFFF"/>
                </a:solidFill>
                <a:latin typeface="Reddit Sans"/>
                <a:ea typeface="Reddit Sans"/>
              </a:rPr>
              <a:t>Operate</a:t>
            </a:r>
            <a:endParaRPr lang="es-ES" sz="8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215" name="rec215"/>
          <p:cNvSpPr/>
          <p:nvPr/>
        </p:nvSpPr>
        <p:spPr>
          <a:xfrm>
            <a:off x="117086" y="4160743"/>
            <a:ext cx="90005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r"/>
            <a:r>
              <a:rPr lang="es-ES" sz="800" err="1">
                <a:solidFill>
                  <a:srgbClr val="A84B2F"/>
                </a:solidFill>
                <a:latin typeface="Reddit Sans"/>
                <a:ea typeface="Reddit Sans"/>
              </a:rPr>
              <a:t>Incident</a:t>
            </a:r>
            <a:r>
              <a:rPr lang="es-ES" sz="800">
                <a:solidFill>
                  <a:srgbClr val="A84B2F"/>
                </a:solidFill>
                <a:latin typeface="Reddit Sans"/>
                <a:ea typeface="Reddit Sans"/>
              </a:rPr>
              <a:t> Management</a:t>
            </a:r>
          </a:p>
        </p:txBody>
      </p:sp>
      <p:sp>
        <p:nvSpPr>
          <p:cNvPr id="216" name="rec216"/>
          <p:cNvSpPr/>
          <p:nvPr/>
        </p:nvSpPr>
        <p:spPr>
          <a:xfrm>
            <a:off x="647086" y="2574814"/>
            <a:ext cx="720000" cy="720000"/>
          </a:xfrm>
          <a:prstGeom prst="ellipse">
            <a:avLst/>
          </a:prstGeom>
          <a:solidFill>
            <a:srgbClr val="944454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7</a:t>
            </a:r>
          </a:p>
          <a:p>
            <a:pPr algn="ctr">
              <a:spcBef>
                <a:spcPts val="80"/>
              </a:spcBef>
            </a:pPr>
            <a:r>
              <a:rPr lang="es-ES" sz="800" err="1">
                <a:solidFill>
                  <a:srgbClr val="FFFFFF"/>
                </a:solidFill>
                <a:latin typeface="Reddit Sans"/>
                <a:ea typeface="Reddit Sans"/>
              </a:rPr>
              <a:t>Deliver</a:t>
            </a:r>
            <a:endParaRPr lang="es-ES" sz="8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217" name="rec217"/>
          <p:cNvSpPr/>
          <p:nvPr/>
        </p:nvSpPr>
        <p:spPr>
          <a:xfrm>
            <a:off x="117086" y="2774814"/>
            <a:ext cx="49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r"/>
            <a:r>
              <a:rPr lang="es-ES" sz="800">
                <a:solidFill>
                  <a:srgbClr val="944454"/>
                </a:solidFill>
                <a:latin typeface="Reddit Sans"/>
                <a:ea typeface="Reddit Sans"/>
              </a:rPr>
              <a:t>Valor real</a:t>
            </a:r>
          </a:p>
        </p:txBody>
      </p:sp>
      <p:sp>
        <p:nvSpPr>
          <p:cNvPr id="218" name="rec218"/>
          <p:cNvSpPr/>
          <p:nvPr/>
        </p:nvSpPr>
        <p:spPr>
          <a:xfrm>
            <a:off x="1057136" y="1584864"/>
            <a:ext cx="720000" cy="720000"/>
          </a:xfrm>
          <a:prstGeom prst="ellipse">
            <a:avLst/>
          </a:prstGeom>
          <a:solidFill>
            <a:srgbClr val="7A38BB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8</a:t>
            </a:r>
          </a:p>
          <a:p>
            <a:pPr algn="ctr">
              <a:spcBef>
                <a:spcPts val="80"/>
              </a:spcBef>
            </a:pPr>
            <a:r>
              <a:rPr lang="es-ES" sz="800" err="1">
                <a:solidFill>
                  <a:srgbClr val="FFFFFF"/>
                </a:solidFill>
                <a:latin typeface="Reddit Sans"/>
                <a:ea typeface="Reddit Sans"/>
              </a:rPr>
              <a:t>Support</a:t>
            </a:r>
            <a:endParaRPr lang="es-ES" sz="8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219" name="rec219"/>
          <p:cNvSpPr/>
          <p:nvPr/>
        </p:nvSpPr>
        <p:spPr>
          <a:xfrm>
            <a:off x="117086" y="1388884"/>
            <a:ext cx="90005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r"/>
            <a:r>
              <a:rPr lang="es-ES" sz="800">
                <a:solidFill>
                  <a:srgbClr val="7A38BB"/>
                </a:solidFill>
                <a:latin typeface="Reddit Sans"/>
                <a:ea typeface="Reddit Sans"/>
              </a:rPr>
              <a:t>Mejora continua</a:t>
            </a:r>
          </a:p>
        </p:txBody>
      </p:sp>
      <p:sp>
        <p:nvSpPr>
          <p:cNvPr id="220" name="rec220"/>
          <p:cNvSpPr/>
          <p:nvPr/>
        </p:nvSpPr>
        <p:spPr>
          <a:xfrm>
            <a:off x="4803543" y="994300"/>
            <a:ext cx="42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250" b="1">
                <a:solidFill>
                  <a:srgbClr val="132346"/>
                </a:solidFill>
                <a:latin typeface="Reddit Sans"/>
                <a:ea typeface="Reddit Sans"/>
              </a:rPr>
              <a:t>Modelo 6C de Capacidades IA</a:t>
            </a:r>
          </a:p>
        </p:txBody>
      </p:sp>
      <p:sp>
        <p:nvSpPr>
          <p:cNvPr id="221" name="rec221"/>
          <p:cNvSpPr/>
          <p:nvPr/>
        </p:nvSpPr>
        <p:spPr>
          <a:xfrm>
            <a:off x="4803543" y="1244300"/>
            <a:ext cx="420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50">
                <a:solidFill>
                  <a:srgbClr val="6B6B6B"/>
                </a:solidFill>
                <a:latin typeface="Reddit Sans"/>
                <a:ea typeface="Reddit Sans"/>
              </a:rPr>
              <a:t>36% de contenido nuevo en ITIL (Versión 5)</a:t>
            </a:r>
          </a:p>
        </p:txBody>
      </p:sp>
      <p:sp>
        <p:nvSpPr>
          <p:cNvPr id="222" name="rec222"/>
          <p:cNvSpPr/>
          <p:nvPr/>
        </p:nvSpPr>
        <p:spPr>
          <a:xfrm>
            <a:off x="4803543" y="1534300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20808D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Creación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Generar contenido y soluciones con IA</a:t>
            </a:r>
          </a:p>
        </p:txBody>
      </p:sp>
      <p:sp>
        <p:nvSpPr>
          <p:cNvPr id="223" name="rec223"/>
          <p:cNvSpPr/>
          <p:nvPr/>
        </p:nvSpPr>
        <p:spPr>
          <a:xfrm>
            <a:off x="6963543" y="1534300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1B474D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Curación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Filtrar y mantener outputs de IA</a:t>
            </a:r>
          </a:p>
        </p:txBody>
      </p:sp>
      <p:sp>
        <p:nvSpPr>
          <p:cNvPr id="224" name="rec224"/>
          <p:cNvSpPr/>
          <p:nvPr/>
        </p:nvSpPr>
        <p:spPr>
          <a:xfrm>
            <a:off x="4803543" y="2129300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427A22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Clarificación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Interpretar solicitudes ambiguas</a:t>
            </a:r>
          </a:p>
        </p:txBody>
      </p:sp>
      <p:sp>
        <p:nvSpPr>
          <p:cNvPr id="225" name="rec225"/>
          <p:cNvSpPr/>
          <p:nvPr/>
        </p:nvSpPr>
        <p:spPr>
          <a:xfrm>
            <a:off x="6963543" y="2129300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006494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Cognición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Análisis y soporte a decisiones</a:t>
            </a:r>
          </a:p>
        </p:txBody>
      </p:sp>
      <p:sp>
        <p:nvSpPr>
          <p:cNvPr id="226" name="rec226"/>
          <p:cNvSpPr/>
          <p:nvPr/>
        </p:nvSpPr>
        <p:spPr>
          <a:xfrm>
            <a:off x="4803543" y="2724300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944454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Comunicación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Interacciones usuario-sistema</a:t>
            </a:r>
          </a:p>
        </p:txBody>
      </p:sp>
      <p:sp>
        <p:nvSpPr>
          <p:cNvPr id="227" name="rec227"/>
          <p:cNvSpPr/>
          <p:nvPr/>
        </p:nvSpPr>
        <p:spPr>
          <a:xfrm>
            <a:off x="6963543" y="2724300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132346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Coordinación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Orquestar agentes IA + humanos</a:t>
            </a:r>
          </a:p>
        </p:txBody>
      </p:sp>
      <p:sp>
        <p:nvSpPr>
          <p:cNvPr id="228" name="rec228"/>
          <p:cNvSpPr/>
          <p:nvPr/>
        </p:nvSpPr>
        <p:spPr>
          <a:xfrm>
            <a:off x="4803543" y="3359300"/>
            <a:ext cx="4200000" cy="760000"/>
          </a:xfrm>
          <a:prstGeom prst="roundRect">
            <a:avLst>
              <a:gd name="adj" fmla="val 6000"/>
            </a:avLst>
          </a:prstGeom>
          <a:solidFill>
            <a:srgbClr val="EDEDED"/>
          </a:solidFill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l"/>
            <a:r>
              <a:rPr lang="es-ES" sz="950" b="1">
                <a:solidFill>
                  <a:srgbClr val="132346"/>
                </a:solidFill>
                <a:latin typeface="Reddit Sans"/>
                <a:ea typeface="Reddit Sans"/>
              </a:rPr>
              <a:t>Gobernanza de IA — Módulo independiente en ITIL v5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• Responsabilidad sobre outputs de IA</a:t>
            </a:r>
          </a:p>
          <a:p>
            <a:pPr algn="l"/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• Transparencia en decisiones mediadas por IA</a:t>
            </a:r>
          </a:p>
          <a:p>
            <a:pPr algn="l"/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• Rutas de escalamiento cuando falla coordinación entre agentes</a:t>
            </a:r>
          </a:p>
        </p:txBody>
      </p:sp>
      <p:sp>
        <p:nvSpPr>
          <p:cNvPr id="229" name="rec229"/>
          <p:cNvSpPr/>
          <p:nvPr/>
        </p:nvSpPr>
        <p:spPr>
          <a:xfrm>
            <a:off x="4803543" y="4179300"/>
            <a:ext cx="420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850" b="1">
                <a:solidFill>
                  <a:srgbClr val="6B6B6B"/>
                </a:solidFill>
                <a:latin typeface="Reddit Sans"/>
                <a:ea typeface="Reddit Sans"/>
              </a:rPr>
              <a:t>Composición de ITIL v5:</a:t>
            </a:r>
          </a:p>
        </p:txBody>
      </p:sp>
      <p:sp>
        <p:nvSpPr>
          <p:cNvPr id="230" name="rec230"/>
          <p:cNvSpPr/>
          <p:nvPr/>
        </p:nvSpPr>
        <p:spPr>
          <a:xfrm>
            <a:off x="4803543" y="4409300"/>
            <a:ext cx="1680000" cy="300000"/>
          </a:xfrm>
          <a:prstGeom prst="rect">
            <a:avLst/>
          </a:prstGeom>
          <a:solidFill>
            <a:srgbClr val="20808D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750" b="1">
                <a:solidFill>
                  <a:srgbClr val="FFFFFF"/>
                </a:solidFill>
                <a:latin typeface="Reddit Sans"/>
                <a:ea typeface="Reddit Sans"/>
              </a:rPr>
              <a:t>40% retenido</a:t>
            </a:r>
          </a:p>
        </p:txBody>
      </p:sp>
      <p:sp>
        <p:nvSpPr>
          <p:cNvPr id="231" name="rec231"/>
          <p:cNvSpPr/>
          <p:nvPr/>
        </p:nvSpPr>
        <p:spPr>
          <a:xfrm>
            <a:off x="6483543" y="4409300"/>
            <a:ext cx="1008000" cy="300000"/>
          </a:xfrm>
          <a:prstGeom prst="rect">
            <a:avLst/>
          </a:prstGeom>
          <a:solidFill>
            <a:srgbClr val="D19900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750" b="1">
                <a:solidFill>
                  <a:srgbClr val="FFFFFF"/>
                </a:solidFill>
                <a:latin typeface="Reddit Sans"/>
                <a:ea typeface="Reddit Sans"/>
              </a:rPr>
              <a:t>24% actualizado</a:t>
            </a:r>
          </a:p>
        </p:txBody>
      </p:sp>
      <p:sp>
        <p:nvSpPr>
          <p:cNvPr id="232" name="rec232"/>
          <p:cNvSpPr/>
          <p:nvPr/>
        </p:nvSpPr>
        <p:spPr>
          <a:xfrm>
            <a:off x="7491543" y="4409300"/>
            <a:ext cx="1512000" cy="300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750" b="1">
                <a:solidFill>
                  <a:srgbClr val="FFFFFF"/>
                </a:solidFill>
                <a:latin typeface="Reddit Sans"/>
                <a:ea typeface="Reddit Sans"/>
              </a:rPr>
              <a:t>36% nuevo (6C AI)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5BB5B61-8F8D-288B-89A1-B142AD6A750D}"/>
              </a:ext>
            </a:extLst>
          </p:cNvPr>
          <p:cNvSpPr txBox="1"/>
          <p:nvPr/>
        </p:nvSpPr>
        <p:spPr>
          <a:xfrm>
            <a:off x="7309758" y="4825093"/>
            <a:ext cx="1692728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700">
                <a:solidFill>
                  <a:schemeClr val="tx1"/>
                </a:solidFill>
                <a:latin typeface="Reddit Sans Light"/>
                <a:ea typeface="-apple-system"/>
                <a:cs typeface="Reddit Sans Light"/>
              </a:rPr>
              <a:t>Fuente: </a:t>
            </a:r>
            <a:r>
              <a:rPr lang="en-US" sz="700" b="0" i="0" u="none" strike="noStrike" err="1">
                <a:solidFill>
                  <a:schemeClr val="tx1"/>
                </a:solidFill>
                <a:latin typeface="Reddit Sans Light"/>
                <a:ea typeface="-apple-system"/>
                <a:cs typeface="Reddit Sans Ligh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Rixmind</a:t>
            </a:r>
            <a:r>
              <a:rPr lang="en-US" sz="700" err="1">
                <a:solidFill>
                  <a:schemeClr val="tx1"/>
                </a:solidFill>
                <a:latin typeface="Reddit Sans Light"/>
                <a:ea typeface="-apple-system"/>
                <a:cs typeface="Reddit Sans Light"/>
              </a:rPr>
              <a:t>.y</a:t>
            </a:r>
            <a:r>
              <a:rPr lang="en-US" sz="700">
                <a:solidFill>
                  <a:schemeClr val="tx1"/>
                </a:solidFill>
                <a:latin typeface="Reddit Sans Light"/>
                <a:ea typeface="-apple-system"/>
                <a:cs typeface="Reddit Sans Light"/>
              </a:rPr>
              <a:t> </a:t>
            </a:r>
            <a:r>
              <a:rPr lang="en-US" sz="700">
                <a:solidFill>
                  <a:schemeClr val="tx1"/>
                </a:solidFill>
                <a:latin typeface="Reddit Sans Light"/>
                <a:ea typeface="-apple-system"/>
                <a:cs typeface="Reddit Sans Ligh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Tideline Insights</a:t>
            </a:r>
            <a:endParaRPr lang="en-US" sz="700">
              <a:solidFill>
                <a:schemeClr val="tx1"/>
              </a:solidFill>
              <a:latin typeface="Reddit Sans Light"/>
              <a:cs typeface="Reddit Sans Light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82764B7-F15A-76AA-3504-B79640864FD9}"/>
              </a:ext>
            </a:extLst>
          </p:cNvPr>
          <p:cNvSpPr txBox="1"/>
          <p:nvPr/>
        </p:nvSpPr>
        <p:spPr>
          <a:xfrm>
            <a:off x="4962287" y="525165"/>
            <a:ext cx="3287486" cy="220886"/>
          </a:xfrm>
          <a:prstGeom prst="rect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err="1">
                <a:solidFill>
                  <a:srgbClr val="555555"/>
                </a:solidFill>
                <a:latin typeface="Reddit Sans"/>
                <a:ea typeface="Reddit Sans"/>
              </a:rPr>
              <a:t>Conoc</a:t>
            </a:r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imiento e </a:t>
            </a:r>
            <a:r>
              <a:rPr lang="es-ES" sz="800" err="1">
                <a:solidFill>
                  <a:srgbClr val="555555"/>
                </a:solidFill>
                <a:latin typeface="Reddit Sans"/>
                <a:ea typeface="Reddit Sans"/>
              </a:rPr>
              <a:t>insight</a:t>
            </a:r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 de valor para los procesos que no cubrimos</a:t>
            </a:r>
          </a:p>
        </p:txBody>
      </p:sp>
      <p:sp>
        <p:nvSpPr>
          <p:cNvPr id="5" name="Shape 25">
            <a:extLst>
              <a:ext uri="{FF2B5EF4-FFF2-40B4-BE49-F238E27FC236}">
                <a16:creationId xmlns:a16="http://schemas.microsoft.com/office/drawing/2014/main" id="{791F133A-44B3-E7A3-EB4C-22935F87D691}"/>
              </a:ext>
            </a:extLst>
          </p:cNvPr>
          <p:cNvSpPr/>
          <p:nvPr/>
        </p:nvSpPr>
        <p:spPr>
          <a:xfrm>
            <a:off x="2464425" y="1139428"/>
            <a:ext cx="258195" cy="252753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8" name="Image 5" descr="53d78b62.png">
            <a:extLst>
              <a:ext uri="{FF2B5EF4-FFF2-40B4-BE49-F238E27FC236}">
                <a16:creationId xmlns:a16="http://schemas.microsoft.com/office/drawing/2014/main" id="{2677F50E-5807-DBCB-7B4A-126BF4395E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790"/>
          <a:stretch>
            <a:fillRect/>
          </a:stretch>
        </p:blipFill>
        <p:spPr>
          <a:xfrm>
            <a:off x="2524263" y="1213697"/>
            <a:ext cx="146277" cy="89808"/>
          </a:xfrm>
          <a:prstGeom prst="rect">
            <a:avLst/>
          </a:prstGeom>
        </p:spPr>
      </p:pic>
      <p:sp>
        <p:nvSpPr>
          <p:cNvPr id="9" name="Shape 25">
            <a:extLst>
              <a:ext uri="{FF2B5EF4-FFF2-40B4-BE49-F238E27FC236}">
                <a16:creationId xmlns:a16="http://schemas.microsoft.com/office/drawing/2014/main" id="{8AED887D-522E-9CFD-F73B-8EEB6A7F3FB9}"/>
              </a:ext>
            </a:extLst>
          </p:cNvPr>
          <p:cNvSpPr/>
          <p:nvPr/>
        </p:nvSpPr>
        <p:spPr>
          <a:xfrm>
            <a:off x="3482239" y="1514986"/>
            <a:ext cx="258195" cy="252753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0" name="Image 5" descr="53d78b62.png">
            <a:extLst>
              <a:ext uri="{FF2B5EF4-FFF2-40B4-BE49-F238E27FC236}">
                <a16:creationId xmlns:a16="http://schemas.microsoft.com/office/drawing/2014/main" id="{326E74E4-D12B-9FD6-541F-885D8B79F0A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790"/>
          <a:stretch>
            <a:fillRect/>
          </a:stretch>
        </p:blipFill>
        <p:spPr>
          <a:xfrm>
            <a:off x="3542077" y="1589255"/>
            <a:ext cx="146277" cy="89808"/>
          </a:xfrm>
          <a:prstGeom prst="rect">
            <a:avLst/>
          </a:prstGeom>
        </p:spPr>
      </p:pic>
      <p:sp>
        <p:nvSpPr>
          <p:cNvPr id="11" name="Shape 25">
            <a:extLst>
              <a:ext uri="{FF2B5EF4-FFF2-40B4-BE49-F238E27FC236}">
                <a16:creationId xmlns:a16="http://schemas.microsoft.com/office/drawing/2014/main" id="{2DAFD415-5750-C0EA-9E12-CC2C603A482F}"/>
              </a:ext>
            </a:extLst>
          </p:cNvPr>
          <p:cNvSpPr/>
          <p:nvPr/>
        </p:nvSpPr>
        <p:spPr>
          <a:xfrm>
            <a:off x="1577238" y="3643142"/>
            <a:ext cx="258195" cy="25275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2D050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3" name="Shape 25">
            <a:extLst>
              <a:ext uri="{FF2B5EF4-FFF2-40B4-BE49-F238E27FC236}">
                <a16:creationId xmlns:a16="http://schemas.microsoft.com/office/drawing/2014/main" id="{70691B23-5FFF-7B09-3D37-1B1E4683BF03}"/>
              </a:ext>
            </a:extLst>
          </p:cNvPr>
          <p:cNvSpPr/>
          <p:nvPr/>
        </p:nvSpPr>
        <p:spPr>
          <a:xfrm>
            <a:off x="2535181" y="3969713"/>
            <a:ext cx="258195" cy="25275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2D050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5" name="Shape 25">
            <a:extLst>
              <a:ext uri="{FF2B5EF4-FFF2-40B4-BE49-F238E27FC236}">
                <a16:creationId xmlns:a16="http://schemas.microsoft.com/office/drawing/2014/main" id="{4C591689-D324-4311-D1A8-12A5AF004BEA}"/>
              </a:ext>
            </a:extLst>
          </p:cNvPr>
          <p:cNvSpPr/>
          <p:nvPr/>
        </p:nvSpPr>
        <p:spPr>
          <a:xfrm>
            <a:off x="3874124" y="2500143"/>
            <a:ext cx="258195" cy="252753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6" name="Image 5" descr="53d78b62.png">
            <a:extLst>
              <a:ext uri="{FF2B5EF4-FFF2-40B4-BE49-F238E27FC236}">
                <a16:creationId xmlns:a16="http://schemas.microsoft.com/office/drawing/2014/main" id="{F3FD0F5C-9810-5058-8D82-1BE51C83DD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790"/>
          <a:stretch>
            <a:fillRect/>
          </a:stretch>
        </p:blipFill>
        <p:spPr>
          <a:xfrm>
            <a:off x="3933962" y="2574412"/>
            <a:ext cx="146277" cy="89808"/>
          </a:xfrm>
          <a:prstGeom prst="rect">
            <a:avLst/>
          </a:prstGeom>
        </p:spPr>
      </p:pic>
      <p:sp>
        <p:nvSpPr>
          <p:cNvPr id="17" name="Shape 25">
            <a:extLst>
              <a:ext uri="{FF2B5EF4-FFF2-40B4-BE49-F238E27FC236}">
                <a16:creationId xmlns:a16="http://schemas.microsoft.com/office/drawing/2014/main" id="{C14CA542-31D4-E41B-05DD-9F7A05E54C0A}"/>
              </a:ext>
            </a:extLst>
          </p:cNvPr>
          <p:cNvSpPr/>
          <p:nvPr/>
        </p:nvSpPr>
        <p:spPr>
          <a:xfrm>
            <a:off x="3574767" y="3626814"/>
            <a:ext cx="258195" cy="252753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8" name="Image 5" descr="53d78b62.png">
            <a:extLst>
              <a:ext uri="{FF2B5EF4-FFF2-40B4-BE49-F238E27FC236}">
                <a16:creationId xmlns:a16="http://schemas.microsoft.com/office/drawing/2014/main" id="{A365E88B-D0F2-250A-DED6-626FD67CAFC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790"/>
          <a:stretch>
            <a:fillRect/>
          </a:stretch>
        </p:blipFill>
        <p:spPr>
          <a:xfrm>
            <a:off x="3634605" y="3701083"/>
            <a:ext cx="146277" cy="89808"/>
          </a:xfrm>
          <a:prstGeom prst="rect">
            <a:avLst/>
          </a:prstGeom>
        </p:spPr>
      </p:pic>
      <p:sp>
        <p:nvSpPr>
          <p:cNvPr id="19" name="Shape 25">
            <a:extLst>
              <a:ext uri="{FF2B5EF4-FFF2-40B4-BE49-F238E27FC236}">
                <a16:creationId xmlns:a16="http://schemas.microsoft.com/office/drawing/2014/main" id="{6AA51429-A86F-C854-527F-A85CD7926411}"/>
              </a:ext>
            </a:extLst>
          </p:cNvPr>
          <p:cNvSpPr/>
          <p:nvPr/>
        </p:nvSpPr>
        <p:spPr>
          <a:xfrm>
            <a:off x="4668781" y="491728"/>
            <a:ext cx="258195" cy="252753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0" name="Image 5" descr="53d78b62.png">
            <a:extLst>
              <a:ext uri="{FF2B5EF4-FFF2-40B4-BE49-F238E27FC236}">
                <a16:creationId xmlns:a16="http://schemas.microsoft.com/office/drawing/2014/main" id="{88A69F69-2842-C6F4-1F58-C85B7E5000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790"/>
          <a:stretch>
            <a:fillRect/>
          </a:stretch>
        </p:blipFill>
        <p:spPr>
          <a:xfrm>
            <a:off x="4728619" y="565997"/>
            <a:ext cx="146277" cy="89808"/>
          </a:xfrm>
          <a:prstGeom prst="rect">
            <a:avLst/>
          </a:prstGeom>
        </p:spPr>
      </p:pic>
      <p:sp>
        <p:nvSpPr>
          <p:cNvPr id="21" name="Shape 25">
            <a:extLst>
              <a:ext uri="{FF2B5EF4-FFF2-40B4-BE49-F238E27FC236}">
                <a16:creationId xmlns:a16="http://schemas.microsoft.com/office/drawing/2014/main" id="{23818E27-CB22-2873-2789-F960DFF54F94}"/>
              </a:ext>
            </a:extLst>
          </p:cNvPr>
          <p:cNvSpPr/>
          <p:nvPr/>
        </p:nvSpPr>
        <p:spPr>
          <a:xfrm>
            <a:off x="1054723" y="2516470"/>
            <a:ext cx="258195" cy="25275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2D050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2" name="Shape 25">
            <a:extLst>
              <a:ext uri="{FF2B5EF4-FFF2-40B4-BE49-F238E27FC236}">
                <a16:creationId xmlns:a16="http://schemas.microsoft.com/office/drawing/2014/main" id="{0323800B-679C-A6C2-5285-165F712A5926}"/>
              </a:ext>
            </a:extLst>
          </p:cNvPr>
          <p:cNvSpPr/>
          <p:nvPr/>
        </p:nvSpPr>
        <p:spPr>
          <a:xfrm>
            <a:off x="1452052" y="1547641"/>
            <a:ext cx="258195" cy="25275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2D050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3" name="Gráfico 22" descr="Marca de escudo contorno">
            <a:extLst>
              <a:ext uri="{FF2B5EF4-FFF2-40B4-BE49-F238E27FC236}">
                <a16:creationId xmlns:a16="http://schemas.microsoft.com/office/drawing/2014/main" id="{FABA96AF-DDCE-BB4D-4A0E-B16D0C0445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95367" y="1596532"/>
            <a:ext cx="171569" cy="166598"/>
          </a:xfrm>
          <a:prstGeom prst="rect">
            <a:avLst/>
          </a:prstGeom>
        </p:spPr>
      </p:pic>
      <p:pic>
        <p:nvPicPr>
          <p:cNvPr id="24" name="Gráfico 23" descr="Marca de escudo contorno">
            <a:extLst>
              <a:ext uri="{FF2B5EF4-FFF2-40B4-BE49-F238E27FC236}">
                <a16:creationId xmlns:a16="http://schemas.microsoft.com/office/drawing/2014/main" id="{C0318EF8-2F96-AA03-D09F-1B9AACEC79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8038" y="2554475"/>
            <a:ext cx="171569" cy="166598"/>
          </a:xfrm>
          <a:prstGeom prst="rect">
            <a:avLst/>
          </a:prstGeom>
        </p:spPr>
      </p:pic>
      <p:pic>
        <p:nvPicPr>
          <p:cNvPr id="25" name="Gráfico 24" descr="Marca de escudo contorno">
            <a:extLst>
              <a:ext uri="{FF2B5EF4-FFF2-40B4-BE49-F238E27FC236}">
                <a16:creationId xmlns:a16="http://schemas.microsoft.com/office/drawing/2014/main" id="{839CF182-C4D4-F1E9-06FE-637A152DB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20553" y="3681146"/>
            <a:ext cx="166600" cy="171567"/>
          </a:xfrm>
          <a:prstGeom prst="rect">
            <a:avLst/>
          </a:prstGeom>
        </p:spPr>
      </p:pic>
      <p:pic>
        <p:nvPicPr>
          <p:cNvPr id="26" name="Gráfico 25" descr="Marca de escudo contorno">
            <a:extLst>
              <a:ext uri="{FF2B5EF4-FFF2-40B4-BE49-F238E27FC236}">
                <a16:creationId xmlns:a16="http://schemas.microsoft.com/office/drawing/2014/main" id="{9BB8C132-8A55-0BC5-0EAF-C3492C6E6C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78495" y="4007717"/>
            <a:ext cx="171569" cy="16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7861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346302" y="1435895"/>
            <a:ext cx="2053829" cy="2300288"/>
          </a:xfrm>
          <a:prstGeom prst="rect">
            <a:avLst/>
          </a:prstGeom>
          <a:solidFill>
            <a:srgbClr val="4ACCE8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454720" y="2126271"/>
            <a:ext cx="1836993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  <a:spcBef>
                <a:spcPts val="973"/>
              </a:spcBef>
            </a:pPr>
            <a:r>
              <a:rPr lang="en-US" sz="1200" kern="0" spc="-37" err="1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Evolución</a:t>
            </a:r>
            <a:r>
              <a:rPr lang="en-US" sz="1200" kern="0" spc="-37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200" kern="0" spc="-37" err="1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Estratégica</a:t>
            </a:r>
            <a:endParaRPr lang="en-US" sz="1200" err="1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18164" y="2368266"/>
            <a:ext cx="1910105" cy="7706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17"/>
              </a:lnSpc>
              <a:spcBef>
                <a:spcPts val="491"/>
              </a:spcBef>
            </a:pP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Transformación de la mesa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de servicio de un costo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operativo a un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diferenciador competitivo.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2471568" y="1435895"/>
            <a:ext cx="2053829" cy="2300288"/>
          </a:xfrm>
          <a:prstGeom prst="rect">
            <a:avLst/>
          </a:prstGeom>
          <a:solidFill>
            <a:srgbClr val="5CC0EA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8"/>
          <p:cNvSpPr/>
          <p:nvPr/>
        </p:nvSpPr>
        <p:spPr>
          <a:xfrm>
            <a:off x="2637661" y="2126271"/>
            <a:ext cx="1721644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  <a:spcBef>
                <a:spcPts val="973"/>
              </a:spcBef>
            </a:pPr>
            <a:r>
              <a:rPr lang="en-US" sz="1200" kern="0" spc="-37" err="1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Estandarización</a:t>
            </a:r>
            <a:endParaRPr lang="en-US" sz="1200" err="1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02477" y="2368266"/>
            <a:ext cx="1792010" cy="96329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17"/>
              </a:lnSpc>
              <a:spcBef>
                <a:spcPts val="491"/>
              </a:spcBef>
            </a:pP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Implementación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de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procesos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estandarizados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para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garantizar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consistencia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y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calidad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en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la </a:t>
            </a: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entrega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de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servicio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.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4596834" y="1435895"/>
            <a:ext cx="2053829" cy="2300288"/>
          </a:xfrm>
          <a:prstGeom prst="rect">
            <a:avLst/>
          </a:prstGeom>
          <a:solidFill>
            <a:srgbClr val="6FB3ED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1"/>
          <p:cNvSpPr/>
          <p:nvPr/>
        </p:nvSpPr>
        <p:spPr>
          <a:xfrm>
            <a:off x="4741495" y="2102049"/>
            <a:ext cx="1764506" cy="16955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336"/>
              </a:lnSpc>
              <a:spcBef>
                <a:spcPts val="924"/>
              </a:spcBef>
            </a:pPr>
            <a:r>
              <a:rPr lang="en-US" sz="1150" kern="0" spc="-35" err="1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Inteligencia</a:t>
            </a:r>
            <a:r>
              <a:rPr lang="en-US" sz="1150" kern="0" spc="-35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 Artificial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4703499" y="2331877"/>
            <a:ext cx="1840498" cy="7322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42"/>
              </a:lnSpc>
              <a:spcBef>
                <a:spcPts val="466"/>
              </a:spcBef>
            </a:pPr>
            <a: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Integración de IA para</a:t>
            </a:r>
            <a:b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optimizar la resolución,</a:t>
            </a:r>
            <a:b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reducir el tiempo de espera</a:t>
            </a:r>
            <a:b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y potenciar el autoservicio.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6722100" y="1435895"/>
            <a:ext cx="2053829" cy="2300288"/>
          </a:xfrm>
          <a:prstGeom prst="rect">
            <a:avLst/>
          </a:prstGeom>
          <a:solidFill>
            <a:srgbClr val="81A7EF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4"/>
          <p:cNvSpPr/>
          <p:nvPr/>
        </p:nvSpPr>
        <p:spPr>
          <a:xfrm>
            <a:off x="6831042" y="2126271"/>
            <a:ext cx="1835944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  <a:spcBef>
                <a:spcPts val="973"/>
              </a:spcBef>
            </a:pPr>
            <a:r>
              <a:rPr lang="en-US" sz="1200" kern="0" spc="-37" err="1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Escalabilidad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6791929" y="2368266"/>
            <a:ext cx="1914168" cy="96329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17"/>
              </a:lnSpc>
              <a:spcBef>
                <a:spcPts val="491"/>
              </a:spcBef>
            </a:pP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Arquitectura diseñada para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adaptarse al crecimiento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del negocio y responder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dinámicamente a la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demanda.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9" name="Título 1">
            <a:extLst>
              <a:ext uri="{FF2B5EF4-FFF2-40B4-BE49-F238E27FC236}">
                <a16:creationId xmlns:a16="http://schemas.microsoft.com/office/drawing/2014/main" id="{D68F6702-9E35-68AC-3981-F297FCE87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Pilares de </a:t>
            </a:r>
            <a:r>
              <a:rPr lang="en-US" err="1"/>
              <a:t>Transformación</a:t>
            </a:r>
            <a:r>
              <a:rPr lang="en-US"/>
              <a:t> de la Mesa de Servicio de Nueva Generación</a:t>
            </a:r>
          </a:p>
          <a:p>
            <a:endParaRPr lang="en-US"/>
          </a:p>
        </p:txBody>
      </p:sp>
      <p:sp>
        <p:nvSpPr>
          <p:cNvPr id="3" name="Shape 5">
            <a:extLst>
              <a:ext uri="{FF2B5EF4-FFF2-40B4-BE49-F238E27FC236}">
                <a16:creationId xmlns:a16="http://schemas.microsoft.com/office/drawing/2014/main" id="{E2BE2F5D-6B45-AFD1-619A-6D03B70946B0}"/>
              </a:ext>
            </a:extLst>
          </p:cNvPr>
          <p:cNvSpPr/>
          <p:nvPr/>
        </p:nvSpPr>
        <p:spPr>
          <a:xfrm>
            <a:off x="1029552" y="1193007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5" name="Image 0" descr="-250ad3de.png">
            <a:extLst>
              <a:ext uri="{FF2B5EF4-FFF2-40B4-BE49-F238E27FC236}">
                <a16:creationId xmlns:a16="http://schemas.microsoft.com/office/drawing/2014/main" id="{5AC447DE-0819-B613-0FB9-E53A727E17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639" y="1329045"/>
            <a:ext cx="350044" cy="292894"/>
          </a:xfrm>
          <a:prstGeom prst="rect">
            <a:avLst/>
          </a:prstGeom>
        </p:spPr>
      </p:pic>
      <p:sp>
        <p:nvSpPr>
          <p:cNvPr id="23" name="Shape 9">
            <a:extLst>
              <a:ext uri="{FF2B5EF4-FFF2-40B4-BE49-F238E27FC236}">
                <a16:creationId xmlns:a16="http://schemas.microsoft.com/office/drawing/2014/main" id="{99F0F72D-FC79-0B39-BBF4-A9DF785BE4ED}"/>
              </a:ext>
            </a:extLst>
          </p:cNvPr>
          <p:cNvSpPr/>
          <p:nvPr/>
        </p:nvSpPr>
        <p:spPr>
          <a:xfrm>
            <a:off x="3172677" y="1193007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97CA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5" name="Image 1" descr="5719bd22.png">
            <a:extLst>
              <a:ext uri="{FF2B5EF4-FFF2-40B4-BE49-F238E27FC236}">
                <a16:creationId xmlns:a16="http://schemas.microsoft.com/office/drawing/2014/main" id="{DE48BFB1-AB7C-B425-DE1E-781AEFE4FC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436" y="1341601"/>
            <a:ext cx="271463" cy="242888"/>
          </a:xfrm>
          <a:prstGeom prst="rect">
            <a:avLst/>
          </a:prstGeom>
        </p:spPr>
      </p:pic>
      <p:sp>
        <p:nvSpPr>
          <p:cNvPr id="27" name="Shape 13">
            <a:extLst>
              <a:ext uri="{FF2B5EF4-FFF2-40B4-BE49-F238E27FC236}">
                <a16:creationId xmlns:a16="http://schemas.microsoft.com/office/drawing/2014/main" id="{93F7AD4E-A1AC-21CC-67FA-79517C44E647}"/>
              </a:ext>
            </a:extLst>
          </p:cNvPr>
          <p:cNvSpPr/>
          <p:nvPr/>
        </p:nvSpPr>
        <p:spPr>
          <a:xfrm>
            <a:off x="5315802" y="1193007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66E99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30" name="Image 2" descr="0016b4a2.png">
            <a:extLst>
              <a:ext uri="{FF2B5EF4-FFF2-40B4-BE49-F238E27FC236}">
                <a16:creationId xmlns:a16="http://schemas.microsoft.com/office/drawing/2014/main" id="{B12021B2-B4F0-A9E1-B1CC-9801061B3D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9511" y="1341602"/>
            <a:ext cx="185738" cy="242888"/>
          </a:xfrm>
          <a:prstGeom prst="rect">
            <a:avLst/>
          </a:prstGeom>
        </p:spPr>
      </p:pic>
      <p:sp>
        <p:nvSpPr>
          <p:cNvPr id="32" name="Shape 21">
            <a:extLst>
              <a:ext uri="{FF2B5EF4-FFF2-40B4-BE49-F238E27FC236}">
                <a16:creationId xmlns:a16="http://schemas.microsoft.com/office/drawing/2014/main" id="{574D9646-9E0A-C5CD-35F8-FD90A529CD90}"/>
              </a:ext>
            </a:extLst>
          </p:cNvPr>
          <p:cNvSpPr/>
          <p:nvPr/>
        </p:nvSpPr>
        <p:spPr>
          <a:xfrm>
            <a:off x="7531725" y="1161200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15172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34" name="Image 4" descr="-327b961e.png">
            <a:extLst>
              <a:ext uri="{FF2B5EF4-FFF2-40B4-BE49-F238E27FC236}">
                <a16:creationId xmlns:a16="http://schemas.microsoft.com/office/drawing/2014/main" id="{3F2E2606-B309-CAEB-D629-9114EE94DD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92877" y="1338048"/>
            <a:ext cx="214313" cy="178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34434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824C2-5851-4B30-A813-E41E5F7FB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5C7D09-6597-9A73-052C-BF55A5EC7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00" y="200392"/>
            <a:ext cx="3639000" cy="572700"/>
          </a:xfrm>
        </p:spPr>
        <p:txBody>
          <a:bodyPr>
            <a:normAutofit/>
          </a:bodyPr>
          <a:lstStyle/>
          <a:p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Diferencia</a:t>
            </a:r>
            <a:r>
              <a:rPr lang="en-US"/>
              <a:t> a </a:t>
            </a:r>
            <a:r>
              <a:rPr lang="en-US" err="1"/>
              <a:t>PersonalSoft</a:t>
            </a:r>
            <a:r>
              <a:rPr lang="en-US"/>
              <a:t>?</a:t>
            </a:r>
            <a:endParaRPr lang="es-CO"/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3F7E5399-AB8B-0CC3-BAFE-BC4DEC7817BA}"/>
              </a:ext>
            </a:extLst>
          </p:cNvPr>
          <p:cNvSpPr/>
          <p:nvPr/>
        </p:nvSpPr>
        <p:spPr>
          <a:xfrm>
            <a:off x="1014753" y="1055191"/>
            <a:ext cx="1071563" cy="1071563"/>
          </a:xfrm>
          <a:prstGeom prst="ellipse">
            <a:avLst/>
          </a:prstGeom>
          <a:solidFill>
            <a:srgbClr val="FFD9AD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8" name="Image 0" descr="23a43ce2.png">
            <a:extLst>
              <a:ext uri="{FF2B5EF4-FFF2-40B4-BE49-F238E27FC236}">
                <a16:creationId xmlns:a16="http://schemas.microsoft.com/office/drawing/2014/main" id="{41476C43-838D-5395-6766-A4257D3C2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7060" y="1408889"/>
            <a:ext cx="421481" cy="357188"/>
          </a:xfrm>
          <a:prstGeom prst="rect">
            <a:avLst/>
          </a:prstGeom>
        </p:spPr>
      </p:pic>
      <p:sp>
        <p:nvSpPr>
          <p:cNvPr id="21" name="Text 3">
            <a:extLst>
              <a:ext uri="{FF2B5EF4-FFF2-40B4-BE49-F238E27FC236}">
                <a16:creationId xmlns:a16="http://schemas.microsoft.com/office/drawing/2014/main" id="{67DAA90A-80EF-E42D-4050-80A6E8ADD948}"/>
              </a:ext>
            </a:extLst>
          </p:cNvPr>
          <p:cNvSpPr/>
          <p:nvPr/>
        </p:nvSpPr>
        <p:spPr>
          <a:xfrm>
            <a:off x="221797" y="2198638"/>
            <a:ext cx="2657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4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Modelo de Madurez (N0-N5)</a:t>
            </a:r>
            <a:endParaRPr lang="en-US" sz="1400">
              <a:latin typeface="Reddit Sans"/>
              <a:ea typeface="Reddit Sans"/>
            </a:endParaRPr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642D4E88-336B-F04F-F544-BBEF975D9B86}"/>
              </a:ext>
            </a:extLst>
          </p:cNvPr>
          <p:cNvSpPr/>
          <p:nvPr/>
        </p:nvSpPr>
        <p:spPr>
          <a:xfrm>
            <a:off x="171754" y="2553226"/>
            <a:ext cx="2822876" cy="14403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Aft>
                <a:spcPts val="200"/>
              </a:spcAft>
            </a:pP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estructurado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para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evaluar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y</a:t>
            </a:r>
            <a:br>
              <a:rPr lang="en-US" sz="9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escalar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capacidades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tecnológicas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,</a:t>
            </a:r>
            <a:br>
              <a:rPr lang="en-US" sz="9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garant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izando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un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crecimiento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continuo y</a:t>
            </a:r>
            <a:b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medible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 </a:t>
            </a:r>
            <a:endParaRPr lang="en-US" sz="9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algn="ctr">
              <a:spcAft>
                <a:spcPts val="200"/>
              </a:spcAft>
            </a:pP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6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niveles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claros (N0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Autoservicio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a N5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Optimizado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)</a:t>
            </a:r>
            <a:endParaRPr lang="en-US" sz="9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algn="ctr">
              <a:spcAft>
                <a:spcPts val="200"/>
              </a:spcAft>
            </a:pP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17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practicas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operativas</a:t>
            </a:r>
            <a:endParaRPr lang="en-US" sz="9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27" name="Shape 5">
            <a:extLst>
              <a:ext uri="{FF2B5EF4-FFF2-40B4-BE49-F238E27FC236}">
                <a16:creationId xmlns:a16="http://schemas.microsoft.com/office/drawing/2014/main" id="{519155E2-5407-A0FF-6341-7B62C30F89D8}"/>
              </a:ext>
            </a:extLst>
          </p:cNvPr>
          <p:cNvSpPr/>
          <p:nvPr/>
        </p:nvSpPr>
        <p:spPr>
          <a:xfrm>
            <a:off x="3943691" y="1055191"/>
            <a:ext cx="1071563" cy="1071563"/>
          </a:xfrm>
          <a:prstGeom prst="ellipse">
            <a:avLst/>
          </a:prstGeom>
          <a:solidFill>
            <a:srgbClr val="FEC088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9" name="Image 1" descr="-6ff4ae9e.png">
            <a:extLst>
              <a:ext uri="{FF2B5EF4-FFF2-40B4-BE49-F238E27FC236}">
                <a16:creationId xmlns:a16="http://schemas.microsoft.com/office/drawing/2014/main" id="{22176A99-9CBF-BF88-4F8D-F1501819E5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2047" y="1396336"/>
            <a:ext cx="521494" cy="385763"/>
          </a:xfrm>
          <a:prstGeom prst="rect">
            <a:avLst/>
          </a:prstGeom>
        </p:spPr>
      </p:pic>
      <p:sp>
        <p:nvSpPr>
          <p:cNvPr id="31" name="Text 6">
            <a:extLst>
              <a:ext uri="{FF2B5EF4-FFF2-40B4-BE49-F238E27FC236}">
                <a16:creationId xmlns:a16="http://schemas.microsoft.com/office/drawing/2014/main" id="{159BA64C-A6AB-FD21-09D3-E82FCABB4EFD}"/>
              </a:ext>
            </a:extLst>
          </p:cNvPr>
          <p:cNvSpPr/>
          <p:nvPr/>
        </p:nvSpPr>
        <p:spPr>
          <a:xfrm>
            <a:off x="3090013" y="2198638"/>
            <a:ext cx="2778919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4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Operación gestionada</a:t>
            </a:r>
            <a:endParaRPr lang="en-US" sz="1400">
              <a:latin typeface="Reddit Sans"/>
              <a:ea typeface="Reddit Sans"/>
            </a:endParaRPr>
          </a:p>
        </p:txBody>
      </p:sp>
      <p:sp>
        <p:nvSpPr>
          <p:cNvPr id="33" name="Text 7">
            <a:extLst>
              <a:ext uri="{FF2B5EF4-FFF2-40B4-BE49-F238E27FC236}">
                <a16:creationId xmlns:a16="http://schemas.microsoft.com/office/drawing/2014/main" id="{BEB01E3E-E9CD-A0FA-17BC-0E51CBA8276E}"/>
              </a:ext>
            </a:extLst>
          </p:cNvPr>
          <p:cNvSpPr/>
          <p:nvPr/>
        </p:nvSpPr>
        <p:spPr>
          <a:xfrm>
            <a:off x="3033730" y="2553226"/>
            <a:ext cx="2956799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458"/>
              </a:spcBef>
            </a:pP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Servicios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integrales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TI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que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permiten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a</a:t>
            </a:r>
            <a:br>
              <a:rPr lang="en-US" sz="9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los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clientes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delega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r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complejidad</a:t>
            </a:r>
            <a:b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operativa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para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enfocarse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sus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objetivos</a:t>
            </a:r>
            <a:b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negocio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 Roles, RACI,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catálogo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, ANS/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XLA,gobierno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mensual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y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mejora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continua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condatos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</a:t>
            </a:r>
            <a:endParaRPr lang="es-ES" sz="900">
              <a:latin typeface="Reddit Sans"/>
              <a:ea typeface="Reddit Sans"/>
              <a:cs typeface="Arial"/>
            </a:endParaRPr>
          </a:p>
        </p:txBody>
      </p:sp>
      <p:sp>
        <p:nvSpPr>
          <p:cNvPr id="35" name="Shape 8">
            <a:extLst>
              <a:ext uri="{FF2B5EF4-FFF2-40B4-BE49-F238E27FC236}">
                <a16:creationId xmlns:a16="http://schemas.microsoft.com/office/drawing/2014/main" id="{1C261187-D52B-FE7A-269C-5CFB63641245}"/>
              </a:ext>
            </a:extLst>
          </p:cNvPr>
          <p:cNvSpPr/>
          <p:nvPr/>
        </p:nvSpPr>
        <p:spPr>
          <a:xfrm>
            <a:off x="6872628" y="1055191"/>
            <a:ext cx="1071563" cy="1071563"/>
          </a:xfrm>
          <a:prstGeom prst="ellipse">
            <a:avLst/>
          </a:prstGeom>
          <a:solidFill>
            <a:srgbClr val="FD864D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37" name="Image 2" descr="7f5c7a62.png">
            <a:extLst>
              <a:ext uri="{FF2B5EF4-FFF2-40B4-BE49-F238E27FC236}">
                <a16:creationId xmlns:a16="http://schemas.microsoft.com/office/drawing/2014/main" id="{33EC4EDE-F651-9304-15A2-D22758CEA5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3541" y="1408890"/>
            <a:ext cx="485775" cy="364331"/>
          </a:xfrm>
          <a:prstGeom prst="rect">
            <a:avLst/>
          </a:prstGeom>
        </p:spPr>
      </p:pic>
      <p:sp>
        <p:nvSpPr>
          <p:cNvPr id="39" name="Text 9">
            <a:extLst>
              <a:ext uri="{FF2B5EF4-FFF2-40B4-BE49-F238E27FC236}">
                <a16:creationId xmlns:a16="http://schemas.microsoft.com/office/drawing/2014/main" id="{9C03FED1-9CCF-7B4D-C7C1-2F078EF73B17}"/>
              </a:ext>
            </a:extLst>
          </p:cNvPr>
          <p:cNvSpPr/>
          <p:nvPr/>
        </p:nvSpPr>
        <p:spPr>
          <a:xfrm>
            <a:off x="6051097" y="2198638"/>
            <a:ext cx="271462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4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Inteligencia aplicada</a:t>
            </a:r>
            <a:endParaRPr lang="en-US" sz="1400">
              <a:latin typeface="Reddit Sans"/>
              <a:ea typeface="Reddit Sans"/>
            </a:endParaRPr>
          </a:p>
        </p:txBody>
      </p:sp>
      <p:sp>
        <p:nvSpPr>
          <p:cNvPr id="41" name="Text 10">
            <a:extLst>
              <a:ext uri="{FF2B5EF4-FFF2-40B4-BE49-F238E27FC236}">
                <a16:creationId xmlns:a16="http://schemas.microsoft.com/office/drawing/2014/main" id="{F2E67AF8-7A4C-5763-498B-6599249FC76A}"/>
              </a:ext>
            </a:extLst>
          </p:cNvPr>
          <p:cNvSpPr/>
          <p:nvPr/>
        </p:nvSpPr>
        <p:spPr>
          <a:xfrm>
            <a:off x="5997806" y="2553226"/>
            <a:ext cx="2886521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Aft>
                <a:spcPts val="200"/>
              </a:spcAft>
            </a:pP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Integración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avanzada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KEDB y AIOps</a:t>
            </a:r>
            <a:b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para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optimizar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resolución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,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predecir</a:t>
            </a:r>
            <a:b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fallos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y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maximizar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eficiencia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operativa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Observabilidad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predictiva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desde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el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diseno</a:t>
            </a:r>
            <a:endParaRPr lang="es-ES" sz="900">
              <a:latin typeface="Reddit Sans"/>
              <a:ea typeface="Reddit Sans"/>
              <a:cs typeface="Arial"/>
            </a:endParaRPr>
          </a:p>
          <a:p>
            <a:pPr algn="ctr">
              <a:spcAft>
                <a:spcPts val="200"/>
              </a:spcAft>
            </a:pP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Correlacion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automatica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alertas-incidentes</a:t>
            </a:r>
            <a:endParaRPr lang="en-US" sz="900" kern="0" spc="-23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algn="ctr">
              <a:spcAft>
                <a:spcPts val="200"/>
              </a:spcAft>
            </a:pP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El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cliente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sabe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exactamente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que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nivel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esta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y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que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cuesta 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subir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</a:t>
            </a:r>
            <a:r>
              <a:rPr lang="en-US" sz="9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nivel</a:t>
            </a:r>
            <a:r>
              <a:rPr lang="en-US" sz="9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</a:t>
            </a:r>
            <a:endParaRPr lang="en-US" sz="900" kern="0" spc="-23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algn="ctr">
              <a:spcBef>
                <a:spcPts val="458"/>
              </a:spcBef>
            </a:pPr>
            <a:endParaRPr lang="en-US" sz="9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43" name="Text 1">
            <a:extLst>
              <a:ext uri="{FF2B5EF4-FFF2-40B4-BE49-F238E27FC236}">
                <a16:creationId xmlns:a16="http://schemas.microsoft.com/office/drawing/2014/main" id="{12ADA9BB-4A9E-0367-1CF1-948E185EE846}"/>
              </a:ext>
            </a:extLst>
          </p:cNvPr>
          <p:cNvSpPr/>
          <p:nvPr/>
        </p:nvSpPr>
        <p:spPr>
          <a:xfrm>
            <a:off x="445974" y="632270"/>
            <a:ext cx="3680053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Factores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clave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que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impulsan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nuestra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propuesta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valor</a:t>
            </a:r>
            <a:endParaRPr lang="en-US" sz="1000">
              <a:latin typeface="Reddit Sans"/>
              <a:ea typeface="Reddit Sans"/>
              <a:cs typeface="Arial"/>
            </a:endParaRPr>
          </a:p>
        </p:txBody>
      </p:sp>
      <p:pic>
        <p:nvPicPr>
          <p:cNvPr id="3" name="Gráfico 2" descr="Diana con relleno sólido">
            <a:extLst>
              <a:ext uri="{FF2B5EF4-FFF2-40B4-BE49-F238E27FC236}">
                <a16:creationId xmlns:a16="http://schemas.microsoft.com/office/drawing/2014/main" id="{B532D1DA-62DB-AF5D-BEA5-FE51482BEA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17620" y="356506"/>
            <a:ext cx="489859" cy="489859"/>
          </a:xfrm>
          <a:prstGeom prst="rect">
            <a:avLst/>
          </a:prstGeom>
        </p:spPr>
      </p:pic>
      <p:sp>
        <p:nvSpPr>
          <p:cNvPr id="4" name="Text 6">
            <a:extLst>
              <a:ext uri="{FF2B5EF4-FFF2-40B4-BE49-F238E27FC236}">
                <a16:creationId xmlns:a16="http://schemas.microsoft.com/office/drawing/2014/main" id="{6C97A291-6DD5-2A8B-A083-00380257ABFF}"/>
              </a:ext>
            </a:extLst>
          </p:cNvPr>
          <p:cNvSpPr/>
          <p:nvPr/>
        </p:nvSpPr>
        <p:spPr>
          <a:xfrm>
            <a:off x="5419556" y="402496"/>
            <a:ext cx="3181690" cy="73629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s-ES" sz="1200" kern="0" spc="-81">
                <a:solidFill>
                  <a:srgbClr val="00B050"/>
                </a:solidFill>
                <a:latin typeface="Reddit Sans"/>
                <a:ea typeface="Reddit Sans"/>
              </a:rPr>
              <a:t>La promesa comercial: pasar de staff </a:t>
            </a:r>
            <a:r>
              <a:rPr lang="es-ES" sz="1200" kern="0" spc="-81" err="1">
                <a:solidFill>
                  <a:srgbClr val="00B050"/>
                </a:solidFill>
                <a:latin typeface="Reddit Sans"/>
                <a:ea typeface="Reddit Sans"/>
              </a:rPr>
              <a:t>augmentation</a:t>
            </a:r>
            <a:r>
              <a:rPr lang="es-ES" sz="1200" kern="0" spc="-81">
                <a:solidFill>
                  <a:srgbClr val="00B050"/>
                </a:solidFill>
                <a:latin typeface="Reddit Sans"/>
                <a:ea typeface="Reddit Sans"/>
              </a:rPr>
              <a:t> a un servicio gestionado, medible y evolutivo.</a:t>
            </a:r>
            <a:endParaRPr lang="en-US" sz="1200" kern="0" spc="-81">
              <a:solidFill>
                <a:srgbClr val="00B050"/>
              </a:solidFill>
              <a:latin typeface="Reddit Sans"/>
              <a:ea typeface="Reddit Sans"/>
            </a:endParaRPr>
          </a:p>
        </p:txBody>
      </p:sp>
      <p:sp>
        <p:nvSpPr>
          <p:cNvPr id="6" name="sh252">
            <a:extLst>
              <a:ext uri="{FF2B5EF4-FFF2-40B4-BE49-F238E27FC236}">
                <a16:creationId xmlns:a16="http://schemas.microsoft.com/office/drawing/2014/main" id="{3FCF0047-8933-7822-DE51-5EF0301E7A2F}"/>
              </a:ext>
            </a:extLst>
          </p:cNvPr>
          <p:cNvSpPr/>
          <p:nvPr/>
        </p:nvSpPr>
        <p:spPr>
          <a:xfrm>
            <a:off x="302405" y="3798461"/>
            <a:ext cx="8375904" cy="663375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9525">
            <a:solidFill>
              <a:srgbClr val="C9D6E5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8" name="sh253">
            <a:extLst>
              <a:ext uri="{FF2B5EF4-FFF2-40B4-BE49-F238E27FC236}">
                <a16:creationId xmlns:a16="http://schemas.microsoft.com/office/drawing/2014/main" id="{A4711A96-2E02-5B7F-AB70-32D759AC8F18}"/>
              </a:ext>
            </a:extLst>
          </p:cNvPr>
          <p:cNvSpPr/>
          <p:nvPr/>
        </p:nvSpPr>
        <p:spPr>
          <a:xfrm>
            <a:off x="444790" y="3880975"/>
            <a:ext cx="836023" cy="498348"/>
          </a:xfrm>
          <a:prstGeom prst="roundRect">
            <a:avLst>
              <a:gd name="adj" fmla="val 14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700" b="1">
                <a:solidFill>
                  <a:schemeClr val="bg1"/>
                </a:solidFill>
                <a:latin typeface="Reddit Sans"/>
                <a:ea typeface="Reddit Sans"/>
              </a:rPr>
              <a:t>NUESTRO</a:t>
            </a:r>
          </a:p>
          <a:p>
            <a:pPr algn="ctr">
              <a:lnSpc>
                <a:spcPct val="100000"/>
              </a:lnSpc>
            </a:pPr>
            <a:r>
              <a:rPr lang="es-ES" sz="700" b="1">
                <a:solidFill>
                  <a:schemeClr val="bg1"/>
                </a:solidFill>
                <a:latin typeface="Reddit Sans"/>
                <a:ea typeface="Reddit Sans"/>
              </a:rPr>
              <a:t>DIFERENCIAL</a:t>
            </a:r>
          </a:p>
        </p:txBody>
      </p:sp>
      <p:sp>
        <p:nvSpPr>
          <p:cNvPr id="10" name="tx254">
            <a:extLst>
              <a:ext uri="{FF2B5EF4-FFF2-40B4-BE49-F238E27FC236}">
                <a16:creationId xmlns:a16="http://schemas.microsoft.com/office/drawing/2014/main" id="{15C7CCA4-B275-41FE-D4D4-8AA203FA8BDF}"/>
              </a:ext>
            </a:extLst>
          </p:cNvPr>
          <p:cNvSpPr txBox="1"/>
          <p:nvPr/>
        </p:nvSpPr>
        <p:spPr>
          <a:xfrm>
            <a:off x="1381397" y="3844399"/>
            <a:ext cx="1801586" cy="538842"/>
          </a:xfrm>
          <a:prstGeom prst="rect">
            <a:avLst/>
          </a:prstGeom>
          <a:noFill/>
        </p:spPr>
        <p:txBody>
          <a:bodyPr wrap="square" lIns="18000" tIns="9000" rIns="18000" bIns="9000" rtlCol="0" anchor="ctr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100" b="1">
                <a:solidFill>
                  <a:srgbClr val="1C3D75"/>
                </a:solidFill>
                <a:latin typeface="Reddit Sans"/>
                <a:ea typeface="Reddit Sans"/>
              </a:rPr>
              <a:t>PIR + KCS + IA</a:t>
            </a:r>
          </a:p>
          <a:p>
            <a:pPr algn="l">
              <a:lnSpc>
                <a:spcPct val="92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Servicio centrado en el conocimiento potenciado con IA</a:t>
            </a:r>
          </a:p>
        </p:txBody>
      </p:sp>
      <p:sp>
        <p:nvSpPr>
          <p:cNvPr id="12" name="sh255">
            <a:extLst>
              <a:ext uri="{FF2B5EF4-FFF2-40B4-BE49-F238E27FC236}">
                <a16:creationId xmlns:a16="http://schemas.microsoft.com/office/drawing/2014/main" id="{E13C5680-E6D6-A7CE-1BB6-2F8A7E523EE6}"/>
              </a:ext>
            </a:extLst>
          </p:cNvPr>
          <p:cNvSpPr/>
          <p:nvPr/>
        </p:nvSpPr>
        <p:spPr>
          <a:xfrm>
            <a:off x="3583272" y="3830683"/>
            <a:ext cx="246888" cy="246888"/>
          </a:xfrm>
          <a:prstGeom prst="ellipse">
            <a:avLst/>
          </a:prstGeom>
          <a:solidFill>
            <a:srgbClr val="2C5AA8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4" name="tx257">
            <a:extLst>
              <a:ext uri="{FF2B5EF4-FFF2-40B4-BE49-F238E27FC236}">
                <a16:creationId xmlns:a16="http://schemas.microsoft.com/office/drawing/2014/main" id="{3B77A922-BF26-B0AC-6F5F-E6C40571B605}"/>
              </a:ext>
            </a:extLst>
          </p:cNvPr>
          <p:cNvSpPr txBox="1"/>
          <p:nvPr/>
        </p:nvSpPr>
        <p:spPr>
          <a:xfrm>
            <a:off x="3182765" y="4109357"/>
            <a:ext cx="106619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6000"/>
              </a:lnSpc>
            </a:pPr>
            <a:r>
              <a:rPr lang="es-ES" sz="700">
                <a:solidFill>
                  <a:srgbClr val="3A4A63"/>
                </a:solidFill>
                <a:latin typeface="Reddit Sans"/>
                <a:ea typeface="Reddit Sans"/>
              </a:rPr>
              <a:t>Aprende del negocio</a:t>
            </a:r>
          </a:p>
        </p:txBody>
      </p:sp>
      <p:sp>
        <p:nvSpPr>
          <p:cNvPr id="17" name="sh258">
            <a:extLst>
              <a:ext uri="{FF2B5EF4-FFF2-40B4-BE49-F238E27FC236}">
                <a16:creationId xmlns:a16="http://schemas.microsoft.com/office/drawing/2014/main" id="{00316C50-EA8E-5BE4-1A47-6A654861EC79}"/>
              </a:ext>
            </a:extLst>
          </p:cNvPr>
          <p:cNvSpPr/>
          <p:nvPr/>
        </p:nvSpPr>
        <p:spPr>
          <a:xfrm>
            <a:off x="4667751" y="3830683"/>
            <a:ext cx="246888" cy="246888"/>
          </a:xfrm>
          <a:prstGeom prst="ellipse">
            <a:avLst/>
          </a:prstGeom>
          <a:solidFill>
            <a:srgbClr val="2C5AA8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" name="tx260">
            <a:extLst>
              <a:ext uri="{FF2B5EF4-FFF2-40B4-BE49-F238E27FC236}">
                <a16:creationId xmlns:a16="http://schemas.microsoft.com/office/drawing/2014/main" id="{26B1A932-C2DB-DADC-4534-F28C529D035F}"/>
              </a:ext>
            </a:extLst>
          </p:cNvPr>
          <p:cNvSpPr txBox="1"/>
          <p:nvPr/>
        </p:nvSpPr>
        <p:spPr>
          <a:xfrm>
            <a:off x="4267243" y="4109357"/>
            <a:ext cx="106619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6000"/>
              </a:lnSpc>
            </a:pPr>
            <a:r>
              <a:rPr lang="es-ES" sz="700">
                <a:solidFill>
                  <a:srgbClr val="3A4A63"/>
                </a:solidFill>
                <a:latin typeface="Reddit Sans"/>
                <a:ea typeface="Reddit Sans"/>
              </a:rPr>
              <a:t>Captura y organiza conocimiento</a:t>
            </a:r>
          </a:p>
        </p:txBody>
      </p:sp>
      <p:sp>
        <p:nvSpPr>
          <p:cNvPr id="23" name="tx263">
            <a:extLst>
              <a:ext uri="{FF2B5EF4-FFF2-40B4-BE49-F238E27FC236}">
                <a16:creationId xmlns:a16="http://schemas.microsoft.com/office/drawing/2014/main" id="{2944330A-BDEF-3D2A-4BD9-4B0FF041F6C6}"/>
              </a:ext>
            </a:extLst>
          </p:cNvPr>
          <p:cNvSpPr txBox="1"/>
          <p:nvPr/>
        </p:nvSpPr>
        <p:spPr>
          <a:xfrm>
            <a:off x="5351722" y="4109357"/>
            <a:ext cx="106619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6000"/>
              </a:lnSpc>
            </a:pPr>
            <a:r>
              <a:rPr lang="es-ES" sz="700">
                <a:solidFill>
                  <a:srgbClr val="3A4A63"/>
                </a:solidFill>
                <a:latin typeface="Reddit Sans"/>
                <a:ea typeface="Reddit Sans"/>
              </a:rPr>
              <a:t>Genera conocimiento reutilizable</a:t>
            </a:r>
          </a:p>
        </p:txBody>
      </p:sp>
      <p:sp>
        <p:nvSpPr>
          <p:cNvPr id="26" name="sh264">
            <a:extLst>
              <a:ext uri="{FF2B5EF4-FFF2-40B4-BE49-F238E27FC236}">
                <a16:creationId xmlns:a16="http://schemas.microsoft.com/office/drawing/2014/main" id="{B18DB786-6B8E-E125-6CFA-B4EB9A6717EB}"/>
              </a:ext>
            </a:extLst>
          </p:cNvPr>
          <p:cNvSpPr/>
          <p:nvPr/>
        </p:nvSpPr>
        <p:spPr>
          <a:xfrm>
            <a:off x="6836707" y="3830683"/>
            <a:ext cx="246888" cy="246888"/>
          </a:xfrm>
          <a:prstGeom prst="ellipse">
            <a:avLst/>
          </a:prstGeom>
          <a:solidFill>
            <a:srgbClr val="2C5AA8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0" name="sh265">
            <a:extLst>
              <a:ext uri="{FF2B5EF4-FFF2-40B4-BE49-F238E27FC236}">
                <a16:creationId xmlns:a16="http://schemas.microsoft.com/office/drawing/2014/main" id="{06DCF077-67B8-7BA0-168A-AEC21E08C9BC}"/>
              </a:ext>
            </a:extLst>
          </p:cNvPr>
          <p:cNvSpPr/>
          <p:nvPr/>
        </p:nvSpPr>
        <p:spPr>
          <a:xfrm>
            <a:off x="6931636" y="3882838"/>
            <a:ext cx="57031" cy="57031"/>
          </a:xfrm>
          <a:prstGeom prst="ellipse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4" name="sh266">
            <a:extLst>
              <a:ext uri="{FF2B5EF4-FFF2-40B4-BE49-F238E27FC236}">
                <a16:creationId xmlns:a16="http://schemas.microsoft.com/office/drawing/2014/main" id="{043FE2B4-41F6-C694-BA99-22EB9ABF4DEB}"/>
              </a:ext>
            </a:extLst>
          </p:cNvPr>
          <p:cNvSpPr/>
          <p:nvPr/>
        </p:nvSpPr>
        <p:spPr>
          <a:xfrm>
            <a:off x="6901824" y="3925875"/>
            <a:ext cx="116655" cy="90731"/>
          </a:xfrm>
          <a:prstGeom prst="chord">
            <a:avLst>
              <a:gd name="adj1" fmla="val 0"/>
              <a:gd name="adj2" fmla="val 10800000"/>
            </a:avLst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8" name="tx267">
            <a:extLst>
              <a:ext uri="{FF2B5EF4-FFF2-40B4-BE49-F238E27FC236}">
                <a16:creationId xmlns:a16="http://schemas.microsoft.com/office/drawing/2014/main" id="{9DDB0707-2A85-7A38-2872-B634C5515A53}"/>
              </a:ext>
            </a:extLst>
          </p:cNvPr>
          <p:cNvSpPr txBox="1"/>
          <p:nvPr/>
        </p:nvSpPr>
        <p:spPr>
          <a:xfrm>
            <a:off x="6436200" y="4109357"/>
            <a:ext cx="106619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6000"/>
              </a:lnSpc>
            </a:pPr>
            <a:r>
              <a:rPr lang="es-ES" sz="700">
                <a:solidFill>
                  <a:srgbClr val="3A4A63"/>
                </a:solidFill>
                <a:latin typeface="Reddit Sans"/>
                <a:ea typeface="Reddit Sans"/>
              </a:rPr>
              <a:t>Reduce dependencia de expertos</a:t>
            </a:r>
          </a:p>
        </p:txBody>
      </p:sp>
      <p:sp>
        <p:nvSpPr>
          <p:cNvPr id="42" name="sh268">
            <a:extLst>
              <a:ext uri="{FF2B5EF4-FFF2-40B4-BE49-F238E27FC236}">
                <a16:creationId xmlns:a16="http://schemas.microsoft.com/office/drawing/2014/main" id="{675B400C-B91A-52BE-3D21-AC327C2911DE}"/>
              </a:ext>
            </a:extLst>
          </p:cNvPr>
          <p:cNvSpPr/>
          <p:nvPr/>
        </p:nvSpPr>
        <p:spPr>
          <a:xfrm>
            <a:off x="7921186" y="3830683"/>
            <a:ext cx="246888" cy="246888"/>
          </a:xfrm>
          <a:prstGeom prst="ellipse">
            <a:avLst/>
          </a:prstGeom>
          <a:solidFill>
            <a:srgbClr val="2C5AA8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45" name="tx271">
            <a:extLst>
              <a:ext uri="{FF2B5EF4-FFF2-40B4-BE49-F238E27FC236}">
                <a16:creationId xmlns:a16="http://schemas.microsoft.com/office/drawing/2014/main" id="{494B5F5F-484D-35EC-5039-FFAEC9C29B95}"/>
              </a:ext>
            </a:extLst>
          </p:cNvPr>
          <p:cNvSpPr txBox="1"/>
          <p:nvPr/>
        </p:nvSpPr>
        <p:spPr>
          <a:xfrm>
            <a:off x="7520679" y="4109357"/>
            <a:ext cx="106619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6000"/>
              </a:lnSpc>
            </a:pPr>
            <a:r>
              <a:rPr lang="es-ES" sz="700">
                <a:solidFill>
                  <a:srgbClr val="3A4A63"/>
                </a:solidFill>
                <a:latin typeface="Reddit Sans"/>
                <a:ea typeface="Reddit Sans"/>
              </a:rPr>
              <a:t>Entiende los procesos de negocio del cliente</a:t>
            </a:r>
          </a:p>
        </p:txBody>
      </p:sp>
      <p:pic>
        <p:nvPicPr>
          <p:cNvPr id="47" name="Gráfico 46" descr="Cerebro izquierdo y derecho contorno">
            <a:extLst>
              <a:ext uri="{FF2B5EF4-FFF2-40B4-BE49-F238E27FC236}">
                <a16:creationId xmlns:a16="http://schemas.microsoft.com/office/drawing/2014/main" id="{D68A3DFB-8BC7-F2B0-CB69-E09EBBB051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89563" y="3839935"/>
            <a:ext cx="223159" cy="223159"/>
          </a:xfrm>
          <a:prstGeom prst="rect">
            <a:avLst/>
          </a:prstGeom>
        </p:spPr>
      </p:pic>
      <p:pic>
        <p:nvPicPr>
          <p:cNvPr id="49" name="Gráfico 48" descr="Diana con relleno sólido">
            <a:extLst>
              <a:ext uri="{FF2B5EF4-FFF2-40B4-BE49-F238E27FC236}">
                <a16:creationId xmlns:a16="http://schemas.microsoft.com/office/drawing/2014/main" id="{A70C7D64-379E-7D29-7281-C55F6D30E1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46573" y="3829048"/>
            <a:ext cx="212274" cy="212274"/>
          </a:xfrm>
          <a:prstGeom prst="rect">
            <a:avLst/>
          </a:prstGeom>
        </p:spPr>
      </p:pic>
      <p:pic>
        <p:nvPicPr>
          <p:cNvPr id="51" name="Gráfico 50" descr="Libro abierto contorno">
            <a:extLst>
              <a:ext uri="{FF2B5EF4-FFF2-40B4-BE49-F238E27FC236}">
                <a16:creationId xmlns:a16="http://schemas.microsoft.com/office/drawing/2014/main" id="{9B0E33F2-FF87-8740-F4B1-334F5195C2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664528" y="3831771"/>
            <a:ext cx="239488" cy="239488"/>
          </a:xfrm>
          <a:prstGeom prst="rect">
            <a:avLst/>
          </a:prstGeom>
        </p:spPr>
      </p:pic>
      <p:sp>
        <p:nvSpPr>
          <p:cNvPr id="53" name="sh264">
            <a:extLst>
              <a:ext uri="{FF2B5EF4-FFF2-40B4-BE49-F238E27FC236}">
                <a16:creationId xmlns:a16="http://schemas.microsoft.com/office/drawing/2014/main" id="{BC70FFC0-1CC0-6F62-7EDF-80DF271D5B4B}"/>
              </a:ext>
            </a:extLst>
          </p:cNvPr>
          <p:cNvSpPr/>
          <p:nvPr/>
        </p:nvSpPr>
        <p:spPr>
          <a:xfrm>
            <a:off x="5688264" y="3841568"/>
            <a:ext cx="246888" cy="246888"/>
          </a:xfrm>
          <a:prstGeom prst="ellipse">
            <a:avLst/>
          </a:prstGeom>
          <a:solidFill>
            <a:srgbClr val="2C5AA8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pic>
        <p:nvPicPr>
          <p:cNvPr id="55" name="Gráfico 54" descr="Mejora continua con relleno sólido">
            <a:extLst>
              <a:ext uri="{FF2B5EF4-FFF2-40B4-BE49-F238E27FC236}">
                <a16:creationId xmlns:a16="http://schemas.microsoft.com/office/drawing/2014/main" id="{96E3415A-3B7A-D07E-BA4F-5CACD13CB4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657850" y="3807279"/>
            <a:ext cx="3048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6644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9B3F8-F6E6-BAD1-E2A6-02EAC1C66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modelo reactivo">
            <a:extLst>
              <a:ext uri="{FF2B5EF4-FFF2-40B4-BE49-F238E27FC236}">
                <a16:creationId xmlns:a16="http://schemas.microsoft.com/office/drawing/2014/main" id="{63B05839-3D71-AE88-305C-0E928050B2A8}"/>
              </a:ext>
            </a:extLst>
          </p:cNvPr>
          <p:cNvSpPr txBox="1"/>
          <p:nvPr/>
        </p:nvSpPr>
        <p:spPr>
          <a:xfrm>
            <a:off x="351065" y="3671205"/>
            <a:ext cx="8523064" cy="664029"/>
          </a:xfrm>
          <a:prstGeom prst="rect">
            <a:avLst/>
          </a:prstGeom>
          <a:solidFill>
            <a:srgbClr val="FCF4EB"/>
          </a:solidFill>
          <a:ln>
            <a:solidFill>
              <a:schemeClr val="bg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91425" tIns="91425" rIns="91425" bIns="91425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</p:txBody>
      </p:sp>
      <p:sp>
        <p:nvSpPr>
          <p:cNvPr id="111" name="Text 18">
            <a:extLst>
              <a:ext uri="{FF2B5EF4-FFF2-40B4-BE49-F238E27FC236}">
                <a16:creationId xmlns:a16="http://schemas.microsoft.com/office/drawing/2014/main" id="{571A3787-9D32-BB3B-CFF1-3FDDDE399B63}"/>
              </a:ext>
            </a:extLst>
          </p:cNvPr>
          <p:cNvSpPr/>
          <p:nvPr/>
        </p:nvSpPr>
        <p:spPr>
          <a:xfrm>
            <a:off x="370454" y="485020"/>
            <a:ext cx="9388248" cy="3460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406"/>
              </a:lnSpc>
            </a:pP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Objetivo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: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Reducción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costos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operativos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y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mejora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experiencia del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usuario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final a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través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la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transferencia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conocimiento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F8BADBF-C619-14FE-378A-ED427D78E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730" y="200392"/>
            <a:ext cx="7111542" cy="572700"/>
          </a:xfrm>
        </p:spPr>
        <p:txBody>
          <a:bodyPr>
            <a:normAutofit/>
          </a:bodyPr>
          <a:lstStyle/>
          <a:p>
            <a:r>
              <a:rPr lang="es-CO"/>
              <a:t>Modelo de Madurez de la Mesa de Nueva Generación</a:t>
            </a:r>
          </a:p>
        </p:txBody>
      </p:sp>
      <p:sp>
        <p:nvSpPr>
          <p:cNvPr id="89" name="Text 3">
            <a:extLst>
              <a:ext uri="{FF2B5EF4-FFF2-40B4-BE49-F238E27FC236}">
                <a16:creationId xmlns:a16="http://schemas.microsoft.com/office/drawing/2014/main" id="{F2FF73B3-1390-A22D-2CBB-8FA99D797BF5}"/>
              </a:ext>
            </a:extLst>
          </p:cNvPr>
          <p:cNvSpPr/>
          <p:nvPr/>
        </p:nvSpPr>
        <p:spPr>
          <a:xfrm>
            <a:off x="458221" y="2433703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N0 - Autoservicio</a:t>
            </a:r>
            <a:endParaRPr lang="en-US" sz="900">
              <a:latin typeface="Reddit Sans"/>
              <a:ea typeface="Reddit Sans"/>
            </a:endParaRPr>
          </a:p>
        </p:txBody>
      </p:sp>
      <p:sp>
        <p:nvSpPr>
          <p:cNvPr id="91" name="Text 4">
            <a:extLst>
              <a:ext uri="{FF2B5EF4-FFF2-40B4-BE49-F238E27FC236}">
                <a16:creationId xmlns:a16="http://schemas.microsoft.com/office/drawing/2014/main" id="{BCD4A989-F3C9-74F4-B3A1-776A44C3F5BA}"/>
              </a:ext>
            </a:extLst>
          </p:cNvPr>
          <p:cNvSpPr/>
          <p:nvPr/>
        </p:nvSpPr>
        <p:spPr>
          <a:xfrm>
            <a:off x="371136" y="2717436"/>
            <a:ext cx="1445760" cy="63807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Empoderamiento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del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usuario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mediante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portales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de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y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automatización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Portal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autoservicio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, base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, FAQ, chatbot, IA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generativa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</a:t>
            </a:r>
          </a:p>
          <a:p>
            <a:pPr algn="ctr"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93" name="Text 6">
            <a:extLst>
              <a:ext uri="{FF2B5EF4-FFF2-40B4-BE49-F238E27FC236}">
                <a16:creationId xmlns:a16="http://schemas.microsoft.com/office/drawing/2014/main" id="{62F9342F-4771-9447-1B13-EB610D36734E}"/>
              </a:ext>
            </a:extLst>
          </p:cNvPr>
          <p:cNvSpPr/>
          <p:nvPr/>
        </p:nvSpPr>
        <p:spPr>
          <a:xfrm>
            <a:off x="1817574" y="2460917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N1 - Service Desk / Call Center</a:t>
            </a:r>
            <a:endParaRPr lang="en-US" sz="900">
              <a:latin typeface="Reddit Sans"/>
              <a:ea typeface="Reddit Sans"/>
            </a:endParaRPr>
          </a:p>
        </p:txBody>
      </p:sp>
      <p:sp>
        <p:nvSpPr>
          <p:cNvPr id="95" name="Text 7">
            <a:extLst>
              <a:ext uri="{FF2B5EF4-FFF2-40B4-BE49-F238E27FC236}">
                <a16:creationId xmlns:a16="http://schemas.microsoft.com/office/drawing/2014/main" id="{E94328EF-E313-6F3C-1B6C-123BAA19D77A}"/>
              </a:ext>
            </a:extLst>
          </p:cNvPr>
          <p:cNvSpPr/>
          <p:nvPr/>
        </p:nvSpPr>
        <p:spPr>
          <a:xfrm>
            <a:off x="1752259" y="2864393"/>
            <a:ext cx="1233489" cy="56731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Primer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nivel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contacto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;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incidencias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comunes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y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gestión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peticiones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(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registro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tickets).</a:t>
            </a:r>
            <a:endParaRPr lang="en-US" sz="700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97" name="Text 9">
            <a:extLst>
              <a:ext uri="{FF2B5EF4-FFF2-40B4-BE49-F238E27FC236}">
                <a16:creationId xmlns:a16="http://schemas.microsoft.com/office/drawing/2014/main" id="{37490370-97BA-0714-A222-17496C8769A9}"/>
              </a:ext>
            </a:extLst>
          </p:cNvPr>
          <p:cNvSpPr/>
          <p:nvPr/>
        </p:nvSpPr>
        <p:spPr>
          <a:xfrm>
            <a:off x="3225914" y="2444588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N2 - </a:t>
            </a:r>
            <a:r>
              <a:rPr lang="en-US" sz="9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9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Especializado</a:t>
            </a:r>
            <a:endParaRPr lang="en-US" sz="900" err="1">
              <a:latin typeface="Reddit Sans"/>
              <a:ea typeface="Reddit Sans"/>
            </a:endParaRPr>
          </a:p>
        </p:txBody>
      </p:sp>
      <p:sp>
        <p:nvSpPr>
          <p:cNvPr id="99" name="Text 10">
            <a:extLst>
              <a:ext uri="{FF2B5EF4-FFF2-40B4-BE49-F238E27FC236}">
                <a16:creationId xmlns:a16="http://schemas.microsoft.com/office/drawing/2014/main" id="{97C3240B-77E4-C022-93ED-8F91CC2B1840}"/>
              </a:ext>
            </a:extLst>
          </p:cNvPr>
          <p:cNvSpPr/>
          <p:nvPr/>
        </p:nvSpPr>
        <p:spPr>
          <a:xfrm>
            <a:off x="3040858" y="2864394"/>
            <a:ext cx="1641700" cy="67313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Especialistas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técnicos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para la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oblemas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de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mayor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complejidad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Equipos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técnicos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con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específicos</a:t>
            </a:r>
            <a:endParaRPr lang="es-ES"/>
          </a:p>
          <a:p>
            <a:pPr algn="ctr"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aplicaciones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,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infraestructura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procesos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</a:t>
            </a:r>
          </a:p>
          <a:p>
            <a:pPr algn="ctr"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1" name="Text 12">
            <a:extLst>
              <a:ext uri="{FF2B5EF4-FFF2-40B4-BE49-F238E27FC236}">
                <a16:creationId xmlns:a16="http://schemas.microsoft.com/office/drawing/2014/main" id="{A9BCBE2F-4218-9ACB-DB9C-9B726C052719}"/>
              </a:ext>
            </a:extLst>
          </p:cNvPr>
          <p:cNvSpPr/>
          <p:nvPr/>
        </p:nvSpPr>
        <p:spPr>
          <a:xfrm>
            <a:off x="4841081" y="2444587"/>
            <a:ext cx="994003" cy="27023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N3 – </a:t>
            </a:r>
            <a:r>
              <a:rPr lang="en-US" sz="9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9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Expertos</a:t>
            </a: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(Nivel de Ingeniería)</a:t>
            </a:r>
            <a:endParaRPr lang="en-US" sz="900">
              <a:latin typeface="Reddit Sans"/>
              <a:ea typeface="Reddit Sans"/>
            </a:endParaRPr>
          </a:p>
        </p:txBody>
      </p:sp>
      <p:sp>
        <p:nvSpPr>
          <p:cNvPr id="103" name="Text 13">
            <a:extLst>
              <a:ext uri="{FF2B5EF4-FFF2-40B4-BE49-F238E27FC236}">
                <a16:creationId xmlns:a16="http://schemas.microsoft.com/office/drawing/2014/main" id="{B1F36C76-C0F3-5C68-2A77-558B0B008630}"/>
              </a:ext>
            </a:extLst>
          </p:cNvPr>
          <p:cNvSpPr/>
          <p:nvPr/>
        </p:nvSpPr>
        <p:spPr>
          <a:xfrm>
            <a:off x="4642047" y="2906981"/>
            <a:ext cx="1490042" cy="68401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Análisis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profundo y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n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fallos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críticos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incidentes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Ingenieros senior,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arquitectos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especialistas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que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resuelven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problemas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y causa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raíz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</a:t>
            </a:r>
          </a:p>
        </p:txBody>
      </p:sp>
      <p:sp>
        <p:nvSpPr>
          <p:cNvPr id="105" name="Text 15">
            <a:extLst>
              <a:ext uri="{FF2B5EF4-FFF2-40B4-BE49-F238E27FC236}">
                <a16:creationId xmlns:a16="http://schemas.microsoft.com/office/drawing/2014/main" id="{A42066F1-E260-A830-0FC4-F0D7BE34F845}"/>
              </a:ext>
            </a:extLst>
          </p:cNvPr>
          <p:cNvSpPr/>
          <p:nvPr/>
        </p:nvSpPr>
        <p:spPr>
          <a:xfrm>
            <a:off x="6292964" y="2460916"/>
            <a:ext cx="1070202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N4 – Terceros (</a:t>
            </a:r>
            <a:r>
              <a:rPr lang="en-US" sz="9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Proveedor</a:t>
            </a: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/ Fabricante)</a:t>
            </a:r>
            <a:endParaRPr lang="en-US" sz="900">
              <a:latin typeface="Reddit Sans"/>
              <a:ea typeface="Reddit Sans"/>
            </a:endParaRPr>
          </a:p>
        </p:txBody>
      </p:sp>
      <p:sp>
        <p:nvSpPr>
          <p:cNvPr id="107" name="Text 16">
            <a:extLst>
              <a:ext uri="{FF2B5EF4-FFF2-40B4-BE49-F238E27FC236}">
                <a16:creationId xmlns:a16="http://schemas.microsoft.com/office/drawing/2014/main" id="{8B48FAD4-7C5D-C451-9662-AE6726204DD7}"/>
              </a:ext>
            </a:extLst>
          </p:cNvPr>
          <p:cNvSpPr/>
          <p:nvPr/>
        </p:nvSpPr>
        <p:spPr>
          <a:xfrm>
            <a:off x="6292963" y="2951479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Gestión de proveedores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externos y servicios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especializados fuera de la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organización.</a:t>
            </a:r>
            <a:endParaRPr lang="en-US" sz="700">
              <a:latin typeface="Reddit Sans"/>
              <a:ea typeface="Reddit Sans"/>
            </a:endParaRPr>
          </a:p>
        </p:txBody>
      </p:sp>
      <p:sp>
        <p:nvSpPr>
          <p:cNvPr id="112" name="Text 15">
            <a:extLst>
              <a:ext uri="{FF2B5EF4-FFF2-40B4-BE49-F238E27FC236}">
                <a16:creationId xmlns:a16="http://schemas.microsoft.com/office/drawing/2014/main" id="{7D187DF5-439C-F565-0F64-B429BB33A832}"/>
              </a:ext>
            </a:extLst>
          </p:cNvPr>
          <p:cNvSpPr/>
          <p:nvPr/>
        </p:nvSpPr>
        <p:spPr>
          <a:xfrm>
            <a:off x="7762534" y="2444587"/>
            <a:ext cx="994003" cy="38548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N5 – </a:t>
            </a:r>
            <a:r>
              <a:rPr lang="en-US" sz="9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9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9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Autonomo</a:t>
            </a:r>
            <a:endParaRPr lang="en-US" sz="900" err="1">
              <a:latin typeface="Reddit Sans"/>
              <a:ea typeface="Reddit Sans"/>
            </a:endParaRPr>
          </a:p>
        </p:txBody>
      </p:sp>
      <p:sp>
        <p:nvSpPr>
          <p:cNvPr id="113" name="Text 16">
            <a:extLst>
              <a:ext uri="{FF2B5EF4-FFF2-40B4-BE49-F238E27FC236}">
                <a16:creationId xmlns:a16="http://schemas.microsoft.com/office/drawing/2014/main" id="{912B63C2-055A-1F1D-198B-175975F73992}"/>
              </a:ext>
            </a:extLst>
          </p:cNvPr>
          <p:cNvSpPr/>
          <p:nvPr/>
        </p:nvSpPr>
        <p:spPr>
          <a:xfrm>
            <a:off x="7588364" y="2962365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</a:rPr>
              <a:t>IA, automatización, auto-remediación, AIOps y operaciones predictivas.</a:t>
            </a:r>
            <a:endParaRPr lang="es-ES" sz="700" kern="0" spc="-34">
              <a:solidFill>
                <a:srgbClr val="000000">
                  <a:alpha val="65000"/>
                </a:srgbClr>
              </a:solidFill>
              <a:latin typeface="Reddit Sans"/>
              <a:ea typeface="Reddit Sans"/>
            </a:endParaRPr>
          </a:p>
          <a:p>
            <a:pPr algn="ctr"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14" name="Text 53">
            <a:extLst>
              <a:ext uri="{FF2B5EF4-FFF2-40B4-BE49-F238E27FC236}">
                <a16:creationId xmlns:a16="http://schemas.microsoft.com/office/drawing/2014/main" id="{DAB75E3A-25F9-CD28-DF18-093D1347404F}"/>
              </a:ext>
            </a:extLst>
          </p:cNvPr>
          <p:cNvSpPr/>
          <p:nvPr/>
        </p:nvSpPr>
        <p:spPr>
          <a:xfrm>
            <a:off x="8078289" y="4554365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r">
              <a:buNone/>
            </a:pPr>
            <a:r>
              <a:rPr lang="en-US" sz="80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11 / 12</a:t>
            </a:r>
            <a:endParaRPr lang="en-US" sz="8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15" name="modelo reactivo">
            <a:extLst>
              <a:ext uri="{FF2B5EF4-FFF2-40B4-BE49-F238E27FC236}">
                <a16:creationId xmlns:a16="http://schemas.microsoft.com/office/drawing/2014/main" id="{8F4CC718-2E8E-86BA-065B-7203DA818D05}"/>
              </a:ext>
            </a:extLst>
          </p:cNvPr>
          <p:cNvSpPr txBox="1"/>
          <p:nvPr/>
        </p:nvSpPr>
        <p:spPr>
          <a:xfrm>
            <a:off x="359229" y="1028700"/>
            <a:ext cx="2682879" cy="353786"/>
          </a:xfrm>
          <a:prstGeom prst="rect">
            <a:avLst/>
          </a:prstGeom>
          <a:solidFill>
            <a:srgbClr val="EBF1FA"/>
          </a:solidFill>
          <a:ln>
            <a:noFill/>
          </a:ln>
        </p:spPr>
        <p:txBody>
          <a:bodyPr wrap="square" lIns="91425" tIns="91425" rIns="91425" bIns="91425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None/>
            </a:pPr>
            <a:r>
              <a:rPr lang="es" sz="1000" b="1">
                <a:solidFill>
                  <a:srgbClr val="633806"/>
                </a:solidFill>
                <a:latin typeface="Reddit Sans"/>
                <a:ea typeface="Reddit Sans"/>
              </a:rPr>
              <a:t>Reactivo y Crecimiento Automatizado</a:t>
            </a:r>
          </a:p>
        </p:txBody>
      </p:sp>
      <p:sp>
        <p:nvSpPr>
          <p:cNvPr id="116" name="modelo predictivo">
            <a:extLst>
              <a:ext uri="{FF2B5EF4-FFF2-40B4-BE49-F238E27FC236}">
                <a16:creationId xmlns:a16="http://schemas.microsoft.com/office/drawing/2014/main" id="{8F4DFA52-E4C3-F9FA-35AC-2B9DDB2580D8}"/>
              </a:ext>
            </a:extLst>
          </p:cNvPr>
          <p:cNvSpPr txBox="1"/>
          <p:nvPr/>
        </p:nvSpPr>
        <p:spPr>
          <a:xfrm>
            <a:off x="3159579" y="1028700"/>
            <a:ext cx="2682879" cy="353786"/>
          </a:xfrm>
          <a:prstGeom prst="rect">
            <a:avLst/>
          </a:prstGeom>
          <a:solidFill>
            <a:srgbClr val="EBF1FA"/>
          </a:solidFill>
          <a:ln>
            <a:noFill/>
          </a:ln>
        </p:spPr>
        <p:txBody>
          <a:bodyPr wrap="square" lIns="91425" tIns="91425" rIns="91425" bIns="91425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None/>
            </a:pPr>
            <a:r>
              <a:rPr lang="es" sz="1000" b="1">
                <a:solidFill>
                  <a:srgbClr val="0E337C"/>
                </a:solidFill>
                <a:latin typeface="Reddit Sans"/>
                <a:ea typeface="Reddit Sans"/>
              </a:rPr>
              <a:t>Predictivo y Evolutivo</a:t>
            </a:r>
          </a:p>
        </p:txBody>
      </p:sp>
      <p:sp>
        <p:nvSpPr>
          <p:cNvPr id="117" name="modelo autonomo">
            <a:extLst>
              <a:ext uri="{FF2B5EF4-FFF2-40B4-BE49-F238E27FC236}">
                <a16:creationId xmlns:a16="http://schemas.microsoft.com/office/drawing/2014/main" id="{1595092C-43F6-10F5-9638-E2CA995E11C0}"/>
              </a:ext>
            </a:extLst>
          </p:cNvPr>
          <p:cNvSpPr txBox="1"/>
          <p:nvPr/>
        </p:nvSpPr>
        <p:spPr>
          <a:xfrm>
            <a:off x="5959929" y="1028700"/>
            <a:ext cx="2683629" cy="353786"/>
          </a:xfrm>
          <a:prstGeom prst="rect">
            <a:avLst/>
          </a:prstGeom>
          <a:solidFill>
            <a:srgbClr val="EBF1FA"/>
          </a:solidFill>
          <a:ln>
            <a:solidFill>
              <a:schemeClr val="accent5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91425" tIns="91425" rIns="91425" bIns="91425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>
              <a:buNone/>
            </a:pPr>
            <a:r>
              <a:rPr lang="es" sz="1000" b="1">
                <a:solidFill>
                  <a:schemeClr val="accent5"/>
                </a:solidFill>
                <a:latin typeface="Reddit Sans"/>
                <a:ea typeface="Reddit Sans"/>
              </a:rPr>
              <a:t>Autónomo e Inteligente</a:t>
            </a:r>
            <a:endParaRPr lang="es" sz="1000" b="1">
              <a:solidFill>
                <a:schemeClr val="accent5"/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119" name="text">
            <a:extLst>
              <a:ext uri="{FF2B5EF4-FFF2-40B4-BE49-F238E27FC236}">
                <a16:creationId xmlns:a16="http://schemas.microsoft.com/office/drawing/2014/main" id="{6A0163D3-21EE-1E11-51FD-D7661AE05DB5}"/>
              </a:ext>
            </a:extLst>
          </p:cNvPr>
          <p:cNvSpPr>
            <a:spLocks noGrp="1"/>
          </p:cNvSpPr>
          <p:nvPr/>
        </p:nvSpPr>
        <p:spPr>
          <a:xfrm>
            <a:off x="419101" y="3875315"/>
            <a:ext cx="1521276" cy="38916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Deflexión &gt;30%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Disponible 24x7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Resuelve solicitudes frecuentes</a:t>
            </a:r>
          </a:p>
        </p:txBody>
      </p:sp>
      <p:sp>
        <p:nvSpPr>
          <p:cNvPr id="121" name="text">
            <a:extLst>
              <a:ext uri="{FF2B5EF4-FFF2-40B4-BE49-F238E27FC236}">
                <a16:creationId xmlns:a16="http://schemas.microsoft.com/office/drawing/2014/main" id="{3AFE1D91-0A1E-C722-7EDC-B63FC372E59A}"/>
              </a:ext>
            </a:extLst>
          </p:cNvPr>
          <p:cNvSpPr>
            <a:spLocks noGrp="1"/>
          </p:cNvSpPr>
          <p:nvPr/>
        </p:nvSpPr>
        <p:spPr>
          <a:xfrm>
            <a:off x="1631497" y="3799113"/>
            <a:ext cx="1657348" cy="67219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FCR &lt;65%</a:t>
            </a:r>
            <a:endParaRPr lang="es-ES" sz="600">
              <a:solidFill>
                <a:srgbClr val="172033"/>
              </a:solidFill>
              <a:latin typeface="Reddit Sans"/>
              <a:ea typeface="Reddit Sans"/>
            </a:endParaRP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MTTR &gt;12h, Sin N0</a:t>
            </a:r>
            <a:endParaRPr lang="es-ES" sz="600">
              <a:solidFill>
                <a:srgbClr val="172033"/>
              </a:solidFill>
              <a:latin typeface="Reddit Sans"/>
              <a:ea typeface="Reddit Sans"/>
            </a:endParaRP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Sin </a:t>
            </a:r>
            <a:r>
              <a:rPr lang="en-US" sz="600" err="1">
                <a:solidFill>
                  <a:srgbClr val="172033"/>
                </a:solidFill>
                <a:latin typeface="Reddit Sans"/>
                <a:ea typeface="Reddit Sans"/>
              </a:rPr>
              <a:t>catálogo</a:t>
            </a:r>
            <a:endParaRPr sz="600" err="1">
              <a:solidFill>
                <a:srgbClr val="172033"/>
              </a:solidFill>
              <a:latin typeface="Reddit Sans"/>
              <a:ea typeface="Reddit Sans"/>
            </a:endParaRP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>
                <a:solidFill>
                  <a:srgbClr val="172033"/>
                </a:solidFill>
                <a:latin typeface="Reddit Sans"/>
                <a:ea typeface="Reddit Sans"/>
              </a:rPr>
              <a:t>Registro y </a:t>
            </a: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categorización</a:t>
            </a:r>
            <a:endParaRPr sz="600">
              <a:solidFill>
                <a:srgbClr val="172033"/>
              </a:solidFill>
              <a:latin typeface="Reddit Sans"/>
              <a:ea typeface="Reddit Sans"/>
            </a:endParaRP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Comunicación</a:t>
            </a:r>
            <a:r>
              <a:rPr sz="600">
                <a:solidFill>
                  <a:srgbClr val="172033"/>
                </a:solidFill>
                <a:latin typeface="Reddit Sans"/>
                <a:ea typeface="Reddit Sans"/>
              </a:rPr>
              <a:t> al </a:t>
            </a: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usuar</a:t>
            </a:r>
            <a:r>
              <a:rPr sz="600" b="0" err="1">
                <a:solidFill>
                  <a:srgbClr val="172033"/>
                </a:solidFill>
                <a:latin typeface="Reddit Sans"/>
                <a:ea typeface="Reddit Sans"/>
              </a:rPr>
              <a:t>io</a:t>
            </a:r>
            <a:endParaRPr sz="600" b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123" name="text">
            <a:extLst>
              <a:ext uri="{FF2B5EF4-FFF2-40B4-BE49-F238E27FC236}">
                <a16:creationId xmlns:a16="http://schemas.microsoft.com/office/drawing/2014/main" id="{547BC0BF-FA4F-37FF-8A9D-B708AC4C5B20}"/>
              </a:ext>
            </a:extLst>
          </p:cNvPr>
          <p:cNvSpPr>
            <a:spLocks noGrp="1"/>
          </p:cNvSpPr>
          <p:nvPr/>
        </p:nvSpPr>
        <p:spPr>
          <a:xfrm>
            <a:off x="3159579" y="3761014"/>
            <a:ext cx="1341665" cy="49802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FCR 65–74%, MTTR 8–12h</a:t>
            </a:r>
            <a:endParaRPr lang="es-ES"/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SLA, Catálogo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CMDB, KPI, </a:t>
            </a:r>
            <a:r>
              <a:rPr sz="600">
                <a:solidFill>
                  <a:srgbClr val="172033"/>
                </a:solidFill>
                <a:latin typeface="Reddit Sans"/>
                <a:ea typeface="Reddit Sans"/>
              </a:rPr>
              <a:t>Diagnóstico avanzado</a:t>
            </a:r>
            <a:endParaRPr lang="es-ES" sz="600">
              <a:solidFill>
                <a:srgbClr val="172033"/>
              </a:solidFill>
              <a:latin typeface="Reddit Sans"/>
              <a:ea typeface="Reddit Sans"/>
            </a:endParaRP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Soporte</a:t>
            </a:r>
            <a:r>
              <a:rPr sz="60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aplicativo</a:t>
            </a:r>
            <a:r>
              <a:rPr sz="600">
                <a:solidFill>
                  <a:srgbClr val="172033"/>
                </a:solidFill>
                <a:latin typeface="Reddit Sans"/>
                <a:ea typeface="Reddit Sans"/>
              </a:rPr>
              <a:t>/campo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Coordinación</a:t>
            </a:r>
            <a:r>
              <a:rPr sz="60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proveedores</a:t>
            </a:r>
            <a:endParaRPr sz="60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125" name="text">
            <a:extLst>
              <a:ext uri="{FF2B5EF4-FFF2-40B4-BE49-F238E27FC236}">
                <a16:creationId xmlns:a16="http://schemas.microsoft.com/office/drawing/2014/main" id="{794BC2E2-347C-8C8B-051E-E54E1FE8FF29}"/>
              </a:ext>
            </a:extLst>
          </p:cNvPr>
          <p:cNvSpPr>
            <a:spLocks noGrp="1"/>
          </p:cNvSpPr>
          <p:nvPr/>
        </p:nvSpPr>
        <p:spPr>
          <a:xfrm>
            <a:off x="4682219" y="3875314"/>
            <a:ext cx="1162050" cy="34017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FCR ≥75%, MTTR 4–8h, </a:t>
            </a:r>
            <a:r>
              <a:rPr lang="es-ES" sz="600" err="1">
                <a:solidFill>
                  <a:srgbClr val="172033"/>
                </a:solidFill>
                <a:latin typeface="Reddit Sans"/>
                <a:ea typeface="Reddit Sans"/>
              </a:rPr>
              <a:t>Deflection</a:t>
            </a: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 20–35% N0 activo KCS, Gobierno formal</a:t>
            </a:r>
            <a:endParaRPr sz="60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127" name="text">
            <a:extLst>
              <a:ext uri="{FF2B5EF4-FFF2-40B4-BE49-F238E27FC236}">
                <a16:creationId xmlns:a16="http://schemas.microsoft.com/office/drawing/2014/main" id="{53F00BD8-6D22-3BE4-05A1-97E1A6CCB8CE}"/>
              </a:ext>
            </a:extLst>
          </p:cNvPr>
          <p:cNvSpPr>
            <a:spLocks noGrp="1"/>
          </p:cNvSpPr>
          <p:nvPr/>
        </p:nvSpPr>
        <p:spPr>
          <a:xfrm>
            <a:off x="6172201" y="3853543"/>
            <a:ext cx="1162050" cy="4871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FCR ≥80%, MTTR &lt;4h </a:t>
            </a:r>
            <a:r>
              <a:rPr lang="es-ES" sz="600" err="1">
                <a:solidFill>
                  <a:srgbClr val="172033"/>
                </a:solidFill>
                <a:latin typeface="Reddit Sans"/>
                <a:ea typeface="Reddit Sans"/>
              </a:rPr>
              <a:t>Deflection</a:t>
            </a: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 35–55% CSAT ≥88%, IA + </a:t>
            </a:r>
            <a:r>
              <a:rPr lang="es-ES" sz="600" err="1">
                <a:solidFill>
                  <a:srgbClr val="172033"/>
                </a:solidFill>
                <a:latin typeface="Reddit Sans"/>
                <a:ea typeface="Reddit Sans"/>
              </a:rPr>
              <a:t>AIOps</a:t>
            </a: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 XLA medidos DEX monitoreado</a:t>
            </a:r>
            <a:endParaRPr sz="60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A96091D-9F50-1CD6-469D-68CA4CF1A06D}"/>
              </a:ext>
            </a:extLst>
          </p:cNvPr>
          <p:cNvSpPr txBox="1"/>
          <p:nvPr/>
        </p:nvSpPr>
        <p:spPr>
          <a:xfrm>
            <a:off x="7538358" y="3845379"/>
            <a:ext cx="1328057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FCR ≥85%, MTTR &lt;2h, Deflection ≥55%, CSAT ≥92 ( 50% tickets sin </a:t>
            </a:r>
            <a:r>
              <a:rPr lang="en-US" sz="600" err="1">
                <a:solidFill>
                  <a:srgbClr val="172033"/>
                </a:solidFill>
                <a:latin typeface="Reddit Sans"/>
                <a:ea typeface="Reddit Sans"/>
              </a:rPr>
              <a:t>agente</a:t>
            </a: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lang="en-US" sz="600" err="1">
                <a:solidFill>
                  <a:srgbClr val="172033"/>
                </a:solidFill>
                <a:latin typeface="Reddit Sans"/>
                <a:ea typeface="Reddit Sans"/>
              </a:rPr>
              <a:t>humano</a:t>
            </a: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), Pricing </a:t>
            </a:r>
            <a:r>
              <a:rPr lang="en-US" sz="600" err="1">
                <a:solidFill>
                  <a:srgbClr val="172033"/>
                </a:solidFill>
                <a:latin typeface="Reddit Sans"/>
                <a:ea typeface="Reddit Sans"/>
              </a:rPr>
              <a:t>por</a:t>
            </a: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 outcomes Next Gen</a:t>
            </a:r>
            <a:endParaRPr lang="es-ES"/>
          </a:p>
        </p:txBody>
      </p:sp>
      <p:pic>
        <p:nvPicPr>
          <p:cNvPr id="7" name="Image 0" descr="-5107849e.png">
            <a:extLst>
              <a:ext uri="{FF2B5EF4-FFF2-40B4-BE49-F238E27FC236}">
                <a16:creationId xmlns:a16="http://schemas.microsoft.com/office/drawing/2014/main" id="{D7030BB5-D81F-8A9B-D14D-E4816EDD8C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08" b="1608"/>
          <a:stretch>
            <a:fillRect/>
          </a:stretch>
        </p:blipFill>
        <p:spPr>
          <a:xfrm>
            <a:off x="346302" y="1623290"/>
            <a:ext cx="1587953" cy="762341"/>
          </a:xfrm>
          <a:prstGeom prst="rect">
            <a:avLst/>
          </a:prstGeom>
        </p:spPr>
      </p:pic>
      <p:sp>
        <p:nvSpPr>
          <p:cNvPr id="9" name="Shape 4">
            <a:extLst>
              <a:ext uri="{FF2B5EF4-FFF2-40B4-BE49-F238E27FC236}">
                <a16:creationId xmlns:a16="http://schemas.microsoft.com/office/drawing/2014/main" id="{CE0E936A-956B-122D-BFA8-E372482D127B}"/>
              </a:ext>
            </a:extLst>
          </p:cNvPr>
          <p:cNvSpPr/>
          <p:nvPr/>
        </p:nvSpPr>
        <p:spPr>
          <a:xfrm>
            <a:off x="1067820" y="14065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</p:sp>
      <p:pic>
        <p:nvPicPr>
          <p:cNvPr id="12" name="Image 1" descr="3c0be2e2.png">
            <a:extLst>
              <a:ext uri="{FF2B5EF4-FFF2-40B4-BE49-F238E27FC236}">
                <a16:creationId xmlns:a16="http://schemas.microsoft.com/office/drawing/2014/main" id="{8EF2DF72-B7CA-CF2D-D74B-A517760722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3147" y="1501474"/>
            <a:ext cx="150019" cy="171450"/>
          </a:xfrm>
          <a:prstGeom prst="rect">
            <a:avLst/>
          </a:prstGeom>
        </p:spPr>
      </p:pic>
      <p:pic>
        <p:nvPicPr>
          <p:cNvPr id="14" name="Image 2" descr="-664449e.png">
            <a:extLst>
              <a:ext uri="{FF2B5EF4-FFF2-40B4-BE49-F238E27FC236}">
                <a16:creationId xmlns:a16="http://schemas.microsoft.com/office/drawing/2014/main" id="{A1582877-2845-A03C-32D2-1A85967107C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608" b="1608"/>
          <a:stretch>
            <a:fillRect/>
          </a:stretch>
        </p:blipFill>
        <p:spPr>
          <a:xfrm>
            <a:off x="3173866" y="1623290"/>
            <a:ext cx="1587953" cy="762341"/>
          </a:xfrm>
          <a:prstGeom prst="rect">
            <a:avLst/>
          </a:prstGeom>
        </p:spPr>
      </p:pic>
      <p:sp>
        <p:nvSpPr>
          <p:cNvPr id="16" name="Text 5">
            <a:extLst>
              <a:ext uri="{FF2B5EF4-FFF2-40B4-BE49-F238E27FC236}">
                <a16:creationId xmlns:a16="http://schemas.microsoft.com/office/drawing/2014/main" id="{8D275D42-FC06-CB3B-ED05-1FDA82A995D0}"/>
              </a:ext>
            </a:extLst>
          </p:cNvPr>
          <p:cNvSpPr/>
          <p:nvPr/>
        </p:nvSpPr>
        <p:spPr>
          <a:xfrm>
            <a:off x="3380355" y="1795186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1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N2</a:t>
            </a:r>
            <a:br>
              <a:rPr lang="en-US" sz="1100" kern="0" spc="-81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1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Administrado</a:t>
            </a:r>
            <a:endParaRPr lang="en-US" sz="800" err="1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8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 (</a:t>
            </a:r>
            <a:r>
              <a:rPr lang="en-US" sz="8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Estandarizado</a:t>
            </a:r>
            <a:r>
              <a:rPr lang="en-US" sz="8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800">
              <a:latin typeface="Reddit Sans"/>
              <a:ea typeface="Reddit Sans"/>
            </a:endParaRPr>
          </a:p>
        </p:txBody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F311DA5D-85F9-EF7E-0DBC-696CBCB217F4}"/>
              </a:ext>
            </a:extLst>
          </p:cNvPr>
          <p:cNvSpPr/>
          <p:nvPr/>
        </p:nvSpPr>
        <p:spPr>
          <a:xfrm>
            <a:off x="3922599" y="14065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</p:sp>
      <p:pic>
        <p:nvPicPr>
          <p:cNvPr id="21" name="Image 3" descr="327946a2.png">
            <a:extLst>
              <a:ext uri="{FF2B5EF4-FFF2-40B4-BE49-F238E27FC236}">
                <a16:creationId xmlns:a16="http://schemas.microsoft.com/office/drawing/2014/main" id="{89AAF305-04C7-A7A6-1B1E-572C4489F8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9452" y="1502521"/>
            <a:ext cx="128588" cy="164306"/>
          </a:xfrm>
          <a:prstGeom prst="rect">
            <a:avLst/>
          </a:prstGeom>
        </p:spPr>
      </p:pic>
      <p:pic>
        <p:nvPicPr>
          <p:cNvPr id="23" name="Image 4" descr="-63bd839e.png">
            <a:extLst>
              <a:ext uri="{FF2B5EF4-FFF2-40B4-BE49-F238E27FC236}">
                <a16:creationId xmlns:a16="http://schemas.microsoft.com/office/drawing/2014/main" id="{097DBBD1-C1FE-AD50-E484-99B251D98CA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608" b="1608"/>
          <a:stretch>
            <a:fillRect/>
          </a:stretch>
        </p:blipFill>
        <p:spPr>
          <a:xfrm>
            <a:off x="4586288" y="1623290"/>
            <a:ext cx="1587953" cy="762341"/>
          </a:xfrm>
          <a:prstGeom prst="rect">
            <a:avLst/>
          </a:prstGeom>
        </p:spPr>
      </p:pic>
      <p:sp>
        <p:nvSpPr>
          <p:cNvPr id="25" name="Text 8">
            <a:extLst>
              <a:ext uri="{FF2B5EF4-FFF2-40B4-BE49-F238E27FC236}">
                <a16:creationId xmlns:a16="http://schemas.microsoft.com/office/drawing/2014/main" id="{8819F641-ED11-F5E7-B494-AD9088894EB1}"/>
              </a:ext>
            </a:extLst>
          </p:cNvPr>
          <p:cNvSpPr/>
          <p:nvPr/>
        </p:nvSpPr>
        <p:spPr>
          <a:xfrm>
            <a:off x="4819991" y="1793657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1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N3 </a:t>
            </a:r>
            <a:endParaRPr lang="en-US" sz="110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1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Definido</a:t>
            </a:r>
            <a:r>
              <a:rPr lang="en-US" sz="11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80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8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8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Proactivo</a:t>
            </a:r>
            <a:r>
              <a:rPr lang="en-US" sz="8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800">
              <a:latin typeface="Reddit Sans"/>
              <a:ea typeface="Reddit Sans"/>
            </a:endParaRPr>
          </a:p>
        </p:txBody>
      </p:sp>
      <p:sp>
        <p:nvSpPr>
          <p:cNvPr id="28" name="Shape 10">
            <a:extLst>
              <a:ext uri="{FF2B5EF4-FFF2-40B4-BE49-F238E27FC236}">
                <a16:creationId xmlns:a16="http://schemas.microsoft.com/office/drawing/2014/main" id="{E9735C04-2AAB-A364-8A0B-4AAFAA048837}"/>
              </a:ext>
            </a:extLst>
          </p:cNvPr>
          <p:cNvSpPr/>
          <p:nvPr/>
        </p:nvSpPr>
        <p:spPr>
          <a:xfrm>
            <a:off x="5318692" y="14065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</p:sp>
      <p:pic>
        <p:nvPicPr>
          <p:cNvPr id="31" name="Image 5" descr="-26c90fde.png">
            <a:extLst>
              <a:ext uri="{FF2B5EF4-FFF2-40B4-BE49-F238E27FC236}">
                <a16:creationId xmlns:a16="http://schemas.microsoft.com/office/drawing/2014/main" id="{DB1CF924-B9A3-50B7-8B36-3EFDC47640B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9385" y="1497289"/>
            <a:ext cx="178594" cy="178594"/>
          </a:xfrm>
          <a:prstGeom prst="rect">
            <a:avLst/>
          </a:prstGeom>
        </p:spPr>
      </p:pic>
      <p:pic>
        <p:nvPicPr>
          <p:cNvPr id="33" name="Image 6" descr="-5a47b8de.png">
            <a:extLst>
              <a:ext uri="{FF2B5EF4-FFF2-40B4-BE49-F238E27FC236}">
                <a16:creationId xmlns:a16="http://schemas.microsoft.com/office/drawing/2014/main" id="{D2B6653F-E423-32E1-9D6C-0D06F169B9B9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1610" b="1606"/>
          <a:stretch>
            <a:fillRect/>
          </a:stretch>
        </p:blipFill>
        <p:spPr>
          <a:xfrm>
            <a:off x="5998709" y="1623290"/>
            <a:ext cx="1587953" cy="762341"/>
          </a:xfrm>
          <a:prstGeom prst="rect">
            <a:avLst/>
          </a:prstGeom>
        </p:spPr>
      </p:pic>
      <p:sp>
        <p:nvSpPr>
          <p:cNvPr id="35" name="Text 11">
            <a:extLst>
              <a:ext uri="{FF2B5EF4-FFF2-40B4-BE49-F238E27FC236}">
                <a16:creationId xmlns:a16="http://schemas.microsoft.com/office/drawing/2014/main" id="{2ED1896B-6CEA-F362-6EF4-FC81D471FCA4}"/>
              </a:ext>
            </a:extLst>
          </p:cNvPr>
          <p:cNvSpPr/>
          <p:nvPr/>
        </p:nvSpPr>
        <p:spPr>
          <a:xfrm>
            <a:off x="6194312" y="1795186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1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N4</a:t>
            </a:r>
            <a:br>
              <a:rPr lang="en-US" sz="1100" kern="0" spc="-81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1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Cuantitativo</a:t>
            </a:r>
            <a:r>
              <a:rPr lang="en-US" sz="11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80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8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8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Predictivo</a:t>
            </a:r>
            <a:r>
              <a:rPr lang="en-US" sz="8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800">
              <a:latin typeface="Reddit Sans"/>
              <a:ea typeface="Reddit Sans"/>
            </a:endParaRPr>
          </a:p>
        </p:txBody>
      </p:sp>
      <p:sp>
        <p:nvSpPr>
          <p:cNvPr id="37" name="Shape 13">
            <a:extLst>
              <a:ext uri="{FF2B5EF4-FFF2-40B4-BE49-F238E27FC236}">
                <a16:creationId xmlns:a16="http://schemas.microsoft.com/office/drawing/2014/main" id="{3EF448C5-3034-AA2D-ED42-2518C9EF93E7}"/>
              </a:ext>
            </a:extLst>
          </p:cNvPr>
          <p:cNvSpPr/>
          <p:nvPr/>
        </p:nvSpPr>
        <p:spPr>
          <a:xfrm>
            <a:off x="6731113" y="14065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F4A68"/>
            </a:solidFill>
            <a:prstDash val="solid"/>
            <a:miter lim="800000"/>
          </a:ln>
        </p:spPr>
      </p:sp>
      <p:pic>
        <p:nvPicPr>
          <p:cNvPr id="39" name="Image 7" descr="-38c1a09e.png">
            <a:extLst>
              <a:ext uri="{FF2B5EF4-FFF2-40B4-BE49-F238E27FC236}">
                <a16:creationId xmlns:a16="http://schemas.microsoft.com/office/drawing/2014/main" id="{F396E1C1-A8CE-901C-95AC-22936F3A8F7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8549" y="1524496"/>
            <a:ext cx="142875" cy="121444"/>
          </a:xfrm>
          <a:prstGeom prst="rect">
            <a:avLst/>
          </a:prstGeom>
        </p:spPr>
      </p:pic>
      <p:pic>
        <p:nvPicPr>
          <p:cNvPr id="41" name="Image 8" descr="213ef762.png">
            <a:extLst>
              <a:ext uri="{FF2B5EF4-FFF2-40B4-BE49-F238E27FC236}">
                <a16:creationId xmlns:a16="http://schemas.microsoft.com/office/drawing/2014/main" id="{5F70A49D-A042-9267-5520-7A9BFD59D08D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1774" b="1773"/>
          <a:stretch>
            <a:fillRect/>
          </a:stretch>
        </p:blipFill>
        <p:spPr>
          <a:xfrm>
            <a:off x="7405687" y="1623290"/>
            <a:ext cx="1593396" cy="762341"/>
          </a:xfrm>
          <a:prstGeom prst="rect">
            <a:avLst/>
          </a:prstGeom>
        </p:spPr>
      </p:pic>
      <p:sp>
        <p:nvSpPr>
          <p:cNvPr id="43" name="Text 14">
            <a:extLst>
              <a:ext uri="{FF2B5EF4-FFF2-40B4-BE49-F238E27FC236}">
                <a16:creationId xmlns:a16="http://schemas.microsoft.com/office/drawing/2014/main" id="{903377EE-A204-8525-2591-F8E74F4C0951}"/>
              </a:ext>
            </a:extLst>
          </p:cNvPr>
          <p:cNvSpPr/>
          <p:nvPr/>
        </p:nvSpPr>
        <p:spPr>
          <a:xfrm>
            <a:off x="7672048" y="1793657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1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N5 </a:t>
            </a:r>
            <a:endParaRPr lang="en-US" sz="110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1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Optimizado</a:t>
            </a:r>
            <a:r>
              <a:rPr lang="en-US" sz="11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800" err="1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8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8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Autonomo</a:t>
            </a:r>
            <a:r>
              <a:rPr lang="en-US" sz="8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800">
              <a:latin typeface="Reddit Sans"/>
              <a:ea typeface="Reddit Sans"/>
            </a:endParaRPr>
          </a:p>
        </p:txBody>
      </p:sp>
      <p:sp>
        <p:nvSpPr>
          <p:cNvPr id="45" name="Shape 16">
            <a:extLst>
              <a:ext uri="{FF2B5EF4-FFF2-40B4-BE49-F238E27FC236}">
                <a16:creationId xmlns:a16="http://schemas.microsoft.com/office/drawing/2014/main" id="{E19CC8D3-4053-57DD-6225-E9BC171FB24F}"/>
              </a:ext>
            </a:extLst>
          </p:cNvPr>
          <p:cNvSpPr/>
          <p:nvPr/>
        </p:nvSpPr>
        <p:spPr>
          <a:xfrm>
            <a:off x="8116320" y="14065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chemeClr val="accent5">
                <a:lumMod val="40000"/>
                <a:lumOff val="60000"/>
              </a:schemeClr>
            </a:solidFill>
            <a:prstDash val="solid"/>
            <a:miter lim="800000"/>
          </a:ln>
        </p:spPr>
      </p:sp>
      <p:pic>
        <p:nvPicPr>
          <p:cNvPr id="47" name="Image 9" descr="0-42f65e.png">
            <a:extLst>
              <a:ext uri="{FF2B5EF4-FFF2-40B4-BE49-F238E27FC236}">
                <a16:creationId xmlns:a16="http://schemas.microsoft.com/office/drawing/2014/main" id="{EF30B9F6-D122-74A9-CB1D-5FA2EFD46A4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19570" y="1511940"/>
            <a:ext cx="150019" cy="150019"/>
          </a:xfrm>
          <a:prstGeom prst="rect">
            <a:avLst/>
          </a:prstGeom>
        </p:spPr>
      </p:pic>
      <p:pic>
        <p:nvPicPr>
          <p:cNvPr id="49" name="Image 2" descr="-664449e.png">
            <a:extLst>
              <a:ext uri="{FF2B5EF4-FFF2-40B4-BE49-F238E27FC236}">
                <a16:creationId xmlns:a16="http://schemas.microsoft.com/office/drawing/2014/main" id="{F61E15C5-C1B7-5717-48D6-6A9F268CDE0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608" b="1608"/>
          <a:stretch>
            <a:fillRect/>
          </a:stretch>
        </p:blipFill>
        <p:spPr>
          <a:xfrm>
            <a:off x="1769609" y="1623290"/>
            <a:ext cx="1587953" cy="762341"/>
          </a:xfrm>
          <a:prstGeom prst="rect">
            <a:avLst/>
          </a:prstGeom>
        </p:spPr>
      </p:pic>
      <p:sp>
        <p:nvSpPr>
          <p:cNvPr id="51" name="Shape 7">
            <a:extLst>
              <a:ext uri="{FF2B5EF4-FFF2-40B4-BE49-F238E27FC236}">
                <a16:creationId xmlns:a16="http://schemas.microsoft.com/office/drawing/2014/main" id="{F7C4A675-DBE4-E8F0-463F-AEF61CBEE550}"/>
              </a:ext>
            </a:extLst>
          </p:cNvPr>
          <p:cNvSpPr/>
          <p:nvPr/>
        </p:nvSpPr>
        <p:spPr>
          <a:xfrm>
            <a:off x="2387713" y="1384824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</p:sp>
      <p:pic>
        <p:nvPicPr>
          <p:cNvPr id="53" name="Image 3" descr="327946a2.png">
            <a:extLst>
              <a:ext uri="{FF2B5EF4-FFF2-40B4-BE49-F238E27FC236}">
                <a16:creationId xmlns:a16="http://schemas.microsoft.com/office/drawing/2014/main" id="{F1C21463-EA58-3108-134A-8037AFA278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4566" y="1480749"/>
            <a:ext cx="128588" cy="164306"/>
          </a:xfrm>
          <a:prstGeom prst="rect">
            <a:avLst/>
          </a:prstGeom>
        </p:spPr>
      </p:pic>
      <p:sp>
        <p:nvSpPr>
          <p:cNvPr id="56" name="Text 2">
            <a:extLst>
              <a:ext uri="{FF2B5EF4-FFF2-40B4-BE49-F238E27FC236}">
                <a16:creationId xmlns:a16="http://schemas.microsoft.com/office/drawing/2014/main" id="{B1C886E2-3106-45EE-9F68-BCD9BBE6C2FD}"/>
              </a:ext>
            </a:extLst>
          </p:cNvPr>
          <p:cNvSpPr/>
          <p:nvPr/>
        </p:nvSpPr>
        <p:spPr>
          <a:xfrm>
            <a:off x="1846148" y="1761000"/>
            <a:ext cx="1514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1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N1 </a:t>
            </a:r>
            <a:endParaRPr lang="en-US" sz="110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100" kern="0" spc="-81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Inicial</a:t>
            </a:r>
            <a:r>
              <a:rPr lang="en-US" sz="11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1100" err="1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8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(Ad-hoc/ </a:t>
            </a:r>
            <a:r>
              <a:rPr lang="en-US" sz="800" kern="0" spc="-81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Reactivo</a:t>
            </a:r>
            <a:r>
              <a:rPr lang="en-US" sz="8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800">
              <a:latin typeface="Reddit Sans"/>
              <a:ea typeface="Reddit Sans"/>
            </a:endParaRPr>
          </a:p>
        </p:txBody>
      </p:sp>
      <p:sp>
        <p:nvSpPr>
          <p:cNvPr id="60" name="Text 2">
            <a:extLst>
              <a:ext uri="{FF2B5EF4-FFF2-40B4-BE49-F238E27FC236}">
                <a16:creationId xmlns:a16="http://schemas.microsoft.com/office/drawing/2014/main" id="{4D3FF078-130B-5832-985C-9EE82C25E355}"/>
              </a:ext>
            </a:extLst>
          </p:cNvPr>
          <p:cNvSpPr/>
          <p:nvPr/>
        </p:nvSpPr>
        <p:spPr>
          <a:xfrm>
            <a:off x="420118" y="1793656"/>
            <a:ext cx="1509033" cy="55124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1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N0</a:t>
            </a:r>
            <a:endParaRPr lang="en-US" sz="110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100" kern="0" spc="-81" err="1">
                <a:solidFill>
                  <a:srgbClr val="333333"/>
                </a:solidFill>
                <a:latin typeface="Reddit Sans"/>
                <a:ea typeface="Reddit Sans"/>
              </a:rPr>
              <a:t>Autoservicio</a:t>
            </a:r>
            <a:r>
              <a:rPr lang="en-US" sz="1100" kern="0" spc="-81">
                <a:solidFill>
                  <a:srgbClr val="333333"/>
                </a:solidFill>
                <a:latin typeface="Reddit Sans"/>
                <a:ea typeface="Reddit Sans"/>
              </a:rPr>
              <a:t> </a:t>
            </a:r>
          </a:p>
          <a:p>
            <a:pPr algn="ctr">
              <a:lnSpc>
                <a:spcPts val="1556"/>
              </a:lnSpc>
            </a:pPr>
            <a:r>
              <a:rPr lang="en-US" sz="800" kern="0" spc="-81">
                <a:solidFill>
                  <a:srgbClr val="333333"/>
                </a:solidFill>
                <a:latin typeface="Reddit Sans"/>
                <a:ea typeface="Reddit Sans"/>
              </a:rPr>
              <a:t>(Base de </a:t>
            </a:r>
            <a:r>
              <a:rPr lang="en-US" sz="800" kern="0" spc="-81" err="1">
                <a:solidFill>
                  <a:srgbClr val="333333"/>
                </a:solidFill>
                <a:latin typeface="Reddit Sans"/>
                <a:ea typeface="Reddit Sans"/>
              </a:rPr>
              <a:t>Conocimiento</a:t>
            </a:r>
            <a:r>
              <a:rPr lang="en-US" sz="800" kern="0" spc="-81">
                <a:solidFill>
                  <a:srgbClr val="333333"/>
                </a:solidFill>
                <a:latin typeface="Reddit Sans"/>
                <a:ea typeface="Reddit Sans"/>
              </a:rPr>
              <a:t>)</a:t>
            </a:r>
            <a:endParaRPr lang="en-US" sz="800">
              <a:cs typeface="Arial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DFE464B-88CB-4058-A515-5B4D29982FC9}"/>
              </a:ext>
            </a:extLst>
          </p:cNvPr>
          <p:cNvSpPr txBox="1"/>
          <p:nvPr/>
        </p:nvSpPr>
        <p:spPr>
          <a:xfrm>
            <a:off x="3287486" y="4346120"/>
            <a:ext cx="2710543" cy="276999"/>
          </a:xfrm>
          <a:prstGeom prst="rect">
            <a:avLst/>
          </a:prstGeom>
          <a:solidFill>
            <a:srgbClr val="ECDFF7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600" b="1">
                <a:latin typeface="Reddit Sans"/>
                <a:cs typeface="Segoe UI"/>
              </a:rPr>
              <a:t>Framework de Automatización</a:t>
            </a:r>
            <a:endParaRPr lang="es-ES"/>
          </a:p>
          <a:p>
            <a:pPr algn="ctr"/>
            <a:r>
              <a:rPr lang="es-ES" sz="600">
                <a:latin typeface="Reddit Sans"/>
                <a:cs typeface="Segoe UI"/>
              </a:rPr>
              <a:t>Equipo de: </a:t>
            </a:r>
            <a:r>
              <a:rPr lang="es-ES" sz="600" err="1">
                <a:latin typeface="Reddit Sans"/>
                <a:cs typeface="Segoe UI"/>
              </a:rPr>
              <a:t>Ivan</a:t>
            </a:r>
            <a:r>
              <a:rPr lang="es-ES" sz="600">
                <a:latin typeface="Reddit Sans"/>
                <a:cs typeface="Segoe UI"/>
              </a:rPr>
              <a:t>, Steve, </a:t>
            </a:r>
            <a:r>
              <a:rPr lang="es-ES" sz="600" err="1">
                <a:latin typeface="Reddit Sans"/>
                <a:cs typeface="Segoe UI"/>
              </a:rPr>
              <a:t>Andres</a:t>
            </a:r>
            <a:r>
              <a:rPr lang="es-ES" sz="600">
                <a:latin typeface="Reddit Sans"/>
                <a:cs typeface="Segoe UI"/>
              </a:rPr>
              <a:t> Camilo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321AB28-6119-68AE-8B18-068F2552C9F3}"/>
              </a:ext>
            </a:extLst>
          </p:cNvPr>
          <p:cNvSpPr txBox="1"/>
          <p:nvPr/>
        </p:nvSpPr>
        <p:spPr>
          <a:xfrm>
            <a:off x="371274" y="3488291"/>
            <a:ext cx="8507186" cy="29238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700" b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Modelo de Soporte</a:t>
            </a:r>
            <a:endParaRPr lang="es-ES" sz="700">
              <a:solidFill>
                <a:schemeClr val="tx1"/>
              </a:solidFill>
              <a:latin typeface="Reddit Sans"/>
              <a:ea typeface="Reddit Sans"/>
              <a:cs typeface="Reddit Sans Light"/>
            </a:endParaRPr>
          </a:p>
          <a:p>
            <a:pPr algn="ctr"/>
            <a:r>
              <a:rPr lang="en-US" sz="600" b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Shift-left:</a:t>
            </a:r>
            <a:r>
              <a:rPr lang="en-US" sz="600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 resolver antes, </a:t>
            </a:r>
            <a:r>
              <a:rPr lang="en-US" sz="600" err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escalar</a:t>
            </a:r>
            <a:r>
              <a:rPr lang="en-US" sz="600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 </a:t>
            </a:r>
            <a:r>
              <a:rPr lang="en-US" sz="600" err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mejor</a:t>
            </a:r>
            <a:r>
              <a:rPr lang="en-US" sz="600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 </a:t>
            </a:r>
            <a:r>
              <a:rPr lang="en-US" sz="600" err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y</a:t>
            </a:r>
            <a:r>
              <a:rPr lang="en-US" sz="600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 </a:t>
            </a:r>
            <a:r>
              <a:rPr lang="en-US" sz="600" err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dejar</a:t>
            </a:r>
            <a:r>
              <a:rPr lang="en-US" sz="600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 </a:t>
            </a:r>
            <a:r>
              <a:rPr lang="en-US" sz="600" err="1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evidencia</a:t>
            </a:r>
            <a:endParaRPr lang="en-US" sz="600">
              <a:solidFill>
                <a:schemeClr val="tx1"/>
              </a:solidFill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8" name="CuadroTexto 63">
            <a:extLst>
              <a:ext uri="{FF2B5EF4-FFF2-40B4-BE49-F238E27FC236}">
                <a16:creationId xmlns:a16="http://schemas.microsoft.com/office/drawing/2014/main" id="{37FE7B86-FD12-E2EA-3CA6-6E8E7B52B529}"/>
              </a:ext>
            </a:extLst>
          </p:cNvPr>
          <p:cNvSpPr txBox="1"/>
          <p:nvPr/>
        </p:nvSpPr>
        <p:spPr>
          <a:xfrm>
            <a:off x="370116" y="4340677"/>
            <a:ext cx="1562097" cy="744107"/>
          </a:xfrm>
          <a:prstGeom prst="rect">
            <a:avLst/>
          </a:prstGeom>
          <a:solidFill>
            <a:srgbClr val="ECDFF7"/>
          </a:solidFill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rtl="0"/>
            <a:r>
              <a:rPr lang="es-ES" sz="600" b="1" i="0" u="none" strike="noStrike" baseline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N0: </a:t>
            </a:r>
            <a:r>
              <a:rPr lang="es-ES" sz="600" b="1" i="0" u="none" strike="noStrike" baseline="0" err="1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Banking</a:t>
            </a:r>
            <a:r>
              <a:rPr lang="es-ES" sz="600" b="1" i="0" u="none" strike="noStrike" baseline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 </a:t>
            </a:r>
            <a:r>
              <a:rPr lang="es-ES" sz="600" b="1" i="0" u="none" strike="noStrike" baseline="0" err="1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solution</a:t>
            </a:r>
            <a:r>
              <a:rPr lang="en-US" sz="6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  <a:endParaRPr lang="es-ES"/>
          </a:p>
          <a:p>
            <a:pPr algn="ctr" rtl="0"/>
            <a:r>
              <a:rPr lang="es-ES" sz="600" b="0" i="0" u="none" strike="noStrike" baseline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Radar para temas regulatorios del estado, ministerios (XM). </a:t>
            </a:r>
            <a:r>
              <a:rPr lang="es-ES" sz="600" b="0" i="0" u="none" strike="noStrike" baseline="0" err="1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Multi-industria</a:t>
            </a:r>
            <a:r>
              <a:rPr lang="es-ES" sz="600" b="0" i="0" u="none" strike="noStrike" baseline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 con bases de conocimiento que la hacen especializada.</a:t>
            </a:r>
            <a:r>
              <a:rPr lang="en-US" sz="6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ctr" rtl="0"/>
            <a:r>
              <a:rPr lang="es-ES" sz="600" b="0" i="0" u="none" strike="noStrike" baseline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Anticipar eventos y radar para </a:t>
            </a:r>
            <a:r>
              <a:rPr lang="es-ES" sz="600" b="0" i="0" u="none" strike="noStrike" baseline="0" err="1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compomientos</a:t>
            </a:r>
            <a:r>
              <a:rPr lang="es-ES" sz="600" b="0" i="0" u="none" strike="noStrike" baseline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 inusuales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DB82DF6-E59E-D321-86F8-D56A03DEB9D3}"/>
              </a:ext>
            </a:extLst>
          </p:cNvPr>
          <p:cNvSpPr txBox="1"/>
          <p:nvPr/>
        </p:nvSpPr>
        <p:spPr>
          <a:xfrm rot="16200000">
            <a:off x="-93222" y="4624059"/>
            <a:ext cx="740229" cy="184666"/>
          </a:xfrm>
          <a:prstGeom prst="rect">
            <a:avLst/>
          </a:prstGeom>
          <a:solidFill>
            <a:srgbClr val="CBACE3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600" b="1" err="1">
                <a:latin typeface="Reddit Sans Light"/>
                <a:cs typeface="Reddit Sans Light"/>
              </a:rPr>
              <a:t>Herranientas</a:t>
            </a:r>
            <a:endParaRPr lang="es-ES" sz="600" b="1">
              <a:latin typeface="Reddit Sans Light"/>
              <a:cs typeface="Reddit Sans Light"/>
            </a:endParaRPr>
          </a:p>
        </p:txBody>
      </p:sp>
      <p:sp>
        <p:nvSpPr>
          <p:cNvPr id="11" name="Flecha: a la derecha 10">
            <a:extLst>
              <a:ext uri="{FF2B5EF4-FFF2-40B4-BE49-F238E27FC236}">
                <a16:creationId xmlns:a16="http://schemas.microsoft.com/office/drawing/2014/main" id="{0BCAE883-7C7A-5268-C234-8F9C761DB906}"/>
              </a:ext>
            </a:extLst>
          </p:cNvPr>
          <p:cNvSpPr/>
          <p:nvPr/>
        </p:nvSpPr>
        <p:spPr>
          <a:xfrm rot="21480000">
            <a:off x="2994960" y="1061111"/>
            <a:ext cx="287166" cy="288691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Flecha: a la derecha 12">
            <a:extLst>
              <a:ext uri="{FF2B5EF4-FFF2-40B4-BE49-F238E27FC236}">
                <a16:creationId xmlns:a16="http://schemas.microsoft.com/office/drawing/2014/main" id="{4078012A-BE74-5265-FF66-6E34FE87F1FE}"/>
              </a:ext>
            </a:extLst>
          </p:cNvPr>
          <p:cNvSpPr/>
          <p:nvPr/>
        </p:nvSpPr>
        <p:spPr>
          <a:xfrm rot="21480000">
            <a:off x="5770817" y="1061111"/>
            <a:ext cx="287166" cy="288691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3530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b12"/>
          <p:cNvSpPr txBox="1"/>
          <p:nvPr/>
        </p:nvSpPr>
        <p:spPr>
          <a:xfrm>
            <a:off x="320040" y="146304"/>
            <a:ext cx="8503920" cy="384048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r>
              <a:rPr lang="es-ES" sz="1800" b="1">
                <a:solidFill>
                  <a:srgbClr val="0E337C"/>
                </a:solidFill>
                <a:latin typeface="Arial"/>
                <a:cs typeface="Arial"/>
              </a:rPr>
              <a:t>Modelo de madurez de </a:t>
            </a:r>
            <a:r>
              <a:rPr lang="es-ES" sz="1800" b="1">
                <a:solidFill>
                  <a:srgbClr val="0E337C"/>
                </a:solidFill>
              </a:rPr>
              <a:t>Mesas</a:t>
            </a:r>
            <a:r>
              <a:rPr lang="es-ES" sz="1800" b="1">
                <a:solidFill>
                  <a:srgbClr val="0E337C"/>
                </a:solidFill>
                <a:latin typeface="Arial"/>
                <a:cs typeface="Arial"/>
              </a:rPr>
              <a:t> de </a:t>
            </a:r>
            <a:r>
              <a:rPr lang="es-ES" sz="1800" b="1">
                <a:solidFill>
                  <a:srgbClr val="0E337C"/>
                </a:solidFill>
              </a:rPr>
              <a:t>Servicio Next Gen</a:t>
            </a:r>
            <a:endParaRPr lang="es-ES" sz="1800" b="1">
              <a:solidFill>
                <a:srgbClr val="0E337C"/>
              </a:solidFill>
              <a:latin typeface="Arial"/>
              <a:cs typeface="Arial"/>
            </a:endParaRPr>
          </a:p>
        </p:txBody>
      </p:sp>
      <p:sp>
        <p:nvSpPr>
          <p:cNvPr id="15" name="tb16"/>
          <p:cNvSpPr txBox="1"/>
          <p:nvPr/>
        </p:nvSpPr>
        <p:spPr>
          <a:xfrm>
            <a:off x="320040" y="566928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00">
                <a:solidFill>
                  <a:srgbClr val="6B7280"/>
                </a:solidFill>
                <a:latin typeface="Arial"/>
                <a:cs typeface="Arial"/>
              </a:rPr>
              <a:t>PersonalSoft · ITIL v5 · 4 dimensiones · 17 prácticas + negocio + capa sectorial</a:t>
            </a:r>
          </a:p>
        </p:txBody>
      </p:sp>
      <p:sp>
        <p:nvSpPr>
          <p:cNvPr id="17" name="bar18"/>
          <p:cNvSpPr/>
          <p:nvPr/>
        </p:nvSpPr>
        <p:spPr>
          <a:xfrm>
            <a:off x="320040" y="950976"/>
            <a:ext cx="64008" cy="219456"/>
          </a:xfrm>
          <a:prstGeom prst="roundRect">
            <a:avLst>
              <a:gd name="adj" fmla="val 4000"/>
            </a:avLst>
          </a:prstGeom>
          <a:solidFill>
            <a:srgbClr val="37474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9" name="tb20"/>
          <p:cNvSpPr txBox="1"/>
          <p:nvPr/>
        </p:nvSpPr>
        <p:spPr>
          <a:xfrm>
            <a:off x="448056" y="932688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100" b="1">
                <a:solidFill>
                  <a:srgbClr val="37474F"/>
                </a:solidFill>
                <a:latin typeface="Arial"/>
                <a:cs typeface="Arial"/>
              </a:rPr>
              <a:t>PASO 0 · CLASIFICADOR INICIAL</a:t>
            </a:r>
          </a:p>
        </p:txBody>
      </p:sp>
      <p:sp>
        <p:nvSpPr>
          <p:cNvPr id="21" name="card22"/>
          <p:cNvSpPr/>
          <p:nvPr/>
        </p:nvSpPr>
        <p:spPr>
          <a:xfrm>
            <a:off x="320040" y="1243584"/>
            <a:ext cx="4114800" cy="603504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2700">
            <a:solidFill>
              <a:srgbClr val="A5D6A7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200" b="1">
                <a:solidFill>
                  <a:srgbClr val="2E7D32"/>
                </a:solidFill>
                <a:latin typeface="Arial"/>
                <a:cs typeface="Arial"/>
              </a:rPr>
              <a:t>Mesa de Ayuda</a:t>
            </a:r>
          </a:p>
          <a:p>
            <a:pPr algn="ctr">
              <a:lnSpc>
                <a:spcPct val="100000"/>
              </a:lnSpc>
              <a:spcBef>
                <a:spcPts val="180"/>
              </a:spcBef>
              <a:buNone/>
            </a:pPr>
            <a:r>
              <a:rPr lang="es-ES" sz="950">
                <a:solidFill>
                  <a:srgbClr val="37474F"/>
                </a:solidFill>
                <a:latin typeface="Arial"/>
                <a:cs typeface="Arial"/>
              </a:rPr>
              <a:t>Nivel mínimo esperado: N2 · Administrado</a:t>
            </a:r>
          </a:p>
        </p:txBody>
      </p:sp>
      <p:sp>
        <p:nvSpPr>
          <p:cNvPr id="23" name="card24"/>
          <p:cNvSpPr/>
          <p:nvPr/>
        </p:nvSpPr>
        <p:spPr>
          <a:xfrm>
            <a:off x="4709160" y="1243584"/>
            <a:ext cx="4114800" cy="603504"/>
          </a:xfrm>
          <a:prstGeom prst="roundRect">
            <a:avLst>
              <a:gd name="adj" fmla="val 6000"/>
            </a:avLst>
          </a:prstGeom>
          <a:solidFill>
            <a:srgbClr val="EDE7F6"/>
          </a:solidFill>
          <a:ln w="12700">
            <a:solidFill>
              <a:srgbClr val="B39DDB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200" b="1">
                <a:solidFill>
                  <a:srgbClr val="5E35B1"/>
                </a:solidFill>
                <a:latin typeface="Arial"/>
                <a:cs typeface="Arial"/>
              </a:rPr>
              <a:t>Mesa de Soporte</a:t>
            </a:r>
          </a:p>
          <a:p>
            <a:pPr algn="ctr">
              <a:lnSpc>
                <a:spcPct val="100000"/>
              </a:lnSpc>
              <a:spcBef>
                <a:spcPts val="180"/>
              </a:spcBef>
              <a:buNone/>
            </a:pPr>
            <a:r>
              <a:rPr lang="es-ES" sz="950">
                <a:solidFill>
                  <a:srgbClr val="37474F"/>
                </a:solidFill>
                <a:latin typeface="Arial"/>
                <a:cs typeface="Arial"/>
              </a:rPr>
              <a:t>Nivel mínimo esperado: N3 · Definido</a:t>
            </a:r>
          </a:p>
        </p:txBody>
      </p:sp>
      <p:sp>
        <p:nvSpPr>
          <p:cNvPr id="25" name="bar26"/>
          <p:cNvSpPr/>
          <p:nvPr/>
        </p:nvSpPr>
        <p:spPr>
          <a:xfrm>
            <a:off x="320040" y="2103120"/>
            <a:ext cx="64008" cy="219456"/>
          </a:xfrm>
          <a:prstGeom prst="roundRect">
            <a:avLst>
              <a:gd name="adj" fmla="val 4000"/>
            </a:avLst>
          </a:prstGeom>
          <a:solidFill>
            <a:srgbClr val="37474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7" name="tb28"/>
          <p:cNvSpPr txBox="1"/>
          <p:nvPr/>
        </p:nvSpPr>
        <p:spPr>
          <a:xfrm>
            <a:off x="448056" y="2084832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100" b="1">
                <a:solidFill>
                  <a:srgbClr val="37474F"/>
                </a:solidFill>
                <a:latin typeface="Arial"/>
                <a:cs typeface="Arial"/>
              </a:rPr>
              <a:t>ESCALA DE MADUREZ · N0 → N5</a:t>
            </a:r>
          </a:p>
        </p:txBody>
      </p:sp>
      <p:sp>
        <p:nvSpPr>
          <p:cNvPr id="29" name="card30"/>
          <p:cNvSpPr/>
          <p:nvPr/>
        </p:nvSpPr>
        <p:spPr>
          <a:xfrm>
            <a:off x="320040" y="2414016"/>
            <a:ext cx="1310640" cy="11887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B0BEC5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00" b="1">
                <a:solidFill>
                  <a:srgbClr val="37474F"/>
                </a:solidFill>
                <a:latin typeface="Arial"/>
                <a:cs typeface="Arial"/>
              </a:rPr>
              <a:t>N0 · Autoservicio</a:t>
            </a:r>
          </a:p>
          <a:p>
            <a:pPr algn="ctr">
              <a:lnSpc>
                <a:spcPct val="100000"/>
              </a:lnSpc>
              <a:spcBef>
                <a:spcPts val="26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Portal · KEDB · IA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Sin intervención</a:t>
            </a:r>
          </a:p>
        </p:txBody>
      </p:sp>
      <p:sp>
        <p:nvSpPr>
          <p:cNvPr id="31" name="card32"/>
          <p:cNvSpPr/>
          <p:nvPr/>
        </p:nvSpPr>
        <p:spPr>
          <a:xfrm>
            <a:off x="1758696" y="2414016"/>
            <a:ext cx="1310640" cy="11887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FFB74D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00" b="1">
                <a:solidFill>
                  <a:srgbClr val="E65100"/>
                </a:solidFill>
                <a:latin typeface="Arial"/>
                <a:cs typeface="Arial"/>
              </a:rPr>
              <a:t>N1 · Inicial</a:t>
            </a:r>
          </a:p>
          <a:p>
            <a:pPr algn="ctr">
              <a:lnSpc>
                <a:spcPct val="100000"/>
              </a:lnSpc>
              <a:spcBef>
                <a:spcPts val="26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Poco control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Reactivo total</a:t>
            </a:r>
          </a:p>
        </p:txBody>
      </p:sp>
      <p:sp>
        <p:nvSpPr>
          <p:cNvPr id="33" name="card34"/>
          <p:cNvSpPr/>
          <p:nvPr/>
        </p:nvSpPr>
        <p:spPr>
          <a:xfrm>
            <a:off x="3197352" y="2414016"/>
            <a:ext cx="1310640" cy="11887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90CAF9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00" b="1">
                <a:solidFill>
                  <a:srgbClr val="1565C0"/>
                </a:solidFill>
                <a:latin typeface="Arial"/>
                <a:cs typeface="Arial"/>
              </a:rPr>
              <a:t>N2 · Administrado</a:t>
            </a:r>
          </a:p>
          <a:p>
            <a:pPr algn="ctr">
              <a:lnSpc>
                <a:spcPct val="100000"/>
              </a:lnSpc>
              <a:spcBef>
                <a:spcPts val="26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Documentación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básica por mesa</a:t>
            </a:r>
          </a:p>
        </p:txBody>
      </p:sp>
      <p:sp>
        <p:nvSpPr>
          <p:cNvPr id="35" name="card36"/>
          <p:cNvSpPr/>
          <p:nvPr/>
        </p:nvSpPr>
        <p:spPr>
          <a:xfrm>
            <a:off x="4636008" y="2414016"/>
            <a:ext cx="1310640" cy="11887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9FA8DA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00" b="1">
                <a:solidFill>
                  <a:srgbClr val="303F9F"/>
                </a:solidFill>
                <a:latin typeface="Arial"/>
                <a:cs typeface="Arial"/>
              </a:rPr>
              <a:t>N3 · Definido</a:t>
            </a:r>
          </a:p>
          <a:p>
            <a:pPr algn="ctr">
              <a:lnSpc>
                <a:spcPct val="100000"/>
              </a:lnSpc>
              <a:spcBef>
                <a:spcPts val="26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Estandarización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entre mesas</a:t>
            </a:r>
          </a:p>
        </p:txBody>
      </p:sp>
      <p:sp>
        <p:nvSpPr>
          <p:cNvPr id="37" name="card38"/>
          <p:cNvSpPr/>
          <p:nvPr/>
        </p:nvSpPr>
        <p:spPr>
          <a:xfrm>
            <a:off x="6074664" y="2414016"/>
            <a:ext cx="1310640" cy="11887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4DB6AC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00" b="1">
                <a:solidFill>
                  <a:srgbClr val="00695C"/>
                </a:solidFill>
                <a:latin typeface="Arial"/>
                <a:cs typeface="Arial"/>
              </a:rPr>
              <a:t>N4 · Cuantitativo</a:t>
            </a:r>
          </a:p>
          <a:p>
            <a:pPr algn="ctr">
              <a:lnSpc>
                <a:spcPct val="100000"/>
              </a:lnSpc>
              <a:spcBef>
                <a:spcPts val="26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Medible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basado en datos</a:t>
            </a:r>
          </a:p>
        </p:txBody>
      </p:sp>
      <p:sp>
        <p:nvSpPr>
          <p:cNvPr id="39" name="card40"/>
          <p:cNvSpPr/>
          <p:nvPr/>
        </p:nvSpPr>
        <p:spPr>
          <a:xfrm>
            <a:off x="7513320" y="2414016"/>
            <a:ext cx="1310640" cy="11887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A5D6A7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00" b="1">
                <a:solidFill>
                  <a:srgbClr val="2E7D32"/>
                </a:solidFill>
                <a:latin typeface="Arial"/>
                <a:cs typeface="Arial"/>
              </a:rPr>
              <a:t>N5 · Optimizado</a:t>
            </a:r>
          </a:p>
          <a:p>
            <a:pPr algn="ctr">
              <a:lnSpc>
                <a:spcPct val="100000"/>
              </a:lnSpc>
              <a:spcBef>
                <a:spcPts val="26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IA activa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Mejora continua</a:t>
            </a:r>
          </a:p>
        </p:txBody>
      </p:sp>
      <p:sp>
        <p:nvSpPr>
          <p:cNvPr id="41" name="banner42"/>
          <p:cNvSpPr/>
          <p:nvPr/>
        </p:nvSpPr>
        <p:spPr>
          <a:xfrm>
            <a:off x="320040" y="3913632"/>
            <a:ext cx="8503920" cy="65836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>
            <a:noFill/>
          </a:ln>
        </p:spPr>
        <p:txBody>
          <a:bodyPr wrap="square" lIns="45720" tIns="27000" rIns="45720" bIns="27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200" b="1">
                <a:solidFill>
                  <a:schemeClr val="tx1"/>
                </a:solidFill>
                <a:latin typeface="Arial"/>
                <a:cs typeface="Arial"/>
              </a:rPr>
              <a:t>Cada mesa recorre N0 → N5 en cada práctica</a:t>
            </a:r>
          </a:p>
          <a:p>
            <a:pPr algn="ctr">
              <a:lnSpc>
                <a:spcPct val="100000"/>
              </a:lnSpc>
              <a:spcBef>
                <a:spcPts val="250"/>
              </a:spcBef>
              <a:buNone/>
            </a:pPr>
            <a:r>
              <a:rPr lang="es-ES" sz="900">
                <a:solidFill>
                  <a:schemeClr val="tx1"/>
                </a:solidFill>
                <a:latin typeface="Arial"/>
                <a:cs typeface="Arial"/>
              </a:rPr>
              <a:t>El nivel mínimo esperado define el punto de partida de cada tipo de mesa</a:t>
            </a:r>
          </a:p>
        </p:txBody>
      </p:sp>
      <p:sp>
        <p:nvSpPr>
          <p:cNvPr id="43" name="tb44"/>
          <p:cNvSpPr txBox="1"/>
          <p:nvPr/>
        </p:nvSpPr>
        <p:spPr>
          <a:xfrm>
            <a:off x="320040" y="4828032"/>
            <a:ext cx="5486400" cy="256032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700">
                <a:solidFill>
                  <a:srgbClr val="9AA0A6"/>
                </a:solidFill>
                <a:latin typeface="Arial"/>
                <a:cs typeface="Arial"/>
              </a:rPr>
              <a:t>Fuente: diagrama_nivel_madurez.md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b12"/>
          <p:cNvSpPr txBox="1"/>
          <p:nvPr/>
        </p:nvSpPr>
        <p:spPr>
          <a:xfrm>
            <a:off x="320040" y="146304"/>
            <a:ext cx="8503920" cy="384048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800" b="1">
                <a:solidFill>
                  <a:srgbClr val="0E337C"/>
                </a:solidFill>
                <a:latin typeface="Arial"/>
                <a:cs typeface="Arial"/>
              </a:rPr>
              <a:t>Personas, información y tecnología</a:t>
            </a:r>
          </a:p>
        </p:txBody>
      </p:sp>
      <p:sp>
        <p:nvSpPr>
          <p:cNvPr id="15" name="tb16"/>
          <p:cNvSpPr txBox="1"/>
          <p:nvPr/>
        </p:nvSpPr>
        <p:spPr>
          <a:xfrm>
            <a:off x="320040" y="566928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00">
                <a:solidFill>
                  <a:srgbClr val="6B7280"/>
                </a:solidFill>
                <a:latin typeface="Arial"/>
                <a:cs typeface="Arial"/>
              </a:rPr>
              <a:t>Dimensiones D1 y D2 del modelo de madurez</a:t>
            </a:r>
          </a:p>
        </p:txBody>
      </p:sp>
      <p:sp>
        <p:nvSpPr>
          <p:cNvPr id="17" name="bar18"/>
          <p:cNvSpPr/>
          <p:nvPr/>
        </p:nvSpPr>
        <p:spPr>
          <a:xfrm>
            <a:off x="320040" y="950976"/>
            <a:ext cx="64008" cy="219456"/>
          </a:xfrm>
          <a:prstGeom prst="roundRect">
            <a:avLst>
              <a:gd name="adj" fmla="val 4000"/>
            </a:avLst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9" name="tb20"/>
          <p:cNvSpPr txBox="1"/>
          <p:nvPr/>
        </p:nvSpPr>
        <p:spPr>
          <a:xfrm>
            <a:off x="448056" y="932688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100" b="1">
                <a:solidFill>
                  <a:srgbClr val="2E7D32"/>
                </a:solidFill>
                <a:latin typeface="Arial"/>
                <a:cs typeface="Arial"/>
              </a:rPr>
              <a:t>D1 · ORGANIZACIONES Y PERSONAS</a:t>
            </a:r>
          </a:p>
        </p:txBody>
      </p:sp>
      <p:sp>
        <p:nvSpPr>
          <p:cNvPr id="21" name="card22"/>
          <p:cNvSpPr/>
          <p:nvPr/>
        </p:nvSpPr>
        <p:spPr>
          <a:xfrm>
            <a:off x="320040" y="1225296"/>
            <a:ext cx="4114800" cy="118872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2700">
            <a:solidFill>
              <a:srgbClr val="A5D6A7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000" b="1">
                <a:solidFill>
                  <a:srgbClr val="2E7D32"/>
                </a:solidFill>
                <a:latin typeface="Arial"/>
                <a:cs typeface="Arial"/>
              </a:rPr>
              <a:t>Gobierno de roles (RACI)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Héroes aislados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Roles informales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RACI documentado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Ajuste por datos de carga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IA sugiere reasignación</a:t>
            </a:r>
          </a:p>
        </p:txBody>
      </p:sp>
      <p:sp>
        <p:nvSpPr>
          <p:cNvPr id="23" name="card24"/>
          <p:cNvSpPr/>
          <p:nvPr/>
        </p:nvSpPr>
        <p:spPr>
          <a:xfrm>
            <a:off x="4709160" y="1225296"/>
            <a:ext cx="4114800" cy="118872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2700">
            <a:solidFill>
              <a:srgbClr val="A5D6A7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000" b="1">
                <a:solidFill>
                  <a:srgbClr val="2E7D32"/>
                </a:solidFill>
                <a:latin typeface="Arial"/>
                <a:cs typeface="Arial"/>
              </a:rPr>
              <a:t>Capacidad y dimensionamiento del equipo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Cálculo a ojo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Base estática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Calculadora FTE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Medición GAP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IA anticipa</a:t>
            </a:r>
          </a:p>
        </p:txBody>
      </p:sp>
      <p:sp>
        <p:nvSpPr>
          <p:cNvPr id="25" name="bar26"/>
          <p:cNvSpPr/>
          <p:nvPr/>
        </p:nvSpPr>
        <p:spPr>
          <a:xfrm>
            <a:off x="320040" y="2633472"/>
            <a:ext cx="64008" cy="219456"/>
          </a:xfrm>
          <a:prstGeom prst="roundRect">
            <a:avLst>
              <a:gd name="adj" fmla="val 4000"/>
            </a:avLst>
          </a:prstGeom>
          <a:solidFill>
            <a:srgbClr val="1565C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7" name="tb28"/>
          <p:cNvSpPr txBox="1"/>
          <p:nvPr/>
        </p:nvSpPr>
        <p:spPr>
          <a:xfrm>
            <a:off x="448056" y="2615184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100" b="1">
                <a:solidFill>
                  <a:srgbClr val="1565C0"/>
                </a:solidFill>
                <a:latin typeface="Arial"/>
                <a:cs typeface="Arial"/>
              </a:rPr>
              <a:t>D2 · INFORMACIÓN Y TECNOLOGÍA</a:t>
            </a:r>
          </a:p>
        </p:txBody>
      </p:sp>
      <p:sp>
        <p:nvSpPr>
          <p:cNvPr id="29" name="card30"/>
          <p:cNvSpPr/>
          <p:nvPr/>
        </p:nvSpPr>
        <p:spPr>
          <a:xfrm>
            <a:off x="320040" y="2907792"/>
            <a:ext cx="2016252" cy="175564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90CAF9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50" b="1">
                <a:solidFill>
                  <a:srgbClr val="1565C0"/>
                </a:solidFill>
                <a:latin typeface="Arial"/>
                <a:cs typeface="Arial"/>
              </a:rPr>
              <a:t>Herramientas y automatización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Dispersas / Excel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Solo bitácora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Flujos integrados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Medición de %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Resolución con IA</a:t>
            </a:r>
          </a:p>
        </p:txBody>
      </p:sp>
      <p:sp>
        <p:nvSpPr>
          <p:cNvPr id="31" name="card32"/>
          <p:cNvSpPr/>
          <p:nvPr/>
        </p:nvSpPr>
        <p:spPr>
          <a:xfrm>
            <a:off x="2482596" y="2907792"/>
            <a:ext cx="2016252" cy="175564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90CAF9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50" b="1">
                <a:solidFill>
                  <a:srgbClr val="1565C0"/>
                </a:solidFill>
                <a:latin typeface="Arial"/>
                <a:cs typeface="Arial"/>
              </a:rPr>
              <a:t>Gestión del conocimiento (KEDB)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Bus factor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Notas aisladas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KEDB central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Uso correlacionado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Auto-sugerencia IA</a:t>
            </a:r>
          </a:p>
        </p:txBody>
      </p:sp>
      <p:sp>
        <p:nvSpPr>
          <p:cNvPr id="33" name="card34"/>
          <p:cNvSpPr/>
          <p:nvPr/>
        </p:nvSpPr>
        <p:spPr>
          <a:xfrm>
            <a:off x="4645152" y="2907792"/>
            <a:ext cx="2016252" cy="175564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90CAF9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50" b="1">
                <a:solidFill>
                  <a:srgbClr val="1565C0"/>
                </a:solidFill>
                <a:latin typeface="Arial"/>
                <a:cs typeface="Arial"/>
              </a:rPr>
              <a:t>Gestión de integraciones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Sin documentar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Lista básica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Mapa de APIs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Alertas por API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Monitoreo AIOps</a:t>
            </a:r>
          </a:p>
        </p:txBody>
      </p:sp>
      <p:sp>
        <p:nvSpPr>
          <p:cNvPr id="35" name="card36"/>
          <p:cNvSpPr/>
          <p:nvPr/>
        </p:nvSpPr>
        <p:spPr>
          <a:xfrm>
            <a:off x="6807708" y="2907792"/>
            <a:ext cx="2016252" cy="1755648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90CAF9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50" b="1">
                <a:solidFill>
                  <a:srgbClr val="1565C0"/>
                </a:solidFill>
                <a:latin typeface="Arial"/>
                <a:cs typeface="Arial"/>
              </a:rPr>
              <a:t>Monitoreo y gestión de eventos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Usuario reporta todo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Alertas manuales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Umbrales automáticos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Correlación eventos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00">
                <a:solidFill>
                  <a:srgbClr val="37474F"/>
                </a:solidFill>
                <a:latin typeface="Arial"/>
                <a:cs typeface="Arial"/>
              </a:rPr>
              <a:t>AIOps predictivo</a:t>
            </a:r>
          </a:p>
        </p:txBody>
      </p:sp>
      <p:sp>
        <p:nvSpPr>
          <p:cNvPr id="37" name="tb38"/>
          <p:cNvSpPr txBox="1"/>
          <p:nvPr/>
        </p:nvSpPr>
        <p:spPr>
          <a:xfrm>
            <a:off x="320040" y="4828032"/>
            <a:ext cx="5486400" cy="256032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700">
                <a:solidFill>
                  <a:srgbClr val="9AA0A6"/>
                </a:solidFill>
                <a:latin typeface="Arial"/>
                <a:cs typeface="Arial"/>
              </a:rPr>
              <a:t>Fuente: diagrama_nivel_madurez.md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b12"/>
          <p:cNvSpPr txBox="1"/>
          <p:nvPr/>
        </p:nvSpPr>
        <p:spPr>
          <a:xfrm>
            <a:off x="320040" y="146304"/>
            <a:ext cx="8503920" cy="384048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800" b="1">
                <a:solidFill>
                  <a:srgbClr val="0E337C"/>
                </a:solidFill>
                <a:latin typeface="Arial"/>
                <a:cs typeface="Arial"/>
              </a:rPr>
              <a:t>Socios y proveedores</a:t>
            </a:r>
          </a:p>
        </p:txBody>
      </p:sp>
      <p:sp>
        <p:nvSpPr>
          <p:cNvPr id="15" name="tb16"/>
          <p:cNvSpPr txBox="1"/>
          <p:nvPr/>
        </p:nvSpPr>
        <p:spPr>
          <a:xfrm>
            <a:off x="320040" y="566928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00">
                <a:solidFill>
                  <a:srgbClr val="6B7280"/>
                </a:solidFill>
                <a:latin typeface="Arial"/>
                <a:cs typeface="Arial"/>
              </a:rPr>
              <a:t>Dimensión D3 · relación con el negocio y los proveedores de servicio</a:t>
            </a:r>
          </a:p>
        </p:txBody>
      </p:sp>
      <p:sp>
        <p:nvSpPr>
          <p:cNvPr id="17" name="bar18"/>
          <p:cNvSpPr/>
          <p:nvPr/>
        </p:nvSpPr>
        <p:spPr>
          <a:xfrm>
            <a:off x="320040" y="950976"/>
            <a:ext cx="64008" cy="219456"/>
          </a:xfrm>
          <a:prstGeom prst="roundRect">
            <a:avLst>
              <a:gd name="adj" fmla="val 4000"/>
            </a:avLst>
          </a:prstGeom>
          <a:solidFill>
            <a:srgbClr val="5E35B1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9" name="tb20"/>
          <p:cNvSpPr txBox="1"/>
          <p:nvPr/>
        </p:nvSpPr>
        <p:spPr>
          <a:xfrm>
            <a:off x="448056" y="932688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100" b="1">
                <a:solidFill>
                  <a:srgbClr val="5E35B1"/>
                </a:solidFill>
                <a:latin typeface="Arial"/>
                <a:cs typeface="Arial"/>
              </a:rPr>
              <a:t>D3 · SOCIOS Y PROVEEDORES</a:t>
            </a:r>
          </a:p>
        </p:txBody>
      </p:sp>
      <p:sp>
        <p:nvSpPr>
          <p:cNvPr id="21" name="card22"/>
          <p:cNvSpPr/>
          <p:nvPr/>
        </p:nvSpPr>
        <p:spPr>
          <a:xfrm>
            <a:off x="320040" y="1298448"/>
            <a:ext cx="2016252" cy="3246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B39DDB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050" b="1">
                <a:solidFill>
                  <a:srgbClr val="5E35B1"/>
                </a:solidFill>
                <a:latin typeface="Arial"/>
                <a:cs typeface="Arial"/>
              </a:rPr>
              <a:t>Service Desk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Sin punto único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Mesa sin procesos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Canales definidos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Medida como negocio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Orquestada por IA</a:t>
            </a:r>
          </a:p>
        </p:txBody>
      </p:sp>
      <p:sp>
        <p:nvSpPr>
          <p:cNvPr id="23" name="card24"/>
          <p:cNvSpPr/>
          <p:nvPr/>
        </p:nvSpPr>
        <p:spPr>
          <a:xfrm>
            <a:off x="2482596" y="1298448"/>
            <a:ext cx="2016252" cy="3246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B39DDB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050" b="1">
                <a:solidFill>
                  <a:srgbClr val="5E35B1"/>
                </a:solidFill>
                <a:latin typeface="Arial"/>
                <a:cs typeface="Arial"/>
              </a:rPr>
              <a:t>Catálogo / Alcance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Informal / verbal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Desactualizado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Catálogo vivo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Costeo por servicio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Ajuste dinámico</a:t>
            </a:r>
          </a:p>
        </p:txBody>
      </p:sp>
      <p:sp>
        <p:nvSpPr>
          <p:cNvPr id="25" name="card26"/>
          <p:cNvSpPr/>
          <p:nvPr/>
        </p:nvSpPr>
        <p:spPr>
          <a:xfrm>
            <a:off x="4645152" y="1298448"/>
            <a:ext cx="2016252" cy="3246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B39DDB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050" b="1">
                <a:solidFill>
                  <a:srgbClr val="5E35B1"/>
                </a:solidFill>
                <a:latin typeface="Arial"/>
                <a:cs typeface="Arial"/>
              </a:rPr>
              <a:t>SLA / ANS + XLA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No medidos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Medición manual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ANS por prioridad + XLA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ANS + XLA tendencia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Alertas preventivas</a:t>
            </a:r>
          </a:p>
        </p:txBody>
      </p:sp>
      <p:sp>
        <p:nvSpPr>
          <p:cNvPr id="27" name="card28"/>
          <p:cNvSpPr/>
          <p:nvPr/>
        </p:nvSpPr>
        <p:spPr>
          <a:xfrm>
            <a:off x="6807708" y="1298448"/>
            <a:ext cx="2016252" cy="32461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B39DDB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050" b="1">
                <a:solidFill>
                  <a:srgbClr val="5E35B1"/>
                </a:solidFill>
                <a:latin typeface="Arial"/>
                <a:cs typeface="Arial"/>
              </a:rPr>
              <a:t>Disponibilidad y cobertura horaria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Best effort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No contractual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Pactado y real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GAP medido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N0/N1 24x7 vía IA</a:t>
            </a:r>
          </a:p>
        </p:txBody>
      </p:sp>
      <p:sp>
        <p:nvSpPr>
          <p:cNvPr id="29" name="tb30"/>
          <p:cNvSpPr txBox="1"/>
          <p:nvPr/>
        </p:nvSpPr>
        <p:spPr>
          <a:xfrm>
            <a:off x="320040" y="4828032"/>
            <a:ext cx="5486400" cy="256032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700">
                <a:solidFill>
                  <a:srgbClr val="9AA0A6"/>
                </a:solidFill>
                <a:latin typeface="Arial"/>
                <a:cs typeface="Arial"/>
              </a:rPr>
              <a:t>Fuente: diagrama_nivel_madurez.md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b12"/>
          <p:cNvSpPr txBox="1"/>
          <p:nvPr/>
        </p:nvSpPr>
        <p:spPr>
          <a:xfrm>
            <a:off x="320040" y="146304"/>
            <a:ext cx="8503920" cy="384048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800" b="1">
                <a:solidFill>
                  <a:srgbClr val="0E337C"/>
                </a:solidFill>
                <a:latin typeface="Arial"/>
                <a:cs typeface="Arial"/>
              </a:rPr>
              <a:t>Flujos de valor y procesos</a:t>
            </a:r>
          </a:p>
        </p:txBody>
      </p:sp>
      <p:sp>
        <p:nvSpPr>
          <p:cNvPr id="15" name="tb16"/>
          <p:cNvSpPr txBox="1"/>
          <p:nvPr/>
        </p:nvSpPr>
        <p:spPr>
          <a:xfrm>
            <a:off x="320040" y="566928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00">
                <a:solidFill>
                  <a:srgbClr val="6B7280"/>
                </a:solidFill>
                <a:latin typeface="Arial"/>
                <a:cs typeface="Arial"/>
              </a:rPr>
              <a:t>Dimensión D4 · las prácticas operativas de la mesa</a:t>
            </a:r>
          </a:p>
        </p:txBody>
      </p:sp>
      <p:sp>
        <p:nvSpPr>
          <p:cNvPr id="17" name="bar18"/>
          <p:cNvSpPr/>
          <p:nvPr/>
        </p:nvSpPr>
        <p:spPr>
          <a:xfrm>
            <a:off x="320040" y="950976"/>
            <a:ext cx="64008" cy="219456"/>
          </a:xfrm>
          <a:prstGeom prst="roundRect">
            <a:avLst>
              <a:gd name="adj" fmla="val 4000"/>
            </a:avLst>
          </a:prstGeom>
          <a:solidFill>
            <a:srgbClr val="00695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9" name="tb20"/>
          <p:cNvSpPr txBox="1"/>
          <p:nvPr/>
        </p:nvSpPr>
        <p:spPr>
          <a:xfrm>
            <a:off x="448056" y="932688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100" b="1">
                <a:solidFill>
                  <a:srgbClr val="00695C"/>
                </a:solidFill>
                <a:latin typeface="Arial"/>
                <a:cs typeface="Arial"/>
              </a:rPr>
              <a:t>D4 · FLUJOS DE VALOR Y PROCESOS</a:t>
            </a:r>
          </a:p>
        </p:txBody>
      </p:sp>
      <p:sp>
        <p:nvSpPr>
          <p:cNvPr id="21" name="card22"/>
          <p:cNvSpPr/>
          <p:nvPr/>
        </p:nvSpPr>
        <p:spPr>
          <a:xfrm>
            <a:off x="320040" y="1280160"/>
            <a:ext cx="2016252" cy="173736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4DB6AC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50" b="1">
                <a:solidFill>
                  <a:srgbClr val="00695C"/>
                </a:solidFill>
                <a:latin typeface="Arial"/>
                <a:cs typeface="Arial"/>
              </a:rPr>
              <a:t>Gestión de incidentes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Reactivo / incendio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Registro básico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Proceso N1-N2-N3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Tiempos por nivel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Auto-resolución IA</a:t>
            </a:r>
          </a:p>
        </p:txBody>
      </p:sp>
      <p:sp>
        <p:nvSpPr>
          <p:cNvPr id="23" name="card24"/>
          <p:cNvSpPr/>
          <p:nvPr/>
        </p:nvSpPr>
        <p:spPr>
          <a:xfrm>
            <a:off x="2482596" y="1280160"/>
            <a:ext cx="2016252" cy="173736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4DB6AC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50" b="1">
                <a:solidFill>
                  <a:srgbClr val="00695C"/>
                </a:solidFill>
                <a:latin typeface="Arial"/>
                <a:cs typeface="Arial"/>
              </a:rPr>
              <a:t>Gestión de solicitudes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Mezcladas c/incidente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Flujo manual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Tiempos definidos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ANS tiempo real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Portal N0</a:t>
            </a:r>
          </a:p>
        </p:txBody>
      </p:sp>
      <p:sp>
        <p:nvSpPr>
          <p:cNvPr id="25" name="card26"/>
          <p:cNvSpPr/>
          <p:nvPr/>
        </p:nvSpPr>
        <p:spPr>
          <a:xfrm>
            <a:off x="4645152" y="1280160"/>
            <a:ext cx="2016252" cy="173736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4DB6AC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50" b="1">
                <a:solidFill>
                  <a:srgbClr val="00695C"/>
                </a:solidFill>
                <a:latin typeface="Arial"/>
                <a:cs typeface="Arial"/>
              </a:rPr>
              <a:t>Gestión de problemas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No existe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A voluntad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Análisis formal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Reducción tickets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Patrones ocultos IA</a:t>
            </a:r>
          </a:p>
        </p:txBody>
      </p:sp>
      <p:sp>
        <p:nvSpPr>
          <p:cNvPr id="27" name="card28"/>
          <p:cNvSpPr/>
          <p:nvPr/>
        </p:nvSpPr>
        <p:spPr>
          <a:xfrm>
            <a:off x="6807708" y="1280160"/>
            <a:ext cx="2016252" cy="173736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4DB6AC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50" b="1">
                <a:solidFill>
                  <a:srgbClr val="00695C"/>
                </a:solidFill>
                <a:latin typeface="Arial"/>
                <a:cs typeface="Arial"/>
              </a:rPr>
              <a:t>Change Enablement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Sin control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Registro básico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Proceso documentado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Impacto medido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IA evalúa riesgo</a:t>
            </a:r>
          </a:p>
        </p:txBody>
      </p:sp>
      <p:sp>
        <p:nvSpPr>
          <p:cNvPr id="29" name="card30"/>
          <p:cNvSpPr/>
          <p:nvPr/>
        </p:nvSpPr>
        <p:spPr>
          <a:xfrm>
            <a:off x="320040" y="3090672"/>
            <a:ext cx="2712720" cy="13716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4DB6AC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50" b="1">
                <a:solidFill>
                  <a:srgbClr val="00695C"/>
                </a:solidFill>
                <a:latin typeface="Arial"/>
                <a:cs typeface="Arial"/>
              </a:rPr>
              <a:t>Transición y onboarding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Improvisada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Pasos sueltos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Playbook exacto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Métrica 30 días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Carga automática IA</a:t>
            </a:r>
          </a:p>
        </p:txBody>
      </p:sp>
      <p:sp>
        <p:nvSpPr>
          <p:cNvPr id="31" name="card32"/>
          <p:cNvSpPr/>
          <p:nvPr/>
        </p:nvSpPr>
        <p:spPr>
          <a:xfrm>
            <a:off x="3215640" y="3090672"/>
            <a:ext cx="2712720" cy="13716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4DB6AC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50" b="1">
                <a:solidFill>
                  <a:srgbClr val="00695C"/>
                </a:solidFill>
                <a:latin typeface="Arial"/>
                <a:cs typeface="Arial"/>
              </a:rPr>
              <a:t>Mejora continua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Solo crisis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Sin seguimiento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Backlog activo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Antes/después medido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IA detecta oportunidades</a:t>
            </a:r>
          </a:p>
        </p:txBody>
      </p:sp>
      <p:sp>
        <p:nvSpPr>
          <p:cNvPr id="33" name="card34"/>
          <p:cNvSpPr/>
          <p:nvPr/>
        </p:nvSpPr>
        <p:spPr>
          <a:xfrm>
            <a:off x="6111240" y="3090672"/>
            <a:ext cx="2712720" cy="13716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4DB6AC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50" b="1">
                <a:solidFill>
                  <a:srgbClr val="00695C"/>
                </a:solidFill>
                <a:latin typeface="Arial"/>
                <a:cs typeface="Arial"/>
              </a:rPr>
              <a:t>Experiencia del cliente · CX / NPS / CSAT / XLA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Cero quejas = OK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Encuesta anual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CSAT + XLA continuo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Cruce operacional NPS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780">
                <a:solidFill>
                  <a:srgbClr val="37474F"/>
                </a:solidFill>
                <a:latin typeface="Arial"/>
                <a:cs typeface="Arial"/>
              </a:rPr>
              <a:t>CX en tiempo real</a:t>
            </a:r>
          </a:p>
        </p:txBody>
      </p:sp>
      <p:sp>
        <p:nvSpPr>
          <p:cNvPr id="35" name="tb36"/>
          <p:cNvSpPr txBox="1"/>
          <p:nvPr/>
        </p:nvSpPr>
        <p:spPr>
          <a:xfrm>
            <a:off x="320040" y="4828032"/>
            <a:ext cx="5486400" cy="256032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700">
                <a:solidFill>
                  <a:srgbClr val="9AA0A6"/>
                </a:solidFill>
                <a:latin typeface="Arial"/>
                <a:cs typeface="Arial"/>
              </a:rPr>
              <a:t>Fuente: diagrama_nivel_madurez.md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b12"/>
          <p:cNvSpPr txBox="1"/>
          <p:nvPr/>
        </p:nvSpPr>
        <p:spPr>
          <a:xfrm>
            <a:off x="320040" y="146304"/>
            <a:ext cx="8503920" cy="384048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800" b="1">
                <a:solidFill>
                  <a:srgbClr val="0E337C"/>
                </a:solidFill>
                <a:latin typeface="Arial"/>
                <a:cs typeface="Arial"/>
              </a:rPr>
              <a:t>Negocio, cumplimiento y cierre</a:t>
            </a:r>
          </a:p>
        </p:txBody>
      </p:sp>
      <p:sp>
        <p:nvSpPr>
          <p:cNvPr id="15" name="tb16"/>
          <p:cNvSpPr txBox="1"/>
          <p:nvPr/>
        </p:nvSpPr>
        <p:spPr>
          <a:xfrm>
            <a:off x="320040" y="566928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900">
                <a:solidFill>
                  <a:srgbClr val="6B7280"/>
                </a:solidFill>
                <a:latin typeface="Arial"/>
                <a:cs typeface="Arial"/>
              </a:rPr>
              <a:t>Dimensión de negocio · capa sectorial · síntesis del modelo</a:t>
            </a:r>
          </a:p>
        </p:txBody>
      </p:sp>
      <p:sp>
        <p:nvSpPr>
          <p:cNvPr id="17" name="bar18"/>
          <p:cNvSpPr/>
          <p:nvPr/>
        </p:nvSpPr>
        <p:spPr>
          <a:xfrm>
            <a:off x="320040" y="932688"/>
            <a:ext cx="64008" cy="219456"/>
          </a:xfrm>
          <a:prstGeom prst="roundRect">
            <a:avLst>
              <a:gd name="adj" fmla="val 4000"/>
            </a:avLst>
          </a:prstGeom>
          <a:solidFill>
            <a:srgbClr val="303F9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9" name="tb20"/>
          <p:cNvSpPr txBox="1"/>
          <p:nvPr/>
        </p:nvSpPr>
        <p:spPr>
          <a:xfrm>
            <a:off x="448056" y="914400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100" b="1">
                <a:solidFill>
                  <a:srgbClr val="303F9F"/>
                </a:solidFill>
                <a:latin typeface="Arial"/>
                <a:cs typeface="Arial"/>
              </a:rPr>
              <a:t>DIMENSIÓN DE NEGOCIO · ÉXITO COMERCIAL Y RENTABILIDAD</a:t>
            </a:r>
          </a:p>
        </p:txBody>
      </p:sp>
      <p:sp>
        <p:nvSpPr>
          <p:cNvPr id="21" name="card22"/>
          <p:cNvSpPr/>
          <p:nvPr/>
        </p:nvSpPr>
        <p:spPr>
          <a:xfrm>
            <a:off x="320040" y="1207008"/>
            <a:ext cx="2016252" cy="11887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9FA8DA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000" b="1">
                <a:solidFill>
                  <a:srgbClr val="303F9F"/>
                </a:solidFill>
                <a:latin typeface="Arial"/>
                <a:cs typeface="Arial"/>
              </a:rPr>
              <a:t>Salud financiera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Pérdida oculta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→ Margen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→ Upselling</a:t>
            </a:r>
          </a:p>
        </p:txBody>
      </p:sp>
      <p:sp>
        <p:nvSpPr>
          <p:cNvPr id="23" name="card24"/>
          <p:cNvSpPr/>
          <p:nvPr/>
        </p:nvSpPr>
        <p:spPr>
          <a:xfrm>
            <a:off x="2482596" y="1207008"/>
            <a:ext cx="2016252" cy="11887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9FA8DA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000" b="1">
                <a:solidFill>
                  <a:srgbClr val="303F9F"/>
                </a:solidFill>
                <a:latin typeface="Arial"/>
                <a:cs typeface="Arial"/>
              </a:rPr>
              <a:t>Retención y cuenta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Riesgo churn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→ Renueva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→ Expansión</a:t>
            </a:r>
          </a:p>
        </p:txBody>
      </p:sp>
      <p:sp>
        <p:nvSpPr>
          <p:cNvPr id="25" name="card26"/>
          <p:cNvSpPr/>
          <p:nvPr/>
        </p:nvSpPr>
        <p:spPr>
          <a:xfrm>
            <a:off x="4645152" y="1207008"/>
            <a:ext cx="2016252" cy="11887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9FA8DA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000" b="1">
                <a:solidFill>
                  <a:srgbClr val="303F9F"/>
                </a:solidFill>
                <a:latin typeface="Arial"/>
                <a:cs typeface="Arial"/>
              </a:rPr>
              <a:t>NPS / CSAT / XLA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Silencioso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→ Reactivo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→ Promotor</a:t>
            </a:r>
          </a:p>
        </p:txBody>
      </p:sp>
      <p:sp>
        <p:nvSpPr>
          <p:cNvPr id="27" name="card28"/>
          <p:cNvSpPr/>
          <p:nvPr/>
        </p:nvSpPr>
        <p:spPr>
          <a:xfrm>
            <a:off x="6807708" y="1207008"/>
            <a:ext cx="2016252" cy="11887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9FA8DA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000" b="1">
                <a:solidFill>
                  <a:srgbClr val="303F9F"/>
                </a:solidFill>
                <a:latin typeface="Arial"/>
                <a:cs typeface="Arial"/>
              </a:rPr>
              <a:t>Eficiencia de costo</a:t>
            </a:r>
          </a:p>
          <a:p>
            <a:pPr algn="ctr">
              <a:lnSpc>
                <a:spcPct val="100000"/>
              </a:lnSpc>
              <a:spcBef>
                <a:spcPts val="30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Alto e invisible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→ GAP medido</a:t>
            </a:r>
          </a:p>
          <a:p>
            <a:pPr algn="ctr">
              <a:lnSpc>
                <a:spcPct val="100000"/>
              </a:lnSpc>
              <a:spcBef>
                <a:spcPts val="220"/>
              </a:spcBef>
              <a:buNone/>
            </a:pPr>
            <a:r>
              <a:rPr lang="es-ES" sz="850">
                <a:solidFill>
                  <a:srgbClr val="37474F"/>
                </a:solidFill>
                <a:latin typeface="Arial"/>
                <a:cs typeface="Arial"/>
              </a:rPr>
              <a:t>→ Auto</a:t>
            </a:r>
          </a:p>
        </p:txBody>
      </p:sp>
      <p:sp>
        <p:nvSpPr>
          <p:cNvPr id="29" name="bar30"/>
          <p:cNvSpPr/>
          <p:nvPr/>
        </p:nvSpPr>
        <p:spPr>
          <a:xfrm>
            <a:off x="320040" y="2633472"/>
            <a:ext cx="64008" cy="219456"/>
          </a:xfrm>
          <a:prstGeom prst="roundRect">
            <a:avLst>
              <a:gd name="adj" fmla="val 4000"/>
            </a:avLst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1" name="tb32"/>
          <p:cNvSpPr txBox="1"/>
          <p:nvPr/>
        </p:nvSpPr>
        <p:spPr>
          <a:xfrm>
            <a:off x="448056" y="2615184"/>
            <a:ext cx="8503920" cy="27432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100" b="1">
                <a:solidFill>
                  <a:srgbClr val="E65100"/>
                </a:solidFill>
                <a:latin typeface="Arial"/>
                <a:cs typeface="Arial"/>
              </a:rPr>
              <a:t>CAPA SECTORIAL · CUMPLIMIENTO REGULATORIO</a:t>
            </a:r>
          </a:p>
        </p:txBody>
      </p:sp>
      <p:sp>
        <p:nvSpPr>
          <p:cNvPr id="33" name="card34"/>
          <p:cNvSpPr/>
          <p:nvPr/>
        </p:nvSpPr>
        <p:spPr>
          <a:xfrm>
            <a:off x="320040" y="2907792"/>
            <a:ext cx="4114800" cy="786384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 w="12700">
            <a:solidFill>
              <a:srgbClr val="FFB74D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100" b="1">
                <a:solidFill>
                  <a:srgbClr val="E65100"/>
                </a:solidFill>
                <a:latin typeface="Arial"/>
                <a:cs typeface="Arial"/>
              </a:rPr>
              <a:t>Banca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SFC · SOX · BCP/DRP · Segregación de funciones</a:t>
            </a:r>
          </a:p>
        </p:txBody>
      </p:sp>
      <p:sp>
        <p:nvSpPr>
          <p:cNvPr id="35" name="card36"/>
          <p:cNvSpPr/>
          <p:nvPr/>
        </p:nvSpPr>
        <p:spPr>
          <a:xfrm>
            <a:off x="4709160" y="2907792"/>
            <a:ext cx="4114800" cy="786384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 w="12700">
            <a:solidFill>
              <a:srgbClr val="FFB74D"/>
            </a:solidFill>
          </a:ln>
        </p:spPr>
        <p:txBody>
          <a:bodyPr wrap="square" lIns="45720" tIns="36000" rIns="45720" bIns="36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100" b="1">
                <a:solidFill>
                  <a:srgbClr val="E65100"/>
                </a:solidFill>
                <a:latin typeface="Arial"/>
                <a:cs typeface="Arial"/>
              </a:rPr>
              <a:t>Salud (EPS)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es-ES" sz="900">
                <a:solidFill>
                  <a:srgbClr val="37474F"/>
                </a:solidFill>
                <a:latin typeface="Arial"/>
                <a:cs typeface="Arial"/>
              </a:rPr>
              <a:t>Supersalud · Habeas Data · RIPS · PISIS · Trazabilidad clínica</a:t>
            </a:r>
          </a:p>
        </p:txBody>
      </p:sp>
      <p:sp>
        <p:nvSpPr>
          <p:cNvPr id="37" name="banner38"/>
          <p:cNvSpPr/>
          <p:nvPr/>
        </p:nvSpPr>
        <p:spPr>
          <a:xfrm>
            <a:off x="320040" y="3913632"/>
            <a:ext cx="8503920" cy="73152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>
            <a:noFill/>
          </a:ln>
        </p:spPr>
        <p:txBody>
          <a:bodyPr wrap="square" lIns="45720" tIns="27000" rIns="45720" bIns="27000" anchor="ctr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1300" b="1">
                <a:solidFill>
                  <a:schemeClr val="tx1"/>
                </a:solidFill>
                <a:latin typeface="Arial"/>
                <a:cs typeface="Arial"/>
              </a:rPr>
              <a:t>Una mesa exitosa: madura operativamente + rentable como negocio</a:t>
            </a:r>
          </a:p>
          <a:p>
            <a:pPr algn="ctr">
              <a:lnSpc>
                <a:spcPct val="100000"/>
              </a:lnSpc>
              <a:spcBef>
                <a:spcPts val="250"/>
              </a:spcBef>
              <a:buNone/>
            </a:pPr>
            <a:r>
              <a:rPr lang="es-ES" sz="850">
                <a:solidFill>
                  <a:schemeClr val="tx1"/>
                </a:solidFill>
                <a:latin typeface="Arial"/>
                <a:cs typeface="Arial"/>
              </a:rPr>
              <a:t>ITIL v5 · 4 dimensiones · 17 prácticas · Monitor/S+F · Service · </a:t>
            </a:r>
            <a:r>
              <a:rPr lang="es-ES" sz="850" err="1">
                <a:solidFill>
                  <a:schemeClr val="tx1"/>
                </a:solidFill>
                <a:latin typeface="Arial"/>
                <a:cs typeface="Arial"/>
              </a:rPr>
              <a:t>Experience</a:t>
            </a:r>
            <a:r>
              <a:rPr lang="es-ES" sz="850">
                <a:solidFill>
                  <a:schemeClr val="tx1"/>
                </a:solidFill>
                <a:latin typeface="Arial"/>
                <a:cs typeface="Arial"/>
              </a:rPr>
              <a:t> · </a:t>
            </a:r>
            <a:r>
              <a:rPr lang="es-ES" sz="850" err="1">
                <a:solidFill>
                  <a:schemeClr val="tx1"/>
                </a:solidFill>
                <a:latin typeface="Arial"/>
                <a:cs typeface="Arial"/>
              </a:rPr>
              <a:t>Foundation</a:t>
            </a:r>
            <a:r>
              <a:rPr lang="es-ES" sz="850">
                <a:solidFill>
                  <a:schemeClr val="tx1"/>
                </a:solidFill>
                <a:latin typeface="Arial"/>
                <a:cs typeface="Arial"/>
              </a:rPr>
              <a:t> · </a:t>
            </a:r>
            <a:r>
              <a:rPr lang="es-ES" sz="850" err="1">
                <a:solidFill>
                  <a:schemeClr val="tx1"/>
                </a:solidFill>
                <a:latin typeface="Arial"/>
                <a:cs typeface="Arial"/>
              </a:rPr>
              <a:t>Collaborate</a:t>
            </a:r>
            <a:r>
              <a:rPr lang="es-ES" sz="850">
                <a:solidFill>
                  <a:schemeClr val="tx1"/>
                </a:solidFill>
                <a:latin typeface="Arial"/>
                <a:cs typeface="Arial"/>
              </a:rPr>
              <a:t>/A+I · Negocio PS</a:t>
            </a:r>
          </a:p>
        </p:txBody>
      </p:sp>
      <p:sp>
        <p:nvSpPr>
          <p:cNvPr id="39" name="tb40"/>
          <p:cNvSpPr txBox="1"/>
          <p:nvPr/>
        </p:nvSpPr>
        <p:spPr>
          <a:xfrm>
            <a:off x="320040" y="4828032"/>
            <a:ext cx="5486400" cy="256032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s-ES" sz="700">
                <a:solidFill>
                  <a:srgbClr val="9AA0A6"/>
                </a:solidFill>
                <a:latin typeface="Arial"/>
                <a:cs typeface="Arial"/>
              </a:rPr>
              <a:t>Fuente: diagrama_nivel_madurez.md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4">
            <a:extLst>
              <a:ext uri="{FF2B5EF4-FFF2-40B4-BE49-F238E27FC236}">
                <a16:creationId xmlns:a16="http://schemas.microsoft.com/office/drawing/2014/main" id="{CB511400-F229-BAC6-42B8-ECED4C310BC8}"/>
              </a:ext>
            </a:extLst>
          </p:cNvPr>
          <p:cNvSpPr/>
          <p:nvPr/>
        </p:nvSpPr>
        <p:spPr>
          <a:xfrm>
            <a:off x="373516" y="1555638"/>
            <a:ext cx="2053829" cy="3105830"/>
          </a:xfrm>
          <a:prstGeom prst="rect">
            <a:avLst/>
          </a:prstGeom>
          <a:solidFill>
            <a:srgbClr val="4ACCE8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07ACC083-B532-C457-72C8-86F96CE7FDDB}"/>
              </a:ext>
            </a:extLst>
          </p:cNvPr>
          <p:cNvSpPr/>
          <p:nvPr/>
        </p:nvSpPr>
        <p:spPr>
          <a:xfrm>
            <a:off x="2498782" y="1555638"/>
            <a:ext cx="2053829" cy="3105830"/>
          </a:xfrm>
          <a:prstGeom prst="rect">
            <a:avLst/>
          </a:prstGeom>
          <a:solidFill>
            <a:srgbClr val="5CC0EA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3" name="Shape 10">
            <a:extLst>
              <a:ext uri="{FF2B5EF4-FFF2-40B4-BE49-F238E27FC236}">
                <a16:creationId xmlns:a16="http://schemas.microsoft.com/office/drawing/2014/main" id="{4503163C-1193-FB3F-F6BA-CD9C1B36622F}"/>
              </a:ext>
            </a:extLst>
          </p:cNvPr>
          <p:cNvSpPr/>
          <p:nvPr/>
        </p:nvSpPr>
        <p:spPr>
          <a:xfrm>
            <a:off x="4624048" y="1555638"/>
            <a:ext cx="2053829" cy="3105830"/>
          </a:xfrm>
          <a:prstGeom prst="rect">
            <a:avLst/>
          </a:prstGeom>
          <a:solidFill>
            <a:srgbClr val="6FB3ED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5" name="Shape 13">
            <a:extLst>
              <a:ext uri="{FF2B5EF4-FFF2-40B4-BE49-F238E27FC236}">
                <a16:creationId xmlns:a16="http://schemas.microsoft.com/office/drawing/2014/main" id="{A6ABB46D-CA31-1415-F77A-E18E693F3262}"/>
              </a:ext>
            </a:extLst>
          </p:cNvPr>
          <p:cNvSpPr/>
          <p:nvPr/>
        </p:nvSpPr>
        <p:spPr>
          <a:xfrm>
            <a:off x="6749314" y="1555638"/>
            <a:ext cx="2053829" cy="3105830"/>
          </a:xfrm>
          <a:prstGeom prst="rect">
            <a:avLst/>
          </a:prstGeom>
          <a:solidFill>
            <a:srgbClr val="81A7EF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7445FDA1-29EC-4E5B-95DF-C2143677E632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650" b="1">
                <a:solidFill>
                  <a:srgbClr val="0C2362"/>
                </a:solidFill>
              </a:defRPr>
            </a:pP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Catálogo Modular de Servicios</a:t>
            </a:r>
            <a:endParaRPr lang="es-ES" sz="1000">
              <a:latin typeface="Reddit Sans"/>
              <a:ea typeface="Reddit Sans"/>
            </a:endParaRP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BC32E812-1E96-4B8F-BDAB-AE226E591314}"/>
              </a:ext>
            </a:extLst>
          </p:cNvPr>
          <p:cNvSpPr>
            <a:spLocks noGrp="1"/>
          </p:cNvSpPr>
          <p:nvPr/>
        </p:nvSpPr>
        <p:spPr>
          <a:xfrm>
            <a:off x="340179" y="575582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Una base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gestionada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más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capacidades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inmersas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y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servicios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complementarios</a:t>
            </a:r>
            <a:endParaRPr lang="es-ES" sz="1000" spc="-25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C8AD8619-10B5-4238-9B73-346B04B397C6}"/>
              </a:ext>
            </a:extLst>
          </p:cNvPr>
          <p:cNvSpPr>
            <a:spLocks noGrp="1"/>
          </p:cNvSpPr>
          <p:nvPr/>
        </p:nvSpPr>
        <p:spPr>
          <a:xfrm>
            <a:off x="623206" y="2174422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050" b="1">
                <a:solidFill>
                  <a:srgbClr val="163B8C"/>
                </a:solidFill>
              </a:defRPr>
            </a:pPr>
            <a:r>
              <a:rPr sz="1200" b="1">
                <a:solidFill>
                  <a:srgbClr val="0C0C0C"/>
                </a:solidFill>
                <a:latin typeface="Reddit Sans"/>
                <a:ea typeface="Reddit Sans"/>
              </a:rPr>
              <a:t>Base </a:t>
            </a:r>
            <a:r>
              <a:rPr lang="es-ES" sz="1200" b="1" err="1">
                <a:solidFill>
                  <a:srgbClr val="0C0C0C"/>
                </a:solidFill>
                <a:latin typeface="Reddit Sans"/>
                <a:ea typeface="Reddit Sans"/>
              </a:rPr>
              <a:t>Operativa</a:t>
            </a:r>
            <a:endParaRPr lang="es-ES" sz="1200" b="1">
              <a:solidFill>
                <a:srgbClr val="0C0C0C"/>
              </a:solidFill>
              <a:latin typeface="Reddit Sans"/>
              <a:ea typeface="Reddit Sans"/>
            </a:endParaRP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B46911AD-3B4A-490F-9268-24A2545FBB20}"/>
              </a:ext>
            </a:extLst>
          </p:cNvPr>
          <p:cNvSpPr>
            <a:spLocks noGrp="1"/>
          </p:cNvSpPr>
          <p:nvPr/>
        </p:nvSpPr>
        <p:spPr>
          <a:xfrm>
            <a:off x="623207" y="3205843"/>
            <a:ext cx="1504950" cy="6912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Punto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único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de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contacto</a:t>
            </a:r>
            <a:endParaRPr lang="es-ES" sz="800" err="1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Gestión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de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incidentes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Gestión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de solicitudes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ANS/SLA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por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prioridad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Reporte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mensual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D98BAD0B-EB72-4DFE-9B81-AB5F6B1AE321}"/>
              </a:ext>
            </a:extLst>
          </p:cNvPr>
          <p:cNvSpPr>
            <a:spLocks noGrp="1"/>
          </p:cNvSpPr>
          <p:nvPr/>
        </p:nvSpPr>
        <p:spPr>
          <a:xfrm>
            <a:off x="2792184" y="2174422"/>
            <a:ext cx="1504950" cy="38372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050" b="1">
                <a:solidFill>
                  <a:srgbClr val="087B83"/>
                </a:solidFill>
              </a:defRPr>
            </a:pPr>
            <a:r>
              <a:rPr sz="1200" b="1" err="1">
                <a:solidFill>
                  <a:srgbClr val="0C0C0C"/>
                </a:solidFill>
                <a:latin typeface="Reddit Sans"/>
                <a:ea typeface="Reddit Sans"/>
              </a:rPr>
              <a:t>Capacidades</a:t>
            </a:r>
            <a:r>
              <a:rPr sz="1200" b="1">
                <a:solidFill>
                  <a:srgbClr val="0C0C0C"/>
                </a:solidFill>
                <a:latin typeface="Reddit Sans"/>
                <a:ea typeface="Reddit Sans"/>
              </a:rPr>
              <a:t> Next</a:t>
            </a:r>
            <a:r>
              <a:rPr lang="es-ES" sz="1200" b="1">
                <a:solidFill>
                  <a:srgbClr val="0C0C0C"/>
                </a:solidFill>
                <a:latin typeface="Reddit Sans"/>
                <a:ea typeface="Reddit Sans"/>
              </a:rPr>
              <a:t> Gen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69B008AD-B51F-4765-BB05-C041ECA5211F}"/>
              </a:ext>
            </a:extLst>
          </p:cNvPr>
          <p:cNvSpPr>
            <a:spLocks noGrp="1"/>
          </p:cNvSpPr>
          <p:nvPr/>
        </p:nvSpPr>
        <p:spPr>
          <a:xfrm>
            <a:off x="2797628" y="3249386"/>
            <a:ext cx="1499508" cy="8218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Portal N0 y agente virtual</a:t>
            </a:r>
            <a:endParaRPr lang="es-ES" sz="800">
              <a:solidFill>
                <a:srgbClr val="595959"/>
              </a:solidFill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KEDB/KCS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Agent assist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AIOps y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observabilidad</a:t>
            </a:r>
            <a:endParaRPr sz="800" b="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SLA + XLA + DEX</a:t>
            </a:r>
            <a:endParaRPr lang="es-ES" sz="800" b="0">
              <a:solidFill>
                <a:srgbClr val="595959"/>
              </a:solidFill>
              <a:latin typeface="Reddit Sans"/>
              <a:ea typeface="Reddit Sans"/>
            </a:endParaRP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87B05ABA-D5CF-44AA-A0AB-6F671F7283F3}"/>
              </a:ext>
            </a:extLst>
          </p:cNvPr>
          <p:cNvSpPr>
            <a:spLocks noGrp="1"/>
          </p:cNvSpPr>
          <p:nvPr/>
        </p:nvSpPr>
        <p:spPr>
          <a:xfrm>
            <a:off x="4928506" y="2174422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050" b="1">
                <a:solidFill>
                  <a:srgbClr val="20835A"/>
                </a:solidFill>
              </a:defRPr>
            </a:pPr>
            <a:r>
              <a:rPr sz="1200" b="1" err="1">
                <a:solidFill>
                  <a:srgbClr val="0C0C0C"/>
                </a:solidFill>
                <a:latin typeface="Reddit Sans"/>
                <a:ea typeface="Reddit Sans"/>
              </a:rPr>
              <a:t>Servicios</a:t>
            </a:r>
            <a:r>
              <a:rPr lang="es-ES" sz="1200" b="1">
                <a:solidFill>
                  <a:srgbClr val="0C0C0C"/>
                </a:solidFill>
                <a:latin typeface="Reddit Sans"/>
                <a:ea typeface="Reddit Sans"/>
              </a:rPr>
              <a:t> </a:t>
            </a:r>
            <a:r>
              <a:rPr lang="es-ES" sz="1200" b="1" err="1">
                <a:solidFill>
                  <a:srgbClr val="0C0C0C"/>
                </a:solidFill>
                <a:latin typeface="Reddit Sans"/>
                <a:ea typeface="Reddit Sans"/>
              </a:rPr>
              <a:t>Inmersos</a:t>
            </a:r>
            <a:endParaRPr lang="es-ES" sz="1200" b="1">
              <a:solidFill>
                <a:srgbClr val="0C0C0C"/>
              </a:solidFill>
              <a:latin typeface="Reddit Sans"/>
              <a:ea typeface="Reddit Sans"/>
            </a:endParaRP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B489B904-18CD-43B6-978E-47C9F1181ABD}"/>
              </a:ext>
            </a:extLst>
          </p:cNvPr>
          <p:cNvSpPr>
            <a:spLocks noGrp="1"/>
          </p:cNvSpPr>
          <p:nvPr/>
        </p:nvSpPr>
        <p:spPr>
          <a:xfrm>
            <a:off x="4928506" y="3249386"/>
            <a:ext cx="1434193" cy="7728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RACI y gobierno</a:t>
            </a:r>
            <a:endParaRPr lang="es-ES" sz="800">
              <a:solidFill>
                <a:srgbClr val="595959"/>
              </a:solidFill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Catálogo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y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alcance</a:t>
            </a:r>
            <a:endParaRPr sz="800" b="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Gestión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de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problemas</a:t>
            </a:r>
            <a:endParaRPr sz="800" b="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Disponibilidad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Change enablement</a:t>
            </a:r>
            <a:endParaRPr sz="800">
              <a:solidFill>
                <a:srgbClr val="595959"/>
              </a:solidFill>
            </a:endParaRPr>
          </a:p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Mejora continua</a:t>
            </a: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</a:p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Evolutivos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A7B9178B-1F8D-456C-A96D-759C1FB56DFC}"/>
              </a:ext>
            </a:extLst>
          </p:cNvPr>
          <p:cNvSpPr>
            <a:spLocks noGrp="1"/>
          </p:cNvSpPr>
          <p:nvPr/>
        </p:nvSpPr>
        <p:spPr>
          <a:xfrm>
            <a:off x="7102927" y="2109108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050" b="1">
                <a:solidFill>
                  <a:srgbClr val="D47A00"/>
                </a:solidFill>
              </a:defRPr>
            </a:pPr>
            <a:r>
              <a:rPr lang="es-ES" sz="1200" b="1">
                <a:solidFill>
                  <a:srgbClr val="0C0C0C"/>
                </a:solidFill>
                <a:latin typeface="Reddit Sans"/>
                <a:ea typeface="Reddit Sans"/>
              </a:rPr>
              <a:t>Servicios </a:t>
            </a:r>
            <a:r>
              <a:rPr sz="1200" b="1">
                <a:solidFill>
                  <a:srgbClr val="0C0C0C"/>
                </a:solidFill>
                <a:latin typeface="Reddit Sans"/>
                <a:ea typeface="Reddit Sans"/>
              </a:rPr>
              <a:t>Complementarios</a:t>
            </a:r>
            <a:endParaRPr lang="es-ES" sz="1200" b="1">
              <a:solidFill>
                <a:srgbClr val="0C0C0C"/>
              </a:solidFill>
              <a:latin typeface="Reddit Sans"/>
              <a:ea typeface="Reddit Sans"/>
            </a:endParaRP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A4377773-95C5-4298-9334-E2E6C731C576}"/>
              </a:ext>
            </a:extLst>
          </p:cNvPr>
          <p:cNvSpPr>
            <a:spLocks noGrp="1"/>
          </p:cNvSpPr>
          <p:nvPr/>
        </p:nvSpPr>
        <p:spPr>
          <a:xfrm>
            <a:off x="7064828" y="2650672"/>
            <a:ext cx="1624692" cy="119742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00" err="1">
                <a:solidFill>
                  <a:srgbClr val="595959"/>
                </a:solidFill>
                <a:latin typeface="Reddit Sans"/>
                <a:ea typeface="Reddit Sans"/>
              </a:rPr>
              <a:t>Assessment</a:t>
            </a: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 del Nivel de Madurez de la Mesa de Servicio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sz="800">
                <a:solidFill>
                  <a:srgbClr val="595959"/>
                </a:solidFill>
                <a:latin typeface="Reddit Sans"/>
                <a:ea typeface="Reddit Sans"/>
              </a:rPr>
              <a:t>Modernización </a:t>
            </a: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de aplicaciones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Capacitaciones identificadas en mesas de servicio (por </a:t>
            </a:r>
            <a:r>
              <a:rPr lang="es-ES" sz="800" err="1">
                <a:solidFill>
                  <a:srgbClr val="595959"/>
                </a:solidFill>
                <a:latin typeface="Reddit Sans"/>
                <a:ea typeface="Reddit Sans"/>
              </a:rPr>
              <a:t>volmuetria</a:t>
            </a: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 de tickets)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Seguridad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sz="800">
                <a:solidFill>
                  <a:srgbClr val="595959"/>
                </a:solidFill>
                <a:latin typeface="Reddit Sans"/>
                <a:ea typeface="Reddit Sans"/>
              </a:rPr>
              <a:t>DevOps / </a:t>
            </a:r>
            <a:r>
              <a:rPr sz="800" err="1">
                <a:solidFill>
                  <a:srgbClr val="595959"/>
                </a:solidFill>
                <a:latin typeface="Reddit Sans"/>
                <a:ea typeface="Reddit Sans"/>
              </a:rPr>
              <a:t>automatización</a:t>
            </a:r>
            <a:endParaRPr sz="80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sz="800">
                <a:solidFill>
                  <a:srgbClr val="595959"/>
                </a:solidFill>
                <a:latin typeface="Reddit Sans"/>
                <a:ea typeface="Reddit Sans"/>
              </a:rPr>
              <a:t>Performance engineering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sz="800" err="1">
                <a:solidFill>
                  <a:srgbClr val="595959"/>
                </a:solidFill>
                <a:latin typeface="Reddit Sans"/>
                <a:ea typeface="Reddit Sans"/>
              </a:rPr>
              <a:t>Gobierno</a:t>
            </a:r>
            <a:r>
              <a:rPr sz="800">
                <a:solidFill>
                  <a:srgbClr val="595959"/>
                </a:solidFill>
                <a:latin typeface="Reddit Sans"/>
                <a:ea typeface="Reddit Sans"/>
              </a:rPr>
              <a:t> de </a:t>
            </a: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datos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00" err="1">
                <a:solidFill>
                  <a:srgbClr val="595959"/>
                </a:solidFill>
                <a:latin typeface="Reddit Sans"/>
                <a:ea typeface="Reddit Sans"/>
              </a:rPr>
              <a:t>Gobierno</a:t>
            </a: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 de </a:t>
            </a:r>
            <a:r>
              <a:rPr sz="800">
                <a:solidFill>
                  <a:srgbClr val="595959"/>
                </a:solidFill>
                <a:latin typeface="Reddit Sans"/>
                <a:ea typeface="Reddit Sans"/>
              </a:rPr>
              <a:t>IA</a:t>
            </a:r>
          </a:p>
        </p:txBody>
      </p:sp>
      <p:sp>
        <p:nvSpPr>
          <p:cNvPr id="55" name="Shape 2">
            <a:extLst>
              <a:ext uri="{FF2B5EF4-FFF2-40B4-BE49-F238E27FC236}">
                <a16:creationId xmlns:a16="http://schemas.microsoft.com/office/drawing/2014/main" id="{69C95DC6-388A-6B8F-971A-B933C2E933F0}"/>
              </a:ext>
            </a:extLst>
          </p:cNvPr>
          <p:cNvSpPr/>
          <p:nvPr/>
        </p:nvSpPr>
        <p:spPr>
          <a:xfrm>
            <a:off x="368073" y="958963"/>
            <a:ext cx="8429625" cy="520304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D38E257A-0E3D-D50C-B766-757016C7109A}"/>
              </a:ext>
            </a:extLst>
          </p:cNvPr>
          <p:cNvSpPr/>
          <p:nvPr/>
        </p:nvSpPr>
        <p:spPr>
          <a:xfrm>
            <a:off x="3398865" y="1129596"/>
            <a:ext cx="2368042" cy="18104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26"/>
              </a:lnSpc>
            </a:pPr>
            <a:r>
              <a:rPr lang="en-US" sz="1238" kern="0" spc="-74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Arquitectura de Servicio Integral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59" name="Image 0" descr="-51c0485e.png">
            <a:extLst>
              <a:ext uri="{FF2B5EF4-FFF2-40B4-BE49-F238E27FC236}">
                <a16:creationId xmlns:a16="http://schemas.microsoft.com/office/drawing/2014/main" id="{02CE5549-DF29-9F01-69B9-302A1F81A7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173" y="1690696"/>
            <a:ext cx="257175" cy="285750"/>
          </a:xfrm>
          <a:prstGeom prst="rect">
            <a:avLst/>
          </a:prstGeom>
        </p:spPr>
      </p:pic>
      <p:pic>
        <p:nvPicPr>
          <p:cNvPr id="61" name="Image 1" descr="7a1d5e62.png">
            <a:extLst>
              <a:ext uri="{FF2B5EF4-FFF2-40B4-BE49-F238E27FC236}">
                <a16:creationId xmlns:a16="http://schemas.microsoft.com/office/drawing/2014/main" id="{C37A1F31-8948-26B7-BA87-929A1500CB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0985" y="1697401"/>
            <a:ext cx="300038" cy="300038"/>
          </a:xfrm>
          <a:prstGeom prst="rect">
            <a:avLst/>
          </a:prstGeom>
        </p:spPr>
      </p:pic>
      <p:pic>
        <p:nvPicPr>
          <p:cNvPr id="63" name="Image 2" descr="5fb69d22.png">
            <a:extLst>
              <a:ext uri="{FF2B5EF4-FFF2-40B4-BE49-F238E27FC236}">
                <a16:creationId xmlns:a16="http://schemas.microsoft.com/office/drawing/2014/main" id="{4ED6D8A5-149C-8D64-187D-5582CF4CA4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2323" y="1731729"/>
            <a:ext cx="300038" cy="264319"/>
          </a:xfrm>
          <a:prstGeom prst="rect">
            <a:avLst/>
          </a:prstGeom>
        </p:spPr>
      </p:pic>
      <p:pic>
        <p:nvPicPr>
          <p:cNvPr id="64" name="Image 2" descr="5fb69d22.png">
            <a:extLst>
              <a:ext uri="{FF2B5EF4-FFF2-40B4-BE49-F238E27FC236}">
                <a16:creationId xmlns:a16="http://schemas.microsoft.com/office/drawing/2014/main" id="{70171854-E5AF-3AFE-2F30-6E06F40115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8451" y="1731729"/>
            <a:ext cx="300038" cy="264319"/>
          </a:xfrm>
          <a:prstGeom prst="rect">
            <a:avLst/>
          </a:prstGeom>
        </p:spPr>
      </p:pic>
      <p:sp>
        <p:nvSpPr>
          <p:cNvPr id="65" name="CuadroTexto 64">
            <a:extLst>
              <a:ext uri="{FF2B5EF4-FFF2-40B4-BE49-F238E27FC236}">
                <a16:creationId xmlns:a16="http://schemas.microsoft.com/office/drawing/2014/main" id="{8AC04C55-5236-1115-ED09-496275098826}"/>
              </a:ext>
            </a:extLst>
          </p:cNvPr>
          <p:cNvSpPr txBox="1"/>
          <p:nvPr/>
        </p:nvSpPr>
        <p:spPr>
          <a:xfrm>
            <a:off x="489857" y="2452007"/>
            <a:ext cx="1817915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 defTabSz="685800" fontAlgn="ctr">
              <a:spcBef>
                <a:spcPts val="482"/>
              </a:spcBef>
            </a:pP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Infraestructura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fundamental y</a:t>
            </a:r>
            <a:r>
              <a:rPr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​</a:t>
            </a:r>
            <a:br>
              <a:rPr sz="800" spc="-23">
                <a:latin typeface="Reddit Sans"/>
                <a:ea typeface="Reddit Sans"/>
              </a:rPr>
            </a:b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procesos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centrales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soporte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que</a:t>
            </a:r>
            <a:r>
              <a:rPr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​</a:t>
            </a:r>
            <a:br>
              <a:rPr sz="800" spc="-23">
                <a:latin typeface="Reddit Sans"/>
                <a:ea typeface="Reddit Sans"/>
              </a:rPr>
            </a:b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garantizan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estabilidad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y</a:t>
            </a:r>
            <a:r>
              <a:rPr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​</a:t>
            </a:r>
            <a:br>
              <a:rPr sz="800" spc="-23">
                <a:latin typeface="Reddit Sans"/>
                <a:ea typeface="Reddit Sans"/>
              </a:rPr>
            </a:b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continuidad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del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negocio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</a:t>
            </a:r>
            <a:endParaRPr lang="es-ES" sz="80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67" name="Text 9">
            <a:extLst>
              <a:ext uri="{FF2B5EF4-FFF2-40B4-BE49-F238E27FC236}">
                <a16:creationId xmlns:a16="http://schemas.microsoft.com/office/drawing/2014/main" id="{F5CBAACB-E4AC-C922-AD11-4E0E17911830}"/>
              </a:ext>
            </a:extLst>
          </p:cNvPr>
          <p:cNvSpPr/>
          <p:nvPr/>
        </p:nvSpPr>
        <p:spPr>
          <a:xfrm>
            <a:off x="2644814" y="2548501"/>
            <a:ext cx="1905831" cy="65660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482"/>
              </a:spcBef>
            </a:pP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Innovación tecnológica y soluciones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de próxima generación con enfoque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en IA, automatización y escalabilidad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futura.</a:t>
            </a:r>
            <a:endParaRPr lang="es-ES"/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354A2E1B-2A3F-FA73-160F-B1496F7F573D}"/>
              </a:ext>
            </a:extLst>
          </p:cNvPr>
          <p:cNvSpPr/>
          <p:nvPr/>
        </p:nvSpPr>
        <p:spPr>
          <a:xfrm>
            <a:off x="4858580" y="2417873"/>
            <a:ext cx="1578129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482"/>
              </a:spcBef>
            </a:pP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Funcionalidades integradas de forma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nativa en la experiencia operativa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para optimizar flujos de trabajo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mediante integración profunda.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396576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">
            <a:extLst>
              <a:ext uri="{FF2B5EF4-FFF2-40B4-BE49-F238E27FC236}">
                <a16:creationId xmlns:a16="http://schemas.microsoft.com/office/drawing/2014/main" id="{F9C8408C-F9F1-4FF9-8A83-3AF25EB4B759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Stack tecnológico: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Integrarse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al </a:t>
            </a:r>
            <a:r>
              <a:rPr sz="1650" b="1" err="1">
                <a:solidFill>
                  <a:srgbClr val="0C2362"/>
                </a:solidFill>
                <a:latin typeface="Reddit Sans"/>
                <a:ea typeface="Reddit Sans"/>
              </a:rPr>
              <a:t>ecosistema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del </a:t>
            </a:r>
            <a:r>
              <a:rPr sz="1650" b="1" err="1">
                <a:solidFill>
                  <a:srgbClr val="0C2362"/>
                </a:solidFill>
                <a:latin typeface="Reddit Sans"/>
                <a:ea typeface="Reddit Sans"/>
              </a:rPr>
              <a:t>cliente</a:t>
            </a:r>
            <a:endParaRPr lang="es-ES" sz="1650" b="1" err="1">
              <a:solidFill>
                <a:srgbClr val="0C2362"/>
              </a:solidFill>
              <a:latin typeface="Reddit Sans"/>
              <a:ea typeface="Reddit Sans"/>
            </a:endParaRP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7F99B6CF-84D4-4913-B588-3CAA65AFEC04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Capas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mínimas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para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operar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,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medir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y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automatizar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sin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amarrar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al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cliente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a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una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herramienta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única</a:t>
            </a:r>
            <a:endParaRPr lang="es-ES" sz="1000" spc="-25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3" name="layer">
            <a:extLst>
              <a:ext uri="{FF2B5EF4-FFF2-40B4-BE49-F238E27FC236}">
                <a16:creationId xmlns:a16="http://schemas.microsoft.com/office/drawing/2014/main" id="{538C9A7E-8E60-4323-A090-E364358D7022}"/>
              </a:ext>
            </a:extLst>
          </p:cNvPr>
          <p:cNvSpPr>
            <a:spLocks noGrp="1"/>
          </p:cNvSpPr>
          <p:nvPr/>
        </p:nvSpPr>
        <p:spPr>
          <a:xfrm>
            <a:off x="1224643" y="925287"/>
            <a:ext cx="6057900" cy="4191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143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D2A7AB53-8090-466F-9893-E73B6DD61BF6}"/>
              </a:ext>
            </a:extLst>
          </p:cNvPr>
          <p:cNvSpPr>
            <a:spLocks noGrp="1"/>
          </p:cNvSpPr>
          <p:nvPr/>
        </p:nvSpPr>
        <p:spPr>
          <a:xfrm>
            <a:off x="1447800" y="1017815"/>
            <a:ext cx="1428750" cy="1714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163B8C"/>
                </a:solidFill>
              </a:defRPr>
            </a:pPr>
            <a:r>
              <a:rPr sz="1013" b="1">
                <a:solidFill>
                  <a:srgbClr val="4285F4"/>
                </a:solidFill>
                <a:latin typeface="Reddit Sans"/>
                <a:ea typeface="Reddit Sans"/>
              </a:rPr>
              <a:t>Canales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8C575430-6193-4C63-B135-4BA439C7DE11}"/>
              </a:ext>
            </a:extLst>
          </p:cNvPr>
          <p:cNvSpPr>
            <a:spLocks noGrp="1"/>
          </p:cNvSpPr>
          <p:nvPr/>
        </p:nvSpPr>
        <p:spPr>
          <a:xfrm>
            <a:off x="3173186" y="1034144"/>
            <a:ext cx="3777343" cy="258535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Portal, chat, WhatsApp, correo, teléfono, API/AIOps</a:t>
            </a:r>
          </a:p>
        </p:txBody>
      </p:sp>
      <p:sp>
        <p:nvSpPr>
          <p:cNvPr id="6" name="layer">
            <a:extLst>
              <a:ext uri="{FF2B5EF4-FFF2-40B4-BE49-F238E27FC236}">
                <a16:creationId xmlns:a16="http://schemas.microsoft.com/office/drawing/2014/main" id="{C441F295-83F4-4548-A6D0-5F51F8A20A11}"/>
              </a:ext>
            </a:extLst>
          </p:cNvPr>
          <p:cNvSpPr>
            <a:spLocks noGrp="1"/>
          </p:cNvSpPr>
          <p:nvPr/>
        </p:nvSpPr>
        <p:spPr>
          <a:xfrm>
            <a:off x="1224643" y="1396094"/>
            <a:ext cx="6057900" cy="4191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143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F898201E-55B3-4B70-8B4D-953CD3C750D9}"/>
              </a:ext>
            </a:extLst>
          </p:cNvPr>
          <p:cNvSpPr>
            <a:spLocks noGrp="1"/>
          </p:cNvSpPr>
          <p:nvPr/>
        </p:nvSpPr>
        <p:spPr>
          <a:xfrm>
            <a:off x="1447800" y="1483180"/>
            <a:ext cx="1428750" cy="1714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087B83"/>
                </a:solidFill>
              </a:defRPr>
            </a:pPr>
            <a:r>
              <a:rPr sz="1013" b="1">
                <a:solidFill>
                  <a:srgbClr val="4285F4"/>
                </a:solidFill>
                <a:latin typeface="Reddit Sans"/>
                <a:ea typeface="Reddit Sans"/>
              </a:rPr>
              <a:t>ITSM / CMDB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46FBB9CD-0D24-4B36-BB67-F65BDD529EB6}"/>
              </a:ext>
            </a:extLst>
          </p:cNvPr>
          <p:cNvSpPr>
            <a:spLocks noGrp="1"/>
          </p:cNvSpPr>
          <p:nvPr/>
        </p:nvSpPr>
        <p:spPr>
          <a:xfrm>
            <a:off x="3124200" y="1439637"/>
            <a:ext cx="3984171" cy="285749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ServiceNow, </a:t>
            </a:r>
            <a:r>
              <a:rPr lang="es-ES" sz="900">
                <a:solidFill>
                  <a:srgbClr val="172033"/>
                </a:solidFill>
                <a:latin typeface="Reddit Sans"/>
                <a:ea typeface="Reddit Sans"/>
              </a:rPr>
              <a:t>BMC Helix, Jira</a:t>
            </a: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 SM, ADO, ManageEngine</a:t>
            </a:r>
            <a:r>
              <a:rPr lang="es-ES" sz="900">
                <a:solidFill>
                  <a:srgbClr val="172033"/>
                </a:solidFill>
                <a:latin typeface="Reddit Sans"/>
                <a:ea typeface="Reddit Sans"/>
              </a:rPr>
              <a:t> o herramienta propia de </a:t>
            </a:r>
            <a:r>
              <a:rPr lang="es-ES" sz="900" err="1">
                <a:solidFill>
                  <a:srgbClr val="172033"/>
                </a:solidFill>
                <a:latin typeface="Reddit Sans"/>
                <a:ea typeface="Reddit Sans"/>
              </a:rPr>
              <a:t>PersonalSo</a:t>
            </a:r>
            <a:r>
              <a:rPr lang="es-ES" sz="900">
                <a:solidFill>
                  <a:srgbClr val="172033"/>
                </a:solidFill>
                <a:latin typeface="Reddit Sans"/>
                <a:ea typeface="Reddit Sans"/>
              </a:rPr>
              <a:t>ft</a:t>
            </a:r>
            <a:endParaRPr sz="900" b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9" name="layer">
            <a:extLst>
              <a:ext uri="{FF2B5EF4-FFF2-40B4-BE49-F238E27FC236}">
                <a16:creationId xmlns:a16="http://schemas.microsoft.com/office/drawing/2014/main" id="{26BFFD6D-0A44-4AC4-A766-262D23846206}"/>
              </a:ext>
            </a:extLst>
          </p:cNvPr>
          <p:cNvSpPr>
            <a:spLocks noGrp="1"/>
          </p:cNvSpPr>
          <p:nvPr/>
        </p:nvSpPr>
        <p:spPr>
          <a:xfrm>
            <a:off x="1224643" y="2329544"/>
            <a:ext cx="6057900" cy="4191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143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C8F4A7BE-BEA4-46EA-82AD-493EDB21D41D}"/>
              </a:ext>
            </a:extLst>
          </p:cNvPr>
          <p:cNvSpPr>
            <a:spLocks noGrp="1"/>
          </p:cNvSpPr>
          <p:nvPr/>
        </p:nvSpPr>
        <p:spPr>
          <a:xfrm>
            <a:off x="1447800" y="2422073"/>
            <a:ext cx="1755321" cy="166008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013" b="1">
                <a:solidFill>
                  <a:srgbClr val="7057E9"/>
                </a:solidFill>
              </a:defRPr>
            </a:pPr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</a:rPr>
              <a:t>Gestión del Conocimiento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CE697010-83B8-4D18-BC4D-85D49DAAC087}"/>
              </a:ext>
            </a:extLst>
          </p:cNvPr>
          <p:cNvSpPr>
            <a:spLocks noGrp="1"/>
          </p:cNvSpPr>
          <p:nvPr/>
        </p:nvSpPr>
        <p:spPr>
          <a:xfrm>
            <a:off x="3140529" y="2438401"/>
            <a:ext cx="3777343" cy="258535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KEDB, KCS, Confluence, SharePoint, artículos generados</a:t>
            </a:r>
          </a:p>
        </p:txBody>
      </p:sp>
      <p:sp>
        <p:nvSpPr>
          <p:cNvPr id="12" name="layer">
            <a:extLst>
              <a:ext uri="{FF2B5EF4-FFF2-40B4-BE49-F238E27FC236}">
                <a16:creationId xmlns:a16="http://schemas.microsoft.com/office/drawing/2014/main" id="{8BF0411D-3DEB-4455-A21F-FC69D475C426}"/>
              </a:ext>
            </a:extLst>
          </p:cNvPr>
          <p:cNvSpPr>
            <a:spLocks noGrp="1"/>
          </p:cNvSpPr>
          <p:nvPr/>
        </p:nvSpPr>
        <p:spPr>
          <a:xfrm>
            <a:off x="1224643" y="3241222"/>
            <a:ext cx="6057900" cy="4191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143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D03620C4-45AF-4D52-95EC-0BFF40943DD5}"/>
              </a:ext>
            </a:extLst>
          </p:cNvPr>
          <p:cNvSpPr>
            <a:spLocks noGrp="1"/>
          </p:cNvSpPr>
          <p:nvPr/>
        </p:nvSpPr>
        <p:spPr>
          <a:xfrm>
            <a:off x="1447800" y="3333750"/>
            <a:ext cx="1428750" cy="1714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20835A"/>
                </a:solidFill>
              </a:defRPr>
            </a:pPr>
            <a:r>
              <a:rPr sz="1013" b="1">
                <a:solidFill>
                  <a:srgbClr val="4285F4"/>
                </a:solidFill>
                <a:latin typeface="Reddit Sans"/>
                <a:ea typeface="Reddit Sans"/>
              </a:rPr>
              <a:t>IA / AIOps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69BD8F76-D60B-442D-9E63-D036643AD169}"/>
              </a:ext>
            </a:extLst>
          </p:cNvPr>
          <p:cNvSpPr>
            <a:spLocks noGrp="1"/>
          </p:cNvSpPr>
          <p:nvPr/>
        </p:nvSpPr>
        <p:spPr>
          <a:xfrm>
            <a:off x="3140529" y="3377293"/>
            <a:ext cx="3777343" cy="258535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Agent assist, NLP, observabilidad, correlación y runbooks</a:t>
            </a:r>
          </a:p>
        </p:txBody>
      </p:sp>
      <p:sp>
        <p:nvSpPr>
          <p:cNvPr id="15" name="layer">
            <a:extLst>
              <a:ext uri="{FF2B5EF4-FFF2-40B4-BE49-F238E27FC236}">
                <a16:creationId xmlns:a16="http://schemas.microsoft.com/office/drawing/2014/main" id="{950D358F-F7D6-460D-A2BD-B9DE783BE7B6}"/>
              </a:ext>
            </a:extLst>
          </p:cNvPr>
          <p:cNvSpPr>
            <a:spLocks noGrp="1"/>
          </p:cNvSpPr>
          <p:nvPr/>
        </p:nvSpPr>
        <p:spPr>
          <a:xfrm>
            <a:off x="1224643" y="3706586"/>
            <a:ext cx="6057900" cy="4191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143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A302AD2D-E25D-4A10-98EF-2CFC1129B8AF}"/>
              </a:ext>
            </a:extLst>
          </p:cNvPr>
          <p:cNvSpPr>
            <a:spLocks noGrp="1"/>
          </p:cNvSpPr>
          <p:nvPr/>
        </p:nvSpPr>
        <p:spPr>
          <a:xfrm>
            <a:off x="1447800" y="3810000"/>
            <a:ext cx="1428750" cy="1714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013" b="1">
                <a:solidFill>
                  <a:srgbClr val="D47A00"/>
                </a:solidFill>
              </a:defRPr>
            </a:pPr>
            <a:r>
              <a:rPr lang="es-CO" sz="1000" b="1">
                <a:solidFill>
                  <a:srgbClr val="4285F4"/>
                </a:solidFill>
                <a:latin typeface="Reddit Sans"/>
                <a:ea typeface="Reddit Sans"/>
              </a:rPr>
              <a:t>Gobierno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5ADA952B-A53E-4E8D-BD2E-66B9B2C37131}"/>
              </a:ext>
            </a:extLst>
          </p:cNvPr>
          <p:cNvSpPr>
            <a:spLocks noGrp="1"/>
          </p:cNvSpPr>
          <p:nvPr/>
        </p:nvSpPr>
        <p:spPr>
          <a:xfrm>
            <a:off x="3140529" y="3810000"/>
            <a:ext cx="3777343" cy="253092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Dashboards, SLA/XLA, CSAT, auditoría IA, cumplimiento</a:t>
            </a:r>
          </a:p>
        </p:txBody>
      </p:sp>
      <p:sp>
        <p:nvSpPr>
          <p:cNvPr id="18" name="layer">
            <a:extLst>
              <a:ext uri="{FF2B5EF4-FFF2-40B4-BE49-F238E27FC236}">
                <a16:creationId xmlns:a16="http://schemas.microsoft.com/office/drawing/2014/main" id="{B8C261E1-F43F-4731-B424-1A96046B6A54}"/>
              </a:ext>
            </a:extLst>
          </p:cNvPr>
          <p:cNvSpPr>
            <a:spLocks noGrp="1"/>
          </p:cNvSpPr>
          <p:nvPr/>
        </p:nvSpPr>
        <p:spPr>
          <a:xfrm>
            <a:off x="1224643" y="4166507"/>
            <a:ext cx="6057900" cy="4191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143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E346C4B4-DF1D-4BD3-AFE6-7C0818FC1818}"/>
              </a:ext>
            </a:extLst>
          </p:cNvPr>
          <p:cNvSpPr>
            <a:spLocks noGrp="1"/>
          </p:cNvSpPr>
          <p:nvPr/>
        </p:nvSpPr>
        <p:spPr>
          <a:xfrm>
            <a:off x="1447800" y="4264478"/>
            <a:ext cx="1428750" cy="1714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013" b="1">
                <a:solidFill>
                  <a:srgbClr val="5B667A"/>
                </a:solidFill>
              </a:defRPr>
            </a:pPr>
            <a:r>
              <a:rPr lang="es-CO" sz="1000" b="1">
                <a:solidFill>
                  <a:srgbClr val="4285F4"/>
                </a:solidFill>
                <a:latin typeface="Reddit Sans"/>
                <a:ea typeface="Reddit Sans"/>
              </a:rPr>
              <a:t>Seguridad</a:t>
            </a:r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5940D614-BA13-44F4-9ED4-A5C358C8EB51}"/>
              </a:ext>
            </a:extLst>
          </p:cNvPr>
          <p:cNvSpPr>
            <a:spLocks noGrp="1"/>
          </p:cNvSpPr>
          <p:nvPr/>
        </p:nvSpPr>
        <p:spPr>
          <a:xfrm>
            <a:off x="3140529" y="4264478"/>
            <a:ext cx="3777343" cy="258535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SSO/IAM, VPN, cifrado, backup, ISO 27001 / ISO 42001</a:t>
            </a:r>
          </a:p>
        </p:txBody>
      </p:sp>
      <p:sp>
        <p:nvSpPr>
          <p:cNvPr id="32" name="layer">
            <a:extLst>
              <a:ext uri="{FF2B5EF4-FFF2-40B4-BE49-F238E27FC236}">
                <a16:creationId xmlns:a16="http://schemas.microsoft.com/office/drawing/2014/main" id="{5F424765-A3B7-75EB-CC8E-257F0966A113}"/>
              </a:ext>
            </a:extLst>
          </p:cNvPr>
          <p:cNvSpPr>
            <a:spLocks noGrp="1"/>
          </p:cNvSpPr>
          <p:nvPr/>
        </p:nvSpPr>
        <p:spPr>
          <a:xfrm>
            <a:off x="1224643" y="2781300"/>
            <a:ext cx="6057900" cy="4191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143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3" name="text">
            <a:extLst>
              <a:ext uri="{FF2B5EF4-FFF2-40B4-BE49-F238E27FC236}">
                <a16:creationId xmlns:a16="http://schemas.microsoft.com/office/drawing/2014/main" id="{80BE3AE4-31DB-C001-E9DB-39E1AC31B079}"/>
              </a:ext>
            </a:extLst>
          </p:cNvPr>
          <p:cNvSpPr>
            <a:spLocks noGrp="1"/>
          </p:cNvSpPr>
          <p:nvPr/>
        </p:nvSpPr>
        <p:spPr>
          <a:xfrm>
            <a:off x="1447800" y="2879272"/>
            <a:ext cx="1755321" cy="166008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013" b="1">
                <a:solidFill>
                  <a:srgbClr val="7057E9"/>
                </a:solidFill>
              </a:defRPr>
            </a:pPr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</a:rPr>
              <a:t>Plan Carrera</a:t>
            </a:r>
            <a:endParaRPr lang="es-ES">
              <a:solidFill>
                <a:srgbClr val="4285F4"/>
              </a:solidFill>
            </a:endParaRPr>
          </a:p>
        </p:txBody>
      </p:sp>
      <p:sp>
        <p:nvSpPr>
          <p:cNvPr id="34" name="text">
            <a:extLst>
              <a:ext uri="{FF2B5EF4-FFF2-40B4-BE49-F238E27FC236}">
                <a16:creationId xmlns:a16="http://schemas.microsoft.com/office/drawing/2014/main" id="{2E4D44B1-35E5-C0F3-2257-0E34041856DA}"/>
              </a:ext>
            </a:extLst>
          </p:cNvPr>
          <p:cNvSpPr>
            <a:spLocks noGrp="1"/>
          </p:cNvSpPr>
          <p:nvPr/>
        </p:nvSpPr>
        <p:spPr>
          <a:xfrm>
            <a:off x="3124200" y="2879271"/>
            <a:ext cx="3777343" cy="253092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900" b="0">
                <a:solidFill>
                  <a:srgbClr val="172033"/>
                </a:solidFill>
              </a:defRPr>
            </a:pPr>
            <a:r>
              <a:rPr lang="es-ES" sz="900">
                <a:solidFill>
                  <a:srgbClr val="172033"/>
                </a:solidFill>
                <a:latin typeface="Reddit Sans"/>
                <a:ea typeface="Reddit Sans"/>
              </a:rPr>
              <a:t>Promoción del equipo de soporte por etapas</a:t>
            </a:r>
            <a:endParaRPr lang="es-ES">
              <a:latin typeface="Reddit Sans"/>
              <a:ea typeface="Reddit Sans"/>
            </a:endParaRP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32E5C657-E540-6D8F-9642-BBA1B17C7850}"/>
              </a:ext>
            </a:extLst>
          </p:cNvPr>
          <p:cNvSpPr txBox="1"/>
          <p:nvPr/>
        </p:nvSpPr>
        <p:spPr>
          <a:xfrm>
            <a:off x="-1384763" y="2186636"/>
            <a:ext cx="1066802" cy="203132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 err="1"/>
              <a:t>Formacion</a:t>
            </a:r>
            <a:r>
              <a:rPr lang="es-ES" sz="700"/>
              <a:t> y </a:t>
            </a:r>
            <a:r>
              <a:rPr lang="es-ES" sz="700" err="1"/>
              <a:t>capacitacion</a:t>
            </a:r>
            <a:r>
              <a:rPr lang="es-ES" sz="700"/>
              <a:t>. </a:t>
            </a:r>
            <a:endParaRPr lang="es-ES" sz="700">
              <a:cs typeface="Arial"/>
            </a:endParaRPr>
          </a:p>
          <a:p>
            <a:r>
              <a:rPr lang="es-ES" sz="700" err="1">
                <a:cs typeface="Arial"/>
              </a:rPr>
              <a:t>Gestion</a:t>
            </a:r>
            <a:r>
              <a:rPr lang="es-ES" sz="700">
                <a:cs typeface="Arial"/>
              </a:rPr>
              <a:t> del conocimiento.</a:t>
            </a:r>
          </a:p>
          <a:p>
            <a:endParaRPr lang="es-ES" sz="700">
              <a:cs typeface="Arial"/>
            </a:endParaRPr>
          </a:p>
          <a:p>
            <a:r>
              <a:rPr lang="es-ES" sz="700" err="1">
                <a:cs typeface="Arial"/>
              </a:rPr>
              <a:t>Disminu</a:t>
            </a:r>
            <a:r>
              <a:rPr lang="es-ES" sz="700">
                <a:cs typeface="Arial"/>
              </a:rPr>
              <a:t>yendo el # de casos, x pareo. Estandarizar (</a:t>
            </a:r>
            <a:r>
              <a:rPr lang="es-ES" sz="700" err="1">
                <a:cs typeface="Arial"/>
              </a:rPr>
              <a:t>analis</a:t>
            </a:r>
            <a:r>
              <a:rPr lang="es-ES" sz="700">
                <a:cs typeface="Arial"/>
              </a:rPr>
              <a:t> de causa </a:t>
            </a:r>
            <a:r>
              <a:rPr lang="es-ES" sz="700" err="1">
                <a:cs typeface="Arial"/>
              </a:rPr>
              <a:t>raiz</a:t>
            </a:r>
            <a:r>
              <a:rPr lang="es-ES" sz="700">
                <a:cs typeface="Arial"/>
              </a:rPr>
              <a:t>). Para </a:t>
            </a:r>
            <a:r>
              <a:rPr lang="es-ES" sz="700" err="1">
                <a:cs typeface="Arial"/>
              </a:rPr>
              <a:t>disminu</a:t>
            </a:r>
            <a:r>
              <a:rPr lang="es-ES" sz="700">
                <a:cs typeface="Arial"/>
              </a:rPr>
              <a:t>ir el volumen de tickets. </a:t>
            </a:r>
          </a:p>
          <a:p>
            <a:endParaRPr lang="es-ES" sz="700">
              <a:cs typeface="Arial"/>
            </a:endParaRPr>
          </a:p>
          <a:p>
            <a:r>
              <a:rPr lang="es-ES" sz="700" err="1">
                <a:cs typeface="Arial"/>
              </a:rPr>
              <a:t>Gobieron</a:t>
            </a:r>
            <a:r>
              <a:rPr lang="es-ES" sz="700">
                <a:cs typeface="Arial"/>
              </a:rPr>
              <a:t> de la mesa. (1 persona por mesa, no varias (caso de </a:t>
            </a:r>
            <a:r>
              <a:rPr lang="es-ES" sz="700" err="1">
                <a:cs typeface="Arial"/>
              </a:rPr>
              <a:t>virigiania</a:t>
            </a:r>
            <a:r>
              <a:rPr lang="es-ES" sz="700">
                <a:cs typeface="Arial"/>
              </a:rPr>
              <a:t>, que una persona tienen varias mesas de servicio.)</a:t>
            </a:r>
          </a:p>
        </p:txBody>
      </p:sp>
      <p:sp>
        <p:nvSpPr>
          <p:cNvPr id="37" name="layer">
            <a:extLst>
              <a:ext uri="{FF2B5EF4-FFF2-40B4-BE49-F238E27FC236}">
                <a16:creationId xmlns:a16="http://schemas.microsoft.com/office/drawing/2014/main" id="{8B902749-85FD-7ABB-B6E0-4E7E0E00F557}"/>
              </a:ext>
            </a:extLst>
          </p:cNvPr>
          <p:cNvSpPr>
            <a:spLocks noGrp="1"/>
          </p:cNvSpPr>
          <p:nvPr/>
        </p:nvSpPr>
        <p:spPr>
          <a:xfrm>
            <a:off x="1224643" y="1869623"/>
            <a:ext cx="6057900" cy="4191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143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text">
            <a:extLst>
              <a:ext uri="{FF2B5EF4-FFF2-40B4-BE49-F238E27FC236}">
                <a16:creationId xmlns:a16="http://schemas.microsoft.com/office/drawing/2014/main" id="{0269905F-E1D3-7332-0256-19DCFB31895E}"/>
              </a:ext>
            </a:extLst>
          </p:cNvPr>
          <p:cNvSpPr>
            <a:spLocks noGrp="1"/>
          </p:cNvSpPr>
          <p:nvPr/>
        </p:nvSpPr>
        <p:spPr>
          <a:xfrm>
            <a:off x="1447800" y="1973037"/>
            <a:ext cx="2370365" cy="204107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013" b="1">
                <a:solidFill>
                  <a:srgbClr val="087B83"/>
                </a:solidFill>
              </a:defRPr>
            </a:pPr>
            <a:r>
              <a:rPr lang="es-ES" sz="1000" b="1">
                <a:solidFill>
                  <a:srgbClr val="4285F4"/>
                </a:solidFill>
                <a:latin typeface="Reddit Sans"/>
                <a:ea typeface="Reddit Sans"/>
              </a:rPr>
              <a:t>Framework de Automatizaciones</a:t>
            </a:r>
            <a:endParaRPr lang="es-ES" err="1">
              <a:solidFill>
                <a:srgbClr val="4285F4"/>
              </a:solidFill>
            </a:endParaRPr>
          </a:p>
        </p:txBody>
      </p:sp>
      <p:sp>
        <p:nvSpPr>
          <p:cNvPr id="39" name="text">
            <a:extLst>
              <a:ext uri="{FF2B5EF4-FFF2-40B4-BE49-F238E27FC236}">
                <a16:creationId xmlns:a16="http://schemas.microsoft.com/office/drawing/2014/main" id="{18378113-F2A3-8E42-2E64-80BA4CB7738D}"/>
              </a:ext>
            </a:extLst>
          </p:cNvPr>
          <p:cNvSpPr>
            <a:spLocks noGrp="1"/>
          </p:cNvSpPr>
          <p:nvPr/>
        </p:nvSpPr>
        <p:spPr>
          <a:xfrm>
            <a:off x="3467100" y="1973037"/>
            <a:ext cx="3777343" cy="253092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900" b="0">
                <a:solidFill>
                  <a:srgbClr val="172033"/>
                </a:solidFill>
              </a:defRPr>
            </a:pPr>
            <a:r>
              <a:rPr lang="es-ES" sz="900">
                <a:solidFill>
                  <a:srgbClr val="172033"/>
                </a:solidFill>
                <a:latin typeface="Reddit Sans"/>
                <a:ea typeface="Reddit Sans"/>
              </a:rPr>
              <a:t>Para las mesas de soporte Nivel 2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36844F-A555-6B31-9B61-001473605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CO"/>
              <a:t>Mesa de Servicio de Nueva Generación</a:t>
            </a:r>
            <a:br>
              <a:rPr lang="es-CO"/>
            </a:br>
            <a:r>
              <a:rPr lang="es-ES" b="0"/>
              <a:t>Modelos de Precio: De FTE a </a:t>
            </a:r>
            <a:r>
              <a:rPr lang="es-ES" b="0" err="1"/>
              <a:t>Outcomes</a:t>
            </a:r>
            <a:r>
              <a:rPr lang="es-ES" b="0"/>
              <a:t> </a:t>
            </a:r>
            <a:endParaRPr lang="es-CO" b="0">
              <a:solidFill>
                <a:srgbClr val="000000"/>
              </a:solidFill>
            </a:endParaRPr>
          </a:p>
          <a:p>
            <a:pPr defTabSz="685800" fontAlgn="ctr">
              <a:lnSpc>
                <a:spcPts val="1406"/>
              </a:lnSpc>
              <a:buClr>
                <a:srgbClr val="000000"/>
              </a:buClr>
              <a:buFont typeface="Arial"/>
              <a:defRPr sz="1050" b="0">
                <a:solidFill>
                  <a:srgbClr val="9AAEE0"/>
                </a:solidFill>
              </a:defRPr>
            </a:pPr>
            <a:endParaRPr lang="es-CO" sz="1100" b="0" spc="-25">
              <a:solidFill>
                <a:srgbClr val="000000">
                  <a:alpha val="55000"/>
                </a:srgbClr>
              </a:solidFill>
              <a:cs typeface="+mn-cs"/>
              <a:sym typeface="Arial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147F5800-07BA-9795-E2BC-5921D7FB5CCE}"/>
              </a:ext>
            </a:extLst>
          </p:cNvPr>
          <p:cNvSpPr/>
          <p:nvPr/>
        </p:nvSpPr>
        <p:spPr>
          <a:xfrm>
            <a:off x="341811" y="701040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s-CO"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Diagrama</a:t>
            </a:r>
            <a:r>
              <a:rPr lang="en-US"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de alto </a:t>
            </a:r>
            <a:r>
              <a:rPr lang="es-CO"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nivel</a:t>
            </a:r>
          </a:p>
        </p:txBody>
      </p:sp>
      <p:sp>
        <p:nvSpPr>
          <p:cNvPr id="7" name="mhdr">
            <a:extLst>
              <a:ext uri="{FF2B5EF4-FFF2-40B4-BE49-F238E27FC236}">
                <a16:creationId xmlns:a16="http://schemas.microsoft.com/office/drawing/2014/main" id="{11FFC374-B16F-59FB-6D34-D1C4371D0054}"/>
              </a:ext>
            </a:extLst>
          </p:cNvPr>
          <p:cNvSpPr>
            <a:spLocks noGrp="1"/>
          </p:cNvSpPr>
          <p:nvPr/>
        </p:nvSpPr>
        <p:spPr>
          <a:xfrm>
            <a:off x="390797" y="1082040"/>
            <a:ext cx="7635240" cy="256032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9" name="mhdrtxt">
            <a:extLst>
              <a:ext uri="{FF2B5EF4-FFF2-40B4-BE49-F238E27FC236}">
                <a16:creationId xmlns:a16="http://schemas.microsoft.com/office/drawing/2014/main" id="{E8B306E9-A6BA-2DB8-93C3-5AEF32FBBDF6}"/>
              </a:ext>
            </a:extLst>
          </p:cNvPr>
          <p:cNvSpPr txBox="1">
            <a:spLocks noGrp="1"/>
          </p:cNvSpPr>
          <p:nvPr/>
        </p:nvSpPr>
        <p:spPr>
          <a:xfrm>
            <a:off x="483326" y="1076597"/>
            <a:ext cx="7646124" cy="29957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SERVICIO BASE — MESA NEXT GEN (N0 → N3)</a:t>
            </a:r>
          </a:p>
        </p:txBody>
      </p:sp>
      <p:sp>
        <p:nvSpPr>
          <p:cNvPr id="11" name="sbg">
            <a:extLst>
              <a:ext uri="{FF2B5EF4-FFF2-40B4-BE49-F238E27FC236}">
                <a16:creationId xmlns:a16="http://schemas.microsoft.com/office/drawing/2014/main" id="{C44DD99C-240B-1B08-F9CE-4E32BEBE6592}"/>
              </a:ext>
            </a:extLst>
          </p:cNvPr>
          <p:cNvSpPr>
            <a:spLocks noGrp="1"/>
          </p:cNvSpPr>
          <p:nvPr/>
        </p:nvSpPr>
        <p:spPr>
          <a:xfrm>
            <a:off x="390797" y="14020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19050">
            <a:solidFill>
              <a:srgbClr val="0D1B5E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3" name="shdr">
            <a:extLst>
              <a:ext uri="{FF2B5EF4-FFF2-40B4-BE49-F238E27FC236}">
                <a16:creationId xmlns:a16="http://schemas.microsoft.com/office/drawing/2014/main" id="{AE5B32E0-E760-2378-4666-12655DE5EE3F}"/>
              </a:ext>
            </a:extLst>
          </p:cNvPr>
          <p:cNvSpPr>
            <a:spLocks noGrp="1"/>
          </p:cNvSpPr>
          <p:nvPr/>
        </p:nvSpPr>
        <p:spPr>
          <a:xfrm>
            <a:off x="390797" y="1402080"/>
            <a:ext cx="1828800" cy="329184"/>
          </a:xfrm>
          <a:prstGeom prst="roundRect">
            <a:avLst>
              <a:gd name="adj" fmla="val 12000"/>
            </a:avLst>
          </a:prstGeom>
          <a:solidFill>
            <a:srgbClr val="0D1B5E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5" name="shdr2">
            <a:extLst>
              <a:ext uri="{FF2B5EF4-FFF2-40B4-BE49-F238E27FC236}">
                <a16:creationId xmlns:a16="http://schemas.microsoft.com/office/drawing/2014/main" id="{2CECBD38-CACE-5FCE-38F2-7C53AF17EBFB}"/>
              </a:ext>
            </a:extLst>
          </p:cNvPr>
          <p:cNvSpPr>
            <a:spLocks noGrp="1"/>
          </p:cNvSpPr>
          <p:nvPr/>
        </p:nvSpPr>
        <p:spPr>
          <a:xfrm>
            <a:off x="390797" y="1603248"/>
            <a:ext cx="1828800" cy="128016"/>
          </a:xfrm>
          <a:prstGeom prst="rect">
            <a:avLst/>
          </a:prstGeom>
          <a:solidFill>
            <a:srgbClr val="0D1B5E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7" name="stit">
            <a:extLst>
              <a:ext uri="{FF2B5EF4-FFF2-40B4-BE49-F238E27FC236}">
                <a16:creationId xmlns:a16="http://schemas.microsoft.com/office/drawing/2014/main" id="{49D105DC-5C38-76CC-4C0F-0D5858B68B0D}"/>
              </a:ext>
            </a:extLst>
          </p:cNvPr>
          <p:cNvSpPr txBox="1">
            <a:spLocks noGrp="1"/>
          </p:cNvSpPr>
          <p:nvPr/>
        </p:nvSpPr>
        <p:spPr>
          <a:xfrm>
            <a:off x="390797" y="143865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fontScale="62500" lnSpcReduction="20000"/>
          </a:bodyPr>
          <a:lstStyle/>
          <a:p>
            <a:pPr algn="ctr"/>
            <a:r>
              <a:rPr lang="es-ES" sz="980" b="1">
                <a:solidFill>
                  <a:srgbClr val="FFFFFF"/>
                </a:solidFill>
                <a:latin typeface="Reddit Sans"/>
                <a:ea typeface="Reddit Sans"/>
              </a:rPr>
              <a:t>Equipo
Dedicado</a:t>
            </a:r>
          </a:p>
        </p:txBody>
      </p:sp>
      <p:sp>
        <p:nvSpPr>
          <p:cNvPr id="19" name="sdesc">
            <a:extLst>
              <a:ext uri="{FF2B5EF4-FFF2-40B4-BE49-F238E27FC236}">
                <a16:creationId xmlns:a16="http://schemas.microsoft.com/office/drawing/2014/main" id="{28BDE801-04BB-5BFF-836A-6523F051F930}"/>
              </a:ext>
            </a:extLst>
          </p:cNvPr>
          <p:cNvSpPr txBox="1">
            <a:spLocks noGrp="1"/>
          </p:cNvSpPr>
          <p:nvPr/>
        </p:nvSpPr>
        <p:spPr>
          <a:xfrm>
            <a:off x="482237" y="178612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fontScale="92500"/>
          </a:bodyPr>
          <a:lstStyle/>
          <a:p>
            <a:pPr algn="l"/>
            <a:r>
              <a:rPr lang="es-ES" sz="850">
                <a:solidFill>
                  <a:srgbClr val="0D1B5E"/>
                </a:solidFill>
                <a:latin typeface="Reddit Sans"/>
                <a:ea typeface="Reddit Sans"/>
              </a:rPr>
              <a:t>FTE asignado · Alta personalización · SLA exclusivo</a:t>
            </a:r>
          </a:p>
        </p:txBody>
      </p:sp>
      <p:sp>
        <p:nvSpPr>
          <p:cNvPr id="21" name="sbg">
            <a:extLst>
              <a:ext uri="{FF2B5EF4-FFF2-40B4-BE49-F238E27FC236}">
                <a16:creationId xmlns:a16="http://schemas.microsoft.com/office/drawing/2014/main" id="{9CA6DAA6-8B0C-C124-D8EA-7328366DCE04}"/>
              </a:ext>
            </a:extLst>
          </p:cNvPr>
          <p:cNvSpPr>
            <a:spLocks noGrp="1"/>
          </p:cNvSpPr>
          <p:nvPr/>
        </p:nvSpPr>
        <p:spPr>
          <a:xfrm>
            <a:off x="2329325" y="14020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19050">
            <a:solidFill>
              <a:srgbClr val="1A3A8F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23" name="shdr">
            <a:extLst>
              <a:ext uri="{FF2B5EF4-FFF2-40B4-BE49-F238E27FC236}">
                <a16:creationId xmlns:a16="http://schemas.microsoft.com/office/drawing/2014/main" id="{54F719CD-A4DF-D419-B236-37B6CE8914EC}"/>
              </a:ext>
            </a:extLst>
          </p:cNvPr>
          <p:cNvSpPr>
            <a:spLocks noGrp="1"/>
          </p:cNvSpPr>
          <p:nvPr/>
        </p:nvSpPr>
        <p:spPr>
          <a:xfrm>
            <a:off x="2329325" y="1402080"/>
            <a:ext cx="1828800" cy="329184"/>
          </a:xfrm>
          <a:prstGeom prst="roundRect">
            <a:avLst>
              <a:gd name="adj" fmla="val 12000"/>
            </a:avLst>
          </a:prstGeom>
          <a:solidFill>
            <a:srgbClr val="1A3A8F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25" name="shdr2">
            <a:extLst>
              <a:ext uri="{FF2B5EF4-FFF2-40B4-BE49-F238E27FC236}">
                <a16:creationId xmlns:a16="http://schemas.microsoft.com/office/drawing/2014/main" id="{BC159D2D-CFA0-E144-AAF8-0161088D0F34}"/>
              </a:ext>
            </a:extLst>
          </p:cNvPr>
          <p:cNvSpPr>
            <a:spLocks noGrp="1"/>
          </p:cNvSpPr>
          <p:nvPr/>
        </p:nvSpPr>
        <p:spPr>
          <a:xfrm>
            <a:off x="2329325" y="1603248"/>
            <a:ext cx="1828800" cy="128016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27" name="stit">
            <a:extLst>
              <a:ext uri="{FF2B5EF4-FFF2-40B4-BE49-F238E27FC236}">
                <a16:creationId xmlns:a16="http://schemas.microsoft.com/office/drawing/2014/main" id="{E59CA6A9-BE15-A199-802E-0AF021417E97}"/>
              </a:ext>
            </a:extLst>
          </p:cNvPr>
          <p:cNvSpPr txBox="1">
            <a:spLocks noGrp="1"/>
          </p:cNvSpPr>
          <p:nvPr/>
        </p:nvSpPr>
        <p:spPr>
          <a:xfrm>
            <a:off x="2329325" y="143865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fontScale="62500" lnSpcReduction="20000"/>
          </a:bodyPr>
          <a:lstStyle/>
          <a:p>
            <a:pPr algn="ctr"/>
            <a:r>
              <a:rPr lang="es-ES" sz="980" b="1">
                <a:solidFill>
                  <a:srgbClr val="FFFFFF"/>
                </a:solidFill>
                <a:latin typeface="Reddit Sans"/>
                <a:ea typeface="Reddit Sans"/>
              </a:rPr>
              <a:t>Soporte
Compartido</a:t>
            </a:r>
          </a:p>
        </p:txBody>
      </p:sp>
      <p:sp>
        <p:nvSpPr>
          <p:cNvPr id="29" name="sdesc">
            <a:extLst>
              <a:ext uri="{FF2B5EF4-FFF2-40B4-BE49-F238E27FC236}">
                <a16:creationId xmlns:a16="http://schemas.microsoft.com/office/drawing/2014/main" id="{1491757A-584A-A238-1186-CDF1B734CE39}"/>
              </a:ext>
            </a:extLst>
          </p:cNvPr>
          <p:cNvSpPr txBox="1">
            <a:spLocks noGrp="1"/>
          </p:cNvSpPr>
          <p:nvPr/>
        </p:nvSpPr>
        <p:spPr>
          <a:xfrm>
            <a:off x="2420765" y="178612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50">
                <a:solidFill>
                  <a:srgbClr val="1A3A8F"/>
                </a:solidFill>
                <a:latin typeface="Reddit Sans"/>
                <a:ea typeface="Reddit Sans"/>
              </a:rPr>
              <a:t>Pool de talento · Eficiencia de costo · SLA compartido</a:t>
            </a:r>
          </a:p>
        </p:txBody>
      </p:sp>
      <p:sp>
        <p:nvSpPr>
          <p:cNvPr id="31" name="sbg">
            <a:extLst>
              <a:ext uri="{FF2B5EF4-FFF2-40B4-BE49-F238E27FC236}">
                <a16:creationId xmlns:a16="http://schemas.microsoft.com/office/drawing/2014/main" id="{C4BA225E-1A22-C02C-DE7D-3421B34E5A15}"/>
              </a:ext>
            </a:extLst>
          </p:cNvPr>
          <p:cNvSpPr>
            <a:spLocks noGrp="1"/>
          </p:cNvSpPr>
          <p:nvPr/>
        </p:nvSpPr>
        <p:spPr>
          <a:xfrm>
            <a:off x="4267853" y="14020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19050">
            <a:solidFill>
              <a:srgbClr val="1B7B85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33" name="shdr">
            <a:extLst>
              <a:ext uri="{FF2B5EF4-FFF2-40B4-BE49-F238E27FC236}">
                <a16:creationId xmlns:a16="http://schemas.microsoft.com/office/drawing/2014/main" id="{07BDBE75-C4AC-E170-302A-554E6CB70632}"/>
              </a:ext>
            </a:extLst>
          </p:cNvPr>
          <p:cNvSpPr>
            <a:spLocks noGrp="1"/>
          </p:cNvSpPr>
          <p:nvPr/>
        </p:nvSpPr>
        <p:spPr>
          <a:xfrm>
            <a:off x="4267853" y="1402080"/>
            <a:ext cx="1828800" cy="329184"/>
          </a:xfrm>
          <a:prstGeom prst="roundRect">
            <a:avLst>
              <a:gd name="adj" fmla="val 12000"/>
            </a:avLst>
          </a:prstGeom>
          <a:solidFill>
            <a:srgbClr val="1B7B85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35" name="shdr2">
            <a:extLst>
              <a:ext uri="{FF2B5EF4-FFF2-40B4-BE49-F238E27FC236}">
                <a16:creationId xmlns:a16="http://schemas.microsoft.com/office/drawing/2014/main" id="{4878AC91-4738-A86E-2078-62334CA94310}"/>
              </a:ext>
            </a:extLst>
          </p:cNvPr>
          <p:cNvSpPr>
            <a:spLocks noGrp="1"/>
          </p:cNvSpPr>
          <p:nvPr/>
        </p:nvSpPr>
        <p:spPr>
          <a:xfrm>
            <a:off x="4267853" y="1603248"/>
            <a:ext cx="1828800" cy="128016"/>
          </a:xfrm>
          <a:prstGeom prst="rect">
            <a:avLst/>
          </a:prstGeom>
          <a:solidFill>
            <a:srgbClr val="1B7B85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37" name="stit">
            <a:extLst>
              <a:ext uri="{FF2B5EF4-FFF2-40B4-BE49-F238E27FC236}">
                <a16:creationId xmlns:a16="http://schemas.microsoft.com/office/drawing/2014/main" id="{DAA1AAFA-7AF2-47E9-8E25-D725E4738EB9}"/>
              </a:ext>
            </a:extLst>
          </p:cNvPr>
          <p:cNvSpPr txBox="1">
            <a:spLocks noGrp="1"/>
          </p:cNvSpPr>
          <p:nvPr/>
        </p:nvSpPr>
        <p:spPr>
          <a:xfrm>
            <a:off x="4267853" y="143865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fontScale="62500" lnSpcReduction="20000"/>
          </a:bodyPr>
          <a:lstStyle/>
          <a:p>
            <a:pPr algn="ctr"/>
            <a:r>
              <a:rPr lang="es-ES" sz="980" b="1">
                <a:solidFill>
                  <a:srgbClr val="FFFFFF"/>
                </a:solidFill>
                <a:latin typeface="Reddit Sans"/>
                <a:ea typeface="Reddit Sans"/>
              </a:rPr>
              <a:t>Express
Alfa</a:t>
            </a:r>
          </a:p>
        </p:txBody>
      </p:sp>
      <p:sp>
        <p:nvSpPr>
          <p:cNvPr id="39" name="sdesc">
            <a:extLst>
              <a:ext uri="{FF2B5EF4-FFF2-40B4-BE49-F238E27FC236}">
                <a16:creationId xmlns:a16="http://schemas.microsoft.com/office/drawing/2014/main" id="{652DDA70-568E-CC80-87A1-30765CB9F851}"/>
              </a:ext>
            </a:extLst>
          </p:cNvPr>
          <p:cNvSpPr txBox="1">
            <a:spLocks noGrp="1"/>
          </p:cNvSpPr>
          <p:nvPr/>
        </p:nvSpPr>
        <p:spPr>
          <a:xfrm>
            <a:off x="4359293" y="178612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50">
                <a:solidFill>
                  <a:srgbClr val="1B7B85"/>
                </a:solidFill>
                <a:latin typeface="Reddit Sans"/>
                <a:ea typeface="Reddit Sans"/>
              </a:rPr>
              <a:t>Requerimientos simples · Pay-per-use · Onboarding rápido</a:t>
            </a:r>
          </a:p>
        </p:txBody>
      </p:sp>
      <p:sp>
        <p:nvSpPr>
          <p:cNvPr id="41" name="sbg">
            <a:extLst>
              <a:ext uri="{FF2B5EF4-FFF2-40B4-BE49-F238E27FC236}">
                <a16:creationId xmlns:a16="http://schemas.microsoft.com/office/drawing/2014/main" id="{BE437EB3-9E25-2FF6-9180-360B01D01B67}"/>
              </a:ext>
            </a:extLst>
          </p:cNvPr>
          <p:cNvSpPr>
            <a:spLocks noGrp="1"/>
          </p:cNvSpPr>
          <p:nvPr/>
        </p:nvSpPr>
        <p:spPr>
          <a:xfrm>
            <a:off x="6206381" y="14020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19050">
            <a:solidFill>
              <a:srgbClr val="1F6FBA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43" name="shdr">
            <a:extLst>
              <a:ext uri="{FF2B5EF4-FFF2-40B4-BE49-F238E27FC236}">
                <a16:creationId xmlns:a16="http://schemas.microsoft.com/office/drawing/2014/main" id="{962B9A80-BE13-9A56-6893-9E8A3D0A2148}"/>
              </a:ext>
            </a:extLst>
          </p:cNvPr>
          <p:cNvSpPr>
            <a:spLocks noGrp="1"/>
          </p:cNvSpPr>
          <p:nvPr/>
        </p:nvSpPr>
        <p:spPr>
          <a:xfrm>
            <a:off x="6206381" y="1402080"/>
            <a:ext cx="1828800" cy="329184"/>
          </a:xfrm>
          <a:prstGeom prst="roundRect">
            <a:avLst>
              <a:gd name="adj" fmla="val 12000"/>
            </a:avLst>
          </a:prstGeom>
          <a:solidFill>
            <a:srgbClr val="1F6FBA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45" name="shdr2">
            <a:extLst>
              <a:ext uri="{FF2B5EF4-FFF2-40B4-BE49-F238E27FC236}">
                <a16:creationId xmlns:a16="http://schemas.microsoft.com/office/drawing/2014/main" id="{B895B166-10F9-1DE0-4412-D55A95B644AA}"/>
              </a:ext>
            </a:extLst>
          </p:cNvPr>
          <p:cNvSpPr>
            <a:spLocks noGrp="1"/>
          </p:cNvSpPr>
          <p:nvPr/>
        </p:nvSpPr>
        <p:spPr>
          <a:xfrm>
            <a:off x="6206381" y="1603248"/>
            <a:ext cx="1828800" cy="128016"/>
          </a:xfrm>
          <a:prstGeom prst="rect">
            <a:avLst/>
          </a:prstGeom>
          <a:solidFill>
            <a:srgbClr val="1F6FBA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47" name="stit">
            <a:extLst>
              <a:ext uri="{FF2B5EF4-FFF2-40B4-BE49-F238E27FC236}">
                <a16:creationId xmlns:a16="http://schemas.microsoft.com/office/drawing/2014/main" id="{87F21207-F57A-5468-82A3-9C6BCFC74050}"/>
              </a:ext>
            </a:extLst>
          </p:cNvPr>
          <p:cNvSpPr txBox="1">
            <a:spLocks noGrp="1"/>
          </p:cNvSpPr>
          <p:nvPr/>
        </p:nvSpPr>
        <p:spPr>
          <a:xfrm>
            <a:off x="6206381" y="143865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 fontScale="62500" lnSpcReduction="20000"/>
          </a:bodyPr>
          <a:lstStyle/>
          <a:p>
            <a:pPr algn="ctr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Full
Next Gen</a:t>
            </a:r>
          </a:p>
        </p:txBody>
      </p:sp>
      <p:sp>
        <p:nvSpPr>
          <p:cNvPr id="49" name="sdesc">
            <a:extLst>
              <a:ext uri="{FF2B5EF4-FFF2-40B4-BE49-F238E27FC236}">
                <a16:creationId xmlns:a16="http://schemas.microsoft.com/office/drawing/2014/main" id="{EB3D0BBD-4C9C-3634-B269-2CB6FD54AA5B}"/>
              </a:ext>
            </a:extLst>
          </p:cNvPr>
          <p:cNvSpPr txBox="1">
            <a:spLocks noGrp="1"/>
          </p:cNvSpPr>
          <p:nvPr/>
        </p:nvSpPr>
        <p:spPr>
          <a:xfrm>
            <a:off x="6297821" y="178612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fontScale="92500"/>
          </a:bodyPr>
          <a:lstStyle/>
          <a:p>
            <a:pPr algn="l"/>
            <a:r>
              <a:rPr lang="es-ES" sz="850">
                <a:solidFill>
                  <a:srgbClr val="1F6FBA"/>
                </a:solidFill>
                <a:latin typeface="Reddit Sans"/>
                <a:ea typeface="Reddit Sans"/>
              </a:rPr>
              <a:t>N0+N1+N2+N3+IA · AIOps · KCS · Outcome-based · Premium</a:t>
            </a:r>
          </a:p>
        </p:txBody>
      </p:sp>
      <p:sp>
        <p:nvSpPr>
          <p:cNvPr id="51" name="chdr">
            <a:extLst>
              <a:ext uri="{FF2B5EF4-FFF2-40B4-BE49-F238E27FC236}">
                <a16:creationId xmlns:a16="http://schemas.microsoft.com/office/drawing/2014/main" id="{5091B0D8-ED97-13D1-E770-C5FA2A1C2B55}"/>
              </a:ext>
            </a:extLst>
          </p:cNvPr>
          <p:cNvSpPr>
            <a:spLocks noGrp="1"/>
          </p:cNvSpPr>
          <p:nvPr/>
        </p:nvSpPr>
        <p:spPr>
          <a:xfrm>
            <a:off x="390797" y="2334768"/>
            <a:ext cx="7635240" cy="256032"/>
          </a:xfrm>
          <a:prstGeom prst="rect">
            <a:avLst/>
          </a:prstGeom>
          <a:solidFill>
            <a:srgbClr val="1B7B85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53" name="chtxt">
            <a:extLst>
              <a:ext uri="{FF2B5EF4-FFF2-40B4-BE49-F238E27FC236}">
                <a16:creationId xmlns:a16="http://schemas.microsoft.com/office/drawing/2014/main" id="{07489D35-C59A-C742-13E9-25ABA3A50B3C}"/>
              </a:ext>
            </a:extLst>
          </p:cNvPr>
          <p:cNvSpPr txBox="1">
            <a:spLocks noGrp="1"/>
          </p:cNvSpPr>
          <p:nvPr/>
        </p:nvSpPr>
        <p:spPr>
          <a:xfrm>
            <a:off x="543197" y="2334768"/>
            <a:ext cx="763524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PORTAFOLIO COMPLEMENTARIO — Servicios adicionales que aceleran la madurez</a:t>
            </a:r>
          </a:p>
        </p:txBody>
      </p:sp>
      <p:sp>
        <p:nvSpPr>
          <p:cNvPr id="55" name="cbg">
            <a:extLst>
              <a:ext uri="{FF2B5EF4-FFF2-40B4-BE49-F238E27FC236}">
                <a16:creationId xmlns:a16="http://schemas.microsoft.com/office/drawing/2014/main" id="{0E9CCE97-C1CA-E0FD-AF5B-22D246342B1A}"/>
              </a:ext>
            </a:extLst>
          </p:cNvPr>
          <p:cNvSpPr>
            <a:spLocks noGrp="1"/>
          </p:cNvSpPr>
          <p:nvPr/>
        </p:nvSpPr>
        <p:spPr>
          <a:xfrm>
            <a:off x="390797" y="26639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6B3C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57" name="cbar">
            <a:extLst>
              <a:ext uri="{FF2B5EF4-FFF2-40B4-BE49-F238E27FC236}">
                <a16:creationId xmlns:a16="http://schemas.microsoft.com/office/drawing/2014/main" id="{ED7B8A9A-718F-FF96-90EC-23333ED3D8C9}"/>
              </a:ext>
            </a:extLst>
          </p:cNvPr>
          <p:cNvSpPr>
            <a:spLocks noGrp="1"/>
          </p:cNvSpPr>
          <p:nvPr/>
        </p:nvSpPr>
        <p:spPr>
          <a:xfrm>
            <a:off x="390797" y="26639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2A6B3C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59" name="ctxt">
            <a:extLst>
              <a:ext uri="{FF2B5EF4-FFF2-40B4-BE49-F238E27FC236}">
                <a16:creationId xmlns:a16="http://schemas.microsoft.com/office/drawing/2014/main" id="{F0FD1526-604A-0D10-B5BD-37983CE757E7}"/>
              </a:ext>
            </a:extLst>
          </p:cNvPr>
          <p:cNvSpPr txBox="1">
            <a:spLocks noGrp="1"/>
          </p:cNvSpPr>
          <p:nvPr/>
        </p:nvSpPr>
        <p:spPr>
          <a:xfrm>
            <a:off x="537101" y="27005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lnSpcReduction="10000"/>
          </a:bodyPr>
          <a:lstStyle/>
          <a:p>
            <a:pPr algn="l"/>
            <a:r>
              <a:rPr lang="es-ES" sz="920" b="1">
                <a:solidFill>
                  <a:srgbClr val="2A6B3C"/>
                </a:solidFill>
                <a:latin typeface="Reddit Sans"/>
                <a:ea typeface="Reddit Sans"/>
              </a:rPr>
              <a:t>Modernización de Aplicaciones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Migración · Refactor · Cloud Native</a:t>
            </a:r>
          </a:p>
        </p:txBody>
      </p:sp>
      <p:sp>
        <p:nvSpPr>
          <p:cNvPr id="61" name="cbg">
            <a:extLst>
              <a:ext uri="{FF2B5EF4-FFF2-40B4-BE49-F238E27FC236}">
                <a16:creationId xmlns:a16="http://schemas.microsoft.com/office/drawing/2014/main" id="{EE8298DB-83E8-A248-54E5-EE36C38A273F}"/>
              </a:ext>
            </a:extLst>
          </p:cNvPr>
          <p:cNvSpPr>
            <a:spLocks noGrp="1"/>
          </p:cNvSpPr>
          <p:nvPr/>
        </p:nvSpPr>
        <p:spPr>
          <a:xfrm>
            <a:off x="2951117" y="26639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B7B85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63" name="cbar">
            <a:extLst>
              <a:ext uri="{FF2B5EF4-FFF2-40B4-BE49-F238E27FC236}">
                <a16:creationId xmlns:a16="http://schemas.microsoft.com/office/drawing/2014/main" id="{187AA5B3-2EC3-D3E9-0138-4C6EC3F106DF}"/>
              </a:ext>
            </a:extLst>
          </p:cNvPr>
          <p:cNvSpPr>
            <a:spLocks noGrp="1"/>
          </p:cNvSpPr>
          <p:nvPr/>
        </p:nvSpPr>
        <p:spPr>
          <a:xfrm>
            <a:off x="2951117" y="26639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1B7B85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65" name="ctxt">
            <a:extLst>
              <a:ext uri="{FF2B5EF4-FFF2-40B4-BE49-F238E27FC236}">
                <a16:creationId xmlns:a16="http://schemas.microsoft.com/office/drawing/2014/main" id="{99680DFF-1577-1923-FF6C-040DCAFAC68E}"/>
              </a:ext>
            </a:extLst>
          </p:cNvPr>
          <p:cNvSpPr txBox="1">
            <a:spLocks noGrp="1"/>
          </p:cNvSpPr>
          <p:nvPr/>
        </p:nvSpPr>
        <p:spPr>
          <a:xfrm>
            <a:off x="3097421" y="27005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lnSpcReduction="10000"/>
          </a:bodyPr>
          <a:lstStyle/>
          <a:p>
            <a:pPr algn="l"/>
            <a:r>
              <a:rPr lang="es-ES" sz="920" b="1">
                <a:solidFill>
                  <a:srgbClr val="1B7B85"/>
                </a:solidFill>
                <a:latin typeface="Reddit Sans"/>
                <a:ea typeface="Reddit Sans"/>
              </a:rPr>
              <a:t>Observabilidad / AIOps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Dynatrace · Datadog · Nexthink</a:t>
            </a:r>
          </a:p>
        </p:txBody>
      </p:sp>
      <p:sp>
        <p:nvSpPr>
          <p:cNvPr id="67" name="cbg">
            <a:extLst>
              <a:ext uri="{FF2B5EF4-FFF2-40B4-BE49-F238E27FC236}">
                <a16:creationId xmlns:a16="http://schemas.microsoft.com/office/drawing/2014/main" id="{FEC17A7C-D0B7-C028-630D-2C21113A0870}"/>
              </a:ext>
            </a:extLst>
          </p:cNvPr>
          <p:cNvSpPr>
            <a:spLocks noGrp="1"/>
          </p:cNvSpPr>
          <p:nvPr/>
        </p:nvSpPr>
        <p:spPr>
          <a:xfrm>
            <a:off x="5511437" y="26639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69" name="cbar">
            <a:extLst>
              <a:ext uri="{FF2B5EF4-FFF2-40B4-BE49-F238E27FC236}">
                <a16:creationId xmlns:a16="http://schemas.microsoft.com/office/drawing/2014/main" id="{8E1BE8F2-C05A-0F6C-F97F-028D61638718}"/>
              </a:ext>
            </a:extLst>
          </p:cNvPr>
          <p:cNvSpPr>
            <a:spLocks noGrp="1"/>
          </p:cNvSpPr>
          <p:nvPr/>
        </p:nvSpPr>
        <p:spPr>
          <a:xfrm>
            <a:off x="5511437" y="26639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71" name="ctxt">
            <a:extLst>
              <a:ext uri="{FF2B5EF4-FFF2-40B4-BE49-F238E27FC236}">
                <a16:creationId xmlns:a16="http://schemas.microsoft.com/office/drawing/2014/main" id="{67778E89-95AC-6B13-A94F-4FFE117862C0}"/>
              </a:ext>
            </a:extLst>
          </p:cNvPr>
          <p:cNvSpPr txBox="1">
            <a:spLocks noGrp="1"/>
          </p:cNvSpPr>
          <p:nvPr/>
        </p:nvSpPr>
        <p:spPr>
          <a:xfrm>
            <a:off x="5657741" y="27005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lnSpcReduction="10000"/>
          </a:bodyPr>
          <a:lstStyle/>
          <a:p>
            <a:pPr algn="l"/>
            <a:r>
              <a:rPr lang="es-ES" sz="920" b="1">
                <a:solidFill>
                  <a:srgbClr val="C00000"/>
                </a:solidFill>
                <a:latin typeface="Reddit Sans"/>
                <a:ea typeface="Reddit Sans"/>
              </a:rPr>
              <a:t>Seguridad Aplicativa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SAST · DAST · ISO 27001</a:t>
            </a:r>
          </a:p>
        </p:txBody>
      </p:sp>
      <p:sp>
        <p:nvSpPr>
          <p:cNvPr id="73" name="cbg">
            <a:extLst>
              <a:ext uri="{FF2B5EF4-FFF2-40B4-BE49-F238E27FC236}">
                <a16:creationId xmlns:a16="http://schemas.microsoft.com/office/drawing/2014/main" id="{C51E67D2-47E7-16DE-DA55-96EAB9504536}"/>
              </a:ext>
            </a:extLst>
          </p:cNvPr>
          <p:cNvSpPr>
            <a:spLocks noGrp="1"/>
          </p:cNvSpPr>
          <p:nvPr/>
        </p:nvSpPr>
        <p:spPr>
          <a:xfrm>
            <a:off x="390797" y="31211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6FBA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75" name="cbar">
            <a:extLst>
              <a:ext uri="{FF2B5EF4-FFF2-40B4-BE49-F238E27FC236}">
                <a16:creationId xmlns:a16="http://schemas.microsoft.com/office/drawing/2014/main" id="{4588DD0A-A0AF-3B6D-157C-82FFC4ABFAD4}"/>
              </a:ext>
            </a:extLst>
          </p:cNvPr>
          <p:cNvSpPr>
            <a:spLocks noGrp="1"/>
          </p:cNvSpPr>
          <p:nvPr/>
        </p:nvSpPr>
        <p:spPr>
          <a:xfrm>
            <a:off x="390797" y="31211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1F6FBA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77" name="ctxt">
            <a:extLst>
              <a:ext uri="{FF2B5EF4-FFF2-40B4-BE49-F238E27FC236}">
                <a16:creationId xmlns:a16="http://schemas.microsoft.com/office/drawing/2014/main" id="{2E58338A-CEC1-CCD6-65E0-2F74435D0AA7}"/>
              </a:ext>
            </a:extLst>
          </p:cNvPr>
          <p:cNvSpPr txBox="1">
            <a:spLocks noGrp="1"/>
          </p:cNvSpPr>
          <p:nvPr/>
        </p:nvSpPr>
        <p:spPr>
          <a:xfrm>
            <a:off x="537101" y="31577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lnSpcReduction="10000"/>
          </a:bodyPr>
          <a:lstStyle/>
          <a:p>
            <a:pPr algn="l"/>
            <a:r>
              <a:rPr lang="es-ES" sz="920" b="1">
                <a:solidFill>
                  <a:srgbClr val="1F6FBA"/>
                </a:solidFill>
                <a:latin typeface="Reddit Sans"/>
                <a:ea typeface="Reddit Sans"/>
              </a:rPr>
              <a:t>Automatización y DevOps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CI/CD · IaC · Runbooks auto</a:t>
            </a:r>
          </a:p>
        </p:txBody>
      </p:sp>
      <p:sp>
        <p:nvSpPr>
          <p:cNvPr id="79" name="cbg">
            <a:extLst>
              <a:ext uri="{FF2B5EF4-FFF2-40B4-BE49-F238E27FC236}">
                <a16:creationId xmlns:a16="http://schemas.microsoft.com/office/drawing/2014/main" id="{9A1E43E9-7584-405F-03C9-BA4ADCFF4815}"/>
              </a:ext>
            </a:extLst>
          </p:cNvPr>
          <p:cNvSpPr>
            <a:spLocks noGrp="1"/>
          </p:cNvSpPr>
          <p:nvPr/>
        </p:nvSpPr>
        <p:spPr>
          <a:xfrm>
            <a:off x="2951117" y="31211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81" name="cbar">
            <a:extLst>
              <a:ext uri="{FF2B5EF4-FFF2-40B4-BE49-F238E27FC236}">
                <a16:creationId xmlns:a16="http://schemas.microsoft.com/office/drawing/2014/main" id="{089AA222-1275-CB54-D96D-350FE11258CE}"/>
              </a:ext>
            </a:extLst>
          </p:cNvPr>
          <p:cNvSpPr>
            <a:spLocks noGrp="1"/>
          </p:cNvSpPr>
          <p:nvPr/>
        </p:nvSpPr>
        <p:spPr>
          <a:xfrm>
            <a:off x="2951117" y="31211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6B7280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83" name="ctxt">
            <a:extLst>
              <a:ext uri="{FF2B5EF4-FFF2-40B4-BE49-F238E27FC236}">
                <a16:creationId xmlns:a16="http://schemas.microsoft.com/office/drawing/2014/main" id="{BA2DB184-CFE5-BAA5-60D5-59747B6E3FE4}"/>
              </a:ext>
            </a:extLst>
          </p:cNvPr>
          <p:cNvSpPr txBox="1">
            <a:spLocks noGrp="1"/>
          </p:cNvSpPr>
          <p:nvPr/>
        </p:nvSpPr>
        <p:spPr>
          <a:xfrm>
            <a:off x="3097421" y="31577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lnSpcReduction="10000"/>
          </a:bodyPr>
          <a:lstStyle/>
          <a:p>
            <a:pPr algn="l"/>
            <a:r>
              <a:rPr lang="es-ES" sz="920" b="1">
                <a:solidFill>
                  <a:srgbClr val="6B7280"/>
                </a:solidFill>
                <a:latin typeface="Reddit Sans"/>
                <a:ea typeface="Reddit Sans"/>
              </a:rPr>
              <a:t>Performance Engineering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Pruebas de carga · Tuning</a:t>
            </a:r>
          </a:p>
        </p:txBody>
      </p:sp>
      <p:sp>
        <p:nvSpPr>
          <p:cNvPr id="85" name="cbg">
            <a:extLst>
              <a:ext uri="{FF2B5EF4-FFF2-40B4-BE49-F238E27FC236}">
                <a16:creationId xmlns:a16="http://schemas.microsoft.com/office/drawing/2014/main" id="{780333AF-C260-0118-972B-193A5983CE78}"/>
              </a:ext>
            </a:extLst>
          </p:cNvPr>
          <p:cNvSpPr>
            <a:spLocks noGrp="1"/>
          </p:cNvSpPr>
          <p:nvPr/>
        </p:nvSpPr>
        <p:spPr>
          <a:xfrm>
            <a:off x="5511437" y="31211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D1B5E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87" name="cbar">
            <a:extLst>
              <a:ext uri="{FF2B5EF4-FFF2-40B4-BE49-F238E27FC236}">
                <a16:creationId xmlns:a16="http://schemas.microsoft.com/office/drawing/2014/main" id="{660B996E-663C-E661-FCDC-7F9409B2D935}"/>
              </a:ext>
            </a:extLst>
          </p:cNvPr>
          <p:cNvSpPr>
            <a:spLocks noGrp="1"/>
          </p:cNvSpPr>
          <p:nvPr/>
        </p:nvSpPr>
        <p:spPr>
          <a:xfrm>
            <a:off x="5511437" y="31211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0D1B5E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89" name="ctxt">
            <a:extLst>
              <a:ext uri="{FF2B5EF4-FFF2-40B4-BE49-F238E27FC236}">
                <a16:creationId xmlns:a16="http://schemas.microsoft.com/office/drawing/2014/main" id="{C1106803-684A-5ACB-5134-7C919CD006F2}"/>
              </a:ext>
            </a:extLst>
          </p:cNvPr>
          <p:cNvSpPr txBox="1">
            <a:spLocks noGrp="1"/>
          </p:cNvSpPr>
          <p:nvPr/>
        </p:nvSpPr>
        <p:spPr>
          <a:xfrm>
            <a:off x="5657741" y="31577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lnSpcReduction="10000"/>
          </a:bodyPr>
          <a:lstStyle/>
          <a:p>
            <a:pPr algn="l"/>
            <a:r>
              <a:rPr lang="es-ES" sz="920" b="1">
                <a:solidFill>
                  <a:srgbClr val="0D1B5E"/>
                </a:solidFill>
                <a:latin typeface="Reddit Sans"/>
                <a:ea typeface="Reddit Sans"/>
              </a:rPr>
              <a:t>Gobierno de Datos e IA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ISO 42001 · MLOps · Compliance</a:t>
            </a:r>
          </a:p>
        </p:txBody>
      </p:sp>
      <p:sp>
        <p:nvSpPr>
          <p:cNvPr id="91" name="phdr">
            <a:extLst>
              <a:ext uri="{FF2B5EF4-FFF2-40B4-BE49-F238E27FC236}">
                <a16:creationId xmlns:a16="http://schemas.microsoft.com/office/drawing/2014/main" id="{764760E5-CE0E-2CE1-674E-C73A5EEADC0C}"/>
              </a:ext>
            </a:extLst>
          </p:cNvPr>
          <p:cNvSpPr>
            <a:spLocks noGrp="1"/>
          </p:cNvSpPr>
          <p:nvPr/>
        </p:nvSpPr>
        <p:spPr>
          <a:xfrm>
            <a:off x="390797" y="3651504"/>
            <a:ext cx="7635240" cy="256032"/>
          </a:xfrm>
          <a:prstGeom prst="rect">
            <a:avLst/>
          </a:prstGeom>
          <a:solidFill>
            <a:srgbClr val="0D1B5E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93" name="phdrtxt">
            <a:extLst>
              <a:ext uri="{FF2B5EF4-FFF2-40B4-BE49-F238E27FC236}">
                <a16:creationId xmlns:a16="http://schemas.microsoft.com/office/drawing/2014/main" id="{27599C63-912F-E15A-758A-F51625AC30B4}"/>
              </a:ext>
            </a:extLst>
          </p:cNvPr>
          <p:cNvSpPr txBox="1">
            <a:spLocks noGrp="1"/>
          </p:cNvSpPr>
          <p:nvPr/>
        </p:nvSpPr>
        <p:spPr>
          <a:xfrm>
            <a:off x="537754" y="3651504"/>
            <a:ext cx="763524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EVOLUCIÓN DEL MODELO DE PRECIO — De esfuerzo a resultados medibles</a:t>
            </a:r>
          </a:p>
        </p:txBody>
      </p:sp>
      <p:sp>
        <p:nvSpPr>
          <p:cNvPr id="95" name="pbg">
            <a:extLst>
              <a:ext uri="{FF2B5EF4-FFF2-40B4-BE49-F238E27FC236}">
                <a16:creationId xmlns:a16="http://schemas.microsoft.com/office/drawing/2014/main" id="{B0C9F68A-A12F-BA1B-19E8-26B09B03920A}"/>
              </a:ext>
            </a:extLst>
          </p:cNvPr>
          <p:cNvSpPr>
            <a:spLocks noGrp="1"/>
          </p:cNvSpPr>
          <p:nvPr/>
        </p:nvSpPr>
        <p:spPr>
          <a:xfrm>
            <a:off x="390797" y="3980687"/>
            <a:ext cx="1828800" cy="817299"/>
          </a:xfrm>
          <a:prstGeom prst="roundRect">
            <a:avLst>
              <a:gd name="adj" fmla="val 10000"/>
            </a:avLst>
          </a:prstGeom>
          <a:solidFill>
            <a:srgbClr val="F5F7FC"/>
          </a:solidFill>
          <a:ln w="9525">
            <a:solidFill>
              <a:srgbClr val="6B7280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97" name="ptit">
            <a:extLst>
              <a:ext uri="{FF2B5EF4-FFF2-40B4-BE49-F238E27FC236}">
                <a16:creationId xmlns:a16="http://schemas.microsoft.com/office/drawing/2014/main" id="{81E9F2E0-4E98-8BED-0CA2-2397254D88C3}"/>
              </a:ext>
            </a:extLst>
          </p:cNvPr>
          <p:cNvSpPr txBox="1">
            <a:spLocks noGrp="1"/>
          </p:cNvSpPr>
          <p:nvPr/>
        </p:nvSpPr>
        <p:spPr>
          <a:xfrm>
            <a:off x="482237" y="4017263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>
                <a:solidFill>
                  <a:srgbClr val="6B7280"/>
                </a:solidFill>
                <a:latin typeface="Reddit Sans"/>
                <a:ea typeface="Reddit Sans"/>
              </a:rPr>
              <a:t>Por FTE</a:t>
            </a:r>
          </a:p>
        </p:txBody>
      </p:sp>
      <p:sp>
        <p:nvSpPr>
          <p:cNvPr id="99" name="pdesc">
            <a:extLst>
              <a:ext uri="{FF2B5EF4-FFF2-40B4-BE49-F238E27FC236}">
                <a16:creationId xmlns:a16="http://schemas.microsoft.com/office/drawing/2014/main" id="{8E485CBA-2577-8E5D-4733-7FB9993CF0B0}"/>
              </a:ext>
            </a:extLst>
          </p:cNvPr>
          <p:cNvSpPr txBox="1">
            <a:spLocks noGrp="1"/>
          </p:cNvSpPr>
          <p:nvPr/>
        </p:nvSpPr>
        <p:spPr>
          <a:xfrm>
            <a:off x="482237" y="4255007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fontScale="77500" lnSpcReduction="20000"/>
          </a:bodyPr>
          <a:lstStyle/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Precio fijo por persona
Riesgo PS alto · Predecible</a:t>
            </a:r>
          </a:p>
        </p:txBody>
      </p:sp>
      <p:sp>
        <p:nvSpPr>
          <p:cNvPr id="101" name="arr">
            <a:extLst>
              <a:ext uri="{FF2B5EF4-FFF2-40B4-BE49-F238E27FC236}">
                <a16:creationId xmlns:a16="http://schemas.microsoft.com/office/drawing/2014/main" id="{907466AB-23EB-CFB0-7023-D1A3492A4162}"/>
              </a:ext>
            </a:extLst>
          </p:cNvPr>
          <p:cNvSpPr txBox="1">
            <a:spLocks noGrp="1"/>
          </p:cNvSpPr>
          <p:nvPr/>
        </p:nvSpPr>
        <p:spPr>
          <a:xfrm>
            <a:off x="2219597" y="4145279"/>
            <a:ext cx="10972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fontScale="92500" lnSpcReduction="20000"/>
          </a:bodyPr>
          <a:lstStyle/>
          <a:p>
            <a:pPr algn="ctr"/>
            <a:r>
              <a:rPr lang="es-ES" sz="1200" b="1">
                <a:solidFill>
                  <a:srgbClr val="1B7B85"/>
                </a:solidFill>
                <a:latin typeface="Reddit Sans"/>
                <a:ea typeface="Reddit Sans"/>
              </a:rPr>
              <a:t>→</a:t>
            </a:r>
          </a:p>
        </p:txBody>
      </p:sp>
      <p:sp>
        <p:nvSpPr>
          <p:cNvPr id="103" name="pbg">
            <a:extLst>
              <a:ext uri="{FF2B5EF4-FFF2-40B4-BE49-F238E27FC236}">
                <a16:creationId xmlns:a16="http://schemas.microsoft.com/office/drawing/2014/main" id="{8D8DC231-13A5-09D4-4815-F97BDF8D3BD4}"/>
              </a:ext>
            </a:extLst>
          </p:cNvPr>
          <p:cNvSpPr>
            <a:spLocks noGrp="1"/>
          </p:cNvSpPr>
          <p:nvPr/>
        </p:nvSpPr>
        <p:spPr>
          <a:xfrm>
            <a:off x="2329325" y="3980687"/>
            <a:ext cx="1828800" cy="817299"/>
          </a:xfrm>
          <a:prstGeom prst="roundRect">
            <a:avLst>
              <a:gd name="adj" fmla="val 10000"/>
            </a:avLst>
          </a:prstGeom>
          <a:solidFill>
            <a:srgbClr val="F5F7FC"/>
          </a:solidFill>
          <a:ln w="9525">
            <a:solidFill>
              <a:srgbClr val="1B7B85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05" name="ptit">
            <a:extLst>
              <a:ext uri="{FF2B5EF4-FFF2-40B4-BE49-F238E27FC236}">
                <a16:creationId xmlns:a16="http://schemas.microsoft.com/office/drawing/2014/main" id="{2F78AB25-46C7-9F91-DD9F-06AD2E6E0C06}"/>
              </a:ext>
            </a:extLst>
          </p:cNvPr>
          <p:cNvSpPr txBox="1">
            <a:spLocks noGrp="1"/>
          </p:cNvSpPr>
          <p:nvPr/>
        </p:nvSpPr>
        <p:spPr>
          <a:xfrm>
            <a:off x="2420765" y="4017263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>
                <a:solidFill>
                  <a:srgbClr val="1B7B85"/>
                </a:solidFill>
                <a:latin typeface="Reddit Sans"/>
                <a:ea typeface="Reddit Sans"/>
              </a:rPr>
              <a:t>Por Ticket</a:t>
            </a:r>
          </a:p>
        </p:txBody>
      </p:sp>
      <p:sp>
        <p:nvSpPr>
          <p:cNvPr id="107" name="pdesc">
            <a:extLst>
              <a:ext uri="{FF2B5EF4-FFF2-40B4-BE49-F238E27FC236}">
                <a16:creationId xmlns:a16="http://schemas.microsoft.com/office/drawing/2014/main" id="{B430BFD1-A4DE-F76C-3E85-EDF2EB780505}"/>
              </a:ext>
            </a:extLst>
          </p:cNvPr>
          <p:cNvSpPr txBox="1">
            <a:spLocks noGrp="1"/>
          </p:cNvSpPr>
          <p:nvPr/>
        </p:nvSpPr>
        <p:spPr>
          <a:xfrm>
            <a:off x="2420765" y="4255007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fontScale="77500" lnSpcReduction="20000"/>
          </a:bodyPr>
          <a:lstStyle/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Pay-per-use · Alineado a volumen
Shift-Left incentivado</a:t>
            </a:r>
          </a:p>
        </p:txBody>
      </p:sp>
      <p:sp>
        <p:nvSpPr>
          <p:cNvPr id="109" name="arr">
            <a:extLst>
              <a:ext uri="{FF2B5EF4-FFF2-40B4-BE49-F238E27FC236}">
                <a16:creationId xmlns:a16="http://schemas.microsoft.com/office/drawing/2014/main" id="{58841477-9DA9-3628-BC1C-940F15E2EAE7}"/>
              </a:ext>
            </a:extLst>
          </p:cNvPr>
          <p:cNvSpPr txBox="1">
            <a:spLocks noGrp="1"/>
          </p:cNvSpPr>
          <p:nvPr/>
        </p:nvSpPr>
        <p:spPr>
          <a:xfrm>
            <a:off x="4158125" y="4145279"/>
            <a:ext cx="10972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fontScale="92500" lnSpcReduction="20000"/>
          </a:bodyPr>
          <a:lstStyle/>
          <a:p>
            <a:pPr algn="ctr"/>
            <a:r>
              <a:rPr lang="es-ES" sz="1200" b="1">
                <a:solidFill>
                  <a:srgbClr val="1B7B85"/>
                </a:solidFill>
                <a:latin typeface="Reddit Sans"/>
                <a:ea typeface="Reddit Sans"/>
              </a:rPr>
              <a:t>→</a:t>
            </a:r>
          </a:p>
        </p:txBody>
      </p:sp>
      <p:sp>
        <p:nvSpPr>
          <p:cNvPr id="111" name="pbg">
            <a:extLst>
              <a:ext uri="{FF2B5EF4-FFF2-40B4-BE49-F238E27FC236}">
                <a16:creationId xmlns:a16="http://schemas.microsoft.com/office/drawing/2014/main" id="{21B47E69-A02F-AD84-5AF5-FEEA7BCF43CC}"/>
              </a:ext>
            </a:extLst>
          </p:cNvPr>
          <p:cNvSpPr>
            <a:spLocks noGrp="1"/>
          </p:cNvSpPr>
          <p:nvPr/>
        </p:nvSpPr>
        <p:spPr>
          <a:xfrm>
            <a:off x="4267853" y="3980687"/>
            <a:ext cx="1828800" cy="817299"/>
          </a:xfrm>
          <a:prstGeom prst="roundRect">
            <a:avLst>
              <a:gd name="adj" fmla="val 10000"/>
            </a:avLst>
          </a:prstGeom>
          <a:solidFill>
            <a:srgbClr val="F5F7FC"/>
          </a:solidFill>
          <a:ln w="9525">
            <a:solidFill>
              <a:srgbClr val="1A3A8F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13" name="ptit">
            <a:extLst>
              <a:ext uri="{FF2B5EF4-FFF2-40B4-BE49-F238E27FC236}">
                <a16:creationId xmlns:a16="http://schemas.microsoft.com/office/drawing/2014/main" id="{0BD0FBE4-856F-DB15-1BD3-C7D2393BC6D5}"/>
              </a:ext>
            </a:extLst>
          </p:cNvPr>
          <p:cNvSpPr txBox="1">
            <a:spLocks noGrp="1"/>
          </p:cNvSpPr>
          <p:nvPr/>
        </p:nvSpPr>
        <p:spPr>
          <a:xfrm>
            <a:off x="4359293" y="4017263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>
                <a:solidFill>
                  <a:srgbClr val="1A3A8F"/>
                </a:solidFill>
                <a:latin typeface="Reddit Sans"/>
                <a:ea typeface="Reddit Sans"/>
              </a:rPr>
              <a:t>Outcome-Based</a:t>
            </a:r>
          </a:p>
        </p:txBody>
      </p:sp>
      <p:sp>
        <p:nvSpPr>
          <p:cNvPr id="115" name="pdesc">
            <a:extLst>
              <a:ext uri="{FF2B5EF4-FFF2-40B4-BE49-F238E27FC236}">
                <a16:creationId xmlns:a16="http://schemas.microsoft.com/office/drawing/2014/main" id="{212605A2-662E-07AE-C631-8430F60FBBF5}"/>
              </a:ext>
            </a:extLst>
          </p:cNvPr>
          <p:cNvSpPr txBox="1">
            <a:spLocks noGrp="1"/>
          </p:cNvSpPr>
          <p:nvPr/>
        </p:nvSpPr>
        <p:spPr>
          <a:xfrm>
            <a:off x="4359293" y="4255007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fontScale="77500" lnSpcReduction="20000"/>
          </a:bodyPr>
          <a:lstStyle/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Outcomes × Precio por Outcome
Shared savings 15-25%</a:t>
            </a:r>
          </a:p>
        </p:txBody>
      </p:sp>
      <p:sp>
        <p:nvSpPr>
          <p:cNvPr id="117" name="arr">
            <a:extLst>
              <a:ext uri="{FF2B5EF4-FFF2-40B4-BE49-F238E27FC236}">
                <a16:creationId xmlns:a16="http://schemas.microsoft.com/office/drawing/2014/main" id="{261B59FF-83E8-028B-36D9-B9799CAB463C}"/>
              </a:ext>
            </a:extLst>
          </p:cNvPr>
          <p:cNvSpPr txBox="1">
            <a:spLocks noGrp="1"/>
          </p:cNvSpPr>
          <p:nvPr/>
        </p:nvSpPr>
        <p:spPr>
          <a:xfrm>
            <a:off x="6096653" y="4145279"/>
            <a:ext cx="10972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fontScale="92500" lnSpcReduction="20000"/>
          </a:bodyPr>
          <a:lstStyle/>
          <a:p>
            <a:pPr algn="ctr"/>
            <a:r>
              <a:rPr lang="es-ES" sz="1200" b="1">
                <a:solidFill>
                  <a:srgbClr val="1B7B85"/>
                </a:solidFill>
                <a:latin typeface="Reddit Sans"/>
                <a:ea typeface="Reddit Sans"/>
              </a:rPr>
              <a:t>→</a:t>
            </a:r>
          </a:p>
        </p:txBody>
      </p:sp>
      <p:sp>
        <p:nvSpPr>
          <p:cNvPr id="119" name="pbg">
            <a:extLst>
              <a:ext uri="{FF2B5EF4-FFF2-40B4-BE49-F238E27FC236}">
                <a16:creationId xmlns:a16="http://schemas.microsoft.com/office/drawing/2014/main" id="{F066019D-C137-1FA2-CEDC-1E20036F0836}"/>
              </a:ext>
            </a:extLst>
          </p:cNvPr>
          <p:cNvSpPr>
            <a:spLocks noGrp="1"/>
          </p:cNvSpPr>
          <p:nvPr/>
        </p:nvSpPr>
        <p:spPr>
          <a:xfrm>
            <a:off x="6206381" y="3980687"/>
            <a:ext cx="1828800" cy="817299"/>
          </a:xfrm>
          <a:prstGeom prst="roundRect">
            <a:avLst>
              <a:gd name="adj" fmla="val 10000"/>
            </a:avLst>
          </a:prstGeom>
          <a:solidFill>
            <a:srgbClr val="EBF5FF"/>
          </a:solidFill>
          <a:ln w="15875">
            <a:solidFill>
              <a:srgbClr val="0D1B5E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21" name="ptit">
            <a:extLst>
              <a:ext uri="{FF2B5EF4-FFF2-40B4-BE49-F238E27FC236}">
                <a16:creationId xmlns:a16="http://schemas.microsoft.com/office/drawing/2014/main" id="{DF509C14-BA18-91EE-9834-3685C397DBB3}"/>
              </a:ext>
            </a:extLst>
          </p:cNvPr>
          <p:cNvSpPr txBox="1">
            <a:spLocks noGrp="1"/>
          </p:cNvSpPr>
          <p:nvPr/>
        </p:nvSpPr>
        <p:spPr>
          <a:xfrm>
            <a:off x="6297821" y="4017263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r>
              <a:rPr lang="es-ES" sz="1000" b="1">
                <a:solidFill>
                  <a:srgbClr val="0D1B5E"/>
                </a:solidFill>
                <a:latin typeface="Reddit Sans"/>
                <a:ea typeface="Reddit Sans"/>
              </a:rPr>
              <a:t>Full Next Gen</a:t>
            </a:r>
          </a:p>
        </p:txBody>
      </p:sp>
      <p:sp>
        <p:nvSpPr>
          <p:cNvPr id="123" name="pdesc">
            <a:extLst>
              <a:ext uri="{FF2B5EF4-FFF2-40B4-BE49-F238E27FC236}">
                <a16:creationId xmlns:a16="http://schemas.microsoft.com/office/drawing/2014/main" id="{E8BFAAD6-2A5F-9830-EB72-3EE426C2887B}"/>
              </a:ext>
            </a:extLst>
          </p:cNvPr>
          <p:cNvSpPr txBox="1">
            <a:spLocks noGrp="1"/>
          </p:cNvSpPr>
          <p:nvPr/>
        </p:nvSpPr>
        <p:spPr>
          <a:xfrm>
            <a:off x="6297821" y="4255007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fontScale="77500" lnSpcReduction="20000"/>
          </a:bodyPr>
          <a:lstStyle/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Outcome + AIOps + XLA + KCS
Premium · Máximo valor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AA6E818-1736-0429-307B-141CA753BD64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6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We make it happen</a:t>
            </a:r>
            <a:endParaRPr/>
          </a:p>
        </p:txBody>
      </p:sp>
      <p:sp>
        <p:nvSpPr>
          <p:cNvPr id="189" name="Google Shape;189;p6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¡Gracias!</a:t>
            </a:r>
            <a:endParaRPr/>
          </a:p>
        </p:txBody>
      </p:sp>
      <p:sp>
        <p:nvSpPr>
          <p:cNvPr id="190" name="Google Shape;190;p6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Centro Empresarial Ciudad del Río C2, Cra. 48 #20-114, Oficina 1026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 +57 324 549 77 70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Presentación en pantalla (16:9)</PresentationFormat>
  <Slides>54</Slides>
  <Notes>27</Notes>
  <HiddenSlides>7</HiddenSlides>
  <ScaleCrop>false</ScaleCrop>
  <HeadingPairs>
    <vt:vector size="4" baseType="variant">
      <vt:variant>
        <vt:lpstr>Tema</vt:lpstr>
      </vt:variant>
      <vt:variant>
        <vt:i4>2</vt:i4>
      </vt:variant>
      <vt:variant>
        <vt:lpstr>Títulos de diapositiva</vt:lpstr>
      </vt:variant>
      <vt:variant>
        <vt:i4>54</vt:i4>
      </vt:variant>
    </vt:vector>
  </HeadingPairs>
  <TitlesOfParts>
    <vt:vector size="56" baseType="lpstr">
      <vt:lpstr>Simple Light</vt:lpstr>
      <vt:lpstr>Simple Light</vt:lpstr>
      <vt:lpstr>Mesa de Servicio de Nueva Generación (Next Gen)</vt:lpstr>
      <vt:lpstr>Que busca la Mesa de Servicio de Nueva Generación</vt:lpstr>
      <vt:lpstr>Beneficios eperados de la Mesa de Servicio de Nueva Generación (Servicio Optimo)</vt:lpstr>
      <vt:lpstr>Presentación de PowerPoint</vt:lpstr>
      <vt:lpstr>Presentación de PowerPoint</vt:lpstr>
      <vt:lpstr>Mesas de Servicio de Nueva Generación</vt:lpstr>
      <vt:lpstr>Evolución de las Mesas de Servicio</vt:lpstr>
      <vt:lpstr>Mesa tradicional vs. Mesa de Servicio de Nueva Generación (Next Gen) </vt:lpstr>
      <vt:lpstr>Presentación de PowerPoint</vt:lpstr>
      <vt:lpstr>Posicionamiento de Plataformas ITSM </vt:lpstr>
      <vt:lpstr>Brechas del mercado y oportunidades</vt:lpstr>
      <vt:lpstr>7 Tendencias que definen el mercado</vt:lpstr>
      <vt:lpstr>Presentación de PowerPoint</vt:lpstr>
      <vt:lpstr>Cómo compiten los líderes globales de Service Desk</vt:lpstr>
      <vt:lpstr>El Costo de No Evolucionar</vt:lpstr>
      <vt:lpstr>Visualización: Benchmarks de industria </vt:lpstr>
      <vt:lpstr>SLA vs. XLA 4 Capas de Reporte </vt:lpstr>
      <vt:lpstr>Agentic AI: Estado Real de Adopción 2025–2026</vt:lpstr>
      <vt:lpstr>Roadmap de madurez y barreras de adopción de la IA</vt:lpstr>
      <vt:lpstr>Presentación de PowerPoint</vt:lpstr>
      <vt:lpstr>Mesas de Servicio de Nueva Generación</vt:lpstr>
      <vt:lpstr>Mesas de Servicio Actuales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Mapa de Dolores Críticos</vt:lpstr>
      <vt:lpstr>Presentación de PowerPoint</vt:lpstr>
      <vt:lpstr>Presentación de PowerPoint</vt:lpstr>
      <vt:lpstr>Presentación de PowerPoint</vt:lpstr>
      <vt:lpstr>Presentación de PowerPoint</vt:lpstr>
      <vt:lpstr>Lo que nos dijeron — Voz directa de los líderes de mesa </vt:lpstr>
      <vt:lpstr>Mesas de Servicio Actuales</vt:lpstr>
      <vt:lpstr>Presentación de PowerPoint</vt:lpstr>
      <vt:lpstr>Mesas de Servicio de Nueva Generación (Next Gen)</vt:lpstr>
      <vt:lpstr>Presentación de PowerPoint</vt:lpstr>
      <vt:lpstr>Pilares de Transformación de la Mesa de Servicio de Nueva Generación </vt:lpstr>
      <vt:lpstr>Que Diferencia a PersonalSoft?</vt:lpstr>
      <vt:lpstr>Modelo de Madurez de la Mesa de Nueva Generación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Mesa de Servicio de Nueva Generación Modelos de Precio: De FTE a Outcomes  </vt:lpstr>
      <vt:lpstr>Presentación de PowerPoint</vt:lpstr>
      <vt:lpstr>We make it happen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549</cp:revision>
  <dcterms:modified xsi:type="dcterms:W3CDTF">2026-07-14T22:46:54Z</dcterms:modified>
</cp:coreProperties>
</file>