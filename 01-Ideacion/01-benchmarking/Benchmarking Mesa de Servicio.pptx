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22"/>
  </p:notesMasterIdLst>
  <p:sldIdLst>
    <p:sldId id="257" r:id="rId2"/>
    <p:sldId id="260" r:id="rId3"/>
    <p:sldId id="256" r:id="rId4"/>
    <p:sldId id="262" r:id="rId5"/>
    <p:sldId id="259" r:id="rId6"/>
    <p:sldId id="285" r:id="rId7"/>
    <p:sldId id="287" r:id="rId8"/>
    <p:sldId id="286" r:id="rId9"/>
    <p:sldId id="299" r:id="rId10"/>
    <p:sldId id="300" r:id="rId11"/>
    <p:sldId id="301" r:id="rId12"/>
    <p:sldId id="302" r:id="rId13"/>
    <p:sldId id="293" r:id="rId14"/>
    <p:sldId id="303" r:id="rId15"/>
    <p:sldId id="304" r:id="rId16"/>
    <p:sldId id="305" r:id="rId17"/>
    <p:sldId id="306" r:id="rId18"/>
    <p:sldId id="307" r:id="rId19"/>
    <p:sldId id="267" r:id="rId20"/>
    <p:sldId id="268" r:id="rId21"/>
  </p:sldIdLst>
  <p:sldSz cx="9144000" cy="5143500" type="screen16x9"/>
  <p:notesSz cx="6858000" cy="9144000"/>
  <p:embeddedFontLst>
    <p:embeddedFont>
      <p:font typeface="Reddit Sans" panose="020B0604020202020204" charset="0"/>
      <p:regular r:id="rId23"/>
      <p:bold r:id="rId24"/>
      <p:italic r:id="rId25"/>
      <p:boldItalic r:id="rId26"/>
    </p:embeddedFont>
    <p:embeddedFont>
      <p:font typeface="Reddit Sans Medium" panose="020B0604020202020204" charset="0"/>
      <p:regular r:id="rId27"/>
      <p:bold r:id="rId28"/>
      <p:italic r:id="rId29"/>
      <p:boldItalic r:id="rId30"/>
    </p:embeddedFont>
    <p:embeddedFont>
      <p:font typeface="Reddit Sans SemiBold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740E76-A8B1-842A-8097-940ADCC85B94}" v="225" dt="2026-07-07T22:26:35.199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d500af2f30bdfc2fb481c268b42ccff364d8c6d896f51ecdfd16d3bf116eedcdJmltdHM9MTc4MzM4MjQwMA&amp;ptn=3&amp;ver=2&amp;hsh=4&amp;fclid=10d11685-cdd1-6520-1f35-0107cca364bf&amp;u=a1aHR0cHM6Ly9yZWd1bGFmb3JlbnNpY3MuY29tL2VzL2Jsb2cvc3dhcm1pbmctc3VwcG9ydC1tb2RlbC8&amp;ntb=1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d2dbf307e6b4f5b1804b834a3caf1d17ca1a38a0141c5178a37461f5d2a40923JmltdHM9MTc4MzM4MjQwMA&amp;ptn=3&amp;ver=2&amp;hsh=4&amp;fclid=10d11685-cdd1-6520-1f35-0107cca364bf&amp;u=a1aHR0cHM6Ly93d3cuZ2VuZXN5cy1nbG9iYWwuY29tL21vZGVsby1zaGlmdC1sZWZ0LXNvcG9ydGUtdGkv&amp;ntb=1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80574407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e80574407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AIOps: es la </a:t>
            </a:r>
            <a:r>
              <a:rPr lang="en-US" err="1"/>
              <a:t>aplicación</a:t>
            </a:r>
            <a:r>
              <a:rPr lang="en-US"/>
              <a:t> de </a:t>
            </a:r>
            <a:r>
              <a:rPr lang="en-US" err="1"/>
              <a:t>inteligencia</a:t>
            </a:r>
            <a:r>
              <a:rPr lang="en-US"/>
              <a:t> artificial y machine learning para </a:t>
            </a:r>
            <a:r>
              <a:rPr lang="en-US" err="1"/>
              <a:t>automatizar</a:t>
            </a:r>
            <a:r>
              <a:rPr lang="en-US"/>
              <a:t>, </a:t>
            </a:r>
            <a:r>
              <a:rPr lang="en-US" err="1"/>
              <a:t>optimizar</a:t>
            </a:r>
            <a:r>
              <a:rPr lang="en-US"/>
              <a:t> y </a:t>
            </a:r>
            <a:r>
              <a:rPr lang="en-US" err="1"/>
              <a:t>mejorar</a:t>
            </a:r>
            <a:r>
              <a:rPr lang="en-US"/>
              <a:t> las </a:t>
            </a:r>
            <a:r>
              <a:rPr lang="en-US" err="1"/>
              <a:t>operaciones</a:t>
            </a:r>
            <a:r>
              <a:rPr lang="en-US"/>
              <a:t> de TI.</a:t>
            </a:r>
          </a:p>
          <a:p>
            <a:pPr>
              <a:buNone/>
            </a:pPr>
            <a:r>
              <a:rPr lang="en-US">
                <a:highlight>
                  <a:srgbClr val="FFFFFF"/>
                </a:highlight>
              </a:rPr>
              <a:t>El Bus Factor: </a:t>
            </a:r>
            <a:r>
              <a:rPr lang="en-US" err="1">
                <a:highlight>
                  <a:srgbClr val="FFFFFF"/>
                </a:highlight>
              </a:rPr>
              <a:t>mide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cuántas</a:t>
            </a:r>
            <a:r>
              <a:rPr lang="en-US">
                <a:highlight>
                  <a:srgbClr val="FFFFFF"/>
                </a:highlight>
              </a:rPr>
              <a:t> personas </a:t>
            </a:r>
            <a:r>
              <a:rPr lang="en-US" err="1">
                <a:highlight>
                  <a:srgbClr val="FFFFFF"/>
                </a:highlight>
              </a:rPr>
              <a:t>tendrían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que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salir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mañana</a:t>
            </a:r>
            <a:r>
              <a:rPr lang="en-US">
                <a:highlight>
                  <a:srgbClr val="FFFFFF"/>
                </a:highlight>
              </a:rPr>
              <a:t> para </a:t>
            </a:r>
            <a:r>
              <a:rPr lang="en-US" err="1">
                <a:highlight>
                  <a:srgbClr val="FFFFFF"/>
                </a:highlight>
              </a:rPr>
              <a:t>que</a:t>
            </a:r>
            <a:r>
              <a:rPr lang="en-US">
                <a:highlight>
                  <a:srgbClr val="FFFFFF"/>
                </a:highlight>
              </a:rPr>
              <a:t> un </a:t>
            </a:r>
            <a:r>
              <a:rPr lang="en-US" err="1">
                <a:highlight>
                  <a:srgbClr val="FFFFFF"/>
                </a:highlight>
              </a:rPr>
              <a:t>proceso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crítico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colapse</a:t>
            </a:r>
            <a:r>
              <a:rPr lang="en-US">
                <a:highlight>
                  <a:srgbClr val="FFFFFF"/>
                </a:highlight>
              </a:rPr>
              <a:t>. Bus factor alto = </a:t>
            </a:r>
            <a:r>
              <a:rPr lang="en-US" err="1">
                <a:highlight>
                  <a:srgbClr val="FFFFFF"/>
                </a:highlight>
              </a:rPr>
              <a:t>riesgo</a:t>
            </a:r>
            <a:r>
              <a:rPr lang="en-US">
                <a:highlight>
                  <a:srgbClr val="FFFFFF"/>
                </a:highlight>
              </a:rPr>
              <a:t> </a:t>
            </a:r>
            <a:r>
              <a:rPr lang="en-US" err="1">
                <a:highlight>
                  <a:srgbClr val="FFFFFF"/>
                </a:highlight>
              </a:rPr>
              <a:t>operativo</a:t>
            </a:r>
            <a:r>
              <a:rPr lang="en-US">
                <a:highlight>
                  <a:srgbClr val="FFFFFF"/>
                </a:highlight>
              </a:rPr>
              <a:t> alto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508815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AD35F874-1F94-53C8-4BD8-BA84CF5E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D3FB6E8F-CFB8-96CF-9D4D-629273B98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DDE1CA99-7249-BF1C-C019-A59E84F033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312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s-CO" sz="1100" b="0" i="0" u="none" strike="noStrike" cap="none" dirty="0">
                <a:solidFill>
                  <a:srgbClr val="000000"/>
                </a:solidFill>
                <a:effectLst/>
                <a:latin typeface="Reddit Sans" panose="020B0604020202020204" charset="0"/>
                <a:ea typeface="Reddit Sans" panose="020B0604020202020204" charset="0"/>
                <a:cs typeface="Arial"/>
                <a:sym typeface="Arial"/>
              </a:rPr>
              <a:t>ITSM (Gestión de Servicios de TI) es el </a:t>
            </a:r>
            <a:r>
              <a:rPr lang="es-CO" dirty="0">
                <a:latin typeface="Reddit Sans" panose="020B0604020202020204" charset="0"/>
                <a:ea typeface="Reddit Sans" panose="020B0604020202020204" charset="0"/>
              </a:rPr>
              <a:t>enfoque estratégico para diseñar, entregar, gestionar y mejorar los servicios tecnológicos que una empresa ofrece.</a:t>
            </a:r>
          </a:p>
        </p:txBody>
      </p:sp>
    </p:spTree>
    <p:extLst>
      <p:ext uri="{BB962C8B-B14F-4D97-AF65-F5344CB8AC3E}">
        <p14:creationId xmlns:p14="http://schemas.microsoft.com/office/powerpoint/2010/main" val="3411428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rgbClr val="191919"/>
                </a:solidFill>
                <a:highlight>
                  <a:srgbClr val="F8F4F1"/>
                </a:highlight>
                <a:hlinkClick r:id="rId3"/>
              </a:rPr>
              <a:t>El swarming en una mesa de servicios se refiere a un modelo de soporte que utiliza la colaboración y la inteligencia colectiva para resolver problemas de manera más eficiente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9955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rgbClr val="191919"/>
                </a:solidFill>
                <a:highlight>
                  <a:srgbClr val="F8F4F1"/>
                </a:highlight>
                <a:hlinkClick r:id="rId3"/>
              </a:rPr>
              <a:t>Shift-left para la Mesa de servicios de TI es el movimiento del soporte de TI más cerca de la primera línea operativa y el usuario/cliente final.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7411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E505433-2ACA-69A8-B0C3-A79DA987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603A7570-A496-3D05-6901-598F97D07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71F902F3-8C74-1208-3B51-B4F19066F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607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8057440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7e8057440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7e80574407_0_7" title="textura.jpg"/>
          <p:cNvPicPr preferRelativeResize="0"/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7e80574407_0_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9" name="Google Shape;19;g37e80574407_0_7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20" name="Google Shape;20;g37e80574407_0_7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7e80574407_0_7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4000"/>
              <a:buNone/>
              <a:defRPr sz="40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4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4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5" name="Google Shape;75;p15" title="Recurso 1.png"/>
          <p:cNvPicPr preferRelativeResize="0"/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Recurso 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9" name="Google Shape;79;g37e80574407_0_110" title="Recurso 1.png"/>
          <p:cNvPicPr preferRelativeResize="0"/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7e80574407_0_110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7e80574407_0_110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Reddit Sans Black"/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  <a:sym typeface="Reddit Sans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dit Sans Light"/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  <a:sym typeface="Reddit San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6">
          <p15:clr>
            <a:srgbClr val="E46962"/>
          </p15:clr>
        </p15:guide>
        <p15:guide id="2" orient="horz" pos="2903">
          <p15:clr>
            <a:srgbClr val="E46962"/>
          </p15:clr>
        </p15:guide>
        <p15:guide id="3" pos="2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61" r:id="rId9"/>
    <p:sldLayoutId id="2147483664" r:id="rId10"/>
    <p:sldLayoutId id="214748366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andasoft.com/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uperfinanciera.gov.co/inicio/normativa/normativa-general/circulares-externas/ce-007-de-2024-12139" TargetMode="External"/><Relationship Id="rId5" Type="http://schemas.openxmlformats.org/officeDocument/2006/relationships/hyperlink" Target="https://www.grandviewresearch.com/industry-analysis/it-service-management-market" TargetMode="External"/><Relationship Id="rId4" Type="http://schemas.openxmlformats.org/officeDocument/2006/relationships/hyperlink" Target="https://www.mordorintelligence.com/industry-reports/it-service-management-marke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rtner.com/en/documents/5533963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artner.com/en/information-technology/insights/it-service-managemen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oplecert.org/browse-certifications/it-governance-and-service-management/ITIL-1/itil-4-foundation-3435" TargetMode="External"/><Relationship Id="rId2" Type="http://schemas.openxmlformats.org/officeDocument/2006/relationships/hyperlink" Target="https://www.gartner.com/en/documents/5533963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idc.com/getdoc.jsp?containerId=US51006924" TargetMode="External"/><Relationship Id="rId4" Type="http://schemas.openxmlformats.org/officeDocument/2006/relationships/hyperlink" Target="https://www.freshworks.com/freshservice/resources/reports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ynatrace.com/resources/ebooks/the-state-of-observability-2025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tcs.com/insights/topics/technology/ai-in-it-service-management" TargetMode="External"/><Relationship Id="rId5" Type="http://schemas.openxmlformats.org/officeDocument/2006/relationships/hyperlink" Target="https://www.peoplecert.org/browse-certifications/it-governance-and-service-management/ITIL-1" TargetMode="External"/><Relationship Id="rId4" Type="http://schemas.openxmlformats.org/officeDocument/2006/relationships/hyperlink" Target="https://www.gartner.com/en/articles/the-4-top-enterprise-applications-of-agentic-ai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vanti.com/resources/v/doc/itsm/agentic-ai-itsm" TargetMode="External"/><Relationship Id="rId2" Type="http://schemas.openxmlformats.org/officeDocument/2006/relationships/hyperlink" Target="https://www.freshworks.com/freshservice/state-of-it-service-management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artner.com/en/information-technology/insights/it-service-management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rtner.com/en/documents/5523963" TargetMode="External"/><Relationship Id="rId2" Type="http://schemas.openxmlformats.org/officeDocument/2006/relationships/hyperlink" Target="https://www.peoplecert.org/browse-certifications/it-governance-and-service-management/ITIL-1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rtner.com/en/documents/5533963" TargetMode="External"/><Relationship Id="rId2" Type="http://schemas.openxmlformats.org/officeDocument/2006/relationships/hyperlink" Target="https://www.freshworks.com/freshservice/state-of-it-service-management/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perfinanciera.gov.co/inicio/normativa/normativa-general/circulares-externas/ce-007-de-2024-12139" TargetMode="External"/><Relationship Id="rId2" Type="http://schemas.openxmlformats.org/officeDocument/2006/relationships/hyperlink" Target="https://www.mordorintelligence.com/industry-reports/colombia-it-services-market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andasoft.com/soluciones/its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mmiinstitute.com/learning/appraisals/levels" TargetMode="External"/><Relationship Id="rId2" Type="http://schemas.openxmlformats.org/officeDocument/2006/relationships/hyperlink" Target="https://www.peoplecert.org/browse-certifications/it-governance-and-service-management/ITIL-1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80574407_0_130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/>
              <a:t>Mesa de Servicio de Nueva Generación</a:t>
            </a:r>
            <a:endParaRPr err="1"/>
          </a:p>
        </p:txBody>
      </p:sp>
      <p:sp>
        <p:nvSpPr>
          <p:cNvPr id="110" name="Google Shape;110;g37e80574407_0_130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Estudio de Mercado Julio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361350" y="504411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">
                <a:highlight>
                  <a:srgbClr val="FFFFFF"/>
                </a:highlight>
              </a:rPr>
              <a:t>Valor del Servicio</a:t>
            </a:r>
            <a:endParaRPr lang="es-ES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361349" y="2820693"/>
            <a:ext cx="5383159" cy="155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s">
                <a:solidFill>
                  <a:srgbClr val="222222"/>
                </a:solidFill>
                <a:highlight>
                  <a:srgbClr val="FFFFFF"/>
                </a:highlight>
              </a:rPr>
              <a:t>La Mesa de Servicio de Nueva Generación transforma el soporte tecnológico de un costo operativo a una ventaja competitiva sostenible en el tiempo. Estandariza la operación con roles claros, procesos definidos y conocimiento institucionalizado con IA. Convirtiendo la mesa en un servicio predecible, medible y escalable en donde el cliente puede crecer y confiar. </a:t>
            </a:r>
            <a:endParaRPr lang="es-ES"/>
          </a:p>
        </p:txBody>
      </p:sp>
      <p:cxnSp>
        <p:nvCxnSpPr>
          <p:cNvPr id="133" name="Google Shape;133;p2"/>
          <p:cNvCxnSpPr/>
          <p:nvPr/>
        </p:nvCxnSpPr>
        <p:spPr>
          <a:xfrm rot="10800000" flipH="1">
            <a:off x="0" y="2651850"/>
            <a:ext cx="5743800" cy="36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4" name="Google Shape;134;p2" title="isotipo_p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E772C19-61FD-9E01-8D45-04096758E3D3}"/>
              </a:ext>
            </a:extLst>
          </p:cNvPr>
          <p:cNvSpPr/>
          <p:nvPr/>
        </p:nvSpPr>
        <p:spPr>
          <a:xfrm>
            <a:off x="6206836" y="0"/>
            <a:ext cx="2937164" cy="5143500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2" name="Google Shape;132;p2" title="textura 1.jpg"/>
          <p:cNvPicPr preferRelativeResize="0"/>
          <p:nvPr/>
        </p:nvPicPr>
        <p:blipFill rotWithShape="1">
          <a:blip r:embed="rId4">
            <a:alphaModFix/>
          </a:blip>
          <a:srcRect l="37172" r="5841"/>
          <a:stretch/>
        </p:blipFill>
        <p:spPr>
          <a:xfrm>
            <a:off x="6206836" y="0"/>
            <a:ext cx="29310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D1A1633-87B8-69A8-F58D-616529537203}"/>
              </a:ext>
            </a:extLst>
          </p:cNvPr>
          <p:cNvSpPr txBox="1"/>
          <p:nvPr/>
        </p:nvSpPr>
        <p:spPr>
          <a:xfrm>
            <a:off x="6319158" y="1913166"/>
            <a:ext cx="2705099" cy="33763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1000" b="1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Para el cliente</a:t>
            </a:r>
            <a:r>
              <a:rPr lang="en-US" sz="10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ct val="150000"/>
              </a:lnSpc>
            </a:pPr>
            <a:r>
              <a:rPr lang="es-ES" sz="1000" b="0" i="0" u="none" strike="noStrike" baseline="0" err="1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SLAs</a:t>
            </a:r>
            <a:r>
              <a:rPr lang="es-ES" sz="1000" b="0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 cumplidos, menos interrupciones y visibilidad real de la </a:t>
            </a:r>
            <a:r>
              <a:rPr lang="es-ES" sz="100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operación</a:t>
            </a:r>
            <a:r>
              <a:rPr lang="es-ES" sz="1000" b="0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 en tiempo real.</a:t>
            </a:r>
            <a:r>
              <a:rPr lang="en-US" sz="10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>
              <a:lnSpc>
                <a:spcPct val="150000"/>
              </a:lnSpc>
            </a:pPr>
            <a:endParaRPr lang="en-US" sz="1000">
              <a:solidFill>
                <a:schemeClr val="bg1"/>
              </a:solidFill>
              <a:latin typeface="Reddit Sans"/>
              <a:ea typeface="Segoe UI"/>
              <a:cs typeface="Segoe UI"/>
            </a:endParaRPr>
          </a:p>
          <a:p>
            <a:pPr algn="l" rtl="0">
              <a:lnSpc>
                <a:spcPct val="150000"/>
              </a:lnSpc>
            </a:pPr>
            <a:r>
              <a:rPr lang="es-ES" sz="1000" b="1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Para </a:t>
            </a:r>
            <a:r>
              <a:rPr lang="es-ES" sz="1000" b="1" i="0" u="none" strike="noStrike" baseline="0" err="1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PersonalSoft</a:t>
            </a:r>
            <a:r>
              <a:rPr lang="en-US" sz="10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ct val="150000"/>
              </a:lnSpc>
            </a:pPr>
            <a:r>
              <a:rPr lang="es-ES" sz="100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Márgenes</a:t>
            </a:r>
            <a:r>
              <a:rPr lang="es-ES" sz="1000" b="0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 que mejoran con la </a:t>
            </a:r>
            <a:r>
              <a:rPr lang="es-ES" sz="100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automatización</a:t>
            </a:r>
            <a:r>
              <a:rPr lang="es-ES" sz="1000" b="0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.</a:t>
            </a:r>
            <a:r>
              <a:rPr lang="en-US" sz="10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>
              <a:lnSpc>
                <a:spcPct val="150000"/>
              </a:lnSpc>
            </a:pPr>
            <a:endParaRPr lang="en-US" sz="1000">
              <a:solidFill>
                <a:schemeClr val="bg1"/>
              </a:solidFill>
              <a:latin typeface="Reddit Sans"/>
              <a:ea typeface="Segoe UI"/>
              <a:cs typeface="Segoe UI"/>
            </a:endParaRPr>
          </a:p>
          <a:p>
            <a:pPr algn="l" rtl="0">
              <a:lnSpc>
                <a:spcPct val="150000"/>
              </a:lnSpc>
            </a:pPr>
            <a:r>
              <a:rPr lang="es-ES" sz="1000" b="1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Para el mercado</a:t>
            </a:r>
            <a:r>
              <a:rPr lang="en-US" sz="1000" b="0" i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ct val="150000"/>
              </a:lnSpc>
            </a:pPr>
            <a:r>
              <a:rPr lang="es-ES" sz="1000" b="0" i="0" u="none" strike="noStrike" baseline="0">
                <a:solidFill>
                  <a:schemeClr val="bg1"/>
                </a:solidFill>
                <a:latin typeface="Reddit Sans"/>
                <a:ea typeface="Segoe UI"/>
                <a:cs typeface="Segoe UI"/>
              </a:rPr>
              <a:t>Un diferenciador real: el proveedor que llega con datos, herramientas y evolución continua.</a:t>
            </a:r>
          </a:p>
          <a:p>
            <a:pPr algn="ctr">
              <a:lnSpc>
                <a:spcPct val="150000"/>
              </a:lnSpc>
            </a:pPr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091" y="205740"/>
            <a:ext cx="6858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213F7D"/>
                </a:solidFill>
              </a:defRPr>
            </a:pPr>
            <a:r>
              <a:rPr lang="es-CO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¿Por qué evolucionar la Mesa de Servicios?</a:t>
            </a:r>
            <a:endParaRPr lang="es-CO" sz="1600" b="1">
              <a:solidFill>
                <a:srgbClr val="0E337C"/>
              </a:solidFill>
              <a:latin typeface="Reddit Sans"/>
              <a:ea typeface="Reddit San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7838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Gobierno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800">
                <a:latin typeface="Reddit Sans"/>
                <a:ea typeface="Reddit Sans"/>
              </a:rPr>
              <a:t>Modelo operativo</a:t>
            </a:r>
            <a:br>
              <a:rPr lang="es-CO" sz="800">
                <a:latin typeface="Reddit Sans"/>
                <a:ea typeface="Reddit Sans"/>
              </a:rPr>
            </a:br>
            <a:r>
              <a:rPr lang="es-CO" sz="800">
                <a:latin typeface="Reddit Sans"/>
                <a:ea typeface="Reddit Sans"/>
              </a:rPr>
              <a:t>no estandarizado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436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Escalabilidad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800">
                <a:latin typeface="Reddit Sans"/>
                <a:ea typeface="Reddit Sans"/>
              </a:rPr>
              <a:t>Crecimiento</a:t>
            </a:r>
            <a:br>
              <a:rPr lang="es-CO" sz="800">
                <a:latin typeface="Reddit Sans"/>
                <a:ea typeface="Reddit Sans"/>
              </a:rPr>
            </a:br>
            <a:r>
              <a:rPr lang="es-CO" sz="800">
                <a:latin typeface="Reddit Sans"/>
                <a:ea typeface="Reddit Sans"/>
              </a:rPr>
              <a:t>basado en FTE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3034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Automatización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800">
                <a:latin typeface="Reddit Sans"/>
                <a:ea typeface="Reddit Sans"/>
              </a:rPr>
              <a:t>Alta dependencia</a:t>
            </a:r>
            <a:br>
              <a:rPr lang="es-CO" sz="800">
                <a:latin typeface="Reddit Sans"/>
                <a:ea typeface="Reddit Sans"/>
              </a:rPr>
            </a:br>
            <a:r>
              <a:rPr lang="es-CO" sz="800">
                <a:latin typeface="Reddit Sans"/>
                <a:ea typeface="Reddit Sans"/>
              </a:rPr>
              <a:t>de tareas manuales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56321" y="994410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Conocimiento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800">
                <a:latin typeface="Reddit Sans"/>
                <a:ea typeface="Reddit Sans"/>
              </a:rPr>
              <a:t>Conocimiento</a:t>
            </a:r>
            <a:br>
              <a:rPr lang="es-CO" sz="800">
                <a:latin typeface="Reddit Sans"/>
                <a:ea typeface="Reddit Sans"/>
              </a:rPr>
            </a:br>
            <a:r>
              <a:rPr lang="es-CO" sz="800">
                <a:latin typeface="Reddit Sans"/>
                <a:ea typeface="Reddit Sans"/>
              </a:rPr>
              <a:t>concentrado en personas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38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 err="1">
                <a:latin typeface="Reddit Sans"/>
                <a:ea typeface="Reddit Sans"/>
              </a:rPr>
              <a:t>Observabilidad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800" err="1">
                <a:latin typeface="Reddit Sans"/>
                <a:ea typeface="Reddit Sans"/>
              </a:rPr>
              <a:t>KPIs</a:t>
            </a:r>
            <a:r>
              <a:rPr lang="es-CO" sz="800">
                <a:latin typeface="Reddit Sans"/>
                <a:ea typeface="Reddit Sans"/>
              </a:rPr>
              <a:t> y SLA</a:t>
            </a:r>
            <a:br>
              <a:rPr lang="es-CO" sz="800">
                <a:latin typeface="Reddit Sans"/>
                <a:ea typeface="Reddit Sans"/>
              </a:rPr>
            </a:br>
            <a:r>
              <a:rPr lang="es-CO" sz="800">
                <a:latin typeface="Reddit Sans"/>
                <a:ea typeface="Reddit Sans"/>
              </a:rPr>
              <a:t>sin estandarizar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436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Transición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800" err="1">
                <a:latin typeface="Reddit Sans"/>
                <a:ea typeface="Reddit Sans"/>
              </a:rPr>
              <a:t>Onboarding</a:t>
            </a:r>
            <a:r>
              <a:rPr lang="es-CO" sz="800">
                <a:latin typeface="Reddit Sans"/>
                <a:ea typeface="Reddit Sans"/>
              </a:rPr>
              <a:t> con</a:t>
            </a:r>
            <a:br>
              <a:rPr lang="es-CO" sz="800">
                <a:latin typeface="Reddit Sans"/>
                <a:ea typeface="Reddit Sans"/>
              </a:rPr>
            </a:br>
            <a:r>
              <a:rPr lang="es-CO" sz="800">
                <a:latin typeface="Reddit Sans"/>
                <a:ea typeface="Reddit Sans"/>
              </a:rPr>
              <a:t>alta fricción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034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Preventa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800">
                <a:latin typeface="Reddit Sans"/>
                <a:ea typeface="Reddit Sans"/>
              </a:rPr>
              <a:t>Dimensionamiento</a:t>
            </a:r>
            <a:br>
              <a:rPr lang="es-CO" sz="800">
                <a:latin typeface="Reddit Sans"/>
                <a:ea typeface="Reddit Sans"/>
              </a:rPr>
            </a:br>
            <a:r>
              <a:rPr lang="es-CO" sz="800">
                <a:latin typeface="Reddit Sans"/>
                <a:ea typeface="Reddit Sans"/>
              </a:rPr>
              <a:t>insuficiente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56321" y="2297429"/>
            <a:ext cx="1954530" cy="10629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Plataforma &amp; Talento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800">
                <a:latin typeface="Reddit Sans"/>
                <a:ea typeface="Reddit Sans"/>
              </a:rPr>
              <a:t>Retención y</a:t>
            </a:r>
            <a:br>
              <a:rPr lang="es-CO" sz="800">
                <a:latin typeface="Reddit Sans"/>
                <a:ea typeface="Reddit Sans"/>
              </a:rPr>
            </a:br>
            <a:r>
              <a:rPr lang="es-CO" sz="800">
                <a:latin typeface="Reddit Sans"/>
                <a:ea typeface="Reddit Sans"/>
              </a:rPr>
              <a:t>especialización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481" y="4053296"/>
            <a:ext cx="8298180" cy="342900"/>
          </a:xfrm>
          <a:prstGeom prst="roundRect">
            <a:avLst/>
          </a:prstGeom>
          <a:solidFill>
            <a:srgbClr val="213F7D"/>
          </a:solidFill>
          <a:ln>
            <a:solidFill>
              <a:srgbClr val="213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sz="1050">
                <a:latin typeface="Reddit Sans"/>
                <a:ea typeface="Reddit Sans"/>
              </a:rPr>
              <a:t> Mesa de Servicio de Nueva Generación</a:t>
            </a:r>
            <a:r>
              <a:rPr sz="1050">
                <a:latin typeface="Reddit Sans"/>
                <a:ea typeface="Reddit Sans"/>
              </a:rPr>
              <a:t>: </a:t>
            </a:r>
            <a:r>
              <a:rPr lang="en-US" sz="1050">
                <a:latin typeface="Reddit Sans"/>
                <a:ea typeface="Reddit Sans"/>
              </a:rPr>
              <a:t>Una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operación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estandarizada</a:t>
            </a:r>
            <a:r>
              <a:rPr sz="1050">
                <a:latin typeface="Reddit Sans"/>
                <a:ea typeface="Reddit Sans"/>
              </a:rPr>
              <a:t>, </a:t>
            </a:r>
            <a:r>
              <a:rPr sz="1050" err="1">
                <a:latin typeface="Reddit Sans"/>
                <a:ea typeface="Reddit Sans"/>
              </a:rPr>
              <a:t>automatizada</a:t>
            </a:r>
            <a:r>
              <a:rPr sz="1050">
                <a:latin typeface="Reddit Sans"/>
                <a:ea typeface="Reddit Sans"/>
              </a:rPr>
              <a:t>, </a:t>
            </a:r>
            <a:r>
              <a:rPr sz="1050" err="1">
                <a:latin typeface="Reddit Sans"/>
                <a:ea typeface="Reddit Sans"/>
              </a:rPr>
              <a:t>medible</a:t>
            </a:r>
            <a:r>
              <a:rPr sz="1050">
                <a:latin typeface="Reddit Sans"/>
                <a:ea typeface="Reddit Sans"/>
              </a:rPr>
              <a:t> y </a:t>
            </a:r>
            <a:r>
              <a:rPr sz="1050" err="1">
                <a:latin typeface="Reddit Sans"/>
                <a:ea typeface="Reddit Sans"/>
              </a:rPr>
              <a:t>habilitada</a:t>
            </a:r>
            <a:r>
              <a:rPr sz="1050">
                <a:latin typeface="Reddit Sans"/>
                <a:ea typeface="Reddit Sans"/>
              </a:rPr>
              <a:t> </a:t>
            </a:r>
            <a:r>
              <a:rPr sz="1050" err="1">
                <a:latin typeface="Reddit Sans"/>
                <a:ea typeface="Reddit Sans"/>
              </a:rPr>
              <a:t>por</a:t>
            </a:r>
            <a:r>
              <a:rPr sz="1050">
                <a:latin typeface="Reddit Sans"/>
                <a:ea typeface="Reddit Sans"/>
              </a:rPr>
              <a:t> IA.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4A00E2-8AA6-B2EC-C394-830FBBB47CA4}"/>
              </a:ext>
            </a:extLst>
          </p:cNvPr>
          <p:cNvSpPr txBox="1"/>
          <p:nvPr/>
        </p:nvSpPr>
        <p:spPr>
          <a:xfrm>
            <a:off x="381000" y="547007"/>
            <a:ext cx="4572000" cy="4462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900" b="0" i="0" u="none" strike="noStrike" baseline="0">
                <a:solidFill>
                  <a:srgbClr val="6E6E6E"/>
                </a:solidFill>
                <a:latin typeface="Reddit Sans"/>
                <a:ea typeface="Reddit Sans"/>
              </a:rPr>
              <a:t>Principales brechas del modelo operativo actual</a:t>
            </a:r>
            <a:r>
              <a:rPr lang="es-CO" sz="900" b="0" i="0">
                <a:solidFill>
                  <a:srgbClr val="000000"/>
                </a:solidFill>
                <a:latin typeface="Reddit Sans"/>
                <a:ea typeface="Reddit Sans"/>
              </a:rPr>
              <a:t>​</a:t>
            </a:r>
            <a:endParaRPr lang="es-CO">
              <a:latin typeface="Reddit Sans"/>
              <a:ea typeface="Reddit Sans"/>
            </a:endParaRPr>
          </a:p>
          <a:p>
            <a:pPr algn="ctr"/>
            <a:endParaRPr lang="es-CO">
              <a:latin typeface="Reddit Sans"/>
              <a:ea typeface="Reddi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rgbClr val="263474"/>
                </a:solidFill>
                <a:sym typeface="Reddit Sans Medium"/>
              </a:rPr>
              <a:t>Mesas de Servicio Actuales</a:t>
            </a:r>
            <a:endParaRPr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/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Nuestros Operación Actual</a:t>
            </a:r>
          </a:p>
        </p:txBody>
      </p:sp>
      <p:cxnSp>
        <p:nvCxnSpPr>
          <p:cNvPr id="147" name="Google Shape;147;p5"/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495EA2D-6DD3-3FCA-401B-6EC35075AA0A}"/>
              </a:ext>
            </a:extLst>
          </p:cNvPr>
          <p:cNvSpPr txBox="1"/>
          <p:nvPr/>
        </p:nvSpPr>
        <p:spPr>
          <a:xfrm>
            <a:off x="4844143" y="797380"/>
            <a:ext cx="3695702" cy="39626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Banca y Seguros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SURA, Bancolombia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de canales transaccionales, cumplimiento SFC/SOX,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fraude en tiempo real y BCP/DRP.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Energía</a:t>
            </a: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 b="1" i="0" u="none" strike="noStrike" baseline="0" err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Utilities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XM, AES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operación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critica 24x7, monitoreo de infraestructura y aplicaciones, </a:t>
            </a:r>
            <a:r>
              <a:rPr lang="es-ES" sz="1100" b="0" i="0" u="none" strike="noStrike" baseline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observabilidad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eventos de alta criticidad.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Salud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Medicarte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asistencial,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protección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datos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clínicos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(Habeas Data / Supersalud), interoperabilidad RIPS/PISIS y trazabilidad de historia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clínica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.</a:t>
            </a: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ctr"/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 dirty="0"/>
              <a:t>Mesas de Servicio de Nueva Generación</a:t>
            </a:r>
          </a:p>
        </p:txBody>
      </p:sp>
      <p:sp>
        <p:nvSpPr>
          <p:cNvPr id="125" name="Google Shape;125;g3657f5ba65c_1_28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 dirty="0"/>
              <a:t>A donde queremos llegar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Nivel de Madurez de las Mesas de Servicio – A dónde queremos llegar</a:t>
            </a:r>
          </a:p>
        </p:txBody>
      </p:sp>
      <p:sp>
        <p:nvSpPr>
          <p:cNvPr id="3" name="Subtitulo"/>
          <p:cNvSpPr txBox="1">
            <a:spLocks noGrp="1"/>
          </p:cNvSpPr>
          <p:nvPr>
            <p:ph type="subTitle" idx="4294967295"/>
          </p:nvPr>
        </p:nvSpPr>
        <p:spPr>
          <a:xfrm>
            <a:off x="239486" y="542698"/>
            <a:ext cx="6194199" cy="56379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s-ES" sz="1000"/>
              <a:t>ITIL v5 · Escala N1 a N5 · 4 dimensiones · 17 practicas a evaluar</a:t>
            </a:r>
          </a:p>
        </p:txBody>
      </p:sp>
      <p:sp>
        <p:nvSpPr>
          <p:cNvPr id="10" name="N1 box"/>
          <p:cNvSpPr txBox="1"/>
          <p:nvPr/>
        </p:nvSpPr>
        <p:spPr>
          <a:xfrm>
            <a:off x="457200" y="1371600"/>
            <a:ext cx="1371600" cy="914400"/>
          </a:xfrm>
          <a:prstGeom prst="rect">
            <a:avLst/>
          </a:prstGeom>
          <a:solidFill>
            <a:srgbClr val="FAECE7"/>
          </a:solidFill>
          <a:ln w="19050">
            <a:solidFill>
              <a:srgbClr val="D0021B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D0021B"/>
                </a:solidFill>
              </a:rPr>
              <a:t>N1</a:t>
            </a:r>
          </a:p>
          <a:p>
            <a:pPr algn="ctr">
              <a:buNone/>
            </a:pPr>
            <a:r>
              <a:rPr lang="es" sz="900" b="1">
                <a:solidFill>
                  <a:srgbClr val="D0021B"/>
                </a:solidFill>
              </a:rPr>
              <a:t>Inicial</a:t>
            </a:r>
          </a:p>
        </p:txBody>
      </p:sp>
      <p:sp>
        <p:nvSpPr>
          <p:cNvPr id="11" name="flecha1"/>
          <p:cNvSpPr txBox="1"/>
          <p:nvPr/>
        </p:nvSpPr>
        <p:spPr>
          <a:xfrm>
            <a:off x="18288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N2 box"/>
          <p:cNvSpPr txBox="1"/>
          <p:nvPr/>
        </p:nvSpPr>
        <p:spPr>
          <a:xfrm>
            <a:off x="2171700" y="1371600"/>
            <a:ext cx="1371600" cy="914400"/>
          </a:xfrm>
          <a:prstGeom prst="rect">
            <a:avLst/>
          </a:prstGeom>
          <a:solidFill>
            <a:srgbClr val="FAEEDA"/>
          </a:solidFill>
          <a:ln w="19050">
            <a:solidFill>
              <a:srgbClr val="EF9F27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633806"/>
                </a:solidFill>
              </a:rPr>
              <a:t>N2</a:t>
            </a:r>
          </a:p>
          <a:p>
            <a:pPr algn="ctr">
              <a:buNone/>
            </a:pPr>
            <a:r>
              <a:rPr lang="es" sz="900" b="1">
                <a:solidFill>
                  <a:srgbClr val="633806"/>
                </a:solidFill>
              </a:rPr>
              <a:t>Administrado</a:t>
            </a:r>
          </a:p>
        </p:txBody>
      </p:sp>
      <p:sp>
        <p:nvSpPr>
          <p:cNvPr id="13" name="flecha2"/>
          <p:cNvSpPr txBox="1"/>
          <p:nvPr/>
        </p:nvSpPr>
        <p:spPr>
          <a:xfrm>
            <a:off x="35433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N3 box"/>
          <p:cNvSpPr txBox="1"/>
          <p:nvPr/>
        </p:nvSpPr>
        <p:spPr>
          <a:xfrm>
            <a:off x="3886200" y="1371600"/>
            <a:ext cx="1371600" cy="914400"/>
          </a:xfrm>
          <a:prstGeom prst="rect">
            <a:avLst/>
          </a:prstGeom>
          <a:solidFill>
            <a:srgbClr val="E6F1FB"/>
          </a:solidFill>
          <a:ln w="28575">
            <a:solidFill>
              <a:srgbClr val="0E337C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0E337C"/>
                </a:solidFill>
              </a:rPr>
              <a:t>N3 ★</a:t>
            </a:r>
          </a:p>
          <a:p>
            <a:pPr algn="ctr">
              <a:buNone/>
            </a:pPr>
            <a:r>
              <a:rPr lang="es" sz="900" b="1">
                <a:solidFill>
                  <a:srgbClr val="0E337C"/>
                </a:solidFill>
              </a:rPr>
              <a:t>Definido</a:t>
            </a:r>
          </a:p>
        </p:txBody>
      </p:sp>
      <p:sp>
        <p:nvSpPr>
          <p:cNvPr id="15" name="flecha3"/>
          <p:cNvSpPr txBox="1"/>
          <p:nvPr/>
        </p:nvSpPr>
        <p:spPr>
          <a:xfrm>
            <a:off x="52578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N4 box"/>
          <p:cNvSpPr txBox="1"/>
          <p:nvPr/>
        </p:nvSpPr>
        <p:spPr>
          <a:xfrm>
            <a:off x="5600700" y="1371600"/>
            <a:ext cx="1371600" cy="914400"/>
          </a:xfrm>
          <a:prstGeom prst="rect">
            <a:avLst/>
          </a:prstGeom>
          <a:solidFill>
            <a:srgbClr val="EEEDFE"/>
          </a:solidFill>
          <a:ln w="19050">
            <a:solidFill>
              <a:srgbClr val="3C3489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3C3489"/>
                </a:solidFill>
              </a:rPr>
              <a:t>N4</a:t>
            </a:r>
          </a:p>
          <a:p>
            <a:pPr algn="ctr">
              <a:buNone/>
            </a:pPr>
            <a:r>
              <a:rPr lang="es" sz="900" b="1">
                <a:solidFill>
                  <a:srgbClr val="3C3489"/>
                </a:solidFill>
              </a:rPr>
              <a:t>Cuantitativo</a:t>
            </a:r>
          </a:p>
        </p:txBody>
      </p:sp>
      <p:sp>
        <p:nvSpPr>
          <p:cNvPr id="17" name="flecha4"/>
          <p:cNvSpPr txBox="1"/>
          <p:nvPr/>
        </p:nvSpPr>
        <p:spPr>
          <a:xfrm>
            <a:off x="6972300" y="1600200"/>
            <a:ext cx="342900" cy="4572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N5 box"/>
          <p:cNvSpPr txBox="1"/>
          <p:nvPr/>
        </p:nvSpPr>
        <p:spPr>
          <a:xfrm>
            <a:off x="7315200" y="1371600"/>
            <a:ext cx="1371600" cy="914400"/>
          </a:xfrm>
          <a:prstGeom prst="rect">
            <a:avLst/>
          </a:prstGeom>
          <a:solidFill>
            <a:srgbClr val="E1F5EE"/>
          </a:solidFill>
          <a:ln w="57150">
            <a:solidFill>
              <a:srgbClr val="92D050"/>
            </a:solidFill>
          </a:ln>
        </p:spPr>
        <p:txBody>
          <a:bodyPr wrap="square" lIns="91425" tIns="91425" rIns="91425" bIns="91425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1600" b="1">
                <a:solidFill>
                  <a:srgbClr val="085041"/>
                </a:solidFill>
              </a:rPr>
              <a:t>N5</a:t>
            </a:r>
          </a:p>
          <a:p>
            <a:pPr algn="ctr">
              <a:buNone/>
            </a:pPr>
            <a:r>
              <a:rPr lang="es" sz="900" b="1">
                <a:solidFill>
                  <a:srgbClr val="085041"/>
                </a:solidFill>
              </a:rPr>
              <a:t>Optimizado</a:t>
            </a:r>
          </a:p>
        </p:txBody>
      </p:sp>
      <p:sp>
        <p:nvSpPr>
          <p:cNvPr id="20" name="desc N1"/>
          <p:cNvSpPr txBox="1"/>
          <p:nvPr/>
        </p:nvSpPr>
        <p:spPr>
          <a:xfrm>
            <a:off x="4572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</a:pPr>
            <a:r>
              <a:rPr lang="es" sz="900">
                <a:solidFill>
                  <a:srgbClr val="666666"/>
                </a:solidFill>
              </a:rPr>
              <a:t>Reactivo total. Conocimiento en personas. Bus factor alto (rotación).</a:t>
            </a:r>
          </a:p>
        </p:txBody>
      </p:sp>
      <p:sp>
        <p:nvSpPr>
          <p:cNvPr id="21" name="desc N2"/>
          <p:cNvSpPr txBox="1"/>
          <p:nvPr/>
        </p:nvSpPr>
        <p:spPr>
          <a:xfrm>
            <a:off x="21717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>
                <a:solidFill>
                  <a:srgbClr val="666666"/>
                </a:solidFill>
              </a:rPr>
              <a:t>Procesos por mesa. Herramienta como bitácora. Mínimo Mesa de Ayuda.</a:t>
            </a:r>
          </a:p>
        </p:txBody>
      </p:sp>
      <p:sp>
        <p:nvSpPr>
          <p:cNvPr id="22" name="desc N3"/>
          <p:cNvSpPr txBox="1"/>
          <p:nvPr/>
        </p:nvSpPr>
        <p:spPr>
          <a:xfrm>
            <a:off x="38862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 b="1">
                <a:solidFill>
                  <a:srgbClr val="0E337C"/>
                </a:solidFill>
              </a:rPr>
              <a:t>Estandarizado. RACI, ANS y catálogo. Mínimo Mesa de Soporte. </a:t>
            </a:r>
          </a:p>
        </p:txBody>
      </p:sp>
      <p:sp>
        <p:nvSpPr>
          <p:cNvPr id="23" name="desc N4"/>
          <p:cNvSpPr txBox="1"/>
          <p:nvPr/>
        </p:nvSpPr>
        <p:spPr>
          <a:xfrm>
            <a:off x="56007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>
                <a:solidFill>
                  <a:srgbClr val="666666"/>
                </a:solidFill>
              </a:rPr>
              <a:t>Datos reales. KPIs medidos. Costo por ticket calculado.</a:t>
            </a:r>
          </a:p>
        </p:txBody>
      </p:sp>
      <p:sp>
        <p:nvSpPr>
          <p:cNvPr id="24" name="desc N5"/>
          <p:cNvSpPr txBox="1"/>
          <p:nvPr/>
        </p:nvSpPr>
        <p:spPr>
          <a:xfrm>
            <a:off x="7315200" y="240030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/>
          <a:lstStyle/>
          <a:p>
            <a:pPr algn="ctr">
              <a:lnSpc>
                <a:spcPct val="115000"/>
              </a:lnSpc>
              <a:spcBef>
                <a:spcPts val="0"/>
              </a:spcBef>
              <a:buNone/>
            </a:pPr>
            <a:r>
              <a:rPr lang="es" sz="900">
                <a:solidFill>
                  <a:srgbClr val="666666"/>
                </a:solidFill>
              </a:rPr>
              <a:t>Mejora continua automatizada. </a:t>
            </a:r>
          </a:p>
        </p:txBody>
      </p:sp>
      <p:sp>
        <p:nvSpPr>
          <p:cNvPr id="30" name="modelo reactivo"/>
          <p:cNvSpPr txBox="1"/>
          <p:nvPr/>
        </p:nvSpPr>
        <p:spPr>
          <a:xfrm>
            <a:off x="457200" y="3543300"/>
            <a:ext cx="2742750" cy="4572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633806"/>
                </a:solidFill>
              </a:rPr>
              <a:t>Reactivo y Crecimiento Automatizado</a:t>
            </a:r>
          </a:p>
        </p:txBody>
      </p:sp>
      <p:sp>
        <p:nvSpPr>
          <p:cNvPr id="31" name="modelo predictivo"/>
          <p:cNvSpPr txBox="1"/>
          <p:nvPr/>
        </p:nvSpPr>
        <p:spPr>
          <a:xfrm>
            <a:off x="3257550" y="3543300"/>
            <a:ext cx="2742750" cy="4572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E337C"/>
                </a:solidFill>
              </a:rPr>
              <a:t>Predictivo y Evolutivo</a:t>
            </a:r>
          </a:p>
        </p:txBody>
      </p:sp>
      <p:sp>
        <p:nvSpPr>
          <p:cNvPr id="32" name="modelo autonomo"/>
          <p:cNvSpPr txBox="1"/>
          <p:nvPr/>
        </p:nvSpPr>
        <p:spPr>
          <a:xfrm>
            <a:off x="6057900" y="3543300"/>
            <a:ext cx="2743500" cy="457200"/>
          </a:xfrm>
          <a:prstGeom prst="rect">
            <a:avLst/>
          </a:prstGeom>
          <a:solidFill>
            <a:srgbClr val="E1F5EE"/>
          </a:solidFill>
          <a:ln w="57150">
            <a:solidFill>
              <a:srgbClr val="92D050"/>
            </a:solidFill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85041"/>
                </a:solidFill>
              </a:rPr>
              <a:t>Autónomo e Inteligente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1AA56E4B-D6D8-65F3-C952-37A0C27F0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CCEE9CC7-872E-C3D2-EC82-3E23F2D9921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 dirty="0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C6683957-388A-9E43-6E8E-841DDAB357F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 dirty="0"/>
              <a:t>Estudio de Mercado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7691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A4F0E-4E5C-D915-A8DB-3F17AC447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14" y="169498"/>
            <a:ext cx="8211000" cy="572700"/>
          </a:xfrm>
        </p:spPr>
        <p:txBody>
          <a:bodyPr>
            <a:normAutofit/>
          </a:bodyPr>
          <a:lstStyle/>
          <a:p>
            <a:r>
              <a:rPr lang="en-US" dirty="0"/>
              <a:t>El Mercado Global ITSM (</a:t>
            </a:r>
            <a:r>
              <a:rPr lang="en-US" dirty="0" err="1"/>
              <a:t>Gestión</a:t>
            </a:r>
            <a:r>
              <a:rPr lang="en-US" dirty="0"/>
              <a:t> integral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servicios</a:t>
            </a:r>
            <a:r>
              <a:rPr lang="en-US" dirty="0"/>
              <a:t> de TI)</a:t>
            </a:r>
            <a:endParaRPr lang="es-CO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12EF94F4-9B0F-4D59-BD6B-D15212AE4B06}"/>
              </a:ext>
            </a:extLst>
          </p:cNvPr>
          <p:cNvSpPr/>
          <p:nvPr/>
        </p:nvSpPr>
        <p:spPr>
          <a:xfrm>
            <a:off x="340500" y="871012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FC4922DD-56CF-81DA-B64E-0F14D92EE80C}"/>
              </a:ext>
            </a:extLst>
          </p:cNvPr>
          <p:cNvSpPr/>
          <p:nvPr/>
        </p:nvSpPr>
        <p:spPr>
          <a:xfrm>
            <a:off x="450228" y="962452"/>
            <a:ext cx="1746504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A8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USD 11.4B</a:t>
            </a:r>
            <a:endParaRPr lang="en-US" sz="26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BF27A5E9-773C-852F-A47A-98FB4E005FB5}"/>
              </a:ext>
            </a:extLst>
          </p:cNvPr>
          <p:cNvSpPr/>
          <p:nvPr/>
        </p:nvSpPr>
        <p:spPr>
          <a:xfrm>
            <a:off x="431940" y="164002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Mercado global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ITSM 2024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AE9EF079-6D96-10A6-ADFB-2F1CCCA800FD}"/>
              </a:ext>
            </a:extLst>
          </p:cNvPr>
          <p:cNvSpPr/>
          <p:nvPr/>
        </p:nvSpPr>
        <p:spPr>
          <a:xfrm>
            <a:off x="2471052" y="871012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36FB9F9B-501F-3101-1969-89CC05806BBC}"/>
              </a:ext>
            </a:extLst>
          </p:cNvPr>
          <p:cNvSpPr/>
          <p:nvPr/>
        </p:nvSpPr>
        <p:spPr>
          <a:xfrm>
            <a:off x="2580780" y="962452"/>
            <a:ext cx="1746504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6FBA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+14%</a:t>
            </a:r>
            <a:endParaRPr lang="en-US" sz="26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1EF058D4-4F7D-AFE2-C009-85CAF153DDF3}"/>
              </a:ext>
            </a:extLst>
          </p:cNvPr>
          <p:cNvSpPr/>
          <p:nvPr/>
        </p:nvSpPr>
        <p:spPr>
          <a:xfrm>
            <a:off x="2562492" y="164002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Crecimiento anual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(CAGR global)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14A2A802-FDD2-D1BF-6690-38BE6C80F3D5}"/>
              </a:ext>
            </a:extLst>
          </p:cNvPr>
          <p:cNvSpPr/>
          <p:nvPr/>
        </p:nvSpPr>
        <p:spPr>
          <a:xfrm>
            <a:off x="4601604" y="871012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45FB5A97-DEB2-EFCC-3722-1DF4CFD123E5}"/>
              </a:ext>
            </a:extLst>
          </p:cNvPr>
          <p:cNvSpPr/>
          <p:nvPr/>
        </p:nvSpPr>
        <p:spPr>
          <a:xfrm>
            <a:off x="4711332" y="962452"/>
            <a:ext cx="1746504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USD 108M</a:t>
            </a:r>
            <a:endParaRPr lang="en-US" sz="26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23122F1D-965E-60B8-7ED8-69AB860B43B3}"/>
              </a:ext>
            </a:extLst>
          </p:cNvPr>
          <p:cNvSpPr/>
          <p:nvPr/>
        </p:nvSpPr>
        <p:spPr>
          <a:xfrm>
            <a:off x="4693044" y="164002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Mercado ITSM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Colombia 2026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246D3440-385D-E3B8-1E0E-0DA88C68989E}"/>
              </a:ext>
            </a:extLst>
          </p:cNvPr>
          <p:cNvSpPr/>
          <p:nvPr/>
        </p:nvSpPr>
        <p:spPr>
          <a:xfrm>
            <a:off x="6732156" y="871012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B316A6AC-A65E-2A67-F5EC-85DC75313468}"/>
              </a:ext>
            </a:extLst>
          </p:cNvPr>
          <p:cNvSpPr/>
          <p:nvPr/>
        </p:nvSpPr>
        <p:spPr>
          <a:xfrm>
            <a:off x="6841884" y="962452"/>
            <a:ext cx="1746504" cy="729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14.08%</a:t>
            </a:r>
            <a:endParaRPr lang="en-US" sz="26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62E68C54-88DD-D06E-D335-AD3A92CB6B8F}"/>
              </a:ext>
            </a:extLst>
          </p:cNvPr>
          <p:cNvSpPr/>
          <p:nvPr/>
        </p:nvSpPr>
        <p:spPr>
          <a:xfrm>
            <a:off x="6731066" y="1427751"/>
            <a:ext cx="1864723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000" dirty="0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CAGR </a:t>
            </a:r>
            <a:r>
              <a:rPr lang="en-US" sz="700" dirty="0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(Tasa de </a:t>
            </a:r>
            <a:r>
              <a:rPr lang="en-US" sz="700" dirty="0" err="1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crecimiento</a:t>
            </a:r>
            <a:r>
              <a:rPr lang="en-US" sz="700" dirty="0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 </a:t>
            </a:r>
            <a:r>
              <a:rPr lang="en-US" sz="700" dirty="0" err="1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anual</a:t>
            </a:r>
            <a:r>
              <a:rPr lang="en-US" sz="700" dirty="0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 </a:t>
            </a:r>
            <a:r>
              <a:rPr lang="en-US" sz="700" dirty="0" err="1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compuesta</a:t>
            </a:r>
            <a:r>
              <a:rPr lang="en-US" sz="700" dirty="0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) </a:t>
            </a:r>
            <a:r>
              <a:rPr lang="en-US" sz="1000" dirty="0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Colombia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hasta 2031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D2FD62C1-A084-5D48-C918-A9B9887CF78A}"/>
              </a:ext>
            </a:extLst>
          </p:cNvPr>
          <p:cNvSpPr/>
          <p:nvPr/>
        </p:nvSpPr>
        <p:spPr>
          <a:xfrm>
            <a:off x="340500" y="2334052"/>
            <a:ext cx="5029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Mercado ITSM </a:t>
            </a:r>
            <a:r>
              <a:rPr lang="en-US" sz="1200" b="1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por</a:t>
            </a:r>
            <a:r>
              <a:rPr lang="en-US" sz="1200" b="1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 Region</a:t>
            </a:r>
            <a:endParaRPr lang="en-US" sz="1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32F48229-F050-6423-329E-E5BD1E221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277301"/>
              </p:ext>
            </p:extLst>
          </p:nvPr>
        </p:nvGraphicFramePr>
        <p:xfrm>
          <a:off x="340500" y="2635804"/>
          <a:ext cx="5486400" cy="171602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Reddit Sans" panose="020B0604020202020204" charset="0"/>
                          <a:ea typeface="Reddit Sans" panose="020B0604020202020204" charset="0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Reddit Sans" panose="020B0604020202020204" charset="0"/>
                        <a:ea typeface="Reddit Sans" panose="020B0604020202020204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Reddit Sans"/>
                          <a:ea typeface="Reddit Sans"/>
                          <a:cs typeface="Calibri"/>
                        </a:rPr>
                        <a:t>Tamaño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Reddit Sans"/>
                          <a:ea typeface="Reddit Sans"/>
                          <a:cs typeface="Calibri"/>
                        </a:rPr>
                        <a:t> 2024-2026</a:t>
                      </a:r>
                      <a:endParaRPr lang="en-US" sz="1100" dirty="0">
                        <a:latin typeface="Reddit Sans"/>
                        <a:ea typeface="Reddit Sans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Reddit Sans"/>
                          <a:ea typeface="Reddit Sans"/>
                          <a:cs typeface="Calibri"/>
                        </a:rPr>
                        <a:t>Proyección</a:t>
                      </a:r>
                      <a:endParaRPr lang="en-US" sz="1100" dirty="0" err="1">
                        <a:latin typeface="Reddit Sans" panose="020B0604020202020204" charset="0"/>
                        <a:ea typeface="Reddit Sans" panose="020B0604020202020204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Reddit Sans"/>
                          <a:ea typeface="Reddit Sans"/>
                          <a:cs typeface="Calibri"/>
                        </a:rPr>
                        <a:t>CAGR 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Reddit Sans"/>
                          <a:ea typeface="Reddit Sans"/>
                          <a:cs typeface="Calibri"/>
                        </a:rPr>
                        <a:t>(</a:t>
                      </a:r>
                      <a:r>
                        <a:rPr lang="en-US" sz="800" b="0" i="0" u="none" strike="noStrike" noProof="0" dirty="0">
                          <a:solidFill>
                            <a:schemeClr val="bg1"/>
                          </a:solidFill>
                          <a:latin typeface="Reddit Sans"/>
                          <a:ea typeface="Reddit Sans"/>
                          <a:cs typeface="Calibri"/>
                        </a:rPr>
                        <a:t>Tasa de </a:t>
                      </a:r>
                      <a:r>
                        <a:rPr lang="en-US" sz="800" b="0" i="0" u="none" strike="noStrike" noProof="0" dirty="0" err="1">
                          <a:solidFill>
                            <a:schemeClr val="bg1"/>
                          </a:solidFill>
                          <a:latin typeface="Reddit Sans"/>
                          <a:ea typeface="Reddit Sans"/>
                          <a:cs typeface="Calibri"/>
                        </a:rPr>
                        <a:t>crecimiento</a:t>
                      </a:r>
                      <a:r>
                        <a:rPr lang="en-US" sz="800" b="0" i="0" u="none" strike="noStrike" noProof="0" dirty="0">
                          <a:solidFill>
                            <a:schemeClr val="bg1"/>
                          </a:solidFill>
                          <a:latin typeface="Reddit Sans"/>
                          <a:ea typeface="Reddit Sans"/>
                          <a:cs typeface="Calibri"/>
                        </a:rPr>
                        <a:t> </a:t>
                      </a:r>
                      <a:r>
                        <a:rPr lang="en-US" sz="800" b="0" i="0" u="none" strike="noStrike" noProof="0" dirty="0" err="1">
                          <a:solidFill>
                            <a:schemeClr val="bg1"/>
                          </a:solidFill>
                          <a:latin typeface="Reddit Sans"/>
                          <a:ea typeface="Reddit Sans"/>
                          <a:cs typeface="Calibri"/>
                        </a:rPr>
                        <a:t>anual</a:t>
                      </a:r>
                      <a:r>
                        <a:rPr lang="en-US" sz="800" b="0" i="0" u="none" strike="noStrike" noProof="0" dirty="0">
                          <a:solidFill>
                            <a:schemeClr val="bg1"/>
                          </a:solidFill>
                          <a:latin typeface="Reddit Sans"/>
                          <a:ea typeface="Reddit Sans"/>
                          <a:cs typeface="Calibri"/>
                        </a:rPr>
                        <a:t> </a:t>
                      </a:r>
                      <a:r>
                        <a:rPr lang="en-US" sz="800" b="0" i="0" u="none" strike="noStrike" noProof="0" dirty="0" err="1">
                          <a:solidFill>
                            <a:schemeClr val="bg1"/>
                          </a:solidFill>
                          <a:latin typeface="Reddit Sans"/>
                          <a:ea typeface="Reddit Sans"/>
                          <a:cs typeface="Calibri"/>
                        </a:rPr>
                        <a:t>compuesta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Reddit Sans"/>
                          <a:ea typeface="Reddit Sans"/>
                          <a:cs typeface="Calibri"/>
                        </a:rPr>
                        <a:t>)</a:t>
                      </a:r>
                      <a:endParaRPr lang="en-US" sz="1100" dirty="0">
                        <a:solidFill>
                          <a:schemeClr val="bg1"/>
                        </a:solidFill>
                        <a:latin typeface="Reddit Sans" panose="020B0604020202020204" charset="0"/>
                        <a:ea typeface="Reddit Sans" panose="020B0604020202020204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Reddit Sans" panose="020B0604020202020204" charset="0"/>
                          <a:ea typeface="Reddit Sans" panose="020B0604020202020204" charset="0"/>
                          <a:cs typeface="Calibri" pitchFamily="34" charset="-120"/>
                        </a:rPr>
                        <a:t>America Latina</a:t>
                      </a:r>
                      <a:endParaRPr lang="en-US" sz="1100" dirty="0">
                        <a:latin typeface="Reddit Sans" panose="020B0604020202020204" charset="0"/>
                        <a:ea typeface="Reddit Sans" panose="020B0604020202020204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Reddit Sans" panose="020B0604020202020204" charset="0"/>
                          <a:ea typeface="Reddit Sans" panose="020B0604020202020204" charset="0"/>
                          <a:cs typeface="Calibri" pitchFamily="34" charset="-120"/>
                        </a:rPr>
                        <a:t>USD 1.8 billones</a:t>
                      </a:r>
                      <a:endParaRPr lang="en-US" sz="1100" dirty="0">
                        <a:latin typeface="Reddit Sans" panose="020B0604020202020204" charset="0"/>
                        <a:ea typeface="Reddit Sans" panose="020B0604020202020204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Reddit Sans" panose="020B0604020202020204" charset="0"/>
                          <a:ea typeface="Reddit Sans" panose="020B0604020202020204" charset="0"/>
                          <a:cs typeface="Calibri" pitchFamily="34" charset="-120"/>
                        </a:rPr>
                        <a:t>USD 2.5B (2028)</a:t>
                      </a:r>
                      <a:endParaRPr lang="en-US" sz="1100" dirty="0">
                        <a:latin typeface="Reddit Sans" panose="020B0604020202020204" charset="0"/>
                        <a:ea typeface="Reddit Sans" panose="020B0604020202020204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Reddit Sans" panose="020B0604020202020204" charset="0"/>
                          <a:ea typeface="Reddit Sans" panose="020B0604020202020204" charset="0"/>
                          <a:cs typeface="Calibri" pitchFamily="34" charset="-120"/>
                        </a:rPr>
                        <a:t>12%</a:t>
                      </a:r>
                      <a:endParaRPr lang="en-US" sz="1100" dirty="0">
                        <a:latin typeface="Reddit Sans" panose="020B0604020202020204" charset="0"/>
                        <a:ea typeface="Reddit Sans" panose="020B0604020202020204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Reddit Sans" panose="020B0604020202020204" charset="0"/>
                          <a:ea typeface="Reddit Sans" panose="020B0604020202020204" charset="0"/>
                          <a:cs typeface="Calibri" pitchFamily="34" charset="-120"/>
                        </a:rPr>
                        <a:t>Sudamerica</a:t>
                      </a:r>
                      <a:endParaRPr lang="en-US" sz="1100" dirty="0">
                        <a:latin typeface="Reddit Sans" panose="020B0604020202020204" charset="0"/>
                        <a:ea typeface="Reddit Sans" panose="020B0604020202020204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Reddit Sans" panose="020B0604020202020204" charset="0"/>
                          <a:ea typeface="Reddit Sans" panose="020B0604020202020204" charset="0"/>
                          <a:cs typeface="Calibri" pitchFamily="34" charset="-120"/>
                        </a:rPr>
                        <a:t>USD 0.52 billones</a:t>
                      </a:r>
                      <a:endParaRPr lang="en-US" sz="1100" dirty="0">
                        <a:latin typeface="Reddit Sans" panose="020B0604020202020204" charset="0"/>
                        <a:ea typeface="Reddit Sans" panose="020B0604020202020204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Reddit Sans" panose="020B0604020202020204" charset="0"/>
                          <a:ea typeface="Reddit Sans" panose="020B0604020202020204" charset="0"/>
                          <a:cs typeface="Calibri" pitchFamily="34" charset="-120"/>
                        </a:rPr>
                        <a:t>USD 1.26B (2031)</a:t>
                      </a:r>
                      <a:endParaRPr lang="en-US" sz="1100" dirty="0">
                        <a:latin typeface="Reddit Sans" panose="020B0604020202020204" charset="0"/>
                        <a:ea typeface="Reddit Sans" panose="020B0604020202020204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Reddit Sans" panose="020B0604020202020204" charset="0"/>
                          <a:ea typeface="Reddit Sans" panose="020B0604020202020204" charset="0"/>
                          <a:cs typeface="Calibri" pitchFamily="34" charset="-120"/>
                        </a:rPr>
                        <a:t>16%</a:t>
                      </a:r>
                      <a:endParaRPr lang="en-US" sz="1100" dirty="0">
                        <a:latin typeface="Reddit Sans" panose="020B0604020202020204" charset="0"/>
                        <a:ea typeface="Reddit Sans" panose="020B0604020202020204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7B85"/>
                          </a:solidFill>
                          <a:latin typeface="Reddit Sans" panose="020B0604020202020204" charset="0"/>
                          <a:ea typeface="Reddit Sans" panose="020B0604020202020204" charset="0"/>
                          <a:cs typeface="Calibri" pitchFamily="34" charset="-120"/>
                        </a:rPr>
                        <a:t>Colombia</a:t>
                      </a:r>
                      <a:endParaRPr lang="en-US" sz="1100" dirty="0">
                        <a:latin typeface="Reddit Sans" panose="020B0604020202020204" charset="0"/>
                        <a:ea typeface="Reddit Sans" panose="020B0604020202020204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Reddit Sans" panose="020B0604020202020204" charset="0"/>
                          <a:ea typeface="Reddit Sans" panose="020B0604020202020204" charset="0"/>
                          <a:cs typeface="Calibri" pitchFamily="34" charset="-120"/>
                        </a:rPr>
                        <a:t>USD 108.5M (2026)</a:t>
                      </a:r>
                      <a:endParaRPr lang="en-US" sz="1100" dirty="0">
                        <a:latin typeface="Reddit Sans" panose="020B0604020202020204" charset="0"/>
                        <a:ea typeface="Reddit Sans" panose="020B0604020202020204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Reddit Sans" panose="020B0604020202020204" charset="0"/>
                          <a:ea typeface="Reddit Sans" panose="020B0604020202020204" charset="0"/>
                          <a:cs typeface="Calibri" pitchFamily="34" charset="-120"/>
                        </a:rPr>
                        <a:t>USD 209.7M (2031)</a:t>
                      </a:r>
                      <a:endParaRPr lang="en-US" sz="1100" dirty="0">
                        <a:latin typeface="Reddit Sans" panose="020B0604020202020204" charset="0"/>
                        <a:ea typeface="Reddit Sans" panose="020B0604020202020204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7B85"/>
                          </a:solidFill>
                          <a:latin typeface="Reddit Sans" panose="020B0604020202020204" charset="0"/>
                          <a:ea typeface="Reddit Sans" panose="020B0604020202020204" charset="0"/>
                          <a:cs typeface="Calibri" pitchFamily="34" charset="-120"/>
                        </a:rPr>
                        <a:t>14.08%</a:t>
                      </a:r>
                      <a:endParaRPr lang="en-US" sz="1100" dirty="0">
                        <a:latin typeface="Reddit Sans" panose="020B0604020202020204" charset="0"/>
                        <a:ea typeface="Reddit Sans" panose="020B0604020202020204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7">
            <a:extLst>
              <a:ext uri="{FF2B5EF4-FFF2-40B4-BE49-F238E27FC236}">
                <a16:creationId xmlns:a16="http://schemas.microsoft.com/office/drawing/2014/main" id="{604E86B5-5326-B06E-49FD-250CA3FAFE8B}"/>
              </a:ext>
            </a:extLst>
          </p:cNvPr>
          <p:cNvSpPr/>
          <p:nvPr/>
        </p:nvSpPr>
        <p:spPr>
          <a:xfrm>
            <a:off x="6009780" y="2334052"/>
            <a:ext cx="2926080" cy="2038568"/>
          </a:xfrm>
          <a:prstGeom prst="roundRect">
            <a:avLst>
              <a:gd name="adj" fmla="val 3306"/>
            </a:avLst>
          </a:prstGeom>
          <a:solidFill>
            <a:srgbClr val="C8EBEF"/>
          </a:solidFill>
          <a:ln w="12700">
            <a:solidFill>
              <a:srgbClr val="1B7B85"/>
            </a:solidFill>
            <a:prstDash val="solid"/>
          </a:ln>
        </p:spPr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572772E7-EDE9-04A3-D7E5-C3638D40A409}"/>
              </a:ext>
            </a:extLst>
          </p:cNvPr>
          <p:cNvSpPr/>
          <p:nvPr/>
        </p:nvSpPr>
        <p:spPr>
          <a:xfrm>
            <a:off x="6101220" y="2425492"/>
            <a:ext cx="27432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Colombia </a:t>
            </a:r>
            <a:r>
              <a:rPr lang="en-US" sz="1300" b="1" dirty="0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Lidera</a:t>
            </a:r>
            <a:endParaRPr lang="en-US" sz="1300" dirty="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BDB0F0BB-C4BA-5B54-670E-286D7BAD9A86}"/>
              </a:ext>
            </a:extLst>
          </p:cNvPr>
          <p:cNvSpPr/>
          <p:nvPr/>
        </p:nvSpPr>
        <p:spPr>
          <a:xfrm>
            <a:off x="6084891" y="2605977"/>
            <a:ext cx="2743200" cy="16642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9.8% CAGR IT Services — el mas alto de </a:t>
            </a:r>
            <a:r>
              <a:rPr lang="en-US" sz="1050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Sudamerica</a:t>
            </a:r>
            <a:endParaRPr lang="en-US" sz="1050" dirty="0" err="1">
              <a:latin typeface="Reddit Sans"/>
              <a:ea typeface="Reddit Sans"/>
              <a:cs typeface="Calibri"/>
            </a:endParaRPr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Servicios</a:t>
            </a:r>
            <a:r>
              <a:rPr lang="en-US" sz="1050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50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crecen</a:t>
            </a:r>
            <a:r>
              <a:rPr lang="en-US" sz="1050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mas </a:t>
            </a:r>
            <a:r>
              <a:rPr lang="en-US" sz="1050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rapido</a:t>
            </a:r>
            <a:r>
              <a:rPr lang="en-US" sz="1050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50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que</a:t>
            </a:r>
            <a:r>
              <a:rPr lang="en-US" sz="1050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software </a:t>
            </a:r>
            <a:r>
              <a:rPr lang="en-US" sz="1050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licenciado</a:t>
            </a:r>
            <a:endParaRPr lang="en-US" sz="1050" dirty="0" err="1">
              <a:latin typeface="Reddit Sans"/>
              <a:ea typeface="Reddit Sans"/>
              <a:cs typeface="Calibri"/>
            </a:endParaRPr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81% de la banca </a:t>
            </a:r>
            <a:r>
              <a:rPr lang="en-US" sz="1050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ya</a:t>
            </a:r>
            <a:r>
              <a:rPr lang="en-US" sz="1050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50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usa</a:t>
            </a:r>
            <a:r>
              <a:rPr lang="en-US" sz="1050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IA</a:t>
            </a:r>
            <a:endParaRPr lang="en-US" sz="1050" dirty="0">
              <a:latin typeface="Reddit Sans"/>
              <a:ea typeface="Reddit Sans"/>
              <a:cs typeface="Calibri"/>
            </a:endParaRPr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0D1B5E"/>
                </a:solidFill>
                <a:latin typeface="Reddit Sans"/>
                <a:ea typeface="Reddit Sans"/>
                <a:cs typeface="Calibri"/>
                <a:hlinkClick r:id="rId3"/>
              </a:rPr>
              <a:t>Aranda</a:t>
            </a:r>
            <a:r>
              <a:rPr lang="en-US" sz="1050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: </a:t>
            </a:r>
            <a:r>
              <a:rPr lang="en-US" sz="1050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Competidor</a:t>
            </a:r>
            <a:r>
              <a:rPr lang="en-US" sz="1050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local </a:t>
            </a:r>
            <a:r>
              <a:rPr lang="en-US" sz="1050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relevante</a:t>
            </a:r>
            <a:endParaRPr lang="en-US" sz="1050" dirty="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AA65E1EA-5650-98F5-1FBF-2424D5CF5F35}"/>
              </a:ext>
            </a:extLst>
          </p:cNvPr>
          <p:cNvSpPr/>
          <p:nvPr/>
        </p:nvSpPr>
        <p:spPr>
          <a:xfrm>
            <a:off x="235338" y="46283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Mordor Intelligence — ITSM Market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Grand View Research — Latin America ITSM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Superfinanciera Colombia — Circular 007</a:t>
            </a:r>
            <a:endParaRPr lang="en-US" sz="7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2805B72B-1365-E465-C3B3-E2593B36595C}"/>
              </a:ext>
            </a:extLst>
          </p:cNvPr>
          <p:cNvSpPr/>
          <p:nvPr/>
        </p:nvSpPr>
        <p:spPr>
          <a:xfrm>
            <a:off x="271914" y="4695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Tamano, crecimiento y oportunidad en Colombia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pic>
        <p:nvPicPr>
          <p:cNvPr id="21" name="Imagen 20" descr="Aranda Software">
            <a:extLst>
              <a:ext uri="{FF2B5EF4-FFF2-40B4-BE49-F238E27FC236}">
                <a16:creationId xmlns:a16="http://schemas.microsoft.com/office/drawing/2014/main" id="{6C519858-D38D-E4BD-9A0F-0664A49223D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226"/>
          <a:stretch>
            <a:fillRect/>
          </a:stretch>
        </p:blipFill>
        <p:spPr>
          <a:xfrm>
            <a:off x="8148637" y="3936546"/>
            <a:ext cx="548369" cy="24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80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4593A-0B51-F9F2-171F-0FC40E38B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latin typeface="Reddit Sans" panose="020B0604020202020204" charset="0"/>
                <a:ea typeface="Reddit Sans" panose="020B0604020202020204" charset="0"/>
              </a:rPr>
              <a:t>Gartner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D0B19F7C-44D1-8557-EE8D-014F78E0818A}"/>
              </a:ext>
            </a:extLst>
          </p:cNvPr>
          <p:cNvSpPr/>
          <p:nvPr/>
        </p:nvSpPr>
        <p:spPr>
          <a:xfrm>
            <a:off x="436512" y="947699"/>
            <a:ext cx="3931920" cy="1950000"/>
          </a:xfrm>
          <a:prstGeom prst="roundRect">
            <a:avLst>
              <a:gd name="adj" fmla="val 2139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3370D9BC-BB67-4BDC-28E2-A9839C6C0311}"/>
              </a:ext>
            </a:extLst>
          </p:cNvPr>
          <p:cNvSpPr/>
          <p:nvPr/>
        </p:nvSpPr>
        <p:spPr>
          <a:xfrm>
            <a:off x="505092" y="947699"/>
            <a:ext cx="3694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ANTES  —  MQ ITSM Platforms (hasta 2023)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52B6BD0-AB8B-08F8-A01B-3D48EC2E766A}"/>
              </a:ext>
            </a:extLst>
          </p:cNvPr>
          <p:cNvSpPr/>
          <p:nvPr/>
        </p:nvSpPr>
        <p:spPr>
          <a:xfrm>
            <a:off x="505092" y="1300000"/>
            <a:ext cx="3694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Plataforma = diferenciador principal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CE76F7EF-DAE6-93D4-8383-3B4CD5B6A314}"/>
              </a:ext>
            </a:extLst>
          </p:cNvPr>
          <p:cNvSpPr/>
          <p:nvPr/>
        </p:nvSpPr>
        <p:spPr>
          <a:xfrm>
            <a:off x="505092" y="1560000"/>
            <a:ext cx="3694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Ranking de vendors por funcionalidad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8605779B-88F5-D352-2D8A-A7941BAB2101}"/>
              </a:ext>
            </a:extLst>
          </p:cNvPr>
          <p:cNvSpPr/>
          <p:nvPr/>
        </p:nvSpPr>
        <p:spPr>
          <a:xfrm>
            <a:off x="505092" y="1820000"/>
            <a:ext cx="3694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ServiceNow vs BMC vs Ivanti vs Freshworks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6ABC817C-2950-5F79-D0FF-ABD0384B74CC}"/>
              </a:ext>
            </a:extLst>
          </p:cNvPr>
          <p:cNvSpPr/>
          <p:nvPr/>
        </p:nvSpPr>
        <p:spPr>
          <a:xfrm>
            <a:off x="505092" y="2080000"/>
            <a:ext cx="3694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</a:t>
            </a:r>
            <a:r>
              <a:rPr lang="en-US" sz="11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Criterio de compra: "¿quién </a:t>
            </a: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tiene </a:t>
            </a:r>
            <a:r>
              <a:rPr lang="en-US" sz="11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más módulos</a:t>
            </a: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?"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40612625-8400-E47D-23E9-0537E142C424}"/>
              </a:ext>
            </a:extLst>
          </p:cNvPr>
          <p:cNvSpPr/>
          <p:nvPr/>
        </p:nvSpPr>
        <p:spPr>
          <a:xfrm>
            <a:off x="505092" y="2340000"/>
            <a:ext cx="3694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Retirado 2023: "Comoditizacion y falta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de diferenciacion en plataformas ITSM"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EF83C6D0-41FD-F49A-DFC6-C03791D5D68D}"/>
              </a:ext>
            </a:extLst>
          </p:cNvPr>
          <p:cNvSpPr/>
          <p:nvPr/>
        </p:nvSpPr>
        <p:spPr>
          <a:xfrm>
            <a:off x="4382148" y="1648000"/>
            <a:ext cx="640080" cy="548640"/>
          </a:xfrm>
          <a:prstGeom prst="rightArrow">
            <a:avLst/>
          </a:prstGeom>
          <a:solidFill>
            <a:schemeClr val="accent1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CAD9BC76-AAC9-B0E3-087F-11067FACA0A8}"/>
              </a:ext>
            </a:extLst>
          </p:cNvPr>
          <p:cNvSpPr/>
          <p:nvPr/>
        </p:nvSpPr>
        <p:spPr>
          <a:xfrm>
            <a:off x="5049660" y="947699"/>
            <a:ext cx="3840480" cy="1950000"/>
          </a:xfrm>
          <a:prstGeom prst="roundRect">
            <a:avLst>
              <a:gd name="adj" fmla="val 2139"/>
            </a:avLst>
          </a:prstGeom>
          <a:solidFill>
            <a:srgbClr val="D4F0E3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977F8511-1352-CC0C-6605-6AA7DFDF36AB}"/>
              </a:ext>
            </a:extLst>
          </p:cNvPr>
          <p:cNvSpPr/>
          <p:nvPr/>
        </p:nvSpPr>
        <p:spPr>
          <a:xfrm>
            <a:off x="5168532" y="947699"/>
            <a:ext cx="3630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B4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AHORA — MQ AI Applications in ITSM (2024-2025)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F9863D2B-943A-7082-2C40-4683EBE91848}"/>
              </a:ext>
            </a:extLst>
          </p:cNvPr>
          <p:cNvSpPr/>
          <p:nvPr/>
        </p:nvSpPr>
        <p:spPr>
          <a:xfrm>
            <a:off x="5168532" y="1280000"/>
            <a:ext cx="3630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Inteligencia = diferenciador principal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46EB2A4E-54B7-B2F6-AA2C-FF7EEF601A15}"/>
              </a:ext>
            </a:extLst>
          </p:cNvPr>
          <p:cNvSpPr/>
          <p:nvPr/>
        </p:nvSpPr>
        <p:spPr>
          <a:xfrm>
            <a:off x="5168532" y="1505000"/>
            <a:ext cx="3630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9 capacidades </a:t>
            </a:r>
            <a:r>
              <a:rPr lang="en-US" sz="11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críticas </a:t>
            </a: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de IA evaluadas</a:t>
            </a:r>
            <a:r>
              <a:rPr lang="en-US" sz="11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(abajo)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A4CE71F4-110F-1386-A382-E7801E75612D}"/>
              </a:ext>
            </a:extLst>
          </p:cNvPr>
          <p:cNvSpPr/>
          <p:nvPr/>
        </p:nvSpPr>
        <p:spPr>
          <a:xfrm>
            <a:off x="5168532" y="1730000"/>
            <a:ext cx="3630168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▪  Solo 1 Lider </a:t>
            </a:r>
            <a:r>
              <a:rPr lang="en-US" sz="110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en</a:t>
            </a:r>
            <a:r>
              <a:rPr lang="en-US" sz="11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2025: </a:t>
            </a:r>
            <a:r>
              <a:rPr lang="en-US" sz="1100" b="1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ServiceNow</a:t>
            </a:r>
            <a:endParaRPr lang="en-US" sz="1100" b="1">
              <a:latin typeface="Reddit Sans"/>
              <a:ea typeface="Reddit Sans"/>
              <a:cs typeface="Calibri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BF8090C2-C149-679F-54AE-14E730EA0744}"/>
              </a:ext>
            </a:extLst>
          </p:cNvPr>
          <p:cNvSpPr/>
          <p:nvPr/>
        </p:nvSpPr>
        <p:spPr>
          <a:xfrm>
            <a:off x="5168532" y="1955000"/>
            <a:ext cx="3630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Challenger: Moveworks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72F929BF-B342-23A2-6FBF-6976F7051838}"/>
              </a:ext>
            </a:extLst>
          </p:cNvPr>
          <p:cNvSpPr/>
          <p:nvPr/>
        </p:nvSpPr>
        <p:spPr>
          <a:xfrm>
            <a:off x="5168532" y="2180000"/>
            <a:ext cx="3630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▪  Niche: BMC, Freshworks, SymphonyAI...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DF86FF12-AE91-4146-0149-CBB1AA0C144D}"/>
              </a:ext>
            </a:extLst>
          </p:cNvPr>
          <p:cNvSpPr/>
          <p:nvPr/>
        </p:nvSpPr>
        <p:spPr>
          <a:xfrm>
            <a:off x="5168532" y="2405000"/>
            <a:ext cx="3630168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▪  La </a:t>
            </a:r>
            <a:r>
              <a:rPr lang="en-US" sz="110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plataforma</a:t>
            </a:r>
            <a:r>
              <a:rPr lang="en-US" sz="11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es </a:t>
            </a:r>
            <a:r>
              <a:rPr lang="en-US" sz="110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insumo</a:t>
            </a:r>
            <a:r>
              <a:rPr lang="en-US" sz="11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, el framework</a:t>
            </a:r>
            <a:endParaRPr lang="en-US" sz="1100" dirty="0">
              <a:latin typeface="Reddit Sans"/>
              <a:ea typeface="Reddit Sans"/>
              <a:cs typeface="Calibri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de IA y </a:t>
            </a:r>
            <a:r>
              <a:rPr lang="en-US" sz="110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gobierno</a:t>
            </a:r>
            <a:r>
              <a:rPr lang="en-US" sz="110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es el </a:t>
            </a:r>
            <a:r>
              <a:rPr lang="en-US" sz="110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producto</a:t>
            </a:r>
            <a:endParaRPr lang="en-US" sz="1100" dirty="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455F574C-ABCD-138E-CCA3-6585B423DC66}"/>
              </a:ext>
            </a:extLst>
          </p:cNvPr>
          <p:cNvSpPr/>
          <p:nvPr/>
        </p:nvSpPr>
        <p:spPr>
          <a:xfrm>
            <a:off x="386220" y="4263923"/>
            <a:ext cx="8503920" cy="27432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 lIns="91440" tIns="45720" rIns="91440" bIns="4572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Para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PersonalSoft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: El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diferenciador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no es la Plataforma, es el framework de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madurez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y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gobierno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que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aplicamos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sobre</a:t>
            </a: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ella</a:t>
            </a:r>
            <a:endParaRPr lang="en-US" sz="900" dirty="0">
              <a:latin typeface="Reddit Sans"/>
              <a:ea typeface="Reddit Sans"/>
              <a:cs typeface="Calibri"/>
            </a:endParaRPr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E0E5B276-8F3C-47DF-7F00-60BD420809AE}"/>
              </a:ext>
            </a:extLst>
          </p:cNvPr>
          <p:cNvSpPr/>
          <p:nvPr/>
        </p:nvSpPr>
        <p:spPr>
          <a:xfrm>
            <a:off x="203340" y="4610089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MQ AI Applications in ITSM 2025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— Retire ITSM MQ 2023</a:t>
            </a:r>
            <a:endParaRPr lang="en-US" sz="7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3CF3C6B0-78D1-12FD-46C2-6822C8AA6994}"/>
              </a:ext>
            </a:extLst>
          </p:cNvPr>
          <p:cNvSpPr/>
          <p:nvPr/>
        </p:nvSpPr>
        <p:spPr>
          <a:xfrm>
            <a:off x="340500" y="521632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El mercado </a:t>
            </a:r>
            <a:r>
              <a:rPr lang="en-US" sz="1100" dirty="0" err="1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ya</a:t>
            </a:r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 no </a:t>
            </a:r>
            <a:r>
              <a:rPr lang="en-US" sz="1100" dirty="0" err="1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compite</a:t>
            </a:r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100" dirty="0" err="1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por</a:t>
            </a:r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100" dirty="0" err="1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plataforma</a:t>
            </a:r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, </a:t>
            </a:r>
            <a:r>
              <a:rPr lang="en-US" sz="1100" dirty="0" err="1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compite</a:t>
            </a:r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100" dirty="0" err="1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por</a:t>
            </a:r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100" dirty="0" err="1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inteligencia</a:t>
            </a:r>
            <a:endParaRPr lang="en-US" sz="1100" dirty="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22" name="Panel 9 Capacidades"/>
          <p:cNvSpPr/>
          <p:nvPr/>
        </p:nvSpPr>
        <p:spPr>
          <a:xfrm>
            <a:off x="436512" y="2970000"/>
            <a:ext cx="8453628" cy="1150000"/>
          </a:xfrm>
          <a:prstGeom prst="roundRect">
            <a:avLst>
              <a:gd name="adj" fmla="val 3200"/>
            </a:avLst>
          </a:prstGeom>
          <a:solidFill>
            <a:srgbClr val="EAF7F0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23" name="Titulo Panel"/>
          <p:cNvSpPr/>
          <p:nvPr/>
        </p:nvSpPr>
        <p:spPr>
          <a:xfrm>
            <a:off x="636512" y="3000000"/>
            <a:ext cx="8053628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Las 9 capacidades críticas de IA que evalúa Gartner</a:t>
            </a:r>
            <a:r>
              <a:rPr lang="es-CO" sz="1000">
                <a:solidFill>
                  <a:srgbClr val="5A6B7B"/>
                </a:solidFill>
                <a:latin typeface="Reddit Sans"/>
                <a:ea typeface="Reddit Sans"/>
                <a:cs typeface="Calibri"/>
              </a:rPr>
              <a:t>  ·  un producto debe cumplir mínimo 5 para calificar</a:t>
            </a:r>
          </a:p>
        </p:txBody>
      </p:sp>
      <p:sp>
        <p:nvSpPr>
          <p:cNvPr id="24" name="Chip 1"/>
          <p:cNvSpPr/>
          <p:nvPr/>
        </p:nvSpPr>
        <p:spPr>
          <a:xfrm>
            <a:off x="636512" y="325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1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Agente virtual de soporte</a:t>
            </a:r>
          </a:p>
        </p:txBody>
      </p:sp>
      <p:sp>
        <p:nvSpPr>
          <p:cNvPr id="25" name="Chip 2"/>
          <p:cNvSpPr/>
          <p:nvPr/>
        </p:nvSpPr>
        <p:spPr>
          <a:xfrm>
            <a:off x="3371054" y="325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2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Descubrimiento de conocimiento</a:t>
            </a:r>
          </a:p>
        </p:txBody>
      </p:sp>
      <p:sp>
        <p:nvSpPr>
          <p:cNvPr id="26" name="Chip 3"/>
          <p:cNvSpPr/>
          <p:nvPr/>
        </p:nvSpPr>
        <p:spPr>
          <a:xfrm>
            <a:off x="6105596" y="325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3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Escalamiento inteligente</a:t>
            </a:r>
          </a:p>
        </p:txBody>
      </p:sp>
      <p:sp>
        <p:nvSpPr>
          <p:cNvPr id="27" name="Chip 4"/>
          <p:cNvSpPr/>
          <p:nvPr/>
        </p:nvSpPr>
        <p:spPr>
          <a:xfrm>
            <a:off x="636512" y="354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4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Asesoría inteligente de riesgo</a:t>
            </a:r>
          </a:p>
        </p:txBody>
      </p:sp>
      <p:sp>
        <p:nvSpPr>
          <p:cNvPr id="28" name="Chip 5"/>
          <p:cNvSpPr/>
          <p:nvPr/>
        </p:nvSpPr>
        <p:spPr>
          <a:xfrm>
            <a:off x="3371054" y="354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5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Triage inteligente</a:t>
            </a:r>
          </a:p>
        </p:txBody>
      </p:sp>
      <p:sp>
        <p:nvSpPr>
          <p:cNvPr id="29" name="Chip 6"/>
          <p:cNvSpPr/>
          <p:nvPr/>
        </p:nvSpPr>
        <p:spPr>
          <a:xfrm>
            <a:off x="6105596" y="354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6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Categorización inteligente</a:t>
            </a:r>
          </a:p>
        </p:txBody>
      </p:sp>
      <p:sp>
        <p:nvSpPr>
          <p:cNvPr id="30" name="Chip 7"/>
          <p:cNvSpPr/>
          <p:nvPr/>
        </p:nvSpPr>
        <p:spPr>
          <a:xfrm>
            <a:off x="636512" y="383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7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Swarming de expertos</a:t>
            </a:r>
          </a:p>
        </p:txBody>
      </p:sp>
      <p:sp>
        <p:nvSpPr>
          <p:cNvPr id="31" name="Chip 8"/>
          <p:cNvSpPr/>
          <p:nvPr/>
        </p:nvSpPr>
        <p:spPr>
          <a:xfrm>
            <a:off x="3371054" y="383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8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Detección de incidentes mayores</a:t>
            </a:r>
          </a:p>
        </p:txBody>
      </p:sp>
      <p:sp>
        <p:nvSpPr>
          <p:cNvPr id="32" name="Chip 9"/>
          <p:cNvSpPr/>
          <p:nvPr/>
        </p:nvSpPr>
        <p:spPr>
          <a:xfrm>
            <a:off x="6105596" y="3830000"/>
            <a:ext cx="2584542" cy="2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7B4B"/>
            </a:solidFill>
          </a:ln>
        </p:spPr>
        <p:txBody>
          <a:bodyPr wrap="square" lIns="300000" tIns="18000" rIns="36000" bIns="18000" rtlCol="0" anchor="ctr"/>
          <a:lstStyle/>
          <a:p>
            <a:pPr marL="0" indent="0">
              <a:buNone/>
            </a:pPr>
            <a:r>
              <a:rPr lang="es-CO" sz="900" b="1">
                <a:solidFill>
                  <a:srgbClr val="1E7B4B"/>
                </a:solidFill>
                <a:latin typeface="Reddit Sans"/>
                <a:ea typeface="Reddit Sans"/>
                <a:cs typeface="Calibri"/>
              </a:rPr>
              <a:t>9  </a:t>
            </a:r>
            <a:r>
              <a:rPr lang="es-CO" sz="9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Detección de problemas (causa raíz)</a:t>
            </a:r>
          </a:p>
        </p:txBody>
      </p:sp>
    </p:spTree>
    <p:extLst>
      <p:ext uri="{BB962C8B-B14F-4D97-AF65-F5344CB8AC3E}">
        <p14:creationId xmlns:p14="http://schemas.microsoft.com/office/powerpoint/2010/main" val="3697225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4FA26-9892-86D1-3AA5-CADBC4E5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90" y="184990"/>
            <a:ext cx="8211000" cy="572700"/>
          </a:xfrm>
        </p:spPr>
        <p:txBody>
          <a:bodyPr>
            <a:normAutofit/>
          </a:bodyPr>
          <a:lstStyle/>
          <a:p>
            <a:r>
              <a:rPr lang="en-US" dirty="0">
                <a:latin typeface="Reddit Sans" panose="020B0604020202020204" charset="0"/>
                <a:ea typeface="Reddit Sans" panose="020B0604020202020204" charset="0"/>
              </a:rPr>
              <a:t>Los 12 Grandes </a:t>
            </a:r>
            <a:r>
              <a:rPr lang="en-US" dirty="0" err="1">
                <a:latin typeface="Reddit Sans" panose="020B0604020202020204" charset="0"/>
                <a:ea typeface="Reddit Sans" panose="020B0604020202020204" charset="0"/>
              </a:rPr>
              <a:t>ya</a:t>
            </a:r>
            <a:r>
              <a:rPr lang="en-US" dirty="0">
                <a:latin typeface="Reddit Sans" panose="020B0604020202020204" charset="0"/>
                <a:ea typeface="Reddit Sans" panose="020B0604020202020204" charset="0"/>
              </a:rPr>
              <a:t> </a:t>
            </a:r>
            <a:r>
              <a:rPr lang="en-US" dirty="0" err="1">
                <a:latin typeface="Reddit Sans" panose="020B0604020202020204" charset="0"/>
                <a:ea typeface="Reddit Sans" panose="020B0604020202020204" charset="0"/>
              </a:rPr>
              <a:t>Convergieron</a:t>
            </a:r>
            <a:endParaRPr lang="es-CO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986CE888-23E1-8DC3-5C15-D1E5CB101D55}"/>
              </a:ext>
            </a:extLst>
          </p:cNvPr>
          <p:cNvSpPr/>
          <p:nvPr/>
        </p:nvSpPr>
        <p:spPr>
          <a:xfrm>
            <a:off x="306290" y="773092"/>
            <a:ext cx="2743200" cy="2834640"/>
          </a:xfrm>
          <a:prstGeom prst="roundRect">
            <a:avLst>
              <a:gd name="adj" fmla="val 2667"/>
            </a:avLst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6B8072A5-4AB6-5862-2BB5-66A4FDF370ED}"/>
              </a:ext>
            </a:extLst>
          </p:cNvPr>
          <p:cNvSpPr/>
          <p:nvPr/>
        </p:nvSpPr>
        <p:spPr>
          <a:xfrm>
            <a:off x="397730" y="8462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Cuota de Mercado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F4881E9-E26D-B07B-586E-B7125342703F}"/>
              </a:ext>
            </a:extLst>
          </p:cNvPr>
          <p:cNvSpPr/>
          <p:nvPr/>
        </p:nvSpPr>
        <p:spPr>
          <a:xfrm>
            <a:off x="397730" y="11937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ServiceNow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6A4DFD91-4580-7C71-5372-71DE27C4D632}"/>
              </a:ext>
            </a:extLst>
          </p:cNvPr>
          <p:cNvSpPr/>
          <p:nvPr/>
        </p:nvSpPr>
        <p:spPr>
          <a:xfrm>
            <a:off x="1613882" y="1248580"/>
            <a:ext cx="933785" cy="18288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8975F2E2-1F4C-BE7B-6F2A-AD58108AA3ED}"/>
              </a:ext>
            </a:extLst>
          </p:cNvPr>
          <p:cNvSpPr/>
          <p:nvPr/>
        </p:nvSpPr>
        <p:spPr>
          <a:xfrm>
            <a:off x="2593387" y="11937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8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44.4%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49F4855B-7A79-CC8B-39BF-E2CB2FF3B547}"/>
              </a:ext>
            </a:extLst>
          </p:cNvPr>
          <p:cNvSpPr/>
          <p:nvPr/>
        </p:nvSpPr>
        <p:spPr>
          <a:xfrm>
            <a:off x="397730" y="15411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Atlassian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9082133E-1274-CDF2-ECB3-525F6271407E}"/>
              </a:ext>
            </a:extLst>
          </p:cNvPr>
          <p:cNvSpPr/>
          <p:nvPr/>
        </p:nvSpPr>
        <p:spPr>
          <a:xfrm>
            <a:off x="1613882" y="1596052"/>
            <a:ext cx="258684" cy="182880"/>
          </a:xfrm>
          <a:prstGeom prst="rect">
            <a:avLst/>
          </a:prstGeom>
          <a:solidFill>
            <a:srgbClr val="1F6FBA"/>
          </a:solidFill>
          <a:ln w="12700">
            <a:solidFill>
              <a:srgbClr val="1F6FBA"/>
            </a:solidFill>
            <a:prstDash val="solid"/>
          </a:ln>
        </p:spPr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5B8D29E3-B0CF-E1B7-68C1-4AB23333DA78}"/>
              </a:ext>
            </a:extLst>
          </p:cNvPr>
          <p:cNvSpPr/>
          <p:nvPr/>
        </p:nvSpPr>
        <p:spPr>
          <a:xfrm>
            <a:off x="1918286" y="154118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BA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12.3%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1BFA8BCF-5D40-A372-BA9E-BE816C7A4E99}"/>
              </a:ext>
            </a:extLst>
          </p:cNvPr>
          <p:cNvSpPr/>
          <p:nvPr/>
        </p:nvSpPr>
        <p:spPr>
          <a:xfrm>
            <a:off x="397730" y="18886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BMC Helix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0A8148FE-E5F1-9832-EF50-7F0FAC3FB5EA}"/>
              </a:ext>
            </a:extLst>
          </p:cNvPr>
          <p:cNvSpPr/>
          <p:nvPr/>
        </p:nvSpPr>
        <p:spPr>
          <a:xfrm>
            <a:off x="1613882" y="1943524"/>
            <a:ext cx="178765" cy="182880"/>
          </a:xfrm>
          <a:prstGeom prst="rect">
            <a:avLst/>
          </a:prstGeom>
          <a:solidFill>
            <a:srgbClr val="1B7B85"/>
          </a:solidFill>
          <a:ln w="12700">
            <a:solidFill>
              <a:srgbClr val="1B7B85"/>
            </a:solidFill>
            <a:prstDash val="solid"/>
          </a:ln>
        </p:spPr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099B78D3-6F63-F549-B541-BD8BD4D1BEC7}"/>
              </a:ext>
            </a:extLst>
          </p:cNvPr>
          <p:cNvSpPr/>
          <p:nvPr/>
        </p:nvSpPr>
        <p:spPr>
          <a:xfrm>
            <a:off x="1838367" y="18886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8.5%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8807BD40-6085-CBB4-EF74-1559F02339BD}"/>
              </a:ext>
            </a:extLst>
          </p:cNvPr>
          <p:cNvSpPr/>
          <p:nvPr/>
        </p:nvSpPr>
        <p:spPr>
          <a:xfrm>
            <a:off x="397730" y="22361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Ivanti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3B8AB254-3C9B-3984-2A89-6E761D174C48}"/>
              </a:ext>
            </a:extLst>
          </p:cNvPr>
          <p:cNvSpPr/>
          <p:nvPr/>
        </p:nvSpPr>
        <p:spPr>
          <a:xfrm>
            <a:off x="1613882" y="2290996"/>
            <a:ext cx="130393" cy="1828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F9979950-1831-A5C9-E1E2-0FCCB69B9576}"/>
              </a:ext>
            </a:extLst>
          </p:cNvPr>
          <p:cNvSpPr/>
          <p:nvPr/>
        </p:nvSpPr>
        <p:spPr>
          <a:xfrm>
            <a:off x="1789995" y="22361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61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6.2%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5B32CB71-6D76-E6B4-865A-A70B3C3F84D9}"/>
              </a:ext>
            </a:extLst>
          </p:cNvPr>
          <p:cNvSpPr/>
          <p:nvPr/>
        </p:nvSpPr>
        <p:spPr>
          <a:xfrm>
            <a:off x="397730" y="25836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Freshworks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4BE78008-1016-E255-0051-03ACE29910B3}"/>
              </a:ext>
            </a:extLst>
          </p:cNvPr>
          <p:cNvSpPr/>
          <p:nvPr/>
        </p:nvSpPr>
        <p:spPr>
          <a:xfrm>
            <a:off x="1613882" y="2638468"/>
            <a:ext cx="121981" cy="182880"/>
          </a:xfrm>
          <a:prstGeom prst="rect">
            <a:avLst/>
          </a:prstGeom>
          <a:solidFill>
            <a:srgbClr val="00A76F"/>
          </a:solidFill>
          <a:ln w="12700">
            <a:solidFill>
              <a:srgbClr val="00A76F"/>
            </a:solidFill>
            <a:prstDash val="solid"/>
          </a:ln>
        </p:spPr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3348742E-B4F5-0966-22ED-A616D6300A4F}"/>
              </a:ext>
            </a:extLst>
          </p:cNvPr>
          <p:cNvSpPr/>
          <p:nvPr/>
        </p:nvSpPr>
        <p:spPr>
          <a:xfrm>
            <a:off x="1781583" y="258360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76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5.8%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E004D1A7-72D1-281C-06DD-D52A6C2552DF}"/>
              </a:ext>
            </a:extLst>
          </p:cNvPr>
          <p:cNvSpPr/>
          <p:nvPr/>
        </p:nvSpPr>
        <p:spPr>
          <a:xfrm>
            <a:off x="397730" y="29310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Otros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CDC9C8CA-065F-FC23-3B6A-A4E83B9B412E}"/>
              </a:ext>
            </a:extLst>
          </p:cNvPr>
          <p:cNvSpPr/>
          <p:nvPr/>
        </p:nvSpPr>
        <p:spPr>
          <a:xfrm>
            <a:off x="1613882" y="2985940"/>
            <a:ext cx="479511" cy="1828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547D6033-13DE-98B7-1A4E-9C5865FBFBD2}"/>
              </a:ext>
            </a:extLst>
          </p:cNvPr>
          <p:cNvSpPr/>
          <p:nvPr/>
        </p:nvSpPr>
        <p:spPr>
          <a:xfrm>
            <a:off x="2139113" y="29310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22.8%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3" name="Shape 24">
            <a:extLst>
              <a:ext uri="{FF2B5EF4-FFF2-40B4-BE49-F238E27FC236}">
                <a16:creationId xmlns:a16="http://schemas.microsoft.com/office/drawing/2014/main" id="{A45454C4-C584-2696-0F15-44A24CB9FC66}"/>
              </a:ext>
            </a:extLst>
          </p:cNvPr>
          <p:cNvSpPr/>
          <p:nvPr/>
        </p:nvSpPr>
        <p:spPr>
          <a:xfrm>
            <a:off x="3232370" y="773092"/>
            <a:ext cx="5577840" cy="1298448"/>
          </a:xfrm>
          <a:prstGeom prst="roundRect">
            <a:avLst>
              <a:gd name="adj" fmla="val 5634"/>
            </a:avLst>
          </a:prstGeom>
          <a:solidFill>
            <a:srgbClr val="C8DEFF"/>
          </a:solidFill>
          <a:ln w="12700">
            <a:solidFill>
              <a:srgbClr val="1F6FBA"/>
            </a:solidFill>
            <a:prstDash val="solid"/>
          </a:ln>
        </p:spPr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CA2E5A3F-78EB-56BF-26C7-0C61862A1AE9}"/>
              </a:ext>
            </a:extLst>
          </p:cNvPr>
          <p:cNvSpPr/>
          <p:nvPr/>
        </p:nvSpPr>
        <p:spPr>
          <a:xfrm>
            <a:off x="3323810" y="8462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Lo que todos dicen: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FC28A396-07E4-9CD5-C0BC-C1955E26533C}"/>
              </a:ext>
            </a:extLst>
          </p:cNvPr>
          <p:cNvSpPr/>
          <p:nvPr/>
        </p:nvSpPr>
        <p:spPr>
          <a:xfrm>
            <a:off x="3323810" y="112056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"AI-first  ·  Virtual agents  ·  XLA sobre SLA  ·  Remediacion autonoma  ·  AIOps"</a:t>
            </a:r>
            <a:endParaRPr lang="en-US" sz="1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CA253C3A-7725-739B-6D3B-378755F73324}"/>
              </a:ext>
            </a:extLst>
          </p:cNvPr>
          <p:cNvSpPr/>
          <p:nvPr/>
        </p:nvSpPr>
        <p:spPr>
          <a:xfrm>
            <a:off x="3323810" y="1431460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El mensaje es identico. La diferenciacion real esta en plataforma propietaria, profundidad de IA y madurez del modelo de gobierno.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1F5EF3A5-CB2C-C1A0-BD28-8DA961AAB858}"/>
              </a:ext>
            </a:extLst>
          </p:cNvPr>
          <p:cNvSpPr/>
          <p:nvPr/>
        </p:nvSpPr>
        <p:spPr>
          <a:xfrm>
            <a:off x="3232370" y="2217844"/>
            <a:ext cx="5577840" cy="1389888"/>
          </a:xfrm>
          <a:prstGeom prst="roundRect">
            <a:avLst>
              <a:gd name="adj" fmla="val 5263"/>
            </a:avLst>
          </a:prstGeom>
          <a:solidFill>
            <a:srgbClr val="FFF3D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683D6CE9-EC65-C4C5-6A41-221D5DBC5392}"/>
              </a:ext>
            </a:extLst>
          </p:cNvPr>
          <p:cNvSpPr/>
          <p:nvPr/>
        </p:nvSpPr>
        <p:spPr>
          <a:xfrm>
            <a:off x="3323810" y="2290996"/>
            <a:ext cx="53949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La </a:t>
            </a:r>
            <a:r>
              <a:rPr lang="en-US" sz="12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Brecha: </a:t>
            </a:r>
            <a:endParaRPr lang="en-US" sz="1200" b="1" dirty="0">
              <a:solidFill>
                <a:srgbClr val="0D1B5E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15303EF0-0481-5B5D-1C27-EF5AE7BBAC07}"/>
              </a:ext>
            </a:extLst>
          </p:cNvPr>
          <p:cNvSpPr/>
          <p:nvPr/>
        </p:nvSpPr>
        <p:spPr>
          <a:xfrm>
            <a:off x="3323810" y="2675044"/>
            <a:ext cx="539496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endParaRPr lang="en-US" sz="1050" dirty="0">
              <a:solidFill>
                <a:srgbClr val="1A1A2E"/>
              </a:solidFill>
              <a:latin typeface="Reddit Sans" panose="020B0604020202020204" charset="0"/>
              <a:ea typeface="Reddit Sans" panose="020B0604020202020204" charset="0"/>
              <a:cs typeface="Calibri"/>
            </a:endParaRPr>
          </a:p>
        </p:txBody>
      </p:sp>
      <p:sp>
        <p:nvSpPr>
          <p:cNvPr id="30" name="Shape 31">
            <a:extLst>
              <a:ext uri="{FF2B5EF4-FFF2-40B4-BE49-F238E27FC236}">
                <a16:creationId xmlns:a16="http://schemas.microsoft.com/office/drawing/2014/main" id="{52FCCC59-6DF5-24C5-E7BC-19E8F1176BEF}"/>
              </a:ext>
            </a:extLst>
          </p:cNvPr>
          <p:cNvSpPr/>
          <p:nvPr/>
        </p:nvSpPr>
        <p:spPr>
          <a:xfrm>
            <a:off x="306290" y="3680884"/>
            <a:ext cx="2057400" cy="804672"/>
          </a:xfrm>
          <a:prstGeom prst="roundRect">
            <a:avLst>
              <a:gd name="adj" fmla="val 6818"/>
            </a:avLst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7D369B12-7080-7B39-BAF6-24FCECBE8C02}"/>
              </a:ext>
            </a:extLst>
          </p:cNvPr>
          <p:cNvSpPr/>
          <p:nvPr/>
        </p:nvSpPr>
        <p:spPr>
          <a:xfrm>
            <a:off x="397730" y="3735748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9 Capacidades criticas IA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(Gartner)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2" name="Shape 33">
            <a:extLst>
              <a:ext uri="{FF2B5EF4-FFF2-40B4-BE49-F238E27FC236}">
                <a16:creationId xmlns:a16="http://schemas.microsoft.com/office/drawing/2014/main" id="{496FF3EC-3755-2AA5-975A-6AB421FF0748}"/>
              </a:ext>
            </a:extLst>
          </p:cNvPr>
          <p:cNvSpPr/>
          <p:nvPr/>
        </p:nvSpPr>
        <p:spPr>
          <a:xfrm>
            <a:off x="2509994" y="3680884"/>
            <a:ext cx="2057400" cy="804672"/>
          </a:xfrm>
          <a:prstGeom prst="roundRect">
            <a:avLst>
              <a:gd name="adj" fmla="val 6818"/>
            </a:avLst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095B39C0-66AB-32EE-8407-DC15C1F2628F}"/>
              </a:ext>
            </a:extLst>
          </p:cNvPr>
          <p:cNvSpPr/>
          <p:nvPr/>
        </p:nvSpPr>
        <p:spPr>
          <a:xfrm>
            <a:off x="2601434" y="3735748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ITIL v5 lanzado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12 feb 2026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4" name="Shape 35">
            <a:extLst>
              <a:ext uri="{FF2B5EF4-FFF2-40B4-BE49-F238E27FC236}">
                <a16:creationId xmlns:a16="http://schemas.microsoft.com/office/drawing/2014/main" id="{A6835C04-5E26-9845-B611-516228F61007}"/>
              </a:ext>
            </a:extLst>
          </p:cNvPr>
          <p:cNvSpPr/>
          <p:nvPr/>
        </p:nvSpPr>
        <p:spPr>
          <a:xfrm>
            <a:off x="4713698" y="3680884"/>
            <a:ext cx="2057400" cy="804672"/>
          </a:xfrm>
          <a:prstGeom prst="roundRect">
            <a:avLst>
              <a:gd name="adj" fmla="val 6818"/>
            </a:avLst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6">
            <a:extLst>
              <a:ext uri="{FF2B5EF4-FFF2-40B4-BE49-F238E27FC236}">
                <a16:creationId xmlns:a16="http://schemas.microsoft.com/office/drawing/2014/main" id="{9D80DB2D-9848-8D49-94A0-0116C85DEC1C}"/>
              </a:ext>
            </a:extLst>
          </p:cNvPr>
          <p:cNvSpPr/>
          <p:nvPr/>
        </p:nvSpPr>
        <p:spPr>
          <a:xfrm>
            <a:off x="4805138" y="3735748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68% adoptaran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XLA en 2026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6" name="Shape 37">
            <a:extLst>
              <a:ext uri="{FF2B5EF4-FFF2-40B4-BE49-F238E27FC236}">
                <a16:creationId xmlns:a16="http://schemas.microsoft.com/office/drawing/2014/main" id="{4B38EA38-6912-D1BC-220E-C7C019697656}"/>
              </a:ext>
            </a:extLst>
          </p:cNvPr>
          <p:cNvSpPr/>
          <p:nvPr/>
        </p:nvSpPr>
        <p:spPr>
          <a:xfrm>
            <a:off x="6917402" y="3680884"/>
            <a:ext cx="1892808" cy="804672"/>
          </a:xfrm>
          <a:prstGeom prst="roundRect">
            <a:avLst>
              <a:gd name="adj" fmla="val 6818"/>
            </a:avLst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8">
            <a:extLst>
              <a:ext uri="{FF2B5EF4-FFF2-40B4-BE49-F238E27FC236}">
                <a16:creationId xmlns:a16="http://schemas.microsoft.com/office/drawing/2014/main" id="{0AEF62B2-6BA3-89A3-9CAE-52C402FE0F10}"/>
              </a:ext>
            </a:extLst>
          </p:cNvPr>
          <p:cNvSpPr/>
          <p:nvPr/>
        </p:nvSpPr>
        <p:spPr>
          <a:xfrm>
            <a:off x="7008842" y="3735748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44.4% cuota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ServiceNow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43598009-C347-9DF0-53E3-AEC4619C772B}"/>
              </a:ext>
            </a:extLst>
          </p:cNvPr>
          <p:cNvSpPr/>
          <p:nvPr/>
        </p:nvSpPr>
        <p:spPr>
          <a:xfrm>
            <a:off x="0" y="45861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MQ AI Applications in ITSM 2025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PeopleCert ITIL v5 Launch Feb 2026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Freshservice XLA Report 2026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IDC ITSM Market Share 2024</a:t>
            </a:r>
            <a:endParaRPr lang="en-US" sz="7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0" name="Text 41">
            <a:extLst>
              <a:ext uri="{FF2B5EF4-FFF2-40B4-BE49-F238E27FC236}">
                <a16:creationId xmlns:a16="http://schemas.microsoft.com/office/drawing/2014/main" id="{F723FB7B-388B-67C2-D240-FF4BB55A64E4}"/>
              </a:ext>
            </a:extLst>
          </p:cNvPr>
          <p:cNvSpPr/>
          <p:nvPr/>
        </p:nvSpPr>
        <p:spPr>
          <a:xfrm>
            <a:off x="8124410" y="463186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 / 12</a:t>
            </a:r>
            <a:endParaRPr lang="en-US" sz="8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B7FD0913-0BB4-5C52-9D4A-CB0B34E195FF}"/>
              </a:ext>
            </a:extLst>
          </p:cNvPr>
          <p:cNvSpPr/>
          <p:nvPr/>
        </p:nvSpPr>
        <p:spPr>
          <a:xfrm>
            <a:off x="333790" y="5033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Todos venden AI-first — la brecha esta en el framework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101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41C89-6334-9E35-5C50-DD710F42C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7 </a:t>
            </a:r>
            <a:r>
              <a:rPr lang="en-US" dirty="0" err="1"/>
              <a:t>Tendencias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definen</a:t>
            </a:r>
            <a:r>
              <a:rPr lang="en-US" dirty="0"/>
              <a:t> el Mercado</a:t>
            </a:r>
            <a:endParaRPr lang="es-CO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284017B9-2CC5-254F-BE8C-98F3FEED86D0}"/>
              </a:ext>
            </a:extLst>
          </p:cNvPr>
          <p:cNvSpPr/>
          <p:nvPr/>
        </p:nvSpPr>
        <p:spPr>
          <a:xfrm>
            <a:off x="320040" y="1024128"/>
            <a:ext cx="475488" cy="74980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3B5B9307-A24A-3D17-ACC7-17E5892806CD}"/>
              </a:ext>
            </a:extLst>
          </p:cNvPr>
          <p:cNvSpPr/>
          <p:nvPr/>
        </p:nvSpPr>
        <p:spPr>
          <a:xfrm>
            <a:off x="320040" y="117043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5DF36B98-4350-2D77-FB16-CF2A900D9D44}"/>
              </a:ext>
            </a:extLst>
          </p:cNvPr>
          <p:cNvSpPr/>
          <p:nvPr/>
        </p:nvSpPr>
        <p:spPr>
          <a:xfrm>
            <a:off x="868680" y="10241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como table stakes</a:t>
            </a:r>
            <a:endParaRPr lang="en-US" sz="11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26E50C0D-ABAE-CFFD-AB19-EA22F874F822}"/>
              </a:ext>
            </a:extLst>
          </p:cNvPr>
          <p:cNvSpPr/>
          <p:nvPr/>
        </p:nvSpPr>
        <p:spPr>
          <a:xfrm>
            <a:off x="868680" y="138988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-26.6% MTTR  ·  +34.6% resolucion con GenAI</a:t>
            </a:r>
            <a:endParaRPr lang="en-US" sz="100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DC110FDC-785D-6F6B-8783-DF99AF11F0CA}"/>
              </a:ext>
            </a:extLst>
          </p:cNvPr>
          <p:cNvSpPr/>
          <p:nvPr/>
        </p:nvSpPr>
        <p:spPr>
          <a:xfrm>
            <a:off x="320040" y="1938528"/>
            <a:ext cx="475488" cy="749808"/>
          </a:xfrm>
          <a:prstGeom prst="rect">
            <a:avLst/>
          </a:prstGeom>
          <a:solidFill>
            <a:srgbClr val="1F6FBA"/>
          </a:solidFill>
          <a:ln w="12700">
            <a:solidFill>
              <a:srgbClr val="1F6FBA"/>
            </a:solidFill>
            <a:prstDash val="solid"/>
          </a:ln>
        </p:spPr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812EB314-AE49-2887-C7DC-659C7E00DF6E}"/>
              </a:ext>
            </a:extLst>
          </p:cNvPr>
          <p:cNvSpPr/>
          <p:nvPr/>
        </p:nvSpPr>
        <p:spPr>
          <a:xfrm>
            <a:off x="320040" y="208483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32386CF8-421A-468F-672D-DF49ACB40344}"/>
              </a:ext>
            </a:extLst>
          </p:cNvPr>
          <p:cNvSpPr/>
          <p:nvPr/>
        </p:nvSpPr>
        <p:spPr>
          <a:xfrm>
            <a:off x="868680" y="19385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AI: del lab a produccion</a:t>
            </a:r>
            <a:endParaRPr lang="en-US" sz="115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5FC511A5-DBDE-45C4-FFF8-19570F8E0E5A}"/>
              </a:ext>
            </a:extLst>
          </p:cNvPr>
          <p:cNvSpPr/>
          <p:nvPr/>
        </p:nvSpPr>
        <p:spPr>
          <a:xfrm>
            <a:off x="868680" y="230428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desplegada · solo 11% produccion plena · &gt;40% proyectos cancelados</a:t>
            </a:r>
            <a:endParaRPr lang="en-US" sz="10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05913A44-E9FC-5BEB-6E91-47AAA4CABDDE}"/>
              </a:ext>
            </a:extLst>
          </p:cNvPr>
          <p:cNvSpPr/>
          <p:nvPr/>
        </p:nvSpPr>
        <p:spPr>
          <a:xfrm>
            <a:off x="320040" y="2852928"/>
            <a:ext cx="475488" cy="749808"/>
          </a:xfrm>
          <a:prstGeom prst="rect">
            <a:avLst/>
          </a:prstGeom>
          <a:solidFill>
            <a:srgbClr val="1B7B85"/>
          </a:solidFill>
          <a:ln w="12700">
            <a:solidFill>
              <a:srgbClr val="1B7B85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F2548FA4-1ACE-B362-E62A-705C43BACCB4}"/>
              </a:ext>
            </a:extLst>
          </p:cNvPr>
          <p:cNvSpPr/>
          <p:nvPr/>
        </p:nvSpPr>
        <p:spPr>
          <a:xfrm>
            <a:off x="320040" y="299923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51D1D768-8E57-8C27-9419-7CA39603C22B}"/>
              </a:ext>
            </a:extLst>
          </p:cNvPr>
          <p:cNvSpPr/>
          <p:nvPr/>
        </p:nvSpPr>
        <p:spPr>
          <a:xfrm>
            <a:off x="868680" y="2852928"/>
            <a:ext cx="361188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b="1" dirty="0">
                <a:solidFill>
                  <a:srgbClr val="0D1B5E"/>
                </a:solidFill>
                <a:latin typeface="Calibri"/>
                <a:ea typeface="Calibri"/>
                <a:cs typeface="Calibri"/>
              </a:rPr>
              <a:t>KCS (Servicio </a:t>
            </a:r>
            <a:r>
              <a:rPr lang="en-US" sz="1150" b="1" dirty="0" err="1">
                <a:solidFill>
                  <a:srgbClr val="0D1B5E"/>
                </a:solidFill>
                <a:latin typeface="Calibri"/>
                <a:ea typeface="Calibri"/>
                <a:cs typeface="Calibri"/>
              </a:rPr>
              <a:t>centrado</a:t>
            </a:r>
            <a:r>
              <a:rPr lang="en-US" sz="1150" b="1" dirty="0">
                <a:solidFill>
                  <a:srgbClr val="0D1B5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b="1" dirty="0" err="1">
                <a:solidFill>
                  <a:srgbClr val="0D1B5E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150" b="1" dirty="0">
                <a:solidFill>
                  <a:srgbClr val="0D1B5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b="1" dirty="0" err="1">
                <a:solidFill>
                  <a:srgbClr val="0D1B5E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150" b="1" dirty="0">
                <a:solidFill>
                  <a:srgbClr val="0D1B5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b="1" dirty="0" err="1">
                <a:solidFill>
                  <a:srgbClr val="0D1B5E"/>
                </a:solidFill>
                <a:latin typeface="Calibri"/>
                <a:ea typeface="Calibri"/>
                <a:cs typeface="Calibri"/>
              </a:rPr>
              <a:t>conocimientos</a:t>
            </a:r>
            <a:r>
              <a:rPr lang="en-US" sz="1150" b="1" dirty="0">
                <a:solidFill>
                  <a:srgbClr val="0D1B5E"/>
                </a:solidFill>
                <a:latin typeface="Calibri"/>
                <a:ea typeface="Calibri"/>
                <a:cs typeface="Calibri"/>
              </a:rPr>
              <a:t>) </a:t>
            </a:r>
            <a:r>
              <a:rPr lang="en-US" sz="1150" b="1" dirty="0" err="1">
                <a:solidFill>
                  <a:srgbClr val="0D1B5E"/>
                </a:solidFill>
                <a:latin typeface="Calibri"/>
                <a:ea typeface="Calibri"/>
                <a:cs typeface="Calibri"/>
              </a:rPr>
              <a:t>como</a:t>
            </a:r>
            <a:r>
              <a:rPr lang="en-US" sz="1150" b="1" dirty="0">
                <a:solidFill>
                  <a:srgbClr val="0D1B5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b="1" dirty="0" err="1">
                <a:solidFill>
                  <a:srgbClr val="0D1B5E"/>
                </a:solidFill>
                <a:latin typeface="Calibri"/>
                <a:ea typeface="Calibri"/>
                <a:cs typeface="Calibri"/>
              </a:rPr>
              <a:t>prerrequisito</a:t>
            </a:r>
            <a:endParaRPr lang="en-US" sz="1150" b="1" dirty="0">
              <a:solidFill>
                <a:srgbClr val="0D1B5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8C3F9BAE-38D6-0965-E8A2-6D8F096CF004}"/>
              </a:ext>
            </a:extLst>
          </p:cNvPr>
          <p:cNvSpPr/>
          <p:nvPr/>
        </p:nvSpPr>
        <p:spPr>
          <a:xfrm>
            <a:off x="868680" y="321868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validados previenen alucinaciones — base de la IA confiable</a:t>
            </a:r>
            <a:endParaRPr lang="en-US" sz="1000" dirty="0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A4245E3E-0C7A-FCD1-AE8E-7E9917152924}"/>
              </a:ext>
            </a:extLst>
          </p:cNvPr>
          <p:cNvSpPr/>
          <p:nvPr/>
        </p:nvSpPr>
        <p:spPr>
          <a:xfrm>
            <a:off x="320040" y="3767328"/>
            <a:ext cx="475488" cy="74980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35315522-8E05-1809-5A66-EFDFBA99F28D}"/>
              </a:ext>
            </a:extLst>
          </p:cNvPr>
          <p:cNvSpPr/>
          <p:nvPr/>
        </p:nvSpPr>
        <p:spPr>
          <a:xfrm>
            <a:off x="320040" y="391363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501BDF47-1DDD-D465-1EE0-A9C4F0B2B280}"/>
              </a:ext>
            </a:extLst>
          </p:cNvPr>
          <p:cNvSpPr/>
          <p:nvPr/>
        </p:nvSpPr>
        <p:spPr>
          <a:xfrm>
            <a:off x="868680" y="37673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con datos</a:t>
            </a:r>
            <a:endParaRPr lang="en-US" sz="1150" dirty="0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749F0A29-0722-69F3-5964-53C82072C05D}"/>
              </a:ext>
            </a:extLst>
          </p:cNvPr>
          <p:cNvSpPr/>
          <p:nvPr/>
        </p:nvSpPr>
        <p:spPr>
          <a:xfrm>
            <a:off x="868680" y="413308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N3: USD 104/ticket → N0: USD 2/ticket. Cada defleccion = ahorro medible</a:t>
            </a:r>
            <a:endParaRPr lang="en-US" sz="1000" dirty="0"/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0A607C72-FA8C-0B77-5638-7B30611CD378}"/>
              </a:ext>
            </a:extLst>
          </p:cNvPr>
          <p:cNvSpPr/>
          <p:nvPr/>
        </p:nvSpPr>
        <p:spPr>
          <a:xfrm>
            <a:off x="4754880" y="1024128"/>
            <a:ext cx="475488" cy="749808"/>
          </a:xfrm>
          <a:prstGeom prst="rect">
            <a:avLst/>
          </a:prstGeom>
          <a:solidFill>
            <a:srgbClr val="1F6FBA"/>
          </a:solidFill>
          <a:ln w="12700">
            <a:solidFill>
              <a:srgbClr val="1F6FBA"/>
            </a:solidFill>
            <a:prstDash val="solid"/>
          </a:ln>
        </p:spPr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3FE39AA2-C085-8EEF-067A-301CA5E56505}"/>
              </a:ext>
            </a:extLst>
          </p:cNvPr>
          <p:cNvSpPr/>
          <p:nvPr/>
        </p:nvSpPr>
        <p:spPr>
          <a:xfrm>
            <a:off x="4754880" y="117043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ABD10861-8760-21DE-CCEF-B9740BF0C37B}"/>
              </a:ext>
            </a:extLst>
          </p:cNvPr>
          <p:cNvSpPr/>
          <p:nvPr/>
        </p:nvSpPr>
        <p:spPr>
          <a:xfrm>
            <a:off x="5303520" y="10241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SLA a Outcomes</a:t>
            </a:r>
            <a:endParaRPr lang="en-US" sz="1150" dirty="0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E63B47BF-07E4-4F2C-F25D-831B4958D97E}"/>
              </a:ext>
            </a:extLst>
          </p:cNvPr>
          <p:cNvSpPr/>
          <p:nvPr/>
        </p:nvSpPr>
        <p:spPr>
          <a:xfrm>
            <a:off x="5303520" y="138988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contratos TI enterprise outcome-based hacia 2029</a:t>
            </a:r>
            <a:endParaRPr lang="en-US" sz="1000" dirty="0"/>
          </a:p>
        </p:txBody>
      </p:sp>
      <p:sp>
        <p:nvSpPr>
          <p:cNvPr id="23" name="Shape 24">
            <a:extLst>
              <a:ext uri="{FF2B5EF4-FFF2-40B4-BE49-F238E27FC236}">
                <a16:creationId xmlns:a16="http://schemas.microsoft.com/office/drawing/2014/main" id="{15FE5034-041D-C72E-5295-C43B02336430}"/>
              </a:ext>
            </a:extLst>
          </p:cNvPr>
          <p:cNvSpPr/>
          <p:nvPr/>
        </p:nvSpPr>
        <p:spPr>
          <a:xfrm>
            <a:off x="4754880" y="2249424"/>
            <a:ext cx="475488" cy="749808"/>
          </a:xfrm>
          <a:prstGeom prst="rect">
            <a:avLst/>
          </a:prstGeom>
          <a:solidFill>
            <a:srgbClr val="1B7B85"/>
          </a:solidFill>
          <a:ln w="12700">
            <a:solidFill>
              <a:srgbClr val="1B7B85"/>
            </a:solidFill>
            <a:prstDash val="solid"/>
          </a:ln>
        </p:spPr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6C676406-E7BA-04A3-D649-D95BFD6118F2}"/>
              </a:ext>
            </a:extLst>
          </p:cNvPr>
          <p:cNvSpPr/>
          <p:nvPr/>
        </p:nvSpPr>
        <p:spPr>
          <a:xfrm>
            <a:off x="4754880" y="239572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38700038-B530-BFF6-6BC9-D9D7A15CB9DD}"/>
              </a:ext>
            </a:extLst>
          </p:cNvPr>
          <p:cNvSpPr/>
          <p:nvPr/>
        </p:nvSpPr>
        <p:spPr>
          <a:xfrm>
            <a:off x="5303520" y="224942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predictiva</a:t>
            </a:r>
            <a:endParaRPr lang="en-US" sz="1150" dirty="0"/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F055DC29-976D-6E2F-0C94-2DB51BD01207}"/>
              </a:ext>
            </a:extLst>
          </p:cNvPr>
          <p:cNvSpPr/>
          <p:nvPr/>
        </p:nvSpPr>
        <p:spPr>
          <a:xfrm>
            <a:off x="5303520" y="261518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mesa que detecta antes del reporte del usuario es invisible — en el mejor sentido</a:t>
            </a:r>
            <a:endParaRPr lang="en-US" sz="1000" dirty="0"/>
          </a:p>
        </p:txBody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E630DC75-E730-CEB8-BF63-126B401FD247}"/>
              </a:ext>
            </a:extLst>
          </p:cNvPr>
          <p:cNvSpPr/>
          <p:nvPr/>
        </p:nvSpPr>
        <p:spPr>
          <a:xfrm>
            <a:off x="4754880" y="3474720"/>
            <a:ext cx="475488" cy="74980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391E2656-4439-D8FC-AC27-8C98F0E10E8A}"/>
              </a:ext>
            </a:extLst>
          </p:cNvPr>
          <p:cNvSpPr/>
          <p:nvPr/>
        </p:nvSpPr>
        <p:spPr>
          <a:xfrm>
            <a:off x="4754880" y="3621024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E6510512-AB99-B5A8-E065-977C0FA877F5}"/>
              </a:ext>
            </a:extLst>
          </p:cNvPr>
          <p:cNvSpPr/>
          <p:nvPr/>
        </p:nvSpPr>
        <p:spPr>
          <a:xfrm>
            <a:off x="5303520" y="34747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 v5 y gobernanza IA</a:t>
            </a:r>
            <a:endParaRPr lang="en-US" sz="1150" dirty="0"/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3201E5B7-B36F-DB9E-8F3E-66D8A299AA8C}"/>
              </a:ext>
            </a:extLst>
          </p:cNvPr>
          <p:cNvSpPr/>
          <p:nvPr/>
        </p:nvSpPr>
        <p:spPr>
          <a:xfrm>
            <a:off x="5303520" y="3840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etapas · 6C AI Capability Model · gobernanza IA ya no es opcional</a:t>
            </a:r>
            <a:endParaRPr lang="en-US" sz="1000" dirty="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D22B8986-269C-67DD-DEF3-53CE541F95E8}"/>
              </a:ext>
            </a:extLst>
          </p:cNvPr>
          <p:cNvSpPr/>
          <p:nvPr/>
        </p:nvSpPr>
        <p:spPr>
          <a:xfrm>
            <a:off x="148320" y="46177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Dynatrace AI Observability Report 2025</a:t>
            </a: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Agentic AI Hype Cycle 2025</a:t>
            </a: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PeopleCert ITIL 4 AI Capability Model</a:t>
            </a: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TCS IT Services Market Trends 2026</a:t>
            </a:r>
            <a:endParaRPr lang="en-US" sz="750" dirty="0"/>
          </a:p>
        </p:txBody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AC08CA58-BE0E-84AE-41E1-DDE51A92D838}"/>
              </a:ext>
            </a:extLst>
          </p:cNvPr>
          <p:cNvSpPr/>
          <p:nvPr/>
        </p:nvSpPr>
        <p:spPr>
          <a:xfrm>
            <a:off x="8138160" y="486460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166BF15B-A6AF-9849-AE30-20DD569175B3}"/>
              </a:ext>
            </a:extLst>
          </p:cNvPr>
          <p:cNvSpPr/>
          <p:nvPr/>
        </p:nvSpPr>
        <p:spPr>
          <a:xfrm>
            <a:off x="320040" y="5536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Las fuerzas que dan forma a la mesa de servicios 2024-2026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643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B6438-BF5B-F6C9-DE7C-E31F1892E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El Costo de No </a:t>
            </a:r>
            <a:r>
              <a:rPr lang="en-US" sz="1400" dirty="0" err="1"/>
              <a:t>Evolucionar</a:t>
            </a:r>
            <a:endParaRPr lang="es-CO" sz="14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34AAC178-FC92-F642-69E8-BC6A6C6E3207}"/>
              </a:ext>
            </a:extLst>
          </p:cNvPr>
          <p:cNvSpPr/>
          <p:nvPr/>
        </p:nvSpPr>
        <p:spPr>
          <a:xfrm>
            <a:off x="312930" y="84417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Costo por ticket segun nivel de resolucion</a:t>
            </a:r>
            <a:endParaRPr lang="en-US" sz="1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9E10A02F-93D9-0C5C-27C3-77B7247C1094}"/>
              </a:ext>
            </a:extLst>
          </p:cNvPr>
          <p:cNvSpPr/>
          <p:nvPr/>
        </p:nvSpPr>
        <p:spPr>
          <a:xfrm>
            <a:off x="468378" y="1164210"/>
            <a:ext cx="292608" cy="402336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A9677E00-175B-599F-783A-1B8EF7EC1753}"/>
              </a:ext>
            </a:extLst>
          </p:cNvPr>
          <p:cNvSpPr/>
          <p:nvPr/>
        </p:nvSpPr>
        <p:spPr>
          <a:xfrm>
            <a:off x="468378" y="1164210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N0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28756A34-BDD1-DB98-6A09-A23268495BD0}"/>
              </a:ext>
            </a:extLst>
          </p:cNvPr>
          <p:cNvSpPr/>
          <p:nvPr/>
        </p:nvSpPr>
        <p:spPr>
          <a:xfrm>
            <a:off x="870714" y="121907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Autoservicio  —  USD 2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8925E045-B524-F403-DD94-E677EE896219}"/>
              </a:ext>
            </a:extLst>
          </p:cNvPr>
          <p:cNvSpPr/>
          <p:nvPr/>
        </p:nvSpPr>
        <p:spPr>
          <a:xfrm>
            <a:off x="468378" y="1731138"/>
            <a:ext cx="502920" cy="402336"/>
          </a:xfrm>
          <a:prstGeom prst="rect">
            <a:avLst/>
          </a:prstGeom>
          <a:solidFill>
            <a:srgbClr val="3A9B5C"/>
          </a:solidFill>
          <a:ln w="12700">
            <a:solidFill>
              <a:srgbClr val="3A9B5C"/>
            </a:solidFill>
            <a:prstDash val="solid"/>
          </a:ln>
        </p:spPr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469B04B4-B8AD-BC5C-EC33-AFA64D174089}"/>
              </a:ext>
            </a:extLst>
          </p:cNvPr>
          <p:cNvSpPr/>
          <p:nvPr/>
        </p:nvSpPr>
        <p:spPr>
          <a:xfrm>
            <a:off x="468378" y="173113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N1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C3679369-EB5A-19AE-09D9-EB8F87DB94E9}"/>
              </a:ext>
            </a:extLst>
          </p:cNvPr>
          <p:cNvSpPr/>
          <p:nvPr/>
        </p:nvSpPr>
        <p:spPr>
          <a:xfrm>
            <a:off x="1081026" y="178600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Agente Virtual IA  —  USD 8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D53A9C20-E614-5092-2BAD-9116038012FE}"/>
              </a:ext>
            </a:extLst>
          </p:cNvPr>
          <p:cNvSpPr/>
          <p:nvPr/>
        </p:nvSpPr>
        <p:spPr>
          <a:xfrm>
            <a:off x="468378" y="2298066"/>
            <a:ext cx="960120" cy="4023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8F94D46D-0B4A-68F2-A244-FAE0C55AC400}"/>
              </a:ext>
            </a:extLst>
          </p:cNvPr>
          <p:cNvSpPr/>
          <p:nvPr/>
        </p:nvSpPr>
        <p:spPr>
          <a:xfrm>
            <a:off x="468378" y="2298066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N2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4D3F2EDF-2E67-D551-B771-A2AD4C747281}"/>
              </a:ext>
            </a:extLst>
          </p:cNvPr>
          <p:cNvSpPr/>
          <p:nvPr/>
        </p:nvSpPr>
        <p:spPr>
          <a:xfrm>
            <a:off x="1538226" y="235293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Soporte L1  —  USD 22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B6C29C00-2FCF-3DE4-217D-6ED54D367374}"/>
              </a:ext>
            </a:extLst>
          </p:cNvPr>
          <p:cNvSpPr/>
          <p:nvPr/>
        </p:nvSpPr>
        <p:spPr>
          <a:xfrm>
            <a:off x="468378" y="2864994"/>
            <a:ext cx="1508760" cy="402336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DA918C89-582E-55B9-54E8-FDB3E1B2FBC5}"/>
              </a:ext>
            </a:extLst>
          </p:cNvPr>
          <p:cNvSpPr/>
          <p:nvPr/>
        </p:nvSpPr>
        <p:spPr>
          <a:xfrm>
            <a:off x="468378" y="2864994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N3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8B8C0C5F-B7EB-C49A-D900-C56E06AF76BB}"/>
              </a:ext>
            </a:extLst>
          </p:cNvPr>
          <p:cNvSpPr/>
          <p:nvPr/>
        </p:nvSpPr>
        <p:spPr>
          <a:xfrm>
            <a:off x="2086866" y="291985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Soporte L2  —  USD 55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7A7495A9-4777-2C56-67EA-73910D531836}"/>
              </a:ext>
            </a:extLst>
          </p:cNvPr>
          <p:cNvSpPr/>
          <p:nvPr/>
        </p:nvSpPr>
        <p:spPr>
          <a:xfrm>
            <a:off x="468378" y="3431922"/>
            <a:ext cx="201168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22C3DD4F-6B85-D408-9F88-8EDD4B5D3293}"/>
              </a:ext>
            </a:extLst>
          </p:cNvPr>
          <p:cNvSpPr/>
          <p:nvPr/>
        </p:nvSpPr>
        <p:spPr>
          <a:xfrm>
            <a:off x="468378" y="343192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N4-N5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95FD007E-B81B-D563-CF6A-3193A79CB566}"/>
              </a:ext>
            </a:extLst>
          </p:cNvPr>
          <p:cNvSpPr/>
          <p:nvPr/>
        </p:nvSpPr>
        <p:spPr>
          <a:xfrm>
            <a:off x="2589786" y="348678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Soporte Especializado  —  USD 104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7FE31A7F-BC0A-F0E6-2C8C-3B58D49E8001}"/>
              </a:ext>
            </a:extLst>
          </p:cNvPr>
          <p:cNvSpPr/>
          <p:nvPr/>
        </p:nvSpPr>
        <p:spPr>
          <a:xfrm>
            <a:off x="312930" y="3998850"/>
            <a:ext cx="4663440" cy="365760"/>
          </a:xfrm>
          <a:prstGeom prst="leftArrow">
            <a:avLst/>
          </a:prstGeom>
          <a:solidFill>
            <a:srgbClr val="1B7B85"/>
          </a:solidFill>
          <a:ln w="12700">
            <a:solidFill>
              <a:srgbClr val="1B7B85"/>
            </a:solidFill>
            <a:prstDash val="solid"/>
          </a:ln>
        </p:spPr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B09B687A-2905-F335-0058-C12B2534C3A3}"/>
              </a:ext>
            </a:extLst>
          </p:cNvPr>
          <p:cNvSpPr/>
          <p:nvPr/>
        </p:nvSpPr>
        <p:spPr>
          <a:xfrm>
            <a:off x="450090" y="4017138"/>
            <a:ext cx="4434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Shift-Left: Cada punto de defleccion = ahorro cuantificable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96E39DAE-843D-59D2-3F28-14D1F0EBA995}"/>
              </a:ext>
            </a:extLst>
          </p:cNvPr>
          <p:cNvSpPr/>
          <p:nvPr/>
        </p:nvSpPr>
        <p:spPr>
          <a:xfrm>
            <a:off x="5250690" y="844170"/>
            <a:ext cx="3566160" cy="3639312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A6EA57B8-9138-2216-1913-7BAE684A3CC1}"/>
              </a:ext>
            </a:extLst>
          </p:cNvPr>
          <p:cNvSpPr/>
          <p:nvPr/>
        </p:nvSpPr>
        <p:spPr>
          <a:xfrm>
            <a:off x="5342130" y="91732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Benchmarks con IA Agentica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E6375A95-8CC6-ED25-5721-34CD53C4CC43}"/>
              </a:ext>
            </a:extLst>
          </p:cNvPr>
          <p:cNvSpPr/>
          <p:nvPr/>
        </p:nvSpPr>
        <p:spPr>
          <a:xfrm>
            <a:off x="5342130" y="120993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Metrica</a:t>
            </a:r>
            <a:endParaRPr lang="en-US" sz="9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FC43674D-EA27-7261-2A77-B27DCEBC5363}"/>
              </a:ext>
            </a:extLst>
          </p:cNvPr>
          <p:cNvSpPr/>
          <p:nvPr/>
        </p:nvSpPr>
        <p:spPr>
          <a:xfrm>
            <a:off x="7109100" y="1215372"/>
            <a:ext cx="893934" cy="2649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6B7280"/>
                </a:solidFill>
                <a:latin typeface="Reddit Sans"/>
                <a:ea typeface="Reddit Sans"/>
                <a:cs typeface="Calibri"/>
              </a:rPr>
              <a:t>Tradicional</a:t>
            </a: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3FDDB2B8-5981-0D52-2D0C-A10EA0266FF4}"/>
              </a:ext>
            </a:extLst>
          </p:cNvPr>
          <p:cNvSpPr/>
          <p:nvPr/>
        </p:nvSpPr>
        <p:spPr>
          <a:xfrm>
            <a:off x="8021322" y="120993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7B4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Con IA</a:t>
            </a:r>
            <a:endParaRPr lang="en-US" sz="9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48269FEB-80E8-8F98-4BAE-F6A6EA0A1F80}"/>
              </a:ext>
            </a:extLst>
          </p:cNvPr>
          <p:cNvSpPr/>
          <p:nvPr/>
        </p:nvSpPr>
        <p:spPr>
          <a:xfrm>
            <a:off x="5268978" y="1502538"/>
            <a:ext cx="3520440" cy="438912"/>
          </a:xfrm>
          <a:prstGeom prst="rect">
            <a:avLst/>
          </a:prstGeom>
          <a:solidFill>
            <a:srgbClr val="ECEE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5DE621B0-740B-2D98-9C51-8A2BAD4ACA34}"/>
              </a:ext>
            </a:extLst>
          </p:cNvPr>
          <p:cNvSpPr/>
          <p:nvPr/>
        </p:nvSpPr>
        <p:spPr>
          <a:xfrm>
            <a:off x="5342130" y="153911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FCR (First Contact Resolution)</a:t>
            </a:r>
            <a:endParaRPr lang="en-US" sz="9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C1FA78A0-C30D-BB55-0E89-E881FFA091A1}"/>
              </a:ext>
            </a:extLst>
          </p:cNvPr>
          <p:cNvSpPr/>
          <p:nvPr/>
        </p:nvSpPr>
        <p:spPr>
          <a:xfrm>
            <a:off x="7362954" y="153911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40-55%</a:t>
            </a:r>
            <a:endParaRPr lang="en-US" sz="9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7E935B77-0455-137A-08DF-D150BD9425F1}"/>
              </a:ext>
            </a:extLst>
          </p:cNvPr>
          <p:cNvSpPr/>
          <p:nvPr/>
        </p:nvSpPr>
        <p:spPr>
          <a:xfrm>
            <a:off x="8021322" y="1539114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B4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75-85%</a:t>
            </a:r>
            <a:endParaRPr lang="en-US" sz="9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0" name="Shape 31">
            <a:extLst>
              <a:ext uri="{FF2B5EF4-FFF2-40B4-BE49-F238E27FC236}">
                <a16:creationId xmlns:a16="http://schemas.microsoft.com/office/drawing/2014/main" id="{95C1063A-7AF3-E47F-71C0-0B38F67234A9}"/>
              </a:ext>
            </a:extLst>
          </p:cNvPr>
          <p:cNvSpPr/>
          <p:nvPr/>
        </p:nvSpPr>
        <p:spPr>
          <a:xfrm>
            <a:off x="5268978" y="1978026"/>
            <a:ext cx="3520440" cy="438912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B0464C0E-B674-5601-5835-28B596ABF09E}"/>
              </a:ext>
            </a:extLst>
          </p:cNvPr>
          <p:cNvSpPr/>
          <p:nvPr/>
        </p:nvSpPr>
        <p:spPr>
          <a:xfrm>
            <a:off x="5342130" y="2014602"/>
            <a:ext cx="1993392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Reducción </a:t>
            </a:r>
            <a:r>
              <a:rPr lang="en-US" sz="95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MTTR</a:t>
            </a:r>
            <a:endParaRPr lang="en-US" sz="950" dirty="0">
              <a:latin typeface="Reddit Sans"/>
              <a:ea typeface="Reddit Sans"/>
              <a:cs typeface="Calibri"/>
            </a:endParaRPr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74B8A8EA-AA2A-9B79-26E0-72F857976536}"/>
              </a:ext>
            </a:extLst>
          </p:cNvPr>
          <p:cNvSpPr/>
          <p:nvPr/>
        </p:nvSpPr>
        <p:spPr>
          <a:xfrm>
            <a:off x="7362954" y="201460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base</a:t>
            </a:r>
            <a:endParaRPr lang="en-US" sz="9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40CD63CC-C27F-A7CD-2C77-5FBED38F150B}"/>
              </a:ext>
            </a:extLst>
          </p:cNvPr>
          <p:cNvSpPr/>
          <p:nvPr/>
        </p:nvSpPr>
        <p:spPr>
          <a:xfrm>
            <a:off x="8021322" y="201460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B4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-60 a -70%</a:t>
            </a:r>
            <a:endParaRPr lang="en-US" sz="9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4" name="Shape 35">
            <a:extLst>
              <a:ext uri="{FF2B5EF4-FFF2-40B4-BE49-F238E27FC236}">
                <a16:creationId xmlns:a16="http://schemas.microsoft.com/office/drawing/2014/main" id="{B03E3A5A-BF2C-4B49-812B-EEB555C8EFC3}"/>
              </a:ext>
            </a:extLst>
          </p:cNvPr>
          <p:cNvSpPr/>
          <p:nvPr/>
        </p:nvSpPr>
        <p:spPr>
          <a:xfrm>
            <a:off x="5268978" y="2453514"/>
            <a:ext cx="3520440" cy="438912"/>
          </a:xfrm>
          <a:prstGeom prst="rect">
            <a:avLst/>
          </a:prstGeom>
          <a:solidFill>
            <a:srgbClr val="ECEE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6">
            <a:extLst>
              <a:ext uri="{FF2B5EF4-FFF2-40B4-BE49-F238E27FC236}">
                <a16:creationId xmlns:a16="http://schemas.microsoft.com/office/drawing/2014/main" id="{7E3A3829-D534-6D2A-F819-6A354BA81ABD}"/>
              </a:ext>
            </a:extLst>
          </p:cNvPr>
          <p:cNvSpPr/>
          <p:nvPr/>
        </p:nvSpPr>
        <p:spPr>
          <a:xfrm>
            <a:off x="5342130" y="2490090"/>
            <a:ext cx="1993392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Costo / </a:t>
            </a:r>
            <a:r>
              <a:rPr lang="en-US" sz="95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interacción</a:t>
            </a:r>
            <a:endParaRPr lang="en-US" sz="950" dirty="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1F0BADF2-E1F2-C5AD-6204-C4801825A772}"/>
              </a:ext>
            </a:extLst>
          </p:cNvPr>
          <p:cNvSpPr/>
          <p:nvPr/>
        </p:nvSpPr>
        <p:spPr>
          <a:xfrm>
            <a:off x="7362954" y="249009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USD 15-25</a:t>
            </a:r>
            <a:endParaRPr lang="en-US" sz="9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7" name="Text 38">
            <a:extLst>
              <a:ext uri="{FF2B5EF4-FFF2-40B4-BE49-F238E27FC236}">
                <a16:creationId xmlns:a16="http://schemas.microsoft.com/office/drawing/2014/main" id="{525F8CC2-2669-F17F-BEAE-6708ECCCEB0A}"/>
              </a:ext>
            </a:extLst>
          </p:cNvPr>
          <p:cNvSpPr/>
          <p:nvPr/>
        </p:nvSpPr>
        <p:spPr>
          <a:xfrm>
            <a:off x="8021322" y="249009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B4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USD 3-8</a:t>
            </a:r>
            <a:endParaRPr lang="en-US" sz="9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8" name="Shape 39">
            <a:extLst>
              <a:ext uri="{FF2B5EF4-FFF2-40B4-BE49-F238E27FC236}">
                <a16:creationId xmlns:a16="http://schemas.microsoft.com/office/drawing/2014/main" id="{11117428-BDE8-BEDB-064C-8287120B7255}"/>
              </a:ext>
            </a:extLst>
          </p:cNvPr>
          <p:cNvSpPr/>
          <p:nvPr/>
        </p:nvSpPr>
        <p:spPr>
          <a:xfrm>
            <a:off x="5268978" y="2929002"/>
            <a:ext cx="3520440" cy="438912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40">
            <a:extLst>
              <a:ext uri="{FF2B5EF4-FFF2-40B4-BE49-F238E27FC236}">
                <a16:creationId xmlns:a16="http://schemas.microsoft.com/office/drawing/2014/main" id="{05652B02-2F1D-960E-D59C-53A0D64B2A23}"/>
              </a:ext>
            </a:extLst>
          </p:cNvPr>
          <p:cNvSpPr/>
          <p:nvPr/>
        </p:nvSpPr>
        <p:spPr>
          <a:xfrm>
            <a:off x="5342130" y="2965578"/>
            <a:ext cx="1993392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Deflección</a:t>
            </a:r>
            <a:r>
              <a:rPr lang="en-US" sz="95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(Robinhood)</a:t>
            </a:r>
            <a:endParaRPr lang="en-US" sz="950" dirty="0">
              <a:latin typeface="Reddit Sans"/>
              <a:ea typeface="Reddit Sans"/>
              <a:cs typeface="Calibri"/>
            </a:endParaRPr>
          </a:p>
        </p:txBody>
      </p:sp>
      <p:sp>
        <p:nvSpPr>
          <p:cNvPr id="40" name="Text 41">
            <a:extLst>
              <a:ext uri="{FF2B5EF4-FFF2-40B4-BE49-F238E27FC236}">
                <a16:creationId xmlns:a16="http://schemas.microsoft.com/office/drawing/2014/main" id="{49A52881-3783-B4DE-C5A5-094FB6D91154}"/>
              </a:ext>
            </a:extLst>
          </p:cNvPr>
          <p:cNvSpPr/>
          <p:nvPr/>
        </p:nvSpPr>
        <p:spPr>
          <a:xfrm>
            <a:off x="7362954" y="296557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—</a:t>
            </a:r>
            <a:endParaRPr lang="en-US" sz="9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Text 42">
            <a:extLst>
              <a:ext uri="{FF2B5EF4-FFF2-40B4-BE49-F238E27FC236}">
                <a16:creationId xmlns:a16="http://schemas.microsoft.com/office/drawing/2014/main" id="{4078C052-4653-F2B1-6B6C-09961509FE6E}"/>
              </a:ext>
            </a:extLst>
          </p:cNvPr>
          <p:cNvSpPr/>
          <p:nvPr/>
        </p:nvSpPr>
        <p:spPr>
          <a:xfrm>
            <a:off x="8021322" y="296557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B4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70%</a:t>
            </a:r>
            <a:endParaRPr lang="en-US" sz="9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2" name="Shape 43">
            <a:extLst>
              <a:ext uri="{FF2B5EF4-FFF2-40B4-BE49-F238E27FC236}">
                <a16:creationId xmlns:a16="http://schemas.microsoft.com/office/drawing/2014/main" id="{43F0CD37-6113-473E-6540-A2A4813F6E89}"/>
              </a:ext>
            </a:extLst>
          </p:cNvPr>
          <p:cNvSpPr/>
          <p:nvPr/>
        </p:nvSpPr>
        <p:spPr>
          <a:xfrm>
            <a:off x="5268978" y="3404490"/>
            <a:ext cx="3520440" cy="438912"/>
          </a:xfrm>
          <a:prstGeom prst="rect">
            <a:avLst/>
          </a:prstGeom>
          <a:solidFill>
            <a:srgbClr val="ECEE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4">
            <a:extLst>
              <a:ext uri="{FF2B5EF4-FFF2-40B4-BE49-F238E27FC236}">
                <a16:creationId xmlns:a16="http://schemas.microsoft.com/office/drawing/2014/main" id="{66E6E842-3156-EA07-93F9-491FEF08E1AE}"/>
              </a:ext>
            </a:extLst>
          </p:cNvPr>
          <p:cNvSpPr/>
          <p:nvPr/>
        </p:nvSpPr>
        <p:spPr>
          <a:xfrm>
            <a:off x="5342130" y="3441066"/>
            <a:ext cx="1993392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Reducción</a:t>
            </a:r>
            <a:r>
              <a:rPr lang="en-US" sz="95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tickets (Honeywell)</a:t>
            </a:r>
            <a:endParaRPr lang="en-US" sz="950" dirty="0">
              <a:latin typeface="Reddit Sans"/>
              <a:ea typeface="Reddit Sans"/>
              <a:cs typeface="Calibri"/>
            </a:endParaRPr>
          </a:p>
        </p:txBody>
      </p:sp>
      <p:sp>
        <p:nvSpPr>
          <p:cNvPr id="44" name="Text 45">
            <a:extLst>
              <a:ext uri="{FF2B5EF4-FFF2-40B4-BE49-F238E27FC236}">
                <a16:creationId xmlns:a16="http://schemas.microsoft.com/office/drawing/2014/main" id="{9648A964-3C6C-EF31-72E3-14B1F77BC29B}"/>
              </a:ext>
            </a:extLst>
          </p:cNvPr>
          <p:cNvSpPr/>
          <p:nvPr/>
        </p:nvSpPr>
        <p:spPr>
          <a:xfrm>
            <a:off x="7362954" y="344106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—</a:t>
            </a:r>
            <a:endParaRPr lang="en-US" sz="9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5" name="Text 46">
            <a:extLst>
              <a:ext uri="{FF2B5EF4-FFF2-40B4-BE49-F238E27FC236}">
                <a16:creationId xmlns:a16="http://schemas.microsoft.com/office/drawing/2014/main" id="{FB9FCD57-635D-671E-8908-F62310F746BF}"/>
              </a:ext>
            </a:extLst>
          </p:cNvPr>
          <p:cNvSpPr/>
          <p:nvPr/>
        </p:nvSpPr>
        <p:spPr>
          <a:xfrm>
            <a:off x="8021322" y="3441066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B4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-80%</a:t>
            </a:r>
            <a:endParaRPr lang="en-US" sz="9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6" name="Shape 47">
            <a:extLst>
              <a:ext uri="{FF2B5EF4-FFF2-40B4-BE49-F238E27FC236}">
                <a16:creationId xmlns:a16="http://schemas.microsoft.com/office/drawing/2014/main" id="{E3A6981F-A95E-57D2-7F5A-55871A622A62}"/>
              </a:ext>
            </a:extLst>
          </p:cNvPr>
          <p:cNvSpPr/>
          <p:nvPr/>
        </p:nvSpPr>
        <p:spPr>
          <a:xfrm>
            <a:off x="5268978" y="3879978"/>
            <a:ext cx="3520440" cy="438912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8">
            <a:extLst>
              <a:ext uri="{FF2B5EF4-FFF2-40B4-BE49-F238E27FC236}">
                <a16:creationId xmlns:a16="http://schemas.microsoft.com/office/drawing/2014/main" id="{144B3C6F-CE74-2E23-4E87-1A9AF805E682}"/>
              </a:ext>
            </a:extLst>
          </p:cNvPr>
          <p:cNvSpPr/>
          <p:nvPr/>
        </p:nvSpPr>
        <p:spPr>
          <a:xfrm>
            <a:off x="5342130" y="3916554"/>
            <a:ext cx="1993392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Resolución</a:t>
            </a:r>
            <a:r>
              <a:rPr lang="en-US" sz="95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50" dirty="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autonoma</a:t>
            </a:r>
            <a:r>
              <a:rPr lang="en-US" sz="950" dirty="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(Salesforce)</a:t>
            </a:r>
            <a:endParaRPr lang="en-US" sz="950" dirty="0">
              <a:latin typeface="Reddit Sans"/>
              <a:ea typeface="Reddit Sans"/>
              <a:cs typeface="Calibri"/>
            </a:endParaRPr>
          </a:p>
        </p:txBody>
      </p:sp>
      <p:sp>
        <p:nvSpPr>
          <p:cNvPr id="48" name="Text 49">
            <a:extLst>
              <a:ext uri="{FF2B5EF4-FFF2-40B4-BE49-F238E27FC236}">
                <a16:creationId xmlns:a16="http://schemas.microsoft.com/office/drawing/2014/main" id="{447A5B67-094D-F146-9C49-C3B7409362DC}"/>
              </a:ext>
            </a:extLst>
          </p:cNvPr>
          <p:cNvSpPr/>
          <p:nvPr/>
        </p:nvSpPr>
        <p:spPr>
          <a:xfrm>
            <a:off x="7362954" y="391655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—</a:t>
            </a:r>
            <a:endParaRPr lang="en-US" sz="9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9" name="Text 50">
            <a:extLst>
              <a:ext uri="{FF2B5EF4-FFF2-40B4-BE49-F238E27FC236}">
                <a16:creationId xmlns:a16="http://schemas.microsoft.com/office/drawing/2014/main" id="{A3498C8C-D3FB-0B0C-932D-0B7967C65086}"/>
              </a:ext>
            </a:extLst>
          </p:cNvPr>
          <p:cNvSpPr/>
          <p:nvPr/>
        </p:nvSpPr>
        <p:spPr>
          <a:xfrm>
            <a:off x="8021322" y="3916554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7B4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84%</a:t>
            </a:r>
            <a:endParaRPr lang="en-US" sz="9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0" name="Text 51">
            <a:extLst>
              <a:ext uri="{FF2B5EF4-FFF2-40B4-BE49-F238E27FC236}">
                <a16:creationId xmlns:a16="http://schemas.microsoft.com/office/drawing/2014/main" id="{2539AF75-7CFB-C18E-660F-5C359868078E}"/>
              </a:ext>
            </a:extLst>
          </p:cNvPr>
          <p:cNvSpPr/>
          <p:nvPr/>
        </p:nvSpPr>
        <p:spPr>
          <a:xfrm>
            <a:off x="312930" y="462978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Freshservice State of IT 2025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Ivanti Agentic AI Service Management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Cost per Ticket Benchmark</a:t>
            </a:r>
            <a:endParaRPr lang="en-US" sz="7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E848E77C-4CF7-E141-E976-3EFC1688EBE2}"/>
              </a:ext>
            </a:extLst>
          </p:cNvPr>
          <p:cNvSpPr/>
          <p:nvPr/>
        </p:nvSpPr>
        <p:spPr>
          <a:xfrm>
            <a:off x="312930" y="52413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La mesa reactiva ya es indefendible comercialmente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97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073EB55-4649-8126-4366-E27BAFF9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B5EE3330-01FD-C810-C65B-B47C23803E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 dirty="0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B949523C-9396-B26E-8B4E-9473B2ABF4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 dirty="0"/>
              <a:t>Nuestro diferenciador en el mercado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4542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96980-A4BE-F0A1-5662-995F774A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Reddit Sans" panose="020B0604020202020204" charset="0"/>
                <a:ea typeface="Reddit Sans" panose="020B0604020202020204" charset="0"/>
              </a:rPr>
              <a:t>Que</a:t>
            </a:r>
            <a:r>
              <a:rPr lang="en-US" dirty="0">
                <a:latin typeface="Reddit Sans" panose="020B0604020202020204" charset="0"/>
                <a:ea typeface="Reddit Sans" panose="020B0604020202020204" charset="0"/>
              </a:rPr>
              <a:t> </a:t>
            </a:r>
            <a:r>
              <a:rPr lang="en-US" dirty="0" err="1">
                <a:latin typeface="Reddit Sans" panose="020B0604020202020204" charset="0"/>
                <a:ea typeface="Reddit Sans" panose="020B0604020202020204" charset="0"/>
              </a:rPr>
              <a:t>Diferencia</a:t>
            </a:r>
            <a:r>
              <a:rPr lang="en-US" dirty="0">
                <a:latin typeface="Reddit Sans" panose="020B0604020202020204" charset="0"/>
                <a:ea typeface="Reddit Sans" panose="020B0604020202020204" charset="0"/>
              </a:rPr>
              <a:t> a </a:t>
            </a:r>
            <a:r>
              <a:rPr lang="en-US" dirty="0" err="1">
                <a:latin typeface="Reddit Sans" panose="020B0604020202020204" charset="0"/>
                <a:ea typeface="Reddit Sans" panose="020B0604020202020204" charset="0"/>
              </a:rPr>
              <a:t>PersonalSoft</a:t>
            </a:r>
            <a:r>
              <a:rPr lang="en-US" dirty="0">
                <a:latin typeface="Reddit Sans" panose="020B0604020202020204" charset="0"/>
                <a:ea typeface="Reddit Sans" panose="020B0604020202020204" charset="0"/>
              </a:rPr>
              <a:t>?</a:t>
            </a:r>
            <a:endParaRPr lang="es-CO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4767F079-1D04-4540-7FDE-49D342302A68}"/>
              </a:ext>
            </a:extLst>
          </p:cNvPr>
          <p:cNvSpPr/>
          <p:nvPr/>
        </p:nvSpPr>
        <p:spPr>
          <a:xfrm>
            <a:off x="408396" y="993373"/>
            <a:ext cx="3796620" cy="1664208"/>
          </a:xfrm>
          <a:prstGeom prst="roundRect">
            <a:avLst>
              <a:gd name="adj" fmla="val 4396"/>
            </a:avLst>
          </a:prstGeom>
          <a:solidFill>
            <a:srgbClr val="C8DEF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3842FA7A-E771-0507-17AC-7775414EEDB3}"/>
              </a:ext>
            </a:extLst>
          </p:cNvPr>
          <p:cNvSpPr/>
          <p:nvPr/>
        </p:nvSpPr>
        <p:spPr>
          <a:xfrm>
            <a:off x="408396" y="993373"/>
            <a:ext cx="3796620" cy="36576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3CDD2098-85CF-49FF-1743-0152812143F5}"/>
              </a:ext>
            </a:extLst>
          </p:cNvPr>
          <p:cNvSpPr/>
          <p:nvPr/>
        </p:nvSpPr>
        <p:spPr>
          <a:xfrm>
            <a:off x="518124" y="1029949"/>
            <a:ext cx="3598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Modelo de Madurez Propio N0-N5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A8648CD9-4581-9254-C260-AB9A27B09AA0}"/>
              </a:ext>
            </a:extLst>
          </p:cNvPr>
          <p:cNvSpPr/>
          <p:nvPr/>
        </p:nvSpPr>
        <p:spPr>
          <a:xfrm>
            <a:off x="518124" y="1413997"/>
            <a:ext cx="359853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6 niveles claros (N0 Autoservicio a N5 Optimizado)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17 practicas operativas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14 dimensiones en 4 ejes de </a:t>
            </a:r>
            <a:r>
              <a:rPr lang="en-US" sz="1050" dirty="0" err="1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evaluacion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Nadie en el mercado tiene esto como oferta comercial.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C4649C0C-2DB5-229D-089B-CC33345D748E}"/>
              </a:ext>
            </a:extLst>
          </p:cNvPr>
          <p:cNvSpPr/>
          <p:nvPr/>
        </p:nvSpPr>
        <p:spPr>
          <a:xfrm>
            <a:off x="4572000" y="982969"/>
            <a:ext cx="3796620" cy="1664208"/>
          </a:xfrm>
          <a:prstGeom prst="roundRect">
            <a:avLst>
              <a:gd name="adj" fmla="val 4396"/>
            </a:avLst>
          </a:prstGeom>
          <a:solidFill>
            <a:srgbClr val="C8EBEF"/>
          </a:solidFill>
          <a:ln w="12700">
            <a:solidFill>
              <a:srgbClr val="1B7B85"/>
            </a:solidFill>
            <a:prstDash val="solid"/>
          </a:ln>
        </p:spPr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02710572-CEAA-85F9-D5EA-28BE993B7522}"/>
              </a:ext>
            </a:extLst>
          </p:cNvPr>
          <p:cNvSpPr/>
          <p:nvPr/>
        </p:nvSpPr>
        <p:spPr>
          <a:xfrm>
            <a:off x="4572000" y="982969"/>
            <a:ext cx="3796620" cy="365760"/>
          </a:xfrm>
          <a:prstGeom prst="rect">
            <a:avLst/>
          </a:prstGeom>
          <a:solidFill>
            <a:srgbClr val="1B7B85"/>
          </a:solidFill>
          <a:ln w="12700">
            <a:solidFill>
              <a:srgbClr val="1B7B85"/>
            </a:solidFill>
            <a:prstDash val="solid"/>
          </a:ln>
        </p:spPr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56A9A7AE-CD9A-E60C-4EF9-99AA7647CF05}"/>
              </a:ext>
            </a:extLst>
          </p:cNvPr>
          <p:cNvSpPr/>
          <p:nvPr/>
        </p:nvSpPr>
        <p:spPr>
          <a:xfrm>
            <a:off x="4681728" y="1019545"/>
            <a:ext cx="3598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ITIL v5 desde el primer dia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DF42E98C-DAA6-0F3D-876A-176A19061C18}"/>
              </a:ext>
            </a:extLst>
          </p:cNvPr>
          <p:cNvSpPr/>
          <p:nvPr/>
        </p:nvSpPr>
        <p:spPr>
          <a:xfrm>
            <a:off x="4681728" y="1403593"/>
            <a:ext cx="359853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Unico framework alineado al estandar de feb 2026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Incluye el 6C AI Capability Model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Modelo formal de gobernanza de IA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Ciclo de 8 etapas (Discover a Support)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5A2B670B-0ED5-06F7-4FA6-8DF8079653AA}"/>
              </a:ext>
            </a:extLst>
          </p:cNvPr>
          <p:cNvSpPr/>
          <p:nvPr/>
        </p:nvSpPr>
        <p:spPr>
          <a:xfrm>
            <a:off x="408396" y="2776453"/>
            <a:ext cx="3796620" cy="1664208"/>
          </a:xfrm>
          <a:prstGeom prst="roundRect">
            <a:avLst>
              <a:gd name="adj" fmla="val 4396"/>
            </a:avLst>
          </a:prstGeom>
          <a:solidFill>
            <a:srgbClr val="C8DEFF"/>
          </a:solidFill>
          <a:ln w="12700">
            <a:solidFill>
              <a:srgbClr val="1F6FBA"/>
            </a:solidFill>
            <a:prstDash val="solid"/>
          </a:ln>
        </p:spPr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CBAA4465-CB7A-A612-3565-1F96AB9D8A32}"/>
              </a:ext>
            </a:extLst>
          </p:cNvPr>
          <p:cNvSpPr/>
          <p:nvPr/>
        </p:nvSpPr>
        <p:spPr>
          <a:xfrm>
            <a:off x="408396" y="2776453"/>
            <a:ext cx="3796620" cy="365760"/>
          </a:xfrm>
          <a:prstGeom prst="rect">
            <a:avLst/>
          </a:prstGeom>
          <a:solidFill>
            <a:srgbClr val="1F6FBA"/>
          </a:solidFill>
          <a:ln w="12700">
            <a:solidFill>
              <a:srgbClr val="1F6FBA"/>
            </a:solidFill>
            <a:prstDash val="solid"/>
          </a:ln>
        </p:spPr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C417D0D9-E950-1762-A3BE-8F6F84FBA51F}"/>
              </a:ext>
            </a:extLst>
          </p:cNvPr>
          <p:cNvSpPr/>
          <p:nvPr/>
        </p:nvSpPr>
        <p:spPr>
          <a:xfrm>
            <a:off x="518124" y="2813029"/>
            <a:ext cx="3598536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AIOps</a:t>
            </a: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E1B096F6-5DB9-4852-6CD3-4C3360F843DE}"/>
              </a:ext>
            </a:extLst>
          </p:cNvPr>
          <p:cNvSpPr/>
          <p:nvPr/>
        </p:nvSpPr>
        <p:spPr>
          <a:xfrm>
            <a:off x="518124" y="3197077"/>
            <a:ext cx="359853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Observabilidad predictiva desde el diseno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Correlacion automatica alertas-incidentes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El cliente sabe exactamente en que nivel esta y que cuesta subir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3BD42C43-D344-F3CA-1D7C-168CFC618FE2}"/>
              </a:ext>
            </a:extLst>
          </p:cNvPr>
          <p:cNvSpPr/>
          <p:nvPr/>
        </p:nvSpPr>
        <p:spPr>
          <a:xfrm>
            <a:off x="4572000" y="2766049"/>
            <a:ext cx="3796620" cy="1664208"/>
          </a:xfrm>
          <a:prstGeom prst="roundRect">
            <a:avLst>
              <a:gd name="adj" fmla="val 4396"/>
            </a:avLst>
          </a:prstGeom>
          <a:solidFill>
            <a:srgbClr val="FFF3D0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C594225E-E2E8-DF55-47DB-DCEF1FDA3AE8}"/>
              </a:ext>
            </a:extLst>
          </p:cNvPr>
          <p:cNvSpPr/>
          <p:nvPr/>
        </p:nvSpPr>
        <p:spPr>
          <a:xfrm>
            <a:off x="4572000" y="2766049"/>
            <a:ext cx="3796620" cy="36576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E17CE813-9B2B-1C88-E8F4-D267EBDDFB73}"/>
              </a:ext>
            </a:extLst>
          </p:cNvPr>
          <p:cNvSpPr/>
          <p:nvPr/>
        </p:nvSpPr>
        <p:spPr>
          <a:xfrm>
            <a:off x="4681728" y="2802625"/>
            <a:ext cx="3598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Pricing Outcome-Based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C5156BAF-A60C-0001-11DA-A56176DB2113}"/>
              </a:ext>
            </a:extLst>
          </p:cNvPr>
          <p:cNvSpPr/>
          <p:nvPr/>
        </p:nvSpPr>
        <p:spPr>
          <a:xfrm>
            <a:off x="4681728" y="3186673"/>
            <a:ext cx="359853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Costo = Outcomes Logrados x Precio por Outcome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Shared savings: 15-25% del ahorro generado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Desplaza el riesgo comercial al proveedor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Modelo economico alineado con resultados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9C66D96F-AE8F-0B17-9FB1-3EE418565749}"/>
              </a:ext>
            </a:extLst>
          </p:cNvPr>
          <p:cNvSpPr/>
          <p:nvPr/>
        </p:nvSpPr>
        <p:spPr>
          <a:xfrm>
            <a:off x="274320" y="46177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PeopleCert ITIL v5 — AI Capability Model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Outcome-Based IT Contracts 2025</a:t>
            </a:r>
            <a:endParaRPr lang="en-US" sz="7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D72D495F-6EA5-E92D-487C-A49086E49EC7}"/>
              </a:ext>
            </a:extLst>
          </p:cNvPr>
          <p:cNvSpPr/>
          <p:nvPr/>
        </p:nvSpPr>
        <p:spPr>
          <a:xfrm>
            <a:off x="340500" y="56942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Los 4 pilares que ningun competidor tiene como oferta integrada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12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DD985-EB77-52CC-5FEE-24D98A48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Mesa </a:t>
            </a:r>
            <a:r>
              <a:rPr lang="en-US" sz="1400" dirty="0" err="1"/>
              <a:t>Tradicional</a:t>
            </a:r>
            <a:r>
              <a:rPr lang="en-US" sz="1400" dirty="0"/>
              <a:t> vs. Mesa Gen Next</a:t>
            </a:r>
            <a:endParaRPr lang="es-CO" sz="1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A8EDFEC-ABB1-339E-CF7F-12CBE1723304}"/>
              </a:ext>
            </a:extLst>
          </p:cNvPr>
          <p:cNvSpPr/>
          <p:nvPr/>
        </p:nvSpPr>
        <p:spPr>
          <a:xfrm>
            <a:off x="320040" y="548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6 dimensiones de diferenciacion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109FC51-DF2B-0E7E-4D02-78993490CFFB}"/>
              </a:ext>
            </a:extLst>
          </p:cNvPr>
          <p:cNvSpPr/>
          <p:nvPr/>
        </p:nvSpPr>
        <p:spPr>
          <a:xfrm>
            <a:off x="398760" y="947604"/>
            <a:ext cx="8346479" cy="347472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3585282-FF2C-8FA3-AC54-194A315BD2F9}"/>
              </a:ext>
            </a:extLst>
          </p:cNvPr>
          <p:cNvSpPr/>
          <p:nvPr/>
        </p:nvSpPr>
        <p:spPr>
          <a:xfrm>
            <a:off x="432642" y="965892"/>
            <a:ext cx="224367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Dimension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E094428-9C97-2FEC-65D9-3C6DEDA633A8}"/>
              </a:ext>
            </a:extLst>
          </p:cNvPr>
          <p:cNvSpPr/>
          <p:nvPr/>
        </p:nvSpPr>
        <p:spPr>
          <a:xfrm>
            <a:off x="2724990" y="965892"/>
            <a:ext cx="29167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8B8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Mesa Tradicional (N1-N2)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4B5BF16-3054-7DF5-D8B3-DB1940518EDF}"/>
              </a:ext>
            </a:extLst>
          </p:cNvPr>
          <p:cNvSpPr/>
          <p:nvPr/>
        </p:nvSpPr>
        <p:spPr>
          <a:xfrm>
            <a:off x="5716348" y="965892"/>
            <a:ext cx="3051401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 dirty="0">
                <a:solidFill>
                  <a:srgbClr val="B8FFD8"/>
                </a:solidFill>
                <a:latin typeface="Reddit Sans"/>
                <a:ea typeface="Reddit Sans"/>
                <a:cs typeface="Calibri"/>
              </a:rPr>
              <a:t>Mesa Nueva Generación </a:t>
            </a:r>
            <a:r>
              <a:rPr lang="en-US" sz="1100" b="1">
                <a:solidFill>
                  <a:srgbClr val="B8FFD8"/>
                </a:solidFill>
                <a:latin typeface="Reddit Sans"/>
                <a:ea typeface="Reddit Sans"/>
                <a:cs typeface="Calibri"/>
              </a:rPr>
              <a:t>(N3-N5)</a:t>
            </a:r>
            <a:endParaRPr lang="en-US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89F1B814-0040-BE23-53BB-35B3EF14F7C6}"/>
              </a:ext>
            </a:extLst>
          </p:cNvPr>
          <p:cNvSpPr/>
          <p:nvPr/>
        </p:nvSpPr>
        <p:spPr>
          <a:xfrm>
            <a:off x="398760" y="1313364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14E09C8-14C8-3692-5B7B-E891CA35EC5B}"/>
              </a:ext>
            </a:extLst>
          </p:cNvPr>
          <p:cNvSpPr/>
          <p:nvPr/>
        </p:nvSpPr>
        <p:spPr>
          <a:xfrm>
            <a:off x="432218" y="1368228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Modelo </a:t>
            </a:r>
            <a:r>
              <a:rPr lang="es-CO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operativo</a:t>
            </a:r>
            <a:endParaRPr lang="es-CO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BAC25C4D-EF1C-2646-6721-47B11C137BD0}"/>
              </a:ext>
            </a:extLst>
          </p:cNvPr>
          <p:cNvSpPr/>
          <p:nvPr/>
        </p:nvSpPr>
        <p:spPr>
          <a:xfrm>
            <a:off x="2680546" y="1496244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3252FAD6-1D31-B738-BF93-CD6665A6B594}"/>
              </a:ext>
            </a:extLst>
          </p:cNvPr>
          <p:cNvSpPr/>
          <p:nvPr/>
        </p:nvSpPr>
        <p:spPr>
          <a:xfrm>
            <a:off x="2896610" y="1368228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Reactivo · escalado manual N1/N2/N3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AB1CEBCD-7A6F-0063-BD97-9EB82C4C527C}"/>
              </a:ext>
            </a:extLst>
          </p:cNvPr>
          <p:cNvSpPr/>
          <p:nvPr/>
        </p:nvSpPr>
        <p:spPr>
          <a:xfrm>
            <a:off x="5688922" y="1496244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69ACAE32-59DB-CC33-29DA-C8E1117C2B0F}"/>
              </a:ext>
            </a:extLst>
          </p:cNvPr>
          <p:cNvSpPr/>
          <p:nvPr/>
        </p:nvSpPr>
        <p:spPr>
          <a:xfrm>
            <a:off x="5906171" y="1368228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N0-N5 · shift-left inteligente · escalado automatico IA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96C82E92-7B6C-1342-D2F9-CFEDAE8EDC5F}"/>
              </a:ext>
            </a:extLst>
          </p:cNvPr>
          <p:cNvSpPr/>
          <p:nvPr/>
        </p:nvSpPr>
        <p:spPr>
          <a:xfrm>
            <a:off x="398760" y="1880292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EBEF1F1E-81E8-0B80-0E39-669A46668C89}"/>
              </a:ext>
            </a:extLst>
          </p:cNvPr>
          <p:cNvSpPr/>
          <p:nvPr/>
        </p:nvSpPr>
        <p:spPr>
          <a:xfrm>
            <a:off x="432218" y="1935156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Inteligencia</a:t>
            </a:r>
            <a:endParaRPr lang="es-CO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56C96019-A556-2BE6-774A-6511D9E21F67}"/>
              </a:ext>
            </a:extLst>
          </p:cNvPr>
          <p:cNvSpPr/>
          <p:nvPr/>
        </p:nvSpPr>
        <p:spPr>
          <a:xfrm>
            <a:off x="2680546" y="2063172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C3CE596E-6836-5764-442A-4C80D163FDCA}"/>
              </a:ext>
            </a:extLst>
          </p:cNvPr>
          <p:cNvSpPr/>
          <p:nvPr/>
        </p:nvSpPr>
        <p:spPr>
          <a:xfrm>
            <a:off x="2896610" y="1935156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Scripts de troubleshooting · FAQs estaticas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485D8DC4-88DC-7170-39D7-4E0709A595CE}"/>
              </a:ext>
            </a:extLst>
          </p:cNvPr>
          <p:cNvSpPr/>
          <p:nvPr/>
        </p:nvSpPr>
        <p:spPr>
          <a:xfrm>
            <a:off x="5688922" y="2063172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B93BAFCB-8B94-5B1F-5A88-353060832C48}"/>
              </a:ext>
            </a:extLst>
          </p:cNvPr>
          <p:cNvSpPr/>
          <p:nvPr/>
        </p:nvSpPr>
        <p:spPr>
          <a:xfrm>
            <a:off x="5906171" y="1935156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Virtual agent GenAI · agentes autonomos · KCS+IA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72C76E2F-B967-F164-6ED9-76FA39CDCE0B}"/>
              </a:ext>
            </a:extLst>
          </p:cNvPr>
          <p:cNvSpPr/>
          <p:nvPr/>
        </p:nvSpPr>
        <p:spPr>
          <a:xfrm>
            <a:off x="398760" y="2447220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76A5ED8D-F317-D382-F720-AD103799E8C2}"/>
              </a:ext>
            </a:extLst>
          </p:cNvPr>
          <p:cNvSpPr/>
          <p:nvPr/>
        </p:nvSpPr>
        <p:spPr>
          <a:xfrm>
            <a:off x="432218" y="2502084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Automatización</a:t>
            </a:r>
            <a:endParaRPr lang="en-US" sz="1100" dirty="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A38DA586-75FF-0B0C-D26D-35C038E1ECB0}"/>
              </a:ext>
            </a:extLst>
          </p:cNvPr>
          <p:cNvSpPr/>
          <p:nvPr/>
        </p:nvSpPr>
        <p:spPr>
          <a:xfrm>
            <a:off x="2680546" y="2630100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4B2DA6CB-64A1-A8AD-18F5-FC1A041368B1}"/>
              </a:ext>
            </a:extLst>
          </p:cNvPr>
          <p:cNvSpPr/>
          <p:nvPr/>
        </p:nvSpPr>
        <p:spPr>
          <a:xfrm>
            <a:off x="2896610" y="2502084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Workflows basicos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62EC9F9F-4C5E-A75F-3945-D5C09A985936}"/>
              </a:ext>
            </a:extLst>
          </p:cNvPr>
          <p:cNvSpPr/>
          <p:nvPr/>
        </p:nvSpPr>
        <p:spPr>
          <a:xfrm>
            <a:off x="5688922" y="2630100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414BD5C7-EBD6-8EA4-0C44-3D37497CE43A}"/>
              </a:ext>
            </a:extLst>
          </p:cNvPr>
          <p:cNvSpPr/>
          <p:nvPr/>
        </p:nvSpPr>
        <p:spPr>
          <a:xfrm>
            <a:off x="5906171" y="2502084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Self-healing · auto-remediacion · &gt;40% defleccion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CCC4E44B-ABFE-9A6D-56B0-BD4DDDB91B8D}"/>
              </a:ext>
            </a:extLst>
          </p:cNvPr>
          <p:cNvSpPr/>
          <p:nvPr/>
        </p:nvSpPr>
        <p:spPr>
          <a:xfrm>
            <a:off x="398760" y="3014148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CFE0FC96-7D40-0AEA-4705-1D8EEFA26D26}"/>
              </a:ext>
            </a:extLst>
          </p:cNvPr>
          <p:cNvSpPr/>
          <p:nvPr/>
        </p:nvSpPr>
        <p:spPr>
          <a:xfrm>
            <a:off x="432218" y="3069012"/>
            <a:ext cx="2198804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Observabilidad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8E643936-ADB4-18AC-DC7D-F6499124833C}"/>
              </a:ext>
            </a:extLst>
          </p:cNvPr>
          <p:cNvSpPr/>
          <p:nvPr/>
        </p:nvSpPr>
        <p:spPr>
          <a:xfrm>
            <a:off x="2680546" y="3197028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725C4751-01D4-056A-A00A-938223D13D49}"/>
              </a:ext>
            </a:extLst>
          </p:cNvPr>
          <p:cNvSpPr/>
          <p:nvPr/>
        </p:nvSpPr>
        <p:spPr>
          <a:xfrm>
            <a:off x="2896610" y="3069012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Monitoreo reactivo de alertas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13393221-1582-2197-8E3A-0A0C7C255255}"/>
              </a:ext>
            </a:extLst>
          </p:cNvPr>
          <p:cNvSpPr/>
          <p:nvPr/>
        </p:nvSpPr>
        <p:spPr>
          <a:xfrm>
            <a:off x="5688922" y="3197028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5ED97B59-AC99-C7E3-7A0A-21894D60C312}"/>
              </a:ext>
            </a:extLst>
          </p:cNvPr>
          <p:cNvSpPr/>
          <p:nvPr/>
        </p:nvSpPr>
        <p:spPr>
          <a:xfrm>
            <a:off x="5906171" y="3069012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AIOps predictivo · prevencion P1 · correlacion causa raiz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958AF314-F533-6648-AB95-D2DA83323FA1}"/>
              </a:ext>
            </a:extLst>
          </p:cNvPr>
          <p:cNvSpPr/>
          <p:nvPr/>
        </p:nvSpPr>
        <p:spPr>
          <a:xfrm>
            <a:off x="398760" y="3581076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EDC48C0F-2569-9193-E804-DDFAC21A9BE5}"/>
              </a:ext>
            </a:extLst>
          </p:cNvPr>
          <p:cNvSpPr/>
          <p:nvPr/>
        </p:nvSpPr>
        <p:spPr>
          <a:xfrm>
            <a:off x="432218" y="3635940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Medición</a:t>
            </a:r>
            <a:r>
              <a:rPr lang="en-US" sz="1100" b="1" dirty="0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de valor</a:t>
            </a:r>
            <a:endParaRPr lang="en-US" sz="1100" dirty="0">
              <a:latin typeface="Reddit Sans"/>
              <a:ea typeface="Reddit Sans"/>
              <a:cs typeface="Calibri"/>
            </a:endParaRPr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AD8D5078-66D6-3EDE-2B9E-792A3936CD56}"/>
              </a:ext>
            </a:extLst>
          </p:cNvPr>
          <p:cNvSpPr/>
          <p:nvPr/>
        </p:nvSpPr>
        <p:spPr>
          <a:xfrm>
            <a:off x="2680546" y="3763956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D7E2076C-25D6-7D82-5D39-5909F60722C9}"/>
              </a:ext>
            </a:extLst>
          </p:cNvPr>
          <p:cNvSpPr/>
          <p:nvPr/>
        </p:nvSpPr>
        <p:spPr>
          <a:xfrm>
            <a:off x="2896610" y="3635940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SLA de cumplimiento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2C9F1672-C41E-1D59-F96B-6F6BB17D1E2D}"/>
              </a:ext>
            </a:extLst>
          </p:cNvPr>
          <p:cNvSpPr/>
          <p:nvPr/>
        </p:nvSpPr>
        <p:spPr>
          <a:xfrm>
            <a:off x="5688922" y="3763956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95B74998-D0F7-1D97-19F5-461413793564}"/>
              </a:ext>
            </a:extLst>
          </p:cNvPr>
          <p:cNvSpPr/>
          <p:nvPr/>
        </p:nvSpPr>
        <p:spPr>
          <a:xfrm>
            <a:off x="5906171" y="3635940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SLA + XLA + DEX + impacto economico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FF25A429-6E0D-E1CC-AEA9-FE3274389E01}"/>
              </a:ext>
            </a:extLst>
          </p:cNvPr>
          <p:cNvSpPr/>
          <p:nvPr/>
        </p:nvSpPr>
        <p:spPr>
          <a:xfrm>
            <a:off x="398760" y="4148004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C1D8BD44-FDC0-B67A-89E7-EB1DD3D5541D}"/>
              </a:ext>
            </a:extLst>
          </p:cNvPr>
          <p:cNvSpPr/>
          <p:nvPr/>
        </p:nvSpPr>
        <p:spPr>
          <a:xfrm>
            <a:off x="432218" y="4202868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Evolución</a:t>
            </a:r>
            <a:endParaRPr lang="en-US" sz="1100" dirty="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5B56FC32-C361-5EB7-FC08-0A35299777FB}"/>
              </a:ext>
            </a:extLst>
          </p:cNvPr>
          <p:cNvSpPr/>
          <p:nvPr/>
        </p:nvSpPr>
        <p:spPr>
          <a:xfrm>
            <a:off x="2680546" y="4330884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9C685756-3D5A-DDBC-4681-52D0206F6233}"/>
              </a:ext>
            </a:extLst>
          </p:cNvPr>
          <p:cNvSpPr/>
          <p:nvPr/>
        </p:nvSpPr>
        <p:spPr>
          <a:xfrm>
            <a:off x="2896610" y="4202868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Estatico · cambios reactivos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4CDD1506-C3BD-C2CF-7127-6A709B9B853E}"/>
              </a:ext>
            </a:extLst>
          </p:cNvPr>
          <p:cNvSpPr/>
          <p:nvPr/>
        </p:nvSpPr>
        <p:spPr>
          <a:xfrm>
            <a:off x="5688922" y="4330884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C937FD0D-D971-01FD-0A8D-3B8C2D0EDFBE}"/>
              </a:ext>
            </a:extLst>
          </p:cNvPr>
          <p:cNvSpPr/>
          <p:nvPr/>
        </p:nvSpPr>
        <p:spPr>
          <a:xfrm>
            <a:off x="5906171" y="4202868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Roadmap vivo · mejora continua · backlog priorizado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5" name="Text 44">
            <a:extLst>
              <a:ext uri="{FF2B5EF4-FFF2-40B4-BE49-F238E27FC236}">
                <a16:creationId xmlns:a16="http://schemas.microsoft.com/office/drawing/2014/main" id="{337DCDAD-21E5-4497-D396-8F012D50A7EB}"/>
              </a:ext>
            </a:extLst>
          </p:cNvPr>
          <p:cNvSpPr/>
          <p:nvPr/>
        </p:nvSpPr>
        <p:spPr>
          <a:xfrm>
            <a:off x="172389" y="47515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Freshservice ITSM Benchmark Report 2025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AI in ITSM — Key Capabilities 2025</a:t>
            </a:r>
            <a:endParaRPr lang="en-US" sz="750" dirty="0">
              <a:latin typeface="Reddit Sans" panose="020B0604020202020204" charset="0"/>
              <a:ea typeface="Reddit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583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AC071-7E54-DB2D-E621-4B6AAF703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Colombia: La Ventana Temporal</a:t>
            </a:r>
            <a:endParaRPr lang="es-CO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3738D52-4FCB-0ED3-5142-79ABA8BCF908}"/>
              </a:ext>
            </a:extLst>
          </p:cNvPr>
          <p:cNvSpPr/>
          <p:nvPr/>
        </p:nvSpPr>
        <p:spPr>
          <a:xfrm>
            <a:off x="320040" y="548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El mercado mas dinamico de IT Services en Sudamerica esta listo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11D7D5B-67B0-A26B-CF8E-A1753CAC64E7}"/>
              </a:ext>
            </a:extLst>
          </p:cNvPr>
          <p:cNvSpPr/>
          <p:nvPr/>
        </p:nvSpPr>
        <p:spPr>
          <a:xfrm>
            <a:off x="320040" y="987552"/>
            <a:ext cx="2743200" cy="3168396"/>
          </a:xfrm>
          <a:prstGeom prst="roundRect">
            <a:avLst>
              <a:gd name="adj" fmla="val 2667"/>
            </a:avLst>
          </a:prstGeom>
          <a:solidFill>
            <a:srgbClr val="C8DEF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D5E04B18-AE66-2CDC-EF77-608CFAACDA4A}"/>
              </a:ext>
            </a:extLst>
          </p:cNvPr>
          <p:cNvSpPr/>
          <p:nvPr/>
        </p:nvSpPr>
        <p:spPr>
          <a:xfrm>
            <a:off x="320040" y="987552"/>
            <a:ext cx="2743200" cy="402336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F683D01-9A69-F899-5384-E43487326B72}"/>
              </a:ext>
            </a:extLst>
          </p:cNvPr>
          <p:cNvSpPr/>
          <p:nvPr/>
        </p:nvSpPr>
        <p:spPr>
          <a:xfrm>
            <a:off x="41148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El mercado crece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0DC4444-46EC-F6F0-8D38-713BDBCB222A}"/>
              </a:ext>
            </a:extLst>
          </p:cNvPr>
          <p:cNvSpPr/>
          <p:nvPr/>
        </p:nvSpPr>
        <p:spPr>
          <a:xfrm>
            <a:off x="448056" y="1444752"/>
            <a:ext cx="2487168" cy="586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9.8% CAGR IT Services — el mas alto de Sudamerica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FC7C2169-99E2-B779-0191-668BF379F658}"/>
              </a:ext>
            </a:extLst>
          </p:cNvPr>
          <p:cNvSpPr/>
          <p:nvPr/>
        </p:nvSpPr>
        <p:spPr>
          <a:xfrm>
            <a:off x="448056" y="2139696"/>
            <a:ext cx="2487168" cy="586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Servicios (13.82%) crecen mas que software (61%)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87AA57C-300D-D1FF-1B3E-1D1AC4954B55}"/>
              </a:ext>
            </a:extLst>
          </p:cNvPr>
          <p:cNvSpPr/>
          <p:nvPr/>
        </p:nvSpPr>
        <p:spPr>
          <a:xfrm>
            <a:off x="448056" y="2834640"/>
            <a:ext cx="2487168" cy="586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USD 108M → USD 210M para 2031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FA125AE4-4010-DC69-256E-B40C47B44FD1}"/>
              </a:ext>
            </a:extLst>
          </p:cNvPr>
          <p:cNvSpPr/>
          <p:nvPr/>
        </p:nvSpPr>
        <p:spPr>
          <a:xfrm>
            <a:off x="448056" y="3529584"/>
            <a:ext cx="2487168" cy="586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Open Finance, 5G y multinacionales aceleran la demanda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73B96BF1-3A36-BCFA-F942-CDC1142B7EC1}"/>
              </a:ext>
            </a:extLst>
          </p:cNvPr>
          <p:cNvSpPr/>
          <p:nvPr/>
        </p:nvSpPr>
        <p:spPr>
          <a:xfrm>
            <a:off x="3227832" y="987552"/>
            <a:ext cx="2743200" cy="3168396"/>
          </a:xfrm>
          <a:prstGeom prst="roundRect">
            <a:avLst>
              <a:gd name="adj" fmla="val 2667"/>
            </a:avLst>
          </a:prstGeom>
          <a:solidFill>
            <a:srgbClr val="C8EBEF"/>
          </a:solidFill>
          <a:ln w="12700">
            <a:solidFill>
              <a:srgbClr val="1B7B85"/>
            </a:solidFill>
            <a:prstDash val="solid"/>
          </a:ln>
        </p:spPr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3E75C593-464B-504A-CDC4-C4FFA287A8C7}"/>
              </a:ext>
            </a:extLst>
          </p:cNvPr>
          <p:cNvSpPr/>
          <p:nvPr/>
        </p:nvSpPr>
        <p:spPr>
          <a:xfrm>
            <a:off x="3227832" y="987552"/>
            <a:ext cx="2743200" cy="402336"/>
          </a:xfrm>
          <a:prstGeom prst="rect">
            <a:avLst/>
          </a:prstGeom>
          <a:solidFill>
            <a:srgbClr val="1B7B85"/>
          </a:solidFill>
          <a:ln w="12700">
            <a:solidFill>
              <a:srgbClr val="1B7B85"/>
            </a:solidFill>
            <a:prstDash val="solid"/>
          </a:ln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5A46F2B5-266C-0BAF-3AD4-F655405B65AB}"/>
              </a:ext>
            </a:extLst>
          </p:cNvPr>
          <p:cNvSpPr/>
          <p:nvPr/>
        </p:nvSpPr>
        <p:spPr>
          <a:xfrm>
            <a:off x="3319272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El sector financiero esta listo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850CE9D7-13A2-E919-A217-E94B6F7B63D8}"/>
              </a:ext>
            </a:extLst>
          </p:cNvPr>
          <p:cNvSpPr/>
          <p:nvPr/>
        </p:nvSpPr>
        <p:spPr>
          <a:xfrm>
            <a:off x="3355848" y="1444752"/>
            <a:ext cx="2487168" cy="586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81% de establecimientos de credito ya usa IA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B1DE3B62-A4DC-A523-D003-EA8CF268BC50}"/>
              </a:ext>
            </a:extLst>
          </p:cNvPr>
          <p:cNvSpPr/>
          <p:nvPr/>
        </p:nvSpPr>
        <p:spPr>
          <a:xfrm>
            <a:off x="3355848" y="2139696"/>
            <a:ext cx="2487168" cy="586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SFC Circular 007: SIEM, gestion incidentes, gobernanza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956A53AE-163C-9A53-D167-65596F92403E}"/>
              </a:ext>
            </a:extLst>
          </p:cNvPr>
          <p:cNvSpPr/>
          <p:nvPr/>
        </p:nvSpPr>
        <p:spPr>
          <a:xfrm>
            <a:off x="3355848" y="2834640"/>
            <a:ext cx="2487168" cy="586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Open Finance: plazo hasta agosto 2026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3FC604BF-DEC5-06EF-2318-8388CA1505DD}"/>
              </a:ext>
            </a:extLst>
          </p:cNvPr>
          <p:cNvSpPr/>
          <p:nvPr/>
        </p:nvSpPr>
        <p:spPr>
          <a:xfrm>
            <a:off x="3355848" y="3529584"/>
            <a:ext cx="2487168" cy="586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SURA y Bancolombia: clientes actuales con presion regulatoria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BA0850BF-3796-3A2D-7FAC-2ACCFC3B7E67}"/>
              </a:ext>
            </a:extLst>
          </p:cNvPr>
          <p:cNvSpPr/>
          <p:nvPr/>
        </p:nvSpPr>
        <p:spPr>
          <a:xfrm>
            <a:off x="6135624" y="987552"/>
            <a:ext cx="2743200" cy="3168396"/>
          </a:xfrm>
          <a:prstGeom prst="roundRect">
            <a:avLst>
              <a:gd name="adj" fmla="val 2667"/>
            </a:avLst>
          </a:prstGeom>
          <a:solidFill>
            <a:srgbClr val="FFF3D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6A66F069-6305-3014-2C73-1B0D0097F4AD}"/>
              </a:ext>
            </a:extLst>
          </p:cNvPr>
          <p:cNvSpPr/>
          <p:nvPr/>
        </p:nvSpPr>
        <p:spPr>
          <a:xfrm>
            <a:off x="6135624" y="987552"/>
            <a:ext cx="2743200" cy="4023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46FC33E8-2C9E-B594-14B3-6C5172CCE188}"/>
              </a:ext>
            </a:extLst>
          </p:cNvPr>
          <p:cNvSpPr/>
          <p:nvPr/>
        </p:nvSpPr>
        <p:spPr>
          <a:xfrm>
            <a:off x="6227064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La competencia tiene brechas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000D8381-7AF4-BCBF-037A-AA368301563A}"/>
              </a:ext>
            </a:extLst>
          </p:cNvPr>
          <p:cNvSpPr/>
          <p:nvPr/>
        </p:nvSpPr>
        <p:spPr>
          <a:xfrm>
            <a:off x="6263640" y="1444752"/>
            <a:ext cx="2487168" cy="586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Aranda Software: unico competidor local relevante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25F61113-DFF4-7F3C-3DB9-C30BF145C2F4}"/>
              </a:ext>
            </a:extLst>
          </p:cNvPr>
          <p:cNvSpPr/>
          <p:nvPr/>
        </p:nvSpPr>
        <p:spPr>
          <a:xfrm>
            <a:off x="6263640" y="2139696"/>
            <a:ext cx="2487168" cy="586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Vendors globales compiten como software, no assessment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65361EAF-4482-3768-B88F-382D9EE92A29}"/>
              </a:ext>
            </a:extLst>
          </p:cNvPr>
          <p:cNvSpPr/>
          <p:nvPr/>
        </p:nvSpPr>
        <p:spPr>
          <a:xfrm>
            <a:off x="6263640" y="2834640"/>
            <a:ext cx="2487168" cy="586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Nadie tiene un modelo de madurez propio publicado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F3C51297-87CE-4D57-D0BC-ACFA04414FCE}"/>
              </a:ext>
            </a:extLst>
          </p:cNvPr>
          <p:cNvSpPr/>
          <p:nvPr/>
        </p:nvSpPr>
        <p:spPr>
          <a:xfrm>
            <a:off x="6263640" y="3529584"/>
            <a:ext cx="2487168" cy="586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BMC, Ivanti y ManageEngine recien ingresan a la region</a:t>
            </a:r>
            <a:endParaRPr lang="en-US" sz="10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E3E4259E-4092-A30F-A0D2-C2F0583CC1A0}"/>
              </a:ext>
            </a:extLst>
          </p:cNvPr>
          <p:cNvSpPr/>
          <p:nvPr/>
        </p:nvSpPr>
        <p:spPr>
          <a:xfrm>
            <a:off x="320040" y="4274820"/>
            <a:ext cx="8503920" cy="256032"/>
          </a:xfrm>
          <a:prstGeom prst="roundRect">
            <a:avLst>
              <a:gd name="adj" fmla="val 14286"/>
            </a:avLst>
          </a:prstGeom>
          <a:solidFill>
            <a:srgbClr val="1B7B85"/>
          </a:solidFill>
          <a:ln w="12700">
            <a:solidFill>
              <a:srgbClr val="1B7B85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844157BB-2923-58AF-F885-D6293A15A5C3}"/>
              </a:ext>
            </a:extLst>
          </p:cNvPr>
          <p:cNvSpPr/>
          <p:nvPr/>
        </p:nvSpPr>
        <p:spPr>
          <a:xfrm>
            <a:off x="502920" y="428396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La regulacion exigente + banca IA-madura + mercado en expansion = ventana </a:t>
            </a:r>
            <a:r>
              <a:rPr lang="en-US" sz="900" b="1" dirty="0" err="1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comercial</a:t>
            </a:r>
            <a:r>
              <a:rPr lang="en-US" sz="9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concreta</a:t>
            </a:r>
            <a:r>
              <a:rPr lang="en-US" sz="9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, antes de que los globales tengan framework propio</a:t>
            </a:r>
            <a:endParaRPr lang="en-US" sz="9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EF2723AB-50F1-F3C9-1C4F-9073C53B1C22}"/>
              </a:ext>
            </a:extLst>
          </p:cNvPr>
          <p:cNvSpPr/>
          <p:nvPr/>
        </p:nvSpPr>
        <p:spPr>
          <a:xfrm>
            <a:off x="148320" y="464972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Mordor Intelligence — Colombia IT Services 2031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SFC — Circular Externa 007 de 2024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Aranda Software — Oferta ITSM Colombia</a:t>
            </a:r>
            <a:endParaRPr lang="en-US" sz="750" dirty="0">
              <a:latin typeface="Reddit Sans" panose="020B0604020202020204" charset="0"/>
              <a:ea typeface="Reddit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140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05650-4EA2-FD56-4A23-E34B42267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Nuestro Servicio de Mesa de Servicio de Nueva Generación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EBE7D27-AE46-8073-4A29-A4E3308125B3}"/>
              </a:ext>
            </a:extLst>
          </p:cNvPr>
          <p:cNvSpPr/>
          <p:nvPr/>
        </p:nvSpPr>
        <p:spPr>
          <a:xfrm>
            <a:off x="320040" y="548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D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14 dimensiones · 4 ejes · 1 propuesta diferenciada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7D6DAFA1-A5A2-6BEA-E642-CFA405F2D4CE}"/>
              </a:ext>
            </a:extLst>
          </p:cNvPr>
          <p:cNvSpPr/>
          <p:nvPr/>
        </p:nvSpPr>
        <p:spPr>
          <a:xfrm>
            <a:off x="320040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689324A-9E66-26D4-AC5B-F101A9E26330}"/>
              </a:ext>
            </a:extLst>
          </p:cNvPr>
          <p:cNvSpPr/>
          <p:nvPr/>
        </p:nvSpPr>
        <p:spPr>
          <a:xfrm>
            <a:off x="320040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N0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48454676-1C6A-4AB6-3872-41863CAE7ABB}"/>
              </a:ext>
            </a:extLst>
          </p:cNvPr>
          <p:cNvSpPr/>
          <p:nvPr/>
        </p:nvSpPr>
        <p:spPr>
          <a:xfrm>
            <a:off x="320040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Autoservicio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3CCE086A-F21A-4995-35D0-B5B01BC09EFB}"/>
              </a:ext>
            </a:extLst>
          </p:cNvPr>
          <p:cNvSpPr/>
          <p:nvPr/>
        </p:nvSpPr>
        <p:spPr>
          <a:xfrm>
            <a:off x="1755648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3A9B5C"/>
          </a:solidFill>
          <a:ln w="12700">
            <a:solidFill>
              <a:srgbClr val="3A9B5C"/>
            </a:solidFill>
            <a:prstDash val="solid"/>
          </a:ln>
        </p:spPr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C1C861A-08DB-43FB-2A56-B3E4284FC3EF}"/>
              </a:ext>
            </a:extLst>
          </p:cNvPr>
          <p:cNvSpPr/>
          <p:nvPr/>
        </p:nvSpPr>
        <p:spPr>
          <a:xfrm>
            <a:off x="1755648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N1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3FD13FBB-000B-264A-F28C-EB85903544FD}"/>
              </a:ext>
            </a:extLst>
          </p:cNvPr>
          <p:cNvSpPr/>
          <p:nvPr/>
        </p:nvSpPr>
        <p:spPr>
          <a:xfrm>
            <a:off x="1755648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Inicial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2951E31C-8540-B467-6862-63DD2BA7491F}"/>
              </a:ext>
            </a:extLst>
          </p:cNvPr>
          <p:cNvSpPr/>
          <p:nvPr/>
        </p:nvSpPr>
        <p:spPr>
          <a:xfrm>
            <a:off x="3191256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B42AEAAB-F0C3-D7B2-2695-228C8ADA2BA4}"/>
              </a:ext>
            </a:extLst>
          </p:cNvPr>
          <p:cNvSpPr/>
          <p:nvPr/>
        </p:nvSpPr>
        <p:spPr>
          <a:xfrm>
            <a:off x="3191256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N2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DE051FD4-D789-4287-4895-8B916620100C}"/>
              </a:ext>
            </a:extLst>
          </p:cNvPr>
          <p:cNvSpPr/>
          <p:nvPr/>
        </p:nvSpPr>
        <p:spPr>
          <a:xfrm>
            <a:off x="3191256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Administrado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9FEF47BA-904A-6BA0-531B-D7D5220A5818}"/>
              </a:ext>
            </a:extLst>
          </p:cNvPr>
          <p:cNvSpPr/>
          <p:nvPr/>
        </p:nvSpPr>
        <p:spPr>
          <a:xfrm>
            <a:off x="4626864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D2225454-DF4B-D6A8-86E8-280B116FF366}"/>
              </a:ext>
            </a:extLst>
          </p:cNvPr>
          <p:cNvSpPr/>
          <p:nvPr/>
        </p:nvSpPr>
        <p:spPr>
          <a:xfrm>
            <a:off x="4626864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N3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CFC3803A-94CC-98AD-7DC5-52917C207FB4}"/>
              </a:ext>
            </a:extLst>
          </p:cNvPr>
          <p:cNvSpPr/>
          <p:nvPr/>
        </p:nvSpPr>
        <p:spPr>
          <a:xfrm>
            <a:off x="4626864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Definido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6172EE52-3312-0CA5-1C2F-8535C1A3FABC}"/>
              </a:ext>
            </a:extLst>
          </p:cNvPr>
          <p:cNvSpPr/>
          <p:nvPr/>
        </p:nvSpPr>
        <p:spPr>
          <a:xfrm>
            <a:off x="6062472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1F6FBA"/>
          </a:solidFill>
          <a:ln w="12700">
            <a:solidFill>
              <a:srgbClr val="1F6FBA"/>
            </a:solidFill>
            <a:prstDash val="solid"/>
          </a:ln>
        </p:spPr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9EEC9E16-DA23-72BF-AA26-7BC0A6F452BD}"/>
              </a:ext>
            </a:extLst>
          </p:cNvPr>
          <p:cNvSpPr/>
          <p:nvPr/>
        </p:nvSpPr>
        <p:spPr>
          <a:xfrm>
            <a:off x="6062472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N4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4AA417C7-A679-6FE9-FA97-44DB1FB7CF52}"/>
              </a:ext>
            </a:extLst>
          </p:cNvPr>
          <p:cNvSpPr/>
          <p:nvPr/>
        </p:nvSpPr>
        <p:spPr>
          <a:xfrm>
            <a:off x="6062472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Cuantitativo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45EB680D-475F-FE9A-ED0A-D85785D63DA6}"/>
              </a:ext>
            </a:extLst>
          </p:cNvPr>
          <p:cNvSpPr/>
          <p:nvPr/>
        </p:nvSpPr>
        <p:spPr>
          <a:xfrm>
            <a:off x="7498080" y="987552"/>
            <a:ext cx="1335024" cy="960120"/>
          </a:xfrm>
          <a:prstGeom prst="roundRect">
            <a:avLst>
              <a:gd name="adj" fmla="val 5714"/>
            </a:avLst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970877D2-1D6A-523D-8A76-4B171B997FC9}"/>
              </a:ext>
            </a:extLst>
          </p:cNvPr>
          <p:cNvSpPr/>
          <p:nvPr/>
        </p:nvSpPr>
        <p:spPr>
          <a:xfrm>
            <a:off x="7498080" y="102412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N5</a:t>
            </a:r>
            <a:endParaRPr lang="en-US" sz="22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A4A27C26-0AE8-8D6F-91E9-CB7BF4F1ED3A}"/>
              </a:ext>
            </a:extLst>
          </p:cNvPr>
          <p:cNvSpPr/>
          <p:nvPr/>
        </p:nvSpPr>
        <p:spPr>
          <a:xfrm>
            <a:off x="7498080" y="1481328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Optimizado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2D1A1FEE-0DC3-AE59-3A0B-947E5E92BA6E}"/>
              </a:ext>
            </a:extLst>
          </p:cNvPr>
          <p:cNvSpPr/>
          <p:nvPr/>
        </p:nvSpPr>
        <p:spPr>
          <a:xfrm>
            <a:off x="329184" y="2203704"/>
            <a:ext cx="666288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Los 4 Ejes de nuestra evaluación inicial de las Mesas de Servicio actuales</a:t>
            </a:r>
            <a:endParaRPr lang="es-CO" sz="1200" noProof="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12FB0547-751E-62D8-CEB6-C39BA7935A72}"/>
              </a:ext>
            </a:extLst>
          </p:cNvPr>
          <p:cNvSpPr/>
          <p:nvPr/>
        </p:nvSpPr>
        <p:spPr>
          <a:xfrm>
            <a:off x="329184" y="2551176"/>
            <a:ext cx="4059936" cy="896112"/>
          </a:xfrm>
          <a:prstGeom prst="roundRect">
            <a:avLst>
              <a:gd name="adj" fmla="val 6122"/>
            </a:avLst>
          </a:prstGeom>
          <a:solidFill>
            <a:srgbClr val="F5F7FC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08DF3819-DD70-332F-3650-C9D09244283E}"/>
              </a:ext>
            </a:extLst>
          </p:cNvPr>
          <p:cNvSpPr/>
          <p:nvPr/>
        </p:nvSpPr>
        <p:spPr>
          <a:xfrm>
            <a:off x="420623" y="2697480"/>
            <a:ext cx="458949" cy="475488"/>
          </a:xfrm>
          <a:prstGeom prst="ellipse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FA216459-DACF-D699-DCD6-975F2EDB087A}"/>
              </a:ext>
            </a:extLst>
          </p:cNvPr>
          <p:cNvSpPr/>
          <p:nvPr/>
        </p:nvSpPr>
        <p:spPr>
          <a:xfrm>
            <a:off x="420623" y="2697480"/>
            <a:ext cx="45894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A</a:t>
            </a:r>
            <a:endParaRPr lang="en-US" sz="14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613D828C-74FF-59D5-14F6-5EE70B57B98E}"/>
              </a:ext>
            </a:extLst>
          </p:cNvPr>
          <p:cNvSpPr/>
          <p:nvPr/>
        </p:nvSpPr>
        <p:spPr>
          <a:xfrm>
            <a:off x="987552" y="2624328"/>
            <a:ext cx="3336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Modelo Operativo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0334A319-CAB5-F46B-5D25-40DB2DF57511}"/>
              </a:ext>
            </a:extLst>
          </p:cNvPr>
          <p:cNvSpPr/>
          <p:nvPr/>
        </p:nvSpPr>
        <p:spPr>
          <a:xfrm>
            <a:off x="987552" y="2971800"/>
            <a:ext cx="3336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 dim: Niveles · Gobierno · Catalogo · Modelo Economico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92E8CBE5-5803-E04B-B29C-D1BA9546C532}"/>
              </a:ext>
            </a:extLst>
          </p:cNvPr>
          <p:cNvSpPr/>
          <p:nvPr/>
        </p:nvSpPr>
        <p:spPr>
          <a:xfrm>
            <a:off x="4764024" y="2551176"/>
            <a:ext cx="4059936" cy="896112"/>
          </a:xfrm>
          <a:prstGeom prst="roundRect">
            <a:avLst>
              <a:gd name="adj" fmla="val 6122"/>
            </a:avLst>
          </a:prstGeom>
          <a:solidFill>
            <a:srgbClr val="F5F7FC"/>
          </a:solidFill>
          <a:ln w="12700">
            <a:solidFill>
              <a:srgbClr val="1B7B85"/>
            </a:solidFill>
            <a:prstDash val="solid"/>
          </a:ln>
        </p:spPr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3A197CD0-0BAE-DA26-95CD-08C4B9F15900}"/>
              </a:ext>
            </a:extLst>
          </p:cNvPr>
          <p:cNvSpPr/>
          <p:nvPr/>
        </p:nvSpPr>
        <p:spPr>
          <a:xfrm>
            <a:off x="4855463" y="2697480"/>
            <a:ext cx="458949" cy="475488"/>
          </a:xfrm>
          <a:prstGeom prst="ellipse">
            <a:avLst/>
          </a:prstGeom>
          <a:solidFill>
            <a:srgbClr val="1B7B85"/>
          </a:solidFill>
          <a:ln w="12700">
            <a:solidFill>
              <a:srgbClr val="1B7B85"/>
            </a:solidFill>
            <a:prstDash val="solid"/>
          </a:ln>
        </p:spPr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F0A5956F-08BA-2D1C-41DA-43D1FD164BAB}"/>
              </a:ext>
            </a:extLst>
          </p:cNvPr>
          <p:cNvSpPr/>
          <p:nvPr/>
        </p:nvSpPr>
        <p:spPr>
          <a:xfrm>
            <a:off x="4855463" y="2697480"/>
            <a:ext cx="45894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B</a:t>
            </a:r>
            <a:endParaRPr lang="en-US" sz="14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694E7E96-8EC0-BD63-0F98-502CC29D8001}"/>
              </a:ext>
            </a:extLst>
          </p:cNvPr>
          <p:cNvSpPr/>
          <p:nvPr/>
        </p:nvSpPr>
        <p:spPr>
          <a:xfrm>
            <a:off x="5422392" y="2624328"/>
            <a:ext cx="3336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Inteligencia y Automatizacion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Text 40">
            <a:extLst>
              <a:ext uri="{FF2B5EF4-FFF2-40B4-BE49-F238E27FC236}">
                <a16:creationId xmlns:a16="http://schemas.microsoft.com/office/drawing/2014/main" id="{8DEBE875-F6F4-DD68-EB9E-65609E5AC821}"/>
              </a:ext>
            </a:extLst>
          </p:cNvPr>
          <p:cNvSpPr/>
          <p:nvPr/>
        </p:nvSpPr>
        <p:spPr>
          <a:xfrm>
            <a:off x="5422392" y="2971800"/>
            <a:ext cx="3336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 dim: IA · Automatizacion · Knowledge Hub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55B360B4-0B81-31B4-BDCA-2FEE447CD29C}"/>
              </a:ext>
            </a:extLst>
          </p:cNvPr>
          <p:cNvSpPr/>
          <p:nvPr/>
        </p:nvSpPr>
        <p:spPr>
          <a:xfrm>
            <a:off x="329184" y="3557016"/>
            <a:ext cx="4059936" cy="896112"/>
          </a:xfrm>
          <a:prstGeom prst="roundRect">
            <a:avLst>
              <a:gd name="adj" fmla="val 6122"/>
            </a:avLst>
          </a:prstGeom>
          <a:solidFill>
            <a:srgbClr val="F5F7FC"/>
          </a:solidFill>
          <a:ln w="12700">
            <a:solidFill>
              <a:srgbClr val="1F6FBA"/>
            </a:solidFill>
            <a:prstDash val="solid"/>
          </a:ln>
        </p:spPr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7A265E44-B030-4C5B-F0B5-EFF59B69EE8C}"/>
              </a:ext>
            </a:extLst>
          </p:cNvPr>
          <p:cNvSpPr/>
          <p:nvPr/>
        </p:nvSpPr>
        <p:spPr>
          <a:xfrm>
            <a:off x="420623" y="3703320"/>
            <a:ext cx="458949" cy="475488"/>
          </a:xfrm>
          <a:prstGeom prst="ellipse">
            <a:avLst/>
          </a:prstGeom>
          <a:solidFill>
            <a:srgbClr val="1F6FBA"/>
          </a:solidFill>
          <a:ln w="12700">
            <a:solidFill>
              <a:srgbClr val="1F6FBA"/>
            </a:solidFill>
            <a:prstDash val="solid"/>
          </a:ln>
        </p:spPr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AA9B8754-BCCC-E880-E3B0-1BBEE7F07AC9}"/>
              </a:ext>
            </a:extLst>
          </p:cNvPr>
          <p:cNvSpPr/>
          <p:nvPr/>
        </p:nvSpPr>
        <p:spPr>
          <a:xfrm>
            <a:off x="420623" y="3703320"/>
            <a:ext cx="45894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</a:t>
            </a:r>
            <a:endParaRPr lang="en-US" sz="14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5" name="Text 44">
            <a:extLst>
              <a:ext uri="{FF2B5EF4-FFF2-40B4-BE49-F238E27FC236}">
                <a16:creationId xmlns:a16="http://schemas.microsoft.com/office/drawing/2014/main" id="{4F079B37-1D34-C592-AE4A-B46238FFEC2D}"/>
              </a:ext>
            </a:extLst>
          </p:cNvPr>
          <p:cNvSpPr/>
          <p:nvPr/>
        </p:nvSpPr>
        <p:spPr>
          <a:xfrm>
            <a:off x="987552" y="3630168"/>
            <a:ext cx="3336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BA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Experiencia y Medicion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6" name="Text 45">
            <a:extLst>
              <a:ext uri="{FF2B5EF4-FFF2-40B4-BE49-F238E27FC236}">
                <a16:creationId xmlns:a16="http://schemas.microsoft.com/office/drawing/2014/main" id="{0A3F064A-DBD6-4B82-3741-199809A48636}"/>
              </a:ext>
            </a:extLst>
          </p:cNvPr>
          <p:cNvSpPr/>
          <p:nvPr/>
        </p:nvSpPr>
        <p:spPr>
          <a:xfrm>
            <a:off x="987552" y="3977640"/>
            <a:ext cx="3336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 dim: Autoservicio N0 · SLA+XLA · DEX · Calidad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7" name="Shape 46">
            <a:extLst>
              <a:ext uri="{FF2B5EF4-FFF2-40B4-BE49-F238E27FC236}">
                <a16:creationId xmlns:a16="http://schemas.microsoft.com/office/drawing/2014/main" id="{84E774D2-C1F3-86F2-4213-5574471DD169}"/>
              </a:ext>
            </a:extLst>
          </p:cNvPr>
          <p:cNvSpPr/>
          <p:nvPr/>
        </p:nvSpPr>
        <p:spPr>
          <a:xfrm>
            <a:off x="4764024" y="3557016"/>
            <a:ext cx="4059936" cy="896112"/>
          </a:xfrm>
          <a:prstGeom prst="roundRect">
            <a:avLst>
              <a:gd name="adj" fmla="val 6122"/>
            </a:avLst>
          </a:prstGeom>
          <a:solidFill>
            <a:srgbClr val="F5F7FC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8" name="Shape 47">
            <a:extLst>
              <a:ext uri="{FF2B5EF4-FFF2-40B4-BE49-F238E27FC236}">
                <a16:creationId xmlns:a16="http://schemas.microsoft.com/office/drawing/2014/main" id="{38EBEE1C-8B52-3CA3-C1AF-12C63F9F1C48}"/>
              </a:ext>
            </a:extLst>
          </p:cNvPr>
          <p:cNvSpPr/>
          <p:nvPr/>
        </p:nvSpPr>
        <p:spPr>
          <a:xfrm>
            <a:off x="4855463" y="3703320"/>
            <a:ext cx="458949" cy="47548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9" name="Text 48">
            <a:extLst>
              <a:ext uri="{FF2B5EF4-FFF2-40B4-BE49-F238E27FC236}">
                <a16:creationId xmlns:a16="http://schemas.microsoft.com/office/drawing/2014/main" id="{021C2B72-E504-97C4-1F57-C7F45315F8FD}"/>
              </a:ext>
            </a:extLst>
          </p:cNvPr>
          <p:cNvSpPr/>
          <p:nvPr/>
        </p:nvSpPr>
        <p:spPr>
          <a:xfrm>
            <a:off x="4855463" y="3703320"/>
            <a:ext cx="45894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</a:t>
            </a:r>
            <a:endParaRPr lang="en-US" sz="14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0" name="Text 49">
            <a:extLst>
              <a:ext uri="{FF2B5EF4-FFF2-40B4-BE49-F238E27FC236}">
                <a16:creationId xmlns:a16="http://schemas.microsoft.com/office/drawing/2014/main" id="{C3F8675D-03FB-56F5-2EC2-D2B1E2A47B66}"/>
              </a:ext>
            </a:extLst>
          </p:cNvPr>
          <p:cNvSpPr/>
          <p:nvPr/>
        </p:nvSpPr>
        <p:spPr>
          <a:xfrm>
            <a:off x="5422392" y="3630168"/>
            <a:ext cx="3336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61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Evolucion y Gobierno</a:t>
            </a:r>
            <a:endParaRPr lang="en-US" sz="11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1" name="Text 50">
            <a:extLst>
              <a:ext uri="{FF2B5EF4-FFF2-40B4-BE49-F238E27FC236}">
                <a16:creationId xmlns:a16="http://schemas.microsoft.com/office/drawing/2014/main" id="{B078A32D-A85E-5DF2-69FE-BC96E1E73F0A}"/>
              </a:ext>
            </a:extLst>
          </p:cNvPr>
          <p:cNvSpPr/>
          <p:nvPr/>
        </p:nvSpPr>
        <p:spPr>
          <a:xfrm>
            <a:off x="5422392" y="3977640"/>
            <a:ext cx="3336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2 dim: Roadmap · Modelo de Transicion</a:t>
            </a:r>
            <a:endParaRPr lang="en-US" sz="100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2" name="Text 51">
            <a:extLst>
              <a:ext uri="{FF2B5EF4-FFF2-40B4-BE49-F238E27FC236}">
                <a16:creationId xmlns:a16="http://schemas.microsoft.com/office/drawing/2014/main" id="{DE329361-E801-3752-8908-D7E041EB7617}"/>
              </a:ext>
            </a:extLst>
          </p:cNvPr>
          <p:cNvSpPr/>
          <p:nvPr/>
        </p:nvSpPr>
        <p:spPr>
          <a:xfrm>
            <a:off x="315296" y="4590288"/>
            <a:ext cx="79950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Fuente: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PeopleCert ITIL 4 — Practica de Mejora Continua</a:t>
            </a:r>
            <a:r>
              <a:rPr lang="en-US" sz="750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  ·  </a:t>
            </a:r>
            <a:r>
              <a:rPr lang="en-US" sz="750" u="sng" dirty="0">
                <a:solidFill>
                  <a:srgbClr val="8899BB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CMMI Institute — Maturity Model Reference</a:t>
            </a:r>
            <a:endParaRPr lang="en-US" sz="750" dirty="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54" name="Text 53">
            <a:extLst>
              <a:ext uri="{FF2B5EF4-FFF2-40B4-BE49-F238E27FC236}">
                <a16:creationId xmlns:a16="http://schemas.microsoft.com/office/drawing/2014/main" id="{A82B4265-469F-E87F-DF26-C67AA9F1747E}"/>
              </a:ext>
            </a:extLst>
          </p:cNvPr>
          <p:cNvSpPr/>
          <p:nvPr/>
        </p:nvSpPr>
        <p:spPr>
          <a:xfrm>
            <a:off x="8138160" y="486460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11 / 12</a:t>
            </a:r>
            <a:endParaRPr lang="en-US" sz="800" dirty="0">
              <a:latin typeface="Reddit Sans" panose="020B0604020202020204" charset="0"/>
              <a:ea typeface="Reddit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807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6844F-A555-6B31-9B61-00147360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Mesa de Servicio de Nueva Generación</a:t>
            </a:r>
            <a:endParaRPr lang="es-ES" b="0">
              <a:solidFill>
                <a:srgbClr val="000000"/>
              </a:solidFill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147F5800-07BA-9795-E2BC-5921D7FB5CCE}"/>
              </a:ext>
            </a:extLst>
          </p:cNvPr>
          <p:cNvSpPr/>
          <p:nvPr/>
        </p:nvSpPr>
        <p:spPr>
          <a:xfrm>
            <a:off x="32004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s-CO" sz="110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Diagrama</a:t>
            </a:r>
            <a:r>
              <a:rPr lang="en-US" sz="1100" dirty="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 de alto </a:t>
            </a:r>
            <a:r>
              <a:rPr lang="es-CO" sz="1100">
                <a:solidFill>
                  <a:srgbClr val="AABBDD"/>
                </a:solidFill>
                <a:latin typeface="Reddit Sans"/>
                <a:ea typeface="Reddit Sans"/>
                <a:cs typeface="Calibri"/>
              </a:rPr>
              <a:t>nivel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 make it happen</a:t>
            </a:r>
            <a:endParaRPr/>
          </a:p>
        </p:txBody>
      </p:sp>
      <p:sp>
        <p:nvSpPr>
          <p:cNvPr id="189" name="Google Shape;189;p6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¡Gracias!</a:t>
            </a:r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Centro Empresarial Ciudad del Río C2, Cra. 48 #20-114, Oficina 1026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+57 324 549 77 70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1934</Words>
  <Application>Microsoft Office PowerPoint</Application>
  <PresentationFormat>Presentación en pantalla (16:9)</PresentationFormat>
  <Paragraphs>327</Paragraphs>
  <Slides>20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1" baseType="lpstr">
      <vt:lpstr>Simple Light</vt:lpstr>
      <vt:lpstr>Mesa de Servicio de Nueva Generación</vt:lpstr>
      <vt:lpstr>Valor del Servicio</vt:lpstr>
      <vt:lpstr>Presentación de PowerPoint</vt:lpstr>
      <vt:lpstr>Mesas de Servicio Actuales</vt:lpstr>
      <vt:lpstr>Mesas de Servicio de Nueva Generación</vt:lpstr>
      <vt:lpstr>Nivel de Madurez de las Mesas de Servicio – A dónde queremos llegar</vt:lpstr>
      <vt:lpstr>Mesas de Servicio de Nueva Generación</vt:lpstr>
      <vt:lpstr>El Mercado Global ITSM (Gestión integral de los servicios de TI)</vt:lpstr>
      <vt:lpstr>Gartner</vt:lpstr>
      <vt:lpstr>Los 12 Grandes ya Convergieron</vt:lpstr>
      <vt:lpstr>7 Tendencias que definen el Mercado</vt:lpstr>
      <vt:lpstr>El Costo de No Evolucionar</vt:lpstr>
      <vt:lpstr>Mesas de Servicio de Nueva Generación</vt:lpstr>
      <vt:lpstr>Que Diferencia a PersonalSoft?</vt:lpstr>
      <vt:lpstr>Mesa Tradicional vs. Mesa Gen Next</vt:lpstr>
      <vt:lpstr>Colombia: La Ventana Temporal</vt:lpstr>
      <vt:lpstr>Nuestro Servicio de Mesa de Servicio de Nueva Generación</vt:lpstr>
      <vt:lpstr>Mesa de Servicio de Nueva Generación</vt:lpstr>
      <vt:lpstr>Presentación de PowerPoint</vt:lpstr>
      <vt:lpstr>We make it happen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Natalia Zartha Suarez</cp:lastModifiedBy>
  <cp:revision>940</cp:revision>
  <dcterms:modified xsi:type="dcterms:W3CDTF">2026-07-07T22:27:15Z</dcterms:modified>
</cp:coreProperties>
</file>