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39"/>
  </p:notesMasterIdLst>
  <p:sldIdLst>
    <p:sldId id="257" r:id="rId3"/>
    <p:sldId id="260" r:id="rId4"/>
    <p:sldId id="321" r:id="rId5"/>
    <p:sldId id="2599" r:id="rId6"/>
    <p:sldId id="2608" r:id="rId7"/>
    <p:sldId id="329" r:id="rId8"/>
    <p:sldId id="2567" r:id="rId9"/>
    <p:sldId id="304" r:id="rId10"/>
    <p:sldId id="2568" r:id="rId11"/>
    <p:sldId id="300" r:id="rId12"/>
    <p:sldId id="309" r:id="rId13"/>
    <p:sldId id="323" r:id="rId14"/>
    <p:sldId id="328" r:id="rId15"/>
    <p:sldId id="358" r:id="rId16"/>
    <p:sldId id="302" r:id="rId17"/>
    <p:sldId id="316" r:id="rId18"/>
    <p:sldId id="317" r:id="rId19"/>
    <p:sldId id="319" r:id="rId20"/>
    <p:sldId id="2566" r:id="rId21"/>
    <p:sldId id="2569" r:id="rId22"/>
    <p:sldId id="331" r:id="rId23"/>
    <p:sldId id="262" r:id="rId24"/>
    <p:sldId id="2577" r:id="rId25"/>
    <p:sldId id="2596" r:id="rId26"/>
    <p:sldId id="2583" r:id="rId27"/>
    <p:sldId id="2612" r:id="rId28"/>
    <p:sldId id="2615" r:id="rId29"/>
    <p:sldId id="2613" r:id="rId30"/>
    <p:sldId id="2617" r:id="rId31"/>
    <p:sldId id="2618" r:id="rId32"/>
    <p:sldId id="2616" r:id="rId33"/>
    <p:sldId id="2584" r:id="rId34"/>
    <p:sldId id="310" r:id="rId35"/>
    <p:sldId id="312" r:id="rId36"/>
    <p:sldId id="267" r:id="rId37"/>
    <p:sldId id="268" r:id="rId38"/>
  </p:sldIdLst>
  <p:sldSz cx="9144000" cy="5143500" type="screen16x9"/>
  <p:notesSz cx="6858000" cy="9144000"/>
  <p:embeddedFontLst>
    <p:embeddedFont>
      <p:font typeface="Reddit Sans" panose="020B0604020202020204" charset="0"/>
      <p:regular r:id="rId40"/>
      <p:bold r:id="rId41"/>
      <p:italic r:id="rId42"/>
      <p:boldItalic r:id="rId43"/>
    </p:embeddedFont>
    <p:embeddedFont>
      <p:font typeface="Reddit Sans Light" panose="020B0604020202020204" charset="0"/>
      <p:regular r:id="rId44"/>
      <p:bold r:id="rId45"/>
      <p:italic r:id="rId46"/>
      <p:boldItalic r:id="rId47"/>
    </p:embeddedFont>
    <p:embeddedFont>
      <p:font typeface="Reddit Sans Medium" panose="020B0604020202020204" charset="0"/>
      <p:regular r:id="rId48"/>
      <p:bold r:id="rId49"/>
      <p:italic r:id="rId50"/>
      <p:boldItalic r:id="rId51"/>
    </p:embeddedFont>
    <p:embeddedFont>
      <p:font typeface="Reddit Sans SemiBold" panose="020B0604020202020204" charset="0"/>
      <p:regular r:id="rId52"/>
      <p:bold r:id="rId53"/>
      <p:italic r:id="rId54"/>
      <p:boldItalic r:id="rId55"/>
    </p:embeddedFont>
    <p:embeddedFont>
      <p:font typeface="Segoe UI" panose="020B0502040204020203" pitchFamily="34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6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BF39"/>
    <a:srgbClr val="EBF1FA"/>
    <a:srgbClr val="CBACE3"/>
    <a:srgbClr val="FCF4EB"/>
    <a:srgbClr val="ECDFF7"/>
    <a:srgbClr val="E4E4E4"/>
    <a:srgbClr val="F0F4FA"/>
    <a:srgbClr val="1AA8DB"/>
    <a:srgbClr val="FEFF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5A05DB-B08E-CF20-942E-2489ADF5169B}" v="2243" dt="2026-07-14T20:10:37.662"/>
    <p1510:client id="{68350F8D-D456-6EE6-573A-31251B2913B1}" v="859" dt="2026-07-15T15:44:40.238"/>
    <p1510:client id="{88784FCC-9A78-C45C-3FC1-CD2EA649FB7C}" v="751" dt="2026-07-14T21:23:07.657"/>
    <p1510:client id="{96719BF3-080A-6932-741C-55D5A84931DC}" v="1273" dt="2026-07-14T22:37:03.543"/>
    <p1510:client id="{9BA9D397-B0A2-443C-22D0-5ECE1D4075AA}" v="1483" dt="2026-07-14T16:10:56.685"/>
    <p1510:client id="{A4FD5B28-7EF2-F9CD-2D77-246FC6259FA1}" v="184" dt="2026-07-16T14:13:51.328"/>
    <p1510:client id="{AA249537-B5B0-7E69-648A-99FB2E4E88D6}" v="57" dt="2026-07-14T22:41:40.460"/>
    <p1510:client id="{FD4D4904-4823-EAC8-7947-43041031442C}" v="265" dt="2026-07-15T22:18:00.053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font" Target="fonts/font16.fntdata"/><Relationship Id="rId89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font" Target="fonts/font19.fntdata"/><Relationship Id="rId87" Type="http://schemas.openxmlformats.org/officeDocument/2006/relationships/presProps" Target="presProps.xml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font" Target="fonts/font17.fntdata"/><Relationship Id="rId8" Type="http://schemas.openxmlformats.org/officeDocument/2006/relationships/slide" Target="slides/slide6.xml"/><Relationship Id="rId51" Type="http://schemas.openxmlformats.org/officeDocument/2006/relationships/font" Target="fonts/font12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7.fntdata"/><Relationship Id="rId59" Type="http://schemas.openxmlformats.org/officeDocument/2006/relationships/font" Target="fonts/font20.fntdata"/><Relationship Id="rId20" Type="http://schemas.openxmlformats.org/officeDocument/2006/relationships/slide" Target="slides/slide18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0.fntdata"/><Relationship Id="rId57" Type="http://schemas.openxmlformats.org/officeDocument/2006/relationships/font" Target="fonts/font18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5.fntdata"/><Relationship Id="rId52" Type="http://schemas.openxmlformats.org/officeDocument/2006/relationships/font" Target="fonts/font13.fntdata"/><Relationship Id="rId86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E808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A4452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D692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E8080"/>
                        </a:solidFill>
                      </a:rPr>
                      <a:t>$1.8B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A44526"/>
                        </a:solidFill>
                      </a:rPr>
                      <a:t>$0.52B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D69200"/>
                        </a:solidFill>
                      </a:rPr>
                      <a:t>$108M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Hoja1!$B$2:$B$4</c:f>
              <c:numCache>
                <c:formatCode>0.00</c:formatCode>
                <c:ptCount val="3"/>
                <c:pt idx="0">
                  <c:v>1.8</c:v>
                </c:pt>
                <c:pt idx="1">
                  <c:v>0.52</c:v>
                </c:pt>
                <c:pt idx="2">
                  <c:v>0.108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DB54-43C7-9D36-C7CC4E04832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0404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8E3E5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1623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C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4040"/>
                        </a:solidFill>
                      </a:rPr>
                      <a:t>$2.5B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8E3E50"/>
                        </a:solidFill>
                      </a:rPr>
                      <a:t>$1.26B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6233F"/>
                        </a:solidFill>
                      </a:rPr>
                      <a:t>$250M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Hoja1!$C$2:$C$4</c:f>
              <c:numCache>
                <c:formatCode>0.00</c:formatCode>
                <c:ptCount val="3"/>
                <c:pt idx="0">
                  <c:v>2.5</c:v>
                </c:pt>
                <c:pt idx="1">
                  <c:v>1.26</c:v>
                </c:pt>
                <c:pt idx="2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D-DB54-43C7-9D36-C7CC4E04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1111111"/>
        <c:axId val="322222222"/>
      </c:barChart>
      <c:catAx>
        <c:axId val="3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000" b="1">
                <a:solidFill>
                  <a:srgbClr val="1F3B47"/>
                </a:solidFill>
              </a:defRPr>
            </a:pPr>
            <a:endParaRPr lang="es-ES"/>
          </a:p>
        </c:txPr>
        <c:crossAx val="322222222"/>
        <c:crosses val="autoZero"/>
        <c:auto val="1"/>
        <c:lblAlgn val="ctr"/>
        <c:lblOffset val="100"/>
        <c:noMultiLvlLbl val="1"/>
      </c:catAx>
      <c:valAx>
        <c:axId val="3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.0&quot;B&quot;" sourceLinked="0"/>
        <c:majorTickMark val="none"/>
        <c:minorTickMark val="none"/>
        <c:tickLblPos val="nextTo"/>
        <c:txPr>
          <a:bodyPr/>
          <a:lstStyle/>
          <a:p>
            <a:pPr>
              <a:defRPr sz="800">
                <a:solidFill>
                  <a:srgbClr val="8A8A83"/>
                </a:solidFill>
              </a:defRPr>
            </a:pPr>
            <a:endParaRPr lang="es-ES"/>
          </a:p>
        </c:txPr>
        <c:crossAx val="3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ersonalsoftsas-my.sharepoint.com/personal/nzsuarez_personalsoft_com/Documents/Microsoft%20Copilot%20Chat%20Files/caracterizacion_mesas_servicio_actuales_v1.md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ing.com/ck/a?!&amp;&amp;p=850ece00eb93253a87fbe61242c6bd172bc031ebab6034752dc1f260fc9c0a10JmltdHM9MTc4MzU1NTIwMA&amp;ptn=3&amp;ver=2&amp;hsh=4&amp;fclid=10d11685-cdd1-6520-1f35-0107cca364bf&amp;u=a1aHR0cHM6Ly93d3cuZWVzZWwuYWkvZXMvYmxvZy9tb3Zld29ya3M&amp;ntb=1" TargetMode="Externa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notesSlides/_rels/notes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iso.org/standard/42001" TargetMode="External"/><Relationship Id="rId5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4" Type="http://schemas.openxmlformats.org/officeDocument/2006/relationships/hyperlink" Target="https://www.superfinanciera.gov.co/" TargetMode="Externa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/>
              <a:t>Plataforma &amp; Talento</a:t>
            </a:r>
          </a:p>
          <a:p>
            <a:pPr>
              <a:buNone/>
            </a:pPr>
            <a:r>
              <a:rPr lang="en-US" b="1" err="1"/>
              <a:t>Herramientas</a:t>
            </a:r>
            <a:r>
              <a:rPr lang="en-US" b="1"/>
              <a:t> </a:t>
            </a:r>
            <a:r>
              <a:rPr lang="en-US" b="1" err="1"/>
              <a:t>heterogéneas</a:t>
            </a:r>
            <a:r>
              <a:rPr lang="en-US" b="1"/>
              <a:t> y con baja </a:t>
            </a:r>
            <a:r>
              <a:rPr lang="en-US" b="1" err="1"/>
              <a:t>integración</a:t>
            </a:r>
            <a:r>
              <a:rPr lang="en-US" b="1"/>
              <a:t>, </a:t>
            </a:r>
            <a:r>
              <a:rPr lang="en-US" b="1" err="1"/>
              <a:t>sumado</a:t>
            </a:r>
            <a:r>
              <a:rPr lang="en-US" b="1"/>
              <a:t> a </a:t>
            </a:r>
            <a:r>
              <a:rPr lang="en-US" b="1" err="1"/>
              <a:t>dependencia</a:t>
            </a:r>
            <a:r>
              <a:rPr lang="en-US" b="1"/>
              <a:t> de personal </a:t>
            </a:r>
            <a:r>
              <a:rPr lang="en-US" b="1" err="1"/>
              <a:t>especializado</a:t>
            </a:r>
            <a:r>
              <a:rPr lang="en-US" b="1"/>
              <a:t> y </a:t>
            </a:r>
            <a:r>
              <a:rPr lang="en-US" b="1" err="1"/>
              <a:t>ausencia</a:t>
            </a:r>
            <a:r>
              <a:rPr lang="en-US" b="1"/>
              <a:t> de </a:t>
            </a:r>
            <a:r>
              <a:rPr lang="en-US" b="1" err="1"/>
              <a:t>rutas</a:t>
            </a:r>
            <a:r>
              <a:rPr lang="en-US" b="1"/>
              <a:t> de </a:t>
            </a:r>
            <a:r>
              <a:rPr lang="en-US" b="1" err="1"/>
              <a:t>crecimiento</a:t>
            </a:r>
            <a:r>
              <a:rPr lang="en-US" b="1"/>
              <a:t> </a:t>
            </a:r>
            <a:r>
              <a:rPr lang="en-US" b="1" err="1"/>
              <a:t>estandarizadas</a:t>
            </a:r>
            <a:r>
              <a:rPr lang="en-US" b="1"/>
              <a:t>.</a:t>
            </a:r>
            <a:r>
              <a:rPr lang="en-US"/>
              <a:t> </a:t>
            </a:r>
            <a:r>
              <a:rPr lang="en-US">
                <a:hlinkClick r:id="rId3"/>
              </a:rPr>
              <a:t>[</a:t>
            </a:r>
            <a:r>
              <a:rPr lang="en-US" err="1">
                <a:hlinkClick r:id="rId3"/>
              </a:rPr>
              <a:t>personalso</a:t>
            </a:r>
            <a:r>
              <a:rPr lang="en-US">
                <a:hlinkClick r:id="rId3"/>
              </a:rPr>
              <a:t>...epoint.com]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9536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9356A8-E404-152B-4307-F14EDF22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6A97513-0F20-F8E2-91E4-81F97AE61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BA47EDEE-C416-31E2-19FF-E6F318C3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96727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E23A2-FAEC-0E46-FE8C-B06D6EC9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9EFBB9C-687B-F226-78EA-89C5DDDFE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A15902-5BB0-7308-0B42-E185A2E8A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ITO (Information Technology Outsourcing)</a:t>
            </a:r>
            <a:endParaRPr lang="es-ES"/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servicios</a:t>
            </a:r>
            <a:r>
              <a:rPr lang="en-US" dirty="0"/>
              <a:t> de </a:t>
            </a:r>
            <a:r>
              <a:rPr lang="en-US" dirty="0" err="1"/>
              <a:t>infraestructura</a:t>
            </a:r>
            <a:r>
              <a:rPr lang="en-US" dirty="0"/>
              <a:t> y </a:t>
            </a:r>
            <a:r>
              <a:rPr lang="en-US" dirty="0" err="1"/>
              <a:t>tecnología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BPO (Business Process Outsourcing)</a:t>
            </a:r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r>
              <a:rPr lang="en-US" dirty="0"/>
              <a:t> de </a:t>
            </a:r>
            <a:r>
              <a:rPr lang="en-US" dirty="0" err="1"/>
              <a:t>negocio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KPO (Knowledge Process Outsourcing)</a:t>
            </a:r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r>
              <a:rPr lang="en-US" dirty="0"/>
              <a:t> </a:t>
            </a:r>
            <a:r>
              <a:rPr lang="en-US" dirty="0" err="1"/>
              <a:t>especializados</a:t>
            </a:r>
            <a:r>
              <a:rPr lang="en-US" dirty="0"/>
              <a:t> </a:t>
            </a:r>
            <a:r>
              <a:rPr lang="en-US" dirty="0" err="1"/>
              <a:t>basados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y expertise de </a:t>
            </a:r>
            <a:r>
              <a:rPr lang="en-US" dirty="0" err="1"/>
              <a:t>negocio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b="1" dirty="0"/>
              <a:t>KCS (Knowledge-Centered Service)</a:t>
            </a:r>
            <a:r>
              <a:rPr lang="en-US" dirty="0"/>
              <a:t>: </a:t>
            </a:r>
            <a:r>
              <a:rPr lang="en-US" dirty="0" err="1"/>
              <a:t>metodología</a:t>
            </a:r>
            <a:r>
              <a:rPr lang="en-US" dirty="0"/>
              <a:t> para </a:t>
            </a:r>
            <a:r>
              <a:rPr lang="en-US" dirty="0" err="1"/>
              <a:t>gestionar</a:t>
            </a:r>
            <a:r>
              <a:rPr lang="en-US" dirty="0"/>
              <a:t> y </a:t>
            </a:r>
            <a:r>
              <a:rPr lang="en-US" dirty="0" err="1"/>
              <a:t>compartir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dentro</a:t>
            </a:r>
            <a:r>
              <a:rPr lang="en-US" dirty="0"/>
              <a:t> de </a:t>
            </a:r>
            <a:r>
              <a:rPr lang="en-US" dirty="0" err="1"/>
              <a:t>equipos</a:t>
            </a:r>
            <a:r>
              <a:rPr lang="en-US" dirty="0"/>
              <a:t> de </a:t>
            </a:r>
            <a:r>
              <a:rPr lang="en-US" dirty="0" err="1"/>
              <a:t>soporte</a:t>
            </a:r>
            <a:r>
              <a:rPr lang="en-US" dirty="0"/>
              <a:t> </a:t>
            </a:r>
            <a:r>
              <a:rPr lang="en-US" dirty="0" err="1"/>
              <a:t>técnico</a:t>
            </a:r>
            <a:r>
              <a:rPr lang="en-US" dirty="0"/>
              <a:t>, </a:t>
            </a:r>
            <a:r>
              <a:rPr lang="en-US" dirty="0" err="1"/>
              <a:t>creando</a:t>
            </a:r>
            <a:r>
              <a:rPr lang="en-US" dirty="0"/>
              <a:t> y </a:t>
            </a:r>
            <a:r>
              <a:rPr lang="en-US" dirty="0" err="1"/>
              <a:t>reutilizando</a:t>
            </a:r>
            <a:r>
              <a:rPr lang="en-US" dirty="0"/>
              <a:t> </a:t>
            </a:r>
            <a:r>
              <a:rPr lang="en-US" dirty="0" err="1"/>
              <a:t>artículos</a:t>
            </a:r>
            <a:r>
              <a:rPr lang="en-US" dirty="0"/>
              <a:t> de </a:t>
            </a:r>
            <a:r>
              <a:rPr lang="en-US" dirty="0" err="1"/>
              <a:t>conocimiento</a:t>
            </a:r>
            <a:r>
              <a:rPr lang="en-US" dirty="0"/>
              <a:t> para resolver </a:t>
            </a:r>
            <a:r>
              <a:rPr lang="en-US" dirty="0" err="1"/>
              <a:t>incidentes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 dirty="0"/>
              <a:t>CMDB: Configuration Management Database (Base de Datos de </a:t>
            </a:r>
            <a:r>
              <a:rPr lang="en-US" dirty="0" err="1"/>
              <a:t>Gestión</a:t>
            </a:r>
            <a:r>
              <a:rPr lang="en-US" dirty="0"/>
              <a:t> de la </a:t>
            </a:r>
            <a:r>
              <a:rPr lang="en-US" dirty="0" err="1"/>
              <a:t>Configuración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XLA: Experience Level Agreement (</a:t>
            </a:r>
            <a:r>
              <a:rPr lang="en-US" dirty="0" err="1"/>
              <a:t>Acuerdo</a:t>
            </a:r>
            <a:r>
              <a:rPr lang="en-US" dirty="0"/>
              <a:t> de Nivel de </a:t>
            </a:r>
            <a:r>
              <a:rPr lang="en-US" dirty="0" err="1"/>
              <a:t>Experiencia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AIOps: Artificial Intelligence for IT Operations (IA para </a:t>
            </a:r>
            <a:r>
              <a:rPr lang="en-US" dirty="0" err="1"/>
              <a:t>Operaciones</a:t>
            </a:r>
            <a:r>
              <a:rPr lang="en-US" dirty="0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dirty="0"/>
              <a:t>La </a:t>
            </a:r>
            <a:r>
              <a:rPr lang="en-US" dirty="0" err="1"/>
              <a:t>línea</a:t>
            </a:r>
            <a:r>
              <a:rPr lang="en-US" dirty="0"/>
              <a:t> temporal de la imagen </a:t>
            </a:r>
            <a:r>
              <a:rPr lang="en-US" dirty="0" err="1"/>
              <a:t>muestra</a:t>
            </a:r>
            <a:r>
              <a:rPr lang="en-US" dirty="0"/>
              <a:t> la </a:t>
            </a:r>
            <a:r>
              <a:rPr lang="en-US" dirty="0" err="1"/>
              <a:t>evolución</a:t>
            </a:r>
            <a:r>
              <a:rPr lang="en-US" dirty="0"/>
              <a:t> </a:t>
            </a:r>
            <a:r>
              <a:rPr lang="en-US" dirty="0" err="1"/>
              <a:t>aproximada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74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N0–N5: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van </a:t>
            </a:r>
            <a:r>
              <a:rPr lang="en-US" err="1"/>
              <a:t>desde</a:t>
            </a:r>
            <a:r>
              <a:rPr lang="en-US"/>
              <a:t> </a:t>
            </a:r>
            <a:r>
              <a:rPr lang="en-US" err="1"/>
              <a:t>autoservicio</a:t>
            </a:r>
            <a:r>
              <a:rPr lang="en-US"/>
              <a:t> (N0) hasta </a:t>
            </a:r>
            <a:r>
              <a:rPr lang="en-US" err="1"/>
              <a:t>expertos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o </a:t>
            </a:r>
            <a:r>
              <a:rPr lang="en-US" err="1"/>
              <a:t>fabricante</a:t>
            </a:r>
            <a:r>
              <a:rPr lang="en-US"/>
              <a:t> (N5).</a:t>
            </a:r>
            <a:endParaRPr lang="es-ES"/>
          </a:p>
          <a:p>
            <a:pPr marL="285750" indent="-285750"/>
            <a:r>
              <a:rPr lang="en-US" b="1" err="1"/>
              <a:t>Deflexión</a:t>
            </a:r>
            <a:r>
              <a:rPr lang="en-US" b="1"/>
              <a:t> (Deflection):</a:t>
            </a:r>
            <a:r>
              <a:rPr lang="en-US"/>
              <a:t> Es el </a:t>
            </a:r>
            <a:r>
              <a:rPr lang="en-US" err="1"/>
              <a:t>porcentaje</a:t>
            </a:r>
            <a:r>
              <a:rPr lang="en-US"/>
              <a:t> o </a:t>
            </a:r>
            <a:r>
              <a:rPr lang="en-US" err="1"/>
              <a:t>número</a:t>
            </a:r>
            <a:r>
              <a:rPr lang="en-US"/>
              <a:t> de </a:t>
            </a:r>
            <a:r>
              <a:rPr lang="en-US" err="1"/>
              <a:t>consultas</a:t>
            </a:r>
            <a:r>
              <a:rPr lang="en-US"/>
              <a:t>, </a:t>
            </a:r>
            <a:r>
              <a:rPr lang="en-US" err="1"/>
              <a:t>incidentes</a:t>
            </a:r>
            <a:r>
              <a:rPr lang="en-US"/>
              <a:t> o solicitudes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resuelven</a:t>
            </a:r>
            <a:r>
              <a:rPr lang="en-US"/>
              <a:t> sin </a:t>
            </a:r>
            <a:r>
              <a:rPr lang="en-US" err="1"/>
              <a:t>necesidad</a:t>
            </a:r>
            <a:r>
              <a:rPr lang="en-US"/>
              <a:t> de </a:t>
            </a:r>
            <a:r>
              <a:rPr lang="en-US" err="1"/>
              <a:t>generar</a:t>
            </a:r>
            <a:r>
              <a:rPr lang="en-US"/>
              <a:t> un ticket o sin </a:t>
            </a:r>
            <a:r>
              <a:rPr lang="en-US" err="1"/>
              <a:t>intervención</a:t>
            </a:r>
            <a:r>
              <a:rPr lang="en-US"/>
              <a:t> de un </a:t>
            </a:r>
            <a:r>
              <a:rPr lang="en-US" err="1"/>
              <a:t>agente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.</a:t>
            </a:r>
          </a:p>
          <a:p>
            <a:pPr marL="285750" indent="-285750">
              <a:buChar char="•"/>
            </a:pPr>
            <a:r>
              <a:rPr lang="en-US" b="1"/>
              <a:t>GenAI: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</a:t>
            </a:r>
            <a:r>
              <a:rPr lang="en-US" err="1"/>
              <a:t>Generativa</a:t>
            </a:r>
            <a:r>
              <a:rPr lang="en-US"/>
              <a:t> </a:t>
            </a:r>
            <a:r>
              <a:rPr lang="en-US" err="1"/>
              <a:t>capaz</a:t>
            </a:r>
            <a:r>
              <a:rPr lang="en-US"/>
              <a:t> de </a:t>
            </a:r>
            <a:r>
              <a:rPr lang="en-US" err="1"/>
              <a:t>crear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texto</a:t>
            </a:r>
            <a:r>
              <a:rPr lang="en-US"/>
              <a:t>, </a:t>
            </a:r>
            <a:r>
              <a:rPr lang="en-US" err="1"/>
              <a:t>imágenes</a:t>
            </a:r>
            <a:r>
              <a:rPr lang="en-US"/>
              <a:t> o </a:t>
            </a:r>
            <a:r>
              <a:rPr lang="en-US" err="1"/>
              <a:t>código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KCS:</a:t>
            </a:r>
            <a:r>
              <a:rPr lang="en-US"/>
              <a:t> </a:t>
            </a:r>
            <a:r>
              <a:rPr lang="en-US" i="1"/>
              <a:t>Knowledge-Centered Service</a:t>
            </a:r>
            <a:r>
              <a:rPr lang="en-US"/>
              <a:t>,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capturar</a:t>
            </a:r>
            <a:r>
              <a:rPr lang="en-US"/>
              <a:t> y </a:t>
            </a:r>
            <a:r>
              <a:rPr lang="en-US" err="1"/>
              <a:t>reutilizar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casos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AIOps:</a:t>
            </a:r>
            <a:r>
              <a:rPr lang="en-US"/>
              <a:t> </a:t>
            </a:r>
            <a:r>
              <a:rPr lang="en-US" i="1"/>
              <a:t>Artificial Intelligence for IT Operations</a:t>
            </a:r>
            <a:r>
              <a:rPr lang="en-US"/>
              <a:t>, </a:t>
            </a:r>
            <a:r>
              <a:rPr lang="en-US" err="1"/>
              <a:t>uso</a:t>
            </a:r>
            <a:r>
              <a:rPr lang="en-US"/>
              <a:t> de IA para </a:t>
            </a:r>
            <a:r>
              <a:rPr lang="en-US" err="1"/>
              <a:t>monitorear</a:t>
            </a:r>
            <a:r>
              <a:rPr lang="en-US"/>
              <a:t>, </a:t>
            </a:r>
            <a:r>
              <a:rPr lang="en-US" err="1"/>
              <a:t>detectar</a:t>
            </a:r>
            <a:r>
              <a:rPr lang="en-US"/>
              <a:t> y resolver </a:t>
            </a:r>
            <a:r>
              <a:rPr lang="en-US" err="1"/>
              <a:t>problemas</a:t>
            </a:r>
            <a:r>
              <a:rPr lang="en-US"/>
              <a:t> de TI.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P1:</a:t>
            </a:r>
            <a:r>
              <a:rPr lang="en-US"/>
              <a:t> </a:t>
            </a:r>
            <a:r>
              <a:rPr lang="en-US" i="1"/>
              <a:t>Priority 1</a:t>
            </a:r>
            <a:r>
              <a:rPr lang="en-US"/>
              <a:t>, </a:t>
            </a:r>
            <a:r>
              <a:rPr lang="en-US" err="1"/>
              <a:t>incidente</a:t>
            </a:r>
            <a:r>
              <a:rPr lang="en-US"/>
              <a:t> de </a:t>
            </a:r>
            <a:r>
              <a:rPr lang="en-US" err="1"/>
              <a:t>máxima</a:t>
            </a:r>
            <a:r>
              <a:rPr lang="en-US"/>
              <a:t> </a:t>
            </a:r>
            <a:r>
              <a:rPr lang="en-US" err="1"/>
              <a:t>criticidad</a:t>
            </a:r>
            <a:r>
              <a:rPr lang="en-US"/>
              <a:t> con alto </a:t>
            </a:r>
            <a:r>
              <a:rPr lang="en-US" err="1"/>
              <a:t>impacto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negocio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SLA:</a:t>
            </a:r>
            <a:r>
              <a:rPr lang="en-US"/>
              <a:t> </a:t>
            </a:r>
            <a:r>
              <a:rPr lang="en-US" i="1"/>
              <a:t>Service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define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y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servicio</a:t>
            </a:r>
            <a:r>
              <a:rPr lang="en-US"/>
              <a:t> </a:t>
            </a:r>
            <a:r>
              <a:rPr lang="en-US" err="1"/>
              <a:t>comprometidos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XLA:</a:t>
            </a:r>
            <a:r>
              <a:rPr lang="en-US"/>
              <a:t> </a:t>
            </a:r>
            <a:r>
              <a:rPr lang="en-US" i="1"/>
              <a:t>Experience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enfocado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medir</a:t>
            </a:r>
            <a:r>
              <a:rPr lang="en-US"/>
              <a:t> la </a:t>
            </a:r>
            <a:r>
              <a:rPr lang="en-US" err="1"/>
              <a:t>experiencia</a:t>
            </a:r>
            <a:r>
              <a:rPr lang="en-US"/>
              <a:t> y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usuario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DEX:</a:t>
            </a:r>
            <a:r>
              <a:rPr lang="en-US"/>
              <a:t> </a:t>
            </a:r>
            <a:r>
              <a:rPr lang="en-US" i="1"/>
              <a:t>Digital Employee Experience</a:t>
            </a:r>
            <a:r>
              <a:rPr lang="en-US"/>
              <a:t>, </a:t>
            </a:r>
            <a:r>
              <a:rPr lang="en-US" err="1"/>
              <a:t>experiencia</a:t>
            </a:r>
            <a:r>
              <a:rPr lang="en-US"/>
              <a:t> digital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tienen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empleados</a:t>
            </a:r>
            <a:r>
              <a:rPr lang="en-US"/>
              <a:t> al usar </a:t>
            </a:r>
            <a:r>
              <a:rPr lang="en-US" err="1"/>
              <a:t>herramientas</a:t>
            </a:r>
            <a:r>
              <a:rPr lang="en-US"/>
              <a:t> y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tecnológicos</a:t>
            </a:r>
            <a:r>
              <a:rPr lang="en-US"/>
              <a:t>.</a:t>
            </a:r>
            <a:endParaRPr lang="es-ES"/>
          </a:p>
          <a:p>
            <a:pPr marL="285750" indent="-285750"/>
            <a:r>
              <a:rPr lang="en-US" b="1"/>
              <a:t>Self-healing (</a:t>
            </a:r>
            <a:r>
              <a:rPr lang="en-US" b="1" err="1"/>
              <a:t>Autocuración</a:t>
            </a:r>
            <a:r>
              <a:rPr lang="en-US" b="1"/>
              <a:t>)</a:t>
            </a:r>
            <a:endParaRPr lang="en-US" b="1">
              <a:ea typeface="Calibri"/>
            </a:endParaRPr>
          </a:p>
          <a:p>
            <a:pPr marL="285750" indent="-285750"/>
            <a:r>
              <a:rPr lang="en-US"/>
              <a:t>UC (Underpinning Contract):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Soporte</a:t>
            </a:r>
            <a:r>
              <a:rPr lang="en-US" b="1"/>
              <a:t> o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Sustento</a:t>
            </a:r>
            <a:endParaRPr lang="en-US" err="1"/>
          </a:p>
          <a:p>
            <a:pPr marL="285750" indent="-285750"/>
            <a:r>
              <a:rPr lang="en-US"/>
              <a:t>OLA (Operational Level Agreement)</a:t>
            </a:r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>
              <a:buChar char="•"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1927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9C7B4-A4D0-A7D4-8F60-2424A8C82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1CDE1-4B3C-E37C-02AD-4E4A90FA7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FD7554-7A78-594E-1C7F-7F0A09F75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PIR: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Post 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Implementation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 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Review</a:t>
            </a:r>
            <a:endParaRPr lang="en-US" err="1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KCS: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Knowledge-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Centered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 Service</a:t>
            </a:r>
            <a:endParaRPr lang="en-US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IA: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Inteligencia Artificial</a:t>
            </a:r>
            <a:endParaRPr lang="en-US"/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Moveworks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/>
              </a:rPr>
              <a:t>: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en una mesa de servicio se refiere a su capacidad para automatizar y mejorar la gestión de solicitudes de empleados. Al integrarse con sistemas empresariales existentes, Moveworks permite a los equipos de soporte ofrecer un soporte unificado y datos consistentes.</a:t>
            </a: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 P1: se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refiere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casi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siempre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a la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máxima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un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problema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o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situación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exige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una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inmediata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exhaustiva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porque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de no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así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las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consecuencias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pueden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verdaderamente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catastróficas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 b="1">
                <a:solidFill>
                  <a:srgbClr val="222222"/>
                </a:solidFill>
                <a:highlight>
                  <a:srgbClr val="FFFFFF"/>
                </a:highlight>
              </a:rPr>
              <a:t>Triage: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Evaluación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inicial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un ticket para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determinar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su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categoría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causa probable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grupo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responsable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atenderlo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IT knowledge discovery investments will grow as generative AI capabilities mature and service managers push to automate the manual process of creating knowledge articles.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40093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ITSM: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Tecnologías</a:t>
            </a:r>
            <a:r>
              <a:rPr lang="en-US"/>
              <a:t> de la </a:t>
            </a:r>
            <a:r>
              <a:rPr lang="en-US" err="1"/>
              <a:t>Información.Disciplina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gestiona</a:t>
            </a:r>
            <a:r>
              <a:rPr lang="en-US"/>
              <a:t> la </a:t>
            </a:r>
            <a:r>
              <a:rPr lang="en-US" err="1"/>
              <a:t>entrega</a:t>
            </a:r>
            <a:r>
              <a:rPr lang="en-US"/>
              <a:t> y </a:t>
            </a:r>
            <a:r>
              <a:rPr lang="en-US" err="1"/>
              <a:t>mejora</a:t>
            </a:r>
            <a:r>
              <a:rPr lang="en-US"/>
              <a:t> continua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servicios</a:t>
            </a:r>
            <a:r>
              <a:rPr lang="en-US"/>
              <a:t> de TI para </a:t>
            </a:r>
            <a:r>
              <a:rPr lang="en-US" err="1"/>
              <a:t>generar</a:t>
            </a:r>
            <a:r>
              <a:rPr lang="en-US"/>
              <a:t> valor al </a:t>
            </a:r>
            <a:r>
              <a:rPr lang="en-US" err="1"/>
              <a:t>negocio</a:t>
            </a:r>
            <a:r>
              <a:rPr lang="en-US"/>
              <a:t> y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endParaRPr lang="en-US" err="1">
              <a:ea typeface="Calibri"/>
            </a:endParaRP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12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 dirty="0"/>
              <a:t>Shift-Left:</a:t>
            </a:r>
            <a:r>
              <a:rPr lang="en-US" dirty="0"/>
              <a:t> </a:t>
            </a:r>
            <a:r>
              <a:rPr lang="en-US" dirty="0" err="1"/>
              <a:t>Estrategia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busca</a:t>
            </a:r>
            <a:r>
              <a:rPr lang="en-US" dirty="0"/>
              <a:t> resolver </a:t>
            </a:r>
            <a:r>
              <a:rPr lang="en-US" dirty="0" err="1"/>
              <a:t>incidentes</a:t>
            </a:r>
            <a:r>
              <a:rPr lang="en-US" dirty="0"/>
              <a:t> y solicitudes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niveles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cercanos</a:t>
            </a:r>
            <a:r>
              <a:rPr lang="en-US" dirty="0"/>
              <a:t> al </a:t>
            </a:r>
            <a:r>
              <a:rPr lang="en-US" dirty="0" err="1"/>
              <a:t>usuario</a:t>
            </a:r>
            <a:r>
              <a:rPr lang="en-US" dirty="0"/>
              <a:t>, </a:t>
            </a:r>
            <a:r>
              <a:rPr lang="en-US" dirty="0" err="1"/>
              <a:t>reduciendo</a:t>
            </a:r>
            <a:r>
              <a:rPr lang="en-US" dirty="0"/>
              <a:t> </a:t>
            </a:r>
            <a:r>
              <a:rPr lang="en-US" dirty="0" err="1"/>
              <a:t>escalaciones</a:t>
            </a:r>
            <a:r>
              <a:rPr lang="en-US" dirty="0"/>
              <a:t> y </a:t>
            </a:r>
            <a:r>
              <a:rPr lang="en-US" dirty="0" err="1"/>
              <a:t>tiempos</a:t>
            </a:r>
            <a:r>
              <a:rPr lang="en-US" dirty="0"/>
              <a:t> de </a:t>
            </a:r>
            <a:r>
              <a:rPr lang="en-US" dirty="0" err="1"/>
              <a:t>atención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KCS (Knowledge-Centered Service):</a:t>
            </a:r>
            <a:r>
              <a:rPr lang="en-US" dirty="0"/>
              <a:t> </a:t>
            </a:r>
            <a:r>
              <a:rPr lang="en-US" dirty="0" err="1"/>
              <a:t>Metodología</a:t>
            </a:r>
            <a:r>
              <a:rPr lang="en-US" dirty="0"/>
              <a:t> para </a:t>
            </a:r>
            <a:r>
              <a:rPr lang="en-US" dirty="0" err="1"/>
              <a:t>crear</a:t>
            </a:r>
            <a:r>
              <a:rPr lang="en-US" dirty="0"/>
              <a:t>, </a:t>
            </a:r>
            <a:r>
              <a:rPr lang="en-US" dirty="0" err="1"/>
              <a:t>compartir</a:t>
            </a:r>
            <a:r>
              <a:rPr lang="en-US" dirty="0"/>
              <a:t> y </a:t>
            </a:r>
            <a:r>
              <a:rPr lang="en-US" dirty="0" err="1"/>
              <a:t>reutilizar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la </a:t>
            </a:r>
            <a:r>
              <a:rPr lang="en-US" dirty="0" err="1"/>
              <a:t>resolución</a:t>
            </a:r>
            <a:r>
              <a:rPr lang="en-US" dirty="0"/>
              <a:t> de </a:t>
            </a:r>
            <a:r>
              <a:rPr lang="en-US" dirty="0" err="1"/>
              <a:t>incidentes</a:t>
            </a:r>
            <a:r>
              <a:rPr lang="en-US" dirty="0"/>
              <a:t> y solicitudes.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SLA (Service Level Agreement):</a:t>
            </a:r>
            <a:r>
              <a:rPr lang="en-US" dirty="0"/>
              <a:t> </a:t>
            </a:r>
            <a:r>
              <a:rPr lang="en-US" dirty="0" err="1"/>
              <a:t>Acuerdo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define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tiempos</a:t>
            </a:r>
            <a:r>
              <a:rPr lang="en-US" dirty="0"/>
              <a:t> y </a:t>
            </a:r>
            <a:r>
              <a:rPr lang="en-US" dirty="0" err="1"/>
              <a:t>niveles</a:t>
            </a:r>
            <a:r>
              <a:rPr lang="en-US" dirty="0"/>
              <a:t> de </a:t>
            </a:r>
            <a:r>
              <a:rPr lang="en-US" dirty="0" err="1"/>
              <a:t>servicio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el </a:t>
            </a:r>
            <a:r>
              <a:rPr lang="en-US" dirty="0" err="1"/>
              <a:t>equipo</a:t>
            </a:r>
            <a:r>
              <a:rPr lang="en-US" dirty="0"/>
              <a:t> de TI </a:t>
            </a:r>
            <a:r>
              <a:rPr lang="en-US" dirty="0" err="1"/>
              <a:t>debe</a:t>
            </a:r>
            <a:r>
              <a:rPr lang="en-US" dirty="0"/>
              <a:t> </a:t>
            </a:r>
            <a:r>
              <a:rPr lang="en-US" dirty="0" err="1"/>
              <a:t>cumplir</a:t>
            </a:r>
            <a:r>
              <a:rPr lang="en-US" dirty="0"/>
              <a:t> con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usuarios</a:t>
            </a:r>
            <a:r>
              <a:rPr lang="en-US" dirty="0"/>
              <a:t> o </a:t>
            </a:r>
            <a:r>
              <a:rPr lang="en-US" dirty="0" err="1"/>
              <a:t>clientes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4163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/>
              <a:t>CAGR: Compound Annual Growth Rate</a:t>
            </a:r>
            <a:r>
              <a:rPr lang="en-US"/>
              <a:t>,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español</a:t>
            </a:r>
            <a:r>
              <a:rPr lang="en-US"/>
              <a:t> </a:t>
            </a:r>
            <a:r>
              <a:rPr lang="en-US" b="1"/>
              <a:t>Tasa de </a:t>
            </a:r>
            <a:r>
              <a:rPr lang="en-US" b="1" err="1"/>
              <a:t>Crecimiento</a:t>
            </a:r>
            <a:r>
              <a:rPr lang="en-US" b="1"/>
              <a:t> </a:t>
            </a:r>
            <a:r>
              <a:rPr lang="en-US" b="1" err="1"/>
              <a:t>Anual</a:t>
            </a:r>
            <a:r>
              <a:rPr lang="en-US" b="1"/>
              <a:t> </a:t>
            </a:r>
            <a:r>
              <a:rPr lang="en-US" b="1" err="1"/>
              <a:t>Compuesta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85141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 err="1"/>
              <a:t>Autohealing</a:t>
            </a:r>
            <a:r>
              <a:rPr lang="en-US" dirty="0"/>
              <a:t> (o </a:t>
            </a:r>
            <a:r>
              <a:rPr lang="en-US" b="1" dirty="0" err="1"/>
              <a:t>autocuración</a:t>
            </a:r>
            <a:r>
              <a:rPr lang="en-US" dirty="0"/>
              <a:t>)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b="1" dirty="0"/>
              <a:t>mesa de </a:t>
            </a:r>
            <a:r>
              <a:rPr lang="en-US" b="1" dirty="0" err="1"/>
              <a:t>servicio</a:t>
            </a:r>
            <a:r>
              <a:rPr lang="en-US" b="1" dirty="0"/>
              <a:t> (Service Desk)</a:t>
            </a:r>
            <a:r>
              <a:rPr lang="en-US" dirty="0"/>
              <a:t> es la </a:t>
            </a:r>
            <a:r>
              <a:rPr lang="en-US" dirty="0" err="1"/>
              <a:t>capacidad</a:t>
            </a:r>
            <a:r>
              <a:rPr lang="en-US" dirty="0"/>
              <a:t> de un </a:t>
            </a:r>
            <a:r>
              <a:rPr lang="en-US" dirty="0" err="1"/>
              <a:t>sistema</a:t>
            </a:r>
            <a:r>
              <a:rPr lang="en-US" dirty="0"/>
              <a:t> para </a:t>
            </a:r>
            <a:r>
              <a:rPr lang="en-US" b="1" dirty="0" err="1"/>
              <a:t>detectar</a:t>
            </a:r>
            <a:r>
              <a:rPr lang="en-US" b="1" dirty="0"/>
              <a:t> y resolver </a:t>
            </a:r>
            <a:r>
              <a:rPr lang="en-US" b="1" dirty="0" err="1"/>
              <a:t>automáticamente</a:t>
            </a:r>
            <a:r>
              <a:rPr lang="en-US" b="1" dirty="0"/>
              <a:t> </a:t>
            </a:r>
            <a:r>
              <a:rPr lang="en-US" b="1" dirty="0" err="1"/>
              <a:t>incidentes</a:t>
            </a:r>
            <a:r>
              <a:rPr lang="en-US" b="1" dirty="0"/>
              <a:t> o </a:t>
            </a:r>
            <a:r>
              <a:rPr lang="en-US" b="1" dirty="0" err="1"/>
              <a:t>problemas</a:t>
            </a:r>
            <a:r>
              <a:rPr lang="en-US" b="1" dirty="0"/>
              <a:t> </a:t>
            </a:r>
            <a:r>
              <a:rPr lang="en-US" b="1" dirty="0" err="1"/>
              <a:t>comunes</a:t>
            </a:r>
            <a:r>
              <a:rPr lang="en-US" b="1" dirty="0"/>
              <a:t> sin </a:t>
            </a:r>
            <a:r>
              <a:rPr lang="en-US" b="1" dirty="0" err="1"/>
              <a:t>intervención</a:t>
            </a:r>
            <a:r>
              <a:rPr lang="en-US" b="1" dirty="0"/>
              <a:t> humana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8740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Shift-Left: Cada punto de </a:t>
            </a:r>
            <a:r>
              <a:rPr lang="en-US" err="1"/>
              <a:t>defleccion</a:t>
            </a:r>
            <a:r>
              <a:rPr lang="en-US"/>
              <a:t> = </a:t>
            </a:r>
            <a:r>
              <a:rPr lang="en-US" err="1"/>
              <a:t>ahorro</a:t>
            </a:r>
            <a:r>
              <a:rPr lang="en-US"/>
              <a:t> </a:t>
            </a:r>
            <a:r>
              <a:rPr lang="en-US" err="1"/>
              <a:t>cuantificable</a:t>
            </a:r>
            <a:r>
              <a:rPr lang="en-US"/>
              <a:t> : </a:t>
            </a:r>
            <a:r>
              <a:rPr lang="en-US" err="1"/>
              <a:t>significa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caso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</a:t>
            </a:r>
            <a:r>
              <a:rPr lang="en-US"/>
              <a:t> antes de </a:t>
            </a:r>
            <a:r>
              <a:rPr lang="en-US" err="1"/>
              <a:t>llegar</a:t>
            </a:r>
            <a:r>
              <a:rPr lang="en-US"/>
              <a:t> a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costosos</a:t>
            </a:r>
            <a:r>
              <a:rPr lang="en-US"/>
              <a:t> genera un </a:t>
            </a:r>
            <a:r>
              <a:rPr lang="en-US" err="1"/>
              <a:t>ahorro</a:t>
            </a:r>
            <a:r>
              <a:rPr lang="en-US"/>
              <a:t> </a:t>
            </a:r>
            <a:r>
              <a:rPr lang="en-US" err="1"/>
              <a:t>medible</a:t>
            </a:r>
            <a:r>
              <a:rPr lang="en-US"/>
              <a:t> para la </a:t>
            </a:r>
            <a:r>
              <a:rPr lang="en-US" err="1"/>
              <a:t>organización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 b="1"/>
              <a:t>Shift-Left (</a:t>
            </a:r>
            <a:r>
              <a:rPr lang="en-US" b="1" err="1"/>
              <a:t>Desplazamiento</a:t>
            </a:r>
            <a:r>
              <a:rPr lang="en-US" b="1"/>
              <a:t> </a:t>
            </a:r>
            <a:r>
              <a:rPr lang="en-US" b="1" err="1"/>
              <a:t>hacia</a:t>
            </a:r>
            <a:r>
              <a:rPr lang="en-US" b="1"/>
              <a:t> la Izquierda):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busca</a:t>
            </a:r>
            <a:r>
              <a:rPr lang="en-US"/>
              <a:t> resolver </a:t>
            </a:r>
            <a:r>
              <a:rPr lang="en-US" err="1"/>
              <a:t>incidentes</a:t>
            </a:r>
            <a:r>
              <a:rPr lang="en-US"/>
              <a:t> y solicitudes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cercanos</a:t>
            </a:r>
            <a:r>
              <a:rPr lang="en-US"/>
              <a:t> al </a:t>
            </a:r>
            <a:r>
              <a:rPr lang="en-US" err="1"/>
              <a:t>usuario</a:t>
            </a:r>
            <a:r>
              <a:rPr lang="en-US"/>
              <a:t> (</a:t>
            </a:r>
            <a:r>
              <a:rPr lang="en-US" err="1"/>
              <a:t>autoservicio</a:t>
            </a:r>
            <a:r>
              <a:rPr lang="en-US"/>
              <a:t>, base de </a:t>
            </a:r>
            <a:r>
              <a:rPr lang="en-US" err="1"/>
              <a:t>conocimiento</a:t>
            </a:r>
            <a:r>
              <a:rPr lang="en-US"/>
              <a:t>, chatbot o </a:t>
            </a:r>
            <a:r>
              <a:rPr lang="en-US" err="1"/>
              <a:t>soporte</a:t>
            </a:r>
            <a:r>
              <a:rPr lang="en-US"/>
              <a:t> N1), </a:t>
            </a:r>
            <a:r>
              <a:rPr lang="en-US" err="1"/>
              <a:t>evitando</a:t>
            </a:r>
            <a:r>
              <a:rPr lang="en-US"/>
              <a:t> </a:t>
            </a:r>
            <a:r>
              <a:rPr lang="en-US" err="1"/>
              <a:t>escalaciones</a:t>
            </a:r>
            <a:r>
              <a:rPr lang="en-US"/>
              <a:t> </a:t>
            </a:r>
            <a:r>
              <a:rPr lang="en-US" err="1"/>
              <a:t>innecesarias</a:t>
            </a:r>
            <a:r>
              <a:rPr lang="en-US"/>
              <a:t> y </a:t>
            </a:r>
            <a:r>
              <a:rPr lang="en-US" err="1"/>
              <a:t>reduciendo</a:t>
            </a:r>
            <a:r>
              <a:rPr lang="en-US"/>
              <a:t> </a:t>
            </a:r>
            <a:r>
              <a:rPr lang="en-US" err="1"/>
              <a:t>costos</a:t>
            </a:r>
            <a:r>
              <a:rPr lang="en-US"/>
              <a:t>,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atención</a:t>
            </a:r>
            <a:r>
              <a:rPr lang="en-US"/>
              <a:t> y </a:t>
            </a:r>
            <a:r>
              <a:rPr lang="en-US" err="1"/>
              <a:t>esfuerzo</a:t>
            </a:r>
            <a:r>
              <a:rPr lang="en-US"/>
              <a:t> </a:t>
            </a:r>
            <a:r>
              <a:rPr lang="en-US" err="1"/>
              <a:t>operativo</a:t>
            </a:r>
            <a:r>
              <a:rPr lang="en-US"/>
              <a:t>.</a:t>
            </a: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9575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5. Benchmarks de </a:t>
            </a:r>
            <a:r>
              <a:rPr lang="en-US" err="1"/>
              <a:t>Madurez</a:t>
            </a:r>
            <a:r>
              <a:rPr lang="en-US"/>
              <a:t> y </a:t>
            </a:r>
            <a:r>
              <a:rPr lang="en-US" err="1"/>
              <a:t>Métricas</a:t>
            </a:r>
            <a:r>
              <a:rPr lang="en-US"/>
              <a:t> de la Industria</a:t>
            </a:r>
            <a:endParaRPr lang="es-ES"/>
          </a:p>
          <a:p>
            <a:pPr>
              <a:buNone/>
            </a:pPr>
            <a:r>
              <a:rPr lang="en-US"/>
              <a:t>Estos benchmarks son el </a:t>
            </a:r>
            <a:r>
              <a:rPr lang="en-US" err="1"/>
              <a:t>insumo</a:t>
            </a:r>
            <a:r>
              <a:rPr lang="en-US"/>
              <a:t> </a:t>
            </a:r>
            <a:r>
              <a:rPr lang="en-US" err="1"/>
              <a:t>crítico</a:t>
            </a:r>
            <a:r>
              <a:rPr lang="en-US"/>
              <a:t> para el Framework de Assessment: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clasificar</a:t>
            </a:r>
            <a:r>
              <a:rPr lang="en-US"/>
              <a:t> </a:t>
            </a:r>
            <a:r>
              <a:rPr lang="en-US" err="1"/>
              <a:t>objetivamente</a:t>
            </a:r>
            <a:r>
              <a:rPr lang="en-US"/>
              <a:t> </a:t>
            </a:r>
            <a:r>
              <a:rPr lang="en-US" err="1"/>
              <a:t>cualquier</a:t>
            </a:r>
            <a:r>
              <a:rPr lang="en-US"/>
              <a:t> mesa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nivel</a:t>
            </a:r>
            <a:r>
              <a:rPr lang="en-US"/>
              <a:t> de </a:t>
            </a:r>
            <a:r>
              <a:rPr lang="en-US" err="1"/>
              <a:t>madurez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/>
              <a:t> </a:t>
            </a:r>
            <a:endParaRPr lang="es-ES"/>
          </a:p>
          <a:p>
            <a:pPr>
              <a:buNone/>
            </a:pPr>
            <a:r>
              <a:rPr lang="en-US" err="1"/>
              <a:t>Métrica</a:t>
            </a:r>
            <a:r>
              <a:rPr lang="en-US"/>
              <a:t>    </a:t>
            </a:r>
            <a:r>
              <a:rPr lang="en-US" err="1"/>
              <a:t>Promedio</a:t>
            </a:r>
            <a:r>
              <a:rPr lang="en-US"/>
              <a:t> Industria    World-Class / Best-in-Class    Fuente</a:t>
            </a:r>
            <a:endParaRPr lang="es-ES"/>
          </a:p>
          <a:p>
            <a:pPr>
              <a:buNone/>
            </a:pPr>
            <a:r>
              <a:rPr lang="en-US"/>
              <a:t>FCR (First Contact Resolution)    74%    ≥80%    SQM Group / HDI</a:t>
            </a:r>
            <a:endParaRPr lang="es-ES"/>
          </a:p>
          <a:p>
            <a:pPr>
              <a:buNone/>
            </a:pPr>
            <a:r>
              <a:rPr lang="en-US"/>
              <a:t>MTTR (Mean Time to Resolution)    8.85 horas    &lt;4 horas (bueno) / &lt;1 hora (world-class)    </a:t>
            </a:r>
            <a:r>
              <a:rPr lang="en-US" err="1"/>
              <a:t>MetricNet</a:t>
            </a:r>
            <a:r>
              <a:rPr lang="en-US"/>
              <a:t>/HDI</a:t>
            </a:r>
            <a:endParaRPr lang="es-ES"/>
          </a:p>
          <a:p>
            <a:pPr>
              <a:buNone/>
            </a:pPr>
            <a:r>
              <a:rPr lang="en-US"/>
              <a:t>CSAT    73–86% (</a:t>
            </a:r>
            <a:r>
              <a:rPr lang="en-US" err="1"/>
              <a:t>varía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período</a:t>
            </a:r>
            <a:r>
              <a:rPr lang="en-US"/>
              <a:t>)    ≥90%    HDI metrics / </a:t>
            </a:r>
            <a:r>
              <a:rPr lang="en-US" err="1"/>
              <a:t>HelpDeskFocus</a:t>
            </a:r>
            <a:endParaRPr lang="es-ES" err="1"/>
          </a:p>
          <a:p>
            <a:pPr>
              <a:buNone/>
            </a:pPr>
            <a:r>
              <a:rPr lang="en-US"/>
              <a:t>AHT (Average Handle Time)    6–8 min (</a:t>
            </a:r>
            <a:r>
              <a:rPr lang="en-US" err="1"/>
              <a:t>voz</a:t>
            </a:r>
            <a:r>
              <a:rPr lang="en-US"/>
              <a:t>)    &lt;7 min (</a:t>
            </a:r>
            <a:r>
              <a:rPr lang="en-US" err="1"/>
              <a:t>voz</a:t>
            </a:r>
            <a:r>
              <a:rPr lang="en-US"/>
              <a:t> world-class)    </a:t>
            </a:r>
            <a:r>
              <a:rPr lang="en-US" err="1"/>
              <a:t>IrisAgent</a:t>
            </a:r>
            <a:r>
              <a:rPr lang="en-US"/>
              <a:t> / HDI metrics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N0    USD 2    —    Giva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N1    USD 22–35    USD 15–18   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N3    USD 104    —    Giva</a:t>
            </a:r>
            <a:endParaRPr lang="es-ES"/>
          </a:p>
          <a:p>
            <a:pPr>
              <a:buNone/>
            </a:pPr>
            <a:r>
              <a:rPr lang="en-US"/>
              <a:t>Deflection / Ticket deflection rate    23%    40–60% (maduro) / 80–90% (</a:t>
            </a:r>
            <a:r>
              <a:rPr lang="en-US" err="1"/>
              <a:t>casos</a:t>
            </a:r>
            <a:r>
              <a:rPr lang="en-US"/>
              <a:t> </a:t>
            </a:r>
            <a:r>
              <a:rPr lang="en-US" err="1"/>
              <a:t>líderes</a:t>
            </a:r>
            <a:r>
              <a:rPr lang="en-US"/>
              <a:t>)    </a:t>
            </a:r>
            <a:r>
              <a:rPr lang="en-US" err="1"/>
              <a:t>servicedeskagents</a:t>
            </a:r>
            <a:r>
              <a:rPr lang="en-US"/>
              <a:t> /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Impacto GenAI </a:t>
            </a:r>
            <a:r>
              <a:rPr lang="en-US" err="1"/>
              <a:t>en</a:t>
            </a:r>
            <a:r>
              <a:rPr lang="en-US"/>
              <a:t> MTTR    -17.8% (SolarWinds) / -26.6% (</a:t>
            </a:r>
            <a:r>
              <a:rPr lang="en-US" err="1"/>
              <a:t>Freshservice</a:t>
            </a:r>
            <a:r>
              <a:rPr lang="en-US"/>
              <a:t>)    —    </a:t>
            </a:r>
            <a:r>
              <a:rPr lang="en-US" err="1"/>
              <a:t>Contentstack</a:t>
            </a:r>
            <a:r>
              <a:rPr lang="en-US"/>
              <a:t> ITSM / </a:t>
            </a:r>
            <a:r>
              <a:rPr lang="en-US" err="1"/>
              <a:t>Freshservice</a:t>
            </a:r>
            <a:r>
              <a:rPr lang="en-US"/>
              <a:t> benchmark</a:t>
            </a:r>
            <a:endParaRPr lang="es-ES"/>
          </a:p>
          <a:p>
            <a:pPr>
              <a:buNone/>
            </a:pPr>
            <a:r>
              <a:rPr lang="en-US"/>
              <a:t>Impacto KCS+IA </a:t>
            </a:r>
            <a:r>
              <a:rPr lang="en-US" err="1"/>
              <a:t>en</a:t>
            </a:r>
            <a:r>
              <a:rPr lang="en-US"/>
              <a:t> FCR    +5–7 puntos    —    SDI</a:t>
            </a:r>
            <a:endParaRPr lang="es-ES"/>
          </a:p>
          <a:p>
            <a:pPr>
              <a:buNone/>
            </a:pPr>
            <a:r>
              <a:rPr lang="en-US"/>
              <a:t>Impacto IA </a:t>
            </a:r>
            <a:r>
              <a:rPr lang="en-US" err="1"/>
              <a:t>en</a:t>
            </a:r>
            <a:r>
              <a:rPr lang="en-US"/>
              <a:t> CSAT    +15–22 pts </a:t>
            </a:r>
            <a:r>
              <a:rPr lang="en-US" err="1"/>
              <a:t>cuando</a:t>
            </a:r>
            <a:r>
              <a:rPr lang="en-US"/>
              <a:t> </a:t>
            </a:r>
            <a:r>
              <a:rPr lang="en-US" err="1"/>
              <a:t>espera</a:t>
            </a:r>
            <a:r>
              <a:rPr lang="en-US"/>
              <a:t> &lt; 5 min    —    Stealth Agents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86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lang="es-CO" b="1">
                <a:solidFill>
                  <a:srgbClr val="2E3B4E"/>
                </a:solidFill>
              </a:rPr>
              <a:t>Métricas: XLA; </a:t>
            </a:r>
            <a:endParaRPr lang="en-US"/>
          </a:p>
          <a:p>
            <a:pPr marL="0" indent="0">
              <a:buNone/>
            </a:pP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Satisfaction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sentiment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effort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(SURA </a:t>
            </a:r>
            <a:r>
              <a:rPr lang="es-CO" u="sng" err="1">
                <a:solidFill>
                  <a:srgbClr val="6B6B6B"/>
                </a:solidFill>
                <a:highlight>
                  <a:srgbClr val="FFFF00"/>
                </a:highlight>
              </a:rPr>
              <a:t>cotizadores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N2.)</a:t>
            </a:r>
            <a:endParaRPr lang="es-ES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Service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centro de operaciones de servicios encargado de monitorear y gestionar la operación de TI.</a:t>
            </a:r>
            <a:endParaRPr lang="es-CO"/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Security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equipo especializado en monitoreo y respuesta a incidentes de seguridad informática.</a:t>
            </a:r>
            <a:endParaRPr lang="es-CO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5.2 XLA en la Práctica: Del </a:t>
            </a:r>
            <a:r>
              <a:rPr lang="es-ES" b="1" err="1">
                <a:solidFill>
                  <a:schemeClr val="tx1"/>
                </a:solidFill>
              </a:rPr>
              <a:t>Hype</a:t>
            </a:r>
            <a:r>
              <a:rPr lang="es-ES" b="1">
                <a:solidFill>
                  <a:schemeClr val="tx1"/>
                </a:solidFill>
              </a:rPr>
              <a:t> a la Madurez (2025-2026)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primer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global del </a:t>
            </a:r>
            <a:r>
              <a:rPr lang="en-US" b="1">
                <a:solidFill>
                  <a:schemeClr val="tx1"/>
                </a:solidFill>
              </a:rPr>
              <a:t>XLA Institute, "State of XLA 2025"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presentado</a:t>
            </a:r>
            <a:r>
              <a:rPr lang="en-US">
                <a:solidFill>
                  <a:schemeClr val="tx1"/>
                </a:solidFill>
              </a:rPr>
              <a:t> el 12 de </a:t>
            </a:r>
            <a:r>
              <a:rPr lang="en-US" err="1">
                <a:solidFill>
                  <a:schemeClr val="tx1"/>
                </a:solidFill>
              </a:rPr>
              <a:t>junio</a:t>
            </a:r>
            <a:r>
              <a:rPr lang="en-US">
                <a:solidFill>
                  <a:schemeClr val="tx1"/>
                </a:solidFill>
              </a:rPr>
              <a:t> de 2025, </a:t>
            </a:r>
            <a:r>
              <a:rPr lang="en-US" err="1">
                <a:solidFill>
                  <a:schemeClr val="tx1"/>
                </a:solidFill>
              </a:rPr>
              <a:t>marca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transición</a:t>
            </a:r>
            <a:r>
              <a:rPr lang="en-US">
                <a:solidFill>
                  <a:schemeClr val="tx1"/>
                </a:solidFill>
              </a:rPr>
              <a:t> de las XLA </a:t>
            </a:r>
            <a:r>
              <a:rPr lang="en-US" err="1">
                <a:solidFill>
                  <a:schemeClr val="tx1"/>
                </a:solidFill>
              </a:rPr>
              <a:t>desde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discurso</a:t>
            </a:r>
            <a:r>
              <a:rPr lang="en-US">
                <a:solidFill>
                  <a:schemeClr val="tx1"/>
                </a:solidFill>
              </a:rPr>
              <a:t> experimental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práctica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escalable</a:t>
            </a:r>
            <a:r>
              <a:rPr lang="en-US">
                <a:solidFill>
                  <a:schemeClr val="tx1"/>
                </a:solidFill>
              </a:rPr>
              <a:t>: el </a:t>
            </a:r>
            <a:r>
              <a:rPr lang="en-US" b="1">
                <a:solidFill>
                  <a:schemeClr val="tx1"/>
                </a:solidFill>
              </a:rPr>
              <a:t>68% de las </a:t>
            </a:r>
            <a:r>
              <a:rPr lang="en-US" b="1" err="1">
                <a:solidFill>
                  <a:schemeClr val="tx1"/>
                </a:solidFill>
              </a:rPr>
              <a:t>empresas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encuestadas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planea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implementar</a:t>
            </a:r>
            <a:r>
              <a:rPr lang="en-US" b="1">
                <a:solidFill>
                  <a:schemeClr val="tx1"/>
                </a:solidFill>
              </a:rPr>
              <a:t> XLAs </a:t>
            </a:r>
            <a:r>
              <a:rPr lang="en-US" b="1" err="1">
                <a:solidFill>
                  <a:schemeClr val="tx1"/>
                </a:solidFill>
              </a:rPr>
              <a:t>en</a:t>
            </a:r>
            <a:r>
              <a:rPr lang="en-US" b="1">
                <a:solidFill>
                  <a:schemeClr val="tx1"/>
                </a:solidFill>
              </a:rPr>
              <a:t> 2026</a:t>
            </a:r>
            <a:r>
              <a:rPr lang="en-US">
                <a:solidFill>
                  <a:schemeClr val="tx1"/>
                </a:solidFill>
              </a:rPr>
              <a:t> (</a:t>
            </a:r>
            <a:r>
              <a:rPr lang="en-US" err="1">
                <a:solidFill>
                  <a:schemeClr val="tx1"/>
                </a:solidFill>
              </a:rPr>
              <a:t>algunas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fuentes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citan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cifra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"</a:t>
            </a:r>
            <a:r>
              <a:rPr lang="en-US" err="1">
                <a:solidFill>
                  <a:schemeClr val="tx1"/>
                </a:solidFill>
              </a:rPr>
              <a:t>casi</a:t>
            </a:r>
            <a:r>
              <a:rPr lang="en-US">
                <a:solidFill>
                  <a:schemeClr val="tx1"/>
                </a:solidFill>
              </a:rPr>
              <a:t> 70%"), y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expande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rápidamente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allá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departamentos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salud</a:t>
            </a:r>
            <a:r>
              <a:rPr lang="en-US">
                <a:solidFill>
                  <a:schemeClr val="tx1"/>
                </a:solidFill>
              </a:rPr>
              <a:t>, RR.HH. y </a:t>
            </a:r>
            <a:r>
              <a:rPr lang="en-US" err="1">
                <a:solidFill>
                  <a:schemeClr val="tx1"/>
                </a:solidFill>
              </a:rPr>
              <a:t>finanzas</a:t>
            </a:r>
            <a:r>
              <a:rPr lang="en-US">
                <a:solidFill>
                  <a:schemeClr val="tx1"/>
                </a:solidFill>
              </a:rPr>
              <a:t> — con </a:t>
            </a:r>
            <a:r>
              <a:rPr lang="en-US" err="1">
                <a:solidFill>
                  <a:schemeClr val="tx1"/>
                </a:solidFill>
              </a:rPr>
              <a:t>Brasil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emergiendo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uno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mercados </a:t>
            </a:r>
            <a:r>
              <a:rPr lang="en-US" err="1">
                <a:solidFill>
                  <a:schemeClr val="tx1"/>
                </a:solidFill>
              </a:rPr>
              <a:t>líderes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EIN 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Presswire</a:t>
            </a:r>
            <a:r>
              <a:rPr lang="en-US">
                <a:solidFill>
                  <a:schemeClr val="tx1"/>
                </a:solidFill>
              </a:rPr>
              <a:t>) (</a:t>
            </a:r>
            <a:r>
              <a:rPr lang="en-US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Emerce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introduce el </a:t>
            </a:r>
            <a:r>
              <a:rPr lang="en-US" b="1">
                <a:solidFill>
                  <a:schemeClr val="tx1"/>
                </a:solidFill>
              </a:rPr>
              <a:t>Dynamic Experience Management Framework (DEMF)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define dos </a:t>
            </a:r>
            <a:r>
              <a:rPr lang="en-US" err="1">
                <a:solidFill>
                  <a:schemeClr val="tx1"/>
                </a:solidFill>
              </a:rPr>
              <a:t>ejes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: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capacidad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creación</a:t>
            </a:r>
            <a:r>
              <a:rPr lang="en-US">
                <a:solidFill>
                  <a:schemeClr val="tx1"/>
                </a:solidFill>
              </a:rPr>
              <a:t> de valor </a:t>
            </a:r>
            <a:r>
              <a:rPr lang="en-US" err="1">
                <a:solidFill>
                  <a:schemeClr val="tx1"/>
                </a:solidFill>
              </a:rPr>
              <a:t>acumulativo</a:t>
            </a:r>
            <a:r>
              <a:rPr lang="en-US">
                <a:solidFill>
                  <a:schemeClr val="tx1"/>
                </a:solidFill>
              </a:rPr>
              <a:t> ("accretive value creation"). Entre sus </a:t>
            </a:r>
            <a:r>
              <a:rPr lang="en-US" err="1">
                <a:solidFill>
                  <a:schemeClr val="tx1"/>
                </a:solidFill>
              </a:rPr>
              <a:t>hallazgos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exitosas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alrededor</a:t>
            </a:r>
            <a:r>
              <a:rPr lang="en-US">
                <a:solidFill>
                  <a:schemeClr val="tx1"/>
                </a:solidFill>
              </a:rPr>
              <a:t> de personas (personas-based), la Digital Employee Experience (DEX) y las XLA </a:t>
            </a:r>
            <a:r>
              <a:rPr lang="en-US" err="1">
                <a:solidFill>
                  <a:schemeClr val="tx1"/>
                </a:solidFill>
              </a:rPr>
              <a:t>convergen</a:t>
            </a:r>
            <a:r>
              <a:rPr lang="en-US">
                <a:solidFill>
                  <a:schemeClr val="tx1"/>
                </a:solidFill>
              </a:rPr>
              <a:t> para </a:t>
            </a:r>
            <a:r>
              <a:rPr lang="en-US" err="1">
                <a:solidFill>
                  <a:schemeClr val="tx1"/>
                </a:solidFill>
              </a:rPr>
              <a:t>sostener</a:t>
            </a:r>
            <a:r>
              <a:rPr lang="en-US">
                <a:solidFill>
                  <a:schemeClr val="tx1"/>
                </a:solidFill>
              </a:rPr>
              <a:t> tanto a </a:t>
            </a:r>
            <a:r>
              <a:rPr lang="en-US" err="1">
                <a:solidFill>
                  <a:schemeClr val="tx1"/>
                </a:solidFill>
              </a:rPr>
              <a:t>empleados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, y las XLA </a:t>
            </a:r>
            <a:r>
              <a:rPr lang="en-US" err="1">
                <a:solidFill>
                  <a:schemeClr val="tx1"/>
                </a:solidFill>
              </a:rPr>
              <a:t>desplazan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foco</a:t>
            </a:r>
            <a:r>
              <a:rPr lang="en-US">
                <a:solidFill>
                  <a:schemeClr val="tx1"/>
                </a:solidFill>
              </a:rPr>
              <a:t> de la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reactiva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problemas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habilitación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proactiva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éxito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— Alan Nance, XLA Institute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65571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63% Regulatorios: SFC Circular 007 · Open </a:t>
            </a:r>
            <a:r>
              <a:rPr lang="es-ES" b="1" err="1">
                <a:solidFill>
                  <a:schemeClr val="tx1"/>
                </a:solidFill>
              </a:rPr>
              <a:t>Finance</a:t>
            </a:r>
            <a:r>
              <a:rPr lang="es-ES" b="1">
                <a:solidFill>
                  <a:schemeClr val="tx1"/>
                </a:solidFill>
              </a:rPr>
              <a:t> · ISO 42001 IA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68% Barrera de entrada: cambio de proveedor (costo de </a:t>
            </a:r>
            <a:r>
              <a:rPr lang="es-ES" b="1" err="1">
                <a:solidFill>
                  <a:schemeClr val="tx1"/>
                </a:solidFill>
              </a:rPr>
              <a:t>transicion</a:t>
            </a:r>
            <a:r>
              <a:rPr lang="es-ES" b="1">
                <a:solidFill>
                  <a:schemeClr val="tx1"/>
                </a:solidFill>
              </a:rPr>
              <a:t> 30-90 </a:t>
            </a:r>
            <a:r>
              <a:rPr lang="es-ES" b="1" err="1">
                <a:solidFill>
                  <a:schemeClr val="tx1"/>
                </a:solidFill>
              </a:rPr>
              <a:t>dias</a:t>
            </a:r>
            <a:r>
              <a:rPr lang="es-ES" b="1">
                <a:solidFill>
                  <a:schemeClr val="tx1"/>
                </a:solidFill>
              </a:rPr>
              <a:t>)</a:t>
            </a: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Next Gen: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28249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63DE-BA7F-F0A7-A6EC-6E4D44FC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C1037-746E-5E18-B011-F4D63BB7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BE060-DFB4-75C7-1539-26CD848E2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s-ES">
                <a:solidFill>
                  <a:srgbClr val="595959"/>
                </a:solidFill>
              </a:rPr>
              <a:t>CAGR : </a:t>
            </a:r>
            <a:r>
              <a:rPr lang="es-ES" b="1" err="1">
                <a:solidFill>
                  <a:srgbClr val="595959"/>
                </a:solidFill>
              </a:rPr>
              <a:t>Compound</a:t>
            </a:r>
            <a:r>
              <a:rPr lang="es-ES" b="1">
                <a:solidFill>
                  <a:srgbClr val="595959"/>
                </a:solidFill>
              </a:rPr>
              <a:t> </a:t>
            </a:r>
            <a:r>
              <a:rPr lang="es-ES" b="1" err="1">
                <a:solidFill>
                  <a:srgbClr val="595959"/>
                </a:solidFill>
              </a:rPr>
              <a:t>Annual</a:t>
            </a:r>
            <a:r>
              <a:rPr lang="es-ES" b="1">
                <a:solidFill>
                  <a:srgbClr val="595959"/>
                </a:solidFill>
              </a:rPr>
              <a:t> </a:t>
            </a:r>
            <a:r>
              <a:rPr lang="es-ES" b="1" err="1">
                <a:solidFill>
                  <a:srgbClr val="595959"/>
                </a:solidFill>
              </a:rPr>
              <a:t>Growth</a:t>
            </a:r>
            <a:r>
              <a:rPr lang="es-ES" b="1">
                <a:solidFill>
                  <a:srgbClr val="595959"/>
                </a:solidFill>
              </a:rPr>
              <a:t> Rate</a:t>
            </a:r>
            <a:r>
              <a:rPr lang="es-ES">
                <a:solidFill>
                  <a:srgbClr val="595959"/>
                </a:solidFill>
              </a:rPr>
              <a:t>, o en español, </a:t>
            </a:r>
            <a:r>
              <a:rPr lang="es-ES" b="1">
                <a:solidFill>
                  <a:srgbClr val="595959"/>
                </a:solidFill>
              </a:rPr>
              <a:t>Tasa de Crecimiento Anual Compuesta</a:t>
            </a:r>
            <a:r>
              <a:rPr lang="es-ES">
                <a:solidFill>
                  <a:srgbClr val="595959"/>
                </a:solidFill>
              </a:rPr>
              <a:t>.</a:t>
            </a:r>
            <a:endParaRPr lang="en-US" b="1"/>
          </a:p>
          <a:p>
            <a:pPr marL="171450" indent="-171450"/>
            <a:r>
              <a:rPr lang="en-US" b="1"/>
              <a:t>SFC:</a:t>
            </a:r>
            <a:r>
              <a:rPr lang="en-US"/>
              <a:t> </a:t>
            </a:r>
            <a:r>
              <a:rPr lang="en-US" err="1"/>
              <a:t>Superintendencia</a:t>
            </a:r>
            <a:r>
              <a:rPr lang="en-US"/>
              <a:t> Financiera de Colombia</a:t>
            </a:r>
            <a:endParaRPr lang="es-ES"/>
          </a:p>
          <a:p>
            <a:pPr marL="171450" indent="-171450"/>
            <a:r>
              <a:rPr lang="en-US" b="1" err="1"/>
              <a:t>SOX:</a:t>
            </a:r>
            <a:r>
              <a:rPr lang="en-US" err="1"/>
              <a:t>Sarbanes-Oxley</a:t>
            </a:r>
            <a:r>
              <a:rPr lang="en-US"/>
              <a:t> Act, Ley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establece</a:t>
            </a:r>
            <a:r>
              <a:rPr lang="en-US"/>
              <a:t> </a:t>
            </a:r>
            <a:r>
              <a:rPr lang="en-US" err="1"/>
              <a:t>controles</a:t>
            </a:r>
            <a:r>
              <a:rPr lang="en-US"/>
              <a:t> para </a:t>
            </a:r>
            <a:r>
              <a:rPr lang="en-US" err="1"/>
              <a:t>garantizar</a:t>
            </a:r>
            <a:r>
              <a:rPr lang="en-US"/>
              <a:t> la </a:t>
            </a:r>
            <a:r>
              <a:rPr lang="en-US" err="1"/>
              <a:t>transparencia</a:t>
            </a:r>
            <a:r>
              <a:rPr lang="en-US"/>
              <a:t> y la </a:t>
            </a:r>
            <a:r>
              <a:rPr lang="en-US" err="1"/>
              <a:t>integridad</a:t>
            </a:r>
            <a:r>
              <a:rPr lang="en-US"/>
              <a:t> de la </a:t>
            </a:r>
            <a:r>
              <a:rPr lang="en-US" err="1"/>
              <a:t>información</a:t>
            </a:r>
            <a:r>
              <a:rPr lang="en-US"/>
              <a:t> </a:t>
            </a:r>
            <a:r>
              <a:rPr lang="en-US" err="1"/>
              <a:t>financiera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BCP (</a:t>
            </a:r>
            <a:r>
              <a:rPr lang="en-US"/>
              <a:t>Business Continuity Plan / Plan de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mantener</a:t>
            </a:r>
            <a:r>
              <a:rPr lang="en-US"/>
              <a:t> </a:t>
            </a:r>
            <a:r>
              <a:rPr lang="en-US" err="1"/>
              <a:t>operativas</a:t>
            </a:r>
            <a:r>
              <a:rPr lang="en-US"/>
              <a:t> las </a:t>
            </a:r>
            <a:r>
              <a:rPr lang="en-US" err="1"/>
              <a:t>funciones</a:t>
            </a:r>
            <a:r>
              <a:rPr lang="en-US"/>
              <a:t> </a:t>
            </a:r>
            <a:r>
              <a:rPr lang="en-US" err="1"/>
              <a:t>críticas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interrupción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DRP (</a:t>
            </a:r>
            <a:r>
              <a:rPr lang="en-US"/>
              <a:t>Disaster Recovery Plan / Plan de </a:t>
            </a:r>
            <a:r>
              <a:rPr lang="en-US" err="1"/>
              <a:t>Recuperación</a:t>
            </a:r>
            <a:r>
              <a:rPr lang="en-US"/>
              <a:t> ante </a:t>
            </a:r>
            <a:r>
              <a:rPr lang="en-US" err="1"/>
              <a:t>Desastres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recuperar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, </a:t>
            </a:r>
            <a:r>
              <a:rPr lang="en-US" err="1"/>
              <a:t>aplicaciones</a:t>
            </a:r>
            <a:r>
              <a:rPr lang="en-US"/>
              <a:t> y </a:t>
            </a:r>
            <a:r>
              <a:rPr lang="en-US" err="1"/>
              <a:t>datos</a:t>
            </a:r>
            <a:r>
              <a:rPr lang="en-US"/>
              <a:t> </a:t>
            </a:r>
            <a:r>
              <a:rPr lang="en-US" err="1"/>
              <a:t>después</a:t>
            </a:r>
            <a:r>
              <a:rPr lang="en-US"/>
              <a:t> de un </a:t>
            </a:r>
            <a:r>
              <a:rPr lang="en-US" err="1"/>
              <a:t>desastre</a:t>
            </a:r>
            <a:r>
              <a:rPr lang="en-US"/>
              <a:t> o </a:t>
            </a:r>
            <a:r>
              <a:rPr lang="en-US" err="1"/>
              <a:t>incidente</a:t>
            </a:r>
            <a:r>
              <a:rPr lang="en-US"/>
              <a:t> grave.</a:t>
            </a:r>
          </a:p>
          <a:p>
            <a:pPr marL="171450" indent="-171450"/>
            <a:r>
              <a:rPr lang="en-US" b="1"/>
              <a:t>BCP (</a:t>
            </a:r>
            <a:r>
              <a:rPr lang="en-US" err="1"/>
              <a:t>Continuar</a:t>
            </a:r>
            <a:r>
              <a:rPr lang="en-US"/>
              <a:t> operando</a:t>
            </a:r>
            <a:r>
              <a:rPr lang="en-US" b="1"/>
              <a:t>)/DRP (</a:t>
            </a:r>
            <a:r>
              <a:rPr lang="en-US" err="1"/>
              <a:t>Recuperar</a:t>
            </a:r>
            <a:r>
              <a:rPr lang="en-US"/>
              <a:t> la </a:t>
            </a:r>
            <a:r>
              <a:rPr lang="en-US" err="1"/>
              <a:t>tecnología</a:t>
            </a:r>
            <a:r>
              <a:rPr lang="en-US" b="1"/>
              <a:t>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integral para </a:t>
            </a:r>
            <a:r>
              <a:rPr lang="en-US" err="1"/>
              <a:t>asegurar</a:t>
            </a:r>
            <a:r>
              <a:rPr lang="en-US"/>
              <a:t> la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y la </a:t>
            </a:r>
            <a:r>
              <a:rPr lang="en-US" err="1"/>
              <a:t>recuperación</a:t>
            </a:r>
            <a:r>
              <a:rPr lang="en-US"/>
              <a:t> </a:t>
            </a:r>
            <a:r>
              <a:rPr lang="en-US" err="1"/>
              <a:t>tecnológica</a:t>
            </a:r>
            <a:r>
              <a:rPr lang="en-US"/>
              <a:t> ante </a:t>
            </a:r>
            <a:r>
              <a:rPr lang="en-US" err="1"/>
              <a:t>contingencias</a:t>
            </a:r>
            <a:r>
              <a:rPr lang="en-US"/>
              <a:t>.</a:t>
            </a:r>
          </a:p>
          <a:p>
            <a:pPr marL="158750" indent="0">
              <a:buNone/>
            </a:pPr>
            <a:endParaRPr lang="en-US"/>
          </a:p>
          <a:p>
            <a:r>
              <a:rPr lang="en-US" err="1"/>
              <a:t>Superintendencia</a:t>
            </a:r>
            <a:r>
              <a:rPr lang="en-US"/>
              <a:t> Financiera de Colombia: </a:t>
            </a:r>
            <a:r>
              <a:rPr lang="en-US">
                <a:hlinkClick r:id="rId3"/>
              </a:rPr>
              <a:t>https://www.superfinanciera.gov.co</a:t>
            </a:r>
            <a:r>
              <a:rPr lang="en-US"/>
              <a:t> </a:t>
            </a:r>
            <a:r>
              <a:rPr lang="en-US">
                <a:hlinkClick r:id="rId4"/>
              </a:rPr>
              <a:t>[</a:t>
            </a:r>
            <a:r>
              <a:rPr lang="en-US" err="1">
                <a:hlinkClick r:id="rId4"/>
              </a:rPr>
              <a:t>superfinan</a:t>
            </a:r>
            <a:r>
              <a:rPr lang="en-US">
                <a:hlinkClick r:id="rId4"/>
              </a:rPr>
              <a:t>...era.gov.co]</a:t>
            </a:r>
            <a:endParaRPr lang="es-ES"/>
          </a:p>
          <a:p>
            <a:r>
              <a:rPr lang="en-US"/>
              <a:t>Open Finance Colombia (</a:t>
            </a:r>
            <a:r>
              <a:rPr lang="en-US" err="1"/>
              <a:t>Decreto</a:t>
            </a:r>
            <a:r>
              <a:rPr lang="en-US"/>
              <a:t> 0368 de 2026): </a:t>
            </a:r>
            <a:r>
              <a:rPr lang="en-US" err="1"/>
              <a:t>Superfinanciera</a:t>
            </a:r>
            <a:r>
              <a:rPr lang="en-US"/>
              <a:t> </a:t>
            </a:r>
            <a:r>
              <a:rPr lang="en-US">
                <a:hlinkClick r:id="rId5"/>
              </a:rPr>
              <a:t>[</a:t>
            </a:r>
            <a:r>
              <a:rPr lang="en-US" err="1">
                <a:hlinkClick r:id="rId5"/>
              </a:rPr>
              <a:t>superfinan</a:t>
            </a:r>
            <a:r>
              <a:rPr lang="en-US">
                <a:hlinkClick r:id="rId5"/>
              </a:rPr>
              <a:t>...era.gov.co]</a:t>
            </a:r>
            <a:endParaRPr lang="en-US"/>
          </a:p>
          <a:p>
            <a:r>
              <a:rPr lang="en-US"/>
              <a:t>ISO/IEC 42001: </a:t>
            </a:r>
            <a:r>
              <a:rPr lang="en-US">
                <a:hlinkClick r:id="rId6"/>
              </a:rPr>
              <a:t>https://www.iso.org/standard/42001</a:t>
            </a:r>
            <a:r>
              <a:rPr lang="en-US"/>
              <a:t> </a:t>
            </a:r>
            <a:r>
              <a:rPr lang="en-US">
                <a:hlinkClick r:id="rId6"/>
              </a:rPr>
              <a:t>[iso.org]</a:t>
            </a:r>
            <a:endParaRPr lang="es-ES"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7229A-9FEE-A307-B6A0-D2AEB3C73C9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42809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>
                <a:solidFill>
                  <a:schemeClr val="tx1"/>
                </a:solidFill>
              </a:rPr>
              <a:t>De ITSM a DPSM:</a:t>
            </a:r>
            <a:r>
              <a:rPr lang="en-US">
                <a:solidFill>
                  <a:schemeClr val="tx1"/>
                </a:solidFill>
              </a:rPr>
              <a:t> ITIL (Version 5) </a:t>
            </a:r>
            <a:r>
              <a:rPr lang="en-US" err="1">
                <a:solidFill>
                  <a:schemeClr val="tx1"/>
                </a:solidFill>
              </a:rPr>
              <a:t>amplía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marco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 </a:t>
            </a:r>
            <a:r>
              <a:rPr lang="en-US" b="1">
                <a:solidFill>
                  <a:schemeClr val="tx1"/>
                </a:solidFill>
              </a:rPr>
              <a:t>Digital Product and Service Management (DPSM)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unificando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productos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digitales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aplicaciones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plataformas</a:t>
            </a:r>
            <a:r>
              <a:rPr lang="en-US">
                <a:solidFill>
                  <a:schemeClr val="tx1"/>
                </a:solidFill>
              </a:rPr>
              <a:t> y APIs junto con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servicios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reflejando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muchas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ya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gestionan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elementos</a:t>
            </a:r>
            <a:r>
              <a:rPr lang="en-US">
                <a:solidFill>
                  <a:schemeClr val="tx1"/>
                </a:solidFill>
              </a:rPr>
              <a:t> de forma </a:t>
            </a:r>
            <a:r>
              <a:rPr lang="en-US" err="1">
                <a:solidFill>
                  <a:schemeClr val="tx1"/>
                </a:solidFill>
              </a:rPr>
              <a:t>convergente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1841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ido con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731" y="459486"/>
            <a:ext cx="5266944" cy="77495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 rtl="0"/>
            <a:r>
              <a:rPr lang="es"/>
              <a:t>Haga clic para modificar el estilo de título del patrón</a:t>
            </a:r>
            <a:endParaRPr lang="en-US"/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256938" cy="51435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es"/>
              <a:t> </a:t>
            </a:r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562731" y="157734"/>
            <a:ext cx="2648578" cy="310020"/>
          </a:xfrm>
        </p:spPr>
        <p:txBody>
          <a:bodyPr rtlCol="0"/>
          <a:lstStyle/>
          <a:p>
            <a:pPr rtl="0"/>
            <a:r>
              <a:rPr lang="es"/>
              <a:t>Texto de pie de página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86724" y="157734"/>
            <a:ext cx="1259732" cy="310020"/>
          </a:xfrm>
        </p:spPr>
        <p:txBody>
          <a:bodyPr rtlCol="0"/>
          <a:lstStyle/>
          <a:p>
            <a:pPr rtl="0"/>
            <a:r>
              <a:rPr lang="en-US"/>
              <a:t>11/7/2025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753D0FD4-819D-4187-8797-C35567B41C78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2730" y="1309878"/>
            <a:ext cx="5266944" cy="3605023"/>
          </a:xfrm>
        </p:spPr>
        <p:txBody>
          <a:bodyPr rtlCol="0"/>
          <a:lstStyle/>
          <a:p>
            <a:pPr lvl="0" rtl="0"/>
            <a:r>
              <a:rPr lang="es"/>
              <a:t>Haga clic para modificar los estilos de texto del patrón</a:t>
            </a:r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259320" y="0"/>
            <a:ext cx="0" cy="51435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0418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858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  <p:sldLayoutId id="214748367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hyperlink" Target="https://fr.slideshare.net/slideshow/dit-yvol4iss03/29363674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cribd.com/document/809079051/Gartner-Repri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hyperlink" Target="https://faddom.com/wp-content/uploads/2026/03/2025-Hype-Cycle-for-ITSM-Gartner-Report.pdf" TargetMode="External"/><Relationship Id="rId4" Type="http://schemas.openxmlformats.org/officeDocument/2006/relationships/hyperlink" Target="https://blog.invgate.com/itsm-gartner-magic-quadran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ppsruntheworld.com/top-10-it-service-management-software-vendors-and-market-forecast/" TargetMode="External"/><Relationship Id="rId5" Type="http://schemas.openxmlformats.org/officeDocument/2006/relationships/hyperlink" Target="https://www.einpresswire.com/article/823090394/xla-institute-releases-groundbreaking-state-of-xla-2025-report" TargetMode="External"/><Relationship Id="rId4" Type="http://schemas.openxmlformats.org/officeDocument/2006/relationships/hyperlink" Target="https://www.peoplecert.org/news-and-announcements/itil-version-5-explained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hyperlink" Target="https://www.tcs.com/insights/blogs/generative-ai-outcome-based-pricing-models-service-desk" TargetMode="External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12" Type="http://schemas.openxmlformats.org/officeDocument/2006/relationships/hyperlink" Target="https://www.peoplecert.org/news-and-announcements/itil-version-5-explaine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hyperlink" Target="https://www.brilo.ai/resources/agentic-ai-statistics" TargetMode="External"/><Relationship Id="rId5" Type="http://schemas.openxmlformats.org/officeDocument/2006/relationships/image" Target="../media/image21.png"/><Relationship Id="rId10" Type="http://schemas.openxmlformats.org/officeDocument/2006/relationships/hyperlink" Target="https://www.dynatrace.com/news/press-release/pulse-of-agentic-ai-2026/" TargetMode="External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uperfinanciera.gov.co/publicaciones/10116043/sistema-financiero-acelera-implementacion-de-canales-digitales/" TargetMode="External"/><Relationship Id="rId5" Type="http://schemas.openxmlformats.org/officeDocument/2006/relationships/hyperlink" Target="https://www.grandviewresearch.com/industry-analysis/it-service-management-market" TargetMode="External"/><Relationship Id="rId4" Type="http://schemas.openxmlformats.org/officeDocument/2006/relationships/hyperlink" Target="https://www.mordorintelligence.com/industry-reports/south-america-information-technology-service-management-itsm-market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givainc.com/blog/shift-left-analysis-how-to-guide-maximize-it-service-management-itsm-efficiency/" TargetMode="External"/><Relationship Id="rId4" Type="http://schemas.openxmlformats.org/officeDocument/2006/relationships/hyperlink" Target="https://www.ivanti.com/en-gb/blog/agentic-ai-it-service-autonom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hinkhdi.com/library/supportworld/2023/metrics-matter-for-it-support/" TargetMode="External"/><Relationship Id="rId13" Type="http://schemas.openxmlformats.org/officeDocument/2006/relationships/hyperlink" Target="https://www.servicedeskinstitute.com/resources/itsm-statistics-facts-and-trends-for-2024/" TargetMode="External"/><Relationship Id="rId3" Type="http://schemas.openxmlformats.org/officeDocument/2006/relationships/hyperlink" Target="https://www.sqmgroup.com/resources/library/blog/what-good-first-call-resolution-rate" TargetMode="External"/><Relationship Id="rId7" Type="http://schemas.openxmlformats.org/officeDocument/2006/relationships/hyperlink" Target="https://irisagent.com/customer-support-metrics/" TargetMode="External"/><Relationship Id="rId12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elpdeskfocus.com/help-desk-metrics.html" TargetMode="External"/><Relationship Id="rId11" Type="http://schemas.openxmlformats.org/officeDocument/2006/relationships/hyperlink" Target="https://assets.contentstack.io/v3/assets/blt28ff6c4a2cf43126/blt03f46879a7d17fbc/68e4fbe251ce6710ec093b1a/2509_ITSM_ebook_StateofITSM.pdf" TargetMode="External"/><Relationship Id="rId5" Type="http://schemas.openxmlformats.org/officeDocument/2006/relationships/hyperlink" Target="https://www.thinkhdi.com/~/media/HDICorp/Files/Library-Archive/Insider%20Articles/mean-time-to-resolve.pdf" TargetMode="External"/><Relationship Id="rId10" Type="http://schemas.openxmlformats.org/officeDocument/2006/relationships/hyperlink" Target="https://kwestra.com/insights/itsm-automation-roi/" TargetMode="External"/><Relationship Id="rId4" Type="http://schemas.openxmlformats.org/officeDocument/2006/relationships/hyperlink" Target="https://www.thinkhdi.com/~/media/HDICorp/Files/Library-Archive/Insider%20Articles/First%20Contact%20Resolution.pdf" TargetMode="External"/><Relationship Id="rId9" Type="http://schemas.openxmlformats.org/officeDocument/2006/relationships/hyperlink" Target="https://www.givainc.com/blog/shift-left-analysis-how-to-guide-maximize-it-service-management-itsm-efficiency/" TargetMode="External"/><Relationship Id="rId14" Type="http://schemas.openxmlformats.org/officeDocument/2006/relationships/hyperlink" Target="https://stealthagents.com/research/ai-it-helpdesk-automation-statistics-202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arketreportsworld.com/" TargetMode="External"/><Relationship Id="rId3" Type="http://schemas.openxmlformats.org/officeDocument/2006/relationships/hyperlink" Target="https://www.brilo.ai/resources/agentic-ai-statistics" TargetMode="External"/><Relationship Id="rId7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iit.io/blog/benefits-of-outsourcing-help-desk-services%20%20" TargetMode="Externa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dynatrace.com/news/press-release/pulse-of-agentic-ai-2026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natrace.com/news/press-release/pulse-of-agentic-ai-2026/" TargetMode="External"/><Relationship Id="rId7" Type="http://schemas.openxmlformats.org/officeDocument/2006/relationships/image" Target="../media/image29.svg"/><Relationship Id="rId2" Type="http://schemas.openxmlformats.org/officeDocument/2006/relationships/hyperlink" Target="https://www.brilo.ai/resources/agentic-ai-statistic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svg"/><Relationship Id="rId5" Type="http://schemas.openxmlformats.org/officeDocument/2006/relationships/image" Target="../media/image23.png"/><Relationship Id="rId4" Type="http://schemas.openxmlformats.org/officeDocument/2006/relationships/hyperlink" Target="https://www.tidelineinsights.com/blog/itil-5-whats-coming.html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 (Next Gen)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Estudio de Mercado 2026 y</a:t>
            </a:r>
            <a:endParaRPr lang="es-ES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Que busca la Mesa de Servicio de Nueva Generación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Beneficios eperados de la Mesa de Servicio de Nueva Generación (Servicio Optimo)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46303" y="2097201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60615" y="2469792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60615" y="2739692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7853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489428" y="2097201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70374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703740" y="2953557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2166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421" y="2012439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32553" y="2097201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46865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46865" y="2953557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6478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40" y="2006159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75678" y="2097201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698999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6989991" y="2953558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50791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063" y="1974765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1100" y="1929492"/>
            <a:ext cx="332015" cy="326572"/>
          </a:xfrm>
          <a:prstGeom prst="rect">
            <a:avLst/>
          </a:prstGeom>
        </p:spPr>
      </p:pic>
      <p:pic>
        <p:nvPicPr>
          <p:cNvPr id="7" name="Gráfico 6" descr="Diana con relleno sólido">
            <a:extLst>
              <a:ext uri="{FF2B5EF4-FFF2-40B4-BE49-F238E27FC236}">
                <a16:creationId xmlns:a16="http://schemas.microsoft.com/office/drawing/2014/main" id="{30664D31-7980-9DC7-D952-39F7E0D5E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2679" y="699406"/>
            <a:ext cx="533401" cy="538844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D73067EA-462D-AC3B-A37F-02C6FD7451E3}"/>
              </a:ext>
            </a:extLst>
          </p:cNvPr>
          <p:cNvSpPr/>
          <p:nvPr/>
        </p:nvSpPr>
        <p:spPr>
          <a:xfrm>
            <a:off x="5680813" y="772610"/>
            <a:ext cx="3078277" cy="7363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 dirty="0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200" kern="0" spc="-81" dirty="0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200" kern="0" spc="-81" dirty="0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200" kern="0" spc="-81" dirty="0">
              <a:solidFill>
                <a:srgbClr val="00B050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8888" y="223758"/>
            <a:ext cx="3375254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58888" y="637713"/>
            <a:ext cx="3375254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08651" y="514786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 de estándares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niveles de servicio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indexada a FTE que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 barreras críticas para el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gestión de conocimiento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000" kern="0" spc="-23" dirty="0">
                <a:latin typeface="Reddit Sans"/>
                <a:ea typeface="Reddit Sans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000" kern="0" spc="-23" dirty="0">
                <a:latin typeface="Reddit Sans"/>
                <a:ea typeface="Reddit Sans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altos. Para que un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Softer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tenga independencia y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autonomia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en la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operacipon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cliente puede tomar hasta de 6 mese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(XM).</a:t>
            </a:r>
          </a:p>
        </p:txBody>
      </p:sp>
      <p:sp>
        <p:nvSpPr>
          <p:cNvPr id="7" name="Text 4"/>
          <p:cNvSpPr/>
          <p:nvPr/>
        </p:nvSpPr>
        <p:spPr>
          <a:xfrm>
            <a:off x="6373245" y="514786"/>
            <a:ext cx="2393156" cy="43101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dirty="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000" dirty="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en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Preventa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claridad en los roles y perfiles para dimensionar las mesas de servicio por 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niveles.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marL="180975" indent="-180975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  <a:cs typeface="Arial"/>
              </a:rPr>
              <a:t>Tareas manuales para gestionar los </a:t>
            </a:r>
            <a:r>
              <a:rPr lang="es-CO" sz="1200" kern="0" spc="-23" dirty="0">
                <a:solidFill>
                  <a:srgbClr val="333333"/>
                </a:solidFill>
                <a:latin typeface="Reddit Sans"/>
                <a:ea typeface="Reddit Sans"/>
                <a:cs typeface="Arial"/>
              </a:rPr>
              <a:t>recargos</a:t>
            </a:r>
            <a:endParaRPr lang="en-US" sz="1000"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16" y="1246699"/>
            <a:ext cx="2448886" cy="1646486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51051" y="3067485"/>
            <a:ext cx="3519827" cy="197275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 de la disponibilidad del equipo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tecnología que soporta, y verse reflejado en horas extras que no hace parte de la bolsa de horas que paga el cliente. (XM)</a:t>
            </a:r>
          </a:p>
          <a:p>
            <a:pPr marL="180975" lvl="1" indent="-180975" fontAlgn="ctr">
              <a:lnSpc>
                <a:spcPts val="1685"/>
              </a:lnSpc>
              <a:buClr>
                <a:srgbClr val="22AAEE"/>
              </a:buClr>
              <a:buSzPct val="120000"/>
              <a:buFont typeface="Arial"/>
              <a:buChar char="•"/>
            </a:pPr>
            <a:endParaRPr lang="es-CO" sz="1000" kern="0" spc="-88" dirty="0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Font typeface="Arial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</a:rPr>
              <a:t>Pla n Carrera</a:t>
            </a:r>
          </a:p>
          <a:p>
            <a:pPr fontAlgn="ctr">
              <a:lnSpc>
                <a:spcPts val="1685"/>
              </a:lnSpc>
              <a:buClr>
                <a:srgbClr val="22AAEE"/>
              </a:buClr>
              <a:buSzPct val="120000"/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 Crecimiento profesional estandarizado por etapas 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 cada   mesa de soporte.</a:t>
            </a:r>
          </a:p>
        </p:txBody>
      </p:sp>
    </p:spTree>
    <p:extLst>
      <p:ext uri="{BB962C8B-B14F-4D97-AF65-F5344CB8AC3E}">
        <p14:creationId xmlns:p14="http://schemas.microsoft.com/office/powerpoint/2010/main" val="1854224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2810" y="994410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Falta de marcos de control y estandarización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en los procesos actuales. (Hay un coordinador para varias mesas). </a:t>
            </a:r>
            <a:r>
              <a:rPr lang="es-CO" sz="900" b="1" dirty="0">
                <a:solidFill>
                  <a:srgbClr val="505050"/>
                </a:solidFill>
                <a:latin typeface="Reddit Sans"/>
                <a:ea typeface="Reddit Sans"/>
              </a:rPr>
              <a:t>No tocar nada en ambiente de </a:t>
            </a:r>
            <a:r>
              <a:rPr lang="es-CO" sz="900" b="1" dirty="0" err="1">
                <a:solidFill>
                  <a:srgbClr val="505050"/>
                </a:solidFill>
                <a:latin typeface="Reddit Sans"/>
                <a:ea typeface="Reddit Sans"/>
              </a:rPr>
              <a:t>produccion</a:t>
            </a:r>
            <a:r>
              <a:rPr lang="es-CO" sz="900" b="1" dirty="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58790" y="994410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FTE, limitando la capacidad de escalar eficientemente.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solidFill>
                <a:srgbClr val="505050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84770" y="994410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600" b="1" dirty="0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Alta dependencia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de tareas manuales y procesos operativos repetitivos. (Gestión de recargos y horas extras)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10750" y="994410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700" b="1" dirty="0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latin typeface="Reddit Sans"/>
                <a:ea typeface="Reddit Sans"/>
              </a:rPr>
              <a:t>Conocimiento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concentrado en personas, generando riesgos de continuidad. No hay herramientas de gestión de </a:t>
            </a:r>
            <a:r>
              <a:rPr lang="es-CO" sz="900">
                <a:latin typeface="Reddit Sans"/>
                <a:ea typeface="Reddit Sans"/>
              </a:rPr>
              <a:t>conocimiento. Habilidades blandas.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0" y="2596786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 err="1">
                <a:solidFill>
                  <a:srgbClr val="505050"/>
                </a:solidFill>
                <a:latin typeface="Reddit Sans"/>
                <a:ea typeface="Reddit Sans"/>
              </a:rPr>
              <a:t>KPIs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 y SLA definidos de forma diferente entre mesas, limitando la visibilidad y la gestión unificada del servicio.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>
              <a:latin typeface="Reddit Sans"/>
              <a:ea typeface="Reddit San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558790" y="2596786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 err="1">
                <a:latin typeface="Reddit Sans"/>
                <a:ea typeface="Reddit Sans"/>
              </a:rPr>
              <a:t>Onboarding</a:t>
            </a:r>
            <a:r>
              <a:rPr lang="es-CO" sz="900" dirty="0">
                <a:latin typeface="Reddit Sans"/>
                <a:ea typeface="Reddit Sans"/>
              </a:rPr>
              <a:t> con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alta fricción y dependencia de personal clave para alcanzar autonomía operativa. 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84770" y="2596786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Desalineación entre la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expectativa comercial y la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realidad operativa, resultando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en </a:t>
            </a:r>
            <a:r>
              <a:rPr lang="es-CO" sz="900" dirty="0" err="1">
                <a:solidFill>
                  <a:srgbClr val="505050"/>
                </a:solidFill>
                <a:latin typeface="Reddit Sans"/>
                <a:ea typeface="Reddit Sans"/>
              </a:rPr>
              <a:t>sub-dimensionamiento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solidFill>
                <a:srgbClr val="505050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n-US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10750" y="2596786"/>
            <a:ext cx="1954530" cy="1389562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Capacidad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Dependencia de personal especializado, cobertura limitada y ausencia de rutas de crecimiento estandarizadas</a:t>
            </a:r>
            <a:endParaRPr lang="es-CO"/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>
              <a:latin typeface="Reddit Sans"/>
              <a:ea typeface="Reddit San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1431" y="4275473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La Mesa de Servicio de Nueva Generación de ser </a:t>
            </a:r>
            <a:r>
              <a:rPr lang="en-US" sz="1050" err="1">
                <a:latin typeface="Reddit Sans"/>
                <a:ea typeface="Reddit Sans"/>
              </a:rPr>
              <a:t>una</a:t>
            </a:r>
            <a:r>
              <a:rPr lang="en-US" sz="1050">
                <a:latin typeface="Reddit Sans"/>
                <a:ea typeface="Reddit Sans"/>
              </a:rPr>
              <a:t> 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80601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4C0431D9-90B7-34B2-1387-27756297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635B94C3-2E23-F602-A2C2-943F546B80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F48E14B7-D436-CC99-C5A9-E74D13669B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Estudio de Mercado</a:t>
            </a:r>
          </a:p>
        </p:txBody>
      </p:sp>
    </p:spTree>
    <p:extLst>
      <p:ext uri="{BB962C8B-B14F-4D97-AF65-F5344CB8AC3E}">
        <p14:creationId xmlns:p14="http://schemas.microsoft.com/office/powerpoint/2010/main" val="592861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29F7-1267-1991-7F32-6D05A710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102"/>
          <p:cNvSpPr/>
          <p:nvPr/>
        </p:nvSpPr>
        <p:spPr>
          <a:xfrm>
            <a:off x="502920" y="822960"/>
            <a:ext cx="8138160" cy="5120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E2E6EA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" name="Caption">
            <a:extLst>
              <a:ext uri="{FF2B5EF4-FFF2-40B4-BE49-F238E27FC236}">
                <a16:creationId xmlns:a16="http://schemas.microsoft.com/office/drawing/2014/main" id="{F51B6F8F-CFDF-9B40-AAA2-D9EFBD076B89}"/>
              </a:ext>
            </a:extLst>
          </p:cNvPr>
          <p:cNvSpPr txBox="1"/>
          <p:nvPr/>
        </p:nvSpPr>
        <p:spPr>
          <a:xfrm>
            <a:off x="341414" y="4660743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700">
                <a:solidFill>
                  <a:schemeClr val="bg2"/>
                </a:solidFill>
                <a:latin typeface="Reddit Sans"/>
                <a:ea typeface="Reddit Sans"/>
              </a:rPr>
              <a:t>Fuentes: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3"/>
              </a:rPr>
              <a:t>DITY/SlideShare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4"/>
              </a:rPr>
              <a:t>ServiceNow Newsroom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5"/>
              </a:rPr>
              <a:t>Ivanti</a:t>
            </a:r>
            <a:endParaRPr lang="es-ES" sz="700">
              <a:solidFill>
                <a:srgbClr val="E6EDF3"/>
              </a:solidFill>
              <a:latin typeface="Reddit Sans"/>
              <a:ea typeface="Reddit Sans"/>
            </a:endParaRPr>
          </a:p>
        </p:txBody>
      </p:sp>
      <p:sp>
        <p:nvSpPr>
          <p:cNvPr id="101" name="tx101"/>
          <p:cNvSpPr txBox="1"/>
          <p:nvPr/>
        </p:nvSpPr>
        <p:spPr>
          <a:xfrm>
            <a:off x="2743200" y="548640"/>
            <a:ext cx="3657600" cy="21945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/>
            <a:r>
              <a:rPr lang="es-ES" sz="1000">
                <a:solidFill>
                  <a:srgbClr val="5A6B7B"/>
                </a:solidFill>
                <a:latin typeface="Reddit Sans"/>
                <a:ea typeface="Reddit Sans"/>
              </a:rPr>
              <a:t>Evolución del Valor</a:t>
            </a:r>
            <a:endParaRPr lang="es-ES"/>
          </a:p>
        </p:txBody>
      </p:sp>
      <p:sp>
        <p:nvSpPr>
          <p:cNvPr id="103" name="tx103"/>
          <p:cNvSpPr txBox="1"/>
          <p:nvPr/>
        </p:nvSpPr>
        <p:spPr>
          <a:xfrm>
            <a:off x="1234440" y="859536"/>
            <a:ext cx="128016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1F3A5B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04" name="tx104"/>
          <p:cNvSpPr txBox="1"/>
          <p:nvPr/>
        </p:nvSpPr>
        <p:spPr>
          <a:xfrm>
            <a:off x="960120" y="1115568"/>
            <a:ext cx="182880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Infraestructura</a:t>
            </a:r>
          </a:p>
        </p:txBody>
      </p:sp>
      <p:sp>
        <p:nvSpPr>
          <p:cNvPr id="105" name="sh105"/>
          <p:cNvSpPr/>
          <p:nvPr/>
        </p:nvSpPr>
        <p:spPr>
          <a:xfrm>
            <a:off x="1874520" y="896112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6" name="sh106"/>
          <p:cNvSpPr/>
          <p:nvPr/>
        </p:nvSpPr>
        <p:spPr>
          <a:xfrm>
            <a:off x="1874520" y="1005840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7" name="sh107"/>
          <p:cNvSpPr/>
          <p:nvPr/>
        </p:nvSpPr>
        <p:spPr>
          <a:xfrm>
            <a:off x="1874520" y="1115568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sh108"/>
          <p:cNvSpPr/>
          <p:nvPr/>
        </p:nvSpPr>
        <p:spPr>
          <a:xfrm>
            <a:off x="2542032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tx109"/>
          <p:cNvSpPr txBox="1"/>
          <p:nvPr/>
        </p:nvSpPr>
        <p:spPr>
          <a:xfrm>
            <a:off x="4138749" y="854094"/>
            <a:ext cx="605246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2E7E85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10" name="tx110"/>
          <p:cNvSpPr txBox="1"/>
          <p:nvPr/>
        </p:nvSpPr>
        <p:spPr>
          <a:xfrm>
            <a:off x="4042954" y="1115568"/>
            <a:ext cx="173736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Procesos</a:t>
            </a:r>
          </a:p>
        </p:txBody>
      </p:sp>
      <p:sp>
        <p:nvSpPr>
          <p:cNvPr id="111" name="sh111"/>
          <p:cNvSpPr/>
          <p:nvPr/>
        </p:nvSpPr>
        <p:spPr>
          <a:xfrm>
            <a:off x="4800600" y="877824"/>
            <a:ext cx="310896" cy="31089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2" name="sh112"/>
          <p:cNvSpPr/>
          <p:nvPr/>
        </p:nvSpPr>
        <p:spPr>
          <a:xfrm>
            <a:off x="5532120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4E9A3B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tx113"/>
          <p:cNvSpPr txBox="1"/>
          <p:nvPr/>
        </p:nvSpPr>
        <p:spPr>
          <a:xfrm>
            <a:off x="7113814" y="854094"/>
            <a:ext cx="804455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4E9A3B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14" name="tx114"/>
          <p:cNvSpPr txBox="1"/>
          <p:nvPr/>
        </p:nvSpPr>
        <p:spPr>
          <a:xfrm>
            <a:off x="6720840" y="1115568"/>
            <a:ext cx="19202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Conocimiento del negocio</a:t>
            </a:r>
          </a:p>
        </p:txBody>
      </p:sp>
      <p:sp>
        <p:nvSpPr>
          <p:cNvPr id="116" name="sh116"/>
          <p:cNvSpPr/>
          <p:nvPr/>
        </p:nvSpPr>
        <p:spPr>
          <a:xfrm>
            <a:off x="960120" y="2320747"/>
            <a:ext cx="7269480" cy="21946"/>
          </a:xfrm>
          <a:prstGeom prst="roundRect">
            <a:avLst>
              <a:gd name="adj" fmla="val 5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7" name="arrowtip"/>
          <p:cNvSpPr/>
          <p:nvPr/>
        </p:nvSpPr>
        <p:spPr>
          <a:xfrm>
            <a:off x="8193024" y="2281428"/>
            <a:ext cx="146304" cy="100584"/>
          </a:xfrm>
          <a:prstGeom prst="rightArrow">
            <a:avLst>
              <a:gd name="adj1" fmla="val 40000"/>
              <a:gd name="adj2" fmla="val 6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8" name="sh118"/>
          <p:cNvSpPr/>
          <p:nvPr/>
        </p:nvSpPr>
        <p:spPr>
          <a:xfrm>
            <a:off x="594360" y="1965960"/>
            <a:ext cx="731520" cy="731520"/>
          </a:xfrm>
          <a:prstGeom prst="ellipse">
            <a:avLst/>
          </a:prstGeom>
          <a:solidFill>
            <a:srgbClr val="78746B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19" name="sh119"/>
          <p:cNvSpPr/>
          <p:nvPr/>
        </p:nvSpPr>
        <p:spPr>
          <a:xfrm>
            <a:off x="1920240" y="1965960"/>
            <a:ext cx="731520" cy="731520"/>
          </a:xfrm>
          <a:prstGeom prst="ellipse">
            <a:avLst/>
          </a:prstGeom>
          <a:solidFill>
            <a:srgbClr val="2E7E85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20" name="sh120"/>
          <p:cNvSpPr/>
          <p:nvPr/>
        </p:nvSpPr>
        <p:spPr>
          <a:xfrm>
            <a:off x="3246120" y="1965960"/>
            <a:ext cx="731520" cy="731520"/>
          </a:xfrm>
          <a:prstGeom prst="ellipse">
            <a:avLst/>
          </a:prstGeom>
          <a:solidFill>
            <a:srgbClr val="A447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21" name="sh121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8B4357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22" name="sh122"/>
          <p:cNvSpPr/>
          <p:nvPr/>
        </p:nvSpPr>
        <p:spPr>
          <a:xfrm>
            <a:off x="5897880" y="1965960"/>
            <a:ext cx="731520" cy="731520"/>
          </a:xfrm>
          <a:prstGeom prst="ellipse">
            <a:avLst/>
          </a:prstGeom>
          <a:solidFill>
            <a:srgbClr val="D2A0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23" name="sh123"/>
          <p:cNvSpPr/>
          <p:nvPr/>
        </p:nvSpPr>
        <p:spPr>
          <a:xfrm>
            <a:off x="7452360" y="1965960"/>
            <a:ext cx="731520" cy="731520"/>
          </a:xfrm>
          <a:prstGeom prst="ellipse">
            <a:avLst/>
          </a:prstGeom>
          <a:solidFill>
            <a:srgbClr val="24406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AUTONO</a:t>
            </a:r>
          </a:p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MO</a:t>
            </a:r>
          </a:p>
        </p:txBody>
      </p:sp>
      <p:sp>
        <p:nvSpPr>
          <p:cNvPr id="124" name="tx124"/>
          <p:cNvSpPr txBox="1"/>
          <p:nvPr/>
        </p:nvSpPr>
        <p:spPr>
          <a:xfrm>
            <a:off x="320040" y="1572768"/>
            <a:ext cx="128016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5A6B7B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125" name="tx125"/>
          <p:cNvSpPr txBox="1"/>
          <p:nvPr/>
        </p:nvSpPr>
        <p:spPr>
          <a:xfrm>
            <a:off x="148154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2E7E85"/>
                </a:solidFill>
                <a:latin typeface="Reddit Sans"/>
                <a:ea typeface="Reddit Sans"/>
              </a:rPr>
              <a:t>Service </a:t>
            </a:r>
            <a:r>
              <a:rPr lang="es-ES" sz="900" b="1" dirty="0" err="1">
                <a:solidFill>
                  <a:srgbClr val="2E7E85"/>
                </a:solidFill>
                <a:latin typeface="Reddit Sans"/>
                <a:ea typeface="Reddit Sans"/>
              </a:rPr>
              <a:t>Desk</a:t>
            </a:r>
            <a:endParaRPr lang="es-ES" sz="900" b="1" dirty="0">
              <a:solidFill>
                <a:srgbClr val="2E7E85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ITIL v2/v3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2001–2007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126" name="tx126"/>
          <p:cNvSpPr txBox="1"/>
          <p:nvPr/>
        </p:nvSpPr>
        <p:spPr>
          <a:xfrm>
            <a:off x="413330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8B4357"/>
                </a:solidFill>
                <a:latin typeface="Reddit Sans"/>
                <a:ea typeface="Reddit Sans"/>
              </a:rPr>
              <a:t>Digital </a:t>
            </a:r>
            <a:r>
              <a:rPr lang="es-ES" sz="900" b="1" dirty="0" err="1">
                <a:solidFill>
                  <a:srgbClr val="8B4357"/>
                </a:solidFill>
                <a:latin typeface="Reddit Sans"/>
                <a:ea typeface="Reddit Sans"/>
              </a:rPr>
              <a:t>Workplace</a:t>
            </a:r>
            <a:endParaRPr lang="es-ES" sz="900" b="1" dirty="0">
              <a:solidFill>
                <a:srgbClr val="8B4357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2015–2020</a:t>
            </a: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NLP,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Chatbot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27" name="tx127"/>
          <p:cNvSpPr txBox="1"/>
          <p:nvPr/>
        </p:nvSpPr>
        <p:spPr>
          <a:xfrm>
            <a:off x="7034349" y="1476974"/>
            <a:ext cx="160020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 err="1">
                <a:solidFill>
                  <a:srgbClr val="24406A"/>
                </a:solidFill>
                <a:latin typeface="Reddit Sans"/>
                <a:ea typeface="Reddit Sans"/>
              </a:rPr>
              <a:t>Autonomo</a:t>
            </a:r>
            <a:endParaRPr lang="es-ES" sz="900" b="1" dirty="0">
              <a:solidFill>
                <a:srgbClr val="24406A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Service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Desk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2023–2026+</a:t>
            </a:r>
          </a:p>
          <a:p>
            <a:pPr algn="ctr">
              <a:lnSpc>
                <a:spcPct val="95000"/>
              </a:lnSpc>
            </a:pP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Agentic</a:t>
            </a: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128" name="tx128"/>
          <p:cNvSpPr txBox="1"/>
          <p:nvPr/>
        </p:nvSpPr>
        <p:spPr>
          <a:xfrm>
            <a:off x="182880" y="2761488"/>
            <a:ext cx="15544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33383D"/>
                </a:solidFill>
                <a:latin typeface="Reddit Sans"/>
                <a:ea typeface="Reddit Sans"/>
              </a:rPr>
              <a:t>Help </a:t>
            </a:r>
            <a:r>
              <a:rPr lang="es-ES" sz="900" b="1" dirty="0" err="1">
                <a:solidFill>
                  <a:srgbClr val="33383D"/>
                </a:solidFill>
                <a:latin typeface="Reddit Sans"/>
                <a:ea typeface="Reddit Sans"/>
              </a:rPr>
              <a:t>Desk</a:t>
            </a:r>
            <a:endParaRPr lang="es-ES" sz="900" b="1">
              <a:solidFill>
                <a:srgbClr val="33383D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1970s–90s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129" name="tx129"/>
          <p:cNvSpPr txBox="1"/>
          <p:nvPr/>
        </p:nvSpPr>
        <p:spPr>
          <a:xfrm>
            <a:off x="2743200" y="2761488"/>
            <a:ext cx="173736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A4472A"/>
                </a:solidFill>
                <a:latin typeface="Reddit Sans"/>
                <a:ea typeface="Reddit Sans"/>
              </a:rPr>
              <a:t>Enterprise Service</a:t>
            </a:r>
          </a:p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A4472A"/>
                </a:solidFill>
                <a:latin typeface="Reddit Sans"/>
                <a:ea typeface="Reddit Sans"/>
              </a:rPr>
              <a:t>Management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2010–2016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130" name="tx130"/>
          <p:cNvSpPr txBox="1"/>
          <p:nvPr/>
        </p:nvSpPr>
        <p:spPr>
          <a:xfrm>
            <a:off x="5372100" y="2761488"/>
            <a:ext cx="17830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C08A1E"/>
                </a:solidFill>
                <a:latin typeface="Reddit Sans"/>
                <a:ea typeface="Reddit Sans"/>
              </a:rPr>
              <a:t>AITSM (Artificial </a:t>
            </a:r>
            <a:r>
              <a:rPr lang="es-ES" sz="900" b="1" dirty="0" err="1">
                <a:solidFill>
                  <a:srgbClr val="C08A1E"/>
                </a:solidFill>
                <a:latin typeface="Reddit Sans"/>
                <a:ea typeface="Reddit Sans"/>
              </a:rPr>
              <a:t>Intelligence</a:t>
            </a:r>
            <a:endParaRPr lang="es-ES" sz="900" b="1" dirty="0">
              <a:solidFill>
                <a:srgbClr val="C08A1E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900" b="1" dirty="0" err="1">
                <a:solidFill>
                  <a:srgbClr val="C08A1E"/>
                </a:solidFill>
                <a:latin typeface="Reddit Sans"/>
                <a:ea typeface="Reddit Sans"/>
              </a:rPr>
              <a:t>for</a:t>
            </a:r>
            <a:r>
              <a:rPr lang="es-ES" sz="900" b="1" dirty="0">
                <a:solidFill>
                  <a:srgbClr val="C08A1E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2020–2023</a:t>
            </a: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AI-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Augmented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GenAI ·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AIOps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31" name="sh131"/>
          <p:cNvSpPr/>
          <p:nvPr/>
        </p:nvSpPr>
        <p:spPr>
          <a:xfrm>
            <a:off x="609601" y="3447939"/>
            <a:ext cx="5613543" cy="1075074"/>
          </a:xfrm>
          <a:prstGeom prst="roundRect">
            <a:avLst>
              <a:gd name="adj" fmla="val 8000"/>
            </a:avLst>
          </a:prstGeom>
          <a:ln w="127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4" name="tx134"/>
          <p:cNvSpPr txBox="1"/>
          <p:nvPr/>
        </p:nvSpPr>
        <p:spPr>
          <a:xfrm>
            <a:off x="1395548" y="3522617"/>
            <a:ext cx="2834640" cy="38404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La evolución de la mesa no es hacia más tickets. </a:t>
            </a:r>
          </a:p>
          <a:p>
            <a:pPr algn="l">
              <a:lnSpc>
                <a:spcPct val="95000"/>
              </a:lnSpc>
            </a:pPr>
            <a:r>
              <a:rPr lang="es-ES" sz="900" b="1">
                <a:solidFill>
                  <a:schemeClr val="accent5"/>
                </a:solidFill>
                <a:latin typeface="Reddit Sans"/>
                <a:ea typeface="Reddit Sans"/>
              </a:rPr>
              <a:t>Es hacia más conocimiento del negocio</a:t>
            </a: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35" name="sh135"/>
          <p:cNvSpPr/>
          <p:nvPr/>
        </p:nvSpPr>
        <p:spPr>
          <a:xfrm>
            <a:off x="1002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6" name="tx136"/>
          <p:cNvSpPr txBox="1"/>
          <p:nvPr/>
        </p:nvSpPr>
        <p:spPr>
          <a:xfrm>
            <a:off x="728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37" name="tx137"/>
          <p:cNvSpPr txBox="1"/>
          <p:nvPr/>
        </p:nvSpPr>
        <p:spPr>
          <a:xfrm>
            <a:off x="609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tecnología</a:t>
            </a:r>
          </a:p>
        </p:txBody>
      </p:sp>
      <p:cxnSp>
        <p:nvCxnSpPr>
          <p:cNvPr id="138" name="cx138"/>
          <p:cNvCxnSpPr/>
          <p:nvPr/>
        </p:nvCxnSpPr>
        <p:spPr>
          <a:xfrm>
            <a:off x="1280813" y="4091723"/>
            <a:ext cx="817300" cy="0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39" name="sh139"/>
          <p:cNvSpPr/>
          <p:nvPr/>
        </p:nvSpPr>
        <p:spPr>
          <a:xfrm>
            <a:off x="2145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0" name="tx140"/>
          <p:cNvSpPr txBox="1"/>
          <p:nvPr/>
        </p:nvSpPr>
        <p:spPr>
          <a:xfrm>
            <a:off x="1871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41" name="tx141"/>
          <p:cNvSpPr txBox="1"/>
          <p:nvPr/>
        </p:nvSpPr>
        <p:spPr>
          <a:xfrm>
            <a:off x="1752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procesos</a:t>
            </a:r>
          </a:p>
        </p:txBody>
      </p:sp>
      <p:cxnSp>
        <p:nvCxnSpPr>
          <p:cNvPr id="142" name="cx142"/>
          <p:cNvCxnSpPr/>
          <p:nvPr/>
        </p:nvCxnSpPr>
        <p:spPr>
          <a:xfrm flipV="1">
            <a:off x="2461912" y="4091723"/>
            <a:ext cx="828186" cy="5442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43" name="sh143"/>
          <p:cNvSpPr/>
          <p:nvPr/>
        </p:nvSpPr>
        <p:spPr>
          <a:xfrm>
            <a:off x="3288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4" name="tx144"/>
          <p:cNvSpPr txBox="1"/>
          <p:nvPr/>
        </p:nvSpPr>
        <p:spPr>
          <a:xfrm>
            <a:off x="3014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45" name="tx145"/>
          <p:cNvSpPr txBox="1"/>
          <p:nvPr/>
        </p:nvSpPr>
        <p:spPr>
          <a:xfrm>
            <a:off x="2895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conocimiento y valor</a:t>
            </a:r>
          </a:p>
        </p:txBody>
      </p:sp>
      <p:sp>
        <p:nvSpPr>
          <p:cNvPr id="146" name="sh146"/>
          <p:cNvSpPr/>
          <p:nvPr/>
        </p:nvSpPr>
        <p:spPr>
          <a:xfrm>
            <a:off x="4353197" y="3496927"/>
            <a:ext cx="1832064" cy="971657"/>
          </a:xfrm>
          <a:prstGeom prst="roundRect">
            <a:avLst>
              <a:gd name="adj" fmla="val 8000"/>
            </a:avLst>
          </a:prstGeom>
          <a:solidFill>
            <a:srgbClr val="FBFCFD"/>
          </a:solidFill>
          <a:ln w="9525">
            <a:solidFill>
              <a:srgbClr val="DCE1E6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0" name="tx150"/>
          <p:cNvSpPr txBox="1"/>
          <p:nvPr/>
        </p:nvSpPr>
        <p:spPr>
          <a:xfrm>
            <a:off x="4934494" y="3557669"/>
            <a:ext cx="118872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KCS + IA habilita el salto final:</a:t>
            </a:r>
          </a:p>
        </p:txBody>
      </p:sp>
      <p:sp>
        <p:nvSpPr>
          <p:cNvPr id="151" name="tx151"/>
          <p:cNvSpPr txBox="1"/>
          <p:nvPr/>
        </p:nvSpPr>
        <p:spPr>
          <a:xfrm>
            <a:off x="4477294" y="4078877"/>
            <a:ext cx="1627632" cy="4114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850">
                <a:solidFill>
                  <a:srgbClr val="4E9A3B"/>
                </a:solidFill>
                <a:latin typeface="Reddit Sans"/>
                <a:ea typeface="Reddit Sans"/>
              </a:rPr>
              <a:t>de soporte operativo a experto en el negocio del cliente.</a:t>
            </a:r>
          </a:p>
        </p:txBody>
      </p:sp>
      <p:sp>
        <p:nvSpPr>
          <p:cNvPr id="152" name="sh152"/>
          <p:cNvSpPr/>
          <p:nvPr/>
        </p:nvSpPr>
        <p:spPr>
          <a:xfrm>
            <a:off x="7031300" y="2903656"/>
            <a:ext cx="1709711" cy="166834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6AA84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4" name="tx154"/>
          <p:cNvSpPr txBox="1"/>
          <p:nvPr/>
        </p:nvSpPr>
        <p:spPr>
          <a:xfrm>
            <a:off x="7585165" y="3049526"/>
            <a:ext cx="1325881" cy="3500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 b="1">
                <a:solidFill>
                  <a:srgbClr val="1F5FA6"/>
                </a:solidFill>
                <a:latin typeface="Reddit Sans"/>
                <a:ea typeface="Reddit Sans"/>
              </a:rPr>
              <a:t>KCS + IA</a:t>
            </a:r>
          </a:p>
        </p:txBody>
      </p:sp>
      <p:sp>
        <p:nvSpPr>
          <p:cNvPr id="155" name="tx155"/>
          <p:cNvSpPr txBox="1"/>
          <p:nvPr/>
        </p:nvSpPr>
        <p:spPr>
          <a:xfrm>
            <a:off x="7525293" y="3245250"/>
            <a:ext cx="1325881" cy="32091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50" b="1">
                <a:solidFill>
                  <a:srgbClr val="4E9A3B"/>
                </a:solidFill>
                <a:latin typeface="Reddit Sans"/>
                <a:ea typeface="Reddit Sans"/>
              </a:rPr>
              <a:t>Servicio Centrado en el conocimiento + IA</a:t>
            </a:r>
          </a:p>
        </p:txBody>
      </p:sp>
      <p:sp>
        <p:nvSpPr>
          <p:cNvPr id="156" name="sh156"/>
          <p:cNvSpPr/>
          <p:nvPr/>
        </p:nvSpPr>
        <p:spPr>
          <a:xfrm>
            <a:off x="7119474" y="3528278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7" name="chk157"/>
          <p:cNvSpPr/>
          <p:nvPr/>
        </p:nvSpPr>
        <p:spPr>
          <a:xfrm>
            <a:off x="7142334" y="3578352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8" name="tx158"/>
          <p:cNvSpPr txBox="1"/>
          <p:nvPr/>
        </p:nvSpPr>
        <p:spPr>
          <a:xfrm>
            <a:off x="7289509" y="3533287"/>
            <a:ext cx="1478498" cy="2412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Entiende procesos y contexto del negocio</a:t>
            </a:r>
          </a:p>
        </p:txBody>
      </p:sp>
      <p:sp>
        <p:nvSpPr>
          <p:cNvPr id="159" name="sh159"/>
          <p:cNvSpPr/>
          <p:nvPr/>
        </p:nvSpPr>
        <p:spPr>
          <a:xfrm>
            <a:off x="7124917" y="3795196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0" name="chk160"/>
          <p:cNvSpPr/>
          <p:nvPr/>
        </p:nvSpPr>
        <p:spPr>
          <a:xfrm>
            <a:off x="7147777" y="3845270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1" name="tx161"/>
          <p:cNvSpPr txBox="1"/>
          <p:nvPr/>
        </p:nvSpPr>
        <p:spPr>
          <a:xfrm>
            <a:off x="7289509" y="3811090"/>
            <a:ext cx="1478498" cy="1595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Aprende continuamente</a:t>
            </a:r>
          </a:p>
        </p:txBody>
      </p:sp>
      <p:sp>
        <p:nvSpPr>
          <p:cNvPr id="164" name="tx164"/>
          <p:cNvSpPr txBox="1"/>
          <p:nvPr/>
        </p:nvSpPr>
        <p:spPr>
          <a:xfrm>
            <a:off x="7289509" y="4023580"/>
            <a:ext cx="1478498" cy="1269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167" name="tx167"/>
          <p:cNvSpPr txBox="1"/>
          <p:nvPr/>
        </p:nvSpPr>
        <p:spPr>
          <a:xfrm>
            <a:off x="7289509" y="4257839"/>
            <a:ext cx="1478498" cy="214012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Genera insights que impulsan decisiones del negocio</a:t>
            </a:r>
          </a:p>
        </p:txBody>
      </p:sp>
      <p:sp>
        <p:nvSpPr>
          <p:cNvPr id="19" name="sh156">
            <a:extLst>
              <a:ext uri="{FF2B5EF4-FFF2-40B4-BE49-F238E27FC236}">
                <a16:creationId xmlns:a16="http://schemas.microsoft.com/office/drawing/2014/main" id="{67FC85B7-0471-BD57-0EEA-926B6D7E11AF}"/>
              </a:ext>
            </a:extLst>
          </p:cNvPr>
          <p:cNvSpPr/>
          <p:nvPr/>
        </p:nvSpPr>
        <p:spPr>
          <a:xfrm>
            <a:off x="7130360" y="4018135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8" name="chk157">
            <a:extLst>
              <a:ext uri="{FF2B5EF4-FFF2-40B4-BE49-F238E27FC236}">
                <a16:creationId xmlns:a16="http://schemas.microsoft.com/office/drawing/2014/main" id="{CA5CD075-26E9-7525-F97B-27B4E6CC5599}"/>
              </a:ext>
            </a:extLst>
          </p:cNvPr>
          <p:cNvSpPr/>
          <p:nvPr/>
        </p:nvSpPr>
        <p:spPr>
          <a:xfrm>
            <a:off x="7153220" y="4068209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9" name="sh156">
            <a:extLst>
              <a:ext uri="{FF2B5EF4-FFF2-40B4-BE49-F238E27FC236}">
                <a16:creationId xmlns:a16="http://schemas.microsoft.com/office/drawing/2014/main" id="{6878BAD3-69E3-D4B4-B264-E00658969181}"/>
              </a:ext>
            </a:extLst>
          </p:cNvPr>
          <p:cNvSpPr/>
          <p:nvPr/>
        </p:nvSpPr>
        <p:spPr>
          <a:xfrm>
            <a:off x="7135802" y="4263063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" name="chk157">
            <a:extLst>
              <a:ext uri="{FF2B5EF4-FFF2-40B4-BE49-F238E27FC236}">
                <a16:creationId xmlns:a16="http://schemas.microsoft.com/office/drawing/2014/main" id="{5D929F3B-7B25-48A0-1401-0F9689F8E439}"/>
              </a:ext>
            </a:extLst>
          </p:cNvPr>
          <p:cNvSpPr/>
          <p:nvPr/>
        </p:nvSpPr>
        <p:spPr>
          <a:xfrm>
            <a:off x="7158662" y="4313137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C56E2FE0-0F1A-F310-964C-B93592B0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172" y="200392"/>
            <a:ext cx="4199614" cy="224358"/>
          </a:xfrm>
        </p:spPr>
        <p:txBody>
          <a:bodyPr>
            <a:normAutofit fontScale="90000"/>
          </a:bodyPr>
          <a:lstStyle/>
          <a:p>
            <a:r>
              <a:rPr lang="es-ES"/>
              <a:t>Evolución de las Mesas de Servicio</a:t>
            </a:r>
          </a:p>
        </p:txBody>
      </p:sp>
      <p:pic>
        <p:nvPicPr>
          <p:cNvPr id="36" name="Gráfico 35" descr="Cerebro izquierdo y derecho contorno">
            <a:extLst>
              <a:ext uri="{FF2B5EF4-FFF2-40B4-BE49-F238E27FC236}">
                <a16:creationId xmlns:a16="http://schemas.microsoft.com/office/drawing/2014/main" id="{9532999D-ADD0-70CE-B18B-F8759E9FE0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5235" y="808264"/>
            <a:ext cx="391887" cy="391887"/>
          </a:xfrm>
          <a:prstGeom prst="rect">
            <a:avLst/>
          </a:prstGeom>
        </p:spPr>
      </p:pic>
      <p:pic>
        <p:nvPicPr>
          <p:cNvPr id="37" name="Gráfico 36" descr="Cerebro izquierdo y derecho contorno">
            <a:extLst>
              <a:ext uri="{FF2B5EF4-FFF2-40B4-BE49-F238E27FC236}">
                <a16:creationId xmlns:a16="http://schemas.microsoft.com/office/drawing/2014/main" id="{111C11F9-F362-DA76-330D-395349C0C8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4763" y="3007178"/>
            <a:ext cx="391887" cy="391887"/>
          </a:xfrm>
          <a:prstGeom prst="rect">
            <a:avLst/>
          </a:prstGeom>
        </p:spPr>
      </p:pic>
      <p:pic>
        <p:nvPicPr>
          <p:cNvPr id="38" name="Gráfico 37" descr="Cerebro izquierdo y derecho contorno">
            <a:extLst>
              <a:ext uri="{FF2B5EF4-FFF2-40B4-BE49-F238E27FC236}">
                <a16:creationId xmlns:a16="http://schemas.microsoft.com/office/drawing/2014/main" id="{BDD95D7E-1F97-6F11-FEC3-910C23238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2042" y="3959679"/>
            <a:ext cx="266701" cy="266701"/>
          </a:xfrm>
          <a:prstGeom prst="rect">
            <a:avLst/>
          </a:prstGeom>
        </p:spPr>
      </p:pic>
      <p:sp>
        <p:nvSpPr>
          <p:cNvPr id="42" name="sh105">
            <a:extLst>
              <a:ext uri="{FF2B5EF4-FFF2-40B4-BE49-F238E27FC236}">
                <a16:creationId xmlns:a16="http://schemas.microsoft.com/office/drawing/2014/main" id="{F37F5088-1162-15C7-BE90-D6E46E9C99A9}"/>
              </a:ext>
            </a:extLst>
          </p:cNvPr>
          <p:cNvSpPr/>
          <p:nvPr/>
        </p:nvSpPr>
        <p:spPr>
          <a:xfrm>
            <a:off x="1058090" y="3998541"/>
            <a:ext cx="160020" cy="47898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3" name="sh106">
            <a:extLst>
              <a:ext uri="{FF2B5EF4-FFF2-40B4-BE49-F238E27FC236}">
                <a16:creationId xmlns:a16="http://schemas.microsoft.com/office/drawing/2014/main" id="{9ED5DA7E-48A9-2DD6-2766-B56A15E5B616}"/>
              </a:ext>
            </a:extLst>
          </p:cNvPr>
          <p:cNvSpPr/>
          <p:nvPr/>
        </p:nvSpPr>
        <p:spPr>
          <a:xfrm>
            <a:off x="1058090" y="4059283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4" name="sh107">
            <a:extLst>
              <a:ext uri="{FF2B5EF4-FFF2-40B4-BE49-F238E27FC236}">
                <a16:creationId xmlns:a16="http://schemas.microsoft.com/office/drawing/2014/main" id="{E4C56738-86C2-D18A-E718-4C02C6A6A7F2}"/>
              </a:ext>
            </a:extLst>
          </p:cNvPr>
          <p:cNvSpPr/>
          <p:nvPr/>
        </p:nvSpPr>
        <p:spPr>
          <a:xfrm>
            <a:off x="1058090" y="4120025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sh111">
            <a:extLst>
              <a:ext uri="{FF2B5EF4-FFF2-40B4-BE49-F238E27FC236}">
                <a16:creationId xmlns:a16="http://schemas.microsoft.com/office/drawing/2014/main" id="{206352A0-CD8E-6A64-6B7A-DA9F38054DD7}"/>
              </a:ext>
            </a:extLst>
          </p:cNvPr>
          <p:cNvSpPr/>
          <p:nvPr/>
        </p:nvSpPr>
        <p:spPr>
          <a:xfrm>
            <a:off x="2193471" y="3996580"/>
            <a:ext cx="191154" cy="21292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47" name="Gráfico 46" descr="Diana con relleno sólido">
            <a:extLst>
              <a:ext uri="{FF2B5EF4-FFF2-40B4-BE49-F238E27FC236}">
                <a16:creationId xmlns:a16="http://schemas.microsoft.com/office/drawing/2014/main" id="{994BC6AB-3A9E-A40D-1607-2813104FB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2065" y="3524248"/>
            <a:ext cx="342902" cy="342902"/>
          </a:xfrm>
          <a:prstGeom prst="rect">
            <a:avLst/>
          </a:prstGeom>
        </p:spPr>
      </p:pic>
      <p:grpSp>
        <p:nvGrpSpPr>
          <p:cNvPr id="50" name="Grupo 49">
            <a:extLst>
              <a:ext uri="{FF2B5EF4-FFF2-40B4-BE49-F238E27FC236}">
                <a16:creationId xmlns:a16="http://schemas.microsoft.com/office/drawing/2014/main" id="{55C920BB-F812-1854-93FD-AEB99B45AEE6}"/>
              </a:ext>
            </a:extLst>
          </p:cNvPr>
          <p:cNvGrpSpPr/>
          <p:nvPr/>
        </p:nvGrpSpPr>
        <p:grpSpPr>
          <a:xfrm>
            <a:off x="882799" y="3528677"/>
            <a:ext cx="337458" cy="315688"/>
            <a:chOff x="180670" y="2821106"/>
            <a:chExt cx="435429" cy="408215"/>
          </a:xfrm>
        </p:grpSpPr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06F0B3BA-0715-48B0-715F-7F094B2C4C98}"/>
                </a:ext>
              </a:extLst>
            </p:cNvPr>
            <p:cNvSpPr/>
            <p:nvPr/>
          </p:nvSpPr>
          <p:spPr>
            <a:xfrm>
              <a:off x="180670" y="2821106"/>
              <a:ext cx="435429" cy="408215"/>
            </a:xfrm>
            <a:prstGeom prst="ellipse">
              <a:avLst/>
            </a:prstGeom>
            <a:noFill/>
            <a:ln w="127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48" name="Gráfico 47" descr="Usuarios contorno">
              <a:extLst>
                <a:ext uri="{FF2B5EF4-FFF2-40B4-BE49-F238E27FC236}">
                  <a16:creationId xmlns:a16="http://schemas.microsoft.com/office/drawing/2014/main" id="{5B3FD962-1B8A-5DFC-1929-1EFA44420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9487" y="2838450"/>
              <a:ext cx="321132" cy="3211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7090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 vs. Mesa de Servicio </a:t>
            </a:r>
            <a:r>
              <a:rPr lang="es-ES" sz="1700">
                <a:solidFill>
                  <a:srgbClr val="0C2362"/>
                </a:solidFill>
                <a:latin typeface="Arial"/>
                <a:cs typeface="Arial"/>
              </a:rPr>
              <a:t>de Nueva Generación (Next Gen)</a:t>
            </a:r>
            <a:endParaRPr lang="en-US" sz="1700" b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6 Dimensiones de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diferenciación</a:t>
            </a:r>
            <a:endParaRPr lang="en-U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39830" cy="43009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Virtual agent GenAI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agentes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autonomos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b="1" u="sng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KCS 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(Servicio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Centrado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conocimiento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+IA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Self-healing · auto-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remediacion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&gt;40%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defleccion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AIOps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predictivo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simulación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optimización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prevencion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P1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correlacion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causa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raiz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SLA / OLA / UC de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cumplimiento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2"/>
            <a:ext cx="2643886" cy="39198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SLA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Servicio)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XLA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DEX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Digital del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Empleado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economico</a:t>
            </a:r>
            <a:endParaRPr lang="en-US" sz="1000" b="1">
              <a:solidFill>
                <a:srgbClr val="1B7B85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Estatico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cambios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reactivos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Roadmap vivo ·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continua · backlog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priorizado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Como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 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/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procesos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. Insights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endParaRPr lang="en-US" sz="9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7059F8EC-A143-4406-D482-0C43B83E8332}"/>
              </a:ext>
            </a:extLst>
          </p:cNvPr>
          <p:cNvSpPr txBox="1">
            <a:spLocks noGrp="1"/>
          </p:cNvSpPr>
          <p:nvPr/>
        </p:nvSpPr>
        <p:spPr>
          <a:xfrm>
            <a:off x="396240" y="4750743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ITSM Benchmark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Gartner AI in ITSM</a:t>
            </a:r>
            <a:endParaRPr lang="es-ES" sz="70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8E7AC-A877-100C-D184-3405C85D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">
            <a:extLst>
              <a:ext uri="{FF2B5EF4-FFF2-40B4-BE49-F238E27FC236}">
                <a16:creationId xmlns:a16="http://schemas.microsoft.com/office/drawing/2014/main" id="{B332CDAF-C216-D4CD-E3F9-68893A9AD04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Gartner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confirma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cambio donde la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competencia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está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en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la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capa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 IA</a:t>
            </a:r>
            <a:endParaRPr lang="es-ES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2" name="src">
            <a:extLst>
              <a:ext uri="{FF2B5EF4-FFF2-40B4-BE49-F238E27FC236}">
                <a16:creationId xmlns:a16="http://schemas.microsoft.com/office/drawing/2014/main" id="{3D3C21ED-CCFE-6C2C-8D9C-61257685ADF5}"/>
              </a:ext>
            </a:extLst>
          </p:cNvPr>
          <p:cNvSpPr txBox="1">
            <a:spLocks noGrp="1"/>
          </p:cNvSpPr>
          <p:nvPr/>
        </p:nvSpPr>
        <p:spPr>
          <a:xfrm>
            <a:off x="385354" y="4745300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Gartner MQ AI Applications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InvGate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Retire ITSM MQ</a:t>
            </a:r>
          </a:p>
        </p:txBody>
      </p:sp>
      <p:sp>
        <p:nvSpPr>
          <p:cNvPr id="201" name="tx201"/>
          <p:cNvSpPr txBox="1"/>
          <p:nvPr/>
        </p:nvSpPr>
        <p:spPr>
          <a:xfrm>
            <a:off x="411263" y="646829"/>
            <a:ext cx="83210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>
                <a:solidFill>
                  <a:srgbClr val="5A6472"/>
                </a:solidFill>
                <a:latin typeface="Reddit Sans"/>
                <a:ea typeface="Reddit Sans"/>
              </a:rPr>
              <a:t>9 Capacidades críticas de IA que ya definen la compra de la herramienta</a:t>
            </a:r>
          </a:p>
        </p:txBody>
      </p:sp>
      <p:sp>
        <p:nvSpPr>
          <p:cNvPr id="203" name="sh203"/>
          <p:cNvSpPr/>
          <p:nvPr/>
        </p:nvSpPr>
        <p:spPr>
          <a:xfrm>
            <a:off x="384048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4" name="sh204"/>
          <p:cNvSpPr/>
          <p:nvPr/>
        </p:nvSpPr>
        <p:spPr>
          <a:xfrm>
            <a:off x="475488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sh205"/>
          <p:cNvSpPr/>
          <p:nvPr/>
        </p:nvSpPr>
        <p:spPr>
          <a:xfrm>
            <a:off x="552755" y="1317389"/>
            <a:ext cx="211226" cy="163220"/>
          </a:xfrm>
          <a:prstGeom prst="wedgeRoundRectCallout">
            <a:avLst>
              <a:gd name="adj1" fmla="val -20000"/>
              <a:gd name="adj2" fmla="val 70000"/>
              <a:gd name="adj3" fmla="val 16667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6" name="tx206"/>
          <p:cNvSpPr txBox="1"/>
          <p:nvPr/>
        </p:nvSpPr>
        <p:spPr>
          <a:xfrm>
            <a:off x="898071" y="1211580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1. Agente virtual</a:t>
            </a:r>
          </a:p>
        </p:txBody>
      </p:sp>
      <p:sp>
        <p:nvSpPr>
          <p:cNvPr id="207" name="tx207"/>
          <p:cNvSpPr txBox="1"/>
          <p:nvPr/>
        </p:nvSpPr>
        <p:spPr>
          <a:xfrm>
            <a:off x="914400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Asistencia 24/7 con IA conversacional y generativa</a:t>
            </a:r>
          </a:p>
        </p:txBody>
      </p:sp>
      <p:sp>
        <p:nvSpPr>
          <p:cNvPr id="208" name="sh208"/>
          <p:cNvSpPr/>
          <p:nvPr/>
        </p:nvSpPr>
        <p:spPr>
          <a:xfrm>
            <a:off x="3200400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9" name="sh209"/>
          <p:cNvSpPr/>
          <p:nvPr/>
        </p:nvSpPr>
        <p:spPr>
          <a:xfrm>
            <a:off x="3291840" y="123052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0" name="sh210"/>
          <p:cNvSpPr/>
          <p:nvPr/>
        </p:nvSpPr>
        <p:spPr>
          <a:xfrm>
            <a:off x="3378708" y="1332751"/>
            <a:ext cx="192024" cy="163220"/>
          </a:xfrm>
          <a:prstGeom prst="flowChartDocumen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tx211"/>
          <p:cNvSpPr txBox="1"/>
          <p:nvPr/>
        </p:nvSpPr>
        <p:spPr>
          <a:xfrm>
            <a:off x="3708981" y="1200694"/>
            <a:ext cx="2313431" cy="26887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2. Descubrimiento de conocimiento</a:t>
            </a:r>
          </a:p>
        </p:txBody>
      </p:sp>
      <p:sp>
        <p:nvSpPr>
          <p:cNvPr id="212" name="tx212"/>
          <p:cNvSpPr txBox="1"/>
          <p:nvPr/>
        </p:nvSpPr>
        <p:spPr>
          <a:xfrm>
            <a:off x="3730752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Captura y descubrimiento automático del conocimiento y procesos clave</a:t>
            </a:r>
          </a:p>
        </p:txBody>
      </p:sp>
      <p:sp>
        <p:nvSpPr>
          <p:cNvPr id="213" name="sh213"/>
          <p:cNvSpPr/>
          <p:nvPr/>
        </p:nvSpPr>
        <p:spPr>
          <a:xfrm>
            <a:off x="6016752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4" name="sh214"/>
          <p:cNvSpPr/>
          <p:nvPr/>
        </p:nvSpPr>
        <p:spPr>
          <a:xfrm>
            <a:off x="6108192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5" name="sh215"/>
          <p:cNvSpPr/>
          <p:nvPr/>
        </p:nvSpPr>
        <p:spPr>
          <a:xfrm>
            <a:off x="6214262" y="1307788"/>
            <a:ext cx="153619" cy="211226"/>
          </a:xfrm>
          <a:prstGeom prst="upArrow">
            <a:avLst>
              <a:gd name="adj1" fmla="val 50000"/>
              <a:gd name="adj2" fmla="val 5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6" name="tx216"/>
          <p:cNvSpPr txBox="1"/>
          <p:nvPr/>
        </p:nvSpPr>
        <p:spPr>
          <a:xfrm>
            <a:off x="6525333" y="119525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3. Escalamiento inteligente</a:t>
            </a:r>
          </a:p>
        </p:txBody>
      </p:sp>
      <p:sp>
        <p:nvSpPr>
          <p:cNvPr id="217" name="tx217"/>
          <p:cNvSpPr txBox="1"/>
          <p:nvPr/>
        </p:nvSpPr>
        <p:spPr>
          <a:xfrm>
            <a:off x="6547104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Escala al nivel correcto en el momento adecuado</a:t>
            </a:r>
          </a:p>
        </p:txBody>
      </p:sp>
      <p:sp>
        <p:nvSpPr>
          <p:cNvPr id="218" name="sh218"/>
          <p:cNvSpPr/>
          <p:nvPr/>
        </p:nvSpPr>
        <p:spPr>
          <a:xfrm>
            <a:off x="384048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sh219"/>
          <p:cNvSpPr/>
          <p:nvPr/>
        </p:nvSpPr>
        <p:spPr>
          <a:xfrm>
            <a:off x="475488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0" name="sh220"/>
          <p:cNvSpPr/>
          <p:nvPr/>
        </p:nvSpPr>
        <p:spPr>
          <a:xfrm>
            <a:off x="562356" y="2026049"/>
            <a:ext cx="192024" cy="192024"/>
          </a:xfrm>
          <a:prstGeom prst="funnel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tx221"/>
          <p:cNvSpPr txBox="1"/>
          <p:nvPr/>
        </p:nvSpPr>
        <p:spPr>
          <a:xfrm>
            <a:off x="898071" y="1887583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4. Triage inteligente</a:t>
            </a:r>
          </a:p>
        </p:txBody>
      </p:sp>
      <p:sp>
        <p:nvSpPr>
          <p:cNvPr id="222" name="tx222"/>
          <p:cNvSpPr txBox="1"/>
          <p:nvPr/>
        </p:nvSpPr>
        <p:spPr>
          <a:xfrm>
            <a:off x="914400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Prioriza y enruta tickets usando IA y contexto</a:t>
            </a:r>
          </a:p>
        </p:txBody>
      </p:sp>
      <p:sp>
        <p:nvSpPr>
          <p:cNvPr id="223" name="sh223"/>
          <p:cNvSpPr/>
          <p:nvPr/>
        </p:nvSpPr>
        <p:spPr>
          <a:xfrm>
            <a:off x="3200400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4" name="sh224"/>
          <p:cNvSpPr/>
          <p:nvPr/>
        </p:nvSpPr>
        <p:spPr>
          <a:xfrm>
            <a:off x="3291840" y="193918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5" name="sh225"/>
          <p:cNvSpPr/>
          <p:nvPr/>
        </p:nvSpPr>
        <p:spPr>
          <a:xfrm>
            <a:off x="3369107" y="2045251"/>
            <a:ext cx="211226" cy="153619"/>
          </a:xfrm>
          <a:prstGeom prst="flowChartManualInpu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6" name="tx226"/>
          <p:cNvSpPr txBox="1"/>
          <p:nvPr/>
        </p:nvSpPr>
        <p:spPr>
          <a:xfrm>
            <a:off x="3747081" y="190391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5. Categorización inteligente</a:t>
            </a:r>
          </a:p>
        </p:txBody>
      </p:sp>
      <p:sp>
        <p:nvSpPr>
          <p:cNvPr id="227" name="tx227"/>
          <p:cNvSpPr txBox="1"/>
          <p:nvPr/>
        </p:nvSpPr>
        <p:spPr>
          <a:xfrm>
            <a:off x="3730752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Clasificación automática multi-nivel</a:t>
            </a:r>
          </a:p>
        </p:txBody>
      </p:sp>
      <p:sp>
        <p:nvSpPr>
          <p:cNvPr id="228" name="sh228"/>
          <p:cNvSpPr/>
          <p:nvPr/>
        </p:nvSpPr>
        <p:spPr>
          <a:xfrm>
            <a:off x="6016752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9" name="sh229"/>
          <p:cNvSpPr/>
          <p:nvPr/>
        </p:nvSpPr>
        <p:spPr>
          <a:xfrm>
            <a:off x="6108192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0" name="sh230"/>
          <p:cNvSpPr/>
          <p:nvPr/>
        </p:nvSpPr>
        <p:spPr>
          <a:xfrm>
            <a:off x="6195060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1" name="sh231"/>
          <p:cNvSpPr/>
          <p:nvPr/>
        </p:nvSpPr>
        <p:spPr>
          <a:xfrm>
            <a:off x="6306434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2" name="sh232"/>
          <p:cNvSpPr/>
          <p:nvPr/>
        </p:nvSpPr>
        <p:spPr>
          <a:xfrm>
            <a:off x="6185459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3" name="sh233"/>
          <p:cNvSpPr/>
          <p:nvPr/>
        </p:nvSpPr>
        <p:spPr>
          <a:xfrm>
            <a:off x="6294912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4" name="tx234"/>
          <p:cNvSpPr txBox="1"/>
          <p:nvPr/>
        </p:nvSpPr>
        <p:spPr>
          <a:xfrm>
            <a:off x="6525333" y="190391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6. Swarming de expertos</a:t>
            </a:r>
          </a:p>
        </p:txBody>
      </p:sp>
      <p:sp>
        <p:nvSpPr>
          <p:cNvPr id="235" name="tx235"/>
          <p:cNvSpPr txBox="1"/>
          <p:nvPr/>
        </p:nvSpPr>
        <p:spPr>
          <a:xfrm>
            <a:off x="6547104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Colaboración asistida por IA para resolver más rápido</a:t>
            </a:r>
          </a:p>
        </p:txBody>
      </p:sp>
      <p:sp>
        <p:nvSpPr>
          <p:cNvPr id="236" name="sh236"/>
          <p:cNvSpPr/>
          <p:nvPr/>
        </p:nvSpPr>
        <p:spPr>
          <a:xfrm>
            <a:off x="384048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7" name="sh237"/>
          <p:cNvSpPr/>
          <p:nvPr/>
        </p:nvSpPr>
        <p:spPr>
          <a:xfrm>
            <a:off x="475488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8" name="sh238"/>
          <p:cNvSpPr/>
          <p:nvPr/>
        </p:nvSpPr>
        <p:spPr>
          <a:xfrm>
            <a:off x="562356" y="2734709"/>
            <a:ext cx="192024" cy="182423"/>
          </a:xfrm>
          <a:prstGeom prst="triangl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9" name="tx239"/>
          <p:cNvSpPr txBox="1"/>
          <p:nvPr/>
        </p:nvSpPr>
        <p:spPr>
          <a:xfrm>
            <a:off x="898071" y="2628900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7. Detección de P1</a:t>
            </a:r>
          </a:p>
        </p:txBody>
      </p:sp>
      <p:sp>
        <p:nvSpPr>
          <p:cNvPr id="240" name="tx240"/>
          <p:cNvSpPr txBox="1"/>
          <p:nvPr/>
        </p:nvSpPr>
        <p:spPr>
          <a:xfrm>
            <a:off x="914400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Identificación automática de incidentes críticos</a:t>
            </a:r>
          </a:p>
        </p:txBody>
      </p:sp>
      <p:sp>
        <p:nvSpPr>
          <p:cNvPr id="241" name="sh241"/>
          <p:cNvSpPr/>
          <p:nvPr/>
        </p:nvSpPr>
        <p:spPr>
          <a:xfrm>
            <a:off x="3200400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2" name="sh242"/>
          <p:cNvSpPr/>
          <p:nvPr/>
        </p:nvSpPr>
        <p:spPr>
          <a:xfrm>
            <a:off x="3291840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3" name="sh243"/>
          <p:cNvSpPr/>
          <p:nvPr/>
        </p:nvSpPr>
        <p:spPr>
          <a:xfrm>
            <a:off x="3378708" y="2734709"/>
            <a:ext cx="144018" cy="144018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4" name="sh244"/>
          <p:cNvSpPr/>
          <p:nvPr/>
        </p:nvSpPr>
        <p:spPr>
          <a:xfrm rot="2700000">
            <a:off x="3497763" y="2853764"/>
            <a:ext cx="19202" cy="7681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5" name="tx245"/>
          <p:cNvSpPr txBox="1"/>
          <p:nvPr/>
        </p:nvSpPr>
        <p:spPr>
          <a:xfrm>
            <a:off x="3747081" y="261257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8. Detección de problemas</a:t>
            </a:r>
          </a:p>
        </p:txBody>
      </p:sp>
      <p:sp>
        <p:nvSpPr>
          <p:cNvPr id="246" name="tx246"/>
          <p:cNvSpPr txBox="1"/>
          <p:nvPr/>
        </p:nvSpPr>
        <p:spPr>
          <a:xfrm>
            <a:off x="3730752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Descubrimiento de causas raíz y patrones recurrentes</a:t>
            </a:r>
          </a:p>
        </p:txBody>
      </p:sp>
      <p:sp>
        <p:nvSpPr>
          <p:cNvPr id="247" name="sh247"/>
          <p:cNvSpPr/>
          <p:nvPr/>
        </p:nvSpPr>
        <p:spPr>
          <a:xfrm>
            <a:off x="6016752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8" name="sh248"/>
          <p:cNvSpPr/>
          <p:nvPr/>
        </p:nvSpPr>
        <p:spPr>
          <a:xfrm>
            <a:off x="6108192" y="264784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9" name="sh249"/>
          <p:cNvSpPr/>
          <p:nvPr/>
        </p:nvSpPr>
        <p:spPr>
          <a:xfrm rot="10800000">
            <a:off x="6204661" y="2734709"/>
            <a:ext cx="172822" cy="192024"/>
          </a:xfrm>
          <a:prstGeom prst="pentagon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0" name="tx250"/>
          <p:cNvSpPr txBox="1"/>
          <p:nvPr/>
        </p:nvSpPr>
        <p:spPr>
          <a:xfrm>
            <a:off x="6525333" y="261257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9. Riesgo de cambios</a:t>
            </a:r>
          </a:p>
        </p:txBody>
      </p:sp>
      <p:sp>
        <p:nvSpPr>
          <p:cNvPr id="251" name="tx251"/>
          <p:cNvSpPr txBox="1"/>
          <p:nvPr/>
        </p:nvSpPr>
        <p:spPr>
          <a:xfrm>
            <a:off x="6547104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Evaluación predictiva del riesgo antes de implementar</a:t>
            </a:r>
          </a:p>
        </p:txBody>
      </p:sp>
      <p:sp>
        <p:nvSpPr>
          <p:cNvPr id="272" name="sh272"/>
          <p:cNvSpPr/>
          <p:nvPr/>
        </p:nvSpPr>
        <p:spPr>
          <a:xfrm>
            <a:off x="411262" y="3595116"/>
            <a:ext cx="8318864" cy="515984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92D050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5" name="sh275"/>
          <p:cNvSpPr/>
          <p:nvPr/>
        </p:nvSpPr>
        <p:spPr>
          <a:xfrm>
            <a:off x="753303" y="3840056"/>
            <a:ext cx="58759" cy="587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6" name="tx276"/>
          <p:cNvSpPr txBox="1"/>
          <p:nvPr/>
        </p:nvSpPr>
        <p:spPr>
          <a:xfrm>
            <a:off x="1159546" y="3644537"/>
            <a:ext cx="6783977" cy="424543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4000"/>
              </a:lnSpc>
            </a:pP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La plataforma se comoditiza. La diferenciación está en la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inteligencia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,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gobierno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 y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conocimiento del negocio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.</a:t>
            </a:r>
          </a:p>
        </p:txBody>
      </p:sp>
      <p:pic>
        <p:nvPicPr>
          <p:cNvPr id="6" name="Gráfico 5" descr="Diana con relleno sólido">
            <a:extLst>
              <a:ext uri="{FF2B5EF4-FFF2-40B4-BE49-F238E27FC236}">
                <a16:creationId xmlns:a16="http://schemas.microsoft.com/office/drawing/2014/main" id="{8ACFE3F9-76CF-BE63-2CE8-3E56AC0558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9537" y="3682091"/>
            <a:ext cx="342902" cy="34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328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s-ES" sz="1400"/>
              <a:t>Posicionamiento de Plataformas ITSM</a:t>
            </a:r>
            <a:endParaRPr lang="en-US" sz="1400" b="0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Todos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venden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507082" y="7920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330042" y="7920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507082" y="15784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330042" y="15784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507082" y="23648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~70%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330042" y="23648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507082" y="31511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297385" y="3178411"/>
            <a:ext cx="2284910" cy="54210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r>
              <a:rPr lang="es-ES" sz="1000" b="1" err="1">
                <a:solidFill>
                  <a:srgbClr val="333333"/>
                </a:solidFill>
                <a:latin typeface="Reddit Sans"/>
                <a:ea typeface="Reddit Sans"/>
              </a:rPr>
              <a:t>ServiceNow</a:t>
            </a:r>
            <a:r>
              <a:rPr lang="es-ES" sz="1000" b="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 Líder
en MQ AI </a:t>
            </a:r>
            <a:r>
              <a:rPr lang="es-ES" sz="1000" err="1">
                <a:solidFill>
                  <a:srgbClr val="333333"/>
                </a:solidFill>
                <a:latin typeface="Reddit Sans"/>
                <a:ea typeface="Reddit Sans"/>
              </a:rPr>
              <a:t>Applications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3893602"/>
            <a:ext cx="4434840" cy="56170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i="1">
                <a:solidFill>
                  <a:schemeClr val="bg2"/>
                </a:solidFill>
                <a:latin typeface="Reddit Sans"/>
                <a:ea typeface="Reddit Sans"/>
              </a:rPr>
              <a:t>"El diferenciador real está en la plataforma propietaria, profundidad de IA y madurez del modelo de gobierno"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98551FB-5122-C5E5-7C81-367AD5D1AD71}"/>
              </a:ext>
            </a:extLst>
          </p:cNvPr>
          <p:cNvSpPr txBox="1">
            <a:spLocks noGrp="1"/>
          </p:cNvSpPr>
          <p:nvPr/>
        </p:nvSpPr>
        <p:spPr>
          <a:xfrm>
            <a:off x="630282" y="46310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3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Apps Run The World (2024)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8" y="167734"/>
            <a:ext cx="4145187" cy="572700"/>
          </a:xfrm>
        </p:spPr>
        <p:txBody>
          <a:bodyPr>
            <a:normAutofit fontScale="90000"/>
          </a:bodyPr>
          <a:lstStyle/>
          <a:p>
            <a:r>
              <a:rPr lang="en-US" sz="1800" kern="1200" err="1">
                <a:cs typeface="+mn-cs"/>
                <a:sym typeface="Arial"/>
              </a:rPr>
              <a:t>Brechas</a:t>
            </a:r>
            <a:r>
              <a:rPr lang="en-US" sz="1800" kern="1200">
                <a:cs typeface="+mn-cs"/>
                <a:sym typeface="Arial"/>
              </a:rPr>
              <a:t> del mercado y </a:t>
            </a:r>
            <a:r>
              <a:rPr lang="en-US" sz="1800" kern="1200" err="1">
                <a:cs typeface="+mn-cs"/>
                <a:sym typeface="Arial"/>
              </a:rPr>
              <a:t>oportunidades</a:t>
            </a:r>
            <a:endParaRPr lang="es-ES" sz="1800" kern="1200" err="1">
              <a:cs typeface="+mn-cs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4435928" y="677636"/>
            <a:ext cx="4305301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La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inteligencia</a:t>
            </a:r>
            <a:r>
              <a:rPr lang="en-US" sz="1100">
                <a:latin typeface="Reddit Sans"/>
                <a:ea typeface="Reddit Sans"/>
              </a:rPr>
              <a:t> artificial </a:t>
            </a:r>
            <a:r>
              <a:rPr lang="en-US" sz="1100" err="1">
                <a:latin typeface="Reddit Sans"/>
                <a:ea typeface="Reddit Sans"/>
              </a:rPr>
              <a:t>está</a:t>
            </a:r>
            <a:r>
              <a:rPr lang="en-US" sz="1100">
                <a:latin typeface="Reddit Sans"/>
                <a:ea typeface="Reddit Sans"/>
              </a:rPr>
              <a:t> poco </a:t>
            </a:r>
            <a:r>
              <a:rPr lang="en-US" sz="1100" err="1">
                <a:latin typeface="Reddit Sans"/>
                <a:ea typeface="Reddit Sans"/>
              </a:rPr>
              <a:t>desarrollada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creando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riesgos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limitando</a:t>
            </a:r>
            <a:r>
              <a:rPr lang="en-US" sz="1100">
                <a:latin typeface="Reddit Sans"/>
                <a:ea typeface="Reddit Sans"/>
              </a:rPr>
              <a:t> la </a:t>
            </a:r>
            <a:r>
              <a:rPr lang="en-US" sz="1100" err="1">
                <a:latin typeface="Reddit Sans"/>
                <a:ea typeface="Reddit Sans"/>
              </a:rPr>
              <a:t>adopción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tecnológica</a:t>
            </a:r>
            <a:r>
              <a:rPr lang="en-US" sz="110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Los </a:t>
            </a:r>
            <a:r>
              <a:rPr lang="en-US" sz="1100" err="1">
                <a:latin typeface="Reddit Sans"/>
                <a:ea typeface="Reddit Sans"/>
              </a:rPr>
              <a:t>modelos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tradicionales</a:t>
            </a:r>
            <a:r>
              <a:rPr lang="en-US" sz="1100">
                <a:latin typeface="Reddit Sans"/>
                <a:ea typeface="Reddit Sans"/>
              </a:rPr>
              <a:t> de pricing no se </a:t>
            </a:r>
            <a:r>
              <a:rPr lang="en-US" sz="1100" err="1">
                <a:latin typeface="Reddit Sans"/>
                <a:ea typeface="Reddit Sans"/>
              </a:rPr>
              <a:t>alinean</a:t>
            </a:r>
            <a:r>
              <a:rPr lang="en-US" sz="1100">
                <a:latin typeface="Reddit Sans"/>
                <a:ea typeface="Reddit Sans"/>
              </a:rPr>
              <a:t> con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negocio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dificultando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demostrar</a:t>
            </a:r>
            <a:r>
              <a:rPr lang="en-US" sz="110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Un framework </a:t>
            </a:r>
            <a:r>
              <a:rPr lang="en-US" sz="1100" err="1">
                <a:latin typeface="Reddit Sans"/>
                <a:ea typeface="Reddit Sans"/>
              </a:rPr>
              <a:t>operativo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completo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que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integre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madurez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alineación</a:t>
            </a:r>
            <a:r>
              <a:rPr lang="en-US" sz="1100">
                <a:latin typeface="Reddit Sans"/>
                <a:ea typeface="Reddit Sans"/>
              </a:rPr>
              <a:t> a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garantiza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diferenciación</a:t>
            </a:r>
            <a:r>
              <a:rPr lang="en-US" sz="1100">
                <a:latin typeface="Reddit Sans"/>
                <a:ea typeface="Reddit Sans"/>
              </a:rPr>
              <a:t> y valor continuo.</a:t>
            </a:r>
          </a:p>
        </p:txBody>
      </p:sp>
      <p:pic>
        <p:nvPicPr>
          <p:cNvPr id="3" name="Imagen 2" descr="a gap in a bridge">
            <a:extLst>
              <a:ext uri="{FF2B5EF4-FFF2-40B4-BE49-F238E27FC236}">
                <a16:creationId xmlns:a16="http://schemas.microsoft.com/office/drawing/2014/main" id="{BD44B07F-ABDF-9330-3F0C-7F511A48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2" r="1872" b="156"/>
          <a:stretch>
            <a:fillRect/>
          </a:stretch>
        </p:blipFill>
        <p:spPr>
          <a:xfrm>
            <a:off x="-961736" y="-2041"/>
            <a:ext cx="5015016" cy="515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/>
              <a:t>7 Tendencias que definen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577408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686839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577408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577408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470964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857953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577408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150" kern="0" spc="-7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trasladar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la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problemas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temprana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 o al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s-E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Para anticipar, automatizar y resolver. </a:t>
            </a:r>
            <a:endParaRPr lang="en-US" sz="900" kern="0" spc="-18">
              <a:solidFill>
                <a:srgbClr val="FFFFFF">
                  <a:alpha val="80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3056504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</a:rPr>
              <a:t>De SLA  a Outcomes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652560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0548" y="2965462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3056504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652561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2934" y="2971741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3056504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 y </a:t>
            </a:r>
            <a:r>
              <a:rPr lang="en-US" sz="1150" kern="0" spc="-7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gobernanza</a:t>
            </a: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de 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652560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989" y="2927792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4E27D539-EC37-BF1A-9CD2-6991246DA26C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0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1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2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3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  <p:sp>
        <p:nvSpPr>
          <p:cNvPr id="9" name="dsc">
            <a:extLst>
              <a:ext uri="{FF2B5EF4-FFF2-40B4-BE49-F238E27FC236}">
                <a16:creationId xmlns:a16="http://schemas.microsoft.com/office/drawing/2014/main" id="{DE123EA4-048D-1CF1-FB61-0FBA8172EB8B}"/>
              </a:ext>
            </a:extLst>
          </p:cNvPr>
          <p:cNvSpPr txBox="1">
            <a:spLocks noGrp="1"/>
          </p:cNvSpPr>
          <p:nvPr/>
        </p:nvSpPr>
        <p:spPr>
          <a:xfrm>
            <a:off x="431292" y="2435135"/>
            <a:ext cx="1852749" cy="3563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-26.6% tiempo de respuesta (GenAI)  ·  +34.6% resoluciones más rápidas (GenAI)</a:t>
            </a:r>
          </a:p>
        </p:txBody>
      </p:sp>
      <p:sp>
        <p:nvSpPr>
          <p:cNvPr id="13" name="dsc">
            <a:extLst>
              <a:ext uri="{FF2B5EF4-FFF2-40B4-BE49-F238E27FC236}">
                <a16:creationId xmlns:a16="http://schemas.microsoft.com/office/drawing/2014/main" id="{3AD27F7B-18E7-2C7B-964E-4CB9DA4FA951}"/>
              </a:ext>
            </a:extLst>
          </p:cNvPr>
          <p:cNvSpPr txBox="1">
            <a:spLocks noGrp="1"/>
          </p:cNvSpPr>
          <p:nvPr/>
        </p:nvSpPr>
        <p:spPr>
          <a:xfrm>
            <a:off x="425850" y="4248258"/>
            <a:ext cx="2554877" cy="36184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Contratos TI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enterprise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serán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outcome-based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(tendencia global)</a:t>
            </a:r>
          </a:p>
        </p:txBody>
      </p:sp>
      <p:sp>
        <p:nvSpPr>
          <p:cNvPr id="17" name="dsc">
            <a:extLst>
              <a:ext uri="{FF2B5EF4-FFF2-40B4-BE49-F238E27FC236}">
                <a16:creationId xmlns:a16="http://schemas.microsoft.com/office/drawing/2014/main" id="{56332DE8-D940-2B20-2898-004B2255ECC1}"/>
              </a:ext>
            </a:extLst>
          </p:cNvPr>
          <p:cNvSpPr txBox="1">
            <a:spLocks noGrp="1"/>
          </p:cNvSpPr>
          <p:nvPr/>
        </p:nvSpPr>
        <p:spPr>
          <a:xfrm>
            <a:off x="6140848" y="4245863"/>
            <a:ext cx="2701834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8 etapas · 6C AI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Capability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Model · gobernanza IA ya no es opcional</a:t>
            </a:r>
          </a:p>
        </p:txBody>
      </p:sp>
      <p:sp>
        <p:nvSpPr>
          <p:cNvPr id="21" name="dsc">
            <a:extLst>
              <a:ext uri="{FF2B5EF4-FFF2-40B4-BE49-F238E27FC236}">
                <a16:creationId xmlns:a16="http://schemas.microsoft.com/office/drawing/2014/main" id="{FE20A471-0E69-78AA-DF4E-916811427E3C}"/>
              </a:ext>
            </a:extLst>
          </p:cNvPr>
          <p:cNvSpPr txBox="1">
            <a:spLocks noGrp="1"/>
          </p:cNvSpPr>
          <p:nvPr/>
        </p:nvSpPr>
        <p:spPr>
          <a:xfrm>
            <a:off x="2569247" y="2418808"/>
            <a:ext cx="1809206" cy="361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25" name="dsc">
            <a:extLst>
              <a:ext uri="{FF2B5EF4-FFF2-40B4-BE49-F238E27FC236}">
                <a16:creationId xmlns:a16="http://schemas.microsoft.com/office/drawing/2014/main" id="{7E61382C-ABF6-44B9-5EFD-081A36190A97}"/>
              </a:ext>
            </a:extLst>
          </p:cNvPr>
          <p:cNvSpPr txBox="1">
            <a:spLocks noGrp="1"/>
          </p:cNvSpPr>
          <p:nvPr/>
        </p:nvSpPr>
        <p:spPr>
          <a:xfrm>
            <a:off x="6890875" y="2470839"/>
            <a:ext cx="1907176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N3: USD 104/ticket → N0: USD 2/ticket, cada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deflección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= ahorro medible</a:t>
            </a:r>
            <a:endParaRPr lang="es-ES" sz="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F4D4865-0F99-8598-73DC-1EAEE649D4A4}"/>
              </a:ext>
            </a:extLst>
          </p:cNvPr>
          <p:cNvSpPr txBox="1"/>
          <p:nvPr/>
        </p:nvSpPr>
        <p:spPr>
          <a:xfrm>
            <a:off x="468085" y="361950"/>
            <a:ext cx="783771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Oportunidad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Mercado: Colombia y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Latinoamérica</a:t>
            </a:r>
            <a:endParaRPr lang="en-US" sz="1600" b="1" err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graphicFrame>
        <p:nvGraphicFramePr>
          <p:cNvPr id="11" name="Grafico Oportunidad"/>
          <p:cNvGraphicFramePr/>
          <p:nvPr/>
        </p:nvGraphicFramePr>
        <p:xfrm>
          <a:off x="380000" y="1330000"/>
          <a:ext cx="4600000" cy="26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YC12"/>
          <p:cNvSpPr txBox="1"/>
          <p:nvPr/>
        </p:nvSpPr>
        <p:spPr>
          <a:xfrm>
            <a:off x="957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2024 → 2028</a:t>
            </a:r>
          </a:p>
          <a:p>
            <a:pPr algn="ctr"/>
            <a:r>
              <a:rPr lang="es-ES" sz="900" b="1">
                <a:solidFill>
                  <a:srgbClr val="1E8080"/>
                </a:solidFill>
                <a:latin typeface="Reddit Sans"/>
                <a:ea typeface="Reddit Sans"/>
              </a:rPr>
              <a:t>CAGR 12%</a:t>
            </a:r>
          </a:p>
        </p:txBody>
      </p:sp>
      <p:sp>
        <p:nvSpPr>
          <p:cNvPr id="13" name="YC13"/>
          <p:cNvSpPr txBox="1"/>
          <p:nvPr/>
        </p:nvSpPr>
        <p:spPr>
          <a:xfrm>
            <a:off x="2290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2025 → 2031</a:t>
            </a:r>
          </a:p>
          <a:p>
            <a:pPr algn="ctr"/>
            <a:r>
              <a:rPr lang="es-ES" sz="900" b="1">
                <a:solidFill>
                  <a:srgbClr val="A44526"/>
                </a:solidFill>
                <a:latin typeface="Reddit Sans"/>
                <a:ea typeface="Reddit Sans"/>
              </a:rPr>
              <a:t>CAGR 16%</a:t>
            </a:r>
          </a:p>
        </p:txBody>
      </p:sp>
      <p:sp>
        <p:nvSpPr>
          <p:cNvPr id="14" name="YC14"/>
          <p:cNvSpPr txBox="1"/>
          <p:nvPr/>
        </p:nvSpPr>
        <p:spPr>
          <a:xfrm>
            <a:off x="3623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2026 → 2031</a:t>
            </a:r>
          </a:p>
          <a:p>
            <a:pPr algn="ctr"/>
            <a:r>
              <a:rPr lang="es-ES" sz="900" b="1">
                <a:solidFill>
                  <a:srgbClr val="C57A00"/>
                </a:solidFill>
                <a:latin typeface="Reddit Sans"/>
                <a:ea typeface="Reddit Sans"/>
              </a:rPr>
              <a:t>CAGR 14.08%</a:t>
            </a:r>
          </a:p>
        </p:txBody>
      </p:sp>
      <p:sp>
        <p:nvSpPr>
          <p:cNvPr id="20" name="PanelHeader"/>
          <p:cNvSpPr txBox="1"/>
          <p:nvPr/>
        </p:nvSpPr>
        <p:spPr>
          <a:xfrm>
            <a:off x="5150000" y="1030514"/>
            <a:ext cx="362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s-ES" sz="1200" b="1">
                <a:solidFill>
                  <a:srgbClr val="16233F"/>
                </a:solidFill>
                <a:latin typeface="Reddit Sans"/>
                <a:ea typeface="Reddit Sans"/>
              </a:rPr>
              <a:t>Colombia: Factores de Oportunidad</a:t>
            </a:r>
          </a:p>
        </p:txBody>
      </p:sp>
      <p:sp>
        <p:nvSpPr>
          <p:cNvPr id="21" name="CardNavy"/>
          <p:cNvSpPr txBox="1"/>
          <p:nvPr/>
        </p:nvSpPr>
        <p:spPr>
          <a:xfrm>
            <a:off x="515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81%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Establecimientos de crédito ya usan IA (SFC 2025)</a:t>
            </a:r>
          </a:p>
          <a:p>
            <a:pPr algn="ctr"/>
            <a:r>
              <a:rPr lang="es-ES" sz="700">
                <a:solidFill>
                  <a:srgbClr val="E8B96B"/>
                </a:solidFill>
                <a:latin typeface="Reddit Sans"/>
                <a:ea typeface="Reddit Sans"/>
              </a:rPr>
              <a:t>→ menor fricción de venta</a:t>
            </a:r>
          </a:p>
        </p:txBody>
      </p:sp>
      <p:sp>
        <p:nvSpPr>
          <p:cNvPr id="22" name="CardTeal"/>
          <p:cNvSpPr txBox="1"/>
          <p:nvPr/>
        </p:nvSpPr>
        <p:spPr>
          <a:xfrm>
            <a:off x="700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E8080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9.8%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IT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Services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Colombia más rápido</a:t>
            </a:r>
          </a:p>
          <a:p>
            <a:pPr algn="ctr"/>
            <a:r>
              <a:rPr lang="es-ES" sz="700">
                <a:solidFill>
                  <a:srgbClr val="FFE0A3"/>
                </a:solidFill>
                <a:latin typeface="Reddit Sans"/>
                <a:ea typeface="Reddit Sans"/>
              </a:rPr>
              <a:t>de Sudamérica</a:t>
            </a:r>
          </a:p>
        </p:txBody>
      </p:sp>
      <p:sp>
        <p:nvSpPr>
          <p:cNvPr id="23" name="CardRust"/>
          <p:cNvSpPr txBox="1"/>
          <p:nvPr/>
        </p:nvSpPr>
        <p:spPr>
          <a:xfrm>
            <a:off x="515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A44526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13.8%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Servicios ITSM · Soluciones tienen cuota 61.4%</a:t>
            </a:r>
          </a:p>
          <a:p>
            <a:pPr algn="ctr"/>
            <a:r>
              <a:rPr lang="es-ES" sz="700">
                <a:solidFill>
                  <a:srgbClr val="F0C48A"/>
                </a:solidFill>
                <a:latin typeface="Reddit Sans"/>
                <a:ea typeface="Reddit Sans"/>
              </a:rPr>
              <a:t>→ demanda consultoría ↑</a:t>
            </a:r>
          </a:p>
        </p:txBody>
      </p:sp>
      <p:sp>
        <p:nvSpPr>
          <p:cNvPr id="24" name="CardGreen"/>
          <p:cNvSpPr txBox="1"/>
          <p:nvPr/>
        </p:nvSpPr>
        <p:spPr>
          <a:xfrm>
            <a:off x="700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43781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27.09%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Cuota Service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Desk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&amp;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Incident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Management en Colombia.</a:t>
            </a:r>
          </a:p>
          <a:p>
            <a:pPr algn="ctr"/>
            <a:r>
              <a:rPr lang="es-ES" sz="700">
                <a:solidFill>
                  <a:srgbClr val="CDE6B0"/>
                </a:solidFill>
                <a:latin typeface="Reddit Sans"/>
                <a:ea typeface="Reddit Sans"/>
              </a:rPr>
              <a:t>mayor cat. funcional</a:t>
            </a:r>
          </a:p>
        </p:txBody>
      </p:sp>
      <p:sp>
        <p:nvSpPr>
          <p:cNvPr id="25" name="CompCard"/>
          <p:cNvSpPr txBox="1"/>
          <p:nvPr/>
        </p:nvSpPr>
        <p:spPr>
          <a:xfrm>
            <a:off x="5150000" y="3860000"/>
            <a:ext cx="3620000" cy="716457"/>
          </a:xfrm>
          <a:prstGeom prst="roundRect">
            <a:avLst>
              <a:gd name="adj" fmla="val 8000"/>
            </a:avLst>
          </a:prstGeom>
          <a:solidFill>
            <a:srgbClr val="E8E6E0"/>
          </a:solidFill>
          <a:ln>
            <a:noFill/>
          </a:ln>
        </p:spPr>
        <p:txBody>
          <a:bodyPr wrap="square" lIns="45000" tIns="45000" rIns="45000" bIns="4500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2A2A2A"/>
                </a:solidFill>
                <a:latin typeface="Reddit Sans"/>
                <a:ea typeface="Reddit Sans"/>
              </a:rPr>
              <a:t>Competencia Local Certificada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Solo Aranda Software tiene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PinkVerify</a:t>
            </a:r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 (11 procesos)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Resto: plataformas globales sin oferta de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assessment</a:t>
            </a:r>
            <a:endParaRPr lang="es-ES" sz="800">
              <a:solidFill>
                <a:srgbClr val="6A6A66"/>
              </a:solidFill>
              <a:latin typeface="Reddit Sans"/>
              <a:ea typeface="Reddit Sans"/>
            </a:endParaRPr>
          </a:p>
        </p:txBody>
      </p:sp>
      <p:sp>
        <p:nvSpPr>
          <p:cNvPr id="6" name="ChartSubtitle">
            <a:extLst>
              <a:ext uri="{FF2B5EF4-FFF2-40B4-BE49-F238E27FC236}">
                <a16:creationId xmlns:a16="http://schemas.microsoft.com/office/drawing/2014/main" id="{88DF085F-16EE-B9A5-1798-9B5EEBA0D1FE}"/>
              </a:ext>
            </a:extLst>
          </p:cNvPr>
          <p:cNvSpPr txBox="1"/>
          <p:nvPr/>
        </p:nvSpPr>
        <p:spPr>
          <a:xfrm>
            <a:off x="466600" y="702286"/>
            <a:ext cx="7144000" cy="2600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Tamaño ITSM, crecimiento por segmento y </a:t>
            </a:r>
            <a:r>
              <a:rPr lang="es-ES" sz="1200" spc="-25" err="1">
                <a:solidFill>
                  <a:srgbClr val="595959"/>
                </a:solidFill>
                <a:latin typeface="Reddit Sans"/>
                <a:ea typeface="Reddit Sans"/>
              </a:rPr>
              <a:t>posici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ón competitiva local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628F3E-F381-F83D-8ACF-953CA0532A02}"/>
              </a:ext>
            </a:extLst>
          </p:cNvPr>
          <p:cNvSpPr txBox="1"/>
          <p:nvPr/>
        </p:nvSpPr>
        <p:spPr>
          <a:xfrm>
            <a:off x="576943" y="4525736"/>
            <a:ext cx="45720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dirty="0">
                <a:solidFill>
                  <a:srgbClr val="6A6A66"/>
                </a:solidFill>
                <a:latin typeface="Reddit Sans"/>
                <a:ea typeface="Reddit Sans"/>
              </a:rPr>
              <a:t>Fuente: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/>
              </a:rPr>
              <a:t>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</a:t>
            </a:r>
            <a:r>
              <a:rPr lang="en-US" sz="700" b="0" i="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Intelligence — South America ITSM Market</a:t>
            </a:r>
            <a:r>
              <a:rPr lang="en-US" sz="700" dirty="0">
                <a:latin typeface="Reddit Sans"/>
                <a:ea typeface="Reddit Sans"/>
              </a:rPr>
              <a:t> </a:t>
            </a:r>
            <a:r>
              <a:rPr lang="es-ES" sz="700" dirty="0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Grand View </a:t>
            </a:r>
            <a:r>
              <a:rPr lang="es-ES" sz="700" dirty="0" err="1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Research</a:t>
            </a:r>
            <a:r>
              <a:rPr lang="es-ES" sz="700" i="1" dirty="0">
                <a:solidFill>
                  <a:srgbClr val="6B7280"/>
                </a:solidFill>
                <a:latin typeface="Reddit Sans"/>
                <a:ea typeface="Reddit Sans"/>
              </a:rPr>
              <a:t> · </a:t>
            </a:r>
            <a:r>
              <a:rPr lang="es-ES" sz="700" dirty="0">
                <a:solidFill>
                  <a:srgbClr val="1A3A8F"/>
                </a:solidFill>
                <a:latin typeface="Reddit Sans"/>
                <a:ea typeface="Reddit Sans"/>
                <a:hlinkClick r:id="rId6"/>
              </a:rPr>
              <a:t>Superfinanciera</a:t>
            </a:r>
            <a:endParaRPr lang="en-US" sz="900" dirty="0">
              <a:latin typeface="Reddit Sans"/>
              <a:ea typeface="Reddit Sans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endParaRPr lang="es-ES" dirty="0"/>
          </a:p>
        </p:txBody>
      </p:sp>
      <p:pic>
        <p:nvPicPr>
          <p:cNvPr id="5" name="Imagen 4" descr="Aranda Software">
            <a:extLst>
              <a:ext uri="{FF2B5EF4-FFF2-40B4-BE49-F238E27FC236}">
                <a16:creationId xmlns:a16="http://schemas.microsoft.com/office/drawing/2014/main" id="{8CEBD39E-C831-D0E8-BAB0-E317D6B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226"/>
          <a:stretch>
            <a:fillRect/>
          </a:stretch>
        </p:blipFill>
        <p:spPr>
          <a:xfrm>
            <a:off x="5247593" y="3909330"/>
            <a:ext cx="488499" cy="21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4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3129" y="128229"/>
            <a:ext cx="8458000" cy="470000"/>
          </a:xfrm>
        </p:spPr>
        <p:txBody>
          <a:bodyPr>
            <a:normAutofit/>
          </a:bodyPr>
          <a:lstStyle/>
          <a:p>
            <a:r>
              <a:rPr lang="es-ES">
                <a:cs typeface="Reddit Sans Light"/>
              </a:rPr>
              <a:t>Cómo compiten los líderes globales de Service </a:t>
            </a:r>
            <a:r>
              <a:rPr lang="es-ES" err="1">
                <a:cs typeface="Reddit Sans Light"/>
              </a:rPr>
              <a:t>Desk</a:t>
            </a:r>
            <a:endParaRPr lang="es-ES">
              <a:cs typeface="Reddit Sans Light"/>
            </a:endParaRPr>
          </a:p>
        </p:txBody>
      </p:sp>
      <p:sp>
        <p:nvSpPr>
          <p:cNvPr id="301" name="subtitle"/>
          <p:cNvSpPr txBox="1"/>
          <p:nvPr/>
        </p:nvSpPr>
        <p:spPr>
          <a:xfrm>
            <a:off x="343000" y="600000"/>
            <a:ext cx="8458000" cy="24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10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La diferenciación ya no está en la plataforma, sino en la capacidad predominante</a:t>
            </a:r>
          </a:p>
        </p:txBody>
      </p:sp>
      <p:sp>
        <p:nvSpPr>
          <p:cNvPr id="303" name="pill"/>
          <p:cNvSpPr/>
          <p:nvPr/>
        </p:nvSpPr>
        <p:spPr>
          <a:xfrm>
            <a:off x="398000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chemeClr val="accent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04" name="chipTL0"/>
          <p:cNvSpPr/>
          <p:nvPr/>
        </p:nvSpPr>
        <p:spPr>
          <a:xfrm>
            <a:off x="4220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</p:txBody>
      </p:sp>
      <p:sp>
        <p:nvSpPr>
          <p:cNvPr id="305" name="chipTL1"/>
          <p:cNvSpPr>
            <a:spLocks/>
          </p:cNvSpPr>
          <p:nvPr/>
        </p:nvSpPr>
        <p:spPr>
          <a:xfrm>
            <a:off x="15395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06" name="chipTL2"/>
          <p:cNvSpPr/>
          <p:nvPr/>
        </p:nvSpPr>
        <p:spPr>
          <a:xfrm>
            <a:off x="4220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</p:txBody>
      </p:sp>
      <p:sp>
        <p:nvSpPr>
          <p:cNvPr id="307" name="chipTL3"/>
          <p:cNvSpPr/>
          <p:nvPr/>
        </p:nvSpPr>
        <p:spPr>
          <a:xfrm>
            <a:off x="15395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08" name="txt"/>
          <p:cNvSpPr txBox="1"/>
          <p:nvPr/>
        </p:nvSpPr>
        <p:spPr>
          <a:xfrm>
            <a:off x="413000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Razonamiento, memoria y ejecución autónoma en agentes inteligentes.</a:t>
            </a:r>
          </a:p>
        </p:txBody>
      </p:sp>
      <p:sp>
        <p:nvSpPr>
          <p:cNvPr id="310" name="pill"/>
          <p:cNvSpPr/>
          <p:nvPr/>
        </p:nvSpPr>
        <p:spPr>
          <a:xfrm>
            <a:off x="2902871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11" name="chipTR0"/>
          <p:cNvSpPr/>
          <p:nvPr/>
        </p:nvSpPr>
        <p:spPr>
          <a:xfrm>
            <a:off x="29268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</p:txBody>
      </p:sp>
      <p:sp>
        <p:nvSpPr>
          <p:cNvPr id="312" name="chipTR1"/>
          <p:cNvSpPr/>
          <p:nvPr/>
        </p:nvSpPr>
        <p:spPr>
          <a:xfrm>
            <a:off x="40443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13" name="chipTR2"/>
          <p:cNvSpPr>
            <a:spLocks/>
          </p:cNvSpPr>
          <p:nvPr/>
        </p:nvSpPr>
        <p:spPr>
          <a:xfrm>
            <a:off x="29268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</p:txBody>
      </p:sp>
      <p:sp>
        <p:nvSpPr>
          <p:cNvPr id="314" name="chipTR3"/>
          <p:cNvSpPr/>
          <p:nvPr/>
        </p:nvSpPr>
        <p:spPr>
          <a:xfrm>
            <a:off x="40443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15" name="txt"/>
          <p:cNvSpPr txBox="1">
            <a:spLocks/>
          </p:cNvSpPr>
          <p:nvPr/>
        </p:nvSpPr>
        <p:spPr>
          <a:xfrm>
            <a:off x="2917871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Métricas de experiencia (XLA), sentimiento y productividad del empleado.</a:t>
            </a:r>
          </a:p>
        </p:txBody>
      </p:sp>
      <p:sp>
        <p:nvSpPr>
          <p:cNvPr id="317" name="pill"/>
          <p:cNvSpPr>
            <a:spLocks/>
          </p:cNvSpPr>
          <p:nvPr/>
        </p:nvSpPr>
        <p:spPr>
          <a:xfrm>
            <a:off x="419771" y="2770443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7FBF39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18" name="chipBL0"/>
          <p:cNvSpPr>
            <a:spLocks/>
          </p:cNvSpPr>
          <p:nvPr/>
        </p:nvSpPr>
        <p:spPr>
          <a:xfrm>
            <a:off x="4220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</p:txBody>
      </p:sp>
      <p:sp>
        <p:nvSpPr>
          <p:cNvPr id="319" name="chipBL1"/>
          <p:cNvSpPr>
            <a:spLocks/>
          </p:cNvSpPr>
          <p:nvPr/>
        </p:nvSpPr>
        <p:spPr>
          <a:xfrm>
            <a:off x="15395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</p:txBody>
      </p:sp>
      <p:sp>
        <p:nvSpPr>
          <p:cNvPr id="320" name="chipBL2"/>
          <p:cNvSpPr/>
          <p:nvPr/>
        </p:nvSpPr>
        <p:spPr>
          <a:xfrm>
            <a:off x="4220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21" name="chipBL3"/>
          <p:cNvSpPr/>
          <p:nvPr/>
        </p:nvSpPr>
        <p:spPr>
          <a:xfrm>
            <a:off x="15395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22" name="txt"/>
          <p:cNvSpPr txBox="1">
            <a:spLocks/>
          </p:cNvSpPr>
          <p:nvPr/>
        </p:nvSpPr>
        <p:spPr>
          <a:xfrm>
            <a:off x="413000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Remediación automática, detección de anomalías y operaciones sin intervención.</a:t>
            </a:r>
          </a:p>
        </p:txBody>
      </p:sp>
      <p:sp>
        <p:nvSpPr>
          <p:cNvPr id="324" name="pill"/>
          <p:cNvSpPr>
            <a:spLocks/>
          </p:cNvSpPr>
          <p:nvPr/>
        </p:nvSpPr>
        <p:spPr>
          <a:xfrm>
            <a:off x="2902871" y="276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7030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25" name="chipBR0"/>
          <p:cNvSpPr>
            <a:spLocks/>
          </p:cNvSpPr>
          <p:nvPr/>
        </p:nvSpPr>
        <p:spPr>
          <a:xfrm>
            <a:off x="29268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</p:txBody>
      </p:sp>
      <p:sp>
        <p:nvSpPr>
          <p:cNvPr id="326" name="chipBR1"/>
          <p:cNvSpPr/>
          <p:nvPr/>
        </p:nvSpPr>
        <p:spPr>
          <a:xfrm>
            <a:off x="40443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27" name="chipBR2"/>
          <p:cNvSpPr/>
          <p:nvPr/>
        </p:nvSpPr>
        <p:spPr>
          <a:xfrm>
            <a:off x="29268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</p:txBody>
      </p:sp>
      <p:sp>
        <p:nvSpPr>
          <p:cNvPr id="328" name="chipBR3"/>
          <p:cNvSpPr/>
          <p:nvPr/>
        </p:nvSpPr>
        <p:spPr>
          <a:xfrm>
            <a:off x="40443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29" name="txt"/>
          <p:cNvSpPr txBox="1"/>
          <p:nvPr/>
        </p:nvSpPr>
        <p:spPr>
          <a:xfrm>
            <a:off x="2917871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Operación end-to-end, cobertura global y modelos orientados a resultados.</a:t>
            </a:r>
          </a:p>
        </p:txBody>
      </p:sp>
      <p:sp>
        <p:nvSpPr>
          <p:cNvPr id="330" name="axisY"/>
          <p:cNvSpPr txBox="1"/>
          <p:nvPr/>
        </p:nvSpPr>
        <p:spPr>
          <a:xfrm>
            <a:off x="1300943" y="847472"/>
            <a:ext cx="3862058" cy="220886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▲  MADUREZ DE IA</a:t>
            </a:r>
          </a:p>
        </p:txBody>
      </p:sp>
      <p:sp>
        <p:nvSpPr>
          <p:cNvPr id="331" name="axisX"/>
          <p:cNvSpPr txBox="1"/>
          <p:nvPr/>
        </p:nvSpPr>
        <p:spPr>
          <a:xfrm>
            <a:off x="343000" y="4238543"/>
            <a:ext cx="4820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ESCALA OPERATIVA  ▶</a:t>
            </a:r>
          </a:p>
        </p:txBody>
      </p:sp>
      <p:sp>
        <p:nvSpPr>
          <p:cNvPr id="332" name="sb0"/>
          <p:cNvSpPr/>
          <p:nvPr/>
        </p:nvSpPr>
        <p:spPr>
          <a:xfrm>
            <a:off x="5515057" y="598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3" name="acc"/>
          <p:cNvSpPr/>
          <p:nvPr/>
        </p:nvSpPr>
        <p:spPr>
          <a:xfrm>
            <a:off x="5515057" y="598500"/>
            <a:ext cx="55000" cy="719500"/>
          </a:xfrm>
          <a:prstGeom prst="rect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4" name="mk"/>
          <p:cNvSpPr/>
          <p:nvPr/>
        </p:nvSpPr>
        <p:spPr>
          <a:xfrm>
            <a:off x="5635057" y="658500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5" name="txt"/>
          <p:cNvSpPr txBox="1"/>
          <p:nvPr/>
        </p:nvSpPr>
        <p:spPr>
          <a:xfrm>
            <a:off x="5825057" y="628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36" name="txt"/>
          <p:cNvSpPr txBox="1"/>
          <p:nvPr/>
        </p:nvSpPr>
        <p:spPr>
          <a:xfrm>
            <a:off x="5635057" y="8376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37" name="txt"/>
          <p:cNvSpPr txBox="1"/>
          <p:nvPr/>
        </p:nvSpPr>
        <p:spPr>
          <a:xfrm>
            <a:off x="6935057" y="8376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Agentic AI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 y memoria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Ejecución autónoma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Zero-touch operations</a:t>
            </a:r>
          </a:p>
        </p:txBody>
      </p:sp>
      <p:sp>
        <p:nvSpPr>
          <p:cNvPr id="338" name="sb1"/>
          <p:cNvSpPr/>
          <p:nvPr/>
        </p:nvSpPr>
        <p:spPr>
          <a:xfrm>
            <a:off x="5515057" y="1362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9" name="acc"/>
          <p:cNvSpPr/>
          <p:nvPr/>
        </p:nvSpPr>
        <p:spPr>
          <a:xfrm>
            <a:off x="5515057" y="1362000"/>
            <a:ext cx="55000" cy="719500"/>
          </a:xfrm>
          <a:prstGeom prst="rect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0" name="mk"/>
          <p:cNvSpPr/>
          <p:nvPr/>
        </p:nvSpPr>
        <p:spPr>
          <a:xfrm>
            <a:off x="5635057" y="1422000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1" name="txt"/>
          <p:cNvSpPr txBox="1"/>
          <p:nvPr/>
        </p:nvSpPr>
        <p:spPr>
          <a:xfrm>
            <a:off x="5825057" y="1392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42" name="txt"/>
          <p:cNvSpPr txBox="1"/>
          <p:nvPr/>
        </p:nvSpPr>
        <p:spPr>
          <a:xfrm>
            <a:off x="5635057" y="16011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43" name="txt"/>
          <p:cNvSpPr txBox="1"/>
          <p:nvPr/>
        </p:nvSpPr>
        <p:spPr>
          <a:xfrm>
            <a:off x="6935057" y="16011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Auto-remediación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AIOps y observabilidad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Prevención de fallos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Operaciones sin intervención</a:t>
            </a:r>
          </a:p>
        </p:txBody>
      </p:sp>
      <p:sp>
        <p:nvSpPr>
          <p:cNvPr id="344" name="sb2"/>
          <p:cNvSpPr/>
          <p:nvPr/>
        </p:nvSpPr>
        <p:spPr>
          <a:xfrm>
            <a:off x="5515057" y="2125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5" name="acc"/>
          <p:cNvSpPr/>
          <p:nvPr/>
        </p:nvSpPr>
        <p:spPr>
          <a:xfrm>
            <a:off x="5515057" y="2125500"/>
            <a:ext cx="55000" cy="719500"/>
          </a:xfrm>
          <a:prstGeom prst="rect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6" name="mk"/>
          <p:cNvSpPr>
            <a:spLocks/>
          </p:cNvSpPr>
          <p:nvPr/>
        </p:nvSpPr>
        <p:spPr>
          <a:xfrm>
            <a:off x="5635057" y="2185500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7" name="txt"/>
          <p:cNvSpPr txBox="1">
            <a:spLocks/>
          </p:cNvSpPr>
          <p:nvPr/>
        </p:nvSpPr>
        <p:spPr>
          <a:xfrm>
            <a:off x="5825057" y="2155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48" name="txt"/>
          <p:cNvSpPr txBox="1"/>
          <p:nvPr/>
        </p:nvSpPr>
        <p:spPr>
          <a:xfrm>
            <a:off x="5635057" y="23646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49" name="txt"/>
          <p:cNvSpPr txBox="1">
            <a:spLocks/>
          </p:cNvSpPr>
          <p:nvPr/>
        </p:nvSpPr>
        <p:spPr>
          <a:xfrm>
            <a:off x="6935057" y="23646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Experience Level Agreements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Sentimiento del empleado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Productividad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FCR y CSAT superiores</a:t>
            </a:r>
          </a:p>
        </p:txBody>
      </p:sp>
      <p:sp>
        <p:nvSpPr>
          <p:cNvPr id="350" name="sb3"/>
          <p:cNvSpPr>
            <a:spLocks/>
          </p:cNvSpPr>
          <p:nvPr/>
        </p:nvSpPr>
        <p:spPr>
          <a:xfrm>
            <a:off x="5515057" y="2889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1" name="acc"/>
          <p:cNvSpPr/>
          <p:nvPr/>
        </p:nvSpPr>
        <p:spPr>
          <a:xfrm>
            <a:off x="5515057" y="2889000"/>
            <a:ext cx="55000" cy="719500"/>
          </a:xfrm>
          <a:prstGeom prst="rect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2" name="mk"/>
          <p:cNvSpPr>
            <a:spLocks/>
          </p:cNvSpPr>
          <p:nvPr/>
        </p:nvSpPr>
        <p:spPr>
          <a:xfrm>
            <a:off x="5635057" y="2949000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3" name="txt"/>
          <p:cNvSpPr txBox="1"/>
          <p:nvPr/>
        </p:nvSpPr>
        <p:spPr>
          <a:xfrm>
            <a:off x="5825057" y="2919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54" name="txt"/>
          <p:cNvSpPr txBox="1"/>
          <p:nvPr/>
        </p:nvSpPr>
        <p:spPr>
          <a:xfrm>
            <a:off x="5635057" y="31281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55" name="txt"/>
          <p:cNvSpPr txBox="1"/>
          <p:nvPr/>
        </p:nvSpPr>
        <p:spPr>
          <a:xfrm>
            <a:off x="6935057" y="31281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Cobertura global 24x7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Modelos outcome-based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Transformación operativa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Responsabilidad end-to-end</a:t>
            </a:r>
          </a:p>
        </p:txBody>
      </p:sp>
      <p:sp>
        <p:nvSpPr>
          <p:cNvPr id="356" name="stmt"/>
          <p:cNvSpPr/>
          <p:nvPr/>
        </p:nvSpPr>
        <p:spPr>
          <a:xfrm>
            <a:off x="342999" y="4443599"/>
            <a:ext cx="7591256" cy="378743"/>
          </a:xfrm>
          <a:prstGeom prst="roundRect">
            <a:avLst>
              <a:gd name="adj" fmla="val 7000"/>
            </a:avLst>
          </a:prstGeom>
          <a:ln w="127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000" tIns="10000" rIns="45000" bIns="10000" anchor="ctr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s-ES" sz="9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Los proveedores convergen en capacidades, pero la diferenciación está en la </a:t>
            </a:r>
            <a:r>
              <a:rPr lang="es-ES" sz="900" b="1">
                <a:solidFill>
                  <a:srgbClr val="7FD4D0"/>
                </a:solidFill>
                <a:latin typeface="Reddit Sans"/>
                <a:ea typeface="Reddit Sans"/>
                <a:cs typeface="Reddit Sans Light"/>
              </a:rPr>
              <a:t>profundidad de la IA, la automatización y los resultados de negocio</a:t>
            </a: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s-ES" sz="9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que entregan.</a:t>
            </a:r>
          </a:p>
        </p:txBody>
      </p:sp>
      <p:sp>
        <p:nvSpPr>
          <p:cNvPr id="357" name="tkdot"/>
          <p:cNvSpPr/>
          <p:nvPr/>
        </p:nvSpPr>
        <p:spPr>
          <a:xfrm>
            <a:off x="5545328" y="3727485"/>
            <a:ext cx="130000" cy="13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8" name="txt"/>
          <p:cNvSpPr txBox="1"/>
          <p:nvPr/>
        </p:nvSpPr>
        <p:spPr>
          <a:xfrm>
            <a:off x="5535328" y="3877485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IA impulsa la autonomía y las decisiones.</a:t>
            </a:r>
          </a:p>
        </p:txBody>
      </p:sp>
      <p:sp>
        <p:nvSpPr>
          <p:cNvPr id="359" name="tkdot"/>
          <p:cNvSpPr/>
          <p:nvPr/>
        </p:nvSpPr>
        <p:spPr>
          <a:xfrm>
            <a:off x="6447357" y="3727485"/>
            <a:ext cx="130000" cy="13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0" name="txt"/>
          <p:cNvSpPr txBox="1"/>
          <p:nvPr/>
        </p:nvSpPr>
        <p:spPr>
          <a:xfrm>
            <a:off x="6388371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automatización reduce costos y previene fallos.</a:t>
            </a:r>
          </a:p>
        </p:txBody>
      </p:sp>
      <p:sp>
        <p:nvSpPr>
          <p:cNvPr id="361" name="tkdot"/>
          <p:cNvSpPr/>
          <p:nvPr/>
        </p:nvSpPr>
        <p:spPr>
          <a:xfrm>
            <a:off x="7251413" y="3732928"/>
            <a:ext cx="130000" cy="13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2" name="txt"/>
          <p:cNvSpPr txBox="1"/>
          <p:nvPr/>
        </p:nvSpPr>
        <p:spPr>
          <a:xfrm>
            <a:off x="7241413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experiencia del empleado es el nuevo SLA.</a:t>
            </a:r>
          </a:p>
        </p:txBody>
      </p:sp>
      <p:sp>
        <p:nvSpPr>
          <p:cNvPr id="363" name="tkdot"/>
          <p:cNvSpPr/>
          <p:nvPr/>
        </p:nvSpPr>
        <p:spPr>
          <a:xfrm>
            <a:off x="8104456" y="3732928"/>
            <a:ext cx="130000" cy="13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4" name="txt"/>
          <p:cNvSpPr txBox="1"/>
          <p:nvPr/>
        </p:nvSpPr>
        <p:spPr>
          <a:xfrm>
            <a:off x="8105340" y="3882928"/>
            <a:ext cx="855257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El modelo gestionado asegura resultados sostenibles.</a:t>
            </a:r>
          </a:p>
        </p:txBody>
      </p:sp>
      <p:sp>
        <p:nvSpPr>
          <p:cNvPr id="365" name="src"/>
          <p:cNvSpPr txBox="1"/>
          <p:nvPr/>
        </p:nvSpPr>
        <p:spPr>
          <a:xfrm>
            <a:off x="353885" y="4880000"/>
            <a:ext cx="7600000" cy="22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Fuente: Gartner ITSM Market Guide 2024 · Gartner AI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Applications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in ITSM 2024 · IDC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MarketScape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: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Worldwide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ITSM 2024 · HDI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Benchmarks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2024-2025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10B77E44-CDA2-C401-ABF9-5C520D9C4C6F}"/>
              </a:ext>
            </a:extLst>
          </p:cNvPr>
          <p:cNvCxnSpPr/>
          <p:nvPr/>
        </p:nvCxnSpPr>
        <p:spPr>
          <a:xfrm flipH="1" flipV="1">
            <a:off x="2778434" y="1066800"/>
            <a:ext cx="24063" cy="3112168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E6FC09E6-FD59-EEC1-568A-BCA39B87F200}"/>
              </a:ext>
            </a:extLst>
          </p:cNvPr>
          <p:cNvCxnSpPr>
            <a:cxnSpLocks/>
          </p:cNvCxnSpPr>
          <p:nvPr/>
        </p:nvCxnSpPr>
        <p:spPr>
          <a:xfrm flipV="1">
            <a:off x="352720" y="4203042"/>
            <a:ext cx="4907164" cy="15181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k">
            <a:extLst>
              <a:ext uri="{FF2B5EF4-FFF2-40B4-BE49-F238E27FC236}">
                <a16:creationId xmlns:a16="http://schemas.microsoft.com/office/drawing/2014/main" id="{C971E5F3-1445-3338-E008-0A5EE02BE569}"/>
              </a:ext>
            </a:extLst>
          </p:cNvPr>
          <p:cNvSpPr>
            <a:spLocks/>
          </p:cNvSpPr>
          <p:nvPr/>
        </p:nvSpPr>
        <p:spPr>
          <a:xfrm>
            <a:off x="2924514" y="2802043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" name="mk">
            <a:extLst>
              <a:ext uri="{FF2B5EF4-FFF2-40B4-BE49-F238E27FC236}">
                <a16:creationId xmlns:a16="http://schemas.microsoft.com/office/drawing/2014/main" id="{8DD62482-CAFD-92A8-0EC4-6BE1ED18E5C0}"/>
              </a:ext>
            </a:extLst>
          </p:cNvPr>
          <p:cNvSpPr>
            <a:spLocks/>
          </p:cNvSpPr>
          <p:nvPr/>
        </p:nvSpPr>
        <p:spPr>
          <a:xfrm>
            <a:off x="2924514" y="1243885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mk">
            <a:extLst>
              <a:ext uri="{FF2B5EF4-FFF2-40B4-BE49-F238E27FC236}">
                <a16:creationId xmlns:a16="http://schemas.microsoft.com/office/drawing/2014/main" id="{80D00D46-CF6B-8282-C64B-C7C3259E2024}"/>
              </a:ext>
            </a:extLst>
          </p:cNvPr>
          <p:cNvSpPr/>
          <p:nvPr/>
        </p:nvSpPr>
        <p:spPr>
          <a:xfrm>
            <a:off x="420800" y="2799043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" name="mk">
            <a:extLst>
              <a:ext uri="{FF2B5EF4-FFF2-40B4-BE49-F238E27FC236}">
                <a16:creationId xmlns:a16="http://schemas.microsoft.com/office/drawing/2014/main" id="{68D6A990-98AC-1DC1-EA58-1A393AB99E9A}"/>
              </a:ext>
            </a:extLst>
          </p:cNvPr>
          <p:cNvSpPr/>
          <p:nvPr/>
        </p:nvSpPr>
        <p:spPr>
          <a:xfrm>
            <a:off x="415357" y="1246328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/>
              <a:t>El Costo de No </a:t>
            </a:r>
            <a:r>
              <a:rPr lang="en-US" sz="1400" err="1"/>
              <a:t>Evolucionar</a:t>
            </a:r>
            <a:endParaRPr lang="es-CO" sz="140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2929" y="3982521"/>
            <a:ext cx="5256712" cy="371204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-578609" y="4093338"/>
            <a:ext cx="7297782" cy="3346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Cada ticket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evitado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mediante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Shift-Left reduce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costos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tiempos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resolución</a:t>
            </a:r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  <a:p>
            <a:pPr algn="ctr"/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La mesa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reactiva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indefendible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comercialmente</a:t>
            </a: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b="1" u="sng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C94BB872-B187-C3FA-2DF5-D6DA327DB98F}"/>
              </a:ext>
            </a:extLst>
          </p:cNvPr>
          <p:cNvSpPr txBox="1">
            <a:spLocks noGrp="1"/>
          </p:cNvSpPr>
          <p:nvPr/>
        </p:nvSpPr>
        <p:spPr>
          <a:xfrm>
            <a:off x="320040" y="44622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State of IT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Ivanti Agentic AI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Cost per Ticket</a:t>
            </a:r>
            <a:endParaRPr lang="es-ES" sz="75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303D37-CBEA-BBBA-D0B0-3068D4DD7EAB}"/>
              </a:ext>
            </a:extLst>
          </p:cNvPr>
          <p:cNvSpPr txBox="1"/>
          <p:nvPr/>
        </p:nvSpPr>
        <p:spPr>
          <a:xfrm>
            <a:off x="5742214" y="4041321"/>
            <a:ext cx="280851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b="1" i="0">
                <a:latin typeface="Reddit Sans"/>
                <a:ea typeface="Reddit Sans"/>
                <a:cs typeface="Segoe UI"/>
              </a:rPr>
              <a:t>Shift-Left (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Desplazamiento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hacia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la Izquierda):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Estrategia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gestión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servicios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que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busca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resolver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incidentes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solicitudes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los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niveles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más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cercanos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al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usuario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(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autoservicio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base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conocimiento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chatbot o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soporte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N1),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evitando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escalaciones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innecesarias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reduciendo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costos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tiempos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atención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esfuerzo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operativo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.</a:t>
            </a:r>
          </a:p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415" y="178621"/>
            <a:ext cx="8232771" cy="39852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Visualización</a:t>
            </a:r>
            <a:r>
              <a:rPr lang="en-US" dirty="0"/>
              <a:t>: Benchmarks de </a:t>
            </a:r>
            <a:r>
              <a:rPr lang="es-CO" dirty="0"/>
              <a:t>industria</a:t>
            </a:r>
            <a:r>
              <a:rPr lang="es-CO" sz="1200" dirty="0"/>
              <a:t> </a:t>
            </a:r>
          </a:p>
        </p:txBody>
      </p:sp>
      <p:sp>
        <p:nvSpPr>
          <p:cNvPr id="102" name="txt102"/>
          <p:cNvSpPr>
            <a:spLocks noGrp="1"/>
          </p:cNvSpPr>
          <p:nvPr/>
        </p:nvSpPr>
        <p:spPr>
          <a:xfrm>
            <a:off x="311331" y="631155"/>
            <a:ext cx="8412480" cy="237744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Promedio industria vs. World-Class vs. Next Gen Objetivo</a:t>
            </a:r>
          </a:p>
        </p:txBody>
      </p:sp>
      <p:sp>
        <p:nvSpPr>
          <p:cNvPr id="103" name="txt103"/>
          <p:cNvSpPr>
            <a:spLocks noGrp="1"/>
          </p:cNvSpPr>
          <p:nvPr/>
        </p:nvSpPr>
        <p:spPr>
          <a:xfrm>
            <a:off x="27432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FCR (First Contact Resolution)</a:t>
            </a:r>
          </a:p>
        </p:txBody>
      </p:sp>
      <p:sp>
        <p:nvSpPr>
          <p:cNvPr id="104" name="bar104"/>
          <p:cNvSpPr/>
          <p:nvPr/>
        </p:nvSpPr>
        <p:spPr>
          <a:xfrm>
            <a:off x="32004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bar105"/>
          <p:cNvSpPr/>
          <p:nvPr/>
        </p:nvSpPr>
        <p:spPr>
          <a:xfrm>
            <a:off x="320040" y="1481328"/>
            <a:ext cx="1725473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txt106"/>
          <p:cNvSpPr>
            <a:spLocks noGrp="1"/>
          </p:cNvSpPr>
          <p:nvPr/>
        </p:nvSpPr>
        <p:spPr>
          <a:xfrm>
            <a:off x="320040" y="1472184"/>
            <a:ext cx="1707185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74%</a:t>
            </a:r>
          </a:p>
        </p:txBody>
      </p:sp>
      <p:sp>
        <p:nvSpPr>
          <p:cNvPr id="107" name="txt107"/>
          <p:cNvSpPr>
            <a:spLocks noGrp="1"/>
          </p:cNvSpPr>
          <p:nvPr/>
        </p:nvSpPr>
        <p:spPr>
          <a:xfrm>
            <a:off x="320040" y="1687068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Promedio industria</a:t>
            </a:r>
          </a:p>
        </p:txBody>
      </p:sp>
      <p:sp>
        <p:nvSpPr>
          <p:cNvPr id="108" name="bar108"/>
          <p:cNvSpPr/>
          <p:nvPr/>
        </p:nvSpPr>
        <p:spPr>
          <a:xfrm>
            <a:off x="320040" y="195681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9" name="bar109"/>
          <p:cNvSpPr/>
          <p:nvPr/>
        </p:nvSpPr>
        <p:spPr>
          <a:xfrm>
            <a:off x="320040" y="1956816"/>
            <a:ext cx="1865376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0" name="txt110"/>
          <p:cNvSpPr>
            <a:spLocks noGrp="1"/>
          </p:cNvSpPr>
          <p:nvPr/>
        </p:nvSpPr>
        <p:spPr>
          <a:xfrm>
            <a:off x="320040" y="1947672"/>
            <a:ext cx="1847088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80%+</a:t>
            </a:r>
          </a:p>
        </p:txBody>
      </p:sp>
      <p:sp>
        <p:nvSpPr>
          <p:cNvPr id="111" name="txt111"/>
          <p:cNvSpPr>
            <a:spLocks noGrp="1"/>
          </p:cNvSpPr>
          <p:nvPr/>
        </p:nvSpPr>
        <p:spPr>
          <a:xfrm>
            <a:off x="320040" y="2162556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12" name="bar112"/>
          <p:cNvSpPr/>
          <p:nvPr/>
        </p:nvSpPr>
        <p:spPr>
          <a:xfrm>
            <a:off x="320040" y="243230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bar113"/>
          <p:cNvSpPr/>
          <p:nvPr/>
        </p:nvSpPr>
        <p:spPr>
          <a:xfrm>
            <a:off x="320040" y="2432304"/>
            <a:ext cx="1981962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xt114"/>
          <p:cNvSpPr>
            <a:spLocks noGrp="1"/>
          </p:cNvSpPr>
          <p:nvPr/>
        </p:nvSpPr>
        <p:spPr>
          <a:xfrm>
            <a:off x="320040" y="2423160"/>
            <a:ext cx="1963674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85%+</a:t>
            </a:r>
          </a:p>
        </p:txBody>
      </p:sp>
      <p:sp>
        <p:nvSpPr>
          <p:cNvPr id="115" name="txt115"/>
          <p:cNvSpPr>
            <a:spLocks noGrp="1"/>
          </p:cNvSpPr>
          <p:nvPr/>
        </p:nvSpPr>
        <p:spPr>
          <a:xfrm>
            <a:off x="320040" y="2638044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Objetivo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(N5)</a:t>
            </a:r>
          </a:p>
        </p:txBody>
      </p:sp>
      <p:sp>
        <p:nvSpPr>
          <p:cNvPr id="116" name="txt116"/>
          <p:cNvSpPr>
            <a:spLocks noGrp="1"/>
          </p:cNvSpPr>
          <p:nvPr/>
        </p:nvSpPr>
        <p:spPr>
          <a:xfrm>
            <a:off x="274320" y="3112008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Deflection Rate</a:t>
            </a:r>
          </a:p>
        </p:txBody>
      </p:sp>
      <p:sp>
        <p:nvSpPr>
          <p:cNvPr id="117" name="bar117"/>
          <p:cNvSpPr/>
          <p:nvPr/>
        </p:nvSpPr>
        <p:spPr>
          <a:xfrm>
            <a:off x="320040" y="3467971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8" name="bar118"/>
          <p:cNvSpPr/>
          <p:nvPr/>
        </p:nvSpPr>
        <p:spPr>
          <a:xfrm>
            <a:off x="320040" y="3467971"/>
            <a:ext cx="536296" cy="201168"/>
          </a:xfrm>
          <a:prstGeom prst="roundRect">
            <a:avLst>
              <a:gd name="adj" fmla="val 2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txt119"/>
          <p:cNvSpPr>
            <a:spLocks noGrp="1"/>
          </p:cNvSpPr>
          <p:nvPr/>
        </p:nvSpPr>
        <p:spPr>
          <a:xfrm>
            <a:off x="902056" y="3458827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7A7974"/>
                </a:solidFill>
                <a:latin typeface="Aptos"/>
              </a:rPr>
              <a:t>23%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industria</a:t>
            </a:r>
          </a:p>
        </p:txBody>
      </p:sp>
      <p:sp>
        <p:nvSpPr>
          <p:cNvPr id="120" name="bar120"/>
          <p:cNvSpPr/>
          <p:nvPr/>
        </p:nvSpPr>
        <p:spPr>
          <a:xfrm>
            <a:off x="320040" y="3778867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1" name="bar121"/>
          <p:cNvSpPr/>
          <p:nvPr/>
        </p:nvSpPr>
        <p:spPr>
          <a:xfrm>
            <a:off x="320040" y="3778867"/>
            <a:ext cx="1165860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txt122"/>
          <p:cNvSpPr>
            <a:spLocks noGrp="1"/>
          </p:cNvSpPr>
          <p:nvPr/>
        </p:nvSpPr>
        <p:spPr>
          <a:xfrm>
            <a:off x="1508760" y="3769723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237B89"/>
                </a:solidFill>
                <a:latin typeface="Aptos"/>
              </a:rPr>
              <a:t>50%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maduro</a:t>
            </a:r>
          </a:p>
        </p:txBody>
      </p:sp>
      <p:sp>
        <p:nvSpPr>
          <p:cNvPr id="123" name="bar123"/>
          <p:cNvSpPr/>
          <p:nvPr/>
        </p:nvSpPr>
        <p:spPr>
          <a:xfrm>
            <a:off x="320040" y="4089763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4" name="bar124"/>
          <p:cNvSpPr/>
          <p:nvPr/>
        </p:nvSpPr>
        <p:spPr>
          <a:xfrm>
            <a:off x="320040" y="4089763"/>
            <a:ext cx="2098548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xt125"/>
          <p:cNvSpPr>
            <a:spLocks noGrp="1"/>
          </p:cNvSpPr>
          <p:nvPr/>
        </p:nvSpPr>
        <p:spPr>
          <a:xfrm>
            <a:off x="1508760" y="4080619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90%+</a:t>
            </a:r>
          </a:p>
        </p:txBody>
      </p:sp>
      <p:sp>
        <p:nvSpPr>
          <p:cNvPr id="126" name="txt126"/>
          <p:cNvSpPr>
            <a:spLocks noGrp="1"/>
          </p:cNvSpPr>
          <p:nvPr/>
        </p:nvSpPr>
        <p:spPr>
          <a:xfrm>
            <a:off x="320040" y="4400659"/>
            <a:ext cx="274320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IA </a:t>
            </a:r>
            <a:r>
              <a:rPr lang="es-CO" sz="850" b="0" err="1">
                <a:solidFill>
                  <a:srgbClr val="7A7A7A"/>
                </a:solidFill>
                <a:latin typeface="Aptos"/>
              </a:rPr>
              <a:t>agéntica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(casos líderes)</a:t>
            </a:r>
          </a:p>
        </p:txBody>
      </p:sp>
      <p:sp>
        <p:nvSpPr>
          <p:cNvPr id="127" name="txt127"/>
          <p:cNvSpPr>
            <a:spLocks noGrp="1"/>
          </p:cNvSpPr>
          <p:nvPr/>
        </p:nvSpPr>
        <p:spPr>
          <a:xfrm>
            <a:off x="3107871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MTTR (Mean Time to Resolution)</a:t>
            </a:r>
          </a:p>
        </p:txBody>
      </p:sp>
      <p:sp>
        <p:nvSpPr>
          <p:cNvPr id="128" name="bar128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9" name="bar129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0" name="txt130"/>
          <p:cNvSpPr>
            <a:spLocks noGrp="1"/>
          </p:cNvSpPr>
          <p:nvPr/>
        </p:nvSpPr>
        <p:spPr>
          <a:xfrm>
            <a:off x="3246120" y="1472184"/>
            <a:ext cx="2313432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8.85h</a:t>
            </a:r>
          </a:p>
        </p:txBody>
      </p:sp>
      <p:sp>
        <p:nvSpPr>
          <p:cNvPr id="131" name="txt131"/>
          <p:cNvSpPr>
            <a:spLocks noGrp="1"/>
          </p:cNvSpPr>
          <p:nvPr/>
        </p:nvSpPr>
        <p:spPr>
          <a:xfrm>
            <a:off x="3246120" y="1737360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Bueno</a:t>
            </a:r>
          </a:p>
        </p:txBody>
      </p:sp>
      <p:sp>
        <p:nvSpPr>
          <p:cNvPr id="132" name="bar132"/>
          <p:cNvSpPr/>
          <p:nvPr/>
        </p:nvSpPr>
        <p:spPr>
          <a:xfrm>
            <a:off x="3246120" y="1901952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3" name="bar133"/>
          <p:cNvSpPr/>
          <p:nvPr/>
        </p:nvSpPr>
        <p:spPr>
          <a:xfrm>
            <a:off x="3246120" y="1901952"/>
            <a:ext cx="1049274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4" name="txt134"/>
          <p:cNvSpPr>
            <a:spLocks noGrp="1"/>
          </p:cNvSpPr>
          <p:nvPr/>
        </p:nvSpPr>
        <p:spPr>
          <a:xfrm>
            <a:off x="3246120" y="1892808"/>
            <a:ext cx="1030986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&lt;4h</a:t>
            </a:r>
          </a:p>
        </p:txBody>
      </p:sp>
      <p:sp>
        <p:nvSpPr>
          <p:cNvPr id="135" name="txt135"/>
          <p:cNvSpPr>
            <a:spLocks noGrp="1"/>
          </p:cNvSpPr>
          <p:nvPr/>
        </p:nvSpPr>
        <p:spPr>
          <a:xfrm>
            <a:off x="3246120" y="2157984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36" name="bar136"/>
          <p:cNvSpPr/>
          <p:nvPr/>
        </p:nvSpPr>
        <p:spPr>
          <a:xfrm>
            <a:off x="3246120" y="232257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7" name="bar137"/>
          <p:cNvSpPr/>
          <p:nvPr/>
        </p:nvSpPr>
        <p:spPr>
          <a:xfrm>
            <a:off x="3246120" y="2322576"/>
            <a:ext cx="349758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8" name="txt138"/>
          <p:cNvSpPr>
            <a:spLocks noGrp="1"/>
          </p:cNvSpPr>
          <p:nvPr/>
        </p:nvSpPr>
        <p:spPr>
          <a:xfrm>
            <a:off x="3623310" y="2313432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132346"/>
                </a:solidFill>
                <a:latin typeface="Aptos"/>
              </a:rPr>
              <a:t>&lt;1h</a:t>
            </a:r>
          </a:p>
        </p:txBody>
      </p:sp>
      <p:sp>
        <p:nvSpPr>
          <p:cNvPr id="139" name="txt139"/>
          <p:cNvSpPr>
            <a:spLocks noGrp="1"/>
          </p:cNvSpPr>
          <p:nvPr/>
        </p:nvSpPr>
        <p:spPr>
          <a:xfrm>
            <a:off x="3246120" y="2578608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(N5)</a:t>
            </a:r>
          </a:p>
        </p:txBody>
      </p:sp>
      <p:sp>
        <p:nvSpPr>
          <p:cNvPr id="140" name="bar140"/>
          <p:cNvSpPr/>
          <p:nvPr/>
        </p:nvSpPr>
        <p:spPr>
          <a:xfrm>
            <a:off x="3246120" y="274320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1" name="bar141"/>
          <p:cNvSpPr/>
          <p:nvPr/>
        </p:nvSpPr>
        <p:spPr>
          <a:xfrm>
            <a:off x="3246120" y="2743200"/>
            <a:ext cx="582930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2" name="txt142"/>
          <p:cNvSpPr>
            <a:spLocks noGrp="1"/>
          </p:cNvSpPr>
          <p:nvPr/>
        </p:nvSpPr>
        <p:spPr>
          <a:xfrm>
            <a:off x="3856482" y="2734056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&lt;2h</a:t>
            </a:r>
          </a:p>
        </p:txBody>
      </p:sp>
      <p:sp>
        <p:nvSpPr>
          <p:cNvPr id="143" name="txt143"/>
          <p:cNvSpPr>
            <a:spLocks noGrp="1"/>
          </p:cNvSpPr>
          <p:nvPr/>
        </p:nvSpPr>
        <p:spPr>
          <a:xfrm>
            <a:off x="3200400" y="3108960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Impacto GenAI en Métricas</a:t>
            </a:r>
          </a:p>
        </p:txBody>
      </p:sp>
      <p:sp>
        <p:nvSpPr>
          <p:cNvPr id="144" name="bar144"/>
          <p:cNvSpPr/>
          <p:nvPr/>
        </p:nvSpPr>
        <p:spPr>
          <a:xfrm>
            <a:off x="3200400" y="3419856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5" name="txt145"/>
          <p:cNvSpPr>
            <a:spLocks noGrp="1"/>
          </p:cNvSpPr>
          <p:nvPr/>
        </p:nvSpPr>
        <p:spPr>
          <a:xfrm>
            <a:off x="3291840" y="3419856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↓ MTTR</a:t>
            </a:r>
          </a:p>
        </p:txBody>
      </p:sp>
      <p:sp>
        <p:nvSpPr>
          <p:cNvPr id="146" name="txt146"/>
          <p:cNvSpPr>
            <a:spLocks noGrp="1"/>
          </p:cNvSpPr>
          <p:nvPr/>
        </p:nvSpPr>
        <p:spPr>
          <a:xfrm>
            <a:off x="4800600" y="3419856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A54426"/>
                </a:solidFill>
                <a:latin typeface="Aptos"/>
              </a:rPr>
              <a:t>−26.6%</a:t>
            </a:r>
          </a:p>
        </p:txBody>
      </p:sp>
      <p:sp>
        <p:nvSpPr>
          <p:cNvPr id="147" name="bar147"/>
          <p:cNvSpPr/>
          <p:nvPr/>
        </p:nvSpPr>
        <p:spPr>
          <a:xfrm>
            <a:off x="3200400" y="3730752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8" name="txt148"/>
          <p:cNvSpPr>
            <a:spLocks noGrp="1"/>
          </p:cNvSpPr>
          <p:nvPr/>
        </p:nvSpPr>
        <p:spPr>
          <a:xfrm>
            <a:off x="3291840" y="3730752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Resolución</a:t>
            </a:r>
          </a:p>
        </p:txBody>
      </p:sp>
      <p:sp>
        <p:nvSpPr>
          <p:cNvPr id="149" name="txt149"/>
          <p:cNvSpPr>
            <a:spLocks noGrp="1"/>
          </p:cNvSpPr>
          <p:nvPr/>
        </p:nvSpPr>
        <p:spPr>
          <a:xfrm>
            <a:off x="4800600" y="3730752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+34.6%</a:t>
            </a:r>
          </a:p>
        </p:txBody>
      </p:sp>
      <p:sp>
        <p:nvSpPr>
          <p:cNvPr id="150" name="bar150"/>
          <p:cNvSpPr/>
          <p:nvPr/>
        </p:nvSpPr>
        <p:spPr>
          <a:xfrm>
            <a:off x="3200400" y="404164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1" name="txt151"/>
          <p:cNvSpPr>
            <a:spLocks noGrp="1"/>
          </p:cNvSpPr>
          <p:nvPr/>
        </p:nvSpPr>
        <p:spPr>
          <a:xfrm>
            <a:off x="3291840" y="4041648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CSAT c/espera</a:t>
            </a:r>
          </a:p>
        </p:txBody>
      </p:sp>
      <p:sp>
        <p:nvSpPr>
          <p:cNvPr id="152" name="txt152"/>
          <p:cNvSpPr>
            <a:spLocks noGrp="1"/>
          </p:cNvSpPr>
          <p:nvPr/>
        </p:nvSpPr>
        <p:spPr>
          <a:xfrm>
            <a:off x="4800600" y="4041648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+15–22 pts</a:t>
            </a:r>
          </a:p>
        </p:txBody>
      </p:sp>
      <p:sp>
        <p:nvSpPr>
          <p:cNvPr id="153" name="bar153"/>
          <p:cNvSpPr/>
          <p:nvPr/>
        </p:nvSpPr>
        <p:spPr>
          <a:xfrm>
            <a:off x="3200400" y="4352544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4" name="txt154"/>
          <p:cNvSpPr>
            <a:spLocks noGrp="1"/>
          </p:cNvSpPr>
          <p:nvPr/>
        </p:nvSpPr>
        <p:spPr>
          <a:xfrm>
            <a:off x="3291840" y="4352544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FCR con KCS+IA</a:t>
            </a:r>
          </a:p>
        </p:txBody>
      </p:sp>
      <p:sp>
        <p:nvSpPr>
          <p:cNvPr id="155" name="txt155"/>
          <p:cNvSpPr>
            <a:spLocks noGrp="1"/>
          </p:cNvSpPr>
          <p:nvPr/>
        </p:nvSpPr>
        <p:spPr>
          <a:xfrm>
            <a:off x="4800600" y="4352544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5–7 pts</a:t>
            </a:r>
          </a:p>
        </p:txBody>
      </p:sp>
      <p:sp>
        <p:nvSpPr>
          <p:cNvPr id="156" name="txt156"/>
          <p:cNvSpPr>
            <a:spLocks noGrp="1"/>
          </p:cNvSpPr>
          <p:nvPr/>
        </p:nvSpPr>
        <p:spPr>
          <a:xfrm>
            <a:off x="612648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Costo por Ticket (USD)</a:t>
            </a:r>
          </a:p>
        </p:txBody>
      </p:sp>
      <p:sp>
        <p:nvSpPr>
          <p:cNvPr id="157" name="bar157"/>
          <p:cNvSpPr/>
          <p:nvPr/>
        </p:nvSpPr>
        <p:spPr>
          <a:xfrm>
            <a:off x="6172200" y="1481328"/>
            <a:ext cx="128016" cy="219456"/>
          </a:xfrm>
          <a:prstGeom prst="roundRect">
            <a:avLst>
              <a:gd name="adj" fmla="val 175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8" name="txt158"/>
          <p:cNvSpPr>
            <a:spLocks noGrp="1"/>
          </p:cNvSpPr>
          <p:nvPr/>
        </p:nvSpPr>
        <p:spPr>
          <a:xfrm>
            <a:off x="6355080" y="1463040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N0: $2</a:t>
            </a:r>
          </a:p>
        </p:txBody>
      </p:sp>
      <p:sp>
        <p:nvSpPr>
          <p:cNvPr id="159" name="txt159"/>
          <p:cNvSpPr>
            <a:spLocks noGrp="1"/>
          </p:cNvSpPr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Autoservicio</a:t>
            </a:r>
          </a:p>
        </p:txBody>
      </p:sp>
      <p:sp>
        <p:nvSpPr>
          <p:cNvPr id="160" name="bar160"/>
          <p:cNvSpPr/>
          <p:nvPr/>
        </p:nvSpPr>
        <p:spPr>
          <a:xfrm>
            <a:off x="6172200" y="1810512"/>
            <a:ext cx="329184" cy="219456"/>
          </a:xfrm>
          <a:prstGeom prst="roundRect">
            <a:avLst>
              <a:gd name="adj" fmla="val 175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1" name="txt161"/>
          <p:cNvSpPr>
            <a:spLocks noGrp="1"/>
          </p:cNvSpPr>
          <p:nvPr/>
        </p:nvSpPr>
        <p:spPr>
          <a:xfrm>
            <a:off x="6556248" y="1792224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N1: $22–35</a:t>
            </a:r>
          </a:p>
        </p:txBody>
      </p:sp>
      <p:sp>
        <p:nvSpPr>
          <p:cNvPr id="162" name="txt162"/>
          <p:cNvSpPr>
            <a:spLocks noGrp="1"/>
          </p:cNvSpPr>
          <p:nvPr/>
        </p:nvSpPr>
        <p:spPr>
          <a:xfrm>
            <a:off x="7863840" y="1792224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1er contacto</a:t>
            </a:r>
          </a:p>
        </p:txBody>
      </p:sp>
      <p:sp>
        <p:nvSpPr>
          <p:cNvPr id="163" name="bar163"/>
          <p:cNvSpPr/>
          <p:nvPr/>
        </p:nvSpPr>
        <p:spPr>
          <a:xfrm>
            <a:off x="6172200" y="2139696"/>
            <a:ext cx="731520" cy="219456"/>
          </a:xfrm>
          <a:prstGeom prst="roundRect">
            <a:avLst>
              <a:gd name="adj" fmla="val 175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4" name="txt164"/>
          <p:cNvSpPr>
            <a:spLocks noGrp="1"/>
          </p:cNvSpPr>
          <p:nvPr/>
        </p:nvSpPr>
        <p:spPr>
          <a:xfrm>
            <a:off x="6958584" y="2121408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N2: $69</a:t>
            </a:r>
          </a:p>
        </p:txBody>
      </p:sp>
      <p:sp>
        <p:nvSpPr>
          <p:cNvPr id="165" name="txt165"/>
          <p:cNvSpPr>
            <a:spLocks noGrp="1"/>
          </p:cNvSpPr>
          <p:nvPr/>
        </p:nvSpPr>
        <p:spPr>
          <a:xfrm>
            <a:off x="7863840" y="2121408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Técnico</a:t>
            </a:r>
          </a:p>
        </p:txBody>
      </p:sp>
      <p:sp>
        <p:nvSpPr>
          <p:cNvPr id="166" name="bar166"/>
          <p:cNvSpPr/>
          <p:nvPr/>
        </p:nvSpPr>
        <p:spPr>
          <a:xfrm>
            <a:off x="6172200" y="2468880"/>
            <a:ext cx="1097280" cy="219456"/>
          </a:xfrm>
          <a:prstGeom prst="roundRect">
            <a:avLst>
              <a:gd name="adj" fmla="val 175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7" name="txt167"/>
          <p:cNvSpPr>
            <a:spLocks noGrp="1"/>
          </p:cNvSpPr>
          <p:nvPr/>
        </p:nvSpPr>
        <p:spPr>
          <a:xfrm>
            <a:off x="7324344" y="2450592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N3: $104</a:t>
            </a:r>
          </a:p>
        </p:txBody>
      </p:sp>
      <p:sp>
        <p:nvSpPr>
          <p:cNvPr id="168" name="txt168"/>
          <p:cNvSpPr>
            <a:spLocks noGrp="1"/>
          </p:cNvSpPr>
          <p:nvPr/>
        </p:nvSpPr>
        <p:spPr>
          <a:xfrm>
            <a:off x="7863840" y="2450592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Arquitecto</a:t>
            </a:r>
          </a:p>
        </p:txBody>
      </p:sp>
      <p:sp>
        <p:nvSpPr>
          <p:cNvPr id="169" name="shp169"/>
          <p:cNvSpPr/>
          <p:nvPr/>
        </p:nvSpPr>
        <p:spPr>
          <a:xfrm>
            <a:off x="6199632" y="2816352"/>
            <a:ext cx="164592" cy="23774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0" name="txt170"/>
          <p:cNvSpPr>
            <a:spLocks noGrp="1"/>
          </p:cNvSpPr>
          <p:nvPr/>
        </p:nvSpPr>
        <p:spPr>
          <a:xfrm>
            <a:off x="6437376" y="2761488"/>
            <a:ext cx="2414016" cy="365760"/>
          </a:xfrm>
          <a:prstGeom prst="rect">
            <a:avLst/>
          </a:prstGeom>
          <a:noFill/>
        </p:spPr>
        <p:txBody>
          <a:bodyPr wrap="square" lIns="18000" tIns="6000" rIns="18000" bIns="6000" anchor="ctr">
            <a:normAutofit/>
          </a:bodyPr>
          <a:lstStyle/>
          <a:p>
            <a:pPr algn="l"/>
            <a:r>
              <a:rPr lang="es-CO" sz="900" b="1">
                <a:solidFill>
                  <a:srgbClr val="3C7D3C"/>
                </a:solidFill>
                <a:latin typeface="Aptos"/>
              </a:rPr>
              <a:t>Shift-Left: cada punto de deflección = ahorro $22–102</a:t>
            </a:r>
          </a:p>
        </p:txBody>
      </p:sp>
      <p:sp>
        <p:nvSpPr>
          <p:cNvPr id="171" name="txt171"/>
          <p:cNvSpPr>
            <a:spLocks noGrp="1"/>
          </p:cNvSpPr>
          <p:nvPr/>
        </p:nvSpPr>
        <p:spPr>
          <a:xfrm>
            <a:off x="5559552" y="3273552"/>
            <a:ext cx="28803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CSAT Objetivo</a:t>
            </a:r>
          </a:p>
        </p:txBody>
      </p:sp>
      <p:sp>
        <p:nvSpPr>
          <p:cNvPr id="172" name="shp172"/>
          <p:cNvSpPr/>
          <p:nvPr/>
        </p:nvSpPr>
        <p:spPr>
          <a:xfrm>
            <a:off x="6382512" y="3529584"/>
            <a:ext cx="1234440" cy="1234440"/>
          </a:xfrm>
          <a:prstGeom prst="donut">
            <a:avLst>
              <a:gd name="adj" fmla="val 17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3" name="shp173"/>
          <p:cNvSpPr/>
          <p:nvPr/>
        </p:nvSpPr>
        <p:spPr>
          <a:xfrm>
            <a:off x="6382512" y="3529584"/>
            <a:ext cx="1234440" cy="1234440"/>
          </a:xfrm>
          <a:prstGeom prst="arc">
            <a:avLst>
              <a:gd name="adj1" fmla="val 15300000"/>
              <a:gd name="adj2" fmla="val 12000000"/>
            </a:avLst>
          </a:prstGeom>
          <a:noFill/>
          <a:ln w="109728" cap="rnd">
            <a:solidFill>
              <a:srgbClr val="237B89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4" name="txt174"/>
          <p:cNvSpPr>
            <a:spLocks noGrp="1"/>
          </p:cNvSpPr>
          <p:nvPr/>
        </p:nvSpPr>
        <p:spPr>
          <a:xfrm>
            <a:off x="6382512" y="3840480"/>
            <a:ext cx="1234440" cy="27432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500" b="1">
                <a:solidFill>
                  <a:srgbClr val="132346"/>
                </a:solidFill>
                <a:latin typeface="Aptos"/>
              </a:rPr>
              <a:t>73–86%</a:t>
            </a:r>
          </a:p>
        </p:txBody>
      </p:sp>
      <p:sp>
        <p:nvSpPr>
          <p:cNvPr id="175" name="txt175"/>
          <p:cNvSpPr>
            <a:spLocks noGrp="1"/>
          </p:cNvSpPr>
          <p:nvPr/>
        </p:nvSpPr>
        <p:spPr>
          <a:xfrm>
            <a:off x="6382512" y="411480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0">
                <a:solidFill>
                  <a:srgbClr val="7A7A7A"/>
                </a:solidFill>
                <a:latin typeface="Aptos"/>
              </a:rPr>
              <a:t>industria</a:t>
            </a:r>
          </a:p>
        </p:txBody>
      </p:sp>
      <p:sp>
        <p:nvSpPr>
          <p:cNvPr id="176" name="txt176"/>
          <p:cNvSpPr>
            <a:spLocks noGrp="1"/>
          </p:cNvSpPr>
          <p:nvPr/>
        </p:nvSpPr>
        <p:spPr>
          <a:xfrm>
            <a:off x="6382512" y="429768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1">
                <a:solidFill>
                  <a:srgbClr val="B8860B"/>
                </a:solidFill>
                <a:latin typeface="Aptos"/>
              </a:rPr>
              <a:t>≥92% N5</a:t>
            </a:r>
          </a:p>
        </p:txBody>
      </p:sp>
      <p:sp>
        <p:nvSpPr>
          <p:cNvPr id="11" name="src">
            <a:extLst>
              <a:ext uri="{FF2B5EF4-FFF2-40B4-BE49-F238E27FC236}">
                <a16:creationId xmlns:a16="http://schemas.microsoft.com/office/drawing/2014/main" id="{DC2C431D-DA19-1000-A4C0-0A08EFD3BEF6}"/>
              </a:ext>
            </a:extLst>
          </p:cNvPr>
          <p:cNvSpPr txBox="1">
            <a:spLocks noGrp="1"/>
          </p:cNvSpPr>
          <p:nvPr/>
        </p:nvSpPr>
        <p:spPr>
          <a:xfrm>
            <a:off x="178526" y="4837829"/>
            <a:ext cx="8905602" cy="3714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HDI/MetricNet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0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Freshservice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3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4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SLA vs. XLA 4 Capas de Reporte</a:t>
            </a:r>
          </a:p>
          <a:p>
            <a:endParaRPr lang="es-ES"/>
          </a:p>
        </p:txBody>
      </p:sp>
      <p:sp>
        <p:nvSpPr>
          <p:cNvPr id="101" name="tx101"/>
          <p:cNvSpPr>
            <a:spLocks noGrp="1"/>
          </p:cNvSpPr>
          <p:nvPr/>
        </p:nvSpPr>
        <p:spPr>
          <a:xfrm>
            <a:off x="365760" y="502920"/>
            <a:ext cx="8412480" cy="347472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SLA vs. XLA: El Nuevo Paradigma de Medición</a:t>
            </a:r>
          </a:p>
        </p:txBody>
      </p:sp>
      <p:sp>
        <p:nvSpPr>
          <p:cNvPr id="102" name="tx102"/>
          <p:cNvSpPr>
            <a:spLocks noGrp="1"/>
          </p:cNvSpPr>
          <p:nvPr/>
        </p:nvSpPr>
        <p:spPr>
          <a:xfrm>
            <a:off x="365760" y="774192"/>
            <a:ext cx="841248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Casi 70% de empresas planea adoptar XLA en 2026 · XLA Institute “State of XLA 2025”</a:t>
            </a:r>
          </a:p>
        </p:txBody>
      </p:sp>
      <p:sp>
        <p:nvSpPr>
          <p:cNvPr id="103" name="rr103"/>
          <p:cNvSpPr/>
          <p:nvPr/>
        </p:nvSpPr>
        <p:spPr>
          <a:xfrm>
            <a:off x="32004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4" name="rr104"/>
          <p:cNvSpPr/>
          <p:nvPr/>
        </p:nvSpPr>
        <p:spPr>
          <a:xfrm>
            <a:off x="32004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tx105"/>
          <p:cNvSpPr>
            <a:spLocks noGrp="1"/>
          </p:cNvSpPr>
          <p:nvPr/>
        </p:nvSpPr>
        <p:spPr>
          <a:xfrm>
            <a:off x="32004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SLA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Service Level Agreement</a:t>
            </a:r>
          </a:p>
        </p:txBody>
      </p:sp>
      <p:sp>
        <p:nvSpPr>
          <p:cNvPr id="106" name="tx106"/>
          <p:cNvSpPr>
            <a:spLocks noGrp="1"/>
          </p:cNvSpPr>
          <p:nvPr/>
        </p:nvSpPr>
        <p:spPr>
          <a:xfrm>
            <a:off x="36576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Estándares mínimos de entrega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Tiempo respuesta, uptime, MTTR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Foco: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Cumplimiento de proceso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Limitación: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A3352A"/>
                </a:solidFill>
                <a:latin typeface="Reddit Sans"/>
                <a:ea typeface="Reddit Sans"/>
              </a:rPr>
              <a:t>SLA ✔ ≠ usuario satisfecho</a:t>
            </a: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“El ticket cerró en tiempo pero el problema real persiste”</a:t>
            </a:r>
          </a:p>
        </p:txBody>
      </p:sp>
      <p:sp>
        <p:nvSpPr>
          <p:cNvPr id="107" name="rr107"/>
          <p:cNvSpPr/>
          <p:nvPr/>
        </p:nvSpPr>
        <p:spPr>
          <a:xfrm>
            <a:off x="315468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8" name="rr108"/>
          <p:cNvSpPr/>
          <p:nvPr/>
        </p:nvSpPr>
        <p:spPr>
          <a:xfrm>
            <a:off x="315468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tx109"/>
          <p:cNvSpPr>
            <a:spLocks noGrp="1"/>
          </p:cNvSpPr>
          <p:nvPr/>
        </p:nvSpPr>
        <p:spPr>
          <a:xfrm>
            <a:off x="315468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XLA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Experience Level Agreement</a:t>
            </a:r>
          </a:p>
        </p:txBody>
      </p:sp>
      <p:sp>
        <p:nvSpPr>
          <p:cNvPr id="110" name="tx110"/>
          <p:cNvSpPr>
            <a:spLocks noGrp="1"/>
          </p:cNvSpPr>
          <p:nvPr/>
        </p:nvSpPr>
        <p:spPr>
          <a:xfrm>
            <a:off x="320040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Experiencia real del empleado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Satisfacción,</a:t>
            </a: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 </a:t>
            </a:r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sentimiento, esfuerzo</a:t>
            </a:r>
          </a:p>
          <a:p>
            <a:pPr>
              <a:spcBef>
                <a:spcPts val="400"/>
              </a:spcBef>
            </a:pPr>
            <a:r>
              <a:rPr lang="es-CO" sz="1050" b="1">
                <a:solidFill>
                  <a:srgbClr val="2E3B4E"/>
                </a:solidFill>
                <a:latin typeface="Reddit Sans"/>
                <a:ea typeface="Reddit Sans"/>
              </a:rPr>
              <a:t>Foco</a:t>
            </a: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:</a:t>
            </a:r>
            <a:endParaRPr lang="es-CO"/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Resultado percibido por usuario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Valor: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Habilita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pricing</a:t>
            </a: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outcome-based</a:t>
            </a:r>
            <a:endParaRPr lang="es-CO" sz="1050" b="0" i="0">
              <a:solidFill>
                <a:srgbClr val="20808D"/>
              </a:solidFill>
              <a:latin typeface="Reddit Sans"/>
              <a:ea typeface="Reddit Sans"/>
            </a:endParaRP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“Proactivo: resuelve antes de que el usuario lo note”</a:t>
            </a:r>
          </a:p>
        </p:txBody>
      </p:sp>
      <p:sp>
        <p:nvSpPr>
          <p:cNvPr id="111" name="ar111"/>
          <p:cNvSpPr/>
          <p:nvPr/>
        </p:nvSpPr>
        <p:spPr>
          <a:xfrm>
            <a:off x="2834640" y="2331720"/>
            <a:ext cx="292608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tx113"/>
          <p:cNvSpPr>
            <a:spLocks noGrp="1"/>
          </p:cNvSpPr>
          <p:nvPr/>
        </p:nvSpPr>
        <p:spPr>
          <a:xfrm>
            <a:off x="341812" y="4005943"/>
            <a:ext cx="5349240" cy="530352"/>
          </a:xfrm>
          <a:prstGeom prst="rect">
            <a:avLst/>
          </a:prstGeom>
          <a:ln w="127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100" b="1" i="0">
                <a:solidFill>
                  <a:srgbClr val="20808D"/>
                </a:solidFill>
                <a:latin typeface="Reddit Sans"/>
                <a:ea typeface="Reddit Sans"/>
              </a:rPr>
              <a:t>Casi 70% de empresas planea adoptar XLA en 2026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6E6E6E"/>
                </a:solidFill>
                <a:latin typeface="Reddit Sans"/>
                <a:ea typeface="Reddit Sans"/>
              </a:rPr>
              <a:t>Brasil lidera en Latam · expansión: Salud, RRHH, Finanzas (XLA Institute, jun 2025)</a:t>
            </a:r>
          </a:p>
        </p:txBody>
      </p:sp>
      <p:sp>
        <p:nvSpPr>
          <p:cNvPr id="114" name="tx114"/>
          <p:cNvSpPr>
            <a:spLocks noGrp="1"/>
          </p:cNvSpPr>
          <p:nvPr/>
        </p:nvSpPr>
        <p:spPr>
          <a:xfrm>
            <a:off x="5989320" y="1133856"/>
            <a:ext cx="2834640" cy="27432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250" b="1" i="0">
                <a:solidFill>
                  <a:srgbClr val="1F3A5F"/>
                </a:solidFill>
                <a:latin typeface="Reddit Sans"/>
                <a:ea typeface="Reddit Sans"/>
              </a:rPr>
              <a:t>4 Capas</a:t>
            </a:r>
          </a:p>
        </p:txBody>
      </p:sp>
      <p:sp>
        <p:nvSpPr>
          <p:cNvPr id="115" name="rr115"/>
          <p:cNvSpPr/>
          <p:nvPr/>
        </p:nvSpPr>
        <p:spPr>
          <a:xfrm>
            <a:off x="5989320" y="1572768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345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6" name="tx116"/>
          <p:cNvSpPr>
            <a:spLocks noGrp="1"/>
          </p:cNvSpPr>
          <p:nvPr/>
        </p:nvSpPr>
        <p:spPr>
          <a:xfrm>
            <a:off x="6080760" y="1600200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1. Confiabilidad Operacional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Disponibilidad · SLA · MTTR · Incidentes mayores</a:t>
            </a:r>
          </a:p>
        </p:txBody>
      </p:sp>
      <p:sp>
        <p:nvSpPr>
          <p:cNvPr id="117" name="rr117"/>
          <p:cNvSpPr/>
          <p:nvPr/>
        </p:nvSpPr>
        <p:spPr>
          <a:xfrm>
            <a:off x="5989320" y="2249424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47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8" name="tx118"/>
          <p:cNvSpPr>
            <a:spLocks noGrp="1"/>
          </p:cNvSpPr>
          <p:nvPr/>
        </p:nvSpPr>
        <p:spPr>
          <a:xfrm>
            <a:off x="6080760" y="2276856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2. Eficiencia del Service Desk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FCR · Backlog · Costo/ticket · Autoservicio %</a:t>
            </a:r>
          </a:p>
        </p:txBody>
      </p:sp>
      <p:sp>
        <p:nvSpPr>
          <p:cNvPr id="119" name="rr119"/>
          <p:cNvSpPr/>
          <p:nvPr/>
        </p:nvSpPr>
        <p:spPr>
          <a:xfrm>
            <a:off x="5989320" y="2926080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0" name="tx120"/>
          <p:cNvSpPr>
            <a:spLocks noGrp="1"/>
          </p:cNvSpPr>
          <p:nvPr/>
        </p:nvSpPr>
        <p:spPr>
          <a:xfrm>
            <a:off x="6080760" y="2953512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3. Experiencia de Usuario (XLA)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CSAT · Effort score · Sentiment · Journey</a:t>
            </a:r>
          </a:p>
        </p:txBody>
      </p:sp>
      <p:sp>
        <p:nvSpPr>
          <p:cNvPr id="121" name="rr121"/>
          <p:cNvSpPr/>
          <p:nvPr/>
        </p:nvSpPr>
        <p:spPr>
          <a:xfrm>
            <a:off x="5989320" y="3602736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6E96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2" name="tx122"/>
          <p:cNvSpPr>
            <a:spLocks noGrp="1"/>
          </p:cNvSpPr>
          <p:nvPr/>
        </p:nvSpPr>
        <p:spPr>
          <a:xfrm>
            <a:off x="6080760" y="3630168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4. Impacto de Negocio</a:t>
            </a:r>
          </a:p>
          <a:p>
            <a:pPr>
              <a:spcBef>
                <a:spcPts val="200"/>
              </a:spcBef>
            </a:pPr>
            <a:r>
              <a:rPr lang="es-CO" sz="850" b="0" i="0" err="1">
                <a:solidFill>
                  <a:srgbClr val="E8EEF0"/>
                </a:solidFill>
                <a:latin typeface="Reddit Sans"/>
                <a:ea typeface="Reddit Sans"/>
              </a:rPr>
              <a:t>Prod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. perdida · ROI · Riesg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o (regulatorios,  fraude, cumplimiento </a:t>
            </a:r>
            <a:r>
              <a:rPr lang="es-CO" sz="850" err="1">
                <a:solidFill>
                  <a:srgbClr val="E8EEF0"/>
                </a:solidFill>
                <a:latin typeface="Reddit Sans"/>
                <a:ea typeface="Reddit Sans"/>
              </a:rPr>
              <a:t>SOCs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)· Evit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ación costos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A87222FE-49B1-30B7-D180-122F8829EB1E}"/>
              </a:ext>
            </a:extLst>
          </p:cNvPr>
          <p:cNvSpPr txBox="1">
            <a:spLocks noGrp="1"/>
          </p:cNvSpPr>
          <p:nvPr/>
        </p:nvSpPr>
        <p:spPr>
          <a:xfrm>
            <a:off x="314597" y="4652772"/>
            <a:ext cx="7642860" cy="404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EIN Presswire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Emerce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 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LinkedIn — Alan Nance, XLA Institute</a:t>
            </a:r>
            <a:endParaRPr lang="es-ES" sz="70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203" name="rec203"/>
          <p:cNvSpPr/>
          <p:nvPr/>
        </p:nvSpPr>
        <p:spPr>
          <a:xfrm>
            <a:off x="361900" y="663686"/>
            <a:ext cx="83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Estado real de adopción 2025–2026  ·  Brecha entre experimentación y producción plena</a:t>
            </a:r>
          </a:p>
        </p:txBody>
      </p:sp>
      <p:sp>
        <p:nvSpPr>
          <p:cNvPr id="204" name="rec204"/>
          <p:cNvSpPr/>
          <p:nvPr/>
        </p:nvSpPr>
        <p:spPr>
          <a:xfrm>
            <a:off x="397786" y="1103871"/>
            <a:ext cx="1650000" cy="1650000"/>
          </a:xfrm>
          <a:prstGeom prst="ellipse">
            <a:avLst/>
          </a:prstGeom>
          <a:solidFill>
            <a:srgbClr val="D3E4E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rec205"/>
          <p:cNvSpPr/>
          <p:nvPr/>
        </p:nvSpPr>
        <p:spPr>
          <a:xfrm>
            <a:off x="572786" y="1278871"/>
            <a:ext cx="1300000" cy="1300000"/>
          </a:xfrm>
          <a:prstGeom prst="ellipse">
            <a:avLst/>
          </a:prstGeom>
          <a:solidFill>
            <a:srgbClr val="BCD6D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2400" b="1">
                <a:solidFill>
                  <a:srgbClr val="1F6F6F"/>
                </a:solidFill>
                <a:latin typeface="Reddit Sans"/>
                <a:ea typeface="Reddit Sans"/>
              </a:rPr>
              <a:t>51%</a:t>
            </a:r>
          </a:p>
          <a:p>
            <a:pPr algn="ctr">
              <a:spcBef>
                <a:spcPts val="100"/>
              </a:spcBef>
            </a:pPr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con agentes IA</a:t>
            </a:r>
          </a:p>
          <a:p>
            <a:pPr algn="ctr"/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desplegados</a:t>
            </a:r>
          </a:p>
        </p:txBody>
      </p:sp>
      <p:sp>
        <p:nvSpPr>
          <p:cNvPr id="206" name="rec206"/>
          <p:cNvSpPr/>
          <p:nvPr/>
        </p:nvSpPr>
        <p:spPr>
          <a:xfrm>
            <a:off x="572786" y="2758871"/>
            <a:ext cx="13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 fontScale="92500"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(alguna forma)</a:t>
            </a:r>
          </a:p>
          <a:p>
            <a:pPr algn="ctr">
              <a:spcBef>
                <a:spcPts val="300"/>
              </a:spcBef>
            </a:pPr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vs 79% aún experimentando</a:t>
            </a:r>
          </a:p>
        </p:txBody>
      </p:sp>
      <p:sp>
        <p:nvSpPr>
          <p:cNvPr id="207" name="rec207"/>
          <p:cNvSpPr/>
          <p:nvPr/>
        </p:nvSpPr>
        <p:spPr>
          <a:xfrm>
            <a:off x="1982786" y="1288871"/>
            <a:ext cx="1080000" cy="1080000"/>
          </a:xfrm>
          <a:prstGeom prst="ellipse">
            <a:avLst/>
          </a:prstGeom>
          <a:solidFill>
            <a:srgbClr val="D4DBE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8" name="rec208"/>
          <p:cNvSpPr/>
          <p:nvPr/>
        </p:nvSpPr>
        <p:spPr>
          <a:xfrm>
            <a:off x="2112786" y="1418871"/>
            <a:ext cx="820000" cy="820000"/>
          </a:xfrm>
          <a:prstGeom prst="ellipse">
            <a:avLst/>
          </a:prstGeom>
          <a:solidFill>
            <a:srgbClr val="111F4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Reddit Sans"/>
                <a:ea typeface="Reddit Sans"/>
              </a:rPr>
              <a:t>11%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producción</a:t>
            </a:r>
          </a:p>
          <a:p>
            <a:pPr algn="ctr"/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plena</a:t>
            </a:r>
          </a:p>
        </p:txBody>
      </p:sp>
      <p:sp>
        <p:nvSpPr>
          <p:cNvPr id="209" name="rec209"/>
          <p:cNvSpPr/>
          <p:nvPr/>
        </p:nvSpPr>
        <p:spPr>
          <a:xfrm>
            <a:off x="1922786" y="2498871"/>
            <a:ext cx="1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producción total</a:t>
            </a:r>
          </a:p>
        </p:txBody>
      </p:sp>
      <p:sp>
        <p:nvSpPr>
          <p:cNvPr id="210" name="rec210"/>
          <p:cNvSpPr/>
          <p:nvPr/>
        </p:nvSpPr>
        <p:spPr>
          <a:xfrm>
            <a:off x="3132786" y="1318871"/>
            <a:ext cx="1120000" cy="1120000"/>
          </a:xfrm>
          <a:prstGeom prst="ellipse">
            <a:avLst/>
          </a:prstGeom>
          <a:solidFill>
            <a:srgbClr val="E4C4B8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rec211"/>
          <p:cNvSpPr/>
          <p:nvPr/>
        </p:nvSpPr>
        <p:spPr>
          <a:xfrm>
            <a:off x="3262786" y="1448871"/>
            <a:ext cx="860000" cy="860000"/>
          </a:xfrm>
          <a:prstGeom prst="ellipse">
            <a:avLst/>
          </a:prstGeom>
          <a:solidFill>
            <a:srgbClr val="D9B0A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500" b="1">
                <a:solidFill>
                  <a:srgbClr val="B0472B"/>
                </a:solidFill>
                <a:latin typeface="Reddit Sans"/>
                <a:ea typeface="Reddit Sans"/>
              </a:rPr>
              <a:t>&gt;40%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cancelados</a:t>
            </a:r>
          </a:p>
          <a:p>
            <a:pPr algn="ctr"/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hacia 2027</a:t>
            </a:r>
          </a:p>
        </p:txBody>
      </p:sp>
      <p:sp>
        <p:nvSpPr>
          <p:cNvPr id="212" name="rec212"/>
          <p:cNvSpPr/>
          <p:nvPr/>
        </p:nvSpPr>
        <p:spPr>
          <a:xfrm>
            <a:off x="3022786" y="2558871"/>
            <a:ext cx="1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por costo/gobernanza</a:t>
            </a:r>
          </a:p>
          <a:p>
            <a:pPr algn="ctr"/>
            <a:r>
              <a:rPr lang="es-ES" sz="750">
                <a:solidFill>
                  <a:srgbClr val="6B6B6B"/>
                </a:solidFill>
                <a:latin typeface="Reddit Sans"/>
                <a:ea typeface="Reddit Sans"/>
              </a:rPr>
              <a:t>(Gartner proyección)</a:t>
            </a:r>
          </a:p>
        </p:txBody>
      </p:sp>
      <p:sp>
        <p:nvSpPr>
          <p:cNvPr id="213" name="rec213"/>
          <p:cNvSpPr/>
          <p:nvPr/>
        </p:nvSpPr>
        <p:spPr>
          <a:xfrm>
            <a:off x="338228" y="3424057"/>
            <a:ext cx="4044558" cy="945185"/>
          </a:xfrm>
          <a:prstGeom prst="roundRect">
            <a:avLst>
              <a:gd name="adj" fmla="val 6000"/>
            </a:avLst>
          </a:prstGeom>
          <a:noFill/>
          <a:ln>
            <a:solidFill>
              <a:schemeClr val="accent1"/>
            </a:solidFill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ROI de Automatización ITSM</a:t>
            </a:r>
          </a:p>
          <a:p>
            <a:pPr algn="ctr"/>
            <a:endParaRPr lang="es-ES" sz="950" b="1">
              <a:solidFill>
                <a:srgbClr val="132346"/>
              </a:solidFill>
              <a:latin typeface="Reddit Sans"/>
              <a:ea typeface="Reddit Sans"/>
            </a:endParaRPr>
          </a:p>
          <a:p>
            <a:pPr algn="ctr">
              <a:spcBef>
                <a:spcPts val="120"/>
              </a:spcBef>
            </a:pP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Payback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típico:</a:t>
            </a:r>
            <a:r>
              <a:rPr lang="es-ES" sz="800">
                <a:solidFill>
                  <a:srgbClr val="555555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4–9 meses </a:t>
            </a:r>
          </a:p>
          <a:p>
            <a:pPr algn="ctr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Contratos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outcome-based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: migración gradual a modelos outcome-based (Gartner/TCS)</a:t>
            </a:r>
          </a:p>
        </p:txBody>
      </p:sp>
      <p:sp>
        <p:nvSpPr>
          <p:cNvPr id="214" name="rec214"/>
          <p:cNvSpPr/>
          <p:nvPr/>
        </p:nvSpPr>
        <p:spPr>
          <a:xfrm>
            <a:off x="4689243" y="884700"/>
            <a:ext cx="418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Barreras y Casos de Éxito</a:t>
            </a:r>
          </a:p>
        </p:txBody>
      </p:sp>
      <p:sp>
        <p:nvSpPr>
          <p:cNvPr id="215" name="rec215"/>
          <p:cNvSpPr/>
          <p:nvPr/>
        </p:nvSpPr>
        <p:spPr>
          <a:xfrm>
            <a:off x="4689243" y="1164700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944454"/>
                </a:solidFill>
                <a:latin typeface="Reddit Sans"/>
                <a:ea typeface="Reddit Sans"/>
              </a:rPr>
              <a:t>Principales barreras para producción plena:</a:t>
            </a:r>
          </a:p>
        </p:txBody>
      </p:sp>
      <p:sp>
        <p:nvSpPr>
          <p:cNvPr id="216" name="rec216"/>
          <p:cNvSpPr/>
          <p:nvPr/>
        </p:nvSpPr>
        <p:spPr>
          <a:xfrm>
            <a:off x="4689243" y="142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4689243" y="1424700"/>
            <a:ext cx="21736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52% Seguridad / Privacidad</a:t>
            </a:r>
          </a:p>
        </p:txBody>
      </p:sp>
      <p:sp>
        <p:nvSpPr>
          <p:cNvPr id="218" name="rec218"/>
          <p:cNvSpPr/>
          <p:nvPr/>
        </p:nvSpPr>
        <p:spPr>
          <a:xfrm>
            <a:off x="4689243" y="179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4689243" y="1794700"/>
            <a:ext cx="21318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51% Complejidad técnica</a:t>
            </a:r>
          </a:p>
        </p:txBody>
      </p:sp>
      <p:sp>
        <p:nvSpPr>
          <p:cNvPr id="220" name="rec220"/>
          <p:cNvSpPr/>
          <p:nvPr/>
        </p:nvSpPr>
        <p:spPr>
          <a:xfrm>
            <a:off x="4689243" y="216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rec221"/>
          <p:cNvSpPr/>
          <p:nvPr/>
        </p:nvSpPr>
        <p:spPr>
          <a:xfrm>
            <a:off x="4689243" y="2164700"/>
            <a:ext cx="18392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44% Falta de personal</a:t>
            </a:r>
          </a:p>
        </p:txBody>
      </p:sp>
      <p:sp>
        <p:nvSpPr>
          <p:cNvPr id="222" name="rec222"/>
          <p:cNvSpPr/>
          <p:nvPr/>
        </p:nvSpPr>
        <p:spPr>
          <a:xfrm>
            <a:off x="4716457" y="3296957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Casos documentados en producción:</a:t>
            </a:r>
          </a:p>
        </p:txBody>
      </p:sp>
      <p:sp>
        <p:nvSpPr>
          <p:cNvPr id="223" name="rec223"/>
          <p:cNvSpPr/>
          <p:nvPr/>
        </p:nvSpPr>
        <p:spPr>
          <a:xfrm>
            <a:off x="4716457" y="3547971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Robinhood + ServiceNow</a:t>
            </a: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70% deflección · 2.200+ horas/mes eliminadas · 94% satisfacción empleados</a:t>
            </a:r>
          </a:p>
        </p:txBody>
      </p:sp>
      <p:sp>
        <p:nvSpPr>
          <p:cNvPr id="224" name="rec224"/>
          <p:cNvSpPr/>
          <p:nvPr/>
        </p:nvSpPr>
        <p:spPr>
          <a:xfrm>
            <a:off x="4716457" y="3895700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Honeywell + </a:t>
            </a:r>
            <a:r>
              <a:rPr lang="es-ES" sz="900" b="1" err="1">
                <a:latin typeface="Reddit Sans"/>
                <a:ea typeface="Reddit Sans"/>
              </a:rPr>
              <a:t>Moveworks</a:t>
            </a:r>
            <a:endParaRPr lang="es-ES" sz="900" b="1">
              <a:latin typeface="Reddit Sans"/>
              <a:ea typeface="Reddit Sans"/>
            </a:endParaRP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~80% volumen de tickets entrantes</a:t>
            </a:r>
          </a:p>
        </p:txBody>
      </p:sp>
      <p:sp>
        <p:nvSpPr>
          <p:cNvPr id="225" name="rec225"/>
          <p:cNvSpPr/>
          <p:nvPr/>
        </p:nvSpPr>
        <p:spPr>
          <a:xfrm>
            <a:off x="4716457" y="4243428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Salesforce + </a:t>
            </a:r>
            <a:r>
              <a:rPr lang="es-ES" sz="900" b="1" err="1">
                <a:latin typeface="Reddit Sans"/>
                <a:ea typeface="Reddit Sans"/>
              </a:rPr>
              <a:t>Agentforce</a:t>
            </a: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84% de 380K interacciones resueltas autónomamente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5CDC0-E9F1-6898-0A54-17E0FAE56016}"/>
              </a:ext>
            </a:extLst>
          </p:cNvPr>
          <p:cNvSpPr txBox="1"/>
          <p:nvPr/>
        </p:nvSpPr>
        <p:spPr>
          <a:xfrm>
            <a:off x="245609" y="4593431"/>
            <a:ext cx="87194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/>
              <a:t>Fuente: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ServiceNow / Robinhood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Moveworks / Honeywell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Salesforce / Agentforce</a:t>
            </a:r>
            <a:r>
              <a:rPr lang="es-ES" sz="600">
                <a:solidFill>
                  <a:srgbClr val="2F81F7"/>
                </a:solidFill>
              </a:rPr>
              <a:t> , </a:t>
            </a:r>
            <a:r>
              <a:rPr lang="es-ES" sz="6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600"/>
              <a:t> </a:t>
            </a:r>
          </a:p>
          <a:p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5"/>
              </a:rPr>
              <a:t>https://www.iso.org/standard/42001</a:t>
            </a:r>
            <a:r>
              <a:rPr lang="es-ES" sz="600"/>
              <a:t> , </a:t>
            </a:r>
            <a:r>
              <a:rPr lang="es-ES" sz="600">
                <a:latin typeface="Segoe UI"/>
                <a:cs typeface="Segoe UI"/>
                <a:hlinkClick r:id="rId6"/>
              </a:rPr>
              <a:t>https://www.siit.io/blog/benefits-of-outsourcing-help-desk-services  </a:t>
            </a:r>
            <a:r>
              <a:rPr lang="es-ES" sz="600">
                <a:latin typeface="Segoe UI"/>
                <a:cs typeface="Segoe UI"/>
              </a:rPr>
              <a:t>,</a:t>
            </a:r>
            <a:r>
              <a:rPr lang="es-ES" sz="600"/>
              <a:t> </a:t>
            </a:r>
            <a:r>
              <a:rPr lang="es-ES" sz="600">
                <a:latin typeface="Segoe UI"/>
                <a:cs typeface="Segoe UI"/>
                <a:hlinkClick r:id="rId7"/>
              </a:rPr>
              <a:t>https://www.superfinanciera.gov.co/publicaciones/10116081/finanzas-abiertas-obligatorias-impulsaran-el-desarrollo-del-sistema-y-la-inclusion-financiera-en-el-pais/</a:t>
            </a:r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8"/>
              </a:rPr>
              <a:t>https://www.marketreportsworld.com/</a:t>
            </a:r>
            <a:endParaRPr lang="es-ES" sz="800"/>
          </a:p>
        </p:txBody>
      </p:sp>
      <p:sp>
        <p:nvSpPr>
          <p:cNvPr id="22" name="rec218">
            <a:extLst>
              <a:ext uri="{FF2B5EF4-FFF2-40B4-BE49-F238E27FC236}">
                <a16:creationId xmlns:a16="http://schemas.microsoft.com/office/drawing/2014/main" id="{212D5787-53B2-E9AD-9B6E-A295D894C870}"/>
              </a:ext>
            </a:extLst>
          </p:cNvPr>
          <p:cNvSpPr/>
          <p:nvPr/>
        </p:nvSpPr>
        <p:spPr>
          <a:xfrm>
            <a:off x="4689243" y="252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" name="rec219">
            <a:extLst>
              <a:ext uri="{FF2B5EF4-FFF2-40B4-BE49-F238E27FC236}">
                <a16:creationId xmlns:a16="http://schemas.microsoft.com/office/drawing/2014/main" id="{F42B0093-4E78-FF55-D070-216DBD5DD605}"/>
              </a:ext>
            </a:extLst>
          </p:cNvPr>
          <p:cNvSpPr/>
          <p:nvPr/>
        </p:nvSpPr>
        <p:spPr>
          <a:xfrm>
            <a:off x="4689242" y="2529486"/>
            <a:ext cx="2512801" cy="294558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63% Regulatorios</a:t>
            </a:r>
          </a:p>
        </p:txBody>
      </p:sp>
      <p:sp>
        <p:nvSpPr>
          <p:cNvPr id="24" name="rec220">
            <a:extLst>
              <a:ext uri="{FF2B5EF4-FFF2-40B4-BE49-F238E27FC236}">
                <a16:creationId xmlns:a16="http://schemas.microsoft.com/office/drawing/2014/main" id="{53899979-C7FF-7F28-AC8B-216A44B0AC25}"/>
              </a:ext>
            </a:extLst>
          </p:cNvPr>
          <p:cNvSpPr/>
          <p:nvPr/>
        </p:nvSpPr>
        <p:spPr>
          <a:xfrm>
            <a:off x="4689243" y="289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" name="rec221">
            <a:extLst>
              <a:ext uri="{FF2B5EF4-FFF2-40B4-BE49-F238E27FC236}">
                <a16:creationId xmlns:a16="http://schemas.microsoft.com/office/drawing/2014/main" id="{E3E155CB-A915-0568-015D-7B0F64D7B4CF}"/>
              </a:ext>
            </a:extLst>
          </p:cNvPr>
          <p:cNvSpPr/>
          <p:nvPr/>
        </p:nvSpPr>
        <p:spPr>
          <a:xfrm>
            <a:off x="4705571" y="2894043"/>
            <a:ext cx="2726386" cy="310885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68% Barrera de entrada: Cambio de proveedor</a:t>
            </a:r>
          </a:p>
        </p:txBody>
      </p:sp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16C00-F63D-59BE-9C91-40270F2E2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CE8F5D-9C69-D5D7-AB68-3356A36A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Roadmap de </a:t>
            </a:r>
            <a:r>
              <a:rPr lang="en-US" sz="1800" err="1"/>
              <a:t>madurez</a:t>
            </a:r>
            <a:r>
              <a:rPr lang="en-US" sz="1800"/>
              <a:t> y barreras de </a:t>
            </a:r>
            <a:r>
              <a:rPr lang="en-US" sz="1800" err="1"/>
              <a:t>adopción</a:t>
            </a:r>
            <a:r>
              <a:rPr lang="en-US" sz="1800"/>
              <a:t> de la IA</a:t>
            </a:r>
            <a:endParaRPr lang="es-ES" sz="1800" err="1"/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B9FE5455-EAB1-C0EF-45B4-625E33B5D925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Brilo AI (vía G2/OneReach.ai)</a:t>
            </a:r>
            <a:r>
              <a:rPr lang="es-ES" sz="700"/>
              <a:t> , </a:t>
            </a:r>
            <a:r>
              <a:rPr lang="es-ES" sz="700">
                <a:solidFill>
                  <a:srgbClr val="2F81F7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Digital Applied</a:t>
            </a:r>
            <a:r>
              <a:rPr lang="es-ES" sz="700">
                <a:solidFill>
                  <a:srgbClr val="2F81F7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700"/>
              <a:t> ,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Gartner, vía Brilo AI</a:t>
            </a:r>
            <a:r>
              <a:rPr lang="es-ES" sz="700">
                <a:solidFill>
                  <a:srgbClr val="2F81F7"/>
                </a:solidFill>
              </a:rPr>
              <a:t> , </a:t>
            </a:r>
            <a:r>
              <a:rPr lang="es-ES" sz="700">
                <a:solidFill>
                  <a:srgbClr val="2F81F7"/>
                </a:solidFill>
                <a:hlinkClick r:id="rId3"/>
              </a:rPr>
              <a:t>Dynatrace — Pulse of Agentic AI 2026</a:t>
            </a:r>
            <a:r>
              <a:rPr lang="es-ES" sz="700"/>
              <a:t> </a:t>
            </a:r>
          </a:p>
          <a:p>
            <a:pPr algn="l"/>
            <a:endParaRPr lang="es-ES" sz="750">
              <a:solidFill>
                <a:srgbClr val="6B7280"/>
              </a:solidFill>
              <a:highlight>
                <a:srgbClr val="FFFF00"/>
              </a:highlight>
              <a:latin typeface="Calibri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B7AE3DE0-FDCD-5BDE-EA95-EBEEDA72441F}"/>
              </a:ext>
            </a:extLst>
          </p:cNvPr>
          <p:cNvSpPr/>
          <p:nvPr/>
        </p:nvSpPr>
        <p:spPr>
          <a:xfrm>
            <a:off x="997565" y="1371721"/>
            <a:ext cx="7043991" cy="164724"/>
          </a:xfrm>
          <a:prstGeom prst="rightArrow">
            <a:avLst/>
          </a:prstGeom>
          <a:solidFill>
            <a:srgbClr val="CBACE3"/>
          </a:solidFill>
          <a:ln>
            <a:solidFill>
              <a:srgbClr val="CBAC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endParaRPr lang="es-ES"/>
          </a:p>
        </p:txBody>
      </p:sp>
      <p:sp>
        <p:nvSpPr>
          <p:cNvPr id="15" name="Circle0">
            <a:extLst>
              <a:ext uri="{FF2B5EF4-FFF2-40B4-BE49-F238E27FC236}">
                <a16:creationId xmlns:a16="http://schemas.microsoft.com/office/drawing/2014/main" id="{1DD7BEF3-62E3-F22A-B657-21B4AB393174}"/>
              </a:ext>
            </a:extLst>
          </p:cNvPr>
          <p:cNvSpPr/>
          <p:nvPr/>
        </p:nvSpPr>
        <p:spPr>
          <a:xfrm>
            <a:off x="533671" y="2035900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latin typeface="Reddit Sans"/>
                <a:ea typeface="Reddit Sans"/>
              </a:rPr>
              <a:t>Fase de Automatización Cognitiva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2025</a:t>
            </a:r>
            <a:endParaRPr lang="es-ES" sz="1000"/>
          </a:p>
        </p:txBody>
      </p:sp>
      <p:sp>
        <p:nvSpPr>
          <p:cNvPr id="19" name="Circle1">
            <a:extLst>
              <a:ext uri="{FF2B5EF4-FFF2-40B4-BE49-F238E27FC236}">
                <a16:creationId xmlns:a16="http://schemas.microsoft.com/office/drawing/2014/main" id="{C3D3155B-9B9B-DF9C-1572-ED5EA03E08E6}"/>
              </a:ext>
            </a:extLst>
          </p:cNvPr>
          <p:cNvSpPr/>
          <p:nvPr/>
        </p:nvSpPr>
        <p:spPr>
          <a:xfrm>
            <a:off x="2191514" y="2014129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latin typeface="Reddit Sans"/>
                <a:ea typeface="Reddit Sans"/>
              </a:rPr>
              <a:t>Orquestación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 err="1">
                <a:latin typeface="Reddit Sans"/>
                <a:ea typeface="Reddit Sans"/>
              </a:rPr>
              <a:t>Multiagente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2026</a:t>
            </a:r>
            <a:r>
              <a:rPr lang="en-US" sz="1000">
                <a:latin typeface="Reddit Sans"/>
                <a:ea typeface="Reddit Sans"/>
              </a:rPr>
              <a:t> </a:t>
            </a:r>
            <a:endParaRPr lang="es-ES" sz="1000"/>
          </a:p>
        </p:txBody>
      </p:sp>
      <p:sp>
        <p:nvSpPr>
          <p:cNvPr id="23" name="Circle2">
            <a:extLst>
              <a:ext uri="{FF2B5EF4-FFF2-40B4-BE49-F238E27FC236}">
                <a16:creationId xmlns:a16="http://schemas.microsoft.com/office/drawing/2014/main" id="{CDDEBF7A-0E3A-4780-706B-B7963524973E}"/>
              </a:ext>
            </a:extLst>
          </p:cNvPr>
          <p:cNvSpPr/>
          <p:nvPr/>
        </p:nvSpPr>
        <p:spPr>
          <a:xfrm>
            <a:off x="3952771" y="2041343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latin typeface="Reddit Sans"/>
                <a:ea typeface="Reddit Sans"/>
              </a:rPr>
              <a:t>Operación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 err="1">
                <a:latin typeface="Reddit Sans"/>
                <a:ea typeface="Reddit Sans"/>
              </a:rPr>
              <a:t>Autónoma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2027</a:t>
            </a:r>
            <a:r>
              <a:rPr lang="en-US" sz="1000">
                <a:latin typeface="Reddit Sans"/>
                <a:ea typeface="Reddit Sans"/>
              </a:rPr>
              <a:t> </a:t>
            </a:r>
            <a:endParaRPr lang="es-ES" sz="1000"/>
          </a:p>
        </p:txBody>
      </p:sp>
      <p:sp>
        <p:nvSpPr>
          <p:cNvPr id="27" name="Circle3">
            <a:extLst>
              <a:ext uri="{FF2B5EF4-FFF2-40B4-BE49-F238E27FC236}">
                <a16:creationId xmlns:a16="http://schemas.microsoft.com/office/drawing/2014/main" id="{E6AD0B4F-7733-F61D-6D2A-FBD943A9FD58}"/>
              </a:ext>
            </a:extLst>
          </p:cNvPr>
          <p:cNvSpPr/>
          <p:nvPr/>
        </p:nvSpPr>
        <p:spPr>
          <a:xfrm>
            <a:off x="5888201" y="2041343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latin typeface="Reddit Sans"/>
                <a:ea typeface="Reddit Sans"/>
              </a:rPr>
              <a:t>Barreras de </a:t>
            </a:r>
            <a:r>
              <a:rPr lang="en-US" sz="1000" b="1" err="1">
                <a:latin typeface="Reddit Sans"/>
                <a:ea typeface="Reddit Sans"/>
              </a:rPr>
              <a:t>Adopción</a:t>
            </a:r>
            <a:r>
              <a:rPr lang="en-US" sz="1000">
                <a:latin typeface="Reddit Sans"/>
                <a:ea typeface="Reddit Sans"/>
              </a:rPr>
              <a:t> </a:t>
            </a:r>
            <a:endParaRPr lang="es-ES" sz="1000">
              <a:latin typeface="Reddit Sans"/>
              <a:ea typeface="Reddit Sans"/>
            </a:endParaRPr>
          </a:p>
          <a:p>
            <a:pPr algn="ctr"/>
            <a:endParaRPr lang="es-ES" sz="1000" b="1">
              <a:latin typeface="Reddit Sans"/>
              <a:ea typeface="Reddit Sans"/>
            </a:endParaRPr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8754AB3E-19FA-5ED0-DCBD-D9CD9E020CD8}"/>
              </a:ext>
            </a:extLst>
          </p:cNvPr>
          <p:cNvSpPr>
            <a:spLocks noGrp="1"/>
          </p:cNvSpPr>
          <p:nvPr/>
        </p:nvSpPr>
        <p:spPr>
          <a:xfrm>
            <a:off x="602850" y="2639133"/>
            <a:ext cx="1519864" cy="10728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685800" marR="0" lvl="1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6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1143000" marR="0" lvl="2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600200" marR="0" lvl="3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2057400" marR="0" lvl="4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514600" marR="0" lvl="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971800" marR="0" lvl="6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429000" marR="0" lvl="7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886200" marR="0" lvl="8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lvl="0" indent="0" algn="ctr">
              <a:lnSpc>
                <a:spcPct val="10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000" b="1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En 2025, 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la IA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apoya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agentes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humanos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con chatbots y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clasificación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automática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,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acelerando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tareas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sin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autonomía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completa.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31" name="CuadroTexto 8">
            <a:extLst>
              <a:ext uri="{FF2B5EF4-FFF2-40B4-BE49-F238E27FC236}">
                <a16:creationId xmlns:a16="http://schemas.microsoft.com/office/drawing/2014/main" id="{29972A88-FB76-361B-345C-AF637285EECF}"/>
              </a:ext>
            </a:extLst>
          </p:cNvPr>
          <p:cNvSpPr txBox="1"/>
          <p:nvPr/>
        </p:nvSpPr>
        <p:spPr>
          <a:xfrm>
            <a:off x="2226128" y="2490107"/>
            <a:ext cx="1464129" cy="136960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n-US" sz="1000" b="0" i="0">
                <a:solidFill>
                  <a:srgbClr val="7F7F7F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 rtl="0"/>
            <a:endParaRPr lang="en-US" sz="1000" b="0" i="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2026, </a:t>
            </a:r>
          </a:p>
          <a:p>
            <a:pPr algn="ctr"/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sistemas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coordinan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flujos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completos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supervisión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validando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excepciones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decisiones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</a:t>
            </a:r>
            <a:endParaRPr lang="en-US"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3" name="CuadroTexto 16">
            <a:extLst>
              <a:ext uri="{FF2B5EF4-FFF2-40B4-BE49-F238E27FC236}">
                <a16:creationId xmlns:a16="http://schemas.microsoft.com/office/drawing/2014/main" id="{27BB7B74-54D9-2EFB-FDDD-7C8E6210A0F4}"/>
              </a:ext>
            </a:extLst>
          </p:cNvPr>
          <p:cNvSpPr txBox="1"/>
          <p:nvPr/>
        </p:nvSpPr>
        <p:spPr>
          <a:xfrm>
            <a:off x="3940628" y="2637066"/>
            <a:ext cx="1801586" cy="93871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endParaRPr lang="en-US" sz="100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2027, la IA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detecta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anomalías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auto-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remedia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previene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incidentes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intervención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 solo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casos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.​​</a:t>
            </a:r>
          </a:p>
        </p:txBody>
      </p:sp>
      <p:sp>
        <p:nvSpPr>
          <p:cNvPr id="35" name="CuadroTexto 17">
            <a:extLst>
              <a:ext uri="{FF2B5EF4-FFF2-40B4-BE49-F238E27FC236}">
                <a16:creationId xmlns:a16="http://schemas.microsoft.com/office/drawing/2014/main" id="{A87FC08A-F3DF-C97C-0305-D8740C80E197}"/>
              </a:ext>
            </a:extLst>
          </p:cNvPr>
          <p:cNvSpPr txBox="1"/>
          <p:nvPr/>
        </p:nvSpPr>
        <p:spPr>
          <a:xfrm>
            <a:off x="5807527" y="2724151"/>
            <a:ext cx="1567544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Costos 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cambio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regulación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seguridad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complejidad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técnica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falta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talento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limitan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la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adopción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plena de IA.​</a:t>
            </a:r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1991DB3-AFD0-042D-91E8-2F2B1EA34017}"/>
              </a:ext>
            </a:extLst>
          </p:cNvPr>
          <p:cNvSpPr/>
          <p:nvPr/>
        </p:nvSpPr>
        <p:spPr>
          <a:xfrm>
            <a:off x="814387" y="890715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A143DC11-952E-FC0A-4FD3-4E633689BFD8}"/>
              </a:ext>
            </a:extLst>
          </p:cNvPr>
          <p:cNvSpPr/>
          <p:nvPr/>
        </p:nvSpPr>
        <p:spPr>
          <a:xfrm>
            <a:off x="2441121" y="956029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0">
            <a:extLst>
              <a:ext uri="{FF2B5EF4-FFF2-40B4-BE49-F238E27FC236}">
                <a16:creationId xmlns:a16="http://schemas.microsoft.com/office/drawing/2014/main" id="{BBDD3E90-AA27-C5BD-05A3-ECC18F770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62" y="1162792"/>
            <a:ext cx="700088" cy="585788"/>
          </a:xfrm>
          <a:prstGeom prst="rect">
            <a:avLst/>
          </a:prstGeom>
        </p:spPr>
      </p:pic>
      <p:pic>
        <p:nvPicPr>
          <p:cNvPr id="17" name="Image 1">
            <a:extLst>
              <a:ext uri="{FF2B5EF4-FFF2-40B4-BE49-F238E27FC236}">
                <a16:creationId xmlns:a16="http://schemas.microsoft.com/office/drawing/2014/main" id="{78651700-F166-BDE1-27F3-04346ADE2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3422" y="1246945"/>
            <a:ext cx="428625" cy="485775"/>
          </a:xfrm>
          <a:prstGeom prst="rect">
            <a:avLst/>
          </a:prstGeom>
        </p:spPr>
      </p:pic>
      <p:sp>
        <p:nvSpPr>
          <p:cNvPr id="18" name="Shape 5">
            <a:extLst>
              <a:ext uri="{FF2B5EF4-FFF2-40B4-BE49-F238E27FC236}">
                <a16:creationId xmlns:a16="http://schemas.microsoft.com/office/drawing/2014/main" id="{D2348FA2-3D7B-94EC-2CD3-C74B0F7BDAA9}"/>
              </a:ext>
            </a:extLst>
          </p:cNvPr>
          <p:cNvSpPr/>
          <p:nvPr/>
        </p:nvSpPr>
        <p:spPr>
          <a:xfrm>
            <a:off x="4220935" y="912486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FC3B3C23-5397-DEF7-1642-3BF699658397}"/>
              </a:ext>
            </a:extLst>
          </p:cNvPr>
          <p:cNvSpPr/>
          <p:nvPr/>
        </p:nvSpPr>
        <p:spPr>
          <a:xfrm>
            <a:off x="6087835" y="945143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4" name="Gráfico 23" descr="Inteligencia artificial contorno">
            <a:extLst>
              <a:ext uri="{FF2B5EF4-FFF2-40B4-BE49-F238E27FC236}">
                <a16:creationId xmlns:a16="http://schemas.microsoft.com/office/drawing/2014/main" id="{35C6A644-8197-FE53-8CA5-E1E2C4BDF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5928" y="1085850"/>
            <a:ext cx="674915" cy="674915"/>
          </a:xfrm>
          <a:prstGeom prst="rect">
            <a:avLst/>
          </a:prstGeom>
        </p:spPr>
      </p:pic>
      <p:pic>
        <p:nvPicPr>
          <p:cNvPr id="30" name="Gráfico 29" descr="Cerebro izquierdo y derecho contorno">
            <a:extLst>
              <a:ext uri="{FF2B5EF4-FFF2-40B4-BE49-F238E27FC236}">
                <a16:creationId xmlns:a16="http://schemas.microsoft.com/office/drawing/2014/main" id="{06DE0EC2-F6E6-034B-E2FD-003F1AADB8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59286" y="1123950"/>
            <a:ext cx="723900" cy="72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402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010FC-0026-B98C-378C-52D6BE416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4C41A606-C612-AD34-FCE1-E59441EAB7F0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Colombia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abre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una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ventana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industrializar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servicio</a:t>
            </a:r>
            <a:endParaRPr lang="es-ES" sz="1650" b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DB3A4721-9D57-A945-2ED3-3ED7086AA915}"/>
              </a:ext>
            </a:extLst>
          </p:cNvPr>
          <p:cNvSpPr>
            <a:spLocks noGrp="1"/>
          </p:cNvSpPr>
          <p:nvPr/>
        </p:nvSpPr>
        <p:spPr>
          <a:xfrm>
            <a:off x="340179" y="553811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0">
                <a:solidFill>
                  <a:srgbClr val="9AAEE0"/>
                </a:solidFill>
              </a:defRPr>
            </a:pP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Regulación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,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digitalización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e IA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elevan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expectativa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del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cliente</a:t>
            </a:r>
            <a:endParaRPr lang="es-ES" sz="1200" spc="-25" err="1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A5821A98-D5BD-2733-EEBB-B051423849F2}"/>
              </a:ext>
            </a:extLst>
          </p:cNvPr>
          <p:cNvSpPr txBox="1"/>
          <p:nvPr/>
        </p:nvSpPr>
        <p:spPr>
          <a:xfrm>
            <a:off x="337456" y="4661807"/>
            <a:ext cx="6417128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highlight>
                  <a:srgbClr val="FFFF00"/>
                </a:highlight>
              </a:rPr>
              <a:t>Fuente: </a:t>
            </a:r>
            <a:r>
              <a:rPr lang="en-US" sz="900">
                <a:highlight>
                  <a:srgbClr val="FFFF00"/>
                </a:highlight>
                <a:hlinkClick r:id="rId3"/>
              </a:rPr>
              <a:t>https://www.superfinanciera.gov.co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4"/>
              </a:rPr>
              <a:t>[</a:t>
            </a:r>
            <a:r>
              <a:rPr lang="en-US" sz="900" err="1">
                <a:highlight>
                  <a:srgbClr val="FFFF00"/>
                </a:highlight>
                <a:hlinkClick r:id="rId4"/>
              </a:rPr>
              <a:t>superfinan</a:t>
            </a:r>
            <a:r>
              <a:rPr lang="en-US" sz="900">
                <a:highlight>
                  <a:srgbClr val="FFFF00"/>
                </a:highlight>
                <a:hlinkClick r:id="rId4"/>
              </a:rPr>
              <a:t>...era.gov.co]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https://www.iso.org/standard/42001</a:t>
            </a:r>
            <a:r>
              <a:rPr lang="en-US" sz="900">
                <a:highlight>
                  <a:srgbClr val="FFFF00"/>
                </a:highlight>
              </a:rPr>
              <a:t>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[iso.org]</a:t>
            </a:r>
            <a:endParaRPr lang="en-US" sz="900">
              <a:highlight>
                <a:srgbClr val="FFFF00"/>
              </a:highlight>
            </a:endParaRPr>
          </a:p>
          <a:p>
            <a:endParaRPr lang="en-US" sz="800"/>
          </a:p>
        </p:txBody>
      </p:sp>
      <p:sp>
        <p:nvSpPr>
          <p:cNvPr id="101" name="kpiIcon"/>
          <p:cNvSpPr/>
          <p:nvPr/>
        </p:nvSpPr>
        <p:spPr>
          <a:xfrm>
            <a:off x="343000" y="930000"/>
            <a:ext cx="360000" cy="360000"/>
          </a:xfrm>
          <a:prstGeom prst="ellipse">
            <a:avLst/>
          </a:prstGeom>
          <a:solidFill>
            <a:srgbClr val="0C2362"/>
          </a:solidFill>
        </p:spPr>
        <p:txBody>
          <a:bodyPr/>
          <a:lstStyle/>
          <a:p>
            <a:endParaRPr lang="es-ES"/>
          </a:p>
        </p:txBody>
      </p:sp>
      <p:sp>
        <p:nvSpPr>
          <p:cNvPr id="102" name="ic"/>
          <p:cNvSpPr/>
          <p:nvPr/>
        </p:nvSpPr>
        <p:spPr>
          <a:xfrm>
            <a:off x="438000" y="985000"/>
            <a:ext cx="170000" cy="95000"/>
          </a:xfrm>
          <a:prstGeom prst="triangl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3" name="ic"/>
          <p:cNvSpPr/>
          <p:nvPr/>
        </p:nvSpPr>
        <p:spPr>
          <a:xfrm>
            <a:off x="435000" y="1090000"/>
            <a:ext cx="176000" cy="3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4" name="txt"/>
          <p:cNvSpPr txBox="1"/>
          <p:nvPr/>
        </p:nvSpPr>
        <p:spPr>
          <a:xfrm>
            <a:off x="773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81%</a:t>
            </a:r>
          </a:p>
        </p:txBody>
      </p:sp>
      <p:sp>
        <p:nvSpPr>
          <p:cNvPr id="105" name="txt"/>
          <p:cNvSpPr txBox="1"/>
          <p:nvPr/>
        </p:nvSpPr>
        <p:spPr>
          <a:xfrm>
            <a:off x="773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Uso de IA en banca colombiana</a:t>
            </a:r>
          </a:p>
        </p:txBody>
      </p:sp>
      <p:sp>
        <p:nvSpPr>
          <p:cNvPr id="106" name="kpiIcon"/>
          <p:cNvSpPr/>
          <p:nvPr/>
        </p:nvSpPr>
        <p:spPr>
          <a:xfrm>
            <a:off x="3225000" y="930000"/>
            <a:ext cx="360000" cy="360000"/>
          </a:xfrm>
          <a:prstGeom prst="ellipse">
            <a:avLst/>
          </a:prstGeom>
          <a:solidFill>
            <a:srgbClr val="0B4DC4"/>
          </a:solidFill>
        </p:spPr>
        <p:txBody>
          <a:bodyPr/>
          <a:lstStyle/>
          <a:p>
            <a:endParaRPr lang="es-ES"/>
          </a:p>
        </p:txBody>
      </p:sp>
      <p:sp>
        <p:nvSpPr>
          <p:cNvPr id="107" name="ic"/>
          <p:cNvSpPr/>
          <p:nvPr/>
        </p:nvSpPr>
        <p:spPr>
          <a:xfrm>
            <a:off x="3335000" y="985000"/>
            <a:ext cx="140000" cy="190000"/>
          </a:xfrm>
          <a:prstGeom prst="upArrow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8" name="txt"/>
          <p:cNvSpPr txBox="1"/>
          <p:nvPr/>
        </p:nvSpPr>
        <p:spPr>
          <a:xfrm>
            <a:off x="3655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0B4DC4"/>
                </a:solidFill>
                <a:latin typeface="Reddit Sans"/>
                <a:ea typeface="Reddit Sans"/>
                <a:cs typeface="Reddit Sans"/>
              </a:rPr>
              <a:t>13.82%</a:t>
            </a:r>
          </a:p>
        </p:txBody>
      </p:sp>
      <p:sp>
        <p:nvSpPr>
          <p:cNvPr id="109" name="txt"/>
          <p:cNvSpPr txBox="1"/>
          <p:nvPr/>
        </p:nvSpPr>
        <p:spPr>
          <a:xfrm>
            <a:off x="3655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Servicios crecen más rápido que soluciones</a:t>
            </a:r>
          </a:p>
        </p:txBody>
      </p:sp>
      <p:sp>
        <p:nvSpPr>
          <p:cNvPr id="110" name="kpiIcon"/>
          <p:cNvSpPr/>
          <p:nvPr/>
        </p:nvSpPr>
        <p:spPr>
          <a:xfrm>
            <a:off x="6107000" y="930000"/>
            <a:ext cx="360000" cy="360000"/>
          </a:xfrm>
          <a:prstGeom prst="ellipse">
            <a:avLst/>
          </a:prstGeom>
          <a:solidFill>
            <a:srgbClr val="2E8B8D"/>
          </a:solidFill>
        </p:spPr>
        <p:txBody>
          <a:bodyPr/>
          <a:lstStyle/>
          <a:p>
            <a:endParaRPr lang="es-ES"/>
          </a:p>
        </p:txBody>
      </p:sp>
      <p:sp>
        <p:nvSpPr>
          <p:cNvPr id="111" name="ic"/>
          <p:cNvSpPr/>
          <p:nvPr/>
        </p:nvSpPr>
        <p:spPr>
          <a:xfrm rot="8100000">
            <a:off x="6222000" y="985000"/>
            <a:ext cx="140000" cy="150000"/>
          </a:xfrm>
          <a:prstGeom prst="teardrop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2" name="txt"/>
          <p:cNvSpPr txBox="1"/>
          <p:nvPr/>
        </p:nvSpPr>
        <p:spPr>
          <a:xfrm>
            <a:off x="6537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2E8B8D"/>
                </a:solidFill>
                <a:latin typeface="Reddit Sans"/>
                <a:ea typeface="Reddit Sans"/>
                <a:cs typeface="Reddit Sans"/>
              </a:rPr>
              <a:t>14.08%</a:t>
            </a:r>
          </a:p>
        </p:txBody>
      </p:sp>
      <p:sp>
        <p:nvSpPr>
          <p:cNvPr id="113" name="txt"/>
          <p:cNvSpPr txBox="1"/>
          <p:nvPr/>
        </p:nvSpPr>
        <p:spPr>
          <a:xfrm>
            <a:off x="6537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CAGR ITSM Colombia hasta 2031</a:t>
            </a:r>
          </a:p>
        </p:txBody>
      </p:sp>
      <p:sp>
        <p:nvSpPr>
          <p:cNvPr id="116" name="ic"/>
          <p:cNvSpPr/>
          <p:nvPr/>
        </p:nvSpPr>
        <p:spPr>
          <a:xfrm rot="5400000">
            <a:off x="486229" y="1730000"/>
            <a:ext cx="198358" cy="198358"/>
          </a:xfrm>
          <a:prstGeom prst="homePlat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7" name="txt"/>
          <p:cNvSpPr txBox="1"/>
          <p:nvPr/>
        </p:nvSpPr>
        <p:spPr>
          <a:xfrm>
            <a:off x="451243" y="1653671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BANCA Y SEGUROS</a:t>
            </a:r>
          </a:p>
        </p:txBody>
      </p:sp>
      <p:sp>
        <p:nvSpPr>
          <p:cNvPr id="118" name="txt"/>
          <p:cNvSpPr txBox="1"/>
          <p:nvPr/>
        </p:nvSpPr>
        <p:spPr>
          <a:xfrm>
            <a:off x="473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transaccional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SFC / SOX, fraude tiempo real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BCP / DRP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SURA y Bancolombia actuales</a:t>
            </a:r>
          </a:p>
        </p:txBody>
      </p:sp>
      <p:sp>
        <p:nvSpPr>
          <p:cNvPr id="122" name="txt"/>
          <p:cNvSpPr txBox="1"/>
          <p:nvPr/>
        </p:nvSpPr>
        <p:spPr>
          <a:xfrm>
            <a:off x="3349571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SALUD (EPS/IPS)</a:t>
            </a:r>
          </a:p>
        </p:txBody>
      </p:sp>
      <p:sp>
        <p:nvSpPr>
          <p:cNvPr id="123" name="txt"/>
          <p:cNvSpPr txBox="1"/>
          <p:nvPr/>
        </p:nvSpPr>
        <p:spPr>
          <a:xfrm>
            <a:off x="3355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asistencial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Historia clínica digital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y compliance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Minsalud</a:t>
            </a:r>
          </a:p>
        </p:txBody>
      </p:sp>
      <p:sp>
        <p:nvSpPr>
          <p:cNvPr id="127" name="txt"/>
          <p:cNvSpPr txBox="1"/>
          <p:nvPr/>
        </p:nvSpPr>
        <p:spPr>
          <a:xfrm>
            <a:off x="6286000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ENERGÍA Y UTILITIES</a:t>
            </a:r>
          </a:p>
        </p:txBody>
      </p:sp>
      <p:sp>
        <p:nvSpPr>
          <p:cNvPr id="128" name="txt"/>
          <p:cNvSpPr txBox="1"/>
          <p:nvPr/>
        </p:nvSpPr>
        <p:spPr>
          <a:xfrm>
            <a:off x="6237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Operación crítica 24x7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AIOps y observabilidad predictiva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Eventos críticos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XM y AES</a:t>
            </a:r>
          </a:p>
        </p:txBody>
      </p:sp>
      <p:sp>
        <p:nvSpPr>
          <p:cNvPr id="131" name="txt"/>
          <p:cNvSpPr txBox="1"/>
          <p:nvPr/>
        </p:nvSpPr>
        <p:spPr>
          <a:xfrm>
            <a:off x="773000" y="2810000"/>
            <a:ext cx="3450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5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  <a:cs typeface="Reddit Sans"/>
              </a:rPr>
              <a:t>REGULACIÓN: ACELERADOR DE LA DEMANDA</a:t>
            </a:r>
          </a:p>
        </p:txBody>
      </p:sp>
      <p:sp>
        <p:nvSpPr>
          <p:cNvPr id="133" name="txt"/>
          <p:cNvSpPr txBox="1"/>
          <p:nvPr/>
        </p:nvSpPr>
        <p:spPr>
          <a:xfrm>
            <a:off x="3972257" y="2777343"/>
            <a:ext cx="4276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Cumplimiento obligatorio que genera demanda de servicios gestionados</a:t>
            </a:r>
          </a:p>
        </p:txBody>
      </p:sp>
      <p:sp>
        <p:nvSpPr>
          <p:cNvPr id="137" name="txt"/>
          <p:cNvSpPr txBox="1"/>
          <p:nvPr/>
        </p:nvSpPr>
        <p:spPr>
          <a:xfrm>
            <a:off x="343900" y="3215000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SFC CIRCULAR 007 (2024)</a:t>
            </a:r>
          </a:p>
        </p:txBody>
      </p:sp>
      <p:sp>
        <p:nvSpPr>
          <p:cNvPr id="138" name="txt"/>
          <p:cNvSpPr txBox="1"/>
          <p:nvPr/>
        </p:nvSpPr>
        <p:spPr>
          <a:xfrm>
            <a:off x="453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SIEM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Gestión de incidentes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Gobernanza tecnológica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obligatoria</a:t>
            </a:r>
          </a:p>
        </p:txBody>
      </p:sp>
      <p:sp>
        <p:nvSpPr>
          <p:cNvPr id="142" name="txt"/>
          <p:cNvSpPr txBox="1"/>
          <p:nvPr/>
        </p:nvSpPr>
        <p:spPr>
          <a:xfrm>
            <a:off x="3274886" y="3187786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OPEN FINANCE (ago 2026)</a:t>
            </a:r>
          </a:p>
        </p:txBody>
      </p:sp>
      <p:sp>
        <p:nvSpPr>
          <p:cNvPr id="143" name="txt"/>
          <p:cNvSpPr txBox="1"/>
          <p:nvPr/>
        </p:nvSpPr>
        <p:spPr>
          <a:xfrm>
            <a:off x="3335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APIs abiertas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de canales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Nuevos vectores de riesgo operacional</a:t>
            </a:r>
          </a:p>
        </p:txBody>
      </p:sp>
      <p:sp>
        <p:nvSpPr>
          <p:cNvPr id="146" name="glyph"/>
          <p:cNvSpPr txBox="1"/>
          <p:nvPr/>
        </p:nvSpPr>
        <p:spPr>
          <a:xfrm>
            <a:off x="6187000" y="3225000"/>
            <a:ext cx="300000" cy="300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algn="ctr"/>
            <a:r>
              <a:rPr lang="es-ES" sz="700" b="1">
                <a:solidFill>
                  <a:srgbClr val="FFFFFF"/>
                </a:solidFill>
                <a:latin typeface="Reddit Sans"/>
              </a:rPr>
              <a:t>ISO</a:t>
            </a:r>
          </a:p>
        </p:txBody>
      </p:sp>
      <p:sp>
        <p:nvSpPr>
          <p:cNvPr id="147" name="txt"/>
          <p:cNvSpPr txBox="1"/>
          <p:nvPr/>
        </p:nvSpPr>
        <p:spPr>
          <a:xfrm>
            <a:off x="6140557" y="3204114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ISO 42001 IA</a:t>
            </a:r>
          </a:p>
        </p:txBody>
      </p:sp>
      <p:sp>
        <p:nvSpPr>
          <p:cNvPr id="148" name="txt"/>
          <p:cNvSpPr txBox="1"/>
          <p:nvPr/>
        </p:nvSpPr>
        <p:spPr>
          <a:xfrm>
            <a:off x="6217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Gobierno de 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Responsabilidad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Transparencia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Auditabilidad. Exigido por grandes clientes</a:t>
            </a: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10C981B3-81A0-CD9E-A9E4-78CB43BD6637}"/>
              </a:ext>
            </a:extLst>
          </p:cNvPr>
          <p:cNvCxnSpPr/>
          <p:nvPr/>
        </p:nvCxnSpPr>
        <p:spPr>
          <a:xfrm flipV="1">
            <a:off x="345192" y="3052869"/>
            <a:ext cx="8403485" cy="4297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42C067BF-548D-5FD6-B0DB-5EF693F37227}"/>
              </a:ext>
            </a:extLst>
          </p:cNvPr>
          <p:cNvGrpSpPr/>
          <p:nvPr/>
        </p:nvGrpSpPr>
        <p:grpSpPr>
          <a:xfrm>
            <a:off x="338228" y="4245928"/>
            <a:ext cx="7016357" cy="357359"/>
            <a:chOff x="338228" y="4349342"/>
            <a:chExt cx="7299385" cy="357359"/>
          </a:xfrm>
        </p:grpSpPr>
        <p:sp>
          <p:nvSpPr>
            <p:cNvPr id="151" name="txt"/>
            <p:cNvSpPr txBox="1"/>
            <p:nvPr/>
          </p:nvSpPr>
          <p:spPr>
            <a:xfrm>
              <a:off x="425671" y="4351386"/>
              <a:ext cx="5864043" cy="313229"/>
            </a:xfrm>
            <a:prstGeom prst="rect">
              <a:avLst/>
            </a:prstGeom>
            <a:noFill/>
          </p:spPr>
          <p:txBody>
            <a:bodyPr wrap="square" lIns="18000" tIns="9000" rIns="18000" bIns="9000" anchor="ctr">
              <a:normAutofit/>
            </a:bodyPr>
            <a:lstStyle/>
            <a:p>
              <a:pPr algn="l"/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La regulación está transformando el Service </a:t>
              </a:r>
              <a:r>
                <a:rPr lang="es-ES" sz="1050" b="1" err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Desk</a:t>
              </a:r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 en una </a:t>
              </a:r>
              <a:r>
                <a:rPr lang="es-ES" sz="1050" b="1">
                  <a:solidFill>
                    <a:schemeClr val="accent1">
                      <a:lumMod val="49000"/>
                    </a:schemeClr>
                  </a:solidFill>
                  <a:latin typeface="Reddit Sans"/>
                  <a:ea typeface="Reddit Sans"/>
                  <a:cs typeface="Reddit Sans"/>
                </a:rPr>
                <a:t>capacidad crítica </a:t>
              </a:r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del negocio.</a:t>
              </a:r>
            </a:p>
          </p:txBody>
        </p:sp>
        <p:sp>
          <p:nvSpPr>
            <p:cNvPr id="5" name="rec213">
              <a:extLst>
                <a:ext uri="{FF2B5EF4-FFF2-40B4-BE49-F238E27FC236}">
                  <a16:creationId xmlns:a16="http://schemas.microsoft.com/office/drawing/2014/main" id="{9DE38FBE-B974-E01E-8EFA-A65A4CD8478A}"/>
                </a:ext>
              </a:extLst>
            </p:cNvPr>
            <p:cNvSpPr/>
            <p:nvPr/>
          </p:nvSpPr>
          <p:spPr>
            <a:xfrm>
              <a:off x="338228" y="4349342"/>
              <a:ext cx="7299385" cy="357359"/>
            </a:xfrm>
            <a:prstGeom prst="roundRect">
              <a:avLst>
                <a:gd name="adj" fmla="val 6000"/>
              </a:avLst>
            </a:prstGeom>
            <a:noFill/>
            <a:ln>
              <a:solidFill>
                <a:schemeClr val="accent1"/>
              </a:solidFill>
            </a:ln>
          </p:spPr>
          <p:txBody>
            <a:bodyPr wrap="square" lIns="45720" tIns="18000" rIns="45720" bIns="18000" anchor="t">
              <a:normAutofit/>
            </a:bodyPr>
            <a:lstStyle/>
            <a:p>
              <a:pPr algn="ctr"/>
              <a:endParaRPr lang="es-ES" sz="950" b="1">
                <a:solidFill>
                  <a:srgbClr val="132346"/>
                </a:solidFill>
                <a:latin typeface="Reddit Sans"/>
                <a:ea typeface="Reddit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1225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>
            <a:extLst>
              <a:ext uri="{FF2B5EF4-FFF2-40B4-BE49-F238E27FC236}">
                <a16:creationId xmlns:a16="http://schemas.microsoft.com/office/drawing/2014/main" id="{EF145EE0-E561-FEDD-0C89-684520E996B9}"/>
              </a:ext>
            </a:extLst>
          </p:cNvPr>
          <p:cNvSpPr/>
          <p:nvPr/>
        </p:nvSpPr>
        <p:spPr>
          <a:xfrm>
            <a:off x="2215243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8BFDA1F-B97B-FF8B-A810-F7E06937EFF1}"/>
              </a:ext>
            </a:extLst>
          </p:cNvPr>
          <p:cNvSpPr/>
          <p:nvPr/>
        </p:nvSpPr>
        <p:spPr>
          <a:xfrm>
            <a:off x="2389414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11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6FD97E7-60D9-A9C3-3133-8B4DB1EDCFCF}"/>
              </a:ext>
            </a:extLst>
          </p:cNvPr>
          <p:cNvSpPr/>
          <p:nvPr/>
        </p:nvSpPr>
        <p:spPr>
          <a:xfrm>
            <a:off x="2389414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Mesas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A2EAD06-D9DA-48BD-49DD-24A84487FEAA}"/>
              </a:ext>
            </a:extLst>
          </p:cNvPr>
          <p:cNvSpPr/>
          <p:nvPr/>
        </p:nvSpPr>
        <p:spPr>
          <a:xfrm>
            <a:off x="3773968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3C601815-30F7-DFDA-B98B-2FB993338CB6}"/>
              </a:ext>
            </a:extLst>
          </p:cNvPr>
          <p:cNvSpPr/>
          <p:nvPr/>
        </p:nvSpPr>
        <p:spPr>
          <a:xfrm>
            <a:off x="393181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17490"/>
                </a:solidFill>
                <a:latin typeface="Reddit Sans Light"/>
                <a:ea typeface="Calibri"/>
                <a:cs typeface="Reddit Sans Light"/>
              </a:rPr>
              <a:t>57</a:t>
            </a:r>
            <a:endParaRPr lang="en-US" sz="300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43A6272A-CFCF-7A50-12C1-F31339E8BE35}"/>
              </a:ext>
            </a:extLst>
          </p:cNvPr>
          <p:cNvSpPr/>
          <p:nvPr/>
        </p:nvSpPr>
        <p:spPr>
          <a:xfrm>
            <a:off x="3931811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FTE </a:t>
            </a: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19F71853-6564-A7BC-D8B0-D167CA5F647F}"/>
              </a:ext>
            </a:extLst>
          </p:cNvPr>
          <p:cNvSpPr/>
          <p:nvPr/>
        </p:nvSpPr>
        <p:spPr>
          <a:xfrm>
            <a:off x="5387122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73794636-C541-3A48-3C9E-D80BB73EC66F}"/>
              </a:ext>
            </a:extLst>
          </p:cNvPr>
          <p:cNvSpPr/>
          <p:nvPr/>
        </p:nvSpPr>
        <p:spPr>
          <a:xfrm>
            <a:off x="5572179" y="975469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B3261E"/>
                </a:solidFill>
                <a:latin typeface="Reddit Sans Light"/>
                <a:ea typeface="Calibri"/>
                <a:cs typeface="Reddit Sans Light"/>
              </a:rPr>
              <a:t>2</a:t>
            </a:r>
            <a:endParaRPr lang="en-US" sz="3000" b="1" dirty="0">
              <a:solidFill>
                <a:srgbClr val="B3261E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BB954CE0-F03D-7590-5363-C3A58DAE5E55}"/>
              </a:ext>
            </a:extLst>
          </p:cNvPr>
          <p:cNvSpPr/>
          <p:nvPr/>
        </p:nvSpPr>
        <p:spPr>
          <a:xfrm>
            <a:off x="5572179" y="1524109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950" dirty="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 N3</a:t>
            </a:r>
            <a:endParaRPr lang="en-US" sz="950" dirty="0"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FDC9B93-707B-C2BF-913D-568E2AAC1F34}"/>
              </a:ext>
            </a:extLst>
          </p:cNvPr>
          <p:cNvSpPr/>
          <p:nvPr/>
        </p:nvSpPr>
        <p:spPr>
          <a:xfrm>
            <a:off x="648461" y="947601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9DA9FAC-E29B-87AD-F1AC-8D3881AC4186}"/>
              </a:ext>
            </a:extLst>
          </p:cNvPr>
          <p:cNvSpPr/>
          <p:nvPr/>
        </p:nvSpPr>
        <p:spPr>
          <a:xfrm>
            <a:off x="844404" y="959140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4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EAACE51-BC11-9F28-D4EB-E90BA7B2AA55}"/>
              </a:ext>
            </a:extLst>
          </p:cNvPr>
          <p:cNvSpPr/>
          <p:nvPr/>
        </p:nvSpPr>
        <p:spPr>
          <a:xfrm>
            <a:off x="844404" y="1469680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dirty="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Clientes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8C4996C0-D6D7-24E3-25E1-EB43CBF58650}"/>
              </a:ext>
            </a:extLst>
          </p:cNvPr>
          <p:cNvSpPr/>
          <p:nvPr/>
        </p:nvSpPr>
        <p:spPr>
          <a:xfrm>
            <a:off x="332014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CC30066-899D-3C09-3059-9BB6B2602527}"/>
              </a:ext>
            </a:extLst>
          </p:cNvPr>
          <p:cNvSpPr/>
          <p:nvPr/>
        </p:nvSpPr>
        <p:spPr>
          <a:xfrm>
            <a:off x="332014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4CF1C35-E4D3-0C6A-7A97-AF081690E26D}"/>
              </a:ext>
            </a:extLst>
          </p:cNvPr>
          <p:cNvSpPr/>
          <p:nvPr/>
        </p:nvSpPr>
        <p:spPr>
          <a:xfrm>
            <a:off x="434884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N1 · Operación Reactiva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39053475-1421-F7C8-AD15-75DB9723B730}"/>
              </a:ext>
            </a:extLst>
          </p:cNvPr>
          <p:cNvSpPr/>
          <p:nvPr/>
        </p:nvSpPr>
        <p:spPr>
          <a:xfrm>
            <a:off x="1931669" y="2006781"/>
            <a:ext cx="81751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3564960B-23C8-45DA-2745-C36574CC176D}"/>
              </a:ext>
            </a:extLst>
          </p:cNvPr>
          <p:cNvSpPr/>
          <p:nvPr/>
        </p:nvSpPr>
        <p:spPr>
          <a:xfrm>
            <a:off x="534489" y="3047454"/>
            <a:ext cx="2539636" cy="703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Integración</a:t>
            </a: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  <a:endParaRPr lang="en-US" sz="1000" dirty="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Datos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Emma</a:t>
            </a:r>
            <a:endParaRPr lang="en-US" sz="1000" dirty="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Emma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Iseries</a:t>
            </a:r>
            <a:endParaRPr lang="en-US" sz="10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9E80C49-1784-AFE6-C216-5CE00A928742}"/>
              </a:ext>
            </a:extLst>
          </p:cNvPr>
          <p:cNvSpPr/>
          <p:nvPr/>
        </p:nvSpPr>
        <p:spPr>
          <a:xfrm>
            <a:off x="3267238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54F05A97-B24A-C53A-D343-169FE3831E11}"/>
              </a:ext>
            </a:extLst>
          </p:cNvPr>
          <p:cNvSpPr/>
          <p:nvPr/>
        </p:nvSpPr>
        <p:spPr>
          <a:xfrm>
            <a:off x="3267238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92BEB23B-D0A0-26DC-FF99-9ABFEA148B3D}"/>
              </a:ext>
            </a:extLst>
          </p:cNvPr>
          <p:cNvSpPr/>
          <p:nvPr/>
        </p:nvSpPr>
        <p:spPr>
          <a:xfrm>
            <a:off x="3370108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N2 · Herramienta 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C5DEF9A-FFC6-13CE-8541-DF862A2A84FA}"/>
              </a:ext>
            </a:extLst>
          </p:cNvPr>
          <p:cNvSpPr/>
          <p:nvPr/>
        </p:nvSpPr>
        <p:spPr>
          <a:xfrm>
            <a:off x="4888665" y="1990453"/>
            <a:ext cx="76853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2653892-AC8C-CBD6-79C1-85AAC042BB70}"/>
              </a:ext>
            </a:extLst>
          </p:cNvPr>
          <p:cNvSpPr/>
          <p:nvPr/>
        </p:nvSpPr>
        <p:spPr>
          <a:xfrm>
            <a:off x="2996183" y="2944042"/>
            <a:ext cx="1815737" cy="53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 Digital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Canales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Masivos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F6DB335E-8497-36B2-29D1-A99F72ACCB5F}"/>
              </a:ext>
            </a:extLst>
          </p:cNvPr>
          <p:cNvSpPr/>
          <p:nvPr/>
        </p:nvSpPr>
        <p:spPr>
          <a:xfrm>
            <a:off x="6202462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9CCE7CF-3E2A-DC0B-B2FA-FE8DB1E34887}"/>
              </a:ext>
            </a:extLst>
          </p:cNvPr>
          <p:cNvSpPr/>
          <p:nvPr/>
        </p:nvSpPr>
        <p:spPr>
          <a:xfrm>
            <a:off x="6202462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4436C922-BFF7-8292-582C-A83FAA29A772}"/>
              </a:ext>
            </a:extLst>
          </p:cNvPr>
          <p:cNvSpPr/>
          <p:nvPr/>
        </p:nvSpPr>
        <p:spPr>
          <a:xfrm>
            <a:off x="6289003" y="1936024"/>
            <a:ext cx="40930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N3</a:t>
            </a:r>
            <a:endParaRPr lang="en-US" sz="975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4552EAD8-AA87-92D6-6974-D301B38A6547}"/>
              </a:ext>
            </a:extLst>
          </p:cNvPr>
          <p:cNvSpPr/>
          <p:nvPr/>
        </p:nvSpPr>
        <p:spPr>
          <a:xfrm>
            <a:off x="7987174" y="1990453"/>
            <a:ext cx="60524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2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3A66E8B3-3227-F4DF-9117-22E082EE5136}"/>
              </a:ext>
            </a:extLst>
          </p:cNvPr>
          <p:cNvSpPr/>
          <p:nvPr/>
        </p:nvSpPr>
        <p:spPr>
          <a:xfrm>
            <a:off x="6339622" y="24160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spcAft>
                <a:spcPts val="225"/>
              </a:spcAft>
              <a:buNone/>
            </a:pPr>
            <a:endParaRPr lang="en-US" sz="938">
              <a:latin typeface="Reddit Sans Light"/>
              <a:cs typeface="Reddit Sans Light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3617E2F5-3A18-ACE4-E271-63674AA1C2BA}"/>
              </a:ext>
            </a:extLst>
          </p:cNvPr>
          <p:cNvSpPr/>
          <p:nvPr/>
        </p:nvSpPr>
        <p:spPr>
          <a:xfrm>
            <a:off x="342900" y="4349931"/>
            <a:ext cx="8455914" cy="327225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690CF84A-296B-2272-5D41-DB6EC483EA01}"/>
              </a:ext>
            </a:extLst>
          </p:cNvPr>
          <p:cNvSpPr/>
          <p:nvPr/>
        </p:nvSpPr>
        <p:spPr>
          <a:xfrm>
            <a:off x="480060" y="4366260"/>
            <a:ext cx="818159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este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levantamiento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inicial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no se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incluyó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a MEDICARTE,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ya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que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actualmente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se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encuentra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proceso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de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empalme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.</a:t>
            </a:r>
            <a:endParaRPr lang="es-ES" sz="1100" b="1">
              <a:solidFill>
                <a:schemeClr val="accent1">
                  <a:lumMod val="49000"/>
                </a:schemeClr>
              </a:solidFill>
              <a:latin typeface="Reddit Sans Light"/>
              <a:cs typeface="Reddit Sans Light"/>
            </a:endParaRPr>
          </a:p>
          <a:p>
            <a:endParaRPr lang="en-US" sz="950" b="1" dirty="0">
              <a:solidFill>
                <a:schemeClr val="accent1">
                  <a:lumMod val="49000"/>
                </a:schemeClr>
              </a:solidFill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3" name="Text 22">
            <a:extLst>
              <a:ext uri="{FF2B5EF4-FFF2-40B4-BE49-F238E27FC236}">
                <a16:creationId xmlns:a16="http://schemas.microsoft.com/office/drawing/2014/main" id="{7A8C7BD1-9176-A15B-5946-3D3FC0332A13}"/>
              </a:ext>
            </a:extLst>
          </p:cNvPr>
          <p:cNvSpPr/>
          <p:nvPr/>
        </p:nvSpPr>
        <p:spPr>
          <a:xfrm>
            <a:off x="6289112" y="2944041"/>
            <a:ext cx="917666" cy="169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</a:p>
        </p:txBody>
      </p:sp>
      <p:pic>
        <p:nvPicPr>
          <p:cNvPr id="4" name="Gráfico 3" descr="The logo of , showing a stylized leaf above the site name in bold, modern font. Links to the homepage.">
            <a:extLst>
              <a:ext uri="{FF2B5EF4-FFF2-40B4-BE49-F238E27FC236}">
                <a16:creationId xmlns:a16="http://schemas.microsoft.com/office/drawing/2014/main" id="{A0D4B0DF-F4E8-7E49-32F1-8519B02EC3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224" y="2364921"/>
            <a:ext cx="487137" cy="206829"/>
          </a:xfrm>
          <a:prstGeom prst="rect">
            <a:avLst/>
          </a:prstGeom>
        </p:spPr>
      </p:pic>
      <p:pic>
        <p:nvPicPr>
          <p:cNvPr id="7" name="Gráfico 6" descr="Logo Bancolombia">
            <a:extLst>
              <a:ext uri="{FF2B5EF4-FFF2-40B4-BE49-F238E27FC236}">
                <a16:creationId xmlns:a16="http://schemas.microsoft.com/office/drawing/2014/main" id="{43D69C67-E535-7C60-A4E0-120FBA08E3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6722" y="2673122"/>
            <a:ext cx="1326697" cy="374197"/>
          </a:xfrm>
          <a:prstGeom prst="rect">
            <a:avLst/>
          </a:prstGeom>
        </p:spPr>
      </p:pic>
      <p:pic>
        <p:nvPicPr>
          <p:cNvPr id="9" name="Gráfico 8" descr="logo Sura">
            <a:extLst>
              <a:ext uri="{FF2B5EF4-FFF2-40B4-BE49-F238E27FC236}">
                <a16:creationId xmlns:a16="http://schemas.microsoft.com/office/drawing/2014/main" id="{76884242-5B78-E8F5-196D-24CD953435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853" y="2400299"/>
            <a:ext cx="987879" cy="342901"/>
          </a:xfrm>
          <a:prstGeom prst="rect">
            <a:avLst/>
          </a:prstGeom>
        </p:spPr>
      </p:pic>
      <p:pic>
        <p:nvPicPr>
          <p:cNvPr id="11" name="Imagen 10" descr="Logo">
            <a:extLst>
              <a:ext uri="{FF2B5EF4-FFF2-40B4-BE49-F238E27FC236}">
                <a16:creationId xmlns:a16="http://schemas.microsoft.com/office/drawing/2014/main" id="{895562EC-799E-D3C4-DC5A-4BE673F21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3321" y="2363561"/>
            <a:ext cx="778331" cy="410937"/>
          </a:xfrm>
          <a:prstGeom prst="rect">
            <a:avLst/>
          </a:prstGeom>
        </p:spPr>
      </p:pic>
      <p:pic>
        <p:nvPicPr>
          <p:cNvPr id="15" name="Gráfico 14" descr="logo Sura">
            <a:extLst>
              <a:ext uri="{FF2B5EF4-FFF2-40B4-BE49-F238E27FC236}">
                <a16:creationId xmlns:a16="http://schemas.microsoft.com/office/drawing/2014/main" id="{4E0D61E5-7B27-245D-52E8-8BECA618E7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5010" y="2427513"/>
            <a:ext cx="987879" cy="342901"/>
          </a:xfrm>
          <a:prstGeom prst="rect">
            <a:avLst/>
          </a:prstGeom>
        </p:spPr>
      </p:pic>
      <p:pic>
        <p:nvPicPr>
          <p:cNvPr id="17" name="Imagen 16" descr="Logo">
            <a:extLst>
              <a:ext uri="{FF2B5EF4-FFF2-40B4-BE49-F238E27FC236}">
                <a16:creationId xmlns:a16="http://schemas.microsoft.com/office/drawing/2014/main" id="{5A463B06-EF9E-16FF-193B-A64DB0EEF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3478" y="2390775"/>
            <a:ext cx="778331" cy="410937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3D4FF19C-DA59-E7C8-94CD-FC7572D8F0DB}"/>
              </a:ext>
            </a:extLst>
          </p:cNvPr>
          <p:cNvSpPr txBox="1"/>
          <p:nvPr/>
        </p:nvSpPr>
        <p:spPr>
          <a:xfrm>
            <a:off x="7364185" y="2724149"/>
            <a:ext cx="1741715" cy="4343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000" b="0" i="0">
                <a:solidFill>
                  <a:srgbClr val="000000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>
              <a:lnSpc>
                <a:spcPts val="1575"/>
              </a:lnSpc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HU</a:t>
            </a:r>
            <a:r>
              <a:rPr lang="en-US" sz="1000" b="0" i="0" u="none" strike="noStrike" baseline="0" dirty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 </a:t>
            </a:r>
            <a:r>
              <a:rPr lang="en-US" sz="1000" b="0" i="0" u="none" strike="noStrike" baseline="0" dirty="0" err="1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Evolutivas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57F8888-D775-3BF7-793F-61267ABCCDC6}"/>
              </a:ext>
            </a:extLst>
          </p:cNvPr>
          <p:cNvSpPr/>
          <p:nvPr/>
        </p:nvSpPr>
        <p:spPr>
          <a:xfrm>
            <a:off x="4819540" y="2922271"/>
            <a:ext cx="961209" cy="57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s-CO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 App Criticas</a:t>
            </a:r>
          </a:p>
        </p:txBody>
      </p:sp>
      <p:sp>
        <p:nvSpPr>
          <p:cNvPr id="29" name="ttl">
            <a:extLst>
              <a:ext uri="{FF2B5EF4-FFF2-40B4-BE49-F238E27FC236}">
                <a16:creationId xmlns:a16="http://schemas.microsoft.com/office/drawing/2014/main" id="{D6522D37-9C92-E81E-6C63-45AC32BF548F}"/>
              </a:ext>
            </a:extLst>
          </p:cNvPr>
          <p:cNvSpPr txBox="1">
            <a:spLocks noGrp="1"/>
          </p:cNvSpPr>
          <p:nvPr/>
        </p:nvSpPr>
        <p:spPr>
          <a:xfrm>
            <a:off x="330925" y="173083"/>
            <a:ext cx="3173187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170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Nuestra </a:t>
            </a:r>
            <a:r>
              <a:rPr lang="es-ES" sz="170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Operación</a:t>
            </a:r>
            <a:r>
              <a:rPr lang="es-ES" sz="170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 Actual</a:t>
            </a:r>
          </a:p>
        </p:txBody>
      </p:sp>
      <p:sp>
        <p:nvSpPr>
          <p:cNvPr id="33" name="sub">
            <a:extLst>
              <a:ext uri="{FF2B5EF4-FFF2-40B4-BE49-F238E27FC236}">
                <a16:creationId xmlns:a16="http://schemas.microsoft.com/office/drawing/2014/main" id="{5A023ACB-452D-09FE-CAB0-D835DE0CC855}"/>
              </a:ext>
            </a:extLst>
          </p:cNvPr>
          <p:cNvSpPr txBox="1">
            <a:spLocks noGrp="1"/>
          </p:cNvSpPr>
          <p:nvPr/>
        </p:nvSpPr>
        <p:spPr>
          <a:xfrm>
            <a:off x="330925" y="566928"/>
            <a:ext cx="3222173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lnSpcReduction="10000"/>
          </a:bodyPr>
          <a:lstStyle/>
          <a:p>
            <a:pPr algn="l"/>
            <a:r>
              <a:rPr lang="es-ES" sz="1000" dirty="0">
                <a:solidFill>
                  <a:srgbClr val="6B7280"/>
                </a:solidFill>
                <a:latin typeface="Reddit Sans"/>
                <a:ea typeface="Reddit Sans"/>
              </a:rPr>
              <a:t>Banca y Seguros · Energía y </a:t>
            </a:r>
            <a:r>
              <a:rPr lang="es-ES" sz="1000" dirty="0" err="1">
                <a:solidFill>
                  <a:srgbClr val="6B7280"/>
                </a:solidFill>
                <a:latin typeface="Reddit Sans"/>
                <a:ea typeface="Reddit Sans"/>
              </a:rPr>
              <a:t>Utilities</a:t>
            </a:r>
          </a:p>
        </p:txBody>
      </p:sp>
      <p:sp>
        <p:nvSpPr>
          <p:cNvPr id="2" name="Shape 10">
            <a:extLst>
              <a:ext uri="{FF2B5EF4-FFF2-40B4-BE49-F238E27FC236}">
                <a16:creationId xmlns:a16="http://schemas.microsoft.com/office/drawing/2014/main" id="{EF0FF842-835D-9AA8-2EFA-E7A5FB04F8CE}"/>
              </a:ext>
            </a:extLst>
          </p:cNvPr>
          <p:cNvSpPr/>
          <p:nvPr/>
        </p:nvSpPr>
        <p:spPr>
          <a:xfrm>
            <a:off x="6929518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F7D46063-4A67-428F-7409-01FA53B4BB0F}"/>
              </a:ext>
            </a:extLst>
          </p:cNvPr>
          <p:cNvSpPr/>
          <p:nvPr/>
        </p:nvSpPr>
        <p:spPr>
          <a:xfrm>
            <a:off x="712546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3000" b="1" dirty="0">
              <a:solidFill>
                <a:srgbClr val="1F7A4D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EE68B4E7-36CA-E303-43C9-E5B05500E214}"/>
              </a:ext>
            </a:extLst>
          </p:cNvPr>
          <p:cNvSpPr/>
          <p:nvPr/>
        </p:nvSpPr>
        <p:spPr>
          <a:xfrm>
            <a:off x="7125461" y="14805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dirty="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Applicaciones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6041C1E6-7FE4-0BE7-8E9A-439271DA0562}"/>
              </a:ext>
            </a:extLst>
          </p:cNvPr>
          <p:cNvSpPr/>
          <p:nvPr/>
        </p:nvSpPr>
        <p:spPr>
          <a:xfrm>
            <a:off x="7038375" y="975468"/>
            <a:ext cx="10727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000" b="1">
                <a:solidFill>
                  <a:srgbClr val="7030A0"/>
                </a:solidFill>
                <a:latin typeface="Reddit Sans Light"/>
                <a:ea typeface="Calibri"/>
                <a:cs typeface="Arial"/>
              </a:rPr>
              <a:t>37+</a:t>
            </a:r>
            <a:endParaRPr lang="en-US" sz="3000" b="1" dirty="0">
              <a:solidFill>
                <a:srgbClr val="7030A0"/>
              </a:solidFill>
              <a:latin typeface="Reddit Sans Light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3833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5ABD62-546E-981A-BFE6-E59CC3AC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Mapa de </a:t>
            </a:r>
            <a:r>
              <a:rPr lang="es-ES" err="1"/>
              <a:t>Dolore</a:t>
            </a:r>
            <a:r>
              <a:rPr lang="es-ES" dirty="0"/>
              <a:t> por </a:t>
            </a:r>
            <a:r>
              <a:rPr lang="es-ES"/>
              <a:t>Categoría - 11 Mesas</a:t>
            </a:r>
            <a:endParaRPr lang="es-ES" dirty="0"/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BA0FF28-AD5E-AA5B-81CF-383728684079}"/>
              </a:ext>
            </a:extLst>
          </p:cNvPr>
          <p:cNvSpPr txBox="1">
            <a:spLocks noGrp="1"/>
          </p:cNvSpPr>
          <p:nvPr/>
        </p:nvSpPr>
        <p:spPr>
          <a:xfrm>
            <a:off x="342029" y="552559"/>
            <a:ext cx="77175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950">
                <a:latin typeface="Reddit Sans"/>
                <a:ea typeface="Reddit Sans"/>
              </a:rPr>
              <a:t>● Confirmado · ◐ Parcial · ○ No identificado · Agrupado por categoría</a:t>
            </a:r>
          </a:p>
        </p:txBody>
      </p:sp>
      <p:sp>
        <p:nvSpPr>
          <p:cNvPr id="102" name="grid-0"/>
          <p:cNvSpPr/>
          <p:nvPr/>
        </p:nvSpPr>
        <p:spPr>
          <a:xfrm>
            <a:off x="3660000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3" name="axis-0"/>
          <p:cNvSpPr txBox="1"/>
          <p:nvPr/>
        </p:nvSpPr>
        <p:spPr>
          <a:xfrm>
            <a:off x="3510000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0</a:t>
            </a:r>
          </a:p>
        </p:txBody>
      </p:sp>
      <p:sp>
        <p:nvSpPr>
          <p:cNvPr id="104" name="grid-2"/>
          <p:cNvSpPr/>
          <p:nvPr/>
        </p:nvSpPr>
        <p:spPr>
          <a:xfrm>
            <a:off x="4189343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axis-2"/>
          <p:cNvSpPr txBox="1"/>
          <p:nvPr/>
        </p:nvSpPr>
        <p:spPr>
          <a:xfrm>
            <a:off x="4039343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2</a:t>
            </a:r>
          </a:p>
        </p:txBody>
      </p:sp>
      <p:sp>
        <p:nvSpPr>
          <p:cNvPr id="106" name="grid-4"/>
          <p:cNvSpPr/>
          <p:nvPr/>
        </p:nvSpPr>
        <p:spPr>
          <a:xfrm>
            <a:off x="4718687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7" name="axis-4"/>
          <p:cNvSpPr txBox="1"/>
          <p:nvPr/>
        </p:nvSpPr>
        <p:spPr>
          <a:xfrm>
            <a:off x="4568687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108" name="grid-6"/>
          <p:cNvSpPr/>
          <p:nvPr/>
        </p:nvSpPr>
        <p:spPr>
          <a:xfrm>
            <a:off x="5248031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axis-6"/>
          <p:cNvSpPr txBox="1"/>
          <p:nvPr/>
        </p:nvSpPr>
        <p:spPr>
          <a:xfrm>
            <a:off x="5098031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6</a:t>
            </a:r>
          </a:p>
        </p:txBody>
      </p:sp>
      <p:sp>
        <p:nvSpPr>
          <p:cNvPr id="110" name="grid-8"/>
          <p:cNvSpPr/>
          <p:nvPr/>
        </p:nvSpPr>
        <p:spPr>
          <a:xfrm>
            <a:off x="5777375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1" name="axis-8"/>
          <p:cNvSpPr txBox="1"/>
          <p:nvPr/>
        </p:nvSpPr>
        <p:spPr>
          <a:xfrm>
            <a:off x="5627375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8</a:t>
            </a:r>
          </a:p>
        </p:txBody>
      </p:sp>
      <p:sp>
        <p:nvSpPr>
          <p:cNvPr id="112" name="grid-10"/>
          <p:cNvSpPr/>
          <p:nvPr/>
        </p:nvSpPr>
        <p:spPr>
          <a:xfrm>
            <a:off x="6306719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axis-10"/>
          <p:cNvSpPr txBox="1"/>
          <p:nvPr/>
        </p:nvSpPr>
        <p:spPr>
          <a:xfrm>
            <a:off x="6156719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10</a:t>
            </a:r>
          </a:p>
        </p:txBody>
      </p:sp>
      <p:sp>
        <p:nvSpPr>
          <p:cNvPr id="114" name="lg-c-sw"/>
          <p:cNvSpPr/>
          <p:nvPr/>
        </p:nvSpPr>
        <p:spPr>
          <a:xfrm>
            <a:off x="480944" y="917219"/>
            <a:ext cx="95000" cy="9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5" name="lg-c-tx"/>
          <p:cNvSpPr txBox="1"/>
          <p:nvPr/>
        </p:nvSpPr>
        <p:spPr>
          <a:xfrm>
            <a:off x="600944" y="897219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800">
                <a:solidFill>
                  <a:srgbClr val="94A3B8"/>
                </a:solidFill>
                <a:latin typeface="Reddit Sans"/>
                <a:ea typeface="Reddit Sans"/>
              </a:rPr>
              <a:t>Confirmado</a:t>
            </a:r>
          </a:p>
        </p:txBody>
      </p:sp>
      <p:sp>
        <p:nvSpPr>
          <p:cNvPr id="116" name="lg-p-sw"/>
          <p:cNvSpPr/>
          <p:nvPr/>
        </p:nvSpPr>
        <p:spPr>
          <a:xfrm>
            <a:off x="1340944" y="917219"/>
            <a:ext cx="95000" cy="9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7" name="lg-p-tx"/>
          <p:cNvSpPr txBox="1"/>
          <p:nvPr/>
        </p:nvSpPr>
        <p:spPr>
          <a:xfrm>
            <a:off x="1460944" y="897219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800">
                <a:solidFill>
                  <a:srgbClr val="94A3B8"/>
                </a:solidFill>
                <a:latin typeface="Reddit Sans"/>
                <a:ea typeface="Reddit Sans"/>
              </a:rPr>
              <a:t>Parcial</a:t>
            </a:r>
          </a:p>
        </p:txBody>
      </p:sp>
      <p:sp>
        <p:nvSpPr>
          <p:cNvPr id="118" name="div-0"/>
          <p:cNvSpPr/>
          <p:nvPr/>
        </p:nvSpPr>
        <p:spPr>
          <a:xfrm>
            <a:off x="440944" y="1263290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9" name="cat-0"/>
          <p:cNvSpPr txBox="1"/>
          <p:nvPr/>
        </p:nvSpPr>
        <p:spPr>
          <a:xfrm>
            <a:off x="440944" y="1263289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5B8DEF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20" name="div-3"/>
          <p:cNvSpPr/>
          <p:nvPr/>
        </p:nvSpPr>
        <p:spPr>
          <a:xfrm>
            <a:off x="440944" y="1931508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1" name="cat-3"/>
          <p:cNvSpPr txBox="1"/>
          <p:nvPr/>
        </p:nvSpPr>
        <p:spPr>
          <a:xfrm>
            <a:off x="440944" y="1931507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5B8DEF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122" name="div-7"/>
          <p:cNvSpPr/>
          <p:nvPr/>
        </p:nvSpPr>
        <p:spPr>
          <a:xfrm>
            <a:off x="440944" y="2822465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3" name="cat-7"/>
          <p:cNvSpPr txBox="1"/>
          <p:nvPr/>
        </p:nvSpPr>
        <p:spPr>
          <a:xfrm>
            <a:off x="440944" y="2822465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3DBB8F"/>
                </a:solidFill>
                <a:latin typeface="Reddit Sans"/>
                <a:ea typeface="Reddit Sans"/>
              </a:rPr>
              <a:t>Métricas</a:t>
            </a:r>
          </a:p>
        </p:txBody>
      </p:sp>
      <p:sp>
        <p:nvSpPr>
          <p:cNvPr id="124" name="div-9"/>
          <p:cNvSpPr/>
          <p:nvPr/>
        </p:nvSpPr>
        <p:spPr>
          <a:xfrm>
            <a:off x="440944" y="3267944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5" name="cat-9"/>
          <p:cNvSpPr txBox="1"/>
          <p:nvPr/>
        </p:nvSpPr>
        <p:spPr>
          <a:xfrm>
            <a:off x="440944" y="3267943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E0A93D"/>
                </a:solidFill>
                <a:latin typeface="Reddit Sans"/>
                <a:ea typeface="Reddit Sans"/>
              </a:rPr>
              <a:t>Talento</a:t>
            </a:r>
          </a:p>
        </p:txBody>
      </p:sp>
      <p:sp>
        <p:nvSpPr>
          <p:cNvPr id="126" name="div-12"/>
          <p:cNvSpPr/>
          <p:nvPr/>
        </p:nvSpPr>
        <p:spPr>
          <a:xfrm>
            <a:off x="440944" y="3936162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7" name="cat-12"/>
          <p:cNvSpPr txBox="1"/>
          <p:nvPr/>
        </p:nvSpPr>
        <p:spPr>
          <a:xfrm>
            <a:off x="440944" y="3936161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E0603D"/>
                </a:solidFill>
                <a:latin typeface="Reddit Sans"/>
                <a:ea typeface="Reddit Sans"/>
              </a:rPr>
              <a:t>Comercial</a:t>
            </a:r>
          </a:p>
        </p:txBody>
      </p:sp>
      <p:sp>
        <p:nvSpPr>
          <p:cNvPr id="128" name="rl-0"/>
          <p:cNvSpPr txBox="1"/>
          <p:nvPr/>
        </p:nvSpPr>
        <p:spPr>
          <a:xfrm>
            <a:off x="1250000" y="1263289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RACI ni roles definidos</a:t>
            </a:r>
          </a:p>
        </p:txBody>
      </p:sp>
      <p:sp>
        <p:nvSpPr>
          <p:cNvPr id="129" name="barc-0"/>
          <p:cNvSpPr/>
          <p:nvPr/>
        </p:nvSpPr>
        <p:spPr>
          <a:xfrm>
            <a:off x="3660000" y="1322159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0" name="an-0"/>
          <p:cNvSpPr txBox="1"/>
          <p:nvPr/>
        </p:nvSpPr>
        <p:spPr>
          <a:xfrm>
            <a:off x="6641391" y="1263289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31" name="rl-1"/>
          <p:cNvSpPr txBox="1"/>
          <p:nvPr/>
        </p:nvSpPr>
        <p:spPr>
          <a:xfrm>
            <a:off x="1250000" y="1486029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gobierno — sin ANS formales</a:t>
            </a:r>
          </a:p>
        </p:txBody>
      </p:sp>
      <p:sp>
        <p:nvSpPr>
          <p:cNvPr id="132" name="barc-1"/>
          <p:cNvSpPr/>
          <p:nvPr/>
        </p:nvSpPr>
        <p:spPr>
          <a:xfrm>
            <a:off x="3660000" y="1544899"/>
            <a:ext cx="1852703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3" name="barp-1"/>
          <p:cNvSpPr/>
          <p:nvPr/>
        </p:nvSpPr>
        <p:spPr>
          <a:xfrm>
            <a:off x="5512703" y="1544899"/>
            <a:ext cx="1058687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4" name="an-1"/>
          <p:cNvSpPr txBox="1"/>
          <p:nvPr/>
        </p:nvSpPr>
        <p:spPr>
          <a:xfrm>
            <a:off x="6641391" y="1486029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●7  ◐4  ·  11/11</a:t>
            </a:r>
          </a:p>
        </p:txBody>
      </p:sp>
      <p:sp>
        <p:nvSpPr>
          <p:cNvPr id="135" name="rl-2"/>
          <p:cNvSpPr txBox="1"/>
          <p:nvPr/>
        </p:nvSpPr>
        <p:spPr>
          <a:xfrm>
            <a:off x="1250000" y="1708768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Catálogo de servicios desactualizado</a:t>
            </a:r>
          </a:p>
        </p:txBody>
      </p:sp>
      <p:sp>
        <p:nvSpPr>
          <p:cNvPr id="136" name="barp-2"/>
          <p:cNvSpPr/>
          <p:nvPr/>
        </p:nvSpPr>
        <p:spPr>
          <a:xfrm>
            <a:off x="3660000" y="1767638"/>
            <a:ext cx="2911391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7" name="an-2"/>
          <p:cNvSpPr txBox="1"/>
          <p:nvPr/>
        </p:nvSpPr>
        <p:spPr>
          <a:xfrm>
            <a:off x="6641391" y="1708768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◐11  ·  11/11</a:t>
            </a:r>
          </a:p>
        </p:txBody>
      </p:sp>
      <p:sp>
        <p:nvSpPr>
          <p:cNvPr id="138" name="rl-3"/>
          <p:cNvSpPr txBox="1"/>
          <p:nvPr/>
        </p:nvSpPr>
        <p:spPr>
          <a:xfrm>
            <a:off x="1250000" y="1931507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Postura 100% reactiva</a:t>
            </a:r>
          </a:p>
        </p:txBody>
      </p:sp>
      <p:sp>
        <p:nvSpPr>
          <p:cNvPr id="139" name="barc-3"/>
          <p:cNvSpPr/>
          <p:nvPr/>
        </p:nvSpPr>
        <p:spPr>
          <a:xfrm>
            <a:off x="3660000" y="1990377"/>
            <a:ext cx="2382047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0" name="barp-3"/>
          <p:cNvSpPr/>
          <p:nvPr/>
        </p:nvSpPr>
        <p:spPr>
          <a:xfrm>
            <a:off x="6042047" y="1990377"/>
            <a:ext cx="529343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1" name="an-3"/>
          <p:cNvSpPr txBox="1"/>
          <p:nvPr/>
        </p:nvSpPr>
        <p:spPr>
          <a:xfrm>
            <a:off x="6641391" y="1931507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●9  ◐2  ·  11/11</a:t>
            </a:r>
          </a:p>
        </p:txBody>
      </p:sp>
      <p:sp>
        <p:nvSpPr>
          <p:cNvPr id="142" name="rl-4"/>
          <p:cNvSpPr txBox="1"/>
          <p:nvPr/>
        </p:nvSpPr>
        <p:spPr>
          <a:xfrm>
            <a:off x="1250000" y="2154247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autoservicio — todo por call</a:t>
            </a:r>
          </a:p>
        </p:txBody>
      </p:sp>
      <p:sp>
        <p:nvSpPr>
          <p:cNvPr id="143" name="barc-4"/>
          <p:cNvSpPr/>
          <p:nvPr/>
        </p:nvSpPr>
        <p:spPr>
          <a:xfrm>
            <a:off x="3660000" y="2213117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4" name="an-4"/>
          <p:cNvSpPr txBox="1"/>
          <p:nvPr/>
        </p:nvSpPr>
        <p:spPr>
          <a:xfrm>
            <a:off x="6641391" y="2154247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45" name="rl-5"/>
          <p:cNvSpPr txBox="1"/>
          <p:nvPr/>
        </p:nvSpPr>
        <p:spPr>
          <a:xfrm>
            <a:off x="1250000" y="2376986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Scope creep — alcance no controlado</a:t>
            </a:r>
          </a:p>
        </p:txBody>
      </p:sp>
      <p:sp>
        <p:nvSpPr>
          <p:cNvPr id="146" name="barc-5"/>
          <p:cNvSpPr/>
          <p:nvPr/>
        </p:nvSpPr>
        <p:spPr>
          <a:xfrm>
            <a:off x="3660000" y="2435856"/>
            <a:ext cx="1058687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7" name="barp-5"/>
          <p:cNvSpPr/>
          <p:nvPr/>
        </p:nvSpPr>
        <p:spPr>
          <a:xfrm>
            <a:off x="4718687" y="2435856"/>
            <a:ext cx="1852703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8" name="an-5"/>
          <p:cNvSpPr txBox="1"/>
          <p:nvPr/>
        </p:nvSpPr>
        <p:spPr>
          <a:xfrm>
            <a:off x="6641391" y="2376986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●4  ◐7  ·  11/11</a:t>
            </a:r>
          </a:p>
        </p:txBody>
      </p:sp>
      <p:sp>
        <p:nvSpPr>
          <p:cNvPr id="149" name="rl-6"/>
          <p:cNvSpPr txBox="1"/>
          <p:nvPr/>
        </p:nvSpPr>
        <p:spPr>
          <a:xfrm>
            <a:off x="1250000" y="2599725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SLAs incumplidos / penalizaciones</a:t>
            </a:r>
          </a:p>
        </p:txBody>
      </p:sp>
      <p:sp>
        <p:nvSpPr>
          <p:cNvPr id="150" name="barc-6"/>
          <p:cNvSpPr/>
          <p:nvPr/>
        </p:nvSpPr>
        <p:spPr>
          <a:xfrm>
            <a:off x="3660000" y="2658595"/>
            <a:ext cx="794015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1" name="an-6"/>
          <p:cNvSpPr txBox="1"/>
          <p:nvPr/>
        </p:nvSpPr>
        <p:spPr>
          <a:xfrm>
            <a:off x="4524015" y="2599725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●3  ·  3/11</a:t>
            </a:r>
          </a:p>
        </p:txBody>
      </p:sp>
      <p:sp>
        <p:nvSpPr>
          <p:cNvPr id="152" name="rl-7"/>
          <p:cNvSpPr txBox="1"/>
          <p:nvPr/>
        </p:nvSpPr>
        <p:spPr>
          <a:xfrm>
            <a:off x="1250000" y="2822465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métricas ni KPIs</a:t>
            </a:r>
          </a:p>
        </p:txBody>
      </p:sp>
      <p:sp>
        <p:nvSpPr>
          <p:cNvPr id="153" name="barc-7"/>
          <p:cNvSpPr/>
          <p:nvPr/>
        </p:nvSpPr>
        <p:spPr>
          <a:xfrm>
            <a:off x="3660000" y="2881335"/>
            <a:ext cx="2117375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4" name="barp-7"/>
          <p:cNvSpPr/>
          <p:nvPr/>
        </p:nvSpPr>
        <p:spPr>
          <a:xfrm>
            <a:off x="5777375" y="2881335"/>
            <a:ext cx="794015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5" name="an-7"/>
          <p:cNvSpPr txBox="1"/>
          <p:nvPr/>
        </p:nvSpPr>
        <p:spPr>
          <a:xfrm>
            <a:off x="6641391" y="2822465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●8  ◐3  ·  11/11</a:t>
            </a:r>
          </a:p>
        </p:txBody>
      </p:sp>
      <p:sp>
        <p:nvSpPr>
          <p:cNvPr id="156" name="rl-8"/>
          <p:cNvSpPr txBox="1"/>
          <p:nvPr/>
        </p:nvSpPr>
        <p:spPr>
          <a:xfrm>
            <a:off x="1250000" y="3045204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dashboard ejecutivo</a:t>
            </a:r>
          </a:p>
        </p:txBody>
      </p:sp>
      <p:sp>
        <p:nvSpPr>
          <p:cNvPr id="157" name="barc-8"/>
          <p:cNvSpPr/>
          <p:nvPr/>
        </p:nvSpPr>
        <p:spPr>
          <a:xfrm>
            <a:off x="3660000" y="3104074"/>
            <a:ext cx="794015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8" name="barp-8"/>
          <p:cNvSpPr/>
          <p:nvPr/>
        </p:nvSpPr>
        <p:spPr>
          <a:xfrm>
            <a:off x="4454015" y="3104074"/>
            <a:ext cx="1852703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9" name="an-8"/>
          <p:cNvSpPr txBox="1"/>
          <p:nvPr/>
        </p:nvSpPr>
        <p:spPr>
          <a:xfrm>
            <a:off x="6376719" y="3045204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●3  ◐7  ·  10/11</a:t>
            </a:r>
          </a:p>
        </p:txBody>
      </p:sp>
      <p:sp>
        <p:nvSpPr>
          <p:cNvPr id="160" name="rl-9"/>
          <p:cNvSpPr txBox="1"/>
          <p:nvPr/>
        </p:nvSpPr>
        <p:spPr>
          <a:xfrm>
            <a:off x="1250000" y="3267943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Rotación — pérdida de conocimiento</a:t>
            </a:r>
          </a:p>
        </p:txBody>
      </p:sp>
      <p:sp>
        <p:nvSpPr>
          <p:cNvPr id="161" name="barp-9"/>
          <p:cNvSpPr/>
          <p:nvPr/>
        </p:nvSpPr>
        <p:spPr>
          <a:xfrm>
            <a:off x="3660000" y="3326813"/>
            <a:ext cx="2911391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2" name="an-9"/>
          <p:cNvSpPr txBox="1"/>
          <p:nvPr/>
        </p:nvSpPr>
        <p:spPr>
          <a:xfrm>
            <a:off x="6641391" y="3267943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◐11  ·  11/11</a:t>
            </a:r>
          </a:p>
        </p:txBody>
      </p:sp>
      <p:sp>
        <p:nvSpPr>
          <p:cNvPr id="163" name="rl-10"/>
          <p:cNvSpPr txBox="1"/>
          <p:nvPr/>
        </p:nvSpPr>
        <p:spPr>
          <a:xfrm>
            <a:off x="1250000" y="3490683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Asignación sin modelo de demanda</a:t>
            </a:r>
          </a:p>
        </p:txBody>
      </p:sp>
      <p:sp>
        <p:nvSpPr>
          <p:cNvPr id="164" name="barc-10"/>
          <p:cNvSpPr/>
          <p:nvPr/>
        </p:nvSpPr>
        <p:spPr>
          <a:xfrm>
            <a:off x="3660000" y="3549553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5" name="an-10"/>
          <p:cNvSpPr txBox="1"/>
          <p:nvPr/>
        </p:nvSpPr>
        <p:spPr>
          <a:xfrm>
            <a:off x="6641391" y="3490683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66" name="rl-11"/>
          <p:cNvSpPr txBox="1"/>
          <p:nvPr/>
        </p:nvSpPr>
        <p:spPr>
          <a:xfrm>
            <a:off x="1250000" y="3713422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Penalización de la eficiencia</a:t>
            </a:r>
          </a:p>
        </p:txBody>
      </p:sp>
      <p:sp>
        <p:nvSpPr>
          <p:cNvPr id="167" name="barc-11"/>
          <p:cNvSpPr/>
          <p:nvPr/>
        </p:nvSpPr>
        <p:spPr>
          <a:xfrm>
            <a:off x="3660000" y="3772292"/>
            <a:ext cx="529343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8" name="barp-11"/>
          <p:cNvSpPr/>
          <p:nvPr/>
        </p:nvSpPr>
        <p:spPr>
          <a:xfrm>
            <a:off x="4189343" y="3772292"/>
            <a:ext cx="2117375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9" name="an-11"/>
          <p:cNvSpPr txBox="1"/>
          <p:nvPr/>
        </p:nvSpPr>
        <p:spPr>
          <a:xfrm>
            <a:off x="6376719" y="3713422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●2  ◐8  ·  10/11</a:t>
            </a:r>
          </a:p>
        </p:txBody>
      </p:sp>
      <p:sp>
        <p:nvSpPr>
          <p:cNvPr id="170" name="rl-12"/>
          <p:cNvSpPr txBox="1"/>
          <p:nvPr/>
        </p:nvSpPr>
        <p:spPr>
          <a:xfrm>
            <a:off x="1250000" y="3936161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Brechas vendido vs ejecutado</a:t>
            </a:r>
          </a:p>
        </p:txBody>
      </p:sp>
      <p:sp>
        <p:nvSpPr>
          <p:cNvPr id="171" name="barc-12"/>
          <p:cNvSpPr/>
          <p:nvPr/>
        </p:nvSpPr>
        <p:spPr>
          <a:xfrm>
            <a:off x="3660000" y="3995031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2" name="an-12"/>
          <p:cNvSpPr txBox="1"/>
          <p:nvPr/>
        </p:nvSpPr>
        <p:spPr>
          <a:xfrm>
            <a:off x="6641391" y="3936161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73" name="rl-13"/>
          <p:cNvSpPr txBox="1"/>
          <p:nvPr/>
        </p:nvSpPr>
        <p:spPr>
          <a:xfrm>
            <a:off x="1250000" y="4158901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KEDB — gestión informal</a:t>
            </a:r>
          </a:p>
        </p:txBody>
      </p:sp>
      <p:sp>
        <p:nvSpPr>
          <p:cNvPr id="174" name="barc-13"/>
          <p:cNvSpPr/>
          <p:nvPr/>
        </p:nvSpPr>
        <p:spPr>
          <a:xfrm>
            <a:off x="3660000" y="4217771"/>
            <a:ext cx="26467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5" name="an-13"/>
          <p:cNvSpPr txBox="1"/>
          <p:nvPr/>
        </p:nvSpPr>
        <p:spPr>
          <a:xfrm>
            <a:off x="3994671" y="4158901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  ·  1/11</a:t>
            </a:r>
          </a:p>
        </p:txBody>
      </p:sp>
      <p:sp>
        <p:nvSpPr>
          <p:cNvPr id="176" name="rl-14"/>
          <p:cNvSpPr txBox="1"/>
          <p:nvPr/>
        </p:nvSpPr>
        <p:spPr>
          <a:xfrm>
            <a:off x="1250000" y="4381640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Herramientas fragmentadas</a:t>
            </a:r>
          </a:p>
        </p:txBody>
      </p:sp>
      <p:sp>
        <p:nvSpPr>
          <p:cNvPr id="177" name="barc-14"/>
          <p:cNvSpPr/>
          <p:nvPr/>
        </p:nvSpPr>
        <p:spPr>
          <a:xfrm>
            <a:off x="3660000" y="4440510"/>
            <a:ext cx="26467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8" name="barp-14"/>
          <p:cNvSpPr/>
          <p:nvPr/>
        </p:nvSpPr>
        <p:spPr>
          <a:xfrm>
            <a:off x="3924671" y="4440510"/>
            <a:ext cx="2646719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9" name="an-14"/>
          <p:cNvSpPr txBox="1"/>
          <p:nvPr/>
        </p:nvSpPr>
        <p:spPr>
          <a:xfrm>
            <a:off x="6641391" y="4381640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  ◐10  ·  11/11</a:t>
            </a:r>
          </a:p>
        </p:txBody>
      </p:sp>
    </p:spTree>
    <p:extLst>
      <p:ext uri="{BB962C8B-B14F-4D97-AF65-F5344CB8AC3E}">
        <p14:creationId xmlns:p14="http://schemas.microsoft.com/office/powerpoint/2010/main" val="2281360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8904784-1FEF-360A-E160-2DD109EE14D0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950" b="1">
                <a:solidFill>
                  <a:srgbClr val="132346"/>
                </a:solidFill>
                <a:latin typeface="Calibri"/>
                <a:ea typeface="Calibri"/>
                <a:cs typeface="Calibri"/>
              </a:rPr>
              <a:t>Oportunidades de Mejora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62F1F850-60C9-69E7-8C44-E9DDCD2E8873}"/>
              </a:ext>
            </a:extLst>
          </p:cNvPr>
          <p:cNvSpPr/>
          <p:nvPr/>
        </p:nvSpPr>
        <p:spPr>
          <a:xfrm>
            <a:off x="310243" y="723900"/>
            <a:ext cx="4120242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939E145-84D0-7046-ED8F-566B78FC8998}"/>
              </a:ext>
            </a:extLst>
          </p:cNvPr>
          <p:cNvSpPr/>
          <p:nvPr/>
        </p:nvSpPr>
        <p:spPr>
          <a:xfrm>
            <a:off x="310243" y="723900"/>
            <a:ext cx="4120242" cy="68580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A55A45D-D824-9EB3-C40C-A9680A059E13}"/>
              </a:ext>
            </a:extLst>
          </p:cNvPr>
          <p:cNvSpPr/>
          <p:nvPr/>
        </p:nvSpPr>
        <p:spPr>
          <a:xfrm>
            <a:off x="481693" y="837655"/>
            <a:ext cx="3940628" cy="332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Las mesas actuales necesitan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A38EC3BC-83FE-049B-BAC2-DFB58B39162D}"/>
              </a:ext>
            </a:extLst>
          </p:cNvPr>
          <p:cNvSpPr/>
          <p:nvPr/>
        </p:nvSpPr>
        <p:spPr>
          <a:xfrm>
            <a:off x="484959" y="1526721"/>
            <a:ext cx="3877491" cy="2635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Formalizar RACI y niveles en todas las mesas </a:t>
            </a:r>
            <a:endParaRPr lang="es-CO" sz="900">
              <a:solidFill>
                <a:srgbClr val="1C1C1C"/>
              </a:solidFill>
              <a:latin typeface="Reddit Sans"/>
              <a:ea typeface="Reddit Sans"/>
              <a:cs typeface="Calibri Light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CSAT básico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Documentar KEDB mínimo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para las mesas de servicio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 para la operación de </a:t>
            </a: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PersonalSoft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automatizaciones (mesas de soporte, gestión de horas extras y recargos) (dolores de XM y Bancolombia)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el Top tendencia, para predecir comportamiento inusual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un plan carrera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Modelo de gestión del conocimiento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Se necesita un modo de dimensionamiento para las capacidades de soporte, disponibilidad y roles del equipo.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spcAft>
                <a:spcPts val="900"/>
              </a:spcAft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Definir un modelo de gobierno</a:t>
            </a:r>
            <a:endParaRPr lang="es-CO" sz="900">
              <a:latin typeface="Reddit Sans"/>
              <a:ea typeface="Reddit Sans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450DD2F-8092-F4F3-9041-C6D9786E0224}"/>
              </a:ext>
            </a:extLst>
          </p:cNvPr>
          <p:cNvSpPr/>
          <p:nvPr/>
        </p:nvSpPr>
        <p:spPr>
          <a:xfrm>
            <a:off x="4493406" y="723900"/>
            <a:ext cx="4430485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4796837-BFCD-EAAD-6CB4-5BEFD896C81D}"/>
              </a:ext>
            </a:extLst>
          </p:cNvPr>
          <p:cNvSpPr/>
          <p:nvPr/>
        </p:nvSpPr>
        <p:spPr>
          <a:xfrm>
            <a:off x="4493406" y="723900"/>
            <a:ext cx="4430485" cy="685800"/>
          </a:xfrm>
          <a:prstGeom prst="rect">
            <a:avLst/>
          </a:prstGeom>
          <a:solidFill>
            <a:srgbClr val="1F7A4D"/>
          </a:solidFill>
          <a:ln/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785B0F7B-4D98-D2F1-EA0A-AD1245E4CEB7}"/>
              </a:ext>
            </a:extLst>
          </p:cNvPr>
          <p:cNvSpPr/>
          <p:nvPr/>
        </p:nvSpPr>
        <p:spPr>
          <a:xfrm>
            <a:off x="4719284" y="837655"/>
            <a:ext cx="4294414" cy="462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Mesa de Servicio de Nueva Generación (Next Gent)</a:t>
            </a:r>
            <a:endParaRPr lang="en-US" sz="1650">
              <a:latin typeface="Calibri"/>
              <a:ea typeface="Calibri"/>
              <a:cs typeface="Calibri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630686D-7B38-75EB-D3F4-D22F080F0174}"/>
              </a:ext>
            </a:extLst>
          </p:cNvPr>
          <p:cNvSpPr/>
          <p:nvPr/>
        </p:nvSpPr>
        <p:spPr>
          <a:xfrm>
            <a:off x="4787864" y="1526721"/>
            <a:ext cx="2331720" cy="2091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Autoservicio ≥ 50%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AIOps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en producción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Pricing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por </a:t>
            </a: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outcomes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Insight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del mercado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Conocimiento de Negocio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Referente del sector</a:t>
            </a:r>
            <a:endParaRPr lang="en-US" sz="900">
              <a:solidFill>
                <a:srgbClr val="1C1C1C"/>
              </a:solidFill>
              <a:latin typeface="Reddit Sans"/>
              <a:ea typeface="Reddit Sans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3737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Análisis Financiero: Costo USD / Ticket</a:t>
            </a:r>
            <a:endParaRPr lang="es-ES" sz="1400"/>
          </a:p>
          <a:p>
            <a:endParaRPr lang="es-ES" dirty="0"/>
          </a:p>
        </p:txBody>
      </p:sp>
      <p:sp>
        <p:nvSpPr>
          <p:cNvPr id="100" name="cat0"/>
          <p:cNvSpPr txBox="1"/>
          <p:nvPr/>
        </p:nvSpPr>
        <p:spPr>
          <a:xfrm>
            <a:off x="428625" y="1120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101" name="bar0"/>
          <p:cNvSpPr/>
          <p:nvPr/>
        </p:nvSpPr>
        <p:spPr>
          <a:xfrm>
            <a:off x="3028625" y="1222000"/>
            <a:ext cx="4901666" cy="32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2" name="val0"/>
          <p:cNvSpPr txBox="1"/>
          <p:nvPr/>
        </p:nvSpPr>
        <p:spPr>
          <a:xfrm>
            <a:off x="7955291" y="1120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$40</a:t>
            </a:r>
          </a:p>
        </p:txBody>
      </p:sp>
      <p:sp>
        <p:nvSpPr>
          <p:cNvPr id="103" name="cat1"/>
          <p:cNvSpPr txBox="1"/>
          <p:nvPr/>
        </p:nvSpPr>
        <p:spPr>
          <a:xfrm>
            <a:off x="428625" y="1644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104" name="bar1"/>
          <p:cNvSpPr/>
          <p:nvPr/>
        </p:nvSpPr>
        <p:spPr>
          <a:xfrm>
            <a:off x="3028625" y="1746000"/>
            <a:ext cx="4779125" cy="32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5" name="val1"/>
          <p:cNvSpPr txBox="1"/>
          <p:nvPr/>
        </p:nvSpPr>
        <p:spPr>
          <a:xfrm>
            <a:off x="7832750" y="1644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$39</a:t>
            </a:r>
          </a:p>
        </p:txBody>
      </p:sp>
      <p:sp>
        <p:nvSpPr>
          <p:cNvPr id="106" name="cat2"/>
          <p:cNvSpPr txBox="1"/>
          <p:nvPr/>
        </p:nvSpPr>
        <p:spPr>
          <a:xfrm>
            <a:off x="428625" y="2168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Industria N1-N2 (Benchmark)</a:t>
            </a:r>
          </a:p>
        </p:txBody>
      </p:sp>
      <p:sp>
        <p:nvSpPr>
          <p:cNvPr id="107" name="bar2"/>
          <p:cNvSpPr/>
          <p:nvPr/>
        </p:nvSpPr>
        <p:spPr>
          <a:xfrm>
            <a:off x="3006854" y="2270000"/>
            <a:ext cx="4288958" cy="32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val2"/>
          <p:cNvSpPr txBox="1"/>
          <p:nvPr/>
        </p:nvSpPr>
        <p:spPr>
          <a:xfrm>
            <a:off x="7342583" y="2168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$35</a:t>
            </a:r>
          </a:p>
        </p:txBody>
      </p:sp>
      <p:sp>
        <p:nvSpPr>
          <p:cNvPr id="109" name="cat3"/>
          <p:cNvSpPr txBox="1"/>
          <p:nvPr/>
        </p:nvSpPr>
        <p:spPr>
          <a:xfrm>
            <a:off x="428625" y="2692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110" name="bar3"/>
          <p:cNvSpPr/>
          <p:nvPr/>
        </p:nvSpPr>
        <p:spPr>
          <a:xfrm>
            <a:off x="3028625" y="2794000"/>
            <a:ext cx="2450833" cy="320000"/>
          </a:xfrm>
          <a:prstGeom prst="roundRect">
            <a:avLst>
              <a:gd name="adj" fmla="val 8000"/>
            </a:avLst>
          </a:prstGeom>
          <a:solidFill>
            <a:srgbClr val="25C88F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1" name="val3"/>
          <p:cNvSpPr txBox="1"/>
          <p:nvPr/>
        </p:nvSpPr>
        <p:spPr>
          <a:xfrm>
            <a:off x="5504458" y="2692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$20</a:t>
            </a:r>
          </a:p>
        </p:txBody>
      </p:sp>
      <p:sp>
        <p:nvSpPr>
          <p:cNvPr id="112" name="cat4"/>
          <p:cNvSpPr txBox="1"/>
          <p:nvPr/>
        </p:nvSpPr>
        <p:spPr>
          <a:xfrm>
            <a:off x="428625" y="3216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/>
            <a:r>
              <a:rPr lang="es-ES" sz="1200" b="0" i="0">
                <a:solidFill>
                  <a:srgbClr val="000000"/>
                </a:solidFill>
                <a:latin typeface="Reddit Sans"/>
                <a:ea typeface="Reddit Sans"/>
              </a:rPr>
              <a:t>Meta Next </a:t>
            </a:r>
            <a:r>
              <a:rPr lang="es-ES" sz="1200">
                <a:latin typeface="Reddit Sans"/>
                <a:ea typeface="Reddit Sans"/>
              </a:rPr>
              <a:t>Gen </a:t>
            </a:r>
            <a:r>
              <a:rPr lang="es-ES" sz="1200" b="0" i="0">
                <a:solidFill>
                  <a:srgbClr val="000000"/>
                </a:solidFill>
                <a:latin typeface="Reddit Sans"/>
                <a:ea typeface="Reddit Sans"/>
              </a:rPr>
              <a:t>N3</a:t>
            </a:r>
          </a:p>
        </p:txBody>
      </p:sp>
      <p:sp>
        <p:nvSpPr>
          <p:cNvPr id="113" name="bar4"/>
          <p:cNvSpPr/>
          <p:nvPr/>
        </p:nvSpPr>
        <p:spPr>
          <a:xfrm>
            <a:off x="3028625" y="3318000"/>
            <a:ext cx="1838125" cy="320000"/>
          </a:xfrm>
          <a:prstGeom prst="roundRect">
            <a:avLst>
              <a:gd name="adj" fmla="val 8000"/>
            </a:avLst>
          </a:prstGeom>
          <a:solidFill>
            <a:srgbClr val="21B0F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4" name="val4"/>
          <p:cNvSpPr txBox="1"/>
          <p:nvPr/>
        </p:nvSpPr>
        <p:spPr>
          <a:xfrm>
            <a:off x="4891750" y="3216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$15</a:t>
            </a:r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Las mesas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críticas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SURA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superan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el benchmark de la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industria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($35). Alcanzar la meta Gen Next N3 ($15)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generaría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ahorros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superiores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a $33,000 USD/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.</a:t>
            </a:r>
            <a:endParaRPr lang="es-ES" sz="788">
              <a:latin typeface="Reddit Sans"/>
              <a:ea typeface="Reddit Sans"/>
            </a:endParaRPr>
          </a:p>
        </p:txBody>
      </p:sp>
      <p:sp>
        <p:nvSpPr>
          <p:cNvPr id="8" name="Formula Costo USD"/>
          <p:cNvSpPr txBox="1"/>
          <p:nvPr/>
        </p:nvSpPr>
        <p:spPr>
          <a:xfrm>
            <a:off x="2606869" y="3820000"/>
            <a:ext cx="3930262" cy="52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ES" sz="1100" b="1">
                <a:solidFill>
                  <a:srgbClr val="000000"/>
                </a:solidFill>
                <a:latin typeface="Reddit Sans"/>
                <a:ea typeface="Reddit Sans"/>
              </a:rPr>
              <a:t>Costo USD = (FTE × 160h × $88K COP) ÷ (Tickets/mes × $4.200)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Análisis Financiero: Costo USD / Ticket — XM y Bancolombia vs Industria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XM: $149/ticket — 4 FTE 24x7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resuelven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90 tix/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(22.5 tix/FTE vs 80+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industria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); es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costo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disponibilidad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, no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ineficiencia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.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estimado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$451M COP/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÷ 3.500–15.000 tickets (700–3.000 × 5 COES) ÷ $4.200 → USD $7–$31;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dato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formal de tickets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por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mesa.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8" name="Formula Costo USD"/>
          <p:cNvSpPr txBox="1"/>
          <p:nvPr/>
        </p:nvSpPr>
        <p:spPr>
          <a:xfrm>
            <a:off x="2606869" y="3820000"/>
            <a:ext cx="3930262" cy="52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ES" sz="1100" b="1">
                <a:solidFill>
                  <a:srgbClr val="000000"/>
                </a:solidFill>
                <a:latin typeface="Reddit Sans"/>
                <a:ea typeface="Reddit Sans"/>
              </a:rPr>
              <a:t>Costo USD = (FTE × 160h × $88K COP) ÷ (Tickets/mes × $4.200)</a:t>
            </a:r>
          </a:p>
        </p:txBody>
      </p:sp>
      <p:sp>
        <p:nvSpPr>
          <p:cNvPr id="300" name="ncat0"/>
          <p:cNvSpPr txBox="1"/>
          <p:nvPr/>
        </p:nvSpPr>
        <p:spPr>
          <a:xfrm>
            <a:off x="428625" y="1120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222000"/>
            <a:ext cx="4900000" cy="32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120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$149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644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Industria N1-N2 (Benchmark)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746000"/>
            <a:ext cx="1151007" cy="32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4204632" y="1644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$35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2168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Bancolombia 5 COES (estimado)</a:t>
            </a:r>
          </a:p>
        </p:txBody>
      </p:sp>
      <p:sp>
        <p:nvSpPr>
          <p:cNvPr id="307" name="nbar2"/>
          <p:cNvSpPr/>
          <p:nvPr/>
        </p:nvSpPr>
        <p:spPr>
          <a:xfrm>
            <a:off x="3030226" y="2270000"/>
            <a:ext cx="789262" cy="320000"/>
          </a:xfrm>
          <a:prstGeom prst="roundRect">
            <a:avLst>
              <a:gd name="adj" fmla="val 8000"/>
            </a:avLst>
          </a:prstGeom>
          <a:solidFill>
            <a:srgbClr val="21B0F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4073088" y="2168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$7–$31 (est.)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2692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Meta Gen Next N3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2794000"/>
            <a:ext cx="493289" cy="320000"/>
          </a:xfrm>
          <a:prstGeom prst="roundRect">
            <a:avLst>
              <a:gd name="adj" fmla="val 8000"/>
            </a:avLst>
          </a:prstGeom>
          <a:solidFill>
            <a:srgbClr val="25C88F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3546914" y="2692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$15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DB4BCB-3B16-1F30-7B99-854A4EE6F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err="1">
                <a:solidFill>
                  <a:srgbClr val="000000"/>
                </a:solidFill>
              </a:rPr>
              <a:t>Distribución</a:t>
            </a:r>
            <a:r>
              <a:rPr lang="en-US" sz="1400">
                <a:solidFill>
                  <a:srgbClr val="000000"/>
                </a:solidFill>
              </a:rPr>
              <a:t> de </a:t>
            </a:r>
            <a:r>
              <a:rPr lang="en-US" sz="1400" err="1">
                <a:solidFill>
                  <a:srgbClr val="000000"/>
                </a:solidFill>
              </a:rPr>
              <a:t>Capacidad</a:t>
            </a:r>
            <a:r>
              <a:rPr lang="en-US" sz="1400">
                <a:solidFill>
                  <a:srgbClr val="000000"/>
                </a:solidFill>
              </a:rPr>
              <a:t> (FTE </a:t>
            </a:r>
            <a:r>
              <a:rPr lang="en-US" sz="1400" err="1">
                <a:solidFill>
                  <a:srgbClr val="000000"/>
                </a:solidFill>
              </a:rPr>
              <a:t>por</a:t>
            </a:r>
            <a:r>
              <a:rPr lang="en-US" sz="1400">
                <a:solidFill>
                  <a:srgbClr val="000000"/>
                </a:solidFill>
              </a:rPr>
              <a:t> </a:t>
            </a:r>
            <a:r>
              <a:rPr lang="en-US" sz="1400" err="1">
                <a:solidFill>
                  <a:srgbClr val="000000"/>
                </a:solidFill>
              </a:rPr>
              <a:t>Cliente</a:t>
            </a:r>
            <a:r>
              <a:rPr lang="en-US" sz="1400">
                <a:solidFill>
                  <a:srgbClr val="000000"/>
                </a:solidFill>
              </a:rPr>
              <a:t>)</a:t>
            </a:r>
            <a:endParaRPr lang="es-ES" sz="1400" dirty="0"/>
          </a:p>
          <a:p>
            <a:endParaRPr lang="es-ES" dirty="0"/>
          </a:p>
        </p:txBody>
      </p:sp>
      <p:sp>
        <p:nvSpPr>
          <p:cNvPr id="100" name="pie0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16200000"/>
              <a:gd name="adj2" fmla="val 6726316"/>
            </a:avLst>
          </a:prstGeom>
          <a:solidFill>
            <a:srgbClr val="38BDF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1" name="pie1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6726316"/>
              <a:gd name="adj2" fmla="val 13168421"/>
            </a:avLst>
          </a:prstGeom>
          <a:solidFill>
            <a:srgbClr val="34D399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2" name="pie2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13168421"/>
              <a:gd name="adj2" fmla="val 14684211"/>
            </a:avLst>
          </a:prstGeom>
          <a:solidFill>
            <a:srgbClr val="FBBF24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3" name="pie3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14684211"/>
              <a:gd name="adj2" fmla="val 16200000"/>
            </a:avLst>
          </a:prstGeom>
          <a:solidFill>
            <a:srgbClr val="F87171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4" name="pct0"/>
          <p:cNvSpPr txBox="1"/>
          <p:nvPr/>
        </p:nvSpPr>
        <p:spPr>
          <a:xfrm>
            <a:off x="2926926" y="2722995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56%</a:t>
            </a:r>
          </a:p>
        </p:txBody>
      </p:sp>
      <p:sp>
        <p:nvSpPr>
          <p:cNvPr id="105" name="pct1"/>
          <p:cNvSpPr txBox="1"/>
          <p:nvPr/>
        </p:nvSpPr>
        <p:spPr>
          <a:xfrm>
            <a:off x="1187139" y="2964247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30%</a:t>
            </a:r>
          </a:p>
        </p:txBody>
      </p:sp>
      <p:sp>
        <p:nvSpPr>
          <p:cNvPr id="106" name="pct2"/>
          <p:cNvSpPr txBox="1"/>
          <p:nvPr/>
        </p:nvSpPr>
        <p:spPr>
          <a:xfrm>
            <a:off x="1311371" y="1725379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7%</a:t>
            </a:r>
          </a:p>
        </p:txBody>
      </p:sp>
      <p:sp>
        <p:nvSpPr>
          <p:cNvPr id="107" name="pct3"/>
          <p:cNvSpPr txBox="1"/>
          <p:nvPr/>
        </p:nvSpPr>
        <p:spPr>
          <a:xfrm>
            <a:off x="1774143" y="1506992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7%</a:t>
            </a:r>
          </a:p>
        </p:txBody>
      </p:sp>
      <p:sp>
        <p:nvSpPr>
          <p:cNvPr id="108" name="legsq0"/>
          <p:cNvSpPr/>
          <p:nvPr/>
        </p:nvSpPr>
        <p:spPr>
          <a:xfrm>
            <a:off x="5850000" y="208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legtx0"/>
          <p:cNvSpPr txBox="1"/>
          <p:nvPr/>
        </p:nvSpPr>
        <p:spPr>
          <a:xfrm>
            <a:off x="6140000" y="201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Bancolombia  ·  32 FTE (56%)</a:t>
            </a:r>
          </a:p>
        </p:txBody>
      </p:sp>
      <p:sp>
        <p:nvSpPr>
          <p:cNvPr id="110" name="legsq1"/>
          <p:cNvSpPr/>
          <p:nvPr/>
        </p:nvSpPr>
        <p:spPr>
          <a:xfrm>
            <a:off x="5850000" y="251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1" name="legtx1"/>
          <p:cNvSpPr txBox="1"/>
          <p:nvPr/>
        </p:nvSpPr>
        <p:spPr>
          <a:xfrm>
            <a:off x="6140000" y="244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SURA  ·  17 FTE (30%)</a:t>
            </a:r>
          </a:p>
        </p:txBody>
      </p:sp>
      <p:sp>
        <p:nvSpPr>
          <p:cNvPr id="112" name="legsq2"/>
          <p:cNvSpPr/>
          <p:nvPr/>
        </p:nvSpPr>
        <p:spPr>
          <a:xfrm>
            <a:off x="5850000" y="294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legtx2"/>
          <p:cNvSpPr txBox="1"/>
          <p:nvPr/>
        </p:nvSpPr>
        <p:spPr>
          <a:xfrm>
            <a:off x="6140000" y="287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  ·  4 FTE (7%)</a:t>
            </a:r>
          </a:p>
        </p:txBody>
      </p:sp>
      <p:sp>
        <p:nvSpPr>
          <p:cNvPr id="114" name="legsq3"/>
          <p:cNvSpPr/>
          <p:nvPr/>
        </p:nvSpPr>
        <p:spPr>
          <a:xfrm>
            <a:off x="5850000" y="337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5" name="legtx3"/>
          <p:cNvSpPr txBox="1"/>
          <p:nvPr/>
        </p:nvSpPr>
        <p:spPr>
          <a:xfrm>
            <a:off x="6140000" y="330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AES Soporte  ·  4 FTE (7%)</a:t>
            </a:r>
          </a:p>
        </p:txBody>
      </p:sp>
      <p:sp>
        <p:nvSpPr>
          <p:cNvPr id="6" name="Google Shape;359;p23">
            <a:extLst>
              <a:ext uri="{FF2B5EF4-FFF2-40B4-BE49-F238E27FC236}">
                <a16:creationId xmlns:a16="http://schemas.microsoft.com/office/drawing/2014/main" id="{81F1A9BF-173E-601B-C605-AAC84364AB94}"/>
              </a:ext>
            </a:extLst>
          </p:cNvPr>
          <p:cNvSpPr txBox="1"/>
          <p:nvPr/>
        </p:nvSpPr>
        <p:spPr>
          <a:xfrm>
            <a:off x="428625" y="4593431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operación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concentra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más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del 50% de la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fuerza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laboral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evaluada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(57 FTE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totales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),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requiriendo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modelos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estandarización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urgentes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para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habilitar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escalabilidad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.</a:t>
            </a:r>
            <a:endParaRPr lang="es-ES" sz="1100" i="1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62529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FTE por Mesa — Capacidad Instalada (57 FTE totales)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57 FTE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totales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32 (56%) · SURA 17 (30%) · XM 4 (7%) · AES 4 (7%) · MEDICARTE (12 FTE)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empalme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— no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incluida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el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levantamiento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· Fuente: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Levantamiento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Julio 2026.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300" name="ncat0"/>
          <p:cNvSpPr txBox="1"/>
          <p:nvPr/>
        </p:nvSpPr>
        <p:spPr>
          <a:xfrm>
            <a:off x="428625" y="10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Soporte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070000"/>
            <a:ext cx="4900000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0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13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3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370000"/>
            <a:ext cx="3015385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6069010" y="13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8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16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Integración</a:t>
            </a:r>
          </a:p>
        </p:txBody>
      </p:sp>
      <p:sp>
        <p:nvSpPr>
          <p:cNvPr id="307" name="nbar2"/>
          <p:cNvSpPr/>
          <p:nvPr/>
        </p:nvSpPr>
        <p:spPr>
          <a:xfrm>
            <a:off x="3028625" y="1670000"/>
            <a:ext cx="2638462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5692087" y="16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7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19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Datos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1970000"/>
            <a:ext cx="2638462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5692087" y="19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7</a:t>
            </a:r>
          </a:p>
        </p:txBody>
      </p:sp>
      <p:sp>
        <p:nvSpPr>
          <p:cNvPr id="312" name="ncat4"/>
          <p:cNvSpPr txBox="1"/>
          <p:nvPr/>
        </p:nvSpPr>
        <p:spPr>
          <a:xfrm>
            <a:off x="428625" y="22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313" name="nbar4"/>
          <p:cNvSpPr/>
          <p:nvPr/>
        </p:nvSpPr>
        <p:spPr>
          <a:xfrm>
            <a:off x="3028625" y="2270000"/>
            <a:ext cx="2261538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4" name="nval4"/>
          <p:cNvSpPr txBox="1"/>
          <p:nvPr/>
        </p:nvSpPr>
        <p:spPr>
          <a:xfrm>
            <a:off x="5315163" y="22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6</a:t>
            </a:r>
          </a:p>
        </p:txBody>
      </p:sp>
      <p:sp>
        <p:nvSpPr>
          <p:cNvPr id="315" name="ncat5"/>
          <p:cNvSpPr txBox="1"/>
          <p:nvPr/>
        </p:nvSpPr>
        <p:spPr>
          <a:xfrm>
            <a:off x="428625" y="25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Emma</a:t>
            </a:r>
          </a:p>
        </p:txBody>
      </p:sp>
      <p:sp>
        <p:nvSpPr>
          <p:cNvPr id="316" name="nbar5"/>
          <p:cNvSpPr/>
          <p:nvPr/>
        </p:nvSpPr>
        <p:spPr>
          <a:xfrm>
            <a:off x="3028625" y="2570000"/>
            <a:ext cx="1507692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7" name="nval5"/>
          <p:cNvSpPr txBox="1"/>
          <p:nvPr/>
        </p:nvSpPr>
        <p:spPr>
          <a:xfrm>
            <a:off x="4561317" y="25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318" name="ncat6"/>
          <p:cNvSpPr txBox="1"/>
          <p:nvPr/>
        </p:nvSpPr>
        <p:spPr>
          <a:xfrm>
            <a:off x="428625" y="28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</a:t>
            </a:r>
          </a:p>
        </p:txBody>
      </p:sp>
      <p:sp>
        <p:nvSpPr>
          <p:cNvPr id="319" name="nbar6"/>
          <p:cNvSpPr/>
          <p:nvPr/>
        </p:nvSpPr>
        <p:spPr>
          <a:xfrm>
            <a:off x="3028625" y="2870000"/>
            <a:ext cx="1507692" cy="20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0" name="nval6"/>
          <p:cNvSpPr txBox="1"/>
          <p:nvPr/>
        </p:nvSpPr>
        <p:spPr>
          <a:xfrm>
            <a:off x="4561317" y="28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321" name="ncat7"/>
          <p:cNvSpPr txBox="1"/>
          <p:nvPr/>
        </p:nvSpPr>
        <p:spPr>
          <a:xfrm>
            <a:off x="428625" y="31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AES Soporte IT/OT</a:t>
            </a:r>
          </a:p>
        </p:txBody>
      </p:sp>
      <p:sp>
        <p:nvSpPr>
          <p:cNvPr id="322" name="nbar7"/>
          <p:cNvSpPr/>
          <p:nvPr/>
        </p:nvSpPr>
        <p:spPr>
          <a:xfrm>
            <a:off x="3028625" y="3170000"/>
            <a:ext cx="1507692" cy="20000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3" name="nval7"/>
          <p:cNvSpPr txBox="1"/>
          <p:nvPr/>
        </p:nvSpPr>
        <p:spPr>
          <a:xfrm>
            <a:off x="4561317" y="31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324" name="ncat8"/>
          <p:cNvSpPr txBox="1"/>
          <p:nvPr/>
        </p:nvSpPr>
        <p:spPr>
          <a:xfrm>
            <a:off x="428625" y="34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Venta Digital</a:t>
            </a:r>
          </a:p>
        </p:txBody>
      </p:sp>
      <p:sp>
        <p:nvSpPr>
          <p:cNvPr id="325" name="nbar8"/>
          <p:cNvSpPr/>
          <p:nvPr/>
        </p:nvSpPr>
        <p:spPr>
          <a:xfrm>
            <a:off x="3028625" y="3470000"/>
            <a:ext cx="753846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6" name="nval8"/>
          <p:cNvSpPr txBox="1"/>
          <p:nvPr/>
        </p:nvSpPr>
        <p:spPr>
          <a:xfrm>
            <a:off x="3807471" y="34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2</a:t>
            </a:r>
          </a:p>
        </p:txBody>
      </p:sp>
      <p:sp>
        <p:nvSpPr>
          <p:cNvPr id="327" name="ncat9"/>
          <p:cNvSpPr txBox="1"/>
          <p:nvPr/>
        </p:nvSpPr>
        <p:spPr>
          <a:xfrm>
            <a:off x="428625" y="37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Emma iSeries</a:t>
            </a:r>
          </a:p>
        </p:txBody>
      </p:sp>
      <p:sp>
        <p:nvSpPr>
          <p:cNvPr id="328" name="nbar9"/>
          <p:cNvSpPr/>
          <p:nvPr/>
        </p:nvSpPr>
        <p:spPr>
          <a:xfrm>
            <a:off x="3028625" y="3770000"/>
            <a:ext cx="376923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9" name="nval9"/>
          <p:cNvSpPr txBox="1"/>
          <p:nvPr/>
        </p:nvSpPr>
        <p:spPr>
          <a:xfrm>
            <a:off x="3430548" y="37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1</a:t>
            </a:r>
          </a:p>
        </p:txBody>
      </p:sp>
      <p:sp>
        <p:nvSpPr>
          <p:cNvPr id="330" name="ncat10"/>
          <p:cNvSpPr txBox="1"/>
          <p:nvPr/>
        </p:nvSpPr>
        <p:spPr>
          <a:xfrm>
            <a:off x="428625" y="40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331" name="nbar10"/>
          <p:cNvSpPr/>
          <p:nvPr/>
        </p:nvSpPr>
        <p:spPr>
          <a:xfrm>
            <a:off x="3028625" y="4070000"/>
            <a:ext cx="376923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32" name="nval10"/>
          <p:cNvSpPr txBox="1"/>
          <p:nvPr/>
        </p:nvSpPr>
        <p:spPr>
          <a:xfrm>
            <a:off x="3430548" y="40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MTTR por Mesa (horas) — Registro Julio 2026 vs Benchmarks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MTTR con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mensual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formal solo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SURA (hoja "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Sura") ·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rango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operativo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30min–3h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mensual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· XM y AES: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medición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(N/D) · MEDICARTE: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dato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preliminar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empalme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) · Benchmarks: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MetricNet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/HDI.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300" name="ncat0"/>
          <p:cNvSpPr txBox="1"/>
          <p:nvPr/>
        </p:nvSpPr>
        <p:spPr>
          <a:xfrm>
            <a:off x="428625" y="10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130000"/>
            <a:ext cx="4900000" cy="26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0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24.58 h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4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530000"/>
            <a:ext cx="3572335" cy="26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6625960" y="14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17.92 h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18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Venta Digital</a:t>
            </a:r>
          </a:p>
        </p:txBody>
      </p:sp>
      <p:sp>
        <p:nvSpPr>
          <p:cNvPr id="307" name="nbar2"/>
          <p:cNvSpPr/>
          <p:nvPr/>
        </p:nvSpPr>
        <p:spPr>
          <a:xfrm>
            <a:off x="3028625" y="1930000"/>
            <a:ext cx="2467941" cy="26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5521566" y="18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12.38 h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22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Industria promedio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2330000"/>
            <a:ext cx="1764239" cy="26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4817864" y="22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8.85 h</a:t>
            </a:r>
          </a:p>
        </p:txBody>
      </p:sp>
      <p:sp>
        <p:nvSpPr>
          <p:cNvPr id="312" name="ncat4"/>
          <p:cNvSpPr txBox="1"/>
          <p:nvPr/>
        </p:nvSpPr>
        <p:spPr>
          <a:xfrm>
            <a:off x="428625" y="26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World-Class</a:t>
            </a:r>
          </a:p>
        </p:txBody>
      </p:sp>
      <p:sp>
        <p:nvSpPr>
          <p:cNvPr id="313" name="nbar4"/>
          <p:cNvSpPr/>
          <p:nvPr/>
        </p:nvSpPr>
        <p:spPr>
          <a:xfrm>
            <a:off x="3028625" y="2730000"/>
            <a:ext cx="797396" cy="26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4" name="nval4"/>
          <p:cNvSpPr txBox="1"/>
          <p:nvPr/>
        </p:nvSpPr>
        <p:spPr>
          <a:xfrm>
            <a:off x="3851021" y="26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&lt;4 h</a:t>
            </a:r>
          </a:p>
        </p:txBody>
      </p:sp>
      <p:sp>
        <p:nvSpPr>
          <p:cNvPr id="315" name="ncat5"/>
          <p:cNvSpPr txBox="1"/>
          <p:nvPr/>
        </p:nvSpPr>
        <p:spPr>
          <a:xfrm>
            <a:off x="428625" y="30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316" name="nbar5"/>
          <p:cNvSpPr/>
          <p:nvPr/>
        </p:nvSpPr>
        <p:spPr>
          <a:xfrm>
            <a:off x="3028625" y="3130000"/>
            <a:ext cx="594060" cy="260000"/>
          </a:xfrm>
          <a:prstGeom prst="roundRect">
            <a:avLst>
              <a:gd name="adj" fmla="val 8000"/>
            </a:avLst>
          </a:prstGeom>
          <a:solidFill>
            <a:srgbClr val="25C88F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7" name="nval5"/>
          <p:cNvSpPr txBox="1"/>
          <p:nvPr/>
        </p:nvSpPr>
        <p:spPr>
          <a:xfrm>
            <a:off x="3647685" y="30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2.98 h</a:t>
            </a:r>
          </a:p>
        </p:txBody>
      </p:sp>
      <p:sp>
        <p:nvSpPr>
          <p:cNvPr id="318" name="ncat6"/>
          <p:cNvSpPr txBox="1"/>
          <p:nvPr/>
        </p:nvSpPr>
        <p:spPr>
          <a:xfrm>
            <a:off x="428625" y="34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BCO 5 COES (rango)</a:t>
            </a:r>
          </a:p>
        </p:txBody>
      </p:sp>
      <p:sp>
        <p:nvSpPr>
          <p:cNvPr id="319" name="nbar6"/>
          <p:cNvSpPr/>
          <p:nvPr/>
        </p:nvSpPr>
        <p:spPr>
          <a:xfrm>
            <a:off x="3128300" y="3530000"/>
            <a:ext cx="498373" cy="260000"/>
          </a:xfrm>
          <a:prstGeom prst="roundRect">
            <a:avLst>
              <a:gd name="adj" fmla="val 8000"/>
            </a:avLst>
          </a:prstGeom>
          <a:solidFill>
            <a:srgbClr val="21B0F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0" name="nval6"/>
          <p:cNvSpPr txBox="1"/>
          <p:nvPr/>
        </p:nvSpPr>
        <p:spPr>
          <a:xfrm>
            <a:off x="3651673" y="34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0.5–3 h</a:t>
            </a:r>
          </a:p>
        </p:txBody>
      </p:sp>
      <p:sp>
        <p:nvSpPr>
          <p:cNvPr id="321" name="ncat7"/>
          <p:cNvSpPr txBox="1"/>
          <p:nvPr/>
        </p:nvSpPr>
        <p:spPr>
          <a:xfrm>
            <a:off x="428625" y="38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MEDICARTE (preliminar)</a:t>
            </a:r>
          </a:p>
        </p:txBody>
      </p:sp>
      <p:sp>
        <p:nvSpPr>
          <p:cNvPr id="322" name="nbar7"/>
          <p:cNvSpPr/>
          <p:nvPr/>
        </p:nvSpPr>
        <p:spPr>
          <a:xfrm>
            <a:off x="3028625" y="3930000"/>
            <a:ext cx="109642" cy="26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3" name="nval7"/>
          <p:cNvSpPr txBox="1"/>
          <p:nvPr/>
        </p:nvSpPr>
        <p:spPr>
          <a:xfrm>
            <a:off x="3163267" y="38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0.55 h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Tickets por Mesa al Mes — Registro Julio 2026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(5 COES): 700–3.000 tickets/mesa/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—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rango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reportado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,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exacto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por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mesa · AES: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(N/D) · Fuente: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Levantamiento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Julio 2026, hojas "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Sura" y "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".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8" name="Formula Costo USD"/>
          <p:cNvSpPr txBox="1"/>
          <p:nvPr/>
        </p:nvSpPr>
        <p:spPr>
          <a:xfrm>
            <a:off x="2606869" y="3820000"/>
            <a:ext cx="3930262" cy="52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ES" sz="1100" b="1">
                <a:solidFill>
                  <a:srgbClr val="000000"/>
                </a:solidFill>
                <a:latin typeface="Reddit Sans"/>
                <a:ea typeface="Reddit Sans"/>
              </a:rPr>
              <a:t>Total SURA: 1.525 tickets/mes  ·  XM: 90 tickets/mes</a:t>
            </a:r>
          </a:p>
        </p:txBody>
      </p:sp>
      <p:sp>
        <p:nvSpPr>
          <p:cNvPr id="300" name="ncat0"/>
          <p:cNvSpPr txBox="1"/>
          <p:nvPr/>
        </p:nvSpPr>
        <p:spPr>
          <a:xfrm>
            <a:off x="428625" y="1120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222000"/>
            <a:ext cx="4900000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120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668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644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746000"/>
            <a:ext cx="3755689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6809314" y="1644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512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2168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Venta Digital</a:t>
            </a:r>
          </a:p>
        </p:txBody>
      </p:sp>
      <p:sp>
        <p:nvSpPr>
          <p:cNvPr id="307" name="nbar2"/>
          <p:cNvSpPr/>
          <p:nvPr/>
        </p:nvSpPr>
        <p:spPr>
          <a:xfrm>
            <a:off x="3028625" y="2270000"/>
            <a:ext cx="1276347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4329972" y="2168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174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2692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2794000"/>
            <a:ext cx="1254341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4307966" y="2692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171</a:t>
            </a:r>
          </a:p>
        </p:txBody>
      </p:sp>
      <p:sp>
        <p:nvSpPr>
          <p:cNvPr id="312" name="ncat4"/>
          <p:cNvSpPr txBox="1"/>
          <p:nvPr/>
        </p:nvSpPr>
        <p:spPr>
          <a:xfrm>
            <a:off x="428625" y="3216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</a:t>
            </a:r>
          </a:p>
        </p:txBody>
      </p:sp>
      <p:sp>
        <p:nvSpPr>
          <p:cNvPr id="313" name="nbar4"/>
          <p:cNvSpPr/>
          <p:nvPr/>
        </p:nvSpPr>
        <p:spPr>
          <a:xfrm>
            <a:off x="3028625" y="3318000"/>
            <a:ext cx="660180" cy="32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4" name="nval4"/>
          <p:cNvSpPr txBox="1"/>
          <p:nvPr/>
        </p:nvSpPr>
        <p:spPr>
          <a:xfrm>
            <a:off x="3713805" y="3216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90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53F43-04D1-9DE1-63DA-15267686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dit Sans Light"/>
                <a:cs typeface="Reddit Sans Light"/>
              </a:rPr>
              <a:t>Lo </a:t>
            </a:r>
            <a:r>
              <a:rPr lang="en-US" dirty="0" err="1">
                <a:latin typeface="Reddit Sans Light"/>
                <a:cs typeface="Reddit Sans Light"/>
              </a:rPr>
              <a:t>que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nos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dijeron</a:t>
            </a:r>
            <a:r>
              <a:rPr lang="en-US" dirty="0">
                <a:latin typeface="Reddit Sans Light"/>
                <a:cs typeface="Reddit Sans Light"/>
              </a:rPr>
              <a:t> — Voz </a:t>
            </a:r>
            <a:r>
              <a:rPr lang="en-US" dirty="0" err="1">
                <a:latin typeface="Reddit Sans Light"/>
                <a:cs typeface="Reddit Sans Light"/>
              </a:rPr>
              <a:t>directa</a:t>
            </a:r>
            <a:r>
              <a:rPr lang="en-US" dirty="0">
                <a:latin typeface="Reddit Sans Light"/>
                <a:cs typeface="Reddit Sans Light"/>
              </a:rPr>
              <a:t> de </a:t>
            </a:r>
            <a:r>
              <a:rPr lang="en-US" dirty="0" err="1">
                <a:latin typeface="Reddit Sans Light"/>
                <a:cs typeface="Reddit Sans Light"/>
              </a:rPr>
              <a:t>los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líderes</a:t>
            </a:r>
            <a:r>
              <a:rPr lang="en-US" dirty="0">
                <a:latin typeface="Reddit Sans Light"/>
                <a:cs typeface="Reddit Sans Light"/>
              </a:rPr>
              <a:t> de mesa</a:t>
            </a:r>
            <a:endParaRPr lang="es-ES" dirty="0">
              <a:latin typeface="Reddit Sans Light"/>
              <a:cs typeface="Reddit Sans Light"/>
            </a:endParaRPr>
          </a:p>
          <a:p>
            <a:endParaRPr lang="es-ES" dirty="0">
              <a:latin typeface="Reddit Sans Light"/>
              <a:cs typeface="Reddit Sans Light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180CFB9-3873-7C00-C153-CF971F4BECF1}"/>
              </a:ext>
            </a:extLst>
          </p:cNvPr>
          <p:cNvSpPr/>
          <p:nvPr/>
        </p:nvSpPr>
        <p:spPr>
          <a:xfrm>
            <a:off x="34290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021ADA5-5DD0-5C06-1D2C-DB5B28934647}"/>
              </a:ext>
            </a:extLst>
          </p:cNvPr>
          <p:cNvSpPr/>
          <p:nvPr/>
        </p:nvSpPr>
        <p:spPr>
          <a:xfrm>
            <a:off x="48006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204C9EB-2BA1-0C92-FA80-62712063B242}"/>
              </a:ext>
            </a:extLst>
          </p:cNvPr>
          <p:cNvSpPr/>
          <p:nvPr/>
        </p:nvSpPr>
        <p:spPr>
          <a:xfrm>
            <a:off x="58293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Mis dolores principales son capacidad, gestión de conocimiento y disponibilidad. Los 4 chicos de soporte son mi personal clave y necesito gente muy experta.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5F5FFC23-6CBF-9AFB-6904-F5889B9A4F24}"/>
              </a:ext>
            </a:extLst>
          </p:cNvPr>
          <p:cNvSpPr/>
          <p:nvPr/>
        </p:nvSpPr>
        <p:spPr>
          <a:xfrm>
            <a:off x="58293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Diego Serna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XM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1A6E34B2-23A7-2C24-C0C9-AA4105B9830F}"/>
              </a:ext>
            </a:extLst>
          </p:cNvPr>
          <p:cNvSpPr/>
          <p:nvPr/>
        </p:nvSpPr>
        <p:spPr>
          <a:xfrm>
            <a:off x="473202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0F3B86D1-0F93-31EC-E34E-94A2839EA464}"/>
              </a:ext>
            </a:extLst>
          </p:cNvPr>
          <p:cNvSpPr/>
          <p:nvPr/>
        </p:nvSpPr>
        <p:spPr>
          <a:xfrm>
            <a:off x="486918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0E3B439-A57C-975F-0212-0486F4D7BF1F}"/>
              </a:ext>
            </a:extLst>
          </p:cNvPr>
          <p:cNvSpPr/>
          <p:nvPr/>
        </p:nvSpPr>
        <p:spPr>
          <a:xfrm>
            <a:off x="497205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No hay algo claro en PersonalSoft que nos determine los límites de los niveles. El servicio no fue bien vendido según ITIL.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BCD10BF-6DA4-A9D1-BA95-369A26DBE7D8}"/>
              </a:ext>
            </a:extLst>
          </p:cNvPr>
          <p:cNvSpPr/>
          <p:nvPr/>
        </p:nvSpPr>
        <p:spPr>
          <a:xfrm>
            <a:off x="497205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Virginia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SURA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1339D07C-C0FD-B114-5F7F-9E440BE84D8B}"/>
              </a:ext>
            </a:extLst>
          </p:cNvPr>
          <p:cNvSpPr/>
          <p:nvPr/>
        </p:nvSpPr>
        <p:spPr>
          <a:xfrm>
            <a:off x="34290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5B6E520-FC5B-86C6-23D4-09CFEC89145D}"/>
              </a:ext>
            </a:extLst>
          </p:cNvPr>
          <p:cNvSpPr/>
          <p:nvPr/>
        </p:nvSpPr>
        <p:spPr>
          <a:xfrm>
            <a:off x="48006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F4F650D9-1B7D-98B4-8547-725A391967B2}"/>
              </a:ext>
            </a:extLst>
          </p:cNvPr>
          <p:cNvSpPr/>
          <p:nvPr/>
        </p:nvSpPr>
        <p:spPr>
          <a:xfrm>
            <a:off x="58293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El modelo va a cambiar al punto en que nos vamos a cargar de absolutamente toda la operación. Es una oportunidad.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9A14174B-27BA-23D0-3FA1-A716545991F5}"/>
              </a:ext>
            </a:extLst>
          </p:cNvPr>
          <p:cNvSpPr/>
          <p:nvPr/>
        </p:nvSpPr>
        <p:spPr>
          <a:xfrm>
            <a:off x="58293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Michael Arévalo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AES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A24DCC76-DB81-57F7-81FC-A398DEBE6965}"/>
              </a:ext>
            </a:extLst>
          </p:cNvPr>
          <p:cNvSpPr/>
          <p:nvPr/>
        </p:nvSpPr>
        <p:spPr>
          <a:xfrm>
            <a:off x="473202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876C14A1-21B4-F701-0421-1B2FAA71BF5F}"/>
              </a:ext>
            </a:extLst>
          </p:cNvPr>
          <p:cNvSpPr/>
          <p:nvPr/>
        </p:nvSpPr>
        <p:spPr>
          <a:xfrm>
            <a:off x="486918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A9C47E8A-0006-DB56-06DC-AAF78D96F72D}"/>
              </a:ext>
            </a:extLst>
          </p:cNvPr>
          <p:cNvSpPr/>
          <p:nvPr/>
        </p:nvSpPr>
        <p:spPr>
          <a:xfrm>
            <a:off x="497205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Los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regarcos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debo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 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pasarlos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a mano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por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y se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presta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para el error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humano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.</a:t>
            </a: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E6EFC550-6557-2751-4FFE-188CA4277146}"/>
              </a:ext>
            </a:extLst>
          </p:cNvPr>
          <p:cNvSpPr/>
          <p:nvPr/>
        </p:nvSpPr>
        <p:spPr>
          <a:xfrm>
            <a:off x="497205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0" b="1" dirty="0">
                <a:solidFill>
                  <a:srgbClr val="1F7A4D"/>
                </a:solidFill>
                <a:latin typeface="Reddit Sans Light"/>
                <a:ea typeface="Calibri"/>
                <a:cs typeface="Reddit Sans Light"/>
              </a:rPr>
              <a:t>Paul Andre Soto</a:t>
            </a:r>
            <a:r>
              <a:rPr lang="en-US" sz="950" dirty="0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 ·  </a:t>
            </a:r>
            <a:r>
              <a:rPr lang="en-US" sz="950" dirty="0" err="1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Bancolombia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1460234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29614" y="-39094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/>
              <a:t>ITIL v5 - </a:t>
            </a:r>
            <a:r>
              <a:rPr lang="en-US" sz="1600" err="1"/>
              <a:t>Diagrama</a:t>
            </a:r>
            <a:r>
              <a:rPr lang="en-US" sz="1600"/>
              <a:t> del Ciclo de Vida y Modelo 6C</a:t>
            </a:r>
            <a:endParaRPr lang="es-ES" sz="1600"/>
          </a:p>
        </p:txBody>
      </p:sp>
      <p:sp>
        <p:nvSpPr>
          <p:cNvPr id="202" name="rec202"/>
          <p:cNvSpPr/>
          <p:nvPr/>
        </p:nvSpPr>
        <p:spPr>
          <a:xfrm>
            <a:off x="363928" y="530129"/>
            <a:ext cx="81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Lanzado feb–abr 2026 </a:t>
            </a:r>
          </a:p>
        </p:txBody>
      </p:sp>
      <p:sp>
        <p:nvSpPr>
          <p:cNvPr id="203" name="rec203"/>
          <p:cNvSpPr/>
          <p:nvPr/>
        </p:nvSpPr>
        <p:spPr>
          <a:xfrm>
            <a:off x="1657086" y="2184814"/>
            <a:ext cx="1500000" cy="1500000"/>
          </a:xfrm>
          <a:prstGeom prst="ellipse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Ciclo de vida de Productos y Servicios</a:t>
            </a:r>
            <a:endParaRPr lang="es-ES"/>
          </a:p>
        </p:txBody>
      </p:sp>
      <p:sp>
        <p:nvSpPr>
          <p:cNvPr id="204" name="rec204"/>
          <p:cNvSpPr/>
          <p:nvPr/>
        </p:nvSpPr>
        <p:spPr>
          <a:xfrm>
            <a:off x="2047086" y="1174814"/>
            <a:ext cx="720000" cy="720000"/>
          </a:xfrm>
          <a:prstGeom prst="ellipse">
            <a:avLst/>
          </a:prstGeom>
          <a:solidFill>
            <a:srgbClr val="20808D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1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Discover</a:t>
            </a:r>
          </a:p>
        </p:txBody>
      </p:sp>
      <p:sp>
        <p:nvSpPr>
          <p:cNvPr id="205" name="rec205"/>
          <p:cNvSpPr/>
          <p:nvPr/>
        </p:nvSpPr>
        <p:spPr>
          <a:xfrm>
            <a:off x="1757086" y="814814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20808D"/>
                </a:solidFill>
                <a:latin typeface="Reddit Sans"/>
                <a:ea typeface="Reddit Sans"/>
              </a:rPr>
              <a:t>Necesidades</a:t>
            </a:r>
          </a:p>
        </p:txBody>
      </p:sp>
      <p:sp>
        <p:nvSpPr>
          <p:cNvPr id="206" name="rec206"/>
          <p:cNvSpPr/>
          <p:nvPr/>
        </p:nvSpPr>
        <p:spPr>
          <a:xfrm>
            <a:off x="3037035" y="1584864"/>
            <a:ext cx="720000" cy="720000"/>
          </a:xfrm>
          <a:prstGeom prst="ellipse">
            <a:avLst/>
          </a:prstGeom>
          <a:solidFill>
            <a:srgbClr val="1B474C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2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Design</a:t>
            </a:r>
          </a:p>
        </p:txBody>
      </p:sp>
      <p:sp>
        <p:nvSpPr>
          <p:cNvPr id="207" name="rec207"/>
          <p:cNvSpPr/>
          <p:nvPr/>
        </p:nvSpPr>
        <p:spPr>
          <a:xfrm>
            <a:off x="3797035" y="1388884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1B474C"/>
                </a:solidFill>
                <a:latin typeface="Reddit Sans"/>
                <a:ea typeface="Reddit Sans"/>
              </a:rPr>
              <a:t>Arquitectura</a:t>
            </a:r>
          </a:p>
        </p:txBody>
      </p:sp>
      <p:sp>
        <p:nvSpPr>
          <p:cNvPr id="208" name="rec208"/>
          <p:cNvSpPr/>
          <p:nvPr/>
        </p:nvSpPr>
        <p:spPr>
          <a:xfrm>
            <a:off x="3447086" y="2574814"/>
            <a:ext cx="720000" cy="720000"/>
          </a:xfrm>
          <a:prstGeom prst="ellipse">
            <a:avLst/>
          </a:prstGeom>
          <a:solidFill>
            <a:srgbClr val="437A22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3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Acquire</a:t>
            </a:r>
          </a:p>
        </p:txBody>
      </p:sp>
      <p:sp>
        <p:nvSpPr>
          <p:cNvPr id="209" name="rec209"/>
          <p:cNvSpPr/>
          <p:nvPr/>
        </p:nvSpPr>
        <p:spPr>
          <a:xfrm>
            <a:off x="4207086" y="2774814"/>
            <a:ext cx="64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437A22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210" name="rec210"/>
          <p:cNvSpPr/>
          <p:nvPr/>
        </p:nvSpPr>
        <p:spPr>
          <a:xfrm>
            <a:off x="3037035" y="3564763"/>
            <a:ext cx="720000" cy="720000"/>
          </a:xfrm>
          <a:prstGeom prst="ellipse">
            <a:avLst/>
          </a:prstGeom>
          <a:solidFill>
            <a:srgbClr val="D19900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Build</a:t>
            </a:r>
          </a:p>
        </p:txBody>
      </p:sp>
      <p:sp>
        <p:nvSpPr>
          <p:cNvPr id="211" name="rec211"/>
          <p:cNvSpPr/>
          <p:nvPr/>
        </p:nvSpPr>
        <p:spPr>
          <a:xfrm>
            <a:off x="3797035" y="4160743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D19900"/>
                </a:solidFill>
                <a:latin typeface="Reddit Sans"/>
                <a:ea typeface="Reddit Sans"/>
              </a:rPr>
              <a:t>Desarrollo</a:t>
            </a:r>
          </a:p>
        </p:txBody>
      </p:sp>
      <p:sp>
        <p:nvSpPr>
          <p:cNvPr id="212" name="rec212"/>
          <p:cNvSpPr/>
          <p:nvPr/>
        </p:nvSpPr>
        <p:spPr>
          <a:xfrm>
            <a:off x="2047086" y="3974814"/>
            <a:ext cx="720000" cy="720000"/>
          </a:xfrm>
          <a:prstGeom prst="ellipse">
            <a:avLst/>
          </a:prstGeom>
          <a:solidFill>
            <a:srgbClr val="964219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Transition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3" name="rec213"/>
          <p:cNvSpPr/>
          <p:nvPr/>
        </p:nvSpPr>
        <p:spPr>
          <a:xfrm>
            <a:off x="1670000" y="4823500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964219"/>
                </a:solidFill>
                <a:latin typeface="Reddit Sans"/>
                <a:ea typeface="Reddit Sans"/>
              </a:rPr>
              <a:t>A producción</a:t>
            </a:r>
          </a:p>
        </p:txBody>
      </p:sp>
      <p:sp>
        <p:nvSpPr>
          <p:cNvPr id="214" name="rec214"/>
          <p:cNvSpPr/>
          <p:nvPr/>
        </p:nvSpPr>
        <p:spPr>
          <a:xfrm>
            <a:off x="1057136" y="3564763"/>
            <a:ext cx="720000" cy="720000"/>
          </a:xfrm>
          <a:prstGeom prst="ellipse">
            <a:avLst/>
          </a:prstGeom>
          <a:solidFill>
            <a:srgbClr val="A84B2F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Operate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5" name="rec215"/>
          <p:cNvSpPr/>
          <p:nvPr/>
        </p:nvSpPr>
        <p:spPr>
          <a:xfrm>
            <a:off x="117086" y="4160743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err="1">
                <a:solidFill>
                  <a:srgbClr val="A84B2F"/>
                </a:solidFill>
                <a:latin typeface="Reddit Sans"/>
                <a:ea typeface="Reddit Sans"/>
              </a:rPr>
              <a:t>Incident</a:t>
            </a:r>
            <a:r>
              <a:rPr lang="es-ES" sz="800">
                <a:solidFill>
                  <a:srgbClr val="A84B2F"/>
                </a:solidFill>
                <a:latin typeface="Reddit Sans"/>
                <a:ea typeface="Reddit Sans"/>
              </a:rPr>
              <a:t> Management</a:t>
            </a:r>
          </a:p>
        </p:txBody>
      </p:sp>
      <p:sp>
        <p:nvSpPr>
          <p:cNvPr id="216" name="rec216"/>
          <p:cNvSpPr/>
          <p:nvPr/>
        </p:nvSpPr>
        <p:spPr>
          <a:xfrm>
            <a:off x="647086" y="2574814"/>
            <a:ext cx="720000" cy="720000"/>
          </a:xfrm>
          <a:prstGeom prst="ellipse">
            <a:avLst/>
          </a:prstGeom>
          <a:solidFill>
            <a:srgbClr val="944454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7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Deliver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117086" y="2774814"/>
            <a:ext cx="49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944454"/>
                </a:solidFill>
                <a:latin typeface="Reddit Sans"/>
                <a:ea typeface="Reddit Sans"/>
              </a:rPr>
              <a:t>Valor real</a:t>
            </a:r>
          </a:p>
        </p:txBody>
      </p:sp>
      <p:sp>
        <p:nvSpPr>
          <p:cNvPr id="218" name="rec218"/>
          <p:cNvSpPr/>
          <p:nvPr/>
        </p:nvSpPr>
        <p:spPr>
          <a:xfrm>
            <a:off x="1057136" y="1584864"/>
            <a:ext cx="720000" cy="720000"/>
          </a:xfrm>
          <a:prstGeom prst="ellipse">
            <a:avLst/>
          </a:prstGeom>
          <a:solidFill>
            <a:srgbClr val="7A38BB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8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Support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117086" y="1388884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7A38BB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220" name="rec220"/>
          <p:cNvSpPr/>
          <p:nvPr/>
        </p:nvSpPr>
        <p:spPr>
          <a:xfrm>
            <a:off x="4803543" y="9943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Modelo 6C de Capacidades IA</a:t>
            </a:r>
          </a:p>
        </p:txBody>
      </p:sp>
      <p:sp>
        <p:nvSpPr>
          <p:cNvPr id="221" name="rec221"/>
          <p:cNvSpPr/>
          <p:nvPr/>
        </p:nvSpPr>
        <p:spPr>
          <a:xfrm>
            <a:off x="4803543" y="1244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50">
                <a:solidFill>
                  <a:srgbClr val="6B6B6B"/>
                </a:solidFill>
                <a:latin typeface="Reddit Sans"/>
                <a:ea typeface="Reddit Sans"/>
              </a:rPr>
              <a:t>36% de contenido nuevo en ITIL (Versión 5)</a:t>
            </a:r>
          </a:p>
        </p:txBody>
      </p:sp>
      <p:sp>
        <p:nvSpPr>
          <p:cNvPr id="222" name="rec222"/>
          <p:cNvSpPr/>
          <p:nvPr/>
        </p:nvSpPr>
        <p:spPr>
          <a:xfrm>
            <a:off x="480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Creación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Generar contenido y soluciones con IA</a:t>
            </a:r>
          </a:p>
        </p:txBody>
      </p:sp>
      <p:sp>
        <p:nvSpPr>
          <p:cNvPr id="223" name="rec223"/>
          <p:cNvSpPr/>
          <p:nvPr/>
        </p:nvSpPr>
        <p:spPr>
          <a:xfrm>
            <a:off x="696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B474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Curación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Filtrar y mantener outputs de IA</a:t>
            </a:r>
          </a:p>
        </p:txBody>
      </p:sp>
      <p:sp>
        <p:nvSpPr>
          <p:cNvPr id="224" name="rec224"/>
          <p:cNvSpPr/>
          <p:nvPr/>
        </p:nvSpPr>
        <p:spPr>
          <a:xfrm>
            <a:off x="480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427A2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Clarificación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Interpretar solicitudes ambiguas</a:t>
            </a:r>
          </a:p>
        </p:txBody>
      </p:sp>
      <p:sp>
        <p:nvSpPr>
          <p:cNvPr id="225" name="rec225"/>
          <p:cNvSpPr/>
          <p:nvPr/>
        </p:nvSpPr>
        <p:spPr>
          <a:xfrm>
            <a:off x="696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00649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Cognición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Análisis y soporte a decisiones</a:t>
            </a:r>
          </a:p>
        </p:txBody>
      </p:sp>
      <p:sp>
        <p:nvSpPr>
          <p:cNvPr id="226" name="rec226"/>
          <p:cNvSpPr/>
          <p:nvPr/>
        </p:nvSpPr>
        <p:spPr>
          <a:xfrm>
            <a:off x="480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94445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Comunicación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Interacciones usuario-sistema</a:t>
            </a:r>
          </a:p>
        </p:txBody>
      </p:sp>
      <p:sp>
        <p:nvSpPr>
          <p:cNvPr id="227" name="rec227"/>
          <p:cNvSpPr/>
          <p:nvPr/>
        </p:nvSpPr>
        <p:spPr>
          <a:xfrm>
            <a:off x="696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Coordinación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Orquestar agentes IA + humanos</a:t>
            </a:r>
          </a:p>
        </p:txBody>
      </p:sp>
      <p:sp>
        <p:nvSpPr>
          <p:cNvPr id="228" name="rec228"/>
          <p:cNvSpPr/>
          <p:nvPr/>
        </p:nvSpPr>
        <p:spPr>
          <a:xfrm>
            <a:off x="4803543" y="3359300"/>
            <a:ext cx="4200000" cy="76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Gobernanza de IA — Módulo independiente en ITIL v5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Responsabilidad sobre outputs de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Transparencia en decisiones mediadas por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Rutas de escalamiento cuando falla coordinación entre agentes</a:t>
            </a:r>
          </a:p>
        </p:txBody>
      </p:sp>
      <p:sp>
        <p:nvSpPr>
          <p:cNvPr id="229" name="rec229"/>
          <p:cNvSpPr/>
          <p:nvPr/>
        </p:nvSpPr>
        <p:spPr>
          <a:xfrm>
            <a:off x="4803543" y="4179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50" b="1">
                <a:solidFill>
                  <a:srgbClr val="6B6B6B"/>
                </a:solidFill>
                <a:latin typeface="Reddit Sans"/>
                <a:ea typeface="Reddit Sans"/>
              </a:rPr>
              <a:t>Composición de ITIL v5:</a:t>
            </a:r>
          </a:p>
        </p:txBody>
      </p:sp>
      <p:sp>
        <p:nvSpPr>
          <p:cNvPr id="230" name="rec230"/>
          <p:cNvSpPr/>
          <p:nvPr/>
        </p:nvSpPr>
        <p:spPr>
          <a:xfrm>
            <a:off x="4803543" y="4409300"/>
            <a:ext cx="1680000" cy="300000"/>
          </a:xfrm>
          <a:prstGeom prst="rect">
            <a:avLst/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40% retenido</a:t>
            </a:r>
          </a:p>
        </p:txBody>
      </p:sp>
      <p:sp>
        <p:nvSpPr>
          <p:cNvPr id="231" name="rec231"/>
          <p:cNvSpPr/>
          <p:nvPr/>
        </p:nvSpPr>
        <p:spPr>
          <a:xfrm>
            <a:off x="6483543" y="4409300"/>
            <a:ext cx="1008000" cy="300000"/>
          </a:xfrm>
          <a:prstGeom prst="rect">
            <a:avLst/>
          </a:prstGeom>
          <a:solidFill>
            <a:srgbClr val="D19900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24% actualizado</a:t>
            </a:r>
          </a:p>
        </p:txBody>
      </p:sp>
      <p:sp>
        <p:nvSpPr>
          <p:cNvPr id="232" name="rec232"/>
          <p:cNvSpPr/>
          <p:nvPr/>
        </p:nvSpPr>
        <p:spPr>
          <a:xfrm>
            <a:off x="7491543" y="4409300"/>
            <a:ext cx="1512000" cy="300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36% nuevo (6C AI)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BB5B61-8F8D-288B-89A1-B142AD6A750D}"/>
              </a:ext>
            </a:extLst>
          </p:cNvPr>
          <p:cNvSpPr txBox="1"/>
          <p:nvPr/>
        </p:nvSpPr>
        <p:spPr>
          <a:xfrm>
            <a:off x="7309758" y="4825093"/>
            <a:ext cx="1692728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Fuente: </a:t>
            </a:r>
            <a:r>
              <a:rPr lang="en-US" sz="700" b="0" i="0" u="none" strike="noStrike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sz="700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.y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 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Tideline Insights</a:t>
            </a:r>
            <a:endParaRPr lang="en-US" sz="700">
              <a:solidFill>
                <a:schemeClr val="tx1"/>
              </a:solidFill>
              <a:latin typeface="Reddit Sans Light"/>
              <a:cs typeface="Reddit Sans Light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82764B7-F15A-76AA-3504-B79640864FD9}"/>
              </a:ext>
            </a:extLst>
          </p:cNvPr>
          <p:cNvSpPr txBox="1"/>
          <p:nvPr/>
        </p:nvSpPr>
        <p:spPr>
          <a:xfrm>
            <a:off x="4962287" y="525165"/>
            <a:ext cx="3287486" cy="220886"/>
          </a:xfrm>
          <a:prstGeom prst="rect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Conoc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imiento e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insight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de valor para los procesos que no cubrimos</a:t>
            </a:r>
          </a:p>
        </p:txBody>
      </p:sp>
      <p:sp>
        <p:nvSpPr>
          <p:cNvPr id="5" name="Shape 25">
            <a:extLst>
              <a:ext uri="{FF2B5EF4-FFF2-40B4-BE49-F238E27FC236}">
                <a16:creationId xmlns:a16="http://schemas.microsoft.com/office/drawing/2014/main" id="{791F133A-44B3-E7A3-EB4C-22935F87D691}"/>
              </a:ext>
            </a:extLst>
          </p:cNvPr>
          <p:cNvSpPr/>
          <p:nvPr/>
        </p:nvSpPr>
        <p:spPr>
          <a:xfrm>
            <a:off x="2464425" y="1139428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8" name="Image 5" descr="53d78b62.png">
            <a:extLst>
              <a:ext uri="{FF2B5EF4-FFF2-40B4-BE49-F238E27FC236}">
                <a16:creationId xmlns:a16="http://schemas.microsoft.com/office/drawing/2014/main" id="{2677F50E-5807-DBCB-7B4A-126BF4395E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2524263" y="1213697"/>
            <a:ext cx="146277" cy="89808"/>
          </a:xfrm>
          <a:prstGeom prst="rect">
            <a:avLst/>
          </a:prstGeom>
        </p:spPr>
      </p:pic>
      <p:sp>
        <p:nvSpPr>
          <p:cNvPr id="9" name="Shape 25">
            <a:extLst>
              <a:ext uri="{FF2B5EF4-FFF2-40B4-BE49-F238E27FC236}">
                <a16:creationId xmlns:a16="http://schemas.microsoft.com/office/drawing/2014/main" id="{8AED887D-522E-9CFD-F73B-8EEB6A7F3FB9}"/>
              </a:ext>
            </a:extLst>
          </p:cNvPr>
          <p:cNvSpPr/>
          <p:nvPr/>
        </p:nvSpPr>
        <p:spPr>
          <a:xfrm>
            <a:off x="3482239" y="1514986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5" descr="53d78b62.png">
            <a:extLst>
              <a:ext uri="{FF2B5EF4-FFF2-40B4-BE49-F238E27FC236}">
                <a16:creationId xmlns:a16="http://schemas.microsoft.com/office/drawing/2014/main" id="{326E74E4-D12B-9FD6-541F-885D8B79F0A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542077" y="1589255"/>
            <a:ext cx="146277" cy="89808"/>
          </a:xfrm>
          <a:prstGeom prst="rect">
            <a:avLst/>
          </a:prstGeom>
        </p:spPr>
      </p:pic>
      <p:sp>
        <p:nvSpPr>
          <p:cNvPr id="11" name="Shape 25">
            <a:extLst>
              <a:ext uri="{FF2B5EF4-FFF2-40B4-BE49-F238E27FC236}">
                <a16:creationId xmlns:a16="http://schemas.microsoft.com/office/drawing/2014/main" id="{2DAFD415-5750-C0EA-9E12-CC2C603A482F}"/>
              </a:ext>
            </a:extLst>
          </p:cNvPr>
          <p:cNvSpPr/>
          <p:nvPr/>
        </p:nvSpPr>
        <p:spPr>
          <a:xfrm>
            <a:off x="1577238" y="3643142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25">
            <a:extLst>
              <a:ext uri="{FF2B5EF4-FFF2-40B4-BE49-F238E27FC236}">
                <a16:creationId xmlns:a16="http://schemas.microsoft.com/office/drawing/2014/main" id="{70691B23-5FFF-7B09-3D37-1B1E4683BF03}"/>
              </a:ext>
            </a:extLst>
          </p:cNvPr>
          <p:cNvSpPr/>
          <p:nvPr/>
        </p:nvSpPr>
        <p:spPr>
          <a:xfrm>
            <a:off x="2535181" y="3969713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25">
            <a:extLst>
              <a:ext uri="{FF2B5EF4-FFF2-40B4-BE49-F238E27FC236}">
                <a16:creationId xmlns:a16="http://schemas.microsoft.com/office/drawing/2014/main" id="{4C591689-D324-4311-D1A8-12A5AF004BEA}"/>
              </a:ext>
            </a:extLst>
          </p:cNvPr>
          <p:cNvSpPr/>
          <p:nvPr/>
        </p:nvSpPr>
        <p:spPr>
          <a:xfrm>
            <a:off x="3874124" y="2500143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5" descr="53d78b62.png">
            <a:extLst>
              <a:ext uri="{FF2B5EF4-FFF2-40B4-BE49-F238E27FC236}">
                <a16:creationId xmlns:a16="http://schemas.microsoft.com/office/drawing/2014/main" id="{F3FD0F5C-9810-5058-8D82-1BE51C83DD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933962" y="2574412"/>
            <a:ext cx="146277" cy="89808"/>
          </a:xfrm>
          <a:prstGeom prst="rect">
            <a:avLst/>
          </a:prstGeom>
        </p:spPr>
      </p:pic>
      <p:sp>
        <p:nvSpPr>
          <p:cNvPr id="17" name="Shape 25">
            <a:extLst>
              <a:ext uri="{FF2B5EF4-FFF2-40B4-BE49-F238E27FC236}">
                <a16:creationId xmlns:a16="http://schemas.microsoft.com/office/drawing/2014/main" id="{C14CA542-31D4-E41B-05DD-9F7A05E54C0A}"/>
              </a:ext>
            </a:extLst>
          </p:cNvPr>
          <p:cNvSpPr/>
          <p:nvPr/>
        </p:nvSpPr>
        <p:spPr>
          <a:xfrm>
            <a:off x="3574767" y="3626814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5" descr="53d78b62.png">
            <a:extLst>
              <a:ext uri="{FF2B5EF4-FFF2-40B4-BE49-F238E27FC236}">
                <a16:creationId xmlns:a16="http://schemas.microsoft.com/office/drawing/2014/main" id="{A365E88B-D0F2-250A-DED6-626FD67CAF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634605" y="3701083"/>
            <a:ext cx="146277" cy="89808"/>
          </a:xfrm>
          <a:prstGeom prst="rect">
            <a:avLst/>
          </a:prstGeom>
        </p:spPr>
      </p:pic>
      <p:sp>
        <p:nvSpPr>
          <p:cNvPr id="19" name="Shape 25">
            <a:extLst>
              <a:ext uri="{FF2B5EF4-FFF2-40B4-BE49-F238E27FC236}">
                <a16:creationId xmlns:a16="http://schemas.microsoft.com/office/drawing/2014/main" id="{6AA51429-A86F-C854-527F-A85CD7926411}"/>
              </a:ext>
            </a:extLst>
          </p:cNvPr>
          <p:cNvSpPr/>
          <p:nvPr/>
        </p:nvSpPr>
        <p:spPr>
          <a:xfrm>
            <a:off x="4668781" y="491728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5" descr="53d78b62.png">
            <a:extLst>
              <a:ext uri="{FF2B5EF4-FFF2-40B4-BE49-F238E27FC236}">
                <a16:creationId xmlns:a16="http://schemas.microsoft.com/office/drawing/2014/main" id="{88A69F69-2842-C6F4-1F58-C85B7E5000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4728619" y="565997"/>
            <a:ext cx="146277" cy="89808"/>
          </a:xfrm>
          <a:prstGeom prst="rect">
            <a:avLst/>
          </a:prstGeom>
        </p:spPr>
      </p:pic>
      <p:sp>
        <p:nvSpPr>
          <p:cNvPr id="21" name="Shape 25">
            <a:extLst>
              <a:ext uri="{FF2B5EF4-FFF2-40B4-BE49-F238E27FC236}">
                <a16:creationId xmlns:a16="http://schemas.microsoft.com/office/drawing/2014/main" id="{23818E27-CB22-2873-2789-F960DFF54F94}"/>
              </a:ext>
            </a:extLst>
          </p:cNvPr>
          <p:cNvSpPr/>
          <p:nvPr/>
        </p:nvSpPr>
        <p:spPr>
          <a:xfrm>
            <a:off x="1054723" y="2516470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0323800B-679C-A6C2-5285-165F712A5926}"/>
              </a:ext>
            </a:extLst>
          </p:cNvPr>
          <p:cNvSpPr/>
          <p:nvPr/>
        </p:nvSpPr>
        <p:spPr>
          <a:xfrm>
            <a:off x="1452052" y="1547641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3" name="Gráfico 22" descr="Marca de escudo contorno">
            <a:extLst>
              <a:ext uri="{FF2B5EF4-FFF2-40B4-BE49-F238E27FC236}">
                <a16:creationId xmlns:a16="http://schemas.microsoft.com/office/drawing/2014/main" id="{FABA96AF-DDCE-BB4D-4A0E-B16D0C0445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5367" y="1596532"/>
            <a:ext cx="171569" cy="166598"/>
          </a:xfrm>
          <a:prstGeom prst="rect">
            <a:avLst/>
          </a:prstGeom>
        </p:spPr>
      </p:pic>
      <p:pic>
        <p:nvPicPr>
          <p:cNvPr id="24" name="Gráfico 23" descr="Marca de escudo contorno">
            <a:extLst>
              <a:ext uri="{FF2B5EF4-FFF2-40B4-BE49-F238E27FC236}">
                <a16:creationId xmlns:a16="http://schemas.microsoft.com/office/drawing/2014/main" id="{C0318EF8-2F96-AA03-D09F-1B9AACEC7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8038" y="2554475"/>
            <a:ext cx="171569" cy="166598"/>
          </a:xfrm>
          <a:prstGeom prst="rect">
            <a:avLst/>
          </a:prstGeom>
        </p:spPr>
      </p:pic>
      <p:pic>
        <p:nvPicPr>
          <p:cNvPr id="25" name="Gráfico 24" descr="Marca de escudo contorno">
            <a:extLst>
              <a:ext uri="{FF2B5EF4-FFF2-40B4-BE49-F238E27FC236}">
                <a16:creationId xmlns:a16="http://schemas.microsoft.com/office/drawing/2014/main" id="{839CF182-C4D4-F1E9-06FE-637A152DB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20553" y="3681146"/>
            <a:ext cx="166600" cy="171567"/>
          </a:xfrm>
          <a:prstGeom prst="rect">
            <a:avLst/>
          </a:prstGeom>
        </p:spPr>
      </p:pic>
      <p:pic>
        <p:nvPicPr>
          <p:cNvPr id="26" name="Gráfico 25" descr="Marca de escudo contorno">
            <a:extLst>
              <a:ext uri="{FF2B5EF4-FFF2-40B4-BE49-F238E27FC236}">
                <a16:creationId xmlns:a16="http://schemas.microsoft.com/office/drawing/2014/main" id="{9BB8C132-8A55-0BC5-0EAF-C3492C6E6C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8495" y="4007717"/>
            <a:ext cx="171569" cy="16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36</Slides>
  <Notes>23</Notes>
  <HiddenSlides>0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36</vt:i4>
      </vt:variant>
    </vt:vector>
  </HeadingPairs>
  <TitlesOfParts>
    <vt:vector size="38" baseType="lpstr">
      <vt:lpstr>Simple Light</vt:lpstr>
      <vt:lpstr>Simple Light</vt:lpstr>
      <vt:lpstr>Mesa de Servicio de Nueva Generación (Next Gen)</vt:lpstr>
      <vt:lpstr>Que busca la Mesa de Servicio de Nueva Generación</vt:lpstr>
      <vt:lpstr>Beneficios eperados de la Mesa de Servicio de Nueva Generación (Servicio Optimo)</vt:lpstr>
      <vt:lpstr>Presentación de PowerPoint</vt:lpstr>
      <vt:lpstr>Presentación de PowerPoint</vt:lpstr>
      <vt:lpstr>Mesas de Servicio de Nueva Generación</vt:lpstr>
      <vt:lpstr>Evolución de las Mesas de Servicio</vt:lpstr>
      <vt:lpstr>Mesa tradicional vs. Mesa de Servicio de Nueva Generación (Next Gen) </vt:lpstr>
      <vt:lpstr>Presentación de PowerPoint</vt:lpstr>
      <vt:lpstr>Posicionamiento de Plataformas ITSM </vt:lpstr>
      <vt:lpstr>Brechas del mercado y oportunidades</vt:lpstr>
      <vt:lpstr>7 Tendencias que definen el mercado</vt:lpstr>
      <vt:lpstr>Presentación de PowerPoint</vt:lpstr>
      <vt:lpstr>Cómo compiten los líderes globales de Service Desk</vt:lpstr>
      <vt:lpstr>El Costo de No Evolucionar</vt:lpstr>
      <vt:lpstr>Visualización: Benchmarks de industria </vt:lpstr>
      <vt:lpstr>SLA vs. XLA 4 Capas de Reporte </vt:lpstr>
      <vt:lpstr>Agentic AI: Estado Real de Adopción 2025–2026</vt:lpstr>
      <vt:lpstr>Roadmap de madurez y barreras de adopción de la IA</vt:lpstr>
      <vt:lpstr>Presentación de PowerPoint</vt:lpstr>
      <vt:lpstr>Mesas de Servicio de Nueva Generación</vt:lpstr>
      <vt:lpstr>Mesas de Servicio Actuales</vt:lpstr>
      <vt:lpstr>Presentación de PowerPoint</vt:lpstr>
      <vt:lpstr>Mapa de Dolore por Categoría - 11 Mesas</vt:lpstr>
      <vt:lpstr>Presentación de PowerPoint</vt:lpstr>
      <vt:lpstr>Análisis Financiero: Costo USD / Ticket </vt:lpstr>
      <vt:lpstr>Análisis Financiero: Costo USD / Ticket — XM y Bancolombia vs Industria </vt:lpstr>
      <vt:lpstr>Distribución de Capacidad (FTE por Cliente) </vt:lpstr>
      <vt:lpstr>FTE por Mesa — Capacidad Instalada (57 FTE totales) </vt:lpstr>
      <vt:lpstr>MTTR por Mesa (horas) — Registro Julio 2026 vs Benchmarks </vt:lpstr>
      <vt:lpstr>Tickets por Mesa al Mes — Registro Julio 2026 </vt:lpstr>
      <vt:lpstr>Lo que nos dijeron — Voz directa de los líderes de mesa </vt:lpstr>
      <vt:lpstr>Mesas de Servicio Actuales</vt:lpstr>
      <vt:lpstr>Presentación de PowerPoint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846</cp:revision>
  <dcterms:modified xsi:type="dcterms:W3CDTF">2026-07-16T14:16:43Z</dcterms:modified>
</cp:coreProperties>
</file>