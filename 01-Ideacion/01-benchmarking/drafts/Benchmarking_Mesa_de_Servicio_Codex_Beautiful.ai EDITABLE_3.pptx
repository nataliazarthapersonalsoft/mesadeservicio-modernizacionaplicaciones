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c8754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58039ca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-45d3d75e1.png"/><Relationship Id="rId2" Type="http://schemas.openxmlformats.org/officeDocument/2006/relationships/image" Target="../media/image-11449f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6af1.png"/><Relationship Id="rId2" Type="http://schemas.openxmlformats.org/officeDocument/2006/relationships/image" Target="../media/image--42fdaf9e1.png"/><Relationship Id="rId3" Type="http://schemas.openxmlformats.org/officeDocument/2006/relationships/image" Target="../media/image-0fa498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-21da1.png"/><Relationship Id="rId2" Type="http://schemas.openxmlformats.org/officeDocument/2006/relationships/image" Target="../media/image-517ee1.png"/><Relationship Id="rId3" Type="http://schemas.openxmlformats.org/officeDocument/2006/relationships/image" Target="../media/image-400f81a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-12fa5fa1.png"/><Relationship Id="rId2" Type="http://schemas.openxmlformats.org/officeDocument/2006/relationships/image" Target="../media/image-3798c1.png"/><Relationship Id="rId3" Type="http://schemas.openxmlformats.org/officeDocument/2006/relationships/image" Target="../media/image--253adcde1.png"/><Relationship Id="rId4" Type="http://schemas.openxmlformats.org/officeDocument/2006/relationships/image" Target="../media/image--6127765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--168f1d9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age--7e0fef5e1.png"/><Relationship Id="rId2" Type="http://schemas.openxmlformats.org/officeDocument/2006/relationships/image" Target="../media/image--4e5f5a9e1.png"/><Relationship Id="rId3" Type="http://schemas.openxmlformats.org/officeDocument/2006/relationships/image" Target="../media/image--6f3091e1.png"/><Relationship Id="rId4" Type="http://schemas.openxmlformats.org/officeDocument/2006/relationships/image" Target="../media/image--6f539c1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image--27ecae1e1.png"/><Relationship Id="rId2" Type="http://schemas.openxmlformats.org/officeDocument/2006/relationships/image" Target="../media/image--5d7fdd1e1.png"/><Relationship Id="rId3" Type="http://schemas.openxmlformats.org/officeDocument/2006/relationships/image" Target="../media/image-2ab11f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" y="95250"/>
            <a:ext cx="4128249" cy="6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glowing central network node">    </p:cNvPr>
          <p:cNvPicPr>
            <a:picLocks noChangeAspect="1"/>
          </p:cNvPicPr>
          <p:nvPr/>
        </p:nvPicPr>
        <p:blipFill>
          <a:blip r:embed="rId1"/>
          <a:srcRect l="19042" r="19042" t="0" b="0"/>
          <a:stretch/>
        </p:blipFill>
        <p:spPr>
          <a:xfrm>
            <a:off x="95250" y="95250"/>
            <a:ext cx="4128249" cy="666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9749" y="1657796"/>
            <a:ext cx="7134225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1704"/>
              </a:lnSpc>
            </a:pPr>
            <a:r>
              <a:rPr lang="en-US" sz="1500" spc="-45" kern="0" dirty="0">
                <a:solidFill>
                  <a:srgbClr val="48DC92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Visión Estratégica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99749" y="2151162"/>
            <a:ext cx="6474172" cy="9465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3727"/>
              </a:lnSpc>
              <a:spcBef>
                <a:spcPts val="2138"/>
              </a:spcBef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Mesa de Servicio: El Corazón</a:t>
            </a:r>
            <a:b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de la Experiencia Digital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9749" y="3305175"/>
            <a:ext cx="7493585" cy="18969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 marL="241300" indent="-241300">
              <a:lnSpc>
                <a:spcPts val="1874"/>
              </a:lnSpc>
              <a:spcBef>
                <a:spcPts val="1602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spc="-49" kern="0" dirty="0">
                <a:solidFill>
                  <a:srgbClr val="333333"/>
                </a:solidFill>
                <a:latin typeface="Geist Black" pitchFamily="34" charset="0"/>
                <a:ea typeface="Geist Black" pitchFamily="34" charset="-122"/>
                <a:cs typeface="Geist Black" pitchFamily="34" charset="-120"/>
              </a:rPr>
              <a:t>El reto actual:</a:t>
            </a:r>
            <a:pPr fontAlgn="ctr" algn="l">
              <a:lnSpc>
                <a:spcPts val="1874"/>
              </a:lnSpc>
            </a:pP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 Superar el modelo reactivo tradicional de gestión de</a:t>
            </a:r>
            <a:b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tickets.</a:t>
            </a:r>
            <a:endParaRPr lang="en-US" dirty="0"/>
          </a:p>
          <a:p>
            <a:pPr fontAlgn="ctr" algn="l" marL="241300" indent="-241300">
              <a:lnSpc>
                <a:spcPts val="1874"/>
              </a:lnSpc>
              <a:spcBef>
                <a:spcPts val="1810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spc="-49" kern="0" dirty="0">
                <a:solidFill>
                  <a:srgbClr val="333333"/>
                </a:solidFill>
                <a:latin typeface="Geist Black" pitchFamily="34" charset="0"/>
                <a:ea typeface="Geist Black" pitchFamily="34" charset="-122"/>
                <a:cs typeface="Geist Black" pitchFamily="34" charset="-120"/>
              </a:rPr>
              <a:t>La visión:</a:t>
            </a:r>
            <a:pPr fontAlgn="ctr" algn="l">
              <a:lnSpc>
                <a:spcPts val="1874"/>
              </a:lnSpc>
            </a:pP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 Transición hacia un modelo proactivo impulsado por datos y</a:t>
            </a:r>
            <a:b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analítica.</a:t>
            </a:r>
            <a:endParaRPr lang="en-US" dirty="0"/>
          </a:p>
          <a:p>
            <a:pPr fontAlgn="ctr" algn="l" marL="241300" indent="-241300">
              <a:lnSpc>
                <a:spcPts val="1874"/>
              </a:lnSpc>
              <a:spcBef>
                <a:spcPts val="1810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spc="-49" kern="0" dirty="0">
                <a:solidFill>
                  <a:srgbClr val="333333"/>
                </a:solidFill>
                <a:latin typeface="Geist Black" pitchFamily="34" charset="0"/>
                <a:ea typeface="Geist Black" pitchFamily="34" charset="-122"/>
                <a:cs typeface="Geist Black" pitchFamily="34" charset="-120"/>
              </a:rPr>
              <a:t>Objetivo:</a:t>
            </a:r>
            <a:pPr fontAlgn="ctr" algn="l">
              <a:lnSpc>
                <a:spcPts val="1874"/>
              </a:lnSpc>
            </a:pP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 Maximizar la productividad operativa y la satisfacción del</a:t>
            </a:r>
            <a:b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colaborador en su entorno digital.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person smiling while providing assistance to a colleague in an office setti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9213" y="2179439"/>
            <a:ext cx="9553575" cy="15216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5991"/>
              </a:lnSpc>
            </a:pPr>
            <a:r>
              <a:rPr lang="en-US" sz="5625" spc="-338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El servicio al cliente no es un</a:t>
            </a:r>
            <a:br>
              <a:rPr lang="en-US" sz="5625" spc="-338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5625" spc="-338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departamento, es una actitud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985147" y="3944541"/>
            <a:ext cx="2221706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  <a:miter lim="800000"/>
          </a:ln>
        </p:spPr>
      </p:sp>
      <p:sp>
        <p:nvSpPr>
          <p:cNvPr id="6" name="Text 3"/>
          <p:cNvSpPr/>
          <p:nvPr/>
        </p:nvSpPr>
        <p:spPr>
          <a:xfrm>
            <a:off x="1509713" y="4382988"/>
            <a:ext cx="9172575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704"/>
              </a:lnSpc>
              <a:spcBef>
                <a:spcPts val="1914"/>
              </a:spcBef>
            </a:pPr>
            <a:r>
              <a:rPr lang="en-US" sz="1500" spc="-45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ANÓNIMO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El Estado Actual vs. La Nueva Generación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Identificando las brechas en la evolución del servicio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11239500" cy="464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-45d3d7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733550"/>
            <a:ext cx="11249025" cy="4657725"/>
          </a:xfrm>
          <a:prstGeom prst="rect">
            <a:avLst/>
          </a:prstGeom>
        </p:spPr>
      </p:pic>
      <p:pic>
        <p:nvPicPr>
          <p:cNvPr id="6" name="Image 1" descr="11449f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733550"/>
            <a:ext cx="11239500" cy="4648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733550"/>
            <a:ext cx="2727270" cy="143021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Característica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203520" y="1733550"/>
            <a:ext cx="3176266" cy="143021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Mesa Tradicional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379787" y="1733550"/>
            <a:ext cx="5335963" cy="143021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Nueva Generación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76250" y="3163765"/>
            <a:ext cx="2727270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Interacción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203520" y="3163765"/>
            <a:ext cx="3176266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Correo / Teléfono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379787" y="3163765"/>
            <a:ext cx="5335963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Omnicanal (Chat, IA, Self-Service)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4236427"/>
            <a:ext cx="2727270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Resolución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203520" y="4236427"/>
            <a:ext cx="3176266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Manual / Lenta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379787" y="4236427"/>
            <a:ext cx="5335963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Automatizada / Inmediata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76250" y="5309088"/>
            <a:ext cx="2727270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Enfoque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203520" y="5309088"/>
            <a:ext cx="3176266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Reparar equipos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379787" y="5309088"/>
            <a:ext cx="5335963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Habilitar personas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Los Tres Pilares de la Nueva Mesa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Fundamentos estratégicos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11239500" cy="695325"/>
          </a:xfrm>
          <a:prstGeom prst="rect">
            <a:avLst/>
          </a:prstGeom>
          <a:solidFill>
            <a:srgbClr val="48DC92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3382313" y="1963638"/>
            <a:ext cx="542737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74"/>
              </a:lnSpc>
            </a:pP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Arquitectura de Operaciones de Nueva Generación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2524125"/>
            <a:ext cx="3683000" cy="3067050"/>
          </a:xfrm>
          <a:prstGeom prst="rect">
            <a:avLst/>
          </a:prstGeom>
          <a:solidFill>
            <a:srgbClr val="4FC9E9"/>
          </a:solidFill>
          <a:ln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784225" y="3444627"/>
            <a:ext cx="3067050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74"/>
              </a:lnSpc>
              <a:spcBef>
                <a:spcPts val="1297"/>
              </a:spcBef>
            </a:pPr>
            <a:r>
              <a:rPr lang="en-US" sz="1650" spc="-49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Automatización Inteligente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0301" y="3767286"/>
            <a:ext cx="3234898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023"/>
              </a:lnSpc>
              <a:spcBef>
                <a:spcPts val="654"/>
              </a:spcBef>
            </a:pPr>
            <a: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Optimización de workflows para</a:t>
            </a:r>
            <a:b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tareas repetitivas y despliegues</a:t>
            </a:r>
            <a:b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automatizados que incrementan la</a:t>
            </a:r>
            <a:b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velocidad de resolución.</a:t>
            </a:r>
            <a:endParaRPr lang="en-US" dirty="0"/>
          </a:p>
        </p:txBody>
      </p:sp>
      <p:pic>
        <p:nvPicPr>
          <p:cNvPr id="9" name="Image 0" descr="6af886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135" y="2826394"/>
            <a:ext cx="485775" cy="4286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54500" y="2524125"/>
            <a:ext cx="3683000" cy="3067050"/>
          </a:xfrm>
          <a:prstGeom prst="rect">
            <a:avLst/>
          </a:prstGeom>
          <a:solidFill>
            <a:srgbClr val="66BAEC"/>
          </a:solidFill>
          <a:ln>
            <a:miter lim="800000"/>
          </a:ln>
        </p:spPr>
      </p:sp>
      <p:sp>
        <p:nvSpPr>
          <p:cNvPr id="11" name="Text 8"/>
          <p:cNvSpPr/>
          <p:nvPr/>
        </p:nvSpPr>
        <p:spPr>
          <a:xfrm>
            <a:off x="4429125" y="3444627"/>
            <a:ext cx="3333750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74"/>
              </a:lnSpc>
              <a:spcBef>
                <a:spcPts val="1297"/>
              </a:spcBef>
            </a:pPr>
            <a:r>
              <a:rPr lang="en-US" sz="1650" spc="-49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Inteligencia Artificial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332610" y="3767286"/>
            <a:ext cx="3526780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023"/>
              </a:lnSpc>
              <a:spcBef>
                <a:spcPts val="654"/>
              </a:spcBef>
            </a:pPr>
            <a: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Implementación avanzada de agentes</a:t>
            </a:r>
            <a:b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virtuales y análisis predictivo para la</a:t>
            </a:r>
            <a:b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detección y mitigación proactiva de</a:t>
            </a:r>
            <a:b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incidentes.</a:t>
            </a:r>
            <a:endParaRPr lang="en-US" dirty="0"/>
          </a:p>
        </p:txBody>
      </p:sp>
      <p:pic>
        <p:nvPicPr>
          <p:cNvPr id="13" name="Image 1" descr="-42fdaf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312" y="2804071"/>
            <a:ext cx="628650" cy="5238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32750" y="2524125"/>
            <a:ext cx="3683000" cy="3067050"/>
          </a:xfrm>
          <a:prstGeom prst="rect">
            <a:avLst/>
          </a:prstGeom>
          <a:solidFill>
            <a:srgbClr val="7CAAEE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202613" y="3412331"/>
            <a:ext cx="3343275" cy="2260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781"/>
              </a:lnSpc>
              <a:spcBef>
                <a:spcPts val="1232"/>
              </a:spcBef>
            </a:pPr>
            <a:r>
              <a:rPr lang="en-US" sz="1567" spc="-47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Autoservicio Guiado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103240" y="3718768"/>
            <a:ext cx="3542020" cy="9763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22"/>
              </a:lnSpc>
              <a:spcBef>
                <a:spcPts val="621"/>
              </a:spcBef>
            </a:pPr>
            <a:r>
              <a:rPr lang="en-US" sz="1425" spc="-57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Desarrollo de portales de conocimiento</a:t>
            </a:r>
            <a:br>
              <a:rPr lang="en-US" sz="1425" spc="-57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425" spc="-57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intuitivos que empoderan al usuario final</a:t>
            </a:r>
            <a:br>
              <a:rPr lang="en-US" sz="1425" spc="-57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425" spc="-57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y reducen la dependencia del soporte</a:t>
            </a:r>
            <a:br>
              <a:rPr lang="en-US" sz="1425" spc="-57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425" spc="-57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tradicional.</a:t>
            </a:r>
            <a:endParaRPr lang="en-US" dirty="0"/>
          </a:p>
        </p:txBody>
      </p:sp>
      <p:pic>
        <p:nvPicPr>
          <p:cNvPr id="17" name="Image 2" descr="0fa498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334" y="2809187"/>
            <a:ext cx="457200" cy="43815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6250" y="5686425"/>
            <a:ext cx="11239500" cy="695325"/>
          </a:xfrm>
          <a:prstGeom prst="rect">
            <a:avLst/>
          </a:prstGeom>
          <a:solidFill>
            <a:srgbClr val="48DC92"/>
          </a:solidFill>
          <a:ln>
            <a:miter lim="800000"/>
          </a:ln>
        </p:spPr>
      </p:sp>
      <p:sp>
        <p:nvSpPr>
          <p:cNvPr id="19" name="Text 14"/>
          <p:cNvSpPr/>
          <p:nvPr/>
        </p:nvSpPr>
        <p:spPr>
          <a:xfrm>
            <a:off x="1752600" y="5924996"/>
            <a:ext cx="868680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704"/>
              </a:lnSpc>
            </a:pPr>
            <a:r>
              <a:rPr lang="en-US" sz="1500" spc="-45" kern="0" dirty="0">
                <a:solidFill>
                  <a:srgbClr val="000000">
                    <a:alpha val="65000"/>
                  </a:srgbClr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TRANSFORMACIÓN HACIA LA EFICIENCIA OPERATIVA Y EL EMPODERAMIENTO DEL USUARIO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Ecosistema de la Nueva Mesa de Servicio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Arquitectura de alto nivel</a:t>
            </a:r>
            <a:endParaRPr lang="en-US" dirty="0"/>
          </a:p>
        </p:txBody>
      </p:sp>
      <p:pic>
        <p:nvPicPr>
          <p:cNvPr id="4" name="Image 0" descr="21da95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284" y="1733550"/>
            <a:ext cx="2085975" cy="14859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89020" y="1743075"/>
            <a:ext cx="6932295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</p:sp>
      <p:sp>
        <p:nvSpPr>
          <p:cNvPr id="6" name="Text 3"/>
          <p:cNvSpPr/>
          <p:nvPr/>
        </p:nvSpPr>
        <p:spPr>
          <a:xfrm>
            <a:off x="2315039" y="2244626"/>
            <a:ext cx="1604963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489156" y="2095946"/>
            <a:ext cx="6175028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04"/>
              </a:lnSpc>
            </a:pPr>
            <a:r>
              <a:rPr lang="en-US" sz="1500" spc="-4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Capa 1: Omni-canalidad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489156" y="2407146"/>
            <a:ext cx="6475675" cy="4625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21"/>
              </a:lnSpc>
              <a:spcBef>
                <a:spcPts val="732"/>
              </a:spcBef>
            </a:pPr>
            <a:r>
              <a:rPr lang="en-US" sz="1350" spc="-54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Puntos de contacto integrados: Microsoft Teams, Slack, Portal Web y Aplicación</a:t>
            </a:r>
            <a:br>
              <a:rPr lang="en-US" sz="1350" spc="-54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350" spc="-54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Móvil.</a:t>
            </a:r>
            <a:endParaRPr lang="en-US" dirty="0"/>
          </a:p>
        </p:txBody>
      </p:sp>
      <p:pic>
        <p:nvPicPr>
          <p:cNvPr id="9" name="Image 1" descr="517ee5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19" y="3276600"/>
            <a:ext cx="3657600" cy="14859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75785" y="3248025"/>
            <a:ext cx="6145530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</p:sp>
      <p:sp>
        <p:nvSpPr>
          <p:cNvPr id="11" name="Text 7"/>
          <p:cNvSpPr/>
          <p:nvPr/>
        </p:nvSpPr>
        <p:spPr>
          <a:xfrm>
            <a:off x="1528274" y="3787676"/>
            <a:ext cx="3178373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2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275921" y="3638996"/>
            <a:ext cx="5388173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04"/>
              </a:lnSpc>
            </a:pPr>
            <a:r>
              <a:rPr lang="en-US" sz="1500" spc="-4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Capa 2: Inteligencia Central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275921" y="3950196"/>
            <a:ext cx="5388173" cy="4625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21"/>
              </a:lnSpc>
              <a:spcBef>
                <a:spcPts val="732"/>
              </a:spcBef>
            </a:pPr>
            <a:r>
              <a:rPr lang="en-US" sz="1350" spc="-54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Núcleo compuesto por Motor de IA, Procesamiento de Lenguaje</a:t>
            </a:r>
            <a:br>
              <a:rPr lang="en-US" sz="1350" spc="-54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350" spc="-54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Natural (NLP) y Base de Conocimiento.</a:t>
            </a:r>
            <a:endParaRPr lang="en-US" dirty="0"/>
          </a:p>
        </p:txBody>
      </p:sp>
      <p:pic>
        <p:nvPicPr>
          <p:cNvPr id="14" name="Image 2" descr="400f81a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54" y="4819650"/>
            <a:ext cx="5229225" cy="14859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162550" y="4791075"/>
            <a:ext cx="5358765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</p:sp>
      <p:sp>
        <p:nvSpPr>
          <p:cNvPr id="16" name="Text 11"/>
          <p:cNvSpPr/>
          <p:nvPr/>
        </p:nvSpPr>
        <p:spPr>
          <a:xfrm>
            <a:off x="741509" y="5330726"/>
            <a:ext cx="4751933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3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062686" y="5182046"/>
            <a:ext cx="4601468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04"/>
              </a:lnSpc>
            </a:pPr>
            <a:r>
              <a:rPr lang="en-US" sz="1500" spc="-4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Capa 3: Automatización &amp; Backend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062686" y="5493246"/>
            <a:ext cx="4827210" cy="4625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21"/>
              </a:lnSpc>
              <a:spcBef>
                <a:spcPts val="732"/>
              </a:spcBef>
            </a:pPr>
            <a:r>
              <a:rPr lang="en-US" sz="1350" spc="-54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Ejecución técnica y orquestación mediante integración con</a:t>
            </a:r>
            <a:br>
              <a:rPr lang="en-US" sz="1350" spc="-54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350" spc="-54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ITSM, Cloud, APIs y Gestión de Identidad.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Automatización: Eliminando el Ruido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Más eficiencia, menos tickets</a:t>
            </a:r>
            <a:endParaRPr lang="en-US" dirty="0"/>
          </a:p>
        </p:txBody>
      </p:sp>
      <p:pic>
        <p:nvPicPr>
          <p:cNvPr id="4" name="Image 0" descr="12fa5f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765078"/>
            <a:ext cx="5715000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875" y="3277076"/>
            <a:ext cx="53340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45"/>
              </a:lnSpc>
            </a:pPr>
            <a:r>
              <a:rPr lang="en-US" sz="1800" spc="-54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Depuración de tickets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4088338"/>
            <a:ext cx="5334000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23"/>
              </a:lnSpc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Clasificación automática eficiente mediante el uso de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Procesamiento de Lenguaje Natural (NLP).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095625" y="252695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882FF"/>
            </a:solidFill>
            <a:prstDash val="solid"/>
            <a:miter lim="800000"/>
          </a:ln>
        </p:spPr>
      </p:sp>
      <p:pic>
        <p:nvPicPr>
          <p:cNvPr id="8" name="Image 1" descr="3798c2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480" y="2647876"/>
            <a:ext cx="314325" cy="266700"/>
          </a:xfrm>
          <a:prstGeom prst="rect">
            <a:avLst/>
          </a:prstGeom>
        </p:spPr>
      </p:pic>
      <p:pic>
        <p:nvPicPr>
          <p:cNvPr id="9" name="Image 2" descr="-253adc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0" y="2765078"/>
            <a:ext cx="5715000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34125" y="3277076"/>
            <a:ext cx="504825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45"/>
              </a:lnSpc>
            </a:pPr>
            <a:r>
              <a:rPr lang="en-US" sz="1800" spc="-54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Resolución de primer nivel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286500" y="4088338"/>
            <a:ext cx="5334000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23"/>
              </a:lnSpc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Implementación de bots para tareas rutinarias como el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restablecimiento de contraseñas y gestión de accesos.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8620125" y="252695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7CA78"/>
            </a:solidFill>
            <a:prstDash val="solid"/>
            <a:miter lim="800000"/>
          </a:ln>
        </p:spPr>
      </p:sp>
      <p:pic>
        <p:nvPicPr>
          <p:cNvPr id="13" name="Image 3" descr="-6127765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421" y="2642295"/>
            <a:ext cx="219075" cy="2476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5" name="Text 9"/>
          <p:cNvSpPr/>
          <p:nvPr/>
        </p:nvSpPr>
        <p:spPr>
          <a:xfrm>
            <a:off x="1343025" y="6378476"/>
            <a:ext cx="9505950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74"/>
              </a:lnSpc>
            </a:pP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Liberar tiempo del personal técnico para enfocarse en proyectos estratégicos de alto impacto.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Inteligencia Artificial y Análisis Predictivo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Anticiparse al problema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11239500" cy="392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-168f1d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543050"/>
            <a:ext cx="11620500" cy="4305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7" name="Text 4"/>
          <p:cNvSpPr/>
          <p:nvPr/>
        </p:nvSpPr>
        <p:spPr>
          <a:xfrm>
            <a:off x="823913" y="6378476"/>
            <a:ext cx="1054417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74"/>
              </a:lnSpc>
            </a:pP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La implementación de IA permite una transición hacia un modelo de servicio proactivo y basado en datos.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Enfoque en la Experiencia del Usuario (UX)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El usuario como centro del diseño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3075236"/>
            <a:ext cx="5238750" cy="19719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215"/>
              </a:lnSpc>
              <a:buClr>
                <a:srgbClr val="48dc92"/>
              </a:buClr>
              <a:buSzPct val="120000"/>
              <a:buChar char="•"/>
            </a:pPr>
            <a:r>
              <a:rPr lang="en-US" sz="1950" spc="-58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Omnicanalidad</a:t>
            </a:r>
            <a:endParaRPr lang="en-US" dirty="0"/>
          </a:p>
          <a:p>
            <a:pPr fontAlgn="ctr" algn="l" lvl="1" marL="241300" indent="0">
              <a:lnSpc>
                <a:spcPts val="2023"/>
              </a:lnSpc>
              <a:spcBef>
                <a:spcPts val="440"/>
              </a:spcBef>
              <a:buNone/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El usuario elige libremente cómo pedir ayuda a través de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múltiples canales como Teams, Slack, Web o Voz.</a:t>
            </a:r>
            <a:endParaRPr lang="en-US" dirty="0"/>
          </a:p>
          <a:p>
            <a:pPr fontAlgn="ctr" algn="l" marL="241300" indent="-241300">
              <a:lnSpc>
                <a:spcPts val="2215"/>
              </a:lnSpc>
              <a:spcBef>
                <a:spcPts val="2070"/>
              </a:spcBef>
              <a:buClr>
                <a:srgbClr val="48dc92"/>
              </a:buClr>
              <a:buSzPct val="120000"/>
              <a:buChar char="•"/>
            </a:pPr>
            <a:r>
              <a:rPr lang="en-US" sz="1950" spc="-58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Reducción de fricción</a:t>
            </a:r>
            <a:endParaRPr lang="en-US" dirty="0"/>
          </a:p>
          <a:p>
            <a:pPr fontAlgn="ctr" algn="l" lvl="1" marL="241300" indent="0">
              <a:lnSpc>
                <a:spcPts val="2023"/>
              </a:lnSpc>
              <a:spcBef>
                <a:spcPts val="440"/>
              </a:spcBef>
              <a:buNone/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Implementación de interfaces simples, rápidas y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accesibles para agilizar la interacción.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3075236"/>
            <a:ext cx="5238750" cy="8518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215"/>
              </a:lnSpc>
              <a:buClr>
                <a:srgbClr val="48dc92"/>
              </a:buClr>
              <a:buSzPct val="120000"/>
              <a:buChar char="•"/>
            </a:pPr>
            <a:r>
              <a:rPr lang="en-US" sz="1950" spc="-58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Empatía digital</a:t>
            </a:r>
            <a:endParaRPr lang="en-US" dirty="0"/>
          </a:p>
          <a:p>
            <a:pPr fontAlgn="ctr" algn="l" lvl="1" marL="241300" indent="0">
              <a:lnSpc>
                <a:spcPts val="2023"/>
              </a:lnSpc>
              <a:spcBef>
                <a:spcPts val="440"/>
              </a:spcBef>
              <a:buNone/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Comunicación clara, humana y cercana, incluso en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procesos automatizados.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Hoja de Ruta para la Transformación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Pasos hacia el éxito</a:t>
            </a:r>
            <a:endParaRPr lang="en-US" dirty="0"/>
          </a:p>
        </p:txBody>
      </p:sp>
      <p:pic>
        <p:nvPicPr>
          <p:cNvPr id="4" name="Image 0" descr="-7e0fef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43150"/>
            <a:ext cx="12192000" cy="3905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52850" y="3606552"/>
            <a:ext cx="1809750" cy="1838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448"/>
              </a:lnSpc>
            </a:pPr>
            <a:r>
              <a:rPr lang="en-US" sz="1275" spc="-38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Fase 1: Evaluación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52850" y="3875782"/>
            <a:ext cx="1814364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376"/>
              </a:lnSpc>
              <a:spcBef>
                <a:spcPts val="660"/>
              </a:spcBef>
            </a:pPr>
            <a: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Auditoría de procesos</a:t>
            </a:r>
            <a:b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actuales e identificación de</a:t>
            </a:r>
            <a:b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puntos de dolor.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200400" y="3276600"/>
            <a:ext cx="495300" cy="495300"/>
          </a:xfrm>
          <a:prstGeom prst="ellipse">
            <a:avLst/>
          </a:prstGeom>
          <a:solidFill>
            <a:srgbClr val="48DC92"/>
          </a:solidFill>
          <a:ln>
            <a:miter lim="800000"/>
          </a:ln>
        </p:spPr>
      </p:sp>
      <p:pic>
        <p:nvPicPr>
          <p:cNvPr id="8" name="Image 1" descr="-4e5f5a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746" y="3422674"/>
            <a:ext cx="285750" cy="209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77000" y="3387477"/>
            <a:ext cx="1809750" cy="36760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448"/>
              </a:lnSpc>
            </a:pPr>
            <a:r>
              <a:rPr lang="en-US" sz="1275" spc="-38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Fase 2:</a:t>
            </a:r>
            <a:br>
              <a:rPr lang="en-US" sz="1275" spc="-38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275" spc="-38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Implementación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477000" y="3840510"/>
            <a:ext cx="1809750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376"/>
              </a:lnSpc>
              <a:spcBef>
                <a:spcPts val="660"/>
              </a:spcBef>
            </a:pPr>
            <a: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Despliegue estratégico de</a:t>
            </a:r>
            <a:b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herramientas de IA y</a:t>
            </a:r>
            <a:b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portales de autogestión.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867400" y="4105275"/>
            <a:ext cx="495300" cy="495300"/>
          </a:xfrm>
          <a:prstGeom prst="ellipse">
            <a:avLst/>
          </a:prstGeom>
          <a:solidFill>
            <a:srgbClr val="48DC92"/>
          </a:solidFill>
          <a:ln>
            <a:miter lim="800000"/>
          </a:ln>
        </p:spPr>
      </p:sp>
      <p:pic>
        <p:nvPicPr>
          <p:cNvPr id="12" name="Image 2" descr="-6f309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062" y="4262959"/>
            <a:ext cx="238125" cy="1809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72575" y="4787652"/>
            <a:ext cx="1809750" cy="36760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448"/>
              </a:lnSpc>
            </a:pPr>
            <a:r>
              <a:rPr lang="en-US" sz="1275" spc="-38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Fase 3:</a:t>
            </a:r>
            <a:br>
              <a:rPr lang="en-US" sz="1275" spc="-38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275" spc="-38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Optimización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9172575" y="5240685"/>
            <a:ext cx="1843980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376"/>
              </a:lnSpc>
              <a:spcBef>
                <a:spcPts val="660"/>
              </a:spcBef>
            </a:pPr>
            <a: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Medición de KPIs clave:</a:t>
            </a:r>
            <a:b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CSAT, tasa de resolución y</a:t>
            </a:r>
            <a:b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020" spc="-41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tiempo medio de respuesta.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8543925" y="4724400"/>
            <a:ext cx="495300" cy="495300"/>
          </a:xfrm>
          <a:prstGeom prst="ellipse">
            <a:avLst/>
          </a:prstGeom>
          <a:solidFill>
            <a:srgbClr val="48DC92"/>
          </a:solidFill>
          <a:ln>
            <a:miter lim="800000"/>
          </a:ln>
        </p:spPr>
      </p:sp>
      <p:pic>
        <p:nvPicPr>
          <p:cNvPr id="16" name="Image 3" descr="-6f539c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902" y="4887887"/>
            <a:ext cx="20002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Resumen: El Camino a Seguir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Transformando la mesa de servicio hacia un modelo estratégico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476375" y="2265998"/>
            <a:ext cx="1428750" cy="1428750"/>
          </a:xfrm>
          <a:prstGeom prst="ellipse">
            <a:avLst/>
          </a:prstGeom>
          <a:solidFill>
            <a:srgbClr val="38D8E6"/>
          </a:solidFill>
          <a:ln>
            <a:miter lim="800000"/>
          </a:ln>
        </p:spPr>
      </p:sp>
      <p:pic>
        <p:nvPicPr>
          <p:cNvPr id="5" name="Image 0" descr="-27ecae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788" y="2649606"/>
            <a:ext cx="495300" cy="647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5775" y="3792379"/>
            <a:ext cx="340995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45"/>
              </a:lnSpc>
            </a:pPr>
            <a:r>
              <a:rPr lang="en-US" sz="1800" spc="-54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Evolución estratégica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83515" y="4132302"/>
            <a:ext cx="3614470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23"/>
              </a:lnSpc>
              <a:spcBef>
                <a:spcPts val="620"/>
              </a:spcBef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La mesa de servicio deja de ser solo un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soporte técnico para convertirse en un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facilitador de valor estratégico.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381625" y="2265998"/>
            <a:ext cx="1428750" cy="1428750"/>
          </a:xfrm>
          <a:prstGeom prst="ellipse">
            <a:avLst/>
          </a:prstGeom>
          <a:solidFill>
            <a:srgbClr val="66BAEC"/>
          </a:solidFill>
          <a:ln>
            <a:miter lim="800000"/>
          </a:ln>
        </p:spPr>
      </p:sp>
      <p:pic>
        <p:nvPicPr>
          <p:cNvPr id="9" name="Image 1" descr="-5d7fdd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650" y="2754250"/>
            <a:ext cx="752475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38650" y="3792379"/>
            <a:ext cx="33147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45"/>
              </a:lnSpc>
            </a:pPr>
            <a:r>
              <a:rPr lang="en-US" sz="1800" spc="-54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Enfoque en la experiencia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340632" y="4132302"/>
            <a:ext cx="3510736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23"/>
              </a:lnSpc>
              <a:spcBef>
                <a:spcPts val="620"/>
              </a:spcBef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El éxito se define a través de la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satisfacción del usuario, priorizando la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experiencia sobre los KPIs técnicos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tradicionales.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9286875" y="2265998"/>
            <a:ext cx="1428750" cy="1428750"/>
          </a:xfrm>
          <a:prstGeom prst="ellipse">
            <a:avLst/>
          </a:prstGeom>
          <a:solidFill>
            <a:srgbClr val="939BF1"/>
          </a:solidFill>
          <a:ln>
            <a:miter lim="800000"/>
          </a:ln>
        </p:spPr>
      </p:sp>
      <p:pic>
        <p:nvPicPr>
          <p:cNvPr id="13" name="Image 2" descr="2ab11f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130" y="2570073"/>
            <a:ext cx="609600" cy="7905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8026" y="3792379"/>
            <a:ext cx="3726448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45"/>
              </a:lnSpc>
            </a:pPr>
            <a:r>
              <a:rPr lang="en-US" sz="1800" spc="-54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Automatización y escalabilidad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8144872" y="4132302"/>
            <a:ext cx="3712756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23"/>
              </a:lnSpc>
              <a:spcBef>
                <a:spcPts val="620"/>
              </a:spcBef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El uso de IA permite gestionar mayores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volúmenes de demanda sin incrementar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los costos de manera lineal.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7" name="Text 12"/>
          <p:cNvSpPr/>
          <p:nvPr/>
        </p:nvSpPr>
        <p:spPr>
          <a:xfrm>
            <a:off x="1681163" y="6378476"/>
            <a:ext cx="882967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74"/>
              </a:lnSpc>
            </a:pP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¿Estamos listos para liderar la transformación? (Fuente: Gartner / ITSM Best Practices)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Beautiful.ai</cp:lastModifiedBy>
  <cp:revision>1</cp:revision>
  <dcterms:created xsi:type="dcterms:W3CDTF">2026-07-09T13:43:50Z</dcterms:created>
  <dcterms:modified xsi:type="dcterms:W3CDTF">2026-07-09T13:43:50Z</dcterms:modified>
</cp:coreProperties>
</file>