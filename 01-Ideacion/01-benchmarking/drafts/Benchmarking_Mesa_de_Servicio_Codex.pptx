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346aa8daa847dd" /><Relationship Type="http://schemas.openxmlformats.org/officeDocument/2006/relationships/extended-properties" Target="/docProps/app.xml" Id="R3ac310d8b9ef4003" /><Relationship Type="http://schemas.openxmlformats.org/officeDocument/2006/relationships/officeDocument" Target="/ppt/presentation.xml" Id="R9cb1cae93dc34c8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3b141b894e7404d"/>
  </p:sldMasterIdLst>
  <p:notesMasterIdLst>
    <p:notesMasterId xmlns:r="http://schemas.openxmlformats.org/officeDocument/2006/relationships" r:id="R83157c1561f14aa1"/>
  </p:notesMasterIdLst>
  <p:sldIdLst>
    <p:sldId xmlns:r="http://schemas.openxmlformats.org/officeDocument/2006/relationships" id="256" r:id="R90d09d8fa9004fc4"/>
    <p:sldId xmlns:r="http://schemas.openxmlformats.org/officeDocument/2006/relationships" id="257" r:id="R56d40abc9af04617"/>
    <p:sldId xmlns:r="http://schemas.openxmlformats.org/officeDocument/2006/relationships" id="258" r:id="R2e958b7cb91d4d06"/>
    <p:sldId xmlns:r="http://schemas.openxmlformats.org/officeDocument/2006/relationships" id="259" r:id="Rb6a58b959ae34dee"/>
    <p:sldId xmlns:r="http://schemas.openxmlformats.org/officeDocument/2006/relationships" id="260" r:id="Rff1bae1555cd4a6a"/>
    <p:sldId xmlns:r="http://schemas.openxmlformats.org/officeDocument/2006/relationships" id="261" r:id="R2cccb87e79b442f8"/>
    <p:sldId xmlns:r="http://schemas.openxmlformats.org/officeDocument/2006/relationships" id="262" r:id="R120398c55c8041c5"/>
    <p:sldId xmlns:r="http://schemas.openxmlformats.org/officeDocument/2006/relationships" id="263" r:id="R9e5cc6e1a6c04214"/>
    <p:sldId xmlns:r="http://schemas.openxmlformats.org/officeDocument/2006/relationships" id="264" r:id="R62f64c22f90242ae"/>
    <p:sldId xmlns:r="http://schemas.openxmlformats.org/officeDocument/2006/relationships" id="265" r:id="R6adbe9312db843b8"/>
    <p:sldId xmlns:r="http://schemas.openxmlformats.org/officeDocument/2006/relationships" id="266" r:id="R9cba2da358db48e8"/>
    <p:sldId xmlns:r="http://schemas.openxmlformats.org/officeDocument/2006/relationships" id="267" r:id="R78804df67a25487b"/>
    <p:sldId xmlns:r="http://schemas.openxmlformats.org/officeDocument/2006/relationships" id="268" r:id="R1b531eb5f2d145cd"/>
    <p:sldId xmlns:r="http://schemas.openxmlformats.org/officeDocument/2006/relationships" id="269" r:id="R24508ea101054f17"/>
    <p:sldId xmlns:r="http://schemas.openxmlformats.org/officeDocument/2006/relationships" id="270" r:id="R39e3aabb6f034aea"/>
    <p:sldId xmlns:r="http://schemas.openxmlformats.org/officeDocument/2006/relationships" id="271" r:id="R0a55a94b635d4259"/>
    <p:sldId xmlns:r="http://schemas.openxmlformats.org/officeDocument/2006/relationships" id="272" r:id="R1b82fefa3c0f492c"/>
    <p:sldId xmlns:r="http://schemas.openxmlformats.org/officeDocument/2006/relationships" id="273" r:id="R8b4868c61297471e"/>
    <p:sldId xmlns:r="http://schemas.openxmlformats.org/officeDocument/2006/relationships" id="274" r:id="R870bd5eb9a4a497e"/>
    <p:sldId xmlns:r="http://schemas.openxmlformats.org/officeDocument/2006/relationships" id="275" r:id="R4fab8bac305e4302"/>
    <p:sldId xmlns:r="http://schemas.openxmlformats.org/officeDocument/2006/relationships" id="276" r:id="R3a3b3b20abe740e0"/>
    <p:sldId xmlns:r="http://schemas.openxmlformats.org/officeDocument/2006/relationships" id="277" r:id="R5f20c9d3da0e4f6f"/>
    <p:sldId xmlns:r="http://schemas.openxmlformats.org/officeDocument/2006/relationships" id="278" r:id="Rb954ec8383864ebb"/>
    <p:sldId xmlns:r="http://schemas.openxmlformats.org/officeDocument/2006/relationships" id="279" r:id="R685b142f0bdc46c2"/>
    <p:sldId xmlns:r="http://schemas.openxmlformats.org/officeDocument/2006/relationships" id="280" r:id="Rd3e8c62f508a41b6"/>
  </p:sldIdLst>
  <p:sldSz cx="9144000" cy="5143500"/>
  <p:notesSz cx="6858000" cy="9144000"/>
  <p:embeddedFontLst>
    <p:embeddedFont>
      <p:font typeface="Reddit Sans"/>
      <p:regular xmlns:r="http://schemas.openxmlformats.org/officeDocument/2006/relationships" r:id="R22873cedb0984f3a"/>
      <p:bold xmlns:r="http://schemas.openxmlformats.org/officeDocument/2006/relationships" r:id="R679a24505353442d"/>
      <p:italic xmlns:r="http://schemas.openxmlformats.org/officeDocument/2006/relationships" r:id="R3d706498459444ca"/>
      <p:boldItalic xmlns:r="http://schemas.openxmlformats.org/officeDocument/2006/relationships" r:id="R8c3dd20cde26446c"/>
    </p:embeddedFont>
    <p:embeddedFont>
      <p:font typeface="Reddit Sans Medium"/>
      <p:regular xmlns:r="http://schemas.openxmlformats.org/officeDocument/2006/relationships" r:id="Rc00e45046a574459"/>
      <p:bold xmlns:r="http://schemas.openxmlformats.org/officeDocument/2006/relationships" r:id="Re923f0e6a92d4bdd"/>
      <p:italic xmlns:r="http://schemas.openxmlformats.org/officeDocument/2006/relationships" r:id="Reef8ab7e50764835"/>
      <p:boldItalic xmlns:r="http://schemas.openxmlformats.org/officeDocument/2006/relationships" r:id="R1572265f69c24054"/>
    </p:embeddedFont>
    <p:embeddedFont>
      <p:font typeface="Reddit Sans SemiBold"/>
      <p:regular xmlns:r="http://schemas.openxmlformats.org/officeDocument/2006/relationships" r:id="Rce9cc79254064a49"/>
      <p:bold xmlns:r="http://schemas.openxmlformats.org/officeDocument/2006/relationships" r:id="Rbf5b864fa639475e"/>
      <p:italic xmlns:r="http://schemas.openxmlformats.org/officeDocument/2006/relationships" r:id="R597437fe49584039"/>
      <p:boldItalic xmlns:r="http://schemas.openxmlformats.org/officeDocument/2006/relationships" r:id="R781bf77b21074d68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63744aa784899" /><Relationship Type="http://schemas.openxmlformats.org/officeDocument/2006/relationships/slideMaster" Target="/ppt/slideMasters/slideMaster1.xml" Id="R43b141b894e7404d" /><Relationship Type="http://schemas.openxmlformats.org/officeDocument/2006/relationships/notesMaster" Target="/ppt/notesMasters/notesMaster1.xml" Id="R83157c1561f14aa1" /><Relationship Type="http://schemas.openxmlformats.org/officeDocument/2006/relationships/presProps" Target="/ppt/presProps.xml" Id="Rbed239f163764acc" /><Relationship Type="http://schemas.openxmlformats.org/officeDocument/2006/relationships/tableStyles" Target="/ppt/tableStyles.xml" Id="R1c36e2f5b0a34da5" /><Relationship Type="http://schemas.openxmlformats.org/officeDocument/2006/relationships/font" Target="/ppt/fonts/font.dat" Id="R22873cedb0984f3a" /><Relationship Type="http://schemas.openxmlformats.org/officeDocument/2006/relationships/font" Target="/ppt/fonts/font2.dat" Id="R679a24505353442d" /><Relationship Type="http://schemas.openxmlformats.org/officeDocument/2006/relationships/font" Target="/ppt/fonts/font3.dat" Id="R3d706498459444ca" /><Relationship Type="http://schemas.openxmlformats.org/officeDocument/2006/relationships/font" Target="/ppt/fonts/font4.dat" Id="R8c3dd20cde26446c" /><Relationship Type="http://schemas.openxmlformats.org/officeDocument/2006/relationships/font" Target="/ppt/fonts/font5.dat" Id="Rc00e45046a574459" /><Relationship Type="http://schemas.openxmlformats.org/officeDocument/2006/relationships/font" Target="/ppt/fonts/font6.dat" Id="Re923f0e6a92d4bdd" /><Relationship Type="http://schemas.openxmlformats.org/officeDocument/2006/relationships/font" Target="/ppt/fonts/font7.dat" Id="Reef8ab7e50764835" /><Relationship Type="http://schemas.openxmlformats.org/officeDocument/2006/relationships/font" Target="/ppt/fonts/font8.dat" Id="R1572265f69c24054" /><Relationship Type="http://schemas.openxmlformats.org/officeDocument/2006/relationships/font" Target="/ppt/fonts/font9.dat" Id="Rce9cc79254064a49" /><Relationship Type="http://schemas.openxmlformats.org/officeDocument/2006/relationships/font" Target="/ppt/fonts/font10.dat" Id="Rbf5b864fa639475e" /><Relationship Type="http://schemas.openxmlformats.org/officeDocument/2006/relationships/font" Target="/ppt/fonts/font11.dat" Id="R597437fe49584039" /><Relationship Type="http://schemas.openxmlformats.org/officeDocument/2006/relationships/font" Target="/ppt/fonts/font12.dat" Id="R781bf77b21074d68" /><Relationship Type="http://schemas.openxmlformats.org/officeDocument/2006/relationships/slide" Target="/ppt/slides/slide1.xml" Id="R90d09d8fa9004fc4" /><Relationship Type="http://schemas.openxmlformats.org/officeDocument/2006/relationships/slide" Target="/ppt/slides/slide2.xml" Id="R56d40abc9af04617" /><Relationship Type="http://schemas.openxmlformats.org/officeDocument/2006/relationships/slide" Target="/ppt/slides/slide3.xml" Id="R2e958b7cb91d4d06" /><Relationship Type="http://schemas.openxmlformats.org/officeDocument/2006/relationships/slide" Target="/ppt/slides/slide4.xml" Id="Rb6a58b959ae34dee" /><Relationship Type="http://schemas.openxmlformats.org/officeDocument/2006/relationships/slide" Target="/ppt/slides/slide5.xml" Id="Rff1bae1555cd4a6a" /><Relationship Type="http://schemas.openxmlformats.org/officeDocument/2006/relationships/slide" Target="/ppt/slides/slide6.xml" Id="R2cccb87e79b442f8" /><Relationship Type="http://schemas.openxmlformats.org/officeDocument/2006/relationships/slide" Target="/ppt/slides/slide7.xml" Id="R120398c55c8041c5" /><Relationship Type="http://schemas.openxmlformats.org/officeDocument/2006/relationships/slide" Target="/ppt/slides/slide8.xml" Id="R9e5cc6e1a6c04214" /><Relationship Type="http://schemas.openxmlformats.org/officeDocument/2006/relationships/slide" Target="/ppt/slides/slide9.xml" Id="R62f64c22f90242ae" /><Relationship Type="http://schemas.openxmlformats.org/officeDocument/2006/relationships/slide" Target="/ppt/slides/slide10.xml" Id="R6adbe9312db843b8" /><Relationship Type="http://schemas.openxmlformats.org/officeDocument/2006/relationships/slide" Target="/ppt/slides/slide11.xml" Id="R9cba2da358db48e8" /><Relationship Type="http://schemas.openxmlformats.org/officeDocument/2006/relationships/slide" Target="/ppt/slides/slide12.xml" Id="R78804df67a25487b" /><Relationship Type="http://schemas.openxmlformats.org/officeDocument/2006/relationships/slide" Target="/ppt/slides/slide13.xml" Id="R1b531eb5f2d145cd" /><Relationship Type="http://schemas.openxmlformats.org/officeDocument/2006/relationships/slide" Target="/ppt/slides/slide14.xml" Id="R24508ea101054f17" /><Relationship Type="http://schemas.openxmlformats.org/officeDocument/2006/relationships/slide" Target="/ppt/slides/slide15.xml" Id="R39e3aabb6f034aea" /><Relationship Type="http://schemas.openxmlformats.org/officeDocument/2006/relationships/slide" Target="/ppt/slides/slide16.xml" Id="R0a55a94b635d4259" /><Relationship Type="http://schemas.openxmlformats.org/officeDocument/2006/relationships/slide" Target="/ppt/slides/slide17.xml" Id="R1b82fefa3c0f492c" /><Relationship Type="http://schemas.openxmlformats.org/officeDocument/2006/relationships/slide" Target="/ppt/slides/slide18.xml" Id="R8b4868c61297471e" /><Relationship Type="http://schemas.openxmlformats.org/officeDocument/2006/relationships/slide" Target="/ppt/slides/slide19.xml" Id="R870bd5eb9a4a497e" /><Relationship Type="http://schemas.openxmlformats.org/officeDocument/2006/relationships/slide" Target="/ppt/slides/slide20.xml" Id="R4fab8bac305e4302" /><Relationship Type="http://schemas.openxmlformats.org/officeDocument/2006/relationships/slide" Target="/ppt/slides/slide21.xml" Id="R3a3b3b20abe740e0" /><Relationship Type="http://schemas.openxmlformats.org/officeDocument/2006/relationships/slide" Target="/ppt/slides/slide22.xml" Id="R5f20c9d3da0e4f6f" /><Relationship Type="http://schemas.openxmlformats.org/officeDocument/2006/relationships/slide" Target="/ppt/slides/slide23.xml" Id="Rb954ec8383864ebb" /><Relationship Type="http://schemas.openxmlformats.org/officeDocument/2006/relationships/slide" Target="/ppt/slides/slide24.xml" Id="R685b142f0bdc46c2" /><Relationship Type="http://schemas.openxmlformats.org/officeDocument/2006/relationships/slide" Target="/ppt/slides/slide25.xml" Id="Rd3e8c62f508a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9428b5f59945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7699b05b240cb" /><Relationship Type="http://schemas.openxmlformats.org/officeDocument/2006/relationships/notesMaster" Target="/ppt/notesMasters/notesMaster1.xml" Id="Rc4d0179dba6b41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32389cbbc4aac" /><Relationship Type="http://schemas.openxmlformats.org/officeDocument/2006/relationships/notesMaster" Target="/ppt/notesMasters/notesMaster1.xml" Id="R1db66ed3e92a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7fe7dfa37b4f34" /><Relationship Type="http://schemas.openxmlformats.org/officeDocument/2006/relationships/notesMaster" Target="/ppt/notesMasters/notesMaster1.xml" Id="Recf00793d4cb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864d51b40e4620" /><Relationship Type="http://schemas.openxmlformats.org/officeDocument/2006/relationships/notesMaster" Target="/ppt/notesMasters/notesMaster1.xml" Id="R19c308a8896e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01720b0294ea9" /><Relationship Type="http://schemas.openxmlformats.org/officeDocument/2006/relationships/notesMaster" Target="/ppt/notesMasters/notesMaster1.xml" Id="R7db6a4210ea744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4e1480d25e40af" /><Relationship Type="http://schemas.openxmlformats.org/officeDocument/2006/relationships/notesMaster" Target="/ppt/notesMasters/notesMaster1.xml" Id="R8fc9c1f4c28b42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544ab511224fa4" /><Relationship Type="http://schemas.openxmlformats.org/officeDocument/2006/relationships/notesMaster" Target="/ppt/notesMasters/notesMaster1.xml" Id="R5ae37d4953694d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323907466f4d82" /><Relationship Type="http://schemas.openxmlformats.org/officeDocument/2006/relationships/notesMaster" Target="/ppt/notesMasters/notesMaster1.xml" Id="R18c0d92fe7f74a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e33382dec9493c" /><Relationship Type="http://schemas.openxmlformats.org/officeDocument/2006/relationships/notesMaster" Target="/ppt/notesMasters/notesMaster1.xml" Id="R7ef10373c99641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9b08610be845a6" /><Relationship Type="http://schemas.openxmlformats.org/officeDocument/2006/relationships/notesMaster" Target="/ppt/notesMasters/notesMaster1.xml" Id="Rd286f218dc5946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8cf996e7724631" /><Relationship Type="http://schemas.openxmlformats.org/officeDocument/2006/relationships/notesMaster" Target="/ppt/notesMasters/notesMaster1.xml" Id="R472de865084545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0b736d4e264b3a" /><Relationship Type="http://schemas.openxmlformats.org/officeDocument/2006/relationships/notesMaster" Target="/ppt/notesMasters/notesMaster1.xml" Id="R18b118d1ae7146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7bd82ca55d48c7" /><Relationship Type="http://schemas.openxmlformats.org/officeDocument/2006/relationships/notesMaster" Target="/ppt/notesMasters/notesMaster1.xml" Id="Ra11c5898fc3c47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b70796585d4cac" /><Relationship Type="http://schemas.openxmlformats.org/officeDocument/2006/relationships/notesMaster" Target="/ppt/notesMasters/notesMaster1.xml" Id="Rdeb8d3a8a8054d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c658334a0b4d53" /><Relationship Type="http://schemas.openxmlformats.org/officeDocument/2006/relationships/notesMaster" Target="/ppt/notesMasters/notesMaster1.xml" Id="R96fdc9cb2ac44c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6a8d556f3b4b9a" /><Relationship Type="http://schemas.openxmlformats.org/officeDocument/2006/relationships/notesMaster" Target="/ppt/notesMasters/notesMaster1.xml" Id="R6815fab6779f49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d95624112e41b6" /><Relationship Type="http://schemas.openxmlformats.org/officeDocument/2006/relationships/notesMaster" Target="/ppt/notesMasters/notesMaster1.xml" Id="Rc732d4b1ade340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bb77d276cd4d33" /><Relationship Type="http://schemas.openxmlformats.org/officeDocument/2006/relationships/notesMaster" Target="/ppt/notesMasters/notesMaster1.xml" Id="Ra981ace132ad43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d80068fd7e4598" /><Relationship Type="http://schemas.openxmlformats.org/officeDocument/2006/relationships/notesMaster" Target="/ppt/notesMasters/notesMaster1.xml" Id="Rb9df73cb59084e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14d29b922347d0" /><Relationship Type="http://schemas.openxmlformats.org/officeDocument/2006/relationships/notesMaster" Target="/ppt/notesMasters/notesMaster1.xml" Id="Rfb3e34b4a8cf45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6703dfaed54a0d" /><Relationship Type="http://schemas.openxmlformats.org/officeDocument/2006/relationships/notesMaster" Target="/ppt/notesMasters/notesMaster1.xml" Id="Rb64a4c2276bd4c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97267a87234b48" /><Relationship Type="http://schemas.openxmlformats.org/officeDocument/2006/relationships/notesMaster" Target="/ppt/notesMasters/notesMaster1.xml" Id="R051755978f8f4e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e396f17e834e3e" /><Relationship Type="http://schemas.openxmlformats.org/officeDocument/2006/relationships/notesMaster" Target="/ppt/notesMasters/notesMaster1.xml" Id="R1208b18beb4542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6b65dbda1c4f4b" /><Relationship Type="http://schemas.openxmlformats.org/officeDocument/2006/relationships/notesMaster" Target="/ppt/notesMasters/notesMaster1.xml" Id="R32ae1079a2594e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0baec9764804199" /><Relationship Type="http://schemas.openxmlformats.org/officeDocument/2006/relationships/notesMaster" Target="/ppt/notesMasters/notesMaster1.xml" Id="R55b05b6b63b343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AIOps: es la </a:t>
            </a:r>
            <a:r>
              <a:t>aplicación</a:t>
            </a:r>
            <a:r>
              <a:t> de </a:t>
            </a:r>
            <a:r>
              <a:t>inteligencia</a:t>
            </a:r>
            <a:r>
              <a:t> artificial y machine learning para </a:t>
            </a:r>
            <a:r>
              <a:t>automatizar</a:t>
            </a:r>
            <a:r>
              <a:t>, </a:t>
            </a:r>
            <a:r>
              <a:t>optimizar</a:t>
            </a:r>
            <a:r>
              <a:t> y </a:t>
            </a:r>
            <a:r>
              <a:t>mejorar</a:t>
            </a:r>
            <a:r>
              <a:t> las </a:t>
            </a:r>
            <a:r>
              <a:t>operaciones</a:t>
            </a:r>
            <a:r>
              <a:t> de TI.</a:t>
            </a:r>
          </a:p>
          <a:p xmlns:a="http://schemas.openxmlformats.org/drawingml/2006/main">
            <a:pPr>
              <a:buNone/>
            </a:pPr>
            <a:r>
              <a:rPr>
                <a:highlight>
                  <a:srgbClr val="FFFFFF"/>
                </a:highlight>
              </a:rPr>
              <a:t>El Bus Factor: </a:t>
            </a:r>
            <a:r>
              <a:rPr>
                <a:highlight>
                  <a:srgbClr val="FFFFFF"/>
                </a:highlight>
              </a:rPr>
              <a:t>mide</a:t>
            </a:r>
            <a:r>
              <a:rPr>
                <a:highlight>
                  <a:srgbClr val="FFFFFF"/>
                </a:highlight>
              </a:rPr>
              <a:t> </a:t>
            </a:r>
            <a:r>
              <a:rPr>
                <a:highlight>
                  <a:srgbClr val="FFFFFF"/>
                </a:highlight>
              </a:rPr>
              <a:t>cuántas</a:t>
            </a:r>
            <a:r>
              <a:rPr>
                <a:highlight>
                  <a:srgbClr val="FFFFFF"/>
                </a:highlight>
              </a:rPr>
              <a:t> personas </a:t>
            </a:r>
            <a:r>
              <a:rPr>
                <a:highlight>
                  <a:srgbClr val="FFFFFF"/>
                </a:highlight>
              </a:rPr>
              <a:t>tendrían</a:t>
            </a:r>
            <a:r>
              <a:rPr>
                <a:highlight>
                  <a:srgbClr val="FFFFFF"/>
                </a:highlight>
              </a:rPr>
              <a:t> </a:t>
            </a:r>
            <a:r>
              <a:rPr>
                <a:highlight>
                  <a:srgbClr val="FFFFFF"/>
                </a:highlight>
              </a:rPr>
              <a:t>que</a:t>
            </a:r>
            <a:r>
              <a:rPr>
                <a:highlight>
                  <a:srgbClr val="FFFFFF"/>
                </a:highlight>
              </a:rPr>
              <a:t> </a:t>
            </a:r>
            <a:r>
              <a:rPr>
                <a:highlight>
                  <a:srgbClr val="FFFFFF"/>
                </a:highlight>
              </a:rPr>
              <a:t>salir</a:t>
            </a:r>
            <a:r>
              <a:rPr>
                <a:highlight>
                  <a:srgbClr val="FFFFFF"/>
                </a:highlight>
              </a:rPr>
              <a:t> </a:t>
            </a:r>
            <a:r>
              <a:rPr>
                <a:highlight>
                  <a:srgbClr val="FFFFFF"/>
                </a:highlight>
              </a:rPr>
              <a:t>mañana</a:t>
            </a:r>
            <a:r>
              <a:rPr>
                <a:highlight>
                  <a:srgbClr val="FFFFFF"/>
                </a:highlight>
              </a:rPr>
              <a:t> para </a:t>
            </a:r>
            <a:r>
              <a:rPr>
                <a:highlight>
                  <a:srgbClr val="FFFFFF"/>
                </a:highlight>
              </a:rPr>
              <a:t>que</a:t>
            </a:r>
            <a:r>
              <a:rPr>
                <a:highlight>
                  <a:srgbClr val="FFFFFF"/>
                </a:highlight>
              </a:rPr>
              <a:t> un </a:t>
            </a:r>
            <a:r>
              <a:rPr>
                <a:highlight>
                  <a:srgbClr val="FFFFFF"/>
                </a:highlight>
              </a:rPr>
              <a:t>proceso</a:t>
            </a:r>
            <a:r>
              <a:rPr>
                <a:highlight>
                  <a:srgbClr val="FFFFFF"/>
                </a:highlight>
              </a:rPr>
              <a:t> </a:t>
            </a:r>
            <a:r>
              <a:rPr>
                <a:highlight>
                  <a:srgbClr val="FFFFFF"/>
                </a:highlight>
              </a:rPr>
              <a:t>crítico</a:t>
            </a:r>
            <a:r>
              <a:rPr>
                <a:highlight>
                  <a:srgbClr val="FFFFFF"/>
                </a:highlight>
              </a:rPr>
              <a:t> </a:t>
            </a:r>
            <a:r>
              <a:rPr>
                <a:highlight>
                  <a:srgbClr val="FFFFFF"/>
                </a:highlight>
              </a:rPr>
              <a:t>colapse</a:t>
            </a:r>
            <a:r>
              <a:rPr>
                <a:highlight>
                  <a:srgbClr val="FFFFFF"/>
                </a:highlight>
              </a:rPr>
              <a:t>. Bus factor alto = </a:t>
            </a:r>
            <a:r>
              <a:rPr>
                <a:highlight>
                  <a:srgbClr val="FFFFFF"/>
                </a:highlight>
              </a:rPr>
              <a:t>riesgo</a:t>
            </a:r>
            <a:r>
              <a:rPr>
                <a:highlight>
                  <a:srgbClr val="FFFFFF"/>
                </a:highlight>
              </a:rPr>
              <a:t> </a:t>
            </a:r>
            <a:r>
              <a:rPr>
                <a:highlight>
                  <a:srgbClr val="FFFFFF"/>
                </a:highlight>
              </a:rPr>
              <a:t>operativo</a:t>
            </a:r>
            <a:r>
              <a:rPr>
                <a:highlight>
                  <a:srgbClr val="FFFFFF"/>
                </a:highlight>
              </a:rPr>
              <a:t> alto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8750" indent="0">
              <a:buNone/>
            </a:pPr>
            <a:r>
              <a:rPr sz="1100" b="0" i="0" u="none" cap="none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ITSM (Gestión de Servicios de TI) es el </a:t>
            </a:r>
            <a:r>
              <a:rPr>
                <a:latin typeface="Reddit Sans"/>
                <a:ea typeface="Reddit Sans"/>
                <a:cs typeface="Reddit Sans"/>
              </a:rPr>
              <a:t>enfoque estratégico para diseñar, entregar, gestionar y mejorar los servicios tecnológicos que una empresa ofrece.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rgbClr val="191919"/>
                </a:solidFill>
                <a:highlight>
                  <a:srgbClr val="F8F4F1"/>
                </a:highlight>
                <a:hlinkClick xmlns:r="http://schemas.openxmlformats.org/officeDocument/2006/relationships" r:id="Rc93a631eca1c4cb4"/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rgbClr val="191919"/>
                </a:solidFill>
                <a:highlight>
                  <a:srgbClr val="F8F4F1"/>
                </a:highlight>
                <a:hlinkClick xmlns:r="http://schemas.openxmlformats.org/officeDocument/2006/relationships" r:id="Rffc727b2ab2e4811"/>
              </a:rPr>
              <a:t>Shift-left para la Mesa de servicios de TI es el movimiento del soporte de TI más cerca de la primera línea operativa y el usuario/cliente 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0d631405b45c9" /><Relationship Type="http://schemas.openxmlformats.org/officeDocument/2006/relationships/image" Target="/ppt/media/image.jpeg" Id="R604f9dacae6e4714" /><Relationship Type="http://schemas.openxmlformats.org/officeDocument/2006/relationships/image" Target="/ppt/media/image.png" Id="R40051bd2d9cf44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82e08c7e34da0" /><Relationship Type="http://schemas.openxmlformats.org/officeDocument/2006/relationships/image" Target="/ppt/media/image2.png" Id="Rf013372081154a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3723dc1e942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2fa657dc841e2" /><Relationship Type="http://schemas.openxmlformats.org/officeDocument/2006/relationships/image" Target="/ppt/media/image3.png" Id="R458d431834d54f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bebd6b4804601" /><Relationship Type="http://schemas.openxmlformats.org/officeDocument/2006/relationships/image" Target="/ppt/media/image4.png" Id="R97a34bca6b4745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1278bfe584e82" /><Relationship Type="http://schemas.openxmlformats.org/officeDocument/2006/relationships/image" Target="/ppt/media/image4.png" Id="R3a39834ab9c347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90355f362434f" /><Relationship Type="http://schemas.openxmlformats.org/officeDocument/2006/relationships/image" Target="/ppt/media/image4.png" Id="R1ab832c9bcd142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def06872f4b38" /><Relationship Type="http://schemas.openxmlformats.org/officeDocument/2006/relationships/image" Target="/ppt/media/image5.png" Id="R8ecef3604fdf4028" /><Relationship Type="http://schemas.openxmlformats.org/officeDocument/2006/relationships/image" Target="/ppt/media/image6.png" Id="R3819f9618fdc459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19fd32f054ad2" /><Relationship Type="http://schemas.openxmlformats.org/officeDocument/2006/relationships/image" Target="/ppt/media/image5.png" Id="R415a749061ee4f27" /><Relationship Type="http://schemas.openxmlformats.org/officeDocument/2006/relationships/image" Target="/ppt/media/image.png" Id="Rfb24668579fc41e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9d0dec81849f2" /><Relationship Type="http://schemas.openxmlformats.org/officeDocument/2006/relationships/image" Target="/ppt/media/image4.png" Id="R1b8cf510f8bb4f8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d453d238e4484" /></Relationships>
</file>

<file path=ppt/slideLayouts/slideLayout1.xml><?xml version="1.0" encoding="utf-8"?>
<p:sldLayout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7;g37e80574407_0_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4f9dacae6e4714">
            <a:alphaModFix/>
          </a:blip>
          <a:srcRect xmlns:a="http://schemas.openxmlformats.org/drawingml/2006/main" l="0" t="219" r="0" b="209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" name="Google Shape;18;g37e80574407_0_7">
            <a:extLst xmlns:a="http://schemas.openxmlformats.org/drawingml/2006/main"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sp>
        <p:nvSpPr>
          <p:cNvPr id="19" name="Google Shape;19;g37e80574407_0_7">
            <a:extLst xmlns:a="http://schemas.openxmlformats.org/drawingml/2006/main"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25" y="442300"/>
            <a:ext cx="919500" cy="2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" name="Google Shape;20;g37e80574407_0_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51bd2d9cf44c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998" y="4438648"/>
            <a:ext cx="1770700" cy="1704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" name="Google Shape;21;g37e80574407_0_7">
            <a:extLst xmlns:a="http://schemas.openxmlformats.org/drawingml/2006/main"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07875" y="1827750"/>
            <a:ext cx="8536500" cy="1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 xmlns:a="http://schemas.openxmlformats.org/drawingml/2006/main"/>
        </p:txBody>
      </p:sp>
      <p:sp>
        <p:nvSpPr>
          <p:cNvPr id="22" name="Google Shape;22;g37e80574407_0_7">
            <a:extLst xmlns:a="http://schemas.openxmlformats.org/drawingml/2006/main"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5600" y="3424775"/>
            <a:ext cx="84789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g37e80574407_0_46">
            <a:extLst xmlns:a="http://schemas.openxmlformats.org/drawingml/2006/main"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sp>
        <p:nvSpPr>
          <p:cNvPr id="43" name="Google Shape;43;g37e80574407_0_46">
            <a:extLst xmlns:a="http://schemas.openxmlformats.org/drawingml/2006/main"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25" y="442300"/>
            <a:ext cx="919500" cy="2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4" name="Google Shape;44;g37e80574407_0_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3372081154a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000" y="4540953"/>
            <a:ext cx="540000" cy="27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Google Shape;45;g37e80574407_0_46">
            <a:extLst xmlns:a="http://schemas.openxmlformats.org/drawingml/2006/main"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07875" y="1827750"/>
            <a:ext cx="8536500" cy="1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6" name="Google Shape;46;g37e80574407_0_46">
            <a:extLst xmlns:a="http://schemas.openxmlformats.org/drawingml/2006/main"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5600" y="3424775"/>
            <a:ext cx="84789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350" y="494725"/>
            <a:ext cx="5567400" cy="19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11">
            <a:extLst xmlns:a="http://schemas.openxmlformats.org/drawingml/2006/main"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2815250"/>
            <a:ext cx="5666700" cy="139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" name="Google Shape;50;p11">
            <a:extLst xmlns:a="http://schemas.openxmlformats.org/drawingml/2006/main"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Main point">
  <p:cSld name="MAIN_POINT">
    <p:bg>
      <p:bgPr>
        <a:solidFill xmlns:a="http://schemas.openxmlformats.org/drawingml/2006/main">
          <a:srgbClr val="0072B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12">
            <a:extLst xmlns:a="http://schemas.openxmlformats.org/drawingml/2006/main"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6750" y="1267200"/>
            <a:ext cx="8135700" cy="260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pic>
        <p:nvPicPr>
          <p:cNvPr id="54" name="Google Shape;54;p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d431834d54f2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000" y="4544103"/>
            <a:ext cx="540000" cy="27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64275" y="3428125"/>
            <a:ext cx="3476700" cy="84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1208600"/>
            <a:ext cx="3612000" cy="315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0500" y="200392"/>
            <a:ext cx="8211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61" name="Google Shape;61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a34bca6b4745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1500" y="4538978"/>
            <a:ext cx="540000" cy="28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67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4" name="Google Shape;6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39834ab9c3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1500" y="4538978"/>
            <a:ext cx="540000" cy="28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" name="Google Shape;65;p14">
            <a:extLst xmlns:a="http://schemas.openxmlformats.org/drawingml/2006/main"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675" y="655450"/>
            <a:ext cx="3964500" cy="28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58700" y="1311925"/>
            <a:ext cx="3694800" cy="30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12475" y="1495950"/>
            <a:ext cx="3734400" cy="29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pic>
        <p:nvPicPr>
          <p:cNvPr id="71" name="Google Shape;7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b832c9bcd142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1500" y="4538978"/>
            <a:ext cx="540000" cy="28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0500" y="200392"/>
            <a:ext cx="8211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pic>
        <p:nvPicPr>
          <p:cNvPr id="75" name="Google Shape;7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cef3604fdf4028">
            <a:alphaModFix/>
          </a:blip>
          <a:srcRect xmlns:a="http://schemas.openxmlformats.org/drawingml/2006/main" l="0" t="0" r="0" b="7379"/>
          <a:stretch xmlns:a="http://schemas.openxmlformats.org/drawingml/2006/main"/>
        </p:blipFill>
        <p:spPr>
          <a:xfrm xmlns:a="http://schemas.openxmlformats.org/drawingml/2006/main">
            <a:off x="0" y="0"/>
            <a:ext cx="9143999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6" name="Google Shape;7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19f9618fdc45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70050" y="2265624"/>
            <a:ext cx="4803901" cy="457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g37e80574407_0_110">
            <a:extLst xmlns:a="http://schemas.openxmlformats.org/drawingml/2006/main"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pic>
        <p:nvPicPr>
          <p:cNvPr id="79" name="Google Shape;79;g37e80574407_0_1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5a749061ee4f27">
            <a:alphaModFix/>
          </a:blip>
          <a:srcRect xmlns:a="http://schemas.openxmlformats.org/drawingml/2006/main" l="0" t="0" r="0" b="7381"/>
          <a:stretch xmlns:a="http://schemas.openxmlformats.org/drawingml/2006/main"/>
        </p:blipFill>
        <p:spPr>
          <a:xfrm xmlns:a="http://schemas.openxmlformats.org/drawingml/2006/main">
            <a:off x="0" y="0"/>
            <a:ext cx="9143999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0" name="Google Shape;80;g37e80574407_0_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4668579fc41e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998" y="4438648"/>
            <a:ext cx="1770700" cy="1704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g37e80574407_0_110">
            <a:extLst xmlns:a="http://schemas.openxmlformats.org/drawingml/2006/main"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87108" y="4327063"/>
            <a:ext cx="45489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 xmlns:a="http://schemas.openxmlformats.org/drawingml/2006/main"/>
        </p:txBody>
      </p:sp>
      <p:sp>
        <p:nvSpPr>
          <p:cNvPr id="82" name="Google Shape;82;g37e80574407_0_110">
            <a:extLst xmlns:a="http://schemas.openxmlformats.org/drawingml/2006/main"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450000" y="1827750"/>
            <a:ext cx="8100000" cy="1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 xmlns:a="http://schemas.openxmlformats.org/drawingml/2006/main"/>
        </p:txBody>
      </p:sp>
      <p:sp>
        <p:nvSpPr>
          <p:cNvPr id="83" name="Google Shape;83;g37e80574407_0_110">
            <a:extLst xmlns:a="http://schemas.openxmlformats.org/drawingml/2006/main"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087108" y="446138"/>
            <a:ext cx="45489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9">
            <a:extLst xmlns:a="http://schemas.openxmlformats.org/drawingml/2006/main"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6" name="Google Shape;96;p19">
            <a:extLst xmlns:a="http://schemas.openxmlformats.org/drawingml/2006/main"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0000" y="2959950"/>
            <a:ext cx="8101500" cy="139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7" name="Google Shape;97;p19">
            <a:extLst xmlns:a="http://schemas.openxmlformats.org/drawingml/2006/main"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  <p:pic>
        <p:nvPicPr>
          <p:cNvPr id="98" name="Google Shape;9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8cf510f8bb4f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1500" y="4538978"/>
            <a:ext cx="540000" cy="28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7800" y="1827720"/>
            <a:ext cx="8536320" cy="159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>
              <a:buNone/>
              <a:defRPr/>
            </a:lvl1pPr>
          </a:lstStyle>
          <a:p xmlns:a="http://schemas.openxmlformats.org/drawingml/2006/main">
            <a:pPr indent="0">
              <a:buNone/>
            </a:pPr>
          </a:p>
        </p:txBody>
      </p:sp>
      <p:sp>
        <p:nvSpPr>
          <p:cNvPr id="7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57200" y="1203480"/>
            <a:ext cx="8229240" cy="29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>
              <a:spcBef>
                <a:spcPts val="1417"/>
              </a:spcBef>
              <a:buNone/>
              <a:defRPr/>
            </a:lvl1pPr>
          </a:lstStyle>
          <a:p xmlns:a="http://schemas.openxmlformats.org/drawingml/2006/main">
            <a:pPr indent="0">
              <a:spcBef>
                <a:spcPts val="1063"/>
              </a:spcBef>
              <a:buNone/>
            </a:p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51460-32DC-45C6-B957-D4BECA177940}" type="slidenum">
              <a:t>‹Nº›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06ec5a1c534503" /><Relationship Type="http://schemas.openxmlformats.org/officeDocument/2006/relationships/slideLayout" Target="/ppt/slideLayouts/slideLayout1.xml" Id="R09a8d1bc1120492b" /><Relationship Type="http://schemas.openxmlformats.org/officeDocument/2006/relationships/slideLayout" Target="/ppt/slideLayouts/slideLayout2.xml" Id="R20fe9a37ea1245e7" /><Relationship Type="http://schemas.openxmlformats.org/officeDocument/2006/relationships/slideLayout" Target="/ppt/slideLayouts/slideLayout3.xml" Id="R2117f4ec6fd149fb" /><Relationship Type="http://schemas.openxmlformats.org/officeDocument/2006/relationships/slideLayout" Target="/ppt/slideLayouts/slideLayout4.xml" Id="R288933a7257e4207" /><Relationship Type="http://schemas.openxmlformats.org/officeDocument/2006/relationships/slideLayout" Target="/ppt/slideLayouts/slideLayout5.xml" Id="R85cacb49892943d9" /><Relationship Type="http://schemas.openxmlformats.org/officeDocument/2006/relationships/slideLayout" Target="/ppt/slideLayouts/slideLayout6.xml" Id="Reff9fe01cc7e4dd3" /><Relationship Type="http://schemas.openxmlformats.org/officeDocument/2006/relationships/slideLayout" Target="/ppt/slideLayouts/slideLayout7.xml" Id="R58d7e14112974f47" /><Relationship Type="http://schemas.openxmlformats.org/officeDocument/2006/relationships/slideLayout" Target="/ppt/slideLayouts/slideLayout8.xml" Id="Rdbb1504ae93e4b28" /><Relationship Type="http://schemas.openxmlformats.org/officeDocument/2006/relationships/slideLayout" Target="/ppt/slideLayouts/slideLayout9.xml" Id="R9a88829049204330" /><Relationship Type="http://schemas.openxmlformats.org/officeDocument/2006/relationships/slideLayout" Target="/ppt/slideLayouts/slideLayout10.xml" Id="R01851a09438d494c" /><Relationship Type="http://schemas.openxmlformats.org/officeDocument/2006/relationships/slideLayout" Target="/ppt/slideLayouts/slideLayout11.xml" Id="R24b91119fd26441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9">
            <a:extLst xmlns:a="http://schemas.openxmlformats.org/drawingml/2006/main"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9">
            <a:extLst xmlns:a="http://schemas.openxmlformats.org/drawingml/2006/main"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 xmlns:a="http://schemas.openxmlformats.org/drawingml/2006/main"/>
        </p:txBody>
      </p:sp>
      <p:sp>
        <p:nvSpPr>
          <p:cNvPr id="8" name="Google Shape;8;p9">
            <a:extLst xmlns:a="http://schemas.openxmlformats.org/drawingml/2006/main"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8d1bc1120492b"/>
    <p:sldLayoutId xmlns:r="http://schemas.openxmlformats.org/officeDocument/2006/relationships" id="2147483650" r:id="R20fe9a37ea1245e7"/>
    <p:sldLayoutId xmlns:r="http://schemas.openxmlformats.org/officeDocument/2006/relationships" id="2147483651" r:id="R2117f4ec6fd149fb"/>
    <p:sldLayoutId xmlns:r="http://schemas.openxmlformats.org/officeDocument/2006/relationships" id="2147483652" r:id="R288933a7257e4207"/>
    <p:sldLayoutId xmlns:r="http://schemas.openxmlformats.org/officeDocument/2006/relationships" id="2147483653" r:id="R85cacb49892943d9"/>
    <p:sldLayoutId xmlns:r="http://schemas.openxmlformats.org/officeDocument/2006/relationships" id="2147483654" r:id="Reff9fe01cc7e4dd3"/>
    <p:sldLayoutId xmlns:r="http://schemas.openxmlformats.org/officeDocument/2006/relationships" id="2147483655" r:id="R58d7e14112974f47"/>
    <p:sldLayoutId xmlns:r="http://schemas.openxmlformats.org/officeDocument/2006/relationships" id="2147483656" r:id="Rdbb1504ae93e4b28"/>
    <p:sldLayoutId xmlns:r="http://schemas.openxmlformats.org/officeDocument/2006/relationships" id="2147483657" r:id="R9a88829049204330"/>
    <p:sldLayoutId xmlns:r="http://schemas.openxmlformats.org/officeDocument/2006/relationships" id="2147483658" r:id="R01851a09438d494c"/>
    <p:sldLayoutId xmlns:r="http://schemas.openxmlformats.org/officeDocument/2006/relationships" id="2147483659" r:id="R24b91119fd26441d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b2746b22646e9" /><Relationship Type="http://schemas.openxmlformats.org/officeDocument/2006/relationships/notesSlide" Target="/ppt/notesSlides/notesSlide1.xml" Id="Rdf5e96f07271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0673b4d7d64cbe" /><Relationship Type="http://schemas.openxmlformats.org/officeDocument/2006/relationships/image" Target="/ppt/media/image2.png" Id="R03d8691d860c4d15" /><Relationship Type="http://schemas.openxmlformats.org/officeDocument/2006/relationships/image" Target="/ppt/media/image2.jpeg" Id="R330f625600c14922" /><Relationship Type="http://schemas.openxmlformats.org/officeDocument/2006/relationships/notesSlide" Target="/ppt/notesSlides/notesSlide2.xml" Id="Rc92f59051598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4fe9171ea1433c" /><Relationship Type="http://schemas.openxmlformats.org/officeDocument/2006/relationships/notesSlide" Target="/ppt/notesSlides/notesSlide3.xml" Id="Rb1ead62e73a345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f11a6b1a14012" /><Relationship Type="http://schemas.openxmlformats.org/officeDocument/2006/relationships/notesSlide" Target="/ppt/notesSlides/notesSlide4.xml" Id="R75c9125b53744e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ef3f56f47d4d0e" /><Relationship Type="http://schemas.openxmlformats.org/officeDocument/2006/relationships/notesSlide" Target="/ppt/notesSlides/notesSlide5.xml" Id="Rc1d5501219a449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d02e7d0f5d442b" /><Relationship Type="http://schemas.openxmlformats.org/officeDocument/2006/relationships/notesSlide" Target="/ppt/notesSlides/notesSlide6.xml" Id="R83d3cd3f785240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a6661c5a44d4f" /><Relationship Type="http://schemas.openxmlformats.org/officeDocument/2006/relationships/notesSlide" Target="/ppt/notesSlides/notesSlide7.xml" Id="R40e4716318cf40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c9bb8fcf26438c" /><Relationship Type="http://schemas.openxmlformats.org/officeDocument/2006/relationships/image" Target="/ppt/media/image7.png" Id="Rf18a3c4036fe4d7e" /><Relationship Type="http://schemas.openxmlformats.org/officeDocument/2006/relationships/notesSlide" Target="/ppt/notesSlides/notesSlide8.xml" Id="R23534f2c27e14b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3a6a666cc249e3" /><Relationship Type="http://schemas.openxmlformats.org/officeDocument/2006/relationships/notesSlide" Target="/ppt/notesSlides/notesSlide9.xml" Id="Rec483cb74dd14ae3" /><Relationship Type="http://schemas.openxmlformats.org/officeDocument/2006/relationships/hyperlink" Target="https://www.gartner.com/en/documents/5533963" TargetMode="External" Id="Rc93a631eca1c4c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f16c34ab47487d" /><Relationship Type="http://schemas.openxmlformats.org/officeDocument/2006/relationships/notesSlide" Target="/ppt/notesSlides/notesSlide10.xml" Id="Rd07ad511f2d94c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e1769b17014f50" /><Relationship Type="http://schemas.openxmlformats.org/officeDocument/2006/relationships/notesSlide" Target="/ppt/notesSlides/notesSlide11.xml" Id="R5015422b02904d10" /><Relationship Type="http://schemas.openxmlformats.org/officeDocument/2006/relationships/hyperlink" Target="https://www.dynatrace.com/resources/ebooks/the-state-of-observability-2025/" TargetMode="External" Id="Rffc727b2ab2e48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c87b3dc32b4e4c" /><Relationship Type="http://schemas.openxmlformats.org/officeDocument/2006/relationships/notesSlide" Target="/ppt/notesSlides/notesSlide12.xml" Id="Rbc6859c05bc645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39246c49d4e9a" /><Relationship Type="http://schemas.openxmlformats.org/officeDocument/2006/relationships/notesSlide" Target="/ppt/notesSlides/notesSlide13.xml" Id="Rfefe3a134e5748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a12775775d49e9" /><Relationship Type="http://schemas.openxmlformats.org/officeDocument/2006/relationships/notesSlide" Target="/ppt/notesSlides/notesSlide14.xml" Id="R94287deea2bc47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3b0212f5c34ba6" /><Relationship Type="http://schemas.openxmlformats.org/officeDocument/2006/relationships/notesSlide" Target="/ppt/notesSlides/notesSlide15.xml" Id="R1c37244a8da648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b05f31ff8c4eed" /><Relationship Type="http://schemas.openxmlformats.org/officeDocument/2006/relationships/notesSlide" Target="/ppt/notesSlides/notesSlide16.xml" Id="Re48b0db14f0047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97ba323d954fd5" /><Relationship Type="http://schemas.openxmlformats.org/officeDocument/2006/relationships/notesSlide" Target="/ppt/notesSlides/notesSlide17.xml" Id="R5e06d5851e8f44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620b50ed154469" /><Relationship Type="http://schemas.openxmlformats.org/officeDocument/2006/relationships/notesSlide" Target="/ppt/notesSlides/notesSlide18.xml" Id="R071f3eb1c18940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7aac973607349ba" /><Relationship Type="http://schemas.openxmlformats.org/officeDocument/2006/relationships/notesSlide" Target="/ppt/notesSlides/notesSlide19.xml" Id="Rc98c6b5e190c4b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7ea3126c7843c9" /><Relationship Type="http://schemas.openxmlformats.org/officeDocument/2006/relationships/notesSlide" Target="/ppt/notesSlides/notesSlide20.xml" Id="R493c0cfb8b0242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2a717869b24780" /><Relationship Type="http://schemas.openxmlformats.org/officeDocument/2006/relationships/notesSlide" Target="/ppt/notesSlides/notesSlide21.xml" Id="Rb0abe58ca2bb4a9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6c1309d4164e38" /><Relationship Type="http://schemas.openxmlformats.org/officeDocument/2006/relationships/notesSlide" Target="/ppt/notesSlides/notesSlide22.xml" Id="R06344af9dccb46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82ab8894e34320" /><Relationship Type="http://schemas.openxmlformats.org/officeDocument/2006/relationships/notesSlide" Target="/ppt/notesSlides/notesSlide23.xml" Id="R8c89bd3791c2470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88280bd6254907" /><Relationship Type="http://schemas.openxmlformats.org/officeDocument/2006/relationships/notesSlide" Target="/ppt/notesSlides/notesSlide24.xml" Id="Re5e0deb6de054e4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76d6d3ceab946dc" /><Relationship Type="http://schemas.openxmlformats.org/officeDocument/2006/relationships/notesSlide" Target="/ppt/notesSlides/notesSlide25.xml" Id="R6eed0ae4b9fb40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g37e80574407_0_130">
            <a:extLst xmlns:a="http://schemas.openxmlformats.org/drawingml/2006/main">
              <a:ext uri="{FF2B5EF4-FFF2-40B4-BE49-F238E27FC236}">
                <a16:creationId xmlns:a16="http://schemas.microsoft.com/office/drawing/2014/main" id="{76242D63-D925-450A-8D57-C39243F356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07875" y="1827750"/>
            <a:ext cx="8536500" cy="1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90000"/>
          </a:bodyPr>
          <a:lstStyle xmlns:a="http://schemas.openxmlformats.org/drawingml/2006/main"/>
          <a:p xmlns:a="http://schemas.openxmlformats.org/drawingml/2006/main">
            <a:r>
              <a:t>Mesa de Servicio de Nueva Generación</a:t>
            </a:r>
          </a:p>
        </p:txBody>
      </p:sp>
      <p:sp>
        <p:nvSpPr>
          <p:cNvPr id="110" name="Google Shape;110;g37e80574407_0_130">
            <a:extLst xmlns:a="http://schemas.openxmlformats.org/drawingml/2006/main">
              <a:ext uri="{FF2B5EF4-FFF2-40B4-BE49-F238E27FC236}">
                <a16:creationId xmlns:a16="http://schemas.microsoft.com/office/drawing/2014/main" id="{74FF462E-D51D-4856-BB6F-6CD7F06472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5600" y="3424775"/>
            <a:ext cx="84789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Estudio de Mercado Julio 2026</a:t>
            </a:r>
          </a:p>
        </p:txBody>
      </p:sp>
    </p:spTree>
    <p:extLst>
      <p:ext uri="{BB962C8B-B14F-4D97-AF65-F5344CB8AC3E}">
        <p14:creationId xmlns:p14="http://schemas.microsoft.com/office/powerpoint/2010/main" val="6391657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2">
            <a:extLst xmlns:a="http://schemas.openxmlformats.org/drawingml/2006/main">
              <a:ext uri="{FF2B5EF4-FFF2-40B4-BE49-F238E27FC236}">
                <a16:creationId xmlns:a16="http://schemas.microsoft.com/office/drawing/2014/main" id="{D2FD573B-2A61-4173-9415-FB4A25038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350" y="504411"/>
            <a:ext cx="5567400" cy="19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highlight>
                  <a:srgbClr val="FFFFFF"/>
                </a:highlight>
              </a:rPr>
              <a:t>Valor del Servicio</a:t>
            </a:r>
          </a:p>
        </p:txBody>
      </p:sp>
      <p:sp>
        <p:nvSpPr>
          <p:cNvPr id="131" name="Google Shape;131;p2">
            <a:extLst xmlns:a="http://schemas.openxmlformats.org/drawingml/2006/main">
              <a:ext uri="{FF2B5EF4-FFF2-40B4-BE49-F238E27FC236}">
                <a16:creationId xmlns:a16="http://schemas.microsoft.com/office/drawing/2014/main" id="{6695DF65-CD9F-454E-8AF3-D81E5C4B2F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1349" y="2820693"/>
            <a:ext cx="5383159" cy="1554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</a:p>
        </p:txBody>
      </p:sp>
      <p:cxnSp>
        <p:nvCxnSpPr>
          <p:cNvPr id="138" name="Google Shape;133;p2"/>
          <p:cNvCxnSpPr/>
          <p:nvPr/>
        </p:nvCxnSpPr>
        <p:spPr>
          <a:xfrm xmlns:a="http://schemas.openxmlformats.org/drawingml/2006/main" rot="10800000" flipH="1">
            <a:off x="0" y="2651850"/>
            <a:ext cx="5743800" cy="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9" name="Google Shape;13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8691d860c4d1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000" y="4540953"/>
            <a:ext cx="540000" cy="27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6" y="0"/>
            <a:ext cx="2937164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prstDash val="sys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1" name="Google Shape;132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0f625600c14922">
            <a:alphaModFix/>
          </a:blip>
          <a:srcRect xmlns:a="http://schemas.openxmlformats.org/drawingml/2006/main" l="37172" t="0" r="5841" b="0"/>
          <a:stretch xmlns:a="http://schemas.openxmlformats.org/drawingml/2006/main"/>
        </p:blipFill>
        <p:spPr>
          <a:xfrm xmlns:a="http://schemas.openxmlformats.org/drawingml/2006/main">
            <a:off x="6206836" y="0"/>
            <a:ext cx="2931025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ED1A1633-87B8-69A8-F58D-61652953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58" y="1913166"/>
            <a:ext cx="2705099" cy="3376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000" b="1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Para el cliente</a:t>
            </a:r>
            <a:r>
              <a:rPr sz="1000" b="0" i="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000" b="0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SLAs</a:t>
            </a:r>
            <a:r>
              <a:rPr sz="1000" b="0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 cumplidos, menos interrupciones y visibilidad real de la </a:t>
            </a:r>
            <a:r>
              <a:rPr sz="100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operación</a:t>
            </a:r>
            <a:r>
              <a:rPr sz="1000" b="0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 en tiempo real.</a:t>
            </a:r>
            <a:r>
              <a:rPr sz="1000" b="0" i="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000" b="1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Para </a:t>
            </a:r>
            <a:r>
              <a:rPr sz="1000" b="1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PersonalSoft</a:t>
            </a:r>
            <a:r>
              <a:rPr sz="1000" b="0" i="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00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Márgenes</a:t>
            </a:r>
            <a:r>
              <a:rPr sz="1000" b="0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 que mejoran con la </a:t>
            </a:r>
            <a:r>
              <a:rPr sz="100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automatización</a:t>
            </a:r>
            <a:r>
              <a:rPr sz="1000" b="0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.</a:t>
            </a:r>
            <a:r>
              <a:rPr sz="1000" b="0" i="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000" b="1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Para el mercado</a:t>
            </a:r>
            <a:r>
              <a:rPr sz="1000" b="0" i="0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000" b="0" i="0" u="none">
                <a:solidFill>
                  <a:schemeClr val="bg1"/>
                </a:solidFill>
                <a:latin typeface="Reddit Sans"/>
                <a:ea typeface="Reddit Sans"/>
                <a:cs typeface="Reddit Sans"/>
              </a:rPr>
              <a:t>Un diferenciador real: el proveedor que llega con datos, herramientas y evolución continua.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44434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8964A16-3DF8-4AED-876F-BCE0D03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91" y="205740"/>
            <a:ext cx="6858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13F7D"/>
                </a:solidFill>
              </a:defRPr>
            </a:pPr>
            <a:r>
              <a:rPr sz="1600" b="1">
                <a:solidFill>
                  <a:srgbClr val="0E337C"/>
                </a:solidFill>
                <a:latin typeface="Reddit Sans"/>
                <a:ea typeface="Reddit Sans"/>
                <a:cs typeface="Reddit Sans"/>
              </a:rPr>
              <a:t>¿Por qué evolucionar la Mesa de Servicios?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269D9CD-C69B-4900-AD09-5221E8F8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81" y="994410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Gobierno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Modelo operativo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no estandarizado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EF70287-A62C-4997-B740-DF6D28CA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361" y="994410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Escalabilidad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Crecimiento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basado en FTE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67B8508-DF4A-47A7-B8A9-0909EFF1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341" y="994410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Automatización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Alta dependencia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de tareas manuales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702B859-3220-4597-B66D-4E771824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321" y="994410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Conocimiento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Conocimiento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concentrado en personas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D1BE49-9BB1-44A0-BF6D-A03BA50A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81" y="2297429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Observabilidad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KPIs</a:t>
            </a:r>
            <a:r>
              <a:rPr sz="800">
                <a:latin typeface="Reddit Sans"/>
                <a:ea typeface="Reddit Sans"/>
                <a:cs typeface="Reddit Sans"/>
              </a:rPr>
              <a:t> y SLA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sin estandarizar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B4ECECD-E237-4EDA-9D38-500AAD00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361" y="2297429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Transición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Onboarding</a:t>
            </a:r>
            <a:r>
              <a:rPr sz="800">
                <a:latin typeface="Reddit Sans"/>
                <a:ea typeface="Reddit Sans"/>
                <a:cs typeface="Reddit Sans"/>
              </a:rPr>
              <a:t> con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alta fricción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9639875-39D3-4681-9C88-34A9B74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341" y="2297429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Preventa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Dimensionamiento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insuficiente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CEA284D-E4E8-424F-96D6-6568636A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321" y="2297429"/>
            <a:ext cx="1954530" cy="10629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1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13F7D"/>
                </a:solidFill>
              </a:defRPr>
            </a:pPr>
            <a:r>
              <a:rPr sz="1100">
                <a:latin typeface="Reddit Sans"/>
                <a:ea typeface="Reddit Sans"/>
                <a:cs typeface="Reddit Sans"/>
              </a:rPr>
              <a:t>Plataforma &amp; Talento</a:t>
            </a: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</a:p>
          <a:p xmlns:a="http://schemas.openxmlformats.org/drawingml/2006/main">
            <a:pPr algn="ctr">
              <a:buNone/>
              <a:defRPr sz="1100">
                <a:solidFill>
                  <a:srgbClr val="505050"/>
                </a:solidFill>
              </a:defRPr>
            </a:pPr>
            <a:r>
              <a:rPr sz="800">
                <a:latin typeface="Reddit Sans"/>
                <a:ea typeface="Reddit Sans"/>
                <a:cs typeface="Reddit Sans"/>
              </a:rPr>
              <a:t>Retención y</a:t>
            </a:r>
            <a:br/>
            <a:r>
              <a:rPr sz="800">
                <a:latin typeface="Reddit Sans"/>
                <a:ea typeface="Reddit Sans"/>
                <a:cs typeface="Reddit Sans"/>
              </a:rPr>
              <a:t>especialización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19A8B6-BC28-4023-B0D4-B88E3705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81" y="4053296"/>
            <a:ext cx="829818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3F7D"/>
          </a:solidFill>
          <a:ln xmlns:a="http://schemas.openxmlformats.org/drawingml/2006/main">
            <a:solidFill>
              <a:srgbClr val="213F7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4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>
              <a:buNone/>
              <a:defRPr sz="13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rPr sz="1050">
                <a:latin typeface="Reddit Sans"/>
                <a:ea typeface="Reddit Sans"/>
                <a:cs typeface="Reddit Sans"/>
              </a:rPr>
              <a:t> Mesa de Servicio de Nueva Generación</a:t>
            </a:r>
            <a:r>
              <a:rPr sz="1050">
                <a:latin typeface="Reddit Sans"/>
                <a:ea typeface="Reddit Sans"/>
                <a:cs typeface="Reddit Sans"/>
              </a:rPr>
              <a:t>: </a:t>
            </a:r>
            <a:r>
              <a:rPr sz="1050">
                <a:latin typeface="Reddit Sans"/>
                <a:ea typeface="Reddit Sans"/>
                <a:cs typeface="Reddit Sans"/>
              </a:rPr>
              <a:t>Una</a:t>
            </a:r>
            <a:r>
              <a:rPr sz="1050">
                <a:latin typeface="Reddit Sans"/>
                <a:ea typeface="Reddit Sans"/>
                <a:cs typeface="Reddit Sans"/>
              </a:rPr>
              <a:t> </a:t>
            </a:r>
            <a:r>
              <a:rPr sz="1050">
                <a:latin typeface="Reddit Sans"/>
                <a:ea typeface="Reddit Sans"/>
                <a:cs typeface="Reddit Sans"/>
              </a:rPr>
              <a:t>operación</a:t>
            </a:r>
            <a:r>
              <a:rPr sz="1050">
                <a:latin typeface="Reddit Sans"/>
                <a:ea typeface="Reddit Sans"/>
                <a:cs typeface="Reddit Sans"/>
              </a:rPr>
              <a:t> </a:t>
            </a:r>
            <a:r>
              <a:rPr sz="1050">
                <a:latin typeface="Reddit Sans"/>
                <a:ea typeface="Reddit Sans"/>
                <a:cs typeface="Reddit Sans"/>
              </a:rPr>
              <a:t>estandarizada</a:t>
            </a:r>
            <a:r>
              <a:rPr sz="1050">
                <a:latin typeface="Reddit Sans"/>
                <a:ea typeface="Reddit Sans"/>
                <a:cs typeface="Reddit Sans"/>
              </a:rPr>
              <a:t>, </a:t>
            </a:r>
            <a:r>
              <a:rPr sz="1050">
                <a:latin typeface="Reddit Sans"/>
                <a:ea typeface="Reddit Sans"/>
                <a:cs typeface="Reddit Sans"/>
              </a:rPr>
              <a:t>automatizada</a:t>
            </a:r>
            <a:r>
              <a:rPr sz="1050">
                <a:latin typeface="Reddit Sans"/>
                <a:ea typeface="Reddit Sans"/>
                <a:cs typeface="Reddit Sans"/>
              </a:rPr>
              <a:t>, </a:t>
            </a:r>
            <a:r>
              <a:rPr sz="1050">
                <a:latin typeface="Reddit Sans"/>
                <a:ea typeface="Reddit Sans"/>
                <a:cs typeface="Reddit Sans"/>
              </a:rPr>
              <a:t>medible</a:t>
            </a:r>
            <a:r>
              <a:rPr sz="1050">
                <a:latin typeface="Reddit Sans"/>
                <a:ea typeface="Reddit Sans"/>
                <a:cs typeface="Reddit Sans"/>
              </a:rPr>
              <a:t> y </a:t>
            </a:r>
            <a:r>
              <a:rPr sz="1050">
                <a:latin typeface="Reddit Sans"/>
                <a:ea typeface="Reddit Sans"/>
                <a:cs typeface="Reddit Sans"/>
              </a:rPr>
              <a:t>habilitada</a:t>
            </a:r>
            <a:r>
              <a:rPr sz="1050">
                <a:latin typeface="Reddit Sans"/>
                <a:ea typeface="Reddit Sans"/>
                <a:cs typeface="Reddit Sans"/>
              </a:rPr>
              <a:t> </a:t>
            </a:r>
            <a:r>
              <a:rPr sz="1050">
                <a:latin typeface="Reddit Sans"/>
                <a:ea typeface="Reddit Sans"/>
                <a:cs typeface="Reddit Sans"/>
              </a:rPr>
              <a:t>por</a:t>
            </a:r>
            <a:r>
              <a:rPr sz="1050">
                <a:latin typeface="Reddit Sans"/>
                <a:ea typeface="Reddit Sans"/>
                <a:cs typeface="Reddit Sans"/>
              </a:rPr>
              <a:t> IA.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007"/>
            <a:ext cx="4572000" cy="4462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900" b="0" i="0" u="none">
                <a:solidFill>
                  <a:srgbClr val="6E6E6E"/>
                </a:solidFill>
                <a:latin typeface="Reddit Sans"/>
                <a:ea typeface="Reddit Sans"/>
                <a:cs typeface="Reddit Sans"/>
              </a:rPr>
              <a:t>Principales brechas del modelo operativo actual</a:t>
            </a:r>
            <a:r>
              <a:rPr sz="9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569780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E05691AF-1718-4B0D-8D74-6A19A9F046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550" y="404904"/>
            <a:ext cx="3964500" cy="28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>
                <a:solidFill>
                  <a:srgbClr val="263474"/>
                </a:solidFill>
              </a:rPr>
              <a:t>Mesas de Servicio Actuales</a:t>
            </a:r>
          </a:p>
        </p:txBody>
      </p:sp>
      <p:sp>
        <p:nvSpPr>
          <p:cNvPr id="146" name="Google Shape;146;p5">
            <a:extLst xmlns:a="http://schemas.openxmlformats.org/drawingml/2006/main">
              <a:ext uri="{FF2B5EF4-FFF2-40B4-BE49-F238E27FC236}">
                <a16:creationId xmlns:a16="http://schemas.microsoft.com/office/drawing/2014/main" id="{44FB94CF-62B6-4189-B057-DD8CCA71E3BE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63050" y="1464657"/>
            <a:ext cx="3757500" cy="1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r>
              <a:t>Nuestros Operación Actual</a:t>
            </a:r>
          </a:p>
        </p:txBody>
      </p:sp>
      <p:cxnSp>
        <p:nvCxnSpPr>
          <p:cNvPr id="150" name="Google Shape;147;p5"/>
          <p:cNvCxnSpPr/>
          <p:nvPr/>
        </p:nvCxnSpPr>
        <p:spPr>
          <a:xfrm xmlns:a="http://schemas.openxmlformats.org/drawingml/2006/main" rot="10800000" flipH="1">
            <a:off x="442269" y="612577"/>
            <a:ext cx="8103300" cy="28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143" y="797380"/>
            <a:ext cx="3695702" cy="3962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1" i="0" u="none">
                <a:solidFill>
                  <a:srgbClr val="0E337C"/>
                </a:solidFill>
                <a:latin typeface="Reddit Sans"/>
                <a:ea typeface="Reddit Sans"/>
                <a:cs typeface="Reddit Sans"/>
              </a:rPr>
              <a:t>Banca y Seguros</a:t>
            </a: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SURA, Bancolombia ·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Especialización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: continuidad de canales transaccionales, cumplimiento SFC/SOX,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gestión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 de fraude en tiempo real y BCP/DRP.</a:t>
            </a: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1">
                <a:solidFill>
                  <a:srgbClr val="0E337C"/>
                </a:solidFill>
                <a:latin typeface="Reddit Sans"/>
                <a:ea typeface="Reddit Sans"/>
                <a:cs typeface="Reddit Sans"/>
              </a:rPr>
              <a:t>Energía</a:t>
            </a:r>
            <a:r>
              <a:rPr sz="1100" b="1" i="0" u="none">
                <a:solidFill>
                  <a:srgbClr val="0E337C"/>
                </a:solidFill>
                <a:latin typeface="Reddit Sans"/>
                <a:ea typeface="Reddit Sans"/>
                <a:cs typeface="Reddit Sans"/>
              </a:rPr>
              <a:t> y </a:t>
            </a:r>
            <a:r>
              <a:rPr sz="1100" b="1" i="0" u="none">
                <a:solidFill>
                  <a:srgbClr val="0E337C"/>
                </a:solidFill>
                <a:latin typeface="Reddit Sans"/>
                <a:ea typeface="Reddit Sans"/>
                <a:cs typeface="Reddit Sans"/>
              </a:rPr>
              <a:t>Utilities</a:t>
            </a: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XM, AES ·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Especialización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: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operación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 critica 24x7, monitoreo de infraestructura y aplicaciones, 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observabilidad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 y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gestión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 de eventos de alta criticidad.</a:t>
            </a: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1" i="0" u="none">
                <a:solidFill>
                  <a:srgbClr val="0E337C"/>
                </a:solidFill>
                <a:latin typeface="Reddit Sans"/>
                <a:ea typeface="Reddit Sans"/>
                <a:cs typeface="Reddit Sans"/>
              </a:rPr>
              <a:t>Salud</a:t>
            </a: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Medicarte ·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Especialización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: continuidad asistencial,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protección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 de datos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clínicos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 (Habeas Data / Supersalud), interoperabilidad RIPS/PISIS y trazabilidad de historia </a:t>
            </a:r>
            <a:r>
              <a:rPr sz="1100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clínica</a:t>
            </a:r>
            <a:r>
              <a:rPr sz="1100" b="0" i="0" u="none">
                <a:solidFill>
                  <a:srgbClr val="444444"/>
                </a:solidFill>
                <a:latin typeface="Reddit Sans"/>
                <a:ea typeface="Reddit Sans"/>
                <a:cs typeface="Reddit Sans"/>
              </a:rPr>
              <a:t>.</a:t>
            </a:r>
            <a:r>
              <a:rPr sz="11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</a:p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677899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g3657f5ba65c_1_28">
            <a:extLst xmlns:a="http://schemas.openxmlformats.org/drawingml/2006/main">
              <a:ext uri="{FF2B5EF4-FFF2-40B4-BE49-F238E27FC236}">
                <a16:creationId xmlns:a16="http://schemas.microsoft.com/office/drawing/2014/main" id="{942105D1-3D18-4068-949B-59C98F75EC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07875" y="1827750"/>
            <a:ext cx="8536500" cy="1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90000"/>
          </a:bodyPr>
          <a:lstStyle xmlns:a="http://schemas.openxmlformats.org/drawingml/2006/main"/>
          <a:p xmlns:a="http://schemas.openxmlformats.org/drawingml/2006/main">
            <a:r>
              <a:t>Mesas de Servicio de Nueva Generación</a:t>
            </a:r>
          </a:p>
        </p:txBody>
      </p:sp>
      <p:sp>
        <p:nvSpPr>
          <p:cNvPr id="125" name="Google Shape;125;g3657f5ba65c_1_28">
            <a:extLst xmlns:a="http://schemas.openxmlformats.org/drawingml/2006/main">
              <a:ext uri="{FF2B5EF4-FFF2-40B4-BE49-F238E27FC236}">
                <a16:creationId xmlns:a16="http://schemas.microsoft.com/office/drawing/2014/main" id="{26852301-A3DE-4ACE-841D-252AA71D99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5600" y="3424775"/>
            <a:ext cx="84789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 donde queremos llegar</a:t>
            </a:r>
          </a:p>
        </p:txBody>
      </p:sp>
    </p:spTree>
    <p:extLst>
      <p:ext uri="{BB962C8B-B14F-4D97-AF65-F5344CB8AC3E}">
        <p14:creationId xmlns:p14="http://schemas.microsoft.com/office/powerpoint/2010/main" val="13079036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D957FCB2-DEDF-4490-A51D-E3D783AC3F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Nivel de Madurez de las Mesas de Servicio – A dónde queremos llegar</a:t>
            </a:r>
          </a:p>
        </p:txBody>
      </p:sp>
      <p:sp>
        <p:nvSpPr>
          <p:cNvPr id="3" name="Subtitulo">
            <a:extLst xmlns:a="http://schemas.openxmlformats.org/drawingml/2006/main">
              <a:ext uri="{FF2B5EF4-FFF2-40B4-BE49-F238E27FC236}">
                <a16:creationId xmlns:a16="http://schemas.microsoft.com/office/drawing/2014/main" id="{0AAAD513-4EB3-4B3A-A0ED-EDD0D4CC8EC1}"/>
              </a:ext>
            </a:extLst>
          </p:cNvPr>
          <p:cNvSpPr>
            <a:spLocks xmlns:a="http://schemas.openxmlformats.org/drawingml/2006/main" noGrp="1"/>
          </p:cNvSpPr>
          <p:nvPr>
            <p:ph type="subTitle" idx="4294967295"/>
          </p:nvPr>
        </p:nvSpPr>
        <p:spPr>
          <a:xfrm xmlns:a="http://schemas.openxmlformats.org/drawingml/2006/main">
            <a:off x="239486" y="542698"/>
            <a:ext cx="6194199" cy="56379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114300" indent="0">
              <a:buNone/>
            </a:pPr>
            <a:r>
              <a:rPr sz="1000"/>
              <a:t>ITIL v5 · Escala N1 a N5 · 4 dimensiones · 17 practicas a evaluar</a:t>
            </a:r>
          </a:p>
        </p:txBody>
      </p:sp>
      <p:sp>
        <p:nvSpPr>
          <p:cNvPr id="10" name="N1 box">
            <a:extLst xmlns:a="http://schemas.openxmlformats.org/drawingml/2006/main">
              <a:ext uri="{FF2B5EF4-FFF2-40B4-BE49-F238E27FC236}">
                <a16:creationId xmlns:a16="http://schemas.microsoft.com/office/drawing/2014/main" id="{2A020D4C-E8AB-4867-BD3C-4748E9B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7"/>
          </a:solidFill>
          <a:ln xmlns:a="http://schemas.openxmlformats.org/drawingml/2006/main" w="19050">
            <a:solidFill>
              <a:srgbClr val="D0021B"/>
            </a:solidFill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D0021B"/>
                </a:solidFill>
              </a:rPr>
              <a:t>N1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D0021B"/>
                </a:solidFill>
              </a:rPr>
              <a:t>Inicial</a:t>
            </a:r>
          </a:p>
        </p:txBody>
      </p:sp>
      <p:sp>
        <p:nvSpPr>
          <p:cNvPr id="11" name="flecha1">
            <a:extLst xmlns:a="http://schemas.openxmlformats.org/drawingml/2006/main">
              <a:ext uri="{FF2B5EF4-FFF2-40B4-BE49-F238E27FC236}">
                <a16:creationId xmlns:a16="http://schemas.microsoft.com/office/drawing/2014/main" id="{A3BC85C6-A140-4E09-ACDB-430A5DF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00200"/>
            <a:ext cx="342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N2 box">
            <a:extLst xmlns:a="http://schemas.openxmlformats.org/drawingml/2006/main">
              <a:ext uri="{FF2B5EF4-FFF2-40B4-BE49-F238E27FC236}">
                <a16:creationId xmlns:a16="http://schemas.microsoft.com/office/drawing/2014/main" id="{770DB7A6-3641-4D30-B8DB-9609F9E6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716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DA"/>
          </a:solidFill>
          <a:ln xmlns:a="http://schemas.openxmlformats.org/drawingml/2006/main" w="19050">
            <a:solidFill>
              <a:srgbClr val="EF9F27"/>
            </a:solidFill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633806"/>
                </a:solidFill>
              </a:rPr>
              <a:t>N2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633806"/>
                </a:solidFill>
              </a:rPr>
              <a:t>Administrado</a:t>
            </a:r>
          </a:p>
        </p:txBody>
      </p:sp>
      <p:sp>
        <p:nvSpPr>
          <p:cNvPr id="13" name="flecha2">
            <a:extLst xmlns:a="http://schemas.openxmlformats.org/drawingml/2006/main">
              <a:ext uri="{FF2B5EF4-FFF2-40B4-BE49-F238E27FC236}">
                <a16:creationId xmlns:a16="http://schemas.microsoft.com/office/drawing/2014/main" id="{B8A1AEBD-D05C-4077-AE3E-D4A4430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342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N3 box">
            <a:extLst xmlns:a="http://schemas.openxmlformats.org/drawingml/2006/main">
              <a:ext uri="{FF2B5EF4-FFF2-40B4-BE49-F238E27FC236}">
                <a16:creationId xmlns:a16="http://schemas.microsoft.com/office/drawing/2014/main" id="{B913BE43-0703-417E-B66C-6A11D164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716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FB"/>
          </a:solidFill>
          <a:ln xmlns:a="http://schemas.openxmlformats.org/drawingml/2006/main" w="28575">
            <a:solidFill>
              <a:srgbClr val="0E337C"/>
            </a:solidFill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0E337C"/>
                </a:solidFill>
              </a:rPr>
              <a:t>N3 ★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E337C"/>
                </a:solidFill>
              </a:rPr>
              <a:t>Definido</a:t>
            </a:r>
          </a:p>
        </p:txBody>
      </p:sp>
      <p:sp>
        <p:nvSpPr>
          <p:cNvPr id="15" name="flecha3">
            <a:extLst xmlns:a="http://schemas.openxmlformats.org/drawingml/2006/main">
              <a:ext uri="{FF2B5EF4-FFF2-40B4-BE49-F238E27FC236}">
                <a16:creationId xmlns:a16="http://schemas.microsoft.com/office/drawing/2014/main" id="{603C56B8-ED28-4D27-AD63-48F94B44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00200"/>
            <a:ext cx="342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N4 box">
            <a:extLst xmlns:a="http://schemas.openxmlformats.org/drawingml/2006/main">
              <a:ext uri="{FF2B5EF4-FFF2-40B4-BE49-F238E27FC236}">
                <a16:creationId xmlns:a16="http://schemas.microsoft.com/office/drawing/2014/main" id="{B27D07A2-44C9-4FFC-A9E2-1EE1AB9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716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E"/>
          </a:solidFill>
          <a:ln xmlns:a="http://schemas.openxmlformats.org/drawingml/2006/main" w="19050">
            <a:solidFill>
              <a:srgbClr val="3C3489"/>
            </a:solidFill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3C3489"/>
                </a:solidFill>
              </a:rPr>
              <a:t>N4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3C3489"/>
                </a:solidFill>
              </a:rPr>
              <a:t>Cuantitativo</a:t>
            </a:r>
          </a:p>
        </p:txBody>
      </p:sp>
      <p:sp>
        <p:nvSpPr>
          <p:cNvPr id="17" name="flecha4">
            <a:extLst xmlns:a="http://schemas.openxmlformats.org/drawingml/2006/main">
              <a:ext uri="{FF2B5EF4-FFF2-40B4-BE49-F238E27FC236}">
                <a16:creationId xmlns:a16="http://schemas.microsoft.com/office/drawing/2014/main" id="{4A76A435-A642-41ED-96FE-B221ECF1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00200"/>
            <a:ext cx="342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N5 box">
            <a:extLst xmlns:a="http://schemas.openxmlformats.org/drawingml/2006/main">
              <a:ext uri="{FF2B5EF4-FFF2-40B4-BE49-F238E27FC236}">
                <a16:creationId xmlns:a16="http://schemas.microsoft.com/office/drawing/2014/main" id="{EDA468F1-B57C-4D27-86D8-1583A77C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716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E"/>
          </a:solidFill>
          <a:ln xmlns:a="http://schemas.openxmlformats.org/drawingml/2006/main" w="57150">
            <a:solidFill>
              <a:srgbClr val="92D050"/>
            </a:solidFill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085041"/>
                </a:solidFill>
              </a:rPr>
              <a:t>N5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85041"/>
                </a:solidFill>
              </a:rPr>
              <a:t>Optimizado</a:t>
            </a:r>
          </a:p>
        </p:txBody>
      </p:sp>
      <p:sp>
        <p:nvSpPr>
          <p:cNvPr id="20" name="desc N1">
            <a:extLst xmlns:a="http://schemas.openxmlformats.org/drawingml/2006/main">
              <a:ext uri="{FF2B5EF4-FFF2-40B4-BE49-F238E27FC236}">
                <a16:creationId xmlns:a16="http://schemas.microsoft.com/office/drawing/2014/main" id="{8DB85AF2-F845-4574-8916-EEE59B2C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371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25" tIns="91425" rIns="91425" bIns="91425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>
                <a:solidFill>
                  <a:srgbClr val="666666"/>
                </a:solidFill>
              </a:rPr>
              <a:t>Reactivo total. Conocimiento en personas. Bus factor alto (rotación).</a:t>
            </a:r>
          </a:p>
        </p:txBody>
      </p:sp>
      <p:sp>
        <p:nvSpPr>
          <p:cNvPr id="21" name="desc N2">
            <a:extLst xmlns:a="http://schemas.openxmlformats.org/drawingml/2006/main">
              <a:ext uri="{FF2B5EF4-FFF2-40B4-BE49-F238E27FC236}">
                <a16:creationId xmlns:a16="http://schemas.microsoft.com/office/drawing/2014/main" id="{074ED738-4913-4ECF-A0F1-ECEAB1D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0300"/>
            <a:ext cx="1371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25" tIns="91425" rIns="91425" bIns="91425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900">
                <a:solidFill>
                  <a:srgbClr val="666666"/>
                </a:solidFill>
              </a:rPr>
              <a:t>Procesos por mesa. Herramienta como bitácora. Mínimo Mesa de Ayuda.</a:t>
            </a:r>
          </a:p>
        </p:txBody>
      </p:sp>
      <p:sp>
        <p:nvSpPr>
          <p:cNvPr id="22" name="desc N3">
            <a:extLst xmlns:a="http://schemas.openxmlformats.org/drawingml/2006/main">
              <a:ext uri="{FF2B5EF4-FFF2-40B4-BE49-F238E27FC236}">
                <a16:creationId xmlns:a16="http://schemas.microsoft.com/office/drawing/2014/main" id="{A823B52C-EA66-4FAB-8CE8-3673E6C8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1371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25" tIns="91425" rIns="91425" bIns="91425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900" b="1">
                <a:solidFill>
                  <a:srgbClr val="0E337C"/>
                </a:solidFill>
              </a:rPr>
              <a:t>Estandarizado. RACI, ANS y catálogo. Mínimo Mesa de Soporte. </a:t>
            </a:r>
          </a:p>
        </p:txBody>
      </p:sp>
      <p:sp>
        <p:nvSpPr>
          <p:cNvPr id="23" name="desc N4">
            <a:extLst xmlns:a="http://schemas.openxmlformats.org/drawingml/2006/main">
              <a:ext uri="{FF2B5EF4-FFF2-40B4-BE49-F238E27FC236}">
                <a16:creationId xmlns:a16="http://schemas.microsoft.com/office/drawing/2014/main" id="{719A78BF-1132-4457-81E5-A8CD4C8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00300"/>
            <a:ext cx="1371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25" tIns="91425" rIns="91425" bIns="91425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900">
                <a:solidFill>
                  <a:srgbClr val="666666"/>
                </a:solidFill>
              </a:rPr>
              <a:t>Datos reales. KPIs medidos. Costo por ticket calculado.</a:t>
            </a:r>
          </a:p>
        </p:txBody>
      </p:sp>
      <p:sp>
        <p:nvSpPr>
          <p:cNvPr id="24" name="desc N5">
            <a:extLst xmlns:a="http://schemas.openxmlformats.org/drawingml/2006/main">
              <a:ext uri="{FF2B5EF4-FFF2-40B4-BE49-F238E27FC236}">
                <a16:creationId xmlns:a16="http://schemas.microsoft.com/office/drawing/2014/main" id="{057E9AF7-DA12-4D9E-AF77-D9CE825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1371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25" tIns="91425" rIns="91425" bIns="91425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sz="900">
                <a:solidFill>
                  <a:srgbClr val="666666"/>
                </a:solidFill>
              </a:rPr>
              <a:t>Mejora continua automatizada. </a:t>
            </a:r>
          </a:p>
        </p:txBody>
      </p:sp>
      <p:sp>
        <p:nvSpPr>
          <p:cNvPr id="30" name="modelo reactivo">
            <a:extLst xmlns:a="http://schemas.openxmlformats.org/drawingml/2006/main">
              <a:ext uri="{FF2B5EF4-FFF2-40B4-BE49-F238E27FC236}">
                <a16:creationId xmlns:a16="http://schemas.microsoft.com/office/drawing/2014/main" id="{5DFFA6C4-D16C-4731-AB93-69B590A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274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D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33806"/>
                </a:solidFill>
              </a:rPr>
              <a:t>Reactivo y Crecimiento Automatizado</a:t>
            </a:r>
          </a:p>
        </p:txBody>
      </p:sp>
      <p:sp>
        <p:nvSpPr>
          <p:cNvPr id="31" name="modelo predictivo">
            <a:extLst xmlns:a="http://schemas.openxmlformats.org/drawingml/2006/main">
              <a:ext uri="{FF2B5EF4-FFF2-40B4-BE49-F238E27FC236}">
                <a16:creationId xmlns:a16="http://schemas.microsoft.com/office/drawing/2014/main" id="{5B9431EE-06FB-4AF4-8DC0-595E9722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43300"/>
            <a:ext cx="274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F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337C"/>
                </a:solidFill>
              </a:rPr>
              <a:t>Predictivo y Evolutivo</a:t>
            </a:r>
          </a:p>
        </p:txBody>
      </p:sp>
      <p:sp>
        <p:nvSpPr>
          <p:cNvPr id="32" name="modelo autonomo">
            <a:extLst xmlns:a="http://schemas.openxmlformats.org/drawingml/2006/main">
              <a:ext uri="{FF2B5EF4-FFF2-40B4-BE49-F238E27FC236}">
                <a16:creationId xmlns:a16="http://schemas.microsoft.com/office/drawing/2014/main" id="{BFB22745-240A-470A-A5A5-2F9B1CC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27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E"/>
          </a:solidFill>
          <a:ln xmlns:a="http://schemas.openxmlformats.org/drawingml/2006/main" w="57150">
            <a:solidFill>
              <a:srgbClr val="92D050"/>
            </a:solidFill>
          </a:ln>
        </p:spPr>
        <p:txBody>
          <a:bodyPr xmlns:a="http://schemas.openxmlformats.org/drawingml/2006/main" wrap="square" lIns="91425" tIns="91425" rIns="91425" bIns="9142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85041"/>
                </a:solidFill>
              </a:rPr>
              <a:t>Autónomo e Inteligente</a:t>
            </a:r>
          </a:p>
        </p:txBody>
      </p:sp>
    </p:spTree>
    <p:extLst>
      <p:ext uri="{BB962C8B-B14F-4D97-AF65-F5344CB8AC3E}">
        <p14:creationId xmlns:p14="http://schemas.microsoft.com/office/powerpoint/2010/main" val="862698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DE9DC39-AD0B-4064-8E08-3DD4D7E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Estudio de mercado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08BF5D-7844-4EE6-9C66-CB7E12E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C4FF"/>
                </a:solidFill>
              </a:defRPr>
            </a:pPr>
            <a:r>
              <a:rPr sz="1350" b="0">
                <a:solidFill>
                  <a:srgbClr val="9EC4FF"/>
                </a:solidFill>
              </a:rPr>
              <a:t>Lo que cambió en la industria y por qué habilita una mesa Gen Next</a:t>
            </a:r>
          </a:p>
        </p:txBody>
      </p:sp>
    </p:spTree>
    <p:extLst>
      <p:ext uri="{BB962C8B-B14F-4D97-AF65-F5344CB8AC3E}">
        <p14:creationId xmlns:p14="http://schemas.microsoft.com/office/powerpoint/2010/main" val="2787691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Imagen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a3c4036fe4d7e"/>
          <a:srcRect xmlns:a="http://schemas.openxmlformats.org/drawingml/2006/main" l="0" t="0" r="52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8637" y="3936546"/>
            <a:ext cx="548369" cy="242208"/>
          </a:xfrm>
          <a:prstGeom xmlns:a="http://schemas.openxmlformats.org/drawingml/2006/main" prst="rect">
            <a:avLst/>
          </a:prstGeom>
        </p:spPr>
      </p:pic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7C99454-02E7-4426-856D-7181CB3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El mercado ya se movió de ITSM a inteligencia aplicada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F5B8647-58F4-44EA-8EC1-94453799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Tamaño, crecimiento y oportunidad en Colombia</a:t>
            </a:r>
          </a:p>
        </p:txBody>
      </p:sp>
      <p:sp>
        <p:nvSpPr>
          <p:cNvPr id="28" name="metric-card">
            <a:extLst xmlns:a="http://schemas.openxmlformats.org/drawingml/2006/main">
              <a:ext uri="{FF2B5EF4-FFF2-40B4-BE49-F238E27FC236}">
                <a16:creationId xmlns:a16="http://schemas.microsoft.com/office/drawing/2014/main" id="{EDD75102-CF4C-4DED-A537-610BDA4A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18669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C8D1E1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037152B-0DD9-48B8-AD56-9F0F8A1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3B8C"/>
                </a:solidFill>
              </a:defRPr>
            </a:pPr>
            <a:r>
              <a:rPr sz="1950" b="1">
                <a:solidFill>
                  <a:srgbClr val="163B8C"/>
                </a:solidFill>
              </a:rPr>
              <a:t>USD 11.4B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A6CB290-DC60-4BCE-B796-6460DAB4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81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Mercado global ITSM 2024</a:t>
            </a:r>
          </a:p>
        </p:txBody>
      </p:sp>
      <p:sp>
        <p:nvSpPr>
          <p:cNvPr id="3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FFE952BB-6640-4609-A4F3-87DF0883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52500"/>
            <a:ext cx="18669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C8D1E1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07D7003-64E6-4CB9-B804-635B23F3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1430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EBE"/>
                </a:solidFill>
              </a:defRPr>
            </a:pPr>
            <a:r>
              <a:rPr sz="1950" b="1">
                <a:solidFill>
                  <a:srgbClr val="1E5EBE"/>
                </a:solidFill>
              </a:rPr>
              <a:t>+14%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6978761-6538-4534-B6CE-0FBC9914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581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Crecimiento anual global</a:t>
            </a:r>
          </a:p>
        </p:txBody>
      </p:sp>
      <p:sp>
        <p:nvSpPr>
          <p:cNvPr id="34" name="metric-card">
            <a:extLst xmlns:a="http://schemas.openxmlformats.org/drawingml/2006/main">
              <a:ext uri="{FF2B5EF4-FFF2-40B4-BE49-F238E27FC236}">
                <a16:creationId xmlns:a16="http://schemas.microsoft.com/office/drawing/2014/main" id="{FFFA4F22-AB22-4D3F-B71F-4AD5663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0"/>
            <a:ext cx="18669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C8D1E1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6D52F6A-C98C-4356-896D-B2B617E2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430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B83"/>
                </a:solidFill>
              </a:defRPr>
            </a:pPr>
            <a:r>
              <a:rPr sz="1950" b="1">
                <a:solidFill>
                  <a:srgbClr val="087B83"/>
                </a:solidFill>
              </a:rPr>
              <a:t>USD 108M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71E5E48-A8A5-4158-8B30-DD67C932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81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Mercado ITSM Colombia 2026</a:t>
            </a:r>
          </a:p>
        </p:txBody>
      </p:sp>
      <p:sp>
        <p:nvSpPr>
          <p:cNvPr id="3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AC089FCE-4D7C-4803-A7C6-A888149E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952500"/>
            <a:ext cx="18669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C8D1E1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46809BE-6C3B-44DC-B5DD-1995907D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430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2342E"/>
                </a:solidFill>
              </a:defRPr>
            </a:pPr>
            <a:r>
              <a:rPr sz="1950" b="1">
                <a:solidFill>
                  <a:srgbClr val="C2342E"/>
                </a:solidFill>
              </a:rPr>
              <a:t>14.08%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681CE4C-833E-4027-A14F-7F646AFF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581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CAGR Colombia hasta 2031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31D0AF6-D874-4809-9891-BDDB5C36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574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2362"/>
                </a:solidFill>
              </a:defRPr>
            </a:pPr>
            <a:r>
              <a:rPr sz="1200" b="1">
                <a:solidFill>
                  <a:srgbClr val="0C2362"/>
                </a:solidFill>
              </a:rPr>
              <a:t>Lectura ejecutiva</a:t>
            </a:r>
          </a:p>
        </p:txBody>
      </p:sp>
      <p:sp>
        <p:nvSpPr>
          <p:cNvPr id="41" name="card">
            <a:extLst xmlns:a="http://schemas.openxmlformats.org/drawingml/2006/main">
              <a:ext uri="{FF2B5EF4-FFF2-40B4-BE49-F238E27FC236}">
                <a16:creationId xmlns:a16="http://schemas.microsoft.com/office/drawing/2014/main" id="{152F721E-EF58-4105-910A-9E231FDB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81300"/>
            <a:ext cx="257175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95ED0B28-ADDB-49EF-B944-CBBEEA75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Colombia está en ventana de expansión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ED43A46D-4611-4F3A-B9C4-68405C0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2266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El mercado local combina adopción cloud, presión por eficiencia y uso creciente de IA en sectores regulados.</a:t>
            </a:r>
          </a:p>
        </p:txBody>
      </p:sp>
      <p:sp>
        <p:nvSpPr>
          <p:cNvPr id="44" name="card">
            <a:extLst xmlns:a="http://schemas.openxmlformats.org/drawingml/2006/main">
              <a:ext uri="{FF2B5EF4-FFF2-40B4-BE49-F238E27FC236}">
                <a16:creationId xmlns:a16="http://schemas.microsoft.com/office/drawing/2014/main" id="{88DAD96B-C94A-4CE9-A546-51D10414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81300"/>
            <a:ext cx="257175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DB06EC04-A40F-4B26-849D-11CBD899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La plataforma dejó de ser el diferencial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224CD3E9-2A11-4BA2-999F-06A64ED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2266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La ventaja viene de cómo se gobierna la operación: datos, automatización, experiencia y mejora continua.</a:t>
            </a:r>
          </a:p>
        </p:txBody>
      </p:sp>
      <p:sp>
        <p:nvSpPr>
          <p:cNvPr id="47" name="card">
            <a:extLst xmlns:a="http://schemas.openxmlformats.org/drawingml/2006/main">
              <a:ext uri="{FF2B5EF4-FFF2-40B4-BE49-F238E27FC236}">
                <a16:creationId xmlns:a16="http://schemas.microsoft.com/office/drawing/2014/main" id="{45EB3E76-AFAA-47EE-82EF-C97A6096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257175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9ABA0EBA-32BF-4559-BC38-BBA0B46A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La mesa se vuelve producto de negocio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57CAA31B-035D-4078-89C3-78D1D66D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2266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El comprador espera outcomes: menos interrupciones, menor costo por ticket y experiencia medible.</a:t>
            </a:r>
          </a:p>
        </p:txBody>
      </p:sp>
      <p:sp>
        <p:nvSpPr>
          <p:cNvPr id="50" name="cleanup-edge">
            <a:extLst xmlns:a="http://schemas.openxmlformats.org/drawingml/2006/main">
              <a:ext uri="{FF2B5EF4-FFF2-40B4-BE49-F238E27FC236}">
                <a16:creationId xmlns:a16="http://schemas.microsoft.com/office/drawing/2014/main" id="{EAD9917D-A384-41F6-A7F4-85D34AEE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419100" cy="904875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0B1F5C69-0EB2-4ED2-B5FD-09BE7060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509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8EA1C8"/>
                </a:solidFill>
              </a:defRPr>
            </a:pPr>
            <a:r>
              <a:rPr sz="563" b="0">
                <a:solidFill>
                  <a:srgbClr val="8EA1C8"/>
                </a:solidFill>
              </a:rPr>
              <a:t>Fuente: Estudio de mercado Mesa Gen Next, julio 2026</a:t>
            </a:r>
          </a:p>
        </p:txBody>
      </p:sp>
    </p:spTree>
    <p:extLst>
      <p:ext uri="{BB962C8B-B14F-4D97-AF65-F5344CB8AC3E}">
        <p14:creationId xmlns:p14="http://schemas.microsoft.com/office/powerpoint/2010/main" val="707180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CBAD1C5-8645-4A95-8CB3-56FB1AE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Gartner confirma el cambio: la competencia está en la capa de IA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B4785FD-E4C0-41C2-B1B4-2F628886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La plataforma base se comoditiza; la diferenciación pasa a inteligencia, gobierno y adopción</a:t>
            </a:r>
          </a:p>
        </p:txBody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34F1900D-EDA1-4C30-9F20-D5E98D12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668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11430">
            <a:solidFill>
              <a:srgbClr val="C2342E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89CAFC8-E200-41AE-9FB7-D03AE550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342E"/>
                </a:solidFill>
              </a:defRPr>
            </a:pPr>
            <a:r>
              <a:rPr sz="1050" b="1">
                <a:solidFill>
                  <a:srgbClr val="C2342E"/>
                </a:solidFill>
              </a:rPr>
              <a:t>Antes: plataforma ITSM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A8463D-27A1-4837-89A4-3FC4EE50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La compra se centraba en módulos, funcionalidad y rankings de herramientas. El proveedor competía por operar la plataforma.</a:t>
            </a:r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11C71460-EC3E-4BF2-BE2D-D98745D3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0668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F141BD-4DE6-4804-B22F-ADEB072A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2001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Ahora: AI Applications in ITSM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EB9A41-0532-4E8C-96A7-C1668D27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2400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El criterio se mueve a triage inteligente, agentes virtuales, swarming, detección de problemas y escalamiento predictivo.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E1F30C66-8BAE-4006-AD6A-CBF6E6E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24000"/>
            <a:ext cx="8001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9AF91F-92D0-4A76-A740-165A691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362"/>
                </a:solidFill>
              </a:defRPr>
            </a:pPr>
            <a:r>
              <a:rPr sz="1125" b="1">
                <a:solidFill>
                  <a:srgbClr val="0C2362"/>
                </a:solidFill>
              </a:rPr>
              <a:t>9 capacidades críticas de IA que ya definen la compra</a:t>
            </a:r>
          </a:p>
        </p:txBody>
      </p:sp>
      <p:sp>
        <p:nvSpPr>
          <p:cNvPr id="11" name="pill">
            <a:extLst xmlns:a="http://schemas.openxmlformats.org/drawingml/2006/main">
              <a:ext uri="{FF2B5EF4-FFF2-40B4-BE49-F238E27FC236}">
                <a16:creationId xmlns:a16="http://schemas.microsoft.com/office/drawing/2014/main" id="{B033762A-1210-417C-9725-666DE0E0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0AB59EF-0145-4C1A-8895-F0500175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3B8C"/>
                </a:solidFill>
              </a:defRPr>
            </a:pPr>
            <a:r>
              <a:rPr sz="788" b="1">
                <a:solidFill>
                  <a:srgbClr val="163B8C"/>
                </a:solidFill>
              </a:rPr>
              <a:t>Agente virtual</a:t>
            </a:r>
          </a:p>
        </p:txBody>
      </p:sp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925869E1-55B8-4158-9514-D5849532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A30D1F0-68CE-4FF2-96CA-623F39B0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671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7B83"/>
                </a:solidFill>
              </a:defRPr>
            </a:pPr>
            <a:r>
              <a:rPr sz="788" b="1">
                <a:solidFill>
                  <a:srgbClr val="087B83"/>
                </a:solidFill>
              </a:rPr>
              <a:t>Descubrimiento de conocimiento</a:t>
            </a:r>
          </a:p>
        </p:txBody>
      </p:sp>
      <p:sp>
        <p:nvSpPr>
          <p:cNvPr id="15" name="pill">
            <a:extLst xmlns:a="http://schemas.openxmlformats.org/drawingml/2006/main">
              <a:ext uri="{FF2B5EF4-FFF2-40B4-BE49-F238E27FC236}">
                <a16:creationId xmlns:a16="http://schemas.microsoft.com/office/drawing/2014/main" id="{C5EF7390-092A-4CD9-A4AE-D9DCE230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9090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3C7875-FF93-4C49-A5E5-6F94C98D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3B8C"/>
                </a:solidFill>
              </a:defRPr>
            </a:pPr>
            <a:r>
              <a:rPr sz="788" b="1">
                <a:solidFill>
                  <a:srgbClr val="163B8C"/>
                </a:solidFill>
              </a:rPr>
              <a:t>Escalamiento inteligente</a:t>
            </a:r>
          </a:p>
        </p:txBody>
      </p:sp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DADA8F27-3F96-467E-B475-5AE88847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7DE8E2-3D42-46CD-8FDC-BDD7CA42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7B83"/>
                </a:solidFill>
              </a:defRPr>
            </a:pPr>
            <a:r>
              <a:rPr sz="788" b="1">
                <a:solidFill>
                  <a:srgbClr val="087B83"/>
                </a:solidFill>
              </a:rPr>
              <a:t>Triage inteligente</a:t>
            </a:r>
          </a:p>
        </p:txBody>
      </p:sp>
      <p:sp>
        <p:nvSpPr>
          <p:cNvPr id="19" name="pill">
            <a:extLst xmlns:a="http://schemas.openxmlformats.org/drawingml/2006/main">
              <a:ext uri="{FF2B5EF4-FFF2-40B4-BE49-F238E27FC236}">
                <a16:creationId xmlns:a16="http://schemas.microsoft.com/office/drawing/2014/main" id="{34691B16-FE40-4B2C-9709-27DF9EDC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9095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2E809BE-0E27-458A-AF26-39D8576A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671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3B8C"/>
                </a:solidFill>
              </a:defRPr>
            </a:pPr>
            <a:r>
              <a:rPr sz="788" b="1">
                <a:solidFill>
                  <a:srgbClr val="163B8C"/>
                </a:solidFill>
              </a:rPr>
              <a:t>Categorización</a:t>
            </a:r>
          </a:p>
        </p:txBody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5BE42EEF-A63A-4A5F-96E2-4D354A63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4D5C525-969C-415F-8946-18EFCEFC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7B83"/>
                </a:solidFill>
              </a:defRPr>
            </a:pPr>
            <a:r>
              <a:rPr sz="788" b="1">
                <a:solidFill>
                  <a:srgbClr val="087B83"/>
                </a:solidFill>
              </a:rPr>
              <a:t>Swarming de expertos</a:t>
            </a:r>
          </a:p>
        </p:txBody>
      </p:sp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7D915E56-B80D-4EA5-8565-819AA83E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1B689D4-4B3F-4D0B-A225-E866388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3B8C"/>
                </a:solidFill>
              </a:defRPr>
            </a:pPr>
            <a:r>
              <a:rPr sz="788" b="1">
                <a:solidFill>
                  <a:srgbClr val="163B8C"/>
                </a:solidFill>
              </a:rPr>
              <a:t>Detección de P1</a:t>
            </a:r>
          </a:p>
        </p:txBody>
      </p:sp>
      <p:sp>
        <p:nvSpPr>
          <p:cNvPr id="25" name="pill">
            <a:extLst xmlns:a="http://schemas.openxmlformats.org/drawingml/2006/main">
              <a:ext uri="{FF2B5EF4-FFF2-40B4-BE49-F238E27FC236}">
                <a16:creationId xmlns:a16="http://schemas.microsoft.com/office/drawing/2014/main" id="{232BFA98-8A60-4920-9B62-102A6026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9100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FD2090E-64C9-431D-B496-8407CE68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7B83"/>
                </a:solidFill>
              </a:defRPr>
            </a:pPr>
            <a:r>
              <a:rPr sz="788" b="1">
                <a:solidFill>
                  <a:srgbClr val="087B83"/>
                </a:solidFill>
              </a:rPr>
              <a:t>Detección de problemas</a:t>
            </a:r>
          </a:p>
        </p:txBody>
      </p:sp>
      <p:sp>
        <p:nvSpPr>
          <p:cNvPr id="27" name="pill">
            <a:extLst xmlns:a="http://schemas.openxmlformats.org/drawingml/2006/main">
              <a:ext uri="{FF2B5EF4-FFF2-40B4-BE49-F238E27FC236}">
                <a16:creationId xmlns:a16="http://schemas.microsoft.com/office/drawing/2014/main" id="{6FA84375-0130-4447-8F10-F390EDE4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91000"/>
            <a:ext cx="2457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D4955EE-0AA9-42BC-AD69-A34EB15D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3B8C"/>
                </a:solidFill>
              </a:defRPr>
            </a:pPr>
            <a:r>
              <a:rPr sz="788" b="1">
                <a:solidFill>
                  <a:srgbClr val="163B8C"/>
                </a:solidFill>
              </a:rPr>
              <a:t>Riesgo de cambios</a:t>
            </a:r>
          </a:p>
        </p:txBody>
      </p:sp>
      <p:sp>
        <p:nvSpPr>
          <p:cNvPr id="29" name="takeaway">
            <a:extLst xmlns:a="http://schemas.openxmlformats.org/drawingml/2006/main">
              <a:ext uri="{FF2B5EF4-FFF2-40B4-BE49-F238E27FC236}">
                <a16:creationId xmlns:a16="http://schemas.microsoft.com/office/drawing/2014/main" id="{A9D2489F-A9A9-4CDD-9755-FC1C24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8382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3B8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33F9F39-D9F6-4132-BCAB-0CD785A2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803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Para PersonalSoft: el diferencial no es “tener una herramienta”, es operar un framework de madurez y gobierno sobre ella.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646526C-42A7-4B4A-B8ED-6F55C2D6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509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8EA1C8"/>
                </a:solidFill>
              </a:defRPr>
            </a:pPr>
            <a:r>
              <a:rPr sz="563" b="0">
                <a:solidFill>
                  <a:srgbClr val="8EA1C8"/>
                </a:solidFill>
              </a:rPr>
              <a:t>Fuente: Gartner AI Applications in ITSM 2024-2025; estudio de mercado</a:t>
            </a:r>
          </a:p>
        </p:txBody>
      </p:sp>
    </p:spTree>
    <p:extLst>
      <p:ext uri="{BB962C8B-B14F-4D97-AF65-F5344CB8AC3E}">
        <p14:creationId xmlns:p14="http://schemas.microsoft.com/office/powerpoint/2010/main" val="3697225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6C6C3E9-7A70-49B5-A85F-8B346321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Los grandes proveedores convergieron en la misma promesa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F94620-29BC-4B84-A2A2-EFEF0B3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AI-first, experiencia, automatización y modelos por resultado</a:t>
            </a:r>
          </a:p>
        </p:txBody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38B46953-E70F-495F-9801-BE024F3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2476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862F29-46FD-4E12-BAE0-A219FF11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AI-first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DB970C-9591-499B-A222-5D383613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Agentes virtuales, GenAI y asistencia al analista como estándar de mercado.</a:t>
            </a:r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351D8CF7-0357-40A1-AA55-C2C031E7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066800"/>
            <a:ext cx="2476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B593C3-01AE-46D4-B848-1B0FDFD8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00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XLA sobre SLA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8AF9DC-6A4B-41AF-8569-61997A52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La experiencia percibida entra al contrato junto con tiempos técnicos.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EEE1F32F-BCA5-45F1-9934-EDA74D06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066800"/>
            <a:ext cx="2476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2CDABC-3884-4229-A216-65BA0D24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Shift-left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F73469-8054-47A2-91FC-14EC8363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Más casos se resuelven en autoservicio, N0 y N1 asistido.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636B8AB3-89EE-44C0-B97B-05AA50D4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14600"/>
            <a:ext cx="2476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11430">
            <a:solidFill>
              <a:srgbClr val="7057E9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7E0171-18D2-4FEF-BD2A-40CF8D8E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57E9"/>
                </a:solidFill>
              </a:defRPr>
            </a:pPr>
            <a:r>
              <a:rPr sz="1050" b="1">
                <a:solidFill>
                  <a:srgbClr val="7057E9"/>
                </a:solidFill>
              </a:rPr>
              <a:t>AIOps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B04268-8FED-4281-81DB-4850E3F5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Observabilidad y correlación de eventos antes del ticket.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1EF2624D-C2D0-42E5-8172-FF516B7E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2476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3E21E4-8BCD-406D-87B0-022EA8D9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Outcome pricing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933A63B-B27F-475D-9B0A-E80091E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La conversación comercial migra de FTE a costo, ticket y resultado.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31D53F6B-5CB4-4E9B-A202-442E88C1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476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11430">
            <a:solidFill>
              <a:srgbClr val="C2342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8BDDE1F-D7B1-47E1-A637-DCB0FCB5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342E"/>
                </a:solidFill>
              </a:defRPr>
            </a:pPr>
            <a:r>
              <a:rPr sz="1050" b="1">
                <a:solidFill>
                  <a:srgbClr val="C2342E"/>
                </a:solidFill>
              </a:rPr>
              <a:t>Gobierno IA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0439923-34E0-4D94-89EB-8A75EF45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La autonomía solo escala con trazabilidad, controles y human-in-the-loop.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0BDB5B8-37A3-41C4-BFA2-F532590C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362"/>
                </a:solidFill>
              </a:defRPr>
            </a:pPr>
            <a:r>
              <a:rPr sz="1350" b="1">
                <a:solidFill>
                  <a:srgbClr val="0C2362"/>
                </a:solidFill>
              </a:rPr>
              <a:t>Implicación: la oferta Gen Next debe vender operación inteligente, no solamente mesa de tickets.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E999A1-3D0D-4554-89DE-DC80958F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509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8EA1C8"/>
                </a:solidFill>
              </a:defRPr>
            </a:pPr>
            <a:r>
              <a:rPr sz="563" b="0">
                <a:solidFill>
                  <a:srgbClr val="8EA1C8"/>
                </a:solidFill>
              </a:rPr>
              <a:t>Fuente: Benchmark Accenture, NTT DATA, TCS, HCLTech, Capgemini, Infosys</a:t>
            </a:r>
          </a:p>
        </p:txBody>
      </p:sp>
    </p:spTree>
    <p:extLst>
      <p:ext uri="{BB962C8B-B14F-4D97-AF65-F5344CB8AC3E}">
        <p14:creationId xmlns:p14="http://schemas.microsoft.com/office/powerpoint/2010/main" val="2268101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EE4D537-5AF6-4204-8427-D0A3078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Siete tendencias marcan el estándar de una mesa moderna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96947E5-9C10-4A4D-8BA8-81E15F8E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Lo que debe aparecer en la propuesta de servicio</a:t>
            </a:r>
          </a:p>
        </p:txBody>
      </p:sp>
      <p:sp>
        <p:nvSpPr>
          <p:cNvPr id="3" name="trend">
            <a:extLst xmlns:a="http://schemas.openxmlformats.org/drawingml/2006/main">
              <a:ext uri="{FF2B5EF4-FFF2-40B4-BE49-F238E27FC236}">
                <a16:creationId xmlns:a16="http://schemas.microsoft.com/office/drawing/2014/main" id="{B602F9E8-4F7C-4CC3-8BBB-4823CEC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85875"/>
            <a:ext cx="16954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388EC5-AF27-4F72-93AA-0D32AAC1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1. Autoservicio N0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59B196-51B4-449E-8DAA-D20E24C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Reduce demanda</a:t>
            </a:r>
          </a:p>
        </p:txBody>
      </p:sp>
      <p:sp>
        <p:nvSpPr>
          <p:cNvPr id="6" name="trend">
            <a:extLst xmlns:a="http://schemas.openxmlformats.org/drawingml/2006/main">
              <a:ext uri="{FF2B5EF4-FFF2-40B4-BE49-F238E27FC236}">
                <a16:creationId xmlns:a16="http://schemas.microsoft.com/office/drawing/2014/main" id="{FC3F7FB3-0C36-42C5-8EF2-1F491D8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85875"/>
            <a:ext cx="16954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DFF06A-2C6E-481C-8EA1-195FFAF6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57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2. Agente virtual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5A1F7F-9E6E-489C-BFED-28F5D0A8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Clasifica y resuelve</a:t>
            </a:r>
          </a:p>
        </p:txBody>
      </p:sp>
      <p:sp>
        <p:nvSpPr>
          <p:cNvPr id="9" name="trend">
            <a:extLst xmlns:a="http://schemas.openxmlformats.org/drawingml/2006/main">
              <a:ext uri="{FF2B5EF4-FFF2-40B4-BE49-F238E27FC236}">
                <a16:creationId xmlns:a16="http://schemas.microsoft.com/office/drawing/2014/main" id="{8412F5F7-14B7-4371-8DCA-94268263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85875"/>
            <a:ext cx="16954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DC2941-4D6C-4F79-8DCC-FFCD58AF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457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3. KCS / KEDB viva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EF3B25D-8D7B-4A6F-8C3D-7E13779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Aprende de tickets</a:t>
            </a:r>
          </a:p>
        </p:txBody>
      </p:sp>
      <p:sp>
        <p:nvSpPr>
          <p:cNvPr id="12" name="trend">
            <a:extLst xmlns:a="http://schemas.openxmlformats.org/drawingml/2006/main">
              <a:ext uri="{FF2B5EF4-FFF2-40B4-BE49-F238E27FC236}">
                <a16:creationId xmlns:a16="http://schemas.microsoft.com/office/drawing/2014/main" id="{F5BEECDC-32C9-40D0-B2E8-DD5F8435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85875"/>
            <a:ext cx="16954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4848AD-C9F8-44E4-8978-5B207CD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57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4. AIOps y observabilidad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2E39DF0-1B43-428D-B94A-3BE130F3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Anticipa eventos</a:t>
            </a:r>
          </a:p>
        </p:txBody>
      </p:sp>
      <p:sp>
        <p:nvSpPr>
          <p:cNvPr id="15" name="trend">
            <a:extLst xmlns:a="http://schemas.openxmlformats.org/drawingml/2006/main">
              <a:ext uri="{FF2B5EF4-FFF2-40B4-BE49-F238E27FC236}">
                <a16:creationId xmlns:a16="http://schemas.microsoft.com/office/drawing/2014/main" id="{9B777FFD-B08F-430D-A3EE-18790480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9875"/>
            <a:ext cx="16954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B78067-6140-4505-87D2-5AA3DAE4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81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5. XLA y DEX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82DCFE1-C3A7-4F41-B983-F48ED665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48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Mide experiencia</a:t>
            </a:r>
          </a:p>
        </p:txBody>
      </p:sp>
      <p:sp>
        <p:nvSpPr>
          <p:cNvPr id="18" name="trend">
            <a:extLst xmlns:a="http://schemas.openxmlformats.org/drawingml/2006/main">
              <a:ext uri="{FF2B5EF4-FFF2-40B4-BE49-F238E27FC236}">
                <a16:creationId xmlns:a16="http://schemas.microsoft.com/office/drawing/2014/main" id="{6D295F8F-7622-4CD2-BD39-DC859483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9875"/>
            <a:ext cx="16954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F6E1A4-A6AF-4E91-943F-5C8B86F5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81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6. Gobierno de IA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BE93117-72E6-4BFA-8F0B-B883889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48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Controla autonomía</a:t>
            </a:r>
          </a:p>
        </p:txBody>
      </p:sp>
      <p:sp>
        <p:nvSpPr>
          <p:cNvPr id="21" name="trend">
            <a:extLst xmlns:a="http://schemas.openxmlformats.org/drawingml/2006/main">
              <a:ext uri="{FF2B5EF4-FFF2-40B4-BE49-F238E27FC236}">
                <a16:creationId xmlns:a16="http://schemas.microsoft.com/office/drawing/2014/main" id="{2D730817-FD2E-434F-953F-D9F213FC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9875"/>
            <a:ext cx="16954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F7200AD-1BAB-4A24-953B-6155AE45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81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7. Pricing por outcome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7ADA242-DA62-4B8C-9C82-6F5D1400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48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Alinea valor</a:t>
            </a:r>
          </a:p>
        </p:txBody>
      </p:sp>
      <p:sp>
        <p:nvSpPr>
          <p:cNvPr id="24" name="bar">
            <a:extLst xmlns:a="http://schemas.openxmlformats.org/drawingml/2006/main">
              <a:ext uri="{FF2B5EF4-FFF2-40B4-BE49-F238E27FC236}">
                <a16:creationId xmlns:a16="http://schemas.microsoft.com/office/drawing/2014/main" id="{C405B7FF-A419-489C-A423-BE16FC2A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7572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2362"/>
          </a:solidFill>
          <a:ln xmlns:a="http://schemas.openxmlformats.org/drawingml/2006/main" w="11430">
            <a:solidFill>
              <a:srgbClr val="0C2362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A205EA9-48DD-432D-9E68-A754291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La mesa de nueva generación combina eficiencia operativa con confianza del cliente: menos tickets, más visibilidad, mejor experiencia.</a:t>
            </a:r>
          </a:p>
        </p:txBody>
      </p:sp>
    </p:spTree>
    <p:extLst>
      <p:ext uri="{BB962C8B-B14F-4D97-AF65-F5344CB8AC3E}">
        <p14:creationId xmlns:p14="http://schemas.microsoft.com/office/powerpoint/2010/main" val="1555643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50C483A-2974-4A3B-83D7-07D635C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El costo de no evolucionar no es solo operativo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930A7E-0733-4F22-9429-664AA68B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La mesa tradicional degrada margen, experiencia y capacidad comercial</a:t>
            </a:r>
          </a:p>
        </p:txBody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1FEB137D-8626-4F3D-8BE1-0FF30F80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714500" cy="1762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11430">
            <a:solidFill>
              <a:srgbClr val="C2342E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E8DE162-398A-41EA-B783-3101EA32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342E"/>
                </a:solidFill>
              </a:defRPr>
            </a:pPr>
            <a:r>
              <a:rPr sz="1050" b="1">
                <a:solidFill>
                  <a:srgbClr val="C2342E"/>
                </a:solidFill>
              </a:rPr>
              <a:t>Costo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7BC1D4-A80F-4A86-A994-F32CF67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4097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Más tickets llegan a humanos y el crecimiento depende de sumar FTE.</a:t>
            </a:r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12347180-BCA6-408D-81AB-C3DD47A8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190625"/>
            <a:ext cx="1714500" cy="1762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BF68BA-6A00-4094-8A73-992889CC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239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Experiencia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DC9CD5-4C4B-4163-ACB4-59EB3C9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47825"/>
            <a:ext cx="14097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El usuario ve tiempos cumplidos, pero no necesariamente siente solución.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FE3AEDEF-B280-4B33-B85C-27C3FADB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190625"/>
            <a:ext cx="1714500" cy="1762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413362-60EC-4625-AA23-3E32D34E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3239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Conocimiento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DE3A9CE-3E6E-4D56-A9C8-D636CFAB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47825"/>
            <a:ext cx="14097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La respuesta queda en personas, chats y correos; no escala.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8FBD428C-B9DA-4480-8FAA-9EA67AF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190625"/>
            <a:ext cx="1714500" cy="1762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11430">
            <a:solidFill>
              <a:srgbClr val="7057E9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E53C15-EF1F-48F3-B309-D3290C09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239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57E9"/>
                </a:solidFill>
              </a:defRPr>
            </a:pPr>
            <a:r>
              <a:rPr sz="1050" b="1">
                <a:solidFill>
                  <a:srgbClr val="7057E9"/>
                </a:solidFill>
              </a:rPr>
              <a:t>Riesgo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5576537-F1EB-4EFA-A293-18FB4C5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47825"/>
            <a:ext cx="14097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Sin gobierno de IA, la automatización puede fallar o no demostrar valor.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28D53A-A0C3-457A-AE59-CB9D2811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La oportunidad es rediseñar el servicio para que cada ticket cerrado alimente conocimiento, automatización y mejora.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35D75F8-70BA-4A56-8067-5631401E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509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8EA1C8"/>
                </a:solidFill>
              </a:defRPr>
            </a:pPr>
            <a:r>
              <a:rPr sz="563" b="0">
                <a:solidFill>
                  <a:srgbClr val="8EA1C8"/>
                </a:solidFill>
              </a:rPr>
              <a:t>Fuente: Estudio de mercado; modelo de madurez PersonalSoft</a:t>
            </a:r>
          </a:p>
        </p:txBody>
      </p:sp>
    </p:spTree>
    <p:extLst>
      <p:ext uri="{BB962C8B-B14F-4D97-AF65-F5344CB8AC3E}">
        <p14:creationId xmlns:p14="http://schemas.microsoft.com/office/powerpoint/2010/main" val="2414997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EF215B5-D183-45ED-9000-22E07F7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Implicaciones para PersonalSoft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72C9791-FEB8-4915-A259-3EAB2E8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C4FF"/>
                </a:solidFill>
              </a:defRPr>
            </a:pPr>
            <a:r>
              <a:rPr sz="1350" b="0">
                <a:solidFill>
                  <a:srgbClr val="9EC4FF"/>
                </a:solidFill>
              </a:rPr>
              <a:t>De benchmark de mercado a propuesta de servicio diferenciada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E7D8DE9-3FC9-4EC2-95FE-BB432315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PersonalSoft puede diferenciarse por modelo, no por herramienta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5043C6-EA2A-467C-9E34-5FBC80E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La herramienta del cliente primero; si no existe, PS aporta una base estándar</a:t>
            </a:r>
          </a:p>
        </p:txBody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2389CCEA-54B2-4EE5-8E15-6F04A52C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66800"/>
            <a:ext cx="247650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2A13A7-5149-4EF6-98B3-50E65E34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1. Diagnóstico de madurez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CB7620-EE54-464A-8BC9-DC6CBEE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1717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Clasificador inicial de mesa de ayuda / soporte, nivel N0-N5 y brechas por 4 dimensiones.</a:t>
            </a:r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CBDD5267-684E-461A-B1E0-F0396E7A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247650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3A7585-4A8B-4A45-9969-FF8D089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200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2. Operación gestionada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C87157-DEB6-4A16-ACC5-EB5285BC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21717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Roles, RACI, catálogo, ANS/XLA, gobierno mensual y mejora continua con datos.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89F35F56-9A59-4D0E-8E04-69C3BB9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66800"/>
            <a:ext cx="247650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DC761FA-F0B0-45B0-9B45-33E9430E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00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3. Inteligencia aplicada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161E71-23CB-4E97-B340-DBFA6F6E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21717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KEDB/KCS, agent assist, AIOps, automatización y gobierno de IA para escalar sin perder control.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44120F-CE22-44E7-A727-FFE3DBF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C2362"/>
                </a:solidFill>
              </a:defRPr>
            </a:pPr>
            <a:r>
              <a:rPr sz="1425" b="1">
                <a:solidFill>
                  <a:srgbClr val="0C2362"/>
                </a:solidFill>
              </a:rPr>
              <a:t>La promesa comercial: pasar de staff augmentation a un servicio gestionado, medible y evolutivo.</a:t>
            </a:r>
          </a:p>
        </p:txBody>
      </p:sp>
    </p:spTree>
    <p:extLst>
      <p:ext uri="{BB962C8B-B14F-4D97-AF65-F5344CB8AC3E}">
        <p14:creationId xmlns:p14="http://schemas.microsoft.com/office/powerpoint/2010/main" val="1693122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48DE222-76F2-4131-9243-51C44FDE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Mesa tradicional vs. Mesa Gen Next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2D3126-99B0-4FA8-A487-B0B73C82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La diferencia está en cómo se captura, resuelve y aprende la operación</a:t>
            </a:r>
          </a:p>
        </p:txBody>
      </p:sp>
      <p:sp>
        <p:nvSpPr>
          <p:cNvPr id="3" name="left">
            <a:extLst xmlns:a="http://schemas.openxmlformats.org/drawingml/2006/main">
              <a:ext uri="{FF2B5EF4-FFF2-40B4-BE49-F238E27FC236}">
                <a16:creationId xmlns:a16="http://schemas.microsoft.com/office/drawing/2014/main" id="{CC0431FE-C2A2-4A50-A10A-80EC7DCD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667125" cy="300037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11430">
            <a:solidFill>
              <a:srgbClr val="C2342E"/>
            </a:solidFill>
            <a:prstDash val="solid"/>
          </a:ln>
        </p:spPr>
      </p:sp>
      <p:sp>
        <p:nvSpPr>
          <p:cNvPr id="4" name="right">
            <a:extLst xmlns:a="http://schemas.openxmlformats.org/drawingml/2006/main">
              <a:ext uri="{FF2B5EF4-FFF2-40B4-BE49-F238E27FC236}">
                <a16:creationId xmlns:a16="http://schemas.microsoft.com/office/drawing/2014/main" id="{B3495629-FCBA-4C84-95AE-95320C11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66800"/>
            <a:ext cx="3667125" cy="300037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DFA666-ACE3-43DE-B738-6585AB8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2342E"/>
                </a:solidFill>
              </a:defRPr>
            </a:pPr>
            <a:r>
              <a:rPr sz="1500" b="1">
                <a:solidFill>
                  <a:srgbClr val="C2342E"/>
                </a:solidFill>
              </a:rPr>
              <a:t>Mesa tradicional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E8C297-6F8E-4627-95E4-B0B8F1DA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57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835A"/>
                </a:solidFill>
              </a:defRPr>
            </a:pPr>
            <a:r>
              <a:rPr sz="1500" b="1">
                <a:solidFill>
                  <a:srgbClr val="20835A"/>
                </a:solidFill>
              </a:rPr>
              <a:t>Mesa Gen Next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5B6E84-64BE-47DC-A08F-29AA9357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905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Reactiva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Depende de personas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SLA como medición principal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Tickets cerrados sin aprendizaje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Crece sumando FTE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Reporte manual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F13F8F-31D2-4B71-9CA4-BEACF40A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62125"/>
            <a:ext cx="2905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Predictiva y asistida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Conocimiento institucionalizado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SLA + XLA + DEX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Cada cierre alimenta KCS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Escala con automatización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 Tablero ejecutivo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6C6D070B-E816-461C-8154-35A7B75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45720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E51584F-B44E-4C7D-AC91-3ACC1F5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509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8EA1C8"/>
                </a:solidFill>
              </a:defRPr>
            </a:pPr>
            <a:r>
              <a:rPr sz="563" b="0">
                <a:solidFill>
                  <a:srgbClr val="8EA1C8"/>
                </a:solidFill>
              </a:rPr>
              <a:t>Fuente: Modelo de madurez PersonalSoft</a:t>
            </a: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CE5B647-E18D-4527-9BD0-C47DB796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Colombia abre una ventana para industrializar el servicio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706031D-C4A5-4EBF-8777-2D5C00C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Regulación, digitalización e IA elevan la expectativa del cliente</a:t>
            </a:r>
          </a:p>
        </p:txBody>
      </p:sp>
      <p:sp>
        <p:nvSpPr>
          <p:cNvPr id="3" name="metric-card">
            <a:extLst xmlns:a="http://schemas.openxmlformats.org/drawingml/2006/main">
              <a:ext uri="{FF2B5EF4-FFF2-40B4-BE49-F238E27FC236}">
                <a16:creationId xmlns:a16="http://schemas.microsoft.com/office/drawing/2014/main" id="{E7F2BDC5-CAA7-40D1-BFE1-A964A181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0955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C8D1E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65B298-155A-42C6-9BA5-50F0297A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B83"/>
                </a:solidFill>
              </a:defRPr>
            </a:pPr>
            <a:r>
              <a:rPr sz="1950" b="1">
                <a:solidFill>
                  <a:srgbClr val="087B83"/>
                </a:solidFill>
              </a:rPr>
              <a:t>81%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3E9784-79C2-43F0-8AB9-B875DACE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47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Banca colombiana con uso de IA</a:t>
            </a:r>
          </a:p>
        </p:txBody>
      </p:sp>
      <p:sp>
        <p:nvSpPr>
          <p:cNvPr id="6" name="metric-card">
            <a:extLst xmlns:a="http://schemas.openxmlformats.org/drawingml/2006/main">
              <a:ext uri="{FF2B5EF4-FFF2-40B4-BE49-F238E27FC236}">
                <a16:creationId xmlns:a16="http://schemas.microsoft.com/office/drawing/2014/main" id="{00F2F4F7-D4C2-4476-986E-2EAABF09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19200"/>
            <a:ext cx="20955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C8D1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9228B1-6AA1-4C7F-878E-346D4F01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097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3B8C"/>
                </a:solidFill>
              </a:defRPr>
            </a:pPr>
            <a:r>
              <a:rPr sz="1950" b="1">
                <a:solidFill>
                  <a:srgbClr val="163B8C"/>
                </a:solidFill>
              </a:rPr>
              <a:t>63.45%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8C93A3-1F69-4F1B-93D5-96A897EF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Adopción cloud como impulsor</a:t>
            </a:r>
          </a:p>
        </p:txBody>
      </p:sp>
      <p:sp>
        <p:nvSpPr>
          <p:cNvPr id="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11E3B50C-F828-42BE-8CAB-CAB006B7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19200"/>
            <a:ext cx="20955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C8D1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39F2D8-4618-4CC2-A496-B62051F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097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835A"/>
                </a:solidFill>
              </a:defRPr>
            </a:pPr>
            <a:r>
              <a:rPr sz="1950" b="1">
                <a:solidFill>
                  <a:srgbClr val="20835A"/>
                </a:solidFill>
              </a:rPr>
              <a:t>13.82%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137064-5525-4722-9B97-6D18CAF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47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Servicios crecen más rápido que soluciones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05EA8A3C-E164-4294-835D-18F4DD3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381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033D6D-1EA2-4578-A4A6-D48598C3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Banca y seguros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E732BC-C0FA-48FC-BF62-703D1E74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Continuidad, trazabilidad, SFC/SOX, fraude y canales digitales.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6CAB3404-0918-45DC-8672-ED919DA9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2381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6E92AA-5E0D-45B5-85A1-14F657D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Salud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7C29AF0-F78C-4564-879E-FEE33A6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Continuidad asistencial, datos clínicos y trazabilidad de historia.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E9811BEA-026F-4F23-9919-8DF5A229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2381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3738C10-A811-4ECE-B7BD-F990BE65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Energía y utilities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D0956D4-C837-474A-8B69-F35F3111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Operación crítica 24x7, eventos, observabilidad y continuidad.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7F6A455-3D2F-465A-98E5-4425A818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509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8EA1C8"/>
                </a:solidFill>
              </a:defRPr>
            </a:pPr>
            <a:r>
              <a:rPr sz="563" b="0">
                <a:solidFill>
                  <a:srgbClr val="8EA1C8"/>
                </a:solidFill>
              </a:rPr>
              <a:t>Fuente: Mordor Intelligence Colombia ITSM; Superintendencia Financiera; estudio de mercado</a:t>
            </a:r>
          </a:p>
        </p:txBody>
      </p:sp>
    </p:spTree>
    <p:extLst>
      <p:ext uri="{BB962C8B-B14F-4D97-AF65-F5344CB8AC3E}">
        <p14:creationId xmlns:p14="http://schemas.microsoft.com/office/powerpoint/2010/main" val="11061401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4E67CAA-A6BC-437A-9B94-DD452E4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La evaluación inicial traduce mercado en una oferta vendible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1A29F2B-1062-43C2-9A43-4D14EA74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14 dimensiones, 4 ejes y una propuesta diferenciada</a:t>
            </a:r>
          </a:p>
        </p:txBody>
      </p:sp>
      <p:sp>
        <p:nvSpPr>
          <p:cNvPr id="3" name="level">
            <a:extLst xmlns:a="http://schemas.openxmlformats.org/drawingml/2006/main">
              <a:ext uri="{FF2B5EF4-FFF2-40B4-BE49-F238E27FC236}">
                <a16:creationId xmlns:a16="http://schemas.microsoft.com/office/drawing/2014/main" id="{EEC317CC-8DA1-4751-A52F-5AE033AB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3525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0835A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6151ED-9E28-451C-94FD-17F577A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N0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Autoservicio</a:t>
            </a:r>
          </a:p>
        </p:txBody>
      </p:sp>
      <p:sp>
        <p:nvSpPr>
          <p:cNvPr id="5" name="level">
            <a:extLst xmlns:a="http://schemas.openxmlformats.org/drawingml/2006/main">
              <a:ext uri="{FF2B5EF4-FFF2-40B4-BE49-F238E27FC236}">
                <a16:creationId xmlns:a16="http://schemas.microsoft.com/office/drawing/2014/main" id="{852A8EC6-4F61-49B8-972C-8E5E5616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000125"/>
            <a:ext cx="13525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99A5B"/>
          </a:solidFill>
          <a:ln xmlns:a="http://schemas.openxmlformats.org/drawingml/2006/main" w="11430">
            <a:solidFill>
              <a:srgbClr val="399A5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844E19-DE8B-4A3B-996A-7A84A86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1811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N1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Inicial</a:t>
            </a:r>
          </a:p>
        </p:txBody>
      </p:sp>
      <p:sp>
        <p:nvSpPr>
          <p:cNvPr id="7" name="level">
            <a:extLst xmlns:a="http://schemas.openxmlformats.org/drawingml/2006/main">
              <a:ext uri="{FF2B5EF4-FFF2-40B4-BE49-F238E27FC236}">
                <a16:creationId xmlns:a16="http://schemas.microsoft.com/office/drawing/2014/main" id="{B4602952-4D6F-4FB8-9399-66817DF8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00125"/>
            <a:ext cx="13525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A514"/>
          </a:solidFill>
          <a:ln xmlns:a="http://schemas.openxmlformats.org/drawingml/2006/main" w="11430">
            <a:solidFill>
              <a:srgbClr val="D9A51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D1E79A-8B8A-4B5A-80BC-71C0A6E2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811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N2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Administrado</a:t>
            </a:r>
          </a:p>
        </p:txBody>
      </p:sp>
      <p:sp>
        <p:nvSpPr>
          <p:cNvPr id="9" name="level">
            <a:extLst xmlns:a="http://schemas.openxmlformats.org/drawingml/2006/main">
              <a:ext uri="{FF2B5EF4-FFF2-40B4-BE49-F238E27FC236}">
                <a16:creationId xmlns:a16="http://schemas.microsoft.com/office/drawing/2014/main" id="{07005E85-0B11-4F83-B1DE-BF2270CA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000125"/>
            <a:ext cx="13525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7A00"/>
          </a:solidFill>
          <a:ln xmlns:a="http://schemas.openxmlformats.org/drawingml/2006/main" w="11430">
            <a:solidFill>
              <a:srgbClr val="E47A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4F0DDA-48DA-4759-8BCC-977DCFA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1811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N3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Definido</a:t>
            </a:r>
          </a:p>
        </p:txBody>
      </p:sp>
      <p:sp>
        <p:nvSpPr>
          <p:cNvPr id="11" name="level">
            <a:extLst xmlns:a="http://schemas.openxmlformats.org/drawingml/2006/main">
              <a:ext uri="{FF2B5EF4-FFF2-40B4-BE49-F238E27FC236}">
                <a16:creationId xmlns:a16="http://schemas.microsoft.com/office/drawing/2014/main" id="{F90B0E2D-8193-4BFD-B603-6F3476C8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000125"/>
            <a:ext cx="13525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875B9"/>
          </a:solidFill>
          <a:ln xmlns:a="http://schemas.openxmlformats.org/drawingml/2006/main" w="11430">
            <a:solidFill>
              <a:srgbClr val="2875B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9F06B9-10B9-479E-99EF-70A7B8FB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811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N4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Cuantitativo</a:t>
            </a:r>
          </a:p>
        </p:txBody>
      </p:sp>
      <p:sp>
        <p:nvSpPr>
          <p:cNvPr id="13" name="level">
            <a:extLst xmlns:a="http://schemas.openxmlformats.org/drawingml/2006/main">
              <a:ext uri="{FF2B5EF4-FFF2-40B4-BE49-F238E27FC236}">
                <a16:creationId xmlns:a16="http://schemas.microsoft.com/office/drawing/2014/main" id="{1A642DCE-002D-48B0-BE44-FCC15438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000125"/>
            <a:ext cx="13525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B8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C8750E0-5798-425F-ABFB-7D55B760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1811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N5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Optimizado</a:t>
            </a:r>
          </a:p>
        </p:txBody>
      </p:sp>
      <p:sp>
        <p:nvSpPr>
          <p:cNvPr id="15" name="axis">
            <a:extLst xmlns:a="http://schemas.openxmlformats.org/drawingml/2006/main">
              <a:ext uri="{FF2B5EF4-FFF2-40B4-BE49-F238E27FC236}">
                <a16:creationId xmlns:a16="http://schemas.microsoft.com/office/drawing/2014/main" id="{144DDCEE-B9DE-4A56-91F9-6AD82001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0"/>
            <a:ext cx="40576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E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6" name="circle">
            <a:extLst xmlns:a="http://schemas.openxmlformats.org/drawingml/2006/main">
              <a:ext uri="{FF2B5EF4-FFF2-40B4-BE49-F238E27FC236}">
                <a16:creationId xmlns:a16="http://schemas.microsoft.com/office/drawing/2014/main" id="{6AA2E5BC-0B6C-4EE8-ADF0-C6B58132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8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3BA626D-D49A-486C-819D-2993A1CA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5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2D40C64-9209-40FD-8CBD-0365488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8C"/>
                </a:solidFill>
              </a:defRPr>
            </a:pPr>
            <a:r>
              <a:rPr sz="975" b="1">
                <a:solidFill>
                  <a:srgbClr val="163B8C"/>
                </a:solidFill>
              </a:rPr>
              <a:t>Modelo operativo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90E4F35-1AEE-4555-A0AD-BD9902F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32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Niveles, gobierno, catálogo y modelo económico</a:t>
            </a:r>
          </a:p>
        </p:txBody>
      </p:sp>
      <p:sp>
        <p:nvSpPr>
          <p:cNvPr id="20" name="axis">
            <a:extLst xmlns:a="http://schemas.openxmlformats.org/drawingml/2006/main">
              <a:ext uri="{FF2B5EF4-FFF2-40B4-BE49-F238E27FC236}">
                <a16:creationId xmlns:a16="http://schemas.microsoft.com/office/drawing/2014/main" id="{BEF2C8B5-0857-401D-B100-B13CB467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40576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E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21" name="circle">
            <a:extLst xmlns:a="http://schemas.openxmlformats.org/drawingml/2006/main">
              <a:ext uri="{FF2B5EF4-FFF2-40B4-BE49-F238E27FC236}">
                <a16:creationId xmlns:a16="http://schemas.microsoft.com/office/drawing/2014/main" id="{ACF9AEAD-0524-4B13-8318-31E99A02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83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195F9BD-CC50-4B3F-8519-EAF311A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5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BAF6A1D-12A8-40BD-9E69-E2DD0CA5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57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B83"/>
                </a:solidFill>
              </a:defRPr>
            </a:pPr>
            <a:r>
              <a:rPr sz="975" b="1">
                <a:solidFill>
                  <a:srgbClr val="087B83"/>
                </a:solidFill>
              </a:rPr>
              <a:t>Inteligencia y automatización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9F93477-F4C2-43F5-83FE-A9E656BE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432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IA, automatización, Knowledge Hub y AIOps</a:t>
            </a:r>
          </a:p>
        </p:txBody>
      </p:sp>
      <p:sp>
        <p:nvSpPr>
          <p:cNvPr id="25" name="axis">
            <a:extLst xmlns:a="http://schemas.openxmlformats.org/drawingml/2006/main">
              <a:ext uri="{FF2B5EF4-FFF2-40B4-BE49-F238E27FC236}">
                <a16:creationId xmlns:a16="http://schemas.microsoft.com/office/drawing/2014/main" id="{8B8F970C-261E-4D90-9217-54C451B7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62350"/>
            <a:ext cx="40576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26" name="circle">
            <a:extLst xmlns:a="http://schemas.openxmlformats.org/drawingml/2006/main">
              <a:ext uri="{FF2B5EF4-FFF2-40B4-BE49-F238E27FC236}">
                <a16:creationId xmlns:a16="http://schemas.microsoft.com/office/drawing/2014/main" id="{F601FD59-217F-486E-AC34-C198E93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24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2F13365-3BDA-47EB-8B0F-BF80CF17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38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20EFFEE-303A-42B2-869E-199F04A2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433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EBE"/>
                </a:solidFill>
              </a:defRPr>
            </a:pPr>
            <a:r>
              <a:rPr sz="975" b="1">
                <a:solidFill>
                  <a:srgbClr val="1E5EBE"/>
                </a:solidFill>
              </a:rPr>
              <a:t>Experiencia y medición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47E2364-5B09-4077-9805-72D3B0EC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290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Autoservicio N0, SLA+XLA, DEX y calidad</a:t>
            </a:r>
          </a:p>
        </p:txBody>
      </p:sp>
      <p:sp>
        <p:nvSpPr>
          <p:cNvPr id="30" name="axis">
            <a:extLst xmlns:a="http://schemas.openxmlformats.org/drawingml/2006/main">
              <a:ext uri="{FF2B5EF4-FFF2-40B4-BE49-F238E27FC236}">
                <a16:creationId xmlns:a16="http://schemas.microsoft.com/office/drawing/2014/main" id="{55F88663-A518-438F-852C-D348F62C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40576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E"/>
          </a:solidFill>
          <a:ln xmlns:a="http://schemas.openxmlformats.org/drawingml/2006/main" w="11430">
            <a:solidFill>
              <a:srgbClr val="7057E9"/>
            </a:solidFill>
            <a:prstDash val="solid"/>
          </a:ln>
        </p:spPr>
      </p:sp>
      <p:sp>
        <p:nvSpPr>
          <p:cNvPr id="31" name="circle">
            <a:extLst xmlns:a="http://schemas.openxmlformats.org/drawingml/2006/main">
              <a:ext uri="{FF2B5EF4-FFF2-40B4-BE49-F238E27FC236}">
                <a16:creationId xmlns:a16="http://schemas.microsoft.com/office/drawing/2014/main" id="{5E1CA0C4-2BEC-409B-B3E5-063240C8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24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7E9"/>
          </a:solidFill>
          <a:ln xmlns:a="http://schemas.openxmlformats.org/drawingml/2006/main" w="11430">
            <a:solidFill>
              <a:srgbClr val="7057E9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E4A1BEC-20A3-4038-BB6C-42078A73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38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AFA5652-DBFE-4537-9910-8E888525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433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57E9"/>
                </a:solidFill>
              </a:defRPr>
            </a:pPr>
            <a:r>
              <a:rPr sz="975" b="1">
                <a:solidFill>
                  <a:srgbClr val="7057E9"/>
                </a:solidFill>
              </a:rPr>
              <a:t>Evolución y gobierno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6265A4E-D345-4DB6-9747-24CB2B9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290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Roadmap, transición, métricas y mejora continua</a:t>
            </a:r>
          </a:p>
        </p:txBody>
      </p:sp>
    </p:spTree>
    <p:extLst>
      <p:ext uri="{BB962C8B-B14F-4D97-AF65-F5344CB8AC3E}">
        <p14:creationId xmlns:p14="http://schemas.microsoft.com/office/powerpoint/2010/main" val="41998071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F0AC5A8-D76C-4821-B701-B360740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Servicio Gen Next: una arquitectura de atención y aprendizaje continuo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81C4F43-44D2-4B04-89F6-F12917EB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N0-N3, gobierno, conocimiento e IA conectados en un solo modelo</a:t>
            </a:r>
          </a:p>
        </p:txBody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60E3295D-4A0B-47EA-A896-1398F5B0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3500"/>
            <a:ext cx="16002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485157-C0FA-4EDF-9EA9-DBD42C08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N0 Autoservicio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C1D7E6D-8B31-4C67-B4F9-728343EE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295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Portal, catálogo, FAQ, agente virtual y KEDB expuesta al usuario.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DBEED432-DE78-4612-9DD1-0933072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859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AFA13955-7FB5-4FAD-90D4-91D7AEB5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33500"/>
            <a:ext cx="16002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9BC206-F8D7-421D-8E02-DCEC30F6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4668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N1 Front-end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48EC8C-C7A1-4328-BC13-860C6693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90700"/>
            <a:ext cx="1295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Intake, clasificación, FCR, comunicación y escalamiento estructurado.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6BC27E40-2F05-4E72-928D-92ADEA63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6A27D17C-4B2B-4199-A98A-832B49D0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33500"/>
            <a:ext cx="16002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1400567-55EB-4857-8E99-3693631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N2 Especializado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10F7E68-7240-4088-9D6C-FAE96CB6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1295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Diagnóstico técnico, coordinación, soporte aplicativo y proveedores.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DECE7C22-C157-486C-B33E-F76A3834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5DA69E41-AF4F-4D3E-999E-EF3DD307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33500"/>
            <a:ext cx="16002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D012C8-0FBC-4235-93DA-7DA1EB02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668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N3 Back-end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B19A0A6-6FF0-490E-8E11-EFB8DB37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1295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Causa raíz, parches, alto impacto, cambios y dominio profundo.</a:t>
            </a:r>
          </a:p>
        </p:txBody>
      </p:sp>
      <p:sp>
        <p:nvSpPr>
          <p:cNvPr id="18" name="hub">
            <a:extLst xmlns:a="http://schemas.openxmlformats.org/drawingml/2006/main">
              <a:ext uri="{FF2B5EF4-FFF2-40B4-BE49-F238E27FC236}">
                <a16:creationId xmlns:a16="http://schemas.microsoft.com/office/drawing/2014/main" id="{D1CBAAEA-712E-4A72-95AF-B035AC1E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70866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1E4150-4F01-45CB-A8F2-E0BA432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C2362"/>
                </a:solidFill>
              </a:defRPr>
            </a:pPr>
            <a:r>
              <a:rPr sz="1425" b="1">
                <a:solidFill>
                  <a:srgbClr val="0C2362"/>
                </a:solidFill>
              </a:rPr>
              <a:t>Knowledge Hub + AIOps + Gobierno SLA/XLA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0CB0B8-DBB4-48E9-BF7B-01C47DA5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52875"/>
            <a:ext cx="670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Cada interacción alimenta conocimiento, automatización, métricas y planes de mejora.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ite-canvas">
            <a:extLst xmlns:a="http://schemas.openxmlformats.org/drawingml/2006/main">
              <a:ext uri="{FF2B5EF4-FFF2-40B4-BE49-F238E27FC236}">
                <a16:creationId xmlns:a16="http://schemas.microsoft.com/office/drawing/2014/main" id="{445D28AD-E749-4F5D-90BC-F62F8D3E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45FDA1-29EC-4E5B-95DF-C214367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El servicio debe venderse como catálogo modular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32E812-1E96-4B8F-BDAB-AE226E5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Una base gestionada más capacidades inmersas y servicios complementarios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3F4A0128-AE6C-4D26-B49F-1C19BBD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809750" cy="2762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AD8619-10B5-4238-9B73-346B04B3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Base operativa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46911AD-3B4A-490F-9268-24A2545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5049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Punto único de contacto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Gestión de incidentes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Gestión de solicitudes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ANS/SLA por prioridad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Reporte mensual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ACDD0597-694D-4454-8D49-F492530B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43000"/>
            <a:ext cx="1809750" cy="2762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8BAD0B-EB72-4DFE-9B81-AB5F6B1A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76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Capacidades Gen Next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9B008AD-B51F-4765-BB05-C041ECA5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00200"/>
            <a:ext cx="15049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Portal N0 y agente virtual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KEDB/KCS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Agent assist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AIOps y observabilidad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SLA + XLA + DEX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75AE288F-84DD-4128-8757-CC7A59D2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43000"/>
            <a:ext cx="1809750" cy="2762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B05ABA-D5CF-44AA-A0AB-6F671F7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76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Servicios inmersos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89B904-18CD-43B6-978E-47C9F118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15049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RACI y gobierno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Catálogo y alcance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Gestión de problemas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Change enablement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Mejora continua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AE063C85-68A6-4E84-8AD1-1F949458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1809750" cy="2762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B9178B-1F8D-456C-A96D-759C1FB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76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Complementarios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4377773-95C5-4298-9334-E2E6C73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00200"/>
            <a:ext cx="15049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Modernización apps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Seguridad aplicativa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DevOps / automatización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Performance engineering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Gobierno de datos e IA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0BCA3D-F675-40A3-9867-805C6CA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362"/>
                </a:solidFill>
              </a:defRPr>
            </a:pPr>
            <a:r>
              <a:rPr sz="1125" b="1">
                <a:solidFill>
                  <a:srgbClr val="0C2362"/>
                </a:solidFill>
              </a:rPr>
              <a:t>Principio comercial: herramienta del cliente primero; si no tiene, PS provee una herramienta estándar.</a:t>
            </a:r>
          </a:p>
        </p:txBody>
      </p:sp>
    </p:spTree>
    <p:extLst>
      <p:ext uri="{BB962C8B-B14F-4D97-AF65-F5344CB8AC3E}">
        <p14:creationId xmlns:p14="http://schemas.microsoft.com/office/powerpoint/2010/main" val="6396576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BA2C36F-0C7D-484D-8DC1-8556EF62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Modelo de soporte por niveles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8A567B6-6649-4974-859B-C0DF30C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Shift-left: resolver antes, escalar mejor y dejar evidencia</a:t>
            </a:r>
          </a:p>
        </p:txBody>
      </p:sp>
      <p:sp>
        <p:nvSpPr>
          <p:cNvPr id="3" name="level">
            <a:extLst xmlns:a="http://schemas.openxmlformats.org/drawingml/2006/main">
              <a:ext uri="{FF2B5EF4-FFF2-40B4-BE49-F238E27FC236}">
                <a16:creationId xmlns:a16="http://schemas.microsoft.com/office/drawing/2014/main" id="{ADD71AA4-9DBD-4EE8-A09E-680C8A56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0150"/>
            <a:ext cx="1428750" cy="247650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4" name="num">
            <a:extLst xmlns:a="http://schemas.openxmlformats.org/drawingml/2006/main">
              <a:ext uri="{FF2B5EF4-FFF2-40B4-BE49-F238E27FC236}">
                <a16:creationId xmlns:a16="http://schemas.microsoft.com/office/drawing/2014/main" id="{8CAEFFF1-DC89-4F18-AFEC-4A312E2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35A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E6F9AB-D72F-4943-B6B7-F9A4E9D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383DDD-D67F-44EB-9ABF-093AC65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Autoservicio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FE1754-B6BE-4985-B05A-0E5D9FAA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116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Deflexión &gt;30%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Disponible 24x7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Resuelve solicitudes frecuentes</a:t>
            </a:r>
          </a:p>
        </p:txBody>
      </p:sp>
      <p:sp>
        <p:nvSpPr>
          <p:cNvPr id="8" name="level">
            <a:extLst xmlns:a="http://schemas.openxmlformats.org/drawingml/2006/main">
              <a:ext uri="{FF2B5EF4-FFF2-40B4-BE49-F238E27FC236}">
                <a16:creationId xmlns:a16="http://schemas.microsoft.com/office/drawing/2014/main" id="{D49BD82A-E91E-4B4A-A8FE-B3F55610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200150"/>
            <a:ext cx="1428750" cy="247650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9" name="num">
            <a:extLst xmlns:a="http://schemas.openxmlformats.org/drawingml/2006/main">
              <a:ext uri="{FF2B5EF4-FFF2-40B4-BE49-F238E27FC236}">
                <a16:creationId xmlns:a16="http://schemas.microsoft.com/office/drawing/2014/main" id="{EF31C768-5AB8-49C9-9ABA-1B2F02A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390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83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A24BFF-CF1F-4564-97E2-EFD68364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5240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B66B86C-C702-4E79-A0FB-5694512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133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Front-end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3AC0CD-4379-4211-ACE9-8405957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552700"/>
            <a:ext cx="116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FCR objetivo &gt;75%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Registro y categorización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Comunicación al usuario</a:t>
            </a:r>
          </a:p>
        </p:txBody>
      </p:sp>
      <p:sp>
        <p:nvSpPr>
          <p:cNvPr id="13" name="level">
            <a:extLst xmlns:a="http://schemas.openxmlformats.org/drawingml/2006/main">
              <a:ext uri="{FF2B5EF4-FFF2-40B4-BE49-F238E27FC236}">
                <a16:creationId xmlns:a16="http://schemas.microsoft.com/office/drawing/2014/main" id="{DDBC134D-498E-43DA-A553-B4EF3D82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00150"/>
            <a:ext cx="1428750" cy="247650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4" name="num">
            <a:extLst xmlns:a="http://schemas.openxmlformats.org/drawingml/2006/main">
              <a:ext uri="{FF2B5EF4-FFF2-40B4-BE49-F238E27FC236}">
                <a16:creationId xmlns:a16="http://schemas.microsoft.com/office/drawing/2014/main" id="{060EE539-2AEA-481D-B74B-93035099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390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A00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91EED3-00DE-4038-AC85-29F32029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240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D834AFA-2076-4931-AC6A-9B20FF5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33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Especializado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7AD315E-2B4E-42AA-81D2-CE48C019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52700"/>
            <a:ext cx="116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Diagnóstico avanzado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Soporte aplicativo/campo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Coordinación proveedores</a:t>
            </a:r>
          </a:p>
        </p:txBody>
      </p:sp>
      <p:sp>
        <p:nvSpPr>
          <p:cNvPr id="18" name="level">
            <a:extLst xmlns:a="http://schemas.openxmlformats.org/drawingml/2006/main">
              <a:ext uri="{FF2B5EF4-FFF2-40B4-BE49-F238E27FC236}">
                <a16:creationId xmlns:a16="http://schemas.microsoft.com/office/drawing/2014/main" id="{EAC72BB2-F0A7-4EF7-8256-E9E46144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200150"/>
            <a:ext cx="1428750" cy="247650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9" name="num">
            <a:extLst xmlns:a="http://schemas.openxmlformats.org/drawingml/2006/main">
              <a:ext uri="{FF2B5EF4-FFF2-40B4-BE49-F238E27FC236}">
                <a16:creationId xmlns:a16="http://schemas.microsoft.com/office/drawing/2014/main" id="{F01E94BD-7F56-4E89-8B6D-25963440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90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8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2512E8D-AAC7-46E8-8C00-E162A5E9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5240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B242D4D-FD09-4F63-8CA0-9821F67F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33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Back-end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39A02E6-C1FD-44AE-AAFC-4E454FB9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52700"/>
            <a:ext cx="116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P1/P2 y RCA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Parches y cambios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Especialistas de dominio</a:t>
            </a:r>
          </a:p>
        </p:txBody>
      </p:sp>
      <p:sp>
        <p:nvSpPr>
          <p:cNvPr id="23" name="level">
            <a:extLst xmlns:a="http://schemas.openxmlformats.org/drawingml/2006/main">
              <a:ext uri="{FF2B5EF4-FFF2-40B4-BE49-F238E27FC236}">
                <a16:creationId xmlns:a16="http://schemas.microsoft.com/office/drawing/2014/main" id="{9407E459-DB56-4ABB-A014-BA866536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00150"/>
            <a:ext cx="1428750" cy="247650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5B667A"/>
            </a:solidFill>
            <a:prstDash val="solid"/>
          </a:ln>
        </p:spPr>
      </p:sp>
      <p:sp>
        <p:nvSpPr>
          <p:cNvPr id="24" name="num">
            <a:extLst xmlns:a="http://schemas.openxmlformats.org/drawingml/2006/main">
              <a:ext uri="{FF2B5EF4-FFF2-40B4-BE49-F238E27FC236}">
                <a16:creationId xmlns:a16="http://schemas.microsoft.com/office/drawing/2014/main" id="{39887DA5-A099-4865-AC83-382C620B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90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67A"/>
          </a:solidFill>
          <a:ln xmlns:a="http://schemas.openxmlformats.org/drawingml/2006/main" w="11430">
            <a:solidFill>
              <a:srgbClr val="5B667A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8426460-155F-40A5-81AC-6B0D8BBF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240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N4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808F776-9559-4B26-AAFF-647D77D9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A"/>
                </a:solidFill>
              </a:defRPr>
            </a:pPr>
            <a:r>
              <a:rPr sz="1050" b="1">
                <a:solidFill>
                  <a:srgbClr val="5B667A"/>
                </a:solidFill>
              </a:rPr>
              <a:t>Terceros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AC84733-FF56-4FD8-B9B3-01F6AE2B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16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Fabricantes, cloud,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operadores y soporte</a:t>
            </a:r>
          </a:p>
          <a:p xmlns:a="http://schemas.openxmlformats.org/drawingml/2006/main"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especializado externo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20DCAEE-9E69-41C0-B01D-7C67772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362"/>
                </a:solidFill>
              </a:defRPr>
            </a:pPr>
            <a:r>
              <a:rPr sz="1350" b="1">
                <a:solidFill>
                  <a:srgbClr val="0C2362"/>
                </a:solidFill>
              </a:rPr>
              <a:t>La clave no es evitar escalamiento; es escalar con contexto, evidencia y aprendizaje.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9C8408C-F9F1-4FF9-8A83-3AF25EB4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Stack tecnológico: integrarse al ecosistema del cliente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F99B6CF-84D4-4913-B588-3CAA65A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Capas mínimas para operar, medir y automatizar sin amarrar al cliente a una herramienta única</a:t>
            </a:r>
          </a:p>
        </p:txBody>
      </p:sp>
      <p:sp>
        <p:nvSpPr>
          <p:cNvPr id="3" name="layer">
            <a:extLst xmlns:a="http://schemas.openxmlformats.org/drawingml/2006/main">
              <a:ext uri="{FF2B5EF4-FFF2-40B4-BE49-F238E27FC236}">
                <a16:creationId xmlns:a16="http://schemas.microsoft.com/office/drawing/2014/main" id="{538C9A7E-8E60-4323-A090-E364358D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7391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A7AB53-8090-466F-9893-E73B6DD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43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B8C"/>
                </a:solidFill>
              </a:defRPr>
            </a:pPr>
            <a:r>
              <a:rPr sz="1013" b="1">
                <a:solidFill>
                  <a:srgbClr val="163B8C"/>
                </a:solidFill>
              </a:rPr>
              <a:t>Canales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575430-6193-4C63-B135-4BA439C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Portal, chat, WhatsApp, correo, teléfono, API/AIOps</a:t>
            </a:r>
          </a:p>
        </p:txBody>
      </p:sp>
      <p:sp>
        <p:nvSpPr>
          <p:cNvPr id="6" name="layer">
            <a:extLst xmlns:a="http://schemas.openxmlformats.org/drawingml/2006/main">
              <a:ext uri="{FF2B5EF4-FFF2-40B4-BE49-F238E27FC236}">
                <a16:creationId xmlns:a16="http://schemas.microsoft.com/office/drawing/2014/main" id="{C441F295-83F4-4548-A6D0-5F51F8A2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7391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98201E-55B3-4B70-8B4D-953CD3C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87B83"/>
                </a:solidFill>
              </a:defRPr>
            </a:pPr>
            <a:r>
              <a:rPr sz="1013" b="1">
                <a:solidFill>
                  <a:srgbClr val="087B83"/>
                </a:solidFill>
              </a:rPr>
              <a:t>ITSM / CMDB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FBB9CD-0D24-4B36-BB67-F65BDD52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ServiceNow, Jira SM, ADO, ManageEngine o herramienta PS</a:t>
            </a:r>
          </a:p>
        </p:txBody>
      </p:sp>
      <p:sp>
        <p:nvSpPr>
          <p:cNvPr id="9" name="layer">
            <a:extLst xmlns:a="http://schemas.openxmlformats.org/drawingml/2006/main">
              <a:ext uri="{FF2B5EF4-FFF2-40B4-BE49-F238E27FC236}">
                <a16:creationId xmlns:a16="http://schemas.microsoft.com/office/drawing/2014/main" id="{26BFFD6D-0A44-4AC4-A766-262D2384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7391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1430">
            <a:solidFill>
              <a:srgbClr val="7057E9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F4A7BE-BEA4-46EA-82AD-493EDB2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057E9"/>
                </a:solidFill>
              </a:defRPr>
            </a:pPr>
            <a:r>
              <a:rPr sz="1013" b="1">
                <a:solidFill>
                  <a:srgbClr val="7057E9"/>
                </a:solidFill>
              </a:rPr>
              <a:t>Conocimiento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E697010-83B8-4D18-BC4D-85D49DAA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KEDB, KCS, Confluence, SharePoint, artículos generados</a:t>
            </a:r>
          </a:p>
        </p:txBody>
      </p:sp>
      <p:sp>
        <p:nvSpPr>
          <p:cNvPr id="12" name="layer">
            <a:extLst xmlns:a="http://schemas.openxmlformats.org/drawingml/2006/main">
              <a:ext uri="{FF2B5EF4-FFF2-40B4-BE49-F238E27FC236}">
                <a16:creationId xmlns:a16="http://schemas.microsoft.com/office/drawing/2014/main" id="{8BF0411D-3DEB-4455-A21F-FC69D475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7391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3620C4-45AF-4D52-95EC-0BFF4094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0835A"/>
                </a:solidFill>
              </a:defRPr>
            </a:pPr>
            <a:r>
              <a:rPr sz="1013" b="1">
                <a:solidFill>
                  <a:srgbClr val="20835A"/>
                </a:solidFill>
              </a:rPr>
              <a:t>IA / AIOps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9BD8F76-D60B-442D-9E63-D036643A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Agent assist, NLP, observabilidad, correlación y runbooks</a:t>
            </a:r>
          </a:p>
        </p:txBody>
      </p:sp>
      <p:sp>
        <p:nvSpPr>
          <p:cNvPr id="15" name="layer">
            <a:extLst xmlns:a="http://schemas.openxmlformats.org/drawingml/2006/main">
              <a:ext uri="{FF2B5EF4-FFF2-40B4-BE49-F238E27FC236}">
                <a16:creationId xmlns:a16="http://schemas.microsoft.com/office/drawing/2014/main" id="{950D358F-F7D6-460D-A2BD-B9DE783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7391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302AD2D-E25D-4A10-98EF-2CFC1129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7A00"/>
                </a:solidFill>
              </a:defRPr>
            </a:pPr>
            <a:r>
              <a:rPr sz="1013" b="1">
                <a:solidFill>
                  <a:srgbClr val="D47A00"/>
                </a:solidFill>
              </a:rPr>
              <a:t>Gobierno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ADA952B-A53E-4E8D-BD2E-66B9B2C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Dashboards, SLA/XLA, CSAT, auditoría IA, cumplimiento</a:t>
            </a:r>
          </a:p>
        </p:txBody>
      </p:sp>
      <p:sp>
        <p:nvSpPr>
          <p:cNvPr id="18" name="layer">
            <a:extLst xmlns:a="http://schemas.openxmlformats.org/drawingml/2006/main">
              <a:ext uri="{FF2B5EF4-FFF2-40B4-BE49-F238E27FC236}">
                <a16:creationId xmlns:a16="http://schemas.microsoft.com/office/drawing/2014/main" id="{B8C261E1-F43F-4731-B424-1A96046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7391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667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46C4B4-DF1D-4BD3-AFE6-7C0818F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B667A"/>
                </a:solidFill>
              </a:defRPr>
            </a:pPr>
            <a:r>
              <a:rPr sz="1013" b="1">
                <a:solidFill>
                  <a:srgbClr val="5B667A"/>
                </a:solidFill>
              </a:rPr>
              <a:t>Seguridad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40D614-BA13-44F4-9ED4-A5C358C8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SSO/IAM, VPN, cifrado, backup, ISO 27001 / ISO 42001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4A9ED1E-6E58-41EF-B33E-D84FAD85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Gobierno operativo: el servicio se controla por ciclos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6DBF556-EF1C-4B10-9F4F-1368A35B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Rutinas claras para que la mejora no dependa de héroes</a:t>
            </a:r>
          </a:p>
        </p:txBody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33A0200C-2BF8-4C5F-A91E-90828BE0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476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D3C868-8914-4670-9279-9CF6762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Diario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EB56C4-CE10-41E0-9D9D-FC95A1D9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171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Stand-up operativo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Tickets críticos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Alertas AIOps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Bloqueos de capacidad</a:t>
            </a:r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B547BFEC-93BA-4C75-BE1A-6691CEAC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0"/>
            <a:ext cx="2476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91D4E0-1A53-4498-B1E3-FAF7EDBB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2763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Semanal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7563FF-C2D7-4634-8F36-C5B3AD8B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00200"/>
            <a:ext cx="2171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Revisión SLA/XLA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Tendencias RCA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Backlog y cambios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Actualización KEDB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C4EFE8A7-55E9-4877-9914-1774E17D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43000"/>
            <a:ext cx="2476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96F2F58-7ED2-47BB-BCE8-4EB7A911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763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Mensual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C0E508C-8AAF-4375-A547-8BC50409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2171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Service Review cliente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Reporte ejecutivo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Plan de mejora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Ajustes de alcance</a:t>
            </a:r>
          </a:p>
        </p:txBody>
      </p:sp>
      <p:sp>
        <p:nvSpPr>
          <p:cNvPr id="12" name="governance">
            <a:extLst xmlns:a="http://schemas.openxmlformats.org/drawingml/2006/main">
              <a:ext uri="{FF2B5EF4-FFF2-40B4-BE49-F238E27FC236}">
                <a16:creationId xmlns:a16="http://schemas.microsoft.com/office/drawing/2014/main" id="{18F64C68-39AB-4412-8B1C-85FD592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74295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E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9ED9C4-70A3-47A1-9209-3EF909CF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362"/>
                </a:solidFill>
              </a:defRPr>
            </a:pPr>
            <a:r>
              <a:rPr sz="1050" b="1">
                <a:solidFill>
                  <a:srgbClr val="0C2362"/>
                </a:solidFill>
              </a:rPr>
              <a:t>Roles mínimos: Gerente de Mesa, Coordinador de Servicio, Líder Técnico, Analistas N1/N2, Especialistas N3 y Gobierno IA/Datos.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06B552C-4355-4AE2-9410-1725D41D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Métricas del servicio: de tickets cerrados a valor demostrado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6037EDF-6415-4C01-BD05-61D7B03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El tablero debe combinar operación, experiencia, economía y evolución</a:t>
            </a:r>
          </a:p>
        </p:txBody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70B14468-72BC-4B35-ADF5-A730CD43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37147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1430">
            <a:solidFill>
              <a:srgbClr val="163B8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E2B1AF-40A1-4893-AD40-72825B0C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382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</a:rPr>
              <a:t>Operación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9CC4CB-8055-49BE-AC29-D8D09D2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621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FCR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MTTR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Cumplimiento SLA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Backlog por prioridad</a:t>
            </a:r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AF662970-52ED-4834-BF9D-E4C09E03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104900"/>
            <a:ext cx="37147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8FA"/>
          </a:solidFill>
          <a:ln xmlns:a="http://schemas.openxmlformats.org/drawingml/2006/main" w="11430">
            <a:solidFill>
              <a:srgbClr val="087B8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AEBCC5-2CA9-4A39-B000-22A2CAA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2382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</a:rPr>
              <a:t>Experiencia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9E31EE-481C-4A9B-9699-BF471D18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5621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CSAT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XLA / DEX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Esfuerzo del usuario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Reaperturas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5A238B9C-B9D4-4D92-AEAE-6E642E02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37147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20835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74EA49-E021-4A9C-9B1E-96A41D39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575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</a:rPr>
              <a:t>Economía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6D574F-9ABD-452F-898E-D7ADC7A3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8135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Costo por ticket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Deflexión N0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Productividad por nivel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Margen del servicio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1C20C22D-E18E-47EF-B54A-DD1D1318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24150"/>
            <a:ext cx="37147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11430">
            <a:solidFill>
              <a:srgbClr val="D47A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3D23F9-7E23-428D-A120-4DC8897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575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</a:rPr>
              <a:t>Evolución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3F83CF1-E915-4FC6-969B-4BA3AB85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8135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% automatización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Uso KEDB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Problemas recurrentes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Mejoras implementadas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49F463-9CDC-437F-8D77-F76E9199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2362"/>
                </a:solidFill>
              </a:defRPr>
            </a:pPr>
            <a:r>
              <a:rPr sz="1200" b="1">
                <a:solidFill>
                  <a:srgbClr val="0C2362"/>
                </a:solidFill>
              </a:rPr>
              <a:t>Meta de madurez: que el cliente vea menos interrupciones y PS vea mejor margen por automatización.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026C357-3705-477D-8BBC-14D73377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</a:rPr>
              <a:t>Roadmap de adopción para desplegar la Mesa Gen Next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E1E3955-C63B-4395-8EC8-C21A833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</a:rPr>
              <a:t>Diseñar el servicio en oleadas reduce riesgo y acelera valor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8BB039-51DC-4FC2-BD26-FE88F292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790700" cy="20002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hase-head">
            <a:extLst xmlns:a="http://schemas.openxmlformats.org/drawingml/2006/main">
              <a:ext uri="{FF2B5EF4-FFF2-40B4-BE49-F238E27FC236}">
                <a16:creationId xmlns:a16="http://schemas.microsoft.com/office/drawing/2014/main" id="{5BB466A5-E0D2-4910-91F0-1275450A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790700" cy="438150"/>
          </a:xfrm>
          <a:prstGeom xmlns:a="http://schemas.openxmlformats.org/drawingml/2006/main" prst="roundRect">
            <a:avLst>
              <a:gd name="adj" fmla="val 130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48EF22-30FF-4E4A-BBAF-380C8613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0-30 días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23419C-FFE7-4FC4-9779-65B2D35F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Diagnóstico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047F4B-EEAE-485C-95C2-B3BB95F8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Madurez N0-N5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Volumen y criticidad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Brechas de gobierno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FA92142E-A91A-4AF1-9D4B-9C463214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9" name="phase">
            <a:extLst xmlns:a="http://schemas.openxmlformats.org/drawingml/2006/main">
              <a:ext uri="{FF2B5EF4-FFF2-40B4-BE49-F238E27FC236}">
                <a16:creationId xmlns:a16="http://schemas.microsoft.com/office/drawing/2014/main" id="{3BCEBA44-9549-4355-AB5D-E0FBE80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14450"/>
            <a:ext cx="1790700" cy="20002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head">
            <a:extLst xmlns:a="http://schemas.openxmlformats.org/drawingml/2006/main">
              <a:ext uri="{FF2B5EF4-FFF2-40B4-BE49-F238E27FC236}">
                <a16:creationId xmlns:a16="http://schemas.microsoft.com/office/drawing/2014/main" id="{B544B780-B4D8-4061-B53A-E8BDE3D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14450"/>
            <a:ext cx="1790700" cy="438150"/>
          </a:xfrm>
          <a:prstGeom xmlns:a="http://schemas.openxmlformats.org/drawingml/2006/main" prst="roundRect">
            <a:avLst>
              <a:gd name="adj" fmla="val 130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6DE1AC-E1AB-44B3-B389-65BED1C3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28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31-60 días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23BB64-4543-4E1B-8488-6405CE3A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Diseño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0032AA-C8C9-48D0-9562-8DF5049C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03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Catálogo y RACI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SLA/XLA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Modelo económico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44A596BA-ABF1-4687-BFC2-7E7E569F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15" name="phase">
            <a:extLst xmlns:a="http://schemas.openxmlformats.org/drawingml/2006/main">
              <a:ext uri="{FF2B5EF4-FFF2-40B4-BE49-F238E27FC236}">
                <a16:creationId xmlns:a16="http://schemas.microsoft.com/office/drawing/2014/main" id="{95391E5E-9387-4B62-9FD4-E81FB2A8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14450"/>
            <a:ext cx="1790700" cy="20002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head">
            <a:extLst xmlns:a="http://schemas.openxmlformats.org/drawingml/2006/main">
              <a:ext uri="{FF2B5EF4-FFF2-40B4-BE49-F238E27FC236}">
                <a16:creationId xmlns:a16="http://schemas.microsoft.com/office/drawing/2014/main" id="{B4999CAE-7D4D-42BE-AE59-A8A5F85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14450"/>
            <a:ext cx="1790700" cy="438150"/>
          </a:xfrm>
          <a:prstGeom xmlns:a="http://schemas.openxmlformats.org/drawingml/2006/main" prst="roundRect">
            <a:avLst>
              <a:gd name="adj" fmla="val 130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B01D4A1-AF82-4997-86AE-423D4F5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28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61-90 días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ED98DB5-A611-4F00-99B0-8179C97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526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Implementación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A6150A-A490-41F9-A5FF-851ABC7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Canales e ITSM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KEDB inicial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Dashboards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71CB4D22-B187-410E-ADD7-5AFCEF30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EBE"/>
          </a:solidFill>
          <a:ln xmlns:a="http://schemas.openxmlformats.org/drawingml/2006/main" w="11430">
            <a:solidFill>
              <a:srgbClr val="1E5EBE"/>
            </a:solidFill>
            <a:prstDash val="solid"/>
          </a:ln>
        </p:spPr>
      </p:sp>
      <p:sp>
        <p:nvSpPr>
          <p:cNvPr id="21" name="phase">
            <a:extLst xmlns:a="http://schemas.openxmlformats.org/drawingml/2006/main">
              <a:ext uri="{FF2B5EF4-FFF2-40B4-BE49-F238E27FC236}">
                <a16:creationId xmlns:a16="http://schemas.microsoft.com/office/drawing/2014/main" id="{45813248-0111-4170-ADD9-C0811662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14450"/>
            <a:ext cx="1790700" cy="20002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ase-head">
            <a:extLst xmlns:a="http://schemas.openxmlformats.org/drawingml/2006/main">
              <a:ext uri="{FF2B5EF4-FFF2-40B4-BE49-F238E27FC236}">
                <a16:creationId xmlns:a16="http://schemas.microsoft.com/office/drawing/2014/main" id="{ADAF4EA8-9D4F-40D3-8879-0048A008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14450"/>
            <a:ext cx="1790700" cy="438150"/>
          </a:xfrm>
          <a:prstGeom xmlns:a="http://schemas.openxmlformats.org/drawingml/2006/main" prst="roundRect">
            <a:avLst>
              <a:gd name="adj" fmla="val 130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98E00C3-AE28-4538-A557-E84727CE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90+ días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CB10D38-3301-4DE9-9BD2-699239AE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Evolución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AB128DA-CF83-44F3-87C9-F91E36C3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Agent assist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AIOps</a:t>
            </a:r>
          </a:p>
          <a:p xmlns:a="http://schemas.openxmlformats.org/drawingml/2006/main"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Automatización y roadmap IA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2ECDFF2-ACBA-41A5-96A0-93E8D685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2362"/>
                </a:solidFill>
              </a:defRPr>
            </a:pPr>
            <a:r>
              <a:rPr sz="1275" b="1">
                <a:solidFill>
                  <a:srgbClr val="0C2362"/>
                </a:solidFill>
              </a:rPr>
              <a:t>Siguiente paso recomendado: desglosar cada módulo en alcance, roles, entregables, herramientas y pricing.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Google Shape;188;p6">
            <a:extLst xmlns:a="http://schemas.openxmlformats.org/drawingml/2006/main">
              <a:ext uri="{FF2B5EF4-FFF2-40B4-BE49-F238E27FC236}">
                <a16:creationId xmlns:a16="http://schemas.microsoft.com/office/drawing/2014/main" id="{3599C685-ADD9-42D9-88C1-3197C15D7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87108" y="4327063"/>
            <a:ext cx="45489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We make it happen</a:t>
            </a:r>
          </a:p>
        </p:txBody>
      </p:sp>
      <p:sp>
        <p:nvSpPr>
          <p:cNvPr id="189" name="Google Shape;189;p6">
            <a:extLst xmlns:a="http://schemas.openxmlformats.org/drawingml/2006/main">
              <a:ext uri="{FF2B5EF4-FFF2-40B4-BE49-F238E27FC236}">
                <a16:creationId xmlns:a16="http://schemas.microsoft.com/office/drawing/2014/main" id="{7B6CF47E-F5C5-4DD8-8391-96D7A086D84A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450000" y="1827750"/>
            <a:ext cx="8100000" cy="1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¡Gracias!</a:t>
            </a:r>
          </a:p>
        </p:txBody>
      </p:sp>
      <p:sp>
        <p:nvSpPr>
          <p:cNvPr id="190" name="Google Shape;190;p6">
            <a:extLst xmlns:a="http://schemas.openxmlformats.org/drawingml/2006/main">
              <a:ext uri="{FF2B5EF4-FFF2-40B4-BE49-F238E27FC236}">
                <a16:creationId xmlns:a16="http://schemas.microsoft.com/office/drawing/2014/main" id="{50ABFB86-A5BE-4011-9F9C-464B35D5AAE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087108" y="446138"/>
            <a:ext cx="45489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Centro Empresarial Ciudad del Río C2, Cra. 48 #20-114, Oficina 1026</a:t>
            </a:r>
          </a:p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 +57 324 549 77 70</a:t>
            </a:r>
          </a:p>
        </p:txBody>
      </p:sp>
    </p:spTree>
    <p:extLst>
      <p:ext uri="{BB962C8B-B14F-4D97-AF65-F5344CB8AC3E}">
        <p14:creationId xmlns:p14="http://schemas.microsoft.com/office/powerpoint/2010/main" val="150237045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2026-07-07T23:39:46.1930000Z</dcterms:created>
  <dcterms:modified xsi:type="dcterms:W3CDTF">2026-07-07T23:39:46.1930000Z</dcterms:modified>
</coreProperties>
</file>