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58"/>
  </p:notesMasterIdLst>
  <p:sldIdLst>
    <p:sldId id="257" r:id="rId3"/>
    <p:sldId id="260" r:id="rId4"/>
    <p:sldId id="321" r:id="rId5"/>
    <p:sldId id="258" r:id="rId6"/>
    <p:sldId id="322" r:id="rId7"/>
    <p:sldId id="329" r:id="rId8"/>
    <p:sldId id="2567" r:id="rId9"/>
    <p:sldId id="304" r:id="rId10"/>
    <p:sldId id="2568" r:id="rId11"/>
    <p:sldId id="300" r:id="rId12"/>
    <p:sldId id="309" r:id="rId13"/>
    <p:sldId id="323" r:id="rId14"/>
    <p:sldId id="328" r:id="rId15"/>
    <p:sldId id="358" r:id="rId16"/>
    <p:sldId id="302" r:id="rId17"/>
    <p:sldId id="316" r:id="rId18"/>
    <p:sldId id="317" r:id="rId19"/>
    <p:sldId id="319" r:id="rId20"/>
    <p:sldId id="2566" r:id="rId21"/>
    <p:sldId id="2569" r:id="rId22"/>
    <p:sldId id="331" r:id="rId23"/>
    <p:sldId id="262" r:id="rId24"/>
    <p:sldId id="2577" r:id="rId25"/>
    <p:sldId id="2570" r:id="rId26"/>
    <p:sldId id="2588" r:id="rId27"/>
    <p:sldId id="2590" r:id="rId28"/>
    <p:sldId id="2591" r:id="rId29"/>
    <p:sldId id="2593" r:id="rId30"/>
    <p:sldId id="2592" r:id="rId31"/>
    <p:sldId id="2597" r:id="rId32"/>
    <p:sldId id="2580" r:id="rId33"/>
    <p:sldId id="2581" r:id="rId34"/>
    <p:sldId id="2596" r:id="rId35"/>
    <p:sldId id="2595" r:id="rId36"/>
    <p:sldId id="2583" r:id="rId37"/>
    <p:sldId id="2589" r:id="rId38"/>
    <p:sldId id="2594" r:id="rId39"/>
    <p:sldId id="2584" r:id="rId40"/>
    <p:sldId id="310" r:id="rId41"/>
    <p:sldId id="357" r:id="rId42"/>
    <p:sldId id="293" r:id="rId43"/>
    <p:sldId id="312" r:id="rId44"/>
    <p:sldId id="324" r:id="rId45"/>
    <p:sldId id="335" r:id="rId46"/>
    <p:sldId id="336" r:id="rId47"/>
    <p:sldId id="2571" r:id="rId48"/>
    <p:sldId id="2572" r:id="rId49"/>
    <p:sldId id="2573" r:id="rId50"/>
    <p:sldId id="2574" r:id="rId51"/>
    <p:sldId id="2575" r:id="rId52"/>
    <p:sldId id="274" r:id="rId53"/>
    <p:sldId id="276" r:id="rId54"/>
    <p:sldId id="307" r:id="rId55"/>
    <p:sldId id="267" r:id="rId56"/>
    <p:sldId id="268" r:id="rId57"/>
  </p:sldIdLst>
  <p:sldSz cx="9144000" cy="5143500" type="screen16x9"/>
  <p:notesSz cx="6858000" cy="9144000"/>
  <p:embeddedFontLst>
    <p:embeddedFont>
      <p:font typeface="Reddit Sans" panose="020B0604020202020204" charset="0"/>
      <p:regular r:id="rId59"/>
      <p:bold r:id="rId60"/>
      <p:italic r:id="rId61"/>
      <p:boldItalic r:id="rId62"/>
    </p:embeddedFont>
    <p:embeddedFont>
      <p:font typeface="Reddit Sans Light" panose="020B0604020202020204" charset="0"/>
      <p:regular r:id="rId63"/>
      <p:bold r:id="rId64"/>
      <p:italic r:id="rId65"/>
      <p:boldItalic r:id="rId66"/>
    </p:embeddedFont>
    <p:embeddedFont>
      <p:font typeface="Reddit Sans Medium" panose="020B0604020202020204" charset="0"/>
      <p:regular r:id="rId67"/>
      <p:bold r:id="rId68"/>
      <p:italic r:id="rId69"/>
      <p:boldItalic r:id="rId70"/>
    </p:embeddedFont>
    <p:embeddedFont>
      <p:font typeface="Reddit Sans SemiBold" panose="020B0604020202020204" charset="0"/>
      <p:regular r:id="rId71"/>
      <p:bold r:id="rId72"/>
      <p:italic r:id="rId73"/>
      <p:boldItalic r:id="rId74"/>
    </p:embeddedFont>
    <p:embeddedFont>
      <p:font typeface="Segoe UI" panose="020B0502040204020203" pitchFamily="3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F39"/>
    <a:srgbClr val="EBF1FA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A05DB-B08E-CF20-942E-2489ADF5169B}" v="2243" dt="2026-07-14T20:10:37.662"/>
    <p1510:client id="{88784FCC-9A78-C45C-3FC1-CD2EA649FB7C}" v="751" dt="2026-07-14T21:23:07.657"/>
    <p1510:client id="{96719BF3-080A-6932-741C-55D5A84931DC}" v="1273" dt="2026-07-14T22:37:03.543"/>
    <p1510:client id="{9BA9D397-B0A2-443C-22D0-5ECE1D4075AA}" v="1483" dt="2026-07-14T16:10:56.685"/>
    <p1510:client id="{AA249537-B5B0-7E69-648A-99FB2E4E88D6}" v="57" dt="2026-07-14T22:41:40.460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74" Type="http://schemas.openxmlformats.org/officeDocument/2006/relationships/font" Target="fonts/font16.fntdata"/><Relationship Id="rId5" Type="http://schemas.openxmlformats.org/officeDocument/2006/relationships/slide" Target="slides/slide3.xml"/><Relationship Id="rId61" Type="http://schemas.openxmlformats.org/officeDocument/2006/relationships/font" Target="fonts/font3.fntdata"/><Relationship Id="rId90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font" Target="fonts/font17.fntdata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font" Target="fonts/font20.fntdata"/><Relationship Id="rId86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8.fntdata"/><Relationship Id="rId7" Type="http://schemas.openxmlformats.org/officeDocument/2006/relationships/slide" Target="slides/slide5.xml"/><Relationship Id="rId71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8.fntdata"/><Relationship Id="rId87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 actual (2024)</c:v>
                </c:pt>
              </c:strCache>
            </c:strRef>
          </c:tx>
          <c:spPr>
            <a:solidFill>
              <a:srgbClr val="1E808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A445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D692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E8080"/>
                        </a:solidFill>
                      </a:rPr>
                      <a:t>$1.8B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A44526"/>
                        </a:solidFill>
                      </a:rPr>
                      <a:t>$0.52B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D69200"/>
                        </a:solidFill>
                      </a:rPr>
                      <a:t>$108M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Hoja1!$B$2:$B$4</c:f>
              <c:numCache>
                <c:formatCode>0.00</c:formatCode>
                <c:ptCount val="3"/>
                <c:pt idx="0">
                  <c:v>1.8</c:v>
                </c:pt>
                <c:pt idx="1">
                  <c:v>0.52</c:v>
                </c:pt>
                <c:pt idx="2">
                  <c:v>0.108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DB54-43C7-9D36-C7CC4E04832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Proyección futura</c:v>
                </c:pt>
              </c:strCache>
            </c:strRef>
          </c:tx>
          <c:spPr>
            <a:solidFill>
              <a:srgbClr val="10404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8E3E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16233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4040"/>
                        </a:solidFill>
                      </a:rPr>
                      <a:t>$2.5B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8E3E50"/>
                        </a:solidFill>
                      </a:rPr>
                      <a:t>$1.26B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6233F"/>
                        </a:solidFill>
                      </a:rPr>
                      <a:t>$250M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Hoja1!$C$2:$C$4</c:f>
              <c:numCache>
                <c:formatCode>0.00</c:formatCode>
                <c:ptCount val="3"/>
                <c:pt idx="0">
                  <c:v>2.5</c:v>
                </c:pt>
                <c:pt idx="1">
                  <c:v>1.26</c:v>
                </c:pt>
                <c:pt idx="2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DB54-43C7-9D36-C7CC4E048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txPr>
          <a:bodyPr/>
          <a:lstStyle/>
          <a:p>
            <a:pPr>
              <a:defRPr sz="1000" b="1">
                <a:solidFill>
                  <a:srgbClr val="1F3B47"/>
                </a:solidFill>
              </a:defRPr>
            </a:pPr>
            <a:endParaRPr lang="es-ES"/>
          </a:p>
        </c:txPr>
        <c:crossAx val="322222222"/>
        <c:crosses val="autoZero"/>
        <c:auto val="1"/>
        <c:lblAlgn val="ctr"/>
        <c:lblOffset val="100"/>
        <c:noMultiLvlLbl val="1"/>
      </c:catAx>
      <c:valAx>
        <c:axId val="3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3E1DB"/>
              </a:solidFill>
            </a:ln>
          </c:spPr>
        </c:majorGridlines>
        <c:numFmt formatCode="0.0&quot;B&quot;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8A8A83"/>
                </a:solidFill>
              </a:defRPr>
            </a:pPr>
            <a:endParaRPr lang="es-ES"/>
          </a:p>
        </c:txPr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BE9A3E0-688B-C956-45E2-782AE7C7A5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35A6D3-BC1D-3C62-A621-4332A4290B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FA93F-AC0C-409F-9058-363BE3B01878}" type="datetimeFigureOut">
              <a:rPr lang="es-CO" smtClean="0"/>
              <a:t>15/07/2026</a:t>
            </a:fld>
            <a:endParaRPr lang="es-CO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1D81ADF5-09D5-29B5-034C-CA16AA1ED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970CA267-73FE-2237-64E5-F8ABFDAAA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D14481-8817-F551-B056-3343466AFC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533BE4-1BAD-9F35-589E-47E08FCC2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5BCBC-3441-46CF-A9D7-DB11646ACFD0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ing.com/ck/a?!&amp;&amp;p=850ece00eb93253a87fbe61242c6bd172bc031ebab6034752dc1f260fc9c0a10JmltdHM9MTc4MzU1NTIwMA&amp;ptn=3&amp;ver=2&amp;hsh=4&amp;fclid=10d11685-cdd1-6520-1f35-0107cca364bf&amp;u=a1aHR0cHM6Ly93d3cuZWVzZWwuYWkvZXMvYmxvZy9tb3Zld29ya3M&amp;ntb=1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icenow.com/content/dam/servicenow-assets/public/en-us/doc-type/resource-center/white-paper/the-essentials-of-predictive-aiops-and-visibility.pdf" TargetMode="Externa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7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ivainc.com/blog/shift-left-analysis-how-to-guide-maximize-it-service-management-itsm-efficiency/" TargetMode="External"/><Relationship Id="rId5" Type="http://schemas.openxmlformats.org/officeDocument/2006/relationships/hyperlink" Target="https://www.serviceinnovation.org/kcs/" TargetMode="External"/><Relationship Id="rId4" Type="http://schemas.openxmlformats.org/officeDocument/2006/relationships/hyperlink" Target="https://www.ivanti.com/en-gb/blog/agentic-ai-it-service-autonomy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iso.org/standard/42001" TargetMode="External"/><Relationship Id="rId5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4" Type="http://schemas.openxmlformats.org/officeDocument/2006/relationships/hyperlink" Target="https://www.superfinanciera.gov.co/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9356A8-E404-152B-4307-F14EDF22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6A97513-0F20-F8E2-91E4-81F97AE61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BA47EDEE-C416-31E2-19FF-E6F318C37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672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23A2-FAEC-0E46-FE8C-B06D6EC9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9EFBB9C-687B-F226-78EA-89C5DDDFE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A15902-5BB0-7308-0B42-E185A2E8A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ITO (Information Technology Outsourcing)</a:t>
            </a:r>
            <a:endParaRPr lang="es-ES"/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infraestructura</a:t>
            </a:r>
            <a:r>
              <a:rPr lang="en-US"/>
              <a:t> y </a:t>
            </a:r>
            <a:r>
              <a:rPr lang="en-US" err="1"/>
              <a:t>tecnología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BPO (Business Process Outsourcing)</a:t>
            </a:r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procesos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KPO (Knowledge Process Outsourcing)</a:t>
            </a:r>
          </a:p>
          <a:p>
            <a:pPr>
              <a:buNone/>
            </a:pPr>
            <a:r>
              <a:rPr lang="en-US" err="1"/>
              <a:t>Externalización</a:t>
            </a:r>
            <a:r>
              <a:rPr lang="en-US"/>
              <a:t> de </a:t>
            </a:r>
            <a:r>
              <a:rPr lang="en-US" err="1"/>
              <a:t>procesos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</a:t>
            </a:r>
            <a:r>
              <a:rPr lang="en-US" err="1"/>
              <a:t>basados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y expertise de </a:t>
            </a:r>
            <a:r>
              <a:rPr lang="en-US" err="1"/>
              <a:t>negocio</a:t>
            </a:r>
            <a:r>
              <a:rPr lang="en-US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ESM: Enterprise Service Management</a:t>
            </a:r>
            <a:endParaRPr lang="es-ES"/>
          </a:p>
          <a:p>
            <a:pPr>
              <a:buNone/>
            </a:pPr>
            <a:r>
              <a:rPr lang="en-US"/>
              <a:t>CMDB: Configuration Management Database (Base de Datos de </a:t>
            </a:r>
            <a:r>
              <a:rPr lang="en-US" err="1"/>
              <a:t>Gestión</a:t>
            </a:r>
            <a:r>
              <a:rPr lang="en-US"/>
              <a:t> de la </a:t>
            </a:r>
            <a:r>
              <a:rPr lang="en-US" err="1"/>
              <a:t>Configuración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XLA: Experience Level Agreement (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AIOps: Artificial Intelligence for IT Operations (IA para </a:t>
            </a:r>
            <a:r>
              <a:rPr lang="en-US" err="1"/>
              <a:t>Operaciones</a:t>
            </a:r>
            <a:r>
              <a:rPr lang="en-US"/>
              <a:t> de TI)</a:t>
            </a:r>
          </a:p>
          <a:p>
            <a:pPr>
              <a:buNone/>
            </a:pPr>
            <a:r>
              <a:rPr lang="en-US"/>
              <a:t>AITSM: Artificial Intelligence for IT Service Management</a:t>
            </a:r>
          </a:p>
          <a:p>
            <a:pPr algn="ctr"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La </a:t>
            </a:r>
            <a:r>
              <a:rPr lang="en-US" err="1"/>
              <a:t>línea</a:t>
            </a:r>
            <a:r>
              <a:rPr lang="en-US"/>
              <a:t> temporal de la imagen </a:t>
            </a:r>
            <a:r>
              <a:rPr lang="en-US" err="1"/>
              <a:t>muestra</a:t>
            </a:r>
            <a:r>
              <a:rPr lang="en-US"/>
              <a:t> la </a:t>
            </a:r>
            <a:r>
              <a:rPr lang="en-US" err="1"/>
              <a:t>evolución</a:t>
            </a:r>
            <a:r>
              <a:rPr lang="en-US"/>
              <a:t> </a:t>
            </a:r>
            <a:r>
              <a:rPr lang="en-US" err="1"/>
              <a:t>aproximada</a:t>
            </a:r>
            <a:r>
              <a:rPr lang="en-US"/>
              <a:t>:</a:t>
            </a:r>
          </a:p>
          <a:p>
            <a:pPr>
              <a:buNone/>
            </a:pPr>
            <a:r>
              <a:rPr lang="en-US" b="1"/>
              <a:t>HD → SD → ESM → Digital Workplace → AITSM → Autonomous Service Desk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N0–N5: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van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autoservicio</a:t>
            </a:r>
            <a:r>
              <a:rPr lang="en-US"/>
              <a:t> (N0) hasta </a:t>
            </a:r>
            <a:r>
              <a:rPr lang="en-US" err="1"/>
              <a:t>expertos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o </a:t>
            </a:r>
            <a:r>
              <a:rPr lang="en-US" err="1"/>
              <a:t>fabricante</a:t>
            </a:r>
            <a:r>
              <a:rPr lang="en-US"/>
              <a:t> (N5).</a:t>
            </a:r>
            <a:endParaRPr lang="es-ES"/>
          </a:p>
          <a:p>
            <a:pPr marL="285750" indent="-285750"/>
            <a:r>
              <a:rPr lang="en-US" b="1" err="1"/>
              <a:t>Deflexión</a:t>
            </a:r>
            <a:r>
              <a:rPr lang="en-US" b="1"/>
              <a:t> (Deflection):</a:t>
            </a:r>
            <a:r>
              <a:rPr lang="en-US"/>
              <a:t> Es el </a:t>
            </a:r>
            <a:r>
              <a:rPr lang="en-US" err="1"/>
              <a:t>porcentaje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consultas</a:t>
            </a:r>
            <a:r>
              <a:rPr lang="en-US"/>
              <a:t>, </a:t>
            </a:r>
            <a:r>
              <a:rPr lang="en-US" err="1"/>
              <a:t>incidentes</a:t>
            </a:r>
            <a:r>
              <a:rPr lang="en-US"/>
              <a:t> o solicitudes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resuelven</a:t>
            </a:r>
            <a:r>
              <a:rPr lang="en-US"/>
              <a:t> sin </a:t>
            </a:r>
            <a:r>
              <a:rPr lang="en-US" err="1"/>
              <a:t>necesidad</a:t>
            </a:r>
            <a:r>
              <a:rPr lang="en-US"/>
              <a:t> de </a:t>
            </a:r>
            <a:r>
              <a:rPr lang="en-US" err="1"/>
              <a:t>generar</a:t>
            </a:r>
            <a:r>
              <a:rPr lang="en-US"/>
              <a:t> un ticket o sin </a:t>
            </a:r>
            <a:r>
              <a:rPr lang="en-US" err="1"/>
              <a:t>intervención</a:t>
            </a:r>
            <a:r>
              <a:rPr lang="en-US"/>
              <a:t> de un </a:t>
            </a:r>
            <a:r>
              <a:rPr lang="en-US" err="1"/>
              <a:t>agente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/>
              <a:t>GenAI: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</a:t>
            </a:r>
            <a:r>
              <a:rPr lang="en-US" err="1"/>
              <a:t>Generativa</a:t>
            </a:r>
            <a:r>
              <a:rPr lang="en-US"/>
              <a:t> </a:t>
            </a:r>
            <a:r>
              <a:rPr lang="en-US" err="1"/>
              <a:t>capaz</a:t>
            </a:r>
            <a:r>
              <a:rPr lang="en-US"/>
              <a:t> de </a:t>
            </a:r>
            <a:r>
              <a:rPr lang="en-US" err="1"/>
              <a:t>crear</a:t>
            </a:r>
            <a:r>
              <a:rPr lang="en-US"/>
              <a:t> </a:t>
            </a:r>
            <a:r>
              <a:rPr lang="en-US" err="1"/>
              <a:t>contenido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texto</a:t>
            </a:r>
            <a:r>
              <a:rPr lang="en-US"/>
              <a:t>, </a:t>
            </a:r>
            <a:r>
              <a:rPr lang="en-US" err="1"/>
              <a:t>imágenes</a:t>
            </a:r>
            <a:r>
              <a:rPr lang="en-US"/>
              <a:t> o </a:t>
            </a:r>
            <a:r>
              <a:rPr lang="en-US" err="1"/>
              <a:t>código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KCS:</a:t>
            </a:r>
            <a:r>
              <a:rPr lang="en-US"/>
              <a:t> </a:t>
            </a:r>
            <a:r>
              <a:rPr lang="en-US" i="1"/>
              <a:t>Knowledge-Centered Service</a:t>
            </a:r>
            <a:r>
              <a:rPr lang="en-US"/>
              <a:t>, </a:t>
            </a:r>
            <a:r>
              <a:rPr lang="en-US" err="1"/>
              <a:t>metodología</a:t>
            </a:r>
            <a:r>
              <a:rPr lang="en-US"/>
              <a:t> para </a:t>
            </a:r>
            <a:r>
              <a:rPr lang="en-US" err="1"/>
              <a:t>capturar</a:t>
            </a:r>
            <a:r>
              <a:rPr lang="en-US"/>
              <a:t> y </a:t>
            </a:r>
            <a:r>
              <a:rPr lang="en-US" err="1"/>
              <a:t>reutilizar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resolución</a:t>
            </a:r>
            <a:r>
              <a:rPr lang="en-US"/>
              <a:t> de </a:t>
            </a:r>
            <a:r>
              <a:rPr lang="en-US" err="1"/>
              <a:t>casos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AIOps:</a:t>
            </a:r>
            <a:r>
              <a:rPr lang="en-US"/>
              <a:t> </a:t>
            </a:r>
            <a:r>
              <a:rPr lang="en-US" i="1"/>
              <a:t>Artificial Intelligence for IT Operations</a:t>
            </a:r>
            <a:r>
              <a:rPr lang="en-US"/>
              <a:t>, </a:t>
            </a:r>
            <a:r>
              <a:rPr lang="en-US" err="1"/>
              <a:t>uso</a:t>
            </a:r>
            <a:r>
              <a:rPr lang="en-US"/>
              <a:t> de IA para </a:t>
            </a:r>
            <a:r>
              <a:rPr lang="en-US" err="1"/>
              <a:t>monitorear</a:t>
            </a:r>
            <a:r>
              <a:rPr lang="en-US"/>
              <a:t>, </a:t>
            </a:r>
            <a:r>
              <a:rPr lang="en-US" err="1"/>
              <a:t>detectar</a:t>
            </a:r>
            <a:r>
              <a:rPr lang="en-US"/>
              <a:t> y resolver </a:t>
            </a:r>
            <a:r>
              <a:rPr lang="en-US" err="1"/>
              <a:t>problemas</a:t>
            </a:r>
            <a:r>
              <a:rPr lang="en-US"/>
              <a:t> de TI.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P1:</a:t>
            </a:r>
            <a:r>
              <a:rPr lang="en-US"/>
              <a:t> </a:t>
            </a:r>
            <a:r>
              <a:rPr lang="en-US" i="1"/>
              <a:t>Priority 1</a:t>
            </a:r>
            <a:r>
              <a:rPr lang="en-US"/>
              <a:t>, </a:t>
            </a:r>
            <a:r>
              <a:rPr lang="en-US" err="1"/>
              <a:t>incidente</a:t>
            </a:r>
            <a:r>
              <a:rPr lang="en-US"/>
              <a:t> de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criticidad</a:t>
            </a:r>
            <a:r>
              <a:rPr lang="en-US"/>
              <a:t> con alto </a:t>
            </a:r>
            <a:r>
              <a:rPr lang="en-US" err="1"/>
              <a:t>impacto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negocio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SLA:</a:t>
            </a:r>
            <a:r>
              <a:rPr lang="en-US"/>
              <a:t> </a:t>
            </a:r>
            <a:r>
              <a:rPr lang="en-US" i="1"/>
              <a:t>Service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define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y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servicio</a:t>
            </a:r>
            <a:r>
              <a:rPr lang="en-US"/>
              <a:t> </a:t>
            </a:r>
            <a:r>
              <a:rPr lang="en-US" err="1"/>
              <a:t>comprometidos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XLA:</a:t>
            </a:r>
            <a:r>
              <a:rPr lang="en-US"/>
              <a:t> </a:t>
            </a:r>
            <a:r>
              <a:rPr lang="en-US" i="1"/>
              <a:t>Experience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enfocado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medir</a:t>
            </a:r>
            <a:r>
              <a:rPr lang="en-US"/>
              <a:t> la </a:t>
            </a:r>
            <a:r>
              <a:rPr lang="en-US" err="1"/>
              <a:t>experiencia</a:t>
            </a:r>
            <a:r>
              <a:rPr lang="en-US"/>
              <a:t> y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usuario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DEX:</a:t>
            </a:r>
            <a:r>
              <a:rPr lang="en-US"/>
              <a:t> </a:t>
            </a:r>
            <a:r>
              <a:rPr lang="en-US" i="1"/>
              <a:t>Digital Employee Experience</a:t>
            </a:r>
            <a:r>
              <a:rPr lang="en-US"/>
              <a:t>, </a:t>
            </a:r>
            <a:r>
              <a:rPr lang="en-US" err="1"/>
              <a:t>experiencia</a:t>
            </a:r>
            <a:r>
              <a:rPr lang="en-US"/>
              <a:t> digital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empleados</a:t>
            </a:r>
            <a:r>
              <a:rPr lang="en-US"/>
              <a:t> al usar </a:t>
            </a:r>
            <a:r>
              <a:rPr lang="en-US" err="1"/>
              <a:t>herramientas</a:t>
            </a:r>
            <a:r>
              <a:rPr lang="en-US"/>
              <a:t> y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tecnológicos</a:t>
            </a:r>
            <a:r>
              <a:rPr lang="en-US"/>
              <a:t>.</a:t>
            </a:r>
            <a:endParaRPr lang="es-ES"/>
          </a:p>
          <a:p>
            <a:pPr marL="285750" indent="-285750"/>
            <a:r>
              <a:rPr lang="en-US" b="1"/>
              <a:t>Self-healing (</a:t>
            </a:r>
            <a:r>
              <a:rPr lang="en-US" b="1" err="1"/>
              <a:t>Autocuración</a:t>
            </a:r>
            <a:r>
              <a:rPr lang="en-US" b="1"/>
              <a:t>)</a:t>
            </a:r>
            <a:endParaRPr lang="en-US" b="1">
              <a:ea typeface="Calibri"/>
            </a:endParaRPr>
          </a:p>
          <a:p>
            <a:pPr marL="285750" indent="-285750"/>
            <a:r>
              <a:rPr lang="en-US"/>
              <a:t>UC (Underpinning Contract):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Soporte</a:t>
            </a:r>
            <a:r>
              <a:rPr lang="en-US" b="1"/>
              <a:t> o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Sustento</a:t>
            </a:r>
            <a:endParaRPr lang="en-US" err="1"/>
          </a:p>
          <a:p>
            <a:pPr marL="285750" indent="-285750"/>
            <a:r>
              <a:rPr lang="en-US"/>
              <a:t>OLA (Operational Level Agreement)</a:t>
            </a:r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>
              <a:buChar char="•"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1927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C7B4-A4D0-A7D4-8F60-2424A8C8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1CDE1-4B3C-E37C-02AD-4E4A90FA7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FD7554-7A78-594E-1C7F-7F0A09F75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PIR: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Post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Implementation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Review</a:t>
            </a:r>
            <a:endParaRPr lang="en-US" err="1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KCS: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Knowledge-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Centered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Service</a:t>
            </a:r>
            <a:endParaRPr lang="en-US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IA: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Inteligencia Artificial</a:t>
            </a:r>
            <a:endParaRPr lang="en-US"/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Moveworks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/>
              </a:rPr>
              <a:t>: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en una mesa de servicio se refiere a su capacidad para automatizar y mejorar la gestión de solicitudes de empleados. Al integrarse con sistemas empresariales existentes, Moveworks permite a los equipos de soporte ofrecer un soporte unificado y datos consistentes.</a:t>
            </a:r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 P1: se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refiere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casi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siempre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a la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máxima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un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problema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o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situación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exige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una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inmediata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exhaustiva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porque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de no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así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las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consecuencias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pueden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verdaderamente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catastróficas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 b="1">
                <a:solidFill>
                  <a:srgbClr val="222222"/>
                </a:solidFill>
                <a:highlight>
                  <a:srgbClr val="FFFFFF"/>
                </a:highlight>
              </a:rPr>
              <a:t>Triage: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Evaluación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inicial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un ticket para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determinar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su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categoría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causa probable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grupo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responsable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atenderlo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IT knowledge discovery investments will grow as generative AI capabilities mature and service managers push to automate the manual process of creating knowledge articles.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0093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ITSM: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Tecnologías</a:t>
            </a:r>
            <a:r>
              <a:rPr lang="en-US"/>
              <a:t> de la </a:t>
            </a:r>
            <a:r>
              <a:rPr lang="en-US" err="1"/>
              <a:t>Información.Disciplina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gestiona</a:t>
            </a:r>
            <a:r>
              <a:rPr lang="en-US"/>
              <a:t> la </a:t>
            </a:r>
            <a:r>
              <a:rPr lang="en-US" err="1"/>
              <a:t>entrega</a:t>
            </a:r>
            <a:r>
              <a:rPr lang="en-US"/>
              <a:t> y </a:t>
            </a:r>
            <a:r>
              <a:rPr lang="en-US" err="1"/>
              <a:t>mejora</a:t>
            </a:r>
            <a:r>
              <a:rPr lang="en-US"/>
              <a:t> continua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servicios</a:t>
            </a:r>
            <a:r>
              <a:rPr lang="en-US"/>
              <a:t> de TI para </a:t>
            </a:r>
            <a:r>
              <a:rPr lang="en-US" err="1"/>
              <a:t>generar</a:t>
            </a:r>
            <a:r>
              <a:rPr lang="en-US"/>
              <a:t> valor al </a:t>
            </a:r>
            <a:r>
              <a:rPr lang="en-US" err="1"/>
              <a:t>negocio</a:t>
            </a:r>
            <a:r>
              <a:rPr lang="en-US"/>
              <a:t> y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usuarios</a:t>
            </a:r>
            <a:endParaRPr lang="en-US" err="1">
              <a:ea typeface="Calibri"/>
            </a:endParaRP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21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/>
              <a:t>CAGR: Compound Annual Growth Rate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 </a:t>
            </a:r>
            <a:r>
              <a:rPr lang="en-US" b="1"/>
              <a:t>Tasa de </a:t>
            </a:r>
            <a:r>
              <a:rPr lang="en-US" b="1" err="1"/>
              <a:t>Crecimiento</a:t>
            </a:r>
            <a:r>
              <a:rPr lang="en-US" b="1"/>
              <a:t> </a:t>
            </a:r>
            <a:r>
              <a:rPr lang="en-US" b="1" err="1"/>
              <a:t>Anual</a:t>
            </a:r>
            <a:r>
              <a:rPr lang="en-US" b="1"/>
              <a:t> </a:t>
            </a:r>
            <a:r>
              <a:rPr lang="en-US" b="1" err="1"/>
              <a:t>Compuesta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51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/>
              <a:t>Autohealing</a:t>
            </a:r>
            <a:r>
              <a:rPr lang="en-US" dirty="0"/>
              <a:t> (o </a:t>
            </a:r>
            <a:r>
              <a:rPr lang="en-US" b="1" dirty="0" err="1"/>
              <a:t>autocuración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/>
              <a:t>mesa de </a:t>
            </a:r>
            <a:r>
              <a:rPr lang="en-US" b="1" dirty="0" err="1"/>
              <a:t>servicio</a:t>
            </a:r>
            <a:r>
              <a:rPr lang="en-US" b="1" dirty="0"/>
              <a:t> (Service Desk)</a:t>
            </a:r>
            <a:r>
              <a:rPr lang="en-US" dirty="0"/>
              <a:t> es la </a:t>
            </a:r>
            <a:r>
              <a:rPr lang="en-US" dirty="0" err="1"/>
              <a:t>capacidad</a:t>
            </a:r>
            <a:r>
              <a:rPr lang="en-US" dirty="0"/>
              <a:t> de un </a:t>
            </a:r>
            <a:r>
              <a:rPr lang="en-US" dirty="0" err="1"/>
              <a:t>sistema</a:t>
            </a:r>
            <a:r>
              <a:rPr lang="en-US" dirty="0"/>
              <a:t> para </a:t>
            </a:r>
            <a:r>
              <a:rPr lang="en-US" b="1" dirty="0" err="1"/>
              <a:t>detectar</a:t>
            </a:r>
            <a:r>
              <a:rPr lang="en-US" b="1" dirty="0"/>
              <a:t> y resolver </a:t>
            </a:r>
            <a:r>
              <a:rPr lang="en-US" b="1" dirty="0" err="1"/>
              <a:t>automáticamente</a:t>
            </a:r>
            <a:r>
              <a:rPr lang="en-US" b="1" dirty="0"/>
              <a:t> </a:t>
            </a:r>
            <a:r>
              <a:rPr lang="en-US" b="1" dirty="0" err="1"/>
              <a:t>incidentes</a:t>
            </a:r>
            <a:r>
              <a:rPr lang="en-US" b="1" dirty="0"/>
              <a:t> o </a:t>
            </a:r>
            <a:r>
              <a:rPr lang="en-US" b="1" dirty="0" err="1"/>
              <a:t>problemas</a:t>
            </a:r>
            <a:r>
              <a:rPr lang="en-US" b="1" dirty="0"/>
              <a:t> </a:t>
            </a:r>
            <a:r>
              <a:rPr lang="en-US" b="1" dirty="0" err="1"/>
              <a:t>comunes</a:t>
            </a:r>
            <a:r>
              <a:rPr lang="en-US" b="1" dirty="0"/>
              <a:t> sin </a:t>
            </a:r>
            <a:r>
              <a:rPr lang="en-US" b="1" dirty="0" err="1"/>
              <a:t>intervención</a:t>
            </a:r>
            <a:r>
              <a:rPr lang="en-US" b="1" dirty="0"/>
              <a:t> humana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8740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Shift-Left: Cada punto de </a:t>
            </a:r>
            <a:r>
              <a:rPr lang="en-US" err="1"/>
              <a:t>defleccion</a:t>
            </a:r>
            <a:r>
              <a:rPr lang="en-US"/>
              <a:t> = </a:t>
            </a:r>
            <a:r>
              <a:rPr lang="en-US" err="1"/>
              <a:t>ahorro</a:t>
            </a:r>
            <a:r>
              <a:rPr lang="en-US"/>
              <a:t> </a:t>
            </a:r>
            <a:r>
              <a:rPr lang="en-US" err="1"/>
              <a:t>cuantificable</a:t>
            </a:r>
            <a:r>
              <a:rPr lang="en-US"/>
              <a:t> : </a:t>
            </a:r>
            <a:r>
              <a:rPr lang="en-US" err="1"/>
              <a:t>significa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</a:t>
            </a:r>
            <a:r>
              <a:rPr lang="en-US"/>
              <a:t> antes de </a:t>
            </a:r>
            <a:r>
              <a:rPr lang="en-US" err="1"/>
              <a:t>llegar</a:t>
            </a:r>
            <a:r>
              <a:rPr lang="en-US"/>
              <a:t> a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costosos</a:t>
            </a:r>
            <a:r>
              <a:rPr lang="en-US"/>
              <a:t> genera un </a:t>
            </a:r>
            <a:r>
              <a:rPr lang="en-US" err="1"/>
              <a:t>ahorro</a:t>
            </a:r>
            <a:r>
              <a:rPr lang="en-US"/>
              <a:t> </a:t>
            </a:r>
            <a:r>
              <a:rPr lang="en-US" err="1"/>
              <a:t>medible</a:t>
            </a:r>
            <a:r>
              <a:rPr lang="en-US"/>
              <a:t> para la </a:t>
            </a:r>
            <a:r>
              <a:rPr lang="en-US" err="1"/>
              <a:t>organización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 b="1"/>
              <a:t>Shift-Left (</a:t>
            </a:r>
            <a:r>
              <a:rPr lang="en-US" b="1" err="1"/>
              <a:t>Desplazamiento</a:t>
            </a:r>
            <a:r>
              <a:rPr lang="en-US" b="1"/>
              <a:t> </a:t>
            </a:r>
            <a:r>
              <a:rPr lang="en-US" b="1" err="1"/>
              <a:t>hacia</a:t>
            </a:r>
            <a:r>
              <a:rPr lang="en-US" b="1"/>
              <a:t> la Izquierda):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busca</a:t>
            </a:r>
            <a:r>
              <a:rPr lang="en-US"/>
              <a:t> resolver </a:t>
            </a:r>
            <a:r>
              <a:rPr lang="en-US" err="1"/>
              <a:t>incidentes</a:t>
            </a:r>
            <a:r>
              <a:rPr lang="en-US"/>
              <a:t> y solicitudes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cercanos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 (</a:t>
            </a:r>
            <a:r>
              <a:rPr lang="en-US" err="1"/>
              <a:t>autoservicio</a:t>
            </a:r>
            <a:r>
              <a:rPr lang="en-US"/>
              <a:t>, base de </a:t>
            </a:r>
            <a:r>
              <a:rPr lang="en-US" err="1"/>
              <a:t>conocimiento</a:t>
            </a:r>
            <a:r>
              <a:rPr lang="en-US"/>
              <a:t>, chatbot o </a:t>
            </a:r>
            <a:r>
              <a:rPr lang="en-US" err="1"/>
              <a:t>soporte</a:t>
            </a:r>
            <a:r>
              <a:rPr lang="en-US"/>
              <a:t> N1), </a:t>
            </a:r>
            <a:r>
              <a:rPr lang="en-US" err="1"/>
              <a:t>evitando</a:t>
            </a:r>
            <a:r>
              <a:rPr lang="en-US"/>
              <a:t> </a:t>
            </a:r>
            <a:r>
              <a:rPr lang="en-US" err="1"/>
              <a:t>escalaciones</a:t>
            </a:r>
            <a:r>
              <a:rPr lang="en-US"/>
              <a:t> </a:t>
            </a:r>
            <a:r>
              <a:rPr lang="en-US" err="1"/>
              <a:t>innecesarias</a:t>
            </a:r>
            <a:r>
              <a:rPr lang="en-US"/>
              <a:t> y </a:t>
            </a:r>
            <a:r>
              <a:rPr lang="en-US" err="1"/>
              <a:t>reduciendo</a:t>
            </a:r>
            <a:r>
              <a:rPr lang="en-US"/>
              <a:t> </a:t>
            </a:r>
            <a:r>
              <a:rPr lang="en-US" err="1"/>
              <a:t>costos</a:t>
            </a:r>
            <a:r>
              <a:rPr lang="en-US"/>
              <a:t>,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atención</a:t>
            </a:r>
            <a:r>
              <a:rPr lang="en-US"/>
              <a:t> y </a:t>
            </a:r>
            <a:r>
              <a:rPr lang="en-US" err="1"/>
              <a:t>esfuerzo</a:t>
            </a:r>
            <a:r>
              <a:rPr lang="en-US"/>
              <a:t> </a:t>
            </a:r>
            <a:r>
              <a:rPr lang="en-US" err="1"/>
              <a:t>operativo</a:t>
            </a:r>
            <a:r>
              <a:rPr lang="en-US"/>
              <a:t>.</a:t>
            </a: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575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5. Benchmarks de </a:t>
            </a:r>
            <a:r>
              <a:rPr lang="en-US" err="1"/>
              <a:t>Madurez</a:t>
            </a:r>
            <a:r>
              <a:rPr lang="en-US"/>
              <a:t> y </a:t>
            </a:r>
            <a:r>
              <a:rPr lang="en-US" err="1"/>
              <a:t>Métricas</a:t>
            </a:r>
            <a:r>
              <a:rPr lang="en-US"/>
              <a:t> de la Industria</a:t>
            </a:r>
            <a:endParaRPr lang="es-ES"/>
          </a:p>
          <a:p>
            <a:pPr>
              <a:buNone/>
            </a:pPr>
            <a:r>
              <a:rPr lang="en-US"/>
              <a:t>Estos benchmarks son el </a:t>
            </a:r>
            <a:r>
              <a:rPr lang="en-US" err="1"/>
              <a:t>insumo</a:t>
            </a:r>
            <a:r>
              <a:rPr lang="en-US"/>
              <a:t> </a:t>
            </a:r>
            <a:r>
              <a:rPr lang="en-US" err="1"/>
              <a:t>crítico</a:t>
            </a:r>
            <a:r>
              <a:rPr lang="en-US"/>
              <a:t> para el Framework de Assessment: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clasificar</a:t>
            </a:r>
            <a:r>
              <a:rPr lang="en-US"/>
              <a:t> </a:t>
            </a:r>
            <a:r>
              <a:rPr lang="en-US" err="1"/>
              <a:t>objetivamente</a:t>
            </a:r>
            <a:r>
              <a:rPr lang="en-US"/>
              <a:t> </a:t>
            </a:r>
            <a:r>
              <a:rPr lang="en-US" err="1"/>
              <a:t>cualquier</a:t>
            </a:r>
            <a:r>
              <a:rPr lang="en-US"/>
              <a:t> mesa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madurez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/>
              <a:t> </a:t>
            </a:r>
            <a:endParaRPr lang="es-ES"/>
          </a:p>
          <a:p>
            <a:pPr>
              <a:buNone/>
            </a:pPr>
            <a:r>
              <a:rPr lang="en-US" err="1"/>
              <a:t>Métrica</a:t>
            </a:r>
            <a:r>
              <a:rPr lang="en-US"/>
              <a:t>    </a:t>
            </a:r>
            <a:r>
              <a:rPr lang="en-US" err="1"/>
              <a:t>Promedio</a:t>
            </a:r>
            <a:r>
              <a:rPr lang="en-US"/>
              <a:t> Industria    World-Class / Best-in-Class    Fuente</a:t>
            </a:r>
            <a:endParaRPr lang="es-ES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/>
              <a:t>MTTR (Mean Time to Resolution)    8.85 horas    &lt;4 horas (bueno) / &lt;1 hora (world-class)    </a:t>
            </a:r>
            <a:r>
              <a:rPr lang="en-US" err="1"/>
              <a:t>MetricNet</a:t>
            </a:r>
            <a:r>
              <a:rPr lang="en-US"/>
              <a:t>/HDI</a:t>
            </a:r>
            <a:endParaRPr lang="es-ES"/>
          </a:p>
          <a:p>
            <a:pPr>
              <a:buNone/>
            </a:pPr>
            <a:r>
              <a:rPr lang="en-US"/>
              <a:t>CSAT    73–86% (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período</a:t>
            </a:r>
            <a:r>
              <a:rPr lang="en-US"/>
              <a:t>)    ≥90%    HDI metrics / </a:t>
            </a:r>
            <a:r>
              <a:rPr lang="en-US" err="1"/>
              <a:t>HelpDeskFocus</a:t>
            </a:r>
            <a:endParaRPr lang="es-ES" err="1"/>
          </a:p>
          <a:p>
            <a:pPr>
              <a:buNone/>
            </a:pPr>
            <a:r>
              <a:rPr lang="en-US"/>
              <a:t>AHT (Average Handle Time)    6–8 min (</a:t>
            </a:r>
            <a:r>
              <a:rPr lang="en-US" err="1"/>
              <a:t>voz</a:t>
            </a:r>
            <a:r>
              <a:rPr lang="en-US"/>
              <a:t>)    &lt;7 min (</a:t>
            </a:r>
            <a:r>
              <a:rPr lang="en-US" err="1"/>
              <a:t>voz</a:t>
            </a:r>
            <a:r>
              <a:rPr lang="en-US"/>
              <a:t> world-class)    </a:t>
            </a:r>
            <a:r>
              <a:rPr lang="en-US" err="1"/>
              <a:t>IrisAgent</a:t>
            </a:r>
            <a:r>
              <a:rPr lang="en-US"/>
              <a:t> / HDI metrics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N0    USD 2    —    Giva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N1    USD 22–35    USD 15–18   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N3    USD 104    —    Giva</a:t>
            </a:r>
            <a:endParaRPr lang="es-ES"/>
          </a:p>
          <a:p>
            <a:pPr>
              <a:buNone/>
            </a:pPr>
            <a:r>
              <a:rPr lang="en-US"/>
              <a:t>Deflection / Ticket deflection rate    23%    40–60% (maduro) / 80–90% (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líderes</a:t>
            </a:r>
            <a:r>
              <a:rPr lang="en-US"/>
              <a:t>)    </a:t>
            </a:r>
            <a:r>
              <a:rPr lang="en-US" err="1"/>
              <a:t>servicedeskagents</a:t>
            </a:r>
            <a:r>
              <a:rPr lang="en-US"/>
              <a:t> /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Impacto GenAI </a:t>
            </a:r>
            <a:r>
              <a:rPr lang="en-US" err="1"/>
              <a:t>en</a:t>
            </a:r>
            <a:r>
              <a:rPr lang="en-US"/>
              <a:t> MTTR    -17.8% (SolarWinds) / -26.6% (</a:t>
            </a:r>
            <a:r>
              <a:rPr lang="en-US" err="1"/>
              <a:t>Freshservice</a:t>
            </a:r>
            <a:r>
              <a:rPr lang="en-US"/>
              <a:t>)    —    </a:t>
            </a:r>
            <a:r>
              <a:rPr lang="en-US" err="1"/>
              <a:t>Contentstack</a:t>
            </a:r>
            <a:r>
              <a:rPr lang="en-US"/>
              <a:t> ITSM / </a:t>
            </a:r>
            <a:r>
              <a:rPr lang="en-US" err="1"/>
              <a:t>Freshservice</a:t>
            </a:r>
            <a:r>
              <a:rPr lang="en-US"/>
              <a:t> benchmark</a:t>
            </a:r>
            <a:endParaRPr lang="es-ES"/>
          </a:p>
          <a:p>
            <a:pPr>
              <a:buNone/>
            </a:pPr>
            <a:r>
              <a:rPr lang="en-US"/>
              <a:t>Impacto KCS+IA </a:t>
            </a:r>
            <a:r>
              <a:rPr lang="en-US" err="1"/>
              <a:t>en</a:t>
            </a:r>
            <a:r>
              <a:rPr lang="en-US"/>
              <a:t> FCR    +5–7 puntos    —    SDI</a:t>
            </a:r>
            <a:endParaRPr lang="es-ES"/>
          </a:p>
          <a:p>
            <a:pPr>
              <a:buNone/>
            </a:pPr>
            <a:r>
              <a:rPr lang="en-US"/>
              <a:t>Impacto IA </a:t>
            </a:r>
            <a:r>
              <a:rPr lang="en-US" err="1"/>
              <a:t>en</a:t>
            </a:r>
            <a:r>
              <a:rPr lang="en-US"/>
              <a:t> CSAT    +15–22 pts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espera</a:t>
            </a:r>
            <a:r>
              <a:rPr lang="en-US"/>
              <a:t> &lt; 5 min    —    Stealth Agents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es-CO" b="1">
                <a:solidFill>
                  <a:srgbClr val="2E3B4E"/>
                </a:solidFill>
              </a:rPr>
              <a:t>Métricas: XLA; </a:t>
            </a:r>
            <a:endParaRPr lang="en-US"/>
          </a:p>
          <a:p>
            <a:pPr marL="0" indent="0">
              <a:buNone/>
            </a:pP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Satisfaction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sentiment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effort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(SURA </a:t>
            </a:r>
            <a:r>
              <a:rPr lang="es-CO" u="sng" err="1">
                <a:solidFill>
                  <a:srgbClr val="6B6B6B"/>
                </a:solidFill>
                <a:highlight>
                  <a:srgbClr val="FFFF00"/>
                </a:highlight>
              </a:rPr>
              <a:t>cotizadores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N2.)</a:t>
            </a:r>
            <a:endParaRPr lang="es-ES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Service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centro de operaciones de servicios encargado de monitorear y gestionar la operación de TI.</a:t>
            </a:r>
            <a:endParaRPr lang="es-CO"/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Security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equipo especializado en monitoreo y respuesta a incidentes de seguridad informática.</a:t>
            </a:r>
            <a:endParaRPr lang="es-CO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5.2 XLA en la Práctica: Del </a:t>
            </a:r>
            <a:r>
              <a:rPr lang="es-ES" b="1" err="1">
                <a:solidFill>
                  <a:schemeClr val="tx1"/>
                </a:solidFill>
              </a:rPr>
              <a:t>Hype</a:t>
            </a:r>
            <a:r>
              <a:rPr lang="es-ES" b="1">
                <a:solidFill>
                  <a:schemeClr val="tx1"/>
                </a:solidFill>
              </a:rPr>
              <a:t> a la Madurez (2025-2026)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primer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global del </a:t>
            </a:r>
            <a:r>
              <a:rPr lang="en-US" b="1">
                <a:solidFill>
                  <a:schemeClr val="tx1"/>
                </a:solidFill>
              </a:rPr>
              <a:t>XLA Institute, "State of XLA 2025"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presentado</a:t>
            </a:r>
            <a:r>
              <a:rPr lang="en-US">
                <a:solidFill>
                  <a:schemeClr val="tx1"/>
                </a:solidFill>
              </a:rPr>
              <a:t> el 12 de </a:t>
            </a:r>
            <a:r>
              <a:rPr lang="en-US" err="1">
                <a:solidFill>
                  <a:schemeClr val="tx1"/>
                </a:solidFill>
              </a:rPr>
              <a:t>junio</a:t>
            </a:r>
            <a:r>
              <a:rPr lang="en-US">
                <a:solidFill>
                  <a:schemeClr val="tx1"/>
                </a:solidFill>
              </a:rPr>
              <a:t> de 2025, </a:t>
            </a:r>
            <a:r>
              <a:rPr lang="en-US" err="1">
                <a:solidFill>
                  <a:schemeClr val="tx1"/>
                </a:solidFill>
              </a:rPr>
              <a:t>marca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transición</a:t>
            </a:r>
            <a:r>
              <a:rPr lang="en-US">
                <a:solidFill>
                  <a:schemeClr val="tx1"/>
                </a:solidFill>
              </a:rPr>
              <a:t> de las XLA </a:t>
            </a:r>
            <a:r>
              <a:rPr lang="en-US" err="1">
                <a:solidFill>
                  <a:schemeClr val="tx1"/>
                </a:solidFill>
              </a:rPr>
              <a:t>desde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discurso</a:t>
            </a:r>
            <a:r>
              <a:rPr lang="en-US">
                <a:solidFill>
                  <a:schemeClr val="tx1"/>
                </a:solidFill>
              </a:rPr>
              <a:t> experimental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práctica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escalable</a:t>
            </a:r>
            <a:r>
              <a:rPr lang="en-US">
                <a:solidFill>
                  <a:schemeClr val="tx1"/>
                </a:solidFill>
              </a:rPr>
              <a:t>: el </a:t>
            </a:r>
            <a:r>
              <a:rPr lang="en-US" b="1">
                <a:solidFill>
                  <a:schemeClr val="tx1"/>
                </a:solidFill>
              </a:rPr>
              <a:t>68% de las </a:t>
            </a:r>
            <a:r>
              <a:rPr lang="en-US" b="1" err="1">
                <a:solidFill>
                  <a:schemeClr val="tx1"/>
                </a:solidFill>
              </a:rPr>
              <a:t>empresas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encuestadas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planea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implementar</a:t>
            </a:r>
            <a:r>
              <a:rPr lang="en-US" b="1">
                <a:solidFill>
                  <a:schemeClr val="tx1"/>
                </a:solidFill>
              </a:rPr>
              <a:t> XLAs </a:t>
            </a:r>
            <a:r>
              <a:rPr lang="en-US" b="1" err="1">
                <a:solidFill>
                  <a:schemeClr val="tx1"/>
                </a:solidFill>
              </a:rPr>
              <a:t>en</a:t>
            </a:r>
            <a:r>
              <a:rPr lang="en-US" b="1">
                <a:solidFill>
                  <a:schemeClr val="tx1"/>
                </a:solidFill>
              </a:rPr>
              <a:t> 2026</a:t>
            </a:r>
            <a:r>
              <a:rPr lang="en-US">
                <a:solidFill>
                  <a:schemeClr val="tx1"/>
                </a:solidFill>
              </a:rPr>
              <a:t> (</a:t>
            </a:r>
            <a:r>
              <a:rPr lang="en-US" err="1">
                <a:solidFill>
                  <a:schemeClr val="tx1"/>
                </a:solidFill>
              </a:rPr>
              <a:t>algunas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fuentes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citan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cifra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"</a:t>
            </a:r>
            <a:r>
              <a:rPr lang="en-US" err="1">
                <a:solidFill>
                  <a:schemeClr val="tx1"/>
                </a:solidFill>
              </a:rPr>
              <a:t>casi</a:t>
            </a:r>
            <a:r>
              <a:rPr lang="en-US">
                <a:solidFill>
                  <a:schemeClr val="tx1"/>
                </a:solidFill>
              </a:rPr>
              <a:t> 70%"), y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expande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rápidamente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allá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departamentos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salud</a:t>
            </a:r>
            <a:r>
              <a:rPr lang="en-US">
                <a:solidFill>
                  <a:schemeClr val="tx1"/>
                </a:solidFill>
              </a:rPr>
              <a:t>, RR.HH. y </a:t>
            </a:r>
            <a:r>
              <a:rPr lang="en-US" err="1">
                <a:solidFill>
                  <a:schemeClr val="tx1"/>
                </a:solidFill>
              </a:rPr>
              <a:t>finanzas</a:t>
            </a:r>
            <a:r>
              <a:rPr lang="en-US">
                <a:solidFill>
                  <a:schemeClr val="tx1"/>
                </a:solidFill>
              </a:rPr>
              <a:t> — con </a:t>
            </a:r>
            <a:r>
              <a:rPr lang="en-US" err="1">
                <a:solidFill>
                  <a:schemeClr val="tx1"/>
                </a:solidFill>
              </a:rPr>
              <a:t>Brasil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emergiendo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uno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mercados </a:t>
            </a:r>
            <a:r>
              <a:rPr lang="en-US" err="1">
                <a:solidFill>
                  <a:schemeClr val="tx1"/>
                </a:solidFill>
              </a:rPr>
              <a:t>líderes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 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Presswire</a:t>
            </a:r>
            <a:r>
              <a:rPr lang="en-US">
                <a:solidFill>
                  <a:schemeClr val="tx1"/>
                </a:solidFill>
              </a:rPr>
              <a:t>) (</a:t>
            </a:r>
            <a:r>
              <a:rPr lang="en-US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Emerce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introduce el </a:t>
            </a:r>
            <a:r>
              <a:rPr lang="en-US" b="1">
                <a:solidFill>
                  <a:schemeClr val="tx1"/>
                </a:solidFill>
              </a:rPr>
              <a:t>Dynamic Experience Management Framework (DEMF)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define dos </a:t>
            </a:r>
            <a:r>
              <a:rPr lang="en-US" err="1">
                <a:solidFill>
                  <a:schemeClr val="tx1"/>
                </a:solidFill>
              </a:rPr>
              <a:t>ejes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capacidad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creación</a:t>
            </a:r>
            <a:r>
              <a:rPr lang="en-US">
                <a:solidFill>
                  <a:schemeClr val="tx1"/>
                </a:solidFill>
              </a:rPr>
              <a:t> de valor </a:t>
            </a:r>
            <a:r>
              <a:rPr lang="en-US" err="1">
                <a:solidFill>
                  <a:schemeClr val="tx1"/>
                </a:solidFill>
              </a:rPr>
              <a:t>acumulativo</a:t>
            </a:r>
            <a:r>
              <a:rPr lang="en-US">
                <a:solidFill>
                  <a:schemeClr val="tx1"/>
                </a:solidFill>
              </a:rPr>
              <a:t> ("accretive value creation"). Entre sus </a:t>
            </a:r>
            <a:r>
              <a:rPr lang="en-US" err="1">
                <a:solidFill>
                  <a:schemeClr val="tx1"/>
                </a:solidFill>
              </a:rPr>
              <a:t>hallazgos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exitosas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alrededor</a:t>
            </a:r>
            <a:r>
              <a:rPr lang="en-US">
                <a:solidFill>
                  <a:schemeClr val="tx1"/>
                </a:solidFill>
              </a:rPr>
              <a:t> de personas (personas-based), la Digital Employee Experience (DEX) y las XLA </a:t>
            </a:r>
            <a:r>
              <a:rPr lang="en-US" err="1">
                <a:solidFill>
                  <a:schemeClr val="tx1"/>
                </a:solidFill>
              </a:rPr>
              <a:t>convergen</a:t>
            </a:r>
            <a:r>
              <a:rPr lang="en-US">
                <a:solidFill>
                  <a:schemeClr val="tx1"/>
                </a:solidFill>
              </a:rPr>
              <a:t> para </a:t>
            </a:r>
            <a:r>
              <a:rPr lang="en-US" err="1">
                <a:solidFill>
                  <a:schemeClr val="tx1"/>
                </a:solidFill>
              </a:rPr>
              <a:t>sostener</a:t>
            </a:r>
            <a:r>
              <a:rPr lang="en-US">
                <a:solidFill>
                  <a:schemeClr val="tx1"/>
                </a:solidFill>
              </a:rPr>
              <a:t> tanto a </a:t>
            </a:r>
            <a:r>
              <a:rPr lang="en-US" err="1">
                <a:solidFill>
                  <a:schemeClr val="tx1"/>
                </a:solidFill>
              </a:rPr>
              <a:t>empleados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, y las XLA </a:t>
            </a:r>
            <a:r>
              <a:rPr lang="en-US" err="1">
                <a:solidFill>
                  <a:schemeClr val="tx1"/>
                </a:solidFill>
              </a:rPr>
              <a:t>desplazan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foco</a:t>
            </a:r>
            <a:r>
              <a:rPr lang="en-US">
                <a:solidFill>
                  <a:schemeClr val="tx1"/>
                </a:solidFill>
              </a:rPr>
              <a:t> de la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reactiva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problemas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habilitación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proactiva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éxito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— Alan Nance, XLA Institute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6557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63% Regulatorios: SFC Circular 007 · Open </a:t>
            </a:r>
            <a:r>
              <a:rPr lang="es-ES" b="1" err="1">
                <a:solidFill>
                  <a:schemeClr val="tx1"/>
                </a:solidFill>
              </a:rPr>
              <a:t>Finance</a:t>
            </a:r>
            <a:r>
              <a:rPr lang="es-ES" b="1">
                <a:solidFill>
                  <a:schemeClr val="tx1"/>
                </a:solidFill>
              </a:rPr>
              <a:t> · ISO 42001 IA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68% Barrera de entrada: cambio de proveedor (costo de </a:t>
            </a:r>
            <a:r>
              <a:rPr lang="es-ES" b="1" err="1">
                <a:solidFill>
                  <a:schemeClr val="tx1"/>
                </a:solidFill>
              </a:rPr>
              <a:t>transicion</a:t>
            </a:r>
            <a:r>
              <a:rPr lang="es-ES" b="1">
                <a:solidFill>
                  <a:schemeClr val="tx1"/>
                </a:solidFill>
              </a:rPr>
              <a:t> 30-90 </a:t>
            </a:r>
            <a:r>
              <a:rPr lang="es-ES" b="1" err="1">
                <a:solidFill>
                  <a:schemeClr val="tx1"/>
                </a:solidFill>
              </a:rPr>
              <a:t>dias</a:t>
            </a:r>
            <a:r>
              <a:rPr lang="es-ES" b="1">
                <a:solidFill>
                  <a:schemeClr val="tx1"/>
                </a:solidFill>
              </a:rPr>
              <a:t>)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Las </a:t>
            </a:r>
            <a:r>
              <a:rPr lang="en-US" err="1">
                <a:solidFill>
                  <a:schemeClr val="tx1"/>
                </a:solidFill>
              </a:rPr>
              <a:t>siguientes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tendencias</a:t>
            </a:r>
            <a:r>
              <a:rPr lang="en-US">
                <a:solidFill>
                  <a:schemeClr val="tx1"/>
                </a:solidFill>
              </a:rPr>
              <a:t> son las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relevantes</a:t>
            </a:r>
            <a:r>
              <a:rPr lang="en-US">
                <a:solidFill>
                  <a:schemeClr val="tx1"/>
                </a:solidFill>
              </a:rPr>
              <a:t> para el </a:t>
            </a:r>
            <a:r>
              <a:rPr lang="en-US" err="1">
                <a:solidFill>
                  <a:schemeClr val="tx1"/>
                </a:solidFill>
              </a:rPr>
              <a:t>diseño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portafolio</a:t>
            </a:r>
            <a:r>
              <a:rPr lang="en-US">
                <a:solidFill>
                  <a:schemeClr val="tx1"/>
                </a:solidFill>
              </a:rPr>
              <a:t> Next Gen: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GenAI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table stakes:</a:t>
            </a:r>
            <a:r>
              <a:rPr lang="en-US">
                <a:solidFill>
                  <a:schemeClr val="tx1"/>
                </a:solidFill>
              </a:rPr>
              <a:t> Los </a:t>
            </a:r>
            <a:r>
              <a:rPr lang="en-US" err="1">
                <a:solidFill>
                  <a:schemeClr val="tx1"/>
                </a:solidFill>
              </a:rPr>
              <a:t>proveedores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no </a:t>
            </a:r>
            <a:r>
              <a:rPr lang="en-US" err="1">
                <a:solidFill>
                  <a:schemeClr val="tx1"/>
                </a:solidFill>
              </a:rPr>
              <a:t>tienen</a:t>
            </a:r>
            <a:r>
              <a:rPr lang="en-US">
                <a:solidFill>
                  <a:schemeClr val="tx1"/>
                </a:solidFill>
              </a:rPr>
              <a:t> GenAI </a:t>
            </a:r>
            <a:r>
              <a:rPr lang="en-US" err="1">
                <a:solidFill>
                  <a:schemeClr val="tx1"/>
                </a:solidFill>
              </a:rPr>
              <a:t>quedan</a:t>
            </a:r>
            <a:r>
              <a:rPr lang="en-US">
                <a:solidFill>
                  <a:schemeClr val="tx1"/>
                </a:solidFill>
              </a:rPr>
              <a:t> fuera de </a:t>
            </a:r>
            <a:r>
              <a:rPr lang="en-US" err="1">
                <a:solidFill>
                  <a:schemeClr val="tx1"/>
                </a:solidFill>
              </a:rPr>
              <a:t>conversación</a:t>
            </a:r>
            <a:r>
              <a:rPr lang="en-US">
                <a:solidFill>
                  <a:schemeClr val="tx1"/>
                </a:solidFill>
              </a:rPr>
              <a:t>. El </a:t>
            </a:r>
            <a:r>
              <a:rPr lang="en-US" err="1">
                <a:solidFill>
                  <a:schemeClr val="tx1"/>
                </a:solidFill>
              </a:rPr>
              <a:t>impacto</a:t>
            </a:r>
            <a:r>
              <a:rPr lang="en-US">
                <a:solidFill>
                  <a:schemeClr val="tx1"/>
                </a:solidFill>
              </a:rPr>
              <a:t> es </a:t>
            </a:r>
            <a:r>
              <a:rPr lang="en-US" err="1">
                <a:solidFill>
                  <a:schemeClr val="tx1"/>
                </a:solidFill>
              </a:rPr>
              <a:t>medible</a:t>
            </a:r>
            <a:r>
              <a:rPr lang="en-US">
                <a:solidFill>
                  <a:schemeClr val="tx1"/>
                </a:solidFill>
              </a:rPr>
              <a:t>: -26.6%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MTTR, +34.6%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Freshservice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benchmark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ventaja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competitiva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</a:t>
            </a:r>
            <a:r>
              <a:rPr lang="en-US" err="1">
                <a:solidFill>
                  <a:schemeClr val="tx1"/>
                </a:solidFill>
              </a:rPr>
              <a:t>distinción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crítica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herramientas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anteriores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respondían</a:t>
            </a:r>
            <a:r>
              <a:rPr lang="en-US">
                <a:solidFill>
                  <a:schemeClr val="tx1"/>
                </a:solidFill>
              </a:rPr>
              <a:t> a </a:t>
            </a:r>
            <a:r>
              <a:rPr lang="en-US" i="1">
                <a:solidFill>
                  <a:schemeClr val="tx1"/>
                </a:solidFill>
              </a:rPr>
              <a:t>prompts</a:t>
            </a:r>
            <a:r>
              <a:rPr lang="en-US">
                <a:solidFill>
                  <a:schemeClr val="tx1"/>
                </a:solidFill>
              </a:rPr>
              <a:t>;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sistemas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agénticos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persiguen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objetivos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mantienen</a:t>
            </a:r>
            <a:r>
              <a:rPr lang="en-US">
                <a:solidFill>
                  <a:schemeClr val="tx1"/>
                </a:solidFill>
              </a:rPr>
              <a:t> memoria y </a:t>
            </a:r>
            <a:r>
              <a:rPr lang="en-US" err="1">
                <a:solidFill>
                  <a:schemeClr val="tx1"/>
                </a:solidFill>
              </a:rPr>
              <a:t>ejecutan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flujos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multipaso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KCS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prerrequisito</a:t>
            </a:r>
            <a:r>
              <a:rPr lang="en-US" b="1">
                <a:solidFill>
                  <a:schemeClr val="tx1"/>
                </a:solidFill>
              </a:rPr>
              <a:t> para la IA:</a:t>
            </a:r>
            <a:r>
              <a:rPr lang="en-US">
                <a:solidFill>
                  <a:schemeClr val="tx1"/>
                </a:solidFill>
              </a:rPr>
              <a:t> "Los </a:t>
            </a:r>
            <a:r>
              <a:rPr lang="en-US" err="1">
                <a:solidFill>
                  <a:schemeClr val="tx1"/>
                </a:solidFill>
              </a:rPr>
              <a:t>datos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validados</a:t>
            </a:r>
            <a:r>
              <a:rPr lang="en-US">
                <a:solidFill>
                  <a:schemeClr val="tx1"/>
                </a:solidFill>
              </a:rPr>
              <a:t> y demand-driven </a:t>
            </a:r>
            <a:r>
              <a:rPr lang="en-US" err="1">
                <a:solidFill>
                  <a:schemeClr val="tx1"/>
                </a:solidFill>
              </a:rPr>
              <a:t>previenen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alucinaciones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confianza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. KCS es un </a:t>
            </a:r>
            <a:r>
              <a:rPr lang="en-US" err="1">
                <a:solidFill>
                  <a:schemeClr val="tx1"/>
                </a:solidFill>
              </a:rPr>
              <a:t>sistema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operativo</a:t>
            </a:r>
            <a:r>
              <a:rPr lang="en-US">
                <a:solidFill>
                  <a:schemeClr val="tx1"/>
                </a:solidFill>
              </a:rPr>
              <a:t> tanto para </a:t>
            </a:r>
            <a:r>
              <a:rPr lang="en-US" err="1">
                <a:solidFill>
                  <a:schemeClr val="tx1"/>
                </a:solidFill>
              </a:rPr>
              <a:t>agentes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humanos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de IA"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Consortium for Service Innovation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Shift-left con </a:t>
            </a:r>
            <a:r>
              <a:rPr lang="en-US" b="1" err="1">
                <a:solidFill>
                  <a:schemeClr val="tx1"/>
                </a:solidFill>
              </a:rPr>
              <a:t>datos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costo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pasa</a:t>
            </a:r>
            <a:r>
              <a:rPr lang="en-US">
                <a:solidFill>
                  <a:schemeClr val="tx1"/>
                </a:solidFill>
              </a:rPr>
              <a:t> de USD 104 (N3) a USD 2 (N0). Cada punto de </a:t>
            </a:r>
            <a:r>
              <a:rPr lang="en-US" err="1">
                <a:solidFill>
                  <a:schemeClr val="tx1"/>
                </a:solidFill>
              </a:rPr>
              <a:t>deflección</a:t>
            </a:r>
            <a:r>
              <a:rPr lang="en-US">
                <a:solidFill>
                  <a:schemeClr val="tx1"/>
                </a:solidFill>
              </a:rPr>
              <a:t> genera un </a:t>
            </a:r>
            <a:r>
              <a:rPr lang="en-US" err="1">
                <a:solidFill>
                  <a:schemeClr val="tx1"/>
                </a:solidFill>
              </a:rPr>
              <a:t>ahorro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cuantificable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Giva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De SLA a outcomes:</a:t>
            </a:r>
            <a:r>
              <a:rPr lang="en-US">
                <a:solidFill>
                  <a:schemeClr val="tx1"/>
                </a:solidFill>
              </a:rPr>
              <a:t> TCS propone </a:t>
            </a:r>
            <a:r>
              <a:rPr lang="en-US" err="1">
                <a:solidFill>
                  <a:schemeClr val="tx1"/>
                </a:solidFill>
              </a:rPr>
              <a:t>precios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basados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outcomes; la </a:t>
            </a:r>
            <a:r>
              <a:rPr lang="en-US" err="1">
                <a:solidFill>
                  <a:schemeClr val="tx1"/>
                </a:solidFill>
              </a:rPr>
              <a:t>industria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migra</a:t>
            </a:r>
            <a:r>
              <a:rPr lang="en-US">
                <a:solidFill>
                  <a:schemeClr val="tx1"/>
                </a:solidFill>
              </a:rPr>
              <a:t> de "</a:t>
            </a:r>
            <a:r>
              <a:rPr lang="en-US" err="1">
                <a:solidFill>
                  <a:schemeClr val="tx1"/>
                </a:solidFill>
              </a:rPr>
              <a:t>gestionar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esfuerzo</a:t>
            </a:r>
            <a:r>
              <a:rPr lang="en-US">
                <a:solidFill>
                  <a:schemeClr val="tx1"/>
                </a:solidFill>
              </a:rPr>
              <a:t>" a "</a:t>
            </a:r>
            <a:r>
              <a:rPr lang="en-US" err="1">
                <a:solidFill>
                  <a:schemeClr val="tx1"/>
                </a:solidFill>
              </a:rPr>
              <a:t>orquestar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" (</a:t>
            </a:r>
            <a:r>
              <a:rPr lang="en-US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err="1">
                <a:solidFill>
                  <a:schemeClr val="tx1"/>
                </a:solidFill>
              </a:rPr>
              <a:t>Observabilidad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diferenciador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mesa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detecta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resuelve</a:t>
            </a:r>
            <a:r>
              <a:rPr lang="en-US">
                <a:solidFill>
                  <a:schemeClr val="tx1"/>
                </a:solidFill>
              </a:rPr>
              <a:t> antes del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vuelve</a:t>
            </a:r>
            <a:r>
              <a:rPr lang="en-US">
                <a:solidFill>
                  <a:schemeClr val="tx1"/>
                </a:solidFill>
              </a:rPr>
              <a:t> invisible para el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sentido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término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ServiceNow whitepaper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AI: del </a:t>
            </a:r>
            <a:r>
              <a:rPr lang="en-US" b="1" err="1">
                <a:solidFill>
                  <a:schemeClr val="tx1"/>
                </a:solidFill>
              </a:rPr>
              <a:t>experimento</a:t>
            </a:r>
            <a:r>
              <a:rPr lang="en-US" b="1">
                <a:solidFill>
                  <a:schemeClr val="tx1"/>
                </a:solidFill>
              </a:rPr>
              <a:t> a </a:t>
            </a:r>
            <a:r>
              <a:rPr lang="en-US" b="1" err="1">
                <a:solidFill>
                  <a:schemeClr val="tx1"/>
                </a:solidFill>
              </a:rPr>
              <a:t>producción</a:t>
            </a:r>
            <a:r>
              <a:rPr lang="en-US" b="1">
                <a:solidFill>
                  <a:schemeClr val="tx1"/>
                </a:solidFill>
              </a:rPr>
              <a:t> (con </a:t>
            </a:r>
            <a:r>
              <a:rPr lang="en-US" b="1" err="1">
                <a:solidFill>
                  <a:schemeClr val="tx1"/>
                </a:solidFill>
              </a:rPr>
              <a:t>matices</a:t>
            </a:r>
            <a:r>
              <a:rPr lang="en-US" b="1">
                <a:solidFill>
                  <a:schemeClr val="tx1"/>
                </a:solidFill>
              </a:rPr>
              <a:t>).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año</a:t>
            </a:r>
            <a:r>
              <a:rPr lang="en-US">
                <a:solidFill>
                  <a:schemeClr val="tx1"/>
                </a:solidFill>
              </a:rPr>
              <a:t> 2025-2026 </a:t>
            </a:r>
            <a:r>
              <a:rPr lang="en-US" err="1">
                <a:solidFill>
                  <a:schemeClr val="tx1"/>
                </a:solidFill>
              </a:rPr>
              <a:t>confirma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la IA </a:t>
            </a:r>
            <a:r>
              <a:rPr lang="en-US" err="1">
                <a:solidFill>
                  <a:schemeClr val="tx1"/>
                </a:solidFill>
              </a:rPr>
              <a:t>agéntica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dejó</a:t>
            </a:r>
            <a:r>
              <a:rPr lang="en-US">
                <a:solidFill>
                  <a:schemeClr val="tx1"/>
                </a:solidFill>
              </a:rPr>
              <a:t> de ser un </a:t>
            </a:r>
            <a:r>
              <a:rPr lang="en-US" err="1">
                <a:solidFill>
                  <a:schemeClr val="tx1"/>
                </a:solidFill>
              </a:rPr>
              <a:t>experimento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laboratorio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pero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brecha</a:t>
            </a:r>
            <a:r>
              <a:rPr lang="en-US">
                <a:solidFill>
                  <a:schemeClr val="tx1"/>
                </a:solidFill>
              </a:rPr>
              <a:t> entre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real </a:t>
            </a:r>
            <a:r>
              <a:rPr lang="en-US" err="1">
                <a:solidFill>
                  <a:schemeClr val="tx1"/>
                </a:solidFill>
              </a:rPr>
              <a:t>sigue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amplia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824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63DE-BA7F-F0A7-A6EC-6E4D44FC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C1037-746E-5E18-B011-F4D63BB7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BE060-DFB4-75C7-1539-26CD848E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s-ES">
                <a:solidFill>
                  <a:srgbClr val="595959"/>
                </a:solidFill>
              </a:rPr>
              <a:t>CAGR : </a:t>
            </a:r>
            <a:r>
              <a:rPr lang="es-ES" b="1" err="1">
                <a:solidFill>
                  <a:srgbClr val="595959"/>
                </a:solidFill>
              </a:rPr>
              <a:t>Compound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Annual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Growth</a:t>
            </a:r>
            <a:r>
              <a:rPr lang="es-ES" b="1">
                <a:solidFill>
                  <a:srgbClr val="595959"/>
                </a:solidFill>
              </a:rPr>
              <a:t> Rate</a:t>
            </a:r>
            <a:r>
              <a:rPr lang="es-ES">
                <a:solidFill>
                  <a:srgbClr val="595959"/>
                </a:solidFill>
              </a:rPr>
              <a:t>, o en español, </a:t>
            </a:r>
            <a:r>
              <a:rPr lang="es-ES" b="1">
                <a:solidFill>
                  <a:srgbClr val="595959"/>
                </a:solidFill>
              </a:rPr>
              <a:t>Tasa de Crecimiento Anual Compuesta</a:t>
            </a:r>
            <a:r>
              <a:rPr lang="es-ES">
                <a:solidFill>
                  <a:srgbClr val="595959"/>
                </a:solidFill>
              </a:rPr>
              <a:t>.</a:t>
            </a:r>
            <a:endParaRPr lang="en-US" b="1"/>
          </a:p>
          <a:p>
            <a:pPr marL="171450" indent="-171450"/>
            <a:r>
              <a:rPr lang="en-US" b="1"/>
              <a:t>SFC:</a:t>
            </a:r>
            <a:r>
              <a:rPr lang="en-US"/>
              <a:t> </a:t>
            </a:r>
            <a:r>
              <a:rPr lang="en-US" err="1"/>
              <a:t>Superintendencia</a:t>
            </a:r>
            <a:r>
              <a:rPr lang="en-US"/>
              <a:t> Financiera de Colombia</a:t>
            </a:r>
            <a:endParaRPr lang="es-ES"/>
          </a:p>
          <a:p>
            <a:pPr marL="171450" indent="-171450"/>
            <a:r>
              <a:rPr lang="en-US" b="1" err="1"/>
              <a:t>SOX:</a:t>
            </a:r>
            <a:r>
              <a:rPr lang="en-US" err="1"/>
              <a:t>Sarbanes-Oxley</a:t>
            </a:r>
            <a:r>
              <a:rPr lang="en-US"/>
              <a:t> Act, Ley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establece</a:t>
            </a:r>
            <a:r>
              <a:rPr lang="en-US"/>
              <a:t> </a:t>
            </a:r>
            <a:r>
              <a:rPr lang="en-US" err="1"/>
              <a:t>controles</a:t>
            </a:r>
            <a:r>
              <a:rPr lang="en-US"/>
              <a:t> para </a:t>
            </a:r>
            <a:r>
              <a:rPr lang="en-US" err="1"/>
              <a:t>garantizar</a:t>
            </a:r>
            <a:r>
              <a:rPr lang="en-US"/>
              <a:t> la </a:t>
            </a:r>
            <a:r>
              <a:rPr lang="en-US" err="1"/>
              <a:t>transparencia</a:t>
            </a:r>
            <a:r>
              <a:rPr lang="en-US"/>
              <a:t> y la </a:t>
            </a:r>
            <a:r>
              <a:rPr lang="en-US" err="1"/>
              <a:t>integridad</a:t>
            </a:r>
            <a:r>
              <a:rPr lang="en-US"/>
              <a:t> de la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financiera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BCP (</a:t>
            </a:r>
            <a:r>
              <a:rPr lang="en-US"/>
              <a:t>Business Continuity Plan / Plan de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operativas</a:t>
            </a:r>
            <a:r>
              <a:rPr lang="en-US"/>
              <a:t> las </a:t>
            </a:r>
            <a:r>
              <a:rPr lang="en-US" err="1"/>
              <a:t>funciones</a:t>
            </a:r>
            <a:r>
              <a:rPr lang="en-US"/>
              <a:t> </a:t>
            </a:r>
            <a:r>
              <a:rPr lang="en-US" err="1"/>
              <a:t>críticas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interrupción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DRP (</a:t>
            </a:r>
            <a:r>
              <a:rPr lang="en-US"/>
              <a:t>Disaster Recovery Plan / Plan de </a:t>
            </a:r>
            <a:r>
              <a:rPr lang="en-US" err="1"/>
              <a:t>Recuperación</a:t>
            </a:r>
            <a:r>
              <a:rPr lang="en-US"/>
              <a:t> ante </a:t>
            </a:r>
            <a:r>
              <a:rPr lang="en-US" err="1"/>
              <a:t>Desastres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recuperar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, </a:t>
            </a:r>
            <a:r>
              <a:rPr lang="en-US" err="1"/>
              <a:t>aplicaciones</a:t>
            </a:r>
            <a:r>
              <a:rPr lang="en-US"/>
              <a:t> y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después</a:t>
            </a:r>
            <a:r>
              <a:rPr lang="en-US"/>
              <a:t> de un </a:t>
            </a:r>
            <a:r>
              <a:rPr lang="en-US" err="1"/>
              <a:t>desastre</a:t>
            </a:r>
            <a:r>
              <a:rPr lang="en-US"/>
              <a:t> o </a:t>
            </a:r>
            <a:r>
              <a:rPr lang="en-US" err="1"/>
              <a:t>incidente</a:t>
            </a:r>
            <a:r>
              <a:rPr lang="en-US"/>
              <a:t> grave.</a:t>
            </a:r>
          </a:p>
          <a:p>
            <a:pPr marL="171450" indent="-171450"/>
            <a:r>
              <a:rPr lang="en-US" b="1"/>
              <a:t>BCP (</a:t>
            </a:r>
            <a:r>
              <a:rPr lang="en-US" err="1"/>
              <a:t>Continuar</a:t>
            </a:r>
            <a:r>
              <a:rPr lang="en-US"/>
              <a:t> operando</a:t>
            </a:r>
            <a:r>
              <a:rPr lang="en-US" b="1"/>
              <a:t>)/DRP (</a:t>
            </a:r>
            <a:r>
              <a:rPr lang="en-US" err="1"/>
              <a:t>Recuperar</a:t>
            </a:r>
            <a:r>
              <a:rPr lang="en-US"/>
              <a:t> la </a:t>
            </a:r>
            <a:r>
              <a:rPr lang="en-US" err="1"/>
              <a:t>tecnología</a:t>
            </a:r>
            <a:r>
              <a:rPr lang="en-US" b="1"/>
              <a:t>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integral para </a:t>
            </a:r>
            <a:r>
              <a:rPr lang="en-US" err="1"/>
              <a:t>asegurar</a:t>
            </a:r>
            <a:r>
              <a:rPr lang="en-US"/>
              <a:t> la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y la </a:t>
            </a:r>
            <a:r>
              <a:rPr lang="en-US" err="1"/>
              <a:t>recuperación</a:t>
            </a:r>
            <a:r>
              <a:rPr lang="en-US"/>
              <a:t> </a:t>
            </a:r>
            <a:r>
              <a:rPr lang="en-US" err="1"/>
              <a:t>tecnológica</a:t>
            </a:r>
            <a:r>
              <a:rPr lang="en-US"/>
              <a:t> ante </a:t>
            </a:r>
            <a:r>
              <a:rPr lang="en-US" err="1"/>
              <a:t>contingencias</a:t>
            </a:r>
            <a:r>
              <a:rPr lang="en-US"/>
              <a:t>.</a:t>
            </a:r>
          </a:p>
          <a:p>
            <a:pPr marL="158750" indent="0">
              <a:buNone/>
            </a:pPr>
            <a:endParaRPr lang="en-US"/>
          </a:p>
          <a:p>
            <a:r>
              <a:rPr lang="en-US" err="1"/>
              <a:t>Superintendencia</a:t>
            </a:r>
            <a:r>
              <a:rPr lang="en-US"/>
              <a:t> Financiera de Colombia: </a:t>
            </a:r>
            <a:r>
              <a:rPr lang="en-US">
                <a:hlinkClick r:id="rId3"/>
              </a:rPr>
              <a:t>https://www.superfinanciera.gov.co</a:t>
            </a:r>
            <a:r>
              <a:rPr lang="en-US"/>
              <a:t> </a:t>
            </a:r>
            <a:r>
              <a:rPr lang="en-US">
                <a:hlinkClick r:id="rId4"/>
              </a:rPr>
              <a:t>[</a:t>
            </a:r>
            <a:r>
              <a:rPr lang="en-US" err="1">
                <a:hlinkClick r:id="rId4"/>
              </a:rPr>
              <a:t>superfinan</a:t>
            </a:r>
            <a:r>
              <a:rPr lang="en-US">
                <a:hlinkClick r:id="rId4"/>
              </a:rPr>
              <a:t>...era.gov.co]</a:t>
            </a:r>
            <a:endParaRPr lang="es-ES"/>
          </a:p>
          <a:p>
            <a:r>
              <a:rPr lang="en-US"/>
              <a:t>Open Finance Colombia (</a:t>
            </a:r>
            <a:r>
              <a:rPr lang="en-US" err="1"/>
              <a:t>Decreto</a:t>
            </a:r>
            <a:r>
              <a:rPr lang="en-US"/>
              <a:t> 0368 de 2026): </a:t>
            </a:r>
            <a:r>
              <a:rPr lang="en-US" err="1"/>
              <a:t>Superfinanciera</a:t>
            </a:r>
            <a:r>
              <a:rPr lang="en-US"/>
              <a:t> </a:t>
            </a:r>
            <a:r>
              <a:rPr lang="en-US">
                <a:hlinkClick r:id="rId5"/>
              </a:rPr>
              <a:t>[</a:t>
            </a:r>
            <a:r>
              <a:rPr lang="en-US" err="1">
                <a:hlinkClick r:id="rId5"/>
              </a:rPr>
              <a:t>superfinan</a:t>
            </a:r>
            <a:r>
              <a:rPr lang="en-US">
                <a:hlinkClick r:id="rId5"/>
              </a:rPr>
              <a:t>...era.gov.co]</a:t>
            </a:r>
            <a:endParaRPr lang="en-US"/>
          </a:p>
          <a:p>
            <a:r>
              <a:rPr lang="en-US"/>
              <a:t>ISO/IEC 42001: </a:t>
            </a:r>
            <a:r>
              <a:rPr lang="en-US">
                <a:hlinkClick r:id="rId6"/>
              </a:rPr>
              <a:t>https://www.iso.org/standard/42001</a:t>
            </a:r>
            <a:r>
              <a:rPr lang="en-US"/>
              <a:t> </a:t>
            </a:r>
            <a:r>
              <a:rPr lang="en-US">
                <a:hlinkClick r:id="rId6"/>
              </a:rPr>
              <a:t>[iso.org]</a:t>
            </a:r>
            <a:endParaRPr lang="es-ES"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7229A-9FEE-A307-B6A0-D2AEB3C73C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4280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</a:rPr>
              <a:t>De ITSM a DPSM:</a:t>
            </a:r>
            <a:r>
              <a:rPr lang="en-US">
                <a:solidFill>
                  <a:schemeClr val="tx1"/>
                </a:solidFill>
              </a:rPr>
              <a:t> ITIL (Version 5) </a:t>
            </a:r>
            <a:r>
              <a:rPr lang="en-US" err="1">
                <a:solidFill>
                  <a:schemeClr val="tx1"/>
                </a:solidFill>
              </a:rPr>
              <a:t>amplía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marco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 </a:t>
            </a:r>
            <a:r>
              <a:rPr lang="en-US" b="1">
                <a:solidFill>
                  <a:schemeClr val="tx1"/>
                </a:solidFill>
              </a:rPr>
              <a:t>Digital Product and Service Management (DPSM)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unificando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productos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digitales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aplicaciones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plataformas</a:t>
            </a:r>
            <a:r>
              <a:rPr lang="en-US">
                <a:solidFill>
                  <a:schemeClr val="tx1"/>
                </a:solidFill>
              </a:rPr>
              <a:t> y APIs junto con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servicios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reflejando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muchas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ya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gestionan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elementos</a:t>
            </a:r>
            <a:r>
              <a:rPr lang="en-US">
                <a:solidFill>
                  <a:schemeClr val="tx1"/>
                </a:solidFill>
              </a:rPr>
              <a:t> de forma </a:t>
            </a:r>
            <a:r>
              <a:rPr lang="en-US" err="1">
                <a:solidFill>
                  <a:schemeClr val="tx1"/>
                </a:solidFill>
              </a:rPr>
              <a:t>convergente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4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PIR (Post Implementation Review):</a:t>
            </a:r>
            <a:r>
              <a:rPr lang="en-US"/>
              <a:t> </a:t>
            </a:r>
            <a:r>
              <a:rPr lang="en-US" err="1"/>
              <a:t>Revisión</a:t>
            </a:r>
            <a:r>
              <a:rPr lang="en-US"/>
              <a:t> posterior a la </a:t>
            </a:r>
            <a:r>
              <a:rPr lang="en-US" err="1"/>
              <a:t>implementación</a:t>
            </a:r>
            <a:r>
              <a:rPr lang="en-US"/>
              <a:t> para </a:t>
            </a:r>
            <a:r>
              <a:rPr lang="en-US" err="1"/>
              <a:t>evaluar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, </a:t>
            </a:r>
            <a:r>
              <a:rPr lang="en-US" err="1"/>
              <a:t>identificar</a:t>
            </a:r>
            <a:r>
              <a:rPr lang="en-US"/>
              <a:t> </a:t>
            </a:r>
            <a:r>
              <a:rPr lang="en-US" err="1"/>
              <a:t>lecciones</a:t>
            </a:r>
            <a:r>
              <a:rPr lang="en-US"/>
              <a:t> </a:t>
            </a:r>
            <a:r>
              <a:rPr lang="en-US" err="1"/>
              <a:t>aprendidas</a:t>
            </a:r>
            <a:r>
              <a:rPr lang="en-US"/>
              <a:t> y </a:t>
            </a:r>
            <a:r>
              <a:rPr lang="en-US" err="1"/>
              <a:t>oportunidades</a:t>
            </a:r>
            <a:r>
              <a:rPr lang="en-US"/>
              <a:t> de </a:t>
            </a:r>
            <a:r>
              <a:rPr lang="en-US" err="1"/>
              <a:t>mejora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KCS (Knowledge-Centered Service):</a:t>
            </a:r>
            <a:r>
              <a:rPr lang="en-US"/>
              <a:t> </a:t>
            </a:r>
            <a:r>
              <a:rPr lang="en-US" err="1"/>
              <a:t>Metodología</a:t>
            </a:r>
            <a:r>
              <a:rPr lang="en-US"/>
              <a:t> de </a:t>
            </a:r>
            <a:r>
              <a:rPr lang="en-US" err="1"/>
              <a:t>gestión</a:t>
            </a:r>
            <a:r>
              <a:rPr lang="en-US"/>
              <a:t> del </a:t>
            </a:r>
            <a:r>
              <a:rPr lang="en-US" err="1"/>
              <a:t>conocimiento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documenta y </a:t>
            </a:r>
            <a:r>
              <a:rPr lang="en-US" err="1"/>
              <a:t>reutiliza</a:t>
            </a:r>
            <a:r>
              <a:rPr lang="en-US"/>
              <a:t> </a:t>
            </a:r>
            <a:r>
              <a:rPr lang="en-US" err="1"/>
              <a:t>soluciones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la </a:t>
            </a:r>
            <a:r>
              <a:rPr lang="en-US" err="1"/>
              <a:t>atención</a:t>
            </a:r>
            <a:r>
              <a:rPr lang="en-US"/>
              <a:t> de </a:t>
            </a:r>
            <a:r>
              <a:rPr lang="en-US" err="1"/>
              <a:t>incidencias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IA (</a:t>
            </a:r>
            <a:r>
              <a:rPr lang="en-US" b="1" err="1"/>
              <a:t>Inteligencia</a:t>
            </a:r>
            <a:r>
              <a:rPr lang="en-US" b="1"/>
              <a:t> Artificial):</a:t>
            </a:r>
            <a:r>
              <a:rPr lang="en-US"/>
              <a:t> </a:t>
            </a:r>
            <a:r>
              <a:rPr lang="en-US" err="1"/>
              <a:t>Tecnología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permite</a:t>
            </a:r>
            <a:r>
              <a:rPr lang="en-US"/>
              <a:t>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 </a:t>
            </a:r>
            <a:r>
              <a:rPr lang="en-US" err="1"/>
              <a:t>analizar</a:t>
            </a:r>
            <a:r>
              <a:rPr lang="en-US"/>
              <a:t> </a:t>
            </a:r>
            <a:r>
              <a:rPr lang="en-US" err="1"/>
              <a:t>información</a:t>
            </a:r>
            <a:r>
              <a:rPr lang="en-US"/>
              <a:t>, </a:t>
            </a:r>
            <a:r>
              <a:rPr lang="en-US" err="1"/>
              <a:t>aprender</a:t>
            </a:r>
            <a:r>
              <a:rPr lang="en-US"/>
              <a:t> </a:t>
            </a:r>
            <a:r>
              <a:rPr lang="en-US" err="1"/>
              <a:t>patrones</a:t>
            </a:r>
            <a:r>
              <a:rPr lang="en-US"/>
              <a:t>, </a:t>
            </a:r>
            <a:r>
              <a:rPr lang="en-US" err="1"/>
              <a:t>generar</a:t>
            </a:r>
            <a:r>
              <a:rPr lang="en-US"/>
              <a:t> </a:t>
            </a:r>
            <a:r>
              <a:rPr lang="en-US" err="1"/>
              <a:t>contenido</a:t>
            </a:r>
            <a:r>
              <a:rPr lang="en-US"/>
              <a:t> y </a:t>
            </a:r>
            <a:r>
              <a:rPr lang="en-US" err="1"/>
              <a:t>automatizar</a:t>
            </a:r>
            <a:r>
              <a:rPr lang="en-US"/>
              <a:t> </a:t>
            </a:r>
            <a:r>
              <a:rPr lang="en-US" err="1"/>
              <a:t>tareas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8647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chemeClr val="tx1"/>
                </a:solidFill>
              </a:rPr>
              <a:t>Modelo de Soporte </a:t>
            </a:r>
            <a:r>
              <a:rPr lang="es-ES">
                <a:solidFill>
                  <a:schemeClr val="tx1"/>
                </a:solidFill>
              </a:rPr>
              <a:t> 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Shift-left:</a:t>
            </a:r>
            <a:r>
              <a:rPr lang="en-US">
                <a:solidFill>
                  <a:schemeClr val="tx1"/>
                </a:solidFill>
              </a:rPr>
              <a:t> resolver antes, </a:t>
            </a:r>
            <a:r>
              <a:rPr lang="en-US" err="1">
                <a:solidFill>
                  <a:schemeClr val="tx1"/>
                </a:solidFill>
              </a:rPr>
              <a:t>escalar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 y </a:t>
            </a:r>
            <a:r>
              <a:rPr lang="en-US" err="1">
                <a:solidFill>
                  <a:schemeClr val="tx1"/>
                </a:solidFill>
              </a:rPr>
              <a:t>dejar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evidencia</a:t>
            </a:r>
            <a:endParaRPr lang="en-US" err="1"/>
          </a:p>
          <a:p>
            <a:pPr marL="0" indent="0">
              <a:buNone/>
            </a:pPr>
            <a:endParaRPr lang="es-ES"/>
          </a:p>
          <a:p>
            <a:pPr marL="171450" indent="-171450"/>
            <a:r>
              <a:rPr lang="en-US" b="1"/>
              <a:t>FCR:</a:t>
            </a:r>
            <a:r>
              <a:rPr lang="en-US"/>
              <a:t> </a:t>
            </a:r>
            <a:r>
              <a:rPr lang="en-US" err="1"/>
              <a:t>Resolución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Primer Contacto (</a:t>
            </a:r>
            <a:r>
              <a:rPr lang="en-US" i="1"/>
              <a:t>First Contact Resolution</a:t>
            </a:r>
            <a:r>
              <a:rPr lang="en-US"/>
              <a:t>).</a:t>
            </a:r>
            <a:endParaRPr lang="es-ES"/>
          </a:p>
          <a:p>
            <a:pPr marL="171450" indent="-171450"/>
            <a:r>
              <a:rPr lang="en-US" b="1"/>
              <a:t>MTTR:</a:t>
            </a:r>
            <a:r>
              <a:rPr lang="en-US"/>
              <a:t> Tiempo Medio de </a:t>
            </a:r>
            <a:r>
              <a:rPr lang="en-US" err="1"/>
              <a:t>Resolución</a:t>
            </a:r>
            <a:r>
              <a:rPr lang="en-US"/>
              <a:t> (</a:t>
            </a:r>
            <a:r>
              <a:rPr lang="en-US" i="1"/>
              <a:t>Mean Time to Resolution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SLA: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Servicio (</a:t>
            </a:r>
            <a:r>
              <a:rPr lang="en-US" i="1"/>
              <a:t>Service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CMDB:</a:t>
            </a:r>
            <a:r>
              <a:rPr lang="en-US"/>
              <a:t> Base de Datos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Configuración</a:t>
            </a:r>
            <a:r>
              <a:rPr lang="en-US"/>
              <a:t> (</a:t>
            </a:r>
            <a:r>
              <a:rPr lang="en-US" i="1"/>
              <a:t>Configuration Management Database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KPI:</a:t>
            </a:r>
            <a:r>
              <a:rPr lang="en-US"/>
              <a:t> </a:t>
            </a:r>
            <a:r>
              <a:rPr lang="en-US" err="1"/>
              <a:t>Indicador</a:t>
            </a:r>
            <a:r>
              <a:rPr lang="en-US"/>
              <a:t> Clave de </a:t>
            </a:r>
            <a:r>
              <a:rPr lang="en-US" err="1"/>
              <a:t>Desempeño</a:t>
            </a:r>
            <a:r>
              <a:rPr lang="en-US"/>
              <a:t> (</a:t>
            </a:r>
            <a:r>
              <a:rPr lang="en-US" i="1"/>
              <a:t>Key Performance Indicator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KCS:</a:t>
            </a:r>
            <a:r>
              <a:rPr lang="en-US"/>
              <a:t> Servicio </a:t>
            </a:r>
            <a:r>
              <a:rPr lang="en-US" err="1"/>
              <a:t>Centrado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Conocimiento</a:t>
            </a:r>
            <a:r>
              <a:rPr lang="en-US"/>
              <a:t> (</a:t>
            </a:r>
            <a:r>
              <a:rPr lang="en-US" i="1"/>
              <a:t>Knowledge-Centered Service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CSAT:</a:t>
            </a:r>
            <a:r>
              <a:rPr lang="en-US"/>
              <a:t>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Cliente</a:t>
            </a:r>
            <a:r>
              <a:rPr lang="en-US"/>
              <a:t> (</a:t>
            </a:r>
            <a:r>
              <a:rPr lang="en-US" i="1"/>
              <a:t>Customer Satisfaction Score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IA: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</a:t>
            </a:r>
          </a:p>
          <a:p>
            <a:pPr marL="171450" indent="-171450"/>
            <a:r>
              <a:rPr lang="en-US" b="1"/>
              <a:t>AIOps: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para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 marL="171450" indent="-171450"/>
            <a:r>
              <a:rPr lang="en-US" b="1"/>
              <a:t>XLA: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 (</a:t>
            </a:r>
            <a:r>
              <a:rPr lang="en-US" i="1"/>
              <a:t>Experience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DEX:</a:t>
            </a:r>
            <a:r>
              <a:rPr lang="en-US"/>
              <a:t> </a:t>
            </a:r>
            <a:r>
              <a:rPr lang="en-US" err="1"/>
              <a:t>Experiencia</a:t>
            </a:r>
            <a:r>
              <a:rPr lang="en-US"/>
              <a:t> Digital del </a:t>
            </a:r>
            <a:r>
              <a:rPr lang="en-US" err="1"/>
              <a:t>Empleado</a:t>
            </a:r>
            <a:r>
              <a:rPr lang="en-US"/>
              <a:t> (</a:t>
            </a:r>
            <a:r>
              <a:rPr lang="en-US" i="1"/>
              <a:t>Digital Employee Experience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N0:</a:t>
            </a:r>
            <a:r>
              <a:rPr lang="en-US"/>
              <a:t> Nivel de </a:t>
            </a:r>
            <a:r>
              <a:rPr lang="en-US" err="1"/>
              <a:t>autoservicio</a:t>
            </a:r>
            <a:r>
              <a:rPr lang="en-US"/>
              <a:t> </a:t>
            </a:r>
            <a:r>
              <a:rPr lang="en-US" err="1"/>
              <a:t>mediante</a:t>
            </a:r>
            <a:r>
              <a:rPr lang="en-US"/>
              <a:t> portal, chatbot o base de </a:t>
            </a:r>
            <a:r>
              <a:rPr lang="en-US" err="1"/>
              <a:t>conocimiento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Deflection:</a:t>
            </a:r>
            <a:r>
              <a:rPr lang="en-US"/>
              <a:t> Casos </a:t>
            </a:r>
            <a:r>
              <a:rPr lang="en-US" err="1"/>
              <a:t>resueltos</a:t>
            </a:r>
            <a:r>
              <a:rPr lang="en-US"/>
              <a:t> sin </a:t>
            </a:r>
            <a:r>
              <a:rPr lang="en-US" err="1"/>
              <a:t>generar</a:t>
            </a:r>
            <a:r>
              <a:rPr lang="en-US"/>
              <a:t> ticket o sin </a:t>
            </a:r>
            <a:r>
              <a:rPr lang="en-US" err="1"/>
              <a:t>intervención</a:t>
            </a:r>
            <a:r>
              <a:rPr lang="en-US"/>
              <a:t> humana.</a:t>
            </a:r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0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(NUEVAS OFERTAS: cuales servicios volver obsoletos, servicios </a:t>
            </a:r>
            <a:r>
              <a:rPr lang="es-ES" b="1" err="1">
                <a:solidFill>
                  <a:srgbClr val="0C2362"/>
                </a:solidFill>
                <a:highlight>
                  <a:srgbClr val="FFFF00"/>
                </a:highlight>
              </a:rPr>
              <a:t>lights</a:t>
            </a: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, servicios de operación)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5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hyperlink" Target="https://fr.slideshare.net/slideshow/dit-yvol4iss03/29363674" TargetMode="External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hyperlink" Target="https://www.ivanti.com/en-gb/blog/agentic-ai-it-service-autonomy" TargetMode="External"/><Relationship Id="rId4" Type="http://schemas.openxmlformats.org/officeDocument/2006/relationships/hyperlink" Target="https://newsroom.servicenow.com/press-releases/details/2025/ServiceNow-Sets-New-Standard-for-Fully-Autonomous-IT-Envisioning-a-Zero-Downtime-Zero-Outage-Future-With-Agentic-AI/default.asp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ribd.com/document/809079051/Gartner-Repri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hyperlink" Target="https://faddom.com/wp-content/uploads/2026/03/2025-Hype-Cycle-for-ITSM-Gartner-Report.pdf" TargetMode="External"/><Relationship Id="rId4" Type="http://schemas.openxmlformats.org/officeDocument/2006/relationships/hyperlink" Target="https://blog.invgate.com/itsm-gartner-magic-quadra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d.com/document/809079051/Gartner-Repr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ppsruntheworld.com/top-10-it-service-management-software-vendors-and-market-forecast/" TargetMode="External"/><Relationship Id="rId5" Type="http://schemas.openxmlformats.org/officeDocument/2006/relationships/hyperlink" Target="https://www.einpresswire.com/article/823090394/xla-institute-releases-groundbreaking-state-of-xla-2025-report" TargetMode="External"/><Relationship Id="rId4" Type="http://schemas.openxmlformats.org/officeDocument/2006/relationships/hyperlink" Target="https://www.peoplecert.org/news-and-announcements/itil-version-5-explain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hyperlink" Target="https://www.tcs.com/insights/blogs/generative-ai-outcome-based-pricing-models-service-desk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hyperlink" Target="https://www.peoplecert.org/news-and-announcements/itil-version-5-explained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s://www.brilo.ai/resources/agentic-ai-statistics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www.dynatrace.com/news/press-release/pulse-of-agentic-ai-2026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uperfinanciera.gov.co/publicaciones/10116043/sistema-financiero-acelera-implementacion-de-canales-digitales/" TargetMode="External"/><Relationship Id="rId5" Type="http://schemas.openxmlformats.org/officeDocument/2006/relationships/hyperlink" Target="https://www.grandviewresearch.com/industry-analysis/it-service-management-market" TargetMode="External"/><Relationship Id="rId4" Type="http://schemas.openxmlformats.org/officeDocument/2006/relationships/hyperlink" Target="https://www.mordorintelligence.com/industry-reports/south-america-information-technology-service-management-itsm-marke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ivainc.com/blog/shift-left-analysis-how-to-guide-maximize-it-service-management-itsm-efficiency/" TargetMode="External"/><Relationship Id="rId4" Type="http://schemas.openxmlformats.org/officeDocument/2006/relationships/hyperlink" Target="https://www.ivanti.com/en-gb/blog/agentic-ai-it-service-autonomy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posts/alannance_get-your-copy-of-the-state-of-xla-2025-published-activity-7340670233575079936-XZ3Q" TargetMode="External"/><Relationship Id="rId4" Type="http://schemas.openxmlformats.org/officeDocument/2006/relationships/hyperlink" Target="https://www.emerce.nl/wire/xla-institute-publiceert-state-xla-2025-rapport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rketreportsworld.com/" TargetMode="External"/><Relationship Id="rId3" Type="http://schemas.openxmlformats.org/officeDocument/2006/relationships/hyperlink" Target="https://www.brilo.ai/resources/agentic-ai-statistics" TargetMode="External"/><Relationship Id="rId7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iit.io/blog/benefits-of-outsourcing-help-desk-services%20%20" TargetMode="External"/><Relationship Id="rId5" Type="http://schemas.openxmlformats.org/officeDocument/2006/relationships/hyperlink" Target="https://www.iso.org/standard/42001" TargetMode="External"/><Relationship Id="rId4" Type="http://schemas.openxmlformats.org/officeDocument/2006/relationships/hyperlink" Target="https://www.dynatrace.com/news/press-release/pulse-of-agentic-ai-2026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natrace.com/news/press-release/pulse-of-agentic-ai-2026/" TargetMode="External"/><Relationship Id="rId7" Type="http://schemas.openxmlformats.org/officeDocument/2006/relationships/image" Target="../media/image29.svg"/><Relationship Id="rId2" Type="http://schemas.openxmlformats.org/officeDocument/2006/relationships/hyperlink" Target="https://www.brilo.ai/resources/agentic-ai-statistic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so.org/standard/42001" TargetMode="External"/><Relationship Id="rId4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rixmind.com/itil-5-what-changed-and-why-it-matter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23.png"/><Relationship Id="rId4" Type="http://schemas.openxmlformats.org/officeDocument/2006/relationships/hyperlink" Target="https://www.tidelineinsights.com/blog/itil-5-whats-coming.html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5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7.png"/><Relationship Id="rId10" Type="http://schemas.openxmlformats.org/officeDocument/2006/relationships/image" Target="../media/image51.svg"/><Relationship Id="rId4" Type="http://schemas.openxmlformats.org/officeDocument/2006/relationships/image" Target="../media/image46.png"/><Relationship Id="rId9" Type="http://schemas.openxmlformats.org/officeDocument/2006/relationships/image" Target="../media/image50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Estudio de Mercado 2026, </a:t>
            </a:r>
            <a:endParaRPr lang="es-E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y </a:t>
            </a:r>
          </a:p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Propuesta de Valor del Servicio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324797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Que busca la Mesa de Servicio de Nueva Generación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BCF2-EE01-6D83-5D06-4586A338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Beneficios eperados de la Mesa de Servicio de Nueva Generación (Servicio Optimo)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BF19AD-F8F2-0227-5C5D-35F560455039}"/>
              </a:ext>
            </a:extLst>
          </p:cNvPr>
          <p:cNvSpPr/>
          <p:nvPr/>
        </p:nvSpPr>
        <p:spPr>
          <a:xfrm>
            <a:off x="346303" y="2097201"/>
            <a:ext cx="2000250" cy="2003822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8E3B2-4CB0-C217-88A2-862FED04A2A7}"/>
              </a:ext>
            </a:extLst>
          </p:cNvPr>
          <p:cNvSpPr/>
          <p:nvPr/>
        </p:nvSpPr>
        <p:spPr>
          <a:xfrm>
            <a:off x="560615" y="2469792"/>
            <a:ext cx="1785938" cy="213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Estandarización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F53944-A721-5660-BB35-2B3C14C6F607}"/>
              </a:ext>
            </a:extLst>
          </p:cNvPr>
          <p:cNvSpPr/>
          <p:nvPr/>
        </p:nvSpPr>
        <p:spPr>
          <a:xfrm>
            <a:off x="560615" y="2739692"/>
            <a:ext cx="186329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claros, roles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 </a:t>
            </a: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6CE983-277E-8877-C358-C73FDBF3938C}"/>
              </a:ext>
            </a:extLst>
          </p:cNvPr>
          <p:cNvSpPr/>
          <p:nvPr/>
        </p:nvSpPr>
        <p:spPr>
          <a:xfrm>
            <a:off x="107853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C87E7BC-F0F6-71EA-6AC0-03CA0898D287}"/>
              </a:ext>
            </a:extLst>
          </p:cNvPr>
          <p:cNvSpPr/>
          <p:nvPr/>
        </p:nvSpPr>
        <p:spPr>
          <a:xfrm>
            <a:off x="2489428" y="2097201"/>
            <a:ext cx="2000250" cy="2003822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BF6E43-E894-41CB-6D47-AB7652BB9D97}"/>
              </a:ext>
            </a:extLst>
          </p:cNvPr>
          <p:cNvSpPr/>
          <p:nvPr/>
        </p:nvSpPr>
        <p:spPr>
          <a:xfrm>
            <a:off x="270374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Cliente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C27C298-2FAF-45D2-D222-D4184FA81DC4}"/>
              </a:ext>
            </a:extLst>
          </p:cNvPr>
          <p:cNvSpPr/>
          <p:nvPr/>
        </p:nvSpPr>
        <p:spPr>
          <a:xfrm>
            <a:off x="2703740" y="2953557"/>
            <a:ext cx="1851125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SLAs y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acceso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visibilidad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tiempo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real.</a:t>
            </a:r>
            <a:endParaRPr lang="en-US" sz="1100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D3C69D3B-6A78-0313-1DCF-A7B19A3404C7}"/>
              </a:ext>
            </a:extLst>
          </p:cNvPr>
          <p:cNvSpPr/>
          <p:nvPr/>
        </p:nvSpPr>
        <p:spPr>
          <a:xfrm>
            <a:off x="322166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05b5b62.png">
            <a:extLst>
              <a:ext uri="{FF2B5EF4-FFF2-40B4-BE49-F238E27FC236}">
                <a16:creationId xmlns:a16="http://schemas.microsoft.com/office/drawing/2014/main" id="{354B2D46-3F5F-26B4-EEC3-BE4FA5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21" y="2012439"/>
            <a:ext cx="285750" cy="17145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0A06C67C-F345-06AF-B4CB-E301A7094EBC}"/>
              </a:ext>
            </a:extLst>
          </p:cNvPr>
          <p:cNvSpPr/>
          <p:nvPr/>
        </p:nvSpPr>
        <p:spPr>
          <a:xfrm>
            <a:off x="4632553" y="2097201"/>
            <a:ext cx="2000250" cy="2003822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B5A262B-C92D-AC7D-1F5B-10E0529A17AC}"/>
              </a:ext>
            </a:extLst>
          </p:cNvPr>
          <p:cNvSpPr/>
          <p:nvPr/>
        </p:nvSpPr>
        <p:spPr>
          <a:xfrm>
            <a:off x="4846865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PersonalSoft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89C9C3-E661-7BC7-90BC-A4415D498B88}"/>
              </a:ext>
            </a:extLst>
          </p:cNvPr>
          <p:cNvSpPr/>
          <p:nvPr/>
        </p:nvSpPr>
        <p:spPr>
          <a:xfrm>
            <a:off x="4846865" y="2953557"/>
            <a:ext cx="1785938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Optimización de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márgenes operativos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mediante la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inteligente.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227AA1F-A86A-1059-3E9E-9D70E5E23345}"/>
              </a:ext>
            </a:extLst>
          </p:cNvPr>
          <p:cNvSpPr/>
          <p:nvPr/>
        </p:nvSpPr>
        <p:spPr>
          <a:xfrm>
            <a:off x="536478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-327b961e.png">
            <a:extLst>
              <a:ext uri="{FF2B5EF4-FFF2-40B4-BE49-F238E27FC236}">
                <a16:creationId xmlns:a16="http://schemas.microsoft.com/office/drawing/2014/main" id="{E4F0CB68-F772-0EEC-85B3-E8E083F7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40" y="2006159"/>
            <a:ext cx="214313" cy="178594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4D8DA01-70F2-AD94-BCB0-0E80F975BA52}"/>
              </a:ext>
            </a:extLst>
          </p:cNvPr>
          <p:cNvSpPr/>
          <p:nvPr/>
        </p:nvSpPr>
        <p:spPr>
          <a:xfrm>
            <a:off x="6775678" y="2097201"/>
            <a:ext cx="2000250" cy="2003822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76DDF71-25E4-1FB7-BAE4-F9D4681992AB}"/>
              </a:ext>
            </a:extLst>
          </p:cNvPr>
          <p:cNvSpPr/>
          <p:nvPr/>
        </p:nvSpPr>
        <p:spPr>
          <a:xfrm>
            <a:off x="698999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Impacto en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Mercado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13925F-AC98-F240-4399-90C6DBDB9C64}"/>
              </a:ext>
            </a:extLst>
          </p:cNvPr>
          <p:cNvSpPr/>
          <p:nvPr/>
        </p:nvSpPr>
        <p:spPr>
          <a:xfrm>
            <a:off x="6989991" y="2953558"/>
            <a:ext cx="184208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Posicionamiento como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proveedor estratégico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basado en datos y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avanzadas.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127BF9B-08B2-3BA9-575E-545DA3D857F7}"/>
              </a:ext>
            </a:extLst>
          </p:cNvPr>
          <p:cNvSpPr/>
          <p:nvPr/>
        </p:nvSpPr>
        <p:spPr>
          <a:xfrm>
            <a:off x="750791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-6dbe241e.png">
            <a:extLst>
              <a:ext uri="{FF2B5EF4-FFF2-40B4-BE49-F238E27FC236}">
                <a16:creationId xmlns:a16="http://schemas.microsoft.com/office/drawing/2014/main" id="{263F34D4-4A07-6E98-B32B-1881409F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63" y="1974765"/>
            <a:ext cx="214313" cy="242888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2B7F778D-5F66-74AF-32CC-84352651A0C6}"/>
              </a:ext>
            </a:extLst>
          </p:cNvPr>
          <p:cNvSpPr/>
          <p:nvPr/>
        </p:nvSpPr>
        <p:spPr>
          <a:xfrm>
            <a:off x="391545" y="626827"/>
            <a:ext cx="5791881" cy="2857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Transformar el soporte de costo operativo a ventaja competitiva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" name="Gráfico 2" descr="Marcador contorno">
            <a:extLst>
              <a:ext uri="{FF2B5EF4-FFF2-40B4-BE49-F238E27FC236}">
                <a16:creationId xmlns:a16="http://schemas.microsoft.com/office/drawing/2014/main" id="{899E42DB-34A8-3D42-7FA8-C3CDBBC41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100" y="1929492"/>
            <a:ext cx="332015" cy="326572"/>
          </a:xfrm>
          <a:prstGeom prst="rect">
            <a:avLst/>
          </a:prstGeom>
        </p:spPr>
      </p:pic>
      <p:pic>
        <p:nvPicPr>
          <p:cNvPr id="7" name="Gráfico 6" descr="Diana con relleno sólido">
            <a:extLst>
              <a:ext uri="{FF2B5EF4-FFF2-40B4-BE49-F238E27FC236}">
                <a16:creationId xmlns:a16="http://schemas.microsoft.com/office/drawing/2014/main" id="{30664D31-7980-9DC7-D952-39F7E0D5E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2679" y="699406"/>
            <a:ext cx="533401" cy="53884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73067EA-462D-AC3B-A37F-02C6FD7451E3}"/>
              </a:ext>
            </a:extLst>
          </p:cNvPr>
          <p:cNvSpPr/>
          <p:nvPr/>
        </p:nvSpPr>
        <p:spPr>
          <a:xfrm>
            <a:off x="5680813" y="772610"/>
            <a:ext cx="3078277" cy="7363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200" kern="0" spc="-81" dirty="0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200" kern="0" spc="-81" dirty="0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200" kern="0" spc="-81" dirty="0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200" kern="0" spc="-81" dirty="0">
              <a:solidFill>
                <a:srgbClr val="00B050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8782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31" y="283629"/>
            <a:ext cx="8643938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Desafíos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de la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Operación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Actual</a:t>
            </a:r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0031" y="6975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Identificación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puntos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críticos</a:t>
            </a:r>
            <a:endParaRPr lang="en-US" sz="1200" err="1">
              <a:latin typeface="Reddit Sans"/>
              <a:ea typeface="Reddit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3080" y="830472"/>
            <a:ext cx="2393156" cy="44220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Ausencia de estándares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Falta de niveles de servicio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(N1/N2/N3) y roles claramente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económico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 indexada a FTE que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impone barreras críticas para el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escalamiento.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Herramientas de gestión de conocimiento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to tácito no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documentado, g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enerand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 un</a:t>
            </a:r>
            <a:br>
              <a:rPr lang="es-CO" sz="1200" kern="0" spc="-23">
                <a:latin typeface="Reddit Sans"/>
                <a:ea typeface="Reddit Sans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alto riesgo de 'Bus Factor'. Curvas de aprendizaje muy altos. Para que un Softer tenga independencia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autonomia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en la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operacipon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cliente puede tomar hasta de 6 mese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 (XM).</a:t>
            </a:r>
          </a:p>
        </p:txBody>
      </p:sp>
      <p:sp>
        <p:nvSpPr>
          <p:cNvPr id="7" name="Text 4"/>
          <p:cNvSpPr/>
          <p:nvPr/>
        </p:nvSpPr>
        <p:spPr>
          <a:xfrm>
            <a:off x="6427674" y="830472"/>
            <a:ext cx="2393156" cy="34175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n-US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Fal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ta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observabilidad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Dependencia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KPIs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empíricos, dispersión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y procesos de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reporte manuales.</a:t>
            </a:r>
            <a:endParaRPr lang="es-CO" sz="12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Brecha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en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s-CO" sz="1200" kern="0" spc="-8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Preventa</a:t>
            </a:r>
            <a:endParaRPr lang="es-CO" sz="120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Desalineación entre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expectativa comercial y la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realidad operativa, resultando</a:t>
            </a:r>
            <a:br>
              <a:rPr lang="es-CO" sz="12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sub-dimensionamiento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</a:rPr>
              <a:t>Dimensión de la Capacidad y Roles del equipo</a:t>
            </a:r>
          </a:p>
          <a:p>
            <a:pPr marL="180975" lvl="1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No hay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claridad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los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roles y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perfiles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para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dimensionar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las mesas de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servicio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por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niveles</a:t>
            </a:r>
            <a:r>
              <a:rPr lang="en-US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.</a:t>
            </a:r>
            <a:endParaRPr lang="en-US" spc="-23">
              <a:solidFill>
                <a:srgbClr val="000000">
                  <a:alpha val="55000"/>
                </a:srgbClr>
              </a:solidFill>
              <a:latin typeface="Arial"/>
              <a:ea typeface="Reddit Sans"/>
              <a:cs typeface="Arial"/>
            </a:endParaRPr>
          </a:p>
        </p:txBody>
      </p:sp>
      <p:pic>
        <p:nvPicPr>
          <p:cNvPr id="20" name="Ilustracion Desaf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59" y="1105185"/>
            <a:ext cx="3200000" cy="21690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123AE74-6D32-0FDF-671E-BDBBD5EA8815}"/>
              </a:ext>
            </a:extLst>
          </p:cNvPr>
          <p:cNvSpPr/>
          <p:nvPr/>
        </p:nvSpPr>
        <p:spPr>
          <a:xfrm>
            <a:off x="240165" y="3421271"/>
            <a:ext cx="3519827" cy="15427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Dimensión de la disponibilidad del equipo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Disponibilidad 7x24 sin tener en cuenta la tecnología que soporta, y verse reflejado en horas extras que no hace parte de la bolsa de horas que paga el cliente. (XM)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Falta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marcos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control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estandarización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procesos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actuales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Crecimiento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basado en FTE</a:t>
            </a:r>
            <a:endParaRPr lang="es-CO" sz="900"/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Alta dependencia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Conocimiento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  <a:endParaRPr lang="es-CO" sz="1100"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KPIs</a:t>
            </a:r>
            <a:r>
              <a:rPr lang="es-CO" sz="900">
                <a:latin typeface="Reddit Sans"/>
                <a:ea typeface="Reddit Sans"/>
              </a:rPr>
              <a:t> y SLA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Onboarding</a:t>
            </a:r>
            <a:r>
              <a:rPr lang="es-CO" sz="900">
                <a:latin typeface="Reddit Sans"/>
                <a:ea typeface="Reddit Sans"/>
              </a:rPr>
              <a:t> con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Debilidad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la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alineación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estratégica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entre las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necesidades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negocio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servicios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Retención y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419100" y="541564"/>
            <a:ext cx="4572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00">
                <a:solidFill>
                  <a:srgbClr val="6E6E6E"/>
                </a:solidFill>
                <a:latin typeface="Reddit Sans"/>
                <a:ea typeface="Reddit Sans"/>
              </a:rPr>
              <a:t>Principales brechas en el modelo operativo </a:t>
            </a:r>
            <a:r>
              <a:rPr lang="es-CO" sz="10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actual</a:t>
            </a:r>
            <a:endParaRPr lang="es-CO" sz="100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75963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C0431D9-90B7-34B2-1387-27756297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635B94C3-2E23-F602-A2C2-943F546B80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F48E14B7-D436-CC99-C5A9-E74D13669B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971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400"/>
              <a:t>Estudio de Mercado</a:t>
            </a:r>
          </a:p>
        </p:txBody>
      </p:sp>
    </p:spTree>
    <p:extLst>
      <p:ext uri="{BB962C8B-B14F-4D97-AF65-F5344CB8AC3E}">
        <p14:creationId xmlns:p14="http://schemas.microsoft.com/office/powerpoint/2010/main" val="59286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29F7-1267-1991-7F32-6D05A710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102"/>
          <p:cNvSpPr/>
          <p:nvPr/>
        </p:nvSpPr>
        <p:spPr>
          <a:xfrm>
            <a:off x="502920" y="822960"/>
            <a:ext cx="8138160" cy="51206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9525">
            <a:solidFill>
              <a:srgbClr val="E2E6EA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F51B6F8F-CFDF-9B40-AAA2-D9EFBD076B89}"/>
              </a:ext>
            </a:extLst>
          </p:cNvPr>
          <p:cNvSpPr txBox="1"/>
          <p:nvPr/>
        </p:nvSpPr>
        <p:spPr>
          <a:xfrm>
            <a:off x="341414" y="4660743"/>
            <a:ext cx="3393872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s-ES" sz="700">
                <a:solidFill>
                  <a:schemeClr val="bg2"/>
                </a:solidFill>
                <a:latin typeface="Reddit Sans"/>
                <a:ea typeface="Reddit Sans"/>
              </a:rPr>
              <a:t>Fuentes: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3"/>
              </a:rPr>
              <a:t>DITY/SlideShare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4"/>
              </a:rPr>
              <a:t>ServiceNow Newsroom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5"/>
              </a:rPr>
              <a:t>Ivanti</a:t>
            </a:r>
            <a:endParaRPr lang="es-ES" sz="700">
              <a:solidFill>
                <a:srgbClr val="E6EDF3"/>
              </a:solidFill>
              <a:latin typeface="Reddit Sans"/>
              <a:ea typeface="Reddit Sans"/>
            </a:endParaRPr>
          </a:p>
        </p:txBody>
      </p:sp>
      <p:sp>
        <p:nvSpPr>
          <p:cNvPr id="101" name="tx101"/>
          <p:cNvSpPr txBox="1"/>
          <p:nvPr/>
        </p:nvSpPr>
        <p:spPr>
          <a:xfrm>
            <a:off x="2743200" y="548640"/>
            <a:ext cx="3657600" cy="21945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/>
            <a:r>
              <a:rPr lang="es-ES" sz="1000">
                <a:solidFill>
                  <a:srgbClr val="5A6B7B"/>
                </a:solidFill>
                <a:latin typeface="Reddit Sans"/>
                <a:ea typeface="Reddit Sans"/>
              </a:rPr>
              <a:t>Evolución del Valor</a:t>
            </a:r>
            <a:endParaRPr lang="es-ES"/>
          </a:p>
        </p:txBody>
      </p:sp>
      <p:sp>
        <p:nvSpPr>
          <p:cNvPr id="103" name="tx103"/>
          <p:cNvSpPr txBox="1"/>
          <p:nvPr/>
        </p:nvSpPr>
        <p:spPr>
          <a:xfrm>
            <a:off x="1234440" y="859536"/>
            <a:ext cx="128016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1F3A5B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04" name="tx104"/>
          <p:cNvSpPr txBox="1"/>
          <p:nvPr/>
        </p:nvSpPr>
        <p:spPr>
          <a:xfrm>
            <a:off x="960120" y="1115568"/>
            <a:ext cx="182880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Infraestructura</a:t>
            </a:r>
          </a:p>
        </p:txBody>
      </p:sp>
      <p:sp>
        <p:nvSpPr>
          <p:cNvPr id="105" name="sh105"/>
          <p:cNvSpPr/>
          <p:nvPr/>
        </p:nvSpPr>
        <p:spPr>
          <a:xfrm>
            <a:off x="1874520" y="896112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6" name="sh106"/>
          <p:cNvSpPr/>
          <p:nvPr/>
        </p:nvSpPr>
        <p:spPr>
          <a:xfrm>
            <a:off x="1874520" y="1005840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7" name="sh107"/>
          <p:cNvSpPr/>
          <p:nvPr/>
        </p:nvSpPr>
        <p:spPr>
          <a:xfrm>
            <a:off x="1874520" y="1115568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8" name="sh108"/>
          <p:cNvSpPr/>
          <p:nvPr/>
        </p:nvSpPr>
        <p:spPr>
          <a:xfrm>
            <a:off x="2542032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9" name="tx109"/>
          <p:cNvSpPr txBox="1"/>
          <p:nvPr/>
        </p:nvSpPr>
        <p:spPr>
          <a:xfrm>
            <a:off x="4138749" y="854094"/>
            <a:ext cx="605246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2E7E85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4042954" y="1115568"/>
            <a:ext cx="173736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Procesos</a:t>
            </a:r>
          </a:p>
        </p:txBody>
      </p:sp>
      <p:sp>
        <p:nvSpPr>
          <p:cNvPr id="111" name="sh111"/>
          <p:cNvSpPr/>
          <p:nvPr/>
        </p:nvSpPr>
        <p:spPr>
          <a:xfrm>
            <a:off x="4800600" y="877824"/>
            <a:ext cx="310896" cy="31089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2" name="sh112"/>
          <p:cNvSpPr/>
          <p:nvPr/>
        </p:nvSpPr>
        <p:spPr>
          <a:xfrm>
            <a:off x="5532120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E9A3B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3" name="tx113"/>
          <p:cNvSpPr txBox="1"/>
          <p:nvPr/>
        </p:nvSpPr>
        <p:spPr>
          <a:xfrm>
            <a:off x="7113814" y="854094"/>
            <a:ext cx="804455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4E9A3B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14" name="tx114"/>
          <p:cNvSpPr txBox="1"/>
          <p:nvPr/>
        </p:nvSpPr>
        <p:spPr>
          <a:xfrm>
            <a:off x="6720840" y="1115568"/>
            <a:ext cx="19202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Conocimiento del negocio</a:t>
            </a:r>
          </a:p>
        </p:txBody>
      </p:sp>
      <p:sp>
        <p:nvSpPr>
          <p:cNvPr id="116" name="sh116"/>
          <p:cNvSpPr/>
          <p:nvPr/>
        </p:nvSpPr>
        <p:spPr>
          <a:xfrm>
            <a:off x="960120" y="2320747"/>
            <a:ext cx="7269480" cy="21946"/>
          </a:xfrm>
          <a:prstGeom prst="roundRect">
            <a:avLst>
              <a:gd name="adj" fmla="val 5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7" name="arrowtip"/>
          <p:cNvSpPr/>
          <p:nvPr/>
        </p:nvSpPr>
        <p:spPr>
          <a:xfrm>
            <a:off x="8193024" y="2281428"/>
            <a:ext cx="146304" cy="100584"/>
          </a:xfrm>
          <a:prstGeom prst="rightArrow">
            <a:avLst>
              <a:gd name="adj1" fmla="val 40000"/>
              <a:gd name="adj2" fmla="val 6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8" name="sh118"/>
          <p:cNvSpPr/>
          <p:nvPr/>
        </p:nvSpPr>
        <p:spPr>
          <a:xfrm>
            <a:off x="594360" y="1965960"/>
            <a:ext cx="731520" cy="731520"/>
          </a:xfrm>
          <a:prstGeom prst="ellipse">
            <a:avLst/>
          </a:prstGeom>
          <a:solidFill>
            <a:srgbClr val="78746B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HD</a:t>
            </a:r>
          </a:p>
        </p:txBody>
      </p:sp>
      <p:sp>
        <p:nvSpPr>
          <p:cNvPr id="119" name="sh119"/>
          <p:cNvSpPr/>
          <p:nvPr/>
        </p:nvSpPr>
        <p:spPr>
          <a:xfrm>
            <a:off x="1920240" y="1965960"/>
            <a:ext cx="731520" cy="731520"/>
          </a:xfrm>
          <a:prstGeom prst="ellipse">
            <a:avLst/>
          </a:prstGeom>
          <a:solidFill>
            <a:srgbClr val="2E7E85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SD</a:t>
            </a:r>
          </a:p>
        </p:txBody>
      </p:sp>
      <p:sp>
        <p:nvSpPr>
          <p:cNvPr id="120" name="sh120"/>
          <p:cNvSpPr/>
          <p:nvPr/>
        </p:nvSpPr>
        <p:spPr>
          <a:xfrm>
            <a:off x="3246120" y="1965960"/>
            <a:ext cx="731520" cy="731520"/>
          </a:xfrm>
          <a:prstGeom prst="ellipse">
            <a:avLst/>
          </a:prstGeom>
          <a:solidFill>
            <a:srgbClr val="A447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ESM</a:t>
            </a:r>
          </a:p>
        </p:txBody>
      </p:sp>
      <p:sp>
        <p:nvSpPr>
          <p:cNvPr id="121" name="sh121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8B4357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D/W</a:t>
            </a:r>
          </a:p>
        </p:txBody>
      </p:sp>
      <p:sp>
        <p:nvSpPr>
          <p:cNvPr id="122" name="sh122"/>
          <p:cNvSpPr/>
          <p:nvPr/>
        </p:nvSpPr>
        <p:spPr>
          <a:xfrm>
            <a:off x="5897880" y="1965960"/>
            <a:ext cx="731520" cy="731520"/>
          </a:xfrm>
          <a:prstGeom prst="ellipse">
            <a:avLst/>
          </a:prstGeom>
          <a:solidFill>
            <a:srgbClr val="D2A0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A+</a:t>
            </a:r>
          </a:p>
        </p:txBody>
      </p:sp>
      <p:sp>
        <p:nvSpPr>
          <p:cNvPr id="123" name="sh123"/>
          <p:cNvSpPr/>
          <p:nvPr/>
        </p:nvSpPr>
        <p:spPr>
          <a:xfrm>
            <a:off x="7452360" y="1965960"/>
            <a:ext cx="731520" cy="731520"/>
          </a:xfrm>
          <a:prstGeom prst="ellipse">
            <a:avLst/>
          </a:prstGeom>
          <a:solidFill>
            <a:srgbClr val="24406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AUTONO</a:t>
            </a:r>
          </a:p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MO</a:t>
            </a:r>
          </a:p>
        </p:txBody>
      </p:sp>
      <p:sp>
        <p:nvSpPr>
          <p:cNvPr id="124" name="tx124"/>
          <p:cNvSpPr txBox="1"/>
          <p:nvPr/>
        </p:nvSpPr>
        <p:spPr>
          <a:xfrm>
            <a:off x="320040" y="1572768"/>
            <a:ext cx="128016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5A6B7B"/>
                </a:solidFill>
                <a:latin typeface="Reddit Sans"/>
                <a:ea typeface="Reddit Sans"/>
              </a:rPr>
              <a:t>Reactivo</a:t>
            </a:r>
          </a:p>
        </p:txBody>
      </p:sp>
      <p:sp>
        <p:nvSpPr>
          <p:cNvPr id="125" name="tx125"/>
          <p:cNvSpPr txBox="1"/>
          <p:nvPr/>
        </p:nvSpPr>
        <p:spPr>
          <a:xfrm>
            <a:off x="148154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2E7E85"/>
                </a:solidFill>
                <a:latin typeface="Reddit Sans"/>
                <a:ea typeface="Reddit Sans"/>
              </a:rPr>
              <a:t>Service </a:t>
            </a:r>
            <a:r>
              <a:rPr lang="es-ES" sz="750" b="1" err="1">
                <a:solidFill>
                  <a:srgbClr val="2E7E85"/>
                </a:solidFill>
                <a:latin typeface="Reddit Sans"/>
                <a:ea typeface="Reddit Sans"/>
              </a:rPr>
              <a:t>Desk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ITIL v2/v3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2001–2007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SLA, CMDB</a:t>
            </a:r>
          </a:p>
        </p:txBody>
      </p:sp>
      <p:sp>
        <p:nvSpPr>
          <p:cNvPr id="126" name="tx126"/>
          <p:cNvSpPr txBox="1"/>
          <p:nvPr/>
        </p:nvSpPr>
        <p:spPr>
          <a:xfrm>
            <a:off x="413330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8B4357"/>
                </a:solidFill>
                <a:latin typeface="Reddit Sans"/>
                <a:ea typeface="Reddit Sans"/>
              </a:rPr>
              <a:t>Digital </a:t>
            </a:r>
            <a:r>
              <a:rPr lang="es-ES" sz="750" b="1" err="1">
                <a:solidFill>
                  <a:srgbClr val="8B4357"/>
                </a:solidFill>
                <a:latin typeface="Reddit Sans"/>
                <a:ea typeface="Reddit Sans"/>
              </a:rPr>
              <a:t>Workplace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2015–2020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NLP,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Chatbot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27" name="tx127"/>
          <p:cNvSpPr txBox="1"/>
          <p:nvPr/>
        </p:nvSpPr>
        <p:spPr>
          <a:xfrm>
            <a:off x="7034349" y="1476974"/>
            <a:ext cx="160020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 err="1">
                <a:solidFill>
                  <a:srgbClr val="24406A"/>
                </a:solidFill>
                <a:latin typeface="Reddit Sans"/>
                <a:ea typeface="Reddit Sans"/>
              </a:rPr>
              <a:t>Autonomo</a:t>
            </a:r>
            <a:endParaRPr lang="es-ES" sz="750" b="1">
              <a:solidFill>
                <a:srgbClr val="24406A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Service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Desk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2023–2026+</a:t>
            </a:r>
          </a:p>
          <a:p>
            <a:pPr algn="ctr">
              <a:lnSpc>
                <a:spcPct val="95000"/>
              </a:lnSpc>
            </a:pP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Agentic</a:t>
            </a: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, XLA</a:t>
            </a:r>
          </a:p>
        </p:txBody>
      </p:sp>
      <p:sp>
        <p:nvSpPr>
          <p:cNvPr id="128" name="tx128"/>
          <p:cNvSpPr txBox="1"/>
          <p:nvPr/>
        </p:nvSpPr>
        <p:spPr>
          <a:xfrm>
            <a:off x="182880" y="2761488"/>
            <a:ext cx="15544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Help Desk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1970s–90s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Teléfono, Tickets</a:t>
            </a:r>
          </a:p>
        </p:txBody>
      </p:sp>
      <p:sp>
        <p:nvSpPr>
          <p:cNvPr id="129" name="tx129"/>
          <p:cNvSpPr txBox="1"/>
          <p:nvPr/>
        </p:nvSpPr>
        <p:spPr>
          <a:xfrm>
            <a:off x="2743200" y="2761488"/>
            <a:ext cx="173736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A4472A"/>
                </a:solidFill>
                <a:latin typeface="Reddit Sans"/>
                <a:ea typeface="Reddit Sans"/>
              </a:rPr>
              <a:t>Enterprise Service</a:t>
            </a:r>
          </a:p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A4472A"/>
                </a:solidFill>
                <a:latin typeface="Reddit Sans"/>
                <a:ea typeface="Reddit Sans"/>
              </a:rPr>
              <a:t>Management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2010–2016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HR, Finanzas</a:t>
            </a:r>
          </a:p>
        </p:txBody>
      </p:sp>
      <p:sp>
        <p:nvSpPr>
          <p:cNvPr id="130" name="tx130"/>
          <p:cNvSpPr txBox="1"/>
          <p:nvPr/>
        </p:nvSpPr>
        <p:spPr>
          <a:xfrm>
            <a:off x="5372100" y="2761488"/>
            <a:ext cx="17830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 b="1">
                <a:solidFill>
                  <a:srgbClr val="C08A1E"/>
                </a:solidFill>
                <a:latin typeface="Reddit Sans"/>
                <a:ea typeface="Reddit Sans"/>
              </a:rPr>
              <a:t>AITSM (Artificial </a:t>
            </a:r>
            <a:r>
              <a:rPr lang="es-ES" sz="750" b="1" err="1">
                <a:solidFill>
                  <a:srgbClr val="C08A1E"/>
                </a:solidFill>
                <a:latin typeface="Reddit Sans"/>
                <a:ea typeface="Reddit Sans"/>
              </a:rPr>
              <a:t>Intelligence</a:t>
            </a:r>
            <a:endParaRPr lang="es-ES" sz="750" b="1">
              <a:solidFill>
                <a:srgbClr val="C08A1E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 b="1" err="1">
                <a:solidFill>
                  <a:srgbClr val="C08A1E"/>
                </a:solidFill>
                <a:latin typeface="Reddit Sans"/>
                <a:ea typeface="Reddit Sans"/>
              </a:rPr>
              <a:t>for</a:t>
            </a:r>
            <a:r>
              <a:rPr lang="es-ES" sz="750" b="1">
                <a:solidFill>
                  <a:srgbClr val="C08A1E"/>
                </a:solidFill>
                <a:latin typeface="Reddit Sans"/>
                <a:ea typeface="Reddit Sans"/>
              </a:rPr>
              <a:t> IT Service Management)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2020–2023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AI-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Augmented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GenAI · </a:t>
            </a:r>
            <a:r>
              <a:rPr lang="es-ES" sz="750" err="1">
                <a:solidFill>
                  <a:schemeClr val="bg2"/>
                </a:solidFill>
                <a:latin typeface="Reddit Sans"/>
                <a:ea typeface="Reddit Sans"/>
              </a:rPr>
              <a:t>AIOps</a:t>
            </a:r>
            <a:endParaRPr lang="es-ES" sz="75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31" name="sh131"/>
          <p:cNvSpPr/>
          <p:nvPr/>
        </p:nvSpPr>
        <p:spPr>
          <a:xfrm>
            <a:off x="609601" y="3447939"/>
            <a:ext cx="5613543" cy="1075074"/>
          </a:xfrm>
          <a:prstGeom prst="roundRect">
            <a:avLst>
              <a:gd name="adj" fmla="val 8000"/>
            </a:avLst>
          </a:prstGeom>
          <a:ln w="127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4" name="tx134"/>
          <p:cNvSpPr txBox="1"/>
          <p:nvPr/>
        </p:nvSpPr>
        <p:spPr>
          <a:xfrm>
            <a:off x="1395548" y="3522617"/>
            <a:ext cx="2834640" cy="38404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La evolución de la mesa no es hacia más tickets. </a:t>
            </a:r>
          </a:p>
          <a:p>
            <a:pPr algn="l">
              <a:lnSpc>
                <a:spcPct val="95000"/>
              </a:lnSpc>
            </a:pPr>
            <a:r>
              <a:rPr lang="es-ES" sz="900" b="1">
                <a:solidFill>
                  <a:schemeClr val="accent5"/>
                </a:solidFill>
                <a:latin typeface="Reddit Sans"/>
                <a:ea typeface="Reddit Sans"/>
              </a:rPr>
              <a:t>Es hacia más conocimiento del negocio</a:t>
            </a: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35" name="sh135"/>
          <p:cNvSpPr/>
          <p:nvPr/>
        </p:nvSpPr>
        <p:spPr>
          <a:xfrm>
            <a:off x="1002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6" name="tx136"/>
          <p:cNvSpPr txBox="1"/>
          <p:nvPr/>
        </p:nvSpPr>
        <p:spPr>
          <a:xfrm>
            <a:off x="728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37" name="tx137"/>
          <p:cNvSpPr txBox="1"/>
          <p:nvPr/>
        </p:nvSpPr>
        <p:spPr>
          <a:xfrm>
            <a:off x="609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tecnología</a:t>
            </a:r>
          </a:p>
        </p:txBody>
      </p:sp>
      <p:cxnSp>
        <p:nvCxnSpPr>
          <p:cNvPr id="138" name="cx138"/>
          <p:cNvCxnSpPr/>
          <p:nvPr/>
        </p:nvCxnSpPr>
        <p:spPr>
          <a:xfrm>
            <a:off x="1280813" y="4091723"/>
            <a:ext cx="817300" cy="0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39" name="sh139"/>
          <p:cNvSpPr/>
          <p:nvPr/>
        </p:nvSpPr>
        <p:spPr>
          <a:xfrm>
            <a:off x="2145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0" name="tx140"/>
          <p:cNvSpPr txBox="1"/>
          <p:nvPr/>
        </p:nvSpPr>
        <p:spPr>
          <a:xfrm>
            <a:off x="1871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41" name="tx141"/>
          <p:cNvSpPr txBox="1"/>
          <p:nvPr/>
        </p:nvSpPr>
        <p:spPr>
          <a:xfrm>
            <a:off x="1752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procesos</a:t>
            </a:r>
          </a:p>
        </p:txBody>
      </p:sp>
      <p:cxnSp>
        <p:nvCxnSpPr>
          <p:cNvPr id="142" name="cx142"/>
          <p:cNvCxnSpPr/>
          <p:nvPr/>
        </p:nvCxnSpPr>
        <p:spPr>
          <a:xfrm flipV="1">
            <a:off x="2461912" y="4091723"/>
            <a:ext cx="828186" cy="5442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43" name="sh143"/>
          <p:cNvSpPr/>
          <p:nvPr/>
        </p:nvSpPr>
        <p:spPr>
          <a:xfrm>
            <a:off x="3288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4" name="tx144"/>
          <p:cNvSpPr txBox="1"/>
          <p:nvPr/>
        </p:nvSpPr>
        <p:spPr>
          <a:xfrm>
            <a:off x="3014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45" name="tx145"/>
          <p:cNvSpPr txBox="1"/>
          <p:nvPr/>
        </p:nvSpPr>
        <p:spPr>
          <a:xfrm>
            <a:off x="2895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conocimiento y valor</a:t>
            </a:r>
          </a:p>
        </p:txBody>
      </p:sp>
      <p:sp>
        <p:nvSpPr>
          <p:cNvPr id="146" name="sh146"/>
          <p:cNvSpPr/>
          <p:nvPr/>
        </p:nvSpPr>
        <p:spPr>
          <a:xfrm>
            <a:off x="4353197" y="3496927"/>
            <a:ext cx="1832064" cy="971657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 w="9525">
            <a:solidFill>
              <a:srgbClr val="DCE1E6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0" name="tx150"/>
          <p:cNvSpPr txBox="1"/>
          <p:nvPr/>
        </p:nvSpPr>
        <p:spPr>
          <a:xfrm>
            <a:off x="4934494" y="3557669"/>
            <a:ext cx="118872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KCS + IA habilita el salto final:</a:t>
            </a:r>
          </a:p>
        </p:txBody>
      </p:sp>
      <p:sp>
        <p:nvSpPr>
          <p:cNvPr id="151" name="tx151"/>
          <p:cNvSpPr txBox="1"/>
          <p:nvPr/>
        </p:nvSpPr>
        <p:spPr>
          <a:xfrm>
            <a:off x="4477294" y="4078877"/>
            <a:ext cx="1627632" cy="4114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850">
                <a:solidFill>
                  <a:srgbClr val="4E9A3B"/>
                </a:solidFill>
                <a:latin typeface="Reddit Sans"/>
                <a:ea typeface="Reddit Sans"/>
              </a:rPr>
              <a:t>de soporte operativo a experto en el negocio del cliente.</a:t>
            </a:r>
          </a:p>
        </p:txBody>
      </p:sp>
      <p:sp>
        <p:nvSpPr>
          <p:cNvPr id="152" name="sh152"/>
          <p:cNvSpPr/>
          <p:nvPr/>
        </p:nvSpPr>
        <p:spPr>
          <a:xfrm>
            <a:off x="7031300" y="2903656"/>
            <a:ext cx="1709711" cy="1668344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6AA84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4" name="tx154"/>
          <p:cNvSpPr txBox="1"/>
          <p:nvPr/>
        </p:nvSpPr>
        <p:spPr>
          <a:xfrm>
            <a:off x="7585165" y="3049526"/>
            <a:ext cx="1325881" cy="3500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 b="1">
                <a:solidFill>
                  <a:srgbClr val="1F5FA6"/>
                </a:solidFill>
                <a:latin typeface="Reddit Sans"/>
                <a:ea typeface="Reddit Sans"/>
              </a:rPr>
              <a:t>KCS + IA</a:t>
            </a:r>
          </a:p>
        </p:txBody>
      </p:sp>
      <p:sp>
        <p:nvSpPr>
          <p:cNvPr id="155" name="tx155"/>
          <p:cNvSpPr txBox="1"/>
          <p:nvPr/>
        </p:nvSpPr>
        <p:spPr>
          <a:xfrm>
            <a:off x="7525293" y="3245250"/>
            <a:ext cx="1325881" cy="32091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50" b="1">
                <a:solidFill>
                  <a:srgbClr val="4E9A3B"/>
                </a:solidFill>
                <a:latin typeface="Reddit Sans"/>
                <a:ea typeface="Reddit Sans"/>
              </a:rPr>
              <a:t>Servicio Centrado en el conocimiento + IA</a:t>
            </a:r>
          </a:p>
        </p:txBody>
      </p:sp>
      <p:sp>
        <p:nvSpPr>
          <p:cNvPr id="156" name="sh156"/>
          <p:cNvSpPr/>
          <p:nvPr/>
        </p:nvSpPr>
        <p:spPr>
          <a:xfrm>
            <a:off x="7119474" y="3528278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7" name="chk157"/>
          <p:cNvSpPr/>
          <p:nvPr/>
        </p:nvSpPr>
        <p:spPr>
          <a:xfrm>
            <a:off x="7142334" y="3578352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8" name="tx158"/>
          <p:cNvSpPr txBox="1"/>
          <p:nvPr/>
        </p:nvSpPr>
        <p:spPr>
          <a:xfrm>
            <a:off x="7289509" y="3533287"/>
            <a:ext cx="1478498" cy="2412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Entiende procesos y contexto del negocio</a:t>
            </a:r>
          </a:p>
        </p:txBody>
      </p:sp>
      <p:sp>
        <p:nvSpPr>
          <p:cNvPr id="159" name="sh159"/>
          <p:cNvSpPr/>
          <p:nvPr/>
        </p:nvSpPr>
        <p:spPr>
          <a:xfrm>
            <a:off x="7124917" y="3795196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0" name="chk160"/>
          <p:cNvSpPr/>
          <p:nvPr/>
        </p:nvSpPr>
        <p:spPr>
          <a:xfrm>
            <a:off x="7147777" y="3845270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1" name="tx161"/>
          <p:cNvSpPr txBox="1"/>
          <p:nvPr/>
        </p:nvSpPr>
        <p:spPr>
          <a:xfrm>
            <a:off x="7289509" y="3811090"/>
            <a:ext cx="1478498" cy="1595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Aprende continuamente</a:t>
            </a:r>
          </a:p>
        </p:txBody>
      </p:sp>
      <p:sp>
        <p:nvSpPr>
          <p:cNvPr id="164" name="tx164"/>
          <p:cNvSpPr txBox="1"/>
          <p:nvPr/>
        </p:nvSpPr>
        <p:spPr>
          <a:xfrm>
            <a:off x="7289509" y="4023580"/>
            <a:ext cx="1478498" cy="1269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167" name="tx167"/>
          <p:cNvSpPr txBox="1"/>
          <p:nvPr/>
        </p:nvSpPr>
        <p:spPr>
          <a:xfrm>
            <a:off x="7289509" y="4257839"/>
            <a:ext cx="1478498" cy="214012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Genera insights que impulsan decisiones del negocio</a:t>
            </a:r>
          </a:p>
        </p:txBody>
      </p:sp>
      <p:sp>
        <p:nvSpPr>
          <p:cNvPr id="19" name="sh156">
            <a:extLst>
              <a:ext uri="{FF2B5EF4-FFF2-40B4-BE49-F238E27FC236}">
                <a16:creationId xmlns:a16="http://schemas.microsoft.com/office/drawing/2014/main" id="{67FC85B7-0471-BD57-0EEA-926B6D7E11AF}"/>
              </a:ext>
            </a:extLst>
          </p:cNvPr>
          <p:cNvSpPr/>
          <p:nvPr/>
        </p:nvSpPr>
        <p:spPr>
          <a:xfrm>
            <a:off x="7130360" y="4018135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8" name="chk157">
            <a:extLst>
              <a:ext uri="{FF2B5EF4-FFF2-40B4-BE49-F238E27FC236}">
                <a16:creationId xmlns:a16="http://schemas.microsoft.com/office/drawing/2014/main" id="{CA5CD075-26E9-7525-F97B-27B4E6CC5599}"/>
              </a:ext>
            </a:extLst>
          </p:cNvPr>
          <p:cNvSpPr/>
          <p:nvPr/>
        </p:nvSpPr>
        <p:spPr>
          <a:xfrm>
            <a:off x="7153220" y="4068209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9" name="sh156">
            <a:extLst>
              <a:ext uri="{FF2B5EF4-FFF2-40B4-BE49-F238E27FC236}">
                <a16:creationId xmlns:a16="http://schemas.microsoft.com/office/drawing/2014/main" id="{6878BAD3-69E3-D4B4-B264-E00658969181}"/>
              </a:ext>
            </a:extLst>
          </p:cNvPr>
          <p:cNvSpPr/>
          <p:nvPr/>
        </p:nvSpPr>
        <p:spPr>
          <a:xfrm>
            <a:off x="7135802" y="4263063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2" name="chk157">
            <a:extLst>
              <a:ext uri="{FF2B5EF4-FFF2-40B4-BE49-F238E27FC236}">
                <a16:creationId xmlns:a16="http://schemas.microsoft.com/office/drawing/2014/main" id="{5D929F3B-7B25-48A0-1401-0F9689F8E439}"/>
              </a:ext>
            </a:extLst>
          </p:cNvPr>
          <p:cNvSpPr/>
          <p:nvPr/>
        </p:nvSpPr>
        <p:spPr>
          <a:xfrm>
            <a:off x="7158662" y="4313137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C56E2FE0-0F1A-F310-964C-B93592B0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2" y="200392"/>
            <a:ext cx="4199614" cy="224358"/>
          </a:xfrm>
        </p:spPr>
        <p:txBody>
          <a:bodyPr>
            <a:normAutofit fontScale="90000"/>
          </a:bodyPr>
          <a:lstStyle/>
          <a:p>
            <a:r>
              <a:rPr lang="es-ES"/>
              <a:t>Evolución de las Mesas de Servicio</a:t>
            </a:r>
          </a:p>
        </p:txBody>
      </p:sp>
      <p:pic>
        <p:nvPicPr>
          <p:cNvPr id="36" name="Gráfico 35" descr="Cerebro izquierdo y derecho contorno">
            <a:extLst>
              <a:ext uri="{FF2B5EF4-FFF2-40B4-BE49-F238E27FC236}">
                <a16:creationId xmlns:a16="http://schemas.microsoft.com/office/drawing/2014/main" id="{9532999D-ADD0-70CE-B18B-F8759E9FE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5235" y="808264"/>
            <a:ext cx="391887" cy="391887"/>
          </a:xfrm>
          <a:prstGeom prst="rect">
            <a:avLst/>
          </a:prstGeom>
        </p:spPr>
      </p:pic>
      <p:pic>
        <p:nvPicPr>
          <p:cNvPr id="37" name="Gráfico 36" descr="Cerebro izquierdo y derecho contorno">
            <a:extLst>
              <a:ext uri="{FF2B5EF4-FFF2-40B4-BE49-F238E27FC236}">
                <a16:creationId xmlns:a16="http://schemas.microsoft.com/office/drawing/2014/main" id="{111C11F9-F362-DA76-330D-395349C0C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4763" y="3007178"/>
            <a:ext cx="391887" cy="391887"/>
          </a:xfrm>
          <a:prstGeom prst="rect">
            <a:avLst/>
          </a:prstGeom>
        </p:spPr>
      </p:pic>
      <p:pic>
        <p:nvPicPr>
          <p:cNvPr id="38" name="Gráfico 37" descr="Cerebro izquierdo y derecho contorno">
            <a:extLst>
              <a:ext uri="{FF2B5EF4-FFF2-40B4-BE49-F238E27FC236}">
                <a16:creationId xmlns:a16="http://schemas.microsoft.com/office/drawing/2014/main" id="{BDD95D7E-1F97-6F11-FEC3-910C23238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2042" y="3959679"/>
            <a:ext cx="266701" cy="266701"/>
          </a:xfrm>
          <a:prstGeom prst="rect">
            <a:avLst/>
          </a:prstGeom>
        </p:spPr>
      </p:pic>
      <p:sp>
        <p:nvSpPr>
          <p:cNvPr id="42" name="sh105">
            <a:extLst>
              <a:ext uri="{FF2B5EF4-FFF2-40B4-BE49-F238E27FC236}">
                <a16:creationId xmlns:a16="http://schemas.microsoft.com/office/drawing/2014/main" id="{F37F5088-1162-15C7-BE90-D6E46E9C99A9}"/>
              </a:ext>
            </a:extLst>
          </p:cNvPr>
          <p:cNvSpPr/>
          <p:nvPr/>
        </p:nvSpPr>
        <p:spPr>
          <a:xfrm>
            <a:off x="1058090" y="3998541"/>
            <a:ext cx="160020" cy="47898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3" name="sh106">
            <a:extLst>
              <a:ext uri="{FF2B5EF4-FFF2-40B4-BE49-F238E27FC236}">
                <a16:creationId xmlns:a16="http://schemas.microsoft.com/office/drawing/2014/main" id="{9ED5DA7E-48A9-2DD6-2766-B56A15E5B616}"/>
              </a:ext>
            </a:extLst>
          </p:cNvPr>
          <p:cNvSpPr/>
          <p:nvPr/>
        </p:nvSpPr>
        <p:spPr>
          <a:xfrm>
            <a:off x="1058090" y="4059283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4" name="sh107">
            <a:extLst>
              <a:ext uri="{FF2B5EF4-FFF2-40B4-BE49-F238E27FC236}">
                <a16:creationId xmlns:a16="http://schemas.microsoft.com/office/drawing/2014/main" id="{E4C56738-86C2-D18A-E718-4C02C6A6A7F2}"/>
              </a:ext>
            </a:extLst>
          </p:cNvPr>
          <p:cNvSpPr/>
          <p:nvPr/>
        </p:nvSpPr>
        <p:spPr>
          <a:xfrm>
            <a:off x="1058090" y="4120025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sh111">
            <a:extLst>
              <a:ext uri="{FF2B5EF4-FFF2-40B4-BE49-F238E27FC236}">
                <a16:creationId xmlns:a16="http://schemas.microsoft.com/office/drawing/2014/main" id="{206352A0-CD8E-6A64-6B7A-DA9F38054DD7}"/>
              </a:ext>
            </a:extLst>
          </p:cNvPr>
          <p:cNvSpPr/>
          <p:nvPr/>
        </p:nvSpPr>
        <p:spPr>
          <a:xfrm>
            <a:off x="2193471" y="3996580"/>
            <a:ext cx="191154" cy="21292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47" name="Gráfico 46" descr="Diana con relleno sólido">
            <a:extLst>
              <a:ext uri="{FF2B5EF4-FFF2-40B4-BE49-F238E27FC236}">
                <a16:creationId xmlns:a16="http://schemas.microsoft.com/office/drawing/2014/main" id="{994BC6AB-3A9E-A40D-1607-2813104FB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2065" y="3524248"/>
            <a:ext cx="342902" cy="342902"/>
          </a:xfrm>
          <a:prstGeom prst="rect">
            <a:avLst/>
          </a:prstGeom>
        </p:spPr>
      </p:pic>
      <p:grpSp>
        <p:nvGrpSpPr>
          <p:cNvPr id="50" name="Grupo 49">
            <a:extLst>
              <a:ext uri="{FF2B5EF4-FFF2-40B4-BE49-F238E27FC236}">
                <a16:creationId xmlns:a16="http://schemas.microsoft.com/office/drawing/2014/main" id="{55C920BB-F812-1854-93FD-AEB99B45AEE6}"/>
              </a:ext>
            </a:extLst>
          </p:cNvPr>
          <p:cNvGrpSpPr/>
          <p:nvPr/>
        </p:nvGrpSpPr>
        <p:grpSpPr>
          <a:xfrm>
            <a:off x="882799" y="3528677"/>
            <a:ext cx="337458" cy="315688"/>
            <a:chOff x="180670" y="2821106"/>
            <a:chExt cx="435429" cy="408215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6F0B3BA-0715-48B0-715F-7F094B2C4C98}"/>
                </a:ext>
              </a:extLst>
            </p:cNvPr>
            <p:cNvSpPr/>
            <p:nvPr/>
          </p:nvSpPr>
          <p:spPr>
            <a:xfrm>
              <a:off x="180670" y="2821106"/>
              <a:ext cx="435429" cy="408215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8" name="Gráfico 47" descr="Usuarios contorno">
              <a:extLst>
                <a:ext uri="{FF2B5EF4-FFF2-40B4-BE49-F238E27FC236}">
                  <a16:creationId xmlns:a16="http://schemas.microsoft.com/office/drawing/2014/main" id="{5B3FD962-1B8A-5DFC-1929-1EFA44420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9487" y="2838450"/>
              <a:ext cx="321132" cy="321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09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Mesa </a:t>
            </a:r>
            <a:r>
              <a:rPr lang="en-US" sz="1700" err="1">
                <a:solidFill>
                  <a:srgbClr val="0C2362"/>
                </a:solidFill>
                <a:latin typeface="Arial"/>
                <a:cs typeface="Arial"/>
              </a:rPr>
              <a:t>tradicional</a:t>
            </a:r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 vs. Mesa de Servicio </a:t>
            </a:r>
            <a:r>
              <a:rPr lang="es-ES" sz="1700">
                <a:solidFill>
                  <a:srgbClr val="0C2362"/>
                </a:solidFill>
                <a:latin typeface="Arial"/>
                <a:cs typeface="Arial"/>
              </a:rPr>
              <a:t>de Nueva Generación (Next Gen)</a:t>
            </a:r>
            <a:endParaRPr lang="en-US" sz="17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40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6 Dimensiones de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diferenciación</a:t>
            </a:r>
            <a:endParaRPr lang="en-US" sz="1200" spc="-25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39830" cy="430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Virtual agent GenAI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agentes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autonomos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b="1" u="sng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KCS 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(Servicio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Centrado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el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conocimiento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+IA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Self-healing · auto-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remediacion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&gt;40%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defleccion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AIOps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predictivo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simulación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optimización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prevencion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P1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correlacion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causa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raiz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SLA / OLA / UC de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cumplimiento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2"/>
            <a:ext cx="2643886" cy="3919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SLA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Servicio)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XLA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DEX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Digital del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Empleado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economico</a:t>
            </a:r>
            <a:endParaRPr lang="en-US" sz="1000" b="1">
              <a:solidFill>
                <a:srgbClr val="1B7B85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Estatico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cambios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reactivos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Roadmap vivo ·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continua · backlog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priorizado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Como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 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/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procesos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. Insights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endParaRPr lang="en-US" sz="9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7059F8EC-A143-4406-D482-0C43B83E8332}"/>
              </a:ext>
            </a:extLst>
          </p:cNvPr>
          <p:cNvSpPr txBox="1">
            <a:spLocks noGrp="1"/>
          </p:cNvSpPr>
          <p:nvPr/>
        </p:nvSpPr>
        <p:spPr>
          <a:xfrm>
            <a:off x="396240" y="4750743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ITSM Benchmark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Gartner AI in ITSM</a:t>
            </a:r>
            <a:endParaRPr lang="es-ES" sz="70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E7AC-A877-100C-D184-3405C85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">
            <a:extLst>
              <a:ext uri="{FF2B5EF4-FFF2-40B4-BE49-F238E27FC236}">
                <a16:creationId xmlns:a16="http://schemas.microsoft.com/office/drawing/2014/main" id="{B332CDAF-C216-D4CD-E3F9-68893A9AD044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Gartner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confirma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cambio donde la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competencia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está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en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la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capa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 IA</a:t>
            </a:r>
            <a:endParaRPr lang="es-ES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2" name="src">
            <a:extLst>
              <a:ext uri="{FF2B5EF4-FFF2-40B4-BE49-F238E27FC236}">
                <a16:creationId xmlns:a16="http://schemas.microsoft.com/office/drawing/2014/main" id="{3D3C21ED-CCFE-6C2C-8D9C-61257685ADF5}"/>
              </a:ext>
            </a:extLst>
          </p:cNvPr>
          <p:cNvSpPr txBox="1">
            <a:spLocks noGrp="1"/>
          </p:cNvSpPr>
          <p:nvPr/>
        </p:nvSpPr>
        <p:spPr>
          <a:xfrm>
            <a:off x="385354" y="474530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InvGate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Retire ITSM MQ</a:t>
            </a:r>
          </a:p>
        </p:txBody>
      </p:sp>
      <p:sp>
        <p:nvSpPr>
          <p:cNvPr id="201" name="tx201"/>
          <p:cNvSpPr txBox="1"/>
          <p:nvPr/>
        </p:nvSpPr>
        <p:spPr>
          <a:xfrm>
            <a:off x="411263" y="646829"/>
            <a:ext cx="83210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>
                <a:solidFill>
                  <a:srgbClr val="5A6472"/>
                </a:solidFill>
                <a:latin typeface="Reddit Sans"/>
                <a:ea typeface="Reddit Sans"/>
              </a:rPr>
              <a:t>9 Capacidades críticas de IA que ya definen la compra de la herramienta</a:t>
            </a:r>
          </a:p>
        </p:txBody>
      </p:sp>
      <p:sp>
        <p:nvSpPr>
          <p:cNvPr id="203" name="sh203"/>
          <p:cNvSpPr/>
          <p:nvPr/>
        </p:nvSpPr>
        <p:spPr>
          <a:xfrm>
            <a:off x="384048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4" name="sh204"/>
          <p:cNvSpPr/>
          <p:nvPr/>
        </p:nvSpPr>
        <p:spPr>
          <a:xfrm>
            <a:off x="475488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sh205"/>
          <p:cNvSpPr/>
          <p:nvPr/>
        </p:nvSpPr>
        <p:spPr>
          <a:xfrm>
            <a:off x="552755" y="1317389"/>
            <a:ext cx="211226" cy="163220"/>
          </a:xfrm>
          <a:prstGeom prst="wedgeRoundRectCallout">
            <a:avLst>
              <a:gd name="adj1" fmla="val -20000"/>
              <a:gd name="adj2" fmla="val 70000"/>
              <a:gd name="adj3" fmla="val 16667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6" name="tx206"/>
          <p:cNvSpPr txBox="1"/>
          <p:nvPr/>
        </p:nvSpPr>
        <p:spPr>
          <a:xfrm>
            <a:off x="898071" y="121158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1. Agente virtual</a:t>
            </a:r>
          </a:p>
        </p:txBody>
      </p:sp>
      <p:sp>
        <p:nvSpPr>
          <p:cNvPr id="207" name="tx207"/>
          <p:cNvSpPr txBox="1"/>
          <p:nvPr/>
        </p:nvSpPr>
        <p:spPr>
          <a:xfrm>
            <a:off x="914400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Asistencia 24/7 con IA conversacional y generativa</a:t>
            </a:r>
          </a:p>
        </p:txBody>
      </p:sp>
      <p:sp>
        <p:nvSpPr>
          <p:cNvPr id="208" name="sh208"/>
          <p:cNvSpPr/>
          <p:nvPr/>
        </p:nvSpPr>
        <p:spPr>
          <a:xfrm>
            <a:off x="3200400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9" name="sh209"/>
          <p:cNvSpPr/>
          <p:nvPr/>
        </p:nvSpPr>
        <p:spPr>
          <a:xfrm>
            <a:off x="3291840" y="123052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0" name="sh210"/>
          <p:cNvSpPr/>
          <p:nvPr/>
        </p:nvSpPr>
        <p:spPr>
          <a:xfrm>
            <a:off x="3378708" y="1332751"/>
            <a:ext cx="192024" cy="163220"/>
          </a:xfrm>
          <a:prstGeom prst="flowChartDocumen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tx211"/>
          <p:cNvSpPr txBox="1"/>
          <p:nvPr/>
        </p:nvSpPr>
        <p:spPr>
          <a:xfrm>
            <a:off x="3708981" y="1200694"/>
            <a:ext cx="2313431" cy="26887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2. Descubrimiento de conocimiento</a:t>
            </a:r>
          </a:p>
        </p:txBody>
      </p:sp>
      <p:sp>
        <p:nvSpPr>
          <p:cNvPr id="212" name="tx212"/>
          <p:cNvSpPr txBox="1"/>
          <p:nvPr/>
        </p:nvSpPr>
        <p:spPr>
          <a:xfrm>
            <a:off x="3730752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Captura y descubrimiento automático del conocimiento y procesos clave</a:t>
            </a:r>
          </a:p>
        </p:txBody>
      </p:sp>
      <p:sp>
        <p:nvSpPr>
          <p:cNvPr id="213" name="sh213"/>
          <p:cNvSpPr/>
          <p:nvPr/>
        </p:nvSpPr>
        <p:spPr>
          <a:xfrm>
            <a:off x="6016752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4" name="sh214"/>
          <p:cNvSpPr/>
          <p:nvPr/>
        </p:nvSpPr>
        <p:spPr>
          <a:xfrm>
            <a:off x="6108192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5" name="sh215"/>
          <p:cNvSpPr/>
          <p:nvPr/>
        </p:nvSpPr>
        <p:spPr>
          <a:xfrm>
            <a:off x="6214262" y="1307788"/>
            <a:ext cx="153619" cy="211226"/>
          </a:xfrm>
          <a:prstGeom prst="upArrow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6" name="tx216"/>
          <p:cNvSpPr txBox="1"/>
          <p:nvPr/>
        </p:nvSpPr>
        <p:spPr>
          <a:xfrm>
            <a:off x="6525333" y="119525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3. Escalamiento inteligente</a:t>
            </a:r>
          </a:p>
        </p:txBody>
      </p:sp>
      <p:sp>
        <p:nvSpPr>
          <p:cNvPr id="217" name="tx217"/>
          <p:cNvSpPr txBox="1"/>
          <p:nvPr/>
        </p:nvSpPr>
        <p:spPr>
          <a:xfrm>
            <a:off x="6547104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Escala al nivel correcto en el momento adecuado</a:t>
            </a:r>
          </a:p>
        </p:txBody>
      </p:sp>
      <p:sp>
        <p:nvSpPr>
          <p:cNvPr id="218" name="sh218"/>
          <p:cNvSpPr/>
          <p:nvPr/>
        </p:nvSpPr>
        <p:spPr>
          <a:xfrm>
            <a:off x="384048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sh219"/>
          <p:cNvSpPr/>
          <p:nvPr/>
        </p:nvSpPr>
        <p:spPr>
          <a:xfrm>
            <a:off x="475488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0" name="sh220"/>
          <p:cNvSpPr/>
          <p:nvPr/>
        </p:nvSpPr>
        <p:spPr>
          <a:xfrm>
            <a:off x="562356" y="2026049"/>
            <a:ext cx="192024" cy="192024"/>
          </a:xfrm>
          <a:prstGeom prst="funnel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tx221"/>
          <p:cNvSpPr txBox="1"/>
          <p:nvPr/>
        </p:nvSpPr>
        <p:spPr>
          <a:xfrm>
            <a:off x="898071" y="1887583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4. Triage inteligente</a:t>
            </a:r>
          </a:p>
        </p:txBody>
      </p:sp>
      <p:sp>
        <p:nvSpPr>
          <p:cNvPr id="222" name="tx222"/>
          <p:cNvSpPr txBox="1"/>
          <p:nvPr/>
        </p:nvSpPr>
        <p:spPr>
          <a:xfrm>
            <a:off x="914400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Prioriza y enruta tickets usando IA y contexto</a:t>
            </a:r>
          </a:p>
        </p:txBody>
      </p:sp>
      <p:sp>
        <p:nvSpPr>
          <p:cNvPr id="223" name="sh223"/>
          <p:cNvSpPr/>
          <p:nvPr/>
        </p:nvSpPr>
        <p:spPr>
          <a:xfrm>
            <a:off x="3200400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4" name="sh224"/>
          <p:cNvSpPr/>
          <p:nvPr/>
        </p:nvSpPr>
        <p:spPr>
          <a:xfrm>
            <a:off x="3291840" y="193918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5" name="sh225"/>
          <p:cNvSpPr/>
          <p:nvPr/>
        </p:nvSpPr>
        <p:spPr>
          <a:xfrm>
            <a:off x="3369107" y="2045251"/>
            <a:ext cx="211226" cy="153619"/>
          </a:xfrm>
          <a:prstGeom prst="flowChartManualInpu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6" name="tx226"/>
          <p:cNvSpPr txBox="1"/>
          <p:nvPr/>
        </p:nvSpPr>
        <p:spPr>
          <a:xfrm>
            <a:off x="3747081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5. Categorización inteligente</a:t>
            </a:r>
          </a:p>
        </p:txBody>
      </p:sp>
      <p:sp>
        <p:nvSpPr>
          <p:cNvPr id="227" name="tx227"/>
          <p:cNvSpPr txBox="1"/>
          <p:nvPr/>
        </p:nvSpPr>
        <p:spPr>
          <a:xfrm>
            <a:off x="3730752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Clasificación automática multi-nivel</a:t>
            </a:r>
          </a:p>
        </p:txBody>
      </p:sp>
      <p:sp>
        <p:nvSpPr>
          <p:cNvPr id="228" name="sh228"/>
          <p:cNvSpPr/>
          <p:nvPr/>
        </p:nvSpPr>
        <p:spPr>
          <a:xfrm>
            <a:off x="6016752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9" name="sh229"/>
          <p:cNvSpPr/>
          <p:nvPr/>
        </p:nvSpPr>
        <p:spPr>
          <a:xfrm>
            <a:off x="6108192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0" name="sh230"/>
          <p:cNvSpPr/>
          <p:nvPr/>
        </p:nvSpPr>
        <p:spPr>
          <a:xfrm>
            <a:off x="6195060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1" name="sh231"/>
          <p:cNvSpPr/>
          <p:nvPr/>
        </p:nvSpPr>
        <p:spPr>
          <a:xfrm>
            <a:off x="6306434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2" name="sh232"/>
          <p:cNvSpPr/>
          <p:nvPr/>
        </p:nvSpPr>
        <p:spPr>
          <a:xfrm>
            <a:off x="6185459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3" name="sh233"/>
          <p:cNvSpPr/>
          <p:nvPr/>
        </p:nvSpPr>
        <p:spPr>
          <a:xfrm>
            <a:off x="6294912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4" name="tx234"/>
          <p:cNvSpPr txBox="1"/>
          <p:nvPr/>
        </p:nvSpPr>
        <p:spPr>
          <a:xfrm>
            <a:off x="6525333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6. Swarming de expertos</a:t>
            </a:r>
          </a:p>
        </p:txBody>
      </p:sp>
      <p:sp>
        <p:nvSpPr>
          <p:cNvPr id="235" name="tx235"/>
          <p:cNvSpPr txBox="1"/>
          <p:nvPr/>
        </p:nvSpPr>
        <p:spPr>
          <a:xfrm>
            <a:off x="6547104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Colaboración asistida por IA para resolver más rápido</a:t>
            </a:r>
          </a:p>
        </p:txBody>
      </p:sp>
      <p:sp>
        <p:nvSpPr>
          <p:cNvPr id="236" name="sh236"/>
          <p:cNvSpPr/>
          <p:nvPr/>
        </p:nvSpPr>
        <p:spPr>
          <a:xfrm>
            <a:off x="384048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7" name="sh237"/>
          <p:cNvSpPr/>
          <p:nvPr/>
        </p:nvSpPr>
        <p:spPr>
          <a:xfrm>
            <a:off x="475488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8" name="sh238"/>
          <p:cNvSpPr/>
          <p:nvPr/>
        </p:nvSpPr>
        <p:spPr>
          <a:xfrm>
            <a:off x="562356" y="2734709"/>
            <a:ext cx="192024" cy="182423"/>
          </a:xfrm>
          <a:prstGeom prst="triangl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9" name="tx239"/>
          <p:cNvSpPr txBox="1"/>
          <p:nvPr/>
        </p:nvSpPr>
        <p:spPr>
          <a:xfrm>
            <a:off x="898071" y="262890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7. Detección de P1</a:t>
            </a:r>
          </a:p>
        </p:txBody>
      </p:sp>
      <p:sp>
        <p:nvSpPr>
          <p:cNvPr id="240" name="tx240"/>
          <p:cNvSpPr txBox="1"/>
          <p:nvPr/>
        </p:nvSpPr>
        <p:spPr>
          <a:xfrm>
            <a:off x="914400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Identificación automática de incidentes críticos</a:t>
            </a:r>
          </a:p>
        </p:txBody>
      </p:sp>
      <p:sp>
        <p:nvSpPr>
          <p:cNvPr id="241" name="sh241"/>
          <p:cNvSpPr/>
          <p:nvPr/>
        </p:nvSpPr>
        <p:spPr>
          <a:xfrm>
            <a:off x="3200400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2" name="sh242"/>
          <p:cNvSpPr/>
          <p:nvPr/>
        </p:nvSpPr>
        <p:spPr>
          <a:xfrm>
            <a:off x="3291840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3" name="sh243"/>
          <p:cNvSpPr/>
          <p:nvPr/>
        </p:nvSpPr>
        <p:spPr>
          <a:xfrm>
            <a:off x="3378708" y="2734709"/>
            <a:ext cx="144018" cy="144018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4" name="sh244"/>
          <p:cNvSpPr/>
          <p:nvPr/>
        </p:nvSpPr>
        <p:spPr>
          <a:xfrm rot="2700000">
            <a:off x="3497763" y="2853764"/>
            <a:ext cx="19202" cy="768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5" name="tx245"/>
          <p:cNvSpPr txBox="1"/>
          <p:nvPr/>
        </p:nvSpPr>
        <p:spPr>
          <a:xfrm>
            <a:off x="3747081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8. Detección de problemas</a:t>
            </a:r>
          </a:p>
        </p:txBody>
      </p:sp>
      <p:sp>
        <p:nvSpPr>
          <p:cNvPr id="246" name="tx246"/>
          <p:cNvSpPr txBox="1"/>
          <p:nvPr/>
        </p:nvSpPr>
        <p:spPr>
          <a:xfrm>
            <a:off x="3730752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Descubrimiento de causas raíz y patrones recurrentes</a:t>
            </a:r>
          </a:p>
        </p:txBody>
      </p:sp>
      <p:sp>
        <p:nvSpPr>
          <p:cNvPr id="247" name="sh247"/>
          <p:cNvSpPr/>
          <p:nvPr/>
        </p:nvSpPr>
        <p:spPr>
          <a:xfrm>
            <a:off x="6016752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8" name="sh248"/>
          <p:cNvSpPr/>
          <p:nvPr/>
        </p:nvSpPr>
        <p:spPr>
          <a:xfrm>
            <a:off x="6108192" y="264784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9" name="sh249"/>
          <p:cNvSpPr/>
          <p:nvPr/>
        </p:nvSpPr>
        <p:spPr>
          <a:xfrm rot="10800000">
            <a:off x="6204661" y="2734709"/>
            <a:ext cx="172822" cy="192024"/>
          </a:xfrm>
          <a:prstGeom prst="pentagon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0" name="tx250"/>
          <p:cNvSpPr txBox="1"/>
          <p:nvPr/>
        </p:nvSpPr>
        <p:spPr>
          <a:xfrm>
            <a:off x="6525333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9. Riesgo de cambios</a:t>
            </a:r>
          </a:p>
        </p:txBody>
      </p:sp>
      <p:sp>
        <p:nvSpPr>
          <p:cNvPr id="251" name="tx251"/>
          <p:cNvSpPr txBox="1"/>
          <p:nvPr/>
        </p:nvSpPr>
        <p:spPr>
          <a:xfrm>
            <a:off x="6547104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Evaluación predictiva del riesgo antes de implementar</a:t>
            </a:r>
          </a:p>
        </p:txBody>
      </p:sp>
      <p:sp>
        <p:nvSpPr>
          <p:cNvPr id="272" name="sh272"/>
          <p:cNvSpPr/>
          <p:nvPr/>
        </p:nvSpPr>
        <p:spPr>
          <a:xfrm>
            <a:off x="411262" y="3595116"/>
            <a:ext cx="8318864" cy="515984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2D050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5" name="sh275"/>
          <p:cNvSpPr/>
          <p:nvPr/>
        </p:nvSpPr>
        <p:spPr>
          <a:xfrm>
            <a:off x="753303" y="3840056"/>
            <a:ext cx="58759" cy="58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6" name="tx276"/>
          <p:cNvSpPr txBox="1"/>
          <p:nvPr/>
        </p:nvSpPr>
        <p:spPr>
          <a:xfrm>
            <a:off x="1159546" y="3644537"/>
            <a:ext cx="6783977" cy="424543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4000"/>
              </a:lnSpc>
            </a:pP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La plataforma se comoditiza. La diferenciación está en la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inteligencia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,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gobierno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 y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conocimiento del negocio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8ACFE3F9-76CF-BE63-2CE8-3E56AC055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537" y="3682091"/>
            <a:ext cx="342902" cy="3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2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s-ES" sz="1400"/>
              <a:t>Posicionamiento de Plataformas ITSM</a:t>
            </a:r>
            <a:endParaRPr lang="en-US" sz="1400" b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Todos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venden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AI-first</a:t>
            </a:r>
          </a:p>
        </p:txBody>
      </p:sp>
      <p:sp>
        <p:nvSpPr>
          <p:cNvPr id="42" name="ln">
            <a:extLst>
              <a:ext uri="{FF2B5EF4-FFF2-40B4-BE49-F238E27FC236}">
                <a16:creationId xmlns:a16="http://schemas.microsoft.com/office/drawing/2014/main" id="{3B2ACD73-6A1B-DE81-531C-FD32DE9F39ED}"/>
              </a:ext>
            </a:extLst>
          </p:cNvPr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ServiceNow</a:t>
            </a:r>
          </a:p>
        </p:txBody>
      </p:sp>
      <p:sp>
        <p:nvSpPr>
          <p:cNvPr id="44" name="bar">
            <a:extLst>
              <a:ext uri="{FF2B5EF4-FFF2-40B4-BE49-F238E27FC236}">
                <a16:creationId xmlns:a16="http://schemas.microsoft.com/office/drawing/2014/main" id="{3D1853AC-9917-FF21-2CE0-E584F4533EF1}"/>
              </a:ext>
            </a:extLst>
          </p:cNvPr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6" name="pct">
            <a:extLst>
              <a:ext uri="{FF2B5EF4-FFF2-40B4-BE49-F238E27FC236}">
                <a16:creationId xmlns:a16="http://schemas.microsoft.com/office/drawing/2014/main" id="{FA468F51-9426-DB15-4B34-C49321EFEC60}"/>
              </a:ext>
            </a:extLst>
          </p:cNvPr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48" name="ln">
            <a:extLst>
              <a:ext uri="{FF2B5EF4-FFF2-40B4-BE49-F238E27FC236}">
                <a16:creationId xmlns:a16="http://schemas.microsoft.com/office/drawing/2014/main" id="{F799D0AD-2748-FF38-83AB-FFDDE6EC4E8D}"/>
              </a:ext>
            </a:extLst>
          </p:cNvPr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Atlassian</a:t>
            </a:r>
          </a:p>
        </p:txBody>
      </p:sp>
      <p:sp>
        <p:nvSpPr>
          <p:cNvPr id="50" name="bar">
            <a:extLst>
              <a:ext uri="{FF2B5EF4-FFF2-40B4-BE49-F238E27FC236}">
                <a16:creationId xmlns:a16="http://schemas.microsoft.com/office/drawing/2014/main" id="{3D22674F-15E2-02C3-81B0-94D6D145D268}"/>
              </a:ext>
            </a:extLst>
          </p:cNvPr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2" name="pct">
            <a:extLst>
              <a:ext uri="{FF2B5EF4-FFF2-40B4-BE49-F238E27FC236}">
                <a16:creationId xmlns:a16="http://schemas.microsoft.com/office/drawing/2014/main" id="{F7E1EFDD-EB9E-4D81-9E0A-E75EC2F6CE9F}"/>
              </a:ext>
            </a:extLst>
          </p:cNvPr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12.3%</a:t>
            </a:r>
          </a:p>
        </p:txBody>
      </p:sp>
      <p:sp>
        <p:nvSpPr>
          <p:cNvPr id="54" name="ln">
            <a:extLst>
              <a:ext uri="{FF2B5EF4-FFF2-40B4-BE49-F238E27FC236}">
                <a16:creationId xmlns:a16="http://schemas.microsoft.com/office/drawing/2014/main" id="{694A9F82-8A8D-4636-220C-3EE74279986E}"/>
              </a:ext>
            </a:extLst>
          </p:cNvPr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BMC Helix</a:t>
            </a:r>
          </a:p>
        </p:txBody>
      </p:sp>
      <p:sp>
        <p:nvSpPr>
          <p:cNvPr id="56" name="bar">
            <a:extLst>
              <a:ext uri="{FF2B5EF4-FFF2-40B4-BE49-F238E27FC236}">
                <a16:creationId xmlns:a16="http://schemas.microsoft.com/office/drawing/2014/main" id="{AEFCCA6B-6BF6-1164-C99D-8B4D0E0A8DC1}"/>
              </a:ext>
            </a:extLst>
          </p:cNvPr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8" name="pct">
            <a:extLst>
              <a:ext uri="{FF2B5EF4-FFF2-40B4-BE49-F238E27FC236}">
                <a16:creationId xmlns:a16="http://schemas.microsoft.com/office/drawing/2014/main" id="{1CA6FE2E-DDA9-A223-26CC-16C70CBAA543}"/>
              </a:ext>
            </a:extLst>
          </p:cNvPr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8.5%</a:t>
            </a:r>
          </a:p>
        </p:txBody>
      </p:sp>
      <p:sp>
        <p:nvSpPr>
          <p:cNvPr id="60" name="ln">
            <a:extLst>
              <a:ext uri="{FF2B5EF4-FFF2-40B4-BE49-F238E27FC236}">
                <a16:creationId xmlns:a16="http://schemas.microsoft.com/office/drawing/2014/main" id="{AACB0C82-235E-2D44-7E9F-78F6E31F797E}"/>
              </a:ext>
            </a:extLst>
          </p:cNvPr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Ivanti</a:t>
            </a:r>
          </a:p>
        </p:txBody>
      </p:sp>
      <p:sp>
        <p:nvSpPr>
          <p:cNvPr id="62" name="bar">
            <a:extLst>
              <a:ext uri="{FF2B5EF4-FFF2-40B4-BE49-F238E27FC236}">
                <a16:creationId xmlns:a16="http://schemas.microsoft.com/office/drawing/2014/main" id="{0B567FCC-D014-06F8-6C73-BC8443561923}"/>
              </a:ext>
            </a:extLst>
          </p:cNvPr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4" name="pct">
            <a:extLst>
              <a:ext uri="{FF2B5EF4-FFF2-40B4-BE49-F238E27FC236}">
                <a16:creationId xmlns:a16="http://schemas.microsoft.com/office/drawing/2014/main" id="{AE7418F8-882F-4679-2319-57DEE0F96BC0}"/>
              </a:ext>
            </a:extLst>
          </p:cNvPr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6.2%</a:t>
            </a:r>
          </a:p>
        </p:txBody>
      </p:sp>
      <p:sp>
        <p:nvSpPr>
          <p:cNvPr id="66" name="ln">
            <a:extLst>
              <a:ext uri="{FF2B5EF4-FFF2-40B4-BE49-F238E27FC236}">
                <a16:creationId xmlns:a16="http://schemas.microsoft.com/office/drawing/2014/main" id="{C93CE046-7A6A-D68D-D495-5957E38B9601}"/>
              </a:ext>
            </a:extLst>
          </p:cNvPr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Freshworks</a:t>
            </a:r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37077E38-F59E-47AF-07D1-4A736E43E4FB}"/>
              </a:ext>
            </a:extLst>
          </p:cNvPr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0" name="pct">
            <a:extLst>
              <a:ext uri="{FF2B5EF4-FFF2-40B4-BE49-F238E27FC236}">
                <a16:creationId xmlns:a16="http://schemas.microsoft.com/office/drawing/2014/main" id="{2A47226E-7148-1276-0B4C-831F2B8E1BCD}"/>
              </a:ext>
            </a:extLst>
          </p:cNvPr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5.8%</a:t>
            </a:r>
          </a:p>
        </p:txBody>
      </p:sp>
      <p:sp>
        <p:nvSpPr>
          <p:cNvPr id="72" name="ln">
            <a:extLst>
              <a:ext uri="{FF2B5EF4-FFF2-40B4-BE49-F238E27FC236}">
                <a16:creationId xmlns:a16="http://schemas.microsoft.com/office/drawing/2014/main" id="{35D29E99-D3CA-BEBB-2A3E-65AD758B6DF9}"/>
              </a:ext>
            </a:extLst>
          </p:cNvPr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Otros</a:t>
            </a:r>
          </a:p>
        </p:txBody>
      </p:sp>
      <p:sp>
        <p:nvSpPr>
          <p:cNvPr id="74" name="bar">
            <a:extLst>
              <a:ext uri="{FF2B5EF4-FFF2-40B4-BE49-F238E27FC236}">
                <a16:creationId xmlns:a16="http://schemas.microsoft.com/office/drawing/2014/main" id="{48B9B25E-15B3-3C8B-A9CF-209F1C25E6B0}"/>
              </a:ext>
            </a:extLst>
          </p:cNvPr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6" name="pct">
            <a:extLst>
              <a:ext uri="{FF2B5EF4-FFF2-40B4-BE49-F238E27FC236}">
                <a16:creationId xmlns:a16="http://schemas.microsoft.com/office/drawing/2014/main" id="{C739B923-0CF1-E7FC-0CE0-AC503323BE50}"/>
              </a:ext>
            </a:extLst>
          </p:cNvPr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22.8%</a:t>
            </a:r>
          </a:p>
        </p:txBody>
      </p:sp>
      <p:sp>
        <p:nvSpPr>
          <p:cNvPr id="86" name="bn">
            <a:extLst>
              <a:ext uri="{FF2B5EF4-FFF2-40B4-BE49-F238E27FC236}">
                <a16:creationId xmlns:a16="http://schemas.microsoft.com/office/drawing/2014/main" id="{7066C97C-195C-9B3C-074C-F5EA7F30196D}"/>
              </a:ext>
            </a:extLst>
          </p:cNvPr>
          <p:cNvSpPr txBox="1">
            <a:spLocks noGrp="1"/>
          </p:cNvSpPr>
          <p:nvPr/>
        </p:nvSpPr>
        <p:spPr>
          <a:xfrm>
            <a:off x="5507082" y="792045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9</a:t>
            </a:r>
          </a:p>
        </p:txBody>
      </p:sp>
      <p:sp>
        <p:nvSpPr>
          <p:cNvPr id="88" name="bd">
            <a:extLst>
              <a:ext uri="{FF2B5EF4-FFF2-40B4-BE49-F238E27FC236}">
                <a16:creationId xmlns:a16="http://schemas.microsoft.com/office/drawing/2014/main" id="{B6268D97-7923-7BB8-5D8E-F0B6FCF3A71C}"/>
              </a:ext>
            </a:extLst>
          </p:cNvPr>
          <p:cNvSpPr txBox="1">
            <a:spLocks noGrp="1"/>
          </p:cNvSpPr>
          <p:nvPr/>
        </p:nvSpPr>
        <p:spPr>
          <a:xfrm>
            <a:off x="6330042" y="792045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Capacidades IA evaluadas por Gartner
mín. 5 para calificar</a:t>
            </a:r>
          </a:p>
        </p:txBody>
      </p:sp>
      <p:sp>
        <p:nvSpPr>
          <p:cNvPr id="92" name="bn">
            <a:extLst>
              <a:ext uri="{FF2B5EF4-FFF2-40B4-BE49-F238E27FC236}">
                <a16:creationId xmlns:a16="http://schemas.microsoft.com/office/drawing/2014/main" id="{3E8DC062-C6D9-C108-E568-0FBED824BDA1}"/>
              </a:ext>
            </a:extLst>
          </p:cNvPr>
          <p:cNvSpPr txBox="1">
            <a:spLocks noGrp="1"/>
          </p:cNvSpPr>
          <p:nvPr/>
        </p:nvSpPr>
        <p:spPr>
          <a:xfrm>
            <a:off x="5507082" y="1578429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ITIL v5</a:t>
            </a:r>
          </a:p>
        </p:txBody>
      </p:sp>
      <p:sp>
        <p:nvSpPr>
          <p:cNvPr id="94" name="bd">
            <a:extLst>
              <a:ext uri="{FF2B5EF4-FFF2-40B4-BE49-F238E27FC236}">
                <a16:creationId xmlns:a16="http://schemas.microsoft.com/office/drawing/2014/main" id="{609E48BA-D352-26AB-EB4D-208A41127F2D}"/>
              </a:ext>
            </a:extLst>
          </p:cNvPr>
          <p:cNvSpPr txBox="1">
            <a:spLocks noGrp="1"/>
          </p:cNvSpPr>
          <p:nvPr/>
        </p:nvSpPr>
        <p:spPr>
          <a:xfrm>
            <a:off x="6330042" y="1578429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Lanzado 12 feb 2026
Nuevo estándar de la industria</a:t>
            </a:r>
          </a:p>
        </p:txBody>
      </p:sp>
      <p:sp>
        <p:nvSpPr>
          <p:cNvPr id="98" name="bn">
            <a:extLst>
              <a:ext uri="{FF2B5EF4-FFF2-40B4-BE49-F238E27FC236}">
                <a16:creationId xmlns:a16="http://schemas.microsoft.com/office/drawing/2014/main" id="{CC58E608-1FDD-930C-25BC-FED802924F3E}"/>
              </a:ext>
            </a:extLst>
          </p:cNvPr>
          <p:cNvSpPr txBox="1">
            <a:spLocks noGrp="1"/>
          </p:cNvSpPr>
          <p:nvPr/>
        </p:nvSpPr>
        <p:spPr>
          <a:xfrm>
            <a:off x="5507082" y="2364813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~70%</a:t>
            </a:r>
          </a:p>
        </p:txBody>
      </p:sp>
      <p:sp>
        <p:nvSpPr>
          <p:cNvPr id="100" name="bd">
            <a:extLst>
              <a:ext uri="{FF2B5EF4-FFF2-40B4-BE49-F238E27FC236}">
                <a16:creationId xmlns:a16="http://schemas.microsoft.com/office/drawing/2014/main" id="{7E57363F-47DB-A74A-AF02-4BCDFC28DCB1}"/>
              </a:ext>
            </a:extLst>
          </p:cNvPr>
          <p:cNvSpPr txBox="1">
            <a:spLocks noGrp="1"/>
          </p:cNvSpPr>
          <p:nvPr/>
        </p:nvSpPr>
        <p:spPr>
          <a:xfrm>
            <a:off x="6330042" y="2364813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Adoptarán XLA en 2026
(Experience Level Agreements)</a:t>
            </a:r>
          </a:p>
        </p:txBody>
      </p:sp>
      <p:sp>
        <p:nvSpPr>
          <p:cNvPr id="104" name="bn">
            <a:extLst>
              <a:ext uri="{FF2B5EF4-FFF2-40B4-BE49-F238E27FC236}">
                <a16:creationId xmlns:a16="http://schemas.microsoft.com/office/drawing/2014/main" id="{B3B47693-D349-15AD-AF78-83FAC494A16A}"/>
              </a:ext>
            </a:extLst>
          </p:cNvPr>
          <p:cNvSpPr txBox="1">
            <a:spLocks noGrp="1"/>
          </p:cNvSpPr>
          <p:nvPr/>
        </p:nvSpPr>
        <p:spPr>
          <a:xfrm>
            <a:off x="5507082" y="3151197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106" name="bd">
            <a:extLst>
              <a:ext uri="{FF2B5EF4-FFF2-40B4-BE49-F238E27FC236}">
                <a16:creationId xmlns:a16="http://schemas.microsoft.com/office/drawing/2014/main" id="{FA9F9116-A413-6B75-BFE3-1D7FBAA1FD52}"/>
              </a:ext>
            </a:extLst>
          </p:cNvPr>
          <p:cNvSpPr txBox="1">
            <a:spLocks noGrp="1"/>
          </p:cNvSpPr>
          <p:nvPr/>
        </p:nvSpPr>
        <p:spPr>
          <a:xfrm>
            <a:off x="6297385" y="3178411"/>
            <a:ext cx="2284910" cy="5421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es-ES" sz="1000" b="1" err="1">
                <a:solidFill>
                  <a:srgbClr val="333333"/>
                </a:solidFill>
                <a:latin typeface="Reddit Sans"/>
                <a:ea typeface="Reddit Sans"/>
              </a:rPr>
              <a:t>ServiceNow</a:t>
            </a:r>
            <a:r>
              <a:rPr lang="es-ES" sz="1000" b="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 Líder
en MQ AI </a:t>
            </a:r>
            <a:r>
              <a:rPr lang="es-ES" sz="1000" err="1">
                <a:solidFill>
                  <a:srgbClr val="333333"/>
                </a:solidFill>
                <a:latin typeface="Reddit Sans"/>
                <a:ea typeface="Reddit Sans"/>
              </a:rPr>
              <a:t>Applications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 in ITSM 2025</a:t>
            </a:r>
          </a:p>
        </p:txBody>
      </p:sp>
      <p:sp>
        <p:nvSpPr>
          <p:cNvPr id="110" name="qtxt">
            <a:extLst>
              <a:ext uri="{FF2B5EF4-FFF2-40B4-BE49-F238E27FC236}">
                <a16:creationId xmlns:a16="http://schemas.microsoft.com/office/drawing/2014/main" id="{60BAE401-2A97-E144-0191-1604F0E984C4}"/>
              </a:ext>
            </a:extLst>
          </p:cNvPr>
          <p:cNvSpPr txBox="1">
            <a:spLocks noGrp="1"/>
          </p:cNvSpPr>
          <p:nvPr/>
        </p:nvSpPr>
        <p:spPr>
          <a:xfrm>
            <a:off x="693419" y="3893602"/>
            <a:ext cx="4434840" cy="5617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i="1">
                <a:solidFill>
                  <a:schemeClr val="bg2"/>
                </a:solidFill>
                <a:latin typeface="Reddit Sans"/>
                <a:ea typeface="Reddit Sans"/>
              </a:rPr>
              <a:t>"El diferenciador real está en la plataforma propietaria, profundidad de IA y madurez del modelo de gobierno"</a:t>
            </a: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98551FB-5122-C5E5-7C81-367AD5D1AD71}"/>
              </a:ext>
            </a:extLst>
          </p:cNvPr>
          <p:cNvSpPr txBox="1">
            <a:spLocks noGrp="1"/>
          </p:cNvSpPr>
          <p:nvPr/>
        </p:nvSpPr>
        <p:spPr>
          <a:xfrm>
            <a:off x="630282" y="4631001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3"/>
              </a:rPr>
              <a:t>Gartner MQ AI Applications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5"/>
              </a:rPr>
              <a:t>Freshservice XLA Report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6"/>
              </a:rPr>
              <a:t>Apps Run The World (2024)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F133-DCFA-C0B8-1846-1B4B2E47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28" y="167734"/>
            <a:ext cx="4145187" cy="572700"/>
          </a:xfrm>
        </p:spPr>
        <p:txBody>
          <a:bodyPr>
            <a:normAutofit fontScale="90000"/>
          </a:bodyPr>
          <a:lstStyle/>
          <a:p>
            <a:r>
              <a:rPr lang="en-US" sz="1800" kern="1200" err="1">
                <a:cs typeface="+mn-cs"/>
                <a:sym typeface="Arial"/>
              </a:rPr>
              <a:t>Brechas</a:t>
            </a:r>
            <a:r>
              <a:rPr lang="en-US" sz="1800" kern="1200">
                <a:cs typeface="+mn-cs"/>
                <a:sym typeface="Arial"/>
              </a:rPr>
              <a:t> del mercado y </a:t>
            </a:r>
            <a:r>
              <a:rPr lang="en-US" sz="1800" kern="1200" err="1">
                <a:cs typeface="+mn-cs"/>
                <a:sym typeface="Arial"/>
              </a:rPr>
              <a:t>oportunidades</a:t>
            </a:r>
            <a:endParaRPr lang="es-ES" sz="1800" kern="1200" err="1">
              <a:cs typeface="+mn-cs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95AC8E-9D82-484D-9010-F28844ECB1E3}"/>
              </a:ext>
            </a:extLst>
          </p:cNvPr>
          <p:cNvSpPr txBox="1"/>
          <p:nvPr/>
        </p:nvSpPr>
        <p:spPr>
          <a:xfrm>
            <a:off x="4435928" y="677636"/>
            <a:ext cx="4305301" cy="4129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Falta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Madurez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s-E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No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existen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modelos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claros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que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ayuden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clientes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entender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su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estado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actual y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evolución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ITSM con IA.​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Limitada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Gobernanza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IA​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La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inteligencia</a:t>
            </a:r>
            <a:r>
              <a:rPr lang="en-US" sz="1100">
                <a:latin typeface="Reddit Sans"/>
                <a:ea typeface="Reddit Sans"/>
              </a:rPr>
              <a:t> artificial </a:t>
            </a:r>
            <a:r>
              <a:rPr lang="en-US" sz="1100" err="1">
                <a:latin typeface="Reddit Sans"/>
                <a:ea typeface="Reddit Sans"/>
              </a:rPr>
              <a:t>está</a:t>
            </a:r>
            <a:r>
              <a:rPr lang="en-US" sz="1100">
                <a:latin typeface="Reddit Sans"/>
                <a:ea typeface="Reddit Sans"/>
              </a:rPr>
              <a:t> poco </a:t>
            </a:r>
            <a:r>
              <a:rPr lang="en-US" sz="1100" err="1">
                <a:latin typeface="Reddit Sans"/>
                <a:ea typeface="Reddit Sans"/>
              </a:rPr>
              <a:t>desarrollada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creando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riesgos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limitando</a:t>
            </a:r>
            <a:r>
              <a:rPr lang="en-US" sz="1100">
                <a:latin typeface="Reddit Sans"/>
                <a:ea typeface="Reddit Sans"/>
              </a:rPr>
              <a:t> la </a:t>
            </a:r>
            <a:r>
              <a:rPr lang="en-US" sz="1100" err="1">
                <a:latin typeface="Reddit Sans"/>
                <a:ea typeface="Reddit Sans"/>
              </a:rPr>
              <a:t>adopción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tecnológica</a:t>
            </a:r>
            <a:r>
              <a:rPr lang="en-US" sz="1100">
                <a:latin typeface="Reddit Sans"/>
                <a:ea typeface="Reddit Sans"/>
              </a:rPr>
              <a:t>.​ </a:t>
            </a:r>
          </a:p>
          <a:p>
            <a:pPr>
              <a:lnSpc>
                <a:spcPct val="150000"/>
              </a:lnSpc>
            </a:pP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Desalineación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Pricing​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Los </a:t>
            </a:r>
            <a:r>
              <a:rPr lang="en-US" sz="1100" err="1">
                <a:latin typeface="Reddit Sans"/>
                <a:ea typeface="Reddit Sans"/>
              </a:rPr>
              <a:t>modelos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tradicionales</a:t>
            </a:r>
            <a:r>
              <a:rPr lang="en-US" sz="1100">
                <a:latin typeface="Reddit Sans"/>
                <a:ea typeface="Reddit Sans"/>
              </a:rPr>
              <a:t> de pricing no se </a:t>
            </a:r>
            <a:r>
              <a:rPr lang="en-US" sz="1100" err="1">
                <a:latin typeface="Reddit Sans"/>
                <a:ea typeface="Reddit Sans"/>
              </a:rPr>
              <a:t>alinean</a:t>
            </a:r>
            <a:r>
              <a:rPr lang="en-US" sz="1100">
                <a:latin typeface="Reddit Sans"/>
                <a:ea typeface="Reddit Sans"/>
              </a:rPr>
              <a:t> con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negocio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dificultando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demostrar</a:t>
            </a:r>
            <a:r>
              <a:rPr lang="en-US" sz="1100">
                <a:latin typeface="Reddit Sans"/>
                <a:ea typeface="Reddit Sans"/>
              </a:rPr>
              <a:t> valor tangible.​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Oportunidad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Estratégica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Un framework </a:t>
            </a:r>
            <a:r>
              <a:rPr lang="en-US" sz="1100" err="1">
                <a:latin typeface="Reddit Sans"/>
                <a:ea typeface="Reddit Sans"/>
              </a:rPr>
              <a:t>operativo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completo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que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integre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madurez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alineación</a:t>
            </a:r>
            <a:r>
              <a:rPr lang="en-US" sz="1100">
                <a:latin typeface="Reddit Sans"/>
                <a:ea typeface="Reddit Sans"/>
              </a:rPr>
              <a:t> a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garantiza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diferenciación</a:t>
            </a:r>
            <a:r>
              <a:rPr lang="en-US" sz="1100">
                <a:latin typeface="Reddit Sans"/>
                <a:ea typeface="Reddit Sans"/>
              </a:rPr>
              <a:t> y valor continuo.</a:t>
            </a:r>
          </a:p>
        </p:txBody>
      </p:sp>
      <p:pic>
        <p:nvPicPr>
          <p:cNvPr id="3" name="Imagen 2" descr="a gap in a bridge">
            <a:extLst>
              <a:ext uri="{FF2B5EF4-FFF2-40B4-BE49-F238E27FC236}">
                <a16:creationId xmlns:a16="http://schemas.microsoft.com/office/drawing/2014/main" id="{BD44B07F-ABDF-9330-3F0C-7F511A48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" r="1872" b="156"/>
          <a:stretch>
            <a:fillRect/>
          </a:stretch>
        </p:blipFill>
        <p:spPr>
          <a:xfrm>
            <a:off x="-961736" y="-2041"/>
            <a:ext cx="5015016" cy="51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7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504ED-8B97-81B2-4F4C-21B2319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/>
              <a:t>7 Tendencias que definen el mercado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14D8E-EF4F-E49C-D425-6F1DA6C85EAE}"/>
              </a:ext>
            </a:extLst>
          </p:cNvPr>
          <p:cNvSpPr/>
          <p:nvPr/>
        </p:nvSpPr>
        <p:spPr>
          <a:xfrm>
            <a:off x="329974" y="1177869"/>
            <a:ext cx="2000250" cy="157740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B283EB-57A8-42D5-CE59-F1D70F74631A}"/>
              </a:ext>
            </a:extLst>
          </p:cNvPr>
          <p:cNvSpPr/>
          <p:nvPr/>
        </p:nvSpPr>
        <p:spPr>
          <a:xfrm>
            <a:off x="544286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GenAI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40BA4D-F980-4124-1CF0-2198CE56A45B}"/>
              </a:ext>
            </a:extLst>
          </p:cNvPr>
          <p:cNvSpPr/>
          <p:nvPr/>
        </p:nvSpPr>
        <p:spPr>
          <a:xfrm>
            <a:off x="544286" y="1686839"/>
            <a:ext cx="185681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de modelos de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lenguaje para la automatización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creativa y analítica.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9B338D-5614-647D-E3E6-D2E11960480B}"/>
              </a:ext>
            </a:extLst>
          </p:cNvPr>
          <p:cNvSpPr/>
          <p:nvPr/>
        </p:nvSpPr>
        <p:spPr>
          <a:xfrm>
            <a:off x="106220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-250ad3de.png">
            <a:extLst>
              <a:ext uri="{FF2B5EF4-FFF2-40B4-BE49-F238E27FC236}">
                <a16:creationId xmlns:a16="http://schemas.microsoft.com/office/drawing/2014/main" id="{B69AE644-2A42-B766-51B8-70F60D0D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96" y="1046016"/>
            <a:ext cx="350044" cy="292894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5E70DEB-F9B2-1D78-1292-7BE533CE32D9}"/>
              </a:ext>
            </a:extLst>
          </p:cNvPr>
          <p:cNvSpPr/>
          <p:nvPr/>
        </p:nvSpPr>
        <p:spPr>
          <a:xfrm>
            <a:off x="2473099" y="1177869"/>
            <a:ext cx="2000250" cy="1577408"/>
          </a:xfrm>
          <a:prstGeom prst="rect">
            <a:avLst/>
          </a:prstGeom>
          <a:solidFill>
            <a:srgbClr val="1F9CD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9B0020B-9630-E782-722E-3CEB80025705}"/>
              </a:ext>
            </a:extLst>
          </p:cNvPr>
          <p:cNvSpPr/>
          <p:nvPr/>
        </p:nvSpPr>
        <p:spPr>
          <a:xfrm>
            <a:off x="268741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Agentic 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48E31E9-9B04-0A0E-1EB2-562A6D4B5520}"/>
              </a:ext>
            </a:extLst>
          </p:cNvPr>
          <p:cNvSpPr/>
          <p:nvPr/>
        </p:nvSpPr>
        <p:spPr>
          <a:xfrm>
            <a:off x="268741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hacia sistemas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 capaces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ejecutar procesos complejos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sin intervención humana.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494A8F9-2CA1-EE94-50DD-07B6319B31F7}"/>
              </a:ext>
            </a:extLst>
          </p:cNvPr>
          <p:cNvSpPr/>
          <p:nvPr/>
        </p:nvSpPr>
        <p:spPr>
          <a:xfrm>
            <a:off x="320533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719bd22.png">
            <a:extLst>
              <a:ext uri="{FF2B5EF4-FFF2-40B4-BE49-F238E27FC236}">
                <a16:creationId xmlns:a16="http://schemas.microsoft.com/office/drawing/2014/main" id="{3F0F8949-CEF4-3624-F5AE-3799455C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093" y="1058572"/>
            <a:ext cx="271463" cy="242888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1A331B34-3EDC-F8F7-950A-E16FB0391DB2}"/>
              </a:ext>
            </a:extLst>
          </p:cNvPr>
          <p:cNvSpPr/>
          <p:nvPr/>
        </p:nvSpPr>
        <p:spPr>
          <a:xfrm>
            <a:off x="4616224" y="1177869"/>
            <a:ext cx="2000250" cy="1577408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DE1921A-6D04-7054-5B36-D540BA7EF308}"/>
              </a:ext>
            </a:extLst>
          </p:cNvPr>
          <p:cNvSpPr/>
          <p:nvPr/>
        </p:nvSpPr>
        <p:spPr>
          <a:xfrm>
            <a:off x="4830536" y="1470964"/>
            <a:ext cx="1785938" cy="3422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KCS (Knowledge</a:t>
            </a:r>
            <a:b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Centered Service)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9878086-71B8-D5D4-C28C-28BED7DAF15C}"/>
              </a:ext>
            </a:extLst>
          </p:cNvPr>
          <p:cNvSpPr/>
          <p:nvPr/>
        </p:nvSpPr>
        <p:spPr>
          <a:xfrm>
            <a:off x="4830536" y="1857953"/>
            <a:ext cx="178593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Maximización del valor del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 en la resolución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incidencias.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62E42AE-F2EA-E4AB-4C57-AF5C20E60CB7}"/>
              </a:ext>
            </a:extLst>
          </p:cNvPr>
          <p:cNvSpPr/>
          <p:nvPr/>
        </p:nvSpPr>
        <p:spPr>
          <a:xfrm>
            <a:off x="534845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0016b4a2.png">
            <a:extLst>
              <a:ext uri="{FF2B5EF4-FFF2-40B4-BE49-F238E27FC236}">
                <a16:creationId xmlns:a16="http://schemas.microsoft.com/office/drawing/2014/main" id="{1D6E04B2-8B63-78D6-9D55-1E6D92951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168" y="1058573"/>
            <a:ext cx="185738" cy="242888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D4162BD6-CC4C-6409-52B4-AD0C1344ED64}"/>
              </a:ext>
            </a:extLst>
          </p:cNvPr>
          <p:cNvSpPr/>
          <p:nvPr/>
        </p:nvSpPr>
        <p:spPr>
          <a:xfrm>
            <a:off x="6759349" y="1177869"/>
            <a:ext cx="2000250" cy="1577408"/>
          </a:xfrm>
          <a:prstGeom prst="rect">
            <a:avLst/>
          </a:prstGeom>
          <a:solidFill>
            <a:srgbClr val="1A80B3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8919F73-7DAD-D929-DD8E-4444AF5D4FB0}"/>
              </a:ext>
            </a:extLst>
          </p:cNvPr>
          <p:cNvSpPr/>
          <p:nvPr/>
        </p:nvSpPr>
        <p:spPr>
          <a:xfrm>
            <a:off x="697366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Shift-Left</a:t>
            </a:r>
            <a:endParaRPr lang="en-US" sz="1150" kern="0" spc="-71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D368FF9-9D8F-56EF-7E1D-19F517A0F602}"/>
              </a:ext>
            </a:extLst>
          </p:cNvPr>
          <p:cNvSpPr/>
          <p:nvPr/>
        </p:nvSpPr>
        <p:spPr>
          <a:xfrm>
            <a:off x="697366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Estrategia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trasladar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la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resolución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problemas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etapas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temprana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 o al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s-E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Para anticipar, automatizar y resolver. </a:t>
            </a:r>
            <a:endParaRPr lang="en-US" sz="900" kern="0" spc="-18">
              <a:solidFill>
                <a:srgbClr val="FFFFFF">
                  <a:alpha val="80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BF9F1F8-8EF8-9FDC-4671-08D01B901A07}"/>
              </a:ext>
            </a:extLst>
          </p:cNvPr>
          <p:cNvSpPr/>
          <p:nvPr/>
        </p:nvSpPr>
        <p:spPr>
          <a:xfrm>
            <a:off x="749158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01f2aa22.png">
            <a:extLst>
              <a:ext uri="{FF2B5EF4-FFF2-40B4-BE49-F238E27FC236}">
                <a16:creationId xmlns:a16="http://schemas.microsoft.com/office/drawing/2014/main" id="{D6F53355-D8DC-9F6D-10CF-C1B3B891E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317" y="1086864"/>
            <a:ext cx="221456" cy="192881"/>
          </a:xfrm>
          <a:prstGeom prst="rect">
            <a:avLst/>
          </a:prstGeom>
        </p:spPr>
      </p:pic>
      <p:sp>
        <p:nvSpPr>
          <p:cNvPr id="44" name="Shape 18">
            <a:extLst>
              <a:ext uri="{FF2B5EF4-FFF2-40B4-BE49-F238E27FC236}">
                <a16:creationId xmlns:a16="http://schemas.microsoft.com/office/drawing/2014/main" id="{81737293-8CAF-169F-7774-5574CAB89C32}"/>
              </a:ext>
            </a:extLst>
          </p:cNvPr>
          <p:cNvSpPr/>
          <p:nvPr/>
        </p:nvSpPr>
        <p:spPr>
          <a:xfrm>
            <a:off x="329974" y="3056504"/>
            <a:ext cx="2714625" cy="1435894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020F63A-F911-8F36-EA07-8CC6B000F0CA}"/>
              </a:ext>
            </a:extLst>
          </p:cNvPr>
          <p:cNvSpPr/>
          <p:nvPr/>
        </p:nvSpPr>
        <p:spPr>
          <a:xfrm>
            <a:off x="544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</a:rPr>
              <a:t>De SLA  a Outcomes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306C6FE-541D-EC45-829C-43F54F164A86}"/>
              </a:ext>
            </a:extLst>
          </p:cNvPr>
          <p:cNvSpPr/>
          <p:nvPr/>
        </p:nvSpPr>
        <p:spPr>
          <a:xfrm>
            <a:off x="544286" y="3652560"/>
            <a:ext cx="2500313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orientado a resultados de negocio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tangibles más que a la mera entrega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3381207-CB2F-887C-8F55-E7829979166C}"/>
              </a:ext>
            </a:extLst>
          </p:cNvPr>
          <p:cNvSpPr/>
          <p:nvPr/>
        </p:nvSpPr>
        <p:spPr>
          <a:xfrm>
            <a:off x="1419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2" name="Image 4" descr="-327b961e.png">
            <a:extLst>
              <a:ext uri="{FF2B5EF4-FFF2-40B4-BE49-F238E27FC236}">
                <a16:creationId xmlns:a16="http://schemas.microsoft.com/office/drawing/2014/main" id="{385C9FAC-1EAE-4F2C-78FC-347EE9307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0548" y="2965462"/>
            <a:ext cx="214313" cy="178594"/>
          </a:xfrm>
          <a:prstGeom prst="rect">
            <a:avLst/>
          </a:prstGeom>
        </p:spPr>
      </p:pic>
      <p:sp>
        <p:nvSpPr>
          <p:cNvPr id="54" name="Shape 22">
            <a:extLst>
              <a:ext uri="{FF2B5EF4-FFF2-40B4-BE49-F238E27FC236}">
                <a16:creationId xmlns:a16="http://schemas.microsoft.com/office/drawing/2014/main" id="{823B772D-821C-8266-2E30-C973A89E2810}"/>
              </a:ext>
            </a:extLst>
          </p:cNvPr>
          <p:cNvSpPr/>
          <p:nvPr/>
        </p:nvSpPr>
        <p:spPr>
          <a:xfrm>
            <a:off x="3187474" y="3056504"/>
            <a:ext cx="2714625" cy="1435894"/>
          </a:xfrm>
          <a:prstGeom prst="rect">
            <a:avLst/>
          </a:prstGeom>
          <a:solidFill>
            <a:srgbClr val="14638B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AFE3D3EA-0E11-55F8-EB0A-B9BC9EDDE1DE}"/>
              </a:ext>
            </a:extLst>
          </p:cNvPr>
          <p:cNvSpPr/>
          <p:nvPr/>
        </p:nvSpPr>
        <p:spPr>
          <a:xfrm>
            <a:off x="34017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Observabilidad predictiva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E6251BF-E52F-C8C2-CF80-4D95449F579A}"/>
              </a:ext>
            </a:extLst>
          </p:cNvPr>
          <p:cNvSpPr/>
          <p:nvPr/>
        </p:nvSpPr>
        <p:spPr>
          <a:xfrm>
            <a:off x="3401787" y="3652561"/>
            <a:ext cx="2568959" cy="3125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Uso de análisis avanzado para prevenir fallos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antes de que afecten al usuario.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AD745265-C508-4540-E17D-28FB8AC17B20}"/>
              </a:ext>
            </a:extLst>
          </p:cNvPr>
          <p:cNvSpPr/>
          <p:nvPr/>
        </p:nvSpPr>
        <p:spPr>
          <a:xfrm>
            <a:off x="42768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35E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5" descr="53d78b62.png">
            <a:extLst>
              <a:ext uri="{FF2B5EF4-FFF2-40B4-BE49-F238E27FC236}">
                <a16:creationId xmlns:a16="http://schemas.microsoft.com/office/drawing/2014/main" id="{2243BDA0-3EE6-B4D8-E202-6A592148B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2934" y="2971741"/>
            <a:ext cx="271463" cy="171450"/>
          </a:xfrm>
          <a:prstGeom prst="rect">
            <a:avLst/>
          </a:prstGeom>
        </p:spPr>
      </p:pic>
      <p:sp>
        <p:nvSpPr>
          <p:cNvPr id="64" name="Shape 26">
            <a:extLst>
              <a:ext uri="{FF2B5EF4-FFF2-40B4-BE49-F238E27FC236}">
                <a16:creationId xmlns:a16="http://schemas.microsoft.com/office/drawing/2014/main" id="{B77E5D54-B14F-B6EC-AB4F-43CD1959D409}"/>
              </a:ext>
            </a:extLst>
          </p:cNvPr>
          <p:cNvSpPr/>
          <p:nvPr/>
        </p:nvSpPr>
        <p:spPr>
          <a:xfrm>
            <a:off x="6044974" y="3056504"/>
            <a:ext cx="2714625" cy="1435894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3AC13772-6B2B-1805-9F2C-BE7527D8F87D}"/>
              </a:ext>
            </a:extLst>
          </p:cNvPr>
          <p:cNvSpPr/>
          <p:nvPr/>
        </p:nvSpPr>
        <p:spPr>
          <a:xfrm>
            <a:off x="6259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ITIL v5 y </a:t>
            </a:r>
            <a:r>
              <a:rPr lang="en-US" sz="1150" kern="0" spc="-7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gobernanza</a:t>
            </a: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de IA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6BD73C05-F811-6AF0-FFFA-E66F7E23F43B}"/>
              </a:ext>
            </a:extLst>
          </p:cNvPr>
          <p:cNvSpPr/>
          <p:nvPr/>
        </p:nvSpPr>
        <p:spPr>
          <a:xfrm>
            <a:off x="6259286" y="3652560"/>
            <a:ext cx="260947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de las mejores prácticas en gestión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servicios TI hacia la agilidad y la entrega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E94EB440-EC53-083D-BFC4-1EE5C94A2D2B}"/>
              </a:ext>
            </a:extLst>
          </p:cNvPr>
          <p:cNvSpPr/>
          <p:nvPr/>
        </p:nvSpPr>
        <p:spPr>
          <a:xfrm>
            <a:off x="7134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72" name="Image 6" descr="-41d531de.png">
            <a:extLst>
              <a:ext uri="{FF2B5EF4-FFF2-40B4-BE49-F238E27FC236}">
                <a16:creationId xmlns:a16="http://schemas.microsoft.com/office/drawing/2014/main" id="{D2EB6A91-662C-2B40-DF02-ED238C53DE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989" y="2927792"/>
            <a:ext cx="242888" cy="264319"/>
          </a:xfrm>
          <a:prstGeom prst="rect">
            <a:avLst/>
          </a:prstGeom>
        </p:spPr>
      </p:pic>
      <p:sp>
        <p:nvSpPr>
          <p:cNvPr id="74" name="Text 1">
            <a:extLst>
              <a:ext uri="{FF2B5EF4-FFF2-40B4-BE49-F238E27FC236}">
                <a16:creationId xmlns:a16="http://schemas.microsoft.com/office/drawing/2014/main" id="{6B0BC869-E49D-8227-2FBE-24674CEC764E}"/>
              </a:ext>
            </a:extLst>
          </p:cNvPr>
          <p:cNvSpPr/>
          <p:nvPr/>
        </p:nvSpPr>
        <p:spPr>
          <a:xfrm>
            <a:off x="424203" y="6213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Fuerzas clave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transformarán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el panorama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tecnológico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para 2026</a:t>
            </a:r>
            <a:endParaRPr lang="en-US" sz="1200">
              <a:solidFill>
                <a:srgbClr val="595959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4E27D539-EC37-BF1A-9CD2-6991246DA26C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9"/>
              </a:rPr>
              <a:t>Dynatrace AI Observability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0"/>
              </a:rPr>
              <a:t>Gartner Agentic AI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1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2"/>
              </a:rPr>
              <a:t>TCS IT Services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  <p:sp>
        <p:nvSpPr>
          <p:cNvPr id="9" name="dsc">
            <a:extLst>
              <a:ext uri="{FF2B5EF4-FFF2-40B4-BE49-F238E27FC236}">
                <a16:creationId xmlns:a16="http://schemas.microsoft.com/office/drawing/2014/main" id="{DE123EA4-048D-1CF1-FB61-0FBA8172EB8B}"/>
              </a:ext>
            </a:extLst>
          </p:cNvPr>
          <p:cNvSpPr txBox="1">
            <a:spLocks noGrp="1"/>
          </p:cNvSpPr>
          <p:nvPr/>
        </p:nvSpPr>
        <p:spPr>
          <a:xfrm>
            <a:off x="431292" y="2435135"/>
            <a:ext cx="1852749" cy="3563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-26.6% tiempo de respuesta (GenAI)  ·  +34.6% resoluciones más rápidas (GenAI)</a:t>
            </a:r>
          </a:p>
        </p:txBody>
      </p:sp>
      <p:sp>
        <p:nvSpPr>
          <p:cNvPr id="13" name="dsc">
            <a:extLst>
              <a:ext uri="{FF2B5EF4-FFF2-40B4-BE49-F238E27FC236}">
                <a16:creationId xmlns:a16="http://schemas.microsoft.com/office/drawing/2014/main" id="{3AD27F7B-18E7-2C7B-964E-4CB9DA4FA951}"/>
              </a:ext>
            </a:extLst>
          </p:cNvPr>
          <p:cNvSpPr txBox="1">
            <a:spLocks noGrp="1"/>
          </p:cNvSpPr>
          <p:nvPr/>
        </p:nvSpPr>
        <p:spPr>
          <a:xfrm>
            <a:off x="425850" y="4248258"/>
            <a:ext cx="2554877" cy="3618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Contratos TI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enterprise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serán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outcome-based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(tendencia global)</a:t>
            </a:r>
          </a:p>
        </p:txBody>
      </p:sp>
      <p:sp>
        <p:nvSpPr>
          <p:cNvPr id="17" name="dsc">
            <a:extLst>
              <a:ext uri="{FF2B5EF4-FFF2-40B4-BE49-F238E27FC236}">
                <a16:creationId xmlns:a16="http://schemas.microsoft.com/office/drawing/2014/main" id="{56332DE8-D940-2B20-2898-004B2255ECC1}"/>
              </a:ext>
            </a:extLst>
          </p:cNvPr>
          <p:cNvSpPr txBox="1">
            <a:spLocks noGrp="1"/>
          </p:cNvSpPr>
          <p:nvPr/>
        </p:nvSpPr>
        <p:spPr>
          <a:xfrm>
            <a:off x="6140848" y="4245863"/>
            <a:ext cx="2701834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8 etapas · 6C AI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Capability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Model · gobernanza IA ya no es opcional</a:t>
            </a:r>
          </a:p>
        </p:txBody>
      </p:sp>
      <p:sp>
        <p:nvSpPr>
          <p:cNvPr id="21" name="dsc">
            <a:extLst>
              <a:ext uri="{FF2B5EF4-FFF2-40B4-BE49-F238E27FC236}">
                <a16:creationId xmlns:a16="http://schemas.microsoft.com/office/drawing/2014/main" id="{FE20A471-0E69-78AA-DF4E-916811427E3C}"/>
              </a:ext>
            </a:extLst>
          </p:cNvPr>
          <p:cNvSpPr txBox="1">
            <a:spLocks noGrp="1"/>
          </p:cNvSpPr>
          <p:nvPr/>
        </p:nvSpPr>
        <p:spPr>
          <a:xfrm>
            <a:off x="2569247" y="2418808"/>
            <a:ext cx="1809206" cy="36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51% desplegada · solo 11% plena · &gt;40% proyectos cancelados en 2027</a:t>
            </a:r>
          </a:p>
        </p:txBody>
      </p:sp>
      <p:sp>
        <p:nvSpPr>
          <p:cNvPr id="25" name="dsc">
            <a:extLst>
              <a:ext uri="{FF2B5EF4-FFF2-40B4-BE49-F238E27FC236}">
                <a16:creationId xmlns:a16="http://schemas.microsoft.com/office/drawing/2014/main" id="{7E61382C-ABF6-44B9-5EFD-081A36190A97}"/>
              </a:ext>
            </a:extLst>
          </p:cNvPr>
          <p:cNvSpPr txBox="1">
            <a:spLocks noGrp="1"/>
          </p:cNvSpPr>
          <p:nvPr/>
        </p:nvSpPr>
        <p:spPr>
          <a:xfrm>
            <a:off x="6890875" y="2470839"/>
            <a:ext cx="1907176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N3: USD 104/ticket → N0: USD 2/ticket, cada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deflección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= ahorro medible</a:t>
            </a:r>
            <a:endParaRPr lang="es-E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23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4D4865-0F99-8598-73DC-1EAEE649D4A4}"/>
              </a:ext>
            </a:extLst>
          </p:cNvPr>
          <p:cNvSpPr txBox="1"/>
          <p:nvPr/>
        </p:nvSpPr>
        <p:spPr>
          <a:xfrm>
            <a:off x="468085" y="361950"/>
            <a:ext cx="78377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Oportunidad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Mercado: Colombia y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Latinoamérica</a:t>
            </a:r>
            <a:endParaRPr lang="en-US" sz="1600" b="1" err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graphicFrame>
        <p:nvGraphicFramePr>
          <p:cNvPr id="11" name="Grafico Oportunidad"/>
          <p:cNvGraphicFramePr/>
          <p:nvPr/>
        </p:nvGraphicFramePr>
        <p:xfrm>
          <a:off x="380000" y="1330000"/>
          <a:ext cx="4600000" cy="2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YC12"/>
          <p:cNvSpPr txBox="1"/>
          <p:nvPr/>
        </p:nvSpPr>
        <p:spPr>
          <a:xfrm>
            <a:off x="957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2024 → 2028</a:t>
            </a:r>
          </a:p>
          <a:p>
            <a:pPr algn="ctr"/>
            <a:r>
              <a:rPr lang="es-ES" sz="900" b="1">
                <a:solidFill>
                  <a:srgbClr val="1E8080"/>
                </a:solidFill>
                <a:latin typeface="Reddit Sans"/>
                <a:ea typeface="Reddit Sans"/>
              </a:rPr>
              <a:t>CAGR 12%</a:t>
            </a:r>
          </a:p>
        </p:txBody>
      </p:sp>
      <p:sp>
        <p:nvSpPr>
          <p:cNvPr id="13" name="YC13"/>
          <p:cNvSpPr txBox="1"/>
          <p:nvPr/>
        </p:nvSpPr>
        <p:spPr>
          <a:xfrm>
            <a:off x="2290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2025 → 2031</a:t>
            </a:r>
          </a:p>
          <a:p>
            <a:pPr algn="ctr"/>
            <a:r>
              <a:rPr lang="es-ES" sz="900" b="1">
                <a:solidFill>
                  <a:srgbClr val="A44526"/>
                </a:solidFill>
                <a:latin typeface="Reddit Sans"/>
                <a:ea typeface="Reddit Sans"/>
              </a:rPr>
              <a:t>CAGR 16%</a:t>
            </a:r>
          </a:p>
        </p:txBody>
      </p:sp>
      <p:sp>
        <p:nvSpPr>
          <p:cNvPr id="14" name="YC14"/>
          <p:cNvSpPr txBox="1"/>
          <p:nvPr/>
        </p:nvSpPr>
        <p:spPr>
          <a:xfrm>
            <a:off x="3623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2026 → 2031</a:t>
            </a:r>
          </a:p>
          <a:p>
            <a:pPr algn="ctr"/>
            <a:r>
              <a:rPr lang="es-ES" sz="900" b="1">
                <a:solidFill>
                  <a:srgbClr val="C57A00"/>
                </a:solidFill>
                <a:latin typeface="Reddit Sans"/>
                <a:ea typeface="Reddit Sans"/>
              </a:rPr>
              <a:t>CAGR 14.08%</a:t>
            </a:r>
          </a:p>
        </p:txBody>
      </p:sp>
      <p:sp>
        <p:nvSpPr>
          <p:cNvPr id="20" name="PanelHeader"/>
          <p:cNvSpPr txBox="1"/>
          <p:nvPr/>
        </p:nvSpPr>
        <p:spPr>
          <a:xfrm>
            <a:off x="5150000" y="1030514"/>
            <a:ext cx="362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16233F"/>
                </a:solidFill>
                <a:latin typeface="Reddit Sans"/>
                <a:ea typeface="Reddit Sans"/>
              </a:rPr>
              <a:t>Colombia: Factores de Oportunidad</a:t>
            </a:r>
          </a:p>
        </p:txBody>
      </p:sp>
      <p:sp>
        <p:nvSpPr>
          <p:cNvPr id="21" name="CardNavy"/>
          <p:cNvSpPr txBox="1"/>
          <p:nvPr/>
        </p:nvSpPr>
        <p:spPr>
          <a:xfrm>
            <a:off x="515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81%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Establecimientos de crédito ya usan IA (SFC 2025)</a:t>
            </a:r>
          </a:p>
          <a:p>
            <a:pPr algn="ctr"/>
            <a:r>
              <a:rPr lang="es-ES" sz="700">
                <a:solidFill>
                  <a:srgbClr val="E8B96B"/>
                </a:solidFill>
                <a:latin typeface="Reddit Sans"/>
                <a:ea typeface="Reddit Sans"/>
              </a:rPr>
              <a:t>→ menor fricción de venta</a:t>
            </a:r>
          </a:p>
        </p:txBody>
      </p:sp>
      <p:sp>
        <p:nvSpPr>
          <p:cNvPr id="22" name="CardTeal"/>
          <p:cNvSpPr txBox="1"/>
          <p:nvPr/>
        </p:nvSpPr>
        <p:spPr>
          <a:xfrm>
            <a:off x="700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E8080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9.8%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IT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Services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Colombia más rápido</a:t>
            </a:r>
          </a:p>
          <a:p>
            <a:pPr algn="ctr"/>
            <a:r>
              <a:rPr lang="es-ES" sz="700">
                <a:solidFill>
                  <a:srgbClr val="FFE0A3"/>
                </a:solidFill>
                <a:latin typeface="Reddit Sans"/>
                <a:ea typeface="Reddit Sans"/>
              </a:rPr>
              <a:t>de Sudamérica</a:t>
            </a:r>
          </a:p>
        </p:txBody>
      </p:sp>
      <p:sp>
        <p:nvSpPr>
          <p:cNvPr id="23" name="CardRust"/>
          <p:cNvSpPr txBox="1"/>
          <p:nvPr/>
        </p:nvSpPr>
        <p:spPr>
          <a:xfrm>
            <a:off x="515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A44526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13.8%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Servicios ITSM · Soluciones tienen cuota 61.4%</a:t>
            </a:r>
          </a:p>
          <a:p>
            <a:pPr algn="ctr"/>
            <a:r>
              <a:rPr lang="es-ES" sz="700">
                <a:solidFill>
                  <a:srgbClr val="F0C48A"/>
                </a:solidFill>
                <a:latin typeface="Reddit Sans"/>
                <a:ea typeface="Reddit Sans"/>
              </a:rPr>
              <a:t>→ demanda consultoría ↑</a:t>
            </a:r>
          </a:p>
        </p:txBody>
      </p:sp>
      <p:sp>
        <p:nvSpPr>
          <p:cNvPr id="24" name="CardGreen"/>
          <p:cNvSpPr txBox="1"/>
          <p:nvPr/>
        </p:nvSpPr>
        <p:spPr>
          <a:xfrm>
            <a:off x="700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43781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27.09%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Cuota Service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Desk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&amp;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Incident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Management en Colombia.</a:t>
            </a:r>
          </a:p>
          <a:p>
            <a:pPr algn="ctr"/>
            <a:r>
              <a:rPr lang="es-ES" sz="700">
                <a:solidFill>
                  <a:srgbClr val="CDE6B0"/>
                </a:solidFill>
                <a:latin typeface="Reddit Sans"/>
                <a:ea typeface="Reddit Sans"/>
              </a:rPr>
              <a:t>mayor cat. funcional</a:t>
            </a:r>
          </a:p>
        </p:txBody>
      </p:sp>
      <p:sp>
        <p:nvSpPr>
          <p:cNvPr id="25" name="CompCard"/>
          <p:cNvSpPr txBox="1"/>
          <p:nvPr/>
        </p:nvSpPr>
        <p:spPr>
          <a:xfrm>
            <a:off x="5150000" y="3860000"/>
            <a:ext cx="3620000" cy="716457"/>
          </a:xfrm>
          <a:prstGeom prst="roundRect">
            <a:avLst>
              <a:gd name="adj" fmla="val 8000"/>
            </a:avLst>
          </a:prstGeom>
          <a:solidFill>
            <a:srgbClr val="E8E6E0"/>
          </a:solidFill>
          <a:ln>
            <a:noFill/>
          </a:ln>
        </p:spPr>
        <p:txBody>
          <a:bodyPr wrap="square" lIns="45000" tIns="45000" rIns="45000" bIns="4500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2A2A2A"/>
                </a:solidFill>
                <a:latin typeface="Reddit Sans"/>
                <a:ea typeface="Reddit Sans"/>
              </a:rPr>
              <a:t>Competencia Local Certificada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Solo Aranda Software tiene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PinkVerify</a:t>
            </a:r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 (11 procesos)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Resto: plataformas globales sin oferta de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assessment</a:t>
            </a:r>
            <a:endParaRPr lang="es-ES" sz="800">
              <a:solidFill>
                <a:srgbClr val="6A6A66"/>
              </a:solidFill>
              <a:latin typeface="Reddit Sans"/>
              <a:ea typeface="Reddit Sans"/>
            </a:endParaRPr>
          </a:p>
        </p:txBody>
      </p:sp>
      <p:sp>
        <p:nvSpPr>
          <p:cNvPr id="6" name="ChartSubtitle">
            <a:extLst>
              <a:ext uri="{FF2B5EF4-FFF2-40B4-BE49-F238E27FC236}">
                <a16:creationId xmlns:a16="http://schemas.microsoft.com/office/drawing/2014/main" id="{88DF085F-16EE-B9A5-1798-9B5EEBA0D1FE}"/>
              </a:ext>
            </a:extLst>
          </p:cNvPr>
          <p:cNvSpPr txBox="1"/>
          <p:nvPr/>
        </p:nvSpPr>
        <p:spPr>
          <a:xfrm>
            <a:off x="466600" y="702286"/>
            <a:ext cx="7144000" cy="2600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Tamaño ITSM, crecimiento por segmento y </a:t>
            </a:r>
            <a:r>
              <a:rPr lang="es-ES" sz="1200" spc="-25" err="1">
                <a:solidFill>
                  <a:srgbClr val="595959"/>
                </a:solidFill>
                <a:latin typeface="Reddit Sans"/>
                <a:ea typeface="Reddit Sans"/>
              </a:rPr>
              <a:t>posici</a:t>
            </a: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ón competitiva local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628F3E-F381-F83D-8ACF-953CA0532A02}"/>
              </a:ext>
            </a:extLst>
          </p:cNvPr>
          <p:cNvSpPr txBox="1"/>
          <p:nvPr/>
        </p:nvSpPr>
        <p:spPr>
          <a:xfrm>
            <a:off x="576943" y="4525736"/>
            <a:ext cx="45720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dirty="0">
                <a:solidFill>
                  <a:srgbClr val="6A6A66"/>
                </a:solidFill>
                <a:latin typeface="Reddit Sans"/>
                <a:ea typeface="Reddit Sans"/>
              </a:rPr>
              <a:t>Fuente: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/>
              </a:rPr>
              <a:t>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</a:t>
            </a:r>
            <a:r>
              <a:rPr lang="en-US" sz="700" b="0" i="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Intelligence — South America ITSM Market</a:t>
            </a:r>
            <a:r>
              <a:rPr lang="en-US" sz="700" dirty="0">
                <a:latin typeface="Reddit Sans"/>
                <a:ea typeface="Reddit Sans"/>
              </a:rPr>
              <a:t> </a:t>
            </a:r>
            <a:r>
              <a:rPr lang="es-ES" sz="700" dirty="0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Grand View </a:t>
            </a:r>
            <a:r>
              <a:rPr lang="es-ES" sz="700" dirty="0" err="1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Research</a:t>
            </a:r>
            <a:r>
              <a:rPr lang="es-ES" sz="700" i="1" dirty="0">
                <a:solidFill>
                  <a:srgbClr val="6B7280"/>
                </a:solidFill>
                <a:latin typeface="Reddit Sans"/>
                <a:ea typeface="Reddit Sans"/>
              </a:rPr>
              <a:t> · </a:t>
            </a:r>
            <a:r>
              <a:rPr lang="es-ES" sz="700" dirty="0">
                <a:solidFill>
                  <a:srgbClr val="1A3A8F"/>
                </a:solidFill>
                <a:latin typeface="Reddit Sans"/>
                <a:ea typeface="Reddit Sans"/>
                <a:hlinkClick r:id="rId6"/>
              </a:rPr>
              <a:t>Superfinanciera</a:t>
            </a:r>
            <a:endParaRPr lang="en-US" sz="900" dirty="0">
              <a:latin typeface="Reddit Sans"/>
              <a:ea typeface="Reddit Sans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s-ES" dirty="0"/>
          </a:p>
        </p:txBody>
      </p:sp>
      <p:pic>
        <p:nvPicPr>
          <p:cNvPr id="5" name="Imagen 4" descr="Aranda Software">
            <a:extLst>
              <a:ext uri="{FF2B5EF4-FFF2-40B4-BE49-F238E27FC236}">
                <a16:creationId xmlns:a16="http://schemas.microsoft.com/office/drawing/2014/main" id="{8CEBD39E-C831-D0E8-BAB0-E317D6BFE6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6"/>
          <a:stretch>
            <a:fillRect/>
          </a:stretch>
        </p:blipFill>
        <p:spPr>
          <a:xfrm>
            <a:off x="5247593" y="3909330"/>
            <a:ext cx="488499" cy="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3129" y="128229"/>
            <a:ext cx="8458000" cy="470000"/>
          </a:xfrm>
        </p:spPr>
        <p:txBody>
          <a:bodyPr>
            <a:normAutofit/>
          </a:bodyPr>
          <a:lstStyle/>
          <a:p>
            <a:r>
              <a:rPr lang="es-ES">
                <a:cs typeface="Reddit Sans Light"/>
              </a:rPr>
              <a:t>Cómo compiten los líderes globales de Service </a:t>
            </a:r>
            <a:r>
              <a:rPr lang="es-ES" err="1">
                <a:cs typeface="Reddit Sans Light"/>
              </a:rPr>
              <a:t>Desk</a:t>
            </a:r>
            <a:endParaRPr lang="es-ES">
              <a:cs typeface="Reddit Sans Light"/>
            </a:endParaRPr>
          </a:p>
        </p:txBody>
      </p:sp>
      <p:sp>
        <p:nvSpPr>
          <p:cNvPr id="301" name="subtitle"/>
          <p:cNvSpPr txBox="1"/>
          <p:nvPr/>
        </p:nvSpPr>
        <p:spPr>
          <a:xfrm>
            <a:off x="343000" y="600000"/>
            <a:ext cx="8458000" cy="24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10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La diferenciación ya no está en la plataforma, sino en la capacidad predominante</a:t>
            </a:r>
          </a:p>
        </p:txBody>
      </p:sp>
      <p:sp>
        <p:nvSpPr>
          <p:cNvPr id="303" name="pill"/>
          <p:cNvSpPr/>
          <p:nvPr/>
        </p:nvSpPr>
        <p:spPr>
          <a:xfrm>
            <a:off x="398000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chemeClr val="accent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04" name="chipTL0"/>
          <p:cNvSpPr/>
          <p:nvPr/>
        </p:nvSpPr>
        <p:spPr>
          <a:xfrm>
            <a:off x="4220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</p:txBody>
      </p:sp>
      <p:sp>
        <p:nvSpPr>
          <p:cNvPr id="305" name="chipTL1"/>
          <p:cNvSpPr>
            <a:spLocks/>
          </p:cNvSpPr>
          <p:nvPr/>
        </p:nvSpPr>
        <p:spPr>
          <a:xfrm>
            <a:off x="15395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06" name="chipTL2"/>
          <p:cNvSpPr/>
          <p:nvPr/>
        </p:nvSpPr>
        <p:spPr>
          <a:xfrm>
            <a:off x="4220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</p:txBody>
      </p:sp>
      <p:sp>
        <p:nvSpPr>
          <p:cNvPr id="307" name="chipTL3"/>
          <p:cNvSpPr/>
          <p:nvPr/>
        </p:nvSpPr>
        <p:spPr>
          <a:xfrm>
            <a:off x="15395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08" name="txt"/>
          <p:cNvSpPr txBox="1"/>
          <p:nvPr/>
        </p:nvSpPr>
        <p:spPr>
          <a:xfrm>
            <a:off x="413000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Razonamiento, memoria y ejecución autónoma en agentes inteligentes.</a:t>
            </a:r>
          </a:p>
        </p:txBody>
      </p:sp>
      <p:sp>
        <p:nvSpPr>
          <p:cNvPr id="310" name="pill"/>
          <p:cNvSpPr/>
          <p:nvPr/>
        </p:nvSpPr>
        <p:spPr>
          <a:xfrm>
            <a:off x="2902871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11" name="chipTR0"/>
          <p:cNvSpPr/>
          <p:nvPr/>
        </p:nvSpPr>
        <p:spPr>
          <a:xfrm>
            <a:off x="29268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</p:txBody>
      </p:sp>
      <p:sp>
        <p:nvSpPr>
          <p:cNvPr id="312" name="chipTR1"/>
          <p:cNvSpPr/>
          <p:nvPr/>
        </p:nvSpPr>
        <p:spPr>
          <a:xfrm>
            <a:off x="40443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13" name="chipTR2"/>
          <p:cNvSpPr>
            <a:spLocks/>
          </p:cNvSpPr>
          <p:nvPr/>
        </p:nvSpPr>
        <p:spPr>
          <a:xfrm>
            <a:off x="29268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</p:txBody>
      </p:sp>
      <p:sp>
        <p:nvSpPr>
          <p:cNvPr id="314" name="chipTR3"/>
          <p:cNvSpPr/>
          <p:nvPr/>
        </p:nvSpPr>
        <p:spPr>
          <a:xfrm>
            <a:off x="40443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15" name="txt"/>
          <p:cNvSpPr txBox="1">
            <a:spLocks/>
          </p:cNvSpPr>
          <p:nvPr/>
        </p:nvSpPr>
        <p:spPr>
          <a:xfrm>
            <a:off x="2917871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Métricas de experiencia (XLA), sentimiento y productividad del empleado.</a:t>
            </a:r>
          </a:p>
        </p:txBody>
      </p:sp>
      <p:sp>
        <p:nvSpPr>
          <p:cNvPr id="317" name="pill"/>
          <p:cNvSpPr>
            <a:spLocks/>
          </p:cNvSpPr>
          <p:nvPr/>
        </p:nvSpPr>
        <p:spPr>
          <a:xfrm>
            <a:off x="419771" y="2770443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FBF39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18" name="chipBL0"/>
          <p:cNvSpPr>
            <a:spLocks/>
          </p:cNvSpPr>
          <p:nvPr/>
        </p:nvSpPr>
        <p:spPr>
          <a:xfrm>
            <a:off x="4220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</p:txBody>
      </p:sp>
      <p:sp>
        <p:nvSpPr>
          <p:cNvPr id="319" name="chipBL1"/>
          <p:cNvSpPr>
            <a:spLocks/>
          </p:cNvSpPr>
          <p:nvPr/>
        </p:nvSpPr>
        <p:spPr>
          <a:xfrm>
            <a:off x="15395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</p:txBody>
      </p:sp>
      <p:sp>
        <p:nvSpPr>
          <p:cNvPr id="320" name="chipBL2"/>
          <p:cNvSpPr/>
          <p:nvPr/>
        </p:nvSpPr>
        <p:spPr>
          <a:xfrm>
            <a:off x="4220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21" name="chipBL3"/>
          <p:cNvSpPr/>
          <p:nvPr/>
        </p:nvSpPr>
        <p:spPr>
          <a:xfrm>
            <a:off x="15395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22" name="txt"/>
          <p:cNvSpPr txBox="1">
            <a:spLocks/>
          </p:cNvSpPr>
          <p:nvPr/>
        </p:nvSpPr>
        <p:spPr>
          <a:xfrm>
            <a:off x="413000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Remediación automática, detección de anomalías y operaciones sin intervención.</a:t>
            </a:r>
          </a:p>
        </p:txBody>
      </p:sp>
      <p:sp>
        <p:nvSpPr>
          <p:cNvPr id="324" name="pill"/>
          <p:cNvSpPr>
            <a:spLocks/>
          </p:cNvSpPr>
          <p:nvPr/>
        </p:nvSpPr>
        <p:spPr>
          <a:xfrm>
            <a:off x="2902871" y="276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030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25" name="chipBR0"/>
          <p:cNvSpPr>
            <a:spLocks/>
          </p:cNvSpPr>
          <p:nvPr/>
        </p:nvSpPr>
        <p:spPr>
          <a:xfrm>
            <a:off x="29268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</p:txBody>
      </p:sp>
      <p:sp>
        <p:nvSpPr>
          <p:cNvPr id="326" name="chipBR1"/>
          <p:cNvSpPr/>
          <p:nvPr/>
        </p:nvSpPr>
        <p:spPr>
          <a:xfrm>
            <a:off x="40443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27" name="chipBR2"/>
          <p:cNvSpPr/>
          <p:nvPr/>
        </p:nvSpPr>
        <p:spPr>
          <a:xfrm>
            <a:off x="29268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</p:txBody>
      </p:sp>
      <p:sp>
        <p:nvSpPr>
          <p:cNvPr id="328" name="chipBR3"/>
          <p:cNvSpPr/>
          <p:nvPr/>
        </p:nvSpPr>
        <p:spPr>
          <a:xfrm>
            <a:off x="40443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29" name="txt"/>
          <p:cNvSpPr txBox="1"/>
          <p:nvPr/>
        </p:nvSpPr>
        <p:spPr>
          <a:xfrm>
            <a:off x="2917871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Operación end-to-end, cobertura global y modelos orientados a resultados.</a:t>
            </a:r>
          </a:p>
        </p:txBody>
      </p:sp>
      <p:sp>
        <p:nvSpPr>
          <p:cNvPr id="330" name="axisY"/>
          <p:cNvSpPr txBox="1"/>
          <p:nvPr/>
        </p:nvSpPr>
        <p:spPr>
          <a:xfrm>
            <a:off x="1300943" y="847472"/>
            <a:ext cx="3862058" cy="220886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▲  MADUREZ DE IA</a:t>
            </a:r>
          </a:p>
        </p:txBody>
      </p:sp>
      <p:sp>
        <p:nvSpPr>
          <p:cNvPr id="331" name="axisX"/>
          <p:cNvSpPr txBox="1"/>
          <p:nvPr/>
        </p:nvSpPr>
        <p:spPr>
          <a:xfrm>
            <a:off x="343000" y="4238543"/>
            <a:ext cx="4820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ESCALA OPERATIVA  ▶</a:t>
            </a:r>
          </a:p>
        </p:txBody>
      </p:sp>
      <p:sp>
        <p:nvSpPr>
          <p:cNvPr id="332" name="sb0"/>
          <p:cNvSpPr/>
          <p:nvPr/>
        </p:nvSpPr>
        <p:spPr>
          <a:xfrm>
            <a:off x="5515057" y="598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3" name="acc"/>
          <p:cNvSpPr/>
          <p:nvPr/>
        </p:nvSpPr>
        <p:spPr>
          <a:xfrm>
            <a:off x="5515057" y="598500"/>
            <a:ext cx="55000" cy="719500"/>
          </a:xfrm>
          <a:prstGeom prst="rect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4" name="mk"/>
          <p:cNvSpPr/>
          <p:nvPr/>
        </p:nvSpPr>
        <p:spPr>
          <a:xfrm>
            <a:off x="5635057" y="658500"/>
            <a:ext cx="150000" cy="15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5" name="txt"/>
          <p:cNvSpPr txBox="1"/>
          <p:nvPr/>
        </p:nvSpPr>
        <p:spPr>
          <a:xfrm>
            <a:off x="5825057" y="628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0D6F7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36" name="txt"/>
          <p:cNvSpPr txBox="1"/>
          <p:nvPr/>
        </p:nvSpPr>
        <p:spPr>
          <a:xfrm>
            <a:off x="5635057" y="837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37" name="txt"/>
          <p:cNvSpPr txBox="1"/>
          <p:nvPr/>
        </p:nvSpPr>
        <p:spPr>
          <a:xfrm>
            <a:off x="6935057" y="837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Agentic AI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 y memoria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Ejecución autónoma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Zero-touch operations</a:t>
            </a:r>
          </a:p>
        </p:txBody>
      </p:sp>
      <p:sp>
        <p:nvSpPr>
          <p:cNvPr id="338" name="sb1"/>
          <p:cNvSpPr/>
          <p:nvPr/>
        </p:nvSpPr>
        <p:spPr>
          <a:xfrm>
            <a:off x="5515057" y="1362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9" name="acc"/>
          <p:cNvSpPr/>
          <p:nvPr/>
        </p:nvSpPr>
        <p:spPr>
          <a:xfrm>
            <a:off x="5515057" y="1362000"/>
            <a:ext cx="55000" cy="719500"/>
          </a:xfrm>
          <a:prstGeom prst="rect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0" name="mk"/>
          <p:cNvSpPr/>
          <p:nvPr/>
        </p:nvSpPr>
        <p:spPr>
          <a:xfrm>
            <a:off x="5635057" y="1422000"/>
            <a:ext cx="150000" cy="15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1" name="txt"/>
          <p:cNvSpPr txBox="1"/>
          <p:nvPr/>
        </p:nvSpPr>
        <p:spPr>
          <a:xfrm>
            <a:off x="5825057" y="1392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4E8A25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42" name="txt"/>
          <p:cNvSpPr txBox="1"/>
          <p:nvPr/>
        </p:nvSpPr>
        <p:spPr>
          <a:xfrm>
            <a:off x="5635057" y="1601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43" name="txt"/>
          <p:cNvSpPr txBox="1"/>
          <p:nvPr/>
        </p:nvSpPr>
        <p:spPr>
          <a:xfrm>
            <a:off x="6935057" y="1601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Auto-remediación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AIOps y observabilidad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Prevención de fallos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Operaciones sin intervención</a:t>
            </a:r>
          </a:p>
        </p:txBody>
      </p:sp>
      <p:sp>
        <p:nvSpPr>
          <p:cNvPr id="344" name="sb2"/>
          <p:cNvSpPr/>
          <p:nvPr/>
        </p:nvSpPr>
        <p:spPr>
          <a:xfrm>
            <a:off x="5515057" y="2125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5" name="acc"/>
          <p:cNvSpPr/>
          <p:nvPr/>
        </p:nvSpPr>
        <p:spPr>
          <a:xfrm>
            <a:off x="5515057" y="2125500"/>
            <a:ext cx="55000" cy="719500"/>
          </a:xfrm>
          <a:prstGeom prst="rect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6" name="mk"/>
          <p:cNvSpPr>
            <a:spLocks/>
          </p:cNvSpPr>
          <p:nvPr/>
        </p:nvSpPr>
        <p:spPr>
          <a:xfrm>
            <a:off x="5635057" y="2185500"/>
            <a:ext cx="150000" cy="15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7" name="txt"/>
          <p:cNvSpPr txBox="1">
            <a:spLocks/>
          </p:cNvSpPr>
          <p:nvPr/>
        </p:nvSpPr>
        <p:spPr>
          <a:xfrm>
            <a:off x="5825057" y="2155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2E6FB5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48" name="txt"/>
          <p:cNvSpPr txBox="1"/>
          <p:nvPr/>
        </p:nvSpPr>
        <p:spPr>
          <a:xfrm>
            <a:off x="5635057" y="2364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49" name="txt"/>
          <p:cNvSpPr txBox="1">
            <a:spLocks/>
          </p:cNvSpPr>
          <p:nvPr/>
        </p:nvSpPr>
        <p:spPr>
          <a:xfrm>
            <a:off x="6935057" y="2364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Experience Level Agreements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Sentimiento del empleado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Productividad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FCR y CSAT superiores</a:t>
            </a:r>
          </a:p>
        </p:txBody>
      </p:sp>
      <p:sp>
        <p:nvSpPr>
          <p:cNvPr id="350" name="sb3"/>
          <p:cNvSpPr>
            <a:spLocks/>
          </p:cNvSpPr>
          <p:nvPr/>
        </p:nvSpPr>
        <p:spPr>
          <a:xfrm>
            <a:off x="5515057" y="2889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1" name="acc"/>
          <p:cNvSpPr/>
          <p:nvPr/>
        </p:nvSpPr>
        <p:spPr>
          <a:xfrm>
            <a:off x="5515057" y="2889000"/>
            <a:ext cx="55000" cy="719500"/>
          </a:xfrm>
          <a:prstGeom prst="rect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2" name="mk"/>
          <p:cNvSpPr>
            <a:spLocks/>
          </p:cNvSpPr>
          <p:nvPr/>
        </p:nvSpPr>
        <p:spPr>
          <a:xfrm>
            <a:off x="5635057" y="2949000"/>
            <a:ext cx="150000" cy="15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3" name="txt"/>
          <p:cNvSpPr txBox="1"/>
          <p:nvPr/>
        </p:nvSpPr>
        <p:spPr>
          <a:xfrm>
            <a:off x="5825057" y="2919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6B3F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54" name="txt"/>
          <p:cNvSpPr txBox="1"/>
          <p:nvPr/>
        </p:nvSpPr>
        <p:spPr>
          <a:xfrm>
            <a:off x="5635057" y="3128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55" name="txt"/>
          <p:cNvSpPr txBox="1"/>
          <p:nvPr/>
        </p:nvSpPr>
        <p:spPr>
          <a:xfrm>
            <a:off x="6935057" y="3128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Cobertura global 24x7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Modelos outcome-based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Transformación operativa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Responsabilidad end-to-end</a:t>
            </a:r>
          </a:p>
        </p:txBody>
      </p:sp>
      <p:sp>
        <p:nvSpPr>
          <p:cNvPr id="356" name="stmt"/>
          <p:cNvSpPr/>
          <p:nvPr/>
        </p:nvSpPr>
        <p:spPr>
          <a:xfrm>
            <a:off x="342999" y="4443599"/>
            <a:ext cx="7591256" cy="378743"/>
          </a:xfrm>
          <a:prstGeom prst="roundRect">
            <a:avLst>
              <a:gd name="adj" fmla="val 7000"/>
            </a:avLst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000" tIns="10000" rIns="45000" bIns="10000" anchor="ctr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Los proveedores convergen en capacidades, pero la diferenciación está en la </a:t>
            </a:r>
            <a:r>
              <a:rPr lang="es-ES" sz="900" b="1">
                <a:solidFill>
                  <a:srgbClr val="7FD4D0"/>
                </a:solidFill>
                <a:latin typeface="Reddit Sans"/>
                <a:ea typeface="Reddit Sans"/>
                <a:cs typeface="Reddit Sans Light"/>
              </a:rPr>
              <a:t>profundidad de la IA, la automatización y los resultados de negocio</a:t>
            </a: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que entregan.</a:t>
            </a:r>
          </a:p>
        </p:txBody>
      </p:sp>
      <p:sp>
        <p:nvSpPr>
          <p:cNvPr id="357" name="tkdot"/>
          <p:cNvSpPr/>
          <p:nvPr/>
        </p:nvSpPr>
        <p:spPr>
          <a:xfrm>
            <a:off x="5545328" y="3727485"/>
            <a:ext cx="130000" cy="13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8" name="txt"/>
          <p:cNvSpPr txBox="1"/>
          <p:nvPr/>
        </p:nvSpPr>
        <p:spPr>
          <a:xfrm>
            <a:off x="5535328" y="3877485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IA impulsa la autonomía y las decisiones.</a:t>
            </a:r>
          </a:p>
        </p:txBody>
      </p:sp>
      <p:sp>
        <p:nvSpPr>
          <p:cNvPr id="359" name="tkdot"/>
          <p:cNvSpPr/>
          <p:nvPr/>
        </p:nvSpPr>
        <p:spPr>
          <a:xfrm>
            <a:off x="6447357" y="3727485"/>
            <a:ext cx="130000" cy="13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0" name="txt"/>
          <p:cNvSpPr txBox="1"/>
          <p:nvPr/>
        </p:nvSpPr>
        <p:spPr>
          <a:xfrm>
            <a:off x="6388371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automatización reduce costos y previene fallos.</a:t>
            </a:r>
          </a:p>
        </p:txBody>
      </p:sp>
      <p:sp>
        <p:nvSpPr>
          <p:cNvPr id="361" name="tkdot"/>
          <p:cNvSpPr/>
          <p:nvPr/>
        </p:nvSpPr>
        <p:spPr>
          <a:xfrm>
            <a:off x="7251413" y="3732928"/>
            <a:ext cx="130000" cy="13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2" name="txt"/>
          <p:cNvSpPr txBox="1"/>
          <p:nvPr/>
        </p:nvSpPr>
        <p:spPr>
          <a:xfrm>
            <a:off x="7241413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experiencia del empleado es el nuevo SLA.</a:t>
            </a:r>
          </a:p>
        </p:txBody>
      </p:sp>
      <p:sp>
        <p:nvSpPr>
          <p:cNvPr id="363" name="tkdot"/>
          <p:cNvSpPr/>
          <p:nvPr/>
        </p:nvSpPr>
        <p:spPr>
          <a:xfrm>
            <a:off x="8104456" y="3732928"/>
            <a:ext cx="130000" cy="13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4" name="txt"/>
          <p:cNvSpPr txBox="1"/>
          <p:nvPr/>
        </p:nvSpPr>
        <p:spPr>
          <a:xfrm>
            <a:off x="8105340" y="3882928"/>
            <a:ext cx="855257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El modelo gestionado asegura resultados sostenibles.</a:t>
            </a:r>
          </a:p>
        </p:txBody>
      </p:sp>
      <p:sp>
        <p:nvSpPr>
          <p:cNvPr id="365" name="src"/>
          <p:cNvSpPr txBox="1"/>
          <p:nvPr/>
        </p:nvSpPr>
        <p:spPr>
          <a:xfrm>
            <a:off x="353885" y="4880000"/>
            <a:ext cx="7600000" cy="22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Fuente: Gartner ITSM Market Guide 2024 · Gartner AI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Applications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in ITSM 2024 · IDC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MarketScape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: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Worldwide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ITSM 2024 · HDI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Benchmarks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2024-2025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0B77E44-CDA2-C401-ABF9-5C520D9C4C6F}"/>
              </a:ext>
            </a:extLst>
          </p:cNvPr>
          <p:cNvCxnSpPr/>
          <p:nvPr/>
        </p:nvCxnSpPr>
        <p:spPr>
          <a:xfrm flipH="1" flipV="1">
            <a:off x="2778434" y="1066800"/>
            <a:ext cx="24063" cy="3112168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6FC09E6-FD59-EEC1-568A-BCA39B87F200}"/>
              </a:ext>
            </a:extLst>
          </p:cNvPr>
          <p:cNvCxnSpPr>
            <a:cxnSpLocks/>
          </p:cNvCxnSpPr>
          <p:nvPr/>
        </p:nvCxnSpPr>
        <p:spPr>
          <a:xfrm flipV="1">
            <a:off x="352720" y="4203042"/>
            <a:ext cx="4907164" cy="15181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k">
            <a:extLst>
              <a:ext uri="{FF2B5EF4-FFF2-40B4-BE49-F238E27FC236}">
                <a16:creationId xmlns:a16="http://schemas.microsoft.com/office/drawing/2014/main" id="{C971E5F3-1445-3338-E008-0A5EE02BE569}"/>
              </a:ext>
            </a:extLst>
          </p:cNvPr>
          <p:cNvSpPr>
            <a:spLocks/>
          </p:cNvSpPr>
          <p:nvPr/>
        </p:nvSpPr>
        <p:spPr>
          <a:xfrm>
            <a:off x="2924514" y="2802043"/>
            <a:ext cx="150000" cy="15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" name="mk">
            <a:extLst>
              <a:ext uri="{FF2B5EF4-FFF2-40B4-BE49-F238E27FC236}">
                <a16:creationId xmlns:a16="http://schemas.microsoft.com/office/drawing/2014/main" id="{8DD62482-CAFD-92A8-0EC4-6BE1ED18E5C0}"/>
              </a:ext>
            </a:extLst>
          </p:cNvPr>
          <p:cNvSpPr>
            <a:spLocks/>
          </p:cNvSpPr>
          <p:nvPr/>
        </p:nvSpPr>
        <p:spPr>
          <a:xfrm>
            <a:off x="2924514" y="1243885"/>
            <a:ext cx="150000" cy="15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mk">
            <a:extLst>
              <a:ext uri="{FF2B5EF4-FFF2-40B4-BE49-F238E27FC236}">
                <a16:creationId xmlns:a16="http://schemas.microsoft.com/office/drawing/2014/main" id="{80D00D46-CF6B-8282-C64B-C7C3259E2024}"/>
              </a:ext>
            </a:extLst>
          </p:cNvPr>
          <p:cNvSpPr/>
          <p:nvPr/>
        </p:nvSpPr>
        <p:spPr>
          <a:xfrm>
            <a:off x="420800" y="2799043"/>
            <a:ext cx="150000" cy="15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" name="mk">
            <a:extLst>
              <a:ext uri="{FF2B5EF4-FFF2-40B4-BE49-F238E27FC236}">
                <a16:creationId xmlns:a16="http://schemas.microsoft.com/office/drawing/2014/main" id="{68D6A990-98AC-1DC1-EA58-1A393AB99E9A}"/>
              </a:ext>
            </a:extLst>
          </p:cNvPr>
          <p:cNvSpPr/>
          <p:nvPr/>
        </p:nvSpPr>
        <p:spPr>
          <a:xfrm>
            <a:off x="415357" y="1246328"/>
            <a:ext cx="150000" cy="15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/>
              <a:t>El Costo de No </a:t>
            </a:r>
            <a:r>
              <a:rPr lang="en-US" sz="1400" err="1"/>
              <a:t>Evolucionar</a:t>
            </a:r>
            <a:endParaRPr lang="es-CO" sz="140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29" y="3982521"/>
            <a:ext cx="5256712" cy="371204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-578609" y="4093338"/>
            <a:ext cx="7297782" cy="3346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Cada ticket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evitado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mediante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Shift-Left reduce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costos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tiempos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resolución</a:t>
            </a:r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  <a:p>
            <a:pPr algn="ctr"/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La mesa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reactiva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ya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es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indefendible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comercialmente</a:t>
            </a:r>
          </a:p>
        </p:txBody>
      </p:sp>
      <p:sp>
        <p:nvSpPr>
          <p:cNvPr id="141" name="bar">
            <a:extLst>
              <a:ext uri="{FF2B5EF4-FFF2-40B4-BE49-F238E27FC236}">
                <a16:creationId xmlns:a16="http://schemas.microsoft.com/office/drawing/2014/main" id="{5157805E-5E2A-EA83-FA50-536A233632FB}"/>
              </a:ext>
            </a:extLst>
          </p:cNvPr>
          <p:cNvSpPr>
            <a:spLocks noGrp="1"/>
          </p:cNvSpPr>
          <p:nvPr/>
        </p:nvSpPr>
        <p:spPr>
          <a:xfrm>
            <a:off x="363583" y="127820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3" name="lbl">
            <a:extLst>
              <a:ext uri="{FF2B5EF4-FFF2-40B4-BE49-F238E27FC236}">
                <a16:creationId xmlns:a16="http://schemas.microsoft.com/office/drawing/2014/main" id="{2B0ADD44-981F-5714-ED4D-60260B63E85A}"/>
              </a:ext>
            </a:extLst>
          </p:cNvPr>
          <p:cNvSpPr txBox="1">
            <a:spLocks noGrp="1"/>
          </p:cNvSpPr>
          <p:nvPr/>
        </p:nvSpPr>
        <p:spPr>
          <a:xfrm>
            <a:off x="436735" y="1278201"/>
            <a:ext cx="899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145" name="cst">
            <a:extLst>
              <a:ext uri="{FF2B5EF4-FFF2-40B4-BE49-F238E27FC236}">
                <a16:creationId xmlns:a16="http://schemas.microsoft.com/office/drawing/2014/main" id="{E4439B9E-F687-74E9-EB92-6EB3C16EDDAD}"/>
              </a:ext>
            </a:extLst>
          </p:cNvPr>
          <p:cNvSpPr txBox="1">
            <a:spLocks noGrp="1"/>
          </p:cNvSpPr>
          <p:nvPr/>
        </p:nvSpPr>
        <p:spPr>
          <a:xfrm>
            <a:off x="1387711" y="1278201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2</a:t>
            </a:r>
          </a:p>
        </p:txBody>
      </p:sp>
      <p:sp>
        <p:nvSpPr>
          <p:cNvPr id="147" name="bar">
            <a:extLst>
              <a:ext uri="{FF2B5EF4-FFF2-40B4-BE49-F238E27FC236}">
                <a16:creationId xmlns:a16="http://schemas.microsoft.com/office/drawing/2014/main" id="{FBAF12FC-0D1F-F735-64F1-19A358F92296}"/>
              </a:ext>
            </a:extLst>
          </p:cNvPr>
          <p:cNvSpPr>
            <a:spLocks noGrp="1"/>
          </p:cNvSpPr>
          <p:nvPr/>
        </p:nvSpPr>
        <p:spPr>
          <a:xfrm>
            <a:off x="363583" y="1799409"/>
            <a:ext cx="1496785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9" name="lbl">
            <a:extLst>
              <a:ext uri="{FF2B5EF4-FFF2-40B4-BE49-F238E27FC236}">
                <a16:creationId xmlns:a16="http://schemas.microsoft.com/office/drawing/2014/main" id="{71C36A62-E4E7-831A-FC2B-84562D562C1F}"/>
              </a:ext>
            </a:extLst>
          </p:cNvPr>
          <p:cNvSpPr txBox="1">
            <a:spLocks noGrp="1"/>
          </p:cNvSpPr>
          <p:nvPr/>
        </p:nvSpPr>
        <p:spPr>
          <a:xfrm>
            <a:off x="436735" y="1799409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N1 Agente Virtual IA</a:t>
            </a:r>
          </a:p>
        </p:txBody>
      </p:sp>
      <p:sp>
        <p:nvSpPr>
          <p:cNvPr id="151" name="cst">
            <a:extLst>
              <a:ext uri="{FF2B5EF4-FFF2-40B4-BE49-F238E27FC236}">
                <a16:creationId xmlns:a16="http://schemas.microsoft.com/office/drawing/2014/main" id="{716CAA39-1F22-F973-E1DF-A49F3614AF42}"/>
              </a:ext>
            </a:extLst>
          </p:cNvPr>
          <p:cNvSpPr txBox="1">
            <a:spLocks noGrp="1"/>
          </p:cNvSpPr>
          <p:nvPr/>
        </p:nvSpPr>
        <p:spPr>
          <a:xfrm>
            <a:off x="1844911" y="179940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8</a:t>
            </a:r>
          </a:p>
        </p:txBody>
      </p:sp>
      <p:sp>
        <p:nvSpPr>
          <p:cNvPr id="153" name="bar">
            <a:extLst>
              <a:ext uri="{FF2B5EF4-FFF2-40B4-BE49-F238E27FC236}">
                <a16:creationId xmlns:a16="http://schemas.microsoft.com/office/drawing/2014/main" id="{B00C8B7D-B467-FA5A-08A0-889448FB396D}"/>
              </a:ext>
            </a:extLst>
          </p:cNvPr>
          <p:cNvSpPr>
            <a:spLocks noGrp="1"/>
          </p:cNvSpPr>
          <p:nvPr/>
        </p:nvSpPr>
        <p:spPr>
          <a:xfrm>
            <a:off x="363583" y="2320617"/>
            <a:ext cx="2299062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5" name="lbl">
            <a:extLst>
              <a:ext uri="{FF2B5EF4-FFF2-40B4-BE49-F238E27FC236}">
                <a16:creationId xmlns:a16="http://schemas.microsoft.com/office/drawing/2014/main" id="{B2DFE1AD-48DF-10FB-2EB4-DB126050808B}"/>
              </a:ext>
            </a:extLst>
          </p:cNvPr>
          <p:cNvSpPr txBox="1">
            <a:spLocks noGrp="1"/>
          </p:cNvSpPr>
          <p:nvPr/>
        </p:nvSpPr>
        <p:spPr>
          <a:xfrm>
            <a:off x="436735" y="2320617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N2 Soporte L1</a:t>
            </a:r>
          </a:p>
        </p:txBody>
      </p:sp>
      <p:sp>
        <p:nvSpPr>
          <p:cNvPr id="157" name="cst">
            <a:extLst>
              <a:ext uri="{FF2B5EF4-FFF2-40B4-BE49-F238E27FC236}">
                <a16:creationId xmlns:a16="http://schemas.microsoft.com/office/drawing/2014/main" id="{60A9ED2F-0787-C608-C521-3DCE9D1E894A}"/>
              </a:ext>
            </a:extLst>
          </p:cNvPr>
          <p:cNvSpPr txBox="1">
            <a:spLocks noGrp="1"/>
          </p:cNvSpPr>
          <p:nvPr/>
        </p:nvSpPr>
        <p:spPr>
          <a:xfrm>
            <a:off x="2576431" y="232061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22</a:t>
            </a:r>
          </a:p>
        </p:txBody>
      </p:sp>
      <p:sp>
        <p:nvSpPr>
          <p:cNvPr id="159" name="bar">
            <a:extLst>
              <a:ext uri="{FF2B5EF4-FFF2-40B4-BE49-F238E27FC236}">
                <a16:creationId xmlns:a16="http://schemas.microsoft.com/office/drawing/2014/main" id="{36E6D2F2-2A4B-8AE8-33B4-3E2CC238959B}"/>
              </a:ext>
            </a:extLst>
          </p:cNvPr>
          <p:cNvSpPr>
            <a:spLocks noGrp="1"/>
          </p:cNvSpPr>
          <p:nvPr/>
        </p:nvSpPr>
        <p:spPr>
          <a:xfrm>
            <a:off x="363583" y="2841825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1" name="lbl">
            <a:extLst>
              <a:ext uri="{FF2B5EF4-FFF2-40B4-BE49-F238E27FC236}">
                <a16:creationId xmlns:a16="http://schemas.microsoft.com/office/drawing/2014/main" id="{E40B749C-A2E5-12DB-B139-62F93E4200C8}"/>
              </a:ext>
            </a:extLst>
          </p:cNvPr>
          <p:cNvSpPr txBox="1">
            <a:spLocks noGrp="1"/>
          </p:cNvSpPr>
          <p:nvPr/>
        </p:nvSpPr>
        <p:spPr>
          <a:xfrm>
            <a:off x="436735" y="2841825"/>
            <a:ext cx="319822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N3 Soporte L2</a:t>
            </a:r>
          </a:p>
        </p:txBody>
      </p:sp>
      <p:sp>
        <p:nvSpPr>
          <p:cNvPr id="163" name="cst">
            <a:extLst>
              <a:ext uri="{FF2B5EF4-FFF2-40B4-BE49-F238E27FC236}">
                <a16:creationId xmlns:a16="http://schemas.microsoft.com/office/drawing/2014/main" id="{239918B0-AEA0-76AF-70C1-C7069D488EE4}"/>
              </a:ext>
            </a:extLst>
          </p:cNvPr>
          <p:cNvSpPr txBox="1">
            <a:spLocks noGrp="1"/>
          </p:cNvSpPr>
          <p:nvPr/>
        </p:nvSpPr>
        <p:spPr>
          <a:xfrm>
            <a:off x="3490831" y="2841825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55</a:t>
            </a:r>
          </a:p>
        </p:txBody>
      </p:sp>
      <p:sp>
        <p:nvSpPr>
          <p:cNvPr id="165" name="bar">
            <a:extLst>
              <a:ext uri="{FF2B5EF4-FFF2-40B4-BE49-F238E27FC236}">
                <a16:creationId xmlns:a16="http://schemas.microsoft.com/office/drawing/2014/main" id="{ADF2DCAC-F3AA-43F8-B4AB-26576FC1B888}"/>
              </a:ext>
            </a:extLst>
          </p:cNvPr>
          <p:cNvSpPr>
            <a:spLocks noGrp="1"/>
          </p:cNvSpPr>
          <p:nvPr/>
        </p:nvSpPr>
        <p:spPr>
          <a:xfrm>
            <a:off x="363583" y="3363033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7" name="lbl">
            <a:extLst>
              <a:ext uri="{FF2B5EF4-FFF2-40B4-BE49-F238E27FC236}">
                <a16:creationId xmlns:a16="http://schemas.microsoft.com/office/drawing/2014/main" id="{0D4C4E3A-CB71-D89E-30FE-D87891ED0890}"/>
              </a:ext>
            </a:extLst>
          </p:cNvPr>
          <p:cNvSpPr txBox="1">
            <a:spLocks noGrp="1"/>
          </p:cNvSpPr>
          <p:nvPr/>
        </p:nvSpPr>
        <p:spPr>
          <a:xfrm>
            <a:off x="436735" y="3363033"/>
            <a:ext cx="39950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N4-N5 Especializado</a:t>
            </a:r>
          </a:p>
        </p:txBody>
      </p:sp>
      <p:sp>
        <p:nvSpPr>
          <p:cNvPr id="169" name="cst">
            <a:extLst>
              <a:ext uri="{FF2B5EF4-FFF2-40B4-BE49-F238E27FC236}">
                <a16:creationId xmlns:a16="http://schemas.microsoft.com/office/drawing/2014/main" id="{516256F4-37AA-EF39-3E54-9E6B464E213A}"/>
              </a:ext>
            </a:extLst>
          </p:cNvPr>
          <p:cNvSpPr txBox="1">
            <a:spLocks noGrp="1"/>
          </p:cNvSpPr>
          <p:nvPr/>
        </p:nvSpPr>
        <p:spPr>
          <a:xfrm>
            <a:off x="4113493" y="33467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104</a:t>
            </a:r>
          </a:p>
        </p:txBody>
      </p:sp>
      <p:sp>
        <p:nvSpPr>
          <p:cNvPr id="171" name="bhdr">
            <a:extLst>
              <a:ext uri="{FF2B5EF4-FFF2-40B4-BE49-F238E27FC236}">
                <a16:creationId xmlns:a16="http://schemas.microsoft.com/office/drawing/2014/main" id="{72699A02-D9BD-203D-2BBF-B3A35207C06B}"/>
              </a:ext>
            </a:extLst>
          </p:cNvPr>
          <p:cNvSpPr>
            <a:spLocks noGrp="1"/>
          </p:cNvSpPr>
          <p:nvPr/>
        </p:nvSpPr>
        <p:spPr>
          <a:xfrm>
            <a:off x="4732020" y="11963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3" name="th">
            <a:extLst>
              <a:ext uri="{FF2B5EF4-FFF2-40B4-BE49-F238E27FC236}">
                <a16:creationId xmlns:a16="http://schemas.microsoft.com/office/drawing/2014/main" id="{82367F01-1427-05FD-3941-50F2F6338D1B}"/>
              </a:ext>
            </a:extLst>
          </p:cNvPr>
          <p:cNvSpPr txBox="1">
            <a:spLocks noGrp="1"/>
          </p:cNvSpPr>
          <p:nvPr/>
        </p:nvSpPr>
        <p:spPr>
          <a:xfrm>
            <a:off x="4737463" y="11963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Métrica</a:t>
            </a:r>
          </a:p>
        </p:txBody>
      </p:sp>
      <p:sp>
        <p:nvSpPr>
          <p:cNvPr id="175" name="th">
            <a:extLst>
              <a:ext uri="{FF2B5EF4-FFF2-40B4-BE49-F238E27FC236}">
                <a16:creationId xmlns:a16="http://schemas.microsoft.com/office/drawing/2014/main" id="{A43800BE-7949-6206-5481-79E9337C8EB5}"/>
              </a:ext>
            </a:extLst>
          </p:cNvPr>
          <p:cNvSpPr txBox="1">
            <a:spLocks noGrp="1"/>
          </p:cNvSpPr>
          <p:nvPr/>
        </p:nvSpPr>
        <p:spPr>
          <a:xfrm>
            <a:off x="6291943" y="11963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Tradicional</a:t>
            </a:r>
          </a:p>
        </p:txBody>
      </p:sp>
      <p:sp>
        <p:nvSpPr>
          <p:cNvPr id="177" name="th">
            <a:extLst>
              <a:ext uri="{FF2B5EF4-FFF2-40B4-BE49-F238E27FC236}">
                <a16:creationId xmlns:a16="http://schemas.microsoft.com/office/drawing/2014/main" id="{5E880A90-7749-D9FE-8EAE-15D7C726958D}"/>
              </a:ext>
            </a:extLst>
          </p:cNvPr>
          <p:cNvSpPr txBox="1">
            <a:spLocks noGrp="1"/>
          </p:cNvSpPr>
          <p:nvPr/>
        </p:nvSpPr>
        <p:spPr>
          <a:xfrm>
            <a:off x="7297783" y="11963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Con IA Agéntica</a:t>
            </a:r>
          </a:p>
        </p:txBody>
      </p:sp>
      <p:sp>
        <p:nvSpPr>
          <p:cNvPr id="179" name="rbg">
            <a:extLst>
              <a:ext uri="{FF2B5EF4-FFF2-40B4-BE49-F238E27FC236}">
                <a16:creationId xmlns:a16="http://schemas.microsoft.com/office/drawing/2014/main" id="{7C37B1C2-815F-2818-F812-5A6691D3D634}"/>
              </a:ext>
            </a:extLst>
          </p:cNvPr>
          <p:cNvSpPr>
            <a:spLocks noGrp="1"/>
          </p:cNvSpPr>
          <p:nvPr/>
        </p:nvSpPr>
        <p:spPr>
          <a:xfrm>
            <a:off x="4737463" y="15621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1" name="bc">
            <a:extLst>
              <a:ext uri="{FF2B5EF4-FFF2-40B4-BE49-F238E27FC236}">
                <a16:creationId xmlns:a16="http://schemas.microsoft.com/office/drawing/2014/main" id="{C846BEF1-A2FE-C0A0-437E-B3B93D97DA3A}"/>
              </a:ext>
            </a:extLst>
          </p:cNvPr>
          <p:cNvSpPr txBox="1">
            <a:spLocks noGrp="1"/>
          </p:cNvSpPr>
          <p:nvPr/>
        </p:nvSpPr>
        <p:spPr>
          <a:xfrm>
            <a:off x="4737463" y="15621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FCR (1er Contacto)</a:t>
            </a:r>
          </a:p>
        </p:txBody>
      </p:sp>
      <p:sp>
        <p:nvSpPr>
          <p:cNvPr id="183" name="bc">
            <a:extLst>
              <a:ext uri="{FF2B5EF4-FFF2-40B4-BE49-F238E27FC236}">
                <a16:creationId xmlns:a16="http://schemas.microsoft.com/office/drawing/2014/main" id="{AFED1BC0-5B1C-9171-65E0-7E89DE93A22C}"/>
              </a:ext>
            </a:extLst>
          </p:cNvPr>
          <p:cNvSpPr txBox="1">
            <a:spLocks noGrp="1"/>
          </p:cNvSpPr>
          <p:nvPr/>
        </p:nvSpPr>
        <p:spPr>
          <a:xfrm>
            <a:off x="6291943" y="15621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40-55%</a:t>
            </a:r>
          </a:p>
        </p:txBody>
      </p:sp>
      <p:sp>
        <p:nvSpPr>
          <p:cNvPr id="185" name="bc">
            <a:extLst>
              <a:ext uri="{FF2B5EF4-FFF2-40B4-BE49-F238E27FC236}">
                <a16:creationId xmlns:a16="http://schemas.microsoft.com/office/drawing/2014/main" id="{CA6E3487-A0A9-E5C0-7E64-5D59A994F431}"/>
              </a:ext>
            </a:extLst>
          </p:cNvPr>
          <p:cNvSpPr txBox="1">
            <a:spLocks noGrp="1"/>
          </p:cNvSpPr>
          <p:nvPr/>
        </p:nvSpPr>
        <p:spPr>
          <a:xfrm>
            <a:off x="7297783" y="15621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75-85%</a:t>
            </a:r>
          </a:p>
        </p:txBody>
      </p:sp>
      <p:sp>
        <p:nvSpPr>
          <p:cNvPr id="187" name="rbg">
            <a:extLst>
              <a:ext uri="{FF2B5EF4-FFF2-40B4-BE49-F238E27FC236}">
                <a16:creationId xmlns:a16="http://schemas.microsoft.com/office/drawing/2014/main" id="{B6CD0C2E-0C95-41E3-2CC1-F9B383D7549D}"/>
              </a:ext>
            </a:extLst>
          </p:cNvPr>
          <p:cNvSpPr>
            <a:spLocks noGrp="1"/>
          </p:cNvSpPr>
          <p:nvPr/>
        </p:nvSpPr>
        <p:spPr>
          <a:xfrm>
            <a:off x="4737463" y="19278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9" name="bc">
            <a:extLst>
              <a:ext uri="{FF2B5EF4-FFF2-40B4-BE49-F238E27FC236}">
                <a16:creationId xmlns:a16="http://schemas.microsoft.com/office/drawing/2014/main" id="{F14D6286-CE51-E6E6-D95F-ED272FC8C658}"/>
              </a:ext>
            </a:extLst>
          </p:cNvPr>
          <p:cNvSpPr txBox="1">
            <a:spLocks noGrp="1"/>
          </p:cNvSpPr>
          <p:nvPr/>
        </p:nvSpPr>
        <p:spPr>
          <a:xfrm>
            <a:off x="4737463" y="19278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MTTR</a:t>
            </a:r>
          </a:p>
        </p:txBody>
      </p:sp>
      <p:sp>
        <p:nvSpPr>
          <p:cNvPr id="191" name="bc">
            <a:extLst>
              <a:ext uri="{FF2B5EF4-FFF2-40B4-BE49-F238E27FC236}">
                <a16:creationId xmlns:a16="http://schemas.microsoft.com/office/drawing/2014/main" id="{093B2FAE-DE04-A196-06B3-9EED4CD19003}"/>
              </a:ext>
            </a:extLst>
          </p:cNvPr>
          <p:cNvSpPr txBox="1">
            <a:spLocks noGrp="1"/>
          </p:cNvSpPr>
          <p:nvPr/>
        </p:nvSpPr>
        <p:spPr>
          <a:xfrm>
            <a:off x="6291943" y="19278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base</a:t>
            </a:r>
          </a:p>
        </p:txBody>
      </p:sp>
      <p:sp>
        <p:nvSpPr>
          <p:cNvPr id="193" name="bc">
            <a:extLst>
              <a:ext uri="{FF2B5EF4-FFF2-40B4-BE49-F238E27FC236}">
                <a16:creationId xmlns:a16="http://schemas.microsoft.com/office/drawing/2014/main" id="{8C1913F5-D813-9C09-F6C7-AA498D8E8487}"/>
              </a:ext>
            </a:extLst>
          </p:cNvPr>
          <p:cNvSpPr txBox="1">
            <a:spLocks noGrp="1"/>
          </p:cNvSpPr>
          <p:nvPr/>
        </p:nvSpPr>
        <p:spPr>
          <a:xfrm>
            <a:off x="7297783" y="19278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-60 a -70%</a:t>
            </a:r>
          </a:p>
        </p:txBody>
      </p:sp>
      <p:sp>
        <p:nvSpPr>
          <p:cNvPr id="195" name="rbg">
            <a:extLst>
              <a:ext uri="{FF2B5EF4-FFF2-40B4-BE49-F238E27FC236}">
                <a16:creationId xmlns:a16="http://schemas.microsoft.com/office/drawing/2014/main" id="{F6CCF5F1-1B32-29D0-A442-5BD15A44D153}"/>
              </a:ext>
            </a:extLst>
          </p:cNvPr>
          <p:cNvSpPr>
            <a:spLocks noGrp="1"/>
          </p:cNvSpPr>
          <p:nvPr/>
        </p:nvSpPr>
        <p:spPr>
          <a:xfrm>
            <a:off x="4737463" y="22936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97" name="bc">
            <a:extLst>
              <a:ext uri="{FF2B5EF4-FFF2-40B4-BE49-F238E27FC236}">
                <a16:creationId xmlns:a16="http://schemas.microsoft.com/office/drawing/2014/main" id="{D7093950-99DC-9B24-8CA5-7F6EE7CA1A7A}"/>
              </a:ext>
            </a:extLst>
          </p:cNvPr>
          <p:cNvSpPr txBox="1">
            <a:spLocks noGrp="1"/>
          </p:cNvSpPr>
          <p:nvPr/>
        </p:nvSpPr>
        <p:spPr>
          <a:xfrm>
            <a:off x="4737463" y="22936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Costo / interacción</a:t>
            </a:r>
          </a:p>
        </p:txBody>
      </p:sp>
      <p:sp>
        <p:nvSpPr>
          <p:cNvPr id="199" name="bc">
            <a:extLst>
              <a:ext uri="{FF2B5EF4-FFF2-40B4-BE49-F238E27FC236}">
                <a16:creationId xmlns:a16="http://schemas.microsoft.com/office/drawing/2014/main" id="{FA7A9F1D-F520-D145-7639-AA643FCB5F23}"/>
              </a:ext>
            </a:extLst>
          </p:cNvPr>
          <p:cNvSpPr txBox="1">
            <a:spLocks noGrp="1"/>
          </p:cNvSpPr>
          <p:nvPr/>
        </p:nvSpPr>
        <p:spPr>
          <a:xfrm>
            <a:off x="6291943" y="22936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USD 15-25</a:t>
            </a:r>
          </a:p>
        </p:txBody>
      </p:sp>
      <p:sp>
        <p:nvSpPr>
          <p:cNvPr id="201" name="bc">
            <a:extLst>
              <a:ext uri="{FF2B5EF4-FFF2-40B4-BE49-F238E27FC236}">
                <a16:creationId xmlns:a16="http://schemas.microsoft.com/office/drawing/2014/main" id="{9DA35372-7FB1-17E2-6A0F-A53693069B6A}"/>
              </a:ext>
            </a:extLst>
          </p:cNvPr>
          <p:cNvSpPr txBox="1">
            <a:spLocks noGrp="1"/>
          </p:cNvSpPr>
          <p:nvPr/>
        </p:nvSpPr>
        <p:spPr>
          <a:xfrm>
            <a:off x="7297783" y="22936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USD 3-8</a:t>
            </a:r>
          </a:p>
        </p:txBody>
      </p:sp>
      <p:sp>
        <p:nvSpPr>
          <p:cNvPr id="203" name="rbg">
            <a:extLst>
              <a:ext uri="{FF2B5EF4-FFF2-40B4-BE49-F238E27FC236}">
                <a16:creationId xmlns:a16="http://schemas.microsoft.com/office/drawing/2014/main" id="{876C3B31-9ECD-634E-6CF4-8F8397BD536D}"/>
              </a:ext>
            </a:extLst>
          </p:cNvPr>
          <p:cNvSpPr>
            <a:spLocks noGrp="1"/>
          </p:cNvSpPr>
          <p:nvPr/>
        </p:nvSpPr>
        <p:spPr>
          <a:xfrm>
            <a:off x="4737463" y="26593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5" name="bc">
            <a:extLst>
              <a:ext uri="{FF2B5EF4-FFF2-40B4-BE49-F238E27FC236}">
                <a16:creationId xmlns:a16="http://schemas.microsoft.com/office/drawing/2014/main" id="{CEAAE6F1-8281-3CC6-A33A-EFC7FE5E1D94}"/>
              </a:ext>
            </a:extLst>
          </p:cNvPr>
          <p:cNvSpPr txBox="1">
            <a:spLocks noGrp="1"/>
          </p:cNvSpPr>
          <p:nvPr/>
        </p:nvSpPr>
        <p:spPr>
          <a:xfrm>
            <a:off x="4737463" y="2659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Deflección (Robinhood)</a:t>
            </a:r>
          </a:p>
        </p:txBody>
      </p:sp>
      <p:sp>
        <p:nvSpPr>
          <p:cNvPr id="207" name="bc">
            <a:extLst>
              <a:ext uri="{FF2B5EF4-FFF2-40B4-BE49-F238E27FC236}">
                <a16:creationId xmlns:a16="http://schemas.microsoft.com/office/drawing/2014/main" id="{E41B5E9F-B605-01DD-4386-9A35AFCF3E7F}"/>
              </a:ext>
            </a:extLst>
          </p:cNvPr>
          <p:cNvSpPr txBox="1">
            <a:spLocks noGrp="1"/>
          </p:cNvSpPr>
          <p:nvPr/>
        </p:nvSpPr>
        <p:spPr>
          <a:xfrm>
            <a:off x="6291943" y="26593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09" name="bc">
            <a:extLst>
              <a:ext uri="{FF2B5EF4-FFF2-40B4-BE49-F238E27FC236}">
                <a16:creationId xmlns:a16="http://schemas.microsoft.com/office/drawing/2014/main" id="{BFE8A9FB-411A-CB3B-356E-A92A43AB2EE6}"/>
              </a:ext>
            </a:extLst>
          </p:cNvPr>
          <p:cNvSpPr txBox="1">
            <a:spLocks noGrp="1"/>
          </p:cNvSpPr>
          <p:nvPr/>
        </p:nvSpPr>
        <p:spPr>
          <a:xfrm>
            <a:off x="7297783" y="26593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70%</a:t>
            </a:r>
          </a:p>
        </p:txBody>
      </p:sp>
      <p:sp>
        <p:nvSpPr>
          <p:cNvPr id="211" name="rbg">
            <a:extLst>
              <a:ext uri="{FF2B5EF4-FFF2-40B4-BE49-F238E27FC236}">
                <a16:creationId xmlns:a16="http://schemas.microsoft.com/office/drawing/2014/main" id="{F951DD2B-AA1A-02FA-E559-ED687294F73E}"/>
              </a:ext>
            </a:extLst>
          </p:cNvPr>
          <p:cNvSpPr>
            <a:spLocks noGrp="1"/>
          </p:cNvSpPr>
          <p:nvPr/>
        </p:nvSpPr>
        <p:spPr>
          <a:xfrm>
            <a:off x="4737463" y="30251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3" name="bc">
            <a:extLst>
              <a:ext uri="{FF2B5EF4-FFF2-40B4-BE49-F238E27FC236}">
                <a16:creationId xmlns:a16="http://schemas.microsoft.com/office/drawing/2014/main" id="{FD472BD7-74B6-C946-902D-13B8CC4A26FF}"/>
              </a:ext>
            </a:extLst>
          </p:cNvPr>
          <p:cNvSpPr txBox="1">
            <a:spLocks noGrp="1"/>
          </p:cNvSpPr>
          <p:nvPr/>
        </p:nvSpPr>
        <p:spPr>
          <a:xfrm>
            <a:off x="4737463" y="30251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tickets</a:t>
            </a:r>
          </a:p>
        </p:txBody>
      </p:sp>
      <p:sp>
        <p:nvSpPr>
          <p:cNvPr id="215" name="bc">
            <a:extLst>
              <a:ext uri="{FF2B5EF4-FFF2-40B4-BE49-F238E27FC236}">
                <a16:creationId xmlns:a16="http://schemas.microsoft.com/office/drawing/2014/main" id="{658AB931-27D3-369F-40E2-9581CF75CF63}"/>
              </a:ext>
            </a:extLst>
          </p:cNvPr>
          <p:cNvSpPr txBox="1">
            <a:spLocks noGrp="1"/>
          </p:cNvSpPr>
          <p:nvPr/>
        </p:nvSpPr>
        <p:spPr>
          <a:xfrm>
            <a:off x="6291943" y="30251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17" name="bc">
            <a:extLst>
              <a:ext uri="{FF2B5EF4-FFF2-40B4-BE49-F238E27FC236}">
                <a16:creationId xmlns:a16="http://schemas.microsoft.com/office/drawing/2014/main" id="{1A3168AC-27D5-E418-7B13-04D9B3134840}"/>
              </a:ext>
            </a:extLst>
          </p:cNvPr>
          <p:cNvSpPr txBox="1">
            <a:spLocks noGrp="1"/>
          </p:cNvSpPr>
          <p:nvPr/>
        </p:nvSpPr>
        <p:spPr>
          <a:xfrm>
            <a:off x="7297783" y="30251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-80%</a:t>
            </a:r>
          </a:p>
        </p:txBody>
      </p:sp>
      <p:sp>
        <p:nvSpPr>
          <p:cNvPr id="219" name="rbg">
            <a:extLst>
              <a:ext uri="{FF2B5EF4-FFF2-40B4-BE49-F238E27FC236}">
                <a16:creationId xmlns:a16="http://schemas.microsoft.com/office/drawing/2014/main" id="{DB149D34-EE8D-5FB2-B320-ADB79E10C1DA}"/>
              </a:ext>
            </a:extLst>
          </p:cNvPr>
          <p:cNvSpPr>
            <a:spLocks noGrp="1"/>
          </p:cNvSpPr>
          <p:nvPr/>
        </p:nvSpPr>
        <p:spPr>
          <a:xfrm>
            <a:off x="4737463" y="33909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21" name="bc">
            <a:extLst>
              <a:ext uri="{FF2B5EF4-FFF2-40B4-BE49-F238E27FC236}">
                <a16:creationId xmlns:a16="http://schemas.microsoft.com/office/drawing/2014/main" id="{3F90F45C-CB37-8A13-C3C3-4BB01AA9D9EB}"/>
              </a:ext>
            </a:extLst>
          </p:cNvPr>
          <p:cNvSpPr txBox="1">
            <a:spLocks noGrp="1"/>
          </p:cNvSpPr>
          <p:nvPr/>
        </p:nvSpPr>
        <p:spPr>
          <a:xfrm>
            <a:off x="4737463" y="33909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Resolución autónoma</a:t>
            </a:r>
          </a:p>
        </p:txBody>
      </p:sp>
      <p:sp>
        <p:nvSpPr>
          <p:cNvPr id="223" name="bc">
            <a:extLst>
              <a:ext uri="{FF2B5EF4-FFF2-40B4-BE49-F238E27FC236}">
                <a16:creationId xmlns:a16="http://schemas.microsoft.com/office/drawing/2014/main" id="{B7F6C673-E47B-A1D4-9662-DE437DBC1D85}"/>
              </a:ext>
            </a:extLst>
          </p:cNvPr>
          <p:cNvSpPr txBox="1">
            <a:spLocks noGrp="1"/>
          </p:cNvSpPr>
          <p:nvPr/>
        </p:nvSpPr>
        <p:spPr>
          <a:xfrm>
            <a:off x="6291943" y="33909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25" name="bc">
            <a:extLst>
              <a:ext uri="{FF2B5EF4-FFF2-40B4-BE49-F238E27FC236}">
                <a16:creationId xmlns:a16="http://schemas.microsoft.com/office/drawing/2014/main" id="{6DF9AF60-4A8F-3718-2B5B-6919ECE54B9A}"/>
              </a:ext>
            </a:extLst>
          </p:cNvPr>
          <p:cNvSpPr txBox="1">
            <a:spLocks noGrp="1"/>
          </p:cNvSpPr>
          <p:nvPr/>
        </p:nvSpPr>
        <p:spPr>
          <a:xfrm>
            <a:off x="7297783" y="33909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b="1" u="sng">
                <a:solidFill>
                  <a:srgbClr val="2A6B3C"/>
                </a:solidFill>
                <a:latin typeface="Reddit Sans"/>
                <a:ea typeface="Reddit Sans"/>
              </a:rPr>
              <a:t>84%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C94BB872-B187-C3FA-2DF5-D6DA327DB98F}"/>
              </a:ext>
            </a:extLst>
          </p:cNvPr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State of IT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Ivanti Agentic AI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Cost per Ticket</a:t>
            </a:r>
            <a:endParaRPr lang="es-ES" sz="75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303D37-CBEA-BBBA-D0B0-3068D4DD7EAB}"/>
              </a:ext>
            </a:extLst>
          </p:cNvPr>
          <p:cNvSpPr txBox="1"/>
          <p:nvPr/>
        </p:nvSpPr>
        <p:spPr>
          <a:xfrm>
            <a:off x="5742214" y="4041321"/>
            <a:ext cx="280851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b="1" i="0">
                <a:latin typeface="Reddit Sans"/>
                <a:ea typeface="Reddit Sans"/>
                <a:cs typeface="Segoe UI"/>
              </a:rPr>
              <a:t>Shift-Left (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Desplazamiento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hacia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la Izquierda):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Estrategia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gestión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servicios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que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busca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resolver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incidentes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solicitudes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los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niveles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más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cercanos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al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usuario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(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autoservicio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base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conocimiento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chatbot o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soporte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N1),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evitando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escalaciones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innecesarias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reduciendo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costos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tiempos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atención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esfuerzo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operativo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.</a:t>
            </a:r>
          </a:p>
          <a:p>
            <a:pPr algn="ctr"/>
            <a:endParaRPr lang="es-ES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15" y="178621"/>
            <a:ext cx="8232771" cy="39852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Visualización</a:t>
            </a:r>
            <a:r>
              <a:rPr lang="en-US" dirty="0"/>
              <a:t>: Benchmarks de </a:t>
            </a:r>
            <a:r>
              <a:rPr lang="es-CO" dirty="0"/>
              <a:t>industria</a:t>
            </a:r>
            <a:r>
              <a:rPr lang="es-CO" sz="1200" dirty="0"/>
              <a:t> 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11331" y="631155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178526" y="4837829"/>
            <a:ext cx="8905602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CACB6-92CD-5E40-6F53-4475F807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SLA vs. XLA 4 Capas de Reporte</a:t>
            </a:r>
          </a:p>
          <a:p>
            <a:endParaRPr lang="es-ES"/>
          </a:p>
        </p:txBody>
      </p:sp>
      <p:sp>
        <p:nvSpPr>
          <p:cNvPr id="101" name="tx101"/>
          <p:cNvSpPr>
            <a:spLocks noGrp="1"/>
          </p:cNvSpPr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SLA vs. XLA: El Nuevo Paradigma de Medición</a:t>
            </a:r>
          </a:p>
        </p:txBody>
      </p:sp>
      <p:sp>
        <p:nvSpPr>
          <p:cNvPr id="102" name="tx102"/>
          <p:cNvSpPr>
            <a:spLocks noGrp="1"/>
          </p:cNvSpPr>
          <p:nvPr/>
        </p:nvSpPr>
        <p:spPr>
          <a:xfrm>
            <a:off x="365760" y="774192"/>
            <a:ext cx="841248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Casi 70% de empresas planea adoptar XLA en 2026 · XLA Institute “State of XLA 2025”</a:t>
            </a:r>
          </a:p>
        </p:txBody>
      </p:sp>
      <p:sp>
        <p:nvSpPr>
          <p:cNvPr id="103" name="rr103"/>
          <p:cNvSpPr/>
          <p:nvPr/>
        </p:nvSpPr>
        <p:spPr>
          <a:xfrm>
            <a:off x="32004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4" name="rr104"/>
          <p:cNvSpPr/>
          <p:nvPr/>
        </p:nvSpPr>
        <p:spPr>
          <a:xfrm>
            <a:off x="32004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5" name="tx105"/>
          <p:cNvSpPr>
            <a:spLocks noGrp="1"/>
          </p:cNvSpPr>
          <p:nvPr/>
        </p:nvSpPr>
        <p:spPr>
          <a:xfrm>
            <a:off x="32004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SLA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Service Level Agreement</a:t>
            </a:r>
          </a:p>
        </p:txBody>
      </p:sp>
      <p:sp>
        <p:nvSpPr>
          <p:cNvPr id="106" name="tx106"/>
          <p:cNvSpPr>
            <a:spLocks noGrp="1"/>
          </p:cNvSpPr>
          <p:nvPr/>
        </p:nvSpPr>
        <p:spPr>
          <a:xfrm>
            <a:off x="36576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Estándares mínimos de entrega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Tiempo respuesta, uptime, MTTR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Foco: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Cumplimiento de proceso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Limitación: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A3352A"/>
                </a:solidFill>
                <a:latin typeface="Reddit Sans"/>
                <a:ea typeface="Reddit Sans"/>
              </a:rPr>
              <a:t>SLA ✔ ≠ usuario satisfecho</a:t>
            </a: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“El ticket cerró en tiempo pero el problema real persiste”</a:t>
            </a:r>
          </a:p>
        </p:txBody>
      </p:sp>
      <p:sp>
        <p:nvSpPr>
          <p:cNvPr id="107" name="rr107"/>
          <p:cNvSpPr/>
          <p:nvPr/>
        </p:nvSpPr>
        <p:spPr>
          <a:xfrm>
            <a:off x="315468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8" name="rr108"/>
          <p:cNvSpPr/>
          <p:nvPr/>
        </p:nvSpPr>
        <p:spPr>
          <a:xfrm>
            <a:off x="315468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9" name="tx109"/>
          <p:cNvSpPr>
            <a:spLocks noGrp="1"/>
          </p:cNvSpPr>
          <p:nvPr/>
        </p:nvSpPr>
        <p:spPr>
          <a:xfrm>
            <a:off x="315468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XLA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Experience Level Agreement</a:t>
            </a:r>
          </a:p>
        </p:txBody>
      </p:sp>
      <p:sp>
        <p:nvSpPr>
          <p:cNvPr id="110" name="tx110"/>
          <p:cNvSpPr>
            <a:spLocks noGrp="1"/>
          </p:cNvSpPr>
          <p:nvPr/>
        </p:nvSpPr>
        <p:spPr>
          <a:xfrm>
            <a:off x="320040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Experiencia real del empleado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Satisfacción,</a:t>
            </a: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 </a:t>
            </a:r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sentimiento, esfuerzo</a:t>
            </a:r>
          </a:p>
          <a:p>
            <a:pPr>
              <a:spcBef>
                <a:spcPts val="400"/>
              </a:spcBef>
            </a:pPr>
            <a:r>
              <a:rPr lang="es-CO" sz="1050" b="1">
                <a:solidFill>
                  <a:srgbClr val="2E3B4E"/>
                </a:solidFill>
                <a:latin typeface="Reddit Sans"/>
                <a:ea typeface="Reddit Sans"/>
              </a:rPr>
              <a:t>Foco</a:t>
            </a: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:</a:t>
            </a:r>
            <a:endParaRPr lang="es-CO"/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Resultado percibido por usuario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Valor: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Habilita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pricing</a:t>
            </a: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outcome-based</a:t>
            </a:r>
            <a:endParaRPr lang="es-CO" sz="1050" b="0" i="0">
              <a:solidFill>
                <a:srgbClr val="20808D"/>
              </a:solidFill>
              <a:latin typeface="Reddit Sans"/>
              <a:ea typeface="Reddit Sans"/>
            </a:endParaRP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“Proactivo: resuelve antes de que el usuario lo note”</a:t>
            </a:r>
          </a:p>
        </p:txBody>
      </p:sp>
      <p:sp>
        <p:nvSpPr>
          <p:cNvPr id="111" name="ar111"/>
          <p:cNvSpPr/>
          <p:nvPr/>
        </p:nvSpPr>
        <p:spPr>
          <a:xfrm>
            <a:off x="2834640" y="2331720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3" name="tx113"/>
          <p:cNvSpPr>
            <a:spLocks noGrp="1"/>
          </p:cNvSpPr>
          <p:nvPr/>
        </p:nvSpPr>
        <p:spPr>
          <a:xfrm>
            <a:off x="341812" y="4005943"/>
            <a:ext cx="5349240" cy="530352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100" b="1" i="0">
                <a:solidFill>
                  <a:srgbClr val="20808D"/>
                </a:solidFill>
                <a:latin typeface="Reddit Sans"/>
                <a:ea typeface="Reddit Sans"/>
              </a:rPr>
              <a:t>Casi 70% de empresas planea adoptar XLA en 2026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6E6E6E"/>
                </a:solidFill>
                <a:latin typeface="Reddit Sans"/>
                <a:ea typeface="Reddit Sans"/>
              </a:rPr>
              <a:t>Brasil lidera en Latam · expansión: Salud, RRHH, Finanzas (XLA Institute, jun 2025)</a:t>
            </a:r>
          </a:p>
        </p:txBody>
      </p:sp>
      <p:sp>
        <p:nvSpPr>
          <p:cNvPr id="114" name="tx114"/>
          <p:cNvSpPr>
            <a:spLocks noGrp="1"/>
          </p:cNvSpPr>
          <p:nvPr/>
        </p:nvSpPr>
        <p:spPr>
          <a:xfrm>
            <a:off x="5989320" y="1133856"/>
            <a:ext cx="2834640" cy="27432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250" b="1" i="0">
                <a:solidFill>
                  <a:srgbClr val="1F3A5F"/>
                </a:solidFill>
                <a:latin typeface="Reddit Sans"/>
                <a:ea typeface="Reddit Sans"/>
              </a:rPr>
              <a:t>4 Capas</a:t>
            </a:r>
          </a:p>
        </p:txBody>
      </p:sp>
      <p:sp>
        <p:nvSpPr>
          <p:cNvPr id="115" name="rr115"/>
          <p:cNvSpPr/>
          <p:nvPr/>
        </p:nvSpPr>
        <p:spPr>
          <a:xfrm>
            <a:off x="5989320" y="1572768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3456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6" name="tx116"/>
          <p:cNvSpPr>
            <a:spLocks noGrp="1"/>
          </p:cNvSpPr>
          <p:nvPr/>
        </p:nvSpPr>
        <p:spPr>
          <a:xfrm>
            <a:off x="6080760" y="1600200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1. Confiabilidad Operacional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Disponibilidad · SLA · MTTR · Incidentes mayores</a:t>
            </a:r>
          </a:p>
        </p:txBody>
      </p:sp>
      <p:sp>
        <p:nvSpPr>
          <p:cNvPr id="117" name="rr117"/>
          <p:cNvSpPr/>
          <p:nvPr/>
        </p:nvSpPr>
        <p:spPr>
          <a:xfrm>
            <a:off x="5989320" y="2249424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8" name="tx118"/>
          <p:cNvSpPr>
            <a:spLocks noGrp="1"/>
          </p:cNvSpPr>
          <p:nvPr/>
        </p:nvSpPr>
        <p:spPr>
          <a:xfrm>
            <a:off x="6080760" y="2276856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2. Eficiencia del Service Desk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FCR · Backlog · Costo/ticket · Autoservicio %</a:t>
            </a:r>
          </a:p>
        </p:txBody>
      </p:sp>
      <p:sp>
        <p:nvSpPr>
          <p:cNvPr id="119" name="rr119"/>
          <p:cNvSpPr/>
          <p:nvPr/>
        </p:nvSpPr>
        <p:spPr>
          <a:xfrm>
            <a:off x="5989320" y="2926080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0" name="tx120"/>
          <p:cNvSpPr>
            <a:spLocks noGrp="1"/>
          </p:cNvSpPr>
          <p:nvPr/>
        </p:nvSpPr>
        <p:spPr>
          <a:xfrm>
            <a:off x="6080760" y="2953512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3. Experiencia de Usuario (XLA)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CSAT · Effort score · Sentiment · Journey</a:t>
            </a:r>
          </a:p>
        </p:txBody>
      </p:sp>
      <p:sp>
        <p:nvSpPr>
          <p:cNvPr id="121" name="rr121"/>
          <p:cNvSpPr/>
          <p:nvPr/>
        </p:nvSpPr>
        <p:spPr>
          <a:xfrm>
            <a:off x="5989320" y="3602736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6E96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2" name="tx122"/>
          <p:cNvSpPr>
            <a:spLocks noGrp="1"/>
          </p:cNvSpPr>
          <p:nvPr/>
        </p:nvSpPr>
        <p:spPr>
          <a:xfrm>
            <a:off x="6080760" y="3630168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4. Impacto de Negocio</a:t>
            </a:r>
          </a:p>
          <a:p>
            <a:pPr>
              <a:spcBef>
                <a:spcPts val="200"/>
              </a:spcBef>
            </a:pPr>
            <a:r>
              <a:rPr lang="es-CO" sz="850" b="0" i="0" err="1">
                <a:solidFill>
                  <a:srgbClr val="E8EEF0"/>
                </a:solidFill>
                <a:latin typeface="Reddit Sans"/>
                <a:ea typeface="Reddit Sans"/>
              </a:rPr>
              <a:t>Prod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. perdida · ROI · Riesg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o (regulatorios,  fraude, cumplimiento </a:t>
            </a:r>
            <a:r>
              <a:rPr lang="es-CO" sz="850" err="1">
                <a:solidFill>
                  <a:srgbClr val="E8EEF0"/>
                </a:solidFill>
                <a:latin typeface="Reddit Sans"/>
                <a:ea typeface="Reddit Sans"/>
              </a:rPr>
              <a:t>SOCs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)· Evit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ación costos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A87222FE-49B1-30B7-D180-122F8829EB1E}"/>
              </a:ext>
            </a:extLst>
          </p:cNvPr>
          <p:cNvSpPr txBox="1">
            <a:spLocks noGrp="1"/>
          </p:cNvSpPr>
          <p:nvPr/>
        </p:nvSpPr>
        <p:spPr>
          <a:xfrm>
            <a:off x="314597" y="4652772"/>
            <a:ext cx="7642860" cy="4040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EIN Presswire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Emerce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 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LinkedIn — Alan Nance, XLA Institute</a:t>
            </a:r>
            <a:endParaRPr lang="es-ES" sz="700">
              <a:solidFill>
                <a:srgbClr val="E6EDF3"/>
              </a:solidFill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256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47E7F-9AB6-5D4E-21FF-77F3815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Agentic</a:t>
            </a:r>
            <a:r>
              <a:rPr lang="es-ES"/>
              <a:t> AI: Estado Real de Adopción 2025–2026</a:t>
            </a:r>
            <a:endParaRPr lang="en-US"/>
          </a:p>
        </p:txBody>
      </p:sp>
      <p:sp>
        <p:nvSpPr>
          <p:cNvPr id="203" name="rec203"/>
          <p:cNvSpPr/>
          <p:nvPr/>
        </p:nvSpPr>
        <p:spPr>
          <a:xfrm>
            <a:off x="361900" y="663686"/>
            <a:ext cx="83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Estado real de adopción 2025–2026  ·  Brecha entre experimentación y producción plena</a:t>
            </a:r>
          </a:p>
        </p:txBody>
      </p:sp>
      <p:sp>
        <p:nvSpPr>
          <p:cNvPr id="204" name="rec204"/>
          <p:cNvSpPr/>
          <p:nvPr/>
        </p:nvSpPr>
        <p:spPr>
          <a:xfrm>
            <a:off x="397786" y="1103871"/>
            <a:ext cx="1650000" cy="1650000"/>
          </a:xfrm>
          <a:prstGeom prst="ellipse">
            <a:avLst/>
          </a:prstGeom>
          <a:solidFill>
            <a:srgbClr val="D3E4E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rec205"/>
          <p:cNvSpPr/>
          <p:nvPr/>
        </p:nvSpPr>
        <p:spPr>
          <a:xfrm>
            <a:off x="572786" y="1278871"/>
            <a:ext cx="1300000" cy="1300000"/>
          </a:xfrm>
          <a:prstGeom prst="ellipse">
            <a:avLst/>
          </a:prstGeom>
          <a:solidFill>
            <a:srgbClr val="BCD6D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2400" b="1">
                <a:solidFill>
                  <a:srgbClr val="1F6F6F"/>
                </a:solidFill>
                <a:latin typeface="Reddit Sans"/>
                <a:ea typeface="Reddit Sans"/>
              </a:rPr>
              <a:t>51%</a:t>
            </a:r>
          </a:p>
          <a:p>
            <a:pPr algn="ctr">
              <a:spcBef>
                <a:spcPts val="100"/>
              </a:spcBef>
            </a:pPr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con agentes IA</a:t>
            </a:r>
          </a:p>
          <a:p>
            <a:pPr algn="ctr"/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desplegados</a:t>
            </a:r>
          </a:p>
        </p:txBody>
      </p:sp>
      <p:sp>
        <p:nvSpPr>
          <p:cNvPr id="206" name="rec206"/>
          <p:cNvSpPr/>
          <p:nvPr/>
        </p:nvSpPr>
        <p:spPr>
          <a:xfrm>
            <a:off x="572786" y="2758871"/>
            <a:ext cx="1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 fontScale="92500"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(alguna forma)</a:t>
            </a:r>
          </a:p>
          <a:p>
            <a:pPr algn="ctr">
              <a:spcBef>
                <a:spcPts val="300"/>
              </a:spcBef>
            </a:pPr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vs 79% aún experimentando</a:t>
            </a:r>
          </a:p>
        </p:txBody>
      </p:sp>
      <p:sp>
        <p:nvSpPr>
          <p:cNvPr id="207" name="rec207"/>
          <p:cNvSpPr/>
          <p:nvPr/>
        </p:nvSpPr>
        <p:spPr>
          <a:xfrm>
            <a:off x="1982786" y="1288871"/>
            <a:ext cx="1080000" cy="1080000"/>
          </a:xfrm>
          <a:prstGeom prst="ellipse">
            <a:avLst/>
          </a:prstGeom>
          <a:solidFill>
            <a:srgbClr val="D4DBE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8" name="rec208"/>
          <p:cNvSpPr/>
          <p:nvPr/>
        </p:nvSpPr>
        <p:spPr>
          <a:xfrm>
            <a:off x="2112786" y="1418871"/>
            <a:ext cx="820000" cy="820000"/>
          </a:xfrm>
          <a:prstGeom prst="ellipse">
            <a:avLst/>
          </a:prstGeom>
          <a:solidFill>
            <a:srgbClr val="111F4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Reddit Sans"/>
                <a:ea typeface="Reddit Sans"/>
              </a:rPr>
              <a:t>11%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producción</a:t>
            </a:r>
          </a:p>
          <a:p>
            <a:pPr algn="ctr"/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plena</a:t>
            </a:r>
          </a:p>
        </p:txBody>
      </p:sp>
      <p:sp>
        <p:nvSpPr>
          <p:cNvPr id="209" name="rec209"/>
          <p:cNvSpPr/>
          <p:nvPr/>
        </p:nvSpPr>
        <p:spPr>
          <a:xfrm>
            <a:off x="1922786" y="2498871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producción total</a:t>
            </a:r>
          </a:p>
        </p:txBody>
      </p:sp>
      <p:sp>
        <p:nvSpPr>
          <p:cNvPr id="210" name="rec210"/>
          <p:cNvSpPr/>
          <p:nvPr/>
        </p:nvSpPr>
        <p:spPr>
          <a:xfrm>
            <a:off x="3132786" y="1318871"/>
            <a:ext cx="1120000" cy="1120000"/>
          </a:xfrm>
          <a:prstGeom prst="ellipse">
            <a:avLst/>
          </a:prstGeom>
          <a:solidFill>
            <a:srgbClr val="E4C4B8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rec211"/>
          <p:cNvSpPr/>
          <p:nvPr/>
        </p:nvSpPr>
        <p:spPr>
          <a:xfrm>
            <a:off x="3262786" y="1448871"/>
            <a:ext cx="860000" cy="860000"/>
          </a:xfrm>
          <a:prstGeom prst="ellipse">
            <a:avLst/>
          </a:prstGeom>
          <a:solidFill>
            <a:srgbClr val="D9B0A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500" b="1">
                <a:solidFill>
                  <a:srgbClr val="B0472B"/>
                </a:solidFill>
                <a:latin typeface="Reddit Sans"/>
                <a:ea typeface="Reddit Sans"/>
              </a:rPr>
              <a:t>&gt;40%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cancelados</a:t>
            </a:r>
          </a:p>
          <a:p>
            <a:pPr algn="ctr"/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hacia 2027</a:t>
            </a:r>
          </a:p>
        </p:txBody>
      </p:sp>
      <p:sp>
        <p:nvSpPr>
          <p:cNvPr id="212" name="rec212"/>
          <p:cNvSpPr/>
          <p:nvPr/>
        </p:nvSpPr>
        <p:spPr>
          <a:xfrm>
            <a:off x="3022786" y="255887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por costo/gobernanza</a:t>
            </a:r>
          </a:p>
          <a:p>
            <a:pPr algn="ctr"/>
            <a:r>
              <a:rPr lang="es-ES" sz="750">
                <a:solidFill>
                  <a:srgbClr val="6B6B6B"/>
                </a:solidFill>
                <a:latin typeface="Reddit Sans"/>
                <a:ea typeface="Reddit Sans"/>
              </a:rPr>
              <a:t>(Gartner proyección)</a:t>
            </a:r>
          </a:p>
        </p:txBody>
      </p:sp>
      <p:sp>
        <p:nvSpPr>
          <p:cNvPr id="213" name="rec213"/>
          <p:cNvSpPr/>
          <p:nvPr/>
        </p:nvSpPr>
        <p:spPr>
          <a:xfrm>
            <a:off x="338228" y="3424057"/>
            <a:ext cx="4044558" cy="945185"/>
          </a:xfrm>
          <a:prstGeom prst="roundRect">
            <a:avLst>
              <a:gd name="adj" fmla="val 6000"/>
            </a:avLst>
          </a:prstGeom>
          <a:noFill/>
          <a:ln>
            <a:solidFill>
              <a:schemeClr val="accent1"/>
            </a:solidFill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ROI de Automatización ITSM</a:t>
            </a:r>
          </a:p>
          <a:p>
            <a:pPr algn="ctr"/>
            <a:endParaRPr lang="es-ES" sz="950" b="1">
              <a:solidFill>
                <a:srgbClr val="132346"/>
              </a:solidFill>
              <a:latin typeface="Reddit Sans"/>
              <a:ea typeface="Reddit Sans"/>
            </a:endParaRPr>
          </a:p>
          <a:p>
            <a:pPr algn="ctr">
              <a:spcBef>
                <a:spcPts val="120"/>
              </a:spcBef>
            </a:pP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Payback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típico:</a:t>
            </a:r>
            <a:r>
              <a:rPr lang="es-ES" sz="800">
                <a:solidFill>
                  <a:srgbClr val="555555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4–9 meses </a:t>
            </a:r>
          </a:p>
          <a:p>
            <a:pPr algn="ctr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Contratos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outcome-based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: migración gradual a modelos outcome-based (Gartner/TCS)</a:t>
            </a:r>
          </a:p>
        </p:txBody>
      </p:sp>
      <p:sp>
        <p:nvSpPr>
          <p:cNvPr id="214" name="rec214"/>
          <p:cNvSpPr/>
          <p:nvPr/>
        </p:nvSpPr>
        <p:spPr>
          <a:xfrm>
            <a:off x="4689243" y="884700"/>
            <a:ext cx="41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Barreras y Casos de Éxito</a:t>
            </a:r>
          </a:p>
        </p:txBody>
      </p:sp>
      <p:sp>
        <p:nvSpPr>
          <p:cNvPr id="215" name="rec215"/>
          <p:cNvSpPr/>
          <p:nvPr/>
        </p:nvSpPr>
        <p:spPr>
          <a:xfrm>
            <a:off x="4689243" y="1164700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944454"/>
                </a:solidFill>
                <a:latin typeface="Reddit Sans"/>
                <a:ea typeface="Reddit Sans"/>
              </a:rPr>
              <a:t>Principales barreras para producción plena:</a:t>
            </a:r>
          </a:p>
        </p:txBody>
      </p:sp>
      <p:sp>
        <p:nvSpPr>
          <p:cNvPr id="216" name="rec216"/>
          <p:cNvSpPr/>
          <p:nvPr/>
        </p:nvSpPr>
        <p:spPr>
          <a:xfrm>
            <a:off x="4689243" y="142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4689243" y="1424700"/>
            <a:ext cx="21736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52% Seguridad / Privacidad</a:t>
            </a:r>
          </a:p>
        </p:txBody>
      </p:sp>
      <p:sp>
        <p:nvSpPr>
          <p:cNvPr id="218" name="rec218"/>
          <p:cNvSpPr/>
          <p:nvPr/>
        </p:nvSpPr>
        <p:spPr>
          <a:xfrm>
            <a:off x="4689243" y="179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4689243" y="1794700"/>
            <a:ext cx="21318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51% Complejidad técnica</a:t>
            </a:r>
          </a:p>
        </p:txBody>
      </p:sp>
      <p:sp>
        <p:nvSpPr>
          <p:cNvPr id="220" name="rec220"/>
          <p:cNvSpPr/>
          <p:nvPr/>
        </p:nvSpPr>
        <p:spPr>
          <a:xfrm>
            <a:off x="4689243" y="216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rec221"/>
          <p:cNvSpPr/>
          <p:nvPr/>
        </p:nvSpPr>
        <p:spPr>
          <a:xfrm>
            <a:off x="4689243" y="2164700"/>
            <a:ext cx="18392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44% Falta de personal</a:t>
            </a:r>
          </a:p>
        </p:txBody>
      </p:sp>
      <p:sp>
        <p:nvSpPr>
          <p:cNvPr id="222" name="rec222"/>
          <p:cNvSpPr/>
          <p:nvPr/>
        </p:nvSpPr>
        <p:spPr>
          <a:xfrm>
            <a:off x="4716457" y="3296957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Casos documentados en producción:</a:t>
            </a:r>
          </a:p>
        </p:txBody>
      </p:sp>
      <p:sp>
        <p:nvSpPr>
          <p:cNvPr id="223" name="rec223"/>
          <p:cNvSpPr/>
          <p:nvPr/>
        </p:nvSpPr>
        <p:spPr>
          <a:xfrm>
            <a:off x="4716457" y="3547971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Robinhood + ServiceNow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70% deflección · 2.200+ horas/mes eliminadas · 94% satisfacción empleados</a:t>
            </a:r>
          </a:p>
        </p:txBody>
      </p:sp>
      <p:sp>
        <p:nvSpPr>
          <p:cNvPr id="224" name="rec224"/>
          <p:cNvSpPr/>
          <p:nvPr/>
        </p:nvSpPr>
        <p:spPr>
          <a:xfrm>
            <a:off x="4716457" y="3895700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Honeywell + </a:t>
            </a:r>
            <a:r>
              <a:rPr lang="es-ES" sz="900" b="1" err="1">
                <a:latin typeface="Reddit Sans"/>
                <a:ea typeface="Reddit Sans"/>
              </a:rPr>
              <a:t>Moveworks</a:t>
            </a:r>
            <a:endParaRPr lang="es-ES" sz="900" b="1">
              <a:latin typeface="Reddit Sans"/>
              <a:ea typeface="Reddit Sans"/>
            </a:endParaRP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~80% volumen de tickets entrantes</a:t>
            </a:r>
          </a:p>
        </p:txBody>
      </p:sp>
      <p:sp>
        <p:nvSpPr>
          <p:cNvPr id="225" name="rec225"/>
          <p:cNvSpPr/>
          <p:nvPr/>
        </p:nvSpPr>
        <p:spPr>
          <a:xfrm>
            <a:off x="4716457" y="4243428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Salesforce + </a:t>
            </a:r>
            <a:r>
              <a:rPr lang="es-ES" sz="900" b="1" err="1">
                <a:latin typeface="Reddit Sans"/>
                <a:ea typeface="Reddit Sans"/>
              </a:rPr>
              <a:t>Agentforce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84% de 380K interacciones resueltas autónomamente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D5CDC0-E9F1-6898-0A54-17E0FAE56016}"/>
              </a:ext>
            </a:extLst>
          </p:cNvPr>
          <p:cNvSpPr txBox="1"/>
          <p:nvPr/>
        </p:nvSpPr>
        <p:spPr>
          <a:xfrm>
            <a:off x="245609" y="4593431"/>
            <a:ext cx="87194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/>
              <a:t>Fuente: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ServiceNow / Robinhood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Moveworks / Honeywell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Salesforce / Agentforce</a:t>
            </a:r>
            <a:r>
              <a:rPr lang="es-ES" sz="600">
                <a:solidFill>
                  <a:srgbClr val="2F81F7"/>
                </a:solidFill>
              </a:rPr>
              <a:t> , </a:t>
            </a:r>
            <a:r>
              <a:rPr lang="es-ES" sz="600">
                <a:solidFill>
                  <a:srgbClr val="2F81F7"/>
                </a:solidFill>
                <a:hlinkClick r:id="rId4"/>
              </a:rPr>
              <a:t>Dynatrace — Pulse of Agentic AI 2026</a:t>
            </a:r>
            <a:r>
              <a:rPr lang="es-ES" sz="600"/>
              <a:t> </a:t>
            </a:r>
          </a:p>
          <a:p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5"/>
              </a:rPr>
              <a:t>https://www.iso.org/standard/42001</a:t>
            </a:r>
            <a:r>
              <a:rPr lang="es-ES" sz="600"/>
              <a:t> , </a:t>
            </a:r>
            <a:r>
              <a:rPr lang="es-ES" sz="600">
                <a:latin typeface="Segoe UI"/>
                <a:cs typeface="Segoe UI"/>
                <a:hlinkClick r:id="rId6"/>
              </a:rPr>
              <a:t>https://www.siit.io/blog/benefits-of-outsourcing-help-desk-services  </a:t>
            </a:r>
            <a:r>
              <a:rPr lang="es-ES" sz="600">
                <a:latin typeface="Segoe UI"/>
                <a:cs typeface="Segoe UI"/>
              </a:rPr>
              <a:t>,</a:t>
            </a:r>
            <a:r>
              <a:rPr lang="es-ES" sz="600"/>
              <a:t> </a:t>
            </a:r>
            <a:r>
              <a:rPr lang="es-ES" sz="600">
                <a:latin typeface="Segoe UI"/>
                <a:cs typeface="Segoe UI"/>
                <a:hlinkClick r:id="rId7"/>
              </a:rPr>
              <a:t>https://www.superfinanciera.gov.co/publicaciones/10116081/finanzas-abiertas-obligatorias-impulsaran-el-desarrollo-del-sistema-y-la-inclusion-financiera-en-el-pais/</a:t>
            </a:r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8"/>
              </a:rPr>
              <a:t>https://www.marketreportsworld.com/</a:t>
            </a:r>
            <a:endParaRPr lang="es-ES" sz="800"/>
          </a:p>
        </p:txBody>
      </p:sp>
      <p:sp>
        <p:nvSpPr>
          <p:cNvPr id="22" name="rec218">
            <a:extLst>
              <a:ext uri="{FF2B5EF4-FFF2-40B4-BE49-F238E27FC236}">
                <a16:creationId xmlns:a16="http://schemas.microsoft.com/office/drawing/2014/main" id="{212D5787-53B2-E9AD-9B6E-A295D894C870}"/>
              </a:ext>
            </a:extLst>
          </p:cNvPr>
          <p:cNvSpPr/>
          <p:nvPr/>
        </p:nvSpPr>
        <p:spPr>
          <a:xfrm>
            <a:off x="4689243" y="252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" name="rec219">
            <a:extLst>
              <a:ext uri="{FF2B5EF4-FFF2-40B4-BE49-F238E27FC236}">
                <a16:creationId xmlns:a16="http://schemas.microsoft.com/office/drawing/2014/main" id="{F42B0093-4E78-FF55-D070-216DBD5DD605}"/>
              </a:ext>
            </a:extLst>
          </p:cNvPr>
          <p:cNvSpPr/>
          <p:nvPr/>
        </p:nvSpPr>
        <p:spPr>
          <a:xfrm>
            <a:off x="4689242" y="2529486"/>
            <a:ext cx="2512801" cy="294558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63% Regulatorios</a:t>
            </a:r>
          </a:p>
        </p:txBody>
      </p:sp>
      <p:sp>
        <p:nvSpPr>
          <p:cNvPr id="24" name="rec220">
            <a:extLst>
              <a:ext uri="{FF2B5EF4-FFF2-40B4-BE49-F238E27FC236}">
                <a16:creationId xmlns:a16="http://schemas.microsoft.com/office/drawing/2014/main" id="{53899979-C7FF-7F28-AC8B-216A44B0AC25}"/>
              </a:ext>
            </a:extLst>
          </p:cNvPr>
          <p:cNvSpPr/>
          <p:nvPr/>
        </p:nvSpPr>
        <p:spPr>
          <a:xfrm>
            <a:off x="4689243" y="289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" name="rec221">
            <a:extLst>
              <a:ext uri="{FF2B5EF4-FFF2-40B4-BE49-F238E27FC236}">
                <a16:creationId xmlns:a16="http://schemas.microsoft.com/office/drawing/2014/main" id="{E3E155CB-A915-0568-015D-7B0F64D7B4CF}"/>
              </a:ext>
            </a:extLst>
          </p:cNvPr>
          <p:cNvSpPr/>
          <p:nvPr/>
        </p:nvSpPr>
        <p:spPr>
          <a:xfrm>
            <a:off x="4705571" y="2894043"/>
            <a:ext cx="2726386" cy="310885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68% Barrera de entrada: Cambio de proveedor</a:t>
            </a:r>
          </a:p>
        </p:txBody>
      </p:sp>
    </p:spTree>
    <p:extLst>
      <p:ext uri="{BB962C8B-B14F-4D97-AF65-F5344CB8AC3E}">
        <p14:creationId xmlns:p14="http://schemas.microsoft.com/office/powerpoint/2010/main" val="1390778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6C00-F63D-59BE-9C91-40270F2E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E8F5D-9C69-D5D7-AB68-3356A36A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Roadmap de </a:t>
            </a:r>
            <a:r>
              <a:rPr lang="en-US" sz="1800" err="1"/>
              <a:t>madurez</a:t>
            </a:r>
            <a:r>
              <a:rPr lang="en-US" sz="1800"/>
              <a:t> y barreras de </a:t>
            </a:r>
            <a:r>
              <a:rPr lang="en-US" sz="1800" err="1"/>
              <a:t>adopción</a:t>
            </a:r>
            <a:r>
              <a:rPr lang="en-US" sz="1800"/>
              <a:t> de la IA</a:t>
            </a:r>
            <a:endParaRPr lang="es-ES" sz="1800" err="1"/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B9FE5455-EAB1-C0EF-45B4-625E33B5D925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Brilo AI (vía G2/OneReach.ai)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Brilo AI (vía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Digital Applied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Gartner, vía Brilo AI</a:t>
            </a:r>
            <a:r>
              <a:rPr lang="es-ES" sz="700">
                <a:solidFill>
                  <a:srgbClr val="2F81F7"/>
                </a:solidFill>
              </a:rPr>
              <a:t> , </a:t>
            </a:r>
            <a:r>
              <a:rPr lang="es-ES" sz="700">
                <a:solidFill>
                  <a:srgbClr val="2F81F7"/>
                </a:solidFill>
                <a:hlinkClick r:id="rId3"/>
              </a:rPr>
              <a:t>Dynatrace — Pulse of Agentic AI 2026</a:t>
            </a:r>
            <a:r>
              <a:rPr lang="es-ES" sz="700"/>
              <a:t> </a:t>
            </a:r>
          </a:p>
          <a:p>
            <a:pPr algn="l"/>
            <a:endParaRPr lang="es-ES" sz="750">
              <a:solidFill>
                <a:srgbClr val="6B728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B7AE3DE0-FDCD-5BDE-EA95-EBEEDA72441F}"/>
              </a:ext>
            </a:extLst>
          </p:cNvPr>
          <p:cNvSpPr/>
          <p:nvPr/>
        </p:nvSpPr>
        <p:spPr>
          <a:xfrm>
            <a:off x="997565" y="1371721"/>
            <a:ext cx="7043991" cy="164724"/>
          </a:xfrm>
          <a:prstGeom prst="rightArrow">
            <a:avLst/>
          </a:prstGeom>
          <a:solidFill>
            <a:srgbClr val="CBACE3"/>
          </a:solidFill>
          <a:ln>
            <a:solidFill>
              <a:srgbClr val="CBA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s-ES"/>
          </a:p>
        </p:txBody>
      </p:sp>
      <p:sp>
        <p:nvSpPr>
          <p:cNvPr id="15" name="Circle0">
            <a:extLst>
              <a:ext uri="{FF2B5EF4-FFF2-40B4-BE49-F238E27FC236}">
                <a16:creationId xmlns:a16="http://schemas.microsoft.com/office/drawing/2014/main" id="{1DD7BEF3-62E3-F22A-B657-21B4AB393174}"/>
              </a:ext>
            </a:extLst>
          </p:cNvPr>
          <p:cNvSpPr/>
          <p:nvPr/>
        </p:nvSpPr>
        <p:spPr>
          <a:xfrm>
            <a:off x="533671" y="2035900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Fase de Automatización Cognitiva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2025</a:t>
            </a:r>
            <a:endParaRPr lang="es-ES" sz="1000"/>
          </a:p>
        </p:txBody>
      </p:sp>
      <p:sp>
        <p:nvSpPr>
          <p:cNvPr id="19" name="Circle1">
            <a:extLst>
              <a:ext uri="{FF2B5EF4-FFF2-40B4-BE49-F238E27FC236}">
                <a16:creationId xmlns:a16="http://schemas.microsoft.com/office/drawing/2014/main" id="{C3D3155B-9B9B-DF9C-1572-ED5EA03E08E6}"/>
              </a:ext>
            </a:extLst>
          </p:cNvPr>
          <p:cNvSpPr/>
          <p:nvPr/>
        </p:nvSpPr>
        <p:spPr>
          <a:xfrm>
            <a:off x="2191514" y="2014129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Orquestación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Multiagente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2026</a:t>
            </a:r>
            <a:r>
              <a:rPr lang="en-US" sz="1000">
                <a:latin typeface="Reddit Sans"/>
                <a:ea typeface="Reddit Sans"/>
              </a:rPr>
              <a:t> </a:t>
            </a:r>
            <a:endParaRPr lang="es-ES" sz="1000"/>
          </a:p>
        </p:txBody>
      </p:sp>
      <p:sp>
        <p:nvSpPr>
          <p:cNvPr id="23" name="Circle2">
            <a:extLst>
              <a:ext uri="{FF2B5EF4-FFF2-40B4-BE49-F238E27FC236}">
                <a16:creationId xmlns:a16="http://schemas.microsoft.com/office/drawing/2014/main" id="{CDDEBF7A-0E3A-4780-706B-B7963524973E}"/>
              </a:ext>
            </a:extLst>
          </p:cNvPr>
          <p:cNvSpPr/>
          <p:nvPr/>
        </p:nvSpPr>
        <p:spPr>
          <a:xfrm>
            <a:off x="3952771" y="2041343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Operación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Autónoma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2027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/>
          </a:p>
        </p:txBody>
      </p:sp>
      <p:sp>
        <p:nvSpPr>
          <p:cNvPr id="27" name="Circle3">
            <a:extLst>
              <a:ext uri="{FF2B5EF4-FFF2-40B4-BE49-F238E27FC236}">
                <a16:creationId xmlns:a16="http://schemas.microsoft.com/office/drawing/2014/main" id="{E6AD0B4F-7733-F61D-6D2A-FBD943A9FD58}"/>
              </a:ext>
            </a:extLst>
          </p:cNvPr>
          <p:cNvSpPr/>
          <p:nvPr/>
        </p:nvSpPr>
        <p:spPr>
          <a:xfrm>
            <a:off x="5719472" y="2035900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Barreras de </a:t>
            </a:r>
            <a:r>
              <a:rPr lang="en-US" sz="1000" b="1" err="1">
                <a:latin typeface="Reddit Sans"/>
                <a:ea typeface="Reddit Sans"/>
              </a:rPr>
              <a:t>Adopción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>
              <a:latin typeface="Reddit Sans"/>
              <a:ea typeface="Reddit Sans"/>
            </a:endParaRPr>
          </a:p>
          <a:p>
            <a:pPr algn="ctr"/>
            <a:endParaRPr lang="es-ES" sz="1000" b="1">
              <a:latin typeface="Reddit Sans"/>
              <a:ea typeface="Reddit Sans"/>
            </a:endParaRP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8754AB3E-19FA-5ED0-DCBD-D9CD9E020CD8}"/>
              </a:ext>
            </a:extLst>
          </p:cNvPr>
          <p:cNvSpPr>
            <a:spLocks noGrp="1"/>
          </p:cNvSpPr>
          <p:nvPr/>
        </p:nvSpPr>
        <p:spPr>
          <a:xfrm>
            <a:off x="602850" y="2639133"/>
            <a:ext cx="1519864" cy="10728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6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000" b="1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En 2025, 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la IA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apoya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agentes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humanos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con chatbots y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clasificación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automática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,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acelerando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tareas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sin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autonomía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completa.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31" name="CuadroTexto 8">
            <a:extLst>
              <a:ext uri="{FF2B5EF4-FFF2-40B4-BE49-F238E27FC236}">
                <a16:creationId xmlns:a16="http://schemas.microsoft.com/office/drawing/2014/main" id="{29972A88-FB76-361B-345C-AF637285EECF}"/>
              </a:ext>
            </a:extLst>
          </p:cNvPr>
          <p:cNvSpPr txBox="1"/>
          <p:nvPr/>
        </p:nvSpPr>
        <p:spPr>
          <a:xfrm>
            <a:off x="2226128" y="2490107"/>
            <a:ext cx="1464129" cy="13696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n-US" sz="1000" b="0" i="0">
                <a:solidFill>
                  <a:srgbClr val="7F7F7F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 rtl="0"/>
            <a:endParaRPr lang="en-US" sz="1000" b="0" i="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2026, </a:t>
            </a:r>
          </a:p>
          <a:p>
            <a:pPr algn="ctr"/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sistemas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coordinan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flujos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completos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supervisión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validando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excepciones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decisiones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</a:t>
            </a:r>
            <a:endParaRPr lang="en-US"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3" name="CuadroTexto 16">
            <a:extLst>
              <a:ext uri="{FF2B5EF4-FFF2-40B4-BE49-F238E27FC236}">
                <a16:creationId xmlns:a16="http://schemas.microsoft.com/office/drawing/2014/main" id="{27BB7B74-54D9-2EFB-FDDD-7C8E6210A0F4}"/>
              </a:ext>
            </a:extLst>
          </p:cNvPr>
          <p:cNvSpPr txBox="1"/>
          <p:nvPr/>
        </p:nvSpPr>
        <p:spPr>
          <a:xfrm>
            <a:off x="3940628" y="2637066"/>
            <a:ext cx="1801586" cy="9387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endParaRPr lang="en-US" sz="100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2027, la IA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detecta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anomalías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auto-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remedia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previene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incidentes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intervención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 solo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casos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.​​</a:t>
            </a:r>
          </a:p>
        </p:txBody>
      </p:sp>
      <p:sp>
        <p:nvSpPr>
          <p:cNvPr id="35" name="CuadroTexto 17">
            <a:extLst>
              <a:ext uri="{FF2B5EF4-FFF2-40B4-BE49-F238E27FC236}">
                <a16:creationId xmlns:a16="http://schemas.microsoft.com/office/drawing/2014/main" id="{A87FC08A-F3DF-C97C-0305-D8740C80E197}"/>
              </a:ext>
            </a:extLst>
          </p:cNvPr>
          <p:cNvSpPr txBox="1"/>
          <p:nvPr/>
        </p:nvSpPr>
        <p:spPr>
          <a:xfrm>
            <a:off x="5807527" y="2724151"/>
            <a:ext cx="1567544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Costos 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cambio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regulación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seguridad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complejidad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técnica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falta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talento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limitan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la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adopción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plena de IA.​</a:t>
            </a:r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1991DB3-AFD0-042D-91E8-2F2B1EA34017}"/>
              </a:ext>
            </a:extLst>
          </p:cNvPr>
          <p:cNvSpPr/>
          <p:nvPr/>
        </p:nvSpPr>
        <p:spPr>
          <a:xfrm>
            <a:off x="814387" y="890715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143DC11-952E-FC0A-4FD3-4E633689BFD8}"/>
              </a:ext>
            </a:extLst>
          </p:cNvPr>
          <p:cNvSpPr/>
          <p:nvPr/>
        </p:nvSpPr>
        <p:spPr>
          <a:xfrm>
            <a:off x="2441121" y="956029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BBDD3E90-AA27-C5BD-05A3-ECC18F770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62" y="1162792"/>
            <a:ext cx="700088" cy="585788"/>
          </a:xfrm>
          <a:prstGeom prst="rect">
            <a:avLst/>
          </a:prstGeom>
        </p:spPr>
      </p:pic>
      <p:pic>
        <p:nvPicPr>
          <p:cNvPr id="17" name="Image 1">
            <a:extLst>
              <a:ext uri="{FF2B5EF4-FFF2-40B4-BE49-F238E27FC236}">
                <a16:creationId xmlns:a16="http://schemas.microsoft.com/office/drawing/2014/main" id="{78651700-F166-BDE1-27F3-04346ADE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422" y="1246945"/>
            <a:ext cx="428625" cy="48577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D2348FA2-3D7B-94EC-2CD3-C74B0F7BDAA9}"/>
              </a:ext>
            </a:extLst>
          </p:cNvPr>
          <p:cNvSpPr/>
          <p:nvPr/>
        </p:nvSpPr>
        <p:spPr>
          <a:xfrm>
            <a:off x="4220935" y="912486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C3B3C23-5397-DEF7-1642-3BF699658397}"/>
              </a:ext>
            </a:extLst>
          </p:cNvPr>
          <p:cNvSpPr/>
          <p:nvPr/>
        </p:nvSpPr>
        <p:spPr>
          <a:xfrm>
            <a:off x="6087835" y="945143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Gráfico 23" descr="Inteligencia artificial contorno">
            <a:extLst>
              <a:ext uri="{FF2B5EF4-FFF2-40B4-BE49-F238E27FC236}">
                <a16:creationId xmlns:a16="http://schemas.microsoft.com/office/drawing/2014/main" id="{35C6A644-8197-FE53-8CA5-E1E2C4BDF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5928" y="1085850"/>
            <a:ext cx="674915" cy="674915"/>
          </a:xfrm>
          <a:prstGeom prst="rect">
            <a:avLst/>
          </a:prstGeom>
        </p:spPr>
      </p:pic>
      <p:pic>
        <p:nvPicPr>
          <p:cNvPr id="30" name="Gráfico 29" descr="Cerebro izquierdo y derecho contorno">
            <a:extLst>
              <a:ext uri="{FF2B5EF4-FFF2-40B4-BE49-F238E27FC236}">
                <a16:creationId xmlns:a16="http://schemas.microsoft.com/office/drawing/2014/main" id="{06DE0EC2-F6E6-034B-E2FD-003F1AADB8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86" y="1123950"/>
            <a:ext cx="723900" cy="7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0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10FC-0026-B98C-378C-52D6BE41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4C41A606-C612-AD34-FCE1-E59441EAB7F0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Colombia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abre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una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ventana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para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industrializar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servicio</a:t>
            </a:r>
            <a:endParaRPr lang="es-ES" sz="1650" b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B3A4721-9D57-A945-2ED3-3ED7086AA915}"/>
              </a:ext>
            </a:extLst>
          </p:cNvPr>
          <p:cNvSpPr>
            <a:spLocks noGrp="1"/>
          </p:cNvSpPr>
          <p:nvPr/>
        </p:nvSpPr>
        <p:spPr>
          <a:xfrm>
            <a:off x="340179" y="553811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0">
                <a:solidFill>
                  <a:srgbClr val="9AAEE0"/>
                </a:solidFill>
              </a:defRPr>
            </a:pP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Regulación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,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digitalización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e IA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elevan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la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expectativa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del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cliente</a:t>
            </a:r>
            <a:endParaRPr lang="es-ES" sz="1200" spc="-25" err="1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5821A98-D5BD-2733-EEBB-B051423849F2}"/>
              </a:ext>
            </a:extLst>
          </p:cNvPr>
          <p:cNvSpPr txBox="1"/>
          <p:nvPr/>
        </p:nvSpPr>
        <p:spPr>
          <a:xfrm>
            <a:off x="337456" y="4661807"/>
            <a:ext cx="641712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FFFF00"/>
                </a:highlight>
              </a:rPr>
              <a:t>Fuente: </a:t>
            </a:r>
            <a:r>
              <a:rPr lang="en-US" sz="900">
                <a:highlight>
                  <a:srgbClr val="FFFF00"/>
                </a:highlight>
                <a:hlinkClick r:id="rId3"/>
              </a:rPr>
              <a:t>https://www.superfinanciera.gov.co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4"/>
              </a:rPr>
              <a:t>[</a:t>
            </a:r>
            <a:r>
              <a:rPr lang="en-US" sz="900" err="1">
                <a:highlight>
                  <a:srgbClr val="FFFF00"/>
                </a:highlight>
                <a:hlinkClick r:id="rId4"/>
              </a:rPr>
              <a:t>superfinan</a:t>
            </a:r>
            <a:r>
              <a:rPr lang="en-US" sz="900">
                <a:highlight>
                  <a:srgbClr val="FFFF00"/>
                </a:highlight>
                <a:hlinkClick r:id="rId4"/>
              </a:rPr>
              <a:t>...era.gov.co]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https://www.iso.org/standard/42001</a:t>
            </a:r>
            <a:r>
              <a:rPr lang="en-US" sz="900">
                <a:highlight>
                  <a:srgbClr val="FFFF00"/>
                </a:highlight>
              </a:rPr>
              <a:t>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[iso.org]</a:t>
            </a:r>
            <a:endParaRPr lang="en-US" sz="900">
              <a:highlight>
                <a:srgbClr val="FFFF00"/>
              </a:highlight>
            </a:endParaRPr>
          </a:p>
          <a:p>
            <a:endParaRPr lang="en-US" sz="800"/>
          </a:p>
        </p:txBody>
      </p:sp>
      <p:sp>
        <p:nvSpPr>
          <p:cNvPr id="101" name="kpiIcon"/>
          <p:cNvSpPr/>
          <p:nvPr/>
        </p:nvSpPr>
        <p:spPr>
          <a:xfrm>
            <a:off x="343000" y="930000"/>
            <a:ext cx="360000" cy="360000"/>
          </a:xfrm>
          <a:prstGeom prst="ellipse">
            <a:avLst/>
          </a:prstGeom>
          <a:solidFill>
            <a:srgbClr val="0C2362"/>
          </a:solidFill>
        </p:spPr>
        <p:txBody>
          <a:bodyPr/>
          <a:lstStyle/>
          <a:p>
            <a:endParaRPr lang="es-ES"/>
          </a:p>
        </p:txBody>
      </p:sp>
      <p:sp>
        <p:nvSpPr>
          <p:cNvPr id="102" name="ic"/>
          <p:cNvSpPr/>
          <p:nvPr/>
        </p:nvSpPr>
        <p:spPr>
          <a:xfrm>
            <a:off x="438000" y="985000"/>
            <a:ext cx="170000" cy="95000"/>
          </a:xfrm>
          <a:prstGeom prst="triangl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3" name="ic"/>
          <p:cNvSpPr/>
          <p:nvPr/>
        </p:nvSpPr>
        <p:spPr>
          <a:xfrm>
            <a:off x="435000" y="1090000"/>
            <a:ext cx="176000" cy="3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4" name="txt"/>
          <p:cNvSpPr txBox="1"/>
          <p:nvPr/>
        </p:nvSpPr>
        <p:spPr>
          <a:xfrm>
            <a:off x="773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C2362"/>
                </a:solidFill>
                <a:latin typeface="Reddit Sans"/>
                <a:ea typeface="Reddit Sans"/>
                <a:cs typeface="Reddit Sans"/>
              </a:rPr>
              <a:t>81%</a:t>
            </a:r>
          </a:p>
        </p:txBody>
      </p:sp>
      <p:sp>
        <p:nvSpPr>
          <p:cNvPr id="105" name="txt"/>
          <p:cNvSpPr txBox="1"/>
          <p:nvPr/>
        </p:nvSpPr>
        <p:spPr>
          <a:xfrm>
            <a:off x="773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Uso de IA en banca colombiana</a:t>
            </a:r>
          </a:p>
        </p:txBody>
      </p:sp>
      <p:sp>
        <p:nvSpPr>
          <p:cNvPr id="106" name="kpiIcon"/>
          <p:cNvSpPr/>
          <p:nvPr/>
        </p:nvSpPr>
        <p:spPr>
          <a:xfrm>
            <a:off x="3225000" y="930000"/>
            <a:ext cx="360000" cy="360000"/>
          </a:xfrm>
          <a:prstGeom prst="ellipse">
            <a:avLst/>
          </a:prstGeom>
          <a:solidFill>
            <a:srgbClr val="0B4DC4"/>
          </a:solidFill>
        </p:spPr>
        <p:txBody>
          <a:bodyPr/>
          <a:lstStyle/>
          <a:p>
            <a:endParaRPr lang="es-ES"/>
          </a:p>
        </p:txBody>
      </p:sp>
      <p:sp>
        <p:nvSpPr>
          <p:cNvPr id="107" name="ic"/>
          <p:cNvSpPr/>
          <p:nvPr/>
        </p:nvSpPr>
        <p:spPr>
          <a:xfrm>
            <a:off x="3335000" y="985000"/>
            <a:ext cx="140000" cy="190000"/>
          </a:xfrm>
          <a:prstGeom prst="upArrow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8" name="txt"/>
          <p:cNvSpPr txBox="1"/>
          <p:nvPr/>
        </p:nvSpPr>
        <p:spPr>
          <a:xfrm>
            <a:off x="3655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B4DC4"/>
                </a:solidFill>
                <a:latin typeface="Reddit Sans"/>
                <a:ea typeface="Reddit Sans"/>
                <a:cs typeface="Reddit Sans"/>
              </a:rPr>
              <a:t>13.82%</a:t>
            </a:r>
          </a:p>
        </p:txBody>
      </p:sp>
      <p:sp>
        <p:nvSpPr>
          <p:cNvPr id="109" name="txt"/>
          <p:cNvSpPr txBox="1"/>
          <p:nvPr/>
        </p:nvSpPr>
        <p:spPr>
          <a:xfrm>
            <a:off x="3655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Servicios crecen más rápido que soluciones</a:t>
            </a:r>
          </a:p>
        </p:txBody>
      </p:sp>
      <p:sp>
        <p:nvSpPr>
          <p:cNvPr id="110" name="kpiIcon"/>
          <p:cNvSpPr/>
          <p:nvPr/>
        </p:nvSpPr>
        <p:spPr>
          <a:xfrm>
            <a:off x="6107000" y="930000"/>
            <a:ext cx="360000" cy="360000"/>
          </a:xfrm>
          <a:prstGeom prst="ellipse">
            <a:avLst/>
          </a:prstGeom>
          <a:solidFill>
            <a:srgbClr val="2E8B8D"/>
          </a:solidFill>
        </p:spPr>
        <p:txBody>
          <a:bodyPr/>
          <a:lstStyle/>
          <a:p>
            <a:endParaRPr lang="es-ES"/>
          </a:p>
        </p:txBody>
      </p:sp>
      <p:sp>
        <p:nvSpPr>
          <p:cNvPr id="111" name="ic"/>
          <p:cNvSpPr/>
          <p:nvPr/>
        </p:nvSpPr>
        <p:spPr>
          <a:xfrm rot="8100000">
            <a:off x="6222000" y="985000"/>
            <a:ext cx="140000" cy="150000"/>
          </a:xfrm>
          <a:prstGeom prst="teardrop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2" name="txt"/>
          <p:cNvSpPr txBox="1"/>
          <p:nvPr/>
        </p:nvSpPr>
        <p:spPr>
          <a:xfrm>
            <a:off x="6537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2E8B8D"/>
                </a:solidFill>
                <a:latin typeface="Reddit Sans"/>
                <a:ea typeface="Reddit Sans"/>
                <a:cs typeface="Reddit Sans"/>
              </a:rPr>
              <a:t>14.08%</a:t>
            </a:r>
          </a:p>
        </p:txBody>
      </p:sp>
      <p:sp>
        <p:nvSpPr>
          <p:cNvPr id="113" name="txt"/>
          <p:cNvSpPr txBox="1"/>
          <p:nvPr/>
        </p:nvSpPr>
        <p:spPr>
          <a:xfrm>
            <a:off x="6537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CAGR ITSM Colombia hasta 2031</a:t>
            </a:r>
          </a:p>
        </p:txBody>
      </p:sp>
      <p:sp>
        <p:nvSpPr>
          <p:cNvPr id="116" name="ic"/>
          <p:cNvSpPr/>
          <p:nvPr/>
        </p:nvSpPr>
        <p:spPr>
          <a:xfrm rot="5400000">
            <a:off x="486229" y="1730000"/>
            <a:ext cx="198358" cy="198358"/>
          </a:xfrm>
          <a:prstGeom prst="homePlat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7" name="txt"/>
          <p:cNvSpPr txBox="1"/>
          <p:nvPr/>
        </p:nvSpPr>
        <p:spPr>
          <a:xfrm>
            <a:off x="451243" y="1653671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BANCA Y SEGUROS</a:t>
            </a:r>
          </a:p>
        </p:txBody>
      </p:sp>
      <p:sp>
        <p:nvSpPr>
          <p:cNvPr id="118" name="txt"/>
          <p:cNvSpPr txBox="1"/>
          <p:nvPr/>
        </p:nvSpPr>
        <p:spPr>
          <a:xfrm>
            <a:off x="473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transaccional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SFC / SOX, fraude tiempo real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BCP / DRP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SURA y Bancolombia actuales</a:t>
            </a:r>
          </a:p>
        </p:txBody>
      </p:sp>
      <p:sp>
        <p:nvSpPr>
          <p:cNvPr id="122" name="txt"/>
          <p:cNvSpPr txBox="1"/>
          <p:nvPr/>
        </p:nvSpPr>
        <p:spPr>
          <a:xfrm>
            <a:off x="3349571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SALUD (EPS/IPS)</a:t>
            </a:r>
          </a:p>
        </p:txBody>
      </p:sp>
      <p:sp>
        <p:nvSpPr>
          <p:cNvPr id="123" name="txt"/>
          <p:cNvSpPr txBox="1"/>
          <p:nvPr/>
        </p:nvSpPr>
        <p:spPr>
          <a:xfrm>
            <a:off x="3355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asistencial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Historia clínica digital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y compliance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Minsalud</a:t>
            </a:r>
          </a:p>
        </p:txBody>
      </p:sp>
      <p:sp>
        <p:nvSpPr>
          <p:cNvPr id="127" name="txt"/>
          <p:cNvSpPr txBox="1"/>
          <p:nvPr/>
        </p:nvSpPr>
        <p:spPr>
          <a:xfrm>
            <a:off x="6286000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ENERGÍA Y UTILITIES</a:t>
            </a:r>
          </a:p>
        </p:txBody>
      </p:sp>
      <p:sp>
        <p:nvSpPr>
          <p:cNvPr id="128" name="txt"/>
          <p:cNvSpPr txBox="1"/>
          <p:nvPr/>
        </p:nvSpPr>
        <p:spPr>
          <a:xfrm>
            <a:off x="6237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Operación crítica 24x7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AIOps y observabilidad predictiva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Eventos críticos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XM y AES</a:t>
            </a:r>
          </a:p>
        </p:txBody>
      </p:sp>
      <p:sp>
        <p:nvSpPr>
          <p:cNvPr id="131" name="txt"/>
          <p:cNvSpPr txBox="1"/>
          <p:nvPr/>
        </p:nvSpPr>
        <p:spPr>
          <a:xfrm>
            <a:off x="773000" y="2810000"/>
            <a:ext cx="3450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5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  <a:cs typeface="Reddit Sans"/>
              </a:rPr>
              <a:t>REGULACIÓN: ACELERADOR DE LA DEMANDA</a:t>
            </a:r>
          </a:p>
        </p:txBody>
      </p:sp>
      <p:sp>
        <p:nvSpPr>
          <p:cNvPr id="133" name="txt"/>
          <p:cNvSpPr txBox="1"/>
          <p:nvPr/>
        </p:nvSpPr>
        <p:spPr>
          <a:xfrm>
            <a:off x="3972257" y="2777343"/>
            <a:ext cx="4276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950">
                <a:solidFill>
                  <a:schemeClr val="tx1"/>
                </a:solidFill>
                <a:latin typeface="Reddit Sans"/>
                <a:ea typeface="Reddit Sans"/>
                <a:cs typeface="Reddit Sans"/>
              </a:rPr>
              <a:t>Cumplimiento obligatorio que genera demanda de servicios gestionados</a:t>
            </a:r>
          </a:p>
        </p:txBody>
      </p:sp>
      <p:sp>
        <p:nvSpPr>
          <p:cNvPr id="137" name="txt"/>
          <p:cNvSpPr txBox="1"/>
          <p:nvPr/>
        </p:nvSpPr>
        <p:spPr>
          <a:xfrm>
            <a:off x="343900" y="3215000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SFC CIRCULAR 007 (2024)</a:t>
            </a:r>
          </a:p>
        </p:txBody>
      </p:sp>
      <p:sp>
        <p:nvSpPr>
          <p:cNvPr id="138" name="txt"/>
          <p:cNvSpPr txBox="1"/>
          <p:nvPr/>
        </p:nvSpPr>
        <p:spPr>
          <a:xfrm>
            <a:off x="453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SIEM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Gestión de incidentes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Gobernanza tecnológica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obligatoria</a:t>
            </a:r>
          </a:p>
        </p:txBody>
      </p:sp>
      <p:sp>
        <p:nvSpPr>
          <p:cNvPr id="142" name="txt"/>
          <p:cNvSpPr txBox="1"/>
          <p:nvPr/>
        </p:nvSpPr>
        <p:spPr>
          <a:xfrm>
            <a:off x="3274886" y="3187786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OPEN FINANCE (ago 2026)</a:t>
            </a:r>
          </a:p>
        </p:txBody>
      </p:sp>
      <p:sp>
        <p:nvSpPr>
          <p:cNvPr id="143" name="txt"/>
          <p:cNvSpPr txBox="1"/>
          <p:nvPr/>
        </p:nvSpPr>
        <p:spPr>
          <a:xfrm>
            <a:off x="3335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APIs abiertas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de canales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Nuevos vectores de riesgo operacional</a:t>
            </a:r>
          </a:p>
        </p:txBody>
      </p:sp>
      <p:sp>
        <p:nvSpPr>
          <p:cNvPr id="146" name="glyph"/>
          <p:cNvSpPr txBox="1"/>
          <p:nvPr/>
        </p:nvSpPr>
        <p:spPr>
          <a:xfrm>
            <a:off x="6187000" y="3225000"/>
            <a:ext cx="300000" cy="3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s-ES" sz="700" b="1">
                <a:solidFill>
                  <a:srgbClr val="FFFFFF"/>
                </a:solidFill>
                <a:latin typeface="Reddit Sans"/>
              </a:rPr>
              <a:t>ISO</a:t>
            </a:r>
          </a:p>
        </p:txBody>
      </p:sp>
      <p:sp>
        <p:nvSpPr>
          <p:cNvPr id="147" name="txt"/>
          <p:cNvSpPr txBox="1"/>
          <p:nvPr/>
        </p:nvSpPr>
        <p:spPr>
          <a:xfrm>
            <a:off x="6140557" y="3204114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ISO 42001 IA</a:t>
            </a:r>
          </a:p>
        </p:txBody>
      </p:sp>
      <p:sp>
        <p:nvSpPr>
          <p:cNvPr id="148" name="txt"/>
          <p:cNvSpPr txBox="1"/>
          <p:nvPr/>
        </p:nvSpPr>
        <p:spPr>
          <a:xfrm>
            <a:off x="6217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Gobierno de 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Responsabilidad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Transparencia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Auditabilidad. Exigido por grandes clientes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0C981B3-81A0-CD9E-A9E4-78CB43BD6637}"/>
              </a:ext>
            </a:extLst>
          </p:cNvPr>
          <p:cNvCxnSpPr/>
          <p:nvPr/>
        </p:nvCxnSpPr>
        <p:spPr>
          <a:xfrm flipV="1">
            <a:off x="345192" y="3052869"/>
            <a:ext cx="8403485" cy="4297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42C067BF-548D-5FD6-B0DB-5EF693F37227}"/>
              </a:ext>
            </a:extLst>
          </p:cNvPr>
          <p:cNvGrpSpPr/>
          <p:nvPr/>
        </p:nvGrpSpPr>
        <p:grpSpPr>
          <a:xfrm>
            <a:off x="338228" y="4245928"/>
            <a:ext cx="7016357" cy="357359"/>
            <a:chOff x="338228" y="4349342"/>
            <a:chExt cx="7299385" cy="357359"/>
          </a:xfrm>
        </p:grpSpPr>
        <p:sp>
          <p:nvSpPr>
            <p:cNvPr id="151" name="txt"/>
            <p:cNvSpPr txBox="1"/>
            <p:nvPr/>
          </p:nvSpPr>
          <p:spPr>
            <a:xfrm>
              <a:off x="425671" y="4351386"/>
              <a:ext cx="5864043" cy="313229"/>
            </a:xfrm>
            <a:prstGeom prst="rect">
              <a:avLst/>
            </a:prstGeom>
            <a:noFill/>
          </p:spPr>
          <p:txBody>
            <a:bodyPr wrap="square" lIns="18000" tIns="9000" rIns="18000" bIns="9000" anchor="ctr">
              <a:normAutofit/>
            </a:bodyPr>
            <a:lstStyle/>
            <a:p>
              <a:pPr algn="l"/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La regulación está transformando el Service </a:t>
              </a:r>
              <a:r>
                <a:rPr lang="es-ES" sz="1050" b="1" err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Desk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 en una </a:t>
              </a:r>
              <a:r>
                <a:rPr lang="es-ES" sz="1050" b="1">
                  <a:solidFill>
                    <a:schemeClr val="accent1">
                      <a:lumMod val="49000"/>
                    </a:schemeClr>
                  </a:solidFill>
                  <a:latin typeface="Reddit Sans"/>
                  <a:ea typeface="Reddit Sans"/>
                  <a:cs typeface="Reddit Sans"/>
                </a:rPr>
                <a:t>capacidad crítica 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del negocio.</a:t>
              </a:r>
            </a:p>
          </p:txBody>
        </p:sp>
        <p:sp>
          <p:nvSpPr>
            <p:cNvPr id="5" name="rec213">
              <a:extLst>
                <a:ext uri="{FF2B5EF4-FFF2-40B4-BE49-F238E27FC236}">
                  <a16:creationId xmlns:a16="http://schemas.microsoft.com/office/drawing/2014/main" id="{9DE38FBE-B974-E01E-8EFA-A65A4CD8478A}"/>
                </a:ext>
              </a:extLst>
            </p:cNvPr>
            <p:cNvSpPr/>
            <p:nvPr/>
          </p:nvSpPr>
          <p:spPr>
            <a:xfrm>
              <a:off x="338228" y="4349342"/>
              <a:ext cx="7299385" cy="357359"/>
            </a:xfrm>
            <a:prstGeom prst="roundRect">
              <a:avLst>
                <a:gd name="adj" fmla="val 6000"/>
              </a:avLst>
            </a:prstGeom>
            <a:noFill/>
            <a:ln>
              <a:solidFill>
                <a:schemeClr val="accent1"/>
              </a:solidFill>
            </a:ln>
          </p:spPr>
          <p:txBody>
            <a:bodyPr wrap="square" lIns="45720" tIns="18000" rIns="45720" bIns="18000" anchor="t">
              <a:normAutofit/>
            </a:bodyPr>
            <a:lstStyle/>
            <a:p>
              <a:pPr algn="ctr"/>
              <a:endParaRPr lang="es-ES" sz="950" b="1">
                <a:solidFill>
                  <a:srgbClr val="132346"/>
                </a:solidFill>
                <a:latin typeface="Reddit Sans"/>
                <a:ea typeface="Reddi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225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F145EE0-E561-FEDD-0C89-684520E996B9}"/>
              </a:ext>
            </a:extLst>
          </p:cNvPr>
          <p:cNvSpPr/>
          <p:nvPr/>
        </p:nvSpPr>
        <p:spPr>
          <a:xfrm>
            <a:off x="348343" y="9149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BFDA1F-B97B-FF8B-A810-F7E06937EFF1}"/>
              </a:ext>
            </a:extLst>
          </p:cNvPr>
          <p:cNvSpPr/>
          <p:nvPr/>
        </p:nvSpPr>
        <p:spPr>
          <a:xfrm>
            <a:off x="522514" y="9319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11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6FD97E7-60D9-A9C3-3133-8B4DB1EDCFCF}"/>
              </a:ext>
            </a:extLst>
          </p:cNvPr>
          <p:cNvSpPr/>
          <p:nvPr/>
        </p:nvSpPr>
        <p:spPr>
          <a:xfrm>
            <a:off x="522514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Mesas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2EAD06-D9DA-48BD-49DD-24A84487FEAA}"/>
              </a:ext>
            </a:extLst>
          </p:cNvPr>
          <p:cNvSpPr/>
          <p:nvPr/>
        </p:nvSpPr>
        <p:spPr>
          <a:xfrm>
            <a:off x="1907068" y="9149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C601815-30F7-DFDA-B98B-2FB993338CB6}"/>
              </a:ext>
            </a:extLst>
          </p:cNvPr>
          <p:cNvSpPr/>
          <p:nvPr/>
        </p:nvSpPr>
        <p:spPr>
          <a:xfrm>
            <a:off x="2064911" y="9319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17490"/>
                </a:solidFill>
                <a:latin typeface="Reddit Sans Light"/>
                <a:ea typeface="Calibri"/>
                <a:cs typeface="Reddit Sans Light"/>
              </a:rPr>
              <a:t>57</a:t>
            </a:r>
            <a:endParaRPr lang="en-US" sz="300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3A6272A-CFCF-7A50-12C1-F31339E8BE35}"/>
              </a:ext>
            </a:extLst>
          </p:cNvPr>
          <p:cNvSpPr/>
          <p:nvPr/>
        </p:nvSpPr>
        <p:spPr>
          <a:xfrm>
            <a:off x="2064911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75">
                <a:solidFill>
                  <a:srgbClr val="5A6472"/>
                </a:solidFill>
                <a:latin typeface="Reddit Sans Light"/>
                <a:ea typeface="Calibri Light" pitchFamily="34" charset="-122"/>
                <a:cs typeface="Reddit Sans Light"/>
              </a:rPr>
              <a:t>FTE totales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9F71853-6564-A7BC-D8B0-D167CA5F647F}"/>
              </a:ext>
            </a:extLst>
          </p:cNvPr>
          <p:cNvSpPr/>
          <p:nvPr/>
        </p:nvSpPr>
        <p:spPr>
          <a:xfrm>
            <a:off x="3520222" y="9203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794636-C541-3A48-3C9E-D80BB73EC66F}"/>
              </a:ext>
            </a:extLst>
          </p:cNvPr>
          <p:cNvSpPr/>
          <p:nvPr/>
        </p:nvSpPr>
        <p:spPr>
          <a:xfrm>
            <a:off x="3705279" y="9373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B3261E"/>
                </a:solidFill>
                <a:latin typeface="Reddit Sans Light"/>
                <a:ea typeface="Calibri"/>
                <a:cs typeface="Reddit Sans Light"/>
              </a:rPr>
              <a:t>2</a:t>
            </a:r>
            <a:endParaRPr lang="en-US" sz="3000" b="1" dirty="0">
              <a:solidFill>
                <a:srgbClr val="B3261E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B954CE0-F03D-7590-5363-C3A58DAE5E55}"/>
              </a:ext>
            </a:extLst>
          </p:cNvPr>
          <p:cNvSpPr/>
          <p:nvPr/>
        </p:nvSpPr>
        <p:spPr>
          <a:xfrm>
            <a:off x="3705279" y="14860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950" dirty="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 N3</a:t>
            </a:r>
            <a:endParaRPr lang="en-US" sz="950" dirty="0"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FDC9B93-707B-C2BF-913D-568E2AAC1F34}"/>
              </a:ext>
            </a:extLst>
          </p:cNvPr>
          <p:cNvSpPr/>
          <p:nvPr/>
        </p:nvSpPr>
        <p:spPr>
          <a:xfrm>
            <a:off x="5078947" y="925830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DA9FAC-E29B-87AD-F1AC-8D3881AC4186}"/>
              </a:ext>
            </a:extLst>
          </p:cNvPr>
          <p:cNvSpPr/>
          <p:nvPr/>
        </p:nvSpPr>
        <p:spPr>
          <a:xfrm>
            <a:off x="5274890" y="9373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4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EAACE51-BC11-9F28-D4EB-E90BA7B2AA55}"/>
              </a:ext>
            </a:extLst>
          </p:cNvPr>
          <p:cNvSpPr/>
          <p:nvPr/>
        </p:nvSpPr>
        <p:spPr>
          <a:xfrm>
            <a:off x="5274890" y="14479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Clientes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4996C0-D6D7-24E3-25E1-EB43CBF58650}"/>
              </a:ext>
            </a:extLst>
          </p:cNvPr>
          <p:cNvSpPr/>
          <p:nvPr/>
        </p:nvSpPr>
        <p:spPr>
          <a:xfrm>
            <a:off x="332014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CC30066-899D-3C09-3059-9BB6B2602527}"/>
              </a:ext>
            </a:extLst>
          </p:cNvPr>
          <p:cNvSpPr/>
          <p:nvPr/>
        </p:nvSpPr>
        <p:spPr>
          <a:xfrm>
            <a:off x="332014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4CF1C35-E4D3-0C6A-7A97-AF081690E26D}"/>
              </a:ext>
            </a:extLst>
          </p:cNvPr>
          <p:cNvSpPr/>
          <p:nvPr/>
        </p:nvSpPr>
        <p:spPr>
          <a:xfrm>
            <a:off x="434884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N1 · Operación Reactiva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9053475-1421-F7C8-AD15-75DB9723B730}"/>
              </a:ext>
            </a:extLst>
          </p:cNvPr>
          <p:cNvSpPr/>
          <p:nvPr/>
        </p:nvSpPr>
        <p:spPr>
          <a:xfrm>
            <a:off x="1931669" y="2006781"/>
            <a:ext cx="81751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6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64960B-23C8-45DA-2745-C36574CC176D}"/>
              </a:ext>
            </a:extLst>
          </p:cNvPr>
          <p:cNvSpPr/>
          <p:nvPr/>
        </p:nvSpPr>
        <p:spPr>
          <a:xfrm>
            <a:off x="534489" y="3047454"/>
            <a:ext cx="2539636" cy="703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Integración</a:t>
            </a: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  <a:endParaRPr lang="en-US" sz="1000" dirty="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Datos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Emma</a:t>
            </a:r>
            <a:endParaRPr lang="en-US" sz="1000" dirty="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Emma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Iseries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E80C49-1784-AFE6-C216-5CE00A928742}"/>
              </a:ext>
            </a:extLst>
          </p:cNvPr>
          <p:cNvSpPr/>
          <p:nvPr/>
        </p:nvSpPr>
        <p:spPr>
          <a:xfrm>
            <a:off x="3267238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4F05A97-B24A-C53A-D343-169FE3831E11}"/>
              </a:ext>
            </a:extLst>
          </p:cNvPr>
          <p:cNvSpPr/>
          <p:nvPr/>
        </p:nvSpPr>
        <p:spPr>
          <a:xfrm>
            <a:off x="3267238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2BEB23B-D0A0-26DC-FF99-9ABFEA148B3D}"/>
              </a:ext>
            </a:extLst>
          </p:cNvPr>
          <p:cNvSpPr/>
          <p:nvPr/>
        </p:nvSpPr>
        <p:spPr>
          <a:xfrm>
            <a:off x="3370108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N2 · Herramienta 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C5DEF9A-FFC6-13CE-8541-DF862A2A84FA}"/>
              </a:ext>
            </a:extLst>
          </p:cNvPr>
          <p:cNvSpPr/>
          <p:nvPr/>
        </p:nvSpPr>
        <p:spPr>
          <a:xfrm>
            <a:off x="4888665" y="1990453"/>
            <a:ext cx="7685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2653892-AC8C-CBD6-79C1-85AAC042BB70}"/>
              </a:ext>
            </a:extLst>
          </p:cNvPr>
          <p:cNvSpPr/>
          <p:nvPr/>
        </p:nvSpPr>
        <p:spPr>
          <a:xfrm>
            <a:off x="2996183" y="2944042"/>
            <a:ext cx="1815737" cy="53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 Digital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Canales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Masivos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6DB335E-8497-36B2-29D1-A99F72ACCB5F}"/>
              </a:ext>
            </a:extLst>
          </p:cNvPr>
          <p:cNvSpPr/>
          <p:nvPr/>
        </p:nvSpPr>
        <p:spPr>
          <a:xfrm>
            <a:off x="6202462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9CCE7CF-3E2A-DC0B-B2FA-FE8DB1E34887}"/>
              </a:ext>
            </a:extLst>
          </p:cNvPr>
          <p:cNvSpPr/>
          <p:nvPr/>
        </p:nvSpPr>
        <p:spPr>
          <a:xfrm>
            <a:off x="6202462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436C922-BFF7-8292-582C-A83FAA29A772}"/>
              </a:ext>
            </a:extLst>
          </p:cNvPr>
          <p:cNvSpPr/>
          <p:nvPr/>
        </p:nvSpPr>
        <p:spPr>
          <a:xfrm>
            <a:off x="6289003" y="1936024"/>
            <a:ext cx="4093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N3</a:t>
            </a:r>
            <a:endParaRPr lang="en-US" sz="975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552EAD8-AA87-92D6-6974-D301B38A6547}"/>
              </a:ext>
            </a:extLst>
          </p:cNvPr>
          <p:cNvSpPr/>
          <p:nvPr/>
        </p:nvSpPr>
        <p:spPr>
          <a:xfrm>
            <a:off x="7987174" y="1990453"/>
            <a:ext cx="60524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2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3A66E8B3-3227-F4DF-9117-22E082EE5136}"/>
              </a:ext>
            </a:extLst>
          </p:cNvPr>
          <p:cNvSpPr/>
          <p:nvPr/>
        </p:nvSpPr>
        <p:spPr>
          <a:xfrm>
            <a:off x="6339622" y="24160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25"/>
              </a:spcAft>
              <a:buNone/>
            </a:pPr>
            <a:endParaRPr lang="en-US" sz="938">
              <a:latin typeface="Reddit Sans Light"/>
              <a:cs typeface="Reddit Sans Light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617E2F5-3A18-ACE4-E271-63674AA1C2BA}"/>
              </a:ext>
            </a:extLst>
          </p:cNvPr>
          <p:cNvSpPr/>
          <p:nvPr/>
        </p:nvSpPr>
        <p:spPr>
          <a:xfrm>
            <a:off x="342900" y="4349931"/>
            <a:ext cx="8455914" cy="327225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690CF84A-296B-2272-5D41-DB6EC483EA01}"/>
              </a:ext>
            </a:extLst>
          </p:cNvPr>
          <p:cNvSpPr/>
          <p:nvPr/>
        </p:nvSpPr>
        <p:spPr>
          <a:xfrm>
            <a:off x="480060" y="4366260"/>
            <a:ext cx="818159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este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levantamiento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inicial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no se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incluyó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a (no evaluada),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ya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que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actualmente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se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encuentra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proceso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de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empalme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.</a:t>
            </a:r>
            <a:endParaRPr lang="es-ES" sz="1100" b="1">
              <a:solidFill>
                <a:schemeClr val="accent1">
                  <a:lumMod val="49000"/>
                </a:schemeClr>
              </a:solidFill>
              <a:latin typeface="Reddit Sans Light"/>
              <a:cs typeface="Reddit Sans Light"/>
            </a:endParaRPr>
          </a:p>
          <a:p>
            <a:endParaRPr lang="en-US" sz="950" b="1" dirty="0">
              <a:solidFill>
                <a:schemeClr val="accent1">
                  <a:lumMod val="49000"/>
                </a:schemeClr>
              </a:solidFill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7A8C7BD1-9176-A15B-5946-3D3FC0332A13}"/>
              </a:ext>
            </a:extLst>
          </p:cNvPr>
          <p:cNvSpPr/>
          <p:nvPr/>
        </p:nvSpPr>
        <p:spPr>
          <a:xfrm>
            <a:off x="6289112" y="2944041"/>
            <a:ext cx="917666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A0D4B0DF-F4E8-7E49-32F1-8519B02EC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4" y="2364921"/>
            <a:ext cx="487137" cy="206829"/>
          </a:xfrm>
          <a:prstGeom prst="rect">
            <a:avLst/>
          </a:prstGeom>
        </p:spPr>
      </p:pic>
      <p:pic>
        <p:nvPicPr>
          <p:cNvPr id="7" name="Gráfico 6" descr="Logo Bancolombia">
            <a:extLst>
              <a:ext uri="{FF2B5EF4-FFF2-40B4-BE49-F238E27FC236}">
                <a16:creationId xmlns:a16="http://schemas.microsoft.com/office/drawing/2014/main" id="{43D69C67-E535-7C60-A4E0-120FBA08E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22" y="2673122"/>
            <a:ext cx="1326697" cy="374197"/>
          </a:xfrm>
          <a:prstGeom prst="rect">
            <a:avLst/>
          </a:prstGeom>
        </p:spPr>
      </p:pic>
      <p:pic>
        <p:nvPicPr>
          <p:cNvPr id="9" name="Gráfico 8" descr="logo Sura">
            <a:extLst>
              <a:ext uri="{FF2B5EF4-FFF2-40B4-BE49-F238E27FC236}">
                <a16:creationId xmlns:a16="http://schemas.microsoft.com/office/drawing/2014/main" id="{76884242-5B78-E8F5-196D-24CD95343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853" y="2400299"/>
            <a:ext cx="987879" cy="342901"/>
          </a:xfrm>
          <a:prstGeom prst="rect">
            <a:avLst/>
          </a:prstGeom>
        </p:spPr>
      </p:pic>
      <p:pic>
        <p:nvPicPr>
          <p:cNvPr id="11" name="Imagen 10" descr="Logo">
            <a:extLst>
              <a:ext uri="{FF2B5EF4-FFF2-40B4-BE49-F238E27FC236}">
                <a16:creationId xmlns:a16="http://schemas.microsoft.com/office/drawing/2014/main" id="{895562EC-799E-D3C4-DC5A-4BE673F2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21" y="2363561"/>
            <a:ext cx="778331" cy="410937"/>
          </a:xfrm>
          <a:prstGeom prst="rect">
            <a:avLst/>
          </a:prstGeom>
        </p:spPr>
      </p:pic>
      <p:pic>
        <p:nvPicPr>
          <p:cNvPr id="15" name="Gráfico 14" descr="logo Sura">
            <a:extLst>
              <a:ext uri="{FF2B5EF4-FFF2-40B4-BE49-F238E27FC236}">
                <a16:creationId xmlns:a16="http://schemas.microsoft.com/office/drawing/2014/main" id="{4E0D61E5-7B27-245D-52E8-8BECA618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010" y="2427513"/>
            <a:ext cx="987879" cy="342901"/>
          </a:xfrm>
          <a:prstGeom prst="rect">
            <a:avLst/>
          </a:prstGeom>
        </p:spPr>
      </p:pic>
      <p:pic>
        <p:nvPicPr>
          <p:cNvPr id="17" name="Imagen 16" descr="Logo">
            <a:extLst>
              <a:ext uri="{FF2B5EF4-FFF2-40B4-BE49-F238E27FC236}">
                <a16:creationId xmlns:a16="http://schemas.microsoft.com/office/drawing/2014/main" id="{5A463B06-EF9E-16FF-193B-A64DB0EE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78" y="2390775"/>
            <a:ext cx="778331" cy="41093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4FF19C-DA59-E7C8-94CD-FC7572D8F0DB}"/>
              </a:ext>
            </a:extLst>
          </p:cNvPr>
          <p:cNvSpPr txBox="1"/>
          <p:nvPr/>
        </p:nvSpPr>
        <p:spPr>
          <a:xfrm>
            <a:off x="7364185" y="2724149"/>
            <a:ext cx="1741715" cy="434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000" b="0" i="0">
                <a:solidFill>
                  <a:srgbClr val="000000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>
              <a:lnSpc>
                <a:spcPts val="1575"/>
              </a:lnSpc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HU</a:t>
            </a:r>
            <a:r>
              <a:rPr lang="en-US" sz="1000" b="0" i="0" u="none" strike="noStrike" baseline="0" dirty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 </a:t>
            </a:r>
            <a:r>
              <a:rPr lang="en-US" sz="1000" b="0" i="0" u="none" strike="noStrike" baseline="0" dirty="0" err="1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Evolutivas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57F8888-D775-3BF7-793F-61267ABCCDC6}"/>
              </a:ext>
            </a:extLst>
          </p:cNvPr>
          <p:cNvSpPr/>
          <p:nvPr/>
        </p:nvSpPr>
        <p:spPr>
          <a:xfrm>
            <a:off x="4819540" y="2922271"/>
            <a:ext cx="961209" cy="57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s-CO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 App Criticas</a:t>
            </a:r>
          </a:p>
        </p:txBody>
      </p:sp>
      <p:sp>
        <p:nvSpPr>
          <p:cNvPr id="29" name="ttl">
            <a:extLst>
              <a:ext uri="{FF2B5EF4-FFF2-40B4-BE49-F238E27FC236}">
                <a16:creationId xmlns:a16="http://schemas.microsoft.com/office/drawing/2014/main" id="{D6522D37-9C92-E81E-6C63-45AC32BF548F}"/>
              </a:ext>
            </a:extLst>
          </p:cNvPr>
          <p:cNvSpPr txBox="1">
            <a:spLocks noGrp="1"/>
          </p:cNvSpPr>
          <p:nvPr/>
        </p:nvSpPr>
        <p:spPr>
          <a:xfrm>
            <a:off x="320040" y="173083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</a:t>
            </a:r>
            <a:r>
              <a:rPr lang="es-ES" sz="200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Operación</a:t>
            </a:r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 Actual</a:t>
            </a:r>
          </a:p>
        </p:txBody>
      </p:sp>
      <p:sp>
        <p:nvSpPr>
          <p:cNvPr id="33" name="sub">
            <a:extLst>
              <a:ext uri="{FF2B5EF4-FFF2-40B4-BE49-F238E27FC236}">
                <a16:creationId xmlns:a16="http://schemas.microsoft.com/office/drawing/2014/main" id="{5A023ACB-452D-09FE-CAB0-D835DE0CC855}"/>
              </a:ext>
            </a:extLst>
          </p:cNvPr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Reddit Sans"/>
                <a:ea typeface="Reddit Sans"/>
              </a:rPr>
              <a:t>Banca y Seguros · Energía y </a:t>
            </a:r>
            <a:r>
              <a:rPr lang="es-ES" sz="1000" dirty="0" err="1">
                <a:solidFill>
                  <a:srgbClr val="6B7280"/>
                </a:solidFill>
                <a:latin typeface="Reddit Sans"/>
                <a:ea typeface="Reddit Sans"/>
              </a:rPr>
              <a:t>Utilities</a:t>
            </a:r>
            <a:r>
              <a:rPr lang="es-ES" sz="1000" dirty="0">
                <a:solidFill>
                  <a:srgbClr val="6B7280"/>
                </a:solidFill>
                <a:latin typeface="Reddit Sans"/>
                <a:ea typeface="Reddit Sans"/>
              </a:rPr>
              <a:t> · Diagnosticadas con modelo de madurez N0-N5 propio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EF0FF842-835D-9AA8-2EFA-E7A5FB04F8CE}"/>
              </a:ext>
            </a:extLst>
          </p:cNvPr>
          <p:cNvSpPr/>
          <p:nvPr/>
        </p:nvSpPr>
        <p:spPr>
          <a:xfrm>
            <a:off x="6717247" y="9149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F7D46063-4A67-428F-7409-01FA53B4BB0F}"/>
              </a:ext>
            </a:extLst>
          </p:cNvPr>
          <p:cNvSpPr/>
          <p:nvPr/>
        </p:nvSpPr>
        <p:spPr>
          <a:xfrm>
            <a:off x="6913190" y="926483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000" b="1" dirty="0">
              <a:solidFill>
                <a:srgbClr val="1F7A4D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E68B4E7-36CA-E303-43C9-E5B05500E214}"/>
              </a:ext>
            </a:extLst>
          </p:cNvPr>
          <p:cNvSpPr/>
          <p:nvPr/>
        </p:nvSpPr>
        <p:spPr>
          <a:xfrm>
            <a:off x="6913190" y="1437023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Aplic. confirmadas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41C1E6-7FE4-0BE7-8E9A-439271DA0562}"/>
              </a:ext>
            </a:extLst>
          </p:cNvPr>
          <p:cNvSpPr/>
          <p:nvPr/>
        </p:nvSpPr>
        <p:spPr>
          <a:xfrm>
            <a:off x="6885975" y="937368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7030A0"/>
                </a:solidFill>
                <a:latin typeface="Reddit Sans Light"/>
                <a:ea typeface="Calibri"/>
                <a:cs typeface="Reddit Sans Light"/>
              </a:rPr>
              <a:t>37+</a:t>
            </a:r>
            <a:endParaRPr lang="es-ES">
              <a:solidFill>
                <a:srgbClr val="7030A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3833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A85AB29-3E46-933C-6579-812A0A90BF01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AES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174B41-2534-2DDB-D755-573AA23A9EF0}"/>
              </a:ext>
            </a:extLst>
          </p:cNvPr>
          <p:cNvSpPr/>
          <p:nvPr/>
        </p:nvSpPr>
        <p:spPr>
          <a:xfrm>
            <a:off x="359227" y="677527"/>
            <a:ext cx="8455914" cy="66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Contrato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ServiceNow / ARUS (herramienta del cliente)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vence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agosto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2026 · RFP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activo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con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más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competidores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·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Oportunidad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reconversión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a managed service</a:t>
            </a:r>
          </a:p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Herramienta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N1:</a:t>
            </a:r>
          </a:p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Soporte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8x5 · Presencia física en planta · Central Hidroeléctrica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809503-22DB-9889-DE78-CC5B5299AF39}"/>
              </a:ext>
            </a:extLst>
          </p:cNvPr>
          <p:cNvSpPr/>
          <p:nvPr/>
        </p:nvSpPr>
        <p:spPr>
          <a:xfrm>
            <a:off x="304800" y="1264376"/>
            <a:ext cx="8455914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67071E3-C75F-EE89-2A37-AAD3BDF31F5E}"/>
              </a:ext>
            </a:extLst>
          </p:cNvPr>
          <p:cNvSpPr/>
          <p:nvPr/>
        </p:nvSpPr>
        <p:spPr>
          <a:xfrm>
            <a:off x="304800" y="1264376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507D70-3AE7-04D0-AFD2-0EAC7330B64D}"/>
              </a:ext>
            </a:extLst>
          </p:cNvPr>
          <p:cNvSpPr/>
          <p:nvPr/>
        </p:nvSpPr>
        <p:spPr>
          <a:xfrm>
            <a:off x="441960" y="126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IT/OT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Planta · Energía</a:t>
            </a:r>
            <a:endParaRPr lang="en-US" sz="1100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DE1F8DC-5FEE-E676-21DC-E1068E039E99}"/>
              </a:ext>
            </a:extLst>
          </p:cNvPr>
          <p:cNvSpPr/>
          <p:nvPr/>
        </p:nvSpPr>
        <p:spPr>
          <a:xfrm>
            <a:off x="510540" y="17444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8034584-9083-7DF0-F3A5-E82B982A6571}"/>
              </a:ext>
            </a:extLst>
          </p:cNvPr>
          <p:cNvSpPr/>
          <p:nvPr/>
        </p:nvSpPr>
        <p:spPr>
          <a:xfrm>
            <a:off x="51054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48EADF9-2797-147B-C132-F312D88F6975}"/>
              </a:ext>
            </a:extLst>
          </p:cNvPr>
          <p:cNvSpPr/>
          <p:nvPr/>
        </p:nvSpPr>
        <p:spPr>
          <a:xfrm>
            <a:off x="1830977" y="176076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Infra IT/OT (sin ITSM)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4D126B8-723F-0CDC-481E-4A41ECA0D157}"/>
              </a:ext>
            </a:extLst>
          </p:cNvPr>
          <p:cNvSpPr/>
          <p:nvPr/>
        </p:nvSpPr>
        <p:spPr>
          <a:xfrm>
            <a:off x="1830977" y="22065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25898AC-B1EF-7180-86D2-418CC7C0E2ED}"/>
              </a:ext>
            </a:extLst>
          </p:cNvPr>
          <p:cNvSpPr/>
          <p:nvPr/>
        </p:nvSpPr>
        <p:spPr>
          <a:xfrm>
            <a:off x="3254828" y="176076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N/D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808B7D9-C809-77FD-A20A-6C27C6176397}"/>
              </a:ext>
            </a:extLst>
          </p:cNvPr>
          <p:cNvSpPr/>
          <p:nvPr/>
        </p:nvSpPr>
        <p:spPr>
          <a:xfrm>
            <a:off x="3254828" y="22065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841727A-448D-D948-2BF3-30CE5FD46798}"/>
              </a:ext>
            </a:extLst>
          </p:cNvPr>
          <p:cNvSpPr/>
          <p:nvPr/>
        </p:nvSpPr>
        <p:spPr>
          <a:xfrm>
            <a:off x="4624251" y="176620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N/D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D0A5D1D-89D1-6E4B-18B9-B52474A86D40}"/>
              </a:ext>
            </a:extLst>
          </p:cNvPr>
          <p:cNvSpPr/>
          <p:nvPr/>
        </p:nvSpPr>
        <p:spPr>
          <a:xfrm>
            <a:off x="4624251" y="22119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0034334-40A4-ED45-0E4D-9A586E1851AC}"/>
              </a:ext>
            </a:extLst>
          </p:cNvPr>
          <p:cNvSpPr/>
          <p:nvPr/>
        </p:nvSpPr>
        <p:spPr>
          <a:xfrm>
            <a:off x="510540" y="2498816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796A2F1-2418-E77E-32E1-864C72B8C34E}"/>
              </a:ext>
            </a:extLst>
          </p:cNvPr>
          <p:cNvSpPr/>
          <p:nvPr/>
        </p:nvSpPr>
        <p:spPr>
          <a:xfrm>
            <a:off x="4762500" y="249881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65C6964-1D55-3313-D02F-2F0B4F4AA51B}"/>
              </a:ext>
            </a:extLst>
          </p:cNvPr>
          <p:cNvSpPr/>
          <p:nvPr/>
        </p:nvSpPr>
        <p:spPr>
          <a:xfrm>
            <a:off x="510540" y="2704556"/>
            <a:ext cx="39776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Modelo actual: staffing puro en planta física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Contrato vigente hasta agosto 2026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RFP abierto con 4-5 competidores activos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El cliente quiere pasar a managed service completo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PS debe cargar toda la operación — oportunidad de crecimiento</a:t>
            </a:r>
            <a:endParaRPr lang="en-US" sz="97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A4DD2AB-75A9-097A-CF01-197A34B65643}"/>
              </a:ext>
            </a:extLst>
          </p:cNvPr>
          <p:cNvSpPr/>
          <p:nvPr/>
        </p:nvSpPr>
        <p:spPr>
          <a:xfrm>
            <a:off x="4762500" y="2704556"/>
            <a:ext cx="38404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métricas ni KPIs formales de ningún tipo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SLA contractual documentado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gobierno ni RACI definido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KEDB ni gestión de conocimiento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Infraestructura on-premise sin escalabilidad</a:t>
            </a:r>
            <a:endParaRPr lang="en-US" sz="975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75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físico en planta — disponibilidad limitada</a:t>
            </a:r>
            <a:endParaRPr lang="en-US" sz="97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62E403-5373-7EE0-8667-96770348380A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D507D-04A7-080E-6E4A-F3C21367876D}"/>
              </a:ext>
            </a:extLst>
          </p:cNvPr>
          <p:cNvSpPr/>
          <p:nvPr/>
        </p:nvSpPr>
        <p:spPr>
          <a:xfrm>
            <a:off x="359228" y="5958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Lideradas por: 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Michael Arevalo Luna</a:t>
            </a:r>
            <a:endParaRPr lang="es-ES" sz="900">
              <a:solidFill>
                <a:srgbClr val="132346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C547CE20-478B-5FF0-B3E6-9FA4C7A859CE}"/>
              </a:ext>
            </a:extLst>
          </p:cNvPr>
          <p:cNvSpPr/>
          <p:nvPr/>
        </p:nvSpPr>
        <p:spPr>
          <a:xfrm>
            <a:off x="6616337" y="176076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N/D</a:t>
            </a:r>
            <a:endParaRPr lang="es-ES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F09C70E-2CA9-0D80-0376-E6F0231974D1}"/>
              </a:ext>
            </a:extLst>
          </p:cNvPr>
          <p:cNvSpPr/>
          <p:nvPr/>
        </p:nvSpPr>
        <p:spPr>
          <a:xfrm>
            <a:off x="6616336" y="2190207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3EF-505A-A9AA-3DD7-2340C0C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E614E6D6-0DA2-1578-495D-60117A6F7CAE}"/>
              </a:ext>
            </a:extLst>
          </p:cNvPr>
          <p:cNvSpPr/>
          <p:nvPr/>
        </p:nvSpPr>
        <p:spPr>
          <a:xfrm>
            <a:off x="283028" y="3131275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8BE41FEF-DD12-CD8A-FECE-11B57284022A}"/>
              </a:ext>
            </a:extLst>
          </p:cNvPr>
          <p:cNvSpPr/>
          <p:nvPr/>
        </p:nvSpPr>
        <p:spPr>
          <a:xfrm>
            <a:off x="332014" y="3120389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41FB6A4-A0E5-08F0-51BD-A9F67EE4928A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E708224-8AB7-F20F-AB49-F708F87CC8AC}"/>
              </a:ext>
            </a:extLst>
          </p:cNvPr>
          <p:cNvSpPr/>
          <p:nvPr/>
        </p:nvSpPr>
        <p:spPr>
          <a:xfrm>
            <a:off x="332014" y="1302475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318D3E4-80AD-589B-EE30-4EA8C56F0CF6}"/>
              </a:ext>
            </a:extLst>
          </p:cNvPr>
          <p:cNvSpPr/>
          <p:nvPr/>
        </p:nvSpPr>
        <p:spPr>
          <a:xfrm>
            <a:off x="342900" y="1302475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67A0CA-08D4-FF07-9D67-7EC771F16370}"/>
              </a:ext>
            </a:extLst>
          </p:cNvPr>
          <p:cNvSpPr/>
          <p:nvPr/>
        </p:nvSpPr>
        <p:spPr>
          <a:xfrm>
            <a:off x="480060" y="1302475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Cotizadores: Soporte plataforma suscripción y cotización de seguros · 8 FTE · 668 tix/mes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;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con bajo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volumen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requerimientos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67E5589-714E-6974-161F-791DE51F2B39}"/>
              </a:ext>
            </a:extLst>
          </p:cNvPr>
          <p:cNvSpPr/>
          <p:nvPr/>
        </p:nvSpPr>
        <p:spPr>
          <a:xfrm>
            <a:off x="548640" y="17825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9DCF838-9BBE-14D9-2F80-C2C3974E281C}"/>
              </a:ext>
            </a:extLst>
          </p:cNvPr>
          <p:cNvSpPr/>
          <p:nvPr/>
        </p:nvSpPr>
        <p:spPr>
          <a:xfrm>
            <a:off x="548640" y="21248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BF4869-D295-EE03-CADD-BF1543FFC228}"/>
              </a:ext>
            </a:extLst>
          </p:cNvPr>
          <p:cNvSpPr/>
          <p:nvPr/>
        </p:nvSpPr>
        <p:spPr>
          <a:xfrm>
            <a:off x="1907177" y="17879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B67306F-8BF3-DED2-A4D9-9FA8D3A1CDD3}"/>
              </a:ext>
            </a:extLst>
          </p:cNvPr>
          <p:cNvSpPr/>
          <p:nvPr/>
        </p:nvSpPr>
        <p:spPr>
          <a:xfrm>
            <a:off x="1907177" y="213033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5F01504-CC6E-8F47-1863-C9B380D62E61}"/>
              </a:ext>
            </a:extLst>
          </p:cNvPr>
          <p:cNvSpPr/>
          <p:nvPr/>
        </p:nvSpPr>
        <p:spPr>
          <a:xfrm>
            <a:off x="3216728" y="18151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24.58h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80BEC4-3EB1-9929-8C38-9C939A33CA18}"/>
              </a:ext>
            </a:extLst>
          </p:cNvPr>
          <p:cNvSpPr/>
          <p:nvPr/>
        </p:nvSpPr>
        <p:spPr>
          <a:xfrm>
            <a:off x="3091543" y="21575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BE52F09-E1B6-9F86-A128-7900F2C183E0}"/>
              </a:ext>
            </a:extLst>
          </p:cNvPr>
          <p:cNvSpPr/>
          <p:nvPr/>
        </p:nvSpPr>
        <p:spPr>
          <a:xfrm>
            <a:off x="4335779" y="180430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0979E78-07FE-1C55-9257-E52E5EEE8580}"/>
              </a:ext>
            </a:extLst>
          </p:cNvPr>
          <p:cNvSpPr/>
          <p:nvPr/>
        </p:nvSpPr>
        <p:spPr>
          <a:xfrm>
            <a:off x="4324893" y="2157548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B8946C-38E7-7A80-461C-29EF308C7C09}"/>
              </a:ext>
            </a:extLst>
          </p:cNvPr>
          <p:cNvSpPr/>
          <p:nvPr/>
        </p:nvSpPr>
        <p:spPr>
          <a:xfrm>
            <a:off x="701040" y="2335529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E8CC78D-8910-9CB9-25B0-46B48750AD3F}"/>
              </a:ext>
            </a:extLst>
          </p:cNvPr>
          <p:cNvSpPr/>
          <p:nvPr/>
        </p:nvSpPr>
        <p:spPr>
          <a:xfrm>
            <a:off x="4778829" y="2335529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1ABD29D1-06B5-1648-054C-78EFE108942C}"/>
              </a:ext>
            </a:extLst>
          </p:cNvPr>
          <p:cNvSpPr/>
          <p:nvPr/>
        </p:nvSpPr>
        <p:spPr>
          <a:xfrm>
            <a:off x="499654" y="2524941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operación de plataforma de cotizadores para venta de seguros
· 8 FTE · 668 tickets/mes · Atención principalmente de incidentes
· MTTR 24.58h (meta: &lt;9h) · SLA 70% (meta: 92%)
· Herramienta: BMC Helix ITSM · Contrato vence agosto 2026
· Backlog promedio: 65 tickets · 84 tickets/FTE/mes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E96163CB-45D5-F809-787B-CB795BE21DFB}"/>
              </a:ext>
            </a:extLst>
          </p:cNvPr>
          <p:cNvSpPr/>
          <p:nvPr/>
        </p:nvSpPr>
        <p:spPr>
          <a:xfrm>
            <a:off x="4751614" y="2524941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incumplidos — MTTR 24.58h vs meta 9h, SLA 70% vs meta 92%
●  D3 · Sin autoservicio — todo llega por call o correo
●  D9 · Scope creep — solicitudes fuera del alcance sin control
●  D13 · Sin roles definidos — mismo FTE hace N1, N2 y N3
●  D16 · Brechas vendido vs ejecutado — volumetría mal estimada
●  D20 · Dimensionamiento sin modelo — asignación por criterio experto
◐  D1 · Bus factor — rotación = pérdida de conocimiento crítico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670633-9994-2DD5-6A44-033753CB8296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C65D8E17-F696-0C7A-EA0F-08EF126831F0}"/>
              </a:ext>
            </a:extLst>
          </p:cNvPr>
          <p:cNvSpPr txBox="1">
            <a:spLocks noGrp="1"/>
          </p:cNvSpPr>
          <p:nvPr/>
        </p:nvSpPr>
        <p:spPr>
          <a:xfrm>
            <a:off x="314596" y="645740"/>
            <a:ext cx="8305800" cy="4158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4A13F7B-96FD-AB80-0FFD-F4E657AB7901}"/>
              </a:ext>
            </a:extLst>
          </p:cNvPr>
          <p:cNvSpPr/>
          <p:nvPr/>
        </p:nvSpPr>
        <p:spPr>
          <a:xfrm>
            <a:off x="474617" y="3114946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Venta Digital: Soporte canal digital de venta e-commerce · Incidentes y análisis de causa raíz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a canal digital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análisis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causa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raíz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F419E6F-3670-4619-7F81-95F850A386C7}"/>
              </a:ext>
            </a:extLst>
          </p:cNvPr>
          <p:cNvSpPr/>
          <p:nvPr/>
        </p:nvSpPr>
        <p:spPr>
          <a:xfrm>
            <a:off x="581297" y="4376600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8965076-5CE2-02B4-A63D-ECD034896999}"/>
              </a:ext>
            </a:extLst>
          </p:cNvPr>
          <p:cNvSpPr/>
          <p:nvPr/>
        </p:nvSpPr>
        <p:spPr>
          <a:xfrm>
            <a:off x="4659086" y="437660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1E7A52-FD27-B8D1-DBBF-5C695E099D45}"/>
              </a:ext>
            </a:extLst>
          </p:cNvPr>
          <p:cNvSpPr/>
          <p:nvPr/>
        </p:nvSpPr>
        <p:spPr>
          <a:xfrm>
            <a:off x="5838008" y="17934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plataforma core</a:t>
            </a:r>
            <a:endParaRPr lang="es-ES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C9BE13C-0CE5-F911-C40A-6A6B8C764C93}"/>
              </a:ext>
            </a:extLst>
          </p:cNvPr>
          <p:cNvSpPr/>
          <p:nvPr/>
        </p:nvSpPr>
        <p:spPr>
          <a:xfrm>
            <a:off x="5838007" y="22228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85528674-EF95-1FBB-EFAF-09209B70C88B}"/>
              </a:ext>
            </a:extLst>
          </p:cNvPr>
          <p:cNvSpPr/>
          <p:nvPr/>
        </p:nvSpPr>
        <p:spPr>
          <a:xfrm>
            <a:off x="543197" y="36058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C722B9B7-35CD-37DE-DB78-9F7B4043B47F}"/>
              </a:ext>
            </a:extLst>
          </p:cNvPr>
          <p:cNvSpPr/>
          <p:nvPr/>
        </p:nvSpPr>
        <p:spPr>
          <a:xfrm>
            <a:off x="543197" y="39482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6CF76BA-3E0F-9356-FAB8-516FF95BDC35}"/>
              </a:ext>
            </a:extLst>
          </p:cNvPr>
          <p:cNvSpPr/>
          <p:nvPr/>
        </p:nvSpPr>
        <p:spPr>
          <a:xfrm>
            <a:off x="1901734" y="36113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0F68F337-A152-4E6F-D531-C438C0201388}"/>
              </a:ext>
            </a:extLst>
          </p:cNvPr>
          <p:cNvSpPr/>
          <p:nvPr/>
        </p:nvSpPr>
        <p:spPr>
          <a:xfrm>
            <a:off x="1901734" y="39536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510809F7-17F9-EEC5-FBB5-ADD1FD74010A}"/>
              </a:ext>
            </a:extLst>
          </p:cNvPr>
          <p:cNvSpPr/>
          <p:nvPr/>
        </p:nvSpPr>
        <p:spPr>
          <a:xfrm>
            <a:off x="3211285" y="363854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C5ACEDF5-8BBC-8AE1-62E0-0D5E0C051876}"/>
              </a:ext>
            </a:extLst>
          </p:cNvPr>
          <p:cNvSpPr/>
          <p:nvPr/>
        </p:nvSpPr>
        <p:spPr>
          <a:xfrm>
            <a:off x="3086100" y="398090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398D88B3-D459-3A64-580A-9B9961758CDB}"/>
              </a:ext>
            </a:extLst>
          </p:cNvPr>
          <p:cNvSpPr/>
          <p:nvPr/>
        </p:nvSpPr>
        <p:spPr>
          <a:xfrm>
            <a:off x="4330336" y="362766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006987E2-3FAC-92DE-5771-1975C0DC2FA0}"/>
              </a:ext>
            </a:extLst>
          </p:cNvPr>
          <p:cNvSpPr/>
          <p:nvPr/>
        </p:nvSpPr>
        <p:spPr>
          <a:xfrm>
            <a:off x="4319450" y="3980905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3A540782-8A79-38E1-D2B2-5DFFE89221DC}"/>
              </a:ext>
            </a:extLst>
          </p:cNvPr>
          <p:cNvSpPr/>
          <p:nvPr/>
        </p:nvSpPr>
        <p:spPr>
          <a:xfrm>
            <a:off x="5832565" y="36167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</a:t>
            </a:r>
            <a:endParaRPr lang="es-ES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5CC83082-E2EC-9C5D-D573-99BD714EC23B}"/>
              </a:ext>
            </a:extLst>
          </p:cNvPr>
          <p:cNvSpPr/>
          <p:nvPr/>
        </p:nvSpPr>
        <p:spPr>
          <a:xfrm>
            <a:off x="5838007" y="40190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115233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0209-D4AE-875A-CC42-B245F806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020D75A5-A715-6807-E2AA-BFACB42C0137}"/>
              </a:ext>
            </a:extLst>
          </p:cNvPr>
          <p:cNvSpPr/>
          <p:nvPr/>
        </p:nvSpPr>
        <p:spPr>
          <a:xfrm>
            <a:off x="337457" y="3136718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8DA4417-3E2D-35EB-7103-9BD9CBA2F25D}"/>
              </a:ext>
            </a:extLst>
          </p:cNvPr>
          <p:cNvSpPr/>
          <p:nvPr/>
        </p:nvSpPr>
        <p:spPr>
          <a:xfrm>
            <a:off x="332014" y="3142161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8C0637D-F5DC-FFE0-248C-596E17DC288C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75050A0-27B2-E5BB-AB6D-6A66F974CA60}"/>
              </a:ext>
            </a:extLst>
          </p:cNvPr>
          <p:cNvSpPr/>
          <p:nvPr/>
        </p:nvSpPr>
        <p:spPr>
          <a:xfrm>
            <a:off x="332014" y="1324247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C82808-7438-BC6D-95DF-F67924E16665}"/>
              </a:ext>
            </a:extLst>
          </p:cNvPr>
          <p:cNvSpPr/>
          <p:nvPr/>
        </p:nvSpPr>
        <p:spPr>
          <a:xfrm>
            <a:off x="342900" y="1324247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3B6513F-04E9-2ADE-D932-54FA0855FF2F}"/>
              </a:ext>
            </a:extLst>
          </p:cNvPr>
          <p:cNvSpPr/>
          <p:nvPr/>
        </p:nvSpPr>
        <p:spPr>
          <a:xfrm>
            <a:off x="480060" y="1324247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 Soporte y operación de automatizaciones · Power Automate, PowerApps y procesos automatizados</a:t>
            </a: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500E9CB-276A-D1AF-F9FE-D676B7E4067E}"/>
              </a:ext>
            </a:extLst>
          </p:cNvPr>
          <p:cNvSpPr/>
          <p:nvPr/>
        </p:nvSpPr>
        <p:spPr>
          <a:xfrm>
            <a:off x="701040" y="23573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DB2C49F-FA80-E6CC-237F-41D9074E9B11}"/>
              </a:ext>
            </a:extLst>
          </p:cNvPr>
          <p:cNvSpPr/>
          <p:nvPr/>
        </p:nvSpPr>
        <p:spPr>
          <a:xfrm>
            <a:off x="4778829" y="23573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EB5CF038-5476-92D2-B351-AB248EECE904}"/>
              </a:ext>
            </a:extLst>
          </p:cNvPr>
          <p:cNvSpPr/>
          <p:nvPr/>
        </p:nvSpPr>
        <p:spPr>
          <a:xfrm>
            <a:off x="499654" y="2546713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y operación de automatizaciones (Automate, PowerApps) · 6 FTE
· 512 tickets/mes · MTTR 2.98h (mejor de SURA) · SLA 98% ✓
· 35% del volumen son requerimientos (mejora continua)
· Herramienta: BMC Helix ITSM + Power Apps/Automate
· Contrato vence agosto 2026 · Modelo: FTE Dedicado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2D840D8-EF71-666C-664C-E12044C2CCF6}"/>
              </a:ext>
            </a:extLst>
          </p:cNvPr>
          <p:cNvSpPr/>
          <p:nvPr/>
        </p:nvSpPr>
        <p:spPr>
          <a:xfrm>
            <a:off x="4751614" y="2546713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entra por call, incluso incidentes simples
●  D7 · Sin dashboard ejecutivo — visibilidad solo manual
●  D9 · Scope creep — modernizaciones disfrazadas de incidentes
●  D13 · Sin roles definidos entre N1/N2/N3
●  D16 · Brechas vendido vs ejecutado
●  D20 · Dimensionamiento sin modelo de demanda
◐  D11 · Postura reactiva — sin predictiva ni preventiva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E8A29DD-4BB7-0A4D-1E85-5AC88236D013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52E1C7C6-6A7D-5B4C-A06C-B6BD2C8EEFA8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 dirty="0"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tix/mes) + Canales Masivos (1 FTE, 171 tix/mes)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B467A1A-B761-2E9C-CF6B-1F72E44F3690}"/>
              </a:ext>
            </a:extLst>
          </p:cNvPr>
          <p:cNvSpPr/>
          <p:nvPr/>
        </p:nvSpPr>
        <p:spPr>
          <a:xfrm>
            <a:off x="474617" y="3136718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Canales Masivos: Operación de renovaciones y cancelaciones masivas de pólizas · Campañas digitales: Soporte y operación de automatizaciones Power Automate y PowerApps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E001DDB-F4D7-F317-C72B-5DA1BA0976F0}"/>
              </a:ext>
            </a:extLst>
          </p:cNvPr>
          <p:cNvSpPr/>
          <p:nvPr/>
        </p:nvSpPr>
        <p:spPr>
          <a:xfrm>
            <a:off x="581297" y="4398372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1B28FA4F-FF50-825F-51BE-D50BAE39FD24}"/>
              </a:ext>
            </a:extLst>
          </p:cNvPr>
          <p:cNvSpPr/>
          <p:nvPr/>
        </p:nvSpPr>
        <p:spPr>
          <a:xfrm>
            <a:off x="4659086" y="4398372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2C3BFD-2917-CA23-5561-62DD82AA38A2}"/>
              </a:ext>
            </a:extLst>
          </p:cNvPr>
          <p:cNvSpPr/>
          <p:nvPr/>
        </p:nvSpPr>
        <p:spPr>
          <a:xfrm>
            <a:off x="548640" y="1804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49B4D-E0FD-5902-2E54-4802E1B3E81A}"/>
              </a:ext>
            </a:extLst>
          </p:cNvPr>
          <p:cNvSpPr/>
          <p:nvPr/>
        </p:nvSpPr>
        <p:spPr>
          <a:xfrm>
            <a:off x="548640" y="21466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766BA8-E0DC-2DA2-FB33-93B14C428A54}"/>
              </a:ext>
            </a:extLst>
          </p:cNvPr>
          <p:cNvSpPr/>
          <p:nvPr/>
        </p:nvSpPr>
        <p:spPr>
          <a:xfrm>
            <a:off x="1907177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512</a:t>
            </a:r>
            <a:endParaRPr lang="es-ES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D25CDC6-D1A1-0447-66DD-69A456D3BC00}"/>
              </a:ext>
            </a:extLst>
          </p:cNvPr>
          <p:cNvSpPr/>
          <p:nvPr/>
        </p:nvSpPr>
        <p:spPr>
          <a:xfrm>
            <a:off x="1907177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EB3C36F-DDB6-9E44-B092-7A0E3E14FDCC}"/>
              </a:ext>
            </a:extLst>
          </p:cNvPr>
          <p:cNvSpPr/>
          <p:nvPr/>
        </p:nvSpPr>
        <p:spPr>
          <a:xfrm>
            <a:off x="3216728" y="18369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2.98h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5A22733-1FB9-F014-0B51-1DF9C149DBE6}"/>
              </a:ext>
            </a:extLst>
          </p:cNvPr>
          <p:cNvSpPr/>
          <p:nvPr/>
        </p:nvSpPr>
        <p:spPr>
          <a:xfrm>
            <a:off x="3091543" y="21793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2A5A94C-EDE0-2A02-0D9B-DB6CED5287B1}"/>
              </a:ext>
            </a:extLst>
          </p:cNvPr>
          <p:cNvSpPr/>
          <p:nvPr/>
        </p:nvSpPr>
        <p:spPr>
          <a:xfrm>
            <a:off x="4335779" y="18260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98%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5334B2B-DE06-0D1E-DB05-8E45DE0AD598}"/>
              </a:ext>
            </a:extLst>
          </p:cNvPr>
          <p:cNvSpPr/>
          <p:nvPr/>
        </p:nvSpPr>
        <p:spPr>
          <a:xfrm>
            <a:off x="4324893" y="21793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28C1B5E-3ABC-11E8-6F56-206B14C90DE3}"/>
              </a:ext>
            </a:extLst>
          </p:cNvPr>
          <p:cNvSpPr/>
          <p:nvPr/>
        </p:nvSpPr>
        <p:spPr>
          <a:xfrm>
            <a:off x="5838008" y="18151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 (Automate, PowerApps + 2 procesos)</a:t>
            </a:r>
            <a:endParaRPr lang="es-ES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8362DFE6-EB1F-281A-E832-4439DEF89950}"/>
              </a:ext>
            </a:extLst>
          </p:cNvPr>
          <p:cNvSpPr/>
          <p:nvPr/>
        </p:nvSpPr>
        <p:spPr>
          <a:xfrm>
            <a:off x="515983" y="36875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12DD470F-867E-9BD4-7EA1-955FF394C4A1}"/>
              </a:ext>
            </a:extLst>
          </p:cNvPr>
          <p:cNvSpPr/>
          <p:nvPr/>
        </p:nvSpPr>
        <p:spPr>
          <a:xfrm>
            <a:off x="515983" y="40298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054B591B-6840-4BB3-7384-E34EC52A03EB}"/>
              </a:ext>
            </a:extLst>
          </p:cNvPr>
          <p:cNvSpPr/>
          <p:nvPr/>
        </p:nvSpPr>
        <p:spPr>
          <a:xfrm>
            <a:off x="1874520" y="36929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67180CBA-7BDA-B8A4-8C64-06B6B1CCE68F}"/>
              </a:ext>
            </a:extLst>
          </p:cNvPr>
          <p:cNvSpPr/>
          <p:nvPr/>
        </p:nvSpPr>
        <p:spPr>
          <a:xfrm>
            <a:off x="1874520" y="40353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71C89233-482E-57D0-226A-A495A0F86B7D}"/>
              </a:ext>
            </a:extLst>
          </p:cNvPr>
          <p:cNvSpPr/>
          <p:nvPr/>
        </p:nvSpPr>
        <p:spPr>
          <a:xfrm>
            <a:off x="3184071" y="37201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BE6CBEF7-C3FE-358B-75EC-3EE3D71656EB}"/>
              </a:ext>
            </a:extLst>
          </p:cNvPr>
          <p:cNvSpPr/>
          <p:nvPr/>
        </p:nvSpPr>
        <p:spPr>
          <a:xfrm>
            <a:off x="3058886" y="40625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1FB19362-9081-30C1-E935-AF64A6A7D095}"/>
              </a:ext>
            </a:extLst>
          </p:cNvPr>
          <p:cNvSpPr/>
          <p:nvPr/>
        </p:nvSpPr>
        <p:spPr>
          <a:xfrm>
            <a:off x="4303122" y="3709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4B39F6C3-B493-56C3-2A3D-11D43DAAED21}"/>
              </a:ext>
            </a:extLst>
          </p:cNvPr>
          <p:cNvSpPr/>
          <p:nvPr/>
        </p:nvSpPr>
        <p:spPr>
          <a:xfrm>
            <a:off x="4292236" y="4062549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62CB0CBD-D7FF-38E6-298C-DCE51D112E26}"/>
              </a:ext>
            </a:extLst>
          </p:cNvPr>
          <p:cNvSpPr/>
          <p:nvPr/>
        </p:nvSpPr>
        <p:spPr>
          <a:xfrm>
            <a:off x="5805351" y="369842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 canales (Email, SMS, Notificaciones)</a:t>
            </a:r>
            <a:endParaRPr lang="es-ES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50CFAAB-6DC2-2070-C53C-14C505B9E729}"/>
              </a:ext>
            </a:extLst>
          </p:cNvPr>
          <p:cNvSpPr/>
          <p:nvPr/>
        </p:nvSpPr>
        <p:spPr>
          <a:xfrm>
            <a:off x="5838007" y="22446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E3E802AC-62AA-C101-765C-6CF4414DD087}"/>
              </a:ext>
            </a:extLst>
          </p:cNvPr>
          <p:cNvSpPr/>
          <p:nvPr/>
        </p:nvSpPr>
        <p:spPr>
          <a:xfrm>
            <a:off x="5838008" y="416596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3721158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2F73-AD14-0770-24B8-683BDD5C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9F022EEA-718C-D12A-1E88-FD475FD17996}"/>
              </a:ext>
            </a:extLst>
          </p:cNvPr>
          <p:cNvSpPr/>
          <p:nvPr/>
        </p:nvSpPr>
        <p:spPr>
          <a:xfrm>
            <a:off x="337457" y="3142161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C13CBDF5-DF89-E50A-E968-E87EE60F37D4}"/>
              </a:ext>
            </a:extLst>
          </p:cNvPr>
          <p:cNvSpPr/>
          <p:nvPr/>
        </p:nvSpPr>
        <p:spPr>
          <a:xfrm>
            <a:off x="332014" y="31476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80D1B9-88A7-8C66-7E06-A1D2413B72C5}"/>
              </a:ext>
            </a:extLst>
          </p:cNvPr>
          <p:cNvSpPr/>
          <p:nvPr/>
        </p:nvSpPr>
        <p:spPr>
          <a:xfrm>
            <a:off x="1387927" y="316230"/>
            <a:ext cx="733468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50E2DD8-AA18-D440-3B87-4744302E2585}"/>
              </a:ext>
            </a:extLst>
          </p:cNvPr>
          <p:cNvSpPr/>
          <p:nvPr/>
        </p:nvSpPr>
        <p:spPr>
          <a:xfrm>
            <a:off x="332014" y="1329690"/>
            <a:ext cx="8455914" cy="172865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876C6DA-B623-96FE-919B-CBF6F7C274C8}"/>
              </a:ext>
            </a:extLst>
          </p:cNvPr>
          <p:cNvSpPr/>
          <p:nvPr/>
        </p:nvSpPr>
        <p:spPr>
          <a:xfrm>
            <a:off x="342900" y="1329690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20B77EC-84A8-9626-7285-1043F1F761EB}"/>
              </a:ext>
            </a:extLst>
          </p:cNvPr>
          <p:cNvSpPr/>
          <p:nvPr/>
        </p:nvSpPr>
        <p:spPr>
          <a:xfrm>
            <a:off x="480060" y="13296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 Digital: Soporte canal digital de venta · Incidentes y análisis de causa raíz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D19BC29A-89F6-45E3-87E0-11708577C4F0}"/>
              </a:ext>
            </a:extLst>
          </p:cNvPr>
          <p:cNvSpPr/>
          <p:nvPr/>
        </p:nvSpPr>
        <p:spPr>
          <a:xfrm>
            <a:off x="6966857" y="246561"/>
            <a:ext cx="1676400" cy="42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950" b="1">
                <a:solidFill>
                  <a:schemeClr val="bg1">
                    <a:lumMod val="49000"/>
                  </a:schemeClr>
                </a:solidFill>
                <a:latin typeface="Reddit Sans"/>
                <a:ea typeface="Reddit Sans"/>
                <a:cs typeface="Reddit Sans Light"/>
              </a:rPr>
              <a:t>⚠ RENOVACIÓN AGOSTO</a:t>
            </a:r>
            <a:endParaRPr lang="en-US" sz="950" b="1">
              <a:solidFill>
                <a:schemeClr val="bg1">
                  <a:lumMod val="49000"/>
                </a:schemeClr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623B294A-CE46-5B0D-3450-ED9CCF0E5A67}"/>
              </a:ext>
            </a:extLst>
          </p:cNvPr>
          <p:cNvSpPr/>
          <p:nvPr/>
        </p:nvSpPr>
        <p:spPr>
          <a:xfrm>
            <a:off x="701040" y="2362744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9F064C5-2121-F6B9-0671-1211EDF1AEB8}"/>
              </a:ext>
            </a:extLst>
          </p:cNvPr>
          <p:cNvSpPr/>
          <p:nvPr/>
        </p:nvSpPr>
        <p:spPr>
          <a:xfrm>
            <a:off x="4778829" y="2362744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CF674099-A0C7-0D26-BD77-CA87B0498C5A}"/>
              </a:ext>
            </a:extLst>
          </p:cNvPr>
          <p:cNvSpPr/>
          <p:nvPr/>
        </p:nvSpPr>
        <p:spPr>
          <a:xfrm>
            <a:off x="499654" y="2552156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a canal digital de venta y análisis de causa raíz · 2 FTE
· 174 tickets/mes · MTTR 12.38h · SLA 74% (incumplido vs meta 92%)
· 100% son incidentes (sin requerimientos)
· Herramienta: BMC Helix ITSM · Contrato vence agosto 2026
· Backlog 12 tickets · 87 tickets/FTE/mes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8CCE201-A394-5440-0F9D-528CEBCDE804}"/>
              </a:ext>
            </a:extLst>
          </p:cNvPr>
          <p:cNvSpPr/>
          <p:nvPr/>
        </p:nvSpPr>
        <p:spPr>
          <a:xfrm>
            <a:off x="4751614" y="2552156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incumplidos — SLA 74%, colapso en marzo (47%)
●  D3 · Sin autoservicio — todo entra por call o correo
●  D7 · Sin dashboard — sin visibilidad ejecutiva en tiempo real
●  D9 · Scope creep — alcance no controlado
●  D13 · Sin roles definidos entre N1 y N2
●  D16 · Brechas vendido vs ejecutado — volumetría sin datos previos
●  D20 · Dimensionamiento sin modelo: 2 FTE para picos de demanda
◐  D11 · Postura reactiva · ◐ D14 Penalización eficiencia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56CE44F-30A3-C64E-B83A-2F5257850DEA}"/>
              </a:ext>
            </a:extLst>
          </p:cNvPr>
          <p:cNvSpPr/>
          <p:nvPr/>
        </p:nvSpPr>
        <p:spPr>
          <a:xfrm>
            <a:off x="342901" y="318298"/>
            <a:ext cx="1042742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DDCF1A36-91F4-A623-293B-8139B9E89837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Venta Digital (2 FTE, 174 tix/mes) + Canales Masivos (1 FTE, 171 tix/mes)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D223BA42-FDAF-A444-CDCC-ADDA70FB26E4}"/>
              </a:ext>
            </a:extLst>
          </p:cNvPr>
          <p:cNvSpPr/>
          <p:nvPr/>
        </p:nvSpPr>
        <p:spPr>
          <a:xfrm>
            <a:off x="474617" y="3142161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Canales Masivos: Operación de renovaciones y cancelaciones masivas de pólizas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Masivos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 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9B8A6D1E-4B1B-0E3E-3049-568BE1B2C52B}"/>
              </a:ext>
            </a:extLst>
          </p:cNvPr>
          <p:cNvSpPr/>
          <p:nvPr/>
        </p:nvSpPr>
        <p:spPr>
          <a:xfrm>
            <a:off x="581297" y="44038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AC2A1FE-BA63-35A6-009F-BB064996A574}"/>
              </a:ext>
            </a:extLst>
          </p:cNvPr>
          <p:cNvSpPr/>
          <p:nvPr/>
        </p:nvSpPr>
        <p:spPr>
          <a:xfrm>
            <a:off x="4659086" y="44038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E78C9F8-A271-F213-B61B-1501066A06E6}"/>
              </a:ext>
            </a:extLst>
          </p:cNvPr>
          <p:cNvSpPr/>
          <p:nvPr/>
        </p:nvSpPr>
        <p:spPr>
          <a:xfrm>
            <a:off x="548640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B15F97D-49D2-FAA0-3ED5-DEC32CE308F9}"/>
              </a:ext>
            </a:extLst>
          </p:cNvPr>
          <p:cNvSpPr/>
          <p:nvPr/>
        </p:nvSpPr>
        <p:spPr>
          <a:xfrm>
            <a:off x="548640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CF13A26-45E4-4651-7F2D-91741FFC1E40}"/>
              </a:ext>
            </a:extLst>
          </p:cNvPr>
          <p:cNvSpPr/>
          <p:nvPr/>
        </p:nvSpPr>
        <p:spPr>
          <a:xfrm>
            <a:off x="1907177" y="18151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174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43F40B16-2CF4-C6B0-8BA9-5D70F20DCDCF}"/>
              </a:ext>
            </a:extLst>
          </p:cNvPr>
          <p:cNvSpPr/>
          <p:nvPr/>
        </p:nvSpPr>
        <p:spPr>
          <a:xfrm>
            <a:off x="1907177" y="21575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E926F4D-120D-2F31-76B8-6CF7A502FBDC}"/>
              </a:ext>
            </a:extLst>
          </p:cNvPr>
          <p:cNvSpPr/>
          <p:nvPr/>
        </p:nvSpPr>
        <p:spPr>
          <a:xfrm>
            <a:off x="3216728" y="18424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6BA4730-04C7-D2A5-68EE-F4D6D1F4D3D8}"/>
              </a:ext>
            </a:extLst>
          </p:cNvPr>
          <p:cNvSpPr/>
          <p:nvPr/>
        </p:nvSpPr>
        <p:spPr>
          <a:xfrm>
            <a:off x="3091543" y="21847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966AA7D3-A519-365B-22FE-01B0EE7D330C}"/>
              </a:ext>
            </a:extLst>
          </p:cNvPr>
          <p:cNvSpPr/>
          <p:nvPr/>
        </p:nvSpPr>
        <p:spPr>
          <a:xfrm>
            <a:off x="4335779" y="18315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3110C70B-1CCF-C227-FD17-DA6527A53655}"/>
              </a:ext>
            </a:extLst>
          </p:cNvPr>
          <p:cNvSpPr/>
          <p:nvPr/>
        </p:nvSpPr>
        <p:spPr>
          <a:xfrm>
            <a:off x="4324893" y="2184763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6B9E8CD-B060-2C7F-6E44-AA485881312C}"/>
              </a:ext>
            </a:extLst>
          </p:cNvPr>
          <p:cNvSpPr/>
          <p:nvPr/>
        </p:nvSpPr>
        <p:spPr>
          <a:xfrm>
            <a:off x="5838008" y="18206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DB67B840-6EF5-9F51-317A-45C419F6097E}"/>
              </a:ext>
            </a:extLst>
          </p:cNvPr>
          <p:cNvSpPr/>
          <p:nvPr/>
        </p:nvSpPr>
        <p:spPr>
          <a:xfrm>
            <a:off x="466997" y="36712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FE975F22-2EF3-0496-F24E-6A381D4BF752}"/>
              </a:ext>
            </a:extLst>
          </p:cNvPr>
          <p:cNvSpPr/>
          <p:nvPr/>
        </p:nvSpPr>
        <p:spPr>
          <a:xfrm>
            <a:off x="466997" y="40135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D05AD632-733A-974E-DDB7-4855740F0ABB}"/>
              </a:ext>
            </a:extLst>
          </p:cNvPr>
          <p:cNvSpPr/>
          <p:nvPr/>
        </p:nvSpPr>
        <p:spPr>
          <a:xfrm>
            <a:off x="1825534" y="36766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909DF4B0-539F-825D-3777-306B835D074F}"/>
              </a:ext>
            </a:extLst>
          </p:cNvPr>
          <p:cNvSpPr/>
          <p:nvPr/>
        </p:nvSpPr>
        <p:spPr>
          <a:xfrm>
            <a:off x="1825534" y="40190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FD176200-E973-64E5-8D0B-C82F9A229B7B}"/>
              </a:ext>
            </a:extLst>
          </p:cNvPr>
          <p:cNvSpPr/>
          <p:nvPr/>
        </p:nvSpPr>
        <p:spPr>
          <a:xfrm>
            <a:off x="3135085" y="37038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E1884AA3-E413-B333-C3E9-02C786A6AAFD}"/>
              </a:ext>
            </a:extLst>
          </p:cNvPr>
          <p:cNvSpPr/>
          <p:nvPr/>
        </p:nvSpPr>
        <p:spPr>
          <a:xfrm>
            <a:off x="3009900" y="40462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9DC7AFE7-D48E-8F9A-A824-408E24A3CE82}"/>
              </a:ext>
            </a:extLst>
          </p:cNvPr>
          <p:cNvSpPr/>
          <p:nvPr/>
        </p:nvSpPr>
        <p:spPr>
          <a:xfrm>
            <a:off x="4254136" y="36929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CCCDA00D-F123-C1C3-F83F-9170B96F9976}"/>
              </a:ext>
            </a:extLst>
          </p:cNvPr>
          <p:cNvSpPr/>
          <p:nvPr/>
        </p:nvSpPr>
        <p:spPr>
          <a:xfrm>
            <a:off x="4243250" y="40462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9C962134-04B7-6832-09B5-5DF135249B34}"/>
              </a:ext>
            </a:extLst>
          </p:cNvPr>
          <p:cNvSpPr/>
          <p:nvPr/>
        </p:nvSpPr>
        <p:spPr>
          <a:xfrm>
            <a:off x="5756365" y="36820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 de venta</a:t>
            </a:r>
            <a:endParaRPr lang="es-ES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CAF1CFE4-4FF1-AA4A-DA52-CB19C8BFACEA}"/>
              </a:ext>
            </a:extLst>
          </p:cNvPr>
          <p:cNvSpPr/>
          <p:nvPr/>
        </p:nvSpPr>
        <p:spPr>
          <a:xfrm>
            <a:off x="5838007" y="22500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AD336609-DA8A-F4BA-86C1-699788CF2B26}"/>
              </a:ext>
            </a:extLst>
          </p:cNvPr>
          <p:cNvSpPr/>
          <p:nvPr/>
        </p:nvSpPr>
        <p:spPr>
          <a:xfrm>
            <a:off x="5838008" y="4171407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869181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6475-6AC7-B9BA-37B5-BC74A65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98F28B-CCBE-73CC-A01F-6D9AF8586ABF}"/>
              </a:ext>
            </a:extLst>
          </p:cNvPr>
          <p:cNvSpPr/>
          <p:nvPr/>
        </p:nvSpPr>
        <p:spPr>
          <a:xfrm>
            <a:off x="1366156" y="316230"/>
            <a:ext cx="7356459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XM</a:t>
            </a:r>
            <a:endParaRPr lang="en-US" sz="1400" b="1" dirty="0" err="1">
              <a:solidFill>
                <a:srgbClr val="0E337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2FEFBC1-09CC-CB4A-F846-1A15A505A4B0}"/>
              </a:ext>
            </a:extLst>
          </p:cNvPr>
          <p:cNvSpPr/>
          <p:nvPr/>
        </p:nvSpPr>
        <p:spPr>
          <a:xfrm>
            <a:off x="342899" y="1269818"/>
            <a:ext cx="8455913" cy="3192781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598FA2B-C597-35E2-F5F6-821C0E4FA34A}"/>
              </a:ext>
            </a:extLst>
          </p:cNvPr>
          <p:cNvSpPr/>
          <p:nvPr/>
        </p:nvSpPr>
        <p:spPr>
          <a:xfrm>
            <a:off x="342900" y="12045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802847D-905D-812A-3143-6DF5D87AD6F0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1658D6-D3C0-AB8D-D2E0-96A98D2DD731}"/>
              </a:ext>
            </a:extLst>
          </p:cNvPr>
          <p:cNvSpPr/>
          <p:nvPr/>
        </p:nvSpPr>
        <p:spPr>
          <a:xfrm>
            <a:off x="54864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A099932-FE70-1FED-8760-8A2B1F8B149E}"/>
              </a:ext>
            </a:extLst>
          </p:cNvPr>
          <p:cNvSpPr/>
          <p:nvPr/>
        </p:nvSpPr>
        <p:spPr>
          <a:xfrm>
            <a:off x="54864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F4EB55-1478-2F09-F489-AF72C6B8CAFF}"/>
              </a:ext>
            </a:extLst>
          </p:cNvPr>
          <p:cNvSpPr/>
          <p:nvPr/>
        </p:nvSpPr>
        <p:spPr>
          <a:xfrm>
            <a:off x="267462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57EC123-6CC2-21FB-4FC2-7C13A8447AFD}"/>
              </a:ext>
            </a:extLst>
          </p:cNvPr>
          <p:cNvSpPr/>
          <p:nvPr/>
        </p:nvSpPr>
        <p:spPr>
          <a:xfrm>
            <a:off x="267462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55C2F69-CE3A-5741-A740-4139D74A8202}"/>
              </a:ext>
            </a:extLst>
          </p:cNvPr>
          <p:cNvSpPr/>
          <p:nvPr/>
        </p:nvSpPr>
        <p:spPr>
          <a:xfrm>
            <a:off x="480060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N/D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4A8BF67-EF3B-4D85-4603-A75C65C054A2}"/>
              </a:ext>
            </a:extLst>
          </p:cNvPr>
          <p:cNvSpPr/>
          <p:nvPr/>
        </p:nvSpPr>
        <p:spPr>
          <a:xfrm>
            <a:off x="480060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7E39CD0-14CE-8B6B-FF0D-EC52E45F9FE5}"/>
              </a:ext>
            </a:extLst>
          </p:cNvPr>
          <p:cNvSpPr/>
          <p:nvPr/>
        </p:nvSpPr>
        <p:spPr>
          <a:xfrm>
            <a:off x="6229894" y="15212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N/D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F7D8A7-A73F-CB85-AF38-AE125F79515F}"/>
              </a:ext>
            </a:extLst>
          </p:cNvPr>
          <p:cNvSpPr/>
          <p:nvPr/>
        </p:nvSpPr>
        <p:spPr>
          <a:xfrm>
            <a:off x="6229894" y="18636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40E4989-2AB4-D7F3-1D26-C03EB489A992}"/>
              </a:ext>
            </a:extLst>
          </p:cNvPr>
          <p:cNvSpPr/>
          <p:nvPr/>
        </p:nvSpPr>
        <p:spPr>
          <a:xfrm>
            <a:off x="701040" y="2096044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B4B7B31-D259-E1AF-8769-0C7652F56120}"/>
              </a:ext>
            </a:extLst>
          </p:cNvPr>
          <p:cNvSpPr/>
          <p:nvPr/>
        </p:nvSpPr>
        <p:spPr>
          <a:xfrm>
            <a:off x="4778829" y="2096044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499654" y="2285456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a 14 componentes críticos (11 apps + 3 tareas) del mercado eléctrico
· 4 FTE · 90 tickets/mes · Tix/FTE = 22.5 (vs industria 80+)
· Herramienta: ServiceNow (del cliente) — PersonalSoft paga la licencia
· Disponibilidad: 24x7 · Contrato Staffing vigente hasta julio 2027
· Alta especialización — curva aprendizaje larga, mercado escaso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751614" y="2285456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llega por call o correo
●  D7 · Sin dashboard — sin visibilidad ejecutiva en tiempo real
●  D11 · Postura 100% reactiva — sin anticipación ni preventiva
●  D12 · Sin gobierno claro — sin RACI ni ANS formales con XM
●  D16 · Brechas vendido vs ejecutado — volumetría mal estimada
●  D17 · Ausencia de métricas · D20 Dimensionamiento: 4 FTE para 24x7
●  D21 · Disponibilidad mal dimensionada · D22 Sin dimensión por tecnología
◐  D1 · Bus factor — 4 especialistas concentran todo el know-how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C8C5F07-3EAE-209B-57A4-5DEAB4AF2B59}"/>
              </a:ext>
            </a:extLst>
          </p:cNvPr>
          <p:cNvSpPr/>
          <p:nvPr/>
        </p:nvSpPr>
        <p:spPr>
          <a:xfrm>
            <a:off x="342901" y="318298"/>
            <a:ext cx="1020971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A809BB5-68D4-CA11-10BC-E889C01399D9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 Diego Serna · </a:t>
            </a:r>
            <a:endParaRPr lang="es-ES" dirty="0">
              <a:ea typeface="Calibri"/>
            </a:endParaRPr>
          </a:p>
          <a:p>
            <a:r>
              <a:rPr lang="es-ES" sz="900" dirty="0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ontrato: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Staffing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Vigente hasta Julio 2027 ·</a:t>
            </a:r>
            <a:endParaRPr lang="es-ES" dirty="0"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Herramienta: ServiceNow (del cliente) · Soporte a apps críticas del mercado eléctrico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 24x7 a 14 componentes críticos (11 apps + 3 tareas) </a:t>
            </a:r>
            <a:endParaRPr lang="es-ES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E46CD37-1FC9-749A-3BE1-A5DE19EF6144}"/>
              </a:ext>
            </a:extLst>
          </p:cNvPr>
          <p:cNvSpPr/>
          <p:nvPr/>
        </p:nvSpPr>
        <p:spPr>
          <a:xfrm>
            <a:off x="7193279" y="15158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14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2C0BF800-1FB0-4AC7-7B98-772DF5905135}"/>
              </a:ext>
            </a:extLst>
          </p:cNvPr>
          <p:cNvSpPr/>
          <p:nvPr/>
        </p:nvSpPr>
        <p:spPr>
          <a:xfrm>
            <a:off x="7193279" y="18581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7" name="cl">
            <a:extLst>
              <a:ext uri="{FF2B5EF4-FFF2-40B4-BE49-F238E27FC236}">
                <a16:creationId xmlns:a16="http://schemas.microsoft.com/office/drawing/2014/main" id="{2EEB1F61-3DF2-A27A-E8C8-D6513224E882}"/>
              </a:ext>
            </a:extLst>
          </p:cNvPr>
          <p:cNvSpPr txBox="1">
            <a:spLocks noGrp="1"/>
          </p:cNvSpPr>
          <p:nvPr/>
        </p:nvSpPr>
        <p:spPr>
          <a:xfrm>
            <a:off x="566928" y="232257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Soporte a 14 componentes: 11 aplicaciones + 3 tareas críticas del mercado eléctrico</a:t>
            </a:r>
          </a:p>
        </p:txBody>
      </p:sp>
      <p:sp>
        <p:nvSpPr>
          <p:cNvPr id="11" name="cl">
            <a:extLst>
              <a:ext uri="{FF2B5EF4-FFF2-40B4-BE49-F238E27FC236}">
                <a16:creationId xmlns:a16="http://schemas.microsoft.com/office/drawing/2014/main" id="{491AC3FA-E0A9-F842-9D8F-C56A4031FC5B}"/>
              </a:ext>
            </a:extLst>
          </p:cNvPr>
          <p:cNvSpPr txBox="1">
            <a:spLocks noGrp="1"/>
          </p:cNvSpPr>
          <p:nvPr/>
        </p:nvSpPr>
        <p:spPr>
          <a:xfrm>
            <a:off x="566928" y="259689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Herramienta: ServiceNow (del cliente) — PersonalSoft paga la licencia</a:t>
            </a:r>
          </a:p>
        </p:txBody>
      </p:sp>
      <p:sp>
        <p:nvSpPr>
          <p:cNvPr id="41" name="cl">
            <a:extLst>
              <a:ext uri="{FF2B5EF4-FFF2-40B4-BE49-F238E27FC236}">
                <a16:creationId xmlns:a16="http://schemas.microsoft.com/office/drawing/2014/main" id="{7A9B67B5-19D5-2572-B757-B4D79A60E79D}"/>
              </a:ext>
            </a:extLst>
          </p:cNvPr>
          <p:cNvSpPr txBox="1">
            <a:spLocks noGrp="1"/>
          </p:cNvSpPr>
          <p:nvPr/>
        </p:nvSpPr>
        <p:spPr>
          <a:xfrm>
            <a:off x="566928" y="287121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Disponibilidad: 24x7 · Solo 4 FTE para cobertura completa (muy justo)</a:t>
            </a:r>
          </a:p>
        </p:txBody>
      </p:sp>
      <p:sp>
        <p:nvSpPr>
          <p:cNvPr id="43" name="cl">
            <a:extLst>
              <a:ext uri="{FF2B5EF4-FFF2-40B4-BE49-F238E27FC236}">
                <a16:creationId xmlns:a16="http://schemas.microsoft.com/office/drawing/2014/main" id="{8BDF369F-1E3F-E42F-E890-597A536C01DF}"/>
              </a:ext>
            </a:extLst>
          </p:cNvPr>
          <p:cNvSpPr txBox="1">
            <a:spLocks noGrp="1"/>
          </p:cNvSpPr>
          <p:nvPr/>
        </p:nvSpPr>
        <p:spPr>
          <a:xfrm>
            <a:off x="566928" y="314553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Modelo: Staffing · Contrato vigente hasta julio 2027</a:t>
            </a:r>
          </a:p>
        </p:txBody>
      </p:sp>
      <p:sp>
        <p:nvSpPr>
          <p:cNvPr id="45" name="cl">
            <a:extLst>
              <a:ext uri="{FF2B5EF4-FFF2-40B4-BE49-F238E27FC236}">
                <a16:creationId xmlns:a16="http://schemas.microsoft.com/office/drawing/2014/main" id="{D8595023-596C-FD2F-AB7F-B61A536B44B5}"/>
              </a:ext>
            </a:extLst>
          </p:cNvPr>
          <p:cNvSpPr txBox="1">
            <a:spLocks noGrp="1"/>
          </p:cNvSpPr>
          <p:nvPr/>
        </p:nvSpPr>
        <p:spPr>
          <a:xfrm>
            <a:off x="566928" y="341985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90 tickets/mes pero cada componente tiene alta complejidad técnica</a:t>
            </a:r>
          </a:p>
        </p:txBody>
      </p:sp>
      <p:sp>
        <p:nvSpPr>
          <p:cNvPr id="47" name="cl">
            <a:extLst>
              <a:ext uri="{FF2B5EF4-FFF2-40B4-BE49-F238E27FC236}">
                <a16:creationId xmlns:a16="http://schemas.microsoft.com/office/drawing/2014/main" id="{E9F06566-2A19-7F6B-E2A9-5AE644654323}"/>
              </a:ext>
            </a:extLst>
          </p:cNvPr>
          <p:cNvSpPr txBox="1">
            <a:spLocks noGrp="1"/>
          </p:cNvSpPr>
          <p:nvPr/>
        </p:nvSpPr>
        <p:spPr>
          <a:xfrm>
            <a:off x="566928" y="3694176"/>
            <a:ext cx="397372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Tix/FTE = 22.5 vs industria 80+ → trabajo no ticketado o subutilización</a:t>
            </a:r>
          </a:p>
        </p:txBody>
      </p:sp>
      <p:sp>
        <p:nvSpPr>
          <p:cNvPr id="49" name="d">
            <a:extLst>
              <a:ext uri="{FF2B5EF4-FFF2-40B4-BE49-F238E27FC236}">
                <a16:creationId xmlns:a16="http://schemas.microsoft.com/office/drawing/2014/main" id="{FC308614-7C19-8A31-76C9-C981DAB173EF}"/>
              </a:ext>
            </a:extLst>
          </p:cNvPr>
          <p:cNvSpPr txBox="1">
            <a:spLocks noGrp="1"/>
          </p:cNvSpPr>
          <p:nvPr/>
        </p:nvSpPr>
        <p:spPr>
          <a:xfrm>
            <a:off x="4676285" y="2324535"/>
            <a:ext cx="5008518" cy="2579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D3 · Sin autoservicio — todo llega por call o correo</a:t>
            </a:r>
          </a:p>
        </p:txBody>
      </p:sp>
      <p:sp>
        <p:nvSpPr>
          <p:cNvPr id="51" name="d">
            <a:extLst>
              <a:ext uri="{FF2B5EF4-FFF2-40B4-BE49-F238E27FC236}">
                <a16:creationId xmlns:a16="http://schemas.microsoft.com/office/drawing/2014/main" id="{F72D80B5-C8A8-CAD2-35DE-123CA7F9B18D}"/>
              </a:ext>
            </a:extLst>
          </p:cNvPr>
          <p:cNvSpPr txBox="1">
            <a:spLocks noGrp="1"/>
          </p:cNvSpPr>
          <p:nvPr/>
        </p:nvSpPr>
        <p:spPr>
          <a:xfrm>
            <a:off x="4659957" y="2635431"/>
            <a:ext cx="391994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D7 · Sin dashboard — sin visibilidad ejecutiva en tiempo real</a:t>
            </a:r>
          </a:p>
        </p:txBody>
      </p:sp>
      <p:sp>
        <p:nvSpPr>
          <p:cNvPr id="53" name="d">
            <a:extLst>
              <a:ext uri="{FF2B5EF4-FFF2-40B4-BE49-F238E27FC236}">
                <a16:creationId xmlns:a16="http://schemas.microsoft.com/office/drawing/2014/main" id="{821114BE-A66F-4A84-E1A5-80F40A38F703}"/>
              </a:ext>
            </a:extLst>
          </p:cNvPr>
          <p:cNvSpPr txBox="1">
            <a:spLocks noGrp="1"/>
          </p:cNvSpPr>
          <p:nvPr/>
        </p:nvSpPr>
        <p:spPr>
          <a:xfrm>
            <a:off x="4659957" y="2946327"/>
            <a:ext cx="391994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D11 · Postura 100% reactiva — sin anticipación ni prevencion</a:t>
            </a:r>
          </a:p>
        </p:txBody>
      </p:sp>
      <p:sp>
        <p:nvSpPr>
          <p:cNvPr id="55" name="d">
            <a:extLst>
              <a:ext uri="{FF2B5EF4-FFF2-40B4-BE49-F238E27FC236}">
                <a16:creationId xmlns:a16="http://schemas.microsoft.com/office/drawing/2014/main" id="{BDE48833-7920-9EB5-7107-FB7C2DB9E5C5}"/>
              </a:ext>
            </a:extLst>
          </p:cNvPr>
          <p:cNvSpPr txBox="1">
            <a:spLocks noGrp="1"/>
          </p:cNvSpPr>
          <p:nvPr/>
        </p:nvSpPr>
        <p:spPr>
          <a:xfrm>
            <a:off x="4659957" y="3257223"/>
            <a:ext cx="391994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D12 · Sin gobierno claro — sin RACI ni ANS formales con XM</a:t>
            </a:r>
          </a:p>
        </p:txBody>
      </p:sp>
      <p:sp>
        <p:nvSpPr>
          <p:cNvPr id="57" name="d">
            <a:extLst>
              <a:ext uri="{FF2B5EF4-FFF2-40B4-BE49-F238E27FC236}">
                <a16:creationId xmlns:a16="http://schemas.microsoft.com/office/drawing/2014/main" id="{BFE7C3B5-F05D-2513-6636-99D7E48D7C70}"/>
              </a:ext>
            </a:extLst>
          </p:cNvPr>
          <p:cNvSpPr txBox="1">
            <a:spLocks noGrp="1"/>
          </p:cNvSpPr>
          <p:nvPr/>
        </p:nvSpPr>
        <p:spPr>
          <a:xfrm>
            <a:off x="4659957" y="3568119"/>
            <a:ext cx="391994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80" b="1" dirty="0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D16 · Brechas vendido vs ejecutado — volumetría mal estimada</a:t>
            </a: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3703308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37457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54864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54864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67462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67462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80060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80060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229894" y="15212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229894" y="18636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701040" y="2096044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78829" y="2096044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499654" y="2285456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5 COES especializados: Integración, Datos, Soporte, Emma, Emma iSeries
·  Herramienta Helix es del Banco — PersonalSoft no controla el ITSM
·  32 FTE totales en bolsa de horas · 700–3.000 tickets/mesa/mes
·  Sin SLA de PS — rige solo el ANS del Banco y COES
·  Disponibilidad 24x7 con recargo económico (D23 confirmado)
·  Sin costo/ticket calculado — "no manejamos esa información" (Virginia)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51614" y="2285456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193279" y="15158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193279" y="18581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nota_bco"/>
          <p:cNvSpPr/>
          <p:nvPr/>
        </p:nvSpPr>
        <p:spPr>
          <a:xfrm>
            <a:off x="359227" y="4572000"/>
            <a:ext cx="8455914" cy="304800"/>
          </a:xfrm>
          <a:prstGeom prst="rect">
            <a:avLst/>
          </a:prstGeom>
          <a:solidFill>
            <a:srgbClr val="132346"/>
          </a:solidFill>
          <a:ln/>
        </p:spPr>
        <p:txBody>
          <a:bodyPr wrap="square" lIns="91440" tIns="45720" rIns="91440" bIns="45720" rtlCol="0" anchor="ctr"/>
          <a:lstStyle/>
          <a:p>
            <a:r>
              <a:rPr lang="es-ES" sz="1000" b="1" dirty="0">
                <a:solidFill>
                  <a:srgbClr val="FFFFFF"/>
                </a:solidFill>
                <a:latin typeface="Reddit Sans"/>
              </a:rPr>
              <a:t>BCO es N1: sin métricas propias, sin SLA de PS, herramienta del cliente. El recargo D23 y el modelo bolsa de horas son los riesgos más urgentes a resolver en Wave 1.</a:t>
            </a:r>
          </a:p>
        </p:txBody>
      </p:sp>
      <p:sp>
        <p:nvSpPr>
          <p:cNvPr id="6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  <p:sp>
        <p:nvSpPr>
          <p:cNvPr id="777" name="desc_bco"/>
          <p:cNvSpPr txBox="1">
            <a:spLocks noGrp="1"/>
          </p:cNvSpPr>
          <p:nvPr/>
        </p:nvSpPr>
        <p:spPr>
          <a:xfrm>
            <a:off x="466776" y="1470000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FFFFFF"/>
                </a:solidFill>
                <a:latin typeface="Reddit Sans"/>
              </a:rPr>
              <a:t>N1 · Bancolombia — 5 Mesas COES · Banca Digital · Herramienta: Helix (cliente) · 32 FTE · 700–3.000 tickets/mesa · Sin SLA formal PS</a:t>
            </a: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37457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54864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54864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67462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67462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800600" y="15430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800600" y="18854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229894" y="15212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229894" y="18636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701040" y="2096044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78829" y="2096044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499654" y="2285456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5 COES especializados: Integración (7 FTE), Datos (7 FTE), Soporte (13 FTE), Emma (4 FTE), Emma iSeries (1 FTE)
·  Herramienta Helix es del Banco — PersonalSoft no controla el ITSM
·  32 FTE totales en bolsa de horas · 700–3.000 tickets/mesa/mes · MTTR: 30min–3h
·  Sin SLA de PS — rige solo el ANS del Banco y ANS de cada COES
·  Disponibilidad 24x7 con recargo económico confirmado (D23)
·  Sin costo/ticket calculado — "no manejamos esa información" (Virginia)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51614" y="2285456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193279" y="15158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193279" y="18581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999" name="nota_bco"/>
          <p:cNvSpPr/>
          <p:nvPr/>
        </p:nvSpPr>
        <p:spPr>
          <a:xfrm>
            <a:off x="359227" y="4572000"/>
            <a:ext cx="8455914" cy="304800"/>
          </a:xfrm>
          <a:prstGeom prst="rect">
            <a:avLst/>
          </a:prstGeom>
          <a:solidFill>
            <a:srgbClr val="132346"/>
          </a:solidFill>
          <a:ln/>
        </p:spPr>
        <p:txBody>
          <a:bodyPr wrap="square" lIns="91440" tIns="45720" rIns="91440" bIns="45720" rtlCol="0" anchor="ctr"/>
          <a:lstStyle/>
          <a:p>
            <a:r>
              <a:rPr lang="es-ES" sz="1000" b="1" dirty="0">
                <a:solidFill>
                  <a:srgbClr val="FFFFFF"/>
                </a:solidFill>
                <a:latin typeface="Reddit Sans"/>
              </a:rPr>
              <a:t>BCO es N1: sin métricas propias, sin SLA de PS, herramienta del cliente. El recargo D23 y el modelo bolsa de horas son los riesgos más urgentes a resolver en Wave 1.</a:t>
            </a:r>
          </a:p>
        </p:txBody>
      </p:sp>
      <p:sp>
        <p:nvSpPr>
          <p:cNvPr id="6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00E17-6F52-36D3-3EA7-834AB78AC51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Dolores </a:t>
            </a:r>
            <a:r>
              <a:rPr lang="en-US" sz="1950" b="1" dirty="0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Críticos</a:t>
            </a: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— </a:t>
            </a:r>
            <a:r>
              <a:rPr lang="en-US" sz="1950" b="1" dirty="0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Parte</a:t>
            </a: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1 de 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9533AD-E866-2120-3AAA-D54FF198E98B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más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mitad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las 11 mesas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474D591-1D0D-7E5B-202A-8B1BD6739676}"/>
              </a:ext>
            </a:extLst>
          </p:cNvPr>
          <p:cNvSpPr/>
          <p:nvPr/>
        </p:nvSpPr>
        <p:spPr>
          <a:xfrm>
            <a:off x="342900" y="117957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D20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F7C26EC-B883-B59F-F60A-98F02D7CBB68}"/>
              </a:ext>
            </a:extLst>
          </p:cNvPr>
          <p:cNvSpPr/>
          <p:nvPr/>
        </p:nvSpPr>
        <p:spPr>
          <a:xfrm>
            <a:off x="960120" y="117957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Dimensionamiento sin modelo estandarizado — asignación por criterio experto, no por datos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4725FD-E949-2C5C-4A4E-8784602F59B9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BA89A9F-EFAE-F4FC-0A80-2BDCB94580CC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90153E-AB11-9659-5D2D-8BA96BC79393}"/>
              </a:ext>
            </a:extLst>
          </p:cNvPr>
          <p:cNvSpPr/>
          <p:nvPr/>
        </p:nvSpPr>
        <p:spPr>
          <a:xfrm>
            <a:off x="7955280" y="128244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11/11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F6CF520-5181-81B9-BCA9-DE6AE8125B3B}"/>
              </a:ext>
            </a:extLst>
          </p:cNvPr>
          <p:cNvSpPr/>
          <p:nvPr/>
        </p:nvSpPr>
        <p:spPr>
          <a:xfrm>
            <a:off x="342900" y="176250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D16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778023-3206-6875-3C96-2DC6C2E9EAC2}"/>
              </a:ext>
            </a:extLst>
          </p:cNvPr>
          <p:cNvSpPr/>
          <p:nvPr/>
        </p:nvSpPr>
        <p:spPr>
          <a:xfrm>
            <a:off x="960120" y="176250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conocimiento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informal — solo </a:t>
            </a: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la cabeza de las personas</a:t>
            </a:r>
            <a:endParaRPr lang="en-US" sz="900" dirty="0">
              <a:latin typeface="Reddit Sans"/>
              <a:ea typeface="Reddit Sans"/>
              <a:cs typeface="Calibri Ligh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05F7AAE-33ED-70DF-CBD3-844F11B9A264}"/>
              </a:ext>
            </a:extLst>
          </p:cNvPr>
          <p:cNvSpPr/>
          <p:nvPr/>
        </p:nvSpPr>
        <p:spPr>
          <a:xfrm>
            <a:off x="3977640" y="189966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BDFB223-37B7-CFD7-4804-1A3D9D8905F2}"/>
              </a:ext>
            </a:extLst>
          </p:cNvPr>
          <p:cNvSpPr/>
          <p:nvPr/>
        </p:nvSpPr>
        <p:spPr>
          <a:xfrm>
            <a:off x="3977640" y="1899666"/>
            <a:ext cx="3198322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4C0FDA3-7376-F340-B8A2-515947837991}"/>
              </a:ext>
            </a:extLst>
          </p:cNvPr>
          <p:cNvSpPr/>
          <p:nvPr/>
        </p:nvSpPr>
        <p:spPr>
          <a:xfrm>
            <a:off x="7244542" y="18653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9/11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C451BF-90CC-165D-112F-3ED1D93AA689}"/>
              </a:ext>
            </a:extLst>
          </p:cNvPr>
          <p:cNvSpPr/>
          <p:nvPr/>
        </p:nvSpPr>
        <p:spPr>
          <a:xfrm>
            <a:off x="342900" y="234543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D9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0400AC-2DD4-6CDE-71B1-089FC062269E}"/>
              </a:ext>
            </a:extLst>
          </p:cNvPr>
          <p:cNvSpPr/>
          <p:nvPr/>
        </p:nvSpPr>
        <p:spPr>
          <a:xfrm>
            <a:off x="960120" y="234543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estandarización de proceso ni RACI definido entre mesas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E009C9F-6938-1FE1-5CE1-25528F7DF105}"/>
              </a:ext>
            </a:extLst>
          </p:cNvPr>
          <p:cNvSpPr/>
          <p:nvPr/>
        </p:nvSpPr>
        <p:spPr>
          <a:xfrm>
            <a:off x="3977640" y="248259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2982DFC-BE78-CE29-FE95-399DE3C9FBF1}"/>
              </a:ext>
            </a:extLst>
          </p:cNvPr>
          <p:cNvSpPr/>
          <p:nvPr/>
        </p:nvSpPr>
        <p:spPr>
          <a:xfrm>
            <a:off x="3977640" y="248259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7785ACF-FCF5-A31D-2B0A-A39BCAC8DAC6}"/>
              </a:ext>
            </a:extLst>
          </p:cNvPr>
          <p:cNvSpPr/>
          <p:nvPr/>
        </p:nvSpPr>
        <p:spPr>
          <a:xfrm>
            <a:off x="6533804" y="244830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5C0E93-0BA6-854E-9D7F-632CD281F75F}"/>
              </a:ext>
            </a:extLst>
          </p:cNvPr>
          <p:cNvSpPr/>
          <p:nvPr/>
        </p:nvSpPr>
        <p:spPr>
          <a:xfrm>
            <a:off x="342900" y="292836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D13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7B120C1-B47F-F1D5-B641-F505AEF88864}"/>
              </a:ext>
            </a:extLst>
          </p:cNvPr>
          <p:cNvSpPr/>
          <p:nvPr/>
        </p:nvSpPr>
        <p:spPr>
          <a:xfrm>
            <a:off x="960120" y="292836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métricas formales ni dashboard de KPIs operacionales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067EE241-9F77-E557-1FB1-1D341AD37A61}"/>
              </a:ext>
            </a:extLst>
          </p:cNvPr>
          <p:cNvSpPr/>
          <p:nvPr/>
        </p:nvSpPr>
        <p:spPr>
          <a:xfrm>
            <a:off x="3977640" y="306552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93B6400-7FBB-D150-213E-46721B404DC7}"/>
              </a:ext>
            </a:extLst>
          </p:cNvPr>
          <p:cNvSpPr/>
          <p:nvPr/>
        </p:nvSpPr>
        <p:spPr>
          <a:xfrm>
            <a:off x="3977640" y="306552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839B680-C59A-916F-A72F-30AD16C1E6DF}"/>
              </a:ext>
            </a:extLst>
          </p:cNvPr>
          <p:cNvSpPr/>
          <p:nvPr/>
        </p:nvSpPr>
        <p:spPr>
          <a:xfrm>
            <a:off x="6533804" y="30312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19D5E76-B73E-80A9-F29B-832E99052E3A}"/>
              </a:ext>
            </a:extLst>
          </p:cNvPr>
          <p:cNvSpPr/>
          <p:nvPr/>
        </p:nvSpPr>
        <p:spPr>
          <a:xfrm>
            <a:off x="342900" y="351129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D3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F515447-CC4D-4E6C-FD0D-A330C9A9EBCE}"/>
              </a:ext>
            </a:extLst>
          </p:cNvPr>
          <p:cNvSpPr/>
          <p:nvPr/>
        </p:nvSpPr>
        <p:spPr>
          <a:xfrm>
            <a:off x="960120" y="351129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KB / KEDB documentado — resolución depende del experto disponible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C607055-9572-F24D-ED28-6DCD43F1CBA6}"/>
              </a:ext>
            </a:extLst>
          </p:cNvPr>
          <p:cNvSpPr/>
          <p:nvPr/>
        </p:nvSpPr>
        <p:spPr>
          <a:xfrm>
            <a:off x="3977640" y="364845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8EAAD36-328C-9C1E-7F56-650E123A3C0E}"/>
              </a:ext>
            </a:extLst>
          </p:cNvPr>
          <p:cNvSpPr/>
          <p:nvPr/>
        </p:nvSpPr>
        <p:spPr>
          <a:xfrm>
            <a:off x="3977640" y="3648456"/>
            <a:ext cx="2132215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12781F7-6505-78C0-F963-EBDDAC26EACE}"/>
              </a:ext>
            </a:extLst>
          </p:cNvPr>
          <p:cNvSpPr/>
          <p:nvPr/>
        </p:nvSpPr>
        <p:spPr>
          <a:xfrm>
            <a:off x="6178435" y="36141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6/11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1B4526EE-8269-D721-8C0F-E0F1414798E5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7097DFD-CD09-7E61-DDCC-E58FEBD5DD45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D20 (dimensionamiento) y D16 (knowledge)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la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totalidad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de mesas — el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problema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es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estructural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, no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operativo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.</a:t>
            </a: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3993130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80F953-661E-6F27-112F-71CF5A61526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Dolores Críticos — Parte 2 de 2 · Impacto Operacional</a:t>
            </a:r>
            <a:endParaRPr lang="en-US" sz="1950" dirty="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19271-AA76-3284-897A-19C29C233808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75" dirty="0">
                <a:solidFill>
                  <a:srgbClr val="017490"/>
                </a:solidFill>
                <a:latin typeface="Reddit Sans"/>
                <a:ea typeface="Reddit Sans"/>
                <a:cs typeface="Calibri Light" pitchFamily="34" charset="-120"/>
              </a:rPr>
              <a:t>Dolores recurrentes que generan sobrecarga, errores y riesgo de continuidad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D0C203-52D1-11B7-F34C-8E8D766DB819}"/>
              </a:ext>
            </a:extLst>
          </p:cNvPr>
          <p:cNvSpPr/>
          <p:nvPr/>
        </p:nvSpPr>
        <p:spPr>
          <a:xfrm>
            <a:off x="342900" y="113157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D7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A3DC4D-302A-4982-6B96-426D8D4A23DC}"/>
              </a:ext>
            </a:extLst>
          </p:cNvPr>
          <p:cNvSpPr/>
          <p:nvPr/>
        </p:nvSpPr>
        <p:spPr>
          <a:xfrm>
            <a:off x="960120" y="113157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Capacidad insuficiente — demanda supera el equipo disponible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C689AF-9240-48A0-5AC7-717839F265D2}"/>
              </a:ext>
            </a:extLst>
          </p:cNvPr>
          <p:cNvSpPr/>
          <p:nvPr/>
        </p:nvSpPr>
        <p:spPr>
          <a:xfrm>
            <a:off x="3977640" y="124129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5E8CD2D-51E2-4843-C65F-D4D8A80F6EE5}"/>
              </a:ext>
            </a:extLst>
          </p:cNvPr>
          <p:cNvSpPr/>
          <p:nvPr/>
        </p:nvSpPr>
        <p:spPr>
          <a:xfrm>
            <a:off x="3977641" y="1241298"/>
            <a:ext cx="1776845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52A263-6434-E495-F52B-916D5D0CCA0E}"/>
              </a:ext>
            </a:extLst>
          </p:cNvPr>
          <p:cNvSpPr/>
          <p:nvPr/>
        </p:nvSpPr>
        <p:spPr>
          <a:xfrm>
            <a:off x="5823065" y="120015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2674AB-E352-6A28-BA07-4E4823139CA2}"/>
              </a:ext>
            </a:extLst>
          </p:cNvPr>
          <p:cNvSpPr/>
          <p:nvPr/>
        </p:nvSpPr>
        <p:spPr>
          <a:xfrm>
            <a:off x="342900" y="157734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6926587-EAD0-36BB-288F-44EBBC89A11A}"/>
              </a:ext>
            </a:extLst>
          </p:cNvPr>
          <p:cNvSpPr/>
          <p:nvPr/>
        </p:nvSpPr>
        <p:spPr>
          <a:xfrm>
            <a:off x="960120" y="157734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Bus factor crítico — 1-4 personas concentran todo el conocimiento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CD169B3-6E21-9D57-9B14-353BFC408289}"/>
              </a:ext>
            </a:extLst>
          </p:cNvPr>
          <p:cNvSpPr/>
          <p:nvPr/>
        </p:nvSpPr>
        <p:spPr>
          <a:xfrm>
            <a:off x="3977640" y="168706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06545B4-2675-781C-2924-FFF77CBC379A}"/>
              </a:ext>
            </a:extLst>
          </p:cNvPr>
          <p:cNvSpPr/>
          <p:nvPr/>
        </p:nvSpPr>
        <p:spPr>
          <a:xfrm>
            <a:off x="3977641" y="1687068"/>
            <a:ext cx="1776845" cy="2331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F0FD9FE-17A5-C13D-8AE3-0351B3F0E9A6}"/>
              </a:ext>
            </a:extLst>
          </p:cNvPr>
          <p:cNvSpPr/>
          <p:nvPr/>
        </p:nvSpPr>
        <p:spPr>
          <a:xfrm>
            <a:off x="5823065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FBA18AC-75B6-69FA-7CF7-8697372C2832}"/>
              </a:ext>
            </a:extLst>
          </p:cNvPr>
          <p:cNvSpPr/>
          <p:nvPr/>
        </p:nvSpPr>
        <p:spPr>
          <a:xfrm>
            <a:off x="342900" y="202311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D18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B7179A4-48BA-FC57-1EA2-5878CDE4A7C4}"/>
              </a:ext>
            </a:extLst>
          </p:cNvPr>
          <p:cNvSpPr/>
          <p:nvPr/>
        </p:nvSpPr>
        <p:spPr>
          <a:xfrm>
            <a:off x="960120" y="202311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cobertura nocturna / fin de semana en mesas críticas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37A6487-649D-DE83-FAE5-66F08A2DFF1A}"/>
              </a:ext>
            </a:extLst>
          </p:cNvPr>
          <p:cNvSpPr/>
          <p:nvPr/>
        </p:nvSpPr>
        <p:spPr>
          <a:xfrm>
            <a:off x="3977640" y="213283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54C3707-67C9-D52A-3ACE-6324410D3F6D}"/>
              </a:ext>
            </a:extLst>
          </p:cNvPr>
          <p:cNvSpPr/>
          <p:nvPr/>
        </p:nvSpPr>
        <p:spPr>
          <a:xfrm>
            <a:off x="3977640" y="213283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218BCAB-B234-3C14-D749-2598583D665C}"/>
              </a:ext>
            </a:extLst>
          </p:cNvPr>
          <p:cNvSpPr/>
          <p:nvPr/>
        </p:nvSpPr>
        <p:spPr>
          <a:xfrm>
            <a:off x="5467697" y="209169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D0F51B3-7FFA-67FB-F1D9-A70B321065AA}"/>
              </a:ext>
            </a:extLst>
          </p:cNvPr>
          <p:cNvSpPr/>
          <p:nvPr/>
        </p:nvSpPr>
        <p:spPr>
          <a:xfrm>
            <a:off x="342900" y="246888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350811C-504F-8D01-9EC5-424C2FA76F5E}"/>
              </a:ext>
            </a:extLst>
          </p:cNvPr>
          <p:cNvSpPr/>
          <p:nvPr/>
        </p:nvSpPr>
        <p:spPr>
          <a:xfrm>
            <a:off x="960120" y="246888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Herramienta de gestión del cliente (no de PS) — sin control de datos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DCE6494D-913C-C582-62B1-59B3C84A4AAB}"/>
              </a:ext>
            </a:extLst>
          </p:cNvPr>
          <p:cNvSpPr/>
          <p:nvPr/>
        </p:nvSpPr>
        <p:spPr>
          <a:xfrm>
            <a:off x="3977640" y="257860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5FFE816-F7A8-55D6-E993-E1C8C7DA219D}"/>
              </a:ext>
            </a:extLst>
          </p:cNvPr>
          <p:cNvSpPr/>
          <p:nvPr/>
        </p:nvSpPr>
        <p:spPr>
          <a:xfrm>
            <a:off x="3977640" y="257860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AB69A29-8DF7-9614-6472-3EA8168B102D}"/>
              </a:ext>
            </a:extLst>
          </p:cNvPr>
          <p:cNvSpPr/>
          <p:nvPr/>
        </p:nvSpPr>
        <p:spPr>
          <a:xfrm>
            <a:off x="5467697" y="25374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F6837E3-97B3-EEB4-8FDA-30A05399AC08}"/>
              </a:ext>
            </a:extLst>
          </p:cNvPr>
          <p:cNvSpPr/>
          <p:nvPr/>
        </p:nvSpPr>
        <p:spPr>
          <a:xfrm>
            <a:off x="342900" y="291465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D5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DCB54BB-5757-D281-429E-DF1B9E7B5596}"/>
              </a:ext>
            </a:extLst>
          </p:cNvPr>
          <p:cNvSpPr/>
          <p:nvPr/>
        </p:nvSpPr>
        <p:spPr>
          <a:xfrm>
            <a:off x="960120" y="291465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causa raíz ni gestión proactiva de incidentes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2005D65-9513-90AD-C9FD-DB2A67EA13C9}"/>
              </a:ext>
            </a:extLst>
          </p:cNvPr>
          <p:cNvSpPr/>
          <p:nvPr/>
        </p:nvSpPr>
        <p:spPr>
          <a:xfrm>
            <a:off x="3977640" y="302437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B5C8B9-0CB0-C11D-DBF9-9624A16EFD3B}"/>
              </a:ext>
            </a:extLst>
          </p:cNvPr>
          <p:cNvSpPr/>
          <p:nvPr/>
        </p:nvSpPr>
        <p:spPr>
          <a:xfrm>
            <a:off x="3977640" y="302437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0894721-B9C0-FF29-5D72-C4A27D54300E}"/>
              </a:ext>
            </a:extLst>
          </p:cNvPr>
          <p:cNvSpPr/>
          <p:nvPr/>
        </p:nvSpPr>
        <p:spPr>
          <a:xfrm>
            <a:off x="5467697" y="298323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9B39169-5D42-6283-CE51-B129DD8F608E}"/>
              </a:ext>
            </a:extLst>
          </p:cNvPr>
          <p:cNvSpPr/>
          <p:nvPr/>
        </p:nvSpPr>
        <p:spPr>
          <a:xfrm>
            <a:off x="342900" y="336042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D15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5E1FFD80-F574-9C4B-5F30-953698879912}"/>
              </a:ext>
            </a:extLst>
          </p:cNvPr>
          <p:cNvSpPr/>
          <p:nvPr/>
        </p:nvSpPr>
        <p:spPr>
          <a:xfrm>
            <a:off x="960120" y="336042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Tickets sin documentar lección aprendida — reincidencia alta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ADCBD4FE-DBD2-F9EE-E4E5-AA5C2336CAE8}"/>
              </a:ext>
            </a:extLst>
          </p:cNvPr>
          <p:cNvSpPr/>
          <p:nvPr/>
        </p:nvSpPr>
        <p:spPr>
          <a:xfrm>
            <a:off x="3977640" y="347014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D8ECD55E-4713-B42A-FB0A-611B3253E20F}"/>
              </a:ext>
            </a:extLst>
          </p:cNvPr>
          <p:cNvSpPr/>
          <p:nvPr/>
        </p:nvSpPr>
        <p:spPr>
          <a:xfrm>
            <a:off x="3977640" y="347014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0E3360B-CFB0-0828-C870-CA6BAD8F2EC8}"/>
              </a:ext>
            </a:extLst>
          </p:cNvPr>
          <p:cNvSpPr/>
          <p:nvPr/>
        </p:nvSpPr>
        <p:spPr>
          <a:xfrm>
            <a:off x="5112327" y="34290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90F72D2F-9CB6-625E-E5E5-F4F7B8F87CE4}"/>
              </a:ext>
            </a:extLst>
          </p:cNvPr>
          <p:cNvSpPr/>
          <p:nvPr/>
        </p:nvSpPr>
        <p:spPr>
          <a:xfrm>
            <a:off x="342900" y="380619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D22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9211CE7F-7CE3-4036-23FC-59757EBE43AF}"/>
              </a:ext>
            </a:extLst>
          </p:cNvPr>
          <p:cNvSpPr/>
          <p:nvPr/>
        </p:nvSpPr>
        <p:spPr>
          <a:xfrm>
            <a:off x="960120" y="380619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Modelo económico mal calibrado — precio/ticket no refleja costo real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A834F26D-E24C-7268-7852-F404355DB86E}"/>
              </a:ext>
            </a:extLst>
          </p:cNvPr>
          <p:cNvSpPr/>
          <p:nvPr/>
        </p:nvSpPr>
        <p:spPr>
          <a:xfrm>
            <a:off x="3977640" y="391591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4CF0C8D9-5AA3-51FA-2334-7B1DB6500B44}"/>
              </a:ext>
            </a:extLst>
          </p:cNvPr>
          <p:cNvSpPr/>
          <p:nvPr/>
        </p:nvSpPr>
        <p:spPr>
          <a:xfrm>
            <a:off x="3977640" y="391591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8DCDBC2-27E4-C3C2-9F7C-9A21DF58AC0E}"/>
              </a:ext>
            </a:extLst>
          </p:cNvPr>
          <p:cNvSpPr/>
          <p:nvPr/>
        </p:nvSpPr>
        <p:spPr>
          <a:xfrm>
            <a:off x="5112327" y="387477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A3ED498-0B49-BE02-D5C9-6D2DC4BCF582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2D67EE-5E59-35EE-B905-2B8837D00FFD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Bus factor (D1) y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capacidad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(D7) son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riesgo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continuidad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inmediato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. El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modelo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económico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(D22)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debe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recalibrarse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la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propuesta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Next Gen.</a:t>
            </a:r>
            <a:endParaRPr lang="en-US" sz="900">
              <a:latin typeface="Reddit Sans"/>
              <a:ea typeface="Reddit Sans"/>
              <a:cs typeface="Calibri Light"/>
            </a:endParaRP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971066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BD62-546E-981A-BFE6-E59CC3AC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Mapa de Dolores </a:t>
            </a:r>
            <a:r>
              <a:rPr lang="es-ES"/>
              <a:t>Críticos</a:t>
            </a:r>
            <a:endParaRPr lang="es-ES" dirty="0"/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BA0FF28-AD5E-AA5B-81CF-383728684079}"/>
              </a:ext>
            </a:extLst>
          </p:cNvPr>
          <p:cNvSpPr txBox="1">
            <a:spLocks noGrp="1"/>
          </p:cNvSpPr>
          <p:nvPr/>
        </p:nvSpPr>
        <p:spPr>
          <a:xfrm>
            <a:off x="342029" y="552559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50" dirty="0">
                <a:latin typeface="Calibri"/>
              </a:rPr>
              <a:t>● Confirmado · ◐ Parcial · ○ No identificado · Agrupado por </a:t>
            </a:r>
            <a:r>
              <a:rPr lang="es-ES" sz="950">
                <a:latin typeface="Calibri"/>
              </a:rPr>
              <a:t>categoría</a:t>
            </a:r>
            <a:endParaRPr lang="es-ES" sz="950" dirty="0">
              <a:latin typeface="Calibri"/>
            </a:endParaRP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281360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41595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904784-1FEF-360A-E160-2DD109EE14D0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950" b="1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Oportunidades de Mejora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2F1F850-60C9-69E7-8C44-E9DDCD2E8873}"/>
              </a:ext>
            </a:extLst>
          </p:cNvPr>
          <p:cNvSpPr/>
          <p:nvPr/>
        </p:nvSpPr>
        <p:spPr>
          <a:xfrm>
            <a:off x="310243" y="723900"/>
            <a:ext cx="4120242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939E145-84D0-7046-ED8F-566B78FC8998}"/>
              </a:ext>
            </a:extLst>
          </p:cNvPr>
          <p:cNvSpPr/>
          <p:nvPr/>
        </p:nvSpPr>
        <p:spPr>
          <a:xfrm>
            <a:off x="310243" y="723900"/>
            <a:ext cx="4120242" cy="6858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55A45D-D824-9EB3-C40C-A9680A059E13}"/>
              </a:ext>
            </a:extLst>
          </p:cNvPr>
          <p:cNvSpPr/>
          <p:nvPr/>
        </p:nvSpPr>
        <p:spPr>
          <a:xfrm>
            <a:off x="481693" y="837655"/>
            <a:ext cx="3940628" cy="33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mesas actuales necesitan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38EC3BC-83FE-049B-BAC2-DFB58B39162D}"/>
              </a:ext>
            </a:extLst>
          </p:cNvPr>
          <p:cNvSpPr/>
          <p:nvPr/>
        </p:nvSpPr>
        <p:spPr>
          <a:xfrm>
            <a:off x="484959" y="1526721"/>
            <a:ext cx="3877491" cy="2635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Formalizar RACI y niveles en todas las mesas </a:t>
            </a:r>
            <a:endParaRPr lang="es-CO" sz="900">
              <a:solidFill>
                <a:srgbClr val="1C1C1C"/>
              </a:solidFill>
              <a:latin typeface="Reddit Sans"/>
              <a:ea typeface="Reddit Sans"/>
              <a:cs typeface="Calibri Light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CSAT básico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Documentar KEDB mínimo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para las mesas de servicio </a:t>
            </a:r>
            <a:endParaRPr lang="es-CO" sz="900" dirty="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 para la operación de </a:t>
            </a: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PersonalSoft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</a:t>
            </a:r>
            <a:endParaRPr lang="es-CO" sz="900" dirty="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automatizaciones (mesas de soporte, gestión de horas extras y recargos) (dolores de XM y Bancolombia)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el Top tendencia, para predecir comportamiento inusual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un plan carrera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Modelo de gestión del conocimiento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Se necesita un modo de dimensionamiento para las capacidades de soporte, disponibilidad y roles del equipo.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Definir un modelo de gobierno</a:t>
            </a:r>
            <a:endParaRPr lang="es-CO" sz="900">
              <a:latin typeface="Reddit Sans"/>
              <a:ea typeface="Reddit San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450DD2F-8092-F4F3-9041-C6D9786E0224}"/>
              </a:ext>
            </a:extLst>
          </p:cNvPr>
          <p:cNvSpPr/>
          <p:nvPr/>
        </p:nvSpPr>
        <p:spPr>
          <a:xfrm>
            <a:off x="4493406" y="723900"/>
            <a:ext cx="4430485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796837-BFCD-EAAD-6CB4-5BEFD896C81D}"/>
              </a:ext>
            </a:extLst>
          </p:cNvPr>
          <p:cNvSpPr/>
          <p:nvPr/>
        </p:nvSpPr>
        <p:spPr>
          <a:xfrm>
            <a:off x="4493406" y="723900"/>
            <a:ext cx="4430485" cy="6858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85B0F7B-4D98-D2F1-EA0A-AD1245E4CEB7}"/>
              </a:ext>
            </a:extLst>
          </p:cNvPr>
          <p:cNvSpPr/>
          <p:nvPr/>
        </p:nvSpPr>
        <p:spPr>
          <a:xfrm>
            <a:off x="4719284" y="837655"/>
            <a:ext cx="4294414" cy="46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Mesa de Servicio de Nueva Generación (Next Gent)</a:t>
            </a:r>
            <a:endParaRPr lang="en-US" sz="165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30686D-7B38-75EB-D3F4-D22F080F0174}"/>
              </a:ext>
            </a:extLst>
          </p:cNvPr>
          <p:cNvSpPr/>
          <p:nvPr/>
        </p:nvSpPr>
        <p:spPr>
          <a:xfrm>
            <a:off x="4787864" y="1526721"/>
            <a:ext cx="2331720" cy="209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Autoservicio ≥ 50%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AIOps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en producción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Pricing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por </a:t>
            </a: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outcomes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Insight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del mercado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Conocimiento de Negocio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Referente del sector</a:t>
            </a:r>
            <a:endParaRPr lang="en-US" sz="900" dirty="0">
              <a:solidFill>
                <a:srgbClr val="1C1C1C"/>
              </a:solidFill>
              <a:latin typeface="Reddit Sans"/>
              <a:ea typeface="Reddit Sans"/>
              <a:cs typeface="+mn-lt"/>
            </a:endParaRP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Transcripts: Diego Serna (XM), Virginia &amp; Lina (SURA/BCO), Michael Arevalo (AES), Elsy Marin (SURA), Bancolombia · Excel Levantamiento_Mesas_Julio_2026 (11 mesas levantadas)</a:t>
            </a:r>
          </a:p>
        </p:txBody>
      </p:sp>
    </p:spTree>
    <p:extLst>
      <p:ext uri="{BB962C8B-B14F-4D97-AF65-F5344CB8AC3E}">
        <p14:creationId xmlns:p14="http://schemas.microsoft.com/office/powerpoint/2010/main" val="2903737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tl"/>
          <p:cNvSpPr/>
          <p:nvPr/>
        </p:nvSpPr>
        <p:spPr>
          <a:xfrm>
            <a:off x="411480" y="228600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2400" b="1" dirty="0">
                <a:solidFill>
                  <a:srgbClr val="132346"/>
                </a:solidFill>
                <a:latin typeface="Reddit Sans"/>
              </a:rPr>
              <a:t>Benchmarks de Industria vs Mesas Actuales PersonalSoft</a:t>
            </a:r>
          </a:p>
        </p:txBody>
      </p:sp>
      <p:sp>
        <p:nvSpPr>
          <p:cNvPr id="4" name="sub"/>
          <p:cNvSpPr/>
          <p:nvPr/>
        </p:nvSpPr>
        <p:spPr>
          <a:xfrm>
            <a:off x="411480" y="704088"/>
            <a:ext cx="1136599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000" dirty="0">
                <a:solidFill>
                  <a:srgbClr val="017490"/>
                </a:solidFill>
                <a:latin typeface="Reddit Sans"/>
              </a:rPr>
              <a:t>Promedio industria · World-Class · PS Mesas Actuales · Gen Next Objetivo (N3-N5)  ·  $88.000 COP/hora-FTE · 1 USD = $4.200 COP</a:t>
            </a:r>
          </a:p>
        </p:txBody>
      </p:sp>
      <p:sp>
        <p:nvSpPr>
          <p:cNvPr id="5" name="lb"/>
          <p:cNvSpPr/>
          <p:nvPr/>
        </p:nvSpPr>
        <p:spPr>
          <a:xfrm>
            <a:off x="411480" y="987552"/>
            <a:ext cx="14630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6" name="ll"/>
          <p:cNvSpPr/>
          <p:nvPr/>
        </p:nvSpPr>
        <p:spPr>
          <a:xfrm>
            <a:off x="594360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Industria promedio</a:t>
            </a:r>
          </a:p>
        </p:txBody>
      </p:sp>
      <p:sp>
        <p:nvSpPr>
          <p:cNvPr id="7" name="lb"/>
          <p:cNvSpPr/>
          <p:nvPr/>
        </p:nvSpPr>
        <p:spPr>
          <a:xfrm>
            <a:off x="2587752" y="987552"/>
            <a:ext cx="146304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" name="ll"/>
          <p:cNvSpPr/>
          <p:nvPr/>
        </p:nvSpPr>
        <p:spPr>
          <a:xfrm>
            <a:off x="2770632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World-Class</a:t>
            </a:r>
          </a:p>
        </p:txBody>
      </p:sp>
      <p:sp>
        <p:nvSpPr>
          <p:cNvPr id="9" name="lb"/>
          <p:cNvSpPr/>
          <p:nvPr/>
        </p:nvSpPr>
        <p:spPr>
          <a:xfrm>
            <a:off x="4764024" y="987552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" name="ll"/>
          <p:cNvSpPr/>
          <p:nvPr/>
        </p:nvSpPr>
        <p:spPr>
          <a:xfrm>
            <a:off x="4946904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Gen Next N5</a:t>
            </a:r>
          </a:p>
        </p:txBody>
      </p:sp>
      <p:sp>
        <p:nvSpPr>
          <p:cNvPr id="11" name="lb"/>
          <p:cNvSpPr/>
          <p:nvPr/>
        </p:nvSpPr>
        <p:spPr>
          <a:xfrm>
            <a:off x="6940296" y="987552"/>
            <a:ext cx="146304" cy="146304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2" name="ll"/>
          <p:cNvSpPr/>
          <p:nvPr/>
        </p:nvSpPr>
        <p:spPr>
          <a:xfrm>
            <a:off x="7123176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PS Mesas Actuales</a:t>
            </a:r>
          </a:p>
        </p:txBody>
      </p:sp>
      <p:sp>
        <p:nvSpPr>
          <p:cNvPr id="13" name="lb"/>
          <p:cNvSpPr/>
          <p:nvPr/>
        </p:nvSpPr>
        <p:spPr>
          <a:xfrm>
            <a:off x="9116568" y="987552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14" name="ll"/>
          <p:cNvSpPr/>
          <p:nvPr/>
        </p:nvSpPr>
        <p:spPr>
          <a:xfrm>
            <a:off x="9299448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PS — Buena referencia</a:t>
            </a:r>
          </a:p>
        </p:txBody>
      </p:sp>
      <p:sp>
        <p:nvSpPr>
          <p:cNvPr id="15" name="c1h"/>
          <p:cNvSpPr/>
          <p:nvPr/>
        </p:nvSpPr>
        <p:spPr>
          <a:xfrm>
            <a:off x="41148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FCR — First Contact Resolution</a:t>
            </a:r>
          </a:p>
        </p:txBody>
      </p:sp>
      <p:sp>
        <p:nvSpPr>
          <p:cNvPr id="2" name="tr"/>
          <p:cNvSpPr/>
          <p:nvPr/>
        </p:nvSpPr>
        <p:spPr>
          <a:xfrm>
            <a:off x="411480" y="146304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64" name="fl"/>
          <p:cNvSpPr/>
          <p:nvPr/>
        </p:nvSpPr>
        <p:spPr>
          <a:xfrm>
            <a:off x="411480" y="1463040"/>
            <a:ext cx="2638958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65" name="lb"/>
          <p:cNvSpPr/>
          <p:nvPr/>
        </p:nvSpPr>
        <p:spPr>
          <a:xfrm>
            <a:off x="466344" y="1463040"/>
            <a:ext cx="260238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74%  Promedio industria</a:t>
            </a:r>
          </a:p>
        </p:txBody>
      </p:sp>
      <p:sp>
        <p:nvSpPr>
          <p:cNvPr id="66" name="tr"/>
          <p:cNvSpPr/>
          <p:nvPr/>
        </p:nvSpPr>
        <p:spPr>
          <a:xfrm>
            <a:off x="411480" y="179222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6" name="fl"/>
          <p:cNvSpPr/>
          <p:nvPr/>
        </p:nvSpPr>
        <p:spPr>
          <a:xfrm>
            <a:off x="411480" y="1792224"/>
            <a:ext cx="2852928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7" name="lb"/>
          <p:cNvSpPr/>
          <p:nvPr/>
        </p:nvSpPr>
        <p:spPr>
          <a:xfrm>
            <a:off x="466344" y="1792224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80%+  World-Class</a:t>
            </a:r>
          </a:p>
        </p:txBody>
      </p:sp>
      <p:sp>
        <p:nvSpPr>
          <p:cNvPr id="20" name="tr"/>
          <p:cNvSpPr/>
          <p:nvPr/>
        </p:nvSpPr>
        <p:spPr>
          <a:xfrm>
            <a:off x="411480" y="2121408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21" name="fl"/>
          <p:cNvSpPr/>
          <p:nvPr/>
        </p:nvSpPr>
        <p:spPr>
          <a:xfrm>
            <a:off x="411480" y="2121408"/>
            <a:ext cx="3031236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22" name="lb"/>
          <p:cNvSpPr/>
          <p:nvPr/>
        </p:nvSpPr>
        <p:spPr>
          <a:xfrm>
            <a:off x="466344" y="2121408"/>
            <a:ext cx="29946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85%+  Gen Next (N5)</a:t>
            </a:r>
          </a:p>
        </p:txBody>
      </p:sp>
      <p:sp>
        <p:nvSpPr>
          <p:cNvPr id="67" name="ps_fcr"/>
          <p:cNvSpPr/>
          <p:nvPr/>
        </p:nvSpPr>
        <p:spPr>
          <a:xfrm>
            <a:off x="411480" y="2450592"/>
            <a:ext cx="3566160" cy="25603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68" name="pfl"/>
          <p:cNvSpPr/>
          <p:nvPr/>
        </p:nvSpPr>
        <p:spPr>
          <a:xfrm>
            <a:off x="484632" y="2450592"/>
            <a:ext cx="341985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0 mesas miden FCR — no medido formalmente</a:t>
            </a:r>
          </a:p>
        </p:txBody>
      </p:sp>
      <p:sp>
        <p:nvSpPr>
          <p:cNvPr id="18" name="dh"/>
          <p:cNvSpPr/>
          <p:nvPr/>
        </p:nvSpPr>
        <p:spPr>
          <a:xfrm>
            <a:off x="411480" y="299923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Deflection Rate (N0 Autoservicio)</a:t>
            </a:r>
          </a:p>
        </p:txBody>
      </p:sp>
      <p:sp>
        <p:nvSpPr>
          <p:cNvPr id="50" name="tr"/>
          <p:cNvSpPr/>
          <p:nvPr/>
        </p:nvSpPr>
        <p:spPr>
          <a:xfrm>
            <a:off x="411480" y="3273552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51" name="fl"/>
          <p:cNvSpPr/>
          <p:nvPr/>
        </p:nvSpPr>
        <p:spPr>
          <a:xfrm>
            <a:off x="411480" y="3273552"/>
            <a:ext cx="820216" cy="256032"/>
          </a:xfrm>
          <a:prstGeom prst="rect">
            <a:avLst/>
          </a:prstGeom>
          <a:solidFill>
            <a:srgbClr val="A0A0A0"/>
          </a:solidFill>
          <a:ln>
            <a:noFill/>
          </a:ln>
        </p:spPr>
      </p:sp>
      <p:sp>
        <p:nvSpPr>
          <p:cNvPr id="52" name="lb"/>
          <p:cNvSpPr/>
          <p:nvPr/>
        </p:nvSpPr>
        <p:spPr>
          <a:xfrm>
            <a:off x="466344" y="3273552"/>
            <a:ext cx="783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A0A0A0"/>
                </a:solidFill>
                <a:latin typeface="Reddit Sans"/>
              </a:rPr>
              <a:t>23%  industria</a:t>
            </a:r>
          </a:p>
        </p:txBody>
      </p:sp>
      <p:sp>
        <p:nvSpPr>
          <p:cNvPr id="55" name="tr"/>
          <p:cNvSpPr/>
          <p:nvPr/>
        </p:nvSpPr>
        <p:spPr>
          <a:xfrm>
            <a:off x="411480" y="360273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56" name="fl"/>
          <p:cNvSpPr/>
          <p:nvPr/>
        </p:nvSpPr>
        <p:spPr>
          <a:xfrm>
            <a:off x="411480" y="3602736"/>
            <a:ext cx="1783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57" name="lb"/>
          <p:cNvSpPr/>
          <p:nvPr/>
        </p:nvSpPr>
        <p:spPr>
          <a:xfrm>
            <a:off x="466344" y="3602736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50%  maduro</a:t>
            </a:r>
          </a:p>
        </p:txBody>
      </p:sp>
      <p:sp>
        <p:nvSpPr>
          <p:cNvPr id="60" name="tr"/>
          <p:cNvSpPr/>
          <p:nvPr/>
        </p:nvSpPr>
        <p:spPr>
          <a:xfrm>
            <a:off x="411480" y="393192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61" name="fl"/>
          <p:cNvSpPr/>
          <p:nvPr/>
        </p:nvSpPr>
        <p:spPr>
          <a:xfrm>
            <a:off x="411480" y="3931920"/>
            <a:ext cx="3031236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62" name="lb"/>
          <p:cNvSpPr/>
          <p:nvPr/>
        </p:nvSpPr>
        <p:spPr>
          <a:xfrm>
            <a:off x="466344" y="3931920"/>
            <a:ext cx="29946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85%+  Gen Next IA</a:t>
            </a:r>
          </a:p>
        </p:txBody>
      </p:sp>
      <p:sp>
        <p:nvSpPr>
          <p:cNvPr id="19" name="ps_def"/>
          <p:cNvSpPr/>
          <p:nvPr/>
        </p:nvSpPr>
        <p:spPr>
          <a:xfrm>
            <a:off x="411480" y="4261104"/>
            <a:ext cx="3566160" cy="25603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69" name="pdl"/>
          <p:cNvSpPr/>
          <p:nvPr/>
        </p:nvSpPr>
        <p:spPr>
          <a:xfrm>
            <a:off x="484632" y="4261104"/>
            <a:ext cx="341985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0% deflexión — ninguna mesa tiene N0</a:t>
            </a:r>
          </a:p>
        </p:txBody>
      </p:sp>
      <p:sp>
        <p:nvSpPr>
          <p:cNvPr id="70" name="c2h"/>
          <p:cNvSpPr/>
          <p:nvPr/>
        </p:nvSpPr>
        <p:spPr>
          <a:xfrm>
            <a:off x="4306824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MTTR — Mean Time to Resolution</a:t>
            </a:r>
          </a:p>
        </p:txBody>
      </p:sp>
      <p:sp>
        <p:nvSpPr>
          <p:cNvPr id="80" name="tr"/>
          <p:cNvSpPr/>
          <p:nvPr/>
        </p:nvSpPr>
        <p:spPr>
          <a:xfrm>
            <a:off x="4306824" y="146304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1" name="fl"/>
          <p:cNvSpPr/>
          <p:nvPr/>
        </p:nvSpPr>
        <p:spPr>
          <a:xfrm>
            <a:off x="4306824" y="1463040"/>
            <a:ext cx="126242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82" name="lb"/>
          <p:cNvSpPr/>
          <p:nvPr/>
        </p:nvSpPr>
        <p:spPr>
          <a:xfrm>
            <a:off x="4361688" y="1463040"/>
            <a:ext cx="122584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1B7B85"/>
                </a:solidFill>
                <a:latin typeface="Reddit Sans"/>
              </a:rPr>
              <a:t>8.85h  Bueno (industria)</a:t>
            </a:r>
          </a:p>
        </p:txBody>
      </p:sp>
      <p:sp>
        <p:nvSpPr>
          <p:cNvPr id="85" name="tr"/>
          <p:cNvSpPr/>
          <p:nvPr/>
        </p:nvSpPr>
        <p:spPr>
          <a:xfrm>
            <a:off x="4306824" y="179222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6" name="fl"/>
          <p:cNvSpPr/>
          <p:nvPr/>
        </p:nvSpPr>
        <p:spPr>
          <a:xfrm>
            <a:off x="4306824" y="1792224"/>
            <a:ext cx="570585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7" name="lb"/>
          <p:cNvSpPr/>
          <p:nvPr/>
        </p:nvSpPr>
        <p:spPr>
          <a:xfrm>
            <a:off x="4361688" y="1792224"/>
            <a:ext cx="534009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0D1B5E"/>
                </a:solidFill>
                <a:latin typeface="Reddit Sans"/>
              </a:rPr>
              <a:t>&lt;4h  World-Class</a:t>
            </a:r>
          </a:p>
        </p:txBody>
      </p:sp>
      <p:sp>
        <p:nvSpPr>
          <p:cNvPr id="90" name="tr"/>
          <p:cNvSpPr/>
          <p:nvPr/>
        </p:nvSpPr>
        <p:spPr>
          <a:xfrm>
            <a:off x="4306824" y="2121408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1" name="fl"/>
          <p:cNvSpPr/>
          <p:nvPr/>
        </p:nvSpPr>
        <p:spPr>
          <a:xfrm>
            <a:off x="4306824" y="2121408"/>
            <a:ext cx="142646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92" name="lb"/>
          <p:cNvSpPr/>
          <p:nvPr/>
        </p:nvSpPr>
        <p:spPr>
          <a:xfrm>
            <a:off x="4361688" y="2121408"/>
            <a:ext cx="10607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0D1B5E"/>
                </a:solidFill>
                <a:latin typeface="Reddit Sans"/>
              </a:rPr>
              <a:t>&lt;1h  Gen Next (N5)</a:t>
            </a:r>
          </a:p>
        </p:txBody>
      </p:sp>
      <p:sp>
        <p:nvSpPr>
          <p:cNvPr id="95" name="tr"/>
          <p:cNvSpPr/>
          <p:nvPr/>
        </p:nvSpPr>
        <p:spPr>
          <a:xfrm>
            <a:off x="4306824" y="2450592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6" name="fl"/>
          <p:cNvSpPr/>
          <p:nvPr/>
        </p:nvSpPr>
        <p:spPr>
          <a:xfrm>
            <a:off x="4306824" y="2450592"/>
            <a:ext cx="425086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97" name="lb"/>
          <p:cNvSpPr/>
          <p:nvPr/>
        </p:nvSpPr>
        <p:spPr>
          <a:xfrm>
            <a:off x="4361688" y="2450592"/>
            <a:ext cx="38851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1F7A4D"/>
                </a:solidFill>
                <a:latin typeface="Reddit Sans"/>
              </a:rPr>
              <a:t>SURA Auto: 2.98h ✓</a:t>
            </a:r>
          </a:p>
        </p:txBody>
      </p:sp>
      <p:sp>
        <p:nvSpPr>
          <p:cNvPr id="100" name="tr"/>
          <p:cNvSpPr/>
          <p:nvPr/>
        </p:nvSpPr>
        <p:spPr>
          <a:xfrm>
            <a:off x="4306824" y="277977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1" name="fl"/>
          <p:cNvSpPr/>
          <p:nvPr/>
        </p:nvSpPr>
        <p:spPr>
          <a:xfrm>
            <a:off x="4306824" y="2779776"/>
            <a:ext cx="1765962" cy="256032"/>
          </a:xfrm>
          <a:prstGeom prst="rect">
            <a:avLst/>
          </a:prstGeom>
          <a:solidFill>
            <a:srgbClr val="132346"/>
          </a:solidFill>
          <a:ln>
            <a:noFill/>
          </a:ln>
        </p:spPr>
      </p:sp>
      <p:sp>
        <p:nvSpPr>
          <p:cNvPr id="102" name="lb"/>
          <p:cNvSpPr/>
          <p:nvPr/>
        </p:nvSpPr>
        <p:spPr>
          <a:xfrm>
            <a:off x="4361688" y="2779776"/>
            <a:ext cx="172938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Venta Digital: 12.38h</a:t>
            </a:r>
          </a:p>
        </p:txBody>
      </p:sp>
      <p:sp>
        <p:nvSpPr>
          <p:cNvPr id="105" name="tr"/>
          <p:cNvSpPr/>
          <p:nvPr/>
        </p:nvSpPr>
        <p:spPr>
          <a:xfrm>
            <a:off x="4306824" y="310896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6" name="fl"/>
          <p:cNvSpPr/>
          <p:nvPr/>
        </p:nvSpPr>
        <p:spPr>
          <a:xfrm>
            <a:off x="4306824" y="3108960"/>
            <a:ext cx="2556223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07" name="lb"/>
          <p:cNvSpPr/>
          <p:nvPr/>
        </p:nvSpPr>
        <p:spPr>
          <a:xfrm>
            <a:off x="4361688" y="3108960"/>
            <a:ext cx="2519647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Canales Masivos: 17.92h</a:t>
            </a:r>
          </a:p>
        </p:txBody>
      </p:sp>
      <p:sp>
        <p:nvSpPr>
          <p:cNvPr id="110" name="tr"/>
          <p:cNvSpPr/>
          <p:nvPr/>
        </p:nvSpPr>
        <p:spPr>
          <a:xfrm>
            <a:off x="4306824" y="343814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11" name="fl"/>
          <p:cNvSpPr/>
          <p:nvPr/>
        </p:nvSpPr>
        <p:spPr>
          <a:xfrm>
            <a:off x="4306824" y="3438144"/>
            <a:ext cx="3506248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12" name="lb"/>
          <p:cNvSpPr/>
          <p:nvPr/>
        </p:nvSpPr>
        <p:spPr>
          <a:xfrm>
            <a:off x="4361688" y="3438144"/>
            <a:ext cx="346967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Cotizadores: 24.58h 🔴</a:t>
            </a:r>
          </a:p>
        </p:txBody>
      </p:sp>
      <p:sp>
        <p:nvSpPr>
          <p:cNvPr id="71" name="gih"/>
          <p:cNvSpPr/>
          <p:nvPr/>
        </p:nvSpPr>
        <p:spPr>
          <a:xfrm>
            <a:off x="4306824" y="395020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Impacto GenAI en Métricas</a:t>
            </a:r>
          </a:p>
        </p:txBody>
      </p:sp>
      <p:sp>
        <p:nvSpPr>
          <p:cNvPr id="23" name="gr"/>
          <p:cNvSpPr/>
          <p:nvPr/>
        </p:nvSpPr>
        <p:spPr>
          <a:xfrm>
            <a:off x="4306824" y="4224528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24" name="gm"/>
          <p:cNvSpPr/>
          <p:nvPr/>
        </p:nvSpPr>
        <p:spPr>
          <a:xfrm>
            <a:off x="4361688" y="42245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↓ MTTR</a:t>
            </a:r>
          </a:p>
        </p:txBody>
      </p:sp>
      <p:sp>
        <p:nvSpPr>
          <p:cNvPr id="25" name="gv"/>
          <p:cNvSpPr/>
          <p:nvPr/>
        </p:nvSpPr>
        <p:spPr>
          <a:xfrm>
            <a:off x="5861304" y="42245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B3261E"/>
                </a:solidFill>
                <a:latin typeface="Reddit Sans"/>
              </a:rPr>
              <a:t>-26.6%</a:t>
            </a:r>
          </a:p>
        </p:txBody>
      </p:sp>
      <p:sp>
        <p:nvSpPr>
          <p:cNvPr id="26" name="gr"/>
          <p:cNvSpPr/>
          <p:nvPr/>
        </p:nvSpPr>
        <p:spPr>
          <a:xfrm>
            <a:off x="4306824" y="4498848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27" name="gm"/>
          <p:cNvSpPr/>
          <p:nvPr/>
        </p:nvSpPr>
        <p:spPr>
          <a:xfrm>
            <a:off x="4361688" y="44988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Resolución</a:t>
            </a:r>
          </a:p>
        </p:txBody>
      </p:sp>
      <p:sp>
        <p:nvSpPr>
          <p:cNvPr id="28" name="gv"/>
          <p:cNvSpPr/>
          <p:nvPr/>
        </p:nvSpPr>
        <p:spPr>
          <a:xfrm>
            <a:off x="5861304" y="44988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+34.6%</a:t>
            </a:r>
          </a:p>
        </p:txBody>
      </p:sp>
      <p:sp>
        <p:nvSpPr>
          <p:cNvPr id="29" name="gr"/>
          <p:cNvSpPr/>
          <p:nvPr/>
        </p:nvSpPr>
        <p:spPr>
          <a:xfrm>
            <a:off x="4306824" y="4773168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30" name="gm"/>
          <p:cNvSpPr/>
          <p:nvPr/>
        </p:nvSpPr>
        <p:spPr>
          <a:xfrm>
            <a:off x="4361688" y="4773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CSAT c/espera</a:t>
            </a:r>
          </a:p>
        </p:txBody>
      </p:sp>
      <p:sp>
        <p:nvSpPr>
          <p:cNvPr id="31" name="gv"/>
          <p:cNvSpPr/>
          <p:nvPr/>
        </p:nvSpPr>
        <p:spPr>
          <a:xfrm>
            <a:off x="5861304" y="47731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+15-22 pts</a:t>
            </a:r>
          </a:p>
        </p:txBody>
      </p:sp>
      <p:sp>
        <p:nvSpPr>
          <p:cNvPr id="32" name="gr"/>
          <p:cNvSpPr/>
          <p:nvPr/>
        </p:nvSpPr>
        <p:spPr>
          <a:xfrm>
            <a:off x="4306824" y="5047488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3" name="gm"/>
          <p:cNvSpPr/>
          <p:nvPr/>
        </p:nvSpPr>
        <p:spPr>
          <a:xfrm>
            <a:off x="4361688" y="50474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FCR con KCS+IA</a:t>
            </a:r>
          </a:p>
        </p:txBody>
      </p:sp>
      <p:sp>
        <p:nvSpPr>
          <p:cNvPr id="34" name="gv"/>
          <p:cNvSpPr/>
          <p:nvPr/>
        </p:nvSpPr>
        <p:spPr>
          <a:xfrm>
            <a:off x="5861304" y="50474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5-7 pts</a:t>
            </a:r>
          </a:p>
        </p:txBody>
      </p:sp>
      <p:sp>
        <p:nvSpPr>
          <p:cNvPr id="35" name="c3h"/>
          <p:cNvSpPr/>
          <p:nvPr/>
        </p:nvSpPr>
        <p:spPr>
          <a:xfrm>
            <a:off x="8202168" y="11887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Costo por Ticket (USD)</a:t>
            </a:r>
          </a:p>
        </p:txBody>
      </p:sp>
      <p:sp>
        <p:nvSpPr>
          <p:cNvPr id="36" name="fl"/>
          <p:cNvSpPr/>
          <p:nvPr/>
        </p:nvSpPr>
        <p:spPr>
          <a:xfrm>
            <a:off x="8202168" y="1463040"/>
            <a:ext cx="45720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37" name="cl"/>
          <p:cNvSpPr/>
          <p:nvPr/>
        </p:nvSpPr>
        <p:spPr>
          <a:xfrm>
            <a:off x="8257032" y="146304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N0: $2</a:t>
            </a:r>
          </a:p>
        </p:txBody>
      </p:sp>
      <p:sp>
        <p:nvSpPr>
          <p:cNvPr id="38" name="cd"/>
          <p:cNvSpPr/>
          <p:nvPr/>
        </p:nvSpPr>
        <p:spPr>
          <a:xfrm>
            <a:off x="8321040" y="14630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Autoservicio</a:t>
            </a:r>
          </a:p>
        </p:txBody>
      </p:sp>
      <p:sp>
        <p:nvSpPr>
          <p:cNvPr id="39" name="fl"/>
          <p:cNvSpPr/>
          <p:nvPr/>
        </p:nvSpPr>
        <p:spPr>
          <a:xfrm>
            <a:off x="8202168" y="1828800"/>
            <a:ext cx="640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0" name="cl"/>
          <p:cNvSpPr/>
          <p:nvPr/>
        </p:nvSpPr>
        <p:spPr>
          <a:xfrm>
            <a:off x="8257032" y="182880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N1: $22-35</a:t>
            </a:r>
          </a:p>
        </p:txBody>
      </p:sp>
      <p:sp>
        <p:nvSpPr>
          <p:cNvPr id="41" name="cd"/>
          <p:cNvSpPr/>
          <p:nvPr/>
        </p:nvSpPr>
        <p:spPr>
          <a:xfrm>
            <a:off x="8915400" y="18288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1er contacto</a:t>
            </a:r>
          </a:p>
        </p:txBody>
      </p:sp>
      <p:sp>
        <p:nvSpPr>
          <p:cNvPr id="42" name="fl"/>
          <p:cNvSpPr/>
          <p:nvPr/>
        </p:nvSpPr>
        <p:spPr>
          <a:xfrm>
            <a:off x="8202168" y="2194560"/>
            <a:ext cx="1577340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43" name="cl"/>
          <p:cNvSpPr/>
          <p:nvPr/>
        </p:nvSpPr>
        <p:spPr>
          <a:xfrm>
            <a:off x="8257032" y="2194560"/>
            <a:ext cx="15041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N2: $69</a:t>
            </a:r>
          </a:p>
        </p:txBody>
      </p:sp>
      <p:sp>
        <p:nvSpPr>
          <p:cNvPr id="44" name="cd"/>
          <p:cNvSpPr/>
          <p:nvPr/>
        </p:nvSpPr>
        <p:spPr>
          <a:xfrm>
            <a:off x="9852660" y="2194560"/>
            <a:ext cx="20345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Técnico</a:t>
            </a:r>
          </a:p>
        </p:txBody>
      </p:sp>
      <p:sp>
        <p:nvSpPr>
          <p:cNvPr id="45" name="fl"/>
          <p:cNvSpPr/>
          <p:nvPr/>
        </p:nvSpPr>
        <p:spPr>
          <a:xfrm>
            <a:off x="8202168" y="2560320"/>
            <a:ext cx="2377440" cy="256032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6" name="cl"/>
          <p:cNvSpPr/>
          <p:nvPr/>
        </p:nvSpPr>
        <p:spPr>
          <a:xfrm>
            <a:off x="8257032" y="256032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N3: $104</a:t>
            </a:r>
          </a:p>
        </p:txBody>
      </p:sp>
      <p:sp>
        <p:nvSpPr>
          <p:cNvPr id="47" name="cd"/>
          <p:cNvSpPr/>
          <p:nvPr/>
        </p:nvSpPr>
        <p:spPr>
          <a:xfrm>
            <a:off x="10652760" y="256032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Arquitecto</a:t>
            </a:r>
          </a:p>
        </p:txBody>
      </p:sp>
      <p:sp>
        <p:nvSpPr>
          <p:cNvPr id="48" name="slbg"/>
          <p:cNvSpPr/>
          <p:nvPr/>
        </p:nvSpPr>
        <p:spPr>
          <a:xfrm>
            <a:off x="8202168" y="2926080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F7A4D"/>
            </a:solidFill>
          </a:ln>
        </p:spPr>
      </p:sp>
      <p:sp>
        <p:nvSpPr>
          <p:cNvPr id="49" name="slt"/>
          <p:cNvSpPr/>
          <p:nvPr/>
        </p:nvSpPr>
        <p:spPr>
          <a:xfrm>
            <a:off x="8275320" y="2926080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80" b="1" dirty="0">
                <a:solidFill>
                  <a:srgbClr val="1F7A4D"/>
                </a:solidFill>
                <a:latin typeface="Reddit Sans"/>
              </a:rPr>
              <a:t>↓ Shift-Left: cada punto de deflexión = ahorro $22-102</a:t>
            </a:r>
          </a:p>
        </p:txBody>
      </p:sp>
      <p:sp>
        <p:nvSpPr>
          <p:cNvPr id="72" name="psbg"/>
          <p:cNvSpPr/>
          <p:nvPr/>
        </p:nvSpPr>
        <p:spPr>
          <a:xfrm>
            <a:off x="8202168" y="3310128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9525">
            <a:solidFill>
              <a:srgbClr val="D4A017"/>
            </a:solidFill>
          </a:ln>
        </p:spPr>
      </p:sp>
      <p:sp>
        <p:nvSpPr>
          <p:cNvPr id="73" name="psh"/>
          <p:cNvSpPr/>
          <p:nvPr/>
        </p:nvSpPr>
        <p:spPr>
          <a:xfrm>
            <a:off x="8275320" y="3310128"/>
            <a:ext cx="351129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80" b="1" dirty="0">
                <a:solidFill>
                  <a:srgbClr val="D4A017"/>
                </a:solidFill>
                <a:latin typeface="Reddit Sans"/>
              </a:rPr>
              <a:t>PS Mesas Actuales — Costo/ticket calculado</a:t>
            </a:r>
          </a:p>
        </p:txBody>
      </p:sp>
      <p:sp>
        <p:nvSpPr>
          <p:cNvPr id="74" name="pc0"/>
          <p:cNvSpPr/>
          <p:nvPr/>
        </p:nvSpPr>
        <p:spPr>
          <a:xfrm>
            <a:off x="8275320" y="3529584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SURA Cotizadores: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$40  (+$5 vs ind.)</a:t>
            </a:r>
          </a:p>
        </p:txBody>
      </p:sp>
      <p:sp>
        <p:nvSpPr>
          <p:cNvPr id="53" name="pc1"/>
          <p:cNvSpPr/>
          <p:nvPr/>
        </p:nvSpPr>
        <p:spPr>
          <a:xfrm>
            <a:off x="8275320" y="3602736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SURA Automatización: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$39  (+$4 vs ind.)</a:t>
            </a:r>
          </a:p>
        </p:txBody>
      </p:sp>
      <p:sp>
        <p:nvSpPr>
          <p:cNvPr id="54" name="pc2"/>
          <p:cNvSpPr/>
          <p:nvPr/>
        </p:nvSpPr>
        <p:spPr>
          <a:xfrm>
            <a:off x="8275320" y="3675888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XM Apps Críticas: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$149  (24x7 / 4 FTE ⚠)</a:t>
            </a:r>
          </a:p>
        </p:txBody>
      </p:sp>
      <p:sp>
        <p:nvSpPr>
          <p:cNvPr id="75" name="csath"/>
          <p:cNvSpPr/>
          <p:nvPr/>
        </p:nvSpPr>
        <p:spPr>
          <a:xfrm>
            <a:off x="8202168" y="380390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CSAT Objetivo</a:t>
            </a:r>
          </a:p>
        </p:txBody>
      </p:sp>
      <p:sp>
        <p:nvSpPr>
          <p:cNvPr id="76" name="dout"/>
          <p:cNvSpPr/>
          <p:nvPr/>
        </p:nvSpPr>
        <p:spPr>
          <a:xfrm>
            <a:off x="8567928" y="4059936"/>
            <a:ext cx="1097280" cy="109728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38100">
            <a:solidFill>
              <a:srgbClr val="1B7B85"/>
            </a:solidFill>
          </a:ln>
        </p:spPr>
      </p:sp>
      <p:sp>
        <p:nvSpPr>
          <p:cNvPr id="77" name="din"/>
          <p:cNvSpPr/>
          <p:nvPr/>
        </p:nvSpPr>
        <p:spPr>
          <a:xfrm>
            <a:off x="8769096" y="4261104"/>
            <a:ext cx="694944" cy="694944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58" name="dn"/>
          <p:cNvSpPr/>
          <p:nvPr/>
        </p:nvSpPr>
        <p:spPr>
          <a:xfrm>
            <a:off x="8567928" y="420624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500" b="1" dirty="0">
                <a:solidFill>
                  <a:srgbClr val="132346"/>
                </a:solidFill>
                <a:latin typeface="Reddit Sans"/>
              </a:rPr>
              <a:t>73-86%</a:t>
            </a:r>
          </a:p>
        </p:txBody>
      </p:sp>
      <p:sp>
        <p:nvSpPr>
          <p:cNvPr id="59" name="dl"/>
          <p:cNvSpPr/>
          <p:nvPr/>
        </p:nvSpPr>
        <p:spPr>
          <a:xfrm>
            <a:off x="8567928" y="462686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industria</a:t>
            </a:r>
          </a:p>
        </p:txBody>
      </p:sp>
      <p:sp>
        <p:nvSpPr>
          <p:cNvPr id="78" name="dn5"/>
          <p:cNvSpPr/>
          <p:nvPr/>
        </p:nvSpPr>
        <p:spPr>
          <a:xfrm>
            <a:off x="8567928" y="479145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80" b="1" dirty="0">
                <a:solidFill>
                  <a:srgbClr val="D4A017"/>
                </a:solidFill>
                <a:latin typeface="Reddit Sans"/>
              </a:rPr>
              <a:t>≥92% N5</a:t>
            </a:r>
          </a:p>
        </p:txBody>
      </p:sp>
      <p:sp>
        <p:nvSpPr>
          <p:cNvPr id="79" name="ps_cs"/>
          <p:cNvSpPr/>
          <p:nvPr/>
        </p:nvSpPr>
        <p:spPr>
          <a:xfrm>
            <a:off x="9802368" y="4059936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83" name="pscst"/>
          <p:cNvSpPr/>
          <p:nvPr/>
        </p:nvSpPr>
        <p:spPr>
          <a:xfrm>
            <a:off x="9848088" y="42976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sin CSAT</a:t>
            </a:r>
          </a:p>
          <a:p>
            <a:pPr marL="0" indent="0" algn="ctr">
              <a:buNone/>
            </a:pPr>
            <a:r>
              <a:rPr lang="es-ES" sz="800" dirty="0">
                <a:solidFill>
                  <a:srgbClr val="B3261E"/>
                </a:solidFill>
                <a:latin typeface="Reddit Sans"/>
              </a:rPr>
              <a:t>formal en ninguna mesa</a:t>
            </a:r>
          </a:p>
        </p:txBody>
      </p:sp>
      <p:sp>
        <p:nvSpPr>
          <p:cNvPr id="63" name="src"/>
          <p:cNvSpPr/>
          <p:nvPr/>
        </p:nvSpPr>
        <p:spPr>
          <a:xfrm>
            <a:off x="411480" y="6510528"/>
            <a:ext cx="1136599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750" i="1" dirty="0">
                <a:solidFill>
                  <a:srgbClr val="5A6472"/>
                </a:solidFill>
                <a:latin typeface="Reddit Sans"/>
              </a:rPr>
              <a:t>Fuente: SQM Group FCR · HDI Standard · MetricNet/HDI MTTR · HelpDeskFocus · Freshservice Benchmark 2024 · Giva · Kwestra · PS Levantamiento Julio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 err="1">
                <a:solidFill>
                  <a:schemeClr val="accent1">
                    <a:lumMod val="49000"/>
                  </a:schemeClr>
                </a:solidFill>
                <a:latin typeface="Calibri"/>
              </a:rPr>
              <a:t>Metodologia</a:t>
            </a:r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Calibri"/>
              </a:rPr>
              <a:t>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 dirty="0">
                <a:solidFill>
                  <a:schemeClr val="accent1">
                    <a:lumMod val="49000"/>
                  </a:schemeClr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MEDICARTE*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(no evaluada)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 dirty="0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 dirty="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✓  SURA Automatización — Mejor desempeño: </a:t>
            </a:r>
            <a:r>
              <a:rPr lang="es-ES" sz="840" dirty="0">
                <a:solidFill>
                  <a:srgbClr val="1A6B3C"/>
                </a:solidFill>
                <a:latin typeface="Calibri"/>
              </a:rPr>
              <a:t>MTTR 2.98h · SLA 98% — mejor desempeño en mesas N2. Referencia interna de eficiencia operacional.erencia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 · *MEDICARTE: datos preliminares, no evaluada formalmente en Julio 2026ripts: Elsy Marin (SURA), Michael Arevalo (AES), Diego Serna (XM), Virginia &amp; Lina (BCO), Bancolombia · Benchmarks: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1153426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3F43-04D1-9DE1-63DA-1526768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dit Sans Light"/>
                <a:cs typeface="Reddit Sans Light"/>
              </a:rPr>
              <a:t>Lo </a:t>
            </a:r>
            <a:r>
              <a:rPr lang="en-US" dirty="0" err="1">
                <a:latin typeface="Reddit Sans Light"/>
                <a:cs typeface="Reddit Sans Light"/>
              </a:rPr>
              <a:t>que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nos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dijeron</a:t>
            </a:r>
            <a:r>
              <a:rPr lang="en-US" dirty="0">
                <a:latin typeface="Reddit Sans Light"/>
                <a:cs typeface="Reddit Sans Light"/>
              </a:rPr>
              <a:t> — Voz </a:t>
            </a:r>
            <a:r>
              <a:rPr lang="en-US" dirty="0" err="1">
                <a:latin typeface="Reddit Sans Light"/>
                <a:cs typeface="Reddit Sans Light"/>
              </a:rPr>
              <a:t>directa</a:t>
            </a:r>
            <a:r>
              <a:rPr lang="en-US" dirty="0">
                <a:latin typeface="Reddit Sans Light"/>
                <a:cs typeface="Reddit Sans Light"/>
              </a:rPr>
              <a:t> de </a:t>
            </a:r>
            <a:r>
              <a:rPr lang="en-US" dirty="0" err="1">
                <a:latin typeface="Reddit Sans Light"/>
                <a:cs typeface="Reddit Sans Light"/>
              </a:rPr>
              <a:t>los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líderes</a:t>
            </a:r>
            <a:r>
              <a:rPr lang="en-US" dirty="0">
                <a:latin typeface="Reddit Sans Light"/>
                <a:cs typeface="Reddit Sans Light"/>
              </a:rPr>
              <a:t> de mesa</a:t>
            </a:r>
            <a:endParaRPr lang="es-ES" dirty="0">
              <a:latin typeface="Reddit Sans Light"/>
              <a:cs typeface="Reddit Sans Light"/>
            </a:endParaRPr>
          </a:p>
          <a:p>
            <a:endParaRPr lang="es-ES" dirty="0">
              <a:latin typeface="Reddit Sans Light"/>
              <a:cs typeface="Reddit Sans Ligh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180CFB9-3873-7C00-C153-CF971F4BECF1}"/>
              </a:ext>
            </a:extLst>
          </p:cNvPr>
          <p:cNvSpPr/>
          <p:nvPr/>
        </p:nvSpPr>
        <p:spPr>
          <a:xfrm>
            <a:off x="34290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021ADA5-5DD0-5C06-1D2C-DB5B28934647}"/>
              </a:ext>
            </a:extLst>
          </p:cNvPr>
          <p:cNvSpPr/>
          <p:nvPr/>
        </p:nvSpPr>
        <p:spPr>
          <a:xfrm>
            <a:off x="48006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04C9EB-2BA1-0C92-FA80-62712063B242}"/>
              </a:ext>
            </a:extLst>
          </p:cNvPr>
          <p:cNvSpPr/>
          <p:nvPr/>
        </p:nvSpPr>
        <p:spPr>
          <a:xfrm>
            <a:off x="58293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Mis dolores principales son capacidad, gestión de conocimiento y disponibilidad. Los 4 chicos de soporte son mi personal clave y necesito gente muy experta.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F5FFC23-6CBF-9AFB-6904-F5889B9A4F24}"/>
              </a:ext>
            </a:extLst>
          </p:cNvPr>
          <p:cNvSpPr/>
          <p:nvPr/>
        </p:nvSpPr>
        <p:spPr>
          <a:xfrm>
            <a:off x="58293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Diego Serna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XM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A6E34B2-23A7-2C24-C0C9-AA4105B9830F}"/>
              </a:ext>
            </a:extLst>
          </p:cNvPr>
          <p:cNvSpPr/>
          <p:nvPr/>
        </p:nvSpPr>
        <p:spPr>
          <a:xfrm>
            <a:off x="473202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F3B86D1-0F93-31EC-E34E-94A2839EA464}"/>
              </a:ext>
            </a:extLst>
          </p:cNvPr>
          <p:cNvSpPr/>
          <p:nvPr/>
        </p:nvSpPr>
        <p:spPr>
          <a:xfrm>
            <a:off x="486918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0E3B439-A57C-975F-0212-0486F4D7BF1F}"/>
              </a:ext>
            </a:extLst>
          </p:cNvPr>
          <p:cNvSpPr/>
          <p:nvPr/>
        </p:nvSpPr>
        <p:spPr>
          <a:xfrm>
            <a:off x="497205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No hay algo claro en PersonalSoft que nos determine los límites de los niveles. El servicio no fue bien vendido según ITIL.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BCD10BF-6DA4-A9D1-BA95-369A26DBE7D8}"/>
              </a:ext>
            </a:extLst>
          </p:cNvPr>
          <p:cNvSpPr/>
          <p:nvPr/>
        </p:nvSpPr>
        <p:spPr>
          <a:xfrm>
            <a:off x="497205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Virginia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SURA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1339D07C-C0FD-B114-5F7F-9E440BE84D8B}"/>
              </a:ext>
            </a:extLst>
          </p:cNvPr>
          <p:cNvSpPr/>
          <p:nvPr/>
        </p:nvSpPr>
        <p:spPr>
          <a:xfrm>
            <a:off x="34290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B6E520-FC5B-86C6-23D4-09CFEC89145D}"/>
              </a:ext>
            </a:extLst>
          </p:cNvPr>
          <p:cNvSpPr/>
          <p:nvPr/>
        </p:nvSpPr>
        <p:spPr>
          <a:xfrm>
            <a:off x="48006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F650D9-1B7D-98B4-8547-725A391967B2}"/>
              </a:ext>
            </a:extLst>
          </p:cNvPr>
          <p:cNvSpPr/>
          <p:nvPr/>
        </p:nvSpPr>
        <p:spPr>
          <a:xfrm>
            <a:off x="58293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El modelo va a cambiar al punto en que nos vamos a cargar de absolutamente toda la operación. Es una oportunidad.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14174B-27BA-23D0-3FA1-A716545991F5}"/>
              </a:ext>
            </a:extLst>
          </p:cNvPr>
          <p:cNvSpPr/>
          <p:nvPr/>
        </p:nvSpPr>
        <p:spPr>
          <a:xfrm>
            <a:off x="58293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Michael Arévalo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AES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24DCC76-DB81-57F7-81FC-A398DEBE6965}"/>
              </a:ext>
            </a:extLst>
          </p:cNvPr>
          <p:cNvSpPr/>
          <p:nvPr/>
        </p:nvSpPr>
        <p:spPr>
          <a:xfrm>
            <a:off x="473202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76C14A1-21B4-F701-0421-1B2FAA71BF5F}"/>
              </a:ext>
            </a:extLst>
          </p:cNvPr>
          <p:cNvSpPr/>
          <p:nvPr/>
        </p:nvSpPr>
        <p:spPr>
          <a:xfrm>
            <a:off x="486918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C47E8A-0006-DB56-06DC-AAF78D96F72D}"/>
              </a:ext>
            </a:extLst>
          </p:cNvPr>
          <p:cNvSpPr/>
          <p:nvPr/>
        </p:nvSpPr>
        <p:spPr>
          <a:xfrm>
            <a:off x="497205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Los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recargos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debo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 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pasarlos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a mano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colaborador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por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y se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presta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para el error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humano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.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6EFC550-6557-2751-4FFE-188CA4277146}"/>
              </a:ext>
            </a:extLst>
          </p:cNvPr>
          <p:cNvSpPr/>
          <p:nvPr/>
        </p:nvSpPr>
        <p:spPr>
          <a:xfrm>
            <a:off x="497205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 dirty="0">
                <a:solidFill>
                  <a:srgbClr val="1F7A4D"/>
                </a:solidFill>
                <a:latin typeface="Reddit Sans Light"/>
                <a:ea typeface="Calibri"/>
                <a:cs typeface="Reddit Sans Light"/>
              </a:rPr>
              <a:t>Paul Andre Soto</a:t>
            </a:r>
            <a:r>
              <a:rPr lang="en-US" sz="950" dirty="0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 ·  </a:t>
            </a:r>
            <a:r>
              <a:rPr lang="en-US" sz="950" dirty="0" err="1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Bancolombia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  <p:sp>
        <p:nvSpPr>
          <p:cNvPr id="999" name="fuente_slide"/>
          <p:cNvSpPr/>
          <p:nvPr/>
        </p:nvSpPr>
        <p:spPr>
          <a:xfrm>
            <a:off x="359227" y="4776490"/>
            <a:ext cx="907344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s-ES" sz="750" dirty="0">
                <a:solidFill>
                  <a:srgbClr val="5A6472"/>
                </a:solidFill>
                <a:latin typeface="Reddit Sans"/>
              </a:rPr>
              <a:t>Fuente: Levantamiento interno PersonalSoft · Julio 2026 · Transcripts disponibles internamente</a:t>
            </a:r>
          </a:p>
        </p:txBody>
      </p:sp>
    </p:spTree>
    <p:extLst>
      <p:ext uri="{BB962C8B-B14F-4D97-AF65-F5344CB8AC3E}">
        <p14:creationId xmlns:p14="http://schemas.microsoft.com/office/powerpoint/2010/main" val="3146023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116389" y="4657779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4" name="Image 0" descr="-5107849e.png">
            <a:extLst>
              <a:ext uri="{FF2B5EF4-FFF2-40B4-BE49-F238E27FC236}">
                <a16:creationId xmlns:a16="http://schemas.microsoft.com/office/drawing/2014/main" id="{28A82C43-E3C6-C6CD-BAC6-F81E06F0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91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F0C4D562-BBCB-B7C0-4400-98FB4BD2D720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26" name="Image 1" descr="3c0be2e2.png">
            <a:extLst>
              <a:ext uri="{FF2B5EF4-FFF2-40B4-BE49-F238E27FC236}">
                <a16:creationId xmlns:a16="http://schemas.microsoft.com/office/drawing/2014/main" id="{A674CBB6-8DD1-14B6-CCC7-EC33E782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30" name="Image 2" descr="-664449e.png">
            <a:extLst>
              <a:ext uri="{FF2B5EF4-FFF2-40B4-BE49-F238E27FC236}">
                <a16:creationId xmlns:a16="http://schemas.microsoft.com/office/drawing/2014/main" id="{1F13A14C-37E0-CE3B-9F72-1DB8E0C2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5DF28F97-723F-C4DB-468E-C7C0CB50E22F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FD8B39D4-C8B2-E74C-26AB-ACD88FE59515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9" name="Image 3" descr="327946a2.png">
            <a:extLst>
              <a:ext uri="{FF2B5EF4-FFF2-40B4-BE49-F238E27FC236}">
                <a16:creationId xmlns:a16="http://schemas.microsoft.com/office/drawing/2014/main" id="{FB5A92C4-8F66-9AAA-69E2-390963ABE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61" name="Image 4" descr="-63bd839e.png">
            <a:extLst>
              <a:ext uri="{FF2B5EF4-FFF2-40B4-BE49-F238E27FC236}">
                <a16:creationId xmlns:a16="http://schemas.microsoft.com/office/drawing/2014/main" id="{BE029EAD-2420-5D09-340A-4230612EDA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791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2F79720-243B-C485-D65F-3CFA0FFF7672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21FD19DC-D90C-6EC9-6E4F-5BEDF21DF408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67" name="Image 5" descr="-26c90fde.png">
            <a:extLst>
              <a:ext uri="{FF2B5EF4-FFF2-40B4-BE49-F238E27FC236}">
                <a16:creationId xmlns:a16="http://schemas.microsoft.com/office/drawing/2014/main" id="{B762074A-AAB6-4547-B8EE-8780C848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69" name="Image 6" descr="-5a47b8de.png">
            <a:extLst>
              <a:ext uri="{FF2B5EF4-FFF2-40B4-BE49-F238E27FC236}">
                <a16:creationId xmlns:a16="http://schemas.microsoft.com/office/drawing/2014/main" id="{13BE99D7-74B0-2391-0FBD-845DA3B4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91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71" name="Text 11">
            <a:extLst>
              <a:ext uri="{FF2B5EF4-FFF2-40B4-BE49-F238E27FC236}">
                <a16:creationId xmlns:a16="http://schemas.microsoft.com/office/drawing/2014/main" id="{923C29D6-5D27-7DC6-4DBE-60F29FCE2D59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EAE13724-053A-BD9A-CCE1-974841A3BA84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75" name="Image 7" descr="-38c1a09e.png">
            <a:extLst>
              <a:ext uri="{FF2B5EF4-FFF2-40B4-BE49-F238E27FC236}">
                <a16:creationId xmlns:a16="http://schemas.microsoft.com/office/drawing/2014/main" id="{AF53E443-8DCE-DF12-6949-7E648F5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77" name="Image 8" descr="213ef762.png">
            <a:extLst>
              <a:ext uri="{FF2B5EF4-FFF2-40B4-BE49-F238E27FC236}">
                <a16:creationId xmlns:a16="http://schemas.microsoft.com/office/drawing/2014/main" id="{04243153-891A-29F4-1B88-B88850432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1489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98771CCD-97D5-379D-8D6C-BAA750BCE49B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38987B1E-6DD7-970E-0FEB-10AF76909320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83" name="Image 9" descr="0-42f65e.png">
            <a:extLst>
              <a:ext uri="{FF2B5EF4-FFF2-40B4-BE49-F238E27FC236}">
                <a16:creationId xmlns:a16="http://schemas.microsoft.com/office/drawing/2014/main" id="{33A8465C-B0B1-510B-1801-04A57CC9F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84" name="Image 2" descr="-664449e.png">
            <a:extLst>
              <a:ext uri="{FF2B5EF4-FFF2-40B4-BE49-F238E27FC236}">
                <a16:creationId xmlns:a16="http://schemas.microsoft.com/office/drawing/2014/main" id="{2A88DC55-04E6-F620-17B1-89D9F39C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85" name="Shape 7">
            <a:extLst>
              <a:ext uri="{FF2B5EF4-FFF2-40B4-BE49-F238E27FC236}">
                <a16:creationId xmlns:a16="http://schemas.microsoft.com/office/drawing/2014/main" id="{53543F60-C102-3C33-EF36-AE86EA803AD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86" name="Image 3" descr="327946a2.png">
            <a:extLst>
              <a:ext uri="{FF2B5EF4-FFF2-40B4-BE49-F238E27FC236}">
                <a16:creationId xmlns:a16="http://schemas.microsoft.com/office/drawing/2014/main" id="{5C861F17-BA45-B4AB-A8CD-5767C29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79D3D85-E7C1-EF5B-F7ED-4F5AF8C77598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5C07F31-663C-02DC-57E2-69D87BA37C94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20121" y="30433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485435" y="3522979"/>
            <a:ext cx="1157289" cy="9700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automatización. Portal de autoservicio, base de conocimiento, FAQ, chatbot, IA generativa.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681503" y="3037859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35931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18781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187814" y="3522980"/>
            <a:ext cx="1277031" cy="918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585267" y="3021530"/>
            <a:ext cx="1168174" cy="292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</a:t>
            </a:r>
            <a:br>
              <a:rPr lang="en-US" sz="1000" kern="0" spc="-31">
                <a:latin typeface="Reddit Sans"/>
                <a:ea typeface="Reddit Sans"/>
                <a:cs typeface="Geist Semi Bold" pitchFamily="34" charset="-120"/>
              </a:rPr>
            </a:b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Ingeniería)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03947" y="3522023"/>
            <a:ext cx="1174357" cy="10105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complejos. Ingenieros senior, arquitectos o especialistas que resuelven problemas complejos y causa raíz.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042592" y="30215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086135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45773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28493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B55AC2E-1F99-440A-C595-08997A02FCA5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9" name="Titulo">
            <a:extLst>
              <a:ext uri="{FF2B5EF4-FFF2-40B4-BE49-F238E27FC236}">
                <a16:creationId xmlns:a16="http://schemas.microsoft.com/office/drawing/2014/main" id="{559C00E6-28C4-F4E7-6254-770B61ECB125}"/>
              </a:ext>
            </a:extLst>
          </p:cNvPr>
          <p:cNvSpPr txBox="1">
            <a:spLocks/>
          </p:cNvSpPr>
          <p:nvPr/>
        </p:nvSpPr>
        <p:spPr>
          <a:xfrm>
            <a:off x="356829" y="265706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30" y="1110342"/>
            <a:ext cx="2775407" cy="3701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252108" y="1110342"/>
            <a:ext cx="2682879" cy="37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6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6052458" y="1110342"/>
            <a:ext cx="2683629" cy="370115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2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 (Next Gen)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Propuesta de Servicio Diferenciadora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81F8DE4-10A4-27B3-34F6-D359EA68D895}"/>
              </a:ext>
            </a:extLst>
          </p:cNvPr>
          <p:cNvSpPr txBox="1">
            <a:spLocks/>
          </p:cNvSpPr>
          <p:nvPr/>
        </p:nvSpPr>
        <p:spPr>
          <a:xfrm>
            <a:off x="329614" y="-39094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Reddit Sans"/>
              <a:buNone/>
              <a:defRPr sz="5000" b="1" i="0" u="none" strike="noStrike" cap="none">
                <a:solidFill>
                  <a:srgbClr val="0E337C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/>
              <a:t>ITIL v5 - </a:t>
            </a:r>
            <a:r>
              <a:rPr lang="en-US" sz="1600" err="1"/>
              <a:t>Diagrama</a:t>
            </a:r>
            <a:r>
              <a:rPr lang="en-US" sz="1600"/>
              <a:t> del Ciclo de Vida y Modelo 6C</a:t>
            </a:r>
            <a:endParaRPr lang="es-ES" sz="1600"/>
          </a:p>
        </p:txBody>
      </p:sp>
      <p:sp>
        <p:nvSpPr>
          <p:cNvPr id="202" name="rec202"/>
          <p:cNvSpPr/>
          <p:nvPr/>
        </p:nvSpPr>
        <p:spPr>
          <a:xfrm>
            <a:off x="363928" y="530129"/>
            <a:ext cx="81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Lanzado feb–abr 2026 </a:t>
            </a:r>
          </a:p>
        </p:txBody>
      </p:sp>
      <p:sp>
        <p:nvSpPr>
          <p:cNvPr id="203" name="rec203"/>
          <p:cNvSpPr/>
          <p:nvPr/>
        </p:nvSpPr>
        <p:spPr>
          <a:xfrm>
            <a:off x="1657086" y="2184814"/>
            <a:ext cx="1500000" cy="1500000"/>
          </a:xfrm>
          <a:prstGeom prst="ellipse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Ciclo de vida de Productos y Servicios</a:t>
            </a:r>
            <a:endParaRPr lang="es-ES"/>
          </a:p>
        </p:txBody>
      </p:sp>
      <p:sp>
        <p:nvSpPr>
          <p:cNvPr id="204" name="rec204"/>
          <p:cNvSpPr/>
          <p:nvPr/>
        </p:nvSpPr>
        <p:spPr>
          <a:xfrm>
            <a:off x="2047086" y="1174814"/>
            <a:ext cx="720000" cy="720000"/>
          </a:xfrm>
          <a:prstGeom prst="ellipse">
            <a:avLst/>
          </a:prstGeom>
          <a:solidFill>
            <a:srgbClr val="20808D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1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Discover</a:t>
            </a:r>
          </a:p>
        </p:txBody>
      </p:sp>
      <p:sp>
        <p:nvSpPr>
          <p:cNvPr id="205" name="rec205"/>
          <p:cNvSpPr/>
          <p:nvPr/>
        </p:nvSpPr>
        <p:spPr>
          <a:xfrm>
            <a:off x="1757086" y="814814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20808D"/>
                </a:solidFill>
                <a:latin typeface="Reddit Sans"/>
                <a:ea typeface="Reddit Sans"/>
              </a:rPr>
              <a:t>Necesidades</a:t>
            </a:r>
          </a:p>
        </p:txBody>
      </p:sp>
      <p:sp>
        <p:nvSpPr>
          <p:cNvPr id="206" name="rec206"/>
          <p:cNvSpPr/>
          <p:nvPr/>
        </p:nvSpPr>
        <p:spPr>
          <a:xfrm>
            <a:off x="3037035" y="1584864"/>
            <a:ext cx="720000" cy="720000"/>
          </a:xfrm>
          <a:prstGeom prst="ellipse">
            <a:avLst/>
          </a:prstGeom>
          <a:solidFill>
            <a:srgbClr val="1B474C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2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Design</a:t>
            </a:r>
          </a:p>
        </p:txBody>
      </p:sp>
      <p:sp>
        <p:nvSpPr>
          <p:cNvPr id="207" name="rec207"/>
          <p:cNvSpPr/>
          <p:nvPr/>
        </p:nvSpPr>
        <p:spPr>
          <a:xfrm>
            <a:off x="3797035" y="1388884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1B474C"/>
                </a:solidFill>
                <a:latin typeface="Reddit Sans"/>
                <a:ea typeface="Reddit Sans"/>
              </a:rPr>
              <a:t>Arquitectura</a:t>
            </a:r>
          </a:p>
        </p:txBody>
      </p:sp>
      <p:sp>
        <p:nvSpPr>
          <p:cNvPr id="208" name="rec208"/>
          <p:cNvSpPr/>
          <p:nvPr/>
        </p:nvSpPr>
        <p:spPr>
          <a:xfrm>
            <a:off x="3447086" y="2574814"/>
            <a:ext cx="720000" cy="720000"/>
          </a:xfrm>
          <a:prstGeom prst="ellipse">
            <a:avLst/>
          </a:prstGeom>
          <a:solidFill>
            <a:srgbClr val="437A22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3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Acquire</a:t>
            </a:r>
          </a:p>
        </p:txBody>
      </p:sp>
      <p:sp>
        <p:nvSpPr>
          <p:cNvPr id="209" name="rec209"/>
          <p:cNvSpPr/>
          <p:nvPr/>
        </p:nvSpPr>
        <p:spPr>
          <a:xfrm>
            <a:off x="4207086" y="2774814"/>
            <a:ext cx="6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437A22"/>
                </a:solidFill>
                <a:latin typeface="Reddit Sans"/>
                <a:ea typeface="Reddit Sans"/>
              </a:rPr>
              <a:t>Proveedores</a:t>
            </a:r>
          </a:p>
        </p:txBody>
      </p:sp>
      <p:sp>
        <p:nvSpPr>
          <p:cNvPr id="210" name="rec210"/>
          <p:cNvSpPr/>
          <p:nvPr/>
        </p:nvSpPr>
        <p:spPr>
          <a:xfrm>
            <a:off x="3037035" y="3564763"/>
            <a:ext cx="720000" cy="720000"/>
          </a:xfrm>
          <a:prstGeom prst="ellipse">
            <a:avLst/>
          </a:prstGeom>
          <a:solidFill>
            <a:srgbClr val="D19900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Build</a:t>
            </a:r>
          </a:p>
        </p:txBody>
      </p:sp>
      <p:sp>
        <p:nvSpPr>
          <p:cNvPr id="211" name="rec211"/>
          <p:cNvSpPr/>
          <p:nvPr/>
        </p:nvSpPr>
        <p:spPr>
          <a:xfrm>
            <a:off x="3797035" y="4160743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D19900"/>
                </a:solidFill>
                <a:latin typeface="Reddit Sans"/>
                <a:ea typeface="Reddit Sans"/>
              </a:rPr>
              <a:t>Desarrollo</a:t>
            </a:r>
          </a:p>
        </p:txBody>
      </p:sp>
      <p:sp>
        <p:nvSpPr>
          <p:cNvPr id="212" name="rec212"/>
          <p:cNvSpPr/>
          <p:nvPr/>
        </p:nvSpPr>
        <p:spPr>
          <a:xfrm>
            <a:off x="2047086" y="3974814"/>
            <a:ext cx="720000" cy="720000"/>
          </a:xfrm>
          <a:prstGeom prst="ellipse">
            <a:avLst/>
          </a:prstGeom>
          <a:solidFill>
            <a:srgbClr val="964219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Transition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3" name="rec213"/>
          <p:cNvSpPr/>
          <p:nvPr/>
        </p:nvSpPr>
        <p:spPr>
          <a:xfrm>
            <a:off x="1670000" y="4823500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964219"/>
                </a:solidFill>
                <a:latin typeface="Reddit Sans"/>
                <a:ea typeface="Reddit Sans"/>
              </a:rPr>
              <a:t>A producción</a:t>
            </a:r>
          </a:p>
        </p:txBody>
      </p:sp>
      <p:sp>
        <p:nvSpPr>
          <p:cNvPr id="214" name="rec214"/>
          <p:cNvSpPr/>
          <p:nvPr/>
        </p:nvSpPr>
        <p:spPr>
          <a:xfrm>
            <a:off x="1057136" y="3564763"/>
            <a:ext cx="720000" cy="720000"/>
          </a:xfrm>
          <a:prstGeom prst="ellipse">
            <a:avLst/>
          </a:prstGeom>
          <a:solidFill>
            <a:srgbClr val="A84B2F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Operate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5" name="rec215"/>
          <p:cNvSpPr/>
          <p:nvPr/>
        </p:nvSpPr>
        <p:spPr>
          <a:xfrm>
            <a:off x="117086" y="4160743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 err="1">
                <a:solidFill>
                  <a:srgbClr val="A84B2F"/>
                </a:solidFill>
                <a:latin typeface="Reddit Sans"/>
                <a:ea typeface="Reddit Sans"/>
              </a:rPr>
              <a:t>Incident</a:t>
            </a:r>
            <a:r>
              <a:rPr lang="es-ES" sz="800">
                <a:solidFill>
                  <a:srgbClr val="A84B2F"/>
                </a:solidFill>
                <a:latin typeface="Reddit Sans"/>
                <a:ea typeface="Reddit Sans"/>
              </a:rPr>
              <a:t> Management</a:t>
            </a:r>
          </a:p>
        </p:txBody>
      </p:sp>
      <p:sp>
        <p:nvSpPr>
          <p:cNvPr id="216" name="rec216"/>
          <p:cNvSpPr/>
          <p:nvPr/>
        </p:nvSpPr>
        <p:spPr>
          <a:xfrm>
            <a:off x="647086" y="2574814"/>
            <a:ext cx="720000" cy="720000"/>
          </a:xfrm>
          <a:prstGeom prst="ellipse">
            <a:avLst/>
          </a:prstGeom>
          <a:solidFill>
            <a:srgbClr val="944454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7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Deliver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117086" y="2774814"/>
            <a:ext cx="49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944454"/>
                </a:solidFill>
                <a:latin typeface="Reddit Sans"/>
                <a:ea typeface="Reddit Sans"/>
              </a:rPr>
              <a:t>Valor real</a:t>
            </a:r>
          </a:p>
        </p:txBody>
      </p:sp>
      <p:sp>
        <p:nvSpPr>
          <p:cNvPr id="218" name="rec218"/>
          <p:cNvSpPr/>
          <p:nvPr/>
        </p:nvSpPr>
        <p:spPr>
          <a:xfrm>
            <a:off x="1057136" y="1584864"/>
            <a:ext cx="720000" cy="720000"/>
          </a:xfrm>
          <a:prstGeom prst="ellipse">
            <a:avLst/>
          </a:prstGeom>
          <a:solidFill>
            <a:srgbClr val="7A38BB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8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Support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117086" y="1388884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7A38BB"/>
                </a:solidFill>
                <a:latin typeface="Reddit Sans"/>
                <a:ea typeface="Reddit Sans"/>
              </a:rPr>
              <a:t>Mejora continua</a:t>
            </a:r>
          </a:p>
        </p:txBody>
      </p:sp>
      <p:sp>
        <p:nvSpPr>
          <p:cNvPr id="220" name="rec220"/>
          <p:cNvSpPr/>
          <p:nvPr/>
        </p:nvSpPr>
        <p:spPr>
          <a:xfrm>
            <a:off x="4803543" y="9943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Modelo 6C de Capacidades IA</a:t>
            </a:r>
          </a:p>
        </p:txBody>
      </p:sp>
      <p:sp>
        <p:nvSpPr>
          <p:cNvPr id="221" name="rec221"/>
          <p:cNvSpPr/>
          <p:nvPr/>
        </p:nvSpPr>
        <p:spPr>
          <a:xfrm>
            <a:off x="4803543" y="1244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50">
                <a:solidFill>
                  <a:srgbClr val="6B6B6B"/>
                </a:solidFill>
                <a:latin typeface="Reddit Sans"/>
                <a:ea typeface="Reddit Sans"/>
              </a:rPr>
              <a:t>36% de contenido nuevo en ITIL (Versión 5)</a:t>
            </a:r>
          </a:p>
        </p:txBody>
      </p:sp>
      <p:sp>
        <p:nvSpPr>
          <p:cNvPr id="222" name="rec222"/>
          <p:cNvSpPr/>
          <p:nvPr/>
        </p:nvSpPr>
        <p:spPr>
          <a:xfrm>
            <a:off x="480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Creación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Generar contenido y soluciones con IA</a:t>
            </a:r>
          </a:p>
        </p:txBody>
      </p:sp>
      <p:sp>
        <p:nvSpPr>
          <p:cNvPr id="223" name="rec223"/>
          <p:cNvSpPr/>
          <p:nvPr/>
        </p:nvSpPr>
        <p:spPr>
          <a:xfrm>
            <a:off x="696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B474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Curación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Filtrar y mantener outputs de IA</a:t>
            </a:r>
          </a:p>
        </p:txBody>
      </p:sp>
      <p:sp>
        <p:nvSpPr>
          <p:cNvPr id="224" name="rec224"/>
          <p:cNvSpPr/>
          <p:nvPr/>
        </p:nvSpPr>
        <p:spPr>
          <a:xfrm>
            <a:off x="480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427A2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Clarificación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Interpretar solicitudes ambiguas</a:t>
            </a:r>
          </a:p>
        </p:txBody>
      </p:sp>
      <p:sp>
        <p:nvSpPr>
          <p:cNvPr id="225" name="rec225"/>
          <p:cNvSpPr/>
          <p:nvPr/>
        </p:nvSpPr>
        <p:spPr>
          <a:xfrm>
            <a:off x="696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00649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Cognición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Análisis y soporte a decisiones</a:t>
            </a:r>
          </a:p>
        </p:txBody>
      </p:sp>
      <p:sp>
        <p:nvSpPr>
          <p:cNvPr id="226" name="rec226"/>
          <p:cNvSpPr/>
          <p:nvPr/>
        </p:nvSpPr>
        <p:spPr>
          <a:xfrm>
            <a:off x="480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94445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Comunicación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Interacciones usuario-sistema</a:t>
            </a:r>
          </a:p>
        </p:txBody>
      </p:sp>
      <p:sp>
        <p:nvSpPr>
          <p:cNvPr id="227" name="rec227"/>
          <p:cNvSpPr/>
          <p:nvPr/>
        </p:nvSpPr>
        <p:spPr>
          <a:xfrm>
            <a:off x="696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Coordinación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Orquestar agentes IA + humanos</a:t>
            </a:r>
          </a:p>
        </p:txBody>
      </p:sp>
      <p:sp>
        <p:nvSpPr>
          <p:cNvPr id="228" name="rec228"/>
          <p:cNvSpPr/>
          <p:nvPr/>
        </p:nvSpPr>
        <p:spPr>
          <a:xfrm>
            <a:off x="4803543" y="3359300"/>
            <a:ext cx="4200000" cy="7600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Gobernanza de IA — Módulo independiente en ITIL v5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Responsabilidad sobre outputs de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Transparencia en decisiones mediadas por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Rutas de escalamiento cuando falla coordinación entre agentes</a:t>
            </a:r>
          </a:p>
        </p:txBody>
      </p:sp>
      <p:sp>
        <p:nvSpPr>
          <p:cNvPr id="229" name="rec229"/>
          <p:cNvSpPr/>
          <p:nvPr/>
        </p:nvSpPr>
        <p:spPr>
          <a:xfrm>
            <a:off x="4803543" y="4179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50" b="1">
                <a:solidFill>
                  <a:srgbClr val="6B6B6B"/>
                </a:solidFill>
                <a:latin typeface="Reddit Sans"/>
                <a:ea typeface="Reddit Sans"/>
              </a:rPr>
              <a:t>Composición de ITIL v5:</a:t>
            </a:r>
          </a:p>
        </p:txBody>
      </p:sp>
      <p:sp>
        <p:nvSpPr>
          <p:cNvPr id="230" name="rec230"/>
          <p:cNvSpPr/>
          <p:nvPr/>
        </p:nvSpPr>
        <p:spPr>
          <a:xfrm>
            <a:off x="4803543" y="4409300"/>
            <a:ext cx="1680000" cy="300000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40% retenido</a:t>
            </a:r>
          </a:p>
        </p:txBody>
      </p:sp>
      <p:sp>
        <p:nvSpPr>
          <p:cNvPr id="231" name="rec231"/>
          <p:cNvSpPr/>
          <p:nvPr/>
        </p:nvSpPr>
        <p:spPr>
          <a:xfrm>
            <a:off x="6483543" y="4409300"/>
            <a:ext cx="1008000" cy="300000"/>
          </a:xfrm>
          <a:prstGeom prst="rect">
            <a:avLst/>
          </a:prstGeom>
          <a:solidFill>
            <a:srgbClr val="D19900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24% actualizado</a:t>
            </a:r>
          </a:p>
        </p:txBody>
      </p:sp>
      <p:sp>
        <p:nvSpPr>
          <p:cNvPr id="232" name="rec232"/>
          <p:cNvSpPr/>
          <p:nvPr/>
        </p:nvSpPr>
        <p:spPr>
          <a:xfrm>
            <a:off x="7491543" y="4409300"/>
            <a:ext cx="1512000" cy="300000"/>
          </a:xfrm>
          <a:prstGeom prst="rect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36% nuevo (6C AI)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BB5B61-8F8D-288B-89A1-B142AD6A750D}"/>
              </a:ext>
            </a:extLst>
          </p:cNvPr>
          <p:cNvSpPr txBox="1"/>
          <p:nvPr/>
        </p:nvSpPr>
        <p:spPr>
          <a:xfrm>
            <a:off x="7309758" y="4825093"/>
            <a:ext cx="169272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Fuente: </a:t>
            </a:r>
            <a:r>
              <a:rPr lang="en-US" sz="700" b="0" i="0" u="none" strike="noStrike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 sz="700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.y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 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Tideline Insights</a:t>
            </a:r>
            <a:endParaRPr lang="en-US" sz="700">
              <a:solidFill>
                <a:schemeClr val="tx1"/>
              </a:solidFill>
              <a:latin typeface="Reddit Sans Light"/>
              <a:cs typeface="Reddit Sans Ligh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764B7-F15A-76AA-3504-B79640864FD9}"/>
              </a:ext>
            </a:extLst>
          </p:cNvPr>
          <p:cNvSpPr txBox="1"/>
          <p:nvPr/>
        </p:nvSpPr>
        <p:spPr>
          <a:xfrm>
            <a:off x="4962287" y="525165"/>
            <a:ext cx="3287486" cy="220886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Conoc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imiento e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insight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de valor para los procesos que no cubrimos</a:t>
            </a:r>
          </a:p>
        </p:txBody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791F133A-44B3-E7A3-EB4C-22935F87D691}"/>
              </a:ext>
            </a:extLst>
          </p:cNvPr>
          <p:cNvSpPr/>
          <p:nvPr/>
        </p:nvSpPr>
        <p:spPr>
          <a:xfrm>
            <a:off x="2464425" y="11394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5" descr="53d78b62.png">
            <a:extLst>
              <a:ext uri="{FF2B5EF4-FFF2-40B4-BE49-F238E27FC236}">
                <a16:creationId xmlns:a16="http://schemas.microsoft.com/office/drawing/2014/main" id="{2677F50E-5807-DBCB-7B4A-126BF4395E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2524263" y="1213697"/>
            <a:ext cx="146277" cy="89808"/>
          </a:xfrm>
          <a:prstGeom prst="rect">
            <a:avLst/>
          </a:prstGeom>
        </p:spPr>
      </p:pic>
      <p:sp>
        <p:nvSpPr>
          <p:cNvPr id="9" name="Shape 25">
            <a:extLst>
              <a:ext uri="{FF2B5EF4-FFF2-40B4-BE49-F238E27FC236}">
                <a16:creationId xmlns:a16="http://schemas.microsoft.com/office/drawing/2014/main" id="{8AED887D-522E-9CFD-F73B-8EEB6A7F3FB9}"/>
              </a:ext>
            </a:extLst>
          </p:cNvPr>
          <p:cNvSpPr/>
          <p:nvPr/>
        </p:nvSpPr>
        <p:spPr>
          <a:xfrm>
            <a:off x="3482239" y="1514986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5" descr="53d78b62.png">
            <a:extLst>
              <a:ext uri="{FF2B5EF4-FFF2-40B4-BE49-F238E27FC236}">
                <a16:creationId xmlns:a16="http://schemas.microsoft.com/office/drawing/2014/main" id="{326E74E4-D12B-9FD6-541F-885D8B79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542077" y="1589255"/>
            <a:ext cx="146277" cy="89808"/>
          </a:xfrm>
          <a:prstGeom prst="rect">
            <a:avLst/>
          </a:prstGeom>
        </p:spPr>
      </p:pic>
      <p:sp>
        <p:nvSpPr>
          <p:cNvPr id="11" name="Shape 25">
            <a:extLst>
              <a:ext uri="{FF2B5EF4-FFF2-40B4-BE49-F238E27FC236}">
                <a16:creationId xmlns:a16="http://schemas.microsoft.com/office/drawing/2014/main" id="{2DAFD415-5750-C0EA-9E12-CC2C603A482F}"/>
              </a:ext>
            </a:extLst>
          </p:cNvPr>
          <p:cNvSpPr/>
          <p:nvPr/>
        </p:nvSpPr>
        <p:spPr>
          <a:xfrm>
            <a:off x="1577238" y="3643142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70691B23-5FFF-7B09-3D37-1B1E4683BF03}"/>
              </a:ext>
            </a:extLst>
          </p:cNvPr>
          <p:cNvSpPr/>
          <p:nvPr/>
        </p:nvSpPr>
        <p:spPr>
          <a:xfrm>
            <a:off x="2535181" y="3969713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4C591689-D324-4311-D1A8-12A5AF004BEA}"/>
              </a:ext>
            </a:extLst>
          </p:cNvPr>
          <p:cNvSpPr/>
          <p:nvPr/>
        </p:nvSpPr>
        <p:spPr>
          <a:xfrm>
            <a:off x="3874124" y="2500143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53d78b62.png">
            <a:extLst>
              <a:ext uri="{FF2B5EF4-FFF2-40B4-BE49-F238E27FC236}">
                <a16:creationId xmlns:a16="http://schemas.microsoft.com/office/drawing/2014/main" id="{F3FD0F5C-9810-5058-8D82-1BE51C83DD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933962" y="2574412"/>
            <a:ext cx="146277" cy="89808"/>
          </a:xfrm>
          <a:prstGeom prst="rect">
            <a:avLst/>
          </a:prstGeom>
        </p:spPr>
      </p:pic>
      <p:sp>
        <p:nvSpPr>
          <p:cNvPr id="17" name="Shape 25">
            <a:extLst>
              <a:ext uri="{FF2B5EF4-FFF2-40B4-BE49-F238E27FC236}">
                <a16:creationId xmlns:a16="http://schemas.microsoft.com/office/drawing/2014/main" id="{C14CA542-31D4-E41B-05DD-9F7A05E54C0A}"/>
              </a:ext>
            </a:extLst>
          </p:cNvPr>
          <p:cNvSpPr/>
          <p:nvPr/>
        </p:nvSpPr>
        <p:spPr>
          <a:xfrm>
            <a:off x="3574767" y="3626814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5" descr="53d78b62.png">
            <a:extLst>
              <a:ext uri="{FF2B5EF4-FFF2-40B4-BE49-F238E27FC236}">
                <a16:creationId xmlns:a16="http://schemas.microsoft.com/office/drawing/2014/main" id="{A365E88B-D0F2-250A-DED6-626FD67CAF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634605" y="3701083"/>
            <a:ext cx="146277" cy="89808"/>
          </a:xfrm>
          <a:prstGeom prst="rect">
            <a:avLst/>
          </a:prstGeom>
        </p:spPr>
      </p:pic>
      <p:sp>
        <p:nvSpPr>
          <p:cNvPr id="19" name="Shape 25">
            <a:extLst>
              <a:ext uri="{FF2B5EF4-FFF2-40B4-BE49-F238E27FC236}">
                <a16:creationId xmlns:a16="http://schemas.microsoft.com/office/drawing/2014/main" id="{6AA51429-A86F-C854-527F-A85CD7926411}"/>
              </a:ext>
            </a:extLst>
          </p:cNvPr>
          <p:cNvSpPr/>
          <p:nvPr/>
        </p:nvSpPr>
        <p:spPr>
          <a:xfrm>
            <a:off x="4668781" y="4917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53d78b62.png">
            <a:extLst>
              <a:ext uri="{FF2B5EF4-FFF2-40B4-BE49-F238E27FC236}">
                <a16:creationId xmlns:a16="http://schemas.microsoft.com/office/drawing/2014/main" id="{88A69F69-2842-C6F4-1F58-C85B7E5000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4728619" y="565997"/>
            <a:ext cx="146277" cy="89808"/>
          </a:xfrm>
          <a:prstGeom prst="rect">
            <a:avLst/>
          </a:prstGeom>
        </p:spPr>
      </p:pic>
      <p:sp>
        <p:nvSpPr>
          <p:cNvPr id="21" name="Shape 25">
            <a:extLst>
              <a:ext uri="{FF2B5EF4-FFF2-40B4-BE49-F238E27FC236}">
                <a16:creationId xmlns:a16="http://schemas.microsoft.com/office/drawing/2014/main" id="{23818E27-CB22-2873-2789-F960DFF54F94}"/>
              </a:ext>
            </a:extLst>
          </p:cNvPr>
          <p:cNvSpPr/>
          <p:nvPr/>
        </p:nvSpPr>
        <p:spPr>
          <a:xfrm>
            <a:off x="1054723" y="2516470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323800B-679C-A6C2-5285-165F712A5926}"/>
              </a:ext>
            </a:extLst>
          </p:cNvPr>
          <p:cNvSpPr/>
          <p:nvPr/>
        </p:nvSpPr>
        <p:spPr>
          <a:xfrm>
            <a:off x="1452052" y="1547641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Gráfico 22" descr="Marca de escudo contorno">
            <a:extLst>
              <a:ext uri="{FF2B5EF4-FFF2-40B4-BE49-F238E27FC236}">
                <a16:creationId xmlns:a16="http://schemas.microsoft.com/office/drawing/2014/main" id="{FABA96AF-DDCE-BB4D-4A0E-B16D0C044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367" y="1596532"/>
            <a:ext cx="171569" cy="166598"/>
          </a:xfrm>
          <a:prstGeom prst="rect">
            <a:avLst/>
          </a:prstGeom>
        </p:spPr>
      </p:pic>
      <p:pic>
        <p:nvPicPr>
          <p:cNvPr id="24" name="Gráfico 23" descr="Marca de escudo contorno">
            <a:extLst>
              <a:ext uri="{FF2B5EF4-FFF2-40B4-BE49-F238E27FC236}">
                <a16:creationId xmlns:a16="http://schemas.microsoft.com/office/drawing/2014/main" id="{C0318EF8-2F96-AA03-D09F-1B9AACEC7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038" y="2554475"/>
            <a:ext cx="171569" cy="166598"/>
          </a:xfrm>
          <a:prstGeom prst="rect">
            <a:avLst/>
          </a:prstGeom>
        </p:spPr>
      </p:pic>
      <p:pic>
        <p:nvPicPr>
          <p:cNvPr id="25" name="Gráfico 24" descr="Marca de escudo contorno">
            <a:extLst>
              <a:ext uri="{FF2B5EF4-FFF2-40B4-BE49-F238E27FC236}">
                <a16:creationId xmlns:a16="http://schemas.microsoft.com/office/drawing/2014/main" id="{839CF182-C4D4-F1E9-06FE-637A152DB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0553" y="3681146"/>
            <a:ext cx="166600" cy="171567"/>
          </a:xfrm>
          <a:prstGeom prst="rect">
            <a:avLst/>
          </a:prstGeom>
        </p:spPr>
      </p:pic>
      <p:pic>
        <p:nvPicPr>
          <p:cNvPr id="26" name="Gráfico 25" descr="Marca de escudo contorno">
            <a:extLst>
              <a:ext uri="{FF2B5EF4-FFF2-40B4-BE49-F238E27FC236}">
                <a16:creationId xmlns:a16="http://schemas.microsoft.com/office/drawing/2014/main" id="{9BB8C132-8A55-0BC5-0EAF-C3492C6E6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8495" y="4007717"/>
            <a:ext cx="171569" cy="1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6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46302" y="1435895"/>
            <a:ext cx="2053829" cy="2300288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4720" y="2126271"/>
            <a:ext cx="183699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Evolución</a:t>
            </a:r>
            <a:r>
              <a:rPr lang="en-US" sz="1200" kern="0" spc="-37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Estratégica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8164" y="2368266"/>
            <a:ext cx="1910105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Transformación de la mesa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 servicio de un costo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operativo a un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diferenciador competitivo.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71568" y="1435895"/>
            <a:ext cx="2053829" cy="2300288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637661" y="2126271"/>
            <a:ext cx="17216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Estandarización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02477" y="2368266"/>
            <a:ext cx="1792010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Implementación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procesos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estandarizados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garantizar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consistencia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y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calidad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la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entrega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servicio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96834" y="1435895"/>
            <a:ext cx="2053829" cy="2300288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741495" y="2102049"/>
            <a:ext cx="1764506" cy="169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36"/>
              </a:lnSpc>
              <a:spcBef>
                <a:spcPts val="924"/>
              </a:spcBef>
            </a:pPr>
            <a:r>
              <a:rPr lang="en-US" sz="1150" kern="0" spc="-35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Inteligencia</a:t>
            </a:r>
            <a:r>
              <a:rPr lang="en-US" sz="1150" kern="0" spc="-35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Artificial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03499" y="2331877"/>
            <a:ext cx="1840498" cy="7322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42"/>
              </a:lnSpc>
              <a:spcBef>
                <a:spcPts val="466"/>
              </a:spcBef>
            </a:pP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Integración de IA para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optimizar la resolución,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reducir el tiempo de espera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y potenciar el autoservicio.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722100" y="1435895"/>
            <a:ext cx="2053829" cy="2300288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6831042" y="2126271"/>
            <a:ext cx="18359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Escalabilidad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791929" y="2368266"/>
            <a:ext cx="1914168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Arquitectura diseñada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adaptarse al crecimiento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del negocio y responder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dinámicamente a la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demanda.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D68F6702-9E35-68AC-3981-F297FCE8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Pilares de </a:t>
            </a:r>
            <a:r>
              <a:rPr lang="en-US" err="1"/>
              <a:t>Transformación</a:t>
            </a:r>
            <a:r>
              <a:rPr lang="en-US"/>
              <a:t> de la Mesa de Servicio de Nueva Generación</a:t>
            </a:r>
          </a:p>
          <a:p>
            <a:endParaRPr lang="en-US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2BE2F5D-6B45-AFD1-619A-6D03B70946B0}"/>
              </a:ext>
            </a:extLst>
          </p:cNvPr>
          <p:cNvSpPr/>
          <p:nvPr/>
        </p:nvSpPr>
        <p:spPr>
          <a:xfrm>
            <a:off x="102955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-250ad3de.png">
            <a:extLst>
              <a:ext uri="{FF2B5EF4-FFF2-40B4-BE49-F238E27FC236}">
                <a16:creationId xmlns:a16="http://schemas.microsoft.com/office/drawing/2014/main" id="{5AC447DE-0819-B613-0FB9-E53A727E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39" y="1329045"/>
            <a:ext cx="350044" cy="292894"/>
          </a:xfrm>
          <a:prstGeom prst="rect">
            <a:avLst/>
          </a:prstGeom>
        </p:spPr>
      </p:pic>
      <p:sp>
        <p:nvSpPr>
          <p:cNvPr id="23" name="Shape 9">
            <a:extLst>
              <a:ext uri="{FF2B5EF4-FFF2-40B4-BE49-F238E27FC236}">
                <a16:creationId xmlns:a16="http://schemas.microsoft.com/office/drawing/2014/main" id="{99F0F72D-FC79-0B39-BBF4-A9DF785BE4ED}"/>
              </a:ext>
            </a:extLst>
          </p:cNvPr>
          <p:cNvSpPr/>
          <p:nvPr/>
        </p:nvSpPr>
        <p:spPr>
          <a:xfrm>
            <a:off x="3172677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1" descr="5719bd22.png">
            <a:extLst>
              <a:ext uri="{FF2B5EF4-FFF2-40B4-BE49-F238E27FC236}">
                <a16:creationId xmlns:a16="http://schemas.microsoft.com/office/drawing/2014/main" id="{DE48BFB1-AB7C-B425-DE1E-781AEFE4F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436" y="1341601"/>
            <a:ext cx="271463" cy="242888"/>
          </a:xfrm>
          <a:prstGeom prst="rect">
            <a:avLst/>
          </a:prstGeom>
        </p:spPr>
      </p:pic>
      <p:sp>
        <p:nvSpPr>
          <p:cNvPr id="27" name="Shape 13">
            <a:extLst>
              <a:ext uri="{FF2B5EF4-FFF2-40B4-BE49-F238E27FC236}">
                <a16:creationId xmlns:a16="http://schemas.microsoft.com/office/drawing/2014/main" id="{93F7AD4E-A1AC-21CC-67FA-79517C44E647}"/>
              </a:ext>
            </a:extLst>
          </p:cNvPr>
          <p:cNvSpPr/>
          <p:nvPr/>
        </p:nvSpPr>
        <p:spPr>
          <a:xfrm>
            <a:off x="531580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2" descr="0016b4a2.png">
            <a:extLst>
              <a:ext uri="{FF2B5EF4-FFF2-40B4-BE49-F238E27FC236}">
                <a16:creationId xmlns:a16="http://schemas.microsoft.com/office/drawing/2014/main" id="{B12021B2-B4F0-A9E1-B1CC-9801061B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511" y="1341602"/>
            <a:ext cx="185738" cy="242888"/>
          </a:xfrm>
          <a:prstGeom prst="rect">
            <a:avLst/>
          </a:prstGeom>
        </p:spPr>
      </p:pic>
      <p:sp>
        <p:nvSpPr>
          <p:cNvPr id="32" name="Shape 21">
            <a:extLst>
              <a:ext uri="{FF2B5EF4-FFF2-40B4-BE49-F238E27FC236}">
                <a16:creationId xmlns:a16="http://schemas.microsoft.com/office/drawing/2014/main" id="{574D9646-9E0A-C5CD-35F8-FD90A529CD90}"/>
              </a:ext>
            </a:extLst>
          </p:cNvPr>
          <p:cNvSpPr/>
          <p:nvPr/>
        </p:nvSpPr>
        <p:spPr>
          <a:xfrm>
            <a:off x="7531725" y="1161200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4" descr="-327b961e.png">
            <a:extLst>
              <a:ext uri="{FF2B5EF4-FFF2-40B4-BE49-F238E27FC236}">
                <a16:creationId xmlns:a16="http://schemas.microsoft.com/office/drawing/2014/main" id="{3F2E2606-B309-CAEB-D629-9114EE94D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877" y="1338048"/>
            <a:ext cx="214313" cy="1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443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24C2-5851-4B30-A813-E41E5F7F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C7D09-6597-9A73-052C-BF55A5EC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3639000" cy="572700"/>
          </a:xfrm>
        </p:spPr>
        <p:txBody>
          <a:bodyPr>
            <a:normAutofit/>
          </a:bodyPr>
          <a:lstStyle/>
          <a:p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Diferencia</a:t>
            </a:r>
            <a:r>
              <a:rPr lang="en-US"/>
              <a:t> a </a:t>
            </a:r>
            <a:r>
              <a:rPr lang="en-US" err="1"/>
              <a:t>PersonalSoft</a:t>
            </a:r>
            <a:r>
              <a:rPr lang="en-US"/>
              <a:t>?</a:t>
            </a:r>
            <a:endParaRPr lang="es-CO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F7E5399-AB8B-0CC3-BAFE-BC4DEC7817BA}"/>
              </a:ext>
            </a:extLst>
          </p:cNvPr>
          <p:cNvSpPr/>
          <p:nvPr/>
        </p:nvSpPr>
        <p:spPr>
          <a:xfrm>
            <a:off x="1014753" y="1055191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0" descr="23a43ce2.png">
            <a:extLst>
              <a:ext uri="{FF2B5EF4-FFF2-40B4-BE49-F238E27FC236}">
                <a16:creationId xmlns:a16="http://schemas.microsoft.com/office/drawing/2014/main" id="{41476C43-838D-5395-6766-A4257D3C2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60" y="1408889"/>
            <a:ext cx="421481" cy="357188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DAA90A-80EF-E42D-4050-80A6E8ADD948}"/>
              </a:ext>
            </a:extLst>
          </p:cNvPr>
          <p:cNvSpPr/>
          <p:nvPr/>
        </p:nvSpPr>
        <p:spPr>
          <a:xfrm>
            <a:off x="221797" y="2198638"/>
            <a:ext cx="2657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de Madurez (N0-N5)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42D4E88-336B-F04F-F544-BBEF975D9B86}"/>
              </a:ext>
            </a:extLst>
          </p:cNvPr>
          <p:cNvSpPr/>
          <p:nvPr/>
        </p:nvSpPr>
        <p:spPr>
          <a:xfrm>
            <a:off x="171754" y="2553226"/>
            <a:ext cx="2822876" cy="14403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capacidades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tecnológicas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,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garant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izando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un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crecimiento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continuo y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medible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6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claros (N0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a N5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)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17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practicas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operativas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519155E2-5407-A0FF-6341-7B62C30F89D8}"/>
              </a:ext>
            </a:extLst>
          </p:cNvPr>
          <p:cNvSpPr/>
          <p:nvPr/>
        </p:nvSpPr>
        <p:spPr>
          <a:xfrm>
            <a:off x="3943691" y="1055191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-6ff4ae9e.png">
            <a:extLst>
              <a:ext uri="{FF2B5EF4-FFF2-40B4-BE49-F238E27FC236}">
                <a16:creationId xmlns:a16="http://schemas.microsoft.com/office/drawing/2014/main" id="{22176A99-9CBF-BF88-4F8D-F1501819E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047" y="1396336"/>
            <a:ext cx="521494" cy="385763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159BA64C-A6AB-FD21-09D3-E82FCABB4EFD}"/>
              </a:ext>
            </a:extLst>
          </p:cNvPr>
          <p:cNvSpPr/>
          <p:nvPr/>
        </p:nvSpPr>
        <p:spPr>
          <a:xfrm>
            <a:off x="3090013" y="2198638"/>
            <a:ext cx="277891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Operación gestionada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EB01E3E-E9CD-A0FA-17BC-0E51CBA8276E}"/>
              </a:ext>
            </a:extLst>
          </p:cNvPr>
          <p:cNvSpPr/>
          <p:nvPr/>
        </p:nvSpPr>
        <p:spPr>
          <a:xfrm>
            <a:off x="3033730" y="2553226"/>
            <a:ext cx="295679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58"/>
              </a:spcBef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TI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permiten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clientes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delega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complejidad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enfocarse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sus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Roles, RACI,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catálogo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ANS/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XLA,gobierno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mensual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continua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condatos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900">
              <a:latin typeface="Reddit Sans"/>
              <a:ea typeface="Reddit Sans"/>
              <a:cs typeface="Arial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C261187-D52B-FE7A-269C-5CFB63641245}"/>
              </a:ext>
            </a:extLst>
          </p:cNvPr>
          <p:cNvSpPr/>
          <p:nvPr/>
        </p:nvSpPr>
        <p:spPr>
          <a:xfrm>
            <a:off x="6872628" y="1055191"/>
            <a:ext cx="1071563" cy="1071563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7" name="Image 2" descr="7f5c7a62.png">
            <a:extLst>
              <a:ext uri="{FF2B5EF4-FFF2-40B4-BE49-F238E27FC236}">
                <a16:creationId xmlns:a16="http://schemas.microsoft.com/office/drawing/2014/main" id="{33EC4EDE-F651-9304-15A2-D22758CEA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541" y="1408890"/>
            <a:ext cx="485775" cy="364331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9C03FED1-9CCF-7B4D-C7C1-2F078EF73B17}"/>
              </a:ext>
            </a:extLst>
          </p:cNvPr>
          <p:cNvSpPr/>
          <p:nvPr/>
        </p:nvSpPr>
        <p:spPr>
          <a:xfrm>
            <a:off x="6051097" y="2198638"/>
            <a:ext cx="271462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Inteligencia aplicada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F2E67AF8-7A4C-5763-498B-6599249FC76A}"/>
              </a:ext>
            </a:extLst>
          </p:cNvPr>
          <p:cNvSpPr/>
          <p:nvPr/>
        </p:nvSpPr>
        <p:spPr>
          <a:xfrm>
            <a:off x="5997806" y="2553226"/>
            <a:ext cx="2886521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Integración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avanzada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KEDB y AIOps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resolución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predecir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maximizar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eficiencia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Observabilidad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predictiva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desde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diseno</a:t>
            </a:r>
            <a:endParaRPr lang="es-ES" sz="900"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Correlacion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automatica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alertas-incidentes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cliente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sabe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exactamente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cuesta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subir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Bef>
                <a:spcPts val="458"/>
              </a:spcBef>
            </a:pP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12ADA9BB-4A9E-0367-1CF1-948E185EE846}"/>
              </a:ext>
            </a:extLst>
          </p:cNvPr>
          <p:cNvSpPr/>
          <p:nvPr/>
        </p:nvSpPr>
        <p:spPr>
          <a:xfrm>
            <a:off x="445974" y="632270"/>
            <a:ext cx="3680053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Factores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clave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impulsan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nuestra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propuesta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valor</a:t>
            </a:r>
            <a:endParaRPr lang="en-US" sz="1000">
              <a:latin typeface="Reddit Sans"/>
              <a:ea typeface="Reddit Sans"/>
              <a:cs typeface="Arial"/>
            </a:endParaRPr>
          </a:p>
        </p:txBody>
      </p:sp>
      <p:pic>
        <p:nvPicPr>
          <p:cNvPr id="3" name="Gráfico 2" descr="Diana con relleno sólido">
            <a:extLst>
              <a:ext uri="{FF2B5EF4-FFF2-40B4-BE49-F238E27FC236}">
                <a16:creationId xmlns:a16="http://schemas.microsoft.com/office/drawing/2014/main" id="{B532D1DA-62DB-AF5D-BEA5-FE51482B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7620" y="356506"/>
            <a:ext cx="489859" cy="489859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6C97A291-6DD5-2A8B-A083-00380257ABFF}"/>
              </a:ext>
            </a:extLst>
          </p:cNvPr>
          <p:cNvSpPr/>
          <p:nvPr/>
        </p:nvSpPr>
        <p:spPr>
          <a:xfrm>
            <a:off x="5419556" y="402496"/>
            <a:ext cx="3181690" cy="7362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200" kern="0" spc="-81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2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  <p:sp>
        <p:nvSpPr>
          <p:cNvPr id="6" name="sh252">
            <a:extLst>
              <a:ext uri="{FF2B5EF4-FFF2-40B4-BE49-F238E27FC236}">
                <a16:creationId xmlns:a16="http://schemas.microsoft.com/office/drawing/2014/main" id="{3FCF0047-8933-7822-DE51-5EF0301E7A2F}"/>
              </a:ext>
            </a:extLst>
          </p:cNvPr>
          <p:cNvSpPr/>
          <p:nvPr/>
        </p:nvSpPr>
        <p:spPr>
          <a:xfrm>
            <a:off x="302405" y="3798461"/>
            <a:ext cx="8375904" cy="663375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9525">
            <a:solidFill>
              <a:srgbClr val="C9D6E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8" name="sh253">
            <a:extLst>
              <a:ext uri="{FF2B5EF4-FFF2-40B4-BE49-F238E27FC236}">
                <a16:creationId xmlns:a16="http://schemas.microsoft.com/office/drawing/2014/main" id="{A4711A96-2E02-5B7F-AB70-32D759AC8F18}"/>
              </a:ext>
            </a:extLst>
          </p:cNvPr>
          <p:cNvSpPr/>
          <p:nvPr/>
        </p:nvSpPr>
        <p:spPr>
          <a:xfrm>
            <a:off x="444790" y="3880975"/>
            <a:ext cx="836023" cy="498348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NUESTRO</a:t>
            </a:r>
          </a:p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DIFERENCIAL</a:t>
            </a:r>
          </a:p>
        </p:txBody>
      </p:sp>
      <p:sp>
        <p:nvSpPr>
          <p:cNvPr id="10" name="tx254">
            <a:extLst>
              <a:ext uri="{FF2B5EF4-FFF2-40B4-BE49-F238E27FC236}">
                <a16:creationId xmlns:a16="http://schemas.microsoft.com/office/drawing/2014/main" id="{15C7CCA4-B275-41FE-D4D4-8AA203FA8BDF}"/>
              </a:ext>
            </a:extLst>
          </p:cNvPr>
          <p:cNvSpPr txBox="1"/>
          <p:nvPr/>
        </p:nvSpPr>
        <p:spPr>
          <a:xfrm>
            <a:off x="1381397" y="3844399"/>
            <a:ext cx="1801586" cy="538842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100" b="1">
                <a:solidFill>
                  <a:srgbClr val="1C3D75"/>
                </a:solidFill>
                <a:latin typeface="Reddit Sans"/>
                <a:ea typeface="Reddit Sans"/>
              </a:rPr>
              <a:t>PIR + KCS + IA</a:t>
            </a:r>
          </a:p>
          <a:p>
            <a:pPr algn="l">
              <a:lnSpc>
                <a:spcPct val="92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Servicio centrado en el conocimiento potenciado con IA</a:t>
            </a:r>
          </a:p>
        </p:txBody>
      </p:sp>
      <p:sp>
        <p:nvSpPr>
          <p:cNvPr id="12" name="sh255">
            <a:extLst>
              <a:ext uri="{FF2B5EF4-FFF2-40B4-BE49-F238E27FC236}">
                <a16:creationId xmlns:a16="http://schemas.microsoft.com/office/drawing/2014/main" id="{E13C5680-E6D6-A7CE-1BB6-2F8A7E523EE6}"/>
              </a:ext>
            </a:extLst>
          </p:cNvPr>
          <p:cNvSpPr/>
          <p:nvPr/>
        </p:nvSpPr>
        <p:spPr>
          <a:xfrm>
            <a:off x="3583272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" name="tx257">
            <a:extLst>
              <a:ext uri="{FF2B5EF4-FFF2-40B4-BE49-F238E27FC236}">
                <a16:creationId xmlns:a16="http://schemas.microsoft.com/office/drawing/2014/main" id="{3B77A922-BF26-B0AC-6F5F-E6C40571B605}"/>
              </a:ext>
            </a:extLst>
          </p:cNvPr>
          <p:cNvSpPr txBox="1"/>
          <p:nvPr/>
        </p:nvSpPr>
        <p:spPr>
          <a:xfrm>
            <a:off x="3182765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Aprende del negocio</a:t>
            </a:r>
          </a:p>
        </p:txBody>
      </p:sp>
      <p:sp>
        <p:nvSpPr>
          <p:cNvPr id="17" name="sh258">
            <a:extLst>
              <a:ext uri="{FF2B5EF4-FFF2-40B4-BE49-F238E27FC236}">
                <a16:creationId xmlns:a16="http://schemas.microsoft.com/office/drawing/2014/main" id="{00316C50-EA8E-5BE4-1A47-6A654861EC79}"/>
              </a:ext>
            </a:extLst>
          </p:cNvPr>
          <p:cNvSpPr/>
          <p:nvPr/>
        </p:nvSpPr>
        <p:spPr>
          <a:xfrm>
            <a:off x="4667751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" name="tx260">
            <a:extLst>
              <a:ext uri="{FF2B5EF4-FFF2-40B4-BE49-F238E27FC236}">
                <a16:creationId xmlns:a16="http://schemas.microsoft.com/office/drawing/2014/main" id="{26B1A932-C2DB-DADC-4534-F28C529D035F}"/>
              </a:ext>
            </a:extLst>
          </p:cNvPr>
          <p:cNvSpPr txBox="1"/>
          <p:nvPr/>
        </p:nvSpPr>
        <p:spPr>
          <a:xfrm>
            <a:off x="4267243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Captura y organiza conocimiento</a:t>
            </a:r>
          </a:p>
        </p:txBody>
      </p:sp>
      <p:sp>
        <p:nvSpPr>
          <p:cNvPr id="23" name="tx263">
            <a:extLst>
              <a:ext uri="{FF2B5EF4-FFF2-40B4-BE49-F238E27FC236}">
                <a16:creationId xmlns:a16="http://schemas.microsoft.com/office/drawing/2014/main" id="{2944330A-BDEF-3D2A-4BD9-4B0FF041F6C6}"/>
              </a:ext>
            </a:extLst>
          </p:cNvPr>
          <p:cNvSpPr txBox="1"/>
          <p:nvPr/>
        </p:nvSpPr>
        <p:spPr>
          <a:xfrm>
            <a:off x="5351722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Genera conocimiento reutilizable</a:t>
            </a:r>
          </a:p>
        </p:txBody>
      </p:sp>
      <p:sp>
        <p:nvSpPr>
          <p:cNvPr id="26" name="sh264">
            <a:extLst>
              <a:ext uri="{FF2B5EF4-FFF2-40B4-BE49-F238E27FC236}">
                <a16:creationId xmlns:a16="http://schemas.microsoft.com/office/drawing/2014/main" id="{B18DB786-6B8E-E125-6CFA-B4EB9A6717EB}"/>
              </a:ext>
            </a:extLst>
          </p:cNvPr>
          <p:cNvSpPr/>
          <p:nvPr/>
        </p:nvSpPr>
        <p:spPr>
          <a:xfrm>
            <a:off x="6836707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0" name="sh265">
            <a:extLst>
              <a:ext uri="{FF2B5EF4-FFF2-40B4-BE49-F238E27FC236}">
                <a16:creationId xmlns:a16="http://schemas.microsoft.com/office/drawing/2014/main" id="{06DCF077-67B8-7BA0-168A-AEC21E08C9BC}"/>
              </a:ext>
            </a:extLst>
          </p:cNvPr>
          <p:cNvSpPr/>
          <p:nvPr/>
        </p:nvSpPr>
        <p:spPr>
          <a:xfrm>
            <a:off x="6931636" y="3882838"/>
            <a:ext cx="57031" cy="57031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sh266">
            <a:extLst>
              <a:ext uri="{FF2B5EF4-FFF2-40B4-BE49-F238E27FC236}">
                <a16:creationId xmlns:a16="http://schemas.microsoft.com/office/drawing/2014/main" id="{043FE2B4-41F6-C694-BA99-22EB9ABF4DEB}"/>
              </a:ext>
            </a:extLst>
          </p:cNvPr>
          <p:cNvSpPr/>
          <p:nvPr/>
        </p:nvSpPr>
        <p:spPr>
          <a:xfrm>
            <a:off x="6901824" y="3925875"/>
            <a:ext cx="116655" cy="90731"/>
          </a:xfrm>
          <a:prstGeom prst="chord">
            <a:avLst>
              <a:gd name="adj1" fmla="val 0"/>
              <a:gd name="adj2" fmla="val 1080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8" name="tx267">
            <a:extLst>
              <a:ext uri="{FF2B5EF4-FFF2-40B4-BE49-F238E27FC236}">
                <a16:creationId xmlns:a16="http://schemas.microsoft.com/office/drawing/2014/main" id="{9DDB0707-2A85-7A38-2872-B634C5515A53}"/>
              </a:ext>
            </a:extLst>
          </p:cNvPr>
          <p:cNvSpPr txBox="1"/>
          <p:nvPr/>
        </p:nvSpPr>
        <p:spPr>
          <a:xfrm>
            <a:off x="6436200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42" name="sh268">
            <a:extLst>
              <a:ext uri="{FF2B5EF4-FFF2-40B4-BE49-F238E27FC236}">
                <a16:creationId xmlns:a16="http://schemas.microsoft.com/office/drawing/2014/main" id="{675B400C-B91A-52BE-3D21-AC327C2911DE}"/>
              </a:ext>
            </a:extLst>
          </p:cNvPr>
          <p:cNvSpPr/>
          <p:nvPr/>
        </p:nvSpPr>
        <p:spPr>
          <a:xfrm>
            <a:off x="7921186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tx271">
            <a:extLst>
              <a:ext uri="{FF2B5EF4-FFF2-40B4-BE49-F238E27FC236}">
                <a16:creationId xmlns:a16="http://schemas.microsoft.com/office/drawing/2014/main" id="{494B5F5F-484D-35EC-5039-FFAEC9C29B95}"/>
              </a:ext>
            </a:extLst>
          </p:cNvPr>
          <p:cNvSpPr txBox="1"/>
          <p:nvPr/>
        </p:nvSpPr>
        <p:spPr>
          <a:xfrm>
            <a:off x="7520679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Entiende los procesos de negocio del cliente</a:t>
            </a:r>
          </a:p>
        </p:txBody>
      </p:sp>
      <p:pic>
        <p:nvPicPr>
          <p:cNvPr id="47" name="Gráfico 46" descr="Cerebro izquierdo y derecho contorno">
            <a:extLst>
              <a:ext uri="{FF2B5EF4-FFF2-40B4-BE49-F238E27FC236}">
                <a16:creationId xmlns:a16="http://schemas.microsoft.com/office/drawing/2014/main" id="{D68A3DFB-8BC7-F2B0-CB69-E09EBBB05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9563" y="3839935"/>
            <a:ext cx="223159" cy="223159"/>
          </a:xfrm>
          <a:prstGeom prst="rect">
            <a:avLst/>
          </a:prstGeom>
        </p:spPr>
      </p:pic>
      <p:pic>
        <p:nvPicPr>
          <p:cNvPr id="49" name="Gráfico 48" descr="Diana con relleno sólido">
            <a:extLst>
              <a:ext uri="{FF2B5EF4-FFF2-40B4-BE49-F238E27FC236}">
                <a16:creationId xmlns:a16="http://schemas.microsoft.com/office/drawing/2014/main" id="{A70C7D64-379E-7D29-7281-C55F6D30E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6573" y="3829048"/>
            <a:ext cx="212274" cy="212274"/>
          </a:xfrm>
          <a:prstGeom prst="rect">
            <a:avLst/>
          </a:prstGeom>
        </p:spPr>
      </p:pic>
      <p:pic>
        <p:nvPicPr>
          <p:cNvPr id="51" name="Gráfico 50" descr="Libro abierto contorno">
            <a:extLst>
              <a:ext uri="{FF2B5EF4-FFF2-40B4-BE49-F238E27FC236}">
                <a16:creationId xmlns:a16="http://schemas.microsoft.com/office/drawing/2014/main" id="{9B0E33F2-FF87-8740-F4B1-334F5195C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4528" y="3831771"/>
            <a:ext cx="239488" cy="239488"/>
          </a:xfrm>
          <a:prstGeom prst="rect">
            <a:avLst/>
          </a:prstGeom>
        </p:spPr>
      </p:pic>
      <p:sp>
        <p:nvSpPr>
          <p:cNvPr id="53" name="sh264">
            <a:extLst>
              <a:ext uri="{FF2B5EF4-FFF2-40B4-BE49-F238E27FC236}">
                <a16:creationId xmlns:a16="http://schemas.microsoft.com/office/drawing/2014/main" id="{BC70FFC0-1CC0-6F62-7EDF-80DF271D5B4B}"/>
              </a:ext>
            </a:extLst>
          </p:cNvPr>
          <p:cNvSpPr/>
          <p:nvPr/>
        </p:nvSpPr>
        <p:spPr>
          <a:xfrm>
            <a:off x="5688264" y="3841568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55" name="Gráfico 54" descr="Mejora continua con relleno sólido">
            <a:extLst>
              <a:ext uri="{FF2B5EF4-FFF2-40B4-BE49-F238E27FC236}">
                <a16:creationId xmlns:a16="http://schemas.microsoft.com/office/drawing/2014/main" id="{96E3415A-3B7A-D07E-BA4F-5CACD13CB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7850" y="380727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664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modelo reactivo">
            <a:extLst>
              <a:ext uri="{FF2B5EF4-FFF2-40B4-BE49-F238E27FC236}">
                <a16:creationId xmlns:a16="http://schemas.microsoft.com/office/drawing/2014/main" id="{63B05839-3D71-AE88-305C-0E928050B2A8}"/>
              </a:ext>
            </a:extLst>
          </p:cNvPr>
          <p:cNvSpPr txBox="1"/>
          <p:nvPr/>
        </p:nvSpPr>
        <p:spPr>
          <a:xfrm>
            <a:off x="351065" y="3671205"/>
            <a:ext cx="8523064" cy="664029"/>
          </a:xfrm>
          <a:prstGeom prst="rect">
            <a:avLst/>
          </a:prstGeom>
          <a:solidFill>
            <a:srgbClr val="FCF4EB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571A3787-9D32-BB3B-CFF1-3FDDDE399B63}"/>
              </a:ext>
            </a:extLst>
          </p:cNvPr>
          <p:cNvSpPr/>
          <p:nvPr/>
        </p:nvSpPr>
        <p:spPr>
          <a:xfrm>
            <a:off x="370454" y="485020"/>
            <a:ext cx="9388248" cy="346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406"/>
              </a:lnSpc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: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Reducción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costos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experiencia del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usuario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final 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través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la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transferencia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8BADBF-C619-14FE-378A-ED427D78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0" y="200392"/>
            <a:ext cx="7111542" cy="572700"/>
          </a:xfrm>
        </p:spPr>
        <p:txBody>
          <a:bodyPr>
            <a:normAutofit/>
          </a:bodyPr>
          <a:lstStyle/>
          <a:p>
            <a:r>
              <a:rPr lang="es-CO"/>
              <a:t>Modelo de Madurez de la Mesa de Nueva Generación</a:t>
            </a:r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58221" y="2433703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371136" y="2717436"/>
            <a:ext cx="1445760" cy="6380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Portal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base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FAQ, chatbot, IA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generativa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817574" y="2460917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52259" y="2864393"/>
            <a:ext cx="1233489" cy="5673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225914" y="2444588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040858" y="2864394"/>
            <a:ext cx="1641700" cy="6731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  <a:endParaRPr lang="es-ES"/>
          </a:p>
          <a:p>
            <a:pPr 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841081" y="2444587"/>
            <a:ext cx="994003" cy="2702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 Ingeniería)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42047" y="2906981"/>
            <a:ext cx="1490042" cy="6840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Ingenieros senior,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arquitectos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resuelven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 causa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raíz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292964" y="2460916"/>
            <a:ext cx="1070202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292963" y="29514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762534" y="2444587"/>
            <a:ext cx="994003" cy="3854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88364" y="2962365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078289" y="4554365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5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2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16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15957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17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5959929" y="1028700"/>
            <a:ext cx="2683629" cy="353786"/>
          </a:xfrm>
          <a:prstGeom prst="rect">
            <a:avLst/>
          </a:prstGeom>
          <a:solidFill>
            <a:srgbClr val="EBF1FA"/>
          </a:solidFill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chemeClr val="accent5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accent5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119" name="text">
            <a:extLst>
              <a:ext uri="{FF2B5EF4-FFF2-40B4-BE49-F238E27FC236}">
                <a16:creationId xmlns:a16="http://schemas.microsoft.com/office/drawing/2014/main" id="{6A0163D3-21EE-1E11-51FD-D7661AE05DB5}"/>
              </a:ext>
            </a:extLst>
          </p:cNvPr>
          <p:cNvSpPr>
            <a:spLocks noGrp="1"/>
          </p:cNvSpPr>
          <p:nvPr/>
        </p:nvSpPr>
        <p:spPr>
          <a:xfrm>
            <a:off x="419101" y="3875315"/>
            <a:ext cx="1521276" cy="3891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Deflexión &gt;30%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Disponible 24x7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Resuelve solicitudes frecuentes</a:t>
            </a:r>
          </a:p>
        </p:txBody>
      </p:sp>
      <p:sp>
        <p:nvSpPr>
          <p:cNvPr id="121" name="text">
            <a:extLst>
              <a:ext uri="{FF2B5EF4-FFF2-40B4-BE49-F238E27FC236}">
                <a16:creationId xmlns:a16="http://schemas.microsoft.com/office/drawing/2014/main" id="{3AFE1D91-0A1E-C722-7EDC-B63FC372E59A}"/>
              </a:ext>
            </a:extLst>
          </p:cNvPr>
          <p:cNvSpPr>
            <a:spLocks noGrp="1"/>
          </p:cNvSpPr>
          <p:nvPr/>
        </p:nvSpPr>
        <p:spPr>
          <a:xfrm>
            <a:off x="1631497" y="3799113"/>
            <a:ext cx="1657348" cy="6721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&lt;65%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MTTR &gt;12h, Sin N0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catálogo</a:t>
            </a:r>
            <a:endParaRPr sz="600" err="1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Registro y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categorización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Comunicación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al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usuar</a:t>
            </a:r>
            <a:r>
              <a:rPr sz="600" b="0" err="1">
                <a:solidFill>
                  <a:srgbClr val="172033"/>
                </a:solidFill>
                <a:latin typeface="Reddit Sans"/>
                <a:ea typeface="Reddit Sans"/>
              </a:rPr>
              <a:t>io</a:t>
            </a:r>
            <a:endParaRPr sz="60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3" name="text">
            <a:extLst>
              <a:ext uri="{FF2B5EF4-FFF2-40B4-BE49-F238E27FC236}">
                <a16:creationId xmlns:a16="http://schemas.microsoft.com/office/drawing/2014/main" id="{547BC0BF-FA4F-37FF-8A9D-B708AC4C5B20}"/>
              </a:ext>
            </a:extLst>
          </p:cNvPr>
          <p:cNvSpPr>
            <a:spLocks noGrp="1"/>
          </p:cNvSpPr>
          <p:nvPr/>
        </p:nvSpPr>
        <p:spPr>
          <a:xfrm>
            <a:off x="3159579" y="3761014"/>
            <a:ext cx="1341665" cy="498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65–74%, MTTR 8–12h</a:t>
            </a:r>
            <a:endParaRPr lang="es-ES"/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SLA, Catálogo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CMDB, KPI, 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Diagnóstico avanzado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Soporte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aplicativo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/campo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Coordinación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proveedores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5" name="text">
            <a:extLst>
              <a:ext uri="{FF2B5EF4-FFF2-40B4-BE49-F238E27FC236}">
                <a16:creationId xmlns:a16="http://schemas.microsoft.com/office/drawing/2014/main" id="{794BC2E2-347C-8C8B-051E-E54E1FE8FF29}"/>
              </a:ext>
            </a:extLst>
          </p:cNvPr>
          <p:cNvSpPr>
            <a:spLocks noGrp="1"/>
          </p:cNvSpPr>
          <p:nvPr/>
        </p:nvSpPr>
        <p:spPr>
          <a:xfrm>
            <a:off x="4682219" y="3875314"/>
            <a:ext cx="1162050" cy="3401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≥75%, MTTR 4–8h,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20–35% N0 activo KCS, Gobierno formal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7" name="text">
            <a:extLst>
              <a:ext uri="{FF2B5EF4-FFF2-40B4-BE49-F238E27FC236}">
                <a16:creationId xmlns:a16="http://schemas.microsoft.com/office/drawing/2014/main" id="{53F00BD8-6D22-3BE4-05A1-97E1A6CCB8CE}"/>
              </a:ext>
            </a:extLst>
          </p:cNvPr>
          <p:cNvSpPr>
            <a:spLocks noGrp="1"/>
          </p:cNvSpPr>
          <p:nvPr/>
        </p:nvSpPr>
        <p:spPr>
          <a:xfrm>
            <a:off x="6172201" y="3853543"/>
            <a:ext cx="1162050" cy="487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≥80%, MTTR &lt;4h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35–55% CSAT ≥88%, IA +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XLA medidos DEX monitoreado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96091D-9F50-1CD6-469D-68CA4CF1A06D}"/>
              </a:ext>
            </a:extLst>
          </p:cNvPr>
          <p:cNvSpPr txBox="1"/>
          <p:nvPr/>
        </p:nvSpPr>
        <p:spPr>
          <a:xfrm>
            <a:off x="7538358" y="3845379"/>
            <a:ext cx="1328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≥85%, MTTR &lt;2h, Deflection ≥55%, CSAT ≥92 ( 50% tickets 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agente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humano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), Pricing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outcomes Next Gen</a:t>
            </a:r>
            <a:endParaRPr lang="es-ES"/>
          </a:p>
        </p:txBody>
      </p:sp>
      <p:pic>
        <p:nvPicPr>
          <p:cNvPr id="7" name="Image 0" descr="-5107849e.png">
            <a:extLst>
              <a:ext uri="{FF2B5EF4-FFF2-40B4-BE49-F238E27FC236}">
                <a16:creationId xmlns:a16="http://schemas.microsoft.com/office/drawing/2014/main" id="{D7030BB5-D81F-8A9B-D14D-E4816EDD8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8" b="1608"/>
          <a:stretch>
            <a:fillRect/>
          </a:stretch>
        </p:blipFill>
        <p:spPr>
          <a:xfrm>
            <a:off x="346302" y="1623290"/>
            <a:ext cx="1587953" cy="762341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CE0E936A-956B-122D-BFA8-E372482D127B}"/>
              </a:ext>
            </a:extLst>
          </p:cNvPr>
          <p:cNvSpPr/>
          <p:nvPr/>
        </p:nvSpPr>
        <p:spPr>
          <a:xfrm>
            <a:off x="10678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12" name="Image 1" descr="3c0be2e2.png">
            <a:extLst>
              <a:ext uri="{FF2B5EF4-FFF2-40B4-BE49-F238E27FC236}">
                <a16:creationId xmlns:a16="http://schemas.microsoft.com/office/drawing/2014/main" id="{8EF2DF72-B7CA-CF2D-D74B-A5177607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147" y="1501474"/>
            <a:ext cx="150019" cy="171450"/>
          </a:xfrm>
          <a:prstGeom prst="rect">
            <a:avLst/>
          </a:prstGeom>
        </p:spPr>
      </p:pic>
      <p:pic>
        <p:nvPicPr>
          <p:cNvPr id="14" name="Image 2" descr="-664449e.png">
            <a:extLst>
              <a:ext uri="{FF2B5EF4-FFF2-40B4-BE49-F238E27FC236}">
                <a16:creationId xmlns:a16="http://schemas.microsoft.com/office/drawing/2014/main" id="{A1582877-2845-A03C-32D2-1A85967107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3173866" y="1623290"/>
            <a:ext cx="1587953" cy="762341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8D275D42-FC06-CB3B-ED05-1FDA82A995D0}"/>
              </a:ext>
            </a:extLst>
          </p:cNvPr>
          <p:cNvSpPr/>
          <p:nvPr/>
        </p:nvSpPr>
        <p:spPr>
          <a:xfrm>
            <a:off x="3380355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 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311DA5D-85F9-EF7E-0DBC-696CBCB217F4}"/>
              </a:ext>
            </a:extLst>
          </p:cNvPr>
          <p:cNvSpPr/>
          <p:nvPr/>
        </p:nvSpPr>
        <p:spPr>
          <a:xfrm>
            <a:off x="3922599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21" name="Image 3" descr="327946a2.png">
            <a:extLst>
              <a:ext uri="{FF2B5EF4-FFF2-40B4-BE49-F238E27FC236}">
                <a16:creationId xmlns:a16="http://schemas.microsoft.com/office/drawing/2014/main" id="{89AAF305-04C7-A7A6-1B1E-572C4489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452" y="1502521"/>
            <a:ext cx="128588" cy="164306"/>
          </a:xfrm>
          <a:prstGeom prst="rect">
            <a:avLst/>
          </a:prstGeom>
        </p:spPr>
      </p:pic>
      <p:pic>
        <p:nvPicPr>
          <p:cNvPr id="23" name="Image 4" descr="-63bd839e.png">
            <a:extLst>
              <a:ext uri="{FF2B5EF4-FFF2-40B4-BE49-F238E27FC236}">
                <a16:creationId xmlns:a16="http://schemas.microsoft.com/office/drawing/2014/main" id="{097DBBD1-C1FE-AD50-E484-99B251D98C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08" b="1608"/>
          <a:stretch>
            <a:fillRect/>
          </a:stretch>
        </p:blipFill>
        <p:spPr>
          <a:xfrm>
            <a:off x="4586288" y="1623290"/>
            <a:ext cx="1587953" cy="762341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8819F641-ED11-F5E7-B494-AD9088894EB1}"/>
              </a:ext>
            </a:extLst>
          </p:cNvPr>
          <p:cNvSpPr/>
          <p:nvPr/>
        </p:nvSpPr>
        <p:spPr>
          <a:xfrm>
            <a:off x="4819991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9735C04-2AAB-A364-8A0B-4AAFAA048837}"/>
              </a:ext>
            </a:extLst>
          </p:cNvPr>
          <p:cNvSpPr/>
          <p:nvPr/>
        </p:nvSpPr>
        <p:spPr>
          <a:xfrm>
            <a:off x="5318692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31" name="Image 5" descr="-26c90fde.png">
            <a:extLst>
              <a:ext uri="{FF2B5EF4-FFF2-40B4-BE49-F238E27FC236}">
                <a16:creationId xmlns:a16="http://schemas.microsoft.com/office/drawing/2014/main" id="{DB1CF924-B9A3-50B7-8B36-3EFDC4764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385" y="1497289"/>
            <a:ext cx="178594" cy="178594"/>
          </a:xfrm>
          <a:prstGeom prst="rect">
            <a:avLst/>
          </a:prstGeom>
        </p:spPr>
      </p:pic>
      <p:pic>
        <p:nvPicPr>
          <p:cNvPr id="33" name="Image 6" descr="-5a47b8de.png">
            <a:extLst>
              <a:ext uri="{FF2B5EF4-FFF2-40B4-BE49-F238E27FC236}">
                <a16:creationId xmlns:a16="http://schemas.microsoft.com/office/drawing/2014/main" id="{D2B6653F-E423-32E1-9D6C-0D06F169B9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0" b="1606"/>
          <a:stretch>
            <a:fillRect/>
          </a:stretch>
        </p:blipFill>
        <p:spPr>
          <a:xfrm>
            <a:off x="5998709" y="1623290"/>
            <a:ext cx="1587953" cy="762341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ED1896B-6CEA-F362-6EF4-FC81D471FCA4}"/>
              </a:ext>
            </a:extLst>
          </p:cNvPr>
          <p:cNvSpPr/>
          <p:nvPr/>
        </p:nvSpPr>
        <p:spPr>
          <a:xfrm>
            <a:off x="6194312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EF448C5-3034-AA2D-ED42-2518C9EF93E7}"/>
              </a:ext>
            </a:extLst>
          </p:cNvPr>
          <p:cNvSpPr/>
          <p:nvPr/>
        </p:nvSpPr>
        <p:spPr>
          <a:xfrm>
            <a:off x="6731113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39" name="Image 7" descr="-38c1a09e.png">
            <a:extLst>
              <a:ext uri="{FF2B5EF4-FFF2-40B4-BE49-F238E27FC236}">
                <a16:creationId xmlns:a16="http://schemas.microsoft.com/office/drawing/2014/main" id="{F396E1C1-A8CE-901C-95AC-22936F3A8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8549" y="1524496"/>
            <a:ext cx="142875" cy="121444"/>
          </a:xfrm>
          <a:prstGeom prst="rect">
            <a:avLst/>
          </a:prstGeom>
        </p:spPr>
      </p:pic>
      <p:pic>
        <p:nvPicPr>
          <p:cNvPr id="41" name="Image 8" descr="213ef762.png">
            <a:extLst>
              <a:ext uri="{FF2B5EF4-FFF2-40B4-BE49-F238E27FC236}">
                <a16:creationId xmlns:a16="http://schemas.microsoft.com/office/drawing/2014/main" id="{5F70A49D-A042-9267-5520-7A9BFD59D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774" b="1773"/>
          <a:stretch>
            <a:fillRect/>
          </a:stretch>
        </p:blipFill>
        <p:spPr>
          <a:xfrm>
            <a:off x="7405687" y="1623290"/>
            <a:ext cx="1593396" cy="762341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903377EE-A204-8525-2591-F8E74F4C0951}"/>
              </a:ext>
            </a:extLst>
          </p:cNvPr>
          <p:cNvSpPr/>
          <p:nvPr/>
        </p:nvSpPr>
        <p:spPr>
          <a:xfrm>
            <a:off x="7672048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19CC8D3-4053-57DD-6225-E9BC171FB24F}"/>
              </a:ext>
            </a:extLst>
          </p:cNvPr>
          <p:cNvSpPr/>
          <p:nvPr/>
        </p:nvSpPr>
        <p:spPr>
          <a:xfrm>
            <a:off x="81163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47" name="Image 9" descr="0-42f65e.png">
            <a:extLst>
              <a:ext uri="{FF2B5EF4-FFF2-40B4-BE49-F238E27FC236}">
                <a16:creationId xmlns:a16="http://schemas.microsoft.com/office/drawing/2014/main" id="{EF30B9F6-D122-74A9-CB1D-5FA2EFD46A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570" y="1511940"/>
            <a:ext cx="150019" cy="150019"/>
          </a:xfrm>
          <a:prstGeom prst="rect">
            <a:avLst/>
          </a:prstGeom>
        </p:spPr>
      </p:pic>
      <p:pic>
        <p:nvPicPr>
          <p:cNvPr id="49" name="Image 2" descr="-664449e.png">
            <a:extLst>
              <a:ext uri="{FF2B5EF4-FFF2-40B4-BE49-F238E27FC236}">
                <a16:creationId xmlns:a16="http://schemas.microsoft.com/office/drawing/2014/main" id="{F61E15C5-C1B7-5717-48D6-6A9F268CD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1769609" y="1623290"/>
            <a:ext cx="1587953" cy="762341"/>
          </a:xfrm>
          <a:prstGeom prst="rect">
            <a:avLst/>
          </a:prstGeom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F7C4A675-DBE4-E8F0-463F-AEF61CBEE550}"/>
              </a:ext>
            </a:extLst>
          </p:cNvPr>
          <p:cNvSpPr/>
          <p:nvPr/>
        </p:nvSpPr>
        <p:spPr>
          <a:xfrm>
            <a:off x="2387713" y="13848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3" name="Image 3" descr="327946a2.png">
            <a:extLst>
              <a:ext uri="{FF2B5EF4-FFF2-40B4-BE49-F238E27FC236}">
                <a16:creationId xmlns:a16="http://schemas.microsoft.com/office/drawing/2014/main" id="{F1C21463-EA58-3108-134A-8037AFA27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566" y="1480749"/>
            <a:ext cx="128588" cy="164306"/>
          </a:xfrm>
          <a:prstGeom prst="rect">
            <a:avLst/>
          </a:prstGeom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B1C886E2-3106-45EE-9F68-BCD9BBE6C2FD}"/>
              </a:ext>
            </a:extLst>
          </p:cNvPr>
          <p:cNvSpPr/>
          <p:nvPr/>
        </p:nvSpPr>
        <p:spPr>
          <a:xfrm>
            <a:off x="1846148" y="17610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4D3FF078-130B-5832-985C-9EE82C25E355}"/>
              </a:ext>
            </a:extLst>
          </p:cNvPr>
          <p:cNvSpPr/>
          <p:nvPr/>
        </p:nvSpPr>
        <p:spPr>
          <a:xfrm>
            <a:off x="420118" y="17936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 sz="800"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FE464B-88CB-4058-A515-5B4D29982FC9}"/>
              </a:ext>
            </a:extLst>
          </p:cNvPr>
          <p:cNvSpPr txBox="1"/>
          <p:nvPr/>
        </p:nvSpPr>
        <p:spPr>
          <a:xfrm>
            <a:off x="3287486" y="4346120"/>
            <a:ext cx="2710543" cy="276999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>
                <a:latin typeface="Reddit Sans"/>
                <a:cs typeface="Segoe UI"/>
              </a:rPr>
              <a:t>Framework de Automatización</a:t>
            </a:r>
            <a:endParaRPr lang="es-ES"/>
          </a:p>
          <a:p>
            <a:pPr algn="ctr"/>
            <a:r>
              <a:rPr lang="es-ES" sz="600">
                <a:latin typeface="Reddit Sans"/>
                <a:cs typeface="Segoe UI"/>
              </a:rPr>
              <a:t>Equipo de: </a:t>
            </a:r>
            <a:r>
              <a:rPr lang="es-ES" sz="600" err="1">
                <a:latin typeface="Reddit Sans"/>
                <a:cs typeface="Segoe UI"/>
              </a:rPr>
              <a:t>Ivan</a:t>
            </a:r>
            <a:r>
              <a:rPr lang="es-ES" sz="600">
                <a:latin typeface="Reddit Sans"/>
                <a:cs typeface="Segoe UI"/>
              </a:rPr>
              <a:t>, Steve, </a:t>
            </a:r>
            <a:r>
              <a:rPr lang="es-ES" sz="600" err="1">
                <a:latin typeface="Reddit Sans"/>
                <a:cs typeface="Segoe UI"/>
              </a:rPr>
              <a:t>Andres</a:t>
            </a:r>
            <a:r>
              <a:rPr lang="es-ES" sz="600">
                <a:latin typeface="Reddit Sans"/>
                <a:cs typeface="Segoe UI"/>
              </a:rPr>
              <a:t> Camilo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21AB28-6119-68AE-8B18-068F2552C9F3}"/>
              </a:ext>
            </a:extLst>
          </p:cNvPr>
          <p:cNvSpPr txBox="1"/>
          <p:nvPr/>
        </p:nvSpPr>
        <p:spPr>
          <a:xfrm>
            <a:off x="371274" y="3488291"/>
            <a:ext cx="8507186" cy="292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Modelo de Soporte</a:t>
            </a:r>
            <a:endParaRPr lang="es-ES" sz="7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  <a:p>
            <a:pPr algn="ctr"/>
            <a:r>
              <a:rPr lang="en-US" sz="6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Shift-left: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 resolver antes,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escalar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mejor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y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dejar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evidencia</a:t>
            </a:r>
            <a:endParaRPr lang="en-US" sz="6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CuadroTexto 63">
            <a:extLst>
              <a:ext uri="{FF2B5EF4-FFF2-40B4-BE49-F238E27FC236}">
                <a16:creationId xmlns:a16="http://schemas.microsoft.com/office/drawing/2014/main" id="{37FE7B86-FD12-E2EA-3CA6-6E8E7B52B529}"/>
              </a:ext>
            </a:extLst>
          </p:cNvPr>
          <p:cNvSpPr txBox="1"/>
          <p:nvPr/>
        </p:nvSpPr>
        <p:spPr>
          <a:xfrm>
            <a:off x="370116" y="4340677"/>
            <a:ext cx="1562097" cy="744107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N0: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Banking</a:t>
            </a:r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solution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/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Radar para temas regulatorios del estado, ministerios (XM).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Multi-industria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con bases de conocimiento que la hacen especializada.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Anticipar eventos y radar para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compomientos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inusuales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B82DF6-E59E-D321-86F8-D56A03DEB9D3}"/>
              </a:ext>
            </a:extLst>
          </p:cNvPr>
          <p:cNvSpPr txBox="1"/>
          <p:nvPr/>
        </p:nvSpPr>
        <p:spPr>
          <a:xfrm rot="16200000">
            <a:off x="-93222" y="4624059"/>
            <a:ext cx="740229" cy="184666"/>
          </a:xfrm>
          <a:prstGeom prst="rect">
            <a:avLst/>
          </a:prstGeom>
          <a:solidFill>
            <a:srgbClr val="CBACE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 err="1">
                <a:latin typeface="Reddit Sans Light"/>
                <a:cs typeface="Reddit Sans Light"/>
              </a:rPr>
              <a:t>Herranientas</a:t>
            </a:r>
            <a:endParaRPr lang="es-ES" sz="600" b="1">
              <a:latin typeface="Reddit Sans Light"/>
              <a:cs typeface="Reddit Sans Light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BCAE883-7C7A-5268-C234-8F9C761DB906}"/>
              </a:ext>
            </a:extLst>
          </p:cNvPr>
          <p:cNvSpPr/>
          <p:nvPr/>
        </p:nvSpPr>
        <p:spPr>
          <a:xfrm rot="21480000">
            <a:off x="2994960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078012A-BE74-5265-FF66-6E34FE87F1FE}"/>
              </a:ext>
            </a:extLst>
          </p:cNvPr>
          <p:cNvSpPr/>
          <p:nvPr/>
        </p:nvSpPr>
        <p:spPr>
          <a:xfrm rot="21480000">
            <a:off x="5770817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3530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Modelo de madurez de </a:t>
            </a:r>
            <a:r>
              <a:rPr lang="es-ES" sz="1800" b="1">
                <a:solidFill>
                  <a:srgbClr val="0E337C"/>
                </a:solidFill>
              </a:rPr>
              <a:t>Mesas</a:t>
            </a: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 de </a:t>
            </a:r>
            <a:r>
              <a:rPr lang="es-ES" sz="1800" b="1">
                <a:solidFill>
                  <a:srgbClr val="0E337C"/>
                </a:solidFill>
              </a:rPr>
              <a:t>Servicio Next Gen</a:t>
            </a:r>
            <a:endParaRPr lang="es-ES" sz="1800" b="1">
              <a:solidFill>
                <a:srgbClr val="0E337C"/>
              </a:solidFill>
              <a:latin typeface="Arial"/>
              <a:cs typeface="Arial"/>
            </a:endParaRP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PersonalSoft · ITIL v5 · 4 dimensiones · 17 prácticas + negocio + capa sectorial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7474F"/>
                </a:solidFill>
                <a:latin typeface="Arial"/>
                <a:cs typeface="Arial"/>
              </a:rPr>
              <a:t>PASO 0 · CLASIFICADOR INICIAL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rgbClr val="2E7D32"/>
                </a:solidFill>
                <a:latin typeface="Arial"/>
                <a:cs typeface="Arial"/>
              </a:rPr>
              <a:t>Mesa de Ayuda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>
                <a:solidFill>
                  <a:srgbClr val="37474F"/>
                </a:solidFill>
                <a:latin typeface="Arial"/>
                <a:cs typeface="Arial"/>
              </a:rPr>
              <a:t>Nivel mínimo esperado: N2 · Administrado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rgbClr val="5E35B1"/>
                </a:solidFill>
                <a:latin typeface="Arial"/>
                <a:cs typeface="Arial"/>
              </a:rPr>
              <a:t>Mesa de Soporte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>
                <a:solidFill>
                  <a:srgbClr val="37474F"/>
                </a:solidFill>
                <a:latin typeface="Arial"/>
                <a:cs typeface="Arial"/>
              </a:rPr>
              <a:t>Nivel mínimo esperado: N3 · Definido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103120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084832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7474F"/>
                </a:solidFill>
                <a:latin typeface="Arial"/>
                <a:cs typeface="Arial"/>
              </a:rPr>
              <a:t>ESCALA DE MADUREZ · N0 → N5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0BEC5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37474F"/>
                </a:solidFill>
                <a:latin typeface="Arial"/>
                <a:cs typeface="Arial"/>
              </a:rPr>
              <a:t>N0 · Autoservicio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Portal · KEDB · 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Sin intervención</a:t>
            </a:r>
          </a:p>
        </p:txBody>
      </p:sp>
      <p:sp>
        <p:nvSpPr>
          <p:cNvPr id="31" name="card32"/>
          <p:cNvSpPr/>
          <p:nvPr/>
        </p:nvSpPr>
        <p:spPr>
          <a:xfrm>
            <a:off x="1758696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E65100"/>
                </a:solidFill>
                <a:latin typeface="Arial"/>
                <a:cs typeface="Arial"/>
              </a:rPr>
              <a:t>N1 · Inicial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Poco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Reactivo total</a:t>
            </a:r>
          </a:p>
        </p:txBody>
      </p:sp>
      <p:sp>
        <p:nvSpPr>
          <p:cNvPr id="33" name="card34"/>
          <p:cNvSpPr/>
          <p:nvPr/>
        </p:nvSpPr>
        <p:spPr>
          <a:xfrm>
            <a:off x="3197352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1565C0"/>
                </a:solidFill>
                <a:latin typeface="Arial"/>
                <a:cs typeface="Arial"/>
              </a:rPr>
              <a:t>N2 · Administrado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Documentación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básica por mesa</a:t>
            </a:r>
          </a:p>
        </p:txBody>
      </p:sp>
      <p:sp>
        <p:nvSpPr>
          <p:cNvPr id="35" name="card36"/>
          <p:cNvSpPr/>
          <p:nvPr/>
        </p:nvSpPr>
        <p:spPr>
          <a:xfrm>
            <a:off x="4636008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303F9F"/>
                </a:solidFill>
                <a:latin typeface="Arial"/>
                <a:cs typeface="Arial"/>
              </a:rPr>
              <a:t>N3 · Definido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Estandarización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entre mesas</a:t>
            </a:r>
          </a:p>
        </p:txBody>
      </p:sp>
      <p:sp>
        <p:nvSpPr>
          <p:cNvPr id="37" name="card38"/>
          <p:cNvSpPr/>
          <p:nvPr/>
        </p:nvSpPr>
        <p:spPr>
          <a:xfrm>
            <a:off x="6074664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00695C"/>
                </a:solidFill>
                <a:latin typeface="Arial"/>
                <a:cs typeface="Arial"/>
              </a:rPr>
              <a:t>N4 · Cuantitativo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Medible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basado en datos</a:t>
            </a:r>
          </a:p>
        </p:txBody>
      </p:sp>
      <p:sp>
        <p:nvSpPr>
          <p:cNvPr id="39" name="card40"/>
          <p:cNvSpPr/>
          <p:nvPr/>
        </p:nvSpPr>
        <p:spPr>
          <a:xfrm>
            <a:off x="751332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2E7D32"/>
                </a:solidFill>
                <a:latin typeface="Arial"/>
                <a:cs typeface="Arial"/>
              </a:rPr>
              <a:t>N5 · Optimizado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IA activa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Mejora continua</a:t>
            </a:r>
          </a:p>
        </p:txBody>
      </p:sp>
      <p:sp>
        <p:nvSpPr>
          <p:cNvPr id="41" name="banner42"/>
          <p:cNvSpPr/>
          <p:nvPr/>
        </p:nvSpPr>
        <p:spPr>
          <a:xfrm>
            <a:off x="320040" y="3913632"/>
            <a:ext cx="8503920" cy="65836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chemeClr val="tx1"/>
                </a:solidFill>
                <a:latin typeface="Arial"/>
                <a:cs typeface="Arial"/>
              </a:rPr>
              <a:t>Cada mesa recorre N0 → N5 en cada práctica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900">
                <a:solidFill>
                  <a:schemeClr val="tx1"/>
                </a:solidFill>
                <a:latin typeface="Arial"/>
                <a:cs typeface="Arial"/>
              </a:rPr>
              <a:t>El nivel mínimo esperado define el punto de partida de cada tipo de mesa</a:t>
            </a:r>
          </a:p>
        </p:txBody>
      </p:sp>
      <p:sp>
        <p:nvSpPr>
          <p:cNvPr id="43" name="tb44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Personas, información y tecnología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Dimensiones D1 y D2 del modelo de madurez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2E7D32"/>
                </a:solidFill>
                <a:latin typeface="Arial"/>
                <a:cs typeface="Arial"/>
              </a:rPr>
              <a:t>D1 · ORGANIZACIONES Y PERSONAS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2E7D32"/>
                </a:solidFill>
                <a:latin typeface="Arial"/>
                <a:cs typeface="Arial"/>
              </a:rPr>
              <a:t>Gobierno de roles (RACI)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Héroes aislados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Roles informales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RACI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Ajuste por datos de carga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IA sugiere reasignación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2E7D32"/>
                </a:solidFill>
                <a:latin typeface="Arial"/>
                <a:cs typeface="Arial"/>
              </a:rPr>
              <a:t>Capacidad y dimensionamiento del equipo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Cálculo a ojo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Base estática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Calculadora FTE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Medición GAP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IA anticipa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1565C0"/>
                </a:solidFill>
                <a:latin typeface="Arial"/>
                <a:cs typeface="Arial"/>
              </a:rPr>
              <a:t>D2 · INFORMACIÓN Y TECNOLOGÍA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Herramientas y automatización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Dispersas / Excel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Solo bitácora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Flujos integrados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Medición de %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Resolución con IA</a:t>
            </a:r>
          </a:p>
        </p:txBody>
      </p:sp>
      <p:sp>
        <p:nvSpPr>
          <p:cNvPr id="31" name="card32"/>
          <p:cNvSpPr/>
          <p:nvPr/>
        </p:nvSpPr>
        <p:spPr>
          <a:xfrm>
            <a:off x="2482596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Gestión del conocimiento (KEDB)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Bus factor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Notas aisladas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KEDB central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Uso correlacionado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Auto-sugerencia IA</a:t>
            </a:r>
          </a:p>
        </p:txBody>
      </p:sp>
      <p:sp>
        <p:nvSpPr>
          <p:cNvPr id="33" name="card34"/>
          <p:cNvSpPr/>
          <p:nvPr/>
        </p:nvSpPr>
        <p:spPr>
          <a:xfrm>
            <a:off x="4645152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Gestión de integraciones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Sin documentar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Lista básica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Mapa de APIs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Alertas por API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Monitoreo AIOps</a:t>
            </a:r>
          </a:p>
        </p:txBody>
      </p:sp>
      <p:sp>
        <p:nvSpPr>
          <p:cNvPr id="35" name="card36"/>
          <p:cNvSpPr/>
          <p:nvPr/>
        </p:nvSpPr>
        <p:spPr>
          <a:xfrm>
            <a:off x="6807708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Monitoreo y gestión de eventos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Usuario reporta todo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Alertas manuales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Umbrales automáticos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Correlación eventos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AIOps predictivo</a:t>
            </a:r>
          </a:p>
        </p:txBody>
      </p:sp>
      <p:sp>
        <p:nvSpPr>
          <p:cNvPr id="37" name="tb38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Socios y proveedores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D3 · relación con el negocio y los proveedores de servicio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5E35B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5E35B1"/>
                </a:solidFill>
                <a:latin typeface="Arial"/>
                <a:cs typeface="Arial"/>
              </a:rPr>
              <a:t>D3 · SOCIOS Y PROVEEDORES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Service Desk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Sin punto único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Mesa sin procesos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Canales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Medida como negocio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Orquestada por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Catálogo / Alcance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Informal / verbal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Desactualizado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Catálogo vivo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Costeo por servicio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Ajuste dinámico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SLA / ANS +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No medidos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Medición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ANS por prioridad + XLA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ANS + XLA tendencia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Alertas preventivas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Disponibilidad y cobertura horaria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Best effort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No contractual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Pactado y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N0/N1 24x7 vía IA</a:t>
            </a:r>
          </a:p>
        </p:txBody>
      </p:sp>
      <p:sp>
        <p:nvSpPr>
          <p:cNvPr id="29" name="tb3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Flujos de valor y procesos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D4 · las prácticas operativas de la mesa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0069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00695C"/>
                </a:solidFill>
                <a:latin typeface="Arial"/>
                <a:cs typeface="Arial"/>
              </a:rPr>
              <a:t>D4 · FLUJOS DE VALOR Y PROCESOS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incidentes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Reactivo / incendio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Proceso N1-N2-N3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Tiempos por nivel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Auto-resolución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solicitudes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Mezcladas c/incidente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Flujo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Tiempos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ANS tiempo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Portal N0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problemas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No existe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 voluntad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Análisis formal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Reducción tickets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Patrones ocultos IA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Change Enablement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Sin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Proceso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Impacto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IA evalúa riesgo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Transición y onboarding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Improvisada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Pasos sueltos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Playbook exacto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Métrica 30 días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Carga automática IA</a:t>
            </a:r>
          </a:p>
        </p:txBody>
      </p:sp>
      <p:sp>
        <p:nvSpPr>
          <p:cNvPr id="31" name="card32"/>
          <p:cNvSpPr/>
          <p:nvPr/>
        </p:nvSpPr>
        <p:spPr>
          <a:xfrm>
            <a:off x="32156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Mejora continua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Solo crisis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Sin seguimiento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Backlog 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Antes/después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IA detecta oportunidades</a:t>
            </a:r>
          </a:p>
        </p:txBody>
      </p:sp>
      <p:sp>
        <p:nvSpPr>
          <p:cNvPr id="33" name="card34"/>
          <p:cNvSpPr/>
          <p:nvPr/>
        </p:nvSpPr>
        <p:spPr>
          <a:xfrm>
            <a:off x="61112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Experiencia del cliente · CX / 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Cero quejas = OK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Encuesta 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CSAT + XLA continuo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Cruce operacional NPS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CX en tiempo real</a:t>
            </a:r>
          </a:p>
        </p:txBody>
      </p:sp>
      <p:sp>
        <p:nvSpPr>
          <p:cNvPr id="35" name="tb36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Negocio, cumplimiento y cierre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de negocio · capa sectorial · síntesis del modelo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32688"/>
            <a:ext cx="64008" cy="219456"/>
          </a:xfrm>
          <a:prstGeom prst="roundRect">
            <a:avLst>
              <a:gd name="adj" fmla="val 4000"/>
            </a:avLst>
          </a:prstGeom>
          <a:solidFill>
            <a:srgbClr val="303F9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14400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03F9F"/>
                </a:solidFill>
                <a:latin typeface="Arial"/>
                <a:cs typeface="Arial"/>
              </a:rPr>
              <a:t>DIMENSIÓN DE NEGOCIO · ÉXITO COMERCIAL Y RENTABILIDAD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Salud financiera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Pérdida oculta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Margen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Upselling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Retención y cuenta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Riesgo churn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Renueva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Expansión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Silencioso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Reactivo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Promotor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Eficiencia de costo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Alto e invisible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Auto</a:t>
            </a:r>
          </a:p>
        </p:txBody>
      </p:sp>
      <p:sp>
        <p:nvSpPr>
          <p:cNvPr id="29" name="bar30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tb32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CAPA SECTORIAL · CUMPLIMIENTO REGULATORIO</a:t>
            </a:r>
          </a:p>
        </p:txBody>
      </p:sp>
      <p:sp>
        <p:nvSpPr>
          <p:cNvPr id="33" name="card34"/>
          <p:cNvSpPr/>
          <p:nvPr/>
        </p:nvSpPr>
        <p:spPr>
          <a:xfrm>
            <a:off x="32004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Banca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SFC · SOX · BCP/DRP · Segregación de funciones</a:t>
            </a:r>
          </a:p>
        </p:txBody>
      </p:sp>
      <p:sp>
        <p:nvSpPr>
          <p:cNvPr id="35" name="card36"/>
          <p:cNvSpPr/>
          <p:nvPr/>
        </p:nvSpPr>
        <p:spPr>
          <a:xfrm>
            <a:off x="470916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Salud (EPS)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Supersalud · Habeas Data · RIPS · PISIS · Trazabilidad clínica</a:t>
            </a:r>
          </a:p>
        </p:txBody>
      </p:sp>
      <p:sp>
        <p:nvSpPr>
          <p:cNvPr id="37" name="banner38"/>
          <p:cNvSpPr/>
          <p:nvPr/>
        </p:nvSpPr>
        <p:spPr>
          <a:xfrm>
            <a:off x="320040" y="3913632"/>
            <a:ext cx="8503920" cy="731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300" b="1">
                <a:solidFill>
                  <a:schemeClr val="tx1"/>
                </a:solidFill>
                <a:latin typeface="Arial"/>
                <a:cs typeface="Arial"/>
              </a:rPr>
              <a:t>Una mesa exitosa: madura operativamente + rentable como negocio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ITIL v5 · 4 dimensiones · 17 prácticas · Monitor/S+F · Service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Experience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Foundation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Collaborate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/A+I · Negocio PS</a:t>
            </a:r>
          </a:p>
        </p:txBody>
      </p:sp>
      <p:sp>
        <p:nvSpPr>
          <p:cNvPr id="39" name="tb4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CB511400-F229-BAC6-42B8-ECED4C310BC8}"/>
              </a:ext>
            </a:extLst>
          </p:cNvPr>
          <p:cNvSpPr/>
          <p:nvPr/>
        </p:nvSpPr>
        <p:spPr>
          <a:xfrm>
            <a:off x="373516" y="1555638"/>
            <a:ext cx="2053829" cy="3105830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7ACC083-B532-C457-72C8-86F96CE7FDDB}"/>
              </a:ext>
            </a:extLst>
          </p:cNvPr>
          <p:cNvSpPr/>
          <p:nvPr/>
        </p:nvSpPr>
        <p:spPr>
          <a:xfrm>
            <a:off x="2498782" y="1555638"/>
            <a:ext cx="2053829" cy="3105830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503163C-1193-FB3F-F6BA-CD9C1B36622F}"/>
              </a:ext>
            </a:extLst>
          </p:cNvPr>
          <p:cNvSpPr/>
          <p:nvPr/>
        </p:nvSpPr>
        <p:spPr>
          <a:xfrm>
            <a:off x="4624048" y="1555638"/>
            <a:ext cx="2053829" cy="3105830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A6ABB46D-CA31-1415-F77A-E18E693F3262}"/>
              </a:ext>
            </a:extLst>
          </p:cNvPr>
          <p:cNvSpPr/>
          <p:nvPr/>
        </p:nvSpPr>
        <p:spPr>
          <a:xfrm>
            <a:off x="6749314" y="1555638"/>
            <a:ext cx="2053829" cy="3105830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Catálogo Modular de Servicios</a:t>
            </a:r>
            <a:endParaRPr lang="es-ES" sz="1000">
              <a:latin typeface="Reddit Sans"/>
              <a:ea typeface="Reddit Sans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noGrp="1"/>
          </p:cNvSpPr>
          <p:nvPr/>
        </p:nvSpPr>
        <p:spPr>
          <a:xfrm>
            <a:off x="340179" y="575582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 base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gestionada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más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capacidades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inmersas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servicios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complementarios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noGrp="1"/>
          </p:cNvSpPr>
          <p:nvPr/>
        </p:nvSpPr>
        <p:spPr>
          <a:xfrm>
            <a:off x="6232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163B8C"/>
                </a:solidFill>
              </a:defRPr>
            </a:pP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Base 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Operativa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noGrp="1"/>
          </p:cNvSpPr>
          <p:nvPr/>
        </p:nvSpPr>
        <p:spPr>
          <a:xfrm>
            <a:off x="623207" y="3205843"/>
            <a:ext cx="1504950" cy="6912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Punto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único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contacto</a:t>
            </a:r>
            <a:endParaRPr lang="es-ES" sz="800" err="1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incidentes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solicitudes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ANS/SLA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por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prioridad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Reporte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noGrp="1"/>
          </p:cNvSpPr>
          <p:nvPr/>
        </p:nvSpPr>
        <p:spPr>
          <a:xfrm>
            <a:off x="2792184" y="2174422"/>
            <a:ext cx="1504950" cy="383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087B83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Capacidades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 Next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 Gen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noGrp="1"/>
          </p:cNvSpPr>
          <p:nvPr/>
        </p:nvSpPr>
        <p:spPr>
          <a:xfrm>
            <a:off x="2797628" y="3249386"/>
            <a:ext cx="1499508" cy="821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Portal N0 y agente virtual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KEDB/KCS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Agent assist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AIOps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observabilidad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SLA + XLA + DEX</a:t>
            </a:r>
            <a:endParaRPr lang="es-ES" sz="800" b="0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noGrp="1"/>
          </p:cNvSpPr>
          <p:nvPr/>
        </p:nvSpPr>
        <p:spPr>
          <a:xfrm>
            <a:off x="49285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20835A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Servicios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 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Inmersos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noGrp="1"/>
          </p:cNvSpPr>
          <p:nvPr/>
        </p:nvSpPr>
        <p:spPr>
          <a:xfrm>
            <a:off x="4928506" y="3249386"/>
            <a:ext cx="1434193" cy="77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RACI y gobierno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Catálogo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alcance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problemas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Disponibilidad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Change enablement</a:t>
            </a:r>
            <a:endParaRPr sz="800">
              <a:solidFill>
                <a:srgbClr val="595959"/>
              </a:solidFill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Mejora continua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Evolutivos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noGrp="1"/>
          </p:cNvSpPr>
          <p:nvPr/>
        </p:nvSpPr>
        <p:spPr>
          <a:xfrm>
            <a:off x="7102927" y="2109108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D47A00"/>
                </a:solidFill>
              </a:defRPr>
            </a:pP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Servicios 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Complementarios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noGrp="1"/>
          </p:cNvSpPr>
          <p:nvPr/>
        </p:nvSpPr>
        <p:spPr>
          <a:xfrm>
            <a:off x="7064828" y="2650672"/>
            <a:ext cx="1624692" cy="1197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Assessment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del Nivel de Madurez de la Mesa de Servicio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Modernización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de aplicaciones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Capacitaciones identificadas en mesas de servicio (por </a:t>
            </a: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volmuetria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 tickets)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Seguridad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DevOps / </a:t>
            </a: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automatización</a:t>
            </a:r>
            <a:endParaRPr sz="80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Performance engineering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datos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 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IA</a:t>
            </a: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9C95DC6-388A-6B8F-971A-B933C2E933F0}"/>
              </a:ext>
            </a:extLst>
          </p:cNvPr>
          <p:cNvSpPr/>
          <p:nvPr/>
        </p:nvSpPr>
        <p:spPr>
          <a:xfrm>
            <a:off x="368073" y="958963"/>
            <a:ext cx="8429625" cy="520304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38E257A-0E3D-D50C-B766-757016C7109A}"/>
              </a:ext>
            </a:extLst>
          </p:cNvPr>
          <p:cNvSpPr/>
          <p:nvPr/>
        </p:nvSpPr>
        <p:spPr>
          <a:xfrm>
            <a:off x="3398865" y="1129596"/>
            <a:ext cx="2368042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Arquitectura de Servicio Integral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59" name="Image 0" descr="-51c0485e.png">
            <a:extLst>
              <a:ext uri="{FF2B5EF4-FFF2-40B4-BE49-F238E27FC236}">
                <a16:creationId xmlns:a16="http://schemas.microsoft.com/office/drawing/2014/main" id="{02CE5549-DF29-9F01-69B9-302A1F8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173" y="1690696"/>
            <a:ext cx="257175" cy="285750"/>
          </a:xfrm>
          <a:prstGeom prst="rect">
            <a:avLst/>
          </a:prstGeom>
        </p:spPr>
      </p:pic>
      <p:pic>
        <p:nvPicPr>
          <p:cNvPr id="61" name="Image 1" descr="7a1d5e62.png">
            <a:extLst>
              <a:ext uri="{FF2B5EF4-FFF2-40B4-BE49-F238E27FC236}">
                <a16:creationId xmlns:a16="http://schemas.microsoft.com/office/drawing/2014/main" id="{C37A1F31-8948-26B7-BA87-929A1500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985" y="1697401"/>
            <a:ext cx="300038" cy="300038"/>
          </a:xfrm>
          <a:prstGeom prst="rect">
            <a:avLst/>
          </a:prstGeom>
        </p:spPr>
      </p:pic>
      <p:pic>
        <p:nvPicPr>
          <p:cNvPr id="63" name="Image 2" descr="5fb69d22.png">
            <a:extLst>
              <a:ext uri="{FF2B5EF4-FFF2-40B4-BE49-F238E27FC236}">
                <a16:creationId xmlns:a16="http://schemas.microsoft.com/office/drawing/2014/main" id="{4ED6D8A5-149C-8D64-187D-5582CF4C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323" y="1731729"/>
            <a:ext cx="300038" cy="264319"/>
          </a:xfrm>
          <a:prstGeom prst="rect">
            <a:avLst/>
          </a:prstGeom>
        </p:spPr>
      </p:pic>
      <p:pic>
        <p:nvPicPr>
          <p:cNvPr id="64" name="Image 2" descr="5fb69d22.png">
            <a:extLst>
              <a:ext uri="{FF2B5EF4-FFF2-40B4-BE49-F238E27FC236}">
                <a16:creationId xmlns:a16="http://schemas.microsoft.com/office/drawing/2014/main" id="{70171854-E5AF-3AFE-2F30-6E06F401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451" y="1731729"/>
            <a:ext cx="300038" cy="264319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8AC04C55-5236-1115-ED09-496275098826}"/>
              </a:ext>
            </a:extLst>
          </p:cNvPr>
          <p:cNvSpPr txBox="1"/>
          <p:nvPr/>
        </p:nvSpPr>
        <p:spPr>
          <a:xfrm>
            <a:off x="489857" y="2452007"/>
            <a:ext cx="18179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 fontAlgn="ctr">
              <a:spcBef>
                <a:spcPts val="482"/>
              </a:spcBef>
            </a:pP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fundamental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centrales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soporte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garantizan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estabilidad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continuidad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80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F5CBAACB-E4AC-C922-AD11-4E0E17911830}"/>
              </a:ext>
            </a:extLst>
          </p:cNvPr>
          <p:cNvSpPr/>
          <p:nvPr/>
        </p:nvSpPr>
        <p:spPr>
          <a:xfrm>
            <a:off x="2644814" y="2548501"/>
            <a:ext cx="1905831" cy="65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Innovación tecnológica y soluciones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de próxima generación con enfoque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 IA, automatización y escalabilidad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futura.</a:t>
            </a:r>
            <a:endParaRPr lang="es-E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354A2E1B-2A3F-FA73-160F-B1496F7F573D}"/>
              </a:ext>
            </a:extLst>
          </p:cNvPr>
          <p:cNvSpPr/>
          <p:nvPr/>
        </p:nvSpPr>
        <p:spPr>
          <a:xfrm>
            <a:off x="4858580" y="2417873"/>
            <a:ext cx="157812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Funcionalidades integradas de forma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nativa en la experiencia operativa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para optimizar flujos de trabajo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mediante integración profunda.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Stack tecnológico: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Integrarse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al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ecosistema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del </a:t>
            </a:r>
            <a:r>
              <a:rPr sz="1650" b="1" err="1">
                <a:solidFill>
                  <a:srgbClr val="0C2362"/>
                </a:solidFill>
                <a:latin typeface="Reddit Sans"/>
                <a:ea typeface="Reddit Sans"/>
              </a:rPr>
              <a:t>cliente</a:t>
            </a:r>
            <a:endParaRPr lang="es-ES" sz="1650" b="1" err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noGrp="1"/>
          </p:cNvSpPr>
          <p:nvPr/>
        </p:nvSpPr>
        <p:spPr>
          <a:xfrm>
            <a:off x="361950" y="6572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mínimas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operar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,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medir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automatizar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sin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amarrar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cliente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herramienta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única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" name="layer">
            <a:extLst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noGrp="1"/>
          </p:cNvSpPr>
          <p:nvPr/>
        </p:nvSpPr>
        <p:spPr>
          <a:xfrm>
            <a:off x="1224643" y="92528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noGrp="1"/>
          </p:cNvSpPr>
          <p:nvPr/>
        </p:nvSpPr>
        <p:spPr>
          <a:xfrm>
            <a:off x="1447800" y="1017815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Canales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noGrp="1"/>
          </p:cNvSpPr>
          <p:nvPr/>
        </p:nvSpPr>
        <p:spPr>
          <a:xfrm>
            <a:off x="3173186" y="1034144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Portal, chat, WhatsApp, correo, teléfono, API/AIOps</a:t>
            </a:r>
          </a:p>
        </p:txBody>
      </p:sp>
      <p:sp>
        <p:nvSpPr>
          <p:cNvPr id="6" name="layer">
            <a:extLst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noGrp="1"/>
          </p:cNvSpPr>
          <p:nvPr/>
        </p:nvSpPr>
        <p:spPr>
          <a:xfrm>
            <a:off x="1224643" y="139609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noGrp="1"/>
          </p:cNvSpPr>
          <p:nvPr/>
        </p:nvSpPr>
        <p:spPr>
          <a:xfrm>
            <a:off x="1447800" y="148318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ITSM / CMDB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noGrp="1"/>
          </p:cNvSpPr>
          <p:nvPr/>
        </p:nvSpPr>
        <p:spPr>
          <a:xfrm>
            <a:off x="3124200" y="1439637"/>
            <a:ext cx="3984171" cy="285749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ServiceNow, 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BMC Helix, Jira</a:t>
            </a: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 SM, ADO, ManageEngine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 o herramienta propia de </a:t>
            </a:r>
            <a:r>
              <a:rPr lang="es-ES" sz="900" err="1">
                <a:solidFill>
                  <a:srgbClr val="172033"/>
                </a:solidFill>
                <a:latin typeface="Reddit Sans"/>
                <a:ea typeface="Reddit Sans"/>
              </a:rPr>
              <a:t>PersonalSo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ft</a:t>
            </a:r>
            <a:endParaRPr sz="90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noGrp="1"/>
          </p:cNvSpPr>
          <p:nvPr/>
        </p:nvSpPr>
        <p:spPr>
          <a:xfrm>
            <a:off x="1224643" y="232954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noGrp="1"/>
          </p:cNvSpPr>
          <p:nvPr/>
        </p:nvSpPr>
        <p:spPr>
          <a:xfrm>
            <a:off x="1447800" y="2422073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Gestión del Conocimiento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noGrp="1"/>
          </p:cNvSpPr>
          <p:nvPr/>
        </p:nvSpPr>
        <p:spPr>
          <a:xfrm>
            <a:off x="3140529" y="2438401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KEDB, KCS, Confluence, SharePoint, artículos generados</a:t>
            </a:r>
          </a:p>
        </p:txBody>
      </p:sp>
      <p:sp>
        <p:nvSpPr>
          <p:cNvPr id="12" name="layer">
            <a:extLst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noGrp="1"/>
          </p:cNvSpPr>
          <p:nvPr/>
        </p:nvSpPr>
        <p:spPr>
          <a:xfrm>
            <a:off x="1224643" y="3241222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noGrp="1"/>
          </p:cNvSpPr>
          <p:nvPr/>
        </p:nvSpPr>
        <p:spPr>
          <a:xfrm>
            <a:off x="1447800" y="333375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IA / AIOps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noGrp="1"/>
          </p:cNvSpPr>
          <p:nvPr/>
        </p:nvSpPr>
        <p:spPr>
          <a:xfrm>
            <a:off x="3140529" y="3377293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Agent assist, NLP, observabilidad, correlación y runbooks</a:t>
            </a:r>
          </a:p>
        </p:txBody>
      </p:sp>
      <p:sp>
        <p:nvSpPr>
          <p:cNvPr id="15" name="layer">
            <a:extLst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noGrp="1"/>
          </p:cNvSpPr>
          <p:nvPr/>
        </p:nvSpPr>
        <p:spPr>
          <a:xfrm>
            <a:off x="1224643" y="3706586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D47A00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Gobierno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noGrp="1"/>
          </p:cNvSpPr>
          <p:nvPr/>
        </p:nvSpPr>
        <p:spPr>
          <a:xfrm>
            <a:off x="3140529" y="3810000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Dashboards, SLA/XLA, CSAT, auditoría IA, cumplimiento</a:t>
            </a:r>
          </a:p>
        </p:txBody>
      </p:sp>
      <p:sp>
        <p:nvSpPr>
          <p:cNvPr id="18" name="layer">
            <a:extLst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noGrp="1"/>
          </p:cNvSpPr>
          <p:nvPr/>
        </p:nvSpPr>
        <p:spPr>
          <a:xfrm>
            <a:off x="1224643" y="416650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noGrp="1"/>
          </p:cNvSpPr>
          <p:nvPr/>
        </p:nvSpPr>
        <p:spPr>
          <a:xfrm>
            <a:off x="1447800" y="4264478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5B667A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Seguridad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noGrp="1"/>
          </p:cNvSpPr>
          <p:nvPr/>
        </p:nvSpPr>
        <p:spPr>
          <a:xfrm>
            <a:off x="3140529" y="4264478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SSO/IAM, VPN, cifrado, backup, ISO 27001 / ISO 42001</a:t>
            </a:r>
          </a:p>
        </p:txBody>
      </p:sp>
      <p:sp>
        <p:nvSpPr>
          <p:cNvPr id="32" name="layer">
            <a:extLst>
              <a:ext uri="{FF2B5EF4-FFF2-40B4-BE49-F238E27FC236}">
                <a16:creationId xmlns:a16="http://schemas.microsoft.com/office/drawing/2014/main" id="{5F424765-A3B7-75EB-CC8E-257F0966A113}"/>
              </a:ext>
            </a:extLst>
          </p:cNvPr>
          <p:cNvSpPr>
            <a:spLocks noGrp="1"/>
          </p:cNvSpPr>
          <p:nvPr/>
        </p:nvSpPr>
        <p:spPr>
          <a:xfrm>
            <a:off x="1224643" y="2781300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80BE3AE4-31DB-C001-E9DB-39E1AC31B079}"/>
              </a:ext>
            </a:extLst>
          </p:cNvPr>
          <p:cNvSpPr>
            <a:spLocks noGrp="1"/>
          </p:cNvSpPr>
          <p:nvPr/>
        </p:nvSpPr>
        <p:spPr>
          <a:xfrm>
            <a:off x="1447800" y="2879272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Plan Carrera</a:t>
            </a:r>
            <a:endParaRPr lang="es-ES">
              <a:solidFill>
                <a:srgbClr val="4285F4"/>
              </a:solidFill>
            </a:endParaRP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2E4D44B1-35E5-C0F3-2257-0E34041856DA}"/>
              </a:ext>
            </a:extLst>
          </p:cNvPr>
          <p:cNvSpPr>
            <a:spLocks noGrp="1"/>
          </p:cNvSpPr>
          <p:nvPr/>
        </p:nvSpPr>
        <p:spPr>
          <a:xfrm>
            <a:off x="3124200" y="2879271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Promoción del equipo de soporte por etapas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2E5C657-E540-6D8F-9642-BBA1B17C7850}"/>
              </a:ext>
            </a:extLst>
          </p:cNvPr>
          <p:cNvSpPr txBox="1"/>
          <p:nvPr/>
        </p:nvSpPr>
        <p:spPr>
          <a:xfrm>
            <a:off x="-1384763" y="2186636"/>
            <a:ext cx="1066802" cy="20313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 err="1"/>
              <a:t>Formacion</a:t>
            </a:r>
            <a:r>
              <a:rPr lang="es-ES" sz="700"/>
              <a:t> y </a:t>
            </a:r>
            <a:r>
              <a:rPr lang="es-ES" sz="700" err="1"/>
              <a:t>capacitacion</a:t>
            </a:r>
            <a:r>
              <a:rPr lang="es-ES" sz="700"/>
              <a:t>. </a:t>
            </a:r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Gestion</a:t>
            </a:r>
            <a:r>
              <a:rPr lang="es-ES" sz="700">
                <a:cs typeface="Arial"/>
              </a:rPr>
              <a:t> del conocimiento.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yendo el # de casos, x pareo. Estandarizar (</a:t>
            </a:r>
            <a:r>
              <a:rPr lang="es-ES" sz="700" err="1">
                <a:cs typeface="Arial"/>
              </a:rPr>
              <a:t>analis</a:t>
            </a:r>
            <a:r>
              <a:rPr lang="es-ES" sz="700">
                <a:cs typeface="Arial"/>
              </a:rPr>
              <a:t> de causa </a:t>
            </a:r>
            <a:r>
              <a:rPr lang="es-ES" sz="700" err="1">
                <a:cs typeface="Arial"/>
              </a:rPr>
              <a:t>raiz</a:t>
            </a:r>
            <a:r>
              <a:rPr lang="es-ES" sz="700">
                <a:cs typeface="Arial"/>
              </a:rPr>
              <a:t>). Para </a:t>
            </a:r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ir el volumen de tickets. 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Gobieron</a:t>
            </a:r>
            <a:r>
              <a:rPr lang="es-ES" sz="700">
                <a:cs typeface="Arial"/>
              </a:rPr>
              <a:t> de la mesa. (1 persona por mesa, no varias (caso de </a:t>
            </a:r>
            <a:r>
              <a:rPr lang="es-ES" sz="700" err="1">
                <a:cs typeface="Arial"/>
              </a:rPr>
              <a:t>virigiania</a:t>
            </a:r>
            <a:r>
              <a:rPr lang="es-ES" sz="700">
                <a:cs typeface="Arial"/>
              </a:rPr>
              <a:t>, que una persona tienen varias mesas de servicio.)</a:t>
            </a:r>
          </a:p>
        </p:txBody>
      </p:sp>
      <p:sp>
        <p:nvSpPr>
          <p:cNvPr id="37" name="layer">
            <a:extLst>
              <a:ext uri="{FF2B5EF4-FFF2-40B4-BE49-F238E27FC236}">
                <a16:creationId xmlns:a16="http://schemas.microsoft.com/office/drawing/2014/main" id="{8B902749-85FD-7ABB-B6E0-4E7E0E00F557}"/>
              </a:ext>
            </a:extLst>
          </p:cNvPr>
          <p:cNvSpPr>
            <a:spLocks noGrp="1"/>
          </p:cNvSpPr>
          <p:nvPr/>
        </p:nvSpPr>
        <p:spPr>
          <a:xfrm>
            <a:off x="1224643" y="1869623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0269905F-E1D3-7332-0256-19DCFB31895E}"/>
              </a:ext>
            </a:extLst>
          </p:cNvPr>
          <p:cNvSpPr>
            <a:spLocks noGrp="1"/>
          </p:cNvSpPr>
          <p:nvPr/>
        </p:nvSpPr>
        <p:spPr>
          <a:xfrm>
            <a:off x="1447800" y="1973037"/>
            <a:ext cx="2370365" cy="204107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087B83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Framework de Automatizaciones</a:t>
            </a:r>
            <a:endParaRPr lang="es-ES" err="1">
              <a:solidFill>
                <a:srgbClr val="4285F4"/>
              </a:solidFill>
            </a:endParaRP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18378113-F2A3-8E42-2E64-80BA4CB7738D}"/>
              </a:ext>
            </a:extLst>
          </p:cNvPr>
          <p:cNvSpPr>
            <a:spLocks noGrp="1"/>
          </p:cNvSpPr>
          <p:nvPr/>
        </p:nvSpPr>
        <p:spPr>
          <a:xfrm>
            <a:off x="3467100" y="1973037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Para las mesas de soporte Nivel 2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Mesa de Servicio de Nueva Generación</a:t>
            </a:r>
            <a:br>
              <a:rPr lang="es-CO"/>
            </a:br>
            <a:r>
              <a:rPr lang="es-ES" b="0"/>
              <a:t>Modelos de Precio: De FTE a </a:t>
            </a:r>
            <a:r>
              <a:rPr lang="es-ES" b="0" err="1"/>
              <a:t>Outcomes</a:t>
            </a:r>
            <a:r>
              <a:rPr lang="es-ES" b="0"/>
              <a:t> </a:t>
            </a:r>
            <a:endParaRPr lang="es-CO" b="0">
              <a:solidFill>
                <a:srgbClr val="000000"/>
              </a:solidFill>
            </a:endParaRPr>
          </a:p>
          <a:p>
            <a:pPr defTabSz="685800" fontAlgn="ctr">
              <a:lnSpc>
                <a:spcPts val="1406"/>
              </a:lnSpc>
              <a:buClr>
                <a:srgbClr val="000000"/>
              </a:buClr>
              <a:buFont typeface="Arial"/>
              <a:defRPr sz="1050" b="0">
                <a:solidFill>
                  <a:srgbClr val="9AAEE0"/>
                </a:solidFill>
              </a:defRPr>
            </a:pPr>
            <a:endParaRPr lang="es-CO" sz="1100" b="0" spc="-25">
              <a:solidFill>
                <a:srgbClr val="000000">
                  <a:alpha val="55000"/>
                </a:srgbClr>
              </a:solidFill>
              <a:cs typeface="+mn-cs"/>
              <a:sym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41811" y="7010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Diagrama</a:t>
            </a:r>
            <a:r>
              <a:rPr lang="en-US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alto </a:t>
            </a:r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nivel</a:t>
            </a:r>
          </a:p>
        </p:txBody>
      </p:sp>
      <p:sp>
        <p:nvSpPr>
          <p:cNvPr id="7" name="mhdr">
            <a:extLst>
              <a:ext uri="{FF2B5EF4-FFF2-40B4-BE49-F238E27FC236}">
                <a16:creationId xmlns:a16="http://schemas.microsoft.com/office/drawing/2014/main" id="{11FFC374-B16F-59FB-6D34-D1C4371D0054}"/>
              </a:ext>
            </a:extLst>
          </p:cNvPr>
          <p:cNvSpPr>
            <a:spLocks noGrp="1"/>
          </p:cNvSpPr>
          <p:nvPr/>
        </p:nvSpPr>
        <p:spPr>
          <a:xfrm>
            <a:off x="390797" y="10820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hdrtxt">
            <a:extLst>
              <a:ext uri="{FF2B5EF4-FFF2-40B4-BE49-F238E27FC236}">
                <a16:creationId xmlns:a16="http://schemas.microsoft.com/office/drawing/2014/main" id="{E8B306E9-A6BA-2DB8-93C3-5AEF32FBBDF6}"/>
              </a:ext>
            </a:extLst>
          </p:cNvPr>
          <p:cNvSpPr txBox="1">
            <a:spLocks noGrp="1"/>
          </p:cNvSpPr>
          <p:nvPr/>
        </p:nvSpPr>
        <p:spPr>
          <a:xfrm>
            <a:off x="483326" y="1076597"/>
            <a:ext cx="7646124" cy="2995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SERVICIO BASE — MESA NEXT GEN (N0 → N3)</a:t>
            </a:r>
          </a:p>
        </p:txBody>
      </p:sp>
      <p:sp>
        <p:nvSpPr>
          <p:cNvPr id="11" name="sbg">
            <a:extLst>
              <a:ext uri="{FF2B5EF4-FFF2-40B4-BE49-F238E27FC236}">
                <a16:creationId xmlns:a16="http://schemas.microsoft.com/office/drawing/2014/main" id="{C44DD99C-240B-1B08-F9CE-4E32BEBE6592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" name="shdr">
            <a:extLst>
              <a:ext uri="{FF2B5EF4-FFF2-40B4-BE49-F238E27FC236}">
                <a16:creationId xmlns:a16="http://schemas.microsoft.com/office/drawing/2014/main" id="{AE5B32E0-E760-2378-4666-12655DE5EE3F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shdr2">
            <a:extLst>
              <a:ext uri="{FF2B5EF4-FFF2-40B4-BE49-F238E27FC236}">
                <a16:creationId xmlns:a16="http://schemas.microsoft.com/office/drawing/2014/main" id="{2CECBD38-CACE-5FCE-38F2-7C53AF17EBFB}"/>
              </a:ext>
            </a:extLst>
          </p:cNvPr>
          <p:cNvSpPr>
            <a:spLocks noGrp="1"/>
          </p:cNvSpPr>
          <p:nvPr/>
        </p:nvSpPr>
        <p:spPr>
          <a:xfrm>
            <a:off x="390797" y="16032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" name="stit">
            <a:extLst>
              <a:ext uri="{FF2B5EF4-FFF2-40B4-BE49-F238E27FC236}">
                <a16:creationId xmlns:a16="http://schemas.microsoft.com/office/drawing/2014/main" id="{49D105DC-5C38-76CC-4C0F-0D5858B68B0D}"/>
              </a:ext>
            </a:extLst>
          </p:cNvPr>
          <p:cNvSpPr txBox="1">
            <a:spLocks noGrp="1"/>
          </p:cNvSpPr>
          <p:nvPr/>
        </p:nvSpPr>
        <p:spPr>
          <a:xfrm>
            <a:off x="390797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Equipo
Dedicado</a:t>
            </a:r>
          </a:p>
        </p:txBody>
      </p:sp>
      <p:sp>
        <p:nvSpPr>
          <p:cNvPr id="19" name="sdesc">
            <a:extLst>
              <a:ext uri="{FF2B5EF4-FFF2-40B4-BE49-F238E27FC236}">
                <a16:creationId xmlns:a16="http://schemas.microsoft.com/office/drawing/2014/main" id="{28BDE801-04BB-5BFF-836A-6523F051F930}"/>
              </a:ext>
            </a:extLst>
          </p:cNvPr>
          <p:cNvSpPr txBox="1">
            <a:spLocks noGrp="1"/>
          </p:cNvSpPr>
          <p:nvPr/>
        </p:nvSpPr>
        <p:spPr>
          <a:xfrm>
            <a:off x="482237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0D1B5E"/>
                </a:solidFill>
                <a:latin typeface="Reddit Sans"/>
                <a:ea typeface="Reddit Sans"/>
              </a:rPr>
              <a:t>FTE asignado · Alta personalización · SLA exclusivo</a:t>
            </a:r>
          </a:p>
        </p:txBody>
      </p:sp>
      <p:sp>
        <p:nvSpPr>
          <p:cNvPr id="21" name="sbg">
            <a:extLst>
              <a:ext uri="{FF2B5EF4-FFF2-40B4-BE49-F238E27FC236}">
                <a16:creationId xmlns:a16="http://schemas.microsoft.com/office/drawing/2014/main" id="{9CA6DAA6-8B0C-C124-D8EA-7328366DCE04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3" name="shdr">
            <a:extLst>
              <a:ext uri="{FF2B5EF4-FFF2-40B4-BE49-F238E27FC236}">
                <a16:creationId xmlns:a16="http://schemas.microsoft.com/office/drawing/2014/main" id="{54F719CD-A4DF-D419-B236-37B6CE8914EC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shdr2">
            <a:extLst>
              <a:ext uri="{FF2B5EF4-FFF2-40B4-BE49-F238E27FC236}">
                <a16:creationId xmlns:a16="http://schemas.microsoft.com/office/drawing/2014/main" id="{BC159D2D-CFA0-E144-AAF8-0161088D0F34}"/>
              </a:ext>
            </a:extLst>
          </p:cNvPr>
          <p:cNvSpPr>
            <a:spLocks noGrp="1"/>
          </p:cNvSpPr>
          <p:nvPr/>
        </p:nvSpPr>
        <p:spPr>
          <a:xfrm>
            <a:off x="2329325" y="16032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7" name="stit">
            <a:extLst>
              <a:ext uri="{FF2B5EF4-FFF2-40B4-BE49-F238E27FC236}">
                <a16:creationId xmlns:a16="http://schemas.microsoft.com/office/drawing/2014/main" id="{E59CA6A9-BE15-A199-802E-0AF021417E97}"/>
              </a:ext>
            </a:extLst>
          </p:cNvPr>
          <p:cNvSpPr txBox="1">
            <a:spLocks noGrp="1"/>
          </p:cNvSpPr>
          <p:nvPr/>
        </p:nvSpPr>
        <p:spPr>
          <a:xfrm>
            <a:off x="2329325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Soporte
Compartido</a:t>
            </a:r>
          </a:p>
        </p:txBody>
      </p:sp>
      <p:sp>
        <p:nvSpPr>
          <p:cNvPr id="29" name="sdesc">
            <a:extLst>
              <a:ext uri="{FF2B5EF4-FFF2-40B4-BE49-F238E27FC236}">
                <a16:creationId xmlns:a16="http://schemas.microsoft.com/office/drawing/2014/main" id="{1491757A-584A-A238-1186-CDF1B734CE39}"/>
              </a:ext>
            </a:extLst>
          </p:cNvPr>
          <p:cNvSpPr txBox="1">
            <a:spLocks noGrp="1"/>
          </p:cNvSpPr>
          <p:nvPr/>
        </p:nvSpPr>
        <p:spPr>
          <a:xfrm>
            <a:off x="2420765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Pool de talento · Eficiencia de costo · SLA compartido</a:t>
            </a:r>
          </a:p>
        </p:txBody>
      </p:sp>
      <p:sp>
        <p:nvSpPr>
          <p:cNvPr id="31" name="sbg">
            <a:extLst>
              <a:ext uri="{FF2B5EF4-FFF2-40B4-BE49-F238E27FC236}">
                <a16:creationId xmlns:a16="http://schemas.microsoft.com/office/drawing/2014/main" id="{C4BA225E-1A22-C02C-DE7D-3421B34E5A15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shdr">
            <a:extLst>
              <a:ext uri="{FF2B5EF4-FFF2-40B4-BE49-F238E27FC236}">
                <a16:creationId xmlns:a16="http://schemas.microsoft.com/office/drawing/2014/main" id="{07BDBE75-C4AC-E170-302A-554E6CB70632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shdr2">
            <a:extLst>
              <a:ext uri="{FF2B5EF4-FFF2-40B4-BE49-F238E27FC236}">
                <a16:creationId xmlns:a16="http://schemas.microsoft.com/office/drawing/2014/main" id="{4878AC91-4738-A86E-2078-62334CA94310}"/>
              </a:ext>
            </a:extLst>
          </p:cNvPr>
          <p:cNvSpPr>
            <a:spLocks noGrp="1"/>
          </p:cNvSpPr>
          <p:nvPr/>
        </p:nvSpPr>
        <p:spPr>
          <a:xfrm>
            <a:off x="4267853" y="16032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" name="stit">
            <a:extLst>
              <a:ext uri="{FF2B5EF4-FFF2-40B4-BE49-F238E27FC236}">
                <a16:creationId xmlns:a16="http://schemas.microsoft.com/office/drawing/2014/main" id="{DAA1AAFA-7AF2-47E9-8E25-D725E4738EB9}"/>
              </a:ext>
            </a:extLst>
          </p:cNvPr>
          <p:cNvSpPr txBox="1">
            <a:spLocks noGrp="1"/>
          </p:cNvSpPr>
          <p:nvPr/>
        </p:nvSpPr>
        <p:spPr>
          <a:xfrm>
            <a:off x="4267853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Express
Alfa</a:t>
            </a:r>
          </a:p>
        </p:txBody>
      </p:sp>
      <p:sp>
        <p:nvSpPr>
          <p:cNvPr id="39" name="sdesc">
            <a:extLst>
              <a:ext uri="{FF2B5EF4-FFF2-40B4-BE49-F238E27FC236}">
                <a16:creationId xmlns:a16="http://schemas.microsoft.com/office/drawing/2014/main" id="{652DDA70-568E-CC80-87A1-30765CB9F851}"/>
              </a:ext>
            </a:extLst>
          </p:cNvPr>
          <p:cNvSpPr txBox="1">
            <a:spLocks noGrp="1"/>
          </p:cNvSpPr>
          <p:nvPr/>
        </p:nvSpPr>
        <p:spPr>
          <a:xfrm>
            <a:off x="4359293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B7B85"/>
                </a:solidFill>
                <a:latin typeface="Reddit Sans"/>
                <a:ea typeface="Reddit Sans"/>
              </a:rPr>
              <a:t>Requerimientos simples · Pay-per-use · Onboarding rápido</a:t>
            </a:r>
          </a:p>
        </p:txBody>
      </p:sp>
      <p:sp>
        <p:nvSpPr>
          <p:cNvPr id="41" name="sbg">
            <a:extLst>
              <a:ext uri="{FF2B5EF4-FFF2-40B4-BE49-F238E27FC236}">
                <a16:creationId xmlns:a16="http://schemas.microsoft.com/office/drawing/2014/main" id="{BE437EB3-9E25-2FF6-9180-360B01D01B67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3" name="shdr">
            <a:extLst>
              <a:ext uri="{FF2B5EF4-FFF2-40B4-BE49-F238E27FC236}">
                <a16:creationId xmlns:a16="http://schemas.microsoft.com/office/drawing/2014/main" id="{962B9A80-BE13-9A56-6893-9E8A3D0A2148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5" name="shdr2">
            <a:extLst>
              <a:ext uri="{FF2B5EF4-FFF2-40B4-BE49-F238E27FC236}">
                <a16:creationId xmlns:a16="http://schemas.microsoft.com/office/drawing/2014/main" id="{B895B166-10F9-1DE0-4412-D55A95B644AA}"/>
              </a:ext>
            </a:extLst>
          </p:cNvPr>
          <p:cNvSpPr>
            <a:spLocks noGrp="1"/>
          </p:cNvSpPr>
          <p:nvPr/>
        </p:nvSpPr>
        <p:spPr>
          <a:xfrm>
            <a:off x="6206381" y="16032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7" name="stit">
            <a:extLst>
              <a:ext uri="{FF2B5EF4-FFF2-40B4-BE49-F238E27FC236}">
                <a16:creationId xmlns:a16="http://schemas.microsoft.com/office/drawing/2014/main" id="{87F21207-F57A-5468-82A3-9C6BCFC74050}"/>
              </a:ext>
            </a:extLst>
          </p:cNvPr>
          <p:cNvSpPr txBox="1">
            <a:spLocks noGrp="1"/>
          </p:cNvSpPr>
          <p:nvPr/>
        </p:nvSpPr>
        <p:spPr>
          <a:xfrm>
            <a:off x="6206381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62500" lnSpcReduction="20000"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Full
Next Gen</a:t>
            </a:r>
          </a:p>
        </p:txBody>
      </p:sp>
      <p:sp>
        <p:nvSpPr>
          <p:cNvPr id="49" name="sdesc">
            <a:extLst>
              <a:ext uri="{FF2B5EF4-FFF2-40B4-BE49-F238E27FC236}">
                <a16:creationId xmlns:a16="http://schemas.microsoft.com/office/drawing/2014/main" id="{EB3D0BBD-4C9C-3634-B269-2CB6FD54AA5B}"/>
              </a:ext>
            </a:extLst>
          </p:cNvPr>
          <p:cNvSpPr txBox="1">
            <a:spLocks noGrp="1"/>
          </p:cNvSpPr>
          <p:nvPr/>
        </p:nvSpPr>
        <p:spPr>
          <a:xfrm>
            <a:off x="6297821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1F6FBA"/>
                </a:solidFill>
                <a:latin typeface="Reddit Sans"/>
                <a:ea typeface="Reddit Sans"/>
              </a:rPr>
              <a:t>N0+N1+N2+N3+IA · AIOps · KCS · Outcome-based · Premium</a:t>
            </a:r>
          </a:p>
        </p:txBody>
      </p:sp>
      <p:sp>
        <p:nvSpPr>
          <p:cNvPr id="51" name="chdr">
            <a:extLst>
              <a:ext uri="{FF2B5EF4-FFF2-40B4-BE49-F238E27FC236}">
                <a16:creationId xmlns:a16="http://schemas.microsoft.com/office/drawing/2014/main" id="{5091B0D8-ED97-13D1-E770-C5FA2A1C2B55}"/>
              </a:ext>
            </a:extLst>
          </p:cNvPr>
          <p:cNvSpPr>
            <a:spLocks noGrp="1"/>
          </p:cNvSpPr>
          <p:nvPr/>
        </p:nvSpPr>
        <p:spPr>
          <a:xfrm>
            <a:off x="390797" y="23347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3" name="chtxt">
            <a:extLst>
              <a:ext uri="{FF2B5EF4-FFF2-40B4-BE49-F238E27FC236}">
                <a16:creationId xmlns:a16="http://schemas.microsoft.com/office/drawing/2014/main" id="{07489D35-C59A-C742-13E9-25ABA3A50B3C}"/>
              </a:ext>
            </a:extLst>
          </p:cNvPr>
          <p:cNvSpPr txBox="1">
            <a:spLocks noGrp="1"/>
          </p:cNvSpPr>
          <p:nvPr/>
        </p:nvSpPr>
        <p:spPr>
          <a:xfrm>
            <a:off x="543197" y="23347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PORTAFOLIO COMPLEMENTARIO — Servicios adicionales que aceleran la madurez</a:t>
            </a:r>
          </a:p>
        </p:txBody>
      </p:sp>
      <p:sp>
        <p:nvSpPr>
          <p:cNvPr id="55" name="cbg">
            <a:extLst>
              <a:ext uri="{FF2B5EF4-FFF2-40B4-BE49-F238E27FC236}">
                <a16:creationId xmlns:a16="http://schemas.microsoft.com/office/drawing/2014/main" id="{0E9CCE97-C1CA-E0FD-AF5B-22D246342B1A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7" name="cbar">
            <a:extLst>
              <a:ext uri="{FF2B5EF4-FFF2-40B4-BE49-F238E27FC236}">
                <a16:creationId xmlns:a16="http://schemas.microsoft.com/office/drawing/2014/main" id="{ED7B8A9A-718F-FF96-90EC-23333ED3D8C9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9" name="ctxt">
            <a:extLst>
              <a:ext uri="{FF2B5EF4-FFF2-40B4-BE49-F238E27FC236}">
                <a16:creationId xmlns:a16="http://schemas.microsoft.com/office/drawing/2014/main" id="{F0FD1526-604A-0D10-B5BD-37983CE757E7}"/>
              </a:ext>
            </a:extLst>
          </p:cNvPr>
          <p:cNvSpPr txBox="1">
            <a:spLocks noGrp="1"/>
          </p:cNvSpPr>
          <p:nvPr/>
        </p:nvSpPr>
        <p:spPr>
          <a:xfrm>
            <a:off x="53710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2A6B3C"/>
                </a:solidFill>
                <a:latin typeface="Reddit Sans"/>
                <a:ea typeface="Reddit Sans"/>
              </a:rPr>
              <a:t>Modernización de Aplicaciones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Migración · Refactor · Cloud Native</a:t>
            </a:r>
          </a:p>
        </p:txBody>
      </p:sp>
      <p:sp>
        <p:nvSpPr>
          <p:cNvPr id="61" name="cbg">
            <a:extLst>
              <a:ext uri="{FF2B5EF4-FFF2-40B4-BE49-F238E27FC236}">
                <a16:creationId xmlns:a16="http://schemas.microsoft.com/office/drawing/2014/main" id="{EE8298DB-83E8-A248-54E5-EE36C38A273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3" name="cbar">
            <a:extLst>
              <a:ext uri="{FF2B5EF4-FFF2-40B4-BE49-F238E27FC236}">
                <a16:creationId xmlns:a16="http://schemas.microsoft.com/office/drawing/2014/main" id="{187AA5B3-2EC3-D3E9-0138-4C6EC3F106D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5" name="ctxt">
            <a:extLst>
              <a:ext uri="{FF2B5EF4-FFF2-40B4-BE49-F238E27FC236}">
                <a16:creationId xmlns:a16="http://schemas.microsoft.com/office/drawing/2014/main" id="{99680DFF-1577-1923-FF6C-040DCAFAC68E}"/>
              </a:ext>
            </a:extLst>
          </p:cNvPr>
          <p:cNvSpPr txBox="1">
            <a:spLocks noGrp="1"/>
          </p:cNvSpPr>
          <p:nvPr/>
        </p:nvSpPr>
        <p:spPr>
          <a:xfrm>
            <a:off x="309742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B7B85"/>
                </a:solidFill>
                <a:latin typeface="Reddit Sans"/>
                <a:ea typeface="Reddit Sans"/>
              </a:rPr>
              <a:t>Observabilidad / AIOps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Dynatrace · Datadog · Nexthink</a:t>
            </a:r>
          </a:p>
        </p:txBody>
      </p:sp>
      <p:sp>
        <p:nvSpPr>
          <p:cNvPr id="67" name="cbg">
            <a:extLst>
              <a:ext uri="{FF2B5EF4-FFF2-40B4-BE49-F238E27FC236}">
                <a16:creationId xmlns:a16="http://schemas.microsoft.com/office/drawing/2014/main" id="{FEC17A7C-D0B7-C028-630D-2C21113A0870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9" name="cbar">
            <a:extLst>
              <a:ext uri="{FF2B5EF4-FFF2-40B4-BE49-F238E27FC236}">
                <a16:creationId xmlns:a16="http://schemas.microsoft.com/office/drawing/2014/main" id="{8E1BE8F2-C05A-0F6C-F97F-028D61638718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1" name="ctxt">
            <a:extLst>
              <a:ext uri="{FF2B5EF4-FFF2-40B4-BE49-F238E27FC236}">
                <a16:creationId xmlns:a16="http://schemas.microsoft.com/office/drawing/2014/main" id="{67778E89-95AC-6B13-A94F-4FFE117862C0}"/>
              </a:ext>
            </a:extLst>
          </p:cNvPr>
          <p:cNvSpPr txBox="1">
            <a:spLocks noGrp="1"/>
          </p:cNvSpPr>
          <p:nvPr/>
        </p:nvSpPr>
        <p:spPr>
          <a:xfrm>
            <a:off x="565774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C00000"/>
                </a:solidFill>
                <a:latin typeface="Reddit Sans"/>
                <a:ea typeface="Reddit Sans"/>
              </a:rPr>
              <a:t>Seguridad Aplicativa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SAST · DAST · ISO 27001</a:t>
            </a:r>
          </a:p>
        </p:txBody>
      </p:sp>
      <p:sp>
        <p:nvSpPr>
          <p:cNvPr id="73" name="cbg">
            <a:extLst>
              <a:ext uri="{FF2B5EF4-FFF2-40B4-BE49-F238E27FC236}">
                <a16:creationId xmlns:a16="http://schemas.microsoft.com/office/drawing/2014/main" id="{C51E67D2-47E7-16DE-DA55-96EAB9504536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5" name="cbar">
            <a:extLst>
              <a:ext uri="{FF2B5EF4-FFF2-40B4-BE49-F238E27FC236}">
                <a16:creationId xmlns:a16="http://schemas.microsoft.com/office/drawing/2014/main" id="{4588DD0A-A0AF-3B6D-157C-82FFC4ABFAD4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7" name="ctxt">
            <a:extLst>
              <a:ext uri="{FF2B5EF4-FFF2-40B4-BE49-F238E27FC236}">
                <a16:creationId xmlns:a16="http://schemas.microsoft.com/office/drawing/2014/main" id="{2E58338A-CEC1-CCD6-65E0-2F74435D0AA7}"/>
              </a:ext>
            </a:extLst>
          </p:cNvPr>
          <p:cNvSpPr txBox="1">
            <a:spLocks noGrp="1"/>
          </p:cNvSpPr>
          <p:nvPr/>
        </p:nvSpPr>
        <p:spPr>
          <a:xfrm>
            <a:off x="53710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F6FBA"/>
                </a:solidFill>
                <a:latin typeface="Reddit Sans"/>
                <a:ea typeface="Reddit Sans"/>
              </a:rPr>
              <a:t>Automatización y DevOps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CI/CD · IaC · Runbooks auto</a:t>
            </a:r>
          </a:p>
        </p:txBody>
      </p:sp>
      <p:sp>
        <p:nvSpPr>
          <p:cNvPr id="79" name="cbg">
            <a:extLst>
              <a:ext uri="{FF2B5EF4-FFF2-40B4-BE49-F238E27FC236}">
                <a16:creationId xmlns:a16="http://schemas.microsoft.com/office/drawing/2014/main" id="{9A1E43E9-7584-405F-03C9-BA4ADCFF4815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1" name="cbar">
            <a:extLst>
              <a:ext uri="{FF2B5EF4-FFF2-40B4-BE49-F238E27FC236}">
                <a16:creationId xmlns:a16="http://schemas.microsoft.com/office/drawing/2014/main" id="{089AA222-1275-CB54-D96D-350FE11258CE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3" name="ctxt">
            <a:extLst>
              <a:ext uri="{FF2B5EF4-FFF2-40B4-BE49-F238E27FC236}">
                <a16:creationId xmlns:a16="http://schemas.microsoft.com/office/drawing/2014/main" id="{BA2DB184-CFE5-BAA5-60D5-59747B6E3FE4}"/>
              </a:ext>
            </a:extLst>
          </p:cNvPr>
          <p:cNvSpPr txBox="1">
            <a:spLocks noGrp="1"/>
          </p:cNvSpPr>
          <p:nvPr/>
        </p:nvSpPr>
        <p:spPr>
          <a:xfrm>
            <a:off x="309742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6B7280"/>
                </a:solidFill>
                <a:latin typeface="Reddit Sans"/>
                <a:ea typeface="Reddit Sans"/>
              </a:rPr>
              <a:t>Performance Engineering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Pruebas de carga · Tuning</a:t>
            </a:r>
          </a:p>
        </p:txBody>
      </p:sp>
      <p:sp>
        <p:nvSpPr>
          <p:cNvPr id="85" name="cbg">
            <a:extLst>
              <a:ext uri="{FF2B5EF4-FFF2-40B4-BE49-F238E27FC236}">
                <a16:creationId xmlns:a16="http://schemas.microsoft.com/office/drawing/2014/main" id="{780333AF-C260-0118-972B-193A5983CE78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7" name="cbar">
            <a:extLst>
              <a:ext uri="{FF2B5EF4-FFF2-40B4-BE49-F238E27FC236}">
                <a16:creationId xmlns:a16="http://schemas.microsoft.com/office/drawing/2014/main" id="{660B996E-663C-E661-FCDC-7F9409B2D935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9" name="ctxt">
            <a:extLst>
              <a:ext uri="{FF2B5EF4-FFF2-40B4-BE49-F238E27FC236}">
                <a16:creationId xmlns:a16="http://schemas.microsoft.com/office/drawing/2014/main" id="{C1106803-684A-5ACB-5134-7C919CD006F2}"/>
              </a:ext>
            </a:extLst>
          </p:cNvPr>
          <p:cNvSpPr txBox="1">
            <a:spLocks noGrp="1"/>
          </p:cNvSpPr>
          <p:nvPr/>
        </p:nvSpPr>
        <p:spPr>
          <a:xfrm>
            <a:off x="565774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0D1B5E"/>
                </a:solidFill>
                <a:latin typeface="Reddit Sans"/>
                <a:ea typeface="Reddit Sans"/>
              </a:rPr>
              <a:t>Gobierno de Datos e IA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ISO 42001 · MLOps · Compliance</a:t>
            </a:r>
          </a:p>
        </p:txBody>
      </p:sp>
      <p:sp>
        <p:nvSpPr>
          <p:cNvPr id="91" name="phdr">
            <a:extLst>
              <a:ext uri="{FF2B5EF4-FFF2-40B4-BE49-F238E27FC236}">
                <a16:creationId xmlns:a16="http://schemas.microsoft.com/office/drawing/2014/main" id="{764760E5-CE0E-2CE1-674E-C73A5EEADC0C}"/>
              </a:ext>
            </a:extLst>
          </p:cNvPr>
          <p:cNvSpPr>
            <a:spLocks noGrp="1"/>
          </p:cNvSpPr>
          <p:nvPr/>
        </p:nvSpPr>
        <p:spPr>
          <a:xfrm>
            <a:off x="390797" y="36515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3" name="phdrtxt">
            <a:extLst>
              <a:ext uri="{FF2B5EF4-FFF2-40B4-BE49-F238E27FC236}">
                <a16:creationId xmlns:a16="http://schemas.microsoft.com/office/drawing/2014/main" id="{27599C63-912F-E15A-758A-F51625AC30B4}"/>
              </a:ext>
            </a:extLst>
          </p:cNvPr>
          <p:cNvSpPr txBox="1">
            <a:spLocks noGrp="1"/>
          </p:cNvSpPr>
          <p:nvPr/>
        </p:nvSpPr>
        <p:spPr>
          <a:xfrm>
            <a:off x="537754" y="36515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EVOLUCIÓN DEL MODELO DE PRECIO — De esfuerzo a resultados medibles</a:t>
            </a:r>
          </a:p>
        </p:txBody>
      </p:sp>
      <p:sp>
        <p:nvSpPr>
          <p:cNvPr id="95" name="pbg">
            <a:extLst>
              <a:ext uri="{FF2B5EF4-FFF2-40B4-BE49-F238E27FC236}">
                <a16:creationId xmlns:a16="http://schemas.microsoft.com/office/drawing/2014/main" id="{B0C9F68A-A12F-BA1B-19E8-26B09B03920A}"/>
              </a:ext>
            </a:extLst>
          </p:cNvPr>
          <p:cNvSpPr>
            <a:spLocks noGrp="1"/>
          </p:cNvSpPr>
          <p:nvPr/>
        </p:nvSpPr>
        <p:spPr>
          <a:xfrm>
            <a:off x="390797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97" name="ptit">
            <a:extLst>
              <a:ext uri="{FF2B5EF4-FFF2-40B4-BE49-F238E27FC236}">
                <a16:creationId xmlns:a16="http://schemas.microsoft.com/office/drawing/2014/main" id="{81E9F2E0-4E98-8BED-0CA2-2397254D88C3}"/>
              </a:ext>
            </a:extLst>
          </p:cNvPr>
          <p:cNvSpPr txBox="1">
            <a:spLocks noGrp="1"/>
          </p:cNvSpPr>
          <p:nvPr/>
        </p:nvSpPr>
        <p:spPr>
          <a:xfrm>
            <a:off x="482237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6B7280"/>
                </a:solidFill>
                <a:latin typeface="Reddit Sans"/>
                <a:ea typeface="Reddit Sans"/>
              </a:rPr>
              <a:t>Por FTE</a:t>
            </a:r>
          </a:p>
        </p:txBody>
      </p:sp>
      <p:sp>
        <p:nvSpPr>
          <p:cNvPr id="99" name="pdesc">
            <a:extLst>
              <a:ext uri="{FF2B5EF4-FFF2-40B4-BE49-F238E27FC236}">
                <a16:creationId xmlns:a16="http://schemas.microsoft.com/office/drawing/2014/main" id="{8E485CBA-2577-8E5D-4733-7FB9993CF0B0}"/>
              </a:ext>
            </a:extLst>
          </p:cNvPr>
          <p:cNvSpPr txBox="1">
            <a:spLocks noGrp="1"/>
          </p:cNvSpPr>
          <p:nvPr/>
        </p:nvSpPr>
        <p:spPr>
          <a:xfrm>
            <a:off x="482237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Precio fijo por persona
Riesgo PS alto · Predecible</a:t>
            </a:r>
          </a:p>
        </p:txBody>
      </p:sp>
      <p:sp>
        <p:nvSpPr>
          <p:cNvPr id="101" name="arr">
            <a:extLst>
              <a:ext uri="{FF2B5EF4-FFF2-40B4-BE49-F238E27FC236}">
                <a16:creationId xmlns:a16="http://schemas.microsoft.com/office/drawing/2014/main" id="{907466AB-23EB-CFB0-7023-D1A3492A4162}"/>
              </a:ext>
            </a:extLst>
          </p:cNvPr>
          <p:cNvSpPr txBox="1">
            <a:spLocks noGrp="1"/>
          </p:cNvSpPr>
          <p:nvPr/>
        </p:nvSpPr>
        <p:spPr>
          <a:xfrm>
            <a:off x="2219597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03" name="pbg">
            <a:extLst>
              <a:ext uri="{FF2B5EF4-FFF2-40B4-BE49-F238E27FC236}">
                <a16:creationId xmlns:a16="http://schemas.microsoft.com/office/drawing/2014/main" id="{8D8DC231-13A5-09D4-4815-F97BDF8D3BD4}"/>
              </a:ext>
            </a:extLst>
          </p:cNvPr>
          <p:cNvSpPr>
            <a:spLocks noGrp="1"/>
          </p:cNvSpPr>
          <p:nvPr/>
        </p:nvSpPr>
        <p:spPr>
          <a:xfrm>
            <a:off x="2329325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5" name="ptit">
            <a:extLst>
              <a:ext uri="{FF2B5EF4-FFF2-40B4-BE49-F238E27FC236}">
                <a16:creationId xmlns:a16="http://schemas.microsoft.com/office/drawing/2014/main" id="{2F78AB25-46C7-9F91-DD9F-06AD2E6E0C06}"/>
              </a:ext>
            </a:extLst>
          </p:cNvPr>
          <p:cNvSpPr txBox="1">
            <a:spLocks noGrp="1"/>
          </p:cNvSpPr>
          <p:nvPr/>
        </p:nvSpPr>
        <p:spPr>
          <a:xfrm>
            <a:off x="2420765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B7B85"/>
                </a:solidFill>
                <a:latin typeface="Reddit Sans"/>
                <a:ea typeface="Reddit Sans"/>
              </a:rPr>
              <a:t>Por Ticket</a:t>
            </a:r>
          </a:p>
        </p:txBody>
      </p:sp>
      <p:sp>
        <p:nvSpPr>
          <p:cNvPr id="107" name="pdesc">
            <a:extLst>
              <a:ext uri="{FF2B5EF4-FFF2-40B4-BE49-F238E27FC236}">
                <a16:creationId xmlns:a16="http://schemas.microsoft.com/office/drawing/2014/main" id="{B430BFD1-A4DE-F76C-3E85-EDF2EB780505}"/>
              </a:ext>
            </a:extLst>
          </p:cNvPr>
          <p:cNvSpPr txBox="1">
            <a:spLocks noGrp="1"/>
          </p:cNvSpPr>
          <p:nvPr/>
        </p:nvSpPr>
        <p:spPr>
          <a:xfrm>
            <a:off x="2420765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Pay-per-use · Alineado a volumen
Shift-Left incentivado</a:t>
            </a:r>
          </a:p>
        </p:txBody>
      </p:sp>
      <p:sp>
        <p:nvSpPr>
          <p:cNvPr id="109" name="arr">
            <a:extLst>
              <a:ext uri="{FF2B5EF4-FFF2-40B4-BE49-F238E27FC236}">
                <a16:creationId xmlns:a16="http://schemas.microsoft.com/office/drawing/2014/main" id="{58841477-9DA9-3628-BC1C-940F15E2EAE7}"/>
              </a:ext>
            </a:extLst>
          </p:cNvPr>
          <p:cNvSpPr txBox="1">
            <a:spLocks noGrp="1"/>
          </p:cNvSpPr>
          <p:nvPr/>
        </p:nvSpPr>
        <p:spPr>
          <a:xfrm>
            <a:off x="4158125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1" name="pbg">
            <a:extLst>
              <a:ext uri="{FF2B5EF4-FFF2-40B4-BE49-F238E27FC236}">
                <a16:creationId xmlns:a16="http://schemas.microsoft.com/office/drawing/2014/main" id="{21B47E69-A02F-AD84-5AF5-FEEA7BCF43CC}"/>
              </a:ext>
            </a:extLst>
          </p:cNvPr>
          <p:cNvSpPr>
            <a:spLocks noGrp="1"/>
          </p:cNvSpPr>
          <p:nvPr/>
        </p:nvSpPr>
        <p:spPr>
          <a:xfrm>
            <a:off x="4267853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3" name="ptit">
            <a:extLst>
              <a:ext uri="{FF2B5EF4-FFF2-40B4-BE49-F238E27FC236}">
                <a16:creationId xmlns:a16="http://schemas.microsoft.com/office/drawing/2014/main" id="{0BD0FBE4-856F-DB15-1BD3-C7D2393BC6D5}"/>
              </a:ext>
            </a:extLst>
          </p:cNvPr>
          <p:cNvSpPr txBox="1">
            <a:spLocks noGrp="1"/>
          </p:cNvSpPr>
          <p:nvPr/>
        </p:nvSpPr>
        <p:spPr>
          <a:xfrm>
            <a:off x="4359293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A3A8F"/>
                </a:solidFill>
                <a:latin typeface="Reddit Sans"/>
                <a:ea typeface="Reddit Sans"/>
              </a:rPr>
              <a:t>Outcome-Based</a:t>
            </a:r>
          </a:p>
        </p:txBody>
      </p:sp>
      <p:sp>
        <p:nvSpPr>
          <p:cNvPr id="115" name="pdesc">
            <a:extLst>
              <a:ext uri="{FF2B5EF4-FFF2-40B4-BE49-F238E27FC236}">
                <a16:creationId xmlns:a16="http://schemas.microsoft.com/office/drawing/2014/main" id="{212605A2-662E-07AE-C631-8430F60FBBF5}"/>
              </a:ext>
            </a:extLst>
          </p:cNvPr>
          <p:cNvSpPr txBox="1">
            <a:spLocks noGrp="1"/>
          </p:cNvSpPr>
          <p:nvPr/>
        </p:nvSpPr>
        <p:spPr>
          <a:xfrm>
            <a:off x="4359293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Outcomes × Precio por Outcome
Shared savings 15-25%</a:t>
            </a:r>
          </a:p>
        </p:txBody>
      </p:sp>
      <p:sp>
        <p:nvSpPr>
          <p:cNvPr id="117" name="arr">
            <a:extLst>
              <a:ext uri="{FF2B5EF4-FFF2-40B4-BE49-F238E27FC236}">
                <a16:creationId xmlns:a16="http://schemas.microsoft.com/office/drawing/2014/main" id="{261B59FF-83E8-028B-36D9-B9799CAB463C}"/>
              </a:ext>
            </a:extLst>
          </p:cNvPr>
          <p:cNvSpPr txBox="1">
            <a:spLocks noGrp="1"/>
          </p:cNvSpPr>
          <p:nvPr/>
        </p:nvSpPr>
        <p:spPr>
          <a:xfrm>
            <a:off x="6096653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9" name="pbg">
            <a:extLst>
              <a:ext uri="{FF2B5EF4-FFF2-40B4-BE49-F238E27FC236}">
                <a16:creationId xmlns:a16="http://schemas.microsoft.com/office/drawing/2014/main" id="{F066019D-C137-1FA2-CEDC-1E20036F0836}"/>
              </a:ext>
            </a:extLst>
          </p:cNvPr>
          <p:cNvSpPr>
            <a:spLocks noGrp="1"/>
          </p:cNvSpPr>
          <p:nvPr/>
        </p:nvSpPr>
        <p:spPr>
          <a:xfrm>
            <a:off x="6206381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1" name="ptit">
            <a:extLst>
              <a:ext uri="{FF2B5EF4-FFF2-40B4-BE49-F238E27FC236}">
                <a16:creationId xmlns:a16="http://schemas.microsoft.com/office/drawing/2014/main" id="{DF509C14-BA18-91EE-9834-3685C397DBB3}"/>
              </a:ext>
            </a:extLst>
          </p:cNvPr>
          <p:cNvSpPr txBox="1">
            <a:spLocks noGrp="1"/>
          </p:cNvSpPr>
          <p:nvPr/>
        </p:nvSpPr>
        <p:spPr>
          <a:xfrm>
            <a:off x="6297821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1000" b="1">
                <a:solidFill>
                  <a:srgbClr val="0D1B5E"/>
                </a:solidFill>
                <a:latin typeface="Reddit Sans"/>
                <a:ea typeface="Reddit Sans"/>
              </a:rPr>
              <a:t>Full Next Gen</a:t>
            </a:r>
          </a:p>
        </p:txBody>
      </p:sp>
      <p:sp>
        <p:nvSpPr>
          <p:cNvPr id="123" name="pdesc">
            <a:extLst>
              <a:ext uri="{FF2B5EF4-FFF2-40B4-BE49-F238E27FC236}">
                <a16:creationId xmlns:a16="http://schemas.microsoft.com/office/drawing/2014/main" id="{E8BFAAD6-2A5F-9830-EB72-3EE426C2887B}"/>
              </a:ext>
            </a:extLst>
          </p:cNvPr>
          <p:cNvSpPr txBox="1">
            <a:spLocks noGrp="1"/>
          </p:cNvSpPr>
          <p:nvPr/>
        </p:nvSpPr>
        <p:spPr>
          <a:xfrm>
            <a:off x="6297821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 + AIOps + XLA + KCS
Premium · Máximo valor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A6E818-1736-0429-307B-141CA753BD64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12125</Words>
  <Application>Microsoft Office PowerPoint</Application>
  <PresentationFormat>Presentación en pantalla (16:9)</PresentationFormat>
  <Paragraphs>1918</Paragraphs>
  <Slides>55</Slides>
  <Notes>27</Notes>
  <HiddenSlides>7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55</vt:i4>
      </vt:variant>
    </vt:vector>
  </HeadingPairs>
  <TitlesOfParts>
    <vt:vector size="67" baseType="lpstr">
      <vt:lpstr>Calibri</vt:lpstr>
      <vt:lpstr>Aptos</vt:lpstr>
      <vt:lpstr>Reddit Sans Light</vt:lpstr>
      <vt:lpstr>Reddit Sans Medium</vt:lpstr>
      <vt:lpstr>Segoe UI</vt:lpstr>
      <vt:lpstr>Reddit Sans SemiBold</vt:lpstr>
      <vt:lpstr>Reddit Sans Black</vt:lpstr>
      <vt:lpstr>Reddit Sans</vt:lpstr>
      <vt:lpstr>Arial,Sans-Serif</vt:lpstr>
      <vt:lpstr>Arial</vt:lpstr>
      <vt:lpstr>Simple Light</vt:lpstr>
      <vt:lpstr>Simple Light</vt:lpstr>
      <vt:lpstr>Mesa de Servicio de Nueva Generación (Next Gen)</vt:lpstr>
      <vt:lpstr>Que busca la Mesa de Servicio de Nueva Generación</vt:lpstr>
      <vt:lpstr>Beneficios eperados de la Mesa de Servicio de Nueva Generación (Servicio Optimo)</vt:lpstr>
      <vt:lpstr>Presentación de PowerPoint</vt:lpstr>
      <vt:lpstr>Presentación de PowerPoint</vt:lpstr>
      <vt:lpstr>Mesas de Servicio de Nueva Generación</vt:lpstr>
      <vt:lpstr>Evolución de las Mesas de Servicio</vt:lpstr>
      <vt:lpstr>Mesa tradicional vs. Mesa de Servicio de Nueva Generación (Next Gen) </vt:lpstr>
      <vt:lpstr>Presentación de PowerPoint</vt:lpstr>
      <vt:lpstr>Posicionamiento de Plataformas ITSM </vt:lpstr>
      <vt:lpstr>Brechas del mercado y oportunidades</vt:lpstr>
      <vt:lpstr>7 Tendencias que definen el mercado</vt:lpstr>
      <vt:lpstr>Presentación de PowerPoint</vt:lpstr>
      <vt:lpstr>Cómo compiten los líderes globales de Service Desk</vt:lpstr>
      <vt:lpstr>El Costo de No Evolucionar</vt:lpstr>
      <vt:lpstr>Visualización: Benchmarks de industria </vt:lpstr>
      <vt:lpstr>SLA vs. XLA 4 Capas de Reporte </vt:lpstr>
      <vt:lpstr>Agentic AI: Estado Real de Adopción 2025–2026</vt:lpstr>
      <vt:lpstr>Roadmap de madurez y barreras de adopción de la IA</vt:lpstr>
      <vt:lpstr>Presentación de PowerPoint</vt:lpstr>
      <vt:lpstr>Mesas de Servicio de Nueva Generación</vt:lpstr>
      <vt:lpstr>Mesas de Servicio Actuales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 de Dolores Críticos</vt:lpstr>
      <vt:lpstr>Presentación de PowerPoint</vt:lpstr>
      <vt:lpstr>Presentación de PowerPoint</vt:lpstr>
      <vt:lpstr>Presentación de PowerPoint</vt:lpstr>
      <vt:lpstr>Presentación de PowerPoint</vt:lpstr>
      <vt:lpstr>Lo que nos dijeron — Voz directa de los líderes de mesa </vt:lpstr>
      <vt:lpstr>Mesas de Servicio Actuales</vt:lpstr>
      <vt:lpstr>Presentación de PowerPoint</vt:lpstr>
      <vt:lpstr>Mesas de Servicio de Nueva Generación (Next Gen)</vt:lpstr>
      <vt:lpstr>Presentación de PowerPoint</vt:lpstr>
      <vt:lpstr>Pilares de Transformación de la Mesa de Servicio de Nueva Generación </vt:lpstr>
      <vt:lpstr>Que Diferencia a PersonalSoft?</vt:lpstr>
      <vt:lpstr>Modelo de Madurez de la Mesa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Mesa de Servicio de Nueva Generación Modelos de Precio: De FTE a Outcomes  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550</cp:revision>
  <dcterms:modified xsi:type="dcterms:W3CDTF">2026-07-15T14:59:17Z</dcterms:modified>
</cp:coreProperties>
</file>