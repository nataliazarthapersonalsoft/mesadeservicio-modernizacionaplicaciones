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-250ad3de.png"/><Relationship Id="rId2" Type="http://schemas.openxmlformats.org/officeDocument/2006/relationships/image" Target="../media/image-5719bd22.png"/><Relationship Id="rId3" Type="http://schemas.openxmlformats.org/officeDocument/2006/relationships/image" Target="../media/image-0016b4a2.png"/><Relationship Id="rId4" Type="http://schemas.openxmlformats.org/officeDocument/2006/relationships/image" Target="../media/image-01f2aa22.png"/><Relationship Id="rId5" Type="http://schemas.openxmlformats.org/officeDocument/2006/relationships/image" Target="../media/image--327b961e.png"/><Relationship Id="rId6" Type="http://schemas.openxmlformats.org/officeDocument/2006/relationships/image" Target="../media/image-53d78b62.png"/><Relationship Id="rId7" Type="http://schemas.openxmlformats.org/officeDocument/2006/relationships/image" Target="../media/image--41d531de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640aea1.png"/><Relationship Id="rId2" Type="http://schemas.openxmlformats.org/officeDocument/2006/relationships/image" Target="../media/image-46c9d1.png"/><Relationship Id="rId3" Type="http://schemas.openxmlformats.org/officeDocument/2006/relationships/image" Target="../media/image-265124a1.png"/><Relationship Id="rId4" Type="http://schemas.openxmlformats.org/officeDocument/2006/relationships/image" Target="../media/image--17413a5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-15eb81de1.png"/><Relationship Id="rId2" Type="http://schemas.openxmlformats.org/officeDocument/2006/relationships/image" Target="../media/image--576e059e1.png"/><Relationship Id="rId3" Type="http://schemas.openxmlformats.org/officeDocument/2006/relationships/image" Target="../media/image-2d3300a1.png"/><Relationship Id="rId4" Type="http://schemas.openxmlformats.org/officeDocument/2006/relationships/image" Target="../media/image-19a256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image-401e41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image--5d81009e1.png"/><Relationship Id="rId2" Type="http://schemas.openxmlformats.org/officeDocument/2006/relationships/image" Target="../media/image-08c0bfa1.png"/><Relationship Id="rId3" Type="http://schemas.openxmlformats.org/officeDocument/2006/relationships/image" Target="../media/image-719cd9a1.png"/><Relationship Id="rId4" Type="http://schemas.openxmlformats.org/officeDocument/2006/relationships/image" Target="../media/image--5e4a18de1.png"/><Relationship Id="rId5" Type="http://schemas.openxmlformats.org/officeDocument/2006/relationships/image" Target="../media/image-739e1.png"/><Relationship Id="rId6" Type="http://schemas.openxmlformats.org/officeDocument/2006/relationships/image" Target="../media/image-78fd1.png"/><Relationship Id="rId7" Type="http://schemas.openxmlformats.org/officeDocument/2006/relationships/image" Target="../media/image-08f30c1.png"/><Relationship Id="rId8" Type="http://schemas.openxmlformats.org/officeDocument/2006/relationships/image" Target="../media/image-1f92c1.png"/><Relationship Id="rId9" Type="http://schemas.openxmlformats.org/officeDocument/2006/relationships/image" Target="../media/image-1d9e0aa1.png"/><Relationship Id="rId10" Type="http://schemas.openxmlformats.org/officeDocument/2006/relationships/image" Target="../media/image-5b931e1.png"/><Relationship Id="rId11" Type="http://schemas.openxmlformats.org/officeDocument/2006/relationships/image" Target="../media/image-6a1.png"/><Relationship Id="rId12" Type="http://schemas.openxmlformats.org/officeDocument/2006/relationships/image" Target="../media/image--6fd31ade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image--249b0c5e1.png"/><Relationship Id="rId2" Type="http://schemas.openxmlformats.org/officeDocument/2006/relationships/image" Target="../media/image--619938d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image-0016b4a1.png"/><Relationship Id="rId2" Type="http://schemas.openxmlformats.org/officeDocument/2006/relationships/image" Target="../media/image--f96049e1.png"/><Relationship Id="rId3" Type="http://schemas.openxmlformats.org/officeDocument/2006/relationships/image" Target="../media/image--636d539e1.png"/><Relationship Id="rId4" Type="http://schemas.openxmlformats.org/officeDocument/2006/relationships/image" Target="../media/image--327b961e1.png"/><Relationship Id="rId5" Type="http://schemas.openxmlformats.org/officeDocument/2006/relationships/image" Target="../media/image--1f01599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image-1c0abd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../media/image-23a43ce1.png"/><Relationship Id="rId2" Type="http://schemas.openxmlformats.org/officeDocument/2006/relationships/image" Target="../media/image--6ff4ae9e1.png"/><Relationship Id="rId3" Type="http://schemas.openxmlformats.org/officeDocument/2006/relationships/image" Target="../media/image-7f5c7a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../media/image--7d27ffd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../media/image-7ca7fda1.png"/><Relationship Id="rId2" Type="http://schemas.openxmlformats.org/officeDocument/2006/relationships/image" Target="../media/image--628991de1.png"/><Relationship Id="rId3" Type="http://schemas.openxmlformats.org/officeDocument/2006/relationships/image" Target="../media/image-0e2ea6e1.png"/><Relationship Id="rId4" Type="http://schemas.openxmlformats.org/officeDocument/2006/relationships/image" Target="../media/image-5c652da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image-7e14c1.png"/><Relationship Id="rId2" Type="http://schemas.openxmlformats.org/officeDocument/2006/relationships/image" Target="../media/image--3fd2935e1.png"/><Relationship Id="rId3" Type="http://schemas.openxmlformats.org/officeDocument/2006/relationships/image" Target="../media/image-0495c1.png"/><Relationship Id="rId4" Type="http://schemas.openxmlformats.org/officeDocument/2006/relationships/image" Target="../media/image--3d415ede1.png"/><Relationship Id="rId5" Type="http://schemas.openxmlformats.org/officeDocument/2006/relationships/image" Target="../media/image--11ea5e1e1.png"/><Relationship Id="rId6" Type="http://schemas.openxmlformats.org/officeDocument/2006/relationships/image" Target="../media/image-3aad8ee1.png"/><Relationship Id="rId7" Type="http://schemas.openxmlformats.org/officeDocument/2006/relationships/image" Target="../media/image-260f1.png"/><Relationship Id="rId8" Type="http://schemas.openxmlformats.org/officeDocument/2006/relationships/image" Target="../media/image-5719bd1.png"/><Relationship Id="rId9" Type="http://schemas.openxmlformats.org/officeDocument/2006/relationships/image" Target="../media/image--327b961e2.png"/><Relationship Id="rId10" Type="http://schemas.openxmlformats.org/officeDocument/2006/relationships/image" Target="../media/image--3d972f5e1.png"/><Relationship Id="rId11" Type="http://schemas.openxmlformats.org/officeDocument/2006/relationships/image" Target="../media/image--6dc06d9e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../media/image--5107849e1.png"/><Relationship Id="rId2" Type="http://schemas.openxmlformats.org/officeDocument/2006/relationships/image" Target="../media/image--374f2e9e1.png"/><Relationship Id="rId3" Type="http://schemas.openxmlformats.org/officeDocument/2006/relationships/image" Target="../media/image--664449e1.png"/><Relationship Id="rId4" Type="http://schemas.openxmlformats.org/officeDocument/2006/relationships/image" Target="../media/image--3671285e1.png"/><Relationship Id="rId5" Type="http://schemas.openxmlformats.org/officeDocument/2006/relationships/image" Target="../media/image--63bd839e1.png"/><Relationship Id="rId6" Type="http://schemas.openxmlformats.org/officeDocument/2006/relationships/image" Target="../media/image--26c90fde1.png"/><Relationship Id="rId7" Type="http://schemas.openxmlformats.org/officeDocument/2006/relationships/image" Target="../media/image--5a47b8de1.png"/><Relationship Id="rId8" Type="http://schemas.openxmlformats.org/officeDocument/2006/relationships/image" Target="../media/image-0eb1.png"/><Relationship Id="rId9" Type="http://schemas.openxmlformats.org/officeDocument/2006/relationships/image" Target="../media/image-213ef1.png"/><Relationship Id="rId10" Type="http://schemas.openxmlformats.org/officeDocument/2006/relationships/image" Target="../media/image-0-42f65e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../media/image--5f89575e1.png"/><Relationship Id="rId2" Type="http://schemas.openxmlformats.org/officeDocument/2006/relationships/image" Target="../media/image--1c383b1e1.png"/><Relationship Id="rId3" Type="http://schemas.openxmlformats.org/officeDocument/2006/relationships/image" Target="../media/image--e24559e1.png"/><Relationship Id="rId4" Type="http://schemas.openxmlformats.org/officeDocument/2006/relationships/image" Target="../media/image--30aa751e1.png"/><Relationship Id="rId5" Type="http://schemas.openxmlformats.org/officeDocument/2006/relationships/image" Target="../media/image-320b1.png"/><Relationship Id="rId6" Type="http://schemas.openxmlformats.org/officeDocument/2006/relationships/image" Target="../media/image--5e4a18de2.png"/><Relationship Id="rId7" Type="http://schemas.openxmlformats.org/officeDocument/2006/relationships/image" Target="../media/image-6f8889e1.png"/><Relationship Id="rId8" Type="http://schemas.openxmlformats.org/officeDocument/2006/relationships/image" Target="../media/image-56dbff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../media/image--51c0485e1.png"/><Relationship Id="rId2" Type="http://schemas.openxmlformats.org/officeDocument/2006/relationships/image" Target="../media/image-7a1d5e1.png"/><Relationship Id="rId3" Type="http://schemas.openxmlformats.org/officeDocument/2006/relationships/image" Target="../media/image-5fb69d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../media/image--5f89575e2.png"/><Relationship Id="rId2" Type="http://schemas.openxmlformats.org/officeDocument/2006/relationships/image" Target="../media/image--1c383b1e2.png"/><Relationship Id="rId3" Type="http://schemas.openxmlformats.org/officeDocument/2006/relationships/image" Target="../media/image--e24559e2.png"/><Relationship Id="rId4" Type="http://schemas.openxmlformats.org/officeDocument/2006/relationships/image" Target="../media/image--30aa751e2.png"/><Relationship Id="rId5" Type="http://schemas.openxmlformats.org/officeDocument/2006/relationships/image" Target="../media/image-320b2.png"/><Relationship Id="rId6" Type="http://schemas.openxmlformats.org/officeDocument/2006/relationships/image" Target="../media/image-14cceba1.png"/><Relationship Id="rId7" Type="http://schemas.openxmlformats.org/officeDocument/2006/relationships/image" Target="../media/image-6f8889e2.png"/><Relationship Id="rId8" Type="http://schemas.openxmlformats.org/officeDocument/2006/relationships/image" Target="../media/image-1b55d1a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../media/image-31ef1d1.png"/><Relationship Id="rId2" Type="http://schemas.openxmlformats.org/officeDocument/2006/relationships/image" Target="../media/image-1.png"/><Relationship Id="rId3" Type="http://schemas.openxmlformats.org/officeDocument/2006/relationships/image" Target="../media/image-482e1.png"/><Relationship Id="rId4" Type="http://schemas.openxmlformats.org/officeDocument/2006/relationships/image" Target="../media/image-76f60f1.png"/><Relationship Id="rId5" Type="http://schemas.openxmlformats.org/officeDocument/2006/relationships/image" Target="../media/image--30d919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../media/image-472c3e1.png"/><Relationship Id="rId2" Type="http://schemas.openxmlformats.org/officeDocument/2006/relationships/image" Target="../media/image--2ca8955e1.png"/><Relationship Id="rId3" Type="http://schemas.openxmlformats.org/officeDocument/2006/relationships/image" Target="../media/image--6f0fad5e1.png"/><Relationship Id="rId4" Type="http://schemas.openxmlformats.org/officeDocument/2006/relationships/image" Target="../media/image--38c1a09e1.png"/><Relationship Id="rId5" Type="http://schemas.openxmlformats.org/officeDocument/2006/relationships/image" Target="../media/image--734981e1.png"/><Relationship Id="rId6" Type="http://schemas.openxmlformats.org/officeDocument/2006/relationships/image" Target="../media/image-2f0a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../media/image--44284de1.png"/><Relationship Id="rId2" Type="http://schemas.openxmlformats.org/officeDocument/2006/relationships/image" Target="../media/image-36abc5e1.png"/><Relationship Id="rId3" Type="http://schemas.openxmlformats.org/officeDocument/2006/relationships/image" Target="../media/image-32bc89a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../media/image--7e0fef5e1.png"/><Relationship Id="rId2" Type="http://schemas.openxmlformats.org/officeDocument/2006/relationships/image" Target="../media/image--55db581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../media/image-710556a1.png"/><Relationship Id="rId2" Type="http://schemas.openxmlformats.org/officeDocument/2006/relationships/image" Target="../media/image--3fd2935e2.png"/><Relationship Id="rId3" Type="http://schemas.openxmlformats.org/officeDocument/2006/relationships/image" Target="../media/image-2.png"/><Relationship Id="rId4" Type="http://schemas.openxmlformats.org/officeDocument/2006/relationships/image" Target="../media/image--3d415ede2.png"/><Relationship Id="rId5" Type="http://schemas.openxmlformats.org/officeDocument/2006/relationships/image" Target="../media/image--11ea5e1e2.png"/><Relationship Id="rId6" Type="http://schemas.openxmlformats.org/officeDocument/2006/relationships/image" Target="../media/image-3aad8ee2.png"/><Relationship Id="rId7" Type="http://schemas.openxmlformats.org/officeDocument/2006/relationships/image" Target="../media/image-260f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../media/image-75ad58e1.png"/><Relationship Id="rId2" Type="http://schemas.openxmlformats.org/officeDocument/2006/relationships/image" Target="../media/image-042b1.png"/><Relationship Id="rId3" Type="http://schemas.openxmlformats.org/officeDocument/2006/relationships/image" Target="../media/image-680d2f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../media/image-2e7c0ae1.png"/><Relationship Id="rId2" Type="http://schemas.openxmlformats.org/officeDocument/2006/relationships/image" Target="../media/image-15a92da1.png"/><Relationship Id="rId3" Type="http://schemas.openxmlformats.org/officeDocument/2006/relationships/image" Target="../media/image-38c14b1.png"/><Relationship Id="rId4" Type="http://schemas.openxmlformats.org/officeDocument/2006/relationships/image" Target="../media/image-294f96a1.png"/><Relationship Id="rId5" Type="http://schemas.openxmlformats.org/officeDocument/2006/relationships/image" Target="../media/image-2090d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 Tendencias que definen el Mercado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Fuerzas clave que transformarán el panorama tecnológico para 2026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100263"/>
            <a:ext cx="2667000" cy="1914525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607171"/>
            <a:ext cx="2381250" cy="2281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GenAI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895005"/>
            <a:ext cx="2475756" cy="6250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Integración de modelos de</a:t>
            </a:r>
            <a:b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lenguaje para la automatización</a:t>
            </a:r>
            <a:b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creativa y analítica.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45256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0" descr="-250ad3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346" y="1924459"/>
            <a:ext cx="466725" cy="3905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3750" y="2100263"/>
            <a:ext cx="2667000" cy="1914525"/>
          </a:xfrm>
          <a:prstGeom prst="rect">
            <a:avLst/>
          </a:prstGeom>
          <a:solidFill>
            <a:srgbClr val="1F9CDA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3619500" y="2607171"/>
            <a:ext cx="2381250" cy="2281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Agentic AI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619500" y="2895005"/>
            <a:ext cx="2381250" cy="833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 hacia sistemas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autónomos capaces de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ejecutar procesos complejos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sin intervención humana.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1006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CAD"/>
            </a:solidFill>
            <a:prstDash val="solid"/>
            <a:miter lim="800000"/>
          </a:ln>
        </p:spPr>
      </p:sp>
      <p:pic>
        <p:nvPicPr>
          <p:cNvPr id="13" name="Image 1" descr="5719bd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076" y="1941202"/>
            <a:ext cx="361950" cy="3238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1250" y="2100263"/>
            <a:ext cx="2667000" cy="1914525"/>
          </a:xfrm>
          <a:prstGeom prst="rect">
            <a:avLst/>
          </a:prstGeom>
          <a:solidFill>
            <a:srgbClr val="1C8EC6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6477000" y="2607171"/>
            <a:ext cx="2381250" cy="45630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KCS (Knowledge</a:t>
            </a:r>
            <a:b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Centered Service)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77000" y="3123158"/>
            <a:ext cx="2381250" cy="6250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Maximización del valor del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conocimiento en la resolución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incidencias.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16756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18" name="Image 2" descr="0016b4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176" y="1941203"/>
            <a:ext cx="247650" cy="3238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8750" y="2100263"/>
            <a:ext cx="2667000" cy="1914525"/>
          </a:xfrm>
          <a:prstGeom prst="rect">
            <a:avLst/>
          </a:prstGeom>
          <a:solidFill>
            <a:srgbClr val="1A80B3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9334500" y="2607171"/>
            <a:ext cx="2381250" cy="2281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Shift-Left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9334500" y="2895005"/>
            <a:ext cx="2381250" cy="8334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Estrategia para trasladar la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resolución de problemas a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etapas más tempranas o al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autoservicio.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02506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23" name="Image 3" descr="01f2aa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374" y="1978923"/>
            <a:ext cx="295275" cy="25717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76250" y="4467225"/>
            <a:ext cx="3619500" cy="1914525"/>
          </a:xfrm>
          <a:prstGeom prst="rect">
            <a:avLst/>
          </a:prstGeom>
          <a:solidFill>
            <a:srgbClr val="17719F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762000" y="4974134"/>
            <a:ext cx="3333750" cy="2281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Outcomes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62000" y="5261967"/>
            <a:ext cx="3333750" cy="6250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orientado a resultados de negocio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tangibles más que a la mera entrega de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1928813" y="41100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28" name="Image 4" descr="-327b96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683" y="4345836"/>
            <a:ext cx="285750" cy="23812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4286250" y="4467225"/>
            <a:ext cx="3619500" cy="1914525"/>
          </a:xfrm>
          <a:prstGeom prst="rect">
            <a:avLst/>
          </a:prstGeom>
          <a:solidFill>
            <a:srgbClr val="14638B"/>
          </a:solidFill>
          <a:ln>
            <a:miter lim="800000"/>
          </a:ln>
        </p:spPr>
      </p:sp>
      <p:sp>
        <p:nvSpPr>
          <p:cNvPr id="30" name="Text 23"/>
          <p:cNvSpPr/>
          <p:nvPr/>
        </p:nvSpPr>
        <p:spPr>
          <a:xfrm>
            <a:off x="4572000" y="4974134"/>
            <a:ext cx="3333750" cy="2281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Observabilidad predictiva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4572000" y="5261967"/>
            <a:ext cx="3425279" cy="41671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Uso de análisis avanzado para prevenir fallos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antes de que afecten al usuario.</a:t>
            </a: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5738813" y="41100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35E"/>
            </a:solidFill>
            <a:prstDash val="solid"/>
            <a:miter lim="800000"/>
          </a:ln>
        </p:spPr>
      </p:sp>
      <p:pic>
        <p:nvPicPr>
          <p:cNvPr id="33" name="Image 5" descr="53d78b6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198" y="4354208"/>
            <a:ext cx="361950" cy="2286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096250" y="4467225"/>
            <a:ext cx="3619500" cy="1914525"/>
          </a:xfrm>
          <a:prstGeom prst="rect">
            <a:avLst/>
          </a:prstGeom>
          <a:solidFill>
            <a:srgbClr val="115577"/>
          </a:solidFill>
          <a:ln>
            <a:miter lim="800000"/>
          </a:ln>
        </p:spPr>
      </p:sp>
      <p:sp>
        <p:nvSpPr>
          <p:cNvPr id="35" name="Text 27"/>
          <p:cNvSpPr/>
          <p:nvPr/>
        </p:nvSpPr>
        <p:spPr>
          <a:xfrm>
            <a:off x="8382000" y="4974134"/>
            <a:ext cx="3333750" cy="2281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97"/>
              </a:lnSpc>
            </a:pPr>
            <a:r>
              <a:rPr lang="en-US" sz="1560" spc="-94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ITIL v5</a:t>
            </a: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8382000" y="5261967"/>
            <a:ext cx="3479304" cy="6250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642"/>
              </a:lnSpc>
              <a:spcBef>
                <a:spcPts val="461"/>
              </a:spcBef>
            </a:pP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 de las mejores prácticas en gestión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servicios TI hacia la agilidad y la entrega</a:t>
            </a:r>
            <a:b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FFFFFF">
                    <a:alpha val="8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continua.</a:t>
            </a:r>
            <a:endParaRPr lang="en-US" dirty="0"/>
          </a:p>
        </p:txBody>
      </p:sp>
      <p:sp>
        <p:nvSpPr>
          <p:cNvPr id="37" name="Shape 29"/>
          <p:cNvSpPr/>
          <p:nvPr/>
        </p:nvSpPr>
        <p:spPr>
          <a:xfrm>
            <a:off x="9548813" y="41100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38" name="Image 6" descr="-41d531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6938" y="4295609"/>
            <a:ext cx="323850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 Costo de No Evolucionar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Análisis de Eficiencia Operativa: Nivel N0 vs. Nivel N5</a:t>
            </a:r>
            <a:endParaRPr lang="en-US" dirty="0"/>
          </a:p>
        </p:txBody>
      </p:sp>
      <p:pic>
        <p:nvPicPr>
          <p:cNvPr id="4" name="Image 0" descr="2640ae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0375" y="2200275"/>
            <a:ext cx="2381250" cy="2381250"/>
          </a:xfrm>
          <a:prstGeom prst="rect">
            <a:avLst/>
          </a:prstGeom>
        </p:spPr>
      </p:pic>
      <p:pic>
        <p:nvPicPr>
          <p:cNvPr id="5" name="Image 1" descr="46c9d9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5" y="2200275"/>
            <a:ext cx="27622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81350" y="3121372"/>
            <a:ext cx="201930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$2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2857500" y="4724995"/>
            <a:ext cx="2667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N0 (Autoservicio)</a:t>
            </a:r>
            <a:endParaRPr lang="en-US" dirty="0"/>
          </a:p>
        </p:txBody>
      </p:sp>
      <p:pic>
        <p:nvPicPr>
          <p:cNvPr id="8" name="Image 2" descr="265124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5" y="2200275"/>
            <a:ext cx="2381250" cy="2381250"/>
          </a:xfrm>
          <a:prstGeom prst="rect">
            <a:avLst/>
          </a:prstGeom>
        </p:spPr>
      </p:pic>
      <p:pic>
        <p:nvPicPr>
          <p:cNvPr id="9" name="Image 3" descr="-17413a5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75" y="2200275"/>
            <a:ext cx="2381250" cy="23812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991350" y="3121372"/>
            <a:ext cx="201930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$104</a:t>
            </a: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6667500" y="4724995"/>
            <a:ext cx="2667000" cy="52655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N5 (Soporte</a:t>
            </a:r>
            <a:b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Especializado)</a:t>
            </a:r>
            <a:endParaRPr lang="en-US" dirty="0"/>
          </a:p>
        </p:txBody>
      </p:sp>
      <p:sp>
        <p:nvSpPr>
          <p:cNvPr id="12" name="Shape 6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13" name="Text 7"/>
          <p:cNvSpPr/>
          <p:nvPr/>
        </p:nvSpPr>
        <p:spPr>
          <a:xfrm>
            <a:off x="985838" y="6376690"/>
            <a:ext cx="10220325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 implementación de IA Agéntica permite optimizar costos y reducir el MTTR al automatizar procesos complejos.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Benchmarks de Industria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Comparativa de eficiencia: Modelos Tradicionales vs. IA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4648" y="2593330"/>
            <a:ext cx="2150204" cy="2150204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333375" y="4887094"/>
            <a:ext cx="2952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FCR (Tradicional)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43038" y="3447214"/>
            <a:ext cx="733425" cy="4388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456"/>
              </a:lnSpc>
            </a:pPr>
            <a:r>
              <a:rPr lang="en-US" sz="3000" spc="-18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65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37824" y="2279005"/>
            <a:ext cx="2458852" cy="2458853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3190875" y="4881417"/>
            <a:ext cx="2952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FCR (IA)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05300" y="3287213"/>
            <a:ext cx="723900" cy="4388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456"/>
              </a:lnSpc>
            </a:pPr>
            <a:r>
              <a:rPr lang="en-US" sz="3000" spc="-18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85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062812" y="3822055"/>
            <a:ext cx="923875" cy="923876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1" name="Text 9"/>
          <p:cNvSpPr/>
          <p:nvPr/>
        </p:nvSpPr>
        <p:spPr>
          <a:xfrm>
            <a:off x="6048375" y="4889491"/>
            <a:ext cx="2952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MTTR (Tradicional - Horas)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05663" y="4062775"/>
            <a:ext cx="638175" cy="4388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456"/>
              </a:lnSpc>
            </a:pPr>
            <a:r>
              <a:rPr lang="en-US" sz="3000" spc="-18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12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0115550" y="4203055"/>
            <a:ext cx="533400" cy="533400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14" name="Text 12"/>
          <p:cNvSpPr/>
          <p:nvPr/>
        </p:nvSpPr>
        <p:spPr>
          <a:xfrm>
            <a:off x="8905875" y="4880015"/>
            <a:ext cx="2952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MTTR (IA - Horas)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648950" y="3838951"/>
            <a:ext cx="533400" cy="4388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456"/>
              </a:lnSpc>
            </a:pPr>
            <a:r>
              <a:rPr lang="en-US" sz="3000" spc="-18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 rot="18900000">
            <a:off x="10414814" y="4244330"/>
            <a:ext cx="385899" cy="0"/>
          </a:xfrm>
          <a:prstGeom prst="line">
            <a:avLst/>
          </a:prstGeom>
          <a:noFill/>
          <a:ln w="12700">
            <a:solidFill>
              <a:srgbClr val="000000">
                <a:alpha val="55000"/>
              </a:srgbClr>
            </a:solidFill>
            <a:prstDash val="dash"/>
            <a:miter lim="800000"/>
          </a:ln>
        </p:spPr>
      </p:sp>
      <p:sp>
        <p:nvSpPr>
          <p:cNvPr id="17" name="Shape 15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18" name="Text 16"/>
          <p:cNvSpPr/>
          <p:nvPr/>
        </p:nvSpPr>
        <p:spPr>
          <a:xfrm>
            <a:off x="47625" y="6376690"/>
            <a:ext cx="1209675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 implementación de IA mejora significativamente tanto la tasa de resolución al primer contacto como el tiempo de respuesta operativa.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SLA vs. XLA: 4 Capas de Reporte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Evolución: Del Cumplimiento Técnico a la Experiencia del Usuario</a:t>
            </a:r>
            <a:endParaRPr lang="en-US" dirty="0"/>
          </a:p>
        </p:txBody>
      </p:sp>
      <p:pic>
        <p:nvPicPr>
          <p:cNvPr id="4" name="Image 0" descr="-15eb81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098" y="1743075"/>
            <a:ext cx="1685925" cy="109537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89020" y="1752600"/>
            <a:ext cx="6932295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2413447" y="2021235"/>
            <a:ext cx="1408063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292342" y="2023021"/>
            <a:ext cx="6371779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Disponibilidad (SLA)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92342" y="2335857"/>
            <a:ext cx="6371779" cy="2344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en métricas de infraestructura, tiempos de respuesta y uptime.</a:t>
            </a:r>
            <a:endParaRPr lang="en-US" dirty="0"/>
          </a:p>
        </p:txBody>
      </p:sp>
      <p:pic>
        <p:nvPicPr>
          <p:cNvPr id="9" name="Image 1" descr="-576e05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25" y="2895600"/>
            <a:ext cx="2867025" cy="10953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179094" y="2867025"/>
            <a:ext cx="6342221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11" name="Text 7"/>
          <p:cNvSpPr/>
          <p:nvPr/>
        </p:nvSpPr>
        <p:spPr>
          <a:xfrm>
            <a:off x="1823373" y="3173760"/>
            <a:ext cx="258827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882415" y="3061246"/>
            <a:ext cx="5781675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Rendimiento Operativo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882415" y="3374082"/>
            <a:ext cx="5989707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Eficiencia en la resolución de tickets y cumplimiento de procedimientos</a:t>
            </a:r>
            <a:b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internos.</a:t>
            </a:r>
            <a:endParaRPr lang="en-US" dirty="0"/>
          </a:p>
        </p:txBody>
      </p:sp>
      <p:pic>
        <p:nvPicPr>
          <p:cNvPr id="14" name="Image 2" descr="2d3300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951" y="4048125"/>
            <a:ext cx="4048125" cy="109537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769168" y="4019550"/>
            <a:ext cx="5752147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16" name="Text 11"/>
          <p:cNvSpPr/>
          <p:nvPr/>
        </p:nvSpPr>
        <p:spPr>
          <a:xfrm>
            <a:off x="1233299" y="4326285"/>
            <a:ext cx="3768328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472489" y="4213771"/>
            <a:ext cx="5191571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Calidad de Servicio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472489" y="4526607"/>
            <a:ext cx="5191571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Medición del sentimiento del usuario y facilidad de uso de las</a:t>
            </a:r>
            <a:b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herramientas.</a:t>
            </a:r>
            <a:endParaRPr lang="en-US" dirty="0"/>
          </a:p>
        </p:txBody>
      </p:sp>
      <p:pic>
        <p:nvPicPr>
          <p:cNvPr id="19" name="Image 3" descr="19a256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77" y="5200650"/>
            <a:ext cx="5229225" cy="109537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359241" y="5172075"/>
            <a:ext cx="5162074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21" name="Text 15"/>
          <p:cNvSpPr/>
          <p:nvPr/>
        </p:nvSpPr>
        <p:spPr>
          <a:xfrm>
            <a:off x="643225" y="5478810"/>
            <a:ext cx="4948535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062563" y="5366296"/>
            <a:ext cx="4601617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Valor de Negocio (XLA)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6062563" y="5679132"/>
            <a:ext cx="4601617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Impacto real de la tecnología en la productividad y</a:t>
            </a:r>
            <a:b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resultados organizacionales.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 stylized map of Colombia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250" y="1127671"/>
            <a:ext cx="5419725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22AAE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Análisis Estratégico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76250" y="1586805"/>
            <a:ext cx="4804529" cy="109716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4320"/>
              </a:lnSpc>
              <a:spcBef>
                <a:spcPts val="1851"/>
              </a:spcBef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Colombia: La Ventana</a:t>
            </a:r>
            <a:b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Comercial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50" y="2856905"/>
            <a:ext cx="5598557" cy="287223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 marL="241300" indent="-241300">
              <a:lnSpc>
                <a:spcPts val="1901"/>
              </a:lnSpc>
              <a:spcBef>
                <a:spcPts val="1335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Entorno Regulatorio: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Impacto estratégico de la Circular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007 en la gestión de riesgos y ciberseguridad.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Madurez del Sector: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Evaluación de la infraestructura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financiera y la adopción digital en el mercado colombiano.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Ventaja Competitiva: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Aprovechamiento del marco legal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 fomentar la confianza y la escalabilidad operativa.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Potencial de Crecimiento: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Identificación de brechas de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mercado frente a las nuevas exigencias de cumplimiento y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estándares internacionales.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ITIL v5: Ciclo de Vida y Modelo 6C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Principios fundamentales para la gestión estratégica de servicios</a:t>
            </a:r>
            <a:endParaRPr lang="en-US" dirty="0"/>
          </a:p>
        </p:txBody>
      </p:sp>
      <p:pic>
        <p:nvPicPr>
          <p:cNvPr id="4" name="Image 0" descr="-5d8100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659112"/>
            <a:ext cx="203835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185993"/>
            <a:ext cx="165095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Conectar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3980587"/>
            <a:ext cx="1665729" cy="15635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Identificar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necesidades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los stakeholders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alinear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objetivos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estratégicos.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254026" y="24209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08c0bf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49" y="2567025"/>
            <a:ext cx="238125" cy="180975"/>
          </a:xfrm>
          <a:prstGeom prst="rect">
            <a:avLst/>
          </a:prstGeom>
        </p:spPr>
      </p:pic>
      <p:pic>
        <p:nvPicPr>
          <p:cNvPr id="9" name="Image 2" descr="719cd9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700" y="2659112"/>
            <a:ext cx="203835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51125" y="3185993"/>
            <a:ext cx="136520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Comprender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2603500" y="3980587"/>
            <a:ext cx="1650950" cy="15635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Análisis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profundo de los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requerimientos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el valor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esperado del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3095476" y="24209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979A9"/>
            </a:solidFill>
            <a:prstDash val="solid"/>
            <a:miter lim="800000"/>
          </a:ln>
        </p:spPr>
      </p:sp>
      <p:pic>
        <p:nvPicPr>
          <p:cNvPr id="13" name="Image 3" descr="-5e4a18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655" y="2561443"/>
            <a:ext cx="276225" cy="200025"/>
          </a:xfrm>
          <a:prstGeom prst="rect">
            <a:avLst/>
          </a:prstGeom>
        </p:spPr>
      </p:pic>
      <p:pic>
        <p:nvPicPr>
          <p:cNvPr id="14" name="Image 4" descr="739e64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151" y="2659112"/>
            <a:ext cx="203835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492625" y="3185993"/>
            <a:ext cx="136520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Crear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4445000" y="3980587"/>
            <a:ext cx="165095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Diseño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desarrollo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soluciones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centradas en el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usuario.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4936927" y="24209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56891"/>
            </a:solidFill>
            <a:prstDash val="solid"/>
            <a:miter lim="800000"/>
          </a:ln>
        </p:spPr>
      </p:sp>
      <p:pic>
        <p:nvPicPr>
          <p:cNvPr id="18" name="Image 5" descr="78fd60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2964" y="2558654"/>
            <a:ext cx="190500" cy="200025"/>
          </a:xfrm>
          <a:prstGeom prst="rect">
            <a:avLst/>
          </a:prstGeom>
        </p:spPr>
      </p:pic>
      <p:pic>
        <p:nvPicPr>
          <p:cNvPr id="19" name="Image 6" descr="08f30c2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0" y="2659112"/>
            <a:ext cx="203835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334125" y="3185993"/>
            <a:ext cx="136520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Coordinar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6286500" y="3980587"/>
            <a:ext cx="165095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recursos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equipos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una entrega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eficiente.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6778526" y="24209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2577A"/>
            </a:solidFill>
            <a:prstDash val="solid"/>
            <a:miter lim="800000"/>
          </a:ln>
        </p:spPr>
      </p:sp>
      <p:pic>
        <p:nvPicPr>
          <p:cNvPr id="23" name="Image 7" descr="1f92c86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6138" y="2528653"/>
            <a:ext cx="285750" cy="257175"/>
          </a:xfrm>
          <a:prstGeom prst="rect">
            <a:avLst/>
          </a:prstGeom>
        </p:spPr>
      </p:pic>
      <p:pic>
        <p:nvPicPr>
          <p:cNvPr id="24" name="Image 8" descr="1d9e0aa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2200" y="2659112"/>
            <a:ext cx="2038350" cy="11906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175625" y="3185993"/>
            <a:ext cx="136520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Controlar</a:t>
            </a:r>
            <a:endParaRPr lang="en-US" dirty="0"/>
          </a:p>
        </p:txBody>
      </p:sp>
      <p:sp>
        <p:nvSpPr>
          <p:cNvPr id="26" name="Text 15"/>
          <p:cNvSpPr/>
          <p:nvPr/>
        </p:nvSpPr>
        <p:spPr>
          <a:xfrm>
            <a:off x="8128000" y="3980587"/>
            <a:ext cx="165095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Monitoreo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desempeño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cumplimiento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estándares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calidad.</a:t>
            </a:r>
            <a:endParaRPr lang="en-US" dirty="0"/>
          </a:p>
        </p:txBody>
      </p:sp>
      <p:sp>
        <p:nvSpPr>
          <p:cNvPr id="27" name="Shape 16"/>
          <p:cNvSpPr/>
          <p:nvPr/>
        </p:nvSpPr>
        <p:spPr>
          <a:xfrm>
            <a:off x="8619976" y="24209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E4662"/>
            </a:solidFill>
            <a:prstDash val="solid"/>
            <a:miter lim="800000"/>
          </a:ln>
        </p:spPr>
      </p:sp>
      <p:pic>
        <p:nvPicPr>
          <p:cNvPr id="28" name="Image 9" descr="5b931e2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8198" y="2544701"/>
            <a:ext cx="247650" cy="238125"/>
          </a:xfrm>
          <a:prstGeom prst="rect">
            <a:avLst/>
          </a:prstGeom>
        </p:spPr>
      </p:pic>
      <p:pic>
        <p:nvPicPr>
          <p:cNvPr id="29" name="Image 10" descr="6a77242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3651" y="2659112"/>
            <a:ext cx="2038350" cy="1190625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10017125" y="3185993"/>
            <a:ext cx="136520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Continuar</a:t>
            </a:r>
            <a:endParaRPr lang="en-US" dirty="0"/>
          </a:p>
        </p:txBody>
      </p:sp>
      <p:sp>
        <p:nvSpPr>
          <p:cNvPr id="31" name="Text 18"/>
          <p:cNvSpPr/>
          <p:nvPr/>
        </p:nvSpPr>
        <p:spPr>
          <a:xfrm>
            <a:off x="9969500" y="3980587"/>
            <a:ext cx="1650950" cy="156358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Ciclo de mejora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constante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basado en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lecciones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aprendidas.</a:t>
            </a:r>
            <a:endParaRPr lang="en-US" dirty="0"/>
          </a:p>
        </p:txBody>
      </p:sp>
      <p:sp>
        <p:nvSpPr>
          <p:cNvPr id="32" name="Shape 19"/>
          <p:cNvSpPr/>
          <p:nvPr/>
        </p:nvSpPr>
        <p:spPr>
          <a:xfrm>
            <a:off x="10461427" y="24209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33" name="Image 11" descr="-6fd31ad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4203" y="2547490"/>
            <a:ext cx="152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Agentic AI: Adopción 2025–2026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Estado de Implementación en Servicios de TI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62250" y="2370534"/>
            <a:ext cx="1428750" cy="14287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5" name="Image 0" descr="-249b0c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7816" y="2733303"/>
            <a:ext cx="933450" cy="781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8740" y="3895130"/>
            <a:ext cx="425577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Fase 1: Automatización Cognitiva (2025)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28871" y="4237286"/>
            <a:ext cx="4295507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Integración de agentes en Service Desk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triaje de nivel 1 y herramientas de autogestión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 ejecución de scripts.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8001000" y="2370534"/>
            <a:ext cx="1428750" cy="1428750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pic>
        <p:nvPicPr>
          <p:cNvPr id="9" name="Image 1" descr="-619938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35" y="2758421"/>
            <a:ext cx="571500" cy="647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76804" y="3895130"/>
            <a:ext cx="4277142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Fase 2: Orquestación de Agentes (2026)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611407" y="4237286"/>
            <a:ext cx="4207937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Despliegue de sistemas multi-agente para la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gestión autónoma de infraestructura en la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nube y mitigación predictiva de incidentes.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13" name="Text 9"/>
          <p:cNvSpPr/>
          <p:nvPr/>
        </p:nvSpPr>
        <p:spPr>
          <a:xfrm>
            <a:off x="557213" y="6376690"/>
            <a:ext cx="11077575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Pilares Críticos: Gobernanza y Seguridad, Interoperabilidad con sistemas legados y Observabilidad del razonamiento agente.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Mesas de Servicio: Referencias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Fuentes bibliográficas y marcos de referencia clave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100263"/>
            <a:ext cx="3619500" cy="1914525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597051"/>
            <a:ext cx="3333750" cy="570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ITIL 4: Foundation Guide -</a:t>
            </a:r>
            <a:b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Axelos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3242072"/>
            <a:ext cx="3453110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estándar global para la 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 de TI.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92881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17A"/>
            </a:solidFill>
            <a:prstDash val="solid"/>
            <a:miter lim="800000"/>
          </a:ln>
        </p:spPr>
      </p:sp>
      <p:pic>
        <p:nvPicPr>
          <p:cNvPr id="8" name="Image 0" descr="0016b4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0426" y="1941203"/>
            <a:ext cx="247650" cy="3238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86250" y="2100263"/>
            <a:ext cx="3619500" cy="1914525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4572000" y="2597051"/>
            <a:ext cx="3349228" cy="2851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Service Desk Handbook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0" y="2956917"/>
            <a:ext cx="333375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Guía sobre la implementación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mesas de servicio y mejores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prácticas.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73881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EA555"/>
            </a:solidFill>
            <a:prstDash val="solid"/>
            <a:miter lim="800000"/>
          </a:ln>
        </p:spPr>
      </p:sp>
      <p:pic>
        <p:nvPicPr>
          <p:cNvPr id="13" name="Image 1" descr="0016b4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0426" y="1941203"/>
            <a:ext cx="247650" cy="3238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96250" y="2100263"/>
            <a:ext cx="3619500" cy="1914525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382000" y="2597051"/>
            <a:ext cx="3333750" cy="570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COBIT 2019 Framework -</a:t>
            </a:r>
            <a:b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ISACA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382000" y="3242072"/>
            <a:ext cx="3435846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Marco para la gobernanza y gestión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la información empresarial.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9548813" y="17430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C641B"/>
            </a:solidFill>
            <a:prstDash val="solid"/>
            <a:miter lim="800000"/>
          </a:ln>
        </p:spPr>
      </p:sp>
      <p:pic>
        <p:nvPicPr>
          <p:cNvPr id="18" name="Image 2" descr="-f9604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685" y="1932830"/>
            <a:ext cx="285750" cy="3429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76250" y="4467225"/>
            <a:ext cx="3619500" cy="1914525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762000" y="4964013"/>
            <a:ext cx="3333750" cy="5703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KCS (Knowledge Centered</a:t>
            </a:r>
            <a:b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Service) Practices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62000" y="5609034"/>
            <a:ext cx="3333750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Metodologías del Consortium for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Service Innovation.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928813" y="41100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C6600"/>
            </a:solidFill>
            <a:prstDash val="solid"/>
            <a:miter lim="800000"/>
          </a:ln>
        </p:spPr>
      </p:sp>
      <p:pic>
        <p:nvPicPr>
          <p:cNvPr id="23" name="Image 3" descr="-636d53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611" y="4291421"/>
            <a:ext cx="247650" cy="35242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286250" y="4467225"/>
            <a:ext cx="3619500" cy="1914525"/>
          </a:xfrm>
          <a:prstGeom prst="rect">
            <a:avLst/>
          </a:prstGeom>
          <a:solidFill>
            <a:srgbClr val="FF797A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4572000" y="4964013"/>
            <a:ext cx="3333750" cy="2851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Lean IT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572000" y="5323880"/>
            <a:ext cx="3352502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en la habilitación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sostenibilidad de la transformación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Lean según Bell &amp; Orzen.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5738813" y="41100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4647"/>
            </a:solidFill>
            <a:prstDash val="solid"/>
            <a:miter lim="800000"/>
          </a:ln>
        </p:spPr>
      </p:sp>
      <p:pic>
        <p:nvPicPr>
          <p:cNvPr id="28" name="Image 4" descr="-327b96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683" y="4345836"/>
            <a:ext cx="285750" cy="23812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8096250" y="4467225"/>
            <a:ext cx="3619500" cy="1914525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30" name="Text 23"/>
          <p:cNvSpPr/>
          <p:nvPr/>
        </p:nvSpPr>
        <p:spPr>
          <a:xfrm>
            <a:off x="8382000" y="4964013"/>
            <a:ext cx="3333750" cy="28515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46"/>
              </a:lnSpc>
            </a:pPr>
            <a:r>
              <a:rPr lang="en-US" sz="1950" spc="-11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ISO/IEC 20000-1:2018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8382000" y="5323880"/>
            <a:ext cx="3508325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  <a:spcBef>
                <a:spcPts val="577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 internacional sobre requisitos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el sistema de 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servicios.</a:t>
            </a: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9548813" y="4110038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C17A"/>
            </a:solidFill>
            <a:prstDash val="solid"/>
            <a:miter lim="800000"/>
          </a:ln>
        </p:spPr>
      </p:sp>
      <p:pic>
        <p:nvPicPr>
          <p:cNvPr id="33" name="Image 5" descr="-1f01599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799" y="4299792"/>
            <a:ext cx="2476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" y="95250"/>
            <a:ext cx="4128249" cy="666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3" name="Image 0" descr="Abstract icon of a robotic hand interacting with a digital interface representing artificial intelligence">    </p:cNvPr>
          <p:cNvPicPr>
            <a:picLocks noChangeAspect="1"/>
          </p:cNvPicPr>
          <p:nvPr/>
        </p:nvPicPr>
        <p:blipFill>
          <a:blip r:embed="rId1"/>
          <a:srcRect l="19042" r="19042" t="0" b="0"/>
          <a:stretch/>
        </p:blipFill>
        <p:spPr>
          <a:xfrm>
            <a:off x="95250" y="95250"/>
            <a:ext cx="4128249" cy="6667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9749" y="1165771"/>
            <a:ext cx="7258050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22AAEE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Nuestros Valores Agregados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99749" y="1624905"/>
            <a:ext cx="760851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4320"/>
              </a:lnSpc>
              <a:spcBef>
                <a:spcPts val="1851"/>
              </a:spcBef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Propuesta de Servicio Diferenciada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99749" y="2346424"/>
            <a:ext cx="7612529" cy="334684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 marL="241300" indent="-241300">
              <a:lnSpc>
                <a:spcPts val="1901"/>
              </a:lnSpc>
              <a:spcBef>
                <a:spcPts val="1335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Enfoque en Soluciones a Medida: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Desarrollo tecnológico alineado con las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necesidades específicas de su negocio.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Excelencia Técnica: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Implementación de estándares de alta calidad y mejores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prácticas de la industria.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Colaboración Estratégica: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Acompañamiento cercano durante todo el ciclo de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vida del proyecto.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Innovación Continua: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Integración de nuevas tecnologías para garantizar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escalabilidad y competitividad.</a:t>
            </a:r>
            <a:endParaRPr lang="en-US" dirty="0"/>
          </a:p>
          <a:p>
            <a:pPr fontAlgn="ctr" algn="l" marL="241300" indent="-241300">
              <a:lnSpc>
                <a:spcPts val="1901"/>
              </a:lnSpc>
              <a:spcBef>
                <a:spcPts val="1800"/>
              </a:spcBef>
              <a:buClr>
                <a:srgbClr val="22aaee"/>
              </a:buClr>
              <a:buSzPct val="120000"/>
              <a:buChar char="•"/>
            </a:pPr>
            <a:r>
              <a:rPr lang="en-US" sz="1650" spc="-99" kern="0" dirty="0">
                <a:solidFill>
                  <a:srgbClr val="333333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Resultados Medibles:</a:t>
            </a:r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 Compromiso con el cumplimiento de hitos y objetivos de</a:t>
            </a:r>
            <a:b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negocio claros.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¿Qué diferencia a PersonalSoft?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Factores clave que impulsan nuestra propuesta de valor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476375" y="2575322"/>
            <a:ext cx="1428750" cy="1428750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5" name="Image 0" descr="23a43c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6116" y="3046919"/>
            <a:ext cx="5619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9100" y="4099917"/>
            <a:ext cx="35433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 Madurez (N0-N5)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8833" y="4442073"/>
            <a:ext cx="3763834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estructurado para evaluar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escalar capacidades tecnológicas,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garantizando un crecimiento continuo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medible.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381625" y="2575322"/>
            <a:ext cx="1428750" cy="1428750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pic>
        <p:nvPicPr>
          <p:cNvPr id="9" name="Image 1" descr="-6ff4ae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766" y="3030181"/>
            <a:ext cx="695325" cy="5143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43388" y="4099917"/>
            <a:ext cx="370522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Operación gestionada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124801" y="4442073"/>
            <a:ext cx="3942398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 integrales de TI que permiten 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los clientes delegar la complejidad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operativa para enfocarse en sus objetivos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negocio.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9286875" y="2575322"/>
            <a:ext cx="1428750" cy="1428750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</p:sp>
      <p:pic>
        <p:nvPicPr>
          <p:cNvPr id="13" name="Image 2" descr="7f5c7a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758" y="3046919"/>
            <a:ext cx="647700" cy="4857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1500" y="4099917"/>
            <a:ext cx="36195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Inteligencia aplicada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8076902" y="4442073"/>
            <a:ext cx="3848695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Integración avanzada de KEDB y AIOps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optimizar la resolución, predecir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fallos y maximizar la eficiencia operativa.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Industrialización del Servicio en Colombia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Ejes de Transformación Digital y Crecimiento Sectorial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83431" y="2173635"/>
            <a:ext cx="49339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Adopción Cloud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5195" y="2780854"/>
            <a:ext cx="5290423" cy="724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453"/>
              </a:spcBef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Migración masiva hacia infraestructuras escalables,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reduciendo costos operativos y mejorando la resiliencia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tecnológica.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4133850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935831" y="4564410"/>
            <a:ext cx="46291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Integración de IA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5588" y="5171629"/>
            <a:ext cx="4949636" cy="7241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453"/>
              </a:spcBef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Implementación de automatización inteligente y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procesamiento de lenguaje natural para optimizar la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atención al cliente y la toma de decisiones.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67438" y="1743075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pic>
        <p:nvPicPr>
          <p:cNvPr id="11" name="Image 0" descr="-7d27ff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2188" y="2076450"/>
            <a:ext cx="5738813" cy="191452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357938" y="1894433"/>
            <a:ext cx="545306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Crecimiento por Sectores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167438" y="4133850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14" name="Text 11"/>
          <p:cNvSpPr/>
          <p:nvPr/>
        </p:nvSpPr>
        <p:spPr>
          <a:xfrm>
            <a:off x="6453188" y="4662488"/>
            <a:ext cx="1666875" cy="10715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8438"/>
              </a:lnSpc>
            </a:pPr>
            <a:r>
              <a:rPr lang="en-US" sz="9375" spc="-46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85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57938" y="6009233"/>
            <a:ext cx="4416326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>
                    <a:alpha val="8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 servicios basados en conocimiento exportados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57938" y="4285208"/>
            <a:ext cx="545306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Hub de Exportación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Mesa Tradicional vs. Mesa de Nueva Generación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Comparativa de modelos operativos y cultura organizacional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2738438" cy="693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518606" y="1911945"/>
            <a:ext cx="2653725" cy="3565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808"/>
              </a:lnSpc>
            </a:pPr>
            <a:r>
              <a:rPr lang="en-US" sz="2438" spc="-146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Operativo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532063"/>
            <a:ext cx="2738438" cy="266620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7" name="Image 0" descr="Abstract representation of a rigid organizational pyramid versus a flexible, interconnected network.">    </p:cNvPr>
          <p:cNvPicPr>
            <a:picLocks noChangeAspect="1"/>
          </p:cNvPicPr>
          <p:nvPr/>
        </p:nvPicPr>
        <p:blipFill>
          <a:blip r:embed="rId1"/>
          <a:srcRect l="0" r="0" t="1319" b="1319"/>
          <a:stretch/>
        </p:blipFill>
        <p:spPr>
          <a:xfrm>
            <a:off x="476250" y="2532063"/>
            <a:ext cx="2738438" cy="26662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6250" y="5293519"/>
            <a:ext cx="2738438" cy="10882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9" name="Text 6"/>
          <p:cNvSpPr/>
          <p:nvPr/>
        </p:nvSpPr>
        <p:spPr>
          <a:xfrm>
            <a:off x="554191" y="5444579"/>
            <a:ext cx="2582555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Tradicional: Jerárquico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rígido | Nueva Generación: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Ágil y colaborativo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309938" y="1743075"/>
            <a:ext cx="2738438" cy="693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3409697" y="1936055"/>
            <a:ext cx="2538919" cy="301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376"/>
              </a:lnSpc>
            </a:pPr>
            <a:r>
              <a:rPr lang="en-US" sz="2063" spc="-12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Flujo de Información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309938" y="2532063"/>
            <a:ext cx="2738438" cy="266620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13" name="Image 1" descr="Graphic showing a downward arrow versus a circular flow of information within a team.">    </p:cNvPr>
          <p:cNvPicPr>
            <a:picLocks noChangeAspect="1"/>
          </p:cNvPicPr>
          <p:nvPr/>
        </p:nvPicPr>
        <p:blipFill>
          <a:blip r:embed="rId2"/>
          <a:srcRect l="0" r="0" t="1319" b="1319"/>
          <a:stretch/>
        </p:blipFill>
        <p:spPr>
          <a:xfrm>
            <a:off x="3309938" y="2532063"/>
            <a:ext cx="2738438" cy="266620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09938" y="5293519"/>
            <a:ext cx="2738438" cy="10882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3350612" y="5505896"/>
            <a:ext cx="2657088" cy="6643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744"/>
              </a:lnSpc>
            </a:pP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Tradicional: Unidireccional (Top-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down) | Nueva Generación:</a:t>
            </a:r>
            <a:b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75" spc="-26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Multidireccional y transparente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6143625" y="1743075"/>
            <a:ext cx="2738438" cy="693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17" name="Text 13"/>
          <p:cNvSpPr/>
          <p:nvPr/>
        </p:nvSpPr>
        <p:spPr>
          <a:xfrm>
            <a:off x="6290533" y="1936055"/>
            <a:ext cx="2444621" cy="301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376"/>
              </a:lnSpc>
            </a:pPr>
            <a:r>
              <a:rPr lang="en-US" sz="2063" spc="-12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Enfoque de Trabajo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143625" y="2532063"/>
            <a:ext cx="2738438" cy="266620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19" name="Image 2" descr="Icon depicting isolated silos versus a unified gear system representing value creation.">    </p:cNvPr>
          <p:cNvPicPr>
            <a:picLocks noChangeAspect="1"/>
          </p:cNvPicPr>
          <p:nvPr/>
        </p:nvPicPr>
        <p:blipFill>
          <a:blip r:embed="rId3"/>
          <a:srcRect l="0" r="0" t="1319" b="1319"/>
          <a:stretch/>
        </p:blipFill>
        <p:spPr>
          <a:xfrm>
            <a:off x="6143625" y="2532063"/>
            <a:ext cx="2738438" cy="266620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43625" y="5293519"/>
            <a:ext cx="2738438" cy="10882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21" name="Text 16"/>
          <p:cNvSpPr/>
          <p:nvPr/>
        </p:nvSpPr>
        <p:spPr>
          <a:xfrm>
            <a:off x="6127641" y="5466606"/>
            <a:ext cx="2770406" cy="7425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49"/>
              </a:lnSpc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Tradicional: Basado en tareas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/ silos | Nueva Generación: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Enfocado en productos / valor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8977313" y="1743075"/>
            <a:ext cx="2738438" cy="693738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23" name="Text 18"/>
          <p:cNvSpPr/>
          <p:nvPr/>
        </p:nvSpPr>
        <p:spPr>
          <a:xfrm>
            <a:off x="9081715" y="1936055"/>
            <a:ext cx="2529632" cy="301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376"/>
              </a:lnSpc>
            </a:pPr>
            <a:r>
              <a:rPr lang="en-US" sz="2063" spc="-12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Toma de Decisiones</a:t>
            </a:r>
            <a:endParaRPr lang="en-US" dirty="0"/>
          </a:p>
        </p:txBody>
      </p:sp>
      <p:sp>
        <p:nvSpPr>
          <p:cNvPr id="24" name="Shape 19"/>
          <p:cNvSpPr/>
          <p:nvPr/>
        </p:nvSpPr>
        <p:spPr>
          <a:xfrm>
            <a:off x="8977313" y="2532063"/>
            <a:ext cx="2738438" cy="266620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25" name="Image 3" descr="A single lock versus a digital dashboard with data insights icon.">    </p:cNvPr>
          <p:cNvPicPr>
            <a:picLocks noChangeAspect="1"/>
          </p:cNvPicPr>
          <p:nvPr/>
        </p:nvPicPr>
        <p:blipFill>
          <a:blip r:embed="rId4"/>
          <a:srcRect l="0" r="0" t="1319" b="1319"/>
          <a:stretch/>
        </p:blipFill>
        <p:spPr>
          <a:xfrm>
            <a:off x="8977313" y="2532063"/>
            <a:ext cx="2738438" cy="266620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977313" y="5293519"/>
            <a:ext cx="2738438" cy="108823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sp>
        <p:nvSpPr>
          <p:cNvPr id="27" name="Text 21"/>
          <p:cNvSpPr/>
          <p:nvPr/>
        </p:nvSpPr>
        <p:spPr>
          <a:xfrm>
            <a:off x="8959096" y="5523161"/>
            <a:ext cx="2774871" cy="62507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642"/>
              </a:lnSpc>
            </a:pPr>
            <a: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Tradicional: Centralizada y lenta |</a:t>
            </a:r>
            <a:b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Nueva Generación: Descentralizada</a:t>
            </a:r>
            <a:b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200" spc="-24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basada en datos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" name="Text 1"/>
          <p:cNvSpPr/>
          <p:nvPr/>
        </p:nvSpPr>
        <p:spPr>
          <a:xfrm>
            <a:off x="476250" y="2245072"/>
            <a:ext cx="2439070" cy="16457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</a:t>
            </a:r>
            <a:b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Servicio</a:t>
            </a:r>
            <a:b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 Next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4003030"/>
            <a:ext cx="3170486" cy="5732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Evaluación Inicial: Un enfoque</a:t>
            </a:r>
            <a:b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4 ejes</a:t>
            </a:r>
            <a:endParaRPr lang="en-US" dirty="0"/>
          </a:p>
        </p:txBody>
      </p:sp>
      <p:pic>
        <p:nvPicPr>
          <p:cNvPr id="5" name="Image 0" descr="7e14c8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5606" y="2183606"/>
            <a:ext cx="647700" cy="647700"/>
          </a:xfrm>
          <a:prstGeom prst="rect">
            <a:avLst/>
          </a:prstGeom>
        </p:spPr>
      </p:pic>
      <p:pic>
        <p:nvPicPr>
          <p:cNvPr id="6" name="Image 1" descr="-3fd2935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918" y="2772918"/>
            <a:ext cx="123825" cy="123825"/>
          </a:xfrm>
          <a:prstGeom prst="rect">
            <a:avLst/>
          </a:prstGeom>
        </p:spPr>
      </p:pic>
      <p:pic>
        <p:nvPicPr>
          <p:cNvPr id="7" name="Image 2" descr="0495c5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408" y="2183606"/>
            <a:ext cx="647700" cy="647700"/>
          </a:xfrm>
          <a:prstGeom prst="rect">
            <a:avLst/>
          </a:prstGeom>
        </p:spPr>
      </p:pic>
      <p:pic>
        <p:nvPicPr>
          <p:cNvPr id="8" name="Image 3" descr="-3d415e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067" y="2772918"/>
            <a:ext cx="123825" cy="123825"/>
          </a:xfrm>
          <a:prstGeom prst="rect">
            <a:avLst/>
          </a:prstGeom>
        </p:spPr>
      </p:pic>
      <p:pic>
        <p:nvPicPr>
          <p:cNvPr id="9" name="Image 4" descr="7e14c8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408" y="4032409"/>
            <a:ext cx="647700" cy="647700"/>
          </a:xfrm>
          <a:prstGeom prst="rect">
            <a:avLst/>
          </a:prstGeom>
        </p:spPr>
      </p:pic>
      <p:pic>
        <p:nvPicPr>
          <p:cNvPr id="10" name="Image 5" descr="-11ea5e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067" y="3965067"/>
            <a:ext cx="123825" cy="123825"/>
          </a:xfrm>
          <a:prstGeom prst="rect">
            <a:avLst/>
          </a:prstGeom>
        </p:spPr>
      </p:pic>
      <p:pic>
        <p:nvPicPr>
          <p:cNvPr id="11" name="Image 6" descr="0495c5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606" y="4032409"/>
            <a:ext cx="647700" cy="647700"/>
          </a:xfrm>
          <a:prstGeom prst="rect">
            <a:avLst/>
          </a:prstGeom>
        </p:spPr>
      </p:pic>
      <p:pic>
        <p:nvPicPr>
          <p:cNvPr id="12" name="Image 7" descr="3aad8e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918" y="3965067"/>
            <a:ext cx="123825" cy="123825"/>
          </a:xfrm>
          <a:prstGeom prst="rect">
            <a:avLst/>
          </a:prstGeom>
        </p:spPr>
      </p:pic>
      <p:pic>
        <p:nvPicPr>
          <p:cNvPr id="13" name="Image 8" descr="260f002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0" y="2762250"/>
            <a:ext cx="1333500" cy="13335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381875" y="3055739"/>
            <a:ext cx="1238250" cy="7500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970"/>
              </a:lnSpc>
            </a:pPr>
            <a:r>
              <a:rPr lang="en-US" sz="1710" spc="-103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</a:t>
            </a:r>
            <a:br>
              <a:rPr lang="en-US" sz="1710" spc="-103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710" spc="-103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Servicio</a:t>
            </a:r>
            <a:br>
              <a:rPr lang="en-US" sz="1710" spc="-103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710" spc="-103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 Next</a:t>
            </a:r>
            <a:endParaRPr lang="en-US" dirty="0"/>
          </a:p>
        </p:txBody>
      </p:sp>
      <p:sp>
        <p:nvSpPr>
          <p:cNvPr id="15" name="Shape 4"/>
          <p:cNvSpPr/>
          <p:nvPr/>
        </p:nvSpPr>
        <p:spPr>
          <a:xfrm>
            <a:off x="6087983" y="1515983"/>
            <a:ext cx="714375" cy="714375"/>
          </a:xfrm>
          <a:prstGeom prst="ellipse">
            <a:avLst/>
          </a:prstGeom>
          <a:solidFill>
            <a:srgbClr val="FFD9AD"/>
          </a:solidFill>
          <a:ln>
            <a:miter lim="800000"/>
          </a:ln>
        </p:spPr>
      </p:sp>
      <p:pic>
        <p:nvPicPr>
          <p:cNvPr id="16" name="Image 9" descr="5719bd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0977" y="1714090"/>
            <a:ext cx="361950" cy="323850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4783058" y="1740416"/>
            <a:ext cx="12096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Operativo</a:t>
            </a:r>
            <a:endParaRPr lang="en-US" dirty="0"/>
          </a:p>
        </p:txBody>
      </p:sp>
      <p:sp>
        <p:nvSpPr>
          <p:cNvPr id="18" name="Shape 6"/>
          <p:cNvSpPr/>
          <p:nvPr/>
        </p:nvSpPr>
        <p:spPr>
          <a:xfrm>
            <a:off x="9199642" y="1515983"/>
            <a:ext cx="714375" cy="714375"/>
          </a:xfrm>
          <a:prstGeom prst="ellipse">
            <a:avLst/>
          </a:prstGeom>
          <a:solidFill>
            <a:srgbClr val="FEC088"/>
          </a:solidFill>
          <a:ln>
            <a:miter lim="800000"/>
          </a:ln>
        </p:spPr>
      </p:sp>
      <p:pic>
        <p:nvPicPr>
          <p:cNvPr id="19" name="Image 10" descr="-327b961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4383" y="1751762"/>
            <a:ext cx="285750" cy="238125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10009267" y="1740416"/>
            <a:ext cx="13525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Inteligencia</a:t>
            </a:r>
            <a:endParaRPr lang="en-US" dirty="0"/>
          </a:p>
        </p:txBody>
      </p:sp>
      <p:sp>
        <p:nvSpPr>
          <p:cNvPr id="21" name="Shape 8"/>
          <p:cNvSpPr/>
          <p:nvPr/>
        </p:nvSpPr>
        <p:spPr>
          <a:xfrm>
            <a:off x="9199642" y="4627642"/>
            <a:ext cx="714375" cy="714375"/>
          </a:xfrm>
          <a:prstGeom prst="ellipse">
            <a:avLst/>
          </a:prstGeom>
          <a:solidFill>
            <a:srgbClr val="FD864D"/>
          </a:solidFill>
          <a:ln>
            <a:miter lim="800000"/>
          </a:ln>
        </p:spPr>
      </p:sp>
      <p:pic>
        <p:nvPicPr>
          <p:cNvPr id="22" name="Image 11" descr="-3d972f5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565" y="4808903"/>
            <a:ext cx="276225" cy="352425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>
            <a:off x="10009267" y="4852075"/>
            <a:ext cx="138112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Experiencia</a:t>
            </a:r>
            <a:endParaRPr lang="en-US" dirty="0"/>
          </a:p>
        </p:txBody>
      </p:sp>
      <p:sp>
        <p:nvSpPr>
          <p:cNvPr id="24" name="Shape 10"/>
          <p:cNvSpPr/>
          <p:nvPr/>
        </p:nvSpPr>
        <p:spPr>
          <a:xfrm>
            <a:off x="6087983" y="4627642"/>
            <a:ext cx="714375" cy="714375"/>
          </a:xfrm>
          <a:prstGeom prst="ellipse">
            <a:avLst/>
          </a:prstGeom>
          <a:solidFill>
            <a:srgbClr val="FF8000"/>
          </a:solidFill>
          <a:ln>
            <a:miter lim="800000"/>
          </a:ln>
        </p:spPr>
      </p:sp>
      <p:pic>
        <p:nvPicPr>
          <p:cNvPr id="25" name="Image 12" descr="-6dc06d9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4462" y="4838201"/>
            <a:ext cx="304800" cy="304800"/>
          </a:xfrm>
          <a:prstGeom prst="rect">
            <a:avLst/>
          </a:prstGeom>
        </p:spPr>
      </p:pic>
      <p:sp>
        <p:nvSpPr>
          <p:cNvPr id="26" name="Text 11"/>
          <p:cNvSpPr/>
          <p:nvPr/>
        </p:nvSpPr>
        <p:spPr>
          <a:xfrm>
            <a:off x="4783058" y="4852075"/>
            <a:ext cx="12096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Evolución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 Madurez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 de procesos y capacidades organizacionales</a:t>
            </a:r>
            <a:endParaRPr lang="en-US" dirty="0"/>
          </a:p>
        </p:txBody>
      </p:sp>
      <p:pic>
        <p:nvPicPr>
          <p:cNvPr id="4" name="Image 0" descr="-510784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765822"/>
            <a:ext cx="240030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299668"/>
            <a:ext cx="2019300" cy="2105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659"/>
              </a:lnSpc>
            </a:pPr>
            <a:r>
              <a:rPr lang="en-US" sz="1440" spc="-86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1: Inicial (Ad-hoc)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087267"/>
            <a:ext cx="2073741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 manuales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poco definidos con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dependencia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esfuerzos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individuales.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438275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-374f2e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50" y="2654193"/>
            <a:ext cx="209550" cy="219075"/>
          </a:xfrm>
          <a:prstGeom prst="rect">
            <a:avLst/>
          </a:prstGeom>
        </p:spPr>
      </p:pic>
      <p:pic>
        <p:nvPicPr>
          <p:cNvPr id="9" name="Image 2" descr="-66444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50" y="2765822"/>
            <a:ext cx="240030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19425" y="3194893"/>
            <a:ext cx="1733550" cy="4211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659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2: Repetible</a:t>
            </a:r>
            <a:b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(Gestionado)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2971800" y="4087267"/>
            <a:ext cx="2021354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 básicos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documentados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resultados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consistentes.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3648075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875A3"/>
            </a:solidFill>
            <a:prstDash val="solid"/>
            <a:miter lim="800000"/>
          </a:ln>
        </p:spPr>
      </p:sp>
      <p:pic>
        <p:nvPicPr>
          <p:cNvPr id="13" name="Image 3" descr="-3671285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902" y="2651409"/>
            <a:ext cx="190500" cy="228600"/>
          </a:xfrm>
          <a:prstGeom prst="rect">
            <a:avLst/>
          </a:prstGeom>
        </p:spPr>
      </p:pic>
      <p:pic>
        <p:nvPicPr>
          <p:cNvPr id="14" name="Image 4" descr="-63bd839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2765822"/>
            <a:ext cx="240030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29225" y="3194893"/>
            <a:ext cx="1733550" cy="4211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659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3: Definido</a:t>
            </a:r>
            <a:b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(Estandarizado)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5181600" y="4087267"/>
            <a:ext cx="2027307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 unificados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nivel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organizacional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mayor eficiencia.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5857875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18" name="Image 5" descr="-26c90f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8798" y="2648620"/>
            <a:ext cx="238125" cy="238125"/>
          </a:xfrm>
          <a:prstGeom prst="rect">
            <a:avLst/>
          </a:prstGeom>
        </p:spPr>
      </p:pic>
      <p:pic>
        <p:nvPicPr>
          <p:cNvPr id="19" name="Image 6" descr="-5a47b8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0" y="2765822"/>
            <a:ext cx="240030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39025" y="3194893"/>
            <a:ext cx="1733550" cy="4211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659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4: Medido</a:t>
            </a:r>
            <a:b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(Cuantitativo)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7391400" y="4087267"/>
            <a:ext cx="201930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Control detallado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mediante métricas,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KPIs y toma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decisiones basada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datos.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8067675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F4A68"/>
            </a:solidFill>
            <a:prstDash val="solid"/>
            <a:miter lim="800000"/>
          </a:ln>
        </p:spPr>
      </p:sp>
      <p:pic>
        <p:nvPicPr>
          <p:cNvPr id="23" name="Image 7" descr="0eb8846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5897" y="2640248"/>
            <a:ext cx="247650" cy="238125"/>
          </a:xfrm>
          <a:prstGeom prst="rect">
            <a:avLst/>
          </a:prstGeom>
        </p:spPr>
      </p:pic>
      <p:pic>
        <p:nvPicPr>
          <p:cNvPr id="24" name="Image 8" descr="213ef76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5450" y="2765822"/>
            <a:ext cx="2400300" cy="1190625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638050" y="3194893"/>
            <a:ext cx="1755100" cy="42118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659"/>
              </a:lnSpc>
            </a:pP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5: Optimizado</a:t>
            </a:r>
            <a:b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440" spc="-86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(Innovación)</a:t>
            </a:r>
            <a:endParaRPr lang="en-US" dirty="0"/>
          </a:p>
        </p:txBody>
      </p:sp>
      <p:sp>
        <p:nvSpPr>
          <p:cNvPr id="26" name="Text 15"/>
          <p:cNvSpPr/>
          <p:nvPr/>
        </p:nvSpPr>
        <p:spPr>
          <a:xfrm>
            <a:off x="9601200" y="4087267"/>
            <a:ext cx="201930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Mejora continua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automatizada con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en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adaptabilidad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crecimiento.</a:t>
            </a:r>
            <a:endParaRPr lang="en-US" dirty="0"/>
          </a:p>
        </p:txBody>
      </p:sp>
      <p:sp>
        <p:nvSpPr>
          <p:cNvPr id="27" name="Shape 16"/>
          <p:cNvSpPr/>
          <p:nvPr/>
        </p:nvSpPr>
        <p:spPr>
          <a:xfrm>
            <a:off x="10277475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8" name="Image 9" descr="0-42f65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5141" y="2668155"/>
            <a:ext cx="2000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Arquitectura de Atención y Aprendizaje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Niveles de escalabilidad en soporte técnico</a:t>
            </a:r>
            <a:endParaRPr lang="en-US" dirty="0"/>
          </a:p>
        </p:txBody>
      </p:sp>
      <p:pic>
        <p:nvPicPr>
          <p:cNvPr id="4" name="Image 0" descr="-5f8957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868662"/>
            <a:ext cx="295275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378875"/>
            <a:ext cx="25717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N0: Autoservicio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190137"/>
            <a:ext cx="2571750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Resolución autónoma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mediante portales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conocimiento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digitales.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714500" y="263053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-1c383b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005" y="2787737"/>
            <a:ext cx="228600" cy="161925"/>
          </a:xfrm>
          <a:prstGeom prst="rect">
            <a:avLst/>
          </a:prstGeom>
        </p:spPr>
      </p:pic>
      <p:pic>
        <p:nvPicPr>
          <p:cNvPr id="9" name="Image 2" descr="-e2455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868662"/>
            <a:ext cx="295275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71875" y="3378875"/>
            <a:ext cx="2286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N1: Soporte General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524250" y="4190137"/>
            <a:ext cx="2571750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Primer punto de contacto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consultas técnicas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estándar.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476750" y="263053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13" name="Image 3" descr="-30aa75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204" y="2751462"/>
            <a:ext cx="200025" cy="238125"/>
          </a:xfrm>
          <a:prstGeom prst="rect">
            <a:avLst/>
          </a:prstGeom>
        </p:spPr>
      </p:pic>
      <p:pic>
        <p:nvPicPr>
          <p:cNvPr id="14" name="Image 4" descr="320b66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868662"/>
            <a:ext cx="295275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34125" y="3378875"/>
            <a:ext cx="2286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N2: Especialización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286500" y="4190137"/>
            <a:ext cx="2630835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Gestión de incidencias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mayor complejidad técnica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diagnóstico profundo.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7239000" y="263053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18" name="Image 5" descr="-5e4a18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3180" y="2770993"/>
            <a:ext cx="276225" cy="200025"/>
          </a:xfrm>
          <a:prstGeom prst="rect">
            <a:avLst/>
          </a:prstGeom>
        </p:spPr>
      </p:pic>
      <p:pic>
        <p:nvPicPr>
          <p:cNvPr id="19" name="Image 6" descr="6f8889e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2868662"/>
            <a:ext cx="295275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096375" y="3378875"/>
            <a:ext cx="228600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N3: Soporte Experto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9048750" y="4190137"/>
            <a:ext cx="2571750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Nivel máximo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escalabilidad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problemas críticos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desarrollo de arquitectura.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10001250" y="263053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3" name="Image 7" descr="56dbff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2173" y="2740296"/>
            <a:ext cx="238125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Catálogo Modular de Servicios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Arquitectura de Servicio Integral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11239500" cy="69373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4517306" y="1970584"/>
            <a:ext cx="3157389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Arquitectura de Servicio Integral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532063"/>
            <a:ext cx="3683000" cy="3849688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746125" y="3450779"/>
            <a:ext cx="314325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1284"/>
              </a:spcBef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Base Operativa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5414" y="3775373"/>
            <a:ext cx="3324671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  <a:spcBef>
                <a:spcPts val="643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Infraestructura fundamental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 centrales de soporte que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garantizan la estabilidad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continuidad del negocio.</a:t>
            </a:r>
            <a:endParaRPr lang="en-US" dirty="0"/>
          </a:p>
        </p:txBody>
      </p:sp>
      <p:pic>
        <p:nvPicPr>
          <p:cNvPr id="9" name="Image 0" descr="-51c048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688" y="2856604"/>
            <a:ext cx="342900" cy="381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254500" y="2532063"/>
            <a:ext cx="3683000" cy="3849688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4438650" y="3450779"/>
            <a:ext cx="331470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1284"/>
              </a:spcBef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Capacidades Gen Next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339218" y="3775373"/>
            <a:ext cx="3513564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  <a:spcBef>
                <a:spcPts val="643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Innovación tecnológica y soluciones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próxima generación con enfoque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IA, automatización y escalabilidad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futura.</a:t>
            </a:r>
            <a:endParaRPr lang="en-US" dirty="0"/>
          </a:p>
        </p:txBody>
      </p:sp>
      <p:pic>
        <p:nvPicPr>
          <p:cNvPr id="13" name="Image 1" descr="7a1d5e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932" y="2851030"/>
            <a:ext cx="400050" cy="4000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32750" y="2532063"/>
            <a:ext cx="3683000" cy="3849688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8212138" y="3450779"/>
            <a:ext cx="3324225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1284"/>
              </a:spcBef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Servicios Inmersos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110964" y="3775373"/>
            <a:ext cx="3526572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  <a:spcBef>
                <a:spcPts val="643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Funcionalidades integradas de forma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nativa en la experiencia operativa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optimizar flujos de trabajo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mediante integración profunda.</a:t>
            </a:r>
            <a:endParaRPr lang="en-US" dirty="0"/>
          </a:p>
        </p:txBody>
      </p:sp>
      <p:pic>
        <p:nvPicPr>
          <p:cNvPr id="17" name="Image 2" descr="5fb69d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231" y="2867772"/>
            <a:ext cx="400050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 de Soporte por Niveles (Shift-Left)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Estructura de resolución de incidencias</a:t>
            </a:r>
            <a:endParaRPr lang="en-US" dirty="0"/>
          </a:p>
        </p:txBody>
      </p:sp>
      <p:pic>
        <p:nvPicPr>
          <p:cNvPr id="4" name="Image 0" descr="-5f8957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765822"/>
            <a:ext cx="2952750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292673"/>
            <a:ext cx="257175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0: Autoservicio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087267"/>
            <a:ext cx="257175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Portales de usuario, bases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conocimientos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automatizadas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resolución inmediata.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714500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-1c383b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005" y="2684897"/>
            <a:ext cx="228600" cy="161925"/>
          </a:xfrm>
          <a:prstGeom prst="rect">
            <a:avLst/>
          </a:prstGeom>
        </p:spPr>
      </p:pic>
      <p:pic>
        <p:nvPicPr>
          <p:cNvPr id="9" name="Image 2" descr="-e2455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2765822"/>
            <a:ext cx="2952750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71875" y="3292673"/>
            <a:ext cx="2286000" cy="22383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1: Service Desk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524250" y="4087267"/>
            <a:ext cx="2571750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Primer punto de contacto,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resolución de incidencias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comunes y 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solicitudes simples.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4476750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6E99"/>
            </a:solidFill>
            <a:prstDash val="solid"/>
            <a:miter lim="800000"/>
          </a:ln>
        </p:spPr>
      </p:sp>
      <p:pic>
        <p:nvPicPr>
          <p:cNvPr id="13" name="Image 3" descr="-30aa751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204" y="2648621"/>
            <a:ext cx="200025" cy="238125"/>
          </a:xfrm>
          <a:prstGeom prst="rect">
            <a:avLst/>
          </a:prstGeom>
        </p:spPr>
      </p:pic>
      <p:pic>
        <p:nvPicPr>
          <p:cNvPr id="14" name="Image 4" descr="320b66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0" y="2765822"/>
            <a:ext cx="2952750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334125" y="3183136"/>
            <a:ext cx="2286000" cy="447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2: Soporte Técnico</a:t>
            </a:r>
            <a:b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Especializado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6286500" y="4087267"/>
            <a:ext cx="2571750" cy="130299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Análisis profundo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resolución de problemas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técnicos que requieren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mayor conocimiento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técnico.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7239000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5172"/>
            </a:solidFill>
            <a:prstDash val="solid"/>
            <a:miter lim="800000"/>
          </a:ln>
        </p:spPr>
      </p:sp>
      <p:pic>
        <p:nvPicPr>
          <p:cNvPr id="18" name="Image 5" descr="14cceba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3874" y="2682107"/>
            <a:ext cx="209550" cy="161925"/>
          </a:xfrm>
          <a:prstGeom prst="rect">
            <a:avLst/>
          </a:prstGeom>
        </p:spPr>
      </p:pic>
      <p:pic>
        <p:nvPicPr>
          <p:cNvPr id="19" name="Image 6" descr="6f8889e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2765822"/>
            <a:ext cx="2952750" cy="119062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096375" y="3183136"/>
            <a:ext cx="2286000" cy="44767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763"/>
              </a:lnSpc>
            </a:pP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3: Ingeniería /</a:t>
            </a:r>
            <a:b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530" spc="-92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Proveedores</a:t>
            </a:r>
            <a:endParaRPr lang="en-US" dirty="0"/>
          </a:p>
        </p:txBody>
      </p:sp>
      <p:sp>
        <p:nvSpPr>
          <p:cNvPr id="21" name="Text 12"/>
          <p:cNvSpPr/>
          <p:nvPr/>
        </p:nvSpPr>
        <p:spPr>
          <a:xfrm>
            <a:off x="9048750" y="4087267"/>
            <a:ext cx="2674739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Expertos en la materia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terceros externos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problemas críticos o de alta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complejidad.</a:t>
            </a:r>
            <a:endParaRPr lang="en-US" dirty="0"/>
          </a:p>
        </p:txBody>
      </p:sp>
      <p:sp>
        <p:nvSpPr>
          <p:cNvPr id="22" name="Shape 13"/>
          <p:cNvSpPr/>
          <p:nvPr/>
        </p:nvSpPr>
        <p:spPr>
          <a:xfrm>
            <a:off x="10001250" y="252769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23" name="Image 7" descr="1b55d1a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7744" y="2623502"/>
            <a:ext cx="20002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Stack Tecnológico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Arquitectura y capas fundamentales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11239500" cy="69373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4383509" y="1970584"/>
            <a:ext cx="3424982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Arquitectura del Ecosistema Digital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2532063"/>
            <a:ext cx="2171700" cy="3060700"/>
          </a:xfrm>
          <a:prstGeom prst="rect">
            <a:avLst/>
          </a:prstGeom>
          <a:solidFill>
            <a:srgbClr val="FEC088"/>
          </a:solidFill>
          <a:ln>
            <a:miter lim="800000"/>
          </a:ln>
        </p:spPr>
      </p:sp>
      <p:sp>
        <p:nvSpPr>
          <p:cNvPr id="7" name="Text 5"/>
          <p:cNvSpPr/>
          <p:nvPr/>
        </p:nvSpPr>
        <p:spPr>
          <a:xfrm>
            <a:off x="814388" y="3450779"/>
            <a:ext cx="1495425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1284"/>
              </a:spcBef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Canales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5622" y="3775373"/>
            <a:ext cx="1512957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  <a:spcBef>
                <a:spcPts val="643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Puntos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interacción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experiencia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usuario.</a:t>
            </a:r>
            <a:endParaRPr lang="en-US" dirty="0"/>
          </a:p>
        </p:txBody>
      </p:sp>
      <p:pic>
        <p:nvPicPr>
          <p:cNvPr id="9" name="Image 0" descr="31ef1d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600" y="2839863"/>
            <a:ext cx="409575" cy="40957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0" y="2532063"/>
            <a:ext cx="2171700" cy="3060700"/>
          </a:xfrm>
          <a:prstGeom prst="rect">
            <a:avLst/>
          </a:prstGeom>
          <a:solidFill>
            <a:srgbClr val="FD864D"/>
          </a:solidFill>
          <a:ln>
            <a:miter lim="800000"/>
          </a:ln>
        </p:spPr>
      </p:sp>
      <p:sp>
        <p:nvSpPr>
          <p:cNvPr id="11" name="Text 8"/>
          <p:cNvSpPr/>
          <p:nvPr/>
        </p:nvSpPr>
        <p:spPr>
          <a:xfrm>
            <a:off x="2886075" y="3450779"/>
            <a:ext cx="188595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1284"/>
              </a:spcBef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ITSM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856220" y="3775373"/>
            <a:ext cx="1945660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  <a:spcBef>
                <a:spcPts val="643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servicios de TI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eficiencia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operativa.</a:t>
            </a:r>
            <a:endParaRPr lang="en-US" dirty="0"/>
          </a:p>
        </p:txBody>
      </p:sp>
      <p:pic>
        <p:nvPicPr>
          <p:cNvPr id="13" name="Image 1" descr="413537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483" y="2873352"/>
            <a:ext cx="466725" cy="3429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10150" y="2532063"/>
            <a:ext cx="2171700" cy="3060700"/>
          </a:xfrm>
          <a:prstGeom prst="rect">
            <a:avLst/>
          </a:prstGeom>
          <a:solidFill>
            <a:srgbClr val="FF8000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5191125" y="3450779"/>
            <a:ext cx="180975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1284"/>
              </a:spcBef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IA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166717" y="3775373"/>
            <a:ext cx="1858566" cy="104239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2052"/>
              </a:lnSpc>
              <a:spcBef>
                <a:spcPts val="643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inteligencia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automatización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procesos.</a:t>
            </a:r>
            <a:endParaRPr lang="en-US" dirty="0"/>
          </a:p>
        </p:txBody>
      </p:sp>
      <p:pic>
        <p:nvPicPr>
          <p:cNvPr id="17" name="Image 2" descr="482e71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3919" y="2834282"/>
            <a:ext cx="428625" cy="42862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277100" y="2532063"/>
            <a:ext cx="2171700" cy="3060700"/>
          </a:xfrm>
          <a:prstGeom prst="rect">
            <a:avLst/>
          </a:prstGeom>
          <a:solidFill>
            <a:srgbClr val="FF797A"/>
          </a:solidFill>
          <a:ln>
            <a:miter lim="800000"/>
          </a:ln>
        </p:spPr>
      </p:sp>
      <p:sp>
        <p:nvSpPr>
          <p:cNvPr id="19" name="Text 14"/>
          <p:cNvSpPr/>
          <p:nvPr/>
        </p:nvSpPr>
        <p:spPr>
          <a:xfrm>
            <a:off x="7458075" y="3418780"/>
            <a:ext cx="180975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  <a:spcBef>
                <a:spcPts val="1220"/>
              </a:spcBef>
            </a:pPr>
            <a:r>
              <a:rPr lang="en-US" sz="1567" spc="-9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Gobierno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433146" y="3727152"/>
            <a:ext cx="1859607" cy="7425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49"/>
              </a:lnSpc>
              <a:spcBef>
                <a:spcPts val="611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Marcos de políticas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control de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cumplimiento.</a:t>
            </a:r>
            <a:endParaRPr lang="en-US" dirty="0"/>
          </a:p>
        </p:txBody>
      </p:sp>
      <p:pic>
        <p:nvPicPr>
          <p:cNvPr id="21" name="Image 3" descr="76f60f6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2685" y="2822376"/>
            <a:ext cx="361950" cy="42862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544050" y="2532063"/>
            <a:ext cx="2171700" cy="3060700"/>
          </a:xfrm>
          <a:prstGeom prst="rect">
            <a:avLst/>
          </a:prstGeom>
          <a:solidFill>
            <a:srgbClr val="FFD9AD"/>
          </a:solidFill>
          <a:ln>
            <a:miter lim="800000"/>
          </a:ln>
        </p:spPr>
      </p:sp>
      <p:sp>
        <p:nvSpPr>
          <p:cNvPr id="23" name="Text 17"/>
          <p:cNvSpPr/>
          <p:nvPr/>
        </p:nvSpPr>
        <p:spPr>
          <a:xfrm>
            <a:off x="9725025" y="3418780"/>
            <a:ext cx="1809750" cy="22934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06"/>
              </a:lnSpc>
              <a:spcBef>
                <a:spcPts val="1220"/>
              </a:spcBef>
            </a:pPr>
            <a:r>
              <a:rPr lang="en-US" sz="1567" spc="-94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Seguridad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9698310" y="3727152"/>
            <a:ext cx="1863179" cy="7425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49"/>
              </a:lnSpc>
              <a:spcBef>
                <a:spcPts val="611"/>
              </a:spcBef>
            </a:pP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Protección de la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integridad y activos</a:t>
            </a:r>
            <a:b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425" spc="-29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información.</a:t>
            </a:r>
            <a:endParaRPr lang="en-US" dirty="0"/>
          </a:p>
        </p:txBody>
      </p:sp>
      <p:pic>
        <p:nvPicPr>
          <p:cNvPr id="25" name="Image 4" descr="-30d919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0841" y="2817073"/>
            <a:ext cx="323850" cy="43815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6250" y="5688013"/>
            <a:ext cx="11239500" cy="693738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27" name="Text 20"/>
          <p:cNvSpPr/>
          <p:nvPr/>
        </p:nvSpPr>
        <p:spPr>
          <a:xfrm>
            <a:off x="3843844" y="5924302"/>
            <a:ext cx="450431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728"/>
              </a:lnSpc>
            </a:pPr>
            <a:r>
              <a:rPr lang="en-US" sz="1500" spc="-90" kern="0" dirty="0">
                <a:solidFill>
                  <a:srgbClr val="000000">
                    <a:alpha val="55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INFRAESTRUCTURA TECNOLÓGICA INTEGRADA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Gobierno Operativo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Estructura de gestión y sincronización</a:t>
            </a:r>
            <a:endParaRPr lang="en-US" dirty="0"/>
          </a:p>
        </p:txBody>
      </p:sp>
      <p:pic>
        <p:nvPicPr>
          <p:cNvPr id="4" name="Image 0" descr="472c3e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3078212"/>
            <a:ext cx="3876675" cy="1190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875" y="3588425"/>
            <a:ext cx="3492401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Diario: Stand-up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2000" y="4399687"/>
            <a:ext cx="3492401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Sincronización rápida y gestión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bloqueos operativos.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174825" y="28400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08ECD"/>
            </a:solidFill>
            <a:prstDash val="solid"/>
            <a:miter lim="800000"/>
          </a:ln>
        </p:spPr>
      </p:sp>
      <p:pic>
        <p:nvPicPr>
          <p:cNvPr id="8" name="Image 1" descr="-2ca8955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71" y="2997286"/>
            <a:ext cx="190500" cy="161925"/>
          </a:xfrm>
          <a:prstGeom prst="rect">
            <a:avLst/>
          </a:prstGeom>
        </p:spPr>
      </p:pic>
      <p:pic>
        <p:nvPicPr>
          <p:cNvPr id="9" name="Image 2" descr="-6f0fad5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151" y="3078212"/>
            <a:ext cx="3876675" cy="11906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92625" y="3588425"/>
            <a:ext cx="3206651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Semanal: SLA / XLA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4445000" y="4399687"/>
            <a:ext cx="3492401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Análisis de niveles de servicio y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experiencia del usuario.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5857726" y="28400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46086"/>
            </a:solidFill>
            <a:prstDash val="solid"/>
            <a:miter lim="800000"/>
          </a:ln>
        </p:spPr>
      </p:sp>
      <p:pic>
        <p:nvPicPr>
          <p:cNvPr id="13" name="Image 3" descr="-38c1a09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973" y="2997286"/>
            <a:ext cx="190500" cy="161925"/>
          </a:xfrm>
          <a:prstGeom prst="rect">
            <a:avLst/>
          </a:prstGeom>
        </p:spPr>
      </p:pic>
      <p:pic>
        <p:nvPicPr>
          <p:cNvPr id="14" name="Image 4" descr="-73498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200" y="3078212"/>
            <a:ext cx="3876675" cy="11906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75625" y="3588425"/>
            <a:ext cx="3206651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Mensual: Service Review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8128000" y="4399687"/>
            <a:ext cx="3673167" cy="52119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052"/>
              </a:lnSpc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Evaluación de desempeño, tendencias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mejora continua.</a:t>
            </a:r>
            <a:endParaRPr lang="en-US" dirty="0"/>
          </a:p>
        </p:txBody>
      </p:sp>
      <p:sp>
        <p:nvSpPr>
          <p:cNvPr id="17" name="Shape 10"/>
          <p:cNvSpPr/>
          <p:nvPr/>
        </p:nvSpPr>
        <p:spPr>
          <a:xfrm>
            <a:off x="9540776" y="2840087"/>
            <a:ext cx="476250" cy="476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54A"/>
            </a:solidFill>
            <a:prstDash val="solid"/>
            <a:miter lim="800000"/>
          </a:ln>
        </p:spPr>
      </p:sp>
      <p:pic>
        <p:nvPicPr>
          <p:cNvPr id="18" name="Image 5" descr="2f0a87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7975" y="2969383"/>
            <a:ext cx="1619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Métricas del Servicio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Tablero Integral de Gestión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43075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pic>
        <p:nvPicPr>
          <p:cNvPr id="5" name="Image 0" descr="-44284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76450"/>
            <a:ext cx="5738813" cy="1914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6750" y="1894433"/>
            <a:ext cx="545306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Operación: Eficiencia y Disponibilidad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6250" y="4133850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8" name="Text 5"/>
          <p:cNvSpPr/>
          <p:nvPr/>
        </p:nvSpPr>
        <p:spPr>
          <a:xfrm>
            <a:off x="762000" y="4662488"/>
            <a:ext cx="1922472" cy="10715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8438"/>
              </a:lnSpc>
            </a:pPr>
            <a:r>
              <a:rPr lang="en-US" sz="9375" spc="-46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4.8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66750" y="6009233"/>
            <a:ext cx="628650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>
                    <a:alpha val="8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/ 5.0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4285208"/>
            <a:ext cx="545306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Experiencia (CSAT)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67438" y="1743075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pic>
        <p:nvPicPr>
          <p:cNvPr id="12" name="Image 1" descr="36abc5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456" y="2266950"/>
            <a:ext cx="1447800" cy="1447800"/>
          </a:xfrm>
          <a:prstGeom prst="rect">
            <a:avLst/>
          </a:prstGeom>
        </p:spPr>
      </p:pic>
      <p:pic>
        <p:nvPicPr>
          <p:cNvPr id="13" name="Image 2" descr="32bc89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482" y="2266950"/>
            <a:ext cx="1447800" cy="1447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39150" y="2793653"/>
            <a:ext cx="1004888" cy="3839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3024"/>
              </a:lnSpc>
            </a:pPr>
            <a:r>
              <a:rPr lang="en-US" sz="2625" spc="-158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85%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357938" y="1894433"/>
            <a:ext cx="545306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Economía: Rentabilidad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6167438" y="4133850"/>
            <a:ext cx="5548313" cy="2247900"/>
          </a:xfrm>
          <a:prstGeom prst="rect">
            <a:avLst/>
          </a:prstGeom>
          <a:solidFill>
            <a:srgbClr val="222222"/>
          </a:solidFill>
          <a:ln>
            <a:miter lim="800000"/>
          </a:ln>
        </p:spPr>
      </p:sp>
      <p:sp>
        <p:nvSpPr>
          <p:cNvPr id="17" name="Text 12"/>
          <p:cNvSpPr/>
          <p:nvPr/>
        </p:nvSpPr>
        <p:spPr>
          <a:xfrm>
            <a:off x="6407944" y="4683472"/>
            <a:ext cx="506730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Evolución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225570" y="5290691"/>
            <a:ext cx="5432048" cy="48279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901"/>
              </a:lnSpc>
              <a:spcBef>
                <a:spcPts val="453"/>
              </a:spcBef>
            </a:pP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Nivel de madurez tecnológica y capacidad de innovación</a:t>
            </a:r>
            <a:b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50" spc="-99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 constante crecimiento.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Roadmap de Adopción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Cronograma de 90 días</a:t>
            </a:r>
            <a:endParaRPr lang="en-US" dirty="0"/>
          </a:p>
        </p:txBody>
      </p:sp>
      <p:pic>
        <p:nvPicPr>
          <p:cNvPr id="4" name="Image 0" descr="-7e0fef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47913"/>
            <a:ext cx="12192000" cy="3905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14725" y="4438650"/>
            <a:ext cx="1809750" cy="186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Días 1-20: Diagnóstico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514725" y="4709666"/>
            <a:ext cx="1809750" cy="531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Evaluación del estado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actual y detección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brechas.</a:t>
            </a:r>
            <a:endParaRPr lang="en-US" dirty="0"/>
          </a:p>
        </p:txBody>
      </p:sp>
      <p:pic>
        <p:nvPicPr>
          <p:cNvPr id="7" name="Image 1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4519613"/>
            <a:ext cx="1905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62625" y="2447925"/>
            <a:ext cx="1809750" cy="186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Días 21-40: Diseño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762625" y="2718941"/>
            <a:ext cx="1810643" cy="3542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Definición de la estrategia,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flujos de trabajo y KPIs.</a:t>
            </a:r>
            <a:endParaRPr lang="en-US" dirty="0"/>
          </a:p>
        </p:txBody>
      </p:sp>
      <p:pic>
        <p:nvPicPr>
          <p:cNvPr id="10" name="Image 2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5" y="3033713"/>
            <a:ext cx="1905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77000" y="4257675"/>
            <a:ext cx="1809750" cy="37296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Días 41-75:</a:t>
            </a:r>
            <a:b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Implementación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477000" y="4715173"/>
            <a:ext cx="1809750" cy="53131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Ejecución, despliegue de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y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capacitación.</a:t>
            </a:r>
            <a:endParaRPr lang="en-US" dirty="0"/>
          </a:p>
        </p:txBody>
      </p:sp>
      <p:pic>
        <p:nvPicPr>
          <p:cNvPr id="13" name="Image 3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5500688"/>
            <a:ext cx="190500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86875" y="3981450"/>
            <a:ext cx="1809750" cy="18648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469"/>
              </a:lnSpc>
            </a:pPr>
            <a:r>
              <a:rPr lang="en-US" sz="1275" spc="-7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Días 76-90: Evolución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9286875" y="4252466"/>
            <a:ext cx="1836093" cy="35421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395"/>
              </a:lnSpc>
              <a:spcBef>
                <a:spcPts val="653"/>
              </a:spcBef>
            </a:pP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Seguimiento de resultados</a:t>
            </a:r>
            <a:b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020" spc="-2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mejora continua.</a:t>
            </a:r>
            <a:endParaRPr lang="en-US" dirty="0"/>
          </a:p>
        </p:txBody>
      </p:sp>
      <p:pic>
        <p:nvPicPr>
          <p:cNvPr id="16" name="Image 4" descr="-55db58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4052888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22AAEE"/>
          </a:solidFill>
          <a:ln>
            <a:miter lim="800000"/>
          </a:ln>
        </p:spPr>
      </p:sp>
      <p:sp>
        <p:nvSpPr>
          <p:cNvPr id="3" name="Text 1"/>
          <p:cNvSpPr/>
          <p:nvPr/>
        </p:nvSpPr>
        <p:spPr>
          <a:xfrm>
            <a:off x="476250" y="2245072"/>
            <a:ext cx="2884527" cy="1645741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Diagrama de</a:t>
            </a:r>
            <a:b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Alto Nivel:</a:t>
            </a:r>
            <a:b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 Next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4003030"/>
            <a:ext cx="3301008" cy="57328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l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Modelos de servicio adaptados</a:t>
            </a:r>
            <a:b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infraestructura y agilidad</a:t>
            </a:r>
            <a:endParaRPr lang="en-US" dirty="0"/>
          </a:p>
        </p:txBody>
      </p:sp>
      <p:pic>
        <p:nvPicPr>
          <p:cNvPr id="5" name="Image 0" descr="710556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8124" y="2516124"/>
            <a:ext cx="314325" cy="314325"/>
          </a:xfrm>
          <a:prstGeom prst="rect">
            <a:avLst/>
          </a:prstGeom>
        </p:spPr>
      </p:pic>
      <p:pic>
        <p:nvPicPr>
          <p:cNvPr id="6" name="Image 1" descr="-3fd2935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918" y="2772918"/>
            <a:ext cx="123825" cy="123825"/>
          </a:xfrm>
          <a:prstGeom prst="rect">
            <a:avLst/>
          </a:prstGeom>
        </p:spPr>
      </p:pic>
      <p:pic>
        <p:nvPicPr>
          <p:cNvPr id="7" name="Image 2" descr="593210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408" y="2516124"/>
            <a:ext cx="314325" cy="314325"/>
          </a:xfrm>
          <a:prstGeom prst="rect">
            <a:avLst/>
          </a:prstGeom>
        </p:spPr>
      </p:pic>
      <p:pic>
        <p:nvPicPr>
          <p:cNvPr id="8" name="Image 3" descr="-3d415e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067" y="2772918"/>
            <a:ext cx="123825" cy="123825"/>
          </a:xfrm>
          <a:prstGeom prst="rect">
            <a:avLst/>
          </a:prstGeom>
        </p:spPr>
      </p:pic>
      <p:pic>
        <p:nvPicPr>
          <p:cNvPr id="9" name="Image 4" descr="710556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408" y="4032409"/>
            <a:ext cx="314325" cy="314325"/>
          </a:xfrm>
          <a:prstGeom prst="rect">
            <a:avLst/>
          </a:prstGeom>
        </p:spPr>
      </p:pic>
      <p:pic>
        <p:nvPicPr>
          <p:cNvPr id="10" name="Image 5" descr="-11ea5e1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067" y="3965067"/>
            <a:ext cx="123825" cy="123825"/>
          </a:xfrm>
          <a:prstGeom prst="rect">
            <a:avLst/>
          </a:prstGeom>
        </p:spPr>
      </p:pic>
      <p:pic>
        <p:nvPicPr>
          <p:cNvPr id="11" name="Image 6" descr="593210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124" y="4032409"/>
            <a:ext cx="314325" cy="314325"/>
          </a:xfrm>
          <a:prstGeom prst="rect">
            <a:avLst/>
          </a:prstGeom>
        </p:spPr>
      </p:pic>
      <p:pic>
        <p:nvPicPr>
          <p:cNvPr id="12" name="Image 7" descr="3aad8e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4918" y="3965067"/>
            <a:ext cx="123825" cy="123825"/>
          </a:xfrm>
          <a:prstGeom prst="rect">
            <a:avLst/>
          </a:prstGeom>
        </p:spPr>
      </p:pic>
      <p:pic>
        <p:nvPicPr>
          <p:cNvPr id="13" name="Image 8" descr="260f002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0" y="2762250"/>
            <a:ext cx="1333500" cy="1333500"/>
          </a:xfrm>
          <a:prstGeom prst="rect">
            <a:avLst/>
          </a:prstGeom>
        </p:spPr>
      </p:pic>
      <p:sp>
        <p:nvSpPr>
          <p:cNvPr id="14" name="Text 3"/>
          <p:cNvSpPr/>
          <p:nvPr/>
        </p:nvSpPr>
        <p:spPr>
          <a:xfrm>
            <a:off x="7381875" y="3191470"/>
            <a:ext cx="1238250" cy="47386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1866"/>
              </a:lnSpc>
            </a:pPr>
            <a:r>
              <a:rPr lang="en-US" sz="1620" spc="-9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Gen Next</a:t>
            </a:r>
            <a:br>
              <a:rPr lang="en-US" sz="1620" spc="-9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1620" spc="-97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Ecosystem</a:t>
            </a:r>
            <a:endParaRPr lang="en-US" dirty="0"/>
          </a:p>
        </p:txBody>
      </p:sp>
      <p:sp>
        <p:nvSpPr>
          <p:cNvPr id="15" name="Text 4"/>
          <p:cNvSpPr/>
          <p:nvPr/>
        </p:nvSpPr>
        <p:spPr>
          <a:xfrm>
            <a:off x="5449808" y="1316553"/>
            <a:ext cx="199072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Dedicado</a:t>
            </a:r>
            <a:endParaRPr lang="en-US" dirty="0"/>
          </a:p>
        </p:txBody>
      </p:sp>
      <p:sp>
        <p:nvSpPr>
          <p:cNvPr id="16" name="Text 5"/>
          <p:cNvSpPr/>
          <p:nvPr/>
        </p:nvSpPr>
        <p:spPr>
          <a:xfrm>
            <a:off x="5417170" y="1658709"/>
            <a:ext cx="2056001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Recursos exclusivos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máxima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estabilidad y control.</a:t>
            </a:r>
            <a:endParaRPr lang="en-US" dirty="0"/>
          </a:p>
        </p:txBody>
      </p:sp>
      <p:sp>
        <p:nvSpPr>
          <p:cNvPr id="17" name="Text 6"/>
          <p:cNvSpPr/>
          <p:nvPr/>
        </p:nvSpPr>
        <p:spPr>
          <a:xfrm>
            <a:off x="8537654" y="1316553"/>
            <a:ext cx="2038350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Compartido</a:t>
            </a:r>
            <a:endParaRPr lang="en-US" dirty="0"/>
          </a:p>
        </p:txBody>
      </p:sp>
      <p:sp>
        <p:nvSpPr>
          <p:cNvPr id="18" name="Text 7"/>
          <p:cNvSpPr/>
          <p:nvPr/>
        </p:nvSpPr>
        <p:spPr>
          <a:xfrm>
            <a:off x="8499956" y="1658709"/>
            <a:ext cx="2113746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Modelo eficiente que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 la utilización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 activos.</a:t>
            </a:r>
            <a:endParaRPr lang="en-US" dirty="0"/>
          </a:p>
        </p:txBody>
      </p:sp>
      <p:sp>
        <p:nvSpPr>
          <p:cNvPr id="19" name="Text 8"/>
          <p:cNvSpPr/>
          <p:nvPr/>
        </p:nvSpPr>
        <p:spPr>
          <a:xfrm>
            <a:off x="8551942" y="4428212"/>
            <a:ext cx="20097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Express Alfa</a:t>
            </a:r>
            <a:endParaRPr lang="en-US" dirty="0"/>
          </a:p>
        </p:txBody>
      </p:sp>
      <p:sp>
        <p:nvSpPr>
          <p:cNvPr id="20" name="Text 9"/>
          <p:cNvSpPr/>
          <p:nvPr/>
        </p:nvSpPr>
        <p:spPr>
          <a:xfrm>
            <a:off x="8515821" y="4770368"/>
            <a:ext cx="2082016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Solución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despliegue ágil para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respuesta inmediata.</a:t>
            </a:r>
            <a:endParaRPr lang="en-US" dirty="0"/>
          </a:p>
        </p:txBody>
      </p:sp>
      <p:sp>
        <p:nvSpPr>
          <p:cNvPr id="21" name="Text 10"/>
          <p:cNvSpPr/>
          <p:nvPr/>
        </p:nvSpPr>
        <p:spPr>
          <a:xfrm>
            <a:off x="5383133" y="4428212"/>
            <a:ext cx="2124075" cy="263277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74"/>
              </a:lnSpc>
            </a:pPr>
            <a:r>
              <a:rPr lang="en-US" sz="1800" spc="-108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Full Gen Next</a:t>
            </a:r>
            <a:endParaRPr lang="en-US" dirty="0"/>
          </a:p>
        </p:txBody>
      </p:sp>
      <p:sp>
        <p:nvSpPr>
          <p:cNvPr id="22" name="Text 11"/>
          <p:cNvSpPr/>
          <p:nvPr/>
        </p:nvSpPr>
        <p:spPr>
          <a:xfrm>
            <a:off x="5343307" y="4770368"/>
            <a:ext cx="2203728" cy="78179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52"/>
              </a:lnSpc>
              <a:spcBef>
                <a:spcPts val="610"/>
              </a:spcBef>
            </a:pP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Integración integral de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todas las capacidades</a:t>
            </a:r>
            <a:b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500" spc="-30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 servicios.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78172"/>
            <a:ext cx="11525250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Modelos de Precio: De FTE a Outcomes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8969"/>
            <a:ext cx="11525250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57"/>
              </a:lnSpc>
              <a:spcBef>
                <a:spcPts val="867"/>
              </a:spcBef>
            </a:pPr>
            <a:r>
              <a:rPr lang="en-US" sz="1650" spc="-33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Evolución hacia un modelo basado en el valor</a:t>
            </a:r>
            <a:endParaRPr lang="en-US" dirty="0"/>
          </a:p>
        </p:txBody>
      </p:sp>
      <p:pic>
        <p:nvPicPr>
          <p:cNvPr id="4" name="Image 0" descr="75ad58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284" y="1743075"/>
            <a:ext cx="2085975" cy="1485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89020" y="1752600"/>
            <a:ext cx="6932295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6" name="Text 3"/>
          <p:cNvSpPr/>
          <p:nvPr/>
        </p:nvSpPr>
        <p:spPr>
          <a:xfrm>
            <a:off x="2315039" y="2216497"/>
            <a:ext cx="1604963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489156" y="2218283"/>
            <a:ext cx="6175028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Pago por FTE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489156" y="2531120"/>
            <a:ext cx="6213440" cy="234404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basado en el esfuerzo, tiempo y capacidad dedicada al proyecto.</a:t>
            </a:r>
            <a:endParaRPr lang="en-US" dirty="0"/>
          </a:p>
        </p:txBody>
      </p:sp>
      <p:pic>
        <p:nvPicPr>
          <p:cNvPr id="9" name="Image 1" descr="042b062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19" y="3286125"/>
            <a:ext cx="3657600" cy="14859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75785" y="3257550"/>
            <a:ext cx="6145530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11" name="Text 7"/>
          <p:cNvSpPr/>
          <p:nvPr/>
        </p:nvSpPr>
        <p:spPr>
          <a:xfrm>
            <a:off x="1528274" y="3759547"/>
            <a:ext cx="3178373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275921" y="3647033"/>
            <a:ext cx="5388173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Pago por Ticket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275921" y="3959870"/>
            <a:ext cx="5388173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operativo basado en el volumen de transacciones o</a:t>
            </a:r>
            <a:b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incidentes resueltos.</a:t>
            </a:r>
            <a:endParaRPr lang="en-US" dirty="0"/>
          </a:p>
        </p:txBody>
      </p:sp>
      <p:pic>
        <p:nvPicPr>
          <p:cNvPr id="14" name="Image 2" descr="680d2f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54" y="4829175"/>
            <a:ext cx="5229225" cy="14859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162550" y="4800600"/>
            <a:ext cx="5358765" cy="0"/>
          </a:xfrm>
          <a:prstGeom prst="line">
            <a:avLst/>
          </a:prstGeom>
          <a:noFill/>
          <a:ln w="12700">
            <a:solidFill>
              <a:srgbClr val="000000">
                <a:alpha val="30000"/>
              </a:srgbClr>
            </a:solidFill>
            <a:prstDash val="solid"/>
            <a:miter lim="800000"/>
          </a:ln>
        </p:spPr>
      </p:sp>
      <p:sp>
        <p:nvSpPr>
          <p:cNvPr id="16" name="Text 11"/>
          <p:cNvSpPr/>
          <p:nvPr/>
        </p:nvSpPr>
        <p:spPr>
          <a:xfrm>
            <a:off x="741509" y="5302597"/>
            <a:ext cx="4751933" cy="548580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4320"/>
              </a:lnSpc>
            </a:pPr>
            <a:r>
              <a:rPr lang="en-US" sz="3750" spc="-225" kern="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062686" y="5190083"/>
            <a:ext cx="4601468" cy="2193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8"/>
              </a:lnSpc>
            </a:pPr>
            <a:r>
              <a:rPr lang="en-US" sz="1500" spc="-90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Pago por Outcome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6062686" y="5502920"/>
            <a:ext cx="4601468" cy="4688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47"/>
              </a:lnSpc>
              <a:spcBef>
                <a:spcPts val="722"/>
              </a:spcBef>
            </a:pP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Enfoque estratégico donde la remuneración está</a:t>
            </a:r>
            <a:b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</a:br>
            <a:r>
              <a:rPr lang="en-US" sz="1350" spc="-27" kern="0" dirty="0">
                <a:solidFill>
                  <a:srgbClr val="000000">
                    <a:alpha val="55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vinculada a resultados de negocio y KPIs definidos.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 office building in Medellin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0" y="1353443"/>
            <a:ext cx="5238750" cy="153590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6048"/>
              </a:lnSpc>
            </a:pPr>
            <a:r>
              <a:rPr lang="en-US" sz="5250" spc="-31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Oficina en</a:t>
            </a:r>
            <a:br>
              <a:rPr lang="en-US" sz="5250" spc="-31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</a:br>
            <a:r>
              <a:rPr lang="en-US" sz="5250" spc="-315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Medellín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667500" y="2990552"/>
            <a:ext cx="5238750" cy="24139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901"/>
              </a:lnSpc>
            </a:pPr>
            <a:r>
              <a:rPr lang="en-US" sz="1650" spc="-99" kern="0" dirty="0">
                <a:solidFill>
                  <a:srgbClr val="33333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[Insertar dirección física]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667500" y="3424238"/>
            <a:ext cx="342900" cy="3429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6" name="Image 1" descr="15a92d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637" y="3525366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53275" y="3453705"/>
            <a:ext cx="4752975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57"/>
              </a:lnSpc>
            </a:pPr>
            <a:r>
              <a:rPr lang="en-US" sz="1650" spc="-33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[Insertar número de contacto]</a:t>
            </a:r>
            <a:endParaRPr lang="en-US" dirty="0"/>
          </a:p>
        </p:txBody>
      </p:sp>
      <p:sp>
        <p:nvSpPr>
          <p:cNvPr id="8" name="Shape 4"/>
          <p:cNvSpPr/>
          <p:nvPr/>
        </p:nvSpPr>
        <p:spPr>
          <a:xfrm>
            <a:off x="6667500" y="3957638"/>
            <a:ext cx="342900" cy="3429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9" name="Image 2" descr="38c14b6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601" y="4052738"/>
            <a:ext cx="161925" cy="1619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53275" y="3987105"/>
            <a:ext cx="4752975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57"/>
              </a:lnSpc>
            </a:pPr>
            <a:r>
              <a:rPr lang="en-US" sz="1650" spc="-33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[Insertar correo electrónico]</a:t>
            </a:r>
            <a:endParaRPr lang="en-US" dirty="0"/>
          </a:p>
        </p:txBody>
      </p:sp>
      <p:sp>
        <p:nvSpPr>
          <p:cNvPr id="11" name="Shape 6"/>
          <p:cNvSpPr/>
          <p:nvPr/>
        </p:nvSpPr>
        <p:spPr>
          <a:xfrm>
            <a:off x="6667500" y="4491038"/>
            <a:ext cx="342900" cy="3429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12" name="Image 3" descr="294f96a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602" y="4588149"/>
            <a:ext cx="152400" cy="152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53275" y="4520505"/>
            <a:ext cx="4752975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57"/>
              </a:lnSpc>
            </a:pPr>
            <a:r>
              <a:rPr lang="en-US" sz="1650" spc="-33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[Insertar URL]</a:t>
            </a:r>
            <a:endParaRPr lang="en-US" dirty="0"/>
          </a:p>
        </p:txBody>
      </p:sp>
      <p:sp>
        <p:nvSpPr>
          <p:cNvPr id="14" name="Shape 8"/>
          <p:cNvSpPr/>
          <p:nvPr/>
        </p:nvSpPr>
        <p:spPr>
          <a:xfrm>
            <a:off x="6667500" y="5024438"/>
            <a:ext cx="342900" cy="342900"/>
          </a:xfrm>
          <a:prstGeom prst="ellipse">
            <a:avLst/>
          </a:prstGeom>
          <a:solidFill>
            <a:srgbClr val="22AAEE"/>
          </a:solidFill>
          <a:ln>
            <a:miter lim="800000"/>
          </a:ln>
        </p:spPr>
      </p:sp>
      <p:pic>
        <p:nvPicPr>
          <p:cNvPr id="15" name="Image 4" descr="2090d86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627" y="5125566"/>
            <a:ext cx="142875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53275" y="5053905"/>
            <a:ext cx="4752975" cy="28664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2257"/>
              </a:lnSpc>
            </a:pPr>
            <a:r>
              <a:rPr lang="en-US" sz="1650" spc="-33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@ejemplo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39ce5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</cp:revision>
  <dcterms:created xsi:type="dcterms:W3CDTF">2026-07-09T13:04:52Z</dcterms:created>
  <dcterms:modified xsi:type="dcterms:W3CDTF">2026-07-09T13:04:52Z</dcterms:modified>
</cp:coreProperties>
</file>