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48" r:id="rId2"/>
  </p:sldMasterIdLst>
  <p:notesMasterIdLst>
    <p:notesMasterId r:id="rId42"/>
  </p:notesMasterIdLst>
  <p:sldIdLst>
    <p:sldId id="257" r:id="rId3"/>
    <p:sldId id="260" r:id="rId4"/>
    <p:sldId id="256" r:id="rId5"/>
    <p:sldId id="309" r:id="rId6"/>
    <p:sldId id="262" r:id="rId7"/>
    <p:sldId id="310" r:id="rId8"/>
    <p:sldId id="285" r:id="rId9"/>
    <p:sldId id="287" r:id="rId10"/>
    <p:sldId id="308" r:id="rId11"/>
    <p:sldId id="313" r:id="rId12"/>
    <p:sldId id="299" r:id="rId13"/>
    <p:sldId id="300" r:id="rId14"/>
    <p:sldId id="314" r:id="rId15"/>
    <p:sldId id="315" r:id="rId16"/>
    <p:sldId id="301" r:id="rId17"/>
    <p:sldId id="302" r:id="rId18"/>
    <p:sldId id="316" r:id="rId19"/>
    <p:sldId id="317" r:id="rId20"/>
    <p:sldId id="311" r:id="rId21"/>
    <p:sldId id="312" r:id="rId22"/>
    <p:sldId id="319" r:id="rId23"/>
    <p:sldId id="288" r:id="rId24"/>
    <p:sldId id="289" r:id="rId25"/>
    <p:sldId id="293" r:id="rId26"/>
    <p:sldId id="303" r:id="rId27"/>
    <p:sldId id="271" r:id="rId28"/>
    <p:sldId id="304" r:id="rId29"/>
    <p:sldId id="306" r:id="rId30"/>
    <p:sldId id="318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307" r:id="rId39"/>
    <p:sldId id="267" r:id="rId40"/>
    <p:sldId id="268" r:id="rId41"/>
  </p:sldIdLst>
  <p:sldSz cx="9144000" cy="5143500" type="screen16x9"/>
  <p:notesSz cx="6858000" cy="9144000"/>
  <p:embeddedFontLst>
    <p:embeddedFont>
      <p:font typeface="Reddit Sans" panose="020B0604020202020204" charset="0"/>
      <p:regular r:id="rId43"/>
      <p:bold r:id="rId44"/>
      <p:italic r:id="rId45"/>
      <p:boldItalic r:id="rId46"/>
    </p:embeddedFont>
    <p:embeddedFont>
      <p:font typeface="Reddit Sans SemiBold" panose="020B060402020202020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jbXstnVTn4VoWkkWw8RkcDPqyO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9C7AEB-803E-58E8-3032-67EAC5529C77}" v="1406" dt="2026-07-08T21:07:31.329"/>
    <p1510:client id="{8CFE1048-07CD-42CF-A5E3-F35DEFEF98BF}" v="1632" dt="2026-07-08T20:34:32.701"/>
    <p1510:client id="{C5740E76-A8B1-842A-8097-940ADCC85B94}" v="225" dt="2026-07-07T22:26:35.199"/>
  </p1510:revLst>
</p1510:revInfo>
</file>

<file path=ppt/tableStyles.xml><?xml version="1.0" encoding="utf-8"?>
<a:tblStyleLst xmlns:a="http://schemas.openxmlformats.org/drawingml/2006/main" def="{1FEE7CD7-7DD5-4E0E-8F7E-406774204185}">
  <a:tblStyle styleId="{1FEE7CD7-7DD5-4E0E-8F7E-4067742041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5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customschemas.google.com/relationships/presentationmetadata" Target="meta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font" Target="fonts/font3.fntdata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2.fntdata"/><Relationship Id="rId60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4.fntdata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7.fntdata"/><Relationship Id="rId5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ck/a?!&amp;&amp;p=d500af2f30bdfc2fb481c268b42ccff364d8c6d896f51ecdfd16d3bf116eedcdJmltdHM9MTc4MzM4MjQwMA&amp;ptn=3&amp;ver=2&amp;hsh=4&amp;fclid=10d11685-cdd1-6520-1f35-0107cca364bf&amp;u=a1aHR0cHM6Ly9yZWd1bGFmb3JlbnNpY3MuY29tL2VzL2Jsb2cvc3dhcm1pbmctc3VwcG9ydC1tb2RlbC8&amp;ntb=1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ck/a?!&amp;&amp;p=d2dbf307e6b4f5b1804b834a3caf1d17ca1a38a0141c5178a37461f5d2a40923JmltdHM9MTc4MzM4MjQwMA&amp;ptn=3&amp;ver=2&amp;hsh=4&amp;fclid=10d11685-cdd1-6520-1f35-0107cca364bf&amp;u=a1aHR0cHM6Ly93d3cuZ2VuZXN5cy1nbG9iYWwuY29tL21vZGVsby1zaGlmdC1sZWZ0LXNvcG9ydGUtdGkv&amp;ntb=1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viaseo.info/peti/755MesadeServicios.html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linkedin.com/pulse/mesa-de-servicio-inteligente-c%C3%B3mo-la-inteligencia-artificial-est%C3%A1-sbj7e/" TargetMode="External"/><Relationship Id="rId4" Type="http://schemas.openxmlformats.org/officeDocument/2006/relationships/hyperlink" Target="https://www.manageengine.com/latam/service-desk/que-es-una-mesa-de-ayuda.html" TargetMode="Externa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e80574407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e80574407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F67EC8EC-D924-C2EE-6728-9FB1E1EDE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>
            <a:extLst>
              <a:ext uri="{FF2B5EF4-FFF2-40B4-BE49-F238E27FC236}">
                <a16:creationId xmlns:a16="http://schemas.microsoft.com/office/drawing/2014/main" id="{ECBE2C72-F4BB-EA9C-2B3B-14D52AD357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5:notes">
            <a:extLst>
              <a:ext uri="{FF2B5EF4-FFF2-40B4-BE49-F238E27FC236}">
                <a16:creationId xmlns:a16="http://schemas.microsoft.com/office/drawing/2014/main" id="{3465F5D9-09F0-AF07-4782-69A853439C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9947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AIOps: es la </a:t>
            </a:r>
            <a:r>
              <a:rPr lang="en-US" err="1"/>
              <a:t>aplicación</a:t>
            </a:r>
            <a:r>
              <a:rPr lang="en-US"/>
              <a:t> de </a:t>
            </a:r>
            <a:r>
              <a:rPr lang="en-US" err="1"/>
              <a:t>inteligencia</a:t>
            </a:r>
            <a:r>
              <a:rPr lang="en-US"/>
              <a:t> artificial y machine learning para </a:t>
            </a:r>
            <a:r>
              <a:rPr lang="en-US" err="1"/>
              <a:t>automatizar</a:t>
            </a:r>
            <a:r>
              <a:rPr lang="en-US"/>
              <a:t>, </a:t>
            </a:r>
            <a:r>
              <a:rPr lang="en-US" err="1"/>
              <a:t>optimizar</a:t>
            </a:r>
            <a:r>
              <a:rPr lang="en-US"/>
              <a:t> y </a:t>
            </a:r>
            <a:r>
              <a:rPr lang="en-US" err="1"/>
              <a:t>mejorar</a:t>
            </a:r>
            <a:r>
              <a:rPr lang="en-US"/>
              <a:t> las </a:t>
            </a:r>
            <a:r>
              <a:rPr lang="en-US" err="1"/>
              <a:t>operaciones</a:t>
            </a:r>
            <a:r>
              <a:rPr lang="en-US"/>
              <a:t> de TI.</a:t>
            </a:r>
          </a:p>
          <a:p>
            <a:pPr>
              <a:buNone/>
            </a:pPr>
            <a:r>
              <a:rPr lang="en-US">
                <a:highlight>
                  <a:srgbClr val="FFFFFF"/>
                </a:highlight>
              </a:rPr>
              <a:t>El Bus Factor: </a:t>
            </a:r>
            <a:r>
              <a:rPr lang="en-US" err="1">
                <a:highlight>
                  <a:srgbClr val="FFFFFF"/>
                </a:highlight>
              </a:rPr>
              <a:t>mide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cuántas</a:t>
            </a:r>
            <a:r>
              <a:rPr lang="en-US">
                <a:highlight>
                  <a:srgbClr val="FFFFFF"/>
                </a:highlight>
              </a:rPr>
              <a:t> personas </a:t>
            </a:r>
            <a:r>
              <a:rPr lang="en-US" err="1">
                <a:highlight>
                  <a:srgbClr val="FFFFFF"/>
                </a:highlight>
              </a:rPr>
              <a:t>tendrían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que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salir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mañana</a:t>
            </a:r>
            <a:r>
              <a:rPr lang="en-US">
                <a:highlight>
                  <a:srgbClr val="FFFFFF"/>
                </a:highlight>
              </a:rPr>
              <a:t> para </a:t>
            </a:r>
            <a:r>
              <a:rPr lang="en-US" err="1">
                <a:highlight>
                  <a:srgbClr val="FFFFFF"/>
                </a:highlight>
              </a:rPr>
              <a:t>que</a:t>
            </a:r>
            <a:r>
              <a:rPr lang="en-US">
                <a:highlight>
                  <a:srgbClr val="FFFFFF"/>
                </a:highlight>
              </a:rPr>
              <a:t> un </a:t>
            </a:r>
            <a:r>
              <a:rPr lang="en-US" err="1">
                <a:highlight>
                  <a:srgbClr val="FFFFFF"/>
                </a:highlight>
              </a:rPr>
              <a:t>proceso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crítico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colapse</a:t>
            </a:r>
            <a:r>
              <a:rPr lang="en-US">
                <a:highlight>
                  <a:srgbClr val="FFFFFF"/>
                </a:highlight>
              </a:rPr>
              <a:t>. Bus factor alto = </a:t>
            </a:r>
            <a:r>
              <a:rPr lang="en-US" err="1">
                <a:highlight>
                  <a:srgbClr val="FFFFFF"/>
                </a:highlight>
              </a:rPr>
              <a:t>riesgo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operativo</a:t>
            </a:r>
            <a:r>
              <a:rPr lang="en-US">
                <a:highlight>
                  <a:srgbClr val="FFFFFF"/>
                </a:highlight>
              </a:rPr>
              <a:t> alto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1508815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AD35F874-1F94-53C8-4BD8-BA84CF5EE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>
            <a:extLst>
              <a:ext uri="{FF2B5EF4-FFF2-40B4-BE49-F238E27FC236}">
                <a16:creationId xmlns:a16="http://schemas.microsoft.com/office/drawing/2014/main" id="{D3FB6E8F-CFB8-96CF-9D4D-629273B983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>
            <a:extLst>
              <a:ext uri="{FF2B5EF4-FFF2-40B4-BE49-F238E27FC236}">
                <a16:creationId xmlns:a16="http://schemas.microsoft.com/office/drawing/2014/main" id="{DDE1CA99-7249-BF1C-C019-A59E84F033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03127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6EA6F-EDCE-4DB8-767B-47820C7EF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3067665-EB74-9CB2-B385-A5E1BA046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EACE5BB-9ED9-4928-7A70-9830832278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s-CO" sz="1100" b="0" i="0" u="none" strike="noStrike" cap="none" dirty="0">
                <a:solidFill>
                  <a:srgbClr val="000000"/>
                </a:solidFill>
                <a:effectLst/>
                <a:latin typeface="Reddit Sans" panose="020B0604020202020204" charset="0"/>
                <a:ea typeface="Reddit Sans" panose="020B0604020202020204" charset="0"/>
                <a:cs typeface="Arial"/>
                <a:sym typeface="Arial"/>
              </a:rPr>
              <a:t>ITSM (Gestión de Servicios de TI) es el </a:t>
            </a:r>
            <a:r>
              <a:rPr lang="es-CO" dirty="0">
                <a:latin typeface="Reddit Sans" panose="020B0604020202020204" charset="0"/>
                <a:ea typeface="Reddit Sans" panose="020B0604020202020204" charset="0"/>
              </a:rPr>
              <a:t>enfoque estratégico para diseñar, entregar, gestionar y mejorar los servicios tecnológicos que una empresa ofrece.</a:t>
            </a:r>
          </a:p>
        </p:txBody>
      </p:sp>
    </p:spTree>
    <p:extLst>
      <p:ext uri="{BB962C8B-B14F-4D97-AF65-F5344CB8AC3E}">
        <p14:creationId xmlns:p14="http://schemas.microsoft.com/office/powerpoint/2010/main" val="41652701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solidFill>
                  <a:srgbClr val="191919"/>
                </a:solidFill>
                <a:highlight>
                  <a:srgbClr val="F8F4F1"/>
                </a:highlight>
                <a:hlinkClick r:id="rId3"/>
              </a:rPr>
              <a:t>El swarming en una mesa de servicios se refiere a un modelo de soporte que utiliza la colaboración y la inteligencia colectiva para resolver problemas de manera más eficiente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99559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solidFill>
                  <a:srgbClr val="191919"/>
                </a:solidFill>
                <a:highlight>
                  <a:srgbClr val="F8F4F1"/>
                </a:highlight>
                <a:hlinkClick r:id="rId3"/>
              </a:rPr>
              <a:t>Shift-left para la Mesa de servicios de TI es el movimiento del soporte de TI más cerca de la primera línea operativa y el usuario/cliente final.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74118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ES" err="1"/>
              <a:t>Ref</a:t>
            </a:r>
            <a:r>
              <a:rPr lang="es-ES"/>
              <a:t>: </a:t>
            </a:r>
            <a:r>
              <a:rPr lang="es-ES">
                <a:hlinkClick r:id="rId3"/>
              </a:rPr>
              <a:t>7.5.5 Mesa de Servicios</a:t>
            </a:r>
          </a:p>
          <a:p>
            <a:pPr>
              <a:buNone/>
            </a:pPr>
            <a:endParaRPr lang="es-ES"/>
          </a:p>
          <a:p>
            <a:pPr>
              <a:buNone/>
            </a:pPr>
            <a:r>
              <a:rPr lang="es-ES" err="1"/>
              <a:t>Ref</a:t>
            </a:r>
            <a:r>
              <a:rPr lang="es-ES"/>
              <a:t>: </a:t>
            </a:r>
            <a:r>
              <a:rPr lang="es-ES">
                <a:hlinkClick r:id="rId4"/>
              </a:rPr>
              <a:t>¿Qué es un software de mesa de ayuda? | Guía sobre el software de mesa de ayuda - ManageEngine ServiceDesk Plus</a:t>
            </a:r>
          </a:p>
          <a:p>
            <a:pPr>
              <a:buNone/>
            </a:pPr>
            <a:endParaRPr lang="es-ES"/>
          </a:p>
          <a:p>
            <a:pPr>
              <a:buNone/>
            </a:pPr>
            <a:r>
              <a:rPr lang="es-ES" err="1"/>
              <a:t>Ref</a:t>
            </a:r>
            <a:r>
              <a:rPr lang="es-ES"/>
              <a:t>: </a:t>
            </a:r>
            <a:r>
              <a:rPr lang="es-ES">
                <a:hlinkClick r:id="rId5"/>
              </a:rPr>
              <a:t>(8) Mesa de servicio inteligente: cómo la Inteligencia Artificial está transformando el soporte al cliente | LinkedIn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46441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CE505433-2ACA-69A8-B0C3-A79DA987B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>
            <a:extLst>
              <a:ext uri="{FF2B5EF4-FFF2-40B4-BE49-F238E27FC236}">
                <a16:creationId xmlns:a16="http://schemas.microsoft.com/office/drawing/2014/main" id="{603A7570-A496-3D05-6901-598F97D07A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>
            <a:extLst>
              <a:ext uri="{FF2B5EF4-FFF2-40B4-BE49-F238E27FC236}">
                <a16:creationId xmlns:a16="http://schemas.microsoft.com/office/drawing/2014/main" id="{71F902F3-8C74-1208-3B51-B4F19066F0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66074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b="1" dirty="0" err="1">
                <a:solidFill>
                  <a:srgbClr val="0C2362"/>
                </a:solidFill>
              </a:rPr>
              <a:t>Siguiente</a:t>
            </a:r>
            <a:r>
              <a:rPr lang="en-US" b="1" dirty="0">
                <a:solidFill>
                  <a:srgbClr val="0C2362"/>
                </a:solidFill>
              </a:rPr>
              <a:t> paso </a:t>
            </a:r>
            <a:r>
              <a:rPr lang="en-US" b="1" dirty="0" err="1">
                <a:solidFill>
                  <a:srgbClr val="0C2362"/>
                </a:solidFill>
              </a:rPr>
              <a:t>recomendado</a:t>
            </a:r>
            <a:r>
              <a:rPr lang="en-US" b="1" dirty="0">
                <a:solidFill>
                  <a:srgbClr val="0C2362"/>
                </a:solidFill>
              </a:rPr>
              <a:t>: </a:t>
            </a:r>
            <a:r>
              <a:rPr lang="en-US" b="1" dirty="0" err="1">
                <a:solidFill>
                  <a:srgbClr val="0C2362"/>
                </a:solidFill>
              </a:rPr>
              <a:t>desglosar</a:t>
            </a:r>
            <a:r>
              <a:rPr lang="en-US" b="1" dirty="0">
                <a:solidFill>
                  <a:srgbClr val="0C2362"/>
                </a:solidFill>
              </a:rPr>
              <a:t> </a:t>
            </a:r>
            <a:r>
              <a:rPr lang="en-US" b="1" dirty="0" err="1">
                <a:solidFill>
                  <a:srgbClr val="0C2362"/>
                </a:solidFill>
              </a:rPr>
              <a:t>cada</a:t>
            </a:r>
            <a:r>
              <a:rPr lang="en-US" b="1" dirty="0">
                <a:solidFill>
                  <a:srgbClr val="0C2362"/>
                </a:solidFill>
              </a:rPr>
              <a:t> </a:t>
            </a:r>
            <a:r>
              <a:rPr lang="en-US" b="1" dirty="0" err="1">
                <a:solidFill>
                  <a:srgbClr val="0C2362"/>
                </a:solidFill>
              </a:rPr>
              <a:t>módulo</a:t>
            </a:r>
            <a:r>
              <a:rPr lang="en-US" b="1" dirty="0">
                <a:solidFill>
                  <a:srgbClr val="0C2362"/>
                </a:solidFill>
              </a:rPr>
              <a:t> </a:t>
            </a:r>
            <a:r>
              <a:rPr lang="en-US" b="1" dirty="0" err="1">
                <a:solidFill>
                  <a:srgbClr val="0C2362"/>
                </a:solidFill>
              </a:rPr>
              <a:t>en</a:t>
            </a:r>
            <a:r>
              <a:rPr lang="en-US" b="1" dirty="0">
                <a:solidFill>
                  <a:srgbClr val="0C2362"/>
                </a:solidFill>
              </a:rPr>
              <a:t> </a:t>
            </a:r>
            <a:r>
              <a:rPr lang="en-US" b="1" dirty="0" err="1">
                <a:solidFill>
                  <a:srgbClr val="0C2362"/>
                </a:solidFill>
              </a:rPr>
              <a:t>alcance</a:t>
            </a:r>
            <a:r>
              <a:rPr lang="en-US" b="1" dirty="0">
                <a:solidFill>
                  <a:srgbClr val="0C2362"/>
                </a:solidFill>
              </a:rPr>
              <a:t>, roles, </a:t>
            </a:r>
            <a:r>
              <a:rPr lang="en-US" b="1" dirty="0" err="1">
                <a:solidFill>
                  <a:srgbClr val="0C2362"/>
                </a:solidFill>
              </a:rPr>
              <a:t>entregables,herramientas</a:t>
            </a:r>
            <a:r>
              <a:rPr lang="en-US" b="1" dirty="0">
                <a:solidFill>
                  <a:srgbClr val="0C2362"/>
                </a:solidFill>
              </a:rPr>
              <a:t> y pricing.</a:t>
            </a:r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e80574407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37e80574407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stático">
  <p:cSld name="TITLE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g37e80574407_0_7" title="textura.jpg"/>
          <p:cNvPicPr preferRelativeResize="0"/>
          <p:nvPr/>
        </p:nvPicPr>
        <p:blipFill rotWithShape="1">
          <a:blip r:embed="rId2">
            <a:alphaModFix/>
          </a:blip>
          <a:srcRect t="219" b="20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g37e80574407_0_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19" name="Google Shape;19;g37e80574407_0_7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20" name="Google Shape;20;g37e80574407_0_7" title="logo_n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g37e80574407_0_7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22" name="Google Shape;22;g37e80574407_0_7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43" name="Google Shape;43;g37e80574407_0_46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44" name="Google Shape;44;g37e80574407_0_46" title="isotipo_po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7e80574407_0_46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/>
          </p:nvPr>
        </p:nvSpPr>
        <p:spPr>
          <a:xfrm>
            <a:off x="361350" y="494725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4000"/>
              <a:buNone/>
              <a:defRPr sz="40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2815250"/>
            <a:ext cx="56667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4" name="Google Shape;54;p12" title="isotipo_neg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-5675"/>
            <a:ext cx="4572000" cy="51435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14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68675" y="655450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4858700" y="1311925"/>
            <a:ext cx="3694800" cy="30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title" idx="2"/>
          </p:nvPr>
        </p:nvSpPr>
        <p:spPr>
          <a:xfrm>
            <a:off x="412475" y="1495950"/>
            <a:ext cx="3734400" cy="29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04">
          <p15:clr>
            <a:srgbClr val="E46962"/>
          </p15:clr>
        </p15:guide>
        <p15:guide id="2" pos="5387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1" name="Google Shape;71;p16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5" name="Google Shape;75;p15" title="Recurso 1.png"/>
          <p:cNvPicPr preferRelativeResize="0"/>
          <p:nvPr/>
        </p:nvPicPr>
        <p:blipFill rotWithShape="1">
          <a:blip r:embed="rId2">
            <a:alphaModFix/>
          </a:blip>
          <a:srcRect b="7379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 title="Recurso 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0050" y="2265624"/>
            <a:ext cx="4803901" cy="4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radecimiento">
  <p:cSld name="BLANK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e80574407_0_1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9" name="Google Shape;79;g37e80574407_0_110" title="Recurso 1.png"/>
          <p:cNvPicPr preferRelativeResize="0"/>
          <p:nvPr/>
        </p:nvPicPr>
        <p:blipFill rotWithShape="1">
          <a:blip r:embed="rId2">
            <a:alphaModFix/>
          </a:blip>
          <a:srcRect b="7381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g37e80574407_0_110" title="logo_n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7e80574407_0_110"/>
          <p:cNvSpPr txBox="1"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g37e80574407_0_110"/>
          <p:cNvSpPr txBox="1"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Font typeface="Reddit Sans Black"/>
              <a:buNone/>
              <a:defRPr sz="6100" b="0">
                <a:solidFill>
                  <a:schemeClr val="lt1"/>
                </a:solidFill>
                <a:latin typeface="Reddit Sans Black"/>
                <a:ea typeface="Reddit Sans Black"/>
                <a:cs typeface="Reddit Sans Black"/>
                <a:sym typeface="Reddit Sans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9pPr>
          </a:lstStyle>
          <a:p>
            <a:endParaRPr/>
          </a:p>
        </p:txBody>
      </p:sp>
      <p:sp>
        <p:nvSpPr>
          <p:cNvPr id="83" name="Google Shape;83;g37e80574407_0_110"/>
          <p:cNvSpPr txBox="1"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dit Sans Light"/>
              <a:buNone/>
              <a:defRPr sz="900" b="0">
                <a:solidFill>
                  <a:schemeClr val="lt1"/>
                </a:solidFill>
                <a:latin typeface="Reddit Sans Light"/>
                <a:ea typeface="Reddit Sans Light"/>
                <a:cs typeface="Reddit Sans Light"/>
                <a:sym typeface="Reddit San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6">
          <p15:clr>
            <a:srgbClr val="E46962"/>
          </p15:clr>
        </p15:guide>
        <p15:guide id="2" orient="horz" pos="2903">
          <p15:clr>
            <a:srgbClr val="E46962"/>
          </p15:clr>
        </p15:guide>
        <p15:guide id="3" pos="2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2000"/>
              <a:buNone/>
              <a:defRPr sz="12000">
                <a:solidFill>
                  <a:srgbClr val="0072B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98" name="Google Shape;98;p19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7">
          <p15:clr>
            <a:srgbClr val="E46962"/>
          </p15:clr>
        </p15:guide>
        <p15:guide id="2" pos="283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443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userDrawn="1">
  <p:cSld name="TITLE_AND_TWO_COLUMN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4657177" y="1152475"/>
            <a:ext cx="3896100" cy="3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88" name="Google Shape;88;p17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>
            <a:spLocks noGrp="1"/>
          </p:cNvSpPr>
          <p:nvPr>
            <p:ph type="body" idx="2"/>
          </p:nvPr>
        </p:nvSpPr>
        <p:spPr>
          <a:xfrm>
            <a:off x="450000" y="1152475"/>
            <a:ext cx="3896100" cy="3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54C7C093-64D9-3144-9EE6-858CDE2C30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871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7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stático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7;g37e80574407_0_7"/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219" b="20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ln>
            <a:noFill/>
          </a:ln>
        </p:spPr>
      </p:pic>
      <p:sp>
        <p:nvSpPr>
          <p:cNvPr id="18" name="Google Shape;18;g37e80574407_0_7">
            <a:extLst>
              <a:ext uri="{FF2B5EF4-FFF2-40B4-BE49-F238E27FC236}">
                <a16:creationId xmlns:a16="http://schemas.microsoft.com/office/drawing/2014/main" id="{B1F1B4D1-E690-4E3D-BC28-F902B81251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19" name="Google Shape;19;g37e80574407_0_7">
            <a:extLst>
              <a:ext uri="{FF2B5EF4-FFF2-40B4-BE49-F238E27FC236}">
                <a16:creationId xmlns:a16="http://schemas.microsoft.com/office/drawing/2014/main" id="{25844D9E-7907-4F22-A074-7B081F402AEA}"/>
              </a:ext>
            </a:extLst>
          </p:cNvPr>
          <p:cNvSpPr>
            <a:spLocks noGrp="1"/>
          </p:cNvSpPr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g37e80574407_0_7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ln>
            <a:noFill/>
          </a:ln>
        </p:spPr>
      </p:pic>
      <p:sp>
        <p:nvSpPr>
          <p:cNvPr id="21" name="Google Shape;21;g37e80574407_0_7">
            <a:extLst>
              <a:ext uri="{FF2B5EF4-FFF2-40B4-BE49-F238E27FC236}">
                <a16:creationId xmlns:a16="http://schemas.microsoft.com/office/drawing/2014/main" id="{2FB57A7C-437F-42BA-B53C-D4338DC2B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>
            <a:endParaRPr/>
          </a:p>
        </p:txBody>
      </p:sp>
      <p:sp>
        <p:nvSpPr>
          <p:cNvPr id="22" name="Google Shape;22;g37e80574407_0_7">
            <a:extLst>
              <a:ext uri="{FF2B5EF4-FFF2-40B4-BE49-F238E27FC236}">
                <a16:creationId xmlns:a16="http://schemas.microsoft.com/office/drawing/2014/main" id="{426D5CFE-345B-4A49-911F-78F4C3A99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>
            <a:extLst>
              <a:ext uri="{FF2B5EF4-FFF2-40B4-BE49-F238E27FC236}">
                <a16:creationId xmlns:a16="http://schemas.microsoft.com/office/drawing/2014/main" id="{AC2B24F9-BF8F-4F47-9728-EE6D5F7DDA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43" name="Google Shape;43;g37e80574407_0_46">
            <a:extLst>
              <a:ext uri="{FF2B5EF4-FFF2-40B4-BE49-F238E27FC236}">
                <a16:creationId xmlns:a16="http://schemas.microsoft.com/office/drawing/2014/main" id="{FC4BF158-4191-4C42-9860-425EE1BDD06D}"/>
              </a:ext>
            </a:extLst>
          </p:cNvPr>
          <p:cNvSpPr>
            <a:spLocks noGrp="1"/>
          </p:cNvSpPr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" name="Google Shape;44;g37e80574407_0_46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ln>
            <a:noFill/>
          </a:ln>
        </p:spPr>
      </p:pic>
      <p:sp>
        <p:nvSpPr>
          <p:cNvPr id="45" name="Google Shape;45;g37e80574407_0_46">
            <a:extLst>
              <a:ext uri="{FF2B5EF4-FFF2-40B4-BE49-F238E27FC236}">
                <a16:creationId xmlns:a16="http://schemas.microsoft.com/office/drawing/2014/main" id="{4662A93F-6B5F-4650-99EA-136417DEC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>
            <a:extLst>
              <a:ext uri="{FF2B5EF4-FFF2-40B4-BE49-F238E27FC236}">
                <a16:creationId xmlns:a16="http://schemas.microsoft.com/office/drawing/2014/main" id="{270D2604-63C8-451C-BE8A-4A120451F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>
            <a:extLst>
              <a:ext uri="{FF2B5EF4-FFF2-40B4-BE49-F238E27FC236}">
                <a16:creationId xmlns:a16="http://schemas.microsoft.com/office/drawing/2014/main" id="{7D50AF58-B676-47BE-8C6D-250EC4D3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50" y="494725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>
            <a:extLst>
              <a:ext uri="{FF2B5EF4-FFF2-40B4-BE49-F238E27FC236}">
                <a16:creationId xmlns:a16="http://schemas.microsoft.com/office/drawing/2014/main" id="{71F7FED3-EB9E-4E62-85FD-9E94811E3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815250"/>
            <a:ext cx="56667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>
            <a:extLst>
              <a:ext uri="{FF2B5EF4-FFF2-40B4-BE49-F238E27FC236}">
                <a16:creationId xmlns:a16="http://schemas.microsoft.com/office/drawing/2014/main" id="{3A16CCED-69D6-4723-B785-3409A4A7C6C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>
            <a:extLst>
              <a:ext uri="{FF2B5EF4-FFF2-40B4-BE49-F238E27FC236}">
                <a16:creationId xmlns:a16="http://schemas.microsoft.com/office/drawing/2014/main" id="{BB6C1E23-7014-4B48-B0EA-54D45F6F7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>
            <a:extLst>
              <a:ext uri="{FF2B5EF4-FFF2-40B4-BE49-F238E27FC236}">
                <a16:creationId xmlns:a16="http://schemas.microsoft.com/office/drawing/2014/main" id="{F6EEF040-AE2F-44DB-9865-075D0CEE9E5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54" name="Google Shape;54;p12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1BAF1A59-2F8B-4BF4-B64A-0DEEE27D9EC7}"/>
              </a:ext>
            </a:extLst>
          </p:cNvPr>
          <p:cNvSpPr>
            <a:spLocks noGrp="1"/>
          </p:cNvSpPr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2662C8F9-5006-4CC6-AED6-A2CD441DF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A6655D54-16B1-4D78-A722-D1F26E4A4B7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4AED8AE0-C1B9-4169-8A53-F4F5AB29A20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D0ADD963-6F0B-49A6-9DDA-847662A0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7D67C296-E9AD-4915-BA06-B6F6B2EC42B6}"/>
              </a:ext>
            </a:extLst>
          </p:cNvPr>
          <p:cNvSpPr>
            <a:spLocks noGrp="1"/>
          </p:cNvSpPr>
          <p:nvPr/>
        </p:nvSpPr>
        <p:spPr>
          <a:xfrm>
            <a:off x="0" y="-5675"/>
            <a:ext cx="4572000" cy="51435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" name="Google Shape;64;p14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232FDF76-CBF3-4E5C-8FB1-3030B412B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675" y="655450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279437C4-6BCF-4B1F-B660-DA9C7842D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8700" y="1311925"/>
            <a:ext cx="3694800" cy="30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8B73836B-BAC0-453C-98C1-65A75236F92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321D8131-11BD-44F4-B952-43C1B7777B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412475" y="1495950"/>
            <a:ext cx="3734400" cy="29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>
            <a:extLst>
              <a:ext uri="{FF2B5EF4-FFF2-40B4-BE49-F238E27FC236}">
                <a16:creationId xmlns:a16="http://schemas.microsoft.com/office/drawing/2014/main" id="{99B40456-9C26-4E25-812A-F58F94D543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1" name="Google Shape;71;p16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65463B6A-3B5D-42D5-8C0A-A8D6F3C2D84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5" name="Google Shape;75;p15"/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7379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</p:pic>
      <p:pic>
        <p:nvPicPr>
          <p:cNvPr id="76" name="Google Shape;76;p1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0050" y="2265624"/>
            <a:ext cx="4803901" cy="457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radecimiento">
  <p:cSld name="BLAN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e80574407_0_110">
            <a:extLst>
              <a:ext uri="{FF2B5EF4-FFF2-40B4-BE49-F238E27FC236}">
                <a16:creationId xmlns:a16="http://schemas.microsoft.com/office/drawing/2014/main" id="{D0542C14-919E-485C-87A7-5251DBE7ECE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9" name="Google Shape;79;g37e80574407_0_110"/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7381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</p:pic>
      <p:pic>
        <p:nvPicPr>
          <p:cNvPr id="80" name="Google Shape;80;g37e80574407_0_110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ln>
            <a:noFill/>
          </a:ln>
        </p:spPr>
      </p:pic>
      <p:sp>
        <p:nvSpPr>
          <p:cNvPr id="81" name="Google Shape;81;g37e80574407_0_110">
            <a:extLst>
              <a:ext uri="{FF2B5EF4-FFF2-40B4-BE49-F238E27FC236}">
                <a16:creationId xmlns:a16="http://schemas.microsoft.com/office/drawing/2014/main" id="{4A0B87D1-0F80-492E-9F0A-334D3E371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lt1"/>
                </a:solidFill>
              </a:defRPr>
            </a:lvl1pPr>
            <a:lvl2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g37e80574407_0_110">
            <a:extLst>
              <a:ext uri="{FF2B5EF4-FFF2-40B4-BE49-F238E27FC236}">
                <a16:creationId xmlns:a16="http://schemas.microsoft.com/office/drawing/2014/main" id="{D892436E-C895-4668-B0A0-541237687D75}"/>
              </a:ext>
            </a:extLst>
          </p:cNvPr>
          <p:cNvSpPr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0" b="0">
                <a:solidFill>
                  <a:schemeClr val="lt1"/>
                </a:solidFill>
                <a:latin typeface="Reddit Sans Black"/>
                <a:ea typeface="Reddit Sans Black"/>
                <a:cs typeface="Reddit Sans Blac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9pPr>
          </a:lstStyle>
          <a:p>
            <a:endParaRPr/>
          </a:p>
        </p:txBody>
      </p:sp>
      <p:sp>
        <p:nvSpPr>
          <p:cNvPr id="83" name="Google Shape;83;g37e80574407_0_110">
            <a:extLst>
              <a:ext uri="{FF2B5EF4-FFF2-40B4-BE49-F238E27FC236}">
                <a16:creationId xmlns:a16="http://schemas.microsoft.com/office/drawing/2014/main" id="{98E67182-6C92-488F-A8B6-56EDE400E980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lt1"/>
                </a:solidFill>
                <a:latin typeface="Reddit Sans Light"/>
                <a:ea typeface="Reddit Sans Light"/>
                <a:cs typeface="Reddit Sans Light"/>
              </a:defRPr>
            </a:lvl1pPr>
            <a:lvl2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2pPr>
            <a:lvl3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3pPr>
            <a:lvl4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4pPr>
            <a:lvl5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5pPr>
            <a:lvl6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6pPr>
            <a:lvl7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7pPr>
            <a:lvl8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8pPr>
            <a:lvl9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>
            <a:extLst>
              <a:ext uri="{FF2B5EF4-FFF2-40B4-BE49-F238E27FC236}">
                <a16:creationId xmlns:a16="http://schemas.microsoft.com/office/drawing/2014/main" id="{8E6D5907-34E3-4CE9-983B-4E147D000A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rgbClr val="0072BC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4F839F2F-0F0D-41B9-B28D-AB6448727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F7CD12D5-85E6-4041-B0D2-EF7D45924A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98" name="Google Shape;98;p19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>
            <a:extLst>
              <a:ext uri="{FF2B5EF4-FFF2-40B4-BE49-F238E27FC236}">
                <a16:creationId xmlns:a16="http://schemas.microsoft.com/office/drawing/2014/main" id="{EB7B3939-448D-4C7E-BAF2-861F4762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/>
          </a:p>
        </p:txBody>
      </p:sp>
      <p:sp>
        <p:nvSpPr>
          <p:cNvPr id="76" name="PlaceHolder 2">
            <a:extLst>
              <a:ext uri="{FF2B5EF4-FFF2-40B4-BE49-F238E27FC236}">
                <a16:creationId xmlns:a16="http://schemas.microsoft.com/office/drawing/2014/main" id="{DC2F081B-FF45-4D98-A4F2-8210772AA9F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4FF6657-BD0F-4337-B334-52ED8F7C802A}"/>
              </a:ext>
            </a:extLst>
          </p:cNvPr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dit Sans"/>
              <a:buNone/>
              <a:defRPr sz="2800" b="1" i="0" u="none" strike="noStrike" cap="none">
                <a:solidFill>
                  <a:schemeClr val="dk1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eddit Sans"/>
              <a:buChar char="●"/>
              <a:defRPr sz="18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61" r:id="rId9"/>
    <p:sldLayoutId id="2147483664" r:id="rId10"/>
    <p:sldLayoutId id="2147483665" r:id="rId11"/>
    <p:sldLayoutId id="2147483675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>
            <a:extLst>
              <a:ext uri="{FF2B5EF4-FFF2-40B4-BE49-F238E27FC236}">
                <a16:creationId xmlns:a16="http://schemas.microsoft.com/office/drawing/2014/main" id="{D4B7FFF8-9AA4-4E53-9ECB-A10FB484A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chemeClr val="dk1"/>
                </a:solidFill>
                <a:latin typeface="Reddit Sans"/>
                <a:ea typeface="Reddit Sans"/>
                <a:cs typeface="Reddit San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" name="Google Shape;7;p9">
            <a:extLst>
              <a:ext uri="{FF2B5EF4-FFF2-40B4-BE49-F238E27FC236}">
                <a16:creationId xmlns:a16="http://schemas.microsoft.com/office/drawing/2014/main" id="{0C1FD014-2FA6-495D-9389-E278A0D2D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9pPr>
          </a:lstStyle>
          <a:p>
            <a:endParaRPr/>
          </a:p>
        </p:txBody>
      </p:sp>
      <p:sp>
        <p:nvSpPr>
          <p:cNvPr id="8" name="Google Shape;8;p9">
            <a:extLst>
              <a:ext uri="{FF2B5EF4-FFF2-40B4-BE49-F238E27FC236}">
                <a16:creationId xmlns:a16="http://schemas.microsoft.com/office/drawing/2014/main" id="{6B0AA307-4D0A-4E91-8EDE-F652AA60ED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oplecert.org/news-and-announcements/itil-version-5-explained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thinkhdi.com/~/media/HDICorp/Files/Standards/HDI-SC-Standard-v-5-0.pdf" TargetMode="External"/><Relationship Id="rId4" Type="http://schemas.openxmlformats.org/officeDocument/2006/relationships/hyperlink" Target="https://cmmiinstitute.com/learning/appraisals/levels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uperfinanciera.gov.co/publicaciones/10116043/sistema-financiero-acelera-implementacion-de-canales-digitales/" TargetMode="External"/><Relationship Id="rId3" Type="http://schemas.openxmlformats.org/officeDocument/2006/relationships/hyperlink" Target="https://www.mordorintelligence.com/industry-reports/it-service-management-market" TargetMode="External"/><Relationship Id="rId7" Type="http://schemas.openxmlformats.org/officeDocument/2006/relationships/hyperlink" Target="https://www.mordorintelligence.com/industry-reports/colombia-information-technology-service-management-itsm-marke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hyperlink" Target="https://www.superfinanciera.gov.co/inicio/normativa/normativa-general/circulares-externas/ce-007-de-2024-12139" TargetMode="External"/><Relationship Id="rId4" Type="http://schemas.openxmlformats.org/officeDocument/2006/relationships/hyperlink" Target="https://www.grandviewresearch.com/industry-analysis/it-service-management-market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psruntheworld.com/top-10-it-service-management-software-vendors-and-market-forecast/" TargetMode="External"/><Relationship Id="rId2" Type="http://schemas.openxmlformats.org/officeDocument/2006/relationships/hyperlink" Target="https://growthmarketreports.com/report/it-service-desk-market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grandviewresearch.com/industry-analysis/it-service-management-market" TargetMode="External"/><Relationship Id="rId4" Type="http://schemas.openxmlformats.org/officeDocument/2006/relationships/hyperlink" Target="https://www.mordorintelligence.com/industry-reports/colombia-information-technology-service-management-itsm-market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rtner.com/en/documents/5533963" TargetMode="External"/><Relationship Id="rId7" Type="http://schemas.openxmlformats.org/officeDocument/2006/relationships/hyperlink" Target="https://faddom.com/wp-content/uploads/2026/03/2025-Hype-Cycle-for-ITSM-Gartner-Report.pdf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blog.invgate.com/itsm-gartner-magic-quadrant" TargetMode="External"/><Relationship Id="rId5" Type="http://schemas.openxmlformats.org/officeDocument/2006/relationships/hyperlink" Target="https://www.scribd.com/document/809079051/Gartner-Reprint" TargetMode="External"/><Relationship Id="rId4" Type="http://schemas.openxmlformats.org/officeDocument/2006/relationships/hyperlink" Target="https://www.gartner.com/en/information-technology/insights/it-service-management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inpresswire.com/article/823090394/xla-institute-releases-groundbreaking-state-of-xla-2025-report" TargetMode="External"/><Relationship Id="rId3" Type="http://schemas.openxmlformats.org/officeDocument/2006/relationships/hyperlink" Target="https://www.peoplecert.org/browse-certifications/it-governance-and-service-management/ITIL-1/itil-4-foundation-3435" TargetMode="External"/><Relationship Id="rId7" Type="http://schemas.openxmlformats.org/officeDocument/2006/relationships/hyperlink" Target="https://www.peoplecert.org/news-and-announcements/itil-version-5-explained" TargetMode="External"/><Relationship Id="rId2" Type="http://schemas.openxmlformats.org/officeDocument/2006/relationships/hyperlink" Target="https://www.gartner.com/en/documents/5533963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scribd.com/document/809079051/Gartner-Reprint" TargetMode="External"/><Relationship Id="rId5" Type="http://schemas.openxmlformats.org/officeDocument/2006/relationships/hyperlink" Target="https://www.idc.com/getdoc.jsp?containerId=US51006924" TargetMode="External"/><Relationship Id="rId4" Type="http://schemas.openxmlformats.org/officeDocument/2006/relationships/hyperlink" Target="https://www.freshworks.com/freshservice/resources/reports/" TargetMode="External"/><Relationship Id="rId9" Type="http://schemas.openxmlformats.org/officeDocument/2006/relationships/hyperlink" Target="https://www.appsruntheworld.com/top-10-it-service-management-software-vendors-and-market-forecast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lunix.com/post/freshservice-magic-quadrant" TargetMode="External"/><Relationship Id="rId2" Type="http://schemas.openxmlformats.org/officeDocument/2006/relationships/hyperlink" Target="https://www.scribd.com/document/809079051/Gartner-Reprint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synta.pro/post/artificial-intelligence-in-itsm-key-takeaways-from-the-gartner-magic-quadrant-2024-2025" TargetMode="External"/><Relationship Id="rId4" Type="http://schemas.openxmlformats.org/officeDocument/2006/relationships/hyperlink" Target="https://www.appsruntheworld.com/top-10-it-service-management-software-vendors-and-market-forecast/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rilo.ai/resources/agentic-ai-statistics" TargetMode="External"/><Relationship Id="rId3" Type="http://schemas.openxmlformats.org/officeDocument/2006/relationships/hyperlink" Target="https://www.dynatrace.com/resources/ebooks/the-state-of-observability-2025/" TargetMode="External"/><Relationship Id="rId7" Type="http://schemas.openxmlformats.org/officeDocument/2006/relationships/hyperlink" Target="https://www.dynatrace.com/news/press-release/pulse-of-agentic-ai-2026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tcs.com/insights/topics/technology/ai-in-it-service-management" TargetMode="External"/><Relationship Id="rId5" Type="http://schemas.openxmlformats.org/officeDocument/2006/relationships/hyperlink" Target="https://www.peoplecert.org/browse-certifications/it-governance-and-service-management/ITIL-1" TargetMode="External"/><Relationship Id="rId10" Type="http://schemas.openxmlformats.org/officeDocument/2006/relationships/hyperlink" Target="https://www.tcs.com/insights/blogs/generative-ai-outcome-based-pricing-models-service-desk" TargetMode="External"/><Relationship Id="rId4" Type="http://schemas.openxmlformats.org/officeDocument/2006/relationships/hyperlink" Target="https://www.gartner.com/en/articles/the-4-top-enterprise-applications-of-agentic-ai" TargetMode="External"/><Relationship Id="rId9" Type="http://schemas.openxmlformats.org/officeDocument/2006/relationships/hyperlink" Target="https://www.peoplecert.org/news-and-announcements/itil-version-5-explained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vanti.com/resources/v/doc/itsm/agentic-ai-itsm" TargetMode="External"/><Relationship Id="rId7" Type="http://schemas.openxmlformats.org/officeDocument/2006/relationships/hyperlink" Target="https://www.givainc.com/blog/shift-left-analysis-how-to-guide-maximize-it-service-management-itsm-efficiency/" TargetMode="External"/><Relationship Id="rId2" Type="http://schemas.openxmlformats.org/officeDocument/2006/relationships/hyperlink" Target="https://www.freshworks.com/freshservice/state-of-it-service-management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ivanti.com/en-gb/blog/agentic-ai-it-service-autonomy" TargetMode="External"/><Relationship Id="rId5" Type="http://schemas.openxmlformats.org/officeDocument/2006/relationships/hyperlink" Target="https://freshservice.com/assets/resources/freshservice/freshservice-it-service-management-benchmark-report-2024.pdf" TargetMode="External"/><Relationship Id="rId4" Type="http://schemas.openxmlformats.org/officeDocument/2006/relationships/hyperlink" Target="https://www.gartner.com/en/information-technology/insights/it-service-management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inkhdi.com/~/media/HDICorp/Files/Library-Archive/Insider%20Articles/mean-time-to-resolve.pdf" TargetMode="External"/><Relationship Id="rId2" Type="http://schemas.openxmlformats.org/officeDocument/2006/relationships/hyperlink" Target="https://www.thinkhdi.com/~/media/HDICorp/Files/Standards/HDI-SC-Standard-v-5-0.pdf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givainc.com/blog/shift-left-analysis-how-to-guide-maximize-it-service-management-itsm-efficiency/" TargetMode="External"/><Relationship Id="rId5" Type="http://schemas.openxmlformats.org/officeDocument/2006/relationships/hyperlink" Target="https://www.sqmgroup.com/resources/library/blog/what-good-first-call-resolution-rate" TargetMode="External"/><Relationship Id="rId4" Type="http://schemas.openxmlformats.org/officeDocument/2006/relationships/hyperlink" Target="https://freshservice.com/assets/resources/freshservice/freshservice-it-service-management-benchmark-report-2024.pdf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mcconsulting.be/news/sla-vs-xla-itsm-reporting" TargetMode="External"/><Relationship Id="rId2" Type="http://schemas.openxmlformats.org/officeDocument/2006/relationships/hyperlink" Target="https://www.einpresswire.com/article/823090394/xla-institute-releases-groundbreaking-state-of-xla-2025-report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delineinsights.com/blog/itil-5-whats-coming.html" TargetMode="External"/><Relationship Id="rId2" Type="http://schemas.openxmlformats.org/officeDocument/2006/relationships/hyperlink" Target="https://www.peoplecert.org/news-and-announcements/itil-version-5-explained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ixmind.com/itil-5-what-changed-and-why-it-matters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ynatrace.com/news/press-release/pulse-of-agentic-ai-2026/" TargetMode="External"/><Relationship Id="rId2" Type="http://schemas.openxmlformats.org/officeDocument/2006/relationships/hyperlink" Target="https://www.brilo.ai/resources/agentic-ai-statistics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ivanti.com/en-gb/blog/agentic-ai-it-service-autonomy" TargetMode="External"/><Relationship Id="rId4" Type="http://schemas.openxmlformats.org/officeDocument/2006/relationships/hyperlink" Target="https://www.salesforce.com/news/stories/agentforce-customer-support-lessons-learned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jpeg"/><Relationship Id="rId5" Type="http://schemas.openxmlformats.org/officeDocument/2006/relationships/hyperlink" Target="https://www.manageengine.com/latam/service-desk/que-es-una-mesa-de-ayuda.html" TargetMode="External"/><Relationship Id="rId4" Type="http://schemas.openxmlformats.org/officeDocument/2006/relationships/hyperlink" Target="https://enviaseo.info/peti/755MesadeServicios.html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ulse/mesa-de-servicio-inteligente-c%C3%B3mo-la-inteligencia-artificial-est%C3%A1-sbj7e/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rtner.com/en/documents/5533963" TargetMode="External"/><Relationship Id="rId2" Type="http://schemas.openxmlformats.org/officeDocument/2006/relationships/hyperlink" Target="https://www.freshworks.com/freshservice/state-of-it-service-management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scribd.com/document/809079051/Gartner-Reprint" TargetMode="External"/><Relationship Id="rId4" Type="http://schemas.openxmlformats.org/officeDocument/2006/relationships/hyperlink" Target="https://freshservice.com/assets/resources/freshservice/freshservice-it-service-management-benchmark-report-2024.pdf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cmmiinstitute.com/learning/appraisals/levels" TargetMode="External"/><Relationship Id="rId2" Type="http://schemas.openxmlformats.org/officeDocument/2006/relationships/hyperlink" Target="https://www.peoplecert.org/browse-certifications/it-governance-and-service-management/ITIL-1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peoplecert.org/news-and-announcements/itil-version-5-explained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inkhdi.com/~/media/HDICorp/Files/Standards/HDI-SC-Standard-v-5-0.pdf" TargetMode="External"/><Relationship Id="rId2" Type="http://schemas.openxmlformats.org/officeDocument/2006/relationships/hyperlink" Target="https://www.peoplecert.org/news-and-announcements/itil-version-5-explained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mmiinstitute.com/learning/appraisals/levels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rsonalsoft.com.co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www.peoplecert.org/news-and-announcements/itil-version-5-explained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rtner.com/en/information-technology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www.peoplecert.org/news-and-announcements/itil-version-5-explained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inkhdi.com/~/media/HDICorp/Files/Standards/HDI-SC-Standard-v-5-0.pdf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freshservice.com/assets/resources/freshservice/freshservice-it-service-management-benchmark-report-2024.pdf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rtner.com/en/information-technology/insights/it-operations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www.peoplecert.org/news-and-announcements/itil-version-5-explained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oplecert.org/news-and-announcements/itil-version-5-explained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www.metricnet.com/service-desk-benchmarks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inkhdi.com/~/media/HDICorp/Files/Standards/HDI-SC-Standard-v-5-0.pdf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Relationship Id="rId5" Type="http://schemas.openxmlformats.org/officeDocument/2006/relationships/hyperlink" Target="https://www.givainc.com/blog/shift-left-analysis-how-to-guide-maximize-it-service-management-itsm-efficiency/" TargetMode="External"/><Relationship Id="rId4" Type="http://schemas.openxmlformats.org/officeDocument/2006/relationships/hyperlink" Target="https://www.einpresswire.com/article/823090394/xla-institute-releases-groundbreaking-state-of-xla-2025-report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freshservice.com/assets/resources/freshservice/freshservice-it-service-management-benchmark-report-2024.pdf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www.gartner.com/en/information-technology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oplecert.org/news-and-announcements/itil-version-5-explained" TargetMode="External"/><Relationship Id="rId2" Type="http://schemas.openxmlformats.org/officeDocument/2006/relationships/hyperlink" Target="https://www.personalsoft.com.co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gartner.com/en/information-technology/insights/outcome-based-it-contracts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e80574407_0_130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n-US"/>
              <a:t>Mesa de Servicio de Nueva Generación</a:t>
            </a:r>
            <a:endParaRPr err="1"/>
          </a:p>
        </p:txBody>
      </p:sp>
      <p:sp>
        <p:nvSpPr>
          <p:cNvPr id="110" name="Google Shape;110;g37e80574407_0_130"/>
          <p:cNvSpPr txBox="1">
            <a:spLocks noGrp="1"/>
          </p:cNvSpPr>
          <p:nvPr>
            <p:ph type="subTitle" idx="1"/>
          </p:nvPr>
        </p:nvSpPr>
        <p:spPr>
          <a:xfrm>
            <a:off x="256743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s-CO"/>
              <a:t>Estudio de Mercado 2026</a:t>
            </a:r>
            <a:endParaRPr lang="es-ES"/>
          </a:p>
          <a:p>
            <a:pPr marL="0" indent="0"/>
            <a:r>
              <a:rPr lang="es-CO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268821" y="161511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">
                <a:highlight>
                  <a:srgbClr val="FFFFFF"/>
                </a:highlight>
              </a:rPr>
              <a:t>Propuesta de Valor del </a:t>
            </a:r>
            <a:r>
              <a:rPr lang="es" dirty="0">
                <a:highlight>
                  <a:srgbClr val="FFFFFF"/>
                </a:highlight>
              </a:rPr>
              <a:t>Servicio</a:t>
            </a:r>
            <a:endParaRPr lang="es-ES" dirty="0"/>
          </a:p>
        </p:txBody>
      </p:sp>
      <p:sp>
        <p:nvSpPr>
          <p:cNvPr id="131" name="Google Shape;131;p2"/>
          <p:cNvSpPr txBox="1">
            <a:spLocks noGrp="1"/>
          </p:cNvSpPr>
          <p:nvPr>
            <p:ph type="body" idx="1"/>
          </p:nvPr>
        </p:nvSpPr>
        <p:spPr>
          <a:xfrm>
            <a:off x="181734" y="1791993"/>
            <a:ext cx="5383159" cy="155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es">
                <a:solidFill>
                  <a:srgbClr val="222222"/>
                </a:solidFill>
                <a:highlight>
                  <a:srgbClr val="FFFFFF"/>
                </a:highlight>
              </a:rPr>
              <a:t>La Mesa de Servicio de Nueva Generación transforma el soporte tecnológico de un costo operativo a una ventaja competitiva sostenible en el tiempo. Estandariza la operación con roles claros, procesos definidos y conocimiento institucionalizado con IA. Convirtiendo la mesa en un servicio predecible, medible y escalable en donde el cliente puede crecer y confiar. </a:t>
            </a:r>
            <a:endParaRPr lang="es-ES"/>
          </a:p>
        </p:txBody>
      </p:sp>
      <p:cxnSp>
        <p:nvCxnSpPr>
          <p:cNvPr id="133" name="Google Shape;133;p2"/>
          <p:cNvCxnSpPr/>
          <p:nvPr/>
        </p:nvCxnSpPr>
        <p:spPr>
          <a:xfrm rot="10800000" flipH="1">
            <a:off x="0" y="1623150"/>
            <a:ext cx="5743800" cy="36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4" name="Google Shape;134;p2" title="isotipo_p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E772C19-61FD-9E01-8D45-04096758E3D3}"/>
              </a:ext>
            </a:extLst>
          </p:cNvPr>
          <p:cNvSpPr/>
          <p:nvPr/>
        </p:nvSpPr>
        <p:spPr>
          <a:xfrm>
            <a:off x="6206836" y="0"/>
            <a:ext cx="2937164" cy="5143500"/>
          </a:xfrm>
          <a:prstGeom prst="rect">
            <a:avLst/>
          </a:prstGeom>
          <a:noFill/>
          <a:ln w="63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32" name="Google Shape;132;p2" title="textura 1.jpg"/>
          <p:cNvPicPr preferRelativeResize="0"/>
          <p:nvPr/>
        </p:nvPicPr>
        <p:blipFill rotWithShape="1">
          <a:blip r:embed="rId4">
            <a:alphaModFix/>
          </a:blip>
          <a:srcRect l="37172" r="5841"/>
          <a:stretch/>
        </p:blipFill>
        <p:spPr>
          <a:xfrm>
            <a:off x="6206836" y="0"/>
            <a:ext cx="29310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D1A1633-87B8-69A8-F58D-616529537203}"/>
              </a:ext>
            </a:extLst>
          </p:cNvPr>
          <p:cNvSpPr txBox="1"/>
          <p:nvPr/>
        </p:nvSpPr>
        <p:spPr>
          <a:xfrm>
            <a:off x="3978729" y="3458938"/>
            <a:ext cx="1763485" cy="8771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1000" b="1" i="0" u="none" strike="noStrike" baseline="0">
                <a:solidFill>
                  <a:schemeClr val="accent1"/>
                </a:solidFill>
                <a:latin typeface="Reddit Sans"/>
                <a:ea typeface="Segoe UI"/>
                <a:cs typeface="Segoe UI"/>
              </a:rPr>
              <a:t>Para el mercado</a:t>
            </a:r>
            <a:r>
              <a:rPr lang="en-US" sz="1000" b="0" i="0">
                <a:solidFill>
                  <a:schemeClr val="accent1"/>
                </a:solidFill>
                <a:latin typeface="Reddit Sans"/>
                <a:ea typeface="Segoe UI"/>
                <a:cs typeface="Segoe UI"/>
              </a:rPr>
              <a:t>​</a:t>
            </a:r>
            <a:endParaRPr lang="es-ES"/>
          </a:p>
          <a:p>
            <a:pPr algn="l" rtl="0"/>
            <a:r>
              <a:rPr lang="es-ES" sz="900" b="0" i="0" u="none" strike="noStrike" baseline="0">
                <a:solidFill>
                  <a:schemeClr val="bg1">
                    <a:lumMod val="49000"/>
                  </a:schemeClr>
                </a:solidFill>
                <a:latin typeface="Reddit Sans"/>
                <a:ea typeface="Segoe UI"/>
                <a:cs typeface="Segoe UI"/>
              </a:rPr>
              <a:t>Un diferenciador real: el proveedor que llega con datos, herramientas y evolución continua.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FCE1D9E-1DD5-4E17-C87C-666E3BEBC55A}"/>
              </a:ext>
            </a:extLst>
          </p:cNvPr>
          <p:cNvSpPr txBox="1"/>
          <p:nvPr/>
        </p:nvSpPr>
        <p:spPr>
          <a:xfrm>
            <a:off x="179614" y="3458937"/>
            <a:ext cx="1638301" cy="10797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2250"/>
              </a:lnSpc>
            </a:pPr>
            <a:r>
              <a:rPr lang="es-ES" sz="1000" b="1" i="0" u="none" strike="noStrike" baseline="0">
                <a:solidFill>
                  <a:schemeClr val="accent1"/>
                </a:solidFill>
                <a:latin typeface="Reddit Sans"/>
                <a:ea typeface="Segoe UI"/>
                <a:cs typeface="Segoe UI"/>
              </a:rPr>
              <a:t>Para el cliente</a:t>
            </a:r>
            <a:r>
              <a:rPr lang="en-US" sz="1000" b="0" i="0" u="none" strike="noStrike" baseline="0">
                <a:solidFill>
                  <a:schemeClr val="accent1"/>
                </a:solidFill>
                <a:latin typeface="Reddit Sans"/>
                <a:ea typeface="Segoe UI"/>
                <a:cs typeface="Segoe UI"/>
              </a:rPr>
              <a:t>​</a:t>
            </a:r>
            <a:r>
              <a:rPr lang="en-US" sz="1000" b="0" i="0">
                <a:solidFill>
                  <a:schemeClr val="accent1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s-ES" sz="900" b="0" i="0" u="none" strike="noStrike" baseline="0" dirty="0" err="1">
                <a:solidFill>
                  <a:schemeClr val="bg1">
                    <a:lumMod val="49000"/>
                  </a:schemeClr>
                </a:solidFill>
                <a:latin typeface="Reddit Sans"/>
                <a:ea typeface="Segoe UI"/>
                <a:cs typeface="Segoe UI"/>
              </a:rPr>
              <a:t>SLAs</a:t>
            </a:r>
            <a:r>
              <a:rPr lang="es-ES" sz="900" b="0" i="0" u="none" strike="noStrike" baseline="0" dirty="0">
                <a:solidFill>
                  <a:schemeClr val="bg1">
                    <a:lumMod val="49000"/>
                  </a:schemeClr>
                </a:solidFill>
                <a:latin typeface="Reddit Sans"/>
                <a:ea typeface="Segoe UI"/>
                <a:cs typeface="Segoe UI"/>
              </a:rPr>
              <a:t> cumplidos, menos interrupciones y visibilidad real de la operación en tiempo real.</a:t>
            </a:r>
            <a:r>
              <a:rPr lang="en-US" sz="900" b="0" i="0" u="none" strike="noStrike" baseline="0" dirty="0">
                <a:solidFill>
                  <a:schemeClr val="bg1">
                    <a:lumMod val="49000"/>
                  </a:schemeClr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ctr"/>
            <a:endParaRPr lang="es-ES" sz="900" dirty="0">
              <a:solidFill>
                <a:schemeClr val="bg1">
                  <a:lumMod val="76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67C14FE-D254-3FEB-937C-A6119D289BF1}"/>
              </a:ext>
            </a:extLst>
          </p:cNvPr>
          <p:cNvSpPr txBox="1"/>
          <p:nvPr/>
        </p:nvSpPr>
        <p:spPr>
          <a:xfrm>
            <a:off x="2095500" y="3458935"/>
            <a:ext cx="1627415" cy="8797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2250"/>
              </a:lnSpc>
            </a:pPr>
            <a:r>
              <a:rPr lang="es-ES" sz="1000" b="1" i="0" u="none" strike="noStrike" baseline="0" dirty="0">
                <a:solidFill>
                  <a:schemeClr val="accent1"/>
                </a:solidFill>
                <a:latin typeface="Reddit Sans"/>
                <a:ea typeface="Segoe UI"/>
                <a:cs typeface="Segoe UI"/>
              </a:rPr>
              <a:t>Para </a:t>
            </a:r>
            <a:r>
              <a:rPr lang="es-ES" sz="1000" b="1" i="0" u="none" strike="noStrike" baseline="0" dirty="0" err="1">
                <a:solidFill>
                  <a:schemeClr val="accent1"/>
                </a:solidFill>
                <a:latin typeface="Reddit Sans"/>
                <a:ea typeface="Segoe UI"/>
                <a:cs typeface="Segoe UI"/>
              </a:rPr>
              <a:t>PersonalSoft</a:t>
            </a:r>
            <a:r>
              <a:rPr lang="en-US" sz="1000" b="0" i="0" u="none" strike="noStrike" baseline="0" dirty="0">
                <a:solidFill>
                  <a:schemeClr val="accent1"/>
                </a:solidFill>
                <a:latin typeface="Reddit Sans"/>
                <a:ea typeface="Segoe UI"/>
                <a:cs typeface="Segoe UI"/>
              </a:rPr>
              <a:t>​</a:t>
            </a:r>
            <a:r>
              <a:rPr lang="en-US" sz="1000" b="0" i="0" dirty="0">
                <a:solidFill>
                  <a:schemeClr val="accent1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s-ES" sz="900" b="0" i="0" u="none" strike="noStrike" baseline="0">
                <a:solidFill>
                  <a:schemeClr val="bg1">
                    <a:lumMod val="49000"/>
                  </a:schemeClr>
                </a:solidFill>
                <a:latin typeface="Reddit Sans"/>
                <a:ea typeface="Segoe UI"/>
                <a:cs typeface="Segoe UI"/>
              </a:rPr>
              <a:t>Márgenes que mejoran con la automatización.</a:t>
            </a:r>
            <a:r>
              <a:rPr lang="en-US" sz="900" b="0" i="0" u="none" strike="noStrike" baseline="0">
                <a:solidFill>
                  <a:schemeClr val="bg1">
                    <a:lumMod val="49000"/>
                  </a:schemeClr>
                </a:solidFill>
                <a:latin typeface="Reddit Sans"/>
                <a:ea typeface="Segoe UI"/>
                <a:cs typeface="Segoe UI"/>
              </a:rPr>
              <a:t>​</a:t>
            </a:r>
            <a:r>
              <a:rPr lang="en-US" sz="900" b="0" i="0">
                <a:solidFill>
                  <a:schemeClr val="bg1">
                    <a:lumMod val="49000"/>
                  </a:schemeClr>
                </a:solidFill>
                <a:latin typeface="Reddit Sans"/>
                <a:ea typeface="Segoe UI"/>
                <a:cs typeface="Segoe UI"/>
              </a:rPr>
              <a:t>​</a:t>
            </a:r>
            <a:endParaRPr lang="en-US" sz="1000" b="0" i="0" dirty="0">
              <a:solidFill>
                <a:schemeClr val="bg1">
                  <a:lumMod val="49000"/>
                </a:schemeClr>
              </a:solidFill>
              <a:latin typeface="Reddit Sans"/>
              <a:ea typeface="Segoe UI"/>
              <a:cs typeface="Segoe UI"/>
            </a:endParaRPr>
          </a:p>
          <a:p>
            <a:pPr algn="ctr"/>
            <a:endParaRPr lang="es-E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¿Por que evolucionar la Mesa de Servicios?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 dirty="0">
                <a:solidFill>
                  <a:srgbClr val="6B7280"/>
                </a:solidFill>
                <a:latin typeface="Calibri"/>
              </a:rPr>
              <a:t>La mesa reactiva ya no es viable — mercado, regulacion e IA cambiaron las reglas</a:t>
            </a:r>
          </a:p>
        </p:txBody>
      </p:sp>
      <p:sp>
        <p:nvSpPr>
          <p:cNvPr id="10" name="pb"/>
          <p:cNvSpPr>
            <a:spLocks noGrp="1"/>
          </p:cNvSpPr>
          <p:nvPr/>
        </p:nvSpPr>
        <p:spPr>
          <a:xfrm>
            <a:off x="320040" y="822960"/>
            <a:ext cx="1828800" cy="1609344"/>
          </a:xfrm>
          <a:prstGeom prst="roundRect">
            <a:avLst>
              <a:gd name="adj" fmla="val 20000"/>
            </a:avLst>
          </a:prstGeom>
          <a:solidFill>
            <a:srgbClr val="E8EDF8"/>
          </a:solidFill>
          <a:ln w="19050">
            <a:solidFill>
              <a:srgbClr val="0D1B5E"/>
            </a:solidFill>
          </a:ln>
        </p:spPr>
      </p:sp>
      <p:sp>
        <p:nvSpPr>
          <p:cNvPr id="11" name="pbar"/>
          <p:cNvSpPr>
            <a:spLocks noGrp="1"/>
          </p:cNvSpPr>
          <p:nvPr/>
        </p:nvSpPr>
        <p:spPr>
          <a:xfrm>
            <a:off x="320040" y="822960"/>
            <a:ext cx="1828800" cy="475488"/>
          </a:xfrm>
          <a:prstGeom prst="roundRect">
            <a:avLst>
              <a:gd name="adj" fmla="val 20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12" name="pbar2"/>
          <p:cNvSpPr>
            <a:spLocks noGrp="1"/>
          </p:cNvSpPr>
          <p:nvPr/>
        </p:nvSpPr>
        <p:spPr>
          <a:xfrm>
            <a:off x="320040" y="1133856"/>
            <a:ext cx="1828800" cy="164592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13" name="pnom"/>
          <p:cNvSpPr txBox="1">
            <a:spLocks noGrp="1"/>
          </p:cNvSpPr>
          <p:nvPr/>
        </p:nvSpPr>
        <p:spPr>
          <a:xfrm>
            <a:off x="320040" y="877824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50" b="1" dirty="0">
                <a:solidFill>
                  <a:srgbClr val="FFFFFF"/>
                </a:solidFill>
                <a:latin typeface="Calibri"/>
              </a:rPr>
              <a:t>Sin gobierno
estandarizado</a:t>
            </a:r>
          </a:p>
        </p:txBody>
      </p:sp>
      <p:sp>
        <p:nvSpPr>
          <p:cNvPr id="14" name="pdesc"/>
          <p:cNvSpPr txBox="1">
            <a:spLocks noGrp="1"/>
          </p:cNvSpPr>
          <p:nvPr/>
        </p:nvSpPr>
        <p:spPr>
          <a:xfrm>
            <a:off x="411480" y="137160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dirty="0">
                <a:solidFill>
                  <a:srgbClr val="0D1B5E"/>
                </a:solidFill>
                <a:latin typeface="Calibri"/>
              </a:rPr>
              <a:t>Cada mesa opera diferente · Sin RACI · El Service Manager improvisa</a:t>
            </a:r>
          </a:p>
        </p:txBody>
      </p:sp>
      <p:sp>
        <p:nvSpPr>
          <p:cNvPr id="6" name="pb"/>
          <p:cNvSpPr>
            <a:spLocks noGrp="1"/>
          </p:cNvSpPr>
          <p:nvPr/>
        </p:nvSpPr>
        <p:spPr>
          <a:xfrm>
            <a:off x="2258568" y="822960"/>
            <a:ext cx="1828800" cy="1609344"/>
          </a:xfrm>
          <a:prstGeom prst="roundRect">
            <a:avLst>
              <a:gd name="adj" fmla="val 20000"/>
            </a:avLst>
          </a:prstGeom>
          <a:solidFill>
            <a:srgbClr val="EBF3FF"/>
          </a:solidFill>
          <a:ln w="19050">
            <a:solidFill>
              <a:srgbClr val="1A3A8F"/>
            </a:solidFill>
          </a:ln>
        </p:spPr>
      </p:sp>
      <p:sp>
        <p:nvSpPr>
          <p:cNvPr id="15" name="pbar"/>
          <p:cNvSpPr>
            <a:spLocks noGrp="1"/>
          </p:cNvSpPr>
          <p:nvPr/>
        </p:nvSpPr>
        <p:spPr>
          <a:xfrm>
            <a:off x="2258568" y="822960"/>
            <a:ext cx="1828800" cy="475488"/>
          </a:xfrm>
          <a:prstGeom prst="roundRect">
            <a:avLst>
              <a:gd name="adj" fmla="val 20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6" name="pbar2"/>
          <p:cNvSpPr>
            <a:spLocks noGrp="1"/>
          </p:cNvSpPr>
          <p:nvPr/>
        </p:nvSpPr>
        <p:spPr>
          <a:xfrm>
            <a:off x="2258568" y="1133856"/>
            <a:ext cx="1828800" cy="164592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17" name="pnom"/>
          <p:cNvSpPr txBox="1">
            <a:spLocks noGrp="1"/>
          </p:cNvSpPr>
          <p:nvPr/>
        </p:nvSpPr>
        <p:spPr>
          <a:xfrm>
            <a:off x="2258568" y="877824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50" b="1" dirty="0">
                <a:solidFill>
                  <a:srgbClr val="FFFFFF"/>
                </a:solidFill>
                <a:latin typeface="Calibri"/>
              </a:rPr>
              <a:t>Escalabilidad
limitada</a:t>
            </a:r>
          </a:p>
        </p:txBody>
      </p:sp>
      <p:sp>
        <p:nvSpPr>
          <p:cNvPr id="18" name="pdesc"/>
          <p:cNvSpPr txBox="1">
            <a:spLocks noGrp="1"/>
          </p:cNvSpPr>
          <p:nvPr/>
        </p:nvSpPr>
        <p:spPr>
          <a:xfrm>
            <a:off x="2350008" y="137160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dirty="0">
                <a:solidFill>
                  <a:srgbClr val="1A3A8F"/>
                </a:solidFill>
                <a:latin typeface="Calibri"/>
              </a:rPr>
              <a:t>El crecimiento requiere mas FTEs · Sin deflexion · Costo lineal sin fin</a:t>
            </a:r>
          </a:p>
        </p:txBody>
      </p:sp>
      <p:sp>
        <p:nvSpPr>
          <p:cNvPr id="7" name="pb"/>
          <p:cNvSpPr>
            <a:spLocks noGrp="1"/>
          </p:cNvSpPr>
          <p:nvPr/>
        </p:nvSpPr>
        <p:spPr>
          <a:xfrm>
            <a:off x="4197096" y="822960"/>
            <a:ext cx="1828800" cy="1609344"/>
          </a:xfrm>
          <a:prstGeom prst="roundRect">
            <a:avLst>
              <a:gd name="adj" fmla="val 20000"/>
            </a:avLst>
          </a:prstGeom>
          <a:solidFill>
            <a:srgbClr val="E8F6F7"/>
          </a:solidFill>
          <a:ln w="19050">
            <a:solidFill>
              <a:srgbClr val="1B7B85"/>
            </a:solidFill>
          </a:ln>
        </p:spPr>
      </p:sp>
      <p:sp>
        <p:nvSpPr>
          <p:cNvPr id="19" name="pbar"/>
          <p:cNvSpPr>
            <a:spLocks noGrp="1"/>
          </p:cNvSpPr>
          <p:nvPr/>
        </p:nvSpPr>
        <p:spPr>
          <a:xfrm>
            <a:off x="4197096" y="822960"/>
            <a:ext cx="1828800" cy="475488"/>
          </a:xfrm>
          <a:prstGeom prst="roundRect">
            <a:avLst>
              <a:gd name="adj" fmla="val 20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20" name="pbar2"/>
          <p:cNvSpPr>
            <a:spLocks noGrp="1"/>
          </p:cNvSpPr>
          <p:nvPr/>
        </p:nvSpPr>
        <p:spPr>
          <a:xfrm>
            <a:off x="4197096" y="1133856"/>
            <a:ext cx="1828800" cy="164592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21" name="pnom"/>
          <p:cNvSpPr txBox="1">
            <a:spLocks noGrp="1"/>
          </p:cNvSpPr>
          <p:nvPr/>
        </p:nvSpPr>
        <p:spPr>
          <a:xfrm>
            <a:off x="4197096" y="877824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50" b="1" dirty="0">
                <a:solidFill>
                  <a:srgbClr val="FFFFFF"/>
                </a:solidFill>
                <a:latin typeface="Calibri"/>
              </a:rPr>
              <a:t>Automatizacion
minima</a:t>
            </a:r>
          </a:p>
        </p:txBody>
      </p:sp>
      <p:sp>
        <p:nvSpPr>
          <p:cNvPr id="22" name="pdesc"/>
          <p:cNvSpPr txBox="1">
            <a:spLocks noGrp="1"/>
          </p:cNvSpPr>
          <p:nvPr/>
        </p:nvSpPr>
        <p:spPr>
          <a:xfrm>
            <a:off x="4288536" y="137160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dirty="0">
                <a:solidFill>
                  <a:srgbClr val="1B7B85"/>
                </a:solidFill>
                <a:latin typeface="Calibri"/>
              </a:rPr>
              <a:t>Alta dependencia de tareas manuales · Conocimiento concentrado en personas</a:t>
            </a:r>
          </a:p>
        </p:txBody>
      </p:sp>
      <p:sp>
        <p:nvSpPr>
          <p:cNvPr id="8" name="pb"/>
          <p:cNvSpPr>
            <a:spLocks noGrp="1"/>
          </p:cNvSpPr>
          <p:nvPr/>
        </p:nvSpPr>
        <p:spPr>
          <a:xfrm>
            <a:off x="6135624" y="822960"/>
            <a:ext cx="1828800" cy="1609344"/>
          </a:xfrm>
          <a:prstGeom prst="roundRect">
            <a:avLst>
              <a:gd name="adj" fmla="val 20000"/>
            </a:avLst>
          </a:prstGeom>
          <a:solidFill>
            <a:srgbClr val="E8F2FF"/>
          </a:solidFill>
          <a:ln w="19050">
            <a:solidFill>
              <a:srgbClr val="1F6FBA"/>
            </a:solidFill>
          </a:ln>
        </p:spPr>
      </p:sp>
      <p:sp>
        <p:nvSpPr>
          <p:cNvPr id="23" name="pbar"/>
          <p:cNvSpPr>
            <a:spLocks noGrp="1"/>
          </p:cNvSpPr>
          <p:nvPr/>
        </p:nvSpPr>
        <p:spPr>
          <a:xfrm>
            <a:off x="6135624" y="822960"/>
            <a:ext cx="1828800" cy="475488"/>
          </a:xfrm>
          <a:prstGeom prst="roundRect">
            <a:avLst>
              <a:gd name="adj" fmla="val 20000"/>
            </a:avLst>
          </a:prstGeom>
          <a:solidFill>
            <a:srgbClr val="1F6FBA"/>
          </a:solidFill>
          <a:ln>
            <a:noFill/>
          </a:ln>
        </p:spPr>
      </p:sp>
      <p:sp>
        <p:nvSpPr>
          <p:cNvPr id="24" name="pbar2"/>
          <p:cNvSpPr>
            <a:spLocks noGrp="1"/>
          </p:cNvSpPr>
          <p:nvPr/>
        </p:nvSpPr>
        <p:spPr>
          <a:xfrm>
            <a:off x="6135624" y="1133856"/>
            <a:ext cx="1828800" cy="164592"/>
          </a:xfrm>
          <a:prstGeom prst="rect">
            <a:avLst/>
          </a:prstGeom>
          <a:solidFill>
            <a:srgbClr val="1F6FBA"/>
          </a:solidFill>
          <a:ln>
            <a:noFill/>
          </a:ln>
        </p:spPr>
      </p:sp>
      <p:sp>
        <p:nvSpPr>
          <p:cNvPr id="25" name="pnom"/>
          <p:cNvSpPr txBox="1">
            <a:spLocks noGrp="1"/>
          </p:cNvSpPr>
          <p:nvPr/>
        </p:nvSpPr>
        <p:spPr>
          <a:xfrm>
            <a:off x="6135624" y="877824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50" b="1" dirty="0">
                <a:solidFill>
                  <a:srgbClr val="FFFFFF"/>
                </a:solidFill>
                <a:latin typeface="Calibri"/>
              </a:rPr>
              <a:t>Sin observabilidad</a:t>
            </a:r>
          </a:p>
        </p:txBody>
      </p:sp>
      <p:sp>
        <p:nvSpPr>
          <p:cNvPr id="26" name="pdesc"/>
          <p:cNvSpPr txBox="1">
            <a:spLocks noGrp="1"/>
          </p:cNvSpPr>
          <p:nvPr/>
        </p:nvSpPr>
        <p:spPr>
          <a:xfrm>
            <a:off x="6227064" y="137160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dirty="0">
                <a:solidFill>
                  <a:srgbClr val="1F6FBA"/>
                </a:solidFill>
                <a:latin typeface="Calibri"/>
              </a:rPr>
              <a:t>KPIs inexistentes o manuales · Nadie sabe si el servicio es bueno en tiempo real</a:t>
            </a:r>
          </a:p>
        </p:txBody>
      </p:sp>
      <p:sp>
        <p:nvSpPr>
          <p:cNvPr id="40" name="concl"/>
          <p:cNvSpPr>
            <a:spLocks noGrp="1"/>
          </p:cNvSpPr>
          <p:nvPr/>
        </p:nvSpPr>
        <p:spPr>
          <a:xfrm>
            <a:off x="320040" y="2560320"/>
            <a:ext cx="7717536" cy="256032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875">
            <a:solidFill>
              <a:srgbClr val="F59E0B"/>
            </a:solidFill>
          </a:ln>
        </p:spPr>
      </p:sp>
      <p:sp>
        <p:nvSpPr>
          <p:cNvPr id="41" name="conclT"/>
          <p:cNvSpPr txBox="1">
            <a:spLocks noGrp="1"/>
          </p:cNvSpPr>
          <p:nvPr/>
        </p:nvSpPr>
        <p:spPr>
          <a:xfrm>
            <a:off x="457200" y="2560320"/>
            <a:ext cx="7498079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 b="1" dirty="0">
                <a:solidFill>
                  <a:srgbClr val="92400E"/>
                </a:solidFill>
                <a:latin typeface="Calibri"/>
              </a:rPr>
              <a:t>Resultado: </a:t>
            </a:r>
            <a:r>
              <a:rPr lang="es-ES" sz="1000" dirty="0">
                <a:solidFill>
                  <a:srgbClr val="92400E"/>
                </a:solidFill>
                <a:latin typeface="Calibri"/>
              </a:rPr>
              <a:t>el equipo trabaja mas horas, el cliente percibe menos calidad y PS pierde margen</a:t>
            </a:r>
          </a:p>
        </p:txBody>
      </p:sp>
      <p:sp>
        <p:nvSpPr>
          <p:cNvPr id="42" name="oport"/>
          <p:cNvSpPr>
            <a:spLocks noGrp="1"/>
          </p:cNvSpPr>
          <p:nvPr/>
        </p:nvSpPr>
        <p:spPr>
          <a:xfrm>
            <a:off x="320040" y="2907792"/>
            <a:ext cx="7717536" cy="1353312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9525">
            <a:solidFill>
              <a:srgbClr val="D1D5DB"/>
            </a:solidFill>
          </a:ln>
        </p:spPr>
      </p:sp>
      <p:sp>
        <p:nvSpPr>
          <p:cNvPr id="43" name="oportH"/>
          <p:cNvSpPr>
            <a:spLocks noGrp="1"/>
          </p:cNvSpPr>
          <p:nvPr/>
        </p:nvSpPr>
        <p:spPr>
          <a:xfrm>
            <a:off x="320040" y="2907792"/>
            <a:ext cx="7717536" cy="274320"/>
          </a:xfrm>
          <a:prstGeom prst="roundRect">
            <a:avLst>
              <a:gd name="adj" fmla="val 12000"/>
            </a:avLst>
          </a:prstGeom>
          <a:solidFill>
            <a:srgbClr val="1A6B3C"/>
          </a:solidFill>
          <a:ln>
            <a:noFill/>
          </a:ln>
        </p:spPr>
      </p:sp>
      <p:sp>
        <p:nvSpPr>
          <p:cNvPr id="44" name="oportHT"/>
          <p:cNvSpPr txBox="1">
            <a:spLocks noGrp="1"/>
          </p:cNvSpPr>
          <p:nvPr/>
        </p:nvSpPr>
        <p:spPr>
          <a:xfrm>
            <a:off x="320040" y="2907792"/>
            <a:ext cx="77175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50" b="1" dirty="0">
                <a:solidFill>
                  <a:srgbClr val="FFFFFF"/>
                </a:solidFill>
                <a:latin typeface="Calibri"/>
              </a:rPr>
              <a:t>La oportunidad: pasar de Mesa de Ayuda Reactiva a Mesa Gen Next</a:t>
            </a:r>
          </a:p>
        </p:txBody>
      </p:sp>
      <p:sp>
        <p:nvSpPr>
          <p:cNvPr id="50" name="ot"/>
          <p:cNvSpPr txBox="1">
            <a:spLocks noGrp="1"/>
          </p:cNvSpPr>
          <p:nvPr/>
        </p:nvSpPr>
        <p:spPr>
          <a:xfrm>
            <a:off x="457200" y="3255264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 dirty="0">
                <a:solidFill>
                  <a:srgbClr val="1A6B3C"/>
                </a:solidFill>
                <a:latin typeface="Calibri"/>
              </a:rPr>
              <a:t>► ITIL v5 + N3: </a:t>
            </a:r>
            <a:r>
              <a:rPr lang="es-ES" sz="920" dirty="0">
                <a:solidFill>
                  <a:srgbClr val="6B7280"/>
                </a:solidFill>
                <a:latin typeface="Calibri"/>
              </a:rPr>
              <a:t>Estandarizar gobierno, catalogar y firmar ANS reales en cada mesa</a:t>
            </a:r>
          </a:p>
        </p:txBody>
      </p:sp>
      <p:sp>
        <p:nvSpPr>
          <p:cNvPr id="52" name="ot"/>
          <p:cNvSpPr txBox="1">
            <a:spLocks noGrp="1"/>
          </p:cNvSpPr>
          <p:nvPr/>
        </p:nvSpPr>
        <p:spPr>
          <a:xfrm>
            <a:off x="4297680" y="3255264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 dirty="0">
                <a:solidFill>
                  <a:srgbClr val="1A6B3C"/>
                </a:solidFill>
                <a:latin typeface="Calibri"/>
              </a:rPr>
              <a:t>► IA Agéntica: </a:t>
            </a:r>
            <a:r>
              <a:rPr lang="es-ES" sz="920" dirty="0">
                <a:solidFill>
                  <a:srgbClr val="6B7280"/>
                </a:solidFill>
                <a:latin typeface="Calibri"/>
              </a:rPr>
              <a:t>ChatBot N0 + KCS para deflexion mayor 30% desde el primer mes</a:t>
            </a:r>
          </a:p>
        </p:txBody>
      </p:sp>
      <p:sp>
        <p:nvSpPr>
          <p:cNvPr id="54" name="ot"/>
          <p:cNvSpPr txBox="1">
            <a:spLocks noGrp="1"/>
          </p:cNvSpPr>
          <p:nvPr/>
        </p:nvSpPr>
        <p:spPr>
          <a:xfrm>
            <a:off x="457200" y="3712464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 dirty="0">
                <a:solidFill>
                  <a:srgbClr val="1A6B3C"/>
                </a:solidFill>
                <a:latin typeface="Calibri"/>
              </a:rPr>
              <a:t>► AIOps: </a:t>
            </a:r>
            <a:r>
              <a:rPr lang="es-ES" sz="920" dirty="0">
                <a:solidFill>
                  <a:srgbClr val="6B7280"/>
                </a:solidFill>
                <a:latin typeface="Calibri"/>
              </a:rPr>
              <a:t>Observabilidad que detecta antes que el usuario reporte</a:t>
            </a:r>
          </a:p>
        </p:txBody>
      </p:sp>
      <p:sp>
        <p:nvSpPr>
          <p:cNvPr id="56" name="ot"/>
          <p:cNvSpPr txBox="1">
            <a:spLocks noGrp="1"/>
          </p:cNvSpPr>
          <p:nvPr/>
        </p:nvSpPr>
        <p:spPr>
          <a:xfrm>
            <a:off x="4297680" y="3712464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 dirty="0">
                <a:solidFill>
                  <a:srgbClr val="1A6B3C"/>
                </a:solidFill>
                <a:latin typeface="Calibri"/>
              </a:rPr>
              <a:t>► Outcome-Based: </a:t>
            </a:r>
            <a:r>
              <a:rPr lang="es-ES" sz="920" dirty="0">
                <a:solidFill>
                  <a:srgbClr val="6B7280"/>
                </a:solidFill>
                <a:latin typeface="Calibri"/>
              </a:rPr>
              <a:t>Cobrar por resultados, no por FTEs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623E63C6-3026-A4C8-1A1D-ED5AF21F9D37}"/>
              </a:ext>
            </a:extLst>
          </p:cNvPr>
          <p:cNvSpPr/>
          <p:nvPr/>
        </p:nvSpPr>
        <p:spPr>
          <a:xfrm>
            <a:off x="340281" y="3802924"/>
            <a:ext cx="4490900" cy="959575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endParaRPr lang="es-CO" sz="1400" b="1" dirty="0">
              <a:solidFill>
                <a:srgbClr val="213F7D"/>
              </a:solidFill>
              <a:latin typeface="Reddit Sans"/>
              <a:ea typeface="Reddit Sans"/>
            </a:endParaRPr>
          </a:p>
        </p:txBody>
      </p:sp>
      <p:sp>
        <p:nvSpPr>
          <p:cNvPr id="9" name="Rounded Rectangle 2">
            <a:extLst>
              <a:ext uri="{FF2B5EF4-FFF2-40B4-BE49-F238E27FC236}">
                <a16:creationId xmlns:a16="http://schemas.microsoft.com/office/drawing/2014/main" id="{BBF41AF2-8F1A-A51E-163A-4BAFCFFD8F0E}"/>
              </a:ext>
            </a:extLst>
          </p:cNvPr>
          <p:cNvSpPr/>
          <p:nvPr/>
        </p:nvSpPr>
        <p:spPr>
          <a:xfrm>
            <a:off x="340282" y="2763338"/>
            <a:ext cx="4490900" cy="959575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endParaRPr lang="es-CO" sz="1400" b="1" dirty="0">
              <a:solidFill>
                <a:srgbClr val="213F7D"/>
              </a:solidFill>
              <a:latin typeface="Reddit Sans"/>
              <a:ea typeface="Reddit Sans"/>
            </a:endParaRP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30C310E-2681-D6E2-62FA-521F760F6BBC}"/>
              </a:ext>
            </a:extLst>
          </p:cNvPr>
          <p:cNvSpPr/>
          <p:nvPr/>
        </p:nvSpPr>
        <p:spPr>
          <a:xfrm>
            <a:off x="340282" y="1723753"/>
            <a:ext cx="4490900" cy="959575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endParaRPr lang="es-CO" sz="1400" b="1" dirty="0">
              <a:solidFill>
                <a:srgbClr val="213F7D"/>
              </a:solidFill>
              <a:latin typeface="Reddit Sans"/>
              <a:ea typeface="Reddit Sans"/>
            </a:endParaRP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FD725EAA-5DE4-78BB-B837-29AE994A29CB}"/>
              </a:ext>
            </a:extLst>
          </p:cNvPr>
          <p:cNvSpPr/>
          <p:nvPr/>
        </p:nvSpPr>
        <p:spPr>
          <a:xfrm>
            <a:off x="362053" y="700497"/>
            <a:ext cx="4490900" cy="959575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endParaRPr lang="es-CO" sz="1400" b="1" dirty="0">
              <a:solidFill>
                <a:srgbClr val="213F7D"/>
              </a:solidFill>
              <a:latin typeface="Reddit Sans"/>
              <a:ea typeface="Reddit San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15F133-DCFA-C0B8-1846-1B4B2E47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kern="1200" dirty="0" err="1">
                <a:cs typeface="+mn-cs"/>
                <a:sym typeface="Arial"/>
              </a:rPr>
              <a:t>Brechas</a:t>
            </a:r>
            <a:r>
              <a:rPr lang="en-US" sz="1800" kern="1200" dirty="0">
                <a:cs typeface="+mn-cs"/>
                <a:sym typeface="Arial"/>
              </a:rPr>
              <a:t> del mercado y </a:t>
            </a:r>
            <a:r>
              <a:rPr lang="en-US" sz="1800" kern="1200" dirty="0" err="1">
                <a:cs typeface="+mn-cs"/>
                <a:sym typeface="Arial"/>
              </a:rPr>
              <a:t>oportunidades</a:t>
            </a:r>
            <a:endParaRPr lang="es-ES" sz="1800" kern="1200" dirty="0" err="1">
              <a:cs typeface="+mn-cs"/>
              <a:sym typeface="Arial"/>
            </a:endParaRPr>
          </a:p>
        </p:txBody>
      </p:sp>
      <p:pic>
        <p:nvPicPr>
          <p:cNvPr id="4" name="Content Placeholder 3" descr="Concepto de Aseguramiento de la Calidad con Iconos y Palabras Clave">
            <a:extLst>
              <a:ext uri="{FF2B5EF4-FFF2-40B4-BE49-F238E27FC236}">
                <a16:creationId xmlns:a16="http://schemas.microsoft.com/office/drawing/2014/main" id="{FF8F9810-FC62-43E6-9839-27EF1F1D8CDC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r="-1" b="7811"/>
          <a:stretch>
            <a:fillRect/>
          </a:stretch>
        </p:blipFill>
        <p:spPr>
          <a:xfrm>
            <a:off x="5394413" y="772322"/>
            <a:ext cx="3450226" cy="318240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D95AC8E-9D82-484D-9010-F28844ECB1E3}"/>
              </a:ext>
            </a:extLst>
          </p:cNvPr>
          <p:cNvSpPr txBox="1"/>
          <p:nvPr/>
        </p:nvSpPr>
        <p:spPr>
          <a:xfrm>
            <a:off x="359229" y="699407"/>
            <a:ext cx="4365172" cy="41292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rgbClr val="0E337C"/>
                </a:solidFill>
                <a:latin typeface="Reddit Sans"/>
                <a:cs typeface="Segoe UI"/>
              </a:rPr>
              <a:t>Falta de </a:t>
            </a:r>
            <a:r>
              <a:rPr lang="en-US" sz="1100" b="1" dirty="0" err="1">
                <a:solidFill>
                  <a:srgbClr val="0E337C"/>
                </a:solidFill>
                <a:latin typeface="Reddit Sans"/>
                <a:cs typeface="Segoe UI"/>
              </a:rPr>
              <a:t>Modelos</a:t>
            </a:r>
            <a:r>
              <a:rPr lang="en-US" sz="1100" b="1" dirty="0">
                <a:solidFill>
                  <a:srgbClr val="0E337C"/>
                </a:solidFill>
                <a:latin typeface="Reddit Sans"/>
                <a:cs typeface="Segoe UI"/>
              </a:rPr>
              <a:t> de </a:t>
            </a:r>
            <a:r>
              <a:rPr lang="en-US" sz="1100" b="1" dirty="0" err="1">
                <a:solidFill>
                  <a:srgbClr val="0E337C"/>
                </a:solidFill>
                <a:latin typeface="Reddit Sans"/>
                <a:cs typeface="Segoe UI"/>
              </a:rPr>
              <a:t>Madurez</a:t>
            </a:r>
            <a:r>
              <a:rPr lang="en-US" sz="1100" b="1" dirty="0">
                <a:solidFill>
                  <a:srgbClr val="0E337C"/>
                </a:solidFill>
                <a:latin typeface="Reddit Sans"/>
                <a:cs typeface="Segoe UI"/>
              </a:rPr>
              <a:t>​ </a:t>
            </a:r>
            <a:endParaRPr lang="es-ES" sz="1100" b="1">
              <a:solidFill>
                <a:srgbClr val="0E337C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444444"/>
                </a:solidFill>
                <a:latin typeface="Reddit Sans"/>
                <a:cs typeface="Segoe UI"/>
              </a:rPr>
              <a:t>No </a:t>
            </a:r>
            <a:r>
              <a:rPr lang="en-US" sz="1100" dirty="0" err="1">
                <a:solidFill>
                  <a:srgbClr val="444444"/>
                </a:solidFill>
                <a:latin typeface="Reddit Sans"/>
                <a:cs typeface="Segoe UI"/>
              </a:rPr>
              <a:t>existen</a:t>
            </a:r>
            <a:r>
              <a:rPr lang="en-US" sz="1100" dirty="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Reddit Sans"/>
                <a:cs typeface="Segoe UI"/>
              </a:rPr>
              <a:t>modelos</a:t>
            </a:r>
            <a:r>
              <a:rPr lang="en-US" sz="1100" dirty="0">
                <a:solidFill>
                  <a:srgbClr val="444444"/>
                </a:solidFill>
                <a:latin typeface="Reddit Sans"/>
                <a:cs typeface="Segoe UI"/>
              </a:rPr>
              <a:t> claros </a:t>
            </a:r>
            <a:r>
              <a:rPr lang="en-US" sz="1100" dirty="0" err="1">
                <a:solidFill>
                  <a:srgbClr val="444444"/>
                </a:solidFill>
                <a:latin typeface="Reddit Sans"/>
                <a:cs typeface="Segoe UI"/>
              </a:rPr>
              <a:t>que</a:t>
            </a:r>
            <a:r>
              <a:rPr lang="en-US" sz="1100" dirty="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Reddit Sans"/>
                <a:cs typeface="Segoe UI"/>
              </a:rPr>
              <a:t>ayuden</a:t>
            </a:r>
            <a:r>
              <a:rPr lang="en-US" sz="1100" dirty="0">
                <a:solidFill>
                  <a:srgbClr val="444444"/>
                </a:solidFill>
                <a:latin typeface="Reddit Sans"/>
                <a:cs typeface="Segoe UI"/>
              </a:rPr>
              <a:t> a </a:t>
            </a:r>
            <a:r>
              <a:rPr lang="en-US" sz="1100" dirty="0" err="1">
                <a:solidFill>
                  <a:srgbClr val="444444"/>
                </a:solidFill>
                <a:latin typeface="Reddit Sans"/>
                <a:cs typeface="Segoe UI"/>
              </a:rPr>
              <a:t>los</a:t>
            </a:r>
            <a:r>
              <a:rPr lang="en-US" sz="1100" dirty="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Reddit Sans"/>
                <a:cs typeface="Segoe UI"/>
              </a:rPr>
              <a:t>clientes</a:t>
            </a:r>
            <a:r>
              <a:rPr lang="en-US" sz="1100" dirty="0">
                <a:solidFill>
                  <a:srgbClr val="444444"/>
                </a:solidFill>
                <a:latin typeface="Reddit Sans"/>
                <a:cs typeface="Segoe UI"/>
              </a:rPr>
              <a:t> a </a:t>
            </a:r>
            <a:r>
              <a:rPr lang="en-US" sz="1100" dirty="0" err="1">
                <a:solidFill>
                  <a:srgbClr val="444444"/>
                </a:solidFill>
                <a:latin typeface="Reddit Sans"/>
                <a:cs typeface="Segoe UI"/>
              </a:rPr>
              <a:t>entender</a:t>
            </a:r>
            <a:r>
              <a:rPr lang="en-US" sz="1100" dirty="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Reddit Sans"/>
                <a:cs typeface="Segoe UI"/>
              </a:rPr>
              <a:t>su</a:t>
            </a:r>
            <a:r>
              <a:rPr lang="en-US" sz="1100" dirty="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Reddit Sans"/>
                <a:cs typeface="Segoe UI"/>
              </a:rPr>
              <a:t>estado</a:t>
            </a:r>
            <a:r>
              <a:rPr lang="en-US" sz="1100" dirty="0">
                <a:solidFill>
                  <a:srgbClr val="444444"/>
                </a:solidFill>
                <a:latin typeface="Reddit Sans"/>
                <a:cs typeface="Segoe UI"/>
              </a:rPr>
              <a:t> actual y </a:t>
            </a:r>
            <a:r>
              <a:rPr lang="en-US" sz="1100" dirty="0" err="1">
                <a:solidFill>
                  <a:srgbClr val="444444"/>
                </a:solidFill>
                <a:latin typeface="Reddit Sans"/>
                <a:cs typeface="Segoe UI"/>
              </a:rPr>
              <a:t>evolución</a:t>
            </a:r>
            <a:r>
              <a:rPr lang="en-US" sz="1100" dirty="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Reddit Sans"/>
                <a:cs typeface="Segoe UI"/>
              </a:rPr>
              <a:t>en</a:t>
            </a:r>
            <a:r>
              <a:rPr lang="en-US" sz="1100" dirty="0">
                <a:solidFill>
                  <a:srgbClr val="444444"/>
                </a:solidFill>
                <a:latin typeface="Reddit Sans"/>
                <a:cs typeface="Segoe UI"/>
              </a:rPr>
              <a:t> ITSM con IA.​ </a:t>
            </a:r>
          </a:p>
          <a:p>
            <a:pPr>
              <a:lnSpc>
                <a:spcPct val="150000"/>
              </a:lnSpc>
            </a:pPr>
            <a:endParaRPr lang="en-US" sz="1100" dirty="0">
              <a:latin typeface="Reddit Sans"/>
              <a:ea typeface="Reddit Sans"/>
            </a:endParaRPr>
          </a:p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rgbClr val="0E337C"/>
                </a:solidFill>
                <a:latin typeface="Reddit Sans"/>
                <a:cs typeface="Segoe UI"/>
              </a:rPr>
              <a:t>Limitada </a:t>
            </a:r>
            <a:r>
              <a:rPr lang="en-US" sz="1100" b="1" dirty="0" err="1">
                <a:solidFill>
                  <a:srgbClr val="0E337C"/>
                </a:solidFill>
                <a:latin typeface="Reddit Sans"/>
                <a:cs typeface="Segoe UI"/>
              </a:rPr>
              <a:t>Gobernanza</a:t>
            </a:r>
            <a:r>
              <a:rPr lang="en-US" sz="1100" b="1" dirty="0">
                <a:solidFill>
                  <a:srgbClr val="0E337C"/>
                </a:solidFill>
                <a:latin typeface="Reddit Sans"/>
                <a:cs typeface="Segoe UI"/>
              </a:rPr>
              <a:t> de IA​ </a:t>
            </a:r>
            <a:endParaRPr lang="en-US" sz="1100" b="1">
              <a:solidFill>
                <a:srgbClr val="0E337C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latin typeface="Reddit Sans"/>
                <a:ea typeface="Reddit Sans"/>
              </a:rPr>
              <a:t>La </a:t>
            </a:r>
            <a:r>
              <a:rPr lang="en-US" sz="1100" dirty="0" err="1">
                <a:latin typeface="Reddit Sans"/>
                <a:ea typeface="Reddit Sans"/>
              </a:rPr>
              <a:t>gobernanza</a:t>
            </a:r>
            <a:r>
              <a:rPr lang="en-US" sz="1100" dirty="0">
                <a:latin typeface="Reddit Sans"/>
                <a:ea typeface="Reddit Sans"/>
              </a:rPr>
              <a:t> de </a:t>
            </a:r>
            <a:r>
              <a:rPr lang="en-US" sz="1100" dirty="0" err="1">
                <a:latin typeface="Reddit Sans"/>
                <a:ea typeface="Reddit Sans"/>
              </a:rPr>
              <a:t>inteligencia</a:t>
            </a:r>
            <a:r>
              <a:rPr lang="en-US" sz="1100" dirty="0">
                <a:latin typeface="Reddit Sans"/>
                <a:ea typeface="Reddit Sans"/>
              </a:rPr>
              <a:t> artificial </a:t>
            </a:r>
            <a:r>
              <a:rPr lang="en-US" sz="1100" dirty="0" err="1">
                <a:latin typeface="Reddit Sans"/>
                <a:ea typeface="Reddit Sans"/>
              </a:rPr>
              <a:t>está</a:t>
            </a:r>
            <a:r>
              <a:rPr lang="en-US" sz="1100" dirty="0">
                <a:latin typeface="Reddit Sans"/>
                <a:ea typeface="Reddit Sans"/>
              </a:rPr>
              <a:t> poco </a:t>
            </a:r>
            <a:r>
              <a:rPr lang="en-US" sz="1100" dirty="0" err="1">
                <a:latin typeface="Reddit Sans"/>
                <a:ea typeface="Reddit Sans"/>
              </a:rPr>
              <a:t>desarrollada</a:t>
            </a:r>
            <a:r>
              <a:rPr lang="en-US" sz="1100" dirty="0">
                <a:latin typeface="Reddit Sans"/>
                <a:ea typeface="Reddit Sans"/>
              </a:rPr>
              <a:t>, </a:t>
            </a:r>
            <a:r>
              <a:rPr lang="en-US" sz="1100" dirty="0" err="1">
                <a:latin typeface="Reddit Sans"/>
                <a:ea typeface="Reddit Sans"/>
              </a:rPr>
              <a:t>creando</a:t>
            </a:r>
            <a:r>
              <a:rPr lang="en-US" sz="1100" dirty="0">
                <a:latin typeface="Reddit Sans"/>
                <a:ea typeface="Reddit Sans"/>
              </a:rPr>
              <a:t> </a:t>
            </a:r>
            <a:r>
              <a:rPr lang="en-US" sz="1100" dirty="0" err="1">
                <a:latin typeface="Reddit Sans"/>
                <a:ea typeface="Reddit Sans"/>
              </a:rPr>
              <a:t>riesgos</a:t>
            </a:r>
            <a:r>
              <a:rPr lang="en-US" sz="1100" dirty="0">
                <a:latin typeface="Reddit Sans"/>
                <a:ea typeface="Reddit Sans"/>
              </a:rPr>
              <a:t> y </a:t>
            </a:r>
            <a:r>
              <a:rPr lang="en-US" sz="1100" dirty="0" err="1">
                <a:latin typeface="Reddit Sans"/>
                <a:ea typeface="Reddit Sans"/>
              </a:rPr>
              <a:t>limitando</a:t>
            </a:r>
            <a:r>
              <a:rPr lang="en-US" sz="1100" dirty="0">
                <a:latin typeface="Reddit Sans"/>
                <a:ea typeface="Reddit Sans"/>
              </a:rPr>
              <a:t> la </a:t>
            </a:r>
            <a:r>
              <a:rPr lang="en-US" sz="1100" dirty="0" err="1">
                <a:latin typeface="Reddit Sans"/>
                <a:ea typeface="Reddit Sans"/>
              </a:rPr>
              <a:t>adopción</a:t>
            </a:r>
            <a:r>
              <a:rPr lang="en-US" sz="1100" dirty="0">
                <a:latin typeface="Reddit Sans"/>
                <a:ea typeface="Reddit Sans"/>
              </a:rPr>
              <a:t> </a:t>
            </a:r>
            <a:r>
              <a:rPr lang="en-US" sz="1100" dirty="0" err="1">
                <a:latin typeface="Reddit Sans"/>
                <a:ea typeface="Reddit Sans"/>
              </a:rPr>
              <a:t>tecnológica</a:t>
            </a:r>
            <a:r>
              <a:rPr lang="en-US" sz="1100" dirty="0">
                <a:latin typeface="Reddit Sans"/>
                <a:ea typeface="Reddit Sans"/>
              </a:rPr>
              <a:t>.​ </a:t>
            </a:r>
          </a:p>
          <a:p>
            <a:pPr>
              <a:lnSpc>
                <a:spcPct val="150000"/>
              </a:lnSpc>
            </a:pPr>
            <a:endParaRPr lang="en-US" sz="1100" b="1" dirty="0">
              <a:solidFill>
                <a:srgbClr val="0E337C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n-US" sz="1100" b="1" dirty="0" err="1">
                <a:solidFill>
                  <a:srgbClr val="0E337C"/>
                </a:solidFill>
                <a:latin typeface="Reddit Sans"/>
                <a:cs typeface="Segoe UI"/>
              </a:rPr>
              <a:t>Desalineación</a:t>
            </a:r>
            <a:r>
              <a:rPr lang="en-US" sz="1100" b="1" dirty="0">
                <a:solidFill>
                  <a:srgbClr val="0E337C"/>
                </a:solidFill>
                <a:latin typeface="Reddit Sans"/>
                <a:cs typeface="Segoe UI"/>
              </a:rPr>
              <a:t> de </a:t>
            </a:r>
            <a:r>
              <a:rPr lang="en-US" sz="1100" b="1" dirty="0" err="1">
                <a:solidFill>
                  <a:srgbClr val="0E337C"/>
                </a:solidFill>
                <a:latin typeface="Reddit Sans"/>
                <a:cs typeface="Segoe UI"/>
              </a:rPr>
              <a:t>Modelos</a:t>
            </a:r>
            <a:r>
              <a:rPr lang="en-US" sz="1100" b="1" dirty="0">
                <a:solidFill>
                  <a:srgbClr val="0E337C"/>
                </a:solidFill>
                <a:latin typeface="Reddit Sans"/>
                <a:cs typeface="Segoe UI"/>
              </a:rPr>
              <a:t> de Pricing​ </a:t>
            </a:r>
            <a:endParaRPr lang="en-US" sz="1100" b="1">
              <a:solidFill>
                <a:srgbClr val="0E337C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latin typeface="Reddit Sans"/>
                <a:ea typeface="Reddit Sans"/>
              </a:rPr>
              <a:t>Los </a:t>
            </a:r>
            <a:r>
              <a:rPr lang="en-US" sz="1100" dirty="0" err="1">
                <a:latin typeface="Reddit Sans"/>
                <a:ea typeface="Reddit Sans"/>
              </a:rPr>
              <a:t>modelos</a:t>
            </a:r>
            <a:r>
              <a:rPr lang="en-US" sz="1100" dirty="0">
                <a:latin typeface="Reddit Sans"/>
                <a:ea typeface="Reddit Sans"/>
              </a:rPr>
              <a:t> </a:t>
            </a:r>
            <a:r>
              <a:rPr lang="en-US" sz="1100" dirty="0" err="1">
                <a:latin typeface="Reddit Sans"/>
                <a:ea typeface="Reddit Sans"/>
              </a:rPr>
              <a:t>tradicionales</a:t>
            </a:r>
            <a:r>
              <a:rPr lang="en-US" sz="1100" dirty="0">
                <a:latin typeface="Reddit Sans"/>
                <a:ea typeface="Reddit Sans"/>
              </a:rPr>
              <a:t> de pricing no se </a:t>
            </a:r>
            <a:r>
              <a:rPr lang="en-US" sz="1100" dirty="0" err="1">
                <a:latin typeface="Reddit Sans"/>
                <a:ea typeface="Reddit Sans"/>
              </a:rPr>
              <a:t>alinean</a:t>
            </a:r>
            <a:r>
              <a:rPr lang="en-US" sz="1100" dirty="0">
                <a:latin typeface="Reddit Sans"/>
                <a:ea typeface="Reddit Sans"/>
              </a:rPr>
              <a:t> con </a:t>
            </a:r>
            <a:r>
              <a:rPr lang="en-US" sz="1100" dirty="0" err="1">
                <a:latin typeface="Reddit Sans"/>
                <a:ea typeface="Reddit Sans"/>
              </a:rPr>
              <a:t>resultados</a:t>
            </a:r>
            <a:r>
              <a:rPr lang="en-US" sz="1100" dirty="0">
                <a:latin typeface="Reddit Sans"/>
                <a:ea typeface="Reddit Sans"/>
              </a:rPr>
              <a:t> de </a:t>
            </a:r>
            <a:r>
              <a:rPr lang="en-US" sz="1100" dirty="0" err="1">
                <a:latin typeface="Reddit Sans"/>
                <a:ea typeface="Reddit Sans"/>
              </a:rPr>
              <a:t>negocio</a:t>
            </a:r>
            <a:r>
              <a:rPr lang="en-US" sz="1100" dirty="0">
                <a:latin typeface="Reddit Sans"/>
                <a:ea typeface="Reddit Sans"/>
              </a:rPr>
              <a:t>, </a:t>
            </a:r>
            <a:r>
              <a:rPr lang="en-US" sz="1100" dirty="0" err="1">
                <a:latin typeface="Reddit Sans"/>
                <a:ea typeface="Reddit Sans"/>
              </a:rPr>
              <a:t>dificultando</a:t>
            </a:r>
            <a:r>
              <a:rPr lang="en-US" sz="1100" dirty="0">
                <a:latin typeface="Reddit Sans"/>
                <a:ea typeface="Reddit Sans"/>
              </a:rPr>
              <a:t> </a:t>
            </a:r>
            <a:r>
              <a:rPr lang="en-US" sz="1100" dirty="0" err="1">
                <a:latin typeface="Reddit Sans"/>
                <a:ea typeface="Reddit Sans"/>
              </a:rPr>
              <a:t>demostrar</a:t>
            </a:r>
            <a:r>
              <a:rPr lang="en-US" sz="1100" dirty="0">
                <a:latin typeface="Reddit Sans"/>
                <a:ea typeface="Reddit Sans"/>
              </a:rPr>
              <a:t> valor tangible.​ </a:t>
            </a:r>
          </a:p>
          <a:p>
            <a:pPr>
              <a:lnSpc>
                <a:spcPct val="150000"/>
              </a:lnSpc>
            </a:pPr>
            <a:endParaRPr lang="en-US" sz="1100" dirty="0">
              <a:latin typeface="Reddit Sans"/>
              <a:ea typeface="Reddit Sans"/>
            </a:endParaRPr>
          </a:p>
          <a:p>
            <a:pPr>
              <a:lnSpc>
                <a:spcPct val="150000"/>
              </a:lnSpc>
            </a:pPr>
            <a:r>
              <a:rPr lang="en-US" sz="1100" b="1" dirty="0" err="1">
                <a:solidFill>
                  <a:srgbClr val="0E337C"/>
                </a:solidFill>
                <a:latin typeface="Reddit Sans"/>
                <a:cs typeface="Segoe UI"/>
              </a:rPr>
              <a:t>Oportunidad</a:t>
            </a:r>
            <a:r>
              <a:rPr lang="en-US" sz="1100" b="1" dirty="0">
                <a:solidFill>
                  <a:srgbClr val="0E337C"/>
                </a:solidFill>
                <a:latin typeface="Reddit Sans"/>
                <a:cs typeface="Segoe UI"/>
              </a:rPr>
              <a:t> </a:t>
            </a:r>
            <a:r>
              <a:rPr lang="en-US" sz="1100" b="1" dirty="0" err="1">
                <a:solidFill>
                  <a:srgbClr val="0E337C"/>
                </a:solidFill>
                <a:latin typeface="Reddit Sans"/>
                <a:cs typeface="Segoe UI"/>
              </a:rPr>
              <a:t>Estratégica</a:t>
            </a:r>
            <a:r>
              <a:rPr lang="en-US" sz="1100" b="1" dirty="0">
                <a:solidFill>
                  <a:srgbClr val="0E337C"/>
                </a:solidFill>
                <a:latin typeface="Reddit Sans"/>
                <a:cs typeface="Segoe UI"/>
              </a:rPr>
              <a:t>​ </a:t>
            </a:r>
            <a:endParaRPr lang="en-US" sz="1100" b="1">
              <a:solidFill>
                <a:srgbClr val="0E337C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latin typeface="Reddit Sans"/>
                <a:ea typeface="Reddit Sans"/>
              </a:rPr>
              <a:t>Un framework </a:t>
            </a:r>
            <a:r>
              <a:rPr lang="en-US" sz="1100" dirty="0" err="1">
                <a:latin typeface="Reddit Sans"/>
                <a:ea typeface="Reddit Sans"/>
              </a:rPr>
              <a:t>operativo</a:t>
            </a:r>
            <a:r>
              <a:rPr lang="en-US" sz="1100" dirty="0">
                <a:latin typeface="Reddit Sans"/>
                <a:ea typeface="Reddit Sans"/>
              </a:rPr>
              <a:t> </a:t>
            </a:r>
            <a:r>
              <a:rPr lang="en-US" sz="1100" dirty="0" err="1">
                <a:latin typeface="Reddit Sans"/>
                <a:ea typeface="Reddit Sans"/>
              </a:rPr>
              <a:t>completo</a:t>
            </a:r>
            <a:r>
              <a:rPr lang="en-US" sz="1100" dirty="0">
                <a:latin typeface="Reddit Sans"/>
                <a:ea typeface="Reddit Sans"/>
              </a:rPr>
              <a:t> </a:t>
            </a:r>
            <a:r>
              <a:rPr lang="en-US" sz="1100" dirty="0" err="1">
                <a:latin typeface="Reddit Sans"/>
                <a:ea typeface="Reddit Sans"/>
              </a:rPr>
              <a:t>que</a:t>
            </a:r>
            <a:r>
              <a:rPr lang="en-US" sz="1100" dirty="0">
                <a:latin typeface="Reddit Sans"/>
                <a:ea typeface="Reddit Sans"/>
              </a:rPr>
              <a:t> </a:t>
            </a:r>
            <a:r>
              <a:rPr lang="en-US" sz="1100" dirty="0" err="1">
                <a:latin typeface="Reddit Sans"/>
                <a:ea typeface="Reddit Sans"/>
              </a:rPr>
              <a:t>integre</a:t>
            </a:r>
            <a:r>
              <a:rPr lang="en-US" sz="1100" dirty="0">
                <a:latin typeface="Reddit Sans"/>
                <a:ea typeface="Reddit Sans"/>
              </a:rPr>
              <a:t> </a:t>
            </a:r>
            <a:r>
              <a:rPr lang="en-US" sz="1100" dirty="0" err="1">
                <a:latin typeface="Reddit Sans"/>
                <a:ea typeface="Reddit Sans"/>
              </a:rPr>
              <a:t>madurez</a:t>
            </a:r>
            <a:r>
              <a:rPr lang="en-US" sz="1100" dirty="0">
                <a:latin typeface="Reddit Sans"/>
                <a:ea typeface="Reddit Sans"/>
              </a:rPr>
              <a:t>, </a:t>
            </a:r>
            <a:r>
              <a:rPr lang="en-US" sz="1100" dirty="0" err="1">
                <a:latin typeface="Reddit Sans"/>
                <a:ea typeface="Reddit Sans"/>
              </a:rPr>
              <a:t>gobernanza</a:t>
            </a:r>
            <a:r>
              <a:rPr lang="en-US" sz="1100" dirty="0">
                <a:latin typeface="Reddit Sans"/>
                <a:ea typeface="Reddit Sans"/>
              </a:rPr>
              <a:t> y </a:t>
            </a:r>
            <a:r>
              <a:rPr lang="en-US" sz="1100" dirty="0" err="1">
                <a:latin typeface="Reddit Sans"/>
                <a:ea typeface="Reddit Sans"/>
              </a:rPr>
              <a:t>alineación</a:t>
            </a:r>
            <a:r>
              <a:rPr lang="en-US" sz="1100" dirty="0">
                <a:latin typeface="Reddit Sans"/>
                <a:ea typeface="Reddit Sans"/>
              </a:rPr>
              <a:t> a </a:t>
            </a:r>
            <a:r>
              <a:rPr lang="en-US" sz="1100" dirty="0" err="1">
                <a:latin typeface="Reddit Sans"/>
                <a:ea typeface="Reddit Sans"/>
              </a:rPr>
              <a:t>resultados</a:t>
            </a:r>
            <a:r>
              <a:rPr lang="en-US" sz="1100" dirty="0">
                <a:latin typeface="Reddit Sans"/>
                <a:ea typeface="Reddit Sans"/>
              </a:rPr>
              <a:t> </a:t>
            </a:r>
            <a:r>
              <a:rPr lang="en-US" sz="1100" dirty="0" err="1">
                <a:latin typeface="Reddit Sans"/>
                <a:ea typeface="Reddit Sans"/>
              </a:rPr>
              <a:t>garantiza</a:t>
            </a:r>
            <a:r>
              <a:rPr lang="en-US" sz="1100" dirty="0">
                <a:latin typeface="Reddit Sans"/>
                <a:ea typeface="Reddit Sans"/>
              </a:rPr>
              <a:t> </a:t>
            </a:r>
            <a:r>
              <a:rPr lang="en-US" sz="1100" dirty="0" err="1">
                <a:latin typeface="Reddit Sans"/>
                <a:ea typeface="Reddit Sans"/>
              </a:rPr>
              <a:t>diferenciación</a:t>
            </a:r>
            <a:r>
              <a:rPr lang="en-US" sz="1100" dirty="0">
                <a:latin typeface="Reddit Sans"/>
                <a:ea typeface="Reddit Sans"/>
              </a:rPr>
              <a:t> y valor continuo</a:t>
            </a:r>
          </a:p>
        </p:txBody>
      </p:sp>
    </p:spTree>
    <p:extLst>
      <p:ext uri="{BB962C8B-B14F-4D97-AF65-F5344CB8AC3E}">
        <p14:creationId xmlns:p14="http://schemas.microsoft.com/office/powerpoint/2010/main" val="3167372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Nuestra Operacion Actual — 8 Mesas de Servicio Gestionadas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 dirty="0">
                <a:solidFill>
                  <a:srgbClr val="6B7280"/>
                </a:solidFill>
                <a:latin typeface="Calibri"/>
              </a:rPr>
              <a:t>Banca y Seguros · Energia y Utilities · Diagnosticadas con modelo de madurez N0-N5 propio</a:t>
            </a:r>
          </a:p>
        </p:txBody>
      </p:sp>
      <p:sp>
        <p:nvSpPr>
          <p:cNvPr id="10" name="cb"/>
          <p:cNvSpPr>
            <a:spLocks noGrp="1"/>
          </p:cNvSpPr>
          <p:nvPr/>
        </p:nvSpPr>
        <p:spPr>
          <a:xfrm>
            <a:off x="320040" y="804672"/>
            <a:ext cx="1481328" cy="3127248"/>
          </a:xfrm>
          <a:prstGeom prst="roundRect">
            <a:avLst>
              <a:gd name="adj" fmla="val 15000"/>
            </a:avLst>
          </a:prstGeom>
          <a:solidFill>
            <a:srgbClr val="E8EDF8"/>
          </a:solidFill>
          <a:ln w="15875">
            <a:solidFill>
              <a:srgbClr val="0D1B5E"/>
            </a:solidFill>
          </a:ln>
        </p:spPr>
      </p:sp>
      <p:sp>
        <p:nvSpPr>
          <p:cNvPr id="11" name="chdr"/>
          <p:cNvSpPr>
            <a:spLocks noGrp="1"/>
          </p:cNvSpPr>
          <p:nvPr/>
        </p:nvSpPr>
        <p:spPr>
          <a:xfrm>
            <a:off x="320040" y="804672"/>
            <a:ext cx="1481328" cy="402336"/>
          </a:xfrm>
          <a:prstGeom prst="roundRect">
            <a:avLst>
              <a:gd name="adj" fmla="val 15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12" name="chdr2"/>
          <p:cNvSpPr>
            <a:spLocks noGrp="1"/>
          </p:cNvSpPr>
          <p:nvPr/>
        </p:nvSpPr>
        <p:spPr>
          <a:xfrm>
            <a:off x="320040" y="1060704"/>
            <a:ext cx="1481328" cy="146304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13" name="cnom"/>
          <p:cNvSpPr txBox="1">
            <a:spLocks noGrp="1"/>
          </p:cNvSpPr>
          <p:nvPr/>
        </p:nvSpPr>
        <p:spPr>
          <a:xfrm>
            <a:off x="320040" y="841248"/>
            <a:ext cx="148132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FFFFFF"/>
                </a:solidFill>
                <a:latin typeface="Calibri"/>
              </a:rPr>
              <a:t>SURA</a:t>
            </a:r>
          </a:p>
        </p:txBody>
      </p:sp>
      <p:sp>
        <p:nvSpPr>
          <p:cNvPr id="14" name="csec"/>
          <p:cNvSpPr txBox="1">
            <a:spLocks noGrp="1"/>
          </p:cNvSpPr>
          <p:nvPr/>
        </p:nvSpPr>
        <p:spPr>
          <a:xfrm>
            <a:off x="393192" y="1261872"/>
            <a:ext cx="133502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0D1B5E"/>
                </a:solidFill>
                <a:latin typeface="Calibri"/>
              </a:rPr>
              <a:t>Seguros · 4 mesas</a:t>
            </a:r>
          </a:p>
        </p:txBody>
      </p:sp>
      <p:sp>
        <p:nvSpPr>
          <p:cNvPr id="15" name="cdesc"/>
          <p:cNvSpPr txBox="1">
            <a:spLocks noGrp="1"/>
          </p:cNvSpPr>
          <p:nvPr/>
        </p:nvSpPr>
        <p:spPr>
          <a:xfrm>
            <a:off x="411480" y="1554480"/>
            <a:ext cx="1298448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 dirty="0">
                <a:solidFill>
                  <a:srgbClr val="0D1B5E"/>
                </a:solidFill>
                <a:latin typeface="Calibri"/>
              </a:rPr>
              <a:t>Venta Digital
Cotizadores
Torre de Control
Mesa 4</a:t>
            </a:r>
          </a:p>
        </p:txBody>
      </p:sp>
      <p:sp>
        <p:nvSpPr>
          <p:cNvPr id="6" name="cb"/>
          <p:cNvSpPr>
            <a:spLocks noGrp="1"/>
          </p:cNvSpPr>
          <p:nvPr/>
        </p:nvSpPr>
        <p:spPr>
          <a:xfrm>
            <a:off x="1892808" y="804672"/>
            <a:ext cx="1481328" cy="3127248"/>
          </a:xfrm>
          <a:prstGeom prst="roundRect">
            <a:avLst>
              <a:gd name="adj" fmla="val 15000"/>
            </a:avLst>
          </a:prstGeom>
          <a:solidFill>
            <a:srgbClr val="EBF3FF"/>
          </a:solidFill>
          <a:ln w="15875">
            <a:solidFill>
              <a:srgbClr val="1A3A8F"/>
            </a:solidFill>
          </a:ln>
        </p:spPr>
      </p:sp>
      <p:sp>
        <p:nvSpPr>
          <p:cNvPr id="7" name="chdr"/>
          <p:cNvSpPr>
            <a:spLocks noGrp="1"/>
          </p:cNvSpPr>
          <p:nvPr/>
        </p:nvSpPr>
        <p:spPr>
          <a:xfrm>
            <a:off x="1892808" y="804672"/>
            <a:ext cx="1481328" cy="402336"/>
          </a:xfrm>
          <a:prstGeom prst="roundRect">
            <a:avLst>
              <a:gd name="adj" fmla="val 15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8" name="chdr2"/>
          <p:cNvSpPr>
            <a:spLocks noGrp="1"/>
          </p:cNvSpPr>
          <p:nvPr/>
        </p:nvSpPr>
        <p:spPr>
          <a:xfrm>
            <a:off x="1892808" y="1060704"/>
            <a:ext cx="1481328" cy="146304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16" name="cnom"/>
          <p:cNvSpPr txBox="1">
            <a:spLocks noGrp="1"/>
          </p:cNvSpPr>
          <p:nvPr/>
        </p:nvSpPr>
        <p:spPr>
          <a:xfrm>
            <a:off x="1892808" y="841248"/>
            <a:ext cx="148132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FFFFFF"/>
                </a:solidFill>
                <a:latin typeface="Calibri"/>
              </a:rPr>
              <a:t>Bancolombia</a:t>
            </a:r>
          </a:p>
        </p:txBody>
      </p:sp>
      <p:sp>
        <p:nvSpPr>
          <p:cNvPr id="17" name="csec"/>
          <p:cNvSpPr txBox="1">
            <a:spLocks noGrp="1"/>
          </p:cNvSpPr>
          <p:nvPr/>
        </p:nvSpPr>
        <p:spPr>
          <a:xfrm>
            <a:off x="1965960" y="1261872"/>
            <a:ext cx="133502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1A3A8F"/>
                </a:solidFill>
                <a:latin typeface="Calibri"/>
              </a:rPr>
              <a:t>Banca · 4 mesas</a:t>
            </a:r>
          </a:p>
        </p:txBody>
      </p:sp>
      <p:sp>
        <p:nvSpPr>
          <p:cNvPr id="18" name="cdesc"/>
          <p:cNvSpPr txBox="1">
            <a:spLocks noGrp="1"/>
          </p:cNvSpPr>
          <p:nvPr/>
        </p:nvSpPr>
        <p:spPr>
          <a:xfrm>
            <a:off x="1984248" y="1554480"/>
            <a:ext cx="1298448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 dirty="0">
                <a:solidFill>
                  <a:srgbClr val="1A3A8F"/>
                </a:solidFill>
                <a:latin typeface="Calibri"/>
              </a:rPr>
              <a:t>Gioti 1
Gioti 2
Gioti 3
Gioti 4</a:t>
            </a:r>
          </a:p>
        </p:txBody>
      </p:sp>
      <p:sp>
        <p:nvSpPr>
          <p:cNvPr id="9" name="cb"/>
          <p:cNvSpPr>
            <a:spLocks noGrp="1"/>
          </p:cNvSpPr>
          <p:nvPr/>
        </p:nvSpPr>
        <p:spPr>
          <a:xfrm>
            <a:off x="3465576" y="804672"/>
            <a:ext cx="1481328" cy="3127248"/>
          </a:xfrm>
          <a:prstGeom prst="roundRect">
            <a:avLst>
              <a:gd name="adj" fmla="val 15000"/>
            </a:avLst>
          </a:prstGeom>
          <a:solidFill>
            <a:srgbClr val="E8F6F7"/>
          </a:solidFill>
          <a:ln w="15875">
            <a:solidFill>
              <a:srgbClr val="1B7B85"/>
            </a:solidFill>
          </a:ln>
        </p:spPr>
      </p:sp>
      <p:sp>
        <p:nvSpPr>
          <p:cNvPr id="28" name="chdr"/>
          <p:cNvSpPr>
            <a:spLocks noGrp="1"/>
          </p:cNvSpPr>
          <p:nvPr/>
        </p:nvSpPr>
        <p:spPr>
          <a:xfrm>
            <a:off x="3465576" y="804672"/>
            <a:ext cx="1481328" cy="402336"/>
          </a:xfrm>
          <a:prstGeom prst="roundRect">
            <a:avLst>
              <a:gd name="adj" fmla="val 15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29" name="chdr2"/>
          <p:cNvSpPr>
            <a:spLocks noGrp="1"/>
          </p:cNvSpPr>
          <p:nvPr/>
        </p:nvSpPr>
        <p:spPr>
          <a:xfrm>
            <a:off x="3465576" y="1060704"/>
            <a:ext cx="1481328" cy="146304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19" name="cnom"/>
          <p:cNvSpPr txBox="1">
            <a:spLocks noGrp="1"/>
          </p:cNvSpPr>
          <p:nvPr/>
        </p:nvSpPr>
        <p:spPr>
          <a:xfrm>
            <a:off x="3465576" y="841248"/>
            <a:ext cx="148132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FFFFFF"/>
                </a:solidFill>
                <a:latin typeface="Calibri"/>
              </a:rPr>
              <a:t>XM</a:t>
            </a:r>
          </a:p>
        </p:txBody>
      </p:sp>
      <p:sp>
        <p:nvSpPr>
          <p:cNvPr id="20" name="csec"/>
          <p:cNvSpPr txBox="1">
            <a:spLocks noGrp="1"/>
          </p:cNvSpPr>
          <p:nvPr/>
        </p:nvSpPr>
        <p:spPr>
          <a:xfrm>
            <a:off x="3538728" y="1261872"/>
            <a:ext cx="133502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1B7B85"/>
                </a:solidFill>
                <a:latin typeface="Calibri"/>
              </a:rPr>
              <a:t>Energia · Evaluacion</a:t>
            </a:r>
          </a:p>
        </p:txBody>
      </p:sp>
      <p:sp>
        <p:nvSpPr>
          <p:cNvPr id="21" name="cdesc"/>
          <p:cNvSpPr txBox="1">
            <a:spLocks noGrp="1"/>
          </p:cNvSpPr>
          <p:nvPr/>
        </p:nvSpPr>
        <p:spPr>
          <a:xfrm>
            <a:off x="3557016" y="1554480"/>
            <a:ext cx="1298448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 dirty="0">
                <a:solidFill>
                  <a:srgbClr val="1B7B85"/>
                </a:solidFill>
                <a:latin typeface="Calibri"/>
              </a:rPr>
              <a:t>Operacion critica 24x7
AIOps potencial alto</a:t>
            </a:r>
          </a:p>
        </p:txBody>
      </p:sp>
      <p:sp>
        <p:nvSpPr>
          <p:cNvPr id="30" name="cb"/>
          <p:cNvSpPr>
            <a:spLocks noGrp="1"/>
          </p:cNvSpPr>
          <p:nvPr/>
        </p:nvSpPr>
        <p:spPr>
          <a:xfrm>
            <a:off x="5038344" y="804672"/>
            <a:ext cx="1481328" cy="3127248"/>
          </a:xfrm>
          <a:prstGeom prst="roundRect">
            <a:avLst>
              <a:gd name="adj" fmla="val 15000"/>
            </a:avLst>
          </a:prstGeom>
          <a:solidFill>
            <a:srgbClr val="E8F2FF"/>
          </a:solidFill>
          <a:ln w="15875">
            <a:solidFill>
              <a:srgbClr val="1F6FBA"/>
            </a:solidFill>
          </a:ln>
        </p:spPr>
      </p:sp>
      <p:sp>
        <p:nvSpPr>
          <p:cNvPr id="31" name="chdr"/>
          <p:cNvSpPr>
            <a:spLocks noGrp="1"/>
          </p:cNvSpPr>
          <p:nvPr/>
        </p:nvSpPr>
        <p:spPr>
          <a:xfrm>
            <a:off x="5038344" y="804672"/>
            <a:ext cx="1481328" cy="402336"/>
          </a:xfrm>
          <a:prstGeom prst="roundRect">
            <a:avLst>
              <a:gd name="adj" fmla="val 15000"/>
            </a:avLst>
          </a:prstGeom>
          <a:solidFill>
            <a:srgbClr val="1F6FBA"/>
          </a:solidFill>
          <a:ln>
            <a:noFill/>
          </a:ln>
        </p:spPr>
      </p:sp>
      <p:sp>
        <p:nvSpPr>
          <p:cNvPr id="32" name="chdr2"/>
          <p:cNvSpPr>
            <a:spLocks noGrp="1"/>
          </p:cNvSpPr>
          <p:nvPr/>
        </p:nvSpPr>
        <p:spPr>
          <a:xfrm>
            <a:off x="5038344" y="1060704"/>
            <a:ext cx="1481328" cy="146304"/>
          </a:xfrm>
          <a:prstGeom prst="rect">
            <a:avLst/>
          </a:prstGeom>
          <a:solidFill>
            <a:srgbClr val="1F6FBA"/>
          </a:solidFill>
          <a:ln>
            <a:noFill/>
          </a:ln>
        </p:spPr>
      </p:sp>
      <p:sp>
        <p:nvSpPr>
          <p:cNvPr id="22" name="cnom"/>
          <p:cNvSpPr txBox="1">
            <a:spLocks noGrp="1"/>
          </p:cNvSpPr>
          <p:nvPr/>
        </p:nvSpPr>
        <p:spPr>
          <a:xfrm>
            <a:off x="5038344" y="841248"/>
            <a:ext cx="148132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FFFFFF"/>
                </a:solidFill>
                <a:latin typeface="Calibri"/>
              </a:rPr>
              <a:t>AES</a:t>
            </a:r>
          </a:p>
        </p:txBody>
      </p:sp>
      <p:sp>
        <p:nvSpPr>
          <p:cNvPr id="23" name="csec"/>
          <p:cNvSpPr txBox="1">
            <a:spLocks noGrp="1"/>
          </p:cNvSpPr>
          <p:nvPr/>
        </p:nvSpPr>
        <p:spPr>
          <a:xfrm>
            <a:off x="5111496" y="1261872"/>
            <a:ext cx="133502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1F6FBA"/>
                </a:solidFill>
                <a:latin typeface="Calibri"/>
              </a:rPr>
              <a:t>Energia · Evaluacion</a:t>
            </a:r>
          </a:p>
        </p:txBody>
      </p:sp>
      <p:sp>
        <p:nvSpPr>
          <p:cNvPr id="24" name="cdesc"/>
          <p:cNvSpPr txBox="1">
            <a:spLocks noGrp="1"/>
          </p:cNvSpPr>
          <p:nvPr/>
        </p:nvSpPr>
        <p:spPr>
          <a:xfrm>
            <a:off x="5129784" y="1554480"/>
            <a:ext cx="1298448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 dirty="0">
                <a:solidFill>
                  <a:srgbClr val="1F6FBA"/>
                </a:solidFill>
                <a:latin typeface="Calibri"/>
              </a:rPr>
              <a:t>Infraestructura critica
Continuidad operacional</a:t>
            </a:r>
          </a:p>
        </p:txBody>
      </p:sp>
      <p:sp>
        <p:nvSpPr>
          <p:cNvPr id="33" name="cb"/>
          <p:cNvSpPr>
            <a:spLocks noGrp="1"/>
          </p:cNvSpPr>
          <p:nvPr/>
        </p:nvSpPr>
        <p:spPr>
          <a:xfrm>
            <a:off x="6611112" y="804672"/>
            <a:ext cx="1481328" cy="3127248"/>
          </a:xfrm>
          <a:prstGeom prst="roundRect">
            <a:avLst>
              <a:gd name="adj" fmla="val 15000"/>
            </a:avLst>
          </a:prstGeom>
          <a:solidFill>
            <a:srgbClr val="E8F5EE"/>
          </a:solidFill>
          <a:ln w="15875">
            <a:solidFill>
              <a:srgbClr val="1A6B3C"/>
            </a:solidFill>
          </a:ln>
        </p:spPr>
      </p:sp>
      <p:sp>
        <p:nvSpPr>
          <p:cNvPr id="34" name="chdr"/>
          <p:cNvSpPr>
            <a:spLocks noGrp="1"/>
          </p:cNvSpPr>
          <p:nvPr/>
        </p:nvSpPr>
        <p:spPr>
          <a:xfrm>
            <a:off x="6611112" y="804672"/>
            <a:ext cx="1481328" cy="402336"/>
          </a:xfrm>
          <a:prstGeom prst="roundRect">
            <a:avLst>
              <a:gd name="adj" fmla="val 15000"/>
            </a:avLst>
          </a:prstGeom>
          <a:solidFill>
            <a:srgbClr val="1A6B3C"/>
          </a:solidFill>
          <a:ln>
            <a:noFill/>
          </a:ln>
        </p:spPr>
      </p:sp>
      <p:sp>
        <p:nvSpPr>
          <p:cNvPr id="35" name="chdr2"/>
          <p:cNvSpPr>
            <a:spLocks noGrp="1"/>
          </p:cNvSpPr>
          <p:nvPr/>
        </p:nvSpPr>
        <p:spPr>
          <a:xfrm>
            <a:off x="6611112" y="1060704"/>
            <a:ext cx="1481328" cy="146304"/>
          </a:xfrm>
          <a:prstGeom prst="rect">
            <a:avLst/>
          </a:prstGeom>
          <a:solidFill>
            <a:srgbClr val="1A6B3C"/>
          </a:solidFill>
          <a:ln>
            <a:noFill/>
          </a:ln>
        </p:spPr>
      </p:sp>
      <p:sp>
        <p:nvSpPr>
          <p:cNvPr id="25" name="cnom"/>
          <p:cNvSpPr txBox="1">
            <a:spLocks noGrp="1"/>
          </p:cNvSpPr>
          <p:nvPr/>
        </p:nvSpPr>
        <p:spPr>
          <a:xfrm>
            <a:off x="6611112" y="841248"/>
            <a:ext cx="148132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FFFFFF"/>
                </a:solidFill>
                <a:latin typeface="Calibri"/>
              </a:rPr>
              <a:t>MEDICARTE</a:t>
            </a:r>
          </a:p>
        </p:txBody>
      </p:sp>
      <p:sp>
        <p:nvSpPr>
          <p:cNvPr id="26" name="csec"/>
          <p:cNvSpPr txBox="1">
            <a:spLocks noGrp="1"/>
          </p:cNvSpPr>
          <p:nvPr/>
        </p:nvSpPr>
        <p:spPr>
          <a:xfrm>
            <a:off x="6684264" y="1261872"/>
            <a:ext cx="133502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1A6B3C"/>
                </a:solidFill>
                <a:latin typeface="Calibri"/>
              </a:rPr>
              <a:t>Salud · Evaluacion</a:t>
            </a:r>
          </a:p>
        </p:txBody>
      </p:sp>
      <p:sp>
        <p:nvSpPr>
          <p:cNvPr id="27" name="cdesc"/>
          <p:cNvSpPr txBox="1">
            <a:spLocks noGrp="1"/>
          </p:cNvSpPr>
          <p:nvPr/>
        </p:nvSpPr>
        <p:spPr>
          <a:xfrm>
            <a:off x="6702552" y="1554480"/>
            <a:ext cx="1298448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 dirty="0">
                <a:solidFill>
                  <a:srgbClr val="1A6B3C"/>
                </a:solidFill>
                <a:latin typeface="Calibri"/>
              </a:rPr>
              <a:t>Trazabilidad clinica
Historia clinica
Compliance</a:t>
            </a:r>
          </a:p>
        </p:txBody>
      </p:sp>
      <p:sp>
        <p:nvSpPr>
          <p:cNvPr id="40" name="insb"/>
          <p:cNvSpPr>
            <a:spLocks noGrp="1"/>
          </p:cNvSpPr>
          <p:nvPr/>
        </p:nvSpPr>
        <p:spPr>
          <a:xfrm>
            <a:off x="320040" y="4059936"/>
            <a:ext cx="7717536" cy="274320"/>
          </a:xfrm>
          <a:prstGeom prst="roundRect">
            <a:avLst>
              <a:gd name="adj" fmla="val 8000"/>
            </a:avLst>
          </a:prstGeom>
          <a:solidFill>
            <a:srgbClr val="1E1A4F"/>
          </a:solidFill>
          <a:ln w="12700">
            <a:solidFill>
              <a:srgbClr val="1A3A8F"/>
            </a:solidFill>
          </a:ln>
        </p:spPr>
      </p:sp>
      <p:sp>
        <p:nvSpPr>
          <p:cNvPr id="41" name="inst"/>
          <p:cNvSpPr txBox="1">
            <a:spLocks noGrp="1"/>
          </p:cNvSpPr>
          <p:nvPr/>
        </p:nvSpPr>
        <p:spPr>
          <a:xfrm>
            <a:off x="457200" y="4059936"/>
            <a:ext cx="7498079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20" dirty="0">
                <a:solidFill>
                  <a:srgbClr val="C8EBEF"/>
                </a:solidFill>
                <a:latin typeface="Calibri"/>
              </a:rPr>
              <a:t>Objetivo Wave 1: elevar todas las mesas a N3 (Definido) — estandarizar gobierno, ANS y catalogo de servicios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Segmentos de Mercado Priorizados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 dirty="0">
                <a:solidFill>
                  <a:srgbClr val="6B7280"/>
                </a:solidFill>
                <a:latin typeface="Calibri"/>
              </a:rPr>
              <a:t>Banca como ancla · Energia como expansion · Salud como oportunidad emergente · Empresas medianas como volumen</a:t>
            </a:r>
          </a:p>
        </p:txBody>
      </p:sp>
      <p:sp>
        <p:nvSpPr>
          <p:cNvPr id="10" name="sb"/>
          <p:cNvSpPr>
            <a:spLocks noGrp="1"/>
          </p:cNvSpPr>
          <p:nvPr/>
        </p:nvSpPr>
        <p:spPr>
          <a:xfrm>
            <a:off x="320040" y="804672"/>
            <a:ext cx="1828800" cy="3246120"/>
          </a:xfrm>
          <a:prstGeom prst="roundRect">
            <a:avLst>
              <a:gd name="adj" fmla="val 15000"/>
            </a:avLst>
          </a:prstGeom>
          <a:solidFill>
            <a:srgbClr val="E8EDF8"/>
          </a:solidFill>
          <a:ln w="15875">
            <a:solidFill>
              <a:srgbClr val="0D1B5E"/>
            </a:solidFill>
          </a:ln>
        </p:spPr>
      </p:sp>
      <p:sp>
        <p:nvSpPr>
          <p:cNvPr id="11" name="shdr"/>
          <p:cNvSpPr>
            <a:spLocks noGrp="1"/>
          </p:cNvSpPr>
          <p:nvPr/>
        </p:nvSpPr>
        <p:spPr>
          <a:xfrm>
            <a:off x="320040" y="804672"/>
            <a:ext cx="1828800" cy="475488"/>
          </a:xfrm>
          <a:prstGeom prst="roundRect">
            <a:avLst>
              <a:gd name="adj" fmla="val 15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12" name="shdr2"/>
          <p:cNvSpPr>
            <a:spLocks noGrp="1"/>
          </p:cNvSpPr>
          <p:nvPr/>
        </p:nvSpPr>
        <p:spPr>
          <a:xfrm>
            <a:off x="320040" y="1115568"/>
            <a:ext cx="1828800" cy="164592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13" name="snom"/>
          <p:cNvSpPr txBox="1">
            <a:spLocks noGrp="1"/>
          </p:cNvSpPr>
          <p:nvPr/>
        </p:nvSpPr>
        <p:spPr>
          <a:xfrm>
            <a:off x="320040" y="841248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FFFFFF"/>
                </a:solidFill>
                <a:latin typeface="Calibri"/>
              </a:rPr>
              <a:t>Banca y
Seguros</a:t>
            </a:r>
          </a:p>
        </p:txBody>
      </p:sp>
      <p:sp>
        <p:nvSpPr>
          <p:cNvPr id="14" name="sbg"/>
          <p:cNvSpPr>
            <a:spLocks noGrp="1"/>
          </p:cNvSpPr>
          <p:nvPr/>
        </p:nvSpPr>
        <p:spPr>
          <a:xfrm>
            <a:off x="411480" y="1335024"/>
            <a:ext cx="1645920" cy="201168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15" name="sbt"/>
          <p:cNvSpPr txBox="1">
            <a:spLocks noGrp="1"/>
          </p:cNvSpPr>
          <p:nvPr/>
        </p:nvSpPr>
        <p:spPr>
          <a:xfrm>
            <a:off x="411480" y="1335024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FFFFFF"/>
                </a:solidFill>
                <a:latin typeface="Calibri"/>
              </a:rPr>
              <a:t>PRIORITARIO</a:t>
            </a:r>
          </a:p>
        </p:txBody>
      </p:sp>
      <p:sp>
        <p:nvSpPr>
          <p:cNvPr id="16" name="sdesc"/>
          <p:cNvSpPr txBox="1">
            <a:spLocks noGrp="1"/>
          </p:cNvSpPr>
          <p:nvPr/>
        </p:nvSpPr>
        <p:spPr>
          <a:xfrm>
            <a:off x="411480" y="1609344"/>
            <a:ext cx="1645920" cy="23774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 dirty="0">
                <a:solidFill>
                  <a:srgbClr val="0D1B5E"/>
                </a:solidFill>
                <a:latin typeface="Calibri"/>
              </a:rPr>
              <a:t>SFC Circular 007 · Open Finance · SOX · 81% ya usa IA
SURA y Bancolombia son clientes actuales con presion regulatoria</a:t>
            </a:r>
          </a:p>
        </p:txBody>
      </p:sp>
      <p:sp>
        <p:nvSpPr>
          <p:cNvPr id="6" name="sb"/>
          <p:cNvSpPr>
            <a:spLocks noGrp="1"/>
          </p:cNvSpPr>
          <p:nvPr/>
        </p:nvSpPr>
        <p:spPr>
          <a:xfrm>
            <a:off x="2258568" y="804672"/>
            <a:ext cx="1828800" cy="3246120"/>
          </a:xfrm>
          <a:prstGeom prst="roundRect">
            <a:avLst>
              <a:gd name="adj" fmla="val 15000"/>
            </a:avLst>
          </a:prstGeom>
          <a:solidFill>
            <a:srgbClr val="E8F6F7"/>
          </a:solidFill>
          <a:ln w="15875">
            <a:solidFill>
              <a:srgbClr val="1B7B85"/>
            </a:solidFill>
          </a:ln>
        </p:spPr>
      </p:sp>
      <p:sp>
        <p:nvSpPr>
          <p:cNvPr id="7" name="shdr"/>
          <p:cNvSpPr>
            <a:spLocks noGrp="1"/>
          </p:cNvSpPr>
          <p:nvPr/>
        </p:nvSpPr>
        <p:spPr>
          <a:xfrm>
            <a:off x="2258568" y="804672"/>
            <a:ext cx="1828800" cy="475488"/>
          </a:xfrm>
          <a:prstGeom prst="roundRect">
            <a:avLst>
              <a:gd name="adj" fmla="val 15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17" name="shdr2"/>
          <p:cNvSpPr>
            <a:spLocks noGrp="1"/>
          </p:cNvSpPr>
          <p:nvPr/>
        </p:nvSpPr>
        <p:spPr>
          <a:xfrm>
            <a:off x="2258568" y="1115568"/>
            <a:ext cx="1828800" cy="164592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18" name="snom"/>
          <p:cNvSpPr txBox="1">
            <a:spLocks noGrp="1"/>
          </p:cNvSpPr>
          <p:nvPr/>
        </p:nvSpPr>
        <p:spPr>
          <a:xfrm>
            <a:off x="2258568" y="841248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FFFFFF"/>
                </a:solidFill>
                <a:latin typeface="Calibri"/>
              </a:rPr>
              <a:t>Energia y
Utilities</a:t>
            </a:r>
          </a:p>
        </p:txBody>
      </p:sp>
      <p:sp>
        <p:nvSpPr>
          <p:cNvPr id="19" name="sbg"/>
          <p:cNvSpPr>
            <a:spLocks noGrp="1"/>
          </p:cNvSpPr>
          <p:nvPr/>
        </p:nvSpPr>
        <p:spPr>
          <a:xfrm>
            <a:off x="2350008" y="1335024"/>
            <a:ext cx="1645920" cy="201168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20" name="sbt"/>
          <p:cNvSpPr txBox="1">
            <a:spLocks noGrp="1"/>
          </p:cNvSpPr>
          <p:nvPr/>
        </p:nvSpPr>
        <p:spPr>
          <a:xfrm>
            <a:off x="2350008" y="1335024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FFFFFF"/>
                </a:solidFill>
                <a:latin typeface="Calibri"/>
              </a:rPr>
              <a:t>EXPANSION</a:t>
            </a:r>
          </a:p>
        </p:txBody>
      </p:sp>
      <p:sp>
        <p:nvSpPr>
          <p:cNvPr id="21" name="sdesc"/>
          <p:cNvSpPr txBox="1">
            <a:spLocks noGrp="1"/>
          </p:cNvSpPr>
          <p:nvPr/>
        </p:nvSpPr>
        <p:spPr>
          <a:xfrm>
            <a:off x="2350008" y="1609344"/>
            <a:ext cx="1645920" cy="23774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 dirty="0">
                <a:solidFill>
                  <a:srgbClr val="1B7B85"/>
                </a:solidFill>
                <a:latin typeface="Calibri"/>
              </a:rPr>
              <a:t>Operacion critica 24x7 · AIOps y observabilidad
XM y AES: oportunidades concretas en evaluacion</a:t>
            </a:r>
          </a:p>
        </p:txBody>
      </p:sp>
      <p:sp>
        <p:nvSpPr>
          <p:cNvPr id="8" name="sb"/>
          <p:cNvSpPr>
            <a:spLocks noGrp="1"/>
          </p:cNvSpPr>
          <p:nvPr/>
        </p:nvSpPr>
        <p:spPr>
          <a:xfrm>
            <a:off x="4197096" y="804672"/>
            <a:ext cx="1828800" cy="3246120"/>
          </a:xfrm>
          <a:prstGeom prst="roundRect">
            <a:avLst>
              <a:gd name="adj" fmla="val 15000"/>
            </a:avLst>
          </a:prstGeom>
          <a:solidFill>
            <a:srgbClr val="E8F2FF"/>
          </a:solidFill>
          <a:ln w="15875">
            <a:solidFill>
              <a:srgbClr val="1F6FBA"/>
            </a:solidFill>
          </a:ln>
        </p:spPr>
      </p:sp>
      <p:sp>
        <p:nvSpPr>
          <p:cNvPr id="9" name="shdr"/>
          <p:cNvSpPr>
            <a:spLocks noGrp="1"/>
          </p:cNvSpPr>
          <p:nvPr/>
        </p:nvSpPr>
        <p:spPr>
          <a:xfrm>
            <a:off x="4197096" y="804672"/>
            <a:ext cx="1828800" cy="475488"/>
          </a:xfrm>
          <a:prstGeom prst="roundRect">
            <a:avLst>
              <a:gd name="adj" fmla="val 15000"/>
            </a:avLst>
          </a:prstGeom>
          <a:solidFill>
            <a:srgbClr val="1F6FBA"/>
          </a:solidFill>
          <a:ln>
            <a:noFill/>
          </a:ln>
        </p:spPr>
      </p:sp>
      <p:sp>
        <p:nvSpPr>
          <p:cNvPr id="22" name="shdr2"/>
          <p:cNvSpPr>
            <a:spLocks noGrp="1"/>
          </p:cNvSpPr>
          <p:nvPr/>
        </p:nvSpPr>
        <p:spPr>
          <a:xfrm>
            <a:off x="4197096" y="1115568"/>
            <a:ext cx="1828800" cy="164592"/>
          </a:xfrm>
          <a:prstGeom prst="rect">
            <a:avLst/>
          </a:prstGeom>
          <a:solidFill>
            <a:srgbClr val="1F6FBA"/>
          </a:solidFill>
          <a:ln>
            <a:noFill/>
          </a:ln>
        </p:spPr>
      </p:sp>
      <p:sp>
        <p:nvSpPr>
          <p:cNvPr id="23" name="snom"/>
          <p:cNvSpPr txBox="1">
            <a:spLocks noGrp="1"/>
          </p:cNvSpPr>
          <p:nvPr/>
        </p:nvSpPr>
        <p:spPr>
          <a:xfrm>
            <a:off x="4197096" y="841248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FFFFFF"/>
                </a:solidFill>
                <a:latin typeface="Calibri"/>
              </a:rPr>
              <a:t>Salud
(EPS/IPS)</a:t>
            </a:r>
          </a:p>
        </p:txBody>
      </p:sp>
      <p:sp>
        <p:nvSpPr>
          <p:cNvPr id="24" name="sbg"/>
          <p:cNvSpPr>
            <a:spLocks noGrp="1"/>
          </p:cNvSpPr>
          <p:nvPr/>
        </p:nvSpPr>
        <p:spPr>
          <a:xfrm>
            <a:off x="4288536" y="1335024"/>
            <a:ext cx="1645920" cy="201168"/>
          </a:xfrm>
          <a:prstGeom prst="roundRect">
            <a:avLst>
              <a:gd name="adj" fmla="val 6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25" name="sbt"/>
          <p:cNvSpPr txBox="1">
            <a:spLocks noGrp="1"/>
          </p:cNvSpPr>
          <p:nvPr/>
        </p:nvSpPr>
        <p:spPr>
          <a:xfrm>
            <a:off x="4288536" y="1335024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FFFFFF"/>
                </a:solidFill>
                <a:latin typeface="Calibri"/>
              </a:rPr>
              <a:t>EMERGENTE</a:t>
            </a:r>
          </a:p>
        </p:txBody>
      </p:sp>
      <p:sp>
        <p:nvSpPr>
          <p:cNvPr id="26" name="sdesc"/>
          <p:cNvSpPr txBox="1">
            <a:spLocks noGrp="1"/>
          </p:cNvSpPr>
          <p:nvPr/>
        </p:nvSpPr>
        <p:spPr>
          <a:xfrm>
            <a:off x="4288536" y="1609344"/>
            <a:ext cx="1645920" cy="23774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 dirty="0">
                <a:solidFill>
                  <a:srgbClr val="1F6FBA"/>
                </a:solidFill>
                <a:latin typeface="Calibri"/>
              </a:rPr>
              <a:t>Trazabilidad clinica · Historia clinica digital
MEDICAR es el punto de entrada con alta deuda tecnica</a:t>
            </a:r>
          </a:p>
        </p:txBody>
      </p:sp>
      <p:sp>
        <p:nvSpPr>
          <p:cNvPr id="32" name="sb"/>
          <p:cNvSpPr>
            <a:spLocks noGrp="1"/>
          </p:cNvSpPr>
          <p:nvPr/>
        </p:nvSpPr>
        <p:spPr>
          <a:xfrm>
            <a:off x="6135624" y="804672"/>
            <a:ext cx="1828800" cy="3246120"/>
          </a:xfrm>
          <a:prstGeom prst="roundRect">
            <a:avLst>
              <a:gd name="adj" fmla="val 15000"/>
            </a:avLst>
          </a:prstGeom>
          <a:solidFill>
            <a:srgbClr val="E8F5EE"/>
          </a:solidFill>
          <a:ln w="15875">
            <a:solidFill>
              <a:srgbClr val="1A6B3C"/>
            </a:solidFill>
          </a:ln>
        </p:spPr>
      </p:sp>
      <p:sp>
        <p:nvSpPr>
          <p:cNvPr id="33" name="shdr"/>
          <p:cNvSpPr>
            <a:spLocks noGrp="1"/>
          </p:cNvSpPr>
          <p:nvPr/>
        </p:nvSpPr>
        <p:spPr>
          <a:xfrm>
            <a:off x="6135624" y="804672"/>
            <a:ext cx="1828800" cy="475488"/>
          </a:xfrm>
          <a:prstGeom prst="roundRect">
            <a:avLst>
              <a:gd name="adj" fmla="val 15000"/>
            </a:avLst>
          </a:prstGeom>
          <a:solidFill>
            <a:srgbClr val="1A6B3C"/>
          </a:solidFill>
          <a:ln>
            <a:noFill/>
          </a:ln>
        </p:spPr>
      </p:sp>
      <p:sp>
        <p:nvSpPr>
          <p:cNvPr id="27" name="shdr2"/>
          <p:cNvSpPr>
            <a:spLocks noGrp="1"/>
          </p:cNvSpPr>
          <p:nvPr/>
        </p:nvSpPr>
        <p:spPr>
          <a:xfrm>
            <a:off x="6135624" y="1115568"/>
            <a:ext cx="1828800" cy="164592"/>
          </a:xfrm>
          <a:prstGeom prst="rect">
            <a:avLst/>
          </a:prstGeom>
          <a:solidFill>
            <a:srgbClr val="1A6B3C"/>
          </a:solidFill>
          <a:ln>
            <a:noFill/>
          </a:ln>
        </p:spPr>
      </p:sp>
      <p:sp>
        <p:nvSpPr>
          <p:cNvPr id="28" name="snom"/>
          <p:cNvSpPr txBox="1">
            <a:spLocks noGrp="1"/>
          </p:cNvSpPr>
          <p:nvPr/>
        </p:nvSpPr>
        <p:spPr>
          <a:xfrm>
            <a:off x="6135624" y="841248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FFFFFF"/>
                </a:solidFill>
                <a:latin typeface="Calibri"/>
              </a:rPr>
              <a:t>Empresas
Medianas</a:t>
            </a:r>
          </a:p>
        </p:txBody>
      </p:sp>
      <p:sp>
        <p:nvSpPr>
          <p:cNvPr id="29" name="sbg"/>
          <p:cNvSpPr>
            <a:spLocks noGrp="1"/>
          </p:cNvSpPr>
          <p:nvPr/>
        </p:nvSpPr>
        <p:spPr>
          <a:xfrm>
            <a:off x="6227064" y="1335024"/>
            <a:ext cx="1645920" cy="201168"/>
          </a:xfrm>
          <a:prstGeom prst="roundRect">
            <a:avLst>
              <a:gd name="adj" fmla="val 6000"/>
            </a:avLst>
          </a:prstGeom>
          <a:solidFill>
            <a:srgbClr val="1A6B3C"/>
          </a:solidFill>
          <a:ln>
            <a:noFill/>
          </a:ln>
        </p:spPr>
      </p:sp>
      <p:sp>
        <p:nvSpPr>
          <p:cNvPr id="30" name="sbt"/>
          <p:cNvSpPr txBox="1">
            <a:spLocks noGrp="1"/>
          </p:cNvSpPr>
          <p:nvPr/>
        </p:nvSpPr>
        <p:spPr>
          <a:xfrm>
            <a:off x="6227064" y="1335024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FFFFFF"/>
                </a:solidFill>
                <a:latin typeface="Calibri"/>
              </a:rPr>
              <a:t>POTENCIAL</a:t>
            </a:r>
          </a:p>
        </p:txBody>
      </p:sp>
      <p:sp>
        <p:nvSpPr>
          <p:cNvPr id="31" name="sdesc"/>
          <p:cNvSpPr txBox="1">
            <a:spLocks noGrp="1"/>
          </p:cNvSpPr>
          <p:nvPr/>
        </p:nvSpPr>
        <p:spPr>
          <a:xfrm>
            <a:off x="6227064" y="1609344"/>
            <a:ext cx="1645920" cy="23774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 dirty="0">
                <a:solidFill>
                  <a:srgbClr val="1A6B3C"/>
                </a:solidFill>
                <a:latin typeface="Calibri"/>
              </a:rPr>
              <a:t>Alta deuda tecnica · Baja madurez · Presupuesto ajustado
Modelo Express Alfa como puerta de entrada</a:t>
            </a:r>
          </a:p>
        </p:txBody>
      </p:sp>
      <p:sp>
        <p:nvSpPr>
          <p:cNvPr id="60" name="concl"/>
          <p:cNvSpPr>
            <a:spLocks noGrp="1"/>
          </p:cNvSpPr>
          <p:nvPr/>
        </p:nvSpPr>
        <p:spPr>
          <a:xfrm>
            <a:off x="320040" y="4114800"/>
            <a:ext cx="7717536" cy="237744"/>
          </a:xfrm>
          <a:prstGeom prst="roundRect">
            <a:avLst>
              <a:gd name="adj" fmla="val 8000"/>
            </a:avLst>
          </a:prstGeom>
          <a:solidFill>
            <a:srgbClr val="FFF3CD"/>
          </a:solidFill>
          <a:ln w="12700">
            <a:solidFill>
              <a:srgbClr val="F59E0B"/>
            </a:solidFill>
          </a:ln>
        </p:spPr>
      </p:sp>
      <p:sp>
        <p:nvSpPr>
          <p:cNvPr id="61" name="conclT"/>
          <p:cNvSpPr txBox="1">
            <a:spLocks noGrp="1"/>
          </p:cNvSpPr>
          <p:nvPr/>
        </p:nvSpPr>
        <p:spPr>
          <a:xfrm>
            <a:off x="457200" y="4114800"/>
            <a:ext cx="7498079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92400E"/>
                </a:solidFill>
                <a:latin typeface="Calibri"/>
              </a:rPr>
              <a:t>Foco: profundizar en clientes actuales y crecer dentro de la misma industria antes de diversificar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Nivel de Madurez de las Mesas de Servicio – A dónde queremos llegar</a:t>
            </a:r>
          </a:p>
        </p:txBody>
      </p:sp>
      <p:sp>
        <p:nvSpPr>
          <p:cNvPr id="3" name="Subtitulo"/>
          <p:cNvSpPr txBox="1">
            <a:spLocks noGrp="1"/>
          </p:cNvSpPr>
          <p:nvPr>
            <p:ph type="subTitle" idx="4294967295"/>
          </p:nvPr>
        </p:nvSpPr>
        <p:spPr>
          <a:xfrm>
            <a:off x="239486" y="542698"/>
            <a:ext cx="6194199" cy="56379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s-ES" sz="1000"/>
              <a:t>ITIL v5 · Escala N1 a N5 · 4 dimensiones · 17 practicas a evaluar</a:t>
            </a:r>
          </a:p>
        </p:txBody>
      </p:sp>
      <p:sp>
        <p:nvSpPr>
          <p:cNvPr id="10" name="N1 box"/>
          <p:cNvSpPr txBox="1"/>
          <p:nvPr/>
        </p:nvSpPr>
        <p:spPr>
          <a:xfrm>
            <a:off x="457200" y="1371600"/>
            <a:ext cx="1371600" cy="914400"/>
          </a:xfrm>
          <a:prstGeom prst="rect">
            <a:avLst/>
          </a:prstGeom>
          <a:solidFill>
            <a:srgbClr val="FAECE7"/>
          </a:solidFill>
          <a:ln w="19050">
            <a:solidFill>
              <a:srgbClr val="D0021B"/>
            </a:solidFill>
          </a:ln>
        </p:spPr>
        <p:txBody>
          <a:bodyPr wrap="square" lIns="91425" tIns="91425" rIns="91425" bIns="91425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1600" b="1">
                <a:solidFill>
                  <a:srgbClr val="D0021B"/>
                </a:solidFill>
              </a:rPr>
              <a:t>N1</a:t>
            </a:r>
          </a:p>
          <a:p>
            <a:pPr algn="ctr">
              <a:buNone/>
            </a:pPr>
            <a:r>
              <a:rPr lang="es" sz="900" b="1">
                <a:solidFill>
                  <a:srgbClr val="D0021B"/>
                </a:solidFill>
              </a:rPr>
              <a:t>Inicial</a:t>
            </a:r>
          </a:p>
        </p:txBody>
      </p:sp>
      <p:sp>
        <p:nvSpPr>
          <p:cNvPr id="11" name="flecha1"/>
          <p:cNvSpPr txBox="1"/>
          <p:nvPr/>
        </p:nvSpPr>
        <p:spPr>
          <a:xfrm>
            <a:off x="1828800" y="1600200"/>
            <a:ext cx="342900" cy="4572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N2 box"/>
          <p:cNvSpPr txBox="1"/>
          <p:nvPr/>
        </p:nvSpPr>
        <p:spPr>
          <a:xfrm>
            <a:off x="2171700" y="1371600"/>
            <a:ext cx="1371600" cy="914400"/>
          </a:xfrm>
          <a:prstGeom prst="rect">
            <a:avLst/>
          </a:prstGeom>
          <a:solidFill>
            <a:srgbClr val="FAEEDA"/>
          </a:solidFill>
          <a:ln w="19050">
            <a:solidFill>
              <a:srgbClr val="EF9F27"/>
            </a:solidFill>
          </a:ln>
        </p:spPr>
        <p:txBody>
          <a:bodyPr wrap="square" lIns="91425" tIns="91425" rIns="91425" bIns="91425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1600" b="1">
                <a:solidFill>
                  <a:srgbClr val="633806"/>
                </a:solidFill>
              </a:rPr>
              <a:t>N2</a:t>
            </a:r>
          </a:p>
          <a:p>
            <a:pPr algn="ctr">
              <a:buNone/>
            </a:pPr>
            <a:r>
              <a:rPr lang="es" sz="900" b="1">
                <a:solidFill>
                  <a:srgbClr val="633806"/>
                </a:solidFill>
              </a:rPr>
              <a:t>Administrado</a:t>
            </a:r>
          </a:p>
        </p:txBody>
      </p:sp>
      <p:sp>
        <p:nvSpPr>
          <p:cNvPr id="13" name="flecha2"/>
          <p:cNvSpPr txBox="1"/>
          <p:nvPr/>
        </p:nvSpPr>
        <p:spPr>
          <a:xfrm>
            <a:off x="3543300" y="1600200"/>
            <a:ext cx="342900" cy="4572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N3 box"/>
          <p:cNvSpPr txBox="1"/>
          <p:nvPr/>
        </p:nvSpPr>
        <p:spPr>
          <a:xfrm>
            <a:off x="3886200" y="1371600"/>
            <a:ext cx="1371600" cy="914400"/>
          </a:xfrm>
          <a:prstGeom prst="rect">
            <a:avLst/>
          </a:prstGeom>
          <a:solidFill>
            <a:srgbClr val="E6F1FB"/>
          </a:solidFill>
          <a:ln w="28575">
            <a:solidFill>
              <a:srgbClr val="0E337C"/>
            </a:solidFill>
          </a:ln>
        </p:spPr>
        <p:txBody>
          <a:bodyPr wrap="square" lIns="91425" tIns="91425" rIns="91425" bIns="91425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1600" b="1">
                <a:solidFill>
                  <a:srgbClr val="0E337C"/>
                </a:solidFill>
              </a:rPr>
              <a:t>N3 ★</a:t>
            </a:r>
          </a:p>
          <a:p>
            <a:pPr algn="ctr">
              <a:buNone/>
            </a:pPr>
            <a:r>
              <a:rPr lang="es" sz="900" b="1">
                <a:solidFill>
                  <a:srgbClr val="0E337C"/>
                </a:solidFill>
              </a:rPr>
              <a:t>Definido</a:t>
            </a:r>
          </a:p>
        </p:txBody>
      </p:sp>
      <p:sp>
        <p:nvSpPr>
          <p:cNvPr id="15" name="flecha3"/>
          <p:cNvSpPr txBox="1"/>
          <p:nvPr/>
        </p:nvSpPr>
        <p:spPr>
          <a:xfrm>
            <a:off x="5257800" y="1600200"/>
            <a:ext cx="342900" cy="4572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N4 box"/>
          <p:cNvSpPr txBox="1"/>
          <p:nvPr/>
        </p:nvSpPr>
        <p:spPr>
          <a:xfrm>
            <a:off x="5600700" y="1371600"/>
            <a:ext cx="1371600" cy="914400"/>
          </a:xfrm>
          <a:prstGeom prst="rect">
            <a:avLst/>
          </a:prstGeom>
          <a:solidFill>
            <a:srgbClr val="EEEDFE"/>
          </a:solidFill>
          <a:ln w="19050">
            <a:solidFill>
              <a:srgbClr val="3C3489"/>
            </a:solidFill>
          </a:ln>
        </p:spPr>
        <p:txBody>
          <a:bodyPr wrap="square" lIns="91425" tIns="91425" rIns="91425" bIns="91425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1600" b="1">
                <a:solidFill>
                  <a:srgbClr val="3C3489"/>
                </a:solidFill>
              </a:rPr>
              <a:t>N4</a:t>
            </a:r>
          </a:p>
          <a:p>
            <a:pPr algn="ctr">
              <a:buNone/>
            </a:pPr>
            <a:r>
              <a:rPr lang="es" sz="900" b="1">
                <a:solidFill>
                  <a:srgbClr val="3C3489"/>
                </a:solidFill>
              </a:rPr>
              <a:t>Cuantitativo</a:t>
            </a:r>
          </a:p>
        </p:txBody>
      </p:sp>
      <p:sp>
        <p:nvSpPr>
          <p:cNvPr id="17" name="flecha4"/>
          <p:cNvSpPr txBox="1"/>
          <p:nvPr/>
        </p:nvSpPr>
        <p:spPr>
          <a:xfrm>
            <a:off x="6972300" y="1600200"/>
            <a:ext cx="342900" cy="4572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N5 box"/>
          <p:cNvSpPr txBox="1"/>
          <p:nvPr/>
        </p:nvSpPr>
        <p:spPr>
          <a:xfrm>
            <a:off x="7315200" y="1371600"/>
            <a:ext cx="1371600" cy="914400"/>
          </a:xfrm>
          <a:prstGeom prst="rect">
            <a:avLst/>
          </a:prstGeom>
          <a:solidFill>
            <a:srgbClr val="E1F5EE"/>
          </a:solidFill>
          <a:ln w="57150">
            <a:solidFill>
              <a:srgbClr val="92D050"/>
            </a:solidFill>
          </a:ln>
        </p:spPr>
        <p:txBody>
          <a:bodyPr wrap="square" lIns="91425" tIns="91425" rIns="91425" bIns="91425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1600" b="1">
                <a:solidFill>
                  <a:srgbClr val="085041"/>
                </a:solidFill>
              </a:rPr>
              <a:t>N5</a:t>
            </a:r>
          </a:p>
          <a:p>
            <a:pPr algn="ctr">
              <a:buNone/>
            </a:pPr>
            <a:r>
              <a:rPr lang="es" sz="900" b="1">
                <a:solidFill>
                  <a:srgbClr val="085041"/>
                </a:solidFill>
              </a:rPr>
              <a:t>Optimizado</a:t>
            </a:r>
          </a:p>
        </p:txBody>
      </p:sp>
      <p:sp>
        <p:nvSpPr>
          <p:cNvPr id="20" name="desc N1"/>
          <p:cNvSpPr txBox="1"/>
          <p:nvPr/>
        </p:nvSpPr>
        <p:spPr>
          <a:xfrm>
            <a:off x="457200" y="2400300"/>
            <a:ext cx="1371600" cy="102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/>
          <a:lstStyle/>
          <a:p>
            <a:pPr algn="ctr">
              <a:lnSpc>
                <a:spcPct val="115000"/>
              </a:lnSpc>
            </a:pPr>
            <a:r>
              <a:rPr lang="es" sz="900">
                <a:solidFill>
                  <a:srgbClr val="666666"/>
                </a:solidFill>
              </a:rPr>
              <a:t>Reactivo total. Conocimiento en personas. Bus factor alto (rotación).</a:t>
            </a:r>
          </a:p>
        </p:txBody>
      </p:sp>
      <p:sp>
        <p:nvSpPr>
          <p:cNvPr id="21" name="desc N2"/>
          <p:cNvSpPr txBox="1"/>
          <p:nvPr/>
        </p:nvSpPr>
        <p:spPr>
          <a:xfrm>
            <a:off x="2171700" y="2400300"/>
            <a:ext cx="1371600" cy="102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900">
                <a:solidFill>
                  <a:srgbClr val="666666"/>
                </a:solidFill>
              </a:rPr>
              <a:t>Procesos por mesa. Herramienta como bitácora. Mínimo Mesa de Ayuda.</a:t>
            </a:r>
          </a:p>
        </p:txBody>
      </p:sp>
      <p:sp>
        <p:nvSpPr>
          <p:cNvPr id="22" name="desc N3"/>
          <p:cNvSpPr txBox="1"/>
          <p:nvPr/>
        </p:nvSpPr>
        <p:spPr>
          <a:xfrm>
            <a:off x="3886200" y="2400300"/>
            <a:ext cx="1371600" cy="102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900" b="1">
                <a:solidFill>
                  <a:srgbClr val="0E337C"/>
                </a:solidFill>
              </a:rPr>
              <a:t>Estandarizado. RACI, ANS y catálogo. Mínimo Mesa de Soporte. </a:t>
            </a:r>
          </a:p>
        </p:txBody>
      </p:sp>
      <p:sp>
        <p:nvSpPr>
          <p:cNvPr id="23" name="desc N4"/>
          <p:cNvSpPr txBox="1"/>
          <p:nvPr/>
        </p:nvSpPr>
        <p:spPr>
          <a:xfrm>
            <a:off x="5600700" y="2400300"/>
            <a:ext cx="1371600" cy="102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900">
                <a:solidFill>
                  <a:srgbClr val="666666"/>
                </a:solidFill>
              </a:rPr>
              <a:t>Datos reales. KPIs medidos. Costo por ticket calculado.</a:t>
            </a:r>
          </a:p>
        </p:txBody>
      </p:sp>
      <p:sp>
        <p:nvSpPr>
          <p:cNvPr id="24" name="desc N5"/>
          <p:cNvSpPr txBox="1"/>
          <p:nvPr/>
        </p:nvSpPr>
        <p:spPr>
          <a:xfrm>
            <a:off x="7315200" y="2400300"/>
            <a:ext cx="1371600" cy="102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900">
                <a:solidFill>
                  <a:srgbClr val="666666"/>
                </a:solidFill>
              </a:rPr>
              <a:t>Mejora continua automatizada. </a:t>
            </a:r>
          </a:p>
        </p:txBody>
      </p:sp>
      <p:sp>
        <p:nvSpPr>
          <p:cNvPr id="30" name="modelo reactivo"/>
          <p:cNvSpPr txBox="1"/>
          <p:nvPr/>
        </p:nvSpPr>
        <p:spPr>
          <a:xfrm>
            <a:off x="457200" y="3543300"/>
            <a:ext cx="2742750" cy="4572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633806"/>
                </a:solidFill>
              </a:rPr>
              <a:t>Reactivo y Crecimiento Automatizado</a:t>
            </a:r>
          </a:p>
        </p:txBody>
      </p:sp>
      <p:sp>
        <p:nvSpPr>
          <p:cNvPr id="31" name="modelo predictivo"/>
          <p:cNvSpPr txBox="1"/>
          <p:nvPr/>
        </p:nvSpPr>
        <p:spPr>
          <a:xfrm>
            <a:off x="3257550" y="3543300"/>
            <a:ext cx="2742750" cy="4572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0E337C"/>
                </a:solidFill>
              </a:rPr>
              <a:t>Predictivo y Evolutivo</a:t>
            </a:r>
          </a:p>
        </p:txBody>
      </p:sp>
      <p:sp>
        <p:nvSpPr>
          <p:cNvPr id="32" name="modelo autonomo"/>
          <p:cNvSpPr txBox="1"/>
          <p:nvPr/>
        </p:nvSpPr>
        <p:spPr>
          <a:xfrm>
            <a:off x="6057900" y="3543300"/>
            <a:ext cx="2743500" cy="457200"/>
          </a:xfrm>
          <a:prstGeom prst="rect">
            <a:avLst/>
          </a:prstGeom>
          <a:solidFill>
            <a:srgbClr val="E1F5EE"/>
          </a:solidFill>
          <a:ln w="57150">
            <a:solidFill>
              <a:srgbClr val="92D050"/>
            </a:solidFill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085041"/>
                </a:solidFill>
              </a:rPr>
              <a:t>Autónomo e Inteligente</a:t>
            </a:r>
          </a:p>
        </p:txBody>
      </p:sp>
      <p:sp>
        <p:nvSpPr>
          <p:cNvPr id="29" name="src"/>
          <p:cNvSpPr txBox="1">
            <a:spLocks noGrp="1"/>
          </p:cNvSpPr>
          <p:nvPr/>
        </p:nvSpPr>
        <p:spPr>
          <a:xfrm>
            <a:off x="320040" y="44622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3"/>
              </a:rPr>
              <a:t>PeopleCert ITIL v5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4"/>
              </a:rPr>
              <a:t>CMMI Institute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5"/>
              </a:rPr>
              <a:t>HDI Standard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1AA56E4B-D6D8-65F3-C952-37A0C27F0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>
            <a:extLst>
              <a:ext uri="{FF2B5EF4-FFF2-40B4-BE49-F238E27FC236}">
                <a16:creationId xmlns:a16="http://schemas.microsoft.com/office/drawing/2014/main" id="{CCEE9CC7-872E-C3D2-EC82-3E23F2D9921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 dirty="0"/>
              <a:t>Mesas de Servicio de Nueva Generación</a:t>
            </a:r>
          </a:p>
        </p:txBody>
      </p:sp>
      <p:sp>
        <p:nvSpPr>
          <p:cNvPr id="125" name="Google Shape;125;g3657f5ba65c_1_28">
            <a:extLst>
              <a:ext uri="{FF2B5EF4-FFF2-40B4-BE49-F238E27FC236}">
                <a16:creationId xmlns:a16="http://schemas.microsoft.com/office/drawing/2014/main" id="{C6683957-388A-9E43-6E8E-841DDAB357F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4971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s-CO" sz="1400"/>
              <a:t>Mercado Actual</a:t>
            </a:r>
          </a:p>
        </p:txBody>
      </p:sp>
    </p:spTree>
    <p:extLst>
      <p:ext uri="{BB962C8B-B14F-4D97-AF65-F5344CB8AC3E}">
        <p14:creationId xmlns:p14="http://schemas.microsoft.com/office/powerpoint/2010/main" val="2787691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A2EAA-18D9-BDBE-9317-4753D3119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74E0D-ABBF-A4B9-7406-6475C9709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14" y="169498"/>
            <a:ext cx="8211000" cy="572700"/>
          </a:xfrm>
        </p:spPr>
        <p:txBody>
          <a:bodyPr>
            <a:normAutofit/>
          </a:bodyPr>
          <a:lstStyle/>
          <a:p>
            <a:r>
              <a:rPr lang="en-US" dirty="0"/>
              <a:t>El Mercado Global ITSM (</a:t>
            </a:r>
            <a:r>
              <a:rPr lang="en-US" err="1"/>
              <a:t>Gestión</a:t>
            </a:r>
            <a:r>
              <a:rPr lang="en-US" dirty="0"/>
              <a:t> Integral de </a:t>
            </a:r>
            <a:r>
              <a:rPr lang="en-US" err="1"/>
              <a:t>los</a:t>
            </a:r>
            <a:r>
              <a:rPr lang="en-US" dirty="0"/>
              <a:t> </a:t>
            </a:r>
            <a:r>
              <a:rPr lang="en-US" err="1"/>
              <a:t>Servicios</a:t>
            </a:r>
            <a:r>
              <a:rPr lang="en-US" dirty="0"/>
              <a:t> de TI)</a:t>
            </a:r>
            <a:endParaRPr lang="es-CO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69EFA54B-0C6E-CC1F-6102-BF57BF054D5D}"/>
              </a:ext>
            </a:extLst>
          </p:cNvPr>
          <p:cNvSpPr/>
          <p:nvPr/>
        </p:nvSpPr>
        <p:spPr>
          <a:xfrm>
            <a:off x="340500" y="871012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26CCEFE4-E344-F8FE-CB41-730931063E4F}"/>
              </a:ext>
            </a:extLst>
          </p:cNvPr>
          <p:cNvSpPr/>
          <p:nvPr/>
        </p:nvSpPr>
        <p:spPr>
          <a:xfrm>
            <a:off x="450228" y="962452"/>
            <a:ext cx="1746504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A8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USD 11.4B</a:t>
            </a:r>
            <a:endParaRPr lang="en-US" sz="22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FE9E3C38-771F-BF17-FE48-98AA587E6AEC}"/>
              </a:ext>
            </a:extLst>
          </p:cNvPr>
          <p:cNvSpPr/>
          <p:nvPr/>
        </p:nvSpPr>
        <p:spPr>
          <a:xfrm>
            <a:off x="431940" y="1640022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Mercado global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ITSM 2024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13A6F50A-9917-8EB1-C785-92E609FCA687}"/>
              </a:ext>
            </a:extLst>
          </p:cNvPr>
          <p:cNvSpPr/>
          <p:nvPr/>
        </p:nvSpPr>
        <p:spPr>
          <a:xfrm>
            <a:off x="2471052" y="871012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52C5DADE-6707-312B-213E-564F79261980}"/>
              </a:ext>
            </a:extLst>
          </p:cNvPr>
          <p:cNvSpPr/>
          <p:nvPr/>
        </p:nvSpPr>
        <p:spPr>
          <a:xfrm>
            <a:off x="2580780" y="962452"/>
            <a:ext cx="1746504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6FBA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+14%</a:t>
            </a:r>
            <a:endParaRPr lang="en-US" sz="22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F6B9BC75-329F-AA07-8B47-C5F853FEC8EF}"/>
              </a:ext>
            </a:extLst>
          </p:cNvPr>
          <p:cNvSpPr/>
          <p:nvPr/>
        </p:nvSpPr>
        <p:spPr>
          <a:xfrm>
            <a:off x="2562492" y="1640022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Crecimiento anual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(CAGR global)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42786A4F-AC35-AFFE-B28D-07F8CD08ACB6}"/>
              </a:ext>
            </a:extLst>
          </p:cNvPr>
          <p:cNvSpPr/>
          <p:nvPr/>
        </p:nvSpPr>
        <p:spPr>
          <a:xfrm>
            <a:off x="4601604" y="871012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76EC807C-5AD0-599D-8C56-6686748BE528}"/>
              </a:ext>
            </a:extLst>
          </p:cNvPr>
          <p:cNvSpPr/>
          <p:nvPr/>
        </p:nvSpPr>
        <p:spPr>
          <a:xfrm>
            <a:off x="4711332" y="962452"/>
            <a:ext cx="1746504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USD 108M</a:t>
            </a:r>
            <a:endParaRPr lang="en-US" sz="22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960A0036-A4FA-B57E-7424-E1DE12395481}"/>
              </a:ext>
            </a:extLst>
          </p:cNvPr>
          <p:cNvSpPr/>
          <p:nvPr/>
        </p:nvSpPr>
        <p:spPr>
          <a:xfrm>
            <a:off x="4693044" y="1640022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Mercado ITSM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Colombia 2026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5D8E8711-2BB8-0323-42AF-EC0016C1D3AD}"/>
              </a:ext>
            </a:extLst>
          </p:cNvPr>
          <p:cNvSpPr/>
          <p:nvPr/>
        </p:nvSpPr>
        <p:spPr>
          <a:xfrm>
            <a:off x="6732156" y="871012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88B1F5BF-D7D8-8C80-97A3-3A2813CBAB99}"/>
              </a:ext>
            </a:extLst>
          </p:cNvPr>
          <p:cNvSpPr/>
          <p:nvPr/>
        </p:nvSpPr>
        <p:spPr>
          <a:xfrm>
            <a:off x="6841884" y="962452"/>
            <a:ext cx="1746504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14.08%</a:t>
            </a:r>
            <a:endParaRPr lang="en-US" sz="22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09B1A052-83F6-6F1E-5456-AAB70A824504}"/>
              </a:ext>
            </a:extLst>
          </p:cNvPr>
          <p:cNvSpPr/>
          <p:nvPr/>
        </p:nvSpPr>
        <p:spPr>
          <a:xfrm>
            <a:off x="6731066" y="1427751"/>
            <a:ext cx="1864723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sz="1000" dirty="0">
                <a:solidFill>
                  <a:srgbClr val="6B7280"/>
                </a:solidFill>
                <a:latin typeface="Reddit Sans"/>
                <a:ea typeface="Reddit Sans"/>
                <a:cs typeface="Calibri"/>
              </a:rPr>
              <a:t>CAGR </a:t>
            </a:r>
            <a:r>
              <a:rPr lang="en-US" sz="700" dirty="0">
                <a:solidFill>
                  <a:srgbClr val="6B7280"/>
                </a:solidFill>
                <a:latin typeface="Reddit Sans"/>
                <a:ea typeface="Reddit Sans"/>
                <a:cs typeface="Calibri"/>
              </a:rPr>
              <a:t>(Tasa de </a:t>
            </a:r>
            <a:r>
              <a:rPr lang="en-US" sz="700" dirty="0" err="1">
                <a:solidFill>
                  <a:srgbClr val="6B7280"/>
                </a:solidFill>
                <a:latin typeface="Reddit Sans"/>
                <a:ea typeface="Reddit Sans"/>
                <a:cs typeface="Calibri"/>
              </a:rPr>
              <a:t>crecimiento</a:t>
            </a:r>
            <a:r>
              <a:rPr lang="en-US" sz="700" dirty="0">
                <a:solidFill>
                  <a:srgbClr val="6B7280"/>
                </a:solidFill>
                <a:latin typeface="Reddit Sans"/>
                <a:ea typeface="Reddit Sans"/>
                <a:cs typeface="Calibri"/>
              </a:rPr>
              <a:t> </a:t>
            </a:r>
            <a:r>
              <a:rPr lang="en-US" sz="700" dirty="0" err="1">
                <a:solidFill>
                  <a:srgbClr val="6B7280"/>
                </a:solidFill>
                <a:latin typeface="Reddit Sans"/>
                <a:ea typeface="Reddit Sans"/>
                <a:cs typeface="Calibri"/>
              </a:rPr>
              <a:t>anual</a:t>
            </a:r>
            <a:r>
              <a:rPr lang="en-US" sz="700" dirty="0">
                <a:solidFill>
                  <a:srgbClr val="6B7280"/>
                </a:solidFill>
                <a:latin typeface="Reddit Sans"/>
                <a:ea typeface="Reddit Sans"/>
                <a:cs typeface="Calibri"/>
              </a:rPr>
              <a:t> </a:t>
            </a:r>
            <a:r>
              <a:rPr lang="en-US" sz="700" dirty="0" err="1">
                <a:solidFill>
                  <a:srgbClr val="6B7280"/>
                </a:solidFill>
                <a:latin typeface="Reddit Sans"/>
                <a:ea typeface="Reddit Sans"/>
                <a:cs typeface="Calibri"/>
              </a:rPr>
              <a:t>compuesta</a:t>
            </a:r>
            <a:r>
              <a:rPr lang="en-US" sz="700" dirty="0">
                <a:solidFill>
                  <a:srgbClr val="6B7280"/>
                </a:solidFill>
                <a:latin typeface="Reddit Sans"/>
                <a:ea typeface="Reddit Sans"/>
                <a:cs typeface="Calibri"/>
              </a:rPr>
              <a:t>) </a:t>
            </a:r>
            <a:r>
              <a:rPr lang="en-US" sz="1000" dirty="0">
                <a:solidFill>
                  <a:srgbClr val="6B7280"/>
                </a:solidFill>
                <a:latin typeface="Reddit Sans"/>
                <a:ea typeface="Reddit Sans"/>
                <a:cs typeface="Calibri"/>
              </a:rPr>
              <a:t>Colombia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hasta 2031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768006AD-C857-B240-DF38-559E8DC555DC}"/>
              </a:ext>
            </a:extLst>
          </p:cNvPr>
          <p:cNvSpPr/>
          <p:nvPr/>
        </p:nvSpPr>
        <p:spPr>
          <a:xfrm>
            <a:off x="235338" y="4628308"/>
            <a:ext cx="859536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</a:rPr>
              <a:t>Fuente: </a:t>
            </a:r>
            <a:r>
              <a:rPr lang="en-US" sz="750" u="sng" dirty="0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Mordor Intelligence — ITSM Market</a:t>
            </a:r>
            <a:r>
              <a:rPr lang="en-US" sz="750" dirty="0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Grand View Research — Latin America ITSM</a:t>
            </a:r>
            <a:r>
              <a:rPr lang="en-US" sz="750" dirty="0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</a:rPr>
              <a:t>  ·  </a:t>
            </a:r>
            <a:r>
              <a:rPr lang="en-US" sz="750" u="sng" dirty="0" err="1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Superfinanciera</a:t>
            </a:r>
            <a:r>
              <a:rPr lang="en-US" sz="750" u="sng" dirty="0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Colombia — Circular 007</a:t>
            </a:r>
            <a:endParaRPr lang="en-US" sz="750">
              <a:highlight>
                <a:srgbClr val="FFFF00"/>
              </a:highlight>
              <a:latin typeface="Reddit Sans"/>
              <a:ea typeface="Reddit Sans"/>
              <a:cs typeface="Calibri"/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61E76BB6-F317-62A8-60EB-33F2E58A0F71}"/>
              </a:ext>
            </a:extLst>
          </p:cNvPr>
          <p:cNvSpPr/>
          <p:nvPr/>
        </p:nvSpPr>
        <p:spPr>
          <a:xfrm>
            <a:off x="271914" y="46956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D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Tamano, crecimiento y oportunidad en Colombia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2" name="thdr">
            <a:extLst>
              <a:ext uri="{FF2B5EF4-FFF2-40B4-BE49-F238E27FC236}">
                <a16:creationId xmlns:a16="http://schemas.microsoft.com/office/drawing/2014/main" id="{9E82202C-1B41-F146-37EF-03785FC38950}"/>
              </a:ext>
            </a:extLst>
          </p:cNvPr>
          <p:cNvSpPr>
            <a:spLocks noGrp="1"/>
          </p:cNvSpPr>
          <p:nvPr/>
        </p:nvSpPr>
        <p:spPr>
          <a:xfrm>
            <a:off x="365760" y="2630642"/>
            <a:ext cx="5020492" cy="365760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44" name="th">
            <a:extLst>
              <a:ext uri="{FF2B5EF4-FFF2-40B4-BE49-F238E27FC236}">
                <a16:creationId xmlns:a16="http://schemas.microsoft.com/office/drawing/2014/main" id="{74C25C71-930E-6617-0560-EDF61867C1EF}"/>
              </a:ext>
            </a:extLst>
          </p:cNvPr>
          <p:cNvSpPr txBox="1">
            <a:spLocks noGrp="1"/>
          </p:cNvSpPr>
          <p:nvPr/>
        </p:nvSpPr>
        <p:spPr>
          <a:xfrm>
            <a:off x="365760" y="2630642"/>
            <a:ext cx="14543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50" b="1" dirty="0">
                <a:solidFill>
                  <a:srgbClr val="FFFFFF"/>
                </a:solidFill>
                <a:latin typeface="Reddit Sans Light"/>
              </a:rPr>
              <a:t>Región</a:t>
            </a:r>
          </a:p>
        </p:txBody>
      </p:sp>
      <p:sp>
        <p:nvSpPr>
          <p:cNvPr id="46" name="th">
            <a:extLst>
              <a:ext uri="{FF2B5EF4-FFF2-40B4-BE49-F238E27FC236}">
                <a16:creationId xmlns:a16="http://schemas.microsoft.com/office/drawing/2014/main" id="{CE246457-BA30-C55C-3BA3-517AD299C2A5}"/>
              </a:ext>
            </a:extLst>
          </p:cNvPr>
          <p:cNvSpPr txBox="1">
            <a:spLocks noGrp="1"/>
          </p:cNvSpPr>
          <p:nvPr/>
        </p:nvSpPr>
        <p:spPr>
          <a:xfrm>
            <a:off x="1694906" y="2630642"/>
            <a:ext cx="12725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50" b="1" dirty="0">
                <a:solidFill>
                  <a:srgbClr val="FFFFFF"/>
                </a:solidFill>
                <a:latin typeface="Reddit Sans Light"/>
              </a:rPr>
              <a:t>Tamaño 2024-2026</a:t>
            </a:r>
          </a:p>
        </p:txBody>
      </p:sp>
      <p:sp>
        <p:nvSpPr>
          <p:cNvPr id="48" name="th">
            <a:extLst>
              <a:ext uri="{FF2B5EF4-FFF2-40B4-BE49-F238E27FC236}">
                <a16:creationId xmlns:a16="http://schemas.microsoft.com/office/drawing/2014/main" id="{99E37F24-7565-BD28-BA96-24B25D1B109E}"/>
              </a:ext>
            </a:extLst>
          </p:cNvPr>
          <p:cNvSpPr txBox="1">
            <a:spLocks noGrp="1"/>
          </p:cNvSpPr>
          <p:nvPr/>
        </p:nvSpPr>
        <p:spPr>
          <a:xfrm>
            <a:off x="3027317" y="2630642"/>
            <a:ext cx="1331323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50" b="1" dirty="0">
                <a:solidFill>
                  <a:srgbClr val="FFFFFF"/>
                </a:solidFill>
                <a:latin typeface="Reddit Sans Light"/>
              </a:rPr>
              <a:t>Proyección</a:t>
            </a:r>
          </a:p>
        </p:txBody>
      </p:sp>
      <p:sp>
        <p:nvSpPr>
          <p:cNvPr id="50" name="th">
            <a:extLst>
              <a:ext uri="{FF2B5EF4-FFF2-40B4-BE49-F238E27FC236}">
                <a16:creationId xmlns:a16="http://schemas.microsoft.com/office/drawing/2014/main" id="{628D6CFD-6F32-F6A1-A560-1757FEBD3694}"/>
              </a:ext>
            </a:extLst>
          </p:cNvPr>
          <p:cNvSpPr txBox="1">
            <a:spLocks noGrp="1"/>
          </p:cNvSpPr>
          <p:nvPr/>
        </p:nvSpPr>
        <p:spPr>
          <a:xfrm>
            <a:off x="4353197" y="2630642"/>
            <a:ext cx="9677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50" b="1" dirty="0">
                <a:solidFill>
                  <a:srgbClr val="FFFFFF"/>
                </a:solidFill>
                <a:latin typeface="Reddit Sans Light"/>
              </a:rPr>
              <a:t>CAGR</a:t>
            </a:r>
          </a:p>
        </p:txBody>
      </p:sp>
      <p:sp>
        <p:nvSpPr>
          <p:cNvPr id="52" name="rbg">
            <a:extLst>
              <a:ext uri="{FF2B5EF4-FFF2-40B4-BE49-F238E27FC236}">
                <a16:creationId xmlns:a16="http://schemas.microsoft.com/office/drawing/2014/main" id="{A644AA6C-7826-D177-E2D7-2D9C057F6A07}"/>
              </a:ext>
            </a:extLst>
          </p:cNvPr>
          <p:cNvSpPr>
            <a:spLocks noGrp="1"/>
          </p:cNvSpPr>
          <p:nvPr/>
        </p:nvSpPr>
        <p:spPr>
          <a:xfrm>
            <a:off x="365760" y="2996402"/>
            <a:ext cx="5020492" cy="38404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54" name="rc">
            <a:extLst>
              <a:ext uri="{FF2B5EF4-FFF2-40B4-BE49-F238E27FC236}">
                <a16:creationId xmlns:a16="http://schemas.microsoft.com/office/drawing/2014/main" id="{45668545-C3A1-4CD9-44DE-0472AA7B4C54}"/>
              </a:ext>
            </a:extLst>
          </p:cNvPr>
          <p:cNvSpPr txBox="1">
            <a:spLocks noGrp="1"/>
          </p:cNvSpPr>
          <p:nvPr/>
        </p:nvSpPr>
        <p:spPr>
          <a:xfrm>
            <a:off x="365760" y="2996402"/>
            <a:ext cx="145433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dirty="0">
                <a:solidFill>
                  <a:srgbClr val="333333"/>
                </a:solidFill>
                <a:latin typeface="Reddit Sans Light"/>
              </a:rPr>
              <a:t>América Latina</a:t>
            </a:r>
          </a:p>
        </p:txBody>
      </p:sp>
      <p:sp>
        <p:nvSpPr>
          <p:cNvPr id="56" name="rc">
            <a:extLst>
              <a:ext uri="{FF2B5EF4-FFF2-40B4-BE49-F238E27FC236}">
                <a16:creationId xmlns:a16="http://schemas.microsoft.com/office/drawing/2014/main" id="{EC82CBD1-1A18-0DAE-842C-6CFDBF22D417}"/>
              </a:ext>
            </a:extLst>
          </p:cNvPr>
          <p:cNvSpPr txBox="1">
            <a:spLocks noGrp="1"/>
          </p:cNvSpPr>
          <p:nvPr/>
        </p:nvSpPr>
        <p:spPr>
          <a:xfrm>
            <a:off x="1694906" y="2996402"/>
            <a:ext cx="12725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dirty="0">
                <a:solidFill>
                  <a:srgbClr val="333333"/>
                </a:solidFill>
                <a:latin typeface="Reddit Sans Light"/>
              </a:rPr>
              <a:t>USD 1.8 billones</a:t>
            </a:r>
          </a:p>
        </p:txBody>
      </p:sp>
      <p:sp>
        <p:nvSpPr>
          <p:cNvPr id="58" name="rc">
            <a:extLst>
              <a:ext uri="{FF2B5EF4-FFF2-40B4-BE49-F238E27FC236}">
                <a16:creationId xmlns:a16="http://schemas.microsoft.com/office/drawing/2014/main" id="{22A964C5-1C34-9A4D-5924-733845377424}"/>
              </a:ext>
            </a:extLst>
          </p:cNvPr>
          <p:cNvSpPr txBox="1">
            <a:spLocks noGrp="1"/>
          </p:cNvSpPr>
          <p:nvPr/>
        </p:nvSpPr>
        <p:spPr>
          <a:xfrm>
            <a:off x="3027317" y="2996402"/>
            <a:ext cx="1331323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dirty="0">
                <a:solidFill>
                  <a:srgbClr val="333333"/>
                </a:solidFill>
                <a:latin typeface="Reddit Sans Light"/>
              </a:rPr>
              <a:t>USD 2.5B (2028)</a:t>
            </a:r>
          </a:p>
        </p:txBody>
      </p:sp>
      <p:sp>
        <p:nvSpPr>
          <p:cNvPr id="60" name="rc">
            <a:extLst>
              <a:ext uri="{FF2B5EF4-FFF2-40B4-BE49-F238E27FC236}">
                <a16:creationId xmlns:a16="http://schemas.microsoft.com/office/drawing/2014/main" id="{690AEA1A-5863-4B56-158B-9F571B41A90C}"/>
              </a:ext>
            </a:extLst>
          </p:cNvPr>
          <p:cNvSpPr txBox="1">
            <a:spLocks noGrp="1"/>
          </p:cNvSpPr>
          <p:nvPr/>
        </p:nvSpPr>
        <p:spPr>
          <a:xfrm>
            <a:off x="4353197" y="2996402"/>
            <a:ext cx="9677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dirty="0">
                <a:solidFill>
                  <a:srgbClr val="333333"/>
                </a:solidFill>
                <a:latin typeface="Reddit Sans Light"/>
              </a:rPr>
              <a:t>12%</a:t>
            </a:r>
          </a:p>
        </p:txBody>
      </p:sp>
      <p:sp>
        <p:nvSpPr>
          <p:cNvPr id="62" name="rbg">
            <a:extLst>
              <a:ext uri="{FF2B5EF4-FFF2-40B4-BE49-F238E27FC236}">
                <a16:creationId xmlns:a16="http://schemas.microsoft.com/office/drawing/2014/main" id="{1DAA1D3C-AFD2-75C0-BD38-3013967B4044}"/>
              </a:ext>
            </a:extLst>
          </p:cNvPr>
          <p:cNvSpPr>
            <a:spLocks noGrp="1"/>
          </p:cNvSpPr>
          <p:nvPr/>
        </p:nvSpPr>
        <p:spPr>
          <a:xfrm>
            <a:off x="365760" y="3380450"/>
            <a:ext cx="502049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64" name="rc">
            <a:extLst>
              <a:ext uri="{FF2B5EF4-FFF2-40B4-BE49-F238E27FC236}">
                <a16:creationId xmlns:a16="http://schemas.microsoft.com/office/drawing/2014/main" id="{9F6AABBE-17EA-7FAC-A723-68D91DB6376A}"/>
              </a:ext>
            </a:extLst>
          </p:cNvPr>
          <p:cNvSpPr txBox="1">
            <a:spLocks noGrp="1"/>
          </p:cNvSpPr>
          <p:nvPr/>
        </p:nvSpPr>
        <p:spPr>
          <a:xfrm>
            <a:off x="365760" y="3380450"/>
            <a:ext cx="145433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dirty="0">
                <a:solidFill>
                  <a:srgbClr val="333333"/>
                </a:solidFill>
                <a:latin typeface="Reddit Sans Light"/>
              </a:rPr>
              <a:t>Sudamérica</a:t>
            </a:r>
          </a:p>
        </p:txBody>
      </p:sp>
      <p:sp>
        <p:nvSpPr>
          <p:cNvPr id="66" name="rc">
            <a:extLst>
              <a:ext uri="{FF2B5EF4-FFF2-40B4-BE49-F238E27FC236}">
                <a16:creationId xmlns:a16="http://schemas.microsoft.com/office/drawing/2014/main" id="{5D7EED7A-990A-92B0-A382-C6360330ECFD}"/>
              </a:ext>
            </a:extLst>
          </p:cNvPr>
          <p:cNvSpPr txBox="1">
            <a:spLocks noGrp="1"/>
          </p:cNvSpPr>
          <p:nvPr/>
        </p:nvSpPr>
        <p:spPr>
          <a:xfrm>
            <a:off x="1694906" y="3380450"/>
            <a:ext cx="12725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dirty="0">
                <a:solidFill>
                  <a:srgbClr val="333333"/>
                </a:solidFill>
                <a:latin typeface="Reddit Sans Light"/>
              </a:rPr>
              <a:t>USD 0.52 billones</a:t>
            </a:r>
          </a:p>
        </p:txBody>
      </p:sp>
      <p:sp>
        <p:nvSpPr>
          <p:cNvPr id="68" name="rc">
            <a:extLst>
              <a:ext uri="{FF2B5EF4-FFF2-40B4-BE49-F238E27FC236}">
                <a16:creationId xmlns:a16="http://schemas.microsoft.com/office/drawing/2014/main" id="{A5DFDB6A-3BF3-5788-756A-E8552A251EE1}"/>
              </a:ext>
            </a:extLst>
          </p:cNvPr>
          <p:cNvSpPr txBox="1">
            <a:spLocks noGrp="1"/>
          </p:cNvSpPr>
          <p:nvPr/>
        </p:nvSpPr>
        <p:spPr>
          <a:xfrm>
            <a:off x="3027317" y="3380450"/>
            <a:ext cx="1331323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dirty="0">
                <a:solidFill>
                  <a:srgbClr val="333333"/>
                </a:solidFill>
                <a:latin typeface="Reddit Sans Light"/>
              </a:rPr>
              <a:t>USD 1.26B (2031)</a:t>
            </a:r>
          </a:p>
        </p:txBody>
      </p:sp>
      <p:sp>
        <p:nvSpPr>
          <p:cNvPr id="70" name="rc">
            <a:extLst>
              <a:ext uri="{FF2B5EF4-FFF2-40B4-BE49-F238E27FC236}">
                <a16:creationId xmlns:a16="http://schemas.microsoft.com/office/drawing/2014/main" id="{1A6A4858-DC02-0D93-0975-E4E1297130CC}"/>
              </a:ext>
            </a:extLst>
          </p:cNvPr>
          <p:cNvSpPr txBox="1">
            <a:spLocks noGrp="1"/>
          </p:cNvSpPr>
          <p:nvPr/>
        </p:nvSpPr>
        <p:spPr>
          <a:xfrm>
            <a:off x="4353197" y="3380450"/>
            <a:ext cx="9677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dirty="0">
                <a:solidFill>
                  <a:srgbClr val="333333"/>
                </a:solidFill>
                <a:latin typeface="Reddit Sans Light"/>
              </a:rPr>
              <a:t>16%</a:t>
            </a:r>
          </a:p>
        </p:txBody>
      </p:sp>
      <p:sp>
        <p:nvSpPr>
          <p:cNvPr id="72" name="rbg">
            <a:extLst>
              <a:ext uri="{FF2B5EF4-FFF2-40B4-BE49-F238E27FC236}">
                <a16:creationId xmlns:a16="http://schemas.microsoft.com/office/drawing/2014/main" id="{8D556E55-5643-8097-8D6E-0E1741096796}"/>
              </a:ext>
            </a:extLst>
          </p:cNvPr>
          <p:cNvSpPr>
            <a:spLocks noGrp="1"/>
          </p:cNvSpPr>
          <p:nvPr/>
        </p:nvSpPr>
        <p:spPr>
          <a:xfrm>
            <a:off x="365760" y="3764498"/>
            <a:ext cx="5020492" cy="384048"/>
          </a:xfrm>
          <a:prstGeom prst="rect">
            <a:avLst/>
          </a:prstGeom>
          <a:solidFill>
            <a:srgbClr val="E8F4FF"/>
          </a:solidFill>
          <a:ln w="6350">
            <a:solidFill>
              <a:srgbClr val="D1D5DB"/>
            </a:solidFill>
          </a:ln>
        </p:spPr>
      </p:sp>
      <p:sp>
        <p:nvSpPr>
          <p:cNvPr id="74" name="rc">
            <a:extLst>
              <a:ext uri="{FF2B5EF4-FFF2-40B4-BE49-F238E27FC236}">
                <a16:creationId xmlns:a16="http://schemas.microsoft.com/office/drawing/2014/main" id="{B3AE7870-50E2-1835-2E1D-6F5A9257926C}"/>
              </a:ext>
            </a:extLst>
          </p:cNvPr>
          <p:cNvSpPr txBox="1">
            <a:spLocks noGrp="1"/>
          </p:cNvSpPr>
          <p:nvPr/>
        </p:nvSpPr>
        <p:spPr>
          <a:xfrm>
            <a:off x="365760" y="3764498"/>
            <a:ext cx="145433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0D1B5E"/>
                </a:solidFill>
                <a:latin typeface="Reddit Sans Light"/>
              </a:rPr>
              <a:t>Colombia ★</a:t>
            </a:r>
          </a:p>
        </p:txBody>
      </p:sp>
      <p:sp>
        <p:nvSpPr>
          <p:cNvPr id="76" name="rc">
            <a:extLst>
              <a:ext uri="{FF2B5EF4-FFF2-40B4-BE49-F238E27FC236}">
                <a16:creationId xmlns:a16="http://schemas.microsoft.com/office/drawing/2014/main" id="{46D8D741-A4A7-7529-9F95-C8B5BE82260D}"/>
              </a:ext>
            </a:extLst>
          </p:cNvPr>
          <p:cNvSpPr txBox="1">
            <a:spLocks noGrp="1"/>
          </p:cNvSpPr>
          <p:nvPr/>
        </p:nvSpPr>
        <p:spPr>
          <a:xfrm>
            <a:off x="1694906" y="3764498"/>
            <a:ext cx="12725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0D1B5E"/>
                </a:solidFill>
                <a:latin typeface="Reddit Sans Light"/>
              </a:rPr>
              <a:t>USD 108.5M (2026)</a:t>
            </a:r>
          </a:p>
        </p:txBody>
      </p:sp>
      <p:sp>
        <p:nvSpPr>
          <p:cNvPr id="78" name="rc">
            <a:extLst>
              <a:ext uri="{FF2B5EF4-FFF2-40B4-BE49-F238E27FC236}">
                <a16:creationId xmlns:a16="http://schemas.microsoft.com/office/drawing/2014/main" id="{45BA2C43-2A9E-9276-E9FA-F28600200AE6}"/>
              </a:ext>
            </a:extLst>
          </p:cNvPr>
          <p:cNvSpPr txBox="1">
            <a:spLocks noGrp="1"/>
          </p:cNvSpPr>
          <p:nvPr/>
        </p:nvSpPr>
        <p:spPr>
          <a:xfrm>
            <a:off x="3027317" y="3764498"/>
            <a:ext cx="1331323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0D1B5E"/>
                </a:solidFill>
                <a:latin typeface="Reddit Sans Light"/>
              </a:rPr>
              <a:t>USD 209.7M (2031)</a:t>
            </a:r>
          </a:p>
        </p:txBody>
      </p:sp>
      <p:sp>
        <p:nvSpPr>
          <p:cNvPr id="80" name="rc">
            <a:extLst>
              <a:ext uri="{FF2B5EF4-FFF2-40B4-BE49-F238E27FC236}">
                <a16:creationId xmlns:a16="http://schemas.microsoft.com/office/drawing/2014/main" id="{626206F5-2D5C-AE78-36C9-206FF1FC93AC}"/>
              </a:ext>
            </a:extLst>
          </p:cNvPr>
          <p:cNvSpPr txBox="1">
            <a:spLocks noGrp="1"/>
          </p:cNvSpPr>
          <p:nvPr/>
        </p:nvSpPr>
        <p:spPr>
          <a:xfrm>
            <a:off x="4353197" y="3764498"/>
            <a:ext cx="9677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0D1B5E"/>
                </a:solidFill>
                <a:latin typeface="Reddit Sans Light"/>
              </a:rPr>
              <a:t>14.08%</a:t>
            </a:r>
          </a:p>
        </p:txBody>
      </p:sp>
      <p:sp>
        <p:nvSpPr>
          <p:cNvPr id="82" name="ibg">
            <a:extLst>
              <a:ext uri="{FF2B5EF4-FFF2-40B4-BE49-F238E27FC236}">
                <a16:creationId xmlns:a16="http://schemas.microsoft.com/office/drawing/2014/main" id="{9B306A66-761E-906B-71FF-43EEF69D22E1}"/>
              </a:ext>
            </a:extLst>
          </p:cNvPr>
          <p:cNvSpPr>
            <a:spLocks noGrp="1"/>
          </p:cNvSpPr>
          <p:nvPr/>
        </p:nvSpPr>
        <p:spPr>
          <a:xfrm>
            <a:off x="5547360" y="2655461"/>
            <a:ext cx="3360420" cy="1621100"/>
          </a:xfrm>
          <a:prstGeom prst="roundRect">
            <a:avLst>
              <a:gd name="adj" fmla="val 15000"/>
            </a:avLst>
          </a:prstGeom>
          <a:solidFill>
            <a:srgbClr val="EBF5FF"/>
          </a:solidFill>
          <a:ln w="15875">
            <a:solidFill>
              <a:srgbClr val="1F6FBA"/>
            </a:solidFill>
          </a:ln>
        </p:spPr>
      </p:sp>
      <p:sp>
        <p:nvSpPr>
          <p:cNvPr id="84" name="it1">
            <a:extLst>
              <a:ext uri="{FF2B5EF4-FFF2-40B4-BE49-F238E27FC236}">
                <a16:creationId xmlns:a16="http://schemas.microsoft.com/office/drawing/2014/main" id="{2CFCBED3-2CB4-29A4-145F-C943E2C81566}"/>
              </a:ext>
            </a:extLst>
          </p:cNvPr>
          <p:cNvSpPr txBox="1">
            <a:spLocks noGrp="1"/>
          </p:cNvSpPr>
          <p:nvPr/>
        </p:nvSpPr>
        <p:spPr>
          <a:xfrm>
            <a:off x="5673634" y="2806555"/>
            <a:ext cx="3238500" cy="66119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r>
              <a:rPr lang="es-ES" sz="1050" b="1" dirty="0">
                <a:solidFill>
                  <a:srgbClr val="0D1B5E"/>
                </a:solidFill>
                <a:latin typeface="Reddit Sans Light"/>
              </a:rPr>
              <a:t>★  9.8% CAGR IT </a:t>
            </a:r>
            <a:r>
              <a:rPr lang="es-ES" sz="1050" b="1" dirty="0" err="1">
                <a:solidFill>
                  <a:srgbClr val="0D1B5E"/>
                </a:solidFill>
                <a:latin typeface="Reddit Sans Light"/>
              </a:rPr>
              <a:t>Services</a:t>
            </a:r>
            <a:r>
              <a:rPr lang="es-ES" sz="1050" b="1" dirty="0">
                <a:solidFill>
                  <a:srgbClr val="0D1B5E"/>
                </a:solidFill>
                <a:latin typeface="Reddit Sans Light"/>
              </a:rPr>
              <a:t>: El más alto de Sudamérica      </a:t>
            </a:r>
            <a:endParaRPr lang="es-ES"/>
          </a:p>
          <a:p>
            <a:r>
              <a:rPr lang="es-ES" sz="1050" b="1">
                <a:solidFill>
                  <a:srgbClr val="0D1B5E"/>
                </a:solidFill>
                <a:latin typeface="Reddit Sans Light"/>
              </a:rPr>
              <a:t>★  81% de la banca colombiana ya usa IA      </a:t>
            </a:r>
            <a:endParaRPr lang="es-ES"/>
          </a:p>
          <a:p>
            <a:r>
              <a:rPr lang="es-ES" sz="1050" b="1">
                <a:solidFill>
                  <a:srgbClr val="0D1B5E"/>
                </a:solidFill>
                <a:latin typeface="Reddit Sans Light"/>
              </a:rPr>
              <a:t>★  </a:t>
            </a:r>
            <a:r>
              <a:rPr lang="es-ES" sz="1050" b="1" dirty="0">
                <a:solidFill>
                  <a:srgbClr val="0D1B5E"/>
                </a:solidFill>
                <a:latin typeface="Reddit Sans Light"/>
              </a:rPr>
              <a:t>Colombia lidera el crecimiento</a:t>
            </a:r>
            <a:endParaRPr lang="es-ES"/>
          </a:p>
        </p:txBody>
      </p:sp>
      <p:sp>
        <p:nvSpPr>
          <p:cNvPr id="86" name="it2">
            <a:extLst>
              <a:ext uri="{FF2B5EF4-FFF2-40B4-BE49-F238E27FC236}">
                <a16:creationId xmlns:a16="http://schemas.microsoft.com/office/drawing/2014/main" id="{3E825E28-8C17-2746-A4D6-71FAAA814A01}"/>
              </a:ext>
            </a:extLst>
          </p:cNvPr>
          <p:cNvSpPr txBox="1">
            <a:spLocks noGrp="1"/>
          </p:cNvSpPr>
          <p:nvPr/>
        </p:nvSpPr>
        <p:spPr>
          <a:xfrm>
            <a:off x="5673634" y="3516957"/>
            <a:ext cx="2901043" cy="62658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r>
              <a:rPr lang="es-ES" sz="950" dirty="0">
                <a:solidFill>
                  <a:srgbClr val="1A3A8F"/>
                </a:solidFill>
                <a:latin typeface="Reddit Sans Light"/>
              </a:rPr>
              <a:t>★  Servicios crecen más rápido que software      </a:t>
            </a:r>
            <a:endParaRPr lang="es-ES"/>
          </a:p>
          <a:p>
            <a:r>
              <a:rPr lang="es-ES" sz="950">
                <a:solidFill>
                  <a:srgbClr val="1A3A8F"/>
                </a:solidFill>
                <a:latin typeface="Reddit Sans Light"/>
              </a:rPr>
              <a:t>★  Aranda: </a:t>
            </a:r>
            <a:r>
              <a:rPr lang="es-ES" sz="950" dirty="0">
                <a:solidFill>
                  <a:srgbClr val="1A3A8F"/>
                </a:solidFill>
                <a:latin typeface="Reddit Sans Light"/>
              </a:rPr>
              <a:t>único competidor local      </a:t>
            </a:r>
            <a:endParaRPr lang="es-ES"/>
          </a:p>
          <a:p>
            <a:pPr algn="l"/>
            <a:endParaRPr lang="es-ES" sz="950" dirty="0">
              <a:solidFill>
                <a:srgbClr val="1A3A8F"/>
              </a:solidFill>
              <a:latin typeface="Reddit Sans Light"/>
            </a:endParaRPr>
          </a:p>
        </p:txBody>
      </p:sp>
      <p:pic>
        <p:nvPicPr>
          <p:cNvPr id="88" name="Imagen 87" descr="Aranda Software">
            <a:extLst>
              <a:ext uri="{FF2B5EF4-FFF2-40B4-BE49-F238E27FC236}">
                <a16:creationId xmlns:a16="http://schemas.microsoft.com/office/drawing/2014/main" id="{403162CE-8E95-7698-D01E-1F889F02E51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226"/>
          <a:stretch>
            <a:fillRect/>
          </a:stretch>
        </p:blipFill>
        <p:spPr>
          <a:xfrm>
            <a:off x="7598908" y="3669846"/>
            <a:ext cx="444956" cy="187781"/>
          </a:xfrm>
          <a:prstGeom prst="rect">
            <a:avLst/>
          </a:prstGeom>
        </p:spPr>
      </p:pic>
      <p:sp>
        <p:nvSpPr>
          <p:cNvPr id="999" name="src"/>
          <p:cNvSpPr txBox="1">
            <a:spLocks noGrp="1"/>
          </p:cNvSpPr>
          <p:nvPr/>
        </p:nvSpPr>
        <p:spPr>
          <a:xfrm>
            <a:off x="320040" y="44622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7"/>
              </a:rPr>
              <a:t>Mordor Intelligence</a:t>
            </a:r>
            <a:r>
              <a:rPr lang="es-ES" sz="780" i="1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4"/>
              </a:rPr>
              <a:t>Grand View Research</a:t>
            </a:r>
            <a:r>
              <a:rPr lang="es-ES" sz="780" i="1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8"/>
              </a:rPr>
              <a:t>Superfinanciera</a:t>
            </a:r>
          </a:p>
        </p:txBody>
      </p:sp>
    </p:spTree>
    <p:extLst>
      <p:ext uri="{BB962C8B-B14F-4D97-AF65-F5344CB8AC3E}">
        <p14:creationId xmlns:p14="http://schemas.microsoft.com/office/powerpoint/2010/main" val="2310989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65760" y="91440"/>
            <a:ext cx="91440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2000" b="1" dirty="0">
                <a:solidFill>
                  <a:srgbClr val="FFFFFF"/>
                </a:solidFill>
                <a:latin typeface="Calibri"/>
              </a:rPr>
              <a:t>Mercado Global ITSM — Tamaño, Crecimiento y Proyecciones por Fuente Analítica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65760" y="566928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dirty="0">
                <a:solidFill>
                  <a:srgbClr val="C8EBEF"/>
                </a:solidFill>
                <a:latin typeface="Calibri"/>
              </a:rPr>
              <a:t>Fuentes: Growth Market Reports · Apps Run The World · Mordor Intelligence · Grand View Research</a:t>
            </a:r>
          </a:p>
        </p:txBody>
      </p:sp>
      <p:sp>
        <p:nvSpPr>
          <p:cNvPr id="10" name="sb"/>
          <p:cNvSpPr>
            <a:spLocks noGrp="1"/>
          </p:cNvSpPr>
          <p:nvPr/>
        </p:nvSpPr>
        <p:spPr>
          <a:xfrm>
            <a:off x="320040" y="841248"/>
            <a:ext cx="1828800" cy="969264"/>
          </a:xfrm>
          <a:prstGeom prst="roundRect">
            <a:avLst>
              <a:gd name="adj" fmla="val 20000"/>
            </a:avLst>
          </a:prstGeom>
          <a:solidFill>
            <a:srgbClr val="E8EDF8"/>
          </a:solidFill>
          <a:ln w="19050">
            <a:solidFill>
              <a:srgbClr val="0D1B5E"/>
            </a:solidFill>
          </a:ln>
        </p:spPr>
      </p:sp>
      <p:sp>
        <p:nvSpPr>
          <p:cNvPr id="11" name="sbar"/>
          <p:cNvSpPr>
            <a:spLocks noGrp="1"/>
          </p:cNvSpPr>
          <p:nvPr/>
        </p:nvSpPr>
        <p:spPr>
          <a:xfrm>
            <a:off x="320040" y="841248"/>
            <a:ext cx="1828800" cy="54864"/>
          </a:xfrm>
          <a:prstGeom prst="roundRect">
            <a:avLst>
              <a:gd name="adj" fmla="val 20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12" name="sn"/>
          <p:cNvSpPr txBox="1">
            <a:spLocks noGrp="1"/>
          </p:cNvSpPr>
          <p:nvPr/>
        </p:nvSpPr>
        <p:spPr>
          <a:xfrm>
            <a:off x="320040" y="914400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3400" b="1" dirty="0">
                <a:solidFill>
                  <a:srgbClr val="0D1B5E"/>
                </a:solidFill>
                <a:latin typeface="Calibri"/>
              </a:rPr>
              <a:t>USD 7.8-11.4B</a:t>
            </a:r>
          </a:p>
        </p:txBody>
      </p:sp>
      <p:sp>
        <p:nvSpPr>
          <p:cNvPr id="13" name="sl"/>
          <p:cNvSpPr txBox="1">
            <a:spLocks noGrp="1"/>
          </p:cNvSpPr>
          <p:nvPr/>
        </p:nvSpPr>
        <p:spPr>
          <a:xfrm>
            <a:off x="393192" y="1389888"/>
            <a:ext cx="1682496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dirty="0">
                <a:solidFill>
                  <a:srgbClr val="0D1B5E"/>
                </a:solidFill>
                <a:latin typeface="Calibri"/>
              </a:rPr>
              <a:t>Mercado global ITSM 2024
(software + servicios)</a:t>
            </a:r>
          </a:p>
        </p:txBody>
      </p:sp>
      <p:sp>
        <p:nvSpPr>
          <p:cNvPr id="6" name="sb"/>
          <p:cNvSpPr>
            <a:spLocks noGrp="1"/>
          </p:cNvSpPr>
          <p:nvPr/>
        </p:nvSpPr>
        <p:spPr>
          <a:xfrm>
            <a:off x="2258568" y="841248"/>
            <a:ext cx="1828800" cy="969264"/>
          </a:xfrm>
          <a:prstGeom prst="roundRect">
            <a:avLst>
              <a:gd name="adj" fmla="val 20000"/>
            </a:avLst>
          </a:prstGeom>
          <a:solidFill>
            <a:srgbClr val="EBF3FF"/>
          </a:solidFill>
          <a:ln w="19050">
            <a:solidFill>
              <a:srgbClr val="1A3A8F"/>
            </a:solidFill>
          </a:ln>
        </p:spPr>
      </p:sp>
      <p:sp>
        <p:nvSpPr>
          <p:cNvPr id="14" name="sbar"/>
          <p:cNvSpPr>
            <a:spLocks noGrp="1"/>
          </p:cNvSpPr>
          <p:nvPr/>
        </p:nvSpPr>
        <p:spPr>
          <a:xfrm>
            <a:off x="2258568" y="841248"/>
            <a:ext cx="1828800" cy="54864"/>
          </a:xfrm>
          <a:prstGeom prst="roundRect">
            <a:avLst>
              <a:gd name="adj" fmla="val 20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5" name="sn"/>
          <p:cNvSpPr txBox="1">
            <a:spLocks noGrp="1"/>
          </p:cNvSpPr>
          <p:nvPr/>
        </p:nvSpPr>
        <p:spPr>
          <a:xfrm>
            <a:off x="2258568" y="914400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3400" b="1" dirty="0">
                <a:solidFill>
                  <a:srgbClr val="1A3A8F"/>
                </a:solidFill>
                <a:latin typeface="Calibri"/>
              </a:rPr>
              <a:t>+9-17%</a:t>
            </a:r>
          </a:p>
        </p:txBody>
      </p:sp>
      <p:sp>
        <p:nvSpPr>
          <p:cNvPr id="16" name="sl"/>
          <p:cNvSpPr txBox="1">
            <a:spLocks noGrp="1"/>
          </p:cNvSpPr>
          <p:nvPr/>
        </p:nvSpPr>
        <p:spPr>
          <a:xfrm>
            <a:off x="2331720" y="1389888"/>
            <a:ext cx="1682496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dirty="0">
                <a:solidFill>
                  <a:srgbClr val="1A3A8F"/>
                </a:solidFill>
                <a:latin typeface="Calibri"/>
              </a:rPr>
              <a:t>CAGR global hacia
2033-2035</a:t>
            </a:r>
          </a:p>
        </p:txBody>
      </p:sp>
      <p:sp>
        <p:nvSpPr>
          <p:cNvPr id="7" name="sb"/>
          <p:cNvSpPr>
            <a:spLocks noGrp="1"/>
          </p:cNvSpPr>
          <p:nvPr/>
        </p:nvSpPr>
        <p:spPr>
          <a:xfrm>
            <a:off x="4197096" y="841248"/>
            <a:ext cx="1828800" cy="969264"/>
          </a:xfrm>
          <a:prstGeom prst="roundRect">
            <a:avLst>
              <a:gd name="adj" fmla="val 20000"/>
            </a:avLst>
          </a:prstGeom>
          <a:solidFill>
            <a:srgbClr val="E8F6F7"/>
          </a:solidFill>
          <a:ln w="19050">
            <a:solidFill>
              <a:srgbClr val="1B7B85"/>
            </a:solidFill>
          </a:ln>
        </p:spPr>
      </p:sp>
      <p:sp>
        <p:nvSpPr>
          <p:cNvPr id="17" name="sbar"/>
          <p:cNvSpPr>
            <a:spLocks noGrp="1"/>
          </p:cNvSpPr>
          <p:nvPr/>
        </p:nvSpPr>
        <p:spPr>
          <a:xfrm>
            <a:off x="4197096" y="841248"/>
            <a:ext cx="1828800" cy="54864"/>
          </a:xfrm>
          <a:prstGeom prst="roundRect">
            <a:avLst>
              <a:gd name="adj" fmla="val 20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18" name="sn"/>
          <p:cNvSpPr txBox="1">
            <a:spLocks noGrp="1"/>
          </p:cNvSpPr>
          <p:nvPr/>
        </p:nvSpPr>
        <p:spPr>
          <a:xfrm>
            <a:off x="4197096" y="914400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3400" b="1" dirty="0">
                <a:solidFill>
                  <a:srgbClr val="1B7B85"/>
                </a:solidFill>
                <a:latin typeface="Calibri"/>
              </a:rPr>
              <a:t>USD 1.8B</a:t>
            </a:r>
          </a:p>
        </p:txBody>
      </p:sp>
      <p:sp>
        <p:nvSpPr>
          <p:cNvPr id="19" name="sl"/>
          <p:cNvSpPr txBox="1">
            <a:spLocks noGrp="1"/>
          </p:cNvSpPr>
          <p:nvPr/>
        </p:nvSpPr>
        <p:spPr>
          <a:xfrm>
            <a:off x="4270248" y="1389888"/>
            <a:ext cx="1682496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dirty="0">
                <a:solidFill>
                  <a:srgbClr val="1B7B85"/>
                </a:solidFill>
                <a:latin typeface="Calibri"/>
              </a:rPr>
              <a:t>América Latina
2024-2026</a:t>
            </a:r>
          </a:p>
        </p:txBody>
      </p:sp>
      <p:sp>
        <p:nvSpPr>
          <p:cNvPr id="8" name="sb"/>
          <p:cNvSpPr>
            <a:spLocks noGrp="1"/>
          </p:cNvSpPr>
          <p:nvPr/>
        </p:nvSpPr>
        <p:spPr>
          <a:xfrm>
            <a:off x="6135624" y="841248"/>
            <a:ext cx="1828800" cy="969264"/>
          </a:xfrm>
          <a:prstGeom prst="roundRect">
            <a:avLst>
              <a:gd name="adj" fmla="val 20000"/>
            </a:avLst>
          </a:prstGeom>
          <a:solidFill>
            <a:srgbClr val="E8F5EE"/>
          </a:solidFill>
          <a:ln w="19050">
            <a:solidFill>
              <a:srgbClr val="1A6B3C"/>
            </a:solidFill>
          </a:ln>
        </p:spPr>
      </p:sp>
      <p:sp>
        <p:nvSpPr>
          <p:cNvPr id="20" name="sbar"/>
          <p:cNvSpPr>
            <a:spLocks noGrp="1"/>
          </p:cNvSpPr>
          <p:nvPr/>
        </p:nvSpPr>
        <p:spPr>
          <a:xfrm>
            <a:off x="6135624" y="841248"/>
            <a:ext cx="1828800" cy="54864"/>
          </a:xfrm>
          <a:prstGeom prst="roundRect">
            <a:avLst>
              <a:gd name="adj" fmla="val 20000"/>
            </a:avLst>
          </a:prstGeom>
          <a:solidFill>
            <a:srgbClr val="1A6B3C"/>
          </a:solidFill>
          <a:ln>
            <a:noFill/>
          </a:ln>
        </p:spPr>
      </p:sp>
      <p:sp>
        <p:nvSpPr>
          <p:cNvPr id="21" name="sn"/>
          <p:cNvSpPr txBox="1">
            <a:spLocks noGrp="1"/>
          </p:cNvSpPr>
          <p:nvPr/>
        </p:nvSpPr>
        <p:spPr>
          <a:xfrm>
            <a:off x="6135624" y="914400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3400" b="1" dirty="0">
                <a:solidFill>
                  <a:srgbClr val="1A6B3C"/>
                </a:solidFill>
                <a:latin typeface="Calibri"/>
              </a:rPr>
              <a:t>14.08%</a:t>
            </a:r>
          </a:p>
        </p:txBody>
      </p:sp>
      <p:sp>
        <p:nvSpPr>
          <p:cNvPr id="22" name="sl"/>
          <p:cNvSpPr txBox="1">
            <a:spLocks noGrp="1"/>
          </p:cNvSpPr>
          <p:nvPr/>
        </p:nvSpPr>
        <p:spPr>
          <a:xfrm>
            <a:off x="6208776" y="1389888"/>
            <a:ext cx="1682496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dirty="0">
                <a:solidFill>
                  <a:srgbClr val="1A6B3C"/>
                </a:solidFill>
                <a:latin typeface="Calibri"/>
              </a:rPr>
              <a:t>CAGR Colombia
hasta 2031</a:t>
            </a:r>
          </a:p>
        </p:txBody>
      </p:sp>
      <p:sp>
        <p:nvSpPr>
          <p:cNvPr id="30" name="thdr"/>
          <p:cNvSpPr>
            <a:spLocks noGrp="1"/>
          </p:cNvSpPr>
          <p:nvPr/>
        </p:nvSpPr>
        <p:spPr>
          <a:xfrm>
            <a:off x="320040" y="1938528"/>
            <a:ext cx="7680960" cy="274320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31" name="th"/>
          <p:cNvSpPr txBox="1">
            <a:spLocks noGrp="1"/>
          </p:cNvSpPr>
          <p:nvPr/>
        </p:nvSpPr>
        <p:spPr>
          <a:xfrm>
            <a:off x="320040" y="19385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20" b="1" dirty="0">
                <a:solidFill>
                  <a:srgbClr val="FFFFFF"/>
                </a:solidFill>
                <a:latin typeface="Calibri"/>
              </a:rPr>
              <a:t>Fuente Analítica</a:t>
            </a:r>
          </a:p>
        </p:txBody>
      </p:sp>
      <p:sp>
        <p:nvSpPr>
          <p:cNvPr id="32" name="th"/>
          <p:cNvSpPr txBox="1">
            <a:spLocks noGrp="1"/>
          </p:cNvSpPr>
          <p:nvPr/>
        </p:nvSpPr>
        <p:spPr>
          <a:xfrm>
            <a:off x="2331720" y="193852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20" b="1" dirty="0">
                <a:solidFill>
                  <a:srgbClr val="FFFFFF"/>
                </a:solidFill>
                <a:latin typeface="Calibri"/>
              </a:rPr>
              <a:t>Tamaño 2024</a:t>
            </a:r>
          </a:p>
        </p:txBody>
      </p:sp>
      <p:sp>
        <p:nvSpPr>
          <p:cNvPr id="33" name="th"/>
          <p:cNvSpPr txBox="1">
            <a:spLocks noGrp="1"/>
          </p:cNvSpPr>
          <p:nvPr/>
        </p:nvSpPr>
        <p:spPr>
          <a:xfrm>
            <a:off x="3703320" y="19385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20" b="1" dirty="0">
                <a:solidFill>
                  <a:srgbClr val="FFFFFF"/>
                </a:solidFill>
                <a:latin typeface="Calibri"/>
              </a:rPr>
              <a:t>Proyección</a:t>
            </a:r>
          </a:p>
        </p:txBody>
      </p:sp>
      <p:sp>
        <p:nvSpPr>
          <p:cNvPr id="34" name="th"/>
          <p:cNvSpPr txBox="1">
            <a:spLocks noGrp="1"/>
          </p:cNvSpPr>
          <p:nvPr/>
        </p:nvSpPr>
        <p:spPr>
          <a:xfrm>
            <a:off x="5349240" y="193852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20" b="1" dirty="0">
                <a:solidFill>
                  <a:srgbClr val="FFFFFF"/>
                </a:solidFill>
                <a:latin typeface="Calibri"/>
              </a:rPr>
              <a:t>CAGR</a:t>
            </a:r>
          </a:p>
        </p:txBody>
      </p:sp>
      <p:sp>
        <p:nvSpPr>
          <p:cNvPr id="35" name="th"/>
          <p:cNvSpPr txBox="1">
            <a:spLocks noGrp="1"/>
          </p:cNvSpPr>
          <p:nvPr/>
        </p:nvSpPr>
        <p:spPr>
          <a:xfrm>
            <a:off x="6355080" y="19385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20" b="1" dirty="0">
                <a:solidFill>
                  <a:srgbClr val="FFFFFF"/>
                </a:solidFill>
                <a:latin typeface="Calibri"/>
              </a:rPr>
              <a:t>Alcance</a:t>
            </a:r>
          </a:p>
        </p:txBody>
      </p:sp>
      <p:sp>
        <p:nvSpPr>
          <p:cNvPr id="40" name="rbg"/>
          <p:cNvSpPr>
            <a:spLocks noGrp="1"/>
          </p:cNvSpPr>
          <p:nvPr/>
        </p:nvSpPr>
        <p:spPr>
          <a:xfrm>
            <a:off x="320040" y="2212848"/>
            <a:ext cx="7680960" cy="38404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41" name="rc"/>
          <p:cNvSpPr txBox="1">
            <a:spLocks noGrp="1"/>
          </p:cNvSpPr>
          <p:nvPr/>
        </p:nvSpPr>
        <p:spPr>
          <a:xfrm>
            <a:off x="320040" y="2212848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20" b="1" dirty="0">
                <a:solidFill>
                  <a:srgbClr val="0D1B5E"/>
                </a:solidFill>
                <a:latin typeface="Calibri"/>
              </a:rPr>
              <a:t>Growth Market Reports</a:t>
            </a:r>
          </a:p>
        </p:txBody>
      </p:sp>
      <p:sp>
        <p:nvSpPr>
          <p:cNvPr id="42" name="rc"/>
          <p:cNvSpPr txBox="1">
            <a:spLocks noGrp="1"/>
          </p:cNvSpPr>
          <p:nvPr/>
        </p:nvSpPr>
        <p:spPr>
          <a:xfrm>
            <a:off x="2331720" y="221284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dirty="0">
                <a:solidFill>
                  <a:srgbClr val="333333"/>
                </a:solidFill>
                <a:latin typeface="Calibri"/>
              </a:rPr>
              <a:t>USD 7.8B</a:t>
            </a:r>
          </a:p>
        </p:txBody>
      </p:sp>
      <p:sp>
        <p:nvSpPr>
          <p:cNvPr id="43" name="rc"/>
          <p:cNvSpPr txBox="1">
            <a:spLocks noGrp="1"/>
          </p:cNvSpPr>
          <p:nvPr/>
        </p:nvSpPr>
        <p:spPr>
          <a:xfrm>
            <a:off x="3703320" y="2212848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dirty="0">
                <a:solidFill>
                  <a:srgbClr val="333333"/>
                </a:solidFill>
                <a:latin typeface="Calibri"/>
              </a:rPr>
              <a:t>USD 15.5B (2033)</a:t>
            </a:r>
          </a:p>
        </p:txBody>
      </p:sp>
      <p:sp>
        <p:nvSpPr>
          <p:cNvPr id="44" name="rc"/>
          <p:cNvSpPr txBox="1">
            <a:spLocks noGrp="1"/>
          </p:cNvSpPr>
          <p:nvPr/>
        </p:nvSpPr>
        <p:spPr>
          <a:xfrm>
            <a:off x="5349240" y="2212848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dirty="0">
                <a:solidFill>
                  <a:srgbClr val="333333"/>
                </a:solidFill>
                <a:latin typeface="Calibri"/>
              </a:rPr>
              <a:t>9.01%</a:t>
            </a:r>
          </a:p>
        </p:txBody>
      </p:sp>
      <p:sp>
        <p:nvSpPr>
          <p:cNvPr id="45" name="rc"/>
          <p:cNvSpPr txBox="1">
            <a:spLocks noGrp="1"/>
          </p:cNvSpPr>
          <p:nvPr/>
        </p:nvSpPr>
        <p:spPr>
          <a:xfrm>
            <a:off x="6355080" y="2212848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dirty="0">
                <a:solidFill>
                  <a:srgbClr val="333333"/>
                </a:solidFill>
                <a:latin typeface="Calibri"/>
              </a:rPr>
              <a:t>Solo software ITSM</a:t>
            </a:r>
          </a:p>
        </p:txBody>
      </p:sp>
      <p:sp>
        <p:nvSpPr>
          <p:cNvPr id="46" name="rbg"/>
          <p:cNvSpPr>
            <a:spLocks noGrp="1"/>
          </p:cNvSpPr>
          <p:nvPr/>
        </p:nvSpPr>
        <p:spPr>
          <a:xfrm>
            <a:off x="320040" y="2596896"/>
            <a:ext cx="7680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47" name="rc"/>
          <p:cNvSpPr txBox="1">
            <a:spLocks noGrp="1"/>
          </p:cNvSpPr>
          <p:nvPr/>
        </p:nvSpPr>
        <p:spPr>
          <a:xfrm>
            <a:off x="320040" y="2596896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20" b="1" dirty="0">
                <a:solidFill>
                  <a:srgbClr val="0D1B5E"/>
                </a:solidFill>
                <a:latin typeface="Calibri"/>
              </a:rPr>
              <a:t>Apps Run The World</a:t>
            </a:r>
          </a:p>
        </p:txBody>
      </p:sp>
      <p:sp>
        <p:nvSpPr>
          <p:cNvPr id="48" name="rc"/>
          <p:cNvSpPr txBox="1">
            <a:spLocks noGrp="1"/>
          </p:cNvSpPr>
          <p:nvPr/>
        </p:nvSpPr>
        <p:spPr>
          <a:xfrm>
            <a:off x="2331720" y="2596896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dirty="0">
                <a:solidFill>
                  <a:srgbClr val="333333"/>
                </a:solidFill>
                <a:latin typeface="Calibri"/>
              </a:rPr>
              <a:t>USD 11.4B</a:t>
            </a:r>
          </a:p>
        </p:txBody>
      </p:sp>
      <p:sp>
        <p:nvSpPr>
          <p:cNvPr id="49" name="rc"/>
          <p:cNvSpPr txBox="1">
            <a:spLocks noGrp="1"/>
          </p:cNvSpPr>
          <p:nvPr/>
        </p:nvSpPr>
        <p:spPr>
          <a:xfrm>
            <a:off x="3703320" y="2596896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dirty="0">
                <a:solidFill>
                  <a:srgbClr val="333333"/>
                </a:solidFill>
                <a:latin typeface="Calibri"/>
              </a:rPr>
              <a:t>USD 21.7B (2027)</a:t>
            </a:r>
          </a:p>
        </p:txBody>
      </p:sp>
      <p:sp>
        <p:nvSpPr>
          <p:cNvPr id="50" name="rc"/>
          <p:cNvSpPr txBox="1">
            <a:spLocks noGrp="1"/>
          </p:cNvSpPr>
          <p:nvPr/>
        </p:nvSpPr>
        <p:spPr>
          <a:xfrm>
            <a:off x="5349240" y="2596896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dirty="0">
                <a:solidFill>
                  <a:srgbClr val="333333"/>
                </a:solidFill>
                <a:latin typeface="Calibri"/>
              </a:rPr>
              <a:t>17%</a:t>
            </a:r>
          </a:p>
        </p:txBody>
      </p:sp>
      <p:sp>
        <p:nvSpPr>
          <p:cNvPr id="51" name="rc"/>
          <p:cNvSpPr txBox="1">
            <a:spLocks noGrp="1"/>
          </p:cNvSpPr>
          <p:nvPr/>
        </p:nvSpPr>
        <p:spPr>
          <a:xfrm>
            <a:off x="6355080" y="2596896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dirty="0">
                <a:solidFill>
                  <a:srgbClr val="333333"/>
                </a:solidFill>
                <a:latin typeface="Calibri"/>
              </a:rPr>
              <a:t>SW + servicios gestionados</a:t>
            </a:r>
          </a:p>
        </p:txBody>
      </p:sp>
      <p:sp>
        <p:nvSpPr>
          <p:cNvPr id="52" name="rbg"/>
          <p:cNvSpPr>
            <a:spLocks noGrp="1"/>
          </p:cNvSpPr>
          <p:nvPr/>
        </p:nvSpPr>
        <p:spPr>
          <a:xfrm>
            <a:off x="320040" y="2980944"/>
            <a:ext cx="7680960" cy="38404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53" name="rc"/>
          <p:cNvSpPr txBox="1">
            <a:spLocks noGrp="1"/>
          </p:cNvSpPr>
          <p:nvPr/>
        </p:nvSpPr>
        <p:spPr>
          <a:xfrm>
            <a:off x="320040" y="2980944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20" b="1" dirty="0">
                <a:solidFill>
                  <a:srgbClr val="0D1B5E"/>
                </a:solidFill>
                <a:latin typeface="Calibri"/>
              </a:rPr>
              <a:t>Mordor Intelligence</a:t>
            </a:r>
          </a:p>
        </p:txBody>
      </p:sp>
      <p:sp>
        <p:nvSpPr>
          <p:cNvPr id="54" name="rc"/>
          <p:cNvSpPr txBox="1">
            <a:spLocks noGrp="1"/>
          </p:cNvSpPr>
          <p:nvPr/>
        </p:nvSpPr>
        <p:spPr>
          <a:xfrm>
            <a:off x="2331720" y="2980944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dirty="0">
                <a:solidFill>
                  <a:srgbClr val="333333"/>
                </a:solidFill>
                <a:latin typeface="Calibri"/>
              </a:rPr>
              <a:t>USD 108.5M (Colombia)</a:t>
            </a:r>
          </a:p>
        </p:txBody>
      </p:sp>
      <p:sp>
        <p:nvSpPr>
          <p:cNvPr id="55" name="rc"/>
          <p:cNvSpPr txBox="1">
            <a:spLocks noGrp="1"/>
          </p:cNvSpPr>
          <p:nvPr/>
        </p:nvSpPr>
        <p:spPr>
          <a:xfrm>
            <a:off x="3703320" y="2980944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dirty="0">
                <a:solidFill>
                  <a:srgbClr val="333333"/>
                </a:solidFill>
                <a:latin typeface="Calibri"/>
              </a:rPr>
              <a:t>USD 209.7M (2031)</a:t>
            </a:r>
          </a:p>
        </p:txBody>
      </p:sp>
      <p:sp>
        <p:nvSpPr>
          <p:cNvPr id="56" name="rc"/>
          <p:cNvSpPr txBox="1">
            <a:spLocks noGrp="1"/>
          </p:cNvSpPr>
          <p:nvPr/>
        </p:nvSpPr>
        <p:spPr>
          <a:xfrm>
            <a:off x="5349240" y="2980944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dirty="0">
                <a:solidFill>
                  <a:srgbClr val="333333"/>
                </a:solidFill>
                <a:latin typeface="Calibri"/>
              </a:rPr>
              <a:t>14.08%</a:t>
            </a:r>
          </a:p>
        </p:txBody>
      </p:sp>
      <p:sp>
        <p:nvSpPr>
          <p:cNvPr id="57" name="rc"/>
          <p:cNvSpPr txBox="1">
            <a:spLocks noGrp="1"/>
          </p:cNvSpPr>
          <p:nvPr/>
        </p:nvSpPr>
        <p:spPr>
          <a:xfrm>
            <a:off x="6355080" y="2980944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dirty="0">
                <a:solidFill>
                  <a:srgbClr val="333333"/>
                </a:solidFill>
                <a:latin typeface="Calibri"/>
              </a:rPr>
              <a:t>Solo Colombia</a:t>
            </a:r>
          </a:p>
        </p:txBody>
      </p:sp>
      <p:sp>
        <p:nvSpPr>
          <p:cNvPr id="58" name="rbg"/>
          <p:cNvSpPr>
            <a:spLocks noGrp="1"/>
          </p:cNvSpPr>
          <p:nvPr/>
        </p:nvSpPr>
        <p:spPr>
          <a:xfrm>
            <a:off x="320040" y="3364992"/>
            <a:ext cx="7680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59" name="rc"/>
          <p:cNvSpPr txBox="1">
            <a:spLocks noGrp="1"/>
          </p:cNvSpPr>
          <p:nvPr/>
        </p:nvSpPr>
        <p:spPr>
          <a:xfrm>
            <a:off x="320040" y="3364992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20" b="1" dirty="0">
                <a:solidFill>
                  <a:srgbClr val="0D1B5E"/>
                </a:solidFill>
                <a:latin typeface="Calibri"/>
              </a:rPr>
              <a:t>Grand View Research</a:t>
            </a:r>
          </a:p>
        </p:txBody>
      </p:sp>
      <p:sp>
        <p:nvSpPr>
          <p:cNvPr id="60" name="rc"/>
          <p:cNvSpPr txBox="1">
            <a:spLocks noGrp="1"/>
          </p:cNvSpPr>
          <p:nvPr/>
        </p:nvSpPr>
        <p:spPr>
          <a:xfrm>
            <a:off x="2331720" y="3364992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dirty="0">
                <a:solidFill>
                  <a:srgbClr val="333333"/>
                </a:solidFill>
                <a:latin typeface="Calibri"/>
              </a:rPr>
              <a:t>USD 1.8B (LATAM)</a:t>
            </a:r>
          </a:p>
        </p:txBody>
      </p:sp>
      <p:sp>
        <p:nvSpPr>
          <p:cNvPr id="61" name="rc"/>
          <p:cNvSpPr txBox="1">
            <a:spLocks noGrp="1"/>
          </p:cNvSpPr>
          <p:nvPr/>
        </p:nvSpPr>
        <p:spPr>
          <a:xfrm>
            <a:off x="3703320" y="3364992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dirty="0">
                <a:solidFill>
                  <a:srgbClr val="333333"/>
                </a:solidFill>
                <a:latin typeface="Calibri"/>
              </a:rPr>
              <a:t>USD 2.5B (2028)</a:t>
            </a:r>
          </a:p>
        </p:txBody>
      </p:sp>
      <p:sp>
        <p:nvSpPr>
          <p:cNvPr id="62" name="rc"/>
          <p:cNvSpPr txBox="1">
            <a:spLocks noGrp="1"/>
          </p:cNvSpPr>
          <p:nvPr/>
        </p:nvSpPr>
        <p:spPr>
          <a:xfrm>
            <a:off x="5349240" y="3364992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dirty="0">
                <a:solidFill>
                  <a:srgbClr val="333333"/>
                </a:solidFill>
                <a:latin typeface="Calibri"/>
              </a:rPr>
              <a:t>12%</a:t>
            </a:r>
          </a:p>
        </p:txBody>
      </p:sp>
      <p:sp>
        <p:nvSpPr>
          <p:cNvPr id="63" name="rc"/>
          <p:cNvSpPr txBox="1">
            <a:spLocks noGrp="1"/>
          </p:cNvSpPr>
          <p:nvPr/>
        </p:nvSpPr>
        <p:spPr>
          <a:xfrm>
            <a:off x="6355080" y="3364992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dirty="0">
                <a:solidFill>
                  <a:srgbClr val="333333"/>
                </a:solidFill>
                <a:latin typeface="Calibri"/>
              </a:rPr>
              <a:t>América Latina</a:t>
            </a:r>
          </a:p>
        </p:txBody>
      </p:sp>
      <p:sp>
        <p:nvSpPr>
          <p:cNvPr id="70" name="notabg"/>
          <p:cNvSpPr>
            <a:spLocks noGrp="1"/>
          </p:cNvSpPr>
          <p:nvPr/>
        </p:nvSpPr>
        <p:spPr>
          <a:xfrm>
            <a:off x="320040" y="3767328"/>
            <a:ext cx="7680960" cy="347472"/>
          </a:xfrm>
          <a:prstGeom prst="roundRect">
            <a:avLst>
              <a:gd name="adj" fmla="val 10000"/>
            </a:avLst>
          </a:prstGeom>
          <a:solidFill>
            <a:srgbClr val="FFF3CD"/>
          </a:solidFill>
          <a:ln w="12700">
            <a:solidFill>
              <a:srgbClr val="F59E0B"/>
            </a:solidFill>
          </a:ln>
        </p:spPr>
      </p:sp>
      <p:sp>
        <p:nvSpPr>
          <p:cNvPr id="71" name="nota"/>
          <p:cNvSpPr txBox="1">
            <a:spLocks noGrp="1"/>
          </p:cNvSpPr>
          <p:nvPr/>
        </p:nvSpPr>
        <p:spPr>
          <a:xfrm>
            <a:off x="457200" y="3767328"/>
            <a:ext cx="7498079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80" b="1" dirty="0">
                <a:solidFill>
                  <a:srgbClr val="92400E"/>
                </a:solidFill>
                <a:latin typeface="Calibri"/>
              </a:rPr>
              <a:t>¿Por qué varían las cifras? </a:t>
            </a:r>
            <a:r>
              <a:rPr lang="es-ES" sz="880" dirty="0">
                <a:solidFill>
                  <a:srgbClr val="92400E"/>
                </a:solidFill>
                <a:latin typeface="Calibri"/>
              </a:rPr>
              <a:t>Cada fuente mide un perímetro diferente: solo software, solo servicios, o ambos. La tendencia es unánime: crecimiento acelerado, especialmente en América Latina.</a:t>
            </a:r>
          </a:p>
        </p:txBody>
      </p:sp>
      <p:sp>
        <p:nvSpPr>
          <p:cNvPr id="999" name="src"/>
          <p:cNvSpPr txBox="1">
            <a:spLocks noGrp="1"/>
          </p:cNvSpPr>
          <p:nvPr/>
        </p:nvSpPr>
        <p:spPr>
          <a:xfrm>
            <a:off x="320040" y="44622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2"/>
              </a:rPr>
              <a:t>Growth Market Reports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3"/>
              </a:rPr>
              <a:t>Apps Run The World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4"/>
              </a:rPr>
              <a:t>Mordor Intelligence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5"/>
              </a:rPr>
              <a:t>Grand View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">
            <a:extLst>
              <a:ext uri="{FF2B5EF4-FFF2-40B4-BE49-F238E27FC236}">
                <a16:creationId xmlns:a16="http://schemas.microsoft.com/office/drawing/2014/main" id="{D0B19F7C-44D1-8557-EE8D-014F78E0818A}"/>
              </a:ext>
            </a:extLst>
          </p:cNvPr>
          <p:cNvSpPr/>
          <p:nvPr/>
        </p:nvSpPr>
        <p:spPr>
          <a:xfrm>
            <a:off x="436512" y="947699"/>
            <a:ext cx="3931920" cy="1950000"/>
          </a:xfrm>
          <a:prstGeom prst="roundRect">
            <a:avLst>
              <a:gd name="adj" fmla="val 2139"/>
            </a:avLst>
          </a:prstGeom>
          <a:solidFill>
            <a:schemeClr val="bg1"/>
          </a:solidFill>
          <a:ln w="12700">
            <a:solidFill>
              <a:schemeClr val="accent2">
                <a:lumMod val="50000"/>
                <a:lumOff val="50000"/>
              </a:schemeClr>
            </a:solidFill>
            <a:prstDash val="solid"/>
          </a:ln>
        </p:spPr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3370D9BC-BB67-4BDC-28E2-A9839C6C0311}"/>
              </a:ext>
            </a:extLst>
          </p:cNvPr>
          <p:cNvSpPr/>
          <p:nvPr/>
        </p:nvSpPr>
        <p:spPr>
          <a:xfrm>
            <a:off x="505092" y="947699"/>
            <a:ext cx="3694176" cy="329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b="1" dirty="0">
                <a:solidFill>
                  <a:schemeClr val="tx1"/>
                </a:solidFill>
                <a:latin typeface="Reddit Sans"/>
                <a:ea typeface="Reddit Sans"/>
                <a:cs typeface="Calibri"/>
              </a:rPr>
              <a:t>ANTES: </a:t>
            </a:r>
            <a:r>
              <a:rPr lang="en-US" sz="1100" b="1" dirty="0" err="1">
                <a:solidFill>
                  <a:schemeClr val="tx1"/>
                </a:solidFill>
                <a:latin typeface="Reddit Sans"/>
                <a:ea typeface="Reddit Sans"/>
                <a:cs typeface="Calibri"/>
              </a:rPr>
              <a:t>Plataformas</a:t>
            </a:r>
            <a:r>
              <a:rPr lang="en-US" sz="1100" b="1" dirty="0">
                <a:solidFill>
                  <a:schemeClr val="tx1"/>
                </a:solidFill>
                <a:latin typeface="Reddit Sans"/>
                <a:ea typeface="Reddit Sans"/>
                <a:cs typeface="Calibri"/>
              </a:rPr>
              <a:t> ITSM (hasta 2023)</a:t>
            </a:r>
            <a:endParaRPr lang="en-US" sz="1100">
              <a:solidFill>
                <a:schemeClr val="tx1"/>
              </a:solidFill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852B6BD0-AB8B-08F8-A01B-3D48EC2E766A}"/>
              </a:ext>
            </a:extLst>
          </p:cNvPr>
          <p:cNvSpPr/>
          <p:nvPr/>
        </p:nvSpPr>
        <p:spPr>
          <a:xfrm>
            <a:off x="505092" y="1300000"/>
            <a:ext cx="3694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▪  Plataforma = diferenciador principal</a:t>
            </a:r>
            <a:endParaRPr lang="en-US" sz="8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CE76F7EF-DAE6-93D4-8383-3B4CD5B6A314}"/>
              </a:ext>
            </a:extLst>
          </p:cNvPr>
          <p:cNvSpPr/>
          <p:nvPr/>
        </p:nvSpPr>
        <p:spPr>
          <a:xfrm>
            <a:off x="505092" y="1560000"/>
            <a:ext cx="3694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▪  Ranking de vendors por funcionalidad</a:t>
            </a:r>
            <a:endParaRPr lang="en-US" sz="8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8605779B-88F5-D352-2D8A-A7941BAB2101}"/>
              </a:ext>
            </a:extLst>
          </p:cNvPr>
          <p:cNvSpPr/>
          <p:nvPr/>
        </p:nvSpPr>
        <p:spPr>
          <a:xfrm>
            <a:off x="505092" y="1820000"/>
            <a:ext cx="3694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▪  ServiceNow vs BMC vs Ivanti vs Freshworks</a:t>
            </a:r>
            <a:endParaRPr lang="en-US" sz="8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6ABC817C-2950-5F79-D0FF-ABD0384B74CC}"/>
              </a:ext>
            </a:extLst>
          </p:cNvPr>
          <p:cNvSpPr/>
          <p:nvPr/>
        </p:nvSpPr>
        <p:spPr>
          <a:xfrm>
            <a:off x="505092" y="2080000"/>
            <a:ext cx="3694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▪  </a:t>
            </a:r>
            <a:r>
              <a:rPr lang="en-US" sz="8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Criterio de compra: "¿quién </a:t>
            </a:r>
            <a:r>
              <a:rPr lang="en-US" sz="8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tiene </a:t>
            </a:r>
            <a:r>
              <a:rPr lang="en-US" sz="8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más módulos</a:t>
            </a:r>
            <a:r>
              <a:rPr lang="en-US" sz="8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?"</a:t>
            </a:r>
            <a:endParaRPr lang="en-US" sz="8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40612625-8400-E47D-23E9-0537E142C424}"/>
              </a:ext>
            </a:extLst>
          </p:cNvPr>
          <p:cNvSpPr/>
          <p:nvPr/>
        </p:nvSpPr>
        <p:spPr>
          <a:xfrm>
            <a:off x="505092" y="2340000"/>
            <a:ext cx="36941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▪  Retirado 2023: "Comoditizacion y falta</a:t>
            </a:r>
            <a:endParaRPr lang="en-US" sz="800" dirty="0">
              <a:latin typeface="Reddit Sans" panose="020B0604020202020204" charset="0"/>
              <a:ea typeface="Reddit Sans" panose="020B0604020202020204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de diferenciacion en plataformas ITSM"</a:t>
            </a:r>
            <a:endParaRPr lang="en-US" sz="8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EF83C6D0-41FD-F49A-DFC6-C03791D5D68D}"/>
              </a:ext>
            </a:extLst>
          </p:cNvPr>
          <p:cNvSpPr/>
          <p:nvPr/>
        </p:nvSpPr>
        <p:spPr>
          <a:xfrm>
            <a:off x="4382148" y="1648000"/>
            <a:ext cx="640080" cy="548640"/>
          </a:xfrm>
          <a:prstGeom prst="rightArrow">
            <a:avLst/>
          </a:prstGeom>
          <a:solidFill>
            <a:schemeClr val="accent1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CAD9BC76-AAC9-B0E3-087F-11067FACA0A8}"/>
              </a:ext>
            </a:extLst>
          </p:cNvPr>
          <p:cNvSpPr/>
          <p:nvPr/>
        </p:nvSpPr>
        <p:spPr>
          <a:xfrm>
            <a:off x="5033332" y="947699"/>
            <a:ext cx="3410494" cy="1955442"/>
          </a:xfrm>
          <a:prstGeom prst="roundRect">
            <a:avLst>
              <a:gd name="adj" fmla="val 213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977F8511-1352-CC0C-6605-6AA7DFDF36AB}"/>
              </a:ext>
            </a:extLst>
          </p:cNvPr>
          <p:cNvSpPr/>
          <p:nvPr/>
        </p:nvSpPr>
        <p:spPr>
          <a:xfrm>
            <a:off x="5168532" y="947699"/>
            <a:ext cx="3630168" cy="329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b="1" dirty="0">
                <a:solidFill>
                  <a:schemeClr val="tx1"/>
                </a:solidFill>
                <a:latin typeface="Reddit Sans"/>
                <a:ea typeface="Reddit Sans"/>
                <a:cs typeface="Calibri"/>
              </a:rPr>
              <a:t>AHORA:  </a:t>
            </a:r>
            <a:r>
              <a:rPr lang="en-US" sz="1100" b="1" dirty="0">
                <a:solidFill>
                  <a:schemeClr val="tx1"/>
                </a:solidFill>
                <a:ea typeface="Reddit Sans"/>
              </a:rPr>
              <a:t>Application IA </a:t>
            </a:r>
            <a:r>
              <a:rPr lang="en-US" sz="1100" b="1">
                <a:solidFill>
                  <a:schemeClr val="tx1"/>
                </a:solidFill>
                <a:ea typeface="Reddit Sans"/>
              </a:rPr>
              <a:t>En ITSM</a:t>
            </a:r>
            <a:endParaRPr lang="en-US" sz="1100">
              <a:solidFill>
                <a:schemeClr val="tx1"/>
              </a:solidFill>
              <a:ea typeface="Reddit Sans"/>
            </a:endParaRPr>
          </a:p>
          <a:p>
            <a:r>
              <a:rPr lang="en-US" sz="1100" b="1">
                <a:solidFill>
                  <a:schemeClr val="tx1"/>
                </a:solidFill>
                <a:latin typeface="Reddit Sans"/>
                <a:ea typeface="Reddit Sans"/>
                <a:cs typeface="Calibri"/>
              </a:rPr>
              <a:t> (2024-2025)</a:t>
            </a:r>
            <a:endParaRPr lang="en-US" sz="1100">
              <a:solidFill>
                <a:schemeClr val="tx1"/>
              </a:solidFill>
              <a:latin typeface="Reddit Sans"/>
              <a:ea typeface="Reddit Sans"/>
              <a:cs typeface="Calibri"/>
            </a:endParaRPr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F9863D2B-943A-7082-2C40-4683EBE91848}"/>
              </a:ext>
            </a:extLst>
          </p:cNvPr>
          <p:cNvSpPr/>
          <p:nvPr/>
        </p:nvSpPr>
        <p:spPr>
          <a:xfrm>
            <a:off x="5168532" y="1280000"/>
            <a:ext cx="3630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▪  Inteligencia = diferenciador principal</a:t>
            </a:r>
            <a:endParaRPr lang="en-US" sz="8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46EB2A4E-54B7-B2F6-AA2C-FF7EEF601A15}"/>
              </a:ext>
            </a:extLst>
          </p:cNvPr>
          <p:cNvSpPr/>
          <p:nvPr/>
        </p:nvSpPr>
        <p:spPr>
          <a:xfrm>
            <a:off x="5168532" y="1505000"/>
            <a:ext cx="3630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▪  9 capacidades </a:t>
            </a:r>
            <a:r>
              <a:rPr lang="en-US" sz="8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críticas </a:t>
            </a:r>
            <a:r>
              <a:rPr lang="en-US" sz="8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de IA evaluadas</a:t>
            </a:r>
            <a:r>
              <a:rPr lang="en-US" sz="8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 (abajo)</a:t>
            </a:r>
            <a:endParaRPr lang="en-US" sz="8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A4CE71F4-110F-1386-A382-E7801E75612D}"/>
              </a:ext>
            </a:extLst>
          </p:cNvPr>
          <p:cNvSpPr/>
          <p:nvPr/>
        </p:nvSpPr>
        <p:spPr>
          <a:xfrm>
            <a:off x="5168532" y="1730000"/>
            <a:ext cx="3630168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▪  Solo 1 Lider </a:t>
            </a:r>
            <a:r>
              <a:rPr lang="en-US" sz="800" dirty="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en</a:t>
            </a:r>
            <a:r>
              <a:rPr lang="en-US" sz="800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 2025: </a:t>
            </a:r>
            <a:r>
              <a:rPr lang="en-US" sz="800" b="1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ServiceNow</a:t>
            </a:r>
            <a:endParaRPr lang="en-US" sz="800" b="1">
              <a:latin typeface="Reddit Sans"/>
              <a:ea typeface="Reddit Sans"/>
              <a:cs typeface="Calibri"/>
            </a:endParaRP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BF8090C2-C149-679F-54AE-14E730EA0744}"/>
              </a:ext>
            </a:extLst>
          </p:cNvPr>
          <p:cNvSpPr/>
          <p:nvPr/>
        </p:nvSpPr>
        <p:spPr>
          <a:xfrm>
            <a:off x="5168532" y="1955000"/>
            <a:ext cx="3630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▪  Challenger: Moveworks</a:t>
            </a:r>
            <a:endParaRPr lang="en-US" sz="8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72F929BF-B342-23A2-6FBF-6976F7051838}"/>
              </a:ext>
            </a:extLst>
          </p:cNvPr>
          <p:cNvSpPr/>
          <p:nvPr/>
        </p:nvSpPr>
        <p:spPr>
          <a:xfrm>
            <a:off x="5168532" y="2180000"/>
            <a:ext cx="3630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▪  Niche: BMC, Freshworks, SymphonyAI...</a:t>
            </a:r>
            <a:endParaRPr lang="en-US" sz="8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DF86FF12-AE91-4146-0149-CBB1AA0C144D}"/>
              </a:ext>
            </a:extLst>
          </p:cNvPr>
          <p:cNvSpPr/>
          <p:nvPr/>
        </p:nvSpPr>
        <p:spPr>
          <a:xfrm>
            <a:off x="5168532" y="2339686"/>
            <a:ext cx="3630168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▪  La </a:t>
            </a:r>
            <a:r>
              <a:rPr lang="en-US" sz="800" dirty="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plataforma</a:t>
            </a:r>
            <a:r>
              <a:rPr lang="en-US" sz="800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 es </a:t>
            </a:r>
            <a:r>
              <a:rPr lang="en-US" sz="800" dirty="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insumo</a:t>
            </a:r>
            <a:r>
              <a:rPr lang="en-US" sz="800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, el framework</a:t>
            </a:r>
            <a:endParaRPr lang="en-US" sz="800" dirty="0">
              <a:latin typeface="Reddit Sans"/>
              <a:ea typeface="Reddit Sans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de IA y </a:t>
            </a:r>
            <a:r>
              <a:rPr lang="en-US" sz="800" dirty="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gobierno</a:t>
            </a:r>
            <a:r>
              <a:rPr lang="en-US" sz="800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 es el </a:t>
            </a:r>
            <a:r>
              <a:rPr lang="en-US" sz="800" dirty="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producto</a:t>
            </a:r>
            <a:endParaRPr lang="en-US" sz="800" dirty="0" err="1">
              <a:latin typeface="Reddit Sans"/>
              <a:ea typeface="Reddit Sans"/>
              <a:cs typeface="Calibri"/>
            </a:endParaRPr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455F574C-ABCD-138E-CCA3-6585B423DC66}"/>
              </a:ext>
            </a:extLst>
          </p:cNvPr>
          <p:cNvSpPr/>
          <p:nvPr/>
        </p:nvSpPr>
        <p:spPr>
          <a:xfrm>
            <a:off x="429763" y="4443537"/>
            <a:ext cx="7943307" cy="274320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  <p:txBody>
          <a:bodyPr lIns="91440" tIns="45720" rIns="91440" bIns="4572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Para </a:t>
            </a:r>
            <a:r>
              <a:rPr lang="en-US" sz="900" b="1" dirty="0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PersonalSoft</a:t>
            </a: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: El </a:t>
            </a:r>
            <a:r>
              <a:rPr lang="en-US" sz="900" b="1" dirty="0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diferenciador</a:t>
            </a: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no es la Plataforma, es el framework de </a:t>
            </a:r>
            <a:r>
              <a:rPr lang="en-US" sz="900" b="1" dirty="0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madurez</a:t>
            </a: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y </a:t>
            </a:r>
            <a:r>
              <a:rPr lang="en-US" sz="900" b="1" dirty="0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gobierno</a:t>
            </a: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que</a:t>
            </a: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aplicamos</a:t>
            </a: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sobre</a:t>
            </a: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ella</a:t>
            </a:r>
            <a:endParaRPr lang="en-US" sz="900">
              <a:latin typeface="Reddit Sans"/>
              <a:ea typeface="Reddit Sans"/>
              <a:cs typeface="Calibri"/>
            </a:endParaRPr>
          </a:p>
        </p:txBody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E0E5B276-8F3C-47DF-7F00-60BD420809AE}"/>
              </a:ext>
            </a:extLst>
          </p:cNvPr>
          <p:cNvSpPr/>
          <p:nvPr/>
        </p:nvSpPr>
        <p:spPr>
          <a:xfrm>
            <a:off x="214226" y="4795146"/>
            <a:ext cx="859536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</a:rPr>
              <a:t>Fuente: </a:t>
            </a:r>
            <a:r>
              <a:rPr lang="en-US" sz="750" u="sng" dirty="0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MQ AI Applications in ITSM 2025</a:t>
            </a:r>
            <a:r>
              <a:rPr lang="en-US" sz="750" dirty="0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— Retire ITSM MQ 2023</a:t>
            </a:r>
            <a:endParaRPr lang="en-US" sz="750">
              <a:highlight>
                <a:srgbClr val="FFFF00"/>
              </a:highlight>
              <a:latin typeface="Reddit Sans"/>
              <a:ea typeface="Reddit Sans"/>
              <a:cs typeface="Calibri"/>
            </a:endParaRPr>
          </a:p>
        </p:txBody>
      </p:sp>
      <p:sp>
        <p:nvSpPr>
          <p:cNvPr id="36" name="pill">
            <a:extLst>
              <a:ext uri="{FF2B5EF4-FFF2-40B4-BE49-F238E27FC236}">
                <a16:creationId xmlns:a16="http://schemas.microsoft.com/office/drawing/2014/main" id="{48A6F9DB-8713-E8A0-0D3B-3DD48A9EFBFB}"/>
              </a:ext>
            </a:extLst>
          </p:cNvPr>
          <p:cNvSpPr>
            <a:spLocks noGrp="1"/>
          </p:cNvSpPr>
          <p:nvPr/>
        </p:nvSpPr>
        <p:spPr>
          <a:xfrm>
            <a:off x="435429" y="3243942"/>
            <a:ext cx="2457450" cy="31840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1430">
            <a:solidFill>
              <a:srgbClr val="163B8C"/>
            </a:solidFill>
            <a:prstDash val="solid"/>
          </a:ln>
        </p:spPr>
      </p:sp>
      <p:sp>
        <p:nvSpPr>
          <p:cNvPr id="38" name="text">
            <a:extLst>
              <a:ext uri="{FF2B5EF4-FFF2-40B4-BE49-F238E27FC236}">
                <a16:creationId xmlns:a16="http://schemas.microsoft.com/office/drawing/2014/main" id="{41FBD87C-2C7A-32E7-1E0A-093B72A29DCF}"/>
              </a:ext>
            </a:extLst>
          </p:cNvPr>
          <p:cNvSpPr>
            <a:spLocks noGrp="1"/>
          </p:cNvSpPr>
          <p:nvPr/>
        </p:nvSpPr>
        <p:spPr>
          <a:xfrm>
            <a:off x="530679" y="3320142"/>
            <a:ext cx="2266950" cy="1660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>
                <a:solidFill>
                  <a:srgbClr val="163B8C"/>
                </a:solidFill>
              </a:defRPr>
            </a:pPr>
            <a:r>
              <a:rPr sz="1000" b="1">
                <a:solidFill>
                  <a:srgbClr val="163B8C"/>
                </a:solidFill>
                <a:latin typeface="Reddit Sans"/>
                <a:ea typeface="Reddit Sans"/>
              </a:rPr>
              <a:t>Agente virtual</a:t>
            </a:r>
          </a:p>
        </p:txBody>
      </p:sp>
      <p:sp>
        <p:nvSpPr>
          <p:cNvPr id="40" name="pill">
            <a:extLst>
              <a:ext uri="{FF2B5EF4-FFF2-40B4-BE49-F238E27FC236}">
                <a16:creationId xmlns:a16="http://schemas.microsoft.com/office/drawing/2014/main" id="{FD2D3B42-BEE9-36CD-10A0-D8B4E404763D}"/>
              </a:ext>
            </a:extLst>
          </p:cNvPr>
          <p:cNvSpPr>
            <a:spLocks noGrp="1"/>
          </p:cNvSpPr>
          <p:nvPr/>
        </p:nvSpPr>
        <p:spPr>
          <a:xfrm>
            <a:off x="3178629" y="3243942"/>
            <a:ext cx="2457450" cy="31840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1430">
            <a:solidFill>
              <a:srgbClr val="087B83"/>
            </a:solidFill>
            <a:prstDash val="solid"/>
          </a:ln>
        </p:spPr>
      </p:sp>
      <p:sp>
        <p:nvSpPr>
          <p:cNvPr id="42" name="text">
            <a:extLst>
              <a:ext uri="{FF2B5EF4-FFF2-40B4-BE49-F238E27FC236}">
                <a16:creationId xmlns:a16="http://schemas.microsoft.com/office/drawing/2014/main" id="{E57882B5-EE45-A1C0-8CB5-6EF7E29829E0}"/>
              </a:ext>
            </a:extLst>
          </p:cNvPr>
          <p:cNvSpPr>
            <a:spLocks noGrp="1"/>
          </p:cNvSpPr>
          <p:nvPr/>
        </p:nvSpPr>
        <p:spPr>
          <a:xfrm>
            <a:off x="3273879" y="3320142"/>
            <a:ext cx="2266950" cy="1660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>
                <a:solidFill>
                  <a:srgbClr val="087B83"/>
                </a:solidFill>
              </a:defRPr>
            </a:pPr>
            <a:r>
              <a:rPr sz="1000" b="1">
                <a:solidFill>
                  <a:srgbClr val="087B83"/>
                </a:solidFill>
                <a:latin typeface="Reddit Sans"/>
                <a:ea typeface="Reddit Sans"/>
              </a:rPr>
              <a:t>Descubrimiento de conocimiento</a:t>
            </a:r>
          </a:p>
        </p:txBody>
      </p:sp>
      <p:sp>
        <p:nvSpPr>
          <p:cNvPr id="44" name="pill">
            <a:extLst>
              <a:ext uri="{FF2B5EF4-FFF2-40B4-BE49-F238E27FC236}">
                <a16:creationId xmlns:a16="http://schemas.microsoft.com/office/drawing/2014/main" id="{6325AC71-CF9D-096B-C9B3-F38542DCC605}"/>
              </a:ext>
            </a:extLst>
          </p:cNvPr>
          <p:cNvSpPr>
            <a:spLocks noGrp="1"/>
          </p:cNvSpPr>
          <p:nvPr/>
        </p:nvSpPr>
        <p:spPr>
          <a:xfrm>
            <a:off x="5921829" y="3243942"/>
            <a:ext cx="2457450" cy="31840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1430">
            <a:solidFill>
              <a:srgbClr val="163B8C"/>
            </a:solidFill>
            <a:prstDash val="solid"/>
          </a:ln>
        </p:spPr>
      </p:sp>
      <p:sp>
        <p:nvSpPr>
          <p:cNvPr id="46" name="text">
            <a:extLst>
              <a:ext uri="{FF2B5EF4-FFF2-40B4-BE49-F238E27FC236}">
                <a16:creationId xmlns:a16="http://schemas.microsoft.com/office/drawing/2014/main" id="{898BCFF4-E615-BD8C-673F-CA4B3984A353}"/>
              </a:ext>
            </a:extLst>
          </p:cNvPr>
          <p:cNvSpPr>
            <a:spLocks noGrp="1"/>
          </p:cNvSpPr>
          <p:nvPr/>
        </p:nvSpPr>
        <p:spPr>
          <a:xfrm>
            <a:off x="6017079" y="3320142"/>
            <a:ext cx="2266950" cy="1660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>
                <a:solidFill>
                  <a:srgbClr val="163B8C"/>
                </a:solidFill>
              </a:defRPr>
            </a:pPr>
            <a:r>
              <a:rPr sz="1000" b="1">
                <a:solidFill>
                  <a:srgbClr val="163B8C"/>
                </a:solidFill>
                <a:latin typeface="Reddit Sans"/>
                <a:ea typeface="Reddit Sans"/>
              </a:rPr>
              <a:t>Escalamiento inteligente</a:t>
            </a:r>
          </a:p>
        </p:txBody>
      </p:sp>
      <p:sp>
        <p:nvSpPr>
          <p:cNvPr id="48" name="pill">
            <a:extLst>
              <a:ext uri="{FF2B5EF4-FFF2-40B4-BE49-F238E27FC236}">
                <a16:creationId xmlns:a16="http://schemas.microsoft.com/office/drawing/2014/main" id="{91BB4D74-6BF3-1FC4-CA68-183EE6ADCF6A}"/>
              </a:ext>
            </a:extLst>
          </p:cNvPr>
          <p:cNvSpPr>
            <a:spLocks noGrp="1"/>
          </p:cNvSpPr>
          <p:nvPr/>
        </p:nvSpPr>
        <p:spPr>
          <a:xfrm>
            <a:off x="435429" y="3643992"/>
            <a:ext cx="2457450" cy="31840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1430">
            <a:solidFill>
              <a:srgbClr val="087B83"/>
            </a:solidFill>
            <a:prstDash val="solid"/>
          </a:ln>
        </p:spPr>
      </p:sp>
      <p:sp>
        <p:nvSpPr>
          <p:cNvPr id="50" name="text">
            <a:extLst>
              <a:ext uri="{FF2B5EF4-FFF2-40B4-BE49-F238E27FC236}">
                <a16:creationId xmlns:a16="http://schemas.microsoft.com/office/drawing/2014/main" id="{23836748-4848-E8D1-1D44-3336B4CFEBF7}"/>
              </a:ext>
            </a:extLst>
          </p:cNvPr>
          <p:cNvSpPr>
            <a:spLocks noGrp="1"/>
          </p:cNvSpPr>
          <p:nvPr/>
        </p:nvSpPr>
        <p:spPr>
          <a:xfrm>
            <a:off x="530679" y="3720192"/>
            <a:ext cx="2266950" cy="1660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>
                <a:solidFill>
                  <a:srgbClr val="087B83"/>
                </a:solidFill>
              </a:defRPr>
            </a:pPr>
            <a:r>
              <a:rPr sz="1000" b="1">
                <a:solidFill>
                  <a:srgbClr val="087B83"/>
                </a:solidFill>
                <a:latin typeface="Reddit Sans"/>
                <a:ea typeface="Reddit Sans"/>
              </a:rPr>
              <a:t>Triage inteligente</a:t>
            </a:r>
          </a:p>
        </p:txBody>
      </p:sp>
      <p:sp>
        <p:nvSpPr>
          <p:cNvPr id="52" name="pill">
            <a:extLst>
              <a:ext uri="{FF2B5EF4-FFF2-40B4-BE49-F238E27FC236}">
                <a16:creationId xmlns:a16="http://schemas.microsoft.com/office/drawing/2014/main" id="{0A7BB525-07A4-9DA1-EED5-7C67F91029B0}"/>
              </a:ext>
            </a:extLst>
          </p:cNvPr>
          <p:cNvSpPr>
            <a:spLocks noGrp="1"/>
          </p:cNvSpPr>
          <p:nvPr/>
        </p:nvSpPr>
        <p:spPr>
          <a:xfrm>
            <a:off x="3178629" y="3643992"/>
            <a:ext cx="2457450" cy="31840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1430">
            <a:solidFill>
              <a:srgbClr val="163B8C"/>
            </a:solidFill>
            <a:prstDash val="solid"/>
          </a:ln>
        </p:spPr>
      </p:sp>
      <p:sp>
        <p:nvSpPr>
          <p:cNvPr id="54" name="text">
            <a:extLst>
              <a:ext uri="{FF2B5EF4-FFF2-40B4-BE49-F238E27FC236}">
                <a16:creationId xmlns:a16="http://schemas.microsoft.com/office/drawing/2014/main" id="{61992E17-B5C8-7BAE-2480-F55273DCD25C}"/>
              </a:ext>
            </a:extLst>
          </p:cNvPr>
          <p:cNvSpPr>
            <a:spLocks noGrp="1"/>
          </p:cNvSpPr>
          <p:nvPr/>
        </p:nvSpPr>
        <p:spPr>
          <a:xfrm>
            <a:off x="3273879" y="3720192"/>
            <a:ext cx="2266950" cy="1660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>
                <a:solidFill>
                  <a:srgbClr val="163B8C"/>
                </a:solidFill>
              </a:defRPr>
            </a:pPr>
            <a:r>
              <a:rPr sz="1000" b="1">
                <a:solidFill>
                  <a:srgbClr val="163B8C"/>
                </a:solidFill>
                <a:latin typeface="Reddit Sans"/>
                <a:ea typeface="Reddit Sans"/>
              </a:rPr>
              <a:t>Categorización</a:t>
            </a:r>
          </a:p>
        </p:txBody>
      </p:sp>
      <p:sp>
        <p:nvSpPr>
          <p:cNvPr id="56" name="pill">
            <a:extLst>
              <a:ext uri="{FF2B5EF4-FFF2-40B4-BE49-F238E27FC236}">
                <a16:creationId xmlns:a16="http://schemas.microsoft.com/office/drawing/2014/main" id="{5616BC14-7E4D-6153-FA79-96C1851F0075}"/>
              </a:ext>
            </a:extLst>
          </p:cNvPr>
          <p:cNvSpPr>
            <a:spLocks noGrp="1"/>
          </p:cNvSpPr>
          <p:nvPr/>
        </p:nvSpPr>
        <p:spPr>
          <a:xfrm>
            <a:off x="5921829" y="3643992"/>
            <a:ext cx="2457450" cy="31840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1430">
            <a:solidFill>
              <a:srgbClr val="087B83"/>
            </a:solidFill>
            <a:prstDash val="solid"/>
          </a:ln>
        </p:spPr>
      </p:sp>
      <p:sp>
        <p:nvSpPr>
          <p:cNvPr id="58" name="text">
            <a:extLst>
              <a:ext uri="{FF2B5EF4-FFF2-40B4-BE49-F238E27FC236}">
                <a16:creationId xmlns:a16="http://schemas.microsoft.com/office/drawing/2014/main" id="{4FB6D22E-5311-265A-8B75-AFF25DCE1A02}"/>
              </a:ext>
            </a:extLst>
          </p:cNvPr>
          <p:cNvSpPr>
            <a:spLocks noGrp="1"/>
          </p:cNvSpPr>
          <p:nvPr/>
        </p:nvSpPr>
        <p:spPr>
          <a:xfrm>
            <a:off x="6017079" y="3720192"/>
            <a:ext cx="2266950" cy="1660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>
                <a:solidFill>
                  <a:srgbClr val="087B83"/>
                </a:solidFill>
              </a:defRPr>
            </a:pPr>
            <a:r>
              <a:rPr sz="1000" b="1">
                <a:solidFill>
                  <a:srgbClr val="087B83"/>
                </a:solidFill>
                <a:latin typeface="Reddit Sans"/>
                <a:ea typeface="Reddit Sans"/>
              </a:rPr>
              <a:t>Swarming de expertos</a:t>
            </a:r>
          </a:p>
        </p:txBody>
      </p:sp>
      <p:sp>
        <p:nvSpPr>
          <p:cNvPr id="60" name="pill">
            <a:extLst>
              <a:ext uri="{FF2B5EF4-FFF2-40B4-BE49-F238E27FC236}">
                <a16:creationId xmlns:a16="http://schemas.microsoft.com/office/drawing/2014/main" id="{1898A4DD-C6E8-2649-C085-DAEBBDF422DD}"/>
              </a:ext>
            </a:extLst>
          </p:cNvPr>
          <p:cNvSpPr>
            <a:spLocks noGrp="1"/>
          </p:cNvSpPr>
          <p:nvPr/>
        </p:nvSpPr>
        <p:spPr>
          <a:xfrm>
            <a:off x="435429" y="4044042"/>
            <a:ext cx="2457450" cy="31840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1430">
            <a:solidFill>
              <a:srgbClr val="163B8C"/>
            </a:solidFill>
            <a:prstDash val="solid"/>
          </a:ln>
        </p:spPr>
      </p:sp>
      <p:sp>
        <p:nvSpPr>
          <p:cNvPr id="62" name="text">
            <a:extLst>
              <a:ext uri="{FF2B5EF4-FFF2-40B4-BE49-F238E27FC236}">
                <a16:creationId xmlns:a16="http://schemas.microsoft.com/office/drawing/2014/main" id="{C0F5C7BB-0075-66D6-DFA4-8A1FFEBFC63F}"/>
              </a:ext>
            </a:extLst>
          </p:cNvPr>
          <p:cNvSpPr>
            <a:spLocks noGrp="1"/>
          </p:cNvSpPr>
          <p:nvPr/>
        </p:nvSpPr>
        <p:spPr>
          <a:xfrm>
            <a:off x="530679" y="4120242"/>
            <a:ext cx="2266950" cy="1660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>
                <a:solidFill>
                  <a:srgbClr val="163B8C"/>
                </a:solidFill>
              </a:defRPr>
            </a:pPr>
            <a:r>
              <a:rPr sz="1000" b="1">
                <a:solidFill>
                  <a:srgbClr val="163B8C"/>
                </a:solidFill>
                <a:latin typeface="Reddit Sans"/>
                <a:ea typeface="Reddit Sans"/>
              </a:rPr>
              <a:t>Detección de P1</a:t>
            </a:r>
          </a:p>
        </p:txBody>
      </p:sp>
      <p:sp>
        <p:nvSpPr>
          <p:cNvPr id="64" name="pill">
            <a:extLst>
              <a:ext uri="{FF2B5EF4-FFF2-40B4-BE49-F238E27FC236}">
                <a16:creationId xmlns:a16="http://schemas.microsoft.com/office/drawing/2014/main" id="{FC099CE1-9380-CEFB-E740-70FC30F6B770}"/>
              </a:ext>
            </a:extLst>
          </p:cNvPr>
          <p:cNvSpPr>
            <a:spLocks noGrp="1"/>
          </p:cNvSpPr>
          <p:nvPr/>
        </p:nvSpPr>
        <p:spPr>
          <a:xfrm>
            <a:off x="3178629" y="4044042"/>
            <a:ext cx="2457450" cy="31840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1430">
            <a:solidFill>
              <a:srgbClr val="087B83"/>
            </a:solidFill>
            <a:prstDash val="solid"/>
          </a:ln>
        </p:spPr>
      </p:sp>
      <p:sp>
        <p:nvSpPr>
          <p:cNvPr id="66" name="text">
            <a:extLst>
              <a:ext uri="{FF2B5EF4-FFF2-40B4-BE49-F238E27FC236}">
                <a16:creationId xmlns:a16="http://schemas.microsoft.com/office/drawing/2014/main" id="{6B44A992-7F0B-A82A-DF7D-D542DD438742}"/>
              </a:ext>
            </a:extLst>
          </p:cNvPr>
          <p:cNvSpPr>
            <a:spLocks noGrp="1"/>
          </p:cNvSpPr>
          <p:nvPr/>
        </p:nvSpPr>
        <p:spPr>
          <a:xfrm>
            <a:off x="3273879" y="4120242"/>
            <a:ext cx="2266950" cy="1660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>
                <a:solidFill>
                  <a:srgbClr val="087B83"/>
                </a:solidFill>
              </a:defRPr>
            </a:pPr>
            <a:r>
              <a:rPr sz="1000" b="1">
                <a:solidFill>
                  <a:srgbClr val="087B83"/>
                </a:solidFill>
                <a:latin typeface="Reddit Sans"/>
                <a:ea typeface="Reddit Sans"/>
              </a:rPr>
              <a:t>Detección de problemas</a:t>
            </a:r>
          </a:p>
        </p:txBody>
      </p:sp>
      <p:sp>
        <p:nvSpPr>
          <p:cNvPr id="68" name="pill">
            <a:extLst>
              <a:ext uri="{FF2B5EF4-FFF2-40B4-BE49-F238E27FC236}">
                <a16:creationId xmlns:a16="http://schemas.microsoft.com/office/drawing/2014/main" id="{449C3698-5520-68FE-F626-14624B964176}"/>
              </a:ext>
            </a:extLst>
          </p:cNvPr>
          <p:cNvSpPr>
            <a:spLocks noGrp="1"/>
          </p:cNvSpPr>
          <p:nvPr/>
        </p:nvSpPr>
        <p:spPr>
          <a:xfrm>
            <a:off x="5921829" y="4044042"/>
            <a:ext cx="2457450" cy="31840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1430">
            <a:solidFill>
              <a:srgbClr val="163B8C"/>
            </a:solidFill>
            <a:prstDash val="solid"/>
          </a:ln>
        </p:spPr>
      </p:sp>
      <p:sp>
        <p:nvSpPr>
          <p:cNvPr id="70" name="text">
            <a:extLst>
              <a:ext uri="{FF2B5EF4-FFF2-40B4-BE49-F238E27FC236}">
                <a16:creationId xmlns:a16="http://schemas.microsoft.com/office/drawing/2014/main" id="{603FB488-F6ED-C174-16D6-9782A11196E8}"/>
              </a:ext>
            </a:extLst>
          </p:cNvPr>
          <p:cNvSpPr>
            <a:spLocks noGrp="1"/>
          </p:cNvSpPr>
          <p:nvPr/>
        </p:nvSpPr>
        <p:spPr>
          <a:xfrm>
            <a:off x="6017079" y="4120242"/>
            <a:ext cx="2266950" cy="1660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>
                <a:solidFill>
                  <a:srgbClr val="163B8C"/>
                </a:solidFill>
              </a:defRPr>
            </a:pPr>
            <a:r>
              <a:rPr sz="1000" b="1">
                <a:solidFill>
                  <a:srgbClr val="163B8C"/>
                </a:solidFill>
                <a:latin typeface="Reddit Sans"/>
                <a:ea typeface="Reddit Sans"/>
              </a:rPr>
              <a:t>Riesgo de cambios</a:t>
            </a:r>
          </a:p>
        </p:txBody>
      </p:sp>
      <p:sp>
        <p:nvSpPr>
          <p:cNvPr id="74" name="text">
            <a:extLst>
              <a:ext uri="{FF2B5EF4-FFF2-40B4-BE49-F238E27FC236}">
                <a16:creationId xmlns:a16="http://schemas.microsoft.com/office/drawing/2014/main" id="{8A32F562-F5D9-F64E-0422-1439F3F2D289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  <a:latin typeface="Reddit Sans Light"/>
              </a:rPr>
              <a:t>Gartner confirma el cambio: la competencia está en la capa de IA</a:t>
            </a:r>
          </a:p>
        </p:txBody>
      </p:sp>
      <p:sp>
        <p:nvSpPr>
          <p:cNvPr id="76" name="text">
            <a:extLst>
              <a:ext uri="{FF2B5EF4-FFF2-40B4-BE49-F238E27FC236}">
                <a16:creationId xmlns:a16="http://schemas.microsoft.com/office/drawing/2014/main" id="{C2356CA2-30C0-65B3-F15E-C77283D1B807}"/>
              </a:ext>
            </a:extLst>
          </p:cNvPr>
          <p:cNvSpPr>
            <a:spLocks noGrp="1"/>
          </p:cNvSpPr>
          <p:nvPr/>
        </p:nvSpPr>
        <p:spPr>
          <a:xfrm>
            <a:off x="334736" y="586468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AAEE0"/>
                </a:solidFill>
              </a:defRPr>
            </a:pPr>
            <a:r>
              <a:rPr sz="1050" b="0">
                <a:solidFill>
                  <a:srgbClr val="9AAEE0"/>
                </a:solidFill>
                <a:latin typeface="Reddit Sans Light"/>
              </a:rPr>
              <a:t>La plataforma base se comoditiza; la diferenciación pasa a inteligencia, gobierno y adopción</a:t>
            </a:r>
          </a:p>
        </p:txBody>
      </p:sp>
      <p:sp>
        <p:nvSpPr>
          <p:cNvPr id="78" name="text">
            <a:extLst>
              <a:ext uri="{FF2B5EF4-FFF2-40B4-BE49-F238E27FC236}">
                <a16:creationId xmlns:a16="http://schemas.microsoft.com/office/drawing/2014/main" id="{4CB190D4-7D01-6345-11B6-657B21028DDE}"/>
              </a:ext>
            </a:extLst>
          </p:cNvPr>
          <p:cNvSpPr>
            <a:spLocks noGrp="1"/>
          </p:cNvSpPr>
          <p:nvPr/>
        </p:nvSpPr>
        <p:spPr>
          <a:xfrm>
            <a:off x="408215" y="2960915"/>
            <a:ext cx="800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C2362"/>
                </a:solidFill>
              </a:defRPr>
            </a:pPr>
            <a:r>
              <a:rPr sz="900" b="1">
                <a:solidFill>
                  <a:srgbClr val="0C2362"/>
                </a:solidFill>
                <a:latin typeface="Reddit Sans Light"/>
              </a:rPr>
              <a:t>9 capacidades críticas de IA que ya definen la compra</a:t>
            </a:r>
          </a:p>
        </p:txBody>
      </p:sp>
      <p:sp>
        <p:nvSpPr>
          <p:cNvPr id="999" name="src"/>
          <p:cNvSpPr txBox="1">
            <a:spLocks noGrp="1"/>
          </p:cNvSpPr>
          <p:nvPr/>
        </p:nvSpPr>
        <p:spPr>
          <a:xfrm>
            <a:off x="320040" y="44622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5"/>
              </a:rPr>
              <a:t>Gartner MQ AI Applications</a:t>
            </a:r>
            <a:r>
              <a:rPr lang="es-ES" sz="780" i="1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6"/>
              </a:rPr>
              <a:t>InvGate</a:t>
            </a:r>
            <a:r>
              <a:rPr lang="es-ES" sz="780" i="1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7"/>
              </a:rPr>
              <a:t>Gartner Retire ITSM MQ</a:t>
            </a:r>
          </a:p>
        </p:txBody>
      </p:sp>
    </p:spTree>
    <p:extLst>
      <p:ext uri="{BB962C8B-B14F-4D97-AF65-F5344CB8AC3E}">
        <p14:creationId xmlns:p14="http://schemas.microsoft.com/office/powerpoint/2010/main" val="3697225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E4FA26-9892-86D1-3AA5-CADBC4E5D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290" y="184990"/>
            <a:ext cx="8211000" cy="572700"/>
          </a:xfrm>
        </p:spPr>
        <p:txBody>
          <a:bodyPr>
            <a:normAutofit/>
          </a:bodyPr>
          <a:lstStyle/>
          <a:p>
            <a:r>
              <a:rPr lang="en-US" dirty="0">
                <a:latin typeface="Reddit Sans" panose="020B0604020202020204" charset="0"/>
                <a:ea typeface="Reddit Sans" panose="020B0604020202020204" charset="0"/>
              </a:rPr>
              <a:t>Los 12 Grandes </a:t>
            </a:r>
            <a:r>
              <a:rPr lang="en-US" dirty="0" err="1">
                <a:latin typeface="Reddit Sans" panose="020B0604020202020204" charset="0"/>
                <a:ea typeface="Reddit Sans" panose="020B0604020202020204" charset="0"/>
              </a:rPr>
              <a:t>ya</a:t>
            </a:r>
            <a:r>
              <a:rPr lang="en-US" dirty="0">
                <a:latin typeface="Reddit Sans" panose="020B0604020202020204" charset="0"/>
                <a:ea typeface="Reddit Sans" panose="020B0604020202020204" charset="0"/>
              </a:rPr>
              <a:t> </a:t>
            </a:r>
            <a:r>
              <a:rPr lang="en-US" dirty="0" err="1">
                <a:latin typeface="Reddit Sans" panose="020B0604020202020204" charset="0"/>
                <a:ea typeface="Reddit Sans" panose="020B0604020202020204" charset="0"/>
              </a:rPr>
              <a:t>Convergieron</a:t>
            </a:r>
            <a:endParaRPr lang="es-CO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8" name="Text 39">
            <a:extLst>
              <a:ext uri="{FF2B5EF4-FFF2-40B4-BE49-F238E27FC236}">
                <a16:creationId xmlns:a16="http://schemas.microsoft.com/office/drawing/2014/main" id="{43598009-C347-9DF0-53E3-AEC4619C772B}"/>
              </a:ext>
            </a:extLst>
          </p:cNvPr>
          <p:cNvSpPr/>
          <p:nvPr/>
        </p:nvSpPr>
        <p:spPr>
          <a:xfrm>
            <a:off x="0" y="4586140"/>
            <a:ext cx="859536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</a:rPr>
              <a:t>Fuente: </a:t>
            </a:r>
            <a:r>
              <a:rPr lang="en-US" sz="750" u="sng" dirty="0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MQ AI Applications in ITSM 2025</a:t>
            </a:r>
            <a:r>
              <a:rPr lang="en-US" sz="750" dirty="0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</a:rPr>
              <a:t>  ·  </a:t>
            </a:r>
            <a:r>
              <a:rPr lang="en-US" sz="750" u="sng" dirty="0" err="1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PeopleCert</a:t>
            </a:r>
            <a:r>
              <a:rPr lang="en-US" sz="750" u="sng" dirty="0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ITIL v5 Launch Feb 2026</a:t>
            </a:r>
            <a:r>
              <a:rPr lang="en-US" sz="750" dirty="0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</a:rPr>
              <a:t>  ·  </a:t>
            </a:r>
            <a:r>
              <a:rPr lang="en-US" sz="750" u="sng" dirty="0" err="1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Freshservice</a:t>
            </a:r>
            <a:r>
              <a:rPr lang="en-US" sz="750" u="sng" dirty="0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XLA Report 2026</a:t>
            </a:r>
            <a:r>
              <a:rPr lang="en-US" sz="750" dirty="0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IDC ITSM Market Share 2024</a:t>
            </a:r>
            <a:endParaRPr lang="en-US" sz="750">
              <a:highlight>
                <a:srgbClr val="FFFF00"/>
              </a:highlight>
              <a:latin typeface="Reddit Sans"/>
              <a:ea typeface="Reddit Sans"/>
              <a:cs typeface="Calibri"/>
            </a:endParaRPr>
          </a:p>
        </p:txBody>
      </p:sp>
      <p:sp>
        <p:nvSpPr>
          <p:cNvPr id="40" name="Text 41">
            <a:extLst>
              <a:ext uri="{FF2B5EF4-FFF2-40B4-BE49-F238E27FC236}">
                <a16:creationId xmlns:a16="http://schemas.microsoft.com/office/drawing/2014/main" id="{F723FB7B-388B-67C2-D240-FF4BB55A64E4}"/>
              </a:ext>
            </a:extLst>
          </p:cNvPr>
          <p:cNvSpPr/>
          <p:nvPr/>
        </p:nvSpPr>
        <p:spPr>
          <a:xfrm>
            <a:off x="8124410" y="463186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4 / 12</a:t>
            </a:r>
            <a:endParaRPr lang="en-US" sz="8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B7FD0913-0BB4-5C52-9D4A-CB0B34E195FF}"/>
              </a:ext>
            </a:extLst>
          </p:cNvPr>
          <p:cNvSpPr/>
          <p:nvPr/>
        </p:nvSpPr>
        <p:spPr>
          <a:xfrm>
            <a:off x="333790" y="503344"/>
            <a:ext cx="77724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Todos </a:t>
            </a:r>
            <a:r>
              <a:rPr lang="en-US" sz="1100" dirty="0" err="1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venden</a:t>
            </a:r>
            <a:r>
              <a:rPr lang="en-US" sz="1100" dirty="0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 AI-first</a:t>
            </a:r>
          </a:p>
        </p:txBody>
      </p:sp>
      <p:sp>
        <p:nvSpPr>
          <p:cNvPr id="42" name="ln">
            <a:extLst>
              <a:ext uri="{FF2B5EF4-FFF2-40B4-BE49-F238E27FC236}">
                <a16:creationId xmlns:a16="http://schemas.microsoft.com/office/drawing/2014/main" id="{3B2ACD73-6A1B-DE81-531C-FD32DE9F39ED}"/>
              </a:ext>
            </a:extLst>
          </p:cNvPr>
          <p:cNvSpPr txBox="1">
            <a:spLocks noGrp="1"/>
          </p:cNvSpPr>
          <p:nvPr/>
        </p:nvSpPr>
        <p:spPr>
          <a:xfrm>
            <a:off x="365760" y="82296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 dirty="0">
                <a:solidFill>
                  <a:srgbClr val="0D1B5E"/>
                </a:solidFill>
                <a:latin typeface="Reddit Sans"/>
                <a:ea typeface="Reddit Sans"/>
              </a:rPr>
              <a:t>ServiceNow</a:t>
            </a:r>
          </a:p>
        </p:txBody>
      </p:sp>
      <p:sp>
        <p:nvSpPr>
          <p:cNvPr id="44" name="bar">
            <a:extLst>
              <a:ext uri="{FF2B5EF4-FFF2-40B4-BE49-F238E27FC236}">
                <a16:creationId xmlns:a16="http://schemas.microsoft.com/office/drawing/2014/main" id="{3D1853AC-9917-FF21-2CE0-E584F4533EF1}"/>
              </a:ext>
            </a:extLst>
          </p:cNvPr>
          <p:cNvSpPr>
            <a:spLocks noGrp="1"/>
          </p:cNvSpPr>
          <p:nvPr/>
        </p:nvSpPr>
        <p:spPr>
          <a:xfrm>
            <a:off x="1737360" y="822960"/>
            <a:ext cx="2111166" cy="402336"/>
          </a:xfrm>
          <a:prstGeom prst="roundRect">
            <a:avLst>
              <a:gd name="adj" fmla="val 8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46" name="pct">
            <a:extLst>
              <a:ext uri="{FF2B5EF4-FFF2-40B4-BE49-F238E27FC236}">
                <a16:creationId xmlns:a16="http://schemas.microsoft.com/office/drawing/2014/main" id="{FA468F51-9426-DB15-4B34-C49321EFEC60}"/>
              </a:ext>
            </a:extLst>
          </p:cNvPr>
          <p:cNvSpPr txBox="1">
            <a:spLocks noGrp="1"/>
          </p:cNvSpPr>
          <p:nvPr/>
        </p:nvSpPr>
        <p:spPr>
          <a:xfrm>
            <a:off x="3939966" y="822960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Reddit Sans"/>
                <a:ea typeface="Reddit Sans"/>
              </a:rPr>
              <a:t>44.4%</a:t>
            </a:r>
          </a:p>
        </p:txBody>
      </p:sp>
      <p:sp>
        <p:nvSpPr>
          <p:cNvPr id="48" name="ln">
            <a:extLst>
              <a:ext uri="{FF2B5EF4-FFF2-40B4-BE49-F238E27FC236}">
                <a16:creationId xmlns:a16="http://schemas.microsoft.com/office/drawing/2014/main" id="{F799D0AD-2748-FF38-83AB-FFDDE6EC4E8D}"/>
              </a:ext>
            </a:extLst>
          </p:cNvPr>
          <p:cNvSpPr txBox="1">
            <a:spLocks noGrp="1"/>
          </p:cNvSpPr>
          <p:nvPr/>
        </p:nvSpPr>
        <p:spPr>
          <a:xfrm>
            <a:off x="365760" y="1316736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 dirty="0">
                <a:solidFill>
                  <a:srgbClr val="0D1B5E"/>
                </a:solidFill>
                <a:latin typeface="Reddit Sans"/>
                <a:ea typeface="Reddit Sans"/>
              </a:rPr>
              <a:t>Atlassian</a:t>
            </a:r>
          </a:p>
        </p:txBody>
      </p:sp>
      <p:sp>
        <p:nvSpPr>
          <p:cNvPr id="50" name="bar">
            <a:extLst>
              <a:ext uri="{FF2B5EF4-FFF2-40B4-BE49-F238E27FC236}">
                <a16:creationId xmlns:a16="http://schemas.microsoft.com/office/drawing/2014/main" id="{3D22674F-15E2-02C3-81B0-94D6D145D268}"/>
              </a:ext>
            </a:extLst>
          </p:cNvPr>
          <p:cNvSpPr>
            <a:spLocks noGrp="1"/>
          </p:cNvSpPr>
          <p:nvPr/>
        </p:nvSpPr>
        <p:spPr>
          <a:xfrm>
            <a:off x="1737360" y="1316736"/>
            <a:ext cx="584850" cy="402336"/>
          </a:xfrm>
          <a:prstGeom prst="roundRect">
            <a:avLst>
              <a:gd name="adj" fmla="val 8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52" name="pct">
            <a:extLst>
              <a:ext uri="{FF2B5EF4-FFF2-40B4-BE49-F238E27FC236}">
                <a16:creationId xmlns:a16="http://schemas.microsoft.com/office/drawing/2014/main" id="{F7E1EFDD-EB9E-4D81-9E0A-E75EC2F6CE9F}"/>
              </a:ext>
            </a:extLst>
          </p:cNvPr>
          <p:cNvSpPr txBox="1">
            <a:spLocks noGrp="1"/>
          </p:cNvSpPr>
          <p:nvPr/>
        </p:nvSpPr>
        <p:spPr>
          <a:xfrm>
            <a:off x="2413650" y="1316736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Reddit Sans"/>
                <a:ea typeface="Reddit Sans"/>
              </a:rPr>
              <a:t>12.3%</a:t>
            </a:r>
          </a:p>
        </p:txBody>
      </p:sp>
      <p:sp>
        <p:nvSpPr>
          <p:cNvPr id="54" name="ln">
            <a:extLst>
              <a:ext uri="{FF2B5EF4-FFF2-40B4-BE49-F238E27FC236}">
                <a16:creationId xmlns:a16="http://schemas.microsoft.com/office/drawing/2014/main" id="{694A9F82-8A8D-4636-220C-3EE74279986E}"/>
              </a:ext>
            </a:extLst>
          </p:cNvPr>
          <p:cNvSpPr txBox="1">
            <a:spLocks noGrp="1"/>
          </p:cNvSpPr>
          <p:nvPr/>
        </p:nvSpPr>
        <p:spPr>
          <a:xfrm>
            <a:off x="365760" y="1810512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 dirty="0">
                <a:solidFill>
                  <a:srgbClr val="0D1B5E"/>
                </a:solidFill>
                <a:latin typeface="Reddit Sans"/>
                <a:ea typeface="Reddit Sans"/>
              </a:rPr>
              <a:t>BMC Helix</a:t>
            </a:r>
          </a:p>
        </p:txBody>
      </p:sp>
      <p:sp>
        <p:nvSpPr>
          <p:cNvPr id="56" name="bar">
            <a:extLst>
              <a:ext uri="{FF2B5EF4-FFF2-40B4-BE49-F238E27FC236}">
                <a16:creationId xmlns:a16="http://schemas.microsoft.com/office/drawing/2014/main" id="{AEFCCA6B-6BF6-1164-C99D-8B4D0E0A8DC1}"/>
              </a:ext>
            </a:extLst>
          </p:cNvPr>
          <p:cNvSpPr>
            <a:spLocks noGrp="1"/>
          </p:cNvSpPr>
          <p:nvPr/>
        </p:nvSpPr>
        <p:spPr>
          <a:xfrm>
            <a:off x="1737360" y="1810512"/>
            <a:ext cx="404164" cy="402336"/>
          </a:xfrm>
          <a:prstGeom prst="roundRect">
            <a:avLst>
              <a:gd name="adj" fmla="val 8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58" name="pct">
            <a:extLst>
              <a:ext uri="{FF2B5EF4-FFF2-40B4-BE49-F238E27FC236}">
                <a16:creationId xmlns:a16="http://schemas.microsoft.com/office/drawing/2014/main" id="{1CA6FE2E-DDA9-A223-26CC-16C70CBAA543}"/>
              </a:ext>
            </a:extLst>
          </p:cNvPr>
          <p:cNvSpPr txBox="1">
            <a:spLocks noGrp="1"/>
          </p:cNvSpPr>
          <p:nvPr/>
        </p:nvSpPr>
        <p:spPr>
          <a:xfrm>
            <a:off x="2232964" y="1810512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Reddit Sans"/>
                <a:ea typeface="Reddit Sans"/>
              </a:rPr>
              <a:t>8.5%</a:t>
            </a:r>
          </a:p>
        </p:txBody>
      </p:sp>
      <p:sp>
        <p:nvSpPr>
          <p:cNvPr id="60" name="ln">
            <a:extLst>
              <a:ext uri="{FF2B5EF4-FFF2-40B4-BE49-F238E27FC236}">
                <a16:creationId xmlns:a16="http://schemas.microsoft.com/office/drawing/2014/main" id="{AACB0C82-235E-2D44-7E9F-78F6E31F797E}"/>
              </a:ext>
            </a:extLst>
          </p:cNvPr>
          <p:cNvSpPr txBox="1">
            <a:spLocks noGrp="1"/>
          </p:cNvSpPr>
          <p:nvPr/>
        </p:nvSpPr>
        <p:spPr>
          <a:xfrm>
            <a:off x="365760" y="2304288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 dirty="0">
                <a:solidFill>
                  <a:srgbClr val="0D1B5E"/>
                </a:solidFill>
                <a:latin typeface="Reddit Sans"/>
                <a:ea typeface="Reddit Sans"/>
              </a:rPr>
              <a:t>Ivanti</a:t>
            </a:r>
          </a:p>
        </p:txBody>
      </p:sp>
      <p:sp>
        <p:nvSpPr>
          <p:cNvPr id="62" name="bar">
            <a:extLst>
              <a:ext uri="{FF2B5EF4-FFF2-40B4-BE49-F238E27FC236}">
                <a16:creationId xmlns:a16="http://schemas.microsoft.com/office/drawing/2014/main" id="{0B567FCC-D014-06F8-6C73-BC8443561923}"/>
              </a:ext>
            </a:extLst>
          </p:cNvPr>
          <p:cNvSpPr>
            <a:spLocks noGrp="1"/>
          </p:cNvSpPr>
          <p:nvPr/>
        </p:nvSpPr>
        <p:spPr>
          <a:xfrm>
            <a:off x="1737360" y="2304288"/>
            <a:ext cx="294802" cy="402336"/>
          </a:xfrm>
          <a:prstGeom prst="roundRect">
            <a:avLst>
              <a:gd name="adj" fmla="val 8000"/>
            </a:avLst>
          </a:prstGeom>
          <a:solidFill>
            <a:srgbClr val="1F6FBA"/>
          </a:solidFill>
          <a:ln>
            <a:noFill/>
          </a:ln>
        </p:spPr>
      </p:sp>
      <p:sp>
        <p:nvSpPr>
          <p:cNvPr id="64" name="pct">
            <a:extLst>
              <a:ext uri="{FF2B5EF4-FFF2-40B4-BE49-F238E27FC236}">
                <a16:creationId xmlns:a16="http://schemas.microsoft.com/office/drawing/2014/main" id="{AE7418F8-882F-4679-2319-57DEE0F96BC0}"/>
              </a:ext>
            </a:extLst>
          </p:cNvPr>
          <p:cNvSpPr txBox="1">
            <a:spLocks noGrp="1"/>
          </p:cNvSpPr>
          <p:nvPr/>
        </p:nvSpPr>
        <p:spPr>
          <a:xfrm>
            <a:off x="2123602" y="2304288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Reddit Sans"/>
                <a:ea typeface="Reddit Sans"/>
              </a:rPr>
              <a:t>6.2%</a:t>
            </a:r>
          </a:p>
        </p:txBody>
      </p:sp>
      <p:sp>
        <p:nvSpPr>
          <p:cNvPr id="66" name="ln">
            <a:extLst>
              <a:ext uri="{FF2B5EF4-FFF2-40B4-BE49-F238E27FC236}">
                <a16:creationId xmlns:a16="http://schemas.microsoft.com/office/drawing/2014/main" id="{C93CE046-7A6A-D68D-D495-5957E38B9601}"/>
              </a:ext>
            </a:extLst>
          </p:cNvPr>
          <p:cNvSpPr txBox="1">
            <a:spLocks noGrp="1"/>
          </p:cNvSpPr>
          <p:nvPr/>
        </p:nvSpPr>
        <p:spPr>
          <a:xfrm>
            <a:off x="365760" y="2798064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 dirty="0">
                <a:solidFill>
                  <a:srgbClr val="0D1B5E"/>
                </a:solidFill>
                <a:latin typeface="Reddit Sans"/>
                <a:ea typeface="Reddit Sans"/>
              </a:rPr>
              <a:t>Freshworks</a:t>
            </a:r>
          </a:p>
        </p:txBody>
      </p:sp>
      <p:sp>
        <p:nvSpPr>
          <p:cNvPr id="68" name="bar">
            <a:extLst>
              <a:ext uri="{FF2B5EF4-FFF2-40B4-BE49-F238E27FC236}">
                <a16:creationId xmlns:a16="http://schemas.microsoft.com/office/drawing/2014/main" id="{37077E38-F59E-47AF-07D1-4A736E43E4FB}"/>
              </a:ext>
            </a:extLst>
          </p:cNvPr>
          <p:cNvSpPr>
            <a:spLocks noGrp="1"/>
          </p:cNvSpPr>
          <p:nvPr/>
        </p:nvSpPr>
        <p:spPr>
          <a:xfrm>
            <a:off x="1737360" y="2798064"/>
            <a:ext cx="275783" cy="402336"/>
          </a:xfrm>
          <a:prstGeom prst="roundRect">
            <a:avLst>
              <a:gd name="adj" fmla="val 8000"/>
            </a:avLst>
          </a:prstGeom>
          <a:solidFill>
            <a:srgbClr val="5B6B73"/>
          </a:solidFill>
          <a:ln>
            <a:noFill/>
          </a:ln>
        </p:spPr>
      </p:sp>
      <p:sp>
        <p:nvSpPr>
          <p:cNvPr id="70" name="pct">
            <a:extLst>
              <a:ext uri="{FF2B5EF4-FFF2-40B4-BE49-F238E27FC236}">
                <a16:creationId xmlns:a16="http://schemas.microsoft.com/office/drawing/2014/main" id="{2A47226E-7148-1276-0B4C-831F2B8E1BCD}"/>
              </a:ext>
            </a:extLst>
          </p:cNvPr>
          <p:cNvSpPr txBox="1">
            <a:spLocks noGrp="1"/>
          </p:cNvSpPr>
          <p:nvPr/>
        </p:nvSpPr>
        <p:spPr>
          <a:xfrm>
            <a:off x="2104583" y="2798064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Reddit Sans"/>
                <a:ea typeface="Reddit Sans"/>
              </a:rPr>
              <a:t>5.8%</a:t>
            </a:r>
          </a:p>
        </p:txBody>
      </p:sp>
      <p:sp>
        <p:nvSpPr>
          <p:cNvPr id="72" name="ln">
            <a:extLst>
              <a:ext uri="{FF2B5EF4-FFF2-40B4-BE49-F238E27FC236}">
                <a16:creationId xmlns:a16="http://schemas.microsoft.com/office/drawing/2014/main" id="{35D29E99-D3CA-BEBB-2A3E-65AD758B6DF9}"/>
              </a:ext>
            </a:extLst>
          </p:cNvPr>
          <p:cNvSpPr txBox="1">
            <a:spLocks noGrp="1"/>
          </p:cNvSpPr>
          <p:nvPr/>
        </p:nvSpPr>
        <p:spPr>
          <a:xfrm>
            <a:off x="365760" y="329184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 dirty="0">
                <a:solidFill>
                  <a:srgbClr val="0D1B5E"/>
                </a:solidFill>
                <a:latin typeface="Reddit Sans"/>
                <a:ea typeface="Reddit Sans"/>
              </a:rPr>
              <a:t>Otros</a:t>
            </a:r>
          </a:p>
        </p:txBody>
      </p:sp>
      <p:sp>
        <p:nvSpPr>
          <p:cNvPr id="74" name="bar">
            <a:extLst>
              <a:ext uri="{FF2B5EF4-FFF2-40B4-BE49-F238E27FC236}">
                <a16:creationId xmlns:a16="http://schemas.microsoft.com/office/drawing/2014/main" id="{48B9B25E-15B3-3C8B-A9CF-209F1C25E6B0}"/>
              </a:ext>
            </a:extLst>
          </p:cNvPr>
          <p:cNvSpPr>
            <a:spLocks noGrp="1"/>
          </p:cNvSpPr>
          <p:nvPr/>
        </p:nvSpPr>
        <p:spPr>
          <a:xfrm>
            <a:off x="1737360" y="3291840"/>
            <a:ext cx="1084112" cy="402336"/>
          </a:xfrm>
          <a:prstGeom prst="roundRect">
            <a:avLst>
              <a:gd name="adj" fmla="val 8000"/>
            </a:avLst>
          </a:prstGeom>
          <a:solidFill>
            <a:srgbClr val="D1D5DB"/>
          </a:solidFill>
          <a:ln>
            <a:noFill/>
          </a:ln>
        </p:spPr>
      </p:sp>
      <p:sp>
        <p:nvSpPr>
          <p:cNvPr id="76" name="pct">
            <a:extLst>
              <a:ext uri="{FF2B5EF4-FFF2-40B4-BE49-F238E27FC236}">
                <a16:creationId xmlns:a16="http://schemas.microsoft.com/office/drawing/2014/main" id="{C739B923-0CF1-E7FC-0CE0-AC503323BE50}"/>
              </a:ext>
            </a:extLst>
          </p:cNvPr>
          <p:cNvSpPr txBox="1">
            <a:spLocks noGrp="1"/>
          </p:cNvSpPr>
          <p:nvPr/>
        </p:nvSpPr>
        <p:spPr>
          <a:xfrm>
            <a:off x="2912912" y="3291840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Reddit Sans"/>
                <a:ea typeface="Reddit Sans"/>
              </a:rPr>
              <a:t>22.8%</a:t>
            </a:r>
          </a:p>
        </p:txBody>
      </p:sp>
      <p:sp>
        <p:nvSpPr>
          <p:cNvPr id="78" name="rbg">
            <a:extLst>
              <a:ext uri="{FF2B5EF4-FFF2-40B4-BE49-F238E27FC236}">
                <a16:creationId xmlns:a16="http://schemas.microsoft.com/office/drawing/2014/main" id="{3803186D-0046-C5C8-FBA3-80F1EA8BD125}"/>
              </a:ext>
            </a:extLst>
          </p:cNvPr>
          <p:cNvSpPr>
            <a:spLocks noGrp="1"/>
          </p:cNvSpPr>
          <p:nvPr/>
        </p:nvSpPr>
        <p:spPr>
          <a:xfrm>
            <a:off x="5239293" y="603069"/>
            <a:ext cx="3221082" cy="3531324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9525">
            <a:solidFill>
              <a:srgbClr val="D1D5DB"/>
            </a:solidFill>
          </a:ln>
        </p:spPr>
      </p:sp>
      <p:sp>
        <p:nvSpPr>
          <p:cNvPr id="80" name="rhdr">
            <a:extLst>
              <a:ext uri="{FF2B5EF4-FFF2-40B4-BE49-F238E27FC236}">
                <a16:creationId xmlns:a16="http://schemas.microsoft.com/office/drawing/2014/main" id="{34EEC26D-F8C3-354D-2E41-1CA581940681}"/>
              </a:ext>
            </a:extLst>
          </p:cNvPr>
          <p:cNvSpPr>
            <a:spLocks noGrp="1"/>
          </p:cNvSpPr>
          <p:nvPr/>
        </p:nvSpPr>
        <p:spPr>
          <a:xfrm>
            <a:off x="5233851" y="603069"/>
            <a:ext cx="3221082" cy="327660"/>
          </a:xfrm>
          <a:prstGeom prst="roundRect">
            <a:avLst>
              <a:gd name="adj" fmla="val 12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82" name="rhtxt">
            <a:extLst>
              <a:ext uri="{FF2B5EF4-FFF2-40B4-BE49-F238E27FC236}">
                <a16:creationId xmlns:a16="http://schemas.microsoft.com/office/drawing/2014/main" id="{AECC54F2-F24C-55BE-148D-9A196984FE4D}"/>
              </a:ext>
            </a:extLst>
          </p:cNvPr>
          <p:cNvSpPr txBox="1">
            <a:spLocks noGrp="1"/>
          </p:cNvSpPr>
          <p:nvPr/>
        </p:nvSpPr>
        <p:spPr>
          <a:xfrm>
            <a:off x="5239294" y="603069"/>
            <a:ext cx="3221082" cy="3276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FFFFFF"/>
                </a:solidFill>
                <a:latin typeface="Reddit Sans"/>
                <a:ea typeface="Reddit Sans"/>
              </a:rPr>
              <a:t>La brecha real</a:t>
            </a:r>
          </a:p>
        </p:txBody>
      </p:sp>
      <p:sp>
        <p:nvSpPr>
          <p:cNvPr id="86" name="bn">
            <a:extLst>
              <a:ext uri="{FF2B5EF4-FFF2-40B4-BE49-F238E27FC236}">
                <a16:creationId xmlns:a16="http://schemas.microsoft.com/office/drawing/2014/main" id="{7066C97C-195C-9B3C-074C-F5EA7F30196D}"/>
              </a:ext>
            </a:extLst>
          </p:cNvPr>
          <p:cNvSpPr txBox="1">
            <a:spLocks noGrp="1"/>
          </p:cNvSpPr>
          <p:nvPr/>
        </p:nvSpPr>
        <p:spPr>
          <a:xfrm>
            <a:off x="5371011" y="1096845"/>
            <a:ext cx="777240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700" b="1" dirty="0">
                <a:solidFill>
                  <a:srgbClr val="0D1B5E"/>
                </a:solidFill>
                <a:latin typeface="Reddit Sans"/>
                <a:ea typeface="Reddit Sans"/>
              </a:rPr>
              <a:t>9</a:t>
            </a:r>
          </a:p>
        </p:txBody>
      </p:sp>
      <p:sp>
        <p:nvSpPr>
          <p:cNvPr id="88" name="bd">
            <a:extLst>
              <a:ext uri="{FF2B5EF4-FFF2-40B4-BE49-F238E27FC236}">
                <a16:creationId xmlns:a16="http://schemas.microsoft.com/office/drawing/2014/main" id="{B6268D97-7923-7BB8-5D8E-F0B6FCF3A71C}"/>
              </a:ext>
            </a:extLst>
          </p:cNvPr>
          <p:cNvSpPr txBox="1">
            <a:spLocks noGrp="1"/>
          </p:cNvSpPr>
          <p:nvPr/>
        </p:nvSpPr>
        <p:spPr>
          <a:xfrm>
            <a:off x="6193971" y="1096845"/>
            <a:ext cx="1925682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80" dirty="0">
                <a:solidFill>
                  <a:srgbClr val="333333"/>
                </a:solidFill>
                <a:latin typeface="Reddit Sans"/>
                <a:ea typeface="Reddit Sans"/>
              </a:rPr>
              <a:t>Capacidades IA evaluadas por Gartner
mín. 5 para calificar</a:t>
            </a:r>
          </a:p>
        </p:txBody>
      </p:sp>
      <p:sp>
        <p:nvSpPr>
          <p:cNvPr id="92" name="bn">
            <a:extLst>
              <a:ext uri="{FF2B5EF4-FFF2-40B4-BE49-F238E27FC236}">
                <a16:creationId xmlns:a16="http://schemas.microsoft.com/office/drawing/2014/main" id="{3E8DC062-C6D9-C108-E568-0FBED824BDA1}"/>
              </a:ext>
            </a:extLst>
          </p:cNvPr>
          <p:cNvSpPr txBox="1">
            <a:spLocks noGrp="1"/>
          </p:cNvSpPr>
          <p:nvPr/>
        </p:nvSpPr>
        <p:spPr>
          <a:xfrm>
            <a:off x="5371011" y="1883229"/>
            <a:ext cx="777240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lnSpcReduction="10000"/>
          </a:bodyPr>
          <a:lstStyle/>
          <a:p>
            <a:pPr algn="ctr"/>
            <a:r>
              <a:rPr lang="es-ES" sz="1700" b="1" dirty="0">
                <a:solidFill>
                  <a:srgbClr val="1A3A8F"/>
                </a:solidFill>
                <a:latin typeface="Reddit Sans"/>
                <a:ea typeface="Reddit Sans"/>
              </a:rPr>
              <a:t>ITIL v5</a:t>
            </a:r>
          </a:p>
        </p:txBody>
      </p:sp>
      <p:sp>
        <p:nvSpPr>
          <p:cNvPr id="94" name="bd">
            <a:extLst>
              <a:ext uri="{FF2B5EF4-FFF2-40B4-BE49-F238E27FC236}">
                <a16:creationId xmlns:a16="http://schemas.microsoft.com/office/drawing/2014/main" id="{609E48BA-D352-26AB-EB4D-208A41127F2D}"/>
              </a:ext>
            </a:extLst>
          </p:cNvPr>
          <p:cNvSpPr txBox="1">
            <a:spLocks noGrp="1"/>
          </p:cNvSpPr>
          <p:nvPr/>
        </p:nvSpPr>
        <p:spPr>
          <a:xfrm>
            <a:off x="6193971" y="1883229"/>
            <a:ext cx="1925682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80" dirty="0">
                <a:solidFill>
                  <a:srgbClr val="333333"/>
                </a:solidFill>
                <a:latin typeface="Reddit Sans"/>
                <a:ea typeface="Reddit Sans"/>
              </a:rPr>
              <a:t>Lanzado 12 feb 2026
Nuevo estándar de la industria</a:t>
            </a:r>
          </a:p>
        </p:txBody>
      </p:sp>
      <p:sp>
        <p:nvSpPr>
          <p:cNvPr id="98" name="bn">
            <a:extLst>
              <a:ext uri="{FF2B5EF4-FFF2-40B4-BE49-F238E27FC236}">
                <a16:creationId xmlns:a16="http://schemas.microsoft.com/office/drawing/2014/main" id="{CC58E608-1FDD-930C-25BC-FED802924F3E}"/>
              </a:ext>
            </a:extLst>
          </p:cNvPr>
          <p:cNvSpPr txBox="1">
            <a:spLocks noGrp="1"/>
          </p:cNvSpPr>
          <p:nvPr/>
        </p:nvSpPr>
        <p:spPr>
          <a:xfrm>
            <a:off x="5371011" y="2669613"/>
            <a:ext cx="777240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700" b="1" dirty="0">
                <a:solidFill>
                  <a:srgbClr val="1B7B85"/>
                </a:solidFill>
                <a:latin typeface="Reddit Sans"/>
                <a:ea typeface="Reddit Sans"/>
              </a:rPr>
              <a:t>68%</a:t>
            </a:r>
          </a:p>
        </p:txBody>
      </p:sp>
      <p:sp>
        <p:nvSpPr>
          <p:cNvPr id="100" name="bd">
            <a:extLst>
              <a:ext uri="{FF2B5EF4-FFF2-40B4-BE49-F238E27FC236}">
                <a16:creationId xmlns:a16="http://schemas.microsoft.com/office/drawing/2014/main" id="{7E57363F-47DB-A74A-AF02-4BCDFC28DCB1}"/>
              </a:ext>
            </a:extLst>
          </p:cNvPr>
          <p:cNvSpPr txBox="1">
            <a:spLocks noGrp="1"/>
          </p:cNvSpPr>
          <p:nvPr/>
        </p:nvSpPr>
        <p:spPr>
          <a:xfrm>
            <a:off x="6193971" y="2669613"/>
            <a:ext cx="1925682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80" dirty="0">
                <a:solidFill>
                  <a:srgbClr val="333333"/>
                </a:solidFill>
                <a:latin typeface="Reddit Sans"/>
                <a:ea typeface="Reddit Sans"/>
              </a:rPr>
              <a:t>Adoptarán XLA en 2026
(Experience Level Agreements)</a:t>
            </a:r>
          </a:p>
        </p:txBody>
      </p:sp>
      <p:sp>
        <p:nvSpPr>
          <p:cNvPr id="104" name="bn">
            <a:extLst>
              <a:ext uri="{FF2B5EF4-FFF2-40B4-BE49-F238E27FC236}">
                <a16:creationId xmlns:a16="http://schemas.microsoft.com/office/drawing/2014/main" id="{B3B47693-D349-15AD-AF78-83FAC494A16A}"/>
              </a:ext>
            </a:extLst>
          </p:cNvPr>
          <p:cNvSpPr txBox="1">
            <a:spLocks noGrp="1"/>
          </p:cNvSpPr>
          <p:nvPr/>
        </p:nvSpPr>
        <p:spPr>
          <a:xfrm>
            <a:off x="5371011" y="3455997"/>
            <a:ext cx="777240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lnSpcReduction="10000"/>
          </a:bodyPr>
          <a:lstStyle/>
          <a:p>
            <a:pPr algn="ctr"/>
            <a:r>
              <a:rPr lang="es-ES" sz="1700" b="1" dirty="0">
                <a:solidFill>
                  <a:srgbClr val="1F6FBA"/>
                </a:solidFill>
                <a:latin typeface="Reddit Sans"/>
                <a:ea typeface="Reddit Sans"/>
              </a:rPr>
              <a:t>44.4%</a:t>
            </a:r>
          </a:p>
        </p:txBody>
      </p:sp>
      <p:sp>
        <p:nvSpPr>
          <p:cNvPr id="106" name="bd">
            <a:extLst>
              <a:ext uri="{FF2B5EF4-FFF2-40B4-BE49-F238E27FC236}">
                <a16:creationId xmlns:a16="http://schemas.microsoft.com/office/drawing/2014/main" id="{FA9F9116-A413-6B75-BFE3-1D7FBAA1FD52}"/>
              </a:ext>
            </a:extLst>
          </p:cNvPr>
          <p:cNvSpPr txBox="1">
            <a:spLocks noGrp="1"/>
          </p:cNvSpPr>
          <p:nvPr/>
        </p:nvSpPr>
        <p:spPr>
          <a:xfrm>
            <a:off x="6193971" y="3455997"/>
            <a:ext cx="1925682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80" dirty="0">
                <a:solidFill>
                  <a:srgbClr val="333333"/>
                </a:solidFill>
                <a:latin typeface="Reddit Sans"/>
                <a:ea typeface="Reddit Sans"/>
              </a:rPr>
              <a:t>Cuota ServiceNow — Solo 1 Líder
en MQ AI Applications in ITSM 2025</a:t>
            </a:r>
          </a:p>
        </p:txBody>
      </p:sp>
      <p:sp>
        <p:nvSpPr>
          <p:cNvPr id="110" name="qtxt">
            <a:extLst>
              <a:ext uri="{FF2B5EF4-FFF2-40B4-BE49-F238E27FC236}">
                <a16:creationId xmlns:a16="http://schemas.microsoft.com/office/drawing/2014/main" id="{60BAE401-2A97-E144-0191-1604F0E984C4}"/>
              </a:ext>
            </a:extLst>
          </p:cNvPr>
          <p:cNvSpPr txBox="1">
            <a:spLocks noGrp="1"/>
          </p:cNvSpPr>
          <p:nvPr/>
        </p:nvSpPr>
        <p:spPr>
          <a:xfrm>
            <a:off x="693419" y="4127644"/>
            <a:ext cx="4434840" cy="3276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 fontScale="92500" lnSpcReduction="20000"/>
          </a:bodyPr>
          <a:lstStyle/>
          <a:p>
            <a:pPr algn="ctr"/>
            <a:r>
              <a:rPr lang="es-ES" sz="950" i="1" dirty="0">
                <a:solidFill>
                  <a:schemeClr val="bg2"/>
                </a:solidFill>
                <a:latin typeface="Reddit Sans"/>
                <a:ea typeface="Reddit Sans"/>
              </a:rPr>
              <a:t>"El diferenciador real está en plataforma propietaria, profundidad de IA y madurez del modelo de gobierno"</a:t>
            </a:r>
          </a:p>
        </p:txBody>
      </p:sp>
      <p:sp>
        <p:nvSpPr>
          <p:cNvPr id="999" name="src"/>
          <p:cNvSpPr txBox="1">
            <a:spLocks noGrp="1"/>
          </p:cNvSpPr>
          <p:nvPr/>
        </p:nvSpPr>
        <p:spPr>
          <a:xfrm>
            <a:off x="320040" y="44622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6"/>
              </a:rPr>
              <a:t>Gartner MQ AI Applications</a:t>
            </a:r>
            <a:r>
              <a:rPr lang="es-ES" sz="780" i="1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7"/>
              </a:rPr>
              <a:t>PeopleCert ITIL v5</a:t>
            </a:r>
            <a:r>
              <a:rPr lang="es-ES" sz="780" i="1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8"/>
              </a:rPr>
              <a:t>Freshservice XLA Report</a:t>
            </a:r>
            <a:r>
              <a:rPr lang="es-ES" sz="780" i="1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9"/>
              </a:rPr>
              <a:t>IDC ITSM Market Share</a:t>
            </a:r>
          </a:p>
        </p:txBody>
      </p:sp>
    </p:spTree>
    <p:extLst>
      <p:ext uri="{BB962C8B-B14F-4D97-AF65-F5344CB8AC3E}">
        <p14:creationId xmlns:p14="http://schemas.microsoft.com/office/powerpoint/2010/main" val="2268101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Como los 12 Grandes Posicionan sus Mesas de Servicios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 dirty="0">
                <a:solidFill>
                  <a:srgbClr val="6B7280"/>
                </a:solidFill>
                <a:latin typeface="Calibri"/>
              </a:rPr>
              <a:t>Todos dicen lo mismo — la diferenciacion real no esta en el mensaje sino en el framework detras</a:t>
            </a:r>
          </a:p>
        </p:txBody>
      </p:sp>
      <p:sp>
        <p:nvSpPr>
          <p:cNvPr id="10" name="mb"/>
          <p:cNvSpPr>
            <a:spLocks noGrp="1"/>
          </p:cNvSpPr>
          <p:nvPr/>
        </p:nvSpPr>
        <p:spPr>
          <a:xfrm>
            <a:off x="320040" y="804672"/>
            <a:ext cx="3749039" cy="749808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12700">
            <a:solidFill>
              <a:srgbClr val="0D1B5E"/>
            </a:solidFill>
          </a:ln>
        </p:spPr>
      </p:sp>
      <p:sp>
        <p:nvSpPr>
          <p:cNvPr id="11" name="mbar"/>
          <p:cNvSpPr>
            <a:spLocks noGrp="1"/>
          </p:cNvSpPr>
          <p:nvPr/>
        </p:nvSpPr>
        <p:spPr>
          <a:xfrm>
            <a:off x="320040" y="804672"/>
            <a:ext cx="91440" cy="749808"/>
          </a:xfrm>
          <a:prstGeom prst="roundRect">
            <a:avLst>
              <a:gd name="adj" fmla="val 10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12" name="mt"/>
          <p:cNvSpPr txBox="1">
            <a:spLocks noGrp="1"/>
          </p:cNvSpPr>
          <p:nvPr/>
        </p:nvSpPr>
        <p:spPr>
          <a:xfrm>
            <a:off x="466344" y="877824"/>
            <a:ext cx="1005840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60" b="1" dirty="0">
                <a:solidFill>
                  <a:srgbClr val="0D1B5E"/>
                </a:solidFill>
                <a:latin typeface="Calibri"/>
              </a:rPr>
              <a:t>AI-first</a:t>
            </a:r>
          </a:p>
        </p:txBody>
      </p:sp>
      <p:sp>
        <p:nvSpPr>
          <p:cNvPr id="13" name="md"/>
          <p:cNvSpPr txBox="1">
            <a:spLocks noGrp="1"/>
          </p:cNvSpPr>
          <p:nvPr/>
        </p:nvSpPr>
        <p:spPr>
          <a:xfrm>
            <a:off x="1508760" y="896112"/>
            <a:ext cx="2468879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60" dirty="0">
                <a:solidFill>
                  <a:srgbClr val="333333"/>
                </a:solidFill>
                <a:latin typeface="Calibri"/>
              </a:rPr>
              <a:t>Todos declaran IA como nucleo. ServiceNow tiene 9 capacidades Gartner. El mensaje es identico.</a:t>
            </a:r>
          </a:p>
        </p:txBody>
      </p:sp>
      <p:sp>
        <p:nvSpPr>
          <p:cNvPr id="6" name="mb"/>
          <p:cNvSpPr>
            <a:spLocks noGrp="1"/>
          </p:cNvSpPr>
          <p:nvPr/>
        </p:nvSpPr>
        <p:spPr>
          <a:xfrm>
            <a:off x="4197095" y="804672"/>
            <a:ext cx="3749039" cy="749808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12700">
            <a:solidFill>
              <a:srgbClr val="1A3A8F"/>
            </a:solidFill>
          </a:ln>
        </p:spPr>
      </p:sp>
      <p:sp>
        <p:nvSpPr>
          <p:cNvPr id="14" name="mbar"/>
          <p:cNvSpPr>
            <a:spLocks noGrp="1"/>
          </p:cNvSpPr>
          <p:nvPr/>
        </p:nvSpPr>
        <p:spPr>
          <a:xfrm>
            <a:off x="4197095" y="804672"/>
            <a:ext cx="91440" cy="749808"/>
          </a:xfrm>
          <a:prstGeom prst="roundRect">
            <a:avLst>
              <a:gd name="adj" fmla="val 10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5" name="mt"/>
          <p:cNvSpPr txBox="1">
            <a:spLocks noGrp="1"/>
          </p:cNvSpPr>
          <p:nvPr/>
        </p:nvSpPr>
        <p:spPr>
          <a:xfrm>
            <a:off x="4343399" y="877824"/>
            <a:ext cx="1005840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60" b="1" dirty="0">
                <a:solidFill>
                  <a:srgbClr val="1A3A8F"/>
                </a:solidFill>
                <a:latin typeface="Calibri"/>
              </a:rPr>
              <a:t>Virtual Agents</a:t>
            </a:r>
          </a:p>
        </p:txBody>
      </p:sp>
      <p:sp>
        <p:nvSpPr>
          <p:cNvPr id="16" name="md"/>
          <p:cNvSpPr txBox="1">
            <a:spLocks noGrp="1"/>
          </p:cNvSpPr>
          <p:nvPr/>
        </p:nvSpPr>
        <p:spPr>
          <a:xfrm>
            <a:off x="5385815" y="896112"/>
            <a:ext cx="2468879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60" dirty="0">
                <a:solidFill>
                  <a:srgbClr val="333333"/>
                </a:solidFill>
                <a:latin typeface="Calibri"/>
              </a:rPr>
              <a:t>Chatbots de primer nivel es la apuesta universal — el diferenciador esta en cuanto resuelven realmente.</a:t>
            </a:r>
          </a:p>
        </p:txBody>
      </p:sp>
      <p:sp>
        <p:nvSpPr>
          <p:cNvPr id="7" name="mb"/>
          <p:cNvSpPr>
            <a:spLocks noGrp="1"/>
          </p:cNvSpPr>
          <p:nvPr/>
        </p:nvSpPr>
        <p:spPr>
          <a:xfrm>
            <a:off x="320040" y="1645920"/>
            <a:ext cx="3749039" cy="749808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12700">
            <a:solidFill>
              <a:srgbClr val="1B7B85"/>
            </a:solidFill>
          </a:ln>
        </p:spPr>
      </p:sp>
      <p:sp>
        <p:nvSpPr>
          <p:cNvPr id="17" name="mbar"/>
          <p:cNvSpPr>
            <a:spLocks noGrp="1"/>
          </p:cNvSpPr>
          <p:nvPr/>
        </p:nvSpPr>
        <p:spPr>
          <a:xfrm>
            <a:off x="320040" y="1645920"/>
            <a:ext cx="91440" cy="749808"/>
          </a:xfrm>
          <a:prstGeom prst="roundRect">
            <a:avLst>
              <a:gd name="adj" fmla="val 10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18" name="mt"/>
          <p:cNvSpPr txBox="1">
            <a:spLocks noGrp="1"/>
          </p:cNvSpPr>
          <p:nvPr/>
        </p:nvSpPr>
        <p:spPr>
          <a:xfrm>
            <a:off x="466344" y="1719072"/>
            <a:ext cx="1005840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60" b="1" dirty="0">
                <a:solidFill>
                  <a:srgbClr val="1B7B85"/>
                </a:solidFill>
                <a:latin typeface="Calibri"/>
              </a:rPr>
              <a:t>XLA sobre SLA</a:t>
            </a:r>
          </a:p>
        </p:txBody>
      </p:sp>
      <p:sp>
        <p:nvSpPr>
          <p:cNvPr id="19" name="md"/>
          <p:cNvSpPr txBox="1">
            <a:spLocks noGrp="1"/>
          </p:cNvSpPr>
          <p:nvPr/>
        </p:nvSpPr>
        <p:spPr>
          <a:xfrm>
            <a:off x="1508760" y="1737360"/>
            <a:ext cx="2468879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60" dirty="0">
                <a:solidFill>
                  <a:srgbClr val="333333"/>
                </a:solidFill>
                <a:latin typeface="Calibri"/>
              </a:rPr>
              <a:t>68% adoptara XLA en 2026. Todos lo prometen. Pocos tienen el modelo de medicion para respaldarlo.</a:t>
            </a:r>
          </a:p>
        </p:txBody>
      </p:sp>
      <p:sp>
        <p:nvSpPr>
          <p:cNvPr id="8" name="mb"/>
          <p:cNvSpPr>
            <a:spLocks noGrp="1"/>
          </p:cNvSpPr>
          <p:nvPr/>
        </p:nvSpPr>
        <p:spPr>
          <a:xfrm>
            <a:off x="4197095" y="1645920"/>
            <a:ext cx="3749039" cy="749808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12700">
            <a:solidFill>
              <a:srgbClr val="1F6FBA"/>
            </a:solidFill>
          </a:ln>
        </p:spPr>
      </p:sp>
      <p:sp>
        <p:nvSpPr>
          <p:cNvPr id="20" name="mbar"/>
          <p:cNvSpPr>
            <a:spLocks noGrp="1"/>
          </p:cNvSpPr>
          <p:nvPr/>
        </p:nvSpPr>
        <p:spPr>
          <a:xfrm>
            <a:off x="4197095" y="1645920"/>
            <a:ext cx="91440" cy="749808"/>
          </a:xfrm>
          <a:prstGeom prst="roundRect">
            <a:avLst>
              <a:gd name="adj" fmla="val 10000"/>
            </a:avLst>
          </a:prstGeom>
          <a:solidFill>
            <a:srgbClr val="1F6FBA"/>
          </a:solidFill>
          <a:ln>
            <a:noFill/>
          </a:ln>
        </p:spPr>
      </p:sp>
      <p:sp>
        <p:nvSpPr>
          <p:cNvPr id="21" name="mt"/>
          <p:cNvSpPr txBox="1">
            <a:spLocks noGrp="1"/>
          </p:cNvSpPr>
          <p:nvPr/>
        </p:nvSpPr>
        <p:spPr>
          <a:xfrm>
            <a:off x="4343399" y="1719072"/>
            <a:ext cx="1005840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60" b="1" dirty="0">
                <a:solidFill>
                  <a:srgbClr val="1F6FBA"/>
                </a:solidFill>
                <a:latin typeface="Calibri"/>
              </a:rPr>
              <a:t>Remediacion Autonoma</a:t>
            </a:r>
          </a:p>
        </p:txBody>
      </p:sp>
      <p:sp>
        <p:nvSpPr>
          <p:cNvPr id="22" name="md"/>
          <p:cNvSpPr txBox="1">
            <a:spLocks noGrp="1"/>
          </p:cNvSpPr>
          <p:nvPr/>
        </p:nvSpPr>
        <p:spPr>
          <a:xfrm>
            <a:off x="5385815" y="1737360"/>
            <a:ext cx="2468879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60" dirty="0">
                <a:solidFill>
                  <a:srgbClr val="333333"/>
                </a:solidFill>
                <a:latin typeface="Calibri"/>
              </a:rPr>
              <a:t>Robinhood 70%, Salesforce 84%, Honeywell -80%. Existen — el reto es replicarlos de forma controlada.</a:t>
            </a:r>
          </a:p>
        </p:txBody>
      </p:sp>
      <p:sp>
        <p:nvSpPr>
          <p:cNvPr id="9" name="mb"/>
          <p:cNvSpPr>
            <a:spLocks noGrp="1"/>
          </p:cNvSpPr>
          <p:nvPr/>
        </p:nvSpPr>
        <p:spPr>
          <a:xfrm>
            <a:off x="320040" y="2487168"/>
            <a:ext cx="3749039" cy="749808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12700">
            <a:solidFill>
              <a:srgbClr val="1A6B3C"/>
            </a:solidFill>
          </a:ln>
        </p:spPr>
      </p:sp>
      <p:sp>
        <p:nvSpPr>
          <p:cNvPr id="23" name="mbar"/>
          <p:cNvSpPr>
            <a:spLocks noGrp="1"/>
          </p:cNvSpPr>
          <p:nvPr/>
        </p:nvSpPr>
        <p:spPr>
          <a:xfrm>
            <a:off x="320040" y="2487168"/>
            <a:ext cx="91440" cy="749808"/>
          </a:xfrm>
          <a:prstGeom prst="roundRect">
            <a:avLst>
              <a:gd name="adj" fmla="val 10000"/>
            </a:avLst>
          </a:prstGeom>
          <a:solidFill>
            <a:srgbClr val="1A6B3C"/>
          </a:solidFill>
          <a:ln>
            <a:noFill/>
          </a:ln>
        </p:spPr>
      </p:sp>
      <p:sp>
        <p:nvSpPr>
          <p:cNvPr id="24" name="mt"/>
          <p:cNvSpPr txBox="1">
            <a:spLocks noGrp="1"/>
          </p:cNvSpPr>
          <p:nvPr/>
        </p:nvSpPr>
        <p:spPr>
          <a:xfrm>
            <a:off x="466344" y="2560320"/>
            <a:ext cx="1005840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60" b="1" dirty="0">
                <a:solidFill>
                  <a:srgbClr val="1A6B3C"/>
                </a:solidFill>
                <a:latin typeface="Calibri"/>
              </a:rPr>
              <a:t>AIOps y Observabilidad</a:t>
            </a:r>
          </a:p>
        </p:txBody>
      </p:sp>
      <p:sp>
        <p:nvSpPr>
          <p:cNvPr id="25" name="md"/>
          <p:cNvSpPr txBox="1">
            <a:spLocks noGrp="1"/>
          </p:cNvSpPr>
          <p:nvPr/>
        </p:nvSpPr>
        <p:spPr>
          <a:xfrm>
            <a:off x="1508760" y="2578608"/>
            <a:ext cx="2468879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60" dirty="0">
                <a:solidFill>
                  <a:srgbClr val="333333"/>
                </a:solidFill>
                <a:latin typeface="Calibri"/>
              </a:rPr>
              <a:t>Detectar antes de que el usuario reporte. Correcta la promesa — requiere KEDB solida y datos de calidad.</a:t>
            </a:r>
          </a:p>
        </p:txBody>
      </p:sp>
      <p:sp>
        <p:nvSpPr>
          <p:cNvPr id="29" name="mb"/>
          <p:cNvSpPr>
            <a:spLocks noGrp="1"/>
          </p:cNvSpPr>
          <p:nvPr/>
        </p:nvSpPr>
        <p:spPr>
          <a:xfrm>
            <a:off x="4197095" y="2487168"/>
            <a:ext cx="3749039" cy="749808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12700">
            <a:solidFill>
              <a:srgbClr val="0D1B5E"/>
            </a:solidFill>
          </a:ln>
        </p:spPr>
      </p:sp>
      <p:sp>
        <p:nvSpPr>
          <p:cNvPr id="26" name="mbar"/>
          <p:cNvSpPr>
            <a:spLocks noGrp="1"/>
          </p:cNvSpPr>
          <p:nvPr/>
        </p:nvSpPr>
        <p:spPr>
          <a:xfrm>
            <a:off x="4197095" y="2487168"/>
            <a:ext cx="91440" cy="749808"/>
          </a:xfrm>
          <a:prstGeom prst="roundRect">
            <a:avLst>
              <a:gd name="adj" fmla="val 10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27" name="mt"/>
          <p:cNvSpPr txBox="1">
            <a:spLocks noGrp="1"/>
          </p:cNvSpPr>
          <p:nvPr/>
        </p:nvSpPr>
        <p:spPr>
          <a:xfrm>
            <a:off x="4343399" y="2560320"/>
            <a:ext cx="1005840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60" b="1" dirty="0">
                <a:solidFill>
                  <a:srgbClr val="0D1B5E"/>
                </a:solidFill>
                <a:latin typeface="Calibri"/>
              </a:rPr>
              <a:t>Outcome-Based</a:t>
            </a:r>
          </a:p>
        </p:txBody>
      </p:sp>
      <p:sp>
        <p:nvSpPr>
          <p:cNvPr id="28" name="md"/>
          <p:cNvSpPr txBox="1">
            <a:spLocks noGrp="1"/>
          </p:cNvSpPr>
          <p:nvPr/>
        </p:nvSpPr>
        <p:spPr>
          <a:xfrm>
            <a:off x="5385815" y="2578608"/>
            <a:ext cx="2468879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60" dirty="0">
                <a:solidFill>
                  <a:srgbClr val="333333"/>
                </a:solidFill>
                <a:latin typeface="Calibri"/>
              </a:rPr>
              <a:t>Cobrar por resultados es el futuro. Solo 30% del mercado tendra contratos outcome-based hacia 2029.</a:t>
            </a:r>
          </a:p>
        </p:txBody>
      </p:sp>
      <p:sp>
        <p:nvSpPr>
          <p:cNvPr id="60" name="ins"/>
          <p:cNvSpPr>
            <a:spLocks noGrp="1"/>
          </p:cNvSpPr>
          <p:nvPr/>
        </p:nvSpPr>
        <p:spPr>
          <a:xfrm>
            <a:off x="320040" y="3493008"/>
            <a:ext cx="7717536" cy="274320"/>
          </a:xfrm>
          <a:prstGeom prst="roundRect">
            <a:avLst>
              <a:gd name="adj" fmla="val 10000"/>
            </a:avLst>
          </a:prstGeom>
          <a:solidFill>
            <a:srgbClr val="FFF3CD"/>
          </a:solidFill>
          <a:ln w="15875">
            <a:solidFill>
              <a:srgbClr val="F59E0B"/>
            </a:solidFill>
          </a:ln>
        </p:spPr>
      </p:sp>
      <p:sp>
        <p:nvSpPr>
          <p:cNvPr id="61" name="insT"/>
          <p:cNvSpPr txBox="1">
            <a:spLocks noGrp="1"/>
          </p:cNvSpPr>
          <p:nvPr/>
        </p:nvSpPr>
        <p:spPr>
          <a:xfrm>
            <a:off x="457200" y="3493008"/>
            <a:ext cx="7498079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dirty="0">
                <a:solidFill>
                  <a:srgbClr val="92400E"/>
                </a:solidFill>
                <a:latin typeface="Calibri"/>
              </a:rPr>
              <a:t>PS: el diferenciador es el modelo de madurez propio + ITIL v5 desde el primer dia + framework de IA sobre la herramienta del cliente</a:t>
            </a:r>
          </a:p>
        </p:txBody>
      </p:sp>
      <p:sp>
        <p:nvSpPr>
          <p:cNvPr id="65" name="aranda"/>
          <p:cNvSpPr>
            <a:spLocks noGrp="1"/>
          </p:cNvSpPr>
          <p:nvPr/>
        </p:nvSpPr>
        <p:spPr>
          <a:xfrm>
            <a:off x="320040" y="3822191"/>
            <a:ext cx="7717536" cy="402336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 w="9525">
            <a:solidFill>
              <a:srgbClr val="D1D5DB"/>
            </a:solidFill>
          </a:ln>
        </p:spPr>
      </p:sp>
      <p:sp>
        <p:nvSpPr>
          <p:cNvPr id="66" name="arandaT"/>
          <p:cNvSpPr txBox="1">
            <a:spLocks noGrp="1"/>
          </p:cNvSpPr>
          <p:nvPr/>
        </p:nvSpPr>
        <p:spPr>
          <a:xfrm>
            <a:off x="457200" y="3822191"/>
            <a:ext cx="7498079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50" b="1" dirty="0">
                <a:solidFill>
                  <a:srgbClr val="0D1B5E"/>
                </a:solidFill>
                <a:latin typeface="Calibri"/>
              </a:rPr>
              <a:t>Colombia: </a:t>
            </a:r>
            <a:r>
              <a:rPr lang="es-ES" sz="920" dirty="0">
                <a:solidFill>
                  <a:srgbClr val="0D1B5E"/>
                </a:solidFill>
                <a:latin typeface="Calibri"/>
              </a:rPr>
              <a:t>Aranda Software es el unico competidor local relevante. Los vendors globales compiten como software, no como assessment de madurez. BMC, Ivanti y ManageEngine recien ingresan a la region.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65760" y="91440"/>
            <a:ext cx="91440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2000" b="1" dirty="0">
                <a:solidFill>
                  <a:srgbClr val="FFFFFF"/>
                </a:solidFill>
                <a:latin typeface="Calibri"/>
              </a:rPr>
              <a:t>Posicionamiento de Plataformas ITSM — Gartner MQ 2024-2025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65760" y="566928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dirty="0">
                <a:solidFill>
                  <a:srgbClr val="C8EBEF"/>
                </a:solidFill>
                <a:latin typeface="Calibri"/>
              </a:rPr>
              <a:t>Gartner MQ AI Applications in ITSM 2024-2025 · IDC ITSM Market Share · Apps Run The World</a:t>
            </a:r>
          </a:p>
        </p:txBody>
      </p:sp>
      <p:sp>
        <p:nvSpPr>
          <p:cNvPr id="6" name="mhdr"/>
          <p:cNvSpPr>
            <a:spLocks noGrp="1"/>
          </p:cNvSpPr>
          <p:nvPr/>
        </p:nvSpPr>
        <p:spPr>
          <a:xfrm>
            <a:off x="320040" y="841248"/>
            <a:ext cx="3520440" cy="256032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7" name="mhdrtxt"/>
          <p:cNvSpPr txBox="1">
            <a:spLocks noGrp="1"/>
          </p:cNvSpPr>
          <p:nvPr/>
        </p:nvSpPr>
        <p:spPr>
          <a:xfrm>
            <a:off x="320040" y="841248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FFFFFF"/>
                </a:solidFill>
                <a:latin typeface="Calibri"/>
              </a:rPr>
              <a:t>CUOTA DE MERCADO ITSM 2024</a:t>
            </a:r>
          </a:p>
        </p:txBody>
      </p:sp>
      <p:sp>
        <p:nvSpPr>
          <p:cNvPr id="10" name="nl"/>
          <p:cNvSpPr txBox="1">
            <a:spLocks noGrp="1"/>
          </p:cNvSpPr>
          <p:nvPr/>
        </p:nvSpPr>
        <p:spPr>
          <a:xfrm>
            <a:off x="320040" y="1170432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50" b="1" dirty="0">
                <a:solidFill>
                  <a:srgbClr val="0D1B5E"/>
                </a:solidFill>
                <a:latin typeface="Calibri"/>
              </a:rPr>
              <a:t>ServiceNow</a:t>
            </a:r>
          </a:p>
        </p:txBody>
      </p:sp>
      <p:sp>
        <p:nvSpPr>
          <p:cNvPr id="11" name="bar"/>
          <p:cNvSpPr>
            <a:spLocks noGrp="1"/>
          </p:cNvSpPr>
          <p:nvPr/>
        </p:nvSpPr>
        <p:spPr>
          <a:xfrm>
            <a:off x="1371600" y="1170432"/>
            <a:ext cx="1380378" cy="402336"/>
          </a:xfrm>
          <a:prstGeom prst="roundRect">
            <a:avLst>
              <a:gd name="adj" fmla="val 8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12" name="pct"/>
          <p:cNvSpPr txBox="1">
            <a:spLocks noGrp="1"/>
          </p:cNvSpPr>
          <p:nvPr/>
        </p:nvSpPr>
        <p:spPr>
          <a:xfrm>
            <a:off x="2843418" y="1170432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44.4%</a:t>
            </a:r>
          </a:p>
        </p:txBody>
      </p:sp>
      <p:sp>
        <p:nvSpPr>
          <p:cNvPr id="13" name="nl"/>
          <p:cNvSpPr txBox="1">
            <a:spLocks noGrp="1"/>
          </p:cNvSpPr>
          <p:nvPr/>
        </p:nvSpPr>
        <p:spPr>
          <a:xfrm>
            <a:off x="320040" y="1645920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50" b="1" dirty="0">
                <a:solidFill>
                  <a:srgbClr val="0D1B5E"/>
                </a:solidFill>
                <a:latin typeface="Calibri"/>
              </a:rPr>
              <a:t>Atlassian</a:t>
            </a:r>
          </a:p>
        </p:txBody>
      </p:sp>
      <p:sp>
        <p:nvSpPr>
          <p:cNvPr id="14" name="bar"/>
          <p:cNvSpPr>
            <a:spLocks noGrp="1"/>
          </p:cNvSpPr>
          <p:nvPr/>
        </p:nvSpPr>
        <p:spPr>
          <a:xfrm>
            <a:off x="1371600" y="1645920"/>
            <a:ext cx="382402" cy="402336"/>
          </a:xfrm>
          <a:prstGeom prst="roundRect">
            <a:avLst>
              <a:gd name="adj" fmla="val 8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5" name="pct"/>
          <p:cNvSpPr txBox="1">
            <a:spLocks noGrp="1"/>
          </p:cNvSpPr>
          <p:nvPr/>
        </p:nvSpPr>
        <p:spPr>
          <a:xfrm>
            <a:off x="1845442" y="1645920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12.3%</a:t>
            </a:r>
          </a:p>
        </p:txBody>
      </p:sp>
      <p:sp>
        <p:nvSpPr>
          <p:cNvPr id="16" name="nl"/>
          <p:cNvSpPr txBox="1">
            <a:spLocks noGrp="1"/>
          </p:cNvSpPr>
          <p:nvPr/>
        </p:nvSpPr>
        <p:spPr>
          <a:xfrm>
            <a:off x="320040" y="2121408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50" b="1" dirty="0">
                <a:solidFill>
                  <a:srgbClr val="0D1B5E"/>
                </a:solidFill>
                <a:latin typeface="Calibri"/>
              </a:rPr>
              <a:t>BMC Helix</a:t>
            </a:r>
          </a:p>
        </p:txBody>
      </p:sp>
      <p:sp>
        <p:nvSpPr>
          <p:cNvPr id="17" name="bar"/>
          <p:cNvSpPr>
            <a:spLocks noGrp="1"/>
          </p:cNvSpPr>
          <p:nvPr/>
        </p:nvSpPr>
        <p:spPr>
          <a:xfrm>
            <a:off x="1371600" y="2121408"/>
            <a:ext cx="264261" cy="402336"/>
          </a:xfrm>
          <a:prstGeom prst="roundRect">
            <a:avLst>
              <a:gd name="adj" fmla="val 8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18" name="pct"/>
          <p:cNvSpPr txBox="1">
            <a:spLocks noGrp="1"/>
          </p:cNvSpPr>
          <p:nvPr/>
        </p:nvSpPr>
        <p:spPr>
          <a:xfrm>
            <a:off x="1727301" y="2121408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8.5%</a:t>
            </a:r>
          </a:p>
        </p:txBody>
      </p:sp>
      <p:sp>
        <p:nvSpPr>
          <p:cNvPr id="19" name="nl"/>
          <p:cNvSpPr txBox="1">
            <a:spLocks noGrp="1"/>
          </p:cNvSpPr>
          <p:nvPr/>
        </p:nvSpPr>
        <p:spPr>
          <a:xfrm>
            <a:off x="320040" y="2596896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50" b="1" dirty="0">
                <a:solidFill>
                  <a:srgbClr val="0D1B5E"/>
                </a:solidFill>
                <a:latin typeface="Calibri"/>
              </a:rPr>
              <a:t>Ivanti</a:t>
            </a:r>
          </a:p>
        </p:txBody>
      </p:sp>
      <p:sp>
        <p:nvSpPr>
          <p:cNvPr id="20" name="bar"/>
          <p:cNvSpPr>
            <a:spLocks noGrp="1"/>
          </p:cNvSpPr>
          <p:nvPr/>
        </p:nvSpPr>
        <p:spPr>
          <a:xfrm>
            <a:off x="1371600" y="2596896"/>
            <a:ext cx="192755" cy="402336"/>
          </a:xfrm>
          <a:prstGeom prst="roundRect">
            <a:avLst>
              <a:gd name="adj" fmla="val 8000"/>
            </a:avLst>
          </a:prstGeom>
          <a:solidFill>
            <a:srgbClr val="1F6FBA"/>
          </a:solidFill>
          <a:ln>
            <a:noFill/>
          </a:ln>
        </p:spPr>
      </p:sp>
      <p:sp>
        <p:nvSpPr>
          <p:cNvPr id="21" name="pct"/>
          <p:cNvSpPr txBox="1">
            <a:spLocks noGrp="1"/>
          </p:cNvSpPr>
          <p:nvPr/>
        </p:nvSpPr>
        <p:spPr>
          <a:xfrm>
            <a:off x="1655795" y="2596896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6.2%</a:t>
            </a:r>
          </a:p>
        </p:txBody>
      </p:sp>
      <p:sp>
        <p:nvSpPr>
          <p:cNvPr id="22" name="nl"/>
          <p:cNvSpPr txBox="1">
            <a:spLocks noGrp="1"/>
          </p:cNvSpPr>
          <p:nvPr/>
        </p:nvSpPr>
        <p:spPr>
          <a:xfrm>
            <a:off x="320040" y="3072384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50" b="1" dirty="0">
                <a:solidFill>
                  <a:srgbClr val="0D1B5E"/>
                </a:solidFill>
                <a:latin typeface="Calibri"/>
              </a:rPr>
              <a:t>Freshworks</a:t>
            </a:r>
          </a:p>
        </p:txBody>
      </p:sp>
      <p:sp>
        <p:nvSpPr>
          <p:cNvPr id="23" name="bar"/>
          <p:cNvSpPr>
            <a:spLocks noGrp="1"/>
          </p:cNvSpPr>
          <p:nvPr/>
        </p:nvSpPr>
        <p:spPr>
          <a:xfrm>
            <a:off x="1371600" y="3072384"/>
            <a:ext cx="180319" cy="402336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</p:spPr>
      </p:sp>
      <p:sp>
        <p:nvSpPr>
          <p:cNvPr id="24" name="pct"/>
          <p:cNvSpPr txBox="1">
            <a:spLocks noGrp="1"/>
          </p:cNvSpPr>
          <p:nvPr/>
        </p:nvSpPr>
        <p:spPr>
          <a:xfrm>
            <a:off x="1643359" y="3072384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5.8%</a:t>
            </a:r>
          </a:p>
        </p:txBody>
      </p:sp>
      <p:sp>
        <p:nvSpPr>
          <p:cNvPr id="25" name="nl"/>
          <p:cNvSpPr txBox="1">
            <a:spLocks noGrp="1"/>
          </p:cNvSpPr>
          <p:nvPr/>
        </p:nvSpPr>
        <p:spPr>
          <a:xfrm>
            <a:off x="320040" y="3547872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50" b="1" dirty="0">
                <a:solidFill>
                  <a:srgbClr val="0D1B5E"/>
                </a:solidFill>
                <a:latin typeface="Calibri"/>
              </a:rPr>
              <a:t>Otros</a:t>
            </a:r>
          </a:p>
        </p:txBody>
      </p:sp>
      <p:sp>
        <p:nvSpPr>
          <p:cNvPr id="26" name="bar"/>
          <p:cNvSpPr>
            <a:spLocks noGrp="1"/>
          </p:cNvSpPr>
          <p:nvPr/>
        </p:nvSpPr>
        <p:spPr>
          <a:xfrm>
            <a:off x="1371600" y="3547872"/>
            <a:ext cx="708842" cy="402336"/>
          </a:xfrm>
          <a:prstGeom prst="roundRect">
            <a:avLst>
              <a:gd name="adj" fmla="val 8000"/>
            </a:avLst>
          </a:prstGeom>
          <a:solidFill>
            <a:srgbClr val="D1D5DB"/>
          </a:solidFill>
          <a:ln>
            <a:noFill/>
          </a:ln>
        </p:spPr>
      </p:sp>
      <p:sp>
        <p:nvSpPr>
          <p:cNvPr id="27" name="pct"/>
          <p:cNvSpPr txBox="1">
            <a:spLocks noGrp="1"/>
          </p:cNvSpPr>
          <p:nvPr/>
        </p:nvSpPr>
        <p:spPr>
          <a:xfrm>
            <a:off x="2171882" y="3547872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22.8%</a:t>
            </a:r>
          </a:p>
        </p:txBody>
      </p:sp>
      <p:sp>
        <p:nvSpPr>
          <p:cNvPr id="30" name="mqhdr"/>
          <p:cNvSpPr>
            <a:spLocks noGrp="1"/>
          </p:cNvSpPr>
          <p:nvPr/>
        </p:nvSpPr>
        <p:spPr>
          <a:xfrm>
            <a:off x="3977639" y="841248"/>
            <a:ext cx="4023360" cy="256032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31" name="mqhdrtxt"/>
          <p:cNvSpPr txBox="1">
            <a:spLocks noGrp="1"/>
          </p:cNvSpPr>
          <p:nvPr/>
        </p:nvSpPr>
        <p:spPr>
          <a:xfrm>
            <a:off x="3977639" y="841248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FFFFFF"/>
                </a:solidFill>
                <a:latin typeface="Calibri"/>
              </a:rPr>
              <a:t>MQ AI Applications in ITSM 2025</a:t>
            </a:r>
          </a:p>
        </p:txBody>
      </p:sp>
      <p:sp>
        <p:nvSpPr>
          <p:cNvPr id="40" name="cbg"/>
          <p:cNvSpPr>
            <a:spLocks noGrp="1"/>
          </p:cNvSpPr>
          <p:nvPr/>
        </p:nvSpPr>
        <p:spPr>
          <a:xfrm>
            <a:off x="3977639" y="1170432"/>
            <a:ext cx="4023360" cy="786384"/>
          </a:xfrm>
          <a:prstGeom prst="roundRect">
            <a:avLst>
              <a:gd name="adj" fmla="val 10000"/>
            </a:avLst>
          </a:prstGeom>
          <a:solidFill>
            <a:srgbClr val="E8F5EE"/>
          </a:solidFill>
          <a:ln w="12700">
            <a:solidFill>
              <a:srgbClr val="1A6B3C"/>
            </a:solidFill>
          </a:ln>
        </p:spPr>
      </p:sp>
      <p:sp>
        <p:nvSpPr>
          <p:cNvPr id="41" name="cbar"/>
          <p:cNvSpPr>
            <a:spLocks noGrp="1"/>
          </p:cNvSpPr>
          <p:nvPr/>
        </p:nvSpPr>
        <p:spPr>
          <a:xfrm>
            <a:off x="3977639" y="1170432"/>
            <a:ext cx="73152" cy="786384"/>
          </a:xfrm>
          <a:prstGeom prst="roundRect">
            <a:avLst>
              <a:gd name="adj" fmla="val 10000"/>
            </a:avLst>
          </a:prstGeom>
          <a:solidFill>
            <a:srgbClr val="1A6B3C"/>
          </a:solidFill>
          <a:ln>
            <a:noFill/>
          </a:ln>
        </p:spPr>
      </p:sp>
      <p:sp>
        <p:nvSpPr>
          <p:cNvPr id="42" name="ccuad"/>
          <p:cNvSpPr txBox="1">
            <a:spLocks noGrp="1"/>
          </p:cNvSpPr>
          <p:nvPr/>
        </p:nvSpPr>
        <p:spPr>
          <a:xfrm>
            <a:off x="4096512" y="1207008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20" b="1" dirty="0">
                <a:solidFill>
                  <a:srgbClr val="1A6B3C"/>
                </a:solidFill>
                <a:latin typeface="Calibri"/>
              </a:rPr>
              <a:t>Líder</a:t>
            </a:r>
          </a:p>
        </p:txBody>
      </p:sp>
      <p:sp>
        <p:nvSpPr>
          <p:cNvPr id="43" name="cvendor"/>
          <p:cNvSpPr txBox="1">
            <a:spLocks noGrp="1"/>
          </p:cNvSpPr>
          <p:nvPr/>
        </p:nvSpPr>
        <p:spPr>
          <a:xfrm>
            <a:off x="4096512" y="1463040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50" b="1" dirty="0">
                <a:solidFill>
                  <a:srgbClr val="1A6B3C"/>
                </a:solidFill>
                <a:latin typeface="Calibri"/>
              </a:rPr>
              <a:t>ServiceNow</a:t>
            </a:r>
          </a:p>
        </p:txBody>
      </p:sp>
      <p:sp>
        <p:nvSpPr>
          <p:cNvPr id="44" name="cdesc"/>
          <p:cNvSpPr txBox="1">
            <a:spLocks noGrp="1"/>
          </p:cNvSpPr>
          <p:nvPr/>
        </p:nvSpPr>
        <p:spPr>
          <a:xfrm>
            <a:off x="5340096" y="1207008"/>
            <a:ext cx="260604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40" dirty="0">
                <a:solidFill>
                  <a:srgbClr val="333333"/>
                </a:solidFill>
                <a:latin typeface="Calibri"/>
              </a:rPr>
              <a:t>Único Líder · Arquitectura IA en 3 niveles · 44.4% cuota · AIOps predictivo</a:t>
            </a:r>
          </a:p>
        </p:txBody>
      </p:sp>
      <p:sp>
        <p:nvSpPr>
          <p:cNvPr id="8" name="cbg"/>
          <p:cNvSpPr>
            <a:spLocks noGrp="1"/>
          </p:cNvSpPr>
          <p:nvPr/>
        </p:nvSpPr>
        <p:spPr>
          <a:xfrm>
            <a:off x="3977639" y="2029968"/>
            <a:ext cx="4023360" cy="786384"/>
          </a:xfrm>
          <a:prstGeom prst="roundRect">
            <a:avLst>
              <a:gd name="adj" fmla="val 10000"/>
            </a:avLst>
          </a:prstGeom>
          <a:solidFill>
            <a:srgbClr val="EBF3FF"/>
          </a:solidFill>
          <a:ln w="12700">
            <a:solidFill>
              <a:srgbClr val="1A3A8F"/>
            </a:solidFill>
          </a:ln>
        </p:spPr>
      </p:sp>
      <p:sp>
        <p:nvSpPr>
          <p:cNvPr id="45" name="cbar"/>
          <p:cNvSpPr>
            <a:spLocks noGrp="1"/>
          </p:cNvSpPr>
          <p:nvPr/>
        </p:nvSpPr>
        <p:spPr>
          <a:xfrm>
            <a:off x="3977639" y="2029968"/>
            <a:ext cx="73152" cy="786384"/>
          </a:xfrm>
          <a:prstGeom prst="roundRect">
            <a:avLst>
              <a:gd name="adj" fmla="val 10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46" name="ccuad"/>
          <p:cNvSpPr txBox="1">
            <a:spLocks noGrp="1"/>
          </p:cNvSpPr>
          <p:nvPr/>
        </p:nvSpPr>
        <p:spPr>
          <a:xfrm>
            <a:off x="4096512" y="2066544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20" b="1" dirty="0">
                <a:solidFill>
                  <a:srgbClr val="1A3A8F"/>
                </a:solidFill>
                <a:latin typeface="Calibri"/>
              </a:rPr>
              <a:t>Visionario</a:t>
            </a:r>
          </a:p>
        </p:txBody>
      </p:sp>
      <p:sp>
        <p:nvSpPr>
          <p:cNvPr id="47" name="cvendor"/>
          <p:cNvSpPr txBox="1">
            <a:spLocks noGrp="1"/>
          </p:cNvSpPr>
          <p:nvPr/>
        </p:nvSpPr>
        <p:spPr>
          <a:xfrm>
            <a:off x="4096512" y="2322576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50" b="1" dirty="0">
                <a:solidFill>
                  <a:srgbClr val="1A3A8F"/>
                </a:solidFill>
                <a:latin typeface="Calibri"/>
              </a:rPr>
              <a:t>BMC Helix</a:t>
            </a:r>
          </a:p>
        </p:txBody>
      </p:sp>
      <p:sp>
        <p:nvSpPr>
          <p:cNvPr id="48" name="cdesc"/>
          <p:cNvSpPr txBox="1">
            <a:spLocks noGrp="1"/>
          </p:cNvSpPr>
          <p:nvPr/>
        </p:nvSpPr>
        <p:spPr>
          <a:xfrm>
            <a:off x="5340096" y="2066544"/>
            <a:ext cx="260604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40" dirty="0">
                <a:solidFill>
                  <a:srgbClr val="333333"/>
                </a:solidFill>
                <a:latin typeface="Calibri"/>
              </a:rPr>
              <a:t>Ascendió desde Niche · IA embebida en todas las capas</a:t>
            </a:r>
          </a:p>
        </p:txBody>
      </p:sp>
      <p:sp>
        <p:nvSpPr>
          <p:cNvPr id="9" name="cbg"/>
          <p:cNvSpPr>
            <a:spLocks noGrp="1"/>
          </p:cNvSpPr>
          <p:nvPr/>
        </p:nvSpPr>
        <p:spPr>
          <a:xfrm>
            <a:off x="3977639" y="2889504"/>
            <a:ext cx="4023360" cy="786384"/>
          </a:xfrm>
          <a:prstGeom prst="roundRect">
            <a:avLst>
              <a:gd name="adj" fmla="val 10000"/>
            </a:avLst>
          </a:prstGeom>
          <a:solidFill>
            <a:srgbClr val="E8F2FF"/>
          </a:solidFill>
          <a:ln w="12700">
            <a:solidFill>
              <a:srgbClr val="1F6FBA"/>
            </a:solidFill>
          </a:ln>
        </p:spPr>
      </p:sp>
      <p:sp>
        <p:nvSpPr>
          <p:cNvPr id="49" name="cbar"/>
          <p:cNvSpPr>
            <a:spLocks noGrp="1"/>
          </p:cNvSpPr>
          <p:nvPr/>
        </p:nvSpPr>
        <p:spPr>
          <a:xfrm>
            <a:off x="3977639" y="2889504"/>
            <a:ext cx="73152" cy="786384"/>
          </a:xfrm>
          <a:prstGeom prst="roundRect">
            <a:avLst>
              <a:gd name="adj" fmla="val 10000"/>
            </a:avLst>
          </a:prstGeom>
          <a:solidFill>
            <a:srgbClr val="1F6FBA"/>
          </a:solidFill>
          <a:ln>
            <a:noFill/>
          </a:ln>
        </p:spPr>
      </p:sp>
      <p:sp>
        <p:nvSpPr>
          <p:cNvPr id="50" name="ccuad"/>
          <p:cNvSpPr txBox="1">
            <a:spLocks noGrp="1"/>
          </p:cNvSpPr>
          <p:nvPr/>
        </p:nvSpPr>
        <p:spPr>
          <a:xfrm>
            <a:off x="4096512" y="292608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20" b="1" dirty="0">
                <a:solidFill>
                  <a:srgbClr val="1F6FBA"/>
                </a:solidFill>
                <a:latin typeface="Calibri"/>
              </a:rPr>
              <a:t>Challenger</a:t>
            </a:r>
          </a:p>
        </p:txBody>
      </p:sp>
      <p:sp>
        <p:nvSpPr>
          <p:cNvPr id="51" name="cvendor"/>
          <p:cNvSpPr txBox="1">
            <a:spLocks noGrp="1"/>
          </p:cNvSpPr>
          <p:nvPr/>
        </p:nvSpPr>
        <p:spPr>
          <a:xfrm>
            <a:off x="4096512" y="3182112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50" b="1" dirty="0">
                <a:solidFill>
                  <a:srgbClr val="1F6FBA"/>
                </a:solidFill>
                <a:latin typeface="Calibri"/>
              </a:rPr>
              <a:t>Moveworks</a:t>
            </a:r>
          </a:p>
        </p:txBody>
      </p:sp>
      <p:sp>
        <p:nvSpPr>
          <p:cNvPr id="52" name="cdesc"/>
          <p:cNvSpPr txBox="1">
            <a:spLocks noGrp="1"/>
          </p:cNvSpPr>
          <p:nvPr/>
        </p:nvSpPr>
        <p:spPr>
          <a:xfrm>
            <a:off x="5340096" y="2926080"/>
            <a:ext cx="260604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40" dirty="0">
                <a:solidFill>
                  <a:srgbClr val="333333"/>
                </a:solidFill>
                <a:latin typeface="Calibri"/>
              </a:rPr>
              <a:t>GenAI conversacional · Resolución autónoma multinivel</a:t>
            </a:r>
          </a:p>
        </p:txBody>
      </p:sp>
      <p:sp>
        <p:nvSpPr>
          <p:cNvPr id="28" name="cbg"/>
          <p:cNvSpPr>
            <a:spLocks noGrp="1"/>
          </p:cNvSpPr>
          <p:nvPr/>
        </p:nvSpPr>
        <p:spPr>
          <a:xfrm>
            <a:off x="3977639" y="3749040"/>
            <a:ext cx="4023360" cy="786384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6B7280"/>
            </a:solidFill>
          </a:ln>
        </p:spPr>
      </p:sp>
      <p:sp>
        <p:nvSpPr>
          <p:cNvPr id="53" name="cbar"/>
          <p:cNvSpPr>
            <a:spLocks noGrp="1"/>
          </p:cNvSpPr>
          <p:nvPr/>
        </p:nvSpPr>
        <p:spPr>
          <a:xfrm>
            <a:off x="3977639" y="3749040"/>
            <a:ext cx="73152" cy="786384"/>
          </a:xfrm>
          <a:prstGeom prst="roundRect">
            <a:avLst>
              <a:gd name="adj" fmla="val 10000"/>
            </a:avLst>
          </a:prstGeom>
          <a:solidFill>
            <a:srgbClr val="6B7280"/>
          </a:solidFill>
          <a:ln>
            <a:noFill/>
          </a:ln>
        </p:spPr>
      </p:sp>
      <p:sp>
        <p:nvSpPr>
          <p:cNvPr id="54" name="ccuad"/>
          <p:cNvSpPr txBox="1">
            <a:spLocks noGrp="1"/>
          </p:cNvSpPr>
          <p:nvPr/>
        </p:nvSpPr>
        <p:spPr>
          <a:xfrm>
            <a:off x="4096512" y="3785616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20" b="1" dirty="0">
                <a:solidFill>
                  <a:srgbClr val="6B7280"/>
                </a:solidFill>
                <a:latin typeface="Calibri"/>
              </a:rPr>
              <a:t>Niche Players</a:t>
            </a:r>
          </a:p>
        </p:txBody>
      </p:sp>
      <p:sp>
        <p:nvSpPr>
          <p:cNvPr id="55" name="cvendor"/>
          <p:cNvSpPr txBox="1">
            <a:spLocks noGrp="1"/>
          </p:cNvSpPr>
          <p:nvPr/>
        </p:nvSpPr>
        <p:spPr>
          <a:xfrm>
            <a:off x="4096512" y="4041648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50" b="1" dirty="0">
                <a:solidFill>
                  <a:srgbClr val="6B7280"/>
                </a:solidFill>
                <a:latin typeface="Calibri"/>
              </a:rPr>
              <a:t>Atlassian · ManageEngine
SysAid · Freshworks · SymphonyAI</a:t>
            </a:r>
          </a:p>
        </p:txBody>
      </p:sp>
      <p:sp>
        <p:nvSpPr>
          <p:cNvPr id="56" name="cdesc"/>
          <p:cNvSpPr txBox="1">
            <a:spLocks noGrp="1"/>
          </p:cNvSpPr>
          <p:nvPr/>
        </p:nvSpPr>
        <p:spPr>
          <a:xfrm>
            <a:off x="5340096" y="3785616"/>
            <a:ext cx="260604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40" dirty="0">
                <a:solidFill>
                  <a:srgbClr val="333333"/>
                </a:solidFill>
                <a:latin typeface="Calibri"/>
              </a:rPr>
              <a:t>Capacidades específicas · Mercados particulares · Precio competitivo</a:t>
            </a:r>
          </a:p>
        </p:txBody>
      </p:sp>
      <p:sp>
        <p:nvSpPr>
          <p:cNvPr id="70" name="caphdr"/>
          <p:cNvSpPr>
            <a:spLocks noGrp="1"/>
          </p:cNvSpPr>
          <p:nvPr/>
        </p:nvSpPr>
        <p:spPr>
          <a:xfrm>
            <a:off x="320040" y="3767328"/>
            <a:ext cx="7680960" cy="237744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71" name="caphdrtxt"/>
          <p:cNvSpPr txBox="1">
            <a:spLocks noGrp="1"/>
          </p:cNvSpPr>
          <p:nvPr/>
        </p:nvSpPr>
        <p:spPr>
          <a:xfrm>
            <a:off x="320040" y="3767328"/>
            <a:ext cx="7680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20" b="1" dirty="0">
                <a:solidFill>
                  <a:srgbClr val="FFFFFF"/>
                </a:solidFill>
                <a:latin typeface="Calibri"/>
              </a:rPr>
              <a:t>9 CAPACIDADES CRÍTICAS DE IA EVALUADAS POR GARTNER — un producto debe incluir mínimo 5 para calificar</a:t>
            </a:r>
          </a:p>
        </p:txBody>
      </p:sp>
      <p:sp>
        <p:nvSpPr>
          <p:cNvPr id="80" name="cap"/>
          <p:cNvSpPr txBox="1">
            <a:spLocks noGrp="1"/>
          </p:cNvSpPr>
          <p:nvPr/>
        </p:nvSpPr>
        <p:spPr>
          <a:xfrm>
            <a:off x="320040" y="4059936"/>
            <a:ext cx="24871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 dirty="0">
                <a:solidFill>
                  <a:srgbClr val="0D1B5E"/>
                </a:solidFill>
                <a:latin typeface="Calibri"/>
              </a:rPr>
              <a:t>① Agente virtual soporte</a:t>
            </a:r>
          </a:p>
        </p:txBody>
      </p:sp>
      <p:sp>
        <p:nvSpPr>
          <p:cNvPr id="81" name="cap"/>
          <p:cNvSpPr txBox="1">
            <a:spLocks noGrp="1"/>
          </p:cNvSpPr>
          <p:nvPr/>
        </p:nvSpPr>
        <p:spPr>
          <a:xfrm>
            <a:off x="2880360" y="4059936"/>
            <a:ext cx="24871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 dirty="0">
                <a:solidFill>
                  <a:srgbClr val="0D1B5E"/>
                </a:solidFill>
                <a:latin typeface="Calibri"/>
              </a:rPr>
              <a:t>② Descubrimiento conocimiento</a:t>
            </a:r>
          </a:p>
        </p:txBody>
      </p:sp>
      <p:sp>
        <p:nvSpPr>
          <p:cNvPr id="82" name="cap"/>
          <p:cNvSpPr txBox="1">
            <a:spLocks noGrp="1"/>
          </p:cNvSpPr>
          <p:nvPr/>
        </p:nvSpPr>
        <p:spPr>
          <a:xfrm>
            <a:off x="5440680" y="4059936"/>
            <a:ext cx="24871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 dirty="0">
                <a:solidFill>
                  <a:srgbClr val="0D1B5E"/>
                </a:solidFill>
                <a:latin typeface="Calibri"/>
              </a:rPr>
              <a:t>③ Escalamiento inteligente</a:t>
            </a:r>
          </a:p>
        </p:txBody>
      </p:sp>
      <p:sp>
        <p:nvSpPr>
          <p:cNvPr id="83" name="cap"/>
          <p:cNvSpPr txBox="1">
            <a:spLocks noGrp="1"/>
          </p:cNvSpPr>
          <p:nvPr/>
        </p:nvSpPr>
        <p:spPr>
          <a:xfrm>
            <a:off x="320040" y="4297680"/>
            <a:ext cx="24871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 dirty="0">
                <a:solidFill>
                  <a:srgbClr val="0D1B5E"/>
                </a:solidFill>
                <a:latin typeface="Calibri"/>
              </a:rPr>
              <a:t>④ Asesoría riesgo cambios</a:t>
            </a:r>
          </a:p>
        </p:txBody>
      </p:sp>
      <p:sp>
        <p:nvSpPr>
          <p:cNvPr id="84" name="cap"/>
          <p:cNvSpPr txBox="1">
            <a:spLocks noGrp="1"/>
          </p:cNvSpPr>
          <p:nvPr/>
        </p:nvSpPr>
        <p:spPr>
          <a:xfrm>
            <a:off x="2880360" y="4297680"/>
            <a:ext cx="24871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 dirty="0">
                <a:solidFill>
                  <a:srgbClr val="0D1B5E"/>
                </a:solidFill>
                <a:latin typeface="Calibri"/>
              </a:rPr>
              <a:t>⑤ Triage inteligente</a:t>
            </a:r>
          </a:p>
        </p:txBody>
      </p:sp>
      <p:sp>
        <p:nvSpPr>
          <p:cNvPr id="85" name="cap"/>
          <p:cNvSpPr txBox="1">
            <a:spLocks noGrp="1"/>
          </p:cNvSpPr>
          <p:nvPr/>
        </p:nvSpPr>
        <p:spPr>
          <a:xfrm>
            <a:off x="5440680" y="4297680"/>
            <a:ext cx="24871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 dirty="0">
                <a:solidFill>
                  <a:srgbClr val="0D1B5E"/>
                </a:solidFill>
                <a:latin typeface="Calibri"/>
              </a:rPr>
              <a:t>⑥ Categorización IA</a:t>
            </a:r>
          </a:p>
        </p:txBody>
      </p:sp>
      <p:sp>
        <p:nvSpPr>
          <p:cNvPr id="86" name="cap"/>
          <p:cNvSpPr txBox="1">
            <a:spLocks noGrp="1"/>
          </p:cNvSpPr>
          <p:nvPr/>
        </p:nvSpPr>
        <p:spPr>
          <a:xfrm>
            <a:off x="320040" y="4535424"/>
            <a:ext cx="24871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 dirty="0">
                <a:solidFill>
                  <a:srgbClr val="0D1B5E"/>
                </a:solidFill>
                <a:latin typeface="Calibri"/>
              </a:rPr>
              <a:t>⑦ Swarming de expertos</a:t>
            </a:r>
          </a:p>
        </p:txBody>
      </p:sp>
      <p:sp>
        <p:nvSpPr>
          <p:cNvPr id="87" name="cap"/>
          <p:cNvSpPr txBox="1">
            <a:spLocks noGrp="1"/>
          </p:cNvSpPr>
          <p:nvPr/>
        </p:nvSpPr>
        <p:spPr>
          <a:xfrm>
            <a:off x="2880360" y="4535424"/>
            <a:ext cx="24871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 dirty="0">
                <a:solidFill>
                  <a:srgbClr val="0D1B5E"/>
                </a:solidFill>
                <a:latin typeface="Calibri"/>
              </a:rPr>
              <a:t>⑧ Detección incidentes P1</a:t>
            </a:r>
          </a:p>
        </p:txBody>
      </p:sp>
      <p:sp>
        <p:nvSpPr>
          <p:cNvPr id="88" name="cap"/>
          <p:cNvSpPr txBox="1">
            <a:spLocks noGrp="1"/>
          </p:cNvSpPr>
          <p:nvPr/>
        </p:nvSpPr>
        <p:spPr>
          <a:xfrm>
            <a:off x="5440680" y="4535424"/>
            <a:ext cx="24871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 dirty="0">
                <a:solidFill>
                  <a:srgbClr val="0D1B5E"/>
                </a:solidFill>
                <a:latin typeface="Calibri"/>
              </a:rPr>
              <a:t>⑨ Detección causa raíz</a:t>
            </a:r>
          </a:p>
        </p:txBody>
      </p:sp>
      <p:sp>
        <p:nvSpPr>
          <p:cNvPr id="999" name="src"/>
          <p:cNvSpPr txBox="1">
            <a:spLocks noGrp="1"/>
          </p:cNvSpPr>
          <p:nvPr/>
        </p:nvSpPr>
        <p:spPr>
          <a:xfrm>
            <a:off x="320040" y="44622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2"/>
              </a:rPr>
              <a:t>Gartner MQ AI ITSM 2025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3"/>
              </a:rPr>
              <a:t>DataLunix MQ 2025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4"/>
              </a:rPr>
              <a:t>Apps Run The World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5"/>
              </a:rPr>
              <a:t>Synta Gartner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41C89-6334-9E35-5C50-DD710F42C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7 </a:t>
            </a:r>
            <a:r>
              <a:rPr lang="en-US" dirty="0" err="1"/>
              <a:t>Tendencias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definen</a:t>
            </a:r>
            <a:r>
              <a:rPr lang="en-US" dirty="0"/>
              <a:t> el Mercado</a:t>
            </a:r>
            <a:endParaRPr lang="es-CO" dirty="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D22B8986-269C-67DD-DEF3-53CE541F95E8}"/>
              </a:ext>
            </a:extLst>
          </p:cNvPr>
          <p:cNvSpPr/>
          <p:nvPr/>
        </p:nvSpPr>
        <p:spPr>
          <a:xfrm>
            <a:off x="148320" y="4617720"/>
            <a:ext cx="859536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Fuente: </a:t>
            </a:r>
            <a:r>
              <a:rPr lang="en-US" sz="750" u="sng" dirty="0">
                <a:solidFill>
                  <a:srgbClr val="8899BB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Dynatrace AI Observability Report 2025</a:t>
            </a:r>
            <a:r>
              <a:rPr lang="en-US" sz="750" dirty="0">
                <a:solidFill>
                  <a:srgbClr val="8899BB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Agentic AI Hype Cycle 2025</a:t>
            </a:r>
            <a:r>
              <a:rPr lang="en-US" sz="750" dirty="0">
                <a:solidFill>
                  <a:srgbClr val="8899BB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  ·  </a:t>
            </a:r>
            <a:r>
              <a:rPr lang="en-US" sz="750" u="sng" dirty="0" err="1">
                <a:solidFill>
                  <a:srgbClr val="8899BB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PeopleCert</a:t>
            </a:r>
            <a:r>
              <a:rPr lang="en-US" sz="750" u="sng" dirty="0">
                <a:solidFill>
                  <a:srgbClr val="8899BB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ITIL 4 AI Capability Model</a:t>
            </a:r>
            <a:r>
              <a:rPr lang="en-US" sz="750" dirty="0">
                <a:solidFill>
                  <a:srgbClr val="8899BB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TCS IT Services Market Trends 2026</a:t>
            </a:r>
            <a:endParaRPr lang="en-US" sz="750">
              <a:highlight>
                <a:srgbClr val="FFFF00"/>
              </a:highlight>
              <a:latin typeface="Calibri"/>
              <a:ea typeface="Calibri"/>
              <a:cs typeface="Calibri"/>
            </a:endParaRPr>
          </a:p>
        </p:txBody>
      </p:sp>
      <p:sp>
        <p:nvSpPr>
          <p:cNvPr id="33" name="Text 34">
            <a:extLst>
              <a:ext uri="{FF2B5EF4-FFF2-40B4-BE49-F238E27FC236}">
                <a16:creationId xmlns:a16="http://schemas.microsoft.com/office/drawing/2014/main" id="{AC08CA58-BE0E-84AE-41E1-DDE51A92D838}"/>
              </a:ext>
            </a:extLst>
          </p:cNvPr>
          <p:cNvSpPr/>
          <p:nvPr/>
        </p:nvSpPr>
        <p:spPr>
          <a:xfrm>
            <a:off x="8138160" y="486460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166BF15B-A6AF-9849-AE30-20DD569175B3}"/>
              </a:ext>
            </a:extLst>
          </p:cNvPr>
          <p:cNvSpPr/>
          <p:nvPr/>
        </p:nvSpPr>
        <p:spPr>
          <a:xfrm>
            <a:off x="320040" y="55363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D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Las fuerzas que dan forma a la mesa de servicios 2024-2026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5" name="tbg">
            <a:extLst>
              <a:ext uri="{FF2B5EF4-FFF2-40B4-BE49-F238E27FC236}">
                <a16:creationId xmlns:a16="http://schemas.microsoft.com/office/drawing/2014/main" id="{FEAD8A77-5435-8973-7E6C-5A1E6D7F2202}"/>
              </a:ext>
            </a:extLst>
          </p:cNvPr>
          <p:cNvSpPr>
            <a:spLocks noGrp="1"/>
          </p:cNvSpPr>
          <p:nvPr/>
        </p:nvSpPr>
        <p:spPr>
          <a:xfrm>
            <a:off x="320040" y="1065929"/>
            <a:ext cx="3840480" cy="74980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9525">
            <a:solidFill>
              <a:srgbClr val="D1D5DB"/>
            </a:solidFill>
          </a:ln>
        </p:spPr>
      </p:sp>
      <p:sp>
        <p:nvSpPr>
          <p:cNvPr id="37" name="nbg">
            <a:extLst>
              <a:ext uri="{FF2B5EF4-FFF2-40B4-BE49-F238E27FC236}">
                <a16:creationId xmlns:a16="http://schemas.microsoft.com/office/drawing/2014/main" id="{2DB27CB8-4295-3C92-B363-90F594ACE9CB}"/>
              </a:ext>
            </a:extLst>
          </p:cNvPr>
          <p:cNvSpPr>
            <a:spLocks noGrp="1"/>
          </p:cNvSpPr>
          <p:nvPr/>
        </p:nvSpPr>
        <p:spPr>
          <a:xfrm>
            <a:off x="320040" y="1065929"/>
            <a:ext cx="475488" cy="749808"/>
          </a:xfrm>
          <a:prstGeom prst="roundRect">
            <a:avLst>
              <a:gd name="adj" fmla="val 12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39" name="num">
            <a:extLst>
              <a:ext uri="{FF2B5EF4-FFF2-40B4-BE49-F238E27FC236}">
                <a16:creationId xmlns:a16="http://schemas.microsoft.com/office/drawing/2014/main" id="{0F31E9CD-97EF-E0BD-4040-E486FB6187FA}"/>
              </a:ext>
            </a:extLst>
          </p:cNvPr>
          <p:cNvSpPr txBox="1">
            <a:spLocks noGrp="1"/>
          </p:cNvSpPr>
          <p:nvPr/>
        </p:nvSpPr>
        <p:spPr>
          <a:xfrm>
            <a:off x="341811" y="1098586"/>
            <a:ext cx="475488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FFFFFF"/>
                </a:solidFill>
                <a:latin typeface="Reddit Sans"/>
                <a:ea typeface="Reddit Sans"/>
              </a:rPr>
              <a:t>01</a:t>
            </a:r>
          </a:p>
        </p:txBody>
      </p:sp>
      <p:sp>
        <p:nvSpPr>
          <p:cNvPr id="41" name="tit">
            <a:extLst>
              <a:ext uri="{FF2B5EF4-FFF2-40B4-BE49-F238E27FC236}">
                <a16:creationId xmlns:a16="http://schemas.microsoft.com/office/drawing/2014/main" id="{6550447D-F70A-D873-2B2F-81E1616604B9}"/>
              </a:ext>
            </a:extLst>
          </p:cNvPr>
          <p:cNvSpPr txBox="1">
            <a:spLocks noGrp="1"/>
          </p:cNvSpPr>
          <p:nvPr/>
        </p:nvSpPr>
        <p:spPr>
          <a:xfrm>
            <a:off x="850392" y="1148225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Reddit Sans"/>
                <a:ea typeface="Reddit Sans"/>
              </a:rPr>
              <a:t>GenAI como table stakes</a:t>
            </a:r>
          </a:p>
        </p:txBody>
      </p:sp>
      <p:sp>
        <p:nvSpPr>
          <p:cNvPr id="43" name="dsc">
            <a:extLst>
              <a:ext uri="{FF2B5EF4-FFF2-40B4-BE49-F238E27FC236}">
                <a16:creationId xmlns:a16="http://schemas.microsoft.com/office/drawing/2014/main" id="{E29898C9-6169-5B0A-51EA-F803B641CF7F}"/>
              </a:ext>
            </a:extLst>
          </p:cNvPr>
          <p:cNvSpPr txBox="1">
            <a:spLocks noGrp="1"/>
          </p:cNvSpPr>
          <p:nvPr/>
        </p:nvSpPr>
        <p:spPr>
          <a:xfrm>
            <a:off x="850392" y="1449977"/>
            <a:ext cx="32461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dirty="0">
                <a:solidFill>
                  <a:srgbClr val="6B7280"/>
                </a:solidFill>
                <a:latin typeface="Reddit Sans"/>
                <a:ea typeface="Reddit Sans"/>
              </a:rPr>
              <a:t>-26.6% MTTR  ·  +34.6% resolución con GenAI</a:t>
            </a:r>
          </a:p>
        </p:txBody>
      </p:sp>
      <p:sp>
        <p:nvSpPr>
          <p:cNvPr id="45" name="tbg">
            <a:extLst>
              <a:ext uri="{FF2B5EF4-FFF2-40B4-BE49-F238E27FC236}">
                <a16:creationId xmlns:a16="http://schemas.microsoft.com/office/drawing/2014/main" id="{5F375AE4-B285-4B15-47B5-86A71F4AEE7C}"/>
              </a:ext>
            </a:extLst>
          </p:cNvPr>
          <p:cNvSpPr>
            <a:spLocks noGrp="1"/>
          </p:cNvSpPr>
          <p:nvPr/>
        </p:nvSpPr>
        <p:spPr>
          <a:xfrm>
            <a:off x="4297680" y="1065929"/>
            <a:ext cx="3840480" cy="74980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9525">
            <a:solidFill>
              <a:srgbClr val="D1D5DB"/>
            </a:solidFill>
          </a:ln>
        </p:spPr>
      </p:sp>
      <p:sp>
        <p:nvSpPr>
          <p:cNvPr id="47" name="nbg">
            <a:extLst>
              <a:ext uri="{FF2B5EF4-FFF2-40B4-BE49-F238E27FC236}">
                <a16:creationId xmlns:a16="http://schemas.microsoft.com/office/drawing/2014/main" id="{9418D24B-59DF-E067-FB7B-69575481A626}"/>
              </a:ext>
            </a:extLst>
          </p:cNvPr>
          <p:cNvSpPr>
            <a:spLocks noGrp="1"/>
          </p:cNvSpPr>
          <p:nvPr/>
        </p:nvSpPr>
        <p:spPr>
          <a:xfrm>
            <a:off x="4297680" y="1065929"/>
            <a:ext cx="475488" cy="749808"/>
          </a:xfrm>
          <a:prstGeom prst="roundRect">
            <a:avLst>
              <a:gd name="adj" fmla="val 12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49" name="num">
            <a:extLst>
              <a:ext uri="{FF2B5EF4-FFF2-40B4-BE49-F238E27FC236}">
                <a16:creationId xmlns:a16="http://schemas.microsoft.com/office/drawing/2014/main" id="{CB81A769-21E3-BFCF-EDF5-8B3CC7A28FCD}"/>
              </a:ext>
            </a:extLst>
          </p:cNvPr>
          <p:cNvSpPr txBox="1">
            <a:spLocks noGrp="1"/>
          </p:cNvSpPr>
          <p:nvPr/>
        </p:nvSpPr>
        <p:spPr>
          <a:xfrm>
            <a:off x="4319451" y="1098586"/>
            <a:ext cx="475488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FFFFFF"/>
                </a:solidFill>
                <a:latin typeface="Reddit Sans"/>
                <a:ea typeface="Reddit Sans"/>
              </a:rPr>
              <a:t>02</a:t>
            </a:r>
          </a:p>
        </p:txBody>
      </p:sp>
      <p:sp>
        <p:nvSpPr>
          <p:cNvPr id="51" name="tit">
            <a:extLst>
              <a:ext uri="{FF2B5EF4-FFF2-40B4-BE49-F238E27FC236}">
                <a16:creationId xmlns:a16="http://schemas.microsoft.com/office/drawing/2014/main" id="{47A38AF1-910B-62DC-939E-7C76AA9C2F3A}"/>
              </a:ext>
            </a:extLst>
          </p:cNvPr>
          <p:cNvSpPr txBox="1">
            <a:spLocks noGrp="1"/>
          </p:cNvSpPr>
          <p:nvPr/>
        </p:nvSpPr>
        <p:spPr>
          <a:xfrm>
            <a:off x="4828032" y="1148225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Reddit Sans"/>
                <a:ea typeface="Reddit Sans"/>
              </a:rPr>
              <a:t>Agentic AI: del lab a producción</a:t>
            </a:r>
          </a:p>
        </p:txBody>
      </p:sp>
      <p:sp>
        <p:nvSpPr>
          <p:cNvPr id="53" name="dsc">
            <a:extLst>
              <a:ext uri="{FF2B5EF4-FFF2-40B4-BE49-F238E27FC236}">
                <a16:creationId xmlns:a16="http://schemas.microsoft.com/office/drawing/2014/main" id="{A63E870B-0656-7A9C-BD42-FA0395B0E5D1}"/>
              </a:ext>
            </a:extLst>
          </p:cNvPr>
          <p:cNvSpPr txBox="1">
            <a:spLocks noGrp="1"/>
          </p:cNvSpPr>
          <p:nvPr/>
        </p:nvSpPr>
        <p:spPr>
          <a:xfrm>
            <a:off x="4828032" y="1449977"/>
            <a:ext cx="32461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dirty="0">
                <a:solidFill>
                  <a:srgbClr val="6B7280"/>
                </a:solidFill>
                <a:latin typeface="Reddit Sans"/>
                <a:ea typeface="Reddit Sans"/>
              </a:rPr>
              <a:t>51% desplegada · solo 11% plena · &gt;40% proyectos cancelados en 2027</a:t>
            </a:r>
          </a:p>
        </p:txBody>
      </p:sp>
      <p:sp>
        <p:nvSpPr>
          <p:cNvPr id="55" name="tbg">
            <a:extLst>
              <a:ext uri="{FF2B5EF4-FFF2-40B4-BE49-F238E27FC236}">
                <a16:creationId xmlns:a16="http://schemas.microsoft.com/office/drawing/2014/main" id="{78ED7BD5-3328-1E86-1CD3-F3ABFB7D5EBC}"/>
              </a:ext>
            </a:extLst>
          </p:cNvPr>
          <p:cNvSpPr>
            <a:spLocks noGrp="1"/>
          </p:cNvSpPr>
          <p:nvPr/>
        </p:nvSpPr>
        <p:spPr>
          <a:xfrm>
            <a:off x="320040" y="1907177"/>
            <a:ext cx="3840480" cy="74980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9525">
            <a:solidFill>
              <a:srgbClr val="D1D5DB"/>
            </a:solidFill>
          </a:ln>
        </p:spPr>
      </p:sp>
      <p:sp>
        <p:nvSpPr>
          <p:cNvPr id="57" name="nbg">
            <a:extLst>
              <a:ext uri="{FF2B5EF4-FFF2-40B4-BE49-F238E27FC236}">
                <a16:creationId xmlns:a16="http://schemas.microsoft.com/office/drawing/2014/main" id="{5BC0A9C8-B806-46EB-BD6C-ED2E701953C3}"/>
              </a:ext>
            </a:extLst>
          </p:cNvPr>
          <p:cNvSpPr>
            <a:spLocks noGrp="1"/>
          </p:cNvSpPr>
          <p:nvPr/>
        </p:nvSpPr>
        <p:spPr>
          <a:xfrm>
            <a:off x="320040" y="1907177"/>
            <a:ext cx="475488" cy="749808"/>
          </a:xfrm>
          <a:prstGeom prst="roundRect">
            <a:avLst>
              <a:gd name="adj" fmla="val 12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59" name="num">
            <a:extLst>
              <a:ext uri="{FF2B5EF4-FFF2-40B4-BE49-F238E27FC236}">
                <a16:creationId xmlns:a16="http://schemas.microsoft.com/office/drawing/2014/main" id="{D8562C94-6B4C-8925-E7C7-2C331F3EB62A}"/>
              </a:ext>
            </a:extLst>
          </p:cNvPr>
          <p:cNvSpPr txBox="1">
            <a:spLocks noGrp="1"/>
          </p:cNvSpPr>
          <p:nvPr/>
        </p:nvSpPr>
        <p:spPr>
          <a:xfrm>
            <a:off x="341811" y="1939834"/>
            <a:ext cx="475488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FFFFFF"/>
                </a:solidFill>
                <a:latin typeface="Reddit Sans"/>
                <a:ea typeface="Reddit Sans"/>
              </a:rPr>
              <a:t>03</a:t>
            </a:r>
          </a:p>
        </p:txBody>
      </p:sp>
      <p:sp>
        <p:nvSpPr>
          <p:cNvPr id="61" name="tit">
            <a:extLst>
              <a:ext uri="{FF2B5EF4-FFF2-40B4-BE49-F238E27FC236}">
                <a16:creationId xmlns:a16="http://schemas.microsoft.com/office/drawing/2014/main" id="{A2DB0DF9-D904-E75C-93A4-CC1D7FC46BD0}"/>
              </a:ext>
            </a:extLst>
          </p:cNvPr>
          <p:cNvSpPr txBox="1">
            <a:spLocks noGrp="1"/>
          </p:cNvSpPr>
          <p:nvPr/>
        </p:nvSpPr>
        <p:spPr>
          <a:xfrm>
            <a:off x="850392" y="1989473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Reddit Sans"/>
                <a:ea typeface="Reddit Sans"/>
              </a:rPr>
              <a:t>KCS como prerrequisito</a:t>
            </a:r>
          </a:p>
        </p:txBody>
      </p:sp>
      <p:sp>
        <p:nvSpPr>
          <p:cNvPr id="63" name="dsc">
            <a:extLst>
              <a:ext uri="{FF2B5EF4-FFF2-40B4-BE49-F238E27FC236}">
                <a16:creationId xmlns:a16="http://schemas.microsoft.com/office/drawing/2014/main" id="{F769A8A7-3CF0-C2A0-FB61-F296A546B0FD}"/>
              </a:ext>
            </a:extLst>
          </p:cNvPr>
          <p:cNvSpPr txBox="1">
            <a:spLocks noGrp="1"/>
          </p:cNvSpPr>
          <p:nvPr/>
        </p:nvSpPr>
        <p:spPr>
          <a:xfrm>
            <a:off x="850392" y="2291225"/>
            <a:ext cx="32461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dirty="0">
                <a:solidFill>
                  <a:srgbClr val="6B7280"/>
                </a:solidFill>
                <a:latin typeface="Reddit Sans"/>
                <a:ea typeface="Reddit Sans"/>
              </a:rPr>
              <a:t>Datos validados previenen alucinaciones — base de IA confiable</a:t>
            </a:r>
          </a:p>
        </p:txBody>
      </p:sp>
      <p:sp>
        <p:nvSpPr>
          <p:cNvPr id="65" name="tbg">
            <a:extLst>
              <a:ext uri="{FF2B5EF4-FFF2-40B4-BE49-F238E27FC236}">
                <a16:creationId xmlns:a16="http://schemas.microsoft.com/office/drawing/2014/main" id="{CB97808D-A242-0907-4551-2A5994170ACB}"/>
              </a:ext>
            </a:extLst>
          </p:cNvPr>
          <p:cNvSpPr>
            <a:spLocks noGrp="1"/>
          </p:cNvSpPr>
          <p:nvPr/>
        </p:nvSpPr>
        <p:spPr>
          <a:xfrm>
            <a:off x="4297680" y="1907177"/>
            <a:ext cx="3840480" cy="74980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9525">
            <a:solidFill>
              <a:srgbClr val="D1D5DB"/>
            </a:solidFill>
          </a:ln>
        </p:spPr>
      </p:sp>
      <p:sp>
        <p:nvSpPr>
          <p:cNvPr id="67" name="nbg">
            <a:extLst>
              <a:ext uri="{FF2B5EF4-FFF2-40B4-BE49-F238E27FC236}">
                <a16:creationId xmlns:a16="http://schemas.microsoft.com/office/drawing/2014/main" id="{5E812209-F87E-832B-E09E-E60A053D8752}"/>
              </a:ext>
            </a:extLst>
          </p:cNvPr>
          <p:cNvSpPr>
            <a:spLocks noGrp="1"/>
          </p:cNvSpPr>
          <p:nvPr/>
        </p:nvSpPr>
        <p:spPr>
          <a:xfrm>
            <a:off x="4297680" y="1907177"/>
            <a:ext cx="475488" cy="749808"/>
          </a:xfrm>
          <a:prstGeom prst="roundRect">
            <a:avLst>
              <a:gd name="adj" fmla="val 12000"/>
            </a:avLst>
          </a:prstGeom>
          <a:solidFill>
            <a:srgbClr val="1F6FBA"/>
          </a:solidFill>
          <a:ln>
            <a:noFill/>
          </a:ln>
        </p:spPr>
      </p:sp>
      <p:sp>
        <p:nvSpPr>
          <p:cNvPr id="69" name="num">
            <a:extLst>
              <a:ext uri="{FF2B5EF4-FFF2-40B4-BE49-F238E27FC236}">
                <a16:creationId xmlns:a16="http://schemas.microsoft.com/office/drawing/2014/main" id="{1DF2AA28-B5D4-D0F2-E013-670761AFC094}"/>
              </a:ext>
            </a:extLst>
          </p:cNvPr>
          <p:cNvSpPr txBox="1">
            <a:spLocks noGrp="1"/>
          </p:cNvSpPr>
          <p:nvPr/>
        </p:nvSpPr>
        <p:spPr>
          <a:xfrm>
            <a:off x="4319451" y="1939834"/>
            <a:ext cx="475488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FFFFFF"/>
                </a:solidFill>
                <a:latin typeface="Reddit Sans"/>
                <a:ea typeface="Reddit Sans"/>
              </a:rPr>
              <a:t>04</a:t>
            </a:r>
          </a:p>
        </p:txBody>
      </p:sp>
      <p:sp>
        <p:nvSpPr>
          <p:cNvPr id="71" name="tit">
            <a:extLst>
              <a:ext uri="{FF2B5EF4-FFF2-40B4-BE49-F238E27FC236}">
                <a16:creationId xmlns:a16="http://schemas.microsoft.com/office/drawing/2014/main" id="{A42665E5-797C-554B-20C2-A8CE6D1D7E37}"/>
              </a:ext>
            </a:extLst>
          </p:cNvPr>
          <p:cNvSpPr txBox="1">
            <a:spLocks noGrp="1"/>
          </p:cNvSpPr>
          <p:nvPr/>
        </p:nvSpPr>
        <p:spPr>
          <a:xfrm>
            <a:off x="4828032" y="1989473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Reddit Sans"/>
                <a:ea typeface="Reddit Sans"/>
              </a:rPr>
              <a:t>Shift-Left con datos</a:t>
            </a:r>
          </a:p>
        </p:txBody>
      </p:sp>
      <p:sp>
        <p:nvSpPr>
          <p:cNvPr id="73" name="dsc">
            <a:extLst>
              <a:ext uri="{FF2B5EF4-FFF2-40B4-BE49-F238E27FC236}">
                <a16:creationId xmlns:a16="http://schemas.microsoft.com/office/drawing/2014/main" id="{0154591C-78F3-F179-7168-28460E8FB0F7}"/>
              </a:ext>
            </a:extLst>
          </p:cNvPr>
          <p:cNvSpPr txBox="1">
            <a:spLocks noGrp="1"/>
          </p:cNvSpPr>
          <p:nvPr/>
        </p:nvSpPr>
        <p:spPr>
          <a:xfrm>
            <a:off x="4828032" y="2291225"/>
            <a:ext cx="32461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dirty="0">
                <a:solidFill>
                  <a:srgbClr val="6B7280"/>
                </a:solidFill>
                <a:latin typeface="Reddit Sans"/>
                <a:ea typeface="Reddit Sans"/>
              </a:rPr>
              <a:t>N3: USD 104/ticket → N0: USD 2/ticket — cada deflección = ahorro medible</a:t>
            </a:r>
          </a:p>
        </p:txBody>
      </p:sp>
      <p:sp>
        <p:nvSpPr>
          <p:cNvPr id="75" name="tbg">
            <a:extLst>
              <a:ext uri="{FF2B5EF4-FFF2-40B4-BE49-F238E27FC236}">
                <a16:creationId xmlns:a16="http://schemas.microsoft.com/office/drawing/2014/main" id="{29A51720-7144-38BA-FBF5-D66AA162D09B}"/>
              </a:ext>
            </a:extLst>
          </p:cNvPr>
          <p:cNvSpPr>
            <a:spLocks noGrp="1"/>
          </p:cNvSpPr>
          <p:nvPr/>
        </p:nvSpPr>
        <p:spPr>
          <a:xfrm>
            <a:off x="320040" y="2748425"/>
            <a:ext cx="3840480" cy="74980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9525">
            <a:solidFill>
              <a:srgbClr val="D1D5DB"/>
            </a:solidFill>
          </a:ln>
        </p:spPr>
      </p:sp>
      <p:sp>
        <p:nvSpPr>
          <p:cNvPr id="77" name="nbg">
            <a:extLst>
              <a:ext uri="{FF2B5EF4-FFF2-40B4-BE49-F238E27FC236}">
                <a16:creationId xmlns:a16="http://schemas.microsoft.com/office/drawing/2014/main" id="{7B6EF073-B7E0-A645-C5A8-4F0AE6180677}"/>
              </a:ext>
            </a:extLst>
          </p:cNvPr>
          <p:cNvSpPr>
            <a:spLocks noGrp="1"/>
          </p:cNvSpPr>
          <p:nvPr/>
        </p:nvSpPr>
        <p:spPr>
          <a:xfrm>
            <a:off x="320040" y="2748425"/>
            <a:ext cx="475488" cy="749808"/>
          </a:xfrm>
          <a:prstGeom prst="roundRect">
            <a:avLst>
              <a:gd name="adj" fmla="val 12000"/>
            </a:avLst>
          </a:prstGeom>
          <a:solidFill>
            <a:srgbClr val="6B7280"/>
          </a:solidFill>
          <a:ln>
            <a:noFill/>
          </a:ln>
        </p:spPr>
      </p:sp>
      <p:sp>
        <p:nvSpPr>
          <p:cNvPr id="79" name="num">
            <a:extLst>
              <a:ext uri="{FF2B5EF4-FFF2-40B4-BE49-F238E27FC236}">
                <a16:creationId xmlns:a16="http://schemas.microsoft.com/office/drawing/2014/main" id="{C63AC77E-850D-B24C-4792-938E758199C6}"/>
              </a:ext>
            </a:extLst>
          </p:cNvPr>
          <p:cNvSpPr txBox="1">
            <a:spLocks noGrp="1"/>
          </p:cNvSpPr>
          <p:nvPr/>
        </p:nvSpPr>
        <p:spPr>
          <a:xfrm>
            <a:off x="341811" y="2781082"/>
            <a:ext cx="475488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FFFFFF"/>
                </a:solidFill>
                <a:latin typeface="Reddit Sans"/>
                <a:ea typeface="Reddit Sans"/>
              </a:rPr>
              <a:t>05</a:t>
            </a:r>
          </a:p>
        </p:txBody>
      </p:sp>
      <p:sp>
        <p:nvSpPr>
          <p:cNvPr id="81" name="tit">
            <a:extLst>
              <a:ext uri="{FF2B5EF4-FFF2-40B4-BE49-F238E27FC236}">
                <a16:creationId xmlns:a16="http://schemas.microsoft.com/office/drawing/2014/main" id="{EDEB4F0F-961F-2E4D-3160-6EA7D0243692}"/>
              </a:ext>
            </a:extLst>
          </p:cNvPr>
          <p:cNvSpPr txBox="1">
            <a:spLocks noGrp="1"/>
          </p:cNvSpPr>
          <p:nvPr/>
        </p:nvSpPr>
        <p:spPr>
          <a:xfrm>
            <a:off x="850392" y="2830721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Reddit Sans"/>
                <a:ea typeface="Reddit Sans"/>
              </a:rPr>
              <a:t>De SLA a Outcomes</a:t>
            </a:r>
          </a:p>
        </p:txBody>
      </p:sp>
      <p:sp>
        <p:nvSpPr>
          <p:cNvPr id="83" name="dsc">
            <a:extLst>
              <a:ext uri="{FF2B5EF4-FFF2-40B4-BE49-F238E27FC236}">
                <a16:creationId xmlns:a16="http://schemas.microsoft.com/office/drawing/2014/main" id="{9E8C207C-30A1-CCFC-9851-E81DD19A83C6}"/>
              </a:ext>
            </a:extLst>
          </p:cNvPr>
          <p:cNvSpPr txBox="1">
            <a:spLocks noGrp="1"/>
          </p:cNvSpPr>
          <p:nvPr/>
        </p:nvSpPr>
        <p:spPr>
          <a:xfrm>
            <a:off x="850392" y="3132473"/>
            <a:ext cx="32461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dirty="0">
                <a:solidFill>
                  <a:srgbClr val="6B7280"/>
                </a:solidFill>
                <a:latin typeface="Reddit Sans"/>
                <a:ea typeface="Reddit Sans"/>
              </a:rPr>
              <a:t>30% contratos TI enterprise serán outcome-based hacia 2029</a:t>
            </a:r>
          </a:p>
        </p:txBody>
      </p:sp>
      <p:sp>
        <p:nvSpPr>
          <p:cNvPr id="85" name="tbg">
            <a:extLst>
              <a:ext uri="{FF2B5EF4-FFF2-40B4-BE49-F238E27FC236}">
                <a16:creationId xmlns:a16="http://schemas.microsoft.com/office/drawing/2014/main" id="{FE9F5A36-BF1D-FF3B-5933-60DE217082EC}"/>
              </a:ext>
            </a:extLst>
          </p:cNvPr>
          <p:cNvSpPr>
            <a:spLocks noGrp="1"/>
          </p:cNvSpPr>
          <p:nvPr/>
        </p:nvSpPr>
        <p:spPr>
          <a:xfrm>
            <a:off x="4297680" y="2748425"/>
            <a:ext cx="3840480" cy="74980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9525">
            <a:solidFill>
              <a:srgbClr val="D1D5DB"/>
            </a:solidFill>
          </a:ln>
        </p:spPr>
      </p:sp>
      <p:sp>
        <p:nvSpPr>
          <p:cNvPr id="87" name="nbg">
            <a:extLst>
              <a:ext uri="{FF2B5EF4-FFF2-40B4-BE49-F238E27FC236}">
                <a16:creationId xmlns:a16="http://schemas.microsoft.com/office/drawing/2014/main" id="{35009AB2-2A4A-D430-C93D-47F679E2282C}"/>
              </a:ext>
            </a:extLst>
          </p:cNvPr>
          <p:cNvSpPr>
            <a:spLocks noGrp="1"/>
          </p:cNvSpPr>
          <p:nvPr/>
        </p:nvSpPr>
        <p:spPr>
          <a:xfrm>
            <a:off x="4297680" y="2748425"/>
            <a:ext cx="475488" cy="749808"/>
          </a:xfrm>
          <a:prstGeom prst="roundRect">
            <a:avLst>
              <a:gd name="adj" fmla="val 12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89" name="num">
            <a:extLst>
              <a:ext uri="{FF2B5EF4-FFF2-40B4-BE49-F238E27FC236}">
                <a16:creationId xmlns:a16="http://schemas.microsoft.com/office/drawing/2014/main" id="{F3E527D9-0A21-5705-80E1-74DE384F8B20}"/>
              </a:ext>
            </a:extLst>
          </p:cNvPr>
          <p:cNvSpPr txBox="1">
            <a:spLocks noGrp="1"/>
          </p:cNvSpPr>
          <p:nvPr/>
        </p:nvSpPr>
        <p:spPr>
          <a:xfrm>
            <a:off x="4319451" y="2781082"/>
            <a:ext cx="475488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FFFFFF"/>
                </a:solidFill>
                <a:latin typeface="Reddit Sans"/>
                <a:ea typeface="Reddit Sans"/>
              </a:rPr>
              <a:t>06</a:t>
            </a:r>
          </a:p>
        </p:txBody>
      </p:sp>
      <p:sp>
        <p:nvSpPr>
          <p:cNvPr id="91" name="tit">
            <a:extLst>
              <a:ext uri="{FF2B5EF4-FFF2-40B4-BE49-F238E27FC236}">
                <a16:creationId xmlns:a16="http://schemas.microsoft.com/office/drawing/2014/main" id="{40700858-4F67-0656-4021-88A43231BE46}"/>
              </a:ext>
            </a:extLst>
          </p:cNvPr>
          <p:cNvSpPr txBox="1">
            <a:spLocks noGrp="1"/>
          </p:cNvSpPr>
          <p:nvPr/>
        </p:nvSpPr>
        <p:spPr>
          <a:xfrm>
            <a:off x="4828032" y="2830721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Reddit Sans"/>
                <a:ea typeface="Reddit Sans"/>
              </a:rPr>
              <a:t>Observabilidad predictiva</a:t>
            </a:r>
          </a:p>
        </p:txBody>
      </p:sp>
      <p:sp>
        <p:nvSpPr>
          <p:cNvPr id="93" name="dsc">
            <a:extLst>
              <a:ext uri="{FF2B5EF4-FFF2-40B4-BE49-F238E27FC236}">
                <a16:creationId xmlns:a16="http://schemas.microsoft.com/office/drawing/2014/main" id="{CF143D6F-DE28-75B6-ABE8-46983A60DE08}"/>
              </a:ext>
            </a:extLst>
          </p:cNvPr>
          <p:cNvSpPr txBox="1">
            <a:spLocks noGrp="1"/>
          </p:cNvSpPr>
          <p:nvPr/>
        </p:nvSpPr>
        <p:spPr>
          <a:xfrm>
            <a:off x="4828032" y="3132473"/>
            <a:ext cx="32461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dirty="0">
                <a:solidFill>
                  <a:srgbClr val="6B7280"/>
                </a:solidFill>
                <a:latin typeface="Reddit Sans"/>
                <a:ea typeface="Reddit Sans"/>
              </a:rPr>
              <a:t>Mesa que detecta antes del reporte del usuario es invisible — en el mejor sentido</a:t>
            </a:r>
          </a:p>
        </p:txBody>
      </p:sp>
      <p:sp>
        <p:nvSpPr>
          <p:cNvPr id="95" name="tbg">
            <a:extLst>
              <a:ext uri="{FF2B5EF4-FFF2-40B4-BE49-F238E27FC236}">
                <a16:creationId xmlns:a16="http://schemas.microsoft.com/office/drawing/2014/main" id="{3903BF14-E4D2-8CBB-B1BB-2E375AD999CE}"/>
              </a:ext>
            </a:extLst>
          </p:cNvPr>
          <p:cNvSpPr>
            <a:spLocks noGrp="1"/>
          </p:cNvSpPr>
          <p:nvPr/>
        </p:nvSpPr>
        <p:spPr>
          <a:xfrm>
            <a:off x="320040" y="3589673"/>
            <a:ext cx="3840480" cy="74980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9525">
            <a:solidFill>
              <a:srgbClr val="D1D5DB"/>
            </a:solidFill>
          </a:ln>
        </p:spPr>
      </p:sp>
      <p:sp>
        <p:nvSpPr>
          <p:cNvPr id="97" name="nbg">
            <a:extLst>
              <a:ext uri="{FF2B5EF4-FFF2-40B4-BE49-F238E27FC236}">
                <a16:creationId xmlns:a16="http://schemas.microsoft.com/office/drawing/2014/main" id="{B6FA2DF3-D949-A861-A954-C8A9DE358EB4}"/>
              </a:ext>
            </a:extLst>
          </p:cNvPr>
          <p:cNvSpPr>
            <a:spLocks noGrp="1"/>
          </p:cNvSpPr>
          <p:nvPr/>
        </p:nvSpPr>
        <p:spPr>
          <a:xfrm>
            <a:off x="320040" y="3589673"/>
            <a:ext cx="475488" cy="749808"/>
          </a:xfrm>
          <a:prstGeom prst="roundRect">
            <a:avLst>
              <a:gd name="adj" fmla="val 12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99" name="num">
            <a:extLst>
              <a:ext uri="{FF2B5EF4-FFF2-40B4-BE49-F238E27FC236}">
                <a16:creationId xmlns:a16="http://schemas.microsoft.com/office/drawing/2014/main" id="{DA444C1A-F491-F1D0-764E-5FC1132486BF}"/>
              </a:ext>
            </a:extLst>
          </p:cNvPr>
          <p:cNvSpPr txBox="1">
            <a:spLocks noGrp="1"/>
          </p:cNvSpPr>
          <p:nvPr/>
        </p:nvSpPr>
        <p:spPr>
          <a:xfrm>
            <a:off x="341811" y="3622330"/>
            <a:ext cx="475488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FFFFFF"/>
                </a:solidFill>
                <a:latin typeface="Reddit Sans"/>
                <a:ea typeface="Reddit Sans"/>
              </a:rPr>
              <a:t>07</a:t>
            </a:r>
          </a:p>
        </p:txBody>
      </p:sp>
      <p:sp>
        <p:nvSpPr>
          <p:cNvPr id="101" name="tit">
            <a:extLst>
              <a:ext uri="{FF2B5EF4-FFF2-40B4-BE49-F238E27FC236}">
                <a16:creationId xmlns:a16="http://schemas.microsoft.com/office/drawing/2014/main" id="{7072CD12-1D2F-819C-9D82-6EF1A23170FD}"/>
              </a:ext>
            </a:extLst>
          </p:cNvPr>
          <p:cNvSpPr txBox="1">
            <a:spLocks noGrp="1"/>
          </p:cNvSpPr>
          <p:nvPr/>
        </p:nvSpPr>
        <p:spPr>
          <a:xfrm>
            <a:off x="850392" y="3671969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Reddit Sans"/>
                <a:ea typeface="Reddit Sans"/>
              </a:rPr>
              <a:t>ITIL v5 y gobernanza IA</a:t>
            </a:r>
          </a:p>
        </p:txBody>
      </p:sp>
      <p:sp>
        <p:nvSpPr>
          <p:cNvPr id="103" name="dsc">
            <a:extLst>
              <a:ext uri="{FF2B5EF4-FFF2-40B4-BE49-F238E27FC236}">
                <a16:creationId xmlns:a16="http://schemas.microsoft.com/office/drawing/2014/main" id="{E6A1C6E7-2F50-3C54-1311-4877D275D137}"/>
              </a:ext>
            </a:extLst>
          </p:cNvPr>
          <p:cNvSpPr txBox="1">
            <a:spLocks noGrp="1"/>
          </p:cNvSpPr>
          <p:nvPr/>
        </p:nvSpPr>
        <p:spPr>
          <a:xfrm>
            <a:off x="850392" y="3973721"/>
            <a:ext cx="32461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dirty="0">
                <a:solidFill>
                  <a:srgbClr val="6B7280"/>
                </a:solidFill>
                <a:latin typeface="Reddit Sans"/>
                <a:ea typeface="Reddit Sans"/>
              </a:rPr>
              <a:t>8 etapas · 6C AI Capability Model · gobernanza IA ya no es opcional</a:t>
            </a:r>
          </a:p>
        </p:txBody>
      </p:sp>
      <p:sp>
        <p:nvSpPr>
          <p:cNvPr id="999" name="src"/>
          <p:cNvSpPr txBox="1">
            <a:spLocks noGrp="1"/>
          </p:cNvSpPr>
          <p:nvPr/>
        </p:nvSpPr>
        <p:spPr>
          <a:xfrm>
            <a:off x="320040" y="44622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7"/>
              </a:rPr>
              <a:t>Dynatrace AI Observability</a:t>
            </a:r>
            <a:r>
              <a:rPr lang="es-ES" sz="780" i="1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8"/>
              </a:rPr>
              <a:t>Gartner Agentic AI</a:t>
            </a:r>
            <a:r>
              <a:rPr lang="es-ES" sz="780" i="1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9"/>
              </a:rPr>
              <a:t>PeopleCert ITIL v5</a:t>
            </a:r>
            <a:r>
              <a:rPr lang="es-ES" sz="780" i="1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10"/>
              </a:rPr>
              <a:t>TCS IT Services</a:t>
            </a:r>
          </a:p>
        </p:txBody>
      </p:sp>
    </p:spTree>
    <p:extLst>
      <p:ext uri="{BB962C8B-B14F-4D97-AF65-F5344CB8AC3E}">
        <p14:creationId xmlns:p14="http://schemas.microsoft.com/office/powerpoint/2010/main" val="1555643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B6438-BF5B-F6C9-DE7C-E31F1892E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El Costo de No </a:t>
            </a:r>
            <a:r>
              <a:rPr lang="en-US" sz="1400" dirty="0" err="1"/>
              <a:t>Evolucionar</a:t>
            </a:r>
            <a:endParaRPr lang="es-CO" sz="1400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34AAC178-FC92-F642-69E8-BC6A6C6E3207}"/>
              </a:ext>
            </a:extLst>
          </p:cNvPr>
          <p:cNvSpPr/>
          <p:nvPr/>
        </p:nvSpPr>
        <p:spPr>
          <a:xfrm>
            <a:off x="312930" y="84417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5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Costo por ticket segun nivel de resolucion</a:t>
            </a:r>
            <a:endParaRPr lang="en-US" sz="12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7FE31A7F-BC0A-F0E6-2C8C-3B58D49E8001}"/>
              </a:ext>
            </a:extLst>
          </p:cNvPr>
          <p:cNvSpPr/>
          <p:nvPr/>
        </p:nvSpPr>
        <p:spPr>
          <a:xfrm>
            <a:off x="312930" y="3998850"/>
            <a:ext cx="4663440" cy="365760"/>
          </a:xfrm>
          <a:prstGeom prst="leftArrow">
            <a:avLst/>
          </a:prstGeom>
          <a:solidFill>
            <a:srgbClr val="1B7B85"/>
          </a:solidFill>
          <a:ln w="12700">
            <a:solidFill>
              <a:srgbClr val="1B7B85"/>
            </a:solidFill>
            <a:prstDash val="solid"/>
          </a:ln>
        </p:spPr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B09B687A-2905-F335-0058-C12B2534C3A3}"/>
              </a:ext>
            </a:extLst>
          </p:cNvPr>
          <p:cNvSpPr/>
          <p:nvPr/>
        </p:nvSpPr>
        <p:spPr>
          <a:xfrm>
            <a:off x="450090" y="4017138"/>
            <a:ext cx="4434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Shift-Left: Cada punto de defleccion = ahorro cuantificable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0" name="Text 51">
            <a:extLst>
              <a:ext uri="{FF2B5EF4-FFF2-40B4-BE49-F238E27FC236}">
                <a16:creationId xmlns:a16="http://schemas.microsoft.com/office/drawing/2014/main" id="{2539AF75-7CFB-C18E-660F-5C359868078E}"/>
              </a:ext>
            </a:extLst>
          </p:cNvPr>
          <p:cNvSpPr/>
          <p:nvPr/>
        </p:nvSpPr>
        <p:spPr>
          <a:xfrm>
            <a:off x="312930" y="4629786"/>
            <a:ext cx="859536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</a:rPr>
              <a:t>Fuente: </a:t>
            </a:r>
            <a:r>
              <a:rPr lang="en-US" sz="750" u="sng" dirty="0" err="1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Freshservice</a:t>
            </a:r>
            <a:r>
              <a:rPr lang="en-US" sz="750" u="sng" dirty="0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State of IT 2025</a:t>
            </a:r>
            <a:r>
              <a:rPr lang="en-US" sz="750" dirty="0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Ivanti Agentic AI Service Management</a:t>
            </a:r>
            <a:r>
              <a:rPr lang="en-US" sz="750" dirty="0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Cost per Ticket Benchmark</a:t>
            </a:r>
            <a:endParaRPr lang="en-US" sz="750">
              <a:highlight>
                <a:srgbClr val="FFFF00"/>
              </a:highlight>
              <a:latin typeface="Reddit Sans"/>
              <a:ea typeface="Reddit Sans"/>
              <a:cs typeface="Calibri"/>
            </a:endParaRPr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E848E77C-4CF7-E141-E976-3EFC1688EBE2}"/>
              </a:ext>
            </a:extLst>
          </p:cNvPr>
          <p:cNvSpPr/>
          <p:nvPr/>
        </p:nvSpPr>
        <p:spPr>
          <a:xfrm>
            <a:off x="312930" y="52413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D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La mesa reactiva ya es indefendible comercialmente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41" name="bar">
            <a:extLst>
              <a:ext uri="{FF2B5EF4-FFF2-40B4-BE49-F238E27FC236}">
                <a16:creationId xmlns:a16="http://schemas.microsoft.com/office/drawing/2014/main" id="{5157805E-5E2A-EA83-FA50-536A233632FB}"/>
              </a:ext>
            </a:extLst>
          </p:cNvPr>
          <p:cNvSpPr>
            <a:spLocks noGrp="1"/>
          </p:cNvSpPr>
          <p:nvPr/>
        </p:nvSpPr>
        <p:spPr>
          <a:xfrm>
            <a:off x="363583" y="1278201"/>
            <a:ext cx="914400" cy="457200"/>
          </a:xfrm>
          <a:prstGeom prst="roundRect">
            <a:avLst>
              <a:gd name="adj" fmla="val 8000"/>
            </a:avLst>
          </a:prstGeom>
          <a:solidFill>
            <a:srgbClr val="2A6B3C"/>
          </a:solidFill>
          <a:ln>
            <a:noFill/>
          </a:ln>
        </p:spPr>
      </p:sp>
      <p:sp>
        <p:nvSpPr>
          <p:cNvPr id="143" name="lbl">
            <a:extLst>
              <a:ext uri="{FF2B5EF4-FFF2-40B4-BE49-F238E27FC236}">
                <a16:creationId xmlns:a16="http://schemas.microsoft.com/office/drawing/2014/main" id="{2B0ADD44-981F-5714-ED4D-60260B63E85A}"/>
              </a:ext>
            </a:extLst>
          </p:cNvPr>
          <p:cNvSpPr txBox="1">
            <a:spLocks noGrp="1"/>
          </p:cNvSpPr>
          <p:nvPr/>
        </p:nvSpPr>
        <p:spPr>
          <a:xfrm>
            <a:off x="436735" y="1278201"/>
            <a:ext cx="8991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s-ES" sz="900" b="1" dirty="0">
                <a:solidFill>
                  <a:srgbClr val="FFFFFF"/>
                </a:solidFill>
                <a:latin typeface="Reddit Sans"/>
                <a:ea typeface="Reddit Sans"/>
              </a:rPr>
              <a:t>N0 Autoservicio</a:t>
            </a:r>
          </a:p>
        </p:txBody>
      </p:sp>
      <p:sp>
        <p:nvSpPr>
          <p:cNvPr id="145" name="cst">
            <a:extLst>
              <a:ext uri="{FF2B5EF4-FFF2-40B4-BE49-F238E27FC236}">
                <a16:creationId xmlns:a16="http://schemas.microsoft.com/office/drawing/2014/main" id="{E4439B9E-F687-74E9-EB92-6EB3C16EDDAD}"/>
              </a:ext>
            </a:extLst>
          </p:cNvPr>
          <p:cNvSpPr txBox="1">
            <a:spLocks noGrp="1"/>
          </p:cNvSpPr>
          <p:nvPr/>
        </p:nvSpPr>
        <p:spPr>
          <a:xfrm>
            <a:off x="1387711" y="1278201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300" b="1" dirty="0">
                <a:solidFill>
                  <a:srgbClr val="0D1B5E"/>
                </a:solidFill>
                <a:latin typeface="Reddit Sans"/>
                <a:ea typeface="Reddit Sans"/>
              </a:rPr>
              <a:t>USD 2</a:t>
            </a:r>
          </a:p>
        </p:txBody>
      </p:sp>
      <p:sp>
        <p:nvSpPr>
          <p:cNvPr id="147" name="bar">
            <a:extLst>
              <a:ext uri="{FF2B5EF4-FFF2-40B4-BE49-F238E27FC236}">
                <a16:creationId xmlns:a16="http://schemas.microsoft.com/office/drawing/2014/main" id="{FBAF12FC-0D1F-F735-64F1-19A358F92296}"/>
              </a:ext>
            </a:extLst>
          </p:cNvPr>
          <p:cNvSpPr>
            <a:spLocks noGrp="1"/>
          </p:cNvSpPr>
          <p:nvPr/>
        </p:nvSpPr>
        <p:spPr>
          <a:xfrm>
            <a:off x="363583" y="1799409"/>
            <a:ext cx="1496785" cy="457200"/>
          </a:xfrm>
          <a:prstGeom prst="roundRect">
            <a:avLst>
              <a:gd name="adj" fmla="val 8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149" name="lbl">
            <a:extLst>
              <a:ext uri="{FF2B5EF4-FFF2-40B4-BE49-F238E27FC236}">
                <a16:creationId xmlns:a16="http://schemas.microsoft.com/office/drawing/2014/main" id="{71C36A62-E4E7-831A-FC2B-84562D562C1F}"/>
              </a:ext>
            </a:extLst>
          </p:cNvPr>
          <p:cNvSpPr txBox="1">
            <a:spLocks noGrp="1"/>
          </p:cNvSpPr>
          <p:nvPr/>
        </p:nvSpPr>
        <p:spPr>
          <a:xfrm>
            <a:off x="436735" y="1799409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50" b="1" dirty="0">
                <a:solidFill>
                  <a:srgbClr val="FFFFFF"/>
                </a:solidFill>
                <a:latin typeface="Reddit Sans"/>
                <a:ea typeface="Reddit Sans"/>
              </a:rPr>
              <a:t>N1 Agente Virtual IA</a:t>
            </a:r>
          </a:p>
        </p:txBody>
      </p:sp>
      <p:sp>
        <p:nvSpPr>
          <p:cNvPr id="151" name="cst">
            <a:extLst>
              <a:ext uri="{FF2B5EF4-FFF2-40B4-BE49-F238E27FC236}">
                <a16:creationId xmlns:a16="http://schemas.microsoft.com/office/drawing/2014/main" id="{716CAA39-1F22-F973-E1DF-A49F3614AF42}"/>
              </a:ext>
            </a:extLst>
          </p:cNvPr>
          <p:cNvSpPr txBox="1">
            <a:spLocks noGrp="1"/>
          </p:cNvSpPr>
          <p:nvPr/>
        </p:nvSpPr>
        <p:spPr>
          <a:xfrm>
            <a:off x="1844911" y="1799409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300" b="1" dirty="0">
                <a:solidFill>
                  <a:srgbClr val="0D1B5E"/>
                </a:solidFill>
                <a:latin typeface="Reddit Sans"/>
                <a:ea typeface="Reddit Sans"/>
              </a:rPr>
              <a:t>USD 8</a:t>
            </a:r>
          </a:p>
        </p:txBody>
      </p:sp>
      <p:sp>
        <p:nvSpPr>
          <p:cNvPr id="153" name="bar">
            <a:extLst>
              <a:ext uri="{FF2B5EF4-FFF2-40B4-BE49-F238E27FC236}">
                <a16:creationId xmlns:a16="http://schemas.microsoft.com/office/drawing/2014/main" id="{B00C8B7D-B467-FA5A-08A0-889448FB396D}"/>
              </a:ext>
            </a:extLst>
          </p:cNvPr>
          <p:cNvSpPr>
            <a:spLocks noGrp="1"/>
          </p:cNvSpPr>
          <p:nvPr/>
        </p:nvSpPr>
        <p:spPr>
          <a:xfrm>
            <a:off x="363583" y="2320617"/>
            <a:ext cx="2299062" cy="457200"/>
          </a:xfrm>
          <a:prstGeom prst="roundRect">
            <a:avLst>
              <a:gd name="adj" fmla="val 8000"/>
            </a:avLst>
          </a:prstGeom>
          <a:solidFill>
            <a:srgbClr val="1F6FBA"/>
          </a:solidFill>
          <a:ln>
            <a:noFill/>
          </a:ln>
        </p:spPr>
      </p:sp>
      <p:sp>
        <p:nvSpPr>
          <p:cNvPr id="155" name="lbl">
            <a:extLst>
              <a:ext uri="{FF2B5EF4-FFF2-40B4-BE49-F238E27FC236}">
                <a16:creationId xmlns:a16="http://schemas.microsoft.com/office/drawing/2014/main" id="{B2DFE1AD-48DF-10FB-2EB4-DB126050808B}"/>
              </a:ext>
            </a:extLst>
          </p:cNvPr>
          <p:cNvSpPr txBox="1">
            <a:spLocks noGrp="1"/>
          </p:cNvSpPr>
          <p:nvPr/>
        </p:nvSpPr>
        <p:spPr>
          <a:xfrm>
            <a:off x="436735" y="2320617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50" b="1" dirty="0">
                <a:solidFill>
                  <a:srgbClr val="FFFFFF"/>
                </a:solidFill>
                <a:latin typeface="Reddit Sans"/>
                <a:ea typeface="Reddit Sans"/>
              </a:rPr>
              <a:t>N2 Soporte L1</a:t>
            </a:r>
          </a:p>
        </p:txBody>
      </p:sp>
      <p:sp>
        <p:nvSpPr>
          <p:cNvPr id="157" name="cst">
            <a:extLst>
              <a:ext uri="{FF2B5EF4-FFF2-40B4-BE49-F238E27FC236}">
                <a16:creationId xmlns:a16="http://schemas.microsoft.com/office/drawing/2014/main" id="{60A9ED2F-0787-C608-C521-3DCE9D1E894A}"/>
              </a:ext>
            </a:extLst>
          </p:cNvPr>
          <p:cNvSpPr txBox="1">
            <a:spLocks noGrp="1"/>
          </p:cNvSpPr>
          <p:nvPr/>
        </p:nvSpPr>
        <p:spPr>
          <a:xfrm>
            <a:off x="2576431" y="2320617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300" b="1" dirty="0">
                <a:solidFill>
                  <a:srgbClr val="0D1B5E"/>
                </a:solidFill>
                <a:latin typeface="Reddit Sans"/>
                <a:ea typeface="Reddit Sans"/>
              </a:rPr>
              <a:t>USD 22</a:t>
            </a:r>
          </a:p>
        </p:txBody>
      </p:sp>
      <p:sp>
        <p:nvSpPr>
          <p:cNvPr id="159" name="bar">
            <a:extLst>
              <a:ext uri="{FF2B5EF4-FFF2-40B4-BE49-F238E27FC236}">
                <a16:creationId xmlns:a16="http://schemas.microsoft.com/office/drawing/2014/main" id="{36E6D2F2-2A4B-8AE8-33B4-3E2CC238959B}"/>
              </a:ext>
            </a:extLst>
          </p:cNvPr>
          <p:cNvSpPr>
            <a:spLocks noGrp="1"/>
          </p:cNvSpPr>
          <p:nvPr/>
        </p:nvSpPr>
        <p:spPr>
          <a:xfrm>
            <a:off x="363583" y="2841825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61" name="lbl">
            <a:extLst>
              <a:ext uri="{FF2B5EF4-FFF2-40B4-BE49-F238E27FC236}">
                <a16:creationId xmlns:a16="http://schemas.microsoft.com/office/drawing/2014/main" id="{E40B749C-A2E5-12DB-B139-62F93E4200C8}"/>
              </a:ext>
            </a:extLst>
          </p:cNvPr>
          <p:cNvSpPr txBox="1">
            <a:spLocks noGrp="1"/>
          </p:cNvSpPr>
          <p:nvPr/>
        </p:nvSpPr>
        <p:spPr>
          <a:xfrm>
            <a:off x="436735" y="2841825"/>
            <a:ext cx="319822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00" b="1" dirty="0">
                <a:solidFill>
                  <a:srgbClr val="FFFFFF"/>
                </a:solidFill>
                <a:latin typeface="Reddit Sans"/>
                <a:ea typeface="Reddit Sans"/>
              </a:rPr>
              <a:t>N3 Soporte L2</a:t>
            </a:r>
          </a:p>
        </p:txBody>
      </p:sp>
      <p:sp>
        <p:nvSpPr>
          <p:cNvPr id="163" name="cst">
            <a:extLst>
              <a:ext uri="{FF2B5EF4-FFF2-40B4-BE49-F238E27FC236}">
                <a16:creationId xmlns:a16="http://schemas.microsoft.com/office/drawing/2014/main" id="{239918B0-AEA0-76AF-70C1-C7069D488EE4}"/>
              </a:ext>
            </a:extLst>
          </p:cNvPr>
          <p:cNvSpPr txBox="1">
            <a:spLocks noGrp="1"/>
          </p:cNvSpPr>
          <p:nvPr/>
        </p:nvSpPr>
        <p:spPr>
          <a:xfrm>
            <a:off x="3490831" y="2841825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300" b="1" dirty="0">
                <a:solidFill>
                  <a:srgbClr val="0D1B5E"/>
                </a:solidFill>
                <a:latin typeface="Reddit Sans"/>
                <a:ea typeface="Reddit Sans"/>
              </a:rPr>
              <a:t>USD 55</a:t>
            </a:r>
          </a:p>
        </p:txBody>
      </p:sp>
      <p:sp>
        <p:nvSpPr>
          <p:cNvPr id="165" name="bar">
            <a:extLst>
              <a:ext uri="{FF2B5EF4-FFF2-40B4-BE49-F238E27FC236}">
                <a16:creationId xmlns:a16="http://schemas.microsoft.com/office/drawing/2014/main" id="{ADF2DCAC-F3AA-43F8-B4AB-26576FC1B888}"/>
              </a:ext>
            </a:extLst>
          </p:cNvPr>
          <p:cNvSpPr>
            <a:spLocks noGrp="1"/>
          </p:cNvSpPr>
          <p:nvPr/>
        </p:nvSpPr>
        <p:spPr>
          <a:xfrm>
            <a:off x="363583" y="3363033"/>
            <a:ext cx="3749039" cy="457200"/>
          </a:xfrm>
          <a:prstGeom prst="roundRect">
            <a:avLst>
              <a:gd name="adj" fmla="val 8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167" name="lbl">
            <a:extLst>
              <a:ext uri="{FF2B5EF4-FFF2-40B4-BE49-F238E27FC236}">
                <a16:creationId xmlns:a16="http://schemas.microsoft.com/office/drawing/2014/main" id="{0D4C4E3A-CB71-D89E-30FE-D87891ED0890}"/>
              </a:ext>
            </a:extLst>
          </p:cNvPr>
          <p:cNvSpPr txBox="1">
            <a:spLocks noGrp="1"/>
          </p:cNvSpPr>
          <p:nvPr/>
        </p:nvSpPr>
        <p:spPr>
          <a:xfrm>
            <a:off x="436735" y="3363033"/>
            <a:ext cx="399505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00" b="1" dirty="0">
                <a:solidFill>
                  <a:srgbClr val="FFFFFF"/>
                </a:solidFill>
                <a:latin typeface="Reddit Sans"/>
                <a:ea typeface="Reddit Sans"/>
              </a:rPr>
              <a:t>N4-N5 Especializado</a:t>
            </a:r>
          </a:p>
        </p:txBody>
      </p:sp>
      <p:sp>
        <p:nvSpPr>
          <p:cNvPr id="169" name="cst">
            <a:extLst>
              <a:ext uri="{FF2B5EF4-FFF2-40B4-BE49-F238E27FC236}">
                <a16:creationId xmlns:a16="http://schemas.microsoft.com/office/drawing/2014/main" id="{516256F4-37AA-EF39-3E54-9E6B464E213A}"/>
              </a:ext>
            </a:extLst>
          </p:cNvPr>
          <p:cNvSpPr txBox="1">
            <a:spLocks noGrp="1"/>
          </p:cNvSpPr>
          <p:nvPr/>
        </p:nvSpPr>
        <p:spPr>
          <a:xfrm>
            <a:off x="4113493" y="3346704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300" b="1" dirty="0">
                <a:solidFill>
                  <a:srgbClr val="0D1B5E"/>
                </a:solidFill>
                <a:latin typeface="Reddit Sans"/>
                <a:ea typeface="Reddit Sans"/>
              </a:rPr>
              <a:t>USD 104</a:t>
            </a:r>
          </a:p>
        </p:txBody>
      </p:sp>
      <p:sp>
        <p:nvSpPr>
          <p:cNvPr id="171" name="bhdr">
            <a:extLst>
              <a:ext uri="{FF2B5EF4-FFF2-40B4-BE49-F238E27FC236}">
                <a16:creationId xmlns:a16="http://schemas.microsoft.com/office/drawing/2014/main" id="{72699A02-D9BD-203D-2BBF-B3A35207C06B}"/>
              </a:ext>
            </a:extLst>
          </p:cNvPr>
          <p:cNvSpPr>
            <a:spLocks noGrp="1"/>
          </p:cNvSpPr>
          <p:nvPr/>
        </p:nvSpPr>
        <p:spPr>
          <a:xfrm>
            <a:off x="4732020" y="1196340"/>
            <a:ext cx="3794760" cy="365760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173" name="th">
            <a:extLst>
              <a:ext uri="{FF2B5EF4-FFF2-40B4-BE49-F238E27FC236}">
                <a16:creationId xmlns:a16="http://schemas.microsoft.com/office/drawing/2014/main" id="{82367F01-1427-05FD-3941-50F2F6338D1B}"/>
              </a:ext>
            </a:extLst>
          </p:cNvPr>
          <p:cNvSpPr txBox="1">
            <a:spLocks noGrp="1"/>
          </p:cNvSpPr>
          <p:nvPr/>
        </p:nvSpPr>
        <p:spPr>
          <a:xfrm>
            <a:off x="4737463" y="11963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FFFFFF"/>
                </a:solidFill>
                <a:latin typeface="Reddit Sans"/>
                <a:ea typeface="Reddit Sans"/>
              </a:rPr>
              <a:t>Métrica</a:t>
            </a:r>
          </a:p>
        </p:txBody>
      </p:sp>
      <p:sp>
        <p:nvSpPr>
          <p:cNvPr id="175" name="th">
            <a:extLst>
              <a:ext uri="{FF2B5EF4-FFF2-40B4-BE49-F238E27FC236}">
                <a16:creationId xmlns:a16="http://schemas.microsoft.com/office/drawing/2014/main" id="{A43800BE-7949-6206-5481-79E9337C8EB5}"/>
              </a:ext>
            </a:extLst>
          </p:cNvPr>
          <p:cNvSpPr txBox="1">
            <a:spLocks noGrp="1"/>
          </p:cNvSpPr>
          <p:nvPr/>
        </p:nvSpPr>
        <p:spPr>
          <a:xfrm>
            <a:off x="6291943" y="119634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FFFFFF"/>
                </a:solidFill>
                <a:latin typeface="Reddit Sans"/>
                <a:ea typeface="Reddit Sans"/>
              </a:rPr>
              <a:t>Tradicional</a:t>
            </a:r>
          </a:p>
        </p:txBody>
      </p:sp>
      <p:sp>
        <p:nvSpPr>
          <p:cNvPr id="177" name="th">
            <a:extLst>
              <a:ext uri="{FF2B5EF4-FFF2-40B4-BE49-F238E27FC236}">
                <a16:creationId xmlns:a16="http://schemas.microsoft.com/office/drawing/2014/main" id="{5E880A90-7749-D9FE-8EAE-15D7C726958D}"/>
              </a:ext>
            </a:extLst>
          </p:cNvPr>
          <p:cNvSpPr txBox="1">
            <a:spLocks noGrp="1"/>
          </p:cNvSpPr>
          <p:nvPr/>
        </p:nvSpPr>
        <p:spPr>
          <a:xfrm>
            <a:off x="7297783" y="119634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FFFFFF"/>
                </a:solidFill>
                <a:latin typeface="Reddit Sans"/>
                <a:ea typeface="Reddit Sans"/>
              </a:rPr>
              <a:t>Con IA Agéntica</a:t>
            </a:r>
          </a:p>
        </p:txBody>
      </p:sp>
      <p:sp>
        <p:nvSpPr>
          <p:cNvPr id="179" name="rbg">
            <a:extLst>
              <a:ext uri="{FF2B5EF4-FFF2-40B4-BE49-F238E27FC236}">
                <a16:creationId xmlns:a16="http://schemas.microsoft.com/office/drawing/2014/main" id="{7C37B1C2-815F-2818-F812-5A6691D3D634}"/>
              </a:ext>
            </a:extLst>
          </p:cNvPr>
          <p:cNvSpPr>
            <a:spLocks noGrp="1"/>
          </p:cNvSpPr>
          <p:nvPr/>
        </p:nvSpPr>
        <p:spPr>
          <a:xfrm>
            <a:off x="4737463" y="1562100"/>
            <a:ext cx="379476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181" name="bc">
            <a:extLst>
              <a:ext uri="{FF2B5EF4-FFF2-40B4-BE49-F238E27FC236}">
                <a16:creationId xmlns:a16="http://schemas.microsoft.com/office/drawing/2014/main" id="{C846BEF1-A2FE-C0A0-437E-B3B93D97DA3A}"/>
              </a:ext>
            </a:extLst>
          </p:cNvPr>
          <p:cNvSpPr txBox="1">
            <a:spLocks noGrp="1"/>
          </p:cNvSpPr>
          <p:nvPr/>
        </p:nvSpPr>
        <p:spPr>
          <a:xfrm>
            <a:off x="4737463" y="15621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dirty="0">
                <a:solidFill>
                  <a:srgbClr val="333333"/>
                </a:solidFill>
                <a:latin typeface="Reddit Sans"/>
                <a:ea typeface="Reddit Sans"/>
              </a:rPr>
              <a:t>FCR (1er Contacto)</a:t>
            </a:r>
          </a:p>
        </p:txBody>
      </p:sp>
      <p:sp>
        <p:nvSpPr>
          <p:cNvPr id="183" name="bc">
            <a:extLst>
              <a:ext uri="{FF2B5EF4-FFF2-40B4-BE49-F238E27FC236}">
                <a16:creationId xmlns:a16="http://schemas.microsoft.com/office/drawing/2014/main" id="{AFED1BC0-5B1C-9171-65E0-7E89DE93A22C}"/>
              </a:ext>
            </a:extLst>
          </p:cNvPr>
          <p:cNvSpPr txBox="1">
            <a:spLocks noGrp="1"/>
          </p:cNvSpPr>
          <p:nvPr/>
        </p:nvSpPr>
        <p:spPr>
          <a:xfrm>
            <a:off x="6291943" y="156210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dirty="0">
                <a:solidFill>
                  <a:srgbClr val="333333"/>
                </a:solidFill>
                <a:latin typeface="Reddit Sans"/>
                <a:ea typeface="Reddit Sans"/>
              </a:rPr>
              <a:t>40-55%</a:t>
            </a:r>
          </a:p>
        </p:txBody>
      </p:sp>
      <p:sp>
        <p:nvSpPr>
          <p:cNvPr id="185" name="bc">
            <a:extLst>
              <a:ext uri="{FF2B5EF4-FFF2-40B4-BE49-F238E27FC236}">
                <a16:creationId xmlns:a16="http://schemas.microsoft.com/office/drawing/2014/main" id="{CA6E3487-A0A9-E5C0-7E64-5D59A994F431}"/>
              </a:ext>
            </a:extLst>
          </p:cNvPr>
          <p:cNvSpPr txBox="1">
            <a:spLocks noGrp="1"/>
          </p:cNvSpPr>
          <p:nvPr/>
        </p:nvSpPr>
        <p:spPr>
          <a:xfrm>
            <a:off x="7297783" y="156210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2A6B3C"/>
                </a:solidFill>
                <a:latin typeface="Reddit Sans"/>
                <a:ea typeface="Reddit Sans"/>
              </a:rPr>
              <a:t>75-85%</a:t>
            </a:r>
          </a:p>
        </p:txBody>
      </p:sp>
      <p:sp>
        <p:nvSpPr>
          <p:cNvPr id="187" name="rbg">
            <a:extLst>
              <a:ext uri="{FF2B5EF4-FFF2-40B4-BE49-F238E27FC236}">
                <a16:creationId xmlns:a16="http://schemas.microsoft.com/office/drawing/2014/main" id="{B6CD0C2E-0C95-41E3-2CC1-F9B383D7549D}"/>
              </a:ext>
            </a:extLst>
          </p:cNvPr>
          <p:cNvSpPr>
            <a:spLocks noGrp="1"/>
          </p:cNvSpPr>
          <p:nvPr/>
        </p:nvSpPr>
        <p:spPr>
          <a:xfrm>
            <a:off x="4737463" y="1927860"/>
            <a:ext cx="3794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89" name="bc">
            <a:extLst>
              <a:ext uri="{FF2B5EF4-FFF2-40B4-BE49-F238E27FC236}">
                <a16:creationId xmlns:a16="http://schemas.microsoft.com/office/drawing/2014/main" id="{F14D6286-CE51-E6E6-D95F-ED272FC8C658}"/>
              </a:ext>
            </a:extLst>
          </p:cNvPr>
          <p:cNvSpPr txBox="1">
            <a:spLocks noGrp="1"/>
          </p:cNvSpPr>
          <p:nvPr/>
        </p:nvSpPr>
        <p:spPr>
          <a:xfrm>
            <a:off x="4737463" y="19278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dirty="0">
                <a:solidFill>
                  <a:srgbClr val="333333"/>
                </a:solidFill>
                <a:latin typeface="Reddit Sans"/>
                <a:ea typeface="Reddit Sans"/>
              </a:rPr>
              <a:t>Reducción MTTR</a:t>
            </a:r>
          </a:p>
        </p:txBody>
      </p:sp>
      <p:sp>
        <p:nvSpPr>
          <p:cNvPr id="191" name="bc">
            <a:extLst>
              <a:ext uri="{FF2B5EF4-FFF2-40B4-BE49-F238E27FC236}">
                <a16:creationId xmlns:a16="http://schemas.microsoft.com/office/drawing/2014/main" id="{093B2FAE-DE04-A196-06B3-9EED4CD19003}"/>
              </a:ext>
            </a:extLst>
          </p:cNvPr>
          <p:cNvSpPr txBox="1">
            <a:spLocks noGrp="1"/>
          </p:cNvSpPr>
          <p:nvPr/>
        </p:nvSpPr>
        <p:spPr>
          <a:xfrm>
            <a:off x="6291943" y="192786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dirty="0">
                <a:solidFill>
                  <a:srgbClr val="333333"/>
                </a:solidFill>
                <a:latin typeface="Reddit Sans"/>
                <a:ea typeface="Reddit Sans"/>
              </a:rPr>
              <a:t>base</a:t>
            </a:r>
          </a:p>
        </p:txBody>
      </p:sp>
      <p:sp>
        <p:nvSpPr>
          <p:cNvPr id="193" name="bc">
            <a:extLst>
              <a:ext uri="{FF2B5EF4-FFF2-40B4-BE49-F238E27FC236}">
                <a16:creationId xmlns:a16="http://schemas.microsoft.com/office/drawing/2014/main" id="{8C1913F5-D813-9C09-F6C7-AA498D8E8487}"/>
              </a:ext>
            </a:extLst>
          </p:cNvPr>
          <p:cNvSpPr txBox="1">
            <a:spLocks noGrp="1"/>
          </p:cNvSpPr>
          <p:nvPr/>
        </p:nvSpPr>
        <p:spPr>
          <a:xfrm>
            <a:off x="7297783" y="192786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2A6B3C"/>
                </a:solidFill>
                <a:latin typeface="Reddit Sans"/>
                <a:ea typeface="Reddit Sans"/>
              </a:rPr>
              <a:t>-60 a -70%</a:t>
            </a:r>
          </a:p>
        </p:txBody>
      </p:sp>
      <p:sp>
        <p:nvSpPr>
          <p:cNvPr id="195" name="rbg">
            <a:extLst>
              <a:ext uri="{FF2B5EF4-FFF2-40B4-BE49-F238E27FC236}">
                <a16:creationId xmlns:a16="http://schemas.microsoft.com/office/drawing/2014/main" id="{F6CCF5F1-1B32-29D0-A442-5BD15A44D153}"/>
              </a:ext>
            </a:extLst>
          </p:cNvPr>
          <p:cNvSpPr>
            <a:spLocks noGrp="1"/>
          </p:cNvSpPr>
          <p:nvPr/>
        </p:nvSpPr>
        <p:spPr>
          <a:xfrm>
            <a:off x="4737463" y="2293620"/>
            <a:ext cx="379476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197" name="bc">
            <a:extLst>
              <a:ext uri="{FF2B5EF4-FFF2-40B4-BE49-F238E27FC236}">
                <a16:creationId xmlns:a16="http://schemas.microsoft.com/office/drawing/2014/main" id="{D7093950-99DC-9B24-8CA5-7F6EE7CA1A7A}"/>
              </a:ext>
            </a:extLst>
          </p:cNvPr>
          <p:cNvSpPr txBox="1">
            <a:spLocks noGrp="1"/>
          </p:cNvSpPr>
          <p:nvPr/>
        </p:nvSpPr>
        <p:spPr>
          <a:xfrm>
            <a:off x="4737463" y="229362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dirty="0">
                <a:solidFill>
                  <a:srgbClr val="333333"/>
                </a:solidFill>
                <a:latin typeface="Reddit Sans"/>
                <a:ea typeface="Reddit Sans"/>
              </a:rPr>
              <a:t>Costo / interacción</a:t>
            </a:r>
          </a:p>
        </p:txBody>
      </p:sp>
      <p:sp>
        <p:nvSpPr>
          <p:cNvPr id="199" name="bc">
            <a:extLst>
              <a:ext uri="{FF2B5EF4-FFF2-40B4-BE49-F238E27FC236}">
                <a16:creationId xmlns:a16="http://schemas.microsoft.com/office/drawing/2014/main" id="{FA7A9F1D-F520-D145-7639-AA643FCB5F23}"/>
              </a:ext>
            </a:extLst>
          </p:cNvPr>
          <p:cNvSpPr txBox="1">
            <a:spLocks noGrp="1"/>
          </p:cNvSpPr>
          <p:nvPr/>
        </p:nvSpPr>
        <p:spPr>
          <a:xfrm>
            <a:off x="6291943" y="229362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dirty="0">
                <a:solidFill>
                  <a:srgbClr val="333333"/>
                </a:solidFill>
                <a:latin typeface="Reddit Sans"/>
                <a:ea typeface="Reddit Sans"/>
              </a:rPr>
              <a:t>USD 15-25</a:t>
            </a:r>
          </a:p>
        </p:txBody>
      </p:sp>
      <p:sp>
        <p:nvSpPr>
          <p:cNvPr id="201" name="bc">
            <a:extLst>
              <a:ext uri="{FF2B5EF4-FFF2-40B4-BE49-F238E27FC236}">
                <a16:creationId xmlns:a16="http://schemas.microsoft.com/office/drawing/2014/main" id="{9DA35372-7FB1-17E2-6A0F-A53693069B6A}"/>
              </a:ext>
            </a:extLst>
          </p:cNvPr>
          <p:cNvSpPr txBox="1">
            <a:spLocks noGrp="1"/>
          </p:cNvSpPr>
          <p:nvPr/>
        </p:nvSpPr>
        <p:spPr>
          <a:xfrm>
            <a:off x="7297783" y="229362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2A6B3C"/>
                </a:solidFill>
                <a:latin typeface="Reddit Sans"/>
                <a:ea typeface="Reddit Sans"/>
              </a:rPr>
              <a:t>USD 3-8</a:t>
            </a:r>
          </a:p>
        </p:txBody>
      </p:sp>
      <p:sp>
        <p:nvSpPr>
          <p:cNvPr id="203" name="rbg">
            <a:extLst>
              <a:ext uri="{FF2B5EF4-FFF2-40B4-BE49-F238E27FC236}">
                <a16:creationId xmlns:a16="http://schemas.microsoft.com/office/drawing/2014/main" id="{876C3B31-9ECD-634E-6CF4-8F8397BD536D}"/>
              </a:ext>
            </a:extLst>
          </p:cNvPr>
          <p:cNvSpPr>
            <a:spLocks noGrp="1"/>
          </p:cNvSpPr>
          <p:nvPr/>
        </p:nvSpPr>
        <p:spPr>
          <a:xfrm>
            <a:off x="4737463" y="2659380"/>
            <a:ext cx="3794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205" name="bc">
            <a:extLst>
              <a:ext uri="{FF2B5EF4-FFF2-40B4-BE49-F238E27FC236}">
                <a16:creationId xmlns:a16="http://schemas.microsoft.com/office/drawing/2014/main" id="{CEAAE6F1-8281-3CC6-A33A-EFC7FE5E1D94}"/>
              </a:ext>
            </a:extLst>
          </p:cNvPr>
          <p:cNvSpPr txBox="1">
            <a:spLocks noGrp="1"/>
          </p:cNvSpPr>
          <p:nvPr/>
        </p:nvSpPr>
        <p:spPr>
          <a:xfrm>
            <a:off x="4737463" y="26593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dirty="0">
                <a:solidFill>
                  <a:srgbClr val="333333"/>
                </a:solidFill>
                <a:latin typeface="Reddit Sans"/>
                <a:ea typeface="Reddit Sans"/>
              </a:rPr>
              <a:t>Deflección (Robinhood)</a:t>
            </a:r>
          </a:p>
        </p:txBody>
      </p:sp>
      <p:sp>
        <p:nvSpPr>
          <p:cNvPr id="207" name="bc">
            <a:extLst>
              <a:ext uri="{FF2B5EF4-FFF2-40B4-BE49-F238E27FC236}">
                <a16:creationId xmlns:a16="http://schemas.microsoft.com/office/drawing/2014/main" id="{E41B5E9F-B605-01DD-4386-9A35AFCF3E7F}"/>
              </a:ext>
            </a:extLst>
          </p:cNvPr>
          <p:cNvSpPr txBox="1">
            <a:spLocks noGrp="1"/>
          </p:cNvSpPr>
          <p:nvPr/>
        </p:nvSpPr>
        <p:spPr>
          <a:xfrm>
            <a:off x="6291943" y="265938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dirty="0">
                <a:solidFill>
                  <a:srgbClr val="333333"/>
                </a:solidFill>
                <a:latin typeface="Reddit Sans"/>
                <a:ea typeface="Reddit Sans"/>
              </a:rPr>
              <a:t>—</a:t>
            </a:r>
          </a:p>
        </p:txBody>
      </p:sp>
      <p:sp>
        <p:nvSpPr>
          <p:cNvPr id="209" name="bc">
            <a:extLst>
              <a:ext uri="{FF2B5EF4-FFF2-40B4-BE49-F238E27FC236}">
                <a16:creationId xmlns:a16="http://schemas.microsoft.com/office/drawing/2014/main" id="{BFE8A9FB-411A-CB3B-356E-A92A43AB2EE6}"/>
              </a:ext>
            </a:extLst>
          </p:cNvPr>
          <p:cNvSpPr txBox="1">
            <a:spLocks noGrp="1"/>
          </p:cNvSpPr>
          <p:nvPr/>
        </p:nvSpPr>
        <p:spPr>
          <a:xfrm>
            <a:off x="7297783" y="265938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2A6B3C"/>
                </a:solidFill>
                <a:latin typeface="Reddit Sans"/>
                <a:ea typeface="Reddit Sans"/>
              </a:rPr>
              <a:t>70%</a:t>
            </a:r>
          </a:p>
        </p:txBody>
      </p:sp>
      <p:sp>
        <p:nvSpPr>
          <p:cNvPr id="211" name="rbg">
            <a:extLst>
              <a:ext uri="{FF2B5EF4-FFF2-40B4-BE49-F238E27FC236}">
                <a16:creationId xmlns:a16="http://schemas.microsoft.com/office/drawing/2014/main" id="{F951DD2B-AA1A-02FA-E559-ED687294F73E}"/>
              </a:ext>
            </a:extLst>
          </p:cNvPr>
          <p:cNvSpPr>
            <a:spLocks noGrp="1"/>
          </p:cNvSpPr>
          <p:nvPr/>
        </p:nvSpPr>
        <p:spPr>
          <a:xfrm>
            <a:off x="4737463" y="3025140"/>
            <a:ext cx="379476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213" name="bc">
            <a:extLst>
              <a:ext uri="{FF2B5EF4-FFF2-40B4-BE49-F238E27FC236}">
                <a16:creationId xmlns:a16="http://schemas.microsoft.com/office/drawing/2014/main" id="{FD472BD7-74B6-C946-902D-13B8CC4A26FF}"/>
              </a:ext>
            </a:extLst>
          </p:cNvPr>
          <p:cNvSpPr txBox="1">
            <a:spLocks noGrp="1"/>
          </p:cNvSpPr>
          <p:nvPr/>
        </p:nvSpPr>
        <p:spPr>
          <a:xfrm>
            <a:off x="4737463" y="30251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dirty="0">
                <a:solidFill>
                  <a:srgbClr val="333333"/>
                </a:solidFill>
                <a:latin typeface="Reddit Sans"/>
                <a:ea typeface="Reddit Sans"/>
              </a:rPr>
              <a:t>Reducción tickets</a:t>
            </a:r>
          </a:p>
        </p:txBody>
      </p:sp>
      <p:sp>
        <p:nvSpPr>
          <p:cNvPr id="215" name="bc">
            <a:extLst>
              <a:ext uri="{FF2B5EF4-FFF2-40B4-BE49-F238E27FC236}">
                <a16:creationId xmlns:a16="http://schemas.microsoft.com/office/drawing/2014/main" id="{658AB931-27D3-369F-40E2-9581CF75CF63}"/>
              </a:ext>
            </a:extLst>
          </p:cNvPr>
          <p:cNvSpPr txBox="1">
            <a:spLocks noGrp="1"/>
          </p:cNvSpPr>
          <p:nvPr/>
        </p:nvSpPr>
        <p:spPr>
          <a:xfrm>
            <a:off x="6291943" y="302514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dirty="0">
                <a:solidFill>
                  <a:srgbClr val="333333"/>
                </a:solidFill>
                <a:latin typeface="Reddit Sans"/>
                <a:ea typeface="Reddit Sans"/>
              </a:rPr>
              <a:t>—</a:t>
            </a:r>
          </a:p>
        </p:txBody>
      </p:sp>
      <p:sp>
        <p:nvSpPr>
          <p:cNvPr id="217" name="bc">
            <a:extLst>
              <a:ext uri="{FF2B5EF4-FFF2-40B4-BE49-F238E27FC236}">
                <a16:creationId xmlns:a16="http://schemas.microsoft.com/office/drawing/2014/main" id="{1A3168AC-27D5-E418-7B13-04D9B3134840}"/>
              </a:ext>
            </a:extLst>
          </p:cNvPr>
          <p:cNvSpPr txBox="1">
            <a:spLocks noGrp="1"/>
          </p:cNvSpPr>
          <p:nvPr/>
        </p:nvSpPr>
        <p:spPr>
          <a:xfrm>
            <a:off x="7297783" y="302514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2A6B3C"/>
                </a:solidFill>
                <a:latin typeface="Reddit Sans"/>
                <a:ea typeface="Reddit Sans"/>
              </a:rPr>
              <a:t>-80%</a:t>
            </a:r>
          </a:p>
        </p:txBody>
      </p:sp>
      <p:sp>
        <p:nvSpPr>
          <p:cNvPr id="219" name="rbg">
            <a:extLst>
              <a:ext uri="{FF2B5EF4-FFF2-40B4-BE49-F238E27FC236}">
                <a16:creationId xmlns:a16="http://schemas.microsoft.com/office/drawing/2014/main" id="{DB149D34-EE8D-5FB2-B320-ADB79E10C1DA}"/>
              </a:ext>
            </a:extLst>
          </p:cNvPr>
          <p:cNvSpPr>
            <a:spLocks noGrp="1"/>
          </p:cNvSpPr>
          <p:nvPr/>
        </p:nvSpPr>
        <p:spPr>
          <a:xfrm>
            <a:off x="4737463" y="3390900"/>
            <a:ext cx="3794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221" name="bc">
            <a:extLst>
              <a:ext uri="{FF2B5EF4-FFF2-40B4-BE49-F238E27FC236}">
                <a16:creationId xmlns:a16="http://schemas.microsoft.com/office/drawing/2014/main" id="{3F90F45C-CB37-8A13-C3C3-4BB01AA9D9EB}"/>
              </a:ext>
            </a:extLst>
          </p:cNvPr>
          <p:cNvSpPr txBox="1">
            <a:spLocks noGrp="1"/>
          </p:cNvSpPr>
          <p:nvPr/>
        </p:nvSpPr>
        <p:spPr>
          <a:xfrm>
            <a:off x="4737463" y="33909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dirty="0">
                <a:solidFill>
                  <a:srgbClr val="333333"/>
                </a:solidFill>
                <a:latin typeface="Reddit Sans"/>
                <a:ea typeface="Reddit Sans"/>
              </a:rPr>
              <a:t>Resolución autónoma</a:t>
            </a:r>
          </a:p>
        </p:txBody>
      </p:sp>
      <p:sp>
        <p:nvSpPr>
          <p:cNvPr id="223" name="bc">
            <a:extLst>
              <a:ext uri="{FF2B5EF4-FFF2-40B4-BE49-F238E27FC236}">
                <a16:creationId xmlns:a16="http://schemas.microsoft.com/office/drawing/2014/main" id="{B7F6C673-E47B-A1D4-9662-DE437DBC1D85}"/>
              </a:ext>
            </a:extLst>
          </p:cNvPr>
          <p:cNvSpPr txBox="1">
            <a:spLocks noGrp="1"/>
          </p:cNvSpPr>
          <p:nvPr/>
        </p:nvSpPr>
        <p:spPr>
          <a:xfrm>
            <a:off x="6291943" y="339090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dirty="0">
                <a:solidFill>
                  <a:srgbClr val="333333"/>
                </a:solidFill>
                <a:latin typeface="Reddit Sans"/>
                <a:ea typeface="Reddit Sans"/>
              </a:rPr>
              <a:t>—</a:t>
            </a:r>
          </a:p>
        </p:txBody>
      </p:sp>
      <p:sp>
        <p:nvSpPr>
          <p:cNvPr id="225" name="bc">
            <a:extLst>
              <a:ext uri="{FF2B5EF4-FFF2-40B4-BE49-F238E27FC236}">
                <a16:creationId xmlns:a16="http://schemas.microsoft.com/office/drawing/2014/main" id="{6DF9AF60-4A8F-3718-2B5B-6919ECE54B9A}"/>
              </a:ext>
            </a:extLst>
          </p:cNvPr>
          <p:cNvSpPr txBox="1">
            <a:spLocks noGrp="1"/>
          </p:cNvSpPr>
          <p:nvPr/>
        </p:nvSpPr>
        <p:spPr>
          <a:xfrm>
            <a:off x="7297783" y="339090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2A6B3C"/>
                </a:solidFill>
                <a:latin typeface="Reddit Sans"/>
                <a:ea typeface="Reddit Sans"/>
              </a:rPr>
              <a:t>84%</a:t>
            </a:r>
          </a:p>
        </p:txBody>
      </p:sp>
      <p:sp>
        <p:nvSpPr>
          <p:cNvPr id="999" name="src"/>
          <p:cNvSpPr txBox="1">
            <a:spLocks noGrp="1"/>
          </p:cNvSpPr>
          <p:nvPr/>
        </p:nvSpPr>
        <p:spPr>
          <a:xfrm>
            <a:off x="320040" y="44622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5"/>
              </a:rPr>
              <a:t>Freshservice State of IT</a:t>
            </a:r>
            <a:r>
              <a:rPr lang="es-ES" sz="780" i="1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6"/>
              </a:rPr>
              <a:t>Ivanti Agentic AI</a:t>
            </a:r>
            <a:r>
              <a:rPr lang="es-ES" sz="780" i="1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7"/>
              </a:rPr>
              <a:t>Gartner Cost per Ticket</a:t>
            </a:r>
          </a:p>
        </p:txBody>
      </p:sp>
    </p:spTree>
    <p:extLst>
      <p:ext uri="{BB962C8B-B14F-4D97-AF65-F5344CB8AC3E}">
        <p14:creationId xmlns:p14="http://schemas.microsoft.com/office/powerpoint/2010/main" val="2414997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65760" y="91440"/>
            <a:ext cx="91440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2000" b="1" dirty="0">
                <a:solidFill>
                  <a:srgbClr val="FFFFFF"/>
                </a:solidFill>
                <a:latin typeface="Calibri"/>
              </a:rPr>
              <a:t>Benchmarks de Industria — FCR · MTTR · Deflección · Costo por Ticket · Impacto GenAI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65760" y="566928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dirty="0">
                <a:solidFill>
                  <a:srgbClr val="C8EBEF"/>
                </a:solidFill>
                <a:latin typeface="Calibri"/>
              </a:rPr>
              <a:t>HDI Support Center Standard · MetricNet · Freshservice ITSM Benchmark 2024 · SQM Group · Giva · Gartner</a:t>
            </a:r>
          </a:p>
        </p:txBody>
      </p:sp>
      <p:sp>
        <p:nvSpPr>
          <p:cNvPr id="10" name="kb"/>
          <p:cNvSpPr>
            <a:spLocks noGrp="1"/>
          </p:cNvSpPr>
          <p:nvPr/>
        </p:nvSpPr>
        <p:spPr>
          <a:xfrm>
            <a:off x="320040" y="841248"/>
            <a:ext cx="1828800" cy="950976"/>
          </a:xfrm>
          <a:prstGeom prst="roundRect">
            <a:avLst>
              <a:gd name="adj" fmla="val 20000"/>
            </a:avLst>
          </a:prstGeom>
          <a:solidFill>
            <a:srgbClr val="EBF3FF"/>
          </a:solidFill>
          <a:ln w="19050">
            <a:solidFill>
              <a:srgbClr val="1A3A8F"/>
            </a:solidFill>
          </a:ln>
        </p:spPr>
      </p:sp>
      <p:sp>
        <p:nvSpPr>
          <p:cNvPr id="11" name="kbar"/>
          <p:cNvSpPr>
            <a:spLocks noGrp="1"/>
          </p:cNvSpPr>
          <p:nvPr/>
        </p:nvSpPr>
        <p:spPr>
          <a:xfrm>
            <a:off x="320040" y="841248"/>
            <a:ext cx="1828800" cy="54864"/>
          </a:xfrm>
          <a:prstGeom prst="roundRect">
            <a:avLst>
              <a:gd name="adj" fmla="val 20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2" name="kn"/>
          <p:cNvSpPr txBox="1">
            <a:spLocks noGrp="1"/>
          </p:cNvSpPr>
          <p:nvPr/>
        </p:nvSpPr>
        <p:spPr>
          <a:xfrm>
            <a:off x="320040" y="9144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3200" b="1" dirty="0">
                <a:solidFill>
                  <a:srgbClr val="1A3A8F"/>
                </a:solidFill>
                <a:latin typeface="Calibri"/>
              </a:rPr>
              <a:t>74%</a:t>
            </a:r>
          </a:p>
        </p:txBody>
      </p:sp>
      <p:sp>
        <p:nvSpPr>
          <p:cNvPr id="13" name="kl"/>
          <p:cNvSpPr txBox="1">
            <a:spLocks noGrp="1"/>
          </p:cNvSpPr>
          <p:nvPr/>
        </p:nvSpPr>
        <p:spPr>
          <a:xfrm>
            <a:off x="320040" y="137160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b="1" dirty="0">
                <a:solidFill>
                  <a:srgbClr val="1A3A8F"/>
                </a:solidFill>
                <a:latin typeface="Calibri"/>
              </a:rPr>
              <a:t>FCR Promedio Industria</a:t>
            </a:r>
          </a:p>
        </p:txBody>
      </p:sp>
      <p:sp>
        <p:nvSpPr>
          <p:cNvPr id="14" name="km"/>
          <p:cNvSpPr txBox="1">
            <a:spLocks noGrp="1"/>
          </p:cNvSpPr>
          <p:nvPr/>
        </p:nvSpPr>
        <p:spPr>
          <a:xfrm>
            <a:off x="393192" y="1572768"/>
            <a:ext cx="1682496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i="1" dirty="0">
                <a:solidFill>
                  <a:srgbClr val="6B7280"/>
                </a:solidFill>
                <a:latin typeface="Calibri"/>
              </a:rPr>
              <a:t>≥80% world-class · ≥85% Gen Next</a:t>
            </a:r>
          </a:p>
        </p:txBody>
      </p:sp>
      <p:sp>
        <p:nvSpPr>
          <p:cNvPr id="6" name="kb"/>
          <p:cNvSpPr>
            <a:spLocks noGrp="1"/>
          </p:cNvSpPr>
          <p:nvPr/>
        </p:nvSpPr>
        <p:spPr>
          <a:xfrm>
            <a:off x="2258568" y="841248"/>
            <a:ext cx="1828800" cy="950976"/>
          </a:xfrm>
          <a:prstGeom prst="roundRect">
            <a:avLst>
              <a:gd name="adj" fmla="val 20000"/>
            </a:avLst>
          </a:prstGeom>
          <a:solidFill>
            <a:srgbClr val="E8F6F7"/>
          </a:solidFill>
          <a:ln w="19050">
            <a:solidFill>
              <a:srgbClr val="1B7B85"/>
            </a:solidFill>
          </a:ln>
        </p:spPr>
      </p:sp>
      <p:sp>
        <p:nvSpPr>
          <p:cNvPr id="7" name="kbar"/>
          <p:cNvSpPr>
            <a:spLocks noGrp="1"/>
          </p:cNvSpPr>
          <p:nvPr/>
        </p:nvSpPr>
        <p:spPr>
          <a:xfrm>
            <a:off x="2258568" y="841248"/>
            <a:ext cx="1828800" cy="54864"/>
          </a:xfrm>
          <a:prstGeom prst="roundRect">
            <a:avLst>
              <a:gd name="adj" fmla="val 20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15" name="kn"/>
          <p:cNvSpPr txBox="1">
            <a:spLocks noGrp="1"/>
          </p:cNvSpPr>
          <p:nvPr/>
        </p:nvSpPr>
        <p:spPr>
          <a:xfrm>
            <a:off x="2258568" y="9144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3200" b="1" dirty="0">
                <a:solidFill>
                  <a:srgbClr val="1B7B85"/>
                </a:solidFill>
                <a:latin typeface="Calibri"/>
              </a:rPr>
              <a:t>8.85h</a:t>
            </a:r>
          </a:p>
        </p:txBody>
      </p:sp>
      <p:sp>
        <p:nvSpPr>
          <p:cNvPr id="16" name="kl"/>
          <p:cNvSpPr txBox="1">
            <a:spLocks noGrp="1"/>
          </p:cNvSpPr>
          <p:nvPr/>
        </p:nvSpPr>
        <p:spPr>
          <a:xfrm>
            <a:off x="2258568" y="137160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b="1" dirty="0">
                <a:solidFill>
                  <a:srgbClr val="1B7B85"/>
                </a:solidFill>
                <a:latin typeface="Calibri"/>
              </a:rPr>
              <a:t>MTTR Promedio Industria</a:t>
            </a:r>
          </a:p>
        </p:txBody>
      </p:sp>
      <p:sp>
        <p:nvSpPr>
          <p:cNvPr id="17" name="km"/>
          <p:cNvSpPr txBox="1">
            <a:spLocks noGrp="1"/>
          </p:cNvSpPr>
          <p:nvPr/>
        </p:nvSpPr>
        <p:spPr>
          <a:xfrm>
            <a:off x="2331720" y="1572768"/>
            <a:ext cx="1682496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i="1" dirty="0">
                <a:solidFill>
                  <a:srgbClr val="6B7280"/>
                </a:solidFill>
                <a:latin typeface="Calibri"/>
              </a:rPr>
              <a:t>&lt;4h bueno · &lt;1h world-class · &lt;2h Gen Next</a:t>
            </a:r>
          </a:p>
        </p:txBody>
      </p:sp>
      <p:sp>
        <p:nvSpPr>
          <p:cNvPr id="8" name="kb"/>
          <p:cNvSpPr>
            <a:spLocks noGrp="1"/>
          </p:cNvSpPr>
          <p:nvPr/>
        </p:nvSpPr>
        <p:spPr>
          <a:xfrm>
            <a:off x="4197096" y="841248"/>
            <a:ext cx="1828800" cy="950976"/>
          </a:xfrm>
          <a:prstGeom prst="roundRect">
            <a:avLst>
              <a:gd name="adj" fmla="val 20000"/>
            </a:avLst>
          </a:prstGeom>
          <a:solidFill>
            <a:srgbClr val="E8EDF8"/>
          </a:solidFill>
          <a:ln w="19050">
            <a:solidFill>
              <a:srgbClr val="0D1B5E"/>
            </a:solidFill>
          </a:ln>
        </p:spPr>
      </p:sp>
      <p:sp>
        <p:nvSpPr>
          <p:cNvPr id="9" name="kbar"/>
          <p:cNvSpPr>
            <a:spLocks noGrp="1"/>
          </p:cNvSpPr>
          <p:nvPr/>
        </p:nvSpPr>
        <p:spPr>
          <a:xfrm>
            <a:off x="4197096" y="841248"/>
            <a:ext cx="1828800" cy="54864"/>
          </a:xfrm>
          <a:prstGeom prst="roundRect">
            <a:avLst>
              <a:gd name="adj" fmla="val 20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18" name="kn"/>
          <p:cNvSpPr txBox="1">
            <a:spLocks noGrp="1"/>
          </p:cNvSpPr>
          <p:nvPr/>
        </p:nvSpPr>
        <p:spPr>
          <a:xfrm>
            <a:off x="4197096" y="9144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3200" b="1" dirty="0">
                <a:solidFill>
                  <a:srgbClr val="0D1B5E"/>
                </a:solidFill>
                <a:latin typeface="Calibri"/>
              </a:rPr>
              <a:t>23%</a:t>
            </a:r>
          </a:p>
        </p:txBody>
      </p:sp>
      <p:sp>
        <p:nvSpPr>
          <p:cNvPr id="19" name="kl"/>
          <p:cNvSpPr txBox="1">
            <a:spLocks noGrp="1"/>
          </p:cNvSpPr>
          <p:nvPr/>
        </p:nvSpPr>
        <p:spPr>
          <a:xfrm>
            <a:off x="4197096" y="137160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b="1" dirty="0">
                <a:solidFill>
                  <a:srgbClr val="0D1B5E"/>
                </a:solidFill>
                <a:latin typeface="Calibri"/>
              </a:rPr>
              <a:t>Deflección N0 Promedio</a:t>
            </a:r>
          </a:p>
        </p:txBody>
      </p:sp>
      <p:sp>
        <p:nvSpPr>
          <p:cNvPr id="20" name="km"/>
          <p:cNvSpPr txBox="1">
            <a:spLocks noGrp="1"/>
          </p:cNvSpPr>
          <p:nvPr/>
        </p:nvSpPr>
        <p:spPr>
          <a:xfrm>
            <a:off x="4270248" y="1572768"/>
            <a:ext cx="1682496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i="1" dirty="0">
                <a:solidFill>
                  <a:srgbClr val="6B7280"/>
                </a:solidFill>
                <a:latin typeface="Calibri"/>
              </a:rPr>
              <a:t>40-60% maduro · 80-90% líder · &gt;55% Gen Next</a:t>
            </a:r>
          </a:p>
        </p:txBody>
      </p:sp>
      <p:sp>
        <p:nvSpPr>
          <p:cNvPr id="24" name="kb"/>
          <p:cNvSpPr>
            <a:spLocks noGrp="1"/>
          </p:cNvSpPr>
          <p:nvPr/>
        </p:nvSpPr>
        <p:spPr>
          <a:xfrm>
            <a:off x="6135624" y="841248"/>
            <a:ext cx="1828800" cy="950976"/>
          </a:xfrm>
          <a:prstGeom prst="roundRect">
            <a:avLst>
              <a:gd name="adj" fmla="val 20000"/>
            </a:avLst>
          </a:prstGeom>
          <a:solidFill>
            <a:srgbClr val="E8F5EE"/>
          </a:solidFill>
          <a:ln w="19050">
            <a:solidFill>
              <a:srgbClr val="1A6B3C"/>
            </a:solidFill>
          </a:ln>
        </p:spPr>
      </p:sp>
      <p:sp>
        <p:nvSpPr>
          <p:cNvPr id="25" name="kbar"/>
          <p:cNvSpPr>
            <a:spLocks noGrp="1"/>
          </p:cNvSpPr>
          <p:nvPr/>
        </p:nvSpPr>
        <p:spPr>
          <a:xfrm>
            <a:off x="6135624" y="841248"/>
            <a:ext cx="1828800" cy="54864"/>
          </a:xfrm>
          <a:prstGeom prst="roundRect">
            <a:avLst>
              <a:gd name="adj" fmla="val 20000"/>
            </a:avLst>
          </a:prstGeom>
          <a:solidFill>
            <a:srgbClr val="1A6B3C"/>
          </a:solidFill>
          <a:ln>
            <a:noFill/>
          </a:ln>
        </p:spPr>
      </p:sp>
      <p:sp>
        <p:nvSpPr>
          <p:cNvPr id="21" name="kn"/>
          <p:cNvSpPr txBox="1">
            <a:spLocks noGrp="1"/>
          </p:cNvSpPr>
          <p:nvPr/>
        </p:nvSpPr>
        <p:spPr>
          <a:xfrm>
            <a:off x="6135624" y="9144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3200" b="1" dirty="0">
                <a:solidFill>
                  <a:srgbClr val="1A6B3C"/>
                </a:solidFill>
                <a:latin typeface="Calibri"/>
              </a:rPr>
              <a:t>73-86%</a:t>
            </a:r>
          </a:p>
        </p:txBody>
      </p:sp>
      <p:sp>
        <p:nvSpPr>
          <p:cNvPr id="22" name="kl"/>
          <p:cNvSpPr txBox="1">
            <a:spLocks noGrp="1"/>
          </p:cNvSpPr>
          <p:nvPr/>
        </p:nvSpPr>
        <p:spPr>
          <a:xfrm>
            <a:off x="6135624" y="137160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b="1" dirty="0">
                <a:solidFill>
                  <a:srgbClr val="1A6B3C"/>
                </a:solidFill>
                <a:latin typeface="Calibri"/>
              </a:rPr>
              <a:t>CSAT Promedio Industria</a:t>
            </a:r>
          </a:p>
        </p:txBody>
      </p:sp>
      <p:sp>
        <p:nvSpPr>
          <p:cNvPr id="23" name="km"/>
          <p:cNvSpPr txBox="1">
            <a:spLocks noGrp="1"/>
          </p:cNvSpPr>
          <p:nvPr/>
        </p:nvSpPr>
        <p:spPr>
          <a:xfrm>
            <a:off x="6208776" y="1572768"/>
            <a:ext cx="1682496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i="1" dirty="0">
                <a:solidFill>
                  <a:srgbClr val="6B7280"/>
                </a:solidFill>
                <a:latin typeface="Calibri"/>
              </a:rPr>
              <a:t>≥90% world-class · ≥92% Gen Next N5</a:t>
            </a:r>
          </a:p>
        </p:txBody>
      </p:sp>
      <p:sp>
        <p:nvSpPr>
          <p:cNvPr id="40" name="shhdr"/>
          <p:cNvSpPr>
            <a:spLocks noGrp="1"/>
          </p:cNvSpPr>
          <p:nvPr/>
        </p:nvSpPr>
        <p:spPr>
          <a:xfrm>
            <a:off x="320040" y="1920240"/>
            <a:ext cx="5029200" cy="237744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41" name="shhdrtxt"/>
          <p:cNvSpPr txBox="1">
            <a:spLocks noGrp="1"/>
          </p:cNvSpPr>
          <p:nvPr/>
        </p:nvSpPr>
        <p:spPr>
          <a:xfrm>
            <a:off x="320040" y="1920240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FFFFFF"/>
                </a:solidFill>
                <a:latin typeface="Calibri"/>
              </a:rPr>
              <a:t>COSTO POR TICKET — Shift-Left: cada deflexión = ahorro medible</a:t>
            </a:r>
          </a:p>
        </p:txBody>
      </p:sp>
      <p:sp>
        <p:nvSpPr>
          <p:cNvPr id="50" name="bar"/>
          <p:cNvSpPr>
            <a:spLocks noGrp="1"/>
          </p:cNvSpPr>
          <p:nvPr/>
        </p:nvSpPr>
        <p:spPr>
          <a:xfrm>
            <a:off x="1188720" y="2231136"/>
            <a:ext cx="256032" cy="292608"/>
          </a:xfrm>
          <a:prstGeom prst="roundRect">
            <a:avLst>
              <a:gd name="adj" fmla="val 6000"/>
            </a:avLst>
          </a:prstGeom>
          <a:solidFill>
            <a:srgbClr val="1A6B3C"/>
          </a:solidFill>
          <a:ln>
            <a:noFill/>
          </a:ln>
        </p:spPr>
      </p:sp>
      <p:sp>
        <p:nvSpPr>
          <p:cNvPr id="51" name="nl"/>
          <p:cNvSpPr txBox="1">
            <a:spLocks noGrp="1"/>
          </p:cNvSpPr>
          <p:nvPr/>
        </p:nvSpPr>
        <p:spPr>
          <a:xfrm>
            <a:off x="320040" y="2231136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40" b="1" dirty="0">
                <a:solidFill>
                  <a:srgbClr val="1A6B3C"/>
                </a:solidFill>
                <a:latin typeface="Calibri"/>
              </a:rPr>
              <a:t>N0</a:t>
            </a:r>
          </a:p>
        </p:txBody>
      </p:sp>
      <p:sp>
        <p:nvSpPr>
          <p:cNvPr id="52" name="cs"/>
          <p:cNvSpPr txBox="1">
            <a:spLocks noGrp="1"/>
          </p:cNvSpPr>
          <p:nvPr/>
        </p:nvSpPr>
        <p:spPr>
          <a:xfrm>
            <a:off x="1536192" y="2231136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50" b="1" dirty="0">
                <a:solidFill>
                  <a:srgbClr val="0D1B5E"/>
                </a:solidFill>
                <a:latin typeface="Calibri"/>
              </a:rPr>
              <a:t>USD 2</a:t>
            </a:r>
          </a:p>
        </p:txBody>
      </p:sp>
      <p:sp>
        <p:nvSpPr>
          <p:cNvPr id="53" name="bar"/>
          <p:cNvSpPr>
            <a:spLocks noGrp="1"/>
          </p:cNvSpPr>
          <p:nvPr/>
        </p:nvSpPr>
        <p:spPr>
          <a:xfrm>
            <a:off x="1188720" y="2578608"/>
            <a:ext cx="640080" cy="292608"/>
          </a:xfrm>
          <a:prstGeom prst="roundRect">
            <a:avLst>
              <a:gd name="adj" fmla="val 6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54" name="nl"/>
          <p:cNvSpPr txBox="1">
            <a:spLocks noGrp="1"/>
          </p:cNvSpPr>
          <p:nvPr/>
        </p:nvSpPr>
        <p:spPr>
          <a:xfrm>
            <a:off x="320040" y="2578608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40" b="1" dirty="0">
                <a:solidFill>
                  <a:srgbClr val="1B7B85"/>
                </a:solidFill>
                <a:latin typeface="Calibri"/>
              </a:rPr>
              <a:t>N1</a:t>
            </a:r>
          </a:p>
        </p:txBody>
      </p:sp>
      <p:sp>
        <p:nvSpPr>
          <p:cNvPr id="55" name="cs"/>
          <p:cNvSpPr txBox="1">
            <a:spLocks noGrp="1"/>
          </p:cNvSpPr>
          <p:nvPr/>
        </p:nvSpPr>
        <p:spPr>
          <a:xfrm>
            <a:off x="1920240" y="2578608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50" b="1" dirty="0">
                <a:solidFill>
                  <a:srgbClr val="0D1B5E"/>
                </a:solidFill>
                <a:latin typeface="Calibri"/>
              </a:rPr>
              <a:t>USD 8-22</a:t>
            </a:r>
          </a:p>
        </p:txBody>
      </p:sp>
      <p:sp>
        <p:nvSpPr>
          <p:cNvPr id="56" name="bar"/>
          <p:cNvSpPr>
            <a:spLocks noGrp="1"/>
          </p:cNvSpPr>
          <p:nvPr/>
        </p:nvSpPr>
        <p:spPr>
          <a:xfrm>
            <a:off x="1188720" y="2926080"/>
            <a:ext cx="1216152" cy="292608"/>
          </a:xfrm>
          <a:prstGeom prst="roundRect">
            <a:avLst>
              <a:gd name="adj" fmla="val 6000"/>
            </a:avLst>
          </a:prstGeom>
          <a:solidFill>
            <a:srgbClr val="1F6FBA"/>
          </a:solidFill>
          <a:ln>
            <a:noFill/>
          </a:ln>
        </p:spPr>
      </p:sp>
      <p:sp>
        <p:nvSpPr>
          <p:cNvPr id="57" name="nl"/>
          <p:cNvSpPr txBox="1">
            <a:spLocks noGrp="1"/>
          </p:cNvSpPr>
          <p:nvPr/>
        </p:nvSpPr>
        <p:spPr>
          <a:xfrm>
            <a:off x="320040" y="2926080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40" b="1" dirty="0">
                <a:solidFill>
                  <a:srgbClr val="1F6FBA"/>
                </a:solidFill>
                <a:latin typeface="Calibri"/>
              </a:rPr>
              <a:t>N2</a:t>
            </a:r>
          </a:p>
        </p:txBody>
      </p:sp>
      <p:sp>
        <p:nvSpPr>
          <p:cNvPr id="58" name="cs"/>
          <p:cNvSpPr txBox="1">
            <a:spLocks noGrp="1"/>
          </p:cNvSpPr>
          <p:nvPr/>
        </p:nvSpPr>
        <p:spPr>
          <a:xfrm>
            <a:off x="2496312" y="292608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50" b="1" dirty="0">
                <a:solidFill>
                  <a:srgbClr val="0D1B5E"/>
                </a:solidFill>
                <a:latin typeface="Calibri"/>
              </a:rPr>
              <a:t>USD 35-55</a:t>
            </a:r>
          </a:p>
        </p:txBody>
      </p:sp>
      <p:sp>
        <p:nvSpPr>
          <p:cNvPr id="59" name="bar"/>
          <p:cNvSpPr>
            <a:spLocks noGrp="1"/>
          </p:cNvSpPr>
          <p:nvPr/>
        </p:nvSpPr>
        <p:spPr>
          <a:xfrm>
            <a:off x="1188720" y="3273552"/>
            <a:ext cx="1600200" cy="292608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60" name="nl"/>
          <p:cNvSpPr txBox="1">
            <a:spLocks noGrp="1"/>
          </p:cNvSpPr>
          <p:nvPr/>
        </p:nvSpPr>
        <p:spPr>
          <a:xfrm>
            <a:off x="320040" y="3273552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40" b="1" dirty="0">
                <a:solidFill>
                  <a:srgbClr val="1A3A8F"/>
                </a:solidFill>
                <a:latin typeface="Calibri"/>
              </a:rPr>
              <a:t>N3</a:t>
            </a:r>
          </a:p>
        </p:txBody>
      </p:sp>
      <p:sp>
        <p:nvSpPr>
          <p:cNvPr id="61" name="cs"/>
          <p:cNvSpPr txBox="1">
            <a:spLocks noGrp="1"/>
          </p:cNvSpPr>
          <p:nvPr/>
        </p:nvSpPr>
        <p:spPr>
          <a:xfrm>
            <a:off x="2880360" y="3273552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50" b="1" dirty="0">
                <a:solidFill>
                  <a:srgbClr val="0D1B5E"/>
                </a:solidFill>
                <a:latin typeface="Calibri"/>
              </a:rPr>
              <a:t>USD 69</a:t>
            </a:r>
          </a:p>
        </p:txBody>
      </p:sp>
      <p:sp>
        <p:nvSpPr>
          <p:cNvPr id="62" name="bar"/>
          <p:cNvSpPr>
            <a:spLocks noGrp="1"/>
          </p:cNvSpPr>
          <p:nvPr/>
        </p:nvSpPr>
        <p:spPr>
          <a:xfrm>
            <a:off x="1188720" y="3621024"/>
            <a:ext cx="2400300" cy="292608"/>
          </a:xfrm>
          <a:prstGeom prst="roundRect">
            <a:avLst>
              <a:gd name="adj" fmla="val 6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63" name="nl"/>
          <p:cNvSpPr txBox="1">
            <a:spLocks noGrp="1"/>
          </p:cNvSpPr>
          <p:nvPr/>
        </p:nvSpPr>
        <p:spPr>
          <a:xfrm>
            <a:off x="320040" y="3621024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40" b="1" dirty="0">
                <a:solidFill>
                  <a:srgbClr val="0D1B5E"/>
                </a:solidFill>
                <a:latin typeface="Calibri"/>
              </a:rPr>
              <a:t>N4-N5</a:t>
            </a:r>
          </a:p>
        </p:txBody>
      </p:sp>
      <p:sp>
        <p:nvSpPr>
          <p:cNvPr id="64" name="cs"/>
          <p:cNvSpPr txBox="1">
            <a:spLocks noGrp="1"/>
          </p:cNvSpPr>
          <p:nvPr/>
        </p:nvSpPr>
        <p:spPr>
          <a:xfrm>
            <a:off x="3680460" y="362102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50" b="1" dirty="0">
                <a:solidFill>
                  <a:srgbClr val="0D1B5E"/>
                </a:solidFill>
                <a:latin typeface="Calibri"/>
              </a:rPr>
              <a:t>USD 104</a:t>
            </a:r>
          </a:p>
        </p:txBody>
      </p:sp>
      <p:sp>
        <p:nvSpPr>
          <p:cNvPr id="70" name="genhdr"/>
          <p:cNvSpPr>
            <a:spLocks noGrp="1"/>
          </p:cNvSpPr>
          <p:nvPr/>
        </p:nvSpPr>
        <p:spPr>
          <a:xfrm>
            <a:off x="5468112" y="1920240"/>
            <a:ext cx="2532888" cy="237744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71" name="genhdrtxt"/>
          <p:cNvSpPr txBox="1">
            <a:spLocks noGrp="1"/>
          </p:cNvSpPr>
          <p:nvPr/>
        </p:nvSpPr>
        <p:spPr>
          <a:xfrm>
            <a:off x="5468112" y="1920240"/>
            <a:ext cx="253288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20" b="1" dirty="0">
                <a:solidFill>
                  <a:srgbClr val="FFFFFF"/>
                </a:solidFill>
                <a:latin typeface="Calibri"/>
              </a:rPr>
              <a:t>IMPACTO GenAI + IA Agéntica</a:t>
            </a:r>
          </a:p>
        </p:txBody>
      </p:sp>
      <p:sp>
        <p:nvSpPr>
          <p:cNvPr id="80" name="ib"/>
          <p:cNvSpPr>
            <a:spLocks noGrp="1"/>
          </p:cNvSpPr>
          <p:nvPr/>
        </p:nvSpPr>
        <p:spPr>
          <a:xfrm>
            <a:off x="5468112" y="2231136"/>
            <a:ext cx="2532888" cy="329184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9525">
            <a:solidFill>
              <a:srgbClr val="C00000"/>
            </a:solidFill>
          </a:ln>
        </p:spPr>
      </p:sp>
      <p:sp>
        <p:nvSpPr>
          <p:cNvPr id="81" name="in"/>
          <p:cNvSpPr txBox="1">
            <a:spLocks noGrp="1"/>
          </p:cNvSpPr>
          <p:nvPr/>
        </p:nvSpPr>
        <p:spPr>
          <a:xfrm>
            <a:off x="5468112" y="2231136"/>
            <a:ext cx="8229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C00000"/>
                </a:solidFill>
                <a:latin typeface="Calibri"/>
              </a:rPr>
              <a:t>-26.6%</a:t>
            </a:r>
          </a:p>
        </p:txBody>
      </p:sp>
      <p:sp>
        <p:nvSpPr>
          <p:cNvPr id="82" name="id"/>
          <p:cNvSpPr txBox="1">
            <a:spLocks noGrp="1"/>
          </p:cNvSpPr>
          <p:nvPr/>
        </p:nvSpPr>
        <p:spPr>
          <a:xfrm>
            <a:off x="6345936" y="2267712"/>
            <a:ext cx="16093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80" dirty="0">
                <a:solidFill>
                  <a:srgbClr val="333333"/>
                </a:solidFill>
                <a:latin typeface="Calibri"/>
              </a:rPr>
              <a:t>↓ MTTR · Freshservice 2024</a:t>
            </a:r>
          </a:p>
        </p:txBody>
      </p:sp>
      <p:sp>
        <p:nvSpPr>
          <p:cNvPr id="83" name="ib"/>
          <p:cNvSpPr>
            <a:spLocks noGrp="1"/>
          </p:cNvSpPr>
          <p:nvPr/>
        </p:nvSpPr>
        <p:spPr>
          <a:xfrm>
            <a:off x="5468112" y="2596896"/>
            <a:ext cx="2532888" cy="329184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9525">
            <a:solidFill>
              <a:srgbClr val="1A6B3C"/>
            </a:solidFill>
          </a:ln>
        </p:spPr>
      </p:sp>
      <p:sp>
        <p:nvSpPr>
          <p:cNvPr id="84" name="in"/>
          <p:cNvSpPr txBox="1">
            <a:spLocks noGrp="1"/>
          </p:cNvSpPr>
          <p:nvPr/>
        </p:nvSpPr>
        <p:spPr>
          <a:xfrm>
            <a:off x="5468112" y="2596896"/>
            <a:ext cx="8229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1A6B3C"/>
                </a:solidFill>
                <a:latin typeface="Calibri"/>
              </a:rPr>
              <a:t>+34.6%</a:t>
            </a:r>
          </a:p>
        </p:txBody>
      </p:sp>
      <p:sp>
        <p:nvSpPr>
          <p:cNvPr id="85" name="id"/>
          <p:cNvSpPr txBox="1">
            <a:spLocks noGrp="1"/>
          </p:cNvSpPr>
          <p:nvPr/>
        </p:nvSpPr>
        <p:spPr>
          <a:xfrm>
            <a:off x="6345936" y="2633472"/>
            <a:ext cx="16093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80" dirty="0">
                <a:solidFill>
                  <a:srgbClr val="333333"/>
                </a:solidFill>
                <a:latin typeface="Calibri"/>
              </a:rPr>
              <a:t>↑ Resolución · Freshservice 2024</a:t>
            </a:r>
          </a:p>
        </p:txBody>
      </p:sp>
      <p:sp>
        <p:nvSpPr>
          <p:cNvPr id="86" name="ib"/>
          <p:cNvSpPr>
            <a:spLocks noGrp="1"/>
          </p:cNvSpPr>
          <p:nvPr/>
        </p:nvSpPr>
        <p:spPr>
          <a:xfrm>
            <a:off x="5468112" y="2962656"/>
            <a:ext cx="2532888" cy="329184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9525">
            <a:solidFill>
              <a:srgbClr val="C00000"/>
            </a:solidFill>
          </a:ln>
        </p:spPr>
      </p:sp>
      <p:sp>
        <p:nvSpPr>
          <p:cNvPr id="87" name="in"/>
          <p:cNvSpPr txBox="1">
            <a:spLocks noGrp="1"/>
          </p:cNvSpPr>
          <p:nvPr/>
        </p:nvSpPr>
        <p:spPr>
          <a:xfrm>
            <a:off x="5468112" y="2962656"/>
            <a:ext cx="8229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C00000"/>
                </a:solidFill>
                <a:latin typeface="Calibri"/>
              </a:rPr>
              <a:t>-60-70%</a:t>
            </a:r>
          </a:p>
        </p:txBody>
      </p:sp>
      <p:sp>
        <p:nvSpPr>
          <p:cNvPr id="88" name="id"/>
          <p:cNvSpPr txBox="1">
            <a:spLocks noGrp="1"/>
          </p:cNvSpPr>
          <p:nvPr/>
        </p:nvSpPr>
        <p:spPr>
          <a:xfrm>
            <a:off x="6345936" y="2999232"/>
            <a:ext cx="16093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80" dirty="0">
                <a:solidFill>
                  <a:srgbClr val="333333"/>
                </a:solidFill>
                <a:latin typeface="Calibri"/>
              </a:rPr>
              <a:t>↓ MTTR con IA agéntica</a:t>
            </a:r>
          </a:p>
        </p:txBody>
      </p:sp>
      <p:sp>
        <p:nvSpPr>
          <p:cNvPr id="89" name="ib"/>
          <p:cNvSpPr>
            <a:spLocks noGrp="1"/>
          </p:cNvSpPr>
          <p:nvPr/>
        </p:nvSpPr>
        <p:spPr>
          <a:xfrm>
            <a:off x="5468112" y="3328416"/>
            <a:ext cx="2532888" cy="329184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9525">
            <a:solidFill>
              <a:srgbClr val="1A6B3C"/>
            </a:solidFill>
          </a:ln>
        </p:spPr>
      </p:sp>
      <p:sp>
        <p:nvSpPr>
          <p:cNvPr id="90" name="in"/>
          <p:cNvSpPr txBox="1">
            <a:spLocks noGrp="1"/>
          </p:cNvSpPr>
          <p:nvPr/>
        </p:nvSpPr>
        <p:spPr>
          <a:xfrm>
            <a:off x="5468112" y="3328416"/>
            <a:ext cx="8229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1A6B3C"/>
                </a:solidFill>
                <a:latin typeface="Calibri"/>
              </a:rPr>
              <a:t>75-85%</a:t>
            </a:r>
          </a:p>
        </p:txBody>
      </p:sp>
      <p:sp>
        <p:nvSpPr>
          <p:cNvPr id="91" name="id"/>
          <p:cNvSpPr txBox="1">
            <a:spLocks noGrp="1"/>
          </p:cNvSpPr>
          <p:nvPr/>
        </p:nvSpPr>
        <p:spPr>
          <a:xfrm>
            <a:off x="6345936" y="3364992"/>
            <a:ext cx="16093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80" dirty="0">
                <a:solidFill>
                  <a:srgbClr val="333333"/>
                </a:solidFill>
                <a:latin typeface="Calibri"/>
              </a:rPr>
              <a:t>FCR con IA vs 40-55% trad.</a:t>
            </a:r>
          </a:p>
        </p:txBody>
      </p:sp>
      <p:sp>
        <p:nvSpPr>
          <p:cNvPr id="92" name="ib"/>
          <p:cNvSpPr>
            <a:spLocks noGrp="1"/>
          </p:cNvSpPr>
          <p:nvPr/>
        </p:nvSpPr>
        <p:spPr>
          <a:xfrm>
            <a:off x="5468112" y="3694176"/>
            <a:ext cx="2532888" cy="329184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9525">
            <a:solidFill>
              <a:srgbClr val="1A6B3C"/>
            </a:solidFill>
          </a:ln>
        </p:spPr>
      </p:sp>
      <p:sp>
        <p:nvSpPr>
          <p:cNvPr id="93" name="in"/>
          <p:cNvSpPr txBox="1">
            <a:spLocks noGrp="1"/>
          </p:cNvSpPr>
          <p:nvPr/>
        </p:nvSpPr>
        <p:spPr>
          <a:xfrm>
            <a:off x="5468112" y="3694176"/>
            <a:ext cx="8229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1A6B3C"/>
                </a:solidFill>
                <a:latin typeface="Calibri"/>
              </a:rPr>
              <a:t>70%</a:t>
            </a:r>
          </a:p>
        </p:txBody>
      </p:sp>
      <p:sp>
        <p:nvSpPr>
          <p:cNvPr id="94" name="id"/>
          <p:cNvSpPr txBox="1">
            <a:spLocks noGrp="1"/>
          </p:cNvSpPr>
          <p:nvPr/>
        </p:nvSpPr>
        <p:spPr>
          <a:xfrm>
            <a:off x="6345936" y="3730752"/>
            <a:ext cx="16093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80" dirty="0">
                <a:solidFill>
                  <a:srgbClr val="333333"/>
                </a:solidFill>
                <a:latin typeface="Calibri"/>
              </a:rPr>
              <a:t>↑ Deflexión · Robinhood/ServiceNow</a:t>
            </a:r>
          </a:p>
        </p:txBody>
      </p:sp>
      <p:sp>
        <p:nvSpPr>
          <p:cNvPr id="95" name="ib"/>
          <p:cNvSpPr>
            <a:spLocks noGrp="1"/>
          </p:cNvSpPr>
          <p:nvPr/>
        </p:nvSpPr>
        <p:spPr>
          <a:xfrm>
            <a:off x="5468112" y="4059936"/>
            <a:ext cx="2532888" cy="329184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9525">
            <a:solidFill>
              <a:srgbClr val="1A6B3C"/>
            </a:solidFill>
          </a:ln>
        </p:spPr>
      </p:sp>
      <p:sp>
        <p:nvSpPr>
          <p:cNvPr id="96" name="in"/>
          <p:cNvSpPr txBox="1">
            <a:spLocks noGrp="1"/>
          </p:cNvSpPr>
          <p:nvPr/>
        </p:nvSpPr>
        <p:spPr>
          <a:xfrm>
            <a:off x="5468112" y="4059936"/>
            <a:ext cx="8229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1A6B3C"/>
                </a:solidFill>
                <a:latin typeface="Calibri"/>
              </a:rPr>
              <a:t>84%</a:t>
            </a:r>
          </a:p>
        </p:txBody>
      </p:sp>
      <p:sp>
        <p:nvSpPr>
          <p:cNvPr id="97" name="id"/>
          <p:cNvSpPr txBox="1">
            <a:spLocks noGrp="1"/>
          </p:cNvSpPr>
          <p:nvPr/>
        </p:nvSpPr>
        <p:spPr>
          <a:xfrm>
            <a:off x="6345936" y="4096512"/>
            <a:ext cx="16093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80" dirty="0">
                <a:solidFill>
                  <a:srgbClr val="333333"/>
                </a:solidFill>
                <a:latin typeface="Calibri"/>
              </a:rPr>
              <a:t>Resolución autónoma · Salesforce</a:t>
            </a:r>
          </a:p>
        </p:txBody>
      </p:sp>
      <p:sp>
        <p:nvSpPr>
          <p:cNvPr id="999" name="src"/>
          <p:cNvSpPr txBox="1">
            <a:spLocks noGrp="1"/>
          </p:cNvSpPr>
          <p:nvPr/>
        </p:nvSpPr>
        <p:spPr>
          <a:xfrm>
            <a:off x="320040" y="44622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2"/>
              </a:rPr>
              <a:t>HDI Support Center Standard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3"/>
              </a:rPr>
              <a:t>MetricNet / HDI MTTR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4"/>
              </a:rPr>
              <a:t>Freshservice Benchmark 2024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5"/>
              </a:rPr>
              <a:t>SQM Group FCR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6"/>
              </a:rPr>
              <a:t>Giva Shift-Left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65760" y="91440"/>
            <a:ext cx="91440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2000" b="1" dirty="0">
                <a:solidFill>
                  <a:srgbClr val="FFFFFF"/>
                </a:solidFill>
                <a:latin typeface="Calibri"/>
              </a:rPr>
              <a:t>SLA vs. XLA — La Nueva Dualidad de Medicion del Servicio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65760" y="566928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dirty="0">
                <a:solidFill>
                  <a:srgbClr val="C8EBEF"/>
                </a:solidFill>
                <a:latin typeface="Calibri"/>
              </a:rPr>
              <a:t>XLA Institute · SMC Consulting · 68% adoptara XLA en 2026 · De cumplimiento a experiencia</a:t>
            </a:r>
          </a:p>
        </p:txBody>
      </p:sp>
      <p:sp>
        <p:nvSpPr>
          <p:cNvPr id="6" name="slahdr"/>
          <p:cNvSpPr>
            <a:spLocks noGrp="1"/>
          </p:cNvSpPr>
          <p:nvPr/>
        </p:nvSpPr>
        <p:spPr>
          <a:xfrm>
            <a:off x="320040" y="896112"/>
            <a:ext cx="3730752" cy="274320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7" name="slahdrtxt"/>
          <p:cNvSpPr txBox="1">
            <a:spLocks noGrp="1"/>
          </p:cNvSpPr>
          <p:nvPr/>
        </p:nvSpPr>
        <p:spPr>
          <a:xfrm>
            <a:off x="320040" y="896112"/>
            <a:ext cx="37307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FFFFFF"/>
                </a:solidFill>
                <a:latin typeface="Calibri"/>
              </a:rPr>
              <a:t>SLA — Acuerdos de Nivel de Servicio</a:t>
            </a:r>
          </a:p>
        </p:txBody>
      </p:sp>
      <p:sp>
        <p:nvSpPr>
          <p:cNvPr id="10" name="slabg"/>
          <p:cNvSpPr>
            <a:spLocks noGrp="1"/>
          </p:cNvSpPr>
          <p:nvPr/>
        </p:nvSpPr>
        <p:spPr>
          <a:xfrm>
            <a:off x="320040" y="1243584"/>
            <a:ext cx="3730752" cy="420624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11" name="slalbl"/>
          <p:cNvSpPr txBox="1">
            <a:spLocks noGrp="1"/>
          </p:cNvSpPr>
          <p:nvPr/>
        </p:nvSpPr>
        <p:spPr>
          <a:xfrm>
            <a:off x="320040" y="1243584"/>
            <a:ext cx="10058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1A3A8F"/>
                </a:solidFill>
                <a:latin typeface="Calibri"/>
              </a:rPr>
              <a:t>Mide</a:t>
            </a:r>
          </a:p>
        </p:txBody>
      </p:sp>
      <p:sp>
        <p:nvSpPr>
          <p:cNvPr id="12" name="sladesc"/>
          <p:cNvSpPr txBox="1">
            <a:spLocks noGrp="1"/>
          </p:cNvSpPr>
          <p:nvPr/>
        </p:nvSpPr>
        <p:spPr>
          <a:xfrm>
            <a:off x="1371600" y="1298448"/>
            <a:ext cx="261518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dirty="0">
                <a:solidFill>
                  <a:srgbClr val="333333"/>
                </a:solidFill>
                <a:latin typeface="Calibri"/>
              </a:rPr>
              <a:t>Cumplimiento de tiempos y disponibilidad tecnica</a:t>
            </a:r>
          </a:p>
        </p:txBody>
      </p:sp>
      <p:sp>
        <p:nvSpPr>
          <p:cNvPr id="13" name="slabg"/>
          <p:cNvSpPr>
            <a:spLocks noGrp="1"/>
          </p:cNvSpPr>
          <p:nvPr/>
        </p:nvSpPr>
        <p:spPr>
          <a:xfrm>
            <a:off x="320040" y="1700784"/>
            <a:ext cx="373075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4" name="slalbl"/>
          <p:cNvSpPr txBox="1">
            <a:spLocks noGrp="1"/>
          </p:cNvSpPr>
          <p:nvPr/>
        </p:nvSpPr>
        <p:spPr>
          <a:xfrm>
            <a:off x="320040" y="1700784"/>
            <a:ext cx="10058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1A3A8F"/>
                </a:solidFill>
                <a:latin typeface="Calibri"/>
              </a:rPr>
              <a:t>Enfoque</a:t>
            </a:r>
          </a:p>
        </p:txBody>
      </p:sp>
      <p:sp>
        <p:nvSpPr>
          <p:cNvPr id="15" name="sladesc"/>
          <p:cNvSpPr txBox="1">
            <a:spLocks noGrp="1"/>
          </p:cNvSpPr>
          <p:nvPr/>
        </p:nvSpPr>
        <p:spPr>
          <a:xfrm>
            <a:off x="1371600" y="1755648"/>
            <a:ext cx="261518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dirty="0">
                <a:solidFill>
                  <a:srgbClr val="333333"/>
                </a:solidFill>
                <a:latin typeface="Calibri"/>
              </a:rPr>
              <a:t>El PROVEEDOR: lo que entrego segun el contrato</a:t>
            </a:r>
          </a:p>
        </p:txBody>
      </p:sp>
      <p:sp>
        <p:nvSpPr>
          <p:cNvPr id="16" name="slabg"/>
          <p:cNvSpPr>
            <a:spLocks noGrp="1"/>
          </p:cNvSpPr>
          <p:nvPr/>
        </p:nvSpPr>
        <p:spPr>
          <a:xfrm>
            <a:off x="320040" y="2157984"/>
            <a:ext cx="3730752" cy="420624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17" name="slalbl"/>
          <p:cNvSpPr txBox="1">
            <a:spLocks noGrp="1"/>
          </p:cNvSpPr>
          <p:nvPr/>
        </p:nvSpPr>
        <p:spPr>
          <a:xfrm>
            <a:off x="320040" y="2157984"/>
            <a:ext cx="10058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1A3A8F"/>
                </a:solidFill>
                <a:latin typeface="Calibri"/>
              </a:rPr>
              <a:t>Pregunta clave</a:t>
            </a:r>
          </a:p>
        </p:txBody>
      </p:sp>
      <p:sp>
        <p:nvSpPr>
          <p:cNvPr id="18" name="sladesc"/>
          <p:cNvSpPr txBox="1">
            <a:spLocks noGrp="1"/>
          </p:cNvSpPr>
          <p:nvPr/>
        </p:nvSpPr>
        <p:spPr>
          <a:xfrm>
            <a:off x="1371600" y="2212848"/>
            <a:ext cx="261518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dirty="0">
                <a:solidFill>
                  <a:srgbClr val="333333"/>
                </a:solidFill>
                <a:latin typeface="Calibri"/>
              </a:rPr>
              <a:t>Se resolvio dentro del tiempo acordado?</a:t>
            </a:r>
          </a:p>
        </p:txBody>
      </p:sp>
      <p:sp>
        <p:nvSpPr>
          <p:cNvPr id="19" name="slabg"/>
          <p:cNvSpPr>
            <a:spLocks noGrp="1"/>
          </p:cNvSpPr>
          <p:nvPr/>
        </p:nvSpPr>
        <p:spPr>
          <a:xfrm>
            <a:off x="320040" y="2615184"/>
            <a:ext cx="373075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20" name="slalbl"/>
          <p:cNvSpPr txBox="1">
            <a:spLocks noGrp="1"/>
          </p:cNvSpPr>
          <p:nvPr/>
        </p:nvSpPr>
        <p:spPr>
          <a:xfrm>
            <a:off x="320040" y="2615184"/>
            <a:ext cx="10058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1A3A8F"/>
                </a:solidFill>
                <a:latin typeface="Calibri"/>
              </a:rPr>
              <a:t>Indicadores</a:t>
            </a:r>
          </a:p>
        </p:txBody>
      </p:sp>
      <p:sp>
        <p:nvSpPr>
          <p:cNvPr id="21" name="sladesc"/>
          <p:cNvSpPr txBox="1">
            <a:spLocks noGrp="1"/>
          </p:cNvSpPr>
          <p:nvPr/>
        </p:nvSpPr>
        <p:spPr>
          <a:xfrm>
            <a:off x="1371600" y="2670048"/>
            <a:ext cx="261518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dirty="0">
                <a:solidFill>
                  <a:srgbClr val="333333"/>
                </a:solidFill>
                <a:latin typeface="Calibri"/>
              </a:rPr>
              <a:t>MTTR, FCR, disponibilidad, cumplimiento SLA</a:t>
            </a:r>
          </a:p>
        </p:txBody>
      </p:sp>
      <p:sp>
        <p:nvSpPr>
          <p:cNvPr id="22" name="slabg"/>
          <p:cNvSpPr>
            <a:spLocks noGrp="1"/>
          </p:cNvSpPr>
          <p:nvPr/>
        </p:nvSpPr>
        <p:spPr>
          <a:xfrm>
            <a:off x="320040" y="3072384"/>
            <a:ext cx="3730752" cy="420624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23" name="slalbl"/>
          <p:cNvSpPr txBox="1">
            <a:spLocks noGrp="1"/>
          </p:cNvSpPr>
          <p:nvPr/>
        </p:nvSpPr>
        <p:spPr>
          <a:xfrm>
            <a:off x="320040" y="3072384"/>
            <a:ext cx="10058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1A3A8F"/>
                </a:solidFill>
                <a:latin typeface="Calibri"/>
              </a:rPr>
              <a:t>Riesgo</a:t>
            </a:r>
          </a:p>
        </p:txBody>
      </p:sp>
      <p:sp>
        <p:nvSpPr>
          <p:cNvPr id="24" name="sladesc"/>
          <p:cNvSpPr txBox="1">
            <a:spLocks noGrp="1"/>
          </p:cNvSpPr>
          <p:nvPr/>
        </p:nvSpPr>
        <p:spPr>
          <a:xfrm>
            <a:off x="1371600" y="3127248"/>
            <a:ext cx="261518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dirty="0">
                <a:solidFill>
                  <a:srgbClr val="333333"/>
                </a:solidFill>
                <a:latin typeface="Calibri"/>
              </a:rPr>
              <a:t>Verde en SLA con baja satisfaccion del usuario</a:t>
            </a:r>
          </a:p>
        </p:txBody>
      </p:sp>
      <p:sp>
        <p:nvSpPr>
          <p:cNvPr id="25" name="slabg"/>
          <p:cNvSpPr>
            <a:spLocks noGrp="1"/>
          </p:cNvSpPr>
          <p:nvPr/>
        </p:nvSpPr>
        <p:spPr>
          <a:xfrm>
            <a:off x="320040" y="3529584"/>
            <a:ext cx="373075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26" name="slalbl"/>
          <p:cNvSpPr txBox="1">
            <a:spLocks noGrp="1"/>
          </p:cNvSpPr>
          <p:nvPr/>
        </p:nvSpPr>
        <p:spPr>
          <a:xfrm>
            <a:off x="320040" y="3529584"/>
            <a:ext cx="10058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1A3A8F"/>
                </a:solidFill>
                <a:latin typeface="Calibri"/>
              </a:rPr>
              <a:t>Resultado</a:t>
            </a:r>
          </a:p>
        </p:txBody>
      </p:sp>
      <p:sp>
        <p:nvSpPr>
          <p:cNvPr id="27" name="sladesc"/>
          <p:cNvSpPr txBox="1">
            <a:spLocks noGrp="1"/>
          </p:cNvSpPr>
          <p:nvPr/>
        </p:nvSpPr>
        <p:spPr>
          <a:xfrm>
            <a:off x="1371600" y="3584448"/>
            <a:ext cx="261518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dirty="0">
                <a:solidFill>
                  <a:srgbClr val="333333"/>
                </a:solidFill>
                <a:latin typeface="Calibri"/>
              </a:rPr>
              <a:t>Un numero que dice si se cumplio o no</a:t>
            </a:r>
          </a:p>
        </p:txBody>
      </p:sp>
      <p:sp>
        <p:nvSpPr>
          <p:cNvPr id="40" name="div"/>
          <p:cNvSpPr>
            <a:spLocks noGrp="1"/>
          </p:cNvSpPr>
          <p:nvPr/>
        </p:nvSpPr>
        <p:spPr>
          <a:xfrm>
            <a:off x="4096512" y="896112"/>
            <a:ext cx="73152" cy="3383280"/>
          </a:xfrm>
          <a:prstGeom prst="rect">
            <a:avLst/>
          </a:prstGeom>
          <a:solidFill>
            <a:srgbClr val="1F6FBA"/>
          </a:solidFill>
          <a:ln>
            <a:noFill/>
          </a:ln>
        </p:spPr>
      </p:sp>
      <p:sp>
        <p:nvSpPr>
          <p:cNvPr id="41" name="divtxt"/>
          <p:cNvSpPr txBox="1">
            <a:spLocks noGrp="1"/>
          </p:cNvSpPr>
          <p:nvPr/>
        </p:nvSpPr>
        <p:spPr>
          <a:xfrm>
            <a:off x="3950208" y="228600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1F6FBA"/>
                </a:solidFill>
                <a:latin typeface="Calibri"/>
              </a:rPr>
              <a:t>vs</a:t>
            </a:r>
          </a:p>
        </p:txBody>
      </p:sp>
      <p:sp>
        <p:nvSpPr>
          <p:cNvPr id="50" name="xlahdr"/>
          <p:cNvSpPr>
            <a:spLocks noGrp="1"/>
          </p:cNvSpPr>
          <p:nvPr/>
        </p:nvSpPr>
        <p:spPr>
          <a:xfrm>
            <a:off x="4215384" y="896112"/>
            <a:ext cx="3822191" cy="274320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51" name="xlahdrtxt"/>
          <p:cNvSpPr txBox="1">
            <a:spLocks noGrp="1"/>
          </p:cNvSpPr>
          <p:nvPr/>
        </p:nvSpPr>
        <p:spPr>
          <a:xfrm>
            <a:off x="4215384" y="896112"/>
            <a:ext cx="3822191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FFFFFF"/>
                </a:solidFill>
                <a:latin typeface="Calibri"/>
              </a:rPr>
              <a:t>XLA — Experience Level Agreements</a:t>
            </a:r>
          </a:p>
        </p:txBody>
      </p:sp>
      <p:sp>
        <p:nvSpPr>
          <p:cNvPr id="60" name="xlabg"/>
          <p:cNvSpPr>
            <a:spLocks noGrp="1"/>
          </p:cNvSpPr>
          <p:nvPr/>
        </p:nvSpPr>
        <p:spPr>
          <a:xfrm>
            <a:off x="4215384" y="1243584"/>
            <a:ext cx="3822191" cy="420624"/>
          </a:xfrm>
          <a:prstGeom prst="rect">
            <a:avLst/>
          </a:prstGeom>
          <a:solidFill>
            <a:srgbClr val="E8F6F7"/>
          </a:solidFill>
          <a:ln w="6350">
            <a:solidFill>
              <a:srgbClr val="1B7B85"/>
            </a:solidFill>
          </a:ln>
        </p:spPr>
      </p:sp>
      <p:sp>
        <p:nvSpPr>
          <p:cNvPr id="61" name="xlalbl"/>
          <p:cNvSpPr txBox="1">
            <a:spLocks noGrp="1"/>
          </p:cNvSpPr>
          <p:nvPr/>
        </p:nvSpPr>
        <p:spPr>
          <a:xfrm>
            <a:off x="4215384" y="1243584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1B7B85"/>
                </a:solidFill>
                <a:latin typeface="Calibri"/>
              </a:rPr>
              <a:t>Mide</a:t>
            </a:r>
          </a:p>
        </p:txBody>
      </p:sp>
      <p:sp>
        <p:nvSpPr>
          <p:cNvPr id="62" name="xladesc"/>
          <p:cNvSpPr txBox="1">
            <a:spLocks noGrp="1"/>
          </p:cNvSpPr>
          <p:nvPr/>
        </p:nvSpPr>
        <p:spPr>
          <a:xfrm>
            <a:off x="5358384" y="1298448"/>
            <a:ext cx="26060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dirty="0">
                <a:solidFill>
                  <a:srgbClr val="333333"/>
                </a:solidFill>
                <a:latin typeface="Calibri"/>
              </a:rPr>
              <a:t>Experiencia real del usuario: satisfaccion, esfuerzo, percepcion</a:t>
            </a:r>
          </a:p>
        </p:txBody>
      </p:sp>
      <p:sp>
        <p:nvSpPr>
          <p:cNvPr id="63" name="xlabg"/>
          <p:cNvSpPr>
            <a:spLocks noGrp="1"/>
          </p:cNvSpPr>
          <p:nvPr/>
        </p:nvSpPr>
        <p:spPr>
          <a:xfrm>
            <a:off x="4215384" y="1700784"/>
            <a:ext cx="3822191" cy="420624"/>
          </a:xfrm>
          <a:prstGeom prst="rect">
            <a:avLst/>
          </a:prstGeom>
          <a:solidFill>
            <a:srgbClr val="F0FBFC"/>
          </a:solidFill>
          <a:ln w="6350">
            <a:solidFill>
              <a:srgbClr val="1B7B85"/>
            </a:solidFill>
          </a:ln>
        </p:spPr>
      </p:sp>
      <p:sp>
        <p:nvSpPr>
          <p:cNvPr id="64" name="xlalbl"/>
          <p:cNvSpPr txBox="1">
            <a:spLocks noGrp="1"/>
          </p:cNvSpPr>
          <p:nvPr/>
        </p:nvSpPr>
        <p:spPr>
          <a:xfrm>
            <a:off x="4215384" y="1700784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1B7B85"/>
                </a:solidFill>
                <a:latin typeface="Calibri"/>
              </a:rPr>
              <a:t>Enfoque</a:t>
            </a:r>
          </a:p>
        </p:txBody>
      </p:sp>
      <p:sp>
        <p:nvSpPr>
          <p:cNvPr id="65" name="xladesc"/>
          <p:cNvSpPr txBox="1">
            <a:spLocks noGrp="1"/>
          </p:cNvSpPr>
          <p:nvPr/>
        </p:nvSpPr>
        <p:spPr>
          <a:xfrm>
            <a:off x="5358384" y="1755648"/>
            <a:ext cx="26060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dirty="0">
                <a:solidFill>
                  <a:srgbClr val="333333"/>
                </a:solidFill>
                <a:latin typeface="Calibri"/>
              </a:rPr>
              <a:t>El USUARIO: lo que vivio e interpreto del servicio</a:t>
            </a:r>
          </a:p>
        </p:txBody>
      </p:sp>
      <p:sp>
        <p:nvSpPr>
          <p:cNvPr id="66" name="xlabg"/>
          <p:cNvSpPr>
            <a:spLocks noGrp="1"/>
          </p:cNvSpPr>
          <p:nvPr/>
        </p:nvSpPr>
        <p:spPr>
          <a:xfrm>
            <a:off x="4215384" y="2157984"/>
            <a:ext cx="3822191" cy="420624"/>
          </a:xfrm>
          <a:prstGeom prst="rect">
            <a:avLst/>
          </a:prstGeom>
          <a:solidFill>
            <a:srgbClr val="E8F6F7"/>
          </a:solidFill>
          <a:ln w="6350">
            <a:solidFill>
              <a:srgbClr val="1B7B85"/>
            </a:solidFill>
          </a:ln>
        </p:spPr>
      </p:sp>
      <p:sp>
        <p:nvSpPr>
          <p:cNvPr id="67" name="xlalbl"/>
          <p:cNvSpPr txBox="1">
            <a:spLocks noGrp="1"/>
          </p:cNvSpPr>
          <p:nvPr/>
        </p:nvSpPr>
        <p:spPr>
          <a:xfrm>
            <a:off x="4215384" y="2157984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1B7B85"/>
                </a:solidFill>
                <a:latin typeface="Calibri"/>
              </a:rPr>
              <a:t>Pregunta clave</a:t>
            </a:r>
          </a:p>
        </p:txBody>
      </p:sp>
      <p:sp>
        <p:nvSpPr>
          <p:cNvPr id="68" name="xladesc"/>
          <p:cNvSpPr txBox="1">
            <a:spLocks noGrp="1"/>
          </p:cNvSpPr>
          <p:nvPr/>
        </p:nvSpPr>
        <p:spPr>
          <a:xfrm>
            <a:off x="5358384" y="2212848"/>
            <a:ext cx="26060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dirty="0">
                <a:solidFill>
                  <a:srgbClr val="333333"/>
                </a:solidFill>
                <a:latin typeface="Calibri"/>
              </a:rPr>
              <a:t>El usuario quedo satisfecho y fue facil resolver?</a:t>
            </a:r>
          </a:p>
        </p:txBody>
      </p:sp>
      <p:sp>
        <p:nvSpPr>
          <p:cNvPr id="69" name="xlabg"/>
          <p:cNvSpPr>
            <a:spLocks noGrp="1"/>
          </p:cNvSpPr>
          <p:nvPr/>
        </p:nvSpPr>
        <p:spPr>
          <a:xfrm>
            <a:off x="4215384" y="2615184"/>
            <a:ext cx="3822191" cy="420624"/>
          </a:xfrm>
          <a:prstGeom prst="rect">
            <a:avLst/>
          </a:prstGeom>
          <a:solidFill>
            <a:srgbClr val="F0FBFC"/>
          </a:solidFill>
          <a:ln w="6350">
            <a:solidFill>
              <a:srgbClr val="1B7B85"/>
            </a:solidFill>
          </a:ln>
        </p:spPr>
      </p:sp>
      <p:sp>
        <p:nvSpPr>
          <p:cNvPr id="70" name="xlalbl"/>
          <p:cNvSpPr txBox="1">
            <a:spLocks noGrp="1"/>
          </p:cNvSpPr>
          <p:nvPr/>
        </p:nvSpPr>
        <p:spPr>
          <a:xfrm>
            <a:off x="4215384" y="2615184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1B7B85"/>
                </a:solidFill>
                <a:latin typeface="Calibri"/>
              </a:rPr>
              <a:t>Indicadores</a:t>
            </a:r>
          </a:p>
        </p:txBody>
      </p:sp>
      <p:sp>
        <p:nvSpPr>
          <p:cNvPr id="71" name="xladesc"/>
          <p:cNvSpPr txBox="1">
            <a:spLocks noGrp="1"/>
          </p:cNvSpPr>
          <p:nvPr/>
        </p:nvSpPr>
        <p:spPr>
          <a:xfrm>
            <a:off x="5358384" y="2670048"/>
            <a:ext cx="26060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dirty="0">
                <a:solidFill>
                  <a:srgbClr val="333333"/>
                </a:solidFill>
                <a:latin typeface="Calibri"/>
              </a:rPr>
              <a:t>NPS, CSAT, CES, DEX, sentimiento, tiempo a productividad</a:t>
            </a:r>
          </a:p>
        </p:txBody>
      </p:sp>
      <p:sp>
        <p:nvSpPr>
          <p:cNvPr id="72" name="xlabg"/>
          <p:cNvSpPr>
            <a:spLocks noGrp="1"/>
          </p:cNvSpPr>
          <p:nvPr/>
        </p:nvSpPr>
        <p:spPr>
          <a:xfrm>
            <a:off x="4215384" y="3072384"/>
            <a:ext cx="3822191" cy="420624"/>
          </a:xfrm>
          <a:prstGeom prst="rect">
            <a:avLst/>
          </a:prstGeom>
          <a:solidFill>
            <a:srgbClr val="E8F6F7"/>
          </a:solidFill>
          <a:ln w="6350">
            <a:solidFill>
              <a:srgbClr val="1B7B85"/>
            </a:solidFill>
          </a:ln>
        </p:spPr>
      </p:sp>
      <p:sp>
        <p:nvSpPr>
          <p:cNvPr id="73" name="xlalbl"/>
          <p:cNvSpPr txBox="1">
            <a:spLocks noGrp="1"/>
          </p:cNvSpPr>
          <p:nvPr/>
        </p:nvSpPr>
        <p:spPr>
          <a:xfrm>
            <a:off x="4215384" y="3072384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1B7B85"/>
                </a:solidFill>
                <a:latin typeface="Calibri"/>
              </a:rPr>
              <a:t>Diferencial</a:t>
            </a:r>
          </a:p>
        </p:txBody>
      </p:sp>
      <p:sp>
        <p:nvSpPr>
          <p:cNvPr id="74" name="xladesc"/>
          <p:cNvSpPr txBox="1">
            <a:spLocks noGrp="1"/>
          </p:cNvSpPr>
          <p:nvPr/>
        </p:nvSpPr>
        <p:spPr>
          <a:xfrm>
            <a:off x="5358384" y="3127248"/>
            <a:ext cx="26060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dirty="0">
                <a:solidFill>
                  <a:srgbClr val="333333"/>
                </a:solidFill>
                <a:latin typeface="Calibri"/>
              </a:rPr>
              <a:t>Detecta insatisfaccion aunque el SLA este en verde</a:t>
            </a:r>
          </a:p>
        </p:txBody>
      </p:sp>
      <p:sp>
        <p:nvSpPr>
          <p:cNvPr id="75" name="xlabg"/>
          <p:cNvSpPr>
            <a:spLocks noGrp="1"/>
          </p:cNvSpPr>
          <p:nvPr/>
        </p:nvSpPr>
        <p:spPr>
          <a:xfrm>
            <a:off x="4215384" y="3529584"/>
            <a:ext cx="3822191" cy="420624"/>
          </a:xfrm>
          <a:prstGeom prst="rect">
            <a:avLst/>
          </a:prstGeom>
          <a:solidFill>
            <a:srgbClr val="F0FBFC"/>
          </a:solidFill>
          <a:ln w="6350">
            <a:solidFill>
              <a:srgbClr val="1B7B85"/>
            </a:solidFill>
          </a:ln>
        </p:spPr>
      </p:sp>
      <p:sp>
        <p:nvSpPr>
          <p:cNvPr id="76" name="xlalbl"/>
          <p:cNvSpPr txBox="1">
            <a:spLocks noGrp="1"/>
          </p:cNvSpPr>
          <p:nvPr/>
        </p:nvSpPr>
        <p:spPr>
          <a:xfrm>
            <a:off x="4215384" y="3529584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1B7B85"/>
                </a:solidFill>
                <a:latin typeface="Calibri"/>
              </a:rPr>
              <a:t>Resultado</a:t>
            </a:r>
          </a:p>
        </p:txBody>
      </p:sp>
      <p:sp>
        <p:nvSpPr>
          <p:cNvPr id="77" name="xladesc"/>
          <p:cNvSpPr txBox="1">
            <a:spLocks noGrp="1"/>
          </p:cNvSpPr>
          <p:nvPr/>
        </p:nvSpPr>
        <p:spPr>
          <a:xfrm>
            <a:off x="5358384" y="3584448"/>
            <a:ext cx="26060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dirty="0">
                <a:solidFill>
                  <a:srgbClr val="333333"/>
                </a:solidFill>
                <a:latin typeface="Calibri"/>
              </a:rPr>
              <a:t>Una experiencia que el usuario recomienda o no</a:t>
            </a:r>
          </a:p>
        </p:txBody>
      </p:sp>
      <p:sp>
        <p:nvSpPr>
          <p:cNvPr id="80" name="capashdr"/>
          <p:cNvSpPr>
            <a:spLocks noGrp="1"/>
          </p:cNvSpPr>
          <p:nvPr/>
        </p:nvSpPr>
        <p:spPr>
          <a:xfrm>
            <a:off x="320040" y="4005072"/>
            <a:ext cx="7717536" cy="237744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81" name="capashdrtxt"/>
          <p:cNvSpPr txBox="1">
            <a:spLocks noGrp="1"/>
          </p:cNvSpPr>
          <p:nvPr/>
        </p:nvSpPr>
        <p:spPr>
          <a:xfrm>
            <a:off x="320040" y="4005072"/>
            <a:ext cx="771753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FFFFFF"/>
                </a:solidFill>
                <a:latin typeface="Calibri"/>
              </a:rPr>
              <a:t>DASHBOARD DE 4 CAPAS PARA REPORTE EJECUTIVO SLA/XLA (SMC Consulting)</a:t>
            </a:r>
          </a:p>
        </p:txBody>
      </p:sp>
      <p:sp>
        <p:nvSpPr>
          <p:cNvPr id="90" name="cpbg"/>
          <p:cNvSpPr>
            <a:spLocks noGrp="1"/>
          </p:cNvSpPr>
          <p:nvPr/>
        </p:nvSpPr>
        <p:spPr>
          <a:xfrm>
            <a:off x="320040" y="4297680"/>
            <a:ext cx="1874519" cy="329184"/>
          </a:xfrm>
          <a:prstGeom prst="roundRect">
            <a:avLst>
              <a:gd name="adj" fmla="val 8000"/>
            </a:avLst>
          </a:prstGeom>
          <a:solidFill>
            <a:srgbClr val="E8EDF8"/>
          </a:solidFill>
          <a:ln w="12700">
            <a:solidFill>
              <a:srgbClr val="0D1B5E"/>
            </a:solidFill>
          </a:ln>
        </p:spPr>
      </p:sp>
      <p:sp>
        <p:nvSpPr>
          <p:cNvPr id="91" name="cpnum"/>
          <p:cNvSpPr>
            <a:spLocks noGrp="1"/>
          </p:cNvSpPr>
          <p:nvPr/>
        </p:nvSpPr>
        <p:spPr>
          <a:xfrm>
            <a:off x="320040" y="4297680"/>
            <a:ext cx="256032" cy="329184"/>
          </a:xfrm>
          <a:prstGeom prst="roundRect">
            <a:avLst>
              <a:gd name="adj" fmla="val 8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92" name="cpnum2"/>
          <p:cNvSpPr txBox="1">
            <a:spLocks noGrp="1"/>
          </p:cNvSpPr>
          <p:nvPr/>
        </p:nvSpPr>
        <p:spPr>
          <a:xfrm>
            <a:off x="320040" y="4297680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3" name="cpnom"/>
          <p:cNvSpPr txBox="1">
            <a:spLocks noGrp="1"/>
          </p:cNvSpPr>
          <p:nvPr/>
        </p:nvSpPr>
        <p:spPr>
          <a:xfrm>
            <a:off x="612648" y="4315968"/>
            <a:ext cx="1545335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0D1B5E"/>
                </a:solidFill>
                <a:latin typeface="Calibri"/>
              </a:rPr>
              <a:t>Confiabilidad Operacional</a:t>
            </a:r>
          </a:p>
        </p:txBody>
      </p:sp>
      <p:sp>
        <p:nvSpPr>
          <p:cNvPr id="94" name="cpmet"/>
          <p:cNvSpPr txBox="1">
            <a:spLocks noGrp="1"/>
          </p:cNvSpPr>
          <p:nvPr/>
        </p:nvSpPr>
        <p:spPr>
          <a:xfrm>
            <a:off x="612648" y="4462272"/>
            <a:ext cx="1545335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40" dirty="0">
                <a:solidFill>
                  <a:srgbClr val="6B7280"/>
                </a:solidFill>
                <a:latin typeface="Calibri"/>
              </a:rPr>
              <a:t>Disponibilidad · SLA · MTTR · Incidentes P1 · Exito cambios</a:t>
            </a:r>
          </a:p>
        </p:txBody>
      </p:sp>
      <p:sp>
        <p:nvSpPr>
          <p:cNvPr id="8" name="cpbg"/>
          <p:cNvSpPr>
            <a:spLocks noGrp="1"/>
          </p:cNvSpPr>
          <p:nvPr/>
        </p:nvSpPr>
        <p:spPr>
          <a:xfrm>
            <a:off x="2285999" y="4297680"/>
            <a:ext cx="1874519" cy="329184"/>
          </a:xfrm>
          <a:prstGeom prst="roundRect">
            <a:avLst>
              <a:gd name="adj" fmla="val 8000"/>
            </a:avLst>
          </a:prstGeom>
          <a:solidFill>
            <a:srgbClr val="EBF3FF"/>
          </a:solidFill>
          <a:ln w="12700">
            <a:solidFill>
              <a:srgbClr val="1A3A8F"/>
            </a:solidFill>
          </a:ln>
        </p:spPr>
      </p:sp>
      <p:sp>
        <p:nvSpPr>
          <p:cNvPr id="95" name="cpnum"/>
          <p:cNvSpPr>
            <a:spLocks noGrp="1"/>
          </p:cNvSpPr>
          <p:nvPr/>
        </p:nvSpPr>
        <p:spPr>
          <a:xfrm>
            <a:off x="2285999" y="4297680"/>
            <a:ext cx="256032" cy="329184"/>
          </a:xfrm>
          <a:prstGeom prst="roundRect">
            <a:avLst>
              <a:gd name="adj" fmla="val 8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96" name="cpnum2"/>
          <p:cNvSpPr txBox="1">
            <a:spLocks noGrp="1"/>
          </p:cNvSpPr>
          <p:nvPr/>
        </p:nvSpPr>
        <p:spPr>
          <a:xfrm>
            <a:off x="2285999" y="4297680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7" name="cpnom"/>
          <p:cNvSpPr txBox="1">
            <a:spLocks noGrp="1"/>
          </p:cNvSpPr>
          <p:nvPr/>
        </p:nvSpPr>
        <p:spPr>
          <a:xfrm>
            <a:off x="2578607" y="4315968"/>
            <a:ext cx="1545335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1A3A8F"/>
                </a:solidFill>
                <a:latin typeface="Calibri"/>
              </a:rPr>
              <a:t>Eficiencia Service Desk</a:t>
            </a:r>
          </a:p>
        </p:txBody>
      </p:sp>
      <p:sp>
        <p:nvSpPr>
          <p:cNvPr id="98" name="cpmet"/>
          <p:cNvSpPr txBox="1">
            <a:spLocks noGrp="1"/>
          </p:cNvSpPr>
          <p:nvPr/>
        </p:nvSpPr>
        <p:spPr>
          <a:xfrm>
            <a:off x="2578607" y="4462272"/>
            <a:ext cx="1545335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40" dirty="0">
                <a:solidFill>
                  <a:srgbClr val="6B7280"/>
                </a:solidFill>
                <a:latin typeface="Calibri"/>
              </a:rPr>
              <a:t>Volumen tickets · FCR · Backlog · Costo/ticket · Autoservicio</a:t>
            </a:r>
          </a:p>
        </p:txBody>
      </p:sp>
      <p:sp>
        <p:nvSpPr>
          <p:cNvPr id="9" name="cpbg"/>
          <p:cNvSpPr>
            <a:spLocks noGrp="1"/>
          </p:cNvSpPr>
          <p:nvPr/>
        </p:nvSpPr>
        <p:spPr>
          <a:xfrm>
            <a:off x="4251958" y="4297680"/>
            <a:ext cx="1874519" cy="329184"/>
          </a:xfrm>
          <a:prstGeom prst="roundRect">
            <a:avLst>
              <a:gd name="adj" fmla="val 8000"/>
            </a:avLst>
          </a:prstGeom>
          <a:solidFill>
            <a:srgbClr val="E8F6F7"/>
          </a:solidFill>
          <a:ln w="12700">
            <a:solidFill>
              <a:srgbClr val="1B7B85"/>
            </a:solidFill>
          </a:ln>
        </p:spPr>
      </p:sp>
      <p:sp>
        <p:nvSpPr>
          <p:cNvPr id="99" name="cpnum"/>
          <p:cNvSpPr>
            <a:spLocks noGrp="1"/>
          </p:cNvSpPr>
          <p:nvPr/>
        </p:nvSpPr>
        <p:spPr>
          <a:xfrm>
            <a:off x="4251958" y="4297680"/>
            <a:ext cx="256032" cy="329184"/>
          </a:xfrm>
          <a:prstGeom prst="roundRect">
            <a:avLst>
              <a:gd name="adj" fmla="val 8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100" name="cpnum2"/>
          <p:cNvSpPr txBox="1">
            <a:spLocks noGrp="1"/>
          </p:cNvSpPr>
          <p:nvPr/>
        </p:nvSpPr>
        <p:spPr>
          <a:xfrm>
            <a:off x="4251958" y="4297680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1" name="cpnom"/>
          <p:cNvSpPr txBox="1">
            <a:spLocks noGrp="1"/>
          </p:cNvSpPr>
          <p:nvPr/>
        </p:nvSpPr>
        <p:spPr>
          <a:xfrm>
            <a:off x="4544566" y="4315968"/>
            <a:ext cx="1545335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1B7B85"/>
                </a:solidFill>
                <a:latin typeface="Calibri"/>
              </a:rPr>
              <a:t>Experiencia de Usuario</a:t>
            </a:r>
          </a:p>
        </p:txBody>
      </p:sp>
      <p:sp>
        <p:nvSpPr>
          <p:cNvPr id="102" name="cpmet"/>
          <p:cNvSpPr txBox="1">
            <a:spLocks noGrp="1"/>
          </p:cNvSpPr>
          <p:nvPr/>
        </p:nvSpPr>
        <p:spPr>
          <a:xfrm>
            <a:off x="4544566" y="4462272"/>
            <a:ext cx="1545335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40" dirty="0">
                <a:solidFill>
                  <a:srgbClr val="6B7280"/>
                </a:solidFill>
                <a:latin typeface="Calibri"/>
              </a:rPr>
              <a:t>CSAT · CES · NPS · Sentimiento · Experiencia por canal</a:t>
            </a:r>
          </a:p>
        </p:txBody>
      </p:sp>
      <p:sp>
        <p:nvSpPr>
          <p:cNvPr id="28" name="cpbg"/>
          <p:cNvSpPr>
            <a:spLocks noGrp="1"/>
          </p:cNvSpPr>
          <p:nvPr/>
        </p:nvSpPr>
        <p:spPr>
          <a:xfrm>
            <a:off x="6217917" y="4297680"/>
            <a:ext cx="1874519" cy="329184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2700">
            <a:solidFill>
              <a:srgbClr val="1A6B3C"/>
            </a:solidFill>
          </a:ln>
        </p:spPr>
      </p:sp>
      <p:sp>
        <p:nvSpPr>
          <p:cNvPr id="103" name="cpnum"/>
          <p:cNvSpPr>
            <a:spLocks noGrp="1"/>
          </p:cNvSpPr>
          <p:nvPr/>
        </p:nvSpPr>
        <p:spPr>
          <a:xfrm>
            <a:off x="6217917" y="4297680"/>
            <a:ext cx="256032" cy="329184"/>
          </a:xfrm>
          <a:prstGeom prst="roundRect">
            <a:avLst>
              <a:gd name="adj" fmla="val 8000"/>
            </a:avLst>
          </a:prstGeom>
          <a:solidFill>
            <a:srgbClr val="1A6B3C"/>
          </a:solidFill>
          <a:ln>
            <a:noFill/>
          </a:ln>
        </p:spPr>
      </p:sp>
      <p:sp>
        <p:nvSpPr>
          <p:cNvPr id="104" name="cpnum2"/>
          <p:cNvSpPr txBox="1">
            <a:spLocks noGrp="1"/>
          </p:cNvSpPr>
          <p:nvPr/>
        </p:nvSpPr>
        <p:spPr>
          <a:xfrm>
            <a:off x="6217917" y="4297680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5" name="cpnom"/>
          <p:cNvSpPr txBox="1">
            <a:spLocks noGrp="1"/>
          </p:cNvSpPr>
          <p:nvPr/>
        </p:nvSpPr>
        <p:spPr>
          <a:xfrm>
            <a:off x="6510525" y="4315968"/>
            <a:ext cx="1545335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1A6B3C"/>
                </a:solidFill>
                <a:latin typeface="Calibri"/>
              </a:rPr>
              <a:t>Impacto de Negocio</a:t>
            </a:r>
          </a:p>
        </p:txBody>
      </p:sp>
      <p:sp>
        <p:nvSpPr>
          <p:cNvPr id="106" name="cpmet"/>
          <p:cNvSpPr txBox="1">
            <a:spLocks noGrp="1"/>
          </p:cNvSpPr>
          <p:nvPr/>
        </p:nvSpPr>
        <p:spPr>
          <a:xfrm>
            <a:off x="6510525" y="4462272"/>
            <a:ext cx="1545335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40" dirty="0">
                <a:solidFill>
                  <a:srgbClr val="6B7280"/>
                </a:solidFill>
                <a:latin typeface="Calibri"/>
              </a:rPr>
              <a:t>Productividad perdida · Riesgo · ROI · Evitacion de costos</a:t>
            </a:r>
          </a:p>
        </p:txBody>
      </p:sp>
      <p:sp>
        <p:nvSpPr>
          <p:cNvPr id="999" name="src"/>
          <p:cNvSpPr txBox="1">
            <a:spLocks noGrp="1"/>
          </p:cNvSpPr>
          <p:nvPr/>
        </p:nvSpPr>
        <p:spPr>
          <a:xfrm>
            <a:off x="320040" y="44622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2"/>
              </a:rPr>
              <a:t>XLA Institute — State of XLA 2025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3"/>
              </a:rPr>
              <a:t>SMC Consulting — SLA vs XLA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2"/>
              </a:rPr>
              <a:t>Freshservice XLA Report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Colombia: La Ventana Temporal — Mercado mas Dinamico de IT Services en Sudamerica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 dirty="0">
                <a:solidFill>
                  <a:srgbClr val="6B7280"/>
                </a:solidFill>
                <a:latin typeface="Calibri"/>
              </a:rPr>
              <a:t>Regulacion exigente + banca IA-madura + mercado en expansion = oportunidad comercial concreta 2025-2028</a:t>
            </a:r>
          </a:p>
        </p:txBody>
      </p:sp>
      <p:sp>
        <p:nvSpPr>
          <p:cNvPr id="10" name="kb"/>
          <p:cNvSpPr>
            <a:spLocks noGrp="1"/>
          </p:cNvSpPr>
          <p:nvPr/>
        </p:nvSpPr>
        <p:spPr>
          <a:xfrm>
            <a:off x="320040" y="804672"/>
            <a:ext cx="2468880" cy="896112"/>
          </a:xfrm>
          <a:prstGeom prst="roundRect">
            <a:avLst>
              <a:gd name="adj" fmla="val 18000"/>
            </a:avLst>
          </a:prstGeom>
          <a:solidFill>
            <a:srgbClr val="E8EDF8"/>
          </a:solidFill>
          <a:ln w="19050">
            <a:solidFill>
              <a:srgbClr val="0D1B5E"/>
            </a:solidFill>
          </a:ln>
        </p:spPr>
      </p:sp>
      <p:sp>
        <p:nvSpPr>
          <p:cNvPr id="11" name="kbar"/>
          <p:cNvSpPr>
            <a:spLocks noGrp="1"/>
          </p:cNvSpPr>
          <p:nvPr/>
        </p:nvSpPr>
        <p:spPr>
          <a:xfrm>
            <a:off x="320040" y="804672"/>
            <a:ext cx="2468880" cy="54864"/>
          </a:xfrm>
          <a:prstGeom prst="roundRect">
            <a:avLst>
              <a:gd name="adj" fmla="val 18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12" name="kn"/>
          <p:cNvSpPr txBox="1">
            <a:spLocks noGrp="1"/>
          </p:cNvSpPr>
          <p:nvPr/>
        </p:nvSpPr>
        <p:spPr>
          <a:xfrm>
            <a:off x="320040" y="896112"/>
            <a:ext cx="24688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2800" b="1" dirty="0">
                <a:solidFill>
                  <a:srgbClr val="0D1B5E"/>
                </a:solidFill>
                <a:latin typeface="Calibri"/>
              </a:rPr>
              <a:t>9.8%</a:t>
            </a:r>
          </a:p>
        </p:txBody>
      </p:sp>
      <p:sp>
        <p:nvSpPr>
          <p:cNvPr id="13" name="kl"/>
          <p:cNvSpPr txBox="1">
            <a:spLocks noGrp="1"/>
          </p:cNvSpPr>
          <p:nvPr/>
        </p:nvSpPr>
        <p:spPr>
          <a:xfrm>
            <a:off x="411480" y="1316736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0D1B5E"/>
                </a:solidFill>
                <a:latin typeface="Calibri"/>
              </a:rPr>
              <a:t>CAGR IT Services
mas alto de Sudamerica</a:t>
            </a:r>
          </a:p>
        </p:txBody>
      </p:sp>
      <p:sp>
        <p:nvSpPr>
          <p:cNvPr id="6" name="kb"/>
          <p:cNvSpPr>
            <a:spLocks noGrp="1"/>
          </p:cNvSpPr>
          <p:nvPr/>
        </p:nvSpPr>
        <p:spPr>
          <a:xfrm>
            <a:off x="2898648" y="804672"/>
            <a:ext cx="2468880" cy="896112"/>
          </a:xfrm>
          <a:prstGeom prst="roundRect">
            <a:avLst>
              <a:gd name="adj" fmla="val 18000"/>
            </a:avLst>
          </a:prstGeom>
          <a:solidFill>
            <a:srgbClr val="E8F6F7"/>
          </a:solidFill>
          <a:ln w="19050">
            <a:solidFill>
              <a:srgbClr val="1B7B85"/>
            </a:solidFill>
          </a:ln>
        </p:spPr>
      </p:sp>
      <p:sp>
        <p:nvSpPr>
          <p:cNvPr id="14" name="kbar"/>
          <p:cNvSpPr>
            <a:spLocks noGrp="1"/>
          </p:cNvSpPr>
          <p:nvPr/>
        </p:nvSpPr>
        <p:spPr>
          <a:xfrm>
            <a:off x="2898648" y="804672"/>
            <a:ext cx="2468880" cy="54864"/>
          </a:xfrm>
          <a:prstGeom prst="roundRect">
            <a:avLst>
              <a:gd name="adj" fmla="val 18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15" name="kn"/>
          <p:cNvSpPr txBox="1">
            <a:spLocks noGrp="1"/>
          </p:cNvSpPr>
          <p:nvPr/>
        </p:nvSpPr>
        <p:spPr>
          <a:xfrm>
            <a:off x="2898648" y="896112"/>
            <a:ext cx="24688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2800" b="1" dirty="0">
                <a:solidFill>
                  <a:srgbClr val="1B7B85"/>
                </a:solidFill>
                <a:latin typeface="Calibri"/>
              </a:rPr>
              <a:t>81%</a:t>
            </a:r>
          </a:p>
        </p:txBody>
      </p:sp>
      <p:sp>
        <p:nvSpPr>
          <p:cNvPr id="16" name="kl"/>
          <p:cNvSpPr txBox="1">
            <a:spLocks noGrp="1"/>
          </p:cNvSpPr>
          <p:nvPr/>
        </p:nvSpPr>
        <p:spPr>
          <a:xfrm>
            <a:off x="2990088" y="1316736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1B7B85"/>
                </a:solidFill>
                <a:latin typeface="Calibri"/>
              </a:rPr>
              <a:t>Banca colombiana
con uso de IA activo</a:t>
            </a:r>
          </a:p>
        </p:txBody>
      </p:sp>
      <p:sp>
        <p:nvSpPr>
          <p:cNvPr id="7" name="kb"/>
          <p:cNvSpPr>
            <a:spLocks noGrp="1"/>
          </p:cNvSpPr>
          <p:nvPr/>
        </p:nvSpPr>
        <p:spPr>
          <a:xfrm>
            <a:off x="5477256" y="804672"/>
            <a:ext cx="2468880" cy="896112"/>
          </a:xfrm>
          <a:prstGeom prst="roundRect">
            <a:avLst>
              <a:gd name="adj" fmla="val 18000"/>
            </a:avLst>
          </a:prstGeom>
          <a:solidFill>
            <a:srgbClr val="EBF3FF"/>
          </a:solidFill>
          <a:ln w="19050">
            <a:solidFill>
              <a:srgbClr val="1A3A8F"/>
            </a:solidFill>
          </a:ln>
        </p:spPr>
      </p:sp>
      <p:sp>
        <p:nvSpPr>
          <p:cNvPr id="17" name="kbar"/>
          <p:cNvSpPr>
            <a:spLocks noGrp="1"/>
          </p:cNvSpPr>
          <p:nvPr/>
        </p:nvSpPr>
        <p:spPr>
          <a:xfrm>
            <a:off x="5477256" y="804672"/>
            <a:ext cx="2468880" cy="54864"/>
          </a:xfrm>
          <a:prstGeom prst="roundRect">
            <a:avLst>
              <a:gd name="adj" fmla="val 18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8" name="kn"/>
          <p:cNvSpPr txBox="1">
            <a:spLocks noGrp="1"/>
          </p:cNvSpPr>
          <p:nvPr/>
        </p:nvSpPr>
        <p:spPr>
          <a:xfrm>
            <a:off x="5477256" y="896112"/>
            <a:ext cx="24688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2800" b="1" dirty="0">
                <a:solidFill>
                  <a:srgbClr val="1A3A8F"/>
                </a:solidFill>
                <a:latin typeface="Calibri"/>
              </a:rPr>
              <a:t>USD 108M → 210M</a:t>
            </a:r>
          </a:p>
        </p:txBody>
      </p:sp>
      <p:sp>
        <p:nvSpPr>
          <p:cNvPr id="19" name="kl"/>
          <p:cNvSpPr txBox="1">
            <a:spLocks noGrp="1"/>
          </p:cNvSpPr>
          <p:nvPr/>
        </p:nvSpPr>
        <p:spPr>
          <a:xfrm>
            <a:off x="5568696" y="1316736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1A3A8F"/>
                </a:solidFill>
                <a:latin typeface="Calibri"/>
              </a:rPr>
              <a:t>Mercado ITSM Colombia
hasta 2031 (+14.08% CAGR)</a:t>
            </a:r>
          </a:p>
        </p:txBody>
      </p:sp>
      <p:sp>
        <p:nvSpPr>
          <p:cNvPr id="20" name="cb"/>
          <p:cNvSpPr>
            <a:spLocks noGrp="1"/>
          </p:cNvSpPr>
          <p:nvPr/>
        </p:nvSpPr>
        <p:spPr>
          <a:xfrm>
            <a:off x="320040" y="1810512"/>
            <a:ext cx="2468880" cy="2194560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9525">
            <a:solidFill>
              <a:srgbClr val="D1D5DB"/>
            </a:solidFill>
          </a:ln>
        </p:spPr>
      </p:sp>
      <p:sp>
        <p:nvSpPr>
          <p:cNvPr id="21" name="chdr"/>
          <p:cNvSpPr>
            <a:spLocks noGrp="1"/>
          </p:cNvSpPr>
          <p:nvPr/>
        </p:nvSpPr>
        <p:spPr>
          <a:xfrm>
            <a:off x="320040" y="1810512"/>
            <a:ext cx="2468880" cy="329184"/>
          </a:xfrm>
          <a:prstGeom prst="roundRect">
            <a:avLst>
              <a:gd name="adj" fmla="val 12000"/>
            </a:avLst>
          </a:prstGeom>
          <a:solidFill>
            <a:srgbClr val="1F6FBA"/>
          </a:solidFill>
          <a:ln>
            <a:noFill/>
          </a:ln>
        </p:spPr>
      </p:sp>
      <p:sp>
        <p:nvSpPr>
          <p:cNvPr id="22" name="chdr2"/>
          <p:cNvSpPr>
            <a:spLocks noGrp="1"/>
          </p:cNvSpPr>
          <p:nvPr/>
        </p:nvSpPr>
        <p:spPr>
          <a:xfrm>
            <a:off x="320040" y="2011680"/>
            <a:ext cx="2468880" cy="128016"/>
          </a:xfrm>
          <a:prstGeom prst="rect">
            <a:avLst/>
          </a:prstGeom>
          <a:solidFill>
            <a:srgbClr val="1F6FBA"/>
          </a:solidFill>
          <a:ln>
            <a:noFill/>
          </a:ln>
        </p:spPr>
      </p:sp>
      <p:sp>
        <p:nvSpPr>
          <p:cNvPr id="23" name="ctit"/>
          <p:cNvSpPr txBox="1">
            <a:spLocks noGrp="1"/>
          </p:cNvSpPr>
          <p:nvPr/>
        </p:nvSpPr>
        <p:spPr>
          <a:xfrm>
            <a:off x="320040" y="184708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FFFFFF"/>
                </a:solidFill>
                <a:latin typeface="Calibri"/>
              </a:rPr>
              <a:t>El mercado crece</a:t>
            </a:r>
          </a:p>
        </p:txBody>
      </p:sp>
      <p:sp>
        <p:nvSpPr>
          <p:cNvPr id="24" name="ci"/>
          <p:cNvSpPr txBox="1">
            <a:spLocks noGrp="1"/>
          </p:cNvSpPr>
          <p:nvPr/>
        </p:nvSpPr>
        <p:spPr>
          <a:xfrm>
            <a:off x="411480" y="2212848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70" dirty="0">
                <a:solidFill>
                  <a:srgbClr val="333333"/>
                </a:solidFill>
                <a:latin typeface="Calibri"/>
              </a:rPr>
              <a:t>• 9.8% CAGR IT Services — mas alto de Sudamerica</a:t>
            </a:r>
          </a:p>
        </p:txBody>
      </p:sp>
      <p:sp>
        <p:nvSpPr>
          <p:cNvPr id="25" name="ci"/>
          <p:cNvSpPr txBox="1">
            <a:spLocks noGrp="1"/>
          </p:cNvSpPr>
          <p:nvPr/>
        </p:nvSpPr>
        <p:spPr>
          <a:xfrm>
            <a:off x="411480" y="2743200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70" dirty="0">
                <a:solidFill>
                  <a:srgbClr val="333333"/>
                </a:solidFill>
                <a:latin typeface="Calibri"/>
              </a:rPr>
              <a:t>• Servicios (13.82%) crecen mas que software</a:t>
            </a:r>
          </a:p>
        </p:txBody>
      </p:sp>
      <p:sp>
        <p:nvSpPr>
          <p:cNvPr id="26" name="ci"/>
          <p:cNvSpPr txBox="1">
            <a:spLocks noGrp="1"/>
          </p:cNvSpPr>
          <p:nvPr/>
        </p:nvSpPr>
        <p:spPr>
          <a:xfrm>
            <a:off x="411480" y="3273552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70" dirty="0">
                <a:solidFill>
                  <a:srgbClr val="333333"/>
                </a:solidFill>
                <a:latin typeface="Calibri"/>
              </a:rPr>
              <a:t>• Open Finance, 5G y multinacionales aceleran la demanda</a:t>
            </a:r>
          </a:p>
        </p:txBody>
      </p:sp>
      <p:sp>
        <p:nvSpPr>
          <p:cNvPr id="30" name="cb"/>
          <p:cNvSpPr>
            <a:spLocks noGrp="1"/>
          </p:cNvSpPr>
          <p:nvPr/>
        </p:nvSpPr>
        <p:spPr>
          <a:xfrm>
            <a:off x="2898648" y="1810512"/>
            <a:ext cx="2468880" cy="2194560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9525">
            <a:solidFill>
              <a:srgbClr val="D1D5DB"/>
            </a:solidFill>
          </a:ln>
        </p:spPr>
      </p:sp>
      <p:sp>
        <p:nvSpPr>
          <p:cNvPr id="31" name="chdr"/>
          <p:cNvSpPr>
            <a:spLocks noGrp="1"/>
          </p:cNvSpPr>
          <p:nvPr/>
        </p:nvSpPr>
        <p:spPr>
          <a:xfrm>
            <a:off x="2898648" y="1810512"/>
            <a:ext cx="2468880" cy="329184"/>
          </a:xfrm>
          <a:prstGeom prst="roundRect">
            <a:avLst>
              <a:gd name="adj" fmla="val 12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32" name="chdr2"/>
          <p:cNvSpPr>
            <a:spLocks noGrp="1"/>
          </p:cNvSpPr>
          <p:nvPr/>
        </p:nvSpPr>
        <p:spPr>
          <a:xfrm>
            <a:off x="2898648" y="2011680"/>
            <a:ext cx="2468880" cy="128016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33" name="ctit"/>
          <p:cNvSpPr txBox="1">
            <a:spLocks noGrp="1"/>
          </p:cNvSpPr>
          <p:nvPr/>
        </p:nvSpPr>
        <p:spPr>
          <a:xfrm>
            <a:off x="2898648" y="184708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FFFFFF"/>
                </a:solidFill>
                <a:latin typeface="Calibri"/>
              </a:rPr>
              <a:t>El sector esta listo</a:t>
            </a:r>
          </a:p>
        </p:txBody>
      </p:sp>
      <p:sp>
        <p:nvSpPr>
          <p:cNvPr id="34" name="ci"/>
          <p:cNvSpPr txBox="1">
            <a:spLocks noGrp="1"/>
          </p:cNvSpPr>
          <p:nvPr/>
        </p:nvSpPr>
        <p:spPr>
          <a:xfrm>
            <a:off x="2990088" y="2212848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70" dirty="0">
                <a:solidFill>
                  <a:srgbClr val="333333"/>
                </a:solidFill>
                <a:latin typeface="Calibri"/>
              </a:rPr>
              <a:t>• SFC Circular 007: SIEM, incidentes, gobernanza obligatoria</a:t>
            </a:r>
          </a:p>
        </p:txBody>
      </p:sp>
      <p:sp>
        <p:nvSpPr>
          <p:cNvPr id="35" name="ci"/>
          <p:cNvSpPr txBox="1">
            <a:spLocks noGrp="1"/>
          </p:cNvSpPr>
          <p:nvPr/>
        </p:nvSpPr>
        <p:spPr>
          <a:xfrm>
            <a:off x="2990088" y="2743200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70" dirty="0">
                <a:solidFill>
                  <a:srgbClr val="333333"/>
                </a:solidFill>
                <a:latin typeface="Calibri"/>
              </a:rPr>
              <a:t>• Open Finance: plazo agosto 2026 — nuevo vector de riesgo</a:t>
            </a:r>
          </a:p>
        </p:txBody>
      </p:sp>
      <p:sp>
        <p:nvSpPr>
          <p:cNvPr id="36" name="ci"/>
          <p:cNvSpPr txBox="1">
            <a:spLocks noGrp="1"/>
          </p:cNvSpPr>
          <p:nvPr/>
        </p:nvSpPr>
        <p:spPr>
          <a:xfrm>
            <a:off x="2990088" y="3273552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70" dirty="0">
                <a:solidFill>
                  <a:srgbClr val="333333"/>
                </a:solidFill>
                <a:latin typeface="Calibri"/>
              </a:rPr>
              <a:t>• SURA y Bancolombia con presion regulatoria activa</a:t>
            </a:r>
          </a:p>
        </p:txBody>
      </p:sp>
      <p:sp>
        <p:nvSpPr>
          <p:cNvPr id="40" name="cb"/>
          <p:cNvSpPr>
            <a:spLocks noGrp="1"/>
          </p:cNvSpPr>
          <p:nvPr/>
        </p:nvSpPr>
        <p:spPr>
          <a:xfrm>
            <a:off x="5477256" y="1810512"/>
            <a:ext cx="2468880" cy="2194560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9525">
            <a:solidFill>
              <a:srgbClr val="D1D5DB"/>
            </a:solidFill>
          </a:ln>
        </p:spPr>
      </p:sp>
      <p:sp>
        <p:nvSpPr>
          <p:cNvPr id="41" name="chdr"/>
          <p:cNvSpPr>
            <a:spLocks noGrp="1"/>
          </p:cNvSpPr>
          <p:nvPr/>
        </p:nvSpPr>
        <p:spPr>
          <a:xfrm>
            <a:off x="5477256" y="1810512"/>
            <a:ext cx="2468880" cy="329184"/>
          </a:xfrm>
          <a:prstGeom prst="roundRect">
            <a:avLst>
              <a:gd name="adj" fmla="val 12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42" name="chdr2"/>
          <p:cNvSpPr>
            <a:spLocks noGrp="1"/>
          </p:cNvSpPr>
          <p:nvPr/>
        </p:nvSpPr>
        <p:spPr>
          <a:xfrm>
            <a:off x="5477256" y="2011680"/>
            <a:ext cx="2468880" cy="12801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3" name="ctit"/>
          <p:cNvSpPr txBox="1">
            <a:spLocks noGrp="1"/>
          </p:cNvSpPr>
          <p:nvPr/>
        </p:nvSpPr>
        <p:spPr>
          <a:xfrm>
            <a:off x="5477256" y="184708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FFFFFF"/>
                </a:solidFill>
                <a:latin typeface="Calibri"/>
              </a:rPr>
              <a:t>La competencia tiene brechas</a:t>
            </a:r>
          </a:p>
        </p:txBody>
      </p:sp>
      <p:sp>
        <p:nvSpPr>
          <p:cNvPr id="44" name="ci"/>
          <p:cNvSpPr txBox="1">
            <a:spLocks noGrp="1"/>
          </p:cNvSpPr>
          <p:nvPr/>
        </p:nvSpPr>
        <p:spPr>
          <a:xfrm>
            <a:off x="5568696" y="2212848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70" dirty="0">
                <a:solidFill>
                  <a:srgbClr val="333333"/>
                </a:solidFill>
                <a:latin typeface="Calibri"/>
              </a:rPr>
              <a:t>• Aranda: unico competidor local relevante</a:t>
            </a:r>
          </a:p>
        </p:txBody>
      </p:sp>
      <p:sp>
        <p:nvSpPr>
          <p:cNvPr id="45" name="ci"/>
          <p:cNvSpPr txBox="1">
            <a:spLocks noGrp="1"/>
          </p:cNvSpPr>
          <p:nvPr/>
        </p:nvSpPr>
        <p:spPr>
          <a:xfrm>
            <a:off x="5568696" y="2743200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70" dirty="0">
                <a:solidFill>
                  <a:srgbClr val="333333"/>
                </a:solidFill>
                <a:latin typeface="Calibri"/>
              </a:rPr>
              <a:t>• Vendors globales compiten como software, no assessment</a:t>
            </a:r>
          </a:p>
        </p:txBody>
      </p:sp>
      <p:sp>
        <p:nvSpPr>
          <p:cNvPr id="46" name="ci"/>
          <p:cNvSpPr txBox="1">
            <a:spLocks noGrp="1"/>
          </p:cNvSpPr>
          <p:nvPr/>
        </p:nvSpPr>
        <p:spPr>
          <a:xfrm>
            <a:off x="5568696" y="3273552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70" dirty="0">
                <a:solidFill>
                  <a:srgbClr val="333333"/>
                </a:solidFill>
                <a:latin typeface="Calibri"/>
              </a:rPr>
              <a:t>• Nadie tiene modelo de madurez propio publicado</a:t>
            </a:r>
          </a:p>
        </p:txBody>
      </p:sp>
      <p:sp>
        <p:nvSpPr>
          <p:cNvPr id="60" name="concl"/>
          <p:cNvSpPr>
            <a:spLocks noGrp="1"/>
          </p:cNvSpPr>
          <p:nvPr/>
        </p:nvSpPr>
        <p:spPr>
          <a:xfrm>
            <a:off x="320040" y="4059936"/>
            <a:ext cx="7717536" cy="256032"/>
          </a:xfrm>
          <a:prstGeom prst="roundRect">
            <a:avLst>
              <a:gd name="adj" fmla="val 8000"/>
            </a:avLst>
          </a:prstGeom>
          <a:solidFill>
            <a:srgbClr val="FFF3CD"/>
          </a:solidFill>
          <a:ln w="15875">
            <a:solidFill>
              <a:srgbClr val="F59E0B"/>
            </a:solidFill>
          </a:ln>
        </p:spPr>
      </p:sp>
      <p:sp>
        <p:nvSpPr>
          <p:cNvPr id="61" name="conclT"/>
          <p:cNvSpPr txBox="1">
            <a:spLocks noGrp="1"/>
          </p:cNvSpPr>
          <p:nvPr/>
        </p:nvSpPr>
        <p:spPr>
          <a:xfrm>
            <a:off x="457200" y="4059936"/>
            <a:ext cx="7498079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92400E"/>
                </a:solidFill>
                <a:latin typeface="Calibri"/>
              </a:rPr>
              <a:t>Ventana 2025-2028: antes de que los globales construyan framework de madurez propio para la region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65760" y="91440"/>
            <a:ext cx="91440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2000" b="1" dirty="0">
                <a:solidFill>
                  <a:srgbClr val="FFFFFF"/>
                </a:solidFill>
                <a:latin typeface="Calibri"/>
              </a:rPr>
              <a:t>ITIL (Version 5) — Ciclo de 8 Etapas y Modelo 6C de IA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65760" y="566928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dirty="0">
                <a:solidFill>
                  <a:srgbClr val="C8EBEF"/>
                </a:solidFill>
                <a:latin typeface="Calibri"/>
              </a:rPr>
              <a:t>PeopleCert · Lanzado 12 feb 2026 · 40% retenido · 24% actualizado · 36% nuevo (6C AI)</a:t>
            </a:r>
          </a:p>
        </p:txBody>
      </p:sp>
      <p:sp>
        <p:nvSpPr>
          <p:cNvPr id="6" name="ehdr"/>
          <p:cNvSpPr>
            <a:spLocks noGrp="1"/>
          </p:cNvSpPr>
          <p:nvPr/>
        </p:nvSpPr>
        <p:spPr>
          <a:xfrm>
            <a:off x="320040" y="896112"/>
            <a:ext cx="768096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7" name="ehtxt"/>
          <p:cNvSpPr txBox="1">
            <a:spLocks noGrp="1"/>
          </p:cNvSpPr>
          <p:nvPr/>
        </p:nvSpPr>
        <p:spPr>
          <a:xfrm>
            <a:off x="320040" y="896112"/>
            <a:ext cx="7680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20" b="1" dirty="0">
                <a:solidFill>
                  <a:srgbClr val="FFFFFF"/>
                </a:solidFill>
                <a:latin typeface="Calibri"/>
              </a:rPr>
              <a:t>CICLO DE VIDA DEL SERVICIO — 8 ETAPAS · Reemplaza la Service Value Chain de ITIL 4</a:t>
            </a:r>
          </a:p>
        </p:txBody>
      </p:sp>
      <p:sp>
        <p:nvSpPr>
          <p:cNvPr id="10" name="eb"/>
          <p:cNvSpPr>
            <a:spLocks noGrp="1"/>
          </p:cNvSpPr>
          <p:nvPr/>
        </p:nvSpPr>
        <p:spPr>
          <a:xfrm>
            <a:off x="320040" y="1170432"/>
            <a:ext cx="978408" cy="621792"/>
          </a:xfrm>
          <a:prstGeom prst="roundRect">
            <a:avLst>
              <a:gd name="adj" fmla="val 10000"/>
            </a:avLst>
          </a:prstGeom>
          <a:solidFill>
            <a:srgbClr val="1A6B3C"/>
          </a:solidFill>
          <a:ln>
            <a:noFill/>
          </a:ln>
        </p:spPr>
      </p:sp>
      <p:sp>
        <p:nvSpPr>
          <p:cNvPr id="11" name="en"/>
          <p:cNvSpPr txBox="1">
            <a:spLocks noGrp="1"/>
          </p:cNvSpPr>
          <p:nvPr/>
        </p:nvSpPr>
        <p:spPr>
          <a:xfrm>
            <a:off x="320040" y="1188720"/>
            <a:ext cx="97840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C8EBEF"/>
                </a:solidFill>
                <a:latin typeface="Calibri"/>
              </a:rPr>
              <a:t>01</a:t>
            </a:r>
          </a:p>
        </p:txBody>
      </p:sp>
      <p:sp>
        <p:nvSpPr>
          <p:cNvPr id="12" name="enom"/>
          <p:cNvSpPr txBox="1">
            <a:spLocks noGrp="1"/>
          </p:cNvSpPr>
          <p:nvPr/>
        </p:nvSpPr>
        <p:spPr>
          <a:xfrm>
            <a:off x="320040" y="1353312"/>
            <a:ext cx="97840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b="1" dirty="0">
                <a:solidFill>
                  <a:srgbClr val="FFFFFF"/>
                </a:solidFill>
                <a:latin typeface="Calibri"/>
              </a:rPr>
              <a:t>Discover</a:t>
            </a:r>
          </a:p>
        </p:txBody>
      </p:sp>
      <p:sp>
        <p:nvSpPr>
          <p:cNvPr id="13" name="ed"/>
          <p:cNvSpPr txBox="1">
            <a:spLocks noGrp="1"/>
          </p:cNvSpPr>
          <p:nvPr/>
        </p:nvSpPr>
        <p:spPr>
          <a:xfrm>
            <a:off x="320040" y="1572768"/>
            <a:ext cx="97840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00" dirty="0">
                <a:solidFill>
                  <a:srgbClr val="C8EBEF"/>
                </a:solidFill>
                <a:latin typeface="Calibri"/>
              </a:rPr>
              <a:t>Necesidades y demanda</a:t>
            </a:r>
          </a:p>
        </p:txBody>
      </p:sp>
      <p:sp>
        <p:nvSpPr>
          <p:cNvPr id="8" name="eb"/>
          <p:cNvSpPr>
            <a:spLocks noGrp="1"/>
          </p:cNvSpPr>
          <p:nvPr/>
        </p:nvSpPr>
        <p:spPr>
          <a:xfrm>
            <a:off x="1316736" y="1170432"/>
            <a:ext cx="978408" cy="621792"/>
          </a:xfrm>
          <a:prstGeom prst="roundRect">
            <a:avLst>
              <a:gd name="adj" fmla="val 10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14" name="en"/>
          <p:cNvSpPr txBox="1">
            <a:spLocks noGrp="1"/>
          </p:cNvSpPr>
          <p:nvPr/>
        </p:nvSpPr>
        <p:spPr>
          <a:xfrm>
            <a:off x="1316736" y="1188720"/>
            <a:ext cx="97840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C8EBEF"/>
                </a:solidFill>
                <a:latin typeface="Calibri"/>
              </a:rPr>
              <a:t>02</a:t>
            </a:r>
          </a:p>
        </p:txBody>
      </p:sp>
      <p:sp>
        <p:nvSpPr>
          <p:cNvPr id="15" name="enom"/>
          <p:cNvSpPr txBox="1">
            <a:spLocks noGrp="1"/>
          </p:cNvSpPr>
          <p:nvPr/>
        </p:nvSpPr>
        <p:spPr>
          <a:xfrm>
            <a:off x="1316736" y="1353312"/>
            <a:ext cx="97840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b="1" dirty="0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16" name="ed"/>
          <p:cNvSpPr txBox="1">
            <a:spLocks noGrp="1"/>
          </p:cNvSpPr>
          <p:nvPr/>
        </p:nvSpPr>
        <p:spPr>
          <a:xfrm>
            <a:off x="1316736" y="1572768"/>
            <a:ext cx="97840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00" dirty="0">
                <a:solidFill>
                  <a:srgbClr val="C8EBEF"/>
                </a:solidFill>
                <a:latin typeface="Calibri"/>
              </a:rPr>
              <a:t>Arquitectura del servicio</a:t>
            </a:r>
          </a:p>
        </p:txBody>
      </p:sp>
      <p:sp>
        <p:nvSpPr>
          <p:cNvPr id="9" name="eb"/>
          <p:cNvSpPr>
            <a:spLocks noGrp="1"/>
          </p:cNvSpPr>
          <p:nvPr/>
        </p:nvSpPr>
        <p:spPr>
          <a:xfrm>
            <a:off x="2313432" y="1170432"/>
            <a:ext cx="978408" cy="621792"/>
          </a:xfrm>
          <a:prstGeom prst="roundRect">
            <a:avLst>
              <a:gd name="adj" fmla="val 10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17" name="en"/>
          <p:cNvSpPr txBox="1">
            <a:spLocks noGrp="1"/>
          </p:cNvSpPr>
          <p:nvPr/>
        </p:nvSpPr>
        <p:spPr>
          <a:xfrm>
            <a:off x="2313432" y="1188720"/>
            <a:ext cx="97840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C8EBEF"/>
                </a:solidFill>
                <a:latin typeface="Calibri"/>
              </a:rPr>
              <a:t>03</a:t>
            </a:r>
          </a:p>
        </p:txBody>
      </p:sp>
      <p:sp>
        <p:nvSpPr>
          <p:cNvPr id="18" name="enom"/>
          <p:cNvSpPr txBox="1">
            <a:spLocks noGrp="1"/>
          </p:cNvSpPr>
          <p:nvPr/>
        </p:nvSpPr>
        <p:spPr>
          <a:xfrm>
            <a:off x="2313432" y="1353312"/>
            <a:ext cx="97840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b="1" dirty="0">
                <a:solidFill>
                  <a:srgbClr val="FFFFFF"/>
                </a:solidFill>
                <a:latin typeface="Calibri"/>
              </a:rPr>
              <a:t>Acquire</a:t>
            </a:r>
          </a:p>
        </p:txBody>
      </p:sp>
      <p:sp>
        <p:nvSpPr>
          <p:cNvPr id="19" name="ed"/>
          <p:cNvSpPr txBox="1">
            <a:spLocks noGrp="1"/>
          </p:cNvSpPr>
          <p:nvPr/>
        </p:nvSpPr>
        <p:spPr>
          <a:xfrm>
            <a:off x="2313432" y="1572768"/>
            <a:ext cx="97840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00" dirty="0">
                <a:solidFill>
                  <a:srgbClr val="C8EBEF"/>
                </a:solidFill>
                <a:latin typeface="Calibri"/>
              </a:rPr>
              <a:t>Obtener componentes</a:t>
            </a:r>
          </a:p>
        </p:txBody>
      </p:sp>
      <p:sp>
        <p:nvSpPr>
          <p:cNvPr id="35" name="eb"/>
          <p:cNvSpPr>
            <a:spLocks noGrp="1"/>
          </p:cNvSpPr>
          <p:nvPr/>
        </p:nvSpPr>
        <p:spPr>
          <a:xfrm>
            <a:off x="3310128" y="1170432"/>
            <a:ext cx="978408" cy="621792"/>
          </a:xfrm>
          <a:prstGeom prst="roundRect">
            <a:avLst>
              <a:gd name="adj" fmla="val 10000"/>
            </a:avLst>
          </a:prstGeom>
          <a:solidFill>
            <a:srgbClr val="1F6FBA"/>
          </a:solidFill>
          <a:ln>
            <a:noFill/>
          </a:ln>
        </p:spPr>
      </p:sp>
      <p:sp>
        <p:nvSpPr>
          <p:cNvPr id="20" name="en"/>
          <p:cNvSpPr txBox="1">
            <a:spLocks noGrp="1"/>
          </p:cNvSpPr>
          <p:nvPr/>
        </p:nvSpPr>
        <p:spPr>
          <a:xfrm>
            <a:off x="3310128" y="1188720"/>
            <a:ext cx="97840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C8EBEF"/>
                </a:solidFill>
                <a:latin typeface="Calibri"/>
              </a:rPr>
              <a:t>04</a:t>
            </a:r>
          </a:p>
        </p:txBody>
      </p:sp>
      <p:sp>
        <p:nvSpPr>
          <p:cNvPr id="21" name="enom"/>
          <p:cNvSpPr txBox="1">
            <a:spLocks noGrp="1"/>
          </p:cNvSpPr>
          <p:nvPr/>
        </p:nvSpPr>
        <p:spPr>
          <a:xfrm>
            <a:off x="3310128" y="1353312"/>
            <a:ext cx="97840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b="1" dirty="0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22" name="ed"/>
          <p:cNvSpPr txBox="1">
            <a:spLocks noGrp="1"/>
          </p:cNvSpPr>
          <p:nvPr/>
        </p:nvSpPr>
        <p:spPr>
          <a:xfrm>
            <a:off x="3310128" y="1572768"/>
            <a:ext cx="97840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00" dirty="0">
                <a:solidFill>
                  <a:srgbClr val="C8EBEF"/>
                </a:solidFill>
                <a:latin typeface="Calibri"/>
              </a:rPr>
              <a:t>Construir e integrar IA</a:t>
            </a:r>
          </a:p>
        </p:txBody>
      </p:sp>
      <p:sp>
        <p:nvSpPr>
          <p:cNvPr id="36" name="eb"/>
          <p:cNvSpPr>
            <a:spLocks noGrp="1"/>
          </p:cNvSpPr>
          <p:nvPr/>
        </p:nvSpPr>
        <p:spPr>
          <a:xfrm>
            <a:off x="4306824" y="1170432"/>
            <a:ext cx="978408" cy="621792"/>
          </a:xfrm>
          <a:prstGeom prst="roundRect">
            <a:avLst>
              <a:gd name="adj" fmla="val 10000"/>
            </a:avLst>
          </a:prstGeom>
          <a:solidFill>
            <a:srgbClr val="1F6FBA"/>
          </a:solidFill>
          <a:ln>
            <a:noFill/>
          </a:ln>
        </p:spPr>
      </p:sp>
      <p:sp>
        <p:nvSpPr>
          <p:cNvPr id="23" name="en"/>
          <p:cNvSpPr txBox="1">
            <a:spLocks noGrp="1"/>
          </p:cNvSpPr>
          <p:nvPr/>
        </p:nvSpPr>
        <p:spPr>
          <a:xfrm>
            <a:off x="4306824" y="1188720"/>
            <a:ext cx="97840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C8EBEF"/>
                </a:solidFill>
                <a:latin typeface="Calibri"/>
              </a:rPr>
              <a:t>05</a:t>
            </a:r>
          </a:p>
        </p:txBody>
      </p:sp>
      <p:sp>
        <p:nvSpPr>
          <p:cNvPr id="24" name="enom"/>
          <p:cNvSpPr txBox="1">
            <a:spLocks noGrp="1"/>
          </p:cNvSpPr>
          <p:nvPr/>
        </p:nvSpPr>
        <p:spPr>
          <a:xfrm>
            <a:off x="4306824" y="1353312"/>
            <a:ext cx="97840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b="1" dirty="0">
                <a:solidFill>
                  <a:srgbClr val="FFFFFF"/>
                </a:solidFill>
                <a:latin typeface="Calibri"/>
              </a:rPr>
              <a:t>Transition</a:t>
            </a:r>
          </a:p>
        </p:txBody>
      </p:sp>
      <p:sp>
        <p:nvSpPr>
          <p:cNvPr id="25" name="ed"/>
          <p:cNvSpPr txBox="1">
            <a:spLocks noGrp="1"/>
          </p:cNvSpPr>
          <p:nvPr/>
        </p:nvSpPr>
        <p:spPr>
          <a:xfrm>
            <a:off x="4306824" y="1572768"/>
            <a:ext cx="97840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00" dirty="0">
                <a:solidFill>
                  <a:srgbClr val="C8EBEF"/>
                </a:solidFill>
                <a:latin typeface="Calibri"/>
              </a:rPr>
              <a:t>Pasar a produccion</a:t>
            </a:r>
          </a:p>
        </p:txBody>
      </p:sp>
      <p:sp>
        <p:nvSpPr>
          <p:cNvPr id="37" name="eb"/>
          <p:cNvSpPr>
            <a:spLocks noGrp="1"/>
          </p:cNvSpPr>
          <p:nvPr/>
        </p:nvSpPr>
        <p:spPr>
          <a:xfrm>
            <a:off x="5303520" y="1170432"/>
            <a:ext cx="978408" cy="621792"/>
          </a:xfrm>
          <a:prstGeom prst="roundRect">
            <a:avLst>
              <a:gd name="adj" fmla="val 10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26" name="en"/>
          <p:cNvSpPr txBox="1">
            <a:spLocks noGrp="1"/>
          </p:cNvSpPr>
          <p:nvPr/>
        </p:nvSpPr>
        <p:spPr>
          <a:xfrm>
            <a:off x="5303520" y="1188720"/>
            <a:ext cx="97840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C8EBEF"/>
                </a:solidFill>
                <a:latin typeface="Calibri"/>
              </a:rPr>
              <a:t>06</a:t>
            </a:r>
          </a:p>
        </p:txBody>
      </p:sp>
      <p:sp>
        <p:nvSpPr>
          <p:cNvPr id="27" name="enom"/>
          <p:cNvSpPr txBox="1">
            <a:spLocks noGrp="1"/>
          </p:cNvSpPr>
          <p:nvPr/>
        </p:nvSpPr>
        <p:spPr>
          <a:xfrm>
            <a:off x="5303520" y="1353312"/>
            <a:ext cx="97840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b="1" dirty="0">
                <a:solidFill>
                  <a:srgbClr val="FFFFFF"/>
                </a:solidFill>
                <a:latin typeface="Calibri"/>
              </a:rPr>
              <a:t>Operate</a:t>
            </a:r>
          </a:p>
        </p:txBody>
      </p:sp>
      <p:sp>
        <p:nvSpPr>
          <p:cNvPr id="28" name="ed"/>
          <p:cNvSpPr txBox="1">
            <a:spLocks noGrp="1"/>
          </p:cNvSpPr>
          <p:nvPr/>
        </p:nvSpPr>
        <p:spPr>
          <a:xfrm>
            <a:off x="5303520" y="1572768"/>
            <a:ext cx="97840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00" dirty="0">
                <a:solidFill>
                  <a:srgbClr val="C8EBEF"/>
                </a:solidFill>
                <a:latin typeface="Calibri"/>
              </a:rPr>
              <a:t>Ejecutar en produccion</a:t>
            </a:r>
          </a:p>
        </p:txBody>
      </p:sp>
      <p:sp>
        <p:nvSpPr>
          <p:cNvPr id="38" name="eb"/>
          <p:cNvSpPr>
            <a:spLocks noGrp="1"/>
          </p:cNvSpPr>
          <p:nvPr/>
        </p:nvSpPr>
        <p:spPr>
          <a:xfrm>
            <a:off x="6300216" y="1170432"/>
            <a:ext cx="978408" cy="621792"/>
          </a:xfrm>
          <a:prstGeom prst="roundRect">
            <a:avLst>
              <a:gd name="adj" fmla="val 10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29" name="en"/>
          <p:cNvSpPr txBox="1">
            <a:spLocks noGrp="1"/>
          </p:cNvSpPr>
          <p:nvPr/>
        </p:nvSpPr>
        <p:spPr>
          <a:xfrm>
            <a:off x="6300216" y="1188720"/>
            <a:ext cx="97840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C8EBEF"/>
                </a:solidFill>
                <a:latin typeface="Calibri"/>
              </a:rPr>
              <a:t>07</a:t>
            </a:r>
          </a:p>
        </p:txBody>
      </p:sp>
      <p:sp>
        <p:nvSpPr>
          <p:cNvPr id="30" name="enom"/>
          <p:cNvSpPr txBox="1">
            <a:spLocks noGrp="1"/>
          </p:cNvSpPr>
          <p:nvPr/>
        </p:nvSpPr>
        <p:spPr>
          <a:xfrm>
            <a:off x="6300216" y="1353312"/>
            <a:ext cx="97840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b="1" dirty="0">
                <a:solidFill>
                  <a:srgbClr val="FFFFFF"/>
                </a:solidFill>
                <a:latin typeface="Calibri"/>
              </a:rPr>
              <a:t>Deliver</a:t>
            </a:r>
          </a:p>
        </p:txBody>
      </p:sp>
      <p:sp>
        <p:nvSpPr>
          <p:cNvPr id="31" name="ed"/>
          <p:cNvSpPr txBox="1">
            <a:spLocks noGrp="1"/>
          </p:cNvSpPr>
          <p:nvPr/>
        </p:nvSpPr>
        <p:spPr>
          <a:xfrm>
            <a:off x="6300216" y="1572768"/>
            <a:ext cx="97840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00" dirty="0">
                <a:solidFill>
                  <a:srgbClr val="C8EBEF"/>
                </a:solidFill>
                <a:latin typeface="Calibri"/>
              </a:rPr>
              <a:t>Demostrar el valor</a:t>
            </a:r>
          </a:p>
        </p:txBody>
      </p:sp>
      <p:sp>
        <p:nvSpPr>
          <p:cNvPr id="39" name="eb"/>
          <p:cNvSpPr>
            <a:spLocks noGrp="1"/>
          </p:cNvSpPr>
          <p:nvPr/>
        </p:nvSpPr>
        <p:spPr>
          <a:xfrm>
            <a:off x="7296912" y="1170432"/>
            <a:ext cx="978408" cy="621792"/>
          </a:xfrm>
          <a:prstGeom prst="roundRect">
            <a:avLst>
              <a:gd name="adj" fmla="val 10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32" name="en"/>
          <p:cNvSpPr txBox="1">
            <a:spLocks noGrp="1"/>
          </p:cNvSpPr>
          <p:nvPr/>
        </p:nvSpPr>
        <p:spPr>
          <a:xfrm>
            <a:off x="7296912" y="1188720"/>
            <a:ext cx="97840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80" b="1" dirty="0">
                <a:solidFill>
                  <a:srgbClr val="C8EBEF"/>
                </a:solidFill>
                <a:latin typeface="Calibri"/>
              </a:rPr>
              <a:t>08</a:t>
            </a:r>
          </a:p>
        </p:txBody>
      </p:sp>
      <p:sp>
        <p:nvSpPr>
          <p:cNvPr id="33" name="enom"/>
          <p:cNvSpPr txBox="1">
            <a:spLocks noGrp="1"/>
          </p:cNvSpPr>
          <p:nvPr/>
        </p:nvSpPr>
        <p:spPr>
          <a:xfrm>
            <a:off x="7296912" y="1353312"/>
            <a:ext cx="97840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b="1" dirty="0">
                <a:solidFill>
                  <a:srgbClr val="FFFFFF"/>
                </a:solidFill>
                <a:latin typeface="Calibri"/>
              </a:rPr>
              <a:t>Support</a:t>
            </a:r>
          </a:p>
        </p:txBody>
      </p:sp>
      <p:sp>
        <p:nvSpPr>
          <p:cNvPr id="34" name="ed"/>
          <p:cNvSpPr txBox="1">
            <a:spLocks noGrp="1"/>
          </p:cNvSpPr>
          <p:nvPr/>
        </p:nvSpPr>
        <p:spPr>
          <a:xfrm>
            <a:off x="7296912" y="1572768"/>
            <a:ext cx="97840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00" dirty="0">
                <a:solidFill>
                  <a:srgbClr val="C8EBEF"/>
                </a:solidFill>
                <a:latin typeface="Calibri"/>
              </a:rPr>
              <a:t>Sostener y mejorar</a:t>
            </a:r>
          </a:p>
        </p:txBody>
      </p:sp>
      <p:sp>
        <p:nvSpPr>
          <p:cNvPr id="40" name="sixhdr"/>
          <p:cNvSpPr>
            <a:spLocks noGrp="1"/>
          </p:cNvSpPr>
          <p:nvPr/>
        </p:nvSpPr>
        <p:spPr>
          <a:xfrm>
            <a:off x="320040" y="1920240"/>
            <a:ext cx="7680960" cy="237744"/>
          </a:xfrm>
          <a:prstGeom prst="rect">
            <a:avLst/>
          </a:prstGeom>
          <a:solidFill>
            <a:srgbClr val="1F6FBA"/>
          </a:solidFill>
          <a:ln>
            <a:noFill/>
          </a:ln>
        </p:spPr>
      </p:sp>
      <p:sp>
        <p:nvSpPr>
          <p:cNvPr id="41" name="sixtxt"/>
          <p:cNvSpPr txBox="1">
            <a:spLocks noGrp="1"/>
          </p:cNvSpPr>
          <p:nvPr/>
        </p:nvSpPr>
        <p:spPr>
          <a:xfrm>
            <a:off x="320040" y="1920240"/>
            <a:ext cx="7680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FFFFFF"/>
                </a:solidFill>
                <a:latin typeface="Calibri"/>
              </a:rPr>
              <a:t>MODELO 6C AI CAPABILITY MODEL — Marco de Gobernanza de IA de ITIL v5 (36% del contenido nuevo)</a:t>
            </a:r>
          </a:p>
        </p:txBody>
      </p:sp>
      <p:sp>
        <p:nvSpPr>
          <p:cNvPr id="50" name="cb"/>
          <p:cNvSpPr>
            <a:spLocks noGrp="1"/>
          </p:cNvSpPr>
          <p:nvPr/>
        </p:nvSpPr>
        <p:spPr>
          <a:xfrm>
            <a:off x="320040" y="2231136"/>
            <a:ext cx="2487168" cy="420624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12700">
            <a:solidFill>
              <a:srgbClr val="1A6B3C"/>
            </a:solidFill>
          </a:ln>
        </p:spPr>
      </p:sp>
      <p:sp>
        <p:nvSpPr>
          <p:cNvPr id="51" name="cbar"/>
          <p:cNvSpPr>
            <a:spLocks noGrp="1"/>
          </p:cNvSpPr>
          <p:nvPr/>
        </p:nvSpPr>
        <p:spPr>
          <a:xfrm>
            <a:off x="320040" y="2231136"/>
            <a:ext cx="91440" cy="420624"/>
          </a:xfrm>
          <a:prstGeom prst="roundRect">
            <a:avLst>
              <a:gd name="adj" fmla="val 10000"/>
            </a:avLst>
          </a:prstGeom>
          <a:solidFill>
            <a:srgbClr val="1A6B3C"/>
          </a:solidFill>
          <a:ln>
            <a:noFill/>
          </a:ln>
        </p:spPr>
      </p:sp>
      <p:sp>
        <p:nvSpPr>
          <p:cNvPr id="52" name="ct"/>
          <p:cNvSpPr txBox="1">
            <a:spLocks noGrp="1"/>
          </p:cNvSpPr>
          <p:nvPr/>
        </p:nvSpPr>
        <p:spPr>
          <a:xfrm>
            <a:off x="466344" y="226771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b="1" dirty="0">
                <a:solidFill>
                  <a:srgbClr val="1A6B3C"/>
                </a:solidFill>
                <a:latin typeface="Calibri"/>
              </a:rPr>
              <a:t>Creation: </a:t>
            </a:r>
            <a:r>
              <a:rPr lang="es-ES" sz="840" dirty="0">
                <a:solidFill>
                  <a:srgbClr val="333333"/>
                </a:solidFill>
                <a:latin typeface="Calibri"/>
              </a:rPr>
              <a:t>Generar contenido y soluciones con IA</a:t>
            </a:r>
          </a:p>
        </p:txBody>
      </p:sp>
      <p:sp>
        <p:nvSpPr>
          <p:cNvPr id="53" name="cb"/>
          <p:cNvSpPr>
            <a:spLocks noGrp="1"/>
          </p:cNvSpPr>
          <p:nvPr/>
        </p:nvSpPr>
        <p:spPr>
          <a:xfrm>
            <a:off x="2880360" y="2231136"/>
            <a:ext cx="2487168" cy="420624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12700">
            <a:solidFill>
              <a:srgbClr val="1B7B85"/>
            </a:solidFill>
          </a:ln>
        </p:spPr>
      </p:sp>
      <p:sp>
        <p:nvSpPr>
          <p:cNvPr id="54" name="cbar"/>
          <p:cNvSpPr>
            <a:spLocks noGrp="1"/>
          </p:cNvSpPr>
          <p:nvPr/>
        </p:nvSpPr>
        <p:spPr>
          <a:xfrm>
            <a:off x="2880360" y="2231136"/>
            <a:ext cx="91440" cy="420624"/>
          </a:xfrm>
          <a:prstGeom prst="roundRect">
            <a:avLst>
              <a:gd name="adj" fmla="val 10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55" name="ct"/>
          <p:cNvSpPr txBox="1">
            <a:spLocks noGrp="1"/>
          </p:cNvSpPr>
          <p:nvPr/>
        </p:nvSpPr>
        <p:spPr>
          <a:xfrm>
            <a:off x="3026664" y="226771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b="1" dirty="0">
                <a:solidFill>
                  <a:srgbClr val="1B7B85"/>
                </a:solidFill>
                <a:latin typeface="Calibri"/>
              </a:rPr>
              <a:t>Curation: </a:t>
            </a:r>
            <a:r>
              <a:rPr lang="es-ES" sz="840" dirty="0">
                <a:solidFill>
                  <a:srgbClr val="333333"/>
                </a:solidFill>
                <a:latin typeface="Calibri"/>
              </a:rPr>
              <a:t>Filtrar y mantener outputs asistidos por IA</a:t>
            </a:r>
          </a:p>
        </p:txBody>
      </p:sp>
      <p:sp>
        <p:nvSpPr>
          <p:cNvPr id="56" name="cb"/>
          <p:cNvSpPr>
            <a:spLocks noGrp="1"/>
          </p:cNvSpPr>
          <p:nvPr/>
        </p:nvSpPr>
        <p:spPr>
          <a:xfrm>
            <a:off x="5440680" y="2706624"/>
            <a:ext cx="2487168" cy="420624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12700">
            <a:solidFill>
              <a:srgbClr val="1F6FBA"/>
            </a:solidFill>
          </a:ln>
        </p:spPr>
      </p:sp>
      <p:sp>
        <p:nvSpPr>
          <p:cNvPr id="57" name="cbar"/>
          <p:cNvSpPr>
            <a:spLocks noGrp="1"/>
          </p:cNvSpPr>
          <p:nvPr/>
        </p:nvSpPr>
        <p:spPr>
          <a:xfrm>
            <a:off x="5440680" y="2706624"/>
            <a:ext cx="91440" cy="420624"/>
          </a:xfrm>
          <a:prstGeom prst="roundRect">
            <a:avLst>
              <a:gd name="adj" fmla="val 10000"/>
            </a:avLst>
          </a:prstGeom>
          <a:solidFill>
            <a:srgbClr val="1F6FBA"/>
          </a:solidFill>
          <a:ln>
            <a:noFill/>
          </a:ln>
        </p:spPr>
      </p:sp>
      <p:sp>
        <p:nvSpPr>
          <p:cNvPr id="58" name="ct"/>
          <p:cNvSpPr txBox="1">
            <a:spLocks noGrp="1"/>
          </p:cNvSpPr>
          <p:nvPr/>
        </p:nvSpPr>
        <p:spPr>
          <a:xfrm>
            <a:off x="5586984" y="274320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b="1" dirty="0">
                <a:solidFill>
                  <a:srgbClr val="1F6FBA"/>
                </a:solidFill>
                <a:latin typeface="Calibri"/>
              </a:rPr>
              <a:t>Clarification: </a:t>
            </a:r>
            <a:r>
              <a:rPr lang="es-ES" sz="840" dirty="0">
                <a:solidFill>
                  <a:srgbClr val="333333"/>
                </a:solidFill>
                <a:latin typeface="Calibri"/>
              </a:rPr>
              <a:t>Interpretar solicitudes ambiguas</a:t>
            </a:r>
          </a:p>
        </p:txBody>
      </p:sp>
      <p:sp>
        <p:nvSpPr>
          <p:cNvPr id="59" name="cb"/>
          <p:cNvSpPr>
            <a:spLocks noGrp="1"/>
          </p:cNvSpPr>
          <p:nvPr/>
        </p:nvSpPr>
        <p:spPr>
          <a:xfrm>
            <a:off x="320040" y="2706624"/>
            <a:ext cx="2487168" cy="420624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12700">
            <a:solidFill>
              <a:srgbClr val="1A3A8F"/>
            </a:solidFill>
          </a:ln>
        </p:spPr>
      </p:sp>
      <p:sp>
        <p:nvSpPr>
          <p:cNvPr id="60" name="cbar"/>
          <p:cNvSpPr>
            <a:spLocks noGrp="1"/>
          </p:cNvSpPr>
          <p:nvPr/>
        </p:nvSpPr>
        <p:spPr>
          <a:xfrm>
            <a:off x="320040" y="2706624"/>
            <a:ext cx="91440" cy="420624"/>
          </a:xfrm>
          <a:prstGeom prst="roundRect">
            <a:avLst>
              <a:gd name="adj" fmla="val 10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61" name="ct"/>
          <p:cNvSpPr txBox="1">
            <a:spLocks noGrp="1"/>
          </p:cNvSpPr>
          <p:nvPr/>
        </p:nvSpPr>
        <p:spPr>
          <a:xfrm>
            <a:off x="466344" y="274320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b="1" dirty="0">
                <a:solidFill>
                  <a:srgbClr val="1A3A8F"/>
                </a:solidFill>
                <a:latin typeface="Calibri"/>
              </a:rPr>
              <a:t>Cognition: </a:t>
            </a:r>
            <a:r>
              <a:rPr lang="es-ES" sz="840" dirty="0">
                <a:solidFill>
                  <a:srgbClr val="333333"/>
                </a:solidFill>
                <a:latin typeface="Calibri"/>
              </a:rPr>
              <a:t>Analisis, patrones y soporte a la decision</a:t>
            </a:r>
          </a:p>
        </p:txBody>
      </p:sp>
      <p:sp>
        <p:nvSpPr>
          <p:cNvPr id="62" name="cb"/>
          <p:cNvSpPr>
            <a:spLocks noGrp="1"/>
          </p:cNvSpPr>
          <p:nvPr/>
        </p:nvSpPr>
        <p:spPr>
          <a:xfrm>
            <a:off x="2880360" y="3182112"/>
            <a:ext cx="2487168" cy="420624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12700">
            <a:solidFill>
              <a:srgbClr val="0D1B5E"/>
            </a:solidFill>
          </a:ln>
        </p:spPr>
      </p:sp>
      <p:sp>
        <p:nvSpPr>
          <p:cNvPr id="63" name="cbar"/>
          <p:cNvSpPr>
            <a:spLocks noGrp="1"/>
          </p:cNvSpPr>
          <p:nvPr/>
        </p:nvSpPr>
        <p:spPr>
          <a:xfrm>
            <a:off x="2880360" y="3182112"/>
            <a:ext cx="91440" cy="420624"/>
          </a:xfrm>
          <a:prstGeom prst="roundRect">
            <a:avLst>
              <a:gd name="adj" fmla="val 10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64" name="ct"/>
          <p:cNvSpPr txBox="1">
            <a:spLocks noGrp="1"/>
          </p:cNvSpPr>
          <p:nvPr/>
        </p:nvSpPr>
        <p:spPr>
          <a:xfrm>
            <a:off x="3026664" y="321868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b="1" dirty="0">
                <a:solidFill>
                  <a:srgbClr val="0D1B5E"/>
                </a:solidFill>
                <a:latin typeface="Calibri"/>
              </a:rPr>
              <a:t>Communication: </a:t>
            </a:r>
            <a:r>
              <a:rPr lang="es-ES" sz="840" dirty="0">
                <a:solidFill>
                  <a:srgbClr val="333333"/>
                </a:solidFill>
                <a:latin typeface="Calibri"/>
              </a:rPr>
              <a:t>Interacciones mediadas por IA usuario-sistema</a:t>
            </a:r>
          </a:p>
        </p:txBody>
      </p:sp>
      <p:sp>
        <p:nvSpPr>
          <p:cNvPr id="65" name="cb"/>
          <p:cNvSpPr>
            <a:spLocks noGrp="1"/>
          </p:cNvSpPr>
          <p:nvPr/>
        </p:nvSpPr>
        <p:spPr>
          <a:xfrm>
            <a:off x="5440680" y="3182112"/>
            <a:ext cx="2487168" cy="420624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12700">
            <a:solidFill>
              <a:srgbClr val="6B7280"/>
            </a:solidFill>
          </a:ln>
        </p:spPr>
      </p:sp>
      <p:sp>
        <p:nvSpPr>
          <p:cNvPr id="66" name="cbar"/>
          <p:cNvSpPr>
            <a:spLocks noGrp="1"/>
          </p:cNvSpPr>
          <p:nvPr/>
        </p:nvSpPr>
        <p:spPr>
          <a:xfrm>
            <a:off x="5440680" y="3182112"/>
            <a:ext cx="91440" cy="420624"/>
          </a:xfrm>
          <a:prstGeom prst="roundRect">
            <a:avLst>
              <a:gd name="adj" fmla="val 10000"/>
            </a:avLst>
          </a:prstGeom>
          <a:solidFill>
            <a:srgbClr val="6B7280"/>
          </a:solidFill>
          <a:ln>
            <a:noFill/>
          </a:ln>
        </p:spPr>
      </p:sp>
      <p:sp>
        <p:nvSpPr>
          <p:cNvPr id="67" name="ct"/>
          <p:cNvSpPr txBox="1">
            <a:spLocks noGrp="1"/>
          </p:cNvSpPr>
          <p:nvPr/>
        </p:nvSpPr>
        <p:spPr>
          <a:xfrm>
            <a:off x="5586984" y="321868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b="1" dirty="0">
                <a:solidFill>
                  <a:srgbClr val="6B7280"/>
                </a:solidFill>
                <a:latin typeface="Calibri"/>
              </a:rPr>
              <a:t>Coordination: </a:t>
            </a:r>
            <a:r>
              <a:rPr lang="es-ES" sz="840" dirty="0">
                <a:solidFill>
                  <a:srgbClr val="333333"/>
                </a:solidFill>
                <a:latin typeface="Calibri"/>
              </a:rPr>
              <a:t>Orquestar agentes IA y actores humanos</a:t>
            </a:r>
          </a:p>
        </p:txBody>
      </p:sp>
      <p:sp>
        <p:nvSpPr>
          <p:cNvPr id="70" name="pb"/>
          <p:cNvSpPr>
            <a:spLocks noGrp="1"/>
          </p:cNvSpPr>
          <p:nvPr/>
        </p:nvSpPr>
        <p:spPr>
          <a:xfrm>
            <a:off x="320040" y="3255264"/>
            <a:ext cx="2487168" cy="384048"/>
          </a:xfrm>
          <a:prstGeom prst="roundRect">
            <a:avLst>
              <a:gd name="adj" fmla="val 10000"/>
            </a:avLst>
          </a:prstGeom>
          <a:solidFill>
            <a:srgbClr val="E8EDF8"/>
          </a:solidFill>
          <a:ln w="15875">
            <a:solidFill>
              <a:srgbClr val="0D1B5E"/>
            </a:solidFill>
          </a:ln>
        </p:spPr>
      </p:sp>
      <p:sp>
        <p:nvSpPr>
          <p:cNvPr id="71" name="pt"/>
          <p:cNvSpPr txBox="1">
            <a:spLocks noGrp="1"/>
          </p:cNvSpPr>
          <p:nvPr/>
        </p:nvSpPr>
        <p:spPr>
          <a:xfrm>
            <a:off x="411480" y="3291840"/>
            <a:ext cx="2304288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800" b="1" dirty="0">
                <a:solidFill>
                  <a:srgbClr val="0D1B5E"/>
                </a:solidFill>
                <a:latin typeface="Calibri"/>
              </a:rPr>
              <a:t>40%</a:t>
            </a:r>
            <a:r>
              <a:rPr lang="es-ES" sz="880" dirty="0">
                <a:solidFill>
                  <a:srgbClr val="0D1B5E"/>
                </a:solidFill>
                <a:latin typeface="Calibri"/>
              </a:rPr>
              <a:t> — Retenido de ITIL 4</a:t>
            </a:r>
          </a:p>
        </p:txBody>
      </p:sp>
      <p:sp>
        <p:nvSpPr>
          <p:cNvPr id="73" name="pb"/>
          <p:cNvSpPr>
            <a:spLocks noGrp="1"/>
          </p:cNvSpPr>
          <p:nvPr/>
        </p:nvSpPr>
        <p:spPr>
          <a:xfrm>
            <a:off x="2880360" y="3255264"/>
            <a:ext cx="2487168" cy="384048"/>
          </a:xfrm>
          <a:prstGeom prst="roundRect">
            <a:avLst>
              <a:gd name="adj" fmla="val 10000"/>
            </a:avLst>
          </a:prstGeom>
          <a:solidFill>
            <a:srgbClr val="EBF3FF"/>
          </a:solidFill>
          <a:ln w="15875">
            <a:solidFill>
              <a:srgbClr val="1A3A8F"/>
            </a:solidFill>
          </a:ln>
        </p:spPr>
      </p:sp>
      <p:sp>
        <p:nvSpPr>
          <p:cNvPr id="74" name="pt"/>
          <p:cNvSpPr txBox="1">
            <a:spLocks noGrp="1"/>
          </p:cNvSpPr>
          <p:nvPr/>
        </p:nvSpPr>
        <p:spPr>
          <a:xfrm>
            <a:off x="2971800" y="3291840"/>
            <a:ext cx="2304288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800" b="1" dirty="0">
                <a:solidFill>
                  <a:srgbClr val="1A3A8F"/>
                </a:solidFill>
                <a:latin typeface="Calibri"/>
              </a:rPr>
              <a:t>24%</a:t>
            </a:r>
            <a:r>
              <a:rPr lang="es-ES" sz="880" dirty="0">
                <a:solidFill>
                  <a:srgbClr val="1A3A8F"/>
                </a:solidFill>
                <a:latin typeface="Calibri"/>
              </a:rPr>
              <a:t> — Actualizado</a:t>
            </a:r>
          </a:p>
        </p:txBody>
      </p:sp>
      <p:sp>
        <p:nvSpPr>
          <p:cNvPr id="76" name="pb"/>
          <p:cNvSpPr>
            <a:spLocks noGrp="1"/>
          </p:cNvSpPr>
          <p:nvPr/>
        </p:nvSpPr>
        <p:spPr>
          <a:xfrm>
            <a:off x="5440680" y="3255264"/>
            <a:ext cx="2487168" cy="384048"/>
          </a:xfrm>
          <a:prstGeom prst="roundRect">
            <a:avLst>
              <a:gd name="adj" fmla="val 10000"/>
            </a:avLst>
          </a:prstGeom>
          <a:solidFill>
            <a:srgbClr val="E8F6F7"/>
          </a:solidFill>
          <a:ln w="15875">
            <a:solidFill>
              <a:srgbClr val="1B7B85"/>
            </a:solidFill>
          </a:ln>
        </p:spPr>
      </p:sp>
      <p:sp>
        <p:nvSpPr>
          <p:cNvPr id="77" name="pt"/>
          <p:cNvSpPr txBox="1">
            <a:spLocks noGrp="1"/>
          </p:cNvSpPr>
          <p:nvPr/>
        </p:nvSpPr>
        <p:spPr>
          <a:xfrm>
            <a:off x="5532120" y="3291840"/>
            <a:ext cx="2304288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800" b="1" dirty="0">
                <a:solidFill>
                  <a:srgbClr val="1B7B85"/>
                </a:solidFill>
                <a:latin typeface="Calibri"/>
              </a:rPr>
              <a:t>36%</a:t>
            </a:r>
            <a:r>
              <a:rPr lang="es-ES" sz="880" dirty="0">
                <a:solidFill>
                  <a:srgbClr val="1B7B85"/>
                </a:solidFill>
                <a:latin typeface="Calibri"/>
              </a:rPr>
              <a:t> — Nuevo: 6C + DPSM</a:t>
            </a:r>
          </a:p>
        </p:txBody>
      </p:sp>
      <p:sp>
        <p:nvSpPr>
          <p:cNvPr id="80" name="mig"/>
          <p:cNvSpPr>
            <a:spLocks noGrp="1"/>
          </p:cNvSpPr>
          <p:nvPr/>
        </p:nvSpPr>
        <p:spPr>
          <a:xfrm>
            <a:off x="320040" y="3712463"/>
            <a:ext cx="7680960" cy="201168"/>
          </a:xfrm>
          <a:prstGeom prst="rect">
            <a:avLst/>
          </a:prstGeom>
          <a:solidFill>
            <a:srgbClr val="1E1A4F"/>
          </a:solidFill>
          <a:ln>
            <a:noFill/>
          </a:ln>
        </p:spPr>
      </p:sp>
      <p:sp>
        <p:nvSpPr>
          <p:cNvPr id="81" name="migt"/>
          <p:cNvSpPr txBox="1">
            <a:spLocks noGrp="1"/>
          </p:cNvSpPr>
          <p:nvPr/>
        </p:nvSpPr>
        <p:spPr>
          <a:xfrm>
            <a:off x="320040" y="3712463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dirty="0">
                <a:solidFill>
                  <a:srgbClr val="C8EBEF"/>
                </a:solidFill>
                <a:latin typeface="Calibri"/>
              </a:rPr>
              <a:t>QUE SE MANTIENE: 7 Principios Guia · 4 Dimensiones · SVS · 34 Practicas ITIL 4 · Certificaciones ITIL 4 vigentes</a:t>
            </a:r>
          </a:p>
        </p:txBody>
      </p:sp>
      <p:sp>
        <p:nvSpPr>
          <p:cNvPr id="999" name="src"/>
          <p:cNvSpPr txBox="1">
            <a:spLocks noGrp="1"/>
          </p:cNvSpPr>
          <p:nvPr/>
        </p:nvSpPr>
        <p:spPr>
          <a:xfrm>
            <a:off x="320040" y="44622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2"/>
              </a:rPr>
              <a:t>PeopleCert ITIL v5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3"/>
              </a:rPr>
              <a:t>Tideline Insights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4"/>
              </a:rPr>
              <a:t>Rixmind ITIL v5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65760" y="91440"/>
            <a:ext cx="91440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2000" b="1" dirty="0">
                <a:solidFill>
                  <a:srgbClr val="FFFFFF"/>
                </a:solidFill>
                <a:latin typeface="Calibri"/>
              </a:rPr>
              <a:t>Agentic AI — Estado Real de Adopcion 2025-2026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65760" y="566928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dirty="0">
                <a:solidFill>
                  <a:srgbClr val="C8EBEF"/>
                </a:solidFill>
                <a:latin typeface="Calibri"/>
              </a:rPr>
              <a:t>Gartner · Dynatrace Pulse of Agentic AI 2026 · Brilo AI · Casos: Robinhood · Honeywell · Salesforce</a:t>
            </a:r>
          </a:p>
        </p:txBody>
      </p:sp>
      <p:sp>
        <p:nvSpPr>
          <p:cNvPr id="6" name="sfhdr"/>
          <p:cNvSpPr>
            <a:spLocks noGrp="1"/>
          </p:cNvSpPr>
          <p:nvPr/>
        </p:nvSpPr>
        <p:spPr>
          <a:xfrm>
            <a:off x="320040" y="896112"/>
            <a:ext cx="4937760" cy="237744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7" name="sfhtxt"/>
          <p:cNvSpPr txBox="1">
            <a:spLocks noGrp="1"/>
          </p:cNvSpPr>
          <p:nvPr/>
        </p:nvSpPr>
        <p:spPr>
          <a:xfrm>
            <a:off x="320040" y="896112"/>
            <a:ext cx="49377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FFFFFF"/>
                </a:solidFill>
                <a:latin typeface="Calibri"/>
              </a:rPr>
              <a:t>ESTADO DE ADOPCION — Empresas con agentes IA desplegados</a:t>
            </a:r>
          </a:p>
        </p:txBody>
      </p:sp>
      <p:sp>
        <p:nvSpPr>
          <p:cNvPr id="10" name="ab"/>
          <p:cNvSpPr>
            <a:spLocks noGrp="1"/>
          </p:cNvSpPr>
          <p:nvPr/>
        </p:nvSpPr>
        <p:spPr>
          <a:xfrm>
            <a:off x="320040" y="1188720"/>
            <a:ext cx="4937760" cy="676656"/>
          </a:xfrm>
          <a:prstGeom prst="roundRect">
            <a:avLst>
              <a:gd name="adj" fmla="val 10000"/>
            </a:avLst>
          </a:prstGeom>
          <a:solidFill>
            <a:srgbClr val="E8F5EE"/>
          </a:solidFill>
          <a:ln w="15875">
            <a:solidFill>
              <a:srgbClr val="1A6B3C"/>
            </a:solidFill>
          </a:ln>
        </p:spPr>
      </p:sp>
      <p:sp>
        <p:nvSpPr>
          <p:cNvPr id="11" name="ap"/>
          <p:cNvSpPr txBox="1">
            <a:spLocks noGrp="1"/>
          </p:cNvSpPr>
          <p:nvPr/>
        </p:nvSpPr>
        <p:spPr>
          <a:xfrm>
            <a:off x="320040" y="1188720"/>
            <a:ext cx="1097280" cy="6766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2600" b="1" dirty="0">
                <a:solidFill>
                  <a:srgbClr val="1A6B3C"/>
                </a:solidFill>
                <a:latin typeface="Calibri"/>
              </a:rPr>
              <a:t>51%</a:t>
            </a:r>
          </a:p>
        </p:txBody>
      </p:sp>
      <p:sp>
        <p:nvSpPr>
          <p:cNvPr id="12" name="ad"/>
          <p:cNvSpPr txBox="1">
            <a:spLocks noGrp="1"/>
          </p:cNvSpPr>
          <p:nvPr/>
        </p:nvSpPr>
        <p:spPr>
          <a:xfrm>
            <a:off x="1463040" y="1316736"/>
            <a:ext cx="3749039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40" dirty="0">
                <a:solidFill>
                  <a:srgbClr val="1A6B3C"/>
                </a:solidFill>
                <a:latin typeface="Calibri"/>
              </a:rPr>
              <a:t>Ya tienen agentes IA desplegados en alguna forma</a:t>
            </a:r>
          </a:p>
        </p:txBody>
      </p:sp>
      <p:sp>
        <p:nvSpPr>
          <p:cNvPr id="13" name="ab"/>
          <p:cNvSpPr>
            <a:spLocks noGrp="1"/>
          </p:cNvSpPr>
          <p:nvPr/>
        </p:nvSpPr>
        <p:spPr>
          <a:xfrm>
            <a:off x="320040" y="1938528"/>
            <a:ext cx="4937760" cy="676656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5875">
            <a:solidFill>
              <a:srgbClr val="C00000"/>
            </a:solidFill>
          </a:ln>
        </p:spPr>
      </p:sp>
      <p:sp>
        <p:nvSpPr>
          <p:cNvPr id="14" name="ap"/>
          <p:cNvSpPr txBox="1">
            <a:spLocks noGrp="1"/>
          </p:cNvSpPr>
          <p:nvPr/>
        </p:nvSpPr>
        <p:spPr>
          <a:xfrm>
            <a:off x="320040" y="1938528"/>
            <a:ext cx="1097280" cy="6766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2600" b="1" dirty="0">
                <a:solidFill>
                  <a:srgbClr val="C00000"/>
                </a:solidFill>
                <a:latin typeface="Calibri"/>
              </a:rPr>
              <a:t>11%</a:t>
            </a:r>
          </a:p>
        </p:txBody>
      </p:sp>
      <p:sp>
        <p:nvSpPr>
          <p:cNvPr id="15" name="ad"/>
          <p:cNvSpPr txBox="1">
            <a:spLocks noGrp="1"/>
          </p:cNvSpPr>
          <p:nvPr/>
        </p:nvSpPr>
        <p:spPr>
          <a:xfrm>
            <a:off x="1463040" y="2066544"/>
            <a:ext cx="3749039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40" dirty="0">
                <a:solidFill>
                  <a:srgbClr val="C00000"/>
                </a:solidFill>
                <a:latin typeface="Calibri"/>
              </a:rPr>
              <a:t>Operando en produccion plena (79% aun experimenta)</a:t>
            </a:r>
          </a:p>
        </p:txBody>
      </p:sp>
      <p:sp>
        <p:nvSpPr>
          <p:cNvPr id="16" name="ab"/>
          <p:cNvSpPr>
            <a:spLocks noGrp="1"/>
          </p:cNvSpPr>
          <p:nvPr/>
        </p:nvSpPr>
        <p:spPr>
          <a:xfrm>
            <a:off x="320040" y="2688336"/>
            <a:ext cx="4937760" cy="676656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875">
            <a:solidFill>
              <a:srgbClr val="92400E"/>
            </a:solidFill>
          </a:ln>
        </p:spPr>
      </p:sp>
      <p:sp>
        <p:nvSpPr>
          <p:cNvPr id="17" name="ap"/>
          <p:cNvSpPr txBox="1">
            <a:spLocks noGrp="1"/>
          </p:cNvSpPr>
          <p:nvPr/>
        </p:nvSpPr>
        <p:spPr>
          <a:xfrm>
            <a:off x="320040" y="2688336"/>
            <a:ext cx="1097280" cy="6766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2600" b="1" dirty="0">
                <a:solidFill>
                  <a:srgbClr val="92400E"/>
                </a:solidFill>
                <a:latin typeface="Calibri"/>
              </a:rPr>
              <a:t>&gt;40%</a:t>
            </a:r>
          </a:p>
        </p:txBody>
      </p:sp>
      <p:sp>
        <p:nvSpPr>
          <p:cNvPr id="18" name="ad"/>
          <p:cNvSpPr txBox="1">
            <a:spLocks noGrp="1"/>
          </p:cNvSpPr>
          <p:nvPr/>
        </p:nvSpPr>
        <p:spPr>
          <a:xfrm>
            <a:off x="1463040" y="2816352"/>
            <a:ext cx="3749039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40" dirty="0">
                <a:solidFill>
                  <a:srgbClr val="92400E"/>
                </a:solidFill>
                <a:latin typeface="Calibri"/>
              </a:rPr>
              <a:t>Proyectos agénticos serán cancelados hacia fin 2027</a:t>
            </a:r>
          </a:p>
        </p:txBody>
      </p:sp>
      <p:sp>
        <p:nvSpPr>
          <p:cNvPr id="20" name="barhdr"/>
          <p:cNvSpPr>
            <a:spLocks noGrp="1"/>
          </p:cNvSpPr>
          <p:nvPr/>
        </p:nvSpPr>
        <p:spPr>
          <a:xfrm>
            <a:off x="320040" y="3493008"/>
            <a:ext cx="4937760" cy="219456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21" name="barhtxt"/>
          <p:cNvSpPr txBox="1">
            <a:spLocks noGrp="1"/>
          </p:cNvSpPr>
          <p:nvPr/>
        </p:nvSpPr>
        <p:spPr>
          <a:xfrm>
            <a:off x="320040" y="3493008"/>
            <a:ext cx="49377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20" b="1" dirty="0">
                <a:solidFill>
                  <a:srgbClr val="FFFFFF"/>
                </a:solidFill>
                <a:latin typeface="Calibri"/>
              </a:rPr>
              <a:t>BARRERAS PARA PRODUCCION PLENA · Dynatrace 2026</a:t>
            </a:r>
          </a:p>
        </p:txBody>
      </p:sp>
      <p:sp>
        <p:nvSpPr>
          <p:cNvPr id="22" name="bb"/>
          <p:cNvSpPr>
            <a:spLocks noGrp="1"/>
          </p:cNvSpPr>
          <p:nvPr/>
        </p:nvSpPr>
        <p:spPr>
          <a:xfrm>
            <a:off x="320040" y="3767328"/>
            <a:ext cx="4937760" cy="219456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23" name="bp"/>
          <p:cNvSpPr txBox="1">
            <a:spLocks noGrp="1"/>
          </p:cNvSpPr>
          <p:nvPr/>
        </p:nvSpPr>
        <p:spPr>
          <a:xfrm>
            <a:off x="320040" y="3767328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C00000"/>
                </a:solidFill>
                <a:latin typeface="Calibri"/>
              </a:rPr>
              <a:t>52%</a:t>
            </a:r>
          </a:p>
        </p:txBody>
      </p:sp>
      <p:sp>
        <p:nvSpPr>
          <p:cNvPr id="24" name="bd"/>
          <p:cNvSpPr txBox="1">
            <a:spLocks noGrp="1"/>
          </p:cNvSpPr>
          <p:nvPr/>
        </p:nvSpPr>
        <p:spPr>
          <a:xfrm>
            <a:off x="1005840" y="3767328"/>
            <a:ext cx="41605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dirty="0">
                <a:solidFill>
                  <a:srgbClr val="333333"/>
                </a:solidFill>
                <a:latin typeface="Calibri"/>
              </a:rPr>
              <a:t>Seguridad / privacidad / cumplimiento</a:t>
            </a:r>
          </a:p>
        </p:txBody>
      </p:sp>
      <p:sp>
        <p:nvSpPr>
          <p:cNvPr id="25" name="bb"/>
          <p:cNvSpPr>
            <a:spLocks noGrp="1"/>
          </p:cNvSpPr>
          <p:nvPr/>
        </p:nvSpPr>
        <p:spPr>
          <a:xfrm>
            <a:off x="320040" y="4005072"/>
            <a:ext cx="49377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26" name="bp"/>
          <p:cNvSpPr txBox="1">
            <a:spLocks noGrp="1"/>
          </p:cNvSpPr>
          <p:nvPr/>
        </p:nvSpPr>
        <p:spPr>
          <a:xfrm>
            <a:off x="320040" y="4005072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92400E"/>
                </a:solidFill>
                <a:latin typeface="Calibri"/>
              </a:rPr>
              <a:t>51%</a:t>
            </a:r>
          </a:p>
        </p:txBody>
      </p:sp>
      <p:sp>
        <p:nvSpPr>
          <p:cNvPr id="27" name="bd"/>
          <p:cNvSpPr txBox="1">
            <a:spLocks noGrp="1"/>
          </p:cNvSpPr>
          <p:nvPr/>
        </p:nvSpPr>
        <p:spPr>
          <a:xfrm>
            <a:off x="1005840" y="4005072"/>
            <a:ext cx="41605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dirty="0">
                <a:solidFill>
                  <a:srgbClr val="333333"/>
                </a:solidFill>
                <a:latin typeface="Calibri"/>
              </a:rPr>
              <a:t>Complejidad tecnica de gestion a escala</a:t>
            </a:r>
          </a:p>
        </p:txBody>
      </p:sp>
      <p:sp>
        <p:nvSpPr>
          <p:cNvPr id="28" name="bb"/>
          <p:cNvSpPr>
            <a:spLocks noGrp="1"/>
          </p:cNvSpPr>
          <p:nvPr/>
        </p:nvSpPr>
        <p:spPr>
          <a:xfrm>
            <a:off x="320040" y="4242816"/>
            <a:ext cx="4937760" cy="219456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29" name="bp"/>
          <p:cNvSpPr txBox="1">
            <a:spLocks noGrp="1"/>
          </p:cNvSpPr>
          <p:nvPr/>
        </p:nvSpPr>
        <p:spPr>
          <a:xfrm>
            <a:off x="320040" y="4242816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0D1B5E"/>
                </a:solidFill>
                <a:latin typeface="Calibri"/>
              </a:rPr>
              <a:t>44%</a:t>
            </a:r>
          </a:p>
        </p:txBody>
      </p:sp>
      <p:sp>
        <p:nvSpPr>
          <p:cNvPr id="30" name="bd"/>
          <p:cNvSpPr txBox="1">
            <a:spLocks noGrp="1"/>
          </p:cNvSpPr>
          <p:nvPr/>
        </p:nvSpPr>
        <p:spPr>
          <a:xfrm>
            <a:off x="1005840" y="4242816"/>
            <a:ext cx="41605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80" dirty="0">
                <a:solidFill>
                  <a:srgbClr val="333333"/>
                </a:solidFill>
                <a:latin typeface="Calibri"/>
              </a:rPr>
              <a:t>Falta de personal capacitado</a:t>
            </a:r>
          </a:p>
        </p:txBody>
      </p:sp>
      <p:sp>
        <p:nvSpPr>
          <p:cNvPr id="40" name="cashdr"/>
          <p:cNvSpPr>
            <a:spLocks noGrp="1"/>
          </p:cNvSpPr>
          <p:nvPr/>
        </p:nvSpPr>
        <p:spPr>
          <a:xfrm>
            <a:off x="5376672" y="896112"/>
            <a:ext cx="2624328" cy="237744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1" name="cashdrtxt"/>
          <p:cNvSpPr txBox="1">
            <a:spLocks noGrp="1"/>
          </p:cNvSpPr>
          <p:nvPr/>
        </p:nvSpPr>
        <p:spPr>
          <a:xfrm>
            <a:off x="5376672" y="896112"/>
            <a:ext cx="26243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20" b="1" dirty="0">
                <a:solidFill>
                  <a:srgbClr val="FFFFFF"/>
                </a:solidFill>
                <a:latin typeface="Calibri"/>
              </a:rPr>
              <a:t>CASOS EN PRODUCCION</a:t>
            </a:r>
          </a:p>
        </p:txBody>
      </p:sp>
      <p:sp>
        <p:nvSpPr>
          <p:cNvPr id="50" name="cbg"/>
          <p:cNvSpPr>
            <a:spLocks noGrp="1"/>
          </p:cNvSpPr>
          <p:nvPr/>
        </p:nvSpPr>
        <p:spPr>
          <a:xfrm>
            <a:off x="5376672" y="1188720"/>
            <a:ext cx="2624328" cy="969264"/>
          </a:xfrm>
          <a:prstGeom prst="roundRect">
            <a:avLst>
              <a:gd name="adj" fmla="val 10000"/>
            </a:avLst>
          </a:prstGeom>
          <a:solidFill>
            <a:srgbClr val="E8F5EE"/>
          </a:solidFill>
          <a:ln w="15875">
            <a:solidFill>
              <a:srgbClr val="1A6B3C"/>
            </a:solidFill>
          </a:ln>
        </p:spPr>
      </p:sp>
      <p:sp>
        <p:nvSpPr>
          <p:cNvPr id="51" name="chdr"/>
          <p:cNvSpPr>
            <a:spLocks noGrp="1"/>
          </p:cNvSpPr>
          <p:nvPr/>
        </p:nvSpPr>
        <p:spPr>
          <a:xfrm>
            <a:off x="5376672" y="1188720"/>
            <a:ext cx="2624328" cy="256032"/>
          </a:xfrm>
          <a:prstGeom prst="roundRect">
            <a:avLst>
              <a:gd name="adj" fmla="val 10000"/>
            </a:avLst>
          </a:prstGeom>
          <a:solidFill>
            <a:srgbClr val="1A6B3C"/>
          </a:solidFill>
          <a:ln>
            <a:noFill/>
          </a:ln>
        </p:spPr>
      </p:sp>
      <p:sp>
        <p:nvSpPr>
          <p:cNvPr id="52" name="chdr2"/>
          <p:cNvSpPr>
            <a:spLocks noGrp="1"/>
          </p:cNvSpPr>
          <p:nvPr/>
        </p:nvSpPr>
        <p:spPr>
          <a:xfrm>
            <a:off x="5376672" y="1344168"/>
            <a:ext cx="2624328" cy="100584"/>
          </a:xfrm>
          <a:prstGeom prst="rect">
            <a:avLst/>
          </a:prstGeom>
          <a:solidFill>
            <a:srgbClr val="1A6B3C"/>
          </a:solidFill>
          <a:ln>
            <a:noFill/>
          </a:ln>
        </p:spPr>
      </p:sp>
      <p:sp>
        <p:nvSpPr>
          <p:cNvPr id="53" name="cemp"/>
          <p:cNvSpPr txBox="1">
            <a:spLocks noGrp="1"/>
          </p:cNvSpPr>
          <p:nvPr/>
        </p:nvSpPr>
        <p:spPr>
          <a:xfrm>
            <a:off x="5422392" y="120700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FFFFFF"/>
                </a:solidFill>
                <a:latin typeface="Calibri"/>
              </a:rPr>
              <a:t>Robinhood</a:t>
            </a:r>
          </a:p>
        </p:txBody>
      </p:sp>
      <p:sp>
        <p:nvSpPr>
          <p:cNvPr id="54" name="cplat"/>
          <p:cNvSpPr txBox="1">
            <a:spLocks noGrp="1"/>
          </p:cNvSpPr>
          <p:nvPr/>
        </p:nvSpPr>
        <p:spPr>
          <a:xfrm>
            <a:off x="6793992" y="1207008"/>
            <a:ext cx="11612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00" i="1" dirty="0">
                <a:solidFill>
                  <a:srgbClr val="FFFFFF"/>
                </a:solidFill>
                <a:latin typeface="Calibri"/>
              </a:rPr>
              <a:t>ServiceNow</a:t>
            </a:r>
          </a:p>
        </p:txBody>
      </p:sp>
      <p:sp>
        <p:nvSpPr>
          <p:cNvPr id="55" name="cres"/>
          <p:cNvSpPr txBox="1">
            <a:spLocks noGrp="1"/>
          </p:cNvSpPr>
          <p:nvPr/>
        </p:nvSpPr>
        <p:spPr>
          <a:xfrm>
            <a:off x="5422392" y="1499616"/>
            <a:ext cx="2532888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20" dirty="0">
                <a:solidFill>
                  <a:srgbClr val="1A6B3C"/>
                </a:solidFill>
                <a:latin typeface="Calibri"/>
              </a:rPr>
              <a:t>70% deflexion · 2.200+ h/mes · 94% CSAT</a:t>
            </a:r>
          </a:p>
        </p:txBody>
      </p:sp>
      <p:sp>
        <p:nvSpPr>
          <p:cNvPr id="8" name="cbg"/>
          <p:cNvSpPr>
            <a:spLocks noGrp="1"/>
          </p:cNvSpPr>
          <p:nvPr/>
        </p:nvSpPr>
        <p:spPr>
          <a:xfrm>
            <a:off x="5376672" y="2231135"/>
            <a:ext cx="2624328" cy="969264"/>
          </a:xfrm>
          <a:prstGeom prst="roundRect">
            <a:avLst>
              <a:gd name="adj" fmla="val 10000"/>
            </a:avLst>
          </a:prstGeom>
          <a:solidFill>
            <a:srgbClr val="EBF3FF"/>
          </a:solidFill>
          <a:ln w="15875">
            <a:solidFill>
              <a:srgbClr val="1A3A8F"/>
            </a:solidFill>
          </a:ln>
        </p:spPr>
      </p:sp>
      <p:sp>
        <p:nvSpPr>
          <p:cNvPr id="9" name="chdr"/>
          <p:cNvSpPr>
            <a:spLocks noGrp="1"/>
          </p:cNvSpPr>
          <p:nvPr/>
        </p:nvSpPr>
        <p:spPr>
          <a:xfrm>
            <a:off x="5376672" y="2231135"/>
            <a:ext cx="2624328" cy="256032"/>
          </a:xfrm>
          <a:prstGeom prst="roundRect">
            <a:avLst>
              <a:gd name="adj" fmla="val 10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56" name="chdr2"/>
          <p:cNvSpPr>
            <a:spLocks noGrp="1"/>
          </p:cNvSpPr>
          <p:nvPr/>
        </p:nvSpPr>
        <p:spPr>
          <a:xfrm>
            <a:off x="5376672" y="2386583"/>
            <a:ext cx="2624328" cy="100584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57" name="cemp"/>
          <p:cNvSpPr txBox="1">
            <a:spLocks noGrp="1"/>
          </p:cNvSpPr>
          <p:nvPr/>
        </p:nvSpPr>
        <p:spPr>
          <a:xfrm>
            <a:off x="5422392" y="2249423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FFFFFF"/>
                </a:solidFill>
                <a:latin typeface="Calibri"/>
              </a:rPr>
              <a:t>Honeywell</a:t>
            </a:r>
          </a:p>
        </p:txBody>
      </p:sp>
      <p:sp>
        <p:nvSpPr>
          <p:cNvPr id="58" name="cplat"/>
          <p:cNvSpPr txBox="1">
            <a:spLocks noGrp="1"/>
          </p:cNvSpPr>
          <p:nvPr/>
        </p:nvSpPr>
        <p:spPr>
          <a:xfrm>
            <a:off x="6793992" y="2249423"/>
            <a:ext cx="11612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00" i="1" dirty="0">
                <a:solidFill>
                  <a:srgbClr val="FFFFFF"/>
                </a:solidFill>
                <a:latin typeface="Calibri"/>
              </a:rPr>
              <a:t>Moveworks</a:t>
            </a:r>
          </a:p>
        </p:txBody>
      </p:sp>
      <p:sp>
        <p:nvSpPr>
          <p:cNvPr id="59" name="cres"/>
          <p:cNvSpPr txBox="1">
            <a:spLocks noGrp="1"/>
          </p:cNvSpPr>
          <p:nvPr/>
        </p:nvSpPr>
        <p:spPr>
          <a:xfrm>
            <a:off x="5422392" y="2542031"/>
            <a:ext cx="2532888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20" dirty="0">
                <a:solidFill>
                  <a:srgbClr val="1A3A8F"/>
                </a:solidFill>
                <a:latin typeface="Calibri"/>
              </a:rPr>
              <a:t>-80% volumen tickets · IA primer contacto</a:t>
            </a:r>
          </a:p>
        </p:txBody>
      </p:sp>
      <p:sp>
        <p:nvSpPr>
          <p:cNvPr id="19" name="cbg"/>
          <p:cNvSpPr>
            <a:spLocks noGrp="1"/>
          </p:cNvSpPr>
          <p:nvPr/>
        </p:nvSpPr>
        <p:spPr>
          <a:xfrm>
            <a:off x="5376672" y="3273550"/>
            <a:ext cx="2624328" cy="969264"/>
          </a:xfrm>
          <a:prstGeom prst="roundRect">
            <a:avLst>
              <a:gd name="adj" fmla="val 10000"/>
            </a:avLst>
          </a:prstGeom>
          <a:solidFill>
            <a:srgbClr val="E8EDF8"/>
          </a:solidFill>
          <a:ln w="15875">
            <a:solidFill>
              <a:srgbClr val="0D1B5E"/>
            </a:solidFill>
          </a:ln>
        </p:spPr>
      </p:sp>
      <p:sp>
        <p:nvSpPr>
          <p:cNvPr id="31" name="chdr"/>
          <p:cNvSpPr>
            <a:spLocks noGrp="1"/>
          </p:cNvSpPr>
          <p:nvPr/>
        </p:nvSpPr>
        <p:spPr>
          <a:xfrm>
            <a:off x="5376672" y="3273550"/>
            <a:ext cx="2624328" cy="256032"/>
          </a:xfrm>
          <a:prstGeom prst="roundRect">
            <a:avLst>
              <a:gd name="adj" fmla="val 10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60" name="chdr2"/>
          <p:cNvSpPr>
            <a:spLocks noGrp="1"/>
          </p:cNvSpPr>
          <p:nvPr/>
        </p:nvSpPr>
        <p:spPr>
          <a:xfrm>
            <a:off x="5376672" y="3428998"/>
            <a:ext cx="2624328" cy="100584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61" name="cemp"/>
          <p:cNvSpPr txBox="1">
            <a:spLocks noGrp="1"/>
          </p:cNvSpPr>
          <p:nvPr/>
        </p:nvSpPr>
        <p:spPr>
          <a:xfrm>
            <a:off x="5422392" y="329183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FFFFFF"/>
                </a:solidFill>
                <a:latin typeface="Calibri"/>
              </a:rPr>
              <a:t>Salesforce</a:t>
            </a:r>
          </a:p>
        </p:txBody>
      </p:sp>
      <p:sp>
        <p:nvSpPr>
          <p:cNvPr id="62" name="cplat"/>
          <p:cNvSpPr txBox="1">
            <a:spLocks noGrp="1"/>
          </p:cNvSpPr>
          <p:nvPr/>
        </p:nvSpPr>
        <p:spPr>
          <a:xfrm>
            <a:off x="6793992" y="3291838"/>
            <a:ext cx="11612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00" i="1" dirty="0">
                <a:solidFill>
                  <a:srgbClr val="FFFFFF"/>
                </a:solidFill>
                <a:latin typeface="Calibri"/>
              </a:rPr>
              <a:t>Agentforce</a:t>
            </a:r>
          </a:p>
        </p:txBody>
      </p:sp>
      <p:sp>
        <p:nvSpPr>
          <p:cNvPr id="63" name="cres"/>
          <p:cNvSpPr txBox="1">
            <a:spLocks noGrp="1"/>
          </p:cNvSpPr>
          <p:nvPr/>
        </p:nvSpPr>
        <p:spPr>
          <a:xfrm>
            <a:off x="5422392" y="3584446"/>
            <a:ext cx="2532888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20" dirty="0">
                <a:solidFill>
                  <a:srgbClr val="0D1B5E"/>
                </a:solidFill>
                <a:latin typeface="Calibri"/>
              </a:rPr>
              <a:t>84% de 380K interacciones · 2% a humanos</a:t>
            </a:r>
          </a:p>
        </p:txBody>
      </p:sp>
      <p:sp>
        <p:nvSpPr>
          <p:cNvPr id="999" name="src"/>
          <p:cNvSpPr txBox="1">
            <a:spLocks noGrp="1"/>
          </p:cNvSpPr>
          <p:nvPr/>
        </p:nvSpPr>
        <p:spPr>
          <a:xfrm>
            <a:off x="320040" y="44622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2"/>
              </a:rPr>
              <a:t>Brilo AI / Gartner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3"/>
              </a:rPr>
              <a:t>Dynatrace Pulse 2026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4"/>
              </a:rPr>
              <a:t>Salesforce Newsroom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5"/>
              </a:rPr>
              <a:t>Ivanti Agentic AI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7063431-2DE3-F60A-F338-FF4742D01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Mesas de Servicio - Referencia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A179637-B69D-C6BA-C75E-06BFC81FE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652143"/>
            <a:ext cx="4332514" cy="291936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3EA414D-20B6-9B45-A372-FD29DC40E659}"/>
              </a:ext>
            </a:extLst>
          </p:cNvPr>
          <p:cNvSpPr txBox="1"/>
          <p:nvPr/>
        </p:nvSpPr>
        <p:spPr>
          <a:xfrm>
            <a:off x="1567543" y="4226379"/>
            <a:ext cx="187778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>
                <a:hlinkClick r:id="rId4"/>
              </a:rPr>
              <a:t>7.5.5 Mesa de Servicios</a:t>
            </a:r>
            <a:endParaRPr lang="en-US" sz="800"/>
          </a:p>
          <a:p>
            <a:pPr algn="ctr"/>
            <a:endParaRPr lang="es-ES" sz="80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D1F6975-38DB-93CB-B6BA-B658B4E2CF1F}"/>
              </a:ext>
            </a:extLst>
          </p:cNvPr>
          <p:cNvSpPr txBox="1"/>
          <p:nvPr/>
        </p:nvSpPr>
        <p:spPr>
          <a:xfrm>
            <a:off x="5143500" y="4395107"/>
            <a:ext cx="3869872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>
                <a:hlinkClick r:id="rId5"/>
              </a:rPr>
              <a:t>¿Qué es un software de mesa de ayuda? | Guía sobre el software de mesa de ayuda - ManageEngine ServiceDesk Plus</a:t>
            </a:r>
            <a:endParaRPr lang="en-US" sz="800"/>
          </a:p>
          <a:p>
            <a:pPr algn="ctr"/>
            <a:endParaRPr lang="es-ES"/>
          </a:p>
        </p:txBody>
      </p:sp>
      <p:pic>
        <p:nvPicPr>
          <p:cNvPr id="8" name="Imagen 7" descr="Help desk software for small business">
            <a:extLst>
              <a:ext uri="{FF2B5EF4-FFF2-40B4-BE49-F238E27FC236}">
                <a16:creationId xmlns:a16="http://schemas.microsoft.com/office/drawing/2014/main" id="{15ED6B90-4D20-BFFE-8DEC-B92A0F7C44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2632" y="0"/>
            <a:ext cx="3620364" cy="421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757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Contenido del artículo">
            <a:extLst>
              <a:ext uri="{FF2B5EF4-FFF2-40B4-BE49-F238E27FC236}">
                <a16:creationId xmlns:a16="http://schemas.microsoft.com/office/drawing/2014/main" id="{7DF1E554-1AA2-EB5F-9181-655DCB20E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507" y="111579"/>
            <a:ext cx="7658100" cy="44196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B543981-3B15-19F8-6B0B-D34AF3EB26D8}"/>
              </a:ext>
            </a:extLst>
          </p:cNvPr>
          <p:cNvSpPr txBox="1"/>
          <p:nvPr/>
        </p:nvSpPr>
        <p:spPr>
          <a:xfrm>
            <a:off x="473528" y="4656364"/>
            <a:ext cx="641712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>
                <a:hlinkClick r:id="rId3"/>
              </a:rPr>
              <a:t>(8) Mesa de servicio inteligente: cómo la Inteligencia Artificial está transformando el soporte al cliente | LinkedIn</a:t>
            </a:r>
            <a:endParaRPr lang="en-US" sz="800"/>
          </a:p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583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0073EB55-4649-8126-4366-E27BAFF96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>
            <a:extLst>
              <a:ext uri="{FF2B5EF4-FFF2-40B4-BE49-F238E27FC236}">
                <a16:creationId xmlns:a16="http://schemas.microsoft.com/office/drawing/2014/main" id="{B5EE3330-01FD-C810-C65B-B47C23803E2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 dirty="0"/>
              <a:t>Mesas de Servicio de Nueva Generación</a:t>
            </a:r>
          </a:p>
        </p:txBody>
      </p:sp>
      <p:sp>
        <p:nvSpPr>
          <p:cNvPr id="125" name="Google Shape;125;g3657f5ba65c_1_28">
            <a:extLst>
              <a:ext uri="{FF2B5EF4-FFF2-40B4-BE49-F238E27FC236}">
                <a16:creationId xmlns:a16="http://schemas.microsoft.com/office/drawing/2014/main" id="{B949523C-9396-B26E-8B4E-9473B2ABF46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s-ES"/>
              <a:t>Propuesta de Servicio Diferenciada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145422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¿Que diferencia a PersonalSoft? — 4 pilares que ningun competidor tiene integrados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 dirty="0">
                <a:solidFill>
                  <a:srgbClr val="6B7280"/>
                </a:solidFill>
                <a:latin typeface="Calibri"/>
              </a:rPr>
              <a:t>No es la plataforma — es el modelo de madurez, el framework y la IA que aplicamos sobre ella</a:t>
            </a:r>
          </a:p>
        </p:txBody>
      </p:sp>
      <p:sp>
        <p:nvSpPr>
          <p:cNvPr id="10" name="pb"/>
          <p:cNvSpPr>
            <a:spLocks noGrp="1"/>
          </p:cNvSpPr>
          <p:nvPr/>
        </p:nvSpPr>
        <p:spPr>
          <a:xfrm>
            <a:off x="320040" y="804672"/>
            <a:ext cx="1874519" cy="3310128"/>
          </a:xfrm>
          <a:prstGeom prst="roundRect">
            <a:avLst>
              <a:gd name="adj" fmla="val 20000"/>
            </a:avLst>
          </a:prstGeom>
          <a:solidFill>
            <a:srgbClr val="E8EDF8"/>
          </a:solidFill>
          <a:ln w="19050">
            <a:solidFill>
              <a:srgbClr val="0D1B5E"/>
            </a:solidFill>
          </a:ln>
        </p:spPr>
      </p:sp>
      <p:sp>
        <p:nvSpPr>
          <p:cNvPr id="11" name="pbar"/>
          <p:cNvSpPr>
            <a:spLocks noGrp="1"/>
          </p:cNvSpPr>
          <p:nvPr/>
        </p:nvSpPr>
        <p:spPr>
          <a:xfrm>
            <a:off x="320040" y="804672"/>
            <a:ext cx="1874519" cy="475488"/>
          </a:xfrm>
          <a:prstGeom prst="roundRect">
            <a:avLst>
              <a:gd name="adj" fmla="val 20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12" name="pbar2"/>
          <p:cNvSpPr>
            <a:spLocks noGrp="1"/>
          </p:cNvSpPr>
          <p:nvPr/>
        </p:nvSpPr>
        <p:spPr>
          <a:xfrm>
            <a:off x="320040" y="1115568"/>
            <a:ext cx="1874519" cy="164592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13" name="pnum"/>
          <p:cNvSpPr txBox="1">
            <a:spLocks noGrp="1"/>
          </p:cNvSpPr>
          <p:nvPr/>
        </p:nvSpPr>
        <p:spPr>
          <a:xfrm>
            <a:off x="320040" y="841248"/>
            <a:ext cx="347472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ptit"/>
          <p:cNvSpPr txBox="1">
            <a:spLocks noGrp="1"/>
          </p:cNvSpPr>
          <p:nvPr/>
        </p:nvSpPr>
        <p:spPr>
          <a:xfrm>
            <a:off x="356616" y="841248"/>
            <a:ext cx="1801367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80" b="1" dirty="0">
                <a:solidFill>
                  <a:srgbClr val="FFFFFF"/>
                </a:solidFill>
                <a:latin typeface="Calibri"/>
              </a:rPr>
              <a:t>Modelo de Madurez
Propio N0-N5</a:t>
            </a:r>
          </a:p>
        </p:txBody>
      </p:sp>
      <p:sp>
        <p:nvSpPr>
          <p:cNvPr id="15" name="pi"/>
          <p:cNvSpPr txBox="1">
            <a:spLocks noGrp="1"/>
          </p:cNvSpPr>
          <p:nvPr/>
        </p:nvSpPr>
        <p:spPr>
          <a:xfrm>
            <a:off x="411480" y="1389888"/>
            <a:ext cx="1691639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dirty="0">
                <a:solidFill>
                  <a:srgbClr val="0D1B5E"/>
                </a:solidFill>
                <a:latin typeface="Calibri"/>
              </a:rPr>
              <a:t>► 6 niveles · 17 practicas · 4 dimensiones</a:t>
            </a:r>
          </a:p>
        </p:txBody>
      </p:sp>
      <p:sp>
        <p:nvSpPr>
          <p:cNvPr id="16" name="pi"/>
          <p:cNvSpPr txBox="1">
            <a:spLocks noGrp="1"/>
          </p:cNvSpPr>
          <p:nvPr/>
        </p:nvSpPr>
        <p:spPr>
          <a:xfrm>
            <a:off x="411480" y="1901952"/>
            <a:ext cx="1691639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dirty="0">
                <a:solidFill>
                  <a:srgbClr val="0D1B5E"/>
                </a:solidFill>
                <a:latin typeface="Calibri"/>
              </a:rPr>
              <a:t>► Nadie lo tiene como oferta comercial</a:t>
            </a:r>
          </a:p>
        </p:txBody>
      </p:sp>
      <p:sp>
        <p:nvSpPr>
          <p:cNvPr id="6" name="pb"/>
          <p:cNvSpPr>
            <a:spLocks noGrp="1"/>
          </p:cNvSpPr>
          <p:nvPr/>
        </p:nvSpPr>
        <p:spPr>
          <a:xfrm>
            <a:off x="2285999" y="804672"/>
            <a:ext cx="1874519" cy="3310128"/>
          </a:xfrm>
          <a:prstGeom prst="roundRect">
            <a:avLst>
              <a:gd name="adj" fmla="val 20000"/>
            </a:avLst>
          </a:prstGeom>
          <a:solidFill>
            <a:srgbClr val="EBF3FF"/>
          </a:solidFill>
          <a:ln w="19050">
            <a:solidFill>
              <a:srgbClr val="1A3A8F"/>
            </a:solidFill>
          </a:ln>
        </p:spPr>
      </p:sp>
      <p:sp>
        <p:nvSpPr>
          <p:cNvPr id="7" name="pbar"/>
          <p:cNvSpPr>
            <a:spLocks noGrp="1"/>
          </p:cNvSpPr>
          <p:nvPr/>
        </p:nvSpPr>
        <p:spPr>
          <a:xfrm>
            <a:off x="2285999" y="804672"/>
            <a:ext cx="1874519" cy="475488"/>
          </a:xfrm>
          <a:prstGeom prst="roundRect">
            <a:avLst>
              <a:gd name="adj" fmla="val 20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8" name="pbar2"/>
          <p:cNvSpPr>
            <a:spLocks noGrp="1"/>
          </p:cNvSpPr>
          <p:nvPr/>
        </p:nvSpPr>
        <p:spPr>
          <a:xfrm>
            <a:off x="2285999" y="1115568"/>
            <a:ext cx="1874519" cy="164592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17" name="pnum"/>
          <p:cNvSpPr txBox="1">
            <a:spLocks noGrp="1"/>
          </p:cNvSpPr>
          <p:nvPr/>
        </p:nvSpPr>
        <p:spPr>
          <a:xfrm>
            <a:off x="2285999" y="841248"/>
            <a:ext cx="347472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ptit"/>
          <p:cNvSpPr txBox="1">
            <a:spLocks noGrp="1"/>
          </p:cNvSpPr>
          <p:nvPr/>
        </p:nvSpPr>
        <p:spPr>
          <a:xfrm>
            <a:off x="2322575" y="841248"/>
            <a:ext cx="1801367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80" b="1" dirty="0">
                <a:solidFill>
                  <a:srgbClr val="FFFFFF"/>
                </a:solidFill>
                <a:latin typeface="Calibri"/>
              </a:rPr>
              <a:t>ITIL v5
desde el primer dia</a:t>
            </a:r>
          </a:p>
        </p:txBody>
      </p:sp>
      <p:sp>
        <p:nvSpPr>
          <p:cNvPr id="19" name="pi"/>
          <p:cNvSpPr txBox="1">
            <a:spLocks noGrp="1"/>
          </p:cNvSpPr>
          <p:nvPr/>
        </p:nvSpPr>
        <p:spPr>
          <a:xfrm>
            <a:off x="2377439" y="1389888"/>
            <a:ext cx="1691639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dirty="0">
                <a:solidFill>
                  <a:srgbClr val="1A3A8F"/>
                </a:solidFill>
                <a:latin typeface="Calibri"/>
              </a:rPr>
              <a:t>► Unico framework feb 2026 · 6C AI Model</a:t>
            </a:r>
          </a:p>
        </p:txBody>
      </p:sp>
      <p:sp>
        <p:nvSpPr>
          <p:cNvPr id="20" name="pi"/>
          <p:cNvSpPr txBox="1">
            <a:spLocks noGrp="1"/>
          </p:cNvSpPr>
          <p:nvPr/>
        </p:nvSpPr>
        <p:spPr>
          <a:xfrm>
            <a:off x="2377439" y="1901952"/>
            <a:ext cx="1691639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dirty="0">
                <a:solidFill>
                  <a:srgbClr val="1A3A8F"/>
                </a:solidFill>
                <a:latin typeface="Calibri"/>
              </a:rPr>
              <a:t>► Gobernanza formal de IA · 8 etapas</a:t>
            </a:r>
          </a:p>
        </p:txBody>
      </p:sp>
      <p:sp>
        <p:nvSpPr>
          <p:cNvPr id="9" name="pb"/>
          <p:cNvSpPr>
            <a:spLocks noGrp="1"/>
          </p:cNvSpPr>
          <p:nvPr/>
        </p:nvSpPr>
        <p:spPr>
          <a:xfrm>
            <a:off x="4251958" y="804672"/>
            <a:ext cx="1874519" cy="3310128"/>
          </a:xfrm>
          <a:prstGeom prst="roundRect">
            <a:avLst>
              <a:gd name="adj" fmla="val 20000"/>
            </a:avLst>
          </a:prstGeom>
          <a:solidFill>
            <a:srgbClr val="E8F6F7"/>
          </a:solidFill>
          <a:ln w="19050">
            <a:solidFill>
              <a:srgbClr val="1B7B85"/>
            </a:solidFill>
          </a:ln>
        </p:spPr>
      </p:sp>
      <p:sp>
        <p:nvSpPr>
          <p:cNvPr id="29" name="pbar"/>
          <p:cNvSpPr>
            <a:spLocks noGrp="1"/>
          </p:cNvSpPr>
          <p:nvPr/>
        </p:nvSpPr>
        <p:spPr>
          <a:xfrm>
            <a:off x="4251958" y="804672"/>
            <a:ext cx="1874519" cy="475488"/>
          </a:xfrm>
          <a:prstGeom prst="roundRect">
            <a:avLst>
              <a:gd name="adj" fmla="val 20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30" name="pbar2"/>
          <p:cNvSpPr>
            <a:spLocks noGrp="1"/>
          </p:cNvSpPr>
          <p:nvPr/>
        </p:nvSpPr>
        <p:spPr>
          <a:xfrm>
            <a:off x="4251958" y="1115568"/>
            <a:ext cx="1874519" cy="164592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21" name="pnum"/>
          <p:cNvSpPr txBox="1">
            <a:spLocks noGrp="1"/>
          </p:cNvSpPr>
          <p:nvPr/>
        </p:nvSpPr>
        <p:spPr>
          <a:xfrm>
            <a:off x="4251958" y="841248"/>
            <a:ext cx="347472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ptit"/>
          <p:cNvSpPr txBox="1">
            <a:spLocks noGrp="1"/>
          </p:cNvSpPr>
          <p:nvPr/>
        </p:nvSpPr>
        <p:spPr>
          <a:xfrm>
            <a:off x="4288534" y="841248"/>
            <a:ext cx="1801367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80" b="1" dirty="0">
                <a:solidFill>
                  <a:srgbClr val="FFFFFF"/>
                </a:solidFill>
                <a:latin typeface="Calibri"/>
              </a:rPr>
              <a:t>AIOps
Integrado</a:t>
            </a:r>
          </a:p>
        </p:txBody>
      </p:sp>
      <p:sp>
        <p:nvSpPr>
          <p:cNvPr id="23" name="pi"/>
          <p:cNvSpPr txBox="1">
            <a:spLocks noGrp="1"/>
          </p:cNvSpPr>
          <p:nvPr/>
        </p:nvSpPr>
        <p:spPr>
          <a:xfrm>
            <a:off x="4343398" y="1389888"/>
            <a:ext cx="1691639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dirty="0">
                <a:solidFill>
                  <a:srgbClr val="1B7B85"/>
                </a:solidFill>
                <a:latin typeface="Calibri"/>
              </a:rPr>
              <a:t>► Observabilidad predictiva desde el diseno</a:t>
            </a:r>
          </a:p>
        </p:txBody>
      </p:sp>
      <p:sp>
        <p:nvSpPr>
          <p:cNvPr id="24" name="pi"/>
          <p:cNvSpPr txBox="1">
            <a:spLocks noGrp="1"/>
          </p:cNvSpPr>
          <p:nvPr/>
        </p:nvSpPr>
        <p:spPr>
          <a:xfrm>
            <a:off x="4343398" y="1901952"/>
            <a:ext cx="1691639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dirty="0">
                <a:solidFill>
                  <a:srgbClr val="1B7B85"/>
                </a:solidFill>
                <a:latin typeface="Calibri"/>
              </a:rPr>
              <a:t>► Correlacion alertas-incidentes automatica</a:t>
            </a:r>
          </a:p>
        </p:txBody>
      </p:sp>
      <p:sp>
        <p:nvSpPr>
          <p:cNvPr id="31" name="pb"/>
          <p:cNvSpPr>
            <a:spLocks noGrp="1"/>
          </p:cNvSpPr>
          <p:nvPr/>
        </p:nvSpPr>
        <p:spPr>
          <a:xfrm>
            <a:off x="6217917" y="804672"/>
            <a:ext cx="1874519" cy="3310128"/>
          </a:xfrm>
          <a:prstGeom prst="roundRect">
            <a:avLst>
              <a:gd name="adj" fmla="val 20000"/>
            </a:avLst>
          </a:prstGeom>
          <a:solidFill>
            <a:srgbClr val="E8F5EE"/>
          </a:solidFill>
          <a:ln w="19050">
            <a:solidFill>
              <a:srgbClr val="1A6B3C"/>
            </a:solidFill>
          </a:ln>
        </p:spPr>
      </p:sp>
      <p:sp>
        <p:nvSpPr>
          <p:cNvPr id="32" name="pbar"/>
          <p:cNvSpPr>
            <a:spLocks noGrp="1"/>
          </p:cNvSpPr>
          <p:nvPr/>
        </p:nvSpPr>
        <p:spPr>
          <a:xfrm>
            <a:off x="6217917" y="804672"/>
            <a:ext cx="1874519" cy="475488"/>
          </a:xfrm>
          <a:prstGeom prst="roundRect">
            <a:avLst>
              <a:gd name="adj" fmla="val 20000"/>
            </a:avLst>
          </a:prstGeom>
          <a:solidFill>
            <a:srgbClr val="1A6B3C"/>
          </a:solidFill>
          <a:ln>
            <a:noFill/>
          </a:ln>
        </p:spPr>
      </p:sp>
      <p:sp>
        <p:nvSpPr>
          <p:cNvPr id="33" name="pbar2"/>
          <p:cNvSpPr>
            <a:spLocks noGrp="1"/>
          </p:cNvSpPr>
          <p:nvPr/>
        </p:nvSpPr>
        <p:spPr>
          <a:xfrm>
            <a:off x="6217917" y="1115568"/>
            <a:ext cx="1874519" cy="164592"/>
          </a:xfrm>
          <a:prstGeom prst="rect">
            <a:avLst/>
          </a:prstGeom>
          <a:solidFill>
            <a:srgbClr val="1A6B3C"/>
          </a:solidFill>
          <a:ln>
            <a:noFill/>
          </a:ln>
        </p:spPr>
      </p:sp>
      <p:sp>
        <p:nvSpPr>
          <p:cNvPr id="25" name="pnum"/>
          <p:cNvSpPr txBox="1">
            <a:spLocks noGrp="1"/>
          </p:cNvSpPr>
          <p:nvPr/>
        </p:nvSpPr>
        <p:spPr>
          <a:xfrm>
            <a:off x="6217917" y="841248"/>
            <a:ext cx="347472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6" name="ptit"/>
          <p:cNvSpPr txBox="1">
            <a:spLocks noGrp="1"/>
          </p:cNvSpPr>
          <p:nvPr/>
        </p:nvSpPr>
        <p:spPr>
          <a:xfrm>
            <a:off x="6254493" y="841248"/>
            <a:ext cx="1801367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80" b="1" dirty="0">
                <a:solidFill>
                  <a:srgbClr val="FFFFFF"/>
                </a:solidFill>
                <a:latin typeface="Calibri"/>
              </a:rPr>
              <a:t>Pricing
Outcome-Based</a:t>
            </a:r>
          </a:p>
        </p:txBody>
      </p:sp>
      <p:sp>
        <p:nvSpPr>
          <p:cNvPr id="27" name="pi"/>
          <p:cNvSpPr txBox="1">
            <a:spLocks noGrp="1"/>
          </p:cNvSpPr>
          <p:nvPr/>
        </p:nvSpPr>
        <p:spPr>
          <a:xfrm>
            <a:off x="6309357" y="1389888"/>
            <a:ext cx="1691639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dirty="0">
                <a:solidFill>
                  <a:srgbClr val="1A6B3C"/>
                </a:solidFill>
                <a:latin typeface="Calibri"/>
              </a:rPr>
              <a:t>► Costo = Outcomes × Precio por Outcome</a:t>
            </a:r>
          </a:p>
        </p:txBody>
      </p:sp>
      <p:sp>
        <p:nvSpPr>
          <p:cNvPr id="28" name="pi"/>
          <p:cNvSpPr txBox="1">
            <a:spLocks noGrp="1"/>
          </p:cNvSpPr>
          <p:nvPr/>
        </p:nvSpPr>
        <p:spPr>
          <a:xfrm>
            <a:off x="6309357" y="1901952"/>
            <a:ext cx="1691639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dirty="0">
                <a:solidFill>
                  <a:srgbClr val="1A6B3C"/>
                </a:solidFill>
                <a:latin typeface="Calibri"/>
              </a:rPr>
              <a:t>► Shared savings 15-25% · Riesgo compartido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Colombia abre una ventana para industrializar el servicio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 dirty="0">
                <a:solidFill>
                  <a:srgbClr val="6B7280"/>
                </a:solidFill>
                <a:latin typeface="Calibri"/>
              </a:rPr>
              <a:t>Regulacion, digitalizacion e IA elevan la expectativa del cliente — el mercado esta listo</a:t>
            </a:r>
          </a:p>
        </p:txBody>
      </p:sp>
      <p:sp>
        <p:nvSpPr>
          <p:cNvPr id="10" name="kb"/>
          <p:cNvSpPr>
            <a:spLocks noGrp="1"/>
          </p:cNvSpPr>
          <p:nvPr/>
        </p:nvSpPr>
        <p:spPr>
          <a:xfrm>
            <a:off x="320040" y="804672"/>
            <a:ext cx="2468880" cy="877824"/>
          </a:xfrm>
          <a:prstGeom prst="roundRect">
            <a:avLst>
              <a:gd name="adj" fmla="val 18000"/>
            </a:avLst>
          </a:prstGeom>
          <a:solidFill>
            <a:srgbClr val="E8EDF8"/>
          </a:solidFill>
          <a:ln w="19050">
            <a:solidFill>
              <a:srgbClr val="0D1B5E"/>
            </a:solidFill>
          </a:ln>
        </p:spPr>
      </p:sp>
      <p:sp>
        <p:nvSpPr>
          <p:cNvPr id="11" name="kbar"/>
          <p:cNvSpPr>
            <a:spLocks noGrp="1"/>
          </p:cNvSpPr>
          <p:nvPr/>
        </p:nvSpPr>
        <p:spPr>
          <a:xfrm>
            <a:off x="320040" y="804672"/>
            <a:ext cx="2468880" cy="54864"/>
          </a:xfrm>
          <a:prstGeom prst="roundRect">
            <a:avLst>
              <a:gd name="adj" fmla="val 18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12" name="kn"/>
          <p:cNvSpPr txBox="1">
            <a:spLocks noGrp="1"/>
          </p:cNvSpPr>
          <p:nvPr/>
        </p:nvSpPr>
        <p:spPr>
          <a:xfrm>
            <a:off x="320040" y="896112"/>
            <a:ext cx="24688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2800" b="1" dirty="0">
                <a:solidFill>
                  <a:srgbClr val="0D1B5E"/>
                </a:solidFill>
                <a:latin typeface="Calibri"/>
              </a:rPr>
              <a:t>81%</a:t>
            </a:r>
          </a:p>
        </p:txBody>
      </p:sp>
      <p:sp>
        <p:nvSpPr>
          <p:cNvPr id="13" name="kl"/>
          <p:cNvSpPr txBox="1">
            <a:spLocks noGrp="1"/>
          </p:cNvSpPr>
          <p:nvPr/>
        </p:nvSpPr>
        <p:spPr>
          <a:xfrm>
            <a:off x="411480" y="1316736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0D1B5E"/>
                </a:solidFill>
                <a:latin typeface="Calibri"/>
              </a:rPr>
              <a:t>Banca colombiana
con uso de IA</a:t>
            </a:r>
          </a:p>
        </p:txBody>
      </p:sp>
      <p:sp>
        <p:nvSpPr>
          <p:cNvPr id="6" name="kb"/>
          <p:cNvSpPr>
            <a:spLocks noGrp="1"/>
          </p:cNvSpPr>
          <p:nvPr/>
        </p:nvSpPr>
        <p:spPr>
          <a:xfrm>
            <a:off x="2898648" y="804672"/>
            <a:ext cx="2468880" cy="877824"/>
          </a:xfrm>
          <a:prstGeom prst="roundRect">
            <a:avLst>
              <a:gd name="adj" fmla="val 18000"/>
            </a:avLst>
          </a:prstGeom>
          <a:solidFill>
            <a:srgbClr val="EBF3FF"/>
          </a:solidFill>
          <a:ln w="19050">
            <a:solidFill>
              <a:srgbClr val="1A3A8F"/>
            </a:solidFill>
          </a:ln>
        </p:spPr>
      </p:sp>
      <p:sp>
        <p:nvSpPr>
          <p:cNvPr id="14" name="kbar"/>
          <p:cNvSpPr>
            <a:spLocks noGrp="1"/>
          </p:cNvSpPr>
          <p:nvPr/>
        </p:nvSpPr>
        <p:spPr>
          <a:xfrm>
            <a:off x="2898648" y="804672"/>
            <a:ext cx="2468880" cy="54864"/>
          </a:xfrm>
          <a:prstGeom prst="roundRect">
            <a:avLst>
              <a:gd name="adj" fmla="val 18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5" name="kn"/>
          <p:cNvSpPr txBox="1">
            <a:spLocks noGrp="1"/>
          </p:cNvSpPr>
          <p:nvPr/>
        </p:nvSpPr>
        <p:spPr>
          <a:xfrm>
            <a:off x="2898648" y="896112"/>
            <a:ext cx="24688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2800" b="1" dirty="0">
                <a:solidFill>
                  <a:srgbClr val="1A3A8F"/>
                </a:solidFill>
                <a:latin typeface="Calibri"/>
              </a:rPr>
              <a:t>13.82%</a:t>
            </a:r>
          </a:p>
        </p:txBody>
      </p:sp>
      <p:sp>
        <p:nvSpPr>
          <p:cNvPr id="16" name="kl"/>
          <p:cNvSpPr txBox="1">
            <a:spLocks noGrp="1"/>
          </p:cNvSpPr>
          <p:nvPr/>
        </p:nvSpPr>
        <p:spPr>
          <a:xfrm>
            <a:off x="2990088" y="1316736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1A3A8F"/>
                </a:solidFill>
                <a:latin typeface="Calibri"/>
              </a:rPr>
              <a:t>Servicios crecen mas
rapido que soluciones</a:t>
            </a:r>
          </a:p>
        </p:txBody>
      </p:sp>
      <p:sp>
        <p:nvSpPr>
          <p:cNvPr id="7" name="kb"/>
          <p:cNvSpPr>
            <a:spLocks noGrp="1"/>
          </p:cNvSpPr>
          <p:nvPr/>
        </p:nvSpPr>
        <p:spPr>
          <a:xfrm>
            <a:off x="5477256" y="804672"/>
            <a:ext cx="2468880" cy="877824"/>
          </a:xfrm>
          <a:prstGeom prst="roundRect">
            <a:avLst>
              <a:gd name="adj" fmla="val 18000"/>
            </a:avLst>
          </a:prstGeom>
          <a:solidFill>
            <a:srgbClr val="E8F6F7"/>
          </a:solidFill>
          <a:ln w="19050">
            <a:solidFill>
              <a:srgbClr val="1B7B85"/>
            </a:solidFill>
          </a:ln>
        </p:spPr>
      </p:sp>
      <p:sp>
        <p:nvSpPr>
          <p:cNvPr id="17" name="kbar"/>
          <p:cNvSpPr>
            <a:spLocks noGrp="1"/>
          </p:cNvSpPr>
          <p:nvPr/>
        </p:nvSpPr>
        <p:spPr>
          <a:xfrm>
            <a:off x="5477256" y="804672"/>
            <a:ext cx="2468880" cy="54864"/>
          </a:xfrm>
          <a:prstGeom prst="roundRect">
            <a:avLst>
              <a:gd name="adj" fmla="val 18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18" name="kn"/>
          <p:cNvSpPr txBox="1">
            <a:spLocks noGrp="1"/>
          </p:cNvSpPr>
          <p:nvPr/>
        </p:nvSpPr>
        <p:spPr>
          <a:xfrm>
            <a:off x="5477256" y="896112"/>
            <a:ext cx="24688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2800" b="1" dirty="0">
                <a:solidFill>
                  <a:srgbClr val="1B7B85"/>
                </a:solidFill>
                <a:latin typeface="Calibri"/>
              </a:rPr>
              <a:t>14.08%</a:t>
            </a:r>
          </a:p>
        </p:txBody>
      </p:sp>
      <p:sp>
        <p:nvSpPr>
          <p:cNvPr id="19" name="kl"/>
          <p:cNvSpPr txBox="1">
            <a:spLocks noGrp="1"/>
          </p:cNvSpPr>
          <p:nvPr/>
        </p:nvSpPr>
        <p:spPr>
          <a:xfrm>
            <a:off x="5568696" y="1316736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1B7B85"/>
                </a:solidFill>
                <a:latin typeface="Calibri"/>
              </a:rPr>
              <a:t>CAGR Colombia
hasta 2031</a:t>
            </a:r>
          </a:p>
        </p:txBody>
      </p:sp>
      <p:sp>
        <p:nvSpPr>
          <p:cNvPr id="20" name="sb"/>
          <p:cNvSpPr>
            <a:spLocks noGrp="1"/>
          </p:cNvSpPr>
          <p:nvPr/>
        </p:nvSpPr>
        <p:spPr>
          <a:xfrm>
            <a:off x="320040" y="1792224"/>
            <a:ext cx="2468880" cy="713232"/>
          </a:xfrm>
          <a:prstGeom prst="roundRect">
            <a:avLst>
              <a:gd name="adj" fmla="val 10000"/>
            </a:avLst>
          </a:prstGeom>
          <a:solidFill>
            <a:srgbClr val="E8EDF8"/>
          </a:solidFill>
          <a:ln w="12700">
            <a:solidFill>
              <a:srgbClr val="0D1B5E"/>
            </a:solidFill>
          </a:ln>
        </p:spPr>
      </p:sp>
      <p:sp>
        <p:nvSpPr>
          <p:cNvPr id="21" name="sn"/>
          <p:cNvSpPr txBox="1">
            <a:spLocks noGrp="1"/>
          </p:cNvSpPr>
          <p:nvPr/>
        </p:nvSpPr>
        <p:spPr>
          <a:xfrm>
            <a:off x="411480" y="182880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 dirty="0">
                <a:solidFill>
                  <a:srgbClr val="0D1B5E"/>
                </a:solidFill>
                <a:latin typeface="Calibri"/>
              </a:rPr>
              <a:t>Banca y Seguros</a:t>
            </a:r>
          </a:p>
        </p:txBody>
      </p:sp>
      <p:sp>
        <p:nvSpPr>
          <p:cNvPr id="22" name="sd"/>
          <p:cNvSpPr txBox="1">
            <a:spLocks noGrp="1"/>
          </p:cNvSpPr>
          <p:nvPr/>
        </p:nvSpPr>
        <p:spPr>
          <a:xfrm>
            <a:off x="411480" y="2066544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40" dirty="0">
                <a:solidFill>
                  <a:srgbClr val="333333"/>
                </a:solidFill>
                <a:latin typeface="Calibri"/>
              </a:rPr>
              <a:t>Continuidad transaccional, SFC/SOX, fraude tiempo real, BCP/DRP · SURA y Bancolombia actuales</a:t>
            </a:r>
          </a:p>
        </p:txBody>
      </p:sp>
      <p:sp>
        <p:nvSpPr>
          <p:cNvPr id="23" name="sb"/>
          <p:cNvSpPr>
            <a:spLocks noGrp="1"/>
          </p:cNvSpPr>
          <p:nvPr/>
        </p:nvSpPr>
        <p:spPr>
          <a:xfrm>
            <a:off x="2898648" y="1792224"/>
            <a:ext cx="2468880" cy="713232"/>
          </a:xfrm>
          <a:prstGeom prst="roundRect">
            <a:avLst>
              <a:gd name="adj" fmla="val 10000"/>
            </a:avLst>
          </a:prstGeom>
          <a:solidFill>
            <a:srgbClr val="EBF3FF"/>
          </a:solidFill>
          <a:ln w="12700">
            <a:solidFill>
              <a:srgbClr val="1A3A8F"/>
            </a:solidFill>
          </a:ln>
        </p:spPr>
      </p:sp>
      <p:sp>
        <p:nvSpPr>
          <p:cNvPr id="24" name="sn"/>
          <p:cNvSpPr txBox="1">
            <a:spLocks noGrp="1"/>
          </p:cNvSpPr>
          <p:nvPr/>
        </p:nvSpPr>
        <p:spPr>
          <a:xfrm>
            <a:off x="2990088" y="182880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 dirty="0">
                <a:solidFill>
                  <a:srgbClr val="1A3A8F"/>
                </a:solidFill>
                <a:latin typeface="Calibri"/>
              </a:rPr>
              <a:t>Salud (EPS/IPS)</a:t>
            </a:r>
          </a:p>
        </p:txBody>
      </p:sp>
      <p:sp>
        <p:nvSpPr>
          <p:cNvPr id="25" name="sd"/>
          <p:cNvSpPr txBox="1">
            <a:spLocks noGrp="1"/>
          </p:cNvSpPr>
          <p:nvPr/>
        </p:nvSpPr>
        <p:spPr>
          <a:xfrm>
            <a:off x="2990088" y="2066544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40" dirty="0">
                <a:solidFill>
                  <a:srgbClr val="333333"/>
                </a:solidFill>
                <a:latin typeface="Calibri"/>
              </a:rPr>
              <a:t>Continuidad asistencial, historia clinica digital, trazabilidad y compliance Minsalud</a:t>
            </a:r>
          </a:p>
        </p:txBody>
      </p:sp>
      <p:sp>
        <p:nvSpPr>
          <p:cNvPr id="26" name="sb"/>
          <p:cNvSpPr>
            <a:spLocks noGrp="1"/>
          </p:cNvSpPr>
          <p:nvPr/>
        </p:nvSpPr>
        <p:spPr>
          <a:xfrm>
            <a:off x="5477256" y="1792224"/>
            <a:ext cx="2468880" cy="713232"/>
          </a:xfrm>
          <a:prstGeom prst="roundRect">
            <a:avLst>
              <a:gd name="adj" fmla="val 10000"/>
            </a:avLst>
          </a:prstGeom>
          <a:solidFill>
            <a:srgbClr val="E8F6F7"/>
          </a:solidFill>
          <a:ln w="12700">
            <a:solidFill>
              <a:srgbClr val="1B7B85"/>
            </a:solidFill>
          </a:ln>
        </p:spPr>
      </p:sp>
      <p:sp>
        <p:nvSpPr>
          <p:cNvPr id="27" name="sn"/>
          <p:cNvSpPr txBox="1">
            <a:spLocks noGrp="1"/>
          </p:cNvSpPr>
          <p:nvPr/>
        </p:nvSpPr>
        <p:spPr>
          <a:xfrm>
            <a:off x="5568696" y="182880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 dirty="0">
                <a:solidFill>
                  <a:srgbClr val="1B7B85"/>
                </a:solidFill>
                <a:latin typeface="Calibri"/>
              </a:rPr>
              <a:t>Energia y Utilities</a:t>
            </a:r>
          </a:p>
        </p:txBody>
      </p:sp>
      <p:sp>
        <p:nvSpPr>
          <p:cNvPr id="28" name="sd"/>
          <p:cNvSpPr txBox="1">
            <a:spLocks noGrp="1"/>
          </p:cNvSpPr>
          <p:nvPr/>
        </p:nvSpPr>
        <p:spPr>
          <a:xfrm>
            <a:off x="5568696" y="2066544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40" dirty="0">
                <a:solidFill>
                  <a:srgbClr val="333333"/>
                </a:solidFill>
                <a:latin typeface="Calibri"/>
              </a:rPr>
              <a:t>Operacion critica 24x7, AIOps y observabilidad predictiva, eventos criticos · XM y AES</a:t>
            </a:r>
          </a:p>
        </p:txBody>
      </p:sp>
      <p:sp>
        <p:nvSpPr>
          <p:cNvPr id="40" name="regH"/>
          <p:cNvSpPr>
            <a:spLocks noGrp="1"/>
          </p:cNvSpPr>
          <p:nvPr/>
        </p:nvSpPr>
        <p:spPr>
          <a:xfrm>
            <a:off x="320040" y="2578608"/>
            <a:ext cx="7717536" cy="237744"/>
          </a:xfrm>
          <a:prstGeom prst="roundRect">
            <a:avLst>
              <a:gd name="adj" fmla="val 10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41" name="regHT"/>
          <p:cNvSpPr txBox="1">
            <a:spLocks noGrp="1"/>
          </p:cNvSpPr>
          <p:nvPr/>
        </p:nvSpPr>
        <p:spPr>
          <a:xfrm>
            <a:off x="320040" y="2578608"/>
            <a:ext cx="771753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FFFFFF"/>
                </a:solidFill>
                <a:latin typeface="Calibri"/>
              </a:rPr>
              <a:t>REGULACION COMO ACELERADOR — Cumplimiento obligatorio que genera demanda de servicios gestionados</a:t>
            </a:r>
          </a:p>
        </p:txBody>
      </p:sp>
      <p:sp>
        <p:nvSpPr>
          <p:cNvPr id="50" name="rb"/>
          <p:cNvSpPr>
            <a:spLocks noGrp="1"/>
          </p:cNvSpPr>
          <p:nvPr/>
        </p:nvSpPr>
        <p:spPr>
          <a:xfrm>
            <a:off x="320040" y="2889504"/>
            <a:ext cx="771753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51" name="rr"/>
          <p:cNvSpPr txBox="1">
            <a:spLocks noGrp="1"/>
          </p:cNvSpPr>
          <p:nvPr/>
        </p:nvSpPr>
        <p:spPr>
          <a:xfrm>
            <a:off x="457200" y="2889504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0D1B5E"/>
                </a:solidFill>
                <a:latin typeface="Calibri"/>
              </a:rPr>
              <a:t>SFC Circular 007 (2024)</a:t>
            </a:r>
          </a:p>
        </p:txBody>
      </p:sp>
      <p:sp>
        <p:nvSpPr>
          <p:cNvPr id="52" name="rd"/>
          <p:cNvSpPr txBox="1">
            <a:spLocks noGrp="1"/>
          </p:cNvSpPr>
          <p:nvPr/>
        </p:nvSpPr>
        <p:spPr>
          <a:xfrm>
            <a:off x="2834640" y="2944368"/>
            <a:ext cx="51206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 dirty="0">
                <a:solidFill>
                  <a:srgbClr val="333333"/>
                </a:solidFill>
                <a:latin typeface="Calibri"/>
              </a:rPr>
              <a:t>SIEM · Gestion de incidentes · Gobernanza tecnologica · Trazabilidad obligatoria</a:t>
            </a:r>
          </a:p>
        </p:txBody>
      </p:sp>
      <p:sp>
        <p:nvSpPr>
          <p:cNvPr id="53" name="rb"/>
          <p:cNvSpPr>
            <a:spLocks noGrp="1"/>
          </p:cNvSpPr>
          <p:nvPr/>
        </p:nvSpPr>
        <p:spPr>
          <a:xfrm>
            <a:off x="320040" y="3291840"/>
            <a:ext cx="7717536" cy="347472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54" name="rr"/>
          <p:cNvSpPr txBox="1">
            <a:spLocks noGrp="1"/>
          </p:cNvSpPr>
          <p:nvPr/>
        </p:nvSpPr>
        <p:spPr>
          <a:xfrm>
            <a:off x="457200" y="329184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0D1B5E"/>
                </a:solidFill>
                <a:latin typeface="Calibri"/>
              </a:rPr>
              <a:t>Open Finance (ago 2026)</a:t>
            </a:r>
          </a:p>
        </p:txBody>
      </p:sp>
      <p:sp>
        <p:nvSpPr>
          <p:cNvPr id="55" name="rd"/>
          <p:cNvSpPr txBox="1">
            <a:spLocks noGrp="1"/>
          </p:cNvSpPr>
          <p:nvPr/>
        </p:nvSpPr>
        <p:spPr>
          <a:xfrm>
            <a:off x="2834640" y="3346704"/>
            <a:ext cx="51206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 dirty="0">
                <a:solidFill>
                  <a:srgbClr val="333333"/>
                </a:solidFill>
                <a:latin typeface="Calibri"/>
              </a:rPr>
              <a:t>APIs abiertas · Continuidad de canales · Nuevos vectores de riesgo operacional</a:t>
            </a:r>
          </a:p>
        </p:txBody>
      </p:sp>
      <p:sp>
        <p:nvSpPr>
          <p:cNvPr id="56" name="rb"/>
          <p:cNvSpPr>
            <a:spLocks noGrp="1"/>
          </p:cNvSpPr>
          <p:nvPr/>
        </p:nvSpPr>
        <p:spPr>
          <a:xfrm>
            <a:off x="320040" y="3694176"/>
            <a:ext cx="771753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57" name="rr"/>
          <p:cNvSpPr txBox="1">
            <a:spLocks noGrp="1"/>
          </p:cNvSpPr>
          <p:nvPr/>
        </p:nvSpPr>
        <p:spPr>
          <a:xfrm>
            <a:off x="457200" y="3694176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0D1B5E"/>
                </a:solidFill>
                <a:latin typeface="Calibri"/>
              </a:rPr>
              <a:t>ISO 42001 IA</a:t>
            </a:r>
          </a:p>
        </p:txBody>
      </p:sp>
      <p:sp>
        <p:nvSpPr>
          <p:cNvPr id="58" name="rd"/>
          <p:cNvSpPr txBox="1">
            <a:spLocks noGrp="1"/>
          </p:cNvSpPr>
          <p:nvPr/>
        </p:nvSpPr>
        <p:spPr>
          <a:xfrm>
            <a:off x="2834640" y="3749040"/>
            <a:ext cx="51206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 dirty="0">
                <a:solidFill>
                  <a:srgbClr val="333333"/>
                </a:solidFill>
                <a:latin typeface="Calibri"/>
              </a:rPr>
              <a:t>Gobierno de IA · Responsabilidad · Transparencia · Auditabilidad — exigido por grandes clientes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DD985-EB77-52CC-5FEE-24D98A48B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700" dirty="0">
                <a:solidFill>
                  <a:srgbClr val="0C2362"/>
                </a:solidFill>
                <a:latin typeface="Arial"/>
                <a:cs typeface="Arial"/>
              </a:rPr>
              <a:t>Mesa </a:t>
            </a:r>
            <a:r>
              <a:rPr lang="en-US" sz="1700" dirty="0" err="1">
                <a:solidFill>
                  <a:srgbClr val="0C2362"/>
                </a:solidFill>
                <a:latin typeface="Arial"/>
                <a:cs typeface="Arial"/>
              </a:rPr>
              <a:t>tradicional</a:t>
            </a:r>
            <a:r>
              <a:rPr lang="en-US" sz="1700" dirty="0">
                <a:solidFill>
                  <a:srgbClr val="0C2362"/>
                </a:solidFill>
                <a:latin typeface="Arial"/>
                <a:cs typeface="Arial"/>
              </a:rPr>
              <a:t> vs. Mesa </a:t>
            </a:r>
            <a:r>
              <a:rPr lang="es-ES" sz="1700" dirty="0">
                <a:solidFill>
                  <a:srgbClr val="0C2362"/>
                </a:solidFill>
                <a:latin typeface="Arial"/>
                <a:cs typeface="Arial"/>
              </a:rPr>
              <a:t>de Nueva Generación (Gen Next)</a:t>
            </a:r>
            <a:endParaRPr lang="en-US" sz="1700" b="0" dirty="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 sz="14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4A8EDFEC-ABB1-339E-CF7F-12CBE1723304}"/>
              </a:ext>
            </a:extLst>
          </p:cNvPr>
          <p:cNvSpPr/>
          <p:nvPr/>
        </p:nvSpPr>
        <p:spPr>
          <a:xfrm>
            <a:off x="320040" y="548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D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6 dimensiones de diferenciacion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3109FC51-DF2B-0E7E-4D02-78993490CFFB}"/>
              </a:ext>
            </a:extLst>
          </p:cNvPr>
          <p:cNvSpPr/>
          <p:nvPr/>
        </p:nvSpPr>
        <p:spPr>
          <a:xfrm>
            <a:off x="398760" y="947604"/>
            <a:ext cx="8346479" cy="347472"/>
          </a:xfrm>
          <a:prstGeom prst="rect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43585282-FF2C-8FA3-AC54-194A315BD2F9}"/>
              </a:ext>
            </a:extLst>
          </p:cNvPr>
          <p:cNvSpPr/>
          <p:nvPr/>
        </p:nvSpPr>
        <p:spPr>
          <a:xfrm>
            <a:off x="432642" y="965892"/>
            <a:ext cx="224367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Dimension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E094428-9C97-2FEC-65D9-3C6DEDA633A8}"/>
              </a:ext>
            </a:extLst>
          </p:cNvPr>
          <p:cNvSpPr/>
          <p:nvPr/>
        </p:nvSpPr>
        <p:spPr>
          <a:xfrm>
            <a:off x="2724990" y="965892"/>
            <a:ext cx="29167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8B8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Mesa Tradicional (N1-N2)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04B5BF16-3054-7DF5-D8B3-DB1940518EDF}"/>
              </a:ext>
            </a:extLst>
          </p:cNvPr>
          <p:cNvSpPr/>
          <p:nvPr/>
        </p:nvSpPr>
        <p:spPr>
          <a:xfrm>
            <a:off x="5716348" y="965892"/>
            <a:ext cx="3051401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 b="1" dirty="0">
                <a:solidFill>
                  <a:srgbClr val="B8FFD8"/>
                </a:solidFill>
                <a:latin typeface="Reddit Sans"/>
                <a:ea typeface="Reddit Sans"/>
                <a:cs typeface="Calibri"/>
              </a:rPr>
              <a:t>Mesa Nueva Generación </a:t>
            </a:r>
            <a:r>
              <a:rPr lang="en-US" sz="1100" b="1">
                <a:solidFill>
                  <a:srgbClr val="B8FFD8"/>
                </a:solidFill>
                <a:latin typeface="Reddit Sans"/>
                <a:ea typeface="Reddit Sans"/>
                <a:cs typeface="Calibri"/>
              </a:rPr>
              <a:t>(N3-N5)</a:t>
            </a:r>
            <a:endParaRPr lang="en-US" sz="1100">
              <a:latin typeface="Reddit Sans"/>
              <a:ea typeface="Reddit Sans"/>
              <a:cs typeface="Calibri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89F1B814-0040-BE23-53BB-35B3EF14F7C6}"/>
              </a:ext>
            </a:extLst>
          </p:cNvPr>
          <p:cNvSpPr/>
          <p:nvPr/>
        </p:nvSpPr>
        <p:spPr>
          <a:xfrm>
            <a:off x="398760" y="1313364"/>
            <a:ext cx="8346479" cy="489990"/>
          </a:xfrm>
          <a:prstGeom prst="rect">
            <a:avLst/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214E09C8-14C8-3692-5B7B-E891CA35EC5B}"/>
              </a:ext>
            </a:extLst>
          </p:cNvPr>
          <p:cNvSpPr/>
          <p:nvPr/>
        </p:nvSpPr>
        <p:spPr>
          <a:xfrm>
            <a:off x="432218" y="1368228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Modelo </a:t>
            </a:r>
            <a:r>
              <a:rPr lang="es-CO"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operativo</a:t>
            </a:r>
            <a:endParaRPr lang="es-CO" sz="1100">
              <a:latin typeface="Reddit Sans"/>
              <a:ea typeface="Reddit Sans"/>
              <a:cs typeface="Calibri"/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BAC25C4D-EF1C-2646-6721-47B11C137BD0}"/>
              </a:ext>
            </a:extLst>
          </p:cNvPr>
          <p:cNvSpPr/>
          <p:nvPr/>
        </p:nvSpPr>
        <p:spPr>
          <a:xfrm>
            <a:off x="2680546" y="1496244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3252FAD6-1D31-B738-BF93-CD6665A6B594}"/>
              </a:ext>
            </a:extLst>
          </p:cNvPr>
          <p:cNvSpPr/>
          <p:nvPr/>
        </p:nvSpPr>
        <p:spPr>
          <a:xfrm>
            <a:off x="2896610" y="1368228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Reactivo · escalado manual N1/N2/N3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AB1CEBCD-7A6F-0063-BD97-9EB82C4C527C}"/>
              </a:ext>
            </a:extLst>
          </p:cNvPr>
          <p:cNvSpPr/>
          <p:nvPr/>
        </p:nvSpPr>
        <p:spPr>
          <a:xfrm>
            <a:off x="5688922" y="1496244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69ACAE32-59DB-CC33-29DA-C8E1117C2B0F}"/>
              </a:ext>
            </a:extLst>
          </p:cNvPr>
          <p:cNvSpPr/>
          <p:nvPr/>
        </p:nvSpPr>
        <p:spPr>
          <a:xfrm>
            <a:off x="5906171" y="1368228"/>
            <a:ext cx="2818058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N0-N5 · shift-left inteligente · escalado automatico IA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96C82E92-7B6C-1342-D2F9-CFEDAE8EDC5F}"/>
              </a:ext>
            </a:extLst>
          </p:cNvPr>
          <p:cNvSpPr/>
          <p:nvPr/>
        </p:nvSpPr>
        <p:spPr>
          <a:xfrm>
            <a:off x="398760" y="1880292"/>
            <a:ext cx="8346479" cy="4899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EBEF1F1E-81E8-0B80-0E39-669A46668C89}"/>
              </a:ext>
            </a:extLst>
          </p:cNvPr>
          <p:cNvSpPr/>
          <p:nvPr/>
        </p:nvSpPr>
        <p:spPr>
          <a:xfrm>
            <a:off x="432218" y="1935156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CO"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Inteligencia</a:t>
            </a:r>
            <a:endParaRPr lang="es-CO" sz="1100">
              <a:latin typeface="Reddit Sans"/>
              <a:ea typeface="Reddit Sans"/>
              <a:cs typeface="Calibri"/>
            </a:endParaRP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56C96019-A556-2BE6-774A-6511D9E21F67}"/>
              </a:ext>
            </a:extLst>
          </p:cNvPr>
          <p:cNvSpPr/>
          <p:nvPr/>
        </p:nvSpPr>
        <p:spPr>
          <a:xfrm>
            <a:off x="2680546" y="2063172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C3CE596E-6836-5764-442A-4C80D163FDCA}"/>
              </a:ext>
            </a:extLst>
          </p:cNvPr>
          <p:cNvSpPr/>
          <p:nvPr/>
        </p:nvSpPr>
        <p:spPr>
          <a:xfrm>
            <a:off x="2896610" y="1935156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Scripts de troubleshooting · FAQs estaticas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485D8DC4-88DC-7170-39D7-4E0709A595CE}"/>
              </a:ext>
            </a:extLst>
          </p:cNvPr>
          <p:cNvSpPr/>
          <p:nvPr/>
        </p:nvSpPr>
        <p:spPr>
          <a:xfrm>
            <a:off x="5688922" y="2063172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B93BAFCB-8B94-5B1F-5A88-353060832C48}"/>
              </a:ext>
            </a:extLst>
          </p:cNvPr>
          <p:cNvSpPr/>
          <p:nvPr/>
        </p:nvSpPr>
        <p:spPr>
          <a:xfrm>
            <a:off x="5906171" y="1935156"/>
            <a:ext cx="2818058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Virtual agent GenAI · agentes autonomos · KCS+IA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72C76E2F-B967-F164-6ED9-76FA39CDCE0B}"/>
              </a:ext>
            </a:extLst>
          </p:cNvPr>
          <p:cNvSpPr/>
          <p:nvPr/>
        </p:nvSpPr>
        <p:spPr>
          <a:xfrm>
            <a:off x="398760" y="2447220"/>
            <a:ext cx="8346479" cy="489990"/>
          </a:xfrm>
          <a:prstGeom prst="rect">
            <a:avLst/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76A5ED8D-F317-D382-F720-AD103799E8C2}"/>
              </a:ext>
            </a:extLst>
          </p:cNvPr>
          <p:cNvSpPr/>
          <p:nvPr/>
        </p:nvSpPr>
        <p:spPr>
          <a:xfrm>
            <a:off x="432218" y="2502084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Automatización</a:t>
            </a:r>
            <a:endParaRPr lang="en-US" sz="1100" dirty="0" err="1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A38DA586-75FF-0B0C-D26D-35C038E1ECB0}"/>
              </a:ext>
            </a:extLst>
          </p:cNvPr>
          <p:cNvSpPr/>
          <p:nvPr/>
        </p:nvSpPr>
        <p:spPr>
          <a:xfrm>
            <a:off x="2680546" y="2630100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4B2DA6CB-64A1-A8AD-18F5-FC1A041368B1}"/>
              </a:ext>
            </a:extLst>
          </p:cNvPr>
          <p:cNvSpPr/>
          <p:nvPr/>
        </p:nvSpPr>
        <p:spPr>
          <a:xfrm>
            <a:off x="2896610" y="2502084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Workflows basicos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62EC9F9F-4C5E-A75F-3945-D5C09A985936}"/>
              </a:ext>
            </a:extLst>
          </p:cNvPr>
          <p:cNvSpPr/>
          <p:nvPr/>
        </p:nvSpPr>
        <p:spPr>
          <a:xfrm>
            <a:off x="5688922" y="2630100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414BD5C7-EBD6-8EA4-0C44-3D37497CE43A}"/>
              </a:ext>
            </a:extLst>
          </p:cNvPr>
          <p:cNvSpPr/>
          <p:nvPr/>
        </p:nvSpPr>
        <p:spPr>
          <a:xfrm>
            <a:off x="5906171" y="2502084"/>
            <a:ext cx="2818058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Self-healing · auto-remediacion · &gt;40% defleccion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CCC4E44B-ABFE-9A6D-56B0-BD4DDDB91B8D}"/>
              </a:ext>
            </a:extLst>
          </p:cNvPr>
          <p:cNvSpPr/>
          <p:nvPr/>
        </p:nvSpPr>
        <p:spPr>
          <a:xfrm>
            <a:off x="398760" y="3014148"/>
            <a:ext cx="8346479" cy="4899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CFE0FC96-7D40-0AEA-4705-1D8EEFA26D26}"/>
              </a:ext>
            </a:extLst>
          </p:cNvPr>
          <p:cNvSpPr/>
          <p:nvPr/>
        </p:nvSpPr>
        <p:spPr>
          <a:xfrm>
            <a:off x="432218" y="3069012"/>
            <a:ext cx="2198804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5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Observabilidad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8E643936-ADB4-18AC-DC7D-F6499124833C}"/>
              </a:ext>
            </a:extLst>
          </p:cNvPr>
          <p:cNvSpPr/>
          <p:nvPr/>
        </p:nvSpPr>
        <p:spPr>
          <a:xfrm>
            <a:off x="2680546" y="3197028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725C4751-01D4-056A-A00A-938223D13D49}"/>
              </a:ext>
            </a:extLst>
          </p:cNvPr>
          <p:cNvSpPr/>
          <p:nvPr/>
        </p:nvSpPr>
        <p:spPr>
          <a:xfrm>
            <a:off x="2896610" y="3069012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Monitoreo reactivo de alertas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13393221-1582-2197-8E3A-0A0C7C255255}"/>
              </a:ext>
            </a:extLst>
          </p:cNvPr>
          <p:cNvSpPr/>
          <p:nvPr/>
        </p:nvSpPr>
        <p:spPr>
          <a:xfrm>
            <a:off x="5688922" y="3197028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5ED97B59-AC99-C7E3-7A0A-21894D60C312}"/>
              </a:ext>
            </a:extLst>
          </p:cNvPr>
          <p:cNvSpPr/>
          <p:nvPr/>
        </p:nvSpPr>
        <p:spPr>
          <a:xfrm>
            <a:off x="5906171" y="3069012"/>
            <a:ext cx="2818058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AIOps predictivo · prevencion P1 · correlacion causa raiz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958AF314-F533-6648-AB95-D2DA83323FA1}"/>
              </a:ext>
            </a:extLst>
          </p:cNvPr>
          <p:cNvSpPr/>
          <p:nvPr/>
        </p:nvSpPr>
        <p:spPr>
          <a:xfrm>
            <a:off x="398760" y="3581076"/>
            <a:ext cx="8346479" cy="489990"/>
          </a:xfrm>
          <a:prstGeom prst="rect">
            <a:avLst/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EDC48C0F-2569-9193-E804-DDFAC21A9BE5}"/>
              </a:ext>
            </a:extLst>
          </p:cNvPr>
          <p:cNvSpPr/>
          <p:nvPr/>
        </p:nvSpPr>
        <p:spPr>
          <a:xfrm>
            <a:off x="432218" y="3635940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Medición</a:t>
            </a:r>
            <a:r>
              <a:rPr lang="en-US" sz="1100" b="1" dirty="0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 de valor</a:t>
            </a:r>
            <a:endParaRPr lang="en-US" sz="1100" dirty="0">
              <a:latin typeface="Reddit Sans"/>
              <a:ea typeface="Reddit Sans"/>
              <a:cs typeface="Calibri"/>
            </a:endParaRPr>
          </a:p>
        </p:txBody>
      </p:sp>
      <p:sp>
        <p:nvSpPr>
          <p:cNvPr id="35" name="Shape 34">
            <a:extLst>
              <a:ext uri="{FF2B5EF4-FFF2-40B4-BE49-F238E27FC236}">
                <a16:creationId xmlns:a16="http://schemas.microsoft.com/office/drawing/2014/main" id="{AD8D5078-66D6-3EDE-2B9E-792A3936CD56}"/>
              </a:ext>
            </a:extLst>
          </p:cNvPr>
          <p:cNvSpPr/>
          <p:nvPr/>
        </p:nvSpPr>
        <p:spPr>
          <a:xfrm>
            <a:off x="2680546" y="3763956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D7E2076C-25D6-7D82-5D39-5909F60722C9}"/>
              </a:ext>
            </a:extLst>
          </p:cNvPr>
          <p:cNvSpPr/>
          <p:nvPr/>
        </p:nvSpPr>
        <p:spPr>
          <a:xfrm>
            <a:off x="2896610" y="3635940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SLA de cumplimiento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2C9F1672-C41E-1D59-F96B-6F6BB17D1E2D}"/>
              </a:ext>
            </a:extLst>
          </p:cNvPr>
          <p:cNvSpPr/>
          <p:nvPr/>
        </p:nvSpPr>
        <p:spPr>
          <a:xfrm>
            <a:off x="5688922" y="3763956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</p:sp>
      <p:sp>
        <p:nvSpPr>
          <p:cNvPr id="38" name="Text 37">
            <a:extLst>
              <a:ext uri="{FF2B5EF4-FFF2-40B4-BE49-F238E27FC236}">
                <a16:creationId xmlns:a16="http://schemas.microsoft.com/office/drawing/2014/main" id="{95B74998-D0F7-1D97-19F5-461413793564}"/>
              </a:ext>
            </a:extLst>
          </p:cNvPr>
          <p:cNvSpPr/>
          <p:nvPr/>
        </p:nvSpPr>
        <p:spPr>
          <a:xfrm>
            <a:off x="5906171" y="3635940"/>
            <a:ext cx="2818058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SLA + XLA + DEX + impacto economico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FF25A429-6E0D-E1CC-AEA9-FE3274389E01}"/>
              </a:ext>
            </a:extLst>
          </p:cNvPr>
          <p:cNvSpPr/>
          <p:nvPr/>
        </p:nvSpPr>
        <p:spPr>
          <a:xfrm>
            <a:off x="398760" y="4148004"/>
            <a:ext cx="8346479" cy="4899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C1D8BD44-FDC0-B67A-89E7-EB1DD3D5541D}"/>
              </a:ext>
            </a:extLst>
          </p:cNvPr>
          <p:cNvSpPr/>
          <p:nvPr/>
        </p:nvSpPr>
        <p:spPr>
          <a:xfrm>
            <a:off x="432218" y="4202868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Evolución</a:t>
            </a:r>
            <a:endParaRPr lang="en-US" sz="1100" dirty="0" err="1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5B56FC32-C361-5EB7-FC08-0A35299777FB}"/>
              </a:ext>
            </a:extLst>
          </p:cNvPr>
          <p:cNvSpPr/>
          <p:nvPr/>
        </p:nvSpPr>
        <p:spPr>
          <a:xfrm>
            <a:off x="2680546" y="4330884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1">
            <a:extLst>
              <a:ext uri="{FF2B5EF4-FFF2-40B4-BE49-F238E27FC236}">
                <a16:creationId xmlns:a16="http://schemas.microsoft.com/office/drawing/2014/main" id="{9C685756-3D5A-DDBC-4681-52D0206F6233}"/>
              </a:ext>
            </a:extLst>
          </p:cNvPr>
          <p:cNvSpPr/>
          <p:nvPr/>
        </p:nvSpPr>
        <p:spPr>
          <a:xfrm>
            <a:off x="2896610" y="4202868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Estatico · cambios reactivos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3" name="Shape 42">
            <a:extLst>
              <a:ext uri="{FF2B5EF4-FFF2-40B4-BE49-F238E27FC236}">
                <a16:creationId xmlns:a16="http://schemas.microsoft.com/office/drawing/2014/main" id="{4CDD1506-C3BD-C2CF-7127-6A709B9B853E}"/>
              </a:ext>
            </a:extLst>
          </p:cNvPr>
          <p:cNvSpPr/>
          <p:nvPr/>
        </p:nvSpPr>
        <p:spPr>
          <a:xfrm>
            <a:off x="5688922" y="4330884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</p:sp>
      <p:sp>
        <p:nvSpPr>
          <p:cNvPr id="44" name="Text 43">
            <a:extLst>
              <a:ext uri="{FF2B5EF4-FFF2-40B4-BE49-F238E27FC236}">
                <a16:creationId xmlns:a16="http://schemas.microsoft.com/office/drawing/2014/main" id="{C937FD0D-D971-01FD-0A8D-3B8C2D0EDFBE}"/>
              </a:ext>
            </a:extLst>
          </p:cNvPr>
          <p:cNvSpPr/>
          <p:nvPr/>
        </p:nvSpPr>
        <p:spPr>
          <a:xfrm>
            <a:off x="5906171" y="4202868"/>
            <a:ext cx="2818058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Roadmap vivo · mejora continua · backlog priorizado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5" name="Text 44">
            <a:extLst>
              <a:ext uri="{FF2B5EF4-FFF2-40B4-BE49-F238E27FC236}">
                <a16:creationId xmlns:a16="http://schemas.microsoft.com/office/drawing/2014/main" id="{337DCDAD-21E5-4497-D396-8F012D50A7EB}"/>
              </a:ext>
            </a:extLst>
          </p:cNvPr>
          <p:cNvSpPr/>
          <p:nvPr/>
        </p:nvSpPr>
        <p:spPr>
          <a:xfrm>
            <a:off x="172389" y="47515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Fuente: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Freshservice ITSM Benchmark Report 2025</a:t>
            </a: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AI in ITSM — Key Capabilities 2025</a:t>
            </a:r>
            <a:endParaRPr lang="en-US" sz="7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999" name="src"/>
          <p:cNvSpPr txBox="1">
            <a:spLocks noGrp="1"/>
          </p:cNvSpPr>
          <p:nvPr/>
        </p:nvSpPr>
        <p:spPr>
          <a:xfrm>
            <a:off x="320040" y="44622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4"/>
              </a:rPr>
              <a:t>Freshservice ITSM Benchmark</a:t>
            </a:r>
            <a:r>
              <a:rPr lang="es-ES" sz="780" i="1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5"/>
              </a:rPr>
              <a:t>Gartner AI in ITSM</a:t>
            </a:r>
          </a:p>
        </p:txBody>
      </p:sp>
    </p:spTree>
    <p:extLst>
      <p:ext uri="{BB962C8B-B14F-4D97-AF65-F5344CB8AC3E}">
        <p14:creationId xmlns:p14="http://schemas.microsoft.com/office/powerpoint/2010/main" val="38965835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905650-4EA2-FD56-4A23-E34B42267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Nuestro Servicio de Mesa de Servicio de Nueva Generación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7EBE7D27-AE46-8073-4A29-A4E3308125B3}"/>
              </a:ext>
            </a:extLst>
          </p:cNvPr>
          <p:cNvSpPr/>
          <p:nvPr/>
        </p:nvSpPr>
        <p:spPr>
          <a:xfrm>
            <a:off x="320040" y="548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D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14 dimensiones · 4 ejes · 1 propuesta diferenciada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7D6DAFA1-A5A2-6BEA-E642-CFA405F2D4CE}"/>
              </a:ext>
            </a:extLst>
          </p:cNvPr>
          <p:cNvSpPr/>
          <p:nvPr/>
        </p:nvSpPr>
        <p:spPr>
          <a:xfrm>
            <a:off x="320040" y="987552"/>
            <a:ext cx="1335024" cy="960120"/>
          </a:xfrm>
          <a:prstGeom prst="roundRect">
            <a:avLst>
              <a:gd name="adj" fmla="val 5714"/>
            </a:avLst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3689324A-9E66-26D4-AC5B-F101A9E26330}"/>
              </a:ext>
            </a:extLst>
          </p:cNvPr>
          <p:cNvSpPr/>
          <p:nvPr/>
        </p:nvSpPr>
        <p:spPr>
          <a:xfrm>
            <a:off x="320040" y="1024128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N0</a:t>
            </a:r>
            <a:endParaRPr lang="en-US" sz="22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48454676-1C6A-4AB6-3872-41863CAE7ABB}"/>
              </a:ext>
            </a:extLst>
          </p:cNvPr>
          <p:cNvSpPr/>
          <p:nvPr/>
        </p:nvSpPr>
        <p:spPr>
          <a:xfrm>
            <a:off x="320040" y="1481328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Autoservicio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3CCE086A-F21A-4995-35D0-B5B01BC09EFB}"/>
              </a:ext>
            </a:extLst>
          </p:cNvPr>
          <p:cNvSpPr/>
          <p:nvPr/>
        </p:nvSpPr>
        <p:spPr>
          <a:xfrm>
            <a:off x="1755648" y="987552"/>
            <a:ext cx="1335024" cy="960120"/>
          </a:xfrm>
          <a:prstGeom prst="roundRect">
            <a:avLst>
              <a:gd name="adj" fmla="val 5714"/>
            </a:avLst>
          </a:prstGeom>
          <a:solidFill>
            <a:srgbClr val="3A9B5C"/>
          </a:solidFill>
          <a:ln w="12700">
            <a:solidFill>
              <a:srgbClr val="3A9B5C"/>
            </a:solidFill>
            <a:prstDash val="solid"/>
          </a:ln>
        </p:spPr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5C1C861A-08DB-43FB-2A56-B3E4284FC3EF}"/>
              </a:ext>
            </a:extLst>
          </p:cNvPr>
          <p:cNvSpPr/>
          <p:nvPr/>
        </p:nvSpPr>
        <p:spPr>
          <a:xfrm>
            <a:off x="1755648" y="1024128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N1</a:t>
            </a:r>
            <a:endParaRPr lang="en-US" sz="22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3FD13FBB-000B-264A-F28C-EB85903544FD}"/>
              </a:ext>
            </a:extLst>
          </p:cNvPr>
          <p:cNvSpPr/>
          <p:nvPr/>
        </p:nvSpPr>
        <p:spPr>
          <a:xfrm>
            <a:off x="1755648" y="1481328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Inicial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2951E31C-8540-B467-6862-63DD2BA7491F}"/>
              </a:ext>
            </a:extLst>
          </p:cNvPr>
          <p:cNvSpPr/>
          <p:nvPr/>
        </p:nvSpPr>
        <p:spPr>
          <a:xfrm>
            <a:off x="3191256" y="987552"/>
            <a:ext cx="1335024" cy="960120"/>
          </a:xfrm>
          <a:prstGeom prst="roundRect">
            <a:avLst>
              <a:gd name="adj" fmla="val 5714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B42AEAAB-F0C3-D7B2-2695-228C8ADA2BA4}"/>
              </a:ext>
            </a:extLst>
          </p:cNvPr>
          <p:cNvSpPr/>
          <p:nvPr/>
        </p:nvSpPr>
        <p:spPr>
          <a:xfrm>
            <a:off x="3191256" y="1024128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N2</a:t>
            </a:r>
            <a:endParaRPr lang="en-US" sz="22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DE051FD4-D789-4287-4895-8B916620100C}"/>
              </a:ext>
            </a:extLst>
          </p:cNvPr>
          <p:cNvSpPr/>
          <p:nvPr/>
        </p:nvSpPr>
        <p:spPr>
          <a:xfrm>
            <a:off x="3191256" y="1481328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Administrado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9FEF47BA-904A-6BA0-531B-D7D5220A5818}"/>
              </a:ext>
            </a:extLst>
          </p:cNvPr>
          <p:cNvSpPr/>
          <p:nvPr/>
        </p:nvSpPr>
        <p:spPr>
          <a:xfrm>
            <a:off x="4626864" y="987552"/>
            <a:ext cx="1335024" cy="960120"/>
          </a:xfrm>
          <a:prstGeom prst="roundRect">
            <a:avLst>
              <a:gd name="adj" fmla="val 5714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D2225454-DF4B-D6A8-86E8-280B116FF366}"/>
              </a:ext>
            </a:extLst>
          </p:cNvPr>
          <p:cNvSpPr/>
          <p:nvPr/>
        </p:nvSpPr>
        <p:spPr>
          <a:xfrm>
            <a:off x="4626864" y="1024128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N3</a:t>
            </a:r>
            <a:endParaRPr lang="en-US" sz="22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CFC3803A-94CC-98AD-7DC5-52917C207FB4}"/>
              </a:ext>
            </a:extLst>
          </p:cNvPr>
          <p:cNvSpPr/>
          <p:nvPr/>
        </p:nvSpPr>
        <p:spPr>
          <a:xfrm>
            <a:off x="4626864" y="1481328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Definido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6172EE52-3312-0CA5-1C2F-8535C1A3FABC}"/>
              </a:ext>
            </a:extLst>
          </p:cNvPr>
          <p:cNvSpPr/>
          <p:nvPr/>
        </p:nvSpPr>
        <p:spPr>
          <a:xfrm>
            <a:off x="6062472" y="987552"/>
            <a:ext cx="1335024" cy="960120"/>
          </a:xfrm>
          <a:prstGeom prst="roundRect">
            <a:avLst>
              <a:gd name="adj" fmla="val 5714"/>
            </a:avLst>
          </a:prstGeom>
          <a:solidFill>
            <a:srgbClr val="1F6FBA"/>
          </a:solidFill>
          <a:ln w="12700">
            <a:solidFill>
              <a:srgbClr val="1F6FBA"/>
            </a:solidFill>
            <a:prstDash val="solid"/>
          </a:ln>
        </p:spPr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9EEC9E16-DA23-72BF-AA26-7BC0A6F452BD}"/>
              </a:ext>
            </a:extLst>
          </p:cNvPr>
          <p:cNvSpPr/>
          <p:nvPr/>
        </p:nvSpPr>
        <p:spPr>
          <a:xfrm>
            <a:off x="6062472" y="1024128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N4</a:t>
            </a:r>
            <a:endParaRPr lang="en-US" sz="22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4AA417C7-A679-6FE9-FA97-44DB1FB7CF52}"/>
              </a:ext>
            </a:extLst>
          </p:cNvPr>
          <p:cNvSpPr/>
          <p:nvPr/>
        </p:nvSpPr>
        <p:spPr>
          <a:xfrm>
            <a:off x="6062472" y="1481328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Cuantitativo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45EB680D-475F-FE9A-ED0A-D85785D63DA6}"/>
              </a:ext>
            </a:extLst>
          </p:cNvPr>
          <p:cNvSpPr/>
          <p:nvPr/>
        </p:nvSpPr>
        <p:spPr>
          <a:xfrm>
            <a:off x="7498080" y="987552"/>
            <a:ext cx="1335024" cy="960120"/>
          </a:xfrm>
          <a:prstGeom prst="roundRect">
            <a:avLst>
              <a:gd name="adj" fmla="val 5714"/>
            </a:avLst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970877D2-1D6A-523D-8A76-4B171B997FC9}"/>
              </a:ext>
            </a:extLst>
          </p:cNvPr>
          <p:cNvSpPr/>
          <p:nvPr/>
        </p:nvSpPr>
        <p:spPr>
          <a:xfrm>
            <a:off x="7498080" y="1024128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N5</a:t>
            </a:r>
            <a:endParaRPr lang="en-US" sz="22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A4A27C26-0AE8-8D6F-91E9-CB7BF4F1ED3A}"/>
              </a:ext>
            </a:extLst>
          </p:cNvPr>
          <p:cNvSpPr/>
          <p:nvPr/>
        </p:nvSpPr>
        <p:spPr>
          <a:xfrm>
            <a:off x="7498080" y="1481328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Optimizado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2D1A1FEE-0DC3-AE59-3A0B-947E5E92BA6E}"/>
              </a:ext>
            </a:extLst>
          </p:cNvPr>
          <p:cNvSpPr/>
          <p:nvPr/>
        </p:nvSpPr>
        <p:spPr>
          <a:xfrm>
            <a:off x="329184" y="2203704"/>
            <a:ext cx="666288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0D1B5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Los 4 Ejes de nuestra evaluación inicial de las Mesas de Servicio actuales</a:t>
            </a:r>
            <a:endParaRPr lang="es-CO" sz="1200" noProof="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2" name="Shape 31">
            <a:extLst>
              <a:ext uri="{FF2B5EF4-FFF2-40B4-BE49-F238E27FC236}">
                <a16:creationId xmlns:a16="http://schemas.microsoft.com/office/drawing/2014/main" id="{12FB0547-751E-62D8-CEB6-C39BA7935A72}"/>
              </a:ext>
            </a:extLst>
          </p:cNvPr>
          <p:cNvSpPr/>
          <p:nvPr/>
        </p:nvSpPr>
        <p:spPr>
          <a:xfrm>
            <a:off x="329184" y="2551176"/>
            <a:ext cx="4059936" cy="896112"/>
          </a:xfrm>
          <a:prstGeom prst="roundRect">
            <a:avLst>
              <a:gd name="adj" fmla="val 6122"/>
            </a:avLst>
          </a:prstGeom>
          <a:solidFill>
            <a:srgbClr val="F5F7FC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08DF3819-DD70-332F-3650-C9D09244283E}"/>
              </a:ext>
            </a:extLst>
          </p:cNvPr>
          <p:cNvSpPr/>
          <p:nvPr/>
        </p:nvSpPr>
        <p:spPr>
          <a:xfrm>
            <a:off x="420623" y="2697480"/>
            <a:ext cx="458949" cy="475488"/>
          </a:xfrm>
          <a:prstGeom prst="ellipse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FA216459-DACF-D699-DCD6-975F2EDB087A}"/>
              </a:ext>
            </a:extLst>
          </p:cNvPr>
          <p:cNvSpPr/>
          <p:nvPr/>
        </p:nvSpPr>
        <p:spPr>
          <a:xfrm>
            <a:off x="420623" y="2697480"/>
            <a:ext cx="45894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A</a:t>
            </a:r>
            <a:endParaRPr lang="en-US" sz="14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613D828C-74FF-59D5-14F6-5EE70B57B98E}"/>
              </a:ext>
            </a:extLst>
          </p:cNvPr>
          <p:cNvSpPr/>
          <p:nvPr/>
        </p:nvSpPr>
        <p:spPr>
          <a:xfrm>
            <a:off x="987552" y="2624328"/>
            <a:ext cx="3336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8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Modelo Operativo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0334A319-CAB5-F46B-5D25-40DB2DF57511}"/>
              </a:ext>
            </a:extLst>
          </p:cNvPr>
          <p:cNvSpPr/>
          <p:nvPr/>
        </p:nvSpPr>
        <p:spPr>
          <a:xfrm>
            <a:off x="987552" y="2971800"/>
            <a:ext cx="3336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4 dim: Niveles · Gobierno · Catalogo · Modelo Economico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92E8CBE5-5803-E04B-B29C-D1BA9546C532}"/>
              </a:ext>
            </a:extLst>
          </p:cNvPr>
          <p:cNvSpPr/>
          <p:nvPr/>
        </p:nvSpPr>
        <p:spPr>
          <a:xfrm>
            <a:off x="4764024" y="2551176"/>
            <a:ext cx="4059936" cy="896112"/>
          </a:xfrm>
          <a:prstGeom prst="roundRect">
            <a:avLst>
              <a:gd name="adj" fmla="val 6122"/>
            </a:avLst>
          </a:prstGeom>
          <a:solidFill>
            <a:srgbClr val="F5F7FC"/>
          </a:solidFill>
          <a:ln w="12700">
            <a:solidFill>
              <a:srgbClr val="1B7B85"/>
            </a:solidFill>
            <a:prstDash val="solid"/>
          </a:ln>
        </p:spPr>
      </p:sp>
      <p:sp>
        <p:nvSpPr>
          <p:cNvPr id="38" name="Shape 37">
            <a:extLst>
              <a:ext uri="{FF2B5EF4-FFF2-40B4-BE49-F238E27FC236}">
                <a16:creationId xmlns:a16="http://schemas.microsoft.com/office/drawing/2014/main" id="{3A197CD0-0BAE-DA26-95CD-08C4B9F15900}"/>
              </a:ext>
            </a:extLst>
          </p:cNvPr>
          <p:cNvSpPr/>
          <p:nvPr/>
        </p:nvSpPr>
        <p:spPr>
          <a:xfrm>
            <a:off x="4855463" y="2697480"/>
            <a:ext cx="458949" cy="475488"/>
          </a:xfrm>
          <a:prstGeom prst="ellipse">
            <a:avLst/>
          </a:prstGeom>
          <a:solidFill>
            <a:srgbClr val="1B7B85"/>
          </a:solidFill>
          <a:ln w="12700">
            <a:solidFill>
              <a:srgbClr val="1B7B85"/>
            </a:solidFill>
            <a:prstDash val="solid"/>
          </a:ln>
        </p:spPr>
      </p:sp>
      <p:sp>
        <p:nvSpPr>
          <p:cNvPr id="39" name="Text 38">
            <a:extLst>
              <a:ext uri="{FF2B5EF4-FFF2-40B4-BE49-F238E27FC236}">
                <a16:creationId xmlns:a16="http://schemas.microsoft.com/office/drawing/2014/main" id="{F0A5956F-08BA-2D1C-41DA-43D1FD164BAB}"/>
              </a:ext>
            </a:extLst>
          </p:cNvPr>
          <p:cNvSpPr/>
          <p:nvPr/>
        </p:nvSpPr>
        <p:spPr>
          <a:xfrm>
            <a:off x="4855463" y="2697480"/>
            <a:ext cx="45894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B</a:t>
            </a:r>
            <a:endParaRPr lang="en-US" sz="14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694E7E96-8EC0-BD63-0F98-502CC29D8001}"/>
              </a:ext>
            </a:extLst>
          </p:cNvPr>
          <p:cNvSpPr/>
          <p:nvPr/>
        </p:nvSpPr>
        <p:spPr>
          <a:xfrm>
            <a:off x="5422392" y="2624328"/>
            <a:ext cx="3336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Inteligencia y Automatizacion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1" name="Text 40">
            <a:extLst>
              <a:ext uri="{FF2B5EF4-FFF2-40B4-BE49-F238E27FC236}">
                <a16:creationId xmlns:a16="http://schemas.microsoft.com/office/drawing/2014/main" id="{8DEBE875-F6F4-DD68-EB9E-65609E5AC821}"/>
              </a:ext>
            </a:extLst>
          </p:cNvPr>
          <p:cNvSpPr/>
          <p:nvPr/>
        </p:nvSpPr>
        <p:spPr>
          <a:xfrm>
            <a:off x="5422392" y="2971800"/>
            <a:ext cx="3336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4 dim: IA · Automatizacion · Knowledge Hub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2" name="Shape 41">
            <a:extLst>
              <a:ext uri="{FF2B5EF4-FFF2-40B4-BE49-F238E27FC236}">
                <a16:creationId xmlns:a16="http://schemas.microsoft.com/office/drawing/2014/main" id="{55B360B4-0B81-31B4-BDCA-2FEE447CD29C}"/>
              </a:ext>
            </a:extLst>
          </p:cNvPr>
          <p:cNvSpPr/>
          <p:nvPr/>
        </p:nvSpPr>
        <p:spPr>
          <a:xfrm>
            <a:off x="329184" y="3557016"/>
            <a:ext cx="4059936" cy="896112"/>
          </a:xfrm>
          <a:prstGeom prst="roundRect">
            <a:avLst>
              <a:gd name="adj" fmla="val 6122"/>
            </a:avLst>
          </a:prstGeom>
          <a:solidFill>
            <a:srgbClr val="F5F7FC"/>
          </a:solidFill>
          <a:ln w="12700">
            <a:solidFill>
              <a:srgbClr val="1F6FBA"/>
            </a:solidFill>
            <a:prstDash val="solid"/>
          </a:ln>
        </p:spPr>
      </p:sp>
      <p:sp>
        <p:nvSpPr>
          <p:cNvPr id="43" name="Shape 42">
            <a:extLst>
              <a:ext uri="{FF2B5EF4-FFF2-40B4-BE49-F238E27FC236}">
                <a16:creationId xmlns:a16="http://schemas.microsoft.com/office/drawing/2014/main" id="{7A265E44-B030-4C5B-F0B5-EFF59B69EE8C}"/>
              </a:ext>
            </a:extLst>
          </p:cNvPr>
          <p:cNvSpPr/>
          <p:nvPr/>
        </p:nvSpPr>
        <p:spPr>
          <a:xfrm>
            <a:off x="420623" y="3703320"/>
            <a:ext cx="458949" cy="475488"/>
          </a:xfrm>
          <a:prstGeom prst="ellipse">
            <a:avLst/>
          </a:prstGeom>
          <a:solidFill>
            <a:srgbClr val="1F6FBA"/>
          </a:solidFill>
          <a:ln w="12700">
            <a:solidFill>
              <a:srgbClr val="1F6FBA"/>
            </a:solidFill>
            <a:prstDash val="solid"/>
          </a:ln>
        </p:spPr>
      </p:sp>
      <p:sp>
        <p:nvSpPr>
          <p:cNvPr id="44" name="Text 43">
            <a:extLst>
              <a:ext uri="{FF2B5EF4-FFF2-40B4-BE49-F238E27FC236}">
                <a16:creationId xmlns:a16="http://schemas.microsoft.com/office/drawing/2014/main" id="{AA9B8754-BCCC-E880-E3B0-1BBEE7F07AC9}"/>
              </a:ext>
            </a:extLst>
          </p:cNvPr>
          <p:cNvSpPr/>
          <p:nvPr/>
        </p:nvSpPr>
        <p:spPr>
          <a:xfrm>
            <a:off x="420623" y="3703320"/>
            <a:ext cx="45894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</a:t>
            </a:r>
            <a:endParaRPr lang="en-US" sz="14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5" name="Text 44">
            <a:extLst>
              <a:ext uri="{FF2B5EF4-FFF2-40B4-BE49-F238E27FC236}">
                <a16:creationId xmlns:a16="http://schemas.microsoft.com/office/drawing/2014/main" id="{4F079B37-1D34-C592-AE4A-B46238FFEC2D}"/>
              </a:ext>
            </a:extLst>
          </p:cNvPr>
          <p:cNvSpPr/>
          <p:nvPr/>
        </p:nvSpPr>
        <p:spPr>
          <a:xfrm>
            <a:off x="987552" y="3630168"/>
            <a:ext cx="3336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BA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Experiencia y Medicion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6" name="Text 45">
            <a:extLst>
              <a:ext uri="{FF2B5EF4-FFF2-40B4-BE49-F238E27FC236}">
                <a16:creationId xmlns:a16="http://schemas.microsoft.com/office/drawing/2014/main" id="{0A3F064A-DBD6-4B82-3741-199809A48636}"/>
              </a:ext>
            </a:extLst>
          </p:cNvPr>
          <p:cNvSpPr/>
          <p:nvPr/>
        </p:nvSpPr>
        <p:spPr>
          <a:xfrm>
            <a:off x="987552" y="3977640"/>
            <a:ext cx="3336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4 dim: Autoservicio N0 · SLA+XLA · DEX · Calidad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7" name="Shape 46">
            <a:extLst>
              <a:ext uri="{FF2B5EF4-FFF2-40B4-BE49-F238E27FC236}">
                <a16:creationId xmlns:a16="http://schemas.microsoft.com/office/drawing/2014/main" id="{84E774D2-C1F3-86F2-4213-5574471DD169}"/>
              </a:ext>
            </a:extLst>
          </p:cNvPr>
          <p:cNvSpPr/>
          <p:nvPr/>
        </p:nvSpPr>
        <p:spPr>
          <a:xfrm>
            <a:off x="4764024" y="3557016"/>
            <a:ext cx="4059936" cy="896112"/>
          </a:xfrm>
          <a:prstGeom prst="roundRect">
            <a:avLst>
              <a:gd name="adj" fmla="val 6122"/>
            </a:avLst>
          </a:prstGeom>
          <a:solidFill>
            <a:srgbClr val="F5F7FC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8" name="Shape 47">
            <a:extLst>
              <a:ext uri="{FF2B5EF4-FFF2-40B4-BE49-F238E27FC236}">
                <a16:creationId xmlns:a16="http://schemas.microsoft.com/office/drawing/2014/main" id="{38EBEE1C-8B52-3CA3-C1AF-12C63F9F1C48}"/>
              </a:ext>
            </a:extLst>
          </p:cNvPr>
          <p:cNvSpPr/>
          <p:nvPr/>
        </p:nvSpPr>
        <p:spPr>
          <a:xfrm>
            <a:off x="4855463" y="3703320"/>
            <a:ext cx="458949" cy="47548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9" name="Text 48">
            <a:extLst>
              <a:ext uri="{FF2B5EF4-FFF2-40B4-BE49-F238E27FC236}">
                <a16:creationId xmlns:a16="http://schemas.microsoft.com/office/drawing/2014/main" id="{021C2B72-E504-97C4-1F57-C7F45315F8FD}"/>
              </a:ext>
            </a:extLst>
          </p:cNvPr>
          <p:cNvSpPr/>
          <p:nvPr/>
        </p:nvSpPr>
        <p:spPr>
          <a:xfrm>
            <a:off x="4855463" y="3703320"/>
            <a:ext cx="45894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D</a:t>
            </a:r>
            <a:endParaRPr lang="en-US" sz="14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0" name="Text 49">
            <a:extLst>
              <a:ext uri="{FF2B5EF4-FFF2-40B4-BE49-F238E27FC236}">
                <a16:creationId xmlns:a16="http://schemas.microsoft.com/office/drawing/2014/main" id="{C3F8675D-03FB-56F5-2EC2-D2B1E2A47B66}"/>
              </a:ext>
            </a:extLst>
          </p:cNvPr>
          <p:cNvSpPr/>
          <p:nvPr/>
        </p:nvSpPr>
        <p:spPr>
          <a:xfrm>
            <a:off x="5422392" y="3630168"/>
            <a:ext cx="3336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61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Evolucion y Gobierno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1" name="Text 50">
            <a:extLst>
              <a:ext uri="{FF2B5EF4-FFF2-40B4-BE49-F238E27FC236}">
                <a16:creationId xmlns:a16="http://schemas.microsoft.com/office/drawing/2014/main" id="{B078A32D-A85E-5DF2-69FE-BC96E1E73F0A}"/>
              </a:ext>
            </a:extLst>
          </p:cNvPr>
          <p:cNvSpPr/>
          <p:nvPr/>
        </p:nvSpPr>
        <p:spPr>
          <a:xfrm>
            <a:off x="5422392" y="3977640"/>
            <a:ext cx="3336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2 dim: Roadmap · Modelo de Transicion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2" name="Text 51">
            <a:extLst>
              <a:ext uri="{FF2B5EF4-FFF2-40B4-BE49-F238E27FC236}">
                <a16:creationId xmlns:a16="http://schemas.microsoft.com/office/drawing/2014/main" id="{DE329361-E801-3752-8908-D7E041EB7617}"/>
              </a:ext>
            </a:extLst>
          </p:cNvPr>
          <p:cNvSpPr/>
          <p:nvPr/>
        </p:nvSpPr>
        <p:spPr>
          <a:xfrm>
            <a:off x="315296" y="4590288"/>
            <a:ext cx="79950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Fuente: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PeopleCert ITIL 4 — Practica de Mejora Continua</a:t>
            </a: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CMMI Institute — Maturity Model Reference</a:t>
            </a:r>
            <a:endParaRPr lang="en-US" sz="7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4" name="Text 53">
            <a:extLst>
              <a:ext uri="{FF2B5EF4-FFF2-40B4-BE49-F238E27FC236}">
                <a16:creationId xmlns:a16="http://schemas.microsoft.com/office/drawing/2014/main" id="{A82B4265-469F-E87F-DF26-C67AA9F1747E}"/>
              </a:ext>
            </a:extLst>
          </p:cNvPr>
          <p:cNvSpPr/>
          <p:nvPr/>
        </p:nvSpPr>
        <p:spPr>
          <a:xfrm>
            <a:off x="8138160" y="486460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11 / 12</a:t>
            </a:r>
            <a:endParaRPr lang="en-US" sz="8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999" name="src"/>
          <p:cNvSpPr txBox="1">
            <a:spLocks noGrp="1"/>
          </p:cNvSpPr>
          <p:nvPr/>
        </p:nvSpPr>
        <p:spPr>
          <a:xfrm>
            <a:off x="320040" y="44622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4"/>
              </a:rPr>
              <a:t>PeopleCert ITIL v5</a:t>
            </a:r>
            <a:r>
              <a:rPr lang="es-ES" sz="780" i="1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3"/>
              </a:rPr>
              <a:t>CMMI Institute</a:t>
            </a:r>
          </a:p>
        </p:txBody>
      </p:sp>
    </p:spTree>
    <p:extLst>
      <p:ext uri="{BB962C8B-B14F-4D97-AF65-F5344CB8AC3E}">
        <p14:creationId xmlns:p14="http://schemas.microsoft.com/office/powerpoint/2010/main" val="4199807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65760" y="91440"/>
            <a:ext cx="91440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2000" b="1" dirty="0">
                <a:solidFill>
                  <a:srgbClr val="FFFFFF"/>
                </a:solidFill>
                <a:latin typeface="Calibri"/>
              </a:rPr>
              <a:t>Modelo de Madurez Gen Next — Escalera Visual N1 a N5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65760" y="566928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dirty="0">
                <a:solidFill>
                  <a:srgbClr val="C8EBEF"/>
                </a:solidFill>
                <a:latin typeface="Calibri"/>
              </a:rPr>
              <a:t>ITIL v5 · 4 Dimensiones · 17 Practicas · Meta Wave 1 = N3 · PersonalSoft Framework 2026</a:t>
            </a:r>
          </a:p>
        </p:txBody>
      </p:sp>
      <p:sp>
        <p:nvSpPr>
          <p:cNvPr id="10" name="nb"/>
          <p:cNvSpPr>
            <a:spLocks noGrp="1"/>
          </p:cNvSpPr>
          <p:nvPr/>
        </p:nvSpPr>
        <p:spPr>
          <a:xfrm>
            <a:off x="320040" y="3877056"/>
            <a:ext cx="1280160" cy="585216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2700">
            <a:solidFill>
              <a:srgbClr val="C00000"/>
            </a:solidFill>
          </a:ln>
        </p:spPr>
      </p:sp>
      <p:sp>
        <p:nvSpPr>
          <p:cNvPr id="11" name="nl"/>
          <p:cNvSpPr txBox="1">
            <a:spLocks noGrp="1"/>
          </p:cNvSpPr>
          <p:nvPr/>
        </p:nvSpPr>
        <p:spPr>
          <a:xfrm>
            <a:off x="374904" y="3895344"/>
            <a:ext cx="58521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2" name="nn"/>
          <p:cNvSpPr txBox="1">
            <a:spLocks noGrp="1"/>
          </p:cNvSpPr>
          <p:nvPr/>
        </p:nvSpPr>
        <p:spPr>
          <a:xfrm>
            <a:off x="1014984" y="3895344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C00000"/>
                </a:solidFill>
                <a:latin typeface="Calibri"/>
              </a:rPr>
              <a:t>Inicial</a:t>
            </a:r>
          </a:p>
        </p:txBody>
      </p:sp>
      <p:sp>
        <p:nvSpPr>
          <p:cNvPr id="13" name="nd"/>
          <p:cNvSpPr txBox="1">
            <a:spLocks noGrp="1"/>
          </p:cNvSpPr>
          <p:nvPr/>
        </p:nvSpPr>
        <p:spPr>
          <a:xfrm>
            <a:off x="2350008" y="3895344"/>
            <a:ext cx="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00" dirty="0">
                <a:solidFill>
                  <a:srgbClr val="C00000"/>
                </a:solidFill>
                <a:latin typeface="Calibri"/>
              </a:rPr>
              <a:t>Reactivo total · Bus factor alto · Sin documentacion · Minimo Mesa de Ayuda</a:t>
            </a:r>
          </a:p>
        </p:txBody>
      </p:sp>
      <p:sp>
        <p:nvSpPr>
          <p:cNvPr id="14" name="nm"/>
          <p:cNvSpPr txBox="1">
            <a:spLocks noGrp="1"/>
          </p:cNvSpPr>
          <p:nvPr/>
        </p:nvSpPr>
        <p:spPr>
          <a:xfrm>
            <a:off x="374904" y="4187952"/>
            <a:ext cx="1170432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70" i="1" dirty="0">
                <a:solidFill>
                  <a:srgbClr val="C00000"/>
                </a:solidFill>
                <a:latin typeface="Calibri"/>
              </a:rPr>
              <a:t>FCR menor 40% · MTTR mayor 24h · Sin KEDB · Sin RACI · Costo USD 35-50</a:t>
            </a:r>
          </a:p>
        </p:txBody>
      </p:sp>
      <p:sp>
        <p:nvSpPr>
          <p:cNvPr id="15" name="nb"/>
          <p:cNvSpPr>
            <a:spLocks noGrp="1"/>
          </p:cNvSpPr>
          <p:nvPr/>
        </p:nvSpPr>
        <p:spPr>
          <a:xfrm>
            <a:off x="320040" y="3218688"/>
            <a:ext cx="2286000" cy="585216"/>
          </a:xfrm>
          <a:prstGeom prst="roundRect">
            <a:avLst>
              <a:gd name="adj" fmla="val 8000"/>
            </a:avLst>
          </a:prstGeom>
          <a:solidFill>
            <a:srgbClr val="FAEEDA"/>
          </a:solidFill>
          <a:ln w="12700">
            <a:solidFill>
              <a:srgbClr val="633806"/>
            </a:solidFill>
          </a:ln>
        </p:spPr>
      </p:sp>
      <p:sp>
        <p:nvSpPr>
          <p:cNvPr id="16" name="nl"/>
          <p:cNvSpPr txBox="1">
            <a:spLocks noGrp="1"/>
          </p:cNvSpPr>
          <p:nvPr/>
        </p:nvSpPr>
        <p:spPr>
          <a:xfrm>
            <a:off x="374904" y="3236976"/>
            <a:ext cx="58521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633806"/>
                </a:solidFill>
                <a:latin typeface="Calibri"/>
              </a:rPr>
              <a:t>N2</a:t>
            </a:r>
          </a:p>
        </p:txBody>
      </p:sp>
      <p:sp>
        <p:nvSpPr>
          <p:cNvPr id="17" name="nn"/>
          <p:cNvSpPr txBox="1">
            <a:spLocks noGrp="1"/>
          </p:cNvSpPr>
          <p:nvPr/>
        </p:nvSpPr>
        <p:spPr>
          <a:xfrm>
            <a:off x="1014984" y="323697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633806"/>
                </a:solidFill>
                <a:latin typeface="Calibri"/>
              </a:rPr>
              <a:t>Administrado</a:t>
            </a:r>
          </a:p>
        </p:txBody>
      </p:sp>
      <p:sp>
        <p:nvSpPr>
          <p:cNvPr id="18" name="nd"/>
          <p:cNvSpPr txBox="1">
            <a:spLocks noGrp="1"/>
          </p:cNvSpPr>
          <p:nvPr/>
        </p:nvSpPr>
        <p:spPr>
          <a:xfrm>
            <a:off x="2350008" y="3236976"/>
            <a:ext cx="182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00" dirty="0">
                <a:solidFill>
                  <a:srgbClr val="633806"/>
                </a:solidFill>
                <a:latin typeface="Calibri"/>
              </a:rPr>
              <a:t>Herramienta basica · Doc por mesa · Procesos informales por mesa</a:t>
            </a:r>
          </a:p>
        </p:txBody>
      </p:sp>
      <p:sp>
        <p:nvSpPr>
          <p:cNvPr id="19" name="nm"/>
          <p:cNvSpPr txBox="1">
            <a:spLocks noGrp="1"/>
          </p:cNvSpPr>
          <p:nvPr/>
        </p:nvSpPr>
        <p:spPr>
          <a:xfrm>
            <a:off x="374904" y="3529584"/>
            <a:ext cx="2176272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70" i="1" dirty="0">
                <a:solidFill>
                  <a:srgbClr val="633806"/>
                </a:solidFill>
                <a:latin typeface="Calibri"/>
              </a:rPr>
              <a:t>FCR 40-55% · MTTR 8-16h · KEDB basica · RACI informal · Costo USD 25-35</a:t>
            </a:r>
          </a:p>
        </p:txBody>
      </p:sp>
      <p:sp>
        <p:nvSpPr>
          <p:cNvPr id="20" name="nb"/>
          <p:cNvSpPr>
            <a:spLocks noGrp="1"/>
          </p:cNvSpPr>
          <p:nvPr/>
        </p:nvSpPr>
        <p:spPr>
          <a:xfrm>
            <a:off x="320040" y="2560320"/>
            <a:ext cx="3520440" cy="585216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9050">
            <a:solidFill>
              <a:srgbClr val="1D4ED8"/>
            </a:solidFill>
          </a:ln>
        </p:spPr>
      </p:sp>
      <p:sp>
        <p:nvSpPr>
          <p:cNvPr id="21" name="nl"/>
          <p:cNvSpPr txBox="1">
            <a:spLocks noGrp="1"/>
          </p:cNvSpPr>
          <p:nvPr/>
        </p:nvSpPr>
        <p:spPr>
          <a:xfrm>
            <a:off x="374904" y="2578608"/>
            <a:ext cx="58521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1D4ED8"/>
                </a:solidFill>
                <a:latin typeface="Calibri"/>
              </a:rPr>
              <a:t>N3 *</a:t>
            </a:r>
          </a:p>
        </p:txBody>
      </p:sp>
      <p:sp>
        <p:nvSpPr>
          <p:cNvPr id="22" name="nn"/>
          <p:cNvSpPr txBox="1">
            <a:spLocks noGrp="1"/>
          </p:cNvSpPr>
          <p:nvPr/>
        </p:nvSpPr>
        <p:spPr>
          <a:xfrm>
            <a:off x="1014984" y="257860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1D4ED8"/>
                </a:solidFill>
                <a:latin typeface="Calibri"/>
              </a:rPr>
              <a:t>Definido</a:t>
            </a:r>
          </a:p>
        </p:txBody>
      </p:sp>
      <p:sp>
        <p:nvSpPr>
          <p:cNvPr id="23" name="nd"/>
          <p:cNvSpPr txBox="1">
            <a:spLocks noGrp="1"/>
          </p:cNvSpPr>
          <p:nvPr/>
        </p:nvSpPr>
        <p:spPr>
          <a:xfrm>
            <a:off x="2350008" y="2578608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00" dirty="0">
                <a:solidFill>
                  <a:srgbClr val="1D4ED8"/>
                </a:solidFill>
                <a:latin typeface="Calibri"/>
              </a:rPr>
              <a:t>Estandarizado · RACI+ANS+Catalogo activos · Minimo Mesa de Soporte · META WAVE 1</a:t>
            </a:r>
          </a:p>
        </p:txBody>
      </p:sp>
      <p:sp>
        <p:nvSpPr>
          <p:cNvPr id="24" name="nm"/>
          <p:cNvSpPr txBox="1">
            <a:spLocks noGrp="1"/>
          </p:cNvSpPr>
          <p:nvPr/>
        </p:nvSpPr>
        <p:spPr>
          <a:xfrm>
            <a:off x="374904" y="2871216"/>
            <a:ext cx="3410712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70" i="1" dirty="0">
                <a:solidFill>
                  <a:srgbClr val="1D4ED8"/>
                </a:solidFill>
                <a:latin typeface="Calibri"/>
              </a:rPr>
              <a:t>FCR mayor 65% · MTTR menor 8h · KEDB activa · KPIs tiempo real · Costo USD 15-25</a:t>
            </a:r>
          </a:p>
        </p:txBody>
      </p:sp>
      <p:sp>
        <p:nvSpPr>
          <p:cNvPr id="25" name="nb"/>
          <p:cNvSpPr>
            <a:spLocks noGrp="1"/>
          </p:cNvSpPr>
          <p:nvPr/>
        </p:nvSpPr>
        <p:spPr>
          <a:xfrm>
            <a:off x="320040" y="1901952"/>
            <a:ext cx="5029200" cy="585216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2700">
            <a:solidFill>
              <a:srgbClr val="5B21B6"/>
            </a:solidFill>
          </a:ln>
        </p:spPr>
      </p:sp>
      <p:sp>
        <p:nvSpPr>
          <p:cNvPr id="26" name="nl"/>
          <p:cNvSpPr txBox="1">
            <a:spLocks noGrp="1"/>
          </p:cNvSpPr>
          <p:nvPr/>
        </p:nvSpPr>
        <p:spPr>
          <a:xfrm>
            <a:off x="374904" y="1920240"/>
            <a:ext cx="58521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5B21B6"/>
                </a:solidFill>
                <a:latin typeface="Calibri"/>
              </a:rPr>
              <a:t>N4</a:t>
            </a:r>
          </a:p>
        </p:txBody>
      </p:sp>
      <p:sp>
        <p:nvSpPr>
          <p:cNvPr id="27" name="nn"/>
          <p:cNvSpPr txBox="1">
            <a:spLocks noGrp="1"/>
          </p:cNvSpPr>
          <p:nvPr/>
        </p:nvSpPr>
        <p:spPr>
          <a:xfrm>
            <a:off x="1014984" y="192024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5B21B6"/>
                </a:solidFill>
                <a:latin typeface="Calibri"/>
              </a:rPr>
              <a:t>Cuantitativo</a:t>
            </a:r>
          </a:p>
        </p:txBody>
      </p:sp>
      <p:sp>
        <p:nvSpPr>
          <p:cNvPr id="28" name="nd"/>
          <p:cNvSpPr txBox="1">
            <a:spLocks noGrp="1"/>
          </p:cNvSpPr>
          <p:nvPr/>
        </p:nvSpPr>
        <p:spPr>
          <a:xfrm>
            <a:off x="2350008" y="192024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00" dirty="0">
                <a:solidFill>
                  <a:srgbClr val="5B21B6"/>
                </a:solidFill>
                <a:latin typeface="Calibri"/>
              </a:rPr>
              <a:t>KPIs con datos reales · Costo/ticket calculado · Decisiones con evidencia · XLA activo</a:t>
            </a:r>
          </a:p>
        </p:txBody>
      </p:sp>
      <p:sp>
        <p:nvSpPr>
          <p:cNvPr id="29" name="nm"/>
          <p:cNvSpPr txBox="1">
            <a:spLocks noGrp="1"/>
          </p:cNvSpPr>
          <p:nvPr/>
        </p:nvSpPr>
        <p:spPr>
          <a:xfrm>
            <a:off x="374904" y="2212848"/>
            <a:ext cx="4919472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70" i="1" dirty="0">
                <a:solidFill>
                  <a:srgbClr val="5B21B6"/>
                </a:solidFill>
                <a:latin typeface="Calibri"/>
              </a:rPr>
              <a:t>FCR mayor 75% · MTTR menor 4h · Deflexion mayor 25% · XLA · Costo USD 8-15</a:t>
            </a:r>
          </a:p>
        </p:txBody>
      </p:sp>
      <p:sp>
        <p:nvSpPr>
          <p:cNvPr id="30" name="nb"/>
          <p:cNvSpPr>
            <a:spLocks noGrp="1"/>
          </p:cNvSpPr>
          <p:nvPr/>
        </p:nvSpPr>
        <p:spPr>
          <a:xfrm>
            <a:off x="320040" y="1243584"/>
            <a:ext cx="6675120" cy="585216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1A6B3C"/>
            </a:solidFill>
          </a:ln>
        </p:spPr>
      </p:sp>
      <p:sp>
        <p:nvSpPr>
          <p:cNvPr id="31" name="nl"/>
          <p:cNvSpPr txBox="1">
            <a:spLocks noGrp="1"/>
          </p:cNvSpPr>
          <p:nvPr/>
        </p:nvSpPr>
        <p:spPr>
          <a:xfrm>
            <a:off x="374904" y="1261872"/>
            <a:ext cx="58521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1A6B3C"/>
                </a:solidFill>
                <a:latin typeface="Calibri"/>
              </a:rPr>
              <a:t>N5</a:t>
            </a:r>
          </a:p>
        </p:txBody>
      </p:sp>
      <p:sp>
        <p:nvSpPr>
          <p:cNvPr id="32" name="nn"/>
          <p:cNvSpPr txBox="1">
            <a:spLocks noGrp="1"/>
          </p:cNvSpPr>
          <p:nvPr/>
        </p:nvSpPr>
        <p:spPr>
          <a:xfrm>
            <a:off x="1014984" y="126187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1A6B3C"/>
                </a:solidFill>
                <a:latin typeface="Calibri"/>
              </a:rPr>
              <a:t>Optimizado</a:t>
            </a:r>
          </a:p>
        </p:txBody>
      </p:sp>
      <p:sp>
        <p:nvSpPr>
          <p:cNvPr id="33" name="nd"/>
          <p:cNvSpPr txBox="1">
            <a:spLocks noGrp="1"/>
          </p:cNvSpPr>
          <p:nvPr/>
        </p:nvSpPr>
        <p:spPr>
          <a:xfrm>
            <a:off x="2350008" y="12618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00" dirty="0">
                <a:solidFill>
                  <a:srgbClr val="1A6B3C"/>
                </a:solidFill>
                <a:latin typeface="Calibri"/>
              </a:rPr>
              <a:t>IA activa · AIOps · Mejora continua automatizada · Autonomo e Inteligente</a:t>
            </a:r>
          </a:p>
        </p:txBody>
      </p:sp>
      <p:sp>
        <p:nvSpPr>
          <p:cNvPr id="34" name="nm"/>
          <p:cNvSpPr txBox="1">
            <a:spLocks noGrp="1"/>
          </p:cNvSpPr>
          <p:nvPr/>
        </p:nvSpPr>
        <p:spPr>
          <a:xfrm>
            <a:off x="374904" y="1554480"/>
            <a:ext cx="6565392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70" i="1" dirty="0">
                <a:solidFill>
                  <a:srgbClr val="1A6B3C"/>
                </a:solidFill>
                <a:latin typeface="Calibri"/>
              </a:rPr>
              <a:t>FCR mayor 85% · MTTR menor 1h · Deflexion mayor 55% · Remediacion autonoma · Costo USD 3-8</a:t>
            </a:r>
          </a:p>
        </p:txBody>
      </p:sp>
      <p:sp>
        <p:nvSpPr>
          <p:cNvPr id="50" name="n3b"/>
          <p:cNvSpPr>
            <a:spLocks noGrp="1"/>
          </p:cNvSpPr>
          <p:nvPr/>
        </p:nvSpPr>
        <p:spPr>
          <a:xfrm>
            <a:off x="3895344" y="2359152"/>
            <a:ext cx="3602736" cy="164592"/>
          </a:xfrm>
          <a:prstGeom prst="roundRect">
            <a:avLst>
              <a:gd name="adj" fmla="val 6000"/>
            </a:avLst>
          </a:prstGeom>
          <a:solidFill>
            <a:srgbClr val="FFF3CD"/>
          </a:solidFill>
          <a:ln w="12700">
            <a:solidFill>
              <a:srgbClr val="F59E0B"/>
            </a:solidFill>
          </a:ln>
        </p:spPr>
      </p:sp>
      <p:sp>
        <p:nvSpPr>
          <p:cNvPr id="51" name="n3bt"/>
          <p:cNvSpPr txBox="1">
            <a:spLocks noGrp="1"/>
          </p:cNvSpPr>
          <p:nvPr/>
        </p:nvSpPr>
        <p:spPr>
          <a:xfrm>
            <a:off x="3931920" y="2359152"/>
            <a:ext cx="3529584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50" b="1" dirty="0">
                <a:solidFill>
                  <a:srgbClr val="92400E"/>
                </a:solidFill>
                <a:latin typeface="Calibri"/>
              </a:rPr>
              <a:t>META WAVE 1 = N3 · Minimo Mesa de Soporte · Objetivo 8 mesas actuales PS</a:t>
            </a:r>
          </a:p>
        </p:txBody>
      </p:sp>
      <p:sp>
        <p:nvSpPr>
          <p:cNvPr id="55" name="dimhdr"/>
          <p:cNvSpPr>
            <a:spLocks noGrp="1"/>
          </p:cNvSpPr>
          <p:nvPr/>
        </p:nvSpPr>
        <p:spPr>
          <a:xfrm>
            <a:off x="320040" y="3712463"/>
            <a:ext cx="7680960" cy="219456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56" name="dimhdrtxt"/>
          <p:cNvSpPr txBox="1">
            <a:spLocks noGrp="1"/>
          </p:cNvSpPr>
          <p:nvPr/>
        </p:nvSpPr>
        <p:spPr>
          <a:xfrm>
            <a:off x="320040" y="3712463"/>
            <a:ext cx="7680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20" b="1" dirty="0">
                <a:solidFill>
                  <a:srgbClr val="FFFFFF"/>
                </a:solidFill>
                <a:latin typeface="Calibri"/>
              </a:rPr>
              <a:t>4 DIMENSIONES ITIL v5 · 17 PRACTICAS EVALUADAS POR NIVEL</a:t>
            </a:r>
          </a:p>
        </p:txBody>
      </p:sp>
      <p:sp>
        <p:nvSpPr>
          <p:cNvPr id="60" name="db"/>
          <p:cNvSpPr>
            <a:spLocks noGrp="1"/>
          </p:cNvSpPr>
          <p:nvPr/>
        </p:nvSpPr>
        <p:spPr>
          <a:xfrm>
            <a:off x="320040" y="4005072"/>
            <a:ext cx="1828800" cy="420624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 w="12700">
            <a:solidFill>
              <a:srgbClr val="0D1B5E"/>
            </a:solidFill>
          </a:ln>
        </p:spPr>
      </p:sp>
      <p:sp>
        <p:nvSpPr>
          <p:cNvPr id="61" name="dbar"/>
          <p:cNvSpPr>
            <a:spLocks noGrp="1"/>
          </p:cNvSpPr>
          <p:nvPr/>
        </p:nvSpPr>
        <p:spPr>
          <a:xfrm>
            <a:off x="320040" y="4005072"/>
            <a:ext cx="73152" cy="420624"/>
          </a:xfrm>
          <a:prstGeom prst="roundRect">
            <a:avLst>
              <a:gd name="adj" fmla="val 8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62" name="dt"/>
          <p:cNvSpPr txBox="1">
            <a:spLocks noGrp="1"/>
          </p:cNvSpPr>
          <p:nvPr/>
        </p:nvSpPr>
        <p:spPr>
          <a:xfrm>
            <a:off x="448056" y="4032504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30" b="1" dirty="0">
                <a:solidFill>
                  <a:srgbClr val="0D1B5E"/>
                </a:solidFill>
                <a:latin typeface="Calibri"/>
              </a:rPr>
              <a:t>D1 · Org. y Personas</a:t>
            </a:r>
          </a:p>
          <a:p>
            <a:pPr algn="l"/>
            <a:r>
              <a:rPr lang="es-ES" sz="760" dirty="0">
                <a:solidFill>
                  <a:srgbClr val="6B7280"/>
                </a:solidFill>
                <a:latin typeface="Calibri"/>
              </a:rPr>
              <a:t>RACI · Capacidad · Dimensionamiento</a:t>
            </a:r>
          </a:p>
        </p:txBody>
      </p:sp>
      <p:sp>
        <p:nvSpPr>
          <p:cNvPr id="63" name="db"/>
          <p:cNvSpPr>
            <a:spLocks noGrp="1"/>
          </p:cNvSpPr>
          <p:nvPr/>
        </p:nvSpPr>
        <p:spPr>
          <a:xfrm>
            <a:off x="2258568" y="4005072"/>
            <a:ext cx="1828800" cy="420624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 w="12700">
            <a:solidFill>
              <a:srgbClr val="1A3A8F"/>
            </a:solidFill>
          </a:ln>
        </p:spPr>
      </p:sp>
      <p:sp>
        <p:nvSpPr>
          <p:cNvPr id="64" name="dbar"/>
          <p:cNvSpPr>
            <a:spLocks noGrp="1"/>
          </p:cNvSpPr>
          <p:nvPr/>
        </p:nvSpPr>
        <p:spPr>
          <a:xfrm>
            <a:off x="2258568" y="4005072"/>
            <a:ext cx="73152" cy="420624"/>
          </a:xfrm>
          <a:prstGeom prst="roundRect">
            <a:avLst>
              <a:gd name="adj" fmla="val 8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65" name="dt"/>
          <p:cNvSpPr txBox="1">
            <a:spLocks noGrp="1"/>
          </p:cNvSpPr>
          <p:nvPr/>
        </p:nvSpPr>
        <p:spPr>
          <a:xfrm>
            <a:off x="2386584" y="4032504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30" b="1" dirty="0">
                <a:solidFill>
                  <a:srgbClr val="1A3A8F"/>
                </a:solidFill>
                <a:latin typeface="Calibri"/>
              </a:rPr>
              <a:t>D2 · Info. y Tecnologia</a:t>
            </a:r>
          </a:p>
          <a:p>
            <a:pPr algn="l"/>
            <a:r>
              <a:rPr lang="es-ES" sz="760" dirty="0">
                <a:solidFill>
                  <a:srgbClr val="6B7280"/>
                </a:solidFill>
                <a:latin typeface="Calibri"/>
              </a:rPr>
              <a:t>Herramientas · KEDB · Integraciones · Monitoreo</a:t>
            </a:r>
          </a:p>
        </p:txBody>
      </p:sp>
      <p:sp>
        <p:nvSpPr>
          <p:cNvPr id="66" name="db"/>
          <p:cNvSpPr>
            <a:spLocks noGrp="1"/>
          </p:cNvSpPr>
          <p:nvPr/>
        </p:nvSpPr>
        <p:spPr>
          <a:xfrm>
            <a:off x="4197096" y="4005072"/>
            <a:ext cx="1828800" cy="420624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 w="12700">
            <a:solidFill>
              <a:srgbClr val="1B7B85"/>
            </a:solidFill>
          </a:ln>
        </p:spPr>
      </p:sp>
      <p:sp>
        <p:nvSpPr>
          <p:cNvPr id="67" name="dbar"/>
          <p:cNvSpPr>
            <a:spLocks noGrp="1"/>
          </p:cNvSpPr>
          <p:nvPr/>
        </p:nvSpPr>
        <p:spPr>
          <a:xfrm>
            <a:off x="4197096" y="4005072"/>
            <a:ext cx="73152" cy="420624"/>
          </a:xfrm>
          <a:prstGeom prst="roundRect">
            <a:avLst>
              <a:gd name="adj" fmla="val 8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68" name="dt"/>
          <p:cNvSpPr txBox="1">
            <a:spLocks noGrp="1"/>
          </p:cNvSpPr>
          <p:nvPr/>
        </p:nvSpPr>
        <p:spPr>
          <a:xfrm>
            <a:off x="4325112" y="4032504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30" b="1" dirty="0">
                <a:solidFill>
                  <a:srgbClr val="1B7B85"/>
                </a:solidFill>
                <a:latin typeface="Calibri"/>
              </a:rPr>
              <a:t>D3 · Socios</a:t>
            </a:r>
          </a:p>
          <a:p>
            <a:pPr algn="l"/>
            <a:r>
              <a:rPr lang="es-ES" sz="760" dirty="0">
                <a:solidFill>
                  <a:srgbClr val="6B7280"/>
                </a:solidFill>
                <a:latin typeface="Calibri"/>
              </a:rPr>
              <a:t>Service Desk · Catalogo · SLA/XLA · Disponibilidad</a:t>
            </a:r>
          </a:p>
        </p:txBody>
      </p:sp>
      <p:sp>
        <p:nvSpPr>
          <p:cNvPr id="69" name="db"/>
          <p:cNvSpPr>
            <a:spLocks noGrp="1"/>
          </p:cNvSpPr>
          <p:nvPr/>
        </p:nvSpPr>
        <p:spPr>
          <a:xfrm>
            <a:off x="6135624" y="4005072"/>
            <a:ext cx="1828800" cy="420624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 w="12700">
            <a:solidFill>
              <a:srgbClr val="1F6FBA"/>
            </a:solidFill>
          </a:ln>
        </p:spPr>
      </p:sp>
      <p:sp>
        <p:nvSpPr>
          <p:cNvPr id="70" name="dbar"/>
          <p:cNvSpPr>
            <a:spLocks noGrp="1"/>
          </p:cNvSpPr>
          <p:nvPr/>
        </p:nvSpPr>
        <p:spPr>
          <a:xfrm>
            <a:off x="6135624" y="4005072"/>
            <a:ext cx="73152" cy="420624"/>
          </a:xfrm>
          <a:prstGeom prst="roundRect">
            <a:avLst>
              <a:gd name="adj" fmla="val 8000"/>
            </a:avLst>
          </a:prstGeom>
          <a:solidFill>
            <a:srgbClr val="1F6FBA"/>
          </a:solidFill>
          <a:ln>
            <a:noFill/>
          </a:ln>
        </p:spPr>
      </p:sp>
      <p:sp>
        <p:nvSpPr>
          <p:cNvPr id="71" name="dt"/>
          <p:cNvSpPr txBox="1">
            <a:spLocks noGrp="1"/>
          </p:cNvSpPr>
          <p:nvPr/>
        </p:nvSpPr>
        <p:spPr>
          <a:xfrm>
            <a:off x="6263640" y="4032504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30" b="1" dirty="0">
                <a:solidFill>
                  <a:srgbClr val="1F6FBA"/>
                </a:solidFill>
                <a:latin typeface="Calibri"/>
              </a:rPr>
              <a:t>D4 · Flujos de Valor</a:t>
            </a:r>
          </a:p>
          <a:p>
            <a:pPr algn="l"/>
            <a:r>
              <a:rPr lang="es-ES" sz="760" dirty="0">
                <a:solidFill>
                  <a:srgbClr val="6B7280"/>
                </a:solidFill>
                <a:latin typeface="Calibri"/>
              </a:rPr>
              <a:t>Incidentes · Solicitudes · Problemas · Change · Mejora</a:t>
            </a:r>
          </a:p>
        </p:txBody>
      </p:sp>
      <p:sp>
        <p:nvSpPr>
          <p:cNvPr id="999" name="src"/>
          <p:cNvSpPr txBox="1">
            <a:spLocks noGrp="1"/>
          </p:cNvSpPr>
          <p:nvPr/>
        </p:nvSpPr>
        <p:spPr>
          <a:xfrm>
            <a:off x="320040" y="44622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2"/>
              </a:rPr>
              <a:t>PeopleCert ITIL v5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3"/>
              </a:rPr>
              <a:t>HDI Standard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4"/>
              </a:rPr>
              <a:t>CMMI Institute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">
            <a:extLst>
              <a:ext uri="{FF2B5EF4-FFF2-40B4-BE49-F238E27FC236}">
                <a16:creationId xmlns:a16="http://schemas.microsoft.com/office/drawing/2014/main" id="{6F0AC5A8-D76C-4821-B701-B360740B2F1F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Servicio Gen Next: una arquitectura de atención y aprendizaje continuo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081C4F43-44D2-4B04-89F6-F12917EB5539}"/>
              </a:ext>
            </a:extLst>
          </p:cNvPr>
          <p:cNvSpPr>
            <a:spLocks noGrp="1"/>
          </p:cNvSpPr>
          <p:nvPr/>
        </p:nvSpPr>
        <p:spPr>
          <a:xfrm>
            <a:off x="361950" y="657225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AAEE0"/>
                </a:solidFill>
              </a:defRPr>
            </a:pPr>
            <a:r>
              <a:rPr sz="1050" b="0">
                <a:solidFill>
                  <a:srgbClr val="9AAEE0"/>
                </a:solidFill>
                <a:latin typeface="Reddit Sans"/>
                <a:ea typeface="Reddit Sans"/>
              </a:rPr>
              <a:t>N0-N3, gobierno, conocimiento e IA conectados en un solo modelo</a:t>
            </a:r>
          </a:p>
        </p:txBody>
      </p:sp>
      <p:sp>
        <p:nvSpPr>
          <p:cNvPr id="3" name="card">
            <a:extLst>
              <a:ext uri="{FF2B5EF4-FFF2-40B4-BE49-F238E27FC236}">
                <a16:creationId xmlns:a16="http://schemas.microsoft.com/office/drawing/2014/main" id="{60E3295D-4A0B-47EA-A896-1398F5B027BB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1600200" cy="1571625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1430">
            <a:solidFill>
              <a:srgbClr val="20835A"/>
            </a:solidFill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80485157-C0FA-4EDF-9EA9-DBD42C08BD92}"/>
              </a:ext>
            </a:extLst>
          </p:cNvPr>
          <p:cNvSpPr>
            <a:spLocks noGrp="1"/>
          </p:cNvSpPr>
          <p:nvPr/>
        </p:nvSpPr>
        <p:spPr>
          <a:xfrm>
            <a:off x="590550" y="1466850"/>
            <a:ext cx="1295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0835A"/>
                </a:solidFill>
              </a:defRPr>
            </a:pPr>
            <a:r>
              <a:rPr sz="1050" b="1">
                <a:solidFill>
                  <a:srgbClr val="20835A"/>
                </a:solidFill>
                <a:latin typeface="Reddit Sans"/>
                <a:ea typeface="Reddit Sans"/>
              </a:rPr>
              <a:t>N0 Autoservicio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4C1D7E6D-8B31-4C67-B4F9-728343EEFDDD}"/>
              </a:ext>
            </a:extLst>
          </p:cNvPr>
          <p:cNvSpPr>
            <a:spLocks noGrp="1"/>
          </p:cNvSpPr>
          <p:nvPr/>
        </p:nvSpPr>
        <p:spPr>
          <a:xfrm>
            <a:off x="590550" y="1790700"/>
            <a:ext cx="1295400" cy="1019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Portal, catálogo, FAQ, agente virtual y KEDB expuesta al usuario.</a:t>
            </a:r>
          </a:p>
        </p:txBody>
      </p:sp>
      <p:sp>
        <p:nvSpPr>
          <p:cNvPr id="6" name="arrow">
            <a:extLst>
              <a:ext uri="{FF2B5EF4-FFF2-40B4-BE49-F238E27FC236}">
                <a16:creationId xmlns:a16="http://schemas.microsoft.com/office/drawing/2014/main" id="{DBEED432-DE78-4612-9DD1-093307257845}"/>
              </a:ext>
            </a:extLst>
          </p:cNvPr>
          <p:cNvSpPr>
            <a:spLocks noGrp="1"/>
          </p:cNvSpPr>
          <p:nvPr/>
        </p:nvSpPr>
        <p:spPr>
          <a:xfrm>
            <a:off x="2095500" y="1885950"/>
            <a:ext cx="400050" cy="323850"/>
          </a:xfrm>
          <a:prstGeom prst="rightArrow">
            <a:avLst/>
          </a:prstGeom>
          <a:solidFill>
            <a:srgbClr val="1E5EBE"/>
          </a:solidFill>
          <a:ln w="11430">
            <a:solidFill>
              <a:srgbClr val="1E5EBE"/>
            </a:solidFill>
            <a:prstDash val="solid"/>
          </a:ln>
        </p:spPr>
      </p:sp>
      <p:sp>
        <p:nvSpPr>
          <p:cNvPr id="7" name="card">
            <a:extLst>
              <a:ext uri="{FF2B5EF4-FFF2-40B4-BE49-F238E27FC236}">
                <a16:creationId xmlns:a16="http://schemas.microsoft.com/office/drawing/2014/main" id="{AFA13955-7FB5-4FAD-90D4-91D7AEB5B82B}"/>
              </a:ext>
            </a:extLst>
          </p:cNvPr>
          <p:cNvSpPr>
            <a:spLocks noGrp="1"/>
          </p:cNvSpPr>
          <p:nvPr/>
        </p:nvSpPr>
        <p:spPr>
          <a:xfrm>
            <a:off x="2484664" y="1328057"/>
            <a:ext cx="1600200" cy="1571625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1430">
            <a:solidFill>
              <a:srgbClr val="087B83"/>
            </a:solidFill>
            <a:prstDash val="solid"/>
          </a:ln>
        </p:spPr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049BC206-F8D7-421D-8E02-DCEC30F65651}"/>
              </a:ext>
            </a:extLst>
          </p:cNvPr>
          <p:cNvSpPr>
            <a:spLocks noGrp="1"/>
          </p:cNvSpPr>
          <p:nvPr/>
        </p:nvSpPr>
        <p:spPr>
          <a:xfrm>
            <a:off x="2495550" y="1466850"/>
            <a:ext cx="1295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87B83"/>
                </a:solidFill>
              </a:defRPr>
            </a:pPr>
            <a:r>
              <a:rPr sz="1050" b="1">
                <a:solidFill>
                  <a:srgbClr val="087B83"/>
                </a:solidFill>
                <a:latin typeface="Reddit Sans"/>
                <a:ea typeface="Reddit Sans"/>
              </a:rPr>
              <a:t>N1 Front-end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8C48EC8C-C7A1-4328-BC13-860C66938EF6}"/>
              </a:ext>
            </a:extLst>
          </p:cNvPr>
          <p:cNvSpPr>
            <a:spLocks noGrp="1"/>
          </p:cNvSpPr>
          <p:nvPr/>
        </p:nvSpPr>
        <p:spPr>
          <a:xfrm>
            <a:off x="2495550" y="1790700"/>
            <a:ext cx="1295400" cy="1019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Intake, clasificación, FCR, comunicación y escalamiento estructurado.</a:t>
            </a:r>
          </a:p>
        </p:txBody>
      </p:sp>
      <p:sp>
        <p:nvSpPr>
          <p:cNvPr id="10" name="arrow">
            <a:extLst>
              <a:ext uri="{FF2B5EF4-FFF2-40B4-BE49-F238E27FC236}">
                <a16:creationId xmlns:a16="http://schemas.microsoft.com/office/drawing/2014/main" id="{6BC27E40-2F05-4E72-928D-92ADEA63C1B7}"/>
              </a:ext>
            </a:extLst>
          </p:cNvPr>
          <p:cNvSpPr>
            <a:spLocks noGrp="1"/>
          </p:cNvSpPr>
          <p:nvPr/>
        </p:nvSpPr>
        <p:spPr>
          <a:xfrm>
            <a:off x="4000500" y="1885950"/>
            <a:ext cx="400050" cy="323850"/>
          </a:xfrm>
          <a:prstGeom prst="rightArrow">
            <a:avLst/>
          </a:prstGeom>
          <a:solidFill>
            <a:srgbClr val="1E5EBE"/>
          </a:solidFill>
          <a:ln w="11430">
            <a:solidFill>
              <a:srgbClr val="1E5EBE"/>
            </a:solidFill>
            <a:prstDash val="solid"/>
          </a:ln>
        </p:spPr>
      </p:sp>
      <p:sp>
        <p:nvSpPr>
          <p:cNvPr id="11" name="card">
            <a:extLst>
              <a:ext uri="{FF2B5EF4-FFF2-40B4-BE49-F238E27FC236}">
                <a16:creationId xmlns:a16="http://schemas.microsoft.com/office/drawing/2014/main" id="{6A27D17C-4B2B-4199-A98A-832B49D08669}"/>
              </a:ext>
            </a:extLst>
          </p:cNvPr>
          <p:cNvSpPr>
            <a:spLocks noGrp="1"/>
          </p:cNvSpPr>
          <p:nvPr/>
        </p:nvSpPr>
        <p:spPr>
          <a:xfrm>
            <a:off x="4389664" y="1328057"/>
            <a:ext cx="1600200" cy="1571625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1430">
            <a:solidFill>
              <a:srgbClr val="D47A00"/>
            </a:solidFill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01400567-55EB-4857-8E99-3693631695DE}"/>
              </a:ext>
            </a:extLst>
          </p:cNvPr>
          <p:cNvSpPr>
            <a:spLocks noGrp="1"/>
          </p:cNvSpPr>
          <p:nvPr/>
        </p:nvSpPr>
        <p:spPr>
          <a:xfrm>
            <a:off x="4400550" y="1466850"/>
            <a:ext cx="1295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47A00"/>
                </a:solidFill>
              </a:defRPr>
            </a:pPr>
            <a:r>
              <a:rPr sz="1050" b="1">
                <a:solidFill>
                  <a:srgbClr val="D47A00"/>
                </a:solidFill>
                <a:latin typeface="Reddit Sans"/>
                <a:ea typeface="Reddit Sans"/>
              </a:rPr>
              <a:t>N2 Especializado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410F7E68-7240-4088-9D6C-FAE96CB6EA7B}"/>
              </a:ext>
            </a:extLst>
          </p:cNvPr>
          <p:cNvSpPr>
            <a:spLocks noGrp="1"/>
          </p:cNvSpPr>
          <p:nvPr/>
        </p:nvSpPr>
        <p:spPr>
          <a:xfrm>
            <a:off x="4400550" y="1790700"/>
            <a:ext cx="1295400" cy="1019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Diagnóstico técnico, coordinación, soporte aplicativo y proveedores.</a:t>
            </a:r>
          </a:p>
        </p:txBody>
      </p:sp>
      <p:sp>
        <p:nvSpPr>
          <p:cNvPr id="14" name="arrow">
            <a:extLst>
              <a:ext uri="{FF2B5EF4-FFF2-40B4-BE49-F238E27FC236}">
                <a16:creationId xmlns:a16="http://schemas.microsoft.com/office/drawing/2014/main" id="{DECE7C22-C157-486C-B33E-F76A38343B3C}"/>
              </a:ext>
            </a:extLst>
          </p:cNvPr>
          <p:cNvSpPr>
            <a:spLocks noGrp="1"/>
          </p:cNvSpPr>
          <p:nvPr/>
        </p:nvSpPr>
        <p:spPr>
          <a:xfrm>
            <a:off x="5905500" y="1885950"/>
            <a:ext cx="400050" cy="323850"/>
          </a:xfrm>
          <a:prstGeom prst="rightArrow">
            <a:avLst/>
          </a:prstGeom>
          <a:solidFill>
            <a:srgbClr val="1E5EBE"/>
          </a:solidFill>
          <a:ln w="11430">
            <a:solidFill>
              <a:srgbClr val="1E5EBE"/>
            </a:solidFill>
            <a:prstDash val="solid"/>
          </a:ln>
        </p:spPr>
      </p:sp>
      <p:sp>
        <p:nvSpPr>
          <p:cNvPr id="15" name="card">
            <a:extLst>
              <a:ext uri="{FF2B5EF4-FFF2-40B4-BE49-F238E27FC236}">
                <a16:creationId xmlns:a16="http://schemas.microsoft.com/office/drawing/2014/main" id="{5DA69E41-AF4F-4D3E-999E-EF3DD307D9C0}"/>
              </a:ext>
            </a:extLst>
          </p:cNvPr>
          <p:cNvSpPr>
            <a:spLocks noGrp="1"/>
          </p:cNvSpPr>
          <p:nvPr/>
        </p:nvSpPr>
        <p:spPr>
          <a:xfrm>
            <a:off x="6294664" y="1328057"/>
            <a:ext cx="1600200" cy="1571625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1430">
            <a:solidFill>
              <a:srgbClr val="163B8C"/>
            </a:solidFill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F8D012C8-0FBC-4235-93DA-7DA1EB027863}"/>
              </a:ext>
            </a:extLst>
          </p:cNvPr>
          <p:cNvSpPr>
            <a:spLocks noGrp="1"/>
          </p:cNvSpPr>
          <p:nvPr/>
        </p:nvSpPr>
        <p:spPr>
          <a:xfrm>
            <a:off x="6305550" y="1466850"/>
            <a:ext cx="1295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63B8C"/>
                </a:solidFill>
              </a:defRPr>
            </a:pPr>
            <a:r>
              <a:rPr sz="1050" b="1">
                <a:solidFill>
                  <a:srgbClr val="163B8C"/>
                </a:solidFill>
                <a:latin typeface="Reddit Sans"/>
                <a:ea typeface="Reddit Sans"/>
              </a:rPr>
              <a:t>N3 Back-end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EB19A0A6-6FF0-490E-8E11-EFB8DB379814}"/>
              </a:ext>
            </a:extLst>
          </p:cNvPr>
          <p:cNvSpPr>
            <a:spLocks noGrp="1"/>
          </p:cNvSpPr>
          <p:nvPr/>
        </p:nvSpPr>
        <p:spPr>
          <a:xfrm>
            <a:off x="6305550" y="1790700"/>
            <a:ext cx="1295400" cy="1019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Causa raíz, parches, alto impacto, cambios y dominio profundo.</a:t>
            </a:r>
          </a:p>
        </p:txBody>
      </p:sp>
      <p:sp>
        <p:nvSpPr>
          <p:cNvPr id="18" name="hub">
            <a:extLst>
              <a:ext uri="{FF2B5EF4-FFF2-40B4-BE49-F238E27FC236}">
                <a16:creationId xmlns:a16="http://schemas.microsoft.com/office/drawing/2014/main" id="{D1CBAAEA-712E-4A72-95AF-B035AC1E8AB0}"/>
              </a:ext>
            </a:extLst>
          </p:cNvPr>
          <p:cNvSpPr>
            <a:spLocks noGrp="1"/>
          </p:cNvSpPr>
          <p:nvPr/>
        </p:nvSpPr>
        <p:spPr>
          <a:xfrm>
            <a:off x="1028700" y="3565071"/>
            <a:ext cx="7086600" cy="685800"/>
          </a:xfrm>
          <a:prstGeom prst="roundRect">
            <a:avLst>
              <a:gd name="adj" fmla="val 8333"/>
            </a:avLst>
          </a:prstGeom>
          <a:solidFill>
            <a:srgbClr val="F5F8FF"/>
          </a:solidFill>
          <a:ln w="11430">
            <a:solidFill>
              <a:srgbClr val="163B8C"/>
            </a:solidFill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C11E4150-4F01-45CB-A8F2-E0BA432C9F68}"/>
              </a:ext>
            </a:extLst>
          </p:cNvPr>
          <p:cNvSpPr>
            <a:spLocks noGrp="1"/>
          </p:cNvSpPr>
          <p:nvPr/>
        </p:nvSpPr>
        <p:spPr>
          <a:xfrm>
            <a:off x="1219200" y="3676650"/>
            <a:ext cx="6705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1425" b="1">
                <a:solidFill>
                  <a:srgbClr val="0C2362"/>
                </a:solidFill>
              </a:defRPr>
            </a:pPr>
            <a:r>
              <a:rPr lang="es-ES" b="1" dirty="0">
                <a:solidFill>
                  <a:srgbClr val="0C2362"/>
                </a:solidFill>
                <a:latin typeface="Reddit Sans"/>
                <a:ea typeface="Reddit Sans"/>
              </a:rPr>
              <a:t>Base de Conocimiento Hub</a:t>
            </a:r>
            <a:r>
              <a:rPr b="1" dirty="0">
                <a:solidFill>
                  <a:srgbClr val="0C2362"/>
                </a:solidFill>
                <a:latin typeface="Reddit Sans"/>
                <a:ea typeface="Reddit Sans"/>
              </a:rPr>
              <a:t> + AIOps + </a:t>
            </a:r>
            <a:r>
              <a:rPr b="1" dirty="0" err="1">
                <a:solidFill>
                  <a:srgbClr val="0C2362"/>
                </a:solidFill>
                <a:latin typeface="Reddit Sans"/>
                <a:ea typeface="Reddit Sans"/>
              </a:rPr>
              <a:t>Gobierno</a:t>
            </a:r>
            <a:r>
              <a:rPr b="1" dirty="0">
                <a:solidFill>
                  <a:srgbClr val="0C2362"/>
                </a:solidFill>
                <a:latin typeface="Reddit Sans"/>
                <a:ea typeface="Reddit Sans"/>
              </a:rPr>
              <a:t> SLA/XLA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9F0CB0B8-DBB4-48E9-BF7B-01C47DA57480}"/>
              </a:ext>
            </a:extLst>
          </p:cNvPr>
          <p:cNvSpPr>
            <a:spLocks noGrp="1"/>
          </p:cNvSpPr>
          <p:nvPr/>
        </p:nvSpPr>
        <p:spPr>
          <a:xfrm>
            <a:off x="1219200" y="3952875"/>
            <a:ext cx="6705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  <a:latin typeface="Reddit Sans"/>
                <a:ea typeface="Reddit Sans"/>
              </a:rPr>
              <a:t>Cada interacción alimenta conocimiento, automatización, métricas y planes de mejora.</a:t>
            </a:r>
          </a:p>
        </p:txBody>
      </p:sp>
      <p:sp>
        <p:nvSpPr>
          <p:cNvPr id="30" name="src"/>
          <p:cNvSpPr txBox="1">
            <a:spLocks noGrp="1"/>
          </p:cNvSpPr>
          <p:nvPr/>
        </p:nvSpPr>
        <p:spPr>
          <a:xfrm>
            <a:off x="320040" y="44622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3"/>
              </a:rPr>
              <a:t>PersonalSoft Gen Next 2026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4"/>
              </a:rPr>
              <a:t>PeopleCert ITIL v5</a:t>
            </a:r>
          </a:p>
        </p:txBody>
      </p:sp>
    </p:spTree>
    <p:extLst>
      <p:ext uri="{BB962C8B-B14F-4D97-AF65-F5344CB8AC3E}">
        <p14:creationId xmlns:p14="http://schemas.microsoft.com/office/powerpoint/2010/main" val="5963171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white-canvas">
            <a:extLst>
              <a:ext uri="{FF2B5EF4-FFF2-40B4-BE49-F238E27FC236}">
                <a16:creationId xmlns:a16="http://schemas.microsoft.com/office/drawing/2014/main" id="{445D28AD-E749-4F5D-90BC-F62F8D3E3A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445FDA1-29EC-4E5B-95DF-C2143677E632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El servicio debe venderse como catálogo modular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C32E812-1E96-4B8F-BDAB-AE226E591314}"/>
              </a:ext>
            </a:extLst>
          </p:cNvPr>
          <p:cNvSpPr>
            <a:spLocks noGrp="1"/>
          </p:cNvSpPr>
          <p:nvPr/>
        </p:nvSpPr>
        <p:spPr>
          <a:xfrm>
            <a:off x="361950" y="657225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AAEE0"/>
                </a:solidFill>
              </a:defRPr>
            </a:pPr>
            <a:r>
              <a:rPr sz="1050" b="0">
                <a:solidFill>
                  <a:srgbClr val="9AAEE0"/>
                </a:solidFill>
                <a:latin typeface="Reddit Sans"/>
                <a:ea typeface="Reddit Sans"/>
              </a:rPr>
              <a:t>Una base gestionada más capacidades inmersas y servicios complementarios</a:t>
            </a:r>
          </a:p>
        </p:txBody>
      </p:sp>
      <p:sp>
        <p:nvSpPr>
          <p:cNvPr id="4" name="card">
            <a:extLst>
              <a:ext uri="{FF2B5EF4-FFF2-40B4-BE49-F238E27FC236}">
                <a16:creationId xmlns:a16="http://schemas.microsoft.com/office/drawing/2014/main" id="{3F4A0128-AE6C-4D26-B49F-1C19BBDA9D7A}"/>
              </a:ext>
            </a:extLst>
          </p:cNvPr>
          <p:cNvSpPr>
            <a:spLocks noGrp="1"/>
          </p:cNvSpPr>
          <p:nvPr/>
        </p:nvSpPr>
        <p:spPr>
          <a:xfrm>
            <a:off x="400050" y="1143000"/>
            <a:ext cx="1809750" cy="276225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1430">
            <a:solidFill>
              <a:srgbClr val="163B8C"/>
            </a:solidFill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8AD8619-10B5-4238-9B73-346B04B397C6}"/>
              </a:ext>
            </a:extLst>
          </p:cNvPr>
          <p:cNvSpPr>
            <a:spLocks noGrp="1"/>
          </p:cNvSpPr>
          <p:nvPr/>
        </p:nvSpPr>
        <p:spPr>
          <a:xfrm>
            <a:off x="552450" y="1276350"/>
            <a:ext cx="1504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1050" b="1">
                <a:solidFill>
                  <a:srgbClr val="163B8C"/>
                </a:solidFill>
              </a:defRPr>
            </a:pPr>
            <a:r>
              <a:rPr sz="1050" b="1" dirty="0">
                <a:solidFill>
                  <a:srgbClr val="163B8C"/>
                </a:solidFill>
                <a:latin typeface="Reddit Sans"/>
                <a:ea typeface="Reddit Sans"/>
              </a:rPr>
              <a:t>Base </a:t>
            </a:r>
            <a:r>
              <a:rPr lang="es-ES" sz="1050" b="1" dirty="0" err="1">
                <a:solidFill>
                  <a:srgbClr val="163B8C"/>
                </a:solidFill>
                <a:latin typeface="Reddit Sans"/>
                <a:ea typeface="Reddit Sans"/>
              </a:rPr>
              <a:t>Operativa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B46911AD-3B4A-490F-9268-24A2545FBB20}"/>
              </a:ext>
            </a:extLst>
          </p:cNvPr>
          <p:cNvSpPr>
            <a:spLocks noGrp="1"/>
          </p:cNvSpPr>
          <p:nvPr/>
        </p:nvSpPr>
        <p:spPr>
          <a:xfrm>
            <a:off x="552450" y="1600200"/>
            <a:ext cx="1504950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Punto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único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de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contacto</a:t>
            </a:r>
            <a:endParaRPr lang="es-ES" sz="850" dirty="0" err="1">
              <a:latin typeface="Reddit Sans"/>
              <a:ea typeface="Reddit Sans"/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Gestión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de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incidentes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Gestión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de solicitudes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ANS/SLA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por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prioridad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Reporte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mensual</a:t>
            </a:r>
          </a:p>
        </p:txBody>
      </p:sp>
      <p:sp>
        <p:nvSpPr>
          <p:cNvPr id="7" name="card">
            <a:extLst>
              <a:ext uri="{FF2B5EF4-FFF2-40B4-BE49-F238E27FC236}">
                <a16:creationId xmlns:a16="http://schemas.microsoft.com/office/drawing/2014/main" id="{ACDD0597-694D-4454-8D49-F492530B15DF}"/>
              </a:ext>
            </a:extLst>
          </p:cNvPr>
          <p:cNvSpPr>
            <a:spLocks noGrp="1"/>
          </p:cNvSpPr>
          <p:nvPr/>
        </p:nvSpPr>
        <p:spPr>
          <a:xfrm>
            <a:off x="2552700" y="1143000"/>
            <a:ext cx="1809750" cy="276225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1430">
            <a:solidFill>
              <a:srgbClr val="087B83"/>
            </a:solidFill>
            <a:prstDash val="solid"/>
          </a:ln>
        </p:spPr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98BAD0B-EB72-4DFE-9B81-AB5F6B1AE321}"/>
              </a:ext>
            </a:extLst>
          </p:cNvPr>
          <p:cNvSpPr>
            <a:spLocks noGrp="1"/>
          </p:cNvSpPr>
          <p:nvPr/>
        </p:nvSpPr>
        <p:spPr>
          <a:xfrm>
            <a:off x="2705100" y="1276350"/>
            <a:ext cx="1504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87B83"/>
                </a:solidFill>
              </a:defRPr>
            </a:pPr>
            <a:r>
              <a:rPr sz="1050" b="1">
                <a:solidFill>
                  <a:srgbClr val="087B83"/>
                </a:solidFill>
                <a:latin typeface="Reddit Sans"/>
                <a:ea typeface="Reddit Sans"/>
              </a:rPr>
              <a:t>Capacidades Gen Next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69B008AD-B51F-4765-BB05-C041ECA5211F}"/>
              </a:ext>
            </a:extLst>
          </p:cNvPr>
          <p:cNvSpPr>
            <a:spLocks noGrp="1"/>
          </p:cNvSpPr>
          <p:nvPr/>
        </p:nvSpPr>
        <p:spPr>
          <a:xfrm>
            <a:off x="2705100" y="1600200"/>
            <a:ext cx="1504950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Portal N0 y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agente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virtual</a:t>
            </a:r>
            <a:endParaRPr lang="es-ES" sz="850" dirty="0"/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KEDB/KCS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Agent assist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AIOps y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observabilidad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SLA + XLA + DEX</a:t>
            </a:r>
          </a:p>
        </p:txBody>
      </p:sp>
      <p:sp>
        <p:nvSpPr>
          <p:cNvPr id="10" name="card">
            <a:extLst>
              <a:ext uri="{FF2B5EF4-FFF2-40B4-BE49-F238E27FC236}">
                <a16:creationId xmlns:a16="http://schemas.microsoft.com/office/drawing/2014/main" id="{75AE288F-84DD-4128-8757-CC7A59D22E14}"/>
              </a:ext>
            </a:extLst>
          </p:cNvPr>
          <p:cNvSpPr>
            <a:spLocks noGrp="1"/>
          </p:cNvSpPr>
          <p:nvPr/>
        </p:nvSpPr>
        <p:spPr>
          <a:xfrm>
            <a:off x="4705350" y="1143000"/>
            <a:ext cx="1809750" cy="276225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1430">
            <a:solidFill>
              <a:srgbClr val="20835A"/>
            </a:solidFill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87B05ABA-D5CF-44AA-A0AB-6F671F7283F3}"/>
              </a:ext>
            </a:extLst>
          </p:cNvPr>
          <p:cNvSpPr>
            <a:spLocks noGrp="1"/>
          </p:cNvSpPr>
          <p:nvPr/>
        </p:nvSpPr>
        <p:spPr>
          <a:xfrm>
            <a:off x="4857750" y="1276350"/>
            <a:ext cx="1504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050" b="1">
                <a:solidFill>
                  <a:srgbClr val="20835A"/>
                </a:solidFill>
              </a:defRPr>
            </a:pPr>
            <a:r>
              <a:rPr sz="1050" b="1" err="1">
                <a:solidFill>
                  <a:srgbClr val="20835A"/>
                </a:solidFill>
                <a:latin typeface="Reddit Sans"/>
                <a:ea typeface="Reddit Sans"/>
              </a:rPr>
              <a:t>Servicios</a:t>
            </a:r>
            <a:r>
              <a:rPr lang="es-ES" sz="1050" b="1" dirty="0">
                <a:solidFill>
                  <a:srgbClr val="20835A"/>
                </a:solidFill>
                <a:latin typeface="Reddit Sans"/>
                <a:ea typeface="Reddit Sans"/>
              </a:rPr>
              <a:t> </a:t>
            </a:r>
            <a:r>
              <a:rPr lang="es-ES" sz="1050" b="1" err="1">
                <a:solidFill>
                  <a:srgbClr val="20835A"/>
                </a:solidFill>
                <a:latin typeface="Reddit Sans"/>
                <a:ea typeface="Reddit Sans"/>
              </a:rPr>
              <a:t>Inmersos</a:t>
            </a:r>
            <a:endParaRPr lang="es-ES" sz="1050" b="1" dirty="0" err="1">
              <a:solidFill>
                <a:srgbClr val="20835A"/>
              </a:solidFill>
              <a:latin typeface="Reddit Sans"/>
              <a:ea typeface="Reddit Sans"/>
            </a:endParaRP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B489B904-18CD-43B6-978E-47C9F1181ABD}"/>
              </a:ext>
            </a:extLst>
          </p:cNvPr>
          <p:cNvSpPr>
            <a:spLocks noGrp="1"/>
          </p:cNvSpPr>
          <p:nvPr/>
        </p:nvSpPr>
        <p:spPr>
          <a:xfrm>
            <a:off x="4857750" y="1600200"/>
            <a:ext cx="1504950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RACI y </a:t>
            </a: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gobierno</a:t>
            </a:r>
            <a:endParaRPr lang="es-ES" sz="850" err="1"/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Catálogo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y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alcance</a:t>
            </a:r>
            <a:endParaRPr sz="850" b="0" dirty="0">
              <a:solidFill>
                <a:srgbClr val="172033"/>
              </a:solidFill>
              <a:latin typeface="Reddit Sans"/>
              <a:ea typeface="Reddit Sans"/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Gestión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de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problemas</a:t>
            </a:r>
            <a:endParaRPr sz="850" b="0" dirty="0">
              <a:solidFill>
                <a:srgbClr val="172033"/>
              </a:solidFill>
              <a:latin typeface="Reddit Sans"/>
              <a:ea typeface="Reddit Sans"/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Change enablement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Mejora continua</a:t>
            </a:r>
          </a:p>
        </p:txBody>
      </p:sp>
      <p:sp>
        <p:nvSpPr>
          <p:cNvPr id="13" name="card">
            <a:extLst>
              <a:ext uri="{FF2B5EF4-FFF2-40B4-BE49-F238E27FC236}">
                <a16:creationId xmlns:a16="http://schemas.microsoft.com/office/drawing/2014/main" id="{AE063C85-68A6-4E84-8AD1-1F9494589A2E}"/>
              </a:ext>
            </a:extLst>
          </p:cNvPr>
          <p:cNvSpPr>
            <a:spLocks noGrp="1"/>
          </p:cNvSpPr>
          <p:nvPr/>
        </p:nvSpPr>
        <p:spPr>
          <a:xfrm>
            <a:off x="6858000" y="1143000"/>
            <a:ext cx="1809750" cy="276225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1430">
            <a:solidFill>
              <a:srgbClr val="D47A00"/>
            </a:solidFill>
            <a:prstDash val="solid"/>
          </a:ln>
        </p:spPr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A7B9178B-1F8D-456C-A96D-759C1FB56DFC}"/>
              </a:ext>
            </a:extLst>
          </p:cNvPr>
          <p:cNvSpPr>
            <a:spLocks noGrp="1"/>
          </p:cNvSpPr>
          <p:nvPr/>
        </p:nvSpPr>
        <p:spPr>
          <a:xfrm>
            <a:off x="7010400" y="1276350"/>
            <a:ext cx="1504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47A00"/>
                </a:solidFill>
              </a:defRPr>
            </a:pPr>
            <a:r>
              <a:rPr sz="1050" b="1">
                <a:solidFill>
                  <a:srgbClr val="D47A00"/>
                </a:solidFill>
                <a:latin typeface="Reddit Sans"/>
                <a:ea typeface="Reddit Sans"/>
              </a:rPr>
              <a:t>Complementarios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A4377773-95C5-4298-9334-E2E6C731C576}"/>
              </a:ext>
            </a:extLst>
          </p:cNvPr>
          <p:cNvSpPr>
            <a:spLocks noGrp="1"/>
          </p:cNvSpPr>
          <p:nvPr/>
        </p:nvSpPr>
        <p:spPr>
          <a:xfrm>
            <a:off x="7010400" y="1600200"/>
            <a:ext cx="1504950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Modernización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lang="es-ES" sz="850" dirty="0">
                <a:solidFill>
                  <a:srgbClr val="172033"/>
                </a:solidFill>
                <a:latin typeface="Reddit Sans"/>
                <a:ea typeface="Reddit Sans"/>
              </a:rPr>
              <a:t>de </a:t>
            </a:r>
            <a:r>
              <a:rPr lang="es-ES" sz="850">
                <a:solidFill>
                  <a:srgbClr val="172033"/>
                </a:solidFill>
                <a:latin typeface="Reddit Sans"/>
                <a:ea typeface="Reddit Sans"/>
              </a:rPr>
              <a:t>aplicaciones</a:t>
            </a:r>
            <a:endParaRPr lang="es-ES" sz="850" dirty="0" err="1">
              <a:solidFill>
                <a:srgbClr val="172033"/>
              </a:solidFill>
              <a:latin typeface="Reddit Sans"/>
              <a:ea typeface="Reddit Sans"/>
            </a:endParaRPr>
          </a:p>
          <a:p>
            <a:pPr marL="171450" indent="-171450">
              <a:buChar char="•"/>
              <a:defRPr sz="863" b="0">
                <a:solidFill>
                  <a:srgbClr val="172033"/>
                </a:solidFill>
              </a:defRPr>
            </a:pPr>
            <a:r>
              <a:rPr lang="es-ES" sz="850">
                <a:solidFill>
                  <a:srgbClr val="172033"/>
                </a:solidFill>
                <a:latin typeface="Reddit Sans"/>
                <a:ea typeface="Reddit Sans"/>
              </a:rPr>
              <a:t>Seguridad</a:t>
            </a:r>
            <a:endParaRPr lang="es-ES" sz="850" b="0">
              <a:solidFill>
                <a:srgbClr val="172033"/>
              </a:solidFill>
              <a:latin typeface="Reddit Sans"/>
              <a:ea typeface="Reddit Sans"/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DevOps /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automatización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Performance engineering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Gobierno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de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datos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e IA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BE0BCA3D-F675-40A3-9867-805C6CAD0118}"/>
              </a:ext>
            </a:extLst>
          </p:cNvPr>
          <p:cNvSpPr>
            <a:spLocks noGrp="1"/>
          </p:cNvSpPr>
          <p:nvPr/>
        </p:nvSpPr>
        <p:spPr>
          <a:xfrm>
            <a:off x="802821" y="4234543"/>
            <a:ext cx="7524750" cy="5252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1125" b="1">
                <a:solidFill>
                  <a:srgbClr val="0C2362"/>
                </a:solidFill>
              </a:defRPr>
            </a:pPr>
            <a:r>
              <a:rPr sz="1100" b="1" dirty="0">
                <a:solidFill>
                  <a:srgbClr val="0C2362"/>
                </a:solidFill>
                <a:latin typeface="Reddit Sans"/>
                <a:ea typeface="Reddit Sans"/>
              </a:rPr>
              <a:t>Principio </a:t>
            </a:r>
            <a:r>
              <a:rPr sz="1100" b="1" dirty="0" err="1">
                <a:solidFill>
                  <a:srgbClr val="0C2362"/>
                </a:solidFill>
                <a:latin typeface="Reddit Sans"/>
                <a:ea typeface="Reddit Sans"/>
              </a:rPr>
              <a:t>comercial</a:t>
            </a:r>
            <a:r>
              <a:rPr sz="1100" b="1" dirty="0">
                <a:solidFill>
                  <a:srgbClr val="0C2362"/>
                </a:solidFill>
                <a:latin typeface="Reddit Sans"/>
                <a:ea typeface="Reddit Sans"/>
              </a:rPr>
              <a:t>: </a:t>
            </a:r>
            <a:r>
              <a:rPr lang="es-ES" sz="1100" b="1" dirty="0">
                <a:solidFill>
                  <a:srgbClr val="0C2362"/>
                </a:solidFill>
                <a:latin typeface="Reddit Sans"/>
                <a:ea typeface="Reddit Sans"/>
              </a:rPr>
              <a:t>Herramienta</a:t>
            </a:r>
            <a:r>
              <a:rPr sz="1100" b="1" dirty="0">
                <a:solidFill>
                  <a:srgbClr val="0C2362"/>
                </a:solidFill>
                <a:latin typeface="Reddit Sans"/>
                <a:ea typeface="Reddit Sans"/>
              </a:rPr>
              <a:t> del </a:t>
            </a:r>
            <a:r>
              <a:rPr sz="1100" b="1" dirty="0" err="1">
                <a:solidFill>
                  <a:srgbClr val="0C2362"/>
                </a:solidFill>
                <a:latin typeface="Reddit Sans"/>
                <a:ea typeface="Reddit Sans"/>
              </a:rPr>
              <a:t>cliente</a:t>
            </a:r>
            <a:r>
              <a:rPr sz="1100" b="1" dirty="0">
                <a:solidFill>
                  <a:srgbClr val="0C2362"/>
                </a:solidFill>
                <a:latin typeface="Reddit Sans"/>
                <a:ea typeface="Reddit Sans"/>
              </a:rPr>
              <a:t> primero; </a:t>
            </a:r>
            <a:r>
              <a:rPr sz="1100" b="1" dirty="0" err="1">
                <a:solidFill>
                  <a:srgbClr val="0C2362"/>
                </a:solidFill>
                <a:latin typeface="Reddit Sans"/>
                <a:ea typeface="Reddit Sans"/>
              </a:rPr>
              <a:t>si</a:t>
            </a:r>
            <a:r>
              <a:rPr sz="1100" b="1" dirty="0">
                <a:solidFill>
                  <a:srgbClr val="0C2362"/>
                </a:solidFill>
                <a:latin typeface="Reddit Sans"/>
                <a:ea typeface="Reddit Sans"/>
              </a:rPr>
              <a:t> no </a:t>
            </a:r>
            <a:r>
              <a:rPr sz="1100" b="1" dirty="0" err="1">
                <a:solidFill>
                  <a:srgbClr val="0C2362"/>
                </a:solidFill>
                <a:latin typeface="Reddit Sans"/>
                <a:ea typeface="Reddit Sans"/>
              </a:rPr>
              <a:t>tiene</a:t>
            </a:r>
            <a:r>
              <a:rPr sz="1100" b="1" dirty="0">
                <a:solidFill>
                  <a:srgbClr val="0C2362"/>
                </a:solidFill>
                <a:latin typeface="Reddit Sans"/>
                <a:ea typeface="Reddit Sans"/>
              </a:rPr>
              <a:t>,</a:t>
            </a:r>
            <a:r>
              <a:rPr sz="1100" b="1" dirty="0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 </a:t>
            </a:r>
            <a:r>
              <a:rPr lang="es-ES" sz="1100" b="1" dirty="0" err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PersonalSoft</a:t>
            </a:r>
            <a:r>
              <a:rPr lang="es-ES" sz="1100" b="1" dirty="0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 </a:t>
            </a:r>
            <a:r>
              <a:rPr sz="1100" b="1" dirty="0" err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provee</a:t>
            </a:r>
            <a:r>
              <a:rPr sz="1100" b="1" dirty="0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 </a:t>
            </a:r>
            <a:r>
              <a:rPr sz="1100" b="1" dirty="0" err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una</a:t>
            </a:r>
            <a:r>
              <a:rPr sz="1100" b="1" dirty="0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 </a:t>
            </a:r>
            <a:r>
              <a:rPr sz="1100" b="1" dirty="0" err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herramienta</a:t>
            </a:r>
            <a:r>
              <a:rPr sz="1100" b="1" dirty="0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 </a:t>
            </a:r>
            <a:r>
              <a:rPr sz="1100" b="1" dirty="0" err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estándar</a:t>
            </a:r>
            <a:r>
              <a:rPr sz="1100" b="1" dirty="0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.</a:t>
            </a:r>
            <a:endParaRPr lang="es-ES" sz="1100" b="1" dirty="0">
              <a:solidFill>
                <a:srgbClr val="0C2362"/>
              </a:solidFill>
              <a:highlight>
                <a:srgbClr val="FFFF00"/>
              </a:highlight>
              <a:latin typeface="Reddit Sans"/>
              <a:ea typeface="Reddit Sans"/>
            </a:endParaRPr>
          </a:p>
        </p:txBody>
      </p:sp>
      <p:sp>
        <p:nvSpPr>
          <p:cNvPr id="26" name="src"/>
          <p:cNvSpPr txBox="1">
            <a:spLocks noGrp="1"/>
          </p:cNvSpPr>
          <p:nvPr/>
        </p:nvSpPr>
        <p:spPr>
          <a:xfrm>
            <a:off x="320040" y="44622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3"/>
              </a:rPr>
              <a:t>Gartner IT Service Catalog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4"/>
              </a:rPr>
              <a:t>PeopleCert ITIL v5</a:t>
            </a:r>
          </a:p>
        </p:txBody>
      </p:sp>
    </p:spTree>
    <p:extLst>
      <p:ext uri="{BB962C8B-B14F-4D97-AF65-F5344CB8AC3E}">
        <p14:creationId xmlns:p14="http://schemas.microsoft.com/office/powerpoint/2010/main" val="6396576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">
            <a:extLst>
              <a:ext uri="{FF2B5EF4-FFF2-40B4-BE49-F238E27FC236}">
                <a16:creationId xmlns:a16="http://schemas.microsoft.com/office/drawing/2014/main" id="{4BA2C36F-0C7D-484D-8DC1-8556EF621397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Modelo de soporte por niveles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F8A567B6-6649-4974-859B-C0DF30C9B728}"/>
              </a:ext>
            </a:extLst>
          </p:cNvPr>
          <p:cNvSpPr>
            <a:spLocks noGrp="1"/>
          </p:cNvSpPr>
          <p:nvPr/>
        </p:nvSpPr>
        <p:spPr>
          <a:xfrm>
            <a:off x="361950" y="657225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AAEE0"/>
                </a:solidFill>
              </a:defRPr>
            </a:pPr>
            <a:r>
              <a:rPr sz="1050" b="0">
                <a:solidFill>
                  <a:srgbClr val="9AAEE0"/>
                </a:solidFill>
                <a:latin typeface="Reddit Sans"/>
                <a:ea typeface="Reddit Sans"/>
              </a:rPr>
              <a:t>Shift-left: resolver antes, escalar mejor y dejar evidencia</a:t>
            </a:r>
          </a:p>
        </p:txBody>
      </p:sp>
      <p:sp>
        <p:nvSpPr>
          <p:cNvPr id="3" name="level">
            <a:extLst>
              <a:ext uri="{FF2B5EF4-FFF2-40B4-BE49-F238E27FC236}">
                <a16:creationId xmlns:a16="http://schemas.microsoft.com/office/drawing/2014/main" id="{ADD71AA4-9DBD-4EE8-A09E-680C8A5639E4}"/>
              </a:ext>
            </a:extLst>
          </p:cNvPr>
          <p:cNvSpPr>
            <a:spLocks noGrp="1"/>
          </p:cNvSpPr>
          <p:nvPr/>
        </p:nvSpPr>
        <p:spPr>
          <a:xfrm>
            <a:off x="361950" y="1200150"/>
            <a:ext cx="1428750" cy="2476500"/>
          </a:xfrm>
          <a:prstGeom prst="roundRect">
            <a:avLst>
              <a:gd name="adj" fmla="val 4000"/>
            </a:avLst>
          </a:prstGeom>
          <a:noFill/>
          <a:ln w="11430">
            <a:solidFill>
              <a:srgbClr val="20835A"/>
            </a:solidFill>
            <a:prstDash val="solid"/>
          </a:ln>
        </p:spPr>
      </p:sp>
      <p:sp>
        <p:nvSpPr>
          <p:cNvPr id="4" name="num">
            <a:extLst>
              <a:ext uri="{FF2B5EF4-FFF2-40B4-BE49-F238E27FC236}">
                <a16:creationId xmlns:a16="http://schemas.microsoft.com/office/drawing/2014/main" id="{8CAEFFF1-DC89-4F18-AFEC-4A312E2FC608}"/>
              </a:ext>
            </a:extLst>
          </p:cNvPr>
          <p:cNvSpPr>
            <a:spLocks noGrp="1"/>
          </p:cNvSpPr>
          <p:nvPr/>
        </p:nvSpPr>
        <p:spPr>
          <a:xfrm>
            <a:off x="762000" y="1390650"/>
            <a:ext cx="628650" cy="628650"/>
          </a:xfrm>
          <a:prstGeom prst="ellipse">
            <a:avLst/>
          </a:prstGeom>
          <a:solidFill>
            <a:srgbClr val="20835A"/>
          </a:solidFill>
          <a:ln w="11430">
            <a:solidFill>
              <a:srgbClr val="20835A"/>
            </a:solidFill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19E6F9AB-D72F-4943-B6B7-F9A4E9D4EF9F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62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Reddit Sans"/>
                <a:ea typeface="Reddit Sans"/>
              </a:rPr>
              <a:t>N0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D383DDD-D67F-44EB-9ABF-093AC65F52C5}"/>
              </a:ext>
            </a:extLst>
          </p:cNvPr>
          <p:cNvSpPr>
            <a:spLocks noGrp="1"/>
          </p:cNvSpPr>
          <p:nvPr/>
        </p:nvSpPr>
        <p:spPr>
          <a:xfrm>
            <a:off x="476250" y="2133600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0835A"/>
                </a:solidFill>
              </a:defRPr>
            </a:pPr>
            <a:r>
              <a:rPr sz="1050" b="1">
                <a:solidFill>
                  <a:srgbClr val="20835A"/>
                </a:solidFill>
                <a:latin typeface="Reddit Sans"/>
                <a:ea typeface="Reddit Sans"/>
              </a:rPr>
              <a:t>Autoservicio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5FE1754-B6BE-4985-B05A-0E5D9FAA17AD}"/>
              </a:ext>
            </a:extLst>
          </p:cNvPr>
          <p:cNvSpPr>
            <a:spLocks noGrp="1"/>
          </p:cNvSpPr>
          <p:nvPr/>
        </p:nvSpPr>
        <p:spPr>
          <a:xfrm>
            <a:off x="495300" y="2552700"/>
            <a:ext cx="1162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  <a:latin typeface="Reddit Sans"/>
                <a:ea typeface="Reddit Sans"/>
              </a:rPr>
              <a:t>Deflexión &gt;30%</a:t>
            </a: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  <a:latin typeface="Reddit Sans"/>
                <a:ea typeface="Reddit Sans"/>
              </a:rPr>
              <a:t>Disponible 24x7</a:t>
            </a: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  <a:latin typeface="Reddit Sans"/>
                <a:ea typeface="Reddit Sans"/>
              </a:rPr>
              <a:t>Resuelve solicitudes frecuentes</a:t>
            </a:r>
          </a:p>
        </p:txBody>
      </p:sp>
      <p:sp>
        <p:nvSpPr>
          <p:cNvPr id="8" name="level">
            <a:extLst>
              <a:ext uri="{FF2B5EF4-FFF2-40B4-BE49-F238E27FC236}">
                <a16:creationId xmlns:a16="http://schemas.microsoft.com/office/drawing/2014/main" id="{D49BD82A-E91E-4B4A-A8FE-B3F556108E36}"/>
              </a:ext>
            </a:extLst>
          </p:cNvPr>
          <p:cNvSpPr>
            <a:spLocks noGrp="1"/>
          </p:cNvSpPr>
          <p:nvPr/>
        </p:nvSpPr>
        <p:spPr>
          <a:xfrm>
            <a:off x="2085975" y="1200150"/>
            <a:ext cx="1428750" cy="2476500"/>
          </a:xfrm>
          <a:prstGeom prst="roundRect">
            <a:avLst>
              <a:gd name="adj" fmla="val 4000"/>
            </a:avLst>
          </a:prstGeom>
          <a:noFill/>
          <a:ln w="11430">
            <a:solidFill>
              <a:srgbClr val="087B83"/>
            </a:solidFill>
            <a:prstDash val="solid"/>
          </a:ln>
        </p:spPr>
      </p:sp>
      <p:sp>
        <p:nvSpPr>
          <p:cNvPr id="9" name="num">
            <a:extLst>
              <a:ext uri="{FF2B5EF4-FFF2-40B4-BE49-F238E27FC236}">
                <a16:creationId xmlns:a16="http://schemas.microsoft.com/office/drawing/2014/main" id="{EF31C768-5AB8-49C9-9ABA-1B2F02A5A470}"/>
              </a:ext>
            </a:extLst>
          </p:cNvPr>
          <p:cNvSpPr>
            <a:spLocks noGrp="1"/>
          </p:cNvSpPr>
          <p:nvPr/>
        </p:nvSpPr>
        <p:spPr>
          <a:xfrm>
            <a:off x="2486025" y="1390650"/>
            <a:ext cx="628650" cy="628650"/>
          </a:xfrm>
          <a:prstGeom prst="ellipse">
            <a:avLst/>
          </a:prstGeom>
          <a:solidFill>
            <a:srgbClr val="087B83"/>
          </a:solidFill>
          <a:ln w="11430">
            <a:solidFill>
              <a:srgbClr val="087B83"/>
            </a:solidFill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8AA24BFF-CF1F-4564-97E2-EFD683648E1C}"/>
              </a:ext>
            </a:extLst>
          </p:cNvPr>
          <p:cNvSpPr>
            <a:spLocks noGrp="1"/>
          </p:cNvSpPr>
          <p:nvPr/>
        </p:nvSpPr>
        <p:spPr>
          <a:xfrm>
            <a:off x="2486025" y="1524000"/>
            <a:ext cx="62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Reddit Sans"/>
                <a:ea typeface="Reddit Sans"/>
              </a:rPr>
              <a:t>N1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4B66B86C-C702-4E79-A0FB-5694512375AF}"/>
              </a:ext>
            </a:extLst>
          </p:cNvPr>
          <p:cNvSpPr>
            <a:spLocks noGrp="1"/>
          </p:cNvSpPr>
          <p:nvPr/>
        </p:nvSpPr>
        <p:spPr>
          <a:xfrm>
            <a:off x="2200275" y="2133600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87B83"/>
                </a:solidFill>
              </a:defRPr>
            </a:pPr>
            <a:r>
              <a:rPr sz="1050" b="1">
                <a:solidFill>
                  <a:srgbClr val="087B83"/>
                </a:solidFill>
                <a:latin typeface="Reddit Sans"/>
                <a:ea typeface="Reddit Sans"/>
              </a:rPr>
              <a:t>Front-end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473AC0CD-4379-4211-ACE9-84059576A54D}"/>
              </a:ext>
            </a:extLst>
          </p:cNvPr>
          <p:cNvSpPr>
            <a:spLocks noGrp="1"/>
          </p:cNvSpPr>
          <p:nvPr/>
        </p:nvSpPr>
        <p:spPr>
          <a:xfrm>
            <a:off x="2219325" y="2552700"/>
            <a:ext cx="1162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  <a:latin typeface="Reddit Sans"/>
                <a:ea typeface="Reddit Sans"/>
              </a:rPr>
              <a:t>FCR objetivo &gt;75%</a:t>
            </a: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  <a:latin typeface="Reddit Sans"/>
                <a:ea typeface="Reddit Sans"/>
              </a:rPr>
              <a:t>Registro y categorización</a:t>
            </a: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  <a:latin typeface="Reddit Sans"/>
                <a:ea typeface="Reddit Sans"/>
              </a:rPr>
              <a:t>Comunicación al usuario</a:t>
            </a:r>
          </a:p>
        </p:txBody>
      </p:sp>
      <p:sp>
        <p:nvSpPr>
          <p:cNvPr id="13" name="level">
            <a:extLst>
              <a:ext uri="{FF2B5EF4-FFF2-40B4-BE49-F238E27FC236}">
                <a16:creationId xmlns:a16="http://schemas.microsoft.com/office/drawing/2014/main" id="{DDBC134D-498E-43DA-A553-B4EF3D829B25}"/>
              </a:ext>
            </a:extLst>
          </p:cNvPr>
          <p:cNvSpPr>
            <a:spLocks noGrp="1"/>
          </p:cNvSpPr>
          <p:nvPr/>
        </p:nvSpPr>
        <p:spPr>
          <a:xfrm>
            <a:off x="3810000" y="1200150"/>
            <a:ext cx="1428750" cy="2476500"/>
          </a:xfrm>
          <a:prstGeom prst="roundRect">
            <a:avLst>
              <a:gd name="adj" fmla="val 4000"/>
            </a:avLst>
          </a:prstGeom>
          <a:noFill/>
          <a:ln w="11430">
            <a:solidFill>
              <a:srgbClr val="D47A00"/>
            </a:solidFill>
            <a:prstDash val="solid"/>
          </a:ln>
        </p:spPr>
      </p:sp>
      <p:sp>
        <p:nvSpPr>
          <p:cNvPr id="14" name="num">
            <a:extLst>
              <a:ext uri="{FF2B5EF4-FFF2-40B4-BE49-F238E27FC236}">
                <a16:creationId xmlns:a16="http://schemas.microsoft.com/office/drawing/2014/main" id="{060EE539-2AEA-481D-B74B-93035099920F}"/>
              </a:ext>
            </a:extLst>
          </p:cNvPr>
          <p:cNvSpPr>
            <a:spLocks noGrp="1"/>
          </p:cNvSpPr>
          <p:nvPr/>
        </p:nvSpPr>
        <p:spPr>
          <a:xfrm>
            <a:off x="4210050" y="1390650"/>
            <a:ext cx="628650" cy="628650"/>
          </a:xfrm>
          <a:prstGeom prst="ellipse">
            <a:avLst/>
          </a:prstGeom>
          <a:solidFill>
            <a:srgbClr val="D47A00"/>
          </a:solidFill>
          <a:ln w="11430">
            <a:solidFill>
              <a:srgbClr val="D47A00"/>
            </a:solidFill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4F91EED3-00DE-4038-AC85-29F32029B76F}"/>
              </a:ext>
            </a:extLst>
          </p:cNvPr>
          <p:cNvSpPr>
            <a:spLocks noGrp="1"/>
          </p:cNvSpPr>
          <p:nvPr/>
        </p:nvSpPr>
        <p:spPr>
          <a:xfrm>
            <a:off x="4210050" y="1524000"/>
            <a:ext cx="62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Reddit Sans"/>
                <a:ea typeface="Reddit Sans"/>
              </a:rPr>
              <a:t>N2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FD834AFA-2076-4931-AC6A-9B20FF51636E}"/>
              </a:ext>
            </a:extLst>
          </p:cNvPr>
          <p:cNvSpPr>
            <a:spLocks noGrp="1"/>
          </p:cNvSpPr>
          <p:nvPr/>
        </p:nvSpPr>
        <p:spPr>
          <a:xfrm>
            <a:off x="3924300" y="2133600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D47A00"/>
                </a:solidFill>
              </a:defRPr>
            </a:pPr>
            <a:r>
              <a:rPr sz="1050" b="1">
                <a:solidFill>
                  <a:srgbClr val="D47A00"/>
                </a:solidFill>
                <a:latin typeface="Reddit Sans"/>
                <a:ea typeface="Reddit Sans"/>
              </a:rPr>
              <a:t>Especializado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47AD315E-2B4E-42AA-81D2-CE48C0198C5D}"/>
              </a:ext>
            </a:extLst>
          </p:cNvPr>
          <p:cNvSpPr>
            <a:spLocks noGrp="1"/>
          </p:cNvSpPr>
          <p:nvPr/>
        </p:nvSpPr>
        <p:spPr>
          <a:xfrm>
            <a:off x="3943350" y="2552700"/>
            <a:ext cx="1162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  <a:latin typeface="Reddit Sans"/>
                <a:ea typeface="Reddit Sans"/>
              </a:rPr>
              <a:t>Diagnóstico avanzado</a:t>
            </a: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  <a:latin typeface="Reddit Sans"/>
                <a:ea typeface="Reddit Sans"/>
              </a:rPr>
              <a:t>Soporte aplicativo/campo</a:t>
            </a: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  <a:latin typeface="Reddit Sans"/>
                <a:ea typeface="Reddit Sans"/>
              </a:rPr>
              <a:t>Coordinación proveedores</a:t>
            </a:r>
          </a:p>
        </p:txBody>
      </p:sp>
      <p:sp>
        <p:nvSpPr>
          <p:cNvPr id="18" name="level">
            <a:extLst>
              <a:ext uri="{FF2B5EF4-FFF2-40B4-BE49-F238E27FC236}">
                <a16:creationId xmlns:a16="http://schemas.microsoft.com/office/drawing/2014/main" id="{EAC72BB2-F0A7-4EF7-8256-E9E46144F508}"/>
              </a:ext>
            </a:extLst>
          </p:cNvPr>
          <p:cNvSpPr>
            <a:spLocks noGrp="1"/>
          </p:cNvSpPr>
          <p:nvPr/>
        </p:nvSpPr>
        <p:spPr>
          <a:xfrm>
            <a:off x="5534025" y="1200150"/>
            <a:ext cx="1428750" cy="2476500"/>
          </a:xfrm>
          <a:prstGeom prst="roundRect">
            <a:avLst>
              <a:gd name="adj" fmla="val 4000"/>
            </a:avLst>
          </a:prstGeom>
          <a:noFill/>
          <a:ln w="11430">
            <a:solidFill>
              <a:srgbClr val="163B8C"/>
            </a:solidFill>
            <a:prstDash val="solid"/>
          </a:ln>
        </p:spPr>
      </p:sp>
      <p:sp>
        <p:nvSpPr>
          <p:cNvPr id="19" name="num">
            <a:extLst>
              <a:ext uri="{FF2B5EF4-FFF2-40B4-BE49-F238E27FC236}">
                <a16:creationId xmlns:a16="http://schemas.microsoft.com/office/drawing/2014/main" id="{F01E94BD-7F56-4E89-8B6D-259634408296}"/>
              </a:ext>
            </a:extLst>
          </p:cNvPr>
          <p:cNvSpPr>
            <a:spLocks noGrp="1"/>
          </p:cNvSpPr>
          <p:nvPr/>
        </p:nvSpPr>
        <p:spPr>
          <a:xfrm>
            <a:off x="5934075" y="1390650"/>
            <a:ext cx="628650" cy="628650"/>
          </a:xfrm>
          <a:prstGeom prst="ellipse">
            <a:avLst/>
          </a:prstGeom>
          <a:solidFill>
            <a:srgbClr val="163B8C"/>
          </a:solidFill>
          <a:ln w="11430">
            <a:solidFill>
              <a:srgbClr val="163B8C"/>
            </a:solidFill>
            <a:prstDash val="solid"/>
          </a:ln>
        </p:spPr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E2512E8D-AAC7-46E8-8C00-E162A5E9F315}"/>
              </a:ext>
            </a:extLst>
          </p:cNvPr>
          <p:cNvSpPr>
            <a:spLocks noGrp="1"/>
          </p:cNvSpPr>
          <p:nvPr/>
        </p:nvSpPr>
        <p:spPr>
          <a:xfrm>
            <a:off x="5934075" y="1524000"/>
            <a:ext cx="62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Reddit Sans"/>
                <a:ea typeface="Reddit Sans"/>
              </a:rPr>
              <a:t>N3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BB242D4D-FD09-4F63-8CA0-9821F67FCF9A}"/>
              </a:ext>
            </a:extLst>
          </p:cNvPr>
          <p:cNvSpPr>
            <a:spLocks noGrp="1"/>
          </p:cNvSpPr>
          <p:nvPr/>
        </p:nvSpPr>
        <p:spPr>
          <a:xfrm>
            <a:off x="5648325" y="2133600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63B8C"/>
                </a:solidFill>
              </a:defRPr>
            </a:pPr>
            <a:r>
              <a:rPr sz="1050" b="1">
                <a:solidFill>
                  <a:srgbClr val="163B8C"/>
                </a:solidFill>
                <a:latin typeface="Reddit Sans"/>
                <a:ea typeface="Reddit Sans"/>
              </a:rPr>
              <a:t>Back-end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439A02E6-C1FD-44AE-AAFC-4E454FB96E01}"/>
              </a:ext>
            </a:extLst>
          </p:cNvPr>
          <p:cNvSpPr>
            <a:spLocks noGrp="1"/>
          </p:cNvSpPr>
          <p:nvPr/>
        </p:nvSpPr>
        <p:spPr>
          <a:xfrm>
            <a:off x="5667375" y="2552700"/>
            <a:ext cx="1162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  <a:latin typeface="Reddit Sans"/>
                <a:ea typeface="Reddit Sans"/>
              </a:rPr>
              <a:t>P1/P2 y RCA</a:t>
            </a: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  <a:latin typeface="Reddit Sans"/>
                <a:ea typeface="Reddit Sans"/>
              </a:rPr>
              <a:t>Parches y cambios</a:t>
            </a: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  <a:latin typeface="Reddit Sans"/>
                <a:ea typeface="Reddit Sans"/>
              </a:rPr>
              <a:t>Especialistas de dominio</a:t>
            </a:r>
          </a:p>
        </p:txBody>
      </p:sp>
      <p:sp>
        <p:nvSpPr>
          <p:cNvPr id="23" name="level">
            <a:extLst>
              <a:ext uri="{FF2B5EF4-FFF2-40B4-BE49-F238E27FC236}">
                <a16:creationId xmlns:a16="http://schemas.microsoft.com/office/drawing/2014/main" id="{9407E459-DB56-4ABB-A014-BA866536AB46}"/>
              </a:ext>
            </a:extLst>
          </p:cNvPr>
          <p:cNvSpPr>
            <a:spLocks noGrp="1"/>
          </p:cNvSpPr>
          <p:nvPr/>
        </p:nvSpPr>
        <p:spPr>
          <a:xfrm>
            <a:off x="7258050" y="1200150"/>
            <a:ext cx="1428750" cy="2476500"/>
          </a:xfrm>
          <a:prstGeom prst="roundRect">
            <a:avLst>
              <a:gd name="adj" fmla="val 4000"/>
            </a:avLst>
          </a:prstGeom>
          <a:noFill/>
          <a:ln w="11430">
            <a:solidFill>
              <a:srgbClr val="5B667A"/>
            </a:solidFill>
            <a:prstDash val="solid"/>
          </a:ln>
        </p:spPr>
      </p:sp>
      <p:sp>
        <p:nvSpPr>
          <p:cNvPr id="24" name="num">
            <a:extLst>
              <a:ext uri="{FF2B5EF4-FFF2-40B4-BE49-F238E27FC236}">
                <a16:creationId xmlns:a16="http://schemas.microsoft.com/office/drawing/2014/main" id="{39887DA5-A099-4865-AC83-382C620B4A7E}"/>
              </a:ext>
            </a:extLst>
          </p:cNvPr>
          <p:cNvSpPr>
            <a:spLocks noGrp="1"/>
          </p:cNvSpPr>
          <p:nvPr/>
        </p:nvSpPr>
        <p:spPr>
          <a:xfrm>
            <a:off x="7658100" y="1390650"/>
            <a:ext cx="628650" cy="628650"/>
          </a:xfrm>
          <a:prstGeom prst="ellipse">
            <a:avLst/>
          </a:prstGeom>
          <a:solidFill>
            <a:srgbClr val="5B667A"/>
          </a:solidFill>
          <a:ln w="11430">
            <a:solidFill>
              <a:srgbClr val="5B667A"/>
            </a:solidFill>
            <a:prstDash val="solid"/>
          </a:ln>
        </p:spPr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E8426460-155F-40A5-81AC-6B0D8BBF5629}"/>
              </a:ext>
            </a:extLst>
          </p:cNvPr>
          <p:cNvSpPr>
            <a:spLocks noGrp="1"/>
          </p:cNvSpPr>
          <p:nvPr/>
        </p:nvSpPr>
        <p:spPr>
          <a:xfrm>
            <a:off x="7658100" y="1524000"/>
            <a:ext cx="62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Reddit Sans"/>
                <a:ea typeface="Reddit Sans"/>
              </a:rPr>
              <a:t>N4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B808F776-9559-4B26-AAFF-647D77D945F0}"/>
              </a:ext>
            </a:extLst>
          </p:cNvPr>
          <p:cNvSpPr>
            <a:spLocks noGrp="1"/>
          </p:cNvSpPr>
          <p:nvPr/>
        </p:nvSpPr>
        <p:spPr>
          <a:xfrm>
            <a:off x="7372350" y="2133600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5B667A"/>
                </a:solidFill>
              </a:defRPr>
            </a:pPr>
            <a:r>
              <a:rPr sz="1050" b="1">
                <a:solidFill>
                  <a:srgbClr val="5B667A"/>
                </a:solidFill>
                <a:latin typeface="Reddit Sans"/>
                <a:ea typeface="Reddit Sans"/>
              </a:rPr>
              <a:t>Terceros</a:t>
            </a: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1AC84733-FF56-4FD8-B9B3-01F6AE2B322F}"/>
              </a:ext>
            </a:extLst>
          </p:cNvPr>
          <p:cNvSpPr>
            <a:spLocks noGrp="1"/>
          </p:cNvSpPr>
          <p:nvPr/>
        </p:nvSpPr>
        <p:spPr>
          <a:xfrm>
            <a:off x="7391400" y="2552700"/>
            <a:ext cx="1162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  <a:latin typeface="Reddit Sans"/>
                <a:ea typeface="Reddit Sans"/>
              </a:rPr>
              <a:t>Fabricantes, cloud,</a:t>
            </a: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  <a:latin typeface="Reddit Sans"/>
                <a:ea typeface="Reddit Sans"/>
              </a:rPr>
              <a:t>operadores y soporte</a:t>
            </a: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  <a:latin typeface="Reddit Sans"/>
                <a:ea typeface="Reddit Sans"/>
              </a:rPr>
              <a:t>especializado externo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220DCAEE-9E69-41C0-B01D-7C67772834C2}"/>
              </a:ext>
            </a:extLst>
          </p:cNvPr>
          <p:cNvSpPr>
            <a:spLocks noGrp="1"/>
          </p:cNvSpPr>
          <p:nvPr/>
        </p:nvSpPr>
        <p:spPr>
          <a:xfrm>
            <a:off x="764721" y="4114800"/>
            <a:ext cx="762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C2362"/>
                </a:solidFill>
              </a:defRPr>
            </a:pPr>
            <a:r>
              <a:rPr sz="1350" b="1">
                <a:solidFill>
                  <a:srgbClr val="0C2362"/>
                </a:solidFill>
                <a:latin typeface="Reddit Sans"/>
                <a:ea typeface="Reddit Sans"/>
              </a:rPr>
              <a:t>La clave no es evitar escalamiento; es escalar con contexto, evidencia y aprendizaje.</a:t>
            </a:r>
          </a:p>
        </p:txBody>
      </p:sp>
      <p:sp>
        <p:nvSpPr>
          <p:cNvPr id="38" name="src"/>
          <p:cNvSpPr txBox="1">
            <a:spLocks noGrp="1"/>
          </p:cNvSpPr>
          <p:nvPr/>
        </p:nvSpPr>
        <p:spPr>
          <a:xfrm>
            <a:off x="320040" y="44622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3"/>
              </a:rPr>
              <a:t>HDI Support Center Standard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4"/>
              </a:rPr>
              <a:t>Freshservice Benchmark 2024</a:t>
            </a:r>
          </a:p>
        </p:txBody>
      </p:sp>
    </p:spTree>
    <p:extLst>
      <p:ext uri="{BB962C8B-B14F-4D97-AF65-F5344CB8AC3E}">
        <p14:creationId xmlns:p14="http://schemas.microsoft.com/office/powerpoint/2010/main" val="5963171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">
            <a:extLst>
              <a:ext uri="{FF2B5EF4-FFF2-40B4-BE49-F238E27FC236}">
                <a16:creationId xmlns:a16="http://schemas.microsoft.com/office/drawing/2014/main" id="{F9C8408C-F9F1-4FF9-8A83-3AF25EB4B759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Stack tecnológico: integrarse al ecosistema del cliente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F99B6CF-84D4-4913-B588-3CAA65AFEC04}"/>
              </a:ext>
            </a:extLst>
          </p:cNvPr>
          <p:cNvSpPr>
            <a:spLocks noGrp="1"/>
          </p:cNvSpPr>
          <p:nvPr/>
        </p:nvSpPr>
        <p:spPr>
          <a:xfrm>
            <a:off x="361950" y="657225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AAEE0"/>
                </a:solidFill>
              </a:defRPr>
            </a:pPr>
            <a:r>
              <a:rPr sz="1050" b="0">
                <a:solidFill>
                  <a:srgbClr val="9AAEE0"/>
                </a:solidFill>
                <a:latin typeface="Reddit Sans"/>
                <a:ea typeface="Reddit Sans"/>
              </a:rPr>
              <a:t>Capas mínimas para operar, medir y automatizar sin amarrar al cliente a una herramienta única</a:t>
            </a:r>
          </a:p>
        </p:txBody>
      </p:sp>
      <p:sp>
        <p:nvSpPr>
          <p:cNvPr id="3" name="layer">
            <a:extLst>
              <a:ext uri="{FF2B5EF4-FFF2-40B4-BE49-F238E27FC236}">
                <a16:creationId xmlns:a16="http://schemas.microsoft.com/office/drawing/2014/main" id="{538C9A7E-8E60-4323-A090-E364358D7022}"/>
              </a:ext>
            </a:extLst>
          </p:cNvPr>
          <p:cNvSpPr>
            <a:spLocks noGrp="1"/>
          </p:cNvSpPr>
          <p:nvPr/>
        </p:nvSpPr>
        <p:spPr>
          <a:xfrm>
            <a:off x="876300" y="1028700"/>
            <a:ext cx="7391400" cy="419100"/>
          </a:xfrm>
          <a:prstGeom prst="roundRect">
            <a:avLst>
              <a:gd name="adj" fmla="val 13636"/>
            </a:avLst>
          </a:prstGeom>
          <a:solidFill>
            <a:srgbClr val="F6F8FC"/>
          </a:solidFill>
          <a:ln w="11430">
            <a:solidFill>
              <a:srgbClr val="163B8C"/>
            </a:solidFill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D2A7AB53-8090-466F-9893-E73B6DD61BF6}"/>
              </a:ext>
            </a:extLst>
          </p:cNvPr>
          <p:cNvSpPr>
            <a:spLocks noGrp="1"/>
          </p:cNvSpPr>
          <p:nvPr/>
        </p:nvSpPr>
        <p:spPr>
          <a:xfrm>
            <a:off x="1104900" y="11430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163B8C"/>
                </a:solidFill>
              </a:defRPr>
            </a:pPr>
            <a:r>
              <a:rPr sz="1013" b="1">
                <a:solidFill>
                  <a:srgbClr val="163B8C"/>
                </a:solidFill>
                <a:latin typeface="Reddit Sans"/>
                <a:ea typeface="Reddit Sans"/>
              </a:rPr>
              <a:t>Canales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8C575430-6193-4C63-B135-4BA439C7DE11}"/>
              </a:ext>
            </a:extLst>
          </p:cNvPr>
          <p:cNvSpPr>
            <a:spLocks noGrp="1"/>
          </p:cNvSpPr>
          <p:nvPr/>
        </p:nvSpPr>
        <p:spPr>
          <a:xfrm>
            <a:off x="2857500" y="11430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Portal, chat, WhatsApp, correo, teléfono, API/AIOps</a:t>
            </a:r>
          </a:p>
        </p:txBody>
      </p:sp>
      <p:sp>
        <p:nvSpPr>
          <p:cNvPr id="6" name="layer">
            <a:extLst>
              <a:ext uri="{FF2B5EF4-FFF2-40B4-BE49-F238E27FC236}">
                <a16:creationId xmlns:a16="http://schemas.microsoft.com/office/drawing/2014/main" id="{C441F295-83F4-4548-A6D0-5F51F8A20A11}"/>
              </a:ext>
            </a:extLst>
          </p:cNvPr>
          <p:cNvSpPr>
            <a:spLocks noGrp="1"/>
          </p:cNvSpPr>
          <p:nvPr/>
        </p:nvSpPr>
        <p:spPr>
          <a:xfrm>
            <a:off x="876300" y="1581150"/>
            <a:ext cx="739140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1430">
            <a:solidFill>
              <a:srgbClr val="087B83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898201E-55B3-4B70-8B4D-953CD3C750D9}"/>
              </a:ext>
            </a:extLst>
          </p:cNvPr>
          <p:cNvSpPr>
            <a:spLocks noGrp="1"/>
          </p:cNvSpPr>
          <p:nvPr/>
        </p:nvSpPr>
        <p:spPr>
          <a:xfrm>
            <a:off x="1104900" y="16954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087B83"/>
                </a:solidFill>
              </a:defRPr>
            </a:pPr>
            <a:r>
              <a:rPr sz="1013" b="1">
                <a:solidFill>
                  <a:srgbClr val="087B83"/>
                </a:solidFill>
                <a:latin typeface="Reddit Sans"/>
                <a:ea typeface="Reddit Sans"/>
              </a:rPr>
              <a:t>ITSM / CMDB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6FBB9CD-0D24-4B36-BB67-F65BDD529EB6}"/>
              </a:ext>
            </a:extLst>
          </p:cNvPr>
          <p:cNvSpPr>
            <a:spLocks noGrp="1"/>
          </p:cNvSpPr>
          <p:nvPr/>
        </p:nvSpPr>
        <p:spPr>
          <a:xfrm>
            <a:off x="2857500" y="16954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ServiceNow, Jira SM, ADO, ManageEngine o herramienta PS</a:t>
            </a:r>
          </a:p>
        </p:txBody>
      </p:sp>
      <p:sp>
        <p:nvSpPr>
          <p:cNvPr id="9" name="layer">
            <a:extLst>
              <a:ext uri="{FF2B5EF4-FFF2-40B4-BE49-F238E27FC236}">
                <a16:creationId xmlns:a16="http://schemas.microsoft.com/office/drawing/2014/main" id="{26BFFD6D-0A44-4AC4-A766-262D23846206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7391400" cy="419100"/>
          </a:xfrm>
          <a:prstGeom prst="roundRect">
            <a:avLst>
              <a:gd name="adj" fmla="val 13636"/>
            </a:avLst>
          </a:prstGeom>
          <a:solidFill>
            <a:srgbClr val="F6F8FC"/>
          </a:solidFill>
          <a:ln w="11430">
            <a:solidFill>
              <a:srgbClr val="7057E9"/>
            </a:solidFill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C8F4A7BE-BEA4-46EA-82AD-493EDB21D41D}"/>
              </a:ext>
            </a:extLst>
          </p:cNvPr>
          <p:cNvSpPr>
            <a:spLocks noGrp="1"/>
          </p:cNvSpPr>
          <p:nvPr/>
        </p:nvSpPr>
        <p:spPr>
          <a:xfrm>
            <a:off x="1104900" y="22479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7057E9"/>
                </a:solidFill>
              </a:defRPr>
            </a:pPr>
            <a:r>
              <a:rPr sz="1013" b="1">
                <a:solidFill>
                  <a:srgbClr val="7057E9"/>
                </a:solidFill>
                <a:latin typeface="Reddit Sans"/>
                <a:ea typeface="Reddit Sans"/>
              </a:rPr>
              <a:t>Conocimiento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CE697010-83B8-4D18-BC4D-85D49DAAC087}"/>
              </a:ext>
            </a:extLst>
          </p:cNvPr>
          <p:cNvSpPr>
            <a:spLocks noGrp="1"/>
          </p:cNvSpPr>
          <p:nvPr/>
        </p:nvSpPr>
        <p:spPr>
          <a:xfrm>
            <a:off x="2857500" y="22479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KEDB, KCS, Confluence, SharePoint, artículos generados</a:t>
            </a:r>
          </a:p>
        </p:txBody>
      </p:sp>
      <p:sp>
        <p:nvSpPr>
          <p:cNvPr id="12" name="layer">
            <a:extLst>
              <a:ext uri="{FF2B5EF4-FFF2-40B4-BE49-F238E27FC236}">
                <a16:creationId xmlns:a16="http://schemas.microsoft.com/office/drawing/2014/main" id="{8BF0411D-3DEB-4455-A21F-FC69D475C426}"/>
              </a:ext>
            </a:extLst>
          </p:cNvPr>
          <p:cNvSpPr>
            <a:spLocks noGrp="1"/>
          </p:cNvSpPr>
          <p:nvPr/>
        </p:nvSpPr>
        <p:spPr>
          <a:xfrm>
            <a:off x="876300" y="2686050"/>
            <a:ext cx="739140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1430">
            <a:solidFill>
              <a:srgbClr val="20835A"/>
            </a:solidFill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D03620C4-45AF-4D52-95EC-0BFF40943DD5}"/>
              </a:ext>
            </a:extLst>
          </p:cNvPr>
          <p:cNvSpPr>
            <a:spLocks noGrp="1"/>
          </p:cNvSpPr>
          <p:nvPr/>
        </p:nvSpPr>
        <p:spPr>
          <a:xfrm>
            <a:off x="1104900" y="28003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20835A"/>
                </a:solidFill>
              </a:defRPr>
            </a:pPr>
            <a:r>
              <a:rPr sz="1013" b="1">
                <a:solidFill>
                  <a:srgbClr val="20835A"/>
                </a:solidFill>
                <a:latin typeface="Reddit Sans"/>
                <a:ea typeface="Reddit Sans"/>
              </a:rPr>
              <a:t>IA / AIOps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69BD8F76-D60B-442D-9E63-D036643AD169}"/>
              </a:ext>
            </a:extLst>
          </p:cNvPr>
          <p:cNvSpPr>
            <a:spLocks noGrp="1"/>
          </p:cNvSpPr>
          <p:nvPr/>
        </p:nvSpPr>
        <p:spPr>
          <a:xfrm>
            <a:off x="2857500" y="28003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Agent assist, NLP, observabilidad, correlación y runbooks</a:t>
            </a:r>
          </a:p>
        </p:txBody>
      </p:sp>
      <p:sp>
        <p:nvSpPr>
          <p:cNvPr id="15" name="layer">
            <a:extLst>
              <a:ext uri="{FF2B5EF4-FFF2-40B4-BE49-F238E27FC236}">
                <a16:creationId xmlns:a16="http://schemas.microsoft.com/office/drawing/2014/main" id="{950D358F-F7D6-460D-A2BD-B9DE783BE7B6}"/>
              </a:ext>
            </a:extLst>
          </p:cNvPr>
          <p:cNvSpPr>
            <a:spLocks noGrp="1"/>
          </p:cNvSpPr>
          <p:nvPr/>
        </p:nvSpPr>
        <p:spPr>
          <a:xfrm>
            <a:off x="876300" y="3238500"/>
            <a:ext cx="7391400" cy="419100"/>
          </a:xfrm>
          <a:prstGeom prst="roundRect">
            <a:avLst>
              <a:gd name="adj" fmla="val 13636"/>
            </a:avLst>
          </a:prstGeom>
          <a:solidFill>
            <a:srgbClr val="F6F8FC"/>
          </a:solidFill>
          <a:ln w="11430">
            <a:solidFill>
              <a:srgbClr val="D47A00"/>
            </a:solidFill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A302AD2D-E25D-4A10-98EF-2CFC1129B8AF}"/>
              </a:ext>
            </a:extLst>
          </p:cNvPr>
          <p:cNvSpPr>
            <a:spLocks noGrp="1"/>
          </p:cNvSpPr>
          <p:nvPr/>
        </p:nvSpPr>
        <p:spPr>
          <a:xfrm>
            <a:off x="1104900" y="33528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D47A00"/>
                </a:solidFill>
              </a:defRPr>
            </a:pPr>
            <a:r>
              <a:rPr sz="1013" b="1">
                <a:solidFill>
                  <a:srgbClr val="D47A00"/>
                </a:solidFill>
                <a:latin typeface="Reddit Sans"/>
                <a:ea typeface="Reddit Sans"/>
              </a:rPr>
              <a:t>Gobierno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5ADA952B-A53E-4E8D-BD2E-66B9B2C37131}"/>
              </a:ext>
            </a:extLst>
          </p:cNvPr>
          <p:cNvSpPr>
            <a:spLocks noGrp="1"/>
          </p:cNvSpPr>
          <p:nvPr/>
        </p:nvSpPr>
        <p:spPr>
          <a:xfrm>
            <a:off x="2857500" y="33528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Dashboards, SLA/XLA, CSAT, auditoría IA, cumplimiento</a:t>
            </a:r>
          </a:p>
        </p:txBody>
      </p:sp>
      <p:sp>
        <p:nvSpPr>
          <p:cNvPr id="18" name="layer">
            <a:extLst>
              <a:ext uri="{FF2B5EF4-FFF2-40B4-BE49-F238E27FC236}">
                <a16:creationId xmlns:a16="http://schemas.microsoft.com/office/drawing/2014/main" id="{B8C261E1-F43F-4731-B424-1A96046B6A54}"/>
              </a:ext>
            </a:extLst>
          </p:cNvPr>
          <p:cNvSpPr>
            <a:spLocks noGrp="1"/>
          </p:cNvSpPr>
          <p:nvPr/>
        </p:nvSpPr>
        <p:spPr>
          <a:xfrm>
            <a:off x="876300" y="3790950"/>
            <a:ext cx="739140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1430">
            <a:solidFill>
              <a:srgbClr val="5B667A"/>
            </a:solidFill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E346C4B4-DF1D-4BD3-AFE6-7C0818FC1818}"/>
              </a:ext>
            </a:extLst>
          </p:cNvPr>
          <p:cNvSpPr>
            <a:spLocks noGrp="1"/>
          </p:cNvSpPr>
          <p:nvPr/>
        </p:nvSpPr>
        <p:spPr>
          <a:xfrm>
            <a:off x="1104900" y="39052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5B667A"/>
                </a:solidFill>
              </a:defRPr>
            </a:pPr>
            <a:r>
              <a:rPr sz="1013" b="1">
                <a:solidFill>
                  <a:srgbClr val="5B667A"/>
                </a:solidFill>
                <a:latin typeface="Reddit Sans"/>
                <a:ea typeface="Reddit Sans"/>
              </a:rPr>
              <a:t>Seguridad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5940D614-BA13-44F4-9ED4-A5C358C8EB51}"/>
              </a:ext>
            </a:extLst>
          </p:cNvPr>
          <p:cNvSpPr>
            <a:spLocks noGrp="1"/>
          </p:cNvSpPr>
          <p:nvPr/>
        </p:nvSpPr>
        <p:spPr>
          <a:xfrm>
            <a:off x="2857500" y="39052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SSO/IAM, VPN, cifrado, backup, ISO 27001 / ISO 42001</a:t>
            </a:r>
          </a:p>
        </p:txBody>
      </p:sp>
      <p:sp>
        <p:nvSpPr>
          <p:cNvPr id="30" name="src"/>
          <p:cNvSpPr txBox="1">
            <a:spLocks noGrp="1"/>
          </p:cNvSpPr>
          <p:nvPr/>
        </p:nvSpPr>
        <p:spPr>
          <a:xfrm>
            <a:off x="320040" y="44622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3"/>
              </a:rPr>
              <a:t>Gartner ITSM Tech Stack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4"/>
              </a:rPr>
              <a:t>PeopleCert ITIL v5</a:t>
            </a:r>
          </a:p>
        </p:txBody>
      </p:sp>
    </p:spTree>
    <p:extLst>
      <p:ext uri="{BB962C8B-B14F-4D97-AF65-F5344CB8AC3E}">
        <p14:creationId xmlns:p14="http://schemas.microsoft.com/office/powerpoint/2010/main" val="5963171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">
            <a:extLst>
              <a:ext uri="{FF2B5EF4-FFF2-40B4-BE49-F238E27FC236}">
                <a16:creationId xmlns:a16="http://schemas.microsoft.com/office/drawing/2014/main" id="{F4A9ED1E-6E58-41EF-B33E-D84FAD858499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Gobierno operativo: el servicio se controla por ciclos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6DBF556-EF1C-4B10-9F4F-1368A35BCE1C}"/>
              </a:ext>
            </a:extLst>
          </p:cNvPr>
          <p:cNvSpPr>
            <a:spLocks noGrp="1"/>
          </p:cNvSpPr>
          <p:nvPr/>
        </p:nvSpPr>
        <p:spPr>
          <a:xfrm>
            <a:off x="361950" y="657225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AAEE0"/>
                </a:solidFill>
              </a:defRPr>
            </a:pPr>
            <a:r>
              <a:rPr sz="1050" b="0">
                <a:solidFill>
                  <a:srgbClr val="9AAEE0"/>
                </a:solidFill>
                <a:latin typeface="Reddit Sans"/>
                <a:ea typeface="Reddit Sans"/>
              </a:rPr>
              <a:t>Rutinas claras para que la mejora no dependa de héroes</a:t>
            </a:r>
          </a:p>
        </p:txBody>
      </p:sp>
      <p:sp>
        <p:nvSpPr>
          <p:cNvPr id="3" name="card">
            <a:extLst>
              <a:ext uri="{FF2B5EF4-FFF2-40B4-BE49-F238E27FC236}">
                <a16:creationId xmlns:a16="http://schemas.microsoft.com/office/drawing/2014/main" id="{33A0200C-2BF8-4C5F-A91E-90828BE0D397}"/>
              </a:ext>
            </a:extLst>
          </p:cNvPr>
          <p:cNvSpPr>
            <a:spLocks noGrp="1"/>
          </p:cNvSpPr>
          <p:nvPr/>
        </p:nvSpPr>
        <p:spPr>
          <a:xfrm>
            <a:off x="457200" y="1143000"/>
            <a:ext cx="2476500" cy="1714500"/>
          </a:xfrm>
          <a:prstGeom prst="roundRect">
            <a:avLst>
              <a:gd name="adj" fmla="val 333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D1D3C868-8914-4670-9279-9CF67622913F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2171700" cy="2476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87B83"/>
                </a:solidFill>
              </a:defRPr>
            </a:pPr>
            <a:r>
              <a:rPr sz="1050" b="1">
                <a:solidFill>
                  <a:srgbClr val="087B83"/>
                </a:solidFill>
                <a:latin typeface="Reddit Sans"/>
                <a:ea typeface="Reddit Sans"/>
              </a:rPr>
              <a:t>Diario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9EB56C4-CE10-41E0-9D9D-FC95A1D96D89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2171700" cy="11620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Stand-up </a:t>
            </a: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operativo</a:t>
            </a:r>
            <a:endParaRPr lang="es-ES" sz="850" err="1"/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Tickets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críticos</a:t>
            </a:r>
            <a:endParaRPr sz="850" b="0" dirty="0">
              <a:solidFill>
                <a:srgbClr val="172033"/>
              </a:solidFill>
              <a:latin typeface="Reddit Sans"/>
              <a:ea typeface="Reddit Sans"/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Alertas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AIOps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Bloqueos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de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capacidad</a:t>
            </a:r>
            <a:endParaRPr sz="850" b="0" dirty="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6" name="card">
            <a:extLst>
              <a:ext uri="{FF2B5EF4-FFF2-40B4-BE49-F238E27FC236}">
                <a16:creationId xmlns:a16="http://schemas.microsoft.com/office/drawing/2014/main" id="{B547BFEC-93BA-4C75-BE1A-6691CEACA597}"/>
              </a:ext>
            </a:extLst>
          </p:cNvPr>
          <p:cNvSpPr>
            <a:spLocks noGrp="1"/>
          </p:cNvSpPr>
          <p:nvPr/>
        </p:nvSpPr>
        <p:spPr>
          <a:xfrm>
            <a:off x="3333750" y="1143000"/>
            <a:ext cx="2476500" cy="1714500"/>
          </a:xfrm>
          <a:prstGeom prst="roundRect">
            <a:avLst>
              <a:gd name="adj" fmla="val 333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0E91D4E0-1A53-4498-B1E3-FAF7EDBB8DB1}"/>
              </a:ext>
            </a:extLst>
          </p:cNvPr>
          <p:cNvSpPr>
            <a:spLocks noGrp="1"/>
          </p:cNvSpPr>
          <p:nvPr/>
        </p:nvSpPr>
        <p:spPr>
          <a:xfrm>
            <a:off x="3486150" y="1276350"/>
            <a:ext cx="2171700" cy="2476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63B8C"/>
                </a:solidFill>
              </a:defRPr>
            </a:pPr>
            <a:r>
              <a:rPr sz="1050" b="1">
                <a:solidFill>
                  <a:srgbClr val="163B8C"/>
                </a:solidFill>
                <a:latin typeface="Reddit Sans"/>
                <a:ea typeface="Reddit Sans"/>
              </a:rPr>
              <a:t>Semanal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567563FF-C2D7-4634-8F36-C5B3AD8BBC1C}"/>
              </a:ext>
            </a:extLst>
          </p:cNvPr>
          <p:cNvSpPr>
            <a:spLocks noGrp="1"/>
          </p:cNvSpPr>
          <p:nvPr/>
        </p:nvSpPr>
        <p:spPr>
          <a:xfrm>
            <a:off x="3486150" y="1600200"/>
            <a:ext cx="2171700" cy="11620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Revisión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SLA/XLA</a:t>
            </a:r>
            <a:endParaRPr lang="es-ES" sz="850" dirty="0"/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Tendencias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RCA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Backlog y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cambios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Actualización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KEDB</a:t>
            </a:r>
          </a:p>
        </p:txBody>
      </p:sp>
      <p:sp>
        <p:nvSpPr>
          <p:cNvPr id="9" name="card">
            <a:extLst>
              <a:ext uri="{FF2B5EF4-FFF2-40B4-BE49-F238E27FC236}">
                <a16:creationId xmlns:a16="http://schemas.microsoft.com/office/drawing/2014/main" id="{C4EFE8A7-55E9-4877-9914-1774E17DC9FD}"/>
              </a:ext>
            </a:extLst>
          </p:cNvPr>
          <p:cNvSpPr>
            <a:spLocks noGrp="1"/>
          </p:cNvSpPr>
          <p:nvPr/>
        </p:nvSpPr>
        <p:spPr>
          <a:xfrm>
            <a:off x="6210300" y="1143000"/>
            <a:ext cx="2476500" cy="1714500"/>
          </a:xfrm>
          <a:prstGeom prst="roundRect">
            <a:avLst>
              <a:gd name="adj" fmla="val 333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C96F2F58-7ED2-47BB-BCE8-4EB7A911875C}"/>
              </a:ext>
            </a:extLst>
          </p:cNvPr>
          <p:cNvSpPr>
            <a:spLocks noGrp="1"/>
          </p:cNvSpPr>
          <p:nvPr/>
        </p:nvSpPr>
        <p:spPr>
          <a:xfrm>
            <a:off x="6362700" y="1276350"/>
            <a:ext cx="2171700" cy="2476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47A00"/>
                </a:solidFill>
              </a:defRPr>
            </a:pPr>
            <a:r>
              <a:rPr sz="1050" b="1">
                <a:solidFill>
                  <a:srgbClr val="D47A00"/>
                </a:solidFill>
                <a:latin typeface="Reddit Sans"/>
                <a:ea typeface="Reddit Sans"/>
              </a:rPr>
              <a:t>Mensual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BC0E508C-8AAF-4375-A547-8BC504097420}"/>
              </a:ext>
            </a:extLst>
          </p:cNvPr>
          <p:cNvSpPr>
            <a:spLocks noGrp="1"/>
          </p:cNvSpPr>
          <p:nvPr/>
        </p:nvSpPr>
        <p:spPr>
          <a:xfrm>
            <a:off x="6362700" y="1600200"/>
            <a:ext cx="2171700" cy="11620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Service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Review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cliente</a:t>
            </a:r>
            <a:endParaRPr lang="es-ES" sz="850" dirty="0" err="1"/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Reporte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ejecutivo</a:t>
            </a:r>
            <a:endParaRPr sz="850" b="0" dirty="0">
              <a:solidFill>
                <a:srgbClr val="172033"/>
              </a:solidFill>
              <a:latin typeface="Reddit Sans"/>
              <a:ea typeface="Reddit Sans"/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Plan de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mejora</a:t>
            </a:r>
            <a:endParaRPr sz="850" b="0" dirty="0">
              <a:solidFill>
                <a:srgbClr val="172033"/>
              </a:solidFill>
              <a:latin typeface="Reddit Sans"/>
              <a:ea typeface="Reddit Sans"/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Ajustes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de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alcance</a:t>
            </a:r>
            <a:endParaRPr sz="850" b="0" dirty="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12" name="governance">
            <a:extLst>
              <a:ext uri="{FF2B5EF4-FFF2-40B4-BE49-F238E27FC236}">
                <a16:creationId xmlns:a16="http://schemas.microsoft.com/office/drawing/2014/main" id="{18F64C68-39AB-4412-8B1C-85FD59229663}"/>
              </a:ext>
            </a:extLst>
          </p:cNvPr>
          <p:cNvSpPr>
            <a:spLocks noGrp="1"/>
          </p:cNvSpPr>
          <p:nvPr/>
        </p:nvSpPr>
        <p:spPr>
          <a:xfrm>
            <a:off x="457200" y="2986768"/>
            <a:ext cx="2313215" cy="1641021"/>
          </a:xfrm>
          <a:prstGeom prst="roundRect">
            <a:avLst>
              <a:gd name="adj" fmla="val 9091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2B9ED9C4-70A3-47A1-9209-3EF909CF5FD8}"/>
              </a:ext>
            </a:extLst>
          </p:cNvPr>
          <p:cNvSpPr>
            <a:spLocks noGrp="1"/>
          </p:cNvSpPr>
          <p:nvPr/>
        </p:nvSpPr>
        <p:spPr>
          <a:xfrm>
            <a:off x="661307" y="3061607"/>
            <a:ext cx="1807029" cy="10640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050" b="1">
                <a:solidFill>
                  <a:srgbClr val="0C2362"/>
                </a:solidFill>
              </a:defRPr>
            </a:pPr>
            <a:r>
              <a:rPr sz="1050" b="1">
                <a:solidFill>
                  <a:srgbClr val="0C2362"/>
                </a:solidFill>
                <a:latin typeface="Reddit Sans"/>
                <a:ea typeface="Reddit Sans"/>
              </a:rPr>
              <a:t>Roles </a:t>
            </a:r>
            <a:r>
              <a:rPr lang="es-ES" sz="1050" b="1">
                <a:solidFill>
                  <a:srgbClr val="0C2362"/>
                </a:solidFill>
                <a:latin typeface="Reddit Sans"/>
                <a:ea typeface="Reddit Sans"/>
              </a:rPr>
              <a:t>mínimos</a:t>
            </a:r>
            <a:r>
              <a:rPr sz="1050" b="1">
                <a:solidFill>
                  <a:srgbClr val="0C2362"/>
                </a:solidFill>
                <a:latin typeface="Reddit Sans"/>
                <a:ea typeface="Reddit Sans"/>
              </a:rPr>
              <a:t>: </a:t>
            </a:r>
            <a:endParaRPr lang="es-ES"/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sz="850" err="1">
                <a:solidFill>
                  <a:srgbClr val="172033"/>
                </a:solidFill>
                <a:latin typeface="Reddit Sans"/>
                <a:ea typeface="Reddit Sans"/>
              </a:rPr>
              <a:t>Gerente</a:t>
            </a:r>
            <a:r>
              <a:rPr sz="850">
                <a:solidFill>
                  <a:srgbClr val="172033"/>
                </a:solidFill>
                <a:latin typeface="Reddit Sans"/>
                <a:ea typeface="Reddit Sans"/>
              </a:rPr>
              <a:t> de Mesa</a:t>
            </a:r>
            <a:endParaRPr lang="es-ES" sz="850">
              <a:solidFill>
                <a:srgbClr val="172033"/>
              </a:solidFill>
              <a:latin typeface="Reddit Sans"/>
              <a:ea typeface="Reddit Sans"/>
            </a:endParaRP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sz="850" err="1">
                <a:solidFill>
                  <a:srgbClr val="172033"/>
                </a:solidFill>
                <a:latin typeface="Reddit Sans"/>
                <a:ea typeface="Reddit Sans"/>
              </a:rPr>
              <a:t>Coordinador</a:t>
            </a:r>
            <a:r>
              <a:rPr sz="850">
                <a:solidFill>
                  <a:srgbClr val="172033"/>
                </a:solidFill>
                <a:latin typeface="Reddit Sans"/>
                <a:ea typeface="Reddit Sans"/>
              </a:rPr>
              <a:t> de Servicio</a:t>
            </a:r>
            <a:endParaRPr lang="es-ES" sz="850">
              <a:solidFill>
                <a:srgbClr val="172033"/>
              </a:solidFill>
              <a:latin typeface="Reddit Sans"/>
              <a:ea typeface="Reddit Sans"/>
            </a:endParaRP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sz="850" err="1">
                <a:solidFill>
                  <a:srgbClr val="172033"/>
                </a:solidFill>
                <a:latin typeface="Reddit Sans"/>
                <a:ea typeface="Reddit Sans"/>
              </a:rPr>
              <a:t>Líder</a:t>
            </a:r>
            <a:r>
              <a:rPr sz="850" dirty="0">
                <a:solidFill>
                  <a:srgbClr val="172033"/>
                </a:solidFill>
                <a:latin typeface="Reddit Sans"/>
                <a:ea typeface="Reddit Sans"/>
              </a:rPr>
              <a:t> Técnico, </a:t>
            </a:r>
            <a:r>
              <a:rPr sz="850" err="1">
                <a:solidFill>
                  <a:srgbClr val="172033"/>
                </a:solidFill>
                <a:latin typeface="Reddit Sans"/>
                <a:ea typeface="Reddit Sans"/>
              </a:rPr>
              <a:t>Analistas</a:t>
            </a:r>
            <a:r>
              <a:rPr sz="850" dirty="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sz="850">
                <a:solidFill>
                  <a:srgbClr val="172033"/>
                </a:solidFill>
                <a:latin typeface="Reddit Sans"/>
                <a:ea typeface="Reddit Sans"/>
              </a:rPr>
              <a:t>N1/</a:t>
            </a:r>
            <a:r>
              <a:rPr lang="es-ES" sz="850">
                <a:solidFill>
                  <a:srgbClr val="172033"/>
                </a:solidFill>
                <a:latin typeface="Reddit Sans"/>
                <a:ea typeface="Reddit Sans"/>
              </a:rPr>
              <a:t>N2</a:t>
            </a: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lang="es-ES" sz="850" err="1">
                <a:solidFill>
                  <a:srgbClr val="172033"/>
                </a:solidFill>
                <a:latin typeface="Reddit Sans"/>
                <a:ea typeface="Reddit Sans"/>
              </a:rPr>
              <a:t>Especialistas</a:t>
            </a:r>
            <a:r>
              <a:rPr sz="850" dirty="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lang="es-ES" sz="850">
                <a:solidFill>
                  <a:srgbClr val="172033"/>
                </a:solidFill>
                <a:latin typeface="Reddit Sans"/>
                <a:ea typeface="Reddit Sans"/>
              </a:rPr>
              <a:t>N3</a:t>
            </a: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lang="es-ES" sz="850">
                <a:solidFill>
                  <a:srgbClr val="172033"/>
                </a:solidFill>
                <a:latin typeface="Reddit Sans"/>
                <a:ea typeface="Reddit Sans"/>
              </a:rPr>
              <a:t>Gobierno</a:t>
            </a:r>
            <a:r>
              <a:rPr sz="850" dirty="0">
                <a:solidFill>
                  <a:srgbClr val="172033"/>
                </a:solidFill>
                <a:latin typeface="Reddit Sans"/>
                <a:ea typeface="Reddit Sans"/>
              </a:rPr>
              <a:t> IA/Datos.</a:t>
            </a:r>
            <a:endParaRPr sz="85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23" name="src"/>
          <p:cNvSpPr txBox="1">
            <a:spLocks noGrp="1"/>
          </p:cNvSpPr>
          <p:nvPr/>
        </p:nvSpPr>
        <p:spPr>
          <a:xfrm>
            <a:off x="320040" y="44622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3"/>
              </a:rPr>
              <a:t>ITIL v5 Operate Stage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4"/>
              </a:rPr>
              <a:t>MetricNet Service Desk</a:t>
            </a:r>
          </a:p>
        </p:txBody>
      </p:sp>
    </p:spTree>
    <p:extLst>
      <p:ext uri="{BB962C8B-B14F-4D97-AF65-F5344CB8AC3E}">
        <p14:creationId xmlns:p14="http://schemas.microsoft.com/office/powerpoint/2010/main" val="5963171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">
            <a:extLst>
              <a:ext uri="{FF2B5EF4-FFF2-40B4-BE49-F238E27FC236}">
                <a16:creationId xmlns:a16="http://schemas.microsoft.com/office/drawing/2014/main" id="{106B552C-4355-4AE2-9410-1725D41D4113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Métricas del servicio: de tickets cerrados a valor demostrado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A6037EDF-6415-4C01-BD05-61D7B035B888}"/>
              </a:ext>
            </a:extLst>
          </p:cNvPr>
          <p:cNvSpPr>
            <a:spLocks noGrp="1"/>
          </p:cNvSpPr>
          <p:nvPr/>
        </p:nvSpPr>
        <p:spPr>
          <a:xfrm>
            <a:off x="361950" y="657225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AAEE0"/>
                </a:solidFill>
              </a:defRPr>
            </a:pPr>
            <a:r>
              <a:rPr sz="1050" b="0">
                <a:solidFill>
                  <a:srgbClr val="9AAEE0"/>
                </a:solidFill>
                <a:latin typeface="Reddit Sans"/>
                <a:ea typeface="Reddit Sans"/>
              </a:rPr>
              <a:t>El tablero debe combinar operación, experiencia, economía y evolución</a:t>
            </a:r>
          </a:p>
        </p:txBody>
      </p:sp>
      <p:sp>
        <p:nvSpPr>
          <p:cNvPr id="3" name="card">
            <a:extLst>
              <a:ext uri="{FF2B5EF4-FFF2-40B4-BE49-F238E27FC236}">
                <a16:creationId xmlns:a16="http://schemas.microsoft.com/office/drawing/2014/main" id="{70B14468-72BC-4B35-ADF5-A730CD4365C1}"/>
              </a:ext>
            </a:extLst>
          </p:cNvPr>
          <p:cNvSpPr>
            <a:spLocks noGrp="1"/>
          </p:cNvSpPr>
          <p:nvPr/>
        </p:nvSpPr>
        <p:spPr>
          <a:xfrm>
            <a:off x="523875" y="1104900"/>
            <a:ext cx="3714750" cy="1219200"/>
          </a:xfrm>
          <a:prstGeom prst="roundRect">
            <a:avLst>
              <a:gd name="adj" fmla="val 4688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6BE2B1AF-40A1-4893-AD40-72825B0CE011}"/>
              </a:ext>
            </a:extLst>
          </p:cNvPr>
          <p:cNvSpPr>
            <a:spLocks noGrp="1"/>
          </p:cNvSpPr>
          <p:nvPr/>
        </p:nvSpPr>
        <p:spPr>
          <a:xfrm>
            <a:off x="676275" y="1238250"/>
            <a:ext cx="3409950" cy="2476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63B8C"/>
                </a:solidFill>
              </a:defRPr>
            </a:pPr>
            <a:r>
              <a:rPr sz="1050" b="1">
                <a:solidFill>
                  <a:srgbClr val="163B8C"/>
                </a:solidFill>
                <a:latin typeface="Reddit Sans"/>
                <a:ea typeface="Reddit Sans"/>
              </a:rPr>
              <a:t>Operación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49CC4CB-8055-49BE-AC29-D8D09D268D3B}"/>
              </a:ext>
            </a:extLst>
          </p:cNvPr>
          <p:cNvSpPr>
            <a:spLocks noGrp="1"/>
          </p:cNvSpPr>
          <p:nvPr/>
        </p:nvSpPr>
        <p:spPr>
          <a:xfrm>
            <a:off x="676275" y="1562100"/>
            <a:ext cx="3409950" cy="6667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FCR</a:t>
            </a:r>
            <a:endParaRPr lang="es-ES"/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MTTR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Cumplimiento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SLA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Backlog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por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prioridad</a:t>
            </a:r>
            <a:endParaRPr sz="850" b="0" dirty="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6" name="card">
            <a:extLst>
              <a:ext uri="{FF2B5EF4-FFF2-40B4-BE49-F238E27FC236}">
                <a16:creationId xmlns:a16="http://schemas.microsoft.com/office/drawing/2014/main" id="{AF662970-52ED-4834-BF9D-E4C09E03FBD4}"/>
              </a:ext>
            </a:extLst>
          </p:cNvPr>
          <p:cNvSpPr>
            <a:spLocks noGrp="1"/>
          </p:cNvSpPr>
          <p:nvPr/>
        </p:nvSpPr>
        <p:spPr>
          <a:xfrm>
            <a:off x="4886325" y="1104900"/>
            <a:ext cx="3714750" cy="1219200"/>
          </a:xfrm>
          <a:prstGeom prst="roundRect">
            <a:avLst>
              <a:gd name="adj" fmla="val 4688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7AEBCC5-2CA9-4A39-B000-22A2CAA641C8}"/>
              </a:ext>
            </a:extLst>
          </p:cNvPr>
          <p:cNvSpPr>
            <a:spLocks noGrp="1"/>
          </p:cNvSpPr>
          <p:nvPr/>
        </p:nvSpPr>
        <p:spPr>
          <a:xfrm>
            <a:off x="5038725" y="1238250"/>
            <a:ext cx="3409950" cy="2476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87B83"/>
                </a:solidFill>
              </a:defRPr>
            </a:pPr>
            <a:r>
              <a:rPr sz="1050" b="1">
                <a:solidFill>
                  <a:srgbClr val="083C92"/>
                </a:solidFill>
                <a:latin typeface="Reddit Sans"/>
                <a:ea typeface="Reddit Sans"/>
              </a:rPr>
              <a:t>Experiencia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8D9E31EE-481C-4A9B-9699-BF471D188B9E}"/>
              </a:ext>
            </a:extLst>
          </p:cNvPr>
          <p:cNvSpPr>
            <a:spLocks noGrp="1"/>
          </p:cNvSpPr>
          <p:nvPr/>
        </p:nvSpPr>
        <p:spPr>
          <a:xfrm>
            <a:off x="5038725" y="1562100"/>
            <a:ext cx="3409950" cy="6667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CSAT</a:t>
            </a:r>
            <a:endParaRPr lang="es-ES"/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XLA / DEX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Esfuerzo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del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usuario</a:t>
            </a:r>
            <a:endParaRPr sz="850" b="0">
              <a:solidFill>
                <a:srgbClr val="172033"/>
              </a:solidFill>
              <a:latin typeface="Reddit Sans"/>
              <a:ea typeface="Reddit Sans"/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Reaperturas</a:t>
            </a:r>
            <a:endParaRPr sz="850" b="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9" name="card">
            <a:extLst>
              <a:ext uri="{FF2B5EF4-FFF2-40B4-BE49-F238E27FC236}">
                <a16:creationId xmlns:a16="http://schemas.microsoft.com/office/drawing/2014/main" id="{5A238B9C-B9D4-4D92-AEAE-6E642E021177}"/>
              </a:ext>
            </a:extLst>
          </p:cNvPr>
          <p:cNvSpPr>
            <a:spLocks noGrp="1"/>
          </p:cNvSpPr>
          <p:nvPr/>
        </p:nvSpPr>
        <p:spPr>
          <a:xfrm>
            <a:off x="523875" y="2724150"/>
            <a:ext cx="3714750" cy="1219200"/>
          </a:xfrm>
          <a:prstGeom prst="roundRect">
            <a:avLst>
              <a:gd name="adj" fmla="val 4688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EC74EA49-E021-4A9C-9B1E-96A41D399694}"/>
              </a:ext>
            </a:extLst>
          </p:cNvPr>
          <p:cNvSpPr>
            <a:spLocks noGrp="1"/>
          </p:cNvSpPr>
          <p:nvPr/>
        </p:nvSpPr>
        <p:spPr>
          <a:xfrm>
            <a:off x="676275" y="2857500"/>
            <a:ext cx="3409950" cy="2476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0835A"/>
                </a:solidFill>
              </a:defRPr>
            </a:pPr>
            <a:r>
              <a:rPr sz="1050" b="1">
                <a:solidFill>
                  <a:srgbClr val="083C92"/>
                </a:solidFill>
                <a:latin typeface="Reddit Sans"/>
                <a:ea typeface="Reddit Sans"/>
              </a:rPr>
              <a:t>Economía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E66D574F-9ABD-452F-898E-D7ADC7A3B851}"/>
              </a:ext>
            </a:extLst>
          </p:cNvPr>
          <p:cNvSpPr>
            <a:spLocks noGrp="1"/>
          </p:cNvSpPr>
          <p:nvPr/>
        </p:nvSpPr>
        <p:spPr>
          <a:xfrm>
            <a:off x="676275" y="3181350"/>
            <a:ext cx="3409950" cy="6667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Costo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por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ticket</a:t>
            </a:r>
            <a:endParaRPr lang="es-ES"/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Deflexión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N0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Productividad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por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nivel</a:t>
            </a:r>
            <a:endParaRPr sz="850" b="0" dirty="0">
              <a:solidFill>
                <a:srgbClr val="172033"/>
              </a:solidFill>
              <a:latin typeface="Reddit Sans"/>
              <a:ea typeface="Reddit Sans"/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Margen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del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servicio</a:t>
            </a:r>
            <a:endParaRPr sz="850" b="0" dirty="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12" name="card">
            <a:extLst>
              <a:ext uri="{FF2B5EF4-FFF2-40B4-BE49-F238E27FC236}">
                <a16:creationId xmlns:a16="http://schemas.microsoft.com/office/drawing/2014/main" id="{1C20C22D-E18E-47EF-B54A-DD1D1318A126}"/>
              </a:ext>
            </a:extLst>
          </p:cNvPr>
          <p:cNvSpPr>
            <a:spLocks noGrp="1"/>
          </p:cNvSpPr>
          <p:nvPr/>
        </p:nvSpPr>
        <p:spPr>
          <a:xfrm>
            <a:off x="4886325" y="2724150"/>
            <a:ext cx="3714750" cy="1219200"/>
          </a:xfrm>
          <a:prstGeom prst="roundRect">
            <a:avLst>
              <a:gd name="adj" fmla="val 4688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813D23F9-7E23-428D-A120-4DC8897CE9B0}"/>
              </a:ext>
            </a:extLst>
          </p:cNvPr>
          <p:cNvSpPr>
            <a:spLocks noGrp="1"/>
          </p:cNvSpPr>
          <p:nvPr/>
        </p:nvSpPr>
        <p:spPr>
          <a:xfrm>
            <a:off x="5038725" y="2857500"/>
            <a:ext cx="3409950" cy="2476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47A00"/>
                </a:solidFill>
              </a:defRPr>
            </a:pPr>
            <a:r>
              <a:rPr sz="1050" b="1">
                <a:solidFill>
                  <a:srgbClr val="083C92"/>
                </a:solidFill>
                <a:latin typeface="Reddit Sans"/>
                <a:ea typeface="Reddit Sans"/>
              </a:rPr>
              <a:t>Evolución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83F83CF1-E915-4FC6-969B-4BA3AB85D980}"/>
              </a:ext>
            </a:extLst>
          </p:cNvPr>
          <p:cNvSpPr>
            <a:spLocks noGrp="1"/>
          </p:cNvSpPr>
          <p:nvPr/>
        </p:nvSpPr>
        <p:spPr>
          <a:xfrm>
            <a:off x="5038725" y="3181350"/>
            <a:ext cx="3409950" cy="6667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%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automatización</a:t>
            </a:r>
            <a:endParaRPr lang="es-ES" sz="850" dirty="0" err="1">
              <a:latin typeface="Reddit Sans"/>
              <a:ea typeface="Reddit Sans"/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Uso KEDB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Problemas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recurrentes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Mejoras</a:t>
            </a:r>
            <a:r>
              <a:rPr sz="850" b="0" dirty="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sz="850" b="0" dirty="0" err="1">
                <a:solidFill>
                  <a:srgbClr val="172033"/>
                </a:solidFill>
                <a:latin typeface="Reddit Sans"/>
                <a:ea typeface="Reddit Sans"/>
              </a:rPr>
              <a:t>implementadas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7449F463-9CDC-437F-8D77-F76E9199DD32}"/>
              </a:ext>
            </a:extLst>
          </p:cNvPr>
          <p:cNvSpPr>
            <a:spLocks noGrp="1"/>
          </p:cNvSpPr>
          <p:nvPr/>
        </p:nvSpPr>
        <p:spPr>
          <a:xfrm>
            <a:off x="857250" y="4333875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C2362"/>
                </a:solidFill>
              </a:defRPr>
            </a:pPr>
            <a:r>
              <a:rPr sz="1200" b="1">
                <a:solidFill>
                  <a:srgbClr val="0C2362"/>
                </a:solidFill>
                <a:latin typeface="Reddit Sans"/>
                <a:ea typeface="Reddit Sans"/>
              </a:rPr>
              <a:t>Meta de madurez: que el cliente vea menos interrupciones y PS vea mejor margen por automatización.</a:t>
            </a:r>
          </a:p>
        </p:txBody>
      </p:sp>
      <p:sp>
        <p:nvSpPr>
          <p:cNvPr id="25" name="src"/>
          <p:cNvSpPr txBox="1">
            <a:spLocks noGrp="1"/>
          </p:cNvSpPr>
          <p:nvPr/>
        </p:nvSpPr>
        <p:spPr>
          <a:xfrm>
            <a:off x="320040" y="44622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3"/>
              </a:rPr>
              <a:t>HDI Standard FCR/MTTR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4"/>
              </a:rPr>
              <a:t>XLA Institute State of XLA 2025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5"/>
              </a:rPr>
              <a:t>Gartner Cost per Ticket</a:t>
            </a:r>
          </a:p>
        </p:txBody>
      </p:sp>
    </p:spTree>
    <p:extLst>
      <p:ext uri="{BB962C8B-B14F-4D97-AF65-F5344CB8AC3E}">
        <p14:creationId xmlns:p14="http://schemas.microsoft.com/office/powerpoint/2010/main" val="5963171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">
            <a:extLst>
              <a:ext uri="{FF2B5EF4-FFF2-40B4-BE49-F238E27FC236}">
                <a16:creationId xmlns:a16="http://schemas.microsoft.com/office/drawing/2014/main" id="{5026C357-3705-477D-8BBC-14D733773D1B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Roadmap de adopción para desplegar la Mesa Gen Next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E1E3955-C63B-4395-8EC8-C21A833B5E63}"/>
              </a:ext>
            </a:extLst>
          </p:cNvPr>
          <p:cNvSpPr>
            <a:spLocks noGrp="1"/>
          </p:cNvSpPr>
          <p:nvPr/>
        </p:nvSpPr>
        <p:spPr>
          <a:xfrm>
            <a:off x="361950" y="657225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AAEE0"/>
                </a:solidFill>
              </a:defRPr>
            </a:pPr>
            <a:r>
              <a:rPr sz="1050" b="0">
                <a:solidFill>
                  <a:srgbClr val="9AAEE0"/>
                </a:solidFill>
                <a:latin typeface="Reddit Sans"/>
                <a:ea typeface="Reddit Sans"/>
              </a:rPr>
              <a:t>Diseñar el servicio en oleadas reduce riesgo y acelera valor</a:t>
            </a:r>
          </a:p>
        </p:txBody>
      </p:sp>
      <p:sp>
        <p:nvSpPr>
          <p:cNvPr id="3" name="phase">
            <a:extLst>
              <a:ext uri="{FF2B5EF4-FFF2-40B4-BE49-F238E27FC236}">
                <a16:creationId xmlns:a16="http://schemas.microsoft.com/office/drawing/2014/main" id="{B18BB039-51DC-4FC2-BD26-FE88F292EA57}"/>
              </a:ext>
            </a:extLst>
          </p:cNvPr>
          <p:cNvSpPr>
            <a:spLocks noGrp="1"/>
          </p:cNvSpPr>
          <p:nvPr/>
        </p:nvSpPr>
        <p:spPr>
          <a:xfrm>
            <a:off x="495300" y="1314450"/>
            <a:ext cx="1790700" cy="200025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phase-head">
            <a:extLst>
              <a:ext uri="{FF2B5EF4-FFF2-40B4-BE49-F238E27FC236}">
                <a16:creationId xmlns:a16="http://schemas.microsoft.com/office/drawing/2014/main" id="{5BB466A5-E0D2-4910-91F0-1275450A95A1}"/>
              </a:ext>
            </a:extLst>
          </p:cNvPr>
          <p:cNvSpPr>
            <a:spLocks noGrp="1"/>
          </p:cNvSpPr>
          <p:nvPr/>
        </p:nvSpPr>
        <p:spPr>
          <a:xfrm>
            <a:off x="495300" y="1314450"/>
            <a:ext cx="1790700" cy="438150"/>
          </a:xfrm>
          <a:prstGeom prst="roundRect">
            <a:avLst>
              <a:gd name="adj" fmla="val 13043"/>
            </a:avLst>
          </a:prstGeom>
          <a:noFill/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F48EF22-30FF-4E4A-BBAF-380C8613F5DC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Reddit Sans"/>
                <a:ea typeface="Reddit Sans"/>
              </a:rPr>
              <a:t>0-30 días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6823419C-FFE7-4FC4-9779-65B2D35FFE73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  <a:latin typeface="Reddit Sans"/>
                <a:ea typeface="Reddit Sans"/>
              </a:rPr>
              <a:t>Diagnóstico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C047F4B-EEAE-485C-95C2-B3BB95F836DE}"/>
              </a:ext>
            </a:extLst>
          </p:cNvPr>
          <p:cNvSpPr>
            <a:spLocks noGrp="1"/>
          </p:cNvSpPr>
          <p:nvPr/>
        </p:nvSpPr>
        <p:spPr>
          <a:xfrm>
            <a:off x="666750" y="2400300"/>
            <a:ext cx="144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Madurez N0-N5</a:t>
            </a:r>
          </a:p>
          <a:p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Volumen y criticidad</a:t>
            </a:r>
          </a:p>
          <a:p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Brechas de gobierno</a:t>
            </a:r>
          </a:p>
        </p:txBody>
      </p:sp>
      <p:sp>
        <p:nvSpPr>
          <p:cNvPr id="8" name="arrow">
            <a:extLst>
              <a:ext uri="{FF2B5EF4-FFF2-40B4-BE49-F238E27FC236}">
                <a16:creationId xmlns:a16="http://schemas.microsoft.com/office/drawing/2014/main" id="{FA92142E-A91A-4AF1-9D4B-9C4632144BF3}"/>
              </a:ext>
            </a:extLst>
          </p:cNvPr>
          <p:cNvSpPr>
            <a:spLocks noGrp="1"/>
          </p:cNvSpPr>
          <p:nvPr/>
        </p:nvSpPr>
        <p:spPr>
          <a:xfrm>
            <a:off x="2324100" y="2095500"/>
            <a:ext cx="361950" cy="285750"/>
          </a:xfrm>
          <a:prstGeom prst="rightArrow">
            <a:avLst/>
          </a:prstGeom>
          <a:solidFill>
            <a:srgbClr val="1E5EBE"/>
          </a:solidFill>
          <a:ln w="11430">
            <a:solidFill>
              <a:srgbClr val="1E5EBE"/>
            </a:solidFill>
            <a:prstDash val="solid"/>
          </a:ln>
        </p:spPr>
      </p:sp>
      <p:sp>
        <p:nvSpPr>
          <p:cNvPr id="9" name="phase">
            <a:extLst>
              <a:ext uri="{FF2B5EF4-FFF2-40B4-BE49-F238E27FC236}">
                <a16:creationId xmlns:a16="http://schemas.microsoft.com/office/drawing/2014/main" id="{3BCEBA44-9549-4355-AB5D-E0FBE80C3305}"/>
              </a:ext>
            </a:extLst>
          </p:cNvPr>
          <p:cNvSpPr>
            <a:spLocks noGrp="1"/>
          </p:cNvSpPr>
          <p:nvPr/>
        </p:nvSpPr>
        <p:spPr>
          <a:xfrm>
            <a:off x="2647950" y="1314450"/>
            <a:ext cx="1790700" cy="200025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0" name="phase-head">
            <a:extLst>
              <a:ext uri="{FF2B5EF4-FFF2-40B4-BE49-F238E27FC236}">
                <a16:creationId xmlns:a16="http://schemas.microsoft.com/office/drawing/2014/main" id="{B544B780-B4D8-4061-B53A-E8BDE3D15144}"/>
              </a:ext>
            </a:extLst>
          </p:cNvPr>
          <p:cNvSpPr>
            <a:spLocks noGrp="1"/>
          </p:cNvSpPr>
          <p:nvPr/>
        </p:nvSpPr>
        <p:spPr>
          <a:xfrm>
            <a:off x="2647950" y="1314450"/>
            <a:ext cx="1790700" cy="438150"/>
          </a:xfrm>
          <a:prstGeom prst="roundRect">
            <a:avLst>
              <a:gd name="adj" fmla="val 13043"/>
            </a:avLst>
          </a:prstGeom>
          <a:noFill/>
          <a:ln w="0">
            <a:noFill/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416DE1AC-E1AB-44B3-B389-65BED1C3B6EB}"/>
              </a:ext>
            </a:extLst>
          </p:cNvPr>
          <p:cNvSpPr>
            <a:spLocks noGrp="1"/>
          </p:cNvSpPr>
          <p:nvPr/>
        </p:nvSpPr>
        <p:spPr>
          <a:xfrm>
            <a:off x="2762250" y="14287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Reddit Sans"/>
                <a:ea typeface="Reddit Sans"/>
              </a:rPr>
              <a:t>31-60 días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9023BB64-4543-4E1B-8488-6405CE3A5C79}"/>
              </a:ext>
            </a:extLst>
          </p:cNvPr>
          <p:cNvSpPr>
            <a:spLocks noGrp="1"/>
          </p:cNvSpPr>
          <p:nvPr/>
        </p:nvSpPr>
        <p:spPr>
          <a:xfrm>
            <a:off x="2819400" y="1952625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  <a:latin typeface="Reddit Sans"/>
                <a:ea typeface="Reddit Sans"/>
              </a:rPr>
              <a:t>Diseño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310032AA-C8C9-48D0-9562-8DF5049C8250}"/>
              </a:ext>
            </a:extLst>
          </p:cNvPr>
          <p:cNvSpPr>
            <a:spLocks noGrp="1"/>
          </p:cNvSpPr>
          <p:nvPr/>
        </p:nvSpPr>
        <p:spPr>
          <a:xfrm>
            <a:off x="2819400" y="2400300"/>
            <a:ext cx="144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Catálogo y RACI</a:t>
            </a:r>
          </a:p>
          <a:p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SLA/XLA</a:t>
            </a:r>
          </a:p>
          <a:p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Modelo económico</a:t>
            </a:r>
          </a:p>
        </p:txBody>
      </p:sp>
      <p:sp>
        <p:nvSpPr>
          <p:cNvPr id="14" name="arrow">
            <a:extLst>
              <a:ext uri="{FF2B5EF4-FFF2-40B4-BE49-F238E27FC236}">
                <a16:creationId xmlns:a16="http://schemas.microsoft.com/office/drawing/2014/main" id="{44A596BA-ABF1-4687-BFC2-7E7E569FA281}"/>
              </a:ext>
            </a:extLst>
          </p:cNvPr>
          <p:cNvSpPr>
            <a:spLocks noGrp="1"/>
          </p:cNvSpPr>
          <p:nvPr/>
        </p:nvSpPr>
        <p:spPr>
          <a:xfrm>
            <a:off x="4476750" y="2095500"/>
            <a:ext cx="361950" cy="285750"/>
          </a:xfrm>
          <a:prstGeom prst="rightArrow">
            <a:avLst/>
          </a:prstGeom>
          <a:solidFill>
            <a:srgbClr val="1E5EBE"/>
          </a:solidFill>
          <a:ln w="11430">
            <a:solidFill>
              <a:srgbClr val="1E5EBE"/>
            </a:solidFill>
            <a:prstDash val="solid"/>
          </a:ln>
        </p:spPr>
      </p:sp>
      <p:sp>
        <p:nvSpPr>
          <p:cNvPr id="15" name="phase">
            <a:extLst>
              <a:ext uri="{FF2B5EF4-FFF2-40B4-BE49-F238E27FC236}">
                <a16:creationId xmlns:a16="http://schemas.microsoft.com/office/drawing/2014/main" id="{95391E5E-9387-4B62-9FD4-E81FB2A8A4C0}"/>
              </a:ext>
            </a:extLst>
          </p:cNvPr>
          <p:cNvSpPr>
            <a:spLocks noGrp="1"/>
          </p:cNvSpPr>
          <p:nvPr/>
        </p:nvSpPr>
        <p:spPr>
          <a:xfrm>
            <a:off x="4800600" y="1314450"/>
            <a:ext cx="1790700" cy="200025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6" name="phase-head">
            <a:extLst>
              <a:ext uri="{FF2B5EF4-FFF2-40B4-BE49-F238E27FC236}">
                <a16:creationId xmlns:a16="http://schemas.microsoft.com/office/drawing/2014/main" id="{B4999CAE-7D4D-42BE-AE59-A8A5F85D0BDE}"/>
              </a:ext>
            </a:extLst>
          </p:cNvPr>
          <p:cNvSpPr>
            <a:spLocks noGrp="1"/>
          </p:cNvSpPr>
          <p:nvPr/>
        </p:nvSpPr>
        <p:spPr>
          <a:xfrm>
            <a:off x="4800600" y="1314450"/>
            <a:ext cx="1790700" cy="438150"/>
          </a:xfrm>
          <a:prstGeom prst="roundRect">
            <a:avLst>
              <a:gd name="adj" fmla="val 13043"/>
            </a:avLst>
          </a:prstGeom>
          <a:noFill/>
          <a:ln w="0">
            <a:noFill/>
            <a:prstDash val="solid"/>
          </a:ln>
        </p:spPr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2B01D4A1-AF82-4997-86AE-423D4F53347E}"/>
              </a:ext>
            </a:extLst>
          </p:cNvPr>
          <p:cNvSpPr>
            <a:spLocks noGrp="1"/>
          </p:cNvSpPr>
          <p:nvPr/>
        </p:nvSpPr>
        <p:spPr>
          <a:xfrm>
            <a:off x="4914900" y="14287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Reddit Sans"/>
                <a:ea typeface="Reddit Sans"/>
              </a:rPr>
              <a:t>61-90 días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0ED98DB5-A611-4F00-99B0-8179C97A87F8}"/>
              </a:ext>
            </a:extLst>
          </p:cNvPr>
          <p:cNvSpPr>
            <a:spLocks noGrp="1"/>
          </p:cNvSpPr>
          <p:nvPr/>
        </p:nvSpPr>
        <p:spPr>
          <a:xfrm>
            <a:off x="4972050" y="1952625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  <a:latin typeface="Reddit Sans"/>
                <a:ea typeface="Reddit Sans"/>
              </a:rPr>
              <a:t>Implementación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0DA6150A-A490-41F9-A5FF-851ABC78113D}"/>
              </a:ext>
            </a:extLst>
          </p:cNvPr>
          <p:cNvSpPr>
            <a:spLocks noGrp="1"/>
          </p:cNvSpPr>
          <p:nvPr/>
        </p:nvSpPr>
        <p:spPr>
          <a:xfrm>
            <a:off x="4972050" y="2400300"/>
            <a:ext cx="144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Canales e ITSM</a:t>
            </a:r>
          </a:p>
          <a:p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KEDB inicial</a:t>
            </a:r>
          </a:p>
          <a:p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Dashboards</a:t>
            </a:r>
          </a:p>
        </p:txBody>
      </p:sp>
      <p:sp>
        <p:nvSpPr>
          <p:cNvPr id="20" name="arrow">
            <a:extLst>
              <a:ext uri="{FF2B5EF4-FFF2-40B4-BE49-F238E27FC236}">
                <a16:creationId xmlns:a16="http://schemas.microsoft.com/office/drawing/2014/main" id="{71CB4D22-B187-410E-ADD7-5AFCEF300116}"/>
              </a:ext>
            </a:extLst>
          </p:cNvPr>
          <p:cNvSpPr>
            <a:spLocks noGrp="1"/>
          </p:cNvSpPr>
          <p:nvPr/>
        </p:nvSpPr>
        <p:spPr>
          <a:xfrm>
            <a:off x="6629400" y="2095500"/>
            <a:ext cx="361950" cy="285750"/>
          </a:xfrm>
          <a:prstGeom prst="rightArrow">
            <a:avLst/>
          </a:prstGeom>
          <a:solidFill>
            <a:srgbClr val="1E5EBE"/>
          </a:solidFill>
          <a:ln w="11430">
            <a:solidFill>
              <a:srgbClr val="1E5EBE"/>
            </a:solidFill>
            <a:prstDash val="solid"/>
          </a:ln>
        </p:spPr>
      </p:sp>
      <p:sp>
        <p:nvSpPr>
          <p:cNvPr id="21" name="phase">
            <a:extLst>
              <a:ext uri="{FF2B5EF4-FFF2-40B4-BE49-F238E27FC236}">
                <a16:creationId xmlns:a16="http://schemas.microsoft.com/office/drawing/2014/main" id="{45813248-0111-4170-ADD9-C08116624AB5}"/>
              </a:ext>
            </a:extLst>
          </p:cNvPr>
          <p:cNvSpPr>
            <a:spLocks noGrp="1"/>
          </p:cNvSpPr>
          <p:nvPr/>
        </p:nvSpPr>
        <p:spPr>
          <a:xfrm>
            <a:off x="6953250" y="1314450"/>
            <a:ext cx="1790700" cy="200025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2" name="phase-head">
            <a:extLst>
              <a:ext uri="{FF2B5EF4-FFF2-40B4-BE49-F238E27FC236}">
                <a16:creationId xmlns:a16="http://schemas.microsoft.com/office/drawing/2014/main" id="{ADAF4EA8-9D4F-40D3-8879-0048A008A093}"/>
              </a:ext>
            </a:extLst>
          </p:cNvPr>
          <p:cNvSpPr>
            <a:spLocks noGrp="1"/>
          </p:cNvSpPr>
          <p:nvPr/>
        </p:nvSpPr>
        <p:spPr>
          <a:xfrm>
            <a:off x="6953250" y="1314450"/>
            <a:ext cx="1790700" cy="438150"/>
          </a:xfrm>
          <a:prstGeom prst="roundRect">
            <a:avLst>
              <a:gd name="adj" fmla="val 13043"/>
            </a:avLst>
          </a:prstGeom>
          <a:noFill/>
          <a:ln w="0">
            <a:noFill/>
            <a:prstDash val="solid"/>
          </a:ln>
        </p:spPr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998E00C3-AE28-4538-A557-E84727CEAFE7}"/>
              </a:ext>
            </a:extLst>
          </p:cNvPr>
          <p:cNvSpPr>
            <a:spLocks noGrp="1"/>
          </p:cNvSpPr>
          <p:nvPr/>
        </p:nvSpPr>
        <p:spPr>
          <a:xfrm>
            <a:off x="7067550" y="14287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Reddit Sans"/>
                <a:ea typeface="Reddit Sans"/>
              </a:rPr>
              <a:t>90+ días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7CB10D38-3301-4DE9-9BD2-699239AEA614}"/>
              </a:ext>
            </a:extLst>
          </p:cNvPr>
          <p:cNvSpPr>
            <a:spLocks noGrp="1"/>
          </p:cNvSpPr>
          <p:nvPr/>
        </p:nvSpPr>
        <p:spPr>
          <a:xfrm>
            <a:off x="7124700" y="1952625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  <a:latin typeface="Reddit Sans"/>
                <a:ea typeface="Reddit Sans"/>
              </a:rPr>
              <a:t>Evolución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9AB128DA-CF83-44F3-87C9-F91E36C3167A}"/>
              </a:ext>
            </a:extLst>
          </p:cNvPr>
          <p:cNvSpPr>
            <a:spLocks noGrp="1"/>
          </p:cNvSpPr>
          <p:nvPr/>
        </p:nvSpPr>
        <p:spPr>
          <a:xfrm>
            <a:off x="7124700" y="2400300"/>
            <a:ext cx="144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Agent assist</a:t>
            </a:r>
          </a:p>
          <a:p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AIOps</a:t>
            </a:r>
          </a:p>
          <a:p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Automatización y roadmap IA</a:t>
            </a:r>
          </a:p>
        </p:txBody>
      </p:sp>
      <p:sp>
        <p:nvSpPr>
          <p:cNvPr id="35" name="src"/>
          <p:cNvSpPr txBox="1">
            <a:spLocks noGrp="1"/>
          </p:cNvSpPr>
          <p:nvPr/>
        </p:nvSpPr>
        <p:spPr>
          <a:xfrm>
            <a:off x="320040" y="44622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3"/>
              </a:rPr>
              <a:t>Freshservice Implementation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4"/>
              </a:rPr>
              <a:t>Gartner ITSM Roadmap</a:t>
            </a:r>
          </a:p>
        </p:txBody>
      </p:sp>
    </p:spTree>
    <p:extLst>
      <p:ext uri="{BB962C8B-B14F-4D97-AF65-F5344CB8AC3E}">
        <p14:creationId xmlns:p14="http://schemas.microsoft.com/office/powerpoint/2010/main" val="5963171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6844F-A555-6B31-9B61-001473605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Mesa de Servicio de Nueva Generación</a:t>
            </a:r>
            <a:endParaRPr lang="es-ES" b="0">
              <a:solidFill>
                <a:srgbClr val="000000"/>
              </a:solidFill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147F5800-07BA-9795-E2BC-5921D7FB5CCE}"/>
              </a:ext>
            </a:extLst>
          </p:cNvPr>
          <p:cNvSpPr/>
          <p:nvPr/>
        </p:nvSpPr>
        <p:spPr>
          <a:xfrm>
            <a:off x="363582" y="771797"/>
            <a:ext cx="77724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s-CO" sz="1100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Diagrama</a:t>
            </a:r>
            <a:r>
              <a:rPr lang="en-US" sz="1100" dirty="0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 de alto </a:t>
            </a:r>
            <a:r>
              <a:rPr lang="es-CO" sz="1100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nivel</a:t>
            </a:r>
          </a:p>
        </p:txBody>
      </p:sp>
      <p:sp>
        <p:nvSpPr>
          <p:cNvPr id="7" name="mhdr">
            <a:extLst>
              <a:ext uri="{FF2B5EF4-FFF2-40B4-BE49-F238E27FC236}">
                <a16:creationId xmlns:a16="http://schemas.microsoft.com/office/drawing/2014/main" id="{11FFC374-B16F-59FB-6D34-D1C4371D0054}"/>
              </a:ext>
            </a:extLst>
          </p:cNvPr>
          <p:cNvSpPr>
            <a:spLocks noGrp="1"/>
          </p:cNvSpPr>
          <p:nvPr/>
        </p:nvSpPr>
        <p:spPr>
          <a:xfrm>
            <a:off x="390797" y="1082040"/>
            <a:ext cx="7635240" cy="256032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9" name="mhdrtxt">
            <a:extLst>
              <a:ext uri="{FF2B5EF4-FFF2-40B4-BE49-F238E27FC236}">
                <a16:creationId xmlns:a16="http://schemas.microsoft.com/office/drawing/2014/main" id="{E8B306E9-A6BA-2DB8-93C3-5AEF32FBBDF6}"/>
              </a:ext>
            </a:extLst>
          </p:cNvPr>
          <p:cNvSpPr txBox="1">
            <a:spLocks noGrp="1"/>
          </p:cNvSpPr>
          <p:nvPr/>
        </p:nvSpPr>
        <p:spPr>
          <a:xfrm>
            <a:off x="483326" y="1076597"/>
            <a:ext cx="7646124" cy="29957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FFFFFF"/>
                </a:solidFill>
                <a:latin typeface="Reddit Sans"/>
                <a:ea typeface="Reddit Sans"/>
              </a:rPr>
              <a:t>SERVICIO BASE — MESA GEN NEXT (N0 → N3)</a:t>
            </a:r>
          </a:p>
        </p:txBody>
      </p:sp>
      <p:sp>
        <p:nvSpPr>
          <p:cNvPr id="11" name="sbg">
            <a:extLst>
              <a:ext uri="{FF2B5EF4-FFF2-40B4-BE49-F238E27FC236}">
                <a16:creationId xmlns:a16="http://schemas.microsoft.com/office/drawing/2014/main" id="{C44DD99C-240B-1B08-F9CE-4E32BEBE6592}"/>
              </a:ext>
            </a:extLst>
          </p:cNvPr>
          <p:cNvSpPr>
            <a:spLocks noGrp="1"/>
          </p:cNvSpPr>
          <p:nvPr/>
        </p:nvSpPr>
        <p:spPr>
          <a:xfrm>
            <a:off x="390797" y="140208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19050">
            <a:solidFill>
              <a:srgbClr val="0D1B5E"/>
            </a:solidFill>
          </a:ln>
        </p:spPr>
      </p:sp>
      <p:sp>
        <p:nvSpPr>
          <p:cNvPr id="13" name="shdr">
            <a:extLst>
              <a:ext uri="{FF2B5EF4-FFF2-40B4-BE49-F238E27FC236}">
                <a16:creationId xmlns:a16="http://schemas.microsoft.com/office/drawing/2014/main" id="{AE5B32E0-E760-2378-4666-12655DE5EE3F}"/>
              </a:ext>
            </a:extLst>
          </p:cNvPr>
          <p:cNvSpPr>
            <a:spLocks noGrp="1"/>
          </p:cNvSpPr>
          <p:nvPr/>
        </p:nvSpPr>
        <p:spPr>
          <a:xfrm>
            <a:off x="390797" y="1402080"/>
            <a:ext cx="1828800" cy="329184"/>
          </a:xfrm>
          <a:prstGeom prst="roundRect">
            <a:avLst>
              <a:gd name="adj" fmla="val 12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15" name="shdr2">
            <a:extLst>
              <a:ext uri="{FF2B5EF4-FFF2-40B4-BE49-F238E27FC236}">
                <a16:creationId xmlns:a16="http://schemas.microsoft.com/office/drawing/2014/main" id="{2CECBD38-CACE-5FCE-38F2-7C53AF17EBFB}"/>
              </a:ext>
            </a:extLst>
          </p:cNvPr>
          <p:cNvSpPr>
            <a:spLocks noGrp="1"/>
          </p:cNvSpPr>
          <p:nvPr/>
        </p:nvSpPr>
        <p:spPr>
          <a:xfrm>
            <a:off x="390797" y="1603248"/>
            <a:ext cx="1828800" cy="12801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17" name="stit">
            <a:extLst>
              <a:ext uri="{FF2B5EF4-FFF2-40B4-BE49-F238E27FC236}">
                <a16:creationId xmlns:a16="http://schemas.microsoft.com/office/drawing/2014/main" id="{49D105DC-5C38-76CC-4C0F-0D5858B68B0D}"/>
              </a:ext>
            </a:extLst>
          </p:cNvPr>
          <p:cNvSpPr txBox="1">
            <a:spLocks noGrp="1"/>
          </p:cNvSpPr>
          <p:nvPr/>
        </p:nvSpPr>
        <p:spPr>
          <a:xfrm>
            <a:off x="390797" y="14386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80" b="1" dirty="0">
                <a:solidFill>
                  <a:srgbClr val="FFFFFF"/>
                </a:solidFill>
                <a:latin typeface="Reddit Sans"/>
                <a:ea typeface="Reddit Sans"/>
              </a:rPr>
              <a:t>Equipo
Dedicado</a:t>
            </a:r>
          </a:p>
        </p:txBody>
      </p:sp>
      <p:sp>
        <p:nvSpPr>
          <p:cNvPr id="19" name="sdesc">
            <a:extLst>
              <a:ext uri="{FF2B5EF4-FFF2-40B4-BE49-F238E27FC236}">
                <a16:creationId xmlns:a16="http://schemas.microsoft.com/office/drawing/2014/main" id="{28BDE801-04BB-5BFF-836A-6523F051F930}"/>
              </a:ext>
            </a:extLst>
          </p:cNvPr>
          <p:cNvSpPr txBox="1">
            <a:spLocks noGrp="1"/>
          </p:cNvSpPr>
          <p:nvPr/>
        </p:nvSpPr>
        <p:spPr>
          <a:xfrm>
            <a:off x="482237" y="178612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50" dirty="0">
                <a:solidFill>
                  <a:srgbClr val="0D1B5E"/>
                </a:solidFill>
                <a:latin typeface="Reddit Sans"/>
                <a:ea typeface="Reddit Sans"/>
              </a:rPr>
              <a:t>FTE asignado · Alta personalización · SLA exclusivo</a:t>
            </a:r>
          </a:p>
        </p:txBody>
      </p:sp>
      <p:sp>
        <p:nvSpPr>
          <p:cNvPr id="21" name="sbg">
            <a:extLst>
              <a:ext uri="{FF2B5EF4-FFF2-40B4-BE49-F238E27FC236}">
                <a16:creationId xmlns:a16="http://schemas.microsoft.com/office/drawing/2014/main" id="{9CA6DAA6-8B0C-C124-D8EA-7328366DCE04}"/>
              </a:ext>
            </a:extLst>
          </p:cNvPr>
          <p:cNvSpPr>
            <a:spLocks noGrp="1"/>
          </p:cNvSpPr>
          <p:nvPr/>
        </p:nvSpPr>
        <p:spPr>
          <a:xfrm>
            <a:off x="2329325" y="140208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19050">
            <a:solidFill>
              <a:srgbClr val="1A3A8F"/>
            </a:solidFill>
          </a:ln>
        </p:spPr>
      </p:sp>
      <p:sp>
        <p:nvSpPr>
          <p:cNvPr id="23" name="shdr">
            <a:extLst>
              <a:ext uri="{FF2B5EF4-FFF2-40B4-BE49-F238E27FC236}">
                <a16:creationId xmlns:a16="http://schemas.microsoft.com/office/drawing/2014/main" id="{54F719CD-A4DF-D419-B236-37B6CE8914EC}"/>
              </a:ext>
            </a:extLst>
          </p:cNvPr>
          <p:cNvSpPr>
            <a:spLocks noGrp="1"/>
          </p:cNvSpPr>
          <p:nvPr/>
        </p:nvSpPr>
        <p:spPr>
          <a:xfrm>
            <a:off x="2329325" y="1402080"/>
            <a:ext cx="1828800" cy="329184"/>
          </a:xfrm>
          <a:prstGeom prst="roundRect">
            <a:avLst>
              <a:gd name="adj" fmla="val 12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25" name="shdr2">
            <a:extLst>
              <a:ext uri="{FF2B5EF4-FFF2-40B4-BE49-F238E27FC236}">
                <a16:creationId xmlns:a16="http://schemas.microsoft.com/office/drawing/2014/main" id="{BC159D2D-CFA0-E144-AAF8-0161088D0F34}"/>
              </a:ext>
            </a:extLst>
          </p:cNvPr>
          <p:cNvSpPr>
            <a:spLocks noGrp="1"/>
          </p:cNvSpPr>
          <p:nvPr/>
        </p:nvSpPr>
        <p:spPr>
          <a:xfrm>
            <a:off x="2329325" y="1603248"/>
            <a:ext cx="1828800" cy="12801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27" name="stit">
            <a:extLst>
              <a:ext uri="{FF2B5EF4-FFF2-40B4-BE49-F238E27FC236}">
                <a16:creationId xmlns:a16="http://schemas.microsoft.com/office/drawing/2014/main" id="{E59CA6A9-BE15-A199-802E-0AF021417E97}"/>
              </a:ext>
            </a:extLst>
          </p:cNvPr>
          <p:cNvSpPr txBox="1">
            <a:spLocks noGrp="1"/>
          </p:cNvSpPr>
          <p:nvPr/>
        </p:nvSpPr>
        <p:spPr>
          <a:xfrm>
            <a:off x="2329325" y="14386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80" b="1" dirty="0">
                <a:solidFill>
                  <a:srgbClr val="FFFFFF"/>
                </a:solidFill>
                <a:latin typeface="Reddit Sans"/>
                <a:ea typeface="Reddit Sans"/>
              </a:rPr>
              <a:t>Soporte
Compartido</a:t>
            </a:r>
          </a:p>
        </p:txBody>
      </p:sp>
      <p:sp>
        <p:nvSpPr>
          <p:cNvPr id="29" name="sdesc">
            <a:extLst>
              <a:ext uri="{FF2B5EF4-FFF2-40B4-BE49-F238E27FC236}">
                <a16:creationId xmlns:a16="http://schemas.microsoft.com/office/drawing/2014/main" id="{1491757A-584A-A238-1186-CDF1B734CE39}"/>
              </a:ext>
            </a:extLst>
          </p:cNvPr>
          <p:cNvSpPr txBox="1">
            <a:spLocks noGrp="1"/>
          </p:cNvSpPr>
          <p:nvPr/>
        </p:nvSpPr>
        <p:spPr>
          <a:xfrm>
            <a:off x="2420765" y="178612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50" dirty="0">
                <a:solidFill>
                  <a:srgbClr val="1A3A8F"/>
                </a:solidFill>
                <a:latin typeface="Reddit Sans"/>
                <a:ea typeface="Reddit Sans"/>
              </a:rPr>
              <a:t>Pool de talento · Eficiencia de costo · SLA compartido</a:t>
            </a:r>
          </a:p>
        </p:txBody>
      </p:sp>
      <p:sp>
        <p:nvSpPr>
          <p:cNvPr id="31" name="sbg">
            <a:extLst>
              <a:ext uri="{FF2B5EF4-FFF2-40B4-BE49-F238E27FC236}">
                <a16:creationId xmlns:a16="http://schemas.microsoft.com/office/drawing/2014/main" id="{C4BA225E-1A22-C02C-DE7D-3421B34E5A15}"/>
              </a:ext>
            </a:extLst>
          </p:cNvPr>
          <p:cNvSpPr>
            <a:spLocks noGrp="1"/>
          </p:cNvSpPr>
          <p:nvPr/>
        </p:nvSpPr>
        <p:spPr>
          <a:xfrm>
            <a:off x="4267853" y="140208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19050">
            <a:solidFill>
              <a:srgbClr val="1B7B85"/>
            </a:solidFill>
          </a:ln>
        </p:spPr>
      </p:sp>
      <p:sp>
        <p:nvSpPr>
          <p:cNvPr id="33" name="shdr">
            <a:extLst>
              <a:ext uri="{FF2B5EF4-FFF2-40B4-BE49-F238E27FC236}">
                <a16:creationId xmlns:a16="http://schemas.microsoft.com/office/drawing/2014/main" id="{07BDBE75-C4AC-E170-302A-554E6CB70632}"/>
              </a:ext>
            </a:extLst>
          </p:cNvPr>
          <p:cNvSpPr>
            <a:spLocks noGrp="1"/>
          </p:cNvSpPr>
          <p:nvPr/>
        </p:nvSpPr>
        <p:spPr>
          <a:xfrm>
            <a:off x="4267853" y="1402080"/>
            <a:ext cx="1828800" cy="329184"/>
          </a:xfrm>
          <a:prstGeom prst="roundRect">
            <a:avLst>
              <a:gd name="adj" fmla="val 12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35" name="shdr2">
            <a:extLst>
              <a:ext uri="{FF2B5EF4-FFF2-40B4-BE49-F238E27FC236}">
                <a16:creationId xmlns:a16="http://schemas.microsoft.com/office/drawing/2014/main" id="{4878AC91-4738-A86E-2078-62334CA94310}"/>
              </a:ext>
            </a:extLst>
          </p:cNvPr>
          <p:cNvSpPr>
            <a:spLocks noGrp="1"/>
          </p:cNvSpPr>
          <p:nvPr/>
        </p:nvSpPr>
        <p:spPr>
          <a:xfrm>
            <a:off x="4267853" y="1603248"/>
            <a:ext cx="1828800" cy="128016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37" name="stit">
            <a:extLst>
              <a:ext uri="{FF2B5EF4-FFF2-40B4-BE49-F238E27FC236}">
                <a16:creationId xmlns:a16="http://schemas.microsoft.com/office/drawing/2014/main" id="{DAA1AAFA-7AF2-47E9-8E25-D725E4738EB9}"/>
              </a:ext>
            </a:extLst>
          </p:cNvPr>
          <p:cNvSpPr txBox="1">
            <a:spLocks noGrp="1"/>
          </p:cNvSpPr>
          <p:nvPr/>
        </p:nvSpPr>
        <p:spPr>
          <a:xfrm>
            <a:off x="4267853" y="14386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80" b="1" dirty="0">
                <a:solidFill>
                  <a:srgbClr val="FFFFFF"/>
                </a:solidFill>
                <a:latin typeface="Reddit Sans"/>
                <a:ea typeface="Reddit Sans"/>
              </a:rPr>
              <a:t>Express
Alfa</a:t>
            </a:r>
          </a:p>
        </p:txBody>
      </p:sp>
      <p:sp>
        <p:nvSpPr>
          <p:cNvPr id="39" name="sdesc">
            <a:extLst>
              <a:ext uri="{FF2B5EF4-FFF2-40B4-BE49-F238E27FC236}">
                <a16:creationId xmlns:a16="http://schemas.microsoft.com/office/drawing/2014/main" id="{652DDA70-568E-CC80-87A1-30765CB9F851}"/>
              </a:ext>
            </a:extLst>
          </p:cNvPr>
          <p:cNvSpPr txBox="1">
            <a:spLocks noGrp="1"/>
          </p:cNvSpPr>
          <p:nvPr/>
        </p:nvSpPr>
        <p:spPr>
          <a:xfrm>
            <a:off x="4359293" y="178612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50" dirty="0">
                <a:solidFill>
                  <a:srgbClr val="1B7B85"/>
                </a:solidFill>
                <a:latin typeface="Reddit Sans"/>
                <a:ea typeface="Reddit Sans"/>
              </a:rPr>
              <a:t>Requerimientos simples · Pay-per-use · Onboarding rápido</a:t>
            </a:r>
          </a:p>
        </p:txBody>
      </p:sp>
      <p:sp>
        <p:nvSpPr>
          <p:cNvPr id="41" name="sbg">
            <a:extLst>
              <a:ext uri="{FF2B5EF4-FFF2-40B4-BE49-F238E27FC236}">
                <a16:creationId xmlns:a16="http://schemas.microsoft.com/office/drawing/2014/main" id="{BE437EB3-9E25-2FF6-9180-360B01D01B67}"/>
              </a:ext>
            </a:extLst>
          </p:cNvPr>
          <p:cNvSpPr>
            <a:spLocks noGrp="1"/>
          </p:cNvSpPr>
          <p:nvPr/>
        </p:nvSpPr>
        <p:spPr>
          <a:xfrm>
            <a:off x="6206381" y="140208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19050">
            <a:solidFill>
              <a:srgbClr val="1F6FBA"/>
            </a:solidFill>
          </a:ln>
        </p:spPr>
      </p:sp>
      <p:sp>
        <p:nvSpPr>
          <p:cNvPr id="43" name="shdr">
            <a:extLst>
              <a:ext uri="{FF2B5EF4-FFF2-40B4-BE49-F238E27FC236}">
                <a16:creationId xmlns:a16="http://schemas.microsoft.com/office/drawing/2014/main" id="{962B9A80-BE13-9A56-6893-9E8A3D0A2148}"/>
              </a:ext>
            </a:extLst>
          </p:cNvPr>
          <p:cNvSpPr>
            <a:spLocks noGrp="1"/>
          </p:cNvSpPr>
          <p:nvPr/>
        </p:nvSpPr>
        <p:spPr>
          <a:xfrm>
            <a:off x="6206381" y="1402080"/>
            <a:ext cx="1828800" cy="329184"/>
          </a:xfrm>
          <a:prstGeom prst="roundRect">
            <a:avLst>
              <a:gd name="adj" fmla="val 12000"/>
            </a:avLst>
          </a:prstGeom>
          <a:solidFill>
            <a:srgbClr val="1F6FBA"/>
          </a:solidFill>
          <a:ln>
            <a:noFill/>
          </a:ln>
        </p:spPr>
      </p:sp>
      <p:sp>
        <p:nvSpPr>
          <p:cNvPr id="45" name="shdr2">
            <a:extLst>
              <a:ext uri="{FF2B5EF4-FFF2-40B4-BE49-F238E27FC236}">
                <a16:creationId xmlns:a16="http://schemas.microsoft.com/office/drawing/2014/main" id="{B895B166-10F9-1DE0-4412-D55A95B644AA}"/>
              </a:ext>
            </a:extLst>
          </p:cNvPr>
          <p:cNvSpPr>
            <a:spLocks noGrp="1"/>
          </p:cNvSpPr>
          <p:nvPr/>
        </p:nvSpPr>
        <p:spPr>
          <a:xfrm>
            <a:off x="6206381" y="1603248"/>
            <a:ext cx="1828800" cy="128016"/>
          </a:xfrm>
          <a:prstGeom prst="rect">
            <a:avLst/>
          </a:prstGeom>
          <a:solidFill>
            <a:srgbClr val="1F6FBA"/>
          </a:solidFill>
          <a:ln>
            <a:noFill/>
          </a:ln>
        </p:spPr>
      </p:sp>
      <p:sp>
        <p:nvSpPr>
          <p:cNvPr id="47" name="stit">
            <a:extLst>
              <a:ext uri="{FF2B5EF4-FFF2-40B4-BE49-F238E27FC236}">
                <a16:creationId xmlns:a16="http://schemas.microsoft.com/office/drawing/2014/main" id="{87F21207-F57A-5468-82A3-9C6BCFC74050}"/>
              </a:ext>
            </a:extLst>
          </p:cNvPr>
          <p:cNvSpPr txBox="1">
            <a:spLocks noGrp="1"/>
          </p:cNvSpPr>
          <p:nvPr/>
        </p:nvSpPr>
        <p:spPr>
          <a:xfrm>
            <a:off x="6206381" y="14386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80" b="1" dirty="0">
                <a:solidFill>
                  <a:srgbClr val="FFFFFF"/>
                </a:solidFill>
                <a:latin typeface="Reddit Sans"/>
                <a:ea typeface="Reddit Sans"/>
              </a:rPr>
              <a:t>Full
Gen Next</a:t>
            </a:r>
          </a:p>
        </p:txBody>
      </p:sp>
      <p:sp>
        <p:nvSpPr>
          <p:cNvPr id="49" name="sdesc">
            <a:extLst>
              <a:ext uri="{FF2B5EF4-FFF2-40B4-BE49-F238E27FC236}">
                <a16:creationId xmlns:a16="http://schemas.microsoft.com/office/drawing/2014/main" id="{EB3D0BBD-4C9C-3634-B269-2CB6FD54AA5B}"/>
              </a:ext>
            </a:extLst>
          </p:cNvPr>
          <p:cNvSpPr txBox="1">
            <a:spLocks noGrp="1"/>
          </p:cNvSpPr>
          <p:nvPr/>
        </p:nvSpPr>
        <p:spPr>
          <a:xfrm>
            <a:off x="6297821" y="178612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50" dirty="0">
                <a:solidFill>
                  <a:srgbClr val="1F6FBA"/>
                </a:solidFill>
                <a:latin typeface="Reddit Sans"/>
                <a:ea typeface="Reddit Sans"/>
              </a:rPr>
              <a:t>N0+N1+N2+N3+IA · AIOps · KCS · Outcome-based · Premium</a:t>
            </a:r>
          </a:p>
        </p:txBody>
      </p:sp>
      <p:sp>
        <p:nvSpPr>
          <p:cNvPr id="51" name="chdr">
            <a:extLst>
              <a:ext uri="{FF2B5EF4-FFF2-40B4-BE49-F238E27FC236}">
                <a16:creationId xmlns:a16="http://schemas.microsoft.com/office/drawing/2014/main" id="{5091B0D8-ED97-13D1-E770-C5FA2A1C2B55}"/>
              </a:ext>
            </a:extLst>
          </p:cNvPr>
          <p:cNvSpPr>
            <a:spLocks noGrp="1"/>
          </p:cNvSpPr>
          <p:nvPr/>
        </p:nvSpPr>
        <p:spPr>
          <a:xfrm>
            <a:off x="390797" y="2334768"/>
            <a:ext cx="7635240" cy="256032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53" name="chtxt">
            <a:extLst>
              <a:ext uri="{FF2B5EF4-FFF2-40B4-BE49-F238E27FC236}">
                <a16:creationId xmlns:a16="http://schemas.microsoft.com/office/drawing/2014/main" id="{07489D35-C59A-C742-13E9-25ABA3A50B3C}"/>
              </a:ext>
            </a:extLst>
          </p:cNvPr>
          <p:cNvSpPr txBox="1">
            <a:spLocks noGrp="1"/>
          </p:cNvSpPr>
          <p:nvPr/>
        </p:nvSpPr>
        <p:spPr>
          <a:xfrm>
            <a:off x="543197" y="2334768"/>
            <a:ext cx="7635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FFFFFF"/>
                </a:solidFill>
                <a:latin typeface="Reddit Sans"/>
                <a:ea typeface="Reddit Sans"/>
              </a:rPr>
              <a:t>PORTAFOLIO COMPLEMENTARIO — Servicios adicionales que aceleran la madurez</a:t>
            </a:r>
          </a:p>
        </p:txBody>
      </p:sp>
      <p:sp>
        <p:nvSpPr>
          <p:cNvPr id="55" name="cbg">
            <a:extLst>
              <a:ext uri="{FF2B5EF4-FFF2-40B4-BE49-F238E27FC236}">
                <a16:creationId xmlns:a16="http://schemas.microsoft.com/office/drawing/2014/main" id="{0E9CCE97-C1CA-E0FD-AF5B-22D246342B1A}"/>
              </a:ext>
            </a:extLst>
          </p:cNvPr>
          <p:cNvSpPr>
            <a:spLocks noGrp="1"/>
          </p:cNvSpPr>
          <p:nvPr/>
        </p:nvSpPr>
        <p:spPr>
          <a:xfrm>
            <a:off x="390797" y="26639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A6B3C"/>
            </a:solidFill>
          </a:ln>
        </p:spPr>
      </p:sp>
      <p:sp>
        <p:nvSpPr>
          <p:cNvPr id="57" name="cbar">
            <a:extLst>
              <a:ext uri="{FF2B5EF4-FFF2-40B4-BE49-F238E27FC236}">
                <a16:creationId xmlns:a16="http://schemas.microsoft.com/office/drawing/2014/main" id="{ED7B8A9A-718F-FF96-90EC-23333ED3D8C9}"/>
              </a:ext>
            </a:extLst>
          </p:cNvPr>
          <p:cNvSpPr>
            <a:spLocks noGrp="1"/>
          </p:cNvSpPr>
          <p:nvPr/>
        </p:nvSpPr>
        <p:spPr>
          <a:xfrm>
            <a:off x="390797" y="26639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2A6B3C"/>
          </a:solidFill>
          <a:ln>
            <a:noFill/>
          </a:ln>
        </p:spPr>
      </p:sp>
      <p:sp>
        <p:nvSpPr>
          <p:cNvPr id="59" name="ctxt">
            <a:extLst>
              <a:ext uri="{FF2B5EF4-FFF2-40B4-BE49-F238E27FC236}">
                <a16:creationId xmlns:a16="http://schemas.microsoft.com/office/drawing/2014/main" id="{F0FD1526-604A-0D10-B5BD-37983CE757E7}"/>
              </a:ext>
            </a:extLst>
          </p:cNvPr>
          <p:cNvSpPr txBox="1">
            <a:spLocks noGrp="1"/>
          </p:cNvSpPr>
          <p:nvPr/>
        </p:nvSpPr>
        <p:spPr>
          <a:xfrm>
            <a:off x="537101" y="27005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b="1" dirty="0">
                <a:solidFill>
                  <a:srgbClr val="2A6B3C"/>
                </a:solidFill>
                <a:latin typeface="Reddit Sans"/>
                <a:ea typeface="Reddit Sans"/>
              </a:rPr>
              <a:t>Modernización de Aplicaciones</a:t>
            </a:r>
          </a:p>
          <a:p>
            <a:pPr algn="l"/>
            <a:r>
              <a:rPr lang="es-ES" sz="800" dirty="0">
                <a:solidFill>
                  <a:srgbClr val="6B7280"/>
                </a:solidFill>
                <a:latin typeface="Reddit Sans"/>
                <a:ea typeface="Reddit Sans"/>
              </a:rPr>
              <a:t>Migración · Refactor · Cloud Native</a:t>
            </a:r>
          </a:p>
        </p:txBody>
      </p:sp>
      <p:sp>
        <p:nvSpPr>
          <p:cNvPr id="61" name="cbg">
            <a:extLst>
              <a:ext uri="{FF2B5EF4-FFF2-40B4-BE49-F238E27FC236}">
                <a16:creationId xmlns:a16="http://schemas.microsoft.com/office/drawing/2014/main" id="{EE8298DB-83E8-A248-54E5-EE36C38A273F}"/>
              </a:ext>
            </a:extLst>
          </p:cNvPr>
          <p:cNvSpPr>
            <a:spLocks noGrp="1"/>
          </p:cNvSpPr>
          <p:nvPr/>
        </p:nvSpPr>
        <p:spPr>
          <a:xfrm>
            <a:off x="2951117" y="26639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B7B85"/>
            </a:solidFill>
          </a:ln>
        </p:spPr>
      </p:sp>
      <p:sp>
        <p:nvSpPr>
          <p:cNvPr id="63" name="cbar">
            <a:extLst>
              <a:ext uri="{FF2B5EF4-FFF2-40B4-BE49-F238E27FC236}">
                <a16:creationId xmlns:a16="http://schemas.microsoft.com/office/drawing/2014/main" id="{187AA5B3-2EC3-D3E9-0138-4C6EC3F106DF}"/>
              </a:ext>
            </a:extLst>
          </p:cNvPr>
          <p:cNvSpPr>
            <a:spLocks noGrp="1"/>
          </p:cNvSpPr>
          <p:nvPr/>
        </p:nvSpPr>
        <p:spPr>
          <a:xfrm>
            <a:off x="2951117" y="26639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65" name="ctxt">
            <a:extLst>
              <a:ext uri="{FF2B5EF4-FFF2-40B4-BE49-F238E27FC236}">
                <a16:creationId xmlns:a16="http://schemas.microsoft.com/office/drawing/2014/main" id="{99680DFF-1577-1923-FF6C-040DCAFAC68E}"/>
              </a:ext>
            </a:extLst>
          </p:cNvPr>
          <p:cNvSpPr txBox="1">
            <a:spLocks noGrp="1"/>
          </p:cNvSpPr>
          <p:nvPr/>
        </p:nvSpPr>
        <p:spPr>
          <a:xfrm>
            <a:off x="3097421" y="27005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b="1" dirty="0">
                <a:solidFill>
                  <a:srgbClr val="1B7B85"/>
                </a:solidFill>
                <a:latin typeface="Reddit Sans"/>
                <a:ea typeface="Reddit Sans"/>
              </a:rPr>
              <a:t>Observabilidad / AIOps</a:t>
            </a:r>
          </a:p>
          <a:p>
            <a:pPr algn="l"/>
            <a:r>
              <a:rPr lang="es-ES" sz="800" dirty="0">
                <a:solidFill>
                  <a:srgbClr val="6B7280"/>
                </a:solidFill>
                <a:latin typeface="Reddit Sans"/>
                <a:ea typeface="Reddit Sans"/>
              </a:rPr>
              <a:t>Dynatrace · Datadog · Nexthink</a:t>
            </a:r>
          </a:p>
        </p:txBody>
      </p:sp>
      <p:sp>
        <p:nvSpPr>
          <p:cNvPr id="67" name="cbg">
            <a:extLst>
              <a:ext uri="{FF2B5EF4-FFF2-40B4-BE49-F238E27FC236}">
                <a16:creationId xmlns:a16="http://schemas.microsoft.com/office/drawing/2014/main" id="{FEC17A7C-D0B7-C028-630D-2C21113A0870}"/>
              </a:ext>
            </a:extLst>
          </p:cNvPr>
          <p:cNvSpPr>
            <a:spLocks noGrp="1"/>
          </p:cNvSpPr>
          <p:nvPr/>
        </p:nvSpPr>
        <p:spPr>
          <a:xfrm>
            <a:off x="5511437" y="26639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</p:spPr>
      </p:sp>
      <p:sp>
        <p:nvSpPr>
          <p:cNvPr id="69" name="cbar">
            <a:extLst>
              <a:ext uri="{FF2B5EF4-FFF2-40B4-BE49-F238E27FC236}">
                <a16:creationId xmlns:a16="http://schemas.microsoft.com/office/drawing/2014/main" id="{8E1BE8F2-C05A-0F6C-F97F-028D61638718}"/>
              </a:ext>
            </a:extLst>
          </p:cNvPr>
          <p:cNvSpPr>
            <a:spLocks noGrp="1"/>
          </p:cNvSpPr>
          <p:nvPr/>
        </p:nvSpPr>
        <p:spPr>
          <a:xfrm>
            <a:off x="5511437" y="26639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71" name="ctxt">
            <a:extLst>
              <a:ext uri="{FF2B5EF4-FFF2-40B4-BE49-F238E27FC236}">
                <a16:creationId xmlns:a16="http://schemas.microsoft.com/office/drawing/2014/main" id="{67778E89-95AC-6B13-A94F-4FFE117862C0}"/>
              </a:ext>
            </a:extLst>
          </p:cNvPr>
          <p:cNvSpPr txBox="1">
            <a:spLocks noGrp="1"/>
          </p:cNvSpPr>
          <p:nvPr/>
        </p:nvSpPr>
        <p:spPr>
          <a:xfrm>
            <a:off x="5657741" y="27005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b="1" dirty="0">
                <a:solidFill>
                  <a:srgbClr val="C00000"/>
                </a:solidFill>
                <a:latin typeface="Reddit Sans"/>
                <a:ea typeface="Reddit Sans"/>
              </a:rPr>
              <a:t>Seguridad Aplicativa</a:t>
            </a:r>
          </a:p>
          <a:p>
            <a:pPr algn="l"/>
            <a:r>
              <a:rPr lang="es-ES" sz="800" dirty="0">
                <a:solidFill>
                  <a:srgbClr val="6B7280"/>
                </a:solidFill>
                <a:latin typeface="Reddit Sans"/>
                <a:ea typeface="Reddit Sans"/>
              </a:rPr>
              <a:t>SAST · DAST · ISO 27001</a:t>
            </a:r>
          </a:p>
        </p:txBody>
      </p:sp>
      <p:sp>
        <p:nvSpPr>
          <p:cNvPr id="73" name="cbg">
            <a:extLst>
              <a:ext uri="{FF2B5EF4-FFF2-40B4-BE49-F238E27FC236}">
                <a16:creationId xmlns:a16="http://schemas.microsoft.com/office/drawing/2014/main" id="{C51E67D2-47E7-16DE-DA55-96EAB9504536}"/>
              </a:ext>
            </a:extLst>
          </p:cNvPr>
          <p:cNvSpPr>
            <a:spLocks noGrp="1"/>
          </p:cNvSpPr>
          <p:nvPr/>
        </p:nvSpPr>
        <p:spPr>
          <a:xfrm>
            <a:off x="390797" y="31211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6FBA"/>
            </a:solidFill>
          </a:ln>
        </p:spPr>
      </p:sp>
      <p:sp>
        <p:nvSpPr>
          <p:cNvPr id="75" name="cbar">
            <a:extLst>
              <a:ext uri="{FF2B5EF4-FFF2-40B4-BE49-F238E27FC236}">
                <a16:creationId xmlns:a16="http://schemas.microsoft.com/office/drawing/2014/main" id="{4588DD0A-A0AF-3B6D-157C-82FFC4ABFAD4}"/>
              </a:ext>
            </a:extLst>
          </p:cNvPr>
          <p:cNvSpPr>
            <a:spLocks noGrp="1"/>
          </p:cNvSpPr>
          <p:nvPr/>
        </p:nvSpPr>
        <p:spPr>
          <a:xfrm>
            <a:off x="390797" y="31211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1F6FBA"/>
          </a:solidFill>
          <a:ln>
            <a:noFill/>
          </a:ln>
        </p:spPr>
      </p:sp>
      <p:sp>
        <p:nvSpPr>
          <p:cNvPr id="77" name="ctxt">
            <a:extLst>
              <a:ext uri="{FF2B5EF4-FFF2-40B4-BE49-F238E27FC236}">
                <a16:creationId xmlns:a16="http://schemas.microsoft.com/office/drawing/2014/main" id="{2E58338A-CEC1-CCD6-65E0-2F74435D0AA7}"/>
              </a:ext>
            </a:extLst>
          </p:cNvPr>
          <p:cNvSpPr txBox="1">
            <a:spLocks noGrp="1"/>
          </p:cNvSpPr>
          <p:nvPr/>
        </p:nvSpPr>
        <p:spPr>
          <a:xfrm>
            <a:off x="537101" y="31577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b="1" dirty="0">
                <a:solidFill>
                  <a:srgbClr val="1F6FBA"/>
                </a:solidFill>
                <a:latin typeface="Reddit Sans"/>
                <a:ea typeface="Reddit Sans"/>
              </a:rPr>
              <a:t>Automatización y DevOps</a:t>
            </a:r>
          </a:p>
          <a:p>
            <a:pPr algn="l"/>
            <a:r>
              <a:rPr lang="es-ES" sz="800" dirty="0">
                <a:solidFill>
                  <a:srgbClr val="6B7280"/>
                </a:solidFill>
                <a:latin typeface="Reddit Sans"/>
                <a:ea typeface="Reddit Sans"/>
              </a:rPr>
              <a:t>CI/CD · IaC · Runbooks auto</a:t>
            </a:r>
          </a:p>
        </p:txBody>
      </p:sp>
      <p:sp>
        <p:nvSpPr>
          <p:cNvPr id="79" name="cbg">
            <a:extLst>
              <a:ext uri="{FF2B5EF4-FFF2-40B4-BE49-F238E27FC236}">
                <a16:creationId xmlns:a16="http://schemas.microsoft.com/office/drawing/2014/main" id="{9A1E43E9-7584-405F-03C9-BA4ADCFF4815}"/>
              </a:ext>
            </a:extLst>
          </p:cNvPr>
          <p:cNvSpPr>
            <a:spLocks noGrp="1"/>
          </p:cNvSpPr>
          <p:nvPr/>
        </p:nvSpPr>
        <p:spPr>
          <a:xfrm>
            <a:off x="2951117" y="31211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</p:spPr>
      </p:sp>
      <p:sp>
        <p:nvSpPr>
          <p:cNvPr id="81" name="cbar">
            <a:extLst>
              <a:ext uri="{FF2B5EF4-FFF2-40B4-BE49-F238E27FC236}">
                <a16:creationId xmlns:a16="http://schemas.microsoft.com/office/drawing/2014/main" id="{089AA222-1275-CB54-D96D-350FE11258CE}"/>
              </a:ext>
            </a:extLst>
          </p:cNvPr>
          <p:cNvSpPr>
            <a:spLocks noGrp="1"/>
          </p:cNvSpPr>
          <p:nvPr/>
        </p:nvSpPr>
        <p:spPr>
          <a:xfrm>
            <a:off x="2951117" y="31211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6B7280"/>
          </a:solidFill>
          <a:ln>
            <a:noFill/>
          </a:ln>
        </p:spPr>
      </p:sp>
      <p:sp>
        <p:nvSpPr>
          <p:cNvPr id="83" name="ctxt">
            <a:extLst>
              <a:ext uri="{FF2B5EF4-FFF2-40B4-BE49-F238E27FC236}">
                <a16:creationId xmlns:a16="http://schemas.microsoft.com/office/drawing/2014/main" id="{BA2DB184-CFE5-BAA5-60D5-59747B6E3FE4}"/>
              </a:ext>
            </a:extLst>
          </p:cNvPr>
          <p:cNvSpPr txBox="1">
            <a:spLocks noGrp="1"/>
          </p:cNvSpPr>
          <p:nvPr/>
        </p:nvSpPr>
        <p:spPr>
          <a:xfrm>
            <a:off x="3097421" y="31577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b="1" dirty="0">
                <a:solidFill>
                  <a:srgbClr val="6B7280"/>
                </a:solidFill>
                <a:latin typeface="Reddit Sans"/>
                <a:ea typeface="Reddit Sans"/>
              </a:rPr>
              <a:t>Performance Engineering</a:t>
            </a:r>
          </a:p>
          <a:p>
            <a:pPr algn="l"/>
            <a:r>
              <a:rPr lang="es-ES" sz="800" dirty="0">
                <a:solidFill>
                  <a:srgbClr val="6B7280"/>
                </a:solidFill>
                <a:latin typeface="Reddit Sans"/>
                <a:ea typeface="Reddit Sans"/>
              </a:rPr>
              <a:t>Pruebas de carga · Tuning</a:t>
            </a:r>
          </a:p>
        </p:txBody>
      </p:sp>
      <p:sp>
        <p:nvSpPr>
          <p:cNvPr id="85" name="cbg">
            <a:extLst>
              <a:ext uri="{FF2B5EF4-FFF2-40B4-BE49-F238E27FC236}">
                <a16:creationId xmlns:a16="http://schemas.microsoft.com/office/drawing/2014/main" id="{780333AF-C260-0118-972B-193A5983CE78}"/>
              </a:ext>
            </a:extLst>
          </p:cNvPr>
          <p:cNvSpPr>
            <a:spLocks noGrp="1"/>
          </p:cNvSpPr>
          <p:nvPr/>
        </p:nvSpPr>
        <p:spPr>
          <a:xfrm>
            <a:off x="5511437" y="31211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1B5E"/>
            </a:solidFill>
          </a:ln>
        </p:spPr>
      </p:sp>
      <p:sp>
        <p:nvSpPr>
          <p:cNvPr id="87" name="cbar">
            <a:extLst>
              <a:ext uri="{FF2B5EF4-FFF2-40B4-BE49-F238E27FC236}">
                <a16:creationId xmlns:a16="http://schemas.microsoft.com/office/drawing/2014/main" id="{660B996E-663C-E661-FCDC-7F9409B2D935}"/>
              </a:ext>
            </a:extLst>
          </p:cNvPr>
          <p:cNvSpPr>
            <a:spLocks noGrp="1"/>
          </p:cNvSpPr>
          <p:nvPr/>
        </p:nvSpPr>
        <p:spPr>
          <a:xfrm>
            <a:off x="5511437" y="31211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89" name="ctxt">
            <a:extLst>
              <a:ext uri="{FF2B5EF4-FFF2-40B4-BE49-F238E27FC236}">
                <a16:creationId xmlns:a16="http://schemas.microsoft.com/office/drawing/2014/main" id="{C1106803-684A-5ACB-5134-7C919CD006F2}"/>
              </a:ext>
            </a:extLst>
          </p:cNvPr>
          <p:cNvSpPr txBox="1">
            <a:spLocks noGrp="1"/>
          </p:cNvSpPr>
          <p:nvPr/>
        </p:nvSpPr>
        <p:spPr>
          <a:xfrm>
            <a:off x="5657741" y="31577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b="1" dirty="0">
                <a:solidFill>
                  <a:srgbClr val="0D1B5E"/>
                </a:solidFill>
                <a:latin typeface="Reddit Sans"/>
                <a:ea typeface="Reddit Sans"/>
              </a:rPr>
              <a:t>Gobierno de Datos e IA</a:t>
            </a:r>
          </a:p>
          <a:p>
            <a:pPr algn="l"/>
            <a:r>
              <a:rPr lang="es-ES" sz="800" dirty="0">
                <a:solidFill>
                  <a:srgbClr val="6B7280"/>
                </a:solidFill>
                <a:latin typeface="Reddit Sans"/>
                <a:ea typeface="Reddit Sans"/>
              </a:rPr>
              <a:t>ISO 42001 · MLOps · Compliance</a:t>
            </a:r>
          </a:p>
        </p:txBody>
      </p:sp>
      <p:sp>
        <p:nvSpPr>
          <p:cNvPr id="91" name="phdr">
            <a:extLst>
              <a:ext uri="{FF2B5EF4-FFF2-40B4-BE49-F238E27FC236}">
                <a16:creationId xmlns:a16="http://schemas.microsoft.com/office/drawing/2014/main" id="{764760E5-CE0E-2CE1-674E-C73A5EEADC0C}"/>
              </a:ext>
            </a:extLst>
          </p:cNvPr>
          <p:cNvSpPr>
            <a:spLocks noGrp="1"/>
          </p:cNvSpPr>
          <p:nvPr/>
        </p:nvSpPr>
        <p:spPr>
          <a:xfrm>
            <a:off x="390797" y="3651504"/>
            <a:ext cx="7635240" cy="256032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93" name="phdrtxt">
            <a:extLst>
              <a:ext uri="{FF2B5EF4-FFF2-40B4-BE49-F238E27FC236}">
                <a16:creationId xmlns:a16="http://schemas.microsoft.com/office/drawing/2014/main" id="{27599C63-912F-E15A-758A-F51625AC30B4}"/>
              </a:ext>
            </a:extLst>
          </p:cNvPr>
          <p:cNvSpPr txBox="1">
            <a:spLocks noGrp="1"/>
          </p:cNvSpPr>
          <p:nvPr/>
        </p:nvSpPr>
        <p:spPr>
          <a:xfrm>
            <a:off x="537754" y="3651504"/>
            <a:ext cx="7635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FFFFFF"/>
                </a:solidFill>
                <a:latin typeface="Reddit Sans"/>
                <a:ea typeface="Reddit Sans"/>
              </a:rPr>
              <a:t>EVOLUCIÓN DEL MODELO DE PRECIO — De esfuerzo a resultados medibles</a:t>
            </a:r>
          </a:p>
        </p:txBody>
      </p:sp>
      <p:sp>
        <p:nvSpPr>
          <p:cNvPr id="95" name="pbg">
            <a:extLst>
              <a:ext uri="{FF2B5EF4-FFF2-40B4-BE49-F238E27FC236}">
                <a16:creationId xmlns:a16="http://schemas.microsoft.com/office/drawing/2014/main" id="{B0C9F68A-A12F-BA1B-19E8-26B09B03920A}"/>
              </a:ext>
            </a:extLst>
          </p:cNvPr>
          <p:cNvSpPr>
            <a:spLocks noGrp="1"/>
          </p:cNvSpPr>
          <p:nvPr/>
        </p:nvSpPr>
        <p:spPr>
          <a:xfrm>
            <a:off x="390797" y="3980687"/>
            <a:ext cx="1828800" cy="566928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9525">
            <a:solidFill>
              <a:srgbClr val="6B7280"/>
            </a:solidFill>
          </a:ln>
        </p:spPr>
      </p:sp>
      <p:sp>
        <p:nvSpPr>
          <p:cNvPr id="97" name="ptit">
            <a:extLst>
              <a:ext uri="{FF2B5EF4-FFF2-40B4-BE49-F238E27FC236}">
                <a16:creationId xmlns:a16="http://schemas.microsoft.com/office/drawing/2014/main" id="{81E9F2E0-4E98-8BED-0CA2-2397254D88C3}"/>
              </a:ext>
            </a:extLst>
          </p:cNvPr>
          <p:cNvSpPr txBox="1">
            <a:spLocks noGrp="1"/>
          </p:cNvSpPr>
          <p:nvPr/>
        </p:nvSpPr>
        <p:spPr>
          <a:xfrm>
            <a:off x="482237" y="4017263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 dirty="0">
                <a:solidFill>
                  <a:srgbClr val="6B7280"/>
                </a:solidFill>
                <a:latin typeface="Reddit Sans"/>
                <a:ea typeface="Reddit Sans"/>
              </a:rPr>
              <a:t>Por FTE</a:t>
            </a:r>
          </a:p>
        </p:txBody>
      </p:sp>
      <p:sp>
        <p:nvSpPr>
          <p:cNvPr id="99" name="pdesc">
            <a:extLst>
              <a:ext uri="{FF2B5EF4-FFF2-40B4-BE49-F238E27FC236}">
                <a16:creationId xmlns:a16="http://schemas.microsoft.com/office/drawing/2014/main" id="{8E485CBA-2577-8E5D-4733-7FB9993CF0B0}"/>
              </a:ext>
            </a:extLst>
          </p:cNvPr>
          <p:cNvSpPr txBox="1">
            <a:spLocks noGrp="1"/>
          </p:cNvSpPr>
          <p:nvPr/>
        </p:nvSpPr>
        <p:spPr>
          <a:xfrm>
            <a:off x="482237" y="425500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dirty="0">
                <a:solidFill>
                  <a:srgbClr val="6B7280"/>
                </a:solidFill>
                <a:latin typeface="Reddit Sans"/>
                <a:ea typeface="Reddit Sans"/>
              </a:rPr>
              <a:t>Precio fijo por persona
Riesgo PS alto · Predecible</a:t>
            </a:r>
          </a:p>
        </p:txBody>
      </p:sp>
      <p:sp>
        <p:nvSpPr>
          <p:cNvPr id="101" name="arr">
            <a:extLst>
              <a:ext uri="{FF2B5EF4-FFF2-40B4-BE49-F238E27FC236}">
                <a16:creationId xmlns:a16="http://schemas.microsoft.com/office/drawing/2014/main" id="{907466AB-23EB-CFB0-7023-D1A3492A4162}"/>
              </a:ext>
            </a:extLst>
          </p:cNvPr>
          <p:cNvSpPr txBox="1">
            <a:spLocks noGrp="1"/>
          </p:cNvSpPr>
          <p:nvPr/>
        </p:nvSpPr>
        <p:spPr>
          <a:xfrm>
            <a:off x="2219597" y="4145279"/>
            <a:ext cx="1097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1B7B85"/>
                </a:solidFill>
                <a:latin typeface="Reddit Sans"/>
                <a:ea typeface="Reddit Sans"/>
              </a:rPr>
              <a:t>→</a:t>
            </a:r>
          </a:p>
        </p:txBody>
      </p:sp>
      <p:sp>
        <p:nvSpPr>
          <p:cNvPr id="103" name="pbg">
            <a:extLst>
              <a:ext uri="{FF2B5EF4-FFF2-40B4-BE49-F238E27FC236}">
                <a16:creationId xmlns:a16="http://schemas.microsoft.com/office/drawing/2014/main" id="{8D8DC231-13A5-09D4-4815-F97BDF8D3BD4}"/>
              </a:ext>
            </a:extLst>
          </p:cNvPr>
          <p:cNvSpPr>
            <a:spLocks noGrp="1"/>
          </p:cNvSpPr>
          <p:nvPr/>
        </p:nvSpPr>
        <p:spPr>
          <a:xfrm>
            <a:off x="2329325" y="3980687"/>
            <a:ext cx="1828800" cy="566928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9525">
            <a:solidFill>
              <a:srgbClr val="1B7B85"/>
            </a:solidFill>
          </a:ln>
        </p:spPr>
      </p:sp>
      <p:sp>
        <p:nvSpPr>
          <p:cNvPr id="105" name="ptit">
            <a:extLst>
              <a:ext uri="{FF2B5EF4-FFF2-40B4-BE49-F238E27FC236}">
                <a16:creationId xmlns:a16="http://schemas.microsoft.com/office/drawing/2014/main" id="{2F78AB25-46C7-9F91-DD9F-06AD2E6E0C06}"/>
              </a:ext>
            </a:extLst>
          </p:cNvPr>
          <p:cNvSpPr txBox="1">
            <a:spLocks noGrp="1"/>
          </p:cNvSpPr>
          <p:nvPr/>
        </p:nvSpPr>
        <p:spPr>
          <a:xfrm>
            <a:off x="2420765" y="4017263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 dirty="0">
                <a:solidFill>
                  <a:srgbClr val="1B7B85"/>
                </a:solidFill>
                <a:latin typeface="Reddit Sans"/>
                <a:ea typeface="Reddit Sans"/>
              </a:rPr>
              <a:t>Por Ticket</a:t>
            </a:r>
          </a:p>
        </p:txBody>
      </p:sp>
      <p:sp>
        <p:nvSpPr>
          <p:cNvPr id="107" name="pdesc">
            <a:extLst>
              <a:ext uri="{FF2B5EF4-FFF2-40B4-BE49-F238E27FC236}">
                <a16:creationId xmlns:a16="http://schemas.microsoft.com/office/drawing/2014/main" id="{B430BFD1-A4DE-F76C-3E85-EDF2EB780505}"/>
              </a:ext>
            </a:extLst>
          </p:cNvPr>
          <p:cNvSpPr txBox="1">
            <a:spLocks noGrp="1"/>
          </p:cNvSpPr>
          <p:nvPr/>
        </p:nvSpPr>
        <p:spPr>
          <a:xfrm>
            <a:off x="2420765" y="425500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dirty="0">
                <a:solidFill>
                  <a:srgbClr val="6B7280"/>
                </a:solidFill>
                <a:latin typeface="Reddit Sans"/>
                <a:ea typeface="Reddit Sans"/>
              </a:rPr>
              <a:t>Pay-per-use · Alineado a volumen
Shift-Left incentivado</a:t>
            </a:r>
          </a:p>
        </p:txBody>
      </p:sp>
      <p:sp>
        <p:nvSpPr>
          <p:cNvPr id="109" name="arr">
            <a:extLst>
              <a:ext uri="{FF2B5EF4-FFF2-40B4-BE49-F238E27FC236}">
                <a16:creationId xmlns:a16="http://schemas.microsoft.com/office/drawing/2014/main" id="{58841477-9DA9-3628-BC1C-940F15E2EAE7}"/>
              </a:ext>
            </a:extLst>
          </p:cNvPr>
          <p:cNvSpPr txBox="1">
            <a:spLocks noGrp="1"/>
          </p:cNvSpPr>
          <p:nvPr/>
        </p:nvSpPr>
        <p:spPr>
          <a:xfrm>
            <a:off x="4158125" y="4145279"/>
            <a:ext cx="1097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1B7B85"/>
                </a:solidFill>
                <a:latin typeface="Reddit Sans"/>
                <a:ea typeface="Reddit Sans"/>
              </a:rPr>
              <a:t>→</a:t>
            </a:r>
          </a:p>
        </p:txBody>
      </p:sp>
      <p:sp>
        <p:nvSpPr>
          <p:cNvPr id="111" name="pbg">
            <a:extLst>
              <a:ext uri="{FF2B5EF4-FFF2-40B4-BE49-F238E27FC236}">
                <a16:creationId xmlns:a16="http://schemas.microsoft.com/office/drawing/2014/main" id="{21B47E69-A02F-AD84-5AF5-FEEA7BCF43CC}"/>
              </a:ext>
            </a:extLst>
          </p:cNvPr>
          <p:cNvSpPr>
            <a:spLocks noGrp="1"/>
          </p:cNvSpPr>
          <p:nvPr/>
        </p:nvSpPr>
        <p:spPr>
          <a:xfrm>
            <a:off x="4267853" y="3980687"/>
            <a:ext cx="1828800" cy="566928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9525">
            <a:solidFill>
              <a:srgbClr val="1A3A8F"/>
            </a:solidFill>
          </a:ln>
        </p:spPr>
      </p:sp>
      <p:sp>
        <p:nvSpPr>
          <p:cNvPr id="113" name="ptit">
            <a:extLst>
              <a:ext uri="{FF2B5EF4-FFF2-40B4-BE49-F238E27FC236}">
                <a16:creationId xmlns:a16="http://schemas.microsoft.com/office/drawing/2014/main" id="{0BD0FBE4-856F-DB15-1BD3-C7D2393BC6D5}"/>
              </a:ext>
            </a:extLst>
          </p:cNvPr>
          <p:cNvSpPr txBox="1">
            <a:spLocks noGrp="1"/>
          </p:cNvSpPr>
          <p:nvPr/>
        </p:nvSpPr>
        <p:spPr>
          <a:xfrm>
            <a:off x="4359293" y="4017263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 dirty="0">
                <a:solidFill>
                  <a:srgbClr val="1A3A8F"/>
                </a:solidFill>
                <a:latin typeface="Reddit Sans"/>
                <a:ea typeface="Reddit Sans"/>
              </a:rPr>
              <a:t>Outcome-Based</a:t>
            </a:r>
          </a:p>
        </p:txBody>
      </p:sp>
      <p:sp>
        <p:nvSpPr>
          <p:cNvPr id="115" name="pdesc">
            <a:extLst>
              <a:ext uri="{FF2B5EF4-FFF2-40B4-BE49-F238E27FC236}">
                <a16:creationId xmlns:a16="http://schemas.microsoft.com/office/drawing/2014/main" id="{212605A2-662E-07AE-C631-8430F60FBBF5}"/>
              </a:ext>
            </a:extLst>
          </p:cNvPr>
          <p:cNvSpPr txBox="1">
            <a:spLocks noGrp="1"/>
          </p:cNvSpPr>
          <p:nvPr/>
        </p:nvSpPr>
        <p:spPr>
          <a:xfrm>
            <a:off x="4359293" y="425500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dirty="0">
                <a:solidFill>
                  <a:srgbClr val="6B7280"/>
                </a:solidFill>
                <a:latin typeface="Reddit Sans"/>
                <a:ea typeface="Reddit Sans"/>
              </a:rPr>
              <a:t>Outcomes × Precio por Outcome
Shared savings 15-25%</a:t>
            </a:r>
          </a:p>
        </p:txBody>
      </p:sp>
      <p:sp>
        <p:nvSpPr>
          <p:cNvPr id="117" name="arr">
            <a:extLst>
              <a:ext uri="{FF2B5EF4-FFF2-40B4-BE49-F238E27FC236}">
                <a16:creationId xmlns:a16="http://schemas.microsoft.com/office/drawing/2014/main" id="{261B59FF-83E8-028B-36D9-B9799CAB463C}"/>
              </a:ext>
            </a:extLst>
          </p:cNvPr>
          <p:cNvSpPr txBox="1">
            <a:spLocks noGrp="1"/>
          </p:cNvSpPr>
          <p:nvPr/>
        </p:nvSpPr>
        <p:spPr>
          <a:xfrm>
            <a:off x="6096653" y="4145279"/>
            <a:ext cx="1097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1B7B85"/>
                </a:solidFill>
                <a:latin typeface="Reddit Sans"/>
                <a:ea typeface="Reddit Sans"/>
              </a:rPr>
              <a:t>→</a:t>
            </a:r>
          </a:p>
        </p:txBody>
      </p:sp>
      <p:sp>
        <p:nvSpPr>
          <p:cNvPr id="119" name="pbg">
            <a:extLst>
              <a:ext uri="{FF2B5EF4-FFF2-40B4-BE49-F238E27FC236}">
                <a16:creationId xmlns:a16="http://schemas.microsoft.com/office/drawing/2014/main" id="{F066019D-C137-1FA2-CEDC-1E20036F0836}"/>
              </a:ext>
            </a:extLst>
          </p:cNvPr>
          <p:cNvSpPr>
            <a:spLocks noGrp="1"/>
          </p:cNvSpPr>
          <p:nvPr/>
        </p:nvSpPr>
        <p:spPr>
          <a:xfrm>
            <a:off x="6206381" y="3980687"/>
            <a:ext cx="1828800" cy="566928"/>
          </a:xfrm>
          <a:prstGeom prst="roundRect">
            <a:avLst>
              <a:gd name="adj" fmla="val 10000"/>
            </a:avLst>
          </a:prstGeom>
          <a:solidFill>
            <a:srgbClr val="EBF5FF"/>
          </a:solidFill>
          <a:ln w="15875">
            <a:solidFill>
              <a:srgbClr val="0D1B5E"/>
            </a:solidFill>
          </a:ln>
        </p:spPr>
      </p:sp>
      <p:sp>
        <p:nvSpPr>
          <p:cNvPr id="121" name="ptit">
            <a:extLst>
              <a:ext uri="{FF2B5EF4-FFF2-40B4-BE49-F238E27FC236}">
                <a16:creationId xmlns:a16="http://schemas.microsoft.com/office/drawing/2014/main" id="{DF509C14-BA18-91EE-9834-3685C397DBB3}"/>
              </a:ext>
            </a:extLst>
          </p:cNvPr>
          <p:cNvSpPr txBox="1">
            <a:spLocks noGrp="1"/>
          </p:cNvSpPr>
          <p:nvPr/>
        </p:nvSpPr>
        <p:spPr>
          <a:xfrm>
            <a:off x="6297821" y="4017263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 dirty="0">
                <a:solidFill>
                  <a:srgbClr val="0D1B5E"/>
                </a:solidFill>
                <a:latin typeface="Reddit Sans"/>
                <a:ea typeface="Reddit Sans"/>
              </a:rPr>
              <a:t>Full Gen Next</a:t>
            </a:r>
          </a:p>
        </p:txBody>
      </p:sp>
      <p:sp>
        <p:nvSpPr>
          <p:cNvPr id="123" name="pdesc">
            <a:extLst>
              <a:ext uri="{FF2B5EF4-FFF2-40B4-BE49-F238E27FC236}">
                <a16:creationId xmlns:a16="http://schemas.microsoft.com/office/drawing/2014/main" id="{E8BFAAD6-2A5F-9830-EB72-3EE426C2887B}"/>
              </a:ext>
            </a:extLst>
          </p:cNvPr>
          <p:cNvSpPr txBox="1">
            <a:spLocks noGrp="1"/>
          </p:cNvSpPr>
          <p:nvPr/>
        </p:nvSpPr>
        <p:spPr>
          <a:xfrm>
            <a:off x="6297821" y="425500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dirty="0">
                <a:solidFill>
                  <a:srgbClr val="6B7280"/>
                </a:solidFill>
                <a:latin typeface="Reddit Sans"/>
                <a:ea typeface="Reddit Sans"/>
              </a:rPr>
              <a:t>Outcome + AIOps + XLA + KCS
Premium · Máximo valor</a:t>
            </a:r>
          </a:p>
        </p:txBody>
      </p: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B8BF7608-F948-0447-8344-EB981BA95A49}"/>
              </a:ext>
            </a:extLst>
          </p:cNvPr>
          <p:cNvSpPr txBox="1"/>
          <p:nvPr/>
        </p:nvSpPr>
        <p:spPr>
          <a:xfrm>
            <a:off x="342900" y="498022"/>
            <a:ext cx="8855528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 b="1" dirty="0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Modelos de</a:t>
            </a:r>
            <a:r>
              <a:rPr lang="es-ES" sz="1600" b="1" dirty="0">
                <a:solidFill>
                  <a:srgbClr val="0E337C"/>
                </a:solidFill>
                <a:latin typeface="Reddit Sans"/>
                <a:ea typeface="Reddit Sans"/>
              </a:rPr>
              <a:t> Precio: De FTE a </a:t>
            </a:r>
            <a:r>
              <a:rPr lang="es-ES" sz="1600" b="1" dirty="0" err="1">
                <a:solidFill>
                  <a:srgbClr val="0E337C"/>
                </a:solidFill>
                <a:latin typeface="Reddit Sans"/>
                <a:ea typeface="Reddit Sans"/>
              </a:rPr>
              <a:t>Outcomes</a:t>
            </a:r>
            <a:r>
              <a:rPr sz="1600" b="1" dirty="0">
                <a:solidFill>
                  <a:srgbClr val="0E337C"/>
                </a:solidFill>
                <a:latin typeface="Reddit Sans"/>
                <a:ea typeface="Reddit Sans"/>
              </a:rPr>
              <a:t>​</a:t>
            </a:r>
            <a:endParaRPr lang="es-ES" sz="1600" b="1" dirty="0">
              <a:solidFill>
                <a:srgbClr val="0E337C"/>
              </a:solidFill>
              <a:latin typeface="Reddit Sans"/>
              <a:ea typeface="Reddit Sans"/>
            </a:endParaRPr>
          </a:p>
          <a:p>
            <a:pPr algn="ctr"/>
            <a:endParaRPr lang="es-ES"/>
          </a:p>
        </p:txBody>
      </p:sp>
      <p:sp>
        <p:nvSpPr>
          <p:cNvPr id="72" name="src"/>
          <p:cNvSpPr txBox="1">
            <a:spLocks noGrp="1"/>
          </p:cNvSpPr>
          <p:nvPr/>
        </p:nvSpPr>
        <p:spPr>
          <a:xfrm>
            <a:off x="320040" y="44622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2"/>
              </a:rPr>
              <a:t>PersonalSoft Gen Next 2026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3"/>
              </a:rPr>
              <a:t>PeopleCert ITIL v5</a:t>
            </a:r>
            <a:r>
              <a:rPr lang="es-ES" sz="780" i="1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4"/>
              </a:rPr>
              <a:t>Gartner Outcome-Based IT</a:t>
            </a:r>
          </a:p>
        </p:txBody>
      </p:sp>
    </p:spTree>
    <p:extLst>
      <p:ext uri="{BB962C8B-B14F-4D97-AF65-F5344CB8AC3E}">
        <p14:creationId xmlns:p14="http://schemas.microsoft.com/office/powerpoint/2010/main" val="5963171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We make it happen</a:t>
            </a:r>
            <a:endParaRPr/>
          </a:p>
        </p:txBody>
      </p:sp>
      <p:sp>
        <p:nvSpPr>
          <p:cNvPr id="189" name="Google Shape;189;p6"/>
          <p:cNvSpPr txBox="1"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¡Gracias!</a:t>
            </a:r>
            <a:endParaRPr/>
          </a:p>
        </p:txBody>
      </p:sp>
      <p:sp>
        <p:nvSpPr>
          <p:cNvPr id="190" name="Google Shape;190;p6"/>
          <p:cNvSpPr txBox="1"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Centro Empresarial Ciudad del Río C2, Cra. 48 #20-114, Oficina 1026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+57 324 549 77 70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5265</Words>
  <Application>Microsoft Office PowerPoint</Application>
  <PresentationFormat>Presentación en pantalla (16:9)</PresentationFormat>
  <Paragraphs>856</Paragraphs>
  <Slides>39</Slides>
  <Notes>21</Notes>
  <HiddenSlides>2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39</vt:i4>
      </vt:variant>
    </vt:vector>
  </HeadingPairs>
  <TitlesOfParts>
    <vt:vector size="47" baseType="lpstr">
      <vt:lpstr>Reddit Sans</vt:lpstr>
      <vt:lpstr>Reddit Sans Light</vt:lpstr>
      <vt:lpstr>Reddit Sans SemiBold</vt:lpstr>
      <vt:lpstr>Arial</vt:lpstr>
      <vt:lpstr>Calibri</vt:lpstr>
      <vt:lpstr>Reddit Sans Black</vt:lpstr>
      <vt:lpstr>Simple Light</vt:lpstr>
      <vt:lpstr>Simple Light</vt:lpstr>
      <vt:lpstr>Mesa de Servicio de Nueva Generación</vt:lpstr>
      <vt:lpstr>Propuesta de Valor del Servicio</vt:lpstr>
      <vt:lpstr>Presentación de PowerPoint</vt:lpstr>
      <vt:lpstr>Brechas del mercado y oportunidades</vt:lpstr>
      <vt:lpstr>Presentación de PowerPoint</vt:lpstr>
      <vt:lpstr>Presentación de PowerPoint</vt:lpstr>
      <vt:lpstr>Nivel de Madurez de las Mesas de Servicio – A dónde queremos llegar</vt:lpstr>
      <vt:lpstr>Mesas de Servicio de Nueva Generación</vt:lpstr>
      <vt:lpstr>El Mercado Global ITSM (Gestión Integral de los Servicios de TI)</vt:lpstr>
      <vt:lpstr>Presentación de PowerPoint</vt:lpstr>
      <vt:lpstr>Presentación de PowerPoint</vt:lpstr>
      <vt:lpstr>Los 12 Grandes ya Convergieron</vt:lpstr>
      <vt:lpstr>Presentación de PowerPoint</vt:lpstr>
      <vt:lpstr>Presentación de PowerPoint</vt:lpstr>
      <vt:lpstr>7 Tendencias que definen el Mercado</vt:lpstr>
      <vt:lpstr>El Costo de No Evolucionar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Mesas de Servicio - Referencia</vt:lpstr>
      <vt:lpstr>Presentación de PowerPoint</vt:lpstr>
      <vt:lpstr>Mesas de Servicio de Nueva Generación</vt:lpstr>
      <vt:lpstr>Presentación de PowerPoint</vt:lpstr>
      <vt:lpstr>Presentación de PowerPoint</vt:lpstr>
      <vt:lpstr>Mesa tradicional vs. Mesa de Nueva Generación (Gen Next) </vt:lpstr>
      <vt:lpstr>Nuestro Servicio de Mesa de Servicio de Nueva Generación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Mesa de Servicio de Nueva Generación</vt:lpstr>
      <vt:lpstr>Presentación de PowerPoint</vt:lpstr>
      <vt:lpstr>We make it happen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Natalia Zartha Suarez</cp:lastModifiedBy>
  <cp:revision>1364</cp:revision>
  <dcterms:modified xsi:type="dcterms:W3CDTF">2026-07-09T14:04:21Z</dcterms:modified>
</cp:coreProperties>
</file>