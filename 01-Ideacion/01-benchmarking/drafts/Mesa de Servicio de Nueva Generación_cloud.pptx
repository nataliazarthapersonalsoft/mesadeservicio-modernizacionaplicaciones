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4"/>
  </p:notesMasterIdLst>
  <p:sldIdLst>
    <p:sldId id="257" r:id="rId2"/>
    <p:sldId id="260" r:id="rId3"/>
    <p:sldId id="256" r:id="rId4"/>
    <p:sldId id="262" r:id="rId5"/>
    <p:sldId id="259" r:id="rId6"/>
    <p:sldId id="285" r:id="rId7"/>
    <p:sldId id="287" r:id="rId8"/>
    <p:sldId id="286" r:id="rId9"/>
    <p:sldId id="299" r:id="rId10"/>
    <p:sldId id="300" r:id="rId11"/>
    <p:sldId id="301" r:id="rId12"/>
    <p:sldId id="302" r:id="rId13"/>
    <p:sldId id="293" r:id="rId14"/>
    <p:sldId id="303" r:id="rId15"/>
    <p:sldId id="304" r:id="rId16"/>
    <p:sldId id="305" r:id="rId17"/>
    <p:sldId id="306" r:id="rId18"/>
    <p:sldId id="307" r:id="rId19"/>
    <p:sldId id="267" r:id="rId20"/>
    <p:sldId id="268" r:id="rId21"/>
    <p:sldId id="308" r:id="rId22"/>
    <p:sldId id="309" r:id="rId23"/>
  </p:sldIdLst>
  <p:sldSz cx="9144000" cy="5143500" type="screen16x9"/>
  <p:notesSz cx="6858000" cy="9144000"/>
  <p:embeddedFontLst>
    <p:embeddedFont>
      <p:font typeface="Reddit Sans" panose="020B0604020202020204" charset="0"/>
      <p:regular r:id="rId25"/>
      <p:bold r:id="rId26"/>
      <p:italic r:id="rId27"/>
      <p:boldItalic r:id="rId28"/>
    </p:embeddedFont>
    <p:embeddedFont>
      <p:font typeface="Reddit Sans Medium" panose="020B0604020202020204" charset="0"/>
      <p:regular r:id="rId29"/>
      <p:bold r:id="rId30"/>
      <p:italic r:id="rId31"/>
      <p:boldItalic r:id="rId32"/>
    </p:embeddedFont>
    <p:embeddedFont>
      <p:font typeface="Reddit Sans SemiBold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740E76-A8B1-842A-8097-940ADCC85B94}" v="225" dt="2026-07-07T22:26:35.199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4" d="100"/>
          <a:sy n="54" d="100"/>
        </p:scale>
        <p:origin x="8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4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d500af2f30bdfc2fb481c268b42ccff364d8c6d896f51ecdfd16d3bf116eedcdJmltdHM9MTc4MzM4MjQwMA&amp;ptn=3&amp;ver=2&amp;hsh=4&amp;fclid=10d11685-cdd1-6520-1f35-0107cca364bf&amp;u=a1aHR0cHM6Ly9yZWd1bGFmb3JlbnNpY3MuY29tL2VzL2Jsb2cvc3dhcm1pbmctc3VwcG9ydC1tb2RlbC8&amp;ntb=1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d2dbf307e6b4f5b1804b834a3caf1d17ca1a38a0141c5178a37461f5d2a40923JmltdHM9MTc4MzM4MjQwMA&amp;ptn=3&amp;ver=2&amp;hsh=4&amp;fclid=10d11685-cdd1-6520-1f35-0107cca364bf&amp;u=a1aHR0cHM6Ly93d3cuZ2VuZXN5cy1nbG9iYWwuY29tL21vZGVsby1zaGlmdC1sZWZ0LXNvcG9ydGUtdGkv&amp;ntb=1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AIOps: es la </a:t>
            </a:r>
            <a:r>
              <a:rPr lang="en-US" err="1"/>
              <a:t>aplicación</a:t>
            </a:r>
            <a:r>
              <a:rPr lang="en-US"/>
              <a:t> de </a:t>
            </a:r>
            <a:r>
              <a:rPr lang="en-US" err="1"/>
              <a:t>inteligencia</a:t>
            </a:r>
            <a:r>
              <a:rPr lang="en-US"/>
              <a:t> artificial y machine learning para </a:t>
            </a:r>
            <a:r>
              <a:rPr lang="en-US" err="1"/>
              <a:t>automatizar</a:t>
            </a:r>
            <a:r>
              <a:rPr lang="en-US"/>
              <a:t>, </a:t>
            </a:r>
            <a:r>
              <a:rPr lang="en-US" err="1"/>
              <a:t>optimizar</a:t>
            </a:r>
            <a:r>
              <a:rPr lang="en-US"/>
              <a:t> y </a:t>
            </a:r>
            <a:r>
              <a:rPr lang="en-US" err="1"/>
              <a:t>mejorar</a:t>
            </a:r>
            <a:r>
              <a:rPr lang="en-US"/>
              <a:t> las </a:t>
            </a:r>
            <a:r>
              <a:rPr lang="en-US" err="1"/>
              <a:t>operaciones</a:t>
            </a:r>
            <a:r>
              <a:rPr lang="en-US"/>
              <a:t> de TI.</a:t>
            </a:r>
          </a:p>
          <a:p>
            <a:pPr>
              <a:buNone/>
            </a:pPr>
            <a:r>
              <a:rPr lang="en-US">
                <a:highlight>
                  <a:srgbClr val="FFFFFF"/>
                </a:highlight>
              </a:rPr>
              <a:t>El Bus Factor: </a:t>
            </a:r>
            <a:r>
              <a:rPr lang="en-US" err="1">
                <a:highlight>
                  <a:srgbClr val="FFFFFF"/>
                </a:highlight>
              </a:rPr>
              <a:t>mide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cuántas</a:t>
            </a:r>
            <a:r>
              <a:rPr lang="en-US">
                <a:highlight>
                  <a:srgbClr val="FFFFFF"/>
                </a:highlight>
              </a:rPr>
              <a:t> personas </a:t>
            </a:r>
            <a:r>
              <a:rPr lang="en-US" err="1">
                <a:highlight>
                  <a:srgbClr val="FFFFFF"/>
                </a:highlight>
              </a:rPr>
              <a:t>tendrían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que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salir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mañana</a:t>
            </a:r>
            <a:r>
              <a:rPr lang="en-US">
                <a:highlight>
                  <a:srgbClr val="FFFFFF"/>
                </a:highlight>
              </a:rPr>
              <a:t> para </a:t>
            </a:r>
            <a:r>
              <a:rPr lang="en-US" err="1">
                <a:highlight>
                  <a:srgbClr val="FFFFFF"/>
                </a:highlight>
              </a:rPr>
              <a:t>que</a:t>
            </a:r>
            <a:r>
              <a:rPr lang="en-US">
                <a:highlight>
                  <a:srgbClr val="FFFFFF"/>
                </a:highlight>
              </a:rPr>
              <a:t> un </a:t>
            </a:r>
            <a:r>
              <a:rPr lang="en-US" err="1">
                <a:highlight>
                  <a:srgbClr val="FFFFFF"/>
                </a:highlight>
              </a:rPr>
              <a:t>proceso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crítico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colapse</a:t>
            </a:r>
            <a:r>
              <a:rPr lang="en-US">
                <a:highlight>
                  <a:srgbClr val="FFFFFF"/>
                </a:highlight>
              </a:rPr>
              <a:t>. Bus factor alto = </a:t>
            </a:r>
            <a:r>
              <a:rPr lang="en-US" err="1">
                <a:highlight>
                  <a:srgbClr val="FFFFFF"/>
                </a:highlight>
              </a:rPr>
              <a:t>riesgo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operativo</a:t>
            </a:r>
            <a:r>
              <a:rPr lang="en-US">
                <a:highlight>
                  <a:srgbClr val="FFFFFF"/>
                </a:highlight>
              </a:rPr>
              <a:t> alto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508815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AD35F874-1F94-53C8-4BD8-BA84CF5E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D3FB6E8F-CFB8-96CF-9D4D-629273B98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DDE1CA99-7249-BF1C-C019-A59E84F03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312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s-CO" sz="1100" b="0" i="0" u="none" strike="noStrike" cap="none" dirty="0">
                <a:solidFill>
                  <a:srgbClr val="000000"/>
                </a:solidFill>
                <a:effectLst/>
                <a:latin typeface="Reddit Sans" panose="020B0604020202020204" charset="0"/>
                <a:ea typeface="Reddit Sans" panose="020B0604020202020204" charset="0"/>
                <a:cs typeface="Arial"/>
                <a:sym typeface="Arial"/>
              </a:rPr>
              <a:t>ITSM (Gestión de Servicios de TI) es el </a:t>
            </a:r>
            <a:r>
              <a:rPr lang="es-CO" dirty="0">
                <a:latin typeface="Reddit Sans" panose="020B0604020202020204" charset="0"/>
                <a:ea typeface="Reddit Sans" panose="020B0604020202020204" charset="0"/>
              </a:rPr>
              <a:t>enfoque estratégico para diseñar, entregar, gestionar y mejorar los servicios tecnológicos que una empresa ofrece.</a:t>
            </a:r>
          </a:p>
        </p:txBody>
      </p:sp>
    </p:spTree>
    <p:extLst>
      <p:ext uri="{BB962C8B-B14F-4D97-AF65-F5344CB8AC3E}">
        <p14:creationId xmlns:p14="http://schemas.microsoft.com/office/powerpoint/2010/main" val="3411428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191919"/>
                </a:solidFill>
                <a:highlight>
                  <a:srgbClr val="F8F4F1"/>
                </a:highlight>
                <a:hlinkClick r:id="rId3"/>
              </a:rPr>
              <a:t>El swarming en una mesa de servicios se refiere a un modelo de soporte que utiliza la colaboración y la inteligencia colectiva para resolver problemas de manera más eficiente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9955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191919"/>
                </a:solidFill>
                <a:highlight>
                  <a:srgbClr val="F8F4F1"/>
                </a:highlight>
                <a:hlinkClick r:id="rId3"/>
              </a:rPr>
              <a:t>Shift-left para la Mesa de servicios de TI es el movimiento del soporte de TI más cerca de la primera línea operativa y el usuario/cliente final.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7411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4" r:id="rId10"/>
    <p:sldLayoutId id="214748366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en/documents/553396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artner.com/en/information-technology/insights/it-service-management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en/documents/5533963" TargetMode="External"/><Relationship Id="rId2" Type="http://schemas.openxmlformats.org/officeDocument/2006/relationships/hyperlink" Target="https://www.freshworks.com/freshservice/state-of-it-service-management/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mmiinstitute.com/learning/appraisals/levels" TargetMode="External"/><Relationship Id="rId2" Type="http://schemas.openxmlformats.org/officeDocument/2006/relationships/hyperlink" Target="https://www.peoplecert.org/browse-certifications/it-governance-and-service-management/ITIL-1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Estudio de Mercado Julio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361350" y="504411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>
                <a:highlight>
                  <a:srgbClr val="FFFFFF"/>
                </a:highlight>
              </a:rPr>
              <a:t>Valor del Servicio</a:t>
            </a:r>
            <a:endParaRPr lang="es-ES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361349" y="2820693"/>
            <a:ext cx="5383159" cy="15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"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ventaja competitiva sostenible en el tiempo. Estandariza la operación con roles claros, procesos definidos y conocimiento institucionalizado con IA. Convirtiendo la mesa en un servicio predecible, medible y escalable en donde el cliente puede crecer y confiar. </a:t>
            </a:r>
            <a:endParaRPr lang="es-ES"/>
          </a:p>
        </p:txBody>
      </p:sp>
      <p:cxnSp>
        <p:nvCxnSpPr>
          <p:cNvPr id="133" name="Google Shape;133;p2"/>
          <p:cNvCxnSpPr/>
          <p:nvPr/>
        </p:nvCxnSpPr>
        <p:spPr>
          <a:xfrm rot="10800000" flipH="1">
            <a:off x="0" y="2651850"/>
            <a:ext cx="5743800" cy="36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" title="isotipo_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/>
          <p:nvPr/>
        </p:nvSpPr>
        <p:spPr>
          <a:xfrm>
            <a:off x="6206836" y="0"/>
            <a:ext cx="2937164" cy="5143500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2" name="Google Shape;132;p2" title="textura 1.jpg"/>
          <p:cNvPicPr preferRelativeResize="0"/>
          <p:nvPr/>
        </p:nvPicPr>
        <p:blipFill rotWithShape="1">
          <a:blip r:embed="rId4">
            <a:alphaModFix/>
          </a:blip>
          <a:srcRect l="37172" r="5841"/>
          <a:stretch/>
        </p:blipFill>
        <p:spPr>
          <a:xfrm>
            <a:off x="6206836" y="0"/>
            <a:ext cx="29310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D1A1633-87B8-69A8-F58D-616529537203}"/>
              </a:ext>
            </a:extLst>
          </p:cNvPr>
          <p:cNvSpPr txBox="1"/>
          <p:nvPr/>
        </p:nvSpPr>
        <p:spPr>
          <a:xfrm>
            <a:off x="6319158" y="1913166"/>
            <a:ext cx="2705099" cy="3376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10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el cliente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s-ES" sz="1000" b="0" i="0" u="none" strike="noStrike" baseline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SLAs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cumplidos, menos interrupciones y visibilidad real de la </a:t>
            </a:r>
            <a:r>
              <a:rPr lang="es-ES" sz="100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en tiempo real.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>
              <a:lnSpc>
                <a:spcPct val="150000"/>
              </a:lnSpc>
            </a:pPr>
            <a:endParaRPr lang="en-US" sz="1000">
              <a:solidFill>
                <a:schemeClr val="bg1"/>
              </a:solidFill>
              <a:latin typeface="Reddit Sans"/>
              <a:ea typeface="Segoe UI"/>
              <a:cs typeface="Segoe UI"/>
            </a:endParaRPr>
          </a:p>
          <a:p>
            <a:pPr algn="l" rtl="0">
              <a:lnSpc>
                <a:spcPct val="150000"/>
              </a:lnSpc>
            </a:pPr>
            <a:r>
              <a:rPr lang="es-ES" sz="10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</a:t>
            </a:r>
            <a:r>
              <a:rPr lang="es-ES" sz="1000" b="1" i="0" u="none" strike="noStrike" baseline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PersonalSoft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s-ES" sz="100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Márgenes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que mejoran con la </a:t>
            </a:r>
            <a:r>
              <a:rPr lang="es-ES" sz="100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automatización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>
              <a:lnSpc>
                <a:spcPct val="150000"/>
              </a:lnSpc>
            </a:pPr>
            <a:endParaRPr lang="en-US" sz="1000">
              <a:solidFill>
                <a:schemeClr val="bg1"/>
              </a:solidFill>
              <a:latin typeface="Reddit Sans"/>
              <a:ea typeface="Segoe UI"/>
              <a:cs typeface="Segoe UI"/>
            </a:endParaRPr>
          </a:p>
          <a:p>
            <a:pPr algn="l" rtl="0">
              <a:lnSpc>
                <a:spcPct val="150000"/>
              </a:lnSpc>
            </a:pPr>
            <a:r>
              <a:rPr lang="es-ES" sz="10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el mercado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Un diferenciador real: el proveedor que llega con datos, herramientas y evolución continua.</a:t>
            </a:r>
          </a:p>
          <a:p>
            <a:pPr algn="ctr">
              <a:lnSpc>
                <a:spcPct val="150000"/>
              </a:lnSpc>
            </a:pPr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091" y="205740"/>
            <a:ext cx="6858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213F7D"/>
                </a:solidFill>
              </a:defRPr>
            </a:pPr>
            <a:r>
              <a:rPr lang="es-CO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¿Por qué evolucionar la Mesa de Servicios?</a:t>
            </a:r>
            <a:endParaRPr lang="es-CO" sz="1600" b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7838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Gobierno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Modelo operativo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no estandarizado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436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Escalabilidad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Crecimiento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basado en FTE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3034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Automatización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Alta dependencia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de tareas manuales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5632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Conocimiento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Conocimiento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concentrado en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38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 err="1">
                <a:latin typeface="Reddit Sans"/>
                <a:ea typeface="Reddit Sans"/>
              </a:rPr>
              <a:t>Observabilidad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 err="1">
                <a:latin typeface="Reddit Sans"/>
                <a:ea typeface="Reddit Sans"/>
              </a:rPr>
              <a:t>KPIs</a:t>
            </a:r>
            <a:r>
              <a:rPr lang="es-CO" sz="800">
                <a:latin typeface="Reddit Sans"/>
                <a:ea typeface="Reddit Sans"/>
              </a:rPr>
              <a:t> y SLA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sin estandarizar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36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Transición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 err="1">
                <a:latin typeface="Reddit Sans"/>
                <a:ea typeface="Reddit Sans"/>
              </a:rPr>
              <a:t>Onboarding</a:t>
            </a:r>
            <a:r>
              <a:rPr lang="es-CO" sz="800">
                <a:latin typeface="Reddit Sans"/>
                <a:ea typeface="Reddit Sans"/>
              </a:rPr>
              <a:t> con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alta fricción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034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Preventa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Dimensionamiento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insuficiente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5632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Plataforma &amp; Talento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Retención y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especialización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481" y="4053296"/>
            <a:ext cx="8298180" cy="342900"/>
          </a:xfrm>
          <a:prstGeom prst="roundRect">
            <a:avLst/>
          </a:prstGeom>
          <a:solidFill>
            <a:srgbClr val="213F7D"/>
          </a:solidFill>
          <a:ln>
            <a:solidFill>
              <a:srgbClr val="213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050">
                <a:latin typeface="Reddit Sans"/>
                <a:ea typeface="Reddit Sans"/>
              </a:rPr>
              <a:t> Mesa de Servicio de Nueva Generación</a:t>
            </a:r>
            <a:r>
              <a:rPr sz="1050">
                <a:latin typeface="Reddit Sans"/>
                <a:ea typeface="Reddit Sans"/>
              </a:rPr>
              <a:t>: </a:t>
            </a:r>
            <a:r>
              <a:rPr lang="en-US" sz="1050">
                <a:latin typeface="Reddit Sans"/>
                <a:ea typeface="Reddit Sans"/>
              </a:rPr>
              <a:t>Una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operación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estandarizada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automatizada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medible</a:t>
            </a:r>
            <a:r>
              <a:rPr sz="1050">
                <a:latin typeface="Reddit Sans"/>
                <a:ea typeface="Reddit Sans"/>
              </a:rPr>
              <a:t> y </a:t>
            </a:r>
            <a:r>
              <a:rPr sz="1050" err="1">
                <a:latin typeface="Reddit Sans"/>
                <a:ea typeface="Reddit Sans"/>
              </a:rPr>
              <a:t>habilitada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por</a:t>
            </a:r>
            <a:r>
              <a:rPr sz="1050">
                <a:latin typeface="Reddit Sans"/>
                <a:ea typeface="Reddit Sans"/>
              </a:rPr>
              <a:t> IA.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00E2-8AA6-B2EC-C394-830FBBB47CA4}"/>
              </a:ext>
            </a:extLst>
          </p:cNvPr>
          <p:cNvSpPr txBox="1"/>
          <p:nvPr/>
        </p:nvSpPr>
        <p:spPr>
          <a:xfrm>
            <a:off x="381000" y="547007"/>
            <a:ext cx="4572000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900" b="0" i="0" u="none" strike="noStrike" baseline="0">
                <a:solidFill>
                  <a:srgbClr val="6E6E6E"/>
                </a:solidFill>
                <a:latin typeface="Reddit Sans"/>
                <a:ea typeface="Reddit Sans"/>
              </a:rPr>
              <a:t>Principales brechas del modelo operativo actual</a:t>
            </a:r>
            <a:r>
              <a:rPr lang="es-CO" sz="900" b="0" i="0">
                <a:solidFill>
                  <a:srgbClr val="000000"/>
                </a:solidFill>
                <a:latin typeface="Reddit Sans"/>
                <a:ea typeface="Reddit Sans"/>
              </a:rPr>
              <a:t>​</a:t>
            </a:r>
            <a:endParaRPr lang="es-CO">
              <a:latin typeface="Reddit Sans"/>
              <a:ea typeface="Reddit Sans"/>
            </a:endParaRPr>
          </a:p>
          <a:p>
            <a:pPr algn="ctr"/>
            <a:endParaRPr lang="es-CO">
              <a:latin typeface="Reddit Sans"/>
              <a:ea typeface="Reddi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rgbClr val="263474"/>
                </a:solidFill>
                <a:sym typeface="Reddit Sans Medium"/>
              </a:rPr>
              <a:t>Mesas de Servicio Actuales</a:t>
            </a:r>
            <a:endParaRPr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 dirty="0"/>
              <a:t>A donde queremos llegar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 de Madurez de las Mesas de Servicio – A dónde queremos llegar</a:t>
            </a:r>
          </a:p>
        </p:txBody>
      </p:sp>
      <p:sp>
        <p:nvSpPr>
          <p:cNvPr id="3" name="Subtitulo"/>
          <p:cNvSpPr txBox="1">
            <a:spLocks noGrp="1"/>
          </p:cNvSpPr>
          <p:nvPr>
            <p:ph type="subTitle" idx="4294967295"/>
          </p:nvPr>
        </p:nvSpPr>
        <p:spPr>
          <a:xfrm>
            <a:off x="239486" y="542698"/>
            <a:ext cx="6194199" cy="56379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s-ES" sz="1000"/>
              <a:t>ITIL v5 · Escala N1 a N5 · 4 dimensiones · 17 practicas a evaluar</a:t>
            </a:r>
          </a:p>
        </p:txBody>
      </p:sp>
      <p:sp>
        <p:nvSpPr>
          <p:cNvPr id="10" name="N1 box"/>
          <p:cNvSpPr txBox="1"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solidFill>
            <a:srgbClr val="FAECE7"/>
          </a:solidFill>
          <a:ln w="19050">
            <a:solidFill>
              <a:srgbClr val="D0021B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D0021B"/>
                </a:solidFill>
              </a:rPr>
              <a:t>N1</a:t>
            </a:r>
          </a:p>
          <a:p>
            <a:pPr algn="ctr">
              <a:buNone/>
            </a:pPr>
            <a:r>
              <a:rPr lang="es" sz="900" b="1">
                <a:solidFill>
                  <a:srgbClr val="D0021B"/>
                </a:solidFill>
              </a:rPr>
              <a:t>Inicial</a:t>
            </a:r>
          </a:p>
        </p:txBody>
      </p:sp>
      <p:sp>
        <p:nvSpPr>
          <p:cNvPr id="11" name="flecha1"/>
          <p:cNvSpPr txBox="1"/>
          <p:nvPr/>
        </p:nvSpPr>
        <p:spPr>
          <a:xfrm>
            <a:off x="18288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N2 box"/>
          <p:cNvSpPr txBox="1"/>
          <p:nvPr/>
        </p:nvSpPr>
        <p:spPr>
          <a:xfrm>
            <a:off x="2171700" y="1371600"/>
            <a:ext cx="1371600" cy="914400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633806"/>
                </a:solidFill>
              </a:rPr>
              <a:t>N2</a:t>
            </a:r>
          </a:p>
          <a:p>
            <a:pPr algn="ctr">
              <a:buNone/>
            </a:pPr>
            <a:r>
              <a:rPr lang="es" sz="900" b="1">
                <a:solidFill>
                  <a:srgbClr val="633806"/>
                </a:solidFill>
              </a:rPr>
              <a:t>Administrado</a:t>
            </a:r>
          </a:p>
        </p:txBody>
      </p:sp>
      <p:sp>
        <p:nvSpPr>
          <p:cNvPr id="13" name="flecha2"/>
          <p:cNvSpPr txBox="1"/>
          <p:nvPr/>
        </p:nvSpPr>
        <p:spPr>
          <a:xfrm>
            <a:off x="35433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N3 box"/>
          <p:cNvSpPr txBox="1"/>
          <p:nvPr/>
        </p:nvSpPr>
        <p:spPr>
          <a:xfrm>
            <a:off x="3886200" y="1371600"/>
            <a:ext cx="1371600" cy="914400"/>
          </a:xfrm>
          <a:prstGeom prst="rect">
            <a:avLst/>
          </a:prstGeom>
          <a:solidFill>
            <a:srgbClr val="E6F1FB"/>
          </a:solidFill>
          <a:ln w="28575">
            <a:solidFill>
              <a:srgbClr val="0E337C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0E337C"/>
                </a:solidFill>
              </a:rPr>
              <a:t>N3 ★</a:t>
            </a:r>
          </a:p>
          <a:p>
            <a:pPr algn="ctr">
              <a:buNone/>
            </a:pPr>
            <a:r>
              <a:rPr lang="es" sz="900" b="1">
                <a:solidFill>
                  <a:srgbClr val="0E337C"/>
                </a:solidFill>
              </a:rPr>
              <a:t>Definido</a:t>
            </a:r>
          </a:p>
        </p:txBody>
      </p:sp>
      <p:sp>
        <p:nvSpPr>
          <p:cNvPr id="15" name="flecha3"/>
          <p:cNvSpPr txBox="1"/>
          <p:nvPr/>
        </p:nvSpPr>
        <p:spPr>
          <a:xfrm>
            <a:off x="52578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N4 box"/>
          <p:cNvSpPr txBox="1"/>
          <p:nvPr/>
        </p:nvSpPr>
        <p:spPr>
          <a:xfrm>
            <a:off x="5600700" y="1371600"/>
            <a:ext cx="1371600" cy="914400"/>
          </a:xfrm>
          <a:prstGeom prst="rect">
            <a:avLst/>
          </a:prstGeom>
          <a:solidFill>
            <a:srgbClr val="EEEDFE"/>
          </a:solidFill>
          <a:ln w="19050">
            <a:solidFill>
              <a:srgbClr val="3C3489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3C3489"/>
                </a:solidFill>
              </a:rPr>
              <a:t>N4</a:t>
            </a:r>
          </a:p>
          <a:p>
            <a:pPr algn="ctr">
              <a:buNone/>
            </a:pPr>
            <a:r>
              <a:rPr lang="es" sz="900" b="1">
                <a:solidFill>
                  <a:srgbClr val="3C3489"/>
                </a:solidFill>
              </a:rPr>
              <a:t>Cuantitativo</a:t>
            </a:r>
          </a:p>
        </p:txBody>
      </p:sp>
      <p:sp>
        <p:nvSpPr>
          <p:cNvPr id="17" name="flecha4"/>
          <p:cNvSpPr txBox="1"/>
          <p:nvPr/>
        </p:nvSpPr>
        <p:spPr>
          <a:xfrm>
            <a:off x="69723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5 box"/>
          <p:cNvSpPr txBox="1"/>
          <p:nvPr/>
        </p:nvSpPr>
        <p:spPr>
          <a:xfrm>
            <a:off x="7315200" y="1371600"/>
            <a:ext cx="1371600" cy="914400"/>
          </a:xfrm>
          <a:prstGeom prst="rect">
            <a:avLst/>
          </a:prstGeom>
          <a:solidFill>
            <a:srgbClr val="E1F5EE"/>
          </a:solidFill>
          <a:ln w="57150">
            <a:solidFill>
              <a:srgbClr val="92D050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085041"/>
                </a:solidFill>
              </a:rPr>
              <a:t>N5</a:t>
            </a:r>
          </a:p>
          <a:p>
            <a:pPr algn="ctr">
              <a:buNone/>
            </a:pPr>
            <a:r>
              <a:rPr lang="es" sz="900" b="1">
                <a:solidFill>
                  <a:srgbClr val="085041"/>
                </a:solidFill>
              </a:rPr>
              <a:t>Optimizado</a:t>
            </a:r>
          </a:p>
        </p:txBody>
      </p:sp>
      <p:sp>
        <p:nvSpPr>
          <p:cNvPr id="20" name="desc N1"/>
          <p:cNvSpPr txBox="1"/>
          <p:nvPr/>
        </p:nvSpPr>
        <p:spPr>
          <a:xfrm>
            <a:off x="457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</a:pPr>
            <a:r>
              <a:rPr lang="es" sz="900">
                <a:solidFill>
                  <a:srgbClr val="666666"/>
                </a:solidFill>
              </a:rPr>
              <a:t>Reactivo total. Conocimiento en personas. Bus factor alto (rotación).</a:t>
            </a:r>
          </a:p>
        </p:txBody>
      </p:sp>
      <p:sp>
        <p:nvSpPr>
          <p:cNvPr id="21" name="desc N2"/>
          <p:cNvSpPr txBox="1"/>
          <p:nvPr/>
        </p:nvSpPr>
        <p:spPr>
          <a:xfrm>
            <a:off x="21717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Procesos por mesa. Herramienta como bitácora. Mínimo Mesa de Ayuda.</a:t>
            </a:r>
          </a:p>
        </p:txBody>
      </p:sp>
      <p:sp>
        <p:nvSpPr>
          <p:cNvPr id="22" name="desc N3"/>
          <p:cNvSpPr txBox="1"/>
          <p:nvPr/>
        </p:nvSpPr>
        <p:spPr>
          <a:xfrm>
            <a:off x="3886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 b="1">
                <a:solidFill>
                  <a:srgbClr val="0E337C"/>
                </a:solidFill>
              </a:rPr>
              <a:t>Estandarizado. RACI, ANS y catálogo. Mínimo Mesa de Soporte. </a:t>
            </a:r>
          </a:p>
        </p:txBody>
      </p:sp>
      <p:sp>
        <p:nvSpPr>
          <p:cNvPr id="23" name="desc N4"/>
          <p:cNvSpPr txBox="1"/>
          <p:nvPr/>
        </p:nvSpPr>
        <p:spPr>
          <a:xfrm>
            <a:off x="56007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Datos reales. KPIs medidos. Costo por ticket calculado.</a:t>
            </a:r>
          </a:p>
        </p:txBody>
      </p:sp>
      <p:sp>
        <p:nvSpPr>
          <p:cNvPr id="24" name="desc N5"/>
          <p:cNvSpPr txBox="1"/>
          <p:nvPr/>
        </p:nvSpPr>
        <p:spPr>
          <a:xfrm>
            <a:off x="7315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Mejora continua automatizada. </a:t>
            </a:r>
          </a:p>
        </p:txBody>
      </p:sp>
      <p:sp>
        <p:nvSpPr>
          <p:cNvPr id="30" name="modelo reactivo"/>
          <p:cNvSpPr txBox="1"/>
          <p:nvPr/>
        </p:nvSpPr>
        <p:spPr>
          <a:xfrm>
            <a:off x="457200" y="3543300"/>
            <a:ext cx="2742750" cy="457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</a:rPr>
              <a:t>Reactivo y Crecimiento Automatizado</a:t>
            </a:r>
          </a:p>
        </p:txBody>
      </p:sp>
      <p:sp>
        <p:nvSpPr>
          <p:cNvPr id="31" name="modelo predictivo"/>
          <p:cNvSpPr txBox="1"/>
          <p:nvPr/>
        </p:nvSpPr>
        <p:spPr>
          <a:xfrm>
            <a:off x="3257550" y="3543300"/>
            <a:ext cx="2742750" cy="4572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</a:rPr>
              <a:t>Predictivo y Evolutivo</a:t>
            </a:r>
          </a:p>
        </p:txBody>
      </p:sp>
      <p:sp>
        <p:nvSpPr>
          <p:cNvPr id="32" name="modelo autonomo"/>
          <p:cNvSpPr txBox="1"/>
          <p:nvPr/>
        </p:nvSpPr>
        <p:spPr>
          <a:xfrm>
            <a:off x="6057900" y="3543300"/>
            <a:ext cx="2743500" cy="457200"/>
          </a:xfrm>
          <a:prstGeom prst="rect">
            <a:avLst/>
          </a:prstGeom>
          <a:solidFill>
            <a:srgbClr val="E1F5EE"/>
          </a:solidFill>
          <a:ln w="57150">
            <a:solidFill>
              <a:srgbClr val="92D050"/>
            </a:solidFill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85041"/>
                </a:solidFill>
              </a:rPr>
              <a:t>Autónomo e Inteligente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AA56E4B-D6D8-65F3-C952-37A0C27F0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CCEE9CC7-872E-C3D2-EC82-3E23F2D992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C6683957-388A-9E43-6E8E-841DDAB357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 dirty="0"/>
              <a:t>Estudio de Mercado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769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El Mercado Global ITSM — Tamaño, Crecimiento y Oportunidad en Colombia</a:t>
            </a:r>
          </a:p>
        </p:txBody>
      </p:sp>
      <p:sp>
        <p:nvSpPr>
          <p:cNvPr id="10" name="sb"/>
          <p:cNvSpPr>
            <a:spLocks noGrp="1"/>
          </p:cNvSpPr>
          <p:nvPr/>
        </p:nvSpPr>
        <p:spPr>
          <a:xfrm>
            <a:off x="365760" y="804672"/>
            <a:ext cx="1828800" cy="1078992"/>
          </a:xfrm>
          <a:prstGeom prst="roundRect">
            <a:avLst>
              <a:gd name="adj" fmla="val 25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1" name="sn"/>
          <p:cNvSpPr txBox="1">
            <a:spLocks noGrp="1"/>
          </p:cNvSpPr>
          <p:nvPr/>
        </p:nvSpPr>
        <p:spPr>
          <a:xfrm>
            <a:off x="457200" y="896112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600" b="1" dirty="0">
                <a:solidFill>
                  <a:srgbClr val="FFFFFF"/>
                </a:solidFill>
                <a:latin typeface="Calibri"/>
              </a:rPr>
              <a:t>USD 11.4B</a:t>
            </a:r>
          </a:p>
        </p:txBody>
      </p:sp>
      <p:sp>
        <p:nvSpPr>
          <p:cNvPr id="12" name="sl"/>
          <p:cNvSpPr txBox="1">
            <a:spLocks noGrp="1"/>
          </p:cNvSpPr>
          <p:nvPr/>
        </p:nvSpPr>
        <p:spPr>
          <a:xfrm>
            <a:off x="457200" y="1481328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dirty="0">
                <a:solidFill>
                  <a:srgbClr val="FFFFFF"/>
                </a:solidFill>
                <a:latin typeface="Calibri"/>
              </a:rPr>
              <a:t>Mercado global ITSM 2024</a:t>
            </a:r>
          </a:p>
        </p:txBody>
      </p:sp>
      <p:sp>
        <p:nvSpPr>
          <p:cNvPr id="13" name="sb"/>
          <p:cNvSpPr>
            <a:spLocks noGrp="1"/>
          </p:cNvSpPr>
          <p:nvPr/>
        </p:nvSpPr>
        <p:spPr>
          <a:xfrm>
            <a:off x="2304288" y="804672"/>
            <a:ext cx="1828800" cy="1078992"/>
          </a:xfrm>
          <a:prstGeom prst="roundRect">
            <a:avLst>
              <a:gd name="adj" fmla="val 25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4" name="sn"/>
          <p:cNvSpPr txBox="1">
            <a:spLocks noGrp="1"/>
          </p:cNvSpPr>
          <p:nvPr/>
        </p:nvSpPr>
        <p:spPr>
          <a:xfrm>
            <a:off x="2395728" y="896112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600" b="1" dirty="0">
                <a:solidFill>
                  <a:srgbClr val="FFFFFF"/>
                </a:solidFill>
                <a:latin typeface="Calibri"/>
              </a:rPr>
              <a:t>+14%</a:t>
            </a:r>
          </a:p>
        </p:txBody>
      </p:sp>
      <p:sp>
        <p:nvSpPr>
          <p:cNvPr id="15" name="sl"/>
          <p:cNvSpPr txBox="1">
            <a:spLocks noGrp="1"/>
          </p:cNvSpPr>
          <p:nvPr/>
        </p:nvSpPr>
        <p:spPr>
          <a:xfrm>
            <a:off x="2395728" y="1481328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dirty="0">
                <a:solidFill>
                  <a:srgbClr val="FFFFFF"/>
                </a:solidFill>
                <a:latin typeface="Calibri"/>
              </a:rPr>
              <a:t>CAGR global anual proyectado</a:t>
            </a:r>
          </a:p>
        </p:txBody>
      </p:sp>
      <p:sp>
        <p:nvSpPr>
          <p:cNvPr id="16" name="sb"/>
          <p:cNvSpPr>
            <a:spLocks noGrp="1"/>
          </p:cNvSpPr>
          <p:nvPr/>
        </p:nvSpPr>
        <p:spPr>
          <a:xfrm>
            <a:off x="4242816" y="804672"/>
            <a:ext cx="1828800" cy="1078992"/>
          </a:xfrm>
          <a:prstGeom prst="roundRect">
            <a:avLst>
              <a:gd name="adj" fmla="val 25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7" name="sn"/>
          <p:cNvSpPr txBox="1">
            <a:spLocks noGrp="1"/>
          </p:cNvSpPr>
          <p:nvPr/>
        </p:nvSpPr>
        <p:spPr>
          <a:xfrm>
            <a:off x="4334256" y="896112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600" b="1" dirty="0">
                <a:solidFill>
                  <a:srgbClr val="FFFFFF"/>
                </a:solidFill>
                <a:latin typeface="Calibri"/>
              </a:rPr>
              <a:t>USD 108M</a:t>
            </a:r>
          </a:p>
        </p:txBody>
      </p:sp>
      <p:sp>
        <p:nvSpPr>
          <p:cNvPr id="18" name="sl"/>
          <p:cNvSpPr txBox="1">
            <a:spLocks noGrp="1"/>
          </p:cNvSpPr>
          <p:nvPr/>
        </p:nvSpPr>
        <p:spPr>
          <a:xfrm>
            <a:off x="4334256" y="1481328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dirty="0">
                <a:solidFill>
                  <a:srgbClr val="FFFFFF"/>
                </a:solidFill>
                <a:latin typeface="Calibri"/>
              </a:rPr>
              <a:t>Mercado ITSM Colombia 2026</a:t>
            </a:r>
          </a:p>
        </p:txBody>
      </p:sp>
      <p:sp>
        <p:nvSpPr>
          <p:cNvPr id="19" name="sb"/>
          <p:cNvSpPr>
            <a:spLocks noGrp="1"/>
          </p:cNvSpPr>
          <p:nvPr/>
        </p:nvSpPr>
        <p:spPr>
          <a:xfrm>
            <a:off x="6181344" y="804672"/>
            <a:ext cx="1828800" cy="1078992"/>
          </a:xfrm>
          <a:prstGeom prst="roundRect">
            <a:avLst>
              <a:gd name="adj" fmla="val 25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0" name="sn"/>
          <p:cNvSpPr txBox="1">
            <a:spLocks noGrp="1"/>
          </p:cNvSpPr>
          <p:nvPr/>
        </p:nvSpPr>
        <p:spPr>
          <a:xfrm>
            <a:off x="6272784" y="896112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3600" b="1" dirty="0">
                <a:solidFill>
                  <a:srgbClr val="FFFFFF"/>
                </a:solidFill>
                <a:latin typeface="Calibri"/>
              </a:rPr>
              <a:t>14.08%</a:t>
            </a:r>
          </a:p>
        </p:txBody>
      </p:sp>
      <p:sp>
        <p:nvSpPr>
          <p:cNvPr id="21" name="sl"/>
          <p:cNvSpPr txBox="1">
            <a:spLocks noGrp="1"/>
          </p:cNvSpPr>
          <p:nvPr/>
        </p:nvSpPr>
        <p:spPr>
          <a:xfrm>
            <a:off x="6272784" y="1481328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dirty="0">
                <a:solidFill>
                  <a:srgbClr val="FFFFFF"/>
                </a:solidFill>
                <a:latin typeface="Calibri"/>
              </a:rPr>
              <a:t>CAGR Colombia hasta 2031</a:t>
            </a:r>
          </a:p>
        </p:txBody>
      </p:sp>
      <p:sp>
        <p:nvSpPr>
          <p:cNvPr id="30" name="thdr"/>
          <p:cNvSpPr>
            <a:spLocks noGrp="1"/>
          </p:cNvSpPr>
          <p:nvPr/>
        </p:nvSpPr>
        <p:spPr>
          <a:xfrm>
            <a:off x="365760" y="2048256"/>
            <a:ext cx="7589520" cy="365760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31" name="th"/>
          <p:cNvSpPr txBox="1">
            <a:spLocks noGrp="1"/>
          </p:cNvSpPr>
          <p:nvPr/>
        </p:nvSpPr>
        <p:spPr>
          <a:xfrm>
            <a:off x="365760" y="204825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Región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2560320" y="204825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Tamaño 2024-2026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4480560" y="204825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Proyección</a:t>
            </a:r>
          </a:p>
        </p:txBody>
      </p:sp>
      <p:sp>
        <p:nvSpPr>
          <p:cNvPr id="34" name="th"/>
          <p:cNvSpPr txBox="1">
            <a:spLocks noGrp="1"/>
          </p:cNvSpPr>
          <p:nvPr/>
        </p:nvSpPr>
        <p:spPr>
          <a:xfrm>
            <a:off x="6492240" y="204825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40" name="rbg"/>
          <p:cNvSpPr>
            <a:spLocks noGrp="1"/>
          </p:cNvSpPr>
          <p:nvPr/>
        </p:nvSpPr>
        <p:spPr>
          <a:xfrm>
            <a:off x="365760" y="2414016"/>
            <a:ext cx="7589520" cy="38404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41" name="rc"/>
          <p:cNvSpPr txBox="1">
            <a:spLocks noGrp="1"/>
          </p:cNvSpPr>
          <p:nvPr/>
        </p:nvSpPr>
        <p:spPr>
          <a:xfrm>
            <a:off x="365760" y="2414016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Calibri"/>
              </a:rPr>
              <a:t>América Latina</a:t>
            </a:r>
          </a:p>
        </p:txBody>
      </p:sp>
      <p:sp>
        <p:nvSpPr>
          <p:cNvPr id="42" name="rc"/>
          <p:cNvSpPr txBox="1">
            <a:spLocks noGrp="1"/>
          </p:cNvSpPr>
          <p:nvPr/>
        </p:nvSpPr>
        <p:spPr>
          <a:xfrm>
            <a:off x="2560320" y="241401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Calibri"/>
              </a:rPr>
              <a:t>USD 1.8 billones</a:t>
            </a:r>
          </a:p>
        </p:txBody>
      </p:sp>
      <p:sp>
        <p:nvSpPr>
          <p:cNvPr id="43" name="rc"/>
          <p:cNvSpPr txBox="1">
            <a:spLocks noGrp="1"/>
          </p:cNvSpPr>
          <p:nvPr/>
        </p:nvSpPr>
        <p:spPr>
          <a:xfrm>
            <a:off x="4480560" y="2414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Calibri"/>
              </a:rPr>
              <a:t>USD 2.5B (2028)</a:t>
            </a:r>
          </a:p>
        </p:txBody>
      </p:sp>
      <p:sp>
        <p:nvSpPr>
          <p:cNvPr id="44" name="rc"/>
          <p:cNvSpPr txBox="1">
            <a:spLocks noGrp="1"/>
          </p:cNvSpPr>
          <p:nvPr/>
        </p:nvSpPr>
        <p:spPr>
          <a:xfrm>
            <a:off x="6492240" y="241401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Calibri"/>
              </a:rPr>
              <a:t>12%</a:t>
            </a:r>
          </a:p>
        </p:txBody>
      </p:sp>
      <p:sp>
        <p:nvSpPr>
          <p:cNvPr id="45" name="rbg"/>
          <p:cNvSpPr>
            <a:spLocks noGrp="1"/>
          </p:cNvSpPr>
          <p:nvPr/>
        </p:nvSpPr>
        <p:spPr>
          <a:xfrm>
            <a:off x="365760" y="2798064"/>
            <a:ext cx="7589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46" name="rc"/>
          <p:cNvSpPr txBox="1">
            <a:spLocks noGrp="1"/>
          </p:cNvSpPr>
          <p:nvPr/>
        </p:nvSpPr>
        <p:spPr>
          <a:xfrm>
            <a:off x="365760" y="2798064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Calibri"/>
              </a:rPr>
              <a:t>Sudamérica</a:t>
            </a:r>
          </a:p>
        </p:txBody>
      </p:sp>
      <p:sp>
        <p:nvSpPr>
          <p:cNvPr id="47" name="rc"/>
          <p:cNvSpPr txBox="1">
            <a:spLocks noGrp="1"/>
          </p:cNvSpPr>
          <p:nvPr/>
        </p:nvSpPr>
        <p:spPr>
          <a:xfrm>
            <a:off x="2560320" y="279806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Calibri"/>
              </a:rPr>
              <a:t>USD 0.52 billones</a:t>
            </a:r>
          </a:p>
        </p:txBody>
      </p:sp>
      <p:sp>
        <p:nvSpPr>
          <p:cNvPr id="48" name="rc"/>
          <p:cNvSpPr txBox="1">
            <a:spLocks noGrp="1"/>
          </p:cNvSpPr>
          <p:nvPr/>
        </p:nvSpPr>
        <p:spPr>
          <a:xfrm>
            <a:off x="4480560" y="279806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Calibri"/>
              </a:rPr>
              <a:t>USD 1.26B (2031)</a:t>
            </a:r>
          </a:p>
        </p:txBody>
      </p:sp>
      <p:sp>
        <p:nvSpPr>
          <p:cNvPr id="49" name="rc"/>
          <p:cNvSpPr txBox="1">
            <a:spLocks noGrp="1"/>
          </p:cNvSpPr>
          <p:nvPr/>
        </p:nvSpPr>
        <p:spPr>
          <a:xfrm>
            <a:off x="6492240" y="279806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dirty="0">
                <a:solidFill>
                  <a:srgbClr val="333333"/>
                </a:solidFill>
                <a:latin typeface="Calibri"/>
              </a:rPr>
              <a:t>16%</a:t>
            </a:r>
          </a:p>
        </p:txBody>
      </p:sp>
      <p:sp>
        <p:nvSpPr>
          <p:cNvPr id="50" name="rbg"/>
          <p:cNvSpPr>
            <a:spLocks noGrp="1"/>
          </p:cNvSpPr>
          <p:nvPr/>
        </p:nvSpPr>
        <p:spPr>
          <a:xfrm>
            <a:off x="365760" y="3182112"/>
            <a:ext cx="7589520" cy="384048"/>
          </a:xfrm>
          <a:prstGeom prst="rect">
            <a:avLst/>
          </a:prstGeom>
          <a:solidFill>
            <a:srgbClr val="E8F4FF"/>
          </a:solidFill>
          <a:ln w="6350">
            <a:solidFill>
              <a:srgbClr val="D1D5DB"/>
            </a:solidFill>
          </a:ln>
        </p:spPr>
      </p:sp>
      <p:sp>
        <p:nvSpPr>
          <p:cNvPr id="51" name="rc"/>
          <p:cNvSpPr txBox="1">
            <a:spLocks noGrp="1"/>
          </p:cNvSpPr>
          <p:nvPr/>
        </p:nvSpPr>
        <p:spPr>
          <a:xfrm>
            <a:off x="365760" y="3182112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0D1B5E"/>
                </a:solidFill>
                <a:latin typeface="Calibri"/>
              </a:rPr>
              <a:t>Colombia ★</a:t>
            </a:r>
          </a:p>
        </p:txBody>
      </p:sp>
      <p:sp>
        <p:nvSpPr>
          <p:cNvPr id="52" name="rc"/>
          <p:cNvSpPr txBox="1">
            <a:spLocks noGrp="1"/>
          </p:cNvSpPr>
          <p:nvPr/>
        </p:nvSpPr>
        <p:spPr>
          <a:xfrm>
            <a:off x="2560320" y="318211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0D1B5E"/>
                </a:solidFill>
                <a:latin typeface="Calibri"/>
              </a:rPr>
              <a:t>USD 108.5M (2026)</a:t>
            </a:r>
          </a:p>
        </p:txBody>
      </p:sp>
      <p:sp>
        <p:nvSpPr>
          <p:cNvPr id="53" name="rc"/>
          <p:cNvSpPr txBox="1">
            <a:spLocks noGrp="1"/>
          </p:cNvSpPr>
          <p:nvPr/>
        </p:nvSpPr>
        <p:spPr>
          <a:xfrm>
            <a:off x="4480560" y="318211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0D1B5E"/>
                </a:solidFill>
                <a:latin typeface="Calibri"/>
              </a:rPr>
              <a:t>USD 209.7M (2031)</a:t>
            </a:r>
          </a:p>
        </p:txBody>
      </p:sp>
      <p:sp>
        <p:nvSpPr>
          <p:cNvPr id="54" name="rc"/>
          <p:cNvSpPr txBox="1">
            <a:spLocks noGrp="1"/>
          </p:cNvSpPr>
          <p:nvPr/>
        </p:nvSpPr>
        <p:spPr>
          <a:xfrm>
            <a:off x="6492240" y="318211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0D1B5E"/>
                </a:solidFill>
                <a:latin typeface="Calibri"/>
              </a:rPr>
              <a:t>14.08%</a:t>
            </a:r>
          </a:p>
        </p:txBody>
      </p:sp>
      <p:sp>
        <p:nvSpPr>
          <p:cNvPr id="70" name="ibg"/>
          <p:cNvSpPr>
            <a:spLocks noGrp="1"/>
          </p:cNvSpPr>
          <p:nvPr/>
        </p:nvSpPr>
        <p:spPr>
          <a:xfrm>
            <a:off x="365760" y="3346704"/>
            <a:ext cx="7589520" cy="804672"/>
          </a:xfrm>
          <a:prstGeom prst="roundRect">
            <a:avLst>
              <a:gd name="adj" fmla="val 15000"/>
            </a:avLst>
          </a:prstGeom>
          <a:solidFill>
            <a:srgbClr val="EBF5FF"/>
          </a:solidFill>
          <a:ln w="15875">
            <a:solidFill>
              <a:srgbClr val="1F6FBA"/>
            </a:solidFill>
          </a:ln>
        </p:spPr>
      </p:sp>
      <p:sp>
        <p:nvSpPr>
          <p:cNvPr id="71" name="it1"/>
          <p:cNvSpPr txBox="1">
            <a:spLocks noGrp="1"/>
          </p:cNvSpPr>
          <p:nvPr/>
        </p:nvSpPr>
        <p:spPr>
          <a:xfrm>
            <a:off x="502920" y="34107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50" b="1" dirty="0">
                <a:solidFill>
                  <a:srgbClr val="0D1B5E"/>
                </a:solidFill>
                <a:latin typeface="Calibri"/>
              </a:rPr>
              <a:t>★  9.8% CAGR IT Services — el más alto de Sudamérica      ★  81% de la banca colombiana ya usa IA      ★  Colombia lidera el crecimiento</a:t>
            </a:r>
          </a:p>
        </p:txBody>
      </p:sp>
      <p:sp>
        <p:nvSpPr>
          <p:cNvPr id="72" name="it2"/>
          <p:cNvSpPr txBox="1">
            <a:spLocks noGrp="1"/>
          </p:cNvSpPr>
          <p:nvPr/>
        </p:nvSpPr>
        <p:spPr>
          <a:xfrm>
            <a:off x="502920" y="3767328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50" dirty="0">
                <a:solidFill>
                  <a:srgbClr val="1A3A8F"/>
                </a:solidFill>
                <a:latin typeface="Calibri"/>
              </a:rPr>
              <a:t>★  Servicios crecen más rápido que software      ★  Aranda: único competidor local      ★  Ventana 2026-2028 antes que globales tengan framework propio</a:t>
            </a:r>
          </a:p>
        </p:txBody>
      </p:sp>
      <p:sp>
        <p:nvSpPr>
          <p:cNvPr id="80" name="src"/>
          <p:cNvSpPr txBox="1">
            <a:spLocks noGrp="1"/>
          </p:cNvSpPr>
          <p:nvPr/>
        </p:nvSpPr>
        <p:spPr>
          <a:xfrm>
            <a:off x="320040" y="4480560"/>
            <a:ext cx="7589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Mordor Intelligence — ITSM Market  ·  Grand View Research — Latin America ITSM  ·  Superfinanciera Colombia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4593A-0B51-F9F2-171F-0FC40E38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Reddit Sans" panose="020B0604020202020204" charset="0"/>
                <a:ea typeface="Reddit Sans" panose="020B0604020202020204" charset="0"/>
              </a:rPr>
              <a:t>Gartner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0B19F7C-44D1-8557-EE8D-014F78E0818A}"/>
              </a:ext>
            </a:extLst>
          </p:cNvPr>
          <p:cNvSpPr/>
          <p:nvPr/>
        </p:nvSpPr>
        <p:spPr>
          <a:xfrm>
            <a:off x="436512" y="947699"/>
            <a:ext cx="3931920" cy="1950000"/>
          </a:xfrm>
          <a:prstGeom prst="roundRect">
            <a:avLst>
              <a:gd name="adj" fmla="val 2139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3370D9BC-BB67-4BDC-28E2-A9839C6C0311}"/>
              </a:ext>
            </a:extLst>
          </p:cNvPr>
          <p:cNvSpPr/>
          <p:nvPr/>
        </p:nvSpPr>
        <p:spPr>
          <a:xfrm>
            <a:off x="505092" y="947699"/>
            <a:ext cx="3694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ANTES  —  MQ ITSM Platforms (hasta 2023)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52B6BD0-AB8B-08F8-A01B-3D48EC2E766A}"/>
              </a:ext>
            </a:extLst>
          </p:cNvPr>
          <p:cNvSpPr/>
          <p:nvPr/>
        </p:nvSpPr>
        <p:spPr>
          <a:xfrm>
            <a:off x="505092" y="130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Plataforma = diferenciador principal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E76F7EF-DAE6-93D4-8383-3B4CD5B6A314}"/>
              </a:ext>
            </a:extLst>
          </p:cNvPr>
          <p:cNvSpPr/>
          <p:nvPr/>
        </p:nvSpPr>
        <p:spPr>
          <a:xfrm>
            <a:off x="505092" y="156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Ranking de vendors por funcionalidad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8605779B-88F5-D352-2D8A-A7941BAB2101}"/>
              </a:ext>
            </a:extLst>
          </p:cNvPr>
          <p:cNvSpPr/>
          <p:nvPr/>
        </p:nvSpPr>
        <p:spPr>
          <a:xfrm>
            <a:off x="505092" y="182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ServiceNow vs BMC vs Ivanti vs Freshworks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6ABC817C-2950-5F79-D0FF-ABD0384B74CC}"/>
              </a:ext>
            </a:extLst>
          </p:cNvPr>
          <p:cNvSpPr/>
          <p:nvPr/>
        </p:nvSpPr>
        <p:spPr>
          <a:xfrm>
            <a:off x="505092" y="208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</a:t>
            </a:r>
            <a:r>
              <a:rPr lang="en-US" sz="11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Criterio de compra: "¿quién </a:t>
            </a: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tiene </a:t>
            </a:r>
            <a:r>
              <a:rPr lang="en-US" sz="11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más módulos</a:t>
            </a: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?"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40612625-8400-E47D-23E9-0537E142C424}"/>
              </a:ext>
            </a:extLst>
          </p:cNvPr>
          <p:cNvSpPr/>
          <p:nvPr/>
        </p:nvSpPr>
        <p:spPr>
          <a:xfrm>
            <a:off x="505092" y="2340000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Retirado 2023: "Comoditizacion y falta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de diferenciacion en plataformas ITSM"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EF83C6D0-41FD-F49A-DFC6-C03791D5D68D}"/>
              </a:ext>
            </a:extLst>
          </p:cNvPr>
          <p:cNvSpPr/>
          <p:nvPr/>
        </p:nvSpPr>
        <p:spPr>
          <a:xfrm>
            <a:off x="4382148" y="1648000"/>
            <a:ext cx="64008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CAD9BC76-AAC9-B0E3-087F-11067FACA0A8}"/>
              </a:ext>
            </a:extLst>
          </p:cNvPr>
          <p:cNvSpPr/>
          <p:nvPr/>
        </p:nvSpPr>
        <p:spPr>
          <a:xfrm>
            <a:off x="5049660" y="947699"/>
            <a:ext cx="3840480" cy="1950000"/>
          </a:xfrm>
          <a:prstGeom prst="roundRect">
            <a:avLst>
              <a:gd name="adj" fmla="val 2139"/>
            </a:avLst>
          </a:prstGeom>
          <a:solidFill>
            <a:srgbClr val="D4F0E3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977F8511-1352-CC0C-6605-6AA7DFDF36AB}"/>
              </a:ext>
            </a:extLst>
          </p:cNvPr>
          <p:cNvSpPr/>
          <p:nvPr/>
        </p:nvSpPr>
        <p:spPr>
          <a:xfrm>
            <a:off x="5168532" y="947699"/>
            <a:ext cx="3630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B4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AHORA — MQ AI Applications in ITSM (2024-2025)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F9863D2B-943A-7082-2C40-4683EBE91848}"/>
              </a:ext>
            </a:extLst>
          </p:cNvPr>
          <p:cNvSpPr/>
          <p:nvPr/>
        </p:nvSpPr>
        <p:spPr>
          <a:xfrm>
            <a:off x="5168532" y="1280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Inteligencia = diferenciador principal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46EB2A4E-54B7-B2F6-AA2C-FF7EEF601A15}"/>
              </a:ext>
            </a:extLst>
          </p:cNvPr>
          <p:cNvSpPr/>
          <p:nvPr/>
        </p:nvSpPr>
        <p:spPr>
          <a:xfrm>
            <a:off x="5168532" y="1505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9 capacidades </a:t>
            </a:r>
            <a:r>
              <a:rPr lang="en-US" sz="11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críticas </a:t>
            </a: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de IA evaluadas</a:t>
            </a:r>
            <a:r>
              <a:rPr lang="en-US" sz="11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(abajo)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4CE71F4-110F-1386-A382-E7801E75612D}"/>
              </a:ext>
            </a:extLst>
          </p:cNvPr>
          <p:cNvSpPr/>
          <p:nvPr/>
        </p:nvSpPr>
        <p:spPr>
          <a:xfrm>
            <a:off x="5168532" y="1730000"/>
            <a:ext cx="3630168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▪  Solo 1 Lider </a:t>
            </a:r>
            <a:r>
              <a:rPr lang="en-US" sz="11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en</a:t>
            </a: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2025: </a:t>
            </a:r>
            <a:r>
              <a:rPr lang="en-US" sz="1100" b="1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ServiceNow</a:t>
            </a:r>
            <a:endParaRPr lang="en-US" sz="1100" b="1">
              <a:latin typeface="Reddit Sans"/>
              <a:ea typeface="Reddit Sans"/>
              <a:cs typeface="Calibri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BF8090C2-C149-679F-54AE-14E730EA0744}"/>
              </a:ext>
            </a:extLst>
          </p:cNvPr>
          <p:cNvSpPr/>
          <p:nvPr/>
        </p:nvSpPr>
        <p:spPr>
          <a:xfrm>
            <a:off x="5168532" y="1955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Challenger: Moveworks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72F929BF-B342-23A2-6FBF-6976F7051838}"/>
              </a:ext>
            </a:extLst>
          </p:cNvPr>
          <p:cNvSpPr/>
          <p:nvPr/>
        </p:nvSpPr>
        <p:spPr>
          <a:xfrm>
            <a:off x="5168532" y="2180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Niche: BMC, Freshworks, SymphonyAI...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F86FF12-AE91-4146-0149-CBB1AA0C144D}"/>
              </a:ext>
            </a:extLst>
          </p:cNvPr>
          <p:cNvSpPr/>
          <p:nvPr/>
        </p:nvSpPr>
        <p:spPr>
          <a:xfrm>
            <a:off x="5168532" y="2405000"/>
            <a:ext cx="3630168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▪  La </a:t>
            </a:r>
            <a:r>
              <a:rPr lang="en-US" sz="11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plataforma</a:t>
            </a: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es </a:t>
            </a:r>
            <a:r>
              <a:rPr lang="en-US" sz="11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insumo</a:t>
            </a: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, el framework</a:t>
            </a:r>
            <a:endParaRPr lang="en-US" sz="1100" dirty="0">
              <a:latin typeface="Reddit Sans"/>
              <a:ea typeface="Reddit Sans"/>
              <a:cs typeface="Calibri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de IA y </a:t>
            </a:r>
            <a:r>
              <a:rPr lang="en-US" sz="11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gobierno</a:t>
            </a: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es el </a:t>
            </a:r>
            <a:r>
              <a:rPr lang="en-US" sz="11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producto</a:t>
            </a:r>
            <a:endParaRPr lang="en-US" sz="1100" dirty="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455F574C-ABCD-138E-CCA3-6585B423DC66}"/>
              </a:ext>
            </a:extLst>
          </p:cNvPr>
          <p:cNvSpPr/>
          <p:nvPr/>
        </p:nvSpPr>
        <p:spPr>
          <a:xfrm>
            <a:off x="386220" y="4263923"/>
            <a:ext cx="8503920" cy="27432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 lIns="91440" tIns="45720" rIns="91440" bIns="4572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Para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PersonalSoft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: El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diferenciador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no es la Plataforma, es el framework de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madurez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y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gobierno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que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aplicamos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sobre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ella</a:t>
            </a:r>
            <a:endParaRPr lang="en-US" sz="900" dirty="0">
              <a:latin typeface="Reddit Sans"/>
              <a:ea typeface="Reddit Sans"/>
              <a:cs typeface="Calibri"/>
            </a:endParaRP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E0E5B276-8F3C-47DF-7F00-60BD420809AE}"/>
              </a:ext>
            </a:extLst>
          </p:cNvPr>
          <p:cNvSpPr/>
          <p:nvPr/>
        </p:nvSpPr>
        <p:spPr>
          <a:xfrm>
            <a:off x="203340" y="4610089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MQ AI Applications in ITSM 2025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— Retire ITSM MQ 2023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3CF3C6B0-78D1-12FD-46C2-6822C8AA6994}"/>
              </a:ext>
            </a:extLst>
          </p:cNvPr>
          <p:cNvSpPr/>
          <p:nvPr/>
        </p:nvSpPr>
        <p:spPr>
          <a:xfrm>
            <a:off x="340500" y="521632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El mercado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ya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no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compite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por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plataforma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,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compite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por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inteligencia</a:t>
            </a:r>
            <a:endParaRPr lang="en-US" sz="1100" dirty="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22" name="Panel 9 Capacidades"/>
          <p:cNvSpPr/>
          <p:nvPr/>
        </p:nvSpPr>
        <p:spPr>
          <a:xfrm>
            <a:off x="436512" y="2970000"/>
            <a:ext cx="8453628" cy="1150000"/>
          </a:xfrm>
          <a:prstGeom prst="roundRect">
            <a:avLst>
              <a:gd name="adj" fmla="val 3200"/>
            </a:avLst>
          </a:prstGeom>
          <a:solidFill>
            <a:srgbClr val="EAF7F0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23" name="Titulo Panel"/>
          <p:cNvSpPr/>
          <p:nvPr/>
        </p:nvSpPr>
        <p:spPr>
          <a:xfrm>
            <a:off x="636512" y="3000000"/>
            <a:ext cx="8053628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Las 9 capacidades críticas de IA que evalúa Gartner</a:t>
            </a:r>
            <a:r>
              <a:rPr lang="es-CO" sz="1000">
                <a:solidFill>
                  <a:srgbClr val="5A6B7B"/>
                </a:solidFill>
                <a:latin typeface="Reddit Sans"/>
                <a:ea typeface="Reddit Sans"/>
                <a:cs typeface="Calibri"/>
              </a:rPr>
              <a:t>  ·  un producto debe cumplir mínimo 5 para calificar</a:t>
            </a:r>
          </a:p>
        </p:txBody>
      </p:sp>
      <p:sp>
        <p:nvSpPr>
          <p:cNvPr id="24" name="Chip 1"/>
          <p:cNvSpPr/>
          <p:nvPr/>
        </p:nvSpPr>
        <p:spPr>
          <a:xfrm>
            <a:off x="636512" y="325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1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Agente virtual de soporte</a:t>
            </a:r>
          </a:p>
        </p:txBody>
      </p:sp>
      <p:sp>
        <p:nvSpPr>
          <p:cNvPr id="25" name="Chip 2"/>
          <p:cNvSpPr/>
          <p:nvPr/>
        </p:nvSpPr>
        <p:spPr>
          <a:xfrm>
            <a:off x="3371054" y="325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2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Descubrimiento de conocimiento</a:t>
            </a:r>
          </a:p>
        </p:txBody>
      </p:sp>
      <p:sp>
        <p:nvSpPr>
          <p:cNvPr id="26" name="Chip 3"/>
          <p:cNvSpPr/>
          <p:nvPr/>
        </p:nvSpPr>
        <p:spPr>
          <a:xfrm>
            <a:off x="6105596" y="325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3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Escalamiento inteligente</a:t>
            </a:r>
          </a:p>
        </p:txBody>
      </p:sp>
      <p:sp>
        <p:nvSpPr>
          <p:cNvPr id="27" name="Chip 4"/>
          <p:cNvSpPr/>
          <p:nvPr/>
        </p:nvSpPr>
        <p:spPr>
          <a:xfrm>
            <a:off x="636512" y="354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4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Asesoría inteligente de riesgo</a:t>
            </a:r>
          </a:p>
        </p:txBody>
      </p:sp>
      <p:sp>
        <p:nvSpPr>
          <p:cNvPr id="28" name="Chip 5"/>
          <p:cNvSpPr/>
          <p:nvPr/>
        </p:nvSpPr>
        <p:spPr>
          <a:xfrm>
            <a:off x="3371054" y="354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5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Triage inteligente</a:t>
            </a:r>
          </a:p>
        </p:txBody>
      </p:sp>
      <p:sp>
        <p:nvSpPr>
          <p:cNvPr id="29" name="Chip 6"/>
          <p:cNvSpPr/>
          <p:nvPr/>
        </p:nvSpPr>
        <p:spPr>
          <a:xfrm>
            <a:off x="6105596" y="354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6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Categorización inteligente</a:t>
            </a:r>
          </a:p>
        </p:txBody>
      </p:sp>
      <p:sp>
        <p:nvSpPr>
          <p:cNvPr id="30" name="Chip 7"/>
          <p:cNvSpPr/>
          <p:nvPr/>
        </p:nvSpPr>
        <p:spPr>
          <a:xfrm>
            <a:off x="636512" y="383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7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Swarming de expertos</a:t>
            </a:r>
          </a:p>
        </p:txBody>
      </p:sp>
      <p:sp>
        <p:nvSpPr>
          <p:cNvPr id="31" name="Chip 8"/>
          <p:cNvSpPr/>
          <p:nvPr/>
        </p:nvSpPr>
        <p:spPr>
          <a:xfrm>
            <a:off x="3371054" y="383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8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Detección de incidentes mayores</a:t>
            </a:r>
          </a:p>
        </p:txBody>
      </p:sp>
      <p:sp>
        <p:nvSpPr>
          <p:cNvPr id="32" name="Chip 9"/>
          <p:cNvSpPr/>
          <p:nvPr/>
        </p:nvSpPr>
        <p:spPr>
          <a:xfrm>
            <a:off x="6105596" y="383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9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Detección de problemas (causa raíz)</a:t>
            </a:r>
          </a:p>
        </p:txBody>
      </p:sp>
    </p:spTree>
    <p:extLst>
      <p:ext uri="{BB962C8B-B14F-4D97-AF65-F5344CB8AC3E}">
        <p14:creationId xmlns:p14="http://schemas.microsoft.com/office/powerpoint/2010/main" val="3697225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Los 12 Grandes ya Convergieron — Todos venden AI-first, la brecha está en el framework</a:t>
            </a:r>
          </a:p>
        </p:txBody>
      </p:sp>
      <p:sp>
        <p:nvSpPr>
          <p:cNvPr id="10" name="ln"/>
          <p:cNvSpPr txBox="1">
            <a:spLocks noGrp="1"/>
          </p:cNvSpPr>
          <p:nvPr/>
        </p:nvSpPr>
        <p:spPr>
          <a:xfrm>
            <a:off x="365760" y="82296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Calibri"/>
              </a:rPr>
              <a:t>ServiceNow</a:t>
            </a:r>
          </a:p>
        </p:txBody>
      </p:sp>
      <p:sp>
        <p:nvSpPr>
          <p:cNvPr id="11" name="bar"/>
          <p:cNvSpPr>
            <a:spLocks noGrp="1"/>
          </p:cNvSpPr>
          <p:nvPr/>
        </p:nvSpPr>
        <p:spPr>
          <a:xfrm>
            <a:off x="1737360" y="822960"/>
            <a:ext cx="2111166" cy="402336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pct"/>
          <p:cNvSpPr txBox="1">
            <a:spLocks noGrp="1"/>
          </p:cNvSpPr>
          <p:nvPr/>
        </p:nvSpPr>
        <p:spPr>
          <a:xfrm>
            <a:off x="3939966" y="82296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44.4%</a:t>
            </a:r>
          </a:p>
        </p:txBody>
      </p:sp>
      <p:sp>
        <p:nvSpPr>
          <p:cNvPr id="13" name="ln"/>
          <p:cNvSpPr txBox="1">
            <a:spLocks noGrp="1"/>
          </p:cNvSpPr>
          <p:nvPr/>
        </p:nvSpPr>
        <p:spPr>
          <a:xfrm>
            <a:off x="365760" y="131673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Calibri"/>
              </a:rPr>
              <a:t>Atlassian</a:t>
            </a:r>
          </a:p>
        </p:txBody>
      </p:sp>
      <p:sp>
        <p:nvSpPr>
          <p:cNvPr id="14" name="bar"/>
          <p:cNvSpPr>
            <a:spLocks noGrp="1"/>
          </p:cNvSpPr>
          <p:nvPr/>
        </p:nvSpPr>
        <p:spPr>
          <a:xfrm>
            <a:off x="1737360" y="1316736"/>
            <a:ext cx="584850" cy="40233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5" name="pct"/>
          <p:cNvSpPr txBox="1">
            <a:spLocks noGrp="1"/>
          </p:cNvSpPr>
          <p:nvPr/>
        </p:nvSpPr>
        <p:spPr>
          <a:xfrm>
            <a:off x="2413650" y="1316736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12.3%</a:t>
            </a:r>
          </a:p>
        </p:txBody>
      </p:sp>
      <p:sp>
        <p:nvSpPr>
          <p:cNvPr id="16" name="ln"/>
          <p:cNvSpPr txBox="1">
            <a:spLocks noGrp="1"/>
          </p:cNvSpPr>
          <p:nvPr/>
        </p:nvSpPr>
        <p:spPr>
          <a:xfrm>
            <a:off x="365760" y="18105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Calibri"/>
              </a:rPr>
              <a:t>BMC Helix</a:t>
            </a:r>
          </a:p>
        </p:txBody>
      </p:sp>
      <p:sp>
        <p:nvSpPr>
          <p:cNvPr id="17" name="bar"/>
          <p:cNvSpPr>
            <a:spLocks noGrp="1"/>
          </p:cNvSpPr>
          <p:nvPr/>
        </p:nvSpPr>
        <p:spPr>
          <a:xfrm>
            <a:off x="1737360" y="1810512"/>
            <a:ext cx="404164" cy="402336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8" name="pct"/>
          <p:cNvSpPr txBox="1">
            <a:spLocks noGrp="1"/>
          </p:cNvSpPr>
          <p:nvPr/>
        </p:nvSpPr>
        <p:spPr>
          <a:xfrm>
            <a:off x="2232964" y="1810512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8.5%</a:t>
            </a:r>
          </a:p>
        </p:txBody>
      </p:sp>
      <p:sp>
        <p:nvSpPr>
          <p:cNvPr id="19" name="ln"/>
          <p:cNvSpPr txBox="1">
            <a:spLocks noGrp="1"/>
          </p:cNvSpPr>
          <p:nvPr/>
        </p:nvSpPr>
        <p:spPr>
          <a:xfrm>
            <a:off x="365760" y="230428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Calibri"/>
              </a:rPr>
              <a:t>Ivanti</a:t>
            </a:r>
          </a:p>
        </p:txBody>
      </p:sp>
      <p:sp>
        <p:nvSpPr>
          <p:cNvPr id="20" name="bar"/>
          <p:cNvSpPr>
            <a:spLocks noGrp="1"/>
          </p:cNvSpPr>
          <p:nvPr/>
        </p:nvSpPr>
        <p:spPr>
          <a:xfrm>
            <a:off x="1737360" y="2304288"/>
            <a:ext cx="294802" cy="402336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1" name="pct"/>
          <p:cNvSpPr txBox="1">
            <a:spLocks noGrp="1"/>
          </p:cNvSpPr>
          <p:nvPr/>
        </p:nvSpPr>
        <p:spPr>
          <a:xfrm>
            <a:off x="2123602" y="2304288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6.2%</a:t>
            </a:r>
          </a:p>
        </p:txBody>
      </p:sp>
      <p:sp>
        <p:nvSpPr>
          <p:cNvPr id="22" name="ln"/>
          <p:cNvSpPr txBox="1">
            <a:spLocks noGrp="1"/>
          </p:cNvSpPr>
          <p:nvPr/>
        </p:nvSpPr>
        <p:spPr>
          <a:xfrm>
            <a:off x="365760" y="27980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Calibri"/>
              </a:rPr>
              <a:t>Freshworks</a:t>
            </a:r>
          </a:p>
        </p:txBody>
      </p:sp>
      <p:sp>
        <p:nvSpPr>
          <p:cNvPr id="23" name="bar"/>
          <p:cNvSpPr>
            <a:spLocks noGrp="1"/>
          </p:cNvSpPr>
          <p:nvPr/>
        </p:nvSpPr>
        <p:spPr>
          <a:xfrm>
            <a:off x="1737360" y="2798064"/>
            <a:ext cx="275783" cy="402336"/>
          </a:xfrm>
          <a:prstGeom prst="roundRect">
            <a:avLst>
              <a:gd name="adj" fmla="val 8000"/>
            </a:avLst>
          </a:prstGeom>
          <a:solidFill>
            <a:srgbClr val="5B6B73"/>
          </a:solidFill>
          <a:ln>
            <a:noFill/>
          </a:ln>
        </p:spPr>
      </p:sp>
      <p:sp>
        <p:nvSpPr>
          <p:cNvPr id="24" name="pct"/>
          <p:cNvSpPr txBox="1">
            <a:spLocks noGrp="1"/>
          </p:cNvSpPr>
          <p:nvPr/>
        </p:nvSpPr>
        <p:spPr>
          <a:xfrm>
            <a:off x="2104583" y="2798064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5.8%</a:t>
            </a:r>
          </a:p>
        </p:txBody>
      </p:sp>
      <p:sp>
        <p:nvSpPr>
          <p:cNvPr id="25" name="ln"/>
          <p:cNvSpPr txBox="1">
            <a:spLocks noGrp="1"/>
          </p:cNvSpPr>
          <p:nvPr/>
        </p:nvSpPr>
        <p:spPr>
          <a:xfrm>
            <a:off x="365760" y="32918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 dirty="0">
                <a:solidFill>
                  <a:srgbClr val="0D1B5E"/>
                </a:solidFill>
                <a:latin typeface="Calibri"/>
              </a:rPr>
              <a:t>Otros</a:t>
            </a:r>
          </a:p>
        </p:txBody>
      </p:sp>
      <p:sp>
        <p:nvSpPr>
          <p:cNvPr id="26" name="bar"/>
          <p:cNvSpPr>
            <a:spLocks noGrp="1"/>
          </p:cNvSpPr>
          <p:nvPr/>
        </p:nvSpPr>
        <p:spPr>
          <a:xfrm>
            <a:off x="1737360" y="3291840"/>
            <a:ext cx="1084112" cy="402336"/>
          </a:xfrm>
          <a:prstGeom prst="roundRect">
            <a:avLst>
              <a:gd name="adj" fmla="val 8000"/>
            </a:avLst>
          </a:prstGeom>
          <a:solidFill>
            <a:srgbClr val="D1D5DB"/>
          </a:solidFill>
          <a:ln>
            <a:noFill/>
          </a:ln>
        </p:spPr>
      </p:sp>
      <p:sp>
        <p:nvSpPr>
          <p:cNvPr id="27" name="pct"/>
          <p:cNvSpPr txBox="1">
            <a:spLocks noGrp="1"/>
          </p:cNvSpPr>
          <p:nvPr/>
        </p:nvSpPr>
        <p:spPr>
          <a:xfrm>
            <a:off x="2912912" y="329184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22.8%</a:t>
            </a:r>
          </a:p>
        </p:txBody>
      </p:sp>
      <p:sp>
        <p:nvSpPr>
          <p:cNvPr id="40" name="rbg"/>
          <p:cNvSpPr>
            <a:spLocks noGrp="1"/>
          </p:cNvSpPr>
          <p:nvPr/>
        </p:nvSpPr>
        <p:spPr>
          <a:xfrm>
            <a:off x="5212080" y="777240"/>
            <a:ext cx="2834640" cy="3749039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41" name="rhdr"/>
          <p:cNvSpPr>
            <a:spLocks noGrp="1"/>
          </p:cNvSpPr>
          <p:nvPr/>
        </p:nvSpPr>
        <p:spPr>
          <a:xfrm>
            <a:off x="5212080" y="777240"/>
            <a:ext cx="2834640" cy="365760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42" name="rhtxt"/>
          <p:cNvSpPr txBox="1">
            <a:spLocks noGrp="1"/>
          </p:cNvSpPr>
          <p:nvPr/>
        </p:nvSpPr>
        <p:spPr>
          <a:xfrm>
            <a:off x="5212080" y="7772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Calibri"/>
              </a:rPr>
              <a:t>La brecha real</a:t>
            </a:r>
          </a:p>
        </p:txBody>
      </p:sp>
      <p:sp>
        <p:nvSpPr>
          <p:cNvPr id="50" name="bb"/>
          <p:cNvSpPr>
            <a:spLocks noGrp="1"/>
          </p:cNvSpPr>
          <p:nvPr/>
        </p:nvSpPr>
        <p:spPr>
          <a:xfrm>
            <a:off x="5303520" y="1234440"/>
            <a:ext cx="26517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D1B5E"/>
            </a:solidFill>
          </a:ln>
        </p:spPr>
      </p:sp>
      <p:sp>
        <p:nvSpPr>
          <p:cNvPr id="51" name="bn"/>
          <p:cNvSpPr txBox="1">
            <a:spLocks noGrp="1"/>
          </p:cNvSpPr>
          <p:nvPr/>
        </p:nvSpPr>
        <p:spPr>
          <a:xfrm>
            <a:off x="5349240" y="1271016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700" b="1" dirty="0">
                <a:solidFill>
                  <a:srgbClr val="0D1B5E"/>
                </a:solidFill>
                <a:latin typeface="Calibri"/>
              </a:rPr>
              <a:t>9</a:t>
            </a:r>
          </a:p>
        </p:txBody>
      </p:sp>
      <p:sp>
        <p:nvSpPr>
          <p:cNvPr id="52" name="bd"/>
          <p:cNvSpPr txBox="1">
            <a:spLocks noGrp="1"/>
          </p:cNvSpPr>
          <p:nvPr/>
        </p:nvSpPr>
        <p:spPr>
          <a:xfrm>
            <a:off x="6172200" y="1271016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Capacidades IA evaluadas por Gartner
mín. 5 para calificar</a:t>
            </a:r>
          </a:p>
        </p:txBody>
      </p:sp>
      <p:sp>
        <p:nvSpPr>
          <p:cNvPr id="53" name="bb"/>
          <p:cNvSpPr>
            <a:spLocks noGrp="1"/>
          </p:cNvSpPr>
          <p:nvPr/>
        </p:nvSpPr>
        <p:spPr>
          <a:xfrm>
            <a:off x="5303520" y="2020824"/>
            <a:ext cx="26517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3A8F"/>
            </a:solidFill>
          </a:ln>
        </p:spPr>
      </p:sp>
      <p:sp>
        <p:nvSpPr>
          <p:cNvPr id="54" name="bn"/>
          <p:cNvSpPr txBox="1">
            <a:spLocks noGrp="1"/>
          </p:cNvSpPr>
          <p:nvPr/>
        </p:nvSpPr>
        <p:spPr>
          <a:xfrm>
            <a:off x="5349240" y="205740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700" b="1" dirty="0">
                <a:solidFill>
                  <a:srgbClr val="1A3A8F"/>
                </a:solidFill>
                <a:latin typeface="Calibri"/>
              </a:rPr>
              <a:t>ITIL v5</a:t>
            </a:r>
          </a:p>
        </p:txBody>
      </p:sp>
      <p:sp>
        <p:nvSpPr>
          <p:cNvPr id="55" name="bd"/>
          <p:cNvSpPr txBox="1">
            <a:spLocks noGrp="1"/>
          </p:cNvSpPr>
          <p:nvPr/>
        </p:nvSpPr>
        <p:spPr>
          <a:xfrm>
            <a:off x="6172200" y="205740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Lanzado 12 feb 2026
Nuevo estándar de la industria</a:t>
            </a:r>
          </a:p>
        </p:txBody>
      </p:sp>
      <p:sp>
        <p:nvSpPr>
          <p:cNvPr id="56" name="bb"/>
          <p:cNvSpPr>
            <a:spLocks noGrp="1"/>
          </p:cNvSpPr>
          <p:nvPr/>
        </p:nvSpPr>
        <p:spPr>
          <a:xfrm>
            <a:off x="5303520" y="2807208"/>
            <a:ext cx="26517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B7B85"/>
            </a:solidFill>
          </a:ln>
        </p:spPr>
      </p:sp>
      <p:sp>
        <p:nvSpPr>
          <p:cNvPr id="57" name="bn"/>
          <p:cNvSpPr txBox="1">
            <a:spLocks noGrp="1"/>
          </p:cNvSpPr>
          <p:nvPr/>
        </p:nvSpPr>
        <p:spPr>
          <a:xfrm>
            <a:off x="5349240" y="2843784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700" b="1" dirty="0">
                <a:solidFill>
                  <a:srgbClr val="1B7B85"/>
                </a:solidFill>
                <a:latin typeface="Calibri"/>
              </a:rPr>
              <a:t>68%</a:t>
            </a:r>
          </a:p>
        </p:txBody>
      </p:sp>
      <p:sp>
        <p:nvSpPr>
          <p:cNvPr id="58" name="bd"/>
          <p:cNvSpPr txBox="1">
            <a:spLocks noGrp="1"/>
          </p:cNvSpPr>
          <p:nvPr/>
        </p:nvSpPr>
        <p:spPr>
          <a:xfrm>
            <a:off x="6172200" y="2843784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Adoptarán XLA en 2026
(Experience Level Agreements)</a:t>
            </a:r>
          </a:p>
        </p:txBody>
      </p:sp>
      <p:sp>
        <p:nvSpPr>
          <p:cNvPr id="59" name="bb"/>
          <p:cNvSpPr>
            <a:spLocks noGrp="1"/>
          </p:cNvSpPr>
          <p:nvPr/>
        </p:nvSpPr>
        <p:spPr>
          <a:xfrm>
            <a:off x="5303520" y="3593592"/>
            <a:ext cx="26517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6FBA"/>
            </a:solidFill>
          </a:ln>
        </p:spPr>
      </p:sp>
      <p:sp>
        <p:nvSpPr>
          <p:cNvPr id="60" name="bn"/>
          <p:cNvSpPr txBox="1">
            <a:spLocks noGrp="1"/>
          </p:cNvSpPr>
          <p:nvPr/>
        </p:nvSpPr>
        <p:spPr>
          <a:xfrm>
            <a:off x="5349240" y="3630168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700" b="1" dirty="0">
                <a:solidFill>
                  <a:srgbClr val="1F6FBA"/>
                </a:solidFill>
                <a:latin typeface="Calibri"/>
              </a:rPr>
              <a:t>44.4%</a:t>
            </a:r>
          </a:p>
        </p:txBody>
      </p:sp>
      <p:sp>
        <p:nvSpPr>
          <p:cNvPr id="61" name="bd"/>
          <p:cNvSpPr txBox="1">
            <a:spLocks noGrp="1"/>
          </p:cNvSpPr>
          <p:nvPr/>
        </p:nvSpPr>
        <p:spPr>
          <a:xfrm>
            <a:off x="6172200" y="3630168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80" dirty="0">
                <a:solidFill>
                  <a:srgbClr val="333333"/>
                </a:solidFill>
                <a:latin typeface="Calibri"/>
              </a:rPr>
              <a:t>Cuota ServiceNow — Solo 1 Líder
en MQ AI Applications in ITSM 2025</a:t>
            </a:r>
          </a:p>
        </p:txBody>
      </p:sp>
      <p:sp>
        <p:nvSpPr>
          <p:cNvPr id="70" name="qbg"/>
          <p:cNvSpPr>
            <a:spLocks noGrp="1"/>
          </p:cNvSpPr>
          <p:nvPr/>
        </p:nvSpPr>
        <p:spPr>
          <a:xfrm>
            <a:off x="365760" y="4133087"/>
            <a:ext cx="4709160" cy="36576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15875">
            <a:solidFill>
              <a:srgbClr val="F59E0B"/>
            </a:solidFill>
          </a:ln>
        </p:spPr>
      </p:sp>
      <p:sp>
        <p:nvSpPr>
          <p:cNvPr id="71" name="qtxt"/>
          <p:cNvSpPr txBox="1">
            <a:spLocks noGrp="1"/>
          </p:cNvSpPr>
          <p:nvPr/>
        </p:nvSpPr>
        <p:spPr>
          <a:xfrm>
            <a:off x="502920" y="4133087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i="1" dirty="0">
                <a:solidFill>
                  <a:srgbClr val="92400E"/>
                </a:solidFill>
                <a:latin typeface="Calibri"/>
              </a:rPr>
              <a:t>"El diferenciador real está en plataforma propietaria, profundidad de IA y madurez del modelo de gobierno"</a:t>
            </a:r>
          </a:p>
        </p:txBody>
      </p:sp>
      <p:sp>
        <p:nvSpPr>
          <p:cNvPr id="80" name="src"/>
          <p:cNvSpPr txBox="1">
            <a:spLocks noGrp="1"/>
          </p:cNvSpPr>
          <p:nvPr/>
        </p:nvSpPr>
        <p:spPr>
          <a:xfrm>
            <a:off x="320040" y="4480560"/>
            <a:ext cx="7589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Gartner MQ AI Applications in ITSM 2025  ·  PeopleCert ITIL v5  ·  Freshservice XLA Report 2026  ·  IDC ITSM Market Share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7 Tendencias que definen el Mercado de Mesas de Servicio 2024–2026</a:t>
            </a:r>
          </a:p>
        </p:txBody>
      </p:sp>
      <p:sp>
        <p:nvSpPr>
          <p:cNvPr id="10" name="tbg"/>
          <p:cNvSpPr>
            <a:spLocks noGrp="1"/>
          </p:cNvSpPr>
          <p:nvPr/>
        </p:nvSpPr>
        <p:spPr>
          <a:xfrm>
            <a:off x="320040" y="804672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11" name="nbg"/>
          <p:cNvSpPr>
            <a:spLocks noGrp="1"/>
          </p:cNvSpPr>
          <p:nvPr/>
        </p:nvSpPr>
        <p:spPr>
          <a:xfrm>
            <a:off x="320040" y="804672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num"/>
          <p:cNvSpPr txBox="1">
            <a:spLocks noGrp="1"/>
          </p:cNvSpPr>
          <p:nvPr/>
        </p:nvSpPr>
        <p:spPr>
          <a:xfrm>
            <a:off x="320040" y="804672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it"/>
          <p:cNvSpPr txBox="1">
            <a:spLocks noGrp="1"/>
          </p:cNvSpPr>
          <p:nvPr/>
        </p:nvSpPr>
        <p:spPr>
          <a:xfrm>
            <a:off x="850392" y="88696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GenAI como table stakes</a:t>
            </a:r>
          </a:p>
        </p:txBody>
      </p:sp>
      <p:sp>
        <p:nvSpPr>
          <p:cNvPr id="14" name="dsc"/>
          <p:cNvSpPr txBox="1">
            <a:spLocks noGrp="1"/>
          </p:cNvSpPr>
          <p:nvPr/>
        </p:nvSpPr>
        <p:spPr>
          <a:xfrm>
            <a:off x="850392" y="1188720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Calibri"/>
              </a:rPr>
              <a:t>-26.6% MTTR  ·  +34.6% resolución con GenAI</a:t>
            </a:r>
          </a:p>
        </p:txBody>
      </p:sp>
      <p:sp>
        <p:nvSpPr>
          <p:cNvPr id="15" name="tbg"/>
          <p:cNvSpPr>
            <a:spLocks noGrp="1"/>
          </p:cNvSpPr>
          <p:nvPr/>
        </p:nvSpPr>
        <p:spPr>
          <a:xfrm>
            <a:off x="4297680" y="804672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16" name="nbg"/>
          <p:cNvSpPr>
            <a:spLocks noGrp="1"/>
          </p:cNvSpPr>
          <p:nvPr/>
        </p:nvSpPr>
        <p:spPr>
          <a:xfrm>
            <a:off x="4297680" y="804672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7" name="num"/>
          <p:cNvSpPr txBox="1">
            <a:spLocks noGrp="1"/>
          </p:cNvSpPr>
          <p:nvPr/>
        </p:nvSpPr>
        <p:spPr>
          <a:xfrm>
            <a:off x="4297680" y="804672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it"/>
          <p:cNvSpPr txBox="1">
            <a:spLocks noGrp="1"/>
          </p:cNvSpPr>
          <p:nvPr/>
        </p:nvSpPr>
        <p:spPr>
          <a:xfrm>
            <a:off x="4828032" y="88696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Agentic AI: del lab a producción</a:t>
            </a:r>
          </a:p>
        </p:txBody>
      </p:sp>
      <p:sp>
        <p:nvSpPr>
          <p:cNvPr id="19" name="dsc"/>
          <p:cNvSpPr txBox="1">
            <a:spLocks noGrp="1"/>
          </p:cNvSpPr>
          <p:nvPr/>
        </p:nvSpPr>
        <p:spPr>
          <a:xfrm>
            <a:off x="4828032" y="1188720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Calibri"/>
              </a:rPr>
              <a:t>51% desplegada · solo 11% plena · &gt;40% proyectos cancelados en 2027</a:t>
            </a:r>
          </a:p>
        </p:txBody>
      </p:sp>
      <p:sp>
        <p:nvSpPr>
          <p:cNvPr id="20" name="tbg"/>
          <p:cNvSpPr>
            <a:spLocks noGrp="1"/>
          </p:cNvSpPr>
          <p:nvPr/>
        </p:nvSpPr>
        <p:spPr>
          <a:xfrm>
            <a:off x="320040" y="1645920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21" name="nbg"/>
          <p:cNvSpPr>
            <a:spLocks noGrp="1"/>
          </p:cNvSpPr>
          <p:nvPr/>
        </p:nvSpPr>
        <p:spPr>
          <a:xfrm>
            <a:off x="320040" y="1645920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22" name="num"/>
          <p:cNvSpPr txBox="1">
            <a:spLocks noGrp="1"/>
          </p:cNvSpPr>
          <p:nvPr/>
        </p:nvSpPr>
        <p:spPr>
          <a:xfrm>
            <a:off x="320040" y="1645920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it"/>
          <p:cNvSpPr txBox="1">
            <a:spLocks noGrp="1"/>
          </p:cNvSpPr>
          <p:nvPr/>
        </p:nvSpPr>
        <p:spPr>
          <a:xfrm>
            <a:off x="850392" y="1728216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KCS como prerrequisito</a:t>
            </a:r>
          </a:p>
        </p:txBody>
      </p:sp>
      <p:sp>
        <p:nvSpPr>
          <p:cNvPr id="24" name="dsc"/>
          <p:cNvSpPr txBox="1">
            <a:spLocks noGrp="1"/>
          </p:cNvSpPr>
          <p:nvPr/>
        </p:nvSpPr>
        <p:spPr>
          <a:xfrm>
            <a:off x="850392" y="2029968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Calibri"/>
              </a:rPr>
              <a:t>Datos validados previenen alucinaciones — base de IA confiable</a:t>
            </a:r>
          </a:p>
        </p:txBody>
      </p:sp>
      <p:sp>
        <p:nvSpPr>
          <p:cNvPr id="25" name="tbg"/>
          <p:cNvSpPr>
            <a:spLocks noGrp="1"/>
          </p:cNvSpPr>
          <p:nvPr/>
        </p:nvSpPr>
        <p:spPr>
          <a:xfrm>
            <a:off x="4297680" y="1645920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26" name="nbg"/>
          <p:cNvSpPr>
            <a:spLocks noGrp="1"/>
          </p:cNvSpPr>
          <p:nvPr/>
        </p:nvSpPr>
        <p:spPr>
          <a:xfrm>
            <a:off x="4297680" y="1645920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7" name="num"/>
          <p:cNvSpPr txBox="1">
            <a:spLocks noGrp="1"/>
          </p:cNvSpPr>
          <p:nvPr/>
        </p:nvSpPr>
        <p:spPr>
          <a:xfrm>
            <a:off x="4297680" y="1645920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it"/>
          <p:cNvSpPr txBox="1">
            <a:spLocks noGrp="1"/>
          </p:cNvSpPr>
          <p:nvPr/>
        </p:nvSpPr>
        <p:spPr>
          <a:xfrm>
            <a:off x="4828032" y="1728216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Shift-Left con datos</a:t>
            </a:r>
          </a:p>
        </p:txBody>
      </p:sp>
      <p:sp>
        <p:nvSpPr>
          <p:cNvPr id="29" name="dsc"/>
          <p:cNvSpPr txBox="1">
            <a:spLocks noGrp="1"/>
          </p:cNvSpPr>
          <p:nvPr/>
        </p:nvSpPr>
        <p:spPr>
          <a:xfrm>
            <a:off x="4828032" y="2029968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Calibri"/>
              </a:rPr>
              <a:t>N3: USD 104/ticket → N0: USD 2/ticket — cada deflección = ahorro medible</a:t>
            </a:r>
          </a:p>
        </p:txBody>
      </p:sp>
      <p:sp>
        <p:nvSpPr>
          <p:cNvPr id="30" name="tbg"/>
          <p:cNvSpPr>
            <a:spLocks noGrp="1"/>
          </p:cNvSpPr>
          <p:nvPr/>
        </p:nvSpPr>
        <p:spPr>
          <a:xfrm>
            <a:off x="320040" y="2487168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31" name="nbg"/>
          <p:cNvSpPr>
            <a:spLocks noGrp="1"/>
          </p:cNvSpPr>
          <p:nvPr/>
        </p:nvSpPr>
        <p:spPr>
          <a:xfrm>
            <a:off x="320040" y="2487168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32" name="num"/>
          <p:cNvSpPr txBox="1">
            <a:spLocks noGrp="1"/>
          </p:cNvSpPr>
          <p:nvPr/>
        </p:nvSpPr>
        <p:spPr>
          <a:xfrm>
            <a:off x="320040" y="2487168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it"/>
          <p:cNvSpPr txBox="1">
            <a:spLocks noGrp="1"/>
          </p:cNvSpPr>
          <p:nvPr/>
        </p:nvSpPr>
        <p:spPr>
          <a:xfrm>
            <a:off x="850392" y="2569464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De SLA a Outcomes</a:t>
            </a:r>
          </a:p>
        </p:txBody>
      </p:sp>
      <p:sp>
        <p:nvSpPr>
          <p:cNvPr id="34" name="dsc"/>
          <p:cNvSpPr txBox="1">
            <a:spLocks noGrp="1"/>
          </p:cNvSpPr>
          <p:nvPr/>
        </p:nvSpPr>
        <p:spPr>
          <a:xfrm>
            <a:off x="850392" y="2871216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Calibri"/>
              </a:rPr>
              <a:t>30% contratos TI enterprise serán outcome-based hacia 2029</a:t>
            </a:r>
          </a:p>
        </p:txBody>
      </p:sp>
      <p:sp>
        <p:nvSpPr>
          <p:cNvPr id="35" name="tbg"/>
          <p:cNvSpPr>
            <a:spLocks noGrp="1"/>
          </p:cNvSpPr>
          <p:nvPr/>
        </p:nvSpPr>
        <p:spPr>
          <a:xfrm>
            <a:off x="4297680" y="2487168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36" name="nbg"/>
          <p:cNvSpPr>
            <a:spLocks noGrp="1"/>
          </p:cNvSpPr>
          <p:nvPr/>
        </p:nvSpPr>
        <p:spPr>
          <a:xfrm>
            <a:off x="4297680" y="2487168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37" name="num"/>
          <p:cNvSpPr txBox="1">
            <a:spLocks noGrp="1"/>
          </p:cNvSpPr>
          <p:nvPr/>
        </p:nvSpPr>
        <p:spPr>
          <a:xfrm>
            <a:off x="4297680" y="2487168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8" name="tit"/>
          <p:cNvSpPr txBox="1">
            <a:spLocks noGrp="1"/>
          </p:cNvSpPr>
          <p:nvPr/>
        </p:nvSpPr>
        <p:spPr>
          <a:xfrm>
            <a:off x="4828032" y="2569464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Observabilidad predictiva</a:t>
            </a:r>
          </a:p>
        </p:txBody>
      </p:sp>
      <p:sp>
        <p:nvSpPr>
          <p:cNvPr id="39" name="dsc"/>
          <p:cNvSpPr txBox="1">
            <a:spLocks noGrp="1"/>
          </p:cNvSpPr>
          <p:nvPr/>
        </p:nvSpPr>
        <p:spPr>
          <a:xfrm>
            <a:off x="4828032" y="2871216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Calibri"/>
              </a:rPr>
              <a:t>Mesa que detecta antes del reporte del usuario es invisible — en el mejor sentido</a:t>
            </a:r>
          </a:p>
        </p:txBody>
      </p:sp>
      <p:sp>
        <p:nvSpPr>
          <p:cNvPr id="40" name="tbg"/>
          <p:cNvSpPr>
            <a:spLocks noGrp="1"/>
          </p:cNvSpPr>
          <p:nvPr/>
        </p:nvSpPr>
        <p:spPr>
          <a:xfrm>
            <a:off x="320040" y="3328416"/>
            <a:ext cx="3840480" cy="74980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41" name="nbg"/>
          <p:cNvSpPr>
            <a:spLocks noGrp="1"/>
          </p:cNvSpPr>
          <p:nvPr/>
        </p:nvSpPr>
        <p:spPr>
          <a:xfrm>
            <a:off x="320040" y="3328416"/>
            <a:ext cx="475488" cy="749808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42" name="num"/>
          <p:cNvSpPr txBox="1">
            <a:spLocks noGrp="1"/>
          </p:cNvSpPr>
          <p:nvPr/>
        </p:nvSpPr>
        <p:spPr>
          <a:xfrm>
            <a:off x="320040" y="3328416"/>
            <a:ext cx="475488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3" name="tit"/>
          <p:cNvSpPr txBox="1">
            <a:spLocks noGrp="1"/>
          </p:cNvSpPr>
          <p:nvPr/>
        </p:nvSpPr>
        <p:spPr>
          <a:xfrm>
            <a:off x="850392" y="3410712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0D1B5E"/>
                </a:solidFill>
                <a:latin typeface="Calibri"/>
              </a:rPr>
              <a:t>ITIL v5 y gobernanza IA</a:t>
            </a:r>
          </a:p>
        </p:txBody>
      </p:sp>
      <p:sp>
        <p:nvSpPr>
          <p:cNvPr id="44" name="dsc"/>
          <p:cNvSpPr txBox="1">
            <a:spLocks noGrp="1"/>
          </p:cNvSpPr>
          <p:nvPr/>
        </p:nvSpPr>
        <p:spPr>
          <a:xfrm>
            <a:off x="850392" y="3712464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dirty="0">
                <a:solidFill>
                  <a:srgbClr val="6B7280"/>
                </a:solidFill>
                <a:latin typeface="Calibri"/>
              </a:rPr>
              <a:t>8 etapas · 6C AI Capability Model · gobernanza IA ya no es opcional</a:t>
            </a:r>
          </a:p>
        </p:txBody>
      </p:sp>
      <p:sp>
        <p:nvSpPr>
          <p:cNvPr id="80" name="src"/>
          <p:cNvSpPr txBox="1">
            <a:spLocks noGrp="1"/>
          </p:cNvSpPr>
          <p:nvPr/>
        </p:nvSpPr>
        <p:spPr>
          <a:xfrm>
            <a:off x="320040" y="4480560"/>
            <a:ext cx="7589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Dynatrace AI Observability 2025  ·  Gartner Agentic AI 2025  ·  PeopleCert ITIL v5  ·  TCS IT Services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El Costo de NO Evolucionar — Shift-Left y Benchmarks con IA Agéntica</a:t>
            </a:r>
          </a:p>
        </p:txBody>
      </p:sp>
      <p:sp>
        <p:nvSpPr>
          <p:cNvPr id="10" name="bar"/>
          <p:cNvSpPr>
            <a:spLocks noGrp="1"/>
          </p:cNvSpPr>
          <p:nvPr/>
        </p:nvSpPr>
        <p:spPr>
          <a:xfrm>
            <a:off x="320040" y="804672"/>
            <a:ext cx="914400" cy="457200"/>
          </a:xfrm>
          <a:prstGeom prst="roundRect">
            <a:avLst>
              <a:gd name="adj" fmla="val 8000"/>
            </a:avLst>
          </a:prstGeom>
          <a:solidFill>
            <a:srgbClr val="2A6B3C"/>
          </a:solidFill>
          <a:ln>
            <a:noFill/>
          </a:ln>
        </p:spPr>
      </p:sp>
      <p:sp>
        <p:nvSpPr>
          <p:cNvPr id="11" name="lbl"/>
          <p:cNvSpPr txBox="1">
            <a:spLocks noGrp="1"/>
          </p:cNvSpPr>
          <p:nvPr/>
        </p:nvSpPr>
        <p:spPr>
          <a:xfrm>
            <a:off x="393192" y="804672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FFFFFF"/>
                </a:solidFill>
                <a:latin typeface="Calibri"/>
              </a:rPr>
              <a:t>N0 Autoservicio</a:t>
            </a:r>
          </a:p>
        </p:txBody>
      </p:sp>
      <p:sp>
        <p:nvSpPr>
          <p:cNvPr id="12" name="cst"/>
          <p:cNvSpPr txBox="1">
            <a:spLocks noGrp="1"/>
          </p:cNvSpPr>
          <p:nvPr/>
        </p:nvSpPr>
        <p:spPr>
          <a:xfrm>
            <a:off x="1344168" y="80467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 dirty="0">
                <a:solidFill>
                  <a:srgbClr val="0D1B5E"/>
                </a:solidFill>
                <a:latin typeface="Calibri"/>
              </a:rPr>
              <a:t>USD 2</a:t>
            </a:r>
          </a:p>
        </p:txBody>
      </p:sp>
      <p:sp>
        <p:nvSpPr>
          <p:cNvPr id="13" name="bar"/>
          <p:cNvSpPr>
            <a:spLocks noGrp="1"/>
          </p:cNvSpPr>
          <p:nvPr/>
        </p:nvSpPr>
        <p:spPr>
          <a:xfrm>
            <a:off x="320040" y="1325880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4" name="lbl"/>
          <p:cNvSpPr txBox="1">
            <a:spLocks noGrp="1"/>
          </p:cNvSpPr>
          <p:nvPr/>
        </p:nvSpPr>
        <p:spPr>
          <a:xfrm>
            <a:off x="393192" y="13258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FFFFFF"/>
                </a:solidFill>
                <a:latin typeface="Calibri"/>
              </a:rPr>
              <a:t>N1 Agente Virtual IA</a:t>
            </a:r>
          </a:p>
        </p:txBody>
      </p:sp>
      <p:sp>
        <p:nvSpPr>
          <p:cNvPr id="15" name="cst"/>
          <p:cNvSpPr txBox="1">
            <a:spLocks noGrp="1"/>
          </p:cNvSpPr>
          <p:nvPr/>
        </p:nvSpPr>
        <p:spPr>
          <a:xfrm>
            <a:off x="1801368" y="13258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 dirty="0">
                <a:solidFill>
                  <a:srgbClr val="0D1B5E"/>
                </a:solidFill>
                <a:latin typeface="Calibri"/>
              </a:rPr>
              <a:t>USD 8</a:t>
            </a:r>
          </a:p>
        </p:txBody>
      </p:sp>
      <p:sp>
        <p:nvSpPr>
          <p:cNvPr id="16" name="bar"/>
          <p:cNvSpPr>
            <a:spLocks noGrp="1"/>
          </p:cNvSpPr>
          <p:nvPr/>
        </p:nvSpPr>
        <p:spPr>
          <a:xfrm>
            <a:off x="320040" y="1847088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17" name="lbl"/>
          <p:cNvSpPr txBox="1">
            <a:spLocks noGrp="1"/>
          </p:cNvSpPr>
          <p:nvPr/>
        </p:nvSpPr>
        <p:spPr>
          <a:xfrm>
            <a:off x="393192" y="184708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FFFFFF"/>
                </a:solidFill>
                <a:latin typeface="Calibri"/>
              </a:rPr>
              <a:t>N2 Soporte L1</a:t>
            </a:r>
          </a:p>
        </p:txBody>
      </p:sp>
      <p:sp>
        <p:nvSpPr>
          <p:cNvPr id="18" name="cst"/>
          <p:cNvSpPr txBox="1">
            <a:spLocks noGrp="1"/>
          </p:cNvSpPr>
          <p:nvPr/>
        </p:nvSpPr>
        <p:spPr>
          <a:xfrm>
            <a:off x="2532888" y="1847088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 dirty="0">
                <a:solidFill>
                  <a:srgbClr val="0D1B5E"/>
                </a:solidFill>
                <a:latin typeface="Calibri"/>
              </a:rPr>
              <a:t>USD 22</a:t>
            </a:r>
          </a:p>
        </p:txBody>
      </p:sp>
      <p:sp>
        <p:nvSpPr>
          <p:cNvPr id="19" name="bar"/>
          <p:cNvSpPr>
            <a:spLocks noGrp="1"/>
          </p:cNvSpPr>
          <p:nvPr/>
        </p:nvSpPr>
        <p:spPr>
          <a:xfrm>
            <a:off x="320040" y="2368296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0" name="lbl"/>
          <p:cNvSpPr txBox="1">
            <a:spLocks noGrp="1"/>
          </p:cNvSpPr>
          <p:nvPr/>
        </p:nvSpPr>
        <p:spPr>
          <a:xfrm>
            <a:off x="393192" y="2368296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FFFFFF"/>
                </a:solidFill>
                <a:latin typeface="Calibri"/>
              </a:rPr>
              <a:t>N3 Soporte L2</a:t>
            </a:r>
          </a:p>
        </p:txBody>
      </p:sp>
      <p:sp>
        <p:nvSpPr>
          <p:cNvPr id="21" name="cst"/>
          <p:cNvSpPr txBox="1">
            <a:spLocks noGrp="1"/>
          </p:cNvSpPr>
          <p:nvPr/>
        </p:nvSpPr>
        <p:spPr>
          <a:xfrm>
            <a:off x="3447288" y="2368296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 dirty="0">
                <a:solidFill>
                  <a:srgbClr val="0D1B5E"/>
                </a:solidFill>
                <a:latin typeface="Calibri"/>
              </a:rPr>
              <a:t>USD 55</a:t>
            </a:r>
          </a:p>
        </p:txBody>
      </p:sp>
      <p:sp>
        <p:nvSpPr>
          <p:cNvPr id="22" name="bar"/>
          <p:cNvSpPr>
            <a:spLocks noGrp="1"/>
          </p:cNvSpPr>
          <p:nvPr/>
        </p:nvSpPr>
        <p:spPr>
          <a:xfrm>
            <a:off x="320040" y="2889504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23" name="lbl"/>
          <p:cNvSpPr txBox="1">
            <a:spLocks noGrp="1"/>
          </p:cNvSpPr>
          <p:nvPr/>
        </p:nvSpPr>
        <p:spPr>
          <a:xfrm>
            <a:off x="393192" y="2889504"/>
            <a:ext cx="365759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 dirty="0">
                <a:solidFill>
                  <a:srgbClr val="FFFFFF"/>
                </a:solidFill>
                <a:latin typeface="Calibri"/>
              </a:rPr>
              <a:t>N4-N5 Especializado</a:t>
            </a:r>
          </a:p>
        </p:txBody>
      </p:sp>
      <p:sp>
        <p:nvSpPr>
          <p:cNvPr id="24" name="cst"/>
          <p:cNvSpPr txBox="1">
            <a:spLocks noGrp="1"/>
          </p:cNvSpPr>
          <p:nvPr/>
        </p:nvSpPr>
        <p:spPr>
          <a:xfrm>
            <a:off x="4178807" y="2889504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300" b="1" dirty="0">
                <a:solidFill>
                  <a:srgbClr val="0D1B5E"/>
                </a:solidFill>
                <a:latin typeface="Calibri"/>
              </a:rPr>
              <a:t>USD 104</a:t>
            </a:r>
          </a:p>
        </p:txBody>
      </p:sp>
      <p:sp>
        <p:nvSpPr>
          <p:cNvPr id="5" name="sl"/>
          <p:cNvSpPr txBox="1">
            <a:spLocks noGrp="1"/>
          </p:cNvSpPr>
          <p:nvPr/>
        </p:nvSpPr>
        <p:spPr>
          <a:xfrm>
            <a:off x="320040" y="32186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i="1" dirty="0">
                <a:solidFill>
                  <a:srgbClr val="2A6B3C"/>
                </a:solidFill>
                <a:latin typeface="Calibri"/>
              </a:rPr>
              <a:t>← Shift-Left: cada punto de deflección = ahorro cuantificable</a:t>
            </a:r>
          </a:p>
        </p:txBody>
      </p:sp>
      <p:sp>
        <p:nvSpPr>
          <p:cNvPr id="30" name="bhdr"/>
          <p:cNvSpPr>
            <a:spLocks noGrp="1"/>
          </p:cNvSpPr>
          <p:nvPr/>
        </p:nvSpPr>
        <p:spPr>
          <a:xfrm>
            <a:off x="4389120" y="777240"/>
            <a:ext cx="3794760" cy="365760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31" name="th"/>
          <p:cNvSpPr txBox="1">
            <a:spLocks noGrp="1"/>
          </p:cNvSpPr>
          <p:nvPr/>
        </p:nvSpPr>
        <p:spPr>
          <a:xfrm>
            <a:off x="4389120" y="7772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Métrica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5943600" y="7772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Tradicional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6949440" y="7772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Con IA Agéntica</a:t>
            </a:r>
          </a:p>
        </p:txBody>
      </p:sp>
      <p:sp>
        <p:nvSpPr>
          <p:cNvPr id="40" name="rbg"/>
          <p:cNvSpPr>
            <a:spLocks noGrp="1"/>
          </p:cNvSpPr>
          <p:nvPr/>
        </p:nvSpPr>
        <p:spPr>
          <a:xfrm>
            <a:off x="4389120" y="114300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41" name="bc"/>
          <p:cNvSpPr txBox="1">
            <a:spLocks noGrp="1"/>
          </p:cNvSpPr>
          <p:nvPr/>
        </p:nvSpPr>
        <p:spPr>
          <a:xfrm>
            <a:off x="4389120" y="1143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FCR (1er Contacto)</a:t>
            </a:r>
          </a:p>
        </p:txBody>
      </p:sp>
      <p:sp>
        <p:nvSpPr>
          <p:cNvPr id="42" name="bc"/>
          <p:cNvSpPr txBox="1">
            <a:spLocks noGrp="1"/>
          </p:cNvSpPr>
          <p:nvPr/>
        </p:nvSpPr>
        <p:spPr>
          <a:xfrm>
            <a:off x="5943600" y="11430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40-55%</a:t>
            </a:r>
          </a:p>
        </p:txBody>
      </p:sp>
      <p:sp>
        <p:nvSpPr>
          <p:cNvPr id="43" name="bc"/>
          <p:cNvSpPr txBox="1">
            <a:spLocks noGrp="1"/>
          </p:cNvSpPr>
          <p:nvPr/>
        </p:nvSpPr>
        <p:spPr>
          <a:xfrm>
            <a:off x="6949440" y="11430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Calibri"/>
              </a:rPr>
              <a:t>75-85%</a:t>
            </a:r>
          </a:p>
        </p:txBody>
      </p:sp>
      <p:sp>
        <p:nvSpPr>
          <p:cNvPr id="45" name="rbg"/>
          <p:cNvSpPr>
            <a:spLocks noGrp="1"/>
          </p:cNvSpPr>
          <p:nvPr/>
        </p:nvSpPr>
        <p:spPr>
          <a:xfrm>
            <a:off x="4389120" y="150876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46" name="bc"/>
          <p:cNvSpPr txBox="1">
            <a:spLocks noGrp="1"/>
          </p:cNvSpPr>
          <p:nvPr/>
        </p:nvSpPr>
        <p:spPr>
          <a:xfrm>
            <a:off x="4389120" y="15087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Reducción MTTR</a:t>
            </a:r>
          </a:p>
        </p:txBody>
      </p:sp>
      <p:sp>
        <p:nvSpPr>
          <p:cNvPr id="47" name="bc"/>
          <p:cNvSpPr txBox="1">
            <a:spLocks noGrp="1"/>
          </p:cNvSpPr>
          <p:nvPr/>
        </p:nvSpPr>
        <p:spPr>
          <a:xfrm>
            <a:off x="5943600" y="150876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base</a:t>
            </a:r>
          </a:p>
        </p:txBody>
      </p:sp>
      <p:sp>
        <p:nvSpPr>
          <p:cNvPr id="48" name="bc"/>
          <p:cNvSpPr txBox="1">
            <a:spLocks noGrp="1"/>
          </p:cNvSpPr>
          <p:nvPr/>
        </p:nvSpPr>
        <p:spPr>
          <a:xfrm>
            <a:off x="6949440" y="15087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Calibri"/>
              </a:rPr>
              <a:t>-60 a -70%</a:t>
            </a:r>
          </a:p>
        </p:txBody>
      </p:sp>
      <p:sp>
        <p:nvSpPr>
          <p:cNvPr id="50" name="rbg"/>
          <p:cNvSpPr>
            <a:spLocks noGrp="1"/>
          </p:cNvSpPr>
          <p:nvPr/>
        </p:nvSpPr>
        <p:spPr>
          <a:xfrm>
            <a:off x="4389120" y="187452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51" name="bc"/>
          <p:cNvSpPr txBox="1">
            <a:spLocks noGrp="1"/>
          </p:cNvSpPr>
          <p:nvPr/>
        </p:nvSpPr>
        <p:spPr>
          <a:xfrm>
            <a:off x="4389120" y="18745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Costo / interacción</a:t>
            </a:r>
          </a:p>
        </p:txBody>
      </p:sp>
      <p:sp>
        <p:nvSpPr>
          <p:cNvPr id="52" name="bc"/>
          <p:cNvSpPr txBox="1">
            <a:spLocks noGrp="1"/>
          </p:cNvSpPr>
          <p:nvPr/>
        </p:nvSpPr>
        <p:spPr>
          <a:xfrm>
            <a:off x="5943600" y="18745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USD 15-25</a:t>
            </a:r>
          </a:p>
        </p:txBody>
      </p:sp>
      <p:sp>
        <p:nvSpPr>
          <p:cNvPr id="53" name="bc"/>
          <p:cNvSpPr txBox="1">
            <a:spLocks noGrp="1"/>
          </p:cNvSpPr>
          <p:nvPr/>
        </p:nvSpPr>
        <p:spPr>
          <a:xfrm>
            <a:off x="6949440" y="187452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Calibri"/>
              </a:rPr>
              <a:t>USD 3-8</a:t>
            </a:r>
          </a:p>
        </p:txBody>
      </p:sp>
      <p:sp>
        <p:nvSpPr>
          <p:cNvPr id="55" name="rbg"/>
          <p:cNvSpPr>
            <a:spLocks noGrp="1"/>
          </p:cNvSpPr>
          <p:nvPr/>
        </p:nvSpPr>
        <p:spPr>
          <a:xfrm>
            <a:off x="4389120" y="224028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56" name="bc"/>
          <p:cNvSpPr txBox="1">
            <a:spLocks noGrp="1"/>
          </p:cNvSpPr>
          <p:nvPr/>
        </p:nvSpPr>
        <p:spPr>
          <a:xfrm>
            <a:off x="4389120" y="22402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Deflección (Robinhood)</a:t>
            </a:r>
          </a:p>
        </p:txBody>
      </p:sp>
      <p:sp>
        <p:nvSpPr>
          <p:cNvPr id="57" name="bc"/>
          <p:cNvSpPr txBox="1">
            <a:spLocks noGrp="1"/>
          </p:cNvSpPr>
          <p:nvPr/>
        </p:nvSpPr>
        <p:spPr>
          <a:xfrm>
            <a:off x="5943600" y="22402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—</a:t>
            </a:r>
          </a:p>
        </p:txBody>
      </p:sp>
      <p:sp>
        <p:nvSpPr>
          <p:cNvPr id="58" name="bc"/>
          <p:cNvSpPr txBox="1">
            <a:spLocks noGrp="1"/>
          </p:cNvSpPr>
          <p:nvPr/>
        </p:nvSpPr>
        <p:spPr>
          <a:xfrm>
            <a:off x="6949440" y="22402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Calibri"/>
              </a:rPr>
              <a:t>70%</a:t>
            </a:r>
          </a:p>
        </p:txBody>
      </p:sp>
      <p:sp>
        <p:nvSpPr>
          <p:cNvPr id="60" name="rbg"/>
          <p:cNvSpPr>
            <a:spLocks noGrp="1"/>
          </p:cNvSpPr>
          <p:nvPr/>
        </p:nvSpPr>
        <p:spPr>
          <a:xfrm>
            <a:off x="4389120" y="260604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61" name="bc"/>
          <p:cNvSpPr txBox="1">
            <a:spLocks noGrp="1"/>
          </p:cNvSpPr>
          <p:nvPr/>
        </p:nvSpPr>
        <p:spPr>
          <a:xfrm>
            <a:off x="4389120" y="26060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Reducción tickets</a:t>
            </a:r>
          </a:p>
        </p:txBody>
      </p:sp>
      <p:sp>
        <p:nvSpPr>
          <p:cNvPr id="62" name="bc"/>
          <p:cNvSpPr txBox="1">
            <a:spLocks noGrp="1"/>
          </p:cNvSpPr>
          <p:nvPr/>
        </p:nvSpPr>
        <p:spPr>
          <a:xfrm>
            <a:off x="5943600" y="26060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—</a:t>
            </a:r>
          </a:p>
        </p:txBody>
      </p:sp>
      <p:sp>
        <p:nvSpPr>
          <p:cNvPr id="63" name="bc"/>
          <p:cNvSpPr txBox="1">
            <a:spLocks noGrp="1"/>
          </p:cNvSpPr>
          <p:nvPr/>
        </p:nvSpPr>
        <p:spPr>
          <a:xfrm>
            <a:off x="6949440" y="26060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Calibri"/>
              </a:rPr>
              <a:t>-80%</a:t>
            </a:r>
          </a:p>
        </p:txBody>
      </p:sp>
      <p:sp>
        <p:nvSpPr>
          <p:cNvPr id="65" name="rbg"/>
          <p:cNvSpPr>
            <a:spLocks noGrp="1"/>
          </p:cNvSpPr>
          <p:nvPr/>
        </p:nvSpPr>
        <p:spPr>
          <a:xfrm>
            <a:off x="4389120" y="297180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66" name="bc"/>
          <p:cNvSpPr txBox="1">
            <a:spLocks noGrp="1"/>
          </p:cNvSpPr>
          <p:nvPr/>
        </p:nvSpPr>
        <p:spPr>
          <a:xfrm>
            <a:off x="4389120" y="29718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Resolución autónoma</a:t>
            </a:r>
          </a:p>
        </p:txBody>
      </p:sp>
      <p:sp>
        <p:nvSpPr>
          <p:cNvPr id="67" name="bc"/>
          <p:cNvSpPr txBox="1">
            <a:spLocks noGrp="1"/>
          </p:cNvSpPr>
          <p:nvPr/>
        </p:nvSpPr>
        <p:spPr>
          <a:xfrm>
            <a:off x="5943600" y="29718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dirty="0">
                <a:solidFill>
                  <a:srgbClr val="333333"/>
                </a:solidFill>
                <a:latin typeface="Calibri"/>
              </a:rPr>
              <a:t>—</a:t>
            </a:r>
          </a:p>
        </p:txBody>
      </p:sp>
      <p:sp>
        <p:nvSpPr>
          <p:cNvPr id="68" name="bc"/>
          <p:cNvSpPr txBox="1">
            <a:spLocks noGrp="1"/>
          </p:cNvSpPr>
          <p:nvPr/>
        </p:nvSpPr>
        <p:spPr>
          <a:xfrm>
            <a:off x="6949440" y="29718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2A6B3C"/>
                </a:solidFill>
                <a:latin typeface="Calibri"/>
              </a:rPr>
              <a:t>84%</a:t>
            </a:r>
          </a:p>
        </p:txBody>
      </p:sp>
      <p:sp>
        <p:nvSpPr>
          <p:cNvPr id="80" name="src"/>
          <p:cNvSpPr txBox="1">
            <a:spLocks noGrp="1"/>
          </p:cNvSpPr>
          <p:nvPr/>
        </p:nvSpPr>
        <p:spPr>
          <a:xfrm>
            <a:off x="320040" y="4480560"/>
            <a:ext cx="7589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Freshservice State of IT 2025  ·  Ivanti Agentic AI  ·  Gartner Cost per Ticket Benchmark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 dirty="0"/>
              <a:t>Nuestro diferenciador en el mercado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¿Qué diferencia a PersonalSoft? — Los 4 pilares que ningún competidor tiene integrados</a:t>
            </a:r>
          </a:p>
        </p:txBody>
      </p:sp>
      <p:sp>
        <p:nvSpPr>
          <p:cNvPr id="10" name="pbg"/>
          <p:cNvSpPr>
            <a:spLocks noGrp="1"/>
          </p:cNvSpPr>
          <p:nvPr/>
        </p:nvSpPr>
        <p:spPr>
          <a:xfrm>
            <a:off x="320040" y="786384"/>
            <a:ext cx="1874519" cy="3310128"/>
          </a:xfrm>
          <a:prstGeom prst="roundRect">
            <a:avLst>
              <a:gd name="adj" fmla="val 20000"/>
            </a:avLst>
          </a:prstGeom>
          <a:solidFill>
            <a:srgbClr val="E8EDF8"/>
          </a:solidFill>
          <a:ln w="19050">
            <a:solidFill>
              <a:srgbClr val="0D1B5E"/>
            </a:solidFill>
          </a:ln>
        </p:spPr>
      </p:sp>
      <p:sp>
        <p:nvSpPr>
          <p:cNvPr id="11" name="pbar"/>
          <p:cNvSpPr>
            <a:spLocks noGrp="1"/>
          </p:cNvSpPr>
          <p:nvPr/>
        </p:nvSpPr>
        <p:spPr>
          <a:xfrm>
            <a:off x="320040" y="786384"/>
            <a:ext cx="1874519" cy="475488"/>
          </a:xfrm>
          <a:prstGeom prst="roundRect">
            <a:avLst>
              <a:gd name="adj" fmla="val 2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pbar2"/>
          <p:cNvSpPr>
            <a:spLocks noGrp="1"/>
          </p:cNvSpPr>
          <p:nvPr/>
        </p:nvSpPr>
        <p:spPr>
          <a:xfrm>
            <a:off x="320040" y="1060704"/>
            <a:ext cx="1874519" cy="2011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pnum"/>
          <p:cNvSpPr txBox="1">
            <a:spLocks noGrp="1"/>
          </p:cNvSpPr>
          <p:nvPr/>
        </p:nvSpPr>
        <p:spPr>
          <a:xfrm>
            <a:off x="320040" y="8229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ptit"/>
          <p:cNvSpPr txBox="1">
            <a:spLocks noGrp="1"/>
          </p:cNvSpPr>
          <p:nvPr/>
        </p:nvSpPr>
        <p:spPr>
          <a:xfrm>
            <a:off x="356616" y="822960"/>
            <a:ext cx="1801367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Modelo de Madurez
Propio N0-N5</a:t>
            </a:r>
          </a:p>
        </p:txBody>
      </p:sp>
      <p:sp>
        <p:nvSpPr>
          <p:cNvPr id="15" name="pi"/>
          <p:cNvSpPr txBox="1">
            <a:spLocks noGrp="1"/>
          </p:cNvSpPr>
          <p:nvPr/>
        </p:nvSpPr>
        <p:spPr>
          <a:xfrm>
            <a:off x="411480" y="1371600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0D1B5E"/>
                </a:solidFill>
                <a:latin typeface="Calibri"/>
              </a:rPr>
              <a:t>▸  6 niveles · 17 prácticas operativas</a:t>
            </a:r>
          </a:p>
        </p:txBody>
      </p:sp>
      <p:sp>
        <p:nvSpPr>
          <p:cNvPr id="16" name="pi"/>
          <p:cNvSpPr txBox="1">
            <a:spLocks noGrp="1"/>
          </p:cNvSpPr>
          <p:nvPr/>
        </p:nvSpPr>
        <p:spPr>
          <a:xfrm>
            <a:off x="411480" y="1883664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0D1B5E"/>
                </a:solidFill>
                <a:latin typeface="Calibri"/>
              </a:rPr>
              <a:t>▸  14 dimensiones en 4 ejes</a:t>
            </a:r>
          </a:p>
        </p:txBody>
      </p:sp>
      <p:sp>
        <p:nvSpPr>
          <p:cNvPr id="17" name="pi"/>
          <p:cNvSpPr txBox="1">
            <a:spLocks noGrp="1"/>
          </p:cNvSpPr>
          <p:nvPr/>
        </p:nvSpPr>
        <p:spPr>
          <a:xfrm>
            <a:off x="411480" y="2395728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0D1B5E"/>
                </a:solidFill>
                <a:latin typeface="Calibri"/>
              </a:rPr>
              <a:t>▸  Nadie en el mercado lo tiene como oferta comercial</a:t>
            </a:r>
          </a:p>
        </p:txBody>
      </p:sp>
      <p:sp>
        <p:nvSpPr>
          <p:cNvPr id="20" name="pbg"/>
          <p:cNvSpPr>
            <a:spLocks noGrp="1"/>
          </p:cNvSpPr>
          <p:nvPr/>
        </p:nvSpPr>
        <p:spPr>
          <a:xfrm>
            <a:off x="2285999" y="786384"/>
            <a:ext cx="1874519" cy="3310128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 w="19050">
            <a:solidFill>
              <a:srgbClr val="1A3A8F"/>
            </a:solidFill>
          </a:ln>
        </p:spPr>
      </p:sp>
      <p:sp>
        <p:nvSpPr>
          <p:cNvPr id="21" name="pbar"/>
          <p:cNvSpPr>
            <a:spLocks noGrp="1"/>
          </p:cNvSpPr>
          <p:nvPr/>
        </p:nvSpPr>
        <p:spPr>
          <a:xfrm>
            <a:off x="2285999" y="786384"/>
            <a:ext cx="1874519" cy="475488"/>
          </a:xfrm>
          <a:prstGeom prst="roundRect">
            <a:avLst>
              <a:gd name="adj" fmla="val 2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2" name="pbar2"/>
          <p:cNvSpPr>
            <a:spLocks noGrp="1"/>
          </p:cNvSpPr>
          <p:nvPr/>
        </p:nvSpPr>
        <p:spPr>
          <a:xfrm>
            <a:off x="2285999" y="1060704"/>
            <a:ext cx="1874519" cy="20116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3" name="pnum"/>
          <p:cNvSpPr txBox="1">
            <a:spLocks noGrp="1"/>
          </p:cNvSpPr>
          <p:nvPr/>
        </p:nvSpPr>
        <p:spPr>
          <a:xfrm>
            <a:off x="2285999" y="8229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4" name="ptit"/>
          <p:cNvSpPr txBox="1">
            <a:spLocks noGrp="1"/>
          </p:cNvSpPr>
          <p:nvPr/>
        </p:nvSpPr>
        <p:spPr>
          <a:xfrm>
            <a:off x="2322575" y="822960"/>
            <a:ext cx="1801367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ITIL v5
desde el primer día</a:t>
            </a:r>
          </a:p>
        </p:txBody>
      </p:sp>
      <p:sp>
        <p:nvSpPr>
          <p:cNvPr id="25" name="pi"/>
          <p:cNvSpPr txBox="1">
            <a:spLocks noGrp="1"/>
          </p:cNvSpPr>
          <p:nvPr/>
        </p:nvSpPr>
        <p:spPr>
          <a:xfrm>
            <a:off x="2377439" y="1371600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A3A8F"/>
                </a:solidFill>
                <a:latin typeface="Calibri"/>
              </a:rPr>
              <a:t>▸  Único framework feb 2026</a:t>
            </a:r>
          </a:p>
        </p:txBody>
      </p:sp>
      <p:sp>
        <p:nvSpPr>
          <p:cNvPr id="26" name="pi"/>
          <p:cNvSpPr txBox="1">
            <a:spLocks noGrp="1"/>
          </p:cNvSpPr>
          <p:nvPr/>
        </p:nvSpPr>
        <p:spPr>
          <a:xfrm>
            <a:off x="2377439" y="1883664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A3A8F"/>
                </a:solidFill>
                <a:latin typeface="Calibri"/>
              </a:rPr>
              <a:t>▸  6C AI Capability Model</a:t>
            </a:r>
          </a:p>
        </p:txBody>
      </p:sp>
      <p:sp>
        <p:nvSpPr>
          <p:cNvPr id="27" name="pi"/>
          <p:cNvSpPr txBox="1">
            <a:spLocks noGrp="1"/>
          </p:cNvSpPr>
          <p:nvPr/>
        </p:nvSpPr>
        <p:spPr>
          <a:xfrm>
            <a:off x="2377439" y="2395728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A3A8F"/>
                </a:solidFill>
                <a:latin typeface="Calibri"/>
              </a:rPr>
              <a:t>▸  Gobernanza formal de IA · 8 etapas</a:t>
            </a:r>
          </a:p>
        </p:txBody>
      </p:sp>
      <p:sp>
        <p:nvSpPr>
          <p:cNvPr id="30" name="pbg"/>
          <p:cNvSpPr>
            <a:spLocks noGrp="1"/>
          </p:cNvSpPr>
          <p:nvPr/>
        </p:nvSpPr>
        <p:spPr>
          <a:xfrm>
            <a:off x="4251958" y="786384"/>
            <a:ext cx="1874519" cy="3310128"/>
          </a:xfrm>
          <a:prstGeom prst="roundRect">
            <a:avLst>
              <a:gd name="adj" fmla="val 20000"/>
            </a:avLst>
          </a:prstGeom>
          <a:solidFill>
            <a:srgbClr val="E8F6F7"/>
          </a:solidFill>
          <a:ln w="19050">
            <a:solidFill>
              <a:srgbClr val="1B7B85"/>
            </a:solidFill>
          </a:ln>
        </p:spPr>
      </p:sp>
      <p:sp>
        <p:nvSpPr>
          <p:cNvPr id="31" name="pbar"/>
          <p:cNvSpPr>
            <a:spLocks noGrp="1"/>
          </p:cNvSpPr>
          <p:nvPr/>
        </p:nvSpPr>
        <p:spPr>
          <a:xfrm>
            <a:off x="4251958" y="786384"/>
            <a:ext cx="1874519" cy="475488"/>
          </a:xfrm>
          <a:prstGeom prst="roundRect">
            <a:avLst>
              <a:gd name="adj" fmla="val 2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32" name="pbar2"/>
          <p:cNvSpPr>
            <a:spLocks noGrp="1"/>
          </p:cNvSpPr>
          <p:nvPr/>
        </p:nvSpPr>
        <p:spPr>
          <a:xfrm>
            <a:off x="4251958" y="1060704"/>
            <a:ext cx="1874519" cy="201168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33" name="pnum"/>
          <p:cNvSpPr txBox="1">
            <a:spLocks noGrp="1"/>
          </p:cNvSpPr>
          <p:nvPr/>
        </p:nvSpPr>
        <p:spPr>
          <a:xfrm>
            <a:off x="4251958" y="8229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4" name="ptit"/>
          <p:cNvSpPr txBox="1">
            <a:spLocks noGrp="1"/>
          </p:cNvSpPr>
          <p:nvPr/>
        </p:nvSpPr>
        <p:spPr>
          <a:xfrm>
            <a:off x="4288534" y="822960"/>
            <a:ext cx="1801367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AIOps
Integrado</a:t>
            </a:r>
          </a:p>
        </p:txBody>
      </p:sp>
      <p:sp>
        <p:nvSpPr>
          <p:cNvPr id="35" name="pi"/>
          <p:cNvSpPr txBox="1">
            <a:spLocks noGrp="1"/>
          </p:cNvSpPr>
          <p:nvPr/>
        </p:nvSpPr>
        <p:spPr>
          <a:xfrm>
            <a:off x="4343398" y="1371600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B7B85"/>
                </a:solidFill>
                <a:latin typeface="Calibri"/>
              </a:rPr>
              <a:t>▸  Observabilidad predictiva</a:t>
            </a:r>
          </a:p>
        </p:txBody>
      </p:sp>
      <p:sp>
        <p:nvSpPr>
          <p:cNvPr id="36" name="pi"/>
          <p:cNvSpPr txBox="1">
            <a:spLocks noGrp="1"/>
          </p:cNvSpPr>
          <p:nvPr/>
        </p:nvSpPr>
        <p:spPr>
          <a:xfrm>
            <a:off x="4343398" y="1883664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B7B85"/>
                </a:solidFill>
                <a:latin typeface="Calibri"/>
              </a:rPr>
              <a:t>▸  Correlación alertas-incidentes</a:t>
            </a:r>
          </a:p>
        </p:txBody>
      </p:sp>
      <p:sp>
        <p:nvSpPr>
          <p:cNvPr id="37" name="pi"/>
          <p:cNvSpPr txBox="1">
            <a:spLocks noGrp="1"/>
          </p:cNvSpPr>
          <p:nvPr/>
        </p:nvSpPr>
        <p:spPr>
          <a:xfrm>
            <a:off x="4343398" y="2395728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B7B85"/>
                </a:solidFill>
                <a:latin typeface="Calibri"/>
              </a:rPr>
              <a:t>▸  El cliente sabe su nivel y qué cuesta subir</a:t>
            </a:r>
          </a:p>
        </p:txBody>
      </p:sp>
      <p:sp>
        <p:nvSpPr>
          <p:cNvPr id="40" name="pbg"/>
          <p:cNvSpPr>
            <a:spLocks noGrp="1"/>
          </p:cNvSpPr>
          <p:nvPr/>
        </p:nvSpPr>
        <p:spPr>
          <a:xfrm>
            <a:off x="6217917" y="786384"/>
            <a:ext cx="1874519" cy="3310128"/>
          </a:xfrm>
          <a:prstGeom prst="roundRect">
            <a:avLst>
              <a:gd name="adj" fmla="val 20000"/>
            </a:avLst>
          </a:prstGeom>
          <a:solidFill>
            <a:srgbClr val="E8F5EE"/>
          </a:solidFill>
          <a:ln w="19050">
            <a:solidFill>
              <a:srgbClr val="1A6B3C"/>
            </a:solidFill>
          </a:ln>
        </p:spPr>
      </p:sp>
      <p:sp>
        <p:nvSpPr>
          <p:cNvPr id="41" name="pbar"/>
          <p:cNvSpPr>
            <a:spLocks noGrp="1"/>
          </p:cNvSpPr>
          <p:nvPr/>
        </p:nvSpPr>
        <p:spPr>
          <a:xfrm>
            <a:off x="6217917" y="786384"/>
            <a:ext cx="1874519" cy="475488"/>
          </a:xfrm>
          <a:prstGeom prst="roundRect">
            <a:avLst>
              <a:gd name="adj" fmla="val 20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42" name="pbar2"/>
          <p:cNvSpPr>
            <a:spLocks noGrp="1"/>
          </p:cNvSpPr>
          <p:nvPr/>
        </p:nvSpPr>
        <p:spPr>
          <a:xfrm>
            <a:off x="6217917" y="1060704"/>
            <a:ext cx="1874519" cy="201168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43" name="pnum"/>
          <p:cNvSpPr txBox="1">
            <a:spLocks noGrp="1"/>
          </p:cNvSpPr>
          <p:nvPr/>
        </p:nvSpPr>
        <p:spPr>
          <a:xfrm>
            <a:off x="6217917" y="8229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4" name="ptit"/>
          <p:cNvSpPr txBox="1">
            <a:spLocks noGrp="1"/>
          </p:cNvSpPr>
          <p:nvPr/>
        </p:nvSpPr>
        <p:spPr>
          <a:xfrm>
            <a:off x="6254493" y="822960"/>
            <a:ext cx="1801367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Pricing
Outcome-Based</a:t>
            </a:r>
          </a:p>
        </p:txBody>
      </p:sp>
      <p:sp>
        <p:nvSpPr>
          <p:cNvPr id="45" name="pi"/>
          <p:cNvSpPr txBox="1">
            <a:spLocks noGrp="1"/>
          </p:cNvSpPr>
          <p:nvPr/>
        </p:nvSpPr>
        <p:spPr>
          <a:xfrm>
            <a:off x="6309357" y="1371600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A6B3C"/>
                </a:solidFill>
                <a:latin typeface="Calibri"/>
              </a:rPr>
              <a:t>▸  Costo = Outcomes × Precio</a:t>
            </a:r>
          </a:p>
        </p:txBody>
      </p:sp>
      <p:sp>
        <p:nvSpPr>
          <p:cNvPr id="46" name="pi"/>
          <p:cNvSpPr txBox="1">
            <a:spLocks noGrp="1"/>
          </p:cNvSpPr>
          <p:nvPr/>
        </p:nvSpPr>
        <p:spPr>
          <a:xfrm>
            <a:off x="6309357" y="1883664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A6B3C"/>
                </a:solidFill>
                <a:latin typeface="Calibri"/>
              </a:rPr>
              <a:t>▸  Shared savings: 15-25%</a:t>
            </a:r>
          </a:p>
        </p:txBody>
      </p:sp>
      <p:sp>
        <p:nvSpPr>
          <p:cNvPr id="47" name="pi"/>
          <p:cNvSpPr txBox="1">
            <a:spLocks noGrp="1"/>
          </p:cNvSpPr>
          <p:nvPr/>
        </p:nvSpPr>
        <p:spPr>
          <a:xfrm>
            <a:off x="6309357" y="2395728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dirty="0">
                <a:solidFill>
                  <a:srgbClr val="1A6B3C"/>
                </a:solidFill>
                <a:latin typeface="Calibri"/>
              </a:rPr>
              <a:t>▸  Riesgo comercial compartido</a:t>
            </a:r>
          </a:p>
        </p:txBody>
      </p:sp>
      <p:sp>
        <p:nvSpPr>
          <p:cNvPr id="80" name="src"/>
          <p:cNvSpPr txBox="1">
            <a:spLocks noGrp="1"/>
          </p:cNvSpPr>
          <p:nvPr/>
        </p:nvSpPr>
        <p:spPr>
          <a:xfrm>
            <a:off x="320040" y="4480560"/>
            <a:ext cx="7589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PeopleCert ITIL v5 — AI Capability Model  ·  Gartner Outcome-Based IT Contracts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DD985-EB77-52CC-5FEE-24D98A48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Mesa </a:t>
            </a:r>
            <a:r>
              <a:rPr lang="en-US" sz="1400" dirty="0" err="1"/>
              <a:t>Tradicional</a:t>
            </a:r>
            <a:r>
              <a:rPr lang="en-US" sz="1400" dirty="0"/>
              <a:t> vs. Mesa Gen Next</a:t>
            </a:r>
            <a:endParaRPr lang="es-CO" sz="1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A8EDFEC-ABB1-339E-CF7F-12CBE1723304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6 dimensiones de diferenciacion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109FC51-DF2B-0E7E-4D02-78993490CFFB}"/>
              </a:ext>
            </a:extLst>
          </p:cNvPr>
          <p:cNvSpPr/>
          <p:nvPr/>
        </p:nvSpPr>
        <p:spPr>
          <a:xfrm>
            <a:off x="398760" y="947604"/>
            <a:ext cx="8346479" cy="347472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3585282-FF2C-8FA3-AC54-194A315BD2F9}"/>
              </a:ext>
            </a:extLst>
          </p:cNvPr>
          <p:cNvSpPr/>
          <p:nvPr/>
        </p:nvSpPr>
        <p:spPr>
          <a:xfrm>
            <a:off x="432642" y="965892"/>
            <a:ext cx="224367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Dimension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94428-9C97-2FEC-65D9-3C6DEDA633A8}"/>
              </a:ext>
            </a:extLst>
          </p:cNvPr>
          <p:cNvSpPr/>
          <p:nvPr/>
        </p:nvSpPr>
        <p:spPr>
          <a:xfrm>
            <a:off x="2724990" y="965892"/>
            <a:ext cx="29167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B8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Mesa Tradicional (N1-N2)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4B5BF16-3054-7DF5-D8B3-DB1940518EDF}"/>
              </a:ext>
            </a:extLst>
          </p:cNvPr>
          <p:cNvSpPr/>
          <p:nvPr/>
        </p:nvSpPr>
        <p:spPr>
          <a:xfrm>
            <a:off x="5716348" y="965892"/>
            <a:ext cx="3051401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rgbClr val="B8FFD8"/>
                </a:solidFill>
                <a:latin typeface="Reddit Sans"/>
                <a:ea typeface="Reddit Sans"/>
                <a:cs typeface="Calibri"/>
              </a:rPr>
              <a:t>Mesa Nueva Generación </a:t>
            </a:r>
            <a:r>
              <a:rPr lang="en-US" sz="1100" b="1">
                <a:solidFill>
                  <a:srgbClr val="B8FFD8"/>
                </a:solidFill>
                <a:latin typeface="Reddit Sans"/>
                <a:ea typeface="Reddit Sans"/>
                <a:cs typeface="Calibri"/>
              </a:rPr>
              <a:t>(N3-N5)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89F1B814-0040-BE23-53BB-35B3EF14F7C6}"/>
              </a:ext>
            </a:extLst>
          </p:cNvPr>
          <p:cNvSpPr/>
          <p:nvPr/>
        </p:nvSpPr>
        <p:spPr>
          <a:xfrm>
            <a:off x="398760" y="1313364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14E09C8-14C8-3692-5B7B-E891CA35EC5B}"/>
              </a:ext>
            </a:extLst>
          </p:cNvPr>
          <p:cNvSpPr/>
          <p:nvPr/>
        </p:nvSpPr>
        <p:spPr>
          <a:xfrm>
            <a:off x="432218" y="136822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Modelo </a:t>
            </a: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operativo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AC25C4D-EF1C-2646-6721-47B11C137BD0}"/>
              </a:ext>
            </a:extLst>
          </p:cNvPr>
          <p:cNvSpPr/>
          <p:nvPr/>
        </p:nvSpPr>
        <p:spPr>
          <a:xfrm>
            <a:off x="2680546" y="149624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252FAD6-1D31-B738-BF93-CD6665A6B594}"/>
              </a:ext>
            </a:extLst>
          </p:cNvPr>
          <p:cNvSpPr/>
          <p:nvPr/>
        </p:nvSpPr>
        <p:spPr>
          <a:xfrm>
            <a:off x="2896610" y="1368228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Reactivo · escalado manual N1/N2/N3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B1CEBCD-7A6F-0063-BD97-9EB82C4C527C}"/>
              </a:ext>
            </a:extLst>
          </p:cNvPr>
          <p:cNvSpPr/>
          <p:nvPr/>
        </p:nvSpPr>
        <p:spPr>
          <a:xfrm>
            <a:off x="5688922" y="149624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9ACAE32-59DB-CC33-29DA-C8E1117C2B0F}"/>
              </a:ext>
            </a:extLst>
          </p:cNvPr>
          <p:cNvSpPr/>
          <p:nvPr/>
        </p:nvSpPr>
        <p:spPr>
          <a:xfrm>
            <a:off x="5906171" y="1368228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N0-N5 · shift-left inteligente · escalado automatico IA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6C82E92-7B6C-1342-D2F9-CFEDAE8EDC5F}"/>
              </a:ext>
            </a:extLst>
          </p:cNvPr>
          <p:cNvSpPr/>
          <p:nvPr/>
        </p:nvSpPr>
        <p:spPr>
          <a:xfrm>
            <a:off x="398760" y="1880292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BEF1F1E-81E8-0B80-0E39-669A46668C89}"/>
              </a:ext>
            </a:extLst>
          </p:cNvPr>
          <p:cNvSpPr/>
          <p:nvPr/>
        </p:nvSpPr>
        <p:spPr>
          <a:xfrm>
            <a:off x="432218" y="1935156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Inteligencia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6C96019-A556-2BE6-774A-6511D9E21F67}"/>
              </a:ext>
            </a:extLst>
          </p:cNvPr>
          <p:cNvSpPr/>
          <p:nvPr/>
        </p:nvSpPr>
        <p:spPr>
          <a:xfrm>
            <a:off x="2680546" y="2063172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3CE596E-6836-5764-442A-4C80D163FDCA}"/>
              </a:ext>
            </a:extLst>
          </p:cNvPr>
          <p:cNvSpPr/>
          <p:nvPr/>
        </p:nvSpPr>
        <p:spPr>
          <a:xfrm>
            <a:off x="2896610" y="1935156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Scripts de troubleshooting · FAQs estaticas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85D8DC4-88DC-7170-39D7-4E0709A595CE}"/>
              </a:ext>
            </a:extLst>
          </p:cNvPr>
          <p:cNvSpPr/>
          <p:nvPr/>
        </p:nvSpPr>
        <p:spPr>
          <a:xfrm>
            <a:off x="5688922" y="2063172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B93BAFCB-8B94-5B1F-5A88-353060832C48}"/>
              </a:ext>
            </a:extLst>
          </p:cNvPr>
          <p:cNvSpPr/>
          <p:nvPr/>
        </p:nvSpPr>
        <p:spPr>
          <a:xfrm>
            <a:off x="5906171" y="1935156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Virtual agent GenAI · agentes autonomos · KCS+IA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72C76E2F-B967-F164-6ED9-76FA39CDCE0B}"/>
              </a:ext>
            </a:extLst>
          </p:cNvPr>
          <p:cNvSpPr/>
          <p:nvPr/>
        </p:nvSpPr>
        <p:spPr>
          <a:xfrm>
            <a:off x="398760" y="2447220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76A5ED8D-F317-D382-F720-AD103799E8C2}"/>
              </a:ext>
            </a:extLst>
          </p:cNvPr>
          <p:cNvSpPr/>
          <p:nvPr/>
        </p:nvSpPr>
        <p:spPr>
          <a:xfrm>
            <a:off x="432218" y="2502084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Automatización</a:t>
            </a:r>
            <a:endParaRPr lang="en-US" sz="1100" dirty="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A38DA586-75FF-0B0C-D26D-35C038E1ECB0}"/>
              </a:ext>
            </a:extLst>
          </p:cNvPr>
          <p:cNvSpPr/>
          <p:nvPr/>
        </p:nvSpPr>
        <p:spPr>
          <a:xfrm>
            <a:off x="2680546" y="2630100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B2DA6CB-64A1-A8AD-18F5-FC1A041368B1}"/>
              </a:ext>
            </a:extLst>
          </p:cNvPr>
          <p:cNvSpPr/>
          <p:nvPr/>
        </p:nvSpPr>
        <p:spPr>
          <a:xfrm>
            <a:off x="2896610" y="2502084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Workflows basicos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2EC9F9F-4C5E-A75F-3945-D5C09A985936}"/>
              </a:ext>
            </a:extLst>
          </p:cNvPr>
          <p:cNvSpPr/>
          <p:nvPr/>
        </p:nvSpPr>
        <p:spPr>
          <a:xfrm>
            <a:off x="5688922" y="2630100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14BD5C7-EBD6-8EA4-0C44-3D37497CE43A}"/>
              </a:ext>
            </a:extLst>
          </p:cNvPr>
          <p:cNvSpPr/>
          <p:nvPr/>
        </p:nvSpPr>
        <p:spPr>
          <a:xfrm>
            <a:off x="5906171" y="2502084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Self-healing · auto-remediacion · &gt;40% defleccion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CCC4E44B-ABFE-9A6D-56B0-BD4DDDB91B8D}"/>
              </a:ext>
            </a:extLst>
          </p:cNvPr>
          <p:cNvSpPr/>
          <p:nvPr/>
        </p:nvSpPr>
        <p:spPr>
          <a:xfrm>
            <a:off x="398760" y="3014148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FE0FC96-7D40-0AEA-4705-1D8EEFA26D26}"/>
              </a:ext>
            </a:extLst>
          </p:cNvPr>
          <p:cNvSpPr/>
          <p:nvPr/>
        </p:nvSpPr>
        <p:spPr>
          <a:xfrm>
            <a:off x="432218" y="3069012"/>
            <a:ext cx="2198804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Observabilidad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E643936-ADB4-18AC-DC7D-F6499124833C}"/>
              </a:ext>
            </a:extLst>
          </p:cNvPr>
          <p:cNvSpPr/>
          <p:nvPr/>
        </p:nvSpPr>
        <p:spPr>
          <a:xfrm>
            <a:off x="2680546" y="3197028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725C4751-01D4-056A-A00A-938223D13D49}"/>
              </a:ext>
            </a:extLst>
          </p:cNvPr>
          <p:cNvSpPr/>
          <p:nvPr/>
        </p:nvSpPr>
        <p:spPr>
          <a:xfrm>
            <a:off x="2896610" y="3069012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Monitoreo reactivo de alertas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13393221-1582-2197-8E3A-0A0C7C255255}"/>
              </a:ext>
            </a:extLst>
          </p:cNvPr>
          <p:cNvSpPr/>
          <p:nvPr/>
        </p:nvSpPr>
        <p:spPr>
          <a:xfrm>
            <a:off x="5688922" y="3197028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ED97B59-AC99-C7E3-7A0A-21894D60C312}"/>
              </a:ext>
            </a:extLst>
          </p:cNvPr>
          <p:cNvSpPr/>
          <p:nvPr/>
        </p:nvSpPr>
        <p:spPr>
          <a:xfrm>
            <a:off x="5906171" y="3069012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AIOps predictivo · prevencion P1 · correlacion causa raiz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958AF314-F533-6648-AB95-D2DA83323FA1}"/>
              </a:ext>
            </a:extLst>
          </p:cNvPr>
          <p:cNvSpPr/>
          <p:nvPr/>
        </p:nvSpPr>
        <p:spPr>
          <a:xfrm>
            <a:off x="398760" y="3581076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EDC48C0F-2569-9193-E804-DDFAC21A9BE5}"/>
              </a:ext>
            </a:extLst>
          </p:cNvPr>
          <p:cNvSpPr/>
          <p:nvPr/>
        </p:nvSpPr>
        <p:spPr>
          <a:xfrm>
            <a:off x="432218" y="3635940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Medición</a:t>
            </a:r>
            <a:r>
              <a:rPr lang="en-US" sz="1100" b="1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de valor</a:t>
            </a:r>
            <a:endParaRPr lang="en-US" sz="1100" dirty="0">
              <a:latin typeface="Reddit Sans"/>
              <a:ea typeface="Reddit Sans"/>
              <a:cs typeface="Calibri"/>
            </a:endParaRPr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AD8D5078-66D6-3EDE-2B9E-792A3936CD56}"/>
              </a:ext>
            </a:extLst>
          </p:cNvPr>
          <p:cNvSpPr/>
          <p:nvPr/>
        </p:nvSpPr>
        <p:spPr>
          <a:xfrm>
            <a:off x="2680546" y="3763956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D7E2076C-25D6-7D82-5D39-5909F60722C9}"/>
              </a:ext>
            </a:extLst>
          </p:cNvPr>
          <p:cNvSpPr/>
          <p:nvPr/>
        </p:nvSpPr>
        <p:spPr>
          <a:xfrm>
            <a:off x="2896610" y="3635940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SLA de cumplimiento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2C9F1672-C41E-1D59-F96B-6F6BB17D1E2D}"/>
              </a:ext>
            </a:extLst>
          </p:cNvPr>
          <p:cNvSpPr/>
          <p:nvPr/>
        </p:nvSpPr>
        <p:spPr>
          <a:xfrm>
            <a:off x="5688922" y="3763956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95B74998-D0F7-1D97-19F5-461413793564}"/>
              </a:ext>
            </a:extLst>
          </p:cNvPr>
          <p:cNvSpPr/>
          <p:nvPr/>
        </p:nvSpPr>
        <p:spPr>
          <a:xfrm>
            <a:off x="5906171" y="3635940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SLA + XLA + DEX + impacto economico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F25A429-6E0D-E1CC-AEA9-FE3274389E01}"/>
              </a:ext>
            </a:extLst>
          </p:cNvPr>
          <p:cNvSpPr/>
          <p:nvPr/>
        </p:nvSpPr>
        <p:spPr>
          <a:xfrm>
            <a:off x="398760" y="4148004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1D8BD44-FDC0-B67A-89E7-EB1DD3D5541D}"/>
              </a:ext>
            </a:extLst>
          </p:cNvPr>
          <p:cNvSpPr/>
          <p:nvPr/>
        </p:nvSpPr>
        <p:spPr>
          <a:xfrm>
            <a:off x="432218" y="420286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Evolución</a:t>
            </a:r>
            <a:endParaRPr lang="en-US" sz="1100" dirty="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5B56FC32-C361-5EB7-FC08-0A35299777FB}"/>
              </a:ext>
            </a:extLst>
          </p:cNvPr>
          <p:cNvSpPr/>
          <p:nvPr/>
        </p:nvSpPr>
        <p:spPr>
          <a:xfrm>
            <a:off x="2680546" y="433088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9C685756-3D5A-DDBC-4681-52D0206F6233}"/>
              </a:ext>
            </a:extLst>
          </p:cNvPr>
          <p:cNvSpPr/>
          <p:nvPr/>
        </p:nvSpPr>
        <p:spPr>
          <a:xfrm>
            <a:off x="2896610" y="4202868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Estatico · cambios reactivos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CDD1506-C3BD-C2CF-7127-6A709B9B853E}"/>
              </a:ext>
            </a:extLst>
          </p:cNvPr>
          <p:cNvSpPr/>
          <p:nvPr/>
        </p:nvSpPr>
        <p:spPr>
          <a:xfrm>
            <a:off x="5688922" y="433088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C937FD0D-D971-01FD-0A8D-3B8C2D0EDFBE}"/>
              </a:ext>
            </a:extLst>
          </p:cNvPr>
          <p:cNvSpPr/>
          <p:nvPr/>
        </p:nvSpPr>
        <p:spPr>
          <a:xfrm>
            <a:off x="5906171" y="4202868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Roadmap vivo · mejora continua · backlog priorizado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337DCDAD-21E5-4497-D396-8F012D50A7EB}"/>
              </a:ext>
            </a:extLst>
          </p:cNvPr>
          <p:cNvSpPr/>
          <p:nvPr/>
        </p:nvSpPr>
        <p:spPr>
          <a:xfrm>
            <a:off x="172389" y="47515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 ITSM Benchmark Report 2025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AI in ITSM — Key Capabilities 2025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583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Colombia: La Ventana Temporal — el mercado más dinámico de IT Services en Sudamérica</a:t>
            </a:r>
          </a:p>
        </p:txBody>
      </p:sp>
      <p:sp>
        <p:nvSpPr>
          <p:cNvPr id="10" name="cbg"/>
          <p:cNvSpPr>
            <a:spLocks noGrp="1"/>
          </p:cNvSpPr>
          <p:nvPr/>
        </p:nvSpPr>
        <p:spPr>
          <a:xfrm>
            <a:off x="320040" y="777240"/>
            <a:ext cx="2560320" cy="331012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11" name="chdr"/>
          <p:cNvSpPr>
            <a:spLocks noGrp="1"/>
          </p:cNvSpPr>
          <p:nvPr/>
        </p:nvSpPr>
        <p:spPr>
          <a:xfrm>
            <a:off x="320040" y="7772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12" name="chdr2"/>
          <p:cNvSpPr>
            <a:spLocks noGrp="1"/>
          </p:cNvSpPr>
          <p:nvPr/>
        </p:nvSpPr>
        <p:spPr>
          <a:xfrm>
            <a:off x="320040" y="1051560"/>
            <a:ext cx="2560320" cy="182880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13" name="ctit"/>
          <p:cNvSpPr txBox="1">
            <a:spLocks noGrp="1"/>
          </p:cNvSpPr>
          <p:nvPr/>
        </p:nvSpPr>
        <p:spPr>
          <a:xfrm>
            <a:off x="320040" y="83210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El mercado crece</a:t>
            </a:r>
          </a:p>
        </p:txBody>
      </p:sp>
      <p:sp>
        <p:nvSpPr>
          <p:cNvPr id="14" name="ci"/>
          <p:cNvSpPr txBox="1">
            <a:spLocks noGrp="1"/>
          </p:cNvSpPr>
          <p:nvPr/>
        </p:nvSpPr>
        <p:spPr>
          <a:xfrm>
            <a:off x="411480" y="132588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9.8% CAGR IT Services — más alto de Sudamérica</a:t>
            </a:r>
          </a:p>
        </p:txBody>
      </p:sp>
      <p:sp>
        <p:nvSpPr>
          <p:cNvPr id="15" name="ci"/>
          <p:cNvSpPr txBox="1">
            <a:spLocks noGrp="1"/>
          </p:cNvSpPr>
          <p:nvPr/>
        </p:nvSpPr>
        <p:spPr>
          <a:xfrm>
            <a:off x="411480" y="1856232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Servicios (13.82%) crecen más que software</a:t>
            </a:r>
          </a:p>
        </p:txBody>
      </p:sp>
      <p:sp>
        <p:nvSpPr>
          <p:cNvPr id="16" name="ci"/>
          <p:cNvSpPr txBox="1">
            <a:spLocks noGrp="1"/>
          </p:cNvSpPr>
          <p:nvPr/>
        </p:nvSpPr>
        <p:spPr>
          <a:xfrm>
            <a:off x="411480" y="2386584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USD 108M → USD 210M para 2031</a:t>
            </a:r>
          </a:p>
        </p:txBody>
      </p:sp>
      <p:sp>
        <p:nvSpPr>
          <p:cNvPr id="17" name="ci"/>
          <p:cNvSpPr txBox="1">
            <a:spLocks noGrp="1"/>
          </p:cNvSpPr>
          <p:nvPr/>
        </p:nvSpPr>
        <p:spPr>
          <a:xfrm>
            <a:off x="411480" y="2916936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Open Finance, 5G y multinacionales aceleran</a:t>
            </a:r>
          </a:p>
        </p:txBody>
      </p:sp>
      <p:sp>
        <p:nvSpPr>
          <p:cNvPr id="20" name="cbg"/>
          <p:cNvSpPr>
            <a:spLocks noGrp="1"/>
          </p:cNvSpPr>
          <p:nvPr/>
        </p:nvSpPr>
        <p:spPr>
          <a:xfrm>
            <a:off x="3017520" y="777240"/>
            <a:ext cx="2560320" cy="331012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21" name="chdr"/>
          <p:cNvSpPr>
            <a:spLocks noGrp="1"/>
          </p:cNvSpPr>
          <p:nvPr/>
        </p:nvSpPr>
        <p:spPr>
          <a:xfrm>
            <a:off x="3017520" y="7772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22" name="chdr2"/>
          <p:cNvSpPr>
            <a:spLocks noGrp="1"/>
          </p:cNvSpPr>
          <p:nvPr/>
        </p:nvSpPr>
        <p:spPr>
          <a:xfrm>
            <a:off x="3017520" y="1051560"/>
            <a:ext cx="2560320" cy="182880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3" name="ctit"/>
          <p:cNvSpPr txBox="1">
            <a:spLocks noGrp="1"/>
          </p:cNvSpPr>
          <p:nvPr/>
        </p:nvSpPr>
        <p:spPr>
          <a:xfrm>
            <a:off x="3017520" y="83210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El sector financiero está listo</a:t>
            </a:r>
          </a:p>
        </p:txBody>
      </p:sp>
      <p:sp>
        <p:nvSpPr>
          <p:cNvPr id="24" name="ci"/>
          <p:cNvSpPr txBox="1">
            <a:spLocks noGrp="1"/>
          </p:cNvSpPr>
          <p:nvPr/>
        </p:nvSpPr>
        <p:spPr>
          <a:xfrm>
            <a:off x="3108960" y="132588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81% establecimientos de crédito ya usa IA</a:t>
            </a:r>
          </a:p>
        </p:txBody>
      </p:sp>
      <p:sp>
        <p:nvSpPr>
          <p:cNvPr id="25" name="ci"/>
          <p:cNvSpPr txBox="1">
            <a:spLocks noGrp="1"/>
          </p:cNvSpPr>
          <p:nvPr/>
        </p:nvSpPr>
        <p:spPr>
          <a:xfrm>
            <a:off x="3108960" y="1856232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SFC Circular 007: SIEM, gestión incidentes, gobernanza</a:t>
            </a:r>
          </a:p>
        </p:txBody>
      </p:sp>
      <p:sp>
        <p:nvSpPr>
          <p:cNvPr id="26" name="ci"/>
          <p:cNvSpPr txBox="1">
            <a:spLocks noGrp="1"/>
          </p:cNvSpPr>
          <p:nvPr/>
        </p:nvSpPr>
        <p:spPr>
          <a:xfrm>
            <a:off x="3108960" y="2386584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Open Finance: plazo hasta agosto 2026</a:t>
            </a:r>
          </a:p>
        </p:txBody>
      </p:sp>
      <p:sp>
        <p:nvSpPr>
          <p:cNvPr id="27" name="ci"/>
          <p:cNvSpPr txBox="1">
            <a:spLocks noGrp="1"/>
          </p:cNvSpPr>
          <p:nvPr/>
        </p:nvSpPr>
        <p:spPr>
          <a:xfrm>
            <a:off x="3108960" y="2916936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SURA y Bancolombia con presión regulatoria</a:t>
            </a:r>
          </a:p>
        </p:txBody>
      </p:sp>
      <p:sp>
        <p:nvSpPr>
          <p:cNvPr id="30" name="cbg"/>
          <p:cNvSpPr>
            <a:spLocks noGrp="1"/>
          </p:cNvSpPr>
          <p:nvPr/>
        </p:nvSpPr>
        <p:spPr>
          <a:xfrm>
            <a:off x="5715000" y="777240"/>
            <a:ext cx="2560320" cy="331012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9525">
            <a:solidFill>
              <a:srgbClr val="D1D5DB"/>
            </a:solidFill>
          </a:ln>
        </p:spPr>
      </p:sp>
      <p:sp>
        <p:nvSpPr>
          <p:cNvPr id="31" name="chdr"/>
          <p:cNvSpPr>
            <a:spLocks noGrp="1"/>
          </p:cNvSpPr>
          <p:nvPr/>
        </p:nvSpPr>
        <p:spPr>
          <a:xfrm>
            <a:off x="5715000" y="7772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32" name="chdr2"/>
          <p:cNvSpPr>
            <a:spLocks noGrp="1"/>
          </p:cNvSpPr>
          <p:nvPr/>
        </p:nvSpPr>
        <p:spPr>
          <a:xfrm>
            <a:off x="5715000" y="1051560"/>
            <a:ext cx="2560320" cy="182880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3" name="ctit"/>
          <p:cNvSpPr txBox="1">
            <a:spLocks noGrp="1"/>
          </p:cNvSpPr>
          <p:nvPr/>
        </p:nvSpPr>
        <p:spPr>
          <a:xfrm>
            <a:off x="5715000" y="83210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La competencia tiene brechas</a:t>
            </a:r>
          </a:p>
        </p:txBody>
      </p:sp>
      <p:sp>
        <p:nvSpPr>
          <p:cNvPr id="34" name="ci"/>
          <p:cNvSpPr txBox="1">
            <a:spLocks noGrp="1"/>
          </p:cNvSpPr>
          <p:nvPr/>
        </p:nvSpPr>
        <p:spPr>
          <a:xfrm>
            <a:off x="5806440" y="132588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Aranda: único competidor local relevante</a:t>
            </a:r>
          </a:p>
        </p:txBody>
      </p:sp>
      <p:sp>
        <p:nvSpPr>
          <p:cNvPr id="35" name="ci"/>
          <p:cNvSpPr txBox="1">
            <a:spLocks noGrp="1"/>
          </p:cNvSpPr>
          <p:nvPr/>
        </p:nvSpPr>
        <p:spPr>
          <a:xfrm>
            <a:off x="5806440" y="1856232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Vendors globales compiten como software, no assessment</a:t>
            </a:r>
          </a:p>
        </p:txBody>
      </p:sp>
      <p:sp>
        <p:nvSpPr>
          <p:cNvPr id="36" name="ci"/>
          <p:cNvSpPr txBox="1">
            <a:spLocks noGrp="1"/>
          </p:cNvSpPr>
          <p:nvPr/>
        </p:nvSpPr>
        <p:spPr>
          <a:xfrm>
            <a:off x="5806440" y="2386584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Nadie tiene modelo de madurez propio publicado</a:t>
            </a:r>
          </a:p>
        </p:txBody>
      </p:sp>
      <p:sp>
        <p:nvSpPr>
          <p:cNvPr id="37" name="ci"/>
          <p:cNvSpPr txBox="1">
            <a:spLocks noGrp="1"/>
          </p:cNvSpPr>
          <p:nvPr/>
        </p:nvSpPr>
        <p:spPr>
          <a:xfrm>
            <a:off x="5806440" y="2916936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dirty="0">
                <a:solidFill>
                  <a:srgbClr val="333333"/>
                </a:solidFill>
                <a:latin typeface="Calibri"/>
              </a:rPr>
              <a:t>•  BMC, Ivanti, ManageEngine recién ingresan</a:t>
            </a:r>
          </a:p>
        </p:txBody>
      </p:sp>
      <p:sp>
        <p:nvSpPr>
          <p:cNvPr id="60" name="concl"/>
          <p:cNvSpPr>
            <a:spLocks noGrp="1"/>
          </p:cNvSpPr>
          <p:nvPr/>
        </p:nvSpPr>
        <p:spPr>
          <a:xfrm>
            <a:off x="320040" y="4133087"/>
            <a:ext cx="8001000" cy="310896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15875">
            <a:solidFill>
              <a:srgbClr val="F59E0B"/>
            </a:solidFill>
          </a:ln>
        </p:spPr>
      </p:sp>
      <p:sp>
        <p:nvSpPr>
          <p:cNvPr id="61" name="ctxt"/>
          <p:cNvSpPr txBox="1">
            <a:spLocks noGrp="1"/>
          </p:cNvSpPr>
          <p:nvPr/>
        </p:nvSpPr>
        <p:spPr>
          <a:xfrm>
            <a:off x="457200" y="4133087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60" b="1" dirty="0">
                <a:solidFill>
                  <a:srgbClr val="92400E"/>
                </a:solidFill>
                <a:latin typeface="Calibri"/>
              </a:rPr>
              <a:t>Regulación exigente + banca IA-madura + mercado en expansión = ventana comercial concreta antes que los globales tengan framework propio</a:t>
            </a:r>
          </a:p>
        </p:txBody>
      </p:sp>
      <p:sp>
        <p:nvSpPr>
          <p:cNvPr id="80" name="src"/>
          <p:cNvSpPr txBox="1">
            <a:spLocks noGrp="1"/>
          </p:cNvSpPr>
          <p:nvPr/>
        </p:nvSpPr>
        <p:spPr>
          <a:xfrm>
            <a:off x="320040" y="4480560"/>
            <a:ext cx="75895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Mordor Intelligence — Colombia IT Services 2031  ·  SFC — Circular Externa 007 de 2024  ·  Aranda Software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05650-4EA2-FD56-4A23-E34B4226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Nuestro Servicio de Mesa de Servicio de Nueva Generación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EBE7D27-AE46-8073-4A29-A4E3308125B3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14 dimensiones · 4 ejes · 1 propuesta diferenciada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D6DAFA1-A5A2-6BEA-E642-CFA405F2D4CE}"/>
              </a:ext>
            </a:extLst>
          </p:cNvPr>
          <p:cNvSpPr/>
          <p:nvPr/>
        </p:nvSpPr>
        <p:spPr>
          <a:xfrm>
            <a:off x="320040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689324A-9E66-26D4-AC5B-F101A9E26330}"/>
              </a:ext>
            </a:extLst>
          </p:cNvPr>
          <p:cNvSpPr/>
          <p:nvPr/>
        </p:nvSpPr>
        <p:spPr>
          <a:xfrm>
            <a:off x="320040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8454676-1C6A-4AB6-3872-41863CAE7ABB}"/>
              </a:ext>
            </a:extLst>
          </p:cNvPr>
          <p:cNvSpPr/>
          <p:nvPr/>
        </p:nvSpPr>
        <p:spPr>
          <a:xfrm>
            <a:off x="320040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Autoservicio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3CCE086A-F21A-4995-35D0-B5B01BC09EFB}"/>
              </a:ext>
            </a:extLst>
          </p:cNvPr>
          <p:cNvSpPr/>
          <p:nvPr/>
        </p:nvSpPr>
        <p:spPr>
          <a:xfrm>
            <a:off x="1755648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3A9B5C"/>
          </a:solidFill>
          <a:ln w="12700">
            <a:solidFill>
              <a:srgbClr val="3A9B5C"/>
            </a:solidFill>
            <a:prstDash val="solid"/>
          </a:ln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C1C861A-08DB-43FB-2A56-B3E4284FC3EF}"/>
              </a:ext>
            </a:extLst>
          </p:cNvPr>
          <p:cNvSpPr/>
          <p:nvPr/>
        </p:nvSpPr>
        <p:spPr>
          <a:xfrm>
            <a:off x="1755648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N1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FD13FBB-000B-264A-F28C-EB85903544FD}"/>
              </a:ext>
            </a:extLst>
          </p:cNvPr>
          <p:cNvSpPr/>
          <p:nvPr/>
        </p:nvSpPr>
        <p:spPr>
          <a:xfrm>
            <a:off x="1755648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Inicial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951E31C-8540-B467-6862-63DD2BA7491F}"/>
              </a:ext>
            </a:extLst>
          </p:cNvPr>
          <p:cNvSpPr/>
          <p:nvPr/>
        </p:nvSpPr>
        <p:spPr>
          <a:xfrm>
            <a:off x="3191256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B42AEAAB-F0C3-D7B2-2695-228C8ADA2BA4}"/>
              </a:ext>
            </a:extLst>
          </p:cNvPr>
          <p:cNvSpPr/>
          <p:nvPr/>
        </p:nvSpPr>
        <p:spPr>
          <a:xfrm>
            <a:off x="3191256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N2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E051FD4-D789-4287-4895-8B916620100C}"/>
              </a:ext>
            </a:extLst>
          </p:cNvPr>
          <p:cNvSpPr/>
          <p:nvPr/>
        </p:nvSpPr>
        <p:spPr>
          <a:xfrm>
            <a:off x="3191256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Administrado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FEF47BA-904A-6BA0-531B-D7D5220A5818}"/>
              </a:ext>
            </a:extLst>
          </p:cNvPr>
          <p:cNvSpPr/>
          <p:nvPr/>
        </p:nvSpPr>
        <p:spPr>
          <a:xfrm>
            <a:off x="4626864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2225454-DF4B-D6A8-86E8-280B116FF366}"/>
              </a:ext>
            </a:extLst>
          </p:cNvPr>
          <p:cNvSpPr/>
          <p:nvPr/>
        </p:nvSpPr>
        <p:spPr>
          <a:xfrm>
            <a:off x="4626864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N3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CFC3803A-94CC-98AD-7DC5-52917C207FB4}"/>
              </a:ext>
            </a:extLst>
          </p:cNvPr>
          <p:cNvSpPr/>
          <p:nvPr/>
        </p:nvSpPr>
        <p:spPr>
          <a:xfrm>
            <a:off x="4626864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Definido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6172EE52-3312-0CA5-1C2F-8535C1A3FABC}"/>
              </a:ext>
            </a:extLst>
          </p:cNvPr>
          <p:cNvSpPr/>
          <p:nvPr/>
        </p:nvSpPr>
        <p:spPr>
          <a:xfrm>
            <a:off x="6062472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1F6FBA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9EEC9E16-DA23-72BF-AA26-7BC0A6F452BD}"/>
              </a:ext>
            </a:extLst>
          </p:cNvPr>
          <p:cNvSpPr/>
          <p:nvPr/>
        </p:nvSpPr>
        <p:spPr>
          <a:xfrm>
            <a:off x="6062472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N4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AA417C7-A679-6FE9-FA97-44DB1FB7CF52}"/>
              </a:ext>
            </a:extLst>
          </p:cNvPr>
          <p:cNvSpPr/>
          <p:nvPr/>
        </p:nvSpPr>
        <p:spPr>
          <a:xfrm>
            <a:off x="6062472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Cuantitativo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45EB680D-475F-FE9A-ED0A-D85785D63DA6}"/>
              </a:ext>
            </a:extLst>
          </p:cNvPr>
          <p:cNvSpPr/>
          <p:nvPr/>
        </p:nvSpPr>
        <p:spPr>
          <a:xfrm>
            <a:off x="7498080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970877D2-1D6A-523D-8A76-4B171B997FC9}"/>
              </a:ext>
            </a:extLst>
          </p:cNvPr>
          <p:cNvSpPr/>
          <p:nvPr/>
        </p:nvSpPr>
        <p:spPr>
          <a:xfrm>
            <a:off x="7498080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N5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A4A27C26-0AE8-8D6F-91E9-CB7BF4F1ED3A}"/>
              </a:ext>
            </a:extLst>
          </p:cNvPr>
          <p:cNvSpPr/>
          <p:nvPr/>
        </p:nvSpPr>
        <p:spPr>
          <a:xfrm>
            <a:off x="7498080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Optimizado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2D1A1FEE-0DC3-AE59-3A0B-947E5E92BA6E}"/>
              </a:ext>
            </a:extLst>
          </p:cNvPr>
          <p:cNvSpPr/>
          <p:nvPr/>
        </p:nvSpPr>
        <p:spPr>
          <a:xfrm>
            <a:off x="329184" y="2203704"/>
            <a:ext cx="666288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Los 4 Ejes de nuestra evaluación inicial de las Mesas de Servicio actuales</a:t>
            </a:r>
            <a:endParaRPr lang="es-CO" sz="1200" noProof="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12FB0547-751E-62D8-CEB6-C39BA7935A72}"/>
              </a:ext>
            </a:extLst>
          </p:cNvPr>
          <p:cNvSpPr/>
          <p:nvPr/>
        </p:nvSpPr>
        <p:spPr>
          <a:xfrm>
            <a:off x="329184" y="255117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08DF3819-DD70-332F-3650-C9D09244283E}"/>
              </a:ext>
            </a:extLst>
          </p:cNvPr>
          <p:cNvSpPr/>
          <p:nvPr/>
        </p:nvSpPr>
        <p:spPr>
          <a:xfrm>
            <a:off x="420623" y="2697480"/>
            <a:ext cx="458949" cy="475488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FA216459-DACF-D699-DCD6-975F2EDB087A}"/>
              </a:ext>
            </a:extLst>
          </p:cNvPr>
          <p:cNvSpPr/>
          <p:nvPr/>
        </p:nvSpPr>
        <p:spPr>
          <a:xfrm>
            <a:off x="420623" y="269748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613D828C-74FF-59D5-14F6-5EE70B57B98E}"/>
              </a:ext>
            </a:extLst>
          </p:cNvPr>
          <p:cNvSpPr/>
          <p:nvPr/>
        </p:nvSpPr>
        <p:spPr>
          <a:xfrm>
            <a:off x="987552" y="262432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Modelo Operativo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0334A319-CAB5-F46B-5D25-40DB2DF57511}"/>
              </a:ext>
            </a:extLst>
          </p:cNvPr>
          <p:cNvSpPr/>
          <p:nvPr/>
        </p:nvSpPr>
        <p:spPr>
          <a:xfrm>
            <a:off x="987552" y="297180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dim: Niveles · Gobierno · Catalogo · Modelo Economico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92E8CBE5-5803-E04B-B29C-D1BA9546C532}"/>
              </a:ext>
            </a:extLst>
          </p:cNvPr>
          <p:cNvSpPr/>
          <p:nvPr/>
        </p:nvSpPr>
        <p:spPr>
          <a:xfrm>
            <a:off x="4764024" y="255117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3A197CD0-0BAE-DA26-95CD-08C4B9F15900}"/>
              </a:ext>
            </a:extLst>
          </p:cNvPr>
          <p:cNvSpPr/>
          <p:nvPr/>
        </p:nvSpPr>
        <p:spPr>
          <a:xfrm>
            <a:off x="4855463" y="2697480"/>
            <a:ext cx="458949" cy="475488"/>
          </a:xfrm>
          <a:prstGeom prst="ellipse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F0A5956F-08BA-2D1C-41DA-43D1FD164BAB}"/>
              </a:ext>
            </a:extLst>
          </p:cNvPr>
          <p:cNvSpPr/>
          <p:nvPr/>
        </p:nvSpPr>
        <p:spPr>
          <a:xfrm>
            <a:off x="4855463" y="269748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B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694E7E96-8EC0-BD63-0F98-502CC29D8001}"/>
              </a:ext>
            </a:extLst>
          </p:cNvPr>
          <p:cNvSpPr/>
          <p:nvPr/>
        </p:nvSpPr>
        <p:spPr>
          <a:xfrm>
            <a:off x="5422392" y="262432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Inteligencia y Automatizacion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8DEBE875-F6F4-DD68-EB9E-65609E5AC821}"/>
              </a:ext>
            </a:extLst>
          </p:cNvPr>
          <p:cNvSpPr/>
          <p:nvPr/>
        </p:nvSpPr>
        <p:spPr>
          <a:xfrm>
            <a:off x="5422392" y="297180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dim: IA · Automatizacion · Knowledge Hub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55B360B4-0B81-31B4-BDCA-2FEE447CD29C}"/>
              </a:ext>
            </a:extLst>
          </p:cNvPr>
          <p:cNvSpPr/>
          <p:nvPr/>
        </p:nvSpPr>
        <p:spPr>
          <a:xfrm>
            <a:off x="329184" y="355701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7A265E44-B030-4C5B-F0B5-EFF59B69EE8C}"/>
              </a:ext>
            </a:extLst>
          </p:cNvPr>
          <p:cNvSpPr/>
          <p:nvPr/>
        </p:nvSpPr>
        <p:spPr>
          <a:xfrm>
            <a:off x="420623" y="3703320"/>
            <a:ext cx="458949" cy="475488"/>
          </a:xfrm>
          <a:prstGeom prst="ellipse">
            <a:avLst/>
          </a:prstGeom>
          <a:solidFill>
            <a:srgbClr val="1F6FBA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AA9B8754-BCCC-E880-E3B0-1BBEE7F07AC9}"/>
              </a:ext>
            </a:extLst>
          </p:cNvPr>
          <p:cNvSpPr/>
          <p:nvPr/>
        </p:nvSpPr>
        <p:spPr>
          <a:xfrm>
            <a:off x="420623" y="370332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4F079B37-1D34-C592-AE4A-B46238FFEC2D}"/>
              </a:ext>
            </a:extLst>
          </p:cNvPr>
          <p:cNvSpPr/>
          <p:nvPr/>
        </p:nvSpPr>
        <p:spPr>
          <a:xfrm>
            <a:off x="987552" y="363016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BA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Experiencia y Medicion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0A3F064A-DBD6-4B82-3741-199809A48636}"/>
              </a:ext>
            </a:extLst>
          </p:cNvPr>
          <p:cNvSpPr/>
          <p:nvPr/>
        </p:nvSpPr>
        <p:spPr>
          <a:xfrm>
            <a:off x="987552" y="397764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dim: Autoservicio N0 · SLA+XLA · DEX · Calidad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84E774D2-C1F3-86F2-4213-5574471DD169}"/>
              </a:ext>
            </a:extLst>
          </p:cNvPr>
          <p:cNvSpPr/>
          <p:nvPr/>
        </p:nvSpPr>
        <p:spPr>
          <a:xfrm>
            <a:off x="4764024" y="355701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8" name="Shape 47">
            <a:extLst>
              <a:ext uri="{FF2B5EF4-FFF2-40B4-BE49-F238E27FC236}">
                <a16:creationId xmlns:a16="http://schemas.microsoft.com/office/drawing/2014/main" id="{38EBEE1C-8B52-3CA3-C1AF-12C63F9F1C48}"/>
              </a:ext>
            </a:extLst>
          </p:cNvPr>
          <p:cNvSpPr/>
          <p:nvPr/>
        </p:nvSpPr>
        <p:spPr>
          <a:xfrm>
            <a:off x="4855463" y="3703320"/>
            <a:ext cx="458949" cy="47548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021C2B72-E504-97C4-1F57-C7F45315F8FD}"/>
              </a:ext>
            </a:extLst>
          </p:cNvPr>
          <p:cNvSpPr/>
          <p:nvPr/>
        </p:nvSpPr>
        <p:spPr>
          <a:xfrm>
            <a:off x="4855463" y="370332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C3F8675D-03FB-56F5-2EC2-D2B1E2A47B66}"/>
              </a:ext>
            </a:extLst>
          </p:cNvPr>
          <p:cNvSpPr/>
          <p:nvPr/>
        </p:nvSpPr>
        <p:spPr>
          <a:xfrm>
            <a:off x="5422392" y="363016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1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Evolucion y Gobierno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1" name="Text 50">
            <a:extLst>
              <a:ext uri="{FF2B5EF4-FFF2-40B4-BE49-F238E27FC236}">
                <a16:creationId xmlns:a16="http://schemas.microsoft.com/office/drawing/2014/main" id="{B078A32D-A85E-5DF2-69FE-BC96E1E73F0A}"/>
              </a:ext>
            </a:extLst>
          </p:cNvPr>
          <p:cNvSpPr/>
          <p:nvPr/>
        </p:nvSpPr>
        <p:spPr>
          <a:xfrm>
            <a:off x="5422392" y="397764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2 dim: Roadmap · Modelo de Transicion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DE329361-E801-3752-8908-D7E041EB7617}"/>
              </a:ext>
            </a:extLst>
          </p:cNvPr>
          <p:cNvSpPr/>
          <p:nvPr/>
        </p:nvSpPr>
        <p:spPr>
          <a:xfrm>
            <a:off x="315296" y="4590288"/>
            <a:ext cx="79950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PeopleCert ITIL 4 — Practica de Mejora Continua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CMMI Institute — Maturity Model Reference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4" name="Text 53">
            <a:extLst>
              <a:ext uri="{FF2B5EF4-FFF2-40B4-BE49-F238E27FC236}">
                <a16:creationId xmlns:a16="http://schemas.microsoft.com/office/drawing/2014/main" id="{A82B4265-469F-E87F-DF26-C67AA9F1747E}"/>
              </a:ext>
            </a:extLst>
          </p:cNvPr>
          <p:cNvSpPr/>
          <p:nvPr/>
        </p:nvSpPr>
        <p:spPr>
          <a:xfrm>
            <a:off x="8138160" y="486460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807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831DC-AC68-7BBC-5D08-D1E231976A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96C450-5CBF-AFE8-2509-4E47A8DFAC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6C9BF-AA2F-0DF1-5D7B-A302BFDCC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1B0929-686C-C5F6-F1DE-216DA4B02A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65760" y="91440"/>
            <a:ext cx="9144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Portafolio de Servicios y Modelos de Precio — De FTE a Outcomes</a:t>
            </a:r>
          </a:p>
        </p:txBody>
      </p:sp>
      <p:sp>
        <p:nvSpPr>
          <p:cNvPr id="5" name="mhdr"/>
          <p:cNvSpPr>
            <a:spLocks noGrp="1"/>
          </p:cNvSpPr>
          <p:nvPr/>
        </p:nvSpPr>
        <p:spPr>
          <a:xfrm>
            <a:off x="320040" y="777240"/>
            <a:ext cx="7635240" cy="256032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6" name="mhdrtxt"/>
          <p:cNvSpPr txBox="1">
            <a:spLocks noGrp="1"/>
          </p:cNvSpPr>
          <p:nvPr/>
        </p:nvSpPr>
        <p:spPr>
          <a:xfrm>
            <a:off x="320040" y="777240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SERVICIO BASE — MESA GEN NEXT (N0 → N3)</a:t>
            </a:r>
          </a:p>
        </p:txBody>
      </p:sp>
      <p:sp>
        <p:nvSpPr>
          <p:cNvPr id="10" name="sbg"/>
          <p:cNvSpPr>
            <a:spLocks noGrp="1"/>
          </p:cNvSpPr>
          <p:nvPr/>
        </p:nvSpPr>
        <p:spPr>
          <a:xfrm>
            <a:off x="320040" y="10972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0D1B5E"/>
            </a:solidFill>
          </a:ln>
        </p:spPr>
      </p:sp>
      <p:sp>
        <p:nvSpPr>
          <p:cNvPr id="11" name="shdr"/>
          <p:cNvSpPr>
            <a:spLocks noGrp="1"/>
          </p:cNvSpPr>
          <p:nvPr/>
        </p:nvSpPr>
        <p:spPr>
          <a:xfrm>
            <a:off x="320040" y="10972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shdr2"/>
          <p:cNvSpPr>
            <a:spLocks noGrp="1"/>
          </p:cNvSpPr>
          <p:nvPr/>
        </p:nvSpPr>
        <p:spPr>
          <a:xfrm>
            <a:off x="320040" y="1298448"/>
            <a:ext cx="182880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stit"/>
          <p:cNvSpPr txBox="1">
            <a:spLocks noGrp="1"/>
          </p:cNvSpPr>
          <p:nvPr/>
        </p:nvSpPr>
        <p:spPr>
          <a:xfrm>
            <a:off x="320040" y="11338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Equipo
Dedicado</a:t>
            </a:r>
          </a:p>
        </p:txBody>
      </p:sp>
      <p:sp>
        <p:nvSpPr>
          <p:cNvPr id="14" name="sdesc"/>
          <p:cNvSpPr txBox="1">
            <a:spLocks noGrp="1"/>
          </p:cNvSpPr>
          <p:nvPr/>
        </p:nvSpPr>
        <p:spPr>
          <a:xfrm>
            <a:off x="411480" y="14813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 dirty="0">
                <a:solidFill>
                  <a:srgbClr val="0D1B5E"/>
                </a:solidFill>
                <a:latin typeface="Calibri"/>
              </a:rPr>
              <a:t>FTE asignado · Alta personalización · SLA exclusivo</a:t>
            </a:r>
          </a:p>
        </p:txBody>
      </p:sp>
      <p:sp>
        <p:nvSpPr>
          <p:cNvPr id="7" name="sbg"/>
          <p:cNvSpPr>
            <a:spLocks noGrp="1"/>
          </p:cNvSpPr>
          <p:nvPr/>
        </p:nvSpPr>
        <p:spPr>
          <a:xfrm>
            <a:off x="2258568" y="10972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A3A8F"/>
            </a:solidFill>
          </a:ln>
        </p:spPr>
      </p:sp>
      <p:sp>
        <p:nvSpPr>
          <p:cNvPr id="8" name="shdr"/>
          <p:cNvSpPr>
            <a:spLocks noGrp="1"/>
          </p:cNvSpPr>
          <p:nvPr/>
        </p:nvSpPr>
        <p:spPr>
          <a:xfrm>
            <a:off x="2258568" y="10972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5" name="shdr2"/>
          <p:cNvSpPr>
            <a:spLocks noGrp="1"/>
          </p:cNvSpPr>
          <p:nvPr/>
        </p:nvSpPr>
        <p:spPr>
          <a:xfrm>
            <a:off x="2258568" y="1298448"/>
            <a:ext cx="1828800" cy="12801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6" name="stit"/>
          <p:cNvSpPr txBox="1">
            <a:spLocks noGrp="1"/>
          </p:cNvSpPr>
          <p:nvPr/>
        </p:nvSpPr>
        <p:spPr>
          <a:xfrm>
            <a:off x="2258568" y="11338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Soporte
Compartido</a:t>
            </a:r>
          </a:p>
        </p:txBody>
      </p:sp>
      <p:sp>
        <p:nvSpPr>
          <p:cNvPr id="17" name="sdesc"/>
          <p:cNvSpPr txBox="1">
            <a:spLocks noGrp="1"/>
          </p:cNvSpPr>
          <p:nvPr/>
        </p:nvSpPr>
        <p:spPr>
          <a:xfrm>
            <a:off x="2350008" y="14813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 dirty="0">
                <a:solidFill>
                  <a:srgbClr val="1A3A8F"/>
                </a:solidFill>
                <a:latin typeface="Calibri"/>
              </a:rPr>
              <a:t>Pool de talento · Eficiencia de costo · SLA compartido</a:t>
            </a:r>
          </a:p>
        </p:txBody>
      </p:sp>
      <p:sp>
        <p:nvSpPr>
          <p:cNvPr id="9" name="sbg"/>
          <p:cNvSpPr>
            <a:spLocks noGrp="1"/>
          </p:cNvSpPr>
          <p:nvPr/>
        </p:nvSpPr>
        <p:spPr>
          <a:xfrm>
            <a:off x="4197096" y="10972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B7B85"/>
            </a:solidFill>
          </a:ln>
        </p:spPr>
      </p:sp>
      <p:sp>
        <p:nvSpPr>
          <p:cNvPr id="24" name="shdr"/>
          <p:cNvSpPr>
            <a:spLocks noGrp="1"/>
          </p:cNvSpPr>
          <p:nvPr/>
        </p:nvSpPr>
        <p:spPr>
          <a:xfrm>
            <a:off x="4197096" y="10972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8" name="shdr2"/>
          <p:cNvSpPr>
            <a:spLocks noGrp="1"/>
          </p:cNvSpPr>
          <p:nvPr/>
        </p:nvSpPr>
        <p:spPr>
          <a:xfrm>
            <a:off x="4197096" y="1298448"/>
            <a:ext cx="1828800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9" name="stit"/>
          <p:cNvSpPr txBox="1">
            <a:spLocks noGrp="1"/>
          </p:cNvSpPr>
          <p:nvPr/>
        </p:nvSpPr>
        <p:spPr>
          <a:xfrm>
            <a:off x="4197096" y="11338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Express
Alfa</a:t>
            </a:r>
          </a:p>
        </p:txBody>
      </p:sp>
      <p:sp>
        <p:nvSpPr>
          <p:cNvPr id="20" name="sdesc"/>
          <p:cNvSpPr txBox="1">
            <a:spLocks noGrp="1"/>
          </p:cNvSpPr>
          <p:nvPr/>
        </p:nvSpPr>
        <p:spPr>
          <a:xfrm>
            <a:off x="4288536" y="14813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 dirty="0">
                <a:solidFill>
                  <a:srgbClr val="1B7B85"/>
                </a:solidFill>
                <a:latin typeface="Calibri"/>
              </a:rPr>
              <a:t>Requerimientos simples · Pay-per-use · Onboarding rápido</a:t>
            </a:r>
          </a:p>
        </p:txBody>
      </p:sp>
      <p:sp>
        <p:nvSpPr>
          <p:cNvPr id="25" name="sbg"/>
          <p:cNvSpPr>
            <a:spLocks noGrp="1"/>
          </p:cNvSpPr>
          <p:nvPr/>
        </p:nvSpPr>
        <p:spPr>
          <a:xfrm>
            <a:off x="6135624" y="10972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F6FBA"/>
            </a:solidFill>
          </a:ln>
        </p:spPr>
      </p:sp>
      <p:sp>
        <p:nvSpPr>
          <p:cNvPr id="26" name="shdr"/>
          <p:cNvSpPr>
            <a:spLocks noGrp="1"/>
          </p:cNvSpPr>
          <p:nvPr/>
        </p:nvSpPr>
        <p:spPr>
          <a:xfrm>
            <a:off x="6135624" y="10972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21" name="shdr2"/>
          <p:cNvSpPr>
            <a:spLocks noGrp="1"/>
          </p:cNvSpPr>
          <p:nvPr/>
        </p:nvSpPr>
        <p:spPr>
          <a:xfrm>
            <a:off x="6135624" y="1298448"/>
            <a:ext cx="1828800" cy="128016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22" name="stit"/>
          <p:cNvSpPr txBox="1">
            <a:spLocks noGrp="1"/>
          </p:cNvSpPr>
          <p:nvPr/>
        </p:nvSpPr>
        <p:spPr>
          <a:xfrm>
            <a:off x="6135624" y="11338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80" b="1" dirty="0">
                <a:solidFill>
                  <a:srgbClr val="FFFFFF"/>
                </a:solidFill>
                <a:latin typeface="Calibri"/>
              </a:rPr>
              <a:t>Full
Gen Next</a:t>
            </a:r>
          </a:p>
        </p:txBody>
      </p:sp>
      <p:sp>
        <p:nvSpPr>
          <p:cNvPr id="23" name="sdesc"/>
          <p:cNvSpPr txBox="1">
            <a:spLocks noGrp="1"/>
          </p:cNvSpPr>
          <p:nvPr/>
        </p:nvSpPr>
        <p:spPr>
          <a:xfrm>
            <a:off x="6227064" y="14813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 dirty="0">
                <a:solidFill>
                  <a:srgbClr val="1F6FBA"/>
                </a:solidFill>
                <a:latin typeface="Calibri"/>
              </a:rPr>
              <a:t>N0+N1+N2+N3+IA · AIOps · KCS · Outcome-based · Premium</a:t>
            </a:r>
          </a:p>
        </p:txBody>
      </p:sp>
      <p:sp>
        <p:nvSpPr>
          <p:cNvPr id="30" name="chdr"/>
          <p:cNvSpPr>
            <a:spLocks noGrp="1"/>
          </p:cNvSpPr>
          <p:nvPr/>
        </p:nvSpPr>
        <p:spPr>
          <a:xfrm>
            <a:off x="320040" y="2029968"/>
            <a:ext cx="763524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31" name="chtxt"/>
          <p:cNvSpPr txBox="1">
            <a:spLocks noGrp="1"/>
          </p:cNvSpPr>
          <p:nvPr/>
        </p:nvSpPr>
        <p:spPr>
          <a:xfrm>
            <a:off x="320040" y="2029968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PORTAFOLIO COMPLEMENTARIO — Servicios adicionales que aceleran la madurez</a:t>
            </a:r>
          </a:p>
        </p:txBody>
      </p:sp>
      <p:sp>
        <p:nvSpPr>
          <p:cNvPr id="40" name="cbg"/>
          <p:cNvSpPr>
            <a:spLocks noGrp="1"/>
          </p:cNvSpPr>
          <p:nvPr/>
        </p:nvSpPr>
        <p:spPr>
          <a:xfrm>
            <a:off x="320040" y="2359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6B3C"/>
            </a:solidFill>
          </a:ln>
        </p:spPr>
      </p:sp>
      <p:sp>
        <p:nvSpPr>
          <p:cNvPr id="41" name="cbar"/>
          <p:cNvSpPr>
            <a:spLocks noGrp="1"/>
          </p:cNvSpPr>
          <p:nvPr/>
        </p:nvSpPr>
        <p:spPr>
          <a:xfrm>
            <a:off x="320040" y="2359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2A6B3C"/>
          </a:solidFill>
          <a:ln>
            <a:noFill/>
          </a:ln>
        </p:spPr>
      </p:sp>
      <p:sp>
        <p:nvSpPr>
          <p:cNvPr id="42" name="ctxt"/>
          <p:cNvSpPr txBox="1">
            <a:spLocks noGrp="1"/>
          </p:cNvSpPr>
          <p:nvPr/>
        </p:nvSpPr>
        <p:spPr>
          <a:xfrm>
            <a:off x="466344" y="2395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2A6B3C"/>
                </a:solidFill>
                <a:latin typeface="Calibri"/>
              </a:rPr>
              <a:t>Modernización de Aplicaciones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Migración · Refactor · Cloud Native</a:t>
            </a:r>
          </a:p>
        </p:txBody>
      </p:sp>
      <p:sp>
        <p:nvSpPr>
          <p:cNvPr id="43" name="cbg"/>
          <p:cNvSpPr>
            <a:spLocks noGrp="1"/>
          </p:cNvSpPr>
          <p:nvPr/>
        </p:nvSpPr>
        <p:spPr>
          <a:xfrm>
            <a:off x="2880360" y="2359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7B85"/>
            </a:solidFill>
          </a:ln>
        </p:spPr>
      </p:sp>
      <p:sp>
        <p:nvSpPr>
          <p:cNvPr id="44" name="cbar"/>
          <p:cNvSpPr>
            <a:spLocks noGrp="1"/>
          </p:cNvSpPr>
          <p:nvPr/>
        </p:nvSpPr>
        <p:spPr>
          <a:xfrm>
            <a:off x="2880360" y="2359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45" name="ctxt"/>
          <p:cNvSpPr txBox="1">
            <a:spLocks noGrp="1"/>
          </p:cNvSpPr>
          <p:nvPr/>
        </p:nvSpPr>
        <p:spPr>
          <a:xfrm>
            <a:off x="3026664" y="2395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1B7B85"/>
                </a:solidFill>
                <a:latin typeface="Calibri"/>
              </a:rPr>
              <a:t>Observabilidad / AIOps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Dynatrace · Datadog · Nexthink</a:t>
            </a:r>
          </a:p>
        </p:txBody>
      </p:sp>
      <p:sp>
        <p:nvSpPr>
          <p:cNvPr id="46" name="cbg"/>
          <p:cNvSpPr>
            <a:spLocks noGrp="1"/>
          </p:cNvSpPr>
          <p:nvPr/>
        </p:nvSpPr>
        <p:spPr>
          <a:xfrm>
            <a:off x="5440680" y="2359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47" name="cbar"/>
          <p:cNvSpPr>
            <a:spLocks noGrp="1"/>
          </p:cNvSpPr>
          <p:nvPr/>
        </p:nvSpPr>
        <p:spPr>
          <a:xfrm>
            <a:off x="5440680" y="2359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48" name="ctxt"/>
          <p:cNvSpPr txBox="1">
            <a:spLocks noGrp="1"/>
          </p:cNvSpPr>
          <p:nvPr/>
        </p:nvSpPr>
        <p:spPr>
          <a:xfrm>
            <a:off x="5586984" y="2395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C00000"/>
                </a:solidFill>
                <a:latin typeface="Calibri"/>
              </a:rPr>
              <a:t>Seguridad Aplicativa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SAST · DAST · ISO 27001</a:t>
            </a:r>
          </a:p>
        </p:txBody>
      </p:sp>
      <p:sp>
        <p:nvSpPr>
          <p:cNvPr id="49" name="cbg"/>
          <p:cNvSpPr>
            <a:spLocks noGrp="1"/>
          </p:cNvSpPr>
          <p:nvPr/>
        </p:nvSpPr>
        <p:spPr>
          <a:xfrm>
            <a:off x="320040" y="28163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BA"/>
            </a:solidFill>
          </a:ln>
        </p:spPr>
      </p:sp>
      <p:sp>
        <p:nvSpPr>
          <p:cNvPr id="50" name="cbar"/>
          <p:cNvSpPr>
            <a:spLocks noGrp="1"/>
          </p:cNvSpPr>
          <p:nvPr/>
        </p:nvSpPr>
        <p:spPr>
          <a:xfrm>
            <a:off x="320040" y="28163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</p:sp>
      <p:sp>
        <p:nvSpPr>
          <p:cNvPr id="51" name="ctxt"/>
          <p:cNvSpPr txBox="1">
            <a:spLocks noGrp="1"/>
          </p:cNvSpPr>
          <p:nvPr/>
        </p:nvSpPr>
        <p:spPr>
          <a:xfrm>
            <a:off x="466344" y="28529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1F6FBA"/>
                </a:solidFill>
                <a:latin typeface="Calibri"/>
              </a:rPr>
              <a:t>Automatización y DevOps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CI/CD · IaC · Runbooks auto</a:t>
            </a:r>
          </a:p>
        </p:txBody>
      </p:sp>
      <p:sp>
        <p:nvSpPr>
          <p:cNvPr id="52" name="cbg"/>
          <p:cNvSpPr>
            <a:spLocks noGrp="1"/>
          </p:cNvSpPr>
          <p:nvPr/>
        </p:nvSpPr>
        <p:spPr>
          <a:xfrm>
            <a:off x="2880360" y="28163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</p:sp>
      <p:sp>
        <p:nvSpPr>
          <p:cNvPr id="53" name="cbar"/>
          <p:cNvSpPr>
            <a:spLocks noGrp="1"/>
          </p:cNvSpPr>
          <p:nvPr/>
        </p:nvSpPr>
        <p:spPr>
          <a:xfrm>
            <a:off x="2880360" y="28163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54" name="ctxt"/>
          <p:cNvSpPr txBox="1">
            <a:spLocks noGrp="1"/>
          </p:cNvSpPr>
          <p:nvPr/>
        </p:nvSpPr>
        <p:spPr>
          <a:xfrm>
            <a:off x="3026664" y="28529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6B7280"/>
                </a:solidFill>
                <a:latin typeface="Calibri"/>
              </a:rPr>
              <a:t>Performance Engineering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Pruebas de carga · Tuning</a:t>
            </a:r>
          </a:p>
        </p:txBody>
      </p:sp>
      <p:sp>
        <p:nvSpPr>
          <p:cNvPr id="55" name="cbg"/>
          <p:cNvSpPr>
            <a:spLocks noGrp="1"/>
          </p:cNvSpPr>
          <p:nvPr/>
        </p:nvSpPr>
        <p:spPr>
          <a:xfrm>
            <a:off x="5440680" y="28163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1B5E"/>
            </a:solidFill>
          </a:ln>
        </p:spPr>
      </p:sp>
      <p:sp>
        <p:nvSpPr>
          <p:cNvPr id="56" name="cbar"/>
          <p:cNvSpPr>
            <a:spLocks noGrp="1"/>
          </p:cNvSpPr>
          <p:nvPr/>
        </p:nvSpPr>
        <p:spPr>
          <a:xfrm>
            <a:off x="5440680" y="28163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57" name="ctxt"/>
          <p:cNvSpPr txBox="1">
            <a:spLocks noGrp="1"/>
          </p:cNvSpPr>
          <p:nvPr/>
        </p:nvSpPr>
        <p:spPr>
          <a:xfrm>
            <a:off x="5586984" y="28529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20" b="1" dirty="0">
                <a:solidFill>
                  <a:srgbClr val="0D1B5E"/>
                </a:solidFill>
                <a:latin typeface="Calibri"/>
              </a:rPr>
              <a:t>Gobierno de Datos e IA</a:t>
            </a:r>
          </a:p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ISO 42001 · MLOps · Compliance</a:t>
            </a:r>
          </a:p>
        </p:txBody>
      </p:sp>
      <p:sp>
        <p:nvSpPr>
          <p:cNvPr id="60" name="phdr"/>
          <p:cNvSpPr>
            <a:spLocks noGrp="1"/>
          </p:cNvSpPr>
          <p:nvPr/>
        </p:nvSpPr>
        <p:spPr>
          <a:xfrm>
            <a:off x="320040" y="3346704"/>
            <a:ext cx="7635240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61" name="phdrtxt"/>
          <p:cNvSpPr txBox="1">
            <a:spLocks noGrp="1"/>
          </p:cNvSpPr>
          <p:nvPr/>
        </p:nvSpPr>
        <p:spPr>
          <a:xfrm>
            <a:off x="320040" y="3346704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Calibri"/>
              </a:rPr>
              <a:t>EVOLUCIÓN DEL MODELO DE PRECIO — De esfuerzo a resultados medibles</a:t>
            </a:r>
          </a:p>
        </p:txBody>
      </p:sp>
      <p:sp>
        <p:nvSpPr>
          <p:cNvPr id="70" name="pbg"/>
          <p:cNvSpPr>
            <a:spLocks noGrp="1"/>
          </p:cNvSpPr>
          <p:nvPr/>
        </p:nvSpPr>
        <p:spPr>
          <a:xfrm>
            <a:off x="320040" y="3675887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6B7280"/>
            </a:solidFill>
          </a:ln>
        </p:spPr>
      </p:sp>
      <p:sp>
        <p:nvSpPr>
          <p:cNvPr id="71" name="ptit"/>
          <p:cNvSpPr txBox="1">
            <a:spLocks noGrp="1"/>
          </p:cNvSpPr>
          <p:nvPr/>
        </p:nvSpPr>
        <p:spPr>
          <a:xfrm>
            <a:off x="411480" y="37124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6B7280"/>
                </a:solidFill>
                <a:latin typeface="Calibri"/>
              </a:rPr>
              <a:t>Por FTE</a:t>
            </a:r>
          </a:p>
        </p:txBody>
      </p:sp>
      <p:sp>
        <p:nvSpPr>
          <p:cNvPr id="72" name="pdesc"/>
          <p:cNvSpPr txBox="1">
            <a:spLocks noGrp="1"/>
          </p:cNvSpPr>
          <p:nvPr/>
        </p:nvSpPr>
        <p:spPr>
          <a:xfrm>
            <a:off x="411480" y="39502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Precio fijo por persona
Riesgo PS alto · Predecible</a:t>
            </a:r>
          </a:p>
        </p:txBody>
      </p:sp>
      <p:sp>
        <p:nvSpPr>
          <p:cNvPr id="80" name="arr"/>
          <p:cNvSpPr txBox="1">
            <a:spLocks noGrp="1"/>
          </p:cNvSpPr>
          <p:nvPr/>
        </p:nvSpPr>
        <p:spPr>
          <a:xfrm>
            <a:off x="2148840" y="38404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1B7B85"/>
                </a:solidFill>
                <a:latin typeface="Calibri"/>
              </a:rPr>
              <a:t>→</a:t>
            </a:r>
          </a:p>
        </p:txBody>
      </p:sp>
      <p:sp>
        <p:nvSpPr>
          <p:cNvPr id="73" name="pbg"/>
          <p:cNvSpPr>
            <a:spLocks noGrp="1"/>
          </p:cNvSpPr>
          <p:nvPr/>
        </p:nvSpPr>
        <p:spPr>
          <a:xfrm>
            <a:off x="2258568" y="3675887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B7B85"/>
            </a:solidFill>
          </a:ln>
        </p:spPr>
      </p:sp>
      <p:sp>
        <p:nvSpPr>
          <p:cNvPr id="74" name="ptit"/>
          <p:cNvSpPr txBox="1">
            <a:spLocks noGrp="1"/>
          </p:cNvSpPr>
          <p:nvPr/>
        </p:nvSpPr>
        <p:spPr>
          <a:xfrm>
            <a:off x="2350008" y="37124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1B7B85"/>
                </a:solidFill>
                <a:latin typeface="Calibri"/>
              </a:rPr>
              <a:t>Por Ticket</a:t>
            </a:r>
          </a:p>
        </p:txBody>
      </p:sp>
      <p:sp>
        <p:nvSpPr>
          <p:cNvPr id="75" name="pdesc"/>
          <p:cNvSpPr txBox="1">
            <a:spLocks noGrp="1"/>
          </p:cNvSpPr>
          <p:nvPr/>
        </p:nvSpPr>
        <p:spPr>
          <a:xfrm>
            <a:off x="2350008" y="39502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Pay-per-use · Alineado a volumen
Shift-Left incentivado</a:t>
            </a:r>
          </a:p>
        </p:txBody>
      </p:sp>
      <p:sp>
        <p:nvSpPr>
          <p:cNvPr id="81" name="arr"/>
          <p:cNvSpPr txBox="1">
            <a:spLocks noGrp="1"/>
          </p:cNvSpPr>
          <p:nvPr/>
        </p:nvSpPr>
        <p:spPr>
          <a:xfrm>
            <a:off x="4087368" y="38404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1B7B85"/>
                </a:solidFill>
                <a:latin typeface="Calibri"/>
              </a:rPr>
              <a:t>→</a:t>
            </a:r>
          </a:p>
        </p:txBody>
      </p:sp>
      <p:sp>
        <p:nvSpPr>
          <p:cNvPr id="76" name="pbg"/>
          <p:cNvSpPr>
            <a:spLocks noGrp="1"/>
          </p:cNvSpPr>
          <p:nvPr/>
        </p:nvSpPr>
        <p:spPr>
          <a:xfrm>
            <a:off x="4197096" y="3675887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A3A8F"/>
            </a:solidFill>
          </a:ln>
        </p:spPr>
      </p:sp>
      <p:sp>
        <p:nvSpPr>
          <p:cNvPr id="77" name="ptit"/>
          <p:cNvSpPr txBox="1">
            <a:spLocks noGrp="1"/>
          </p:cNvSpPr>
          <p:nvPr/>
        </p:nvSpPr>
        <p:spPr>
          <a:xfrm>
            <a:off x="4288536" y="37124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1A3A8F"/>
                </a:solidFill>
                <a:latin typeface="Calibri"/>
              </a:rPr>
              <a:t>Outcome-Based</a:t>
            </a:r>
          </a:p>
        </p:txBody>
      </p:sp>
      <p:sp>
        <p:nvSpPr>
          <p:cNvPr id="78" name="pdesc"/>
          <p:cNvSpPr txBox="1">
            <a:spLocks noGrp="1"/>
          </p:cNvSpPr>
          <p:nvPr/>
        </p:nvSpPr>
        <p:spPr>
          <a:xfrm>
            <a:off x="4288536" y="39502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Outcomes × Precio por Outcome
Shared savings 15-25%</a:t>
            </a:r>
          </a:p>
        </p:txBody>
      </p:sp>
      <p:sp>
        <p:nvSpPr>
          <p:cNvPr id="82" name="arr"/>
          <p:cNvSpPr txBox="1">
            <a:spLocks noGrp="1"/>
          </p:cNvSpPr>
          <p:nvPr/>
        </p:nvSpPr>
        <p:spPr>
          <a:xfrm>
            <a:off x="6025896" y="38404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200" b="1" dirty="0">
                <a:solidFill>
                  <a:srgbClr val="1B7B85"/>
                </a:solidFill>
                <a:latin typeface="Calibri"/>
              </a:rPr>
              <a:t>→</a:t>
            </a:r>
          </a:p>
        </p:txBody>
      </p:sp>
      <p:sp>
        <p:nvSpPr>
          <p:cNvPr id="79" name="pbg"/>
          <p:cNvSpPr>
            <a:spLocks noGrp="1"/>
          </p:cNvSpPr>
          <p:nvPr/>
        </p:nvSpPr>
        <p:spPr>
          <a:xfrm>
            <a:off x="6135624" y="3675887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EBF5FF"/>
          </a:solidFill>
          <a:ln w="15875">
            <a:solidFill>
              <a:srgbClr val="0D1B5E"/>
            </a:solidFill>
          </a:ln>
        </p:spPr>
      </p:sp>
      <p:sp>
        <p:nvSpPr>
          <p:cNvPr id="27" name="ptit"/>
          <p:cNvSpPr txBox="1">
            <a:spLocks noGrp="1"/>
          </p:cNvSpPr>
          <p:nvPr/>
        </p:nvSpPr>
        <p:spPr>
          <a:xfrm>
            <a:off x="6227064" y="37124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0D1B5E"/>
                </a:solidFill>
                <a:latin typeface="Calibri"/>
              </a:rPr>
              <a:t>Full Gen Next</a:t>
            </a:r>
          </a:p>
        </p:txBody>
      </p:sp>
      <p:sp>
        <p:nvSpPr>
          <p:cNvPr id="28" name="pdesc"/>
          <p:cNvSpPr txBox="1">
            <a:spLocks noGrp="1"/>
          </p:cNvSpPr>
          <p:nvPr/>
        </p:nvSpPr>
        <p:spPr>
          <a:xfrm>
            <a:off x="6227064" y="39502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Outcome + AIOps + XLA + KCS
Premium · Máximo valor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67542-CE60-A96D-714F-71DE8D40C4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FC921B-757D-CD4D-D66E-40956D53D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D4316-6B93-2BFD-878E-872E2D9F05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201E15-0ABF-49D7-5802-FC27D3F4F4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2091</Words>
  <Application>Microsoft Office PowerPoint</Application>
  <PresentationFormat>Presentación en pantalla (16:9)</PresentationFormat>
  <Paragraphs>346</Paragraphs>
  <Slides>22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Calibri</vt:lpstr>
      <vt:lpstr>Reddit Sans Light</vt:lpstr>
      <vt:lpstr>Reddit Sans</vt:lpstr>
      <vt:lpstr>Reddit Sans Medium</vt:lpstr>
      <vt:lpstr>Arial</vt:lpstr>
      <vt:lpstr>Reddit Sans Black</vt:lpstr>
      <vt:lpstr>Reddit Sans SemiBold</vt:lpstr>
      <vt:lpstr>Simple Light</vt:lpstr>
      <vt:lpstr>Mesa de Servicio de Nueva Generación</vt:lpstr>
      <vt:lpstr>Valor del Servicio</vt:lpstr>
      <vt:lpstr>Presentación de PowerPoint</vt:lpstr>
      <vt:lpstr>Mesas de Servicio Actuales</vt:lpstr>
      <vt:lpstr>Mesas de Servicio de Nueva Generación</vt:lpstr>
      <vt:lpstr>Nivel de Madurez de las Mesas de Servicio – A dónde queremos llegar</vt:lpstr>
      <vt:lpstr>Mesas de Servicio de Nueva Generación</vt:lpstr>
      <vt:lpstr>Presentación de PowerPoint</vt:lpstr>
      <vt:lpstr>Gartner</vt:lpstr>
      <vt:lpstr>Presentación de PowerPoint</vt:lpstr>
      <vt:lpstr>Presentación de PowerPoint</vt:lpstr>
      <vt:lpstr>Presentación de PowerPoint</vt:lpstr>
      <vt:lpstr>Mesas de Servicio de Nueva Generación</vt:lpstr>
      <vt:lpstr>Presentación de PowerPoint</vt:lpstr>
      <vt:lpstr>Mesa Tradicional vs. Mesa Gen Next</vt:lpstr>
      <vt:lpstr>Presentación de PowerPoint</vt:lpstr>
      <vt:lpstr>Nuestro Servicio de Mesa de Servicio de Nueva Generación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941</cp:revision>
  <dcterms:modified xsi:type="dcterms:W3CDTF">2026-07-08T13:29:07Z</dcterms:modified>
</cp:coreProperties>
</file>