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61"/>
  </p:notesMasterIdLst>
  <p:sldIdLst>
    <p:sldId id="257" r:id="rId3"/>
    <p:sldId id="260" r:id="rId4"/>
    <p:sldId id="321" r:id="rId5"/>
    <p:sldId id="258" r:id="rId6"/>
    <p:sldId id="322" r:id="rId7"/>
    <p:sldId id="329" r:id="rId8"/>
    <p:sldId id="330" r:id="rId9"/>
    <p:sldId id="304" r:id="rId10"/>
    <p:sldId id="299" r:id="rId11"/>
    <p:sldId id="300" r:id="rId12"/>
    <p:sldId id="309" r:id="rId13"/>
    <p:sldId id="323" r:id="rId14"/>
    <p:sldId id="313" r:id="rId15"/>
    <p:sldId id="328" r:id="rId16"/>
    <p:sldId id="315" r:id="rId17"/>
    <p:sldId id="314" r:id="rId18"/>
    <p:sldId id="302" r:id="rId19"/>
    <p:sldId id="316" r:id="rId20"/>
    <p:sldId id="317" r:id="rId21"/>
    <p:sldId id="332" r:id="rId22"/>
    <p:sldId id="319" r:id="rId23"/>
    <p:sldId id="334" r:id="rId24"/>
    <p:sldId id="271" r:id="rId25"/>
    <p:sldId id="331" r:id="rId26"/>
    <p:sldId id="262" r:id="rId27"/>
    <p:sldId id="326" r:id="rId28"/>
    <p:sldId id="310" r:id="rId29"/>
    <p:sldId id="295" r:id="rId30"/>
    <p:sldId id="357" r:id="rId31"/>
    <p:sldId id="293" r:id="rId32"/>
    <p:sldId id="288" r:id="rId33"/>
    <p:sldId id="289" r:id="rId34"/>
    <p:sldId id="312" r:id="rId35"/>
    <p:sldId id="324" r:id="rId36"/>
    <p:sldId id="335" r:id="rId37"/>
    <p:sldId id="336" r:id="rId38"/>
    <p:sldId id="356" r:id="rId39"/>
    <p:sldId id="274" r:id="rId40"/>
    <p:sldId id="337" r:id="rId41"/>
    <p:sldId id="276" r:id="rId42"/>
    <p:sldId id="339" r:id="rId43"/>
    <p:sldId id="277" r:id="rId44"/>
    <p:sldId id="354" r:id="rId45"/>
    <p:sldId id="341" r:id="rId46"/>
    <p:sldId id="278" r:id="rId47"/>
    <p:sldId id="279" r:id="rId48"/>
    <p:sldId id="343" r:id="rId49"/>
    <p:sldId id="345" r:id="rId50"/>
    <p:sldId id="355" r:id="rId51"/>
    <p:sldId id="307" r:id="rId52"/>
    <p:sldId id="346" r:id="rId53"/>
    <p:sldId id="349" r:id="rId54"/>
    <p:sldId id="350" r:id="rId55"/>
    <p:sldId id="352" r:id="rId56"/>
    <p:sldId id="351" r:id="rId57"/>
    <p:sldId id="353" r:id="rId58"/>
    <p:sldId id="267" r:id="rId59"/>
    <p:sldId id="268" r:id="rId60"/>
  </p:sldIdLst>
  <p:sldSz cx="9144000" cy="5143500" type="screen16x9"/>
  <p:notesSz cx="6858000" cy="9144000"/>
  <p:embeddedFontLst>
    <p:embeddedFont>
      <p:font typeface="Reddit Sans" panose="020B0604020202020204" charset="0"/>
      <p:regular r:id="rId62"/>
      <p:bold r:id="rId63"/>
      <p:italic r:id="rId64"/>
      <p:boldItalic r:id="rId65"/>
    </p:embeddedFont>
    <p:embeddedFont>
      <p:font typeface="Reddit Sans Light" panose="020B0604020202020204" charset="0"/>
      <p:regular r:id="rId66"/>
      <p:bold r:id="rId67"/>
      <p:italic r:id="rId68"/>
      <p:boldItalic r:id="rId69"/>
    </p:embeddedFont>
    <p:embeddedFont>
      <p:font typeface="Reddit Sans Medium" panose="020B0604020202020204" charset="0"/>
      <p:regular r:id="rId70"/>
      <p:bold r:id="rId71"/>
      <p:italic r:id="rId72"/>
      <p:boldItalic r:id="rId73"/>
    </p:embeddedFont>
    <p:embeddedFont>
      <p:font typeface="Reddit Sans SemiBold" panose="020B0604020202020204" charset="0"/>
      <p:regular r:id="rId74"/>
      <p:bold r:id="rId75"/>
      <p:italic r:id="rId76"/>
      <p:boldItalic r:id="rId77"/>
    </p:embeddedFont>
    <p:embeddedFont>
      <p:font typeface="Segoe UI" panose="020B0502040204020203" pitchFamily="34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4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A"/>
    <a:srgbClr val="1AA8DB"/>
    <a:srgbClr val="E4E4E4"/>
    <a:srgbClr val="FE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2BEEC-EFF1-B70A-649E-43E311917AB8}" v="115" dt="2026-07-10T16:39:16.001"/>
    <p1510:client id="{3C43D8C8-B5B0-9A30-B421-6768F20852C7}" v="378" dt="2026-07-10T13:18:34.285"/>
    <p1510:client id="{92889E3C-CF39-464D-9740-E0970843D0A3}" v="47" dt="2026-07-10T16:01:47.841"/>
    <p1510:client id="{9CE4EA71-3AC7-DED6-5446-F9041EB978FA}" v="1911" dt="2026-07-10T20:11:05.307"/>
    <p1510:client id="{E90CA9A3-E015-26C3-CBDA-17D1460CABED}" v="4235" dt="2026-07-09T22:03:15.086"/>
    <p1510:client id="{EACD41E4-5797-A94E-FEDA-C515924ACA8D}" v="1176" dt="2026-07-10T16:29:31.498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4" Type="http://customschemas.google.com/relationships/presentationmetadata" Target="metadata"/><Relationship Id="rId89" Type="http://schemas.microsoft.com/office/2015/10/relationships/revisionInfo" Target="revisionInfo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1.fntdata"/><Relationship Id="rId80" Type="http://schemas.openxmlformats.org/officeDocument/2006/relationships/font" Target="fonts/font19.fntdata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font" Target="fonts/font20.fntdata"/><Relationship Id="rId86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5.fntdata"/><Relationship Id="rId7" Type="http://schemas.openxmlformats.org/officeDocument/2006/relationships/slide" Target="slides/slide5.xml"/><Relationship Id="rId71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font" Target="fonts/font5.fntdata"/><Relationship Id="rId87" Type="http://schemas.openxmlformats.org/officeDocument/2006/relationships/theme" Target="theme/theme1.xml"/><Relationship Id="rId6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39_389B0B2A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48_D60752B3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3B_F882B62B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3B_F882B62B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 actual (2024)</c:v>
                </c:pt>
              </c:strCache>
            </c:strRef>
          </c:tx>
          <c:spPr>
            <a:solidFill>
              <a:srgbClr val="187884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DD-4964-ADED-18A2CF565176}"/>
              </c:ext>
            </c:extLst>
          </c:dPt>
          <c:dPt>
            <c:idx val="1"/>
            <c:invertIfNegative val="0"/>
            <c:bubble3D val="0"/>
            <c:spPr>
              <a:solidFill>
                <a:srgbClr val="A8482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8DD-4964-ADED-18A2CF565176}"/>
              </c:ext>
            </c:extLst>
          </c:dPt>
          <c:dPt>
            <c:idx val="2"/>
            <c:invertIfNegative val="0"/>
            <c:bubble3D val="0"/>
            <c:spPr>
              <a:solidFill>
                <a:srgbClr val="903C5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8DD-4964-ADED-18A2CF56517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83C48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Growth Market</c:v>
                </c:pt>
                <c:pt idx="1">
                  <c:v>Apps Run</c:v>
                </c:pt>
                <c:pt idx="2">
                  <c:v>Business Research</c:v>
                </c:pt>
              </c:strCache>
            </c:strRef>
          </c:cat>
          <c:val>
            <c:numRef>
              <c:f>Hoja1!$B$2:$B$4</c:f>
              <c:numCache>
                <c:formatCode>0.0</c:formatCode>
                <c:ptCount val="3"/>
                <c:pt idx="0">
                  <c:v>7.8</c:v>
                </c:pt>
                <c:pt idx="1">
                  <c:v>11.4</c:v>
                </c:pt>
                <c:pt idx="2">
                  <c:v>3.7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68DD-4964-ADED-18A2CF565176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Proyección futura</c:v>
                </c:pt>
              </c:strCache>
            </c:strRef>
          </c:tx>
          <c:spPr>
            <a:solidFill>
              <a:srgbClr val="183C48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68DD-4964-ADED-18A2CF565176}"/>
              </c:ext>
            </c:extLst>
          </c:dPt>
          <c:dPt>
            <c:idx val="2"/>
            <c:invertIfNegative val="0"/>
            <c:bubble3D val="0"/>
            <c:spPr>
              <a:solidFill>
                <a:srgbClr val="6C482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68DD-4964-ADED-18A2CF56517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83C48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Growth Market</c:v>
                </c:pt>
                <c:pt idx="1">
                  <c:v>Apps Run</c:v>
                </c:pt>
                <c:pt idx="2">
                  <c:v>Business Research</c:v>
                </c:pt>
              </c:strCache>
            </c:strRef>
          </c:cat>
          <c:val>
            <c:numRef>
              <c:f>Hoja1!$C$2:$C$4</c:f>
              <c:numCache>
                <c:formatCode>General</c:formatCode>
                <c:ptCount val="3"/>
                <c:pt idx="0" formatCode="0.0">
                  <c:v>17.399999999999999</c:v>
                </c:pt>
                <c:pt idx="2" formatCode="0.0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68DD-4964-ADED-18A2CF565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txPr>
          <a:bodyPr/>
          <a:lstStyle/>
          <a:p>
            <a:pPr>
              <a:defRPr sz="1100" b="1">
                <a:solidFill>
                  <a:srgbClr val="1F3B47"/>
                </a:solidFill>
              </a:defRPr>
            </a:pPr>
            <a:endParaRPr lang="es-E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3E1DB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8A8A83"/>
                </a:solidFill>
              </a:defRPr>
            </a:pPr>
            <a:endParaRPr lang="es-ES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A55"/>
              </a:solidFill>
            </a:defRPr>
          </a:pPr>
          <a:endParaRPr lang="es-ES"/>
        </a:p>
      </c:txPr>
    </c:legend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 actual (2024)</c:v>
                </c:pt>
              </c:strCache>
            </c:strRef>
          </c:tx>
          <c:spPr>
            <a:solidFill>
              <a:srgbClr val="1E8080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54-43C7-9D36-C7CC4E048323}"/>
              </c:ext>
            </c:extLst>
          </c:dPt>
          <c:dPt>
            <c:idx val="1"/>
            <c:invertIfNegative val="0"/>
            <c:bubble3D val="0"/>
            <c:spPr>
              <a:solidFill>
                <a:srgbClr val="A4452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B54-43C7-9D36-C7CC4E048323}"/>
              </c:ext>
            </c:extLst>
          </c:dPt>
          <c:dPt>
            <c:idx val="2"/>
            <c:invertIfNegative val="0"/>
            <c:bubble3D val="0"/>
            <c:spPr>
              <a:solidFill>
                <a:srgbClr val="D692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B54-43C7-9D36-C7CC4E0483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E8080"/>
                        </a:solidFill>
                      </a:rPr>
                      <a:t>$1.8B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B54-43C7-9D36-C7CC4E0483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A44526"/>
                        </a:solidFill>
                      </a:rPr>
                      <a:t>$0.52B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B54-43C7-9D36-C7CC4E0483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D69200"/>
                        </a:solidFill>
                      </a:rPr>
                      <a:t>$108M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B54-43C7-9D36-C7CC4E04832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Latam</c:v>
                </c:pt>
                <c:pt idx="1">
                  <c:v>Sudamérica</c:v>
                </c:pt>
                <c:pt idx="2">
                  <c:v>Colombia</c:v>
                </c:pt>
              </c:strCache>
            </c:strRef>
          </c:cat>
          <c:val>
            <c:numRef>
              <c:f>Hoja1!$B$2:$B$4</c:f>
              <c:numCache>
                <c:formatCode>0.00</c:formatCode>
                <c:ptCount val="3"/>
                <c:pt idx="0">
                  <c:v>1.8</c:v>
                </c:pt>
                <c:pt idx="1">
                  <c:v>0.52</c:v>
                </c:pt>
                <c:pt idx="2">
                  <c:v>0.108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DB54-43C7-9D36-C7CC4E04832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Proyección futura</c:v>
                </c:pt>
              </c:strCache>
            </c:strRef>
          </c:tx>
          <c:spPr>
            <a:solidFill>
              <a:srgbClr val="104040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DB54-43C7-9D36-C7CC4E048323}"/>
              </c:ext>
            </c:extLst>
          </c:dPt>
          <c:dPt>
            <c:idx val="1"/>
            <c:invertIfNegative val="0"/>
            <c:bubble3D val="0"/>
            <c:spPr>
              <a:solidFill>
                <a:srgbClr val="8E3E5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DB54-43C7-9D36-C7CC4E048323}"/>
              </c:ext>
            </c:extLst>
          </c:dPt>
          <c:dPt>
            <c:idx val="2"/>
            <c:invertIfNegative val="0"/>
            <c:bubble3D val="0"/>
            <c:spPr>
              <a:solidFill>
                <a:srgbClr val="16233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DB54-43C7-9D36-C7CC4E0483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4040"/>
                        </a:solidFill>
                      </a:rPr>
                      <a:t>$2.5B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B54-43C7-9D36-C7CC4E0483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8E3E50"/>
                        </a:solidFill>
                      </a:rPr>
                      <a:t>$1.26B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B54-43C7-9D36-C7CC4E0483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6233F"/>
                        </a:solidFill>
                      </a:rPr>
                      <a:t>$250M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DB54-43C7-9D36-C7CC4E04832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Latam</c:v>
                </c:pt>
                <c:pt idx="1">
                  <c:v>Sudamérica</c:v>
                </c:pt>
                <c:pt idx="2">
                  <c:v>Colombia</c:v>
                </c:pt>
              </c:strCache>
            </c:strRef>
          </c:cat>
          <c:val>
            <c:numRef>
              <c:f>Hoja1!$C$2:$C$4</c:f>
              <c:numCache>
                <c:formatCode>0.00</c:formatCode>
                <c:ptCount val="3"/>
                <c:pt idx="0">
                  <c:v>2.5</c:v>
                </c:pt>
                <c:pt idx="1">
                  <c:v>1.26</c:v>
                </c:pt>
                <c:pt idx="2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D-DB54-43C7-9D36-C7CC4E048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311111111"/>
        <c:axId val="322222222"/>
      </c:barChart>
      <c:catAx>
        <c:axId val="3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txPr>
          <a:bodyPr/>
          <a:lstStyle/>
          <a:p>
            <a:pPr>
              <a:defRPr sz="1000" b="1">
                <a:solidFill>
                  <a:srgbClr val="1F3B47"/>
                </a:solidFill>
              </a:defRPr>
            </a:pPr>
            <a:endParaRPr lang="es-ES"/>
          </a:p>
        </c:txPr>
        <c:crossAx val="322222222"/>
        <c:crosses val="autoZero"/>
        <c:auto val="1"/>
        <c:lblAlgn val="ctr"/>
        <c:lblOffset val="100"/>
        <c:noMultiLvlLbl val="1"/>
      </c:catAx>
      <c:valAx>
        <c:axId val="3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3E1DB"/>
              </a:solidFill>
            </a:ln>
          </c:spPr>
        </c:majorGridlines>
        <c:numFmt formatCode="0.0&quot;B&quot;" sourceLinked="0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8A8A83"/>
                </a:solidFill>
              </a:defRPr>
            </a:pPr>
            <a:endParaRPr lang="es-ES"/>
          </a:p>
        </c:txPr>
        <c:crossAx val="3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Cuota de mercado</c:v>
                </c:pt>
              </c:strCache>
            </c:strRef>
          </c:tx>
          <c:dPt>
            <c:idx val="0"/>
            <c:bubble3D val="0"/>
            <c:spPr>
              <a:solidFill>
                <a:srgbClr val="2F7D8F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EA3-48A2-883F-93DEC6B83946}"/>
              </c:ext>
            </c:extLst>
          </c:dPt>
          <c:dPt>
            <c:idx val="1"/>
            <c:bubble3D val="0"/>
            <c:spPr>
              <a:solidFill>
                <a:srgbClr val="8A8A8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EA3-48A2-883F-93DEC6B83946}"/>
              </c:ext>
            </c:extLst>
          </c:dPt>
          <c:dPt>
            <c:idx val="2"/>
            <c:bubble3D val="0"/>
            <c:spPr>
              <a:solidFill>
                <a:srgbClr val="E0B23E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EA3-48A2-883F-93DEC6B83946}"/>
              </c:ext>
            </c:extLst>
          </c:dPt>
          <c:dPt>
            <c:idx val="3"/>
            <c:bubble3D val="0"/>
            <c:spPr>
              <a:solidFill>
                <a:srgbClr val="B0483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EA3-48A2-883F-93DEC6B83946}"/>
              </c:ext>
            </c:extLst>
          </c:dPt>
          <c:dPt>
            <c:idx val="4"/>
            <c:bubble3D val="0"/>
            <c:spPr>
              <a:solidFill>
                <a:srgbClr val="7A5AA0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BEA3-48A2-883F-93DEC6B83946}"/>
              </c:ext>
            </c:extLst>
          </c:dPt>
          <c:dPt>
            <c:idx val="5"/>
            <c:bubble3D val="0"/>
            <c:spPr>
              <a:solidFill>
                <a:srgbClr val="5F9153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BEA3-48A2-883F-93DEC6B8394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Hoja1!$A$2:$A$7</c:f>
              <c:strCache>
                <c:ptCount val="6"/>
                <c:pt idx="0">
                  <c:v>ServiceNow</c:v>
                </c:pt>
                <c:pt idx="1">
                  <c:v>Otros</c:v>
                </c:pt>
                <c:pt idx="2">
                  <c:v>Atlassian</c:v>
                </c:pt>
                <c:pt idx="3">
                  <c:v>BMC</c:v>
                </c:pt>
                <c:pt idx="4">
                  <c:v>Ivanti</c:v>
                </c:pt>
                <c:pt idx="5">
                  <c:v>Freshworks</c:v>
                </c:pt>
              </c:strCache>
            </c:strRef>
          </c:cat>
          <c:val>
            <c:numRef>
              <c:f>Hoja1!$B$2:$B$7</c:f>
              <c:numCache>
                <c:formatCode>0.0</c:formatCode>
                <c:ptCount val="6"/>
                <c:pt idx="0">
                  <c:v>44.4</c:v>
                </c:pt>
                <c:pt idx="1">
                  <c:v>22.8</c:v>
                </c:pt>
                <c:pt idx="2">
                  <c:v>12.3</c:v>
                </c:pt>
                <c:pt idx="3">
                  <c:v>8.5</c:v>
                </c:pt>
                <c:pt idx="4">
                  <c:v>6.2</c:v>
                </c:pt>
                <c:pt idx="5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EA3-48A2-883F-93DEC6B83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A55"/>
              </a:solidFill>
            </a:defRPr>
          </a:pPr>
          <a:endParaRPr lang="es-ES"/>
        </a:p>
      </c:txPr>
    </c:legend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03"/>
          <c:w val="0.94"/>
          <c:h val="0.94"/>
        </c:manualLayout>
      </c:layout>
      <c:bubbleChart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ServiceNow</c:v>
                </c:pt>
              </c:strCache>
            </c:strRef>
          </c:tx>
          <c:spPr>
            <a:solidFill>
              <a:srgbClr val="16233F"/>
            </a:solidFill>
            <a:ln w="12700">
              <a:solidFill>
                <a:srgbClr val="FFFFFF"/>
              </a:solidFill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Hoja1!$B$2</c:f>
              <c:numCache>
                <c:formatCode>General</c:formatCode>
                <c:ptCount val="1"/>
                <c:pt idx="0">
                  <c:v>83</c:v>
                </c:pt>
              </c:numCache>
            </c:numRef>
          </c:xVal>
          <c:yVal>
            <c:numRef>
              <c:f>Hoja1!$C$2</c:f>
              <c:numCache>
                <c:formatCode>General</c:formatCode>
                <c:ptCount val="1"/>
                <c:pt idx="0">
                  <c:v>80</c:v>
                </c:pt>
              </c:numCache>
            </c:numRef>
          </c:yVal>
          <c:bubbleSize>
            <c:numRef>
              <c:f>Hoja1!$D$2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651-4641-8111-E31EA3A22074}"/>
            </c:ext>
          </c:extLst>
        </c:ser>
        <c:ser>
          <c:idx val="1"/>
          <c:order val="1"/>
          <c:tx>
            <c:strRef>
              <c:f>Hoja1!$A$3</c:f>
              <c:strCache>
                <c:ptCount val="1"/>
                <c:pt idx="0">
                  <c:v>Aisera</c:v>
                </c:pt>
              </c:strCache>
            </c:strRef>
          </c:tx>
          <c:spPr>
            <a:solidFill>
              <a:srgbClr val="4A9AA6"/>
            </a:solidFill>
            <a:ln w="12700">
              <a:solidFill>
                <a:srgbClr val="FFFFFF"/>
              </a:solidFill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Hoja1!$B$3</c:f>
              <c:numCache>
                <c:formatCode>General</c:formatCode>
                <c:ptCount val="1"/>
                <c:pt idx="0">
                  <c:v>63</c:v>
                </c:pt>
              </c:numCache>
            </c:numRef>
          </c:xVal>
          <c:yVal>
            <c:numRef>
              <c:f>Hoja1!$C$3</c:f>
              <c:numCache>
                <c:formatCode>General</c:formatCode>
                <c:ptCount val="1"/>
                <c:pt idx="0">
                  <c:v>78</c:v>
                </c:pt>
              </c:numCache>
            </c:numRef>
          </c:yVal>
          <c:bubbleSize>
            <c:numRef>
              <c:f>Hoja1!$D$3</c:f>
              <c:numCache>
                <c:formatCode>General</c:formatCode>
                <c:ptCount val="1"/>
                <c:pt idx="0">
                  <c:v>3.5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651-4641-8111-E31EA3A22074}"/>
            </c:ext>
          </c:extLst>
        </c:ser>
        <c:ser>
          <c:idx val="2"/>
          <c:order val="2"/>
          <c:tx>
            <c:strRef>
              <c:f>Hoja1!$A$4</c:f>
              <c:strCache>
                <c:ptCount val="1"/>
                <c:pt idx="0">
                  <c:v>Moveworks</c:v>
                </c:pt>
              </c:strCache>
            </c:strRef>
          </c:tx>
          <c:spPr>
            <a:solidFill>
              <a:srgbClr val="B06A7F"/>
            </a:solidFill>
            <a:ln w="12700">
              <a:solidFill>
                <a:srgbClr val="FFFFFF"/>
              </a:solidFill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Hoja1!$B$4</c:f>
              <c:numCache>
                <c:formatCode>General</c:formatCode>
                <c:ptCount val="1"/>
                <c:pt idx="0">
                  <c:v>30</c:v>
                </c:pt>
              </c:numCache>
            </c:numRef>
          </c:xVal>
          <c:yVal>
            <c:numRef>
              <c:f>Hoja1!$C$4</c:f>
              <c:numCache>
                <c:formatCode>General</c:formatCode>
                <c:ptCount val="1"/>
                <c:pt idx="0">
                  <c:v>76</c:v>
                </c:pt>
              </c:numCache>
            </c:numRef>
          </c:yVal>
          <c:bubbleSize>
            <c:numRef>
              <c:f>Hoja1!$D$4</c:f>
              <c:numCache>
                <c:formatCode>General</c:formatCode>
                <c:ptCount val="1"/>
                <c:pt idx="0">
                  <c:v>3.5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651-4641-8111-E31EA3A22074}"/>
            </c:ext>
          </c:extLst>
        </c:ser>
        <c:ser>
          <c:idx val="3"/>
          <c:order val="3"/>
          <c:tx>
            <c:strRef>
              <c:f>Hoja1!$A$5</c:f>
              <c:strCache>
                <c:ptCount val="1"/>
                <c:pt idx="0">
                  <c:v>BMC</c:v>
                </c:pt>
              </c:strCache>
            </c:strRef>
          </c:tx>
          <c:spPr>
            <a:solidFill>
              <a:srgbClr val="C17A63"/>
            </a:solidFill>
            <a:ln w="12700">
              <a:solidFill>
                <a:srgbClr val="FFFFFF"/>
              </a:solidFill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Hoja1!$B$5</c:f>
              <c:numCache>
                <c:formatCode>General</c:formatCode>
                <c:ptCount val="1"/>
                <c:pt idx="0">
                  <c:v>74</c:v>
                </c:pt>
              </c:numCache>
            </c:numRef>
          </c:xVal>
          <c:yVal>
            <c:numRef>
              <c:f>Hoja1!$C$5</c:f>
              <c:numCache>
                <c:formatCode>General</c:formatCode>
                <c:ptCount val="1"/>
                <c:pt idx="0">
                  <c:v>30</c:v>
                </c:pt>
              </c:numCache>
            </c:numRef>
          </c:yVal>
          <c:bubbleSize>
            <c:numRef>
              <c:f>Hoja1!$D$5</c:f>
              <c:numCache>
                <c:formatCode>General</c:formatCode>
                <c:ptCount val="1"/>
                <c:pt idx="0">
                  <c:v>3.5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4651-4641-8111-E31EA3A22074}"/>
            </c:ext>
          </c:extLst>
        </c:ser>
        <c:ser>
          <c:idx val="4"/>
          <c:order val="4"/>
          <c:tx>
            <c:strRef>
              <c:f>Hoja1!$A$6</c:f>
              <c:strCache>
                <c:ptCount val="1"/>
                <c:pt idx="0">
                  <c:v>Atlassian</c:v>
                </c:pt>
              </c:strCache>
            </c:strRef>
          </c:tx>
          <c:spPr>
            <a:solidFill>
              <a:srgbClr val="E0B23E"/>
            </a:solidFill>
            <a:ln w="12700">
              <a:solidFill>
                <a:srgbClr val="FFFFFF"/>
              </a:solidFill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Hoja1!$B$6</c:f>
              <c:numCache>
                <c:formatCode>General</c:formatCode>
                <c:ptCount val="1"/>
                <c:pt idx="0">
                  <c:v>18</c:v>
                </c:pt>
              </c:numCache>
            </c:numRef>
          </c:xVal>
          <c:yVal>
            <c:numRef>
              <c:f>Hoja1!$C$6</c:f>
              <c:numCache>
                <c:formatCode>General</c:formatCode>
                <c:ptCount val="1"/>
                <c:pt idx="0">
                  <c:v>30</c:v>
                </c:pt>
              </c:numCache>
            </c:numRef>
          </c:yVal>
          <c:bubbleSize>
            <c:numRef>
              <c:f>Hoja1!$D$6</c:f>
              <c:numCache>
                <c:formatCode>General</c:formatCode>
                <c:ptCount val="1"/>
                <c:pt idx="0">
                  <c:v>3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4651-4641-8111-E31EA3A22074}"/>
            </c:ext>
          </c:extLst>
        </c:ser>
        <c:ser>
          <c:idx val="5"/>
          <c:order val="5"/>
          <c:tx>
            <c:strRef>
              <c:f>Hoja1!$A$7</c:f>
              <c:strCache>
                <c:ptCount val="1"/>
                <c:pt idx="0">
                  <c:v>Freshworks</c:v>
                </c:pt>
              </c:strCache>
            </c:strRef>
          </c:tx>
          <c:spPr>
            <a:solidFill>
              <a:srgbClr val="5F9153"/>
            </a:solidFill>
            <a:ln w="12700">
              <a:solidFill>
                <a:srgbClr val="FFFFFF"/>
              </a:solidFill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Hoja1!$B$7</c:f>
              <c:numCache>
                <c:formatCode>General</c:formatCode>
                <c:ptCount val="1"/>
                <c:pt idx="0">
                  <c:v>31</c:v>
                </c:pt>
              </c:numCache>
            </c:numRef>
          </c:xVal>
          <c:yVal>
            <c:numRef>
              <c:f>Hoja1!$C$7</c:f>
              <c:numCache>
                <c:formatCode>General</c:formatCode>
                <c:ptCount val="1"/>
                <c:pt idx="0">
                  <c:v>13</c:v>
                </c:pt>
              </c:numCache>
            </c:numRef>
          </c:yVal>
          <c:bubbleSize>
            <c:numRef>
              <c:f>Hoja1!$D$7</c:f>
              <c:numCache>
                <c:formatCode>General</c:formatCode>
                <c:ptCount val="1"/>
                <c:pt idx="0">
                  <c:v>3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4651-4641-8111-E31EA3A22074}"/>
            </c:ext>
          </c:extLst>
        </c:ser>
        <c:ser>
          <c:idx val="6"/>
          <c:order val="6"/>
          <c:tx>
            <c:strRef>
              <c:f>Hoja1!$A$8</c:f>
              <c:strCache>
                <c:ptCount val="1"/>
                <c:pt idx="0">
                  <c:v>SysAid</c:v>
                </c:pt>
              </c:strCache>
            </c:strRef>
          </c:tx>
          <c:spPr>
            <a:solidFill>
              <a:srgbClr val="9E9E9E"/>
            </a:solidFill>
            <a:ln w="12700">
              <a:solidFill>
                <a:srgbClr val="FFFFFF"/>
              </a:solidFill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Hoja1!$B$8</c:f>
              <c:numCache>
                <c:formatCode>General</c:formatCode>
                <c:ptCount val="1"/>
                <c:pt idx="0">
                  <c:v>44</c:v>
                </c:pt>
              </c:numCache>
            </c:numRef>
          </c:xVal>
          <c:yVal>
            <c:numRef>
              <c:f>Hoja1!$C$8</c:f>
              <c:numCache>
                <c:formatCode>General</c:formatCode>
                <c:ptCount val="1"/>
                <c:pt idx="0">
                  <c:v>22</c:v>
                </c:pt>
              </c:numCache>
            </c:numRef>
          </c:yVal>
          <c:bubbleSize>
            <c:numRef>
              <c:f>Hoja1!$D$8</c:f>
              <c:numCache>
                <c:formatCode>General</c:formatCode>
                <c:ptCount val="1"/>
                <c:pt idx="0">
                  <c:v>2.6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4651-4641-8111-E31EA3A22074}"/>
            </c:ext>
          </c:extLst>
        </c:ser>
        <c:ser>
          <c:idx val="7"/>
          <c:order val="7"/>
          <c:tx>
            <c:strRef>
              <c:f>Hoja1!$A$9</c:f>
              <c:strCache>
                <c:ptCount val="1"/>
                <c:pt idx="0">
                  <c:v>ManageEngine</c:v>
                </c:pt>
              </c:strCache>
            </c:strRef>
          </c:tx>
          <c:spPr>
            <a:solidFill>
              <a:srgbClr val="8E5BBF"/>
            </a:solidFill>
            <a:ln w="12700">
              <a:solidFill>
                <a:srgbClr val="FFFFFF"/>
              </a:solidFill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Hoja1!$B$9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Hoja1!$C$9</c:f>
              <c:numCache>
                <c:formatCode>General</c:formatCode>
                <c:ptCount val="1"/>
                <c:pt idx="0">
                  <c:v>14</c:v>
                </c:pt>
              </c:numCache>
            </c:numRef>
          </c:yVal>
          <c:bubbleSize>
            <c:numRef>
              <c:f>Hoja1!$D$9</c:f>
              <c:numCache>
                <c:formatCode>General</c:formatCode>
                <c:ptCount val="1"/>
                <c:pt idx="0">
                  <c:v>2.6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4651-4641-8111-E31EA3A220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60"/>
        <c:showNegBubbles val="0"/>
        <c:axId val="333333333"/>
        <c:axId val="444444444"/>
      </c:bubbleChart>
      <c:valAx>
        <c:axId val="333333333"/>
        <c:scaling>
          <c:orientation val="minMax"/>
          <c:max val="108"/>
          <c:min val="-8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>
            <a:solidFill>
              <a:srgbClr val="BFBCB2"/>
            </a:solidFill>
            <a:prstDash val="dash"/>
          </a:ln>
        </c:spPr>
        <c:crossAx val="444444444"/>
        <c:crossesAt val="50"/>
        <c:crossBetween val="midCat"/>
      </c:valAx>
      <c:valAx>
        <c:axId val="444444444"/>
        <c:scaling>
          <c:orientation val="minMax"/>
          <c:max val="108"/>
          <c:min val="-8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>
            <a:solidFill>
              <a:srgbClr val="BFBCB2"/>
            </a:solidFill>
            <a:prstDash val="dash"/>
          </a:ln>
        </c:spPr>
        <c:crossAx val="333333333"/>
        <c:crossesAt val="50"/>
        <c:crossBetween val="midCat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500af2f30bdfc2fb481c268b42ccff364d8c6d896f51ecdfd16d3bf116eedcdJmltdHM9MTc4MzM4MjQwMA&amp;ptn=3&amp;ver=2&amp;hsh=4&amp;fclid=10d11685-cdd1-6520-1f35-0107cca364bf&amp;u=a1aHR0cHM6Ly9yZWd1bGFmb3JlbnNpY3MuY29tL2VzL2Jsb2cvc3dhcm1pbmctc3VwcG9ydC1tb2RlbC8&amp;ntb=1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ing.com/ck/a?!&amp;&amp;p=850ece00eb93253a87fbe61242c6bd172bc031ebab6034752dc1f260fc9c0a10JmltdHM9MTc4MzU1NTIwMA&amp;ptn=3&amp;ver=2&amp;hsh=4&amp;fclid=10d11685-cdd1-6520-1f35-0107cca364bf&amp;u=a1aHR0cHM6Ly93d3cuZWVzZWwuYWkvZXMvYmxvZy9tb3Zld29ya3M&amp;ntb=1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npresswire.com/article/823090394/xla-institute-releases-groundbreaking-state-of-xla-2025-report?code=9Hv3x5D-vwZo-peK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linkedin.com/posts/alannance_get-your-copy-of-the-state-of-xla-2025-published-activity-7340670233575079936-XZ3Q" TargetMode="External"/><Relationship Id="rId4" Type="http://schemas.openxmlformats.org/officeDocument/2006/relationships/hyperlink" Target="https://www.emerce.nl/wire/xla-institute-publiceert-state-xla-2025-rapport" TargetMode="External"/></Relationships>
</file>

<file path=ppt/notesSlides/_rels/notes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rvicenow.com/content/dam/servicenow-assets/public/en-us/doc-type/resource-center/white-paper/the-essentials-of-predictive-aiops-and-visibility.pdf" TargetMode="External"/><Relationship Id="rId3" Type="http://schemas.openxmlformats.org/officeDocument/2006/relationships/hyperlink" Target="https://freshservice.com/assets/resources/freshservice/freshservice-it-service-management-benchmark-report-2024.pdf" TargetMode="External"/><Relationship Id="rId7" Type="http://schemas.openxmlformats.org/officeDocument/2006/relationships/hyperlink" Target="https://www.tcs.com/insights/blogs/generative-ai-outcome-based-pricing-models-service-desk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givainc.com/blog/shift-left-analysis-how-to-guide-maximize-it-service-management-itsm-efficiency/" TargetMode="External"/><Relationship Id="rId5" Type="http://schemas.openxmlformats.org/officeDocument/2006/relationships/hyperlink" Target="https://www.serviceinnovation.org/kcs/" TargetMode="External"/><Relationship Id="rId4" Type="http://schemas.openxmlformats.org/officeDocument/2006/relationships/hyperlink" Target="https://www.ivanti.com/en-gb/blog/agentic-ai-it-service-autonomy" TargetMode="External"/></Relationships>
</file>

<file path=ppt/notesSlides/_rels/notes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rvicenow.com/content/dam/servicenow-assets/public/en-us/doc-type/resource-center/white-paper/the-essentials-of-predictive-aiops-and-visibility.pdf" TargetMode="External"/><Relationship Id="rId3" Type="http://schemas.openxmlformats.org/officeDocument/2006/relationships/hyperlink" Target="https://freshservice.com/assets/resources/freshservice/freshservice-it-service-management-benchmark-report-2024.pdf" TargetMode="External"/><Relationship Id="rId7" Type="http://schemas.openxmlformats.org/officeDocument/2006/relationships/hyperlink" Target="https://www.tcs.com/insights/blogs/generative-ai-outcome-based-pricing-models-service-desk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givainc.com/blog/shift-left-analysis-how-to-guide-maximize-it-service-management-itsm-efficiency/" TargetMode="External"/><Relationship Id="rId5" Type="http://schemas.openxmlformats.org/officeDocument/2006/relationships/hyperlink" Target="https://www.serviceinnovation.org/kcs/" TargetMode="External"/><Relationship Id="rId4" Type="http://schemas.openxmlformats.org/officeDocument/2006/relationships/hyperlink" Target="https://www.ivanti.com/en-gb/blog/agentic-ai-it-service-autonomy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financiera.gov.co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iso.org/standard/42001" TargetMode="External"/><Relationship Id="rId5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Relationship Id="rId4" Type="http://schemas.openxmlformats.org/officeDocument/2006/relationships/hyperlink" Target="https://www.superfinanciera.gov.co/" TargetMode="Externa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viaseo.info/peti/755MesadeServicios.html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linkedin.com/pulse/mesa-de-servicio-inteligente-c%C3%B3mo-la-inteligencia-artificial-est%C3%A1-sbj7e/" TargetMode="External"/><Relationship Id="rId4" Type="http://schemas.openxmlformats.org/officeDocument/2006/relationships/hyperlink" Target="https://www.manageengine.com/latam/service-desk/que-es-una-mesa-de-ayuda.html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rixmind.com/itil-5-what-changed-and-why-it-matters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79356A8-E404-152B-4307-F14EDF22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D6A97513-0F20-F8E2-91E4-81F97AE61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BA47EDEE-C416-31E2-19FF-E6F318C37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672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ESM: Enterprise Service Management</a:t>
            </a:r>
            <a:endParaRPr lang="es-ES"/>
          </a:p>
          <a:p>
            <a:pPr>
              <a:buNone/>
            </a:pPr>
            <a:r>
              <a:rPr lang="en-US"/>
              <a:t>CMDB: Configuration Management Database (Base de Datos de </a:t>
            </a:r>
            <a:r>
              <a:rPr lang="en-US" err="1"/>
              <a:t>Gestión</a:t>
            </a:r>
            <a:r>
              <a:rPr lang="en-US"/>
              <a:t> de la </a:t>
            </a:r>
            <a:r>
              <a:rPr lang="en-US" err="1"/>
              <a:t>Configuración</a:t>
            </a:r>
            <a:r>
              <a:rPr lang="en-US"/>
              <a:t>)</a:t>
            </a:r>
          </a:p>
          <a:p>
            <a:pPr>
              <a:buNone/>
            </a:pPr>
            <a:r>
              <a:rPr lang="en-US"/>
              <a:t>XLA: Experience Level Agreement (</a:t>
            </a:r>
            <a:r>
              <a:rPr lang="en-US" err="1"/>
              <a:t>Acuerdo</a:t>
            </a:r>
            <a:r>
              <a:rPr lang="en-US"/>
              <a:t> de Nivel de </a:t>
            </a:r>
            <a:r>
              <a:rPr lang="en-US" err="1"/>
              <a:t>Experiencia</a:t>
            </a:r>
            <a:r>
              <a:rPr lang="en-US"/>
              <a:t>)</a:t>
            </a:r>
          </a:p>
          <a:p>
            <a:pPr>
              <a:buNone/>
            </a:pPr>
            <a:r>
              <a:rPr lang="en-US"/>
              <a:t>AIOps: Artificial Intelligence for IT Operations (IA para </a:t>
            </a:r>
            <a:r>
              <a:rPr lang="en-US" err="1"/>
              <a:t>Operaciones</a:t>
            </a:r>
            <a:r>
              <a:rPr lang="en-US"/>
              <a:t> de TI)</a:t>
            </a:r>
          </a:p>
          <a:p>
            <a:pPr>
              <a:buNone/>
            </a:pPr>
            <a:r>
              <a:rPr lang="en-US"/>
              <a:t>AITSM: Artificial Intelligence for IT Service Management</a:t>
            </a:r>
          </a:p>
          <a:p>
            <a:pPr algn="ctr"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La </a:t>
            </a:r>
            <a:r>
              <a:rPr lang="en-US" err="1"/>
              <a:t>línea</a:t>
            </a:r>
            <a:r>
              <a:rPr lang="en-US"/>
              <a:t> temporal de la imagen </a:t>
            </a:r>
            <a:r>
              <a:rPr lang="en-US" err="1"/>
              <a:t>muestra</a:t>
            </a:r>
            <a:r>
              <a:rPr lang="en-US"/>
              <a:t> la </a:t>
            </a:r>
            <a:r>
              <a:rPr lang="en-US" err="1"/>
              <a:t>evolución</a:t>
            </a:r>
            <a:r>
              <a:rPr lang="en-US"/>
              <a:t> </a:t>
            </a:r>
            <a:r>
              <a:rPr lang="en-US" err="1"/>
              <a:t>aproximada</a:t>
            </a:r>
            <a:r>
              <a:rPr lang="en-US"/>
              <a:t>:</a:t>
            </a:r>
          </a:p>
          <a:p>
            <a:pPr>
              <a:buNone/>
            </a:pPr>
            <a:r>
              <a:rPr lang="en-US" b="1"/>
              <a:t>HD → SD → ESM → Digital Workplace → AITSM → Autonomous Service Desk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28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/>
              <a:t>N0–N5: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van </a:t>
            </a:r>
            <a:r>
              <a:rPr lang="en-US" err="1"/>
              <a:t>desde</a:t>
            </a:r>
            <a:r>
              <a:rPr lang="en-US"/>
              <a:t> </a:t>
            </a:r>
            <a:r>
              <a:rPr lang="en-US" err="1"/>
              <a:t>autoservicio</a:t>
            </a:r>
            <a:r>
              <a:rPr lang="en-US"/>
              <a:t> (N0) hasta </a:t>
            </a:r>
            <a:r>
              <a:rPr lang="en-US" err="1"/>
              <a:t>expertos</a:t>
            </a:r>
            <a:r>
              <a:rPr lang="en-US"/>
              <a:t> </a:t>
            </a:r>
            <a:r>
              <a:rPr lang="en-US" err="1"/>
              <a:t>especializados</a:t>
            </a:r>
            <a:r>
              <a:rPr lang="en-US"/>
              <a:t> o </a:t>
            </a:r>
            <a:r>
              <a:rPr lang="en-US" err="1"/>
              <a:t>fabricante</a:t>
            </a:r>
            <a:r>
              <a:rPr lang="en-US"/>
              <a:t> (N5).</a:t>
            </a:r>
            <a:endParaRPr lang="es-ES"/>
          </a:p>
          <a:p>
            <a:pPr marL="285750" indent="-285750"/>
            <a:r>
              <a:rPr lang="en-US" b="1" err="1"/>
              <a:t>Deflexión</a:t>
            </a:r>
            <a:r>
              <a:rPr lang="en-US" b="1"/>
              <a:t> (Deflection):</a:t>
            </a:r>
            <a:r>
              <a:rPr lang="en-US"/>
              <a:t> Es el </a:t>
            </a:r>
            <a:r>
              <a:rPr lang="en-US" err="1"/>
              <a:t>porcentaje</a:t>
            </a:r>
            <a:r>
              <a:rPr lang="en-US"/>
              <a:t> o </a:t>
            </a:r>
            <a:r>
              <a:rPr lang="en-US" err="1"/>
              <a:t>número</a:t>
            </a:r>
            <a:r>
              <a:rPr lang="en-US"/>
              <a:t> de </a:t>
            </a:r>
            <a:r>
              <a:rPr lang="en-US" err="1"/>
              <a:t>consultas</a:t>
            </a:r>
            <a:r>
              <a:rPr lang="en-US"/>
              <a:t>, </a:t>
            </a:r>
            <a:r>
              <a:rPr lang="en-US" err="1"/>
              <a:t>incidentes</a:t>
            </a:r>
            <a:r>
              <a:rPr lang="en-US"/>
              <a:t> o solicitudes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resuelven</a:t>
            </a:r>
            <a:r>
              <a:rPr lang="en-US"/>
              <a:t> sin </a:t>
            </a:r>
            <a:r>
              <a:rPr lang="en-US" err="1"/>
              <a:t>necesidad</a:t>
            </a:r>
            <a:r>
              <a:rPr lang="en-US"/>
              <a:t> de </a:t>
            </a:r>
            <a:r>
              <a:rPr lang="en-US" err="1"/>
              <a:t>generar</a:t>
            </a:r>
            <a:r>
              <a:rPr lang="en-US"/>
              <a:t> un ticket o sin </a:t>
            </a:r>
            <a:r>
              <a:rPr lang="en-US" err="1"/>
              <a:t>intervención</a:t>
            </a:r>
            <a:r>
              <a:rPr lang="en-US"/>
              <a:t> de un </a:t>
            </a:r>
            <a:r>
              <a:rPr lang="en-US" err="1"/>
              <a:t>agente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/>
              <a:t>GenAI: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 </a:t>
            </a:r>
            <a:r>
              <a:rPr lang="en-US" err="1"/>
              <a:t>Generativa</a:t>
            </a:r>
            <a:r>
              <a:rPr lang="en-US"/>
              <a:t> </a:t>
            </a:r>
            <a:r>
              <a:rPr lang="en-US" err="1"/>
              <a:t>capaz</a:t>
            </a:r>
            <a:r>
              <a:rPr lang="en-US"/>
              <a:t> de </a:t>
            </a:r>
            <a:r>
              <a:rPr lang="en-US" err="1"/>
              <a:t>crear</a:t>
            </a:r>
            <a:r>
              <a:rPr lang="en-US"/>
              <a:t> </a:t>
            </a:r>
            <a:r>
              <a:rPr lang="en-US" err="1"/>
              <a:t>contenido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texto</a:t>
            </a:r>
            <a:r>
              <a:rPr lang="en-US"/>
              <a:t>, </a:t>
            </a:r>
            <a:r>
              <a:rPr lang="en-US" err="1"/>
              <a:t>imágenes</a:t>
            </a:r>
            <a:r>
              <a:rPr lang="en-US"/>
              <a:t> o </a:t>
            </a:r>
            <a:r>
              <a:rPr lang="en-US" err="1"/>
              <a:t>código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KCS:</a:t>
            </a:r>
            <a:r>
              <a:rPr lang="en-US"/>
              <a:t> </a:t>
            </a:r>
            <a:r>
              <a:rPr lang="en-US" i="1"/>
              <a:t>Knowledge-Centered Service</a:t>
            </a:r>
            <a:r>
              <a:rPr lang="en-US"/>
              <a:t>, </a:t>
            </a:r>
            <a:r>
              <a:rPr lang="en-US" err="1"/>
              <a:t>metodología</a:t>
            </a:r>
            <a:r>
              <a:rPr lang="en-US"/>
              <a:t> para </a:t>
            </a:r>
            <a:r>
              <a:rPr lang="en-US" err="1"/>
              <a:t>capturar</a:t>
            </a:r>
            <a:r>
              <a:rPr lang="en-US"/>
              <a:t> y </a:t>
            </a:r>
            <a:r>
              <a:rPr lang="en-US" err="1"/>
              <a:t>reutilizar</a:t>
            </a:r>
            <a:r>
              <a:rPr lang="en-US"/>
              <a:t> </a:t>
            </a:r>
            <a:r>
              <a:rPr lang="en-US" err="1"/>
              <a:t>conocimiento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</a:t>
            </a:r>
            <a:r>
              <a:rPr lang="en-US" err="1"/>
              <a:t>resolución</a:t>
            </a:r>
            <a:r>
              <a:rPr lang="en-US"/>
              <a:t> de </a:t>
            </a:r>
            <a:r>
              <a:rPr lang="en-US" err="1"/>
              <a:t>casos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AIOps:</a:t>
            </a:r>
            <a:r>
              <a:rPr lang="en-US"/>
              <a:t> </a:t>
            </a:r>
            <a:r>
              <a:rPr lang="en-US" i="1"/>
              <a:t>Artificial Intelligence for IT Operations</a:t>
            </a:r>
            <a:r>
              <a:rPr lang="en-US"/>
              <a:t>, </a:t>
            </a:r>
            <a:r>
              <a:rPr lang="en-US" err="1"/>
              <a:t>uso</a:t>
            </a:r>
            <a:r>
              <a:rPr lang="en-US"/>
              <a:t> de IA para </a:t>
            </a:r>
            <a:r>
              <a:rPr lang="en-US" err="1"/>
              <a:t>monitorear</a:t>
            </a:r>
            <a:r>
              <a:rPr lang="en-US"/>
              <a:t>, </a:t>
            </a:r>
            <a:r>
              <a:rPr lang="en-US" err="1"/>
              <a:t>detectar</a:t>
            </a:r>
            <a:r>
              <a:rPr lang="en-US"/>
              <a:t> y resolver </a:t>
            </a:r>
            <a:r>
              <a:rPr lang="en-US" err="1"/>
              <a:t>problemas</a:t>
            </a:r>
            <a:r>
              <a:rPr lang="en-US"/>
              <a:t> de TI.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P1:</a:t>
            </a:r>
            <a:r>
              <a:rPr lang="en-US"/>
              <a:t> </a:t>
            </a:r>
            <a:r>
              <a:rPr lang="en-US" i="1"/>
              <a:t>Priority 1</a:t>
            </a:r>
            <a:r>
              <a:rPr lang="en-US"/>
              <a:t>, </a:t>
            </a:r>
            <a:r>
              <a:rPr lang="en-US" err="1"/>
              <a:t>incidente</a:t>
            </a:r>
            <a:r>
              <a:rPr lang="en-US"/>
              <a:t> de </a:t>
            </a:r>
            <a:r>
              <a:rPr lang="en-US" err="1"/>
              <a:t>máxima</a:t>
            </a:r>
            <a:r>
              <a:rPr lang="en-US"/>
              <a:t> </a:t>
            </a:r>
            <a:r>
              <a:rPr lang="en-US" err="1"/>
              <a:t>criticidad</a:t>
            </a:r>
            <a:r>
              <a:rPr lang="en-US"/>
              <a:t> con alto </a:t>
            </a:r>
            <a:r>
              <a:rPr lang="en-US" err="1"/>
              <a:t>impacto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negocio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SLA:</a:t>
            </a:r>
            <a:r>
              <a:rPr lang="en-US"/>
              <a:t> </a:t>
            </a:r>
            <a:r>
              <a:rPr lang="en-US" i="1"/>
              <a:t>Service Level Agreement</a:t>
            </a:r>
            <a:r>
              <a:rPr lang="en-US"/>
              <a:t>, </a:t>
            </a:r>
            <a:r>
              <a:rPr lang="en-US" err="1"/>
              <a:t>acuerdo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define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y </a:t>
            </a:r>
            <a:r>
              <a:rPr lang="en-US" err="1"/>
              <a:t>tiempos</a:t>
            </a:r>
            <a:r>
              <a:rPr lang="en-US"/>
              <a:t> de </a:t>
            </a:r>
            <a:r>
              <a:rPr lang="en-US" err="1"/>
              <a:t>servicio</a:t>
            </a:r>
            <a:r>
              <a:rPr lang="en-US"/>
              <a:t> </a:t>
            </a:r>
            <a:r>
              <a:rPr lang="en-US" err="1"/>
              <a:t>comprometidos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XLA:</a:t>
            </a:r>
            <a:r>
              <a:rPr lang="en-US"/>
              <a:t> </a:t>
            </a:r>
            <a:r>
              <a:rPr lang="en-US" i="1"/>
              <a:t>Experience Level Agreement</a:t>
            </a:r>
            <a:r>
              <a:rPr lang="en-US"/>
              <a:t>, </a:t>
            </a:r>
            <a:r>
              <a:rPr lang="en-US" err="1"/>
              <a:t>acuerdo</a:t>
            </a:r>
            <a:r>
              <a:rPr lang="en-US"/>
              <a:t> </a:t>
            </a:r>
            <a:r>
              <a:rPr lang="en-US" err="1"/>
              <a:t>enfocado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medir</a:t>
            </a:r>
            <a:r>
              <a:rPr lang="en-US"/>
              <a:t> la </a:t>
            </a:r>
            <a:r>
              <a:rPr lang="en-US" err="1"/>
              <a:t>experiencia</a:t>
            </a:r>
            <a:r>
              <a:rPr lang="en-US"/>
              <a:t> y </a:t>
            </a:r>
            <a:r>
              <a:rPr lang="en-US" err="1"/>
              <a:t>satisfacción</a:t>
            </a:r>
            <a:r>
              <a:rPr lang="en-US"/>
              <a:t> del </a:t>
            </a:r>
            <a:r>
              <a:rPr lang="en-US" err="1"/>
              <a:t>usuario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DEX:</a:t>
            </a:r>
            <a:r>
              <a:rPr lang="en-US"/>
              <a:t> </a:t>
            </a:r>
            <a:r>
              <a:rPr lang="en-US" i="1"/>
              <a:t>Digital Employee Experience</a:t>
            </a:r>
            <a:r>
              <a:rPr lang="en-US"/>
              <a:t>, </a:t>
            </a:r>
            <a:r>
              <a:rPr lang="en-US" err="1"/>
              <a:t>experiencia</a:t>
            </a:r>
            <a:r>
              <a:rPr lang="en-US"/>
              <a:t> digital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empleados</a:t>
            </a:r>
            <a:r>
              <a:rPr lang="en-US"/>
              <a:t> al usar </a:t>
            </a:r>
            <a:r>
              <a:rPr lang="en-US" err="1"/>
              <a:t>herramientas</a:t>
            </a:r>
            <a:r>
              <a:rPr lang="en-US"/>
              <a:t> y </a:t>
            </a:r>
            <a:r>
              <a:rPr lang="en-US" err="1"/>
              <a:t>servicios</a:t>
            </a:r>
            <a:r>
              <a:rPr lang="en-US"/>
              <a:t> </a:t>
            </a:r>
            <a:r>
              <a:rPr lang="en-US" err="1"/>
              <a:t>tecnológicos</a:t>
            </a:r>
            <a:r>
              <a:rPr lang="en-US"/>
              <a:t>.</a:t>
            </a:r>
            <a:endParaRPr lang="es-ES"/>
          </a:p>
          <a:p>
            <a:pPr marL="285750" indent="-285750"/>
            <a:r>
              <a:rPr lang="en-US" b="1"/>
              <a:t>Self-healing (</a:t>
            </a:r>
            <a:r>
              <a:rPr lang="en-US" b="1" err="1"/>
              <a:t>Autocuración</a:t>
            </a:r>
            <a:r>
              <a:rPr lang="en-US" b="1"/>
              <a:t>)</a:t>
            </a:r>
            <a:endParaRPr lang="en-US" b="1">
              <a:ea typeface="Calibri"/>
            </a:endParaRPr>
          </a:p>
          <a:p>
            <a:pPr marL="285750" indent="-285750"/>
            <a:r>
              <a:rPr lang="en-US"/>
              <a:t>UC (Underpinning Contract): </a:t>
            </a:r>
            <a:r>
              <a:rPr lang="en-US" b="1" err="1"/>
              <a:t>Contrato</a:t>
            </a:r>
            <a:r>
              <a:rPr lang="en-US" b="1"/>
              <a:t> de </a:t>
            </a:r>
            <a:r>
              <a:rPr lang="en-US" b="1" err="1"/>
              <a:t>Soporte</a:t>
            </a:r>
            <a:r>
              <a:rPr lang="en-US" b="1"/>
              <a:t> o </a:t>
            </a:r>
            <a:r>
              <a:rPr lang="en-US" b="1" err="1"/>
              <a:t>Contrato</a:t>
            </a:r>
            <a:r>
              <a:rPr lang="en-US" b="1"/>
              <a:t> de </a:t>
            </a:r>
            <a:r>
              <a:rPr lang="en-US" b="1" err="1"/>
              <a:t>Sustento</a:t>
            </a:r>
            <a:endParaRPr lang="en-US" err="1"/>
          </a:p>
          <a:p>
            <a:pPr marL="285750" indent="-285750"/>
            <a:r>
              <a:rPr lang="en-US"/>
              <a:t>OLA (Operational Level Agreement)</a:t>
            </a:r>
            <a:endParaRPr lang="en-US" b="1">
              <a:ea typeface="Calibri"/>
            </a:endParaRPr>
          </a:p>
          <a:p>
            <a:pPr marL="285750" indent="-285750"/>
            <a:endParaRPr lang="en-US" b="1">
              <a:ea typeface="Calibri"/>
            </a:endParaRPr>
          </a:p>
          <a:p>
            <a:pPr marL="285750" indent="-285750"/>
            <a:endParaRPr lang="en-US" b="1">
              <a:ea typeface="Calibri"/>
            </a:endParaRPr>
          </a:p>
          <a:p>
            <a:pPr marL="285750" indent="-285750">
              <a:buChar char="•"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1927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3"/>
              </a:rPr>
              <a:t>El swarming en una mesa de servicios se refiere a un modelo de soporte que utiliza la colaboración y la inteligencia colectiva para resolver problemas de manera más eficiente</a:t>
            </a:r>
            <a:endParaRPr lang="es-ES"/>
          </a:p>
          <a:p>
            <a:pPr>
              <a:buNone/>
            </a:pP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Moveworks</a:t>
            </a: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/>
              </a:rPr>
              <a:t>:</a:t>
            </a: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en una mesa de servicio se refiere a su capacidad para automatizar y mejorar la gestión de solicitudes de empleados. Al integrarse con sistemas empresariales existentes, Moveworks permite a los equipos de soporte ofrecer un soporte unificado y datos consistentes.</a:t>
            </a:r>
          </a:p>
          <a:p>
            <a:pPr>
              <a:buNone/>
            </a:pPr>
            <a:endParaRPr lang="en-US">
              <a:solidFill>
                <a:srgbClr val="191919"/>
              </a:solidFill>
              <a:highlight>
                <a:srgbClr val="F8F4F1"/>
              </a:highlight>
            </a:endParaRPr>
          </a:p>
          <a:p>
            <a:pPr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 P1: se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refiere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casi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siempre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a la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máxima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prioridad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un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problema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o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situación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que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exige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una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atención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inmediata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y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exhaustiva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porque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de no ser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así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las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consecuencias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pueden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ser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verdaderamente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catastróficas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>
              <a:buNone/>
            </a:pPr>
            <a:r>
              <a:rPr lang="en-US" b="1">
                <a:solidFill>
                  <a:srgbClr val="222222"/>
                </a:solidFill>
                <a:highlight>
                  <a:srgbClr val="FFFFFF"/>
                </a:highlight>
              </a:rPr>
              <a:t>Triage: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Evaluación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inicial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de un ticket para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determinar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su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prioridad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categoría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causa probable y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grupo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responsable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de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atenderlo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lang="en-US"/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IT knowledge discovery investments will grow as generative AI capabilities mature and service managers push to automate the manual process of creating knowledge articles.</a:t>
            </a:r>
            <a:endParaRPr lang="en-US"/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29955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ITSM: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de </a:t>
            </a:r>
            <a:r>
              <a:rPr lang="en-US" err="1"/>
              <a:t>Tecnologías</a:t>
            </a:r>
            <a:r>
              <a:rPr lang="en-US"/>
              <a:t> de la </a:t>
            </a:r>
            <a:r>
              <a:rPr lang="en-US" err="1"/>
              <a:t>Información.Disciplina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gestiona</a:t>
            </a:r>
            <a:r>
              <a:rPr lang="en-US"/>
              <a:t> la </a:t>
            </a:r>
            <a:r>
              <a:rPr lang="en-US" err="1"/>
              <a:t>entrega</a:t>
            </a:r>
            <a:r>
              <a:rPr lang="en-US"/>
              <a:t> y </a:t>
            </a:r>
            <a:r>
              <a:rPr lang="en-US" err="1"/>
              <a:t>mejora</a:t>
            </a:r>
            <a:r>
              <a:rPr lang="en-US"/>
              <a:t> continua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servicios</a:t>
            </a:r>
            <a:r>
              <a:rPr lang="en-US"/>
              <a:t> de TI para </a:t>
            </a:r>
            <a:r>
              <a:rPr lang="en-US" err="1"/>
              <a:t>generar</a:t>
            </a:r>
            <a:r>
              <a:rPr lang="en-US"/>
              <a:t> valor al </a:t>
            </a:r>
            <a:r>
              <a:rPr lang="en-US" err="1"/>
              <a:t>negocio</a:t>
            </a:r>
            <a:r>
              <a:rPr lang="en-US"/>
              <a:t> y a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usuarios</a:t>
            </a:r>
            <a:endParaRPr lang="en-US" err="1">
              <a:ea typeface="Calibri"/>
            </a:endParaRPr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221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/>
              <a:t>CAGR: Compound Annual Growth Rate</a:t>
            </a:r>
            <a:r>
              <a:rPr lang="en-US"/>
              <a:t>,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español</a:t>
            </a:r>
            <a:r>
              <a:rPr lang="en-US"/>
              <a:t> </a:t>
            </a:r>
            <a:r>
              <a:rPr lang="en-US" b="1"/>
              <a:t>Tasa de </a:t>
            </a:r>
            <a:r>
              <a:rPr lang="en-US" b="1" err="1"/>
              <a:t>Crecimiento</a:t>
            </a:r>
            <a:r>
              <a:rPr lang="en-US" b="1"/>
              <a:t> </a:t>
            </a:r>
            <a:r>
              <a:rPr lang="en-US" b="1" err="1"/>
              <a:t>Anual</a:t>
            </a:r>
            <a:r>
              <a:rPr lang="en-US" b="1"/>
              <a:t> </a:t>
            </a:r>
            <a:r>
              <a:rPr lang="en-US" b="1" err="1"/>
              <a:t>Compuesta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8514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Shift-Left: Cada punto de </a:t>
            </a:r>
            <a:r>
              <a:rPr lang="en-US" err="1"/>
              <a:t>defleccion</a:t>
            </a:r>
            <a:r>
              <a:rPr lang="en-US"/>
              <a:t> = </a:t>
            </a:r>
            <a:r>
              <a:rPr lang="en-US" err="1"/>
              <a:t>ahorro</a:t>
            </a:r>
            <a:r>
              <a:rPr lang="en-US"/>
              <a:t> </a:t>
            </a:r>
            <a:r>
              <a:rPr lang="en-US" err="1"/>
              <a:t>cuantificable</a:t>
            </a:r>
            <a:r>
              <a:rPr lang="en-US"/>
              <a:t> : </a:t>
            </a:r>
            <a:r>
              <a:rPr lang="en-US" err="1"/>
              <a:t>significa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caso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resuelve</a:t>
            </a:r>
            <a:r>
              <a:rPr lang="en-US"/>
              <a:t> antes de </a:t>
            </a:r>
            <a:r>
              <a:rPr lang="en-US" err="1"/>
              <a:t>llegar</a:t>
            </a:r>
            <a:r>
              <a:rPr lang="en-US"/>
              <a:t> a </a:t>
            </a:r>
            <a:r>
              <a:rPr lang="en-US" err="1"/>
              <a:t>niveles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costosos</a:t>
            </a:r>
            <a:r>
              <a:rPr lang="en-US"/>
              <a:t> genera un </a:t>
            </a:r>
            <a:r>
              <a:rPr lang="en-US" err="1"/>
              <a:t>ahorro</a:t>
            </a:r>
            <a:r>
              <a:rPr lang="en-US"/>
              <a:t> </a:t>
            </a:r>
            <a:r>
              <a:rPr lang="en-US" err="1"/>
              <a:t>medible</a:t>
            </a:r>
            <a:r>
              <a:rPr lang="en-US"/>
              <a:t> para la </a:t>
            </a:r>
            <a:r>
              <a:rPr lang="en-US" err="1"/>
              <a:t>organización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 b="1"/>
              <a:t>Shift-Left (</a:t>
            </a:r>
            <a:r>
              <a:rPr lang="en-US" b="1" err="1"/>
              <a:t>Desplazamiento</a:t>
            </a:r>
            <a:r>
              <a:rPr lang="en-US" b="1"/>
              <a:t> </a:t>
            </a:r>
            <a:r>
              <a:rPr lang="en-US" b="1" err="1"/>
              <a:t>hacia</a:t>
            </a:r>
            <a:r>
              <a:rPr lang="en-US" b="1"/>
              <a:t> la Izquierda):</a:t>
            </a:r>
            <a:r>
              <a:rPr lang="en-US"/>
              <a:t> </a:t>
            </a:r>
            <a:r>
              <a:rPr lang="en-US" err="1"/>
              <a:t>Estrategia</a:t>
            </a:r>
            <a:r>
              <a:rPr lang="en-US"/>
              <a:t> de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busca</a:t>
            </a:r>
            <a:r>
              <a:rPr lang="en-US"/>
              <a:t> resolver </a:t>
            </a:r>
            <a:r>
              <a:rPr lang="en-US" err="1"/>
              <a:t>incidentes</a:t>
            </a:r>
            <a:r>
              <a:rPr lang="en-US"/>
              <a:t> y solicitudes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cercanos</a:t>
            </a:r>
            <a:r>
              <a:rPr lang="en-US"/>
              <a:t> al </a:t>
            </a:r>
            <a:r>
              <a:rPr lang="en-US" err="1"/>
              <a:t>usuario</a:t>
            </a:r>
            <a:r>
              <a:rPr lang="en-US"/>
              <a:t> (</a:t>
            </a:r>
            <a:r>
              <a:rPr lang="en-US" err="1"/>
              <a:t>autoservicio</a:t>
            </a:r>
            <a:r>
              <a:rPr lang="en-US"/>
              <a:t>, base de </a:t>
            </a:r>
            <a:r>
              <a:rPr lang="en-US" err="1"/>
              <a:t>conocimiento</a:t>
            </a:r>
            <a:r>
              <a:rPr lang="en-US"/>
              <a:t>, chatbot o </a:t>
            </a:r>
            <a:r>
              <a:rPr lang="en-US" err="1"/>
              <a:t>soporte</a:t>
            </a:r>
            <a:r>
              <a:rPr lang="en-US"/>
              <a:t> N1), </a:t>
            </a:r>
            <a:r>
              <a:rPr lang="en-US" err="1"/>
              <a:t>evitando</a:t>
            </a:r>
            <a:r>
              <a:rPr lang="en-US"/>
              <a:t> </a:t>
            </a:r>
            <a:r>
              <a:rPr lang="en-US" err="1"/>
              <a:t>escalaciones</a:t>
            </a:r>
            <a:r>
              <a:rPr lang="en-US"/>
              <a:t> </a:t>
            </a:r>
            <a:r>
              <a:rPr lang="en-US" err="1"/>
              <a:t>innecesarias</a:t>
            </a:r>
            <a:r>
              <a:rPr lang="en-US"/>
              <a:t> y </a:t>
            </a:r>
            <a:r>
              <a:rPr lang="en-US" err="1"/>
              <a:t>reduciendo</a:t>
            </a:r>
            <a:r>
              <a:rPr lang="en-US"/>
              <a:t> </a:t>
            </a:r>
            <a:r>
              <a:rPr lang="en-US" err="1"/>
              <a:t>costos</a:t>
            </a:r>
            <a:r>
              <a:rPr lang="en-US"/>
              <a:t>, </a:t>
            </a:r>
            <a:r>
              <a:rPr lang="en-US" err="1"/>
              <a:t>tiempos</a:t>
            </a:r>
            <a:r>
              <a:rPr lang="en-US"/>
              <a:t> de </a:t>
            </a:r>
            <a:r>
              <a:rPr lang="en-US" err="1"/>
              <a:t>atención</a:t>
            </a:r>
            <a:r>
              <a:rPr lang="en-US"/>
              <a:t> y </a:t>
            </a:r>
            <a:r>
              <a:rPr lang="en-US" err="1"/>
              <a:t>esfuerzo</a:t>
            </a:r>
            <a:r>
              <a:rPr lang="en-US"/>
              <a:t> </a:t>
            </a:r>
            <a:r>
              <a:rPr lang="en-US" err="1"/>
              <a:t>operativo</a:t>
            </a:r>
            <a:r>
              <a:rPr lang="en-US"/>
              <a:t>.</a:t>
            </a:r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9575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5. Benchmarks de </a:t>
            </a:r>
            <a:r>
              <a:rPr lang="en-US" err="1"/>
              <a:t>Madurez</a:t>
            </a:r>
            <a:r>
              <a:rPr lang="en-US"/>
              <a:t> y </a:t>
            </a:r>
            <a:r>
              <a:rPr lang="en-US" err="1"/>
              <a:t>Métricas</a:t>
            </a:r>
            <a:r>
              <a:rPr lang="en-US"/>
              <a:t> de la Industria</a:t>
            </a:r>
            <a:endParaRPr lang="es-ES"/>
          </a:p>
          <a:p>
            <a:pPr>
              <a:buNone/>
            </a:pPr>
            <a:r>
              <a:rPr lang="en-US"/>
              <a:t>Estos benchmarks son el </a:t>
            </a:r>
            <a:r>
              <a:rPr lang="en-US" err="1"/>
              <a:t>insumo</a:t>
            </a:r>
            <a:r>
              <a:rPr lang="en-US"/>
              <a:t> </a:t>
            </a:r>
            <a:r>
              <a:rPr lang="en-US" err="1"/>
              <a:t>crítico</a:t>
            </a:r>
            <a:r>
              <a:rPr lang="en-US"/>
              <a:t> para el Framework de Assessment: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clasificar</a:t>
            </a:r>
            <a:r>
              <a:rPr lang="en-US"/>
              <a:t> </a:t>
            </a:r>
            <a:r>
              <a:rPr lang="en-US" err="1"/>
              <a:t>objetivamente</a:t>
            </a:r>
            <a:r>
              <a:rPr lang="en-US"/>
              <a:t> </a:t>
            </a:r>
            <a:r>
              <a:rPr lang="en-US" err="1"/>
              <a:t>cualquier</a:t>
            </a:r>
            <a:r>
              <a:rPr lang="en-US"/>
              <a:t> mesa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nivel</a:t>
            </a:r>
            <a:r>
              <a:rPr lang="en-US"/>
              <a:t> de </a:t>
            </a:r>
            <a:r>
              <a:rPr lang="en-US" err="1"/>
              <a:t>madurez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/>
              <a:t> </a:t>
            </a:r>
            <a:endParaRPr lang="es-ES"/>
          </a:p>
          <a:p>
            <a:pPr>
              <a:buNone/>
            </a:pPr>
            <a:r>
              <a:rPr lang="en-US" err="1"/>
              <a:t>Métrica</a:t>
            </a:r>
            <a:r>
              <a:rPr lang="en-US"/>
              <a:t>    </a:t>
            </a:r>
            <a:r>
              <a:rPr lang="en-US" err="1"/>
              <a:t>Promedio</a:t>
            </a:r>
            <a:r>
              <a:rPr lang="en-US"/>
              <a:t> Industria    World-Class / Best-in-Class    Fuente</a:t>
            </a:r>
            <a:endParaRPr lang="es-ES"/>
          </a:p>
          <a:p>
            <a:pPr>
              <a:buNone/>
            </a:pPr>
            <a:r>
              <a:rPr lang="en-US"/>
              <a:t>FCR (First Contact Resolution)    74%    ≥80%    SQM Group / HDI</a:t>
            </a:r>
            <a:endParaRPr lang="es-ES"/>
          </a:p>
          <a:p>
            <a:pPr>
              <a:buNone/>
            </a:pPr>
            <a:r>
              <a:rPr lang="en-US"/>
              <a:t>MTTR (Mean Time to Resolution)    8.85 horas    &lt;4 horas (bueno) / &lt;1 hora (world-class)    </a:t>
            </a:r>
            <a:r>
              <a:rPr lang="en-US" err="1"/>
              <a:t>MetricNet</a:t>
            </a:r>
            <a:r>
              <a:rPr lang="en-US"/>
              <a:t>/HDI</a:t>
            </a:r>
            <a:endParaRPr lang="es-ES"/>
          </a:p>
          <a:p>
            <a:pPr>
              <a:buNone/>
            </a:pPr>
            <a:r>
              <a:rPr lang="en-US"/>
              <a:t>CSAT    73–86% (</a:t>
            </a:r>
            <a:r>
              <a:rPr lang="en-US" err="1"/>
              <a:t>varía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período</a:t>
            </a:r>
            <a:r>
              <a:rPr lang="en-US"/>
              <a:t>)    ≥90%    HDI metrics / </a:t>
            </a:r>
            <a:r>
              <a:rPr lang="en-US" err="1"/>
              <a:t>HelpDeskFocus</a:t>
            </a:r>
            <a:endParaRPr lang="es-ES" err="1"/>
          </a:p>
          <a:p>
            <a:pPr>
              <a:buNone/>
            </a:pPr>
            <a:r>
              <a:rPr lang="en-US"/>
              <a:t>AHT (Average Handle Time)    6–8 min (</a:t>
            </a:r>
            <a:r>
              <a:rPr lang="en-US" err="1"/>
              <a:t>voz</a:t>
            </a:r>
            <a:r>
              <a:rPr lang="en-US"/>
              <a:t>)    &lt;7 min (</a:t>
            </a:r>
            <a:r>
              <a:rPr lang="en-US" err="1"/>
              <a:t>voz</a:t>
            </a:r>
            <a:r>
              <a:rPr lang="en-US"/>
              <a:t> world-class)    </a:t>
            </a:r>
            <a:r>
              <a:rPr lang="en-US" err="1"/>
              <a:t>IrisAgent</a:t>
            </a:r>
            <a:r>
              <a:rPr lang="en-US"/>
              <a:t> / HDI metrics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N0    USD 2    —    Giva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N1    USD 22–35    USD 15–18   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N3    USD 104    —    Giva</a:t>
            </a:r>
            <a:endParaRPr lang="es-ES"/>
          </a:p>
          <a:p>
            <a:pPr>
              <a:buNone/>
            </a:pPr>
            <a:r>
              <a:rPr lang="en-US"/>
              <a:t>Deflection / Ticket deflection rate    23%    40–60% (maduro) / 80–90% (</a:t>
            </a:r>
            <a:r>
              <a:rPr lang="en-US" err="1"/>
              <a:t>casos</a:t>
            </a:r>
            <a:r>
              <a:rPr lang="en-US"/>
              <a:t> </a:t>
            </a:r>
            <a:r>
              <a:rPr lang="en-US" err="1"/>
              <a:t>líderes</a:t>
            </a:r>
            <a:r>
              <a:rPr lang="en-US"/>
              <a:t>)    </a:t>
            </a:r>
            <a:r>
              <a:rPr lang="en-US" err="1"/>
              <a:t>servicedeskagents</a:t>
            </a:r>
            <a:r>
              <a:rPr lang="en-US"/>
              <a:t> /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Impacto GenAI </a:t>
            </a:r>
            <a:r>
              <a:rPr lang="en-US" err="1"/>
              <a:t>en</a:t>
            </a:r>
            <a:r>
              <a:rPr lang="en-US"/>
              <a:t> MTTR    -17.8% (SolarWinds) / -26.6% (</a:t>
            </a:r>
            <a:r>
              <a:rPr lang="en-US" err="1"/>
              <a:t>Freshservice</a:t>
            </a:r>
            <a:r>
              <a:rPr lang="en-US"/>
              <a:t>)    —    </a:t>
            </a:r>
            <a:r>
              <a:rPr lang="en-US" err="1"/>
              <a:t>Contentstack</a:t>
            </a:r>
            <a:r>
              <a:rPr lang="en-US"/>
              <a:t> ITSM / </a:t>
            </a:r>
            <a:r>
              <a:rPr lang="en-US" err="1"/>
              <a:t>Freshservice</a:t>
            </a:r>
            <a:r>
              <a:rPr lang="en-US"/>
              <a:t> benchmark</a:t>
            </a:r>
            <a:endParaRPr lang="es-ES"/>
          </a:p>
          <a:p>
            <a:pPr>
              <a:buNone/>
            </a:pPr>
            <a:r>
              <a:rPr lang="en-US"/>
              <a:t>Impacto KCS+IA </a:t>
            </a:r>
            <a:r>
              <a:rPr lang="en-US" err="1"/>
              <a:t>en</a:t>
            </a:r>
            <a:r>
              <a:rPr lang="en-US"/>
              <a:t> FCR    +5–7 puntos    —    SDI</a:t>
            </a:r>
            <a:endParaRPr lang="es-ES"/>
          </a:p>
          <a:p>
            <a:pPr>
              <a:buNone/>
            </a:pPr>
            <a:r>
              <a:rPr lang="en-US"/>
              <a:t>Impacto IA </a:t>
            </a:r>
            <a:r>
              <a:rPr lang="en-US" err="1"/>
              <a:t>en</a:t>
            </a:r>
            <a:r>
              <a:rPr lang="en-US"/>
              <a:t> CSAT    +15–22 pts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espera</a:t>
            </a:r>
            <a:r>
              <a:rPr lang="en-US"/>
              <a:t> &lt; 5 min    —    Stealth Agents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86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5.2 XLA en la Práctica: Del </a:t>
            </a:r>
            <a:r>
              <a:rPr lang="es-ES" b="1" err="1">
                <a:solidFill>
                  <a:schemeClr val="tx1"/>
                </a:solidFill>
              </a:rPr>
              <a:t>Hype</a:t>
            </a:r>
            <a:r>
              <a:rPr lang="es-ES" b="1">
                <a:solidFill>
                  <a:schemeClr val="tx1"/>
                </a:solidFill>
              </a:rPr>
              <a:t> a la Madurez (2025-2026)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El primer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global del </a:t>
            </a:r>
            <a:r>
              <a:rPr lang="en-US" b="1">
                <a:solidFill>
                  <a:schemeClr val="tx1"/>
                </a:solidFill>
              </a:rPr>
              <a:t>XLA Institute, "State of XLA 2025"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presentado</a:t>
            </a:r>
            <a:r>
              <a:rPr lang="en-US">
                <a:solidFill>
                  <a:schemeClr val="tx1"/>
                </a:solidFill>
              </a:rPr>
              <a:t> el 12 de </a:t>
            </a:r>
            <a:r>
              <a:rPr lang="en-US" err="1">
                <a:solidFill>
                  <a:schemeClr val="tx1"/>
                </a:solidFill>
              </a:rPr>
              <a:t>junio</a:t>
            </a:r>
            <a:r>
              <a:rPr lang="en-US">
                <a:solidFill>
                  <a:schemeClr val="tx1"/>
                </a:solidFill>
              </a:rPr>
              <a:t> de 2025, </a:t>
            </a:r>
            <a:r>
              <a:rPr lang="en-US" err="1">
                <a:solidFill>
                  <a:schemeClr val="tx1"/>
                </a:solidFill>
              </a:rPr>
              <a:t>marca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transición</a:t>
            </a:r>
            <a:r>
              <a:rPr lang="en-US">
                <a:solidFill>
                  <a:schemeClr val="tx1"/>
                </a:solidFill>
              </a:rPr>
              <a:t> de las XLA </a:t>
            </a:r>
            <a:r>
              <a:rPr lang="en-US" err="1">
                <a:solidFill>
                  <a:schemeClr val="tx1"/>
                </a:solidFill>
              </a:rPr>
              <a:t>desde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discurso</a:t>
            </a:r>
            <a:r>
              <a:rPr lang="en-US">
                <a:solidFill>
                  <a:schemeClr val="tx1"/>
                </a:solidFill>
              </a:rPr>
              <a:t> experimental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práctica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escalable</a:t>
            </a:r>
            <a:r>
              <a:rPr lang="en-US">
                <a:solidFill>
                  <a:schemeClr val="tx1"/>
                </a:solidFill>
              </a:rPr>
              <a:t>: el </a:t>
            </a:r>
            <a:r>
              <a:rPr lang="en-US" b="1">
                <a:solidFill>
                  <a:schemeClr val="tx1"/>
                </a:solidFill>
              </a:rPr>
              <a:t>68% de las </a:t>
            </a:r>
            <a:r>
              <a:rPr lang="en-US" b="1" err="1">
                <a:solidFill>
                  <a:schemeClr val="tx1"/>
                </a:solidFill>
              </a:rPr>
              <a:t>empresas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encuestadas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planea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implementar</a:t>
            </a:r>
            <a:r>
              <a:rPr lang="en-US" b="1">
                <a:solidFill>
                  <a:schemeClr val="tx1"/>
                </a:solidFill>
              </a:rPr>
              <a:t> XLAs </a:t>
            </a:r>
            <a:r>
              <a:rPr lang="en-US" b="1" err="1">
                <a:solidFill>
                  <a:schemeClr val="tx1"/>
                </a:solidFill>
              </a:rPr>
              <a:t>en</a:t>
            </a:r>
            <a:r>
              <a:rPr lang="en-US" b="1">
                <a:solidFill>
                  <a:schemeClr val="tx1"/>
                </a:solidFill>
              </a:rPr>
              <a:t> 2026</a:t>
            </a:r>
            <a:r>
              <a:rPr lang="en-US">
                <a:solidFill>
                  <a:schemeClr val="tx1"/>
                </a:solidFill>
              </a:rPr>
              <a:t> (</a:t>
            </a:r>
            <a:r>
              <a:rPr lang="en-US" err="1">
                <a:solidFill>
                  <a:schemeClr val="tx1"/>
                </a:solidFill>
              </a:rPr>
              <a:t>algunas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fuentes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citan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cifra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"</a:t>
            </a:r>
            <a:r>
              <a:rPr lang="en-US" err="1">
                <a:solidFill>
                  <a:schemeClr val="tx1"/>
                </a:solidFill>
              </a:rPr>
              <a:t>casi</a:t>
            </a:r>
            <a:r>
              <a:rPr lang="en-US">
                <a:solidFill>
                  <a:schemeClr val="tx1"/>
                </a:solidFill>
              </a:rPr>
              <a:t> 70%"), y </a:t>
            </a:r>
            <a:r>
              <a:rPr lang="en-US" err="1">
                <a:solidFill>
                  <a:schemeClr val="tx1"/>
                </a:solidFill>
              </a:rPr>
              <a:t>su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adopción</a:t>
            </a:r>
            <a:r>
              <a:rPr lang="en-US">
                <a:solidFill>
                  <a:schemeClr val="tx1"/>
                </a:solidFill>
              </a:rPr>
              <a:t> se </a:t>
            </a:r>
            <a:r>
              <a:rPr lang="en-US" err="1">
                <a:solidFill>
                  <a:schemeClr val="tx1"/>
                </a:solidFill>
              </a:rPr>
              <a:t>expande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rápidamente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más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allá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departamentos</a:t>
            </a:r>
            <a:r>
              <a:rPr lang="en-US">
                <a:solidFill>
                  <a:schemeClr val="tx1"/>
                </a:solidFill>
              </a:rPr>
              <a:t> de TI </a:t>
            </a:r>
            <a:r>
              <a:rPr lang="en-US" err="1">
                <a:solidFill>
                  <a:schemeClr val="tx1"/>
                </a:solidFill>
              </a:rPr>
              <a:t>tradicionales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salud</a:t>
            </a:r>
            <a:r>
              <a:rPr lang="en-US">
                <a:solidFill>
                  <a:schemeClr val="tx1"/>
                </a:solidFill>
              </a:rPr>
              <a:t>, RR.HH. y </a:t>
            </a:r>
            <a:r>
              <a:rPr lang="en-US" err="1">
                <a:solidFill>
                  <a:schemeClr val="tx1"/>
                </a:solidFill>
              </a:rPr>
              <a:t>finanzas</a:t>
            </a:r>
            <a:r>
              <a:rPr lang="en-US">
                <a:solidFill>
                  <a:schemeClr val="tx1"/>
                </a:solidFill>
              </a:rPr>
              <a:t> — con </a:t>
            </a:r>
            <a:r>
              <a:rPr lang="en-US" err="1">
                <a:solidFill>
                  <a:schemeClr val="tx1"/>
                </a:solidFill>
              </a:rPr>
              <a:t>Brasil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emergiendo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uno de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mercados </a:t>
            </a:r>
            <a:r>
              <a:rPr lang="en-US" err="1">
                <a:solidFill>
                  <a:schemeClr val="tx1"/>
                </a:solidFill>
              </a:rPr>
              <a:t>líderes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experiencia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 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Presswire</a:t>
            </a:r>
            <a:r>
              <a:rPr lang="en-US">
                <a:solidFill>
                  <a:schemeClr val="tx1"/>
                </a:solidFill>
              </a:rPr>
              <a:t>) (</a:t>
            </a:r>
            <a:r>
              <a:rPr lang="en-US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Emerce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El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introduce el </a:t>
            </a:r>
            <a:r>
              <a:rPr lang="en-US" b="1">
                <a:solidFill>
                  <a:schemeClr val="tx1"/>
                </a:solidFill>
              </a:rPr>
              <a:t>Dynamic Experience Management Framework (DEMF)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define dos </a:t>
            </a:r>
            <a:r>
              <a:rPr lang="en-US" err="1">
                <a:solidFill>
                  <a:schemeClr val="tx1"/>
                </a:solidFill>
              </a:rPr>
              <a:t>ejes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capacidad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creación</a:t>
            </a:r>
            <a:r>
              <a:rPr lang="en-US">
                <a:solidFill>
                  <a:schemeClr val="tx1"/>
                </a:solidFill>
              </a:rPr>
              <a:t> de valor </a:t>
            </a:r>
            <a:r>
              <a:rPr lang="en-US" err="1">
                <a:solidFill>
                  <a:schemeClr val="tx1"/>
                </a:solidFill>
              </a:rPr>
              <a:t>acumulativo</a:t>
            </a:r>
            <a:r>
              <a:rPr lang="en-US">
                <a:solidFill>
                  <a:schemeClr val="tx1"/>
                </a:solidFill>
              </a:rPr>
              <a:t> ("accretive value creation"). Entre sus </a:t>
            </a:r>
            <a:r>
              <a:rPr lang="en-US" err="1">
                <a:solidFill>
                  <a:schemeClr val="tx1"/>
                </a:solidFill>
              </a:rPr>
              <a:t>hallazgos</a:t>
            </a:r>
            <a:r>
              <a:rPr lang="en-US">
                <a:solidFill>
                  <a:schemeClr val="tx1"/>
                </a:solidFill>
              </a:rPr>
              <a:t>: las </a:t>
            </a:r>
            <a:r>
              <a:rPr lang="en-US" err="1">
                <a:solidFill>
                  <a:schemeClr val="tx1"/>
                </a:solidFill>
              </a:rPr>
              <a:t>organizaciones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exitosas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construyen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su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experiencia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alrededor</a:t>
            </a:r>
            <a:r>
              <a:rPr lang="en-US">
                <a:solidFill>
                  <a:schemeClr val="tx1"/>
                </a:solidFill>
              </a:rPr>
              <a:t> de personas (personas-based), la Digital Employee Experience (DEX) y las XLA </a:t>
            </a:r>
            <a:r>
              <a:rPr lang="en-US" err="1">
                <a:solidFill>
                  <a:schemeClr val="tx1"/>
                </a:solidFill>
              </a:rPr>
              <a:t>convergen</a:t>
            </a:r>
            <a:r>
              <a:rPr lang="en-US">
                <a:solidFill>
                  <a:schemeClr val="tx1"/>
                </a:solidFill>
              </a:rPr>
              <a:t> para </a:t>
            </a:r>
            <a:r>
              <a:rPr lang="en-US" err="1">
                <a:solidFill>
                  <a:schemeClr val="tx1"/>
                </a:solidFill>
              </a:rPr>
              <a:t>sostener</a:t>
            </a:r>
            <a:r>
              <a:rPr lang="en-US">
                <a:solidFill>
                  <a:schemeClr val="tx1"/>
                </a:solidFill>
              </a:rPr>
              <a:t> tanto a </a:t>
            </a:r>
            <a:r>
              <a:rPr lang="en-US" err="1">
                <a:solidFill>
                  <a:schemeClr val="tx1"/>
                </a:solidFill>
              </a:rPr>
              <a:t>empleados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resultados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negocio</a:t>
            </a:r>
            <a:r>
              <a:rPr lang="en-US">
                <a:solidFill>
                  <a:schemeClr val="tx1"/>
                </a:solidFill>
              </a:rPr>
              <a:t>, y las XLA </a:t>
            </a:r>
            <a:r>
              <a:rPr lang="en-US" err="1">
                <a:solidFill>
                  <a:schemeClr val="tx1"/>
                </a:solidFill>
              </a:rPr>
              <a:t>desplazan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foco</a:t>
            </a:r>
            <a:r>
              <a:rPr lang="en-US">
                <a:solidFill>
                  <a:schemeClr val="tx1"/>
                </a:solidFill>
              </a:rPr>
              <a:t> de la </a:t>
            </a:r>
            <a:r>
              <a:rPr lang="en-US" err="1">
                <a:solidFill>
                  <a:schemeClr val="tx1"/>
                </a:solidFill>
              </a:rPr>
              <a:t>resolución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reactiva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problemas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habilitación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proactiva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éxito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— Alan Nance, XLA Institute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6557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Las </a:t>
            </a:r>
            <a:r>
              <a:rPr lang="en-US" dirty="0" err="1">
                <a:solidFill>
                  <a:schemeClr val="tx1"/>
                </a:solidFill>
              </a:rPr>
              <a:t>siguientes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tendencias</a:t>
            </a:r>
            <a:r>
              <a:rPr lang="en-US" dirty="0">
                <a:solidFill>
                  <a:schemeClr val="tx1"/>
                </a:solidFill>
              </a:rPr>
              <a:t> son las </a:t>
            </a:r>
            <a:r>
              <a:rPr lang="en-US" dirty="0" err="1">
                <a:solidFill>
                  <a:schemeClr val="tx1"/>
                </a:solidFill>
              </a:rPr>
              <a:t>más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relevantes</a:t>
            </a:r>
            <a:r>
              <a:rPr lang="en-US" dirty="0">
                <a:solidFill>
                  <a:schemeClr val="tx1"/>
                </a:solidFill>
              </a:rPr>
              <a:t> para el </a:t>
            </a:r>
            <a:r>
              <a:rPr lang="en-US" dirty="0" err="1">
                <a:solidFill>
                  <a:schemeClr val="tx1"/>
                </a:solidFill>
              </a:rPr>
              <a:t>diseño</a:t>
            </a:r>
            <a:r>
              <a:rPr lang="en-US" dirty="0">
                <a:solidFill>
                  <a:schemeClr val="tx1"/>
                </a:solidFill>
              </a:rPr>
              <a:t> del </a:t>
            </a:r>
            <a:r>
              <a:rPr lang="en-US" dirty="0" err="1">
                <a:solidFill>
                  <a:schemeClr val="tx1"/>
                </a:solidFill>
              </a:rPr>
              <a:t>portafolio</a:t>
            </a:r>
            <a:r>
              <a:rPr lang="en-US" dirty="0">
                <a:solidFill>
                  <a:schemeClr val="tx1"/>
                </a:solidFill>
              </a:rPr>
              <a:t> Next Gen: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GenAI </a:t>
            </a:r>
            <a:r>
              <a:rPr lang="en-US" b="1" dirty="0" err="1">
                <a:solidFill>
                  <a:schemeClr val="tx1"/>
                </a:solidFill>
              </a:rPr>
              <a:t>como</a:t>
            </a:r>
            <a:r>
              <a:rPr lang="en-US" b="1" dirty="0">
                <a:solidFill>
                  <a:schemeClr val="tx1"/>
                </a:solidFill>
              </a:rPr>
              <a:t> table stakes:</a:t>
            </a:r>
            <a:r>
              <a:rPr lang="en-US" dirty="0">
                <a:solidFill>
                  <a:schemeClr val="tx1"/>
                </a:solidFill>
              </a:rPr>
              <a:t> Los </a:t>
            </a:r>
            <a:r>
              <a:rPr lang="en-US" dirty="0" err="1">
                <a:solidFill>
                  <a:schemeClr val="tx1"/>
                </a:solidFill>
              </a:rPr>
              <a:t>proveedores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que</a:t>
            </a:r>
            <a:r>
              <a:rPr lang="en-US" dirty="0">
                <a:solidFill>
                  <a:schemeClr val="tx1"/>
                </a:solidFill>
              </a:rPr>
              <a:t> no </a:t>
            </a:r>
            <a:r>
              <a:rPr lang="en-US" dirty="0" err="1">
                <a:solidFill>
                  <a:schemeClr val="tx1"/>
                </a:solidFill>
              </a:rPr>
              <a:t>tienen</a:t>
            </a:r>
            <a:r>
              <a:rPr lang="en-US" dirty="0">
                <a:solidFill>
                  <a:schemeClr val="tx1"/>
                </a:solidFill>
              </a:rPr>
              <a:t> GenAI </a:t>
            </a:r>
            <a:r>
              <a:rPr lang="en-US" dirty="0" err="1">
                <a:solidFill>
                  <a:schemeClr val="tx1"/>
                </a:solidFill>
              </a:rPr>
              <a:t>quedan</a:t>
            </a:r>
            <a:r>
              <a:rPr lang="en-US" dirty="0">
                <a:solidFill>
                  <a:schemeClr val="tx1"/>
                </a:solidFill>
              </a:rPr>
              <a:t> fuera de </a:t>
            </a:r>
            <a:r>
              <a:rPr lang="en-US" dirty="0" err="1">
                <a:solidFill>
                  <a:schemeClr val="tx1"/>
                </a:solidFill>
              </a:rPr>
              <a:t>conversación</a:t>
            </a:r>
            <a:r>
              <a:rPr lang="en-US" dirty="0">
                <a:solidFill>
                  <a:schemeClr val="tx1"/>
                </a:solidFill>
              </a:rPr>
              <a:t>. El </a:t>
            </a:r>
            <a:r>
              <a:rPr lang="en-US" dirty="0" err="1">
                <a:solidFill>
                  <a:schemeClr val="tx1"/>
                </a:solidFill>
              </a:rPr>
              <a:t>impacto</a:t>
            </a:r>
            <a:r>
              <a:rPr lang="en-US" dirty="0">
                <a:solidFill>
                  <a:schemeClr val="tx1"/>
                </a:solidFill>
              </a:rPr>
              <a:t> es </a:t>
            </a:r>
            <a:r>
              <a:rPr lang="en-US" dirty="0" err="1">
                <a:solidFill>
                  <a:schemeClr val="tx1"/>
                </a:solidFill>
              </a:rPr>
              <a:t>medible</a:t>
            </a:r>
            <a:r>
              <a:rPr lang="en-US" dirty="0">
                <a:solidFill>
                  <a:schemeClr val="tx1"/>
                </a:solidFill>
              </a:rPr>
              <a:t>: -26.6%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MTTR, +34.6%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resolución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Freshservice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</a:t>
            </a:r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benchmark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Agentic AI </a:t>
            </a:r>
            <a:r>
              <a:rPr lang="en-US" b="1" dirty="0" err="1">
                <a:solidFill>
                  <a:schemeClr val="tx1"/>
                </a:solidFill>
              </a:rPr>
              <a:t>como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ventaja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competitiva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 La </a:t>
            </a:r>
            <a:r>
              <a:rPr lang="en-US" dirty="0" err="1">
                <a:solidFill>
                  <a:schemeClr val="tx1"/>
                </a:solidFill>
              </a:rPr>
              <a:t>distinción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crítica</a:t>
            </a:r>
            <a:r>
              <a:rPr lang="en-US" dirty="0">
                <a:solidFill>
                  <a:schemeClr val="tx1"/>
                </a:solidFill>
              </a:rPr>
              <a:t>: las </a:t>
            </a:r>
            <a:r>
              <a:rPr lang="en-US" dirty="0" err="1">
                <a:solidFill>
                  <a:schemeClr val="tx1"/>
                </a:solidFill>
              </a:rPr>
              <a:t>herramientas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anteriores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respondían</a:t>
            </a:r>
            <a:r>
              <a:rPr lang="en-US" dirty="0">
                <a:solidFill>
                  <a:schemeClr val="tx1"/>
                </a:solidFill>
              </a:rPr>
              <a:t> a </a:t>
            </a:r>
            <a:r>
              <a:rPr lang="en-US" i="1" dirty="0">
                <a:solidFill>
                  <a:schemeClr val="tx1"/>
                </a:solidFill>
              </a:rPr>
              <a:t>prompts</a:t>
            </a:r>
            <a:r>
              <a:rPr lang="en-US" dirty="0">
                <a:solidFill>
                  <a:schemeClr val="tx1"/>
                </a:solidFill>
              </a:rPr>
              <a:t>; </a:t>
            </a:r>
            <a:r>
              <a:rPr lang="en-US" dirty="0" err="1">
                <a:solidFill>
                  <a:schemeClr val="tx1"/>
                </a:solidFill>
              </a:rPr>
              <a:t>los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sistemas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agénticos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persiguen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objetivos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mantienen</a:t>
            </a:r>
            <a:r>
              <a:rPr lang="en-US" dirty="0">
                <a:solidFill>
                  <a:schemeClr val="tx1"/>
                </a:solidFill>
              </a:rPr>
              <a:t> memoria y </a:t>
            </a:r>
            <a:r>
              <a:rPr lang="en-US" dirty="0" err="1">
                <a:solidFill>
                  <a:schemeClr val="tx1"/>
                </a:solidFill>
              </a:rPr>
              <a:t>ejecutan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flujos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multipaso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Ivanti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KCS </a:t>
            </a:r>
            <a:r>
              <a:rPr lang="en-US" b="1" dirty="0" err="1">
                <a:solidFill>
                  <a:schemeClr val="tx1"/>
                </a:solidFill>
              </a:rPr>
              <a:t>como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prerrequisito</a:t>
            </a:r>
            <a:r>
              <a:rPr lang="en-US" b="1" dirty="0">
                <a:solidFill>
                  <a:schemeClr val="tx1"/>
                </a:solidFill>
              </a:rPr>
              <a:t> para la IA:</a:t>
            </a:r>
            <a:r>
              <a:rPr lang="en-US" dirty="0">
                <a:solidFill>
                  <a:schemeClr val="tx1"/>
                </a:solidFill>
              </a:rPr>
              <a:t> "Los </a:t>
            </a:r>
            <a:r>
              <a:rPr lang="en-US" dirty="0" err="1">
                <a:solidFill>
                  <a:schemeClr val="tx1"/>
                </a:solidFill>
              </a:rPr>
              <a:t>datos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validados</a:t>
            </a:r>
            <a:r>
              <a:rPr lang="en-US" dirty="0">
                <a:solidFill>
                  <a:schemeClr val="tx1"/>
                </a:solidFill>
              </a:rPr>
              <a:t> y demand-driven </a:t>
            </a:r>
            <a:r>
              <a:rPr lang="en-US" dirty="0" err="1">
                <a:solidFill>
                  <a:schemeClr val="tx1"/>
                </a:solidFill>
              </a:rPr>
              <a:t>previenen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alucinaciones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construyen</a:t>
            </a:r>
            <a:r>
              <a:rPr lang="en-US" dirty="0">
                <a:solidFill>
                  <a:schemeClr val="tx1"/>
                </a:solidFill>
              </a:rPr>
              <a:t> confianza del </a:t>
            </a:r>
            <a:r>
              <a:rPr lang="en-US" dirty="0" err="1">
                <a:solidFill>
                  <a:schemeClr val="tx1"/>
                </a:solidFill>
              </a:rPr>
              <a:t>usuario</a:t>
            </a:r>
            <a:r>
              <a:rPr lang="en-US" dirty="0">
                <a:solidFill>
                  <a:schemeClr val="tx1"/>
                </a:solidFill>
              </a:rPr>
              <a:t>. KCS es un </a:t>
            </a:r>
            <a:r>
              <a:rPr lang="en-US" dirty="0" err="1">
                <a:solidFill>
                  <a:schemeClr val="tx1"/>
                </a:solidFill>
              </a:rPr>
              <a:t>sistema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operativo</a:t>
            </a:r>
            <a:r>
              <a:rPr lang="en-US" dirty="0">
                <a:solidFill>
                  <a:schemeClr val="tx1"/>
                </a:solidFill>
              </a:rPr>
              <a:t> tanto para </a:t>
            </a:r>
            <a:r>
              <a:rPr lang="en-US" dirty="0" err="1">
                <a:solidFill>
                  <a:schemeClr val="tx1"/>
                </a:solidFill>
              </a:rPr>
              <a:t>agentes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humanos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como</a:t>
            </a:r>
            <a:r>
              <a:rPr lang="en-US" dirty="0">
                <a:solidFill>
                  <a:schemeClr val="tx1"/>
                </a:solidFill>
              </a:rPr>
              <a:t> de IA" (</a:t>
            </a:r>
            <a:r>
              <a:rPr lang="en-US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Consortium for Service Innovation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Shift-left con </a:t>
            </a:r>
            <a:r>
              <a:rPr lang="en-US" b="1" dirty="0" err="1">
                <a:solidFill>
                  <a:schemeClr val="tx1"/>
                </a:solidFill>
              </a:rPr>
              <a:t>datos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 El </a:t>
            </a:r>
            <a:r>
              <a:rPr lang="en-US" dirty="0" err="1">
                <a:solidFill>
                  <a:schemeClr val="tx1"/>
                </a:solidFill>
              </a:rPr>
              <a:t>costo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pasa</a:t>
            </a:r>
            <a:r>
              <a:rPr lang="en-US" dirty="0">
                <a:solidFill>
                  <a:schemeClr val="tx1"/>
                </a:solidFill>
              </a:rPr>
              <a:t> de USD 104 (N3) a USD 2 (N0). Cada punto de </a:t>
            </a:r>
            <a:r>
              <a:rPr lang="en-US" dirty="0" err="1">
                <a:solidFill>
                  <a:schemeClr val="tx1"/>
                </a:solidFill>
              </a:rPr>
              <a:t>deflección</a:t>
            </a:r>
            <a:r>
              <a:rPr lang="en-US" dirty="0">
                <a:solidFill>
                  <a:schemeClr val="tx1"/>
                </a:solidFill>
              </a:rPr>
              <a:t> genera un </a:t>
            </a:r>
            <a:r>
              <a:rPr lang="en-US" dirty="0" err="1">
                <a:solidFill>
                  <a:schemeClr val="tx1"/>
                </a:solidFill>
              </a:rPr>
              <a:t>ahorro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cuantificable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Giva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De SLA a outcomes:</a:t>
            </a:r>
            <a:r>
              <a:rPr lang="en-US" dirty="0">
                <a:solidFill>
                  <a:schemeClr val="tx1"/>
                </a:solidFill>
              </a:rPr>
              <a:t> TCS propone </a:t>
            </a:r>
            <a:r>
              <a:rPr lang="en-US" dirty="0" err="1">
                <a:solidFill>
                  <a:schemeClr val="tx1"/>
                </a:solidFill>
              </a:rPr>
              <a:t>precios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basados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outcomes; la </a:t>
            </a:r>
            <a:r>
              <a:rPr lang="en-US" dirty="0" err="1">
                <a:solidFill>
                  <a:schemeClr val="tx1"/>
                </a:solidFill>
              </a:rPr>
              <a:t>industria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migra</a:t>
            </a:r>
            <a:r>
              <a:rPr lang="en-US" dirty="0">
                <a:solidFill>
                  <a:schemeClr val="tx1"/>
                </a:solidFill>
              </a:rPr>
              <a:t> de "</a:t>
            </a:r>
            <a:r>
              <a:rPr lang="en-US" dirty="0" err="1">
                <a:solidFill>
                  <a:schemeClr val="tx1"/>
                </a:solidFill>
              </a:rPr>
              <a:t>gestionar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esfuerzo</a:t>
            </a:r>
            <a:r>
              <a:rPr lang="en-US" dirty="0">
                <a:solidFill>
                  <a:schemeClr val="tx1"/>
                </a:solidFill>
              </a:rPr>
              <a:t>" a "</a:t>
            </a:r>
            <a:r>
              <a:rPr lang="en-US" dirty="0" err="1">
                <a:solidFill>
                  <a:schemeClr val="tx1"/>
                </a:solidFill>
              </a:rPr>
              <a:t>orquestar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resultados</a:t>
            </a:r>
            <a:r>
              <a:rPr lang="en-US" dirty="0">
                <a:solidFill>
                  <a:schemeClr val="tx1"/>
                </a:solidFill>
              </a:rPr>
              <a:t>" (</a:t>
            </a:r>
            <a:r>
              <a:rPr lang="en-US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 err="1">
                <a:solidFill>
                  <a:schemeClr val="tx1"/>
                </a:solidFill>
              </a:rPr>
              <a:t>Observabilidad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como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diferenciador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 La mesa </a:t>
            </a:r>
            <a:r>
              <a:rPr lang="en-US" dirty="0" err="1">
                <a:solidFill>
                  <a:schemeClr val="tx1"/>
                </a:solidFill>
              </a:rPr>
              <a:t>que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detecta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resuelve</a:t>
            </a:r>
            <a:r>
              <a:rPr lang="en-US" dirty="0">
                <a:solidFill>
                  <a:schemeClr val="tx1"/>
                </a:solidFill>
              </a:rPr>
              <a:t> antes del </a:t>
            </a:r>
            <a:r>
              <a:rPr lang="en-US" dirty="0" err="1">
                <a:solidFill>
                  <a:schemeClr val="tx1"/>
                </a:solidFill>
              </a:rPr>
              <a:t>reporte</a:t>
            </a:r>
            <a:r>
              <a:rPr lang="en-US" dirty="0">
                <a:solidFill>
                  <a:schemeClr val="tx1"/>
                </a:solidFill>
              </a:rPr>
              <a:t> del </a:t>
            </a:r>
            <a:r>
              <a:rPr lang="en-US" dirty="0" err="1">
                <a:solidFill>
                  <a:schemeClr val="tx1"/>
                </a:solidFill>
              </a:rPr>
              <a:t>usuario</a:t>
            </a:r>
            <a:r>
              <a:rPr lang="en-US" dirty="0">
                <a:solidFill>
                  <a:schemeClr val="tx1"/>
                </a:solidFill>
              </a:rPr>
              <a:t> se </a:t>
            </a:r>
            <a:r>
              <a:rPr lang="en-US" dirty="0" err="1">
                <a:solidFill>
                  <a:schemeClr val="tx1"/>
                </a:solidFill>
              </a:rPr>
              <a:t>vuelve</a:t>
            </a:r>
            <a:r>
              <a:rPr lang="en-US" dirty="0">
                <a:solidFill>
                  <a:schemeClr val="tx1"/>
                </a:solidFill>
              </a:rPr>
              <a:t> invisible para el </a:t>
            </a:r>
            <a:r>
              <a:rPr lang="en-US" dirty="0" err="1">
                <a:solidFill>
                  <a:schemeClr val="tx1"/>
                </a:solidFill>
              </a:rPr>
              <a:t>negocio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el </a:t>
            </a:r>
            <a:r>
              <a:rPr lang="en-US" dirty="0" err="1">
                <a:solidFill>
                  <a:schemeClr val="tx1"/>
                </a:solidFill>
              </a:rPr>
              <a:t>mejor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sentido</a:t>
            </a:r>
            <a:r>
              <a:rPr lang="en-US" dirty="0">
                <a:solidFill>
                  <a:schemeClr val="tx1"/>
                </a:solidFill>
              </a:rPr>
              <a:t> del </a:t>
            </a:r>
            <a:r>
              <a:rPr lang="en-US" dirty="0" err="1">
                <a:solidFill>
                  <a:schemeClr val="tx1"/>
                </a:solidFill>
              </a:rPr>
              <a:t>término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ServiceNow whitepaper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Agentic AI: del </a:t>
            </a:r>
            <a:r>
              <a:rPr lang="en-US" b="1" dirty="0" err="1">
                <a:solidFill>
                  <a:schemeClr val="tx1"/>
                </a:solidFill>
              </a:rPr>
              <a:t>experimento</a:t>
            </a:r>
            <a:r>
              <a:rPr lang="en-US" b="1" dirty="0">
                <a:solidFill>
                  <a:schemeClr val="tx1"/>
                </a:solidFill>
              </a:rPr>
              <a:t> a </a:t>
            </a:r>
            <a:r>
              <a:rPr lang="en-US" b="1" dirty="0" err="1">
                <a:solidFill>
                  <a:schemeClr val="tx1"/>
                </a:solidFill>
              </a:rPr>
              <a:t>producción</a:t>
            </a:r>
            <a:r>
              <a:rPr lang="en-US" b="1" dirty="0">
                <a:solidFill>
                  <a:schemeClr val="tx1"/>
                </a:solidFill>
              </a:rPr>
              <a:t> (con </a:t>
            </a:r>
            <a:r>
              <a:rPr lang="en-US" b="1" dirty="0" err="1">
                <a:solidFill>
                  <a:schemeClr val="tx1"/>
                </a:solidFill>
              </a:rPr>
              <a:t>matices</a:t>
            </a:r>
            <a:r>
              <a:rPr lang="en-US" b="1" dirty="0">
                <a:solidFill>
                  <a:schemeClr val="tx1"/>
                </a:solidFill>
              </a:rPr>
              <a:t>).</a:t>
            </a:r>
            <a:r>
              <a:rPr lang="en-US" dirty="0">
                <a:solidFill>
                  <a:schemeClr val="tx1"/>
                </a:solidFill>
              </a:rPr>
              <a:t> El </a:t>
            </a:r>
            <a:r>
              <a:rPr lang="en-US" dirty="0" err="1">
                <a:solidFill>
                  <a:schemeClr val="tx1"/>
                </a:solidFill>
              </a:rPr>
              <a:t>año</a:t>
            </a:r>
            <a:r>
              <a:rPr lang="en-US" dirty="0">
                <a:solidFill>
                  <a:schemeClr val="tx1"/>
                </a:solidFill>
              </a:rPr>
              <a:t> 2025-2026 </a:t>
            </a:r>
            <a:r>
              <a:rPr lang="en-US" dirty="0" err="1">
                <a:solidFill>
                  <a:schemeClr val="tx1"/>
                </a:solidFill>
              </a:rPr>
              <a:t>confirma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que</a:t>
            </a:r>
            <a:r>
              <a:rPr lang="en-US" dirty="0">
                <a:solidFill>
                  <a:schemeClr val="tx1"/>
                </a:solidFill>
              </a:rPr>
              <a:t> la IA </a:t>
            </a:r>
            <a:r>
              <a:rPr lang="en-US" dirty="0" err="1">
                <a:solidFill>
                  <a:schemeClr val="tx1"/>
                </a:solidFill>
              </a:rPr>
              <a:t>agéntica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dejó</a:t>
            </a:r>
            <a:r>
              <a:rPr lang="en-US" dirty="0">
                <a:solidFill>
                  <a:schemeClr val="tx1"/>
                </a:solidFill>
              </a:rPr>
              <a:t> de ser un </a:t>
            </a:r>
            <a:r>
              <a:rPr lang="en-US" dirty="0" err="1">
                <a:solidFill>
                  <a:schemeClr val="tx1"/>
                </a:solidFill>
              </a:rPr>
              <a:t>experimento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laboratorio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pero</a:t>
            </a:r>
            <a:r>
              <a:rPr lang="en-US" dirty="0">
                <a:solidFill>
                  <a:schemeClr val="tx1"/>
                </a:solidFill>
              </a:rPr>
              <a:t> la </a:t>
            </a:r>
            <a:r>
              <a:rPr lang="en-US" dirty="0" err="1">
                <a:solidFill>
                  <a:schemeClr val="tx1"/>
                </a:solidFill>
              </a:rPr>
              <a:t>brecha</a:t>
            </a:r>
            <a:r>
              <a:rPr lang="en-US" dirty="0">
                <a:solidFill>
                  <a:schemeClr val="tx1"/>
                </a:solidFill>
              </a:rPr>
              <a:t> entre </a:t>
            </a:r>
            <a:r>
              <a:rPr lang="en-US" dirty="0" err="1">
                <a:solidFill>
                  <a:schemeClr val="tx1"/>
                </a:solidFill>
              </a:rPr>
              <a:t>adopción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madurez</a:t>
            </a:r>
            <a:r>
              <a:rPr lang="en-US" dirty="0">
                <a:solidFill>
                  <a:schemeClr val="tx1"/>
                </a:solidFill>
              </a:rPr>
              <a:t> real </a:t>
            </a:r>
            <a:r>
              <a:rPr lang="en-US" dirty="0" err="1">
                <a:solidFill>
                  <a:schemeClr val="tx1"/>
                </a:solidFill>
              </a:rPr>
              <a:t>sigue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siendo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amplia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es-ES" dirty="0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2824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D8B2-9732-A649-535B-DED2F192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1B9EA2-8A21-87A2-16A2-5B7E0C58A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463CB2-28C0-10A1-80DC-9310CE29C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Las </a:t>
            </a:r>
            <a:r>
              <a:rPr lang="en-US" dirty="0" err="1">
                <a:solidFill>
                  <a:schemeClr val="tx1"/>
                </a:solidFill>
              </a:rPr>
              <a:t>siguientes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tendencias</a:t>
            </a:r>
            <a:r>
              <a:rPr lang="en-US" dirty="0">
                <a:solidFill>
                  <a:schemeClr val="tx1"/>
                </a:solidFill>
              </a:rPr>
              <a:t> son las </a:t>
            </a:r>
            <a:r>
              <a:rPr lang="en-US" dirty="0" err="1">
                <a:solidFill>
                  <a:schemeClr val="tx1"/>
                </a:solidFill>
              </a:rPr>
              <a:t>más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relevantes</a:t>
            </a:r>
            <a:r>
              <a:rPr lang="en-US" dirty="0">
                <a:solidFill>
                  <a:schemeClr val="tx1"/>
                </a:solidFill>
              </a:rPr>
              <a:t> para el </a:t>
            </a:r>
            <a:r>
              <a:rPr lang="en-US" dirty="0" err="1">
                <a:solidFill>
                  <a:schemeClr val="tx1"/>
                </a:solidFill>
              </a:rPr>
              <a:t>diseño</a:t>
            </a:r>
            <a:r>
              <a:rPr lang="en-US" dirty="0">
                <a:solidFill>
                  <a:schemeClr val="tx1"/>
                </a:solidFill>
              </a:rPr>
              <a:t> del </a:t>
            </a:r>
            <a:r>
              <a:rPr lang="en-US" dirty="0" err="1">
                <a:solidFill>
                  <a:schemeClr val="tx1"/>
                </a:solidFill>
              </a:rPr>
              <a:t>portafolio</a:t>
            </a:r>
            <a:r>
              <a:rPr lang="en-US" dirty="0">
                <a:solidFill>
                  <a:schemeClr val="tx1"/>
                </a:solidFill>
              </a:rPr>
              <a:t> Next Gen: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GenAI </a:t>
            </a:r>
            <a:r>
              <a:rPr lang="en-US" b="1" dirty="0" err="1">
                <a:solidFill>
                  <a:schemeClr val="tx1"/>
                </a:solidFill>
              </a:rPr>
              <a:t>como</a:t>
            </a:r>
            <a:r>
              <a:rPr lang="en-US" b="1" dirty="0">
                <a:solidFill>
                  <a:schemeClr val="tx1"/>
                </a:solidFill>
              </a:rPr>
              <a:t> table stakes:</a:t>
            </a:r>
            <a:r>
              <a:rPr lang="en-US" dirty="0">
                <a:solidFill>
                  <a:schemeClr val="tx1"/>
                </a:solidFill>
              </a:rPr>
              <a:t> Los </a:t>
            </a:r>
            <a:r>
              <a:rPr lang="en-US" dirty="0" err="1">
                <a:solidFill>
                  <a:schemeClr val="tx1"/>
                </a:solidFill>
              </a:rPr>
              <a:t>proveedores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que</a:t>
            </a:r>
            <a:r>
              <a:rPr lang="en-US" dirty="0">
                <a:solidFill>
                  <a:schemeClr val="tx1"/>
                </a:solidFill>
              </a:rPr>
              <a:t> no </a:t>
            </a:r>
            <a:r>
              <a:rPr lang="en-US" dirty="0" err="1">
                <a:solidFill>
                  <a:schemeClr val="tx1"/>
                </a:solidFill>
              </a:rPr>
              <a:t>tienen</a:t>
            </a:r>
            <a:r>
              <a:rPr lang="en-US" dirty="0">
                <a:solidFill>
                  <a:schemeClr val="tx1"/>
                </a:solidFill>
              </a:rPr>
              <a:t> GenAI </a:t>
            </a:r>
            <a:r>
              <a:rPr lang="en-US" dirty="0" err="1">
                <a:solidFill>
                  <a:schemeClr val="tx1"/>
                </a:solidFill>
              </a:rPr>
              <a:t>quedan</a:t>
            </a:r>
            <a:r>
              <a:rPr lang="en-US" dirty="0">
                <a:solidFill>
                  <a:schemeClr val="tx1"/>
                </a:solidFill>
              </a:rPr>
              <a:t> fuera de </a:t>
            </a:r>
            <a:r>
              <a:rPr lang="en-US" dirty="0" err="1">
                <a:solidFill>
                  <a:schemeClr val="tx1"/>
                </a:solidFill>
              </a:rPr>
              <a:t>conversación</a:t>
            </a:r>
            <a:r>
              <a:rPr lang="en-US" dirty="0">
                <a:solidFill>
                  <a:schemeClr val="tx1"/>
                </a:solidFill>
              </a:rPr>
              <a:t>. El </a:t>
            </a:r>
            <a:r>
              <a:rPr lang="en-US" dirty="0" err="1">
                <a:solidFill>
                  <a:schemeClr val="tx1"/>
                </a:solidFill>
              </a:rPr>
              <a:t>impacto</a:t>
            </a:r>
            <a:r>
              <a:rPr lang="en-US" dirty="0">
                <a:solidFill>
                  <a:schemeClr val="tx1"/>
                </a:solidFill>
              </a:rPr>
              <a:t> es </a:t>
            </a:r>
            <a:r>
              <a:rPr lang="en-US" dirty="0" err="1">
                <a:solidFill>
                  <a:schemeClr val="tx1"/>
                </a:solidFill>
              </a:rPr>
              <a:t>medible</a:t>
            </a:r>
            <a:r>
              <a:rPr lang="en-US" dirty="0">
                <a:solidFill>
                  <a:schemeClr val="tx1"/>
                </a:solidFill>
              </a:rPr>
              <a:t>: -26.6%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MTTR, +34.6%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resolución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Freshservice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</a:t>
            </a:r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benchmark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Agentic AI </a:t>
            </a:r>
            <a:r>
              <a:rPr lang="en-US" b="1" dirty="0" err="1">
                <a:solidFill>
                  <a:schemeClr val="tx1"/>
                </a:solidFill>
              </a:rPr>
              <a:t>como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ventaja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competitiva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 La </a:t>
            </a:r>
            <a:r>
              <a:rPr lang="en-US" dirty="0" err="1">
                <a:solidFill>
                  <a:schemeClr val="tx1"/>
                </a:solidFill>
              </a:rPr>
              <a:t>distinción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crítica</a:t>
            </a:r>
            <a:r>
              <a:rPr lang="en-US" dirty="0">
                <a:solidFill>
                  <a:schemeClr val="tx1"/>
                </a:solidFill>
              </a:rPr>
              <a:t>: las </a:t>
            </a:r>
            <a:r>
              <a:rPr lang="en-US" dirty="0" err="1">
                <a:solidFill>
                  <a:schemeClr val="tx1"/>
                </a:solidFill>
              </a:rPr>
              <a:t>herramientas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anteriores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respondían</a:t>
            </a:r>
            <a:r>
              <a:rPr lang="en-US" dirty="0">
                <a:solidFill>
                  <a:schemeClr val="tx1"/>
                </a:solidFill>
              </a:rPr>
              <a:t> a </a:t>
            </a:r>
            <a:r>
              <a:rPr lang="en-US" i="1" dirty="0">
                <a:solidFill>
                  <a:schemeClr val="tx1"/>
                </a:solidFill>
              </a:rPr>
              <a:t>prompts</a:t>
            </a:r>
            <a:r>
              <a:rPr lang="en-US" dirty="0">
                <a:solidFill>
                  <a:schemeClr val="tx1"/>
                </a:solidFill>
              </a:rPr>
              <a:t>; </a:t>
            </a:r>
            <a:r>
              <a:rPr lang="en-US" dirty="0" err="1">
                <a:solidFill>
                  <a:schemeClr val="tx1"/>
                </a:solidFill>
              </a:rPr>
              <a:t>los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sistemas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agénticos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persiguen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objetivos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mantienen</a:t>
            </a:r>
            <a:r>
              <a:rPr lang="en-US" dirty="0">
                <a:solidFill>
                  <a:schemeClr val="tx1"/>
                </a:solidFill>
              </a:rPr>
              <a:t> memoria y </a:t>
            </a:r>
            <a:r>
              <a:rPr lang="en-US" dirty="0" err="1">
                <a:solidFill>
                  <a:schemeClr val="tx1"/>
                </a:solidFill>
              </a:rPr>
              <a:t>ejecutan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flujos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multipaso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Ivanti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KCS </a:t>
            </a:r>
            <a:r>
              <a:rPr lang="en-US" b="1" dirty="0" err="1">
                <a:solidFill>
                  <a:schemeClr val="tx1"/>
                </a:solidFill>
              </a:rPr>
              <a:t>como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prerrequisito</a:t>
            </a:r>
            <a:r>
              <a:rPr lang="en-US" b="1" dirty="0">
                <a:solidFill>
                  <a:schemeClr val="tx1"/>
                </a:solidFill>
              </a:rPr>
              <a:t> para la IA:</a:t>
            </a:r>
            <a:r>
              <a:rPr lang="en-US" dirty="0">
                <a:solidFill>
                  <a:schemeClr val="tx1"/>
                </a:solidFill>
              </a:rPr>
              <a:t> "Los </a:t>
            </a:r>
            <a:r>
              <a:rPr lang="en-US" dirty="0" err="1">
                <a:solidFill>
                  <a:schemeClr val="tx1"/>
                </a:solidFill>
              </a:rPr>
              <a:t>datos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validados</a:t>
            </a:r>
            <a:r>
              <a:rPr lang="en-US" dirty="0">
                <a:solidFill>
                  <a:schemeClr val="tx1"/>
                </a:solidFill>
              </a:rPr>
              <a:t> y demand-driven </a:t>
            </a:r>
            <a:r>
              <a:rPr lang="en-US" dirty="0" err="1">
                <a:solidFill>
                  <a:schemeClr val="tx1"/>
                </a:solidFill>
              </a:rPr>
              <a:t>previenen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alucinaciones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construyen</a:t>
            </a:r>
            <a:r>
              <a:rPr lang="en-US" dirty="0">
                <a:solidFill>
                  <a:schemeClr val="tx1"/>
                </a:solidFill>
              </a:rPr>
              <a:t> confianza del </a:t>
            </a:r>
            <a:r>
              <a:rPr lang="en-US" dirty="0" err="1">
                <a:solidFill>
                  <a:schemeClr val="tx1"/>
                </a:solidFill>
              </a:rPr>
              <a:t>usuario</a:t>
            </a:r>
            <a:r>
              <a:rPr lang="en-US" dirty="0">
                <a:solidFill>
                  <a:schemeClr val="tx1"/>
                </a:solidFill>
              </a:rPr>
              <a:t>. KCS es un </a:t>
            </a:r>
            <a:r>
              <a:rPr lang="en-US" dirty="0" err="1">
                <a:solidFill>
                  <a:schemeClr val="tx1"/>
                </a:solidFill>
              </a:rPr>
              <a:t>sistema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operativo</a:t>
            </a:r>
            <a:r>
              <a:rPr lang="en-US" dirty="0">
                <a:solidFill>
                  <a:schemeClr val="tx1"/>
                </a:solidFill>
              </a:rPr>
              <a:t> tanto para </a:t>
            </a:r>
            <a:r>
              <a:rPr lang="en-US" dirty="0" err="1">
                <a:solidFill>
                  <a:schemeClr val="tx1"/>
                </a:solidFill>
              </a:rPr>
              <a:t>agentes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humanos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como</a:t>
            </a:r>
            <a:r>
              <a:rPr lang="en-US" dirty="0">
                <a:solidFill>
                  <a:schemeClr val="tx1"/>
                </a:solidFill>
              </a:rPr>
              <a:t> de IA" (</a:t>
            </a:r>
            <a:r>
              <a:rPr lang="en-US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Consortium for Service Innovation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Shift-left con </a:t>
            </a:r>
            <a:r>
              <a:rPr lang="en-US" b="1" dirty="0" err="1">
                <a:solidFill>
                  <a:schemeClr val="tx1"/>
                </a:solidFill>
              </a:rPr>
              <a:t>datos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 El </a:t>
            </a:r>
            <a:r>
              <a:rPr lang="en-US" dirty="0" err="1">
                <a:solidFill>
                  <a:schemeClr val="tx1"/>
                </a:solidFill>
              </a:rPr>
              <a:t>costo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pasa</a:t>
            </a:r>
            <a:r>
              <a:rPr lang="en-US" dirty="0">
                <a:solidFill>
                  <a:schemeClr val="tx1"/>
                </a:solidFill>
              </a:rPr>
              <a:t> de USD 104 (N3) a USD 2 (N0). Cada punto de </a:t>
            </a:r>
            <a:r>
              <a:rPr lang="en-US" dirty="0" err="1">
                <a:solidFill>
                  <a:schemeClr val="tx1"/>
                </a:solidFill>
              </a:rPr>
              <a:t>deflección</a:t>
            </a:r>
            <a:r>
              <a:rPr lang="en-US" dirty="0">
                <a:solidFill>
                  <a:schemeClr val="tx1"/>
                </a:solidFill>
              </a:rPr>
              <a:t> genera un </a:t>
            </a:r>
            <a:r>
              <a:rPr lang="en-US" dirty="0" err="1">
                <a:solidFill>
                  <a:schemeClr val="tx1"/>
                </a:solidFill>
              </a:rPr>
              <a:t>ahorro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cuantificable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Giva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De SLA a outcomes:</a:t>
            </a:r>
            <a:r>
              <a:rPr lang="en-US" dirty="0">
                <a:solidFill>
                  <a:schemeClr val="tx1"/>
                </a:solidFill>
              </a:rPr>
              <a:t> TCS propone </a:t>
            </a:r>
            <a:r>
              <a:rPr lang="en-US" dirty="0" err="1">
                <a:solidFill>
                  <a:schemeClr val="tx1"/>
                </a:solidFill>
              </a:rPr>
              <a:t>precios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basados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outcomes; la </a:t>
            </a:r>
            <a:r>
              <a:rPr lang="en-US" dirty="0" err="1">
                <a:solidFill>
                  <a:schemeClr val="tx1"/>
                </a:solidFill>
              </a:rPr>
              <a:t>industria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migra</a:t>
            </a:r>
            <a:r>
              <a:rPr lang="en-US" dirty="0">
                <a:solidFill>
                  <a:schemeClr val="tx1"/>
                </a:solidFill>
              </a:rPr>
              <a:t> de "</a:t>
            </a:r>
            <a:r>
              <a:rPr lang="en-US" dirty="0" err="1">
                <a:solidFill>
                  <a:schemeClr val="tx1"/>
                </a:solidFill>
              </a:rPr>
              <a:t>gestionar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esfuerzo</a:t>
            </a:r>
            <a:r>
              <a:rPr lang="en-US" dirty="0">
                <a:solidFill>
                  <a:schemeClr val="tx1"/>
                </a:solidFill>
              </a:rPr>
              <a:t>" a "</a:t>
            </a:r>
            <a:r>
              <a:rPr lang="en-US" dirty="0" err="1">
                <a:solidFill>
                  <a:schemeClr val="tx1"/>
                </a:solidFill>
              </a:rPr>
              <a:t>orquestar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resultados</a:t>
            </a:r>
            <a:r>
              <a:rPr lang="en-US" dirty="0">
                <a:solidFill>
                  <a:schemeClr val="tx1"/>
                </a:solidFill>
              </a:rPr>
              <a:t>" (</a:t>
            </a:r>
            <a:r>
              <a:rPr lang="en-US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 err="1">
                <a:solidFill>
                  <a:schemeClr val="tx1"/>
                </a:solidFill>
              </a:rPr>
              <a:t>Observabilidad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como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diferenciador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 La mesa </a:t>
            </a:r>
            <a:r>
              <a:rPr lang="en-US" dirty="0" err="1">
                <a:solidFill>
                  <a:schemeClr val="tx1"/>
                </a:solidFill>
              </a:rPr>
              <a:t>que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detecta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resuelve</a:t>
            </a:r>
            <a:r>
              <a:rPr lang="en-US" dirty="0">
                <a:solidFill>
                  <a:schemeClr val="tx1"/>
                </a:solidFill>
              </a:rPr>
              <a:t> antes del </a:t>
            </a:r>
            <a:r>
              <a:rPr lang="en-US" dirty="0" err="1">
                <a:solidFill>
                  <a:schemeClr val="tx1"/>
                </a:solidFill>
              </a:rPr>
              <a:t>reporte</a:t>
            </a:r>
            <a:r>
              <a:rPr lang="en-US" dirty="0">
                <a:solidFill>
                  <a:schemeClr val="tx1"/>
                </a:solidFill>
              </a:rPr>
              <a:t> del </a:t>
            </a:r>
            <a:r>
              <a:rPr lang="en-US" dirty="0" err="1">
                <a:solidFill>
                  <a:schemeClr val="tx1"/>
                </a:solidFill>
              </a:rPr>
              <a:t>usuario</a:t>
            </a:r>
            <a:r>
              <a:rPr lang="en-US" dirty="0">
                <a:solidFill>
                  <a:schemeClr val="tx1"/>
                </a:solidFill>
              </a:rPr>
              <a:t> se </a:t>
            </a:r>
            <a:r>
              <a:rPr lang="en-US" dirty="0" err="1">
                <a:solidFill>
                  <a:schemeClr val="tx1"/>
                </a:solidFill>
              </a:rPr>
              <a:t>vuelve</a:t>
            </a:r>
            <a:r>
              <a:rPr lang="en-US" dirty="0">
                <a:solidFill>
                  <a:schemeClr val="tx1"/>
                </a:solidFill>
              </a:rPr>
              <a:t> invisible para el </a:t>
            </a:r>
            <a:r>
              <a:rPr lang="en-US" dirty="0" err="1">
                <a:solidFill>
                  <a:schemeClr val="tx1"/>
                </a:solidFill>
              </a:rPr>
              <a:t>negocio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el </a:t>
            </a:r>
            <a:r>
              <a:rPr lang="en-US" dirty="0" err="1">
                <a:solidFill>
                  <a:schemeClr val="tx1"/>
                </a:solidFill>
              </a:rPr>
              <a:t>mejor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sentido</a:t>
            </a:r>
            <a:r>
              <a:rPr lang="en-US" dirty="0">
                <a:solidFill>
                  <a:schemeClr val="tx1"/>
                </a:solidFill>
              </a:rPr>
              <a:t> del </a:t>
            </a:r>
            <a:r>
              <a:rPr lang="en-US" dirty="0" err="1">
                <a:solidFill>
                  <a:schemeClr val="tx1"/>
                </a:solidFill>
              </a:rPr>
              <a:t>término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ServiceNow whitepaper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1"/>
                </a:solidFill>
              </a:rPr>
              <a:t>Agentic AI: del </a:t>
            </a:r>
            <a:r>
              <a:rPr lang="en-US" b="1" dirty="0" err="1">
                <a:solidFill>
                  <a:schemeClr val="tx1"/>
                </a:solidFill>
              </a:rPr>
              <a:t>experimento</a:t>
            </a:r>
            <a:r>
              <a:rPr lang="en-US" b="1" dirty="0">
                <a:solidFill>
                  <a:schemeClr val="tx1"/>
                </a:solidFill>
              </a:rPr>
              <a:t> a </a:t>
            </a:r>
            <a:r>
              <a:rPr lang="en-US" b="1" dirty="0" err="1">
                <a:solidFill>
                  <a:schemeClr val="tx1"/>
                </a:solidFill>
              </a:rPr>
              <a:t>producción</a:t>
            </a:r>
            <a:r>
              <a:rPr lang="en-US" b="1" dirty="0">
                <a:solidFill>
                  <a:schemeClr val="tx1"/>
                </a:solidFill>
              </a:rPr>
              <a:t> (con </a:t>
            </a:r>
            <a:r>
              <a:rPr lang="en-US" b="1" dirty="0" err="1">
                <a:solidFill>
                  <a:schemeClr val="tx1"/>
                </a:solidFill>
              </a:rPr>
              <a:t>matices</a:t>
            </a:r>
            <a:r>
              <a:rPr lang="en-US" b="1" dirty="0">
                <a:solidFill>
                  <a:schemeClr val="tx1"/>
                </a:solidFill>
              </a:rPr>
              <a:t>).</a:t>
            </a:r>
            <a:r>
              <a:rPr lang="en-US" dirty="0">
                <a:solidFill>
                  <a:schemeClr val="tx1"/>
                </a:solidFill>
              </a:rPr>
              <a:t> El </a:t>
            </a:r>
            <a:r>
              <a:rPr lang="en-US" dirty="0" err="1">
                <a:solidFill>
                  <a:schemeClr val="tx1"/>
                </a:solidFill>
              </a:rPr>
              <a:t>año</a:t>
            </a:r>
            <a:r>
              <a:rPr lang="en-US" dirty="0">
                <a:solidFill>
                  <a:schemeClr val="tx1"/>
                </a:solidFill>
              </a:rPr>
              <a:t> 2025-2026 </a:t>
            </a:r>
            <a:r>
              <a:rPr lang="en-US" dirty="0" err="1">
                <a:solidFill>
                  <a:schemeClr val="tx1"/>
                </a:solidFill>
              </a:rPr>
              <a:t>confirma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que</a:t>
            </a:r>
            <a:r>
              <a:rPr lang="en-US" dirty="0">
                <a:solidFill>
                  <a:schemeClr val="tx1"/>
                </a:solidFill>
              </a:rPr>
              <a:t> la IA </a:t>
            </a:r>
            <a:r>
              <a:rPr lang="en-US" dirty="0" err="1">
                <a:solidFill>
                  <a:schemeClr val="tx1"/>
                </a:solidFill>
              </a:rPr>
              <a:t>agéntica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dejó</a:t>
            </a:r>
            <a:r>
              <a:rPr lang="en-US" dirty="0">
                <a:solidFill>
                  <a:schemeClr val="tx1"/>
                </a:solidFill>
              </a:rPr>
              <a:t> de ser un </a:t>
            </a:r>
            <a:r>
              <a:rPr lang="en-US" dirty="0" err="1">
                <a:solidFill>
                  <a:schemeClr val="tx1"/>
                </a:solidFill>
              </a:rPr>
              <a:t>experimento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laboratorio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pero</a:t>
            </a:r>
            <a:r>
              <a:rPr lang="en-US" dirty="0">
                <a:solidFill>
                  <a:schemeClr val="tx1"/>
                </a:solidFill>
              </a:rPr>
              <a:t> la </a:t>
            </a:r>
            <a:r>
              <a:rPr lang="en-US" dirty="0" err="1">
                <a:solidFill>
                  <a:schemeClr val="tx1"/>
                </a:solidFill>
              </a:rPr>
              <a:t>brecha</a:t>
            </a:r>
            <a:r>
              <a:rPr lang="en-US" dirty="0">
                <a:solidFill>
                  <a:schemeClr val="tx1"/>
                </a:solidFill>
              </a:rPr>
              <a:t> entre </a:t>
            </a:r>
            <a:r>
              <a:rPr lang="en-US" dirty="0" err="1">
                <a:solidFill>
                  <a:schemeClr val="tx1"/>
                </a:solidFill>
              </a:rPr>
              <a:t>adopción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madurez</a:t>
            </a:r>
            <a:r>
              <a:rPr lang="en-US" dirty="0">
                <a:solidFill>
                  <a:schemeClr val="tx1"/>
                </a:solidFill>
              </a:rPr>
              <a:t> real </a:t>
            </a:r>
            <a:r>
              <a:rPr lang="en-US" dirty="0" err="1">
                <a:solidFill>
                  <a:schemeClr val="tx1"/>
                </a:solidFill>
              </a:rPr>
              <a:t>sigue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siendo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amplia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es-ES" dirty="0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33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 b="1"/>
              <a:t>SFC:</a:t>
            </a:r>
            <a:r>
              <a:rPr lang="en-US"/>
              <a:t> </a:t>
            </a:r>
            <a:r>
              <a:rPr lang="en-US" err="1"/>
              <a:t>Superintendencia</a:t>
            </a:r>
            <a:r>
              <a:rPr lang="en-US"/>
              <a:t> Financiera de Colombia</a:t>
            </a:r>
            <a:endParaRPr lang="es-ES"/>
          </a:p>
          <a:p>
            <a:pPr marL="171450" indent="-171450"/>
            <a:r>
              <a:rPr lang="en-US" b="1" err="1"/>
              <a:t>SOX:</a:t>
            </a:r>
            <a:r>
              <a:rPr lang="en-US" err="1"/>
              <a:t>Sarbanes-Oxley</a:t>
            </a:r>
            <a:r>
              <a:rPr lang="en-US"/>
              <a:t> Act, Ley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establece</a:t>
            </a:r>
            <a:r>
              <a:rPr lang="en-US"/>
              <a:t> </a:t>
            </a:r>
            <a:r>
              <a:rPr lang="en-US" err="1"/>
              <a:t>controles</a:t>
            </a:r>
            <a:r>
              <a:rPr lang="en-US"/>
              <a:t> para </a:t>
            </a:r>
            <a:r>
              <a:rPr lang="en-US" err="1"/>
              <a:t>garantizar</a:t>
            </a:r>
            <a:r>
              <a:rPr lang="en-US"/>
              <a:t> la </a:t>
            </a:r>
            <a:r>
              <a:rPr lang="en-US" err="1"/>
              <a:t>transparencia</a:t>
            </a:r>
            <a:r>
              <a:rPr lang="en-US"/>
              <a:t> y la </a:t>
            </a:r>
            <a:r>
              <a:rPr lang="en-US" err="1"/>
              <a:t>integridad</a:t>
            </a:r>
            <a:r>
              <a:rPr lang="en-US"/>
              <a:t> de la </a:t>
            </a:r>
            <a:r>
              <a:rPr lang="en-US" err="1"/>
              <a:t>información</a:t>
            </a:r>
            <a:r>
              <a:rPr lang="en-US"/>
              <a:t> </a:t>
            </a:r>
            <a:r>
              <a:rPr lang="en-US" err="1"/>
              <a:t>financiera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BCP (</a:t>
            </a:r>
            <a:r>
              <a:rPr lang="en-US"/>
              <a:t>Business Continuity Plan / Plan de </a:t>
            </a:r>
            <a:r>
              <a:rPr lang="en-US" err="1"/>
              <a:t>Continuidad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 b="1"/>
              <a:t>):</a:t>
            </a:r>
            <a:r>
              <a:rPr lang="en-US"/>
              <a:t> Plan para </a:t>
            </a:r>
            <a:r>
              <a:rPr lang="en-US" err="1"/>
              <a:t>mantener</a:t>
            </a:r>
            <a:r>
              <a:rPr lang="en-US"/>
              <a:t> </a:t>
            </a:r>
            <a:r>
              <a:rPr lang="en-US" err="1"/>
              <a:t>operativas</a:t>
            </a:r>
            <a:r>
              <a:rPr lang="en-US"/>
              <a:t> las </a:t>
            </a:r>
            <a:r>
              <a:rPr lang="en-US" err="1"/>
              <a:t>funciones</a:t>
            </a:r>
            <a:r>
              <a:rPr lang="en-US"/>
              <a:t> </a:t>
            </a:r>
            <a:r>
              <a:rPr lang="en-US" err="1"/>
              <a:t>críticas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durante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interrupción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DRP (</a:t>
            </a:r>
            <a:r>
              <a:rPr lang="en-US"/>
              <a:t>Disaster Recovery Plan / Plan de </a:t>
            </a:r>
            <a:r>
              <a:rPr lang="en-US" err="1"/>
              <a:t>Recuperación</a:t>
            </a:r>
            <a:r>
              <a:rPr lang="en-US"/>
              <a:t> ante </a:t>
            </a:r>
            <a:r>
              <a:rPr lang="en-US" err="1"/>
              <a:t>Desastres</a:t>
            </a:r>
            <a:r>
              <a:rPr lang="en-US" b="1"/>
              <a:t>):</a:t>
            </a:r>
            <a:r>
              <a:rPr lang="en-US"/>
              <a:t> Plan para </a:t>
            </a:r>
            <a:r>
              <a:rPr lang="en-US" err="1"/>
              <a:t>recuperar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, </a:t>
            </a:r>
            <a:r>
              <a:rPr lang="en-US" err="1"/>
              <a:t>aplicaciones</a:t>
            </a:r>
            <a:r>
              <a:rPr lang="en-US"/>
              <a:t> y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después</a:t>
            </a:r>
            <a:r>
              <a:rPr lang="en-US"/>
              <a:t> de un </a:t>
            </a:r>
            <a:r>
              <a:rPr lang="en-US" err="1"/>
              <a:t>desastre</a:t>
            </a:r>
            <a:r>
              <a:rPr lang="en-US"/>
              <a:t> o </a:t>
            </a:r>
            <a:r>
              <a:rPr lang="en-US" err="1"/>
              <a:t>incidente</a:t>
            </a:r>
            <a:r>
              <a:rPr lang="en-US"/>
              <a:t> grave.</a:t>
            </a:r>
          </a:p>
          <a:p>
            <a:pPr marL="171450" indent="-171450"/>
            <a:r>
              <a:rPr lang="en-US" b="1"/>
              <a:t>BCP (</a:t>
            </a:r>
            <a:r>
              <a:rPr lang="en-US" err="1"/>
              <a:t>Continuar</a:t>
            </a:r>
            <a:r>
              <a:rPr lang="en-US"/>
              <a:t> operando</a:t>
            </a:r>
            <a:r>
              <a:rPr lang="en-US" b="1"/>
              <a:t>)/DRP (</a:t>
            </a:r>
            <a:r>
              <a:rPr lang="en-US" err="1"/>
              <a:t>Recuperar</a:t>
            </a:r>
            <a:r>
              <a:rPr lang="en-US"/>
              <a:t> la </a:t>
            </a:r>
            <a:r>
              <a:rPr lang="en-US" err="1"/>
              <a:t>tecnología</a:t>
            </a:r>
            <a:r>
              <a:rPr lang="en-US" b="1"/>
              <a:t>):</a:t>
            </a:r>
            <a:r>
              <a:rPr lang="en-US"/>
              <a:t> </a:t>
            </a:r>
            <a:r>
              <a:rPr lang="en-US" err="1"/>
              <a:t>Estrategia</a:t>
            </a:r>
            <a:r>
              <a:rPr lang="en-US"/>
              <a:t> integral para </a:t>
            </a:r>
            <a:r>
              <a:rPr lang="en-US" err="1"/>
              <a:t>asegurar</a:t>
            </a:r>
            <a:r>
              <a:rPr lang="en-US"/>
              <a:t> la </a:t>
            </a:r>
            <a:r>
              <a:rPr lang="en-US" err="1"/>
              <a:t>continuidad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/>
              <a:t> y la </a:t>
            </a:r>
            <a:r>
              <a:rPr lang="en-US" err="1"/>
              <a:t>recuperación</a:t>
            </a:r>
            <a:r>
              <a:rPr lang="en-US"/>
              <a:t> </a:t>
            </a:r>
            <a:r>
              <a:rPr lang="en-US" err="1"/>
              <a:t>tecnológica</a:t>
            </a:r>
            <a:r>
              <a:rPr lang="en-US"/>
              <a:t> ante </a:t>
            </a:r>
            <a:r>
              <a:rPr lang="en-US" err="1"/>
              <a:t>contingencias</a:t>
            </a:r>
            <a:r>
              <a:rPr lang="en-US"/>
              <a:t>.</a:t>
            </a:r>
          </a:p>
          <a:p>
            <a:pPr marL="158750" indent="0">
              <a:buNone/>
            </a:pPr>
            <a:endParaRPr lang="en-US"/>
          </a:p>
          <a:p>
            <a:r>
              <a:rPr lang="en-US" err="1"/>
              <a:t>Superintendencia</a:t>
            </a:r>
            <a:r>
              <a:rPr lang="en-US"/>
              <a:t> Financiera de Colombia: </a:t>
            </a:r>
            <a:r>
              <a:rPr lang="en-US">
                <a:hlinkClick r:id="rId3"/>
              </a:rPr>
              <a:t>https://www.superfinanciera.gov.co</a:t>
            </a:r>
            <a:r>
              <a:rPr lang="en-US"/>
              <a:t> </a:t>
            </a:r>
            <a:r>
              <a:rPr lang="en-US">
                <a:hlinkClick r:id="rId4"/>
              </a:rPr>
              <a:t>[</a:t>
            </a:r>
            <a:r>
              <a:rPr lang="en-US" err="1">
                <a:hlinkClick r:id="rId4"/>
              </a:rPr>
              <a:t>superfinan</a:t>
            </a:r>
            <a:r>
              <a:rPr lang="en-US">
                <a:hlinkClick r:id="rId4"/>
              </a:rPr>
              <a:t>...era.gov.co]</a:t>
            </a:r>
            <a:endParaRPr lang="es-ES"/>
          </a:p>
          <a:p>
            <a:r>
              <a:rPr lang="en-US"/>
              <a:t>Open Finance Colombia (</a:t>
            </a:r>
            <a:r>
              <a:rPr lang="en-US" err="1"/>
              <a:t>Decreto</a:t>
            </a:r>
            <a:r>
              <a:rPr lang="en-US"/>
              <a:t> 0368 de 2026): </a:t>
            </a:r>
            <a:r>
              <a:rPr lang="en-US" err="1"/>
              <a:t>Superfinanciera</a:t>
            </a:r>
            <a:r>
              <a:rPr lang="en-US"/>
              <a:t> </a:t>
            </a:r>
            <a:r>
              <a:rPr lang="en-US">
                <a:hlinkClick r:id="rId5"/>
              </a:rPr>
              <a:t>[</a:t>
            </a:r>
            <a:r>
              <a:rPr lang="en-US" err="1">
                <a:hlinkClick r:id="rId5"/>
              </a:rPr>
              <a:t>superfinan</a:t>
            </a:r>
            <a:r>
              <a:rPr lang="en-US">
                <a:hlinkClick r:id="rId5"/>
              </a:rPr>
              <a:t>...era.gov.co]</a:t>
            </a:r>
            <a:endParaRPr lang="en-US"/>
          </a:p>
          <a:p>
            <a:r>
              <a:rPr lang="en-US"/>
              <a:t>ISO/IEC 42001: </a:t>
            </a:r>
            <a:r>
              <a:rPr lang="en-US">
                <a:hlinkClick r:id="rId6"/>
              </a:rPr>
              <a:t>https://www.iso.org/standard/42001</a:t>
            </a:r>
            <a:r>
              <a:rPr lang="en-US"/>
              <a:t> </a:t>
            </a:r>
            <a:r>
              <a:rPr lang="en-US">
                <a:hlinkClick r:id="rId6"/>
              </a:rPr>
              <a:t>[iso.org]</a:t>
            </a:r>
            <a:endParaRPr lang="es-ES"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FFF808-ACEF-2361-1CA3-572FE1F7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4F58280E-B152-1D20-4F1F-53D2B38A4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9ABC4265-F82C-DCAF-EF13-37509099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0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67EC8EC-D924-C2EE-6728-9FB1E1ED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ECBE2C72-F4BB-EA9C-2B3B-14D52AD3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465F5D9-09F0-AF07-4782-69A853439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47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err="1"/>
              <a:t>Ref</a:t>
            </a:r>
            <a:r>
              <a:rPr lang="es-ES"/>
              <a:t>: </a:t>
            </a:r>
            <a:r>
              <a:rPr lang="es-ES">
                <a:hlinkClick r:id="rId3"/>
              </a:rPr>
              <a:t>7.5.5 Mesa de Servicios</a:t>
            </a:r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 err="1"/>
              <a:t>Ref</a:t>
            </a:r>
            <a:r>
              <a:rPr lang="es-ES"/>
              <a:t>: </a:t>
            </a:r>
            <a:r>
              <a:rPr lang="es-ES">
                <a:hlinkClick r:id="rId4"/>
              </a:rPr>
              <a:t>¿Qué es un software de mesa de ayuda? | Guía sobre el software de mesa de ayuda - ManageEngine ServiceDesk Plus</a:t>
            </a:r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 err="1"/>
              <a:t>Ref</a:t>
            </a:r>
            <a:r>
              <a:rPr lang="es-ES"/>
              <a:t>: </a:t>
            </a:r>
            <a:r>
              <a:rPr lang="es-ES">
                <a:hlinkClick r:id="rId5"/>
              </a:rPr>
              <a:t>(8) Mesa de servicio inteligente: cómo la Inteligencia Artificial está transformando el soporte al cliente | LinkedIn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6441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</a:rPr>
              <a:t>De ITSM a DPSM:</a:t>
            </a:r>
            <a:r>
              <a:rPr lang="en-US">
                <a:solidFill>
                  <a:schemeClr val="tx1"/>
                </a:solidFill>
              </a:rPr>
              <a:t> ITIL (Version 5) </a:t>
            </a:r>
            <a:r>
              <a:rPr lang="en-US" err="1">
                <a:solidFill>
                  <a:schemeClr val="tx1"/>
                </a:solidFill>
              </a:rPr>
              <a:t>amplía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marco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 </a:t>
            </a:r>
            <a:r>
              <a:rPr lang="en-US" b="1">
                <a:solidFill>
                  <a:schemeClr val="tx1"/>
                </a:solidFill>
              </a:rPr>
              <a:t>Digital Product and Service Management (DPSM)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unificando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productos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digitales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aplicaciones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plataformas</a:t>
            </a:r>
            <a:r>
              <a:rPr lang="en-US">
                <a:solidFill>
                  <a:schemeClr val="tx1"/>
                </a:solidFill>
              </a:rPr>
              <a:t> y APIs junto con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servicios</a:t>
            </a:r>
            <a:r>
              <a:rPr lang="en-US">
                <a:solidFill>
                  <a:schemeClr val="tx1"/>
                </a:solidFill>
              </a:rPr>
              <a:t> de TI </a:t>
            </a:r>
            <a:r>
              <a:rPr lang="en-US" err="1">
                <a:solidFill>
                  <a:schemeClr val="tx1"/>
                </a:solidFill>
              </a:rPr>
              <a:t>tradicionales</a:t>
            </a:r>
            <a:r>
              <a:rPr lang="en-US">
                <a:solidFill>
                  <a:schemeClr val="tx1"/>
                </a:solidFill>
              </a:rPr>
              <a:t> — </a:t>
            </a:r>
            <a:r>
              <a:rPr lang="en-US" err="1">
                <a:solidFill>
                  <a:schemeClr val="tx1"/>
                </a:solidFill>
              </a:rPr>
              <a:t>reflejando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muchas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organizaciones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ya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gestionan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elementos</a:t>
            </a:r>
            <a:r>
              <a:rPr lang="en-US">
                <a:solidFill>
                  <a:schemeClr val="tx1"/>
                </a:solidFill>
              </a:rPr>
              <a:t> de forma </a:t>
            </a:r>
            <a:r>
              <a:rPr lang="en-US" err="1">
                <a:solidFill>
                  <a:schemeClr val="tx1"/>
                </a:solidFill>
              </a:rPr>
              <a:t>convergente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Rixmind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1841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 b="1"/>
              <a:t>FCR:</a:t>
            </a:r>
            <a:r>
              <a:rPr lang="en-US"/>
              <a:t> </a:t>
            </a:r>
            <a:r>
              <a:rPr lang="en-US" err="1"/>
              <a:t>Resolución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Primer Contacto (</a:t>
            </a:r>
            <a:r>
              <a:rPr lang="en-US" i="1"/>
              <a:t>First Contact Resolution</a:t>
            </a:r>
            <a:r>
              <a:rPr lang="en-US"/>
              <a:t>).</a:t>
            </a:r>
            <a:endParaRPr lang="es-ES"/>
          </a:p>
          <a:p>
            <a:pPr marL="171450" indent="-171450"/>
            <a:r>
              <a:rPr lang="en-US" b="1"/>
              <a:t>MTTR:</a:t>
            </a:r>
            <a:r>
              <a:rPr lang="en-US"/>
              <a:t> Tiempo Medio de </a:t>
            </a:r>
            <a:r>
              <a:rPr lang="en-US" err="1"/>
              <a:t>Resolución</a:t>
            </a:r>
            <a:r>
              <a:rPr lang="en-US"/>
              <a:t> (</a:t>
            </a:r>
            <a:r>
              <a:rPr lang="en-US" i="1"/>
              <a:t>Mean Time to Resolution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SLA:</a:t>
            </a:r>
            <a:r>
              <a:rPr lang="en-US"/>
              <a:t> </a:t>
            </a:r>
            <a:r>
              <a:rPr lang="en-US" err="1"/>
              <a:t>Acuerdo</a:t>
            </a:r>
            <a:r>
              <a:rPr lang="en-US"/>
              <a:t> de Nivel de Servicio (</a:t>
            </a:r>
            <a:r>
              <a:rPr lang="en-US" i="1"/>
              <a:t>Service Level Agreement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CMDB:</a:t>
            </a:r>
            <a:r>
              <a:rPr lang="en-US"/>
              <a:t> Base de Datos de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Configuración</a:t>
            </a:r>
            <a:r>
              <a:rPr lang="en-US"/>
              <a:t> (</a:t>
            </a:r>
            <a:r>
              <a:rPr lang="en-US" i="1"/>
              <a:t>Configuration Management Database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KPI:</a:t>
            </a:r>
            <a:r>
              <a:rPr lang="en-US"/>
              <a:t> </a:t>
            </a:r>
            <a:r>
              <a:rPr lang="en-US" err="1"/>
              <a:t>Indicador</a:t>
            </a:r>
            <a:r>
              <a:rPr lang="en-US"/>
              <a:t> Clave de </a:t>
            </a:r>
            <a:r>
              <a:rPr lang="en-US" err="1"/>
              <a:t>Desempeño</a:t>
            </a:r>
            <a:r>
              <a:rPr lang="en-US"/>
              <a:t> (</a:t>
            </a:r>
            <a:r>
              <a:rPr lang="en-US" i="1"/>
              <a:t>Key Performance Indicator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KCS:</a:t>
            </a:r>
            <a:r>
              <a:rPr lang="en-US"/>
              <a:t> Servicio </a:t>
            </a:r>
            <a:r>
              <a:rPr lang="en-US" err="1"/>
              <a:t>Centrado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Conocimiento</a:t>
            </a:r>
            <a:r>
              <a:rPr lang="en-US"/>
              <a:t> (</a:t>
            </a:r>
            <a:r>
              <a:rPr lang="en-US" i="1"/>
              <a:t>Knowledge-Centered Service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CSAT:</a:t>
            </a:r>
            <a:r>
              <a:rPr lang="en-US"/>
              <a:t> </a:t>
            </a:r>
            <a:r>
              <a:rPr lang="en-US" err="1"/>
              <a:t>Satisfacción</a:t>
            </a:r>
            <a:r>
              <a:rPr lang="en-US"/>
              <a:t> del </a:t>
            </a:r>
            <a:r>
              <a:rPr lang="en-US" err="1"/>
              <a:t>Cliente</a:t>
            </a:r>
            <a:r>
              <a:rPr lang="en-US"/>
              <a:t> (</a:t>
            </a:r>
            <a:r>
              <a:rPr lang="en-US" i="1"/>
              <a:t>Customer Satisfaction Score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IA: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Artificial.</a:t>
            </a:r>
          </a:p>
          <a:p>
            <a:pPr marL="171450" indent="-171450"/>
            <a:r>
              <a:rPr lang="en-US" b="1"/>
              <a:t>AIOps: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 para </a:t>
            </a:r>
            <a:r>
              <a:rPr lang="en-US" err="1"/>
              <a:t>Operaciones</a:t>
            </a:r>
            <a:r>
              <a:rPr lang="en-US"/>
              <a:t> de TI.</a:t>
            </a:r>
          </a:p>
          <a:p>
            <a:pPr marL="171450" indent="-171450"/>
            <a:r>
              <a:rPr lang="en-US" b="1"/>
              <a:t>XLA:</a:t>
            </a:r>
            <a:r>
              <a:rPr lang="en-US"/>
              <a:t> </a:t>
            </a:r>
            <a:r>
              <a:rPr lang="en-US" err="1"/>
              <a:t>Acuerdo</a:t>
            </a:r>
            <a:r>
              <a:rPr lang="en-US"/>
              <a:t> de Nivel de </a:t>
            </a:r>
            <a:r>
              <a:rPr lang="en-US" err="1"/>
              <a:t>Experiencia</a:t>
            </a:r>
            <a:r>
              <a:rPr lang="en-US"/>
              <a:t> (</a:t>
            </a:r>
            <a:r>
              <a:rPr lang="en-US" i="1"/>
              <a:t>Experience Level Agreement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DEX:</a:t>
            </a:r>
            <a:r>
              <a:rPr lang="en-US"/>
              <a:t> </a:t>
            </a:r>
            <a:r>
              <a:rPr lang="en-US" err="1"/>
              <a:t>Experiencia</a:t>
            </a:r>
            <a:r>
              <a:rPr lang="en-US"/>
              <a:t> Digital del </a:t>
            </a:r>
            <a:r>
              <a:rPr lang="en-US" err="1"/>
              <a:t>Empleado</a:t>
            </a:r>
            <a:r>
              <a:rPr lang="en-US"/>
              <a:t> (</a:t>
            </a:r>
            <a:r>
              <a:rPr lang="en-US" i="1"/>
              <a:t>Digital Employee Experience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N0:</a:t>
            </a:r>
            <a:r>
              <a:rPr lang="en-US"/>
              <a:t> Nivel de </a:t>
            </a:r>
            <a:r>
              <a:rPr lang="en-US" err="1"/>
              <a:t>autoservicio</a:t>
            </a:r>
            <a:r>
              <a:rPr lang="en-US"/>
              <a:t> </a:t>
            </a:r>
            <a:r>
              <a:rPr lang="en-US" err="1"/>
              <a:t>mediante</a:t>
            </a:r>
            <a:r>
              <a:rPr lang="en-US"/>
              <a:t> portal, chatbot o base de </a:t>
            </a:r>
            <a:r>
              <a:rPr lang="en-US" err="1"/>
              <a:t>conocimiento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Deflection:</a:t>
            </a:r>
            <a:r>
              <a:rPr lang="en-US"/>
              <a:t> Casos </a:t>
            </a:r>
            <a:r>
              <a:rPr lang="en-US" err="1"/>
              <a:t>resueltos</a:t>
            </a:r>
            <a:r>
              <a:rPr lang="en-US"/>
              <a:t> sin </a:t>
            </a:r>
            <a:r>
              <a:rPr lang="en-US" err="1"/>
              <a:t>generar</a:t>
            </a:r>
            <a:r>
              <a:rPr lang="en-US"/>
              <a:t> ticket o sin </a:t>
            </a:r>
            <a:r>
              <a:rPr lang="en-US" err="1"/>
              <a:t>intervención</a:t>
            </a:r>
            <a:r>
              <a:rPr lang="en-US"/>
              <a:t> humana.</a:t>
            </a:r>
          </a:p>
          <a:p>
            <a:pPr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00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0C2362"/>
                </a:solidFill>
                <a:highlight>
                  <a:srgbClr val="FFFF00"/>
                </a:highlight>
              </a:rPr>
              <a:t>(NUEVAS OFERTAS: cuales servicios volver obsoletos, servicios </a:t>
            </a:r>
            <a:r>
              <a:rPr lang="es-ES" b="1" dirty="0" err="1">
                <a:solidFill>
                  <a:srgbClr val="0C2362"/>
                </a:solidFill>
                <a:highlight>
                  <a:srgbClr val="FFFF00"/>
                </a:highlight>
              </a:rPr>
              <a:t>lights</a:t>
            </a:r>
            <a:r>
              <a:rPr lang="es-ES" b="1" dirty="0">
                <a:solidFill>
                  <a:srgbClr val="0C2362"/>
                </a:solidFill>
                <a:highlight>
                  <a:srgbClr val="FFFF00"/>
                </a:highlight>
              </a:rPr>
              <a:t>, servicios de operación)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77B03-7371-113E-F84B-CED144DC9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478E7-BBDD-BAD6-01EC-B8DD5F9F2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8F94D-6F89-91E2-0200-117641DB8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87C25-3735-284B-0AF7-1EC6D5218A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34175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b="1" err="1">
                <a:solidFill>
                  <a:srgbClr val="0C2362"/>
                </a:solidFill>
              </a:rPr>
              <a:t>Siguiente</a:t>
            </a:r>
            <a:r>
              <a:rPr lang="en-US" b="1">
                <a:solidFill>
                  <a:srgbClr val="0C2362"/>
                </a:solidFill>
              </a:rPr>
              <a:t> paso </a:t>
            </a:r>
            <a:r>
              <a:rPr lang="en-US" b="1" err="1">
                <a:solidFill>
                  <a:srgbClr val="0C2362"/>
                </a:solidFill>
              </a:rPr>
              <a:t>recomendado</a:t>
            </a:r>
            <a:r>
              <a:rPr lang="en-US" b="1">
                <a:solidFill>
                  <a:srgbClr val="0C2362"/>
                </a:solidFill>
              </a:rPr>
              <a:t>: </a:t>
            </a:r>
            <a:r>
              <a:rPr lang="en-US" b="1" err="1">
                <a:solidFill>
                  <a:srgbClr val="0C2362"/>
                </a:solidFill>
              </a:rPr>
              <a:t>desglosar</a:t>
            </a:r>
            <a:r>
              <a:rPr lang="en-US" b="1">
                <a:solidFill>
                  <a:srgbClr val="0C2362"/>
                </a:solidFill>
              </a:rPr>
              <a:t> </a:t>
            </a:r>
            <a:r>
              <a:rPr lang="en-US" b="1" err="1">
                <a:solidFill>
                  <a:srgbClr val="0C2362"/>
                </a:solidFill>
              </a:rPr>
              <a:t>cada</a:t>
            </a:r>
            <a:r>
              <a:rPr lang="en-US" b="1">
                <a:solidFill>
                  <a:srgbClr val="0C2362"/>
                </a:solidFill>
              </a:rPr>
              <a:t> </a:t>
            </a:r>
            <a:r>
              <a:rPr lang="en-US" b="1" err="1">
                <a:solidFill>
                  <a:srgbClr val="0C2362"/>
                </a:solidFill>
              </a:rPr>
              <a:t>módulo</a:t>
            </a:r>
            <a:r>
              <a:rPr lang="en-US" b="1">
                <a:solidFill>
                  <a:srgbClr val="0C2362"/>
                </a:solidFill>
              </a:rPr>
              <a:t> </a:t>
            </a:r>
            <a:r>
              <a:rPr lang="en-US" b="1" err="1">
                <a:solidFill>
                  <a:srgbClr val="0C2362"/>
                </a:solidFill>
              </a:rPr>
              <a:t>en</a:t>
            </a:r>
            <a:r>
              <a:rPr lang="en-US" b="1">
                <a:solidFill>
                  <a:srgbClr val="0C2362"/>
                </a:solidFill>
              </a:rPr>
              <a:t> </a:t>
            </a:r>
            <a:r>
              <a:rPr lang="en-US" b="1" err="1">
                <a:solidFill>
                  <a:srgbClr val="0C2362"/>
                </a:solidFill>
              </a:rPr>
              <a:t>alcance</a:t>
            </a:r>
            <a:r>
              <a:rPr lang="en-US" b="1">
                <a:solidFill>
                  <a:srgbClr val="0C2362"/>
                </a:solidFill>
              </a:rPr>
              <a:t>, roles, </a:t>
            </a:r>
            <a:r>
              <a:rPr lang="en-US" b="1" err="1">
                <a:solidFill>
                  <a:srgbClr val="0C2362"/>
                </a:solidFill>
              </a:rPr>
              <a:t>entregables,herramientas</a:t>
            </a:r>
            <a:r>
              <a:rPr lang="en-US" b="1">
                <a:solidFill>
                  <a:srgbClr val="0C2362"/>
                </a:solidFill>
              </a:rPr>
              <a:t> y pricing.</a:t>
            </a:r>
            <a:endParaRPr lang="en-US"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71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098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5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r.slideshare.net/slideshow/dit-yvol4iss03/2936367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vanti.com/en-gb/blog/agentic-ai-it-service-autonomy" TargetMode="External"/><Relationship Id="rId4" Type="http://schemas.openxmlformats.org/officeDocument/2006/relationships/hyperlink" Target="https://newsroom.servicenow.com/press-releases/details/2025/ServiceNow-Sets-New-Standard-for-Fully-Autonomous-IT-Envisioning-a-Zero-Downtime-Zero-Outage-Future-With-Agentic-AI/default.aspx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cribd.com/document/809079051/Gartner-Reprin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d.com/document/809079051/Gartner-Repr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addom.com/wp-content/uploads/2026/03/2025-Hype-Cycle-for-ITSM-Gartner-Report.pdf" TargetMode="External"/><Relationship Id="rId4" Type="http://schemas.openxmlformats.org/officeDocument/2006/relationships/hyperlink" Target="https://blog.invgate.com/itsm-gartner-magic-quadran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d.com/document/809079051/Gartner-Repri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ppsruntheworld.com/top-10-it-service-management-software-vendors-and-market-forecast/" TargetMode="External"/><Relationship Id="rId5" Type="http://schemas.openxmlformats.org/officeDocument/2006/relationships/hyperlink" Target="https://www.einpresswire.com/article/823090394/xla-institute-releases-groundbreaking-state-of-xla-2025-report" TargetMode="External"/><Relationship Id="rId4" Type="http://schemas.openxmlformats.org/officeDocument/2006/relationships/hyperlink" Target="https://www.peoplecert.org/news-and-announcements/itil-version-5-explain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hyperlink" Target="https://www.tcs.com/insights/blogs/generative-ai-outcome-based-pricing-models-service-desk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hyperlink" Target="https://www.peoplecert.org/news-and-announcements/itil-version-5-explained" TargetMode="External"/><Relationship Id="rId5" Type="http://schemas.openxmlformats.org/officeDocument/2006/relationships/image" Target="../media/image19.png"/><Relationship Id="rId10" Type="http://schemas.openxmlformats.org/officeDocument/2006/relationships/hyperlink" Target="https://www.brilo.ai/resources/agentic-ai-statistics" TargetMode="External"/><Relationship Id="rId4" Type="http://schemas.openxmlformats.org/officeDocument/2006/relationships/image" Target="../media/image18.png"/><Relationship Id="rId9" Type="http://schemas.openxmlformats.org/officeDocument/2006/relationships/hyperlink" Target="https://www.dynatrace.com/news/press-release/pulse-of-agentic-ai-2026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rowthmarketreports.com/report/it-service-desk-market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ppsruntheworld.com/top-10-it-service-management-software-vendors-and-market-forecast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uperfinanciera.gov.co/publicaciones/10116043/sistema-financiero-acelera-implementacion-de-canales-digitales/" TargetMode="External"/><Relationship Id="rId5" Type="http://schemas.openxmlformats.org/officeDocument/2006/relationships/hyperlink" Target="https://www.grandviewresearch.com/industry-analysis/it-service-management-market" TargetMode="External"/><Relationship Id="rId4" Type="http://schemas.openxmlformats.org/officeDocument/2006/relationships/hyperlink" Target="https://www.mordorintelligence.com/industry-reports/south-america-information-technology-service-management-itsm-marke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hyperlink" Target="https://www.appsruntheworld.com/top-10-it-service-management-software-vendors-and-market-forecast/" TargetMode="Externa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einpresswire.com/article/823090394/xla-institute-releases-groundbreaking-state-of-xla-2025-report" TargetMode="External"/><Relationship Id="rId5" Type="http://schemas.openxmlformats.org/officeDocument/2006/relationships/hyperlink" Target="https://www.peoplecert.org/news-and-announcements/itil-version-5-explained" TargetMode="External"/><Relationship Id="rId4" Type="http://schemas.openxmlformats.org/officeDocument/2006/relationships/hyperlink" Target="https://www.scribd.com/document/809079051/Gartner-Reprint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ivainc.com/blog/shift-left-analysis-how-to-guide-maximize-it-service-management-itsm-efficiency/" TargetMode="External"/><Relationship Id="rId4" Type="http://schemas.openxmlformats.org/officeDocument/2006/relationships/hyperlink" Target="https://www.ivanti.com/en-gb/blog/agentic-ai-it-service-autonomy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inkhdi.com/library/supportworld/2023/metrics-matter-for-it-support/" TargetMode="External"/><Relationship Id="rId13" Type="http://schemas.openxmlformats.org/officeDocument/2006/relationships/hyperlink" Target="https://www.servicedeskinstitute.com/resources/itsm-statistics-facts-and-trends-for-2024/" TargetMode="External"/><Relationship Id="rId3" Type="http://schemas.openxmlformats.org/officeDocument/2006/relationships/hyperlink" Target="https://www.sqmgroup.com/resources/library/blog/what-good-first-call-resolution-rate" TargetMode="External"/><Relationship Id="rId7" Type="http://schemas.openxmlformats.org/officeDocument/2006/relationships/hyperlink" Target="https://irisagent.com/customer-support-metrics/" TargetMode="External"/><Relationship Id="rId12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helpdeskfocus.com/help-desk-metrics.html" TargetMode="External"/><Relationship Id="rId11" Type="http://schemas.openxmlformats.org/officeDocument/2006/relationships/hyperlink" Target="https://assets.contentstack.io/v3/assets/blt28ff6c4a2cf43126/blt03f46879a7d17fbc/68e4fbe251ce6710ec093b1a/2509_ITSM_ebook_StateofITSM.pdf" TargetMode="External"/><Relationship Id="rId5" Type="http://schemas.openxmlformats.org/officeDocument/2006/relationships/hyperlink" Target="https://www.thinkhdi.com/~/media/HDICorp/Files/Library-Archive/Insider%20Articles/mean-time-to-resolve.pdf" TargetMode="External"/><Relationship Id="rId10" Type="http://schemas.openxmlformats.org/officeDocument/2006/relationships/hyperlink" Target="https://kwestra.com/insights/itsm-automation-roi/" TargetMode="External"/><Relationship Id="rId4" Type="http://schemas.openxmlformats.org/officeDocument/2006/relationships/hyperlink" Target="https://www.thinkhdi.com/~/media/HDICorp/Files/Library-Archive/Insider%20Articles/First%20Contact%20Resolution.pdf" TargetMode="External"/><Relationship Id="rId9" Type="http://schemas.openxmlformats.org/officeDocument/2006/relationships/hyperlink" Target="https://www.givainc.com/blog/shift-left-analysis-how-to-guide-maximize-it-service-management-itsm-efficiency/" TargetMode="External"/><Relationship Id="rId14" Type="http://schemas.openxmlformats.org/officeDocument/2006/relationships/hyperlink" Target="https://stealthagents.com/research/ai-it-helpdesk-automation-statistics-2026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npresswire.com/article/823090394/xla-institute-releases-groundbreaking-state-of-xla-2025-report?code=9Hv3x5D-vwZo-pe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posts/alannance_get-your-copy-of-the-state-of-xla-2025-published-activity-7340670233575079936-XZ3Q" TargetMode="External"/><Relationship Id="rId4" Type="http://schemas.openxmlformats.org/officeDocument/2006/relationships/hyperlink" Target="https://www.emerce.nl/wire/xla-institute-publiceert-state-xla-2025-rapport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lo.ai/resources/agentic-ai-statistic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dynatrace.com/news/press-release/pulse-of-agentic-ai-2026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lo.ai/resources/agentic-ai-statistic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s://www.dynatrace.com/news/press-release/pulse-of-agentic-ai-2026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financiera.gov.co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www.iso.org/standard/42001" TargetMode="External"/><Relationship Id="rId4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jpeg"/><Relationship Id="rId5" Type="http://schemas.openxmlformats.org/officeDocument/2006/relationships/hyperlink" Target="https://www.manageengine.com/latam/service-desk/que-es-una-mesa-de-ayuda.html" TargetMode="External"/><Relationship Id="rId4" Type="http://schemas.openxmlformats.org/officeDocument/2006/relationships/hyperlink" Target="https://enviaseo.info/peti/755MesadeServicios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mesa-de-servicio-inteligente-c%C3%B3mo-la-inteligencia-artificial-est%C3%A1-sbj7e/" TargetMode="Externa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rixmind.com/itil-5-what-changed-and-why-it-matters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20.png"/><Relationship Id="rId4" Type="http://schemas.openxmlformats.org/officeDocument/2006/relationships/hyperlink" Target="https://www.tidelineinsights.com/blog/itil-5-whats-coming.html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1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6.png"/><Relationship Id="rId11" Type="http://schemas.openxmlformats.org/officeDocument/2006/relationships/image" Target="../media/image10.png"/><Relationship Id="rId5" Type="http://schemas.openxmlformats.org/officeDocument/2006/relationships/image" Target="../media/image55.png"/><Relationship Id="rId10" Type="http://schemas.openxmlformats.org/officeDocument/2006/relationships/image" Target="../media/image17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8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6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7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258889" y="1087521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dirty="0"/>
              <a:t>Mesa de Servicio de Nueva </a:t>
            </a:r>
            <a:r>
              <a:rPr lang="en-US"/>
              <a:t>Generación (Next Gen)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256743" y="2875047"/>
            <a:ext cx="8478900" cy="1451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s-CO">
                <a:solidFill>
                  <a:schemeClr val="bg1"/>
                </a:solidFill>
              </a:rPr>
              <a:t>Estudio de Mercado 2026, </a:t>
            </a:r>
            <a:endParaRPr lang="es-E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s-ES">
                <a:solidFill>
                  <a:schemeClr val="bg1"/>
                </a:solidFill>
              </a:rPr>
              <a:t>Operación Actual y </a:t>
            </a:r>
          </a:p>
          <a:p>
            <a:pPr>
              <a:lnSpc>
                <a:spcPct val="150000"/>
              </a:lnSpc>
            </a:pPr>
            <a:r>
              <a:rPr lang="es-CO">
                <a:solidFill>
                  <a:schemeClr val="bg1"/>
                </a:solidFill>
              </a:rPr>
              <a:t>Propuesta de Valor del Servicio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324797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Que busca la Mesa de Servicio de Nueva Generación</a:t>
            </a:r>
            <a:endParaRPr lang="es-ES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361349" y="28206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BCF2-EE01-6D83-5D06-4586A338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Beneficios eperados de la Mesa de Servicio de Nueva Generación (Servicio Optimo)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BF19AD-F8F2-0227-5C5D-35F560455039}"/>
              </a:ext>
            </a:extLst>
          </p:cNvPr>
          <p:cNvSpPr/>
          <p:nvPr/>
        </p:nvSpPr>
        <p:spPr>
          <a:xfrm>
            <a:off x="346303" y="2097201"/>
            <a:ext cx="2000250" cy="2003822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C8E3B2-4CB0-C217-88A2-862FED04A2A7}"/>
              </a:ext>
            </a:extLst>
          </p:cNvPr>
          <p:cNvSpPr/>
          <p:nvPr/>
        </p:nvSpPr>
        <p:spPr>
          <a:xfrm>
            <a:off x="560615" y="2469792"/>
            <a:ext cx="1785938" cy="21386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Estandarización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F53944-A721-5660-BB35-2B3C14C6F607}"/>
              </a:ext>
            </a:extLst>
          </p:cNvPr>
          <p:cNvSpPr/>
          <p:nvPr/>
        </p:nvSpPr>
        <p:spPr>
          <a:xfrm>
            <a:off x="560615" y="2739692"/>
            <a:ext cx="1863291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Implementación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claros, roles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 </a:t>
            </a: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F6CE983-277E-8877-C358-C73FDBF3938C}"/>
              </a:ext>
            </a:extLst>
          </p:cNvPr>
          <p:cNvSpPr/>
          <p:nvPr/>
        </p:nvSpPr>
        <p:spPr>
          <a:xfrm>
            <a:off x="1078538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6C87E7BC-F0F6-71EA-6AC0-03CA0898D287}"/>
              </a:ext>
            </a:extLst>
          </p:cNvPr>
          <p:cNvSpPr/>
          <p:nvPr/>
        </p:nvSpPr>
        <p:spPr>
          <a:xfrm>
            <a:off x="2489428" y="2097201"/>
            <a:ext cx="2000250" cy="2003822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9BF6E43-E894-41CB-6D47-AB7652BB9D97}"/>
              </a:ext>
            </a:extLst>
          </p:cNvPr>
          <p:cNvSpPr/>
          <p:nvPr/>
        </p:nvSpPr>
        <p:spPr>
          <a:xfrm>
            <a:off x="2703740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Cliente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C27C298-2FAF-45D2-D222-D4184FA81DC4}"/>
              </a:ext>
            </a:extLst>
          </p:cNvPr>
          <p:cNvSpPr/>
          <p:nvPr/>
        </p:nvSpPr>
        <p:spPr>
          <a:xfrm>
            <a:off x="2703740" y="2953557"/>
            <a:ext cx="1851125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Cumplimiento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SLAs y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acceso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visibilidad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tiempo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real.</a:t>
            </a:r>
            <a:endParaRPr lang="en-US" sz="1100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D3C69D3B-6A78-0313-1DCF-A7B19A3404C7}"/>
              </a:ext>
            </a:extLst>
          </p:cNvPr>
          <p:cNvSpPr/>
          <p:nvPr/>
        </p:nvSpPr>
        <p:spPr>
          <a:xfrm>
            <a:off x="3221663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" descr="505b5b62.png">
            <a:extLst>
              <a:ext uri="{FF2B5EF4-FFF2-40B4-BE49-F238E27FC236}">
                <a16:creationId xmlns:a16="http://schemas.microsoft.com/office/drawing/2014/main" id="{354B2D46-3F5F-26B4-EEC3-BE4FA53D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21" y="2012439"/>
            <a:ext cx="285750" cy="171450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0A06C67C-F345-06AF-B4CB-E301A7094EBC}"/>
              </a:ext>
            </a:extLst>
          </p:cNvPr>
          <p:cNvSpPr/>
          <p:nvPr/>
        </p:nvSpPr>
        <p:spPr>
          <a:xfrm>
            <a:off x="4632553" y="2097201"/>
            <a:ext cx="2000250" cy="2003822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B5A262B-C92D-AC7D-1F5B-10E0529A17AC}"/>
              </a:ext>
            </a:extLst>
          </p:cNvPr>
          <p:cNvSpPr/>
          <p:nvPr/>
        </p:nvSpPr>
        <p:spPr>
          <a:xfrm>
            <a:off x="4846865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PersonalSoft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C89C9C3-E661-7BC7-90BC-A4415D498B88}"/>
              </a:ext>
            </a:extLst>
          </p:cNvPr>
          <p:cNvSpPr/>
          <p:nvPr/>
        </p:nvSpPr>
        <p:spPr>
          <a:xfrm>
            <a:off x="4846865" y="2953557"/>
            <a:ext cx="1785938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Optimización de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márgenes operativos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mediante la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automatización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inteligente.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227AA1F-A86A-1059-3E9E-9D70E5E23345}"/>
              </a:ext>
            </a:extLst>
          </p:cNvPr>
          <p:cNvSpPr/>
          <p:nvPr/>
        </p:nvSpPr>
        <p:spPr>
          <a:xfrm>
            <a:off x="5364788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2" descr="-327b961e.png">
            <a:extLst>
              <a:ext uri="{FF2B5EF4-FFF2-40B4-BE49-F238E27FC236}">
                <a16:creationId xmlns:a16="http://schemas.microsoft.com/office/drawing/2014/main" id="{E4F0CB68-F772-0EEC-85B3-E8E083F7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40" y="2006159"/>
            <a:ext cx="214313" cy="178594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A4D8DA01-70F2-AD94-BCB0-0E80F975BA52}"/>
              </a:ext>
            </a:extLst>
          </p:cNvPr>
          <p:cNvSpPr/>
          <p:nvPr/>
        </p:nvSpPr>
        <p:spPr>
          <a:xfrm>
            <a:off x="6775678" y="2097201"/>
            <a:ext cx="2000250" cy="2003822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876DDF71-25E4-1FB7-BAE4-F9D4681992AB}"/>
              </a:ext>
            </a:extLst>
          </p:cNvPr>
          <p:cNvSpPr/>
          <p:nvPr/>
        </p:nvSpPr>
        <p:spPr>
          <a:xfrm>
            <a:off x="6989990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Impacto en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Mercado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6C13925F-AC98-F240-4399-90C6DBDB9C64}"/>
              </a:ext>
            </a:extLst>
          </p:cNvPr>
          <p:cNvSpPr/>
          <p:nvPr/>
        </p:nvSpPr>
        <p:spPr>
          <a:xfrm>
            <a:off x="6989991" y="2953558"/>
            <a:ext cx="1842083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Posicionamiento como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proveedor estratégico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basado en datos y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avanzadas.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8127BF9B-08B2-3BA9-575E-545DA3D857F7}"/>
              </a:ext>
            </a:extLst>
          </p:cNvPr>
          <p:cNvSpPr/>
          <p:nvPr/>
        </p:nvSpPr>
        <p:spPr>
          <a:xfrm>
            <a:off x="7507913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3" descr="-6dbe241e.png">
            <a:extLst>
              <a:ext uri="{FF2B5EF4-FFF2-40B4-BE49-F238E27FC236}">
                <a16:creationId xmlns:a16="http://schemas.microsoft.com/office/drawing/2014/main" id="{263F34D4-4A07-6E98-B32B-1881409F7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063" y="1974765"/>
            <a:ext cx="214313" cy="242888"/>
          </a:xfrm>
          <a:prstGeom prst="rect">
            <a:avLst/>
          </a:prstGeom>
        </p:spPr>
      </p:pic>
      <p:sp>
        <p:nvSpPr>
          <p:cNvPr id="44" name="Text 1">
            <a:extLst>
              <a:ext uri="{FF2B5EF4-FFF2-40B4-BE49-F238E27FC236}">
                <a16:creationId xmlns:a16="http://schemas.microsoft.com/office/drawing/2014/main" id="{2B7F778D-5F66-74AF-32CC-84352651A0C6}"/>
              </a:ext>
            </a:extLst>
          </p:cNvPr>
          <p:cNvSpPr/>
          <p:nvPr/>
        </p:nvSpPr>
        <p:spPr>
          <a:xfrm>
            <a:off x="391545" y="626827"/>
            <a:ext cx="5791881" cy="2857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Transformar el soporte de costo operativo a ventaja competitiva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3" name="Gráfico 2" descr="Marcador contorno">
            <a:extLst>
              <a:ext uri="{FF2B5EF4-FFF2-40B4-BE49-F238E27FC236}">
                <a16:creationId xmlns:a16="http://schemas.microsoft.com/office/drawing/2014/main" id="{899E42DB-34A8-3D42-7FA8-C3CDBBC41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1100" y="1929492"/>
            <a:ext cx="332015" cy="326572"/>
          </a:xfrm>
          <a:prstGeom prst="rect">
            <a:avLst/>
          </a:prstGeom>
        </p:spPr>
      </p:pic>
      <p:pic>
        <p:nvPicPr>
          <p:cNvPr id="7" name="Gráfico 6" descr="Diana con relleno sólido">
            <a:extLst>
              <a:ext uri="{FF2B5EF4-FFF2-40B4-BE49-F238E27FC236}">
                <a16:creationId xmlns:a16="http://schemas.microsoft.com/office/drawing/2014/main" id="{30664D31-7980-9DC7-D952-39F7E0D5E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4773" y="628649"/>
            <a:ext cx="783771" cy="73478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D73067EA-462D-AC3B-A37F-02C6FD7451E3}"/>
              </a:ext>
            </a:extLst>
          </p:cNvPr>
          <p:cNvSpPr/>
          <p:nvPr/>
        </p:nvSpPr>
        <p:spPr>
          <a:xfrm>
            <a:off x="5680813" y="772610"/>
            <a:ext cx="3159919" cy="2083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s-ES" sz="1400" kern="0" spc="-81" dirty="0">
                <a:solidFill>
                  <a:srgbClr val="00B050"/>
                </a:solidFill>
                <a:latin typeface="Reddit Sans"/>
                <a:ea typeface="Reddit Sans"/>
              </a:rPr>
              <a:t>La promesa comercial: pasar de staff </a:t>
            </a:r>
            <a:r>
              <a:rPr lang="es-ES" sz="1400" kern="0" spc="-81" dirty="0" err="1">
                <a:solidFill>
                  <a:srgbClr val="00B050"/>
                </a:solidFill>
                <a:latin typeface="Reddit Sans"/>
                <a:ea typeface="Reddit Sans"/>
              </a:rPr>
              <a:t>augmentation</a:t>
            </a:r>
            <a:r>
              <a:rPr lang="es-ES" sz="1400" kern="0" spc="-81" dirty="0">
                <a:solidFill>
                  <a:srgbClr val="00B050"/>
                </a:solidFill>
                <a:latin typeface="Reddit Sans"/>
                <a:ea typeface="Reddit Sans"/>
              </a:rPr>
              <a:t> a un servicio gestionado, medible y evolutivo.</a:t>
            </a:r>
            <a:endParaRPr lang="en-US" sz="1400" kern="0" spc="-81">
              <a:solidFill>
                <a:srgbClr val="00B050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87824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031" y="283629"/>
            <a:ext cx="8643938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3240"/>
              </a:lnSpc>
            </a:pP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Desafíos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de la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Operación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Actual</a:t>
            </a:r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50031" y="697584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Identificación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puntos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críticos</a:t>
            </a:r>
            <a:endParaRPr lang="en-US" sz="1200" err="1">
              <a:latin typeface="Reddit Sans"/>
              <a:ea typeface="Reddit San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63080" y="830472"/>
            <a:ext cx="2393156" cy="44220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Ausencia de estándares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Falta de niveles de servicio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(N1/N2/N3) y roles claramente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económico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 indexada a FTE que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impone barreras críticas para el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escalamiento.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Herramientas de gestión de conocimiento</a:t>
            </a:r>
            <a:endParaRPr lang="es-CO" sz="1200" kern="0" spc="-88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to tácito no</a:t>
            </a:r>
            <a:br>
              <a:rPr lang="es-CO" sz="1200" kern="0" spc="-23">
                <a:latin typeface="Reddit Sans"/>
                <a:ea typeface="Reddit Sans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documentado, g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enerand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 un</a:t>
            </a:r>
            <a:br>
              <a:rPr lang="es-CO" sz="1200" kern="0" spc="-23">
                <a:latin typeface="Reddit Sans"/>
                <a:ea typeface="Reddit Sans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alto riesgo de 'Bus Factor'. Curvas de aprendizaje muy altos. Para que un Softer tenga independencia 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autonomia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en la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operacipon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cliente puede tomar hasta de 6 mese</a:t>
            </a:r>
            <a:r>
              <a:rPr lang="en-US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 (XM).</a:t>
            </a:r>
          </a:p>
        </p:txBody>
      </p:sp>
      <p:sp>
        <p:nvSpPr>
          <p:cNvPr id="7" name="Text 4"/>
          <p:cNvSpPr/>
          <p:nvPr/>
        </p:nvSpPr>
        <p:spPr>
          <a:xfrm>
            <a:off x="6427674" y="830472"/>
            <a:ext cx="2393156" cy="34175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n-US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Fal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ta</a:t>
            </a: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observabilidad</a:t>
            </a:r>
            <a:endParaRPr lang="es-CO" sz="120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Dependencia de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KPIs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empíricos, dispersión de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y procesos de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reporte manuales.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Brecha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en</a:t>
            </a: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Preventa</a:t>
            </a:r>
            <a:endParaRPr lang="es-CO" sz="120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Desalineación entre la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expectativa comercial y la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realidad operativa, resultando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sub-dimensionamiento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Font typeface="Arial,Sans-Serif"/>
              <a:buChar char="•"/>
            </a:pPr>
            <a:r>
              <a:rPr lang="es-CO" sz="1200" kern="0" spc="-23">
                <a:solidFill>
                  <a:srgbClr val="333333"/>
                </a:solidFill>
                <a:latin typeface="Reddit Sans"/>
                <a:ea typeface="Reddit Sans"/>
              </a:rPr>
              <a:t>Dimensión de la Capacidad y Roles del equipo</a:t>
            </a:r>
          </a:p>
          <a:p>
            <a:pPr marL="180975" lvl="1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No hay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claridad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en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los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roles 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perfiles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para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dimensionar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las mesas de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servicio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por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niveles</a:t>
            </a:r>
            <a:r>
              <a:rPr lang="en-US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.</a:t>
            </a:r>
            <a:endParaRPr lang="en-US" spc="-23">
              <a:solidFill>
                <a:srgbClr val="000000">
                  <a:alpha val="55000"/>
                </a:srgbClr>
              </a:solidFill>
              <a:latin typeface="Arial"/>
              <a:ea typeface="Reddit Sans"/>
              <a:cs typeface="Arial"/>
            </a:endParaRPr>
          </a:p>
        </p:txBody>
      </p:sp>
      <p:pic>
        <p:nvPicPr>
          <p:cNvPr id="20" name="Ilustracion Desafi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59" y="1105185"/>
            <a:ext cx="3200000" cy="21690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123AE74-6D32-0FDF-671E-BDBBD5EA8815}"/>
              </a:ext>
            </a:extLst>
          </p:cNvPr>
          <p:cNvSpPr/>
          <p:nvPr/>
        </p:nvSpPr>
        <p:spPr>
          <a:xfrm>
            <a:off x="240165" y="3421271"/>
            <a:ext cx="3519827" cy="15427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Dimensión de la disponibilidad del equipo</a:t>
            </a:r>
            <a:endParaRPr lang="es-CO" sz="1200" kern="0" spc="-88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Disponibilidad 7x24 sin tener en cuenta la tecnología que soporta, y verse reflejado en horas extras que no hace parte de la bolsa de horas que paga el cliente. (XM)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091" y="205740"/>
            <a:ext cx="6858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213F7D"/>
                </a:solidFill>
              </a:defRPr>
            </a:pPr>
            <a:r>
              <a:rPr lang="es-CO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¿Por qué evolucionar la Mesa de Servicios?</a:t>
            </a:r>
            <a:endParaRPr lang="es-CO" sz="1600" b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7838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Gobierno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Falta de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marcos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de control y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estandarización</a:t>
            </a:r>
            <a:b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los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procesos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actuales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  <a:endParaRPr lang="es-CO" sz="90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0436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Escalabilidad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Crecimiento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basado en FTE</a:t>
            </a:r>
            <a:endParaRPr lang="es-CO" sz="900"/>
          </a:p>
        </p:txBody>
      </p:sp>
      <p:sp>
        <p:nvSpPr>
          <p:cNvPr id="5" name="Rounded Rectangle 4"/>
          <p:cNvSpPr/>
          <p:nvPr/>
        </p:nvSpPr>
        <p:spPr>
          <a:xfrm>
            <a:off x="463034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Automatización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Alta dependencia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de tareas manuales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5632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Conocimiento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Conocimiento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concentrado en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38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 err="1">
                <a:latin typeface="Reddit Sans"/>
                <a:ea typeface="Reddit Sans"/>
              </a:rPr>
              <a:t>Observabilidad</a:t>
            </a:r>
            <a:endParaRPr lang="es-CO" sz="1100"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err="1">
                <a:latin typeface="Reddit Sans"/>
                <a:ea typeface="Reddit Sans"/>
              </a:rPr>
              <a:t>KPIs</a:t>
            </a:r>
            <a:r>
              <a:rPr lang="es-CO" sz="900">
                <a:latin typeface="Reddit Sans"/>
                <a:ea typeface="Reddit Sans"/>
              </a:rPr>
              <a:t> y SLA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sin estandarizar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36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Transición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err="1">
                <a:latin typeface="Reddit Sans"/>
                <a:ea typeface="Reddit Sans"/>
              </a:rPr>
              <a:t>Onboarding</a:t>
            </a:r>
            <a:r>
              <a:rPr lang="es-CO" sz="900">
                <a:latin typeface="Reddit Sans"/>
                <a:ea typeface="Reddit Sans"/>
              </a:rPr>
              <a:t> con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alta fricción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034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Preventa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Debilidad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la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alineación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estratégica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entre las</a:t>
            </a:r>
            <a:b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necesidades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de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negocio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y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los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servicios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  <a:endParaRPr lang="es-CO" sz="90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5632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Plataforma &amp; Talento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Retención y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especialización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481" y="4053296"/>
            <a:ext cx="8298180" cy="342900"/>
          </a:xfrm>
          <a:prstGeom prst="roundRect">
            <a:avLst/>
          </a:prstGeom>
          <a:solidFill>
            <a:srgbClr val="213F7D"/>
          </a:solidFill>
          <a:ln>
            <a:solidFill>
              <a:srgbClr val="21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050">
                <a:latin typeface="Reddit Sans"/>
                <a:ea typeface="Reddit Sans"/>
              </a:rPr>
              <a:t> Mesa de Servicio de Nueva Generación</a:t>
            </a:r>
            <a:r>
              <a:rPr sz="1050">
                <a:latin typeface="Reddit Sans"/>
                <a:ea typeface="Reddit Sans"/>
              </a:rPr>
              <a:t>: </a:t>
            </a:r>
            <a:r>
              <a:rPr lang="en-US" sz="1050">
                <a:latin typeface="Reddit Sans"/>
                <a:ea typeface="Reddit Sans"/>
              </a:rPr>
              <a:t>Una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operación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estandarizada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automatizada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medible</a:t>
            </a:r>
            <a:r>
              <a:rPr sz="1050">
                <a:latin typeface="Reddit Sans"/>
                <a:ea typeface="Reddit Sans"/>
              </a:rPr>
              <a:t> y </a:t>
            </a:r>
            <a:r>
              <a:rPr sz="1050" err="1">
                <a:latin typeface="Reddit Sans"/>
                <a:ea typeface="Reddit Sans"/>
              </a:rPr>
              <a:t>habilitada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por</a:t>
            </a:r>
            <a:r>
              <a:rPr sz="1050">
                <a:latin typeface="Reddit Sans"/>
                <a:ea typeface="Reddit Sans"/>
              </a:rPr>
              <a:t> 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0E2-8AA6-B2EC-C394-830FBBB47CA4}"/>
              </a:ext>
            </a:extLst>
          </p:cNvPr>
          <p:cNvSpPr txBox="1"/>
          <p:nvPr/>
        </p:nvSpPr>
        <p:spPr>
          <a:xfrm>
            <a:off x="419100" y="541564"/>
            <a:ext cx="45720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000">
                <a:solidFill>
                  <a:srgbClr val="6E6E6E"/>
                </a:solidFill>
                <a:latin typeface="Reddit Sans"/>
                <a:ea typeface="Reddit Sans"/>
              </a:rPr>
              <a:t>Principales brechas en el modelo operativo </a:t>
            </a:r>
            <a:r>
              <a:rPr lang="es-CO" sz="1000" b="0" i="0" u="none" strike="noStrike" baseline="0">
                <a:solidFill>
                  <a:srgbClr val="6E6E6E"/>
                </a:solidFill>
                <a:latin typeface="Reddit Sans"/>
                <a:ea typeface="Reddit Sans"/>
              </a:rPr>
              <a:t>actual</a:t>
            </a:r>
            <a:endParaRPr lang="es-CO" sz="100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75963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4C0431D9-90B7-34B2-1387-27756297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635B94C3-2E23-F602-A2C2-943F546B80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F48E14B7-D436-CC99-C5A9-E74D13669B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971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O" sz="1400"/>
              <a:t>Estudio de Mercado</a:t>
            </a:r>
          </a:p>
        </p:txBody>
      </p:sp>
    </p:spTree>
    <p:extLst>
      <p:ext uri="{BB962C8B-B14F-4D97-AF65-F5344CB8AC3E}">
        <p14:creationId xmlns:p14="http://schemas.microsoft.com/office/powerpoint/2010/main" val="592861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0889C-1292-80AE-52B7-DEF4A0B1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Evolución de las Mesas de Servicio</a:t>
            </a:r>
          </a:p>
        </p:txBody>
      </p:sp>
      <p:sp>
        <p:nvSpPr>
          <p:cNvPr id="10" name="Timeline"/>
          <p:cNvSpPr/>
          <p:nvPr/>
        </p:nvSpPr>
        <p:spPr>
          <a:xfrm>
            <a:off x="520000" y="2688000"/>
            <a:ext cx="8100000" cy="74000"/>
          </a:xfrm>
          <a:prstGeom prst="rightArrow">
            <a:avLst>
              <a:gd name="adj1" fmla="val 100000"/>
              <a:gd name="adj2" fmla="val 60000"/>
            </a:avLst>
          </a:prstGeom>
          <a:solidFill>
            <a:srgbClr val="C9C4BC"/>
          </a:solidFill>
          <a:ln>
            <a:noFill/>
          </a:ln>
        </p:spPr>
        <p:txBody>
          <a:bodyPr/>
          <a:lstStyle/>
          <a:p>
            <a:endParaRPr lang="es-ES" sz="1000">
              <a:latin typeface="Reddit Sans"/>
              <a:ea typeface="Reddit Sans"/>
            </a:endParaRPr>
          </a:p>
        </p:txBody>
      </p:sp>
      <p:sp>
        <p:nvSpPr>
          <p:cNvPr id="11" name="Circle0"/>
          <p:cNvSpPr/>
          <p:nvPr/>
        </p:nvSpPr>
        <p:spPr>
          <a:xfrm>
            <a:off x="392157" y="2302600"/>
            <a:ext cx="784928" cy="784928"/>
          </a:xfrm>
          <a:prstGeom prst="ellipse">
            <a:avLst/>
          </a:prstGeom>
          <a:solidFill>
            <a:srgbClr val="7A756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HD</a:t>
            </a:r>
          </a:p>
        </p:txBody>
      </p:sp>
      <p:sp>
        <p:nvSpPr>
          <p:cNvPr id="12" name="Circle1"/>
          <p:cNvSpPr/>
          <p:nvPr/>
        </p:nvSpPr>
        <p:spPr>
          <a:xfrm>
            <a:off x="1913929" y="2302600"/>
            <a:ext cx="784928" cy="784928"/>
          </a:xfrm>
          <a:prstGeom prst="ellipse">
            <a:avLst/>
          </a:prstGeom>
          <a:solidFill>
            <a:srgbClr val="1E7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SD</a:t>
            </a:r>
          </a:p>
        </p:txBody>
      </p:sp>
      <p:sp>
        <p:nvSpPr>
          <p:cNvPr id="13" name="Circle2"/>
          <p:cNvSpPr/>
          <p:nvPr/>
        </p:nvSpPr>
        <p:spPr>
          <a:xfrm>
            <a:off x="3413929" y="2302600"/>
            <a:ext cx="784928" cy="784928"/>
          </a:xfrm>
          <a:prstGeom prst="ellipse">
            <a:avLst/>
          </a:prstGeom>
          <a:solidFill>
            <a:srgbClr val="A445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ESM</a:t>
            </a:r>
          </a:p>
        </p:txBody>
      </p:sp>
      <p:sp>
        <p:nvSpPr>
          <p:cNvPr id="14" name="Circle3"/>
          <p:cNvSpPr/>
          <p:nvPr/>
        </p:nvSpPr>
        <p:spPr>
          <a:xfrm>
            <a:off x="4913929" y="2302600"/>
            <a:ext cx="784928" cy="784928"/>
          </a:xfrm>
          <a:prstGeom prst="ellipse">
            <a:avLst/>
          </a:prstGeom>
          <a:solidFill>
            <a:srgbClr val="8E3E5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D/W</a:t>
            </a:r>
          </a:p>
        </p:txBody>
      </p:sp>
      <p:sp>
        <p:nvSpPr>
          <p:cNvPr id="15" name="Circle4"/>
          <p:cNvSpPr/>
          <p:nvPr/>
        </p:nvSpPr>
        <p:spPr>
          <a:xfrm>
            <a:off x="6413929" y="2302600"/>
            <a:ext cx="790371" cy="784928"/>
          </a:xfrm>
          <a:prstGeom prst="ellipse">
            <a:avLst/>
          </a:prstGeom>
          <a:solidFill>
            <a:srgbClr val="D692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A+</a:t>
            </a:r>
          </a:p>
        </p:txBody>
      </p:sp>
      <p:sp>
        <p:nvSpPr>
          <p:cNvPr id="16" name="Circle5"/>
          <p:cNvSpPr/>
          <p:nvPr/>
        </p:nvSpPr>
        <p:spPr>
          <a:xfrm>
            <a:off x="7941144" y="2302600"/>
            <a:ext cx="784928" cy="784928"/>
          </a:xfrm>
          <a:prstGeom prst="ellipse">
            <a:avLst/>
          </a:prstGeom>
          <a:solidFill>
            <a:srgbClr val="16233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AUTONOMO</a:t>
            </a:r>
          </a:p>
        </p:txBody>
      </p:sp>
      <p:sp>
        <p:nvSpPr>
          <p:cNvPr id="20" name="Label0"/>
          <p:cNvSpPr txBox="1"/>
          <p:nvPr/>
        </p:nvSpPr>
        <p:spPr>
          <a:xfrm>
            <a:off x="61771" y="3246829"/>
            <a:ext cx="1560000" cy="8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1000" b="1">
                <a:solidFill>
                  <a:srgbClr val="5A564F"/>
                </a:solidFill>
                <a:latin typeface="Reddit Sans"/>
                <a:ea typeface="Reddit Sans"/>
              </a:rPr>
              <a:t>Help Desk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1970s–90s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Teléfono, Tickets</a:t>
            </a:r>
          </a:p>
        </p:txBody>
      </p:sp>
      <p:sp>
        <p:nvSpPr>
          <p:cNvPr id="21" name="Label1"/>
          <p:cNvSpPr txBox="1"/>
          <p:nvPr/>
        </p:nvSpPr>
        <p:spPr>
          <a:xfrm>
            <a:off x="1523671" y="1369500"/>
            <a:ext cx="1560000" cy="8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noAutofit/>
          </a:bodyPr>
          <a:lstStyle/>
          <a:p>
            <a:pPr algn="ctr"/>
            <a:r>
              <a:rPr lang="es-ES" sz="1000" b="1">
                <a:solidFill>
                  <a:srgbClr val="1E7E82"/>
                </a:solidFill>
                <a:latin typeface="Reddit Sans"/>
                <a:ea typeface="Reddit Sans"/>
              </a:rPr>
              <a:t>Service Desk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ITIL v2/v3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2001–2007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SLA, CMDB</a:t>
            </a:r>
          </a:p>
        </p:txBody>
      </p:sp>
      <p:sp>
        <p:nvSpPr>
          <p:cNvPr id="22" name="Label2"/>
          <p:cNvSpPr txBox="1"/>
          <p:nvPr/>
        </p:nvSpPr>
        <p:spPr>
          <a:xfrm>
            <a:off x="3061771" y="3246829"/>
            <a:ext cx="156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s-ES" sz="1000" b="1">
                <a:solidFill>
                  <a:srgbClr val="A44526"/>
                </a:solidFill>
                <a:latin typeface="Reddit Sans"/>
                <a:ea typeface="Reddit Sans"/>
              </a:rPr>
              <a:t>Enterprise</a:t>
            </a:r>
          </a:p>
          <a:p>
            <a:pPr algn="ctr"/>
            <a:r>
              <a:rPr lang="es-ES" sz="1000" b="1">
                <a:solidFill>
                  <a:srgbClr val="A44526"/>
                </a:solidFill>
                <a:latin typeface="Reddit Sans"/>
                <a:ea typeface="Reddit Sans"/>
              </a:rPr>
              <a:t>Service </a:t>
            </a:r>
            <a:r>
              <a:rPr lang="es-ES" sz="1000" b="1" err="1">
                <a:solidFill>
                  <a:srgbClr val="A44526"/>
                </a:solidFill>
                <a:latin typeface="Reddit Sans"/>
                <a:ea typeface="Reddit Sans"/>
              </a:rPr>
              <a:t>Managem</a:t>
            </a:r>
            <a:r>
              <a:rPr lang="es-ES" sz="1000" b="1">
                <a:solidFill>
                  <a:srgbClr val="A44526"/>
                </a:solidFill>
                <a:latin typeface="Reddit Sans"/>
                <a:ea typeface="Reddit Sans"/>
              </a:rPr>
              <a:t>ent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2010–2016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HR, Finanzas</a:t>
            </a:r>
          </a:p>
        </p:txBody>
      </p:sp>
      <p:sp>
        <p:nvSpPr>
          <p:cNvPr id="23" name="Label3"/>
          <p:cNvSpPr txBox="1"/>
          <p:nvPr/>
        </p:nvSpPr>
        <p:spPr>
          <a:xfrm>
            <a:off x="4523671" y="1369500"/>
            <a:ext cx="156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Autofit/>
          </a:bodyPr>
          <a:lstStyle/>
          <a:p>
            <a:pPr algn="ctr"/>
            <a:r>
              <a:rPr lang="es-ES" sz="1000" b="1">
                <a:solidFill>
                  <a:srgbClr val="8E3E50"/>
                </a:solidFill>
                <a:latin typeface="Reddit Sans"/>
                <a:ea typeface="Reddit Sans"/>
              </a:rPr>
              <a:t>Digital</a:t>
            </a:r>
          </a:p>
          <a:p>
            <a:pPr algn="ctr"/>
            <a:r>
              <a:rPr lang="es-ES" sz="1000" b="1">
                <a:solidFill>
                  <a:srgbClr val="8E3E50"/>
                </a:solidFill>
                <a:latin typeface="Reddit Sans"/>
                <a:ea typeface="Reddit Sans"/>
              </a:rPr>
              <a:t>Workplace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2015–2020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NLP, </a:t>
            </a:r>
            <a:r>
              <a:rPr lang="es-ES" sz="1000" err="1">
                <a:solidFill>
                  <a:srgbClr val="6A655E"/>
                </a:solidFill>
                <a:latin typeface="Reddit Sans"/>
                <a:ea typeface="Reddit Sans"/>
              </a:rPr>
              <a:t>Chatbot</a:t>
            </a:r>
          </a:p>
        </p:txBody>
      </p:sp>
      <p:sp>
        <p:nvSpPr>
          <p:cNvPr id="24" name="Label4"/>
          <p:cNvSpPr txBox="1"/>
          <p:nvPr/>
        </p:nvSpPr>
        <p:spPr>
          <a:xfrm>
            <a:off x="6061771" y="3246829"/>
            <a:ext cx="156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s-ES" sz="1000" b="1">
                <a:solidFill>
                  <a:srgbClr val="C57A00"/>
                </a:solidFill>
                <a:latin typeface="Reddit Sans"/>
                <a:ea typeface="Reddit Sans"/>
              </a:rPr>
              <a:t>AITSM (Artificial </a:t>
            </a:r>
            <a:r>
              <a:rPr lang="es-ES" sz="1000" b="1" err="1">
                <a:solidFill>
                  <a:srgbClr val="C57A00"/>
                </a:solidFill>
                <a:latin typeface="Reddit Sans"/>
                <a:ea typeface="Reddit Sans"/>
              </a:rPr>
              <a:t>Intelligence</a:t>
            </a:r>
            <a:r>
              <a:rPr lang="es-ES" sz="1000" b="1">
                <a:solidFill>
                  <a:srgbClr val="C57A00"/>
                </a:solidFill>
                <a:latin typeface="Reddit Sans"/>
                <a:ea typeface="Reddit Sans"/>
              </a:rPr>
              <a:t> </a:t>
            </a:r>
            <a:r>
              <a:rPr lang="es-ES" sz="1000" b="1" err="1">
                <a:solidFill>
                  <a:srgbClr val="C57A00"/>
                </a:solidFill>
                <a:latin typeface="Reddit Sans"/>
                <a:ea typeface="Reddit Sans"/>
              </a:rPr>
              <a:t>for</a:t>
            </a:r>
            <a:r>
              <a:rPr lang="es-ES" sz="1000" b="1">
                <a:solidFill>
                  <a:srgbClr val="C57A00"/>
                </a:solidFill>
                <a:latin typeface="Reddit Sans"/>
                <a:ea typeface="Reddit Sans"/>
              </a:rPr>
              <a:t> IT Service Management)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AI-</a:t>
            </a:r>
            <a:r>
              <a:rPr lang="es-ES" sz="1000" err="1">
                <a:solidFill>
                  <a:srgbClr val="6A655E"/>
                </a:solidFill>
                <a:latin typeface="Reddit Sans"/>
                <a:ea typeface="Reddit Sans"/>
              </a:rPr>
              <a:t>Augmented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2020–2023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GenAI · </a:t>
            </a:r>
            <a:r>
              <a:rPr lang="es-ES" sz="1000" err="1">
                <a:solidFill>
                  <a:srgbClr val="6A655E"/>
                </a:solidFill>
                <a:latin typeface="Reddit Sans"/>
                <a:ea typeface="Reddit Sans"/>
              </a:rPr>
              <a:t>AIOps</a:t>
            </a:r>
          </a:p>
        </p:txBody>
      </p:sp>
      <p:sp>
        <p:nvSpPr>
          <p:cNvPr id="25" name="Label5"/>
          <p:cNvSpPr txBox="1"/>
          <p:nvPr/>
        </p:nvSpPr>
        <p:spPr>
          <a:xfrm>
            <a:off x="7550886" y="1287857"/>
            <a:ext cx="156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Autofit/>
          </a:bodyPr>
          <a:lstStyle/>
          <a:p>
            <a:pPr algn="ctr"/>
            <a:r>
              <a:rPr lang="es-ES" sz="1000" b="1" err="1">
                <a:solidFill>
                  <a:srgbClr val="16233F"/>
                </a:solidFill>
                <a:latin typeface="Reddit Sans"/>
                <a:ea typeface="Reddit Sans"/>
              </a:rPr>
              <a:t>Autonomo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Service </a:t>
            </a:r>
            <a:r>
              <a:rPr lang="es-ES" sz="1000" err="1">
                <a:solidFill>
                  <a:srgbClr val="6A655E"/>
                </a:solidFill>
                <a:latin typeface="Reddit Sans"/>
                <a:ea typeface="Reddit Sans"/>
              </a:rPr>
              <a:t>Desk</a:t>
            </a:r>
          </a:p>
          <a:p>
            <a:pPr algn="ctr"/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2023–2026+</a:t>
            </a:r>
          </a:p>
          <a:p>
            <a:pPr algn="ctr"/>
            <a:r>
              <a:rPr lang="es-ES" sz="1000" err="1">
                <a:solidFill>
                  <a:srgbClr val="6A655E"/>
                </a:solidFill>
                <a:latin typeface="Reddit Sans"/>
                <a:ea typeface="Reddit Sans"/>
              </a:rPr>
              <a:t>Agentic</a:t>
            </a:r>
            <a:r>
              <a:rPr lang="es-ES" sz="1000">
                <a:solidFill>
                  <a:srgbClr val="6A655E"/>
                </a:solidFill>
                <a:latin typeface="Reddit Sans"/>
                <a:ea typeface="Reddit Sans"/>
              </a:rPr>
              <a:t>, XLA</a:t>
            </a:r>
          </a:p>
        </p:txBody>
      </p:sp>
      <p:sp>
        <p:nvSpPr>
          <p:cNvPr id="30" name="ReactiveTag"/>
          <p:cNvSpPr txBox="1"/>
          <p:nvPr/>
        </p:nvSpPr>
        <p:spPr>
          <a:xfrm>
            <a:off x="220000" y="1900386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s-ES" sz="1000">
                <a:solidFill>
                  <a:srgbClr val="9A958D"/>
                </a:solidFill>
                <a:latin typeface="Reddit Sans"/>
                <a:ea typeface="Reddit Sans"/>
              </a:rPr>
              <a:t>Reactivo</a:t>
            </a:r>
          </a:p>
        </p:txBody>
      </p:sp>
      <p:sp>
        <p:nvSpPr>
          <p:cNvPr id="31" name="Caption"/>
          <p:cNvSpPr txBox="1"/>
          <p:nvPr/>
        </p:nvSpPr>
        <p:spPr>
          <a:xfrm>
            <a:off x="542800" y="4225314"/>
            <a:ext cx="3393872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s-ES" sz="900">
                <a:solidFill>
                  <a:schemeClr val="bg2"/>
                </a:solidFill>
                <a:ea typeface="Reddit Sans"/>
              </a:rPr>
              <a:t>Fuentes:</a:t>
            </a:r>
            <a:r>
              <a:rPr lang="es-ES" sz="900">
                <a:solidFill>
                  <a:srgbClr val="E6EDF3"/>
                </a:solidFill>
                <a:ea typeface="Reddit Sans"/>
              </a:rPr>
              <a:t> </a:t>
            </a:r>
            <a:r>
              <a:rPr lang="es-ES" sz="900">
                <a:solidFill>
                  <a:srgbClr val="2F81F7"/>
                </a:solidFill>
                <a:ea typeface="Reddit Sans"/>
                <a:hlinkClick r:id="rId3"/>
              </a:rPr>
              <a:t>DITY/SlideShare</a:t>
            </a:r>
            <a:r>
              <a:rPr lang="es-ES" sz="900">
                <a:solidFill>
                  <a:srgbClr val="E6EDF3"/>
                </a:solidFill>
                <a:ea typeface="Reddit Sans"/>
              </a:rPr>
              <a:t>, </a:t>
            </a:r>
            <a:r>
              <a:rPr lang="es-ES" sz="900">
                <a:solidFill>
                  <a:srgbClr val="2F81F7"/>
                </a:solidFill>
                <a:ea typeface="Reddit Sans"/>
                <a:hlinkClick r:id="rId4"/>
              </a:rPr>
              <a:t>ServiceNow Newsroom</a:t>
            </a:r>
            <a:r>
              <a:rPr lang="es-ES" sz="900">
                <a:solidFill>
                  <a:srgbClr val="E6EDF3"/>
                </a:solidFill>
                <a:ea typeface="Reddit Sans"/>
              </a:rPr>
              <a:t>, </a:t>
            </a:r>
            <a:r>
              <a:rPr lang="es-ES" sz="900">
                <a:solidFill>
                  <a:srgbClr val="2F81F7"/>
                </a:solidFill>
                <a:ea typeface="Reddit Sans"/>
                <a:hlinkClick r:id="rId5"/>
              </a:rPr>
              <a:t>Ivanti</a:t>
            </a:r>
            <a:endParaRPr lang="es-ES" sz="900">
              <a:solidFill>
                <a:srgbClr val="E6EDF3"/>
              </a:solidFill>
              <a:ea typeface="Reddit Sa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EC725A2-EAE2-34C3-D5BA-3A9708D81FF8}"/>
              </a:ext>
            </a:extLst>
          </p:cNvPr>
          <p:cNvSpPr txBox="1"/>
          <p:nvPr/>
        </p:nvSpPr>
        <p:spPr>
          <a:xfrm>
            <a:off x="1965177" y="915080"/>
            <a:ext cx="2405742" cy="230832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900"/>
              <a:t>ITO -&gt; B(Business)PO -&gt; K(</a:t>
            </a:r>
            <a:r>
              <a:rPr lang="es-ES" sz="900" err="1"/>
              <a:t>knowledge</a:t>
            </a:r>
            <a:r>
              <a:rPr lang="es-ES" sz="900"/>
              <a:t>)PO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9E3BD9-659B-D31F-979D-8390EB7FEC6B}"/>
              </a:ext>
            </a:extLst>
          </p:cNvPr>
          <p:cNvSpPr txBox="1"/>
          <p:nvPr/>
        </p:nvSpPr>
        <p:spPr>
          <a:xfrm>
            <a:off x="7718276" y="3342594"/>
            <a:ext cx="1426027" cy="1523494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 u="sng">
                <a:solidFill>
                  <a:srgbClr val="1B7B85"/>
                </a:solidFill>
                <a:latin typeface="Reddit Sans"/>
                <a:ea typeface="Reddit Sans"/>
              </a:rPr>
              <a:t>KCS 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</a:rPr>
              <a:t>(Servicio Centrado en el conocimiento)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</a:rPr>
              <a:t>+IA</a:t>
            </a:r>
            <a:endParaRPr lang="es-ES"/>
          </a:p>
          <a:p>
            <a:endParaRPr lang="en-US" sz="1000" b="1">
              <a:solidFill>
                <a:srgbClr val="1B7B85"/>
              </a:solidFill>
              <a:latin typeface="Reddit Sans"/>
              <a:ea typeface="Reddit Sans"/>
            </a:endParaRPr>
          </a:p>
          <a:p>
            <a:r>
              <a:rPr lang="es-ES" sz="900"/>
              <a:t>Diferencial: Soy más consciente de la operación del negocio. Me vuelvo experto en los procesos de negocio del cliente.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3447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DD985-EB77-52CC-5FEE-24D98A4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700">
                <a:solidFill>
                  <a:srgbClr val="0C2362"/>
                </a:solidFill>
                <a:latin typeface="Arial"/>
                <a:cs typeface="Arial"/>
              </a:rPr>
              <a:t>Mesa </a:t>
            </a:r>
            <a:r>
              <a:rPr lang="en-US" sz="1700" err="1">
                <a:solidFill>
                  <a:srgbClr val="0C2362"/>
                </a:solidFill>
                <a:latin typeface="Arial"/>
                <a:cs typeface="Arial"/>
              </a:rPr>
              <a:t>tradicional</a:t>
            </a:r>
            <a:r>
              <a:rPr lang="en-US" sz="1700">
                <a:solidFill>
                  <a:srgbClr val="0C2362"/>
                </a:solidFill>
                <a:latin typeface="Arial"/>
                <a:cs typeface="Arial"/>
              </a:rPr>
              <a:t> vs. Mesa de Servicio </a:t>
            </a:r>
            <a:r>
              <a:rPr lang="es-ES" sz="1700">
                <a:solidFill>
                  <a:srgbClr val="0C2362"/>
                </a:solidFill>
                <a:latin typeface="Arial"/>
                <a:cs typeface="Arial"/>
              </a:rPr>
              <a:t>de Nueva Generación (Next Gen)</a:t>
            </a:r>
            <a:endParaRPr lang="en-US" sz="1700" b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140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8EDFEC-ABB1-339E-CF7F-12CBE1723304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6 Dimensiones de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diferenciación</a:t>
            </a:r>
            <a:endParaRPr lang="en-US" sz="1200" spc="-25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109FC51-DF2B-0E7E-4D02-78993490CFFB}"/>
              </a:ext>
            </a:extLst>
          </p:cNvPr>
          <p:cNvSpPr/>
          <p:nvPr/>
        </p:nvSpPr>
        <p:spPr>
          <a:xfrm>
            <a:off x="398760" y="947604"/>
            <a:ext cx="8346479" cy="347472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3585282-FF2C-8FA3-AC54-194A315BD2F9}"/>
              </a:ext>
            </a:extLst>
          </p:cNvPr>
          <p:cNvSpPr/>
          <p:nvPr/>
        </p:nvSpPr>
        <p:spPr>
          <a:xfrm>
            <a:off x="432642" y="965892"/>
            <a:ext cx="224367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Dimension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94428-9C97-2FEC-65D9-3C6DEDA633A8}"/>
              </a:ext>
            </a:extLst>
          </p:cNvPr>
          <p:cNvSpPr/>
          <p:nvPr/>
        </p:nvSpPr>
        <p:spPr>
          <a:xfrm>
            <a:off x="2724990" y="965892"/>
            <a:ext cx="29167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B8B8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Mesa Tradicional (N1-N2)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4B5BF16-3054-7DF5-D8B3-DB1940518EDF}"/>
              </a:ext>
            </a:extLst>
          </p:cNvPr>
          <p:cNvSpPr/>
          <p:nvPr/>
        </p:nvSpPr>
        <p:spPr>
          <a:xfrm>
            <a:off x="5716348" y="965892"/>
            <a:ext cx="3051401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Mesa Nueva Generación (N3-N5)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9F1B814-0040-BE23-53BB-35B3EF14F7C6}"/>
              </a:ext>
            </a:extLst>
          </p:cNvPr>
          <p:cNvSpPr/>
          <p:nvPr/>
        </p:nvSpPr>
        <p:spPr>
          <a:xfrm>
            <a:off x="398760" y="1313364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14E09C8-14C8-3692-5B7B-E891CA35EC5B}"/>
              </a:ext>
            </a:extLst>
          </p:cNvPr>
          <p:cNvSpPr/>
          <p:nvPr/>
        </p:nvSpPr>
        <p:spPr>
          <a:xfrm>
            <a:off x="432218" y="136822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Modelo </a:t>
            </a: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operativo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AC25C4D-EF1C-2646-6721-47B11C137BD0}"/>
              </a:ext>
            </a:extLst>
          </p:cNvPr>
          <p:cNvSpPr/>
          <p:nvPr/>
        </p:nvSpPr>
        <p:spPr>
          <a:xfrm>
            <a:off x="2680546" y="149624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252FAD6-1D31-B738-BF93-CD6665A6B594}"/>
              </a:ext>
            </a:extLst>
          </p:cNvPr>
          <p:cNvSpPr/>
          <p:nvPr/>
        </p:nvSpPr>
        <p:spPr>
          <a:xfrm>
            <a:off x="2896610" y="136822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Reactivo · escalado manual N1/N2/N3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B1CEBCD-7A6F-0063-BD97-9EB82C4C527C}"/>
              </a:ext>
            </a:extLst>
          </p:cNvPr>
          <p:cNvSpPr/>
          <p:nvPr/>
        </p:nvSpPr>
        <p:spPr>
          <a:xfrm>
            <a:off x="5688922" y="149624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9ACAE32-59DB-CC33-29DA-C8E1117C2B0F}"/>
              </a:ext>
            </a:extLst>
          </p:cNvPr>
          <p:cNvSpPr/>
          <p:nvPr/>
        </p:nvSpPr>
        <p:spPr>
          <a:xfrm>
            <a:off x="5906171" y="136822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N0-N5 · shift-left inteligente · escalado automatico IA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6C82E92-7B6C-1342-D2F9-CFEDAE8EDC5F}"/>
              </a:ext>
            </a:extLst>
          </p:cNvPr>
          <p:cNvSpPr/>
          <p:nvPr/>
        </p:nvSpPr>
        <p:spPr>
          <a:xfrm>
            <a:off x="398760" y="1880292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BEF1F1E-81E8-0B80-0E39-669A46668C89}"/>
              </a:ext>
            </a:extLst>
          </p:cNvPr>
          <p:cNvSpPr/>
          <p:nvPr/>
        </p:nvSpPr>
        <p:spPr>
          <a:xfrm>
            <a:off x="432218" y="1935156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C96019-A556-2BE6-774A-6511D9E21F67}"/>
              </a:ext>
            </a:extLst>
          </p:cNvPr>
          <p:cNvSpPr/>
          <p:nvPr/>
        </p:nvSpPr>
        <p:spPr>
          <a:xfrm>
            <a:off x="2680546" y="2063172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3CE596E-6836-5764-442A-4C80D163FDCA}"/>
              </a:ext>
            </a:extLst>
          </p:cNvPr>
          <p:cNvSpPr/>
          <p:nvPr/>
        </p:nvSpPr>
        <p:spPr>
          <a:xfrm>
            <a:off x="2896610" y="1935156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Scripts de troubleshooting · FAQs estaticas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5D8DC4-88DC-7170-39D7-4E0709A595CE}"/>
              </a:ext>
            </a:extLst>
          </p:cNvPr>
          <p:cNvSpPr/>
          <p:nvPr/>
        </p:nvSpPr>
        <p:spPr>
          <a:xfrm>
            <a:off x="5688922" y="2063172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93BAFCB-8B94-5B1F-5A88-353060832C48}"/>
              </a:ext>
            </a:extLst>
          </p:cNvPr>
          <p:cNvSpPr/>
          <p:nvPr/>
        </p:nvSpPr>
        <p:spPr>
          <a:xfrm>
            <a:off x="5906171" y="1935156"/>
            <a:ext cx="2839830" cy="430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Virtual agent GenAI 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agentes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autonomos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· </a:t>
            </a:r>
            <a:r>
              <a:rPr lang="en-US" sz="1000" b="1" u="sng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KCS 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(Servicio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Centrado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en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el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conocimiento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+IA</a:t>
            </a:r>
            <a:endParaRPr lang="en-US" sz="1000">
              <a:latin typeface="Reddit Sans"/>
              <a:ea typeface="Reddit Sans"/>
              <a:cs typeface="Calibri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2C76E2F-B967-F164-6ED9-76FA39CDCE0B}"/>
              </a:ext>
            </a:extLst>
          </p:cNvPr>
          <p:cNvSpPr/>
          <p:nvPr/>
        </p:nvSpPr>
        <p:spPr>
          <a:xfrm>
            <a:off x="398760" y="2447220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6A5ED8D-F317-D382-F720-AD103799E8C2}"/>
              </a:ext>
            </a:extLst>
          </p:cNvPr>
          <p:cNvSpPr/>
          <p:nvPr/>
        </p:nvSpPr>
        <p:spPr>
          <a:xfrm>
            <a:off x="432218" y="2502084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Automatización</a:t>
            </a:r>
            <a:endParaRPr lang="en-US" sz="11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A38DA586-75FF-0B0C-D26D-35C038E1ECB0}"/>
              </a:ext>
            </a:extLst>
          </p:cNvPr>
          <p:cNvSpPr/>
          <p:nvPr/>
        </p:nvSpPr>
        <p:spPr>
          <a:xfrm>
            <a:off x="2680546" y="2630100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B2DA6CB-64A1-A8AD-18F5-FC1A041368B1}"/>
              </a:ext>
            </a:extLst>
          </p:cNvPr>
          <p:cNvSpPr/>
          <p:nvPr/>
        </p:nvSpPr>
        <p:spPr>
          <a:xfrm>
            <a:off x="2896610" y="2502084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Workflows basicos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2EC9F9F-4C5E-A75F-3945-D5C09A985936}"/>
              </a:ext>
            </a:extLst>
          </p:cNvPr>
          <p:cNvSpPr/>
          <p:nvPr/>
        </p:nvSpPr>
        <p:spPr>
          <a:xfrm>
            <a:off x="5688922" y="2630100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14BD5C7-EBD6-8EA4-0C44-3D37497CE43A}"/>
              </a:ext>
            </a:extLst>
          </p:cNvPr>
          <p:cNvSpPr/>
          <p:nvPr/>
        </p:nvSpPr>
        <p:spPr>
          <a:xfrm>
            <a:off x="5906171" y="2502084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Self-healing · auto-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remediacion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· &gt;40%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defleccion</a:t>
            </a:r>
            <a:endParaRPr lang="en-US" sz="1000">
              <a:latin typeface="Reddit Sans"/>
              <a:ea typeface="Reddit Sans"/>
              <a:cs typeface="Calibri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CC4E44B-ABFE-9A6D-56B0-BD4DDDB91B8D}"/>
              </a:ext>
            </a:extLst>
          </p:cNvPr>
          <p:cNvSpPr/>
          <p:nvPr/>
        </p:nvSpPr>
        <p:spPr>
          <a:xfrm>
            <a:off x="398760" y="3014148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FE0FC96-7D40-0AEA-4705-1D8EEFA26D26}"/>
              </a:ext>
            </a:extLst>
          </p:cNvPr>
          <p:cNvSpPr/>
          <p:nvPr/>
        </p:nvSpPr>
        <p:spPr>
          <a:xfrm>
            <a:off x="432218" y="3069012"/>
            <a:ext cx="2198804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Observabilidad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E643936-ADB4-18AC-DC7D-F6499124833C}"/>
              </a:ext>
            </a:extLst>
          </p:cNvPr>
          <p:cNvSpPr/>
          <p:nvPr/>
        </p:nvSpPr>
        <p:spPr>
          <a:xfrm>
            <a:off x="2680546" y="3197028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725C4751-01D4-056A-A00A-938223D13D49}"/>
              </a:ext>
            </a:extLst>
          </p:cNvPr>
          <p:cNvSpPr/>
          <p:nvPr/>
        </p:nvSpPr>
        <p:spPr>
          <a:xfrm>
            <a:off x="2896610" y="3069012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Monitoreo reactivo de alertas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3393221-1582-2197-8E3A-0A0C7C255255}"/>
              </a:ext>
            </a:extLst>
          </p:cNvPr>
          <p:cNvSpPr/>
          <p:nvPr/>
        </p:nvSpPr>
        <p:spPr>
          <a:xfrm>
            <a:off x="5688922" y="3197028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ED97B59-AC99-C7E3-7A0A-21894D60C312}"/>
              </a:ext>
            </a:extLst>
          </p:cNvPr>
          <p:cNvSpPr/>
          <p:nvPr/>
        </p:nvSpPr>
        <p:spPr>
          <a:xfrm>
            <a:off x="5906171" y="3069012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AIOps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predictivo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/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simulación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/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optimización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 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prevencion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P1 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correlacion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causa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raiz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958AF314-F533-6648-AB95-D2DA83323FA1}"/>
              </a:ext>
            </a:extLst>
          </p:cNvPr>
          <p:cNvSpPr/>
          <p:nvPr/>
        </p:nvSpPr>
        <p:spPr>
          <a:xfrm>
            <a:off x="398760" y="3581076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DC48C0F-2569-9193-E804-DDFAC21A9BE5}"/>
              </a:ext>
            </a:extLst>
          </p:cNvPr>
          <p:cNvSpPr/>
          <p:nvPr/>
        </p:nvSpPr>
        <p:spPr>
          <a:xfrm>
            <a:off x="432218" y="3635940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Medición</a:t>
            </a:r>
            <a:r>
              <a:rPr lang="en-U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valor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AD8D5078-66D6-3EDE-2B9E-792A3936CD56}"/>
              </a:ext>
            </a:extLst>
          </p:cNvPr>
          <p:cNvSpPr/>
          <p:nvPr/>
        </p:nvSpPr>
        <p:spPr>
          <a:xfrm>
            <a:off x="2680546" y="3763956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7E2076C-25D6-7D82-5D39-5909F60722C9}"/>
              </a:ext>
            </a:extLst>
          </p:cNvPr>
          <p:cNvSpPr/>
          <p:nvPr/>
        </p:nvSpPr>
        <p:spPr>
          <a:xfrm>
            <a:off x="2896610" y="3635940"/>
            <a:ext cx="2692412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SLA / OLA / UC de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cumplimiento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2C9F1672-C41E-1D59-F96B-6F6BB17D1E2D}"/>
              </a:ext>
            </a:extLst>
          </p:cNvPr>
          <p:cNvSpPr/>
          <p:nvPr/>
        </p:nvSpPr>
        <p:spPr>
          <a:xfrm>
            <a:off x="5688922" y="3763956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95B74998-D0F7-1D97-19F5-461413793564}"/>
              </a:ext>
            </a:extLst>
          </p:cNvPr>
          <p:cNvSpPr/>
          <p:nvPr/>
        </p:nvSpPr>
        <p:spPr>
          <a:xfrm>
            <a:off x="5906171" y="3635942"/>
            <a:ext cx="2643886" cy="3919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SLA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Acuerdo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Nivel de Servicio)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XLA 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Acuerdo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Nivel de 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Experiencia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DEX 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Experiencia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Digital del 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Empleado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economico</a:t>
            </a:r>
            <a:endParaRPr lang="en-US" sz="1000" b="1">
              <a:solidFill>
                <a:srgbClr val="1B7B85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F25A429-6E0D-E1CC-AEA9-FE3274389E01}"/>
              </a:ext>
            </a:extLst>
          </p:cNvPr>
          <p:cNvSpPr/>
          <p:nvPr/>
        </p:nvSpPr>
        <p:spPr>
          <a:xfrm>
            <a:off x="398760" y="4148004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1D8BD44-FDC0-B67A-89E7-EB1DD3D5541D}"/>
              </a:ext>
            </a:extLst>
          </p:cNvPr>
          <p:cNvSpPr/>
          <p:nvPr/>
        </p:nvSpPr>
        <p:spPr>
          <a:xfrm>
            <a:off x="432218" y="420286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Evolución</a:t>
            </a:r>
            <a:endParaRPr lang="en-US" sz="11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5B56FC32-C361-5EB7-FC08-0A35299777FB}"/>
              </a:ext>
            </a:extLst>
          </p:cNvPr>
          <p:cNvSpPr/>
          <p:nvPr/>
        </p:nvSpPr>
        <p:spPr>
          <a:xfrm>
            <a:off x="2680546" y="433088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9C685756-3D5A-DDBC-4681-52D0206F6233}"/>
              </a:ext>
            </a:extLst>
          </p:cNvPr>
          <p:cNvSpPr/>
          <p:nvPr/>
        </p:nvSpPr>
        <p:spPr>
          <a:xfrm>
            <a:off x="2896610" y="4202868"/>
            <a:ext cx="2692412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Estatico</a:t>
            </a:r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·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cambios</a:t>
            </a:r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reactivos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CDD1506-C3BD-C2CF-7127-6A709B9B853E}"/>
              </a:ext>
            </a:extLst>
          </p:cNvPr>
          <p:cNvSpPr/>
          <p:nvPr/>
        </p:nvSpPr>
        <p:spPr>
          <a:xfrm>
            <a:off x="5688922" y="433088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C937FD0D-D971-01FD-0A8D-3B8C2D0EDFBE}"/>
              </a:ext>
            </a:extLst>
          </p:cNvPr>
          <p:cNvSpPr/>
          <p:nvPr/>
        </p:nvSpPr>
        <p:spPr>
          <a:xfrm>
            <a:off x="5906171" y="4202868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Roadmap vivo ·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mejora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continua · backlog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priorizado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 · Como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al 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negocio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/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mejora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procesos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. Insights de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al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negocio</a:t>
            </a:r>
            <a:endParaRPr lang="en-US" sz="9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7059F8EC-A143-4406-D482-0C43B83E8332}"/>
              </a:ext>
            </a:extLst>
          </p:cNvPr>
          <p:cNvSpPr txBox="1">
            <a:spLocks noGrp="1"/>
          </p:cNvSpPr>
          <p:nvPr/>
        </p:nvSpPr>
        <p:spPr>
          <a:xfrm>
            <a:off x="396240" y="4750743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Freshservice ITSM Benchmark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Gartner AI in ITSM</a:t>
            </a:r>
            <a:endParaRPr lang="es-ES" sz="700" u="sng">
              <a:solidFill>
                <a:srgbClr val="1A3A8F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389658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ll">
            <a:extLst>
              <a:ext uri="{FF2B5EF4-FFF2-40B4-BE49-F238E27FC236}">
                <a16:creationId xmlns:a16="http://schemas.microsoft.com/office/drawing/2014/main" id="{48A6F9DB-8713-E8A0-0D3B-3DD48A9EFBFB}"/>
              </a:ext>
            </a:extLst>
          </p:cNvPr>
          <p:cNvSpPr>
            <a:spLocks noGrp="1"/>
          </p:cNvSpPr>
          <p:nvPr/>
        </p:nvSpPr>
        <p:spPr>
          <a:xfrm>
            <a:off x="517072" y="1453242"/>
            <a:ext cx="2457450" cy="710294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41FBD87C-2C7A-32E7-1E0A-093B72A29DCF}"/>
              </a:ext>
            </a:extLst>
          </p:cNvPr>
          <p:cNvSpPr>
            <a:spLocks noGrp="1"/>
          </p:cNvSpPr>
          <p:nvPr/>
        </p:nvSpPr>
        <p:spPr>
          <a:xfrm>
            <a:off x="889909" y="1627413"/>
            <a:ext cx="1602922" cy="3837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Agente</a:t>
            </a:r>
            <a:r>
              <a:rPr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virtual</a:t>
            </a:r>
            <a:endParaRPr lang="es-ES" sz="1100" b="1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40" name="pill">
            <a:extLst>
              <a:ext uri="{FF2B5EF4-FFF2-40B4-BE49-F238E27FC236}">
                <a16:creationId xmlns:a16="http://schemas.microsoft.com/office/drawing/2014/main" id="{FD2D3B42-BEE9-36CD-10A0-D8B4E404763D}"/>
              </a:ext>
            </a:extLst>
          </p:cNvPr>
          <p:cNvSpPr>
            <a:spLocks noGrp="1"/>
          </p:cNvSpPr>
          <p:nvPr/>
        </p:nvSpPr>
        <p:spPr>
          <a:xfrm>
            <a:off x="3260272" y="1453242"/>
            <a:ext cx="2457450" cy="710294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E57882B5-EE45-A1C0-8CB5-6EF7E29829E0}"/>
              </a:ext>
            </a:extLst>
          </p:cNvPr>
          <p:cNvSpPr>
            <a:spLocks noGrp="1"/>
          </p:cNvSpPr>
          <p:nvPr/>
        </p:nvSpPr>
        <p:spPr>
          <a:xfrm>
            <a:off x="3350080" y="1507671"/>
            <a:ext cx="2266950" cy="372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Descubrimiento</a:t>
            </a:r>
            <a:r>
              <a:rPr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conocimiento</a:t>
            </a:r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/ Conocimiento de los procesos de negocio</a:t>
            </a:r>
          </a:p>
        </p:txBody>
      </p:sp>
      <p:sp>
        <p:nvSpPr>
          <p:cNvPr id="44" name="pill">
            <a:extLst>
              <a:ext uri="{FF2B5EF4-FFF2-40B4-BE49-F238E27FC236}">
                <a16:creationId xmlns:a16="http://schemas.microsoft.com/office/drawing/2014/main" id="{6325AC71-CF9D-096B-C9B3-F38542DCC605}"/>
              </a:ext>
            </a:extLst>
          </p:cNvPr>
          <p:cNvSpPr>
            <a:spLocks noGrp="1"/>
          </p:cNvSpPr>
          <p:nvPr/>
        </p:nvSpPr>
        <p:spPr>
          <a:xfrm>
            <a:off x="6003472" y="1453242"/>
            <a:ext cx="2457450" cy="710294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">
            <a:extLst>
              <a:ext uri="{FF2B5EF4-FFF2-40B4-BE49-F238E27FC236}">
                <a16:creationId xmlns:a16="http://schemas.microsoft.com/office/drawing/2014/main" id="{898BCFF4-E615-BD8C-673F-CA4B3984A353}"/>
              </a:ext>
            </a:extLst>
          </p:cNvPr>
          <p:cNvSpPr>
            <a:spLocks noGrp="1"/>
          </p:cNvSpPr>
          <p:nvPr/>
        </p:nvSpPr>
        <p:spPr>
          <a:xfrm>
            <a:off x="6115051" y="1687285"/>
            <a:ext cx="2266950" cy="372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Escalamiento</a:t>
            </a:r>
            <a:r>
              <a:rPr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inteligente</a:t>
            </a:r>
            <a:endParaRPr lang="es-ES" sz="1100" b="1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48" name="pill">
            <a:extLst>
              <a:ext uri="{FF2B5EF4-FFF2-40B4-BE49-F238E27FC236}">
                <a16:creationId xmlns:a16="http://schemas.microsoft.com/office/drawing/2014/main" id="{91BB4D74-6BF3-1FC4-CA68-183EE6ADCF6A}"/>
              </a:ext>
            </a:extLst>
          </p:cNvPr>
          <p:cNvSpPr>
            <a:spLocks noGrp="1"/>
          </p:cNvSpPr>
          <p:nvPr/>
        </p:nvSpPr>
        <p:spPr>
          <a:xfrm>
            <a:off x="511629" y="2413906"/>
            <a:ext cx="2457450" cy="710294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">
            <a:extLst>
              <a:ext uri="{FF2B5EF4-FFF2-40B4-BE49-F238E27FC236}">
                <a16:creationId xmlns:a16="http://schemas.microsoft.com/office/drawing/2014/main" id="{23836748-4848-E8D1-1D44-3336B4CFEBF7}"/>
              </a:ext>
            </a:extLst>
          </p:cNvPr>
          <p:cNvSpPr>
            <a:spLocks noGrp="1"/>
          </p:cNvSpPr>
          <p:nvPr/>
        </p:nvSpPr>
        <p:spPr>
          <a:xfrm>
            <a:off x="628651" y="2637064"/>
            <a:ext cx="2266950" cy="372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Triage </a:t>
            </a: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inteligente</a:t>
            </a:r>
            <a:endParaRPr lang="es-ES" sz="1100" b="1" err="1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52" name="pill">
            <a:extLst>
              <a:ext uri="{FF2B5EF4-FFF2-40B4-BE49-F238E27FC236}">
                <a16:creationId xmlns:a16="http://schemas.microsoft.com/office/drawing/2014/main" id="{0A7BB525-07A4-9DA1-EED5-7C67F91029B0}"/>
              </a:ext>
            </a:extLst>
          </p:cNvPr>
          <p:cNvSpPr>
            <a:spLocks noGrp="1"/>
          </p:cNvSpPr>
          <p:nvPr/>
        </p:nvSpPr>
        <p:spPr>
          <a:xfrm>
            <a:off x="3254829" y="2413906"/>
            <a:ext cx="2457450" cy="710294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">
            <a:extLst>
              <a:ext uri="{FF2B5EF4-FFF2-40B4-BE49-F238E27FC236}">
                <a16:creationId xmlns:a16="http://schemas.microsoft.com/office/drawing/2014/main" id="{61992E17-B5C8-7BAE-2480-F55273DCD25C}"/>
              </a:ext>
            </a:extLst>
          </p:cNvPr>
          <p:cNvSpPr>
            <a:spLocks noGrp="1"/>
          </p:cNvSpPr>
          <p:nvPr/>
        </p:nvSpPr>
        <p:spPr>
          <a:xfrm>
            <a:off x="3355522" y="2637064"/>
            <a:ext cx="2266950" cy="372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Categorización</a:t>
            </a:r>
            <a:endParaRPr lang="es-ES" sz="1100" b="1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56" name="pill">
            <a:extLst>
              <a:ext uri="{FF2B5EF4-FFF2-40B4-BE49-F238E27FC236}">
                <a16:creationId xmlns:a16="http://schemas.microsoft.com/office/drawing/2014/main" id="{5616BC14-7E4D-6153-FA79-96C1851F0075}"/>
              </a:ext>
            </a:extLst>
          </p:cNvPr>
          <p:cNvSpPr>
            <a:spLocks noGrp="1"/>
          </p:cNvSpPr>
          <p:nvPr/>
        </p:nvSpPr>
        <p:spPr>
          <a:xfrm>
            <a:off x="5998029" y="2413906"/>
            <a:ext cx="2457450" cy="710294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">
            <a:extLst>
              <a:ext uri="{FF2B5EF4-FFF2-40B4-BE49-F238E27FC236}">
                <a16:creationId xmlns:a16="http://schemas.microsoft.com/office/drawing/2014/main" id="{4FB6D22E-5311-265A-8B75-AFF25DCE1A02}"/>
              </a:ext>
            </a:extLst>
          </p:cNvPr>
          <p:cNvSpPr>
            <a:spLocks noGrp="1"/>
          </p:cNvSpPr>
          <p:nvPr/>
        </p:nvSpPr>
        <p:spPr>
          <a:xfrm>
            <a:off x="6109608" y="2588078"/>
            <a:ext cx="2266950" cy="372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163B8C"/>
                </a:solidFill>
              </a:defRPr>
            </a:pPr>
            <a:r>
              <a:rPr sz="1100" b="1" err="1">
                <a:solidFill>
                  <a:srgbClr val="0D1B5E"/>
                </a:solidFill>
                <a:highlight>
                  <a:srgbClr val="E4E4E4"/>
                </a:highlight>
                <a:latin typeface="Reddit Sans"/>
                <a:ea typeface="Reddit Sans"/>
                <a:cs typeface="Calibri"/>
              </a:rPr>
              <a:t>Swarming</a:t>
            </a:r>
            <a:r>
              <a:rPr sz="1100" b="1">
                <a:solidFill>
                  <a:srgbClr val="0D1B5E"/>
                </a:solidFill>
                <a:highlight>
                  <a:srgbClr val="E4E4E4"/>
                </a:highlight>
                <a:latin typeface="Reddit Sans"/>
                <a:ea typeface="Reddit Sans"/>
                <a:cs typeface="Calibri"/>
              </a:rPr>
              <a:t> de </a:t>
            </a:r>
            <a:r>
              <a:rPr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expertos</a:t>
            </a:r>
            <a:endParaRPr lang="es-ES" sz="1100" b="1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60" name="pill">
            <a:extLst>
              <a:ext uri="{FF2B5EF4-FFF2-40B4-BE49-F238E27FC236}">
                <a16:creationId xmlns:a16="http://schemas.microsoft.com/office/drawing/2014/main" id="{1898A4DD-C6E8-2649-C085-DAEBBDF422DD}"/>
              </a:ext>
            </a:extLst>
          </p:cNvPr>
          <p:cNvSpPr>
            <a:spLocks noGrp="1"/>
          </p:cNvSpPr>
          <p:nvPr/>
        </p:nvSpPr>
        <p:spPr>
          <a:xfrm>
            <a:off x="517072" y="3271156"/>
            <a:ext cx="2457450" cy="704851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">
            <a:extLst>
              <a:ext uri="{FF2B5EF4-FFF2-40B4-BE49-F238E27FC236}">
                <a16:creationId xmlns:a16="http://schemas.microsoft.com/office/drawing/2014/main" id="{C0F5C7BB-0075-66D6-DFA4-8A1FFEBFC63F}"/>
              </a:ext>
            </a:extLst>
          </p:cNvPr>
          <p:cNvSpPr>
            <a:spLocks noGrp="1"/>
          </p:cNvSpPr>
          <p:nvPr/>
        </p:nvSpPr>
        <p:spPr>
          <a:xfrm>
            <a:off x="628651" y="3494314"/>
            <a:ext cx="2266950" cy="372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087B83"/>
                </a:solidFill>
              </a:defRPr>
            </a:pP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Detección</a:t>
            </a:r>
            <a:r>
              <a:rPr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P1</a:t>
            </a:r>
            <a:endParaRPr lang="es-ES" sz="1100" b="1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64" name="pill">
            <a:extLst>
              <a:ext uri="{FF2B5EF4-FFF2-40B4-BE49-F238E27FC236}">
                <a16:creationId xmlns:a16="http://schemas.microsoft.com/office/drawing/2014/main" id="{FC099CE1-9380-CEFB-E740-70FC30F6B770}"/>
              </a:ext>
            </a:extLst>
          </p:cNvPr>
          <p:cNvSpPr>
            <a:spLocks noGrp="1"/>
          </p:cNvSpPr>
          <p:nvPr/>
        </p:nvSpPr>
        <p:spPr>
          <a:xfrm>
            <a:off x="3260272" y="3271156"/>
            <a:ext cx="2457450" cy="704851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">
            <a:extLst>
              <a:ext uri="{FF2B5EF4-FFF2-40B4-BE49-F238E27FC236}">
                <a16:creationId xmlns:a16="http://schemas.microsoft.com/office/drawing/2014/main" id="{6B44A992-7F0B-A82A-DF7D-D542DD438742}"/>
              </a:ext>
            </a:extLst>
          </p:cNvPr>
          <p:cNvSpPr>
            <a:spLocks noGrp="1"/>
          </p:cNvSpPr>
          <p:nvPr/>
        </p:nvSpPr>
        <p:spPr>
          <a:xfrm>
            <a:off x="3371851" y="3494314"/>
            <a:ext cx="2266950" cy="372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087B83"/>
                </a:solidFill>
              </a:defRPr>
            </a:pP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Detección</a:t>
            </a:r>
            <a:r>
              <a:rPr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problemas</a:t>
            </a:r>
            <a:endParaRPr lang="es-ES" sz="1100" b="1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68" name="pill">
            <a:extLst>
              <a:ext uri="{FF2B5EF4-FFF2-40B4-BE49-F238E27FC236}">
                <a16:creationId xmlns:a16="http://schemas.microsoft.com/office/drawing/2014/main" id="{449C3698-5520-68FE-F626-14624B964176}"/>
              </a:ext>
            </a:extLst>
          </p:cNvPr>
          <p:cNvSpPr>
            <a:spLocks noGrp="1"/>
          </p:cNvSpPr>
          <p:nvPr/>
        </p:nvSpPr>
        <p:spPr>
          <a:xfrm>
            <a:off x="6003472" y="3271156"/>
            <a:ext cx="2457450" cy="704851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163B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603FB488-F6ED-C174-16D6-9782A11196E8}"/>
              </a:ext>
            </a:extLst>
          </p:cNvPr>
          <p:cNvSpPr>
            <a:spLocks noGrp="1"/>
          </p:cNvSpPr>
          <p:nvPr/>
        </p:nvSpPr>
        <p:spPr>
          <a:xfrm>
            <a:off x="6115051" y="3494314"/>
            <a:ext cx="2266950" cy="372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1">
                <a:solidFill>
                  <a:srgbClr val="087B83"/>
                </a:solidFill>
              </a:defRPr>
            </a:pPr>
            <a:r>
              <a:rPr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Riesgo de </a:t>
            </a:r>
            <a:r>
              <a:rPr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cambios</a:t>
            </a:r>
            <a:endParaRPr lang="es-ES" sz="1100" b="1" err="1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74" name="text">
            <a:extLst>
              <a:ext uri="{FF2B5EF4-FFF2-40B4-BE49-F238E27FC236}">
                <a16:creationId xmlns:a16="http://schemas.microsoft.com/office/drawing/2014/main" id="{8A32F562-F5D9-F64E-0422-1439F3F2D28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sz="1650" b="1" dirty="0">
                <a:solidFill>
                  <a:srgbClr val="0C2362"/>
                </a:solidFill>
                <a:latin typeface="Reddit Sans Light"/>
              </a:rPr>
              <a:t>Gartner </a:t>
            </a:r>
            <a:r>
              <a:rPr lang="es-ES" sz="1650" b="1" dirty="0">
                <a:solidFill>
                  <a:srgbClr val="0C2362"/>
                </a:solidFill>
                <a:latin typeface="Reddit Sans Light"/>
              </a:rPr>
              <a:t>confirma</a:t>
            </a:r>
            <a:r>
              <a:rPr sz="1650" b="1" dirty="0">
                <a:solidFill>
                  <a:srgbClr val="0C2362"/>
                </a:solidFill>
                <a:latin typeface="Reddit Sans Light"/>
              </a:rPr>
              <a:t> el </a:t>
            </a:r>
            <a:r>
              <a:rPr lang="es-ES" sz="1650" b="1" dirty="0">
                <a:solidFill>
                  <a:srgbClr val="0C2362"/>
                </a:solidFill>
                <a:latin typeface="Reddit Sans Light"/>
              </a:rPr>
              <a:t>cambio donde </a:t>
            </a:r>
            <a:r>
              <a:rPr lang="es-ES" sz="1650" b="1">
                <a:solidFill>
                  <a:srgbClr val="0C2362"/>
                </a:solidFill>
                <a:latin typeface="Reddit Sans Light"/>
              </a:rPr>
              <a:t>la</a:t>
            </a:r>
            <a:r>
              <a:rPr sz="1650" b="1" dirty="0">
                <a:solidFill>
                  <a:srgbClr val="0C2362"/>
                </a:solidFill>
                <a:latin typeface="Reddit Sans Light"/>
              </a:rPr>
              <a:t> </a:t>
            </a:r>
            <a:r>
              <a:rPr lang="es-ES" sz="1650" b="1" dirty="0">
                <a:solidFill>
                  <a:srgbClr val="0C2362"/>
                </a:solidFill>
                <a:latin typeface="Reddit Sans Light"/>
              </a:rPr>
              <a:t>competencia</a:t>
            </a:r>
            <a:r>
              <a:rPr sz="1650" b="1" dirty="0">
                <a:solidFill>
                  <a:srgbClr val="0C2362"/>
                </a:solidFill>
                <a:latin typeface="Reddit Sans Light"/>
              </a:rPr>
              <a:t> </a:t>
            </a:r>
            <a:r>
              <a:rPr lang="es-ES" sz="1650" b="1" dirty="0">
                <a:solidFill>
                  <a:srgbClr val="0C2362"/>
                </a:solidFill>
                <a:latin typeface="Reddit Sans Light"/>
              </a:rPr>
              <a:t>está</a:t>
            </a:r>
            <a:r>
              <a:rPr sz="1650" b="1" dirty="0">
                <a:solidFill>
                  <a:srgbClr val="0C2362"/>
                </a:solidFill>
                <a:latin typeface="Reddit Sans Light"/>
              </a:rPr>
              <a:t> </a:t>
            </a:r>
            <a:r>
              <a:rPr lang="es-ES" sz="1650" b="1" dirty="0">
                <a:solidFill>
                  <a:srgbClr val="0C2362"/>
                </a:solidFill>
                <a:latin typeface="Reddit Sans Light"/>
              </a:rPr>
              <a:t>en</a:t>
            </a:r>
            <a:r>
              <a:rPr sz="1650" b="1" dirty="0">
                <a:solidFill>
                  <a:srgbClr val="0C2362"/>
                </a:solidFill>
                <a:latin typeface="Reddit Sans Light"/>
              </a:rPr>
              <a:t> la </a:t>
            </a:r>
            <a:r>
              <a:rPr lang="es-ES" sz="1650" b="1" dirty="0">
                <a:solidFill>
                  <a:srgbClr val="0C2362"/>
                </a:solidFill>
                <a:latin typeface="Reddit Sans Light"/>
              </a:rPr>
              <a:t>capa</a:t>
            </a:r>
            <a:r>
              <a:rPr sz="1650" b="1" dirty="0">
                <a:solidFill>
                  <a:srgbClr val="0C2362"/>
                </a:solidFill>
                <a:latin typeface="Reddit Sans Light"/>
              </a:rPr>
              <a:t> de IA</a:t>
            </a:r>
          </a:p>
        </p:txBody>
      </p:sp>
      <p:sp>
        <p:nvSpPr>
          <p:cNvPr id="76" name="text">
            <a:extLst>
              <a:ext uri="{FF2B5EF4-FFF2-40B4-BE49-F238E27FC236}">
                <a16:creationId xmlns:a16="http://schemas.microsoft.com/office/drawing/2014/main" id="{C2356CA2-30C0-65B3-F15E-C77283D1B807}"/>
              </a:ext>
            </a:extLst>
          </p:cNvPr>
          <p:cNvSpPr>
            <a:spLocks noGrp="1"/>
          </p:cNvSpPr>
          <p:nvPr/>
        </p:nvSpPr>
        <p:spPr>
          <a:xfrm>
            <a:off x="378279" y="586468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  <a:defRPr sz="1050" b="0">
                <a:solidFill>
                  <a:srgbClr val="9AAEE0"/>
                </a:solidFill>
              </a:defRPr>
            </a:pP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La </a:t>
            </a:r>
            <a:r>
              <a:rPr sz="1200" b="1" u="sng" spc="-25" dirty="0" err="1">
                <a:solidFill>
                  <a:srgbClr val="595959"/>
                </a:solidFill>
                <a:latin typeface="Reddit Sans"/>
                <a:ea typeface="Reddit Sans"/>
              </a:rPr>
              <a:t>plataforma</a:t>
            </a:r>
            <a:r>
              <a:rPr sz="1200" b="1" u="sng" spc="-25" dirty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base se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comoditiza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; la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diferenciación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pasa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a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inteligencia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,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gobierno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y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adopción</a:t>
            </a:r>
            <a:endParaRPr lang="es-ES" sz="1200" spc="-25" dirty="0" err="1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78" name="text">
            <a:extLst>
              <a:ext uri="{FF2B5EF4-FFF2-40B4-BE49-F238E27FC236}">
                <a16:creationId xmlns:a16="http://schemas.microsoft.com/office/drawing/2014/main" id="{4CB190D4-7D01-6345-11B6-657B21028DDE}"/>
              </a:ext>
            </a:extLst>
          </p:cNvPr>
          <p:cNvSpPr>
            <a:spLocks noGrp="1"/>
          </p:cNvSpPr>
          <p:nvPr/>
        </p:nvSpPr>
        <p:spPr>
          <a:xfrm>
            <a:off x="359229" y="881743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  <a:defRPr sz="1050" b="0">
                <a:solidFill>
                  <a:srgbClr val="9AAEE0"/>
                </a:solidFill>
              </a:defRPr>
            </a:pP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9 </a:t>
            </a:r>
            <a:r>
              <a:rPr lang="es-ES" sz="1200" spc="-25" dirty="0">
                <a:solidFill>
                  <a:srgbClr val="595959"/>
                </a:solidFill>
                <a:latin typeface="Reddit Sans"/>
                <a:ea typeface="Reddit Sans"/>
              </a:rPr>
              <a:t>Capacidades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críticas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de</a:t>
            </a:r>
            <a:r>
              <a:rPr sz="1200" b="1" spc="-25" dirty="0">
                <a:solidFill>
                  <a:srgbClr val="595959"/>
                </a:solidFill>
                <a:latin typeface="Reddit Sans"/>
                <a:ea typeface="Reddit Sans"/>
              </a:rPr>
              <a:t> IA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que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ya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definen</a:t>
            </a:r>
            <a:r>
              <a:rPr sz="1200" spc="-25" dirty="0">
                <a:solidFill>
                  <a:srgbClr val="595959"/>
                </a:solidFill>
                <a:latin typeface="Reddit Sans"/>
                <a:ea typeface="Reddit Sans"/>
              </a:rPr>
              <a:t> la </a:t>
            </a:r>
            <a:r>
              <a:rPr sz="1200" spc="-25" dirty="0" err="1">
                <a:solidFill>
                  <a:srgbClr val="595959"/>
                </a:solidFill>
                <a:latin typeface="Reddit Sans"/>
                <a:ea typeface="Reddit Sans"/>
              </a:rPr>
              <a:t>compra</a:t>
            </a:r>
            <a:r>
              <a:rPr lang="es-ES" sz="1200" spc="-25" dirty="0">
                <a:solidFill>
                  <a:srgbClr val="595959"/>
                </a:solidFill>
                <a:latin typeface="Reddit Sans"/>
                <a:ea typeface="Reddit Sans"/>
              </a:rPr>
              <a:t> de la </a:t>
            </a:r>
            <a:r>
              <a:rPr lang="es-ES" sz="1200" b="1" u="sng" spc="-25" dirty="0" err="1">
                <a:solidFill>
                  <a:srgbClr val="595959"/>
                </a:solidFill>
                <a:latin typeface="Reddit Sans"/>
                <a:ea typeface="Reddit Sans"/>
              </a:rPr>
              <a:t>herram</a:t>
            </a:r>
            <a:r>
              <a:rPr lang="es-ES" sz="1200" b="1" u="sng" spc="-25" dirty="0">
                <a:solidFill>
                  <a:srgbClr val="595959"/>
                </a:solidFill>
                <a:latin typeface="Reddit Sans"/>
                <a:ea typeface="Reddit Sans"/>
              </a:rPr>
              <a:t>ienta</a:t>
            </a:r>
          </a:p>
        </p:txBody>
      </p:sp>
      <p:sp>
        <p:nvSpPr>
          <p:cNvPr id="22" name="src">
            <a:extLst>
              <a:ext uri="{FF2B5EF4-FFF2-40B4-BE49-F238E27FC236}">
                <a16:creationId xmlns:a16="http://schemas.microsoft.com/office/drawing/2014/main" id="{FF3FA2E1-A775-4D5A-1218-C2E86C873838}"/>
              </a:ext>
            </a:extLst>
          </p:cNvPr>
          <p:cNvSpPr txBox="1">
            <a:spLocks noGrp="1"/>
          </p:cNvSpPr>
          <p:nvPr/>
        </p:nvSpPr>
        <p:spPr>
          <a:xfrm>
            <a:off x="358140" y="4669100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80" i="1">
                <a:solidFill>
                  <a:srgbClr val="6B7280"/>
                </a:solidFill>
                <a:latin typeface="Reddit Sans Light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Reddit Sans Light"/>
                <a:hlinkClick r:id="rId3"/>
              </a:rPr>
              <a:t>Gartner MQ AI Applications</a:t>
            </a:r>
            <a:r>
              <a:rPr lang="es-ES" sz="780" i="1">
                <a:solidFill>
                  <a:srgbClr val="6B7280"/>
                </a:solidFill>
                <a:latin typeface="Reddit Sans Light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Reddit Sans Light"/>
                <a:hlinkClick r:id="rId4"/>
              </a:rPr>
              <a:t>InvGate</a:t>
            </a:r>
            <a:r>
              <a:rPr lang="es-ES" sz="780" i="1">
                <a:solidFill>
                  <a:srgbClr val="6B7280"/>
                </a:solidFill>
                <a:latin typeface="Reddit Sans Light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Reddit Sans Light"/>
                <a:hlinkClick r:id="rId5"/>
              </a:rPr>
              <a:t>Gartner Retire ITSM MQ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FD5F515-2B3C-D24A-9192-3A61B3D6E3C9}"/>
              </a:ext>
            </a:extLst>
          </p:cNvPr>
          <p:cNvSpPr txBox="1"/>
          <p:nvPr/>
        </p:nvSpPr>
        <p:spPr>
          <a:xfrm>
            <a:off x="3374572" y="1287236"/>
            <a:ext cx="2193473" cy="246221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-apple-system"/>
                <a:ea typeface="-apple-system"/>
                <a:cs typeface="-apple-system"/>
              </a:rPr>
              <a:t>PIR - Post </a:t>
            </a:r>
            <a:r>
              <a:rPr lang="en-US" sz="1000" err="1">
                <a:latin typeface="-apple-system"/>
                <a:ea typeface="-apple-system"/>
                <a:cs typeface="-apple-system"/>
              </a:rPr>
              <a:t>IMplementation</a:t>
            </a:r>
            <a:r>
              <a:rPr lang="en-US" sz="1000">
                <a:latin typeface="-apple-system"/>
                <a:ea typeface="-apple-system"/>
                <a:cs typeface="-apple-system"/>
              </a:rPr>
              <a:t> Review 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69722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4FA26-9892-86D1-3AA5-CADBC4E5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90" y="184990"/>
            <a:ext cx="8211000" cy="572700"/>
          </a:xfrm>
        </p:spPr>
        <p:txBody>
          <a:bodyPr>
            <a:normAutofit/>
          </a:bodyPr>
          <a:lstStyle/>
          <a:p>
            <a:r>
              <a:rPr lang="es-ES" sz="1400"/>
              <a:t>Posicionamiento de Plataformas ITSM</a:t>
            </a:r>
            <a:endParaRPr lang="en-US" sz="1400" b="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F723FB7B-388B-67C2-D240-FF4BB55A64E4}"/>
              </a:ext>
            </a:extLst>
          </p:cNvPr>
          <p:cNvSpPr/>
          <p:nvPr/>
        </p:nvSpPr>
        <p:spPr>
          <a:xfrm>
            <a:off x="8124410" y="46318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B7FD0913-0BB4-5C52-9D4A-CB0B34E195FF}"/>
              </a:ext>
            </a:extLst>
          </p:cNvPr>
          <p:cNvSpPr/>
          <p:nvPr/>
        </p:nvSpPr>
        <p:spPr>
          <a:xfrm>
            <a:off x="333790" y="503344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Todos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venden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AI-first</a:t>
            </a:r>
          </a:p>
        </p:txBody>
      </p:sp>
      <p:sp>
        <p:nvSpPr>
          <p:cNvPr id="42" name="ln">
            <a:extLst>
              <a:ext uri="{FF2B5EF4-FFF2-40B4-BE49-F238E27FC236}">
                <a16:creationId xmlns:a16="http://schemas.microsoft.com/office/drawing/2014/main" id="{3B2ACD73-6A1B-DE81-531C-FD32DE9F39ED}"/>
              </a:ext>
            </a:extLst>
          </p:cNvPr>
          <p:cNvSpPr txBox="1">
            <a:spLocks noGrp="1"/>
          </p:cNvSpPr>
          <p:nvPr/>
        </p:nvSpPr>
        <p:spPr>
          <a:xfrm>
            <a:off x="365760" y="82296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ServiceNow</a:t>
            </a:r>
          </a:p>
        </p:txBody>
      </p:sp>
      <p:sp>
        <p:nvSpPr>
          <p:cNvPr id="44" name="bar">
            <a:extLst>
              <a:ext uri="{FF2B5EF4-FFF2-40B4-BE49-F238E27FC236}">
                <a16:creationId xmlns:a16="http://schemas.microsoft.com/office/drawing/2014/main" id="{3D1853AC-9917-FF21-2CE0-E584F4533EF1}"/>
              </a:ext>
            </a:extLst>
          </p:cNvPr>
          <p:cNvSpPr>
            <a:spLocks noGrp="1"/>
          </p:cNvSpPr>
          <p:nvPr/>
        </p:nvSpPr>
        <p:spPr>
          <a:xfrm>
            <a:off x="1737360" y="822960"/>
            <a:ext cx="2111166" cy="402336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6" name="pct">
            <a:extLst>
              <a:ext uri="{FF2B5EF4-FFF2-40B4-BE49-F238E27FC236}">
                <a16:creationId xmlns:a16="http://schemas.microsoft.com/office/drawing/2014/main" id="{FA468F51-9426-DB15-4B34-C49321EFEC60}"/>
              </a:ext>
            </a:extLst>
          </p:cNvPr>
          <p:cNvSpPr txBox="1">
            <a:spLocks noGrp="1"/>
          </p:cNvSpPr>
          <p:nvPr/>
        </p:nvSpPr>
        <p:spPr>
          <a:xfrm>
            <a:off x="3939966" y="82296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48" name="ln">
            <a:extLst>
              <a:ext uri="{FF2B5EF4-FFF2-40B4-BE49-F238E27FC236}">
                <a16:creationId xmlns:a16="http://schemas.microsoft.com/office/drawing/2014/main" id="{F799D0AD-2748-FF38-83AB-FFDDE6EC4E8D}"/>
              </a:ext>
            </a:extLst>
          </p:cNvPr>
          <p:cNvSpPr txBox="1">
            <a:spLocks noGrp="1"/>
          </p:cNvSpPr>
          <p:nvPr/>
        </p:nvSpPr>
        <p:spPr>
          <a:xfrm>
            <a:off x="365760" y="131673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Atlassian</a:t>
            </a:r>
          </a:p>
        </p:txBody>
      </p:sp>
      <p:sp>
        <p:nvSpPr>
          <p:cNvPr id="50" name="bar">
            <a:extLst>
              <a:ext uri="{FF2B5EF4-FFF2-40B4-BE49-F238E27FC236}">
                <a16:creationId xmlns:a16="http://schemas.microsoft.com/office/drawing/2014/main" id="{3D22674F-15E2-02C3-81B0-94D6D145D268}"/>
              </a:ext>
            </a:extLst>
          </p:cNvPr>
          <p:cNvSpPr>
            <a:spLocks noGrp="1"/>
          </p:cNvSpPr>
          <p:nvPr/>
        </p:nvSpPr>
        <p:spPr>
          <a:xfrm>
            <a:off x="1737360" y="1316736"/>
            <a:ext cx="584850" cy="40233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2" name="pct">
            <a:extLst>
              <a:ext uri="{FF2B5EF4-FFF2-40B4-BE49-F238E27FC236}">
                <a16:creationId xmlns:a16="http://schemas.microsoft.com/office/drawing/2014/main" id="{F7E1EFDD-EB9E-4D81-9E0A-E75EC2F6CE9F}"/>
              </a:ext>
            </a:extLst>
          </p:cNvPr>
          <p:cNvSpPr txBox="1">
            <a:spLocks noGrp="1"/>
          </p:cNvSpPr>
          <p:nvPr/>
        </p:nvSpPr>
        <p:spPr>
          <a:xfrm>
            <a:off x="2413650" y="1316736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12.3%</a:t>
            </a:r>
          </a:p>
        </p:txBody>
      </p:sp>
      <p:sp>
        <p:nvSpPr>
          <p:cNvPr id="54" name="ln">
            <a:extLst>
              <a:ext uri="{FF2B5EF4-FFF2-40B4-BE49-F238E27FC236}">
                <a16:creationId xmlns:a16="http://schemas.microsoft.com/office/drawing/2014/main" id="{694A9F82-8A8D-4636-220C-3EE74279986E}"/>
              </a:ext>
            </a:extLst>
          </p:cNvPr>
          <p:cNvSpPr txBox="1">
            <a:spLocks noGrp="1"/>
          </p:cNvSpPr>
          <p:nvPr/>
        </p:nvSpPr>
        <p:spPr>
          <a:xfrm>
            <a:off x="365760" y="18105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BMC Helix</a:t>
            </a:r>
          </a:p>
        </p:txBody>
      </p:sp>
      <p:sp>
        <p:nvSpPr>
          <p:cNvPr id="56" name="bar">
            <a:extLst>
              <a:ext uri="{FF2B5EF4-FFF2-40B4-BE49-F238E27FC236}">
                <a16:creationId xmlns:a16="http://schemas.microsoft.com/office/drawing/2014/main" id="{AEFCCA6B-6BF6-1164-C99D-8B4D0E0A8DC1}"/>
              </a:ext>
            </a:extLst>
          </p:cNvPr>
          <p:cNvSpPr>
            <a:spLocks noGrp="1"/>
          </p:cNvSpPr>
          <p:nvPr/>
        </p:nvSpPr>
        <p:spPr>
          <a:xfrm>
            <a:off x="1737360" y="1810512"/>
            <a:ext cx="404164" cy="402336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8" name="pct">
            <a:extLst>
              <a:ext uri="{FF2B5EF4-FFF2-40B4-BE49-F238E27FC236}">
                <a16:creationId xmlns:a16="http://schemas.microsoft.com/office/drawing/2014/main" id="{1CA6FE2E-DDA9-A223-26CC-16C70CBAA543}"/>
              </a:ext>
            </a:extLst>
          </p:cNvPr>
          <p:cNvSpPr txBox="1">
            <a:spLocks noGrp="1"/>
          </p:cNvSpPr>
          <p:nvPr/>
        </p:nvSpPr>
        <p:spPr>
          <a:xfrm>
            <a:off x="2232964" y="1810512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8.5%</a:t>
            </a:r>
          </a:p>
        </p:txBody>
      </p:sp>
      <p:sp>
        <p:nvSpPr>
          <p:cNvPr id="60" name="ln">
            <a:extLst>
              <a:ext uri="{FF2B5EF4-FFF2-40B4-BE49-F238E27FC236}">
                <a16:creationId xmlns:a16="http://schemas.microsoft.com/office/drawing/2014/main" id="{AACB0C82-235E-2D44-7E9F-78F6E31F797E}"/>
              </a:ext>
            </a:extLst>
          </p:cNvPr>
          <p:cNvSpPr txBox="1">
            <a:spLocks noGrp="1"/>
          </p:cNvSpPr>
          <p:nvPr/>
        </p:nvSpPr>
        <p:spPr>
          <a:xfrm>
            <a:off x="365760" y="230428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Ivanti</a:t>
            </a:r>
          </a:p>
        </p:txBody>
      </p:sp>
      <p:sp>
        <p:nvSpPr>
          <p:cNvPr id="62" name="bar">
            <a:extLst>
              <a:ext uri="{FF2B5EF4-FFF2-40B4-BE49-F238E27FC236}">
                <a16:creationId xmlns:a16="http://schemas.microsoft.com/office/drawing/2014/main" id="{0B567FCC-D014-06F8-6C73-BC8443561923}"/>
              </a:ext>
            </a:extLst>
          </p:cNvPr>
          <p:cNvSpPr>
            <a:spLocks noGrp="1"/>
          </p:cNvSpPr>
          <p:nvPr/>
        </p:nvSpPr>
        <p:spPr>
          <a:xfrm>
            <a:off x="1737360" y="2304288"/>
            <a:ext cx="294802" cy="402336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4" name="pct">
            <a:extLst>
              <a:ext uri="{FF2B5EF4-FFF2-40B4-BE49-F238E27FC236}">
                <a16:creationId xmlns:a16="http://schemas.microsoft.com/office/drawing/2014/main" id="{AE7418F8-882F-4679-2319-57DEE0F96BC0}"/>
              </a:ext>
            </a:extLst>
          </p:cNvPr>
          <p:cNvSpPr txBox="1">
            <a:spLocks noGrp="1"/>
          </p:cNvSpPr>
          <p:nvPr/>
        </p:nvSpPr>
        <p:spPr>
          <a:xfrm>
            <a:off x="2123602" y="2304288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6.2%</a:t>
            </a:r>
          </a:p>
        </p:txBody>
      </p:sp>
      <p:sp>
        <p:nvSpPr>
          <p:cNvPr id="66" name="ln">
            <a:extLst>
              <a:ext uri="{FF2B5EF4-FFF2-40B4-BE49-F238E27FC236}">
                <a16:creationId xmlns:a16="http://schemas.microsoft.com/office/drawing/2014/main" id="{C93CE046-7A6A-D68D-D495-5957E38B9601}"/>
              </a:ext>
            </a:extLst>
          </p:cNvPr>
          <p:cNvSpPr txBox="1">
            <a:spLocks noGrp="1"/>
          </p:cNvSpPr>
          <p:nvPr/>
        </p:nvSpPr>
        <p:spPr>
          <a:xfrm>
            <a:off x="365760" y="27980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Freshworks</a:t>
            </a:r>
          </a:p>
        </p:txBody>
      </p:sp>
      <p:sp>
        <p:nvSpPr>
          <p:cNvPr id="68" name="bar">
            <a:extLst>
              <a:ext uri="{FF2B5EF4-FFF2-40B4-BE49-F238E27FC236}">
                <a16:creationId xmlns:a16="http://schemas.microsoft.com/office/drawing/2014/main" id="{37077E38-F59E-47AF-07D1-4A736E43E4FB}"/>
              </a:ext>
            </a:extLst>
          </p:cNvPr>
          <p:cNvSpPr>
            <a:spLocks noGrp="1"/>
          </p:cNvSpPr>
          <p:nvPr/>
        </p:nvSpPr>
        <p:spPr>
          <a:xfrm>
            <a:off x="1737360" y="2798064"/>
            <a:ext cx="275783" cy="402336"/>
          </a:xfrm>
          <a:prstGeom prst="roundRect">
            <a:avLst>
              <a:gd name="adj" fmla="val 8000"/>
            </a:avLst>
          </a:prstGeom>
          <a:solidFill>
            <a:srgbClr val="5B6B73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0" name="pct">
            <a:extLst>
              <a:ext uri="{FF2B5EF4-FFF2-40B4-BE49-F238E27FC236}">
                <a16:creationId xmlns:a16="http://schemas.microsoft.com/office/drawing/2014/main" id="{2A47226E-7148-1276-0B4C-831F2B8E1BCD}"/>
              </a:ext>
            </a:extLst>
          </p:cNvPr>
          <p:cNvSpPr txBox="1">
            <a:spLocks noGrp="1"/>
          </p:cNvSpPr>
          <p:nvPr/>
        </p:nvSpPr>
        <p:spPr>
          <a:xfrm>
            <a:off x="2104583" y="2798064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5.8%</a:t>
            </a:r>
          </a:p>
        </p:txBody>
      </p:sp>
      <p:sp>
        <p:nvSpPr>
          <p:cNvPr id="72" name="ln">
            <a:extLst>
              <a:ext uri="{FF2B5EF4-FFF2-40B4-BE49-F238E27FC236}">
                <a16:creationId xmlns:a16="http://schemas.microsoft.com/office/drawing/2014/main" id="{35D29E99-D3CA-BEBB-2A3E-65AD758B6DF9}"/>
              </a:ext>
            </a:extLst>
          </p:cNvPr>
          <p:cNvSpPr txBox="1">
            <a:spLocks noGrp="1"/>
          </p:cNvSpPr>
          <p:nvPr/>
        </p:nvSpPr>
        <p:spPr>
          <a:xfrm>
            <a:off x="365760" y="32918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Otros</a:t>
            </a:r>
          </a:p>
        </p:txBody>
      </p:sp>
      <p:sp>
        <p:nvSpPr>
          <p:cNvPr id="74" name="bar">
            <a:extLst>
              <a:ext uri="{FF2B5EF4-FFF2-40B4-BE49-F238E27FC236}">
                <a16:creationId xmlns:a16="http://schemas.microsoft.com/office/drawing/2014/main" id="{48B9B25E-15B3-3C8B-A9CF-209F1C25E6B0}"/>
              </a:ext>
            </a:extLst>
          </p:cNvPr>
          <p:cNvSpPr>
            <a:spLocks noGrp="1"/>
          </p:cNvSpPr>
          <p:nvPr/>
        </p:nvSpPr>
        <p:spPr>
          <a:xfrm>
            <a:off x="1737360" y="3291840"/>
            <a:ext cx="1084112" cy="402336"/>
          </a:xfrm>
          <a:prstGeom prst="roundRect">
            <a:avLst>
              <a:gd name="adj" fmla="val 8000"/>
            </a:avLst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6" name="pct">
            <a:extLst>
              <a:ext uri="{FF2B5EF4-FFF2-40B4-BE49-F238E27FC236}">
                <a16:creationId xmlns:a16="http://schemas.microsoft.com/office/drawing/2014/main" id="{C739B923-0CF1-E7FC-0CE0-AC503323BE50}"/>
              </a:ext>
            </a:extLst>
          </p:cNvPr>
          <p:cNvSpPr txBox="1">
            <a:spLocks noGrp="1"/>
          </p:cNvSpPr>
          <p:nvPr/>
        </p:nvSpPr>
        <p:spPr>
          <a:xfrm>
            <a:off x="2912912" y="329184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22.8%</a:t>
            </a:r>
          </a:p>
        </p:txBody>
      </p:sp>
      <p:sp>
        <p:nvSpPr>
          <p:cNvPr id="86" name="bn">
            <a:extLst>
              <a:ext uri="{FF2B5EF4-FFF2-40B4-BE49-F238E27FC236}">
                <a16:creationId xmlns:a16="http://schemas.microsoft.com/office/drawing/2014/main" id="{7066C97C-195C-9B3C-074C-F5EA7F30196D}"/>
              </a:ext>
            </a:extLst>
          </p:cNvPr>
          <p:cNvSpPr txBox="1">
            <a:spLocks noGrp="1"/>
          </p:cNvSpPr>
          <p:nvPr/>
        </p:nvSpPr>
        <p:spPr>
          <a:xfrm>
            <a:off x="5507082" y="792045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9</a:t>
            </a:r>
          </a:p>
        </p:txBody>
      </p:sp>
      <p:sp>
        <p:nvSpPr>
          <p:cNvPr id="88" name="bd">
            <a:extLst>
              <a:ext uri="{FF2B5EF4-FFF2-40B4-BE49-F238E27FC236}">
                <a16:creationId xmlns:a16="http://schemas.microsoft.com/office/drawing/2014/main" id="{B6268D97-7923-7BB8-5D8E-F0B6FCF3A71C}"/>
              </a:ext>
            </a:extLst>
          </p:cNvPr>
          <p:cNvSpPr txBox="1">
            <a:spLocks noGrp="1"/>
          </p:cNvSpPr>
          <p:nvPr/>
        </p:nvSpPr>
        <p:spPr>
          <a:xfrm>
            <a:off x="6330042" y="792045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Capacidades IA evaluadas por Gartner
mín. 5 para calificar</a:t>
            </a:r>
          </a:p>
        </p:txBody>
      </p:sp>
      <p:sp>
        <p:nvSpPr>
          <p:cNvPr id="92" name="bn">
            <a:extLst>
              <a:ext uri="{FF2B5EF4-FFF2-40B4-BE49-F238E27FC236}">
                <a16:creationId xmlns:a16="http://schemas.microsoft.com/office/drawing/2014/main" id="{3E8DC062-C6D9-C108-E568-0FBED824BDA1}"/>
              </a:ext>
            </a:extLst>
          </p:cNvPr>
          <p:cNvSpPr txBox="1">
            <a:spLocks noGrp="1"/>
          </p:cNvSpPr>
          <p:nvPr/>
        </p:nvSpPr>
        <p:spPr>
          <a:xfrm>
            <a:off x="5507082" y="1578429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ITIL v5</a:t>
            </a:r>
          </a:p>
        </p:txBody>
      </p:sp>
      <p:sp>
        <p:nvSpPr>
          <p:cNvPr id="94" name="bd">
            <a:extLst>
              <a:ext uri="{FF2B5EF4-FFF2-40B4-BE49-F238E27FC236}">
                <a16:creationId xmlns:a16="http://schemas.microsoft.com/office/drawing/2014/main" id="{609E48BA-D352-26AB-EB4D-208A41127F2D}"/>
              </a:ext>
            </a:extLst>
          </p:cNvPr>
          <p:cNvSpPr txBox="1">
            <a:spLocks noGrp="1"/>
          </p:cNvSpPr>
          <p:nvPr/>
        </p:nvSpPr>
        <p:spPr>
          <a:xfrm>
            <a:off x="6330042" y="1578429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Lanzado 12 feb 2026
Nuevo estándar de la industria</a:t>
            </a:r>
          </a:p>
        </p:txBody>
      </p:sp>
      <p:sp>
        <p:nvSpPr>
          <p:cNvPr id="98" name="bn">
            <a:extLst>
              <a:ext uri="{FF2B5EF4-FFF2-40B4-BE49-F238E27FC236}">
                <a16:creationId xmlns:a16="http://schemas.microsoft.com/office/drawing/2014/main" id="{CC58E608-1FDD-930C-25BC-FED802924F3E}"/>
              </a:ext>
            </a:extLst>
          </p:cNvPr>
          <p:cNvSpPr txBox="1">
            <a:spLocks noGrp="1"/>
          </p:cNvSpPr>
          <p:nvPr/>
        </p:nvSpPr>
        <p:spPr>
          <a:xfrm>
            <a:off x="5507082" y="2364813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68%</a:t>
            </a:r>
          </a:p>
        </p:txBody>
      </p:sp>
      <p:sp>
        <p:nvSpPr>
          <p:cNvPr id="100" name="bd">
            <a:extLst>
              <a:ext uri="{FF2B5EF4-FFF2-40B4-BE49-F238E27FC236}">
                <a16:creationId xmlns:a16="http://schemas.microsoft.com/office/drawing/2014/main" id="{7E57363F-47DB-A74A-AF02-4BCDFC28DCB1}"/>
              </a:ext>
            </a:extLst>
          </p:cNvPr>
          <p:cNvSpPr txBox="1">
            <a:spLocks noGrp="1"/>
          </p:cNvSpPr>
          <p:nvPr/>
        </p:nvSpPr>
        <p:spPr>
          <a:xfrm>
            <a:off x="6330042" y="2364813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Adoptarán XLA en 2026
(Experience Level Agreements)</a:t>
            </a:r>
          </a:p>
        </p:txBody>
      </p:sp>
      <p:sp>
        <p:nvSpPr>
          <p:cNvPr id="104" name="bn">
            <a:extLst>
              <a:ext uri="{FF2B5EF4-FFF2-40B4-BE49-F238E27FC236}">
                <a16:creationId xmlns:a16="http://schemas.microsoft.com/office/drawing/2014/main" id="{B3B47693-D349-15AD-AF78-83FAC494A16A}"/>
              </a:ext>
            </a:extLst>
          </p:cNvPr>
          <p:cNvSpPr txBox="1">
            <a:spLocks noGrp="1"/>
          </p:cNvSpPr>
          <p:nvPr/>
        </p:nvSpPr>
        <p:spPr>
          <a:xfrm>
            <a:off x="5507082" y="3151197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106" name="bd">
            <a:extLst>
              <a:ext uri="{FF2B5EF4-FFF2-40B4-BE49-F238E27FC236}">
                <a16:creationId xmlns:a16="http://schemas.microsoft.com/office/drawing/2014/main" id="{FA9F9116-A413-6B75-BFE3-1D7FBAA1FD52}"/>
              </a:ext>
            </a:extLst>
          </p:cNvPr>
          <p:cNvSpPr txBox="1">
            <a:spLocks noGrp="1"/>
          </p:cNvSpPr>
          <p:nvPr/>
        </p:nvSpPr>
        <p:spPr>
          <a:xfrm>
            <a:off x="6297385" y="3178411"/>
            <a:ext cx="2284910" cy="54210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es-ES" sz="1000" b="1" err="1">
                <a:solidFill>
                  <a:srgbClr val="333333"/>
                </a:solidFill>
                <a:latin typeface="Reddit Sans"/>
                <a:ea typeface="Reddit Sans"/>
              </a:rPr>
              <a:t>ServiceNow</a:t>
            </a:r>
            <a:r>
              <a:rPr lang="es-ES" sz="1000" b="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 Líder
en MQ AI </a:t>
            </a:r>
            <a:r>
              <a:rPr lang="es-ES" sz="1000" err="1">
                <a:solidFill>
                  <a:srgbClr val="333333"/>
                </a:solidFill>
                <a:latin typeface="Reddit Sans"/>
                <a:ea typeface="Reddit Sans"/>
              </a:rPr>
              <a:t>Applications</a:t>
            </a:r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 in ITSM 2025</a:t>
            </a:r>
          </a:p>
        </p:txBody>
      </p:sp>
      <p:sp>
        <p:nvSpPr>
          <p:cNvPr id="110" name="qtxt">
            <a:extLst>
              <a:ext uri="{FF2B5EF4-FFF2-40B4-BE49-F238E27FC236}">
                <a16:creationId xmlns:a16="http://schemas.microsoft.com/office/drawing/2014/main" id="{60BAE401-2A97-E144-0191-1604F0E984C4}"/>
              </a:ext>
            </a:extLst>
          </p:cNvPr>
          <p:cNvSpPr txBox="1">
            <a:spLocks noGrp="1"/>
          </p:cNvSpPr>
          <p:nvPr/>
        </p:nvSpPr>
        <p:spPr>
          <a:xfrm>
            <a:off x="693419" y="3893602"/>
            <a:ext cx="4434840" cy="5617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i="1">
                <a:solidFill>
                  <a:schemeClr val="bg2"/>
                </a:solidFill>
                <a:latin typeface="Reddit Sans"/>
                <a:ea typeface="Reddit Sans"/>
              </a:rPr>
              <a:t>"El diferenciador real está en la plataforma propietaria, profundidad de IA y madurez del modelo de gobierno"</a:t>
            </a: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998551FB-5122-C5E5-7C81-367AD5D1AD71}"/>
              </a:ext>
            </a:extLst>
          </p:cNvPr>
          <p:cNvSpPr txBox="1">
            <a:spLocks noGrp="1"/>
          </p:cNvSpPr>
          <p:nvPr/>
        </p:nvSpPr>
        <p:spPr>
          <a:xfrm>
            <a:off x="630282" y="4631001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3"/>
              </a:rPr>
              <a:t>Gartner MQ AI Applications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4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5"/>
              </a:rPr>
              <a:t>Freshservice XLA Report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6"/>
              </a:rPr>
              <a:t>IDC ITSM Market Share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10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5F133-DCFA-C0B8-1846-1B4B2E47D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328" y="167734"/>
            <a:ext cx="4145187" cy="572700"/>
          </a:xfrm>
        </p:spPr>
        <p:txBody>
          <a:bodyPr>
            <a:normAutofit fontScale="90000"/>
          </a:bodyPr>
          <a:lstStyle/>
          <a:p>
            <a:r>
              <a:rPr lang="en-US" sz="1800" kern="1200" err="1">
                <a:cs typeface="+mn-cs"/>
                <a:sym typeface="Arial"/>
              </a:rPr>
              <a:t>Brechas</a:t>
            </a:r>
            <a:r>
              <a:rPr lang="en-US" sz="1800" kern="1200">
                <a:cs typeface="+mn-cs"/>
                <a:sym typeface="Arial"/>
              </a:rPr>
              <a:t> del mercado y </a:t>
            </a:r>
            <a:r>
              <a:rPr lang="en-US" sz="1800" kern="1200" err="1">
                <a:cs typeface="+mn-cs"/>
                <a:sym typeface="Arial"/>
              </a:rPr>
              <a:t>oportunidades</a:t>
            </a:r>
            <a:endParaRPr lang="es-ES" sz="1800" kern="1200" err="1">
              <a:cs typeface="+mn-cs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95AC8E-9D82-484D-9010-F28844ECB1E3}"/>
              </a:ext>
            </a:extLst>
          </p:cNvPr>
          <p:cNvSpPr txBox="1"/>
          <p:nvPr/>
        </p:nvSpPr>
        <p:spPr>
          <a:xfrm>
            <a:off x="4435928" y="677636"/>
            <a:ext cx="4305301" cy="4129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Falta de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Madurez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  <a:endParaRPr lang="es-ES" sz="1100" b="1" dirty="0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No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existen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modelos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claros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que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ayuden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los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clientes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entender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su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estado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actual y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evolución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Reddit Sans"/>
                <a:cs typeface="Segoe UI"/>
              </a:rPr>
              <a:t>en</a:t>
            </a:r>
            <a:r>
              <a:rPr lang="en-US" sz="1100" dirty="0">
                <a:solidFill>
                  <a:srgbClr val="444444"/>
                </a:solidFill>
                <a:latin typeface="Reddit Sans"/>
                <a:cs typeface="Segoe UI"/>
              </a:rPr>
              <a:t> ITSM con IA.​ </a:t>
            </a:r>
          </a:p>
          <a:p>
            <a:pPr>
              <a:lnSpc>
                <a:spcPct val="150000"/>
              </a:lnSpc>
            </a:pPr>
            <a:endParaRPr lang="en-US" sz="11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Limitada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Gobernanza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de IA​ 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Reddit Sans"/>
                <a:ea typeface="Reddit Sans"/>
              </a:rPr>
              <a:t>La </a:t>
            </a:r>
            <a:r>
              <a:rPr lang="en-US" sz="1100" dirty="0" err="1">
                <a:latin typeface="Reddit Sans"/>
                <a:ea typeface="Reddit Sans"/>
              </a:rPr>
              <a:t>gobernanza</a:t>
            </a:r>
            <a:r>
              <a:rPr lang="en-US" sz="1100" dirty="0">
                <a:latin typeface="Reddit Sans"/>
                <a:ea typeface="Reddit Sans"/>
              </a:rPr>
              <a:t> de </a:t>
            </a:r>
            <a:r>
              <a:rPr lang="en-US" sz="1100" dirty="0" err="1">
                <a:latin typeface="Reddit Sans"/>
                <a:ea typeface="Reddit Sans"/>
              </a:rPr>
              <a:t>inteligencia</a:t>
            </a:r>
            <a:r>
              <a:rPr lang="en-US" sz="1100" dirty="0">
                <a:latin typeface="Reddit Sans"/>
                <a:ea typeface="Reddit Sans"/>
              </a:rPr>
              <a:t> artificial </a:t>
            </a:r>
            <a:r>
              <a:rPr lang="en-US" sz="1100" dirty="0" err="1">
                <a:latin typeface="Reddit Sans"/>
                <a:ea typeface="Reddit Sans"/>
              </a:rPr>
              <a:t>está</a:t>
            </a:r>
            <a:r>
              <a:rPr lang="en-US" sz="1100" dirty="0">
                <a:latin typeface="Reddit Sans"/>
                <a:ea typeface="Reddit Sans"/>
              </a:rPr>
              <a:t> poco </a:t>
            </a:r>
            <a:r>
              <a:rPr lang="en-US" sz="1100" dirty="0" err="1">
                <a:latin typeface="Reddit Sans"/>
                <a:ea typeface="Reddit Sans"/>
              </a:rPr>
              <a:t>desarrollada</a:t>
            </a:r>
            <a:r>
              <a:rPr lang="en-US" sz="1100" dirty="0">
                <a:latin typeface="Reddit Sans"/>
                <a:ea typeface="Reddit Sans"/>
              </a:rPr>
              <a:t>, </a:t>
            </a:r>
            <a:r>
              <a:rPr lang="en-US" sz="1100" dirty="0" err="1">
                <a:latin typeface="Reddit Sans"/>
                <a:ea typeface="Reddit Sans"/>
              </a:rPr>
              <a:t>creando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riesgos</a:t>
            </a:r>
            <a:r>
              <a:rPr lang="en-US" sz="1100" dirty="0">
                <a:latin typeface="Reddit Sans"/>
                <a:ea typeface="Reddit Sans"/>
              </a:rPr>
              <a:t> y </a:t>
            </a:r>
            <a:r>
              <a:rPr lang="en-US" sz="1100" dirty="0" err="1">
                <a:latin typeface="Reddit Sans"/>
                <a:ea typeface="Reddit Sans"/>
              </a:rPr>
              <a:t>limitando</a:t>
            </a:r>
            <a:r>
              <a:rPr lang="en-US" sz="1100" dirty="0">
                <a:latin typeface="Reddit Sans"/>
                <a:ea typeface="Reddit Sans"/>
              </a:rPr>
              <a:t> la </a:t>
            </a:r>
            <a:r>
              <a:rPr lang="en-US" sz="1100" dirty="0" err="1">
                <a:latin typeface="Reddit Sans"/>
                <a:ea typeface="Reddit Sans"/>
              </a:rPr>
              <a:t>adopción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tecnológica</a:t>
            </a:r>
            <a:r>
              <a:rPr lang="en-US" sz="1100" dirty="0">
                <a:latin typeface="Reddit Sans"/>
                <a:ea typeface="Reddit Sans"/>
              </a:rPr>
              <a:t>.​ </a:t>
            </a:r>
          </a:p>
          <a:p>
            <a:pPr>
              <a:lnSpc>
                <a:spcPct val="150000"/>
              </a:lnSpc>
            </a:pPr>
            <a:endParaRPr lang="en-U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Desalineación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de Pricing​ 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Reddit Sans"/>
                <a:ea typeface="Reddit Sans"/>
              </a:rPr>
              <a:t>Los </a:t>
            </a:r>
            <a:r>
              <a:rPr lang="en-US" sz="1100" dirty="0" err="1">
                <a:latin typeface="Reddit Sans"/>
                <a:ea typeface="Reddit Sans"/>
              </a:rPr>
              <a:t>modelos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tradicionales</a:t>
            </a:r>
            <a:r>
              <a:rPr lang="en-US" sz="1100" dirty="0">
                <a:latin typeface="Reddit Sans"/>
                <a:ea typeface="Reddit Sans"/>
              </a:rPr>
              <a:t> de pricing no se </a:t>
            </a:r>
            <a:r>
              <a:rPr lang="en-US" sz="1100" dirty="0" err="1">
                <a:latin typeface="Reddit Sans"/>
                <a:ea typeface="Reddit Sans"/>
              </a:rPr>
              <a:t>alinean</a:t>
            </a:r>
            <a:r>
              <a:rPr lang="en-US" sz="1100" dirty="0">
                <a:latin typeface="Reddit Sans"/>
                <a:ea typeface="Reddit Sans"/>
              </a:rPr>
              <a:t> con </a:t>
            </a:r>
            <a:r>
              <a:rPr lang="en-US" sz="1100" dirty="0" err="1">
                <a:latin typeface="Reddit Sans"/>
                <a:ea typeface="Reddit Sans"/>
              </a:rPr>
              <a:t>resultados</a:t>
            </a:r>
            <a:r>
              <a:rPr lang="en-US" sz="1100" dirty="0">
                <a:latin typeface="Reddit Sans"/>
                <a:ea typeface="Reddit Sans"/>
              </a:rPr>
              <a:t> de </a:t>
            </a:r>
            <a:r>
              <a:rPr lang="en-US" sz="1100" dirty="0" err="1">
                <a:latin typeface="Reddit Sans"/>
                <a:ea typeface="Reddit Sans"/>
              </a:rPr>
              <a:t>negocio</a:t>
            </a:r>
            <a:r>
              <a:rPr lang="en-US" sz="1100" dirty="0">
                <a:latin typeface="Reddit Sans"/>
                <a:ea typeface="Reddit Sans"/>
              </a:rPr>
              <a:t>, </a:t>
            </a:r>
            <a:r>
              <a:rPr lang="en-US" sz="1100" dirty="0" err="1">
                <a:latin typeface="Reddit Sans"/>
                <a:ea typeface="Reddit Sans"/>
              </a:rPr>
              <a:t>dificultando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demostrar</a:t>
            </a:r>
            <a:r>
              <a:rPr lang="en-US" sz="1100" dirty="0">
                <a:latin typeface="Reddit Sans"/>
                <a:ea typeface="Reddit Sans"/>
              </a:rPr>
              <a:t> valor tangible.​ </a:t>
            </a:r>
          </a:p>
          <a:p>
            <a:pPr>
              <a:lnSpc>
                <a:spcPct val="150000"/>
              </a:lnSpc>
            </a:pPr>
            <a:endParaRPr lang="en-US" sz="11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Oportunidad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 </a:t>
            </a:r>
            <a:r>
              <a:rPr lang="en-US" sz="1100" b="1" dirty="0" err="1">
                <a:solidFill>
                  <a:srgbClr val="0E337C"/>
                </a:solidFill>
                <a:latin typeface="Reddit Sans"/>
                <a:cs typeface="Segoe UI"/>
              </a:rPr>
              <a:t>Estratégica</a:t>
            </a:r>
            <a:r>
              <a:rPr lang="en-US" sz="1100" b="1" dirty="0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Reddit Sans"/>
                <a:ea typeface="Reddit Sans"/>
              </a:rPr>
              <a:t>Un framework </a:t>
            </a:r>
            <a:r>
              <a:rPr lang="en-US" sz="1100" dirty="0" err="1">
                <a:latin typeface="Reddit Sans"/>
                <a:ea typeface="Reddit Sans"/>
              </a:rPr>
              <a:t>operativo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completo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que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integre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madurez</a:t>
            </a:r>
            <a:r>
              <a:rPr lang="en-US" sz="1100" dirty="0">
                <a:latin typeface="Reddit Sans"/>
                <a:ea typeface="Reddit Sans"/>
              </a:rPr>
              <a:t>, </a:t>
            </a:r>
            <a:r>
              <a:rPr lang="en-US" sz="1100" dirty="0" err="1">
                <a:latin typeface="Reddit Sans"/>
                <a:ea typeface="Reddit Sans"/>
              </a:rPr>
              <a:t>gobernanza</a:t>
            </a:r>
            <a:r>
              <a:rPr lang="en-US" sz="1100" dirty="0">
                <a:latin typeface="Reddit Sans"/>
                <a:ea typeface="Reddit Sans"/>
              </a:rPr>
              <a:t> y </a:t>
            </a:r>
            <a:r>
              <a:rPr lang="en-US" sz="1100" dirty="0" err="1">
                <a:latin typeface="Reddit Sans"/>
                <a:ea typeface="Reddit Sans"/>
              </a:rPr>
              <a:t>alineación</a:t>
            </a:r>
            <a:r>
              <a:rPr lang="en-US" sz="1100" dirty="0">
                <a:latin typeface="Reddit Sans"/>
                <a:ea typeface="Reddit Sans"/>
              </a:rPr>
              <a:t> a </a:t>
            </a:r>
            <a:r>
              <a:rPr lang="en-US" sz="1100" dirty="0" err="1">
                <a:latin typeface="Reddit Sans"/>
                <a:ea typeface="Reddit Sans"/>
              </a:rPr>
              <a:t>resultados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garantiza</a:t>
            </a:r>
            <a:r>
              <a:rPr lang="en-US" sz="1100" dirty="0">
                <a:latin typeface="Reddit Sans"/>
                <a:ea typeface="Reddit Sans"/>
              </a:rPr>
              <a:t> </a:t>
            </a:r>
            <a:r>
              <a:rPr lang="en-US" sz="1100" dirty="0" err="1">
                <a:latin typeface="Reddit Sans"/>
                <a:ea typeface="Reddit Sans"/>
              </a:rPr>
              <a:t>diferenciación</a:t>
            </a:r>
            <a:r>
              <a:rPr lang="en-US" sz="1100" dirty="0">
                <a:latin typeface="Reddit Sans"/>
                <a:ea typeface="Reddit Sans"/>
              </a:rPr>
              <a:t> y valor continuo.</a:t>
            </a:r>
          </a:p>
        </p:txBody>
      </p:sp>
      <p:pic>
        <p:nvPicPr>
          <p:cNvPr id="3" name="Imagen 2" descr="a gap in a bridge">
            <a:extLst>
              <a:ext uri="{FF2B5EF4-FFF2-40B4-BE49-F238E27FC236}">
                <a16:creationId xmlns:a16="http://schemas.microsoft.com/office/drawing/2014/main" id="{BD44B07F-ABDF-9330-3F0C-7F511A48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" r="1872" b="156"/>
          <a:stretch>
            <a:fillRect/>
          </a:stretch>
        </p:blipFill>
        <p:spPr>
          <a:xfrm>
            <a:off x="-961736" y="-2041"/>
            <a:ext cx="5015016" cy="515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72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504ED-8B97-81B2-4F4C-21B23196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/>
              <a:t>7 Tendencias que definen el mercado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914D8E-EF4F-E49C-D425-6F1DA6C85EAE}"/>
              </a:ext>
            </a:extLst>
          </p:cNvPr>
          <p:cNvSpPr/>
          <p:nvPr/>
        </p:nvSpPr>
        <p:spPr>
          <a:xfrm>
            <a:off x="329974" y="1177869"/>
            <a:ext cx="2000250" cy="1577408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B283EB-57A8-42D5-CE59-F1D70F74631A}"/>
              </a:ext>
            </a:extLst>
          </p:cNvPr>
          <p:cNvSpPr/>
          <p:nvPr/>
        </p:nvSpPr>
        <p:spPr>
          <a:xfrm>
            <a:off x="544286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GenAI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140BA4D-F980-4124-1CF0-2198CE56A45B}"/>
              </a:ext>
            </a:extLst>
          </p:cNvPr>
          <p:cNvSpPr/>
          <p:nvPr/>
        </p:nvSpPr>
        <p:spPr>
          <a:xfrm>
            <a:off x="544286" y="1686839"/>
            <a:ext cx="1856817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Integración de modelos de</a:t>
            </a:r>
            <a:b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lenguaje para la automatización</a:t>
            </a:r>
            <a:b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creativa y analítica.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29B338D-5614-647D-E3E6-D2E11960480B}"/>
              </a:ext>
            </a:extLst>
          </p:cNvPr>
          <p:cNvSpPr/>
          <p:nvPr/>
        </p:nvSpPr>
        <p:spPr>
          <a:xfrm>
            <a:off x="1062209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0" descr="-250ad3de.png">
            <a:extLst>
              <a:ext uri="{FF2B5EF4-FFF2-40B4-BE49-F238E27FC236}">
                <a16:creationId xmlns:a16="http://schemas.microsoft.com/office/drawing/2014/main" id="{B69AE644-2A42-B766-51B8-70F60D0D4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96" y="1046016"/>
            <a:ext cx="350044" cy="292894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15E70DEB-F9B2-1D78-1292-7BE533CE32D9}"/>
              </a:ext>
            </a:extLst>
          </p:cNvPr>
          <p:cNvSpPr/>
          <p:nvPr/>
        </p:nvSpPr>
        <p:spPr>
          <a:xfrm>
            <a:off x="2473099" y="1177869"/>
            <a:ext cx="2000250" cy="1577408"/>
          </a:xfrm>
          <a:prstGeom prst="rect">
            <a:avLst/>
          </a:prstGeom>
          <a:solidFill>
            <a:srgbClr val="1F9CD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9B0020B-9630-E782-722E-3CEB80025705}"/>
              </a:ext>
            </a:extLst>
          </p:cNvPr>
          <p:cNvSpPr/>
          <p:nvPr/>
        </p:nvSpPr>
        <p:spPr>
          <a:xfrm>
            <a:off x="2687411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Agentic AI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48E31E9-9B04-0A0E-1EB2-562A6D4B5520}"/>
              </a:ext>
            </a:extLst>
          </p:cNvPr>
          <p:cNvSpPr/>
          <p:nvPr/>
        </p:nvSpPr>
        <p:spPr>
          <a:xfrm>
            <a:off x="2687411" y="1686839"/>
            <a:ext cx="1785938" cy="625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hacia sistemas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autónomos capaces de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ejecutar procesos complejos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sin intervención humana.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4494A8F9-2CA1-EE94-50DD-07B6319B31F7}"/>
              </a:ext>
            </a:extLst>
          </p:cNvPr>
          <p:cNvSpPr/>
          <p:nvPr/>
        </p:nvSpPr>
        <p:spPr>
          <a:xfrm>
            <a:off x="3205334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CA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" descr="5719bd22.png">
            <a:extLst>
              <a:ext uri="{FF2B5EF4-FFF2-40B4-BE49-F238E27FC236}">
                <a16:creationId xmlns:a16="http://schemas.microsoft.com/office/drawing/2014/main" id="{3F0F8949-CEF4-3624-F5AE-3799455C0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093" y="1058572"/>
            <a:ext cx="271463" cy="242888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1A331B34-3EDC-F8F7-950A-E16FB0391DB2}"/>
              </a:ext>
            </a:extLst>
          </p:cNvPr>
          <p:cNvSpPr/>
          <p:nvPr/>
        </p:nvSpPr>
        <p:spPr>
          <a:xfrm>
            <a:off x="4616224" y="1177869"/>
            <a:ext cx="2000250" cy="1577408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DE1921A-6D04-7054-5B36-D540BA7EF308}"/>
              </a:ext>
            </a:extLst>
          </p:cNvPr>
          <p:cNvSpPr/>
          <p:nvPr/>
        </p:nvSpPr>
        <p:spPr>
          <a:xfrm>
            <a:off x="4830536" y="1470964"/>
            <a:ext cx="1785938" cy="3422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KCS (Knowledge</a:t>
            </a:r>
            <a:b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Centered Service)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9878086-71B8-D5D4-C28C-28BED7DAF15C}"/>
              </a:ext>
            </a:extLst>
          </p:cNvPr>
          <p:cNvSpPr/>
          <p:nvPr/>
        </p:nvSpPr>
        <p:spPr>
          <a:xfrm>
            <a:off x="4830536" y="1857953"/>
            <a:ext cx="178593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Maximización del valor del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 en la resolución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incidencias.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62E42AE-F2EA-E4AB-4C57-AF5C20E60CB7}"/>
              </a:ext>
            </a:extLst>
          </p:cNvPr>
          <p:cNvSpPr/>
          <p:nvPr/>
        </p:nvSpPr>
        <p:spPr>
          <a:xfrm>
            <a:off x="5348459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2" descr="0016b4a2.png">
            <a:extLst>
              <a:ext uri="{FF2B5EF4-FFF2-40B4-BE49-F238E27FC236}">
                <a16:creationId xmlns:a16="http://schemas.microsoft.com/office/drawing/2014/main" id="{1D6E04B2-8B63-78D6-9D55-1E6D92951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168" y="1058573"/>
            <a:ext cx="185738" cy="242888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D4162BD6-CC4C-6409-52B4-AD0C1344ED64}"/>
              </a:ext>
            </a:extLst>
          </p:cNvPr>
          <p:cNvSpPr/>
          <p:nvPr/>
        </p:nvSpPr>
        <p:spPr>
          <a:xfrm>
            <a:off x="6759349" y="1177869"/>
            <a:ext cx="2000250" cy="1577408"/>
          </a:xfrm>
          <a:prstGeom prst="rect">
            <a:avLst/>
          </a:prstGeom>
          <a:solidFill>
            <a:srgbClr val="1A80B3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8919F73-7DAD-D929-DD8E-4444AF5D4FB0}"/>
              </a:ext>
            </a:extLst>
          </p:cNvPr>
          <p:cNvSpPr/>
          <p:nvPr/>
        </p:nvSpPr>
        <p:spPr>
          <a:xfrm>
            <a:off x="6973661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Shift-Left</a:t>
            </a:r>
            <a:endParaRPr lang="en-US" sz="1150" kern="0" spc="-71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8D368FF9-9D8F-56EF-7E1D-19F517A0F602}"/>
              </a:ext>
            </a:extLst>
          </p:cNvPr>
          <p:cNvSpPr/>
          <p:nvPr/>
        </p:nvSpPr>
        <p:spPr>
          <a:xfrm>
            <a:off x="6973661" y="1686839"/>
            <a:ext cx="1785938" cy="625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Estrategia</a:t>
            </a:r>
            <a: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</a:t>
            </a: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trasladar</a:t>
            </a:r>
            <a: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la</a:t>
            </a:r>
            <a:br>
              <a:rPr lang="en-US" sz="900" kern="0" spc="-18" dirty="0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resolución</a:t>
            </a:r>
            <a: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</a:t>
            </a: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problemas</a:t>
            </a:r>
            <a: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900" kern="0" spc="-18" dirty="0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etapas</a:t>
            </a:r>
            <a: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más</a:t>
            </a:r>
            <a: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temprana</a:t>
            </a: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s</a:t>
            </a:r>
            <a: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 o al</a:t>
            </a:r>
            <a:b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18" dirty="0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. </a:t>
            </a:r>
            <a:r>
              <a:rPr lang="es-ES" sz="900" kern="0" spc="-18" dirty="0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Para anticipar, automatizar y resolver. </a:t>
            </a:r>
            <a:endParaRPr lang="en-US" sz="900" kern="0" spc="-18" dirty="0">
              <a:solidFill>
                <a:srgbClr val="FFFFFF">
                  <a:alpha val="80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FBF9F1F8-8EF8-9FDC-4671-08D01B901A07}"/>
              </a:ext>
            </a:extLst>
          </p:cNvPr>
          <p:cNvSpPr/>
          <p:nvPr/>
        </p:nvSpPr>
        <p:spPr>
          <a:xfrm>
            <a:off x="7491584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3" descr="01f2aa22.png">
            <a:extLst>
              <a:ext uri="{FF2B5EF4-FFF2-40B4-BE49-F238E27FC236}">
                <a16:creationId xmlns:a16="http://schemas.microsoft.com/office/drawing/2014/main" id="{D6F53355-D8DC-9F6D-10CF-C1B3B891E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317" y="1086864"/>
            <a:ext cx="221456" cy="192881"/>
          </a:xfrm>
          <a:prstGeom prst="rect">
            <a:avLst/>
          </a:prstGeom>
        </p:spPr>
      </p:pic>
      <p:sp>
        <p:nvSpPr>
          <p:cNvPr id="44" name="Shape 18">
            <a:extLst>
              <a:ext uri="{FF2B5EF4-FFF2-40B4-BE49-F238E27FC236}">
                <a16:creationId xmlns:a16="http://schemas.microsoft.com/office/drawing/2014/main" id="{81737293-8CAF-169F-7774-5574CAB89C32}"/>
              </a:ext>
            </a:extLst>
          </p:cNvPr>
          <p:cNvSpPr/>
          <p:nvPr/>
        </p:nvSpPr>
        <p:spPr>
          <a:xfrm>
            <a:off x="329974" y="3056504"/>
            <a:ext cx="2714625" cy="1435894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E020F63A-F911-8F36-EA07-8CC6B000F0CA}"/>
              </a:ext>
            </a:extLst>
          </p:cNvPr>
          <p:cNvSpPr/>
          <p:nvPr/>
        </p:nvSpPr>
        <p:spPr>
          <a:xfrm>
            <a:off x="5442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 dirty="0">
                <a:solidFill>
                  <a:srgbClr val="FFFFFF"/>
                </a:solidFill>
                <a:latin typeface="Reddit Sans"/>
                <a:ea typeface="Reddit Sans"/>
              </a:rPr>
              <a:t>De SLA  a Outcomes</a:t>
            </a:r>
            <a:endParaRPr lang="en-US" sz="1013" dirty="0">
              <a:latin typeface="Reddit Sans"/>
              <a:ea typeface="Reddit Sans"/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9306C6FE-541D-EC45-829C-43F54F164A86}"/>
              </a:ext>
            </a:extLst>
          </p:cNvPr>
          <p:cNvSpPr/>
          <p:nvPr/>
        </p:nvSpPr>
        <p:spPr>
          <a:xfrm>
            <a:off x="544286" y="3652560"/>
            <a:ext cx="2500313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orientado a resultados de negocio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tangibles más que a la mera entrega de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F3381207-CB2F-887C-8F55-E7829979166C}"/>
              </a:ext>
            </a:extLst>
          </p:cNvPr>
          <p:cNvSpPr/>
          <p:nvPr/>
        </p:nvSpPr>
        <p:spPr>
          <a:xfrm>
            <a:off x="14193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52" name="Image 4" descr="-327b961e.png">
            <a:extLst>
              <a:ext uri="{FF2B5EF4-FFF2-40B4-BE49-F238E27FC236}">
                <a16:creationId xmlns:a16="http://schemas.microsoft.com/office/drawing/2014/main" id="{385C9FAC-1EAE-4F2C-78FC-347EE9307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0548" y="2965462"/>
            <a:ext cx="214313" cy="178594"/>
          </a:xfrm>
          <a:prstGeom prst="rect">
            <a:avLst/>
          </a:prstGeom>
        </p:spPr>
      </p:pic>
      <p:sp>
        <p:nvSpPr>
          <p:cNvPr id="54" name="Shape 22">
            <a:extLst>
              <a:ext uri="{FF2B5EF4-FFF2-40B4-BE49-F238E27FC236}">
                <a16:creationId xmlns:a16="http://schemas.microsoft.com/office/drawing/2014/main" id="{823B772D-821C-8266-2E30-C973A89E2810}"/>
              </a:ext>
            </a:extLst>
          </p:cNvPr>
          <p:cNvSpPr/>
          <p:nvPr/>
        </p:nvSpPr>
        <p:spPr>
          <a:xfrm>
            <a:off x="3187474" y="3056504"/>
            <a:ext cx="2714625" cy="1435894"/>
          </a:xfrm>
          <a:prstGeom prst="rect">
            <a:avLst/>
          </a:prstGeom>
          <a:solidFill>
            <a:srgbClr val="14638B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AFE3D3EA-0E11-55F8-EB0A-B9BC9EDDE1DE}"/>
              </a:ext>
            </a:extLst>
          </p:cNvPr>
          <p:cNvSpPr/>
          <p:nvPr/>
        </p:nvSpPr>
        <p:spPr>
          <a:xfrm>
            <a:off x="34017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Observabilidad predictiva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2E6251BF-E52F-C8C2-CF80-4D95449F579A}"/>
              </a:ext>
            </a:extLst>
          </p:cNvPr>
          <p:cNvSpPr/>
          <p:nvPr/>
        </p:nvSpPr>
        <p:spPr>
          <a:xfrm>
            <a:off x="3401787" y="3652561"/>
            <a:ext cx="2568959" cy="3125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Uso de análisis avanzado para prevenir fallos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antes de que afecten al usuario.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AD745265-C508-4540-E17D-28FB8AC17B20}"/>
              </a:ext>
            </a:extLst>
          </p:cNvPr>
          <p:cNvSpPr/>
          <p:nvPr/>
        </p:nvSpPr>
        <p:spPr>
          <a:xfrm>
            <a:off x="42768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435E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5" descr="53d78b62.png">
            <a:extLst>
              <a:ext uri="{FF2B5EF4-FFF2-40B4-BE49-F238E27FC236}">
                <a16:creationId xmlns:a16="http://schemas.microsoft.com/office/drawing/2014/main" id="{2243BDA0-3EE6-B4D8-E202-6A592148B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2934" y="2971741"/>
            <a:ext cx="271463" cy="171450"/>
          </a:xfrm>
          <a:prstGeom prst="rect">
            <a:avLst/>
          </a:prstGeom>
        </p:spPr>
      </p:pic>
      <p:sp>
        <p:nvSpPr>
          <p:cNvPr id="64" name="Shape 26">
            <a:extLst>
              <a:ext uri="{FF2B5EF4-FFF2-40B4-BE49-F238E27FC236}">
                <a16:creationId xmlns:a16="http://schemas.microsoft.com/office/drawing/2014/main" id="{B77E5D54-B14F-B6EC-AB4F-43CD1959D409}"/>
              </a:ext>
            </a:extLst>
          </p:cNvPr>
          <p:cNvSpPr/>
          <p:nvPr/>
        </p:nvSpPr>
        <p:spPr>
          <a:xfrm>
            <a:off x="6044974" y="3056504"/>
            <a:ext cx="2714625" cy="1435894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3AC13772-6B2B-1805-9F2C-BE7527D8F87D}"/>
              </a:ext>
            </a:extLst>
          </p:cNvPr>
          <p:cNvSpPr/>
          <p:nvPr/>
        </p:nvSpPr>
        <p:spPr>
          <a:xfrm>
            <a:off x="62592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ITIL v5 y </a:t>
            </a:r>
            <a:r>
              <a:rPr lang="en-US" sz="1150" kern="0" spc="-7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gobernanza</a:t>
            </a:r>
            <a:r>
              <a:rPr lang="en-US" sz="1150" kern="0" spc="-7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de IA</a:t>
            </a:r>
            <a:endParaRPr lang="en-US" sz="1013" dirty="0">
              <a:latin typeface="Reddit Sans"/>
              <a:ea typeface="Reddit Sans"/>
            </a:endParaRPr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6BD73C05-F811-6AF0-FFFA-E66F7E23F43B}"/>
              </a:ext>
            </a:extLst>
          </p:cNvPr>
          <p:cNvSpPr/>
          <p:nvPr/>
        </p:nvSpPr>
        <p:spPr>
          <a:xfrm>
            <a:off x="6259286" y="3652560"/>
            <a:ext cx="260947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de las mejores prácticas en gestión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servicios TI hacia la agilidad y la entrega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continua.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E94EB440-EC53-083D-BFC4-1EE5C94A2D2B}"/>
              </a:ext>
            </a:extLst>
          </p:cNvPr>
          <p:cNvSpPr/>
          <p:nvPr/>
        </p:nvSpPr>
        <p:spPr>
          <a:xfrm>
            <a:off x="71343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72" name="Image 6" descr="-41d531de.png">
            <a:extLst>
              <a:ext uri="{FF2B5EF4-FFF2-40B4-BE49-F238E27FC236}">
                <a16:creationId xmlns:a16="http://schemas.microsoft.com/office/drawing/2014/main" id="{D2EB6A91-662C-2B40-DF02-ED238C53DE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2989" y="2927792"/>
            <a:ext cx="242888" cy="264319"/>
          </a:xfrm>
          <a:prstGeom prst="rect">
            <a:avLst/>
          </a:prstGeom>
        </p:spPr>
      </p:pic>
      <p:sp>
        <p:nvSpPr>
          <p:cNvPr id="74" name="Text 1">
            <a:extLst>
              <a:ext uri="{FF2B5EF4-FFF2-40B4-BE49-F238E27FC236}">
                <a16:creationId xmlns:a16="http://schemas.microsoft.com/office/drawing/2014/main" id="{6B0BC869-E49D-8227-2FBE-24674CEC764E}"/>
              </a:ext>
            </a:extLst>
          </p:cNvPr>
          <p:cNvSpPr/>
          <p:nvPr/>
        </p:nvSpPr>
        <p:spPr>
          <a:xfrm>
            <a:off x="424203" y="621384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Fuerzas clave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transformarán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el panorama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tecnológico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para 2026</a:t>
            </a:r>
            <a:endParaRPr lang="en-US" sz="1200">
              <a:solidFill>
                <a:srgbClr val="595959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4E27D539-EC37-BF1A-9CD2-6991246DA26C}"/>
              </a:ext>
            </a:extLst>
          </p:cNvPr>
          <p:cNvSpPr txBox="1">
            <a:spLocks noGrp="1"/>
          </p:cNvSpPr>
          <p:nvPr/>
        </p:nvSpPr>
        <p:spPr>
          <a:xfrm>
            <a:off x="320040" y="4658215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9"/>
              </a:rPr>
              <a:t>Dynatrace AI Observability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0"/>
              </a:rPr>
              <a:t>Gartner Agentic AI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1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2"/>
              </a:rPr>
              <a:t>TCS IT Services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  <p:sp>
        <p:nvSpPr>
          <p:cNvPr id="9" name="dsc">
            <a:extLst>
              <a:ext uri="{FF2B5EF4-FFF2-40B4-BE49-F238E27FC236}">
                <a16:creationId xmlns:a16="http://schemas.microsoft.com/office/drawing/2014/main" id="{DE123EA4-048D-1CF1-FB61-0FBA8172EB8B}"/>
              </a:ext>
            </a:extLst>
          </p:cNvPr>
          <p:cNvSpPr txBox="1">
            <a:spLocks noGrp="1"/>
          </p:cNvSpPr>
          <p:nvPr/>
        </p:nvSpPr>
        <p:spPr>
          <a:xfrm>
            <a:off x="431292" y="2435135"/>
            <a:ext cx="1852749" cy="3563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-26.6% MTTR  ·  +34.6% resolución con GenAI</a:t>
            </a:r>
          </a:p>
        </p:txBody>
      </p:sp>
      <p:sp>
        <p:nvSpPr>
          <p:cNvPr id="13" name="dsc">
            <a:extLst>
              <a:ext uri="{FF2B5EF4-FFF2-40B4-BE49-F238E27FC236}">
                <a16:creationId xmlns:a16="http://schemas.microsoft.com/office/drawing/2014/main" id="{3AD27F7B-18E7-2C7B-964E-4CB9DA4FA951}"/>
              </a:ext>
            </a:extLst>
          </p:cNvPr>
          <p:cNvSpPr txBox="1">
            <a:spLocks noGrp="1"/>
          </p:cNvSpPr>
          <p:nvPr/>
        </p:nvSpPr>
        <p:spPr>
          <a:xfrm>
            <a:off x="425850" y="4248258"/>
            <a:ext cx="2554877" cy="3618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 dirty="0">
                <a:solidFill>
                  <a:schemeClr val="bg1"/>
                </a:solidFill>
                <a:latin typeface="Reddit Sans"/>
                <a:ea typeface="Reddit Sans"/>
              </a:rPr>
              <a:t>30% contratos TI </a:t>
            </a:r>
            <a:r>
              <a:rPr lang="es-ES" sz="600" dirty="0" err="1">
                <a:solidFill>
                  <a:schemeClr val="bg1"/>
                </a:solidFill>
                <a:latin typeface="Reddit Sans"/>
                <a:ea typeface="Reddit Sans"/>
              </a:rPr>
              <a:t>enterprise</a:t>
            </a:r>
            <a:r>
              <a:rPr lang="es-ES" sz="600" dirty="0">
                <a:solidFill>
                  <a:schemeClr val="bg1"/>
                </a:solidFill>
                <a:latin typeface="Reddit Sans"/>
                <a:ea typeface="Reddit Sans"/>
              </a:rPr>
              <a:t> serán </a:t>
            </a:r>
            <a:r>
              <a:rPr lang="es-ES" sz="600" dirty="0" err="1">
                <a:solidFill>
                  <a:schemeClr val="bg1"/>
                </a:solidFill>
                <a:latin typeface="Reddit Sans"/>
                <a:ea typeface="Reddit Sans"/>
              </a:rPr>
              <a:t>outcome-based</a:t>
            </a:r>
            <a:r>
              <a:rPr lang="es-ES" sz="600" dirty="0">
                <a:solidFill>
                  <a:schemeClr val="bg1"/>
                </a:solidFill>
                <a:latin typeface="Reddit Sans"/>
                <a:ea typeface="Reddit Sans"/>
              </a:rPr>
              <a:t> hacia 2029</a:t>
            </a:r>
          </a:p>
        </p:txBody>
      </p:sp>
      <p:sp>
        <p:nvSpPr>
          <p:cNvPr id="17" name="dsc">
            <a:extLst>
              <a:ext uri="{FF2B5EF4-FFF2-40B4-BE49-F238E27FC236}">
                <a16:creationId xmlns:a16="http://schemas.microsoft.com/office/drawing/2014/main" id="{56332DE8-D940-2B20-2898-004B2255ECC1}"/>
              </a:ext>
            </a:extLst>
          </p:cNvPr>
          <p:cNvSpPr txBox="1">
            <a:spLocks noGrp="1"/>
          </p:cNvSpPr>
          <p:nvPr/>
        </p:nvSpPr>
        <p:spPr>
          <a:xfrm>
            <a:off x="6140848" y="4245863"/>
            <a:ext cx="2701834" cy="3563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 dirty="0">
                <a:solidFill>
                  <a:schemeClr val="bg1"/>
                </a:solidFill>
                <a:latin typeface="Reddit Sans"/>
                <a:ea typeface="Reddit Sans"/>
              </a:rPr>
              <a:t>8 etapas · 6C AI </a:t>
            </a:r>
            <a:r>
              <a:rPr lang="es-ES" sz="600" dirty="0" err="1">
                <a:solidFill>
                  <a:schemeClr val="bg1"/>
                </a:solidFill>
                <a:latin typeface="Reddit Sans"/>
                <a:ea typeface="Reddit Sans"/>
              </a:rPr>
              <a:t>Capability</a:t>
            </a:r>
            <a:r>
              <a:rPr lang="es-ES" sz="600" dirty="0">
                <a:solidFill>
                  <a:schemeClr val="bg1"/>
                </a:solidFill>
                <a:latin typeface="Reddit Sans"/>
                <a:ea typeface="Reddit Sans"/>
              </a:rPr>
              <a:t> Model · gobernanza IA ya no es opcional</a:t>
            </a:r>
          </a:p>
        </p:txBody>
      </p:sp>
      <p:sp>
        <p:nvSpPr>
          <p:cNvPr id="21" name="dsc">
            <a:extLst>
              <a:ext uri="{FF2B5EF4-FFF2-40B4-BE49-F238E27FC236}">
                <a16:creationId xmlns:a16="http://schemas.microsoft.com/office/drawing/2014/main" id="{FE20A471-0E69-78AA-DF4E-916811427E3C}"/>
              </a:ext>
            </a:extLst>
          </p:cNvPr>
          <p:cNvSpPr txBox="1">
            <a:spLocks noGrp="1"/>
          </p:cNvSpPr>
          <p:nvPr/>
        </p:nvSpPr>
        <p:spPr>
          <a:xfrm>
            <a:off x="2569247" y="2418808"/>
            <a:ext cx="1809206" cy="361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51% desplegada · solo 11% plena · &gt;40% proyectos cancelados en 2027</a:t>
            </a:r>
          </a:p>
        </p:txBody>
      </p:sp>
      <p:sp>
        <p:nvSpPr>
          <p:cNvPr id="25" name="dsc">
            <a:extLst>
              <a:ext uri="{FF2B5EF4-FFF2-40B4-BE49-F238E27FC236}">
                <a16:creationId xmlns:a16="http://schemas.microsoft.com/office/drawing/2014/main" id="{7E61382C-ABF6-44B9-5EFD-081A36190A97}"/>
              </a:ext>
            </a:extLst>
          </p:cNvPr>
          <p:cNvSpPr txBox="1">
            <a:spLocks noGrp="1"/>
          </p:cNvSpPr>
          <p:nvPr/>
        </p:nvSpPr>
        <p:spPr>
          <a:xfrm>
            <a:off x="6890875" y="2470839"/>
            <a:ext cx="1907176" cy="3563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600" dirty="0">
                <a:solidFill>
                  <a:schemeClr val="bg1"/>
                </a:solidFill>
                <a:latin typeface="Reddit Sans"/>
                <a:ea typeface="Reddit Sans"/>
              </a:rPr>
              <a:t>N3: USD 104/ticket → N0: USD 2/ticket, cada </a:t>
            </a:r>
            <a:r>
              <a:rPr lang="es-ES" sz="600" dirty="0" err="1">
                <a:solidFill>
                  <a:schemeClr val="bg1"/>
                </a:solidFill>
                <a:latin typeface="Reddit Sans"/>
                <a:ea typeface="Reddit Sans"/>
              </a:rPr>
              <a:t>deflección</a:t>
            </a:r>
            <a:r>
              <a:rPr lang="es-ES" sz="600" dirty="0">
                <a:solidFill>
                  <a:schemeClr val="bg1"/>
                </a:solidFill>
                <a:latin typeface="Reddit Sans"/>
                <a:ea typeface="Reddit Sans"/>
              </a:rPr>
              <a:t> = ahorro medible</a:t>
            </a:r>
            <a:endParaRPr lang="es-ES" sz="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237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4780E-EF61-6AF8-AEAC-C3D4C3DF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1400"/>
              <a:t>Mercado Global ITSM: Tamaño y Proyección</a:t>
            </a:r>
          </a:p>
          <a:p>
            <a:br>
              <a:rPr lang="en-US" sz="1400"/>
            </a:br>
            <a:endParaRPr lang="en-US" sz="1400"/>
          </a:p>
        </p:txBody>
      </p:sp>
      <p:sp>
        <p:nvSpPr>
          <p:cNvPr id="12" name="ChartSubtitle"/>
          <p:cNvSpPr txBox="1"/>
          <p:nvPr/>
        </p:nvSpPr>
        <p:spPr>
          <a:xfrm rot="16200000">
            <a:off x="-782536" y="2310650"/>
            <a:ext cx="2887686" cy="2436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s-ES" sz="1050">
                <a:solidFill>
                  <a:srgbClr val="8A8A83"/>
                </a:solidFill>
              </a:rPr>
              <a:t>USD Miles de Millones</a:t>
            </a:r>
            <a:endParaRPr lang="es-ES"/>
          </a:p>
        </p:txBody>
      </p:sp>
      <p:graphicFrame>
        <p:nvGraphicFramePr>
          <p:cNvPr id="10" name="Gráfico Mercado ITSM"/>
          <p:cNvGraphicFramePr/>
          <p:nvPr>
            <p:extLst>
              <p:ext uri="{D42A27DB-BD31-4B8C-83A1-F6EECF244321}">
                <p14:modId xmlns:p14="http://schemas.microsoft.com/office/powerpoint/2010/main" val="514862321"/>
              </p:ext>
            </p:extLst>
          </p:nvPr>
        </p:nvGraphicFramePr>
        <p:xfrm>
          <a:off x="843271" y="1200000"/>
          <a:ext cx="8050729" cy="2817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PillGrowth"/>
          <p:cNvSpPr/>
          <p:nvPr/>
        </p:nvSpPr>
        <p:spPr>
          <a:xfrm>
            <a:off x="1352586" y="3944943"/>
            <a:ext cx="1900000" cy="330000"/>
          </a:xfrm>
          <a:prstGeom prst="roundRect">
            <a:avLst>
              <a:gd name="adj" fmla="val 50000"/>
            </a:avLst>
          </a:prstGeom>
          <a:solidFill>
            <a:srgbClr val="DCEAEA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r>
              <a:rPr lang="es-ES" sz="1050" b="1">
                <a:solidFill>
                  <a:srgbClr val="16414A"/>
                </a:solidFill>
              </a:rPr>
              <a:t>CAGR 9.3%</a:t>
            </a:r>
          </a:p>
        </p:txBody>
      </p:sp>
      <p:sp>
        <p:nvSpPr>
          <p:cNvPr id="14" name="PillApps"/>
          <p:cNvSpPr/>
          <p:nvPr/>
        </p:nvSpPr>
        <p:spPr>
          <a:xfrm>
            <a:off x="3983586" y="3944943"/>
            <a:ext cx="1900000" cy="330000"/>
          </a:xfrm>
          <a:prstGeom prst="roundRect">
            <a:avLst>
              <a:gd name="adj" fmla="val 50000"/>
            </a:avLst>
          </a:prstGeom>
          <a:solidFill>
            <a:srgbClr val="F2E0D5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r>
              <a:rPr lang="es-ES" sz="1050" b="1">
                <a:solidFill>
                  <a:srgbClr val="A84824"/>
                </a:solidFill>
              </a:rPr>
              <a:t>CAGR 14.8%</a:t>
            </a:r>
          </a:p>
        </p:txBody>
      </p:sp>
      <p:sp>
        <p:nvSpPr>
          <p:cNvPr id="15" name="PillBusiness"/>
          <p:cNvSpPr/>
          <p:nvPr/>
        </p:nvSpPr>
        <p:spPr>
          <a:xfrm>
            <a:off x="6614586" y="3944943"/>
            <a:ext cx="1900000" cy="330000"/>
          </a:xfrm>
          <a:prstGeom prst="roundRect">
            <a:avLst>
              <a:gd name="adj" fmla="val 50000"/>
            </a:avLst>
          </a:prstGeom>
          <a:solidFill>
            <a:srgbClr val="EEDCE2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r>
              <a:rPr lang="es-ES" sz="1050" b="1">
                <a:solidFill>
                  <a:srgbClr val="903C54"/>
                </a:solidFill>
              </a:rPr>
              <a:t>CAGR 17.2%</a:t>
            </a:r>
          </a:p>
        </p:txBody>
      </p:sp>
      <p:sp>
        <p:nvSpPr>
          <p:cNvPr id="16" name="NoteGrowth"/>
          <p:cNvSpPr txBox="1"/>
          <p:nvPr/>
        </p:nvSpPr>
        <p:spPr>
          <a:xfrm>
            <a:off x="1352586" y="4304943"/>
            <a:ext cx="1900000" cy="240000"/>
          </a:xfrm>
          <a:prstGeom prst="rect">
            <a:avLst/>
          </a:prstGeom>
          <a:noFill/>
        </p:spPr>
        <p:txBody>
          <a:bodyPr rtlCol="0" anchor="t">
            <a:noAutofit/>
          </a:bodyPr>
          <a:lstStyle/>
          <a:p>
            <a:pPr algn="ctr"/>
            <a:r>
              <a:rPr lang="es-ES" sz="850">
                <a:solidFill>
                  <a:srgbClr val="8A8A83"/>
                </a:solidFill>
              </a:rPr>
              <a:t>2024 → 2035</a:t>
            </a:r>
          </a:p>
        </p:txBody>
      </p:sp>
      <p:sp>
        <p:nvSpPr>
          <p:cNvPr id="17" name="NoteApps"/>
          <p:cNvSpPr txBox="1"/>
          <p:nvPr/>
        </p:nvSpPr>
        <p:spPr>
          <a:xfrm>
            <a:off x="3983586" y="4304943"/>
            <a:ext cx="1900000" cy="240000"/>
          </a:xfrm>
          <a:prstGeom prst="rect">
            <a:avLst/>
          </a:prstGeom>
          <a:noFill/>
        </p:spPr>
        <p:txBody>
          <a:bodyPr rtlCol="0" anchor="t">
            <a:noAutofit/>
          </a:bodyPr>
          <a:lstStyle/>
          <a:p>
            <a:pPr algn="ctr"/>
            <a:r>
              <a:rPr lang="es-ES" sz="850">
                <a:solidFill>
                  <a:srgbClr val="8A8A83"/>
                </a:solidFill>
              </a:rPr>
              <a:t>solo 2024</a:t>
            </a:r>
          </a:p>
        </p:txBody>
      </p:sp>
      <p:sp>
        <p:nvSpPr>
          <p:cNvPr id="18" name="NoteBusiness"/>
          <p:cNvSpPr txBox="1"/>
          <p:nvPr/>
        </p:nvSpPr>
        <p:spPr>
          <a:xfrm>
            <a:off x="6614586" y="4304943"/>
            <a:ext cx="1900000" cy="240000"/>
          </a:xfrm>
          <a:prstGeom prst="rect">
            <a:avLst/>
          </a:prstGeom>
          <a:noFill/>
        </p:spPr>
        <p:txBody>
          <a:bodyPr rtlCol="0" anchor="t">
            <a:noAutofit/>
          </a:bodyPr>
          <a:lstStyle/>
          <a:p>
            <a:pPr algn="ctr"/>
            <a:r>
              <a:rPr lang="es-ES" sz="850">
                <a:solidFill>
                  <a:srgbClr val="8A8A83"/>
                </a:solidFill>
              </a:rPr>
              <a:t>2024 → 2035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BAE6AA-52EB-9743-DE5F-DDE448EB627E}"/>
              </a:ext>
            </a:extLst>
          </p:cNvPr>
          <p:cNvSpPr txBox="1"/>
          <p:nvPr/>
        </p:nvSpPr>
        <p:spPr>
          <a:xfrm>
            <a:off x="250371" y="4661807"/>
            <a:ext cx="7315200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0">
                <a:solidFill>
                  <a:schemeClr val="bg2"/>
                </a:solidFill>
                <a:latin typeface="-apple-system"/>
                <a:ea typeface="-apple-system"/>
                <a:cs typeface="-apple-system"/>
              </a:rPr>
              <a:t>Fuentes:</a:t>
            </a:r>
            <a:r>
              <a:rPr lang="en-US" sz="900" b="0">
                <a:solidFill>
                  <a:srgbClr val="E6EDF3"/>
                </a:solidFill>
                <a:latin typeface="-apple-system"/>
                <a:ea typeface="-apple-system"/>
                <a:cs typeface="-apple-system"/>
              </a:rPr>
              <a:t> </a:t>
            </a:r>
            <a:r>
              <a:rPr lang="en-US" sz="900" b="0" u="none" strike="noStrike">
                <a:solidFill>
                  <a:srgbClr val="2F81F7"/>
                </a:solidFill>
                <a:latin typeface="-apple-system"/>
                <a:ea typeface="-apple-system"/>
                <a:cs typeface="-apple-system"/>
                <a:hlinkClick r:id="rId3"/>
              </a:rPr>
              <a:t>Growth Market Reports</a:t>
            </a:r>
            <a:r>
              <a:rPr lang="en-US" sz="900" b="0">
                <a:solidFill>
                  <a:srgbClr val="E6EDF3"/>
                </a:solidFill>
                <a:latin typeface="-apple-system"/>
                <a:ea typeface="-apple-system"/>
                <a:cs typeface="-apple-system"/>
              </a:rPr>
              <a:t>, </a:t>
            </a:r>
            <a:r>
              <a:rPr lang="en-US" sz="900" b="0" u="none" strike="noStrike">
                <a:solidFill>
                  <a:srgbClr val="2F81F7"/>
                </a:solidFill>
                <a:latin typeface="-apple-system"/>
                <a:ea typeface="-apple-system"/>
                <a:cs typeface="-apple-system"/>
                <a:hlinkClick r:id="rId4"/>
              </a:rPr>
              <a:t>Apps Run The World</a:t>
            </a:r>
            <a:r>
              <a:rPr lang="en-US" sz="900" b="0">
                <a:solidFill>
                  <a:srgbClr val="E6EDF3"/>
                </a:solidFill>
                <a:latin typeface="-apple-system"/>
                <a:ea typeface="-apple-system"/>
                <a:cs typeface="-apple-system"/>
              </a:rPr>
              <a:t>)</a:t>
            </a:r>
            <a:endParaRPr lang="en-US" sz="900"/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9685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4D4865-0F99-8598-73DC-1EAEE649D4A4}"/>
              </a:ext>
            </a:extLst>
          </p:cNvPr>
          <p:cNvSpPr txBox="1"/>
          <p:nvPr/>
        </p:nvSpPr>
        <p:spPr>
          <a:xfrm>
            <a:off x="468085" y="361950"/>
            <a:ext cx="783771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Oportunidad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 de Mercado: Colombia y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Latinoamérica</a:t>
            </a:r>
            <a:endParaRPr lang="en-US" sz="1600" b="1" err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graphicFrame>
        <p:nvGraphicFramePr>
          <p:cNvPr id="11" name="Grafico Oportunidad"/>
          <p:cNvGraphicFramePr/>
          <p:nvPr/>
        </p:nvGraphicFramePr>
        <p:xfrm>
          <a:off x="380000" y="1330000"/>
          <a:ext cx="4600000" cy="2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YC12"/>
          <p:cNvSpPr txBox="1"/>
          <p:nvPr/>
        </p:nvSpPr>
        <p:spPr>
          <a:xfrm>
            <a:off x="957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2024 → 2028</a:t>
            </a:r>
          </a:p>
          <a:p>
            <a:pPr algn="ctr"/>
            <a:r>
              <a:rPr lang="es-ES" sz="900" b="1">
                <a:solidFill>
                  <a:srgbClr val="1E8080"/>
                </a:solidFill>
                <a:latin typeface="Reddit Sans"/>
                <a:ea typeface="Reddit Sans"/>
              </a:rPr>
              <a:t>CAGR 12%</a:t>
            </a:r>
          </a:p>
        </p:txBody>
      </p:sp>
      <p:sp>
        <p:nvSpPr>
          <p:cNvPr id="13" name="YC13"/>
          <p:cNvSpPr txBox="1"/>
          <p:nvPr/>
        </p:nvSpPr>
        <p:spPr>
          <a:xfrm>
            <a:off x="2290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2025 → 2031</a:t>
            </a:r>
          </a:p>
          <a:p>
            <a:pPr algn="ctr"/>
            <a:r>
              <a:rPr lang="es-ES" sz="900" b="1">
                <a:solidFill>
                  <a:srgbClr val="A44526"/>
                </a:solidFill>
                <a:latin typeface="Reddit Sans"/>
                <a:ea typeface="Reddit Sans"/>
              </a:rPr>
              <a:t>CAGR 16%</a:t>
            </a:r>
          </a:p>
        </p:txBody>
      </p:sp>
      <p:sp>
        <p:nvSpPr>
          <p:cNvPr id="14" name="YC14"/>
          <p:cNvSpPr txBox="1"/>
          <p:nvPr/>
        </p:nvSpPr>
        <p:spPr>
          <a:xfrm>
            <a:off x="3623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2026 → 2031</a:t>
            </a:r>
          </a:p>
          <a:p>
            <a:pPr algn="ctr"/>
            <a:r>
              <a:rPr lang="es-ES" sz="900" b="1">
                <a:solidFill>
                  <a:srgbClr val="C57A00"/>
                </a:solidFill>
                <a:latin typeface="Reddit Sans"/>
                <a:ea typeface="Reddit Sans"/>
              </a:rPr>
              <a:t>CAGR 14.08%</a:t>
            </a:r>
          </a:p>
        </p:txBody>
      </p:sp>
      <p:sp>
        <p:nvSpPr>
          <p:cNvPr id="20" name="PanelHeader"/>
          <p:cNvSpPr txBox="1"/>
          <p:nvPr/>
        </p:nvSpPr>
        <p:spPr>
          <a:xfrm>
            <a:off x="5150000" y="1030514"/>
            <a:ext cx="362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16233F"/>
                </a:solidFill>
                <a:latin typeface="Reddit Sans"/>
                <a:ea typeface="Reddit Sans"/>
              </a:rPr>
              <a:t>Colombia: Factores de Oportunidad</a:t>
            </a:r>
          </a:p>
        </p:txBody>
      </p:sp>
      <p:sp>
        <p:nvSpPr>
          <p:cNvPr id="21" name="CardNavy"/>
          <p:cNvSpPr txBox="1"/>
          <p:nvPr/>
        </p:nvSpPr>
        <p:spPr>
          <a:xfrm>
            <a:off x="5150000" y="166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81%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Establecimientos de crédito ya usan IA (SFC 2025)</a:t>
            </a:r>
          </a:p>
          <a:p>
            <a:pPr algn="ctr"/>
            <a:r>
              <a:rPr lang="es-ES" sz="700">
                <a:solidFill>
                  <a:srgbClr val="E8B96B"/>
                </a:solidFill>
                <a:latin typeface="Reddit Sans"/>
                <a:ea typeface="Reddit Sans"/>
              </a:rPr>
              <a:t>→ menor fricción de venta</a:t>
            </a:r>
          </a:p>
        </p:txBody>
      </p:sp>
      <p:sp>
        <p:nvSpPr>
          <p:cNvPr id="22" name="CardTeal"/>
          <p:cNvSpPr txBox="1"/>
          <p:nvPr/>
        </p:nvSpPr>
        <p:spPr>
          <a:xfrm>
            <a:off x="7000000" y="166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1E8080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9.8%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CAGR IT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Services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Colombia más rápido</a:t>
            </a:r>
          </a:p>
          <a:p>
            <a:pPr algn="ctr"/>
            <a:r>
              <a:rPr lang="es-ES" sz="700">
                <a:solidFill>
                  <a:srgbClr val="FFE0A3"/>
                </a:solidFill>
                <a:latin typeface="Reddit Sans"/>
                <a:ea typeface="Reddit Sans"/>
              </a:rPr>
              <a:t>de Sudamérica</a:t>
            </a:r>
          </a:p>
        </p:txBody>
      </p:sp>
      <p:sp>
        <p:nvSpPr>
          <p:cNvPr id="23" name="CardRust"/>
          <p:cNvSpPr txBox="1"/>
          <p:nvPr/>
        </p:nvSpPr>
        <p:spPr>
          <a:xfrm>
            <a:off x="5150000" y="275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A44526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13.8%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CAGR Servicios ITSM vs soluciones 61.4%</a:t>
            </a:r>
          </a:p>
          <a:p>
            <a:pPr algn="ctr"/>
            <a:r>
              <a:rPr lang="es-ES" sz="700">
                <a:solidFill>
                  <a:srgbClr val="F0C48A"/>
                </a:solidFill>
                <a:latin typeface="Reddit Sans"/>
                <a:ea typeface="Reddit Sans"/>
              </a:rPr>
              <a:t>→ demanda consultoría ↑</a:t>
            </a:r>
          </a:p>
        </p:txBody>
      </p:sp>
      <p:sp>
        <p:nvSpPr>
          <p:cNvPr id="24" name="CardGreen"/>
          <p:cNvSpPr txBox="1"/>
          <p:nvPr/>
        </p:nvSpPr>
        <p:spPr>
          <a:xfrm>
            <a:off x="7000000" y="275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43781F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27.09%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Cuota Service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Desk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&amp;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Incident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Management en Colombia.</a:t>
            </a:r>
          </a:p>
          <a:p>
            <a:pPr algn="ctr"/>
            <a:r>
              <a:rPr lang="es-ES" sz="700">
                <a:solidFill>
                  <a:srgbClr val="CDE6B0"/>
                </a:solidFill>
                <a:latin typeface="Reddit Sans"/>
                <a:ea typeface="Reddit Sans"/>
              </a:rPr>
              <a:t>mayor cat. funcional</a:t>
            </a:r>
          </a:p>
        </p:txBody>
      </p:sp>
      <p:sp>
        <p:nvSpPr>
          <p:cNvPr id="25" name="CompCard"/>
          <p:cNvSpPr txBox="1"/>
          <p:nvPr/>
        </p:nvSpPr>
        <p:spPr>
          <a:xfrm>
            <a:off x="5150000" y="3860000"/>
            <a:ext cx="3620000" cy="716457"/>
          </a:xfrm>
          <a:prstGeom prst="roundRect">
            <a:avLst>
              <a:gd name="adj" fmla="val 8000"/>
            </a:avLst>
          </a:prstGeom>
          <a:solidFill>
            <a:srgbClr val="E8E6E0"/>
          </a:solidFill>
          <a:ln>
            <a:noFill/>
          </a:ln>
        </p:spPr>
        <p:txBody>
          <a:bodyPr wrap="square" lIns="45000" tIns="45000" rIns="45000" bIns="4500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2A2A2A"/>
                </a:solidFill>
                <a:latin typeface="Reddit Sans"/>
                <a:ea typeface="Reddit Sans"/>
              </a:rPr>
              <a:t>Competencia Local Certificada</a:t>
            </a:r>
          </a:p>
          <a:p>
            <a:pPr algn="ctr"/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Solo Aranda Software tiene </a:t>
            </a:r>
            <a:r>
              <a:rPr lang="es-ES" sz="800" err="1">
                <a:solidFill>
                  <a:srgbClr val="6A6A66"/>
                </a:solidFill>
                <a:latin typeface="Reddit Sans"/>
                <a:ea typeface="Reddit Sans"/>
              </a:rPr>
              <a:t>PinkVerify</a:t>
            </a:r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 (11 procesos)</a:t>
            </a:r>
          </a:p>
          <a:p>
            <a:pPr algn="ctr"/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Resto: plataformas globales sin oferta de </a:t>
            </a:r>
            <a:r>
              <a:rPr lang="es-ES" sz="800" err="1">
                <a:solidFill>
                  <a:srgbClr val="6A6A66"/>
                </a:solidFill>
                <a:latin typeface="Reddit Sans"/>
                <a:ea typeface="Reddit Sans"/>
              </a:rPr>
              <a:t>assessment</a:t>
            </a:r>
            <a:endParaRPr lang="es-ES" sz="800">
              <a:solidFill>
                <a:srgbClr val="6A6A66"/>
              </a:solidFill>
              <a:latin typeface="Reddit Sans"/>
              <a:ea typeface="Reddit Sans"/>
            </a:endParaRPr>
          </a:p>
        </p:txBody>
      </p:sp>
      <p:sp>
        <p:nvSpPr>
          <p:cNvPr id="6" name="ChartSubtitle">
            <a:extLst>
              <a:ext uri="{FF2B5EF4-FFF2-40B4-BE49-F238E27FC236}">
                <a16:creationId xmlns:a16="http://schemas.microsoft.com/office/drawing/2014/main" id="{88DF085F-16EE-B9A5-1798-9B5EEBA0D1FE}"/>
              </a:ext>
            </a:extLst>
          </p:cNvPr>
          <p:cNvSpPr txBox="1"/>
          <p:nvPr/>
        </p:nvSpPr>
        <p:spPr>
          <a:xfrm>
            <a:off x="466600" y="702286"/>
            <a:ext cx="7144000" cy="2600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Tamaño ITSM, crecimiento por segmento y </a:t>
            </a:r>
            <a:r>
              <a:rPr lang="es-ES" sz="1200" spc="-25" err="1">
                <a:solidFill>
                  <a:srgbClr val="595959"/>
                </a:solidFill>
                <a:latin typeface="Reddit Sans"/>
                <a:ea typeface="Reddit Sans"/>
              </a:rPr>
              <a:t>posici</a:t>
            </a:r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ón competitiva local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628F3E-F381-F83D-8ACF-953CA0532A02}"/>
              </a:ext>
            </a:extLst>
          </p:cNvPr>
          <p:cNvSpPr txBox="1"/>
          <p:nvPr/>
        </p:nvSpPr>
        <p:spPr>
          <a:xfrm>
            <a:off x="576943" y="4525736"/>
            <a:ext cx="45720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>
                <a:solidFill>
                  <a:srgbClr val="6A6A66"/>
                </a:solidFill>
                <a:latin typeface="Reddit Sans"/>
                <a:ea typeface="Reddit Sans"/>
              </a:rPr>
              <a:t>Fuente: </a:t>
            </a:r>
            <a:r>
              <a:rPr lang="en-US" sz="700" u="sng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US" sz="700" u="sng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/>
              </a:rPr>
              <a:t> </a:t>
            </a:r>
            <a:r>
              <a:rPr lang="en-US" sz="700" u="sng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Mordor</a:t>
            </a:r>
            <a:r>
              <a:rPr lang="en-US" sz="700" b="0" i="0" u="sng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Intelligence — South America ITSM Market</a:t>
            </a:r>
            <a:r>
              <a:rPr lang="en-US" sz="700"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1A3A8F"/>
                </a:solidFill>
                <a:highlight>
                  <a:srgbClr val="FFFF00"/>
                </a:highlight>
                <a:latin typeface="Reddit Sans"/>
                <a:ea typeface="Reddit Sans"/>
                <a:hlinkClick r:id="rId5"/>
              </a:rPr>
              <a:t>Grand View Research</a:t>
            </a:r>
            <a:r>
              <a:rPr lang="es-ES" sz="700" i="1">
                <a:solidFill>
                  <a:srgbClr val="6B7280"/>
                </a:solidFill>
                <a:latin typeface="Reddit Sans"/>
                <a:ea typeface="Reddit Sans"/>
              </a:rPr>
              <a:t> · </a:t>
            </a:r>
            <a:r>
              <a:rPr lang="es-ES" sz="700">
                <a:solidFill>
                  <a:srgbClr val="1A3A8F"/>
                </a:solidFill>
                <a:latin typeface="Reddit Sans"/>
                <a:ea typeface="Reddit Sans"/>
                <a:hlinkClick r:id="rId6"/>
              </a:rPr>
              <a:t>Superfinanciera</a:t>
            </a:r>
            <a:endParaRPr lang="en-US" sz="900">
              <a:latin typeface="Reddit Sans"/>
              <a:ea typeface="Reddit Sans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endParaRPr lang="es-ES"/>
          </a:p>
        </p:txBody>
      </p:sp>
      <p:pic>
        <p:nvPicPr>
          <p:cNvPr id="5" name="Imagen 4" descr="Aranda Software">
            <a:extLst>
              <a:ext uri="{FF2B5EF4-FFF2-40B4-BE49-F238E27FC236}">
                <a16:creationId xmlns:a16="http://schemas.microsoft.com/office/drawing/2014/main" id="{8CEBD39E-C831-D0E8-BAB0-E317D6BFE6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226"/>
          <a:stretch>
            <a:fillRect/>
          </a:stretch>
        </p:blipFill>
        <p:spPr>
          <a:xfrm>
            <a:off x="5247593" y="3909330"/>
            <a:ext cx="488499" cy="21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04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386BA-FD73-98A3-5F89-724FFBDD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Posicionamiento de Plataformas ITSM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11" name="Panel Derecho"/>
          <p:cNvSpPr/>
          <p:nvPr/>
        </p:nvSpPr>
        <p:spPr>
          <a:xfrm>
            <a:off x="4298100" y="658114"/>
            <a:ext cx="4700000" cy="3800000"/>
          </a:xfrm>
          <a:prstGeom prst="roundRect">
            <a:avLst>
              <a:gd name="adj" fmla="val 4500"/>
            </a:avLst>
          </a:prstGeom>
          <a:solidFill>
            <a:srgbClr val="F4F2E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" name="Titulo Izq"/>
          <p:cNvSpPr txBox="1"/>
          <p:nvPr/>
        </p:nvSpPr>
        <p:spPr>
          <a:xfrm>
            <a:off x="220980" y="708114"/>
            <a:ext cx="396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300" b="1">
                <a:solidFill>
                  <a:srgbClr val="1F3B47"/>
                </a:solidFill>
              </a:rPr>
              <a:t>Cuota Mercado ITSM 2024</a:t>
            </a:r>
          </a:p>
        </p:txBody>
      </p:sp>
      <p:sp>
        <p:nvSpPr>
          <p:cNvPr id="13" name="Titulo Der"/>
          <p:cNvSpPr txBox="1"/>
          <p:nvPr/>
        </p:nvSpPr>
        <p:spPr>
          <a:xfrm>
            <a:off x="4298100" y="708114"/>
            <a:ext cx="47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300" b="1">
                <a:solidFill>
                  <a:srgbClr val="1F3B47"/>
                </a:solidFill>
              </a:rPr>
              <a:t>Gartner MQ — AI Applications in ITSM</a:t>
            </a:r>
          </a:p>
        </p:txBody>
      </p:sp>
      <p:graphicFrame>
        <p:nvGraphicFramePr>
          <p:cNvPr id="14" name="Grafico Cuota"/>
          <p:cNvGraphicFramePr/>
          <p:nvPr>
            <p:extLst>
              <p:ext uri="{D42A27DB-BD31-4B8C-83A1-F6EECF244321}">
                <p14:modId xmlns:p14="http://schemas.microsoft.com/office/powerpoint/2010/main" val="82282076"/>
              </p:ext>
            </p:extLst>
          </p:nvPr>
        </p:nvGraphicFramePr>
        <p:xfrm>
          <a:off x="268100" y="1058114"/>
          <a:ext cx="3860000" cy="3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Grafico Gartner"/>
          <p:cNvGraphicFramePr/>
          <p:nvPr>
            <p:extLst>
              <p:ext uri="{D42A27DB-BD31-4B8C-83A1-F6EECF244321}">
                <p14:modId xmlns:p14="http://schemas.microsoft.com/office/powerpoint/2010/main" val="2311444827"/>
              </p:ext>
            </p:extLst>
          </p:nvPr>
        </p:nvGraphicFramePr>
        <p:xfrm>
          <a:off x="4398100" y="1128114"/>
          <a:ext cx="4520000" cy="29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q Challengers"/>
          <p:cNvSpPr txBox="1"/>
          <p:nvPr/>
        </p:nvSpPr>
        <p:spPr>
          <a:xfrm>
            <a:off x="4598100" y="1208114"/>
            <a:ext cx="15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000" i="1">
                <a:solidFill>
                  <a:srgbClr val="8A8A83"/>
                </a:solidFill>
              </a:rPr>
              <a:t>Retadores</a:t>
            </a:r>
            <a:endParaRPr lang="es-ES"/>
          </a:p>
        </p:txBody>
      </p:sp>
      <p:sp>
        <p:nvSpPr>
          <p:cNvPr id="17" name="q Leaders"/>
          <p:cNvSpPr txBox="1"/>
          <p:nvPr/>
        </p:nvSpPr>
        <p:spPr>
          <a:xfrm>
            <a:off x="6658100" y="1208114"/>
            <a:ext cx="13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000" i="1">
                <a:solidFill>
                  <a:srgbClr val="8A8A83"/>
                </a:solidFill>
              </a:rPr>
              <a:t>Lideres</a:t>
            </a:r>
          </a:p>
        </p:txBody>
      </p:sp>
      <p:sp>
        <p:nvSpPr>
          <p:cNvPr id="18" name="q Niche"/>
          <p:cNvSpPr txBox="1"/>
          <p:nvPr/>
        </p:nvSpPr>
        <p:spPr>
          <a:xfrm>
            <a:off x="4598100" y="3758114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000" i="1">
                <a:solidFill>
                  <a:srgbClr val="8A8A83"/>
                </a:solidFill>
              </a:rPr>
              <a:t>Jugadores de Nicho</a:t>
            </a:r>
          </a:p>
        </p:txBody>
      </p:sp>
      <p:sp>
        <p:nvSpPr>
          <p:cNvPr id="19" name="q Visionaries"/>
          <p:cNvSpPr txBox="1"/>
          <p:nvPr/>
        </p:nvSpPr>
        <p:spPr>
          <a:xfrm>
            <a:off x="7088100" y="3758114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000" i="1">
                <a:solidFill>
                  <a:srgbClr val="8A8A83"/>
                </a:solidFill>
              </a:rPr>
              <a:t>Visionarios</a:t>
            </a:r>
          </a:p>
        </p:txBody>
      </p:sp>
      <p:sp>
        <p:nvSpPr>
          <p:cNvPr id="20" name="Unico Lider"/>
          <p:cNvSpPr txBox="1"/>
          <p:nvPr/>
        </p:nvSpPr>
        <p:spPr>
          <a:xfrm>
            <a:off x="7458100" y="1168114"/>
            <a:ext cx="1450000" cy="2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s-ES" sz="900" b="1">
                <a:solidFill>
                  <a:srgbClr val="C79A1E"/>
                </a:solidFill>
              </a:rPr>
              <a:t>★ Único Líder 2025</a:t>
            </a:r>
          </a:p>
        </p:txBody>
      </p:sp>
      <p:sp>
        <p:nvSpPr>
          <p:cNvPr id="21" name="Eje Ability"/>
          <p:cNvSpPr txBox="1"/>
          <p:nvPr/>
        </p:nvSpPr>
        <p:spPr>
          <a:xfrm>
            <a:off x="4268100" y="1558114"/>
            <a:ext cx="250000" cy="21000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/>
            <a:r>
              <a:rPr lang="es-ES" sz="900">
                <a:solidFill>
                  <a:srgbClr val="8A8A83"/>
                </a:solidFill>
              </a:rPr>
              <a:t>Habilidad para ejecutar</a:t>
            </a:r>
          </a:p>
        </p:txBody>
      </p:sp>
      <p:sp>
        <p:nvSpPr>
          <p:cNvPr id="22" name="Eje Vision"/>
          <p:cNvSpPr txBox="1"/>
          <p:nvPr/>
        </p:nvSpPr>
        <p:spPr>
          <a:xfrm>
            <a:off x="4398100" y="4088114"/>
            <a:ext cx="452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100">
                <a:solidFill>
                  <a:srgbClr val="8A8A83"/>
                </a:solidFill>
                <a:latin typeface="Segoe UI"/>
                <a:cs typeface="Segoe UI"/>
              </a:rPr>
              <a:t>Integridad de la Visión</a:t>
            </a:r>
            <a:r>
              <a:rPr lang="es-ES" sz="900">
                <a:solidFill>
                  <a:srgbClr val="8A8A83"/>
                </a:solidFill>
              </a:rPr>
              <a:t> →</a:t>
            </a:r>
            <a:endParaRPr lang="es-ES"/>
          </a:p>
        </p:txBody>
      </p:sp>
      <p:sp>
        <p:nvSpPr>
          <p:cNvPr id="23" name="Footer"/>
          <p:cNvSpPr txBox="1"/>
          <p:nvPr/>
        </p:nvSpPr>
        <p:spPr>
          <a:xfrm>
            <a:off x="268100" y="4488114"/>
            <a:ext cx="873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800" b="1">
                <a:solidFill>
                  <a:srgbClr val="1F3B47"/>
                </a:solidFill>
              </a:rPr>
              <a:t>Colombia: USD 108M (2031) · CAGR 14.08%</a:t>
            </a:r>
            <a:r>
              <a:rPr lang="es-ES" sz="800">
                <a:solidFill>
                  <a:srgbClr val="8A8A83"/>
                </a:solidFill>
              </a:rPr>
              <a:t>  —  Único competidor local certificado: Aranda Software (PinkVerify 2025)</a:t>
            </a:r>
          </a:p>
        </p:txBody>
      </p:sp>
      <p:sp>
        <p:nvSpPr>
          <p:cNvPr id="4" name="src">
            <a:extLst>
              <a:ext uri="{FF2B5EF4-FFF2-40B4-BE49-F238E27FC236}">
                <a16:creationId xmlns:a16="http://schemas.microsoft.com/office/drawing/2014/main" id="{6339A5C5-FECB-2147-C918-E88126470F0A}"/>
              </a:ext>
            </a:extLst>
          </p:cNvPr>
          <p:cNvSpPr txBox="1">
            <a:spLocks noGrp="1"/>
          </p:cNvSpPr>
          <p:nvPr/>
        </p:nvSpPr>
        <p:spPr>
          <a:xfrm>
            <a:off x="428897" y="47289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4"/>
              </a:rPr>
              <a:t>Gartner MQ AI Applications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5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6"/>
              </a:rPr>
              <a:t>Freshservice XLA Report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7"/>
              </a:rPr>
              <a:t>IDC ITSM Market Share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9315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DB9A8-D478-0381-707A-A4A1B790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highlight>
                  <a:srgbClr val="FFFF00"/>
                </a:highlight>
              </a:rPr>
              <a:t>Cómo los 12 Grandes Proveedores Posicionan sus Mesas</a:t>
            </a:r>
          </a:p>
          <a:p>
            <a:endParaRPr lang="es-E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63D74C3-F319-DBA3-4147-16621DDD2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114901"/>
              </p:ext>
            </p:extLst>
          </p:nvPr>
        </p:nvGraphicFramePr>
        <p:xfrm>
          <a:off x="397698" y="571500"/>
          <a:ext cx="8402364" cy="4667250"/>
        </p:xfrm>
        <a:graphic>
          <a:graphicData uri="http://schemas.openxmlformats.org/drawingml/2006/table">
            <a:tbl>
              <a:tblPr firstRow="1" bandRow="1">
                <a:tableStyleId>{1FEE7CD7-7DD5-4E0E-8F7E-406774204185}</a:tableStyleId>
              </a:tblPr>
              <a:tblGrid>
                <a:gridCol w="910515">
                  <a:extLst>
                    <a:ext uri="{9D8B030D-6E8A-4147-A177-3AD203B41FA5}">
                      <a16:colId xmlns:a16="http://schemas.microsoft.com/office/drawing/2014/main" val="4234215457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3507965281"/>
                    </a:ext>
                  </a:extLst>
                </a:gridCol>
                <a:gridCol w="2402114">
                  <a:extLst>
                    <a:ext uri="{9D8B030D-6E8A-4147-A177-3AD203B41FA5}">
                      <a16:colId xmlns:a16="http://schemas.microsoft.com/office/drawing/2014/main" val="497326408"/>
                    </a:ext>
                  </a:extLst>
                </a:gridCol>
                <a:gridCol w="3391564">
                  <a:extLst>
                    <a:ext uri="{9D8B030D-6E8A-4147-A177-3AD203B41FA5}">
                      <a16:colId xmlns:a16="http://schemas.microsoft.com/office/drawing/2014/main" val="2835798315"/>
                    </a:ext>
                  </a:extLst>
                </a:gridCol>
              </a:tblGrid>
              <a:tr h="1312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Empresa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Nombre Comercial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IA / Automatización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Diferenciador Único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22005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Accenture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Intelligent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Service Center /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myWizard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®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GenAI,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agentic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AI, agentes virtuales (hasta 85% de llamadas),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self-healing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86% reducción costo/contacto; modelo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human+machine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basado en desempeño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546535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IBM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IBM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Consulting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AIOps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/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watsonx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Orchestrate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GenAI, ML,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watsonx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, IBM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Concert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zero-touch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operations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No mesa empaquetada — ecosistema de TI autónoma (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AIOps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+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watsonx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246734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Kyndryl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Interactive AI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for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ASR + NLP + HAU (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Interactions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LLC); resuelve 70% por canales digitales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Concierge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IT con video seguro y AR; 2M contactos/mes, 650+ clientes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394262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Deloitte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Next Gen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Deep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learning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, detección anomalías,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GenAIOps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OperateEdge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™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Metodología O2I (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Operate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to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Innovate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); sin plataforma propietaria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136337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Capgemini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AI-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Powered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Agentes virtuales,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PRiSM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GenAI, remediación autónoma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"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Composable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" (asignación dinámica IA/humano en tiempo real)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869556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Cognizant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WorkNext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AI-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powered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NLP, NLU,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chatbot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Bold360ai,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knowledge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on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demand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Single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door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; visión "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zero-touch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service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2030"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1712022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HCLTech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GenAI-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powered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Digital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/ AI Force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CVA, GenAI,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agent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assist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self-heal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, 150+ idiomas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Modelo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Sense→Think→Act→Engage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; AI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Force.Ops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20051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Infosys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ITIL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Intelligent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/ ESM Café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IA cognitiva, automatización cognitiva, RPA, 90% contención digital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ESM Café sobre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ServiceNow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; 47 centros, 3M+ usuarios, 75-80% FCR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464461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TCS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DeskHelp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/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Cognix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™ /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ignio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Modelo IPSC, autoaprendizaje,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ignio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(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auto-healing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cognitivo), GenAI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Copilot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Machine First™;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ignio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como plataforma de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autohealing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galardonada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142377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NTT DATA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NextGen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(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Nucleus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GenAI,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agentic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AI,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Nucleus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Virtual Agent, previene 65% de incidentes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Liderazgo en XLA; 87% FCR; 23M+ tickets/año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403780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DXC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DXC Service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Desk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/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UPtime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GenAI conversacional,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agent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co-pilot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UPtime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Platform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+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Espressive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Barista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Métricas más completas: 93% FCR, 58% menos costo/contacto, 49% menos MTTR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714496"/>
                  </a:ext>
                </a:extLst>
              </a:tr>
              <a:tr h="20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1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Wipro</a:t>
                      </a:r>
                      <a:endParaRPr lang="es-ES" sz="900" b="0" i="0">
                        <a:solidFill>
                          <a:schemeClr val="tx1"/>
                        </a:solidFill>
                        <a:effectLst/>
                        <a:latin typeface="Reddit Sans"/>
                        <a:ea typeface="Reddit San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LiVE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Workspace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™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OneDesk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/ HOLMES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AIOps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, HOLMES,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auto-reparación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proactiva, Azure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OpenAI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5 torres de servicio; </a:t>
                      </a:r>
                      <a:r>
                        <a:rPr lang="es-ES" sz="900" b="0" i="0" err="1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self-heal</a:t>
                      </a:r>
                      <a:r>
                        <a:rPr lang="es-ES" sz="900" b="0" i="0">
                          <a:solidFill>
                            <a:schemeClr val="tx1"/>
                          </a:solidFill>
                          <a:effectLst/>
                          <a:latin typeface="Reddit Sans"/>
                          <a:ea typeface="Reddit Sans"/>
                        </a:rPr>
                        <a:t> antes de que el usuario note el problema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585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75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B6438-BF5B-F6C9-DE7C-E31F1892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/>
              <a:t>El Costo de No </a:t>
            </a:r>
            <a:r>
              <a:rPr lang="en-US" sz="1400" err="1"/>
              <a:t>Evolucionar</a:t>
            </a:r>
            <a:endParaRPr lang="es-CO" sz="140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4AAC178-FC92-F642-69E8-BC6A6C6E3207}"/>
              </a:ext>
            </a:extLst>
          </p:cNvPr>
          <p:cNvSpPr/>
          <p:nvPr/>
        </p:nvSpPr>
        <p:spPr>
          <a:xfrm>
            <a:off x="312930" y="84417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Costo por ticket segun nivel de resolucion</a:t>
            </a:r>
            <a:endParaRPr lang="en-US" sz="12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7FE31A7F-BC0A-F0E6-2C8C-3B58D49E8001}"/>
              </a:ext>
            </a:extLst>
          </p:cNvPr>
          <p:cNvSpPr/>
          <p:nvPr/>
        </p:nvSpPr>
        <p:spPr>
          <a:xfrm>
            <a:off x="312929" y="3982521"/>
            <a:ext cx="5256712" cy="371204"/>
          </a:xfrm>
          <a:prstGeom prst="leftArrow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B09B687A-2905-F335-0058-C12B2534C3A3}"/>
              </a:ext>
            </a:extLst>
          </p:cNvPr>
          <p:cNvSpPr/>
          <p:nvPr/>
        </p:nvSpPr>
        <p:spPr>
          <a:xfrm>
            <a:off x="-578609" y="4093338"/>
            <a:ext cx="7297782" cy="3346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Cada ticket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evitado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mediante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Shift-Left reduce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costos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y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tiempos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resolución</a:t>
            </a:r>
            <a:endParaRPr lang="en-US" sz="1050" b="1">
              <a:solidFill>
                <a:srgbClr val="FFFFFF"/>
              </a:solidFill>
              <a:latin typeface="Reddit Sans"/>
              <a:ea typeface="Reddit Sans"/>
              <a:cs typeface="Calibri"/>
            </a:endParaRPr>
          </a:p>
          <a:p>
            <a:pPr algn="ctr"/>
            <a:endParaRPr lang="en-US" sz="1050" b="1">
              <a:solidFill>
                <a:srgbClr val="FFFFFF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E848E77C-4CF7-E141-E976-3EFC1688EBE2}"/>
              </a:ext>
            </a:extLst>
          </p:cNvPr>
          <p:cNvSpPr/>
          <p:nvPr/>
        </p:nvSpPr>
        <p:spPr>
          <a:xfrm>
            <a:off x="312930" y="52413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La mesa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reactiva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ya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es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indefendible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comercialmente</a:t>
            </a:r>
          </a:p>
        </p:txBody>
      </p:sp>
      <p:sp>
        <p:nvSpPr>
          <p:cNvPr id="141" name="bar">
            <a:extLst>
              <a:ext uri="{FF2B5EF4-FFF2-40B4-BE49-F238E27FC236}">
                <a16:creationId xmlns:a16="http://schemas.microsoft.com/office/drawing/2014/main" id="{5157805E-5E2A-EA83-FA50-536A233632FB}"/>
              </a:ext>
            </a:extLst>
          </p:cNvPr>
          <p:cNvSpPr>
            <a:spLocks noGrp="1"/>
          </p:cNvSpPr>
          <p:nvPr/>
        </p:nvSpPr>
        <p:spPr>
          <a:xfrm>
            <a:off x="363583" y="1278201"/>
            <a:ext cx="914400" cy="457200"/>
          </a:xfrm>
          <a:prstGeom prst="roundRect">
            <a:avLst>
              <a:gd name="adj" fmla="val 8000"/>
            </a:avLst>
          </a:prstGeom>
          <a:solidFill>
            <a:srgbClr val="2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43" name="lbl">
            <a:extLst>
              <a:ext uri="{FF2B5EF4-FFF2-40B4-BE49-F238E27FC236}">
                <a16:creationId xmlns:a16="http://schemas.microsoft.com/office/drawing/2014/main" id="{2B0ADD44-981F-5714-ED4D-60260B63E85A}"/>
              </a:ext>
            </a:extLst>
          </p:cNvPr>
          <p:cNvSpPr txBox="1">
            <a:spLocks noGrp="1"/>
          </p:cNvSpPr>
          <p:nvPr/>
        </p:nvSpPr>
        <p:spPr>
          <a:xfrm>
            <a:off x="436735" y="1278201"/>
            <a:ext cx="899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N0 Autoservicio</a:t>
            </a:r>
          </a:p>
        </p:txBody>
      </p:sp>
      <p:sp>
        <p:nvSpPr>
          <p:cNvPr id="145" name="cst">
            <a:extLst>
              <a:ext uri="{FF2B5EF4-FFF2-40B4-BE49-F238E27FC236}">
                <a16:creationId xmlns:a16="http://schemas.microsoft.com/office/drawing/2014/main" id="{E4439B9E-F687-74E9-EB92-6EB3C16EDDAD}"/>
              </a:ext>
            </a:extLst>
          </p:cNvPr>
          <p:cNvSpPr txBox="1">
            <a:spLocks noGrp="1"/>
          </p:cNvSpPr>
          <p:nvPr/>
        </p:nvSpPr>
        <p:spPr>
          <a:xfrm>
            <a:off x="1387711" y="1278201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2</a:t>
            </a:r>
          </a:p>
        </p:txBody>
      </p:sp>
      <p:sp>
        <p:nvSpPr>
          <p:cNvPr id="147" name="bar">
            <a:extLst>
              <a:ext uri="{FF2B5EF4-FFF2-40B4-BE49-F238E27FC236}">
                <a16:creationId xmlns:a16="http://schemas.microsoft.com/office/drawing/2014/main" id="{FBAF12FC-0D1F-F735-64F1-19A358F92296}"/>
              </a:ext>
            </a:extLst>
          </p:cNvPr>
          <p:cNvSpPr>
            <a:spLocks noGrp="1"/>
          </p:cNvSpPr>
          <p:nvPr/>
        </p:nvSpPr>
        <p:spPr>
          <a:xfrm>
            <a:off x="363583" y="1799409"/>
            <a:ext cx="1496785" cy="457200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49" name="lbl">
            <a:extLst>
              <a:ext uri="{FF2B5EF4-FFF2-40B4-BE49-F238E27FC236}">
                <a16:creationId xmlns:a16="http://schemas.microsoft.com/office/drawing/2014/main" id="{71C36A62-E4E7-831A-FC2B-84562D562C1F}"/>
              </a:ext>
            </a:extLst>
          </p:cNvPr>
          <p:cNvSpPr txBox="1">
            <a:spLocks noGrp="1"/>
          </p:cNvSpPr>
          <p:nvPr/>
        </p:nvSpPr>
        <p:spPr>
          <a:xfrm>
            <a:off x="436735" y="1799409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N1 Agente Virtual IA</a:t>
            </a:r>
          </a:p>
        </p:txBody>
      </p:sp>
      <p:sp>
        <p:nvSpPr>
          <p:cNvPr id="151" name="cst">
            <a:extLst>
              <a:ext uri="{FF2B5EF4-FFF2-40B4-BE49-F238E27FC236}">
                <a16:creationId xmlns:a16="http://schemas.microsoft.com/office/drawing/2014/main" id="{716CAA39-1F22-F973-E1DF-A49F3614AF42}"/>
              </a:ext>
            </a:extLst>
          </p:cNvPr>
          <p:cNvSpPr txBox="1">
            <a:spLocks noGrp="1"/>
          </p:cNvSpPr>
          <p:nvPr/>
        </p:nvSpPr>
        <p:spPr>
          <a:xfrm>
            <a:off x="1844911" y="1799409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8</a:t>
            </a:r>
          </a:p>
        </p:txBody>
      </p:sp>
      <p:sp>
        <p:nvSpPr>
          <p:cNvPr id="153" name="bar">
            <a:extLst>
              <a:ext uri="{FF2B5EF4-FFF2-40B4-BE49-F238E27FC236}">
                <a16:creationId xmlns:a16="http://schemas.microsoft.com/office/drawing/2014/main" id="{B00C8B7D-B467-FA5A-08A0-889448FB396D}"/>
              </a:ext>
            </a:extLst>
          </p:cNvPr>
          <p:cNvSpPr>
            <a:spLocks noGrp="1"/>
          </p:cNvSpPr>
          <p:nvPr/>
        </p:nvSpPr>
        <p:spPr>
          <a:xfrm>
            <a:off x="363583" y="2320617"/>
            <a:ext cx="2299062" cy="457200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5" name="lbl">
            <a:extLst>
              <a:ext uri="{FF2B5EF4-FFF2-40B4-BE49-F238E27FC236}">
                <a16:creationId xmlns:a16="http://schemas.microsoft.com/office/drawing/2014/main" id="{B2DFE1AD-48DF-10FB-2EB4-DB126050808B}"/>
              </a:ext>
            </a:extLst>
          </p:cNvPr>
          <p:cNvSpPr txBox="1">
            <a:spLocks noGrp="1"/>
          </p:cNvSpPr>
          <p:nvPr/>
        </p:nvSpPr>
        <p:spPr>
          <a:xfrm>
            <a:off x="436735" y="2320617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N2 Soporte L1</a:t>
            </a:r>
          </a:p>
        </p:txBody>
      </p:sp>
      <p:sp>
        <p:nvSpPr>
          <p:cNvPr id="157" name="cst">
            <a:extLst>
              <a:ext uri="{FF2B5EF4-FFF2-40B4-BE49-F238E27FC236}">
                <a16:creationId xmlns:a16="http://schemas.microsoft.com/office/drawing/2014/main" id="{60A9ED2F-0787-C608-C521-3DCE9D1E894A}"/>
              </a:ext>
            </a:extLst>
          </p:cNvPr>
          <p:cNvSpPr txBox="1">
            <a:spLocks noGrp="1"/>
          </p:cNvSpPr>
          <p:nvPr/>
        </p:nvSpPr>
        <p:spPr>
          <a:xfrm>
            <a:off x="2576431" y="2320617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22</a:t>
            </a:r>
          </a:p>
        </p:txBody>
      </p:sp>
      <p:sp>
        <p:nvSpPr>
          <p:cNvPr id="159" name="bar">
            <a:extLst>
              <a:ext uri="{FF2B5EF4-FFF2-40B4-BE49-F238E27FC236}">
                <a16:creationId xmlns:a16="http://schemas.microsoft.com/office/drawing/2014/main" id="{36E6D2F2-2A4B-8AE8-33B4-3E2CC238959B}"/>
              </a:ext>
            </a:extLst>
          </p:cNvPr>
          <p:cNvSpPr>
            <a:spLocks noGrp="1"/>
          </p:cNvSpPr>
          <p:nvPr/>
        </p:nvSpPr>
        <p:spPr>
          <a:xfrm>
            <a:off x="363583" y="2841825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1" name="lbl">
            <a:extLst>
              <a:ext uri="{FF2B5EF4-FFF2-40B4-BE49-F238E27FC236}">
                <a16:creationId xmlns:a16="http://schemas.microsoft.com/office/drawing/2014/main" id="{E40B749C-A2E5-12DB-B139-62F93E4200C8}"/>
              </a:ext>
            </a:extLst>
          </p:cNvPr>
          <p:cNvSpPr txBox="1">
            <a:spLocks noGrp="1"/>
          </p:cNvSpPr>
          <p:nvPr/>
        </p:nvSpPr>
        <p:spPr>
          <a:xfrm>
            <a:off x="436735" y="2841825"/>
            <a:ext cx="319822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N3 Soporte L2</a:t>
            </a:r>
          </a:p>
        </p:txBody>
      </p:sp>
      <p:sp>
        <p:nvSpPr>
          <p:cNvPr id="163" name="cst">
            <a:extLst>
              <a:ext uri="{FF2B5EF4-FFF2-40B4-BE49-F238E27FC236}">
                <a16:creationId xmlns:a16="http://schemas.microsoft.com/office/drawing/2014/main" id="{239918B0-AEA0-76AF-70C1-C7069D488EE4}"/>
              </a:ext>
            </a:extLst>
          </p:cNvPr>
          <p:cNvSpPr txBox="1">
            <a:spLocks noGrp="1"/>
          </p:cNvSpPr>
          <p:nvPr/>
        </p:nvSpPr>
        <p:spPr>
          <a:xfrm>
            <a:off x="3490831" y="2841825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55</a:t>
            </a:r>
          </a:p>
        </p:txBody>
      </p:sp>
      <p:sp>
        <p:nvSpPr>
          <p:cNvPr id="165" name="bar">
            <a:extLst>
              <a:ext uri="{FF2B5EF4-FFF2-40B4-BE49-F238E27FC236}">
                <a16:creationId xmlns:a16="http://schemas.microsoft.com/office/drawing/2014/main" id="{ADF2DCAC-F3AA-43F8-B4AB-26576FC1B888}"/>
              </a:ext>
            </a:extLst>
          </p:cNvPr>
          <p:cNvSpPr>
            <a:spLocks noGrp="1"/>
          </p:cNvSpPr>
          <p:nvPr/>
        </p:nvSpPr>
        <p:spPr>
          <a:xfrm>
            <a:off x="363583" y="3363033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7" name="lbl">
            <a:extLst>
              <a:ext uri="{FF2B5EF4-FFF2-40B4-BE49-F238E27FC236}">
                <a16:creationId xmlns:a16="http://schemas.microsoft.com/office/drawing/2014/main" id="{0D4C4E3A-CB71-D89E-30FE-D87891ED0890}"/>
              </a:ext>
            </a:extLst>
          </p:cNvPr>
          <p:cNvSpPr txBox="1">
            <a:spLocks noGrp="1"/>
          </p:cNvSpPr>
          <p:nvPr/>
        </p:nvSpPr>
        <p:spPr>
          <a:xfrm>
            <a:off x="436735" y="3363033"/>
            <a:ext cx="39950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N4-N5 Especializado</a:t>
            </a:r>
          </a:p>
        </p:txBody>
      </p:sp>
      <p:sp>
        <p:nvSpPr>
          <p:cNvPr id="169" name="cst">
            <a:extLst>
              <a:ext uri="{FF2B5EF4-FFF2-40B4-BE49-F238E27FC236}">
                <a16:creationId xmlns:a16="http://schemas.microsoft.com/office/drawing/2014/main" id="{516256F4-37AA-EF39-3E54-9E6B464E213A}"/>
              </a:ext>
            </a:extLst>
          </p:cNvPr>
          <p:cNvSpPr txBox="1">
            <a:spLocks noGrp="1"/>
          </p:cNvSpPr>
          <p:nvPr/>
        </p:nvSpPr>
        <p:spPr>
          <a:xfrm>
            <a:off x="4113493" y="334670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104</a:t>
            </a:r>
          </a:p>
        </p:txBody>
      </p:sp>
      <p:sp>
        <p:nvSpPr>
          <p:cNvPr id="171" name="bhdr">
            <a:extLst>
              <a:ext uri="{FF2B5EF4-FFF2-40B4-BE49-F238E27FC236}">
                <a16:creationId xmlns:a16="http://schemas.microsoft.com/office/drawing/2014/main" id="{72699A02-D9BD-203D-2BBF-B3A35207C06B}"/>
              </a:ext>
            </a:extLst>
          </p:cNvPr>
          <p:cNvSpPr>
            <a:spLocks noGrp="1"/>
          </p:cNvSpPr>
          <p:nvPr/>
        </p:nvSpPr>
        <p:spPr>
          <a:xfrm>
            <a:off x="4732020" y="1196340"/>
            <a:ext cx="379476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3" name="th">
            <a:extLst>
              <a:ext uri="{FF2B5EF4-FFF2-40B4-BE49-F238E27FC236}">
                <a16:creationId xmlns:a16="http://schemas.microsoft.com/office/drawing/2014/main" id="{82367F01-1427-05FD-3941-50F2F6338D1B}"/>
              </a:ext>
            </a:extLst>
          </p:cNvPr>
          <p:cNvSpPr txBox="1">
            <a:spLocks noGrp="1"/>
          </p:cNvSpPr>
          <p:nvPr/>
        </p:nvSpPr>
        <p:spPr>
          <a:xfrm>
            <a:off x="4737463" y="11963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Métrica</a:t>
            </a:r>
          </a:p>
        </p:txBody>
      </p:sp>
      <p:sp>
        <p:nvSpPr>
          <p:cNvPr id="175" name="th">
            <a:extLst>
              <a:ext uri="{FF2B5EF4-FFF2-40B4-BE49-F238E27FC236}">
                <a16:creationId xmlns:a16="http://schemas.microsoft.com/office/drawing/2014/main" id="{A43800BE-7949-6206-5481-79E9337C8EB5}"/>
              </a:ext>
            </a:extLst>
          </p:cNvPr>
          <p:cNvSpPr txBox="1">
            <a:spLocks noGrp="1"/>
          </p:cNvSpPr>
          <p:nvPr/>
        </p:nvSpPr>
        <p:spPr>
          <a:xfrm>
            <a:off x="6291943" y="11963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Tradicional</a:t>
            </a:r>
          </a:p>
        </p:txBody>
      </p:sp>
      <p:sp>
        <p:nvSpPr>
          <p:cNvPr id="177" name="th">
            <a:extLst>
              <a:ext uri="{FF2B5EF4-FFF2-40B4-BE49-F238E27FC236}">
                <a16:creationId xmlns:a16="http://schemas.microsoft.com/office/drawing/2014/main" id="{5E880A90-7749-D9FE-8EAE-15D7C726958D}"/>
              </a:ext>
            </a:extLst>
          </p:cNvPr>
          <p:cNvSpPr txBox="1">
            <a:spLocks noGrp="1"/>
          </p:cNvSpPr>
          <p:nvPr/>
        </p:nvSpPr>
        <p:spPr>
          <a:xfrm>
            <a:off x="7297783" y="11963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Con IA Agéntica</a:t>
            </a:r>
          </a:p>
        </p:txBody>
      </p:sp>
      <p:sp>
        <p:nvSpPr>
          <p:cNvPr id="179" name="rbg">
            <a:extLst>
              <a:ext uri="{FF2B5EF4-FFF2-40B4-BE49-F238E27FC236}">
                <a16:creationId xmlns:a16="http://schemas.microsoft.com/office/drawing/2014/main" id="{7C37B1C2-815F-2818-F812-5A6691D3D634}"/>
              </a:ext>
            </a:extLst>
          </p:cNvPr>
          <p:cNvSpPr>
            <a:spLocks noGrp="1"/>
          </p:cNvSpPr>
          <p:nvPr/>
        </p:nvSpPr>
        <p:spPr>
          <a:xfrm>
            <a:off x="4737463" y="156210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81" name="bc">
            <a:extLst>
              <a:ext uri="{FF2B5EF4-FFF2-40B4-BE49-F238E27FC236}">
                <a16:creationId xmlns:a16="http://schemas.microsoft.com/office/drawing/2014/main" id="{C846BEF1-A2FE-C0A0-437E-B3B93D97DA3A}"/>
              </a:ext>
            </a:extLst>
          </p:cNvPr>
          <p:cNvSpPr txBox="1">
            <a:spLocks noGrp="1"/>
          </p:cNvSpPr>
          <p:nvPr/>
        </p:nvSpPr>
        <p:spPr>
          <a:xfrm>
            <a:off x="4737463" y="15621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FCR (1er Contacto)</a:t>
            </a:r>
          </a:p>
        </p:txBody>
      </p:sp>
      <p:sp>
        <p:nvSpPr>
          <p:cNvPr id="183" name="bc">
            <a:extLst>
              <a:ext uri="{FF2B5EF4-FFF2-40B4-BE49-F238E27FC236}">
                <a16:creationId xmlns:a16="http://schemas.microsoft.com/office/drawing/2014/main" id="{AFED1BC0-5B1C-9171-65E0-7E89DE93A22C}"/>
              </a:ext>
            </a:extLst>
          </p:cNvPr>
          <p:cNvSpPr txBox="1">
            <a:spLocks noGrp="1"/>
          </p:cNvSpPr>
          <p:nvPr/>
        </p:nvSpPr>
        <p:spPr>
          <a:xfrm>
            <a:off x="6291943" y="15621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40-55%</a:t>
            </a:r>
          </a:p>
        </p:txBody>
      </p:sp>
      <p:sp>
        <p:nvSpPr>
          <p:cNvPr id="185" name="bc">
            <a:extLst>
              <a:ext uri="{FF2B5EF4-FFF2-40B4-BE49-F238E27FC236}">
                <a16:creationId xmlns:a16="http://schemas.microsoft.com/office/drawing/2014/main" id="{CA6E3487-A0A9-E5C0-7E64-5D59A994F431}"/>
              </a:ext>
            </a:extLst>
          </p:cNvPr>
          <p:cNvSpPr txBox="1">
            <a:spLocks noGrp="1"/>
          </p:cNvSpPr>
          <p:nvPr/>
        </p:nvSpPr>
        <p:spPr>
          <a:xfrm>
            <a:off x="7297783" y="15621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75-85%</a:t>
            </a:r>
          </a:p>
        </p:txBody>
      </p:sp>
      <p:sp>
        <p:nvSpPr>
          <p:cNvPr id="187" name="rbg">
            <a:extLst>
              <a:ext uri="{FF2B5EF4-FFF2-40B4-BE49-F238E27FC236}">
                <a16:creationId xmlns:a16="http://schemas.microsoft.com/office/drawing/2014/main" id="{B6CD0C2E-0C95-41E3-2CC1-F9B383D7549D}"/>
              </a:ext>
            </a:extLst>
          </p:cNvPr>
          <p:cNvSpPr>
            <a:spLocks noGrp="1"/>
          </p:cNvSpPr>
          <p:nvPr/>
        </p:nvSpPr>
        <p:spPr>
          <a:xfrm>
            <a:off x="4737463" y="192786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89" name="bc">
            <a:extLst>
              <a:ext uri="{FF2B5EF4-FFF2-40B4-BE49-F238E27FC236}">
                <a16:creationId xmlns:a16="http://schemas.microsoft.com/office/drawing/2014/main" id="{F14D6286-CE51-E6E6-D95F-ED272FC8C658}"/>
              </a:ext>
            </a:extLst>
          </p:cNvPr>
          <p:cNvSpPr txBox="1">
            <a:spLocks noGrp="1"/>
          </p:cNvSpPr>
          <p:nvPr/>
        </p:nvSpPr>
        <p:spPr>
          <a:xfrm>
            <a:off x="4737463" y="19278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Reducción MTTR</a:t>
            </a:r>
          </a:p>
        </p:txBody>
      </p:sp>
      <p:sp>
        <p:nvSpPr>
          <p:cNvPr id="191" name="bc">
            <a:extLst>
              <a:ext uri="{FF2B5EF4-FFF2-40B4-BE49-F238E27FC236}">
                <a16:creationId xmlns:a16="http://schemas.microsoft.com/office/drawing/2014/main" id="{093B2FAE-DE04-A196-06B3-9EED4CD19003}"/>
              </a:ext>
            </a:extLst>
          </p:cNvPr>
          <p:cNvSpPr txBox="1">
            <a:spLocks noGrp="1"/>
          </p:cNvSpPr>
          <p:nvPr/>
        </p:nvSpPr>
        <p:spPr>
          <a:xfrm>
            <a:off x="6291943" y="19278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base</a:t>
            </a:r>
          </a:p>
        </p:txBody>
      </p:sp>
      <p:sp>
        <p:nvSpPr>
          <p:cNvPr id="193" name="bc">
            <a:extLst>
              <a:ext uri="{FF2B5EF4-FFF2-40B4-BE49-F238E27FC236}">
                <a16:creationId xmlns:a16="http://schemas.microsoft.com/office/drawing/2014/main" id="{8C1913F5-D813-9C09-F6C7-AA498D8E8487}"/>
              </a:ext>
            </a:extLst>
          </p:cNvPr>
          <p:cNvSpPr txBox="1">
            <a:spLocks noGrp="1"/>
          </p:cNvSpPr>
          <p:nvPr/>
        </p:nvSpPr>
        <p:spPr>
          <a:xfrm>
            <a:off x="7297783" y="19278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-60 a -70%</a:t>
            </a:r>
          </a:p>
        </p:txBody>
      </p:sp>
      <p:sp>
        <p:nvSpPr>
          <p:cNvPr id="195" name="rbg">
            <a:extLst>
              <a:ext uri="{FF2B5EF4-FFF2-40B4-BE49-F238E27FC236}">
                <a16:creationId xmlns:a16="http://schemas.microsoft.com/office/drawing/2014/main" id="{F6CCF5F1-1B32-29D0-A442-5BD15A44D153}"/>
              </a:ext>
            </a:extLst>
          </p:cNvPr>
          <p:cNvSpPr>
            <a:spLocks noGrp="1"/>
          </p:cNvSpPr>
          <p:nvPr/>
        </p:nvSpPr>
        <p:spPr>
          <a:xfrm>
            <a:off x="4737463" y="229362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97" name="bc">
            <a:extLst>
              <a:ext uri="{FF2B5EF4-FFF2-40B4-BE49-F238E27FC236}">
                <a16:creationId xmlns:a16="http://schemas.microsoft.com/office/drawing/2014/main" id="{D7093950-99DC-9B24-8CA5-7F6EE7CA1A7A}"/>
              </a:ext>
            </a:extLst>
          </p:cNvPr>
          <p:cNvSpPr txBox="1">
            <a:spLocks noGrp="1"/>
          </p:cNvSpPr>
          <p:nvPr/>
        </p:nvSpPr>
        <p:spPr>
          <a:xfrm>
            <a:off x="4737463" y="22936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Costo / interacción</a:t>
            </a:r>
          </a:p>
        </p:txBody>
      </p:sp>
      <p:sp>
        <p:nvSpPr>
          <p:cNvPr id="199" name="bc">
            <a:extLst>
              <a:ext uri="{FF2B5EF4-FFF2-40B4-BE49-F238E27FC236}">
                <a16:creationId xmlns:a16="http://schemas.microsoft.com/office/drawing/2014/main" id="{FA7A9F1D-F520-D145-7639-AA643FCB5F23}"/>
              </a:ext>
            </a:extLst>
          </p:cNvPr>
          <p:cNvSpPr txBox="1">
            <a:spLocks noGrp="1"/>
          </p:cNvSpPr>
          <p:nvPr/>
        </p:nvSpPr>
        <p:spPr>
          <a:xfrm>
            <a:off x="6291943" y="22936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USD 15-25</a:t>
            </a:r>
          </a:p>
        </p:txBody>
      </p:sp>
      <p:sp>
        <p:nvSpPr>
          <p:cNvPr id="201" name="bc">
            <a:extLst>
              <a:ext uri="{FF2B5EF4-FFF2-40B4-BE49-F238E27FC236}">
                <a16:creationId xmlns:a16="http://schemas.microsoft.com/office/drawing/2014/main" id="{9DA35372-7FB1-17E2-6A0F-A53693069B6A}"/>
              </a:ext>
            </a:extLst>
          </p:cNvPr>
          <p:cNvSpPr txBox="1">
            <a:spLocks noGrp="1"/>
          </p:cNvSpPr>
          <p:nvPr/>
        </p:nvSpPr>
        <p:spPr>
          <a:xfrm>
            <a:off x="7297783" y="229362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USD 3-8</a:t>
            </a:r>
          </a:p>
        </p:txBody>
      </p:sp>
      <p:sp>
        <p:nvSpPr>
          <p:cNvPr id="203" name="rbg">
            <a:extLst>
              <a:ext uri="{FF2B5EF4-FFF2-40B4-BE49-F238E27FC236}">
                <a16:creationId xmlns:a16="http://schemas.microsoft.com/office/drawing/2014/main" id="{876C3B31-9ECD-634E-6CF4-8F8397BD536D}"/>
              </a:ext>
            </a:extLst>
          </p:cNvPr>
          <p:cNvSpPr>
            <a:spLocks noGrp="1"/>
          </p:cNvSpPr>
          <p:nvPr/>
        </p:nvSpPr>
        <p:spPr>
          <a:xfrm>
            <a:off x="4737463" y="265938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5" name="bc">
            <a:extLst>
              <a:ext uri="{FF2B5EF4-FFF2-40B4-BE49-F238E27FC236}">
                <a16:creationId xmlns:a16="http://schemas.microsoft.com/office/drawing/2014/main" id="{CEAAE6F1-8281-3CC6-A33A-EFC7FE5E1D94}"/>
              </a:ext>
            </a:extLst>
          </p:cNvPr>
          <p:cNvSpPr txBox="1">
            <a:spLocks noGrp="1"/>
          </p:cNvSpPr>
          <p:nvPr/>
        </p:nvSpPr>
        <p:spPr>
          <a:xfrm>
            <a:off x="4737463" y="26593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Deflección (Robinhood)</a:t>
            </a:r>
          </a:p>
        </p:txBody>
      </p:sp>
      <p:sp>
        <p:nvSpPr>
          <p:cNvPr id="207" name="bc">
            <a:extLst>
              <a:ext uri="{FF2B5EF4-FFF2-40B4-BE49-F238E27FC236}">
                <a16:creationId xmlns:a16="http://schemas.microsoft.com/office/drawing/2014/main" id="{E41B5E9F-B605-01DD-4386-9A35AFCF3E7F}"/>
              </a:ext>
            </a:extLst>
          </p:cNvPr>
          <p:cNvSpPr txBox="1">
            <a:spLocks noGrp="1"/>
          </p:cNvSpPr>
          <p:nvPr/>
        </p:nvSpPr>
        <p:spPr>
          <a:xfrm>
            <a:off x="6291943" y="26593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09" name="bc">
            <a:extLst>
              <a:ext uri="{FF2B5EF4-FFF2-40B4-BE49-F238E27FC236}">
                <a16:creationId xmlns:a16="http://schemas.microsoft.com/office/drawing/2014/main" id="{BFE8A9FB-411A-CB3B-356E-A92A43AB2EE6}"/>
              </a:ext>
            </a:extLst>
          </p:cNvPr>
          <p:cNvSpPr txBox="1">
            <a:spLocks noGrp="1"/>
          </p:cNvSpPr>
          <p:nvPr/>
        </p:nvSpPr>
        <p:spPr>
          <a:xfrm>
            <a:off x="7297783" y="26593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70%</a:t>
            </a:r>
          </a:p>
        </p:txBody>
      </p:sp>
      <p:sp>
        <p:nvSpPr>
          <p:cNvPr id="211" name="rbg">
            <a:extLst>
              <a:ext uri="{FF2B5EF4-FFF2-40B4-BE49-F238E27FC236}">
                <a16:creationId xmlns:a16="http://schemas.microsoft.com/office/drawing/2014/main" id="{F951DD2B-AA1A-02FA-E559-ED687294F73E}"/>
              </a:ext>
            </a:extLst>
          </p:cNvPr>
          <p:cNvSpPr>
            <a:spLocks noGrp="1"/>
          </p:cNvSpPr>
          <p:nvPr/>
        </p:nvSpPr>
        <p:spPr>
          <a:xfrm>
            <a:off x="4737463" y="302514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13" name="bc">
            <a:extLst>
              <a:ext uri="{FF2B5EF4-FFF2-40B4-BE49-F238E27FC236}">
                <a16:creationId xmlns:a16="http://schemas.microsoft.com/office/drawing/2014/main" id="{FD472BD7-74B6-C946-902D-13B8CC4A26FF}"/>
              </a:ext>
            </a:extLst>
          </p:cNvPr>
          <p:cNvSpPr txBox="1">
            <a:spLocks noGrp="1"/>
          </p:cNvSpPr>
          <p:nvPr/>
        </p:nvSpPr>
        <p:spPr>
          <a:xfrm>
            <a:off x="4737463" y="30251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Reducción tickets</a:t>
            </a:r>
          </a:p>
        </p:txBody>
      </p:sp>
      <p:sp>
        <p:nvSpPr>
          <p:cNvPr id="215" name="bc">
            <a:extLst>
              <a:ext uri="{FF2B5EF4-FFF2-40B4-BE49-F238E27FC236}">
                <a16:creationId xmlns:a16="http://schemas.microsoft.com/office/drawing/2014/main" id="{658AB931-27D3-369F-40E2-9581CF75CF63}"/>
              </a:ext>
            </a:extLst>
          </p:cNvPr>
          <p:cNvSpPr txBox="1">
            <a:spLocks noGrp="1"/>
          </p:cNvSpPr>
          <p:nvPr/>
        </p:nvSpPr>
        <p:spPr>
          <a:xfrm>
            <a:off x="6291943" y="30251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17" name="bc">
            <a:extLst>
              <a:ext uri="{FF2B5EF4-FFF2-40B4-BE49-F238E27FC236}">
                <a16:creationId xmlns:a16="http://schemas.microsoft.com/office/drawing/2014/main" id="{1A3168AC-27D5-E418-7B13-04D9B3134840}"/>
              </a:ext>
            </a:extLst>
          </p:cNvPr>
          <p:cNvSpPr txBox="1">
            <a:spLocks noGrp="1"/>
          </p:cNvSpPr>
          <p:nvPr/>
        </p:nvSpPr>
        <p:spPr>
          <a:xfrm>
            <a:off x="7297783" y="30251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-80%</a:t>
            </a:r>
          </a:p>
        </p:txBody>
      </p:sp>
      <p:sp>
        <p:nvSpPr>
          <p:cNvPr id="219" name="rbg">
            <a:extLst>
              <a:ext uri="{FF2B5EF4-FFF2-40B4-BE49-F238E27FC236}">
                <a16:creationId xmlns:a16="http://schemas.microsoft.com/office/drawing/2014/main" id="{DB149D34-EE8D-5FB2-B320-ADB79E10C1DA}"/>
              </a:ext>
            </a:extLst>
          </p:cNvPr>
          <p:cNvSpPr>
            <a:spLocks noGrp="1"/>
          </p:cNvSpPr>
          <p:nvPr/>
        </p:nvSpPr>
        <p:spPr>
          <a:xfrm>
            <a:off x="4737463" y="339090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21" name="bc">
            <a:extLst>
              <a:ext uri="{FF2B5EF4-FFF2-40B4-BE49-F238E27FC236}">
                <a16:creationId xmlns:a16="http://schemas.microsoft.com/office/drawing/2014/main" id="{3F90F45C-CB37-8A13-C3C3-4BB01AA9D9EB}"/>
              </a:ext>
            </a:extLst>
          </p:cNvPr>
          <p:cNvSpPr txBox="1">
            <a:spLocks noGrp="1"/>
          </p:cNvSpPr>
          <p:nvPr/>
        </p:nvSpPr>
        <p:spPr>
          <a:xfrm>
            <a:off x="4737463" y="33909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Resolución autónoma</a:t>
            </a:r>
          </a:p>
        </p:txBody>
      </p:sp>
      <p:sp>
        <p:nvSpPr>
          <p:cNvPr id="223" name="bc">
            <a:extLst>
              <a:ext uri="{FF2B5EF4-FFF2-40B4-BE49-F238E27FC236}">
                <a16:creationId xmlns:a16="http://schemas.microsoft.com/office/drawing/2014/main" id="{B7F6C673-E47B-A1D4-9662-DE437DBC1D85}"/>
              </a:ext>
            </a:extLst>
          </p:cNvPr>
          <p:cNvSpPr txBox="1">
            <a:spLocks noGrp="1"/>
          </p:cNvSpPr>
          <p:nvPr/>
        </p:nvSpPr>
        <p:spPr>
          <a:xfrm>
            <a:off x="6291943" y="33909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25" name="bc">
            <a:extLst>
              <a:ext uri="{FF2B5EF4-FFF2-40B4-BE49-F238E27FC236}">
                <a16:creationId xmlns:a16="http://schemas.microsoft.com/office/drawing/2014/main" id="{6DF9AF60-4A8F-3718-2B5B-6919ECE54B9A}"/>
              </a:ext>
            </a:extLst>
          </p:cNvPr>
          <p:cNvSpPr txBox="1">
            <a:spLocks noGrp="1"/>
          </p:cNvSpPr>
          <p:nvPr/>
        </p:nvSpPr>
        <p:spPr>
          <a:xfrm>
            <a:off x="7297783" y="33909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b="1" u="sng">
                <a:solidFill>
                  <a:srgbClr val="2A6B3C"/>
                </a:solidFill>
                <a:latin typeface="Reddit Sans"/>
                <a:ea typeface="Reddit Sans"/>
              </a:rPr>
              <a:t>84%</a:t>
            </a: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C94BB872-B187-C3FA-2DF5-D6DA327DB98F}"/>
              </a:ext>
            </a:extLst>
          </p:cNvPr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Freshservice State of IT</a:t>
            </a:r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Ivanti Agentic AI</a:t>
            </a:r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5"/>
              </a:rPr>
              <a:t>Gartner Cost per Ticket</a:t>
            </a:r>
            <a:endParaRPr lang="es-ES" sz="750" u="sng">
              <a:solidFill>
                <a:srgbClr val="1A3A8F"/>
              </a:solidFill>
              <a:latin typeface="Reddit Sans"/>
              <a:ea typeface="Reddit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D303D37-CBEA-BBBA-D0B0-3068D4DD7EAB}"/>
              </a:ext>
            </a:extLst>
          </p:cNvPr>
          <p:cNvSpPr txBox="1"/>
          <p:nvPr/>
        </p:nvSpPr>
        <p:spPr>
          <a:xfrm>
            <a:off x="5742214" y="4041321"/>
            <a:ext cx="280851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b="1" i="0">
                <a:latin typeface="Reddit Sans"/>
                <a:ea typeface="Reddit Sans"/>
                <a:cs typeface="Segoe UI"/>
              </a:rPr>
              <a:t>Shift-Left (</a:t>
            </a:r>
            <a:r>
              <a:rPr lang="en-US" sz="700" b="1" i="0" err="1">
                <a:latin typeface="Reddit Sans"/>
                <a:ea typeface="Reddit Sans"/>
                <a:cs typeface="Segoe UI"/>
              </a:rPr>
              <a:t>Desplazamiento</a:t>
            </a:r>
            <a:r>
              <a:rPr lang="en-US" sz="700" b="1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1" i="0" err="1">
                <a:latin typeface="Reddit Sans"/>
                <a:ea typeface="Reddit Sans"/>
                <a:cs typeface="Segoe UI"/>
              </a:rPr>
              <a:t>hacia</a:t>
            </a:r>
            <a:r>
              <a:rPr lang="en-US" sz="700" b="1" i="0">
                <a:latin typeface="Reddit Sans"/>
                <a:ea typeface="Reddit Sans"/>
                <a:cs typeface="Segoe UI"/>
              </a:rPr>
              <a:t> la Izquierda):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Estrategia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gestión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servicios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que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busca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resolver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incidentes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solicitudes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los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niveles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más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cercanos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al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usuario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(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autoservicio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base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conocimiento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chatbot o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soporte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N1),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evitando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escalaciones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innecesarias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reduciendo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costos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tiempos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atención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esfuerzo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operativo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.</a:t>
            </a:r>
          </a:p>
          <a:p>
            <a:pPr algn="ctr"/>
            <a:endParaRPr lang="es-ES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414997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5640-8028-37AE-5A26-6AFA696A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>
                <a:highlight>
                  <a:srgbClr val="FF0000"/>
                </a:highlight>
              </a:rPr>
              <a:t>Visualización</a:t>
            </a:r>
            <a:r>
              <a:rPr lang="en-US">
                <a:highlight>
                  <a:srgbClr val="FF0000"/>
                </a:highlight>
              </a:rPr>
              <a:t>: Benchmarks de </a:t>
            </a:r>
            <a:r>
              <a:rPr lang="es-CO">
                <a:highlight>
                  <a:srgbClr val="FF0000"/>
                </a:highlight>
              </a:rPr>
              <a:t>industria</a:t>
            </a:r>
            <a:r>
              <a:rPr lang="es-CO" sz="1200">
                <a:highlight>
                  <a:srgbClr val="FF0000"/>
                </a:highlight>
              </a:rPr>
              <a:t> (mesas actuales (capacidad instalada y # de tickets) y comparando con la mesa tradicional. FTE costo: 88 mil pesos hora.         1 dólar de : 3800</a:t>
            </a:r>
          </a:p>
        </p:txBody>
      </p:sp>
      <p:sp>
        <p:nvSpPr>
          <p:cNvPr id="102" name="txt102"/>
          <p:cNvSpPr>
            <a:spLocks noGrp="1"/>
          </p:cNvSpPr>
          <p:nvPr/>
        </p:nvSpPr>
        <p:spPr>
          <a:xfrm>
            <a:off x="387531" y="718240"/>
            <a:ext cx="8412480" cy="237744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Promedio industria vs. World-Class vs. Next Gen Objetivo</a:t>
            </a:r>
          </a:p>
        </p:txBody>
      </p:sp>
      <p:sp>
        <p:nvSpPr>
          <p:cNvPr id="103" name="txt103"/>
          <p:cNvSpPr>
            <a:spLocks noGrp="1"/>
          </p:cNvSpPr>
          <p:nvPr/>
        </p:nvSpPr>
        <p:spPr>
          <a:xfrm>
            <a:off x="27432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FCR (First Contact Resolution)</a:t>
            </a:r>
          </a:p>
        </p:txBody>
      </p:sp>
      <p:sp>
        <p:nvSpPr>
          <p:cNvPr id="104" name="bar104"/>
          <p:cNvSpPr/>
          <p:nvPr/>
        </p:nvSpPr>
        <p:spPr>
          <a:xfrm>
            <a:off x="32004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bar105"/>
          <p:cNvSpPr/>
          <p:nvPr/>
        </p:nvSpPr>
        <p:spPr>
          <a:xfrm>
            <a:off x="320040" y="1481328"/>
            <a:ext cx="1725473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txt106"/>
          <p:cNvSpPr>
            <a:spLocks noGrp="1"/>
          </p:cNvSpPr>
          <p:nvPr/>
        </p:nvSpPr>
        <p:spPr>
          <a:xfrm>
            <a:off x="320040" y="1472184"/>
            <a:ext cx="1707185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74%</a:t>
            </a:r>
          </a:p>
        </p:txBody>
      </p:sp>
      <p:sp>
        <p:nvSpPr>
          <p:cNvPr id="107" name="txt107"/>
          <p:cNvSpPr>
            <a:spLocks noGrp="1"/>
          </p:cNvSpPr>
          <p:nvPr/>
        </p:nvSpPr>
        <p:spPr>
          <a:xfrm>
            <a:off x="320040" y="1687068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Promedio industria</a:t>
            </a:r>
          </a:p>
        </p:txBody>
      </p:sp>
      <p:sp>
        <p:nvSpPr>
          <p:cNvPr id="108" name="bar108"/>
          <p:cNvSpPr/>
          <p:nvPr/>
        </p:nvSpPr>
        <p:spPr>
          <a:xfrm>
            <a:off x="320040" y="195681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bar109"/>
          <p:cNvSpPr/>
          <p:nvPr/>
        </p:nvSpPr>
        <p:spPr>
          <a:xfrm>
            <a:off x="320040" y="1956816"/>
            <a:ext cx="1865376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txt110"/>
          <p:cNvSpPr>
            <a:spLocks noGrp="1"/>
          </p:cNvSpPr>
          <p:nvPr/>
        </p:nvSpPr>
        <p:spPr>
          <a:xfrm>
            <a:off x="320040" y="1947672"/>
            <a:ext cx="1847088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80%+</a:t>
            </a:r>
          </a:p>
        </p:txBody>
      </p:sp>
      <p:sp>
        <p:nvSpPr>
          <p:cNvPr id="111" name="txt111"/>
          <p:cNvSpPr>
            <a:spLocks noGrp="1"/>
          </p:cNvSpPr>
          <p:nvPr/>
        </p:nvSpPr>
        <p:spPr>
          <a:xfrm>
            <a:off x="320040" y="2162556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12" name="bar112"/>
          <p:cNvSpPr/>
          <p:nvPr/>
        </p:nvSpPr>
        <p:spPr>
          <a:xfrm>
            <a:off x="320040" y="2432304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bar113"/>
          <p:cNvSpPr/>
          <p:nvPr/>
        </p:nvSpPr>
        <p:spPr>
          <a:xfrm>
            <a:off x="320040" y="2432304"/>
            <a:ext cx="1981962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txt114"/>
          <p:cNvSpPr>
            <a:spLocks noGrp="1"/>
          </p:cNvSpPr>
          <p:nvPr/>
        </p:nvSpPr>
        <p:spPr>
          <a:xfrm>
            <a:off x="320040" y="2423160"/>
            <a:ext cx="1963674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85%+</a:t>
            </a:r>
          </a:p>
        </p:txBody>
      </p:sp>
      <p:sp>
        <p:nvSpPr>
          <p:cNvPr id="115" name="txt115"/>
          <p:cNvSpPr>
            <a:spLocks noGrp="1"/>
          </p:cNvSpPr>
          <p:nvPr/>
        </p:nvSpPr>
        <p:spPr>
          <a:xfrm>
            <a:off x="320040" y="2638044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Objetivo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(N5)</a:t>
            </a:r>
          </a:p>
        </p:txBody>
      </p:sp>
      <p:sp>
        <p:nvSpPr>
          <p:cNvPr id="116" name="txt116"/>
          <p:cNvSpPr>
            <a:spLocks noGrp="1"/>
          </p:cNvSpPr>
          <p:nvPr/>
        </p:nvSpPr>
        <p:spPr>
          <a:xfrm>
            <a:off x="274320" y="3112008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Deflection Rate</a:t>
            </a:r>
          </a:p>
        </p:txBody>
      </p:sp>
      <p:sp>
        <p:nvSpPr>
          <p:cNvPr id="117" name="bar117"/>
          <p:cNvSpPr/>
          <p:nvPr/>
        </p:nvSpPr>
        <p:spPr>
          <a:xfrm>
            <a:off x="320040" y="3467971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bar118"/>
          <p:cNvSpPr/>
          <p:nvPr/>
        </p:nvSpPr>
        <p:spPr>
          <a:xfrm>
            <a:off x="320040" y="3467971"/>
            <a:ext cx="536296" cy="201168"/>
          </a:xfrm>
          <a:prstGeom prst="roundRect">
            <a:avLst>
              <a:gd name="adj" fmla="val 2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txt119"/>
          <p:cNvSpPr>
            <a:spLocks noGrp="1"/>
          </p:cNvSpPr>
          <p:nvPr/>
        </p:nvSpPr>
        <p:spPr>
          <a:xfrm>
            <a:off x="902056" y="3458827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7A7974"/>
                </a:solidFill>
                <a:latin typeface="Aptos"/>
              </a:rPr>
              <a:t>23%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industria</a:t>
            </a:r>
          </a:p>
        </p:txBody>
      </p:sp>
      <p:sp>
        <p:nvSpPr>
          <p:cNvPr id="120" name="bar120"/>
          <p:cNvSpPr/>
          <p:nvPr/>
        </p:nvSpPr>
        <p:spPr>
          <a:xfrm>
            <a:off x="320040" y="3778867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bar121"/>
          <p:cNvSpPr/>
          <p:nvPr/>
        </p:nvSpPr>
        <p:spPr>
          <a:xfrm>
            <a:off x="320040" y="3778867"/>
            <a:ext cx="1165860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txt122"/>
          <p:cNvSpPr>
            <a:spLocks noGrp="1"/>
          </p:cNvSpPr>
          <p:nvPr/>
        </p:nvSpPr>
        <p:spPr>
          <a:xfrm>
            <a:off x="1508760" y="3769723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237B89"/>
                </a:solidFill>
                <a:latin typeface="Aptos"/>
              </a:rPr>
              <a:t>50%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maduro</a:t>
            </a:r>
          </a:p>
        </p:txBody>
      </p:sp>
      <p:sp>
        <p:nvSpPr>
          <p:cNvPr id="123" name="bar123"/>
          <p:cNvSpPr/>
          <p:nvPr/>
        </p:nvSpPr>
        <p:spPr>
          <a:xfrm>
            <a:off x="320040" y="4089763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bar124"/>
          <p:cNvSpPr/>
          <p:nvPr/>
        </p:nvSpPr>
        <p:spPr>
          <a:xfrm>
            <a:off x="320040" y="4089763"/>
            <a:ext cx="2098548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txt125"/>
          <p:cNvSpPr>
            <a:spLocks noGrp="1"/>
          </p:cNvSpPr>
          <p:nvPr/>
        </p:nvSpPr>
        <p:spPr>
          <a:xfrm>
            <a:off x="1508760" y="4080619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90%+</a:t>
            </a:r>
          </a:p>
        </p:txBody>
      </p:sp>
      <p:sp>
        <p:nvSpPr>
          <p:cNvPr id="126" name="txt126"/>
          <p:cNvSpPr>
            <a:spLocks noGrp="1"/>
          </p:cNvSpPr>
          <p:nvPr/>
        </p:nvSpPr>
        <p:spPr>
          <a:xfrm>
            <a:off x="320040" y="4400659"/>
            <a:ext cx="274320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 dirty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 dirty="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 dirty="0">
                <a:solidFill>
                  <a:srgbClr val="7A7A7A"/>
                </a:solidFill>
                <a:latin typeface="Aptos"/>
              </a:rPr>
              <a:t>IA </a:t>
            </a:r>
            <a:r>
              <a:rPr lang="es-CO" sz="850" b="0" dirty="0" err="1">
                <a:solidFill>
                  <a:srgbClr val="7A7A7A"/>
                </a:solidFill>
                <a:latin typeface="Aptos"/>
              </a:rPr>
              <a:t>agéntica</a:t>
            </a:r>
            <a:r>
              <a:rPr lang="es-CO" sz="850" b="0" dirty="0">
                <a:solidFill>
                  <a:srgbClr val="7A7A7A"/>
                </a:solidFill>
                <a:latin typeface="Aptos"/>
              </a:rPr>
              <a:t> (casos líderes)</a:t>
            </a:r>
          </a:p>
        </p:txBody>
      </p:sp>
      <p:sp>
        <p:nvSpPr>
          <p:cNvPr id="127" name="txt127"/>
          <p:cNvSpPr>
            <a:spLocks noGrp="1"/>
          </p:cNvSpPr>
          <p:nvPr/>
        </p:nvSpPr>
        <p:spPr>
          <a:xfrm>
            <a:off x="3107871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MTTR (Mean Time to Resolution)</a:t>
            </a:r>
          </a:p>
        </p:txBody>
      </p:sp>
      <p:sp>
        <p:nvSpPr>
          <p:cNvPr id="128" name="bar128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bar129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txt130"/>
          <p:cNvSpPr>
            <a:spLocks noGrp="1"/>
          </p:cNvSpPr>
          <p:nvPr/>
        </p:nvSpPr>
        <p:spPr>
          <a:xfrm>
            <a:off x="3246120" y="1472184"/>
            <a:ext cx="2313432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8.85h</a:t>
            </a:r>
          </a:p>
        </p:txBody>
      </p:sp>
      <p:sp>
        <p:nvSpPr>
          <p:cNvPr id="131" name="txt131"/>
          <p:cNvSpPr>
            <a:spLocks noGrp="1"/>
          </p:cNvSpPr>
          <p:nvPr/>
        </p:nvSpPr>
        <p:spPr>
          <a:xfrm>
            <a:off x="3246120" y="1737360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Bueno</a:t>
            </a:r>
          </a:p>
        </p:txBody>
      </p:sp>
      <p:sp>
        <p:nvSpPr>
          <p:cNvPr id="132" name="bar132"/>
          <p:cNvSpPr/>
          <p:nvPr/>
        </p:nvSpPr>
        <p:spPr>
          <a:xfrm>
            <a:off x="3246120" y="1901952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bar133"/>
          <p:cNvSpPr/>
          <p:nvPr/>
        </p:nvSpPr>
        <p:spPr>
          <a:xfrm>
            <a:off x="3246120" y="1901952"/>
            <a:ext cx="1049274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txt134"/>
          <p:cNvSpPr>
            <a:spLocks noGrp="1"/>
          </p:cNvSpPr>
          <p:nvPr/>
        </p:nvSpPr>
        <p:spPr>
          <a:xfrm>
            <a:off x="3246120" y="1892808"/>
            <a:ext cx="1030986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&lt;4h</a:t>
            </a:r>
          </a:p>
        </p:txBody>
      </p:sp>
      <p:sp>
        <p:nvSpPr>
          <p:cNvPr id="135" name="txt135"/>
          <p:cNvSpPr>
            <a:spLocks noGrp="1"/>
          </p:cNvSpPr>
          <p:nvPr/>
        </p:nvSpPr>
        <p:spPr>
          <a:xfrm>
            <a:off x="3246120" y="2157984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36" name="bar136"/>
          <p:cNvSpPr/>
          <p:nvPr/>
        </p:nvSpPr>
        <p:spPr>
          <a:xfrm>
            <a:off x="3246120" y="232257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bar137"/>
          <p:cNvSpPr/>
          <p:nvPr/>
        </p:nvSpPr>
        <p:spPr>
          <a:xfrm>
            <a:off x="3246120" y="2322576"/>
            <a:ext cx="349758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txt138"/>
          <p:cNvSpPr>
            <a:spLocks noGrp="1"/>
          </p:cNvSpPr>
          <p:nvPr/>
        </p:nvSpPr>
        <p:spPr>
          <a:xfrm>
            <a:off x="3623310" y="2313432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132346"/>
                </a:solidFill>
                <a:latin typeface="Aptos"/>
              </a:rPr>
              <a:t>&lt;1h</a:t>
            </a:r>
          </a:p>
        </p:txBody>
      </p:sp>
      <p:sp>
        <p:nvSpPr>
          <p:cNvPr id="139" name="txt139"/>
          <p:cNvSpPr>
            <a:spLocks noGrp="1"/>
          </p:cNvSpPr>
          <p:nvPr/>
        </p:nvSpPr>
        <p:spPr>
          <a:xfrm>
            <a:off x="3246120" y="2578608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(N5)</a:t>
            </a:r>
          </a:p>
        </p:txBody>
      </p:sp>
      <p:sp>
        <p:nvSpPr>
          <p:cNvPr id="140" name="bar140"/>
          <p:cNvSpPr/>
          <p:nvPr/>
        </p:nvSpPr>
        <p:spPr>
          <a:xfrm>
            <a:off x="3246120" y="2743200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bar141"/>
          <p:cNvSpPr/>
          <p:nvPr/>
        </p:nvSpPr>
        <p:spPr>
          <a:xfrm>
            <a:off x="3246120" y="2743200"/>
            <a:ext cx="582930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2" name="txt142"/>
          <p:cNvSpPr>
            <a:spLocks noGrp="1"/>
          </p:cNvSpPr>
          <p:nvPr/>
        </p:nvSpPr>
        <p:spPr>
          <a:xfrm>
            <a:off x="3856482" y="2734056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&lt;2h</a:t>
            </a:r>
          </a:p>
        </p:txBody>
      </p:sp>
      <p:sp>
        <p:nvSpPr>
          <p:cNvPr id="143" name="txt143"/>
          <p:cNvSpPr>
            <a:spLocks noGrp="1"/>
          </p:cNvSpPr>
          <p:nvPr/>
        </p:nvSpPr>
        <p:spPr>
          <a:xfrm>
            <a:off x="3200400" y="3108960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Impacto GenAI en Métricas</a:t>
            </a:r>
          </a:p>
        </p:txBody>
      </p:sp>
      <p:sp>
        <p:nvSpPr>
          <p:cNvPr id="144" name="bar144"/>
          <p:cNvSpPr/>
          <p:nvPr/>
        </p:nvSpPr>
        <p:spPr>
          <a:xfrm>
            <a:off x="3200400" y="3419856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5" name="txt145"/>
          <p:cNvSpPr>
            <a:spLocks noGrp="1"/>
          </p:cNvSpPr>
          <p:nvPr/>
        </p:nvSpPr>
        <p:spPr>
          <a:xfrm>
            <a:off x="3291840" y="3419856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↓ MTTR</a:t>
            </a:r>
          </a:p>
        </p:txBody>
      </p:sp>
      <p:sp>
        <p:nvSpPr>
          <p:cNvPr id="146" name="txt146"/>
          <p:cNvSpPr>
            <a:spLocks noGrp="1"/>
          </p:cNvSpPr>
          <p:nvPr/>
        </p:nvSpPr>
        <p:spPr>
          <a:xfrm>
            <a:off x="4800600" y="3419856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A54426"/>
                </a:solidFill>
                <a:latin typeface="Aptos"/>
              </a:rPr>
              <a:t>−26.6%</a:t>
            </a:r>
          </a:p>
        </p:txBody>
      </p:sp>
      <p:sp>
        <p:nvSpPr>
          <p:cNvPr id="147" name="bar147"/>
          <p:cNvSpPr/>
          <p:nvPr/>
        </p:nvSpPr>
        <p:spPr>
          <a:xfrm>
            <a:off x="3200400" y="3730752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txt148"/>
          <p:cNvSpPr>
            <a:spLocks noGrp="1"/>
          </p:cNvSpPr>
          <p:nvPr/>
        </p:nvSpPr>
        <p:spPr>
          <a:xfrm>
            <a:off x="3291840" y="3730752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Resolución</a:t>
            </a:r>
          </a:p>
        </p:txBody>
      </p:sp>
      <p:sp>
        <p:nvSpPr>
          <p:cNvPr id="149" name="txt149"/>
          <p:cNvSpPr>
            <a:spLocks noGrp="1"/>
          </p:cNvSpPr>
          <p:nvPr/>
        </p:nvSpPr>
        <p:spPr>
          <a:xfrm>
            <a:off x="4800600" y="3730752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+34.6%</a:t>
            </a:r>
          </a:p>
        </p:txBody>
      </p:sp>
      <p:sp>
        <p:nvSpPr>
          <p:cNvPr id="150" name="bar150"/>
          <p:cNvSpPr/>
          <p:nvPr/>
        </p:nvSpPr>
        <p:spPr>
          <a:xfrm>
            <a:off x="3200400" y="4041648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txt151"/>
          <p:cNvSpPr>
            <a:spLocks noGrp="1"/>
          </p:cNvSpPr>
          <p:nvPr/>
        </p:nvSpPr>
        <p:spPr>
          <a:xfrm>
            <a:off x="3291840" y="4041648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CSAT c/espera</a:t>
            </a:r>
          </a:p>
        </p:txBody>
      </p:sp>
      <p:sp>
        <p:nvSpPr>
          <p:cNvPr id="152" name="txt152"/>
          <p:cNvSpPr>
            <a:spLocks noGrp="1"/>
          </p:cNvSpPr>
          <p:nvPr/>
        </p:nvSpPr>
        <p:spPr>
          <a:xfrm>
            <a:off x="4800600" y="4041648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+15–22 pts</a:t>
            </a:r>
          </a:p>
        </p:txBody>
      </p:sp>
      <p:sp>
        <p:nvSpPr>
          <p:cNvPr id="153" name="bar153"/>
          <p:cNvSpPr/>
          <p:nvPr/>
        </p:nvSpPr>
        <p:spPr>
          <a:xfrm>
            <a:off x="3200400" y="4352544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txt154"/>
          <p:cNvSpPr>
            <a:spLocks noGrp="1"/>
          </p:cNvSpPr>
          <p:nvPr/>
        </p:nvSpPr>
        <p:spPr>
          <a:xfrm>
            <a:off x="3291840" y="4352544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FCR con KCS+IA</a:t>
            </a:r>
          </a:p>
        </p:txBody>
      </p:sp>
      <p:sp>
        <p:nvSpPr>
          <p:cNvPr id="155" name="txt155"/>
          <p:cNvSpPr>
            <a:spLocks noGrp="1"/>
          </p:cNvSpPr>
          <p:nvPr/>
        </p:nvSpPr>
        <p:spPr>
          <a:xfrm>
            <a:off x="4800600" y="4352544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5–7 pts</a:t>
            </a:r>
          </a:p>
        </p:txBody>
      </p:sp>
      <p:sp>
        <p:nvSpPr>
          <p:cNvPr id="156" name="txt156"/>
          <p:cNvSpPr>
            <a:spLocks noGrp="1"/>
          </p:cNvSpPr>
          <p:nvPr/>
        </p:nvSpPr>
        <p:spPr>
          <a:xfrm>
            <a:off x="612648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Costo por Ticket (USD)</a:t>
            </a:r>
          </a:p>
        </p:txBody>
      </p:sp>
      <p:sp>
        <p:nvSpPr>
          <p:cNvPr id="157" name="bar157"/>
          <p:cNvSpPr/>
          <p:nvPr/>
        </p:nvSpPr>
        <p:spPr>
          <a:xfrm>
            <a:off x="6172200" y="1481328"/>
            <a:ext cx="128016" cy="219456"/>
          </a:xfrm>
          <a:prstGeom prst="roundRect">
            <a:avLst>
              <a:gd name="adj" fmla="val 175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txt158"/>
          <p:cNvSpPr>
            <a:spLocks noGrp="1"/>
          </p:cNvSpPr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N0: $2</a:t>
            </a:r>
          </a:p>
        </p:txBody>
      </p:sp>
      <p:sp>
        <p:nvSpPr>
          <p:cNvPr id="159" name="txt159"/>
          <p:cNvSpPr>
            <a:spLocks noGrp="1"/>
          </p:cNvSpPr>
          <p:nvPr/>
        </p:nvSpPr>
        <p:spPr>
          <a:xfrm>
            <a:off x="7863840" y="1463040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Autoservicio</a:t>
            </a:r>
          </a:p>
        </p:txBody>
      </p:sp>
      <p:sp>
        <p:nvSpPr>
          <p:cNvPr id="160" name="bar160"/>
          <p:cNvSpPr/>
          <p:nvPr/>
        </p:nvSpPr>
        <p:spPr>
          <a:xfrm>
            <a:off x="6172200" y="1810512"/>
            <a:ext cx="329184" cy="219456"/>
          </a:xfrm>
          <a:prstGeom prst="roundRect">
            <a:avLst>
              <a:gd name="adj" fmla="val 175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txt161"/>
          <p:cNvSpPr>
            <a:spLocks noGrp="1"/>
          </p:cNvSpPr>
          <p:nvPr/>
        </p:nvSpPr>
        <p:spPr>
          <a:xfrm>
            <a:off x="6556248" y="1792224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N1: $22–35</a:t>
            </a:r>
          </a:p>
        </p:txBody>
      </p:sp>
      <p:sp>
        <p:nvSpPr>
          <p:cNvPr id="162" name="txt162"/>
          <p:cNvSpPr>
            <a:spLocks noGrp="1"/>
          </p:cNvSpPr>
          <p:nvPr/>
        </p:nvSpPr>
        <p:spPr>
          <a:xfrm>
            <a:off x="7863840" y="1792224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1er contacto</a:t>
            </a:r>
          </a:p>
        </p:txBody>
      </p:sp>
      <p:sp>
        <p:nvSpPr>
          <p:cNvPr id="163" name="bar163"/>
          <p:cNvSpPr/>
          <p:nvPr/>
        </p:nvSpPr>
        <p:spPr>
          <a:xfrm>
            <a:off x="6172200" y="2139696"/>
            <a:ext cx="731520" cy="219456"/>
          </a:xfrm>
          <a:prstGeom prst="roundRect">
            <a:avLst>
              <a:gd name="adj" fmla="val 175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4" name="txt164"/>
          <p:cNvSpPr>
            <a:spLocks noGrp="1"/>
          </p:cNvSpPr>
          <p:nvPr/>
        </p:nvSpPr>
        <p:spPr>
          <a:xfrm>
            <a:off x="6958584" y="2121408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N2: $69</a:t>
            </a:r>
          </a:p>
        </p:txBody>
      </p:sp>
      <p:sp>
        <p:nvSpPr>
          <p:cNvPr id="165" name="txt165"/>
          <p:cNvSpPr>
            <a:spLocks noGrp="1"/>
          </p:cNvSpPr>
          <p:nvPr/>
        </p:nvSpPr>
        <p:spPr>
          <a:xfrm>
            <a:off x="7863840" y="2121408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Técnico</a:t>
            </a:r>
          </a:p>
        </p:txBody>
      </p:sp>
      <p:sp>
        <p:nvSpPr>
          <p:cNvPr id="166" name="bar166"/>
          <p:cNvSpPr/>
          <p:nvPr/>
        </p:nvSpPr>
        <p:spPr>
          <a:xfrm>
            <a:off x="6172200" y="2468880"/>
            <a:ext cx="1097280" cy="219456"/>
          </a:xfrm>
          <a:prstGeom prst="roundRect">
            <a:avLst>
              <a:gd name="adj" fmla="val 175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txt167"/>
          <p:cNvSpPr>
            <a:spLocks noGrp="1"/>
          </p:cNvSpPr>
          <p:nvPr/>
        </p:nvSpPr>
        <p:spPr>
          <a:xfrm>
            <a:off x="7324344" y="2450592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N3: $104</a:t>
            </a:r>
          </a:p>
        </p:txBody>
      </p:sp>
      <p:sp>
        <p:nvSpPr>
          <p:cNvPr id="168" name="txt168"/>
          <p:cNvSpPr>
            <a:spLocks noGrp="1"/>
          </p:cNvSpPr>
          <p:nvPr/>
        </p:nvSpPr>
        <p:spPr>
          <a:xfrm>
            <a:off x="7863840" y="2450592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Arquitecto</a:t>
            </a:r>
          </a:p>
        </p:txBody>
      </p:sp>
      <p:sp>
        <p:nvSpPr>
          <p:cNvPr id="169" name="shp169"/>
          <p:cNvSpPr/>
          <p:nvPr/>
        </p:nvSpPr>
        <p:spPr>
          <a:xfrm>
            <a:off x="6199632" y="2816352"/>
            <a:ext cx="164592" cy="2377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txt170"/>
          <p:cNvSpPr>
            <a:spLocks noGrp="1"/>
          </p:cNvSpPr>
          <p:nvPr/>
        </p:nvSpPr>
        <p:spPr>
          <a:xfrm>
            <a:off x="6437376" y="2761488"/>
            <a:ext cx="2414016" cy="365760"/>
          </a:xfrm>
          <a:prstGeom prst="rect">
            <a:avLst/>
          </a:prstGeom>
          <a:noFill/>
        </p:spPr>
        <p:txBody>
          <a:bodyPr wrap="square" lIns="18000" tIns="6000" rIns="18000" bIns="6000" anchor="ctr">
            <a:normAutofit/>
          </a:bodyPr>
          <a:lstStyle/>
          <a:p>
            <a:pPr algn="l"/>
            <a:r>
              <a:rPr lang="es-CO" sz="900" b="1">
                <a:solidFill>
                  <a:srgbClr val="3C7D3C"/>
                </a:solidFill>
                <a:latin typeface="Aptos"/>
              </a:rPr>
              <a:t>Shift-Left: cada punto de deflección = ahorro $22–102</a:t>
            </a:r>
          </a:p>
        </p:txBody>
      </p:sp>
      <p:sp>
        <p:nvSpPr>
          <p:cNvPr id="171" name="txt171"/>
          <p:cNvSpPr>
            <a:spLocks noGrp="1"/>
          </p:cNvSpPr>
          <p:nvPr/>
        </p:nvSpPr>
        <p:spPr>
          <a:xfrm>
            <a:off x="5559552" y="3273552"/>
            <a:ext cx="28803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CSAT Objetivo</a:t>
            </a:r>
          </a:p>
        </p:txBody>
      </p:sp>
      <p:sp>
        <p:nvSpPr>
          <p:cNvPr id="172" name="shp172"/>
          <p:cNvSpPr/>
          <p:nvPr/>
        </p:nvSpPr>
        <p:spPr>
          <a:xfrm>
            <a:off x="6382512" y="3529584"/>
            <a:ext cx="1234440" cy="1234440"/>
          </a:xfrm>
          <a:prstGeom prst="donut">
            <a:avLst>
              <a:gd name="adj" fmla="val 17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shp173"/>
          <p:cNvSpPr/>
          <p:nvPr/>
        </p:nvSpPr>
        <p:spPr>
          <a:xfrm>
            <a:off x="6382512" y="3529584"/>
            <a:ext cx="1234440" cy="1234440"/>
          </a:xfrm>
          <a:prstGeom prst="arc">
            <a:avLst>
              <a:gd name="adj1" fmla="val 15300000"/>
              <a:gd name="adj2" fmla="val 12000000"/>
            </a:avLst>
          </a:prstGeom>
          <a:noFill/>
          <a:ln w="109728" cap="rnd">
            <a:solidFill>
              <a:srgbClr val="237B89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4" name="txt174"/>
          <p:cNvSpPr>
            <a:spLocks noGrp="1"/>
          </p:cNvSpPr>
          <p:nvPr/>
        </p:nvSpPr>
        <p:spPr>
          <a:xfrm>
            <a:off x="6382512" y="3840480"/>
            <a:ext cx="1234440" cy="27432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500" b="1">
                <a:solidFill>
                  <a:srgbClr val="132346"/>
                </a:solidFill>
                <a:latin typeface="Aptos"/>
              </a:rPr>
              <a:t>73–86%</a:t>
            </a:r>
          </a:p>
        </p:txBody>
      </p:sp>
      <p:sp>
        <p:nvSpPr>
          <p:cNvPr id="175" name="txt175"/>
          <p:cNvSpPr>
            <a:spLocks noGrp="1"/>
          </p:cNvSpPr>
          <p:nvPr/>
        </p:nvSpPr>
        <p:spPr>
          <a:xfrm>
            <a:off x="6382512" y="411480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0">
                <a:solidFill>
                  <a:srgbClr val="7A7A7A"/>
                </a:solidFill>
                <a:latin typeface="Aptos"/>
              </a:rPr>
              <a:t>industria</a:t>
            </a:r>
          </a:p>
        </p:txBody>
      </p:sp>
      <p:sp>
        <p:nvSpPr>
          <p:cNvPr id="176" name="txt176"/>
          <p:cNvSpPr>
            <a:spLocks noGrp="1"/>
          </p:cNvSpPr>
          <p:nvPr/>
        </p:nvSpPr>
        <p:spPr>
          <a:xfrm>
            <a:off x="6382512" y="429768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1">
                <a:solidFill>
                  <a:srgbClr val="B8860B"/>
                </a:solidFill>
                <a:latin typeface="Aptos"/>
              </a:rPr>
              <a:t>≥92% N5</a:t>
            </a:r>
          </a:p>
        </p:txBody>
      </p:sp>
      <p:sp>
        <p:nvSpPr>
          <p:cNvPr id="11" name="src">
            <a:extLst>
              <a:ext uri="{FF2B5EF4-FFF2-40B4-BE49-F238E27FC236}">
                <a16:creationId xmlns:a16="http://schemas.microsoft.com/office/drawing/2014/main" id="{DC2C431D-DA19-1000-A4C0-0A08EFD3BEF6}"/>
              </a:ext>
            </a:extLst>
          </p:cNvPr>
          <p:cNvSpPr txBox="1">
            <a:spLocks noGrp="1"/>
          </p:cNvSpPr>
          <p:nvPr/>
        </p:nvSpPr>
        <p:spPr>
          <a:xfrm>
            <a:off x="276497" y="4767072"/>
            <a:ext cx="7686402" cy="5292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SQM Group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0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Contentstack ITSM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3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4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2138282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CACB6-92CD-5E40-6F53-4475F807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SLA vs. XLA Comparativa Visual y 4 Capas de Reporte</a:t>
            </a:r>
          </a:p>
          <a:p>
            <a:endParaRPr lang="es-ES"/>
          </a:p>
        </p:txBody>
      </p:sp>
      <p:sp>
        <p:nvSpPr>
          <p:cNvPr id="101" name="tx101"/>
          <p:cNvSpPr>
            <a:spLocks noGrp="1"/>
          </p:cNvSpPr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SLA vs. XLA: El Nuevo Paradigma de Medición</a:t>
            </a:r>
          </a:p>
        </p:txBody>
      </p:sp>
      <p:sp>
        <p:nvSpPr>
          <p:cNvPr id="102" name="tx102"/>
          <p:cNvSpPr>
            <a:spLocks noGrp="1"/>
          </p:cNvSpPr>
          <p:nvPr/>
        </p:nvSpPr>
        <p:spPr>
          <a:xfrm>
            <a:off x="365760" y="774192"/>
            <a:ext cx="841248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68% de empresas planea adoptar XLA en 2026 · XLA Institute “State of XLA 2025”</a:t>
            </a:r>
          </a:p>
        </p:txBody>
      </p:sp>
      <p:sp>
        <p:nvSpPr>
          <p:cNvPr id="103" name="rr103"/>
          <p:cNvSpPr/>
          <p:nvPr/>
        </p:nvSpPr>
        <p:spPr>
          <a:xfrm>
            <a:off x="320040" y="1170432"/>
            <a:ext cx="2514600" cy="2761488"/>
          </a:xfrm>
          <a:prstGeom prst="roundRect">
            <a:avLst>
              <a:gd name="adj" fmla="val 3000"/>
            </a:avLst>
          </a:prstGeom>
          <a:solidFill>
            <a:srgbClr val="E8E7E3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4" name="rr104"/>
          <p:cNvSpPr/>
          <p:nvPr/>
        </p:nvSpPr>
        <p:spPr>
          <a:xfrm>
            <a:off x="320040" y="1170432"/>
            <a:ext cx="2514600" cy="475488"/>
          </a:xfrm>
          <a:prstGeom prst="roundRect">
            <a:avLst>
              <a:gd name="adj" fmla="val 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5" name="tx105"/>
          <p:cNvSpPr>
            <a:spLocks noGrp="1"/>
          </p:cNvSpPr>
          <p:nvPr/>
        </p:nvSpPr>
        <p:spPr>
          <a:xfrm>
            <a:off x="320040" y="1188720"/>
            <a:ext cx="2514600" cy="45720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400" b="1" i="0">
                <a:solidFill>
                  <a:srgbClr val="FFFFFF"/>
                </a:solidFill>
                <a:latin typeface="Reddit Sans"/>
                <a:ea typeface="Reddit Sans"/>
              </a:rPr>
              <a:t>SLA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FFFFFF"/>
                </a:solidFill>
                <a:latin typeface="Reddit Sans"/>
                <a:ea typeface="Reddit Sans"/>
              </a:rPr>
              <a:t>Service Level Agreement</a:t>
            </a:r>
          </a:p>
        </p:txBody>
      </p:sp>
      <p:sp>
        <p:nvSpPr>
          <p:cNvPr id="106" name="tx106"/>
          <p:cNvSpPr>
            <a:spLocks noGrp="1"/>
          </p:cNvSpPr>
          <p:nvPr/>
        </p:nvSpPr>
        <p:spPr>
          <a:xfrm>
            <a:off x="365760" y="1719072"/>
            <a:ext cx="2423160" cy="219456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Qué mide: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Estándares mínimos de entrega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Métricas: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Tiempo respuesta, uptime, MTTR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Foco: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Cumplimiento de proceso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Limitación: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A3352A"/>
                </a:solidFill>
                <a:latin typeface="Reddit Sans"/>
                <a:ea typeface="Reddit Sans"/>
              </a:rPr>
              <a:t>SLA ✔ ≠ usuario satisfecho</a:t>
            </a:r>
          </a:p>
          <a:p>
            <a:pPr algn="l">
              <a:spcBef>
                <a:spcPts val="800"/>
              </a:spcBef>
            </a:pPr>
            <a:r>
              <a:rPr lang="es-CO" sz="900" b="0" i="1">
                <a:solidFill>
                  <a:srgbClr val="6B6B6B"/>
                </a:solidFill>
                <a:latin typeface="Reddit Sans"/>
                <a:ea typeface="Reddit Sans"/>
              </a:rPr>
              <a:t>“El ticket cerró en tiempo pero el problema real persiste”</a:t>
            </a:r>
          </a:p>
        </p:txBody>
      </p:sp>
      <p:sp>
        <p:nvSpPr>
          <p:cNvPr id="107" name="rr107"/>
          <p:cNvSpPr/>
          <p:nvPr/>
        </p:nvSpPr>
        <p:spPr>
          <a:xfrm>
            <a:off x="3154680" y="1170432"/>
            <a:ext cx="2514600" cy="2761488"/>
          </a:xfrm>
          <a:prstGeom prst="roundRect">
            <a:avLst>
              <a:gd name="adj" fmla="val 3000"/>
            </a:avLst>
          </a:prstGeom>
          <a:solidFill>
            <a:srgbClr val="E2EAE8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8" name="rr108"/>
          <p:cNvSpPr/>
          <p:nvPr/>
        </p:nvSpPr>
        <p:spPr>
          <a:xfrm>
            <a:off x="3154680" y="1170432"/>
            <a:ext cx="2514600" cy="475488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9" name="tx109"/>
          <p:cNvSpPr>
            <a:spLocks noGrp="1"/>
          </p:cNvSpPr>
          <p:nvPr/>
        </p:nvSpPr>
        <p:spPr>
          <a:xfrm>
            <a:off x="3154680" y="1188720"/>
            <a:ext cx="2514600" cy="45720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400" b="1" i="0">
                <a:solidFill>
                  <a:srgbClr val="FFFFFF"/>
                </a:solidFill>
                <a:latin typeface="Reddit Sans"/>
                <a:ea typeface="Reddit Sans"/>
              </a:rPr>
              <a:t>XLA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FFFFFF"/>
                </a:solidFill>
                <a:latin typeface="Reddit Sans"/>
                <a:ea typeface="Reddit Sans"/>
              </a:rPr>
              <a:t>Experience Level Agreement</a:t>
            </a:r>
          </a:p>
        </p:txBody>
      </p:sp>
      <p:sp>
        <p:nvSpPr>
          <p:cNvPr id="110" name="tx110"/>
          <p:cNvSpPr>
            <a:spLocks noGrp="1"/>
          </p:cNvSpPr>
          <p:nvPr/>
        </p:nvSpPr>
        <p:spPr>
          <a:xfrm>
            <a:off x="3200400" y="1719072"/>
            <a:ext cx="2423160" cy="219456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Qué mide: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Experiencia real del empleado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Métricas:</a:t>
            </a:r>
          </a:p>
          <a:p>
            <a:r>
              <a:rPr lang="es-CO" sz="1050" b="0" i="0" err="1">
                <a:solidFill>
                  <a:srgbClr val="6B6B6B"/>
                </a:solidFill>
                <a:highlight>
                  <a:srgbClr val="FFFF00"/>
                </a:highlight>
                <a:latin typeface="Reddit Sans"/>
                <a:ea typeface="Reddit Sans"/>
              </a:rPr>
              <a:t>Satisfaction</a:t>
            </a:r>
            <a:r>
              <a:rPr lang="es-CO" sz="1050" b="0" i="0">
                <a:solidFill>
                  <a:srgbClr val="6B6B6B"/>
                </a:solidFill>
                <a:highlight>
                  <a:srgbClr val="FFFF00"/>
                </a:highlight>
                <a:latin typeface="Reddit Sans"/>
                <a:ea typeface="Reddit Sans"/>
              </a:rPr>
              <a:t>, </a:t>
            </a:r>
            <a:r>
              <a:rPr lang="es-CO" sz="1050" b="0" i="0" err="1">
                <a:solidFill>
                  <a:srgbClr val="6B6B6B"/>
                </a:solidFill>
                <a:highlight>
                  <a:srgbClr val="FFFF00"/>
                </a:highlight>
                <a:latin typeface="Reddit Sans"/>
                <a:ea typeface="Reddit Sans"/>
              </a:rPr>
              <a:t>sentiment</a:t>
            </a:r>
            <a:r>
              <a:rPr lang="es-CO" sz="1050" b="0" i="0">
                <a:solidFill>
                  <a:srgbClr val="6B6B6B"/>
                </a:solidFill>
                <a:highlight>
                  <a:srgbClr val="FFFF00"/>
                </a:highlight>
                <a:latin typeface="Reddit Sans"/>
                <a:ea typeface="Reddit Sans"/>
              </a:rPr>
              <a:t>, </a:t>
            </a:r>
            <a:r>
              <a:rPr lang="es-CO" sz="1050" b="0" i="0" err="1">
                <a:solidFill>
                  <a:srgbClr val="6B6B6B"/>
                </a:solidFill>
                <a:highlight>
                  <a:srgbClr val="FFFF00"/>
                </a:highlight>
                <a:latin typeface="Reddit Sans"/>
                <a:ea typeface="Reddit Sans"/>
              </a:rPr>
              <a:t>effort</a:t>
            </a:r>
            <a:r>
              <a:rPr lang="es-CO" sz="1050" u="sng">
                <a:solidFill>
                  <a:srgbClr val="6B6B6B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(SURA </a:t>
            </a:r>
            <a:r>
              <a:rPr lang="es-CO" sz="1050" u="sng" err="1">
                <a:solidFill>
                  <a:srgbClr val="6B6B6B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cotizadores</a:t>
            </a:r>
            <a:r>
              <a:rPr lang="es-CO" sz="1050" u="sng">
                <a:solidFill>
                  <a:srgbClr val="6B6B6B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N2.)</a:t>
            </a:r>
            <a:endParaRPr lang="es-CO" sz="1050" b="0" i="0" u="sng">
              <a:solidFill>
                <a:srgbClr val="6B6B6B"/>
              </a:solidFill>
              <a:highlight>
                <a:srgbClr val="FFFF00"/>
              </a:highlight>
              <a:latin typeface="Reddit Sans"/>
              <a:ea typeface="Reddit Sans"/>
            </a:endParaRP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Foco: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Resultado percibido por usuario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Valor: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20808D"/>
                </a:solidFill>
                <a:latin typeface="Reddit Sans"/>
                <a:ea typeface="Reddit Sans"/>
              </a:rPr>
              <a:t>Habilita </a:t>
            </a:r>
            <a:r>
              <a:rPr lang="es-CO" sz="1050" b="0" i="0" err="1">
                <a:solidFill>
                  <a:srgbClr val="20808D"/>
                </a:solidFill>
                <a:latin typeface="Reddit Sans"/>
                <a:ea typeface="Reddit Sans"/>
              </a:rPr>
              <a:t>pricing</a:t>
            </a:r>
            <a:r>
              <a:rPr lang="es-CO" sz="1050" b="0" i="0">
                <a:solidFill>
                  <a:srgbClr val="20808D"/>
                </a:solidFill>
                <a:latin typeface="Reddit Sans"/>
                <a:ea typeface="Reddit Sans"/>
              </a:rPr>
              <a:t> </a:t>
            </a:r>
            <a:r>
              <a:rPr lang="es-CO" sz="1050" b="0" i="0" err="1">
                <a:solidFill>
                  <a:srgbClr val="20808D"/>
                </a:solidFill>
                <a:latin typeface="Reddit Sans"/>
                <a:ea typeface="Reddit Sans"/>
              </a:rPr>
              <a:t>outcome-based</a:t>
            </a:r>
            <a:endParaRPr lang="es-CO" sz="1050" b="0" i="0">
              <a:solidFill>
                <a:srgbClr val="20808D"/>
              </a:solidFill>
              <a:latin typeface="Reddit Sans"/>
              <a:ea typeface="Reddit Sans"/>
            </a:endParaRPr>
          </a:p>
          <a:p>
            <a:pPr algn="l">
              <a:spcBef>
                <a:spcPts val="800"/>
              </a:spcBef>
            </a:pPr>
            <a:r>
              <a:rPr lang="es-CO" sz="900" b="0" i="1">
                <a:solidFill>
                  <a:srgbClr val="6B6B6B"/>
                </a:solidFill>
                <a:latin typeface="Reddit Sans"/>
                <a:ea typeface="Reddit Sans"/>
              </a:rPr>
              <a:t>“Proactivo: resuelve antes de que el usuario lo note”</a:t>
            </a:r>
          </a:p>
        </p:txBody>
      </p:sp>
      <p:sp>
        <p:nvSpPr>
          <p:cNvPr id="111" name="ar111"/>
          <p:cNvSpPr/>
          <p:nvPr/>
        </p:nvSpPr>
        <p:spPr>
          <a:xfrm>
            <a:off x="2834640" y="2331720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2" name="rr112"/>
          <p:cNvSpPr/>
          <p:nvPr/>
        </p:nvSpPr>
        <p:spPr>
          <a:xfrm>
            <a:off x="320040" y="4096512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DCE8E6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3" name="tx113"/>
          <p:cNvSpPr>
            <a:spLocks noGrp="1"/>
          </p:cNvSpPr>
          <p:nvPr/>
        </p:nvSpPr>
        <p:spPr>
          <a:xfrm>
            <a:off x="320040" y="4114800"/>
            <a:ext cx="5349240" cy="530352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100" b="1" i="0">
                <a:solidFill>
                  <a:srgbClr val="20808D"/>
                </a:solidFill>
                <a:latin typeface="Reddit Sans"/>
                <a:ea typeface="Reddit Sans"/>
              </a:rPr>
              <a:t>68% de empresas planea adoptar XLA en 2026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6E6E6E"/>
                </a:solidFill>
                <a:latin typeface="Reddit Sans"/>
                <a:ea typeface="Reddit Sans"/>
              </a:rPr>
              <a:t>Brasil lidera en Latam · expansión: Salud, RRHH, Finanzas (XLA Institute, jun 2025)</a:t>
            </a:r>
          </a:p>
        </p:txBody>
      </p:sp>
      <p:sp>
        <p:nvSpPr>
          <p:cNvPr id="114" name="tx114"/>
          <p:cNvSpPr>
            <a:spLocks noGrp="1"/>
          </p:cNvSpPr>
          <p:nvPr/>
        </p:nvSpPr>
        <p:spPr>
          <a:xfrm>
            <a:off x="5989320" y="1133856"/>
            <a:ext cx="2834640" cy="27432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250" b="1" i="0">
                <a:solidFill>
                  <a:srgbClr val="1F3A5F"/>
                </a:solidFill>
                <a:latin typeface="Reddit Sans"/>
                <a:ea typeface="Reddit Sans"/>
              </a:rPr>
              <a:t>Dashboard Ejecutivo: 4 Capas</a:t>
            </a:r>
          </a:p>
        </p:txBody>
      </p:sp>
      <p:sp>
        <p:nvSpPr>
          <p:cNvPr id="115" name="rr115"/>
          <p:cNvSpPr/>
          <p:nvPr/>
        </p:nvSpPr>
        <p:spPr>
          <a:xfrm>
            <a:off x="5989320" y="1572768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1B3456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6" name="tx116"/>
          <p:cNvSpPr>
            <a:spLocks noGrp="1"/>
          </p:cNvSpPr>
          <p:nvPr/>
        </p:nvSpPr>
        <p:spPr>
          <a:xfrm>
            <a:off x="6080760" y="1600200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1. Confiabilidad Operacional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Disponibilidad · SLA · MTTR · Incidentes mayores</a:t>
            </a:r>
          </a:p>
        </p:txBody>
      </p:sp>
      <p:sp>
        <p:nvSpPr>
          <p:cNvPr id="117" name="rr117"/>
          <p:cNvSpPr/>
          <p:nvPr/>
        </p:nvSpPr>
        <p:spPr>
          <a:xfrm>
            <a:off x="5989320" y="2249424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1B474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8" name="tx118"/>
          <p:cNvSpPr>
            <a:spLocks noGrp="1"/>
          </p:cNvSpPr>
          <p:nvPr/>
        </p:nvSpPr>
        <p:spPr>
          <a:xfrm>
            <a:off x="6080760" y="2276856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2. Eficiencia del Service Desk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FCR · Backlog · Costo/ticket · Autoservicio %</a:t>
            </a:r>
          </a:p>
        </p:txBody>
      </p:sp>
      <p:sp>
        <p:nvSpPr>
          <p:cNvPr id="119" name="rr119"/>
          <p:cNvSpPr/>
          <p:nvPr/>
        </p:nvSpPr>
        <p:spPr>
          <a:xfrm>
            <a:off x="5989320" y="2926080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20" name="tx120"/>
          <p:cNvSpPr>
            <a:spLocks noGrp="1"/>
          </p:cNvSpPr>
          <p:nvPr/>
        </p:nvSpPr>
        <p:spPr>
          <a:xfrm>
            <a:off x="6080760" y="2953512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3. Experiencia de Usuario (XLA)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CSAT · Effort score · Sentiment · Journey</a:t>
            </a:r>
          </a:p>
        </p:txBody>
      </p:sp>
      <p:sp>
        <p:nvSpPr>
          <p:cNvPr id="121" name="rr121"/>
          <p:cNvSpPr/>
          <p:nvPr/>
        </p:nvSpPr>
        <p:spPr>
          <a:xfrm>
            <a:off x="5989320" y="3602736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6E964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22" name="tx122"/>
          <p:cNvSpPr>
            <a:spLocks noGrp="1"/>
          </p:cNvSpPr>
          <p:nvPr/>
        </p:nvSpPr>
        <p:spPr>
          <a:xfrm>
            <a:off x="6080760" y="3630168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4. Impacto de Negocio</a:t>
            </a:r>
          </a:p>
          <a:p>
            <a:pPr>
              <a:spcBef>
                <a:spcPts val="200"/>
              </a:spcBef>
            </a:pPr>
            <a:r>
              <a:rPr lang="es-CO" sz="850" b="0" i="0" err="1">
                <a:solidFill>
                  <a:srgbClr val="E8EEF0"/>
                </a:solidFill>
                <a:latin typeface="Reddit Sans"/>
                <a:ea typeface="Reddit Sans"/>
              </a:rPr>
              <a:t>Prod</a:t>
            </a: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. perdida · ROI · Riesgo</a:t>
            </a:r>
            <a:r>
              <a:rPr lang="es-CO" sz="850" b="0" i="0">
                <a:solidFill>
                  <a:schemeClr val="tx1"/>
                </a:solidFill>
                <a:latin typeface="Reddit Sans"/>
                <a:ea typeface="Reddit Sans"/>
              </a:rPr>
              <a:t> </a:t>
            </a:r>
            <a:r>
              <a:rPr lang="es-CO" sz="850">
                <a:solidFill>
                  <a:schemeClr val="tx1"/>
                </a:solidFill>
                <a:highlight>
                  <a:srgbClr val="FFFF00"/>
                </a:highlight>
                <a:latin typeface="Reddit Sans"/>
                <a:ea typeface="Reddit Sans"/>
              </a:rPr>
              <a:t>(regulatorios,  fraude, cumplimiento SOCS)</a:t>
            </a:r>
            <a:r>
              <a:rPr lang="es-CO" sz="850">
                <a:solidFill>
                  <a:srgbClr val="E8EEF0"/>
                </a:solidFill>
                <a:latin typeface="Reddit Sans"/>
                <a:ea typeface="Reddit Sans"/>
              </a:rPr>
              <a:t>·</a:t>
            </a: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 Evitación costos</a:t>
            </a: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A87222FE-49B1-30B7-D180-122F8829EB1E}"/>
              </a:ext>
            </a:extLst>
          </p:cNvPr>
          <p:cNvSpPr txBox="1">
            <a:spLocks noGrp="1"/>
          </p:cNvSpPr>
          <p:nvPr/>
        </p:nvSpPr>
        <p:spPr>
          <a:xfrm>
            <a:off x="314597" y="4652772"/>
            <a:ext cx="7642860" cy="4040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EIN Presswire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Emerce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 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LinkedIn — Alan Nance, XLA Institute</a:t>
            </a:r>
            <a:endParaRPr lang="es-ES" sz="700">
              <a:solidFill>
                <a:srgbClr val="E6EDF3"/>
              </a:solidFill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692564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F6222-CBB1-1BEB-9538-58F418DF4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71" y="211278"/>
            <a:ext cx="8211000" cy="572700"/>
          </a:xfrm>
        </p:spPr>
        <p:txBody>
          <a:bodyPr>
            <a:normAutofit/>
          </a:bodyPr>
          <a:lstStyle/>
          <a:p>
            <a:r>
              <a:rPr lang="en-US">
                <a:highlight>
                  <a:srgbClr val="FFFF00"/>
                </a:highlight>
              </a:rPr>
              <a:t>SLA vs. XLA: 4 </a:t>
            </a:r>
            <a:r>
              <a:rPr lang="en-US" err="1">
                <a:highlight>
                  <a:srgbClr val="FFFF00"/>
                </a:highlight>
              </a:rPr>
              <a:t>Capas</a:t>
            </a:r>
            <a:r>
              <a:rPr lang="en-US">
                <a:highlight>
                  <a:srgbClr val="FFFF00"/>
                </a:highlight>
              </a:rPr>
              <a:t> de </a:t>
            </a:r>
            <a:r>
              <a:rPr lang="en-US" err="1">
                <a:highlight>
                  <a:srgbClr val="FFFF00"/>
                </a:highlight>
              </a:rPr>
              <a:t>Reporte</a:t>
            </a:r>
            <a:endParaRPr lang="es-ES">
              <a:highlight>
                <a:srgbClr val="FFFF00"/>
              </a:highlight>
            </a:endParaRPr>
          </a:p>
          <a:p>
            <a:endParaRPr lang="es-E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ADE0D35-1ABE-F9E3-7FE0-06D6EA94F37C}"/>
              </a:ext>
            </a:extLst>
          </p:cNvPr>
          <p:cNvSpPr/>
          <p:nvPr/>
        </p:nvSpPr>
        <p:spPr>
          <a:xfrm>
            <a:off x="331674" y="566955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Evolución: Del Cumplimiento Técnico a la Experiencia del Usuario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8" name="Image 0" descr="-15eb81de.png">
            <a:extLst>
              <a:ext uri="{FF2B5EF4-FFF2-40B4-BE49-F238E27FC236}">
                <a16:creationId xmlns:a16="http://schemas.microsoft.com/office/drawing/2014/main" id="{8022EBDC-2AD1-8D40-F7D1-BA6A89BE6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074" y="1307307"/>
            <a:ext cx="1264444" cy="821531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6F415D5D-946D-09DF-66CE-D090934A43C0}"/>
              </a:ext>
            </a:extLst>
          </p:cNvPr>
          <p:cNvSpPr/>
          <p:nvPr/>
        </p:nvSpPr>
        <p:spPr>
          <a:xfrm>
            <a:off x="2691766" y="1314450"/>
            <a:ext cx="5199221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64025EC-65C9-9211-4016-48741FF4C36E}"/>
              </a:ext>
            </a:extLst>
          </p:cNvPr>
          <p:cNvSpPr/>
          <p:nvPr/>
        </p:nvSpPr>
        <p:spPr>
          <a:xfrm>
            <a:off x="1810086" y="1515926"/>
            <a:ext cx="1056047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3240"/>
              </a:lnSpc>
            </a:pPr>
            <a:r>
              <a:rPr lang="en-US" sz="2813" kern="0" spc="-169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1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FC4D74E-85DD-C689-5924-2D55363F9526}"/>
              </a:ext>
            </a:extLst>
          </p:cNvPr>
          <p:cNvSpPr/>
          <p:nvPr/>
        </p:nvSpPr>
        <p:spPr>
          <a:xfrm>
            <a:off x="3219257" y="1517266"/>
            <a:ext cx="4778834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Disponibilidad (SLA)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77D86EB-0F30-CCDC-8FFC-4BDED8B8C1D1}"/>
              </a:ext>
            </a:extLst>
          </p:cNvPr>
          <p:cNvSpPr/>
          <p:nvPr/>
        </p:nvSpPr>
        <p:spPr>
          <a:xfrm>
            <a:off x="3219257" y="1751893"/>
            <a:ext cx="4778834" cy="1758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85"/>
              </a:lnSpc>
              <a:spcBef>
                <a:spcPts val="542"/>
              </a:spcBef>
            </a:pP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en métricas de infraestructura, tiempos de respuesta y uptime.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18" name="Image 1" descr="-576e059e.png">
            <a:extLst>
              <a:ext uri="{FF2B5EF4-FFF2-40B4-BE49-F238E27FC236}">
                <a16:creationId xmlns:a16="http://schemas.microsoft.com/office/drawing/2014/main" id="{66758A8A-1321-6E4D-C07B-51F910C68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19" y="2171701"/>
            <a:ext cx="2150269" cy="821531"/>
          </a:xfrm>
          <a:prstGeom prst="rect">
            <a:avLst/>
          </a:prstGeom>
        </p:spPr>
      </p:pic>
      <p:sp>
        <p:nvSpPr>
          <p:cNvPr id="20" name="Shape 6">
            <a:extLst>
              <a:ext uri="{FF2B5EF4-FFF2-40B4-BE49-F238E27FC236}">
                <a16:creationId xmlns:a16="http://schemas.microsoft.com/office/drawing/2014/main" id="{CAD50FDA-FF2E-4B19-A166-D175F178F228}"/>
              </a:ext>
            </a:extLst>
          </p:cNvPr>
          <p:cNvSpPr/>
          <p:nvPr/>
        </p:nvSpPr>
        <p:spPr>
          <a:xfrm>
            <a:off x="3134321" y="2150269"/>
            <a:ext cx="4756666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2F8F3533-A6DB-0C1E-2A8B-0E099A1ECB2E}"/>
              </a:ext>
            </a:extLst>
          </p:cNvPr>
          <p:cNvSpPr/>
          <p:nvPr/>
        </p:nvSpPr>
        <p:spPr>
          <a:xfrm>
            <a:off x="1367530" y="2380320"/>
            <a:ext cx="1941203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3240"/>
              </a:lnSpc>
            </a:pPr>
            <a:r>
              <a:rPr lang="en-US" sz="2813" kern="0" spc="-169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2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DB4D4D6C-2FB4-96DD-6493-5BEF8AAB3D82}"/>
              </a:ext>
            </a:extLst>
          </p:cNvPr>
          <p:cNvSpPr/>
          <p:nvPr/>
        </p:nvSpPr>
        <p:spPr>
          <a:xfrm>
            <a:off x="3661812" y="2295935"/>
            <a:ext cx="4336256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Rendimiento Operativo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FF06D17-F199-13C7-4523-F06CE7BADBD4}"/>
              </a:ext>
            </a:extLst>
          </p:cNvPr>
          <p:cNvSpPr/>
          <p:nvPr/>
        </p:nvSpPr>
        <p:spPr>
          <a:xfrm>
            <a:off x="3661812" y="2530562"/>
            <a:ext cx="4492280" cy="3516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85"/>
              </a:lnSpc>
              <a:spcBef>
                <a:spcPts val="542"/>
              </a:spcBef>
            </a:pP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Eficiencia en la resolución de tickets y cumplimiento de procedimientos</a:t>
            </a:r>
            <a:b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internos.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28" name="Image 2" descr="2d3300a2.png">
            <a:extLst>
              <a:ext uri="{FF2B5EF4-FFF2-40B4-BE49-F238E27FC236}">
                <a16:creationId xmlns:a16="http://schemas.microsoft.com/office/drawing/2014/main" id="{18A776DE-F564-5E84-C625-93CAAF401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64" y="3036094"/>
            <a:ext cx="3036094" cy="821531"/>
          </a:xfrm>
          <a:prstGeom prst="rect">
            <a:avLst/>
          </a:prstGeom>
        </p:spPr>
      </p:pic>
      <p:sp>
        <p:nvSpPr>
          <p:cNvPr id="30" name="Shape 10">
            <a:extLst>
              <a:ext uri="{FF2B5EF4-FFF2-40B4-BE49-F238E27FC236}">
                <a16:creationId xmlns:a16="http://schemas.microsoft.com/office/drawing/2014/main" id="{9F8F91C5-A94A-7FCC-0038-26343D51D55D}"/>
              </a:ext>
            </a:extLst>
          </p:cNvPr>
          <p:cNvSpPr/>
          <p:nvPr/>
        </p:nvSpPr>
        <p:spPr>
          <a:xfrm>
            <a:off x="3576877" y="3014663"/>
            <a:ext cx="4314110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1DAFD5F7-F222-9D22-665D-876D214A0F21}"/>
              </a:ext>
            </a:extLst>
          </p:cNvPr>
          <p:cNvSpPr/>
          <p:nvPr/>
        </p:nvSpPr>
        <p:spPr>
          <a:xfrm>
            <a:off x="924974" y="3244714"/>
            <a:ext cx="2826246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3240"/>
              </a:lnSpc>
            </a:pPr>
            <a:r>
              <a:rPr lang="en-US" sz="2813" kern="0" spc="-169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3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2785802B-9BB5-2D27-E508-8A7AE545ED2C}"/>
              </a:ext>
            </a:extLst>
          </p:cNvPr>
          <p:cNvSpPr/>
          <p:nvPr/>
        </p:nvSpPr>
        <p:spPr>
          <a:xfrm>
            <a:off x="4104367" y="3160329"/>
            <a:ext cx="3893678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Calidad de Servicio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7D428D3A-08A3-42B5-4C93-F87617DEE772}"/>
              </a:ext>
            </a:extLst>
          </p:cNvPr>
          <p:cNvSpPr/>
          <p:nvPr/>
        </p:nvSpPr>
        <p:spPr>
          <a:xfrm>
            <a:off x="4104367" y="3394956"/>
            <a:ext cx="3893678" cy="3516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85"/>
              </a:lnSpc>
              <a:spcBef>
                <a:spcPts val="542"/>
              </a:spcBef>
            </a:pP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Medición del sentimiento del usuario y facilidad de uso de las</a:t>
            </a:r>
            <a:b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38" name="Image 3" descr="19a256e2.png">
            <a:extLst>
              <a:ext uri="{FF2B5EF4-FFF2-40B4-BE49-F238E27FC236}">
                <a16:creationId xmlns:a16="http://schemas.microsoft.com/office/drawing/2014/main" id="{0F7DE19C-CB6B-B07F-0866-436E3051C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08" y="3900488"/>
            <a:ext cx="3921919" cy="821531"/>
          </a:xfrm>
          <a:prstGeom prst="rect">
            <a:avLst/>
          </a:prstGeom>
        </p:spPr>
      </p:pic>
      <p:sp>
        <p:nvSpPr>
          <p:cNvPr id="40" name="Shape 14">
            <a:extLst>
              <a:ext uri="{FF2B5EF4-FFF2-40B4-BE49-F238E27FC236}">
                <a16:creationId xmlns:a16="http://schemas.microsoft.com/office/drawing/2014/main" id="{49A45BAE-867C-BEA5-EA87-B1F1C3050E8D}"/>
              </a:ext>
            </a:extLst>
          </p:cNvPr>
          <p:cNvSpPr/>
          <p:nvPr/>
        </p:nvSpPr>
        <p:spPr>
          <a:xfrm>
            <a:off x="4019431" y="3879056"/>
            <a:ext cx="3871556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C7616935-AD33-1F1F-69AD-4678224AC29B}"/>
              </a:ext>
            </a:extLst>
          </p:cNvPr>
          <p:cNvSpPr/>
          <p:nvPr/>
        </p:nvSpPr>
        <p:spPr>
          <a:xfrm>
            <a:off x="482419" y="4109108"/>
            <a:ext cx="3711401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3240"/>
              </a:lnSpc>
            </a:pPr>
            <a:r>
              <a:rPr lang="en-US" sz="2813" kern="0" spc="-169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4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C0180383-0D86-6A0D-DD6D-AE5F682B016A}"/>
              </a:ext>
            </a:extLst>
          </p:cNvPr>
          <p:cNvSpPr/>
          <p:nvPr/>
        </p:nvSpPr>
        <p:spPr>
          <a:xfrm>
            <a:off x="4546923" y="4024722"/>
            <a:ext cx="3451213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Valor de Negocio (XLA)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5BC9BA03-72A7-03E3-DEA0-5FDE6959F0B8}"/>
              </a:ext>
            </a:extLst>
          </p:cNvPr>
          <p:cNvSpPr/>
          <p:nvPr/>
        </p:nvSpPr>
        <p:spPr>
          <a:xfrm>
            <a:off x="4546923" y="4259349"/>
            <a:ext cx="3451213" cy="3516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85"/>
              </a:lnSpc>
              <a:spcBef>
                <a:spcPts val="542"/>
              </a:spcBef>
            </a:pP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Impacto real de la tecnología en la productividad y</a:t>
            </a:r>
            <a:b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resultados organizacionales.</a:t>
            </a:r>
            <a:endParaRPr lang="en-US" sz="1013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349793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47E7F-9AB6-5D4E-21FF-77F38153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err="1"/>
              <a:t>Agentic</a:t>
            </a:r>
            <a:r>
              <a:rPr lang="es-ES"/>
              <a:t> AI: Estado Real de Adopción 2025–2026</a:t>
            </a:r>
            <a:endParaRPr lang="en-US"/>
          </a:p>
        </p:txBody>
      </p:sp>
      <p:sp>
        <p:nvSpPr>
          <p:cNvPr id="203" name="rec203"/>
          <p:cNvSpPr/>
          <p:nvPr/>
        </p:nvSpPr>
        <p:spPr>
          <a:xfrm>
            <a:off x="361900" y="663686"/>
            <a:ext cx="8344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Estado real de adopción 2025–2026  ·  Brecha entre experimentación y producción plena</a:t>
            </a:r>
          </a:p>
        </p:txBody>
      </p:sp>
      <p:sp>
        <p:nvSpPr>
          <p:cNvPr id="204" name="rec204"/>
          <p:cNvSpPr/>
          <p:nvPr/>
        </p:nvSpPr>
        <p:spPr>
          <a:xfrm>
            <a:off x="397786" y="1103871"/>
            <a:ext cx="1650000" cy="1650000"/>
          </a:xfrm>
          <a:prstGeom prst="ellipse">
            <a:avLst/>
          </a:prstGeom>
          <a:solidFill>
            <a:srgbClr val="D3E4E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5" name="rec205"/>
          <p:cNvSpPr/>
          <p:nvPr/>
        </p:nvSpPr>
        <p:spPr>
          <a:xfrm>
            <a:off x="572786" y="1278871"/>
            <a:ext cx="1300000" cy="1300000"/>
          </a:xfrm>
          <a:prstGeom prst="ellipse">
            <a:avLst/>
          </a:prstGeom>
          <a:solidFill>
            <a:srgbClr val="BCD6D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2400" b="1">
                <a:solidFill>
                  <a:srgbClr val="1F6F6F"/>
                </a:solidFill>
                <a:latin typeface="Reddit Sans"/>
                <a:ea typeface="Reddit Sans"/>
              </a:rPr>
              <a:t>51%</a:t>
            </a:r>
          </a:p>
          <a:p>
            <a:pPr algn="ctr">
              <a:spcBef>
                <a:spcPts val="100"/>
              </a:spcBef>
            </a:pPr>
            <a:r>
              <a:rPr lang="es-ES" sz="750">
                <a:solidFill>
                  <a:srgbClr val="3A5A5A"/>
                </a:solidFill>
                <a:latin typeface="Reddit Sans"/>
                <a:ea typeface="Reddit Sans"/>
              </a:rPr>
              <a:t>con agentes IA</a:t>
            </a:r>
          </a:p>
          <a:p>
            <a:pPr algn="ctr"/>
            <a:r>
              <a:rPr lang="es-ES" sz="750">
                <a:solidFill>
                  <a:srgbClr val="3A5A5A"/>
                </a:solidFill>
                <a:latin typeface="Reddit Sans"/>
                <a:ea typeface="Reddit Sans"/>
              </a:rPr>
              <a:t>desplegados</a:t>
            </a:r>
          </a:p>
        </p:txBody>
      </p:sp>
      <p:sp>
        <p:nvSpPr>
          <p:cNvPr id="206" name="rec206"/>
          <p:cNvSpPr/>
          <p:nvPr/>
        </p:nvSpPr>
        <p:spPr>
          <a:xfrm>
            <a:off x="572786" y="2758871"/>
            <a:ext cx="13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 fontScale="92500"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(alguna forma)</a:t>
            </a:r>
          </a:p>
          <a:p>
            <a:pPr algn="ctr">
              <a:spcBef>
                <a:spcPts val="300"/>
              </a:spcBef>
            </a:pPr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vs 79% aún experimentando</a:t>
            </a:r>
          </a:p>
        </p:txBody>
      </p:sp>
      <p:sp>
        <p:nvSpPr>
          <p:cNvPr id="207" name="rec207"/>
          <p:cNvSpPr/>
          <p:nvPr/>
        </p:nvSpPr>
        <p:spPr>
          <a:xfrm>
            <a:off x="1982786" y="1288871"/>
            <a:ext cx="1080000" cy="1080000"/>
          </a:xfrm>
          <a:prstGeom prst="ellipse">
            <a:avLst/>
          </a:prstGeom>
          <a:solidFill>
            <a:srgbClr val="D4DBE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8" name="rec208"/>
          <p:cNvSpPr/>
          <p:nvPr/>
        </p:nvSpPr>
        <p:spPr>
          <a:xfrm>
            <a:off x="2112786" y="1418871"/>
            <a:ext cx="820000" cy="820000"/>
          </a:xfrm>
          <a:prstGeom prst="ellipse">
            <a:avLst/>
          </a:prstGeom>
          <a:solidFill>
            <a:srgbClr val="111F4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Reddit Sans"/>
                <a:ea typeface="Reddit Sans"/>
              </a:rPr>
              <a:t>11%</a:t>
            </a:r>
          </a:p>
          <a:p>
            <a:pPr algn="ctr">
              <a:spcBef>
                <a:spcPts val="80"/>
              </a:spcBef>
            </a:pPr>
            <a:r>
              <a:rPr lang="es-ES" sz="650">
                <a:solidFill>
                  <a:srgbClr val="C7D0DA"/>
                </a:solidFill>
                <a:latin typeface="Reddit Sans"/>
                <a:ea typeface="Reddit Sans"/>
              </a:rPr>
              <a:t>producción</a:t>
            </a:r>
          </a:p>
          <a:p>
            <a:pPr algn="ctr"/>
            <a:r>
              <a:rPr lang="es-ES" sz="650">
                <a:solidFill>
                  <a:srgbClr val="C7D0DA"/>
                </a:solidFill>
                <a:latin typeface="Reddit Sans"/>
                <a:ea typeface="Reddit Sans"/>
              </a:rPr>
              <a:t>plena</a:t>
            </a:r>
          </a:p>
        </p:txBody>
      </p:sp>
      <p:sp>
        <p:nvSpPr>
          <p:cNvPr id="209" name="rec209"/>
          <p:cNvSpPr/>
          <p:nvPr/>
        </p:nvSpPr>
        <p:spPr>
          <a:xfrm>
            <a:off x="1922786" y="2498871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producción total</a:t>
            </a:r>
          </a:p>
        </p:txBody>
      </p:sp>
      <p:sp>
        <p:nvSpPr>
          <p:cNvPr id="210" name="rec210"/>
          <p:cNvSpPr/>
          <p:nvPr/>
        </p:nvSpPr>
        <p:spPr>
          <a:xfrm>
            <a:off x="3132786" y="1318871"/>
            <a:ext cx="1120000" cy="1120000"/>
          </a:xfrm>
          <a:prstGeom prst="ellipse">
            <a:avLst/>
          </a:prstGeom>
          <a:solidFill>
            <a:srgbClr val="E4C4B8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1" name="rec211"/>
          <p:cNvSpPr/>
          <p:nvPr/>
        </p:nvSpPr>
        <p:spPr>
          <a:xfrm>
            <a:off x="3262786" y="1448871"/>
            <a:ext cx="860000" cy="860000"/>
          </a:xfrm>
          <a:prstGeom prst="ellipse">
            <a:avLst/>
          </a:prstGeom>
          <a:solidFill>
            <a:srgbClr val="D9B0A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500" b="1">
                <a:solidFill>
                  <a:srgbClr val="B0472B"/>
                </a:solidFill>
                <a:latin typeface="Reddit Sans"/>
                <a:ea typeface="Reddit Sans"/>
              </a:rPr>
              <a:t>&gt;40%</a:t>
            </a:r>
          </a:p>
          <a:p>
            <a:pPr algn="ctr">
              <a:spcBef>
                <a:spcPts val="80"/>
              </a:spcBef>
            </a:pPr>
            <a:r>
              <a:rPr lang="es-ES" sz="650">
                <a:solidFill>
                  <a:srgbClr val="8A5648"/>
                </a:solidFill>
                <a:latin typeface="Reddit Sans"/>
                <a:ea typeface="Reddit Sans"/>
              </a:rPr>
              <a:t>cancelados</a:t>
            </a:r>
          </a:p>
          <a:p>
            <a:pPr algn="ctr"/>
            <a:r>
              <a:rPr lang="es-ES" sz="650">
                <a:solidFill>
                  <a:srgbClr val="8A5648"/>
                </a:solidFill>
                <a:latin typeface="Reddit Sans"/>
                <a:ea typeface="Reddit Sans"/>
              </a:rPr>
              <a:t>hacia 2027</a:t>
            </a:r>
          </a:p>
        </p:txBody>
      </p:sp>
      <p:sp>
        <p:nvSpPr>
          <p:cNvPr id="212" name="rec212"/>
          <p:cNvSpPr/>
          <p:nvPr/>
        </p:nvSpPr>
        <p:spPr>
          <a:xfrm>
            <a:off x="3022786" y="255887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por costo/gobernanza</a:t>
            </a:r>
          </a:p>
          <a:p>
            <a:pPr algn="ctr"/>
            <a:r>
              <a:rPr lang="es-ES" sz="750">
                <a:solidFill>
                  <a:srgbClr val="6B6B6B"/>
                </a:solidFill>
                <a:latin typeface="Reddit Sans"/>
                <a:ea typeface="Reddit Sans"/>
              </a:rPr>
              <a:t>(Gartner proyección)</a:t>
            </a:r>
          </a:p>
        </p:txBody>
      </p:sp>
      <p:sp>
        <p:nvSpPr>
          <p:cNvPr id="213" name="rec213"/>
          <p:cNvSpPr/>
          <p:nvPr/>
        </p:nvSpPr>
        <p:spPr>
          <a:xfrm>
            <a:off x="332786" y="3298871"/>
            <a:ext cx="4050000" cy="8200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ROI de Automatización ITSM</a:t>
            </a:r>
          </a:p>
          <a:p>
            <a:pPr algn="ctr"/>
            <a:endParaRPr lang="es-ES" sz="950" b="1">
              <a:solidFill>
                <a:srgbClr val="132346"/>
              </a:solidFill>
              <a:latin typeface="Reddit Sans"/>
              <a:ea typeface="Reddit Sans"/>
            </a:endParaRPr>
          </a:p>
          <a:p>
            <a:pPr algn="ctr">
              <a:spcBef>
                <a:spcPts val="120"/>
              </a:spcBef>
            </a:pP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Payback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 típico:</a:t>
            </a:r>
            <a:r>
              <a:rPr lang="es-ES" sz="800">
                <a:solidFill>
                  <a:srgbClr val="555555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4–9 meses 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· 19% de proyectos nunca alcanza ROI positivo</a:t>
            </a:r>
          </a:p>
          <a:p>
            <a:pPr algn="ctr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Contratos </a:t>
            </a: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outcome-based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: ~30% del mercado hacia 2029</a:t>
            </a:r>
          </a:p>
        </p:txBody>
      </p:sp>
      <p:sp>
        <p:nvSpPr>
          <p:cNvPr id="214" name="rec214"/>
          <p:cNvSpPr/>
          <p:nvPr/>
        </p:nvSpPr>
        <p:spPr>
          <a:xfrm>
            <a:off x="4689243" y="884700"/>
            <a:ext cx="41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250" b="1">
                <a:solidFill>
                  <a:srgbClr val="132346"/>
                </a:solidFill>
                <a:latin typeface="Reddit Sans"/>
                <a:ea typeface="Reddit Sans"/>
              </a:rPr>
              <a:t>Barreras y Casos de Éxito</a:t>
            </a:r>
          </a:p>
        </p:txBody>
      </p:sp>
      <p:sp>
        <p:nvSpPr>
          <p:cNvPr id="215" name="rec215"/>
          <p:cNvSpPr/>
          <p:nvPr/>
        </p:nvSpPr>
        <p:spPr>
          <a:xfrm>
            <a:off x="4689243" y="1164700"/>
            <a:ext cx="41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950" b="1">
                <a:solidFill>
                  <a:srgbClr val="944454"/>
                </a:solidFill>
                <a:latin typeface="Reddit Sans"/>
                <a:ea typeface="Reddit Sans"/>
              </a:rPr>
              <a:t>Principales barreras para producción plena:</a:t>
            </a:r>
          </a:p>
        </p:txBody>
      </p:sp>
      <p:sp>
        <p:nvSpPr>
          <p:cNvPr id="216" name="rec216"/>
          <p:cNvSpPr/>
          <p:nvPr/>
        </p:nvSpPr>
        <p:spPr>
          <a:xfrm>
            <a:off x="4689243" y="142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7" name="rec217"/>
          <p:cNvSpPr/>
          <p:nvPr/>
        </p:nvSpPr>
        <p:spPr>
          <a:xfrm>
            <a:off x="4689243" y="1424700"/>
            <a:ext cx="21736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52% Seguridad / Privacidad</a:t>
            </a:r>
          </a:p>
        </p:txBody>
      </p:sp>
      <p:sp>
        <p:nvSpPr>
          <p:cNvPr id="218" name="rec218"/>
          <p:cNvSpPr/>
          <p:nvPr/>
        </p:nvSpPr>
        <p:spPr>
          <a:xfrm>
            <a:off x="4689243" y="179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9" name="rec219"/>
          <p:cNvSpPr/>
          <p:nvPr/>
        </p:nvSpPr>
        <p:spPr>
          <a:xfrm>
            <a:off x="4689243" y="1794700"/>
            <a:ext cx="21318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51% Complejidad técnica</a:t>
            </a:r>
          </a:p>
        </p:txBody>
      </p:sp>
      <p:sp>
        <p:nvSpPr>
          <p:cNvPr id="220" name="rec220"/>
          <p:cNvSpPr/>
          <p:nvPr/>
        </p:nvSpPr>
        <p:spPr>
          <a:xfrm>
            <a:off x="4689243" y="216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1" name="rec221"/>
          <p:cNvSpPr/>
          <p:nvPr/>
        </p:nvSpPr>
        <p:spPr>
          <a:xfrm>
            <a:off x="4689243" y="2164700"/>
            <a:ext cx="18392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44% Falta de personal</a:t>
            </a:r>
          </a:p>
        </p:txBody>
      </p:sp>
      <p:sp>
        <p:nvSpPr>
          <p:cNvPr id="222" name="rec222"/>
          <p:cNvSpPr/>
          <p:nvPr/>
        </p:nvSpPr>
        <p:spPr>
          <a:xfrm>
            <a:off x="4727343" y="3209871"/>
            <a:ext cx="41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Casos documentados en producción:</a:t>
            </a:r>
          </a:p>
        </p:txBody>
      </p:sp>
      <p:sp>
        <p:nvSpPr>
          <p:cNvPr id="223" name="rec223"/>
          <p:cNvSpPr/>
          <p:nvPr/>
        </p:nvSpPr>
        <p:spPr>
          <a:xfrm>
            <a:off x="4716457" y="3428228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solidFill>
                  <a:srgbClr val="20808D"/>
                </a:solidFill>
                <a:latin typeface="Reddit Sans"/>
                <a:ea typeface="Reddit Sans"/>
              </a:rPr>
              <a:t>Robinhood + ServiceNow</a:t>
            </a:r>
          </a:p>
          <a:p>
            <a:pPr algn="l">
              <a:spcBef>
                <a:spcPts val="80"/>
              </a:spcBef>
            </a:pPr>
            <a:r>
              <a:rPr lang="es-ES" sz="780">
                <a:solidFill>
                  <a:srgbClr val="555555"/>
                </a:solidFill>
                <a:latin typeface="Reddit Sans"/>
                <a:ea typeface="Reddit Sans"/>
              </a:rPr>
              <a:t>70% deflección · 2.200+ horas/mes eliminadas · 94% satisfacción empleados</a:t>
            </a:r>
          </a:p>
        </p:txBody>
      </p:sp>
      <p:sp>
        <p:nvSpPr>
          <p:cNvPr id="224" name="rec224"/>
          <p:cNvSpPr/>
          <p:nvPr/>
        </p:nvSpPr>
        <p:spPr>
          <a:xfrm>
            <a:off x="4716457" y="3808614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solidFill>
                  <a:srgbClr val="437A22"/>
                </a:solidFill>
                <a:latin typeface="Reddit Sans"/>
                <a:ea typeface="Reddit Sans"/>
              </a:rPr>
              <a:t>Honeywell + Moveworks</a:t>
            </a:r>
          </a:p>
          <a:p>
            <a:pPr algn="l">
              <a:spcBef>
                <a:spcPts val="80"/>
              </a:spcBef>
            </a:pPr>
            <a:r>
              <a:rPr lang="es-ES" sz="780">
                <a:solidFill>
                  <a:srgbClr val="555555"/>
                </a:solidFill>
                <a:latin typeface="Reddit Sans"/>
                <a:ea typeface="Reddit Sans"/>
              </a:rPr>
              <a:t>~80% volumen de tickets entrantes</a:t>
            </a:r>
          </a:p>
        </p:txBody>
      </p:sp>
      <p:sp>
        <p:nvSpPr>
          <p:cNvPr id="225" name="rec225"/>
          <p:cNvSpPr/>
          <p:nvPr/>
        </p:nvSpPr>
        <p:spPr>
          <a:xfrm>
            <a:off x="4716457" y="4205328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solidFill>
                  <a:srgbClr val="944454"/>
                </a:solidFill>
                <a:latin typeface="Reddit Sans"/>
                <a:ea typeface="Reddit Sans"/>
              </a:rPr>
              <a:t>Salesforce + Agentforce</a:t>
            </a:r>
          </a:p>
          <a:p>
            <a:pPr algn="l">
              <a:spcBef>
                <a:spcPts val="80"/>
              </a:spcBef>
            </a:pPr>
            <a:r>
              <a:rPr lang="es-ES" sz="780">
                <a:solidFill>
                  <a:srgbClr val="555555"/>
                </a:solidFill>
                <a:latin typeface="Reddit Sans"/>
                <a:ea typeface="Reddit Sans"/>
              </a:rPr>
              <a:t>84% de 380K interacciones resueltas autónomamente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D5CDC0-E9F1-6898-0A54-17E0FAE56016}"/>
              </a:ext>
            </a:extLst>
          </p:cNvPr>
          <p:cNvSpPr txBox="1"/>
          <p:nvPr/>
        </p:nvSpPr>
        <p:spPr>
          <a:xfrm>
            <a:off x="398009" y="4658745"/>
            <a:ext cx="61613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/>
              <a:t>Fuente: </a:t>
            </a:r>
            <a:r>
              <a:rPr lang="es-ES" sz="800">
                <a:solidFill>
                  <a:srgbClr val="2F81F7"/>
                </a:solidFill>
                <a:hlinkClick r:id="rId3"/>
              </a:rPr>
              <a:t>Brilo AI (vía G2/OneReach.ai)</a:t>
            </a:r>
            <a:r>
              <a:rPr lang="es-ES" sz="800"/>
              <a:t> , </a:t>
            </a:r>
            <a:r>
              <a:rPr lang="es-ES" sz="800">
                <a:solidFill>
                  <a:srgbClr val="2F81F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Brilo AI (vía </a:t>
            </a:r>
            <a:r>
              <a:rPr lang="es-ES" sz="800">
                <a:solidFill>
                  <a:srgbClr val="2F81F7"/>
                </a:solidFill>
                <a:hlinkClick r:id="rId3"/>
              </a:rPr>
              <a:t>Digital Applied</a:t>
            </a:r>
            <a:r>
              <a:rPr lang="es-ES" sz="800">
                <a:solidFill>
                  <a:srgbClr val="2F81F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s-ES" sz="800"/>
              <a:t> , </a:t>
            </a:r>
            <a:r>
              <a:rPr lang="es-ES" sz="800">
                <a:solidFill>
                  <a:srgbClr val="2F81F7"/>
                </a:solidFill>
                <a:hlinkClick r:id="rId3"/>
              </a:rPr>
              <a:t>Gartner, vía Brilo AI</a:t>
            </a:r>
            <a:r>
              <a:rPr lang="es-ES" sz="800">
                <a:solidFill>
                  <a:srgbClr val="2F81F7"/>
                </a:solidFill>
              </a:rPr>
              <a:t> , </a:t>
            </a:r>
            <a:r>
              <a:rPr lang="es-ES" sz="800">
                <a:solidFill>
                  <a:srgbClr val="2F81F7"/>
                </a:solidFill>
                <a:hlinkClick r:id="rId4"/>
              </a:rPr>
              <a:t>Dynatrace — Pulse of Agentic AI 2026</a:t>
            </a:r>
            <a:r>
              <a:rPr lang="es-ES" sz="800"/>
              <a:t> </a:t>
            </a:r>
          </a:p>
        </p:txBody>
      </p:sp>
      <p:sp>
        <p:nvSpPr>
          <p:cNvPr id="6" name="rec220">
            <a:extLst>
              <a:ext uri="{FF2B5EF4-FFF2-40B4-BE49-F238E27FC236}">
                <a16:creationId xmlns:a16="http://schemas.microsoft.com/office/drawing/2014/main" id="{3DE85B33-9A44-E92F-449B-5BF4D49734AA}"/>
              </a:ext>
            </a:extLst>
          </p:cNvPr>
          <p:cNvSpPr/>
          <p:nvPr/>
        </p:nvSpPr>
        <p:spPr>
          <a:xfrm>
            <a:off x="4683799" y="2474942"/>
            <a:ext cx="4180000" cy="300000"/>
          </a:xfrm>
          <a:prstGeom prst="roundRect">
            <a:avLst>
              <a:gd name="adj" fmla="val 40000"/>
            </a:avLst>
          </a:prstGeom>
          <a:solidFill>
            <a:schemeClr val="accent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900">
                <a:latin typeface="Reddit Sans"/>
                <a:ea typeface="Reddit Sans"/>
              </a:rPr>
              <a:t>Regulatorios, </a:t>
            </a:r>
            <a:r>
              <a:rPr lang="es-ES" sz="900" err="1">
                <a:latin typeface="Reddit Sans"/>
                <a:ea typeface="Reddit Sans"/>
              </a:rPr>
              <a:t>miniterios</a:t>
            </a:r>
            <a:r>
              <a:rPr lang="es-ES" sz="900">
                <a:latin typeface="Reddit Sans"/>
                <a:ea typeface="Reddit Sans"/>
              </a:rPr>
              <a:t>, leyes, ...</a:t>
            </a:r>
          </a:p>
        </p:txBody>
      </p:sp>
      <p:sp>
        <p:nvSpPr>
          <p:cNvPr id="7" name="rec220">
            <a:extLst>
              <a:ext uri="{FF2B5EF4-FFF2-40B4-BE49-F238E27FC236}">
                <a16:creationId xmlns:a16="http://schemas.microsoft.com/office/drawing/2014/main" id="{AC459175-CBEF-8A8E-90E5-D93A34F1D6CD}"/>
              </a:ext>
            </a:extLst>
          </p:cNvPr>
          <p:cNvSpPr/>
          <p:nvPr/>
        </p:nvSpPr>
        <p:spPr>
          <a:xfrm>
            <a:off x="4689242" y="2812399"/>
            <a:ext cx="4180000" cy="300000"/>
          </a:xfrm>
          <a:prstGeom prst="roundRect">
            <a:avLst>
              <a:gd name="adj" fmla="val 40000"/>
            </a:avLst>
          </a:prstGeom>
          <a:solidFill>
            <a:schemeClr val="accent6"/>
          </a:solidFill>
          <a:ln>
            <a:noFill/>
          </a:ln>
        </p:spPr>
        <p:txBody>
          <a:bodyPr wrap="square" lIns="45720" tIns="18000" rIns="45720" bIns="18000" anchor="ctr">
            <a:normAutofit fontScale="47500" lnSpcReduction="20000"/>
          </a:bodyPr>
          <a:lstStyle/>
          <a:p>
            <a:r>
              <a:rPr lang="es-ES">
                <a:latin typeface="Reddit Sans"/>
                <a:ea typeface="Reddit Sans"/>
              </a:rPr>
              <a:t>Barrera de entrada para clientes nuevos : Cambio de proveedor (costo de transición en semanas), </a:t>
            </a:r>
            <a:r>
              <a:rPr lang="es-ES" err="1">
                <a:latin typeface="Reddit Sans"/>
                <a:ea typeface="Reddit Sans"/>
              </a:rPr>
              <a:t>conocimien</a:t>
            </a:r>
            <a:r>
              <a:rPr lang="es-ES">
                <a:latin typeface="Reddit Sans"/>
                <a:ea typeface="Reddit Sans"/>
              </a:rPr>
              <a:t>to del negocio</a:t>
            </a:r>
          </a:p>
        </p:txBody>
      </p:sp>
    </p:spTree>
    <p:extLst>
      <p:ext uri="{BB962C8B-B14F-4D97-AF65-F5344CB8AC3E}">
        <p14:creationId xmlns:p14="http://schemas.microsoft.com/office/powerpoint/2010/main" val="1390778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59CC-74E6-B9F2-E0BF-EDCFD289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>
            <a:extLst>
              <a:ext uri="{FF2B5EF4-FFF2-40B4-BE49-F238E27FC236}">
                <a16:creationId xmlns:a16="http://schemas.microsoft.com/office/drawing/2014/main" id="{C9E7E48E-D9E0-CDDD-1AB7-734D4A92A094}"/>
              </a:ext>
            </a:extLst>
          </p:cNvPr>
          <p:cNvSpPr/>
          <p:nvPr/>
        </p:nvSpPr>
        <p:spPr>
          <a:xfrm>
            <a:off x="1990044" y="1527529"/>
            <a:ext cx="1071563" cy="1071563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D87BBD9-9C0E-2C44-190B-50198B7DEC35}"/>
              </a:ext>
            </a:extLst>
          </p:cNvPr>
          <p:cNvSpPr/>
          <p:nvPr/>
        </p:nvSpPr>
        <p:spPr>
          <a:xfrm>
            <a:off x="5919107" y="1527529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C31774-3B5E-5282-B2EE-72CFEE2F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err="1"/>
              <a:t>Agentic</a:t>
            </a:r>
            <a:r>
              <a:rPr lang="es-ES"/>
              <a:t> AI: Estado Real de Adopción 2025–2026</a:t>
            </a:r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90B42B-6AEB-F586-5B96-636C47BF2B37}"/>
              </a:ext>
            </a:extLst>
          </p:cNvPr>
          <p:cNvSpPr txBox="1"/>
          <p:nvPr/>
        </p:nvSpPr>
        <p:spPr>
          <a:xfrm>
            <a:off x="398009" y="4658745"/>
            <a:ext cx="61613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/>
              <a:t>Fuente: </a:t>
            </a:r>
            <a:r>
              <a:rPr lang="es-ES" sz="800">
                <a:solidFill>
                  <a:srgbClr val="2F81F7"/>
                </a:solidFill>
                <a:hlinkClick r:id="rId3"/>
              </a:rPr>
              <a:t>Brilo AI (vía G2/OneReach.ai)</a:t>
            </a:r>
            <a:r>
              <a:rPr lang="es-ES" sz="800"/>
              <a:t> , </a:t>
            </a:r>
            <a:r>
              <a:rPr lang="es-ES" sz="800">
                <a:solidFill>
                  <a:srgbClr val="2F81F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Brilo AI (vía </a:t>
            </a:r>
            <a:r>
              <a:rPr lang="es-ES" sz="800">
                <a:solidFill>
                  <a:srgbClr val="2F81F7"/>
                </a:solidFill>
                <a:hlinkClick r:id="rId3"/>
              </a:rPr>
              <a:t>Digital Applied</a:t>
            </a:r>
            <a:r>
              <a:rPr lang="es-ES" sz="800">
                <a:solidFill>
                  <a:srgbClr val="2F81F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s-ES" sz="800"/>
              <a:t> , </a:t>
            </a:r>
            <a:r>
              <a:rPr lang="es-ES" sz="800">
                <a:solidFill>
                  <a:srgbClr val="2F81F7"/>
                </a:solidFill>
                <a:hlinkClick r:id="rId3"/>
              </a:rPr>
              <a:t>Gartner, vía Brilo AI</a:t>
            </a:r>
            <a:r>
              <a:rPr lang="es-ES" sz="800">
                <a:solidFill>
                  <a:srgbClr val="2F81F7"/>
                </a:solidFill>
              </a:rPr>
              <a:t> , </a:t>
            </a:r>
            <a:r>
              <a:rPr lang="es-ES" sz="800">
                <a:solidFill>
                  <a:srgbClr val="2F81F7"/>
                </a:solidFill>
                <a:hlinkClick r:id="rId4"/>
              </a:rPr>
              <a:t>Dynatrace — Pulse of Agentic AI 2026</a:t>
            </a:r>
            <a:r>
              <a:rPr lang="es-ES" sz="800"/>
              <a:t> </a:t>
            </a: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B3C686B2-67CE-2049-CFA9-3EF28A147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4219" y="1799606"/>
            <a:ext cx="700088" cy="58578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9B788E8-EAFC-7A7F-9F78-5A186CBE60AF}"/>
              </a:ext>
            </a:extLst>
          </p:cNvPr>
          <p:cNvSpPr/>
          <p:nvPr/>
        </p:nvSpPr>
        <p:spPr>
          <a:xfrm>
            <a:off x="929912" y="2670977"/>
            <a:ext cx="3191828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Fase 1: Automatización Cognitiva (2025)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71279CF-F899-9C21-6AB8-87368E5E88D9}"/>
              </a:ext>
            </a:extLst>
          </p:cNvPr>
          <p:cNvSpPr/>
          <p:nvPr/>
        </p:nvSpPr>
        <p:spPr>
          <a:xfrm>
            <a:off x="915011" y="2927593"/>
            <a:ext cx="3221630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Integración de agentes en Service Desk para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triaje de nivel 1 y herramientas de autogestión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 ejecución de scripts.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C1E9E10D-A992-DA2E-7FDE-BF15538EA9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408" y="1818445"/>
            <a:ext cx="428625" cy="48577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1CD857AC-C966-A272-7D1A-13D75F710C08}"/>
              </a:ext>
            </a:extLst>
          </p:cNvPr>
          <p:cNvSpPr/>
          <p:nvPr/>
        </p:nvSpPr>
        <p:spPr>
          <a:xfrm>
            <a:off x="4850960" y="2670977"/>
            <a:ext cx="3207857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Fase 2: Orquestación de Agentes (2026)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DBA6E8C-F1B7-F043-D74F-57171A7B1207}"/>
              </a:ext>
            </a:extLst>
          </p:cNvPr>
          <p:cNvSpPr/>
          <p:nvPr/>
        </p:nvSpPr>
        <p:spPr>
          <a:xfrm>
            <a:off x="4876913" y="2927593"/>
            <a:ext cx="3155953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Despliegue de sistemas multi-agente para la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 autónoma de infraestructura en la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nube y mitigación predictiva de incidentes.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F7DCBB5-78AA-628B-34F9-EA9C8618E0CE}"/>
              </a:ext>
            </a:extLst>
          </p:cNvPr>
          <p:cNvSpPr/>
          <p:nvPr/>
        </p:nvSpPr>
        <p:spPr>
          <a:xfrm>
            <a:off x="417910" y="684046"/>
            <a:ext cx="8308181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426"/>
              </a:lnSpc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Pilares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Críticos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: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Gobernanza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 y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Seguridad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,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Interoperabilidad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 con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sistemas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legados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 y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Observabilidad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 del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razonamiento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agente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  <a:cs typeface="Arial"/>
              </a:rPr>
              <a:t>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404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7CE5B647-E18D-4527-9BD0-C47DB7969747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Colombia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abre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una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ventana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para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industrializar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el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servicio</a:t>
            </a:r>
            <a:endParaRPr lang="es-ES" sz="1650" b="1" err="1">
              <a:solidFill>
                <a:srgbClr val="0C2362"/>
              </a:solidFill>
              <a:highlight>
                <a:srgbClr val="FFFF00"/>
              </a:highlight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706031D-C4A5-4EBF-8777-2D5C00C4CFC0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 b="0">
                <a:solidFill>
                  <a:srgbClr val="9AAEE0"/>
                </a:solidFill>
              </a:defRPr>
            </a:pP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Regulación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,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digitalización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e IA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elevan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la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expectativa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del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cliente</a:t>
            </a:r>
            <a:endParaRPr lang="es-ES" sz="1200" spc="-25" err="1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15" name="kn">
            <a:extLst>
              <a:ext uri="{FF2B5EF4-FFF2-40B4-BE49-F238E27FC236}">
                <a16:creationId xmlns:a16="http://schemas.microsoft.com/office/drawing/2014/main" id="{837ABD7A-C110-E5CE-99E3-4319AC173F28}"/>
              </a:ext>
            </a:extLst>
          </p:cNvPr>
          <p:cNvSpPr txBox="1">
            <a:spLocks noGrp="1"/>
          </p:cNvSpPr>
          <p:nvPr/>
        </p:nvSpPr>
        <p:spPr>
          <a:xfrm>
            <a:off x="412569" y="983197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2800" b="1">
                <a:solidFill>
                  <a:srgbClr val="0D1B5E"/>
                </a:solidFill>
                <a:latin typeface="Reddit Sans"/>
                <a:ea typeface="Reddit Sans"/>
              </a:rPr>
              <a:t>81%</a:t>
            </a:r>
          </a:p>
        </p:txBody>
      </p:sp>
      <p:sp>
        <p:nvSpPr>
          <p:cNvPr id="21" name="kl">
            <a:extLst>
              <a:ext uri="{FF2B5EF4-FFF2-40B4-BE49-F238E27FC236}">
                <a16:creationId xmlns:a16="http://schemas.microsoft.com/office/drawing/2014/main" id="{523E7B3D-61C5-8C96-DC6A-1DCD0F463281}"/>
              </a:ext>
            </a:extLst>
          </p:cNvPr>
          <p:cNvSpPr txBox="1">
            <a:spLocks noGrp="1"/>
          </p:cNvSpPr>
          <p:nvPr/>
        </p:nvSpPr>
        <p:spPr>
          <a:xfrm>
            <a:off x="504009" y="1403821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s-ES" sz="1000">
                <a:solidFill>
                  <a:srgbClr val="0D1B5E"/>
                </a:solidFill>
                <a:latin typeface="Reddit Sans"/>
                <a:ea typeface="Reddit Sans"/>
              </a:rPr>
              <a:t>Banca colombiana
con uso de IA</a:t>
            </a:r>
          </a:p>
        </p:txBody>
      </p:sp>
      <p:sp>
        <p:nvSpPr>
          <p:cNvPr id="26" name="kn">
            <a:extLst>
              <a:ext uri="{FF2B5EF4-FFF2-40B4-BE49-F238E27FC236}">
                <a16:creationId xmlns:a16="http://schemas.microsoft.com/office/drawing/2014/main" id="{CA254F2B-C414-C43C-6603-176B8EFDF8C0}"/>
              </a:ext>
            </a:extLst>
          </p:cNvPr>
          <p:cNvSpPr txBox="1">
            <a:spLocks noGrp="1"/>
          </p:cNvSpPr>
          <p:nvPr/>
        </p:nvSpPr>
        <p:spPr>
          <a:xfrm>
            <a:off x="2991177" y="983197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2800" b="1">
                <a:solidFill>
                  <a:srgbClr val="1A3A8F"/>
                </a:solidFill>
                <a:latin typeface="Reddit Sans"/>
                <a:ea typeface="Reddit Sans"/>
              </a:rPr>
              <a:t>13.82%</a:t>
            </a:r>
          </a:p>
        </p:txBody>
      </p:sp>
      <p:sp>
        <p:nvSpPr>
          <p:cNvPr id="28" name="kl">
            <a:extLst>
              <a:ext uri="{FF2B5EF4-FFF2-40B4-BE49-F238E27FC236}">
                <a16:creationId xmlns:a16="http://schemas.microsoft.com/office/drawing/2014/main" id="{754C5A92-2EFB-A0D5-A362-E3DA7E7388DC}"/>
              </a:ext>
            </a:extLst>
          </p:cNvPr>
          <p:cNvSpPr txBox="1">
            <a:spLocks noGrp="1"/>
          </p:cNvSpPr>
          <p:nvPr/>
        </p:nvSpPr>
        <p:spPr>
          <a:xfrm>
            <a:off x="3082617" y="1403821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s-ES" sz="1000">
                <a:solidFill>
                  <a:srgbClr val="1A3A8F"/>
                </a:solidFill>
                <a:latin typeface="Reddit Sans"/>
                <a:ea typeface="Reddit Sans"/>
              </a:rPr>
              <a:t>Servicios crecen mas
rapido que soluciones</a:t>
            </a:r>
          </a:p>
        </p:txBody>
      </p:sp>
      <p:sp>
        <p:nvSpPr>
          <p:cNvPr id="32" name="kn">
            <a:extLst>
              <a:ext uri="{FF2B5EF4-FFF2-40B4-BE49-F238E27FC236}">
                <a16:creationId xmlns:a16="http://schemas.microsoft.com/office/drawing/2014/main" id="{9B39902A-309B-858A-F024-F582A65AB2A1}"/>
              </a:ext>
            </a:extLst>
          </p:cNvPr>
          <p:cNvSpPr txBox="1">
            <a:spLocks noGrp="1"/>
          </p:cNvSpPr>
          <p:nvPr/>
        </p:nvSpPr>
        <p:spPr>
          <a:xfrm>
            <a:off x="5569785" y="983197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2800" b="1">
                <a:solidFill>
                  <a:srgbClr val="1B7B85"/>
                </a:solidFill>
                <a:latin typeface="Reddit Sans"/>
                <a:ea typeface="Reddit Sans"/>
              </a:rPr>
              <a:t>14.08%</a:t>
            </a:r>
          </a:p>
        </p:txBody>
      </p:sp>
      <p:sp>
        <p:nvSpPr>
          <p:cNvPr id="34" name="kl">
            <a:extLst>
              <a:ext uri="{FF2B5EF4-FFF2-40B4-BE49-F238E27FC236}">
                <a16:creationId xmlns:a16="http://schemas.microsoft.com/office/drawing/2014/main" id="{B44A203D-820C-B18C-BEFA-EB56778C480D}"/>
              </a:ext>
            </a:extLst>
          </p:cNvPr>
          <p:cNvSpPr txBox="1">
            <a:spLocks noGrp="1"/>
          </p:cNvSpPr>
          <p:nvPr/>
        </p:nvSpPr>
        <p:spPr>
          <a:xfrm>
            <a:off x="5661225" y="1403821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s-ES" sz="1000">
                <a:solidFill>
                  <a:srgbClr val="1B7B85"/>
                </a:solidFill>
                <a:latin typeface="Reddit Sans"/>
                <a:ea typeface="Reddit Sans"/>
              </a:rPr>
              <a:t>CAGR Colombia
hasta 2031</a:t>
            </a:r>
          </a:p>
        </p:txBody>
      </p:sp>
      <p:sp>
        <p:nvSpPr>
          <p:cNvPr id="36" name="sb">
            <a:extLst>
              <a:ext uri="{FF2B5EF4-FFF2-40B4-BE49-F238E27FC236}">
                <a16:creationId xmlns:a16="http://schemas.microsoft.com/office/drawing/2014/main" id="{A506F8E3-071D-A6EB-A2A9-7853B62D8713}"/>
              </a:ext>
            </a:extLst>
          </p:cNvPr>
          <p:cNvSpPr>
            <a:spLocks noGrp="1"/>
          </p:cNvSpPr>
          <p:nvPr/>
        </p:nvSpPr>
        <p:spPr>
          <a:xfrm>
            <a:off x="412569" y="1879309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E8EDF8"/>
          </a:solidFill>
          <a:ln w="1270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8" name="sn">
            <a:extLst>
              <a:ext uri="{FF2B5EF4-FFF2-40B4-BE49-F238E27FC236}">
                <a16:creationId xmlns:a16="http://schemas.microsoft.com/office/drawing/2014/main" id="{08A89A05-9BB9-4BBD-EF32-3271868E5CCD}"/>
              </a:ext>
            </a:extLst>
          </p:cNvPr>
          <p:cNvSpPr txBox="1">
            <a:spLocks noGrp="1"/>
          </p:cNvSpPr>
          <p:nvPr/>
        </p:nvSpPr>
        <p:spPr>
          <a:xfrm>
            <a:off x="504009" y="1915885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1000" b="1">
                <a:solidFill>
                  <a:srgbClr val="0D1B5E"/>
                </a:solidFill>
                <a:latin typeface="Reddit Sans"/>
                <a:ea typeface="Reddit Sans"/>
              </a:rPr>
              <a:t>Banca y Seguros</a:t>
            </a:r>
          </a:p>
        </p:txBody>
      </p:sp>
      <p:sp>
        <p:nvSpPr>
          <p:cNvPr id="40" name="sd">
            <a:extLst>
              <a:ext uri="{FF2B5EF4-FFF2-40B4-BE49-F238E27FC236}">
                <a16:creationId xmlns:a16="http://schemas.microsoft.com/office/drawing/2014/main" id="{67157BC5-9438-B362-9510-7260F06D8A84}"/>
              </a:ext>
            </a:extLst>
          </p:cNvPr>
          <p:cNvSpPr txBox="1">
            <a:spLocks noGrp="1"/>
          </p:cNvSpPr>
          <p:nvPr/>
        </p:nvSpPr>
        <p:spPr>
          <a:xfrm>
            <a:off x="504009" y="2153629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/>
            <a:r>
              <a:rPr lang="es-ES" sz="840">
                <a:solidFill>
                  <a:srgbClr val="333333"/>
                </a:solidFill>
                <a:latin typeface="Reddit Sans"/>
                <a:ea typeface="Reddit Sans"/>
              </a:rPr>
              <a:t>Continuidad transaccional, SFC/SOX, fraude tiempo real, BCP/DRP · SURA y Bancolombia actuales</a:t>
            </a:r>
          </a:p>
        </p:txBody>
      </p:sp>
      <p:sp>
        <p:nvSpPr>
          <p:cNvPr id="42" name="sb">
            <a:extLst>
              <a:ext uri="{FF2B5EF4-FFF2-40B4-BE49-F238E27FC236}">
                <a16:creationId xmlns:a16="http://schemas.microsoft.com/office/drawing/2014/main" id="{6CEA9EC8-3F60-7F1A-E7B4-B4342D885E53}"/>
              </a:ext>
            </a:extLst>
          </p:cNvPr>
          <p:cNvSpPr>
            <a:spLocks noGrp="1"/>
          </p:cNvSpPr>
          <p:nvPr/>
        </p:nvSpPr>
        <p:spPr>
          <a:xfrm>
            <a:off x="2991177" y="1879309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EBF3FF"/>
          </a:solidFill>
          <a:ln w="12700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4" name="sn">
            <a:extLst>
              <a:ext uri="{FF2B5EF4-FFF2-40B4-BE49-F238E27FC236}">
                <a16:creationId xmlns:a16="http://schemas.microsoft.com/office/drawing/2014/main" id="{122464B3-77C9-BE0C-D2B5-F51A706034AF}"/>
              </a:ext>
            </a:extLst>
          </p:cNvPr>
          <p:cNvSpPr txBox="1">
            <a:spLocks noGrp="1"/>
          </p:cNvSpPr>
          <p:nvPr/>
        </p:nvSpPr>
        <p:spPr>
          <a:xfrm>
            <a:off x="3082617" y="1915885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1000" b="1">
                <a:solidFill>
                  <a:srgbClr val="1A3A8F"/>
                </a:solidFill>
                <a:latin typeface="Reddit Sans"/>
                <a:ea typeface="Reddit Sans"/>
              </a:rPr>
              <a:t>Salud (EPS/IPS)</a:t>
            </a:r>
          </a:p>
        </p:txBody>
      </p:sp>
      <p:sp>
        <p:nvSpPr>
          <p:cNvPr id="46" name="sd">
            <a:extLst>
              <a:ext uri="{FF2B5EF4-FFF2-40B4-BE49-F238E27FC236}">
                <a16:creationId xmlns:a16="http://schemas.microsoft.com/office/drawing/2014/main" id="{2F69B1CA-F613-4698-CE4F-642FDA5CC17C}"/>
              </a:ext>
            </a:extLst>
          </p:cNvPr>
          <p:cNvSpPr txBox="1">
            <a:spLocks noGrp="1"/>
          </p:cNvSpPr>
          <p:nvPr/>
        </p:nvSpPr>
        <p:spPr>
          <a:xfrm>
            <a:off x="3082617" y="2153629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40">
                <a:solidFill>
                  <a:srgbClr val="333333"/>
                </a:solidFill>
                <a:latin typeface="Reddit Sans"/>
                <a:ea typeface="Reddit Sans"/>
              </a:rPr>
              <a:t>Continuidad asistencial, historia clinica digital, trazabilidad y compliance Minsalud</a:t>
            </a:r>
          </a:p>
        </p:txBody>
      </p:sp>
      <p:sp>
        <p:nvSpPr>
          <p:cNvPr id="48" name="sb">
            <a:extLst>
              <a:ext uri="{FF2B5EF4-FFF2-40B4-BE49-F238E27FC236}">
                <a16:creationId xmlns:a16="http://schemas.microsoft.com/office/drawing/2014/main" id="{5DA7DB36-B861-0065-D115-5E2428524FEC}"/>
              </a:ext>
            </a:extLst>
          </p:cNvPr>
          <p:cNvSpPr>
            <a:spLocks noGrp="1"/>
          </p:cNvSpPr>
          <p:nvPr/>
        </p:nvSpPr>
        <p:spPr>
          <a:xfrm>
            <a:off x="5569785" y="1879309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E8F6F7"/>
          </a:solidFill>
          <a:ln w="1270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0" name="sn">
            <a:extLst>
              <a:ext uri="{FF2B5EF4-FFF2-40B4-BE49-F238E27FC236}">
                <a16:creationId xmlns:a16="http://schemas.microsoft.com/office/drawing/2014/main" id="{78A06241-32BB-99EE-D63D-5E4E5CEEFD85}"/>
              </a:ext>
            </a:extLst>
          </p:cNvPr>
          <p:cNvSpPr txBox="1">
            <a:spLocks noGrp="1"/>
          </p:cNvSpPr>
          <p:nvPr/>
        </p:nvSpPr>
        <p:spPr>
          <a:xfrm>
            <a:off x="5661225" y="1915885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1000" b="1">
                <a:solidFill>
                  <a:srgbClr val="1B7B85"/>
                </a:solidFill>
                <a:latin typeface="Reddit Sans"/>
                <a:ea typeface="Reddit Sans"/>
              </a:rPr>
              <a:t>Energia y Utilities</a:t>
            </a:r>
          </a:p>
        </p:txBody>
      </p:sp>
      <p:sp>
        <p:nvSpPr>
          <p:cNvPr id="52" name="sd">
            <a:extLst>
              <a:ext uri="{FF2B5EF4-FFF2-40B4-BE49-F238E27FC236}">
                <a16:creationId xmlns:a16="http://schemas.microsoft.com/office/drawing/2014/main" id="{D2F5E3D3-A437-FF11-5496-6BE4BEBCA9F9}"/>
              </a:ext>
            </a:extLst>
          </p:cNvPr>
          <p:cNvSpPr txBox="1">
            <a:spLocks noGrp="1"/>
          </p:cNvSpPr>
          <p:nvPr/>
        </p:nvSpPr>
        <p:spPr>
          <a:xfrm>
            <a:off x="5661225" y="2153629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/>
            <a:r>
              <a:rPr lang="es-ES" sz="840">
                <a:solidFill>
                  <a:srgbClr val="333333"/>
                </a:solidFill>
                <a:latin typeface="Reddit Sans"/>
                <a:ea typeface="Reddit Sans"/>
              </a:rPr>
              <a:t>Operacion critica 24x7, AIOps y observabilidad predictiva, eventos criticos · XM y AES</a:t>
            </a:r>
          </a:p>
        </p:txBody>
      </p:sp>
      <p:sp>
        <p:nvSpPr>
          <p:cNvPr id="54" name="regH">
            <a:extLst>
              <a:ext uri="{FF2B5EF4-FFF2-40B4-BE49-F238E27FC236}">
                <a16:creationId xmlns:a16="http://schemas.microsoft.com/office/drawing/2014/main" id="{60129AAD-B626-EEC5-42FA-939253085C73}"/>
              </a:ext>
            </a:extLst>
          </p:cNvPr>
          <p:cNvSpPr>
            <a:spLocks noGrp="1"/>
          </p:cNvSpPr>
          <p:nvPr/>
        </p:nvSpPr>
        <p:spPr>
          <a:xfrm>
            <a:off x="412569" y="2867079"/>
            <a:ext cx="7717536" cy="237744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6" name="regHT">
            <a:extLst>
              <a:ext uri="{FF2B5EF4-FFF2-40B4-BE49-F238E27FC236}">
                <a16:creationId xmlns:a16="http://schemas.microsoft.com/office/drawing/2014/main" id="{D51D1902-1535-5B1E-C50D-0C56EAEB544B}"/>
              </a:ext>
            </a:extLst>
          </p:cNvPr>
          <p:cNvSpPr txBox="1">
            <a:spLocks noGrp="1"/>
          </p:cNvSpPr>
          <p:nvPr/>
        </p:nvSpPr>
        <p:spPr>
          <a:xfrm>
            <a:off x="603069" y="2867079"/>
            <a:ext cx="771753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REGULACION COMO ACELERADOR. Cumplimiento obligatorio que genera demanda de servicios gestionados</a:t>
            </a:r>
          </a:p>
        </p:txBody>
      </p:sp>
      <p:sp>
        <p:nvSpPr>
          <p:cNvPr id="58" name="rb">
            <a:extLst>
              <a:ext uri="{FF2B5EF4-FFF2-40B4-BE49-F238E27FC236}">
                <a16:creationId xmlns:a16="http://schemas.microsoft.com/office/drawing/2014/main" id="{72ECF5D8-F907-90A5-94C4-FA4BD313DB3F}"/>
              </a:ext>
            </a:extLst>
          </p:cNvPr>
          <p:cNvSpPr>
            <a:spLocks noGrp="1"/>
          </p:cNvSpPr>
          <p:nvPr/>
        </p:nvSpPr>
        <p:spPr>
          <a:xfrm>
            <a:off x="412569" y="3177975"/>
            <a:ext cx="77175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0" name="rr">
            <a:extLst>
              <a:ext uri="{FF2B5EF4-FFF2-40B4-BE49-F238E27FC236}">
                <a16:creationId xmlns:a16="http://schemas.microsoft.com/office/drawing/2014/main" id="{CEA5A1D4-36B5-AE16-69B9-8FB8B7D6091E}"/>
              </a:ext>
            </a:extLst>
          </p:cNvPr>
          <p:cNvSpPr txBox="1">
            <a:spLocks noGrp="1"/>
          </p:cNvSpPr>
          <p:nvPr/>
        </p:nvSpPr>
        <p:spPr>
          <a:xfrm>
            <a:off x="549729" y="3177975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>
                <a:solidFill>
                  <a:srgbClr val="0D1B5E"/>
                </a:solidFill>
                <a:latin typeface="Reddit Sans"/>
                <a:ea typeface="Reddit Sans"/>
              </a:rPr>
              <a:t>SFC Circular 007 (2024)</a:t>
            </a:r>
          </a:p>
        </p:txBody>
      </p:sp>
      <p:sp>
        <p:nvSpPr>
          <p:cNvPr id="62" name="rd">
            <a:extLst>
              <a:ext uri="{FF2B5EF4-FFF2-40B4-BE49-F238E27FC236}">
                <a16:creationId xmlns:a16="http://schemas.microsoft.com/office/drawing/2014/main" id="{E355E580-DE05-C822-5D15-215D7E9E671B}"/>
              </a:ext>
            </a:extLst>
          </p:cNvPr>
          <p:cNvSpPr txBox="1">
            <a:spLocks noGrp="1"/>
          </p:cNvSpPr>
          <p:nvPr/>
        </p:nvSpPr>
        <p:spPr>
          <a:xfrm>
            <a:off x="2927169" y="3232839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333333"/>
                </a:solidFill>
                <a:latin typeface="Reddit Sans"/>
                <a:ea typeface="Reddit Sans"/>
              </a:rPr>
              <a:t>SIEM · Gestion de incidentes · Gobernanza tecnologica · Trazabilidad obligatoria</a:t>
            </a:r>
          </a:p>
        </p:txBody>
      </p:sp>
      <p:sp>
        <p:nvSpPr>
          <p:cNvPr id="64" name="rb">
            <a:extLst>
              <a:ext uri="{FF2B5EF4-FFF2-40B4-BE49-F238E27FC236}">
                <a16:creationId xmlns:a16="http://schemas.microsoft.com/office/drawing/2014/main" id="{06F3EF87-D023-67B3-C85A-F2503CC14E62}"/>
              </a:ext>
            </a:extLst>
          </p:cNvPr>
          <p:cNvSpPr>
            <a:spLocks noGrp="1"/>
          </p:cNvSpPr>
          <p:nvPr/>
        </p:nvSpPr>
        <p:spPr>
          <a:xfrm>
            <a:off x="412569" y="3580311"/>
            <a:ext cx="7717536" cy="347472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6" name="rr">
            <a:extLst>
              <a:ext uri="{FF2B5EF4-FFF2-40B4-BE49-F238E27FC236}">
                <a16:creationId xmlns:a16="http://schemas.microsoft.com/office/drawing/2014/main" id="{06F73628-2DFF-F00E-1BB8-081F5AD19C85}"/>
              </a:ext>
            </a:extLst>
          </p:cNvPr>
          <p:cNvSpPr txBox="1">
            <a:spLocks noGrp="1"/>
          </p:cNvSpPr>
          <p:nvPr/>
        </p:nvSpPr>
        <p:spPr>
          <a:xfrm>
            <a:off x="549729" y="3580311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>
                <a:solidFill>
                  <a:srgbClr val="0D1B5E"/>
                </a:solidFill>
                <a:latin typeface="Reddit Sans"/>
                <a:ea typeface="Reddit Sans"/>
              </a:rPr>
              <a:t>Open Finance (ago 2026)</a:t>
            </a:r>
          </a:p>
        </p:txBody>
      </p:sp>
      <p:sp>
        <p:nvSpPr>
          <p:cNvPr id="68" name="rd">
            <a:extLst>
              <a:ext uri="{FF2B5EF4-FFF2-40B4-BE49-F238E27FC236}">
                <a16:creationId xmlns:a16="http://schemas.microsoft.com/office/drawing/2014/main" id="{04097933-763E-63C6-ACBA-56A816E86A2F}"/>
              </a:ext>
            </a:extLst>
          </p:cNvPr>
          <p:cNvSpPr txBox="1">
            <a:spLocks noGrp="1"/>
          </p:cNvSpPr>
          <p:nvPr/>
        </p:nvSpPr>
        <p:spPr>
          <a:xfrm>
            <a:off x="2927169" y="3635175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333333"/>
                </a:solidFill>
                <a:latin typeface="Reddit Sans"/>
                <a:ea typeface="Reddit Sans"/>
              </a:rPr>
              <a:t>APIs abiertas · Continuidad de canales · Nuevos vectores de riesgo operacional</a:t>
            </a:r>
          </a:p>
        </p:txBody>
      </p:sp>
      <p:sp>
        <p:nvSpPr>
          <p:cNvPr id="70" name="rb">
            <a:extLst>
              <a:ext uri="{FF2B5EF4-FFF2-40B4-BE49-F238E27FC236}">
                <a16:creationId xmlns:a16="http://schemas.microsoft.com/office/drawing/2014/main" id="{4DF1C4C7-E9ED-456F-EF7D-E8091C832118}"/>
              </a:ext>
            </a:extLst>
          </p:cNvPr>
          <p:cNvSpPr>
            <a:spLocks noGrp="1"/>
          </p:cNvSpPr>
          <p:nvPr/>
        </p:nvSpPr>
        <p:spPr>
          <a:xfrm>
            <a:off x="412569" y="3982647"/>
            <a:ext cx="77175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2" name="rr">
            <a:extLst>
              <a:ext uri="{FF2B5EF4-FFF2-40B4-BE49-F238E27FC236}">
                <a16:creationId xmlns:a16="http://schemas.microsoft.com/office/drawing/2014/main" id="{2D2A82BA-7569-2BB4-4D15-989FC4FCC3DA}"/>
              </a:ext>
            </a:extLst>
          </p:cNvPr>
          <p:cNvSpPr txBox="1">
            <a:spLocks noGrp="1"/>
          </p:cNvSpPr>
          <p:nvPr/>
        </p:nvSpPr>
        <p:spPr>
          <a:xfrm>
            <a:off x="549729" y="3982647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>
                <a:solidFill>
                  <a:srgbClr val="0D1B5E"/>
                </a:solidFill>
                <a:latin typeface="Reddit Sans"/>
                <a:ea typeface="Reddit Sans"/>
              </a:rPr>
              <a:t>ISO 42001 IA</a:t>
            </a:r>
          </a:p>
        </p:txBody>
      </p:sp>
      <p:sp>
        <p:nvSpPr>
          <p:cNvPr id="74" name="rd">
            <a:extLst>
              <a:ext uri="{FF2B5EF4-FFF2-40B4-BE49-F238E27FC236}">
                <a16:creationId xmlns:a16="http://schemas.microsoft.com/office/drawing/2014/main" id="{EB031378-6F51-4120-C272-EA90B9D17B07}"/>
              </a:ext>
            </a:extLst>
          </p:cNvPr>
          <p:cNvSpPr txBox="1">
            <a:spLocks noGrp="1"/>
          </p:cNvSpPr>
          <p:nvPr/>
        </p:nvSpPr>
        <p:spPr>
          <a:xfrm>
            <a:off x="2927169" y="4037511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850">
                <a:solidFill>
                  <a:srgbClr val="333333"/>
                </a:solidFill>
                <a:latin typeface="Reddit Sans"/>
                <a:ea typeface="Reddit Sans"/>
              </a:rPr>
              <a:t>Gobierno de IA · Responsabilidad · Transparencia · Auditabilidad. Exigido por grandes clientes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BFD71C0-4AC2-5E62-361F-4B60F05D6A24}"/>
              </a:ext>
            </a:extLst>
          </p:cNvPr>
          <p:cNvSpPr txBox="1"/>
          <p:nvPr/>
        </p:nvSpPr>
        <p:spPr>
          <a:xfrm>
            <a:off x="342899" y="4503964"/>
            <a:ext cx="641712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highlight>
                  <a:srgbClr val="FFFF00"/>
                </a:highlight>
              </a:rPr>
              <a:t>Fuente: </a:t>
            </a:r>
            <a:r>
              <a:rPr lang="en-US" sz="900">
                <a:highlight>
                  <a:srgbClr val="FFFF00"/>
                </a:highlight>
                <a:hlinkClick r:id="rId3"/>
              </a:rPr>
              <a:t>https://www.superfinanciera.gov.co</a:t>
            </a:r>
            <a:r>
              <a:rPr lang="en-US" sz="900">
                <a:highlight>
                  <a:srgbClr val="FFFF00"/>
                </a:highlight>
              </a:rPr>
              <a:t> , </a:t>
            </a:r>
            <a:r>
              <a:rPr lang="en-US" sz="900">
                <a:highlight>
                  <a:srgbClr val="FFFF00"/>
                </a:highlight>
                <a:hlinkClick r:id="rId4"/>
              </a:rPr>
              <a:t>[</a:t>
            </a:r>
            <a:r>
              <a:rPr lang="en-US" sz="900" err="1">
                <a:highlight>
                  <a:srgbClr val="FFFF00"/>
                </a:highlight>
                <a:hlinkClick r:id="rId4"/>
              </a:rPr>
              <a:t>superfinan</a:t>
            </a:r>
            <a:r>
              <a:rPr lang="en-US" sz="900">
                <a:highlight>
                  <a:srgbClr val="FFFF00"/>
                </a:highlight>
                <a:hlinkClick r:id="rId4"/>
              </a:rPr>
              <a:t>...era.gov.co]</a:t>
            </a:r>
            <a:r>
              <a:rPr lang="en-US" sz="900">
                <a:highlight>
                  <a:srgbClr val="FFFF00"/>
                </a:highlight>
              </a:rPr>
              <a:t> , </a:t>
            </a:r>
            <a:r>
              <a:rPr lang="en-US" sz="900">
                <a:highlight>
                  <a:srgbClr val="FFFF00"/>
                </a:highlight>
                <a:hlinkClick r:id="rId5"/>
              </a:rPr>
              <a:t>https://www.iso.org/standard/42001</a:t>
            </a:r>
            <a:r>
              <a:rPr lang="en-US" sz="900">
                <a:highlight>
                  <a:srgbClr val="FFFF00"/>
                </a:highlight>
              </a:rPr>
              <a:t> </a:t>
            </a:r>
            <a:r>
              <a:rPr lang="en-US" sz="900">
                <a:highlight>
                  <a:srgbClr val="FFFF00"/>
                </a:highlight>
                <a:hlinkClick r:id="rId5"/>
              </a:rPr>
              <a:t>[iso.org]</a:t>
            </a:r>
            <a:endParaRPr lang="en-US" sz="900">
              <a:highlight>
                <a:srgbClr val="FFFF00"/>
              </a:highlight>
            </a:endParaRPr>
          </a:p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06140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6DBC5D6-A59B-9220-8E08-1EB16860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A11E1946-1C5C-7483-FF80-3D90E96264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166CB5D3-5452-0F28-D678-36EABC0083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Operación Actual</a:t>
            </a:r>
          </a:p>
        </p:txBody>
      </p:sp>
    </p:spTree>
    <p:extLst>
      <p:ext uri="{BB962C8B-B14F-4D97-AF65-F5344CB8AC3E}">
        <p14:creationId xmlns:p14="http://schemas.microsoft.com/office/powerpoint/2010/main" val="3719861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s-ES" sz="2000" b="1">
                <a:solidFill>
                  <a:schemeClr val="accent1">
                    <a:lumMod val="49000"/>
                  </a:schemeClr>
                </a:solidFill>
                <a:highlight>
                  <a:srgbClr val="FFFF00"/>
                </a:highlight>
                <a:latin typeface="Reddit Sans"/>
                <a:ea typeface="Reddit Sans"/>
              </a:rPr>
              <a:t>Nuestra </a:t>
            </a:r>
            <a:r>
              <a:rPr lang="es-ES" sz="2000" b="1" err="1">
                <a:solidFill>
                  <a:schemeClr val="accent1">
                    <a:lumMod val="49000"/>
                  </a:schemeClr>
                </a:solidFill>
                <a:highlight>
                  <a:srgbClr val="FFFF00"/>
                </a:highlight>
                <a:latin typeface="Reddit Sans"/>
                <a:ea typeface="Reddit Sans"/>
              </a:rPr>
              <a:t>Operacion</a:t>
            </a:r>
            <a:r>
              <a:rPr lang="es-ES" sz="2000" b="1">
                <a:solidFill>
                  <a:schemeClr val="accent1">
                    <a:lumMod val="49000"/>
                  </a:schemeClr>
                </a:solidFill>
                <a:highlight>
                  <a:srgbClr val="FFFF00"/>
                </a:highlight>
                <a:latin typeface="Reddit Sans"/>
                <a:ea typeface="Reddit Sans"/>
              </a:rPr>
              <a:t> Actual — 8 Mesas de Servicio Gestionadas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260169" y="839071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000">
                <a:solidFill>
                  <a:srgbClr val="6B7280"/>
                </a:solidFill>
                <a:latin typeface="Reddit Sans"/>
                <a:ea typeface="Reddit Sans"/>
              </a:rPr>
              <a:t>Banca y Seguros · Energia y Utilities · Diagnosticadas con modelo de madurez N0-N5 propio</a:t>
            </a:r>
          </a:p>
        </p:txBody>
      </p:sp>
      <p:sp>
        <p:nvSpPr>
          <p:cNvPr id="10" name="cb"/>
          <p:cNvSpPr>
            <a:spLocks noGrp="1"/>
          </p:cNvSpPr>
          <p:nvPr/>
        </p:nvSpPr>
        <p:spPr>
          <a:xfrm>
            <a:off x="336369" y="1512244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8EDF8"/>
          </a:solidFill>
          <a:ln w="15875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" name="chdr"/>
          <p:cNvSpPr>
            <a:spLocks noGrp="1"/>
          </p:cNvSpPr>
          <p:nvPr/>
        </p:nvSpPr>
        <p:spPr>
          <a:xfrm>
            <a:off x="336369" y="15122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" name="chdr2"/>
          <p:cNvSpPr>
            <a:spLocks noGrp="1"/>
          </p:cNvSpPr>
          <p:nvPr/>
        </p:nvSpPr>
        <p:spPr>
          <a:xfrm>
            <a:off x="336369" y="1768276"/>
            <a:ext cx="1481328" cy="146304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3" name="cnom"/>
          <p:cNvSpPr txBox="1">
            <a:spLocks noGrp="1"/>
          </p:cNvSpPr>
          <p:nvPr/>
        </p:nvSpPr>
        <p:spPr>
          <a:xfrm>
            <a:off x="336369" y="1548820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SURA</a:t>
            </a:r>
          </a:p>
        </p:txBody>
      </p:sp>
      <p:sp>
        <p:nvSpPr>
          <p:cNvPr id="14" name="csec"/>
          <p:cNvSpPr txBox="1">
            <a:spLocks noGrp="1"/>
          </p:cNvSpPr>
          <p:nvPr/>
        </p:nvSpPr>
        <p:spPr>
          <a:xfrm>
            <a:off x="409521" y="1969444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0D1B5E"/>
                </a:solidFill>
                <a:latin typeface="Reddit Sans"/>
                <a:ea typeface="Reddit Sans"/>
              </a:rPr>
              <a:t>Seguros · 4 mesas</a:t>
            </a:r>
          </a:p>
        </p:txBody>
      </p:sp>
      <p:sp>
        <p:nvSpPr>
          <p:cNvPr id="15" name="cdesc"/>
          <p:cNvSpPr txBox="1">
            <a:spLocks noGrp="1"/>
          </p:cNvSpPr>
          <p:nvPr/>
        </p:nvSpPr>
        <p:spPr>
          <a:xfrm>
            <a:off x="427809" y="2262052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0D1B5E"/>
                </a:solidFill>
                <a:latin typeface="Reddit Sans"/>
                <a:ea typeface="Reddit Sans"/>
              </a:rPr>
              <a:t>Venta Digital
Cotizadores
Torre de Control
Mesa 4</a:t>
            </a:r>
          </a:p>
        </p:txBody>
      </p:sp>
      <p:sp>
        <p:nvSpPr>
          <p:cNvPr id="6" name="cb"/>
          <p:cNvSpPr>
            <a:spLocks noGrp="1"/>
          </p:cNvSpPr>
          <p:nvPr/>
        </p:nvSpPr>
        <p:spPr>
          <a:xfrm>
            <a:off x="1909137" y="1512244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BF3FF"/>
          </a:solidFill>
          <a:ln w="15875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" name="chdr"/>
          <p:cNvSpPr>
            <a:spLocks noGrp="1"/>
          </p:cNvSpPr>
          <p:nvPr/>
        </p:nvSpPr>
        <p:spPr>
          <a:xfrm>
            <a:off x="1909137" y="15122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" name="chdr2"/>
          <p:cNvSpPr>
            <a:spLocks noGrp="1"/>
          </p:cNvSpPr>
          <p:nvPr/>
        </p:nvSpPr>
        <p:spPr>
          <a:xfrm>
            <a:off x="1909137" y="1768276"/>
            <a:ext cx="1481328" cy="146304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" name="cnom"/>
          <p:cNvSpPr txBox="1">
            <a:spLocks noGrp="1"/>
          </p:cNvSpPr>
          <p:nvPr/>
        </p:nvSpPr>
        <p:spPr>
          <a:xfrm>
            <a:off x="1909137" y="1548820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Bancolombia</a:t>
            </a:r>
          </a:p>
        </p:txBody>
      </p:sp>
      <p:sp>
        <p:nvSpPr>
          <p:cNvPr id="17" name="csec"/>
          <p:cNvSpPr txBox="1">
            <a:spLocks noGrp="1"/>
          </p:cNvSpPr>
          <p:nvPr/>
        </p:nvSpPr>
        <p:spPr>
          <a:xfrm>
            <a:off x="1982289" y="1969444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1A3A8F"/>
                </a:solidFill>
                <a:latin typeface="Reddit Sans"/>
                <a:ea typeface="Reddit Sans"/>
              </a:rPr>
              <a:t>Banca · 4 mesas</a:t>
            </a:r>
          </a:p>
        </p:txBody>
      </p:sp>
      <p:sp>
        <p:nvSpPr>
          <p:cNvPr id="18" name="cdesc"/>
          <p:cNvSpPr txBox="1">
            <a:spLocks noGrp="1"/>
          </p:cNvSpPr>
          <p:nvPr/>
        </p:nvSpPr>
        <p:spPr>
          <a:xfrm>
            <a:off x="2000577" y="2262052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1A3A8F"/>
                </a:solidFill>
                <a:latin typeface="Reddit Sans"/>
                <a:ea typeface="Reddit Sans"/>
              </a:rPr>
              <a:t>Gioti 1
Gioti 2
Gioti 3
Gioti 4</a:t>
            </a:r>
          </a:p>
        </p:txBody>
      </p:sp>
      <p:sp>
        <p:nvSpPr>
          <p:cNvPr id="9" name="cb"/>
          <p:cNvSpPr>
            <a:spLocks noGrp="1"/>
          </p:cNvSpPr>
          <p:nvPr/>
        </p:nvSpPr>
        <p:spPr>
          <a:xfrm>
            <a:off x="3481905" y="1512244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8F6F7"/>
          </a:solidFill>
          <a:ln w="15875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8" name="chdr"/>
          <p:cNvSpPr>
            <a:spLocks noGrp="1"/>
          </p:cNvSpPr>
          <p:nvPr/>
        </p:nvSpPr>
        <p:spPr>
          <a:xfrm>
            <a:off x="3481905" y="15122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9" name="chdr2"/>
          <p:cNvSpPr>
            <a:spLocks noGrp="1"/>
          </p:cNvSpPr>
          <p:nvPr/>
        </p:nvSpPr>
        <p:spPr>
          <a:xfrm>
            <a:off x="3481905" y="1768276"/>
            <a:ext cx="1481328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9" name="cnom"/>
          <p:cNvSpPr txBox="1">
            <a:spLocks noGrp="1"/>
          </p:cNvSpPr>
          <p:nvPr/>
        </p:nvSpPr>
        <p:spPr>
          <a:xfrm>
            <a:off x="3481905" y="1548820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XM</a:t>
            </a:r>
          </a:p>
        </p:txBody>
      </p:sp>
      <p:sp>
        <p:nvSpPr>
          <p:cNvPr id="20" name="csec"/>
          <p:cNvSpPr txBox="1">
            <a:spLocks noGrp="1"/>
          </p:cNvSpPr>
          <p:nvPr/>
        </p:nvSpPr>
        <p:spPr>
          <a:xfrm>
            <a:off x="3555057" y="1969444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1B7B85"/>
                </a:solidFill>
                <a:latin typeface="Reddit Sans"/>
                <a:ea typeface="Reddit Sans"/>
              </a:rPr>
              <a:t>Energia · Evaluacion</a:t>
            </a:r>
          </a:p>
        </p:txBody>
      </p:sp>
      <p:sp>
        <p:nvSpPr>
          <p:cNvPr id="21" name="cdesc"/>
          <p:cNvSpPr txBox="1">
            <a:spLocks noGrp="1"/>
          </p:cNvSpPr>
          <p:nvPr/>
        </p:nvSpPr>
        <p:spPr>
          <a:xfrm>
            <a:off x="3573345" y="2262052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1B7B85"/>
                </a:solidFill>
                <a:latin typeface="Reddit Sans"/>
                <a:ea typeface="Reddit Sans"/>
              </a:rPr>
              <a:t>Operacion critica 24x7
AIOps potencial alto</a:t>
            </a:r>
          </a:p>
        </p:txBody>
      </p:sp>
      <p:sp>
        <p:nvSpPr>
          <p:cNvPr id="30" name="cb"/>
          <p:cNvSpPr>
            <a:spLocks noGrp="1"/>
          </p:cNvSpPr>
          <p:nvPr/>
        </p:nvSpPr>
        <p:spPr>
          <a:xfrm>
            <a:off x="5054673" y="1512244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8F2FF"/>
          </a:solidFill>
          <a:ln w="15875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1" name="chdr"/>
          <p:cNvSpPr>
            <a:spLocks noGrp="1"/>
          </p:cNvSpPr>
          <p:nvPr/>
        </p:nvSpPr>
        <p:spPr>
          <a:xfrm>
            <a:off x="5054673" y="15122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2" name="chdr2"/>
          <p:cNvSpPr>
            <a:spLocks noGrp="1"/>
          </p:cNvSpPr>
          <p:nvPr/>
        </p:nvSpPr>
        <p:spPr>
          <a:xfrm>
            <a:off x="5054673" y="1768276"/>
            <a:ext cx="1481328" cy="146304"/>
          </a:xfrm>
          <a:prstGeom prst="rect">
            <a:avLst/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" name="cnom"/>
          <p:cNvSpPr txBox="1">
            <a:spLocks noGrp="1"/>
          </p:cNvSpPr>
          <p:nvPr/>
        </p:nvSpPr>
        <p:spPr>
          <a:xfrm>
            <a:off x="5054673" y="1548820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AES</a:t>
            </a:r>
          </a:p>
        </p:txBody>
      </p:sp>
      <p:sp>
        <p:nvSpPr>
          <p:cNvPr id="23" name="csec"/>
          <p:cNvSpPr txBox="1">
            <a:spLocks noGrp="1"/>
          </p:cNvSpPr>
          <p:nvPr/>
        </p:nvSpPr>
        <p:spPr>
          <a:xfrm>
            <a:off x="5127825" y="1969444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1F6FBA"/>
                </a:solidFill>
                <a:latin typeface="Reddit Sans"/>
                <a:ea typeface="Reddit Sans"/>
              </a:rPr>
              <a:t>Energia · Evaluacion</a:t>
            </a:r>
          </a:p>
        </p:txBody>
      </p:sp>
      <p:sp>
        <p:nvSpPr>
          <p:cNvPr id="24" name="cdesc"/>
          <p:cNvSpPr txBox="1">
            <a:spLocks noGrp="1"/>
          </p:cNvSpPr>
          <p:nvPr/>
        </p:nvSpPr>
        <p:spPr>
          <a:xfrm>
            <a:off x="5146113" y="2262052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1F6FBA"/>
                </a:solidFill>
                <a:latin typeface="Reddit Sans"/>
                <a:ea typeface="Reddit Sans"/>
              </a:rPr>
              <a:t>Infraestructura critica
Continuidad operacional</a:t>
            </a:r>
          </a:p>
        </p:txBody>
      </p:sp>
      <p:sp>
        <p:nvSpPr>
          <p:cNvPr id="33" name="cb"/>
          <p:cNvSpPr>
            <a:spLocks noGrp="1"/>
          </p:cNvSpPr>
          <p:nvPr/>
        </p:nvSpPr>
        <p:spPr>
          <a:xfrm>
            <a:off x="6627441" y="1512244"/>
            <a:ext cx="1481328" cy="3127248"/>
          </a:xfrm>
          <a:prstGeom prst="roundRect">
            <a:avLst>
              <a:gd name="adj" fmla="val 15000"/>
            </a:avLst>
          </a:prstGeom>
          <a:solidFill>
            <a:srgbClr val="E8F5EE"/>
          </a:solidFill>
          <a:ln w="15875">
            <a:solidFill>
              <a:srgbClr val="1A6B3C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4" name="chdr"/>
          <p:cNvSpPr>
            <a:spLocks noGrp="1"/>
          </p:cNvSpPr>
          <p:nvPr/>
        </p:nvSpPr>
        <p:spPr>
          <a:xfrm>
            <a:off x="6627441" y="15122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" name="chdr2"/>
          <p:cNvSpPr>
            <a:spLocks noGrp="1"/>
          </p:cNvSpPr>
          <p:nvPr/>
        </p:nvSpPr>
        <p:spPr>
          <a:xfrm>
            <a:off x="6627441" y="1768276"/>
            <a:ext cx="1481328" cy="146304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5" name="cnom"/>
          <p:cNvSpPr txBox="1">
            <a:spLocks noGrp="1"/>
          </p:cNvSpPr>
          <p:nvPr/>
        </p:nvSpPr>
        <p:spPr>
          <a:xfrm>
            <a:off x="6627441" y="1548820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MEDICARTE</a:t>
            </a:r>
          </a:p>
        </p:txBody>
      </p:sp>
      <p:sp>
        <p:nvSpPr>
          <p:cNvPr id="26" name="csec"/>
          <p:cNvSpPr txBox="1">
            <a:spLocks noGrp="1"/>
          </p:cNvSpPr>
          <p:nvPr/>
        </p:nvSpPr>
        <p:spPr>
          <a:xfrm>
            <a:off x="6700593" y="1969444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1A6B3C"/>
                </a:solidFill>
                <a:latin typeface="Reddit Sans"/>
                <a:ea typeface="Reddit Sans"/>
              </a:rPr>
              <a:t>Salud · Evaluacion</a:t>
            </a:r>
          </a:p>
        </p:txBody>
      </p:sp>
      <p:sp>
        <p:nvSpPr>
          <p:cNvPr id="27" name="cdesc"/>
          <p:cNvSpPr txBox="1">
            <a:spLocks noGrp="1"/>
          </p:cNvSpPr>
          <p:nvPr/>
        </p:nvSpPr>
        <p:spPr>
          <a:xfrm>
            <a:off x="6718881" y="2262052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1A6B3C"/>
                </a:solidFill>
                <a:latin typeface="Reddit Sans"/>
                <a:ea typeface="Reddit Sans"/>
              </a:rPr>
              <a:t>Trazabilidad clinica
Historia clinica
Compliance</a:t>
            </a:r>
          </a:p>
        </p:txBody>
      </p:sp>
    </p:spTree>
    <p:extLst>
      <p:ext uri="{BB962C8B-B14F-4D97-AF65-F5344CB8AC3E}">
        <p14:creationId xmlns:p14="http://schemas.microsoft.com/office/powerpoint/2010/main" val="1703812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AEBFDBAD-7B05-EED9-1EF5-413E891F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4B2582B4-18D3-4368-CA11-A1D396FEC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E43C39F1-AE88-CEAB-FF66-1C0A9CE8A5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Segmentos de Mercado Priorizados</a:t>
            </a:r>
            <a:endParaRPr lang="es-ES"/>
          </a:p>
        </p:txBody>
      </p:sp>
      <p:cxnSp>
        <p:nvCxnSpPr>
          <p:cNvPr id="147" name="Google Shape;147;p5">
            <a:extLst>
              <a:ext uri="{FF2B5EF4-FFF2-40B4-BE49-F238E27FC236}">
                <a16:creationId xmlns:a16="http://schemas.microsoft.com/office/drawing/2014/main" id="{8BFA854E-B0B5-D66E-A8B9-C86B85A5FA57}"/>
              </a:ext>
            </a:extLst>
          </p:cNvPr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24AE519-5A1F-729A-5BAF-07AFD2B3AFFF}"/>
              </a:ext>
            </a:extLst>
          </p:cNvPr>
          <p:cNvSpPr txBox="1"/>
          <p:nvPr/>
        </p:nvSpPr>
        <p:spPr>
          <a:xfrm>
            <a:off x="4757057" y="693967"/>
            <a:ext cx="3946074" cy="4529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Sector Banca Prioritario </a:t>
            </a:r>
            <a:endParaRPr lang="es-ES"/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Banca destaca por alta regulación, uso avanzado de IA y presión por continuidad operativa, con alta inversión en soluciones.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Oportunidades en </a:t>
            </a:r>
            <a:r>
              <a:rPr lang="es-ES" sz="1100" b="1" err="1">
                <a:solidFill>
                  <a:srgbClr val="0E337C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operan 24/7, creando oportunidades para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AIOps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y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observabilidad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predictiva para mejorar operaciones críticas.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Empresas Medianas y Deuda Técnica </a:t>
            </a: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Empresas medianas enfrentan alta deuda técnica y baja madurez, lo que abre oportunidades para modernización rápida.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Retos en el Sector Salud </a:t>
            </a: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Salud requiere cumplimiento normativo, protección de datos y continuidad, exigiendo soluciones estandarizadas y trazables..</a:t>
            </a:r>
          </a:p>
          <a:p>
            <a:pPr>
              <a:lnSpc>
                <a:spcPct val="150000"/>
              </a:lnSpc>
            </a:pP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5466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AA57A6C-32F2-75F4-88EA-B8E0A09981D4}"/>
              </a:ext>
            </a:extLst>
          </p:cNvPr>
          <p:cNvSpPr/>
          <p:nvPr/>
        </p:nvSpPr>
        <p:spPr>
          <a:xfrm>
            <a:off x="429645" y="664927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Hoja de Ruta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hacia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una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Mesa de Servicio Optima</a:t>
            </a:r>
            <a:endParaRPr lang="en-US" sz="1200">
              <a:latin typeface="Reddit Sans"/>
              <a:ea typeface="Reddit Sans"/>
            </a:endParaRPr>
          </a:p>
        </p:txBody>
      </p:sp>
      <p:pic>
        <p:nvPicPr>
          <p:cNvPr id="6" name="Image 0" descr="-5107849e.png">
            <a:extLst>
              <a:ext uri="{FF2B5EF4-FFF2-40B4-BE49-F238E27FC236}">
                <a16:creationId xmlns:a16="http://schemas.microsoft.com/office/drawing/2014/main" id="{025A2F5B-4420-8B7D-A5CD-CD10AC42B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31" y="1383804"/>
            <a:ext cx="1800225" cy="892969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2B7F3142-1B3C-F53E-4B3E-7B21A44A2ACF}"/>
              </a:ext>
            </a:extLst>
          </p:cNvPr>
          <p:cNvSpPr/>
          <p:nvPr/>
        </p:nvSpPr>
        <p:spPr>
          <a:xfrm>
            <a:off x="469106" y="1668471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(ad-hoc)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B0E0144-FE35-46F9-4A8B-187F695CCC76}"/>
              </a:ext>
            </a:extLst>
          </p:cNvPr>
          <p:cNvSpPr/>
          <p:nvPr/>
        </p:nvSpPr>
        <p:spPr>
          <a:xfrm>
            <a:off x="538843" y="2374888"/>
            <a:ext cx="1552181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reactivo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total; alto riesgo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operativo debido a la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alta rotación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personal.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830D6CD-2965-65C2-C44F-73D909086768}"/>
              </a:ext>
            </a:extLst>
          </p:cNvPr>
          <p:cNvSpPr/>
          <p:nvPr/>
        </p:nvSpPr>
        <p:spPr>
          <a:xfrm>
            <a:off x="104604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1" descr="3c0be2e2.png">
            <a:extLst>
              <a:ext uri="{FF2B5EF4-FFF2-40B4-BE49-F238E27FC236}">
                <a16:creationId xmlns:a16="http://schemas.microsoft.com/office/drawing/2014/main" id="{2BAEFFC3-BBC3-4F56-0BB0-1AB1DC8D3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76" y="1300088"/>
            <a:ext cx="150019" cy="171450"/>
          </a:xfrm>
          <a:prstGeom prst="rect">
            <a:avLst/>
          </a:prstGeom>
        </p:spPr>
      </p:pic>
      <p:pic>
        <p:nvPicPr>
          <p:cNvPr id="16" name="Image 2" descr="-664449e.png">
            <a:extLst>
              <a:ext uri="{FF2B5EF4-FFF2-40B4-BE49-F238E27FC236}">
                <a16:creationId xmlns:a16="http://schemas.microsoft.com/office/drawing/2014/main" id="{4FA09899-345D-B4C2-9FC3-93F74178D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881" y="1383804"/>
            <a:ext cx="1800225" cy="892969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A44D84DC-C0F1-0569-CFE0-09EC7CC1CCB3}"/>
              </a:ext>
            </a:extLst>
          </p:cNvPr>
          <p:cNvSpPr/>
          <p:nvPr/>
        </p:nvSpPr>
        <p:spPr>
          <a:xfrm>
            <a:off x="2231912" y="1670000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785EF54-D1E2-0161-32A0-B1DFB63A88B2}"/>
              </a:ext>
            </a:extLst>
          </p:cNvPr>
          <p:cNvSpPr/>
          <p:nvPr/>
        </p:nvSpPr>
        <p:spPr>
          <a:xfrm>
            <a:off x="2196193" y="2374888"/>
            <a:ext cx="1564794" cy="11726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 ejecutados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localmente; uso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principalmente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como bitácoras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registro.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0C2E1FBF-E2B1-DCBF-083D-7CB44AFF58B9}"/>
              </a:ext>
            </a:extLst>
          </p:cNvPr>
          <p:cNvSpPr/>
          <p:nvPr/>
        </p:nvSpPr>
        <p:spPr>
          <a:xfrm>
            <a:off x="270339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 3" descr="327946a2.png">
            <a:extLst>
              <a:ext uri="{FF2B5EF4-FFF2-40B4-BE49-F238E27FC236}">
                <a16:creationId xmlns:a16="http://schemas.microsoft.com/office/drawing/2014/main" id="{3DAAC64B-07A8-B167-0972-44DA0BFF3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252" y="1301135"/>
            <a:ext cx="128588" cy="164306"/>
          </a:xfrm>
          <a:prstGeom prst="rect">
            <a:avLst/>
          </a:prstGeom>
        </p:spPr>
      </p:pic>
      <p:pic>
        <p:nvPicPr>
          <p:cNvPr id="26" name="Image 4" descr="-63bd839e.png">
            <a:extLst>
              <a:ext uri="{FF2B5EF4-FFF2-40B4-BE49-F238E27FC236}">
                <a16:creationId xmlns:a16="http://schemas.microsoft.com/office/drawing/2014/main" id="{0F7F6763-F632-B591-CFCC-533414C1B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231" y="1383804"/>
            <a:ext cx="1800225" cy="892969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E16478B5-9185-1FAB-1BFF-09DDB5386380}"/>
              </a:ext>
            </a:extLst>
          </p:cNvPr>
          <p:cNvSpPr/>
          <p:nvPr/>
        </p:nvSpPr>
        <p:spPr>
          <a:xfrm>
            <a:off x="3965462" y="1668471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BA595339-8B98-A293-5C7E-2FCFAC6424A2}"/>
              </a:ext>
            </a:extLst>
          </p:cNvPr>
          <p:cNvSpPr/>
          <p:nvPr/>
        </p:nvSpPr>
        <p:spPr>
          <a:xfrm>
            <a:off x="3853543" y="2374888"/>
            <a:ext cx="1517913" cy="13681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estandarizados 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nivel organizacional;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implementación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RACI, ANS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Catálogo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5AD75E81-2F9A-CC01-4969-9BD06029BBE4}"/>
              </a:ext>
            </a:extLst>
          </p:cNvPr>
          <p:cNvSpPr/>
          <p:nvPr/>
        </p:nvSpPr>
        <p:spPr>
          <a:xfrm>
            <a:off x="436074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5" descr="-26c90fde.png">
            <a:extLst>
              <a:ext uri="{FF2B5EF4-FFF2-40B4-BE49-F238E27FC236}">
                <a16:creationId xmlns:a16="http://schemas.microsoft.com/office/drawing/2014/main" id="{6A814EFE-248D-AE88-5C21-920E62BE27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1442" y="1295903"/>
            <a:ext cx="178594" cy="178594"/>
          </a:xfrm>
          <a:prstGeom prst="rect">
            <a:avLst/>
          </a:prstGeom>
        </p:spPr>
      </p:pic>
      <p:pic>
        <p:nvPicPr>
          <p:cNvPr id="36" name="Image 6" descr="-5a47b8de.png">
            <a:extLst>
              <a:ext uri="{FF2B5EF4-FFF2-40B4-BE49-F238E27FC236}">
                <a16:creationId xmlns:a16="http://schemas.microsoft.com/office/drawing/2014/main" id="{B585481D-9680-20D6-619C-7D836A7A1F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6581" y="1383804"/>
            <a:ext cx="1800225" cy="892969"/>
          </a:xfrm>
          <a:prstGeom prst="rect">
            <a:avLst/>
          </a:prstGeom>
        </p:spPr>
      </p:pic>
      <p:sp>
        <p:nvSpPr>
          <p:cNvPr id="38" name="Text 11">
            <a:extLst>
              <a:ext uri="{FF2B5EF4-FFF2-40B4-BE49-F238E27FC236}">
                <a16:creationId xmlns:a16="http://schemas.microsoft.com/office/drawing/2014/main" id="{6C33AB01-C07A-8656-D5BE-7DE50DE1CC15}"/>
              </a:ext>
            </a:extLst>
          </p:cNvPr>
          <p:cNvSpPr/>
          <p:nvPr/>
        </p:nvSpPr>
        <p:spPr>
          <a:xfrm>
            <a:off x="5546612" y="1670000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07E30602-2173-2EE9-432A-6A9A28EEFCB5}"/>
              </a:ext>
            </a:extLst>
          </p:cNvPr>
          <p:cNvSpPr/>
          <p:nvPr/>
        </p:nvSpPr>
        <p:spPr>
          <a:xfrm>
            <a:off x="5510893" y="2374888"/>
            <a:ext cx="1541354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 basada en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datos reales;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medición precisa del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costo por ticket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rendimiento.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D69523D0-8F13-6DAA-9641-7DB56C402C36}"/>
              </a:ext>
            </a:extLst>
          </p:cNvPr>
          <p:cNvSpPr/>
          <p:nvPr/>
        </p:nvSpPr>
        <p:spPr>
          <a:xfrm>
            <a:off x="601809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4" name="Image 7" descr="-38c1a09e.png">
            <a:extLst>
              <a:ext uri="{FF2B5EF4-FFF2-40B4-BE49-F238E27FC236}">
                <a16:creationId xmlns:a16="http://schemas.microsoft.com/office/drawing/2014/main" id="{A0A0F9AD-C340-CEAA-304F-D2A531547E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5535" y="1323110"/>
            <a:ext cx="142875" cy="121444"/>
          </a:xfrm>
          <a:prstGeom prst="rect">
            <a:avLst/>
          </a:prstGeom>
        </p:spPr>
      </p:pic>
      <p:pic>
        <p:nvPicPr>
          <p:cNvPr id="46" name="Image 8" descr="213ef762.png">
            <a:extLst>
              <a:ext uri="{FF2B5EF4-FFF2-40B4-BE49-F238E27FC236}">
                <a16:creationId xmlns:a16="http://schemas.microsoft.com/office/drawing/2014/main" id="{19FA836F-0F22-CD69-D6C6-A760FA03FC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931" y="1383804"/>
            <a:ext cx="1800225" cy="892969"/>
          </a:xfrm>
          <a:prstGeom prst="rect">
            <a:avLst/>
          </a:prstGeom>
        </p:spPr>
      </p:pic>
      <p:sp>
        <p:nvSpPr>
          <p:cNvPr id="48" name="Text 14">
            <a:extLst>
              <a:ext uri="{FF2B5EF4-FFF2-40B4-BE49-F238E27FC236}">
                <a16:creationId xmlns:a16="http://schemas.microsoft.com/office/drawing/2014/main" id="{7B511D7F-7B49-579D-3BF1-D899571FB036}"/>
              </a:ext>
            </a:extLst>
          </p:cNvPr>
          <p:cNvSpPr/>
          <p:nvPr/>
        </p:nvSpPr>
        <p:spPr>
          <a:xfrm>
            <a:off x="7301934" y="1668471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574307D0-96AF-295B-3AD4-C71772235FD5}"/>
              </a:ext>
            </a:extLst>
          </p:cNvPr>
          <p:cNvSpPr/>
          <p:nvPr/>
        </p:nvSpPr>
        <p:spPr>
          <a:xfrm>
            <a:off x="7168244" y="2374888"/>
            <a:ext cx="1563677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Foco en la mejora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continua; integración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sistemas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automatizados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autónomos.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3F73D084-F2D1-9FE2-155F-A5B29A764FC7}"/>
              </a:ext>
            </a:extLst>
          </p:cNvPr>
          <p:cNvSpPr/>
          <p:nvPr/>
        </p:nvSpPr>
        <p:spPr>
          <a:xfrm>
            <a:off x="767544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54" name="Image 9" descr="0-42f65e.png">
            <a:extLst>
              <a:ext uri="{FF2B5EF4-FFF2-40B4-BE49-F238E27FC236}">
                <a16:creationId xmlns:a16="http://schemas.microsoft.com/office/drawing/2014/main" id="{9904F87E-5766-FFA3-616F-BE1F470CEB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8699" y="1310554"/>
            <a:ext cx="150019" cy="150019"/>
          </a:xfrm>
          <a:prstGeom prst="rect">
            <a:avLst/>
          </a:prstGeom>
        </p:spPr>
      </p:pic>
      <p:sp>
        <p:nvSpPr>
          <p:cNvPr id="56" name="Titulo">
            <a:extLst>
              <a:ext uri="{FF2B5EF4-FFF2-40B4-BE49-F238E27FC236}">
                <a16:creationId xmlns:a16="http://schemas.microsoft.com/office/drawing/2014/main" id="{51019247-4535-AC63-A22B-9B9685D1D887}"/>
              </a:ext>
            </a:extLst>
          </p:cNvPr>
          <p:cNvSpPr txBox="1">
            <a:spLocks/>
          </p:cNvSpPr>
          <p:nvPr/>
        </p:nvSpPr>
        <p:spPr>
          <a:xfrm>
            <a:off x="340500" y="200392"/>
            <a:ext cx="8211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</a:rPr>
              <a:t>N</a:t>
            </a:r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ivel de Madurez de las Mesas de Servicio – A dónde queremos llegar</a:t>
            </a:r>
          </a:p>
        </p:txBody>
      </p:sp>
      <p:sp>
        <p:nvSpPr>
          <p:cNvPr id="58" name="modelo reactivo">
            <a:extLst>
              <a:ext uri="{FF2B5EF4-FFF2-40B4-BE49-F238E27FC236}">
                <a16:creationId xmlns:a16="http://schemas.microsoft.com/office/drawing/2014/main" id="{1B3F5D90-A9DD-AA8E-5717-437F49F01ED9}"/>
              </a:ext>
            </a:extLst>
          </p:cNvPr>
          <p:cNvSpPr txBox="1"/>
          <p:nvPr/>
        </p:nvSpPr>
        <p:spPr>
          <a:xfrm>
            <a:off x="419101" y="3782786"/>
            <a:ext cx="2682879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</a:rPr>
              <a:t>Reactivo y Crecimiento Automatizado</a:t>
            </a:r>
          </a:p>
        </p:txBody>
      </p:sp>
      <p:sp>
        <p:nvSpPr>
          <p:cNvPr id="60" name="modelo predictivo">
            <a:extLst>
              <a:ext uri="{FF2B5EF4-FFF2-40B4-BE49-F238E27FC236}">
                <a16:creationId xmlns:a16="http://schemas.microsoft.com/office/drawing/2014/main" id="{D958AA7E-C7E0-1C6C-4E73-F7B12B60E0C0}"/>
              </a:ext>
            </a:extLst>
          </p:cNvPr>
          <p:cNvSpPr txBox="1"/>
          <p:nvPr/>
        </p:nvSpPr>
        <p:spPr>
          <a:xfrm>
            <a:off x="3219451" y="3782786"/>
            <a:ext cx="2682879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</a:rPr>
              <a:t>Predictivo y Evolutivo</a:t>
            </a:r>
          </a:p>
        </p:txBody>
      </p:sp>
      <p:sp>
        <p:nvSpPr>
          <p:cNvPr id="62" name="modelo autonomo">
            <a:extLst>
              <a:ext uri="{FF2B5EF4-FFF2-40B4-BE49-F238E27FC236}">
                <a16:creationId xmlns:a16="http://schemas.microsoft.com/office/drawing/2014/main" id="{9C3E79B6-7E49-442E-1A5D-A95BFAC020A4}"/>
              </a:ext>
            </a:extLst>
          </p:cNvPr>
          <p:cNvSpPr txBox="1"/>
          <p:nvPr/>
        </p:nvSpPr>
        <p:spPr>
          <a:xfrm>
            <a:off x="6019801" y="3782786"/>
            <a:ext cx="2683629" cy="457200"/>
          </a:xfrm>
          <a:prstGeom prst="rect">
            <a:avLst/>
          </a:prstGeom>
          <a:solidFill>
            <a:srgbClr val="215578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chemeClr val="bg1"/>
                </a:solidFill>
              </a:rPr>
              <a:t>Autónomo e Inteligente</a:t>
            </a:r>
            <a:endParaRPr lang="es" sz="1000" b="1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0392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116389" y="4657779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pic>
        <p:nvPicPr>
          <p:cNvPr id="4" name="Image 0" descr="-5107849e.png">
            <a:extLst>
              <a:ext uri="{FF2B5EF4-FFF2-40B4-BE49-F238E27FC236}">
                <a16:creationId xmlns:a16="http://schemas.microsoft.com/office/drawing/2014/main" id="{28A82C43-E3C6-C6CD-BAC6-F81E06F0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02" y="1737590"/>
            <a:ext cx="1587953" cy="892969"/>
          </a:xfrm>
          <a:prstGeom prst="rect">
            <a:avLst/>
          </a:prstGeom>
        </p:spPr>
      </p:pic>
      <p:sp>
        <p:nvSpPr>
          <p:cNvPr id="18" name="Shape 4">
            <a:extLst>
              <a:ext uri="{FF2B5EF4-FFF2-40B4-BE49-F238E27FC236}">
                <a16:creationId xmlns:a16="http://schemas.microsoft.com/office/drawing/2014/main" id="{F0C4D562-BBCB-B7C0-4400-98FB4BD2D720}"/>
              </a:ext>
            </a:extLst>
          </p:cNvPr>
          <p:cNvSpPr/>
          <p:nvPr/>
        </p:nvSpPr>
        <p:spPr>
          <a:xfrm>
            <a:off x="10678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26" name="Image 1" descr="3c0be2e2.png">
            <a:extLst>
              <a:ext uri="{FF2B5EF4-FFF2-40B4-BE49-F238E27FC236}">
                <a16:creationId xmlns:a16="http://schemas.microsoft.com/office/drawing/2014/main" id="{A674CBB6-8DD1-14B6-CCC7-EC33E782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47" y="1653874"/>
            <a:ext cx="150019" cy="171450"/>
          </a:xfrm>
          <a:prstGeom prst="rect">
            <a:avLst/>
          </a:prstGeom>
        </p:spPr>
      </p:pic>
      <p:pic>
        <p:nvPicPr>
          <p:cNvPr id="30" name="Image 2" descr="-664449e.png">
            <a:extLst>
              <a:ext uri="{FF2B5EF4-FFF2-40B4-BE49-F238E27FC236}">
                <a16:creationId xmlns:a16="http://schemas.microsoft.com/office/drawing/2014/main" id="{1F13A14C-37E0-CE3B-9F72-1DB8E0C2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866" y="1737590"/>
            <a:ext cx="1587953" cy="892969"/>
          </a:xfrm>
          <a:prstGeom prst="rect">
            <a:avLst/>
          </a:prstGeom>
        </p:spPr>
      </p:pic>
      <p:sp>
        <p:nvSpPr>
          <p:cNvPr id="55" name="Text 5">
            <a:extLst>
              <a:ext uri="{FF2B5EF4-FFF2-40B4-BE49-F238E27FC236}">
                <a16:creationId xmlns:a16="http://schemas.microsoft.com/office/drawing/2014/main" id="{5DF28F97-723F-C4DB-468E-C7C0CB50E22F}"/>
              </a:ext>
            </a:extLst>
          </p:cNvPr>
          <p:cNvSpPr/>
          <p:nvPr/>
        </p:nvSpPr>
        <p:spPr>
          <a:xfrm>
            <a:off x="3380355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FD8B39D4-C8B2-E74C-26AB-ACD88FE59515}"/>
              </a:ext>
            </a:extLst>
          </p:cNvPr>
          <p:cNvSpPr/>
          <p:nvPr/>
        </p:nvSpPr>
        <p:spPr>
          <a:xfrm>
            <a:off x="3922599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59" name="Image 3" descr="327946a2.png">
            <a:extLst>
              <a:ext uri="{FF2B5EF4-FFF2-40B4-BE49-F238E27FC236}">
                <a16:creationId xmlns:a16="http://schemas.microsoft.com/office/drawing/2014/main" id="{FB5A92C4-8F66-9AAA-69E2-390963ABE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452" y="1654921"/>
            <a:ext cx="128588" cy="164306"/>
          </a:xfrm>
          <a:prstGeom prst="rect">
            <a:avLst/>
          </a:prstGeom>
        </p:spPr>
      </p:pic>
      <p:pic>
        <p:nvPicPr>
          <p:cNvPr id="61" name="Image 4" descr="-63bd839e.png">
            <a:extLst>
              <a:ext uri="{FF2B5EF4-FFF2-40B4-BE49-F238E27FC236}">
                <a16:creationId xmlns:a16="http://schemas.microsoft.com/office/drawing/2014/main" id="{BE029EAD-2420-5D09-340A-4230612ED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288" y="1737590"/>
            <a:ext cx="1587953" cy="892969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82F79720-243B-C485-D65F-3CFA0FFF7672}"/>
              </a:ext>
            </a:extLst>
          </p:cNvPr>
          <p:cNvSpPr/>
          <p:nvPr/>
        </p:nvSpPr>
        <p:spPr>
          <a:xfrm>
            <a:off x="4819991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Proactivo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21FD19DC-D90C-6EC9-6E4F-5BEDF21DF408}"/>
              </a:ext>
            </a:extLst>
          </p:cNvPr>
          <p:cNvSpPr/>
          <p:nvPr/>
        </p:nvSpPr>
        <p:spPr>
          <a:xfrm>
            <a:off x="5318692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67" name="Image 5" descr="-26c90fde.png">
            <a:extLst>
              <a:ext uri="{FF2B5EF4-FFF2-40B4-BE49-F238E27FC236}">
                <a16:creationId xmlns:a16="http://schemas.microsoft.com/office/drawing/2014/main" id="{B762074A-AAB6-4547-B8EE-8780C8481E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385" y="1649689"/>
            <a:ext cx="178594" cy="178594"/>
          </a:xfrm>
          <a:prstGeom prst="rect">
            <a:avLst/>
          </a:prstGeom>
        </p:spPr>
      </p:pic>
      <p:pic>
        <p:nvPicPr>
          <p:cNvPr id="69" name="Image 6" descr="-5a47b8de.png">
            <a:extLst>
              <a:ext uri="{FF2B5EF4-FFF2-40B4-BE49-F238E27FC236}">
                <a16:creationId xmlns:a16="http://schemas.microsoft.com/office/drawing/2014/main" id="{13BE99D7-74B0-2391-0FBD-845DA3B4F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8709" y="1737590"/>
            <a:ext cx="1587953" cy="892969"/>
          </a:xfrm>
          <a:prstGeom prst="rect">
            <a:avLst/>
          </a:prstGeom>
        </p:spPr>
      </p:pic>
      <p:sp>
        <p:nvSpPr>
          <p:cNvPr id="71" name="Text 11">
            <a:extLst>
              <a:ext uri="{FF2B5EF4-FFF2-40B4-BE49-F238E27FC236}">
                <a16:creationId xmlns:a16="http://schemas.microsoft.com/office/drawing/2014/main" id="{923C29D6-5D27-7DC6-4DBE-60F29FCE2D59}"/>
              </a:ext>
            </a:extLst>
          </p:cNvPr>
          <p:cNvSpPr/>
          <p:nvPr/>
        </p:nvSpPr>
        <p:spPr>
          <a:xfrm>
            <a:off x="6194312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Predictivo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73" name="Shape 13">
            <a:extLst>
              <a:ext uri="{FF2B5EF4-FFF2-40B4-BE49-F238E27FC236}">
                <a16:creationId xmlns:a16="http://schemas.microsoft.com/office/drawing/2014/main" id="{EAE13724-053A-BD9A-CCE1-974841A3BA84}"/>
              </a:ext>
            </a:extLst>
          </p:cNvPr>
          <p:cNvSpPr/>
          <p:nvPr/>
        </p:nvSpPr>
        <p:spPr>
          <a:xfrm>
            <a:off x="6731113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75" name="Image 7" descr="-38c1a09e.png">
            <a:extLst>
              <a:ext uri="{FF2B5EF4-FFF2-40B4-BE49-F238E27FC236}">
                <a16:creationId xmlns:a16="http://schemas.microsoft.com/office/drawing/2014/main" id="{AF53E443-8DCE-DF12-6949-7E648F53C7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8549" y="1676896"/>
            <a:ext cx="142875" cy="121444"/>
          </a:xfrm>
          <a:prstGeom prst="rect">
            <a:avLst/>
          </a:prstGeom>
        </p:spPr>
      </p:pic>
      <p:pic>
        <p:nvPicPr>
          <p:cNvPr id="77" name="Image 8" descr="213ef762.png">
            <a:extLst>
              <a:ext uri="{FF2B5EF4-FFF2-40B4-BE49-F238E27FC236}">
                <a16:creationId xmlns:a16="http://schemas.microsoft.com/office/drawing/2014/main" id="{04243153-891A-29F4-1B88-B88850432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5687" y="1737590"/>
            <a:ext cx="1593396" cy="892969"/>
          </a:xfrm>
          <a:prstGeom prst="rect">
            <a:avLst/>
          </a:prstGeom>
        </p:spPr>
      </p:pic>
      <p:sp>
        <p:nvSpPr>
          <p:cNvPr id="79" name="Text 14">
            <a:extLst>
              <a:ext uri="{FF2B5EF4-FFF2-40B4-BE49-F238E27FC236}">
                <a16:creationId xmlns:a16="http://schemas.microsoft.com/office/drawing/2014/main" id="{98771CCD-97D5-379D-8D6C-BAA750BCE49B}"/>
              </a:ext>
            </a:extLst>
          </p:cNvPr>
          <p:cNvSpPr/>
          <p:nvPr/>
        </p:nvSpPr>
        <p:spPr>
          <a:xfrm>
            <a:off x="7672048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Autonomo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81" name="Shape 16">
            <a:extLst>
              <a:ext uri="{FF2B5EF4-FFF2-40B4-BE49-F238E27FC236}">
                <a16:creationId xmlns:a16="http://schemas.microsoft.com/office/drawing/2014/main" id="{38987B1E-6DD7-970E-0FEB-10AF76909320}"/>
              </a:ext>
            </a:extLst>
          </p:cNvPr>
          <p:cNvSpPr/>
          <p:nvPr/>
        </p:nvSpPr>
        <p:spPr>
          <a:xfrm>
            <a:off x="81163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</p:sp>
      <p:pic>
        <p:nvPicPr>
          <p:cNvPr id="83" name="Image 9" descr="0-42f65e.png">
            <a:extLst>
              <a:ext uri="{FF2B5EF4-FFF2-40B4-BE49-F238E27FC236}">
                <a16:creationId xmlns:a16="http://schemas.microsoft.com/office/drawing/2014/main" id="{33A8465C-B0B1-510B-1801-04A57CC9FE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570" y="1664340"/>
            <a:ext cx="150019" cy="150019"/>
          </a:xfrm>
          <a:prstGeom prst="rect">
            <a:avLst/>
          </a:prstGeom>
        </p:spPr>
      </p:pic>
      <p:pic>
        <p:nvPicPr>
          <p:cNvPr id="84" name="Image 2" descr="-664449e.png">
            <a:extLst>
              <a:ext uri="{FF2B5EF4-FFF2-40B4-BE49-F238E27FC236}">
                <a16:creationId xmlns:a16="http://schemas.microsoft.com/office/drawing/2014/main" id="{2A88DC55-04E6-F620-17B1-89D9F39C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609" y="1737590"/>
            <a:ext cx="1587953" cy="892969"/>
          </a:xfrm>
          <a:prstGeom prst="rect">
            <a:avLst/>
          </a:prstGeom>
        </p:spPr>
      </p:pic>
      <p:sp>
        <p:nvSpPr>
          <p:cNvPr id="85" name="Shape 7">
            <a:extLst>
              <a:ext uri="{FF2B5EF4-FFF2-40B4-BE49-F238E27FC236}">
                <a16:creationId xmlns:a16="http://schemas.microsoft.com/office/drawing/2014/main" id="{53543F60-C102-3C33-EF36-AE86EA803AD0}"/>
              </a:ext>
            </a:extLst>
          </p:cNvPr>
          <p:cNvSpPr/>
          <p:nvPr/>
        </p:nvSpPr>
        <p:spPr>
          <a:xfrm>
            <a:off x="2387713" y="15372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86" name="Image 3" descr="327946a2.png">
            <a:extLst>
              <a:ext uri="{FF2B5EF4-FFF2-40B4-BE49-F238E27FC236}">
                <a16:creationId xmlns:a16="http://schemas.microsoft.com/office/drawing/2014/main" id="{5C861F17-BA45-B4AB-A8CD-5767C29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566" y="1633149"/>
            <a:ext cx="128588" cy="164306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779D3D85-E7C1-EF5B-F7ED-4F5AF8C77598}"/>
              </a:ext>
            </a:extLst>
          </p:cNvPr>
          <p:cNvSpPr/>
          <p:nvPr/>
        </p:nvSpPr>
        <p:spPr>
          <a:xfrm>
            <a:off x="1846148" y="19896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(Ad-hoc/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Reactivo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35C07F31-663C-02DC-57E2-69D87BA37C94}"/>
              </a:ext>
            </a:extLst>
          </p:cNvPr>
          <p:cNvSpPr/>
          <p:nvPr/>
        </p:nvSpPr>
        <p:spPr>
          <a:xfrm>
            <a:off x="420118" y="20222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kern="0" spc="-81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/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20121" y="3043302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13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485435" y="3522979"/>
            <a:ext cx="1157289" cy="9700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automatización. Portal de autoservicio, base de conocimiento, FAQ, chatbot, IA generativa.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681503" y="3037859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35931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18781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187814" y="3522980"/>
            <a:ext cx="1277031" cy="9180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585267" y="3021530"/>
            <a:ext cx="1168174" cy="29200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</a:t>
            </a:r>
            <a:br>
              <a:rPr lang="en-US" sz="1000" kern="0" spc="-31">
                <a:latin typeface="Reddit Sans"/>
                <a:ea typeface="Reddit Sans"/>
                <a:cs typeface="Geist Semi Bold" pitchFamily="34" charset="-120"/>
              </a:rPr>
            </a:b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Ingeniería)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03947" y="3522023"/>
            <a:ext cx="1174357" cy="10105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complejos. Ingenieros senior, arquitectos o especialistas que resuelven problemas complejos y causa raíz.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042592" y="3021531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086135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45773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28493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B55AC2E-1F99-440A-C595-08997A02FCA5}"/>
              </a:ext>
            </a:extLst>
          </p:cNvPr>
          <p:cNvSpPr/>
          <p:nvPr/>
        </p:nvSpPr>
        <p:spPr>
          <a:xfrm>
            <a:off x="429645" y="664927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Hoja de Ruta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hacia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una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Mesa de Servicio Optima</a:t>
            </a:r>
            <a:endParaRPr lang="en-US" sz="1200">
              <a:latin typeface="Reddit Sans"/>
              <a:ea typeface="Reddit Sans"/>
            </a:endParaRPr>
          </a:p>
        </p:txBody>
      </p:sp>
      <p:sp>
        <p:nvSpPr>
          <p:cNvPr id="9" name="Titulo">
            <a:extLst>
              <a:ext uri="{FF2B5EF4-FFF2-40B4-BE49-F238E27FC236}">
                <a16:creationId xmlns:a16="http://schemas.microsoft.com/office/drawing/2014/main" id="{559C00E6-28C4-F4E7-6254-770B61ECB125}"/>
              </a:ext>
            </a:extLst>
          </p:cNvPr>
          <p:cNvSpPr txBox="1">
            <a:spLocks/>
          </p:cNvSpPr>
          <p:nvPr/>
        </p:nvSpPr>
        <p:spPr>
          <a:xfrm>
            <a:off x="356829" y="265706"/>
            <a:ext cx="8211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</a:rPr>
              <a:t>N</a:t>
            </a:r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ivel de Madurez de las Mesas de Servicio – A dónde queremos llegar</a:t>
            </a:r>
          </a:p>
        </p:txBody>
      </p:sp>
      <p:sp>
        <p:nvSpPr>
          <p:cNvPr id="12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30" y="1110342"/>
            <a:ext cx="2775407" cy="3701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4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252108" y="1110342"/>
            <a:ext cx="2682879" cy="370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6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6052458" y="1110342"/>
            <a:ext cx="2683629" cy="370115"/>
          </a:xfrm>
          <a:prstGeom prst="rect">
            <a:avLst/>
          </a:prstGeom>
          <a:solidFill>
            <a:srgbClr val="215578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chemeClr val="bg1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92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Propuesta de Servicio Diferenciadora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7063431-2DE3-F60A-F338-FF4742D0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Mesas de Servicio - Referencia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179637-B69D-C6BA-C75E-06BFC81FE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52143"/>
            <a:ext cx="4332514" cy="29193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3EA414D-20B6-9B45-A372-FD29DC40E659}"/>
              </a:ext>
            </a:extLst>
          </p:cNvPr>
          <p:cNvSpPr txBox="1"/>
          <p:nvPr/>
        </p:nvSpPr>
        <p:spPr>
          <a:xfrm>
            <a:off x="1567543" y="4226379"/>
            <a:ext cx="187778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hlinkClick r:id="rId4"/>
              </a:rPr>
              <a:t>7.5.5 Mesa de Servicios</a:t>
            </a:r>
            <a:endParaRPr lang="en-US" sz="800"/>
          </a:p>
          <a:p>
            <a:pPr algn="ctr"/>
            <a:endParaRPr lang="es-ES" sz="80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1F6975-38DB-93CB-B6BA-B658B4E2CF1F}"/>
              </a:ext>
            </a:extLst>
          </p:cNvPr>
          <p:cNvSpPr txBox="1"/>
          <p:nvPr/>
        </p:nvSpPr>
        <p:spPr>
          <a:xfrm>
            <a:off x="5143500" y="4395107"/>
            <a:ext cx="386987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hlinkClick r:id="rId5"/>
              </a:rPr>
              <a:t>¿Qué es un software de mesa de ayuda? | Guía sobre el software de mesa de ayuda - ManageEngine ServiceDesk Plus</a:t>
            </a:r>
            <a:endParaRPr lang="en-US" sz="800"/>
          </a:p>
          <a:p>
            <a:pPr algn="ctr"/>
            <a:endParaRPr lang="es-ES"/>
          </a:p>
        </p:txBody>
      </p:sp>
      <p:pic>
        <p:nvPicPr>
          <p:cNvPr id="8" name="Imagen 7" descr="Help desk software for small business">
            <a:extLst>
              <a:ext uri="{FF2B5EF4-FFF2-40B4-BE49-F238E27FC236}">
                <a16:creationId xmlns:a16="http://schemas.microsoft.com/office/drawing/2014/main" id="{15ED6B90-4D20-BFFE-8DEC-B92A0F7C4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632" y="0"/>
            <a:ext cx="3620364" cy="421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57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Contenido del artículo">
            <a:extLst>
              <a:ext uri="{FF2B5EF4-FFF2-40B4-BE49-F238E27FC236}">
                <a16:creationId xmlns:a16="http://schemas.microsoft.com/office/drawing/2014/main" id="{7DF1E554-1AA2-EB5F-9181-655DCB20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07" y="111579"/>
            <a:ext cx="7658100" cy="4419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B543981-3B15-19F8-6B0B-D34AF3EB26D8}"/>
              </a:ext>
            </a:extLst>
          </p:cNvPr>
          <p:cNvSpPr txBox="1"/>
          <p:nvPr/>
        </p:nvSpPr>
        <p:spPr>
          <a:xfrm>
            <a:off x="473528" y="4656364"/>
            <a:ext cx="641712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hlinkClick r:id="rId3"/>
              </a:rPr>
              <a:t>(8) Mesa de servicio inteligente: cómo la Inteligencia Artificial está transformando el soporte al cliente | LinkedIn</a:t>
            </a:r>
            <a:endParaRPr lang="en-US" sz="800"/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583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81F8DE4-10A4-27B3-34F6-D359EA68D895}"/>
              </a:ext>
            </a:extLst>
          </p:cNvPr>
          <p:cNvSpPr txBox="1">
            <a:spLocks/>
          </p:cNvSpPr>
          <p:nvPr/>
        </p:nvSpPr>
        <p:spPr>
          <a:xfrm>
            <a:off x="329614" y="-39094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Reddit Sans"/>
              <a:buNone/>
              <a:defRPr sz="5000" b="1" i="0" u="none" strike="noStrike" cap="none">
                <a:solidFill>
                  <a:srgbClr val="0E337C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ITIL v2 - </a:t>
            </a:r>
            <a:r>
              <a:rPr lang="en-US" sz="1600" dirty="0" err="1"/>
              <a:t>Diagrama</a:t>
            </a:r>
            <a:r>
              <a:rPr lang="en-US" sz="1600" dirty="0"/>
              <a:t> del Ciclo de Vida y Modelo 6C</a:t>
            </a:r>
            <a:endParaRPr lang="es-ES" sz="1600" dirty="0"/>
          </a:p>
        </p:txBody>
      </p:sp>
      <p:sp>
        <p:nvSpPr>
          <p:cNvPr id="202" name="rec202"/>
          <p:cNvSpPr/>
          <p:nvPr/>
        </p:nvSpPr>
        <p:spPr>
          <a:xfrm>
            <a:off x="363928" y="530129"/>
            <a:ext cx="8144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ES" sz="12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Lanzado feb–abr 2026 </a:t>
            </a:r>
          </a:p>
        </p:txBody>
      </p:sp>
      <p:sp>
        <p:nvSpPr>
          <p:cNvPr id="203" name="rec203"/>
          <p:cNvSpPr/>
          <p:nvPr/>
        </p:nvSpPr>
        <p:spPr>
          <a:xfrm>
            <a:off x="1657086" y="2184814"/>
            <a:ext cx="1500000" cy="1500000"/>
          </a:xfrm>
          <a:prstGeom prst="ellipse">
            <a:avLst/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Ciclo de vida de Productos y Servicios</a:t>
            </a:r>
            <a:endParaRPr lang="es-ES"/>
          </a:p>
        </p:txBody>
      </p:sp>
      <p:sp>
        <p:nvSpPr>
          <p:cNvPr id="204" name="rec204"/>
          <p:cNvSpPr/>
          <p:nvPr/>
        </p:nvSpPr>
        <p:spPr>
          <a:xfrm>
            <a:off x="2047086" y="1174814"/>
            <a:ext cx="720000" cy="720000"/>
          </a:xfrm>
          <a:prstGeom prst="ellipse">
            <a:avLst/>
          </a:prstGeom>
          <a:solidFill>
            <a:srgbClr val="20808D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1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Discover</a:t>
            </a:r>
          </a:p>
        </p:txBody>
      </p:sp>
      <p:sp>
        <p:nvSpPr>
          <p:cNvPr id="205" name="rec205"/>
          <p:cNvSpPr/>
          <p:nvPr/>
        </p:nvSpPr>
        <p:spPr>
          <a:xfrm>
            <a:off x="1757086" y="814814"/>
            <a:ext cx="1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00">
                <a:solidFill>
                  <a:srgbClr val="20808D"/>
                </a:solidFill>
                <a:latin typeface="Reddit Sans"/>
                <a:ea typeface="Reddit Sans"/>
              </a:rPr>
              <a:t>Necesidades</a:t>
            </a:r>
          </a:p>
        </p:txBody>
      </p:sp>
      <p:sp>
        <p:nvSpPr>
          <p:cNvPr id="206" name="rec206"/>
          <p:cNvSpPr/>
          <p:nvPr/>
        </p:nvSpPr>
        <p:spPr>
          <a:xfrm>
            <a:off x="3037035" y="1584864"/>
            <a:ext cx="720000" cy="720000"/>
          </a:xfrm>
          <a:prstGeom prst="ellipse">
            <a:avLst/>
          </a:prstGeom>
          <a:solidFill>
            <a:srgbClr val="1B474C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2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Design</a:t>
            </a:r>
          </a:p>
        </p:txBody>
      </p:sp>
      <p:sp>
        <p:nvSpPr>
          <p:cNvPr id="207" name="rec207"/>
          <p:cNvSpPr/>
          <p:nvPr/>
        </p:nvSpPr>
        <p:spPr>
          <a:xfrm>
            <a:off x="3797035" y="1388884"/>
            <a:ext cx="105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1B474C"/>
                </a:solidFill>
                <a:latin typeface="Reddit Sans"/>
                <a:ea typeface="Reddit Sans"/>
              </a:rPr>
              <a:t>Arquitectura</a:t>
            </a:r>
          </a:p>
        </p:txBody>
      </p:sp>
      <p:sp>
        <p:nvSpPr>
          <p:cNvPr id="208" name="rec208"/>
          <p:cNvSpPr/>
          <p:nvPr/>
        </p:nvSpPr>
        <p:spPr>
          <a:xfrm>
            <a:off x="3447086" y="2574814"/>
            <a:ext cx="720000" cy="720000"/>
          </a:xfrm>
          <a:prstGeom prst="ellipse">
            <a:avLst/>
          </a:prstGeom>
          <a:solidFill>
            <a:srgbClr val="437A22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3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Acquire</a:t>
            </a:r>
          </a:p>
        </p:txBody>
      </p:sp>
      <p:sp>
        <p:nvSpPr>
          <p:cNvPr id="209" name="rec209"/>
          <p:cNvSpPr/>
          <p:nvPr/>
        </p:nvSpPr>
        <p:spPr>
          <a:xfrm>
            <a:off x="4207086" y="2774814"/>
            <a:ext cx="6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437A22"/>
                </a:solidFill>
                <a:latin typeface="Reddit Sans"/>
                <a:ea typeface="Reddit Sans"/>
              </a:rPr>
              <a:t>Proveedores</a:t>
            </a:r>
          </a:p>
        </p:txBody>
      </p:sp>
      <p:sp>
        <p:nvSpPr>
          <p:cNvPr id="210" name="rec210"/>
          <p:cNvSpPr/>
          <p:nvPr/>
        </p:nvSpPr>
        <p:spPr>
          <a:xfrm>
            <a:off x="3037035" y="3564763"/>
            <a:ext cx="720000" cy="720000"/>
          </a:xfrm>
          <a:prstGeom prst="ellipse">
            <a:avLst/>
          </a:prstGeom>
          <a:solidFill>
            <a:srgbClr val="D19900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4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Build</a:t>
            </a:r>
          </a:p>
        </p:txBody>
      </p:sp>
      <p:sp>
        <p:nvSpPr>
          <p:cNvPr id="211" name="rec211"/>
          <p:cNvSpPr/>
          <p:nvPr/>
        </p:nvSpPr>
        <p:spPr>
          <a:xfrm>
            <a:off x="3797035" y="4160743"/>
            <a:ext cx="105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D19900"/>
                </a:solidFill>
                <a:latin typeface="Reddit Sans"/>
                <a:ea typeface="Reddit Sans"/>
              </a:rPr>
              <a:t>Desarrollo</a:t>
            </a:r>
          </a:p>
        </p:txBody>
      </p:sp>
      <p:sp>
        <p:nvSpPr>
          <p:cNvPr id="212" name="rec212"/>
          <p:cNvSpPr/>
          <p:nvPr/>
        </p:nvSpPr>
        <p:spPr>
          <a:xfrm>
            <a:off x="2047086" y="3974814"/>
            <a:ext cx="720000" cy="720000"/>
          </a:xfrm>
          <a:prstGeom prst="ellipse">
            <a:avLst/>
          </a:prstGeom>
          <a:solidFill>
            <a:srgbClr val="964219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</a:t>
            </a:r>
          </a:p>
          <a:p>
            <a:pPr algn="ctr">
              <a:spcBef>
                <a:spcPts val="80"/>
              </a:spcBef>
            </a:pPr>
            <a:r>
              <a:rPr lang="es-ES" sz="800" dirty="0" err="1">
                <a:solidFill>
                  <a:srgbClr val="FFFFFF"/>
                </a:solidFill>
                <a:latin typeface="Reddit Sans"/>
                <a:ea typeface="Reddit Sans"/>
              </a:rPr>
              <a:t>Transition</a:t>
            </a:r>
            <a:endParaRPr lang="es-ES" sz="800" dirty="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3" name="rec213"/>
          <p:cNvSpPr/>
          <p:nvPr/>
        </p:nvSpPr>
        <p:spPr>
          <a:xfrm>
            <a:off x="1670000" y="4823500"/>
            <a:ext cx="1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00">
                <a:solidFill>
                  <a:srgbClr val="964219"/>
                </a:solidFill>
                <a:latin typeface="Reddit Sans"/>
                <a:ea typeface="Reddit Sans"/>
              </a:rPr>
              <a:t>A producción</a:t>
            </a:r>
          </a:p>
        </p:txBody>
      </p:sp>
      <p:sp>
        <p:nvSpPr>
          <p:cNvPr id="214" name="rec214"/>
          <p:cNvSpPr/>
          <p:nvPr/>
        </p:nvSpPr>
        <p:spPr>
          <a:xfrm>
            <a:off x="1057136" y="3564763"/>
            <a:ext cx="720000" cy="720000"/>
          </a:xfrm>
          <a:prstGeom prst="ellipse">
            <a:avLst/>
          </a:prstGeom>
          <a:solidFill>
            <a:srgbClr val="A84B2F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</a:t>
            </a:r>
          </a:p>
          <a:p>
            <a:pPr algn="ctr">
              <a:spcBef>
                <a:spcPts val="80"/>
              </a:spcBef>
            </a:pPr>
            <a:r>
              <a:rPr lang="es-ES" sz="800" dirty="0" err="1">
                <a:solidFill>
                  <a:srgbClr val="FFFFFF"/>
                </a:solidFill>
                <a:latin typeface="Reddit Sans"/>
                <a:ea typeface="Reddit Sans"/>
              </a:rPr>
              <a:t>Operate</a:t>
            </a:r>
            <a:endParaRPr lang="es-ES" sz="800" dirty="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5" name="rec215"/>
          <p:cNvSpPr/>
          <p:nvPr/>
        </p:nvSpPr>
        <p:spPr>
          <a:xfrm>
            <a:off x="117086" y="4160743"/>
            <a:ext cx="90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 err="1">
                <a:solidFill>
                  <a:srgbClr val="A84B2F"/>
                </a:solidFill>
                <a:latin typeface="Reddit Sans"/>
                <a:ea typeface="Reddit Sans"/>
              </a:rPr>
              <a:t>Incident</a:t>
            </a:r>
            <a:r>
              <a:rPr lang="es-ES" sz="800">
                <a:solidFill>
                  <a:srgbClr val="A84B2F"/>
                </a:solidFill>
                <a:latin typeface="Reddit Sans"/>
                <a:ea typeface="Reddit Sans"/>
              </a:rPr>
              <a:t> Management</a:t>
            </a:r>
          </a:p>
        </p:txBody>
      </p:sp>
      <p:sp>
        <p:nvSpPr>
          <p:cNvPr id="216" name="rec216"/>
          <p:cNvSpPr/>
          <p:nvPr/>
        </p:nvSpPr>
        <p:spPr>
          <a:xfrm>
            <a:off x="647086" y="2574814"/>
            <a:ext cx="720000" cy="720000"/>
          </a:xfrm>
          <a:prstGeom prst="ellipse">
            <a:avLst/>
          </a:prstGeom>
          <a:solidFill>
            <a:srgbClr val="944454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7</a:t>
            </a:r>
          </a:p>
          <a:p>
            <a:pPr algn="ctr">
              <a:spcBef>
                <a:spcPts val="80"/>
              </a:spcBef>
            </a:pPr>
            <a:r>
              <a:rPr lang="es-ES" sz="800" dirty="0" err="1">
                <a:solidFill>
                  <a:srgbClr val="FFFFFF"/>
                </a:solidFill>
                <a:latin typeface="Reddit Sans"/>
                <a:ea typeface="Reddit Sans"/>
              </a:rPr>
              <a:t>Deliver</a:t>
            </a:r>
            <a:endParaRPr lang="es-ES" sz="800" dirty="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7" name="rec217"/>
          <p:cNvSpPr/>
          <p:nvPr/>
        </p:nvSpPr>
        <p:spPr>
          <a:xfrm>
            <a:off x="117086" y="2774814"/>
            <a:ext cx="49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>
                <a:solidFill>
                  <a:srgbClr val="944454"/>
                </a:solidFill>
                <a:latin typeface="Reddit Sans"/>
                <a:ea typeface="Reddit Sans"/>
              </a:rPr>
              <a:t>Valor real</a:t>
            </a:r>
          </a:p>
        </p:txBody>
      </p:sp>
      <p:sp>
        <p:nvSpPr>
          <p:cNvPr id="218" name="rec218"/>
          <p:cNvSpPr/>
          <p:nvPr/>
        </p:nvSpPr>
        <p:spPr>
          <a:xfrm>
            <a:off x="1057136" y="1584864"/>
            <a:ext cx="720000" cy="720000"/>
          </a:xfrm>
          <a:prstGeom prst="ellipse">
            <a:avLst/>
          </a:prstGeom>
          <a:solidFill>
            <a:srgbClr val="7A38BB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8</a:t>
            </a:r>
          </a:p>
          <a:p>
            <a:pPr algn="ctr">
              <a:spcBef>
                <a:spcPts val="80"/>
              </a:spcBef>
            </a:pPr>
            <a:r>
              <a:rPr lang="es-ES" sz="800" dirty="0" err="1">
                <a:solidFill>
                  <a:srgbClr val="FFFFFF"/>
                </a:solidFill>
                <a:latin typeface="Reddit Sans"/>
                <a:ea typeface="Reddit Sans"/>
              </a:rPr>
              <a:t>Support</a:t>
            </a:r>
            <a:endParaRPr lang="es-ES" sz="800" dirty="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9" name="rec219"/>
          <p:cNvSpPr/>
          <p:nvPr/>
        </p:nvSpPr>
        <p:spPr>
          <a:xfrm>
            <a:off x="117086" y="1388884"/>
            <a:ext cx="90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>
                <a:solidFill>
                  <a:srgbClr val="7A38BB"/>
                </a:solidFill>
                <a:latin typeface="Reddit Sans"/>
                <a:ea typeface="Reddit Sans"/>
              </a:rPr>
              <a:t>Mejora continua</a:t>
            </a:r>
          </a:p>
        </p:txBody>
      </p:sp>
      <p:sp>
        <p:nvSpPr>
          <p:cNvPr id="220" name="rec220"/>
          <p:cNvSpPr/>
          <p:nvPr/>
        </p:nvSpPr>
        <p:spPr>
          <a:xfrm>
            <a:off x="4803543" y="9943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250" b="1">
                <a:solidFill>
                  <a:srgbClr val="132346"/>
                </a:solidFill>
                <a:latin typeface="Reddit Sans"/>
                <a:ea typeface="Reddit Sans"/>
              </a:rPr>
              <a:t>Modelo 6C de Capacidades IA</a:t>
            </a:r>
          </a:p>
        </p:txBody>
      </p:sp>
      <p:sp>
        <p:nvSpPr>
          <p:cNvPr id="221" name="rec221"/>
          <p:cNvSpPr/>
          <p:nvPr/>
        </p:nvSpPr>
        <p:spPr>
          <a:xfrm>
            <a:off x="4803543" y="12443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50">
                <a:solidFill>
                  <a:srgbClr val="6B6B6B"/>
                </a:solidFill>
                <a:latin typeface="Reddit Sans"/>
                <a:ea typeface="Reddit Sans"/>
              </a:rPr>
              <a:t>36% de contenido nuevo en ITIL (Versión 5)</a:t>
            </a:r>
          </a:p>
        </p:txBody>
      </p:sp>
      <p:sp>
        <p:nvSpPr>
          <p:cNvPr id="222" name="rec222"/>
          <p:cNvSpPr/>
          <p:nvPr/>
        </p:nvSpPr>
        <p:spPr>
          <a:xfrm>
            <a:off x="4803543" y="153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20808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Creación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Generar contenido y soluciones con IA</a:t>
            </a:r>
          </a:p>
        </p:txBody>
      </p:sp>
      <p:sp>
        <p:nvSpPr>
          <p:cNvPr id="223" name="rec223"/>
          <p:cNvSpPr/>
          <p:nvPr/>
        </p:nvSpPr>
        <p:spPr>
          <a:xfrm>
            <a:off x="6963543" y="153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1B474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Curación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Filtrar y mantener outputs de IA</a:t>
            </a:r>
          </a:p>
        </p:txBody>
      </p:sp>
      <p:sp>
        <p:nvSpPr>
          <p:cNvPr id="224" name="rec224"/>
          <p:cNvSpPr/>
          <p:nvPr/>
        </p:nvSpPr>
        <p:spPr>
          <a:xfrm>
            <a:off x="4803543" y="2129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427A2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Clarificación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Interpretar solicitudes ambiguas</a:t>
            </a:r>
          </a:p>
        </p:txBody>
      </p:sp>
      <p:sp>
        <p:nvSpPr>
          <p:cNvPr id="225" name="rec225"/>
          <p:cNvSpPr/>
          <p:nvPr/>
        </p:nvSpPr>
        <p:spPr>
          <a:xfrm>
            <a:off x="6963543" y="2129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00649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Cognición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Análisis y soporte a decisiones</a:t>
            </a:r>
          </a:p>
        </p:txBody>
      </p:sp>
      <p:sp>
        <p:nvSpPr>
          <p:cNvPr id="226" name="rec226"/>
          <p:cNvSpPr/>
          <p:nvPr/>
        </p:nvSpPr>
        <p:spPr>
          <a:xfrm>
            <a:off x="4803543" y="272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94445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Comunicación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Interacciones usuario-sistema</a:t>
            </a:r>
          </a:p>
        </p:txBody>
      </p:sp>
      <p:sp>
        <p:nvSpPr>
          <p:cNvPr id="227" name="rec227"/>
          <p:cNvSpPr/>
          <p:nvPr/>
        </p:nvSpPr>
        <p:spPr>
          <a:xfrm>
            <a:off x="6963543" y="272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Coordinación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Orquestar agentes IA + humanos</a:t>
            </a:r>
          </a:p>
        </p:txBody>
      </p:sp>
      <p:sp>
        <p:nvSpPr>
          <p:cNvPr id="228" name="rec228"/>
          <p:cNvSpPr/>
          <p:nvPr/>
        </p:nvSpPr>
        <p:spPr>
          <a:xfrm>
            <a:off x="4803543" y="3359300"/>
            <a:ext cx="4200000" cy="7600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Gobernanza de IA — Módulo independiente en ITIL v5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Responsabilidad sobre outputs de IA</a:t>
            </a:r>
          </a:p>
          <a:p>
            <a:pPr algn="l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Transparencia en decisiones mediadas por IA</a:t>
            </a:r>
          </a:p>
          <a:p>
            <a:pPr algn="l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Rutas de escalamiento cuando falla coordinación entre agentes</a:t>
            </a:r>
          </a:p>
        </p:txBody>
      </p:sp>
      <p:sp>
        <p:nvSpPr>
          <p:cNvPr id="229" name="rec229"/>
          <p:cNvSpPr/>
          <p:nvPr/>
        </p:nvSpPr>
        <p:spPr>
          <a:xfrm>
            <a:off x="4803543" y="41793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50" b="1">
                <a:solidFill>
                  <a:srgbClr val="6B6B6B"/>
                </a:solidFill>
                <a:latin typeface="Reddit Sans"/>
                <a:ea typeface="Reddit Sans"/>
              </a:rPr>
              <a:t>Composición de ITIL v5:</a:t>
            </a:r>
          </a:p>
        </p:txBody>
      </p:sp>
      <p:sp>
        <p:nvSpPr>
          <p:cNvPr id="230" name="rec230"/>
          <p:cNvSpPr/>
          <p:nvPr/>
        </p:nvSpPr>
        <p:spPr>
          <a:xfrm>
            <a:off x="4803543" y="4409300"/>
            <a:ext cx="1680000" cy="300000"/>
          </a:xfrm>
          <a:prstGeom prst="rect">
            <a:avLst/>
          </a:prstGeom>
          <a:solidFill>
            <a:srgbClr val="20808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40% retenido</a:t>
            </a:r>
          </a:p>
        </p:txBody>
      </p:sp>
      <p:sp>
        <p:nvSpPr>
          <p:cNvPr id="231" name="rec231"/>
          <p:cNvSpPr/>
          <p:nvPr/>
        </p:nvSpPr>
        <p:spPr>
          <a:xfrm>
            <a:off x="6483543" y="4409300"/>
            <a:ext cx="1008000" cy="300000"/>
          </a:xfrm>
          <a:prstGeom prst="rect">
            <a:avLst/>
          </a:prstGeom>
          <a:solidFill>
            <a:srgbClr val="D19900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24% actualizado</a:t>
            </a:r>
          </a:p>
        </p:txBody>
      </p:sp>
      <p:sp>
        <p:nvSpPr>
          <p:cNvPr id="232" name="rec232"/>
          <p:cNvSpPr/>
          <p:nvPr/>
        </p:nvSpPr>
        <p:spPr>
          <a:xfrm>
            <a:off x="7491543" y="4409300"/>
            <a:ext cx="1512000" cy="300000"/>
          </a:xfrm>
          <a:prstGeom prst="rect">
            <a:avLst/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36% nuevo (6C AI)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BB5B61-8F8D-288B-89A1-B142AD6A750D}"/>
              </a:ext>
            </a:extLst>
          </p:cNvPr>
          <p:cNvSpPr txBox="1"/>
          <p:nvPr/>
        </p:nvSpPr>
        <p:spPr>
          <a:xfrm>
            <a:off x="7309758" y="4825093"/>
            <a:ext cx="1692728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dirty="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Fuente: </a:t>
            </a:r>
            <a:r>
              <a:rPr lang="en-US" sz="700" b="0" i="0" u="none" strike="noStrike" dirty="0" err="1">
                <a:solidFill>
                  <a:schemeClr val="tx1"/>
                </a:solidFill>
                <a:latin typeface="Reddit Sans Light"/>
                <a:ea typeface="-apple-system"/>
                <a:cs typeface="Reddit Sans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Rixmind</a:t>
            </a:r>
            <a:r>
              <a:rPr lang="en-US" sz="700" dirty="0" err="1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.y</a:t>
            </a:r>
            <a:r>
              <a:rPr lang="en-US" sz="700" dirty="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 </a:t>
            </a:r>
            <a:r>
              <a:rPr lang="en-US" sz="700" dirty="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Tideline Insights</a:t>
            </a:r>
            <a:endParaRPr lang="en-US" sz="700">
              <a:solidFill>
                <a:schemeClr val="tx1"/>
              </a:solidFill>
              <a:latin typeface="Reddit Sans Light"/>
              <a:cs typeface="Reddit Sans Ligh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2764B7-F15A-76AA-3504-B79640864FD9}"/>
              </a:ext>
            </a:extLst>
          </p:cNvPr>
          <p:cNvSpPr txBox="1"/>
          <p:nvPr/>
        </p:nvSpPr>
        <p:spPr>
          <a:xfrm>
            <a:off x="4847987" y="639465"/>
            <a:ext cx="3287486" cy="220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dirty="0" err="1">
                <a:solidFill>
                  <a:srgbClr val="555555"/>
                </a:solidFill>
                <a:latin typeface="Reddit Sans"/>
                <a:ea typeface="Reddit Sans"/>
              </a:rPr>
              <a:t>Conoc</a:t>
            </a:r>
            <a:r>
              <a:rPr lang="es-ES" sz="800" dirty="0">
                <a:solidFill>
                  <a:srgbClr val="555555"/>
                </a:solidFill>
                <a:latin typeface="Reddit Sans"/>
                <a:ea typeface="Reddit Sans"/>
              </a:rPr>
              <a:t>imiento e </a:t>
            </a:r>
            <a:r>
              <a:rPr lang="es-ES" sz="800" dirty="0" err="1">
                <a:solidFill>
                  <a:srgbClr val="555555"/>
                </a:solidFill>
                <a:latin typeface="Reddit Sans"/>
                <a:ea typeface="Reddit Sans"/>
              </a:rPr>
              <a:t>insight</a:t>
            </a:r>
            <a:r>
              <a:rPr lang="es-ES" sz="800" dirty="0">
                <a:solidFill>
                  <a:srgbClr val="555555"/>
                </a:solidFill>
                <a:latin typeface="Reddit Sans"/>
                <a:ea typeface="Reddit Sans"/>
              </a:rPr>
              <a:t> de valor para los procesos que no cubrimos</a:t>
            </a:r>
          </a:p>
        </p:txBody>
      </p:sp>
      <p:sp>
        <p:nvSpPr>
          <p:cNvPr id="5" name="Shape 25">
            <a:extLst>
              <a:ext uri="{FF2B5EF4-FFF2-40B4-BE49-F238E27FC236}">
                <a16:creationId xmlns:a16="http://schemas.microsoft.com/office/drawing/2014/main" id="{791F133A-44B3-E7A3-EB4C-22935F87D691}"/>
              </a:ext>
            </a:extLst>
          </p:cNvPr>
          <p:cNvSpPr/>
          <p:nvPr/>
        </p:nvSpPr>
        <p:spPr>
          <a:xfrm>
            <a:off x="2464425" y="1139428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5" descr="53d78b62.png">
            <a:extLst>
              <a:ext uri="{FF2B5EF4-FFF2-40B4-BE49-F238E27FC236}">
                <a16:creationId xmlns:a16="http://schemas.microsoft.com/office/drawing/2014/main" id="{2677F50E-5807-DBCB-7B4A-126BF4395E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4263" y="1213697"/>
            <a:ext cx="146277" cy="89808"/>
          </a:xfrm>
          <a:prstGeom prst="rect">
            <a:avLst/>
          </a:prstGeom>
        </p:spPr>
      </p:pic>
      <p:sp>
        <p:nvSpPr>
          <p:cNvPr id="9" name="Shape 25">
            <a:extLst>
              <a:ext uri="{FF2B5EF4-FFF2-40B4-BE49-F238E27FC236}">
                <a16:creationId xmlns:a16="http://schemas.microsoft.com/office/drawing/2014/main" id="{8AED887D-522E-9CFD-F73B-8EEB6A7F3FB9}"/>
              </a:ext>
            </a:extLst>
          </p:cNvPr>
          <p:cNvSpPr/>
          <p:nvPr/>
        </p:nvSpPr>
        <p:spPr>
          <a:xfrm>
            <a:off x="3482239" y="1514986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5" descr="53d78b62.png">
            <a:extLst>
              <a:ext uri="{FF2B5EF4-FFF2-40B4-BE49-F238E27FC236}">
                <a16:creationId xmlns:a16="http://schemas.microsoft.com/office/drawing/2014/main" id="{326E74E4-D12B-9FD6-541F-885D8B79F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2077" y="1589255"/>
            <a:ext cx="146277" cy="89808"/>
          </a:xfrm>
          <a:prstGeom prst="rect">
            <a:avLst/>
          </a:prstGeom>
        </p:spPr>
      </p:pic>
      <p:sp>
        <p:nvSpPr>
          <p:cNvPr id="11" name="Shape 25">
            <a:extLst>
              <a:ext uri="{FF2B5EF4-FFF2-40B4-BE49-F238E27FC236}">
                <a16:creationId xmlns:a16="http://schemas.microsoft.com/office/drawing/2014/main" id="{2DAFD415-5750-C0EA-9E12-CC2C603A482F}"/>
              </a:ext>
            </a:extLst>
          </p:cNvPr>
          <p:cNvSpPr/>
          <p:nvPr/>
        </p:nvSpPr>
        <p:spPr>
          <a:xfrm>
            <a:off x="1577238" y="3643142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70691B23-5FFF-7B09-3D37-1B1E4683BF03}"/>
              </a:ext>
            </a:extLst>
          </p:cNvPr>
          <p:cNvSpPr/>
          <p:nvPr/>
        </p:nvSpPr>
        <p:spPr>
          <a:xfrm>
            <a:off x="2535181" y="3969713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4C591689-D324-4311-D1A8-12A5AF004BEA}"/>
              </a:ext>
            </a:extLst>
          </p:cNvPr>
          <p:cNvSpPr/>
          <p:nvPr/>
        </p:nvSpPr>
        <p:spPr>
          <a:xfrm>
            <a:off x="3874124" y="2500143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5" descr="53d78b62.png">
            <a:extLst>
              <a:ext uri="{FF2B5EF4-FFF2-40B4-BE49-F238E27FC236}">
                <a16:creationId xmlns:a16="http://schemas.microsoft.com/office/drawing/2014/main" id="{F3FD0F5C-9810-5058-8D82-1BE51C83D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962" y="2574412"/>
            <a:ext cx="146277" cy="89808"/>
          </a:xfrm>
          <a:prstGeom prst="rect">
            <a:avLst/>
          </a:prstGeom>
        </p:spPr>
      </p:pic>
      <p:sp>
        <p:nvSpPr>
          <p:cNvPr id="17" name="Shape 25">
            <a:extLst>
              <a:ext uri="{FF2B5EF4-FFF2-40B4-BE49-F238E27FC236}">
                <a16:creationId xmlns:a16="http://schemas.microsoft.com/office/drawing/2014/main" id="{C14CA542-31D4-E41B-05DD-9F7A05E54C0A}"/>
              </a:ext>
            </a:extLst>
          </p:cNvPr>
          <p:cNvSpPr/>
          <p:nvPr/>
        </p:nvSpPr>
        <p:spPr>
          <a:xfrm>
            <a:off x="3574767" y="3626814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5" descr="53d78b62.png">
            <a:extLst>
              <a:ext uri="{FF2B5EF4-FFF2-40B4-BE49-F238E27FC236}">
                <a16:creationId xmlns:a16="http://schemas.microsoft.com/office/drawing/2014/main" id="{A365E88B-D0F2-250A-DED6-626FD67CA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605" y="3701083"/>
            <a:ext cx="146277" cy="89808"/>
          </a:xfrm>
          <a:prstGeom prst="rect">
            <a:avLst/>
          </a:prstGeom>
        </p:spPr>
      </p:pic>
      <p:sp>
        <p:nvSpPr>
          <p:cNvPr id="19" name="Shape 25">
            <a:extLst>
              <a:ext uri="{FF2B5EF4-FFF2-40B4-BE49-F238E27FC236}">
                <a16:creationId xmlns:a16="http://schemas.microsoft.com/office/drawing/2014/main" id="{6AA51429-A86F-C854-527F-A85CD7926411}"/>
              </a:ext>
            </a:extLst>
          </p:cNvPr>
          <p:cNvSpPr/>
          <p:nvPr/>
        </p:nvSpPr>
        <p:spPr>
          <a:xfrm>
            <a:off x="4668781" y="491728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5" descr="53d78b62.png">
            <a:extLst>
              <a:ext uri="{FF2B5EF4-FFF2-40B4-BE49-F238E27FC236}">
                <a16:creationId xmlns:a16="http://schemas.microsoft.com/office/drawing/2014/main" id="{88A69F69-2842-C6F4-1F58-C85B7E500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619" y="565997"/>
            <a:ext cx="146277" cy="89808"/>
          </a:xfrm>
          <a:prstGeom prst="rect">
            <a:avLst/>
          </a:prstGeom>
        </p:spPr>
      </p:pic>
      <p:sp>
        <p:nvSpPr>
          <p:cNvPr id="21" name="Shape 25">
            <a:extLst>
              <a:ext uri="{FF2B5EF4-FFF2-40B4-BE49-F238E27FC236}">
                <a16:creationId xmlns:a16="http://schemas.microsoft.com/office/drawing/2014/main" id="{23818E27-CB22-2873-2789-F960DFF54F94}"/>
              </a:ext>
            </a:extLst>
          </p:cNvPr>
          <p:cNvSpPr/>
          <p:nvPr/>
        </p:nvSpPr>
        <p:spPr>
          <a:xfrm>
            <a:off x="1054723" y="2516470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0323800B-679C-A6C2-5285-165F712A5926}"/>
              </a:ext>
            </a:extLst>
          </p:cNvPr>
          <p:cNvSpPr/>
          <p:nvPr/>
        </p:nvSpPr>
        <p:spPr>
          <a:xfrm>
            <a:off x="1452052" y="1547641"/>
            <a:ext cx="258195" cy="25275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Gráfico 22" descr="Marca de escudo contorno">
            <a:extLst>
              <a:ext uri="{FF2B5EF4-FFF2-40B4-BE49-F238E27FC236}">
                <a16:creationId xmlns:a16="http://schemas.microsoft.com/office/drawing/2014/main" id="{FABA96AF-DDCE-BB4D-4A0E-B16D0C044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0458" y="1586593"/>
            <a:ext cx="201386" cy="201384"/>
          </a:xfrm>
          <a:prstGeom prst="rect">
            <a:avLst/>
          </a:prstGeom>
        </p:spPr>
      </p:pic>
      <p:pic>
        <p:nvPicPr>
          <p:cNvPr id="24" name="Gráfico 23" descr="Marca de escudo contorno">
            <a:extLst>
              <a:ext uri="{FF2B5EF4-FFF2-40B4-BE49-F238E27FC236}">
                <a16:creationId xmlns:a16="http://schemas.microsoft.com/office/drawing/2014/main" id="{C0318EF8-2F96-AA03-D09F-1B9AACEC7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3129" y="2544536"/>
            <a:ext cx="201386" cy="201384"/>
          </a:xfrm>
          <a:prstGeom prst="rect">
            <a:avLst/>
          </a:prstGeom>
        </p:spPr>
      </p:pic>
      <p:pic>
        <p:nvPicPr>
          <p:cNvPr id="25" name="Gráfico 24" descr="Marca de escudo contorno">
            <a:extLst>
              <a:ext uri="{FF2B5EF4-FFF2-40B4-BE49-F238E27FC236}">
                <a16:creationId xmlns:a16="http://schemas.microsoft.com/office/drawing/2014/main" id="{839CF182-C4D4-F1E9-06FE-637A152DB6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5644" y="3671207"/>
            <a:ext cx="201386" cy="201384"/>
          </a:xfrm>
          <a:prstGeom prst="rect">
            <a:avLst/>
          </a:prstGeom>
        </p:spPr>
      </p:pic>
      <p:pic>
        <p:nvPicPr>
          <p:cNvPr id="26" name="Gráfico 25" descr="Marca de escudo contorno">
            <a:extLst>
              <a:ext uri="{FF2B5EF4-FFF2-40B4-BE49-F238E27FC236}">
                <a16:creationId xmlns:a16="http://schemas.microsoft.com/office/drawing/2014/main" id="{9BB8C132-8A55-0BC5-0EAF-C3492C6E6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3586" y="3997778"/>
            <a:ext cx="201386" cy="20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86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46302" y="1435895"/>
            <a:ext cx="2053829" cy="2300288"/>
          </a:xfrm>
          <a:prstGeom prst="rect">
            <a:avLst/>
          </a:prstGeom>
          <a:solidFill>
            <a:srgbClr val="4ACCE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4720" y="2126271"/>
            <a:ext cx="1836993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Evolución</a:t>
            </a:r>
            <a:r>
              <a:rPr lang="en-US" sz="1200" kern="0" spc="-37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Estratégica</a:t>
            </a:r>
            <a:endParaRPr lang="en-US" sz="1200" err="1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8164" y="2368266"/>
            <a:ext cx="1910105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Transformación de la mesa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 servicio de un costo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operativo a un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diferenciador competitivo.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pic>
        <p:nvPicPr>
          <p:cNvPr id="9" name="Image 0" descr="6b104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737" y="1656318"/>
            <a:ext cx="250031" cy="3286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71568" y="1435895"/>
            <a:ext cx="2053829" cy="2300288"/>
          </a:xfrm>
          <a:prstGeom prst="rect">
            <a:avLst/>
          </a:prstGeom>
          <a:solidFill>
            <a:srgbClr val="5CC0E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2637661" y="2126271"/>
            <a:ext cx="1721644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Estandarización</a:t>
            </a:r>
            <a:endParaRPr lang="en-US" sz="1200" err="1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02477" y="2368266"/>
            <a:ext cx="1792010" cy="963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Implementación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procesos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estandarizados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para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garantizar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consistencia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y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calidad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en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la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entrega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servicio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pic>
        <p:nvPicPr>
          <p:cNvPr id="13" name="Image 1" descr="1686ce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866" y="1645851"/>
            <a:ext cx="350044" cy="3571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96834" y="1435895"/>
            <a:ext cx="2053829" cy="2300288"/>
          </a:xfrm>
          <a:prstGeom prst="rect">
            <a:avLst/>
          </a:prstGeom>
          <a:solidFill>
            <a:srgbClr val="6FB3E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4741495" y="2102049"/>
            <a:ext cx="1764506" cy="1695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336"/>
              </a:lnSpc>
              <a:spcBef>
                <a:spcPts val="924"/>
              </a:spcBef>
            </a:pPr>
            <a:r>
              <a:rPr lang="en-US" sz="1150" kern="0" spc="-35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Inteligencia</a:t>
            </a:r>
            <a:r>
              <a:rPr lang="en-US" sz="1150" kern="0" spc="-35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 Artificial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703499" y="2331877"/>
            <a:ext cx="1840498" cy="7322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42"/>
              </a:lnSpc>
              <a:spcBef>
                <a:spcPts val="466"/>
              </a:spcBef>
            </a:pP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Integración de IA para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optimizar la resolución,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reducir el tiempo de espera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y potenciar el autoservicio.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pic>
        <p:nvPicPr>
          <p:cNvPr id="17" name="Image 2" descr="-123f6f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736" y="1594021"/>
            <a:ext cx="335756" cy="42862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722100" y="1435895"/>
            <a:ext cx="2053829" cy="2300288"/>
          </a:xfrm>
          <a:prstGeom prst="rect">
            <a:avLst/>
          </a:prstGeom>
          <a:solidFill>
            <a:srgbClr val="81A7E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/>
          <p:nvPr/>
        </p:nvSpPr>
        <p:spPr>
          <a:xfrm>
            <a:off x="6831042" y="2126271"/>
            <a:ext cx="1835944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Escalabilidad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791929" y="2368266"/>
            <a:ext cx="1914168" cy="963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Arquitectura diseñada para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adaptarse al crecimiento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del negocio y responder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dinámicamente a la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demanda.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pic>
        <p:nvPicPr>
          <p:cNvPr id="21" name="Image 3" descr="060471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6567" y="1608178"/>
            <a:ext cx="300038" cy="428625"/>
          </a:xfrm>
          <a:prstGeom prst="rect">
            <a:avLst/>
          </a:prstGeom>
        </p:spPr>
      </p:pic>
      <p:sp>
        <p:nvSpPr>
          <p:cNvPr id="29" name="Título 1">
            <a:extLst>
              <a:ext uri="{FF2B5EF4-FFF2-40B4-BE49-F238E27FC236}">
                <a16:creationId xmlns:a16="http://schemas.microsoft.com/office/drawing/2014/main" id="{D68F6702-9E35-68AC-3981-F297FCE8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Pilares de </a:t>
            </a:r>
            <a:r>
              <a:rPr lang="en-US" dirty="0" err="1"/>
              <a:t>Transformación</a:t>
            </a:r>
            <a:r>
              <a:rPr lang="en-US" dirty="0"/>
              <a:t> de la Mesa de Servicio de Nueva Generación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44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24C2-5851-4B30-A813-E41E5F7F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C7D09-6597-9A73-052C-BF55A5EC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3639000" cy="572700"/>
          </a:xfrm>
        </p:spPr>
        <p:txBody>
          <a:bodyPr>
            <a:normAutofit/>
          </a:bodyPr>
          <a:lstStyle/>
          <a:p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Diferencia</a:t>
            </a:r>
            <a:r>
              <a:rPr lang="en-US"/>
              <a:t> a </a:t>
            </a:r>
            <a:r>
              <a:rPr lang="en-US" err="1"/>
              <a:t>PersonalSoft</a:t>
            </a:r>
            <a:r>
              <a:rPr lang="en-US"/>
              <a:t>?</a:t>
            </a:r>
            <a:endParaRPr lang="es-CO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3F7E5399-AB8B-0CC3-BAFE-BC4DEC7817BA}"/>
              </a:ext>
            </a:extLst>
          </p:cNvPr>
          <p:cNvSpPr/>
          <p:nvPr/>
        </p:nvSpPr>
        <p:spPr>
          <a:xfrm>
            <a:off x="1047410" y="1523277"/>
            <a:ext cx="1071563" cy="1071563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0" descr="23a43ce2.png">
            <a:extLst>
              <a:ext uri="{FF2B5EF4-FFF2-40B4-BE49-F238E27FC236}">
                <a16:creationId xmlns:a16="http://schemas.microsoft.com/office/drawing/2014/main" id="{41476C43-838D-5395-6766-A4257D3C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17" y="1876975"/>
            <a:ext cx="421481" cy="357188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67DAA90A-80EF-E42D-4050-80A6E8ADD948}"/>
              </a:ext>
            </a:extLst>
          </p:cNvPr>
          <p:cNvSpPr/>
          <p:nvPr/>
        </p:nvSpPr>
        <p:spPr>
          <a:xfrm>
            <a:off x="254454" y="2666724"/>
            <a:ext cx="2657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de Madurez (N0-N5)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42D4E88-336B-F04F-F544-BBEF975D9B86}"/>
              </a:ext>
            </a:extLst>
          </p:cNvPr>
          <p:cNvSpPr/>
          <p:nvPr/>
        </p:nvSpPr>
        <p:spPr>
          <a:xfrm>
            <a:off x="204411" y="3021312"/>
            <a:ext cx="2822876" cy="14403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Aft>
                <a:spcPts val="200"/>
              </a:spcAft>
            </a:pP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estructurado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evaluar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</a:t>
            </a:r>
            <a:br>
              <a:rPr lang="en-US" sz="10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escalar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capacidades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tecnológicas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,</a:t>
            </a:r>
            <a:br>
              <a:rPr lang="en-US" sz="10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garant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izando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un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crecimiento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continuo y</a:t>
            </a:r>
            <a:b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medible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</a:t>
            </a:r>
            <a:endParaRPr lang="en-US" sz="10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6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niveles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claros (N0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a N5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Optimizado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)</a:t>
            </a:r>
            <a:endParaRPr lang="en-US" sz="10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17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practicas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operativas</a:t>
            </a:r>
            <a:endParaRPr lang="en-US" sz="10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519155E2-5407-A0FF-6341-7B62C30F89D8}"/>
              </a:ext>
            </a:extLst>
          </p:cNvPr>
          <p:cNvSpPr/>
          <p:nvPr/>
        </p:nvSpPr>
        <p:spPr>
          <a:xfrm>
            <a:off x="3976348" y="1523277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1" descr="-6ff4ae9e.png">
            <a:extLst>
              <a:ext uri="{FF2B5EF4-FFF2-40B4-BE49-F238E27FC236}">
                <a16:creationId xmlns:a16="http://schemas.microsoft.com/office/drawing/2014/main" id="{22176A99-9CBF-BF88-4F8D-F1501819E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704" y="1864422"/>
            <a:ext cx="521494" cy="385763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159BA64C-A6AB-FD21-09D3-E82FCABB4EFD}"/>
              </a:ext>
            </a:extLst>
          </p:cNvPr>
          <p:cNvSpPr/>
          <p:nvPr/>
        </p:nvSpPr>
        <p:spPr>
          <a:xfrm>
            <a:off x="3122670" y="2666724"/>
            <a:ext cx="277891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Operación gestionada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EB01E3E-E9CD-A0FA-17BC-0E51CBA8276E}"/>
              </a:ext>
            </a:extLst>
          </p:cNvPr>
          <p:cNvSpPr/>
          <p:nvPr/>
        </p:nvSpPr>
        <p:spPr>
          <a:xfrm>
            <a:off x="3066387" y="3021312"/>
            <a:ext cx="2956799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58"/>
              </a:spcBef>
            </a:pP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integrales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TI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permiten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10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los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clientes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delega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complejidad</a:t>
            </a:r>
            <a:b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para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enfocarse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sus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objetivos</a:t>
            </a:r>
            <a:b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negocio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Roles, RACI,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catálogo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, ANS/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XLA,gobierno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mensual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y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mejora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continua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condatos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s-ES" sz="1000">
              <a:latin typeface="Reddit Sans"/>
              <a:ea typeface="Reddit Sans"/>
              <a:cs typeface="Arial"/>
            </a:endParaRPr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1C261187-D52B-FE7A-269C-5CFB63641245}"/>
              </a:ext>
            </a:extLst>
          </p:cNvPr>
          <p:cNvSpPr/>
          <p:nvPr/>
        </p:nvSpPr>
        <p:spPr>
          <a:xfrm>
            <a:off x="6905285" y="1523277"/>
            <a:ext cx="1071563" cy="1071563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7" name="Image 2" descr="7f5c7a62.png">
            <a:extLst>
              <a:ext uri="{FF2B5EF4-FFF2-40B4-BE49-F238E27FC236}">
                <a16:creationId xmlns:a16="http://schemas.microsoft.com/office/drawing/2014/main" id="{33EC4EDE-F651-9304-15A2-D22758CEA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198" y="1876976"/>
            <a:ext cx="485775" cy="364331"/>
          </a:xfrm>
          <a:prstGeom prst="rect">
            <a:avLst/>
          </a:prstGeom>
        </p:spPr>
      </p:pic>
      <p:sp>
        <p:nvSpPr>
          <p:cNvPr id="39" name="Text 9">
            <a:extLst>
              <a:ext uri="{FF2B5EF4-FFF2-40B4-BE49-F238E27FC236}">
                <a16:creationId xmlns:a16="http://schemas.microsoft.com/office/drawing/2014/main" id="{9C03FED1-9CCF-7B4D-C7C1-2F078EF73B17}"/>
              </a:ext>
            </a:extLst>
          </p:cNvPr>
          <p:cNvSpPr/>
          <p:nvPr/>
        </p:nvSpPr>
        <p:spPr>
          <a:xfrm>
            <a:off x="6083754" y="2666724"/>
            <a:ext cx="271462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Inteligencia aplicada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F2E67AF8-7A4C-5763-498B-6599249FC76A}"/>
              </a:ext>
            </a:extLst>
          </p:cNvPr>
          <p:cNvSpPr/>
          <p:nvPr/>
        </p:nvSpPr>
        <p:spPr>
          <a:xfrm>
            <a:off x="6030463" y="3021312"/>
            <a:ext cx="2886521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Aft>
                <a:spcPts val="200"/>
              </a:spcAft>
            </a:pP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Integración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avanzada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KEDB y AIOps</a:t>
            </a:r>
            <a:b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para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optimizar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resolución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predecir</a:t>
            </a:r>
            <a:b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maximizar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eficiencia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Observabilidad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predictiva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desde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el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diseno</a:t>
            </a:r>
            <a:endParaRPr lang="es-ES" sz="1000"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Correlacion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automatica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alertas-incidentes</a:t>
            </a:r>
            <a:endParaRPr lang="en-US" sz="1000" kern="0" spc="-23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El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cliente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sabe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exactamente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esta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y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cuesta 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subir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</a:t>
            </a:r>
            <a:r>
              <a:rPr lang="en-US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n-US" sz="1000" kern="0" spc="-23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Bef>
                <a:spcPts val="458"/>
              </a:spcBef>
            </a:pPr>
            <a:endParaRPr lang="en-US" sz="10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12ADA9BB-4A9E-0367-1CF1-948E185EE846}"/>
              </a:ext>
            </a:extLst>
          </p:cNvPr>
          <p:cNvSpPr/>
          <p:nvPr/>
        </p:nvSpPr>
        <p:spPr>
          <a:xfrm>
            <a:off x="413317" y="664927"/>
            <a:ext cx="3680053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Factores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clave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impulsan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nuestra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propuesta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valor</a:t>
            </a:r>
            <a:endParaRPr lang="en-US" sz="1000">
              <a:latin typeface="Reddit Sans"/>
              <a:ea typeface="Reddit Sans"/>
              <a:cs typeface="Arial"/>
            </a:endParaRPr>
          </a:p>
        </p:txBody>
      </p:sp>
      <p:pic>
        <p:nvPicPr>
          <p:cNvPr id="3" name="Gráfico 2" descr="Diana con relleno sólido">
            <a:extLst>
              <a:ext uri="{FF2B5EF4-FFF2-40B4-BE49-F238E27FC236}">
                <a16:creationId xmlns:a16="http://schemas.microsoft.com/office/drawing/2014/main" id="{B532D1DA-62DB-AF5D-BEA5-FE51482BE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1" y="394606"/>
            <a:ext cx="783771" cy="734786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6C97A291-6DD5-2A8B-A083-00380257ABFF}"/>
              </a:ext>
            </a:extLst>
          </p:cNvPr>
          <p:cNvSpPr/>
          <p:nvPr/>
        </p:nvSpPr>
        <p:spPr>
          <a:xfrm>
            <a:off x="5430441" y="489581"/>
            <a:ext cx="3159919" cy="2083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s-ES" sz="1400" kern="0" spc="-81" dirty="0">
                <a:solidFill>
                  <a:srgbClr val="00B050"/>
                </a:solidFill>
                <a:latin typeface="Reddit Sans"/>
                <a:ea typeface="Reddit Sans"/>
              </a:rPr>
              <a:t>La promesa comercial: pasar de staff </a:t>
            </a:r>
            <a:r>
              <a:rPr lang="es-ES" sz="1400" kern="0" spc="-81" dirty="0" err="1">
                <a:solidFill>
                  <a:srgbClr val="00B050"/>
                </a:solidFill>
                <a:latin typeface="Reddit Sans"/>
                <a:ea typeface="Reddit Sans"/>
              </a:rPr>
              <a:t>augmentation</a:t>
            </a:r>
            <a:r>
              <a:rPr lang="es-ES" sz="1400" kern="0" spc="-81" dirty="0">
                <a:solidFill>
                  <a:srgbClr val="00B050"/>
                </a:solidFill>
                <a:latin typeface="Reddit Sans"/>
                <a:ea typeface="Reddit Sans"/>
              </a:rPr>
              <a:t> a un servicio gestionado, medible y evolutivo.</a:t>
            </a:r>
            <a:endParaRPr lang="en-US" sz="1400" kern="0" spc="-81">
              <a:solidFill>
                <a:srgbClr val="00B050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6989664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modelo reactivo">
            <a:extLst>
              <a:ext uri="{FF2B5EF4-FFF2-40B4-BE49-F238E27FC236}">
                <a16:creationId xmlns:a16="http://schemas.microsoft.com/office/drawing/2014/main" id="{63B05839-3D71-AE88-305C-0E928050B2A8}"/>
              </a:ext>
            </a:extLst>
          </p:cNvPr>
          <p:cNvSpPr txBox="1"/>
          <p:nvPr/>
        </p:nvSpPr>
        <p:spPr>
          <a:xfrm>
            <a:off x="372836" y="4171949"/>
            <a:ext cx="8523064" cy="664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</p:txBody>
      </p:sp>
      <p:sp>
        <p:nvSpPr>
          <p:cNvPr id="111" name="Text 18">
            <a:extLst>
              <a:ext uri="{FF2B5EF4-FFF2-40B4-BE49-F238E27FC236}">
                <a16:creationId xmlns:a16="http://schemas.microsoft.com/office/drawing/2014/main" id="{571A3787-9D32-BB3B-CFF1-3FDDDE399B63}"/>
              </a:ext>
            </a:extLst>
          </p:cNvPr>
          <p:cNvSpPr/>
          <p:nvPr/>
        </p:nvSpPr>
        <p:spPr>
          <a:xfrm>
            <a:off x="370454" y="485020"/>
            <a:ext cx="9388248" cy="346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406"/>
              </a:lnSpc>
            </a:pP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Objetivo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: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Reducción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costos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operativos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mejora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experiencia del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usuario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final a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través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la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transferencia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8BADBF-C619-14FE-378A-ED427D78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0" y="200392"/>
            <a:ext cx="7111542" cy="572700"/>
          </a:xfrm>
        </p:spPr>
        <p:txBody>
          <a:bodyPr>
            <a:normAutofit/>
          </a:bodyPr>
          <a:lstStyle/>
          <a:p>
            <a:r>
              <a:rPr lang="es-CO"/>
              <a:t>Nuestro Servicio de Mesa de Servicio de Nueva Generación</a:t>
            </a:r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58221" y="2689517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13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371136" y="2973250"/>
            <a:ext cx="1445760" cy="14821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Portal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base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FAQ, chatbot, IA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generativa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817574" y="2716731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68587" y="3109322"/>
            <a:ext cx="1271589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225914" y="2700402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089843" y="3109323"/>
            <a:ext cx="1592715" cy="6731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  <a:endParaRPr lang="es-ES"/>
          </a:p>
          <a:p>
            <a:pPr 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841081" y="2700401"/>
            <a:ext cx="994003" cy="2702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 Ingeniería)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91032" y="3217223"/>
            <a:ext cx="1299543" cy="6731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Ingenieros senior,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arquitectos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resuelven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 causa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raíz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292964" y="2716730"/>
            <a:ext cx="1070202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292963" y="3207293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762534" y="2700401"/>
            <a:ext cx="994003" cy="3854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88364" y="32181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1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078289" y="4880937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5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29" y="1028700"/>
            <a:ext cx="2682879" cy="3537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16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159579" y="1028700"/>
            <a:ext cx="2682879" cy="3537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17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5959929" y="1028700"/>
            <a:ext cx="2683629" cy="353786"/>
          </a:xfrm>
          <a:prstGeom prst="rect">
            <a:avLst/>
          </a:prstGeom>
          <a:solidFill>
            <a:srgbClr val="215578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chemeClr val="bg1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119" name="text">
            <a:extLst>
              <a:ext uri="{FF2B5EF4-FFF2-40B4-BE49-F238E27FC236}">
                <a16:creationId xmlns:a16="http://schemas.microsoft.com/office/drawing/2014/main" id="{6A0163D3-21EE-1E11-51FD-D7661AE05DB5}"/>
              </a:ext>
            </a:extLst>
          </p:cNvPr>
          <p:cNvSpPr>
            <a:spLocks noGrp="1"/>
          </p:cNvSpPr>
          <p:nvPr/>
        </p:nvSpPr>
        <p:spPr>
          <a:xfrm>
            <a:off x="457201" y="4446816"/>
            <a:ext cx="1521276" cy="3891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Deflexión &gt;30%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Disponible 24x7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Resuelve solicitudes frecuentes</a:t>
            </a:r>
          </a:p>
        </p:txBody>
      </p:sp>
      <p:sp>
        <p:nvSpPr>
          <p:cNvPr id="121" name="text">
            <a:extLst>
              <a:ext uri="{FF2B5EF4-FFF2-40B4-BE49-F238E27FC236}">
                <a16:creationId xmlns:a16="http://schemas.microsoft.com/office/drawing/2014/main" id="{3AFE1D91-0A1E-C722-7EDC-B63FC372E59A}"/>
              </a:ext>
            </a:extLst>
          </p:cNvPr>
          <p:cNvSpPr>
            <a:spLocks noGrp="1"/>
          </p:cNvSpPr>
          <p:nvPr/>
        </p:nvSpPr>
        <p:spPr>
          <a:xfrm>
            <a:off x="1773011" y="4174671"/>
            <a:ext cx="1374320" cy="661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FCR &lt;65%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MTTR &gt;12h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Sin N0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Sin catálogo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Registro y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categorización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Comunicación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al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usuar</a:t>
            </a:r>
            <a:r>
              <a:rPr sz="600" b="0" err="1">
                <a:solidFill>
                  <a:srgbClr val="172033"/>
                </a:solidFill>
                <a:latin typeface="Reddit Sans"/>
                <a:ea typeface="Reddit Sans"/>
              </a:rPr>
              <a:t>io</a:t>
            </a:r>
          </a:p>
        </p:txBody>
      </p:sp>
      <p:sp>
        <p:nvSpPr>
          <p:cNvPr id="123" name="text">
            <a:extLst>
              <a:ext uri="{FF2B5EF4-FFF2-40B4-BE49-F238E27FC236}">
                <a16:creationId xmlns:a16="http://schemas.microsoft.com/office/drawing/2014/main" id="{547BC0BF-FA4F-37FF-8A9D-B708AC4C5B20}"/>
              </a:ext>
            </a:extLst>
          </p:cNvPr>
          <p:cNvSpPr>
            <a:spLocks noGrp="1"/>
          </p:cNvSpPr>
          <p:nvPr/>
        </p:nvSpPr>
        <p:spPr>
          <a:xfrm>
            <a:off x="3175908" y="4174671"/>
            <a:ext cx="1162050" cy="4925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65–74%, MTTR 8–12h</a:t>
            </a:r>
            <a:endParaRPr lang="es-ES"/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SLA, Catálogo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CMDB, KPI, 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Diagnóstico avanzado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Soporte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aplicativo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/campo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Coordinación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proveedores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5" name="text">
            <a:extLst>
              <a:ext uri="{FF2B5EF4-FFF2-40B4-BE49-F238E27FC236}">
                <a16:creationId xmlns:a16="http://schemas.microsoft.com/office/drawing/2014/main" id="{794BC2E2-347C-8C8B-051E-E54E1FE8FF29}"/>
              </a:ext>
            </a:extLst>
          </p:cNvPr>
          <p:cNvSpPr>
            <a:spLocks noGrp="1"/>
          </p:cNvSpPr>
          <p:nvPr/>
        </p:nvSpPr>
        <p:spPr>
          <a:xfrm>
            <a:off x="4742090" y="4446815"/>
            <a:ext cx="1162050" cy="3401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≥75%, MTTR 4–8h,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Deflection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20–35% N0 activo KCS, Gobierno formal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7" name="text">
            <a:extLst>
              <a:ext uri="{FF2B5EF4-FFF2-40B4-BE49-F238E27FC236}">
                <a16:creationId xmlns:a16="http://schemas.microsoft.com/office/drawing/2014/main" id="{53F00BD8-6D22-3BE4-05A1-97E1A6CCB8CE}"/>
              </a:ext>
            </a:extLst>
          </p:cNvPr>
          <p:cNvSpPr>
            <a:spLocks noGrp="1"/>
          </p:cNvSpPr>
          <p:nvPr/>
        </p:nvSpPr>
        <p:spPr>
          <a:xfrm>
            <a:off x="6199415" y="4376058"/>
            <a:ext cx="1162050" cy="487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≥80%, MTTR &lt;4h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Deflection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35–55% CSAT ≥88%, IA +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AIOps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XLA medidos DEX monitoreado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01771033-E681-61BD-E911-35B1AAC59CCC}"/>
              </a:ext>
            </a:extLst>
          </p:cNvPr>
          <p:cNvSpPr txBox="1"/>
          <p:nvPr/>
        </p:nvSpPr>
        <p:spPr>
          <a:xfrm>
            <a:off x="375559" y="3867151"/>
            <a:ext cx="8518069" cy="3077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s-ES" sz="700" b="1" i="0" u="none" strike="noStrike" baseline="0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Modelo de Soporte </a:t>
            </a:r>
            <a:r>
              <a:rPr lang="es-ES" sz="700" b="0" i="0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​</a:t>
            </a:r>
            <a:endParaRPr lang="es-ES">
              <a:solidFill>
                <a:schemeClr val="tx1"/>
              </a:solidFill>
            </a:endParaRPr>
          </a:p>
          <a:p>
            <a:pPr algn="ctr" rtl="0"/>
            <a:r>
              <a:rPr lang="en-US" sz="700" b="1" i="0" u="none" strike="noStrike" baseline="0" dirty="0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Shift-left: resolver antes, </a:t>
            </a:r>
            <a:r>
              <a:rPr lang="en-US" sz="700" b="1" i="0" u="none" strike="noStrike" baseline="0" dirty="0" err="1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escalar</a:t>
            </a:r>
            <a:r>
              <a:rPr lang="en-US" sz="700" b="1" i="0" u="none" strike="noStrike" baseline="0" dirty="0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 </a:t>
            </a:r>
            <a:r>
              <a:rPr lang="en-US" sz="700" b="1" i="0" u="none" strike="noStrike" baseline="0" dirty="0" err="1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mejor</a:t>
            </a:r>
            <a:r>
              <a:rPr lang="en-US" sz="700" b="1" i="0" u="none" strike="noStrike" baseline="0" dirty="0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 y </a:t>
            </a:r>
            <a:r>
              <a:rPr lang="en-US" sz="700" b="1" i="0" u="none" strike="noStrike" baseline="0" dirty="0" err="1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dejar</a:t>
            </a:r>
            <a:r>
              <a:rPr lang="en-US" sz="700" b="1" i="0" u="none" strike="noStrike" baseline="0" dirty="0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 </a:t>
            </a:r>
            <a:r>
              <a:rPr lang="en-US" sz="700" b="1" i="0" u="none" strike="noStrike" baseline="0" dirty="0" err="1">
                <a:solidFill>
                  <a:schemeClr val="tx1"/>
                </a:solidFill>
                <a:latin typeface="Reddit Sans"/>
                <a:ea typeface="Segoe UI"/>
                <a:cs typeface="Segoe UI"/>
              </a:rPr>
              <a:t>evidencia</a:t>
            </a:r>
            <a:endParaRPr lang="en-US" sz="700" b="1" i="0" u="none" strike="noStrike" baseline="0" dirty="0">
              <a:solidFill>
                <a:schemeClr val="tx1"/>
              </a:solidFill>
              <a:latin typeface="Reddit Sans"/>
              <a:ea typeface="Segoe UI"/>
              <a:cs typeface="Segoe U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96091D-9F50-1CD6-469D-68CA4CF1A06D}"/>
              </a:ext>
            </a:extLst>
          </p:cNvPr>
          <p:cNvSpPr txBox="1"/>
          <p:nvPr/>
        </p:nvSpPr>
        <p:spPr>
          <a:xfrm>
            <a:off x="7560129" y="4275365"/>
            <a:ext cx="117021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" dirty="0">
                <a:solidFill>
                  <a:srgbClr val="172033"/>
                </a:solidFill>
                <a:latin typeface="Reddit Sans"/>
                <a:ea typeface="Reddit Sans"/>
              </a:rPr>
              <a:t>FCR ≥85%, MTTR &lt;2h, Deflection ≥55%, CSAT ≥92 ( 50% tickets sin </a:t>
            </a:r>
            <a:r>
              <a:rPr lang="en-US" sz="600" dirty="0" err="1">
                <a:solidFill>
                  <a:srgbClr val="172033"/>
                </a:solidFill>
                <a:latin typeface="Reddit Sans"/>
                <a:ea typeface="Reddit Sans"/>
              </a:rPr>
              <a:t>agente</a:t>
            </a:r>
            <a:r>
              <a:rPr lang="en-US" sz="600" dirty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lang="en-US" sz="600" dirty="0" err="1">
                <a:solidFill>
                  <a:srgbClr val="172033"/>
                </a:solidFill>
                <a:latin typeface="Reddit Sans"/>
                <a:ea typeface="Reddit Sans"/>
              </a:rPr>
              <a:t>humano</a:t>
            </a:r>
            <a:r>
              <a:rPr lang="en-US" sz="600" dirty="0">
                <a:solidFill>
                  <a:srgbClr val="172033"/>
                </a:solidFill>
                <a:latin typeface="Reddit Sans"/>
                <a:ea typeface="Reddit Sans"/>
              </a:rPr>
              <a:t>), Pricing </a:t>
            </a:r>
            <a:r>
              <a:rPr lang="en-US" sz="600" dirty="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lang="en-US" sz="600" dirty="0">
                <a:solidFill>
                  <a:srgbClr val="172033"/>
                </a:solidFill>
                <a:latin typeface="Reddit Sans"/>
                <a:ea typeface="Reddit Sans"/>
              </a:rPr>
              <a:t> outcomes Next Gen</a:t>
            </a:r>
            <a:endParaRPr lang="es-ES" dirty="0"/>
          </a:p>
          <a:p>
            <a:pPr algn="ctr"/>
            <a:endParaRPr lang="es-ES"/>
          </a:p>
        </p:txBody>
      </p:sp>
      <p:pic>
        <p:nvPicPr>
          <p:cNvPr id="7" name="Image 0" descr="-5107849e.png">
            <a:extLst>
              <a:ext uri="{FF2B5EF4-FFF2-40B4-BE49-F238E27FC236}">
                <a16:creationId xmlns:a16="http://schemas.microsoft.com/office/drawing/2014/main" id="{D7030BB5-D81F-8A9B-D14D-E4816EDD8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02" y="1737590"/>
            <a:ext cx="1587953" cy="892969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CE0E936A-956B-122D-BFA8-E372482D127B}"/>
              </a:ext>
            </a:extLst>
          </p:cNvPr>
          <p:cNvSpPr/>
          <p:nvPr/>
        </p:nvSpPr>
        <p:spPr>
          <a:xfrm>
            <a:off x="10678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12" name="Image 1" descr="3c0be2e2.png">
            <a:extLst>
              <a:ext uri="{FF2B5EF4-FFF2-40B4-BE49-F238E27FC236}">
                <a16:creationId xmlns:a16="http://schemas.microsoft.com/office/drawing/2014/main" id="{8EF2DF72-B7CA-CF2D-D74B-A51776072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147" y="1653874"/>
            <a:ext cx="150019" cy="171450"/>
          </a:xfrm>
          <a:prstGeom prst="rect">
            <a:avLst/>
          </a:prstGeom>
        </p:spPr>
      </p:pic>
      <p:pic>
        <p:nvPicPr>
          <p:cNvPr id="14" name="Image 2" descr="-664449e.png">
            <a:extLst>
              <a:ext uri="{FF2B5EF4-FFF2-40B4-BE49-F238E27FC236}">
                <a16:creationId xmlns:a16="http://schemas.microsoft.com/office/drawing/2014/main" id="{A1582877-2845-A03C-32D2-1A8596710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866" y="1737590"/>
            <a:ext cx="1587953" cy="892969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8D275D42-FC06-CB3B-ED05-1FDA82A995D0}"/>
              </a:ext>
            </a:extLst>
          </p:cNvPr>
          <p:cNvSpPr/>
          <p:nvPr/>
        </p:nvSpPr>
        <p:spPr>
          <a:xfrm>
            <a:off x="3380355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311DA5D-85F9-EF7E-0DBC-696CBCB217F4}"/>
              </a:ext>
            </a:extLst>
          </p:cNvPr>
          <p:cNvSpPr/>
          <p:nvPr/>
        </p:nvSpPr>
        <p:spPr>
          <a:xfrm>
            <a:off x="3922599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21" name="Image 3" descr="327946a2.png">
            <a:extLst>
              <a:ext uri="{FF2B5EF4-FFF2-40B4-BE49-F238E27FC236}">
                <a16:creationId xmlns:a16="http://schemas.microsoft.com/office/drawing/2014/main" id="{89AAF305-04C7-A7A6-1B1E-572C4489F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9452" y="1654921"/>
            <a:ext cx="128588" cy="164306"/>
          </a:xfrm>
          <a:prstGeom prst="rect">
            <a:avLst/>
          </a:prstGeom>
        </p:spPr>
      </p:pic>
      <p:pic>
        <p:nvPicPr>
          <p:cNvPr id="23" name="Image 4" descr="-63bd839e.png">
            <a:extLst>
              <a:ext uri="{FF2B5EF4-FFF2-40B4-BE49-F238E27FC236}">
                <a16:creationId xmlns:a16="http://schemas.microsoft.com/office/drawing/2014/main" id="{097DBBD1-C1FE-AD50-E484-99B251D98C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6288" y="1737590"/>
            <a:ext cx="1587953" cy="892969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8819F641-ED11-F5E7-B494-AD9088894EB1}"/>
              </a:ext>
            </a:extLst>
          </p:cNvPr>
          <p:cNvSpPr/>
          <p:nvPr/>
        </p:nvSpPr>
        <p:spPr>
          <a:xfrm>
            <a:off x="4819991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Proactivo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E9735C04-2AAB-A364-8A0B-4AAFAA048837}"/>
              </a:ext>
            </a:extLst>
          </p:cNvPr>
          <p:cNvSpPr/>
          <p:nvPr/>
        </p:nvSpPr>
        <p:spPr>
          <a:xfrm>
            <a:off x="5318692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31" name="Image 5" descr="-26c90fde.png">
            <a:extLst>
              <a:ext uri="{FF2B5EF4-FFF2-40B4-BE49-F238E27FC236}">
                <a16:creationId xmlns:a16="http://schemas.microsoft.com/office/drawing/2014/main" id="{DB1CF924-B9A3-50B7-8B36-3EFDC4764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385" y="1649689"/>
            <a:ext cx="178594" cy="178594"/>
          </a:xfrm>
          <a:prstGeom prst="rect">
            <a:avLst/>
          </a:prstGeom>
        </p:spPr>
      </p:pic>
      <p:pic>
        <p:nvPicPr>
          <p:cNvPr id="33" name="Image 6" descr="-5a47b8de.png">
            <a:extLst>
              <a:ext uri="{FF2B5EF4-FFF2-40B4-BE49-F238E27FC236}">
                <a16:creationId xmlns:a16="http://schemas.microsoft.com/office/drawing/2014/main" id="{D2B6653F-E423-32E1-9D6C-0D06F169B9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8709" y="1737590"/>
            <a:ext cx="1587953" cy="892969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2ED1896B-6CEA-F362-6EF4-FC81D471FCA4}"/>
              </a:ext>
            </a:extLst>
          </p:cNvPr>
          <p:cNvSpPr/>
          <p:nvPr/>
        </p:nvSpPr>
        <p:spPr>
          <a:xfrm>
            <a:off x="6194312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Predictivo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3EF448C5-3034-AA2D-ED42-2518C9EF93E7}"/>
              </a:ext>
            </a:extLst>
          </p:cNvPr>
          <p:cNvSpPr/>
          <p:nvPr/>
        </p:nvSpPr>
        <p:spPr>
          <a:xfrm>
            <a:off x="6731113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39" name="Image 7" descr="-38c1a09e.png">
            <a:extLst>
              <a:ext uri="{FF2B5EF4-FFF2-40B4-BE49-F238E27FC236}">
                <a16:creationId xmlns:a16="http://schemas.microsoft.com/office/drawing/2014/main" id="{F396E1C1-A8CE-901C-95AC-22936F3A8F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8549" y="1676896"/>
            <a:ext cx="142875" cy="121444"/>
          </a:xfrm>
          <a:prstGeom prst="rect">
            <a:avLst/>
          </a:prstGeom>
        </p:spPr>
      </p:pic>
      <p:pic>
        <p:nvPicPr>
          <p:cNvPr id="41" name="Image 8" descr="213ef762.png">
            <a:extLst>
              <a:ext uri="{FF2B5EF4-FFF2-40B4-BE49-F238E27FC236}">
                <a16:creationId xmlns:a16="http://schemas.microsoft.com/office/drawing/2014/main" id="{5F70A49D-A042-9267-5520-7A9BFD59D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5687" y="1737590"/>
            <a:ext cx="1593396" cy="892969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903377EE-A204-8525-2591-F8E74F4C0951}"/>
              </a:ext>
            </a:extLst>
          </p:cNvPr>
          <p:cNvSpPr/>
          <p:nvPr/>
        </p:nvSpPr>
        <p:spPr>
          <a:xfrm>
            <a:off x="7672048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Autonomo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19CC8D3-4053-57DD-6225-E9BC171FB24F}"/>
              </a:ext>
            </a:extLst>
          </p:cNvPr>
          <p:cNvSpPr/>
          <p:nvPr/>
        </p:nvSpPr>
        <p:spPr>
          <a:xfrm>
            <a:off x="81163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</p:sp>
      <p:pic>
        <p:nvPicPr>
          <p:cNvPr id="47" name="Image 9" descr="0-42f65e.png">
            <a:extLst>
              <a:ext uri="{FF2B5EF4-FFF2-40B4-BE49-F238E27FC236}">
                <a16:creationId xmlns:a16="http://schemas.microsoft.com/office/drawing/2014/main" id="{EF30B9F6-D122-74A9-CB1D-5FA2EFD46A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9570" y="1664340"/>
            <a:ext cx="150019" cy="150019"/>
          </a:xfrm>
          <a:prstGeom prst="rect">
            <a:avLst/>
          </a:prstGeom>
        </p:spPr>
      </p:pic>
      <p:pic>
        <p:nvPicPr>
          <p:cNvPr id="49" name="Image 2" descr="-664449e.png">
            <a:extLst>
              <a:ext uri="{FF2B5EF4-FFF2-40B4-BE49-F238E27FC236}">
                <a16:creationId xmlns:a16="http://schemas.microsoft.com/office/drawing/2014/main" id="{F61E15C5-C1B7-5717-48D6-6A9F268CDE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609" y="1737590"/>
            <a:ext cx="1587953" cy="892969"/>
          </a:xfrm>
          <a:prstGeom prst="rect">
            <a:avLst/>
          </a:prstGeom>
        </p:spPr>
      </p:pic>
      <p:sp>
        <p:nvSpPr>
          <p:cNvPr id="51" name="Shape 7">
            <a:extLst>
              <a:ext uri="{FF2B5EF4-FFF2-40B4-BE49-F238E27FC236}">
                <a16:creationId xmlns:a16="http://schemas.microsoft.com/office/drawing/2014/main" id="{F7C4A675-DBE4-E8F0-463F-AEF61CBEE550}"/>
              </a:ext>
            </a:extLst>
          </p:cNvPr>
          <p:cNvSpPr/>
          <p:nvPr/>
        </p:nvSpPr>
        <p:spPr>
          <a:xfrm>
            <a:off x="2387713" y="15372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53" name="Image 3" descr="327946a2.png">
            <a:extLst>
              <a:ext uri="{FF2B5EF4-FFF2-40B4-BE49-F238E27FC236}">
                <a16:creationId xmlns:a16="http://schemas.microsoft.com/office/drawing/2014/main" id="{F1C21463-EA58-3108-134A-8037AFA27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566" y="1633149"/>
            <a:ext cx="128588" cy="164306"/>
          </a:xfrm>
          <a:prstGeom prst="rect">
            <a:avLst/>
          </a:prstGeom>
        </p:spPr>
      </p:pic>
      <p:sp>
        <p:nvSpPr>
          <p:cNvPr id="56" name="Text 2">
            <a:extLst>
              <a:ext uri="{FF2B5EF4-FFF2-40B4-BE49-F238E27FC236}">
                <a16:creationId xmlns:a16="http://schemas.microsoft.com/office/drawing/2014/main" id="{B1C886E2-3106-45EE-9F68-BCD9BBE6C2FD}"/>
              </a:ext>
            </a:extLst>
          </p:cNvPr>
          <p:cNvSpPr/>
          <p:nvPr/>
        </p:nvSpPr>
        <p:spPr>
          <a:xfrm>
            <a:off x="1846148" y="19896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(Ad-hoc/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Reactivo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4D3FF078-130B-5832-985C-9EE82C25E355}"/>
              </a:ext>
            </a:extLst>
          </p:cNvPr>
          <p:cNvSpPr/>
          <p:nvPr/>
        </p:nvSpPr>
        <p:spPr>
          <a:xfrm>
            <a:off x="420118" y="20222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kern="0" spc="-81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37FE7B86-FD12-E2EA-3CA6-6E8E7B52B529}"/>
              </a:ext>
            </a:extLst>
          </p:cNvPr>
          <p:cNvSpPr txBox="1"/>
          <p:nvPr/>
        </p:nvSpPr>
        <p:spPr>
          <a:xfrm>
            <a:off x="375558" y="3638550"/>
            <a:ext cx="1453243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s-ES" sz="600" b="1" i="0" u="none" strike="noStrike" baseline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N0: </a:t>
            </a:r>
            <a:r>
              <a:rPr lang="es-ES" sz="600" b="1" i="0" u="none" strike="noStrike" baseline="0" dirty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Banking</a:t>
            </a:r>
            <a:r>
              <a:rPr lang="es-ES" sz="600" b="1" i="0" u="none" strike="noStrike" baseline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</a:t>
            </a:r>
            <a:r>
              <a:rPr lang="es-ES" sz="600" b="1" i="0" u="none" strike="noStrike" baseline="0" dirty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solution</a:t>
            </a:r>
            <a:r>
              <a:rPr lang="en-US" sz="600" b="0" i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  <a:endParaRPr lang="es-ES" dirty="0"/>
          </a:p>
          <a:p>
            <a:pPr algn="l" rtl="0"/>
            <a:r>
              <a:rPr lang="es-ES" sz="600" b="0" i="0" u="none" strike="noStrike" baseline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Radar para temas regulatorios del estado, ministerios (XM). </a:t>
            </a:r>
            <a:r>
              <a:rPr lang="es-ES" sz="600" b="0" i="0" u="none" strike="noStrike" baseline="0" dirty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Multi-industria</a:t>
            </a:r>
            <a:r>
              <a:rPr lang="es-ES" sz="600" b="0" i="0" u="none" strike="noStrike" baseline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con bases de conocimiento que la hacen especializada.</a:t>
            </a:r>
            <a:r>
              <a:rPr lang="en-US" sz="600" b="0" i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s-ES" sz="600" b="0" i="0" u="none" strike="noStrike" baseline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Anticipar eventos y radar para </a:t>
            </a:r>
            <a:r>
              <a:rPr lang="es-ES" sz="600" b="0" i="0" u="none" strike="noStrike" baseline="0" dirty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compomientos</a:t>
            </a:r>
            <a:r>
              <a:rPr lang="es-ES" sz="600" b="0" i="0" u="none" strike="noStrike" baseline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inusuales</a:t>
            </a:r>
          </a:p>
        </p:txBody>
      </p:sp>
    </p:spTree>
    <p:extLst>
      <p:ext uri="{BB962C8B-B14F-4D97-AF65-F5344CB8AC3E}">
        <p14:creationId xmlns:p14="http://schemas.microsoft.com/office/powerpoint/2010/main" val="4116353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9403F-FC2E-D77A-0F0C-103BCFB5B29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/>
          </a:solidFill>
        </p:spPr>
        <p:txBody>
          <a:bodyPr/>
          <a:lstStyle/>
          <a:p>
            <a:r>
              <a:rPr lang="es-ES"/>
              <a:t>RFP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43381A-04EF-0DFB-1C88-4B5EAC50A922}"/>
              </a:ext>
            </a:extLst>
          </p:cNvPr>
          <p:cNvSpPr txBox="1"/>
          <p:nvPr/>
        </p:nvSpPr>
        <p:spPr>
          <a:xfrm>
            <a:off x="471066" y="2444958"/>
            <a:ext cx="147501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>
                <a:highlight>
                  <a:srgbClr val="FFFF00"/>
                </a:highlight>
              </a:rPr>
              <a:t>Un servicio pequeño para responder a una capacidad pequeña, y supera la barrera de entrada.  por un tiempo x si el otro proveedor se desbordo en </a:t>
            </a:r>
            <a:r>
              <a:rPr lang="es-ES" sz="800" err="1">
                <a:highlight>
                  <a:srgbClr val="FFFF00"/>
                </a:highlight>
              </a:rPr>
              <a:t>capacid</a:t>
            </a:r>
            <a:r>
              <a:rPr lang="es-ES" sz="800">
                <a:highlight>
                  <a:srgbClr val="FFFF00"/>
                </a:highlight>
              </a:rPr>
              <a:t>ad.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8727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4">
            <a:extLst>
              <a:ext uri="{FF2B5EF4-FFF2-40B4-BE49-F238E27FC236}">
                <a16:creationId xmlns:a16="http://schemas.microsoft.com/office/drawing/2014/main" id="{CB511400-F229-BAC6-42B8-ECED4C310BC8}"/>
              </a:ext>
            </a:extLst>
          </p:cNvPr>
          <p:cNvSpPr/>
          <p:nvPr/>
        </p:nvSpPr>
        <p:spPr>
          <a:xfrm>
            <a:off x="351745" y="1675381"/>
            <a:ext cx="2053829" cy="2648630"/>
          </a:xfrm>
          <a:prstGeom prst="rect">
            <a:avLst/>
          </a:prstGeom>
          <a:solidFill>
            <a:srgbClr val="4ACCE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07ACC083-B532-C457-72C8-86F96CE7FDDB}"/>
              </a:ext>
            </a:extLst>
          </p:cNvPr>
          <p:cNvSpPr/>
          <p:nvPr/>
        </p:nvSpPr>
        <p:spPr>
          <a:xfrm>
            <a:off x="2477011" y="1675381"/>
            <a:ext cx="2053829" cy="2648630"/>
          </a:xfrm>
          <a:prstGeom prst="rect">
            <a:avLst/>
          </a:prstGeom>
          <a:solidFill>
            <a:srgbClr val="5CC0E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4503163C-1193-FB3F-F6BA-CD9C1B36622F}"/>
              </a:ext>
            </a:extLst>
          </p:cNvPr>
          <p:cNvSpPr/>
          <p:nvPr/>
        </p:nvSpPr>
        <p:spPr>
          <a:xfrm>
            <a:off x="4602277" y="1675381"/>
            <a:ext cx="2053829" cy="2648630"/>
          </a:xfrm>
          <a:prstGeom prst="rect">
            <a:avLst/>
          </a:prstGeom>
          <a:solidFill>
            <a:srgbClr val="6FB3E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A6ABB46D-CA31-1415-F77A-E18E693F3262}"/>
              </a:ext>
            </a:extLst>
          </p:cNvPr>
          <p:cNvSpPr/>
          <p:nvPr/>
        </p:nvSpPr>
        <p:spPr>
          <a:xfrm>
            <a:off x="6727543" y="1675381"/>
            <a:ext cx="2053829" cy="2648630"/>
          </a:xfrm>
          <a:prstGeom prst="rect">
            <a:avLst/>
          </a:prstGeom>
          <a:solidFill>
            <a:srgbClr val="81A7E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445FDA1-29EC-4E5B-95DF-C2143677E632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lang="es-ES"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Catálogo Modular de Servicios</a:t>
            </a:r>
            <a:endParaRPr lang="es-ES" sz="1000">
              <a:highlight>
                <a:srgbClr val="FFFF00"/>
              </a:highlight>
              <a:latin typeface="Reddit Sans"/>
              <a:ea typeface="Reddit Sans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C32E812-1E96-4B8F-BDAB-AE226E591314}"/>
              </a:ext>
            </a:extLst>
          </p:cNvPr>
          <p:cNvSpPr>
            <a:spLocks noGrp="1"/>
          </p:cNvSpPr>
          <p:nvPr/>
        </p:nvSpPr>
        <p:spPr>
          <a:xfrm>
            <a:off x="334736" y="6953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 base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gestionada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más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capacidades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inmersas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servicios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complementarios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8AD8619-10B5-4238-9B73-346B04B397C6}"/>
              </a:ext>
            </a:extLst>
          </p:cNvPr>
          <p:cNvSpPr>
            <a:spLocks noGrp="1"/>
          </p:cNvSpPr>
          <p:nvPr/>
        </p:nvSpPr>
        <p:spPr>
          <a:xfrm>
            <a:off x="601435" y="2294165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163B8C"/>
                </a:solidFill>
              </a:defRPr>
            </a:pP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Base </a:t>
            </a:r>
            <a:r>
              <a:rPr lang="es-ES" sz="1200" b="1" err="1">
                <a:solidFill>
                  <a:srgbClr val="0C0C0C"/>
                </a:solidFill>
                <a:latin typeface="Reddit Sans"/>
                <a:ea typeface="Reddit Sans"/>
              </a:rPr>
              <a:t>Operativa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46911AD-3B4A-490F-9268-24A2545FBB20}"/>
              </a:ext>
            </a:extLst>
          </p:cNvPr>
          <p:cNvSpPr>
            <a:spLocks noGrp="1"/>
          </p:cNvSpPr>
          <p:nvPr/>
        </p:nvSpPr>
        <p:spPr>
          <a:xfrm>
            <a:off x="601436" y="3325586"/>
            <a:ext cx="1504950" cy="6912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Punto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único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contacto</a:t>
            </a:r>
            <a:endParaRPr lang="es-ES" sz="800" err="1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incidentes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solicitudes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ANS/SLA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por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prioridad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Reporte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mensual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98BAD0B-EB72-4DFE-9B81-AB5F6B1AE321}"/>
              </a:ext>
            </a:extLst>
          </p:cNvPr>
          <p:cNvSpPr>
            <a:spLocks noGrp="1"/>
          </p:cNvSpPr>
          <p:nvPr/>
        </p:nvSpPr>
        <p:spPr>
          <a:xfrm>
            <a:off x="2770413" y="2294165"/>
            <a:ext cx="1504950" cy="3837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087B83"/>
                </a:solidFill>
              </a:defRPr>
            </a:pPr>
            <a:r>
              <a:rPr sz="1200" b="1" dirty="0" err="1">
                <a:solidFill>
                  <a:srgbClr val="0C0C0C"/>
                </a:solidFill>
                <a:latin typeface="Reddit Sans"/>
                <a:ea typeface="Reddit Sans"/>
              </a:rPr>
              <a:t>Capacidades</a:t>
            </a:r>
            <a:r>
              <a:rPr sz="1200" b="1" dirty="0">
                <a:solidFill>
                  <a:srgbClr val="0C0C0C"/>
                </a:solidFill>
                <a:latin typeface="Reddit Sans"/>
                <a:ea typeface="Reddit Sans"/>
              </a:rPr>
              <a:t> Next</a:t>
            </a:r>
            <a:r>
              <a:rPr lang="es-ES" sz="1200" b="1" dirty="0">
                <a:solidFill>
                  <a:srgbClr val="0C0C0C"/>
                </a:solidFill>
                <a:latin typeface="Reddit Sans"/>
                <a:ea typeface="Reddit Sans"/>
              </a:rPr>
              <a:t> Gen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9B008AD-B51F-4765-BB05-C041ECA5211F}"/>
              </a:ext>
            </a:extLst>
          </p:cNvPr>
          <p:cNvSpPr>
            <a:spLocks noGrp="1"/>
          </p:cNvSpPr>
          <p:nvPr/>
        </p:nvSpPr>
        <p:spPr>
          <a:xfrm>
            <a:off x="2775857" y="3369129"/>
            <a:ext cx="1499508" cy="821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Portal N0 y agente virtual</a:t>
            </a:r>
            <a:endParaRPr lang="es-ES" sz="800">
              <a:solidFill>
                <a:srgbClr val="595959"/>
              </a:solidFill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KEDB/KCS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Agent assist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AIOps y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observabilidad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SLA + XLA + DEX</a:t>
            </a:r>
            <a:endParaRPr lang="es-ES" sz="800" b="0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7B05ABA-D5CF-44AA-A0AB-6F671F7283F3}"/>
              </a:ext>
            </a:extLst>
          </p:cNvPr>
          <p:cNvSpPr>
            <a:spLocks noGrp="1"/>
          </p:cNvSpPr>
          <p:nvPr/>
        </p:nvSpPr>
        <p:spPr>
          <a:xfrm>
            <a:off x="4906735" y="2294165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20835A"/>
                </a:solidFill>
              </a:defRPr>
            </a:pPr>
            <a:r>
              <a:rPr sz="1200" b="1" err="1">
                <a:solidFill>
                  <a:srgbClr val="0C0C0C"/>
                </a:solidFill>
                <a:latin typeface="Reddit Sans"/>
                <a:ea typeface="Reddit Sans"/>
              </a:rPr>
              <a:t>Servicios</a:t>
            </a: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 </a:t>
            </a:r>
            <a:r>
              <a:rPr lang="es-ES" sz="1200" b="1" err="1">
                <a:solidFill>
                  <a:srgbClr val="0C0C0C"/>
                </a:solidFill>
                <a:latin typeface="Reddit Sans"/>
                <a:ea typeface="Reddit Sans"/>
              </a:rPr>
              <a:t>Inmersos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489B904-18CD-43B6-978E-47C9F1181ABD}"/>
              </a:ext>
            </a:extLst>
          </p:cNvPr>
          <p:cNvSpPr>
            <a:spLocks noGrp="1"/>
          </p:cNvSpPr>
          <p:nvPr/>
        </p:nvSpPr>
        <p:spPr>
          <a:xfrm>
            <a:off x="4906735" y="3369129"/>
            <a:ext cx="1434193" cy="772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RACI y gobierno</a:t>
            </a:r>
            <a:endParaRPr lang="es-ES" sz="800">
              <a:solidFill>
                <a:srgbClr val="595959"/>
              </a:solidFill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Catálogo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y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alcance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problemas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Disponibilidad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Change enablement</a:t>
            </a:r>
            <a:endParaRPr sz="800">
              <a:solidFill>
                <a:srgbClr val="595959"/>
              </a:solidFill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Mejora continua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Evolutivos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7B9178B-1F8D-456C-A96D-759C1FB56DFC}"/>
              </a:ext>
            </a:extLst>
          </p:cNvPr>
          <p:cNvSpPr>
            <a:spLocks noGrp="1"/>
          </p:cNvSpPr>
          <p:nvPr/>
        </p:nvSpPr>
        <p:spPr>
          <a:xfrm>
            <a:off x="7081156" y="2228851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D47A00"/>
                </a:solidFill>
              </a:defRPr>
            </a:pP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Servicios </a:t>
            </a: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Complementarios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4377773-95C5-4298-9334-E2E6C731C576}"/>
              </a:ext>
            </a:extLst>
          </p:cNvPr>
          <p:cNvSpPr>
            <a:spLocks noGrp="1"/>
          </p:cNvSpPr>
          <p:nvPr/>
        </p:nvSpPr>
        <p:spPr>
          <a:xfrm>
            <a:off x="7043057" y="2770415"/>
            <a:ext cx="1624692" cy="11974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900" dirty="0" err="1">
                <a:solidFill>
                  <a:srgbClr val="595959"/>
                </a:solidFill>
                <a:highlight>
                  <a:srgbClr val="FFFF00"/>
                </a:highlight>
                <a:latin typeface="Reddit Sans"/>
                <a:ea typeface="Reddit Sans"/>
              </a:rPr>
              <a:t>Assessment</a:t>
            </a:r>
            <a:r>
              <a:rPr lang="es-ES" sz="900" dirty="0">
                <a:solidFill>
                  <a:srgbClr val="595959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del Nivel de Mesa de Servicio</a:t>
            </a: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900" b="0" dirty="0" err="1">
                <a:solidFill>
                  <a:srgbClr val="595959"/>
                </a:solidFill>
                <a:latin typeface="Reddit Sans"/>
                <a:ea typeface="Reddit Sans"/>
              </a:rPr>
              <a:t>Modernización</a:t>
            </a:r>
            <a:r>
              <a:rPr sz="900" b="0" dirty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s-ES" sz="900" dirty="0">
                <a:solidFill>
                  <a:srgbClr val="595959"/>
                </a:solidFill>
                <a:latin typeface="Reddit Sans"/>
                <a:ea typeface="Reddit Sans"/>
              </a:rPr>
              <a:t>de aplicaciones</a:t>
            </a:r>
            <a:endParaRPr lang="es-ES" dirty="0"/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900" dirty="0">
                <a:solidFill>
                  <a:srgbClr val="595959"/>
                </a:solidFill>
                <a:latin typeface="Reddit Sans"/>
                <a:ea typeface="Reddit Sans"/>
              </a:rPr>
              <a:t>Seguridad</a:t>
            </a:r>
            <a:endParaRPr lang="es-ES" sz="900" b="0" dirty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900" b="0" dirty="0">
                <a:solidFill>
                  <a:srgbClr val="595959"/>
                </a:solidFill>
                <a:latin typeface="Reddit Sans"/>
                <a:ea typeface="Reddit Sans"/>
              </a:rPr>
              <a:t>DevOps / </a:t>
            </a:r>
            <a:r>
              <a:rPr sz="900" b="0" dirty="0" err="1">
                <a:solidFill>
                  <a:srgbClr val="595959"/>
                </a:solidFill>
                <a:latin typeface="Reddit Sans"/>
                <a:ea typeface="Reddit Sans"/>
              </a:rPr>
              <a:t>automatización</a:t>
            </a:r>
            <a:endParaRPr sz="900" b="0" dirty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595959"/>
                </a:solidFill>
                <a:latin typeface="Reddit Sans"/>
                <a:ea typeface="Reddit Sans"/>
              </a:rPr>
              <a:t>Performance engineering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900" b="0" dirty="0" err="1">
                <a:solidFill>
                  <a:srgbClr val="595959"/>
                </a:solidFill>
                <a:highlight>
                  <a:srgbClr val="FFFF00"/>
                </a:highlight>
                <a:latin typeface="Reddit Sans"/>
                <a:ea typeface="Reddit Sans"/>
              </a:rPr>
              <a:t>Gobierno</a:t>
            </a:r>
            <a:r>
              <a:rPr sz="900" b="0" dirty="0">
                <a:solidFill>
                  <a:srgbClr val="595959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de </a:t>
            </a:r>
            <a:r>
              <a:rPr sz="900" b="0" dirty="0" err="1">
                <a:solidFill>
                  <a:srgbClr val="595959"/>
                </a:solidFill>
                <a:highlight>
                  <a:srgbClr val="FFFF00"/>
                </a:highlight>
                <a:latin typeface="Reddit Sans"/>
                <a:ea typeface="Reddit Sans"/>
              </a:rPr>
              <a:t>datos</a:t>
            </a:r>
            <a:r>
              <a:rPr sz="900" b="0" dirty="0">
                <a:solidFill>
                  <a:srgbClr val="595959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e IA</a:t>
            </a: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69C95DC6-388A-6B8F-971A-B933C2E933F0}"/>
              </a:ext>
            </a:extLst>
          </p:cNvPr>
          <p:cNvSpPr/>
          <p:nvPr/>
        </p:nvSpPr>
        <p:spPr>
          <a:xfrm>
            <a:off x="346302" y="1078706"/>
            <a:ext cx="8429625" cy="520304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38E257A-0E3D-D50C-B766-757016C7109A}"/>
              </a:ext>
            </a:extLst>
          </p:cNvPr>
          <p:cNvSpPr/>
          <p:nvPr/>
        </p:nvSpPr>
        <p:spPr>
          <a:xfrm>
            <a:off x="3377094" y="1249339"/>
            <a:ext cx="2368042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26"/>
              </a:lnSpc>
            </a:pPr>
            <a:r>
              <a:rPr lang="en-US" sz="1238" kern="0" spc="-74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Arquitectura de Servicio Integral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59" name="Image 0" descr="-51c0485e.png">
            <a:extLst>
              <a:ext uri="{FF2B5EF4-FFF2-40B4-BE49-F238E27FC236}">
                <a16:creationId xmlns:a16="http://schemas.microsoft.com/office/drawing/2014/main" id="{02CE5549-DF29-9F01-69B9-302A1F81A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02" y="1810439"/>
            <a:ext cx="257175" cy="285750"/>
          </a:xfrm>
          <a:prstGeom prst="rect">
            <a:avLst/>
          </a:prstGeom>
        </p:spPr>
      </p:pic>
      <p:pic>
        <p:nvPicPr>
          <p:cNvPr id="61" name="Image 1" descr="7a1d5e62.png">
            <a:extLst>
              <a:ext uri="{FF2B5EF4-FFF2-40B4-BE49-F238E27FC236}">
                <a16:creationId xmlns:a16="http://schemas.microsoft.com/office/drawing/2014/main" id="{C37A1F31-8948-26B7-BA87-929A1500C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214" y="1817144"/>
            <a:ext cx="300038" cy="300038"/>
          </a:xfrm>
          <a:prstGeom prst="rect">
            <a:avLst/>
          </a:prstGeom>
        </p:spPr>
      </p:pic>
      <p:pic>
        <p:nvPicPr>
          <p:cNvPr id="63" name="Image 2" descr="5fb69d22.png">
            <a:extLst>
              <a:ext uri="{FF2B5EF4-FFF2-40B4-BE49-F238E27FC236}">
                <a16:creationId xmlns:a16="http://schemas.microsoft.com/office/drawing/2014/main" id="{4ED6D8A5-149C-8D64-187D-5582CF4CA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552" y="1851472"/>
            <a:ext cx="300038" cy="264319"/>
          </a:xfrm>
          <a:prstGeom prst="rect">
            <a:avLst/>
          </a:prstGeom>
        </p:spPr>
      </p:pic>
      <p:pic>
        <p:nvPicPr>
          <p:cNvPr id="64" name="Image 2" descr="5fb69d22.png">
            <a:extLst>
              <a:ext uri="{FF2B5EF4-FFF2-40B4-BE49-F238E27FC236}">
                <a16:creationId xmlns:a16="http://schemas.microsoft.com/office/drawing/2014/main" id="{70171854-E5AF-3AFE-2F30-6E06F4011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680" y="1851472"/>
            <a:ext cx="300038" cy="264319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8AC04C55-5236-1115-ED09-496275098826}"/>
              </a:ext>
            </a:extLst>
          </p:cNvPr>
          <p:cNvSpPr txBox="1"/>
          <p:nvPr/>
        </p:nvSpPr>
        <p:spPr>
          <a:xfrm>
            <a:off x="468086" y="2571750"/>
            <a:ext cx="18179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85800" fontAlgn="ctr">
              <a:spcBef>
                <a:spcPts val="482"/>
              </a:spcBef>
            </a:pP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fundamental y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centrales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soporte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garantizan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estabilidad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continuidad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negocio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s-ES" sz="80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F5CBAACB-E4AC-C922-AD11-4E0E17911830}"/>
              </a:ext>
            </a:extLst>
          </p:cNvPr>
          <p:cNvSpPr/>
          <p:nvPr/>
        </p:nvSpPr>
        <p:spPr>
          <a:xfrm>
            <a:off x="2623043" y="2668244"/>
            <a:ext cx="1905831" cy="6566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82"/>
              </a:spcBef>
            </a:pP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Innovación tecnológica y soluciones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de próxima generación con enfoque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en IA, automatización y escalabilidad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futura.</a:t>
            </a:r>
            <a:endParaRPr lang="es-ES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354A2E1B-2A3F-FA73-160F-B1496F7F573D}"/>
              </a:ext>
            </a:extLst>
          </p:cNvPr>
          <p:cNvSpPr/>
          <p:nvPr/>
        </p:nvSpPr>
        <p:spPr>
          <a:xfrm>
            <a:off x="4836809" y="2537616"/>
            <a:ext cx="1578129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82"/>
              </a:spcBef>
            </a:pP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Funcionalidades integradas de forma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nativa en la experiencia operativa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para optimizar flujos de trabajo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mediante integración profunda.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9657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57187" y="970791"/>
            <a:ext cx="1829303" cy="26331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3240"/>
              </a:lnSpc>
            </a:pPr>
            <a:r>
              <a:rPr lang="en-US" sz="2800" kern="0" spc="-169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Mesa de </a:t>
            </a:r>
            <a:br>
              <a:rPr lang="en-US" sz="2800" kern="0" spc="-169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2800" kern="0" spc="-169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Servicio de Nueva Generación</a:t>
            </a:r>
            <a:br>
              <a:rPr lang="en-US" sz="2800" kern="0" spc="-169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2800" kern="0" spc="-169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Next Gen</a:t>
            </a:r>
            <a:endParaRPr lang="en-US" sz="2800">
              <a:latin typeface="Reddit Sans"/>
              <a:ea typeface="Reddit Sa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57187" y="3737058"/>
            <a:ext cx="2377865" cy="4299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Evaluación Inicial: Un enfoque</a:t>
            </a:r>
            <a:b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4 ejes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5" name="Image 0" descr="7e14c8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705" y="1637705"/>
            <a:ext cx="485775" cy="485775"/>
          </a:xfrm>
          <a:prstGeom prst="rect">
            <a:avLst/>
          </a:prstGeom>
        </p:spPr>
      </p:pic>
      <p:pic>
        <p:nvPicPr>
          <p:cNvPr id="6" name="Image 1" descr="-3fd293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689" y="2079689"/>
            <a:ext cx="92869" cy="92869"/>
          </a:xfrm>
          <a:prstGeom prst="rect">
            <a:avLst/>
          </a:prstGeom>
        </p:spPr>
      </p:pic>
      <p:pic>
        <p:nvPicPr>
          <p:cNvPr id="7" name="Image 2" descr="0495c5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06" y="1637705"/>
            <a:ext cx="485775" cy="485775"/>
          </a:xfrm>
          <a:prstGeom prst="rect">
            <a:avLst/>
          </a:prstGeom>
        </p:spPr>
      </p:pic>
      <p:pic>
        <p:nvPicPr>
          <p:cNvPr id="8" name="Image 3" descr="-3d415e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801" y="2079689"/>
            <a:ext cx="92869" cy="92869"/>
          </a:xfrm>
          <a:prstGeom prst="rect">
            <a:avLst/>
          </a:prstGeom>
        </p:spPr>
      </p:pic>
      <p:pic>
        <p:nvPicPr>
          <p:cNvPr id="9" name="Image 4" descr="7e14c8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06" y="3024307"/>
            <a:ext cx="485775" cy="485775"/>
          </a:xfrm>
          <a:prstGeom prst="rect">
            <a:avLst/>
          </a:prstGeom>
        </p:spPr>
      </p:pic>
      <p:pic>
        <p:nvPicPr>
          <p:cNvPr id="10" name="Image 5" descr="-11ea5e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2801" y="2973801"/>
            <a:ext cx="92869" cy="92869"/>
          </a:xfrm>
          <a:prstGeom prst="rect">
            <a:avLst/>
          </a:prstGeom>
        </p:spPr>
      </p:pic>
      <p:pic>
        <p:nvPicPr>
          <p:cNvPr id="11" name="Image 6" descr="0495c5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705" y="3024307"/>
            <a:ext cx="485775" cy="485775"/>
          </a:xfrm>
          <a:prstGeom prst="rect">
            <a:avLst/>
          </a:prstGeom>
        </p:spPr>
      </p:pic>
      <p:pic>
        <p:nvPicPr>
          <p:cNvPr id="12" name="Image 7" descr="3aad8e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8689" y="2973801"/>
            <a:ext cx="92869" cy="92869"/>
          </a:xfrm>
          <a:prstGeom prst="rect">
            <a:avLst/>
          </a:prstGeom>
        </p:spPr>
      </p:pic>
      <p:pic>
        <p:nvPicPr>
          <p:cNvPr id="13" name="Image 8" descr="260f00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688" y="2071688"/>
            <a:ext cx="1000125" cy="1000125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5536406" y="2291804"/>
            <a:ext cx="928688" cy="5625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78"/>
              </a:lnSpc>
            </a:pPr>
            <a:r>
              <a:rPr lang="en-US" sz="1250" kern="0" spc="-77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de</a:t>
            </a:r>
            <a:br>
              <a:rPr lang="en-US" sz="1250" kern="0" spc="-77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250" kern="0" spc="-77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Servicio</a:t>
            </a:r>
            <a:br>
              <a:rPr lang="en-US" sz="1250" kern="0" spc="-77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250" kern="0" spc="-77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Next Gen</a:t>
            </a:r>
            <a:endParaRPr lang="en-US" sz="1250">
              <a:latin typeface="Reddit Sans"/>
              <a:ea typeface="Reddit Sans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4565988" y="1136988"/>
            <a:ext cx="535781" cy="535781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9" descr="5719bd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733" y="1285567"/>
            <a:ext cx="271463" cy="242888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3587294" y="1305312"/>
            <a:ext cx="907256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ctr">
              <a:lnSpc>
                <a:spcPts val="1556"/>
              </a:lnSpc>
            </a:pPr>
            <a:r>
              <a:rPr lang="es-CO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Operativo</a:t>
            </a:r>
            <a:endParaRPr lang="es-CO" sz="1013">
              <a:latin typeface="Reddit Sans"/>
              <a:ea typeface="Reddit Sans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6899732" y="1136988"/>
            <a:ext cx="535781" cy="535781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9" name="Image 10" descr="-327b961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0787" y="1313822"/>
            <a:ext cx="214313" cy="178594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7506950" y="1305312"/>
            <a:ext cx="101441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56"/>
              </a:lnSpc>
            </a:pPr>
            <a:r>
              <a:rPr lang="es-CO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Inteligencia</a:t>
            </a:r>
            <a:endParaRPr lang="es-CO" sz="1000">
              <a:latin typeface="Reddit Sans"/>
              <a:ea typeface="Reddit Sans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6899732" y="3470732"/>
            <a:ext cx="535781" cy="535781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1" descr="-3d972f5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3924" y="3606678"/>
            <a:ext cx="207169" cy="264319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7506951" y="3639057"/>
            <a:ext cx="1035844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56"/>
              </a:lnSpc>
            </a:pPr>
            <a:r>
              <a:rPr lang="es-CO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Experiencia</a:t>
            </a:r>
            <a:endParaRPr lang="es-CO" sz="1000">
              <a:latin typeface="Reddit Sans"/>
              <a:ea typeface="Reddit Sans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4565988" y="3470732"/>
            <a:ext cx="535781" cy="535781"/>
          </a:xfrm>
          <a:prstGeom prst="ellipse">
            <a:avLst/>
          </a:prstGeom>
          <a:solidFill>
            <a:srgbClr val="FF8000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12" descr="-6dc06d9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0847" y="3628651"/>
            <a:ext cx="228600" cy="2286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3587294" y="3639057"/>
            <a:ext cx="907256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ctr">
              <a:lnSpc>
                <a:spcPts val="1556"/>
              </a:lnSpc>
            </a:pPr>
            <a:r>
              <a:rPr lang="es-CO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Evolución</a:t>
            </a:r>
            <a:endParaRPr lang="es-CO" sz="1000">
              <a:latin typeface="Reddit Sans"/>
              <a:ea typeface="Reddit Sans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169CE74-3EFE-F55F-5D12-32F0DCC1D93B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344181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F9C8408C-F9F1-4FF9-8A83-3AF25EB4B75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Stack tecnológico: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Integrarse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al </a:t>
            </a:r>
            <a:r>
              <a:rPr sz="1650" b="1" err="1">
                <a:solidFill>
                  <a:srgbClr val="0C2362"/>
                </a:solidFill>
                <a:latin typeface="Reddit Sans"/>
                <a:ea typeface="Reddit Sans"/>
              </a:rPr>
              <a:t>ecosistema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del </a:t>
            </a:r>
            <a:r>
              <a:rPr sz="1650" b="1" err="1">
                <a:solidFill>
                  <a:srgbClr val="0C2362"/>
                </a:solidFill>
                <a:latin typeface="Reddit Sans"/>
                <a:ea typeface="Reddit Sans"/>
              </a:rPr>
              <a:t>cliente</a:t>
            </a:r>
            <a:endParaRPr lang="es-ES" sz="1650" b="1" err="1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F99B6CF-84D4-4913-B588-3CAA65AFEC04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mínimas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para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operar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,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medir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automatizar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sin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amarrar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al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cliente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herramienta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única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3" name="layer">
            <a:extLst>
              <a:ext uri="{FF2B5EF4-FFF2-40B4-BE49-F238E27FC236}">
                <a16:creationId xmlns:a16="http://schemas.microsoft.com/office/drawing/2014/main" id="{538C9A7E-8E60-4323-A090-E364358D7022}"/>
              </a:ext>
            </a:extLst>
          </p:cNvPr>
          <p:cNvSpPr>
            <a:spLocks noGrp="1"/>
          </p:cNvSpPr>
          <p:nvPr/>
        </p:nvSpPr>
        <p:spPr>
          <a:xfrm>
            <a:off x="876300" y="102870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6F8FC"/>
          </a:solidFill>
          <a:ln w="11430">
            <a:solidFill>
              <a:srgbClr val="163B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A7AB53-8090-466F-9893-E73B6DD61BF6}"/>
              </a:ext>
            </a:extLst>
          </p:cNvPr>
          <p:cNvSpPr>
            <a:spLocks noGrp="1"/>
          </p:cNvSpPr>
          <p:nvPr/>
        </p:nvSpPr>
        <p:spPr>
          <a:xfrm>
            <a:off x="1104900" y="1143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63B8C"/>
                </a:solidFill>
              </a:defRPr>
            </a:pPr>
            <a:r>
              <a:rPr sz="1013" b="1">
                <a:solidFill>
                  <a:srgbClr val="163B8C"/>
                </a:solidFill>
                <a:latin typeface="Reddit Sans"/>
                <a:ea typeface="Reddit Sans"/>
              </a:rPr>
              <a:t>Canales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C575430-6193-4C63-B135-4BA439C7DE11}"/>
              </a:ext>
            </a:extLst>
          </p:cNvPr>
          <p:cNvSpPr>
            <a:spLocks noGrp="1"/>
          </p:cNvSpPr>
          <p:nvPr/>
        </p:nvSpPr>
        <p:spPr>
          <a:xfrm>
            <a:off x="2857500" y="11430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Portal, chat, WhatsApp, correo, teléfono, API/AIOps</a:t>
            </a:r>
          </a:p>
        </p:txBody>
      </p:sp>
      <p:sp>
        <p:nvSpPr>
          <p:cNvPr id="6" name="layer">
            <a:extLst>
              <a:ext uri="{FF2B5EF4-FFF2-40B4-BE49-F238E27FC236}">
                <a16:creationId xmlns:a16="http://schemas.microsoft.com/office/drawing/2014/main" id="{C441F295-83F4-4548-A6D0-5F51F8A20A11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087B8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898201E-55B3-4B70-8B4D-953CD3C750D9}"/>
              </a:ext>
            </a:extLst>
          </p:cNvPr>
          <p:cNvSpPr>
            <a:spLocks noGrp="1"/>
          </p:cNvSpPr>
          <p:nvPr/>
        </p:nvSpPr>
        <p:spPr>
          <a:xfrm>
            <a:off x="1104900" y="16954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087B83"/>
                </a:solidFill>
              </a:defRPr>
            </a:pPr>
            <a:r>
              <a:rPr sz="1013" b="1">
                <a:solidFill>
                  <a:srgbClr val="087B83"/>
                </a:solidFill>
                <a:latin typeface="Reddit Sans"/>
                <a:ea typeface="Reddit Sans"/>
              </a:rPr>
              <a:t>ITSM / CMDB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6FBB9CD-0D24-4B36-BB67-F65BDD529EB6}"/>
              </a:ext>
            </a:extLst>
          </p:cNvPr>
          <p:cNvSpPr>
            <a:spLocks noGrp="1"/>
          </p:cNvSpPr>
          <p:nvPr/>
        </p:nvSpPr>
        <p:spPr>
          <a:xfrm>
            <a:off x="2857500" y="16954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ServiceNow, Jira SM, ADO, ManageEngine o herramienta PS</a:t>
            </a: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26BFFD6D-0A44-4AC4-A766-262D23846206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6F8FC"/>
          </a:solidFill>
          <a:ln w="11430">
            <a:solidFill>
              <a:srgbClr val="7057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F4A7BE-BEA4-46EA-82AD-493EDB21D41D}"/>
              </a:ext>
            </a:extLst>
          </p:cNvPr>
          <p:cNvSpPr>
            <a:spLocks noGrp="1"/>
          </p:cNvSpPr>
          <p:nvPr/>
        </p:nvSpPr>
        <p:spPr>
          <a:xfrm>
            <a:off x="1104900" y="22479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7057E9"/>
                </a:solidFill>
              </a:defRPr>
            </a:pPr>
            <a:r>
              <a:rPr sz="1013" b="1">
                <a:solidFill>
                  <a:srgbClr val="7057E9"/>
                </a:solidFill>
                <a:latin typeface="Reddit Sans"/>
                <a:ea typeface="Reddit Sans"/>
              </a:rPr>
              <a:t>Conocimiento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E697010-83B8-4D18-BC4D-85D49DAAC087}"/>
              </a:ext>
            </a:extLst>
          </p:cNvPr>
          <p:cNvSpPr>
            <a:spLocks noGrp="1"/>
          </p:cNvSpPr>
          <p:nvPr/>
        </p:nvSpPr>
        <p:spPr>
          <a:xfrm>
            <a:off x="2857500" y="2247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KEDB, KCS, Confluence, SharePoint, artículos generados</a:t>
            </a:r>
          </a:p>
        </p:txBody>
      </p:sp>
      <p:sp>
        <p:nvSpPr>
          <p:cNvPr id="12" name="layer">
            <a:extLst>
              <a:ext uri="{FF2B5EF4-FFF2-40B4-BE49-F238E27FC236}">
                <a16:creationId xmlns:a16="http://schemas.microsoft.com/office/drawing/2014/main" id="{8BF0411D-3DEB-4455-A21F-FC69D475C426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2083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03620C4-45AF-4D52-95EC-0BFF40943DD5}"/>
              </a:ext>
            </a:extLst>
          </p:cNvPr>
          <p:cNvSpPr>
            <a:spLocks noGrp="1"/>
          </p:cNvSpPr>
          <p:nvPr/>
        </p:nvSpPr>
        <p:spPr>
          <a:xfrm>
            <a:off x="1104900" y="28003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20835A"/>
                </a:solidFill>
              </a:defRPr>
            </a:pPr>
            <a:r>
              <a:rPr sz="1013" b="1">
                <a:solidFill>
                  <a:srgbClr val="20835A"/>
                </a:solidFill>
                <a:latin typeface="Reddit Sans"/>
                <a:ea typeface="Reddit Sans"/>
              </a:rPr>
              <a:t>IA / AIOps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9BD8F76-D60B-442D-9E63-D036643AD169}"/>
              </a:ext>
            </a:extLst>
          </p:cNvPr>
          <p:cNvSpPr>
            <a:spLocks noGrp="1"/>
          </p:cNvSpPr>
          <p:nvPr/>
        </p:nvSpPr>
        <p:spPr>
          <a:xfrm>
            <a:off x="2857500" y="28003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Agent assist, NLP, observabilidad, correlación y runbooks</a:t>
            </a:r>
          </a:p>
        </p:txBody>
      </p:sp>
      <p:sp>
        <p:nvSpPr>
          <p:cNvPr id="15" name="layer">
            <a:extLst>
              <a:ext uri="{FF2B5EF4-FFF2-40B4-BE49-F238E27FC236}">
                <a16:creationId xmlns:a16="http://schemas.microsoft.com/office/drawing/2014/main" id="{950D358F-F7D6-460D-A2BD-B9DE783BE7B6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6F8FC"/>
          </a:solidFill>
          <a:ln w="11430">
            <a:solidFill>
              <a:srgbClr val="D47A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302AD2D-E25D-4A10-98EF-2CFC1129B8AF}"/>
              </a:ext>
            </a:extLst>
          </p:cNvPr>
          <p:cNvSpPr>
            <a:spLocks noGrp="1"/>
          </p:cNvSpPr>
          <p:nvPr/>
        </p:nvSpPr>
        <p:spPr>
          <a:xfrm>
            <a:off x="1104900" y="33528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D47A00"/>
                </a:solidFill>
              </a:defRPr>
            </a:pPr>
            <a:r>
              <a:rPr sz="1013" b="1">
                <a:solidFill>
                  <a:srgbClr val="D47A00"/>
                </a:solidFill>
                <a:latin typeface="Reddit Sans"/>
                <a:ea typeface="Reddit Sans"/>
              </a:rPr>
              <a:t>Gobierno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ADA952B-A53E-4E8D-BD2E-66B9B2C37131}"/>
              </a:ext>
            </a:extLst>
          </p:cNvPr>
          <p:cNvSpPr>
            <a:spLocks noGrp="1"/>
          </p:cNvSpPr>
          <p:nvPr/>
        </p:nvSpPr>
        <p:spPr>
          <a:xfrm>
            <a:off x="2857500" y="33528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Dashboards, SLA/XLA, CSAT, auditoría IA, cumplimiento</a:t>
            </a:r>
          </a:p>
        </p:txBody>
      </p:sp>
      <p:sp>
        <p:nvSpPr>
          <p:cNvPr id="18" name="layer">
            <a:extLst>
              <a:ext uri="{FF2B5EF4-FFF2-40B4-BE49-F238E27FC236}">
                <a16:creationId xmlns:a16="http://schemas.microsoft.com/office/drawing/2014/main" id="{B8C261E1-F43F-4731-B424-1A96046B6A54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73914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5B66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346C4B4-DF1D-4BD3-AFE6-7C0818FC1818}"/>
              </a:ext>
            </a:extLst>
          </p:cNvPr>
          <p:cNvSpPr>
            <a:spLocks noGrp="1"/>
          </p:cNvSpPr>
          <p:nvPr/>
        </p:nvSpPr>
        <p:spPr>
          <a:xfrm>
            <a:off x="1104900" y="39052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5B667A"/>
                </a:solidFill>
              </a:defRPr>
            </a:pPr>
            <a:r>
              <a:rPr sz="1013" b="1">
                <a:solidFill>
                  <a:srgbClr val="5B667A"/>
                </a:solidFill>
                <a:latin typeface="Reddit Sans"/>
                <a:ea typeface="Reddit Sans"/>
              </a:rPr>
              <a:t>Seguridad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940D614-BA13-44F4-9ED4-A5C358C8EB51}"/>
              </a:ext>
            </a:extLst>
          </p:cNvPr>
          <p:cNvSpPr>
            <a:spLocks noGrp="1"/>
          </p:cNvSpPr>
          <p:nvPr/>
        </p:nvSpPr>
        <p:spPr>
          <a:xfrm>
            <a:off x="2857500" y="3905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SSO/IAM, VPN, cifrado, backup, ISO 27001 / ISO 42001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E5235F9-738A-136F-1900-969ECFE1EF58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">
            <a:extLst>
              <a:ext uri="{FF2B5EF4-FFF2-40B4-BE49-F238E27FC236}">
                <a16:creationId xmlns:a16="http://schemas.microsoft.com/office/drawing/2014/main" id="{22DBA085-CCE0-A0C1-9795-15110F198364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Stack tecnológico: </a:t>
            </a:r>
            <a:r>
              <a:rPr lang="es-ES"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Integrarse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al ecosistema del cliente</a:t>
            </a:r>
            <a:endParaRPr lang="es-ES" sz="1650" b="1">
              <a:solidFill>
                <a:srgbClr val="0C2362"/>
              </a:solidFill>
              <a:highlight>
                <a:srgbClr val="FFFF00"/>
              </a:highlight>
              <a:latin typeface="Reddit Sans"/>
              <a:ea typeface="Reddit Sans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26D2E62-8901-91ED-6346-E93EFBF060E3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mínimas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para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operar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,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medir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automatizar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sin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amarrar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al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cliente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herramienta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única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4C5254-A867-A5C7-DC8C-64977C0BDDA6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B95E0AFD-DF6D-954E-9DB8-1F440E31FD4B}"/>
              </a:ext>
            </a:extLst>
          </p:cNvPr>
          <p:cNvSpPr/>
          <p:nvPr/>
        </p:nvSpPr>
        <p:spPr>
          <a:xfrm>
            <a:off x="357188" y="1307306"/>
            <a:ext cx="8429625" cy="520304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76604B0-64C7-7D1B-C823-FB713FC7A3D9}"/>
              </a:ext>
            </a:extLst>
          </p:cNvPr>
          <p:cNvSpPr/>
          <p:nvPr/>
        </p:nvSpPr>
        <p:spPr>
          <a:xfrm>
            <a:off x="3287632" y="1477939"/>
            <a:ext cx="2568737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26"/>
              </a:lnSpc>
            </a:pPr>
            <a:r>
              <a:rPr lang="en-US" sz="1238" kern="0" spc="-74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Arquitectura del Ecosistema Digital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A7F3576-F81F-2C54-49C3-2E49DEF24FE6}"/>
              </a:ext>
            </a:extLst>
          </p:cNvPr>
          <p:cNvSpPr/>
          <p:nvPr/>
        </p:nvSpPr>
        <p:spPr>
          <a:xfrm>
            <a:off x="357188" y="1899047"/>
            <a:ext cx="1628775" cy="2295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4947301-E3F4-D806-E6EE-27BF06842E7F}"/>
              </a:ext>
            </a:extLst>
          </p:cNvPr>
          <p:cNvSpPr/>
          <p:nvPr/>
        </p:nvSpPr>
        <p:spPr>
          <a:xfrm>
            <a:off x="610791" y="2588085"/>
            <a:ext cx="1121569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26"/>
              </a:lnSpc>
              <a:spcBef>
                <a:spcPts val="963"/>
              </a:spcBef>
            </a:pPr>
            <a:r>
              <a:rPr lang="en-US" sz="1238" kern="0" spc="-74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Canales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E735DBD-59EB-CC2A-8D8E-8540E0B1056E}"/>
              </a:ext>
            </a:extLst>
          </p:cNvPr>
          <p:cNvSpPr/>
          <p:nvPr/>
        </p:nvSpPr>
        <p:spPr>
          <a:xfrm>
            <a:off x="604217" y="2831530"/>
            <a:ext cx="1134718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82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Puntos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interacción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experiencia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usuario.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16" name="Image 0" descr="31ef1d22.png">
            <a:extLst>
              <a:ext uri="{FF2B5EF4-FFF2-40B4-BE49-F238E27FC236}">
                <a16:creationId xmlns:a16="http://schemas.microsoft.com/office/drawing/2014/main" id="{D1D9D96C-BE55-CBDB-5E06-5E0B4C370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701" y="2129898"/>
            <a:ext cx="307181" cy="307181"/>
          </a:xfrm>
          <a:prstGeom prst="rect">
            <a:avLst/>
          </a:prstGeom>
        </p:spPr>
      </p:pic>
      <p:sp>
        <p:nvSpPr>
          <p:cNvPr id="18" name="Shape 7">
            <a:extLst>
              <a:ext uri="{FF2B5EF4-FFF2-40B4-BE49-F238E27FC236}">
                <a16:creationId xmlns:a16="http://schemas.microsoft.com/office/drawing/2014/main" id="{AF2306C6-7D39-9448-36BA-FD0D987F9AC4}"/>
              </a:ext>
            </a:extLst>
          </p:cNvPr>
          <p:cNvSpPr/>
          <p:nvPr/>
        </p:nvSpPr>
        <p:spPr>
          <a:xfrm>
            <a:off x="2057400" y="1899047"/>
            <a:ext cx="1628775" cy="2295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3211482-A078-5FE3-F785-4A30D690ED3F}"/>
              </a:ext>
            </a:extLst>
          </p:cNvPr>
          <p:cNvSpPr/>
          <p:nvPr/>
        </p:nvSpPr>
        <p:spPr>
          <a:xfrm>
            <a:off x="2164556" y="2588085"/>
            <a:ext cx="1414463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26"/>
              </a:lnSpc>
              <a:spcBef>
                <a:spcPts val="963"/>
              </a:spcBef>
            </a:pPr>
            <a:r>
              <a:rPr lang="en-US" sz="1238" kern="0" spc="-74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ITSM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4169E53C-48D4-B70F-072D-12D6B3B11D88}"/>
              </a:ext>
            </a:extLst>
          </p:cNvPr>
          <p:cNvSpPr/>
          <p:nvPr/>
        </p:nvSpPr>
        <p:spPr>
          <a:xfrm>
            <a:off x="2142165" y="2831530"/>
            <a:ext cx="1459245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82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 de TI para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la eficiencia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operativa.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24" name="Image 1" descr="41353762.png">
            <a:extLst>
              <a:ext uri="{FF2B5EF4-FFF2-40B4-BE49-F238E27FC236}">
                <a16:creationId xmlns:a16="http://schemas.microsoft.com/office/drawing/2014/main" id="{854D8709-612A-0556-9846-38191FF32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613" y="2155014"/>
            <a:ext cx="350044" cy="257175"/>
          </a:xfrm>
          <a:prstGeom prst="rect">
            <a:avLst/>
          </a:prstGeom>
        </p:spPr>
      </p:pic>
      <p:sp>
        <p:nvSpPr>
          <p:cNvPr id="26" name="Shape 10">
            <a:extLst>
              <a:ext uri="{FF2B5EF4-FFF2-40B4-BE49-F238E27FC236}">
                <a16:creationId xmlns:a16="http://schemas.microsoft.com/office/drawing/2014/main" id="{1AA26F0F-765E-30E3-3C11-3D5B85BBF148}"/>
              </a:ext>
            </a:extLst>
          </p:cNvPr>
          <p:cNvSpPr/>
          <p:nvPr/>
        </p:nvSpPr>
        <p:spPr>
          <a:xfrm>
            <a:off x="3757613" y="1899047"/>
            <a:ext cx="1628775" cy="22955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91E48C88-606D-01AB-6823-06F2D8BEEC84}"/>
              </a:ext>
            </a:extLst>
          </p:cNvPr>
          <p:cNvSpPr/>
          <p:nvPr/>
        </p:nvSpPr>
        <p:spPr>
          <a:xfrm>
            <a:off x="3893344" y="2588085"/>
            <a:ext cx="1357313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26"/>
              </a:lnSpc>
              <a:spcBef>
                <a:spcPts val="963"/>
              </a:spcBef>
            </a:pPr>
            <a:r>
              <a:rPr lang="en-US" sz="1238" kern="0" spc="-74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8CA97CC3-1C0B-1511-B7BB-444089897FB9}"/>
              </a:ext>
            </a:extLst>
          </p:cNvPr>
          <p:cNvSpPr/>
          <p:nvPr/>
        </p:nvSpPr>
        <p:spPr>
          <a:xfrm>
            <a:off x="3875038" y="2831530"/>
            <a:ext cx="1393925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82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Capa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inteligencia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automatización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32" name="Image 2" descr="482e7122.png">
            <a:extLst>
              <a:ext uri="{FF2B5EF4-FFF2-40B4-BE49-F238E27FC236}">
                <a16:creationId xmlns:a16="http://schemas.microsoft.com/office/drawing/2014/main" id="{D784F320-6AC9-85E2-3D4D-E94ECE399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940" y="2125712"/>
            <a:ext cx="321469" cy="321469"/>
          </a:xfrm>
          <a:prstGeom prst="rect">
            <a:avLst/>
          </a:prstGeom>
        </p:spPr>
      </p:pic>
      <p:sp>
        <p:nvSpPr>
          <p:cNvPr id="34" name="Shape 13">
            <a:extLst>
              <a:ext uri="{FF2B5EF4-FFF2-40B4-BE49-F238E27FC236}">
                <a16:creationId xmlns:a16="http://schemas.microsoft.com/office/drawing/2014/main" id="{80682917-EE59-523D-E793-8B52EB3C3822}"/>
              </a:ext>
            </a:extLst>
          </p:cNvPr>
          <p:cNvSpPr/>
          <p:nvPr/>
        </p:nvSpPr>
        <p:spPr>
          <a:xfrm>
            <a:off x="5457825" y="1899047"/>
            <a:ext cx="1628775" cy="22955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0211F154-AE7E-0732-5E2E-D23C8914B204}"/>
              </a:ext>
            </a:extLst>
          </p:cNvPr>
          <p:cNvSpPr/>
          <p:nvPr/>
        </p:nvSpPr>
        <p:spPr>
          <a:xfrm>
            <a:off x="5593556" y="2564085"/>
            <a:ext cx="1357313" cy="1720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355"/>
              </a:lnSpc>
              <a:spcBef>
                <a:spcPts val="915"/>
              </a:spcBef>
            </a:pPr>
            <a:r>
              <a:rPr lang="en-US" sz="1175" kern="0" spc="-7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Gobierno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47DB25B1-8175-273E-196F-FA6CE88028DF}"/>
              </a:ext>
            </a:extLst>
          </p:cNvPr>
          <p:cNvSpPr/>
          <p:nvPr/>
        </p:nvSpPr>
        <p:spPr>
          <a:xfrm>
            <a:off x="5574860" y="2795364"/>
            <a:ext cx="1394705" cy="5568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62"/>
              </a:lnSpc>
              <a:spcBef>
                <a:spcPts val="458"/>
              </a:spcBef>
            </a:pPr>
            <a: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Marcos de políticas</a:t>
            </a:r>
            <a:b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y control de</a:t>
            </a:r>
            <a:b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cumplimiento.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40" name="Image 3" descr="76f60f62.png">
            <a:extLst>
              <a:ext uri="{FF2B5EF4-FFF2-40B4-BE49-F238E27FC236}">
                <a16:creationId xmlns:a16="http://schemas.microsoft.com/office/drawing/2014/main" id="{9723224E-0D84-BAA0-9759-7B59D6AA2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014" y="2116782"/>
            <a:ext cx="271463" cy="321469"/>
          </a:xfrm>
          <a:prstGeom prst="rect">
            <a:avLst/>
          </a:prstGeom>
        </p:spPr>
      </p:pic>
      <p:sp>
        <p:nvSpPr>
          <p:cNvPr id="42" name="Shape 16">
            <a:extLst>
              <a:ext uri="{FF2B5EF4-FFF2-40B4-BE49-F238E27FC236}">
                <a16:creationId xmlns:a16="http://schemas.microsoft.com/office/drawing/2014/main" id="{AB0C0FBA-47A3-DD5E-53D3-3D2A4CAE553C}"/>
              </a:ext>
            </a:extLst>
          </p:cNvPr>
          <p:cNvSpPr/>
          <p:nvPr/>
        </p:nvSpPr>
        <p:spPr>
          <a:xfrm>
            <a:off x="7158038" y="1899047"/>
            <a:ext cx="1628775" cy="2295525"/>
          </a:xfrm>
          <a:prstGeom prst="rect">
            <a:avLst/>
          </a:prstGeom>
          <a:solidFill>
            <a:schemeClr val="accent5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08E5D4CE-3618-AC53-5126-FED68A669DB7}"/>
              </a:ext>
            </a:extLst>
          </p:cNvPr>
          <p:cNvSpPr/>
          <p:nvPr/>
        </p:nvSpPr>
        <p:spPr>
          <a:xfrm>
            <a:off x="7293769" y="2564085"/>
            <a:ext cx="1357313" cy="1720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355"/>
              </a:lnSpc>
              <a:spcBef>
                <a:spcPts val="915"/>
              </a:spcBef>
            </a:pPr>
            <a:r>
              <a:rPr lang="en-US" sz="1175" kern="0" spc="-7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Seguridad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1E939043-9BE8-39A8-4EE5-B215496965C0}"/>
              </a:ext>
            </a:extLst>
          </p:cNvPr>
          <p:cNvSpPr/>
          <p:nvPr/>
        </p:nvSpPr>
        <p:spPr>
          <a:xfrm>
            <a:off x="7273733" y="2795364"/>
            <a:ext cx="1397384" cy="5568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62"/>
              </a:lnSpc>
              <a:spcBef>
                <a:spcPts val="458"/>
              </a:spcBef>
            </a:pPr>
            <a: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Protección de la</a:t>
            </a:r>
            <a:b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integridad y activos</a:t>
            </a:r>
            <a:b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69" kern="0" spc="-22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información.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48" name="Image 4" descr="-30d919e.png">
            <a:extLst>
              <a:ext uri="{FF2B5EF4-FFF2-40B4-BE49-F238E27FC236}">
                <a16:creationId xmlns:a16="http://schemas.microsoft.com/office/drawing/2014/main" id="{AB100201-659E-B753-73F9-7299DF7C0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131" y="2112805"/>
            <a:ext cx="242888" cy="32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87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F4A9ED1E-6E58-41EF-B33E-D84FAD85849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Gobierno operativo: el servicio se controla por ciclos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6DBF556-EF1C-4B10-9F4F-1368A35BCE1C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Rutinas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claras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para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que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la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mejora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no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dependa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de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héroes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1D3C868-8914-4670-9279-9CF67622913F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217170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070C0"/>
                </a:solidFill>
                <a:latin typeface="Reddit Sans"/>
                <a:ea typeface="Reddit Sans"/>
              </a:rPr>
              <a:t>Diario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9EB56C4-CE10-41E0-9D9D-FC95A1D96D89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2171700" cy="11620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Stand-up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operativo</a:t>
            </a:r>
            <a:endParaRPr lang="es-ES" sz="850" err="1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Tickets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críticos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Alertas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AIOps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Bloqueos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de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capacidad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E91D4E0-1A53-4498-B1E3-FAF7EDBB8DB1}"/>
              </a:ext>
            </a:extLst>
          </p:cNvPr>
          <p:cNvSpPr>
            <a:spLocks noGrp="1"/>
          </p:cNvSpPr>
          <p:nvPr/>
        </p:nvSpPr>
        <p:spPr>
          <a:xfrm>
            <a:off x="3486150" y="1276350"/>
            <a:ext cx="217170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0070C0"/>
                </a:solidFill>
                <a:latin typeface="Reddit Sans"/>
                <a:ea typeface="Reddit Sans"/>
              </a:rPr>
              <a:t>Semanal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67563FF-C2D7-4634-8F36-C5B3AD8BBC1C}"/>
              </a:ext>
            </a:extLst>
          </p:cNvPr>
          <p:cNvSpPr>
            <a:spLocks noGrp="1"/>
          </p:cNvSpPr>
          <p:nvPr/>
        </p:nvSpPr>
        <p:spPr>
          <a:xfrm>
            <a:off x="3486150" y="1600200"/>
            <a:ext cx="2171700" cy="11620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Revisión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SLA/XLA</a:t>
            </a:r>
            <a:endParaRPr lang="es-ES" sz="850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Tendencias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RCA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Backlog y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cambios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Actualización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KEDB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96F2F58-7ED2-47BB-BCE8-4EB7A911875C}"/>
              </a:ext>
            </a:extLst>
          </p:cNvPr>
          <p:cNvSpPr>
            <a:spLocks noGrp="1"/>
          </p:cNvSpPr>
          <p:nvPr/>
        </p:nvSpPr>
        <p:spPr>
          <a:xfrm>
            <a:off x="6362700" y="1276350"/>
            <a:ext cx="217170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0070C0"/>
                </a:solidFill>
                <a:latin typeface="Reddit Sans"/>
                <a:ea typeface="Reddit Sans"/>
              </a:rPr>
              <a:t>Mensual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C0E508C-8AAF-4375-A547-8BC504097420}"/>
              </a:ext>
            </a:extLst>
          </p:cNvPr>
          <p:cNvSpPr>
            <a:spLocks noGrp="1"/>
          </p:cNvSpPr>
          <p:nvPr/>
        </p:nvSpPr>
        <p:spPr>
          <a:xfrm>
            <a:off x="6362700" y="1600200"/>
            <a:ext cx="2171700" cy="11620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Service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Review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cliente</a:t>
            </a:r>
            <a:endParaRPr lang="es-ES" sz="850" err="1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Reporte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ejecutivo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Plan de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mejora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Ajustes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de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alcance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B9ED9C4-70A3-47A1-9209-3EF909CF5FD8}"/>
              </a:ext>
            </a:extLst>
          </p:cNvPr>
          <p:cNvSpPr>
            <a:spLocks noGrp="1"/>
          </p:cNvSpPr>
          <p:nvPr/>
        </p:nvSpPr>
        <p:spPr>
          <a:xfrm>
            <a:off x="661307" y="3061607"/>
            <a:ext cx="1807029" cy="10640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 b="1">
                <a:solidFill>
                  <a:srgbClr val="0C2362"/>
                </a:solidFill>
              </a:defRPr>
            </a:pPr>
            <a:r>
              <a:rPr sz="1050" b="1">
                <a:solidFill>
                  <a:srgbClr val="0070C0"/>
                </a:solidFill>
                <a:highlight>
                  <a:srgbClr val="FFFF00"/>
                </a:highlight>
                <a:latin typeface="Reddit Sans"/>
                <a:ea typeface="Reddit Sans"/>
              </a:rPr>
              <a:t>Roles </a:t>
            </a:r>
            <a:r>
              <a:rPr lang="es-ES" sz="1050" b="1">
                <a:solidFill>
                  <a:srgbClr val="0070C0"/>
                </a:solidFill>
                <a:highlight>
                  <a:srgbClr val="FFFF00"/>
                </a:highlight>
                <a:latin typeface="Reddit Sans"/>
                <a:ea typeface="Reddit Sans"/>
              </a:rPr>
              <a:t>mínimos</a:t>
            </a:r>
            <a:r>
              <a:rPr sz="1050" b="1">
                <a:solidFill>
                  <a:srgbClr val="0070C0"/>
                </a:solidFill>
                <a:highlight>
                  <a:srgbClr val="FFFF00"/>
                </a:highlight>
                <a:latin typeface="Reddit Sans"/>
                <a:ea typeface="Reddit Sans"/>
              </a:rPr>
              <a:t>: </a:t>
            </a:r>
            <a:endParaRPr lang="es-ES" sz="1050">
              <a:solidFill>
                <a:srgbClr val="0070C0"/>
              </a:solidFill>
              <a:highlight>
                <a:srgbClr val="FFFF00"/>
              </a:highlight>
              <a:latin typeface="Reddit Sans"/>
              <a:ea typeface="Reddit Sans"/>
            </a:endParaRPr>
          </a:p>
          <a:p>
            <a:pPr>
              <a:defRPr sz="1050" b="1">
                <a:solidFill>
                  <a:srgbClr val="0C2362"/>
                </a:solidFill>
              </a:defRPr>
            </a:pPr>
            <a:endParaRPr lang="es-ES" sz="1050">
              <a:solidFill>
                <a:srgbClr val="0C2362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1050" b="1">
                <a:solidFill>
                  <a:srgbClr val="0C2362"/>
                </a:solidFill>
              </a:defRPr>
            </a:pPr>
            <a:r>
              <a:rPr sz="850">
                <a:solidFill>
                  <a:srgbClr val="172033"/>
                </a:solidFill>
                <a:latin typeface="Reddit Sans"/>
                <a:ea typeface="Reddit Sans"/>
              </a:rPr>
              <a:t>Gerente de Mesa</a:t>
            </a:r>
            <a:endParaRPr lang="es-ES" sz="85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50">
                <a:solidFill>
                  <a:srgbClr val="172033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Coordinador de Servicio</a:t>
            </a:r>
            <a:endParaRPr lang="es-ES" sz="850">
              <a:solidFill>
                <a:srgbClr val="172033"/>
              </a:solidFill>
              <a:highlight>
                <a:srgbClr val="FFFF00"/>
              </a:highlight>
              <a:latin typeface="Reddit Sans"/>
              <a:ea typeface="Reddit Sans"/>
            </a:endParaRP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50" err="1">
                <a:solidFill>
                  <a:srgbClr val="172033"/>
                </a:solidFill>
                <a:latin typeface="Reddit Sans"/>
                <a:ea typeface="Reddit Sans"/>
              </a:rPr>
              <a:t>Líder</a:t>
            </a:r>
            <a:r>
              <a:rPr sz="850">
                <a:solidFill>
                  <a:srgbClr val="172033"/>
                </a:solidFill>
                <a:latin typeface="Reddit Sans"/>
                <a:ea typeface="Reddit Sans"/>
              </a:rPr>
              <a:t> Técnico, </a:t>
            </a:r>
            <a:r>
              <a:rPr sz="850" err="1">
                <a:solidFill>
                  <a:srgbClr val="172033"/>
                </a:solidFill>
                <a:latin typeface="Reddit Sans"/>
                <a:ea typeface="Reddit Sans"/>
              </a:rPr>
              <a:t>Analistas</a:t>
            </a:r>
            <a:r>
              <a:rPr sz="850">
                <a:solidFill>
                  <a:srgbClr val="172033"/>
                </a:solidFill>
                <a:latin typeface="Reddit Sans"/>
                <a:ea typeface="Reddit Sans"/>
              </a:rPr>
              <a:t> N1/</a:t>
            </a: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N2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Especialistas</a:t>
            </a:r>
            <a:r>
              <a:rPr sz="85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N3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50">
                <a:solidFill>
                  <a:srgbClr val="172033"/>
                </a:solidFill>
                <a:latin typeface="Reddit Sans"/>
                <a:ea typeface="Reddit Sans"/>
              </a:rPr>
              <a:t>Gobierno</a:t>
            </a:r>
            <a:r>
              <a:rPr sz="850">
                <a:solidFill>
                  <a:srgbClr val="172033"/>
                </a:solidFill>
                <a:latin typeface="Reddit Sans"/>
                <a:ea typeface="Reddit Sans"/>
              </a:rPr>
              <a:t> IA/Datos.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36766F4-82F0-7A77-9BC1-B760E5A21C02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30F927-7973-C00F-1291-26E7988E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B7599A-11BB-C6B2-4E20-5C9A79A79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091973"/>
            <a:ext cx="6000750" cy="331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41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6EEE6-CCF6-1FE2-71E3-3AC29E361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F901F8AD-9DC6-BBBA-1522-DED6DB401EE7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Gobierno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operativo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: el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servicio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se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controla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por</a:t>
            </a:r>
            <a:r>
              <a:rPr sz="1650" b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</a:t>
            </a:r>
            <a:r>
              <a:rPr sz="1650" b="1" err="1">
                <a:solidFill>
                  <a:srgbClr val="0C2362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ciclos</a:t>
            </a:r>
            <a:endParaRPr lang="es-ES" sz="1650" b="1" err="1">
              <a:solidFill>
                <a:srgbClr val="0C2362"/>
              </a:solidFill>
              <a:highlight>
                <a:srgbClr val="FFFF00"/>
              </a:highlight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5A57D69-DFE5-7550-4060-24ED3BC93E45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Rutinas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claras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para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que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la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mejora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no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dependa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de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héroes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EC09CDB-7BFB-1F12-D81A-97D697A7A05A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  <p:pic>
        <p:nvPicPr>
          <p:cNvPr id="6" name="Image 0" descr="472c3e62.png">
            <a:extLst>
              <a:ext uri="{FF2B5EF4-FFF2-40B4-BE49-F238E27FC236}">
                <a16:creationId xmlns:a16="http://schemas.microsoft.com/office/drawing/2014/main" id="{BD4F3B8A-3877-BFA4-3C94-D52592C17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17" y="1443245"/>
            <a:ext cx="2907506" cy="892969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763C01AD-EED1-6AF2-410C-EC8AB720E503}"/>
              </a:ext>
            </a:extLst>
          </p:cNvPr>
          <p:cNvSpPr/>
          <p:nvPr/>
        </p:nvSpPr>
        <p:spPr>
          <a:xfrm>
            <a:off x="333036" y="1825905"/>
            <a:ext cx="2619301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Diario: Stand-up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DFFF940-ED11-462E-D101-3A468EF422B5}"/>
              </a:ext>
            </a:extLst>
          </p:cNvPr>
          <p:cNvSpPr/>
          <p:nvPr/>
        </p:nvSpPr>
        <p:spPr>
          <a:xfrm>
            <a:off x="511629" y="2434351"/>
            <a:ext cx="2619301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Sincronización rápida y gestión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bloqueos operativos.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591268A-1575-249A-C718-6133F23F2325}"/>
              </a:ext>
            </a:extLst>
          </p:cNvPr>
          <p:cNvSpPr/>
          <p:nvPr/>
        </p:nvSpPr>
        <p:spPr>
          <a:xfrm>
            <a:off x="1571248" y="1264651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1" descr="-2ca8955e.png">
            <a:extLst>
              <a:ext uri="{FF2B5EF4-FFF2-40B4-BE49-F238E27FC236}">
                <a16:creationId xmlns:a16="http://schemas.microsoft.com/office/drawing/2014/main" id="{48022981-57A5-6983-EB04-59415F324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682" y="1382551"/>
            <a:ext cx="142875" cy="121444"/>
          </a:xfrm>
          <a:prstGeom prst="rect">
            <a:avLst/>
          </a:prstGeom>
        </p:spPr>
      </p:pic>
      <p:pic>
        <p:nvPicPr>
          <p:cNvPr id="23" name="Image 2" descr="-6f0fad5e.png">
            <a:extLst>
              <a:ext uri="{FF2B5EF4-FFF2-40B4-BE49-F238E27FC236}">
                <a16:creationId xmlns:a16="http://schemas.microsoft.com/office/drawing/2014/main" id="{67EF8405-8303-22D8-E1BA-F30CA2C85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493" y="1443245"/>
            <a:ext cx="2907506" cy="892969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278EFADE-81B9-D3D6-DA44-F694B3B26AE6}"/>
              </a:ext>
            </a:extLst>
          </p:cNvPr>
          <p:cNvSpPr/>
          <p:nvPr/>
        </p:nvSpPr>
        <p:spPr>
          <a:xfrm>
            <a:off x="3309598" y="1825905"/>
            <a:ext cx="2404988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Semanal: SLA / XLA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141466D-2D7E-D4CD-1A4D-5C825E0D79FC}"/>
              </a:ext>
            </a:extLst>
          </p:cNvPr>
          <p:cNvSpPr/>
          <p:nvPr/>
        </p:nvSpPr>
        <p:spPr>
          <a:xfrm>
            <a:off x="3273879" y="2434351"/>
            <a:ext cx="2619301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Análisis de niveles de servicio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experiencia del usuario.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23205769-EA43-4DF4-C9C7-A908F9C68808}"/>
              </a:ext>
            </a:extLst>
          </p:cNvPr>
          <p:cNvSpPr/>
          <p:nvPr/>
        </p:nvSpPr>
        <p:spPr>
          <a:xfrm>
            <a:off x="4333423" y="1264651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1" name="Image 3" descr="-38c1a09e.png">
            <a:extLst>
              <a:ext uri="{FF2B5EF4-FFF2-40B4-BE49-F238E27FC236}">
                <a16:creationId xmlns:a16="http://schemas.microsoft.com/office/drawing/2014/main" id="{C84BFE4C-D053-42AF-027D-CF071393CE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859" y="1382551"/>
            <a:ext cx="142875" cy="121444"/>
          </a:xfrm>
          <a:prstGeom prst="rect">
            <a:avLst/>
          </a:prstGeom>
        </p:spPr>
      </p:pic>
      <p:pic>
        <p:nvPicPr>
          <p:cNvPr id="33" name="Image 4" descr="-734981e.png">
            <a:extLst>
              <a:ext uri="{FF2B5EF4-FFF2-40B4-BE49-F238E27FC236}">
                <a16:creationId xmlns:a16="http://schemas.microsoft.com/office/drawing/2014/main" id="{EC0A3137-5559-6D50-2981-D79900D9FD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1780" y="1443245"/>
            <a:ext cx="2907506" cy="892969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6EA97256-B218-06D6-6229-6DFB3B7FBB22}"/>
              </a:ext>
            </a:extLst>
          </p:cNvPr>
          <p:cNvSpPr/>
          <p:nvPr/>
        </p:nvSpPr>
        <p:spPr>
          <a:xfrm>
            <a:off x="6071848" y="1825905"/>
            <a:ext cx="2404988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Mensual: Service Review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2758C674-803C-4AE8-7B05-026716D11D32}"/>
              </a:ext>
            </a:extLst>
          </p:cNvPr>
          <p:cNvSpPr/>
          <p:nvPr/>
        </p:nvSpPr>
        <p:spPr>
          <a:xfrm>
            <a:off x="6036130" y="2434351"/>
            <a:ext cx="2754875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Evaluación de desempeño, tendencias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y mejora continua.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E84AFF23-236E-8917-A98C-2F40A4B4C9EB}"/>
              </a:ext>
            </a:extLst>
          </p:cNvPr>
          <p:cNvSpPr/>
          <p:nvPr/>
        </p:nvSpPr>
        <p:spPr>
          <a:xfrm>
            <a:off x="7095711" y="1264651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1" name="Image 5" descr="2f0a8722.png">
            <a:extLst>
              <a:ext uri="{FF2B5EF4-FFF2-40B4-BE49-F238E27FC236}">
                <a16:creationId xmlns:a16="http://schemas.microsoft.com/office/drawing/2014/main" id="{89ABEEF2-8CAE-CF40-43A8-2DDED7E509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3611" y="1361624"/>
            <a:ext cx="121444" cy="1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67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">
            <a:extLst>
              <a:ext uri="{FF2B5EF4-FFF2-40B4-BE49-F238E27FC236}">
                <a16:creationId xmlns:a16="http://schemas.microsoft.com/office/drawing/2014/main" id="{106B552C-4355-4AE2-9410-1725D41D4113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Métricas del servicio: de tickets cerrados a valor demostrado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6037EDF-6415-4C01-BD05-61D7B035B888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El tablero debe combinar operación, experiencia, economía y evolución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BE2B1AF-40A1-4893-AD40-72825B0CE011}"/>
              </a:ext>
            </a:extLst>
          </p:cNvPr>
          <p:cNvSpPr>
            <a:spLocks noGrp="1"/>
          </p:cNvSpPr>
          <p:nvPr/>
        </p:nvSpPr>
        <p:spPr>
          <a:xfrm>
            <a:off x="676275" y="1238250"/>
            <a:ext cx="340995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B8C"/>
                </a:solidFill>
              </a:defRPr>
            </a:pPr>
            <a:r>
              <a:rPr sz="1050" b="1">
                <a:solidFill>
                  <a:srgbClr val="163B8C"/>
                </a:solidFill>
                <a:latin typeface="Reddit Sans"/>
                <a:ea typeface="Reddit Sans"/>
              </a:rPr>
              <a:t>Operación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49CC4CB-8055-49BE-AC29-D8D09D268D3B}"/>
              </a:ext>
            </a:extLst>
          </p:cNvPr>
          <p:cNvSpPr>
            <a:spLocks noGrp="1"/>
          </p:cNvSpPr>
          <p:nvPr/>
        </p:nvSpPr>
        <p:spPr>
          <a:xfrm>
            <a:off x="676275" y="1562100"/>
            <a:ext cx="3409950" cy="6667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FCR</a:t>
            </a:r>
            <a:endParaRPr lang="es-ES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MTTR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Cumplimiento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SLA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Backlog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prioridad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7AEBCC5-2CA9-4A39-B000-22A2CAA641C8}"/>
              </a:ext>
            </a:extLst>
          </p:cNvPr>
          <p:cNvSpPr>
            <a:spLocks noGrp="1"/>
          </p:cNvSpPr>
          <p:nvPr/>
        </p:nvSpPr>
        <p:spPr>
          <a:xfrm>
            <a:off x="5038725" y="1238250"/>
            <a:ext cx="340995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B83"/>
                </a:solidFill>
              </a:defRPr>
            </a:pPr>
            <a:r>
              <a:rPr sz="1050" b="1">
                <a:solidFill>
                  <a:srgbClr val="083C92"/>
                </a:solidFill>
                <a:latin typeface="Reddit Sans"/>
                <a:ea typeface="Reddit Sans"/>
              </a:rPr>
              <a:t>Experiencia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D9E31EE-481C-4A9B-9699-BF471D188B9E}"/>
              </a:ext>
            </a:extLst>
          </p:cNvPr>
          <p:cNvSpPr>
            <a:spLocks noGrp="1"/>
          </p:cNvSpPr>
          <p:nvPr/>
        </p:nvSpPr>
        <p:spPr>
          <a:xfrm>
            <a:off x="5038725" y="1562100"/>
            <a:ext cx="3409950" cy="6667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CSAT</a:t>
            </a:r>
            <a:endParaRPr lang="es-ES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XLA / DEX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Esfuerzo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del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usuario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Reaperturas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C74EA49-E021-4A9C-9B1E-96A41D399694}"/>
              </a:ext>
            </a:extLst>
          </p:cNvPr>
          <p:cNvSpPr>
            <a:spLocks noGrp="1"/>
          </p:cNvSpPr>
          <p:nvPr/>
        </p:nvSpPr>
        <p:spPr>
          <a:xfrm>
            <a:off x="676275" y="2509157"/>
            <a:ext cx="340995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0835A"/>
                </a:solidFill>
              </a:defRPr>
            </a:pPr>
            <a:r>
              <a:rPr sz="1050" b="1">
                <a:solidFill>
                  <a:srgbClr val="083C92"/>
                </a:solidFill>
                <a:latin typeface="Reddit Sans"/>
                <a:ea typeface="Reddit Sans"/>
              </a:rPr>
              <a:t>Economía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66D574F-9ABD-452F-898E-D7ADC7A3B851}"/>
              </a:ext>
            </a:extLst>
          </p:cNvPr>
          <p:cNvSpPr>
            <a:spLocks noGrp="1"/>
          </p:cNvSpPr>
          <p:nvPr/>
        </p:nvSpPr>
        <p:spPr>
          <a:xfrm>
            <a:off x="676275" y="2833007"/>
            <a:ext cx="3409950" cy="6667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Costo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ticket</a:t>
            </a:r>
            <a:endParaRPr lang="es-ES"/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Deflexión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N0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Productividad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nivel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Margen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del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servicio</a:t>
            </a:r>
            <a:endParaRPr sz="85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13D23F9-7E23-428D-A120-4DC8897CE9B0}"/>
              </a:ext>
            </a:extLst>
          </p:cNvPr>
          <p:cNvSpPr>
            <a:spLocks noGrp="1"/>
          </p:cNvSpPr>
          <p:nvPr/>
        </p:nvSpPr>
        <p:spPr>
          <a:xfrm>
            <a:off x="5038725" y="2509157"/>
            <a:ext cx="3409950" cy="2476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47A00"/>
                </a:solidFill>
              </a:defRPr>
            </a:pPr>
            <a:r>
              <a:rPr sz="1050" b="1">
                <a:solidFill>
                  <a:srgbClr val="083C92"/>
                </a:solidFill>
                <a:latin typeface="Reddit Sans"/>
                <a:ea typeface="Reddit Sans"/>
              </a:rPr>
              <a:t>Evolución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3F83CF1-E915-4FC6-969B-4BA3AB85D980}"/>
              </a:ext>
            </a:extLst>
          </p:cNvPr>
          <p:cNvSpPr>
            <a:spLocks noGrp="1"/>
          </p:cNvSpPr>
          <p:nvPr/>
        </p:nvSpPr>
        <p:spPr>
          <a:xfrm>
            <a:off x="5038725" y="2833007"/>
            <a:ext cx="3409950" cy="6667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%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automatización</a:t>
            </a:r>
            <a:endParaRPr lang="es-ES" sz="850" err="1"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Uso KEDB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Problemas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recurrentes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Mejoras</a:t>
            </a:r>
            <a:r>
              <a:rPr sz="850" b="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850" b="0" err="1">
                <a:solidFill>
                  <a:srgbClr val="172033"/>
                </a:solidFill>
                <a:latin typeface="Reddit Sans"/>
                <a:ea typeface="Reddit Sans"/>
              </a:rPr>
              <a:t>implementadas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449F463-9CDC-437F-8D77-F76E9199DD32}"/>
              </a:ext>
            </a:extLst>
          </p:cNvPr>
          <p:cNvSpPr>
            <a:spLocks noGrp="1"/>
          </p:cNvSpPr>
          <p:nvPr/>
        </p:nvSpPr>
        <p:spPr>
          <a:xfrm>
            <a:off x="595993" y="4148818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200" b="1">
                <a:solidFill>
                  <a:srgbClr val="0C2362"/>
                </a:solidFill>
              </a:defRPr>
            </a:pP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Meta de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madurez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: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que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el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cliente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vea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menos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interrupciones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y </a:t>
            </a:r>
            <a:r>
              <a:rPr lang="es-ES" sz="1200" b="1" err="1">
                <a:solidFill>
                  <a:srgbClr val="0C2362"/>
                </a:solidFill>
                <a:latin typeface="Reddit Sans"/>
                <a:ea typeface="Reddit Sans"/>
              </a:rPr>
              <a:t>PersonalSoft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vea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mejor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margen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por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sz="1200" b="1" err="1">
                <a:solidFill>
                  <a:srgbClr val="0C2362"/>
                </a:solidFill>
                <a:latin typeface="Reddit Sans"/>
                <a:ea typeface="Reddit Sans"/>
              </a:rPr>
              <a:t>automatización</a:t>
            </a:r>
            <a:r>
              <a:rPr sz="1200" b="1">
                <a:solidFill>
                  <a:srgbClr val="0C2362"/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9CEEC25-F3FE-7107-AE49-998985FD0512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5026C357-3705-477D-8BBC-14D733773D1B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sz="1650" b="1" dirty="0">
                <a:solidFill>
                  <a:srgbClr val="0C2362"/>
                </a:solidFill>
                <a:latin typeface="Reddit Sans"/>
                <a:ea typeface="Reddit Sans"/>
              </a:rPr>
              <a:t>Roadmap de </a:t>
            </a:r>
            <a:r>
              <a:rPr sz="1650" b="1" err="1">
                <a:solidFill>
                  <a:srgbClr val="0C2362"/>
                </a:solidFill>
                <a:latin typeface="Reddit Sans"/>
                <a:ea typeface="Reddit Sans"/>
              </a:rPr>
              <a:t>adopción</a:t>
            </a:r>
            <a:r>
              <a:rPr sz="1650" b="1" dirty="0">
                <a:solidFill>
                  <a:srgbClr val="0C2362"/>
                </a:solidFill>
                <a:latin typeface="Reddit Sans"/>
                <a:ea typeface="Reddit Sans"/>
              </a:rPr>
              <a:t> para </a:t>
            </a:r>
            <a:r>
              <a:rPr sz="1650" b="1" err="1">
                <a:solidFill>
                  <a:srgbClr val="0C2362"/>
                </a:solidFill>
                <a:latin typeface="Reddit Sans"/>
                <a:ea typeface="Reddit Sans"/>
              </a:rPr>
              <a:t>desplegar</a:t>
            </a:r>
            <a:r>
              <a:rPr sz="1650" b="1" dirty="0">
                <a:solidFill>
                  <a:srgbClr val="0C2362"/>
                </a:solidFill>
                <a:latin typeface="Reddit Sans"/>
                <a:ea typeface="Reddit Sans"/>
              </a:rPr>
              <a:t> la Mesa </a:t>
            </a:r>
            <a:r>
              <a:rPr lang="es-ES" sz="1650" b="1" dirty="0">
                <a:solidFill>
                  <a:srgbClr val="0C2362"/>
                </a:solidFill>
                <a:latin typeface="Reddit Sans"/>
                <a:ea typeface="Reddit Sans"/>
              </a:rPr>
              <a:t>de Servicio de Nueva Generación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(Next Gen)</a:t>
            </a:r>
            <a:endParaRPr sz="1650" b="1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E1E3955-C63B-4395-8EC8-C21A833B5E63}"/>
              </a:ext>
            </a:extLst>
          </p:cNvPr>
          <p:cNvSpPr>
            <a:spLocks noGrp="1"/>
          </p:cNvSpPr>
          <p:nvPr/>
        </p:nvSpPr>
        <p:spPr>
          <a:xfrm>
            <a:off x="334736" y="842282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Diseñar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el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servicio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en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oleadas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reduce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riesgo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acelera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valor</a:t>
            </a:r>
          </a:p>
        </p:txBody>
      </p:sp>
      <p:sp>
        <p:nvSpPr>
          <p:cNvPr id="3" name="phase">
            <a:extLst>
              <a:ext uri="{FF2B5EF4-FFF2-40B4-BE49-F238E27FC236}">
                <a16:creationId xmlns:a16="http://schemas.microsoft.com/office/drawing/2014/main" id="{B18BB039-51DC-4FC2-BD26-FE88F292EA57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1790700" cy="20002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phase-head">
            <a:extLst>
              <a:ext uri="{FF2B5EF4-FFF2-40B4-BE49-F238E27FC236}">
                <a16:creationId xmlns:a16="http://schemas.microsoft.com/office/drawing/2014/main" id="{5BB466A5-E0D2-4910-91F0-1275450A95A1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1790700" cy="438150"/>
          </a:xfrm>
          <a:prstGeom prst="roundRect">
            <a:avLst>
              <a:gd name="adj" fmla="val 130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F48EF22-30FF-4E4A-BBAF-380C8613F5DC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Reddit Sans"/>
                <a:ea typeface="Reddit Sans"/>
              </a:rPr>
              <a:t>0-30 días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823419C-FFE7-4FC4-9779-65B2D35FFE73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  <a:latin typeface="Reddit Sans"/>
                <a:ea typeface="Reddit Sans"/>
              </a:rPr>
              <a:t>Diagnóstico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C047F4B-EEAE-485C-95C2-B3BB95F836DE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144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Madurez N0-N5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Volumen y criticidad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Brechas de gobierno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FA92142E-A91A-4AF1-9D4B-9C4632144BF3}"/>
              </a:ext>
            </a:extLst>
          </p:cNvPr>
          <p:cNvSpPr>
            <a:spLocks noGrp="1"/>
          </p:cNvSpPr>
          <p:nvPr/>
        </p:nvSpPr>
        <p:spPr>
          <a:xfrm>
            <a:off x="2324100" y="2095500"/>
            <a:ext cx="361950" cy="2857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phase">
            <a:extLst>
              <a:ext uri="{FF2B5EF4-FFF2-40B4-BE49-F238E27FC236}">
                <a16:creationId xmlns:a16="http://schemas.microsoft.com/office/drawing/2014/main" id="{3BCEBA44-9549-4355-AB5D-E0FBE80C3305}"/>
              </a:ext>
            </a:extLst>
          </p:cNvPr>
          <p:cNvSpPr>
            <a:spLocks noGrp="1"/>
          </p:cNvSpPr>
          <p:nvPr/>
        </p:nvSpPr>
        <p:spPr>
          <a:xfrm>
            <a:off x="2647950" y="1314450"/>
            <a:ext cx="1790700" cy="20002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phase-head">
            <a:extLst>
              <a:ext uri="{FF2B5EF4-FFF2-40B4-BE49-F238E27FC236}">
                <a16:creationId xmlns:a16="http://schemas.microsoft.com/office/drawing/2014/main" id="{B544B780-B4D8-4061-B53A-E8BDE3D15144}"/>
              </a:ext>
            </a:extLst>
          </p:cNvPr>
          <p:cNvSpPr>
            <a:spLocks noGrp="1"/>
          </p:cNvSpPr>
          <p:nvPr/>
        </p:nvSpPr>
        <p:spPr>
          <a:xfrm>
            <a:off x="2647950" y="1314450"/>
            <a:ext cx="1790700" cy="438150"/>
          </a:xfrm>
          <a:prstGeom prst="roundRect">
            <a:avLst>
              <a:gd name="adj" fmla="val 130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16DE1AC-E1AB-44B3-B389-65BED1C3B6EB}"/>
              </a:ext>
            </a:extLst>
          </p:cNvPr>
          <p:cNvSpPr>
            <a:spLocks noGrp="1"/>
          </p:cNvSpPr>
          <p:nvPr/>
        </p:nvSpPr>
        <p:spPr>
          <a:xfrm>
            <a:off x="2762250" y="1428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Reddit Sans"/>
                <a:ea typeface="Reddit Sans"/>
              </a:rPr>
              <a:t>31-60 días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023BB64-4543-4E1B-8488-6405CE3A5C79}"/>
              </a:ext>
            </a:extLst>
          </p:cNvPr>
          <p:cNvSpPr>
            <a:spLocks noGrp="1"/>
          </p:cNvSpPr>
          <p:nvPr/>
        </p:nvSpPr>
        <p:spPr>
          <a:xfrm>
            <a:off x="2819400" y="19526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  <a:latin typeface="Reddit Sans"/>
                <a:ea typeface="Reddit Sans"/>
              </a:rPr>
              <a:t>Diseño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10032AA-C8C9-48D0-9562-8DF5049C8250}"/>
              </a:ext>
            </a:extLst>
          </p:cNvPr>
          <p:cNvSpPr>
            <a:spLocks noGrp="1"/>
          </p:cNvSpPr>
          <p:nvPr/>
        </p:nvSpPr>
        <p:spPr>
          <a:xfrm>
            <a:off x="2819400" y="2400300"/>
            <a:ext cx="144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Catálogo y RACI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SLA/XLA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Modelo económico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44A596BA-ABF1-4687-BFC2-7E7E569FA281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361950" cy="2857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phase">
            <a:extLst>
              <a:ext uri="{FF2B5EF4-FFF2-40B4-BE49-F238E27FC236}">
                <a16:creationId xmlns:a16="http://schemas.microsoft.com/office/drawing/2014/main" id="{95391E5E-9387-4B62-9FD4-E81FB2A8A4C0}"/>
              </a:ext>
            </a:extLst>
          </p:cNvPr>
          <p:cNvSpPr>
            <a:spLocks noGrp="1"/>
          </p:cNvSpPr>
          <p:nvPr/>
        </p:nvSpPr>
        <p:spPr>
          <a:xfrm>
            <a:off x="4800600" y="1314450"/>
            <a:ext cx="1790700" cy="20002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phase-head">
            <a:extLst>
              <a:ext uri="{FF2B5EF4-FFF2-40B4-BE49-F238E27FC236}">
                <a16:creationId xmlns:a16="http://schemas.microsoft.com/office/drawing/2014/main" id="{B4999CAE-7D4D-42BE-AE59-A8A5F85D0BDE}"/>
              </a:ext>
            </a:extLst>
          </p:cNvPr>
          <p:cNvSpPr>
            <a:spLocks noGrp="1"/>
          </p:cNvSpPr>
          <p:nvPr/>
        </p:nvSpPr>
        <p:spPr>
          <a:xfrm>
            <a:off x="4800600" y="1314450"/>
            <a:ext cx="1790700" cy="438150"/>
          </a:xfrm>
          <a:prstGeom prst="roundRect">
            <a:avLst>
              <a:gd name="adj" fmla="val 130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B01D4A1-AF82-4997-86AE-423D4F53347E}"/>
              </a:ext>
            </a:extLst>
          </p:cNvPr>
          <p:cNvSpPr>
            <a:spLocks noGrp="1"/>
          </p:cNvSpPr>
          <p:nvPr/>
        </p:nvSpPr>
        <p:spPr>
          <a:xfrm>
            <a:off x="4914900" y="1428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Reddit Sans"/>
                <a:ea typeface="Reddit Sans"/>
              </a:rPr>
              <a:t>61-90 días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ED98DB5-A611-4F00-99B0-8179C97A87F8}"/>
              </a:ext>
            </a:extLst>
          </p:cNvPr>
          <p:cNvSpPr>
            <a:spLocks noGrp="1"/>
          </p:cNvSpPr>
          <p:nvPr/>
        </p:nvSpPr>
        <p:spPr>
          <a:xfrm>
            <a:off x="4972050" y="19526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  <a:latin typeface="Reddit Sans"/>
                <a:ea typeface="Reddit Sans"/>
              </a:rPr>
              <a:t>Implementación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DA6150A-A490-41F9-A5FF-851ABC78113D}"/>
              </a:ext>
            </a:extLst>
          </p:cNvPr>
          <p:cNvSpPr>
            <a:spLocks noGrp="1"/>
          </p:cNvSpPr>
          <p:nvPr/>
        </p:nvSpPr>
        <p:spPr>
          <a:xfrm>
            <a:off x="4972050" y="2400300"/>
            <a:ext cx="144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Canales e ITSM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KEDB inicial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Dashboards</a:t>
            </a: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71CB4D22-B187-410E-ADD7-5AFCEF300116}"/>
              </a:ext>
            </a:extLst>
          </p:cNvPr>
          <p:cNvSpPr>
            <a:spLocks noGrp="1"/>
          </p:cNvSpPr>
          <p:nvPr/>
        </p:nvSpPr>
        <p:spPr>
          <a:xfrm>
            <a:off x="6629400" y="2095500"/>
            <a:ext cx="361950" cy="285750"/>
          </a:xfrm>
          <a:prstGeom prst="rightArrow">
            <a:avLst/>
          </a:prstGeom>
          <a:solidFill>
            <a:srgbClr val="1E5EBE"/>
          </a:solidFill>
          <a:ln w="11430">
            <a:solidFill>
              <a:srgbClr val="1E5E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phase">
            <a:extLst>
              <a:ext uri="{FF2B5EF4-FFF2-40B4-BE49-F238E27FC236}">
                <a16:creationId xmlns:a16="http://schemas.microsoft.com/office/drawing/2014/main" id="{45813248-0111-4170-ADD9-C08116624AB5}"/>
              </a:ext>
            </a:extLst>
          </p:cNvPr>
          <p:cNvSpPr>
            <a:spLocks noGrp="1"/>
          </p:cNvSpPr>
          <p:nvPr/>
        </p:nvSpPr>
        <p:spPr>
          <a:xfrm>
            <a:off x="6953250" y="1314450"/>
            <a:ext cx="1790700" cy="20002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phase-head">
            <a:extLst>
              <a:ext uri="{FF2B5EF4-FFF2-40B4-BE49-F238E27FC236}">
                <a16:creationId xmlns:a16="http://schemas.microsoft.com/office/drawing/2014/main" id="{ADAF4EA8-9D4F-40D3-8879-0048A008A093}"/>
              </a:ext>
            </a:extLst>
          </p:cNvPr>
          <p:cNvSpPr>
            <a:spLocks noGrp="1"/>
          </p:cNvSpPr>
          <p:nvPr/>
        </p:nvSpPr>
        <p:spPr>
          <a:xfrm>
            <a:off x="6953250" y="1314450"/>
            <a:ext cx="1790700" cy="438150"/>
          </a:xfrm>
          <a:prstGeom prst="roundRect">
            <a:avLst>
              <a:gd name="adj" fmla="val 130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998E00C3-AE28-4538-A557-E84727CEAFE7}"/>
              </a:ext>
            </a:extLst>
          </p:cNvPr>
          <p:cNvSpPr>
            <a:spLocks noGrp="1"/>
          </p:cNvSpPr>
          <p:nvPr/>
        </p:nvSpPr>
        <p:spPr>
          <a:xfrm>
            <a:off x="7067550" y="1428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Reddit Sans"/>
                <a:ea typeface="Reddit Sans"/>
              </a:rPr>
              <a:t>90+ días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7CB10D38-3301-4DE9-9BD2-699239AEA614}"/>
              </a:ext>
            </a:extLst>
          </p:cNvPr>
          <p:cNvSpPr>
            <a:spLocks noGrp="1"/>
          </p:cNvSpPr>
          <p:nvPr/>
        </p:nvSpPr>
        <p:spPr>
          <a:xfrm>
            <a:off x="7124700" y="19526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  <a:latin typeface="Reddit Sans"/>
                <a:ea typeface="Reddit Sans"/>
              </a:rPr>
              <a:t>Evolución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AB128DA-CF83-44F3-87C9-F91E36C3167A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144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Agent assist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AIOps</a:t>
            </a:r>
          </a:p>
          <a:p>
            <a:pPr algn="ctr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  <a:latin typeface="Reddit Sans"/>
                <a:ea typeface="Reddit Sans"/>
              </a:rPr>
              <a:t>Automatización y roadmap IA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AF8CF61-8813-8AEC-338E-AC82C6F167D9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77C97E0E-0EEA-0A12-9BAD-BAA9EDE58223}"/>
              </a:ext>
            </a:extLst>
          </p:cNvPr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1DCD7B9-7CB7-75AB-7758-3A7A1AF3FEAA}"/>
              </a:ext>
            </a:extLst>
          </p:cNvPr>
          <p:cNvSpPr/>
          <p:nvPr/>
        </p:nvSpPr>
        <p:spPr>
          <a:xfrm>
            <a:off x="357188" y="1683804"/>
            <a:ext cx="2163395" cy="12343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3240"/>
              </a:lnSpc>
            </a:pPr>
            <a:r>
              <a:rPr lang="en-US" sz="2800" kern="0" spc="-169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Diagrama</a:t>
            </a:r>
            <a:r>
              <a:rPr lang="en-US" sz="2800" kern="0" spc="-169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</a:t>
            </a:r>
            <a:br>
              <a:rPr lang="en-US" sz="2800" kern="0" spc="-169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2800" kern="0" spc="-169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Alto Nivel:</a:t>
            </a:r>
            <a:br>
              <a:rPr lang="en-US" sz="2800" kern="0" spc="-169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2800" kern="0" spc="-169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Next Gen</a:t>
            </a:r>
            <a:endParaRPr lang="en-US" sz="2800" dirty="0">
              <a:latin typeface="Reddit Sans"/>
              <a:ea typeface="Reddit San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ABFA7EC-C9A8-C672-DE1C-4662AC1EA23B}"/>
              </a:ext>
            </a:extLst>
          </p:cNvPr>
          <p:cNvSpPr/>
          <p:nvPr/>
        </p:nvSpPr>
        <p:spPr>
          <a:xfrm>
            <a:off x="357188" y="3002272"/>
            <a:ext cx="2475756" cy="4299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Modelos de servicio adaptados</a:t>
            </a:r>
            <a:b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 infraestructura y agilidad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10" name="Image 0" descr="710556a2.png">
            <a:extLst>
              <a:ext uri="{FF2B5EF4-FFF2-40B4-BE49-F238E27FC236}">
                <a16:creationId xmlns:a16="http://schemas.microsoft.com/office/drawing/2014/main" id="{22C81B10-35AA-67E6-7FED-F76D37173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093" y="1887093"/>
            <a:ext cx="235744" cy="235744"/>
          </a:xfrm>
          <a:prstGeom prst="rect">
            <a:avLst/>
          </a:prstGeom>
        </p:spPr>
      </p:pic>
      <p:pic>
        <p:nvPicPr>
          <p:cNvPr id="12" name="Image 1" descr="-3fd2935e.png">
            <a:extLst>
              <a:ext uri="{FF2B5EF4-FFF2-40B4-BE49-F238E27FC236}">
                <a16:creationId xmlns:a16="http://schemas.microsoft.com/office/drawing/2014/main" id="{7BCBB5F7-C24F-1267-38E8-97698C94B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89" y="2079689"/>
            <a:ext cx="92869" cy="92869"/>
          </a:xfrm>
          <a:prstGeom prst="rect">
            <a:avLst/>
          </a:prstGeom>
        </p:spPr>
      </p:pic>
      <p:pic>
        <p:nvPicPr>
          <p:cNvPr id="14" name="Image 2" descr="59321022.png">
            <a:extLst>
              <a:ext uri="{FF2B5EF4-FFF2-40B4-BE49-F238E27FC236}">
                <a16:creationId xmlns:a16="http://schemas.microsoft.com/office/drawing/2014/main" id="{D9AAD623-EDC4-49A7-5458-5110C0CCA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06" y="1887093"/>
            <a:ext cx="235744" cy="235744"/>
          </a:xfrm>
          <a:prstGeom prst="rect">
            <a:avLst/>
          </a:prstGeom>
        </p:spPr>
      </p:pic>
      <p:pic>
        <p:nvPicPr>
          <p:cNvPr id="16" name="Image 3" descr="-3d415ede.png">
            <a:extLst>
              <a:ext uri="{FF2B5EF4-FFF2-40B4-BE49-F238E27FC236}">
                <a16:creationId xmlns:a16="http://schemas.microsoft.com/office/drawing/2014/main" id="{435CD514-8D1B-5FA1-3D90-D2A07141D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2801" y="2079689"/>
            <a:ext cx="92869" cy="92869"/>
          </a:xfrm>
          <a:prstGeom prst="rect">
            <a:avLst/>
          </a:prstGeom>
        </p:spPr>
      </p:pic>
      <p:pic>
        <p:nvPicPr>
          <p:cNvPr id="18" name="Image 4" descr="710556a2.png">
            <a:extLst>
              <a:ext uri="{FF2B5EF4-FFF2-40B4-BE49-F238E27FC236}">
                <a16:creationId xmlns:a16="http://schemas.microsoft.com/office/drawing/2014/main" id="{268C2575-675A-39B2-78A6-F1B4C012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06" y="3024307"/>
            <a:ext cx="235744" cy="235744"/>
          </a:xfrm>
          <a:prstGeom prst="rect">
            <a:avLst/>
          </a:prstGeom>
        </p:spPr>
      </p:pic>
      <p:pic>
        <p:nvPicPr>
          <p:cNvPr id="20" name="Image 5" descr="-11ea5e1e.png">
            <a:extLst>
              <a:ext uri="{FF2B5EF4-FFF2-40B4-BE49-F238E27FC236}">
                <a16:creationId xmlns:a16="http://schemas.microsoft.com/office/drawing/2014/main" id="{6F55A95A-6CE8-A7A2-E7A4-A4D7AB8EC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801" y="2973801"/>
            <a:ext cx="92869" cy="92869"/>
          </a:xfrm>
          <a:prstGeom prst="rect">
            <a:avLst/>
          </a:prstGeom>
        </p:spPr>
      </p:pic>
      <p:pic>
        <p:nvPicPr>
          <p:cNvPr id="22" name="Image 6" descr="59321022.png">
            <a:extLst>
              <a:ext uri="{FF2B5EF4-FFF2-40B4-BE49-F238E27FC236}">
                <a16:creationId xmlns:a16="http://schemas.microsoft.com/office/drawing/2014/main" id="{AB6923B3-C77E-E798-3FD8-14BE8896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093" y="3024307"/>
            <a:ext cx="235744" cy="235744"/>
          </a:xfrm>
          <a:prstGeom prst="rect">
            <a:avLst/>
          </a:prstGeom>
        </p:spPr>
      </p:pic>
      <p:pic>
        <p:nvPicPr>
          <p:cNvPr id="24" name="Image 7" descr="3aad8ee2.png">
            <a:extLst>
              <a:ext uri="{FF2B5EF4-FFF2-40B4-BE49-F238E27FC236}">
                <a16:creationId xmlns:a16="http://schemas.microsoft.com/office/drawing/2014/main" id="{BBCF81BD-3730-46C3-FFC9-E9F1CEC7CB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689" y="2973801"/>
            <a:ext cx="92869" cy="92869"/>
          </a:xfrm>
          <a:prstGeom prst="rect">
            <a:avLst/>
          </a:prstGeom>
        </p:spPr>
      </p:pic>
      <p:pic>
        <p:nvPicPr>
          <p:cNvPr id="26" name="Image 8" descr="260f0022.png">
            <a:extLst>
              <a:ext uri="{FF2B5EF4-FFF2-40B4-BE49-F238E27FC236}">
                <a16:creationId xmlns:a16="http://schemas.microsoft.com/office/drawing/2014/main" id="{A3B314CC-F842-31D1-E05A-A0C7BBE7D1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688" y="2071688"/>
            <a:ext cx="1000125" cy="1000125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F87CA395-8FBF-DCFE-0A95-86FF7060FB0A}"/>
              </a:ext>
            </a:extLst>
          </p:cNvPr>
          <p:cNvSpPr/>
          <p:nvPr/>
        </p:nvSpPr>
        <p:spPr>
          <a:xfrm>
            <a:off x="5536406" y="2393603"/>
            <a:ext cx="928688" cy="35540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0"/>
              </a:lnSpc>
            </a:pPr>
            <a:r>
              <a:rPr lang="en-US" sz="1200" kern="0" spc="-73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Next Gen</a:t>
            </a:r>
            <a:br>
              <a:rPr lang="en-US" sz="1200" kern="0" spc="-73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200" kern="0" spc="-73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Ecosystem</a:t>
            </a:r>
            <a:endParaRPr lang="en-US" sz="1200">
              <a:latin typeface="Reddit Sans"/>
              <a:ea typeface="Reddit Sans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75B8E55B-E236-D86E-A32E-3BE2AC0A0A8F}"/>
              </a:ext>
            </a:extLst>
          </p:cNvPr>
          <p:cNvSpPr/>
          <p:nvPr/>
        </p:nvSpPr>
        <p:spPr>
          <a:xfrm>
            <a:off x="4087356" y="987415"/>
            <a:ext cx="1493044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Dedicado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8910881-5EC0-32AA-A1B2-116D052892B7}"/>
              </a:ext>
            </a:extLst>
          </p:cNvPr>
          <p:cNvSpPr/>
          <p:nvPr/>
        </p:nvSpPr>
        <p:spPr>
          <a:xfrm>
            <a:off x="4062878" y="1244032"/>
            <a:ext cx="1542001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Recursos exclusivos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para máxima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estabilidad y control.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7027B846-5E6F-BFE3-726B-F41A9F4EF7EF}"/>
              </a:ext>
            </a:extLst>
          </p:cNvPr>
          <p:cNvSpPr/>
          <p:nvPr/>
        </p:nvSpPr>
        <p:spPr>
          <a:xfrm>
            <a:off x="6403240" y="987415"/>
            <a:ext cx="15287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Compartido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C02F8FC0-06C9-58FE-7D66-EBA8CF801B31}"/>
              </a:ext>
            </a:extLst>
          </p:cNvPr>
          <p:cNvSpPr/>
          <p:nvPr/>
        </p:nvSpPr>
        <p:spPr>
          <a:xfrm>
            <a:off x="6374967" y="1244032"/>
            <a:ext cx="1585310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Modelo eficiente que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optimiza la utilización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activos.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EA0909CB-7876-BEE4-AE4E-CBE3A82B0E83}"/>
              </a:ext>
            </a:extLst>
          </p:cNvPr>
          <p:cNvSpPr/>
          <p:nvPr/>
        </p:nvSpPr>
        <p:spPr>
          <a:xfrm>
            <a:off x="6413957" y="3321159"/>
            <a:ext cx="1507331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Express Alfa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6C444354-AD6C-B7B0-8A48-4F73E2614D23}"/>
              </a:ext>
            </a:extLst>
          </p:cNvPr>
          <p:cNvSpPr/>
          <p:nvPr/>
        </p:nvSpPr>
        <p:spPr>
          <a:xfrm>
            <a:off x="6386866" y="3577776"/>
            <a:ext cx="1561512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Solución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despliegue ágil para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respuesta inmediata.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7A1C46E8-4C0A-3B24-C3B8-2E9D5AD594F9}"/>
              </a:ext>
            </a:extLst>
          </p:cNvPr>
          <p:cNvSpPr/>
          <p:nvPr/>
        </p:nvSpPr>
        <p:spPr>
          <a:xfrm>
            <a:off x="4037350" y="3321159"/>
            <a:ext cx="1593056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Full Next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Gen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3E5F4973-E586-A444-09F3-2981E965EDA7}"/>
              </a:ext>
            </a:extLst>
          </p:cNvPr>
          <p:cNvSpPr/>
          <p:nvPr/>
        </p:nvSpPr>
        <p:spPr>
          <a:xfrm>
            <a:off x="4007480" y="3577776"/>
            <a:ext cx="1652796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Integración integral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todas las capacidades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y servicios.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FB6BBC6-D102-8CF3-6173-616C94960329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8580124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A2320-3CDA-75E4-D3C1-EADB3F28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Modelos</a:t>
            </a:r>
            <a:r>
              <a:rPr lang="en-US"/>
              <a:t> de </a:t>
            </a:r>
            <a:r>
              <a:rPr lang="en-US" err="1"/>
              <a:t>Precio</a:t>
            </a:r>
            <a:r>
              <a:rPr lang="en-US"/>
              <a:t>: De FTE a Outcomes</a:t>
            </a:r>
            <a:endParaRPr lang="es-ES"/>
          </a:p>
          <a:p>
            <a:endParaRPr lang="es-E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01CF2D8-F4BB-D085-2CD2-419639C04B6D}"/>
              </a:ext>
            </a:extLst>
          </p:cNvPr>
          <p:cNvSpPr/>
          <p:nvPr/>
        </p:nvSpPr>
        <p:spPr>
          <a:xfrm>
            <a:off x="429645" y="664927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hacia un modelo basado en el valor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6" name="Image 0" descr="75ad58e2.png">
            <a:extLst>
              <a:ext uri="{FF2B5EF4-FFF2-40B4-BE49-F238E27FC236}">
                <a16:creationId xmlns:a16="http://schemas.microsoft.com/office/drawing/2014/main" id="{D22CD3D5-1D54-FB20-C3B7-DC9FDD971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64" y="1307306"/>
            <a:ext cx="1564481" cy="1114425"/>
          </a:xfrm>
          <a:prstGeom prst="rect">
            <a:avLst/>
          </a:prstGeom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C267CBC4-0E8F-700C-F7E1-9AE335A1D257}"/>
              </a:ext>
            </a:extLst>
          </p:cNvPr>
          <p:cNvSpPr/>
          <p:nvPr/>
        </p:nvSpPr>
        <p:spPr>
          <a:xfrm>
            <a:off x="2691766" y="1314450"/>
            <a:ext cx="5199221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CEAE80A-E575-40F0-F103-404BFCF4EE67}"/>
              </a:ext>
            </a:extLst>
          </p:cNvPr>
          <p:cNvSpPr/>
          <p:nvPr/>
        </p:nvSpPr>
        <p:spPr>
          <a:xfrm>
            <a:off x="1736280" y="1662373"/>
            <a:ext cx="1203722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3240"/>
              </a:lnSpc>
            </a:pPr>
            <a:r>
              <a:rPr lang="en-US" sz="2813" kern="0" spc="-169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1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3F4C1FF-7F6C-EC58-C348-4C513CDC1D25}"/>
              </a:ext>
            </a:extLst>
          </p:cNvPr>
          <p:cNvSpPr/>
          <p:nvPr/>
        </p:nvSpPr>
        <p:spPr>
          <a:xfrm>
            <a:off x="3366867" y="1663713"/>
            <a:ext cx="4631271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Pago por FTE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730D491-7919-D5BF-F8C9-C8E66B9242FE}"/>
              </a:ext>
            </a:extLst>
          </p:cNvPr>
          <p:cNvSpPr/>
          <p:nvPr/>
        </p:nvSpPr>
        <p:spPr>
          <a:xfrm>
            <a:off x="3366867" y="1898340"/>
            <a:ext cx="4660080" cy="1758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85"/>
              </a:lnSpc>
              <a:spcBef>
                <a:spcPts val="542"/>
              </a:spcBef>
            </a:pP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basado en el esfuerzo, tiempo y capacidad dedicada al proyecto.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16" name="Image 1" descr="042b0622.png">
            <a:extLst>
              <a:ext uri="{FF2B5EF4-FFF2-40B4-BE49-F238E27FC236}">
                <a16:creationId xmlns:a16="http://schemas.microsoft.com/office/drawing/2014/main" id="{F01B51DA-38FE-823D-EB59-9AD607379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89" y="2464594"/>
            <a:ext cx="2743200" cy="1114425"/>
          </a:xfrm>
          <a:prstGeom prst="rect">
            <a:avLst/>
          </a:prstGeom>
        </p:spPr>
      </p:pic>
      <p:sp>
        <p:nvSpPr>
          <p:cNvPr id="18" name="Shape 6">
            <a:extLst>
              <a:ext uri="{FF2B5EF4-FFF2-40B4-BE49-F238E27FC236}">
                <a16:creationId xmlns:a16="http://schemas.microsoft.com/office/drawing/2014/main" id="{A5A8B984-C055-547F-EBC5-D8C121346EBB}"/>
              </a:ext>
            </a:extLst>
          </p:cNvPr>
          <p:cNvSpPr/>
          <p:nvPr/>
        </p:nvSpPr>
        <p:spPr>
          <a:xfrm>
            <a:off x="3281839" y="2443163"/>
            <a:ext cx="4609148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526A5DE-A84A-C5DB-8D3D-825AE7B2DC08}"/>
              </a:ext>
            </a:extLst>
          </p:cNvPr>
          <p:cNvSpPr/>
          <p:nvPr/>
        </p:nvSpPr>
        <p:spPr>
          <a:xfrm>
            <a:off x="1146206" y="2819660"/>
            <a:ext cx="2383780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3240"/>
              </a:lnSpc>
            </a:pPr>
            <a:r>
              <a:rPr lang="en-US" sz="2813" kern="0" spc="-169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2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6A10479-993E-B86B-1B9A-96413B7EEA43}"/>
              </a:ext>
            </a:extLst>
          </p:cNvPr>
          <p:cNvSpPr/>
          <p:nvPr/>
        </p:nvSpPr>
        <p:spPr>
          <a:xfrm>
            <a:off x="3956941" y="2735275"/>
            <a:ext cx="4041130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Pago por Ticket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07FCDBC-A9DB-4753-E103-AF38DCE7595E}"/>
              </a:ext>
            </a:extLst>
          </p:cNvPr>
          <p:cNvSpPr/>
          <p:nvPr/>
        </p:nvSpPr>
        <p:spPr>
          <a:xfrm>
            <a:off x="3956941" y="2969903"/>
            <a:ext cx="4041130" cy="3516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85"/>
              </a:lnSpc>
              <a:spcBef>
                <a:spcPts val="542"/>
              </a:spcBef>
            </a:pP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operativo basado en el volumen de transacciones o</a:t>
            </a:r>
            <a:b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incidentes resueltos.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26" name="Image 2" descr="680d2f62.png">
            <a:extLst>
              <a:ext uri="{FF2B5EF4-FFF2-40B4-BE49-F238E27FC236}">
                <a16:creationId xmlns:a16="http://schemas.microsoft.com/office/drawing/2014/main" id="{43B78CFE-E6A9-7DC2-A57F-1ADF4CE80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16" y="3621881"/>
            <a:ext cx="3921919" cy="1114425"/>
          </a:xfrm>
          <a:prstGeom prst="rect">
            <a:avLst/>
          </a:prstGeom>
        </p:spPr>
      </p:pic>
      <p:sp>
        <p:nvSpPr>
          <p:cNvPr id="28" name="Shape 10">
            <a:extLst>
              <a:ext uri="{FF2B5EF4-FFF2-40B4-BE49-F238E27FC236}">
                <a16:creationId xmlns:a16="http://schemas.microsoft.com/office/drawing/2014/main" id="{C4F276D3-4706-7144-8A38-96BE76437299}"/>
              </a:ext>
            </a:extLst>
          </p:cNvPr>
          <p:cNvSpPr/>
          <p:nvPr/>
        </p:nvSpPr>
        <p:spPr>
          <a:xfrm>
            <a:off x="3871913" y="3600450"/>
            <a:ext cx="4019074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5A5D4DC-FE08-2825-C603-BCFD1E5F47F0}"/>
              </a:ext>
            </a:extLst>
          </p:cNvPr>
          <p:cNvSpPr/>
          <p:nvPr/>
        </p:nvSpPr>
        <p:spPr>
          <a:xfrm>
            <a:off x="556132" y="3976948"/>
            <a:ext cx="3563950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3240"/>
              </a:lnSpc>
            </a:pPr>
            <a:r>
              <a:rPr lang="en-US" sz="2813" kern="0" spc="-169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3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0484A888-A134-14AC-EF48-0984681B38C7}"/>
              </a:ext>
            </a:extLst>
          </p:cNvPr>
          <p:cNvSpPr/>
          <p:nvPr/>
        </p:nvSpPr>
        <p:spPr>
          <a:xfrm>
            <a:off x="4547015" y="3892563"/>
            <a:ext cx="3451101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Pago por Outcome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544E297C-74FB-2F96-AC4B-EC5601FFDD6D}"/>
              </a:ext>
            </a:extLst>
          </p:cNvPr>
          <p:cNvSpPr/>
          <p:nvPr/>
        </p:nvSpPr>
        <p:spPr>
          <a:xfrm>
            <a:off x="4547015" y="4127190"/>
            <a:ext cx="3451101" cy="3516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85"/>
              </a:lnSpc>
              <a:spcBef>
                <a:spcPts val="542"/>
              </a:spcBef>
            </a:pP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estratégico donde la remuneración está</a:t>
            </a:r>
            <a:b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013" kern="0" spc="-2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vinculada a resultados de negocio y KPIs definidos.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C1D81D7-10AF-02AD-9F56-9095D182E1C0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4549502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5DE9F-3C79-8B8C-D54C-E45EEE05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FCD05C-74BC-3DCF-1CDE-28D0D2620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59"/>
            <a:ext cx="9144000" cy="50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70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6844F-A555-6B31-9B61-0014736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/>
              <a:t>Mesa de Servicio de Nueva Generación</a:t>
            </a:r>
            <a:br>
              <a:rPr lang="es-CO"/>
            </a:br>
            <a:r>
              <a:rPr lang="es-ES" b="0"/>
              <a:t>Modelos de Precio: De FTE a </a:t>
            </a:r>
            <a:r>
              <a:rPr lang="es-ES" b="0" err="1"/>
              <a:t>Outcomes</a:t>
            </a:r>
            <a:r>
              <a:rPr lang="es-ES" b="0"/>
              <a:t> </a:t>
            </a:r>
            <a:endParaRPr lang="es-CO" b="0">
              <a:solidFill>
                <a:srgbClr val="000000"/>
              </a:solidFill>
            </a:endParaRPr>
          </a:p>
          <a:p>
            <a:pPr defTabSz="685800" fontAlgn="ctr">
              <a:lnSpc>
                <a:spcPts val="1406"/>
              </a:lnSpc>
              <a:buClr>
                <a:srgbClr val="000000"/>
              </a:buClr>
              <a:buFont typeface="Arial"/>
              <a:defRPr sz="1050" b="0">
                <a:solidFill>
                  <a:srgbClr val="9AAEE0"/>
                </a:solidFill>
              </a:defRPr>
            </a:pPr>
            <a:endParaRPr lang="es-CO" sz="1100" b="0" spc="-25">
              <a:solidFill>
                <a:srgbClr val="000000">
                  <a:alpha val="55000"/>
                </a:srgbClr>
              </a:solidFill>
              <a:cs typeface="+mn-cs"/>
              <a:sym typeface="Arial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47F5800-07BA-9795-E2BC-5921D7FB5CCE}"/>
              </a:ext>
            </a:extLst>
          </p:cNvPr>
          <p:cNvSpPr/>
          <p:nvPr/>
        </p:nvSpPr>
        <p:spPr>
          <a:xfrm>
            <a:off x="341811" y="7010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CO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Diagrama</a:t>
            </a:r>
            <a:r>
              <a:rPr lang="en-US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de alto </a:t>
            </a:r>
            <a:r>
              <a:rPr lang="es-CO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nivel</a:t>
            </a:r>
          </a:p>
        </p:txBody>
      </p:sp>
      <p:sp>
        <p:nvSpPr>
          <p:cNvPr id="7" name="mhdr">
            <a:extLst>
              <a:ext uri="{FF2B5EF4-FFF2-40B4-BE49-F238E27FC236}">
                <a16:creationId xmlns:a16="http://schemas.microsoft.com/office/drawing/2014/main" id="{11FFC374-B16F-59FB-6D34-D1C4371D0054}"/>
              </a:ext>
            </a:extLst>
          </p:cNvPr>
          <p:cNvSpPr>
            <a:spLocks noGrp="1"/>
          </p:cNvSpPr>
          <p:nvPr/>
        </p:nvSpPr>
        <p:spPr>
          <a:xfrm>
            <a:off x="390797" y="1082040"/>
            <a:ext cx="7635240" cy="256032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mhdrtxt">
            <a:extLst>
              <a:ext uri="{FF2B5EF4-FFF2-40B4-BE49-F238E27FC236}">
                <a16:creationId xmlns:a16="http://schemas.microsoft.com/office/drawing/2014/main" id="{E8B306E9-A6BA-2DB8-93C3-5AEF32FBBDF6}"/>
              </a:ext>
            </a:extLst>
          </p:cNvPr>
          <p:cNvSpPr txBox="1">
            <a:spLocks noGrp="1"/>
          </p:cNvSpPr>
          <p:nvPr/>
        </p:nvSpPr>
        <p:spPr>
          <a:xfrm>
            <a:off x="483326" y="1076597"/>
            <a:ext cx="7646124" cy="2995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SERVICIO BASE — MESA NEXT GEN (N0 → N3)</a:t>
            </a:r>
          </a:p>
        </p:txBody>
      </p:sp>
      <p:sp>
        <p:nvSpPr>
          <p:cNvPr id="11" name="sbg">
            <a:extLst>
              <a:ext uri="{FF2B5EF4-FFF2-40B4-BE49-F238E27FC236}">
                <a16:creationId xmlns:a16="http://schemas.microsoft.com/office/drawing/2014/main" id="{C44DD99C-240B-1B08-F9CE-4E32BEBE6592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3" name="shdr">
            <a:extLst>
              <a:ext uri="{FF2B5EF4-FFF2-40B4-BE49-F238E27FC236}">
                <a16:creationId xmlns:a16="http://schemas.microsoft.com/office/drawing/2014/main" id="{AE5B32E0-E760-2378-4666-12655DE5EE3F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" name="shdr2">
            <a:extLst>
              <a:ext uri="{FF2B5EF4-FFF2-40B4-BE49-F238E27FC236}">
                <a16:creationId xmlns:a16="http://schemas.microsoft.com/office/drawing/2014/main" id="{2CECBD38-CACE-5FCE-38F2-7C53AF17EBFB}"/>
              </a:ext>
            </a:extLst>
          </p:cNvPr>
          <p:cNvSpPr>
            <a:spLocks noGrp="1"/>
          </p:cNvSpPr>
          <p:nvPr/>
        </p:nvSpPr>
        <p:spPr>
          <a:xfrm>
            <a:off x="390797" y="1603248"/>
            <a:ext cx="182880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" name="stit">
            <a:extLst>
              <a:ext uri="{FF2B5EF4-FFF2-40B4-BE49-F238E27FC236}">
                <a16:creationId xmlns:a16="http://schemas.microsoft.com/office/drawing/2014/main" id="{49D105DC-5C38-76CC-4C0F-0D5858B68B0D}"/>
              </a:ext>
            </a:extLst>
          </p:cNvPr>
          <p:cNvSpPr txBox="1">
            <a:spLocks noGrp="1"/>
          </p:cNvSpPr>
          <p:nvPr/>
        </p:nvSpPr>
        <p:spPr>
          <a:xfrm>
            <a:off x="390797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Equipo
Dedicado</a:t>
            </a:r>
          </a:p>
        </p:txBody>
      </p:sp>
      <p:sp>
        <p:nvSpPr>
          <p:cNvPr id="19" name="sdesc">
            <a:extLst>
              <a:ext uri="{FF2B5EF4-FFF2-40B4-BE49-F238E27FC236}">
                <a16:creationId xmlns:a16="http://schemas.microsoft.com/office/drawing/2014/main" id="{28BDE801-04BB-5BFF-836A-6523F051F930}"/>
              </a:ext>
            </a:extLst>
          </p:cNvPr>
          <p:cNvSpPr txBox="1">
            <a:spLocks noGrp="1"/>
          </p:cNvSpPr>
          <p:nvPr/>
        </p:nvSpPr>
        <p:spPr>
          <a:xfrm>
            <a:off x="482237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/>
            <a:r>
              <a:rPr lang="es-ES" sz="850">
                <a:solidFill>
                  <a:srgbClr val="0D1B5E"/>
                </a:solidFill>
                <a:latin typeface="Reddit Sans"/>
                <a:ea typeface="Reddit Sans"/>
              </a:rPr>
              <a:t>FTE asignado · Alta personalización · SLA exclusivo</a:t>
            </a:r>
          </a:p>
        </p:txBody>
      </p:sp>
      <p:sp>
        <p:nvSpPr>
          <p:cNvPr id="21" name="sbg">
            <a:extLst>
              <a:ext uri="{FF2B5EF4-FFF2-40B4-BE49-F238E27FC236}">
                <a16:creationId xmlns:a16="http://schemas.microsoft.com/office/drawing/2014/main" id="{9CA6DAA6-8B0C-C124-D8EA-7328366DCE04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3" name="shdr">
            <a:extLst>
              <a:ext uri="{FF2B5EF4-FFF2-40B4-BE49-F238E27FC236}">
                <a16:creationId xmlns:a16="http://schemas.microsoft.com/office/drawing/2014/main" id="{54F719CD-A4DF-D419-B236-37B6CE8914EC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5" name="shdr2">
            <a:extLst>
              <a:ext uri="{FF2B5EF4-FFF2-40B4-BE49-F238E27FC236}">
                <a16:creationId xmlns:a16="http://schemas.microsoft.com/office/drawing/2014/main" id="{BC159D2D-CFA0-E144-AAF8-0161088D0F34}"/>
              </a:ext>
            </a:extLst>
          </p:cNvPr>
          <p:cNvSpPr>
            <a:spLocks noGrp="1"/>
          </p:cNvSpPr>
          <p:nvPr/>
        </p:nvSpPr>
        <p:spPr>
          <a:xfrm>
            <a:off x="2329325" y="1603248"/>
            <a:ext cx="1828800" cy="128016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7" name="stit">
            <a:extLst>
              <a:ext uri="{FF2B5EF4-FFF2-40B4-BE49-F238E27FC236}">
                <a16:creationId xmlns:a16="http://schemas.microsoft.com/office/drawing/2014/main" id="{E59CA6A9-BE15-A199-802E-0AF021417E97}"/>
              </a:ext>
            </a:extLst>
          </p:cNvPr>
          <p:cNvSpPr txBox="1">
            <a:spLocks noGrp="1"/>
          </p:cNvSpPr>
          <p:nvPr/>
        </p:nvSpPr>
        <p:spPr>
          <a:xfrm>
            <a:off x="2329325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Soporte
Compartido</a:t>
            </a:r>
          </a:p>
        </p:txBody>
      </p:sp>
      <p:sp>
        <p:nvSpPr>
          <p:cNvPr id="29" name="sdesc">
            <a:extLst>
              <a:ext uri="{FF2B5EF4-FFF2-40B4-BE49-F238E27FC236}">
                <a16:creationId xmlns:a16="http://schemas.microsoft.com/office/drawing/2014/main" id="{1491757A-584A-A238-1186-CDF1B734CE39}"/>
              </a:ext>
            </a:extLst>
          </p:cNvPr>
          <p:cNvSpPr txBox="1">
            <a:spLocks noGrp="1"/>
          </p:cNvSpPr>
          <p:nvPr/>
        </p:nvSpPr>
        <p:spPr>
          <a:xfrm>
            <a:off x="2420765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>
                <a:solidFill>
                  <a:srgbClr val="1A3A8F"/>
                </a:solidFill>
                <a:latin typeface="Reddit Sans"/>
                <a:ea typeface="Reddit Sans"/>
              </a:rPr>
              <a:t>Pool de talento · Eficiencia de costo · SLA compartido</a:t>
            </a:r>
          </a:p>
        </p:txBody>
      </p:sp>
      <p:sp>
        <p:nvSpPr>
          <p:cNvPr id="31" name="sbg">
            <a:extLst>
              <a:ext uri="{FF2B5EF4-FFF2-40B4-BE49-F238E27FC236}">
                <a16:creationId xmlns:a16="http://schemas.microsoft.com/office/drawing/2014/main" id="{C4BA225E-1A22-C02C-DE7D-3421B34E5A15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3" name="shdr">
            <a:extLst>
              <a:ext uri="{FF2B5EF4-FFF2-40B4-BE49-F238E27FC236}">
                <a16:creationId xmlns:a16="http://schemas.microsoft.com/office/drawing/2014/main" id="{07BDBE75-C4AC-E170-302A-554E6CB70632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" name="shdr2">
            <a:extLst>
              <a:ext uri="{FF2B5EF4-FFF2-40B4-BE49-F238E27FC236}">
                <a16:creationId xmlns:a16="http://schemas.microsoft.com/office/drawing/2014/main" id="{4878AC91-4738-A86E-2078-62334CA94310}"/>
              </a:ext>
            </a:extLst>
          </p:cNvPr>
          <p:cNvSpPr>
            <a:spLocks noGrp="1"/>
          </p:cNvSpPr>
          <p:nvPr/>
        </p:nvSpPr>
        <p:spPr>
          <a:xfrm>
            <a:off x="4267853" y="1603248"/>
            <a:ext cx="1828800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7" name="stit">
            <a:extLst>
              <a:ext uri="{FF2B5EF4-FFF2-40B4-BE49-F238E27FC236}">
                <a16:creationId xmlns:a16="http://schemas.microsoft.com/office/drawing/2014/main" id="{DAA1AAFA-7AF2-47E9-8E25-D725E4738EB9}"/>
              </a:ext>
            </a:extLst>
          </p:cNvPr>
          <p:cNvSpPr txBox="1">
            <a:spLocks noGrp="1"/>
          </p:cNvSpPr>
          <p:nvPr/>
        </p:nvSpPr>
        <p:spPr>
          <a:xfrm>
            <a:off x="4267853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Express
Alfa</a:t>
            </a:r>
          </a:p>
        </p:txBody>
      </p:sp>
      <p:sp>
        <p:nvSpPr>
          <p:cNvPr id="39" name="sdesc">
            <a:extLst>
              <a:ext uri="{FF2B5EF4-FFF2-40B4-BE49-F238E27FC236}">
                <a16:creationId xmlns:a16="http://schemas.microsoft.com/office/drawing/2014/main" id="{652DDA70-568E-CC80-87A1-30765CB9F851}"/>
              </a:ext>
            </a:extLst>
          </p:cNvPr>
          <p:cNvSpPr txBox="1">
            <a:spLocks noGrp="1"/>
          </p:cNvSpPr>
          <p:nvPr/>
        </p:nvSpPr>
        <p:spPr>
          <a:xfrm>
            <a:off x="4359293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>
                <a:solidFill>
                  <a:srgbClr val="1B7B85"/>
                </a:solidFill>
                <a:latin typeface="Reddit Sans"/>
                <a:ea typeface="Reddit Sans"/>
              </a:rPr>
              <a:t>Requerimientos simples · Pay-per-use · Onboarding rápido</a:t>
            </a:r>
          </a:p>
        </p:txBody>
      </p:sp>
      <p:sp>
        <p:nvSpPr>
          <p:cNvPr id="41" name="sbg">
            <a:extLst>
              <a:ext uri="{FF2B5EF4-FFF2-40B4-BE49-F238E27FC236}">
                <a16:creationId xmlns:a16="http://schemas.microsoft.com/office/drawing/2014/main" id="{BE437EB3-9E25-2FF6-9180-360B01D01B67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3" name="shdr">
            <a:extLst>
              <a:ext uri="{FF2B5EF4-FFF2-40B4-BE49-F238E27FC236}">
                <a16:creationId xmlns:a16="http://schemas.microsoft.com/office/drawing/2014/main" id="{962B9A80-BE13-9A56-6893-9E8A3D0A2148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5" name="shdr2">
            <a:extLst>
              <a:ext uri="{FF2B5EF4-FFF2-40B4-BE49-F238E27FC236}">
                <a16:creationId xmlns:a16="http://schemas.microsoft.com/office/drawing/2014/main" id="{B895B166-10F9-1DE0-4412-D55A95B644AA}"/>
              </a:ext>
            </a:extLst>
          </p:cNvPr>
          <p:cNvSpPr>
            <a:spLocks noGrp="1"/>
          </p:cNvSpPr>
          <p:nvPr/>
        </p:nvSpPr>
        <p:spPr>
          <a:xfrm>
            <a:off x="6206381" y="1603248"/>
            <a:ext cx="1828800" cy="128016"/>
          </a:xfrm>
          <a:prstGeom prst="rect">
            <a:avLst/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7" name="stit">
            <a:extLst>
              <a:ext uri="{FF2B5EF4-FFF2-40B4-BE49-F238E27FC236}">
                <a16:creationId xmlns:a16="http://schemas.microsoft.com/office/drawing/2014/main" id="{87F21207-F57A-5468-82A3-9C6BCFC74050}"/>
              </a:ext>
            </a:extLst>
          </p:cNvPr>
          <p:cNvSpPr txBox="1">
            <a:spLocks noGrp="1"/>
          </p:cNvSpPr>
          <p:nvPr/>
        </p:nvSpPr>
        <p:spPr>
          <a:xfrm>
            <a:off x="6206381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fontScale="62500" lnSpcReduction="20000"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Full</a:t>
            </a:r>
            <a:r>
              <a:rPr lang="es-ES" sz="950" b="1" dirty="0">
                <a:solidFill>
                  <a:srgbClr val="FFFFFF"/>
                </a:solidFill>
                <a:latin typeface="Reddit Sans"/>
                <a:ea typeface="Reddit Sans"/>
              </a:rPr>
              <a:t>
</a:t>
            </a:r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Next Gen</a:t>
            </a:r>
          </a:p>
        </p:txBody>
      </p:sp>
      <p:sp>
        <p:nvSpPr>
          <p:cNvPr id="49" name="sdesc">
            <a:extLst>
              <a:ext uri="{FF2B5EF4-FFF2-40B4-BE49-F238E27FC236}">
                <a16:creationId xmlns:a16="http://schemas.microsoft.com/office/drawing/2014/main" id="{EB3D0BBD-4C9C-3634-B269-2CB6FD54AA5B}"/>
              </a:ext>
            </a:extLst>
          </p:cNvPr>
          <p:cNvSpPr txBox="1">
            <a:spLocks noGrp="1"/>
          </p:cNvSpPr>
          <p:nvPr/>
        </p:nvSpPr>
        <p:spPr>
          <a:xfrm>
            <a:off x="6297821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/>
            <a:r>
              <a:rPr lang="es-ES" sz="850">
                <a:solidFill>
                  <a:srgbClr val="1F6FBA"/>
                </a:solidFill>
                <a:latin typeface="Reddit Sans"/>
                <a:ea typeface="Reddit Sans"/>
              </a:rPr>
              <a:t>N0+N1+N2+N3+IA · AIOps · KCS · Outcome-based · Premium</a:t>
            </a:r>
          </a:p>
        </p:txBody>
      </p:sp>
      <p:sp>
        <p:nvSpPr>
          <p:cNvPr id="51" name="chdr">
            <a:extLst>
              <a:ext uri="{FF2B5EF4-FFF2-40B4-BE49-F238E27FC236}">
                <a16:creationId xmlns:a16="http://schemas.microsoft.com/office/drawing/2014/main" id="{5091B0D8-ED97-13D1-E770-C5FA2A1C2B55}"/>
              </a:ext>
            </a:extLst>
          </p:cNvPr>
          <p:cNvSpPr>
            <a:spLocks noGrp="1"/>
          </p:cNvSpPr>
          <p:nvPr/>
        </p:nvSpPr>
        <p:spPr>
          <a:xfrm>
            <a:off x="390797" y="2334768"/>
            <a:ext cx="763524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3" name="chtxt">
            <a:extLst>
              <a:ext uri="{FF2B5EF4-FFF2-40B4-BE49-F238E27FC236}">
                <a16:creationId xmlns:a16="http://schemas.microsoft.com/office/drawing/2014/main" id="{07489D35-C59A-C742-13E9-25ABA3A50B3C}"/>
              </a:ext>
            </a:extLst>
          </p:cNvPr>
          <p:cNvSpPr txBox="1">
            <a:spLocks noGrp="1"/>
          </p:cNvSpPr>
          <p:nvPr/>
        </p:nvSpPr>
        <p:spPr>
          <a:xfrm>
            <a:off x="543197" y="2334768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PORTAFOLIO COMPLEMENTARIO — Servicios adicionales que aceleran la madurez</a:t>
            </a:r>
          </a:p>
        </p:txBody>
      </p:sp>
      <p:sp>
        <p:nvSpPr>
          <p:cNvPr id="55" name="cbg">
            <a:extLst>
              <a:ext uri="{FF2B5EF4-FFF2-40B4-BE49-F238E27FC236}">
                <a16:creationId xmlns:a16="http://schemas.microsoft.com/office/drawing/2014/main" id="{0E9CCE97-C1CA-E0FD-AF5B-22D246342B1A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6B3C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7" name="cbar">
            <a:extLst>
              <a:ext uri="{FF2B5EF4-FFF2-40B4-BE49-F238E27FC236}">
                <a16:creationId xmlns:a16="http://schemas.microsoft.com/office/drawing/2014/main" id="{ED7B8A9A-718F-FF96-90EC-23333ED3D8C9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2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9" name="ctxt">
            <a:extLst>
              <a:ext uri="{FF2B5EF4-FFF2-40B4-BE49-F238E27FC236}">
                <a16:creationId xmlns:a16="http://schemas.microsoft.com/office/drawing/2014/main" id="{F0FD1526-604A-0D10-B5BD-37983CE757E7}"/>
              </a:ext>
            </a:extLst>
          </p:cNvPr>
          <p:cNvSpPr txBox="1">
            <a:spLocks noGrp="1"/>
          </p:cNvSpPr>
          <p:nvPr/>
        </p:nvSpPr>
        <p:spPr>
          <a:xfrm>
            <a:off x="53710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2A6B3C"/>
                </a:solidFill>
                <a:latin typeface="Reddit Sans"/>
                <a:ea typeface="Reddit Sans"/>
              </a:rPr>
              <a:t>Modernización de Aplicaciones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Migración · Refactor · Cloud Native</a:t>
            </a:r>
          </a:p>
        </p:txBody>
      </p:sp>
      <p:sp>
        <p:nvSpPr>
          <p:cNvPr id="61" name="cbg">
            <a:extLst>
              <a:ext uri="{FF2B5EF4-FFF2-40B4-BE49-F238E27FC236}">
                <a16:creationId xmlns:a16="http://schemas.microsoft.com/office/drawing/2014/main" id="{EE8298DB-83E8-A248-54E5-EE36C38A273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3" name="cbar">
            <a:extLst>
              <a:ext uri="{FF2B5EF4-FFF2-40B4-BE49-F238E27FC236}">
                <a16:creationId xmlns:a16="http://schemas.microsoft.com/office/drawing/2014/main" id="{187AA5B3-2EC3-D3E9-0138-4C6EC3F106D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5" name="ctxt">
            <a:extLst>
              <a:ext uri="{FF2B5EF4-FFF2-40B4-BE49-F238E27FC236}">
                <a16:creationId xmlns:a16="http://schemas.microsoft.com/office/drawing/2014/main" id="{99680DFF-1577-1923-FF6C-040DCAFAC68E}"/>
              </a:ext>
            </a:extLst>
          </p:cNvPr>
          <p:cNvSpPr txBox="1">
            <a:spLocks noGrp="1"/>
          </p:cNvSpPr>
          <p:nvPr/>
        </p:nvSpPr>
        <p:spPr>
          <a:xfrm>
            <a:off x="309742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1B7B85"/>
                </a:solidFill>
                <a:latin typeface="Reddit Sans"/>
                <a:ea typeface="Reddit Sans"/>
              </a:rPr>
              <a:t>Observabilidad / AIOps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Dynatrace · Datadog · Nexthink</a:t>
            </a:r>
          </a:p>
        </p:txBody>
      </p:sp>
      <p:sp>
        <p:nvSpPr>
          <p:cNvPr id="67" name="cbg">
            <a:extLst>
              <a:ext uri="{FF2B5EF4-FFF2-40B4-BE49-F238E27FC236}">
                <a16:creationId xmlns:a16="http://schemas.microsoft.com/office/drawing/2014/main" id="{FEC17A7C-D0B7-C028-630D-2C21113A0870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9" name="cbar">
            <a:extLst>
              <a:ext uri="{FF2B5EF4-FFF2-40B4-BE49-F238E27FC236}">
                <a16:creationId xmlns:a16="http://schemas.microsoft.com/office/drawing/2014/main" id="{8E1BE8F2-C05A-0F6C-F97F-028D61638718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1" name="ctxt">
            <a:extLst>
              <a:ext uri="{FF2B5EF4-FFF2-40B4-BE49-F238E27FC236}">
                <a16:creationId xmlns:a16="http://schemas.microsoft.com/office/drawing/2014/main" id="{67778E89-95AC-6B13-A94F-4FFE117862C0}"/>
              </a:ext>
            </a:extLst>
          </p:cNvPr>
          <p:cNvSpPr txBox="1">
            <a:spLocks noGrp="1"/>
          </p:cNvSpPr>
          <p:nvPr/>
        </p:nvSpPr>
        <p:spPr>
          <a:xfrm>
            <a:off x="565774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C00000"/>
                </a:solidFill>
                <a:latin typeface="Reddit Sans"/>
                <a:ea typeface="Reddit Sans"/>
              </a:rPr>
              <a:t>Seguridad Aplicativa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SAST · DAST · ISO 27001</a:t>
            </a:r>
          </a:p>
        </p:txBody>
      </p:sp>
      <p:sp>
        <p:nvSpPr>
          <p:cNvPr id="73" name="cbg">
            <a:extLst>
              <a:ext uri="{FF2B5EF4-FFF2-40B4-BE49-F238E27FC236}">
                <a16:creationId xmlns:a16="http://schemas.microsoft.com/office/drawing/2014/main" id="{C51E67D2-47E7-16DE-DA55-96EAB9504536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5" name="cbar">
            <a:extLst>
              <a:ext uri="{FF2B5EF4-FFF2-40B4-BE49-F238E27FC236}">
                <a16:creationId xmlns:a16="http://schemas.microsoft.com/office/drawing/2014/main" id="{4588DD0A-A0AF-3B6D-157C-82FFC4ABFAD4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7" name="ctxt">
            <a:extLst>
              <a:ext uri="{FF2B5EF4-FFF2-40B4-BE49-F238E27FC236}">
                <a16:creationId xmlns:a16="http://schemas.microsoft.com/office/drawing/2014/main" id="{2E58338A-CEC1-CCD6-65E0-2F74435D0AA7}"/>
              </a:ext>
            </a:extLst>
          </p:cNvPr>
          <p:cNvSpPr txBox="1">
            <a:spLocks noGrp="1"/>
          </p:cNvSpPr>
          <p:nvPr/>
        </p:nvSpPr>
        <p:spPr>
          <a:xfrm>
            <a:off x="53710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1F6FBA"/>
                </a:solidFill>
                <a:latin typeface="Reddit Sans"/>
                <a:ea typeface="Reddit Sans"/>
              </a:rPr>
              <a:t>Automatización y DevOps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CI/CD · IaC · Runbooks auto</a:t>
            </a:r>
          </a:p>
        </p:txBody>
      </p:sp>
      <p:sp>
        <p:nvSpPr>
          <p:cNvPr id="79" name="cbg">
            <a:extLst>
              <a:ext uri="{FF2B5EF4-FFF2-40B4-BE49-F238E27FC236}">
                <a16:creationId xmlns:a16="http://schemas.microsoft.com/office/drawing/2014/main" id="{9A1E43E9-7584-405F-03C9-BA4ADCFF4815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81" name="cbar">
            <a:extLst>
              <a:ext uri="{FF2B5EF4-FFF2-40B4-BE49-F238E27FC236}">
                <a16:creationId xmlns:a16="http://schemas.microsoft.com/office/drawing/2014/main" id="{089AA222-1275-CB54-D96D-350FE11258CE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3" name="ctxt">
            <a:extLst>
              <a:ext uri="{FF2B5EF4-FFF2-40B4-BE49-F238E27FC236}">
                <a16:creationId xmlns:a16="http://schemas.microsoft.com/office/drawing/2014/main" id="{BA2DB184-CFE5-BAA5-60D5-59747B6E3FE4}"/>
              </a:ext>
            </a:extLst>
          </p:cNvPr>
          <p:cNvSpPr txBox="1">
            <a:spLocks noGrp="1"/>
          </p:cNvSpPr>
          <p:nvPr/>
        </p:nvSpPr>
        <p:spPr>
          <a:xfrm>
            <a:off x="309742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6B7280"/>
                </a:solidFill>
                <a:latin typeface="Reddit Sans"/>
                <a:ea typeface="Reddit Sans"/>
              </a:rPr>
              <a:t>Performance Engineering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Pruebas de carga · Tuning</a:t>
            </a:r>
          </a:p>
        </p:txBody>
      </p:sp>
      <p:sp>
        <p:nvSpPr>
          <p:cNvPr id="85" name="cbg">
            <a:extLst>
              <a:ext uri="{FF2B5EF4-FFF2-40B4-BE49-F238E27FC236}">
                <a16:creationId xmlns:a16="http://schemas.microsoft.com/office/drawing/2014/main" id="{780333AF-C260-0118-972B-193A5983CE78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87" name="cbar">
            <a:extLst>
              <a:ext uri="{FF2B5EF4-FFF2-40B4-BE49-F238E27FC236}">
                <a16:creationId xmlns:a16="http://schemas.microsoft.com/office/drawing/2014/main" id="{660B996E-663C-E661-FCDC-7F9409B2D935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9" name="ctxt">
            <a:extLst>
              <a:ext uri="{FF2B5EF4-FFF2-40B4-BE49-F238E27FC236}">
                <a16:creationId xmlns:a16="http://schemas.microsoft.com/office/drawing/2014/main" id="{C1106803-684A-5ACB-5134-7C919CD006F2}"/>
              </a:ext>
            </a:extLst>
          </p:cNvPr>
          <p:cNvSpPr txBox="1">
            <a:spLocks noGrp="1"/>
          </p:cNvSpPr>
          <p:nvPr/>
        </p:nvSpPr>
        <p:spPr>
          <a:xfrm>
            <a:off x="565774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0D1B5E"/>
                </a:solidFill>
                <a:latin typeface="Reddit Sans"/>
                <a:ea typeface="Reddit Sans"/>
              </a:rPr>
              <a:t>Gobierno de Datos e IA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ISO 42001 · MLOps · Compliance</a:t>
            </a:r>
          </a:p>
        </p:txBody>
      </p:sp>
      <p:sp>
        <p:nvSpPr>
          <p:cNvPr id="91" name="phdr">
            <a:extLst>
              <a:ext uri="{FF2B5EF4-FFF2-40B4-BE49-F238E27FC236}">
                <a16:creationId xmlns:a16="http://schemas.microsoft.com/office/drawing/2014/main" id="{764760E5-CE0E-2CE1-674E-C73A5EEADC0C}"/>
              </a:ext>
            </a:extLst>
          </p:cNvPr>
          <p:cNvSpPr>
            <a:spLocks noGrp="1"/>
          </p:cNvSpPr>
          <p:nvPr/>
        </p:nvSpPr>
        <p:spPr>
          <a:xfrm>
            <a:off x="390797" y="3651504"/>
            <a:ext cx="7635240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3" name="phdrtxt">
            <a:extLst>
              <a:ext uri="{FF2B5EF4-FFF2-40B4-BE49-F238E27FC236}">
                <a16:creationId xmlns:a16="http://schemas.microsoft.com/office/drawing/2014/main" id="{27599C63-912F-E15A-758A-F51625AC30B4}"/>
              </a:ext>
            </a:extLst>
          </p:cNvPr>
          <p:cNvSpPr txBox="1">
            <a:spLocks noGrp="1"/>
          </p:cNvSpPr>
          <p:nvPr/>
        </p:nvSpPr>
        <p:spPr>
          <a:xfrm>
            <a:off x="537754" y="3651504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EVOLUCIÓN DEL MODELO DE PRECIO — De esfuerzo a resultados medibles</a:t>
            </a:r>
          </a:p>
        </p:txBody>
      </p:sp>
      <p:sp>
        <p:nvSpPr>
          <p:cNvPr id="95" name="pbg">
            <a:extLst>
              <a:ext uri="{FF2B5EF4-FFF2-40B4-BE49-F238E27FC236}">
                <a16:creationId xmlns:a16="http://schemas.microsoft.com/office/drawing/2014/main" id="{B0C9F68A-A12F-BA1B-19E8-26B09B03920A}"/>
              </a:ext>
            </a:extLst>
          </p:cNvPr>
          <p:cNvSpPr>
            <a:spLocks noGrp="1"/>
          </p:cNvSpPr>
          <p:nvPr/>
        </p:nvSpPr>
        <p:spPr>
          <a:xfrm>
            <a:off x="390797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6B728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97" name="ptit">
            <a:extLst>
              <a:ext uri="{FF2B5EF4-FFF2-40B4-BE49-F238E27FC236}">
                <a16:creationId xmlns:a16="http://schemas.microsoft.com/office/drawing/2014/main" id="{81E9F2E0-4E98-8BED-0CA2-2397254D88C3}"/>
              </a:ext>
            </a:extLst>
          </p:cNvPr>
          <p:cNvSpPr txBox="1">
            <a:spLocks noGrp="1"/>
          </p:cNvSpPr>
          <p:nvPr/>
        </p:nvSpPr>
        <p:spPr>
          <a:xfrm>
            <a:off x="482237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6B7280"/>
                </a:solidFill>
                <a:latin typeface="Reddit Sans"/>
                <a:ea typeface="Reddit Sans"/>
              </a:rPr>
              <a:t>Por FTE</a:t>
            </a:r>
          </a:p>
        </p:txBody>
      </p:sp>
      <p:sp>
        <p:nvSpPr>
          <p:cNvPr id="99" name="pdesc">
            <a:extLst>
              <a:ext uri="{FF2B5EF4-FFF2-40B4-BE49-F238E27FC236}">
                <a16:creationId xmlns:a16="http://schemas.microsoft.com/office/drawing/2014/main" id="{8E485CBA-2577-8E5D-4733-7FB9993CF0B0}"/>
              </a:ext>
            </a:extLst>
          </p:cNvPr>
          <p:cNvSpPr txBox="1">
            <a:spLocks noGrp="1"/>
          </p:cNvSpPr>
          <p:nvPr/>
        </p:nvSpPr>
        <p:spPr>
          <a:xfrm>
            <a:off x="482237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Precio fijo por persona
Riesgo PS alto · Predecible</a:t>
            </a:r>
          </a:p>
        </p:txBody>
      </p:sp>
      <p:sp>
        <p:nvSpPr>
          <p:cNvPr id="101" name="arr">
            <a:extLst>
              <a:ext uri="{FF2B5EF4-FFF2-40B4-BE49-F238E27FC236}">
                <a16:creationId xmlns:a16="http://schemas.microsoft.com/office/drawing/2014/main" id="{907466AB-23EB-CFB0-7023-D1A3492A4162}"/>
              </a:ext>
            </a:extLst>
          </p:cNvPr>
          <p:cNvSpPr txBox="1">
            <a:spLocks noGrp="1"/>
          </p:cNvSpPr>
          <p:nvPr/>
        </p:nvSpPr>
        <p:spPr>
          <a:xfrm>
            <a:off x="2219597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03" name="pbg">
            <a:extLst>
              <a:ext uri="{FF2B5EF4-FFF2-40B4-BE49-F238E27FC236}">
                <a16:creationId xmlns:a16="http://schemas.microsoft.com/office/drawing/2014/main" id="{8D8DC231-13A5-09D4-4815-F97BDF8D3BD4}"/>
              </a:ext>
            </a:extLst>
          </p:cNvPr>
          <p:cNvSpPr>
            <a:spLocks noGrp="1"/>
          </p:cNvSpPr>
          <p:nvPr/>
        </p:nvSpPr>
        <p:spPr>
          <a:xfrm>
            <a:off x="2329325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05" name="ptit">
            <a:extLst>
              <a:ext uri="{FF2B5EF4-FFF2-40B4-BE49-F238E27FC236}">
                <a16:creationId xmlns:a16="http://schemas.microsoft.com/office/drawing/2014/main" id="{2F78AB25-46C7-9F91-DD9F-06AD2E6E0C06}"/>
              </a:ext>
            </a:extLst>
          </p:cNvPr>
          <p:cNvSpPr txBox="1">
            <a:spLocks noGrp="1"/>
          </p:cNvSpPr>
          <p:nvPr/>
        </p:nvSpPr>
        <p:spPr>
          <a:xfrm>
            <a:off x="2420765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1B7B85"/>
                </a:solidFill>
                <a:latin typeface="Reddit Sans"/>
                <a:ea typeface="Reddit Sans"/>
              </a:rPr>
              <a:t>Por Ticket</a:t>
            </a:r>
          </a:p>
        </p:txBody>
      </p:sp>
      <p:sp>
        <p:nvSpPr>
          <p:cNvPr id="107" name="pdesc">
            <a:extLst>
              <a:ext uri="{FF2B5EF4-FFF2-40B4-BE49-F238E27FC236}">
                <a16:creationId xmlns:a16="http://schemas.microsoft.com/office/drawing/2014/main" id="{B430BFD1-A4DE-F76C-3E85-EDF2EB780505}"/>
              </a:ext>
            </a:extLst>
          </p:cNvPr>
          <p:cNvSpPr txBox="1">
            <a:spLocks noGrp="1"/>
          </p:cNvSpPr>
          <p:nvPr/>
        </p:nvSpPr>
        <p:spPr>
          <a:xfrm>
            <a:off x="2420765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Pay-per-use · Alineado a volumen
Shift-Left incentivado</a:t>
            </a:r>
          </a:p>
        </p:txBody>
      </p:sp>
      <p:sp>
        <p:nvSpPr>
          <p:cNvPr id="109" name="arr">
            <a:extLst>
              <a:ext uri="{FF2B5EF4-FFF2-40B4-BE49-F238E27FC236}">
                <a16:creationId xmlns:a16="http://schemas.microsoft.com/office/drawing/2014/main" id="{58841477-9DA9-3628-BC1C-940F15E2EAE7}"/>
              </a:ext>
            </a:extLst>
          </p:cNvPr>
          <p:cNvSpPr txBox="1">
            <a:spLocks noGrp="1"/>
          </p:cNvSpPr>
          <p:nvPr/>
        </p:nvSpPr>
        <p:spPr>
          <a:xfrm>
            <a:off x="4158125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1" name="pbg">
            <a:extLst>
              <a:ext uri="{FF2B5EF4-FFF2-40B4-BE49-F238E27FC236}">
                <a16:creationId xmlns:a16="http://schemas.microsoft.com/office/drawing/2014/main" id="{21B47E69-A02F-AD84-5AF5-FEEA7BCF43CC}"/>
              </a:ext>
            </a:extLst>
          </p:cNvPr>
          <p:cNvSpPr>
            <a:spLocks noGrp="1"/>
          </p:cNvSpPr>
          <p:nvPr/>
        </p:nvSpPr>
        <p:spPr>
          <a:xfrm>
            <a:off x="4267853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3" name="ptit">
            <a:extLst>
              <a:ext uri="{FF2B5EF4-FFF2-40B4-BE49-F238E27FC236}">
                <a16:creationId xmlns:a16="http://schemas.microsoft.com/office/drawing/2014/main" id="{0BD0FBE4-856F-DB15-1BD3-C7D2393BC6D5}"/>
              </a:ext>
            </a:extLst>
          </p:cNvPr>
          <p:cNvSpPr txBox="1">
            <a:spLocks noGrp="1"/>
          </p:cNvSpPr>
          <p:nvPr/>
        </p:nvSpPr>
        <p:spPr>
          <a:xfrm>
            <a:off x="4359293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1A3A8F"/>
                </a:solidFill>
                <a:latin typeface="Reddit Sans"/>
                <a:ea typeface="Reddit Sans"/>
              </a:rPr>
              <a:t>Outcome-Based</a:t>
            </a:r>
          </a:p>
        </p:txBody>
      </p:sp>
      <p:sp>
        <p:nvSpPr>
          <p:cNvPr id="115" name="pdesc">
            <a:extLst>
              <a:ext uri="{FF2B5EF4-FFF2-40B4-BE49-F238E27FC236}">
                <a16:creationId xmlns:a16="http://schemas.microsoft.com/office/drawing/2014/main" id="{212605A2-662E-07AE-C631-8430F60FBBF5}"/>
              </a:ext>
            </a:extLst>
          </p:cNvPr>
          <p:cNvSpPr txBox="1">
            <a:spLocks noGrp="1"/>
          </p:cNvSpPr>
          <p:nvPr/>
        </p:nvSpPr>
        <p:spPr>
          <a:xfrm>
            <a:off x="4359293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Outcomes × Precio por Outcome
Shared savings 15-25%</a:t>
            </a:r>
          </a:p>
        </p:txBody>
      </p:sp>
      <p:sp>
        <p:nvSpPr>
          <p:cNvPr id="117" name="arr">
            <a:extLst>
              <a:ext uri="{FF2B5EF4-FFF2-40B4-BE49-F238E27FC236}">
                <a16:creationId xmlns:a16="http://schemas.microsoft.com/office/drawing/2014/main" id="{261B59FF-83E8-028B-36D9-B9799CAB463C}"/>
              </a:ext>
            </a:extLst>
          </p:cNvPr>
          <p:cNvSpPr txBox="1">
            <a:spLocks noGrp="1"/>
          </p:cNvSpPr>
          <p:nvPr/>
        </p:nvSpPr>
        <p:spPr>
          <a:xfrm>
            <a:off x="6096653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9" name="pbg">
            <a:extLst>
              <a:ext uri="{FF2B5EF4-FFF2-40B4-BE49-F238E27FC236}">
                <a16:creationId xmlns:a16="http://schemas.microsoft.com/office/drawing/2014/main" id="{F066019D-C137-1FA2-CEDC-1E20036F0836}"/>
              </a:ext>
            </a:extLst>
          </p:cNvPr>
          <p:cNvSpPr>
            <a:spLocks noGrp="1"/>
          </p:cNvSpPr>
          <p:nvPr/>
        </p:nvSpPr>
        <p:spPr>
          <a:xfrm>
            <a:off x="6206381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 w="15875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21" name="ptit">
            <a:extLst>
              <a:ext uri="{FF2B5EF4-FFF2-40B4-BE49-F238E27FC236}">
                <a16:creationId xmlns:a16="http://schemas.microsoft.com/office/drawing/2014/main" id="{DF509C14-BA18-91EE-9834-3685C397DBB3}"/>
              </a:ext>
            </a:extLst>
          </p:cNvPr>
          <p:cNvSpPr txBox="1">
            <a:spLocks noGrp="1"/>
          </p:cNvSpPr>
          <p:nvPr/>
        </p:nvSpPr>
        <p:spPr>
          <a:xfrm>
            <a:off x="6297821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es-ES" sz="1000" b="1">
                <a:solidFill>
                  <a:srgbClr val="0D1B5E"/>
                </a:solidFill>
                <a:latin typeface="Reddit Sans"/>
                <a:ea typeface="Reddit Sans"/>
              </a:rPr>
              <a:t>Full Next Gen</a:t>
            </a:r>
          </a:p>
        </p:txBody>
      </p:sp>
      <p:sp>
        <p:nvSpPr>
          <p:cNvPr id="123" name="pdesc">
            <a:extLst>
              <a:ext uri="{FF2B5EF4-FFF2-40B4-BE49-F238E27FC236}">
                <a16:creationId xmlns:a16="http://schemas.microsoft.com/office/drawing/2014/main" id="{E8BFAAD6-2A5F-9830-EB72-3EE426C2887B}"/>
              </a:ext>
            </a:extLst>
          </p:cNvPr>
          <p:cNvSpPr txBox="1">
            <a:spLocks noGrp="1"/>
          </p:cNvSpPr>
          <p:nvPr/>
        </p:nvSpPr>
        <p:spPr>
          <a:xfrm>
            <a:off x="6297821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Outcome + AIOps + XLA + KCS
Premium · Máximo valor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A6E818-1736-0429-307B-141CA753BD64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Automatizaciones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6955EA-CCC0-BCAA-4C74-AC57A8DD98BD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8485294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0B284-8EB4-B42B-53D1-E3F329668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29" y="260263"/>
            <a:ext cx="8211000" cy="572700"/>
          </a:xfrm>
        </p:spPr>
        <p:txBody>
          <a:bodyPr>
            <a:normAutofit/>
          </a:bodyPr>
          <a:lstStyle/>
          <a:p>
            <a:r>
              <a:rPr lang="en-US"/>
              <a:t>Los Tres Pilares de la Nueva Mesa</a:t>
            </a:r>
            <a:endParaRPr lang="es-ES"/>
          </a:p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A719FD-0B5A-4EB7-EC49-67431DC8983E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8A1B510-9F86-DC26-59FF-C5C59A3F3F7D}"/>
              </a:ext>
            </a:extLst>
          </p:cNvPr>
          <p:cNvSpPr/>
          <p:nvPr/>
        </p:nvSpPr>
        <p:spPr>
          <a:xfrm>
            <a:off x="357188" y="1300163"/>
            <a:ext cx="8429625" cy="521494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028D37F-D704-AD21-3229-76BBD60C7FDD}"/>
              </a:ext>
            </a:extLst>
          </p:cNvPr>
          <p:cNvSpPr/>
          <p:nvPr/>
        </p:nvSpPr>
        <p:spPr>
          <a:xfrm>
            <a:off x="2536735" y="1472729"/>
            <a:ext cx="4070531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</a:pPr>
            <a:r>
              <a:rPr lang="en-US" sz="1238" kern="0" spc="-37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Arquitectura de Operaciones de Nueva Generación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1690EFFD-13D7-2E28-42BE-4D89F42D7767}"/>
              </a:ext>
            </a:extLst>
          </p:cNvPr>
          <p:cNvSpPr/>
          <p:nvPr/>
        </p:nvSpPr>
        <p:spPr>
          <a:xfrm>
            <a:off x="357188" y="1893094"/>
            <a:ext cx="2762250" cy="2300288"/>
          </a:xfrm>
          <a:prstGeom prst="rect">
            <a:avLst/>
          </a:prstGeom>
          <a:solidFill>
            <a:srgbClr val="4FC9E9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0831486-4878-3ADE-BADF-4EB1C18CFFE3}"/>
              </a:ext>
            </a:extLst>
          </p:cNvPr>
          <p:cNvSpPr/>
          <p:nvPr/>
        </p:nvSpPr>
        <p:spPr>
          <a:xfrm>
            <a:off x="588169" y="2583470"/>
            <a:ext cx="2300288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38" kern="0" spc="-37">
                <a:solidFill>
                  <a:srgbClr val="FFFFFF"/>
                </a:solidFill>
                <a:latin typeface="Reddit Sans"/>
                <a:ea typeface="Reddit Sans"/>
                <a:cs typeface="Geist Semi Bold" pitchFamily="34" charset="-120"/>
              </a:rPr>
              <a:t>Automatización Inteligente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4487358-BE15-5E18-0F88-3220A1F4221C}"/>
              </a:ext>
            </a:extLst>
          </p:cNvPr>
          <p:cNvSpPr/>
          <p:nvPr/>
        </p:nvSpPr>
        <p:spPr>
          <a:xfrm>
            <a:off x="525226" y="2825465"/>
            <a:ext cx="2426174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Optimización de workflows para</a:t>
            </a:r>
            <a:b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tareas repetitivas y despliegues</a:t>
            </a:r>
            <a:b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automatizados que incrementan la</a:t>
            </a:r>
            <a:b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velocidad de resolución.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16" name="Image 0" descr="6af88662.png">
            <a:extLst>
              <a:ext uri="{FF2B5EF4-FFF2-40B4-BE49-F238E27FC236}">
                <a16:creationId xmlns:a16="http://schemas.microsoft.com/office/drawing/2014/main" id="{E6665FF3-08BF-DBCE-ED59-E127450E5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102" y="2119796"/>
            <a:ext cx="364331" cy="321469"/>
          </a:xfrm>
          <a:prstGeom prst="rect">
            <a:avLst/>
          </a:prstGeom>
        </p:spPr>
      </p:pic>
      <p:sp>
        <p:nvSpPr>
          <p:cNvPr id="18" name="Shape 7">
            <a:extLst>
              <a:ext uri="{FF2B5EF4-FFF2-40B4-BE49-F238E27FC236}">
                <a16:creationId xmlns:a16="http://schemas.microsoft.com/office/drawing/2014/main" id="{AF00B28B-4A26-7583-E7CC-834730C22382}"/>
              </a:ext>
            </a:extLst>
          </p:cNvPr>
          <p:cNvSpPr/>
          <p:nvPr/>
        </p:nvSpPr>
        <p:spPr>
          <a:xfrm>
            <a:off x="3190875" y="1893094"/>
            <a:ext cx="2762250" cy="2300288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FA161F6-ABBA-1DB5-459E-1E74C643DC34}"/>
              </a:ext>
            </a:extLst>
          </p:cNvPr>
          <p:cNvSpPr/>
          <p:nvPr/>
        </p:nvSpPr>
        <p:spPr>
          <a:xfrm>
            <a:off x="3321844" y="2583470"/>
            <a:ext cx="2500313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38" kern="0" spc="-37">
                <a:solidFill>
                  <a:srgbClr val="FFFFFF"/>
                </a:solidFill>
                <a:latin typeface="Reddit Sans"/>
                <a:ea typeface="Reddit Sans"/>
                <a:cs typeface="Geist Semi Bold" pitchFamily="34" charset="-120"/>
              </a:rPr>
              <a:t>Inteligencia Artificial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E8DB327-15DE-5A75-75C3-8C1F769952F8}"/>
              </a:ext>
            </a:extLst>
          </p:cNvPr>
          <p:cNvSpPr/>
          <p:nvPr/>
        </p:nvSpPr>
        <p:spPr>
          <a:xfrm>
            <a:off x="3249458" y="2825465"/>
            <a:ext cx="2645085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Implementación avanzada de agentes</a:t>
            </a:r>
            <a:b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virtuales y análisis predictivo para la</a:t>
            </a:r>
            <a:b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detección y mitigación proactiva de</a:t>
            </a:r>
            <a:b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incidentes.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24" name="Image 1" descr="-42fdaf9e.png">
            <a:extLst>
              <a:ext uri="{FF2B5EF4-FFF2-40B4-BE49-F238E27FC236}">
                <a16:creationId xmlns:a16="http://schemas.microsoft.com/office/drawing/2014/main" id="{54860B3B-B7BC-6797-5B45-D58C56DE3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484" y="2103054"/>
            <a:ext cx="471488" cy="392906"/>
          </a:xfrm>
          <a:prstGeom prst="rect">
            <a:avLst/>
          </a:prstGeom>
        </p:spPr>
      </p:pic>
      <p:sp>
        <p:nvSpPr>
          <p:cNvPr id="26" name="Shape 10">
            <a:extLst>
              <a:ext uri="{FF2B5EF4-FFF2-40B4-BE49-F238E27FC236}">
                <a16:creationId xmlns:a16="http://schemas.microsoft.com/office/drawing/2014/main" id="{39EB4137-1140-7C2F-9F5F-7FA81B2A9DCF}"/>
              </a:ext>
            </a:extLst>
          </p:cNvPr>
          <p:cNvSpPr/>
          <p:nvPr/>
        </p:nvSpPr>
        <p:spPr>
          <a:xfrm>
            <a:off x="6024563" y="1893094"/>
            <a:ext cx="2762250" cy="2300288"/>
          </a:xfrm>
          <a:prstGeom prst="rect">
            <a:avLst/>
          </a:prstGeom>
          <a:solidFill>
            <a:srgbClr val="7C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60F180B-7E01-AF44-024A-4A5C8B0AE2E6}"/>
              </a:ext>
            </a:extLst>
          </p:cNvPr>
          <p:cNvSpPr/>
          <p:nvPr/>
        </p:nvSpPr>
        <p:spPr>
          <a:xfrm>
            <a:off x="6151960" y="2559248"/>
            <a:ext cx="2507456" cy="1695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336"/>
              </a:lnSpc>
              <a:spcBef>
                <a:spcPts val="924"/>
              </a:spcBef>
            </a:pPr>
            <a:r>
              <a:rPr lang="en-US" sz="1175" kern="0" spc="-35">
                <a:solidFill>
                  <a:srgbClr val="FFFFFF"/>
                </a:solidFill>
                <a:latin typeface="Reddit Sans"/>
                <a:ea typeface="Reddit Sans"/>
                <a:cs typeface="Geist Semi Bold" pitchFamily="34" charset="-120"/>
              </a:rPr>
              <a:t>Autoservicio Guiado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ACE6880C-784A-848D-268C-1EED3D42F76F}"/>
              </a:ext>
            </a:extLst>
          </p:cNvPr>
          <p:cNvSpPr/>
          <p:nvPr/>
        </p:nvSpPr>
        <p:spPr>
          <a:xfrm>
            <a:off x="6077430" y="2789076"/>
            <a:ext cx="2656515" cy="7322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42"/>
              </a:lnSpc>
              <a:spcBef>
                <a:spcPts val="466"/>
              </a:spcBef>
            </a:pPr>
            <a:r>
              <a:rPr lang="en-US" sz="1069" kern="0" spc="-4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Desarrollo de portales de conocimiento</a:t>
            </a:r>
            <a:br>
              <a:rPr lang="en-US" sz="1069" kern="0" spc="-4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69" kern="0" spc="-4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intuitivos que empoderan al usuario final</a:t>
            </a:r>
            <a:br>
              <a:rPr lang="en-US" sz="1069" kern="0" spc="-4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69" kern="0" spc="-4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y reducen la dependencia del soporte</a:t>
            </a:r>
            <a:br>
              <a:rPr lang="en-US" sz="1069" kern="0" spc="-4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69" kern="0" spc="-4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tradicional.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32" name="Image 2" descr="0fa498e2.png">
            <a:extLst>
              <a:ext uri="{FF2B5EF4-FFF2-40B4-BE49-F238E27FC236}">
                <a16:creationId xmlns:a16="http://schemas.microsoft.com/office/drawing/2014/main" id="{7B250128-5F4B-06EF-C763-4933ECDE7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751" y="2106890"/>
            <a:ext cx="342900" cy="328613"/>
          </a:xfrm>
          <a:prstGeom prst="rect">
            <a:avLst/>
          </a:prstGeom>
        </p:spPr>
      </p:pic>
      <p:sp>
        <p:nvSpPr>
          <p:cNvPr id="34" name="Shape 13">
            <a:extLst>
              <a:ext uri="{FF2B5EF4-FFF2-40B4-BE49-F238E27FC236}">
                <a16:creationId xmlns:a16="http://schemas.microsoft.com/office/drawing/2014/main" id="{35A8696A-B649-3AEA-763C-613B7AEA7343}"/>
              </a:ext>
            </a:extLst>
          </p:cNvPr>
          <p:cNvSpPr/>
          <p:nvPr/>
        </p:nvSpPr>
        <p:spPr>
          <a:xfrm>
            <a:off x="357188" y="4264819"/>
            <a:ext cx="8429625" cy="521494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DC84F4C3-DFFE-56A2-1B0F-590E9F39980D}"/>
              </a:ext>
            </a:extLst>
          </p:cNvPr>
          <p:cNvSpPr/>
          <p:nvPr/>
        </p:nvSpPr>
        <p:spPr>
          <a:xfrm>
            <a:off x="1314450" y="4443747"/>
            <a:ext cx="6515100" cy="1622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278"/>
              </a:lnSpc>
            </a:pPr>
            <a:r>
              <a:rPr lang="en-US" sz="1125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Semi Bold" pitchFamily="34" charset="-120"/>
              </a:rPr>
              <a:t>TRANSFORMACIÓN HACIA LA EFICIENCIA OPERATIVA Y EL EMPODERAMIENTO DEL USUARIO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B343E4C0-01EB-1989-7FE2-3FC66F4A4405}"/>
              </a:ext>
            </a:extLst>
          </p:cNvPr>
          <p:cNvSpPr/>
          <p:nvPr/>
        </p:nvSpPr>
        <p:spPr>
          <a:xfrm>
            <a:off x="407874" y="668249"/>
            <a:ext cx="8643938" cy="2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70"/>
              </a:lnSpc>
              <a:spcBef>
                <a:spcPts val="852"/>
              </a:spcBef>
            </a:pPr>
            <a:r>
              <a:rPr lang="en-US" sz="1238" kern="0" spc="-5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Fundamentos estratégicos</a:t>
            </a:r>
            <a:endParaRPr lang="en-US" sz="1013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8215232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F9B37F-AF1A-1042-C47B-1838B8CD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106AB-9535-B3D2-DBE8-7243E772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Ecosistema</a:t>
            </a:r>
            <a:r>
              <a:rPr lang="en-US"/>
              <a:t> de la Nueva Mesa de Servicio</a:t>
            </a:r>
            <a:endParaRPr lang="es-ES"/>
          </a:p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9A5534-02AD-2D3F-A2CB-E47C96CA197F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11CE5BD-3E1F-D7BE-BB86-D6601BB58BF4}"/>
              </a:ext>
            </a:extLst>
          </p:cNvPr>
          <p:cNvSpPr/>
          <p:nvPr/>
        </p:nvSpPr>
        <p:spPr>
          <a:xfrm>
            <a:off x="429645" y="619263"/>
            <a:ext cx="8643938" cy="2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70"/>
              </a:lnSpc>
              <a:spcBef>
                <a:spcPts val="852"/>
              </a:spcBef>
            </a:pPr>
            <a:r>
              <a:rPr lang="en-US" sz="1200" kern="0" spc="-5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Arquitectura</a:t>
            </a:r>
            <a:r>
              <a:rPr lang="en-US" sz="1200" kern="0" spc="-5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alto </a:t>
            </a:r>
            <a:r>
              <a:rPr lang="en-US" sz="1200" kern="0" spc="-5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endParaRPr lang="en-US" sz="1200" err="1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pic>
        <p:nvPicPr>
          <p:cNvPr id="7" name="Image 0" descr="21da9562.png">
            <a:extLst>
              <a:ext uri="{FF2B5EF4-FFF2-40B4-BE49-F238E27FC236}">
                <a16:creationId xmlns:a16="http://schemas.microsoft.com/office/drawing/2014/main" id="{B947A7B6-D38D-30DE-B9DD-23E2E2CC6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64" y="1300163"/>
            <a:ext cx="1564481" cy="1114425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548C416B-6965-E5BC-F8A4-7CD31F069F43}"/>
              </a:ext>
            </a:extLst>
          </p:cNvPr>
          <p:cNvSpPr/>
          <p:nvPr/>
        </p:nvSpPr>
        <p:spPr>
          <a:xfrm>
            <a:off x="2691766" y="1307306"/>
            <a:ext cx="5199221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F7EA866-0191-582D-F571-91879E5CB95B}"/>
              </a:ext>
            </a:extLst>
          </p:cNvPr>
          <p:cNvSpPr/>
          <p:nvPr/>
        </p:nvSpPr>
        <p:spPr>
          <a:xfrm>
            <a:off x="1736280" y="1683470"/>
            <a:ext cx="1203722" cy="3549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2795"/>
              </a:lnSpc>
            </a:pPr>
            <a:r>
              <a:rPr lang="en-US" sz="2813" kern="0" spc="-169">
                <a:solidFill>
                  <a:srgbClr val="FFFFFF"/>
                </a:solidFill>
                <a:latin typeface="Reddit Sans"/>
                <a:ea typeface="Reddit Sans"/>
                <a:cs typeface="Geist Semi Bold" pitchFamily="34" charset="-120"/>
              </a:rPr>
              <a:t>1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124CE46-9C9E-F9B2-ADFF-99612F8D940D}"/>
              </a:ext>
            </a:extLst>
          </p:cNvPr>
          <p:cNvSpPr/>
          <p:nvPr/>
        </p:nvSpPr>
        <p:spPr>
          <a:xfrm>
            <a:off x="3366867" y="1571960"/>
            <a:ext cx="4631271" cy="1622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78"/>
              </a:lnSpc>
            </a:pPr>
            <a:r>
              <a:rPr lang="en-US" sz="1125" kern="0" spc="-34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Capa 1: Omni-canalidad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ADEC5DE-D03A-8B31-8936-18990D8F11D9}"/>
              </a:ext>
            </a:extLst>
          </p:cNvPr>
          <p:cNvSpPr/>
          <p:nvPr/>
        </p:nvSpPr>
        <p:spPr>
          <a:xfrm>
            <a:off x="3366868" y="1805359"/>
            <a:ext cx="4856756" cy="3469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66"/>
              </a:lnSpc>
              <a:spcBef>
                <a:spcPts val="549"/>
              </a:spcBef>
            </a:pPr>
            <a: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Puntos de contacto integrados: Microsoft Teams, Slack, Portal Web y Aplicación</a:t>
            </a:r>
            <a:b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Móvil.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17" name="Image 1" descr="517ee562.png">
            <a:extLst>
              <a:ext uri="{FF2B5EF4-FFF2-40B4-BE49-F238E27FC236}">
                <a16:creationId xmlns:a16="http://schemas.microsoft.com/office/drawing/2014/main" id="{CE05D48D-EA54-F1FC-CAB7-07AA48657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89" y="2457450"/>
            <a:ext cx="2743200" cy="1114425"/>
          </a:xfrm>
          <a:prstGeom prst="rect">
            <a:avLst/>
          </a:prstGeom>
        </p:spPr>
      </p:pic>
      <p:sp>
        <p:nvSpPr>
          <p:cNvPr id="19" name="Shape 6">
            <a:extLst>
              <a:ext uri="{FF2B5EF4-FFF2-40B4-BE49-F238E27FC236}">
                <a16:creationId xmlns:a16="http://schemas.microsoft.com/office/drawing/2014/main" id="{190D5B4B-16B7-6DFB-0D57-5CC2155BB69D}"/>
              </a:ext>
            </a:extLst>
          </p:cNvPr>
          <p:cNvSpPr/>
          <p:nvPr/>
        </p:nvSpPr>
        <p:spPr>
          <a:xfrm>
            <a:off x="3281839" y="2436019"/>
            <a:ext cx="4609148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2CD5D8A-2414-8C1B-BFD3-F83FF4D0FC3D}"/>
              </a:ext>
            </a:extLst>
          </p:cNvPr>
          <p:cNvSpPr/>
          <p:nvPr/>
        </p:nvSpPr>
        <p:spPr>
          <a:xfrm>
            <a:off x="1146206" y="2840757"/>
            <a:ext cx="2383780" cy="3549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2795"/>
              </a:lnSpc>
            </a:pPr>
            <a:r>
              <a:rPr lang="en-US" sz="2813" kern="0" spc="-169">
                <a:solidFill>
                  <a:srgbClr val="FFFFFF"/>
                </a:solidFill>
                <a:latin typeface="Reddit Sans"/>
                <a:ea typeface="Reddit Sans"/>
                <a:cs typeface="Geist Semi Bold" pitchFamily="34" charset="-120"/>
              </a:rPr>
              <a:t>2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A510AFE2-9824-A370-1A07-D4E7C95A0546}"/>
              </a:ext>
            </a:extLst>
          </p:cNvPr>
          <p:cNvSpPr/>
          <p:nvPr/>
        </p:nvSpPr>
        <p:spPr>
          <a:xfrm>
            <a:off x="3956941" y="2729247"/>
            <a:ext cx="4041130" cy="1622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78"/>
              </a:lnSpc>
            </a:pPr>
            <a:r>
              <a:rPr lang="en-US" sz="1125" kern="0" spc="-34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Capa 2: Inteligencia Central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CCF1FB93-A37E-D5FF-3329-AC7218F2B60B}"/>
              </a:ext>
            </a:extLst>
          </p:cNvPr>
          <p:cNvSpPr/>
          <p:nvPr/>
        </p:nvSpPr>
        <p:spPr>
          <a:xfrm>
            <a:off x="3956941" y="2962647"/>
            <a:ext cx="4041130" cy="3469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66"/>
              </a:lnSpc>
              <a:spcBef>
                <a:spcPts val="549"/>
              </a:spcBef>
            </a:pPr>
            <a: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Núcleo compuesto por Motor de IA, Procesamiento de Lenguaje</a:t>
            </a:r>
            <a:b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Natural (NLP) y Base de Conocimiento.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27" name="Image 2" descr="400f81a2.png">
            <a:extLst>
              <a:ext uri="{FF2B5EF4-FFF2-40B4-BE49-F238E27FC236}">
                <a16:creationId xmlns:a16="http://schemas.microsoft.com/office/drawing/2014/main" id="{46BA60E4-3ADB-A4C0-0805-60AA50522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16" y="3614738"/>
            <a:ext cx="3921919" cy="1114425"/>
          </a:xfrm>
          <a:prstGeom prst="rect">
            <a:avLst/>
          </a:prstGeom>
        </p:spPr>
      </p:pic>
      <p:sp>
        <p:nvSpPr>
          <p:cNvPr id="29" name="Shape 10">
            <a:extLst>
              <a:ext uri="{FF2B5EF4-FFF2-40B4-BE49-F238E27FC236}">
                <a16:creationId xmlns:a16="http://schemas.microsoft.com/office/drawing/2014/main" id="{8062187E-C7C2-A08F-EC90-2AE669B381A5}"/>
              </a:ext>
            </a:extLst>
          </p:cNvPr>
          <p:cNvSpPr/>
          <p:nvPr/>
        </p:nvSpPr>
        <p:spPr>
          <a:xfrm>
            <a:off x="3871913" y="3593306"/>
            <a:ext cx="4019074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8073FB33-E8B4-6608-4BEE-7DC5BDA725F0}"/>
              </a:ext>
            </a:extLst>
          </p:cNvPr>
          <p:cNvSpPr/>
          <p:nvPr/>
        </p:nvSpPr>
        <p:spPr>
          <a:xfrm>
            <a:off x="556132" y="3998045"/>
            <a:ext cx="3563950" cy="3549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2795"/>
              </a:lnSpc>
            </a:pPr>
            <a:r>
              <a:rPr lang="en-US" sz="2813" kern="0" spc="-169">
                <a:solidFill>
                  <a:srgbClr val="FFFFFF"/>
                </a:solidFill>
                <a:latin typeface="Reddit Sans"/>
                <a:ea typeface="Reddit Sans"/>
                <a:cs typeface="Geist Semi Bold" pitchFamily="34" charset="-120"/>
              </a:rPr>
              <a:t>3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7A07B84A-3781-0809-E299-9D97D2568C27}"/>
              </a:ext>
            </a:extLst>
          </p:cNvPr>
          <p:cNvSpPr/>
          <p:nvPr/>
        </p:nvSpPr>
        <p:spPr>
          <a:xfrm>
            <a:off x="4547015" y="3886535"/>
            <a:ext cx="3451101" cy="1622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78"/>
              </a:lnSpc>
            </a:pPr>
            <a:r>
              <a:rPr lang="en-US" sz="1125" kern="0" spc="-34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Capa 3: Automatización &amp; Backend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9AE6D52-51E2-0600-81AF-3A42AB119F8A}"/>
              </a:ext>
            </a:extLst>
          </p:cNvPr>
          <p:cNvSpPr/>
          <p:nvPr/>
        </p:nvSpPr>
        <p:spPr>
          <a:xfrm>
            <a:off x="4547014" y="4119934"/>
            <a:ext cx="3620408" cy="3469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66"/>
              </a:lnSpc>
              <a:spcBef>
                <a:spcPts val="549"/>
              </a:spcBef>
            </a:pPr>
            <a: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Ejecución técnica y orquestación mediante integración con</a:t>
            </a:r>
            <a:b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13" kern="0" spc="-41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ITSM, Cloud, APIs y Gestión de Identidad.</a:t>
            </a:r>
            <a:endParaRPr lang="en-US" sz="1013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38506213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301FC8-D505-39EE-5ABD-25B714C5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D2074-8531-1F52-ABA1-1EB04C2B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Automatización</a:t>
            </a:r>
            <a:r>
              <a:rPr lang="en-US"/>
              <a:t>: </a:t>
            </a:r>
            <a:r>
              <a:rPr lang="en-US" err="1"/>
              <a:t>Eliminando</a:t>
            </a:r>
            <a:r>
              <a:rPr lang="en-US"/>
              <a:t> el Ruido</a:t>
            </a:r>
            <a:endParaRPr lang="es-ES"/>
          </a:p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97F57B-5636-B94D-175A-DCED01B91606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F592A09-46E2-D71A-6DAF-9E43BC0180E4}"/>
              </a:ext>
            </a:extLst>
          </p:cNvPr>
          <p:cNvSpPr/>
          <p:nvPr/>
        </p:nvSpPr>
        <p:spPr>
          <a:xfrm>
            <a:off x="250031" y="777106"/>
            <a:ext cx="8643938" cy="2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670"/>
              </a:lnSpc>
              <a:spcBef>
                <a:spcPts val="852"/>
              </a:spcBef>
            </a:pPr>
            <a:r>
              <a:rPr lang="en-US" sz="1238" kern="0" spc="-5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Más eficiencia, menos tickets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7" name="Image 0" descr="12fa5fa2.png">
            <a:extLst>
              <a:ext uri="{FF2B5EF4-FFF2-40B4-BE49-F238E27FC236}">
                <a16:creationId xmlns:a16="http://schemas.microsoft.com/office/drawing/2014/main" id="{868EDE02-CD3A-C444-7245-17AC03AEA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2073809"/>
            <a:ext cx="4286250" cy="892969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7B4F50F-AF88-9F96-F14F-ED80DCE02696}"/>
              </a:ext>
            </a:extLst>
          </p:cNvPr>
          <p:cNvSpPr/>
          <p:nvPr/>
        </p:nvSpPr>
        <p:spPr>
          <a:xfrm>
            <a:off x="392906" y="2457807"/>
            <a:ext cx="4000500" cy="19466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4"/>
              </a:lnSpc>
            </a:pPr>
            <a:r>
              <a:rPr lang="en-US" sz="1350" kern="0" spc="-41">
                <a:solidFill>
                  <a:srgbClr val="FFFFFF"/>
                </a:solidFill>
                <a:latin typeface="Reddit Sans"/>
                <a:ea typeface="Reddit Sans"/>
                <a:cs typeface="Geist Semi Bold" pitchFamily="34" charset="-120"/>
              </a:rPr>
              <a:t>Depuración de tickets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6E09278-60CD-16B3-4B83-A37130BBCB63}"/>
              </a:ext>
            </a:extLst>
          </p:cNvPr>
          <p:cNvSpPr/>
          <p:nvPr/>
        </p:nvSpPr>
        <p:spPr>
          <a:xfrm>
            <a:off x="571500" y="3066254"/>
            <a:ext cx="4000500" cy="3853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17"/>
              </a:lnSpc>
            </a:pP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Clasificación automática eficiente mediante el uso de</a:t>
            </a:r>
            <a:b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Procesamiento de Lenguaje Natural (NLP).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F9871ABC-F628-28E3-7385-19229EDCC520}"/>
              </a:ext>
            </a:extLst>
          </p:cNvPr>
          <p:cNvSpPr/>
          <p:nvPr/>
        </p:nvSpPr>
        <p:spPr>
          <a:xfrm>
            <a:off x="2321719" y="1895215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882FF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1" descr="3798c222.png">
            <a:extLst>
              <a:ext uri="{FF2B5EF4-FFF2-40B4-BE49-F238E27FC236}">
                <a16:creationId xmlns:a16="http://schemas.microsoft.com/office/drawing/2014/main" id="{E00F1685-119B-F1AD-2AB3-DAC1AF9CC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110" y="1985907"/>
            <a:ext cx="235744" cy="200025"/>
          </a:xfrm>
          <a:prstGeom prst="rect">
            <a:avLst/>
          </a:prstGeom>
        </p:spPr>
      </p:pic>
      <p:pic>
        <p:nvPicPr>
          <p:cNvPr id="17" name="Image 2" descr="-253adcde.png">
            <a:extLst>
              <a:ext uri="{FF2B5EF4-FFF2-40B4-BE49-F238E27FC236}">
                <a16:creationId xmlns:a16="http://schemas.microsoft.com/office/drawing/2014/main" id="{A935299D-0F40-F951-4759-314E8D444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3" y="2073809"/>
            <a:ext cx="4286250" cy="892969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57C1B6A4-7622-0554-B262-21B124F99B89}"/>
              </a:ext>
            </a:extLst>
          </p:cNvPr>
          <p:cNvSpPr/>
          <p:nvPr/>
        </p:nvSpPr>
        <p:spPr>
          <a:xfrm>
            <a:off x="4750594" y="2457807"/>
            <a:ext cx="3786188" cy="19466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34"/>
              </a:lnSpc>
            </a:pPr>
            <a:r>
              <a:rPr lang="en-US" sz="1350" kern="0" spc="-41">
                <a:solidFill>
                  <a:srgbClr val="FFFFFF"/>
                </a:solidFill>
                <a:latin typeface="Reddit Sans"/>
                <a:ea typeface="Reddit Sans"/>
                <a:cs typeface="Geist Semi Bold" pitchFamily="34" charset="-120"/>
              </a:rPr>
              <a:t>Resolución de primer nivel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BABFE20-C45E-C727-35A8-D8EC389264A4}"/>
              </a:ext>
            </a:extLst>
          </p:cNvPr>
          <p:cNvSpPr/>
          <p:nvPr/>
        </p:nvSpPr>
        <p:spPr>
          <a:xfrm>
            <a:off x="4714875" y="3066254"/>
            <a:ext cx="4000500" cy="3853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17"/>
              </a:lnSpc>
            </a:pP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Implementación de bots para tareas rutinarias como el</a:t>
            </a:r>
            <a:b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restablecimiento de contraseñas y gestión de accesos.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AB867845-F486-1385-C9F1-558BDD30801D}"/>
              </a:ext>
            </a:extLst>
          </p:cNvPr>
          <p:cNvSpPr/>
          <p:nvPr/>
        </p:nvSpPr>
        <p:spPr>
          <a:xfrm>
            <a:off x="6465094" y="1895215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7CA78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3" descr="-6127765e.png">
            <a:extLst>
              <a:ext uri="{FF2B5EF4-FFF2-40B4-BE49-F238E27FC236}">
                <a16:creationId xmlns:a16="http://schemas.microsoft.com/office/drawing/2014/main" id="{59494E2A-77B2-1712-940C-97F0F7F41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066" y="1981721"/>
            <a:ext cx="164306" cy="185738"/>
          </a:xfrm>
          <a:prstGeom prst="rect">
            <a:avLst/>
          </a:prstGeom>
        </p:spPr>
      </p:pic>
      <p:sp>
        <p:nvSpPr>
          <p:cNvPr id="27" name="Shape 8">
            <a:extLst>
              <a:ext uri="{FF2B5EF4-FFF2-40B4-BE49-F238E27FC236}">
                <a16:creationId xmlns:a16="http://schemas.microsoft.com/office/drawing/2014/main" id="{241CA0A8-3459-CC07-F7F6-E8361D9AA4E8}"/>
              </a:ext>
            </a:extLst>
          </p:cNvPr>
          <p:cNvSpPr/>
          <p:nvPr/>
        </p:nvSpPr>
        <p:spPr>
          <a:xfrm>
            <a:off x="0" y="4600575"/>
            <a:ext cx="9144000" cy="542925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9273AC0C-4A04-D090-F9E2-8746CC631419}"/>
              </a:ext>
            </a:extLst>
          </p:cNvPr>
          <p:cNvSpPr/>
          <p:nvPr/>
        </p:nvSpPr>
        <p:spPr>
          <a:xfrm>
            <a:off x="1007269" y="4783857"/>
            <a:ext cx="7129463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</a:pPr>
            <a:r>
              <a:rPr lang="en-US" sz="1238" kern="0" spc="-37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Liberar tiempo del personal técnico para enfocarse en proyectos estratégicos de alto impacto.</a:t>
            </a:r>
            <a:endParaRPr lang="en-US" sz="1013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398629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66C061-0741-2D27-2BDD-3C9143C3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56126-5B19-339C-8C9E-DF65C0C0A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Inteligencia</a:t>
            </a:r>
            <a:r>
              <a:rPr lang="en-US"/>
              <a:t> Artificial y </a:t>
            </a:r>
            <a:r>
              <a:rPr lang="en-US" err="1"/>
              <a:t>Análisis</a:t>
            </a:r>
            <a:r>
              <a:rPr lang="en-US"/>
              <a:t> </a:t>
            </a:r>
            <a:r>
              <a:rPr lang="en-US" err="1"/>
              <a:t>Predictivo</a:t>
            </a:r>
            <a:endParaRPr lang="es-ES" err="1"/>
          </a:p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6A6BA3-256A-8853-E8B5-4F8018A040CA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9EB9C3D-EC08-8EE9-6339-C833B27ABCE8}"/>
              </a:ext>
            </a:extLst>
          </p:cNvPr>
          <p:cNvSpPr/>
          <p:nvPr/>
        </p:nvSpPr>
        <p:spPr>
          <a:xfrm>
            <a:off x="424202" y="668249"/>
            <a:ext cx="8643938" cy="2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70"/>
              </a:lnSpc>
              <a:spcBef>
                <a:spcPts val="852"/>
              </a:spcBef>
            </a:pPr>
            <a:r>
              <a:rPr lang="en-US" sz="1200" kern="0" spc="-5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Anticiparse</a:t>
            </a:r>
            <a:r>
              <a:rPr lang="en-US" sz="1200" kern="0" spc="-5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al </a:t>
            </a:r>
            <a:r>
              <a:rPr lang="en-US" sz="1200" kern="0" spc="-5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problema</a:t>
            </a:r>
            <a:endParaRPr lang="en-US" sz="1200" err="1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AF66803-448B-1721-876C-853FAA55BE00}"/>
              </a:ext>
            </a:extLst>
          </p:cNvPr>
          <p:cNvSpPr/>
          <p:nvPr/>
        </p:nvSpPr>
        <p:spPr>
          <a:xfrm>
            <a:off x="357188" y="1300163"/>
            <a:ext cx="8429625" cy="29432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0" descr="-168f1d9e.png">
            <a:extLst>
              <a:ext uri="{FF2B5EF4-FFF2-40B4-BE49-F238E27FC236}">
                <a16:creationId xmlns:a16="http://schemas.microsoft.com/office/drawing/2014/main" id="{090AD43B-1ADB-09B4-F96B-8EDACB39B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1157288"/>
            <a:ext cx="8715375" cy="3228975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DE5A255C-FB00-4A4A-24C4-C7E3CA30D134}"/>
              </a:ext>
            </a:extLst>
          </p:cNvPr>
          <p:cNvSpPr/>
          <p:nvPr/>
        </p:nvSpPr>
        <p:spPr>
          <a:xfrm>
            <a:off x="0" y="4600575"/>
            <a:ext cx="9144000" cy="542925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C689EDF-A6C3-9A7A-777C-221BD550FE2F}"/>
              </a:ext>
            </a:extLst>
          </p:cNvPr>
          <p:cNvSpPr/>
          <p:nvPr/>
        </p:nvSpPr>
        <p:spPr>
          <a:xfrm>
            <a:off x="617935" y="4783857"/>
            <a:ext cx="7908131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</a:pPr>
            <a:r>
              <a:rPr lang="en-US" sz="1238" kern="0" spc="-37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La implementación de IA permite una transición hacia un modelo de servicio proactivo y basado en datos.</a:t>
            </a:r>
            <a:endParaRPr lang="en-US" sz="1013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856086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45D27-B80B-F925-29C6-94F8B32C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Enfoque</a:t>
            </a:r>
            <a:r>
              <a:rPr lang="en-US"/>
              <a:t> </a:t>
            </a:r>
            <a:r>
              <a:rPr lang="en-US" err="1"/>
              <a:t>en</a:t>
            </a:r>
            <a:r>
              <a:rPr lang="en-US"/>
              <a:t> la </a:t>
            </a:r>
            <a:r>
              <a:rPr lang="en-US" err="1"/>
              <a:t>Experiencia</a:t>
            </a:r>
            <a:r>
              <a:rPr lang="en-US"/>
              <a:t> del </a:t>
            </a:r>
            <a:r>
              <a:rPr lang="en-US" err="1"/>
              <a:t>Usuario</a:t>
            </a:r>
            <a:r>
              <a:rPr lang="en-US"/>
              <a:t> (UX)</a:t>
            </a:r>
            <a:endParaRPr lang="es-ES"/>
          </a:p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4BD4BE-B53F-A1BD-F89E-39DB59DA59F3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F9DD6E9-E8CA-6F91-0D52-8C926E2C1F9A}"/>
              </a:ext>
            </a:extLst>
          </p:cNvPr>
          <p:cNvSpPr/>
          <p:nvPr/>
        </p:nvSpPr>
        <p:spPr>
          <a:xfrm>
            <a:off x="714375" y="2306427"/>
            <a:ext cx="3929063" cy="14789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61"/>
              </a:lnSpc>
              <a:buClr>
                <a:srgbClr val="48DC92"/>
              </a:buClr>
              <a:buSzPct val="120000"/>
              <a:buChar char="•"/>
            </a:pPr>
            <a:r>
              <a:rPr lang="en-US" sz="1463" kern="0" spc="-44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Omnicanalidad</a:t>
            </a:r>
            <a:endParaRPr lang="en-US" sz="1013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17"/>
              </a:lnSpc>
              <a:spcBef>
                <a:spcPts val="330"/>
              </a:spcBef>
              <a:buNone/>
            </a:pP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El usuario elige libremente cómo pedir ayuda a través de</a:t>
            </a:r>
            <a:b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múltiples canales como Teams, Slack, Web o Voz.</a:t>
            </a:r>
            <a:endParaRPr lang="en-US" sz="1013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61"/>
              </a:lnSpc>
              <a:spcBef>
                <a:spcPts val="1553"/>
              </a:spcBef>
              <a:buClr>
                <a:srgbClr val="48DC92"/>
              </a:buClr>
              <a:buSzPct val="120000"/>
              <a:buChar char="•"/>
            </a:pPr>
            <a:r>
              <a:rPr lang="en-US" sz="1463" kern="0" spc="-44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Reducción de fricción</a:t>
            </a:r>
            <a:endParaRPr lang="en-US" sz="1013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17"/>
              </a:lnSpc>
              <a:spcBef>
                <a:spcPts val="330"/>
              </a:spcBef>
              <a:buNone/>
            </a:pP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Implementación de interfaces simples, rápidas y</a:t>
            </a:r>
            <a:b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accesibles para agilizar la interacción.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D33A9A5-3EA9-5B9D-EF3D-5B6F22112D21}"/>
              </a:ext>
            </a:extLst>
          </p:cNvPr>
          <p:cNvSpPr/>
          <p:nvPr/>
        </p:nvSpPr>
        <p:spPr>
          <a:xfrm>
            <a:off x="4714875" y="2306427"/>
            <a:ext cx="3929063" cy="6389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61"/>
              </a:lnSpc>
              <a:buClr>
                <a:srgbClr val="48DC92"/>
              </a:buClr>
              <a:buSzPct val="120000"/>
              <a:buChar char="•"/>
            </a:pPr>
            <a:r>
              <a:rPr lang="en-US" sz="1463" kern="0" spc="-44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Empatía digital</a:t>
            </a:r>
            <a:endParaRPr lang="en-US" sz="1013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17"/>
              </a:lnSpc>
              <a:spcBef>
                <a:spcPts val="330"/>
              </a:spcBef>
              <a:buNone/>
            </a:pP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Comunicación clara, humana y cercana, incluso en</a:t>
            </a:r>
            <a:b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125" kern="0" spc="-45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procesos automatizados.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1124747-6026-D9F6-BBDA-7CF4978F7DD2}"/>
              </a:ext>
            </a:extLst>
          </p:cNvPr>
          <p:cNvSpPr/>
          <p:nvPr/>
        </p:nvSpPr>
        <p:spPr>
          <a:xfrm>
            <a:off x="451416" y="668249"/>
            <a:ext cx="8643938" cy="2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70"/>
              </a:lnSpc>
              <a:spcBef>
                <a:spcPts val="852"/>
              </a:spcBef>
            </a:pPr>
            <a:r>
              <a:rPr lang="en-US" sz="1238" kern="0" spc="-5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El usuario como centro del diseño</a:t>
            </a:r>
            <a:endParaRPr lang="en-US" sz="1013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41014546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58</Slides>
  <Notes>34</Notes>
  <HiddenSlides>24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58</vt:i4>
      </vt:variant>
    </vt:vector>
  </HeadingPairs>
  <TitlesOfParts>
    <vt:vector size="60" baseType="lpstr">
      <vt:lpstr>Simple Light</vt:lpstr>
      <vt:lpstr>Simple Light</vt:lpstr>
      <vt:lpstr>Mesa de Servicio de Nueva Generación (Next Gen)</vt:lpstr>
      <vt:lpstr>Que busca la Mesa de Servicio de Nueva Generación</vt:lpstr>
      <vt:lpstr>Beneficios eperados de la Mesa de Servicio de Nueva Generación (Servicio Optimo)</vt:lpstr>
      <vt:lpstr>Presentación de PowerPoint</vt:lpstr>
      <vt:lpstr>Presentación de PowerPoint</vt:lpstr>
      <vt:lpstr>Mesas de Servicio de Nueva Generación</vt:lpstr>
      <vt:lpstr>Evolución de las Mesas de Servicio</vt:lpstr>
      <vt:lpstr>Mesa tradicional vs. Mesa de Servicio de Nueva Generación (Next Gen) </vt:lpstr>
      <vt:lpstr>Presentación de PowerPoint</vt:lpstr>
      <vt:lpstr>Posicionamiento de Plataformas ITSM </vt:lpstr>
      <vt:lpstr>Brechas del mercado y oportunidades</vt:lpstr>
      <vt:lpstr>7 Tendencias que definen el mercado</vt:lpstr>
      <vt:lpstr>Mercado Global ITSM: Tamaño y Proyección  </vt:lpstr>
      <vt:lpstr>Presentación de PowerPoint</vt:lpstr>
      <vt:lpstr>Posicionamiento de Plataformas ITSM  </vt:lpstr>
      <vt:lpstr>Cómo los 12 Grandes Proveedores Posicionan sus Mesas </vt:lpstr>
      <vt:lpstr>El Costo de No Evolucionar</vt:lpstr>
      <vt:lpstr>Visualización: Benchmarks de industria (mesas actuales (capacidad instalada y # de tickets) y comparando con la mesa tradicional. FTE costo: 88 mil pesos hora.         1 dólar de : 3800</vt:lpstr>
      <vt:lpstr>SLA vs. XLA Comparativa Visual y 4 Capas de Reporte </vt:lpstr>
      <vt:lpstr>SLA vs. XLA: 4 Capas de Reporte </vt:lpstr>
      <vt:lpstr>Agentic AI: Estado Real de Adopción 2025–2026</vt:lpstr>
      <vt:lpstr>Agentic AI: Estado Real de Adopción 2025–2026</vt:lpstr>
      <vt:lpstr>Presentación de PowerPoint</vt:lpstr>
      <vt:lpstr>Mesas de Servicio de Nueva Generación</vt:lpstr>
      <vt:lpstr>Mesas de Servicio Actuales</vt:lpstr>
      <vt:lpstr>Presentación de PowerPoint</vt:lpstr>
      <vt:lpstr>Mesas de Servicio Actuales</vt:lpstr>
      <vt:lpstr>Presentación de PowerPoint</vt:lpstr>
      <vt:lpstr>Presentación de PowerPoint</vt:lpstr>
      <vt:lpstr>Mesas de Servicio de Nueva Generación</vt:lpstr>
      <vt:lpstr>Mesas de Servicio - Referencia</vt:lpstr>
      <vt:lpstr>Presentación de PowerPoint</vt:lpstr>
      <vt:lpstr>Presentación de PowerPoint</vt:lpstr>
      <vt:lpstr>Pilares de Transformación de la Mesa de Servicio de Nueva Generación </vt:lpstr>
      <vt:lpstr>Que Diferencia a PersonalSoft?</vt:lpstr>
      <vt:lpstr>Nuestro Servicio de Mesa de Servicio de Nueva Generación</vt:lpstr>
      <vt:lpstr>RFP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Modelos de Precio: De FTE a Outcomes </vt:lpstr>
      <vt:lpstr>Presentación de PowerPoint</vt:lpstr>
      <vt:lpstr>Mesa de Servicio de Nueva Generación Modelos de Precio: De FTE a Outcomes  </vt:lpstr>
      <vt:lpstr>Mesas de Servicio de Nueva Generación</vt:lpstr>
      <vt:lpstr>Los Tres Pilares de la Nueva Mesa </vt:lpstr>
      <vt:lpstr>Ecosistema de la Nueva Mesa de Servicio </vt:lpstr>
      <vt:lpstr>Automatización: Eliminando el Ruido </vt:lpstr>
      <vt:lpstr>Inteligencia Artificial y Análisis Predictivo </vt:lpstr>
      <vt:lpstr>Enfoque en la Experiencia del Usuario (UX) 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513</cp:revision>
  <dcterms:modified xsi:type="dcterms:W3CDTF">2026-07-10T20:12:20Z</dcterms:modified>
</cp:coreProperties>
</file>