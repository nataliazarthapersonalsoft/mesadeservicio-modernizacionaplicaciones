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1"/>
  </p:notesMasterIdLst>
  <p:sldIdLst>
    <p:sldId id="281" r:id="rId5"/>
    <p:sldId id="293" r:id="rId6"/>
    <p:sldId id="284" r:id="rId7"/>
    <p:sldId id="285" r:id="rId8"/>
    <p:sldId id="286" r:id="rId9"/>
    <p:sldId id="294" r:id="rId10"/>
    <p:sldId id="287" r:id="rId11"/>
    <p:sldId id="280" r:id="rId12"/>
    <p:sldId id="296" r:id="rId13"/>
    <p:sldId id="299" r:id="rId14"/>
    <p:sldId id="300" r:id="rId15"/>
    <p:sldId id="298" r:id="rId16"/>
    <p:sldId id="263" r:id="rId17"/>
    <p:sldId id="301" r:id="rId18"/>
    <p:sldId id="302" r:id="rId19"/>
    <p:sldId id="268" r:id="rId20"/>
  </p:sldIdLst>
  <p:sldSz cx="9144000" cy="5143500" type="screen16x9"/>
  <p:notesSz cx="6858000" cy="9144000"/>
  <p:embeddedFontLst>
    <p:embeddedFont>
      <p:font typeface="Reddit Sans" panose="020B0604020202020204" charset="0"/>
      <p:regular r:id="rId22"/>
      <p:bold r:id="rId23"/>
      <p:italic r:id="rId24"/>
      <p:boldItalic r:id="rId25"/>
    </p:embeddedFont>
    <p:embeddedFont>
      <p:font typeface="Reddit Sans SemiBold"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bXstnVTn4VoWkkWw8RkcDPqyO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AE9459-BC2D-142E-9BAC-19BC7194D588}" v="5" dt="2026-07-01T15:33:47.561"/>
  </p1510:revLst>
</p1510:revInfo>
</file>

<file path=ppt/tableStyles.xml><?xml version="1.0" encoding="utf-8"?>
<a:tblStyleLst xmlns:a="http://schemas.openxmlformats.org/drawingml/2006/main" def="{1FEE7CD7-7DD5-4E0E-8F7E-406774204185}">
  <a:tblStyle styleId="{1FEE7CD7-7DD5-4E0E-8F7E-40677420418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E7F90F-6BB7-46CF-BE89-5B407FEC478E}" type="doc">
      <dgm:prSet loTypeId="urn:microsoft.com/office/officeart/2005/8/layout/default" loCatId="list" qsTypeId="urn:microsoft.com/office/officeart/2005/8/quickstyle/simple1" qsCatId="simple" csTypeId="urn:microsoft.com/office/officeart/2005/8/colors/accent0_2" csCatId="mainScheme" phldr="1"/>
      <dgm:spPr/>
      <dgm:t>
        <a:bodyPr/>
        <a:lstStyle/>
        <a:p>
          <a:endParaRPr lang="es-CO"/>
        </a:p>
      </dgm:t>
    </dgm:pt>
    <dgm:pt modelId="{E817F970-89A9-49F0-A125-A875E40F2DD0}">
      <dgm:prSet phldrT="[Texto]" phldr="0" custT="1"/>
      <dgm:spPr/>
      <dgm:t>
        <a:bodyPr/>
        <a:lstStyle/>
        <a:p>
          <a:endParaRPr lang="es-MX" sz="800" b="0" i="0" kern="1200" dirty="0">
            <a:solidFill>
              <a:srgbClr val="595959">
                <a:hueOff val="0"/>
                <a:satOff val="0"/>
                <a:lumOff val="0"/>
                <a:alphaOff val="0"/>
              </a:srgbClr>
            </a:solidFill>
            <a:latin typeface="Arial"/>
            <a:ea typeface="+mn-ea"/>
            <a:cs typeface="+mn-cs"/>
            <a:sym typeface="Reddit Sans"/>
          </a:endParaRPr>
        </a:p>
        <a:p>
          <a:endParaRPr lang="es-MX" sz="800" b="0" i="0" kern="1200" dirty="0">
            <a:solidFill>
              <a:srgbClr val="595959">
                <a:hueOff val="0"/>
                <a:satOff val="0"/>
                <a:lumOff val="0"/>
                <a:alphaOff val="0"/>
              </a:srgbClr>
            </a:solidFill>
            <a:latin typeface="Arial"/>
            <a:ea typeface="+mn-ea"/>
            <a:cs typeface="+mn-cs"/>
            <a:sym typeface="Reddit Sans"/>
          </a:endParaRPr>
        </a:p>
        <a:p>
          <a:endParaRPr lang="es-MX" sz="800" b="0" i="0" kern="1200" dirty="0">
            <a:solidFill>
              <a:srgbClr val="595959">
                <a:hueOff val="0"/>
                <a:satOff val="0"/>
                <a:lumOff val="0"/>
                <a:alphaOff val="0"/>
              </a:srgbClr>
            </a:solidFill>
            <a:latin typeface="Arial"/>
            <a:ea typeface="+mn-ea"/>
            <a:cs typeface="+mn-cs"/>
            <a:sym typeface="Reddit Sans"/>
          </a:endParaRPr>
        </a:p>
        <a:p>
          <a:endParaRPr lang="es-MX" sz="800" b="1" i="0" kern="1200" dirty="0">
            <a:solidFill>
              <a:srgbClr val="595959">
                <a:hueOff val="0"/>
                <a:satOff val="0"/>
                <a:lumOff val="0"/>
                <a:alphaOff val="0"/>
              </a:srgbClr>
            </a:solidFill>
            <a:latin typeface="Arial"/>
            <a:ea typeface="+mn-ea"/>
            <a:cs typeface="+mn-cs"/>
            <a:sym typeface="Reddit Sans"/>
          </a:endParaRPr>
        </a:p>
        <a:p>
          <a:pPr rtl="0"/>
          <a:r>
            <a:rPr lang="es-MX" sz="800" b="1" i="0" kern="1200" dirty="0">
              <a:solidFill>
                <a:srgbClr val="595959">
                  <a:hueOff val="0"/>
                  <a:satOff val="0"/>
                  <a:lumOff val="0"/>
                  <a:alphaOff val="0"/>
                </a:srgbClr>
              </a:solidFill>
              <a:latin typeface="Arial"/>
              <a:ea typeface="+mn-ea"/>
              <a:cs typeface="+mn-cs"/>
              <a:sym typeface="Reddit Sans"/>
            </a:rPr>
            <a:t>Esteban Bustamanete Transversal: </a:t>
          </a:r>
          <a:r>
            <a:rPr lang="es-MX" sz="800" b="0" i="0" kern="1200" dirty="0">
              <a:solidFill>
                <a:srgbClr val="595959">
                  <a:hueOff val="0"/>
                  <a:satOff val="0"/>
                  <a:lumOff val="0"/>
                  <a:alphaOff val="0"/>
                </a:srgbClr>
              </a:solidFill>
              <a:latin typeface="Arial"/>
              <a:ea typeface="+mn-ea"/>
              <a:cs typeface="+mn-cs"/>
            </a:rPr>
            <a:t>Encargado de identificar, analizar y solucionar incidentes de primer nivel, interviniendo plataformas y herramientas como AWS, </a:t>
          </a:r>
          <a:r>
            <a:rPr lang="es-MX" sz="800" b="0" i="0" kern="1200" dirty="0" err="1">
              <a:solidFill>
                <a:srgbClr val="595959">
                  <a:hueOff val="0"/>
                  <a:satOff val="0"/>
                  <a:lumOff val="0"/>
                  <a:alphaOff val="0"/>
                </a:srgbClr>
              </a:solidFill>
              <a:latin typeface="Arial"/>
              <a:ea typeface="+mn-ea"/>
              <a:cs typeface="+mn-cs"/>
            </a:rPr>
            <a:t>CloudWatch</a:t>
          </a:r>
          <a:r>
            <a:rPr lang="es-MX" sz="800" b="0" i="0" kern="1200" dirty="0">
              <a:solidFill>
                <a:srgbClr val="595959">
                  <a:hueOff val="0"/>
                  <a:satOff val="0"/>
                  <a:lumOff val="0"/>
                  <a:alphaOff val="0"/>
                </a:srgbClr>
              </a:solidFill>
              <a:latin typeface="Arial"/>
              <a:ea typeface="+mn-ea"/>
              <a:cs typeface="+mn-cs"/>
            </a:rPr>
            <a:t>, </a:t>
          </a:r>
          <a:r>
            <a:rPr lang="es-MX" sz="800" b="0" i="0" kern="1200" dirty="0" err="1">
              <a:solidFill>
                <a:srgbClr val="595959">
                  <a:hueOff val="0"/>
                  <a:satOff val="0"/>
                  <a:lumOff val="0"/>
                  <a:alphaOff val="0"/>
                </a:srgbClr>
              </a:solidFill>
              <a:latin typeface="Arial"/>
              <a:ea typeface="+mn-ea"/>
              <a:cs typeface="+mn-cs"/>
            </a:rPr>
            <a:t>Grafana</a:t>
          </a:r>
          <a:r>
            <a:rPr lang="es-MX" sz="800" b="0" i="0" kern="1200" dirty="0">
              <a:solidFill>
                <a:srgbClr val="595959">
                  <a:hueOff val="0"/>
                  <a:satOff val="0"/>
                  <a:lumOff val="0"/>
                  <a:alphaOff val="0"/>
                </a:srgbClr>
              </a:solidFill>
              <a:latin typeface="Arial"/>
              <a:ea typeface="+mn-ea"/>
              <a:cs typeface="+mn-cs"/>
            </a:rPr>
            <a:t>, Dynatrace y AS400. Realiza consultas en bases de datos mediante SQL, tanto en entornos en la nube como </a:t>
          </a:r>
          <a:r>
            <a:rPr lang="es-MX" sz="800" b="0" i="0" kern="1200" dirty="0" err="1">
              <a:solidFill>
                <a:srgbClr val="595959">
                  <a:hueOff val="0"/>
                  <a:satOff val="0"/>
                  <a:lumOff val="0"/>
                  <a:alphaOff val="0"/>
                </a:srgbClr>
              </a:solidFill>
              <a:latin typeface="Arial"/>
              <a:ea typeface="+mn-ea"/>
              <a:cs typeface="+mn-cs"/>
            </a:rPr>
            <a:t>on</a:t>
          </a:r>
          <a:r>
            <a:rPr lang="es-MX" sz="800" b="0" i="0" kern="1200" dirty="0">
              <a:solidFill>
                <a:srgbClr val="595959">
                  <a:hueOff val="0"/>
                  <a:satOff val="0"/>
                  <a:lumOff val="0"/>
                  <a:alphaOff val="0"/>
                </a:srgbClr>
              </a:solidFill>
              <a:latin typeface="Arial"/>
              <a:ea typeface="+mn-ea"/>
              <a:cs typeface="+mn-cs"/>
            </a:rPr>
            <a:t>-premise, especialmente en procesos críticos como los lotes de pago a nivel cliente.</a:t>
          </a:r>
        </a:p>
        <a:p>
          <a:pPr>
            <a:buNone/>
          </a:pPr>
          <a:r>
            <a:rPr lang="es-MX" sz="800" b="0" i="0" kern="1200" dirty="0">
              <a:solidFill>
                <a:srgbClr val="595959">
                  <a:hueOff val="0"/>
                  <a:satOff val="0"/>
                  <a:lumOff val="0"/>
                  <a:alphaOff val="0"/>
                </a:srgbClr>
              </a:solidFill>
              <a:latin typeface="Arial"/>
              <a:ea typeface="+mn-ea"/>
              <a:cs typeface="+mn-cs"/>
            </a:rPr>
            <a:t>Integra información proveniente de distintas áreas, lo que permite una visión unificada de los incidentes y facilita una respuesta más ágil y efectiva ante fallas masivas.</a:t>
          </a:r>
        </a:p>
        <a:p>
          <a:pPr>
            <a:buNone/>
          </a:pPr>
          <a:endParaRPr lang="es-CO" sz="1300" kern="1200" dirty="0"/>
        </a:p>
        <a:p>
          <a:r>
            <a:rPr lang="es-MX" sz="1300" b="0" i="0" u="none" strike="noStrike" kern="1200" cap="none" dirty="0">
              <a:solidFill>
                <a:schemeClr val="dk1"/>
              </a:solidFill>
              <a:latin typeface="Reddit Sans"/>
              <a:ea typeface="Reddit Sans"/>
              <a:cs typeface="Reddit Sans"/>
              <a:sym typeface="Reddit Sans"/>
            </a:rPr>
            <a:t> </a:t>
          </a:r>
        </a:p>
        <a:p>
          <a:endParaRPr lang="es-CO" sz="3700" kern="1200" dirty="0"/>
        </a:p>
      </dgm:t>
    </dgm:pt>
    <dgm:pt modelId="{47632F22-95C6-4BA0-8F75-2A6847549496}" type="parTrans" cxnId="{F0B2C521-073B-420F-8085-12C4777AB510}">
      <dgm:prSet/>
      <dgm:spPr/>
      <dgm:t>
        <a:bodyPr/>
        <a:lstStyle/>
        <a:p>
          <a:endParaRPr lang="es-CO"/>
        </a:p>
      </dgm:t>
    </dgm:pt>
    <dgm:pt modelId="{BD82D0A7-65EF-4C8A-9C1B-2C1F53EA0828}" type="sibTrans" cxnId="{F0B2C521-073B-420F-8085-12C4777AB510}">
      <dgm:prSet/>
      <dgm:spPr/>
      <dgm:t>
        <a:bodyPr/>
        <a:lstStyle/>
        <a:p>
          <a:endParaRPr lang="es-CO"/>
        </a:p>
      </dgm:t>
    </dgm:pt>
    <dgm:pt modelId="{4C1ADC24-4941-40DE-80B4-78E90BC60776}">
      <dgm:prSet phldrT="[Texto]" phldr="0" custT="1"/>
      <dgm:spPr/>
      <dgm:t>
        <a:bodyPr/>
        <a:lstStyle/>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1" i="0" u="none" strike="noStrike" kern="1200" cap="none" dirty="0">
            <a:solidFill>
              <a:srgbClr val="000000"/>
            </a:solidFill>
            <a:latin typeface="Reddit Sans"/>
            <a:ea typeface="Reddit Sans"/>
            <a:cs typeface="Reddit Sans"/>
          </a:endParaRPr>
        </a:p>
        <a:p>
          <a:pPr marL="0" lvl="0" indent="0" algn="ctr" defTabSz="577850" rtl="0">
            <a:lnSpc>
              <a:spcPct val="90000"/>
            </a:lnSpc>
            <a:spcBef>
              <a:spcPct val="0"/>
            </a:spcBef>
            <a:spcAft>
              <a:spcPct val="35000"/>
            </a:spcAft>
            <a:buNone/>
          </a:pPr>
          <a:r>
            <a:rPr lang="es-MX" sz="800" b="1" i="0" u="none" strike="noStrike" kern="1200" cap="none" dirty="0">
              <a:solidFill>
                <a:srgbClr val="000000"/>
              </a:solidFill>
              <a:latin typeface="Reddit Sans"/>
              <a:ea typeface="Reddit Sans"/>
              <a:cs typeface="Reddit Sans"/>
            </a:rPr>
            <a:t>Esteban Cardona Datos: </a:t>
          </a:r>
          <a:r>
            <a:rPr lang="es-MX" sz="800" b="0" i="0" kern="1200" dirty="0">
              <a:solidFill>
                <a:srgbClr val="595959">
                  <a:hueOff val="0"/>
                  <a:satOff val="0"/>
                  <a:lumOff val="0"/>
                  <a:alphaOff val="0"/>
                </a:srgbClr>
              </a:solidFill>
              <a:latin typeface="Arial"/>
              <a:ea typeface="+mn-ea"/>
              <a:cs typeface="+mn-cs"/>
            </a:rPr>
            <a:t>Realizar soporte  </a:t>
          </a:r>
          <a:r>
            <a:rPr lang="es-MX" sz="800" b="0" i="0" kern="1200" dirty="0"/>
            <a:t>de la operación de procesos Batch y en tiempo real del área de Big Data del cliente. Nuestra responsabilidad es garantizar la continuidad del servicio mediante la atención oportuna de incidentes, incluyendo la recepción, diagnóstico, solución o escalamiento de fallas y novedades que puedan afectar la operación.</a:t>
          </a:r>
        </a:p>
        <a:p>
          <a:pPr marL="0" lvl="0" indent="0" algn="ctr" defTabSz="577850">
            <a:lnSpc>
              <a:spcPct val="90000"/>
            </a:lnSpc>
            <a:spcBef>
              <a:spcPct val="0"/>
            </a:spcBef>
            <a:spcAft>
              <a:spcPct val="35000"/>
            </a:spcAft>
            <a:buNone/>
          </a:pPr>
          <a:r>
            <a:rPr lang="es-MX" sz="800" b="0" i="0" kern="1200" dirty="0"/>
            <a:t>Contamos con un equipo altamente calificado, con experiencia en tecnologías como ETL, Data Lake, </a:t>
          </a:r>
          <a:r>
            <a:rPr lang="es-MX" sz="800" b="0" i="0" kern="1200" dirty="0" err="1"/>
            <a:t>Sqoop</a:t>
          </a:r>
          <a:r>
            <a:rPr lang="es-MX" sz="800" b="0" i="0" kern="1200" dirty="0"/>
            <a:t>, Hadoop, analítica y Python, lo que nos permite ofrecer una gestión eficiente, ágil y confiable, alineada a las necesidades del negocio y enfocada en la excelencia en el servicio.</a:t>
          </a:r>
        </a:p>
        <a:p>
          <a:pPr marL="0" lvl="0" indent="0" algn="ctr" defTabSz="577850">
            <a:lnSpc>
              <a:spcPct val="90000"/>
            </a:lnSpc>
            <a:spcBef>
              <a:spcPct val="0"/>
            </a:spcBef>
            <a:spcAft>
              <a:spcPct val="35000"/>
            </a:spcAft>
            <a:buNone/>
          </a:pPr>
          <a:endParaRPr lang="es-CO" sz="1300" kern="1200" dirty="0"/>
        </a:p>
        <a:p>
          <a:pPr marL="0" lvl="0" indent="0" algn="ctr" defTabSz="577850">
            <a:lnSpc>
              <a:spcPct val="90000"/>
            </a:lnSpc>
            <a:spcBef>
              <a:spcPct val="0"/>
            </a:spcBef>
            <a:spcAft>
              <a:spcPct val="35000"/>
            </a:spcAft>
            <a:buNone/>
          </a:pPr>
          <a:endParaRPr lang="es-MX" sz="1300" b="0" i="0" u="none" strike="noStrike" kern="1200" cap="none" dirty="0">
            <a:solidFill>
              <a:srgbClr val="000000"/>
            </a:solidFill>
            <a:latin typeface="Reddit Sans"/>
            <a:ea typeface="Reddit Sans"/>
            <a:cs typeface="Reddit Sans"/>
          </a:endParaRPr>
        </a:p>
        <a:p>
          <a:pPr marL="0" lvl="0" algn="ctr" defTabSz="1689100">
            <a:lnSpc>
              <a:spcPct val="90000"/>
            </a:lnSpc>
            <a:spcBef>
              <a:spcPct val="0"/>
            </a:spcBef>
            <a:spcAft>
              <a:spcPct val="35000"/>
            </a:spcAft>
            <a:buNone/>
          </a:pPr>
          <a:endParaRPr lang="es-CO" sz="3800" kern="1200" dirty="0"/>
        </a:p>
      </dgm:t>
    </dgm:pt>
    <dgm:pt modelId="{078E761A-B0A1-4B88-929D-90212BA33A78}" type="parTrans" cxnId="{6B7C1CA2-D1B1-43EF-B660-BD9B0C9A58D8}">
      <dgm:prSet/>
      <dgm:spPr/>
      <dgm:t>
        <a:bodyPr/>
        <a:lstStyle/>
        <a:p>
          <a:endParaRPr lang="es-CO"/>
        </a:p>
      </dgm:t>
    </dgm:pt>
    <dgm:pt modelId="{69BF1E9C-B708-49A5-9373-EEEE69344F64}" type="sibTrans" cxnId="{6B7C1CA2-D1B1-43EF-B660-BD9B0C9A58D8}">
      <dgm:prSet/>
      <dgm:spPr/>
      <dgm:t>
        <a:bodyPr/>
        <a:lstStyle/>
        <a:p>
          <a:endParaRPr lang="es-CO"/>
        </a:p>
      </dgm:t>
    </dgm:pt>
    <dgm:pt modelId="{A47C1EE9-F053-4ACB-9C8A-5244AC5690FB}">
      <dgm:prSet phldrT="[Texto]" phldr="0" custT="1"/>
      <dgm:spPr/>
      <dgm:t>
        <a:bodyPr/>
        <a:lstStyle/>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1" i="0" u="none" strike="noStrike" kern="1200" cap="none" dirty="0">
            <a:solidFill>
              <a:srgbClr val="000000"/>
            </a:solidFill>
            <a:latin typeface="Reddit Sans"/>
            <a:ea typeface="Reddit Sans"/>
            <a:cs typeface="Reddit Sans"/>
          </a:endParaRPr>
        </a:p>
        <a:p>
          <a:pPr marL="0" lvl="0" indent="0" algn="ctr" defTabSz="577850" rtl="0">
            <a:lnSpc>
              <a:spcPct val="90000"/>
            </a:lnSpc>
            <a:spcBef>
              <a:spcPct val="0"/>
            </a:spcBef>
            <a:spcAft>
              <a:spcPct val="35000"/>
            </a:spcAft>
            <a:buNone/>
          </a:pPr>
          <a:r>
            <a:rPr lang="es-MX" sz="800" b="1" i="0" u="none" strike="noStrike" kern="1200" cap="none" dirty="0">
              <a:solidFill>
                <a:srgbClr val="000000"/>
              </a:solidFill>
              <a:latin typeface="Reddit Sans"/>
              <a:ea typeface="Reddit Sans"/>
              <a:cs typeface="Reddit Sans"/>
            </a:rPr>
            <a:t>No tengo </a:t>
          </a:r>
          <a:r>
            <a:rPr lang="es-MX" sz="800" b="1" i="0" u="none" strike="noStrike" kern="1200" cap="none" dirty="0" err="1">
              <a:solidFill>
                <a:srgbClr val="000000"/>
              </a:solidFill>
              <a:latin typeface="Reddit Sans"/>
              <a:ea typeface="Reddit Sans"/>
              <a:cs typeface="Reddit Sans"/>
            </a:rPr>
            <a:t>lider</a:t>
          </a:r>
          <a:r>
            <a:rPr lang="es-MX" sz="800" b="1" i="0" u="none" strike="noStrike" kern="1200" cap="none" dirty="0">
              <a:solidFill>
                <a:srgbClr val="000000"/>
              </a:solidFill>
              <a:latin typeface="Reddit Sans"/>
              <a:ea typeface="Reddit Sans"/>
              <a:cs typeface="Reddit Sans"/>
            </a:rPr>
            <a:t> (Jorge </a:t>
          </a:r>
          <a:r>
            <a:rPr lang="es-MX" sz="800" b="1" i="0" u="none" strike="noStrike" kern="1200" cap="none" dirty="0" err="1">
              <a:solidFill>
                <a:srgbClr val="000000"/>
              </a:solidFill>
              <a:latin typeface="Reddit Sans"/>
              <a:ea typeface="Reddit Sans"/>
              <a:cs typeface="Reddit Sans"/>
            </a:rPr>
            <a:t>Martinez</a:t>
          </a:r>
          <a:r>
            <a:rPr lang="es-MX" sz="800" b="1" i="0" u="none" strike="noStrike" kern="1200" cap="none" dirty="0">
              <a:solidFill>
                <a:srgbClr val="000000"/>
              </a:solidFill>
              <a:latin typeface="Reddit Sans"/>
              <a:ea typeface="Reddit Sans"/>
              <a:cs typeface="Reddit Sans"/>
            </a:rPr>
            <a:t>) Integración:</a:t>
          </a:r>
          <a:r>
            <a:rPr lang="es-MX" sz="800" b="1" i="0" kern="1200" dirty="0">
              <a:solidFill>
                <a:srgbClr val="595959">
                  <a:hueOff val="0"/>
                  <a:satOff val="0"/>
                  <a:lumOff val="0"/>
                  <a:alphaOff val="0"/>
                </a:srgbClr>
              </a:solidFill>
              <a:latin typeface="Arial"/>
              <a:ea typeface="+mn-ea"/>
              <a:cs typeface="+mn-cs"/>
            </a:rPr>
            <a:t> </a:t>
          </a:r>
          <a:r>
            <a:rPr lang="es-MX" sz="800" b="0" i="0" kern="1200" dirty="0">
              <a:solidFill>
                <a:srgbClr val="595959">
                  <a:hueOff val="0"/>
                  <a:satOff val="0"/>
                  <a:lumOff val="0"/>
                  <a:alphaOff val="0"/>
                </a:srgbClr>
              </a:solidFill>
              <a:latin typeface="Arial"/>
              <a:ea typeface="+mn-ea"/>
              <a:cs typeface="+mn-cs"/>
            </a:rPr>
            <a:t>responsable del soporte de primer nivel en la capa de Middleware del EVC de integración del cliente. Gestiona tecnologías de IBM y AWS, como MQ, API </a:t>
          </a:r>
          <a:r>
            <a:rPr lang="es-MX" sz="800" b="0" i="0" kern="1200" dirty="0" err="1">
              <a:solidFill>
                <a:srgbClr val="595959">
                  <a:hueOff val="0"/>
                  <a:satOff val="0"/>
                  <a:lumOff val="0"/>
                  <a:alphaOff val="0"/>
                </a:srgbClr>
              </a:solidFill>
              <a:latin typeface="Arial"/>
              <a:ea typeface="+mn-ea"/>
              <a:cs typeface="+mn-cs"/>
            </a:rPr>
            <a:t>Connect</a:t>
          </a:r>
          <a:r>
            <a:rPr lang="es-MX" sz="800" b="0" i="0" kern="1200" dirty="0">
              <a:solidFill>
                <a:srgbClr val="595959">
                  <a:hueOff val="0"/>
                  <a:satOff val="0"/>
                  <a:lumOff val="0"/>
                  <a:alphaOff val="0"/>
                </a:srgbClr>
              </a:solidFill>
              <a:latin typeface="Arial"/>
              <a:ea typeface="+mn-ea"/>
              <a:cs typeface="+mn-cs"/>
            </a:rPr>
            <a:t>, EC2 y S3, incluyendo actividades clave como la renovación de certificados de la EVC, entre otros procesos asociados.</a:t>
          </a:r>
        </a:p>
        <a:p>
          <a:pPr marL="0" lvl="0" indent="0" algn="ctr" defTabSz="577850">
            <a:lnSpc>
              <a:spcPct val="90000"/>
            </a:lnSpc>
            <a:spcBef>
              <a:spcPct val="0"/>
            </a:spcBef>
            <a:spcAft>
              <a:spcPct val="35000"/>
            </a:spcAft>
            <a:buNone/>
          </a:pPr>
          <a:r>
            <a:rPr lang="es-MX" sz="800" b="0" i="0" kern="1200" dirty="0">
              <a:solidFill>
                <a:srgbClr val="595959">
                  <a:hueOff val="0"/>
                  <a:satOff val="0"/>
                  <a:lumOff val="0"/>
                  <a:alphaOff val="0"/>
                </a:srgbClr>
              </a:solidFill>
              <a:latin typeface="Arial"/>
              <a:ea typeface="+mn-ea"/>
              <a:cs typeface="+mn-cs"/>
            </a:rPr>
            <a:t>Su función principal es diagnosticar, solucionar y notificar de manera oportuna cualquier falla, novedad o incidente que pueda impactar los componentes del área de Integración, garantizando la estabilidad, continuidad y calidad del servicio.</a:t>
          </a:r>
        </a:p>
        <a:p>
          <a:pPr marL="0" lvl="0" indent="0" algn="ctr" defTabSz="577850">
            <a:lnSpc>
              <a:spcPct val="90000"/>
            </a:lnSpc>
            <a:spcBef>
              <a:spcPct val="0"/>
            </a:spcBef>
            <a:spcAft>
              <a:spcPct val="35000"/>
            </a:spcAft>
            <a:buNone/>
          </a:pPr>
          <a:endParaRPr lang="es-MX" sz="1300" b="0" i="0" u="none" strike="noStrike" kern="1200" cap="none" dirty="0">
            <a:solidFill>
              <a:srgbClr val="000000"/>
            </a:solidFill>
            <a:latin typeface="Reddit Sans"/>
            <a:ea typeface="Reddit Sans"/>
            <a:cs typeface="Reddit Sans"/>
          </a:endParaRPr>
        </a:p>
        <a:p>
          <a:pPr marL="0" lvl="0" algn="ctr" defTabSz="1689100">
            <a:lnSpc>
              <a:spcPct val="90000"/>
            </a:lnSpc>
            <a:spcBef>
              <a:spcPct val="0"/>
            </a:spcBef>
            <a:spcAft>
              <a:spcPct val="35000"/>
            </a:spcAft>
            <a:buNone/>
          </a:pPr>
          <a:endParaRPr lang="es-CO" sz="3800" kern="1200" dirty="0"/>
        </a:p>
      </dgm:t>
    </dgm:pt>
    <dgm:pt modelId="{0727D03D-8355-4272-BEBE-052A52C0DA0C}" type="parTrans" cxnId="{240F495A-B1DF-4C29-98F6-F6BB7C800827}">
      <dgm:prSet/>
      <dgm:spPr/>
      <dgm:t>
        <a:bodyPr/>
        <a:lstStyle/>
        <a:p>
          <a:endParaRPr lang="es-CO"/>
        </a:p>
      </dgm:t>
    </dgm:pt>
    <dgm:pt modelId="{491C39CB-374E-483D-AD80-059228C48AD2}" type="sibTrans" cxnId="{240F495A-B1DF-4C29-98F6-F6BB7C800827}">
      <dgm:prSet/>
      <dgm:spPr/>
      <dgm:t>
        <a:bodyPr/>
        <a:lstStyle/>
        <a:p>
          <a:endParaRPr lang="es-CO"/>
        </a:p>
      </dgm:t>
    </dgm:pt>
    <dgm:pt modelId="{6CD51EB9-79F9-4748-A5D7-F85EB0455DF9}" type="pres">
      <dgm:prSet presAssocID="{B6E7F90F-6BB7-46CF-BE89-5B407FEC478E}" presName="diagram" presStyleCnt="0">
        <dgm:presLayoutVars>
          <dgm:dir/>
          <dgm:resizeHandles val="exact"/>
        </dgm:presLayoutVars>
      </dgm:prSet>
      <dgm:spPr/>
    </dgm:pt>
    <dgm:pt modelId="{42CE50D3-8861-4BA4-8493-2A8FD3AE2F9D}" type="pres">
      <dgm:prSet presAssocID="{E817F970-89A9-49F0-A125-A875E40F2DD0}" presName="node" presStyleLbl="node1" presStyleIdx="0" presStyleCnt="3">
        <dgm:presLayoutVars>
          <dgm:bulletEnabled val="1"/>
        </dgm:presLayoutVars>
      </dgm:prSet>
      <dgm:spPr/>
    </dgm:pt>
    <dgm:pt modelId="{79875599-2528-43AE-B909-5422EF1491D7}" type="pres">
      <dgm:prSet presAssocID="{BD82D0A7-65EF-4C8A-9C1B-2C1F53EA0828}" presName="sibTrans" presStyleCnt="0"/>
      <dgm:spPr/>
    </dgm:pt>
    <dgm:pt modelId="{E5F07E7C-0044-4276-9BCA-044D58523C24}" type="pres">
      <dgm:prSet presAssocID="{4C1ADC24-4941-40DE-80B4-78E90BC60776}" presName="node" presStyleLbl="node1" presStyleIdx="1" presStyleCnt="3">
        <dgm:presLayoutVars>
          <dgm:bulletEnabled val="1"/>
        </dgm:presLayoutVars>
      </dgm:prSet>
      <dgm:spPr/>
    </dgm:pt>
    <dgm:pt modelId="{161FFEFD-7BFD-411A-903B-0A3194F6E163}" type="pres">
      <dgm:prSet presAssocID="{69BF1E9C-B708-49A5-9373-EEEE69344F64}" presName="sibTrans" presStyleCnt="0"/>
      <dgm:spPr/>
    </dgm:pt>
    <dgm:pt modelId="{64A803B2-A5CE-45F9-A69D-9F35CBE0EFAD}" type="pres">
      <dgm:prSet presAssocID="{A47C1EE9-F053-4ACB-9C8A-5244AC5690FB}" presName="node" presStyleLbl="node1" presStyleIdx="2" presStyleCnt="3">
        <dgm:presLayoutVars>
          <dgm:bulletEnabled val="1"/>
        </dgm:presLayoutVars>
      </dgm:prSet>
      <dgm:spPr/>
    </dgm:pt>
  </dgm:ptLst>
  <dgm:cxnLst>
    <dgm:cxn modelId="{F0B2C521-073B-420F-8085-12C4777AB510}" srcId="{B6E7F90F-6BB7-46CF-BE89-5B407FEC478E}" destId="{E817F970-89A9-49F0-A125-A875E40F2DD0}" srcOrd="0" destOrd="0" parTransId="{47632F22-95C6-4BA0-8F75-2A6847549496}" sibTransId="{BD82D0A7-65EF-4C8A-9C1B-2C1F53EA0828}"/>
    <dgm:cxn modelId="{4094635B-EBC9-4858-9498-5969742ECE1A}" type="presOf" srcId="{A47C1EE9-F053-4ACB-9C8A-5244AC5690FB}" destId="{64A803B2-A5CE-45F9-A69D-9F35CBE0EFAD}" srcOrd="0" destOrd="0" presId="urn:microsoft.com/office/officeart/2005/8/layout/default"/>
    <dgm:cxn modelId="{A2E78566-6C16-4419-963B-5C9583024CD2}" type="presOf" srcId="{B6E7F90F-6BB7-46CF-BE89-5B407FEC478E}" destId="{6CD51EB9-79F9-4748-A5D7-F85EB0455DF9}" srcOrd="0" destOrd="0" presId="urn:microsoft.com/office/officeart/2005/8/layout/default"/>
    <dgm:cxn modelId="{240F495A-B1DF-4C29-98F6-F6BB7C800827}" srcId="{B6E7F90F-6BB7-46CF-BE89-5B407FEC478E}" destId="{A47C1EE9-F053-4ACB-9C8A-5244AC5690FB}" srcOrd="2" destOrd="0" parTransId="{0727D03D-8355-4272-BEBE-052A52C0DA0C}" sibTransId="{491C39CB-374E-483D-AD80-059228C48AD2}"/>
    <dgm:cxn modelId="{E54E2288-780A-42F4-9242-A43A0B41E542}" type="presOf" srcId="{4C1ADC24-4941-40DE-80B4-78E90BC60776}" destId="{E5F07E7C-0044-4276-9BCA-044D58523C24}" srcOrd="0" destOrd="0" presId="urn:microsoft.com/office/officeart/2005/8/layout/default"/>
    <dgm:cxn modelId="{7E96379E-96F9-47D4-9346-1CBD8B648A10}" type="presOf" srcId="{E817F970-89A9-49F0-A125-A875E40F2DD0}" destId="{42CE50D3-8861-4BA4-8493-2A8FD3AE2F9D}" srcOrd="0" destOrd="0" presId="urn:microsoft.com/office/officeart/2005/8/layout/default"/>
    <dgm:cxn modelId="{6B7C1CA2-D1B1-43EF-B660-BD9B0C9A58D8}" srcId="{B6E7F90F-6BB7-46CF-BE89-5B407FEC478E}" destId="{4C1ADC24-4941-40DE-80B4-78E90BC60776}" srcOrd="1" destOrd="0" parTransId="{078E761A-B0A1-4B88-929D-90212BA33A78}" sibTransId="{69BF1E9C-B708-49A5-9373-EEEE69344F64}"/>
    <dgm:cxn modelId="{57821117-D1E4-412A-A93D-B67403965AD2}" type="presParOf" srcId="{6CD51EB9-79F9-4748-A5D7-F85EB0455DF9}" destId="{42CE50D3-8861-4BA4-8493-2A8FD3AE2F9D}" srcOrd="0" destOrd="0" presId="urn:microsoft.com/office/officeart/2005/8/layout/default"/>
    <dgm:cxn modelId="{63C8024A-F91A-4FA1-9961-58EE69DB3D01}" type="presParOf" srcId="{6CD51EB9-79F9-4748-A5D7-F85EB0455DF9}" destId="{79875599-2528-43AE-B909-5422EF1491D7}" srcOrd="1" destOrd="0" presId="urn:microsoft.com/office/officeart/2005/8/layout/default"/>
    <dgm:cxn modelId="{F4949F27-693D-438A-A9EF-257C46976021}" type="presParOf" srcId="{6CD51EB9-79F9-4748-A5D7-F85EB0455DF9}" destId="{E5F07E7C-0044-4276-9BCA-044D58523C24}" srcOrd="2" destOrd="0" presId="urn:microsoft.com/office/officeart/2005/8/layout/default"/>
    <dgm:cxn modelId="{93A773BF-D398-4BED-9A15-4ACD671674B5}" type="presParOf" srcId="{6CD51EB9-79F9-4748-A5D7-F85EB0455DF9}" destId="{161FFEFD-7BFD-411A-903B-0A3194F6E163}" srcOrd="3" destOrd="0" presId="urn:microsoft.com/office/officeart/2005/8/layout/default"/>
    <dgm:cxn modelId="{15380B6A-E6E8-4CA8-B3AA-D233BA32EF52}" type="presParOf" srcId="{6CD51EB9-79F9-4748-A5D7-F85EB0455DF9}" destId="{64A803B2-A5CE-45F9-A69D-9F35CBE0EFAD}"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E50D3-8861-4BA4-8493-2A8FD3AE2F9D}">
      <dsp:nvSpPr>
        <dsp:cNvPr id="0" name=""/>
        <dsp:cNvSpPr/>
      </dsp:nvSpPr>
      <dsp:spPr>
        <a:xfrm>
          <a:off x="1083884" y="1830"/>
          <a:ext cx="3089567" cy="1853740"/>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endParaRPr lang="es-MX" sz="800" b="0" i="0" kern="1200" dirty="0">
            <a:solidFill>
              <a:srgbClr val="595959">
                <a:hueOff val="0"/>
                <a:satOff val="0"/>
                <a:lumOff val="0"/>
                <a:alphaOff val="0"/>
              </a:srgbClr>
            </a:solidFill>
            <a:latin typeface="Arial"/>
            <a:ea typeface="+mn-ea"/>
            <a:cs typeface="+mn-cs"/>
            <a:sym typeface="Reddit Sans"/>
          </a:endParaRPr>
        </a:p>
        <a:p>
          <a:pPr marL="0" lvl="0" indent="0" algn="ctr" defTabSz="355600">
            <a:lnSpc>
              <a:spcPct val="90000"/>
            </a:lnSpc>
            <a:spcBef>
              <a:spcPct val="0"/>
            </a:spcBef>
            <a:spcAft>
              <a:spcPct val="35000"/>
            </a:spcAft>
            <a:buNone/>
          </a:pPr>
          <a:endParaRPr lang="es-MX" sz="800" b="0" i="0" kern="1200" dirty="0">
            <a:solidFill>
              <a:srgbClr val="595959">
                <a:hueOff val="0"/>
                <a:satOff val="0"/>
                <a:lumOff val="0"/>
                <a:alphaOff val="0"/>
              </a:srgbClr>
            </a:solidFill>
            <a:latin typeface="Arial"/>
            <a:ea typeface="+mn-ea"/>
            <a:cs typeface="+mn-cs"/>
            <a:sym typeface="Reddit Sans"/>
          </a:endParaRPr>
        </a:p>
        <a:p>
          <a:pPr marL="0" lvl="0" indent="0" algn="ctr" defTabSz="355600">
            <a:lnSpc>
              <a:spcPct val="90000"/>
            </a:lnSpc>
            <a:spcBef>
              <a:spcPct val="0"/>
            </a:spcBef>
            <a:spcAft>
              <a:spcPct val="35000"/>
            </a:spcAft>
            <a:buNone/>
          </a:pPr>
          <a:endParaRPr lang="es-MX" sz="800" b="0" i="0" kern="1200" dirty="0">
            <a:solidFill>
              <a:srgbClr val="595959">
                <a:hueOff val="0"/>
                <a:satOff val="0"/>
                <a:lumOff val="0"/>
                <a:alphaOff val="0"/>
              </a:srgbClr>
            </a:solidFill>
            <a:latin typeface="Arial"/>
            <a:ea typeface="+mn-ea"/>
            <a:cs typeface="+mn-cs"/>
            <a:sym typeface="Reddit Sans"/>
          </a:endParaRPr>
        </a:p>
        <a:p>
          <a:pPr marL="0" lvl="0" indent="0" algn="ctr" defTabSz="355600">
            <a:lnSpc>
              <a:spcPct val="90000"/>
            </a:lnSpc>
            <a:spcBef>
              <a:spcPct val="0"/>
            </a:spcBef>
            <a:spcAft>
              <a:spcPct val="35000"/>
            </a:spcAft>
            <a:buNone/>
          </a:pPr>
          <a:endParaRPr lang="es-MX" sz="800" b="1" i="0" kern="1200" dirty="0">
            <a:solidFill>
              <a:srgbClr val="595959">
                <a:hueOff val="0"/>
                <a:satOff val="0"/>
                <a:lumOff val="0"/>
                <a:alphaOff val="0"/>
              </a:srgbClr>
            </a:solidFill>
            <a:latin typeface="Arial"/>
            <a:ea typeface="+mn-ea"/>
            <a:cs typeface="+mn-cs"/>
            <a:sym typeface="Reddit Sans"/>
          </a:endParaRPr>
        </a:p>
        <a:p>
          <a:pPr marL="0" lvl="0" indent="0" algn="ctr" defTabSz="355600" rtl="0">
            <a:lnSpc>
              <a:spcPct val="90000"/>
            </a:lnSpc>
            <a:spcBef>
              <a:spcPct val="0"/>
            </a:spcBef>
            <a:spcAft>
              <a:spcPct val="35000"/>
            </a:spcAft>
            <a:buNone/>
          </a:pPr>
          <a:r>
            <a:rPr lang="es-MX" sz="800" b="1" i="0" kern="1200" dirty="0">
              <a:solidFill>
                <a:srgbClr val="595959">
                  <a:hueOff val="0"/>
                  <a:satOff val="0"/>
                  <a:lumOff val="0"/>
                  <a:alphaOff val="0"/>
                </a:srgbClr>
              </a:solidFill>
              <a:latin typeface="Arial"/>
              <a:ea typeface="+mn-ea"/>
              <a:cs typeface="+mn-cs"/>
              <a:sym typeface="Reddit Sans"/>
            </a:rPr>
            <a:t>Esteban Bustamanete Transversal: </a:t>
          </a:r>
          <a:r>
            <a:rPr lang="es-MX" sz="800" b="0" i="0" kern="1200" dirty="0">
              <a:solidFill>
                <a:srgbClr val="595959">
                  <a:hueOff val="0"/>
                  <a:satOff val="0"/>
                  <a:lumOff val="0"/>
                  <a:alphaOff val="0"/>
                </a:srgbClr>
              </a:solidFill>
              <a:latin typeface="Arial"/>
              <a:ea typeface="+mn-ea"/>
              <a:cs typeface="+mn-cs"/>
            </a:rPr>
            <a:t>Encargado de identificar, analizar y solucionar incidentes de primer nivel, interviniendo plataformas y herramientas como AWS, </a:t>
          </a:r>
          <a:r>
            <a:rPr lang="es-MX" sz="800" b="0" i="0" kern="1200" dirty="0" err="1">
              <a:solidFill>
                <a:srgbClr val="595959">
                  <a:hueOff val="0"/>
                  <a:satOff val="0"/>
                  <a:lumOff val="0"/>
                  <a:alphaOff val="0"/>
                </a:srgbClr>
              </a:solidFill>
              <a:latin typeface="Arial"/>
              <a:ea typeface="+mn-ea"/>
              <a:cs typeface="+mn-cs"/>
            </a:rPr>
            <a:t>CloudWatch</a:t>
          </a:r>
          <a:r>
            <a:rPr lang="es-MX" sz="800" b="0" i="0" kern="1200" dirty="0">
              <a:solidFill>
                <a:srgbClr val="595959">
                  <a:hueOff val="0"/>
                  <a:satOff val="0"/>
                  <a:lumOff val="0"/>
                  <a:alphaOff val="0"/>
                </a:srgbClr>
              </a:solidFill>
              <a:latin typeface="Arial"/>
              <a:ea typeface="+mn-ea"/>
              <a:cs typeface="+mn-cs"/>
            </a:rPr>
            <a:t>, </a:t>
          </a:r>
          <a:r>
            <a:rPr lang="es-MX" sz="800" b="0" i="0" kern="1200" dirty="0" err="1">
              <a:solidFill>
                <a:srgbClr val="595959">
                  <a:hueOff val="0"/>
                  <a:satOff val="0"/>
                  <a:lumOff val="0"/>
                  <a:alphaOff val="0"/>
                </a:srgbClr>
              </a:solidFill>
              <a:latin typeface="Arial"/>
              <a:ea typeface="+mn-ea"/>
              <a:cs typeface="+mn-cs"/>
            </a:rPr>
            <a:t>Grafana</a:t>
          </a:r>
          <a:r>
            <a:rPr lang="es-MX" sz="800" b="0" i="0" kern="1200" dirty="0">
              <a:solidFill>
                <a:srgbClr val="595959">
                  <a:hueOff val="0"/>
                  <a:satOff val="0"/>
                  <a:lumOff val="0"/>
                  <a:alphaOff val="0"/>
                </a:srgbClr>
              </a:solidFill>
              <a:latin typeface="Arial"/>
              <a:ea typeface="+mn-ea"/>
              <a:cs typeface="+mn-cs"/>
            </a:rPr>
            <a:t>, Dynatrace y AS400. Realiza consultas en bases de datos mediante SQL, tanto en entornos en la nube como </a:t>
          </a:r>
          <a:r>
            <a:rPr lang="es-MX" sz="800" b="0" i="0" kern="1200" dirty="0" err="1">
              <a:solidFill>
                <a:srgbClr val="595959">
                  <a:hueOff val="0"/>
                  <a:satOff val="0"/>
                  <a:lumOff val="0"/>
                  <a:alphaOff val="0"/>
                </a:srgbClr>
              </a:solidFill>
              <a:latin typeface="Arial"/>
              <a:ea typeface="+mn-ea"/>
              <a:cs typeface="+mn-cs"/>
            </a:rPr>
            <a:t>on</a:t>
          </a:r>
          <a:r>
            <a:rPr lang="es-MX" sz="800" b="0" i="0" kern="1200" dirty="0">
              <a:solidFill>
                <a:srgbClr val="595959">
                  <a:hueOff val="0"/>
                  <a:satOff val="0"/>
                  <a:lumOff val="0"/>
                  <a:alphaOff val="0"/>
                </a:srgbClr>
              </a:solidFill>
              <a:latin typeface="Arial"/>
              <a:ea typeface="+mn-ea"/>
              <a:cs typeface="+mn-cs"/>
            </a:rPr>
            <a:t>-premise, especialmente en procesos críticos como los lotes de pago a nivel cliente.</a:t>
          </a:r>
        </a:p>
        <a:p>
          <a:pPr marL="0" lvl="0" indent="0" algn="ctr" defTabSz="355600">
            <a:lnSpc>
              <a:spcPct val="90000"/>
            </a:lnSpc>
            <a:spcBef>
              <a:spcPct val="0"/>
            </a:spcBef>
            <a:spcAft>
              <a:spcPct val="35000"/>
            </a:spcAft>
            <a:buNone/>
          </a:pPr>
          <a:r>
            <a:rPr lang="es-MX" sz="800" b="0" i="0" kern="1200" dirty="0">
              <a:solidFill>
                <a:srgbClr val="595959">
                  <a:hueOff val="0"/>
                  <a:satOff val="0"/>
                  <a:lumOff val="0"/>
                  <a:alphaOff val="0"/>
                </a:srgbClr>
              </a:solidFill>
              <a:latin typeface="Arial"/>
              <a:ea typeface="+mn-ea"/>
              <a:cs typeface="+mn-cs"/>
            </a:rPr>
            <a:t>Integra información proveniente de distintas áreas, lo que permite una visión unificada de los incidentes y facilita una respuesta más ágil y efectiva ante fallas masivas.</a:t>
          </a:r>
        </a:p>
        <a:p>
          <a:pPr marL="0" lvl="0" indent="0" algn="ctr" defTabSz="355600">
            <a:lnSpc>
              <a:spcPct val="90000"/>
            </a:lnSpc>
            <a:spcBef>
              <a:spcPct val="0"/>
            </a:spcBef>
            <a:spcAft>
              <a:spcPct val="35000"/>
            </a:spcAft>
            <a:buNone/>
          </a:pPr>
          <a:endParaRPr lang="es-CO" sz="1300" kern="1200" dirty="0"/>
        </a:p>
        <a:p>
          <a:pPr marL="0" lvl="0" indent="0" algn="ctr" defTabSz="355600">
            <a:lnSpc>
              <a:spcPct val="90000"/>
            </a:lnSpc>
            <a:spcBef>
              <a:spcPct val="0"/>
            </a:spcBef>
            <a:spcAft>
              <a:spcPct val="35000"/>
            </a:spcAft>
            <a:buNone/>
          </a:pPr>
          <a:r>
            <a:rPr lang="es-MX" sz="1300" b="0" i="0" u="none" strike="noStrike" kern="1200" cap="none" dirty="0">
              <a:solidFill>
                <a:schemeClr val="dk1"/>
              </a:solidFill>
              <a:latin typeface="Reddit Sans"/>
              <a:ea typeface="Reddit Sans"/>
              <a:cs typeface="Reddit Sans"/>
              <a:sym typeface="Reddit Sans"/>
            </a:rPr>
            <a:t> </a:t>
          </a:r>
        </a:p>
        <a:p>
          <a:pPr marL="0" lvl="0" indent="0" algn="ctr" defTabSz="355600">
            <a:lnSpc>
              <a:spcPct val="90000"/>
            </a:lnSpc>
            <a:spcBef>
              <a:spcPct val="0"/>
            </a:spcBef>
            <a:spcAft>
              <a:spcPct val="35000"/>
            </a:spcAft>
            <a:buNone/>
          </a:pPr>
          <a:endParaRPr lang="es-CO" sz="3700" kern="1200" dirty="0"/>
        </a:p>
      </dsp:txBody>
      <dsp:txXfrm>
        <a:off x="1083884" y="1830"/>
        <a:ext cx="3089567" cy="1853740"/>
      </dsp:txXfrm>
    </dsp:sp>
    <dsp:sp modelId="{E5F07E7C-0044-4276-9BCA-044D58523C24}">
      <dsp:nvSpPr>
        <dsp:cNvPr id="0" name=""/>
        <dsp:cNvSpPr/>
      </dsp:nvSpPr>
      <dsp:spPr>
        <a:xfrm>
          <a:off x="4482409" y="1830"/>
          <a:ext cx="3089567" cy="1853740"/>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7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1" i="0" u="none" strike="noStrike" kern="1200" cap="none" dirty="0">
            <a:solidFill>
              <a:srgbClr val="000000"/>
            </a:solidFill>
            <a:latin typeface="Reddit Sans"/>
            <a:ea typeface="Reddit Sans"/>
            <a:cs typeface="Reddit Sans"/>
          </a:endParaRPr>
        </a:p>
        <a:p>
          <a:pPr marL="0" lvl="0" indent="0" algn="ctr" defTabSz="577850" rtl="0">
            <a:lnSpc>
              <a:spcPct val="90000"/>
            </a:lnSpc>
            <a:spcBef>
              <a:spcPct val="0"/>
            </a:spcBef>
            <a:spcAft>
              <a:spcPct val="35000"/>
            </a:spcAft>
            <a:buNone/>
          </a:pPr>
          <a:r>
            <a:rPr lang="es-MX" sz="800" b="1" i="0" u="none" strike="noStrike" kern="1200" cap="none" dirty="0">
              <a:solidFill>
                <a:srgbClr val="000000"/>
              </a:solidFill>
              <a:latin typeface="Reddit Sans"/>
              <a:ea typeface="Reddit Sans"/>
              <a:cs typeface="Reddit Sans"/>
            </a:rPr>
            <a:t>Esteban Cardona Datos: </a:t>
          </a:r>
          <a:r>
            <a:rPr lang="es-MX" sz="800" b="0" i="0" kern="1200" dirty="0">
              <a:solidFill>
                <a:srgbClr val="595959">
                  <a:hueOff val="0"/>
                  <a:satOff val="0"/>
                  <a:lumOff val="0"/>
                  <a:alphaOff val="0"/>
                </a:srgbClr>
              </a:solidFill>
              <a:latin typeface="Arial"/>
              <a:ea typeface="+mn-ea"/>
              <a:cs typeface="+mn-cs"/>
            </a:rPr>
            <a:t>Realizar soporte  </a:t>
          </a:r>
          <a:r>
            <a:rPr lang="es-MX" sz="800" b="0" i="0" kern="1200" dirty="0"/>
            <a:t>de la operación de procesos Batch y en tiempo real del área de Big Data del cliente. Nuestra responsabilidad es garantizar la continuidad del servicio mediante la atención oportuna de incidentes, incluyendo la recepción, diagnóstico, solución o escalamiento de fallas y novedades que puedan afectar la operación.</a:t>
          </a:r>
        </a:p>
        <a:p>
          <a:pPr marL="0" lvl="0" indent="0" algn="ctr" defTabSz="577850">
            <a:lnSpc>
              <a:spcPct val="90000"/>
            </a:lnSpc>
            <a:spcBef>
              <a:spcPct val="0"/>
            </a:spcBef>
            <a:spcAft>
              <a:spcPct val="35000"/>
            </a:spcAft>
            <a:buNone/>
          </a:pPr>
          <a:r>
            <a:rPr lang="es-MX" sz="800" b="0" i="0" kern="1200" dirty="0"/>
            <a:t>Contamos con un equipo altamente calificado, con experiencia en tecnologías como ETL, Data Lake, </a:t>
          </a:r>
          <a:r>
            <a:rPr lang="es-MX" sz="800" b="0" i="0" kern="1200" dirty="0" err="1"/>
            <a:t>Sqoop</a:t>
          </a:r>
          <a:r>
            <a:rPr lang="es-MX" sz="800" b="0" i="0" kern="1200" dirty="0"/>
            <a:t>, Hadoop, analítica y Python, lo que nos permite ofrecer una gestión eficiente, ágil y confiable, alineada a las necesidades del negocio y enfocada en la excelencia en el servicio.</a:t>
          </a:r>
        </a:p>
        <a:p>
          <a:pPr marL="0" lvl="0" indent="0" algn="ctr" defTabSz="577850">
            <a:lnSpc>
              <a:spcPct val="90000"/>
            </a:lnSpc>
            <a:spcBef>
              <a:spcPct val="0"/>
            </a:spcBef>
            <a:spcAft>
              <a:spcPct val="35000"/>
            </a:spcAft>
            <a:buNone/>
          </a:pPr>
          <a:endParaRPr lang="es-CO" sz="1300" kern="1200" dirty="0"/>
        </a:p>
        <a:p>
          <a:pPr marL="0" lvl="0" indent="0" algn="ctr" defTabSz="577850">
            <a:lnSpc>
              <a:spcPct val="90000"/>
            </a:lnSpc>
            <a:spcBef>
              <a:spcPct val="0"/>
            </a:spcBef>
            <a:spcAft>
              <a:spcPct val="35000"/>
            </a:spcAft>
            <a:buNone/>
          </a:pPr>
          <a:endParaRPr lang="es-MX" sz="1300" b="0" i="0" u="none" strike="noStrike" kern="1200" cap="none" dirty="0">
            <a:solidFill>
              <a:srgbClr val="000000"/>
            </a:solidFill>
            <a:latin typeface="Reddit Sans"/>
            <a:ea typeface="Reddit Sans"/>
            <a:cs typeface="Reddit Sans"/>
          </a:endParaRPr>
        </a:p>
        <a:p>
          <a:pPr marL="0" lvl="0" algn="ctr" defTabSz="1689100">
            <a:lnSpc>
              <a:spcPct val="90000"/>
            </a:lnSpc>
            <a:spcBef>
              <a:spcPct val="0"/>
            </a:spcBef>
            <a:spcAft>
              <a:spcPct val="35000"/>
            </a:spcAft>
            <a:buNone/>
          </a:pPr>
          <a:endParaRPr lang="es-CO" sz="3800" kern="1200" dirty="0"/>
        </a:p>
      </dsp:txBody>
      <dsp:txXfrm>
        <a:off x="4482409" y="1830"/>
        <a:ext cx="3089567" cy="1853740"/>
      </dsp:txXfrm>
    </dsp:sp>
    <dsp:sp modelId="{64A803B2-A5CE-45F9-A69D-9F35CBE0EFAD}">
      <dsp:nvSpPr>
        <dsp:cNvPr id="0" name=""/>
        <dsp:cNvSpPr/>
      </dsp:nvSpPr>
      <dsp:spPr>
        <a:xfrm>
          <a:off x="2783147" y="2164528"/>
          <a:ext cx="3089567" cy="1853740"/>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0" i="0" u="none" strike="noStrike" kern="1200" cap="none" dirty="0">
            <a:solidFill>
              <a:srgbClr val="000000"/>
            </a:solidFill>
            <a:latin typeface="Reddit Sans"/>
            <a:ea typeface="Reddit Sans"/>
            <a:cs typeface="Reddit Sans"/>
          </a:endParaRPr>
        </a:p>
        <a:p>
          <a:pPr marL="0" lvl="0" indent="0" algn="ctr" defTabSz="577850">
            <a:lnSpc>
              <a:spcPct val="90000"/>
            </a:lnSpc>
            <a:spcBef>
              <a:spcPct val="0"/>
            </a:spcBef>
            <a:spcAft>
              <a:spcPct val="35000"/>
            </a:spcAft>
            <a:buNone/>
          </a:pPr>
          <a:endParaRPr lang="es-MX" sz="800" b="1" i="0" u="none" strike="noStrike" kern="1200" cap="none" dirty="0">
            <a:solidFill>
              <a:srgbClr val="000000"/>
            </a:solidFill>
            <a:latin typeface="Reddit Sans"/>
            <a:ea typeface="Reddit Sans"/>
            <a:cs typeface="Reddit Sans"/>
          </a:endParaRPr>
        </a:p>
        <a:p>
          <a:pPr marL="0" lvl="0" indent="0" algn="ctr" defTabSz="577850" rtl="0">
            <a:lnSpc>
              <a:spcPct val="90000"/>
            </a:lnSpc>
            <a:spcBef>
              <a:spcPct val="0"/>
            </a:spcBef>
            <a:spcAft>
              <a:spcPct val="35000"/>
            </a:spcAft>
            <a:buNone/>
          </a:pPr>
          <a:r>
            <a:rPr lang="es-MX" sz="800" b="1" i="0" u="none" strike="noStrike" kern="1200" cap="none" dirty="0">
              <a:solidFill>
                <a:srgbClr val="000000"/>
              </a:solidFill>
              <a:latin typeface="Reddit Sans"/>
              <a:ea typeface="Reddit Sans"/>
              <a:cs typeface="Reddit Sans"/>
            </a:rPr>
            <a:t>No tengo </a:t>
          </a:r>
          <a:r>
            <a:rPr lang="es-MX" sz="800" b="1" i="0" u="none" strike="noStrike" kern="1200" cap="none" dirty="0" err="1">
              <a:solidFill>
                <a:srgbClr val="000000"/>
              </a:solidFill>
              <a:latin typeface="Reddit Sans"/>
              <a:ea typeface="Reddit Sans"/>
              <a:cs typeface="Reddit Sans"/>
            </a:rPr>
            <a:t>lider</a:t>
          </a:r>
          <a:r>
            <a:rPr lang="es-MX" sz="800" b="1" i="0" u="none" strike="noStrike" kern="1200" cap="none" dirty="0">
              <a:solidFill>
                <a:srgbClr val="000000"/>
              </a:solidFill>
              <a:latin typeface="Reddit Sans"/>
              <a:ea typeface="Reddit Sans"/>
              <a:cs typeface="Reddit Sans"/>
            </a:rPr>
            <a:t> (Jorge </a:t>
          </a:r>
          <a:r>
            <a:rPr lang="es-MX" sz="800" b="1" i="0" u="none" strike="noStrike" kern="1200" cap="none" dirty="0" err="1">
              <a:solidFill>
                <a:srgbClr val="000000"/>
              </a:solidFill>
              <a:latin typeface="Reddit Sans"/>
              <a:ea typeface="Reddit Sans"/>
              <a:cs typeface="Reddit Sans"/>
            </a:rPr>
            <a:t>Martinez</a:t>
          </a:r>
          <a:r>
            <a:rPr lang="es-MX" sz="800" b="1" i="0" u="none" strike="noStrike" kern="1200" cap="none" dirty="0">
              <a:solidFill>
                <a:srgbClr val="000000"/>
              </a:solidFill>
              <a:latin typeface="Reddit Sans"/>
              <a:ea typeface="Reddit Sans"/>
              <a:cs typeface="Reddit Sans"/>
            </a:rPr>
            <a:t>) Integración:</a:t>
          </a:r>
          <a:r>
            <a:rPr lang="es-MX" sz="800" b="1" i="0" kern="1200" dirty="0">
              <a:solidFill>
                <a:srgbClr val="595959">
                  <a:hueOff val="0"/>
                  <a:satOff val="0"/>
                  <a:lumOff val="0"/>
                  <a:alphaOff val="0"/>
                </a:srgbClr>
              </a:solidFill>
              <a:latin typeface="Arial"/>
              <a:ea typeface="+mn-ea"/>
              <a:cs typeface="+mn-cs"/>
            </a:rPr>
            <a:t> </a:t>
          </a:r>
          <a:r>
            <a:rPr lang="es-MX" sz="800" b="0" i="0" kern="1200" dirty="0">
              <a:solidFill>
                <a:srgbClr val="595959">
                  <a:hueOff val="0"/>
                  <a:satOff val="0"/>
                  <a:lumOff val="0"/>
                  <a:alphaOff val="0"/>
                </a:srgbClr>
              </a:solidFill>
              <a:latin typeface="Arial"/>
              <a:ea typeface="+mn-ea"/>
              <a:cs typeface="+mn-cs"/>
            </a:rPr>
            <a:t>responsable del soporte de primer nivel en la capa de Middleware del EVC de integración del cliente. Gestiona tecnologías de IBM y AWS, como MQ, API </a:t>
          </a:r>
          <a:r>
            <a:rPr lang="es-MX" sz="800" b="0" i="0" kern="1200" dirty="0" err="1">
              <a:solidFill>
                <a:srgbClr val="595959">
                  <a:hueOff val="0"/>
                  <a:satOff val="0"/>
                  <a:lumOff val="0"/>
                  <a:alphaOff val="0"/>
                </a:srgbClr>
              </a:solidFill>
              <a:latin typeface="Arial"/>
              <a:ea typeface="+mn-ea"/>
              <a:cs typeface="+mn-cs"/>
            </a:rPr>
            <a:t>Connect</a:t>
          </a:r>
          <a:r>
            <a:rPr lang="es-MX" sz="800" b="0" i="0" kern="1200" dirty="0">
              <a:solidFill>
                <a:srgbClr val="595959">
                  <a:hueOff val="0"/>
                  <a:satOff val="0"/>
                  <a:lumOff val="0"/>
                  <a:alphaOff val="0"/>
                </a:srgbClr>
              </a:solidFill>
              <a:latin typeface="Arial"/>
              <a:ea typeface="+mn-ea"/>
              <a:cs typeface="+mn-cs"/>
            </a:rPr>
            <a:t>, EC2 y S3, incluyendo actividades clave como la renovación de certificados de la EVC, entre otros procesos asociados.</a:t>
          </a:r>
        </a:p>
        <a:p>
          <a:pPr marL="0" lvl="0" indent="0" algn="ctr" defTabSz="577850">
            <a:lnSpc>
              <a:spcPct val="90000"/>
            </a:lnSpc>
            <a:spcBef>
              <a:spcPct val="0"/>
            </a:spcBef>
            <a:spcAft>
              <a:spcPct val="35000"/>
            </a:spcAft>
            <a:buNone/>
          </a:pPr>
          <a:r>
            <a:rPr lang="es-MX" sz="800" b="0" i="0" kern="1200" dirty="0">
              <a:solidFill>
                <a:srgbClr val="595959">
                  <a:hueOff val="0"/>
                  <a:satOff val="0"/>
                  <a:lumOff val="0"/>
                  <a:alphaOff val="0"/>
                </a:srgbClr>
              </a:solidFill>
              <a:latin typeface="Arial"/>
              <a:ea typeface="+mn-ea"/>
              <a:cs typeface="+mn-cs"/>
            </a:rPr>
            <a:t>Su función principal es diagnosticar, solucionar y notificar de manera oportuna cualquier falla, novedad o incidente que pueda impactar los componentes del área de Integración, garantizando la estabilidad, continuidad y calidad del servicio.</a:t>
          </a:r>
        </a:p>
        <a:p>
          <a:pPr marL="0" lvl="0" indent="0" algn="ctr" defTabSz="577850">
            <a:lnSpc>
              <a:spcPct val="90000"/>
            </a:lnSpc>
            <a:spcBef>
              <a:spcPct val="0"/>
            </a:spcBef>
            <a:spcAft>
              <a:spcPct val="35000"/>
            </a:spcAft>
            <a:buNone/>
          </a:pPr>
          <a:endParaRPr lang="es-MX" sz="1300" b="0" i="0" u="none" strike="noStrike" kern="1200" cap="none" dirty="0">
            <a:solidFill>
              <a:srgbClr val="000000"/>
            </a:solidFill>
            <a:latin typeface="Reddit Sans"/>
            <a:ea typeface="Reddit Sans"/>
            <a:cs typeface="Reddit Sans"/>
          </a:endParaRPr>
        </a:p>
        <a:p>
          <a:pPr marL="0" lvl="0" algn="ctr" defTabSz="1689100">
            <a:lnSpc>
              <a:spcPct val="90000"/>
            </a:lnSpc>
            <a:spcBef>
              <a:spcPct val="0"/>
            </a:spcBef>
            <a:spcAft>
              <a:spcPct val="35000"/>
            </a:spcAft>
            <a:buNone/>
          </a:pPr>
          <a:endParaRPr lang="es-CO" sz="3800" kern="1200" dirty="0"/>
        </a:p>
      </dsp:txBody>
      <dsp:txXfrm>
        <a:off x="2783147" y="2164528"/>
        <a:ext cx="3089567" cy="185374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24C8F25-BDB7-F857-ACC1-0BC8E461B0AB}"/>
            </a:ext>
          </a:extLst>
        </p:cNvPr>
        <p:cNvGrpSpPr/>
        <p:nvPr/>
      </p:nvGrpSpPr>
      <p:grpSpPr>
        <a:xfrm>
          <a:off x="0" y="0"/>
          <a:ext cx="0" cy="0"/>
          <a:chOff x="0" y="0"/>
          <a:chExt cx="0" cy="0"/>
        </a:xfrm>
      </p:grpSpPr>
      <p:sp>
        <p:nvSpPr>
          <p:cNvPr id="106" name="Google Shape;106;g37e80574407_0_130:notes">
            <a:extLst>
              <a:ext uri="{FF2B5EF4-FFF2-40B4-BE49-F238E27FC236}">
                <a16:creationId xmlns:a16="http://schemas.microsoft.com/office/drawing/2014/main" id="{09956C0E-8103-5A37-CC91-5673C6C5A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
        <p:nvSpPr>
          <p:cNvPr id="107" name="Google Shape;107;g37e80574407_0_130:notes">
            <a:extLst>
              <a:ext uri="{FF2B5EF4-FFF2-40B4-BE49-F238E27FC236}">
                <a16:creationId xmlns:a16="http://schemas.microsoft.com/office/drawing/2014/main" id="{D3D8F9C5-3115-A377-FA94-1DADFB039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4290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9BC34A04-AA2B-0529-B4B6-4BEAED893193}"/>
            </a:ext>
          </a:extLst>
        </p:cNvPr>
        <p:cNvGrpSpPr/>
        <p:nvPr/>
      </p:nvGrpSpPr>
      <p:grpSpPr>
        <a:xfrm>
          <a:off x="0" y="0"/>
          <a:ext cx="0" cy="0"/>
          <a:chOff x="0" y="0"/>
          <a:chExt cx="0" cy="0"/>
        </a:xfrm>
      </p:grpSpPr>
      <p:sp>
        <p:nvSpPr>
          <p:cNvPr id="168" name="Google Shape;168;g3657f5ba65c_1_37:notes">
            <a:extLst>
              <a:ext uri="{FF2B5EF4-FFF2-40B4-BE49-F238E27FC236}">
                <a16:creationId xmlns:a16="http://schemas.microsoft.com/office/drawing/2014/main" id="{19B322EA-B377-0C8C-95DC-FEA118AA45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
        <p:nvSpPr>
          <p:cNvPr id="169" name="Google Shape;169;g3657f5ba65c_1_37:notes">
            <a:extLst>
              <a:ext uri="{FF2B5EF4-FFF2-40B4-BE49-F238E27FC236}">
                <a16:creationId xmlns:a16="http://schemas.microsoft.com/office/drawing/2014/main" id="{C66AE782-5EC0-96DB-88ED-07FE160D94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8069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43C7F924-54DE-0F32-A1AF-0F22DFD725B1}"/>
            </a:ext>
          </a:extLst>
        </p:cNvPr>
        <p:cNvGrpSpPr/>
        <p:nvPr/>
      </p:nvGrpSpPr>
      <p:grpSpPr>
        <a:xfrm>
          <a:off x="0" y="0"/>
          <a:ext cx="0" cy="0"/>
          <a:chOff x="0" y="0"/>
          <a:chExt cx="0" cy="0"/>
        </a:xfrm>
      </p:grpSpPr>
      <p:sp>
        <p:nvSpPr>
          <p:cNvPr id="149" name="Google Shape;149;p8:notes">
            <a:extLst>
              <a:ext uri="{FF2B5EF4-FFF2-40B4-BE49-F238E27FC236}">
                <a16:creationId xmlns:a16="http://schemas.microsoft.com/office/drawing/2014/main" id="{E1DB4265-AF6D-8315-32A1-C028B432F4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O"/>
          </a:p>
        </p:txBody>
      </p:sp>
      <p:sp>
        <p:nvSpPr>
          <p:cNvPr id="150" name="Google Shape;150;p8:notes">
            <a:extLst>
              <a:ext uri="{FF2B5EF4-FFF2-40B4-BE49-F238E27FC236}">
                <a16:creationId xmlns:a16="http://schemas.microsoft.com/office/drawing/2014/main" id="{E305489E-F843-6F76-771E-3777BE81A7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35110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O"/>
          </a:p>
        </p:txBody>
      </p:sp>
      <p:sp>
        <p:nvSpPr>
          <p:cNvPr id="150" name="Google Shape;15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O"/>
          </a:p>
        </p:txBody>
      </p:sp>
      <p:sp>
        <p:nvSpPr>
          <p:cNvPr id="186" name="Google Shape;18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stático">
  <p:cSld name="TITLE_1">
    <p:spTree>
      <p:nvGrpSpPr>
        <p:cNvPr id="1" name="Shape 16"/>
        <p:cNvGrpSpPr/>
        <p:nvPr/>
      </p:nvGrpSpPr>
      <p:grpSpPr>
        <a:xfrm>
          <a:off x="0" y="0"/>
          <a:ext cx="0" cy="0"/>
          <a:chOff x="0" y="0"/>
          <a:chExt cx="0" cy="0"/>
        </a:xfrm>
      </p:grpSpPr>
      <p:pic>
        <p:nvPicPr>
          <p:cNvPr id="17" name="Google Shape;17;g37e80574407_0_7" title="textura.jpg"/>
          <p:cNvPicPr preferRelativeResize="0"/>
          <p:nvPr/>
        </p:nvPicPr>
        <p:blipFill rotWithShape="1">
          <a:blip r:embed="rId2">
            <a:alphaModFix/>
          </a:blip>
          <a:srcRect t="219" b="209"/>
          <a:stretch/>
        </p:blipFill>
        <p:spPr>
          <a:xfrm>
            <a:off x="0" y="0"/>
            <a:ext cx="9144003" cy="5143501"/>
          </a:xfrm>
          <a:prstGeom prst="rect">
            <a:avLst/>
          </a:prstGeom>
          <a:noFill/>
          <a:ln>
            <a:noFill/>
          </a:ln>
        </p:spPr>
      </p:pic>
      <p:sp>
        <p:nvSpPr>
          <p:cNvPr id="18" name="Google Shape;18;g37e80574407_0_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
        <p:nvSpPr>
          <p:cNvPr id="19" name="Google Shape;19;g37e80574407_0_7"/>
          <p:cNvSpPr txBox="1"/>
          <p:nvPr/>
        </p:nvSpPr>
        <p:spPr>
          <a:xfrm>
            <a:off x="8028325" y="442300"/>
            <a:ext cx="919500" cy="298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Reddit Sans SemiBold"/>
              <a:ea typeface="Reddit Sans SemiBold"/>
              <a:cs typeface="Reddit Sans SemiBold"/>
              <a:sym typeface="Reddit Sans SemiBold"/>
            </a:endParaRPr>
          </a:p>
        </p:txBody>
      </p:sp>
      <p:pic>
        <p:nvPicPr>
          <p:cNvPr id="20" name="Google Shape;20;g37e80574407_0_7" title="logo_neg.png"/>
          <p:cNvPicPr preferRelativeResize="0"/>
          <p:nvPr/>
        </p:nvPicPr>
        <p:blipFill>
          <a:blip r:embed="rId3">
            <a:alphaModFix/>
          </a:blip>
          <a:stretch>
            <a:fillRect/>
          </a:stretch>
        </p:blipFill>
        <p:spPr>
          <a:xfrm>
            <a:off x="449998" y="4438648"/>
            <a:ext cx="1770700" cy="170430"/>
          </a:xfrm>
          <a:prstGeom prst="rect">
            <a:avLst/>
          </a:prstGeom>
          <a:noFill/>
          <a:ln>
            <a:noFill/>
          </a:ln>
        </p:spPr>
      </p:pic>
      <p:sp>
        <p:nvSpPr>
          <p:cNvPr id="21" name="Google Shape;21;g37e80574407_0_7"/>
          <p:cNvSpPr txBox="1">
            <a:spLocks noGrp="1"/>
          </p:cNvSpPr>
          <p:nvPr>
            <p:ph type="ctrTitle"/>
          </p:nvPr>
        </p:nvSpPr>
        <p:spPr>
          <a:xfrm>
            <a:off x="307875" y="1827750"/>
            <a:ext cx="8536500" cy="15969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5000"/>
              <a:buNone/>
              <a:defRPr sz="5000">
                <a:solidFill>
                  <a:schemeClr val="lt1"/>
                </a:solidFill>
              </a:defRPr>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22" name="Google Shape;22;g37e80574407_0_7"/>
          <p:cNvSpPr txBox="1">
            <a:spLocks noGrp="1"/>
          </p:cNvSpPr>
          <p:nvPr>
            <p:ph type="subTitle" idx="1"/>
          </p:nvPr>
        </p:nvSpPr>
        <p:spPr>
          <a:xfrm>
            <a:off x="365600" y="3424775"/>
            <a:ext cx="84789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1500"/>
              <a:buNone/>
              <a:defRPr sz="1500">
                <a:solidFill>
                  <a:schemeClr val="accent1"/>
                </a:solidFill>
              </a:defRPr>
            </a:lvl1pPr>
            <a:lvl2pPr lvl="1" algn="l">
              <a:lnSpc>
                <a:spcPct val="100000"/>
              </a:lnSpc>
              <a:spcBef>
                <a:spcPts val="0"/>
              </a:spcBef>
              <a:spcAft>
                <a:spcPts val="0"/>
              </a:spcAft>
              <a:buClr>
                <a:schemeClr val="accent1"/>
              </a:buClr>
              <a:buSzPts val="1500"/>
              <a:buNone/>
              <a:defRPr sz="1500">
                <a:solidFill>
                  <a:schemeClr val="accent1"/>
                </a:solidFill>
              </a:defRPr>
            </a:lvl2pPr>
            <a:lvl3pPr lvl="2" algn="l">
              <a:lnSpc>
                <a:spcPct val="100000"/>
              </a:lnSpc>
              <a:spcBef>
                <a:spcPts val="0"/>
              </a:spcBef>
              <a:spcAft>
                <a:spcPts val="0"/>
              </a:spcAft>
              <a:buClr>
                <a:schemeClr val="accent1"/>
              </a:buClr>
              <a:buSzPts val="1500"/>
              <a:buNone/>
              <a:defRPr sz="1500">
                <a:solidFill>
                  <a:schemeClr val="accent1"/>
                </a:solidFill>
              </a:defRPr>
            </a:lvl3pPr>
            <a:lvl4pPr lvl="3" algn="l">
              <a:lnSpc>
                <a:spcPct val="100000"/>
              </a:lnSpc>
              <a:spcBef>
                <a:spcPts val="0"/>
              </a:spcBef>
              <a:spcAft>
                <a:spcPts val="0"/>
              </a:spcAft>
              <a:buClr>
                <a:schemeClr val="accent1"/>
              </a:buClr>
              <a:buSzPts val="1500"/>
              <a:buNone/>
              <a:defRPr sz="1500">
                <a:solidFill>
                  <a:schemeClr val="accent1"/>
                </a:solidFill>
              </a:defRPr>
            </a:lvl4pPr>
            <a:lvl5pPr lvl="4" algn="l">
              <a:lnSpc>
                <a:spcPct val="100000"/>
              </a:lnSpc>
              <a:spcBef>
                <a:spcPts val="0"/>
              </a:spcBef>
              <a:spcAft>
                <a:spcPts val="0"/>
              </a:spcAft>
              <a:buClr>
                <a:schemeClr val="accent1"/>
              </a:buClr>
              <a:buSzPts val="1500"/>
              <a:buNone/>
              <a:defRPr sz="1500">
                <a:solidFill>
                  <a:schemeClr val="accent1"/>
                </a:solidFill>
              </a:defRPr>
            </a:lvl5pPr>
            <a:lvl6pPr lvl="5" algn="l">
              <a:lnSpc>
                <a:spcPct val="100000"/>
              </a:lnSpc>
              <a:spcBef>
                <a:spcPts val="0"/>
              </a:spcBef>
              <a:spcAft>
                <a:spcPts val="0"/>
              </a:spcAft>
              <a:buClr>
                <a:schemeClr val="accent1"/>
              </a:buClr>
              <a:buSzPts val="1500"/>
              <a:buNone/>
              <a:defRPr sz="1500">
                <a:solidFill>
                  <a:schemeClr val="accent1"/>
                </a:solidFill>
              </a:defRPr>
            </a:lvl6pPr>
            <a:lvl7pPr lvl="6" algn="l">
              <a:lnSpc>
                <a:spcPct val="100000"/>
              </a:lnSpc>
              <a:spcBef>
                <a:spcPts val="0"/>
              </a:spcBef>
              <a:spcAft>
                <a:spcPts val="0"/>
              </a:spcAft>
              <a:buClr>
                <a:schemeClr val="accent1"/>
              </a:buClr>
              <a:buSzPts val="1500"/>
              <a:buNone/>
              <a:defRPr sz="1500">
                <a:solidFill>
                  <a:schemeClr val="accent1"/>
                </a:solidFill>
              </a:defRPr>
            </a:lvl7pPr>
            <a:lvl8pPr lvl="7" algn="l">
              <a:lnSpc>
                <a:spcPct val="100000"/>
              </a:lnSpc>
              <a:spcBef>
                <a:spcPts val="0"/>
              </a:spcBef>
              <a:spcAft>
                <a:spcPts val="0"/>
              </a:spcAft>
              <a:buClr>
                <a:schemeClr val="accent1"/>
              </a:buClr>
              <a:buSzPts val="1500"/>
              <a:buNone/>
              <a:defRPr sz="1500">
                <a:solidFill>
                  <a:schemeClr val="accent1"/>
                </a:solidFill>
              </a:defRPr>
            </a:lvl8pPr>
            <a:lvl9pPr lvl="8" algn="l">
              <a:lnSpc>
                <a:spcPct val="100000"/>
              </a:lnSpc>
              <a:spcBef>
                <a:spcPts val="0"/>
              </a:spcBef>
              <a:spcAft>
                <a:spcPts val="0"/>
              </a:spcAft>
              <a:buClr>
                <a:schemeClr val="accent1"/>
              </a:buClr>
              <a:buSzPts val="1500"/>
              <a:buNone/>
              <a:defRPr sz="1500">
                <a:solidFill>
                  <a:schemeClr val="accent1"/>
                </a:solidFill>
              </a:defRPr>
            </a:lvl9pPr>
          </a:lstStyle>
          <a:p>
            <a:endParaRPr/>
          </a:p>
        </p:txBody>
      </p:sp>
    </p:spTree>
  </p:cSld>
  <p:clrMapOvr>
    <a:masterClrMapping/>
  </p:clrMapOvr>
  <p:extLst>
    <p:ext uri="{DCECCB84-F9BA-43D5-87BE-67443E8EF086}">
      <p15:sldGuideLst xmlns:p15="http://schemas.microsoft.com/office/powerpoint/2012/main">
        <p15:guide id="1" pos="28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361350" y="494725"/>
            <a:ext cx="5567400" cy="1923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0E337C"/>
              </a:buClr>
              <a:buSzPts val="4000"/>
              <a:buNone/>
              <a:defRPr sz="4000">
                <a:solidFill>
                  <a:srgbClr val="0E337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9" name="Google Shape;49;p11"/>
          <p:cNvSpPr txBox="1">
            <a:spLocks noGrp="1"/>
          </p:cNvSpPr>
          <p:nvPr>
            <p:ph type="body" idx="1"/>
          </p:nvPr>
        </p:nvSpPr>
        <p:spPr>
          <a:xfrm>
            <a:off x="311700" y="2815250"/>
            <a:ext cx="5666700" cy="1391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0" name="Google Shape;5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pos="28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sp>
        <p:nvSpPr>
          <p:cNvPr id="63" name="Google Shape;63;p14"/>
          <p:cNvSpPr/>
          <p:nvPr/>
        </p:nvSpPr>
        <p:spPr>
          <a:xfrm>
            <a:off x="0" y="-5675"/>
            <a:ext cx="4572000" cy="5143500"/>
          </a:xfrm>
          <a:prstGeom prst="rect">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4" name="Google Shape;64;p14" title="Recurso 3.png"/>
          <p:cNvPicPr preferRelativeResize="0"/>
          <p:nvPr/>
        </p:nvPicPr>
        <p:blipFill rotWithShape="1">
          <a:blip r:embed="rId2">
            <a:alphaModFix/>
          </a:blip>
          <a:srcRect/>
          <a:stretch/>
        </p:blipFill>
        <p:spPr>
          <a:xfrm>
            <a:off x="8011500" y="4538978"/>
            <a:ext cx="540000" cy="283850"/>
          </a:xfrm>
          <a:prstGeom prst="rect">
            <a:avLst/>
          </a:prstGeom>
          <a:noFill/>
          <a:ln>
            <a:noFill/>
          </a:ln>
        </p:spPr>
      </p:pic>
      <p:sp>
        <p:nvSpPr>
          <p:cNvPr id="65" name="Google Shape;65;p14"/>
          <p:cNvSpPr txBox="1">
            <a:spLocks noGrp="1"/>
          </p:cNvSpPr>
          <p:nvPr>
            <p:ph type="title"/>
          </p:nvPr>
        </p:nvSpPr>
        <p:spPr>
          <a:xfrm>
            <a:off x="368675" y="655450"/>
            <a:ext cx="3964500" cy="283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66" name="Google Shape;66;p14"/>
          <p:cNvSpPr txBox="1">
            <a:spLocks noGrp="1"/>
          </p:cNvSpPr>
          <p:nvPr>
            <p:ph type="body" idx="1"/>
          </p:nvPr>
        </p:nvSpPr>
        <p:spPr>
          <a:xfrm>
            <a:off x="4858700" y="1311925"/>
            <a:ext cx="3694800" cy="30288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7" name="Google Shape;6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
        <p:nvSpPr>
          <p:cNvPr id="68" name="Google Shape;68;p14"/>
          <p:cNvSpPr txBox="1">
            <a:spLocks noGrp="1"/>
          </p:cNvSpPr>
          <p:nvPr>
            <p:ph type="title" idx="2"/>
          </p:nvPr>
        </p:nvSpPr>
        <p:spPr>
          <a:xfrm>
            <a:off x="412475" y="1495950"/>
            <a:ext cx="3734400" cy="2922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000"/>
              <a:buNone/>
              <a:defRPr sz="4000">
                <a:solidFill>
                  <a:schemeClr val="lt1"/>
                </a:solidFill>
              </a:defRPr>
            </a:lvl1pPr>
            <a:lvl2pPr lvl="1" algn="l">
              <a:lnSpc>
                <a:spcPct val="100000"/>
              </a:lnSpc>
              <a:spcBef>
                <a:spcPts val="0"/>
              </a:spcBef>
              <a:spcAft>
                <a:spcPts val="0"/>
              </a:spcAft>
              <a:buClr>
                <a:schemeClr val="lt1"/>
              </a:buClr>
              <a:buSzPts val="4000"/>
              <a:buNone/>
              <a:defRPr sz="4000">
                <a:solidFill>
                  <a:schemeClr val="lt1"/>
                </a:solidFill>
              </a:defRPr>
            </a:lvl2pPr>
            <a:lvl3pPr lvl="2" algn="l">
              <a:lnSpc>
                <a:spcPct val="100000"/>
              </a:lnSpc>
              <a:spcBef>
                <a:spcPts val="0"/>
              </a:spcBef>
              <a:spcAft>
                <a:spcPts val="0"/>
              </a:spcAft>
              <a:buClr>
                <a:schemeClr val="lt1"/>
              </a:buClr>
              <a:buSzPts val="4000"/>
              <a:buNone/>
              <a:defRPr sz="4000">
                <a:solidFill>
                  <a:schemeClr val="lt1"/>
                </a:solidFill>
              </a:defRPr>
            </a:lvl3pPr>
            <a:lvl4pPr lvl="3" algn="l">
              <a:lnSpc>
                <a:spcPct val="100000"/>
              </a:lnSpc>
              <a:spcBef>
                <a:spcPts val="0"/>
              </a:spcBef>
              <a:spcAft>
                <a:spcPts val="0"/>
              </a:spcAft>
              <a:buClr>
                <a:schemeClr val="lt1"/>
              </a:buClr>
              <a:buSzPts val="4000"/>
              <a:buNone/>
              <a:defRPr sz="4000">
                <a:solidFill>
                  <a:schemeClr val="lt1"/>
                </a:solidFill>
              </a:defRPr>
            </a:lvl4pPr>
            <a:lvl5pPr lvl="4" algn="l">
              <a:lnSpc>
                <a:spcPct val="100000"/>
              </a:lnSpc>
              <a:spcBef>
                <a:spcPts val="0"/>
              </a:spcBef>
              <a:spcAft>
                <a:spcPts val="0"/>
              </a:spcAft>
              <a:buClr>
                <a:schemeClr val="lt1"/>
              </a:buClr>
              <a:buSzPts val="4000"/>
              <a:buNone/>
              <a:defRPr sz="4000">
                <a:solidFill>
                  <a:schemeClr val="lt1"/>
                </a:solidFill>
              </a:defRPr>
            </a:lvl5pPr>
            <a:lvl6pPr lvl="5" algn="l">
              <a:lnSpc>
                <a:spcPct val="100000"/>
              </a:lnSpc>
              <a:spcBef>
                <a:spcPts val="0"/>
              </a:spcBef>
              <a:spcAft>
                <a:spcPts val="0"/>
              </a:spcAft>
              <a:buClr>
                <a:schemeClr val="lt1"/>
              </a:buClr>
              <a:buSzPts val="4000"/>
              <a:buNone/>
              <a:defRPr sz="4000">
                <a:solidFill>
                  <a:schemeClr val="lt1"/>
                </a:solidFill>
              </a:defRPr>
            </a:lvl6pPr>
            <a:lvl7pPr lvl="6" algn="l">
              <a:lnSpc>
                <a:spcPct val="100000"/>
              </a:lnSpc>
              <a:spcBef>
                <a:spcPts val="0"/>
              </a:spcBef>
              <a:spcAft>
                <a:spcPts val="0"/>
              </a:spcAft>
              <a:buClr>
                <a:schemeClr val="lt1"/>
              </a:buClr>
              <a:buSzPts val="4000"/>
              <a:buNone/>
              <a:defRPr sz="4000">
                <a:solidFill>
                  <a:schemeClr val="lt1"/>
                </a:solidFill>
              </a:defRPr>
            </a:lvl7pPr>
            <a:lvl8pPr lvl="7" algn="l">
              <a:lnSpc>
                <a:spcPct val="100000"/>
              </a:lnSpc>
              <a:spcBef>
                <a:spcPts val="0"/>
              </a:spcBef>
              <a:spcAft>
                <a:spcPts val="0"/>
              </a:spcAft>
              <a:buClr>
                <a:schemeClr val="lt1"/>
              </a:buClr>
              <a:buSzPts val="4000"/>
              <a:buNone/>
              <a:defRPr sz="4000">
                <a:solidFill>
                  <a:schemeClr val="lt1"/>
                </a:solidFill>
              </a:defRPr>
            </a:lvl8pPr>
            <a:lvl9pPr lvl="8" algn="l">
              <a:lnSpc>
                <a:spcPct val="100000"/>
              </a:lnSpc>
              <a:spcBef>
                <a:spcPts val="0"/>
              </a:spcBef>
              <a:spcAft>
                <a:spcPts val="0"/>
              </a:spcAft>
              <a:buClr>
                <a:schemeClr val="lt1"/>
              </a:buClr>
              <a:buSzPts val="4000"/>
              <a:buNone/>
              <a:defRPr sz="4000">
                <a:solidFill>
                  <a:schemeClr val="lt1"/>
                </a:solidFill>
              </a:defRPr>
            </a:lvl9pPr>
          </a:lstStyle>
          <a:p>
            <a:endParaRPr/>
          </a:p>
        </p:txBody>
      </p:sp>
    </p:spTree>
  </p:cSld>
  <p:clrMapOvr>
    <a:masterClrMapping/>
  </p:clrMapOvr>
  <p:extLst>
    <p:ext uri="{DCECCB84-F9BA-43D5-87BE-67443E8EF086}">
      <p15:sldGuideLst xmlns:p15="http://schemas.microsoft.com/office/powerpoint/2012/main">
        <p15:guide id="1" pos="304">
          <p15:clr>
            <a:srgbClr val="E46962"/>
          </p15:clr>
        </p15:guide>
        <p15:guide id="2" pos="5387">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userDrawn="1">
  <p:cSld name="TITLE_ONLY">
    <p:spTree>
      <p:nvGrpSpPr>
        <p:cNvPr id="1" name="Shape 69"/>
        <p:cNvGrpSpPr/>
        <p:nvPr/>
      </p:nvGrpSpPr>
      <p:grpSpPr>
        <a:xfrm>
          <a:off x="0" y="0"/>
          <a:ext cx="0" cy="0"/>
          <a:chOff x="0" y="0"/>
          <a:chExt cx="0" cy="0"/>
        </a:xfrm>
      </p:grpSpPr>
      <p:sp>
        <p:nvSpPr>
          <p:cNvPr id="70" name="Google Shape;70;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71" name="Google Shape;71;p16" title="Recurso 3.png"/>
          <p:cNvPicPr preferRelativeResize="0"/>
          <p:nvPr/>
        </p:nvPicPr>
        <p:blipFill rotWithShape="1">
          <a:blip r:embed="rId2">
            <a:alphaModFix/>
          </a:blip>
          <a:srcRect/>
          <a:stretch/>
        </p:blipFill>
        <p:spPr>
          <a:xfrm>
            <a:off x="8011500" y="4538978"/>
            <a:ext cx="540000" cy="283850"/>
          </a:xfrm>
          <a:prstGeom prst="rect">
            <a:avLst/>
          </a:prstGeom>
          <a:noFill/>
          <a:ln>
            <a:noFill/>
          </a:ln>
        </p:spPr>
      </p:pic>
      <p:sp>
        <p:nvSpPr>
          <p:cNvPr id="2" name="Google Shape;60;p13">
            <a:extLst>
              <a:ext uri="{FF2B5EF4-FFF2-40B4-BE49-F238E27FC236}">
                <a16:creationId xmlns:a16="http://schemas.microsoft.com/office/drawing/2014/main" id="{BA34F530-57E1-3ACD-6780-261D7941DA08}"/>
              </a:ext>
            </a:extLst>
          </p:cNvPr>
          <p:cNvSpPr txBox="1">
            <a:spLocks noGrp="1"/>
          </p:cNvSpPr>
          <p:nvPr>
            <p:ph type="title"/>
          </p:nvPr>
        </p:nvSpPr>
        <p:spPr>
          <a:xfrm>
            <a:off x="340500" y="200392"/>
            <a:ext cx="82110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0E337C"/>
              </a:buClr>
              <a:buSzPts val="1600"/>
              <a:buNone/>
              <a:defRPr sz="1600">
                <a:solidFill>
                  <a:srgbClr val="0E337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extLst>
    <p:ext uri="{DCECCB84-F9BA-43D5-87BE-67443E8EF086}">
      <p15:sldGuideLst xmlns:p15="http://schemas.microsoft.com/office/powerpoint/2012/main">
        <p15:guide id="1" pos="283">
          <p15:clr>
            <a:srgbClr val="E46962"/>
          </p15:clr>
        </p15:guide>
        <p15:guide id="2" pos="5388">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gradecimiento">
  <p:cSld name="BLANK_1">
    <p:spTree>
      <p:nvGrpSpPr>
        <p:cNvPr id="1" name="Shape 77"/>
        <p:cNvGrpSpPr/>
        <p:nvPr/>
      </p:nvGrpSpPr>
      <p:grpSpPr>
        <a:xfrm>
          <a:off x="0" y="0"/>
          <a:ext cx="0" cy="0"/>
          <a:chOff x="0" y="0"/>
          <a:chExt cx="0" cy="0"/>
        </a:xfrm>
      </p:grpSpPr>
      <p:sp>
        <p:nvSpPr>
          <p:cNvPr id="78" name="Google Shape;78;g37e80574407_0_1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79" name="Google Shape;79;g37e80574407_0_110" title="Recurso 1.png"/>
          <p:cNvPicPr preferRelativeResize="0"/>
          <p:nvPr/>
        </p:nvPicPr>
        <p:blipFill rotWithShape="1">
          <a:blip r:embed="rId2">
            <a:alphaModFix/>
          </a:blip>
          <a:srcRect b="7381"/>
          <a:stretch/>
        </p:blipFill>
        <p:spPr>
          <a:xfrm>
            <a:off x="0" y="0"/>
            <a:ext cx="9143999" cy="5143500"/>
          </a:xfrm>
          <a:prstGeom prst="rect">
            <a:avLst/>
          </a:prstGeom>
          <a:noFill/>
          <a:ln>
            <a:noFill/>
          </a:ln>
        </p:spPr>
      </p:pic>
      <p:pic>
        <p:nvPicPr>
          <p:cNvPr id="80" name="Google Shape;80;g37e80574407_0_110" title="logo_neg.png"/>
          <p:cNvPicPr preferRelativeResize="0"/>
          <p:nvPr/>
        </p:nvPicPr>
        <p:blipFill>
          <a:blip r:embed="rId3">
            <a:alphaModFix/>
          </a:blip>
          <a:stretch>
            <a:fillRect/>
          </a:stretch>
        </p:blipFill>
        <p:spPr>
          <a:xfrm>
            <a:off x="449998" y="4438648"/>
            <a:ext cx="1770700" cy="170430"/>
          </a:xfrm>
          <a:prstGeom prst="rect">
            <a:avLst/>
          </a:prstGeom>
          <a:noFill/>
          <a:ln>
            <a:noFill/>
          </a:ln>
        </p:spPr>
      </p:pic>
      <p:sp>
        <p:nvSpPr>
          <p:cNvPr id="81" name="Google Shape;81;g37e80574407_0_110"/>
          <p:cNvSpPr txBox="1">
            <a:spLocks noGrp="1"/>
          </p:cNvSpPr>
          <p:nvPr>
            <p:ph type="title"/>
          </p:nvPr>
        </p:nvSpPr>
        <p:spPr>
          <a:xfrm>
            <a:off x="4087108" y="4327063"/>
            <a:ext cx="4548900" cy="393600"/>
          </a:xfrm>
          <a:prstGeom prst="rect">
            <a:avLst/>
          </a:prstGeom>
          <a:noFill/>
          <a:ln>
            <a:noFill/>
          </a:ln>
        </p:spPr>
        <p:txBody>
          <a:bodyPr spcFirstLastPara="1" wrap="square" lIns="91425" tIns="91425" rIns="91425" bIns="91425" anchor="ctr" anchorCtr="0">
            <a:normAutofit/>
          </a:bodyPr>
          <a:lstStyle>
            <a:lvl1pPr lvl="0" algn="r">
              <a:lnSpc>
                <a:spcPct val="100000"/>
              </a:lnSpc>
              <a:spcBef>
                <a:spcPts val="0"/>
              </a:spcBef>
              <a:spcAft>
                <a:spcPts val="0"/>
              </a:spcAft>
              <a:buClr>
                <a:schemeClr val="lt1"/>
              </a:buClr>
              <a:buSzPts val="1300"/>
              <a:buNone/>
              <a:defRPr sz="1300">
                <a:solidFill>
                  <a:schemeClr val="lt1"/>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82" name="Google Shape;82;g37e80574407_0_110"/>
          <p:cNvSpPr txBox="1">
            <a:spLocks noGrp="1"/>
          </p:cNvSpPr>
          <p:nvPr>
            <p:ph type="ctrTitle" idx="2"/>
          </p:nvPr>
        </p:nvSpPr>
        <p:spPr>
          <a:xfrm>
            <a:off x="450000" y="1827750"/>
            <a:ext cx="8100000" cy="15969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6100"/>
              <a:buFont typeface="Reddit Sans Black"/>
              <a:buNone/>
              <a:defRPr sz="6100" b="0">
                <a:solidFill>
                  <a:schemeClr val="lt1"/>
                </a:solidFill>
                <a:latin typeface="Reddit Sans Black"/>
                <a:ea typeface="Reddit Sans Black"/>
                <a:cs typeface="Reddit Sans Black"/>
                <a:sym typeface="Reddit Sans Black"/>
              </a:defRPr>
            </a:lvl1pPr>
            <a:lvl2pPr lvl="1"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2pPr>
            <a:lvl3pPr lvl="2"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3pPr>
            <a:lvl4pPr lvl="3"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4pPr>
            <a:lvl5pPr lvl="4"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5pPr>
            <a:lvl6pPr lvl="5"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6pPr>
            <a:lvl7pPr lvl="6"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7pPr>
            <a:lvl8pPr lvl="7"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8pPr>
            <a:lvl9pPr lvl="8" algn="ctr">
              <a:lnSpc>
                <a:spcPct val="100000"/>
              </a:lnSpc>
              <a:spcBef>
                <a:spcPts val="0"/>
              </a:spcBef>
              <a:spcAft>
                <a:spcPts val="0"/>
              </a:spcAft>
              <a:buSzPts val="5500"/>
              <a:buFont typeface="Reddit Sans Black"/>
              <a:buNone/>
              <a:defRPr sz="5500">
                <a:latin typeface="Reddit Sans Black"/>
                <a:ea typeface="Reddit Sans Black"/>
                <a:cs typeface="Reddit Sans Black"/>
                <a:sym typeface="Reddit Sans Black"/>
              </a:defRPr>
            </a:lvl9pPr>
          </a:lstStyle>
          <a:p>
            <a:endParaRPr/>
          </a:p>
        </p:txBody>
      </p:sp>
      <p:sp>
        <p:nvSpPr>
          <p:cNvPr id="83" name="Google Shape;83;g37e80574407_0_110"/>
          <p:cNvSpPr txBox="1">
            <a:spLocks noGrp="1"/>
          </p:cNvSpPr>
          <p:nvPr>
            <p:ph type="title" idx="3"/>
          </p:nvPr>
        </p:nvSpPr>
        <p:spPr>
          <a:xfrm>
            <a:off x="4087108" y="446138"/>
            <a:ext cx="4548900" cy="393600"/>
          </a:xfrm>
          <a:prstGeom prst="rect">
            <a:avLst/>
          </a:prstGeom>
          <a:noFill/>
          <a:ln>
            <a:noFill/>
          </a:ln>
        </p:spPr>
        <p:txBody>
          <a:bodyPr spcFirstLastPara="1" wrap="square" lIns="91425" tIns="91425" rIns="91425" bIns="91425" anchor="ctr" anchorCtr="0">
            <a:normAutofit/>
          </a:bodyPr>
          <a:lstStyle>
            <a:lvl1pPr lvl="0" algn="r" rtl="0">
              <a:lnSpc>
                <a:spcPct val="100000"/>
              </a:lnSpc>
              <a:spcBef>
                <a:spcPts val="0"/>
              </a:spcBef>
              <a:spcAft>
                <a:spcPts val="0"/>
              </a:spcAft>
              <a:buClr>
                <a:schemeClr val="lt1"/>
              </a:buClr>
              <a:buSzPts val="900"/>
              <a:buFont typeface="Reddit Sans Light"/>
              <a:buNone/>
              <a:defRPr sz="900" b="0">
                <a:solidFill>
                  <a:schemeClr val="lt1"/>
                </a:solidFill>
                <a:latin typeface="Reddit Sans Light"/>
                <a:ea typeface="Reddit Sans Light"/>
                <a:cs typeface="Reddit Sans Light"/>
                <a:sym typeface="Reddit Sans Light"/>
              </a:defRPr>
            </a:lvl1pPr>
            <a:lvl2pPr lvl="1"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2pPr>
            <a:lvl3pPr lvl="2"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3pPr>
            <a:lvl4pPr lvl="3"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4pPr>
            <a:lvl5pPr lvl="4"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5pPr>
            <a:lvl6pPr lvl="5"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6pPr>
            <a:lvl7pPr lvl="6"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7pPr>
            <a:lvl8pPr lvl="7"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8pPr>
            <a:lvl9pPr lvl="8" algn="r" rtl="0">
              <a:lnSpc>
                <a:spcPct val="100000"/>
              </a:lnSpc>
              <a:spcBef>
                <a:spcPts val="0"/>
              </a:spcBef>
              <a:spcAft>
                <a:spcPts val="0"/>
              </a:spcAft>
              <a:buSzPts val="2100"/>
              <a:buFont typeface="Reddit Sans Light"/>
              <a:buNone/>
              <a:defRPr sz="2100">
                <a:latin typeface="Reddit Sans Light"/>
                <a:ea typeface="Reddit Sans Light"/>
                <a:cs typeface="Reddit Sans Light"/>
                <a:sym typeface="Reddit Sans Light"/>
              </a:defRPr>
            </a:lvl9pPr>
          </a:lstStyle>
          <a:p>
            <a:endParaRPr/>
          </a:p>
        </p:txBody>
      </p:sp>
    </p:spTree>
  </p:cSld>
  <p:clrMapOvr>
    <a:masterClrMapping/>
  </p:clrMapOvr>
  <p:extLst>
    <p:ext uri="{DCECCB84-F9BA-43D5-87BE-67443E8EF086}">
      <p15:sldGuideLst xmlns:p15="http://schemas.microsoft.com/office/powerpoint/2012/main">
        <p15:guide id="1" pos="5386">
          <p15:clr>
            <a:srgbClr val="E46962"/>
          </p15:clr>
        </p15:guide>
        <p15:guide id="2" orient="horz" pos="2903">
          <p15:clr>
            <a:srgbClr val="E46962"/>
          </p15:clr>
        </p15:guide>
        <p15:guide id="3" pos="283">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0"/>
        <p:cNvGrpSpPr/>
        <p:nvPr/>
      </p:nvGrpSpPr>
      <p:grpSpPr>
        <a:xfrm>
          <a:off x="0" y="0"/>
          <a:ext cx="0" cy="0"/>
          <a:chOff x="0" y="0"/>
          <a:chExt cx="0" cy="0"/>
        </a:xfrm>
      </p:grpSpPr>
      <p:sp>
        <p:nvSpPr>
          <p:cNvPr id="91" name="Google Shape;91;p18"/>
          <p:cNvSpPr txBox="1">
            <a:spLocks noGrp="1"/>
          </p:cNvSpPr>
          <p:nvPr>
            <p:ph type="body" idx="1"/>
          </p:nvPr>
        </p:nvSpPr>
        <p:spPr>
          <a:xfrm>
            <a:off x="340564" y="4344717"/>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Font typeface="Reddit Sans Medium"/>
              <a:buNone/>
              <a:defRPr sz="1300">
                <a:latin typeface="Reddit Sans Medium"/>
                <a:ea typeface="Reddit Sans Medium"/>
                <a:cs typeface="Reddit Sans Medium"/>
                <a:sym typeface="Reddit Sans Medium"/>
              </a:defRPr>
            </a:lvl1pPr>
          </a:lstStyle>
          <a:p>
            <a:endParaRPr/>
          </a:p>
        </p:txBody>
      </p:sp>
      <p:sp>
        <p:nvSpPr>
          <p:cNvPr id="92" name="Google Shape;9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93" name="Google Shape;93;p18" title="Recurso 3.png"/>
          <p:cNvPicPr preferRelativeResize="0"/>
          <p:nvPr/>
        </p:nvPicPr>
        <p:blipFill rotWithShape="1">
          <a:blip r:embed="rId2">
            <a:alphaModFix/>
          </a:blip>
          <a:srcRect/>
          <a:stretch/>
        </p:blipFill>
        <p:spPr>
          <a:xfrm>
            <a:off x="8011500" y="4538978"/>
            <a:ext cx="540000" cy="283850"/>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rgbClr val="E46962"/>
          </p15:clr>
        </p15:guide>
        <p15:guide id="2" pos="5387">
          <p15:clr>
            <a:srgbClr val="E46962"/>
          </p15:clr>
        </p15:guide>
        <p15:guide id="3" orient="horz" pos="3038">
          <p15:clr>
            <a:srgbClr val="E46962"/>
          </p15:clr>
        </p15:guide>
        <p15:guide id="4" orient="horz" pos="283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4"/>
        <p:cNvGrpSpPr/>
        <p:nvPr/>
      </p:nvGrpSpPr>
      <p:grpSpPr>
        <a:xfrm>
          <a:off x="0" y="0"/>
          <a:ext cx="0" cy="0"/>
          <a:chOff x="0" y="0"/>
          <a:chExt cx="0" cy="0"/>
        </a:xfrm>
      </p:grpSpPr>
      <p:sp>
        <p:nvSpPr>
          <p:cNvPr id="95" name="Google Shape;9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rgbClr val="0072BC"/>
              </a:buClr>
              <a:buSzPts val="12000"/>
              <a:buNone/>
              <a:defRPr sz="12000">
                <a:solidFill>
                  <a:srgbClr val="0072BC"/>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6" name="Google Shape;96;p19"/>
          <p:cNvSpPr txBox="1">
            <a:spLocks noGrp="1"/>
          </p:cNvSpPr>
          <p:nvPr>
            <p:ph type="body" idx="1"/>
          </p:nvPr>
        </p:nvSpPr>
        <p:spPr>
          <a:xfrm>
            <a:off x="450000" y="2959950"/>
            <a:ext cx="8101500" cy="13983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7" name="Google Shape;9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98" name="Google Shape;98;p19" title="Recurso 3.png"/>
          <p:cNvPicPr preferRelativeResize="0"/>
          <p:nvPr/>
        </p:nvPicPr>
        <p:blipFill rotWithShape="1">
          <a:blip r:embed="rId2">
            <a:alphaModFix/>
          </a:blip>
          <a:srcRect/>
          <a:stretch/>
        </p:blipFill>
        <p:spPr>
          <a:xfrm>
            <a:off x="8011500" y="4538978"/>
            <a:ext cx="540000" cy="283850"/>
          </a:xfrm>
          <a:prstGeom prst="rect">
            <a:avLst/>
          </a:prstGeom>
          <a:noFill/>
          <a:ln>
            <a:noFill/>
          </a:ln>
        </p:spPr>
      </p:pic>
    </p:spTree>
  </p:cSld>
  <p:clrMapOvr>
    <a:masterClrMapping/>
  </p:clrMapOvr>
  <p:extLst>
    <p:ext uri="{DCECCB84-F9BA-43D5-87BE-67443E8EF086}">
      <p15:sldGuideLst xmlns:p15="http://schemas.microsoft.com/office/powerpoint/2012/main">
        <p15:guide id="1" pos="5387">
          <p15:clr>
            <a:srgbClr val="E46962"/>
          </p15:clr>
        </p15:guide>
        <p15:guide id="2" pos="283">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Reddit Sans"/>
              <a:buNone/>
              <a:defRPr sz="2800" b="1" i="0" u="none" strike="noStrike" cap="none">
                <a:solidFill>
                  <a:schemeClr val="dk1"/>
                </a:solidFill>
                <a:latin typeface="Reddit Sans"/>
                <a:ea typeface="Reddit Sans"/>
                <a:cs typeface="Reddit Sans"/>
                <a:sym typeface="Reddit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eddit Sans"/>
              <a:buChar char="●"/>
              <a:defRPr sz="1800" b="0" i="0" u="none" strike="noStrike" cap="none">
                <a:solidFill>
                  <a:schemeClr val="dk2"/>
                </a:solidFill>
                <a:latin typeface="Reddit Sans"/>
                <a:ea typeface="Reddit Sans"/>
                <a:cs typeface="Reddit Sans"/>
                <a:sym typeface="Reddit Sans"/>
              </a:defRPr>
            </a:lvl1pPr>
            <a:lvl2pPr marL="914400" marR="0" lvl="1"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2pPr>
            <a:lvl3pPr marL="1371600" marR="0" lvl="2"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3pPr>
            <a:lvl4pPr marL="1828800" marR="0" lvl="3"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4pPr>
            <a:lvl5pPr marL="2286000" marR="0" lvl="4"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5pPr>
            <a:lvl6pPr marL="2743200" marR="0" lvl="5"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6pPr>
            <a:lvl7pPr marL="3200400" marR="0" lvl="6"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7pPr>
            <a:lvl8pPr marL="3657600" marR="0" lvl="7"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8pPr>
            <a:lvl9pPr marL="4114800" marR="0" lvl="8" indent="-317500" algn="l" rtl="0">
              <a:lnSpc>
                <a:spcPct val="115000"/>
              </a:lnSpc>
              <a:spcBef>
                <a:spcPts val="0"/>
              </a:spcBef>
              <a:spcAft>
                <a:spcPts val="0"/>
              </a:spcAft>
              <a:buClr>
                <a:schemeClr val="dk2"/>
              </a:buClr>
              <a:buSzPts val="1400"/>
              <a:buFont typeface="Reddit Sans"/>
              <a:buChar char="■"/>
              <a:defRPr sz="1400" b="0" i="0" u="none" strike="noStrike" cap="none">
                <a:solidFill>
                  <a:schemeClr val="dk2"/>
                </a:solidFill>
                <a:latin typeface="Reddit Sans"/>
                <a:ea typeface="Reddit Sans"/>
                <a:cs typeface="Reddit Sans"/>
                <a:sym typeface="Reddit Sans"/>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8" r:id="rId3"/>
    <p:sldLayoutId id="2147483659" r:id="rId4"/>
    <p:sldLayoutId id="2147483661" r:id="rId5"/>
    <p:sldLayoutId id="2147483663" r:id="rId6"/>
    <p:sldLayoutId id="214748366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434409B2-B061-0C09-F7A5-5D78A5374B82}"/>
            </a:ext>
          </a:extLst>
        </p:cNvPr>
        <p:cNvGrpSpPr/>
        <p:nvPr/>
      </p:nvGrpSpPr>
      <p:grpSpPr>
        <a:xfrm>
          <a:off x="0" y="0"/>
          <a:ext cx="0" cy="0"/>
          <a:chOff x="0" y="0"/>
          <a:chExt cx="0" cy="0"/>
        </a:xfrm>
      </p:grpSpPr>
      <p:sp>
        <p:nvSpPr>
          <p:cNvPr id="109" name="Google Shape;109;g37e80574407_0_130">
            <a:extLst>
              <a:ext uri="{FF2B5EF4-FFF2-40B4-BE49-F238E27FC236}">
                <a16:creationId xmlns:a16="http://schemas.microsoft.com/office/drawing/2014/main" id="{A59DD98A-2B5C-A123-43AF-5C139124E9E0}"/>
              </a:ext>
            </a:extLst>
          </p:cNvPr>
          <p:cNvSpPr txBox="1">
            <a:spLocks noGrp="1"/>
          </p:cNvSpPr>
          <p:nvPr>
            <p:ph type="ctrTitle"/>
          </p:nvPr>
        </p:nvSpPr>
        <p:spPr>
          <a:xfrm>
            <a:off x="307875" y="1827750"/>
            <a:ext cx="8536500" cy="15969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s-MX" dirty="0"/>
              <a:t>Servicio equipos de Soporte COES</a:t>
            </a:r>
            <a:endParaRPr dirty="0"/>
          </a:p>
        </p:txBody>
      </p:sp>
      <p:sp>
        <p:nvSpPr>
          <p:cNvPr id="110" name="Google Shape;110;g37e80574407_0_130">
            <a:extLst>
              <a:ext uri="{FF2B5EF4-FFF2-40B4-BE49-F238E27FC236}">
                <a16:creationId xmlns:a16="http://schemas.microsoft.com/office/drawing/2014/main" id="{466F5E55-D00C-BA0D-EE82-93E4AE9F2B1A}"/>
              </a:ext>
            </a:extLst>
          </p:cNvPr>
          <p:cNvSpPr txBox="1">
            <a:spLocks noGrp="1"/>
          </p:cNvSpPr>
          <p:nvPr>
            <p:ph type="subTitle" idx="1"/>
          </p:nvPr>
        </p:nvSpPr>
        <p:spPr>
          <a:xfrm>
            <a:off x="365600" y="3424775"/>
            <a:ext cx="84789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MX" dirty="0"/>
              <a:t>Cliente Bancolombia</a:t>
            </a:r>
            <a:endParaRPr dirty="0"/>
          </a:p>
        </p:txBody>
      </p:sp>
    </p:spTree>
    <p:extLst>
      <p:ext uri="{BB962C8B-B14F-4D97-AF65-F5344CB8AC3E}">
        <p14:creationId xmlns:p14="http://schemas.microsoft.com/office/powerpoint/2010/main" val="2579506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38C4726-ED27-BDE1-EDE6-1EE753915C87}"/>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C095B436-B308-115E-6A54-6BB1DB8F78DA}"/>
              </a:ext>
            </a:extLst>
          </p:cNvPr>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dirty="0">
                <a:solidFill>
                  <a:schemeClr val="bg1"/>
                </a:solidFill>
                <a:latin typeface="Reddit Sans" pitchFamily="2" charset="0"/>
                <a:ea typeface="Reddit Sans" pitchFamily="2" charset="0"/>
                <a:cs typeface="Reddit Sans Medium"/>
                <a:sym typeface="Reddit Sans Medium"/>
              </a:rPr>
              <a:t>Alcance del Servicio</a:t>
            </a:r>
            <a:endParaRPr dirty="0">
              <a:solidFill>
                <a:schemeClr val="bg1"/>
              </a:solidFill>
              <a:latin typeface="Reddit Sans" pitchFamily="2" charset="0"/>
              <a:ea typeface="Reddit Sans" pitchFamily="2" charset="0"/>
            </a:endParaRPr>
          </a:p>
        </p:txBody>
      </p:sp>
      <p:sp>
        <p:nvSpPr>
          <p:cNvPr id="145" name="Google Shape;145;p5">
            <a:extLst>
              <a:ext uri="{FF2B5EF4-FFF2-40B4-BE49-F238E27FC236}">
                <a16:creationId xmlns:a16="http://schemas.microsoft.com/office/drawing/2014/main" id="{F18178BB-EB6E-F5A8-CB74-6A6E86A36B01}"/>
              </a:ext>
            </a:extLst>
          </p:cNvPr>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fontScale="92500" lnSpcReduction="20000"/>
          </a:bodyPr>
          <a:lstStyle/>
          <a:p>
            <a:pPr algn="just"/>
            <a:r>
              <a:rPr lang="es-CO" sz="1500" b="1" dirty="0">
                <a:solidFill>
                  <a:schemeClr val="dk1"/>
                </a:solidFill>
              </a:rPr>
              <a:t>Contamos con soporte 7x24 mediante turnos rotativos de lunes a domingo (6:00 a. m. a 2:00 p. m., 2:00 p. m. a 10:00 p. m. y 10:00 p. m. a 6:00 a. m.), garantizando atención continua.</a:t>
            </a:r>
          </a:p>
          <a:p>
            <a:pPr marL="139700" indent="0" algn="just">
              <a:buNone/>
            </a:pPr>
            <a:endParaRPr lang="es-CO" sz="1500" dirty="0">
              <a:solidFill>
                <a:schemeClr val="dk1"/>
              </a:solidFill>
            </a:endParaRPr>
          </a:p>
          <a:p>
            <a:pPr algn="just"/>
            <a:r>
              <a:rPr lang="es-CO" sz="1500" dirty="0">
                <a:solidFill>
                  <a:schemeClr val="dk1"/>
                </a:solidFill>
              </a:rPr>
              <a:t>El equipo tiene un plan de carrera estructurado, que reduce la rotación y ayuda en la gestión del conocimiento.</a:t>
            </a:r>
          </a:p>
          <a:p>
            <a:pPr marL="139700" indent="0" algn="just">
              <a:buNone/>
            </a:pPr>
            <a:endParaRPr lang="es-CO" sz="1500" dirty="0">
              <a:solidFill>
                <a:schemeClr val="dk1"/>
              </a:solidFill>
            </a:endParaRPr>
          </a:p>
          <a:p>
            <a:pPr marL="139700" indent="0" algn="just">
              <a:buNone/>
            </a:pPr>
            <a:r>
              <a:rPr lang="es-CO" sz="1500" i="1" dirty="0">
                <a:solidFill>
                  <a:schemeClr val="dk1"/>
                </a:solidFill>
              </a:rPr>
              <a:t>***</a:t>
            </a:r>
            <a:r>
              <a:rPr lang="es" sz="1600" i="1" dirty="0">
                <a:solidFill>
                  <a:schemeClr val="dk1"/>
                </a:solidFill>
              </a:rPr>
              <a:t> La malla de turnos se ajusta según la capacidad del equipo y las necesidades del cliente.</a:t>
            </a:r>
            <a:endParaRPr lang="es-CO" sz="1500" i="1" dirty="0">
              <a:solidFill>
                <a:schemeClr val="dk1"/>
              </a:solidFill>
            </a:endParaRPr>
          </a:p>
          <a:p>
            <a:pPr marL="0" lvl="0" indent="0" algn="just" rtl="0">
              <a:lnSpc>
                <a:spcPct val="115000"/>
              </a:lnSpc>
              <a:spcBef>
                <a:spcPts val="0"/>
              </a:spcBef>
              <a:spcAft>
                <a:spcPts val="1200"/>
              </a:spcAft>
              <a:buSzPts val="1400"/>
              <a:buNone/>
            </a:pPr>
            <a:endParaRPr sz="1400" dirty="0"/>
          </a:p>
        </p:txBody>
      </p:sp>
      <p:sp>
        <p:nvSpPr>
          <p:cNvPr id="146" name="Google Shape;146;p5">
            <a:extLst>
              <a:ext uri="{FF2B5EF4-FFF2-40B4-BE49-F238E27FC236}">
                <a16:creationId xmlns:a16="http://schemas.microsoft.com/office/drawing/2014/main" id="{BEB58610-647F-8CDA-DAB1-DEEF6A7948D1}"/>
              </a:ext>
            </a:extLst>
          </p:cNvPr>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SzPts val="4000"/>
              <a:buNone/>
            </a:pPr>
            <a:r>
              <a:rPr lang="es" dirty="0"/>
              <a:t>Respaldo 7x24 para tu operación.</a:t>
            </a:r>
            <a:endParaRPr dirty="0"/>
          </a:p>
        </p:txBody>
      </p:sp>
      <p:cxnSp>
        <p:nvCxnSpPr>
          <p:cNvPr id="147" name="Google Shape;147;p5">
            <a:extLst>
              <a:ext uri="{FF2B5EF4-FFF2-40B4-BE49-F238E27FC236}">
                <a16:creationId xmlns:a16="http://schemas.microsoft.com/office/drawing/2014/main" id="{06A64A60-A175-D517-5752-D27C3F012FCC}"/>
              </a:ext>
            </a:extLst>
          </p:cNvPr>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extLst>
      <p:ext uri="{BB962C8B-B14F-4D97-AF65-F5344CB8AC3E}">
        <p14:creationId xmlns:p14="http://schemas.microsoft.com/office/powerpoint/2010/main" val="2696155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dirty="0">
                <a:solidFill>
                  <a:schemeClr val="bg1"/>
                </a:solidFill>
                <a:latin typeface="Reddit Sans" pitchFamily="2" charset="0"/>
                <a:ea typeface="Reddit Sans" pitchFamily="2" charset="0"/>
                <a:cs typeface="Reddit Sans Medium"/>
                <a:sym typeface="Reddit Sans Medium"/>
              </a:rPr>
              <a:t>Analista de Soporte</a:t>
            </a:r>
            <a:endParaRPr dirty="0">
              <a:solidFill>
                <a:schemeClr val="bg1"/>
              </a:solidFill>
              <a:latin typeface="Reddit Sans" pitchFamily="2" charset="0"/>
              <a:ea typeface="Reddit Sans" pitchFamily="2" charset="0"/>
            </a:endParaRPr>
          </a:p>
        </p:txBody>
      </p:sp>
      <p:sp>
        <p:nvSpPr>
          <p:cNvPr id="145" name="Google Shape;145;p5"/>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a:bodyPr>
          <a:lstStyle/>
          <a:p>
            <a:pPr marL="0" lvl="0" indent="0" algn="just" rtl="0">
              <a:lnSpc>
                <a:spcPct val="115000"/>
              </a:lnSpc>
              <a:spcBef>
                <a:spcPts val="0"/>
              </a:spcBef>
              <a:spcAft>
                <a:spcPts val="1200"/>
              </a:spcAft>
              <a:buSzPts val="1400"/>
              <a:buNone/>
            </a:pPr>
            <a:r>
              <a:rPr lang="es" sz="1400" dirty="0">
                <a:solidFill>
                  <a:schemeClr val="dk1"/>
                </a:solidFill>
              </a:rPr>
              <a:t>Recibe, analiza, diagnostica y resuelve eventos e incidentes dentro de los tiempos establecidos. Ejecuta tareas enfocadas en soluciones de raíz con proactividad. Documenta la gestión como insumo para informes del servicio. Domina las herramientas técnicas y administrativas del día a día utilizadas en el servicio.</a:t>
            </a:r>
            <a:endParaRPr sz="1400" dirty="0"/>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000"/>
              <a:buNone/>
            </a:pPr>
            <a:r>
              <a:rPr lang="es"/>
              <a:t>Primera línea de respuesta.</a:t>
            </a:r>
            <a:endParaRPr/>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dirty="0">
                <a:solidFill>
                  <a:schemeClr val="bg1"/>
                </a:solidFill>
                <a:latin typeface="Reddit Sans" pitchFamily="2" charset="0"/>
                <a:ea typeface="Reddit Sans" pitchFamily="2" charset="0"/>
                <a:cs typeface="Reddit Sans Medium"/>
                <a:sym typeface="Reddit Sans Medium"/>
              </a:rPr>
              <a:t>Líder Técnico/Gestión</a:t>
            </a:r>
            <a:endParaRPr dirty="0">
              <a:solidFill>
                <a:schemeClr val="bg1"/>
              </a:solidFill>
              <a:latin typeface="Reddit Sans" pitchFamily="2" charset="0"/>
              <a:ea typeface="Reddit Sans" pitchFamily="2" charset="0"/>
            </a:endParaRPr>
          </a:p>
        </p:txBody>
      </p:sp>
      <p:sp>
        <p:nvSpPr>
          <p:cNvPr id="145" name="Google Shape;145;p5"/>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a:bodyPr>
          <a:lstStyle/>
          <a:p>
            <a:pPr algn="just"/>
            <a:r>
              <a:rPr lang="es-CO" sz="1300" dirty="0">
                <a:solidFill>
                  <a:schemeClr val="dk1"/>
                </a:solidFill>
              </a:rPr>
              <a:t>Garantiza la disponibilidad del servicio y el monitoreo de las aplicaciones. </a:t>
            </a:r>
          </a:p>
          <a:p>
            <a:pPr algn="just"/>
            <a:r>
              <a:rPr lang="es-CO" sz="1300" dirty="0">
                <a:solidFill>
                  <a:schemeClr val="dk1"/>
                </a:solidFill>
              </a:rPr>
              <a:t>Identifica oportunamente riesgos y propone acciones de mejora. </a:t>
            </a:r>
          </a:p>
          <a:p>
            <a:pPr algn="just"/>
            <a:r>
              <a:rPr lang="es-CO" sz="1300" dirty="0">
                <a:solidFill>
                  <a:schemeClr val="dk1"/>
                </a:solidFill>
              </a:rPr>
              <a:t>Coordina mesas de trabajo y gestiona los escalamientos necesarios. </a:t>
            </a:r>
          </a:p>
          <a:p>
            <a:pPr algn="just"/>
            <a:r>
              <a:rPr lang="es-CO" sz="1300" dirty="0">
                <a:solidFill>
                  <a:schemeClr val="dk1"/>
                </a:solidFill>
              </a:rPr>
              <a:t>Presenta informes periódicos sobre el estado del servicio. </a:t>
            </a:r>
          </a:p>
          <a:p>
            <a:pPr algn="just"/>
            <a:r>
              <a:rPr lang="es-CO" sz="1300" dirty="0">
                <a:solidFill>
                  <a:schemeClr val="dk1"/>
                </a:solidFill>
              </a:rPr>
              <a:t>Realiza seguimiento a los procesos actuales y evalúa la capacidad del equipo para asumir nuevos procesos</a:t>
            </a:r>
          </a:p>
          <a:p>
            <a:pPr algn="just"/>
            <a:r>
              <a:rPr lang="es-CO" sz="1300" dirty="0">
                <a:solidFill>
                  <a:schemeClr val="dk1"/>
                </a:solidFill>
              </a:rPr>
              <a:t>Gestiona el cierre de brechas de conocimiento y el fortalecimiento de habilidades blandas del equipo.</a:t>
            </a:r>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SzPts val="4000"/>
              <a:buNone/>
            </a:pPr>
            <a:r>
              <a:rPr lang="es" dirty="0"/>
              <a:t>Gobierno técnico del equipo.</a:t>
            </a:r>
            <a:endParaRPr dirty="0"/>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dirty="0">
                <a:solidFill>
                  <a:schemeClr val="bg1"/>
                </a:solidFill>
                <a:latin typeface="Reddit Sans" pitchFamily="2" charset="0"/>
                <a:ea typeface="Reddit Sans" pitchFamily="2" charset="0"/>
                <a:cs typeface="Reddit Sans Medium"/>
                <a:sym typeface="Reddit Sans Medium"/>
              </a:rPr>
              <a:t>Líder del servicio Service Manager</a:t>
            </a:r>
            <a:endParaRPr dirty="0">
              <a:solidFill>
                <a:schemeClr val="bg1"/>
              </a:solidFill>
              <a:latin typeface="Reddit Sans" pitchFamily="2" charset="0"/>
              <a:ea typeface="Reddit Sans" pitchFamily="2" charset="0"/>
            </a:endParaRPr>
          </a:p>
        </p:txBody>
      </p:sp>
      <p:sp>
        <p:nvSpPr>
          <p:cNvPr id="145" name="Google Shape;145;p5"/>
          <p:cNvSpPr txBox="1">
            <a:spLocks noGrp="1"/>
          </p:cNvSpPr>
          <p:nvPr>
            <p:ph type="body" idx="1"/>
          </p:nvPr>
        </p:nvSpPr>
        <p:spPr>
          <a:xfrm>
            <a:off x="4758150" y="756288"/>
            <a:ext cx="3587400" cy="3630924"/>
          </a:xfrm>
          <a:prstGeom prst="rect">
            <a:avLst/>
          </a:prstGeom>
          <a:noFill/>
          <a:ln>
            <a:noFill/>
          </a:ln>
        </p:spPr>
        <p:txBody>
          <a:bodyPr spcFirstLastPara="1" wrap="square" lIns="91425" tIns="91425" rIns="91425" bIns="91425" anchor="ctr" anchorCtr="0">
            <a:noAutofit/>
          </a:bodyPr>
          <a:lstStyle/>
          <a:p>
            <a:pPr algn="just"/>
            <a:r>
              <a:rPr lang="es-CO" sz="1100" dirty="0">
                <a:solidFill>
                  <a:schemeClr val="dk1"/>
                </a:solidFill>
              </a:rPr>
              <a:t>Gestiona el servicio como enlace directo con el cliente.</a:t>
            </a:r>
          </a:p>
          <a:p>
            <a:pPr algn="just"/>
            <a:r>
              <a:rPr lang="es-CO" sz="1100" dirty="0">
                <a:solidFill>
                  <a:schemeClr val="dk1"/>
                </a:solidFill>
              </a:rPr>
              <a:t>Es responsable de la programación de la malla de turnos, así como del seguimiento y gestión de las novedades de los analistas, garantizando que no se generen impactos en la operación.</a:t>
            </a:r>
          </a:p>
          <a:p>
            <a:pPr algn="just"/>
            <a:r>
              <a:rPr lang="es-CO" sz="1100" dirty="0">
                <a:solidFill>
                  <a:schemeClr val="dk1"/>
                </a:solidFill>
              </a:rPr>
              <a:t>Realiza seguimientos periódicos al equipo para evaluar su estado, brindar acompañamiento y proporcionar retroalimentación. </a:t>
            </a:r>
          </a:p>
          <a:p>
            <a:pPr algn="just"/>
            <a:r>
              <a:rPr lang="es-CO" sz="1100" dirty="0">
                <a:solidFill>
                  <a:schemeClr val="dk1"/>
                </a:solidFill>
              </a:rPr>
              <a:t>Coordina con el Líder Técnico y el equipo iniciativas orientadas a fortalecer la operación, tales como planes de trabajo para el cierre de brechas.</a:t>
            </a:r>
          </a:p>
          <a:p>
            <a:pPr algn="just"/>
            <a:r>
              <a:rPr lang="es-CO" sz="1100" dirty="0">
                <a:solidFill>
                  <a:schemeClr val="dk1"/>
                </a:solidFill>
              </a:rPr>
              <a:t>Identificación de oportunidades de mejora que contribuyan a la generación de valor del servicio.</a:t>
            </a:r>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a:bodyPr>
          <a:lstStyle/>
          <a:p>
            <a:pPr marL="0" lvl="0" indent="0" rtl="0">
              <a:lnSpc>
                <a:spcPct val="100000"/>
              </a:lnSpc>
              <a:spcBef>
                <a:spcPts val="0"/>
              </a:spcBef>
              <a:spcAft>
                <a:spcPts val="0"/>
              </a:spcAft>
              <a:buSzPts val="4000"/>
              <a:buNone/>
            </a:pPr>
            <a:r>
              <a:rPr lang="es" dirty="0"/>
              <a:t>Relación estratégica.</a:t>
            </a:r>
            <a:endParaRPr dirty="0"/>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6867208-4AF1-076C-9747-4AAC157CAD6D}"/>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957637F1-98B6-2B29-E9AE-6DA86245B73B}"/>
              </a:ext>
            </a:extLst>
          </p:cNvPr>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dirty="0">
                <a:solidFill>
                  <a:schemeClr val="bg1"/>
                </a:solidFill>
                <a:latin typeface="Reddit Sans" pitchFamily="2" charset="0"/>
                <a:ea typeface="Reddit Sans" pitchFamily="2" charset="0"/>
                <a:cs typeface="Reddit Sans Medium"/>
                <a:sym typeface="Reddit Sans Medium"/>
              </a:rPr>
              <a:t>Habilidades Humanas del equipo</a:t>
            </a:r>
            <a:endParaRPr dirty="0">
              <a:solidFill>
                <a:schemeClr val="bg1"/>
              </a:solidFill>
              <a:latin typeface="Reddit Sans" pitchFamily="2" charset="0"/>
              <a:ea typeface="Reddit Sans" pitchFamily="2" charset="0"/>
            </a:endParaRPr>
          </a:p>
        </p:txBody>
      </p:sp>
      <p:sp>
        <p:nvSpPr>
          <p:cNvPr id="145" name="Google Shape;145;p5">
            <a:extLst>
              <a:ext uri="{FF2B5EF4-FFF2-40B4-BE49-F238E27FC236}">
                <a16:creationId xmlns:a16="http://schemas.microsoft.com/office/drawing/2014/main" id="{140BA3C7-9668-F356-1927-6CA7FAF7438C}"/>
              </a:ext>
            </a:extLst>
          </p:cNvPr>
          <p:cNvSpPr txBox="1">
            <a:spLocks noGrp="1"/>
          </p:cNvSpPr>
          <p:nvPr>
            <p:ph type="body" idx="1"/>
          </p:nvPr>
        </p:nvSpPr>
        <p:spPr>
          <a:xfrm>
            <a:off x="4758150" y="756288"/>
            <a:ext cx="3587400" cy="3630924"/>
          </a:xfrm>
          <a:prstGeom prst="rect">
            <a:avLst/>
          </a:prstGeom>
          <a:noFill/>
          <a:ln>
            <a:noFill/>
          </a:ln>
        </p:spPr>
        <p:txBody>
          <a:bodyPr spcFirstLastPara="1" wrap="square" lIns="91425" tIns="91425" rIns="91425" bIns="91425" anchor="ctr" anchorCtr="0">
            <a:noAutofit/>
          </a:bodyPr>
          <a:lstStyle/>
          <a:p>
            <a:pPr marL="171450" indent="-171450" algn="just">
              <a:spcAft>
                <a:spcPts val="1200"/>
              </a:spcAft>
            </a:pPr>
            <a:r>
              <a:rPr lang="es-MX" sz="1200" dirty="0">
                <a:solidFill>
                  <a:srgbClr val="222222"/>
                </a:solidFill>
              </a:rPr>
              <a:t>Actitud proactiva, comunicación clara y compromiso con las tareas asignadas.</a:t>
            </a:r>
          </a:p>
          <a:p>
            <a:pPr marL="171450" indent="-171450" algn="just">
              <a:spcAft>
                <a:spcPts val="1200"/>
              </a:spcAft>
            </a:pPr>
            <a:r>
              <a:rPr lang="es-MX" sz="1200" dirty="0">
                <a:solidFill>
                  <a:srgbClr val="222222"/>
                </a:solidFill>
              </a:rPr>
              <a:t>Retroalimentación constructiva y cuidado del ambiente laboral. </a:t>
            </a:r>
          </a:p>
          <a:p>
            <a:pPr marL="171450" indent="-171450" algn="just">
              <a:spcAft>
                <a:spcPts val="1200"/>
              </a:spcAft>
            </a:pPr>
            <a:r>
              <a:rPr lang="es-MX" sz="1200" dirty="0">
                <a:solidFill>
                  <a:srgbClr val="222222"/>
                </a:solidFill>
              </a:rPr>
              <a:t>Priorización efectiva y búsqueda constante de mejora continua en cada proceso.</a:t>
            </a:r>
            <a:endParaRPr lang="es-MX" sz="1200" dirty="0"/>
          </a:p>
        </p:txBody>
      </p:sp>
      <p:sp>
        <p:nvSpPr>
          <p:cNvPr id="146" name="Google Shape;146;p5">
            <a:extLst>
              <a:ext uri="{FF2B5EF4-FFF2-40B4-BE49-F238E27FC236}">
                <a16:creationId xmlns:a16="http://schemas.microsoft.com/office/drawing/2014/main" id="{8BC4B116-AAA4-760B-D043-50CE0A36E9D5}"/>
              </a:ext>
            </a:extLst>
          </p:cNvPr>
          <p:cNvSpPr txBox="1">
            <a:spLocks noGrp="1"/>
          </p:cNvSpPr>
          <p:nvPr>
            <p:ph type="title" idx="2"/>
          </p:nvPr>
        </p:nvSpPr>
        <p:spPr>
          <a:xfrm>
            <a:off x="442269" y="1845371"/>
            <a:ext cx="3757500" cy="1939800"/>
          </a:xfrm>
          <a:prstGeom prst="rect">
            <a:avLst/>
          </a:prstGeom>
          <a:noFill/>
          <a:ln>
            <a:noFill/>
          </a:ln>
        </p:spPr>
        <p:txBody>
          <a:bodyPr spcFirstLastPara="1" wrap="square" lIns="91425" tIns="91425" rIns="91425" bIns="91425" anchor="b" anchorCtr="0">
            <a:normAutofit fontScale="90000"/>
          </a:bodyPr>
          <a:lstStyle/>
          <a:p>
            <a:pPr marL="0" lvl="0" indent="0" rtl="0">
              <a:lnSpc>
                <a:spcPct val="100000"/>
              </a:lnSpc>
              <a:spcBef>
                <a:spcPts val="0"/>
              </a:spcBef>
              <a:spcAft>
                <a:spcPts val="0"/>
              </a:spcAft>
              <a:buSzPts val="4000"/>
              <a:buNone/>
            </a:pPr>
            <a:r>
              <a:rPr lang="es" dirty="0"/>
              <a:t>Valores que impulsan la excelencia Operativa.</a:t>
            </a:r>
            <a:endParaRPr dirty="0"/>
          </a:p>
        </p:txBody>
      </p:sp>
      <p:cxnSp>
        <p:nvCxnSpPr>
          <p:cNvPr id="147" name="Google Shape;147;p5">
            <a:extLst>
              <a:ext uri="{FF2B5EF4-FFF2-40B4-BE49-F238E27FC236}">
                <a16:creationId xmlns:a16="http://schemas.microsoft.com/office/drawing/2014/main" id="{2033EADD-3764-A522-C49A-FDA5F3C4374B}"/>
              </a:ext>
            </a:extLst>
          </p:cNvPr>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extLst>
      <p:ext uri="{BB962C8B-B14F-4D97-AF65-F5344CB8AC3E}">
        <p14:creationId xmlns:p14="http://schemas.microsoft.com/office/powerpoint/2010/main" val="449786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361350" y="504411"/>
            <a:ext cx="5567400" cy="1923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000"/>
              <a:buNone/>
            </a:pPr>
            <a:r>
              <a:rPr lang="es" sz="4000" dirty="0">
                <a:highlight>
                  <a:srgbClr val="FFFFFF"/>
                </a:highlight>
              </a:rPr>
              <a:t>Estructura y Operación del Servicio</a:t>
            </a:r>
            <a:endParaRPr sz="4000" dirty="0"/>
          </a:p>
        </p:txBody>
      </p:sp>
      <p:cxnSp>
        <p:nvCxnSpPr>
          <p:cNvPr id="133" name="Google Shape;133;p2"/>
          <p:cNvCxnSpPr/>
          <p:nvPr/>
        </p:nvCxnSpPr>
        <p:spPr>
          <a:xfrm rot="10800000" flipH="1">
            <a:off x="0" y="2651850"/>
            <a:ext cx="5743800" cy="3600"/>
          </a:xfrm>
          <a:prstGeom prst="straightConnector1">
            <a:avLst/>
          </a:prstGeom>
          <a:noFill/>
          <a:ln w="19050" cap="flat" cmpd="sng">
            <a:solidFill>
              <a:srgbClr val="0E337C"/>
            </a:solidFill>
            <a:prstDash val="solid"/>
            <a:round/>
            <a:headEnd type="none" w="sm" len="sm"/>
            <a:tailEnd type="none" w="sm" len="sm"/>
          </a:ln>
        </p:spPr>
      </p:cxnSp>
      <p:pic>
        <p:nvPicPr>
          <p:cNvPr id="134" name="Google Shape;134;p2" title="isotipo_pos.png"/>
          <p:cNvPicPr preferRelativeResize="0"/>
          <p:nvPr/>
        </p:nvPicPr>
        <p:blipFill>
          <a:blip r:embed="rId2">
            <a:alphaModFix/>
          </a:blip>
          <a:stretch>
            <a:fillRect/>
          </a:stretch>
        </p:blipFill>
        <p:spPr>
          <a:xfrm>
            <a:off x="450000" y="4540953"/>
            <a:ext cx="540000" cy="279900"/>
          </a:xfrm>
          <a:prstGeom prst="rect">
            <a:avLst/>
          </a:prstGeom>
          <a:noFill/>
          <a:ln>
            <a:noFill/>
          </a:ln>
        </p:spPr>
      </p:pic>
      <p:sp>
        <p:nvSpPr>
          <p:cNvPr id="2" name="Rectángulo 1">
            <a:extLst>
              <a:ext uri="{FF2B5EF4-FFF2-40B4-BE49-F238E27FC236}">
                <a16:creationId xmlns:a16="http://schemas.microsoft.com/office/drawing/2014/main" id="{4E772C19-61FD-9E01-8D45-04096758E3D3}"/>
              </a:ext>
            </a:extLst>
          </p:cNvPr>
          <p:cNvSpPr/>
          <p:nvPr/>
        </p:nvSpPr>
        <p:spPr>
          <a:xfrm>
            <a:off x="6206836" y="0"/>
            <a:ext cx="2937164" cy="5143500"/>
          </a:xfrm>
          <a:prstGeom prst="rect">
            <a:avLst/>
          </a:prstGeom>
          <a:noFill/>
          <a:ln w="63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2" name="Google Shape;132;p2" title="textura 1.jpg"/>
          <p:cNvPicPr preferRelativeResize="0"/>
          <p:nvPr/>
        </p:nvPicPr>
        <p:blipFill rotWithShape="1">
          <a:blip r:embed="rId3">
            <a:alphaModFix/>
          </a:blip>
          <a:srcRect l="37172" r="5841"/>
          <a:stretch/>
        </p:blipFill>
        <p:spPr>
          <a:xfrm>
            <a:off x="6206836" y="0"/>
            <a:ext cx="293102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0AA3751D-9DA2-3011-B375-81F013211B3C}"/>
            </a:ext>
          </a:extLst>
        </p:cNvPr>
        <p:cNvGrpSpPr/>
        <p:nvPr/>
      </p:nvGrpSpPr>
      <p:grpSpPr>
        <a:xfrm>
          <a:off x="0" y="0"/>
          <a:ext cx="0" cy="0"/>
          <a:chOff x="0" y="0"/>
          <a:chExt cx="0" cy="0"/>
        </a:xfrm>
      </p:grpSpPr>
      <p:sp>
        <p:nvSpPr>
          <p:cNvPr id="2" name="BgRect"/>
          <p:cNvSpPr/>
          <p:nvPr/>
        </p:nvSpPr>
        <p:spPr>
          <a:xfrm>
            <a:off x="0" y="0"/>
            <a:ext cx="9144000" cy="5143500"/>
          </a:xfrm>
          <a:prstGeom prst="rect">
            <a:avLst/>
          </a:prstGeom>
          <a:solidFill>
            <a:srgbClr val="0072BC"/>
          </a:solidFill>
          <a:ln>
            <a:noFill/>
          </a:ln>
        </p:spPr>
        <p:txBody>
          <a:bodyPr/>
          <a:lstStyle/>
          <a:p>
            <a:endParaRPr lang="es-CO" dirty="0"/>
          </a:p>
        </p:txBody>
      </p:sp>
      <p:sp>
        <p:nvSpPr>
          <p:cNvPr id="10" name="Title"/>
          <p:cNvSpPr txBox="1"/>
          <p:nvPr/>
        </p:nvSpPr>
        <p:spPr>
          <a:xfrm>
            <a:off x="359550" y="250000"/>
            <a:ext cx="5000000" cy="350000"/>
          </a:xfrm>
          <a:prstGeom prst="rect">
            <a:avLst/>
          </a:prstGeom>
          <a:noFill/>
        </p:spPr>
        <p:txBody>
          <a:bodyPr wrap="square" lIns="91425" tIns="45713" rIns="91425" bIns="45713" anchor="b"/>
          <a:lstStyle/>
          <a:p>
            <a:pPr algn="l"/>
            <a:r>
              <a:rPr lang="es" sz="1800" b="1">
                <a:solidFill>
                  <a:schemeClr val="bg1"/>
                </a:solidFill>
                <a:latin typeface="Reddit Sans" pitchFamily="2" charset="0"/>
                <a:ea typeface="Reddit Sans" pitchFamily="2" charset="0"/>
              </a:rPr>
              <a:t>Estructura del Equipo</a:t>
            </a:r>
          </a:p>
        </p:txBody>
      </p:sp>
      <p:cxnSp>
        <p:nvCxnSpPr>
          <p:cNvPr id="11" name="Line"/>
          <p:cNvCxnSpPr/>
          <p:nvPr/>
        </p:nvCxnSpPr>
        <p:spPr>
          <a:xfrm>
            <a:off x="442269" y="620000"/>
            <a:ext cx="8103300" cy="0"/>
          </a:xfrm>
          <a:prstGeom prst="straightConnector1">
            <a:avLst/>
          </a:prstGeom>
          <a:noFill/>
          <a:ln w="19050" cap="flat" cmpd="sng">
            <a:solidFill>
              <a:srgbClr val="0E337C"/>
            </a:solidFill>
            <a:prstDash val="solid"/>
            <a:round/>
            <a:headEnd type="none" w="sm" len="sm"/>
            <a:tailEnd type="none" w="sm" len="sm"/>
          </a:ln>
        </p:spPr>
      </p:cxnSp>
      <p:sp>
        <p:nvSpPr>
          <p:cNvPr id="20" name="Card1"/>
          <p:cNvSpPr/>
          <p:nvPr/>
        </p:nvSpPr>
        <p:spPr>
          <a:xfrm>
            <a:off x="672000" y="830000"/>
            <a:ext cx="7800000" cy="900000"/>
          </a:xfrm>
          <a:prstGeom prst="roundRect">
            <a:avLst>
              <a:gd name="adj" fmla="val 12000"/>
            </a:avLst>
          </a:prstGeom>
          <a:solidFill>
            <a:srgbClr val="FFFFFF">
              <a:alpha val="12000"/>
            </a:srgbClr>
          </a:solidFill>
          <a:ln>
            <a:noFill/>
          </a:ln>
        </p:spPr>
        <p:txBody>
          <a:bodyPr/>
          <a:lstStyle/>
          <a:p>
            <a:endParaRPr lang="es-CO"/>
          </a:p>
        </p:txBody>
      </p:sp>
      <p:sp>
        <p:nvSpPr>
          <p:cNvPr id="21" name="Num1"/>
          <p:cNvSpPr/>
          <p:nvPr/>
        </p:nvSpPr>
        <p:spPr>
          <a:xfrm>
            <a:off x="900000" y="1020000"/>
            <a:ext cx="420000" cy="420000"/>
          </a:xfrm>
          <a:prstGeom prst="ellipse">
            <a:avLst/>
          </a:prstGeom>
          <a:solidFill>
            <a:srgbClr val="FFFFFF"/>
          </a:solidFill>
          <a:ln>
            <a:noFill/>
          </a:ln>
        </p:spPr>
        <p:txBody>
          <a:bodyPr wrap="square" lIns="0" tIns="0" rIns="0" bIns="0" anchor="ctr"/>
          <a:lstStyle/>
          <a:p>
            <a:pPr algn="ctr"/>
            <a:r>
              <a:rPr lang="es" sz="1600" b="1">
                <a:solidFill>
                  <a:srgbClr val="0E337C"/>
                </a:solidFill>
                <a:latin typeface="Reddit Sans" pitchFamily="2" charset="0"/>
              </a:rPr>
              <a:t>1</a:t>
            </a:r>
          </a:p>
        </p:txBody>
      </p:sp>
      <p:sp>
        <p:nvSpPr>
          <p:cNvPr id="22" name="Label1"/>
          <p:cNvSpPr txBox="1"/>
          <p:nvPr/>
        </p:nvSpPr>
        <p:spPr>
          <a:xfrm>
            <a:off x="1450000" y="1000000"/>
            <a:ext cx="2600000" cy="460000"/>
          </a:xfrm>
          <a:prstGeom prst="rect">
            <a:avLst/>
          </a:prstGeom>
          <a:noFill/>
        </p:spPr>
        <p:txBody>
          <a:bodyPr wrap="square" lIns="91425" tIns="45713" rIns="91425" bIns="45713" anchor="ctr"/>
          <a:lstStyle/>
          <a:p>
            <a:pPr algn="l"/>
            <a:r>
              <a:rPr lang="es" sz="2000" b="1">
                <a:solidFill>
                  <a:schemeClr val="bg1"/>
                </a:solidFill>
                <a:latin typeface="Reddit Sans" pitchFamily="2" charset="0"/>
              </a:rPr>
              <a:t>Cliente</a:t>
            </a:r>
          </a:p>
        </p:txBody>
      </p:sp>
      <p:sp>
        <p:nvSpPr>
          <p:cNvPr id="23" name="Arrow1"/>
          <p:cNvSpPr/>
          <p:nvPr/>
        </p:nvSpPr>
        <p:spPr>
          <a:xfrm>
            <a:off x="4100000" y="1130000"/>
            <a:ext cx="500000" cy="200000"/>
          </a:xfrm>
          <a:prstGeom prst="rightArrow">
            <a:avLst>
              <a:gd name="adj1" fmla="val 50000"/>
              <a:gd name="adj2" fmla="val 50000"/>
            </a:avLst>
          </a:prstGeom>
          <a:solidFill>
            <a:srgbClr val="FFFFFF">
              <a:alpha val="40000"/>
            </a:srgbClr>
          </a:solidFill>
          <a:ln>
            <a:noFill/>
          </a:ln>
        </p:spPr>
        <p:txBody>
          <a:bodyPr/>
          <a:lstStyle/>
          <a:p>
            <a:endParaRPr lang="es-CO"/>
          </a:p>
        </p:txBody>
      </p:sp>
      <p:sp>
        <p:nvSpPr>
          <p:cNvPr id="24" name="Badge1"/>
          <p:cNvSpPr/>
          <p:nvPr/>
        </p:nvSpPr>
        <p:spPr>
          <a:xfrm>
            <a:off x="5000000" y="1010000"/>
            <a:ext cx="3100000" cy="440000"/>
          </a:xfrm>
          <a:prstGeom prst="roundRect">
            <a:avLst>
              <a:gd name="adj" fmla="val 35000"/>
            </a:avLst>
          </a:prstGeom>
          <a:solidFill>
            <a:srgbClr val="FFFFFF"/>
          </a:solidFill>
          <a:ln>
            <a:noFill/>
          </a:ln>
        </p:spPr>
        <p:txBody>
          <a:bodyPr wrap="square" lIns="91425" tIns="45713" rIns="91425" bIns="45713" anchor="ctr"/>
          <a:lstStyle/>
          <a:p>
            <a:pPr algn="ctr"/>
            <a:r>
              <a:rPr lang="es" sz="1600" b="1">
                <a:solidFill>
                  <a:srgbClr val="0E337C"/>
                </a:solidFill>
                <a:latin typeface="Reddit Sans" pitchFamily="2" charset="0"/>
              </a:rPr>
              <a:t>Líder</a:t>
            </a:r>
          </a:p>
        </p:txBody>
      </p:sp>
      <p:cxnSp>
        <p:nvCxnSpPr>
          <p:cNvPr id="30" name="Conn1"/>
          <p:cNvCxnSpPr/>
          <p:nvPr/>
        </p:nvCxnSpPr>
        <p:spPr>
          <a:xfrm>
            <a:off x="4572000" y="1730000"/>
            <a:ext cx="0" cy="250000"/>
          </a:xfrm>
          <a:prstGeom prst="straightConnector1">
            <a:avLst/>
          </a:prstGeom>
          <a:ln w="19050">
            <a:solidFill>
              <a:srgbClr val="FFFFFF">
                <a:alpha val="50000"/>
              </a:srgbClr>
            </a:solidFill>
            <a:prstDash val="dash"/>
            <a:round/>
            <a:headEnd type="none" w="sm" len="sm"/>
            <a:tailEnd type="triangle" w="med" len="med"/>
          </a:ln>
        </p:spPr>
      </p:cxnSp>
      <p:sp>
        <p:nvSpPr>
          <p:cNvPr id="40" name="Card2"/>
          <p:cNvSpPr/>
          <p:nvPr/>
        </p:nvSpPr>
        <p:spPr>
          <a:xfrm>
            <a:off x="672000" y="1980000"/>
            <a:ext cx="7800000" cy="900000"/>
          </a:xfrm>
          <a:prstGeom prst="roundRect">
            <a:avLst>
              <a:gd name="adj" fmla="val 12000"/>
            </a:avLst>
          </a:prstGeom>
          <a:solidFill>
            <a:srgbClr val="FFFFFF">
              <a:alpha val="12000"/>
            </a:srgbClr>
          </a:solidFill>
          <a:ln>
            <a:noFill/>
          </a:ln>
        </p:spPr>
        <p:txBody>
          <a:bodyPr/>
          <a:lstStyle/>
          <a:p>
            <a:endParaRPr lang="es-CO"/>
          </a:p>
        </p:txBody>
      </p:sp>
      <p:sp>
        <p:nvSpPr>
          <p:cNvPr id="41" name="Num2"/>
          <p:cNvSpPr/>
          <p:nvPr/>
        </p:nvSpPr>
        <p:spPr>
          <a:xfrm>
            <a:off x="900000" y="2200000"/>
            <a:ext cx="420000" cy="420000"/>
          </a:xfrm>
          <a:prstGeom prst="ellipse">
            <a:avLst/>
          </a:prstGeom>
          <a:solidFill>
            <a:srgbClr val="FFFFFF"/>
          </a:solidFill>
          <a:ln>
            <a:noFill/>
          </a:ln>
        </p:spPr>
        <p:txBody>
          <a:bodyPr wrap="square" lIns="0" tIns="0" rIns="0" bIns="0" anchor="ctr"/>
          <a:lstStyle/>
          <a:p>
            <a:pPr algn="ctr"/>
            <a:r>
              <a:rPr lang="es" sz="1600" b="1">
                <a:solidFill>
                  <a:srgbClr val="0E337C"/>
                </a:solidFill>
                <a:latin typeface="Reddit Sans" pitchFamily="2" charset="0"/>
              </a:rPr>
              <a:t>2</a:t>
            </a:r>
          </a:p>
        </p:txBody>
      </p:sp>
      <p:sp>
        <p:nvSpPr>
          <p:cNvPr id="42" name="Label2"/>
          <p:cNvSpPr txBox="1"/>
          <p:nvPr/>
        </p:nvSpPr>
        <p:spPr>
          <a:xfrm>
            <a:off x="1450000" y="2180000"/>
            <a:ext cx="2600000" cy="460000"/>
          </a:xfrm>
          <a:prstGeom prst="rect">
            <a:avLst/>
          </a:prstGeom>
          <a:noFill/>
        </p:spPr>
        <p:txBody>
          <a:bodyPr wrap="square" lIns="91425" tIns="45713" rIns="91425" bIns="45713" anchor="ctr"/>
          <a:lstStyle/>
          <a:p>
            <a:pPr algn="l"/>
            <a:r>
              <a:rPr lang="es" sz="2000" b="1">
                <a:solidFill>
                  <a:schemeClr val="bg1"/>
                </a:solidFill>
                <a:latin typeface="Reddit Sans" pitchFamily="2" charset="0"/>
              </a:rPr>
              <a:t>Personalsoft</a:t>
            </a:r>
          </a:p>
        </p:txBody>
      </p:sp>
      <p:sp>
        <p:nvSpPr>
          <p:cNvPr id="43" name="Arrow2"/>
          <p:cNvSpPr/>
          <p:nvPr/>
        </p:nvSpPr>
        <p:spPr>
          <a:xfrm>
            <a:off x="4100000" y="2310000"/>
            <a:ext cx="500000" cy="200000"/>
          </a:xfrm>
          <a:prstGeom prst="rightArrow">
            <a:avLst>
              <a:gd name="adj1" fmla="val 50000"/>
              <a:gd name="adj2" fmla="val 50000"/>
            </a:avLst>
          </a:prstGeom>
          <a:solidFill>
            <a:srgbClr val="FFFFFF">
              <a:alpha val="40000"/>
            </a:srgbClr>
          </a:solidFill>
          <a:ln>
            <a:noFill/>
          </a:ln>
        </p:spPr>
        <p:txBody>
          <a:bodyPr/>
          <a:lstStyle/>
          <a:p>
            <a:endParaRPr lang="es-CO"/>
          </a:p>
        </p:txBody>
      </p:sp>
      <p:sp>
        <p:nvSpPr>
          <p:cNvPr id="44" name="Badge2"/>
          <p:cNvSpPr/>
          <p:nvPr/>
        </p:nvSpPr>
        <p:spPr>
          <a:xfrm>
            <a:off x="5000000" y="2190000"/>
            <a:ext cx="3100000" cy="440000"/>
          </a:xfrm>
          <a:prstGeom prst="roundRect">
            <a:avLst>
              <a:gd name="adj" fmla="val 35000"/>
            </a:avLst>
          </a:prstGeom>
          <a:solidFill>
            <a:srgbClr val="FFFFFF"/>
          </a:solidFill>
          <a:ln>
            <a:noFill/>
          </a:ln>
        </p:spPr>
        <p:txBody>
          <a:bodyPr wrap="square" lIns="91425" tIns="45713" rIns="91425" bIns="45713" anchor="ctr"/>
          <a:lstStyle/>
          <a:p>
            <a:pPr algn="ctr"/>
            <a:r>
              <a:rPr lang="es" sz="1600" b="1">
                <a:solidFill>
                  <a:srgbClr val="0E337C"/>
                </a:solidFill>
                <a:latin typeface="Reddit Sans" pitchFamily="2" charset="0"/>
              </a:rPr>
              <a:t>Service Manager</a:t>
            </a:r>
          </a:p>
        </p:txBody>
      </p:sp>
      <p:cxnSp>
        <p:nvCxnSpPr>
          <p:cNvPr id="50" name="Conn2"/>
          <p:cNvCxnSpPr/>
          <p:nvPr/>
        </p:nvCxnSpPr>
        <p:spPr>
          <a:xfrm>
            <a:off x="4572000" y="2880000"/>
            <a:ext cx="0" cy="250000"/>
          </a:xfrm>
          <a:prstGeom prst="straightConnector1">
            <a:avLst/>
          </a:prstGeom>
          <a:ln w="19050">
            <a:solidFill>
              <a:srgbClr val="FFFFFF">
                <a:alpha val="50000"/>
              </a:srgbClr>
            </a:solidFill>
            <a:prstDash val="dash"/>
            <a:round/>
            <a:headEnd type="none" w="sm" len="sm"/>
            <a:tailEnd type="triangle" w="med" len="med"/>
          </a:ln>
        </p:spPr>
      </p:cxnSp>
      <p:sp>
        <p:nvSpPr>
          <p:cNvPr id="60" name="Card3"/>
          <p:cNvSpPr/>
          <p:nvPr/>
        </p:nvSpPr>
        <p:spPr>
          <a:xfrm>
            <a:off x="672000" y="3130000"/>
            <a:ext cx="7800000" cy="980000"/>
          </a:xfrm>
          <a:prstGeom prst="roundRect">
            <a:avLst>
              <a:gd name="adj" fmla="val 12000"/>
            </a:avLst>
          </a:prstGeom>
          <a:solidFill>
            <a:srgbClr val="FFFFFF">
              <a:alpha val="12000"/>
            </a:srgbClr>
          </a:solidFill>
          <a:ln>
            <a:noFill/>
          </a:ln>
        </p:spPr>
        <p:txBody>
          <a:bodyPr/>
          <a:lstStyle/>
          <a:p>
            <a:endParaRPr lang="es-CO"/>
          </a:p>
        </p:txBody>
      </p:sp>
      <p:sp>
        <p:nvSpPr>
          <p:cNvPr id="61" name="Num3"/>
          <p:cNvSpPr/>
          <p:nvPr/>
        </p:nvSpPr>
        <p:spPr>
          <a:xfrm>
            <a:off x="900000" y="3400000"/>
            <a:ext cx="420000" cy="420000"/>
          </a:xfrm>
          <a:prstGeom prst="ellipse">
            <a:avLst/>
          </a:prstGeom>
          <a:solidFill>
            <a:srgbClr val="FFFFFF"/>
          </a:solidFill>
          <a:ln>
            <a:noFill/>
          </a:ln>
        </p:spPr>
        <p:txBody>
          <a:bodyPr wrap="square" lIns="0" tIns="0" rIns="0" bIns="0" anchor="ctr"/>
          <a:lstStyle/>
          <a:p>
            <a:pPr algn="ctr"/>
            <a:r>
              <a:rPr lang="es" sz="1600" b="1">
                <a:solidFill>
                  <a:srgbClr val="0E337C"/>
                </a:solidFill>
                <a:latin typeface="Reddit Sans" pitchFamily="2" charset="0"/>
              </a:rPr>
              <a:t>3</a:t>
            </a:r>
          </a:p>
        </p:txBody>
      </p:sp>
      <p:sp>
        <p:nvSpPr>
          <p:cNvPr id="62" name="Label3"/>
          <p:cNvSpPr txBox="1"/>
          <p:nvPr/>
        </p:nvSpPr>
        <p:spPr>
          <a:xfrm>
            <a:off x="1450000" y="3250000"/>
            <a:ext cx="2600000" cy="460000"/>
          </a:xfrm>
          <a:prstGeom prst="rect">
            <a:avLst/>
          </a:prstGeom>
          <a:noFill/>
        </p:spPr>
        <p:txBody>
          <a:bodyPr wrap="square" lIns="91425" tIns="45713" rIns="91425" bIns="45713" anchor="ctr"/>
          <a:lstStyle/>
          <a:p>
            <a:pPr algn="l"/>
            <a:r>
              <a:rPr lang="es" sz="1800" b="1">
                <a:solidFill>
                  <a:schemeClr val="bg1"/>
                </a:solidFill>
                <a:latin typeface="Reddit Sans" pitchFamily="2" charset="0"/>
              </a:rPr>
              <a:t>Equipo de Soporte</a:t>
            </a:r>
          </a:p>
        </p:txBody>
      </p:sp>
      <p:sp>
        <p:nvSpPr>
          <p:cNvPr id="63" name="Arrow3"/>
          <p:cNvSpPr/>
          <p:nvPr/>
        </p:nvSpPr>
        <p:spPr>
          <a:xfrm>
            <a:off x="4100000" y="3520000"/>
            <a:ext cx="500000" cy="200000"/>
          </a:xfrm>
          <a:prstGeom prst="rightArrow">
            <a:avLst>
              <a:gd name="adj1" fmla="val 50000"/>
              <a:gd name="adj2" fmla="val 50000"/>
            </a:avLst>
          </a:prstGeom>
          <a:solidFill>
            <a:srgbClr val="FFFFFF">
              <a:alpha val="40000"/>
            </a:srgbClr>
          </a:solidFill>
          <a:ln>
            <a:noFill/>
          </a:ln>
        </p:spPr>
        <p:txBody>
          <a:bodyPr/>
          <a:lstStyle/>
          <a:p>
            <a:endParaRPr lang="es-CO"/>
          </a:p>
        </p:txBody>
      </p:sp>
      <p:sp>
        <p:nvSpPr>
          <p:cNvPr id="64" name="Badge3a"/>
          <p:cNvSpPr/>
          <p:nvPr/>
        </p:nvSpPr>
        <p:spPr>
          <a:xfrm>
            <a:off x="5000000" y="3230000"/>
            <a:ext cx="3100000" cy="380000"/>
          </a:xfrm>
          <a:prstGeom prst="roundRect">
            <a:avLst>
              <a:gd name="adj" fmla="val 35000"/>
            </a:avLst>
          </a:prstGeom>
          <a:solidFill>
            <a:srgbClr val="FFFFFF"/>
          </a:solidFill>
          <a:ln>
            <a:noFill/>
          </a:ln>
        </p:spPr>
        <p:txBody>
          <a:bodyPr wrap="square" lIns="91425" tIns="45713" rIns="91425" bIns="45713" anchor="ctr"/>
          <a:lstStyle/>
          <a:p>
            <a:pPr algn="ctr"/>
            <a:r>
              <a:rPr lang="es" sz="1400" b="1">
                <a:solidFill>
                  <a:srgbClr val="0E337C"/>
                </a:solidFill>
                <a:latin typeface="Reddit Sans" pitchFamily="2" charset="0"/>
              </a:rPr>
              <a:t>Líder Técnico</a:t>
            </a:r>
          </a:p>
        </p:txBody>
      </p:sp>
      <p:sp>
        <p:nvSpPr>
          <p:cNvPr id="65" name="Badge3b"/>
          <p:cNvSpPr/>
          <p:nvPr/>
        </p:nvSpPr>
        <p:spPr>
          <a:xfrm>
            <a:off x="5000000" y="3680000"/>
            <a:ext cx="3100000" cy="380000"/>
          </a:xfrm>
          <a:prstGeom prst="roundRect">
            <a:avLst>
              <a:gd name="adj" fmla="val 35000"/>
            </a:avLst>
          </a:prstGeom>
          <a:solidFill>
            <a:srgbClr val="FFFFFF"/>
          </a:solidFill>
          <a:ln>
            <a:noFill/>
          </a:ln>
        </p:spPr>
        <p:txBody>
          <a:bodyPr wrap="square" lIns="91425" tIns="45713" rIns="91425" bIns="45713" anchor="ctr"/>
          <a:lstStyle/>
          <a:p>
            <a:pPr algn="ctr"/>
            <a:r>
              <a:rPr lang="es" sz="1400" b="1">
                <a:solidFill>
                  <a:srgbClr val="0E337C"/>
                </a:solidFill>
                <a:latin typeface="Reddit Sans" pitchFamily="2" charset="0"/>
              </a:rPr>
              <a:t>Analistas de Soporte</a:t>
            </a:r>
          </a:p>
        </p:txBody>
      </p:sp>
      <p:sp>
        <p:nvSpPr>
          <p:cNvPr id="70" name="Tagline"/>
          <p:cNvSpPr txBox="1"/>
          <p:nvPr/>
        </p:nvSpPr>
        <p:spPr>
          <a:xfrm>
            <a:off x="672000" y="4200000"/>
            <a:ext cx="7800000" cy="400000"/>
          </a:xfrm>
          <a:prstGeom prst="rect">
            <a:avLst/>
          </a:prstGeom>
          <a:noFill/>
        </p:spPr>
        <p:txBody>
          <a:bodyPr wrap="square" lIns="91425" tIns="45713" rIns="91425" bIns="45713" anchor="ctr"/>
          <a:lstStyle/>
          <a:p>
            <a:pPr algn="ctr"/>
            <a:r>
              <a:rPr lang="es" sz="1200" i="1">
                <a:solidFill>
                  <a:schemeClr val="bg1">
                    <a:alpha val="70000"/>
                  </a:schemeClr>
                </a:solidFill>
                <a:latin typeface="Reddit Sans" pitchFamily="2" charset="0"/>
              </a:rPr>
              <a:t>Modelo operativo orientado a la continuidad y excelencia del servicio</a:t>
            </a:r>
          </a:p>
        </p:txBody>
      </p:sp>
      <p:sp>
        <p:nvSpPr>
          <p:cNvPr id="171" name="Google Shape;171;g3657f5ba65c_1_37">
            <a:extLst>
              <a:ext uri="{FF2B5EF4-FFF2-40B4-BE49-F238E27FC236}">
                <a16:creationId xmlns:a16="http://schemas.microsoft.com/office/drawing/2014/main" id="{7F18E94A-40C9-FFE3-1F46-EFABD7DD4EBD}"/>
              </a:ext>
            </a:extLst>
          </p:cNvPr>
          <p:cNvSpPr txBox="1">
            <a:spLocks noGrp="1"/>
          </p:cNvSpPr>
          <p:nvPr>
            <p:ph type="body" idx="1"/>
          </p:nvPr>
        </p:nvSpPr>
        <p:spPr>
          <a:xfrm>
            <a:off x="103496" y="438761"/>
            <a:ext cx="8430903" cy="345590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556249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E995F8D-32B0-8B98-91D6-8FCEF31B0F05}"/>
            </a:ext>
          </a:extLst>
        </p:cNvPr>
        <p:cNvGrpSpPr/>
        <p:nvPr/>
      </p:nvGrpSpPr>
      <p:grpSpPr>
        <a:xfrm>
          <a:off x="0" y="0"/>
          <a:ext cx="0" cy="0"/>
          <a:chOff x="0" y="0"/>
          <a:chExt cx="0" cy="0"/>
        </a:xfrm>
      </p:grpSpPr>
      <p:sp>
        <p:nvSpPr>
          <p:cNvPr id="145" name="Google Shape;145;p5">
            <a:extLst>
              <a:ext uri="{FF2B5EF4-FFF2-40B4-BE49-F238E27FC236}">
                <a16:creationId xmlns:a16="http://schemas.microsoft.com/office/drawing/2014/main" id="{25ED6D7C-8CD3-E739-B7F5-FD7EF6B4A6F6}"/>
              </a:ext>
            </a:extLst>
          </p:cNvPr>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a:bodyPr>
          <a:lstStyle/>
          <a:p>
            <a:pPr marL="139700" indent="0" algn="just">
              <a:buNone/>
            </a:pPr>
            <a:r>
              <a:rPr lang="es-CO" sz="1300" dirty="0">
                <a:solidFill>
                  <a:schemeClr val="dk1"/>
                </a:solidFill>
              </a:rPr>
              <a:t>En nuestro equipo de soporte, identificamos los </a:t>
            </a:r>
            <a:r>
              <a:rPr lang="es-CO" sz="1300" b="1" dirty="0">
                <a:solidFill>
                  <a:schemeClr val="dk1"/>
                </a:solidFill>
              </a:rPr>
              <a:t>top tendencias </a:t>
            </a:r>
            <a:r>
              <a:rPr lang="es-CO" sz="1300" dirty="0">
                <a:solidFill>
                  <a:schemeClr val="dk1"/>
                </a:solidFill>
              </a:rPr>
              <a:t>como aquellos eventos que se presentan de manera recurrente y que pueden generar impacto en la operación. Por ejemplo, cuando un proceso falla en múltiples ocasiones, lo clasificamos como una tendencia clave, lo que nos permite agrupar eventos, analizarlos en profundidad y dar un juicio experto.</a:t>
            </a:r>
          </a:p>
        </p:txBody>
      </p:sp>
      <p:sp>
        <p:nvSpPr>
          <p:cNvPr id="146" name="Google Shape;146;p5">
            <a:extLst>
              <a:ext uri="{FF2B5EF4-FFF2-40B4-BE49-F238E27FC236}">
                <a16:creationId xmlns:a16="http://schemas.microsoft.com/office/drawing/2014/main" id="{A9BFE684-9B8D-3232-C66B-3CF49B5816BF}"/>
              </a:ext>
            </a:extLst>
          </p:cNvPr>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000"/>
              <a:buNone/>
            </a:pPr>
            <a:r>
              <a:rPr lang="es" dirty="0"/>
              <a:t>Top Tendencias</a:t>
            </a:r>
            <a:endParaRPr dirty="0"/>
          </a:p>
        </p:txBody>
      </p:sp>
      <p:cxnSp>
        <p:nvCxnSpPr>
          <p:cNvPr id="147" name="Google Shape;147;p5">
            <a:extLst>
              <a:ext uri="{FF2B5EF4-FFF2-40B4-BE49-F238E27FC236}">
                <a16:creationId xmlns:a16="http://schemas.microsoft.com/office/drawing/2014/main" id="{C613B772-AE9E-BFF4-4CBE-3FDC366582F3}"/>
              </a:ext>
            </a:extLst>
          </p:cNvPr>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extLst>
      <p:ext uri="{BB962C8B-B14F-4D97-AF65-F5344CB8AC3E}">
        <p14:creationId xmlns:p14="http://schemas.microsoft.com/office/powerpoint/2010/main" val="2491583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a:solidFill>
                  <a:schemeClr val="bg1"/>
                </a:solidFill>
                <a:latin typeface="Reddit Sans" pitchFamily="2" charset="0"/>
                <a:ea typeface="Reddit Sans" pitchFamily="2" charset="0"/>
                <a:cs typeface="Reddit Sans Medium"/>
                <a:sym typeface="Reddit Sans Medium"/>
              </a:rPr>
              <a:t>Casos de Éxito</a:t>
            </a:r>
            <a:endParaRPr>
              <a:solidFill>
                <a:schemeClr val="bg1"/>
              </a:solidFill>
              <a:latin typeface="Reddit Sans" pitchFamily="2" charset="0"/>
              <a:ea typeface="Reddit Sans" pitchFamily="2" charset="0"/>
            </a:endParaRPr>
          </a:p>
        </p:txBody>
      </p:sp>
      <p:sp>
        <p:nvSpPr>
          <p:cNvPr id="145" name="Google Shape;145;p5"/>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fontScale="92500" lnSpcReduction="20000"/>
          </a:bodyPr>
          <a:lstStyle/>
          <a:p>
            <a:pPr algn="just"/>
            <a:r>
              <a:rPr lang="es-CO" sz="1100">
                <a:solidFill>
                  <a:schemeClr val="dk1"/>
                </a:solidFill>
              </a:rPr>
              <a:t>Reducción de la carga operativa en los standby designados, permitiéndoles enfocarse en actividades de desarrollo y en la resolución de problemas de mayor complejidad.</a:t>
            </a:r>
          </a:p>
          <a:p>
            <a:pPr algn="just"/>
            <a:r>
              <a:rPr lang="es-CO" sz="1100">
                <a:solidFill>
                  <a:schemeClr val="dk1"/>
                </a:solidFill>
              </a:rPr>
              <a:t>Incremento significativo en la cantidad de incidentes atendidos por el canal, gracias al escalamiento oportuno de tendencias detectadas.</a:t>
            </a:r>
          </a:p>
          <a:p>
            <a:pPr algn="just"/>
            <a:r>
              <a:rPr lang="es-CO" sz="1100">
                <a:solidFill>
                  <a:schemeClr val="dk1"/>
                </a:solidFill>
              </a:rPr>
              <a:t>Generación de informes que facilitaron la toma de acciones tempranas para prevenir afectaciones futuras.</a:t>
            </a:r>
          </a:p>
          <a:p>
            <a:pPr algn="just"/>
            <a:r>
              <a:rPr lang="es-CO" sz="1100">
                <a:solidFill>
                  <a:schemeClr val="dk1"/>
                </a:solidFill>
              </a:rPr>
              <a:t>Optimización en la gestión y cierre de casos: al ser un equipo transversal dentro de la EVC, se agilizó la revisión de situaciones que impactaban otras áreas, mejorando la coordinación y la resolución integral.</a:t>
            </a:r>
          </a:p>
          <a:p>
            <a:pPr algn="just"/>
            <a:r>
              <a:rPr lang="es-CO" sz="1100">
                <a:solidFill>
                  <a:schemeClr val="dk1"/>
                </a:solidFill>
              </a:rPr>
              <a:t>Reducción del contacto con segundo nivel: atendemos entre 2.300 y 3.000 eventos e incidentes mensuales, escalando solo entre el 5% y el 8% de los casos, lo que representa una resolución superior al 90% y libera tiempo para que cada Línea de Conocimiento se dedique a sus propios desarrollos y pasos a producción.</a:t>
            </a:r>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SzPts val="4000"/>
              <a:buNone/>
            </a:pPr>
            <a:r>
              <a:rPr lang="es"/>
              <a:t>Impacto tangible en la operación.</a:t>
            </a:r>
            <a:endParaRPr/>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359550" y="404904"/>
            <a:ext cx="3964500" cy="283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Clr>
                <a:schemeClr val="dk1"/>
              </a:buClr>
              <a:buSzPct val="54999"/>
              <a:buFont typeface="Arial"/>
              <a:buNone/>
            </a:pPr>
            <a:r>
              <a:rPr lang="es" sz="1800">
                <a:solidFill>
                  <a:schemeClr val="bg1"/>
                </a:solidFill>
                <a:latin typeface="Reddit Sans" pitchFamily="2" charset="0"/>
                <a:ea typeface="Reddit Sans" pitchFamily="2" charset="0"/>
                <a:cs typeface="Reddit Sans Medium"/>
                <a:sym typeface="Reddit Sans Medium"/>
              </a:rPr>
              <a:t>Casos de Éxito</a:t>
            </a:r>
            <a:endParaRPr>
              <a:solidFill>
                <a:schemeClr val="bg1"/>
              </a:solidFill>
              <a:latin typeface="Reddit Sans" pitchFamily="2" charset="0"/>
              <a:ea typeface="Reddit Sans" pitchFamily="2" charset="0"/>
            </a:endParaRPr>
          </a:p>
        </p:txBody>
      </p:sp>
      <p:sp>
        <p:nvSpPr>
          <p:cNvPr id="145" name="Google Shape;145;p5"/>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a:bodyPr>
          <a:lstStyle/>
          <a:p>
            <a:pPr algn="just"/>
            <a:r>
              <a:rPr lang="es-CO" sz="1100">
                <a:solidFill>
                  <a:schemeClr val="dk1"/>
                </a:solidFill>
              </a:rPr>
              <a:t>Elaboración de tableros para visualizar y mejorar la gestión de todos los componentes transversales de la EVC.</a:t>
            </a:r>
          </a:p>
          <a:p>
            <a:pPr algn="just"/>
            <a:r>
              <a:rPr lang="es-CO" sz="1100">
                <a:solidFill>
                  <a:schemeClr val="dk1"/>
                </a:solidFill>
              </a:rPr>
              <a:t>Mejora significativa en la respuesta ante incidentes y escalamientos hacia los niveles 2 y 3 de la EVC.</a:t>
            </a:r>
          </a:p>
          <a:p>
            <a:pPr algn="just"/>
            <a:r>
              <a:rPr lang="es-CO" sz="1100">
                <a:solidFill>
                  <a:schemeClr val="dk1"/>
                </a:solidFill>
              </a:rPr>
              <a:t>Mejora continua en la atención de eventos e incidentes, manteniendo un SLA superior al 98%.</a:t>
            </a:r>
          </a:p>
          <a:p>
            <a:pPr algn="just"/>
            <a:r>
              <a:rPr lang="es-CO" sz="1100">
                <a:solidFill>
                  <a:schemeClr val="dk1"/>
                </a:solidFill>
              </a:rPr>
              <a:t>Generación de informe Power BI para la gestión de certificados, centralizando toda la información referente a los certificados del EVC.</a:t>
            </a:r>
          </a:p>
          <a:p>
            <a:pPr algn="just"/>
            <a:r>
              <a:rPr lang="es-CO" sz="1100" dirty="0">
                <a:solidFill>
                  <a:schemeClr val="dk1"/>
                </a:solidFill>
              </a:rPr>
              <a:t>Estandarización y lineamientos para las entregas de las </a:t>
            </a:r>
            <a:r>
              <a:rPr lang="es-CO" sz="1100" dirty="0" err="1">
                <a:solidFill>
                  <a:schemeClr val="dk1"/>
                </a:solidFill>
              </a:rPr>
              <a:t>APIs</a:t>
            </a:r>
            <a:r>
              <a:rPr lang="es-CO" sz="1100" dirty="0">
                <a:solidFill>
                  <a:schemeClr val="dk1"/>
                </a:solidFill>
              </a:rPr>
              <a:t> de la EVC, centralizando todas las entregas y el modelo de entrega.</a:t>
            </a:r>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000"/>
              <a:buNone/>
            </a:pPr>
            <a:r>
              <a:rPr lang="es"/>
              <a:t>Generación de valor continuo.</a:t>
            </a:r>
            <a:endParaRPr/>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180F90E4-A2CC-26BE-41C2-C8C0F26B15E6}"/>
            </a:ext>
          </a:extLst>
        </p:cNvPr>
        <p:cNvGrpSpPr/>
        <p:nvPr/>
      </p:nvGrpSpPr>
      <p:grpSpPr>
        <a:xfrm>
          <a:off x="0" y="0"/>
          <a:ext cx="0" cy="0"/>
          <a:chOff x="0" y="0"/>
          <a:chExt cx="0" cy="0"/>
        </a:xfrm>
      </p:grpSpPr>
      <p:sp>
        <p:nvSpPr>
          <p:cNvPr id="152" name="Google Shape;152;p8">
            <a:extLst>
              <a:ext uri="{FF2B5EF4-FFF2-40B4-BE49-F238E27FC236}">
                <a16:creationId xmlns:a16="http://schemas.microsoft.com/office/drawing/2014/main" id="{1B6D9AB5-D2BC-A093-45AD-ACE70461932F}"/>
              </a:ext>
            </a:extLst>
          </p:cNvPr>
          <p:cNvSpPr txBox="1">
            <a:spLocks noGrp="1"/>
          </p:cNvSpPr>
          <p:nvPr>
            <p:ph type="title"/>
          </p:nvPr>
        </p:nvSpPr>
        <p:spPr>
          <a:xfrm>
            <a:off x="348009" y="378118"/>
            <a:ext cx="2133934"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 dirty="0"/>
              <a:t>Equipos de Soporte</a:t>
            </a:r>
            <a:endParaRPr dirty="0"/>
          </a:p>
        </p:txBody>
      </p:sp>
      <p:cxnSp>
        <p:nvCxnSpPr>
          <p:cNvPr id="157" name="Google Shape;157;p8">
            <a:extLst>
              <a:ext uri="{FF2B5EF4-FFF2-40B4-BE49-F238E27FC236}">
                <a16:creationId xmlns:a16="http://schemas.microsoft.com/office/drawing/2014/main" id="{2EFC3CDB-FFBA-F21C-C82A-76A0F8F5D399}"/>
              </a:ext>
            </a:extLst>
          </p:cNvPr>
          <p:cNvCxnSpPr/>
          <p:nvPr/>
        </p:nvCxnSpPr>
        <p:spPr>
          <a:xfrm rot="10800000" flipH="1">
            <a:off x="408437" y="772355"/>
            <a:ext cx="8103300" cy="28800"/>
          </a:xfrm>
          <a:prstGeom prst="straightConnector1">
            <a:avLst/>
          </a:prstGeom>
          <a:noFill/>
          <a:ln w="19050" cap="flat" cmpd="sng">
            <a:solidFill>
              <a:srgbClr val="0E337C"/>
            </a:solidFill>
            <a:prstDash val="solid"/>
            <a:round/>
            <a:headEnd type="none" w="sm" len="sm"/>
            <a:tailEnd type="none" w="sm" len="sm"/>
          </a:ln>
        </p:spPr>
      </p:cxnSp>
      <p:graphicFrame>
        <p:nvGraphicFramePr>
          <p:cNvPr id="2" name="Diagrama 1">
            <a:extLst>
              <a:ext uri="{FF2B5EF4-FFF2-40B4-BE49-F238E27FC236}">
                <a16:creationId xmlns:a16="http://schemas.microsoft.com/office/drawing/2014/main" id="{2CC52C55-045B-AFF7-7582-36DF12466424}"/>
              </a:ext>
            </a:extLst>
          </p:cNvPr>
          <p:cNvGraphicFramePr/>
          <p:nvPr>
            <p:extLst>
              <p:ext uri="{D42A27DB-BD31-4B8C-83A1-F6EECF244321}">
                <p14:modId xmlns:p14="http://schemas.microsoft.com/office/powerpoint/2010/main" val="2975585022"/>
              </p:ext>
            </p:extLst>
          </p:nvPr>
        </p:nvGraphicFramePr>
        <p:xfrm>
          <a:off x="0" y="901832"/>
          <a:ext cx="8655862" cy="4020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0322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348009" y="378118"/>
            <a:ext cx="2133934"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 dirty="0"/>
              <a:t>Informe del servicio</a:t>
            </a:r>
            <a:endParaRPr dirty="0"/>
          </a:p>
        </p:txBody>
      </p:sp>
      <p:cxnSp>
        <p:nvCxnSpPr>
          <p:cNvPr id="157" name="Google Shape;157;p8"/>
          <p:cNvCxnSpPr/>
          <p:nvPr/>
        </p:nvCxnSpPr>
        <p:spPr>
          <a:xfrm rot="10800000" flipH="1">
            <a:off x="408437" y="772355"/>
            <a:ext cx="8103300" cy="28800"/>
          </a:xfrm>
          <a:prstGeom prst="straightConnector1">
            <a:avLst/>
          </a:prstGeom>
          <a:noFill/>
          <a:ln w="19050" cap="flat" cmpd="sng">
            <a:solidFill>
              <a:srgbClr val="0E337C"/>
            </a:solidFill>
            <a:prstDash val="solid"/>
            <a:round/>
            <a:headEnd type="none" w="sm" len="sm"/>
            <a:tailEnd type="none" w="sm" len="sm"/>
          </a:ln>
        </p:spPr>
      </p:cxnSp>
      <p:pic>
        <p:nvPicPr>
          <p:cNvPr id="5" name="Imagen 4">
            <a:extLst>
              <a:ext uri="{FF2B5EF4-FFF2-40B4-BE49-F238E27FC236}">
                <a16:creationId xmlns:a16="http://schemas.microsoft.com/office/drawing/2014/main" id="{DEF978FE-2B4B-EEC0-2CB1-DD9783F1169D}"/>
              </a:ext>
            </a:extLst>
          </p:cNvPr>
          <p:cNvPicPr>
            <a:picLocks noChangeAspect="1"/>
          </p:cNvPicPr>
          <p:nvPr/>
        </p:nvPicPr>
        <p:blipFill>
          <a:blip r:embed="rId3"/>
          <a:stretch>
            <a:fillRect/>
          </a:stretch>
        </p:blipFill>
        <p:spPr>
          <a:xfrm>
            <a:off x="408437" y="872680"/>
            <a:ext cx="7511615" cy="379268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5"/>
          <p:cNvSpPr txBox="1">
            <a:spLocks noGrp="1"/>
          </p:cNvSpPr>
          <p:nvPr>
            <p:ph type="body" idx="1"/>
          </p:nvPr>
        </p:nvSpPr>
        <p:spPr>
          <a:xfrm>
            <a:off x="4771900" y="900000"/>
            <a:ext cx="3587400" cy="3400000"/>
          </a:xfrm>
          <a:prstGeom prst="rect">
            <a:avLst/>
          </a:prstGeom>
          <a:noFill/>
          <a:ln>
            <a:noFill/>
          </a:ln>
        </p:spPr>
        <p:txBody>
          <a:bodyPr spcFirstLastPara="1" wrap="square" lIns="91425" tIns="91425" rIns="91425" bIns="91425" anchor="ctr" anchorCtr="0">
            <a:normAutofit fontScale="85000" lnSpcReduction="20000"/>
          </a:bodyPr>
          <a:lstStyle/>
          <a:p>
            <a:pPr algn="l">
              <a:spcAft>
                <a:spcPts val="200"/>
              </a:spcAft>
              <a:buNone/>
            </a:pPr>
            <a:r>
              <a:rPr lang="es-CO" sz="1000" b="1" dirty="0">
                <a:solidFill>
                  <a:srgbClr val="0E337C"/>
                </a:solidFill>
              </a:rPr>
              <a:t>Eficiencia Operativa</a:t>
            </a:r>
          </a:p>
          <a:p>
            <a:pPr algn="l">
              <a:spcAft>
                <a:spcPts val="100"/>
              </a:spcAft>
              <a:buChar char="•"/>
            </a:pPr>
            <a:r>
              <a:rPr lang="es-CO" sz="900" dirty="0">
                <a:solidFill>
                  <a:schemeClr val="dk1"/>
                </a:solidFill>
              </a:rPr>
              <a:t>Reducción de carga en standby (escalamiento segundo nivel cliente), liberando tiempo para desarrollo y resolución de problemas complejos</a:t>
            </a:r>
          </a:p>
          <a:p>
            <a:pPr>
              <a:spcAft>
                <a:spcPts val="100"/>
              </a:spcAft>
              <a:buFont typeface="Reddit Sans"/>
              <a:buChar char="•"/>
            </a:pPr>
            <a:r>
              <a:rPr lang="es-CO" sz="900" dirty="0">
                <a:solidFill>
                  <a:schemeClr val="dk1"/>
                </a:solidFill>
              </a:rPr>
              <a:t>Gestión transversal que agilizó el cierre de casos y la coordinación entre áreas de la EVC</a:t>
            </a:r>
          </a:p>
          <a:p>
            <a:pPr algn="l">
              <a:spcAft>
                <a:spcPts val="100"/>
              </a:spcAft>
              <a:buChar char="•"/>
            </a:pPr>
            <a:r>
              <a:rPr lang="es-CO" sz="900" dirty="0">
                <a:solidFill>
                  <a:schemeClr val="dk1"/>
                </a:solidFill>
              </a:rPr>
              <a:t>+90% de resolución de casos en primer nivel (2.300–3.000 eventos/mes; solo 5–8% escalados)</a:t>
            </a:r>
          </a:p>
          <a:p>
            <a:pPr algn="l">
              <a:spcBef>
                <a:spcPts val="300"/>
              </a:spcBef>
              <a:spcAft>
                <a:spcPts val="200"/>
              </a:spcAft>
              <a:buNone/>
            </a:pPr>
            <a:r>
              <a:rPr lang="es-CO" sz="1000" b="1" dirty="0">
                <a:solidFill>
                  <a:srgbClr val="0E337C"/>
                </a:solidFill>
              </a:rPr>
              <a:t>Gestión de Incidentes y Reportes</a:t>
            </a:r>
          </a:p>
          <a:p>
            <a:pPr algn="l">
              <a:spcAft>
                <a:spcPts val="100"/>
              </a:spcAft>
              <a:buChar char="•"/>
            </a:pPr>
            <a:r>
              <a:rPr lang="es-CO" sz="900" dirty="0">
                <a:solidFill>
                  <a:schemeClr val="dk1"/>
                </a:solidFill>
              </a:rPr>
              <a:t>Mayor volumen de casos atendidos por detección oportuna de tendencias</a:t>
            </a:r>
          </a:p>
          <a:p>
            <a:pPr algn="l">
              <a:spcAft>
                <a:spcPts val="100"/>
              </a:spcAft>
              <a:buChar char="•"/>
            </a:pPr>
            <a:r>
              <a:rPr lang="es-CO" sz="900" dirty="0">
                <a:solidFill>
                  <a:schemeClr val="dk1"/>
                </a:solidFill>
              </a:rPr>
              <a:t>Informes de la operación para anticipar y mitigar riesgos futuros de la capacidad vs procesos entregados</a:t>
            </a:r>
          </a:p>
          <a:p>
            <a:pPr algn="l">
              <a:spcBef>
                <a:spcPts val="300"/>
              </a:spcBef>
              <a:spcAft>
                <a:spcPts val="200"/>
              </a:spcAft>
              <a:buNone/>
            </a:pPr>
            <a:r>
              <a:rPr lang="es-CO" sz="1000" b="1" dirty="0">
                <a:solidFill>
                  <a:srgbClr val="0E337C"/>
                </a:solidFill>
              </a:rPr>
              <a:t>Herramientas y Estandarización</a:t>
            </a:r>
          </a:p>
          <a:p>
            <a:pPr algn="l">
              <a:spcAft>
                <a:spcPts val="100"/>
              </a:spcAft>
              <a:buChar char="•"/>
            </a:pPr>
            <a:r>
              <a:rPr lang="es-CO" sz="900" dirty="0">
                <a:solidFill>
                  <a:schemeClr val="dk1"/>
                </a:solidFill>
              </a:rPr>
              <a:t>Tableros de gestión visual para componentes transversales de la EVC</a:t>
            </a:r>
          </a:p>
          <a:p>
            <a:pPr algn="l">
              <a:spcAft>
                <a:spcPts val="100"/>
              </a:spcAft>
              <a:buChar char="•"/>
            </a:pPr>
            <a:r>
              <a:rPr lang="es-CO" sz="900" dirty="0">
                <a:solidFill>
                  <a:schemeClr val="dk1"/>
                </a:solidFill>
              </a:rPr>
              <a:t>Informe Power BI centralizado para gestión de la renovación de certificados digitales de toda la EVC</a:t>
            </a:r>
          </a:p>
          <a:p>
            <a:pPr algn="l">
              <a:spcAft>
                <a:spcPts val="100"/>
              </a:spcAft>
              <a:buChar char="•"/>
            </a:pPr>
            <a:r>
              <a:rPr lang="es-CO" sz="900" dirty="0">
                <a:solidFill>
                  <a:schemeClr val="dk1"/>
                </a:solidFill>
              </a:rPr>
              <a:t>Estandarización del modelo de entrega de APIs con información centralizada</a:t>
            </a:r>
          </a:p>
          <a:p>
            <a:pPr algn="l">
              <a:spcBef>
                <a:spcPts val="300"/>
              </a:spcBef>
              <a:spcAft>
                <a:spcPts val="200"/>
              </a:spcAft>
              <a:buNone/>
            </a:pPr>
            <a:r>
              <a:rPr lang="es-CO" sz="1000" b="1" dirty="0">
                <a:solidFill>
                  <a:srgbClr val="0E337C"/>
                </a:solidFill>
              </a:rPr>
              <a:t>Evolución Tecnológica</a:t>
            </a:r>
          </a:p>
          <a:p>
            <a:pPr algn="l">
              <a:spcAft>
                <a:spcPts val="100"/>
              </a:spcAft>
              <a:buChar char="•"/>
            </a:pPr>
            <a:r>
              <a:rPr lang="es-CO" sz="900" dirty="0">
                <a:solidFill>
                  <a:schemeClr val="dk1"/>
                </a:solidFill>
              </a:rPr>
              <a:t>Acompañamiento en la evolución y cambio de arquitectura de </a:t>
            </a:r>
            <a:r>
              <a:rPr lang="es-CO" sz="900" dirty="0" err="1">
                <a:solidFill>
                  <a:schemeClr val="dk1"/>
                </a:solidFill>
              </a:rPr>
              <a:t>On</a:t>
            </a:r>
            <a:r>
              <a:rPr lang="es-CO" sz="900" dirty="0">
                <a:solidFill>
                  <a:schemeClr val="dk1"/>
                </a:solidFill>
              </a:rPr>
              <a:t>-Premise a Nube durante 9 años de servicio a las diferentes líneas de conocimiento</a:t>
            </a:r>
          </a:p>
        </p:txBody>
      </p:sp>
      <p:sp>
        <p:nvSpPr>
          <p:cNvPr id="146" name="Google Shape;146;p5"/>
          <p:cNvSpPr txBox="1">
            <a:spLocks noGrp="1"/>
          </p:cNvSpPr>
          <p:nvPr>
            <p:ph type="title" idx="2"/>
          </p:nvPr>
        </p:nvSpPr>
        <p:spPr>
          <a:xfrm>
            <a:off x="463050" y="1089100"/>
            <a:ext cx="3757500" cy="1939800"/>
          </a:xfrm>
          <a:prstGeom prst="rect">
            <a:avLst/>
          </a:prstGeom>
          <a:noFill/>
          <a:ln>
            <a:noFill/>
          </a:ln>
        </p:spPr>
        <p:txBody>
          <a:bodyPr spcFirstLastPara="1" wrap="square" lIns="91425" tIns="91425" rIns="91425" bIns="91425" anchor="b" anchorCtr="0">
            <a:normAutofit fontScale="90000"/>
          </a:bodyPr>
          <a:lstStyle/>
          <a:p>
            <a:pPr marL="0" lvl="0" indent="0" algn="l" rtl="0">
              <a:lnSpc>
                <a:spcPct val="100000"/>
              </a:lnSpc>
              <a:spcBef>
                <a:spcPts val="0"/>
              </a:spcBef>
              <a:spcAft>
                <a:spcPts val="0"/>
              </a:spcAft>
              <a:buSzPts val="4000"/>
              <a:buNone/>
            </a:pPr>
            <a:r>
              <a:rPr lang="es"/>
              <a:t>Casos de éxito en la operación.</a:t>
            </a:r>
            <a:endParaRPr/>
          </a:p>
        </p:txBody>
      </p:sp>
      <p:cxnSp>
        <p:nvCxnSpPr>
          <p:cNvPr id="147" name="Google Shape;147;p5"/>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6867208-4AF1-076C-9747-4AAC157CAD6D}"/>
            </a:ext>
          </a:extLst>
        </p:cNvPr>
        <p:cNvGrpSpPr/>
        <p:nvPr/>
      </p:nvGrpSpPr>
      <p:grpSpPr>
        <a:xfrm>
          <a:off x="0" y="0"/>
          <a:ext cx="0" cy="0"/>
          <a:chOff x="0" y="0"/>
          <a:chExt cx="0" cy="0"/>
        </a:xfrm>
      </p:grpSpPr>
      <p:sp>
        <p:nvSpPr>
          <p:cNvPr id="145" name="Google Shape;145;p5">
            <a:extLst>
              <a:ext uri="{FF2B5EF4-FFF2-40B4-BE49-F238E27FC236}">
                <a16:creationId xmlns:a16="http://schemas.microsoft.com/office/drawing/2014/main" id="{140BA3C7-9668-F356-1927-6CA7FAF7438C}"/>
              </a:ext>
            </a:extLst>
          </p:cNvPr>
          <p:cNvSpPr txBox="1">
            <a:spLocks noGrp="1"/>
          </p:cNvSpPr>
          <p:nvPr>
            <p:ph type="body" idx="1"/>
          </p:nvPr>
        </p:nvSpPr>
        <p:spPr>
          <a:xfrm>
            <a:off x="4758150" y="756287"/>
            <a:ext cx="3995990" cy="3914949"/>
          </a:xfrm>
          <a:prstGeom prst="rect">
            <a:avLst/>
          </a:prstGeom>
          <a:noFill/>
          <a:ln>
            <a:noFill/>
          </a:ln>
        </p:spPr>
        <p:txBody>
          <a:bodyPr spcFirstLastPara="1" wrap="square" lIns="91425" tIns="91425" rIns="91425" bIns="91425" anchor="ctr" anchorCtr="0">
            <a:noAutofit/>
          </a:bodyPr>
          <a:lstStyle/>
          <a:p>
            <a:pPr algn="l">
              <a:spcAft>
                <a:spcPts val="150"/>
              </a:spcAft>
              <a:buNone/>
            </a:pPr>
            <a:r>
              <a:rPr lang="es-CO" sz="1100" b="1" dirty="0">
                <a:solidFill>
                  <a:srgbClr val="C00000"/>
                </a:solidFill>
              </a:rPr>
              <a:t>ANTES</a:t>
            </a:r>
          </a:p>
          <a:p>
            <a:pPr algn="l">
              <a:spcAft>
                <a:spcPts val="80"/>
              </a:spcAft>
              <a:buChar char="•"/>
            </a:pPr>
            <a:r>
              <a:rPr lang="es-CO" sz="850" dirty="0">
                <a:solidFill>
                  <a:srgbClr val="222222"/>
                </a:solidFill>
              </a:rPr>
              <a:t>Standby (segundo nivel cliente)sobrecargados con tareas operativas básicas, sin tiempo para desarrollo ni problemas complejos</a:t>
            </a:r>
          </a:p>
          <a:p>
            <a:pPr algn="l">
              <a:spcAft>
                <a:spcPts val="80"/>
              </a:spcAft>
              <a:buChar char="•"/>
            </a:pPr>
            <a:r>
              <a:rPr lang="es-CO" sz="850" dirty="0">
                <a:solidFill>
                  <a:srgbClr val="222222"/>
                </a:solidFill>
              </a:rPr>
              <a:t>Alto volumen de escalamientos al segundo nivel por falta de filtro en primer contacto</a:t>
            </a:r>
          </a:p>
          <a:p>
            <a:pPr algn="l">
              <a:spcAft>
                <a:spcPts val="80"/>
              </a:spcAft>
              <a:buChar char="•"/>
            </a:pPr>
            <a:r>
              <a:rPr lang="es-CO" sz="850" dirty="0">
                <a:solidFill>
                  <a:srgbClr val="222222"/>
                </a:solidFill>
              </a:rPr>
              <a:t>Incidentes detectados de forma reactiva, sin análisis de tendencias ni prevención</a:t>
            </a:r>
          </a:p>
          <a:p>
            <a:pPr algn="l">
              <a:spcAft>
                <a:spcPts val="80"/>
              </a:spcAft>
              <a:buChar char="•"/>
            </a:pPr>
            <a:r>
              <a:rPr lang="es-CO" sz="850" dirty="0">
                <a:solidFill>
                  <a:srgbClr val="222222"/>
                </a:solidFill>
              </a:rPr>
              <a:t>Gestión de casos fragmentada entre áreas, sin coordinación transversal</a:t>
            </a:r>
          </a:p>
          <a:p>
            <a:pPr algn="l">
              <a:spcAft>
                <a:spcPts val="80"/>
              </a:spcAft>
              <a:buChar char="•"/>
            </a:pPr>
            <a:r>
              <a:rPr lang="es-CO" sz="850" dirty="0">
                <a:solidFill>
                  <a:srgbClr val="222222"/>
                </a:solidFill>
              </a:rPr>
              <a:t>Sin tableros ni informes centralizados</a:t>
            </a:r>
          </a:p>
          <a:p>
            <a:pPr algn="l">
              <a:spcAft>
                <a:spcPts val="80"/>
              </a:spcAft>
              <a:buChar char="•"/>
            </a:pPr>
            <a:r>
              <a:rPr lang="es-CO" sz="850" dirty="0">
                <a:solidFill>
                  <a:srgbClr val="222222"/>
                </a:solidFill>
              </a:rPr>
              <a:t>Arquitectura </a:t>
            </a:r>
            <a:r>
              <a:rPr lang="es-CO" sz="850" dirty="0" err="1">
                <a:solidFill>
                  <a:srgbClr val="222222"/>
                </a:solidFill>
              </a:rPr>
              <a:t>On</a:t>
            </a:r>
            <a:r>
              <a:rPr lang="es-CO" sz="850" dirty="0">
                <a:solidFill>
                  <a:srgbClr val="222222"/>
                </a:solidFill>
              </a:rPr>
              <a:t>-Premise sin hoja de ruta clara hacia la nube</a:t>
            </a:r>
          </a:p>
          <a:p>
            <a:pPr algn="l">
              <a:spcAft>
                <a:spcPts val="80"/>
              </a:spcAft>
              <a:buChar char="•"/>
            </a:pPr>
            <a:r>
              <a:rPr lang="es-CO" sz="850" dirty="0">
                <a:solidFill>
                  <a:srgbClr val="222222"/>
                </a:solidFill>
              </a:rPr>
              <a:t>Rotación del personal de los equipos de soporte (no reteníamos la gestión de conocimiento del servicio)</a:t>
            </a:r>
          </a:p>
          <a:p>
            <a:pPr algn="l">
              <a:spcBef>
                <a:spcPts val="350"/>
              </a:spcBef>
              <a:spcAft>
                <a:spcPts val="150"/>
              </a:spcAft>
              <a:buNone/>
            </a:pPr>
            <a:r>
              <a:rPr lang="es-CO" sz="1100" b="1" dirty="0">
                <a:solidFill>
                  <a:srgbClr val="0E337C"/>
                </a:solidFill>
              </a:rPr>
              <a:t>DESPUÉS</a:t>
            </a:r>
          </a:p>
          <a:p>
            <a:pPr algn="l">
              <a:spcAft>
                <a:spcPts val="80"/>
              </a:spcAft>
              <a:buChar char="•"/>
            </a:pPr>
            <a:r>
              <a:rPr lang="es-CO" sz="850" dirty="0">
                <a:solidFill>
                  <a:srgbClr val="222222"/>
                </a:solidFill>
              </a:rPr>
              <a:t>Standby enfocados en desarrollo y resolución de alta complejidad</a:t>
            </a:r>
          </a:p>
          <a:p>
            <a:pPr algn="l">
              <a:spcAft>
                <a:spcPts val="80"/>
              </a:spcAft>
              <a:buChar char="•"/>
            </a:pPr>
            <a:r>
              <a:rPr lang="es-CO" sz="850" dirty="0">
                <a:solidFill>
                  <a:srgbClr val="222222"/>
                </a:solidFill>
              </a:rPr>
              <a:t>Detección proactiva de tendencias con informes preventivos</a:t>
            </a:r>
          </a:p>
          <a:p>
            <a:pPr algn="l">
              <a:spcAft>
                <a:spcPts val="80"/>
              </a:spcAft>
              <a:buChar char="•"/>
            </a:pPr>
            <a:r>
              <a:rPr lang="es-CO" sz="850" dirty="0">
                <a:solidFill>
                  <a:srgbClr val="222222"/>
                </a:solidFill>
              </a:rPr>
              <a:t>Equipo transversal agiliza cierre de casos y coordinación integral entre áreas</a:t>
            </a:r>
          </a:p>
          <a:p>
            <a:pPr algn="l">
              <a:spcAft>
                <a:spcPts val="80"/>
              </a:spcAft>
              <a:buChar char="•"/>
            </a:pPr>
            <a:r>
              <a:rPr lang="es-CO" sz="850" dirty="0">
                <a:solidFill>
                  <a:srgbClr val="222222"/>
                </a:solidFill>
              </a:rPr>
              <a:t>Dashboards de gestión de la operación</a:t>
            </a:r>
          </a:p>
          <a:p>
            <a:pPr algn="l">
              <a:spcAft>
                <a:spcPts val="80"/>
              </a:spcAft>
              <a:buChar char="•"/>
            </a:pPr>
            <a:r>
              <a:rPr lang="es-CO" sz="850" dirty="0">
                <a:solidFill>
                  <a:srgbClr val="222222"/>
                </a:solidFill>
              </a:rPr>
              <a:t>9 años acompañando la migración de </a:t>
            </a:r>
            <a:r>
              <a:rPr lang="es-CO" sz="850" dirty="0" err="1">
                <a:solidFill>
                  <a:srgbClr val="222222"/>
                </a:solidFill>
              </a:rPr>
              <a:t>On</a:t>
            </a:r>
            <a:r>
              <a:rPr lang="es-CO" sz="850" dirty="0">
                <a:solidFill>
                  <a:srgbClr val="222222"/>
                </a:solidFill>
              </a:rPr>
              <a:t>-Premise a Nube en las líneas de conocimiento</a:t>
            </a:r>
          </a:p>
          <a:p>
            <a:pPr algn="l">
              <a:spcAft>
                <a:spcPts val="80"/>
              </a:spcAft>
              <a:buChar char="•"/>
            </a:pPr>
            <a:r>
              <a:rPr lang="es-CO" sz="850" dirty="0">
                <a:solidFill>
                  <a:srgbClr val="222222"/>
                </a:solidFill>
              </a:rPr>
              <a:t>Plan carrera que permito a los analistas mantener el conocimiento técnico del servicio y motivación a largo plazo.</a:t>
            </a:r>
          </a:p>
        </p:txBody>
      </p:sp>
      <p:sp>
        <p:nvSpPr>
          <p:cNvPr id="146" name="Google Shape;146;p5">
            <a:extLst>
              <a:ext uri="{FF2B5EF4-FFF2-40B4-BE49-F238E27FC236}">
                <a16:creationId xmlns:a16="http://schemas.microsoft.com/office/drawing/2014/main" id="{8BC4B116-AAA4-760B-D043-50CE0A36E9D5}"/>
              </a:ext>
            </a:extLst>
          </p:cNvPr>
          <p:cNvSpPr txBox="1">
            <a:spLocks noGrp="1"/>
          </p:cNvSpPr>
          <p:nvPr>
            <p:ph type="title" idx="2"/>
          </p:nvPr>
        </p:nvSpPr>
        <p:spPr>
          <a:xfrm>
            <a:off x="442269" y="1845371"/>
            <a:ext cx="3757500" cy="1939800"/>
          </a:xfrm>
          <a:prstGeom prst="rect">
            <a:avLst/>
          </a:prstGeom>
          <a:noFill/>
          <a:ln>
            <a:noFill/>
          </a:ln>
        </p:spPr>
        <p:txBody>
          <a:bodyPr spcFirstLastPara="1" wrap="square" lIns="91425" tIns="91425" rIns="91425" bIns="91425" anchor="b" anchorCtr="0">
            <a:normAutofit fontScale="90000"/>
          </a:bodyPr>
          <a:lstStyle/>
          <a:p>
            <a:pPr marL="0" lvl="0" indent="0" rtl="0">
              <a:lnSpc>
                <a:spcPct val="100000"/>
              </a:lnSpc>
              <a:spcBef>
                <a:spcPts val="0"/>
              </a:spcBef>
              <a:spcAft>
                <a:spcPts val="0"/>
              </a:spcAft>
              <a:buSzPts val="4000"/>
              <a:buNone/>
            </a:pPr>
            <a:r>
              <a:rPr lang="es"/>
              <a:t>Transformación operativa: antes y después.</a:t>
            </a:r>
            <a:endParaRPr/>
          </a:p>
        </p:txBody>
      </p:sp>
      <p:cxnSp>
        <p:nvCxnSpPr>
          <p:cNvPr id="147" name="Google Shape;147;p5">
            <a:extLst>
              <a:ext uri="{FF2B5EF4-FFF2-40B4-BE49-F238E27FC236}">
                <a16:creationId xmlns:a16="http://schemas.microsoft.com/office/drawing/2014/main" id="{2033EADD-3764-A522-C49A-FDA5F3C4374B}"/>
              </a:ext>
            </a:extLst>
          </p:cNvPr>
          <p:cNvCxnSpPr/>
          <p:nvPr/>
        </p:nvCxnSpPr>
        <p:spPr>
          <a:xfrm rot="10800000" flipH="1">
            <a:off x="442269" y="612577"/>
            <a:ext cx="8103300" cy="28800"/>
          </a:xfrm>
          <a:prstGeom prst="straightConnector1">
            <a:avLst/>
          </a:prstGeom>
          <a:noFill/>
          <a:ln w="19050" cap="flat" cmpd="sng">
            <a:solidFill>
              <a:srgbClr val="0E337C"/>
            </a:solidFill>
            <a:prstDash val="solid"/>
            <a:round/>
            <a:headEnd type="none" w="sm" len="sm"/>
            <a:tailEnd type="none" w="sm" len="sm"/>
          </a:ln>
        </p:spPr>
      </p:cxnSp>
    </p:spTree>
    <p:extLst>
      <p:ext uri="{BB962C8B-B14F-4D97-AF65-F5344CB8AC3E}">
        <p14:creationId xmlns:p14="http://schemas.microsoft.com/office/powerpoint/2010/main" val="449786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4087108" y="4327063"/>
            <a:ext cx="45489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s" dirty="0" err="1"/>
              <a:t>We</a:t>
            </a:r>
            <a:r>
              <a:rPr lang="es" dirty="0"/>
              <a:t> </a:t>
            </a:r>
            <a:r>
              <a:rPr lang="es" dirty="0" err="1"/>
              <a:t>make</a:t>
            </a:r>
            <a:r>
              <a:rPr lang="es" dirty="0"/>
              <a:t> </a:t>
            </a:r>
            <a:r>
              <a:rPr lang="es" i="1" dirty="0" err="1"/>
              <a:t>it</a:t>
            </a:r>
            <a:r>
              <a:rPr lang="es" i="1" dirty="0"/>
              <a:t> </a:t>
            </a:r>
            <a:r>
              <a:rPr lang="es" dirty="0" err="1"/>
              <a:t>happen</a:t>
            </a:r>
            <a:endParaRPr lang="es-ES"/>
          </a:p>
        </p:txBody>
      </p:sp>
      <p:sp>
        <p:nvSpPr>
          <p:cNvPr id="189" name="Google Shape;189;p6"/>
          <p:cNvSpPr txBox="1">
            <a:spLocks noGrp="1"/>
          </p:cNvSpPr>
          <p:nvPr>
            <p:ph type="ctrTitle" idx="2"/>
          </p:nvPr>
        </p:nvSpPr>
        <p:spPr>
          <a:xfrm>
            <a:off x="450000" y="1827750"/>
            <a:ext cx="8100000" cy="15969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s" dirty="0"/>
              <a:t>¡Gracias!</a:t>
            </a:r>
            <a:br>
              <a:rPr lang="es" dirty="0"/>
            </a:br>
            <a:r>
              <a:rPr lang="es" sz="2000" dirty="0"/>
              <a:t>Service Manager Coes</a:t>
            </a:r>
            <a:br>
              <a:rPr lang="es" sz="2000" dirty="0"/>
            </a:br>
            <a:r>
              <a:rPr lang="es" sz="2000" dirty="0"/>
              <a:t>Líderes Técncios</a:t>
            </a:r>
            <a:endParaRPr dirty="0"/>
          </a:p>
        </p:txBody>
      </p:sp>
      <p:sp>
        <p:nvSpPr>
          <p:cNvPr id="190" name="Google Shape;190;p6"/>
          <p:cNvSpPr txBox="1">
            <a:spLocks noGrp="1"/>
          </p:cNvSpPr>
          <p:nvPr>
            <p:ph type="title" idx="3"/>
          </p:nvPr>
        </p:nvSpPr>
        <p:spPr>
          <a:xfrm>
            <a:off x="4087108" y="446138"/>
            <a:ext cx="4548900" cy="393600"/>
          </a:xfrm>
          <a:prstGeom prst="rect">
            <a:avLst/>
          </a:prstGeom>
        </p:spPr>
        <p:txBody>
          <a:bodyPr spcFirstLastPara="1" wrap="square" lIns="91425" tIns="91425" rIns="91425" bIns="91425" anchor="ctr" anchorCtr="0">
            <a:normAutofit fontScale="90000"/>
          </a:bodyPr>
          <a:lstStyle/>
          <a:p>
            <a:pPr marL="0" lvl="0" indent="0" algn="r" rtl="0">
              <a:spcBef>
                <a:spcPts val="0"/>
              </a:spcBef>
              <a:spcAft>
                <a:spcPts val="0"/>
              </a:spcAft>
              <a:buNone/>
            </a:pPr>
            <a:r>
              <a:rPr lang="es"/>
              <a:t>Centro Empresarial Ciudad del Río C2, Cra. 48 #20-114, Oficina 1026</a:t>
            </a:r>
            <a:endParaRPr/>
          </a:p>
          <a:p>
            <a:pPr marL="0" lvl="0" indent="0" algn="r" rtl="0">
              <a:spcBef>
                <a:spcPts val="0"/>
              </a:spcBef>
              <a:spcAft>
                <a:spcPts val="0"/>
              </a:spcAft>
              <a:buNone/>
            </a:pPr>
            <a:r>
              <a:rPr lang="es"/>
              <a:t> +57 324 549 77 70</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9BCC032A581BA4484AD3DC8507A6419" ma:contentTypeVersion="34" ma:contentTypeDescription="Crear nuevo documento." ma:contentTypeScope="" ma:versionID="47ef06a10dcde2203da262594de9f512">
  <xsd:schema xmlns:xsd="http://www.w3.org/2001/XMLSchema" xmlns:xs="http://www.w3.org/2001/XMLSchema" xmlns:p="http://schemas.microsoft.com/office/2006/metadata/properties" xmlns:ns2="1eae6892-c909-416a-9983-0c746234f7fb" xmlns:ns3="b779149d-7c71-47fd-9dcb-8d909c858be1" targetNamespace="http://schemas.microsoft.com/office/2006/metadata/properties" ma:root="true" ma:fieldsID="2029778249ef88546a0eb0ac84618666" ns2:_="" ns3:_="">
    <xsd:import namespace="1eae6892-c909-416a-9983-0c746234f7fb"/>
    <xsd:import namespace="b779149d-7c71-47fd-9dcb-8d909c858be1"/>
    <xsd:element name="properties">
      <xsd:complexType>
        <xsd:sequence>
          <xsd:element name="documentManagement">
            <xsd:complexType>
              <xsd:all>
                <xsd:element ref="ns2:Albums" minOccurs="0"/>
                <xsd:element ref="ns2:Albums0" minOccurs="0"/>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MediaServiceOCR" minOccurs="0"/>
                <xsd:element ref="ns2:_Flow_SignoffStatus" minOccurs="0"/>
                <xsd:element ref="ns2:MediaServiceBillingMetadata" minOccurs="0"/>
                <xsd:element ref="ns2:Asignadoa" minOccurs="0"/>
                <xsd:element ref="ns2:Nit" minOccurs="0"/>
                <xsd:element ref="ns2:RazonSocial" minOccurs="0"/>
                <xsd:element ref="ns2:_x0023_Factura" minOccurs="0"/>
                <xsd:element ref="ns2:_x0023_AprobacionGLPI" minOccurs="0"/>
                <xsd:element ref="ns2:CentrodeCostos" minOccurs="0"/>
                <xsd:element ref="ns2:Comentarios" minOccurs="0"/>
                <xsd:element ref="ns2:Prioridad" minOccurs="0"/>
                <xsd:element ref="ns2:Clasificacion" minOccurs="0"/>
                <xsd:element ref="ns2:Causacion" minOccurs="0"/>
                <xsd:element ref="ns2:ConsecutivoCausacion" minOccurs="0"/>
                <xsd:element ref="ns2:CodigoEgreso" minOccurs="0"/>
                <xsd:element ref="ns2:EstadoProceso" minOccurs="0"/>
                <xsd:element ref="ns2:VistobuenoContabler" minOccurs="0"/>
                <xsd:element ref="ns2:ValorTotal" minOccurs="0"/>
                <xsd:element ref="ns2:SubTotal" minOccurs="0"/>
                <xsd:element ref="ns2:Retencion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e6892-c909-416a-9983-0c746234f7fb" elementFormDefault="qualified">
    <xsd:import namespace="http://schemas.microsoft.com/office/2006/documentManagement/types"/>
    <xsd:import namespace="http://schemas.microsoft.com/office/infopath/2007/PartnerControls"/>
    <xsd:element name="Albums" ma:index="8" nillable="true" ma:displayName="Albums" ma:description="" ma:internalName="Albums">
      <xsd:simpleType>
        <xsd:restriction base="dms:Note">
          <xsd:maxLength value="255"/>
        </xsd:restriction>
      </xsd:simpleType>
    </xsd:element>
    <xsd:element name="Albums0" ma:index="9" nillable="true" ma:displayName="Albums" ma:description="" ma:internalName="Albums0">
      <xsd:simpleType>
        <xsd:restriction base="dms:Note">
          <xsd:maxLength value="255"/>
        </xsd:restriction>
      </xsd:simpleType>
    </xsd:element>
    <xsd:element name="lcf76f155ced4ddcb4097134ff3c332f" ma:index="11" nillable="true" ma:taxonomy="true" ma:internalName="lcf76f155ced4ddcb4097134ff3c332f" ma:taxonomyFieldName="MediaServiceImageTags" ma:displayName="Etiquetas de imagen" ma:readOnly="false" ma:fieldId="{5cf76f15-5ced-4ddc-b409-7134ff3c332f}" ma:taxonomyMulti="true" ma:sspId="4c3b05aa-edad-4983-93eb-ba76a6596e8a"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_Flow_SignoffStatus" ma:index="23" nillable="true" ma:displayName="Estado" ma:format="Dropdown" ma:internalName="Estado_x0020_de_x0020_aprobaci_x00f3_n">
      <xsd:simpleType>
        <xsd:restriction base="dms:Choice">
          <xsd:enumeration value="Pendiente"/>
          <xsd:enumeration value="En proceso"/>
          <xsd:enumeration value="Cerrado"/>
          <xsd:enumeration value="Cancelada"/>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Asignadoa" ma:index="25" nillable="true" ma:displayName="Asignado a" ma:format="Dropdown" ma:list="UserInfo" ma:SharePointGroup="0" ma:internalName="Asignadoa">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Nit" ma:index="26" nillable="true" ma:displayName="Nit" ma:format="Dropdown" ma:internalName="Nit">
      <xsd:simpleType>
        <xsd:restriction base="dms:Text">
          <xsd:maxLength value="255"/>
        </xsd:restriction>
      </xsd:simpleType>
    </xsd:element>
    <xsd:element name="RazonSocial" ma:index="27" nillable="true" ma:displayName="Razon Social" ma:format="Dropdown" ma:internalName="RazonSocial">
      <xsd:simpleType>
        <xsd:restriction base="dms:Text">
          <xsd:maxLength value="255"/>
        </xsd:restriction>
      </xsd:simpleType>
    </xsd:element>
    <xsd:element name="_x0023_Factura" ma:index="28" nillable="true" ma:displayName="# Factura" ma:format="Dropdown" ma:internalName="_x0023_Factura">
      <xsd:simpleType>
        <xsd:restriction base="dms:Text">
          <xsd:maxLength value="255"/>
        </xsd:restriction>
      </xsd:simpleType>
    </xsd:element>
    <xsd:element name="_x0023_AprobacionGLPI" ma:index="29" nillable="true" ma:displayName="# Aprobacion GLPI" ma:format="Dropdown" ma:internalName="_x0023_AprobacionGLPI" ma:percentage="FALSE">
      <xsd:simpleType>
        <xsd:restriction base="dms:Number"/>
      </xsd:simpleType>
    </xsd:element>
    <xsd:element name="CentrodeCostos" ma:index="30" nillable="true" ma:displayName="Centro de Costos" ma:format="Dropdown" ma:internalName="CentrodeCostos" ma:percentage="FALSE">
      <xsd:simpleType>
        <xsd:restriction base="dms:Number"/>
      </xsd:simpleType>
    </xsd:element>
    <xsd:element name="Comentarios" ma:index="31" nillable="true" ma:displayName="Comentarios" ma:format="Dropdown" ma:internalName="Comentarios">
      <xsd:simpleType>
        <xsd:restriction base="dms:Text">
          <xsd:maxLength value="255"/>
        </xsd:restriction>
      </xsd:simpleType>
    </xsd:element>
    <xsd:element name="Prioridad" ma:index="32" nillable="true" ma:displayName="Prioridad" ma:format="Dropdown" ma:internalName="Prioridad">
      <xsd:simpleType>
        <xsd:restriction base="dms:Choice">
          <xsd:enumeration value="Urgente"/>
          <xsd:enumeration value="Normal"/>
        </xsd:restriction>
      </xsd:simpleType>
    </xsd:element>
    <xsd:element name="Clasificacion" ma:index="33" nillable="true" ma:displayName="Clasificacion" ma:format="Dropdown" ma:internalName="Clasificacion">
      <xsd:simpleType>
        <xsd:restriction base="dms:Choice">
          <xsd:enumeration value="Anticipo"/>
          <xsd:enumeration value="Credito"/>
        </xsd:restriction>
      </xsd:simpleType>
    </xsd:element>
    <xsd:element name="Causacion" ma:index="34" nillable="true" ma:displayName="Causacion " ma:format="Dropdown" ma:internalName="Causacion">
      <xsd:simpleType>
        <xsd:restriction base="dms:Choice">
          <xsd:enumeration value="Si"/>
          <xsd:enumeration value="No"/>
        </xsd:restriction>
      </xsd:simpleType>
    </xsd:element>
    <xsd:element name="ConsecutivoCausacion" ma:index="35" nillable="true" ma:displayName="Consecutivo Causacion" ma:format="Dropdown" ma:internalName="ConsecutivoCausacion">
      <xsd:simpleType>
        <xsd:restriction base="dms:Text">
          <xsd:maxLength value="255"/>
        </xsd:restriction>
      </xsd:simpleType>
    </xsd:element>
    <xsd:element name="CodigoEgreso" ma:index="36" nillable="true" ma:displayName="Codigo Egreso" ma:format="Dropdown" ma:internalName="CodigoEgreso">
      <xsd:simpleType>
        <xsd:restriction base="dms:Text">
          <xsd:maxLength value="255"/>
        </xsd:restriction>
      </xsd:simpleType>
    </xsd:element>
    <xsd:element name="EstadoProceso" ma:index="37" nillable="true" ma:displayName="Estado Proceso" ma:format="Dropdown" ma:internalName="EstadoProceso">
      <xsd:simpleType>
        <xsd:restriction base="dms:Choice">
          <xsd:enumeration value="Nuevo"/>
          <xsd:enumeration value="Asignado Contabilidad"/>
          <xsd:enumeration value="Asignado Tesoreria"/>
          <xsd:enumeration value="Causacion"/>
          <xsd:enumeration value="Causado Pendiente Pago"/>
          <xsd:enumeration value="Rechazado Contabilidad"/>
          <xsd:enumeration value="Pagado"/>
          <xsd:enumeration value="Cancelado"/>
        </xsd:restriction>
      </xsd:simpleType>
    </xsd:element>
    <xsd:element name="VistobuenoContabler" ma:index="38" nillable="true" ma:displayName="Visto bueno Contabler" ma:format="Dropdown" ma:internalName="VistobuenoContabler">
      <xsd:simpleType>
        <xsd:restriction base="dms:Choice">
          <xsd:enumeration value="Si"/>
          <xsd:enumeration value="No"/>
        </xsd:restriction>
      </xsd:simpleType>
    </xsd:element>
    <xsd:element name="ValorTotal" ma:index="39" nillable="true" ma:displayName="Valor Total" ma:format="Dropdown" ma:internalName="ValorTotal" ma:percentage="FALSE">
      <xsd:simpleType>
        <xsd:restriction base="dms:Number"/>
      </xsd:simpleType>
    </xsd:element>
    <xsd:element name="SubTotal" ma:index="40" nillable="true" ma:displayName="SubTotal" ma:format="Dropdown" ma:internalName="SubTotal" ma:percentage="FALSE">
      <xsd:simpleType>
        <xsd:restriction base="dms:Number"/>
      </xsd:simpleType>
    </xsd:element>
    <xsd:element name="Retenciones" ma:index="41" nillable="true" ma:displayName="Retenciones" ma:format="Dropdown" ma:internalName="Retencion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779149d-7c71-47fd-9dcb-8d909c858be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7d42bf48-7322-44f0-a689-d867eb6e8d43}" ma:internalName="TaxCatchAll" ma:showField="CatchAllData" ma:web="b779149d-7c71-47fd-9dcb-8d909c858b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azonSocial xmlns="1eae6892-c909-416a-9983-0c746234f7fb" xsi:nil="true"/>
    <Causacion xmlns="1eae6892-c909-416a-9983-0c746234f7fb" xsi:nil="true"/>
    <CodigoEgreso xmlns="1eae6892-c909-416a-9983-0c746234f7fb" xsi:nil="true"/>
    <EstadoProceso xmlns="1eae6892-c909-416a-9983-0c746234f7fb" xsi:nil="true"/>
    <Prioridad xmlns="1eae6892-c909-416a-9983-0c746234f7fb" xsi:nil="true"/>
    <Retenciones xmlns="1eae6892-c909-416a-9983-0c746234f7fb" xsi:nil="true"/>
    <TaxCatchAll xmlns="b779149d-7c71-47fd-9dcb-8d909c858be1" xsi:nil="true"/>
    <Albums xmlns="1eae6892-c909-416a-9983-0c746234f7fb" xsi:nil="true"/>
    <Comentarios xmlns="1eae6892-c909-416a-9983-0c746234f7fb" xsi:nil="true"/>
    <SubTotal xmlns="1eae6892-c909-416a-9983-0c746234f7fb" xsi:nil="true"/>
    <Clasificacion xmlns="1eae6892-c909-416a-9983-0c746234f7fb" xsi:nil="true"/>
    <Nit xmlns="1eae6892-c909-416a-9983-0c746234f7fb" xsi:nil="true"/>
    <lcf76f155ced4ddcb4097134ff3c332f xmlns="1eae6892-c909-416a-9983-0c746234f7fb">
      <Terms xmlns="http://schemas.microsoft.com/office/infopath/2007/PartnerControls"/>
    </lcf76f155ced4ddcb4097134ff3c332f>
    <Asignadoa xmlns="1eae6892-c909-416a-9983-0c746234f7fb">
      <UserInfo>
        <DisplayName/>
        <AccountId xsi:nil="true"/>
        <AccountType/>
      </UserInfo>
    </Asignadoa>
    <VistobuenoContabler xmlns="1eae6892-c909-416a-9983-0c746234f7fb" xsi:nil="true"/>
    <CentrodeCostos xmlns="1eae6892-c909-416a-9983-0c746234f7fb" xsi:nil="true"/>
    <Albums0 xmlns="1eae6892-c909-416a-9983-0c746234f7fb" xsi:nil="true"/>
    <_Flow_SignoffStatus xmlns="1eae6892-c909-416a-9983-0c746234f7fb" xsi:nil="true"/>
    <ValorTotal xmlns="1eae6892-c909-416a-9983-0c746234f7fb" xsi:nil="true"/>
    <_x0023_Factura xmlns="1eae6892-c909-416a-9983-0c746234f7fb" xsi:nil="true"/>
    <ConsecutivoCausacion xmlns="1eae6892-c909-416a-9983-0c746234f7fb" xsi:nil="true"/>
    <_x0023_AprobacionGLPI xmlns="1eae6892-c909-416a-9983-0c746234f7fb" xsi:nil="true"/>
  </documentManagement>
</p:properties>
</file>

<file path=customXml/itemProps1.xml><?xml version="1.0" encoding="utf-8"?>
<ds:datastoreItem xmlns:ds="http://schemas.openxmlformats.org/officeDocument/2006/customXml" ds:itemID="{7FF3E35C-CA44-4CD4-A573-314AB92AB8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e6892-c909-416a-9983-0c746234f7fb"/>
    <ds:schemaRef ds:uri="b779149d-7c71-47fd-9dcb-8d909c858b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7C5C9C-D91E-49E5-BCAB-10B185B38744}">
  <ds:schemaRefs>
    <ds:schemaRef ds:uri="http://schemas.microsoft.com/sharepoint/v3/contenttype/forms"/>
  </ds:schemaRefs>
</ds:datastoreItem>
</file>

<file path=customXml/itemProps3.xml><?xml version="1.0" encoding="utf-8"?>
<ds:datastoreItem xmlns:ds="http://schemas.openxmlformats.org/officeDocument/2006/customXml" ds:itemID="{0598E3D6-F25F-470F-BD66-213257F009C9}">
  <ds:schemaRefs>
    <ds:schemaRef ds:uri="http://schemas.microsoft.com/office/2006/metadata/properties"/>
    <ds:schemaRef ds:uri="http://schemas.microsoft.com/office/infopath/2007/PartnerControls"/>
    <ds:schemaRef ds:uri="1eae6892-c909-416a-9983-0c746234f7fb"/>
    <ds:schemaRef ds:uri="b779149d-7c71-47fd-9dcb-8d909c858be1"/>
  </ds:schemaRefs>
</ds:datastoreItem>
</file>

<file path=docProps/app.xml><?xml version="1.0" encoding="utf-8"?>
<Properties xmlns="http://schemas.openxmlformats.org/officeDocument/2006/extended-properties" xmlns:vt="http://schemas.openxmlformats.org/officeDocument/2006/docPropsVTypes">
  <Template/>
  <TotalTime>538</TotalTime>
  <Words>1428</Words>
  <Application>Microsoft Office PowerPoint</Application>
  <PresentationFormat>Presentación en pantalla (16:9)</PresentationFormat>
  <Paragraphs>132</Paragraphs>
  <Slides>16</Slides>
  <Notes>5</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Simple Light</vt:lpstr>
      <vt:lpstr>Servicio equipos de Soporte COES</vt:lpstr>
      <vt:lpstr>Alcance del Servicio</vt:lpstr>
      <vt:lpstr>Analista de Soporte</vt:lpstr>
      <vt:lpstr>Líder Técnico/Gestión</vt:lpstr>
      <vt:lpstr>Líder del servicio Service Manager</vt:lpstr>
      <vt:lpstr>Habilidades Humanas del equipo</vt:lpstr>
      <vt:lpstr>Estructura y Operación del Servicio</vt:lpstr>
      <vt:lpstr>Presentación de PowerPoint</vt:lpstr>
      <vt:lpstr>Top Tendencias</vt:lpstr>
      <vt:lpstr>Casos de Éxito</vt:lpstr>
      <vt:lpstr>Casos de Éxito</vt:lpstr>
      <vt:lpstr>Equipos de Soporte</vt:lpstr>
      <vt:lpstr>Informe del servicio</vt:lpstr>
      <vt:lpstr>Casos de éxito en la operación.</vt:lpstr>
      <vt:lpstr>Transformación operativa: antes y después.</vt:lpstr>
      <vt:lpstr>We make it happen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Paula Andrea Soto Alvarado</dc:creator>
  <cp:lastModifiedBy>Paula Andrea Soto Alvarado</cp:lastModifiedBy>
  <cp:revision>18</cp:revision>
  <dcterms:modified xsi:type="dcterms:W3CDTF">2026-07-10T15:32:27Z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0x01010049BCC032A581BA4484AD3DC8507A6419</vt:lpwstr>
  </property>
  <property fmtid="{D5CDD505-2E9C-101B-9397-08002B2CF9AE}" pid="3" name="MediaServiceImageTags">
    <vt:lpwstr/>
  </property>
</Properties>
</file>