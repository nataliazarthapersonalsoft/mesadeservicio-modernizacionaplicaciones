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16"/>
  </p:notesMasterIdLst>
  <p:sldIdLst>
    <p:sldId id="257" r:id="rId3"/>
    <p:sldId id="260" r:id="rId4"/>
    <p:sldId id="270" r:id="rId5"/>
    <p:sldId id="262" r:id="rId6"/>
    <p:sldId id="259" r:id="rId7"/>
    <p:sldId id="285" r:id="rId8"/>
    <p:sldId id="261" r:id="rId9"/>
    <p:sldId id="284" r:id="rId10"/>
    <p:sldId id="266" r:id="rId11"/>
    <p:sldId id="272" r:id="rId12"/>
    <p:sldId id="269" r:id="rId13"/>
    <p:sldId id="267" r:id="rId14"/>
    <p:sldId id="268" r:id="rId15"/>
  </p:sldIdLst>
  <p:sldSz cx="9144000" cy="5143500" type="screen16x9"/>
  <p:notesSz cx="6858000" cy="9144000"/>
  <p:embeddedFontLst>
    <p:embeddedFont>
      <p:font typeface="Reddit Sans" panose="020B0604020202020204" charset="0"/>
      <p:regular r:id="rId17"/>
      <p:bold r:id="rId18"/>
      <p:italic r:id="rId19"/>
      <p:boldItalic r:id="rId20"/>
    </p:embeddedFont>
    <p:embeddedFont>
      <p:font typeface="Reddit Sans Medium" panose="020B0604020202020204" charset="0"/>
      <p:regular r:id="rId21"/>
      <p:bold r:id="rId22"/>
      <p:italic r:id="rId23"/>
      <p:boldItalic r:id="rId24"/>
    </p:embeddedFont>
    <p:embeddedFont>
      <p:font typeface="Reddit Sans SemiBold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4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DB0EA-8440-535B-18DB-FF5CDE3BDD8A}" v="7519" dt="2026-07-02T00:26:16.893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A955-7F3D-40C1-9D4F-BB0A924D5885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9012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57f5ba65c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57f5ba65c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7390F-30CF-678E-DE06-69304D6EA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F1B182-64E6-1CCF-7F37-0681CDD22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9EFA20-38F8-87A4-6972-635BB7DC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C654D5-BC16-9E6D-CE69-7C05B802E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36CECE-56AA-44B3-754B-5732C3E9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9790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51272-EA6B-CCEA-0D4D-9065CA6F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822B51-262B-3B7E-0371-559CCFAD8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925E22-DCE8-A190-6800-1326D358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D07F7B-C83A-A275-FEDD-9359C677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18502D-7EFF-752D-DA22-1ADF3A59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4969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474DC-AB18-474B-65F6-309335997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F6CDFF-26B4-E407-84AC-BE1FBEB72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B5C64E-A980-05B4-8A2D-8B21DA80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376EDE-1DCA-2F1D-3BA6-ECFBA000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FA289-B914-1B46-E94E-4D7EE7FB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9642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EA66A-8F2A-76EE-BE61-B00021AA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625E49-4E0B-C37F-72B5-63D0DC388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518194-34A2-9D2B-1012-4674718CB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70244F-E0BC-9F24-EAB0-90D439C3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F310FE-50B5-831F-0C54-28B682E7D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70E4CA-D851-A3D3-064F-982C70BC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9827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2DB89-0D25-AF1E-FCCB-2D34B66C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D71018-1345-5097-699C-B97E3B84D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B9D7F2-F469-842A-6D2D-1BC026195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24F9F5-12E9-E657-2D7F-D19951482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703AA1-86D1-B3F5-36B4-2F064AAB0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02E61D-7A2A-C113-F0DE-D33C5ED2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8A40D2-1202-CEC0-DF40-9818FF14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463BD1-0E50-182A-66E1-3F5CEB13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206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A4AC4-2B8B-521F-88C9-8958EC2B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DC986E-1233-3ECB-7B5B-00AC5E3E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0F4267-BF7D-EC42-CCC6-9879FE48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865629-2C85-4C04-F6A1-3D2F110E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09430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264BCA-5D7E-76E5-851F-16B95455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DD142A-9CB1-7E8F-E230-43EC4FA0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79E2BC-B1EA-9E53-A655-7ECCD115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1066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9D9B-FA56-7D16-BDBB-102487D2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99DD08-EED2-6AC1-00F8-0B7A69B1A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459E22-46F2-08EB-DF38-FB5E54000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1B0662-C13E-1612-36D6-84B19BC2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C2D191-F2AD-8CD6-D346-D3980AE6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294C94-2184-0F1E-2DFD-C63B5BB6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2257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C606E-487F-D933-D547-5652700E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5A1A9CD-D9EC-3E7F-2878-FD5BABA74B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3E0F3E-2E30-2588-D8F5-F31152E69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F4849C-620E-38AF-9C4C-9AF60850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26B1D2-7575-2FBB-6B6C-8AE212B9E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DFA907-353C-5E49-0CCF-BE0D1660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3430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692E7-0D55-8276-1546-95FF07AB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4523F7-3B0F-FD51-8386-7404998C9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EC9884-DDF3-4679-20A6-D226B92C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9D43D6-CC3B-5338-0F11-9BE8D5DB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B0142E-7868-5A9B-373B-2219EC3B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8399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FC849C-F48F-3C85-FF3C-BDAD97B44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B261CC-180A-4D59-5393-BAC0037FA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6F897F-6F76-9734-D485-C0A18776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170CB4-BC36-9ADA-90AA-1DABC957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D7EB2C-0FA2-5007-7040-7E6062D2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303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636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2" r:id="rId10"/>
    <p:sldLayoutId id="2147483664" r:id="rId11"/>
    <p:sldLayoutId id="214748366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CDDF91-4903-4BE3-329F-0635D924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6F2CEE-38E2-F07C-F71A-0F95C7AE8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87F777-A849-7E2B-E9CE-9EB40BEEF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DFC76-4735-4170-8F48-03426EDB87B7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E6B2E6-89AA-4774-E846-301D6CD57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0E1ADD-0672-E6A8-0DB3-D5C8FA095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CAAB6-F9AE-433B-AA3D-2F308D2758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478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dirty="0"/>
              <a:t>Mesa de Servicio de </a:t>
            </a:r>
            <a:r>
              <a:rPr lang="en-US"/>
              <a:t>Nueva Generación</a:t>
            </a:r>
            <a:endParaRPr dirty="0"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err="1"/>
              <a:t>Roadmap</a:t>
            </a:r>
            <a:r>
              <a:rPr lang="es-CO"/>
              <a:t> Julio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504411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Valor del Servicio</a:t>
            </a:r>
            <a:endParaRPr lang="es-ES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159965" y="2820693"/>
            <a:ext cx="5437586" cy="868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 dirty="0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</a:t>
            </a: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ventaja competitiva</a:t>
            </a:r>
            <a:r>
              <a:rPr lang="es" dirty="0">
                <a:solidFill>
                  <a:srgbClr val="222222"/>
                </a:solidFill>
                <a:highlight>
                  <a:srgbClr val="FFFFFF"/>
                </a:highlight>
              </a:rPr>
              <a:t> sostenible en el tiempo.</a:t>
            </a:r>
            <a:endParaRPr lang="es-ES" dirty="0">
              <a:solidFill>
                <a:srgbClr val="595959"/>
              </a:solidFill>
            </a:endParaRPr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D1A1633-87B8-69A8-F58D-616529537203}"/>
              </a:ext>
            </a:extLst>
          </p:cNvPr>
          <p:cNvSpPr txBox="1"/>
          <p:nvPr/>
        </p:nvSpPr>
        <p:spPr>
          <a:xfrm>
            <a:off x="6275615" y="2822122"/>
            <a:ext cx="2797628" cy="2222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8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el cliente</a:t>
            </a:r>
            <a:r>
              <a:rPr lang="en-US" sz="8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  <a:endParaRPr lang="en-US" sz="800" b="0" i="0" dirty="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800" b="0" i="0" u="none" strike="noStrike" baseline="0" dirty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SLAs</a:t>
            </a:r>
            <a:r>
              <a:rPr lang="es-ES" sz="800" b="0" i="0" u="none" strike="noStrike" baseline="0" dirty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cumplidos, menos interrupciones y visibilidad real de la </a:t>
            </a:r>
            <a:r>
              <a:rPr lang="es-ES" sz="800" b="0" i="0" u="none" strike="noStrike" baseline="0" dirty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operacion</a:t>
            </a:r>
            <a:r>
              <a:rPr lang="es-ES" sz="800" b="0" i="0" u="none" strike="noStrike" baseline="0" dirty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en tiempo real.</a:t>
            </a:r>
            <a:r>
              <a:rPr lang="en-US" sz="800" b="0" i="0" dirty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800" dirty="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800" b="1" i="0" u="none" strike="noStrike" baseline="0" dirty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</a:t>
            </a:r>
            <a:r>
              <a:rPr lang="es-ES" sz="800" b="1" i="0" u="none" strike="noStrike" baseline="0" dirty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PersonalSoft</a:t>
            </a:r>
            <a:r>
              <a:rPr lang="en-US" sz="800" b="0" i="0" dirty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800" b="0" i="0" u="none" strike="noStrike" baseline="0" dirty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Margenes</a:t>
            </a:r>
            <a:r>
              <a:rPr lang="es-ES" sz="800" b="0" i="0" u="none" strike="noStrike" baseline="0" dirty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que mejoran con la </a:t>
            </a:r>
            <a:r>
              <a:rPr lang="es-ES" sz="800" b="0" i="0" u="none" strike="noStrike" baseline="0" dirty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automatizacion</a:t>
            </a:r>
            <a:r>
              <a:rPr lang="es-ES" sz="800" b="0" i="0" u="none" strike="noStrike" baseline="0" dirty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n-US" sz="800" b="0" i="0" dirty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800" dirty="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8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el mercado</a:t>
            </a:r>
            <a:r>
              <a:rPr lang="en-US" sz="8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  <a:endParaRPr lang="en-US" sz="800" b="0" i="0" dirty="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8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Un diferenciador real: el proveedor que llega con datos, herramientas y evolución continua.</a:t>
            </a:r>
          </a:p>
          <a:p>
            <a:pPr algn="ctr">
              <a:lnSpc>
                <a:spcPct val="150000"/>
              </a:lnSpc>
            </a:pP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4BAB874-5873-7035-205D-E1E1A2B02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Algunos dolores de la operación actual de las Mesas de Servicio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DEC60A-957A-9F54-0195-287D0DD1F2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42459" y="1060903"/>
            <a:ext cx="6769326" cy="3028950"/>
          </a:xfrm>
        </p:spPr>
        <p:txBody>
          <a:bodyPr>
            <a:normAutofit/>
          </a:bodyPr>
          <a:lstStyle/>
          <a:p>
            <a:pPr marL="0" indent="0">
              <a:lnSpc>
                <a:spcPct val="114999"/>
              </a:lnSpc>
              <a:spcAft>
                <a:spcPts val="400"/>
              </a:spcAft>
              <a:buNone/>
            </a:pPr>
            <a:r>
              <a:rPr lang="es" sz="1200" b="1" dirty="0">
                <a:solidFill>
                  <a:srgbClr val="D0021B"/>
                </a:solidFill>
              </a:rPr>
              <a:t>Sin limites claros del servicio ni roles definidos</a:t>
            </a:r>
            <a:endParaRPr lang="en-US" sz="1200" dirty="0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700"/>
              </a:spcAft>
              <a:buNone/>
            </a:pPr>
            <a:r>
              <a:rPr lang="es" sz="1000" dirty="0">
                <a:solidFill>
                  <a:srgbClr val="444444"/>
                </a:solidFill>
              </a:rPr>
              <a:t>No hay un </a:t>
            </a:r>
            <a:r>
              <a:rPr lang="es" sz="1000" dirty="0" err="1">
                <a:solidFill>
                  <a:srgbClr val="444444"/>
                </a:solidFill>
              </a:rPr>
              <a:t>estandar</a:t>
            </a:r>
            <a:r>
              <a:rPr lang="es" sz="1000" dirty="0">
                <a:solidFill>
                  <a:srgbClr val="444444"/>
                </a:solidFill>
              </a:rPr>
              <a:t> de niveles N1/N2/N3, limites del alcance ni RACI documentado. El Gerente de Mesa y el </a:t>
            </a:r>
            <a:r>
              <a:rPr lang="es" sz="1000" dirty="0" err="1">
                <a:solidFill>
                  <a:srgbClr val="444444"/>
                </a:solidFill>
              </a:rPr>
              <a:t>Lider</a:t>
            </a:r>
            <a:r>
              <a:rPr lang="es" sz="1000" dirty="0">
                <a:solidFill>
                  <a:srgbClr val="444444"/>
                </a:solidFill>
              </a:rPr>
              <a:t> </a:t>
            </a:r>
            <a:r>
              <a:rPr lang="es" sz="1000" dirty="0" err="1">
                <a:solidFill>
                  <a:srgbClr val="444444"/>
                </a:solidFill>
              </a:rPr>
              <a:t>Tecnico</a:t>
            </a:r>
            <a:r>
              <a:rPr lang="es" sz="1000" dirty="0">
                <a:solidFill>
                  <a:srgbClr val="444444"/>
                </a:solidFill>
              </a:rPr>
              <a:t> no tienen roles diferenciados. Cada mesa opera diferente.</a:t>
            </a:r>
            <a:endParaRPr lang="en-US" sz="1000" dirty="0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300"/>
              </a:spcAft>
              <a:buNone/>
            </a:pPr>
            <a:r>
              <a:rPr lang="es" sz="1200" b="1" dirty="0">
                <a:solidFill>
                  <a:srgbClr val="D0021B"/>
                </a:solidFill>
              </a:rPr>
              <a:t>Modelo </a:t>
            </a:r>
            <a:r>
              <a:rPr lang="es" sz="1200" b="1" dirty="0" err="1">
                <a:solidFill>
                  <a:srgbClr val="D0021B"/>
                </a:solidFill>
              </a:rPr>
              <a:t>economico</a:t>
            </a:r>
            <a:r>
              <a:rPr lang="es" sz="1200" b="1" dirty="0">
                <a:solidFill>
                  <a:srgbClr val="D0021B"/>
                </a:solidFill>
              </a:rPr>
              <a:t> indexado al FTE, sin capacidad de escalar</a:t>
            </a:r>
            <a:endParaRPr lang="en-US" sz="1200" dirty="0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700"/>
              </a:spcAft>
              <a:buNone/>
            </a:pPr>
            <a:r>
              <a:rPr lang="es" sz="1000" dirty="0">
                <a:solidFill>
                  <a:srgbClr val="444444"/>
                </a:solidFill>
              </a:rPr>
              <a:t>El costo crece con el volumen de tickets. No hay GAP negociado para temas administrativos. El cliente no quiere pagar mas y PS no tiene como mejorar </a:t>
            </a:r>
            <a:r>
              <a:rPr lang="es" sz="1000" dirty="0" err="1">
                <a:solidFill>
                  <a:srgbClr val="444444"/>
                </a:solidFill>
              </a:rPr>
              <a:t>margenes</a:t>
            </a:r>
            <a:r>
              <a:rPr lang="es" sz="1000" dirty="0">
                <a:solidFill>
                  <a:srgbClr val="444444"/>
                </a:solidFill>
              </a:rPr>
              <a:t> sin cambiar la base </a:t>
            </a:r>
            <a:r>
              <a:rPr lang="es" sz="1000" dirty="0" err="1">
                <a:solidFill>
                  <a:srgbClr val="444444"/>
                </a:solidFill>
              </a:rPr>
              <a:t>economica</a:t>
            </a:r>
            <a:r>
              <a:rPr lang="es" sz="1000" dirty="0">
                <a:solidFill>
                  <a:srgbClr val="444444"/>
                </a:solidFill>
              </a:rPr>
              <a:t>.</a:t>
            </a:r>
            <a:endParaRPr lang="en-US" sz="1000" dirty="0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300"/>
              </a:spcAft>
              <a:buNone/>
            </a:pPr>
            <a:r>
              <a:rPr lang="es" sz="1200" b="1">
                <a:solidFill>
                  <a:srgbClr val="D0021B"/>
                </a:solidFill>
              </a:rPr>
              <a:t>Tareas manuales, conocimiento en personas y sin base de conocimiento</a:t>
            </a:r>
            <a:endParaRPr lang="en-US" sz="1200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700"/>
              </a:spcAft>
              <a:buNone/>
            </a:pPr>
            <a:r>
              <a:rPr lang="es" sz="1000" dirty="0">
                <a:solidFill>
                  <a:srgbClr val="444444"/>
                </a:solidFill>
              </a:rPr>
              <a:t>Bus factor critico: cuando rota el equipo, el conocimiento se va. No hay Nivel 0 ni base de conocimiento para que el usuario resuelva solo. El equipo no lo ve como proceso, lo ve como subida de salario.</a:t>
            </a:r>
            <a:endParaRPr lang="en-US" sz="1000" dirty="0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300"/>
              </a:spcAft>
              <a:buNone/>
            </a:pPr>
            <a:r>
              <a:rPr lang="es" sz="1200" b="1" dirty="0">
                <a:solidFill>
                  <a:srgbClr val="D0021B"/>
                </a:solidFill>
              </a:rPr>
              <a:t>ANS sin medir, </a:t>
            </a:r>
            <a:r>
              <a:rPr lang="es" sz="1200" b="1" dirty="0" err="1">
                <a:solidFill>
                  <a:srgbClr val="D0021B"/>
                </a:solidFill>
              </a:rPr>
              <a:t>KPIs</a:t>
            </a:r>
            <a:r>
              <a:rPr lang="es" sz="1200" b="1" dirty="0">
                <a:solidFill>
                  <a:srgbClr val="D0021B"/>
                </a:solidFill>
              </a:rPr>
              <a:t> </a:t>
            </a:r>
            <a:r>
              <a:rPr lang="es" sz="1200" b="1" dirty="0" err="1">
                <a:solidFill>
                  <a:srgbClr val="D0021B"/>
                </a:solidFill>
              </a:rPr>
              <a:t>empiricos</a:t>
            </a:r>
            <a:r>
              <a:rPr lang="es" sz="1200" b="1" dirty="0">
                <a:solidFill>
                  <a:srgbClr val="D0021B"/>
                </a:solidFill>
              </a:rPr>
              <a:t> y herramientas sin </a:t>
            </a:r>
            <a:r>
              <a:rPr lang="es" sz="1200" b="1" dirty="0" err="1">
                <a:solidFill>
                  <a:srgbClr val="D0021B"/>
                </a:solidFill>
              </a:rPr>
              <a:t>estandar</a:t>
            </a:r>
            <a:endParaRPr lang="en-US" sz="1200" dirty="0" err="1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s" sz="1000" dirty="0">
                <a:solidFill>
                  <a:srgbClr val="444444"/>
                </a:solidFill>
              </a:rPr>
              <a:t>Cada cliente tiene su herramienta (VMC en SURA, </a:t>
            </a:r>
            <a:r>
              <a:rPr lang="es" sz="1000" dirty="0" err="1">
                <a:solidFill>
                  <a:srgbClr val="444444"/>
                </a:solidFill>
              </a:rPr>
              <a:t>Computer</a:t>
            </a:r>
            <a:r>
              <a:rPr lang="es" sz="1000" dirty="0">
                <a:solidFill>
                  <a:srgbClr val="444444"/>
                </a:solidFill>
              </a:rPr>
              <a:t> </a:t>
            </a:r>
            <a:r>
              <a:rPr lang="es" sz="1000" dirty="0" err="1">
                <a:solidFill>
                  <a:srgbClr val="444444"/>
                </a:solidFill>
              </a:rPr>
              <a:t>Associates</a:t>
            </a:r>
            <a:r>
              <a:rPr lang="es" sz="1000" dirty="0">
                <a:solidFill>
                  <a:srgbClr val="444444"/>
                </a:solidFill>
              </a:rPr>
              <a:t>, Service Now) y PS no tiene la suya. Los informes son manuales, las penalidades no se miden </a:t>
            </a:r>
            <a:r>
              <a:rPr lang="es" sz="1000" dirty="0" err="1">
                <a:solidFill>
                  <a:srgbClr val="444444"/>
                </a:solidFill>
              </a:rPr>
              <a:t>sistematicamente</a:t>
            </a:r>
            <a:r>
              <a:rPr lang="es" sz="1000" dirty="0">
                <a:solidFill>
                  <a:srgbClr val="444444"/>
                </a:solidFill>
              </a:rPr>
              <a:t> y no hay </a:t>
            </a:r>
            <a:r>
              <a:rPr lang="es" sz="1000" dirty="0" err="1">
                <a:solidFill>
                  <a:srgbClr val="444444"/>
                </a:solidFill>
              </a:rPr>
              <a:t>taxonomia</a:t>
            </a:r>
            <a:r>
              <a:rPr lang="es" sz="1000" dirty="0">
                <a:solidFill>
                  <a:srgbClr val="444444"/>
                </a:solidFill>
              </a:rPr>
              <a:t> de </a:t>
            </a:r>
            <a:r>
              <a:rPr lang="es" sz="1000" dirty="0" err="1">
                <a:solidFill>
                  <a:srgbClr val="444444"/>
                </a:solidFill>
              </a:rPr>
              <a:t>KPIs</a:t>
            </a:r>
            <a:r>
              <a:rPr lang="es" sz="1000" dirty="0">
                <a:solidFill>
                  <a:srgbClr val="444444"/>
                </a:solidFill>
              </a:rPr>
              <a:t> estandarizada.</a:t>
            </a:r>
            <a:endParaRPr lang="es-ES" dirty="0"/>
          </a:p>
          <a:p>
            <a:pPr>
              <a:lnSpc>
                <a:spcPct val="114999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037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rgbClr val="263474"/>
                </a:solidFill>
                <a:sym typeface="Reddit Sans Medium"/>
              </a:rPr>
              <a:t>Mesas de Servicio Actuales</a:t>
            </a:r>
            <a:endParaRPr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089100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</a:t>
            </a:r>
            <a:r>
              <a:rPr lang="es" dirty="0"/>
              <a:t> Clientes</a:t>
            </a:r>
            <a:endParaRPr lang="es-ES" dirty="0"/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 b="0" i="0" u="none" strike="noStrike" baseline="0" dirty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Especializacion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 dirty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Energia</a:t>
            </a:r>
            <a:r>
              <a:rPr lang="es-ES" sz="1100" b="1" i="0" u="none" strike="noStrike" baseline="0" dirty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dirty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dirty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0" i="0" u="none" strike="noStrike" baseline="0" dirty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gestion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 b="0" i="0" u="none" strike="noStrike" baseline="0" dirty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Especializacion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 b="0" i="0" u="none" strike="noStrike" baseline="0" dirty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proteccion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 b="0" i="0" u="none" strike="noStrike" baseline="0" dirty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clinicos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 b="0" i="0" u="none" strike="noStrike" baseline="0" dirty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clinica</a:t>
            </a:r>
            <a:r>
              <a:rPr lang="es-ES" sz="1100" b="0" i="0" u="none" strike="noStrike" baseline="0" dirty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 dirty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s" err="1"/>
              <a:t>Roadmap</a:t>
            </a:r>
            <a:r>
              <a:rPr lang="es"/>
              <a:t> 2026</a:t>
            </a:r>
          </a:p>
        </p:txBody>
      </p:sp>
      <p:sp>
        <p:nvSpPr>
          <p:cNvPr id="125" name="Google Shape;125;g3657f5ba65c_1_28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Mesas de Servicios de Nueva Generación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 de Madurez de las Mesas de – A donde queremos llegar</a:t>
            </a:r>
          </a:p>
        </p:txBody>
      </p:sp>
      <p:sp>
        <p:nvSpPr>
          <p:cNvPr id="3" name="Subtitulo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ITIL v5 · Escala N0 a N5 · 4 dimensiones · 17 practicas evaluadas</a:t>
            </a:r>
          </a:p>
        </p:txBody>
      </p:sp>
      <p:sp>
        <p:nvSpPr>
          <p:cNvPr id="10" name="N1 box"/>
          <p:cNvSpPr txBox="1"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solidFill>
            <a:srgbClr val="FAECE7"/>
          </a:solidFill>
          <a:ln w="19050">
            <a:solidFill>
              <a:srgbClr val="D0021B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D0021B"/>
                </a:solidFill>
              </a:rPr>
              <a:t>N1</a:t>
            </a:r>
          </a:p>
          <a:p>
            <a:pPr algn="ctr">
              <a:buNone/>
            </a:pPr>
            <a:r>
              <a:rPr lang="es" sz="900" b="1">
                <a:solidFill>
                  <a:srgbClr val="D0021B"/>
                </a:solidFill>
              </a:rPr>
              <a:t>Inicial</a:t>
            </a:r>
          </a:p>
        </p:txBody>
      </p:sp>
      <p:sp>
        <p:nvSpPr>
          <p:cNvPr id="11" name="flecha1"/>
          <p:cNvSpPr txBox="1"/>
          <p:nvPr/>
        </p:nvSpPr>
        <p:spPr>
          <a:xfrm>
            <a:off x="1828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N2 box"/>
          <p:cNvSpPr txBox="1"/>
          <p:nvPr/>
        </p:nvSpPr>
        <p:spPr>
          <a:xfrm>
            <a:off x="2171700" y="1371600"/>
            <a:ext cx="1371600" cy="91440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633806"/>
                </a:solidFill>
              </a:rPr>
              <a:t>N2</a:t>
            </a:r>
          </a:p>
          <a:p>
            <a:pPr algn="ctr">
              <a:buNone/>
            </a:pPr>
            <a:r>
              <a:rPr lang="es" sz="900" b="1">
                <a:solidFill>
                  <a:srgbClr val="633806"/>
                </a:solidFill>
              </a:rPr>
              <a:t>Administrado</a:t>
            </a:r>
          </a:p>
        </p:txBody>
      </p:sp>
      <p:sp>
        <p:nvSpPr>
          <p:cNvPr id="13" name="flecha2"/>
          <p:cNvSpPr txBox="1"/>
          <p:nvPr/>
        </p:nvSpPr>
        <p:spPr>
          <a:xfrm>
            <a:off x="3543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N3 box"/>
          <p:cNvSpPr txBox="1"/>
          <p:nvPr/>
        </p:nvSpPr>
        <p:spPr>
          <a:xfrm>
            <a:off x="3886200" y="1371600"/>
            <a:ext cx="1371600" cy="914400"/>
          </a:xfrm>
          <a:prstGeom prst="rect">
            <a:avLst/>
          </a:prstGeom>
          <a:solidFill>
            <a:srgbClr val="E6F1FB"/>
          </a:solidFill>
          <a:ln w="28575">
            <a:solidFill>
              <a:srgbClr val="0E337C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E337C"/>
                </a:solidFill>
              </a:rPr>
              <a:t>N3 ★</a:t>
            </a:r>
          </a:p>
          <a:p>
            <a:pPr algn="ctr">
              <a:buNone/>
            </a:pPr>
            <a:r>
              <a:rPr lang="es" sz="900" b="1">
                <a:solidFill>
                  <a:srgbClr val="0E337C"/>
                </a:solidFill>
              </a:rPr>
              <a:t>Definido</a:t>
            </a:r>
          </a:p>
        </p:txBody>
      </p:sp>
      <p:sp>
        <p:nvSpPr>
          <p:cNvPr id="15" name="flecha3"/>
          <p:cNvSpPr txBox="1"/>
          <p:nvPr/>
        </p:nvSpPr>
        <p:spPr>
          <a:xfrm>
            <a:off x="5257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N4 box"/>
          <p:cNvSpPr txBox="1"/>
          <p:nvPr/>
        </p:nvSpPr>
        <p:spPr>
          <a:xfrm>
            <a:off x="5600700" y="1371600"/>
            <a:ext cx="1371600" cy="914400"/>
          </a:xfrm>
          <a:prstGeom prst="rect">
            <a:avLst/>
          </a:prstGeom>
          <a:solidFill>
            <a:srgbClr val="EEEDFE"/>
          </a:solidFill>
          <a:ln w="19050">
            <a:solidFill>
              <a:srgbClr val="3C3489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3C3489"/>
                </a:solidFill>
              </a:rPr>
              <a:t>N4</a:t>
            </a:r>
          </a:p>
          <a:p>
            <a:pPr algn="ctr">
              <a:buNone/>
            </a:pPr>
            <a:r>
              <a:rPr lang="es" sz="900" b="1">
                <a:solidFill>
                  <a:srgbClr val="3C3489"/>
                </a:solidFill>
              </a:rPr>
              <a:t>Cuantitativo</a:t>
            </a:r>
          </a:p>
        </p:txBody>
      </p:sp>
      <p:sp>
        <p:nvSpPr>
          <p:cNvPr id="17" name="flecha4"/>
          <p:cNvSpPr txBox="1"/>
          <p:nvPr/>
        </p:nvSpPr>
        <p:spPr>
          <a:xfrm>
            <a:off x="6972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5 box"/>
          <p:cNvSpPr txBox="1"/>
          <p:nvPr/>
        </p:nvSpPr>
        <p:spPr>
          <a:xfrm>
            <a:off x="7315200" y="1371600"/>
            <a:ext cx="1371600" cy="914400"/>
          </a:xfrm>
          <a:prstGeom prst="rect">
            <a:avLst/>
          </a:prstGeom>
          <a:solidFill>
            <a:srgbClr val="E1F5EE"/>
          </a:solidFill>
          <a:ln w="19050">
            <a:solidFill>
              <a:srgbClr val="085041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85041"/>
                </a:solidFill>
              </a:rPr>
              <a:t>N5</a:t>
            </a:r>
          </a:p>
          <a:p>
            <a:pPr algn="ctr">
              <a:buNone/>
            </a:pPr>
            <a:r>
              <a:rPr lang="es" sz="900" b="1">
                <a:solidFill>
                  <a:srgbClr val="085041"/>
                </a:solidFill>
              </a:rPr>
              <a:t>Optimizado</a:t>
            </a:r>
          </a:p>
        </p:txBody>
      </p:sp>
      <p:sp>
        <p:nvSpPr>
          <p:cNvPr id="20" name="desc N1"/>
          <p:cNvSpPr txBox="1"/>
          <p:nvPr/>
        </p:nvSpPr>
        <p:spPr>
          <a:xfrm>
            <a:off x="457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Reactivo total. Conocimiento en personas. Bus factor alto.</a:t>
            </a:r>
          </a:p>
        </p:txBody>
      </p:sp>
      <p:sp>
        <p:nvSpPr>
          <p:cNvPr id="21" name="desc N2"/>
          <p:cNvSpPr txBox="1"/>
          <p:nvPr/>
        </p:nvSpPr>
        <p:spPr>
          <a:xfrm>
            <a:off x="2171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 dirty="0">
                <a:solidFill>
                  <a:srgbClr val="666666"/>
                </a:solidFill>
              </a:rPr>
              <a:t>Procesos por mesa. Herramienta como </a:t>
            </a:r>
            <a:r>
              <a:rPr lang="es" sz="900" dirty="0" err="1">
                <a:solidFill>
                  <a:srgbClr val="666666"/>
                </a:solidFill>
              </a:rPr>
              <a:t>bitacora</a:t>
            </a:r>
            <a:r>
              <a:rPr lang="es" sz="900" dirty="0">
                <a:solidFill>
                  <a:srgbClr val="666666"/>
                </a:solidFill>
              </a:rPr>
              <a:t>. Mínimo Mesa de Ayuda.</a:t>
            </a:r>
          </a:p>
        </p:txBody>
      </p:sp>
      <p:sp>
        <p:nvSpPr>
          <p:cNvPr id="22" name="desc N3"/>
          <p:cNvSpPr txBox="1"/>
          <p:nvPr/>
        </p:nvSpPr>
        <p:spPr>
          <a:xfrm>
            <a:off x="3886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 b="1" dirty="0">
                <a:solidFill>
                  <a:srgbClr val="0E337C"/>
                </a:solidFill>
              </a:rPr>
              <a:t>Estandarizado. RACI, ANS y </a:t>
            </a:r>
            <a:r>
              <a:rPr lang="es" sz="900" b="1">
                <a:solidFill>
                  <a:srgbClr val="0E337C"/>
                </a:solidFill>
              </a:rPr>
              <a:t>catálogo</a:t>
            </a:r>
            <a:r>
              <a:rPr lang="es" sz="900" b="1" dirty="0">
                <a:solidFill>
                  <a:srgbClr val="0E337C"/>
                </a:solidFill>
              </a:rPr>
              <a:t>. </a:t>
            </a:r>
            <a:r>
              <a:rPr lang="es" sz="900" b="1">
                <a:solidFill>
                  <a:srgbClr val="0E337C"/>
                </a:solidFill>
              </a:rPr>
              <a:t>Mínimo</a:t>
            </a:r>
            <a:r>
              <a:rPr lang="es" sz="900" b="1" dirty="0">
                <a:solidFill>
                  <a:srgbClr val="0E337C"/>
                </a:solidFill>
              </a:rPr>
              <a:t> Mesa de Soporte. META WAVE 1.</a:t>
            </a:r>
          </a:p>
        </p:txBody>
      </p:sp>
      <p:sp>
        <p:nvSpPr>
          <p:cNvPr id="23" name="desc N4"/>
          <p:cNvSpPr txBox="1"/>
          <p:nvPr/>
        </p:nvSpPr>
        <p:spPr>
          <a:xfrm>
            <a:off x="5600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Datos reales. KPIs medidos. Costo por ticket calculado.</a:t>
            </a:r>
          </a:p>
        </p:txBody>
      </p:sp>
      <p:sp>
        <p:nvSpPr>
          <p:cNvPr id="24" name="desc N5"/>
          <p:cNvSpPr txBox="1"/>
          <p:nvPr/>
        </p:nvSpPr>
        <p:spPr>
          <a:xfrm>
            <a:off x="7315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 dirty="0">
                <a:solidFill>
                  <a:srgbClr val="666666"/>
                </a:solidFill>
              </a:rPr>
              <a:t>IA activa. </a:t>
            </a:r>
            <a:r>
              <a:rPr lang="es" sz="900" dirty="0" err="1">
                <a:solidFill>
                  <a:srgbClr val="666666"/>
                </a:solidFill>
              </a:rPr>
              <a:t>AIOps</a:t>
            </a:r>
            <a:r>
              <a:rPr lang="es" sz="900" dirty="0">
                <a:solidFill>
                  <a:srgbClr val="666666"/>
                </a:solidFill>
              </a:rPr>
              <a:t>. Mejora continua automatizada. Autónomo e inteligente.</a:t>
            </a:r>
          </a:p>
        </p:txBody>
      </p:sp>
      <p:sp>
        <p:nvSpPr>
          <p:cNvPr id="30" name="modelo reactivo"/>
          <p:cNvSpPr txBox="1"/>
          <p:nvPr/>
        </p:nvSpPr>
        <p:spPr>
          <a:xfrm>
            <a:off x="457200" y="3543300"/>
            <a:ext cx="274275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</a:rPr>
              <a:t>Reactivo y Crecimiento Automatizado</a:t>
            </a:r>
          </a:p>
        </p:txBody>
      </p:sp>
      <p:sp>
        <p:nvSpPr>
          <p:cNvPr id="31" name="modelo predictivo"/>
          <p:cNvSpPr txBox="1"/>
          <p:nvPr/>
        </p:nvSpPr>
        <p:spPr>
          <a:xfrm>
            <a:off x="3257550" y="3543300"/>
            <a:ext cx="2742750" cy="4572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</a:rPr>
              <a:t>Predictivo y Evolutivo</a:t>
            </a:r>
          </a:p>
        </p:txBody>
      </p:sp>
      <p:sp>
        <p:nvSpPr>
          <p:cNvPr id="32" name="modelo autonomo"/>
          <p:cNvSpPr txBox="1"/>
          <p:nvPr/>
        </p:nvSpPr>
        <p:spPr>
          <a:xfrm>
            <a:off x="6057900" y="3543300"/>
            <a:ext cx="2743500" cy="4572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85041"/>
                </a:solidFill>
              </a:rPr>
              <a:t>Autonomo e Inteligente</a:t>
            </a:r>
          </a:p>
        </p:txBody>
      </p:sp>
      <p:sp>
        <p:nvSpPr>
          <p:cNvPr id="40" name="nota estrella"/>
          <p:cNvSpPr txBox="1"/>
          <p:nvPr/>
        </p:nvSpPr>
        <p:spPr>
          <a:xfrm>
            <a:off x="457200" y="40572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/>
          <a:lstStyle/>
          <a:p>
            <a:pPr algn="l">
              <a:buNone/>
            </a:pPr>
            <a:r>
              <a:rPr lang="es" sz="900" i="1" dirty="0">
                <a:solidFill>
                  <a:srgbClr val="888888"/>
                </a:solidFill>
              </a:rPr>
              <a:t>★ Nivel </a:t>
            </a:r>
            <a:r>
              <a:rPr lang="es" sz="900" i="1">
                <a:solidFill>
                  <a:srgbClr val="888888"/>
                </a:solidFill>
              </a:rPr>
              <a:t>mínimo</a:t>
            </a:r>
            <a:r>
              <a:rPr lang="es" sz="900" i="1" dirty="0">
                <a:solidFill>
                  <a:srgbClr val="888888"/>
                </a:solidFill>
              </a:rPr>
              <a:t> requerido para Mesa de Soporte · Objetivo Wave 1 (SURA + Bancolombia) · Q3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>
            <a:spLocks noGrp="1"/>
          </p:cNvSpPr>
          <p:nvPr>
            <p:ph type="title"/>
          </p:nvPr>
        </p:nvSpPr>
        <p:spPr>
          <a:xfrm>
            <a:off x="490250" y="1101350"/>
            <a:ext cx="83130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 sz="5100"/>
              <a:t>La unión de personas</a:t>
            </a:r>
            <a:endParaRPr sz="5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 sz="5100"/>
              <a:t>y tecnología puede</a:t>
            </a:r>
            <a:endParaRPr sz="5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 sz="5100"/>
              <a:t>transformar el mundo </a:t>
            </a:r>
            <a:endParaRPr sz="5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48ECF7-B6AC-091D-B6FF-60289B10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TLSHAPE_M_b8c603269952439b977cb103e5f76bdb_Connector1">
            <a:extLst>
              <a:ext uri="{FF2B5EF4-FFF2-40B4-BE49-F238E27FC236}">
                <a16:creationId xmlns:a16="http://schemas.microsoft.com/office/drawing/2014/main" id="{905FAF03-5251-9129-B98B-C905FF00784D}"/>
              </a:ext>
            </a:extLst>
          </p:cNvPr>
          <p:cNvSpPr/>
          <p:nvPr/>
        </p:nvSpPr>
        <p:spPr>
          <a:xfrm>
            <a:off x="8051079" y="1010887"/>
            <a:ext cx="1" cy="326867"/>
          </a:xfrm>
          <a:prstGeom prst="line">
            <a:avLst/>
          </a:prstGeom>
          <a:ln>
            <a:solidFill>
              <a:srgbClr val="4F81BD">
                <a:alpha val="49804"/>
              </a:srgbClr>
            </a:solidFill>
            <a:miter/>
          </a:ln>
        </p:spPr>
        <p:txBody>
          <a:bodyPr lIns="34289" rIns="34289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13"/>
          </a:p>
        </p:txBody>
      </p:sp>
      <p:sp>
        <p:nvSpPr>
          <p:cNvPr id="102" name="PlaceHolder 2">
            <a:extLst>
              <a:ext uri="{FF2B5EF4-FFF2-40B4-BE49-F238E27FC236}">
                <a16:creationId xmlns:a16="http://schemas.microsoft.com/office/drawing/2014/main" id="{0BF0EEA9-798F-EDCC-FF7C-F54FA8B4453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10365" y="1700750"/>
            <a:ext cx="5616720" cy="1391040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91440" rIns="91440" bIns="91440" rtlCol="0" anchor="t">
            <a:no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MX" sz="1800">
                <a:latin typeface="-apple-system"/>
              </a:rPr>
              <a:t> </a:t>
            </a:r>
            <a:endParaRPr lang="es-CO" sz="180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134;p2">
            <a:extLst>
              <a:ext uri="{FF2B5EF4-FFF2-40B4-BE49-F238E27FC236}">
                <a16:creationId xmlns:a16="http://schemas.microsoft.com/office/drawing/2014/main" id="{6DF6F471-8B70-DE5A-6844-94FCA415F65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98925" y="4105250"/>
            <a:ext cx="539640" cy="279720"/>
          </a:xfrm>
          <a:prstGeom prst="rect">
            <a:avLst/>
          </a:prstGeom>
          <a:ln w="0">
            <a:noFill/>
          </a:ln>
        </p:spPr>
      </p:pic>
      <p:sp>
        <p:nvSpPr>
          <p:cNvPr id="9" name="OTLSHAPE_SL_79f05e8de72e4cc385fce875fa65517f_BackgroundRectangle">
            <a:extLst>
              <a:ext uri="{FF2B5EF4-FFF2-40B4-BE49-F238E27FC236}">
                <a16:creationId xmlns:a16="http://schemas.microsoft.com/office/drawing/2014/main" id="{13EC9A21-DDCA-D01F-1DB8-9696D6951C06}"/>
              </a:ext>
            </a:extLst>
          </p:cNvPr>
          <p:cNvSpPr/>
          <p:nvPr/>
        </p:nvSpPr>
        <p:spPr>
          <a:xfrm>
            <a:off x="416158" y="1771815"/>
            <a:ext cx="8360072" cy="2875323"/>
          </a:xfrm>
          <a:prstGeom prst="rect">
            <a:avLst/>
          </a:prstGeom>
          <a:solidFill>
            <a:schemeClr val="accent1">
              <a:lumMod val="40000"/>
              <a:lumOff val="60000"/>
              <a:alpha val="18661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 dirty="0"/>
          </a:p>
        </p:txBody>
      </p:sp>
      <p:sp>
        <p:nvSpPr>
          <p:cNvPr id="20" name="OTLSHAPE_TB_00000000000000000000000000000000_ScaleContainer">
            <a:extLst>
              <a:ext uri="{FF2B5EF4-FFF2-40B4-BE49-F238E27FC236}">
                <a16:creationId xmlns:a16="http://schemas.microsoft.com/office/drawing/2014/main" id="{B9E51829-0BD5-C4F5-4A72-90541D35091B}"/>
              </a:ext>
            </a:extLst>
          </p:cNvPr>
          <p:cNvSpPr/>
          <p:nvPr/>
        </p:nvSpPr>
        <p:spPr>
          <a:xfrm>
            <a:off x="979424" y="1234653"/>
            <a:ext cx="7827564" cy="161647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21" name="OTLSHAPE_SL_79f05e8de72e4cc385fce875fa65517f_HeaderRectangle">
            <a:extLst>
              <a:ext uri="{FF2B5EF4-FFF2-40B4-BE49-F238E27FC236}">
                <a16:creationId xmlns:a16="http://schemas.microsoft.com/office/drawing/2014/main" id="{15761FC0-6B8D-C39D-7FEE-57AF3DE2D892}"/>
              </a:ext>
            </a:extLst>
          </p:cNvPr>
          <p:cNvSpPr/>
          <p:nvPr/>
        </p:nvSpPr>
        <p:spPr>
          <a:xfrm>
            <a:off x="396549" y="1778070"/>
            <a:ext cx="495300" cy="2829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48" name="OTLSHAPE_TB_00000000000000000000000000000000_ElapsedTime">
            <a:extLst>
              <a:ext uri="{FF2B5EF4-FFF2-40B4-BE49-F238E27FC236}">
                <a16:creationId xmlns:a16="http://schemas.microsoft.com/office/drawing/2014/main" id="{E7615FC4-78E3-12B5-C266-E4FD86BCC691}"/>
              </a:ext>
            </a:extLst>
          </p:cNvPr>
          <p:cNvSpPr/>
          <p:nvPr/>
        </p:nvSpPr>
        <p:spPr>
          <a:xfrm>
            <a:off x="982274" y="1400689"/>
            <a:ext cx="7087652" cy="39722"/>
          </a:xfrm>
          <a:prstGeom prst="roundRect">
            <a:avLst>
              <a:gd name="adj" fmla="val 16667"/>
            </a:avLst>
          </a:prstGeom>
          <a:solidFill>
            <a:srgbClr val="E6215D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62" name="OTLSHAPE_SL_79f05e8de72e4cc385fce875fa65517f_Header">
            <a:extLst>
              <a:ext uri="{FF2B5EF4-FFF2-40B4-BE49-F238E27FC236}">
                <a16:creationId xmlns:a16="http://schemas.microsoft.com/office/drawing/2014/main" id="{2AB2D5B5-4522-79DF-D12C-300579606D62}"/>
              </a:ext>
            </a:extLst>
          </p:cNvPr>
          <p:cNvSpPr txBox="1"/>
          <p:nvPr/>
        </p:nvSpPr>
        <p:spPr>
          <a:xfrm rot="16200000">
            <a:off x="317774" y="2757036"/>
            <a:ext cx="605365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13" dirty="0"/>
              <a:t>MESA DE SOPORTE</a:t>
            </a:r>
            <a:endParaRPr sz="1013" dirty="0"/>
          </a:p>
        </p:txBody>
      </p:sp>
      <p:sp>
        <p:nvSpPr>
          <p:cNvPr id="66" name="OTLSHAPE_TB_00000000000000000000000000000000_TimescaleInterval1">
            <a:extLst>
              <a:ext uri="{FF2B5EF4-FFF2-40B4-BE49-F238E27FC236}">
                <a16:creationId xmlns:a16="http://schemas.microsoft.com/office/drawing/2014/main" id="{BD055146-1365-AB06-AF35-BA5C8CF0AEE2}"/>
              </a:ext>
            </a:extLst>
          </p:cNvPr>
          <p:cNvSpPr txBox="1"/>
          <p:nvPr/>
        </p:nvSpPr>
        <p:spPr>
          <a:xfrm>
            <a:off x="1543968" y="1234135"/>
            <a:ext cx="38518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Mayo</a:t>
            </a:r>
            <a:endParaRPr sz="1013"/>
          </a:p>
        </p:txBody>
      </p:sp>
      <p:sp>
        <p:nvSpPr>
          <p:cNvPr id="67" name="OTLSHAPE_TB_00000000000000000000000000000000_TimescaleInterval2">
            <a:extLst>
              <a:ext uri="{FF2B5EF4-FFF2-40B4-BE49-F238E27FC236}">
                <a16:creationId xmlns:a16="http://schemas.microsoft.com/office/drawing/2014/main" id="{599320AE-9425-E0EE-0D48-A2F7E84BBBF8}"/>
              </a:ext>
            </a:extLst>
          </p:cNvPr>
          <p:cNvSpPr txBox="1"/>
          <p:nvPr/>
        </p:nvSpPr>
        <p:spPr>
          <a:xfrm>
            <a:off x="3471517" y="1335897"/>
            <a:ext cx="249829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Junio</a:t>
            </a:r>
            <a:endParaRPr sz="1013"/>
          </a:p>
        </p:txBody>
      </p:sp>
      <p:sp>
        <p:nvSpPr>
          <p:cNvPr id="68" name="OTLSHAPE_TB_00000000000000000000000000000000_TimescaleInterval3">
            <a:extLst>
              <a:ext uri="{FF2B5EF4-FFF2-40B4-BE49-F238E27FC236}">
                <a16:creationId xmlns:a16="http://schemas.microsoft.com/office/drawing/2014/main" id="{47B8E293-5090-0E6D-9C25-15D444122460}"/>
              </a:ext>
            </a:extLst>
          </p:cNvPr>
          <p:cNvSpPr txBox="1"/>
          <p:nvPr/>
        </p:nvSpPr>
        <p:spPr>
          <a:xfrm>
            <a:off x="4791421" y="1451698"/>
            <a:ext cx="399545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Julio</a:t>
            </a:r>
            <a:endParaRPr sz="1013"/>
          </a:p>
        </p:txBody>
      </p:sp>
      <p:sp>
        <p:nvSpPr>
          <p:cNvPr id="69" name="OTLSHAPE_TB_00000000000000000000000000000000_TimescaleInterval4">
            <a:extLst>
              <a:ext uri="{FF2B5EF4-FFF2-40B4-BE49-F238E27FC236}">
                <a16:creationId xmlns:a16="http://schemas.microsoft.com/office/drawing/2014/main" id="{87C3A839-DD6E-0D32-B15E-B4795906375A}"/>
              </a:ext>
            </a:extLst>
          </p:cNvPr>
          <p:cNvSpPr txBox="1"/>
          <p:nvPr/>
        </p:nvSpPr>
        <p:spPr>
          <a:xfrm>
            <a:off x="6092060" y="1345806"/>
            <a:ext cx="335957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Agosto</a:t>
            </a:r>
            <a:endParaRPr sz="1013"/>
          </a:p>
        </p:txBody>
      </p:sp>
      <p:sp>
        <p:nvSpPr>
          <p:cNvPr id="76" name="OTLSHAPE_TB_00000000000000000000000000000000_TimescaleInterval11">
            <a:extLst>
              <a:ext uri="{FF2B5EF4-FFF2-40B4-BE49-F238E27FC236}">
                <a16:creationId xmlns:a16="http://schemas.microsoft.com/office/drawing/2014/main" id="{307EDD75-FD4C-4A65-B3CF-73DC5DDAD942}"/>
              </a:ext>
            </a:extLst>
          </p:cNvPr>
          <p:cNvSpPr txBox="1"/>
          <p:nvPr/>
        </p:nvSpPr>
        <p:spPr>
          <a:xfrm>
            <a:off x="7590721" y="1454680"/>
            <a:ext cx="49" cy="13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13"/>
          </a:p>
        </p:txBody>
      </p:sp>
      <p:sp>
        <p:nvSpPr>
          <p:cNvPr id="78" name="OTLSHAPE_TB_00000000000000000000000000000000_ScaleMarking1">
            <a:extLst>
              <a:ext uri="{FF2B5EF4-FFF2-40B4-BE49-F238E27FC236}">
                <a16:creationId xmlns:a16="http://schemas.microsoft.com/office/drawing/2014/main" id="{7D636E7B-5C47-A321-6EDC-77D78C0ABADA}"/>
              </a:ext>
            </a:extLst>
          </p:cNvPr>
          <p:cNvSpPr txBox="1"/>
          <p:nvPr/>
        </p:nvSpPr>
        <p:spPr>
          <a:xfrm>
            <a:off x="717566" y="1383798"/>
            <a:ext cx="237565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2026</a:t>
            </a:r>
            <a:endParaRPr sz="1013"/>
          </a:p>
        </p:txBody>
      </p:sp>
      <p:sp>
        <p:nvSpPr>
          <p:cNvPr id="115" name="OTLSHAPE_M_177188707e544830b8ce884a45b14d3a_Shape">
            <a:extLst>
              <a:ext uri="{FF2B5EF4-FFF2-40B4-BE49-F238E27FC236}">
                <a16:creationId xmlns:a16="http://schemas.microsoft.com/office/drawing/2014/main" id="{3EE1939F-CD6F-7EE0-73F2-52B596E82DA3}"/>
              </a:ext>
            </a:extLst>
          </p:cNvPr>
          <p:cNvSpPr/>
          <p:nvPr/>
        </p:nvSpPr>
        <p:spPr>
          <a:xfrm>
            <a:off x="3398433" y="836846"/>
            <a:ext cx="123826" cy="122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3513" extrusionOk="0">
                <a:moveTo>
                  <a:pt x="0" y="1641"/>
                </a:moveTo>
                <a:cubicBezTo>
                  <a:pt x="7200" y="-4043"/>
                  <a:pt x="14400" y="7325"/>
                  <a:pt x="21600" y="1641"/>
                </a:cubicBezTo>
                <a:lnTo>
                  <a:pt x="21600" y="11873"/>
                </a:lnTo>
                <a:cubicBezTo>
                  <a:pt x="14400" y="17557"/>
                  <a:pt x="7200" y="6189"/>
                  <a:pt x="0" y="11873"/>
                </a:cubicBezTo>
                <a:close/>
              </a:path>
            </a:pathLst>
          </a:custGeom>
          <a:solidFill>
            <a:srgbClr val="0070C0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37" name="PlaceHolder 1">
            <a:extLst>
              <a:ext uri="{FF2B5EF4-FFF2-40B4-BE49-F238E27FC236}">
                <a16:creationId xmlns:a16="http://schemas.microsoft.com/office/drawing/2014/main" id="{3445C141-3DF5-8077-88A0-6CD287D76DD1}"/>
              </a:ext>
            </a:extLst>
          </p:cNvPr>
          <p:cNvSpPr txBox="1">
            <a:spLocks/>
          </p:cNvSpPr>
          <p:nvPr/>
        </p:nvSpPr>
        <p:spPr>
          <a:xfrm>
            <a:off x="606048" y="16609"/>
            <a:ext cx="6474053" cy="51889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625" b="1" spc="-1" dirty="0">
                <a:solidFill>
                  <a:schemeClr val="dk1"/>
                </a:solidFill>
                <a:highlight>
                  <a:srgbClr val="FFFFFF"/>
                </a:highlight>
                <a:latin typeface="Reddit Sans"/>
                <a:ea typeface="Reddit Sans"/>
              </a:rPr>
              <a:t>1. Road Map Servicio Mesa de Soporte</a:t>
            </a:r>
            <a:endParaRPr lang="es-CO" sz="2625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8" name="Google Shape;133;p2">
            <a:extLst>
              <a:ext uri="{FF2B5EF4-FFF2-40B4-BE49-F238E27FC236}">
                <a16:creationId xmlns:a16="http://schemas.microsoft.com/office/drawing/2014/main" id="{CE2F41CB-4EFD-BC6E-2576-0D14739ED033}"/>
              </a:ext>
            </a:extLst>
          </p:cNvPr>
          <p:cNvCxnSpPr>
            <a:cxnSpLocks/>
          </p:cNvCxnSpPr>
          <p:nvPr/>
        </p:nvCxnSpPr>
        <p:spPr>
          <a:xfrm>
            <a:off x="540080" y="535500"/>
            <a:ext cx="8152521" cy="0"/>
          </a:xfrm>
          <a:prstGeom prst="straightConnector1">
            <a:avLst/>
          </a:prstGeom>
          <a:ln w="19050">
            <a:solidFill>
              <a:srgbClr val="0E337C"/>
            </a:solidFill>
            <a:round/>
          </a:ln>
        </p:spPr>
      </p:cxnSp>
      <p:graphicFrame>
        <p:nvGraphicFramePr>
          <p:cNvPr id="146" name="Tabla 145">
            <a:extLst>
              <a:ext uri="{FF2B5EF4-FFF2-40B4-BE49-F238E27FC236}">
                <a16:creationId xmlns:a16="http://schemas.microsoft.com/office/drawing/2014/main" id="{FBF55B3E-F11F-63C4-EE30-2EE14C599427}"/>
              </a:ext>
            </a:extLst>
          </p:cNvPr>
          <p:cNvGraphicFramePr>
            <a:graphicFrameLocks noGrp="1"/>
          </p:cNvGraphicFramePr>
          <p:nvPr/>
        </p:nvGraphicFramePr>
        <p:xfrm>
          <a:off x="982275" y="1446623"/>
          <a:ext cx="6098540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152401027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312394519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338715781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58734772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013832809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27560483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027611045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9660883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325894667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965045716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117533961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685601858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67196359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89579790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15407165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08754903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564706756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09728082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27805203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74089391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471384223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017030869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000439031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3910591047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20219757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r>
                        <a:rPr lang="es-CO" sz="10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996600"/>
                  </a:ext>
                </a:extLst>
              </a:tr>
            </a:tbl>
          </a:graphicData>
        </a:graphic>
      </p:graphicFrame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05C78DF6-6FA3-69B6-E8CC-1F55D2925511}"/>
              </a:ext>
            </a:extLst>
          </p:cNvPr>
          <p:cNvCxnSpPr>
            <a:cxnSpLocks/>
          </p:cNvCxnSpPr>
          <p:nvPr/>
        </p:nvCxnSpPr>
        <p:spPr>
          <a:xfrm>
            <a:off x="2196089" y="1238706"/>
            <a:ext cx="0" cy="3369292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TLSHAPE_TB_00000000000000000000000000000000_TimescaleInterval1">
            <a:extLst>
              <a:ext uri="{FF2B5EF4-FFF2-40B4-BE49-F238E27FC236}">
                <a16:creationId xmlns:a16="http://schemas.microsoft.com/office/drawing/2014/main" id="{AEA57161-773B-97A5-38BA-1E906BF23122}"/>
              </a:ext>
            </a:extLst>
          </p:cNvPr>
          <p:cNvSpPr txBox="1"/>
          <p:nvPr/>
        </p:nvSpPr>
        <p:spPr>
          <a:xfrm>
            <a:off x="2610777" y="1237549"/>
            <a:ext cx="38518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Junio</a:t>
            </a:r>
            <a:endParaRPr sz="1013"/>
          </a:p>
        </p:txBody>
      </p:sp>
      <p:cxnSp>
        <p:nvCxnSpPr>
          <p:cNvPr id="154" name="Conector recto 153">
            <a:extLst>
              <a:ext uri="{FF2B5EF4-FFF2-40B4-BE49-F238E27FC236}">
                <a16:creationId xmlns:a16="http://schemas.microsoft.com/office/drawing/2014/main" id="{EBB1E36D-92A3-8C64-DB02-6876784A6465}"/>
              </a:ext>
            </a:extLst>
          </p:cNvPr>
          <p:cNvCxnSpPr>
            <a:cxnSpLocks/>
          </p:cNvCxnSpPr>
          <p:nvPr/>
        </p:nvCxnSpPr>
        <p:spPr>
          <a:xfrm flipH="1">
            <a:off x="3404345" y="1273033"/>
            <a:ext cx="10982" cy="33692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TLSHAPE_SLT_526de5b69e97497f9a5625d453beb623_Title">
            <a:extLst>
              <a:ext uri="{FF2B5EF4-FFF2-40B4-BE49-F238E27FC236}">
                <a16:creationId xmlns:a16="http://schemas.microsoft.com/office/drawing/2014/main" id="{B25F509F-0F2A-17AB-0C20-C729EBD4752F}"/>
              </a:ext>
            </a:extLst>
          </p:cNvPr>
          <p:cNvSpPr txBox="1"/>
          <p:nvPr/>
        </p:nvSpPr>
        <p:spPr>
          <a:xfrm>
            <a:off x="3549120" y="2224504"/>
            <a:ext cx="78474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 dirty="0"/>
              <a:t>* Oferta de Valor</a:t>
            </a:r>
            <a:endParaRPr sz="750" dirty="0"/>
          </a:p>
        </p:txBody>
      </p:sp>
      <p:sp>
        <p:nvSpPr>
          <p:cNvPr id="16" name="OTLSHAPE_SLT_526de5b69e97497f9a5625d453beb623_Title">
            <a:extLst>
              <a:ext uri="{FF2B5EF4-FFF2-40B4-BE49-F238E27FC236}">
                <a16:creationId xmlns:a16="http://schemas.microsoft.com/office/drawing/2014/main" id="{FB3D29B5-306B-10BF-34D3-CB3A5DA81246}"/>
              </a:ext>
            </a:extLst>
          </p:cNvPr>
          <p:cNvSpPr txBox="1"/>
          <p:nvPr/>
        </p:nvSpPr>
        <p:spPr>
          <a:xfrm>
            <a:off x="1739190" y="2107035"/>
            <a:ext cx="871588" cy="12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13"/>
          </a:p>
        </p:txBody>
      </p:sp>
      <p:sp>
        <p:nvSpPr>
          <p:cNvPr id="25" name="OTLSHAPE_SLT_526de5b69e97497f9a5625d453beb623_Title">
            <a:extLst>
              <a:ext uri="{FF2B5EF4-FFF2-40B4-BE49-F238E27FC236}">
                <a16:creationId xmlns:a16="http://schemas.microsoft.com/office/drawing/2014/main" id="{9533F742-F8CB-2262-5B27-27057EAEC721}"/>
              </a:ext>
            </a:extLst>
          </p:cNvPr>
          <p:cNvSpPr txBox="1"/>
          <p:nvPr/>
        </p:nvSpPr>
        <p:spPr>
          <a:xfrm>
            <a:off x="3563322" y="2363841"/>
            <a:ext cx="110756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 dirty="0"/>
              <a:t>* Business Model </a:t>
            </a:r>
            <a:r>
              <a:rPr lang="es-CO" sz="750" dirty="0" err="1"/>
              <a:t>Canvas</a:t>
            </a:r>
            <a:endParaRPr sz="750" dirty="0"/>
          </a:p>
        </p:txBody>
      </p:sp>
      <p:sp>
        <p:nvSpPr>
          <p:cNvPr id="26" name="OTLSHAPE_SLT_526de5b69e97497f9a5625d453beb623_Title">
            <a:extLst>
              <a:ext uri="{FF2B5EF4-FFF2-40B4-BE49-F238E27FC236}">
                <a16:creationId xmlns:a16="http://schemas.microsoft.com/office/drawing/2014/main" id="{C2F10970-AEE1-B67F-8F16-C29EE26E19B7}"/>
              </a:ext>
            </a:extLst>
          </p:cNvPr>
          <p:cNvSpPr txBox="1"/>
          <p:nvPr/>
        </p:nvSpPr>
        <p:spPr>
          <a:xfrm>
            <a:off x="3602946" y="2490792"/>
            <a:ext cx="1123468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Business </a:t>
            </a:r>
            <a:r>
              <a:rPr lang="es-CO" sz="750" dirty="0" err="1"/>
              <a:t>Services</a:t>
            </a:r>
            <a:r>
              <a:rPr lang="es-CO" sz="750" dirty="0"/>
              <a:t> </a:t>
            </a:r>
            <a:r>
              <a:rPr lang="es-CO" sz="750" dirty="0" err="1"/>
              <a:t>Blueprint</a:t>
            </a:r>
            <a:endParaRPr sz="750" dirty="0"/>
          </a:p>
        </p:txBody>
      </p:sp>
      <p:sp>
        <p:nvSpPr>
          <p:cNvPr id="28" name="OTLSHAPE_SLT_526de5b69e97497f9a5625d453beb623_Title">
            <a:extLst>
              <a:ext uri="{FF2B5EF4-FFF2-40B4-BE49-F238E27FC236}">
                <a16:creationId xmlns:a16="http://schemas.microsoft.com/office/drawing/2014/main" id="{EC16AC68-744C-BE1E-4526-1AE695E69419}"/>
              </a:ext>
            </a:extLst>
          </p:cNvPr>
          <p:cNvSpPr txBox="1"/>
          <p:nvPr/>
        </p:nvSpPr>
        <p:spPr>
          <a:xfrm>
            <a:off x="4599258" y="2193256"/>
            <a:ext cx="110756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 dirty="0"/>
              <a:t>* Porfolio Deck</a:t>
            </a:r>
            <a:endParaRPr sz="750" dirty="0"/>
          </a:p>
        </p:txBody>
      </p:sp>
      <p:sp>
        <p:nvSpPr>
          <p:cNvPr id="37" name="OTLSHAPE_SLT_526de5b69e97497f9a5625d453beb623_Title">
            <a:extLst>
              <a:ext uri="{FF2B5EF4-FFF2-40B4-BE49-F238E27FC236}">
                <a16:creationId xmlns:a16="http://schemas.microsoft.com/office/drawing/2014/main" id="{0ABDBDA2-70E7-76C2-FB63-D060289E1ABC}"/>
              </a:ext>
            </a:extLst>
          </p:cNvPr>
          <p:cNvSpPr txBox="1"/>
          <p:nvPr/>
        </p:nvSpPr>
        <p:spPr>
          <a:xfrm>
            <a:off x="3608462" y="2767385"/>
            <a:ext cx="1107567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Esquema general del Servicio</a:t>
            </a:r>
            <a:endParaRPr sz="750" dirty="0"/>
          </a:p>
        </p:txBody>
      </p:sp>
      <p:sp>
        <p:nvSpPr>
          <p:cNvPr id="44" name="OTLSHAPE_M_b8c603269952439b977cb103e5f76bdb_Title">
            <a:extLst>
              <a:ext uri="{FF2B5EF4-FFF2-40B4-BE49-F238E27FC236}">
                <a16:creationId xmlns:a16="http://schemas.microsoft.com/office/drawing/2014/main" id="{77C7B3C0-BCC6-15E5-96B8-DDB033834269}"/>
              </a:ext>
            </a:extLst>
          </p:cNvPr>
          <p:cNvSpPr txBox="1"/>
          <p:nvPr/>
        </p:nvSpPr>
        <p:spPr>
          <a:xfrm>
            <a:off x="3568103" y="820313"/>
            <a:ext cx="56197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13" dirty="0"/>
              <a:t>Inicio</a:t>
            </a:r>
            <a:endParaRPr sz="1013" dirty="0"/>
          </a:p>
        </p:txBody>
      </p:sp>
      <p:sp>
        <p:nvSpPr>
          <p:cNvPr id="45" name="OTLSHAPE_M_b8c603269952439b977cb103e5f76bdb_Connector1">
            <a:extLst>
              <a:ext uri="{FF2B5EF4-FFF2-40B4-BE49-F238E27FC236}">
                <a16:creationId xmlns:a16="http://schemas.microsoft.com/office/drawing/2014/main" id="{1CFBE9B1-AC58-E525-8CCC-1978D73E7F4F}"/>
              </a:ext>
            </a:extLst>
          </p:cNvPr>
          <p:cNvSpPr/>
          <p:nvPr/>
        </p:nvSpPr>
        <p:spPr>
          <a:xfrm>
            <a:off x="3409414" y="946166"/>
            <a:ext cx="1" cy="326867"/>
          </a:xfrm>
          <a:prstGeom prst="line">
            <a:avLst/>
          </a:prstGeom>
          <a:ln>
            <a:solidFill>
              <a:srgbClr val="4F81BD">
                <a:alpha val="49804"/>
              </a:srgbClr>
            </a:solidFill>
            <a:miter/>
          </a:ln>
        </p:spPr>
        <p:txBody>
          <a:bodyPr lIns="34289" rIns="34289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13"/>
          </a:p>
        </p:txBody>
      </p:sp>
      <p:sp>
        <p:nvSpPr>
          <p:cNvPr id="46" name="OTLSHAPE_M_177188707e544830b8ce884a45b14d3a_Date">
            <a:extLst>
              <a:ext uri="{FF2B5EF4-FFF2-40B4-BE49-F238E27FC236}">
                <a16:creationId xmlns:a16="http://schemas.microsoft.com/office/drawing/2014/main" id="{896FE7A0-21F1-28A4-339B-24D1084A8137}"/>
              </a:ext>
            </a:extLst>
          </p:cNvPr>
          <p:cNvSpPr txBox="1"/>
          <p:nvPr/>
        </p:nvSpPr>
        <p:spPr>
          <a:xfrm>
            <a:off x="3593976" y="925347"/>
            <a:ext cx="247651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dirty="0"/>
              <a:t>Julio</a:t>
            </a:r>
            <a:r>
              <a:rPr sz="1013" dirty="0"/>
              <a:t> </a:t>
            </a:r>
            <a:r>
              <a:rPr lang="es-CO" sz="1013" dirty="0"/>
              <a:t>01</a:t>
            </a:r>
            <a:endParaRPr sz="1013" dirty="0"/>
          </a:p>
        </p:txBody>
      </p:sp>
      <p:sp>
        <p:nvSpPr>
          <p:cNvPr id="74" name="OTLSHAPE_TB_00000000000000000000000000000000_TimescaleInterval1">
            <a:extLst>
              <a:ext uri="{FF2B5EF4-FFF2-40B4-BE49-F238E27FC236}">
                <a16:creationId xmlns:a16="http://schemas.microsoft.com/office/drawing/2014/main" id="{B243F692-16E1-DE90-2E69-3D9F9AE4EF4B}"/>
              </a:ext>
            </a:extLst>
          </p:cNvPr>
          <p:cNvSpPr txBox="1"/>
          <p:nvPr/>
        </p:nvSpPr>
        <p:spPr>
          <a:xfrm>
            <a:off x="3823128" y="1235566"/>
            <a:ext cx="38518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Julio</a:t>
            </a:r>
            <a:endParaRPr sz="1013"/>
          </a:p>
        </p:txBody>
      </p:sp>
      <p:sp>
        <p:nvSpPr>
          <p:cNvPr id="98" name="OTLSHAPE_SLT_526de5b69e97497f9a5625d453beb623_Title">
            <a:extLst>
              <a:ext uri="{FF2B5EF4-FFF2-40B4-BE49-F238E27FC236}">
                <a16:creationId xmlns:a16="http://schemas.microsoft.com/office/drawing/2014/main" id="{5C8154C9-FDD9-A1A7-53F3-73936BCFAAE5}"/>
              </a:ext>
            </a:extLst>
          </p:cNvPr>
          <p:cNvSpPr txBox="1"/>
          <p:nvPr/>
        </p:nvSpPr>
        <p:spPr>
          <a:xfrm>
            <a:off x="5785493" y="2492848"/>
            <a:ext cx="78474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 dirty="0"/>
              <a:t>*  WBS</a:t>
            </a:r>
            <a:endParaRPr sz="750" dirty="0"/>
          </a:p>
        </p:txBody>
      </p:sp>
      <p:sp>
        <p:nvSpPr>
          <p:cNvPr id="100" name="OTLSHAPE_SLM_2906e62c2d64423a8a6ff0cffce343fd_Shape">
            <a:extLst>
              <a:ext uri="{FF2B5EF4-FFF2-40B4-BE49-F238E27FC236}">
                <a16:creationId xmlns:a16="http://schemas.microsoft.com/office/drawing/2014/main" id="{3C10EA9D-5C16-F0CB-0F48-91F4225934EB}"/>
              </a:ext>
            </a:extLst>
          </p:cNvPr>
          <p:cNvSpPr/>
          <p:nvPr/>
        </p:nvSpPr>
        <p:spPr>
          <a:xfrm>
            <a:off x="4699345" y="2179143"/>
            <a:ext cx="114301" cy="133351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03" name="OTLSHAPE_SLT_526de5b69e97497f9a5625d453beb623_Title">
            <a:extLst>
              <a:ext uri="{FF2B5EF4-FFF2-40B4-BE49-F238E27FC236}">
                <a16:creationId xmlns:a16="http://schemas.microsoft.com/office/drawing/2014/main" id="{657BC46A-0397-744A-D685-017131625032}"/>
              </a:ext>
            </a:extLst>
          </p:cNvPr>
          <p:cNvSpPr txBox="1"/>
          <p:nvPr/>
        </p:nvSpPr>
        <p:spPr>
          <a:xfrm>
            <a:off x="6040984" y="3020263"/>
            <a:ext cx="973113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Costo equipo del servicio</a:t>
            </a:r>
            <a:endParaRPr sz="750" dirty="0"/>
          </a:p>
        </p:txBody>
      </p:sp>
      <p:sp>
        <p:nvSpPr>
          <p:cNvPr id="105" name="OTLSHAPE_SLT_526de5b69e97497f9a5625d453beb623_Title">
            <a:extLst>
              <a:ext uri="{FF2B5EF4-FFF2-40B4-BE49-F238E27FC236}">
                <a16:creationId xmlns:a16="http://schemas.microsoft.com/office/drawing/2014/main" id="{F6DDB9E1-9418-1318-9780-ABA1E6FAA291}"/>
              </a:ext>
            </a:extLst>
          </p:cNvPr>
          <p:cNvSpPr txBox="1"/>
          <p:nvPr/>
        </p:nvSpPr>
        <p:spPr>
          <a:xfrm>
            <a:off x="5457594" y="3291715"/>
            <a:ext cx="1670402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 dirty="0"/>
              <a:t>* Matriz RACI</a:t>
            </a:r>
            <a:endParaRPr sz="750" dirty="0"/>
          </a:p>
        </p:txBody>
      </p:sp>
      <p:sp>
        <p:nvSpPr>
          <p:cNvPr id="117" name="OTLSHAPE_SLT_526de5b69e97497f9a5625d453beb623_Title">
            <a:extLst>
              <a:ext uri="{FF2B5EF4-FFF2-40B4-BE49-F238E27FC236}">
                <a16:creationId xmlns:a16="http://schemas.microsoft.com/office/drawing/2014/main" id="{F065E83A-E2BF-E04C-BB71-B5617BE13D6B}"/>
              </a:ext>
            </a:extLst>
          </p:cNvPr>
          <p:cNvSpPr txBox="1"/>
          <p:nvPr/>
        </p:nvSpPr>
        <p:spPr>
          <a:xfrm>
            <a:off x="7332537" y="2579835"/>
            <a:ext cx="693371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Pilotos ejecutados en cliente</a:t>
            </a:r>
            <a:endParaRPr sz="750" dirty="0"/>
          </a:p>
        </p:txBody>
      </p:sp>
      <p:sp>
        <p:nvSpPr>
          <p:cNvPr id="142" name="OTLSHAPE_M_b8c603269952439b977cb103e5f76bdb_Title">
            <a:extLst>
              <a:ext uri="{FF2B5EF4-FFF2-40B4-BE49-F238E27FC236}">
                <a16:creationId xmlns:a16="http://schemas.microsoft.com/office/drawing/2014/main" id="{E4CA8DE3-D00C-00C9-FD8D-9F47B3729728}"/>
              </a:ext>
            </a:extLst>
          </p:cNvPr>
          <p:cNvSpPr txBox="1"/>
          <p:nvPr/>
        </p:nvSpPr>
        <p:spPr>
          <a:xfrm>
            <a:off x="8214254" y="834830"/>
            <a:ext cx="561976" cy="15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13" dirty="0"/>
              <a:t>Fin</a:t>
            </a:r>
            <a:endParaRPr sz="1013" dirty="0"/>
          </a:p>
        </p:txBody>
      </p:sp>
      <p:sp>
        <p:nvSpPr>
          <p:cNvPr id="143" name="OTLSHAPE_M_177188707e544830b8ce884a45b14d3a_Shape">
            <a:extLst>
              <a:ext uri="{FF2B5EF4-FFF2-40B4-BE49-F238E27FC236}">
                <a16:creationId xmlns:a16="http://schemas.microsoft.com/office/drawing/2014/main" id="{4D1225D4-CCE3-3618-749F-96408379C13F}"/>
              </a:ext>
            </a:extLst>
          </p:cNvPr>
          <p:cNvSpPr/>
          <p:nvPr/>
        </p:nvSpPr>
        <p:spPr>
          <a:xfrm>
            <a:off x="8042944" y="910978"/>
            <a:ext cx="123826" cy="122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3513" extrusionOk="0">
                <a:moveTo>
                  <a:pt x="0" y="1641"/>
                </a:moveTo>
                <a:cubicBezTo>
                  <a:pt x="7200" y="-4043"/>
                  <a:pt x="14400" y="7325"/>
                  <a:pt x="21600" y="1641"/>
                </a:cubicBezTo>
                <a:lnTo>
                  <a:pt x="21600" y="11873"/>
                </a:lnTo>
                <a:cubicBezTo>
                  <a:pt x="14400" y="17557"/>
                  <a:pt x="7200" y="6189"/>
                  <a:pt x="0" y="11873"/>
                </a:cubicBezTo>
                <a:close/>
              </a:path>
            </a:pathLst>
          </a:custGeom>
          <a:solidFill>
            <a:srgbClr val="92D050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5" name="OTLSHAPE_M_177188707e544830b8ce884a45b14d3a_Date">
            <a:extLst>
              <a:ext uri="{FF2B5EF4-FFF2-40B4-BE49-F238E27FC236}">
                <a16:creationId xmlns:a16="http://schemas.microsoft.com/office/drawing/2014/main" id="{A86EB768-C338-7E12-BEB1-FE025DAE1195}"/>
              </a:ext>
            </a:extLst>
          </p:cNvPr>
          <p:cNvSpPr txBox="1"/>
          <p:nvPr/>
        </p:nvSpPr>
        <p:spPr>
          <a:xfrm>
            <a:off x="8211585" y="951167"/>
            <a:ext cx="550035" cy="311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dirty="0"/>
              <a:t>Octubre</a:t>
            </a:r>
          </a:p>
          <a:p>
            <a:r>
              <a:rPr sz="1013" dirty="0"/>
              <a:t> </a:t>
            </a:r>
            <a:r>
              <a:rPr lang="es-CO" sz="1013" dirty="0"/>
              <a:t>23</a:t>
            </a:r>
          </a:p>
        </p:txBody>
      </p:sp>
      <p:sp>
        <p:nvSpPr>
          <p:cNvPr id="110" name="OTLSHAPE_SLT_526de5b69e97497f9a5625d453beb623_Title">
            <a:extLst>
              <a:ext uri="{FF2B5EF4-FFF2-40B4-BE49-F238E27FC236}">
                <a16:creationId xmlns:a16="http://schemas.microsoft.com/office/drawing/2014/main" id="{754407B4-330E-CE11-C12D-F53466FA6591}"/>
              </a:ext>
            </a:extLst>
          </p:cNvPr>
          <p:cNvSpPr txBox="1"/>
          <p:nvPr/>
        </p:nvSpPr>
        <p:spPr>
          <a:xfrm>
            <a:off x="6032513" y="3453815"/>
            <a:ext cx="98087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Estrategias de transferencia de conocimiento técnico y comercial</a:t>
            </a:r>
            <a:endParaRPr sz="750" dirty="0"/>
          </a:p>
        </p:txBody>
      </p:sp>
      <p:sp>
        <p:nvSpPr>
          <p:cNvPr id="147" name="OTLSHAPE_TB_00000000000000000000000000000000_TimescaleInterval1">
            <a:extLst>
              <a:ext uri="{FF2B5EF4-FFF2-40B4-BE49-F238E27FC236}">
                <a16:creationId xmlns:a16="http://schemas.microsoft.com/office/drawing/2014/main" id="{972983CC-4FB7-3A67-69DC-86CDCCBB02FD}"/>
              </a:ext>
            </a:extLst>
          </p:cNvPr>
          <p:cNvSpPr txBox="1"/>
          <p:nvPr/>
        </p:nvSpPr>
        <p:spPr>
          <a:xfrm>
            <a:off x="7516605" y="1243688"/>
            <a:ext cx="798136" cy="155877"/>
          </a:xfrm>
          <a:prstGeom prst="rect">
            <a:avLst/>
          </a:prstGeom>
          <a:solidFill>
            <a:srgbClr val="4656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/>
              <a:t>  Octubre</a:t>
            </a:r>
            <a:endParaRPr sz="1013"/>
          </a:p>
        </p:txBody>
      </p:sp>
      <p:sp>
        <p:nvSpPr>
          <p:cNvPr id="79" name="OTLSHAPE_TB_00000000000000000000000000000000_TimescaleInterval1">
            <a:extLst>
              <a:ext uri="{FF2B5EF4-FFF2-40B4-BE49-F238E27FC236}">
                <a16:creationId xmlns:a16="http://schemas.microsoft.com/office/drawing/2014/main" id="{B5949E68-056C-33F2-3E85-1B03511EAEBF}"/>
              </a:ext>
            </a:extLst>
          </p:cNvPr>
          <p:cNvSpPr txBox="1"/>
          <p:nvPr/>
        </p:nvSpPr>
        <p:spPr>
          <a:xfrm>
            <a:off x="5084005" y="1240801"/>
            <a:ext cx="496901" cy="155877"/>
          </a:xfrm>
          <a:prstGeom prst="rect">
            <a:avLst/>
          </a:prstGeom>
          <a:solidFill>
            <a:srgbClr val="4656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dirty="0"/>
              <a:t>  Agosto</a:t>
            </a:r>
            <a:endParaRPr sz="1013" dirty="0"/>
          </a:p>
        </p:txBody>
      </p:sp>
      <p:graphicFrame>
        <p:nvGraphicFramePr>
          <p:cNvPr id="165" name="Tabla 164">
            <a:extLst>
              <a:ext uri="{FF2B5EF4-FFF2-40B4-BE49-F238E27FC236}">
                <a16:creationId xmlns:a16="http://schemas.microsoft.com/office/drawing/2014/main" id="{7C1E10C8-405E-FBE5-1D51-07A73025D0A8}"/>
              </a:ext>
            </a:extLst>
          </p:cNvPr>
          <p:cNvGraphicFramePr>
            <a:graphicFrameLocks noGrp="1"/>
          </p:cNvGraphicFramePr>
          <p:nvPr/>
        </p:nvGraphicFramePr>
        <p:xfrm>
          <a:off x="7087714" y="1444257"/>
          <a:ext cx="1709420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152401027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312394519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895797902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408754903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564706756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09728082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1278052032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r>
                        <a:rPr lang="es-CO" sz="10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996600"/>
                  </a:ext>
                </a:extLst>
              </a:tr>
            </a:tbl>
          </a:graphicData>
        </a:graphic>
      </p:graphicFrame>
      <p:sp>
        <p:nvSpPr>
          <p:cNvPr id="172" name="OTLSHAPE_TB_00000000000000000000000000000000_TimescaleInterval1">
            <a:extLst>
              <a:ext uri="{FF2B5EF4-FFF2-40B4-BE49-F238E27FC236}">
                <a16:creationId xmlns:a16="http://schemas.microsoft.com/office/drawing/2014/main" id="{315C0321-AD10-F614-3569-8CB88AA29B2E}"/>
              </a:ext>
            </a:extLst>
          </p:cNvPr>
          <p:cNvSpPr txBox="1"/>
          <p:nvPr/>
        </p:nvSpPr>
        <p:spPr>
          <a:xfrm>
            <a:off x="8375773" y="1226566"/>
            <a:ext cx="385848" cy="155877"/>
          </a:xfrm>
          <a:prstGeom prst="rect">
            <a:avLst/>
          </a:prstGeom>
          <a:solidFill>
            <a:srgbClr val="4656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dirty="0"/>
              <a:t>  Nov</a:t>
            </a:r>
            <a:endParaRPr sz="1013" dirty="0"/>
          </a:p>
        </p:txBody>
      </p:sp>
      <p:sp>
        <p:nvSpPr>
          <p:cNvPr id="19" name="OTLSHAPE_SLT_2ff5b8e034b64a828622147da9a2f6b2_Shape">
            <a:extLst>
              <a:ext uri="{FF2B5EF4-FFF2-40B4-BE49-F238E27FC236}">
                <a16:creationId xmlns:a16="http://schemas.microsoft.com/office/drawing/2014/main" id="{228B4BA0-97D7-A6C0-8FD5-396EFB10E0AD}"/>
              </a:ext>
            </a:extLst>
          </p:cNvPr>
          <p:cNvSpPr/>
          <p:nvPr/>
        </p:nvSpPr>
        <p:spPr>
          <a:xfrm>
            <a:off x="977072" y="1657317"/>
            <a:ext cx="2442876" cy="98773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b="1" i="1">
                <a:solidFill>
                  <a:schemeClr val="tx1">
                    <a:lumMod val="65000"/>
                    <a:lumOff val="35000"/>
                  </a:schemeClr>
                </a:solidFill>
              </a:rPr>
              <a:t>Q2</a:t>
            </a:r>
            <a:endParaRPr sz="800" b="1" i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OTLSHAPE_SLT_2ff5b8e034b64a828622147da9a2f6b2_Shape">
            <a:extLst>
              <a:ext uri="{FF2B5EF4-FFF2-40B4-BE49-F238E27FC236}">
                <a16:creationId xmlns:a16="http://schemas.microsoft.com/office/drawing/2014/main" id="{9F185A85-8997-EAB2-5CF7-3CF41BBB7C20}"/>
              </a:ext>
            </a:extLst>
          </p:cNvPr>
          <p:cNvSpPr/>
          <p:nvPr/>
        </p:nvSpPr>
        <p:spPr>
          <a:xfrm>
            <a:off x="3421915" y="1661664"/>
            <a:ext cx="3655394" cy="95593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b="1" i="1">
                <a:solidFill>
                  <a:schemeClr val="tx1">
                    <a:lumMod val="65000"/>
                    <a:lumOff val="35000"/>
                  </a:schemeClr>
                </a:solidFill>
              </a:rPr>
              <a:t>Q3</a:t>
            </a:r>
            <a:endParaRPr sz="800" i="1"/>
          </a:p>
        </p:txBody>
      </p:sp>
      <p:sp>
        <p:nvSpPr>
          <p:cNvPr id="31" name="OTLSHAPE_SLT_2ff5b8e034b64a828622147da9a2f6b2_Shape">
            <a:extLst>
              <a:ext uri="{FF2B5EF4-FFF2-40B4-BE49-F238E27FC236}">
                <a16:creationId xmlns:a16="http://schemas.microsoft.com/office/drawing/2014/main" id="{6FEE0C82-E379-D4BE-5A32-84B28AF5F805}"/>
              </a:ext>
            </a:extLst>
          </p:cNvPr>
          <p:cNvSpPr/>
          <p:nvPr/>
        </p:nvSpPr>
        <p:spPr>
          <a:xfrm>
            <a:off x="7087780" y="1655799"/>
            <a:ext cx="1699412" cy="103279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b="1" i="1">
                <a:solidFill>
                  <a:schemeClr val="tx1">
                    <a:lumMod val="65000"/>
                    <a:lumOff val="35000"/>
                  </a:schemeClr>
                </a:solidFill>
              </a:rPr>
              <a:t>Q4</a:t>
            </a:r>
            <a:endParaRPr sz="800" i="1"/>
          </a:p>
        </p:txBody>
      </p:sp>
      <p:sp>
        <p:nvSpPr>
          <p:cNvPr id="101" name="OTLSHAPE_SLT_526de5b69e97497f9a5625d453beb623_Title">
            <a:extLst>
              <a:ext uri="{FF2B5EF4-FFF2-40B4-BE49-F238E27FC236}">
                <a16:creationId xmlns:a16="http://schemas.microsoft.com/office/drawing/2014/main" id="{DB11EB4B-9F15-561A-EBBE-13324B85528D}"/>
              </a:ext>
            </a:extLst>
          </p:cNvPr>
          <p:cNvSpPr txBox="1"/>
          <p:nvPr/>
        </p:nvSpPr>
        <p:spPr>
          <a:xfrm>
            <a:off x="6037605" y="2633931"/>
            <a:ext cx="766001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Propuesta de valor y esquema de servicio final</a:t>
            </a:r>
            <a:endParaRPr sz="750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D359882D-FFEB-5B18-F4C3-FCB5680FB37E}"/>
              </a:ext>
            </a:extLst>
          </p:cNvPr>
          <p:cNvCxnSpPr>
            <a:cxnSpLocks/>
          </p:cNvCxnSpPr>
          <p:nvPr/>
        </p:nvCxnSpPr>
        <p:spPr>
          <a:xfrm>
            <a:off x="8067162" y="1353403"/>
            <a:ext cx="2764" cy="328891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TLSHAPE_SLM_2906e62c2d64423a8a6ff0cffce343fd_Shape">
            <a:extLst>
              <a:ext uri="{FF2B5EF4-FFF2-40B4-BE49-F238E27FC236}">
                <a16:creationId xmlns:a16="http://schemas.microsoft.com/office/drawing/2014/main" id="{4D3671C1-48A9-8464-EDD4-133E5396AF13}"/>
              </a:ext>
            </a:extLst>
          </p:cNvPr>
          <p:cNvSpPr/>
          <p:nvPr/>
        </p:nvSpPr>
        <p:spPr>
          <a:xfrm>
            <a:off x="3464247" y="2193980"/>
            <a:ext cx="114301" cy="13335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72" name="OTLSHAPE_SLT_526de5b69e97497f9a5625d453beb623_Title">
            <a:extLst>
              <a:ext uri="{FF2B5EF4-FFF2-40B4-BE49-F238E27FC236}">
                <a16:creationId xmlns:a16="http://schemas.microsoft.com/office/drawing/2014/main" id="{C7CC5D9A-F7E4-22F9-C09F-89ED206DD33C}"/>
              </a:ext>
            </a:extLst>
          </p:cNvPr>
          <p:cNvSpPr txBox="1"/>
          <p:nvPr/>
        </p:nvSpPr>
        <p:spPr>
          <a:xfrm>
            <a:off x="4840696" y="2474250"/>
            <a:ext cx="909201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Ejecución pre- piloto interno.</a:t>
            </a:r>
            <a:endParaRPr sz="750" dirty="0"/>
          </a:p>
        </p:txBody>
      </p:sp>
      <p:sp>
        <p:nvSpPr>
          <p:cNvPr id="97" name="OTLSHAPE_SLT_2ff5b8e034b64a828622147da9a2f6b2_Shape">
            <a:extLst>
              <a:ext uri="{FF2B5EF4-FFF2-40B4-BE49-F238E27FC236}">
                <a16:creationId xmlns:a16="http://schemas.microsoft.com/office/drawing/2014/main" id="{58848BEC-05A6-5729-DEFD-AC6B9B20BDD7}"/>
              </a:ext>
            </a:extLst>
          </p:cNvPr>
          <p:cNvSpPr/>
          <p:nvPr/>
        </p:nvSpPr>
        <p:spPr>
          <a:xfrm>
            <a:off x="4666172" y="1930796"/>
            <a:ext cx="1179324" cy="212160"/>
          </a:xfrm>
          <a:prstGeom prst="roundRect">
            <a:avLst>
              <a:gd name="adj" fmla="val 16667"/>
            </a:avLst>
          </a:prstGeom>
          <a:solidFill>
            <a:schemeClr val="tx2">
              <a:lumMod val="75000"/>
              <a:lumOff val="25000"/>
            </a:schemeClr>
          </a:solidFill>
          <a:ln w="12700"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i="1" dirty="0"/>
              <a:t>03/08 al 26/08</a:t>
            </a:r>
            <a:endParaRPr sz="800" i="1" dirty="0"/>
          </a:p>
        </p:txBody>
      </p:sp>
      <p:sp>
        <p:nvSpPr>
          <p:cNvPr id="73" name="OTLSHAPE_SLT_526de5b69e97497f9a5625d453beb623_Title">
            <a:extLst>
              <a:ext uri="{FF2B5EF4-FFF2-40B4-BE49-F238E27FC236}">
                <a16:creationId xmlns:a16="http://schemas.microsoft.com/office/drawing/2014/main" id="{A2D0EA88-DCC6-9C01-8922-72971CC52103}"/>
              </a:ext>
            </a:extLst>
          </p:cNvPr>
          <p:cNvSpPr txBox="1"/>
          <p:nvPr/>
        </p:nvSpPr>
        <p:spPr>
          <a:xfrm>
            <a:off x="7327688" y="2203287"/>
            <a:ext cx="891041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750" dirty="0"/>
              <a:t>*</a:t>
            </a:r>
            <a:r>
              <a:rPr lang="es-CO" sz="750" dirty="0"/>
              <a:t> Plantillas comerciales (estimación)</a:t>
            </a:r>
            <a:endParaRPr sz="750" dirty="0"/>
          </a:p>
        </p:txBody>
      </p:sp>
      <p:sp>
        <p:nvSpPr>
          <p:cNvPr id="121" name="OTLSHAPE_SLT_526de5b69e97497f9a5625d453beb623_Title">
            <a:extLst>
              <a:ext uri="{FF2B5EF4-FFF2-40B4-BE49-F238E27FC236}">
                <a16:creationId xmlns:a16="http://schemas.microsoft.com/office/drawing/2014/main" id="{5453E0D3-D660-882F-82E4-0849B90FD061}"/>
              </a:ext>
            </a:extLst>
          </p:cNvPr>
          <p:cNvSpPr txBox="1"/>
          <p:nvPr/>
        </p:nvSpPr>
        <p:spPr>
          <a:xfrm>
            <a:off x="7308718" y="2956716"/>
            <a:ext cx="526697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Planes de refinamiento</a:t>
            </a:r>
            <a:endParaRPr sz="750" dirty="0"/>
          </a:p>
        </p:txBody>
      </p:sp>
      <p:sp>
        <p:nvSpPr>
          <p:cNvPr id="91" name="OTLSHAPE_TB_00000000000000000000000000000000_TimescaleInterval1">
            <a:extLst>
              <a:ext uri="{FF2B5EF4-FFF2-40B4-BE49-F238E27FC236}">
                <a16:creationId xmlns:a16="http://schemas.microsoft.com/office/drawing/2014/main" id="{A44F1890-C67D-07B7-EF9C-B20145399B2E}"/>
              </a:ext>
            </a:extLst>
          </p:cNvPr>
          <p:cNvSpPr txBox="1"/>
          <p:nvPr/>
        </p:nvSpPr>
        <p:spPr>
          <a:xfrm>
            <a:off x="6150069" y="1249534"/>
            <a:ext cx="798136" cy="155877"/>
          </a:xfrm>
          <a:prstGeom prst="rect">
            <a:avLst/>
          </a:prstGeom>
          <a:solidFill>
            <a:srgbClr val="4656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dirty="0"/>
              <a:t>  Septiembre</a:t>
            </a:r>
            <a:endParaRPr sz="1013" dirty="0"/>
          </a:p>
        </p:txBody>
      </p:sp>
      <p:sp>
        <p:nvSpPr>
          <p:cNvPr id="3" name="OTLSHAPE_SLT_526de5b69e97497f9a5625d453beb623_Title">
            <a:extLst>
              <a:ext uri="{FF2B5EF4-FFF2-40B4-BE49-F238E27FC236}">
                <a16:creationId xmlns:a16="http://schemas.microsoft.com/office/drawing/2014/main" id="{68104DF1-1946-F3B0-6B4A-F9D83311EBF8}"/>
              </a:ext>
            </a:extLst>
          </p:cNvPr>
          <p:cNvSpPr txBox="1"/>
          <p:nvPr/>
        </p:nvSpPr>
        <p:spPr>
          <a:xfrm>
            <a:off x="4605016" y="2334407"/>
            <a:ext cx="1107567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50" dirty="0"/>
              <a:t>* Diseñar Piloto</a:t>
            </a:r>
            <a:endParaRPr sz="750" dirty="0"/>
          </a:p>
        </p:txBody>
      </p:sp>
      <p:sp>
        <p:nvSpPr>
          <p:cNvPr id="4" name="OTLSHAPE_SLT_2ff5b8e034b64a828622147da9a2f6b2_Shape">
            <a:extLst>
              <a:ext uri="{FF2B5EF4-FFF2-40B4-BE49-F238E27FC236}">
                <a16:creationId xmlns:a16="http://schemas.microsoft.com/office/drawing/2014/main" id="{407AC7DC-E603-9E3D-B67B-3E3C7EC05DA3}"/>
              </a:ext>
            </a:extLst>
          </p:cNvPr>
          <p:cNvSpPr/>
          <p:nvPr/>
        </p:nvSpPr>
        <p:spPr>
          <a:xfrm>
            <a:off x="3436099" y="1930796"/>
            <a:ext cx="1195746" cy="203686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i="1" dirty="0"/>
              <a:t>01/07 al 30/07</a:t>
            </a:r>
            <a:endParaRPr sz="800" i="1" dirty="0"/>
          </a:p>
        </p:txBody>
      </p:sp>
      <p:sp>
        <p:nvSpPr>
          <p:cNvPr id="6" name="OTLSHAPE_SLM_2906e62c2d64423a8a6ff0cffce343fd_Shape">
            <a:extLst>
              <a:ext uri="{FF2B5EF4-FFF2-40B4-BE49-F238E27FC236}">
                <a16:creationId xmlns:a16="http://schemas.microsoft.com/office/drawing/2014/main" id="{497AAEBD-B3DA-B970-79C6-6BD45B57655E}"/>
              </a:ext>
            </a:extLst>
          </p:cNvPr>
          <p:cNvSpPr/>
          <p:nvPr/>
        </p:nvSpPr>
        <p:spPr>
          <a:xfrm>
            <a:off x="5893780" y="2188504"/>
            <a:ext cx="114301" cy="133351"/>
          </a:xfrm>
          <a:prstGeom prst="diamond">
            <a:avLst/>
          </a:pr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22" name="OTLSHAPE_SLT_2ff5b8e034b64a828622147da9a2f6b2_Shape">
            <a:extLst>
              <a:ext uri="{FF2B5EF4-FFF2-40B4-BE49-F238E27FC236}">
                <a16:creationId xmlns:a16="http://schemas.microsoft.com/office/drawing/2014/main" id="{C3F70ED1-DF9E-05DC-D85F-30029A5B2566}"/>
              </a:ext>
            </a:extLst>
          </p:cNvPr>
          <p:cNvSpPr/>
          <p:nvPr/>
        </p:nvSpPr>
        <p:spPr>
          <a:xfrm>
            <a:off x="5892435" y="1935966"/>
            <a:ext cx="1166720" cy="217833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i="1" dirty="0"/>
              <a:t>01/09 al 29/09</a:t>
            </a:r>
            <a:endParaRPr sz="800" i="1" dirty="0"/>
          </a:p>
        </p:txBody>
      </p:sp>
      <p:sp>
        <p:nvSpPr>
          <p:cNvPr id="2" name="OTLSHAPE_SLT_526de5b69e97497f9a5625d453beb623_Title">
            <a:extLst>
              <a:ext uri="{FF2B5EF4-FFF2-40B4-BE49-F238E27FC236}">
                <a16:creationId xmlns:a16="http://schemas.microsoft.com/office/drawing/2014/main" id="{88A34EB4-EAB6-374D-AAB2-4904B5444682}"/>
              </a:ext>
            </a:extLst>
          </p:cNvPr>
          <p:cNvSpPr txBox="1"/>
          <p:nvPr/>
        </p:nvSpPr>
        <p:spPr>
          <a:xfrm>
            <a:off x="6051247" y="2196573"/>
            <a:ext cx="913442" cy="23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750" dirty="0"/>
              <a:t>* Ejecución pre- piloto cliente existente.</a:t>
            </a:r>
            <a:endParaRPr sz="750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1CC7B2A-0DB2-A3B3-97DF-5CAB14048FE8}"/>
              </a:ext>
            </a:extLst>
          </p:cNvPr>
          <p:cNvCxnSpPr>
            <a:cxnSpLocks/>
          </p:cNvCxnSpPr>
          <p:nvPr/>
        </p:nvCxnSpPr>
        <p:spPr>
          <a:xfrm flipH="1">
            <a:off x="4636033" y="1263177"/>
            <a:ext cx="10982" cy="33692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9C9C300-7D3A-7A1B-61E2-9A2C73013A57}"/>
              </a:ext>
            </a:extLst>
          </p:cNvPr>
          <p:cNvCxnSpPr>
            <a:cxnSpLocks/>
          </p:cNvCxnSpPr>
          <p:nvPr/>
        </p:nvCxnSpPr>
        <p:spPr>
          <a:xfrm flipH="1">
            <a:off x="5861807" y="1276971"/>
            <a:ext cx="10982" cy="33692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571D33D-3D43-66A7-D677-E29B83D714DB}"/>
              </a:ext>
            </a:extLst>
          </p:cNvPr>
          <p:cNvCxnSpPr>
            <a:cxnSpLocks/>
          </p:cNvCxnSpPr>
          <p:nvPr/>
        </p:nvCxnSpPr>
        <p:spPr>
          <a:xfrm flipH="1">
            <a:off x="7075759" y="1273028"/>
            <a:ext cx="10982" cy="33692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TLSHAPE_SLT_2ff5b8e034b64a828622147da9a2f6b2_Shape">
            <a:extLst>
              <a:ext uri="{FF2B5EF4-FFF2-40B4-BE49-F238E27FC236}">
                <a16:creationId xmlns:a16="http://schemas.microsoft.com/office/drawing/2014/main" id="{32EF86C3-066D-A843-7A49-14776DAD552F}"/>
              </a:ext>
            </a:extLst>
          </p:cNvPr>
          <p:cNvSpPr/>
          <p:nvPr/>
        </p:nvSpPr>
        <p:spPr>
          <a:xfrm>
            <a:off x="7112643" y="1935966"/>
            <a:ext cx="925895" cy="223913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r>
              <a:rPr lang="es-CO" sz="800" i="1" dirty="0"/>
              <a:t>01/10 al 23/10</a:t>
            </a:r>
            <a:endParaRPr sz="800" i="1" dirty="0"/>
          </a:p>
        </p:txBody>
      </p:sp>
      <p:sp>
        <p:nvSpPr>
          <p:cNvPr id="27" name="OTLSHAPE_SLM_2906e62c2d64423a8a6ff0cffce343fd_Shape">
            <a:extLst>
              <a:ext uri="{FF2B5EF4-FFF2-40B4-BE49-F238E27FC236}">
                <a16:creationId xmlns:a16="http://schemas.microsoft.com/office/drawing/2014/main" id="{3B575863-E78C-82C4-9E16-C084F17D0988}"/>
              </a:ext>
            </a:extLst>
          </p:cNvPr>
          <p:cNvSpPr/>
          <p:nvPr/>
        </p:nvSpPr>
        <p:spPr>
          <a:xfrm>
            <a:off x="7149113" y="2178651"/>
            <a:ext cx="114301" cy="133351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</p:spTree>
    <p:extLst>
      <p:ext uri="{BB962C8B-B14F-4D97-AF65-F5344CB8AC3E}">
        <p14:creationId xmlns:p14="http://schemas.microsoft.com/office/powerpoint/2010/main" val="1785190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TLSHAPE_SL_79f05e8de72e4cc385fce875fa65517f_HeaderRectangle">
            <a:extLst>
              <a:ext uri="{FF2B5EF4-FFF2-40B4-BE49-F238E27FC236}">
                <a16:creationId xmlns:a16="http://schemas.microsoft.com/office/drawing/2014/main" id="{8F033BD4-E602-272F-7902-F203B6C6FADF}"/>
              </a:ext>
            </a:extLst>
          </p:cNvPr>
          <p:cNvSpPr/>
          <p:nvPr/>
        </p:nvSpPr>
        <p:spPr>
          <a:xfrm>
            <a:off x="374776" y="4113052"/>
            <a:ext cx="1099458" cy="467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6" name="OTLSHAPE_SL_79f05e8de72e4cc385fce875fa65517f_HeaderRectangle">
            <a:extLst>
              <a:ext uri="{FF2B5EF4-FFF2-40B4-BE49-F238E27FC236}">
                <a16:creationId xmlns:a16="http://schemas.microsoft.com/office/drawing/2014/main" id="{8B6280EC-8BC9-4B04-CDFE-3ECF08AD4E33}"/>
              </a:ext>
            </a:extLst>
          </p:cNvPr>
          <p:cNvSpPr/>
          <p:nvPr/>
        </p:nvSpPr>
        <p:spPr>
          <a:xfrm>
            <a:off x="369333" y="3606867"/>
            <a:ext cx="1099458" cy="467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5" name="OTLSHAPE_SL_79f05e8de72e4cc385fce875fa65517f_HeaderRectangle">
            <a:extLst>
              <a:ext uri="{FF2B5EF4-FFF2-40B4-BE49-F238E27FC236}">
                <a16:creationId xmlns:a16="http://schemas.microsoft.com/office/drawing/2014/main" id="{E1B84A3B-3A8B-3783-5D29-A956A64588F1}"/>
              </a:ext>
            </a:extLst>
          </p:cNvPr>
          <p:cNvSpPr/>
          <p:nvPr/>
        </p:nvSpPr>
        <p:spPr>
          <a:xfrm>
            <a:off x="374776" y="3100682"/>
            <a:ext cx="1099458" cy="467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4" name="OTLSHAPE_SL_79f05e8de72e4cc385fce875fa65517f_HeaderRectangle">
            <a:extLst>
              <a:ext uri="{FF2B5EF4-FFF2-40B4-BE49-F238E27FC236}">
                <a16:creationId xmlns:a16="http://schemas.microsoft.com/office/drawing/2014/main" id="{A5F021EF-C10E-00A3-2323-7E60D70FF2B4}"/>
              </a:ext>
            </a:extLst>
          </p:cNvPr>
          <p:cNvSpPr/>
          <p:nvPr/>
        </p:nvSpPr>
        <p:spPr>
          <a:xfrm>
            <a:off x="380219" y="2605382"/>
            <a:ext cx="1099458" cy="467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43" name="OTLSHAPE_SL_79f05e8de72e4cc385fce875fa65517f_HeaderRectangle">
            <a:extLst>
              <a:ext uri="{FF2B5EF4-FFF2-40B4-BE49-F238E27FC236}">
                <a16:creationId xmlns:a16="http://schemas.microsoft.com/office/drawing/2014/main" id="{3B6C005C-DF51-C63C-277B-B435DA0CDD80}"/>
              </a:ext>
            </a:extLst>
          </p:cNvPr>
          <p:cNvSpPr/>
          <p:nvPr/>
        </p:nvSpPr>
        <p:spPr>
          <a:xfrm>
            <a:off x="374777" y="1794396"/>
            <a:ext cx="1104899" cy="7943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176" name="Google Shape;176;g3657f5ba65c_1_33"/>
          <p:cNvSpPr txBox="1">
            <a:spLocks noGrp="1"/>
          </p:cNvSpPr>
          <p:nvPr>
            <p:ph type="title"/>
          </p:nvPr>
        </p:nvSpPr>
        <p:spPr>
          <a:xfrm>
            <a:off x="329690" y="434140"/>
            <a:ext cx="5554885" cy="616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ES" dirty="0" err="1"/>
              <a:t>Roadmap</a:t>
            </a:r>
            <a:r>
              <a:rPr lang="es-ES" dirty="0"/>
              <a:t> Mesa de Servicios de Nueva Generación</a:t>
            </a:r>
            <a:endParaRPr dirty="0"/>
          </a:p>
        </p:txBody>
      </p:sp>
      <p:cxnSp>
        <p:nvCxnSpPr>
          <p:cNvPr id="179" name="Google Shape;179;g3657f5ba65c_1_33"/>
          <p:cNvCxnSpPr/>
          <p:nvPr/>
        </p:nvCxnSpPr>
        <p:spPr>
          <a:xfrm rot="10800000" flipH="1">
            <a:off x="394425" y="824004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B601F8-5566-9947-256D-59532ADDFB50}"/>
              </a:ext>
            </a:extLst>
          </p:cNvPr>
          <p:cNvSpPr txBox="1"/>
          <p:nvPr/>
        </p:nvSpPr>
        <p:spPr>
          <a:xfrm>
            <a:off x="5275320" y="1534344"/>
            <a:ext cx="925474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42900">
              <a:buClrTx/>
              <a:defRPr sz="1000">
                <a:solidFill>
                  <a:srgbClr val="005DAA"/>
                </a:solidFill>
              </a:defRPr>
            </a:pP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◆ </a:t>
            </a:r>
            <a:r>
              <a:rPr lang="es-ES"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Wave </a:t>
            </a:r>
            <a:r>
              <a:rPr lang="es-ES"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1ª</a:t>
            </a:r>
            <a:r>
              <a:rPr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 Transición</a:t>
            </a:r>
            <a:endParaRPr lang="es-ES" sz="750" kern="1200" dirty="0">
              <a:solidFill>
                <a:srgbClr val="005DAA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B72BFF-D543-CF03-ED0E-3CFA2E0844E3}"/>
              </a:ext>
            </a:extLst>
          </p:cNvPr>
          <p:cNvSpPr txBox="1"/>
          <p:nvPr/>
        </p:nvSpPr>
        <p:spPr>
          <a:xfrm>
            <a:off x="460566" y="1921328"/>
            <a:ext cx="927777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dirty="0" err="1">
                <a:latin typeface="Reddit Sans"/>
                <a:ea typeface="Reddit Sans"/>
              </a:rPr>
              <a:t>Evaluación</a:t>
            </a:r>
            <a:r>
              <a:rPr lang="es-ES" sz="700" b="1" dirty="0">
                <a:latin typeface="Reddit Sans"/>
                <a:ea typeface="Reddit Sans"/>
              </a:rPr>
              <a:t> </a:t>
            </a:r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lang="es-ES" sz="700" b="1" dirty="0" err="1">
                <a:latin typeface="Reddit Sans"/>
                <a:ea typeface="Reddit Sans"/>
              </a:rPr>
              <a:t>Operaciónes</a:t>
            </a:r>
            <a:r>
              <a:rPr lang="es-ES" sz="700" b="1" dirty="0">
                <a:latin typeface="Reddit Sans"/>
                <a:ea typeface="Reddit Sans"/>
              </a:rPr>
              <a:t> </a:t>
            </a:r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lang="es-ES" sz="700" b="1">
                <a:latin typeface="Reddit Sans"/>
                <a:ea typeface="Reddit Sans"/>
              </a:rPr>
              <a:t>Actuales</a:t>
            </a:r>
            <a:endParaRPr lang="es-ES" sz="7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11ED60-70CF-2CCC-5BB1-80EACE70EC27}"/>
              </a:ext>
            </a:extLst>
          </p:cNvPr>
          <p:cNvSpPr txBox="1"/>
          <p:nvPr/>
        </p:nvSpPr>
        <p:spPr>
          <a:xfrm>
            <a:off x="395252" y="2593523"/>
            <a:ext cx="1113063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defTabSz="342900">
              <a:defRPr sz="1300" b="1">
                <a:solidFill>
                  <a:srgbClr val="3C3C3C"/>
                </a:solidFill>
              </a:defRPr>
            </a:pPr>
            <a:r>
              <a:rPr lang="es-ES" sz="700" b="1" dirty="0">
                <a:latin typeface="Reddit Sans"/>
                <a:ea typeface="Reddit Sans"/>
                <a:sym typeface="Reddit Sans"/>
              </a:rPr>
              <a:t>Estandarización </a:t>
            </a:r>
            <a:endParaRPr lang="es-ES" sz="700" b="1">
              <a:latin typeface="Reddit Sans"/>
              <a:ea typeface="Reddit Sans"/>
              <a:sym typeface="Reddit Sans"/>
            </a:endParaRPr>
          </a:p>
          <a:p>
            <a:pPr algn="ctr" defTabSz="342900">
              <a:defRPr sz="1300" b="1">
                <a:solidFill>
                  <a:srgbClr val="3C3C3C"/>
                </a:solidFill>
              </a:defRPr>
            </a:pPr>
            <a:r>
              <a:rPr lang="es-ES" sz="700" b="1">
                <a:latin typeface="Reddit Sans"/>
                <a:ea typeface="Reddit Sans"/>
                <a:sym typeface="Reddit Sans"/>
              </a:rPr>
              <a:t>del Servicio de </a:t>
            </a:r>
            <a:endParaRPr lang="es-ES" sz="700" b="1" dirty="0">
              <a:latin typeface="Reddit Sans"/>
              <a:ea typeface="Reddit Sans"/>
              <a:sym typeface="Reddit Sans"/>
            </a:endParaRPr>
          </a:p>
          <a:p>
            <a:pPr algn="ctr" defTabSz="342900">
              <a:defRPr sz="1300" b="1">
                <a:solidFill>
                  <a:srgbClr val="3C3C3C"/>
                </a:solidFill>
              </a:defRPr>
            </a:pPr>
            <a:r>
              <a:rPr lang="es-ES" sz="700" b="1">
                <a:latin typeface="Reddit Sans"/>
                <a:ea typeface="Reddit Sans"/>
                <a:sym typeface="Reddit Sans"/>
              </a:rPr>
              <a:t>las Mesas de Servicio</a:t>
            </a:r>
            <a:endParaRPr lang="es-ES" sz="700" b="1">
              <a:latin typeface="Reddit Sans"/>
              <a:ea typeface="Reddit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9A7F53-C2C8-0962-735A-726BC7B1B042}"/>
              </a:ext>
            </a:extLst>
          </p:cNvPr>
          <p:cNvSpPr txBox="1"/>
          <p:nvPr/>
        </p:nvSpPr>
        <p:spPr>
          <a:xfrm>
            <a:off x="525097" y="3222173"/>
            <a:ext cx="798617" cy="20005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kern="1200" err="1">
                <a:latin typeface="Reddit Sans"/>
                <a:ea typeface="Reddit Sans"/>
                <a:cs typeface="+mn-cs"/>
              </a:rPr>
              <a:t>Productización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79083F-6844-07ED-2968-D80C5002C8E9}"/>
              </a:ext>
            </a:extLst>
          </p:cNvPr>
          <p:cNvSpPr txBox="1"/>
          <p:nvPr/>
        </p:nvSpPr>
        <p:spPr>
          <a:xfrm>
            <a:off x="486107" y="3652158"/>
            <a:ext cx="893193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kern="1200" dirty="0" err="1">
                <a:latin typeface="Reddit Sans"/>
                <a:ea typeface="Reddit Sans"/>
                <a:cs typeface="+mn-cs"/>
              </a:rPr>
              <a:t>Transición</a:t>
            </a:r>
            <a:r>
              <a:rPr lang="es-ES" sz="700" b="1" kern="1200" dirty="0">
                <a:latin typeface="Reddit Sans"/>
                <a:ea typeface="Reddit Sans"/>
                <a:cs typeface="+mn-cs"/>
              </a:rPr>
              <a:t> de la </a:t>
            </a:r>
            <a:endParaRPr lang="es-ES" sz="700" kern="1200" dirty="0">
              <a:latin typeface="Reddit Sans"/>
              <a:ea typeface="Reddit Sans"/>
            </a:endParaRPr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lang="es-ES" sz="700" b="1" kern="1200" dirty="0" err="1">
                <a:latin typeface="Reddit Sans"/>
                <a:ea typeface="Reddit Sans"/>
                <a:cs typeface="+mn-cs"/>
              </a:rPr>
              <a:t>Operacion</a:t>
            </a:r>
            <a:r>
              <a:rPr lang="es-ES" sz="700" b="1" kern="1200" dirty="0">
                <a:latin typeface="Reddit Sans"/>
                <a:ea typeface="Reddit Sans"/>
                <a:cs typeface="+mn-cs"/>
              </a:rPr>
              <a:t> actual</a:t>
            </a:r>
            <a:endParaRPr lang="es-ES" sz="700" dirty="0"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D1D67-A365-B731-0ABC-A7A7C6C203BC}"/>
              </a:ext>
            </a:extLst>
          </p:cNvPr>
          <p:cNvSpPr txBox="1"/>
          <p:nvPr/>
        </p:nvSpPr>
        <p:spPr>
          <a:xfrm>
            <a:off x="555368" y="4112079"/>
            <a:ext cx="737702" cy="4154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kern="1200" dirty="0" err="1">
                <a:latin typeface="Reddit Sans"/>
                <a:ea typeface="Reddit Sans"/>
                <a:cs typeface="+mn-cs"/>
              </a:rPr>
              <a:t>Evolución</a:t>
            </a:r>
            <a:r>
              <a:rPr sz="700" b="1" kern="1200" dirty="0">
                <a:latin typeface="Reddit Sans"/>
                <a:ea typeface="Reddit Sans"/>
                <a:cs typeface="+mn-cs"/>
              </a:rPr>
              <a:t> </a:t>
            </a:r>
            <a:endParaRPr lang="es-ES" sz="700" b="1" dirty="0"/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sz="700" b="1" kern="1200">
                <a:latin typeface="Reddit Sans"/>
                <a:ea typeface="Reddit Sans"/>
                <a:cs typeface="+mn-cs"/>
              </a:rPr>
              <a:t>Continua</a:t>
            </a:r>
            <a:r>
              <a:rPr lang="es-ES" sz="700" b="1" kern="1200">
                <a:latin typeface="Reddit Sans"/>
                <a:ea typeface="Reddit Sans"/>
                <a:cs typeface="+mn-cs"/>
              </a:rPr>
              <a:t> del </a:t>
            </a:r>
            <a:endParaRPr lang="es-ES" sz="700" b="1">
              <a:ea typeface="Reddit Sans"/>
            </a:endParaRPr>
          </a:p>
          <a:p>
            <a:pPr algn="ctr" defTabSz="342900">
              <a:buClrTx/>
              <a:defRPr sz="1300" b="1">
                <a:solidFill>
                  <a:srgbClr val="3C3C3C"/>
                </a:solidFill>
              </a:defRPr>
            </a:pPr>
            <a:r>
              <a:rPr lang="es-ES" sz="700" b="1" kern="1200">
                <a:latin typeface="Reddit Sans"/>
                <a:ea typeface="Reddit Sans"/>
                <a:cs typeface="+mn-cs"/>
              </a:rPr>
              <a:t>Servicio</a:t>
            </a:r>
            <a:endParaRPr sz="700" b="1"/>
          </a:p>
        </p:txBody>
      </p:sp>
      <p:sp>
        <p:nvSpPr>
          <p:cNvPr id="18" name="Rounded Rectangle 21">
            <a:extLst>
              <a:ext uri="{FF2B5EF4-FFF2-40B4-BE49-F238E27FC236}">
                <a16:creationId xmlns:a16="http://schemas.microsoft.com/office/drawing/2014/main" id="{87602290-382C-F064-EF7A-3172019619BC}"/>
              </a:ext>
            </a:extLst>
          </p:cNvPr>
          <p:cNvSpPr/>
          <p:nvPr/>
        </p:nvSpPr>
        <p:spPr>
          <a:xfrm>
            <a:off x="1558717" y="1863087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E6283EB-B92E-463D-4350-C26DBFB19BB3}"/>
              </a:ext>
            </a:extLst>
          </p:cNvPr>
          <p:cNvSpPr txBox="1"/>
          <p:nvPr/>
        </p:nvSpPr>
        <p:spPr>
          <a:xfrm>
            <a:off x="293913" y="884462"/>
            <a:ext cx="125185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b="1" dirty="0">
                <a:solidFill>
                  <a:srgbClr val="595959"/>
                </a:solidFill>
                <a:latin typeface="Reddit Sans"/>
              </a:rPr>
              <a:t>Modelos</a:t>
            </a:r>
            <a:r>
              <a:rPr lang="es-ES" sz="1000" b="1" u="none" strike="noStrike" baseline="0" dirty="0">
                <a:solidFill>
                  <a:srgbClr val="595959"/>
                </a:solidFill>
                <a:latin typeface="Reddit Sans"/>
              </a:rPr>
              <a:t> </a:t>
            </a:r>
            <a:r>
              <a:rPr lang="es-ES" sz="1000" b="1">
                <a:solidFill>
                  <a:srgbClr val="595959"/>
                </a:solidFill>
                <a:latin typeface="Reddit Sans"/>
              </a:rPr>
              <a:t>de operación</a:t>
            </a:r>
            <a:endParaRPr lang="es-ES" b="1">
              <a:solidFill>
                <a:srgbClr val="595959"/>
              </a:solidFill>
              <a:ea typeface="Reddit Sans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13549EC-2702-C3B7-5164-A7E93EE6C9C7}"/>
              </a:ext>
            </a:extLst>
          </p:cNvPr>
          <p:cNvSpPr txBox="1"/>
          <p:nvPr/>
        </p:nvSpPr>
        <p:spPr>
          <a:xfrm>
            <a:off x="375556" y="1483178"/>
            <a:ext cx="10395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b="1">
                <a:solidFill>
                  <a:schemeClr val="tx1"/>
                </a:solidFill>
                <a:latin typeface="Reddit Sans"/>
              </a:rPr>
              <a:t>Fases</a:t>
            </a:r>
            <a:endParaRPr lang="es-ES">
              <a:solidFill>
                <a:schemeClr val="tx1"/>
              </a:solidFill>
            </a:endParaRPr>
          </a:p>
        </p:txBody>
      </p:sp>
      <p:sp>
        <p:nvSpPr>
          <p:cNvPr id="30" name="Rounded Rectangle 2">
            <a:extLst>
              <a:ext uri="{FF2B5EF4-FFF2-40B4-BE49-F238E27FC236}">
                <a16:creationId xmlns:a16="http://schemas.microsoft.com/office/drawing/2014/main" id="{75B2EC64-AAEB-80A0-2E7C-B337049F02B0}"/>
              </a:ext>
            </a:extLst>
          </p:cNvPr>
          <p:cNvSpPr/>
          <p:nvPr/>
        </p:nvSpPr>
        <p:spPr>
          <a:xfrm>
            <a:off x="1544782" y="943790"/>
            <a:ext cx="3134542" cy="28139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1000" b="1" kern="1200">
                <a:solidFill>
                  <a:schemeClr val="tx1"/>
                </a:solidFill>
                <a:latin typeface="Reddit Sans"/>
                <a:ea typeface="Reddit Sans"/>
              </a:rPr>
              <a:t>Reactivo y Crecimiento Automatizado</a:t>
            </a:r>
            <a:endParaRPr lang="es-ES" sz="1000">
              <a:solidFill>
                <a:schemeClr val="tx1"/>
              </a:solidFill>
              <a:cs typeface="Arial"/>
            </a:endParaRPr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1BB1913D-BF6A-E67C-53B8-E57EF62C7319}"/>
              </a:ext>
            </a:extLst>
          </p:cNvPr>
          <p:cNvSpPr/>
          <p:nvPr/>
        </p:nvSpPr>
        <p:spPr>
          <a:xfrm>
            <a:off x="4679871" y="943793"/>
            <a:ext cx="2236469" cy="286838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1000" b="1" kern="1200">
                <a:solidFill>
                  <a:schemeClr val="tx1"/>
                </a:solidFill>
                <a:latin typeface="Reddit Sans"/>
                <a:ea typeface="Reddit Sans"/>
              </a:rPr>
              <a:t>Predictivo y Evolutivo</a:t>
            </a:r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32" name="Rounded Rectangle 2">
            <a:extLst>
              <a:ext uri="{FF2B5EF4-FFF2-40B4-BE49-F238E27FC236}">
                <a16:creationId xmlns:a16="http://schemas.microsoft.com/office/drawing/2014/main" id="{686C6AFD-758B-AA33-CDAE-D4A668DAB4D6}"/>
              </a:ext>
            </a:extLst>
          </p:cNvPr>
          <p:cNvSpPr/>
          <p:nvPr/>
        </p:nvSpPr>
        <p:spPr>
          <a:xfrm>
            <a:off x="6938654" y="943790"/>
            <a:ext cx="1561557" cy="286839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1000" kern="1200">
                <a:solidFill>
                  <a:schemeClr val="tx1"/>
                </a:solidFill>
                <a:latin typeface="Reddit Sans"/>
                <a:ea typeface="Reddit Sans"/>
                <a:cs typeface="Arial"/>
              </a:rPr>
              <a:t>Autónomo e Inteligente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696F69B-CBB8-EB9D-F537-957DB0B0EFC1}"/>
              </a:ext>
            </a:extLst>
          </p:cNvPr>
          <p:cNvSpPr txBox="1"/>
          <p:nvPr/>
        </p:nvSpPr>
        <p:spPr>
          <a:xfrm>
            <a:off x="5589816" y="72934"/>
            <a:ext cx="1475013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Wave 1 : Sura + </a:t>
            </a:r>
            <a:r>
              <a:rPr lang="es-ES" sz="700" err="1"/>
              <a:t>Banc</a:t>
            </a:r>
            <a:r>
              <a:rPr lang="es-ES" sz="700"/>
              <a:t>olombia</a:t>
            </a:r>
            <a:endParaRPr lang="es-ES" sz="700" dirty="0"/>
          </a:p>
        </p:txBody>
      </p:sp>
      <p:sp>
        <p:nvSpPr>
          <p:cNvPr id="55" name="Estrella: 5 puntas 54">
            <a:extLst>
              <a:ext uri="{FF2B5EF4-FFF2-40B4-BE49-F238E27FC236}">
                <a16:creationId xmlns:a16="http://schemas.microsoft.com/office/drawing/2014/main" id="{D690B408-E977-B681-6218-CBBD9914EA14}"/>
              </a:ext>
            </a:extLst>
          </p:cNvPr>
          <p:cNvSpPr/>
          <p:nvPr/>
        </p:nvSpPr>
        <p:spPr>
          <a:xfrm>
            <a:off x="5452655" y="117565"/>
            <a:ext cx="97972" cy="114301"/>
          </a:xfrm>
          <a:prstGeom prst="star5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F5665C4-39A2-D097-D477-4A14BD58842A}"/>
              </a:ext>
            </a:extLst>
          </p:cNvPr>
          <p:cNvSpPr txBox="1"/>
          <p:nvPr/>
        </p:nvSpPr>
        <p:spPr>
          <a:xfrm>
            <a:off x="5589816" y="290645"/>
            <a:ext cx="1404255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Wave 2 : XM, AWS, Medicarte</a:t>
            </a:r>
          </a:p>
        </p:txBody>
      </p:sp>
      <p:sp>
        <p:nvSpPr>
          <p:cNvPr id="57" name="Estrella: 5 puntas 56">
            <a:extLst>
              <a:ext uri="{FF2B5EF4-FFF2-40B4-BE49-F238E27FC236}">
                <a16:creationId xmlns:a16="http://schemas.microsoft.com/office/drawing/2014/main" id="{61C4338C-4B26-C80E-5230-7A1381D384A4}"/>
              </a:ext>
            </a:extLst>
          </p:cNvPr>
          <p:cNvSpPr/>
          <p:nvPr/>
        </p:nvSpPr>
        <p:spPr>
          <a:xfrm>
            <a:off x="5452655" y="329836"/>
            <a:ext cx="97972" cy="114301"/>
          </a:xfrm>
          <a:prstGeom prst="star5">
            <a:avLst/>
          </a:prstGeom>
          <a:solidFill>
            <a:srgbClr val="7030A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Rounded Rectangle 25">
            <a:extLst>
              <a:ext uri="{FF2B5EF4-FFF2-40B4-BE49-F238E27FC236}">
                <a16:creationId xmlns:a16="http://schemas.microsoft.com/office/drawing/2014/main" id="{B1D377E7-02CC-BB00-D36D-1FAE90E89AE5}"/>
              </a:ext>
            </a:extLst>
          </p:cNvPr>
          <p:cNvSpPr/>
          <p:nvPr/>
        </p:nvSpPr>
        <p:spPr>
          <a:xfrm>
            <a:off x="4583967" y="3708216"/>
            <a:ext cx="841248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Equipos comercial</a:t>
            </a:r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32" name="Rounded Rectangle 25">
            <a:extLst>
              <a:ext uri="{FF2B5EF4-FFF2-40B4-BE49-F238E27FC236}">
                <a16:creationId xmlns:a16="http://schemas.microsoft.com/office/drawing/2014/main" id="{89AA025D-ACC2-8BE3-3531-ADBA5332DDF4}"/>
              </a:ext>
            </a:extLst>
          </p:cNvPr>
          <p:cNvSpPr/>
          <p:nvPr/>
        </p:nvSpPr>
        <p:spPr>
          <a:xfrm>
            <a:off x="4676500" y="3985801"/>
            <a:ext cx="1254901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Equipos de la operación </a:t>
            </a:r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wave 1</a:t>
            </a:r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40" name="OTLSHAPE_TB_00000000000000000000000000000000_ScaleContainer">
            <a:extLst>
              <a:ext uri="{FF2B5EF4-FFF2-40B4-BE49-F238E27FC236}">
                <a16:creationId xmlns:a16="http://schemas.microsoft.com/office/drawing/2014/main" id="{4D62D34E-3794-458E-ABAD-31CA8C1D18B7}"/>
              </a:ext>
            </a:extLst>
          </p:cNvPr>
          <p:cNvSpPr/>
          <p:nvPr/>
        </p:nvSpPr>
        <p:spPr>
          <a:xfrm>
            <a:off x="1534595" y="1234653"/>
            <a:ext cx="6962150" cy="183417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0B432EA-1C9F-4EC7-E4B8-D3B837082F02}"/>
              </a:ext>
            </a:extLst>
          </p:cNvPr>
          <p:cNvSpPr txBox="1"/>
          <p:nvPr/>
        </p:nvSpPr>
        <p:spPr>
          <a:xfrm>
            <a:off x="4316186" y="1232804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Q3</a:t>
            </a:r>
            <a:endParaRPr lang="es-ES" sz="800">
              <a:solidFill>
                <a:srgbClr val="FFFFFF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6EF5295-96C4-926C-84C5-95FD93FA591B}"/>
              </a:ext>
            </a:extLst>
          </p:cNvPr>
          <p:cNvSpPr txBox="1"/>
          <p:nvPr/>
        </p:nvSpPr>
        <p:spPr>
          <a:xfrm>
            <a:off x="7538356" y="1232805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Q4</a:t>
            </a:r>
            <a:endParaRPr lang="es-ES" sz="800">
              <a:solidFill>
                <a:srgbClr val="FFFFFF"/>
              </a:solidFill>
            </a:endParaRP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424CC519-BBF4-FA42-F777-459CCC693C13}"/>
              </a:ext>
            </a:extLst>
          </p:cNvPr>
          <p:cNvCxnSpPr/>
          <p:nvPr/>
        </p:nvCxnSpPr>
        <p:spPr>
          <a:xfrm>
            <a:off x="6934200" y="1242333"/>
            <a:ext cx="2177" cy="17144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4775264B-67DF-405A-6101-AE5518412D5D}"/>
              </a:ext>
            </a:extLst>
          </p:cNvPr>
          <p:cNvSpPr txBox="1"/>
          <p:nvPr/>
        </p:nvSpPr>
        <p:spPr>
          <a:xfrm>
            <a:off x="2279195" y="1416503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Julio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DB455B26-C013-533E-9B69-0018318D53BB}"/>
              </a:ext>
            </a:extLst>
          </p:cNvPr>
          <p:cNvSpPr txBox="1"/>
          <p:nvPr/>
        </p:nvSpPr>
        <p:spPr>
          <a:xfrm>
            <a:off x="4026351" y="1421946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Agosto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83127475-4A1E-FC30-8FF4-FF4CB0FE1276}"/>
              </a:ext>
            </a:extLst>
          </p:cNvPr>
          <p:cNvSpPr txBox="1"/>
          <p:nvPr/>
        </p:nvSpPr>
        <p:spPr>
          <a:xfrm>
            <a:off x="5659207" y="1416503"/>
            <a:ext cx="10940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Septiembre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23F92958-03E3-48E4-ABF8-B161B4E7E99D}"/>
              </a:ext>
            </a:extLst>
          </p:cNvPr>
          <p:cNvSpPr txBox="1"/>
          <p:nvPr/>
        </p:nvSpPr>
        <p:spPr>
          <a:xfrm>
            <a:off x="7439023" y="1416503"/>
            <a:ext cx="821873" cy="25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Octubre</a:t>
            </a:r>
          </a:p>
        </p:txBody>
      </p: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3DCAA23E-04B7-F20D-CDAA-8E36F3814F35}"/>
              </a:ext>
            </a:extLst>
          </p:cNvPr>
          <p:cNvCxnSpPr/>
          <p:nvPr/>
        </p:nvCxnSpPr>
        <p:spPr>
          <a:xfrm>
            <a:off x="3363686" y="1449160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152">
            <a:extLst>
              <a:ext uri="{FF2B5EF4-FFF2-40B4-BE49-F238E27FC236}">
                <a16:creationId xmlns:a16="http://schemas.microsoft.com/office/drawing/2014/main" id="{3C4D310E-DE01-6E94-DE7F-85ED2574567E}"/>
              </a:ext>
            </a:extLst>
          </p:cNvPr>
          <p:cNvCxnSpPr>
            <a:cxnSpLocks/>
          </p:cNvCxnSpPr>
          <p:nvPr/>
        </p:nvCxnSpPr>
        <p:spPr>
          <a:xfrm>
            <a:off x="5083628" y="1416502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94C2861A-81F4-1E62-DAC6-B6325FD369D9}"/>
              </a:ext>
            </a:extLst>
          </p:cNvPr>
          <p:cNvCxnSpPr>
            <a:cxnSpLocks/>
          </p:cNvCxnSpPr>
          <p:nvPr/>
        </p:nvCxnSpPr>
        <p:spPr>
          <a:xfrm>
            <a:off x="6950529" y="1432830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AB892158-E68C-874C-E15B-A40E40D8E5B1}"/>
              </a:ext>
            </a:extLst>
          </p:cNvPr>
          <p:cNvCxnSpPr/>
          <p:nvPr/>
        </p:nvCxnSpPr>
        <p:spPr>
          <a:xfrm flipV="1">
            <a:off x="1523999" y="2569028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cto de flecha 155">
            <a:extLst>
              <a:ext uri="{FF2B5EF4-FFF2-40B4-BE49-F238E27FC236}">
                <a16:creationId xmlns:a16="http://schemas.microsoft.com/office/drawing/2014/main" id="{629336BF-83C6-1FDF-8604-320CB4C9F9EC}"/>
              </a:ext>
            </a:extLst>
          </p:cNvPr>
          <p:cNvCxnSpPr>
            <a:cxnSpLocks/>
          </p:cNvCxnSpPr>
          <p:nvPr/>
        </p:nvCxnSpPr>
        <p:spPr>
          <a:xfrm flipV="1">
            <a:off x="1518556" y="3086099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1E2018A3-62EE-970D-B821-D3A2DB070167}"/>
              </a:ext>
            </a:extLst>
          </p:cNvPr>
          <p:cNvCxnSpPr>
            <a:cxnSpLocks/>
          </p:cNvCxnSpPr>
          <p:nvPr/>
        </p:nvCxnSpPr>
        <p:spPr>
          <a:xfrm flipV="1">
            <a:off x="1523998" y="3586841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5D54C481-8D29-2F15-8A8C-D54259A86D14}"/>
              </a:ext>
            </a:extLst>
          </p:cNvPr>
          <p:cNvCxnSpPr>
            <a:cxnSpLocks/>
          </p:cNvCxnSpPr>
          <p:nvPr/>
        </p:nvCxnSpPr>
        <p:spPr>
          <a:xfrm flipV="1">
            <a:off x="1562098" y="4109355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FDBE4934-27B3-8AF2-9806-755794E991C9}"/>
              </a:ext>
            </a:extLst>
          </p:cNvPr>
          <p:cNvSpPr txBox="1"/>
          <p:nvPr/>
        </p:nvSpPr>
        <p:spPr>
          <a:xfrm>
            <a:off x="1475014" y="1592035"/>
            <a:ext cx="12627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b="0" i="0" u="none" strike="noStrike" baseline="0" dirty="0">
                <a:solidFill>
                  <a:srgbClr val="000000"/>
                </a:solidFill>
                <a:latin typeface="Reddit Sans"/>
              </a:rPr>
              <a:t>Evaluar el nivel de madurez de las mesas de servicio</a:t>
            </a:r>
            <a:r>
              <a:rPr lang="es-ES" sz="600" dirty="0">
                <a:latin typeface="Reddit Sans"/>
              </a:rPr>
              <a:t> </a:t>
            </a:r>
            <a:r>
              <a:rPr lang="es-ES" sz="600">
                <a:latin typeface="Reddit Sans"/>
              </a:rPr>
              <a:t>(ITIL v5)</a:t>
            </a:r>
            <a:endParaRPr lang="es-ES"/>
          </a:p>
        </p:txBody>
      </p:sp>
      <p:sp>
        <p:nvSpPr>
          <p:cNvPr id="160" name="Rounded Rectangle 21">
            <a:extLst>
              <a:ext uri="{FF2B5EF4-FFF2-40B4-BE49-F238E27FC236}">
                <a16:creationId xmlns:a16="http://schemas.microsoft.com/office/drawing/2014/main" id="{4CD09477-E38C-EE17-621C-734ED54B0F30}"/>
              </a:ext>
            </a:extLst>
          </p:cNvPr>
          <p:cNvSpPr/>
          <p:nvPr/>
        </p:nvSpPr>
        <p:spPr>
          <a:xfrm>
            <a:off x="1683903" y="2189658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23CEA72B-8F42-C6E5-CC5E-7DDBE220B673}"/>
              </a:ext>
            </a:extLst>
          </p:cNvPr>
          <p:cNvSpPr txBox="1"/>
          <p:nvPr/>
        </p:nvSpPr>
        <p:spPr>
          <a:xfrm>
            <a:off x="1485898" y="1918607"/>
            <a:ext cx="132261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Caracterizar las mesas de </a:t>
            </a:r>
            <a:r>
              <a:rPr lang="es-ES" sz="600">
                <a:latin typeface="Reddit Sans"/>
              </a:rPr>
              <a:t>servicio (Tools, ANS, FTE, ...)</a:t>
            </a:r>
          </a:p>
        </p:txBody>
      </p:sp>
      <p:sp>
        <p:nvSpPr>
          <p:cNvPr id="162" name="Rounded Rectangle 21">
            <a:extLst>
              <a:ext uri="{FF2B5EF4-FFF2-40B4-BE49-F238E27FC236}">
                <a16:creationId xmlns:a16="http://schemas.microsoft.com/office/drawing/2014/main" id="{F5625070-A44A-26FA-CB75-DFA50D0F1E47}"/>
              </a:ext>
            </a:extLst>
          </p:cNvPr>
          <p:cNvSpPr/>
          <p:nvPr/>
        </p:nvSpPr>
        <p:spPr>
          <a:xfrm>
            <a:off x="1760102" y="2489015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A379B0E7-4465-0A6B-A743-F2DF6B6596A7}"/>
              </a:ext>
            </a:extLst>
          </p:cNvPr>
          <p:cNvSpPr txBox="1"/>
          <p:nvPr/>
        </p:nvSpPr>
        <p:spPr>
          <a:xfrm>
            <a:off x="1589314" y="2256063"/>
            <a:ext cx="174715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Identificar costos actuales de la operación y costos de transición al </a:t>
            </a:r>
            <a:r>
              <a:rPr lang="es-ES" sz="600">
                <a:latin typeface="Reddit Sans"/>
              </a:rPr>
              <a:t>servicio estandarizado</a:t>
            </a:r>
            <a:endParaRPr lang="es-ES" dirty="0" err="1"/>
          </a:p>
        </p:txBody>
      </p:sp>
      <p:sp>
        <p:nvSpPr>
          <p:cNvPr id="164" name="Rounded Rectangle 21">
            <a:extLst>
              <a:ext uri="{FF2B5EF4-FFF2-40B4-BE49-F238E27FC236}">
                <a16:creationId xmlns:a16="http://schemas.microsoft.com/office/drawing/2014/main" id="{AB6E717F-283D-DA6F-377A-7BA7C716D90D}"/>
              </a:ext>
            </a:extLst>
          </p:cNvPr>
          <p:cNvSpPr/>
          <p:nvPr/>
        </p:nvSpPr>
        <p:spPr>
          <a:xfrm>
            <a:off x="2685388" y="1922958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72F19235-8B32-8B77-8033-22BE696285D4}"/>
              </a:ext>
            </a:extLst>
          </p:cNvPr>
          <p:cNvSpPr txBox="1"/>
          <p:nvPr/>
        </p:nvSpPr>
        <p:spPr>
          <a:xfrm>
            <a:off x="2601685" y="1651906"/>
            <a:ext cx="12627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Definición</a:t>
            </a:r>
            <a:r>
              <a:rPr lang="es-ES" sz="600" dirty="0">
                <a:latin typeface="Reddit Sans"/>
              </a:rPr>
              <a:t> </a:t>
            </a:r>
            <a:r>
              <a:rPr lang="es-ES" sz="600" dirty="0" err="1">
                <a:latin typeface="Reddit Sans"/>
              </a:rPr>
              <a:t>ini</a:t>
            </a:r>
            <a:r>
              <a:rPr lang="es-ES" sz="600" dirty="0">
                <a:latin typeface="Reddit Sans"/>
              </a:rPr>
              <a:t>cial del servicio estandarizado</a:t>
            </a:r>
            <a:endParaRPr lang="es-ES" dirty="0"/>
          </a:p>
        </p:txBody>
      </p:sp>
      <p:sp>
        <p:nvSpPr>
          <p:cNvPr id="166" name="Estrella: 5 puntas 165">
            <a:extLst>
              <a:ext uri="{FF2B5EF4-FFF2-40B4-BE49-F238E27FC236}">
                <a16:creationId xmlns:a16="http://schemas.microsoft.com/office/drawing/2014/main" id="{38A9D9DB-644D-7476-7D22-74E9613711EE}"/>
              </a:ext>
            </a:extLst>
          </p:cNvPr>
          <p:cNvSpPr/>
          <p:nvPr/>
        </p:nvSpPr>
        <p:spPr>
          <a:xfrm>
            <a:off x="2186940" y="1478279"/>
            <a:ext cx="97972" cy="114301"/>
          </a:xfrm>
          <a:prstGeom prst="star5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7" name="Rounded Rectangle 21">
            <a:extLst>
              <a:ext uri="{FF2B5EF4-FFF2-40B4-BE49-F238E27FC236}">
                <a16:creationId xmlns:a16="http://schemas.microsoft.com/office/drawing/2014/main" id="{FE77458F-06C0-A05A-663F-A2913ABCE4CE}"/>
              </a:ext>
            </a:extLst>
          </p:cNvPr>
          <p:cNvSpPr/>
          <p:nvPr/>
        </p:nvSpPr>
        <p:spPr>
          <a:xfrm>
            <a:off x="3398402" y="2712172"/>
            <a:ext cx="1831140" cy="94053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BC194BDD-543E-DE19-1B1B-F57E384A6594}"/>
              </a:ext>
            </a:extLst>
          </p:cNvPr>
          <p:cNvSpPr txBox="1"/>
          <p:nvPr/>
        </p:nvSpPr>
        <p:spPr>
          <a:xfrm>
            <a:off x="3396341" y="2348591"/>
            <a:ext cx="152400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Rediseño y estandarización del servicio de mesas de servicios </a:t>
            </a:r>
            <a:r>
              <a:rPr lang="es-ES" sz="600">
                <a:latin typeface="Reddit Sans"/>
              </a:rPr>
              <a:t>operación actual y nuevos clientes</a:t>
            </a:r>
            <a:endParaRPr lang="es-ES" dirty="0"/>
          </a:p>
        </p:txBody>
      </p:sp>
      <p:sp>
        <p:nvSpPr>
          <p:cNvPr id="171" name="Rounded Rectangle 21">
            <a:extLst>
              <a:ext uri="{FF2B5EF4-FFF2-40B4-BE49-F238E27FC236}">
                <a16:creationId xmlns:a16="http://schemas.microsoft.com/office/drawing/2014/main" id="{5AA448EF-F0A3-4DD8-5DCE-B892C81C46D9}"/>
              </a:ext>
            </a:extLst>
          </p:cNvPr>
          <p:cNvSpPr/>
          <p:nvPr/>
        </p:nvSpPr>
        <p:spPr>
          <a:xfrm>
            <a:off x="4399888" y="2962544"/>
            <a:ext cx="1085469" cy="88612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E9FE6999-A6A7-E2E8-7379-1C52E53878E7}"/>
              </a:ext>
            </a:extLst>
          </p:cNvPr>
          <p:cNvSpPr txBox="1"/>
          <p:nvPr/>
        </p:nvSpPr>
        <p:spPr>
          <a:xfrm>
            <a:off x="4142013" y="2729589"/>
            <a:ext cx="1714500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Piloto herramientas/agentes </a:t>
            </a:r>
            <a:r>
              <a:rPr lang="es-ES" sz="600" dirty="0" err="1">
                <a:latin typeface="Reddit Sans"/>
              </a:rPr>
              <a:t>pa</a:t>
            </a:r>
            <a:r>
              <a:rPr lang="es-ES" sz="600" dirty="0">
                <a:latin typeface="Reddit Sans"/>
              </a:rPr>
              <a:t>ra las mesas de servicio (</a:t>
            </a:r>
            <a:r>
              <a:rPr lang="es-ES" sz="600" dirty="0" err="1">
                <a:latin typeface="Reddit Sans"/>
              </a:rPr>
              <a:t>reuso</a:t>
            </a:r>
            <a:r>
              <a:rPr lang="es-ES" sz="600" dirty="0">
                <a:latin typeface="Reddit Sans"/>
              </a:rPr>
              <a:t> o construcción nuevas)</a:t>
            </a:r>
            <a:endParaRPr lang="es-ES" dirty="0"/>
          </a:p>
        </p:txBody>
      </p:sp>
      <p:sp>
        <p:nvSpPr>
          <p:cNvPr id="173" name="Rounded Rectangle 21">
            <a:extLst>
              <a:ext uri="{FF2B5EF4-FFF2-40B4-BE49-F238E27FC236}">
                <a16:creationId xmlns:a16="http://schemas.microsoft.com/office/drawing/2014/main" id="{891BC76A-4C2F-3071-5AD9-7A5D38D13446}"/>
              </a:ext>
            </a:extLst>
          </p:cNvPr>
          <p:cNvSpPr/>
          <p:nvPr/>
        </p:nvSpPr>
        <p:spPr>
          <a:xfrm>
            <a:off x="5330616" y="2635972"/>
            <a:ext cx="818769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74" name="Rounded Rectangle 21">
            <a:extLst>
              <a:ext uri="{FF2B5EF4-FFF2-40B4-BE49-F238E27FC236}">
                <a16:creationId xmlns:a16="http://schemas.microsoft.com/office/drawing/2014/main" id="{40BC8697-7EC2-FDD0-5975-6A6E6FED0E64}"/>
              </a:ext>
            </a:extLst>
          </p:cNvPr>
          <p:cNvSpPr/>
          <p:nvPr/>
        </p:nvSpPr>
        <p:spPr>
          <a:xfrm>
            <a:off x="7126762" y="159472"/>
            <a:ext cx="1390266" cy="104941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Historias de Usuario </a:t>
            </a:r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(alto</a:t>
            </a:r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 nivel)</a:t>
            </a:r>
            <a:endParaRPr lang="es-ES" dirty="0"/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510278FA-4908-7510-D203-73B1B75C3C60}"/>
              </a:ext>
            </a:extLst>
          </p:cNvPr>
          <p:cNvSpPr txBox="1"/>
          <p:nvPr/>
        </p:nvSpPr>
        <p:spPr>
          <a:xfrm>
            <a:off x="5306785" y="2326819"/>
            <a:ext cx="1104901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Piloto herramientas para la </a:t>
            </a:r>
            <a:r>
              <a:rPr lang="es-ES" sz="600" dirty="0" err="1">
                <a:latin typeface="Reddit Sans"/>
              </a:rPr>
              <a:t>operació</a:t>
            </a:r>
            <a:r>
              <a:rPr lang="es-ES" sz="600" dirty="0">
                <a:latin typeface="Reddit Sans"/>
              </a:rPr>
              <a:t>n de </a:t>
            </a:r>
            <a:r>
              <a:rPr lang="es-ES" sz="600" dirty="0" err="1">
                <a:latin typeface="Reddit Sans"/>
              </a:rPr>
              <a:t>PersonalSoft</a:t>
            </a:r>
            <a:endParaRPr lang="es-ES" dirty="0" err="1"/>
          </a:p>
        </p:txBody>
      </p:sp>
      <p:sp>
        <p:nvSpPr>
          <p:cNvPr id="177" name="TextBox 14">
            <a:extLst>
              <a:ext uri="{FF2B5EF4-FFF2-40B4-BE49-F238E27FC236}">
                <a16:creationId xmlns:a16="http://schemas.microsoft.com/office/drawing/2014/main" id="{DB9A8AC7-82C2-010D-642A-05795CD26E1F}"/>
              </a:ext>
            </a:extLst>
          </p:cNvPr>
          <p:cNvSpPr txBox="1"/>
          <p:nvPr/>
        </p:nvSpPr>
        <p:spPr>
          <a:xfrm>
            <a:off x="8078392" y="1528900"/>
            <a:ext cx="709065" cy="328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42900">
              <a:buClrTx/>
              <a:defRPr sz="1000">
                <a:solidFill>
                  <a:srgbClr val="005DAA"/>
                </a:solidFill>
              </a:defRPr>
            </a:pPr>
            <a:r>
              <a:rPr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◆ </a:t>
            </a:r>
            <a:r>
              <a:rPr lang="es-ES"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Wave 2</a:t>
            </a:r>
            <a:r>
              <a:rPr lang="es-ES"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ª</a:t>
            </a:r>
            <a:r>
              <a:rPr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 Transición</a:t>
            </a:r>
            <a:endParaRPr lang="es-ES" sz="750" kern="1200" dirty="0">
              <a:solidFill>
                <a:srgbClr val="005DAA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178" name="Rounded Rectangle 21">
            <a:extLst>
              <a:ext uri="{FF2B5EF4-FFF2-40B4-BE49-F238E27FC236}">
                <a16:creationId xmlns:a16="http://schemas.microsoft.com/office/drawing/2014/main" id="{E2AA5A9D-22D0-3A10-B9C4-093CEFEACE2B}"/>
              </a:ext>
            </a:extLst>
          </p:cNvPr>
          <p:cNvSpPr/>
          <p:nvPr/>
        </p:nvSpPr>
        <p:spPr>
          <a:xfrm>
            <a:off x="3409288" y="3729986"/>
            <a:ext cx="437769" cy="8316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E451BAF3-B5C4-E221-DC3C-F6D781574CA8}"/>
              </a:ext>
            </a:extLst>
          </p:cNvPr>
          <p:cNvSpPr txBox="1"/>
          <p:nvPr/>
        </p:nvSpPr>
        <p:spPr>
          <a:xfrm>
            <a:off x="3336471" y="3567791"/>
            <a:ext cx="58782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Priorizar clientes</a:t>
            </a:r>
          </a:p>
        </p:txBody>
      </p:sp>
      <p:sp>
        <p:nvSpPr>
          <p:cNvPr id="181" name="Rounded Rectangle 21">
            <a:extLst>
              <a:ext uri="{FF2B5EF4-FFF2-40B4-BE49-F238E27FC236}">
                <a16:creationId xmlns:a16="http://schemas.microsoft.com/office/drawing/2014/main" id="{15FA741A-E940-6E97-15B5-7C4C823EEF99}"/>
              </a:ext>
            </a:extLst>
          </p:cNvPr>
          <p:cNvSpPr/>
          <p:nvPr/>
        </p:nvSpPr>
        <p:spPr>
          <a:xfrm>
            <a:off x="3910029" y="3729986"/>
            <a:ext cx="437769" cy="8316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DC2B6ADF-0848-643D-DBF6-0201E25A007D}"/>
              </a:ext>
            </a:extLst>
          </p:cNvPr>
          <p:cNvSpPr txBox="1"/>
          <p:nvPr/>
        </p:nvSpPr>
        <p:spPr>
          <a:xfrm>
            <a:off x="3848098" y="3567792"/>
            <a:ext cx="10287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Crear Plan de </a:t>
            </a:r>
            <a:r>
              <a:rPr lang="es-ES" sz="600">
                <a:latin typeface="Reddit Sans"/>
              </a:rPr>
              <a:t>Transición clientes actuales</a:t>
            </a:r>
            <a:endParaRPr lang="es-ES"/>
          </a:p>
        </p:txBody>
      </p:sp>
      <p:sp>
        <p:nvSpPr>
          <p:cNvPr id="185" name="Rounded Rectangle 25">
            <a:extLst>
              <a:ext uri="{FF2B5EF4-FFF2-40B4-BE49-F238E27FC236}">
                <a16:creationId xmlns:a16="http://schemas.microsoft.com/office/drawing/2014/main" id="{32B49168-0274-3E40-263F-6ECCBD77DB41}"/>
              </a:ext>
            </a:extLst>
          </p:cNvPr>
          <p:cNvSpPr/>
          <p:nvPr/>
        </p:nvSpPr>
        <p:spPr>
          <a:xfrm>
            <a:off x="3631467" y="3985801"/>
            <a:ext cx="1048077" cy="831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7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6" name="Rounded Rectangle 21">
            <a:extLst>
              <a:ext uri="{FF2B5EF4-FFF2-40B4-BE49-F238E27FC236}">
                <a16:creationId xmlns:a16="http://schemas.microsoft.com/office/drawing/2014/main" id="{C2B6B279-8305-CE42-86A5-4A577DCCAD64}"/>
              </a:ext>
            </a:extLst>
          </p:cNvPr>
          <p:cNvSpPr/>
          <p:nvPr/>
        </p:nvSpPr>
        <p:spPr>
          <a:xfrm>
            <a:off x="7121319" y="311873"/>
            <a:ext cx="1395709" cy="1049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Validación y </a:t>
            </a:r>
            <a:r>
              <a:rPr lang="es-ES" sz="600" kern="1200" dirty="0" err="1">
                <a:solidFill>
                  <a:srgbClr val="000000"/>
                </a:solidFill>
                <a:latin typeface="Reddit Sans"/>
                <a:ea typeface="Reddit Sans"/>
              </a:rPr>
              <a:t>feedback</a:t>
            </a:r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 del </a:t>
            </a:r>
            <a:r>
              <a:rPr lang="es-ES" sz="600" kern="1200" dirty="0" err="1">
                <a:solidFill>
                  <a:srgbClr val="000000"/>
                </a:solidFill>
                <a:latin typeface="Reddit Sans"/>
                <a:ea typeface="Reddit Sans"/>
              </a:rPr>
              <a:t>serv</a:t>
            </a:r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icio</a:t>
            </a:r>
            <a:endParaRPr lang="es-ES" dirty="0"/>
          </a:p>
        </p:txBody>
      </p:sp>
      <p:sp>
        <p:nvSpPr>
          <p:cNvPr id="187" name="Rounded Rectangle 21">
            <a:extLst>
              <a:ext uri="{FF2B5EF4-FFF2-40B4-BE49-F238E27FC236}">
                <a16:creationId xmlns:a16="http://schemas.microsoft.com/office/drawing/2014/main" id="{D5B128C5-B672-C7F9-4B8C-6FB231567AE3}"/>
              </a:ext>
            </a:extLst>
          </p:cNvPr>
          <p:cNvSpPr/>
          <p:nvPr/>
        </p:nvSpPr>
        <p:spPr>
          <a:xfrm>
            <a:off x="7132205" y="475158"/>
            <a:ext cx="1390265" cy="1049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Habilitaciones equipos</a:t>
            </a:r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8" name="Estrella: 5 puntas 187">
            <a:extLst>
              <a:ext uri="{FF2B5EF4-FFF2-40B4-BE49-F238E27FC236}">
                <a16:creationId xmlns:a16="http://schemas.microsoft.com/office/drawing/2014/main" id="{F8F76A08-F447-06F6-00FD-A17E3DF374CA}"/>
              </a:ext>
            </a:extLst>
          </p:cNvPr>
          <p:cNvSpPr/>
          <p:nvPr/>
        </p:nvSpPr>
        <p:spPr>
          <a:xfrm>
            <a:off x="7074626" y="1478279"/>
            <a:ext cx="97972" cy="114301"/>
          </a:xfrm>
          <a:prstGeom prst="star5">
            <a:avLst/>
          </a:prstGeom>
          <a:solidFill>
            <a:srgbClr val="7030A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DA53FA94-1164-92A0-D3E8-C53C805AA8AD}"/>
              </a:ext>
            </a:extLst>
          </p:cNvPr>
          <p:cNvSpPr txBox="1"/>
          <p:nvPr/>
        </p:nvSpPr>
        <p:spPr>
          <a:xfrm>
            <a:off x="3488870" y="3801836"/>
            <a:ext cx="13062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Validación</a:t>
            </a:r>
            <a:r>
              <a:rPr lang="es-ES" sz="600" dirty="0">
                <a:latin typeface="Reddit Sans"/>
              </a:rPr>
              <a:t> y </a:t>
            </a:r>
            <a:r>
              <a:rPr lang="es-ES" sz="600" dirty="0" err="1">
                <a:latin typeface="Reddit Sans"/>
              </a:rPr>
              <a:t>feedback</a:t>
            </a:r>
            <a:r>
              <a:rPr lang="es-ES" sz="600" dirty="0">
                <a:latin typeface="Reddit Sans"/>
              </a:rPr>
              <a:t> del servicio con comercial y la operación</a:t>
            </a:r>
            <a:endParaRPr lang="es-ES" dirty="0"/>
          </a:p>
        </p:txBody>
      </p:sp>
      <p:sp>
        <p:nvSpPr>
          <p:cNvPr id="191" name="Rounded Rectangle 25">
            <a:extLst>
              <a:ext uri="{FF2B5EF4-FFF2-40B4-BE49-F238E27FC236}">
                <a16:creationId xmlns:a16="http://schemas.microsoft.com/office/drawing/2014/main" id="{66139D7D-2607-7644-D34B-609C0AF5FBAD}"/>
              </a:ext>
            </a:extLst>
          </p:cNvPr>
          <p:cNvSpPr/>
          <p:nvPr/>
        </p:nvSpPr>
        <p:spPr>
          <a:xfrm>
            <a:off x="4681941" y="3838845"/>
            <a:ext cx="1009976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cliente wave 1</a:t>
            </a:r>
          </a:p>
        </p:txBody>
      </p:sp>
      <p:sp>
        <p:nvSpPr>
          <p:cNvPr id="192" name="Rounded Rectangle 21">
            <a:extLst>
              <a:ext uri="{FF2B5EF4-FFF2-40B4-BE49-F238E27FC236}">
                <a16:creationId xmlns:a16="http://schemas.microsoft.com/office/drawing/2014/main" id="{1FC565A4-3505-DA58-C84A-9AD58B006C87}"/>
              </a:ext>
            </a:extLst>
          </p:cNvPr>
          <p:cNvSpPr/>
          <p:nvPr/>
        </p:nvSpPr>
        <p:spPr>
          <a:xfrm>
            <a:off x="5118344" y="3294557"/>
            <a:ext cx="818769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69C0F964-3CFE-1B90-9F50-042CB36139F4}"/>
              </a:ext>
            </a:extLst>
          </p:cNvPr>
          <p:cNvSpPr txBox="1"/>
          <p:nvPr/>
        </p:nvSpPr>
        <p:spPr>
          <a:xfrm>
            <a:off x="5034641" y="3056159"/>
            <a:ext cx="1660073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Seleccionar herramientas (</a:t>
            </a:r>
            <a:r>
              <a:rPr lang="es-ES" sz="600" dirty="0" err="1">
                <a:latin typeface="Reddit Sans"/>
              </a:rPr>
              <a:t>help</a:t>
            </a:r>
            <a:r>
              <a:rPr lang="es-ES" sz="600" dirty="0">
                <a:latin typeface="Reddit Sans"/>
              </a:rPr>
              <a:t> </a:t>
            </a:r>
            <a:r>
              <a:rPr lang="es-ES" sz="600" dirty="0" err="1">
                <a:latin typeface="Reddit Sans"/>
              </a:rPr>
              <a:t>desk</a:t>
            </a:r>
            <a:r>
              <a:rPr lang="es-ES" sz="600" dirty="0">
                <a:latin typeface="Reddit Sans"/>
              </a:rPr>
              <a:t> y </a:t>
            </a:r>
            <a:r>
              <a:rPr lang="es-ES" sz="600" dirty="0" err="1">
                <a:latin typeface="Reddit Sans"/>
              </a:rPr>
              <a:t>operació</a:t>
            </a:r>
            <a:r>
              <a:rPr lang="es-ES" sz="600" dirty="0">
                <a:latin typeface="Reddit Sans"/>
              </a:rPr>
              <a:t>n)</a:t>
            </a:r>
            <a:endParaRPr lang="es-ES" dirty="0"/>
          </a:p>
        </p:txBody>
      </p:sp>
      <p:sp>
        <p:nvSpPr>
          <p:cNvPr id="194" name="Rounded Rectangle 21">
            <a:extLst>
              <a:ext uri="{FF2B5EF4-FFF2-40B4-BE49-F238E27FC236}">
                <a16:creationId xmlns:a16="http://schemas.microsoft.com/office/drawing/2014/main" id="{DAA21406-89E2-459A-4A5A-DDECF6872EE9}"/>
              </a:ext>
            </a:extLst>
          </p:cNvPr>
          <p:cNvSpPr/>
          <p:nvPr/>
        </p:nvSpPr>
        <p:spPr>
          <a:xfrm>
            <a:off x="5570101" y="3523157"/>
            <a:ext cx="818769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08D72159-319B-C816-9563-22D50CE9EB72}"/>
              </a:ext>
            </a:extLst>
          </p:cNvPr>
          <p:cNvSpPr txBox="1"/>
          <p:nvPr/>
        </p:nvSpPr>
        <p:spPr>
          <a:xfrm>
            <a:off x="5328555" y="3328304"/>
            <a:ext cx="1289958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Diseñarla calculadora del servicio (plantilla de estimación)</a:t>
            </a:r>
            <a:endParaRPr lang="es-ES" sz="600" dirty="0">
              <a:latin typeface="Reddit Sans"/>
            </a:endParaRPr>
          </a:p>
        </p:txBody>
      </p:sp>
      <p:sp>
        <p:nvSpPr>
          <p:cNvPr id="196" name="Estrella: 5 puntas 195">
            <a:extLst>
              <a:ext uri="{FF2B5EF4-FFF2-40B4-BE49-F238E27FC236}">
                <a16:creationId xmlns:a16="http://schemas.microsoft.com/office/drawing/2014/main" id="{345742A8-1631-D27D-8C78-D70987FD74A9}"/>
              </a:ext>
            </a:extLst>
          </p:cNvPr>
          <p:cNvSpPr/>
          <p:nvPr/>
        </p:nvSpPr>
        <p:spPr>
          <a:xfrm>
            <a:off x="8310155" y="1434736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7" name="Estrella: 5 puntas 196">
            <a:extLst>
              <a:ext uri="{FF2B5EF4-FFF2-40B4-BE49-F238E27FC236}">
                <a16:creationId xmlns:a16="http://schemas.microsoft.com/office/drawing/2014/main" id="{8CA14C9F-39C7-1063-9EFF-6685956A8DE9}"/>
              </a:ext>
            </a:extLst>
          </p:cNvPr>
          <p:cNvSpPr/>
          <p:nvPr/>
        </p:nvSpPr>
        <p:spPr>
          <a:xfrm>
            <a:off x="5458097" y="536664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78FAB60E-601B-0A3C-2095-2B4DD2724FB6}"/>
              </a:ext>
            </a:extLst>
          </p:cNvPr>
          <p:cNvSpPr txBox="1"/>
          <p:nvPr/>
        </p:nvSpPr>
        <p:spPr>
          <a:xfrm>
            <a:off x="5568045" y="481146"/>
            <a:ext cx="16056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Lanzamiento servicio a nuevos clientes</a:t>
            </a:r>
            <a:endParaRPr lang="es-ES"/>
          </a:p>
        </p:txBody>
      </p:sp>
      <p:sp>
        <p:nvSpPr>
          <p:cNvPr id="199" name="Rounded Rectangle 21">
            <a:extLst>
              <a:ext uri="{FF2B5EF4-FFF2-40B4-BE49-F238E27FC236}">
                <a16:creationId xmlns:a16="http://schemas.microsoft.com/office/drawing/2014/main" id="{48978DE4-B3E0-0B34-EF8D-C00F491B9C54}"/>
              </a:ext>
            </a:extLst>
          </p:cNvPr>
          <p:cNvSpPr/>
          <p:nvPr/>
        </p:nvSpPr>
        <p:spPr>
          <a:xfrm>
            <a:off x="6582472" y="3267342"/>
            <a:ext cx="818769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B6201EDC-CC68-5DD5-5D2C-5382B78A97E6}"/>
              </a:ext>
            </a:extLst>
          </p:cNvPr>
          <p:cNvSpPr txBox="1"/>
          <p:nvPr/>
        </p:nvSpPr>
        <p:spPr>
          <a:xfrm>
            <a:off x="6504212" y="3007174"/>
            <a:ext cx="1045030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Diseñar artefactos equipo comercial</a:t>
            </a:r>
            <a:endParaRPr lang="es-ES"/>
          </a:p>
        </p:txBody>
      </p:sp>
      <p:sp>
        <p:nvSpPr>
          <p:cNvPr id="204" name="Rounded Rectangle 21">
            <a:extLst>
              <a:ext uri="{FF2B5EF4-FFF2-40B4-BE49-F238E27FC236}">
                <a16:creationId xmlns:a16="http://schemas.microsoft.com/office/drawing/2014/main" id="{A5943974-5799-F84A-1E6E-4C5D982EC9A5}"/>
              </a:ext>
            </a:extLst>
          </p:cNvPr>
          <p:cNvSpPr/>
          <p:nvPr/>
        </p:nvSpPr>
        <p:spPr>
          <a:xfrm>
            <a:off x="7066890" y="4252501"/>
            <a:ext cx="1450137" cy="8861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Validación y  evolución </a:t>
            </a:r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del</a:t>
            </a:r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 servicio</a:t>
            </a:r>
            <a:endParaRPr lang="es-ES" dirty="0"/>
          </a:p>
        </p:txBody>
      </p:sp>
      <p:sp>
        <p:nvSpPr>
          <p:cNvPr id="205" name="Rounded Rectangle 21">
            <a:extLst>
              <a:ext uri="{FF2B5EF4-FFF2-40B4-BE49-F238E27FC236}">
                <a16:creationId xmlns:a16="http://schemas.microsoft.com/office/drawing/2014/main" id="{B9738A09-EF12-CD41-21D1-CC5398A921D7}"/>
              </a:ext>
            </a:extLst>
          </p:cNvPr>
          <p:cNvSpPr/>
          <p:nvPr/>
        </p:nvSpPr>
        <p:spPr>
          <a:xfrm>
            <a:off x="6587915" y="3583027"/>
            <a:ext cx="818769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EAB8AC16-1A75-B07B-67E5-8D9032D8199F}"/>
              </a:ext>
            </a:extLst>
          </p:cNvPr>
          <p:cNvSpPr txBox="1"/>
          <p:nvPr/>
        </p:nvSpPr>
        <p:spPr>
          <a:xfrm>
            <a:off x="6509655" y="3322859"/>
            <a:ext cx="1045030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Diseñar artefactos </a:t>
            </a:r>
            <a:r>
              <a:rPr lang="es-ES" sz="600">
                <a:latin typeface="Reddit Sans"/>
              </a:rPr>
              <a:t>equipo de la operación</a:t>
            </a:r>
            <a:endParaRPr lang="es-ES"/>
          </a:p>
        </p:txBody>
      </p:sp>
      <p:sp>
        <p:nvSpPr>
          <p:cNvPr id="207" name="Rounded Rectangle 21">
            <a:extLst>
              <a:ext uri="{FF2B5EF4-FFF2-40B4-BE49-F238E27FC236}">
                <a16:creationId xmlns:a16="http://schemas.microsoft.com/office/drawing/2014/main" id="{9EC06F50-C9B0-C182-6C30-B084237CFC3F}"/>
              </a:ext>
            </a:extLst>
          </p:cNvPr>
          <p:cNvSpPr/>
          <p:nvPr/>
        </p:nvSpPr>
        <p:spPr>
          <a:xfrm>
            <a:off x="7605729" y="3387084"/>
            <a:ext cx="818769" cy="77726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BD3B7044-81A8-6135-06D6-F5AE7632D3C3}"/>
              </a:ext>
            </a:extLst>
          </p:cNvPr>
          <p:cNvSpPr txBox="1"/>
          <p:nvPr/>
        </p:nvSpPr>
        <p:spPr>
          <a:xfrm>
            <a:off x="7478483" y="3061602"/>
            <a:ext cx="1045030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dirty="0">
                <a:latin typeface="Reddit Sans"/>
              </a:rPr>
              <a:t>Actualización del servicio en la </a:t>
            </a:r>
            <a:r>
              <a:rPr lang="es-ES" sz="600">
                <a:latin typeface="Reddit Sans"/>
              </a:rPr>
              <a:t>herramienta</a:t>
            </a:r>
            <a:r>
              <a:rPr lang="es-ES" sz="600" dirty="0">
                <a:latin typeface="Reddit Sans"/>
              </a:rPr>
              <a:t> de procesos</a:t>
            </a:r>
            <a:endParaRPr lang="es-ES" dirty="0" err="1"/>
          </a:p>
        </p:txBody>
      </p:sp>
      <p:sp>
        <p:nvSpPr>
          <p:cNvPr id="210" name="Rounded Rectangle 25">
            <a:extLst>
              <a:ext uri="{FF2B5EF4-FFF2-40B4-BE49-F238E27FC236}">
                <a16:creationId xmlns:a16="http://schemas.microsoft.com/office/drawing/2014/main" id="{48BA21B8-BFDD-F15E-4383-2279F41541CA}"/>
              </a:ext>
            </a:extLst>
          </p:cNvPr>
          <p:cNvSpPr/>
          <p:nvPr/>
        </p:nvSpPr>
        <p:spPr>
          <a:xfrm>
            <a:off x="7093126" y="3838845"/>
            <a:ext cx="1009976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cliente wave 2</a:t>
            </a:r>
          </a:p>
        </p:txBody>
      </p:sp>
      <p:sp>
        <p:nvSpPr>
          <p:cNvPr id="211" name="Rounded Rectangle 25">
            <a:extLst>
              <a:ext uri="{FF2B5EF4-FFF2-40B4-BE49-F238E27FC236}">
                <a16:creationId xmlns:a16="http://schemas.microsoft.com/office/drawing/2014/main" id="{1B6AE260-61CA-AA80-3B00-3F546B8BF826}"/>
              </a:ext>
            </a:extLst>
          </p:cNvPr>
          <p:cNvSpPr/>
          <p:nvPr/>
        </p:nvSpPr>
        <p:spPr>
          <a:xfrm>
            <a:off x="7055028" y="3980358"/>
            <a:ext cx="1254901" cy="940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 dirty="0">
                <a:solidFill>
                  <a:srgbClr val="000000"/>
                </a:solidFill>
                <a:latin typeface="Reddit Sans"/>
                <a:ea typeface="Reddit Sans"/>
              </a:rPr>
              <a:t>Equipos de la operación </a:t>
            </a:r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wave 2</a:t>
            </a:r>
            <a:endParaRPr lang="es-ES" sz="600" kern="1200" dirty="0">
              <a:solidFill>
                <a:srgbClr val="000000"/>
              </a:solidFill>
              <a:latin typeface="Reddit Sans"/>
              <a:ea typeface="Reddi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5F327D-4348-70E7-13D6-32A2BAE2F8BE}"/>
              </a:ext>
            </a:extLst>
          </p:cNvPr>
          <p:cNvSpPr txBox="1"/>
          <p:nvPr/>
        </p:nvSpPr>
        <p:spPr>
          <a:xfrm>
            <a:off x="332015" y="884464"/>
            <a:ext cx="4572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 i="0" u="none" strike="noStrike" baseline="0">
                <a:solidFill>
                  <a:srgbClr val="0E337C"/>
                </a:solidFill>
                <a:latin typeface="Reddit Sans"/>
              </a:rPr>
              <a:t>Entregables</a:t>
            </a:r>
            <a:endParaRPr lang="es-ES"/>
          </a:p>
          <a:p>
            <a:pPr algn="ctr"/>
            <a:endParaRPr lang="es-ES"/>
          </a:p>
        </p:txBody>
      </p:sp>
      <p:cxnSp>
        <p:nvCxnSpPr>
          <p:cNvPr id="7" name="Google Shape;179;g3657f5ba65c_1_33">
            <a:extLst>
              <a:ext uri="{FF2B5EF4-FFF2-40B4-BE49-F238E27FC236}">
                <a16:creationId xmlns:a16="http://schemas.microsoft.com/office/drawing/2014/main" id="{F4156A76-728E-D91D-CFF1-BF69AF932F73}"/>
              </a:ext>
            </a:extLst>
          </p:cNvPr>
          <p:cNvCxnSpPr/>
          <p:nvPr/>
        </p:nvCxnSpPr>
        <p:spPr>
          <a:xfrm rot="10800000" flipH="1">
            <a:off x="394425" y="824004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76;g3657f5ba65c_1_33">
            <a:extLst>
              <a:ext uri="{FF2B5EF4-FFF2-40B4-BE49-F238E27FC236}">
                <a16:creationId xmlns:a16="http://schemas.microsoft.com/office/drawing/2014/main" id="{E1A0AA3D-88E5-3D13-D465-B35D6F9C4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690" y="434140"/>
            <a:ext cx="5554885" cy="616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ES" dirty="0" err="1"/>
              <a:t>Roadmap</a:t>
            </a:r>
            <a:r>
              <a:rPr lang="es-ES" dirty="0"/>
              <a:t> Mesa de Servicios de Nueva Generación</a:t>
            </a:r>
            <a:endParaRPr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3FA27DD-8793-A77E-F267-901278F387A3}"/>
              </a:ext>
            </a:extLst>
          </p:cNvPr>
          <p:cNvSpPr txBox="1"/>
          <p:nvPr/>
        </p:nvSpPr>
        <p:spPr>
          <a:xfrm>
            <a:off x="326570" y="1254576"/>
            <a:ext cx="125185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b="1" dirty="0">
                <a:solidFill>
                  <a:srgbClr val="595959"/>
                </a:solidFill>
                <a:latin typeface="Reddit Sans"/>
              </a:rPr>
              <a:t>Modelos</a:t>
            </a:r>
            <a:r>
              <a:rPr lang="es-ES" sz="1000" b="1" u="none" strike="noStrike" baseline="0" dirty="0">
                <a:solidFill>
                  <a:srgbClr val="595959"/>
                </a:solidFill>
                <a:latin typeface="Reddit Sans"/>
              </a:rPr>
              <a:t> </a:t>
            </a:r>
            <a:r>
              <a:rPr lang="es-ES" sz="1000" b="1">
                <a:solidFill>
                  <a:srgbClr val="595959"/>
                </a:solidFill>
                <a:latin typeface="Reddit Sans"/>
              </a:rPr>
              <a:t>de operación</a:t>
            </a:r>
            <a:endParaRPr lang="es-ES" b="1">
              <a:solidFill>
                <a:srgbClr val="595959"/>
              </a:solidFill>
              <a:ea typeface="Reddit Sans"/>
            </a:endParaRPr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E9408C5F-E950-AF15-64CE-64E635604BF3}"/>
              </a:ext>
            </a:extLst>
          </p:cNvPr>
          <p:cNvSpPr/>
          <p:nvPr/>
        </p:nvSpPr>
        <p:spPr>
          <a:xfrm>
            <a:off x="1484910" y="1313904"/>
            <a:ext cx="3134542" cy="28139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b="1" kern="1200">
                <a:solidFill>
                  <a:schemeClr val="tx1"/>
                </a:solidFill>
                <a:latin typeface="Reddit Sans"/>
                <a:ea typeface="Reddit Sans"/>
              </a:rPr>
              <a:t>Reactivo y Crecimiento Automatizado</a:t>
            </a:r>
            <a:endParaRPr lang="es-ES" sz="900">
              <a:solidFill>
                <a:schemeClr val="tx1"/>
              </a:solidFill>
              <a:cs typeface="Arial"/>
            </a:endParaRP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3A53E36D-15CA-5D71-2B69-A70F4DDB6310}"/>
              </a:ext>
            </a:extLst>
          </p:cNvPr>
          <p:cNvSpPr/>
          <p:nvPr/>
        </p:nvSpPr>
        <p:spPr>
          <a:xfrm>
            <a:off x="4619999" y="1313907"/>
            <a:ext cx="2236469" cy="286838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b="1" kern="1200">
                <a:solidFill>
                  <a:schemeClr val="tx1"/>
                </a:solidFill>
                <a:latin typeface="Reddit Sans"/>
                <a:ea typeface="Reddit Sans"/>
              </a:rPr>
              <a:t>Predictivo y Evolutivo</a:t>
            </a: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E414F6A8-1018-D7BC-1DD7-6692C22AEF41}"/>
              </a:ext>
            </a:extLst>
          </p:cNvPr>
          <p:cNvSpPr/>
          <p:nvPr/>
        </p:nvSpPr>
        <p:spPr>
          <a:xfrm>
            <a:off x="6878782" y="1313904"/>
            <a:ext cx="1561557" cy="286839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kern="1200">
                <a:solidFill>
                  <a:schemeClr val="tx1"/>
                </a:solidFill>
                <a:latin typeface="Reddit Sans"/>
                <a:ea typeface="Reddit Sans"/>
                <a:cs typeface="Arial"/>
              </a:rPr>
              <a:t>Autónomo e Inteligente</a:t>
            </a:r>
          </a:p>
        </p:txBody>
      </p:sp>
      <p:sp>
        <p:nvSpPr>
          <p:cNvPr id="29" name="OTLSHAPE_TB_00000000000000000000000000000000_ScaleContainer">
            <a:extLst>
              <a:ext uri="{FF2B5EF4-FFF2-40B4-BE49-F238E27FC236}">
                <a16:creationId xmlns:a16="http://schemas.microsoft.com/office/drawing/2014/main" id="{9633E68C-6E3F-DB3B-22B6-05B421634494}"/>
              </a:ext>
            </a:extLst>
          </p:cNvPr>
          <p:cNvSpPr/>
          <p:nvPr/>
        </p:nvSpPr>
        <p:spPr>
          <a:xfrm>
            <a:off x="1474723" y="1604767"/>
            <a:ext cx="6962150" cy="183417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B050ACB-3FB6-E019-C71A-4572E0D00025}"/>
              </a:ext>
            </a:extLst>
          </p:cNvPr>
          <p:cNvSpPr txBox="1"/>
          <p:nvPr/>
        </p:nvSpPr>
        <p:spPr>
          <a:xfrm>
            <a:off x="4256314" y="1602918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Q3</a:t>
            </a:r>
            <a:endParaRPr lang="es-ES" sz="800">
              <a:solidFill>
                <a:srgbClr val="FFFFFF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9723865-5A41-F725-C91B-0057835821BF}"/>
              </a:ext>
            </a:extLst>
          </p:cNvPr>
          <p:cNvSpPr txBox="1"/>
          <p:nvPr/>
        </p:nvSpPr>
        <p:spPr>
          <a:xfrm>
            <a:off x="7478484" y="1602919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Q4</a:t>
            </a:r>
            <a:endParaRPr lang="es-ES" sz="800">
              <a:solidFill>
                <a:srgbClr val="FFFFFF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CD3CD7E-9620-69A8-67EC-DED704E8E1E1}"/>
              </a:ext>
            </a:extLst>
          </p:cNvPr>
          <p:cNvCxnSpPr/>
          <p:nvPr/>
        </p:nvCxnSpPr>
        <p:spPr>
          <a:xfrm>
            <a:off x="6874328" y="1612447"/>
            <a:ext cx="2177" cy="17144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E04F3D4-2E69-CCF8-C888-FC89A4983DD7}"/>
              </a:ext>
            </a:extLst>
          </p:cNvPr>
          <p:cNvSpPr txBox="1"/>
          <p:nvPr/>
        </p:nvSpPr>
        <p:spPr>
          <a:xfrm>
            <a:off x="2219323" y="1786617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Julio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4970034-3526-F52C-92F3-D759F2021FAF}"/>
              </a:ext>
            </a:extLst>
          </p:cNvPr>
          <p:cNvSpPr txBox="1"/>
          <p:nvPr/>
        </p:nvSpPr>
        <p:spPr>
          <a:xfrm>
            <a:off x="3966479" y="1792060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Agosto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8A3F251-7D3F-1B69-7AB5-392781C71481}"/>
              </a:ext>
            </a:extLst>
          </p:cNvPr>
          <p:cNvSpPr txBox="1"/>
          <p:nvPr/>
        </p:nvSpPr>
        <p:spPr>
          <a:xfrm>
            <a:off x="5599335" y="1786617"/>
            <a:ext cx="10940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Septiembre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E015285-C0C4-0359-3C2B-226C613353D8}"/>
              </a:ext>
            </a:extLst>
          </p:cNvPr>
          <p:cNvSpPr txBox="1"/>
          <p:nvPr/>
        </p:nvSpPr>
        <p:spPr>
          <a:xfrm>
            <a:off x="7379151" y="1786617"/>
            <a:ext cx="821873" cy="25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Octubre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45014E92-E35F-0381-2BD8-5CDA490D1AB8}"/>
              </a:ext>
            </a:extLst>
          </p:cNvPr>
          <p:cNvCxnSpPr/>
          <p:nvPr/>
        </p:nvCxnSpPr>
        <p:spPr>
          <a:xfrm>
            <a:off x="3298372" y="1819274"/>
            <a:ext cx="18504" cy="25676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93F2F33F-D377-1629-4288-1ADCDA614014}"/>
              </a:ext>
            </a:extLst>
          </p:cNvPr>
          <p:cNvCxnSpPr>
            <a:cxnSpLocks/>
          </p:cNvCxnSpPr>
          <p:nvPr/>
        </p:nvCxnSpPr>
        <p:spPr>
          <a:xfrm>
            <a:off x="5143500" y="1792059"/>
            <a:ext cx="13062" cy="2605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F5C5A59F-D40D-E871-B46E-4447C66ED326}"/>
              </a:ext>
            </a:extLst>
          </p:cNvPr>
          <p:cNvCxnSpPr>
            <a:cxnSpLocks/>
          </p:cNvCxnSpPr>
          <p:nvPr/>
        </p:nvCxnSpPr>
        <p:spPr>
          <a:xfrm>
            <a:off x="6901542" y="1797502"/>
            <a:ext cx="34835" cy="2589439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C991B8E-021B-EC77-E034-CBEA633B4016}"/>
              </a:ext>
            </a:extLst>
          </p:cNvPr>
          <p:cNvSpPr txBox="1"/>
          <p:nvPr/>
        </p:nvSpPr>
        <p:spPr>
          <a:xfrm>
            <a:off x="1436912" y="2141763"/>
            <a:ext cx="185057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Nivel de madurez mesas </a:t>
            </a:r>
            <a:r>
              <a:rPr lang="es-ES" sz="800">
                <a:latin typeface="Reddit Sans"/>
              </a:rPr>
              <a:t>actuales</a:t>
            </a:r>
            <a:endParaRPr lang="es-ES" sz="800"/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Dolores de la operación - Pain </a:t>
            </a:r>
            <a:r>
              <a:rPr lang="es-ES" sz="800" dirty="0" err="1">
                <a:latin typeface="Reddit Sans"/>
              </a:rPr>
              <a:t>point</a:t>
            </a: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Oferta de valor</a:t>
            </a: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Esquema general del servicio – Service </a:t>
            </a:r>
            <a:r>
              <a:rPr lang="es-ES" sz="800" dirty="0" err="1">
                <a:latin typeface="Reddit Sans"/>
              </a:rPr>
              <a:t>Design</a:t>
            </a:r>
            <a:r>
              <a:rPr lang="es-ES" sz="800" dirty="0">
                <a:latin typeface="Reddit Sans"/>
              </a:rPr>
              <a:t> Blue </a:t>
            </a:r>
            <a:r>
              <a:rPr lang="es-ES" sz="800" dirty="0" err="1">
                <a:latin typeface="Reddit Sans"/>
              </a:rPr>
              <a:t>Print</a:t>
            </a: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FC94FAC-A03D-2BBF-4601-BBD72FF20A2A}"/>
              </a:ext>
            </a:extLst>
          </p:cNvPr>
          <p:cNvSpPr txBox="1"/>
          <p:nvPr/>
        </p:nvSpPr>
        <p:spPr>
          <a:xfrm>
            <a:off x="3287483" y="2141763"/>
            <a:ext cx="185057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Slide </a:t>
            </a:r>
            <a:r>
              <a:rPr lang="es-ES" sz="800" dirty="0" err="1">
                <a:latin typeface="Reddit Sans"/>
              </a:rPr>
              <a:t>deck</a:t>
            </a:r>
            <a:r>
              <a:rPr lang="es-ES" sz="800" dirty="0">
                <a:latin typeface="Reddit Sans"/>
              </a:rPr>
              <a:t> para comercial</a:t>
            </a:r>
            <a:endParaRPr lang="es-ES" sz="800" dirty="0"/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Slide </a:t>
            </a:r>
            <a:r>
              <a:rPr lang="es-ES" sz="800" dirty="0" err="1">
                <a:latin typeface="Reddit Sans"/>
              </a:rPr>
              <a:t>deck</a:t>
            </a:r>
            <a:r>
              <a:rPr lang="es-ES" sz="800" dirty="0">
                <a:latin typeface="Reddit Sans"/>
              </a:rPr>
              <a:t> para operación</a:t>
            </a: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Validación </a:t>
            </a:r>
            <a:r>
              <a:rPr lang="es-ES" sz="800" dirty="0" err="1">
                <a:latin typeface="Reddit Sans"/>
              </a:rPr>
              <a:t>estandarizacion</a:t>
            </a:r>
            <a:r>
              <a:rPr lang="es-ES" sz="800" dirty="0">
                <a:latin typeface="Reddit Sans"/>
              </a:rPr>
              <a:t> del </a:t>
            </a:r>
            <a:r>
              <a:rPr lang="es-ES" sz="800" dirty="0" err="1">
                <a:latin typeface="Reddit Sans"/>
              </a:rPr>
              <a:t>servicion</a:t>
            </a:r>
            <a:r>
              <a:rPr lang="es-ES" sz="800" dirty="0">
                <a:latin typeface="Reddit Sans"/>
              </a:rPr>
              <a:t> con comercial</a:t>
            </a: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Diseñar plan de transición operación actual</a:t>
            </a: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 dirty="0" err="1">
                <a:latin typeface="Reddit Sans"/>
              </a:rPr>
              <a:t>Habilitacion</a:t>
            </a:r>
            <a:r>
              <a:rPr lang="es-ES" sz="800" dirty="0">
                <a:latin typeface="Reddit Sans"/>
              </a:rPr>
              <a:t> equipo comercial</a:t>
            </a: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Habilitación equipo de la operación </a:t>
            </a:r>
            <a:r>
              <a:rPr lang="es-ES" sz="800">
                <a:latin typeface="Reddit Sans"/>
              </a:rPr>
              <a:t>wave 1</a:t>
            </a:r>
            <a:endParaRPr lang="es-ES" sz="800" dirty="0">
              <a:latin typeface="Reddit Sans"/>
            </a:endParaRPr>
          </a:p>
          <a:p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D67D610-C9FA-B84E-1049-D4AA7C737DDC}"/>
              </a:ext>
            </a:extLst>
          </p:cNvPr>
          <p:cNvSpPr txBox="1"/>
          <p:nvPr/>
        </p:nvSpPr>
        <p:spPr>
          <a:xfrm>
            <a:off x="5089069" y="2141763"/>
            <a:ext cx="185057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Habilitación cliente sobre la evoluci</a:t>
            </a:r>
            <a:r>
              <a:rPr lang="es-ES" sz="800">
                <a:latin typeface="Reddit Sans"/>
              </a:rPr>
              <a:t>ón del servicio wave 1</a:t>
            </a:r>
            <a:endParaRPr lang="es-ES" sz="800" dirty="0">
              <a:latin typeface="Reddit Sans"/>
            </a:endParaRPr>
          </a:p>
          <a:p>
            <a:pPr marL="171450" indent="-171450">
              <a:buFont typeface="Arial"/>
              <a:buChar char="•"/>
            </a:pPr>
            <a:endParaRPr lang="es-ES" sz="800" dirty="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800">
                <a:latin typeface="Reddit Sans"/>
                <a:ea typeface="Reddit Sans"/>
              </a:rPr>
              <a:t>Ejecutar</a:t>
            </a:r>
            <a:r>
              <a:rPr lang="es-ES" sz="800" dirty="0">
                <a:latin typeface="Reddit Sans"/>
                <a:ea typeface="Reddit Sans"/>
              </a:rPr>
              <a:t> plan de transición para los clientes de la wave 1</a:t>
            </a:r>
          </a:p>
          <a:p>
            <a:pPr marL="171450" indent="-171450">
              <a:buFont typeface="Arial,Sans-Serif"/>
              <a:buChar char="•"/>
            </a:pPr>
            <a:endParaRPr lang="es-ES" sz="800" dirty="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800" dirty="0">
                <a:latin typeface="Reddit Sans"/>
                <a:ea typeface="Reddit Sans"/>
              </a:rPr>
              <a:t>Calculadora del servicio (plantilla de </a:t>
            </a:r>
            <a:r>
              <a:rPr lang="es-ES" sz="800">
                <a:latin typeface="Reddit Sans"/>
                <a:ea typeface="Reddit Sans"/>
              </a:rPr>
              <a:t>estimación)</a:t>
            </a:r>
          </a:p>
          <a:p>
            <a:pPr marL="171450" indent="-171450">
              <a:buFont typeface="Arial,Sans-Serif"/>
              <a:buChar char="•"/>
            </a:pPr>
            <a:endParaRPr lang="es-ES" sz="800" dirty="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800">
                <a:latin typeface="Reddit Sans"/>
                <a:ea typeface="Reddit Sans"/>
              </a:rPr>
              <a:t>Artefactos equipos comercial (propuestas, contratos, ...)</a:t>
            </a:r>
            <a:endParaRPr lang="es-ES" sz="800" dirty="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endParaRPr lang="es-ES" sz="800" dirty="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800">
                <a:latin typeface="Reddit Sans"/>
                <a:ea typeface="Reddit Sans"/>
              </a:rPr>
              <a:t>Artefactos equipos de la operación</a:t>
            </a:r>
            <a:endParaRPr lang="es-ES" sz="800" dirty="0">
              <a:latin typeface="Reddit Sans"/>
              <a:ea typeface="Reddit Sans"/>
            </a:endParaRP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</p:txBody>
      </p:sp>
      <p:sp>
        <p:nvSpPr>
          <p:cNvPr id="67" name="Estrella: 5 puntas 66">
            <a:extLst>
              <a:ext uri="{FF2B5EF4-FFF2-40B4-BE49-F238E27FC236}">
                <a16:creationId xmlns:a16="http://schemas.microsoft.com/office/drawing/2014/main" id="{FE56A9FC-4DA0-EA9E-B693-65DC3D0DFD1C}"/>
              </a:ext>
            </a:extLst>
          </p:cNvPr>
          <p:cNvSpPr/>
          <p:nvPr/>
        </p:nvSpPr>
        <p:spPr>
          <a:xfrm>
            <a:off x="2121625" y="1832065"/>
            <a:ext cx="97972" cy="114301"/>
          </a:xfrm>
          <a:prstGeom prst="star5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Estrella: 5 puntas 68">
            <a:extLst>
              <a:ext uri="{FF2B5EF4-FFF2-40B4-BE49-F238E27FC236}">
                <a16:creationId xmlns:a16="http://schemas.microsoft.com/office/drawing/2014/main" id="{6A96B953-3EAE-34E6-E7AB-9509AE1EB014}"/>
              </a:ext>
            </a:extLst>
          </p:cNvPr>
          <p:cNvSpPr/>
          <p:nvPr/>
        </p:nvSpPr>
        <p:spPr>
          <a:xfrm>
            <a:off x="7210697" y="1859279"/>
            <a:ext cx="97972" cy="114301"/>
          </a:xfrm>
          <a:prstGeom prst="star5">
            <a:avLst/>
          </a:prstGeom>
          <a:solidFill>
            <a:srgbClr val="7030A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TextBox 14">
            <a:extLst>
              <a:ext uri="{FF2B5EF4-FFF2-40B4-BE49-F238E27FC236}">
                <a16:creationId xmlns:a16="http://schemas.microsoft.com/office/drawing/2014/main" id="{CE1FE641-FA41-1611-A826-E22AF35DB61D}"/>
              </a:ext>
            </a:extLst>
          </p:cNvPr>
          <p:cNvSpPr txBox="1"/>
          <p:nvPr/>
        </p:nvSpPr>
        <p:spPr>
          <a:xfrm>
            <a:off x="5231777" y="1888130"/>
            <a:ext cx="925474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42900">
              <a:buClrTx/>
              <a:defRPr sz="1000">
                <a:solidFill>
                  <a:srgbClr val="005DAA"/>
                </a:solidFill>
              </a:defRPr>
            </a:pPr>
            <a:r>
              <a:rPr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◆ </a:t>
            </a:r>
            <a:r>
              <a:rPr lang="es-ES"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Wave </a:t>
            </a:r>
            <a:r>
              <a:rPr lang="es-ES"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1ª</a:t>
            </a:r>
            <a:r>
              <a:rPr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 Transición</a:t>
            </a:r>
            <a:endParaRPr lang="es-ES" sz="750" kern="1200" dirty="0">
              <a:solidFill>
                <a:srgbClr val="005DAA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8CE9423A-756E-9604-472D-001E3E81D468}"/>
              </a:ext>
            </a:extLst>
          </p:cNvPr>
          <p:cNvSpPr txBox="1"/>
          <p:nvPr/>
        </p:nvSpPr>
        <p:spPr>
          <a:xfrm>
            <a:off x="8056620" y="1844586"/>
            <a:ext cx="709065" cy="328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42900">
              <a:buClrTx/>
              <a:defRPr sz="1000">
                <a:solidFill>
                  <a:srgbClr val="005DAA"/>
                </a:solidFill>
              </a:defRPr>
            </a:pPr>
            <a:r>
              <a:rPr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◆ </a:t>
            </a:r>
            <a:r>
              <a:rPr lang="es-ES" sz="750" kern="120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Wave 2</a:t>
            </a:r>
            <a:r>
              <a:rPr lang="es-ES"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ª</a:t>
            </a:r>
            <a:r>
              <a:rPr sz="750" kern="1200" dirty="0">
                <a:solidFill>
                  <a:srgbClr val="005DAA"/>
                </a:solidFill>
                <a:latin typeface="Reddit Sans"/>
                <a:ea typeface="Reddit Sans"/>
                <a:cs typeface="+mn-cs"/>
              </a:rPr>
              <a:t> Transición</a:t>
            </a:r>
            <a:endParaRPr lang="es-ES" sz="750" kern="1200" dirty="0">
              <a:solidFill>
                <a:srgbClr val="005DAA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75" name="Estrella: 5 puntas 74">
            <a:extLst>
              <a:ext uri="{FF2B5EF4-FFF2-40B4-BE49-F238E27FC236}">
                <a16:creationId xmlns:a16="http://schemas.microsoft.com/office/drawing/2014/main" id="{81F313C5-5B53-A963-0933-5D3806C604DB}"/>
              </a:ext>
            </a:extLst>
          </p:cNvPr>
          <p:cNvSpPr/>
          <p:nvPr/>
        </p:nvSpPr>
        <p:spPr>
          <a:xfrm>
            <a:off x="7999911" y="1859278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A242F2B6-8686-2AA1-C6E7-A7C77DB8EC93}"/>
              </a:ext>
            </a:extLst>
          </p:cNvPr>
          <p:cNvSpPr txBox="1"/>
          <p:nvPr/>
        </p:nvSpPr>
        <p:spPr>
          <a:xfrm>
            <a:off x="6928759" y="56605"/>
            <a:ext cx="1475013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Wave 1 : Sura + </a:t>
            </a:r>
            <a:r>
              <a:rPr lang="es-ES" sz="700" err="1"/>
              <a:t>Banc</a:t>
            </a:r>
            <a:r>
              <a:rPr lang="es-ES" sz="700"/>
              <a:t>olombia</a:t>
            </a:r>
            <a:endParaRPr lang="es-ES" sz="700" dirty="0"/>
          </a:p>
        </p:txBody>
      </p:sp>
      <p:sp>
        <p:nvSpPr>
          <p:cNvPr id="79" name="Estrella: 5 puntas 78">
            <a:extLst>
              <a:ext uri="{FF2B5EF4-FFF2-40B4-BE49-F238E27FC236}">
                <a16:creationId xmlns:a16="http://schemas.microsoft.com/office/drawing/2014/main" id="{4D253D2B-D6F0-01C7-B0A6-6ABFEA98A181}"/>
              </a:ext>
            </a:extLst>
          </p:cNvPr>
          <p:cNvSpPr/>
          <p:nvPr/>
        </p:nvSpPr>
        <p:spPr>
          <a:xfrm>
            <a:off x="6791598" y="101236"/>
            <a:ext cx="97972" cy="114301"/>
          </a:xfrm>
          <a:prstGeom prst="star5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77344D26-50FF-1B85-A155-2B5D83898AD9}"/>
              </a:ext>
            </a:extLst>
          </p:cNvPr>
          <p:cNvSpPr txBox="1"/>
          <p:nvPr/>
        </p:nvSpPr>
        <p:spPr>
          <a:xfrm>
            <a:off x="6928759" y="274316"/>
            <a:ext cx="1404255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Wave 2 : XM, AWS, Medicarte</a:t>
            </a:r>
          </a:p>
        </p:txBody>
      </p:sp>
      <p:sp>
        <p:nvSpPr>
          <p:cNvPr id="83" name="Estrella: 5 puntas 82">
            <a:extLst>
              <a:ext uri="{FF2B5EF4-FFF2-40B4-BE49-F238E27FC236}">
                <a16:creationId xmlns:a16="http://schemas.microsoft.com/office/drawing/2014/main" id="{D30AAF17-737D-3CBC-3FDD-0324F5E06EAF}"/>
              </a:ext>
            </a:extLst>
          </p:cNvPr>
          <p:cNvSpPr/>
          <p:nvPr/>
        </p:nvSpPr>
        <p:spPr>
          <a:xfrm>
            <a:off x="6791598" y="313507"/>
            <a:ext cx="97972" cy="114301"/>
          </a:xfrm>
          <a:prstGeom prst="star5">
            <a:avLst/>
          </a:prstGeom>
          <a:solidFill>
            <a:srgbClr val="7030A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Estrella: 5 puntas 84">
            <a:extLst>
              <a:ext uri="{FF2B5EF4-FFF2-40B4-BE49-F238E27FC236}">
                <a16:creationId xmlns:a16="http://schemas.microsoft.com/office/drawing/2014/main" id="{D96B36E2-EE26-D336-A4A4-5DA35E386A50}"/>
              </a:ext>
            </a:extLst>
          </p:cNvPr>
          <p:cNvSpPr/>
          <p:nvPr/>
        </p:nvSpPr>
        <p:spPr>
          <a:xfrm>
            <a:off x="6797040" y="520335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7C692534-F65E-5138-FDEF-C0B07CBF6B31}"/>
              </a:ext>
            </a:extLst>
          </p:cNvPr>
          <p:cNvSpPr txBox="1"/>
          <p:nvPr/>
        </p:nvSpPr>
        <p:spPr>
          <a:xfrm>
            <a:off x="6906988" y="464817"/>
            <a:ext cx="16056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Lanzamiento servicio a nuevos clientes</a:t>
            </a:r>
            <a:endParaRPr lang="es-ES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3C497DDC-BF2A-0C01-A11A-988B41A22048}"/>
              </a:ext>
            </a:extLst>
          </p:cNvPr>
          <p:cNvSpPr txBox="1"/>
          <p:nvPr/>
        </p:nvSpPr>
        <p:spPr>
          <a:xfrm>
            <a:off x="6857997" y="2141763"/>
            <a:ext cx="170905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800" err="1">
                <a:latin typeface="Reddit Sans"/>
              </a:rPr>
              <a:t>Actualizaci</a:t>
            </a:r>
            <a:r>
              <a:rPr lang="es-ES" sz="800" dirty="0">
                <a:latin typeface="Reddit Sans"/>
              </a:rPr>
              <a:t>ón del servicio en </a:t>
            </a:r>
            <a:r>
              <a:rPr lang="es-ES" sz="800">
                <a:latin typeface="Reddit Sans"/>
              </a:rPr>
              <a:t>la herramienta</a:t>
            </a:r>
            <a:r>
              <a:rPr lang="es-ES" sz="800" dirty="0">
                <a:latin typeface="Reddit Sans"/>
              </a:rPr>
              <a:t> de procesos</a:t>
            </a:r>
            <a:endParaRPr lang="es-ES" sz="800"/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Lanzamiento </a:t>
            </a:r>
            <a:r>
              <a:rPr lang="es-ES" sz="800" err="1">
                <a:latin typeface="Reddit Sans"/>
              </a:rPr>
              <a:t>ofici</a:t>
            </a:r>
            <a:r>
              <a:rPr lang="es-ES" sz="800" dirty="0">
                <a:latin typeface="Reddit Sans"/>
              </a:rPr>
              <a:t>al del servicio estandarizado de mesas de servicio de </a:t>
            </a:r>
            <a:r>
              <a:rPr lang="es-ES" sz="800">
                <a:latin typeface="Reddit Sans"/>
              </a:rPr>
              <a:t>próxima</a:t>
            </a:r>
            <a:r>
              <a:rPr lang="es-ES" sz="800" dirty="0">
                <a:latin typeface="Reddit Sans"/>
              </a:rPr>
              <a:t> generación</a:t>
            </a: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 dirty="0">
                <a:latin typeface="Reddit Sans"/>
              </a:rPr>
              <a:t>Identificar automatizaciones y </a:t>
            </a:r>
            <a:r>
              <a:rPr lang="es-ES" sz="800">
                <a:latin typeface="Reddit Sans"/>
              </a:rPr>
              <a:t>evolución continua del servicio</a:t>
            </a:r>
          </a:p>
          <a:p>
            <a:pPr marL="171450" indent="-171450">
              <a:buChar char="•"/>
            </a:pPr>
            <a:endParaRPr lang="es-ES" sz="800" dirty="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  <a:ea typeface="Reddit Sans"/>
              </a:rPr>
              <a:t>Habilitación equipo de la operación wave 2</a:t>
            </a:r>
            <a:endParaRPr lang="es-ES" sz="800" dirty="0">
              <a:ea typeface="Reddit Sans"/>
            </a:endParaRPr>
          </a:p>
          <a:p>
            <a:pPr marL="171450" indent="-171450">
              <a:buChar char="•"/>
            </a:pPr>
            <a:endParaRPr lang="es-ES" sz="800" dirty="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800">
                <a:latin typeface="Reddit Sans"/>
                <a:ea typeface="Reddit Sans"/>
              </a:rPr>
              <a:t>Habilitación cliente sobre la evolución del servicio wave 2</a:t>
            </a:r>
          </a:p>
          <a:p>
            <a:pPr marL="171450" indent="-171450">
              <a:buFont typeface="Arial,Sans-Serif"/>
              <a:buChar char="•"/>
            </a:pPr>
            <a:endParaRPr lang="es-ES" sz="800" dirty="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800">
                <a:latin typeface="Reddit Sans"/>
                <a:ea typeface="Reddit Sans"/>
              </a:rPr>
              <a:t>Planes de evolución del servicio</a:t>
            </a:r>
            <a:endParaRPr lang="es-ES" sz="800" dirty="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354129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C54EAA9-736C-5FED-82C1-1A3ACFA2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Transición del Servicio en los Clientes </a:t>
            </a:r>
            <a:r>
              <a:rPr lang="es-ES" dirty="0"/>
              <a:t>Actuales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EB87D9-CC88-7AE1-69FA-86E45D33DB8B}"/>
              </a:ext>
            </a:extLst>
          </p:cNvPr>
          <p:cNvSpPr txBox="1"/>
          <p:nvPr/>
        </p:nvSpPr>
        <p:spPr>
          <a:xfrm>
            <a:off x="396240" y="676003"/>
            <a:ext cx="86432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Transición del servicio en el modelo de operación y es organizacional para </a:t>
            </a:r>
            <a:r>
              <a:rPr lang="es-ES" dirty="0" err="1"/>
              <a:t>PersonalSoft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33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13</Slides>
  <Notes>9</Notes>
  <HiddenSlides>2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Simple Light</vt:lpstr>
      <vt:lpstr>Tema de Office</vt:lpstr>
      <vt:lpstr>Mesa de Servicio de Nueva Generación</vt:lpstr>
      <vt:lpstr>Valor del Servicio</vt:lpstr>
      <vt:lpstr>Algunos dolores de la operación actual de las Mesas de Servicio</vt:lpstr>
      <vt:lpstr>Mesas de Servicio Actuales</vt:lpstr>
      <vt:lpstr>Roadmap 2026</vt:lpstr>
      <vt:lpstr>Nivel de Madurez de las Mesas de – A donde queremos llegar</vt:lpstr>
      <vt:lpstr>La unión de personas y tecnología puede transformar el mundo </vt:lpstr>
      <vt:lpstr>Presentación de PowerPoint</vt:lpstr>
      <vt:lpstr>Roadmap Mesa de Servicios de Nueva Generación</vt:lpstr>
      <vt:lpstr>Roadmap Mesa de Servicios de Nueva Generación</vt:lpstr>
      <vt:lpstr>Transición del Servicio en los Clientes Actuales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861</cp:revision>
  <dcterms:modified xsi:type="dcterms:W3CDTF">2026-07-02T00:26:42Z</dcterms:modified>
</cp:coreProperties>
</file>