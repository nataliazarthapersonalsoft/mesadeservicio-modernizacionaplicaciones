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17"/>
  </p:notesMasterIdLst>
  <p:sldIdLst>
    <p:sldId id="257" r:id="rId3"/>
    <p:sldId id="260" r:id="rId4"/>
    <p:sldId id="270" r:id="rId5"/>
    <p:sldId id="256" r:id="rId6"/>
    <p:sldId id="262" r:id="rId7"/>
    <p:sldId id="259" r:id="rId8"/>
    <p:sldId id="285" r:id="rId9"/>
    <p:sldId id="284" r:id="rId10"/>
    <p:sldId id="266" r:id="rId11"/>
    <p:sldId id="272" r:id="rId12"/>
    <p:sldId id="286" r:id="rId13"/>
    <p:sldId id="287" r:id="rId14"/>
    <p:sldId id="267" r:id="rId15"/>
    <p:sldId id="268" r:id="rId16"/>
  </p:sldIdLst>
  <p:sldSz cx="9144000" cy="5143500" type="screen16x9"/>
  <p:notesSz cx="6858000" cy="9144000"/>
  <p:embeddedFontLst>
    <p:embeddedFont>
      <p:font typeface="Reddit Sans" panose="020B0604020202020204" charset="0"/>
      <p:regular r:id="rId18"/>
      <p:bold r:id="rId19"/>
      <p:italic r:id="rId20"/>
      <p:boldItalic r:id="rId21"/>
    </p:embeddedFont>
    <p:embeddedFont>
      <p:font typeface="Reddit Sans Medium" panose="020B0604020202020204" charset="0"/>
      <p:regular r:id="rId22"/>
      <p:bold r:id="rId23"/>
      <p:italic r:id="rId24"/>
      <p:boldItalic r:id="rId25"/>
    </p:embeddedFont>
    <p:embeddedFont>
      <p:font typeface="Reddit Sans SemiBold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BDB0EA-8440-535B-18DB-FF5CDE3BDD8A}" v="7549" dt="2026-07-02T00:31:07.748"/>
    <p1510:client id="{2161D477-6E9E-B56B-ECFA-FB26EBADB247}" v="261" dt="2026-07-02T12:42:58.279"/>
    <p1510:client id="{49FFAE20-B3F5-172E-E134-6223BE6F4ECE}" v="204" dt="2026-07-02T21:17:42.220"/>
    <p1510:client id="{506B96EB-3BCF-03BD-AA43-7C3BC6A79E44}" v="126" dt="2026-07-02T14:25:30.229"/>
    <p1510:client id="{6A387F6E-53C9-68E4-8D02-B9061F1CEE3B}" v="130" dt="2026-07-02T15:35:21.437"/>
    <p1510:client id="{6B6AB90E-C042-5FC7-F2EA-EABF5FFE3918}" v="83" dt="2026-07-02T15:42:03.432"/>
    <p1510:client id="{CB5202B7-3888-D382-FBA9-76D2B08D21A5}" v="33" dt="2026-07-02T21:05:36.836"/>
    <p1510:client id="{E7485014-231F-B8DA-2975-04396FBA5646}" v="389" dt="2026-07-02T13:20:18.747"/>
    <p1510:client id="{F62C5151-2998-B7E8-0633-8132FE2BD5B5}" v="5503" dt="2026-07-02T23:22:46.996"/>
    <p1510:client id="{FE521D2E-0E3A-00CF-6404-D6572584B17B}" v="479" dt="2026-07-02T15:24:19.027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Virigina y Lina</a:t>
            </a:r>
          </a:p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SURA y </a:t>
            </a:r>
            <a:r>
              <a:rPr lang="en-US" err="1">
                <a:latin typeface="Calibri"/>
                <a:ea typeface="Calibri"/>
                <a:cs typeface="Calibri"/>
              </a:rPr>
              <a:t>algunas</a:t>
            </a:r>
            <a:r>
              <a:rPr lang="en-US">
                <a:latin typeface="Calibri"/>
                <a:ea typeface="Calibri"/>
                <a:cs typeface="Calibri"/>
              </a:rPr>
              <a:t> GIOTIS</a:t>
            </a:r>
          </a:p>
        </p:txBody>
      </p:sp>
    </p:spTree>
    <p:extLst>
      <p:ext uri="{BB962C8B-B14F-4D97-AF65-F5344CB8AC3E}">
        <p14:creationId xmlns:p14="http://schemas.microsoft.com/office/powerpoint/2010/main" val="3280953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AIOps: es la </a:t>
            </a:r>
            <a:r>
              <a:rPr lang="en-US" err="1"/>
              <a:t>aplicación</a:t>
            </a:r>
            <a:r>
              <a:rPr lang="en-US"/>
              <a:t> de </a:t>
            </a:r>
            <a:r>
              <a:rPr lang="en-US" err="1"/>
              <a:t>inteligencia</a:t>
            </a:r>
            <a:r>
              <a:rPr lang="en-US"/>
              <a:t> artificial y machine learning para </a:t>
            </a:r>
            <a:r>
              <a:rPr lang="en-US" err="1"/>
              <a:t>automatizar</a:t>
            </a:r>
            <a:r>
              <a:rPr lang="en-US"/>
              <a:t>, </a:t>
            </a:r>
            <a:r>
              <a:rPr lang="en-US" err="1"/>
              <a:t>optimizar</a:t>
            </a:r>
            <a:r>
              <a:rPr lang="en-US"/>
              <a:t> y </a:t>
            </a:r>
            <a:r>
              <a:rPr lang="en-US" err="1"/>
              <a:t>mejorar</a:t>
            </a:r>
            <a:r>
              <a:rPr lang="en-US"/>
              <a:t> las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>
              <a:buNone/>
            </a:pPr>
            <a:r>
              <a:rPr lang="en-US">
                <a:highlight>
                  <a:srgbClr val="FFFFFF"/>
                </a:highlight>
              </a:rPr>
              <a:t>El Bus Factor: </a:t>
            </a:r>
            <a:r>
              <a:rPr lang="en-US" err="1">
                <a:highlight>
                  <a:srgbClr val="FFFFFF"/>
                </a:highlight>
              </a:rPr>
              <a:t>mide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cuántas</a:t>
            </a:r>
            <a:r>
              <a:rPr lang="en-US">
                <a:highlight>
                  <a:srgbClr val="FFFFFF"/>
                </a:highlight>
              </a:rPr>
              <a:t> personas </a:t>
            </a:r>
            <a:r>
              <a:rPr lang="en-US" err="1">
                <a:highlight>
                  <a:srgbClr val="FFFFFF"/>
                </a:highlight>
              </a:rPr>
              <a:t>tendrían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salir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mañana</a:t>
            </a:r>
            <a:r>
              <a:rPr lang="en-US">
                <a:highlight>
                  <a:srgbClr val="FFFFFF"/>
                </a:highlight>
              </a:rPr>
              <a:t> para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un </a:t>
            </a:r>
            <a:r>
              <a:rPr lang="en-US" err="1">
                <a:highlight>
                  <a:srgbClr val="FFFFFF"/>
                </a:highlight>
              </a:rPr>
              <a:t>proceso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crítico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colapse</a:t>
            </a:r>
            <a:r>
              <a:rPr lang="en-US">
                <a:highlight>
                  <a:srgbClr val="FFFFFF"/>
                </a:highlight>
              </a:rPr>
              <a:t>. Bus factor alto = </a:t>
            </a:r>
            <a:r>
              <a:rPr lang="en-US" err="1">
                <a:highlight>
                  <a:srgbClr val="FFFFFF"/>
                </a:highlight>
              </a:rPr>
              <a:t>riesgo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operativo</a:t>
            </a:r>
            <a:r>
              <a:rPr lang="en-US">
                <a:highlight>
                  <a:srgbClr val="FFFFFF"/>
                </a:highlight>
              </a:rPr>
              <a:t> alto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508815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CO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B1A955-7F3D-40C1-9D4F-BB0A924D5885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90120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 err="1"/>
              <a:t>Riesgos</a:t>
            </a:r>
            <a:r>
              <a:rPr lang="es-ES"/>
              <a:t>: Planes de Cuentas y Transición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 err="1"/>
              <a:t>Riesgos</a:t>
            </a:r>
            <a:r>
              <a:rPr lang="es-ES"/>
              <a:t>: Planes de Cuentas y Transición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B7390F-30CF-678E-DE06-69304D6EA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F1B182-64E6-1CCF-7F37-0681CDD22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9EFA20-38F8-87A4-6972-635BB7DC5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C654D5-BC16-9E6D-CE69-7C05B802E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36CECE-56AA-44B3-754B-5732C3E9D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897905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D51272-EA6B-CCEA-0D4D-9065CA6F0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822B51-262B-3B7E-0371-559CCFAD8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925E22-DCE8-A190-6800-1326D358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D07F7B-C83A-A275-FEDD-9359C677E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18502D-7EFF-752D-DA22-1ADF3A59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4969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474DC-AB18-474B-65F6-309335997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F6CDFF-26B4-E407-84AC-BE1FBEB72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B5C64E-A980-05B4-8A2D-8B21DA805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376EDE-1DCA-2F1D-3BA6-ECFBA000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0FA289-B914-1B46-E94E-4D7EE7FB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79642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4EA66A-8F2A-76EE-BE61-B00021AAE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625E49-4E0B-C37F-72B5-63D0DC388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7518194-34A2-9D2B-1012-4674718CB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70244F-E0BC-9F24-EAB0-90D439C37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F310FE-50B5-831F-0C54-28B682E7D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70E4CA-D851-A3D3-064F-982C70BC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9827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2DB89-0D25-AF1E-FCCB-2D34B66C0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D71018-1345-5097-699C-B97E3B84D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8B9D7F2-F469-842A-6D2D-1BC026195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24F9F5-12E9-E657-2D7F-D19951482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5703AA1-86D1-B3F5-36B4-2F064AAB0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B02E61D-7A2A-C113-F0DE-D33C5ED23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8A40D2-1202-CEC0-DF40-9818FF14B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1463BD1-0E50-182A-66E1-3F5CEB13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032068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2A4AC4-2B8B-521F-88C9-8958EC2B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DC986E-1233-3ECB-7B5B-00AC5E3EE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70F4267-BF7D-EC42-CCC6-9879FE488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865629-2C85-4C04-F6A1-3D2F110E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09430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264BCA-5D7E-76E5-851F-16B95455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DD142A-9CB1-7E8F-E230-43EC4FA0E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79E2BC-B1EA-9E53-A655-7ECCD115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1066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9D9B-FA56-7D16-BDBB-102487D2E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99DD08-EED2-6AC1-00F8-0B7A69B1A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E459E22-46F2-08EB-DF38-FB5E54000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1B0662-C13E-1612-36D6-84B19BC2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DC2D191-F2AD-8CD6-D346-D3980AE68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294C94-2184-0F1E-2DFD-C63B5BB62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22573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C606E-487F-D933-D547-5652700E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5A1A9CD-D9EC-3E7F-2878-FD5BABA74B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43E0F3E-2E30-2588-D8F5-F31152E69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F4849C-620E-38AF-9C4C-9AF608505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26B1D2-7575-2FBB-6B6C-8AE212B9E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4DFA907-353C-5E49-0CCF-BE0D166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3430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692E7-0D55-8276-1546-95FF07AB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74523F7-3B0F-FD51-8386-7404998C9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EC9884-DDF3-4679-20A6-D226B92C5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9D43D6-CC3B-5338-0F11-9BE8D5DB7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B0142E-7868-5A9B-373B-2219EC3B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8399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3FC849C-F48F-3C85-FF3C-BDAD97B446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B261CC-180A-4D59-5393-BAC0037FA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6F897F-6F76-9734-D485-C0A18776C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170CB4-BC36-9ADA-90AA-1DABC9579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D7EB2C-0FA2-5007-7040-7E6062D25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3034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636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2" r:id="rId10"/>
    <p:sldLayoutId id="2147483664" r:id="rId11"/>
    <p:sldLayoutId id="214748366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4CDDF91-4903-4BE3-329F-0635D924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6F2CEE-38E2-F07C-F71A-0F95C7AE8B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87F777-A849-7E2B-E9CE-9EB40BEEF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E6B2E6-89AA-4774-E846-301D6CD57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0E1ADD-0672-E6A8-0DB3-D5C8FA095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3478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personalsoftsas-my.sharepoint.com/:x:/r/personal/nzsuarez_personalsoft_com/_layouts/15/Doc.aspx?sourcedoc=%7BDB3FC75A-5538-468C-9AB3-E2DEEFC7C814%7D&amp;file=Planning%20Mesa%20de%20Servicio%20-%202026.xlsx&amp;action=default&amp;mobileredirect=true" TargetMode="Externa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err="1"/>
              <a:t>Roadmap</a:t>
            </a:r>
            <a:r>
              <a:rPr lang="es-CO"/>
              <a:t> Julio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5044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Valor del Servicio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D1A1633-87B8-69A8-F58D-616529537203}"/>
              </a:ext>
            </a:extLst>
          </p:cNvPr>
          <p:cNvSpPr txBox="1"/>
          <p:nvPr/>
        </p:nvSpPr>
        <p:spPr>
          <a:xfrm>
            <a:off x="6319158" y="1913166"/>
            <a:ext cx="2705099" cy="3376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cliente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SLAs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cumplidos, menos interrupciones y visibilidad real de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en tiempo real.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</a:t>
            </a:r>
            <a:r>
              <a:rPr lang="es-ES" sz="1000" b="1" i="0" u="none" strike="noStrike" baseline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PersonalSoft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Márgenes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que mejoran con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automatización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mercado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Un diferenciador real: el proveedor que llega con datos, herramientas y evolución continua.</a:t>
            </a:r>
          </a:p>
          <a:p>
            <a:pPr algn="ctr">
              <a:lnSpc>
                <a:spcPct val="150000"/>
              </a:lnSpc>
            </a:pPr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4BAB874-5873-7035-205D-E1E1A2B02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Algunos dolores de la operación actual de las Mesas de Servicio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DEC60A-957A-9F54-0195-287D0DD1F2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44490" y="761544"/>
            <a:ext cx="4456109" cy="4482194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400"/>
              </a:spcAft>
              <a:buNone/>
            </a:pPr>
            <a:r>
              <a:rPr lang="es" sz="900" b="1">
                <a:solidFill>
                  <a:srgbClr val="D0021B"/>
                </a:solidFill>
              </a:rPr>
              <a:t>Sin límites claros del servicio ni roles definidos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No hay un estándar de niveles N1/N2/N3, límites del alcance ni RACI documentado. 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El Gerente de Mesa y el Líder Técnico no tienen roles diferenciados. 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Cada mesa de servicio opera diferente y de acuerdo a las necesidades/políticas del cliente.</a:t>
            </a:r>
            <a:endParaRPr lang="en-US" sz="90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900" b="1">
                <a:solidFill>
                  <a:srgbClr val="D0021B"/>
                </a:solidFill>
              </a:rPr>
              <a:t>Modelo económico indexado al FTE, con barreras para escalar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El costo crece con el volumen de tickets y no hay reglas claras para el crecimiento.</a:t>
            </a: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Crecimiento en más aplicaciones sin un balance en roles de soporte (administrativo y técnico).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Mercado necesitando mayor cobertura y no tiene como mejorar márgenes sin cambiar la base economía.</a:t>
            </a:r>
            <a:endParaRPr lang="en-US" sz="90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900" b="1">
                <a:solidFill>
                  <a:srgbClr val="D0021B"/>
                </a:solidFill>
              </a:rPr>
              <a:t>Tareas manuales, conocimiento en personas y sin base de conocimiento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Bus factor crítico: cuando rota el equipo, el tiempo de </a:t>
            </a:r>
            <a:r>
              <a:rPr lang="es" sz="900" err="1">
                <a:solidFill>
                  <a:srgbClr val="444444"/>
                </a:solidFill>
              </a:rPr>
              <a:t>Onboarding</a:t>
            </a:r>
            <a:r>
              <a:rPr lang="es" sz="900">
                <a:solidFill>
                  <a:srgbClr val="444444"/>
                </a:solidFill>
              </a:rPr>
              <a:t> del nuevo </a:t>
            </a:r>
            <a:r>
              <a:rPr lang="es" sz="900" err="1">
                <a:solidFill>
                  <a:srgbClr val="444444"/>
                </a:solidFill>
              </a:rPr>
              <a:t>Softer</a:t>
            </a:r>
            <a:r>
              <a:rPr lang="es" sz="900">
                <a:solidFill>
                  <a:srgbClr val="444444"/>
                </a:solidFill>
              </a:rPr>
              <a:t> afecta los tiempos del servicio.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No hay Nivel 0 ni base de conocimiento para que el usuario resuelva solo.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La transición de operaciones como la GIOTI a un modelo estandarizado por niveles de servicio. S</a:t>
            </a:r>
            <a:r>
              <a:rPr lang="es-ES" sz="900">
                <a:solidFill>
                  <a:srgbClr val="444444"/>
                </a:solidFill>
              </a:rPr>
              <a:t>e necesitan escalas y proyecciones de carrera reales para retener el talento.</a:t>
            </a:r>
            <a:endParaRPr lang="es" sz="900">
              <a:solidFill>
                <a:srgbClr val="444444"/>
              </a:solidFill>
            </a:endParaRPr>
          </a:p>
        </p:txBody>
      </p:sp>
      <p:sp>
        <p:nvSpPr>
          <p:cNvPr id="5" name="Marcador de texto 2">
            <a:extLst>
              <a:ext uri="{FF2B5EF4-FFF2-40B4-BE49-F238E27FC236}">
                <a16:creationId xmlns:a16="http://schemas.microsoft.com/office/drawing/2014/main" id="{C3BB3210-6144-D853-09A6-F2AA46156985}"/>
              </a:ext>
            </a:extLst>
          </p:cNvPr>
          <p:cNvSpPr txBox="1">
            <a:spLocks/>
          </p:cNvSpPr>
          <p:nvPr/>
        </p:nvSpPr>
        <p:spPr>
          <a:xfrm>
            <a:off x="4796745" y="756102"/>
            <a:ext cx="3851954" cy="385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pPr marL="0" indent="0">
              <a:lnSpc>
                <a:spcPct val="114999"/>
              </a:lnSpc>
              <a:spcAft>
                <a:spcPts val="300"/>
              </a:spcAft>
              <a:buFont typeface="Reddit Sans"/>
              <a:buNone/>
            </a:pPr>
            <a:r>
              <a:rPr lang="es" sz="900" b="1">
                <a:solidFill>
                  <a:srgbClr val="D0021B"/>
                </a:solidFill>
              </a:rPr>
              <a:t>ANS sin medir, </a:t>
            </a:r>
            <a:r>
              <a:rPr lang="es" sz="900" b="1" err="1">
                <a:solidFill>
                  <a:srgbClr val="D0021B"/>
                </a:solidFill>
              </a:rPr>
              <a:t>KPIs</a:t>
            </a:r>
            <a:r>
              <a:rPr lang="es" sz="900" b="1">
                <a:solidFill>
                  <a:srgbClr val="D0021B"/>
                </a:solidFill>
              </a:rPr>
              <a:t> empíricos y herramientas sin estándar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Cada cliente tiene su herramienta (BMC en SURA, </a:t>
            </a:r>
            <a:r>
              <a:rPr lang="es" sz="900" err="1">
                <a:solidFill>
                  <a:srgbClr val="444444"/>
                </a:solidFill>
              </a:rPr>
              <a:t>Computer</a:t>
            </a:r>
            <a:r>
              <a:rPr lang="es" sz="900">
                <a:solidFill>
                  <a:srgbClr val="444444"/>
                </a:solidFill>
              </a:rPr>
              <a:t> </a:t>
            </a:r>
            <a:r>
              <a:rPr lang="es" sz="900" err="1">
                <a:solidFill>
                  <a:srgbClr val="444444"/>
                </a:solidFill>
              </a:rPr>
              <a:t>Associates</a:t>
            </a:r>
            <a:r>
              <a:rPr lang="es" sz="900">
                <a:solidFill>
                  <a:srgbClr val="444444"/>
                </a:solidFill>
              </a:rPr>
              <a:t>, Service Now) y </a:t>
            </a:r>
            <a:r>
              <a:rPr lang="es" sz="900" err="1">
                <a:solidFill>
                  <a:srgbClr val="444444"/>
                </a:solidFill>
              </a:rPr>
              <a:t>PersonalSoft</a:t>
            </a:r>
            <a:r>
              <a:rPr lang="es" sz="900">
                <a:solidFill>
                  <a:srgbClr val="444444"/>
                </a:solidFill>
              </a:rPr>
              <a:t> no tiene la suya. </a:t>
            </a:r>
            <a:endParaRPr lang="es-ES" sz="900">
              <a:solidFill>
                <a:srgbClr val="444444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Los informes son manuales, las penalidades no se miden sistemáticamente y no hay taxonomía de </a:t>
            </a:r>
            <a:r>
              <a:rPr lang="es" sz="900" err="1">
                <a:solidFill>
                  <a:srgbClr val="444444"/>
                </a:solidFill>
              </a:rPr>
              <a:t>KPIs</a:t>
            </a:r>
            <a:r>
              <a:rPr lang="es" sz="900">
                <a:solidFill>
                  <a:srgbClr val="444444"/>
                </a:solidFill>
              </a:rPr>
              <a:t> estandarizada.</a:t>
            </a:r>
            <a:endParaRPr lang="en-US" sz="900">
              <a:solidFill>
                <a:srgbClr val="000000"/>
              </a:solidFill>
            </a:endParaRPr>
          </a:p>
          <a:p>
            <a:pPr marL="0" indent="0">
              <a:lnSpc>
                <a:spcPct val="124999"/>
              </a:lnSpc>
              <a:spcAft>
                <a:spcPts val="700"/>
              </a:spcAft>
              <a:buFont typeface="Reddit Sans"/>
              <a:buNone/>
            </a:pPr>
            <a:r>
              <a:rPr lang="es-ES" sz="900" b="1">
                <a:solidFill>
                  <a:srgbClr val="D0021B"/>
                </a:solidFill>
              </a:rPr>
              <a:t>Expectativa vs realidad operativa en el arranque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-ES" sz="900">
                <a:solidFill>
                  <a:srgbClr val="444444"/>
                </a:solidFill>
              </a:rPr>
              <a:t>Al  cliente se le vende una expectativa del servicio que a la hora de operar no refleja la realidad.</a:t>
            </a:r>
            <a:endParaRPr lang="es" sz="900">
              <a:solidFill>
                <a:srgbClr val="444444"/>
              </a:solidFill>
            </a:endParaRPr>
          </a:p>
          <a:p>
            <a:pPr marL="0" indent="0">
              <a:lnSpc>
                <a:spcPct val="124999"/>
              </a:lnSpc>
              <a:spcAft>
                <a:spcPts val="700"/>
              </a:spcAft>
              <a:buFont typeface="Reddit Sans"/>
              <a:buNone/>
            </a:pPr>
            <a:r>
              <a:rPr lang="es-ES" sz="900" b="1" err="1">
                <a:solidFill>
                  <a:srgbClr val="D0021B"/>
                </a:solidFill>
              </a:rPr>
              <a:t>Volumetria</a:t>
            </a:r>
            <a:r>
              <a:rPr lang="es-ES" sz="900" b="1">
                <a:solidFill>
                  <a:srgbClr val="D0021B"/>
                </a:solidFill>
              </a:rPr>
              <a:t> y </a:t>
            </a:r>
            <a:r>
              <a:rPr lang="es-ES" sz="900" b="1" err="1">
                <a:solidFill>
                  <a:srgbClr val="D0021B"/>
                </a:solidFill>
              </a:rPr>
              <a:t>estadisticas</a:t>
            </a:r>
            <a:r>
              <a:rPr lang="es-ES" sz="900" b="1">
                <a:solidFill>
                  <a:srgbClr val="D0021B"/>
                </a:solidFill>
              </a:rPr>
              <a:t> relevantes no se recogen en preventa</a:t>
            </a:r>
            <a:endParaRPr lang="es" sz="900">
              <a:solidFill>
                <a:srgbClr val="444444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n-US" sz="900">
                <a:solidFill>
                  <a:srgbClr val="444444"/>
                </a:solidFill>
              </a:rPr>
              <a:t>No </a:t>
            </a:r>
            <a:r>
              <a:rPr lang="en-US" sz="900" err="1">
                <a:solidFill>
                  <a:srgbClr val="444444"/>
                </a:solidFill>
              </a:rPr>
              <a:t>somos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habiles</a:t>
            </a:r>
            <a:r>
              <a:rPr lang="en-US" sz="900">
                <a:solidFill>
                  <a:srgbClr val="444444"/>
                </a:solidFill>
              </a:rPr>
              <a:t> para </a:t>
            </a:r>
            <a:r>
              <a:rPr lang="en-US" sz="900" err="1">
                <a:solidFill>
                  <a:srgbClr val="444444"/>
                </a:solidFill>
              </a:rPr>
              <a:t>pedir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en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preventa</a:t>
            </a:r>
            <a:r>
              <a:rPr lang="en-US" sz="900">
                <a:solidFill>
                  <a:srgbClr val="444444"/>
                </a:solidFill>
              </a:rPr>
              <a:t> las </a:t>
            </a:r>
            <a:r>
              <a:rPr lang="en-US" sz="900" err="1">
                <a:solidFill>
                  <a:srgbClr val="444444"/>
                </a:solidFill>
              </a:rPr>
              <a:t>estadisticas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que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realmente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importan</a:t>
            </a:r>
            <a:r>
              <a:rPr lang="en-US" sz="900">
                <a:solidFill>
                  <a:srgbClr val="444444"/>
                </a:solidFill>
              </a:rPr>
              <a:t>: </a:t>
            </a:r>
            <a:r>
              <a:rPr lang="en-US" sz="900" err="1">
                <a:solidFill>
                  <a:srgbClr val="444444"/>
                </a:solidFill>
              </a:rPr>
              <a:t>volumetria</a:t>
            </a:r>
            <a:r>
              <a:rPr lang="en-US" sz="900">
                <a:solidFill>
                  <a:srgbClr val="444444"/>
                </a:solidFill>
              </a:rPr>
              <a:t> de tickets, horas </a:t>
            </a:r>
            <a:r>
              <a:rPr lang="en-US" sz="900" err="1">
                <a:solidFill>
                  <a:srgbClr val="444444"/>
                </a:solidFill>
              </a:rPr>
              <a:t>nocturnas</a:t>
            </a:r>
            <a:r>
              <a:rPr lang="en-US" sz="900">
                <a:solidFill>
                  <a:srgbClr val="444444"/>
                </a:solidFill>
              </a:rPr>
              <a:t> y horas extra</a:t>
            </a:r>
            <a:r>
              <a:rPr lang="es-ES" sz="900" err="1">
                <a:solidFill>
                  <a:srgbClr val="444444"/>
                </a:solidFill>
              </a:rPr>
              <a:t>habiles</a:t>
            </a:r>
            <a:r>
              <a:rPr lang="es-ES" sz="900">
                <a:solidFill>
                  <a:srgbClr val="444444"/>
                </a:solidFill>
              </a:rPr>
              <a:t> para pedir en preventa las </a:t>
            </a:r>
            <a:r>
              <a:rPr lang="es-ES" sz="900" err="1">
                <a:solidFill>
                  <a:srgbClr val="444444"/>
                </a:solidFill>
              </a:rPr>
              <a:t>estadisticas</a:t>
            </a:r>
            <a:r>
              <a:rPr lang="es-ES" sz="900">
                <a:solidFill>
                  <a:srgbClr val="444444"/>
                </a:solidFill>
              </a:rPr>
              <a:t> que realmente importan: </a:t>
            </a:r>
            <a:r>
              <a:rPr lang="es-ES" sz="900" err="1">
                <a:solidFill>
                  <a:srgbClr val="444444"/>
                </a:solidFill>
              </a:rPr>
              <a:t>volumetria</a:t>
            </a:r>
            <a:r>
              <a:rPr lang="es-ES" sz="900">
                <a:solidFill>
                  <a:srgbClr val="444444"/>
                </a:solidFill>
              </a:rPr>
              <a:t> de tickets, horas nocturnas y horas </a:t>
            </a:r>
            <a:r>
              <a:rPr lang="es-ES" sz="900" err="1">
                <a:solidFill>
                  <a:srgbClr val="444444"/>
                </a:solidFill>
              </a:rPr>
              <a:t>extrahabiles</a:t>
            </a:r>
            <a:r>
              <a:rPr lang="es-ES" sz="900">
                <a:solidFill>
                  <a:srgbClr val="444444"/>
                </a:solidFill>
              </a:rPr>
              <a:t> para pedir en preventa las </a:t>
            </a:r>
            <a:r>
              <a:rPr lang="es-ES" sz="900" err="1">
                <a:solidFill>
                  <a:srgbClr val="444444"/>
                </a:solidFill>
              </a:rPr>
              <a:t>estadisticas</a:t>
            </a:r>
            <a:r>
              <a:rPr lang="es-ES" sz="900">
                <a:solidFill>
                  <a:srgbClr val="444444"/>
                </a:solidFill>
              </a:rPr>
              <a:t> que realmente importan: </a:t>
            </a:r>
            <a:r>
              <a:rPr lang="es-ES" sz="900" err="1">
                <a:solidFill>
                  <a:srgbClr val="444444"/>
                </a:solidFill>
              </a:rPr>
              <a:t>volumetria</a:t>
            </a:r>
            <a:r>
              <a:rPr lang="es-ES" sz="900">
                <a:solidFill>
                  <a:srgbClr val="444444"/>
                </a:solidFill>
              </a:rPr>
              <a:t> de tickets, horas nocturnas y horas extra requeridas. Genera costos no previstos y </a:t>
            </a:r>
            <a:r>
              <a:rPr lang="es-ES" sz="900" err="1">
                <a:solidFill>
                  <a:srgbClr val="444444"/>
                </a:solidFill>
              </a:rPr>
              <a:t>sub-dimensionamiento</a:t>
            </a:r>
            <a:r>
              <a:rPr lang="es-ES" sz="900">
                <a:solidFill>
                  <a:srgbClr val="444444"/>
                </a:solidFill>
              </a:rPr>
              <a:t> del equipo desde el contrato.</a:t>
            </a:r>
            <a:endParaRPr lang="es" sz="90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03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Modelo operativo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no estandarizado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Crecimiento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basado en FTE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Alta dependencia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Conocimiento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 err="1">
                <a:latin typeface="Reddit Sans"/>
                <a:ea typeface="Reddit Sans"/>
              </a:rPr>
              <a:t>KPIs</a:t>
            </a:r>
            <a:r>
              <a:rPr lang="es-CO" sz="800">
                <a:latin typeface="Reddit Sans"/>
                <a:ea typeface="Reddit Sans"/>
              </a:rPr>
              <a:t> y SLA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 err="1">
                <a:latin typeface="Reddit Sans"/>
                <a:ea typeface="Reddit Sans"/>
              </a:rPr>
              <a:t>Onboarding</a:t>
            </a:r>
            <a:r>
              <a:rPr lang="es-CO" sz="800">
                <a:latin typeface="Reddit Sans"/>
                <a:ea typeface="Reddit Sans"/>
              </a:rPr>
              <a:t> con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Dimensionamiento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insuficiente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Retención y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381000" y="547007"/>
            <a:ext cx="45720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9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Principales brechas del modelo operativo actual</a:t>
            </a:r>
            <a:r>
              <a:rPr lang="es-CO" sz="900" b="0" i="0">
                <a:solidFill>
                  <a:srgbClr val="000000"/>
                </a:solidFill>
                <a:latin typeface="Reddit Sans"/>
                <a:ea typeface="Reddit Sans"/>
              </a:rPr>
              <a:t>​</a:t>
            </a:r>
            <a:endParaRPr lang="es-CO">
              <a:latin typeface="Reddit Sans"/>
              <a:ea typeface="Reddit Sans"/>
            </a:endParaRPr>
          </a:p>
          <a:p>
            <a:pPr algn="ctr"/>
            <a:endParaRPr lang="es-CO"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rgbClr val="263474"/>
                </a:solidFill>
                <a:sym typeface="Reddit Sans Medium"/>
              </a:rPr>
              <a:t>Mesas de Servicio Actuales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s" err="1"/>
              <a:t>Roadmap</a:t>
            </a:r>
            <a:r>
              <a:rPr lang="es"/>
              <a:t> 2026</a:t>
            </a:r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Mesas de Servicios de Nueva Generación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Nivel de Madurez de las Mesas de Servicio – A dónde queremos llegar</a:t>
            </a:r>
          </a:p>
        </p:txBody>
      </p:sp>
      <p:sp>
        <p:nvSpPr>
          <p:cNvPr id="3" name="Subtitulo"/>
          <p:cNvSpPr txBox="1">
            <a:spLocks noGrp="1"/>
          </p:cNvSpPr>
          <p:nvPr>
            <p:ph type="subTitle" idx="4294967295"/>
          </p:nvPr>
        </p:nvSpPr>
        <p:spPr>
          <a:xfrm>
            <a:off x="239486" y="542698"/>
            <a:ext cx="6194199" cy="56379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000"/>
              <a:t>ITIL v5 · Escala N1 a N5 · 4 dimensiones · 17 practicas a evaluar</a:t>
            </a:r>
          </a:p>
        </p:txBody>
      </p:sp>
      <p:sp>
        <p:nvSpPr>
          <p:cNvPr id="10" name="N1 box"/>
          <p:cNvSpPr txBox="1"/>
          <p:nvPr/>
        </p:nvSpPr>
        <p:spPr>
          <a:xfrm>
            <a:off x="457200" y="1371600"/>
            <a:ext cx="1371600" cy="914400"/>
          </a:xfrm>
          <a:prstGeom prst="rect">
            <a:avLst/>
          </a:prstGeom>
          <a:solidFill>
            <a:srgbClr val="FAECE7"/>
          </a:solidFill>
          <a:ln w="19050">
            <a:solidFill>
              <a:srgbClr val="D0021B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D0021B"/>
                </a:solidFill>
              </a:rPr>
              <a:t>N1</a:t>
            </a:r>
          </a:p>
          <a:p>
            <a:pPr algn="ctr">
              <a:buNone/>
            </a:pPr>
            <a:r>
              <a:rPr lang="es" sz="900" b="1">
                <a:solidFill>
                  <a:srgbClr val="D0021B"/>
                </a:solidFill>
              </a:rPr>
              <a:t>Inicial</a:t>
            </a:r>
          </a:p>
        </p:txBody>
      </p:sp>
      <p:sp>
        <p:nvSpPr>
          <p:cNvPr id="11" name="flecha1"/>
          <p:cNvSpPr txBox="1"/>
          <p:nvPr/>
        </p:nvSpPr>
        <p:spPr>
          <a:xfrm>
            <a:off x="1828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N2 box"/>
          <p:cNvSpPr txBox="1"/>
          <p:nvPr/>
        </p:nvSpPr>
        <p:spPr>
          <a:xfrm>
            <a:off x="2171700" y="1371600"/>
            <a:ext cx="1371600" cy="914400"/>
          </a:xfrm>
          <a:prstGeom prst="rect">
            <a:avLst/>
          </a:prstGeom>
          <a:solidFill>
            <a:srgbClr val="FAEEDA"/>
          </a:solidFill>
          <a:ln w="19050">
            <a:solidFill>
              <a:srgbClr val="EF9F27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633806"/>
                </a:solidFill>
              </a:rPr>
              <a:t>N2</a:t>
            </a:r>
          </a:p>
          <a:p>
            <a:pPr algn="ctr">
              <a:buNone/>
            </a:pPr>
            <a:r>
              <a:rPr lang="es" sz="900" b="1">
                <a:solidFill>
                  <a:srgbClr val="633806"/>
                </a:solidFill>
              </a:rPr>
              <a:t>Administrado</a:t>
            </a:r>
          </a:p>
        </p:txBody>
      </p:sp>
      <p:sp>
        <p:nvSpPr>
          <p:cNvPr id="13" name="flecha2"/>
          <p:cNvSpPr txBox="1"/>
          <p:nvPr/>
        </p:nvSpPr>
        <p:spPr>
          <a:xfrm>
            <a:off x="3543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N3 box"/>
          <p:cNvSpPr txBox="1"/>
          <p:nvPr/>
        </p:nvSpPr>
        <p:spPr>
          <a:xfrm>
            <a:off x="3886200" y="1371600"/>
            <a:ext cx="1371600" cy="914400"/>
          </a:xfrm>
          <a:prstGeom prst="rect">
            <a:avLst/>
          </a:prstGeom>
          <a:solidFill>
            <a:srgbClr val="E6F1FB"/>
          </a:solidFill>
          <a:ln w="28575">
            <a:solidFill>
              <a:srgbClr val="0E337C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E337C"/>
                </a:solidFill>
              </a:rPr>
              <a:t>N3 ★</a:t>
            </a:r>
          </a:p>
          <a:p>
            <a:pPr algn="ctr">
              <a:buNone/>
            </a:pPr>
            <a:r>
              <a:rPr lang="es" sz="900" b="1">
                <a:solidFill>
                  <a:srgbClr val="0E337C"/>
                </a:solidFill>
              </a:rPr>
              <a:t>Definido</a:t>
            </a:r>
          </a:p>
        </p:txBody>
      </p:sp>
      <p:sp>
        <p:nvSpPr>
          <p:cNvPr id="15" name="flecha3"/>
          <p:cNvSpPr txBox="1"/>
          <p:nvPr/>
        </p:nvSpPr>
        <p:spPr>
          <a:xfrm>
            <a:off x="5257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N4 box"/>
          <p:cNvSpPr txBox="1"/>
          <p:nvPr/>
        </p:nvSpPr>
        <p:spPr>
          <a:xfrm>
            <a:off x="5600700" y="1371600"/>
            <a:ext cx="1371600" cy="914400"/>
          </a:xfrm>
          <a:prstGeom prst="rect">
            <a:avLst/>
          </a:prstGeom>
          <a:solidFill>
            <a:srgbClr val="EEEDFE"/>
          </a:solidFill>
          <a:ln w="19050">
            <a:solidFill>
              <a:srgbClr val="3C3489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3C3489"/>
                </a:solidFill>
              </a:rPr>
              <a:t>N4</a:t>
            </a:r>
          </a:p>
          <a:p>
            <a:pPr algn="ctr">
              <a:buNone/>
            </a:pPr>
            <a:r>
              <a:rPr lang="es" sz="900" b="1">
                <a:solidFill>
                  <a:srgbClr val="3C3489"/>
                </a:solidFill>
              </a:rPr>
              <a:t>Cuantitativo</a:t>
            </a:r>
          </a:p>
        </p:txBody>
      </p:sp>
      <p:sp>
        <p:nvSpPr>
          <p:cNvPr id="17" name="flecha4"/>
          <p:cNvSpPr txBox="1"/>
          <p:nvPr/>
        </p:nvSpPr>
        <p:spPr>
          <a:xfrm>
            <a:off x="6972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N5 box"/>
          <p:cNvSpPr txBox="1"/>
          <p:nvPr/>
        </p:nvSpPr>
        <p:spPr>
          <a:xfrm>
            <a:off x="7315200" y="1371600"/>
            <a:ext cx="1371600" cy="9144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85041"/>
                </a:solidFill>
              </a:rPr>
              <a:t>N5</a:t>
            </a:r>
          </a:p>
          <a:p>
            <a:pPr algn="ctr">
              <a:buNone/>
            </a:pPr>
            <a:r>
              <a:rPr lang="es" sz="900" b="1">
                <a:solidFill>
                  <a:srgbClr val="085041"/>
                </a:solidFill>
              </a:rPr>
              <a:t>Optimizado</a:t>
            </a:r>
          </a:p>
        </p:txBody>
      </p:sp>
      <p:sp>
        <p:nvSpPr>
          <p:cNvPr id="20" name="desc N1"/>
          <p:cNvSpPr txBox="1"/>
          <p:nvPr/>
        </p:nvSpPr>
        <p:spPr>
          <a:xfrm>
            <a:off x="457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Reactivo total. Conocimiento en personas. Bus factor alto.</a:t>
            </a:r>
          </a:p>
        </p:txBody>
      </p:sp>
      <p:sp>
        <p:nvSpPr>
          <p:cNvPr id="21" name="desc N2"/>
          <p:cNvSpPr txBox="1"/>
          <p:nvPr/>
        </p:nvSpPr>
        <p:spPr>
          <a:xfrm>
            <a:off x="2171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Procesos por mesa. Herramienta como bitácora. Mínimo Mesa de Ayuda.</a:t>
            </a:r>
          </a:p>
        </p:txBody>
      </p:sp>
      <p:sp>
        <p:nvSpPr>
          <p:cNvPr id="22" name="desc N3"/>
          <p:cNvSpPr txBox="1"/>
          <p:nvPr/>
        </p:nvSpPr>
        <p:spPr>
          <a:xfrm>
            <a:off x="3886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b="1">
                <a:solidFill>
                  <a:srgbClr val="0E337C"/>
                </a:solidFill>
              </a:rPr>
              <a:t>Estandarizado. RACI, ANS y catálogo. Mínimo Mesa de Soporte. </a:t>
            </a:r>
          </a:p>
        </p:txBody>
      </p:sp>
      <p:sp>
        <p:nvSpPr>
          <p:cNvPr id="23" name="desc N4"/>
          <p:cNvSpPr txBox="1"/>
          <p:nvPr/>
        </p:nvSpPr>
        <p:spPr>
          <a:xfrm>
            <a:off x="5600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Datos reales. KPIs medidos. Costo por ticket calculado.</a:t>
            </a:r>
          </a:p>
        </p:txBody>
      </p:sp>
      <p:sp>
        <p:nvSpPr>
          <p:cNvPr id="24" name="desc N5"/>
          <p:cNvSpPr txBox="1"/>
          <p:nvPr/>
        </p:nvSpPr>
        <p:spPr>
          <a:xfrm>
            <a:off x="7315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Mejora continua automatizada. </a:t>
            </a:r>
          </a:p>
        </p:txBody>
      </p:sp>
      <p:sp>
        <p:nvSpPr>
          <p:cNvPr id="30" name="modelo reactivo"/>
          <p:cNvSpPr txBox="1"/>
          <p:nvPr/>
        </p:nvSpPr>
        <p:spPr>
          <a:xfrm>
            <a:off x="457200" y="3543300"/>
            <a:ext cx="2742750" cy="457200"/>
          </a:xfrm>
          <a:prstGeom prst="rect">
            <a:avLst/>
          </a:prstGeom>
          <a:solidFill>
            <a:srgbClr val="FAEEDA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31" name="modelo predictivo"/>
          <p:cNvSpPr txBox="1"/>
          <p:nvPr/>
        </p:nvSpPr>
        <p:spPr>
          <a:xfrm>
            <a:off x="3257550" y="3543300"/>
            <a:ext cx="2742750" cy="4572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32" name="modelo autonomo"/>
          <p:cNvSpPr txBox="1"/>
          <p:nvPr/>
        </p:nvSpPr>
        <p:spPr>
          <a:xfrm>
            <a:off x="6057900" y="3543300"/>
            <a:ext cx="2743500" cy="4572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85041"/>
                </a:solidFill>
              </a:rPr>
              <a:t>Autónomo e Inteligente</a:t>
            </a:r>
          </a:p>
        </p:txBody>
      </p:sp>
      <p:sp>
        <p:nvSpPr>
          <p:cNvPr id="40" name="nota estrella"/>
          <p:cNvSpPr txBox="1"/>
          <p:nvPr/>
        </p:nvSpPr>
        <p:spPr>
          <a:xfrm>
            <a:off x="457200" y="4089857"/>
            <a:ext cx="8229600" cy="34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/>
          <a:lstStyle/>
          <a:p>
            <a:pPr algn="l">
              <a:buNone/>
            </a:pPr>
            <a:r>
              <a:rPr lang="es" sz="900" i="1">
                <a:solidFill>
                  <a:srgbClr val="888888"/>
                </a:solidFill>
              </a:rPr>
              <a:t>★ Nivel mínimo requerido para Mesa de Soporte · Objetivo Wave 1 (SURA + Bancolombia) · Q3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48ECF7-B6AC-091D-B6FF-60289B10E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OTLSHAPE_M_b8c603269952439b977cb103e5f76bdb_Connector1">
            <a:extLst>
              <a:ext uri="{FF2B5EF4-FFF2-40B4-BE49-F238E27FC236}">
                <a16:creationId xmlns:a16="http://schemas.microsoft.com/office/drawing/2014/main" id="{905FAF03-5251-9129-B98B-C905FF00784D}"/>
              </a:ext>
            </a:extLst>
          </p:cNvPr>
          <p:cNvSpPr/>
          <p:nvPr/>
        </p:nvSpPr>
        <p:spPr>
          <a:xfrm>
            <a:off x="8051079" y="1010887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102" name="PlaceHolder 2">
            <a:extLst>
              <a:ext uri="{FF2B5EF4-FFF2-40B4-BE49-F238E27FC236}">
                <a16:creationId xmlns:a16="http://schemas.microsoft.com/office/drawing/2014/main" id="{0BF0EEA9-798F-EDCC-FF7C-F54FA8B4453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0365" y="1700750"/>
            <a:ext cx="5616720" cy="1391040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91440" rIns="91440" bIns="91440" rtlCol="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MX" sz="1800">
                <a:latin typeface="-apple-system"/>
              </a:rPr>
              <a:t> </a:t>
            </a:r>
            <a:endParaRPr lang="es-CO" sz="1800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Google Shape;134;p2">
            <a:extLst>
              <a:ext uri="{FF2B5EF4-FFF2-40B4-BE49-F238E27FC236}">
                <a16:creationId xmlns:a16="http://schemas.microsoft.com/office/drawing/2014/main" id="{6DF6F471-8B70-DE5A-6844-94FCA415F65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98925" y="4105250"/>
            <a:ext cx="539640" cy="279720"/>
          </a:xfrm>
          <a:prstGeom prst="rect">
            <a:avLst/>
          </a:prstGeom>
          <a:ln w="0">
            <a:noFill/>
          </a:ln>
        </p:spPr>
      </p:pic>
      <p:sp>
        <p:nvSpPr>
          <p:cNvPr id="9" name="OTLSHAPE_SL_79f05e8de72e4cc385fce875fa65517f_BackgroundRectangle">
            <a:extLst>
              <a:ext uri="{FF2B5EF4-FFF2-40B4-BE49-F238E27FC236}">
                <a16:creationId xmlns:a16="http://schemas.microsoft.com/office/drawing/2014/main" id="{13EC9A21-DDCA-D01F-1DB8-9696D6951C06}"/>
              </a:ext>
            </a:extLst>
          </p:cNvPr>
          <p:cNvSpPr/>
          <p:nvPr/>
        </p:nvSpPr>
        <p:spPr>
          <a:xfrm>
            <a:off x="416158" y="1771815"/>
            <a:ext cx="8360072" cy="2875323"/>
          </a:xfrm>
          <a:prstGeom prst="rect">
            <a:avLst/>
          </a:prstGeom>
          <a:solidFill>
            <a:schemeClr val="accent1">
              <a:lumMod val="40000"/>
              <a:lumOff val="60000"/>
              <a:alpha val="18661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0" name="OTLSHAPE_TB_00000000000000000000000000000000_ScaleContainer">
            <a:extLst>
              <a:ext uri="{FF2B5EF4-FFF2-40B4-BE49-F238E27FC236}">
                <a16:creationId xmlns:a16="http://schemas.microsoft.com/office/drawing/2014/main" id="{B9E51829-0BD5-C4F5-4A72-90541D35091B}"/>
              </a:ext>
            </a:extLst>
          </p:cNvPr>
          <p:cNvSpPr/>
          <p:nvPr/>
        </p:nvSpPr>
        <p:spPr>
          <a:xfrm>
            <a:off x="979424" y="1234653"/>
            <a:ext cx="7827564" cy="16164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1" name="OTLSHAPE_SL_79f05e8de72e4cc385fce875fa65517f_HeaderRectangle">
            <a:extLst>
              <a:ext uri="{FF2B5EF4-FFF2-40B4-BE49-F238E27FC236}">
                <a16:creationId xmlns:a16="http://schemas.microsoft.com/office/drawing/2014/main" id="{15761FC0-6B8D-C39D-7FEE-57AF3DE2D892}"/>
              </a:ext>
            </a:extLst>
          </p:cNvPr>
          <p:cNvSpPr/>
          <p:nvPr/>
        </p:nvSpPr>
        <p:spPr>
          <a:xfrm>
            <a:off x="396549" y="1778070"/>
            <a:ext cx="495300" cy="2829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8" name="OTLSHAPE_TB_00000000000000000000000000000000_ElapsedTime">
            <a:extLst>
              <a:ext uri="{FF2B5EF4-FFF2-40B4-BE49-F238E27FC236}">
                <a16:creationId xmlns:a16="http://schemas.microsoft.com/office/drawing/2014/main" id="{E7615FC4-78E3-12B5-C266-E4FD86BCC691}"/>
              </a:ext>
            </a:extLst>
          </p:cNvPr>
          <p:cNvSpPr/>
          <p:nvPr/>
        </p:nvSpPr>
        <p:spPr>
          <a:xfrm>
            <a:off x="982274" y="1400689"/>
            <a:ext cx="7087652" cy="39722"/>
          </a:xfrm>
          <a:prstGeom prst="roundRect">
            <a:avLst>
              <a:gd name="adj" fmla="val 16667"/>
            </a:avLst>
          </a:prstGeom>
          <a:solidFill>
            <a:srgbClr val="E6215D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62" name="OTLSHAPE_SL_79f05e8de72e4cc385fce875fa65517f_Header">
            <a:extLst>
              <a:ext uri="{FF2B5EF4-FFF2-40B4-BE49-F238E27FC236}">
                <a16:creationId xmlns:a16="http://schemas.microsoft.com/office/drawing/2014/main" id="{2AB2D5B5-4522-79DF-D12C-300579606D62}"/>
              </a:ext>
            </a:extLst>
          </p:cNvPr>
          <p:cNvSpPr txBox="1"/>
          <p:nvPr/>
        </p:nvSpPr>
        <p:spPr>
          <a:xfrm rot="16200000">
            <a:off x="317774" y="2757036"/>
            <a:ext cx="6053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/>
              <a:t>MESA DE SOPORTE</a:t>
            </a:r>
            <a:endParaRPr sz="1013"/>
          </a:p>
        </p:txBody>
      </p:sp>
      <p:sp>
        <p:nvSpPr>
          <p:cNvPr id="66" name="OTLSHAPE_TB_00000000000000000000000000000000_TimescaleInterval1">
            <a:extLst>
              <a:ext uri="{FF2B5EF4-FFF2-40B4-BE49-F238E27FC236}">
                <a16:creationId xmlns:a16="http://schemas.microsoft.com/office/drawing/2014/main" id="{BD055146-1365-AB06-AF35-BA5C8CF0AEE2}"/>
              </a:ext>
            </a:extLst>
          </p:cNvPr>
          <p:cNvSpPr txBox="1"/>
          <p:nvPr/>
        </p:nvSpPr>
        <p:spPr>
          <a:xfrm>
            <a:off x="1543968" y="1234135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Mayo</a:t>
            </a:r>
            <a:endParaRPr sz="1013"/>
          </a:p>
        </p:txBody>
      </p:sp>
      <p:sp>
        <p:nvSpPr>
          <p:cNvPr id="67" name="OTLSHAPE_TB_00000000000000000000000000000000_TimescaleInterval2">
            <a:extLst>
              <a:ext uri="{FF2B5EF4-FFF2-40B4-BE49-F238E27FC236}">
                <a16:creationId xmlns:a16="http://schemas.microsoft.com/office/drawing/2014/main" id="{599320AE-9425-E0EE-0D48-A2F7E84BBBF8}"/>
              </a:ext>
            </a:extLst>
          </p:cNvPr>
          <p:cNvSpPr txBox="1"/>
          <p:nvPr/>
        </p:nvSpPr>
        <p:spPr>
          <a:xfrm>
            <a:off x="3471517" y="1335897"/>
            <a:ext cx="249829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Junio</a:t>
            </a:r>
            <a:endParaRPr sz="1013"/>
          </a:p>
        </p:txBody>
      </p:sp>
      <p:sp>
        <p:nvSpPr>
          <p:cNvPr id="68" name="OTLSHAPE_TB_00000000000000000000000000000000_TimescaleInterval3">
            <a:extLst>
              <a:ext uri="{FF2B5EF4-FFF2-40B4-BE49-F238E27FC236}">
                <a16:creationId xmlns:a16="http://schemas.microsoft.com/office/drawing/2014/main" id="{47B8E293-5090-0E6D-9C25-15D444122460}"/>
              </a:ext>
            </a:extLst>
          </p:cNvPr>
          <p:cNvSpPr txBox="1"/>
          <p:nvPr/>
        </p:nvSpPr>
        <p:spPr>
          <a:xfrm>
            <a:off x="4791421" y="1451698"/>
            <a:ext cx="399545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Julio</a:t>
            </a:r>
            <a:endParaRPr sz="1013"/>
          </a:p>
        </p:txBody>
      </p:sp>
      <p:sp>
        <p:nvSpPr>
          <p:cNvPr id="69" name="OTLSHAPE_TB_00000000000000000000000000000000_TimescaleInterval4">
            <a:extLst>
              <a:ext uri="{FF2B5EF4-FFF2-40B4-BE49-F238E27FC236}">
                <a16:creationId xmlns:a16="http://schemas.microsoft.com/office/drawing/2014/main" id="{87C3A839-DD6E-0D32-B15E-B4795906375A}"/>
              </a:ext>
            </a:extLst>
          </p:cNvPr>
          <p:cNvSpPr txBox="1"/>
          <p:nvPr/>
        </p:nvSpPr>
        <p:spPr>
          <a:xfrm>
            <a:off x="6092060" y="1345806"/>
            <a:ext cx="335957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Agosto</a:t>
            </a:r>
            <a:endParaRPr sz="1013"/>
          </a:p>
        </p:txBody>
      </p:sp>
      <p:sp>
        <p:nvSpPr>
          <p:cNvPr id="76" name="OTLSHAPE_TB_00000000000000000000000000000000_TimescaleInterval11">
            <a:extLst>
              <a:ext uri="{FF2B5EF4-FFF2-40B4-BE49-F238E27FC236}">
                <a16:creationId xmlns:a16="http://schemas.microsoft.com/office/drawing/2014/main" id="{307EDD75-FD4C-4A65-B3CF-73DC5DDAD942}"/>
              </a:ext>
            </a:extLst>
          </p:cNvPr>
          <p:cNvSpPr txBox="1"/>
          <p:nvPr/>
        </p:nvSpPr>
        <p:spPr>
          <a:xfrm>
            <a:off x="7590721" y="1454680"/>
            <a:ext cx="49" cy="13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78" name="OTLSHAPE_TB_00000000000000000000000000000000_ScaleMarking1">
            <a:extLst>
              <a:ext uri="{FF2B5EF4-FFF2-40B4-BE49-F238E27FC236}">
                <a16:creationId xmlns:a16="http://schemas.microsoft.com/office/drawing/2014/main" id="{7D636E7B-5C47-A321-6EDC-77D78C0ABADA}"/>
              </a:ext>
            </a:extLst>
          </p:cNvPr>
          <p:cNvSpPr txBox="1"/>
          <p:nvPr/>
        </p:nvSpPr>
        <p:spPr>
          <a:xfrm>
            <a:off x="717566" y="1383798"/>
            <a:ext cx="2375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2026</a:t>
            </a:r>
            <a:endParaRPr sz="1013"/>
          </a:p>
        </p:txBody>
      </p:sp>
      <p:sp>
        <p:nvSpPr>
          <p:cNvPr id="115" name="OTLSHAPE_M_177188707e544830b8ce884a45b14d3a_Shape">
            <a:extLst>
              <a:ext uri="{FF2B5EF4-FFF2-40B4-BE49-F238E27FC236}">
                <a16:creationId xmlns:a16="http://schemas.microsoft.com/office/drawing/2014/main" id="{3EE1939F-CD6F-7EE0-73F2-52B596E82DA3}"/>
              </a:ext>
            </a:extLst>
          </p:cNvPr>
          <p:cNvSpPr/>
          <p:nvPr/>
        </p:nvSpPr>
        <p:spPr>
          <a:xfrm>
            <a:off x="3398433" y="836846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0070C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37" name="PlaceHolder 1">
            <a:extLst>
              <a:ext uri="{FF2B5EF4-FFF2-40B4-BE49-F238E27FC236}">
                <a16:creationId xmlns:a16="http://schemas.microsoft.com/office/drawing/2014/main" id="{3445C141-3DF5-8077-88A0-6CD287D76DD1}"/>
              </a:ext>
            </a:extLst>
          </p:cNvPr>
          <p:cNvSpPr txBox="1">
            <a:spLocks/>
          </p:cNvSpPr>
          <p:nvPr/>
        </p:nvSpPr>
        <p:spPr>
          <a:xfrm>
            <a:off x="606048" y="16609"/>
            <a:ext cx="6474053" cy="51889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" sz="2625" b="1" spc="-1">
                <a:solidFill>
                  <a:schemeClr val="dk1"/>
                </a:solidFill>
                <a:highlight>
                  <a:srgbClr val="FFFFFF"/>
                </a:highlight>
                <a:latin typeface="Reddit Sans"/>
                <a:ea typeface="Reddit Sans"/>
              </a:rPr>
              <a:t>1. Road Map Servicio Mesa de Soporte</a:t>
            </a:r>
            <a:endParaRPr lang="es-CO" sz="2625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8" name="Google Shape;133;p2">
            <a:extLst>
              <a:ext uri="{FF2B5EF4-FFF2-40B4-BE49-F238E27FC236}">
                <a16:creationId xmlns:a16="http://schemas.microsoft.com/office/drawing/2014/main" id="{CE2F41CB-4EFD-BC6E-2576-0D14739ED033}"/>
              </a:ext>
            </a:extLst>
          </p:cNvPr>
          <p:cNvCxnSpPr>
            <a:cxnSpLocks/>
          </p:cNvCxnSpPr>
          <p:nvPr/>
        </p:nvCxnSpPr>
        <p:spPr>
          <a:xfrm>
            <a:off x="540080" y="535500"/>
            <a:ext cx="8152521" cy="0"/>
          </a:xfrm>
          <a:prstGeom prst="straightConnector1">
            <a:avLst/>
          </a:prstGeom>
          <a:ln w="19050">
            <a:solidFill>
              <a:srgbClr val="0E337C"/>
            </a:solidFill>
            <a:round/>
          </a:ln>
        </p:spPr>
      </p:cxnSp>
      <p:graphicFrame>
        <p:nvGraphicFramePr>
          <p:cNvPr id="146" name="Tabla 145">
            <a:extLst>
              <a:ext uri="{FF2B5EF4-FFF2-40B4-BE49-F238E27FC236}">
                <a16:creationId xmlns:a16="http://schemas.microsoft.com/office/drawing/2014/main" id="{FBF55B3E-F11F-63C4-EE30-2EE14C599427}"/>
              </a:ext>
            </a:extLst>
          </p:cNvPr>
          <p:cNvGraphicFramePr>
            <a:graphicFrameLocks noGrp="1"/>
          </p:cNvGraphicFramePr>
          <p:nvPr/>
        </p:nvGraphicFramePr>
        <p:xfrm>
          <a:off x="982275" y="1446623"/>
          <a:ext cx="609854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3871578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5873477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01383280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7560483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27611045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966088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32589466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96504571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11753396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685601858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67196359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15407165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74089391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4713842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1703086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0043903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91059104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0219757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cxnSp>
        <p:nvCxnSpPr>
          <p:cNvPr id="148" name="Conector recto 147">
            <a:extLst>
              <a:ext uri="{FF2B5EF4-FFF2-40B4-BE49-F238E27FC236}">
                <a16:creationId xmlns:a16="http://schemas.microsoft.com/office/drawing/2014/main" id="{05C78DF6-6FA3-69B6-E8CC-1F55D2925511}"/>
              </a:ext>
            </a:extLst>
          </p:cNvPr>
          <p:cNvCxnSpPr>
            <a:cxnSpLocks/>
          </p:cNvCxnSpPr>
          <p:nvPr/>
        </p:nvCxnSpPr>
        <p:spPr>
          <a:xfrm>
            <a:off x="2196089" y="1238706"/>
            <a:ext cx="0" cy="3369292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TLSHAPE_TB_00000000000000000000000000000000_TimescaleInterval1">
            <a:extLst>
              <a:ext uri="{FF2B5EF4-FFF2-40B4-BE49-F238E27FC236}">
                <a16:creationId xmlns:a16="http://schemas.microsoft.com/office/drawing/2014/main" id="{AEA57161-773B-97A5-38BA-1E906BF23122}"/>
              </a:ext>
            </a:extLst>
          </p:cNvPr>
          <p:cNvSpPr txBox="1"/>
          <p:nvPr/>
        </p:nvSpPr>
        <p:spPr>
          <a:xfrm>
            <a:off x="2610777" y="1237549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Junio</a:t>
            </a:r>
            <a:endParaRPr sz="1013"/>
          </a:p>
        </p:txBody>
      </p:sp>
      <p:cxnSp>
        <p:nvCxnSpPr>
          <p:cNvPr id="154" name="Conector recto 153">
            <a:extLst>
              <a:ext uri="{FF2B5EF4-FFF2-40B4-BE49-F238E27FC236}">
                <a16:creationId xmlns:a16="http://schemas.microsoft.com/office/drawing/2014/main" id="{EBB1E36D-92A3-8C64-DB02-6876784A6465}"/>
              </a:ext>
            </a:extLst>
          </p:cNvPr>
          <p:cNvCxnSpPr>
            <a:cxnSpLocks/>
          </p:cNvCxnSpPr>
          <p:nvPr/>
        </p:nvCxnSpPr>
        <p:spPr>
          <a:xfrm flipH="1">
            <a:off x="3404345" y="1273033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TLSHAPE_SLT_526de5b69e97497f9a5625d453beb623_Title">
            <a:extLst>
              <a:ext uri="{FF2B5EF4-FFF2-40B4-BE49-F238E27FC236}">
                <a16:creationId xmlns:a16="http://schemas.microsoft.com/office/drawing/2014/main" id="{B25F509F-0F2A-17AB-0C20-C729EBD4752F}"/>
              </a:ext>
            </a:extLst>
          </p:cNvPr>
          <p:cNvSpPr txBox="1"/>
          <p:nvPr/>
        </p:nvSpPr>
        <p:spPr>
          <a:xfrm>
            <a:off x="3549120" y="2224504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Oferta de Valor</a:t>
            </a:r>
            <a:endParaRPr sz="750"/>
          </a:p>
        </p:txBody>
      </p:sp>
      <p:sp>
        <p:nvSpPr>
          <p:cNvPr id="16" name="OTLSHAPE_SLT_526de5b69e97497f9a5625d453beb623_Title">
            <a:extLst>
              <a:ext uri="{FF2B5EF4-FFF2-40B4-BE49-F238E27FC236}">
                <a16:creationId xmlns:a16="http://schemas.microsoft.com/office/drawing/2014/main" id="{FB3D29B5-306B-10BF-34D3-CB3A5DA81246}"/>
              </a:ext>
            </a:extLst>
          </p:cNvPr>
          <p:cNvSpPr txBox="1"/>
          <p:nvPr/>
        </p:nvSpPr>
        <p:spPr>
          <a:xfrm>
            <a:off x="1739190" y="2107035"/>
            <a:ext cx="871588" cy="1269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25" name="OTLSHAPE_SLT_526de5b69e97497f9a5625d453beb623_Title">
            <a:extLst>
              <a:ext uri="{FF2B5EF4-FFF2-40B4-BE49-F238E27FC236}">
                <a16:creationId xmlns:a16="http://schemas.microsoft.com/office/drawing/2014/main" id="{9533F742-F8CB-2262-5B27-27057EAEC721}"/>
              </a:ext>
            </a:extLst>
          </p:cNvPr>
          <p:cNvSpPr txBox="1"/>
          <p:nvPr/>
        </p:nvSpPr>
        <p:spPr>
          <a:xfrm>
            <a:off x="3563322" y="2363841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Business Model </a:t>
            </a:r>
            <a:r>
              <a:rPr lang="es-CO" sz="750" err="1"/>
              <a:t>Canvas</a:t>
            </a:r>
            <a:endParaRPr sz="750"/>
          </a:p>
        </p:txBody>
      </p:sp>
      <p:sp>
        <p:nvSpPr>
          <p:cNvPr id="26" name="OTLSHAPE_SLT_526de5b69e97497f9a5625d453beb623_Title">
            <a:extLst>
              <a:ext uri="{FF2B5EF4-FFF2-40B4-BE49-F238E27FC236}">
                <a16:creationId xmlns:a16="http://schemas.microsoft.com/office/drawing/2014/main" id="{C2F10970-AEE1-B67F-8F16-C29EE26E19B7}"/>
              </a:ext>
            </a:extLst>
          </p:cNvPr>
          <p:cNvSpPr txBox="1"/>
          <p:nvPr/>
        </p:nvSpPr>
        <p:spPr>
          <a:xfrm>
            <a:off x="3602946" y="2490792"/>
            <a:ext cx="1123468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Business </a:t>
            </a:r>
            <a:r>
              <a:rPr lang="es-CO" sz="750" err="1"/>
              <a:t>Services</a:t>
            </a:r>
            <a:r>
              <a:rPr lang="es-CO" sz="750"/>
              <a:t> </a:t>
            </a:r>
            <a:r>
              <a:rPr lang="es-CO" sz="750" err="1"/>
              <a:t>Blueprint</a:t>
            </a:r>
            <a:endParaRPr sz="750"/>
          </a:p>
        </p:txBody>
      </p:sp>
      <p:sp>
        <p:nvSpPr>
          <p:cNvPr id="28" name="OTLSHAPE_SLT_526de5b69e97497f9a5625d453beb623_Title">
            <a:extLst>
              <a:ext uri="{FF2B5EF4-FFF2-40B4-BE49-F238E27FC236}">
                <a16:creationId xmlns:a16="http://schemas.microsoft.com/office/drawing/2014/main" id="{EC16AC68-744C-BE1E-4526-1AE695E69419}"/>
              </a:ext>
            </a:extLst>
          </p:cNvPr>
          <p:cNvSpPr txBox="1"/>
          <p:nvPr/>
        </p:nvSpPr>
        <p:spPr>
          <a:xfrm>
            <a:off x="4599258" y="2193256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Porfolio Deck</a:t>
            </a:r>
            <a:endParaRPr sz="750"/>
          </a:p>
        </p:txBody>
      </p:sp>
      <p:sp>
        <p:nvSpPr>
          <p:cNvPr id="37" name="OTLSHAPE_SLT_526de5b69e97497f9a5625d453beb623_Title">
            <a:extLst>
              <a:ext uri="{FF2B5EF4-FFF2-40B4-BE49-F238E27FC236}">
                <a16:creationId xmlns:a16="http://schemas.microsoft.com/office/drawing/2014/main" id="{0ABDBDA2-70E7-76C2-FB63-D060289E1ABC}"/>
              </a:ext>
            </a:extLst>
          </p:cNvPr>
          <p:cNvSpPr txBox="1"/>
          <p:nvPr/>
        </p:nvSpPr>
        <p:spPr>
          <a:xfrm>
            <a:off x="3608462" y="2767385"/>
            <a:ext cx="110756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Esquema general del Servicio</a:t>
            </a:r>
            <a:endParaRPr sz="750"/>
          </a:p>
        </p:txBody>
      </p:sp>
      <p:sp>
        <p:nvSpPr>
          <p:cNvPr id="44" name="OTLSHAPE_M_b8c603269952439b977cb103e5f76bdb_Title">
            <a:extLst>
              <a:ext uri="{FF2B5EF4-FFF2-40B4-BE49-F238E27FC236}">
                <a16:creationId xmlns:a16="http://schemas.microsoft.com/office/drawing/2014/main" id="{77C7B3C0-BCC6-15E5-96B8-DDB033834269}"/>
              </a:ext>
            </a:extLst>
          </p:cNvPr>
          <p:cNvSpPr txBox="1"/>
          <p:nvPr/>
        </p:nvSpPr>
        <p:spPr>
          <a:xfrm>
            <a:off x="3568103" y="820313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/>
              <a:t>Inicio</a:t>
            </a:r>
            <a:endParaRPr sz="1013"/>
          </a:p>
        </p:txBody>
      </p:sp>
      <p:sp>
        <p:nvSpPr>
          <p:cNvPr id="45" name="OTLSHAPE_M_b8c603269952439b977cb103e5f76bdb_Connector1">
            <a:extLst>
              <a:ext uri="{FF2B5EF4-FFF2-40B4-BE49-F238E27FC236}">
                <a16:creationId xmlns:a16="http://schemas.microsoft.com/office/drawing/2014/main" id="{1CFBE9B1-AC58-E525-8CCC-1978D73E7F4F}"/>
              </a:ext>
            </a:extLst>
          </p:cNvPr>
          <p:cNvSpPr/>
          <p:nvPr/>
        </p:nvSpPr>
        <p:spPr>
          <a:xfrm>
            <a:off x="3409414" y="946166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46" name="OTLSHAPE_M_177188707e544830b8ce884a45b14d3a_Date">
            <a:extLst>
              <a:ext uri="{FF2B5EF4-FFF2-40B4-BE49-F238E27FC236}">
                <a16:creationId xmlns:a16="http://schemas.microsoft.com/office/drawing/2014/main" id="{896FE7A0-21F1-28A4-339B-24D1084A8137}"/>
              </a:ext>
            </a:extLst>
          </p:cNvPr>
          <p:cNvSpPr txBox="1"/>
          <p:nvPr/>
        </p:nvSpPr>
        <p:spPr>
          <a:xfrm>
            <a:off x="3593976" y="925347"/>
            <a:ext cx="247651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Julio</a:t>
            </a:r>
            <a:r>
              <a:rPr sz="1013"/>
              <a:t> </a:t>
            </a:r>
            <a:r>
              <a:rPr lang="es-CO" sz="1013"/>
              <a:t>01</a:t>
            </a:r>
            <a:endParaRPr sz="1013"/>
          </a:p>
        </p:txBody>
      </p:sp>
      <p:sp>
        <p:nvSpPr>
          <p:cNvPr id="74" name="OTLSHAPE_TB_00000000000000000000000000000000_TimescaleInterval1">
            <a:extLst>
              <a:ext uri="{FF2B5EF4-FFF2-40B4-BE49-F238E27FC236}">
                <a16:creationId xmlns:a16="http://schemas.microsoft.com/office/drawing/2014/main" id="{B243F692-16E1-DE90-2E69-3D9F9AE4EF4B}"/>
              </a:ext>
            </a:extLst>
          </p:cNvPr>
          <p:cNvSpPr txBox="1"/>
          <p:nvPr/>
        </p:nvSpPr>
        <p:spPr>
          <a:xfrm>
            <a:off x="3823128" y="1235566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Julio</a:t>
            </a:r>
            <a:endParaRPr sz="1013"/>
          </a:p>
        </p:txBody>
      </p:sp>
      <p:sp>
        <p:nvSpPr>
          <p:cNvPr id="98" name="OTLSHAPE_SLT_526de5b69e97497f9a5625d453beb623_Title">
            <a:extLst>
              <a:ext uri="{FF2B5EF4-FFF2-40B4-BE49-F238E27FC236}">
                <a16:creationId xmlns:a16="http://schemas.microsoft.com/office/drawing/2014/main" id="{5C8154C9-FDD9-A1A7-53F3-73936BCFAAE5}"/>
              </a:ext>
            </a:extLst>
          </p:cNvPr>
          <p:cNvSpPr txBox="1"/>
          <p:nvPr/>
        </p:nvSpPr>
        <p:spPr>
          <a:xfrm>
            <a:off x="5785493" y="2492848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 WBS</a:t>
            </a:r>
            <a:endParaRPr sz="750"/>
          </a:p>
        </p:txBody>
      </p:sp>
      <p:sp>
        <p:nvSpPr>
          <p:cNvPr id="100" name="OTLSHAPE_SLM_2906e62c2d64423a8a6ff0cffce343fd_Shape">
            <a:extLst>
              <a:ext uri="{FF2B5EF4-FFF2-40B4-BE49-F238E27FC236}">
                <a16:creationId xmlns:a16="http://schemas.microsoft.com/office/drawing/2014/main" id="{3C10EA9D-5C16-F0CB-0F48-91F4225934EB}"/>
              </a:ext>
            </a:extLst>
          </p:cNvPr>
          <p:cNvSpPr/>
          <p:nvPr/>
        </p:nvSpPr>
        <p:spPr>
          <a:xfrm>
            <a:off x="4699345" y="2179143"/>
            <a:ext cx="114301" cy="133351"/>
          </a:xfrm>
          <a:prstGeom prst="diamond">
            <a:avLst/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03" name="OTLSHAPE_SLT_526de5b69e97497f9a5625d453beb623_Title">
            <a:extLst>
              <a:ext uri="{FF2B5EF4-FFF2-40B4-BE49-F238E27FC236}">
                <a16:creationId xmlns:a16="http://schemas.microsoft.com/office/drawing/2014/main" id="{657BC46A-0397-744A-D685-017131625032}"/>
              </a:ext>
            </a:extLst>
          </p:cNvPr>
          <p:cNvSpPr txBox="1"/>
          <p:nvPr/>
        </p:nvSpPr>
        <p:spPr>
          <a:xfrm>
            <a:off x="6040984" y="3020263"/>
            <a:ext cx="973113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Costo equipo del servicio</a:t>
            </a:r>
            <a:endParaRPr sz="750"/>
          </a:p>
        </p:txBody>
      </p:sp>
      <p:sp>
        <p:nvSpPr>
          <p:cNvPr id="105" name="OTLSHAPE_SLT_526de5b69e97497f9a5625d453beb623_Title">
            <a:extLst>
              <a:ext uri="{FF2B5EF4-FFF2-40B4-BE49-F238E27FC236}">
                <a16:creationId xmlns:a16="http://schemas.microsoft.com/office/drawing/2014/main" id="{F6DDB9E1-9418-1318-9780-ABA1E6FAA291}"/>
              </a:ext>
            </a:extLst>
          </p:cNvPr>
          <p:cNvSpPr txBox="1"/>
          <p:nvPr/>
        </p:nvSpPr>
        <p:spPr>
          <a:xfrm>
            <a:off x="5457594" y="3291715"/>
            <a:ext cx="1670402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Matriz RACI</a:t>
            </a:r>
            <a:endParaRPr sz="750"/>
          </a:p>
        </p:txBody>
      </p:sp>
      <p:sp>
        <p:nvSpPr>
          <p:cNvPr id="117" name="OTLSHAPE_SLT_526de5b69e97497f9a5625d453beb623_Title">
            <a:extLst>
              <a:ext uri="{FF2B5EF4-FFF2-40B4-BE49-F238E27FC236}">
                <a16:creationId xmlns:a16="http://schemas.microsoft.com/office/drawing/2014/main" id="{F065E83A-E2BF-E04C-BB71-B5617BE13D6B}"/>
              </a:ext>
            </a:extLst>
          </p:cNvPr>
          <p:cNvSpPr txBox="1"/>
          <p:nvPr/>
        </p:nvSpPr>
        <p:spPr>
          <a:xfrm>
            <a:off x="7332537" y="2579835"/>
            <a:ext cx="69337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Pilotos ejecutados en cliente</a:t>
            </a:r>
            <a:endParaRPr sz="750"/>
          </a:p>
        </p:txBody>
      </p:sp>
      <p:sp>
        <p:nvSpPr>
          <p:cNvPr id="142" name="OTLSHAPE_M_b8c603269952439b977cb103e5f76bdb_Title">
            <a:extLst>
              <a:ext uri="{FF2B5EF4-FFF2-40B4-BE49-F238E27FC236}">
                <a16:creationId xmlns:a16="http://schemas.microsoft.com/office/drawing/2014/main" id="{E4CA8DE3-D00C-00C9-FD8D-9F47B3729728}"/>
              </a:ext>
            </a:extLst>
          </p:cNvPr>
          <p:cNvSpPr txBox="1"/>
          <p:nvPr/>
        </p:nvSpPr>
        <p:spPr>
          <a:xfrm>
            <a:off x="8214254" y="834830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/>
              <a:t>Fin</a:t>
            </a:r>
            <a:endParaRPr sz="1013"/>
          </a:p>
        </p:txBody>
      </p:sp>
      <p:sp>
        <p:nvSpPr>
          <p:cNvPr id="143" name="OTLSHAPE_M_177188707e544830b8ce884a45b14d3a_Shape">
            <a:extLst>
              <a:ext uri="{FF2B5EF4-FFF2-40B4-BE49-F238E27FC236}">
                <a16:creationId xmlns:a16="http://schemas.microsoft.com/office/drawing/2014/main" id="{4D1225D4-CCE3-3618-749F-96408379C13F}"/>
              </a:ext>
            </a:extLst>
          </p:cNvPr>
          <p:cNvSpPr/>
          <p:nvPr/>
        </p:nvSpPr>
        <p:spPr>
          <a:xfrm>
            <a:off x="8042944" y="910978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92D05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M_177188707e544830b8ce884a45b14d3a_Date">
            <a:extLst>
              <a:ext uri="{FF2B5EF4-FFF2-40B4-BE49-F238E27FC236}">
                <a16:creationId xmlns:a16="http://schemas.microsoft.com/office/drawing/2014/main" id="{A86EB768-C338-7E12-BEB1-FE025DAE1195}"/>
              </a:ext>
            </a:extLst>
          </p:cNvPr>
          <p:cNvSpPr txBox="1"/>
          <p:nvPr/>
        </p:nvSpPr>
        <p:spPr>
          <a:xfrm>
            <a:off x="8211585" y="951167"/>
            <a:ext cx="55003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Octubre</a:t>
            </a:r>
          </a:p>
          <a:p>
            <a:r>
              <a:rPr sz="1013"/>
              <a:t> </a:t>
            </a:r>
            <a:r>
              <a:rPr lang="es-CO" sz="1013"/>
              <a:t>23</a:t>
            </a:r>
          </a:p>
        </p:txBody>
      </p:sp>
      <p:sp>
        <p:nvSpPr>
          <p:cNvPr id="110" name="OTLSHAPE_SLT_526de5b69e97497f9a5625d453beb623_Title">
            <a:extLst>
              <a:ext uri="{FF2B5EF4-FFF2-40B4-BE49-F238E27FC236}">
                <a16:creationId xmlns:a16="http://schemas.microsoft.com/office/drawing/2014/main" id="{754407B4-330E-CE11-C12D-F53466FA6591}"/>
              </a:ext>
            </a:extLst>
          </p:cNvPr>
          <p:cNvSpPr txBox="1"/>
          <p:nvPr/>
        </p:nvSpPr>
        <p:spPr>
          <a:xfrm>
            <a:off x="6032513" y="3453815"/>
            <a:ext cx="980873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Estrategias de transferencia de conocimiento técnico y comercial</a:t>
            </a:r>
            <a:endParaRPr sz="750"/>
          </a:p>
        </p:txBody>
      </p:sp>
      <p:sp>
        <p:nvSpPr>
          <p:cNvPr id="147" name="OTLSHAPE_TB_00000000000000000000000000000000_TimescaleInterval1">
            <a:extLst>
              <a:ext uri="{FF2B5EF4-FFF2-40B4-BE49-F238E27FC236}">
                <a16:creationId xmlns:a16="http://schemas.microsoft.com/office/drawing/2014/main" id="{972983CC-4FB7-3A67-69DC-86CDCCBB02FD}"/>
              </a:ext>
            </a:extLst>
          </p:cNvPr>
          <p:cNvSpPr txBox="1"/>
          <p:nvPr/>
        </p:nvSpPr>
        <p:spPr>
          <a:xfrm>
            <a:off x="7516605" y="1243688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Octubre</a:t>
            </a:r>
            <a:endParaRPr sz="1013"/>
          </a:p>
        </p:txBody>
      </p:sp>
      <p:sp>
        <p:nvSpPr>
          <p:cNvPr id="79" name="OTLSHAPE_TB_00000000000000000000000000000000_TimescaleInterval1">
            <a:extLst>
              <a:ext uri="{FF2B5EF4-FFF2-40B4-BE49-F238E27FC236}">
                <a16:creationId xmlns:a16="http://schemas.microsoft.com/office/drawing/2014/main" id="{B5949E68-056C-33F2-3E85-1B03511EAEBF}"/>
              </a:ext>
            </a:extLst>
          </p:cNvPr>
          <p:cNvSpPr txBox="1"/>
          <p:nvPr/>
        </p:nvSpPr>
        <p:spPr>
          <a:xfrm>
            <a:off x="5084005" y="1240801"/>
            <a:ext cx="496901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Agosto</a:t>
            </a:r>
            <a:endParaRPr sz="1013"/>
          </a:p>
        </p:txBody>
      </p:sp>
      <p:graphicFrame>
        <p:nvGraphicFramePr>
          <p:cNvPr id="165" name="Tabla 164">
            <a:extLst>
              <a:ext uri="{FF2B5EF4-FFF2-40B4-BE49-F238E27FC236}">
                <a16:creationId xmlns:a16="http://schemas.microsoft.com/office/drawing/2014/main" id="{7C1E10C8-405E-FBE5-1D51-07A73025D0A8}"/>
              </a:ext>
            </a:extLst>
          </p:cNvPr>
          <p:cNvGraphicFramePr>
            <a:graphicFrameLocks noGrp="1"/>
          </p:cNvGraphicFramePr>
          <p:nvPr/>
        </p:nvGraphicFramePr>
        <p:xfrm>
          <a:off x="7087714" y="1444257"/>
          <a:ext cx="170942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sp>
        <p:nvSpPr>
          <p:cNvPr id="172" name="OTLSHAPE_TB_00000000000000000000000000000000_TimescaleInterval1">
            <a:extLst>
              <a:ext uri="{FF2B5EF4-FFF2-40B4-BE49-F238E27FC236}">
                <a16:creationId xmlns:a16="http://schemas.microsoft.com/office/drawing/2014/main" id="{315C0321-AD10-F614-3569-8CB88AA29B2E}"/>
              </a:ext>
            </a:extLst>
          </p:cNvPr>
          <p:cNvSpPr txBox="1"/>
          <p:nvPr/>
        </p:nvSpPr>
        <p:spPr>
          <a:xfrm>
            <a:off x="8375773" y="1226566"/>
            <a:ext cx="385848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Nov</a:t>
            </a:r>
            <a:endParaRPr sz="1013"/>
          </a:p>
        </p:txBody>
      </p:sp>
      <p:sp>
        <p:nvSpPr>
          <p:cNvPr id="19" name="OTLSHAPE_SLT_2ff5b8e034b64a828622147da9a2f6b2_Shape">
            <a:extLst>
              <a:ext uri="{FF2B5EF4-FFF2-40B4-BE49-F238E27FC236}">
                <a16:creationId xmlns:a16="http://schemas.microsoft.com/office/drawing/2014/main" id="{228B4BA0-97D7-A6C0-8FD5-396EFB10E0AD}"/>
              </a:ext>
            </a:extLst>
          </p:cNvPr>
          <p:cNvSpPr/>
          <p:nvPr/>
        </p:nvSpPr>
        <p:spPr>
          <a:xfrm>
            <a:off x="977072" y="1657317"/>
            <a:ext cx="2442876" cy="9877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Q2</a:t>
            </a:r>
            <a:endParaRPr sz="800" b="1" i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OTLSHAPE_SLT_2ff5b8e034b64a828622147da9a2f6b2_Shape">
            <a:extLst>
              <a:ext uri="{FF2B5EF4-FFF2-40B4-BE49-F238E27FC236}">
                <a16:creationId xmlns:a16="http://schemas.microsoft.com/office/drawing/2014/main" id="{9F185A85-8997-EAB2-5CF7-3CF41BBB7C20}"/>
              </a:ext>
            </a:extLst>
          </p:cNvPr>
          <p:cNvSpPr/>
          <p:nvPr/>
        </p:nvSpPr>
        <p:spPr>
          <a:xfrm>
            <a:off x="3421915" y="1661664"/>
            <a:ext cx="3655394" cy="9559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Q3</a:t>
            </a:r>
            <a:endParaRPr sz="800" i="1"/>
          </a:p>
        </p:txBody>
      </p:sp>
      <p:sp>
        <p:nvSpPr>
          <p:cNvPr id="31" name="OTLSHAPE_SLT_2ff5b8e034b64a828622147da9a2f6b2_Shape">
            <a:extLst>
              <a:ext uri="{FF2B5EF4-FFF2-40B4-BE49-F238E27FC236}">
                <a16:creationId xmlns:a16="http://schemas.microsoft.com/office/drawing/2014/main" id="{6FEE0C82-E379-D4BE-5A32-84B28AF5F805}"/>
              </a:ext>
            </a:extLst>
          </p:cNvPr>
          <p:cNvSpPr/>
          <p:nvPr/>
        </p:nvSpPr>
        <p:spPr>
          <a:xfrm>
            <a:off x="7087780" y="1655799"/>
            <a:ext cx="1699412" cy="103279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Q4</a:t>
            </a:r>
            <a:endParaRPr sz="800" i="1"/>
          </a:p>
        </p:txBody>
      </p:sp>
      <p:sp>
        <p:nvSpPr>
          <p:cNvPr id="101" name="OTLSHAPE_SLT_526de5b69e97497f9a5625d453beb623_Title">
            <a:extLst>
              <a:ext uri="{FF2B5EF4-FFF2-40B4-BE49-F238E27FC236}">
                <a16:creationId xmlns:a16="http://schemas.microsoft.com/office/drawing/2014/main" id="{DB11EB4B-9F15-561A-EBBE-13324B85528D}"/>
              </a:ext>
            </a:extLst>
          </p:cNvPr>
          <p:cNvSpPr txBox="1"/>
          <p:nvPr/>
        </p:nvSpPr>
        <p:spPr>
          <a:xfrm>
            <a:off x="6037605" y="2633931"/>
            <a:ext cx="76600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Propuesta de valor y esquema de servicio final</a:t>
            </a:r>
            <a:endParaRPr sz="750"/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359882D-FFEB-5B18-F4C3-FCB5680FB37E}"/>
              </a:ext>
            </a:extLst>
          </p:cNvPr>
          <p:cNvCxnSpPr>
            <a:cxnSpLocks/>
          </p:cNvCxnSpPr>
          <p:nvPr/>
        </p:nvCxnSpPr>
        <p:spPr>
          <a:xfrm>
            <a:off x="8067162" y="1353403"/>
            <a:ext cx="2764" cy="3288917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TLSHAPE_SLM_2906e62c2d64423a8a6ff0cffce343fd_Shape">
            <a:extLst>
              <a:ext uri="{FF2B5EF4-FFF2-40B4-BE49-F238E27FC236}">
                <a16:creationId xmlns:a16="http://schemas.microsoft.com/office/drawing/2014/main" id="{4D3671C1-48A9-8464-EDD4-133E5396AF13}"/>
              </a:ext>
            </a:extLst>
          </p:cNvPr>
          <p:cNvSpPr/>
          <p:nvPr/>
        </p:nvSpPr>
        <p:spPr>
          <a:xfrm>
            <a:off x="3464247" y="2193980"/>
            <a:ext cx="114301" cy="13335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72" name="OTLSHAPE_SLT_526de5b69e97497f9a5625d453beb623_Title">
            <a:extLst>
              <a:ext uri="{FF2B5EF4-FFF2-40B4-BE49-F238E27FC236}">
                <a16:creationId xmlns:a16="http://schemas.microsoft.com/office/drawing/2014/main" id="{C7CC5D9A-F7E4-22F9-C09F-89ED206DD33C}"/>
              </a:ext>
            </a:extLst>
          </p:cNvPr>
          <p:cNvSpPr txBox="1"/>
          <p:nvPr/>
        </p:nvSpPr>
        <p:spPr>
          <a:xfrm>
            <a:off x="4840696" y="2474250"/>
            <a:ext cx="909201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Ejecución pre- piloto interno.</a:t>
            </a:r>
            <a:endParaRPr sz="750"/>
          </a:p>
        </p:txBody>
      </p:sp>
      <p:sp>
        <p:nvSpPr>
          <p:cNvPr id="97" name="OTLSHAPE_SLT_2ff5b8e034b64a828622147da9a2f6b2_Shape">
            <a:extLst>
              <a:ext uri="{FF2B5EF4-FFF2-40B4-BE49-F238E27FC236}">
                <a16:creationId xmlns:a16="http://schemas.microsoft.com/office/drawing/2014/main" id="{58848BEC-05A6-5729-DEFD-AC6B9B20BDD7}"/>
              </a:ext>
            </a:extLst>
          </p:cNvPr>
          <p:cNvSpPr/>
          <p:nvPr/>
        </p:nvSpPr>
        <p:spPr>
          <a:xfrm>
            <a:off x="4666172" y="1930796"/>
            <a:ext cx="1179324" cy="212160"/>
          </a:xfrm>
          <a:prstGeom prst="roundRect">
            <a:avLst>
              <a:gd name="adj" fmla="val 16667"/>
            </a:avLst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03/08 al 26/08</a:t>
            </a:r>
            <a:endParaRPr sz="800" i="1"/>
          </a:p>
        </p:txBody>
      </p:sp>
      <p:sp>
        <p:nvSpPr>
          <p:cNvPr id="73" name="OTLSHAPE_SLT_526de5b69e97497f9a5625d453beb623_Title">
            <a:extLst>
              <a:ext uri="{FF2B5EF4-FFF2-40B4-BE49-F238E27FC236}">
                <a16:creationId xmlns:a16="http://schemas.microsoft.com/office/drawing/2014/main" id="{A2D0EA88-DCC6-9C01-8922-72971CC52103}"/>
              </a:ext>
            </a:extLst>
          </p:cNvPr>
          <p:cNvSpPr txBox="1"/>
          <p:nvPr/>
        </p:nvSpPr>
        <p:spPr>
          <a:xfrm>
            <a:off x="7327688" y="2203287"/>
            <a:ext cx="89104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750"/>
              <a:t>*</a:t>
            </a:r>
            <a:r>
              <a:rPr lang="es-CO" sz="750"/>
              <a:t> Plantillas comerciales (estimación)</a:t>
            </a:r>
            <a:endParaRPr sz="750"/>
          </a:p>
        </p:txBody>
      </p:sp>
      <p:sp>
        <p:nvSpPr>
          <p:cNvPr id="121" name="OTLSHAPE_SLT_526de5b69e97497f9a5625d453beb623_Title">
            <a:extLst>
              <a:ext uri="{FF2B5EF4-FFF2-40B4-BE49-F238E27FC236}">
                <a16:creationId xmlns:a16="http://schemas.microsoft.com/office/drawing/2014/main" id="{5453E0D3-D660-882F-82E4-0849B90FD061}"/>
              </a:ext>
            </a:extLst>
          </p:cNvPr>
          <p:cNvSpPr txBox="1"/>
          <p:nvPr/>
        </p:nvSpPr>
        <p:spPr>
          <a:xfrm>
            <a:off x="7308718" y="2956716"/>
            <a:ext cx="52669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Planes de refinamiento</a:t>
            </a:r>
            <a:endParaRPr sz="750"/>
          </a:p>
        </p:txBody>
      </p:sp>
      <p:sp>
        <p:nvSpPr>
          <p:cNvPr id="91" name="OTLSHAPE_TB_00000000000000000000000000000000_TimescaleInterval1">
            <a:extLst>
              <a:ext uri="{FF2B5EF4-FFF2-40B4-BE49-F238E27FC236}">
                <a16:creationId xmlns:a16="http://schemas.microsoft.com/office/drawing/2014/main" id="{A44F1890-C67D-07B7-EF9C-B20145399B2E}"/>
              </a:ext>
            </a:extLst>
          </p:cNvPr>
          <p:cNvSpPr txBox="1"/>
          <p:nvPr/>
        </p:nvSpPr>
        <p:spPr>
          <a:xfrm>
            <a:off x="6150069" y="1249534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Septiembre</a:t>
            </a:r>
            <a:endParaRPr sz="1013"/>
          </a:p>
        </p:txBody>
      </p:sp>
      <p:sp>
        <p:nvSpPr>
          <p:cNvPr id="3" name="OTLSHAPE_SLT_526de5b69e97497f9a5625d453beb623_Title">
            <a:extLst>
              <a:ext uri="{FF2B5EF4-FFF2-40B4-BE49-F238E27FC236}">
                <a16:creationId xmlns:a16="http://schemas.microsoft.com/office/drawing/2014/main" id="{68104DF1-1946-F3B0-6B4A-F9D83311EBF8}"/>
              </a:ext>
            </a:extLst>
          </p:cNvPr>
          <p:cNvSpPr txBox="1"/>
          <p:nvPr/>
        </p:nvSpPr>
        <p:spPr>
          <a:xfrm>
            <a:off x="4605016" y="2334407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Diseñar Piloto</a:t>
            </a:r>
            <a:endParaRPr sz="750"/>
          </a:p>
        </p:txBody>
      </p:sp>
      <p:sp>
        <p:nvSpPr>
          <p:cNvPr id="4" name="OTLSHAPE_SLT_2ff5b8e034b64a828622147da9a2f6b2_Shape">
            <a:extLst>
              <a:ext uri="{FF2B5EF4-FFF2-40B4-BE49-F238E27FC236}">
                <a16:creationId xmlns:a16="http://schemas.microsoft.com/office/drawing/2014/main" id="{407AC7DC-E603-9E3D-B67B-3E3C7EC05DA3}"/>
              </a:ext>
            </a:extLst>
          </p:cNvPr>
          <p:cNvSpPr/>
          <p:nvPr/>
        </p:nvSpPr>
        <p:spPr>
          <a:xfrm>
            <a:off x="3436099" y="1930796"/>
            <a:ext cx="1195746" cy="203686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01/07 al 30/07</a:t>
            </a:r>
            <a:endParaRPr sz="800" i="1"/>
          </a:p>
        </p:txBody>
      </p:sp>
      <p:sp>
        <p:nvSpPr>
          <p:cNvPr id="6" name="OTLSHAPE_SLM_2906e62c2d64423a8a6ff0cffce343fd_Shape">
            <a:extLst>
              <a:ext uri="{FF2B5EF4-FFF2-40B4-BE49-F238E27FC236}">
                <a16:creationId xmlns:a16="http://schemas.microsoft.com/office/drawing/2014/main" id="{497AAEBD-B3DA-B970-79C6-6BD45B57655E}"/>
              </a:ext>
            </a:extLst>
          </p:cNvPr>
          <p:cNvSpPr/>
          <p:nvPr/>
        </p:nvSpPr>
        <p:spPr>
          <a:xfrm>
            <a:off x="5893780" y="2188504"/>
            <a:ext cx="114301" cy="133351"/>
          </a:xfrm>
          <a:prstGeom prst="diamond">
            <a:avLst/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2" name="OTLSHAPE_SLT_2ff5b8e034b64a828622147da9a2f6b2_Shape">
            <a:extLst>
              <a:ext uri="{FF2B5EF4-FFF2-40B4-BE49-F238E27FC236}">
                <a16:creationId xmlns:a16="http://schemas.microsoft.com/office/drawing/2014/main" id="{C3F70ED1-DF9E-05DC-D85F-30029A5B2566}"/>
              </a:ext>
            </a:extLst>
          </p:cNvPr>
          <p:cNvSpPr/>
          <p:nvPr/>
        </p:nvSpPr>
        <p:spPr>
          <a:xfrm>
            <a:off x="5892435" y="1935966"/>
            <a:ext cx="1166720" cy="217833"/>
          </a:xfrm>
          <a:prstGeom prst="roundRect">
            <a:avLst>
              <a:gd name="adj" fmla="val 16667"/>
            </a:avLst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01/09 al 29/09</a:t>
            </a:r>
            <a:endParaRPr sz="800" i="1"/>
          </a:p>
        </p:txBody>
      </p:sp>
      <p:sp>
        <p:nvSpPr>
          <p:cNvPr id="2" name="OTLSHAPE_SLT_526de5b69e97497f9a5625d453beb623_Title">
            <a:extLst>
              <a:ext uri="{FF2B5EF4-FFF2-40B4-BE49-F238E27FC236}">
                <a16:creationId xmlns:a16="http://schemas.microsoft.com/office/drawing/2014/main" id="{88A34EB4-EAB6-374D-AAB2-4904B5444682}"/>
              </a:ext>
            </a:extLst>
          </p:cNvPr>
          <p:cNvSpPr txBox="1"/>
          <p:nvPr/>
        </p:nvSpPr>
        <p:spPr>
          <a:xfrm>
            <a:off x="6051247" y="2196573"/>
            <a:ext cx="913442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Ejecución pre- piloto cliente existente.</a:t>
            </a:r>
            <a:endParaRPr sz="750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1CC7B2A-0DB2-A3B3-97DF-5CAB14048FE8}"/>
              </a:ext>
            </a:extLst>
          </p:cNvPr>
          <p:cNvCxnSpPr>
            <a:cxnSpLocks/>
          </p:cNvCxnSpPr>
          <p:nvPr/>
        </p:nvCxnSpPr>
        <p:spPr>
          <a:xfrm flipH="1">
            <a:off x="4636033" y="1263177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9C9C300-7D3A-7A1B-61E2-9A2C73013A57}"/>
              </a:ext>
            </a:extLst>
          </p:cNvPr>
          <p:cNvCxnSpPr>
            <a:cxnSpLocks/>
          </p:cNvCxnSpPr>
          <p:nvPr/>
        </p:nvCxnSpPr>
        <p:spPr>
          <a:xfrm flipH="1">
            <a:off x="5861807" y="1276971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6571D33D-3D43-66A7-D677-E29B83D714DB}"/>
              </a:ext>
            </a:extLst>
          </p:cNvPr>
          <p:cNvCxnSpPr>
            <a:cxnSpLocks/>
          </p:cNvCxnSpPr>
          <p:nvPr/>
        </p:nvCxnSpPr>
        <p:spPr>
          <a:xfrm flipH="1">
            <a:off x="7075759" y="1273028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TLSHAPE_SLT_2ff5b8e034b64a828622147da9a2f6b2_Shape">
            <a:extLst>
              <a:ext uri="{FF2B5EF4-FFF2-40B4-BE49-F238E27FC236}">
                <a16:creationId xmlns:a16="http://schemas.microsoft.com/office/drawing/2014/main" id="{32EF86C3-066D-A843-7A49-14776DAD552F}"/>
              </a:ext>
            </a:extLst>
          </p:cNvPr>
          <p:cNvSpPr/>
          <p:nvPr/>
        </p:nvSpPr>
        <p:spPr>
          <a:xfrm>
            <a:off x="7112643" y="1935966"/>
            <a:ext cx="925895" cy="22391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01/10 al 23/10</a:t>
            </a:r>
            <a:endParaRPr sz="800" i="1"/>
          </a:p>
        </p:txBody>
      </p:sp>
      <p:sp>
        <p:nvSpPr>
          <p:cNvPr id="27" name="OTLSHAPE_SLM_2906e62c2d64423a8a6ff0cffce343fd_Shape">
            <a:extLst>
              <a:ext uri="{FF2B5EF4-FFF2-40B4-BE49-F238E27FC236}">
                <a16:creationId xmlns:a16="http://schemas.microsoft.com/office/drawing/2014/main" id="{3B575863-E78C-82C4-9E16-C084F17D0988}"/>
              </a:ext>
            </a:extLst>
          </p:cNvPr>
          <p:cNvSpPr/>
          <p:nvPr/>
        </p:nvSpPr>
        <p:spPr>
          <a:xfrm>
            <a:off x="7149113" y="2178651"/>
            <a:ext cx="114301" cy="133351"/>
          </a:xfrm>
          <a:prstGeom prst="diamond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</p:spTree>
    <p:extLst>
      <p:ext uri="{BB962C8B-B14F-4D97-AF65-F5344CB8AC3E}">
        <p14:creationId xmlns:p14="http://schemas.microsoft.com/office/powerpoint/2010/main" val="1785190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OTLSHAPE_SL_79f05e8de72e4cc385fce875fa65517f_HeaderRectangle">
            <a:extLst>
              <a:ext uri="{FF2B5EF4-FFF2-40B4-BE49-F238E27FC236}">
                <a16:creationId xmlns:a16="http://schemas.microsoft.com/office/drawing/2014/main" id="{8F033BD4-E602-272F-7902-F203B6C6FADF}"/>
              </a:ext>
            </a:extLst>
          </p:cNvPr>
          <p:cNvSpPr/>
          <p:nvPr/>
        </p:nvSpPr>
        <p:spPr>
          <a:xfrm>
            <a:off x="374776" y="411305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6" name="OTLSHAPE_SL_79f05e8de72e4cc385fce875fa65517f_HeaderRectangle">
            <a:extLst>
              <a:ext uri="{FF2B5EF4-FFF2-40B4-BE49-F238E27FC236}">
                <a16:creationId xmlns:a16="http://schemas.microsoft.com/office/drawing/2014/main" id="{8B6280EC-8BC9-4B04-CDFE-3ECF08AD4E33}"/>
              </a:ext>
            </a:extLst>
          </p:cNvPr>
          <p:cNvSpPr/>
          <p:nvPr/>
        </p:nvSpPr>
        <p:spPr>
          <a:xfrm>
            <a:off x="369333" y="3606867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SL_79f05e8de72e4cc385fce875fa65517f_HeaderRectangle">
            <a:extLst>
              <a:ext uri="{FF2B5EF4-FFF2-40B4-BE49-F238E27FC236}">
                <a16:creationId xmlns:a16="http://schemas.microsoft.com/office/drawing/2014/main" id="{E1B84A3B-3A8B-3783-5D29-A956A64588F1}"/>
              </a:ext>
            </a:extLst>
          </p:cNvPr>
          <p:cNvSpPr/>
          <p:nvPr/>
        </p:nvSpPr>
        <p:spPr>
          <a:xfrm>
            <a:off x="374776" y="31006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4" name="OTLSHAPE_SL_79f05e8de72e4cc385fce875fa65517f_HeaderRectangle">
            <a:extLst>
              <a:ext uri="{FF2B5EF4-FFF2-40B4-BE49-F238E27FC236}">
                <a16:creationId xmlns:a16="http://schemas.microsoft.com/office/drawing/2014/main" id="{A5F021EF-C10E-00A3-2323-7E60D70FF2B4}"/>
              </a:ext>
            </a:extLst>
          </p:cNvPr>
          <p:cNvSpPr/>
          <p:nvPr/>
        </p:nvSpPr>
        <p:spPr>
          <a:xfrm>
            <a:off x="380219" y="26053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3" name="OTLSHAPE_SL_79f05e8de72e4cc385fce875fa65517f_HeaderRectangle">
            <a:extLst>
              <a:ext uri="{FF2B5EF4-FFF2-40B4-BE49-F238E27FC236}">
                <a16:creationId xmlns:a16="http://schemas.microsoft.com/office/drawing/2014/main" id="{3B6C005C-DF51-C63C-277B-B435DA0CDD80}"/>
              </a:ext>
            </a:extLst>
          </p:cNvPr>
          <p:cNvSpPr/>
          <p:nvPr/>
        </p:nvSpPr>
        <p:spPr>
          <a:xfrm>
            <a:off x="374777" y="1794396"/>
            <a:ext cx="1104899" cy="7943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35133" y="134782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b="0"/>
              <a:t>Modelos de Transición</a:t>
            </a:r>
            <a:endParaRPr b="0"/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601F8-5566-9947-256D-59532ADDFB50}"/>
              </a:ext>
            </a:extLst>
          </p:cNvPr>
          <p:cNvSpPr txBox="1"/>
          <p:nvPr/>
        </p:nvSpPr>
        <p:spPr>
          <a:xfrm>
            <a:off x="5275320" y="1534344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1ª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72BFF-D543-CF03-ED0E-3CFA2E0844E3}"/>
              </a:ext>
            </a:extLst>
          </p:cNvPr>
          <p:cNvSpPr txBox="1"/>
          <p:nvPr/>
        </p:nvSpPr>
        <p:spPr>
          <a:xfrm>
            <a:off x="460566" y="1921328"/>
            <a:ext cx="927777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err="1">
                <a:latin typeface="Reddit Sans"/>
                <a:ea typeface="Reddit Sans"/>
              </a:rPr>
              <a:t>Evaluación</a:t>
            </a:r>
            <a:r>
              <a:rPr lang="es-ES" sz="700" b="1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err="1">
                <a:latin typeface="Reddit Sans"/>
                <a:ea typeface="Reddit Sans"/>
              </a:rPr>
              <a:t>Operaciónes</a:t>
            </a:r>
            <a:r>
              <a:rPr lang="es-ES" sz="700" b="1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</a:rPr>
              <a:t>Actuales</a:t>
            </a:r>
            <a:endParaRPr lang="es-ES" sz="700" b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1ED60-70CF-2CCC-5BB1-80EACE70EC27}"/>
              </a:ext>
            </a:extLst>
          </p:cNvPr>
          <p:cNvSpPr txBox="1"/>
          <p:nvPr/>
        </p:nvSpPr>
        <p:spPr>
          <a:xfrm>
            <a:off x="395252" y="2593523"/>
            <a:ext cx="1113063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Estandarización </a:t>
            </a: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De la Practica de </a:t>
            </a: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las Mesas de Servicio</a:t>
            </a:r>
            <a:endParaRPr lang="es-ES" sz="700" b="1">
              <a:latin typeface="Reddit Sans"/>
              <a:ea typeface="Reddit San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9A7F53-C2C8-0962-735A-726BC7B1B042}"/>
              </a:ext>
            </a:extLst>
          </p:cNvPr>
          <p:cNvSpPr txBox="1"/>
          <p:nvPr/>
        </p:nvSpPr>
        <p:spPr>
          <a:xfrm>
            <a:off x="525097" y="3222173"/>
            <a:ext cx="798617" cy="20005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Productización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79083F-6844-07ED-2968-D80C5002C8E9}"/>
              </a:ext>
            </a:extLst>
          </p:cNvPr>
          <p:cNvSpPr txBox="1"/>
          <p:nvPr/>
        </p:nvSpPr>
        <p:spPr>
          <a:xfrm>
            <a:off x="486107" y="3652158"/>
            <a:ext cx="893193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Transición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de la </a:t>
            </a:r>
            <a:endParaRPr lang="es-ES" sz="700" kern="1200">
              <a:latin typeface="Reddit Sans"/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 err="1">
                <a:latin typeface="Reddit Sans"/>
                <a:ea typeface="Reddit Sans"/>
                <a:cs typeface="+mn-cs"/>
              </a:rPr>
              <a:t>Operacion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actual</a:t>
            </a:r>
            <a:endParaRPr lang="es-ES" sz="700"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D1D67-A365-B731-0ABC-A7A7C6C203BC}"/>
              </a:ext>
            </a:extLst>
          </p:cNvPr>
          <p:cNvSpPr txBox="1"/>
          <p:nvPr/>
        </p:nvSpPr>
        <p:spPr>
          <a:xfrm>
            <a:off x="555368" y="4112079"/>
            <a:ext cx="737702" cy="41549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Evolución</a:t>
            </a:r>
            <a:r>
              <a:rPr sz="700" b="1" kern="1200">
                <a:latin typeface="Reddit Sans"/>
                <a:ea typeface="Reddit Sans"/>
                <a:cs typeface="+mn-cs"/>
              </a:rPr>
              <a:t> </a:t>
            </a:r>
            <a:endParaRPr lang="es-ES" sz="700" b="1"/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>
                <a:latin typeface="Reddit Sans"/>
                <a:ea typeface="Reddit Sans"/>
                <a:cs typeface="+mn-cs"/>
              </a:rPr>
              <a:t>Continua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del </a:t>
            </a:r>
            <a:endParaRPr lang="es-ES" sz="700" b="1"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>
                <a:latin typeface="Reddit Sans"/>
                <a:ea typeface="Reddit Sans"/>
                <a:cs typeface="+mn-cs"/>
              </a:rPr>
              <a:t>Servicio</a:t>
            </a:r>
            <a:endParaRPr sz="700" b="1"/>
          </a:p>
        </p:txBody>
      </p: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87602290-382C-F064-EF7A-3172019619BC}"/>
              </a:ext>
            </a:extLst>
          </p:cNvPr>
          <p:cNvSpPr/>
          <p:nvPr/>
        </p:nvSpPr>
        <p:spPr>
          <a:xfrm>
            <a:off x="1558717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E6283EB-B92E-463D-4350-C26DBFB19BB3}"/>
              </a:ext>
            </a:extLst>
          </p:cNvPr>
          <p:cNvSpPr txBox="1"/>
          <p:nvPr/>
        </p:nvSpPr>
        <p:spPr>
          <a:xfrm>
            <a:off x="293913" y="884462"/>
            <a:ext cx="125185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rgbClr val="595959"/>
                </a:solidFill>
                <a:latin typeface="Reddit Sans"/>
              </a:rPr>
              <a:t>Evolución Competitiva </a:t>
            </a:r>
            <a:endParaRPr lang="es-ES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13549EC-2702-C3B7-5164-A7E93EE6C9C7}"/>
              </a:ext>
            </a:extLst>
          </p:cNvPr>
          <p:cNvSpPr txBox="1"/>
          <p:nvPr/>
        </p:nvSpPr>
        <p:spPr>
          <a:xfrm>
            <a:off x="375556" y="1483178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75B2EC64-AAEB-80A0-2E7C-B337049F02B0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10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BB1913D-BF6A-E67C-53B8-E57EF62C7319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1000">
              <a:solidFill>
                <a:schemeClr val="tx1"/>
              </a:solidFill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86C6AFD-758B-AA33-CDAE-D4A668DAB4D6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D696F69B-CBB8-EB9D-F537-957DB0B0EFC1}"/>
              </a:ext>
            </a:extLst>
          </p:cNvPr>
          <p:cNvSpPr txBox="1"/>
          <p:nvPr/>
        </p:nvSpPr>
        <p:spPr>
          <a:xfrm>
            <a:off x="5589816" y="72934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</a:p>
        </p:txBody>
      </p:sp>
      <p:sp>
        <p:nvSpPr>
          <p:cNvPr id="55" name="Estrella: 5 puntas 54">
            <a:extLst>
              <a:ext uri="{FF2B5EF4-FFF2-40B4-BE49-F238E27FC236}">
                <a16:creationId xmlns:a16="http://schemas.microsoft.com/office/drawing/2014/main" id="{D690B408-E977-B681-6218-CBBD9914EA14}"/>
              </a:ext>
            </a:extLst>
          </p:cNvPr>
          <p:cNvSpPr/>
          <p:nvPr/>
        </p:nvSpPr>
        <p:spPr>
          <a:xfrm>
            <a:off x="5452655" y="117565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3F5665C4-39A2-D097-D477-4A14BD58842A}"/>
              </a:ext>
            </a:extLst>
          </p:cNvPr>
          <p:cNvSpPr txBox="1"/>
          <p:nvPr/>
        </p:nvSpPr>
        <p:spPr>
          <a:xfrm>
            <a:off x="5589816" y="290645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AES, Medicarte</a:t>
            </a:r>
          </a:p>
        </p:txBody>
      </p:sp>
      <p:sp>
        <p:nvSpPr>
          <p:cNvPr id="57" name="Estrella: 5 puntas 56">
            <a:extLst>
              <a:ext uri="{FF2B5EF4-FFF2-40B4-BE49-F238E27FC236}">
                <a16:creationId xmlns:a16="http://schemas.microsoft.com/office/drawing/2014/main" id="{61C4338C-4B26-C80E-5230-7A1381D384A4}"/>
              </a:ext>
            </a:extLst>
          </p:cNvPr>
          <p:cNvSpPr/>
          <p:nvPr/>
        </p:nvSpPr>
        <p:spPr>
          <a:xfrm>
            <a:off x="5452655" y="329836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B1D377E7-02CC-BB00-D36D-1FAE90E89AE5}"/>
              </a:ext>
            </a:extLst>
          </p:cNvPr>
          <p:cNvSpPr/>
          <p:nvPr/>
        </p:nvSpPr>
        <p:spPr>
          <a:xfrm>
            <a:off x="4583967" y="3708216"/>
            <a:ext cx="841248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comercial</a:t>
            </a: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89AA025D-ACC2-8BE3-3531-ADBA5332DDF4}"/>
              </a:ext>
            </a:extLst>
          </p:cNvPr>
          <p:cNvSpPr/>
          <p:nvPr/>
        </p:nvSpPr>
        <p:spPr>
          <a:xfrm>
            <a:off x="4676500" y="3985801"/>
            <a:ext cx="12549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operación wave 1</a:t>
            </a: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4D62D34E-3794-458E-ABAD-31CA8C1D18B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0B432EA-1C9F-4EC7-E4B8-D3B837082F02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6EF5295-96C4-926C-84C5-95FD93FA591B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424CC519-BBF4-FA42-F777-459CCC693C13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4775264B-67DF-405A-6101-AE5518412D5D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B455B26-C013-533E-9B69-0018318D53BB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3127475-4A1E-FC30-8FF4-FF4CB0FE1276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23F92958-03E3-48E4-ABF8-B161B4E7E99D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3DCAA23E-04B7-F20D-CDAA-8E36F3814F35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3C4D310E-DE01-6E94-DE7F-85ED2574567E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4C2861A-81F4-1E62-DAC6-B6325FD369D9}"/>
              </a:ext>
            </a:extLst>
          </p:cNvPr>
          <p:cNvCxnSpPr>
            <a:cxnSpLocks/>
          </p:cNvCxnSpPr>
          <p:nvPr/>
        </p:nvCxnSpPr>
        <p:spPr>
          <a:xfrm>
            <a:off x="6950529" y="143283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B892158-E68C-874C-E15B-A40E40D8E5B1}"/>
              </a:ext>
            </a:extLst>
          </p:cNvPr>
          <p:cNvCxnSpPr/>
          <p:nvPr/>
        </p:nvCxnSpPr>
        <p:spPr>
          <a:xfrm flipV="1">
            <a:off x="1523999" y="2569028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ector recto de flecha 155">
            <a:extLst>
              <a:ext uri="{FF2B5EF4-FFF2-40B4-BE49-F238E27FC236}">
                <a16:creationId xmlns:a16="http://schemas.microsoft.com/office/drawing/2014/main" id="{629336BF-83C6-1FDF-8604-320CB4C9F9EC}"/>
              </a:ext>
            </a:extLst>
          </p:cNvPr>
          <p:cNvCxnSpPr>
            <a:cxnSpLocks/>
          </p:cNvCxnSpPr>
          <p:nvPr/>
        </p:nvCxnSpPr>
        <p:spPr>
          <a:xfrm flipV="1">
            <a:off x="1518556" y="3086099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1E2018A3-62EE-970D-B821-D3A2DB070167}"/>
              </a:ext>
            </a:extLst>
          </p:cNvPr>
          <p:cNvCxnSpPr>
            <a:cxnSpLocks/>
          </p:cNvCxnSpPr>
          <p:nvPr/>
        </p:nvCxnSpPr>
        <p:spPr>
          <a:xfrm flipV="1">
            <a:off x="1523998" y="3586841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5D54C481-8D29-2F15-8A8C-D54259A86D14}"/>
              </a:ext>
            </a:extLst>
          </p:cNvPr>
          <p:cNvCxnSpPr>
            <a:cxnSpLocks/>
          </p:cNvCxnSpPr>
          <p:nvPr/>
        </p:nvCxnSpPr>
        <p:spPr>
          <a:xfrm flipV="1">
            <a:off x="1562098" y="4109355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DBE4934-27B3-8AF2-9806-755794E991C9}"/>
              </a:ext>
            </a:extLst>
          </p:cNvPr>
          <p:cNvSpPr txBox="1"/>
          <p:nvPr/>
        </p:nvSpPr>
        <p:spPr>
          <a:xfrm>
            <a:off x="1475014" y="1592035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Evaluar el nivel de madurez de las mesas de servicio</a:t>
            </a:r>
            <a:r>
              <a:rPr lang="es-ES" sz="600">
                <a:latin typeface="Reddit Sans"/>
              </a:rPr>
              <a:t> (ITIL v5)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4CD09477-E38C-EE17-621C-734ED54B0F30}"/>
              </a:ext>
            </a:extLst>
          </p:cNvPr>
          <p:cNvSpPr/>
          <p:nvPr/>
        </p:nvSpPr>
        <p:spPr>
          <a:xfrm>
            <a:off x="1683903" y="21896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23CEA72B-8F42-C6E5-CC5E-7DDBE220B673}"/>
              </a:ext>
            </a:extLst>
          </p:cNvPr>
          <p:cNvSpPr txBox="1"/>
          <p:nvPr/>
        </p:nvSpPr>
        <p:spPr>
          <a:xfrm>
            <a:off x="1485898" y="1918607"/>
            <a:ext cx="13226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Caracterizar las mesas de servicio (Tools, ANS, FTE, ...)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F5625070-A44A-26FA-CB75-DFA50D0F1E47}"/>
              </a:ext>
            </a:extLst>
          </p:cNvPr>
          <p:cNvSpPr/>
          <p:nvPr/>
        </p:nvSpPr>
        <p:spPr>
          <a:xfrm>
            <a:off x="1760102" y="2489015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A379B0E7-4465-0A6B-A743-F2DF6B6596A7}"/>
              </a:ext>
            </a:extLst>
          </p:cNvPr>
          <p:cNvSpPr txBox="1"/>
          <p:nvPr/>
        </p:nvSpPr>
        <p:spPr>
          <a:xfrm>
            <a:off x="1589314" y="2256063"/>
            <a:ext cx="1747157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Identificar costos actuales de la operación y costos de transición al servicio estandarizado</a:t>
            </a:r>
            <a:endParaRPr lang="es-ES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AB6E717F-283D-DA6F-377A-7BA7C716D90D}"/>
              </a:ext>
            </a:extLst>
          </p:cNvPr>
          <p:cNvSpPr/>
          <p:nvPr/>
        </p:nvSpPr>
        <p:spPr>
          <a:xfrm>
            <a:off x="2685388" y="19229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72F19235-8B32-8B77-8033-22BE696285D4}"/>
              </a:ext>
            </a:extLst>
          </p:cNvPr>
          <p:cNvSpPr txBox="1"/>
          <p:nvPr/>
        </p:nvSpPr>
        <p:spPr>
          <a:xfrm>
            <a:off x="2601685" y="1651906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Definición </a:t>
            </a:r>
            <a:r>
              <a:rPr lang="es-ES" sz="600" err="1">
                <a:latin typeface="Reddit Sans"/>
              </a:rPr>
              <a:t>ini</a:t>
            </a:r>
            <a:r>
              <a:rPr lang="es-ES" sz="600">
                <a:latin typeface="Reddit Sans"/>
              </a:rPr>
              <a:t>cial del servicio estandarizado</a:t>
            </a:r>
            <a:endParaRPr lang="es-ES"/>
          </a:p>
        </p:txBody>
      </p:sp>
      <p:sp>
        <p:nvSpPr>
          <p:cNvPr id="166" name="Estrella: 5 puntas 165">
            <a:extLst>
              <a:ext uri="{FF2B5EF4-FFF2-40B4-BE49-F238E27FC236}">
                <a16:creationId xmlns:a16="http://schemas.microsoft.com/office/drawing/2014/main" id="{38A9D9DB-644D-7476-7D22-74E9613711EE}"/>
              </a:ext>
            </a:extLst>
          </p:cNvPr>
          <p:cNvSpPr/>
          <p:nvPr/>
        </p:nvSpPr>
        <p:spPr>
          <a:xfrm>
            <a:off x="2186940" y="1478279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7" name="Rounded Rectangle 21">
            <a:extLst>
              <a:ext uri="{FF2B5EF4-FFF2-40B4-BE49-F238E27FC236}">
                <a16:creationId xmlns:a16="http://schemas.microsoft.com/office/drawing/2014/main" id="{FE77458F-06C0-A05A-663F-A2913ABCE4CE}"/>
              </a:ext>
            </a:extLst>
          </p:cNvPr>
          <p:cNvSpPr/>
          <p:nvPr/>
        </p:nvSpPr>
        <p:spPr>
          <a:xfrm>
            <a:off x="2952089" y="2728499"/>
            <a:ext cx="2315552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BC194BDD-543E-DE19-1B1B-F57E384A6594}"/>
              </a:ext>
            </a:extLst>
          </p:cNvPr>
          <p:cNvSpPr txBox="1"/>
          <p:nvPr/>
        </p:nvSpPr>
        <p:spPr>
          <a:xfrm>
            <a:off x="2939141" y="2462891"/>
            <a:ext cx="1937658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Rediseño y estandarización del servicio de mesas de servicios operación actual y nuevos clientes</a:t>
            </a:r>
            <a:endParaRPr lang="es-ES"/>
          </a:p>
        </p:txBody>
      </p:sp>
      <p:sp>
        <p:nvSpPr>
          <p:cNvPr id="171" name="Rounded Rectangle 21">
            <a:extLst>
              <a:ext uri="{FF2B5EF4-FFF2-40B4-BE49-F238E27FC236}">
                <a16:creationId xmlns:a16="http://schemas.microsoft.com/office/drawing/2014/main" id="{5AA448EF-F0A3-4DD8-5DCE-B892C81C46D9}"/>
              </a:ext>
            </a:extLst>
          </p:cNvPr>
          <p:cNvSpPr/>
          <p:nvPr/>
        </p:nvSpPr>
        <p:spPr>
          <a:xfrm>
            <a:off x="4133189" y="2984315"/>
            <a:ext cx="3137426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2" name="CuadroTexto 171">
            <a:extLst>
              <a:ext uri="{FF2B5EF4-FFF2-40B4-BE49-F238E27FC236}">
                <a16:creationId xmlns:a16="http://schemas.microsoft.com/office/drawing/2014/main" id="{E9FE6999-A6A7-E2E8-7379-1C52E53878E7}"/>
              </a:ext>
            </a:extLst>
          </p:cNvPr>
          <p:cNvSpPr txBox="1"/>
          <p:nvPr/>
        </p:nvSpPr>
        <p:spPr>
          <a:xfrm>
            <a:off x="4076697" y="2838446"/>
            <a:ext cx="3167744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Piloto herramientas/agentes </a:t>
            </a:r>
            <a:r>
              <a:rPr lang="es-ES" sz="600" err="1">
                <a:latin typeface="Reddit Sans"/>
              </a:rPr>
              <a:t>pa</a:t>
            </a:r>
            <a:r>
              <a:rPr lang="es-ES" sz="600">
                <a:latin typeface="Reddit Sans"/>
              </a:rPr>
              <a:t>ra las mesas de servicio (</a:t>
            </a:r>
            <a:r>
              <a:rPr lang="es-ES" sz="600" err="1">
                <a:latin typeface="Reddit Sans"/>
              </a:rPr>
              <a:t>reuso</a:t>
            </a:r>
            <a:r>
              <a:rPr lang="es-ES" sz="600">
                <a:latin typeface="Reddit Sans"/>
              </a:rPr>
              <a:t> o construcción nuevas)</a:t>
            </a:r>
            <a:endParaRPr lang="es-ES"/>
          </a:p>
        </p:txBody>
      </p: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891BC76A-4C2F-3071-5AD9-7A5D38D13446}"/>
              </a:ext>
            </a:extLst>
          </p:cNvPr>
          <p:cNvSpPr/>
          <p:nvPr/>
        </p:nvSpPr>
        <p:spPr>
          <a:xfrm>
            <a:off x="5346944" y="2630530"/>
            <a:ext cx="1145341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40BC8697-7EC2-FDD0-5975-6A6E6FED0E64}"/>
              </a:ext>
            </a:extLst>
          </p:cNvPr>
          <p:cNvSpPr/>
          <p:nvPr/>
        </p:nvSpPr>
        <p:spPr>
          <a:xfrm>
            <a:off x="7126762" y="159472"/>
            <a:ext cx="1390266" cy="10494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Historias de Usuario (alto nivel)</a:t>
            </a:r>
            <a:endParaRPr lang="es-ES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510278FA-4908-7510-D203-73B1B75C3C60}"/>
              </a:ext>
            </a:extLst>
          </p:cNvPr>
          <p:cNvSpPr txBox="1"/>
          <p:nvPr/>
        </p:nvSpPr>
        <p:spPr>
          <a:xfrm>
            <a:off x="5268685" y="2397576"/>
            <a:ext cx="143147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Piloto </a:t>
            </a:r>
            <a:r>
              <a:rPr lang="es-ES" sz="600" err="1">
                <a:latin typeface="Reddit Sans"/>
              </a:rPr>
              <a:t>dashboards</a:t>
            </a:r>
            <a:r>
              <a:rPr lang="es-ES" sz="600">
                <a:latin typeface="Reddit Sans"/>
              </a:rPr>
              <a:t> ejecutivos internos PersonalSoft</a:t>
            </a:r>
            <a:endParaRPr lang="es-ES" err="1"/>
          </a:p>
        </p:txBody>
      </p:sp>
      <p:sp>
        <p:nvSpPr>
          <p:cNvPr id="177" name="TextBox 14">
            <a:extLst>
              <a:ext uri="{FF2B5EF4-FFF2-40B4-BE49-F238E27FC236}">
                <a16:creationId xmlns:a16="http://schemas.microsoft.com/office/drawing/2014/main" id="{DB9A8AC7-82C2-010D-642A-05795CD26E1F}"/>
              </a:ext>
            </a:extLst>
          </p:cNvPr>
          <p:cNvSpPr txBox="1"/>
          <p:nvPr/>
        </p:nvSpPr>
        <p:spPr>
          <a:xfrm>
            <a:off x="8078392" y="1528900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E2AA5A9D-22D0-3A10-B9C4-093CEFEACE2B}"/>
              </a:ext>
            </a:extLst>
          </p:cNvPr>
          <p:cNvSpPr/>
          <p:nvPr/>
        </p:nvSpPr>
        <p:spPr>
          <a:xfrm>
            <a:off x="3409288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E451BAF3-B5C4-E221-DC3C-F6D781574CA8}"/>
              </a:ext>
            </a:extLst>
          </p:cNvPr>
          <p:cNvSpPr txBox="1"/>
          <p:nvPr/>
        </p:nvSpPr>
        <p:spPr>
          <a:xfrm>
            <a:off x="3336471" y="3567791"/>
            <a:ext cx="58782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Priorizar las mesas</a:t>
            </a: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15FA741A-E940-6E97-15B5-7C4C823EEF99}"/>
              </a:ext>
            </a:extLst>
          </p:cNvPr>
          <p:cNvSpPr/>
          <p:nvPr/>
        </p:nvSpPr>
        <p:spPr>
          <a:xfrm>
            <a:off x="3910029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DC2B6ADF-0848-643D-DBF6-0201E25A007D}"/>
              </a:ext>
            </a:extLst>
          </p:cNvPr>
          <p:cNvSpPr txBox="1"/>
          <p:nvPr/>
        </p:nvSpPr>
        <p:spPr>
          <a:xfrm>
            <a:off x="3848098" y="3567792"/>
            <a:ext cx="102870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Crear Plan de Transición mesas actuales</a:t>
            </a:r>
            <a:endParaRPr lang="es-ES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32B49168-0274-3E40-263F-6ECCBD77DB41}"/>
              </a:ext>
            </a:extLst>
          </p:cNvPr>
          <p:cNvSpPr/>
          <p:nvPr/>
        </p:nvSpPr>
        <p:spPr>
          <a:xfrm>
            <a:off x="3631467" y="3985801"/>
            <a:ext cx="1048077" cy="831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C2B6B279-8305-CE42-86A5-4A577DCCAD64}"/>
              </a:ext>
            </a:extLst>
          </p:cNvPr>
          <p:cNvSpPr/>
          <p:nvPr/>
        </p:nvSpPr>
        <p:spPr>
          <a:xfrm>
            <a:off x="7121319" y="311873"/>
            <a:ext cx="1395709" cy="10494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</a:rPr>
              <a:t>feedback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 del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</a:rPr>
              <a:t>serv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icio</a:t>
            </a:r>
            <a:endParaRPr lang="es-ES"/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D5B128C5-B672-C7F9-4B8C-6FB231567AE3}"/>
              </a:ext>
            </a:extLst>
          </p:cNvPr>
          <p:cNvSpPr/>
          <p:nvPr/>
        </p:nvSpPr>
        <p:spPr>
          <a:xfrm>
            <a:off x="7132205" y="475158"/>
            <a:ext cx="1390265" cy="10494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equipos</a:t>
            </a:r>
          </a:p>
        </p:txBody>
      </p:sp>
      <p:sp>
        <p:nvSpPr>
          <p:cNvPr id="188" name="Estrella: 5 puntas 187">
            <a:extLst>
              <a:ext uri="{FF2B5EF4-FFF2-40B4-BE49-F238E27FC236}">
                <a16:creationId xmlns:a16="http://schemas.microsoft.com/office/drawing/2014/main" id="{F8F76A08-F447-06F6-00FD-A17E3DF374CA}"/>
              </a:ext>
            </a:extLst>
          </p:cNvPr>
          <p:cNvSpPr/>
          <p:nvPr/>
        </p:nvSpPr>
        <p:spPr>
          <a:xfrm>
            <a:off x="7074626" y="1478279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DA53FA94-1164-92A0-D3E8-C53C805AA8AD}"/>
              </a:ext>
            </a:extLst>
          </p:cNvPr>
          <p:cNvSpPr txBox="1"/>
          <p:nvPr/>
        </p:nvSpPr>
        <p:spPr>
          <a:xfrm>
            <a:off x="3488870" y="3801836"/>
            <a:ext cx="130628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 y </a:t>
            </a:r>
            <a:r>
              <a:rPr lang="es-ES" sz="600" err="1">
                <a:latin typeface="Reddit Sans"/>
              </a:rPr>
              <a:t>feedback</a:t>
            </a:r>
            <a:r>
              <a:rPr lang="es-ES" sz="600">
                <a:latin typeface="Reddit Sans"/>
              </a:rPr>
              <a:t> del servicio con comercial y la operación</a:t>
            </a:r>
            <a:endParaRPr lang="es-ES"/>
          </a:p>
        </p:txBody>
      </p:sp>
      <p:sp>
        <p:nvSpPr>
          <p:cNvPr id="191" name="Rounded Rectangle 25">
            <a:extLst>
              <a:ext uri="{FF2B5EF4-FFF2-40B4-BE49-F238E27FC236}">
                <a16:creationId xmlns:a16="http://schemas.microsoft.com/office/drawing/2014/main" id="{66139D7D-2607-7644-D34B-609C0AF5FBAD}"/>
              </a:ext>
            </a:extLst>
          </p:cNvPr>
          <p:cNvSpPr/>
          <p:nvPr/>
        </p:nvSpPr>
        <p:spPr>
          <a:xfrm>
            <a:off x="4681941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1</a:t>
            </a:r>
          </a:p>
        </p:txBody>
      </p:sp>
      <p:sp>
        <p:nvSpPr>
          <p:cNvPr id="192" name="Rounded Rectangle 21">
            <a:extLst>
              <a:ext uri="{FF2B5EF4-FFF2-40B4-BE49-F238E27FC236}">
                <a16:creationId xmlns:a16="http://schemas.microsoft.com/office/drawing/2014/main" id="{1FC565A4-3505-DA58-C84A-9AD58B006C87}"/>
              </a:ext>
            </a:extLst>
          </p:cNvPr>
          <p:cNvSpPr/>
          <p:nvPr/>
        </p:nvSpPr>
        <p:spPr>
          <a:xfrm>
            <a:off x="5118344" y="3294557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3" name="CuadroTexto 192">
            <a:extLst>
              <a:ext uri="{FF2B5EF4-FFF2-40B4-BE49-F238E27FC236}">
                <a16:creationId xmlns:a16="http://schemas.microsoft.com/office/drawing/2014/main" id="{69C0F964-3CFE-1B90-9F50-042CB36139F4}"/>
              </a:ext>
            </a:extLst>
          </p:cNvPr>
          <p:cNvSpPr txBox="1"/>
          <p:nvPr/>
        </p:nvSpPr>
        <p:spPr>
          <a:xfrm>
            <a:off x="5034641" y="3126916"/>
            <a:ext cx="12083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Seleccionar herramientas (</a:t>
            </a:r>
            <a:r>
              <a:rPr lang="es-ES" sz="600" err="1">
                <a:latin typeface="Reddit Sans"/>
              </a:rPr>
              <a:t>helpdesk</a:t>
            </a:r>
            <a:r>
              <a:rPr lang="es-ES" sz="600">
                <a:latin typeface="Reddit Sans"/>
              </a:rPr>
              <a:t> y operación)</a:t>
            </a:r>
            <a:endParaRPr lang="es-ES"/>
          </a:p>
        </p:txBody>
      </p:sp>
      <p:sp>
        <p:nvSpPr>
          <p:cNvPr id="194" name="Rounded Rectangle 21">
            <a:extLst>
              <a:ext uri="{FF2B5EF4-FFF2-40B4-BE49-F238E27FC236}">
                <a16:creationId xmlns:a16="http://schemas.microsoft.com/office/drawing/2014/main" id="{DAA21406-89E2-459A-4A5A-DDECF6872EE9}"/>
              </a:ext>
            </a:extLst>
          </p:cNvPr>
          <p:cNvSpPr/>
          <p:nvPr/>
        </p:nvSpPr>
        <p:spPr>
          <a:xfrm>
            <a:off x="5112901" y="3534041"/>
            <a:ext cx="1798482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5" name="CuadroTexto 194">
            <a:extLst>
              <a:ext uri="{FF2B5EF4-FFF2-40B4-BE49-F238E27FC236}">
                <a16:creationId xmlns:a16="http://schemas.microsoft.com/office/drawing/2014/main" id="{08D72159-319B-C816-9563-22D50CE9EB72}"/>
              </a:ext>
            </a:extLst>
          </p:cNvPr>
          <p:cNvSpPr txBox="1"/>
          <p:nvPr/>
        </p:nvSpPr>
        <p:spPr>
          <a:xfrm>
            <a:off x="5034641" y="3399063"/>
            <a:ext cx="1741715" cy="28788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Diseñarla calculadora del servicio (plantilla de estimación)</a:t>
            </a:r>
          </a:p>
        </p:txBody>
      </p:sp>
      <p:sp>
        <p:nvSpPr>
          <p:cNvPr id="196" name="Estrella: 5 puntas 195">
            <a:extLst>
              <a:ext uri="{FF2B5EF4-FFF2-40B4-BE49-F238E27FC236}">
                <a16:creationId xmlns:a16="http://schemas.microsoft.com/office/drawing/2014/main" id="{345742A8-1631-D27D-8C78-D70987FD74A9}"/>
              </a:ext>
            </a:extLst>
          </p:cNvPr>
          <p:cNvSpPr/>
          <p:nvPr/>
        </p:nvSpPr>
        <p:spPr>
          <a:xfrm>
            <a:off x="8310155" y="1434736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8CA14C9F-39C7-1063-9EFF-6685956A8DE9}"/>
              </a:ext>
            </a:extLst>
          </p:cNvPr>
          <p:cNvSpPr/>
          <p:nvPr/>
        </p:nvSpPr>
        <p:spPr>
          <a:xfrm>
            <a:off x="5458097" y="5366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78FAB60E-601B-0A3C-2095-2B4DD2724FB6}"/>
              </a:ext>
            </a:extLst>
          </p:cNvPr>
          <p:cNvSpPr txBox="1"/>
          <p:nvPr/>
        </p:nvSpPr>
        <p:spPr>
          <a:xfrm>
            <a:off x="5589816" y="481146"/>
            <a:ext cx="1605640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diferencial del servicio</a:t>
            </a:r>
          </a:p>
        </p:txBody>
      </p:sp>
      <p:sp>
        <p:nvSpPr>
          <p:cNvPr id="199" name="Rounded Rectangle 21">
            <a:extLst>
              <a:ext uri="{FF2B5EF4-FFF2-40B4-BE49-F238E27FC236}">
                <a16:creationId xmlns:a16="http://schemas.microsoft.com/office/drawing/2014/main" id="{48978DE4-B3E0-0B34-EF8D-C00F491B9C54}"/>
              </a:ext>
            </a:extLst>
          </p:cNvPr>
          <p:cNvSpPr/>
          <p:nvPr/>
        </p:nvSpPr>
        <p:spPr>
          <a:xfrm>
            <a:off x="6038187" y="3147603"/>
            <a:ext cx="2462509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0" name="CuadroTexto 199">
            <a:extLst>
              <a:ext uri="{FF2B5EF4-FFF2-40B4-BE49-F238E27FC236}">
                <a16:creationId xmlns:a16="http://schemas.microsoft.com/office/drawing/2014/main" id="{B6201EDC-CC68-5DD5-5D2C-5382B78A97E6}"/>
              </a:ext>
            </a:extLst>
          </p:cNvPr>
          <p:cNvSpPr txBox="1"/>
          <p:nvPr/>
        </p:nvSpPr>
        <p:spPr>
          <a:xfrm>
            <a:off x="5987139" y="3023501"/>
            <a:ext cx="17798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Crear colaterales nuevo para el equipo comercial</a:t>
            </a:r>
            <a:endParaRPr lang="es-ES"/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A5943974-5799-F84A-1E6E-4C5D982EC9A5}"/>
              </a:ext>
            </a:extLst>
          </p:cNvPr>
          <p:cNvSpPr/>
          <p:nvPr/>
        </p:nvSpPr>
        <p:spPr>
          <a:xfrm>
            <a:off x="7066890" y="4252501"/>
            <a:ext cx="1450137" cy="8861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 evolución del servicio</a:t>
            </a:r>
            <a:endParaRPr lang="es-ES"/>
          </a:p>
        </p:txBody>
      </p:sp>
      <p:sp>
        <p:nvSpPr>
          <p:cNvPr id="205" name="Rounded Rectangle 21">
            <a:extLst>
              <a:ext uri="{FF2B5EF4-FFF2-40B4-BE49-F238E27FC236}">
                <a16:creationId xmlns:a16="http://schemas.microsoft.com/office/drawing/2014/main" id="{B9738A09-EF12-CD41-21D1-CC5398A921D7}"/>
              </a:ext>
            </a:extLst>
          </p:cNvPr>
          <p:cNvSpPr/>
          <p:nvPr/>
        </p:nvSpPr>
        <p:spPr>
          <a:xfrm>
            <a:off x="6299444" y="3365312"/>
            <a:ext cx="2174039" cy="77725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EAB8AC16-1A75-B07B-67E5-8D9032D8199F}"/>
              </a:ext>
            </a:extLst>
          </p:cNvPr>
          <p:cNvSpPr txBox="1"/>
          <p:nvPr/>
        </p:nvSpPr>
        <p:spPr>
          <a:xfrm>
            <a:off x="6264726" y="3214003"/>
            <a:ext cx="20465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Crear colaterales nuevos para el equipo de la operación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9EC06F50-C9B0-C182-6C30-B084237CFC3F}"/>
              </a:ext>
            </a:extLst>
          </p:cNvPr>
          <p:cNvSpPr/>
          <p:nvPr/>
        </p:nvSpPr>
        <p:spPr>
          <a:xfrm>
            <a:off x="7611172" y="3512268"/>
            <a:ext cx="911297" cy="8861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BD3B7044-81A8-6135-06D6-F5AE7632D3C3}"/>
              </a:ext>
            </a:extLst>
          </p:cNvPr>
          <p:cNvSpPr txBox="1"/>
          <p:nvPr/>
        </p:nvSpPr>
        <p:spPr>
          <a:xfrm>
            <a:off x="7603671" y="3366401"/>
            <a:ext cx="1540327" cy="28788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Inicio actualización del servicio en la herramienta de procesos</a:t>
            </a:r>
            <a:endParaRPr lang="es-ES" err="1"/>
          </a:p>
        </p:txBody>
      </p:sp>
      <p:sp>
        <p:nvSpPr>
          <p:cNvPr id="210" name="Rounded Rectangle 25">
            <a:extLst>
              <a:ext uri="{FF2B5EF4-FFF2-40B4-BE49-F238E27FC236}">
                <a16:creationId xmlns:a16="http://schemas.microsoft.com/office/drawing/2014/main" id="{48BA21B8-BFDD-F15E-4383-2279F41541CA}"/>
              </a:ext>
            </a:extLst>
          </p:cNvPr>
          <p:cNvSpPr/>
          <p:nvPr/>
        </p:nvSpPr>
        <p:spPr>
          <a:xfrm>
            <a:off x="7093126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2</a:t>
            </a:r>
          </a:p>
        </p:txBody>
      </p:sp>
      <p:sp>
        <p:nvSpPr>
          <p:cNvPr id="211" name="Rounded Rectangle 25">
            <a:extLst>
              <a:ext uri="{FF2B5EF4-FFF2-40B4-BE49-F238E27FC236}">
                <a16:creationId xmlns:a16="http://schemas.microsoft.com/office/drawing/2014/main" id="{1B6AE260-61CA-AA80-3B00-3F546B8BF826}"/>
              </a:ext>
            </a:extLst>
          </p:cNvPr>
          <p:cNvSpPr/>
          <p:nvPr/>
        </p:nvSpPr>
        <p:spPr>
          <a:xfrm>
            <a:off x="7060470" y="3985800"/>
            <a:ext cx="12930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operación wave 2</a:t>
            </a:r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DB14376C-3161-23CF-ACD5-56D60B8F507C}"/>
              </a:ext>
            </a:extLst>
          </p:cNvPr>
          <p:cNvSpPr/>
          <p:nvPr/>
        </p:nvSpPr>
        <p:spPr>
          <a:xfrm>
            <a:off x="4919253" y="14510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Estrella: 5 puntas 3">
            <a:extLst>
              <a:ext uri="{FF2B5EF4-FFF2-40B4-BE49-F238E27FC236}">
                <a16:creationId xmlns:a16="http://schemas.microsoft.com/office/drawing/2014/main" id="{99DF5D9D-28AF-64CF-DE50-4E59BB2DBA3A}"/>
              </a:ext>
            </a:extLst>
          </p:cNvPr>
          <p:cNvSpPr/>
          <p:nvPr/>
        </p:nvSpPr>
        <p:spPr>
          <a:xfrm>
            <a:off x="6780710" y="14510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5F327D-4348-70E7-13D6-32A2BAE2F8BE}"/>
              </a:ext>
            </a:extLst>
          </p:cNvPr>
          <p:cNvSpPr txBox="1"/>
          <p:nvPr/>
        </p:nvSpPr>
        <p:spPr>
          <a:xfrm>
            <a:off x="332015" y="884464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F4156A76-728E-D91D-CFF1-BF69AF932F73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E1A0AA3D-88E5-3D13-D465-B35D6F9C4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156554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/>
              <a:t>Roadmap Mesa de Servicios de Nueva Generación</a:t>
            </a:r>
            <a:br>
              <a:rPr lang="es-ES"/>
            </a:br>
            <a:r>
              <a:rPr lang="es-ES" sz="1400" b="0"/>
              <a:t>Modelos de Transición</a:t>
            </a:r>
            <a:endParaRPr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3FA27DD-8793-A77E-F267-901278F387A3}"/>
              </a:ext>
            </a:extLst>
          </p:cNvPr>
          <p:cNvSpPr txBox="1"/>
          <p:nvPr/>
        </p:nvSpPr>
        <p:spPr>
          <a:xfrm>
            <a:off x="283027" y="1183819"/>
            <a:ext cx="919845" cy="4055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rgbClr val="595959"/>
                </a:solidFill>
                <a:latin typeface="Reddit Sans"/>
              </a:rPr>
              <a:t>Modelos</a:t>
            </a:r>
            <a:r>
              <a:rPr lang="es-ES" sz="1000" b="1" u="none" strike="noStrike" baseline="0">
                <a:solidFill>
                  <a:srgbClr val="595959"/>
                </a:solidFill>
                <a:latin typeface="Reddit Sans"/>
              </a:rPr>
              <a:t> </a:t>
            </a:r>
            <a:r>
              <a:rPr lang="es-ES" sz="1000" b="1">
                <a:solidFill>
                  <a:srgbClr val="595959"/>
                </a:solidFill>
                <a:latin typeface="Reddit Sans"/>
              </a:rPr>
              <a:t>de operación</a:t>
            </a:r>
            <a:endParaRPr lang="es-ES" b="1">
              <a:solidFill>
                <a:srgbClr val="595959"/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E9408C5F-E950-AF15-64CE-64E635604BF3}"/>
              </a:ext>
            </a:extLst>
          </p:cNvPr>
          <p:cNvSpPr/>
          <p:nvPr/>
        </p:nvSpPr>
        <p:spPr>
          <a:xfrm>
            <a:off x="1229096" y="1194161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3A53E36D-15CA-5D71-2B69-A70F4DDB6310}"/>
              </a:ext>
            </a:extLst>
          </p:cNvPr>
          <p:cNvSpPr/>
          <p:nvPr/>
        </p:nvSpPr>
        <p:spPr>
          <a:xfrm>
            <a:off x="4364185" y="1194164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900">
              <a:solidFill>
                <a:schemeClr val="tx1"/>
              </a:solidFill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E414F6A8-1018-D7BC-1DD7-6692C22AEF41}"/>
              </a:ext>
            </a:extLst>
          </p:cNvPr>
          <p:cNvSpPr/>
          <p:nvPr/>
        </p:nvSpPr>
        <p:spPr>
          <a:xfrm>
            <a:off x="6622968" y="1199604"/>
            <a:ext cx="1871799" cy="28684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9633E68C-6E3F-DB3B-22B6-05B421634494}"/>
              </a:ext>
            </a:extLst>
          </p:cNvPr>
          <p:cNvSpPr/>
          <p:nvPr/>
        </p:nvSpPr>
        <p:spPr>
          <a:xfrm>
            <a:off x="1224351" y="1485024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B050ACB-3FB6-E019-C71A-4572E0D00025}"/>
              </a:ext>
            </a:extLst>
          </p:cNvPr>
          <p:cNvSpPr txBox="1"/>
          <p:nvPr/>
        </p:nvSpPr>
        <p:spPr>
          <a:xfrm>
            <a:off x="4000500" y="148317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723865-5A41-F725-C91B-0057835821BF}"/>
              </a:ext>
            </a:extLst>
          </p:cNvPr>
          <p:cNvSpPr txBox="1"/>
          <p:nvPr/>
        </p:nvSpPr>
        <p:spPr>
          <a:xfrm>
            <a:off x="7222670" y="1483176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0CD3CD7E-9620-69A8-67EC-DED704E8E1E1}"/>
              </a:ext>
            </a:extLst>
          </p:cNvPr>
          <p:cNvCxnSpPr/>
          <p:nvPr/>
        </p:nvCxnSpPr>
        <p:spPr>
          <a:xfrm>
            <a:off x="6574971" y="1492704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E04F3D4-2E69-CCF8-C888-FC89A4983DD7}"/>
              </a:ext>
            </a:extLst>
          </p:cNvPr>
          <p:cNvSpPr txBox="1"/>
          <p:nvPr/>
        </p:nvSpPr>
        <p:spPr>
          <a:xfrm>
            <a:off x="1963509" y="1666874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4970034-3526-F52C-92F3-D759F2021FAF}"/>
              </a:ext>
            </a:extLst>
          </p:cNvPr>
          <p:cNvSpPr txBox="1"/>
          <p:nvPr/>
        </p:nvSpPr>
        <p:spPr>
          <a:xfrm>
            <a:off x="3710665" y="1672317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8A3F251-7D3F-1B69-7AB5-392781C71481}"/>
              </a:ext>
            </a:extLst>
          </p:cNvPr>
          <p:cNvSpPr txBox="1"/>
          <p:nvPr/>
        </p:nvSpPr>
        <p:spPr>
          <a:xfrm>
            <a:off x="5343521" y="1666874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BE015285-C0C4-0359-3C2B-226C613353D8}"/>
              </a:ext>
            </a:extLst>
          </p:cNvPr>
          <p:cNvSpPr txBox="1"/>
          <p:nvPr/>
        </p:nvSpPr>
        <p:spPr>
          <a:xfrm>
            <a:off x="7123337" y="1666874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45014E92-E35F-0381-2BD8-5CDA490D1AB8}"/>
              </a:ext>
            </a:extLst>
          </p:cNvPr>
          <p:cNvCxnSpPr/>
          <p:nvPr/>
        </p:nvCxnSpPr>
        <p:spPr>
          <a:xfrm>
            <a:off x="2955472" y="1699531"/>
            <a:ext cx="18504" cy="25676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3F2F33F-D377-1629-4288-1ADCDA614014}"/>
              </a:ext>
            </a:extLst>
          </p:cNvPr>
          <p:cNvCxnSpPr>
            <a:cxnSpLocks/>
          </p:cNvCxnSpPr>
          <p:nvPr/>
        </p:nvCxnSpPr>
        <p:spPr>
          <a:xfrm>
            <a:off x="4800600" y="1672316"/>
            <a:ext cx="13062" cy="2605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F5C5A59F-D40D-E871-B46E-4447C66ED326}"/>
              </a:ext>
            </a:extLst>
          </p:cNvPr>
          <p:cNvCxnSpPr>
            <a:cxnSpLocks/>
          </p:cNvCxnSpPr>
          <p:nvPr/>
        </p:nvCxnSpPr>
        <p:spPr>
          <a:xfrm>
            <a:off x="6569528" y="1677759"/>
            <a:ext cx="34835" cy="258943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C991B8E-021B-EC77-E034-CBEA633B4016}"/>
              </a:ext>
            </a:extLst>
          </p:cNvPr>
          <p:cNvSpPr txBox="1"/>
          <p:nvPr/>
        </p:nvSpPr>
        <p:spPr>
          <a:xfrm>
            <a:off x="1202869" y="2168977"/>
            <a:ext cx="1850572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Nivel de madurez mesas actuales</a:t>
            </a:r>
            <a:endParaRPr lang="es-ES" sz="700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Dolores de la operación - Pain </a:t>
            </a:r>
            <a:r>
              <a:rPr lang="es-ES" sz="700" err="1">
                <a:latin typeface="Reddit Sans"/>
              </a:rPr>
              <a:t>point</a:t>
            </a: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Oferta de valor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Esquema general del servicio – Business Service Blue Print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FC94FAC-A03D-2BBF-4601-BBD72FF20A2A}"/>
              </a:ext>
            </a:extLst>
          </p:cNvPr>
          <p:cNvSpPr txBox="1"/>
          <p:nvPr/>
        </p:nvSpPr>
        <p:spPr>
          <a:xfrm>
            <a:off x="3009897" y="2141763"/>
            <a:ext cx="1850572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Slide </a:t>
            </a:r>
            <a:r>
              <a:rPr lang="es-ES" sz="700" err="1">
                <a:latin typeface="Reddit Sans"/>
              </a:rPr>
              <a:t>deck</a:t>
            </a:r>
            <a:r>
              <a:rPr lang="es-ES" sz="700">
                <a:latin typeface="Reddit Sans"/>
              </a:rPr>
              <a:t> para comercial transición del servicio</a:t>
            </a:r>
            <a:endParaRPr lang="es-ES" sz="700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Slide </a:t>
            </a:r>
            <a:r>
              <a:rPr lang="es-ES" sz="700" err="1">
                <a:latin typeface="Reddit Sans"/>
              </a:rPr>
              <a:t>deck</a:t>
            </a:r>
            <a:r>
              <a:rPr lang="es-ES" sz="700">
                <a:latin typeface="Reddit Sans"/>
              </a:rPr>
              <a:t> para operación transición del servicio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Validación estandarización del servicio con comercial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Diseñar plan de transición operación actual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Habilitación equipo comercial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Habilitación equipo de la operación wave 1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Lanzamiento diferencial del servicio estandarizado de mesas de servicio de próxima generación</a:t>
            </a: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D67D610-C9FA-B84E-1049-D4AA7C737DDC}"/>
              </a:ext>
            </a:extLst>
          </p:cNvPr>
          <p:cNvSpPr txBox="1"/>
          <p:nvPr/>
        </p:nvSpPr>
        <p:spPr>
          <a:xfrm>
            <a:off x="4795155" y="2141763"/>
            <a:ext cx="1850572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Habilitación cliente sobre la evolución del servicio wave 1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Ejecutar plan de transición para los clientes de la wave 1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Calculadora del servicio (plantilla de estimación)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creación colaterales equipos comercial (propuestas, contratos, ...) del servicio nuevo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creación colaterales equipos de la operación del servicio nuevo</a:t>
            </a:r>
            <a:endParaRPr lang="es-ES" sz="700"/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Lanzamiento diferencial del servicio estandarizado de mesas de servicio de próxima generación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</p:txBody>
      </p:sp>
      <p:sp>
        <p:nvSpPr>
          <p:cNvPr id="67" name="Estrella: 5 puntas 66">
            <a:extLst>
              <a:ext uri="{FF2B5EF4-FFF2-40B4-BE49-F238E27FC236}">
                <a16:creationId xmlns:a16="http://schemas.microsoft.com/office/drawing/2014/main" id="{FE56A9FC-4DA0-EA9E-B693-65DC3D0DFD1C}"/>
              </a:ext>
            </a:extLst>
          </p:cNvPr>
          <p:cNvSpPr/>
          <p:nvPr/>
        </p:nvSpPr>
        <p:spPr>
          <a:xfrm>
            <a:off x="1865811" y="1712322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9" name="Estrella: 5 puntas 68">
            <a:extLst>
              <a:ext uri="{FF2B5EF4-FFF2-40B4-BE49-F238E27FC236}">
                <a16:creationId xmlns:a16="http://schemas.microsoft.com/office/drawing/2014/main" id="{6A96B953-3EAE-34E6-E7AB-9509AE1EB014}"/>
              </a:ext>
            </a:extLst>
          </p:cNvPr>
          <p:cNvSpPr/>
          <p:nvPr/>
        </p:nvSpPr>
        <p:spPr>
          <a:xfrm>
            <a:off x="6954883" y="1739536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TextBox 14">
            <a:extLst>
              <a:ext uri="{FF2B5EF4-FFF2-40B4-BE49-F238E27FC236}">
                <a16:creationId xmlns:a16="http://schemas.microsoft.com/office/drawing/2014/main" id="{CE1FE641-FA41-1611-A826-E22AF35DB61D}"/>
              </a:ext>
            </a:extLst>
          </p:cNvPr>
          <p:cNvSpPr txBox="1"/>
          <p:nvPr/>
        </p:nvSpPr>
        <p:spPr>
          <a:xfrm>
            <a:off x="4975963" y="1768387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1ª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8CE9423A-756E-9604-472D-001E3E81D468}"/>
              </a:ext>
            </a:extLst>
          </p:cNvPr>
          <p:cNvSpPr txBox="1"/>
          <p:nvPr/>
        </p:nvSpPr>
        <p:spPr>
          <a:xfrm>
            <a:off x="7893335" y="1713957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5" name="Estrella: 5 puntas 74">
            <a:extLst>
              <a:ext uri="{FF2B5EF4-FFF2-40B4-BE49-F238E27FC236}">
                <a16:creationId xmlns:a16="http://schemas.microsoft.com/office/drawing/2014/main" id="{81F313C5-5B53-A963-0933-5D3806C604DB}"/>
              </a:ext>
            </a:extLst>
          </p:cNvPr>
          <p:cNvSpPr/>
          <p:nvPr/>
        </p:nvSpPr>
        <p:spPr>
          <a:xfrm>
            <a:off x="7744097" y="1739535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242F2B6-8686-2AA1-C6E7-A7C77DB8EC93}"/>
              </a:ext>
            </a:extLst>
          </p:cNvPr>
          <p:cNvSpPr txBox="1"/>
          <p:nvPr/>
        </p:nvSpPr>
        <p:spPr>
          <a:xfrm>
            <a:off x="6928759" y="56605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</a:p>
        </p:txBody>
      </p:sp>
      <p:sp>
        <p:nvSpPr>
          <p:cNvPr id="79" name="Estrella: 5 puntas 78">
            <a:extLst>
              <a:ext uri="{FF2B5EF4-FFF2-40B4-BE49-F238E27FC236}">
                <a16:creationId xmlns:a16="http://schemas.microsoft.com/office/drawing/2014/main" id="{4D253D2B-D6F0-01C7-B0A6-6ABFEA98A181}"/>
              </a:ext>
            </a:extLst>
          </p:cNvPr>
          <p:cNvSpPr/>
          <p:nvPr/>
        </p:nvSpPr>
        <p:spPr>
          <a:xfrm>
            <a:off x="6791598" y="101236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77344D26-50FF-1B85-A155-2B5D83898AD9}"/>
              </a:ext>
            </a:extLst>
          </p:cNvPr>
          <p:cNvSpPr txBox="1"/>
          <p:nvPr/>
        </p:nvSpPr>
        <p:spPr>
          <a:xfrm>
            <a:off x="6928759" y="274316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AWS, Medicarte</a:t>
            </a:r>
          </a:p>
        </p:txBody>
      </p:sp>
      <p:sp>
        <p:nvSpPr>
          <p:cNvPr id="83" name="Estrella: 5 puntas 82">
            <a:extLst>
              <a:ext uri="{FF2B5EF4-FFF2-40B4-BE49-F238E27FC236}">
                <a16:creationId xmlns:a16="http://schemas.microsoft.com/office/drawing/2014/main" id="{D30AAF17-737D-3CBC-3FDD-0324F5E06EAF}"/>
              </a:ext>
            </a:extLst>
          </p:cNvPr>
          <p:cNvSpPr/>
          <p:nvPr/>
        </p:nvSpPr>
        <p:spPr>
          <a:xfrm>
            <a:off x="6791598" y="313507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5" name="Estrella: 5 puntas 84">
            <a:extLst>
              <a:ext uri="{FF2B5EF4-FFF2-40B4-BE49-F238E27FC236}">
                <a16:creationId xmlns:a16="http://schemas.microsoft.com/office/drawing/2014/main" id="{D96B36E2-EE26-D336-A4A4-5DA35E386A50}"/>
              </a:ext>
            </a:extLst>
          </p:cNvPr>
          <p:cNvSpPr/>
          <p:nvPr/>
        </p:nvSpPr>
        <p:spPr>
          <a:xfrm>
            <a:off x="6797040" y="520335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C692534-F65E-5138-FDEF-C0B07CBF6B31}"/>
              </a:ext>
            </a:extLst>
          </p:cNvPr>
          <p:cNvSpPr txBox="1"/>
          <p:nvPr/>
        </p:nvSpPr>
        <p:spPr>
          <a:xfrm>
            <a:off x="6906988" y="464817"/>
            <a:ext cx="1605640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diferencial del servicio</a:t>
            </a:r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3C497DDC-BF2A-0C01-A11A-988B41A22048}"/>
              </a:ext>
            </a:extLst>
          </p:cNvPr>
          <p:cNvSpPr txBox="1"/>
          <p:nvPr/>
        </p:nvSpPr>
        <p:spPr>
          <a:xfrm>
            <a:off x="6629397" y="2038347"/>
            <a:ext cx="2035629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Entregar colaterales nuevos equipos comercial (propuestas, contratos, ...)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Entregar colaterales nuevos equipos de la operación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Actualización del servicio en la herramienta de procesos</a:t>
            </a:r>
            <a:endParaRPr lang="es-ES" sz="700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Lanzamiento diferencial del servicio estandarizado de mesas de servicio de próxima generación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Identificar automatizaciones y evolución continua del servicio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Habilitación equipo de la operación wave 2</a:t>
            </a:r>
            <a:endParaRPr lang="es-ES" sz="700">
              <a:ea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Habilitación cliente sobre la evolución del servicio wave 2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Planes de evolución del servicio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57C66A2-0B02-7C63-4168-3B103B675062}"/>
              </a:ext>
            </a:extLst>
          </p:cNvPr>
          <p:cNvSpPr txBox="1"/>
          <p:nvPr/>
        </p:nvSpPr>
        <p:spPr>
          <a:xfrm>
            <a:off x="6851468" y="4614455"/>
            <a:ext cx="1094015" cy="21544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800">
                <a:hlinkClick r:id="rId2"/>
              </a:rPr>
              <a:t>Planning detallado</a:t>
            </a:r>
            <a:endParaRPr lang="es-ES" sz="800"/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512CA054-7A64-622B-A6F1-CFDD5230A1E8}"/>
              </a:ext>
            </a:extLst>
          </p:cNvPr>
          <p:cNvSpPr/>
          <p:nvPr/>
        </p:nvSpPr>
        <p:spPr>
          <a:xfrm>
            <a:off x="4674325" y="1712320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Estrella: 5 puntas 3">
            <a:extLst>
              <a:ext uri="{FF2B5EF4-FFF2-40B4-BE49-F238E27FC236}">
                <a16:creationId xmlns:a16="http://schemas.microsoft.com/office/drawing/2014/main" id="{0B845369-57A4-D81E-9C0F-4456A20CFD6A}"/>
              </a:ext>
            </a:extLst>
          </p:cNvPr>
          <p:cNvSpPr/>
          <p:nvPr/>
        </p:nvSpPr>
        <p:spPr>
          <a:xfrm>
            <a:off x="6339839" y="1761306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293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ounded Rectangle 21">
            <a:extLst>
              <a:ext uri="{FF2B5EF4-FFF2-40B4-BE49-F238E27FC236}">
                <a16:creationId xmlns:a16="http://schemas.microsoft.com/office/drawing/2014/main" id="{78BCCFF6-52DE-1F0A-746F-277D3F38DBA8}"/>
              </a:ext>
            </a:extLst>
          </p:cNvPr>
          <p:cNvSpPr/>
          <p:nvPr/>
        </p:nvSpPr>
        <p:spPr>
          <a:xfrm>
            <a:off x="3839274" y="2597873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29691" y="113013"/>
            <a:ext cx="4362899" cy="632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b="0"/>
              <a:t>Servicio Optimo y Estandarizado</a:t>
            </a:r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0DF15F0-FF17-5A64-3A08-576CB041A069}"/>
              </a:ext>
            </a:extLst>
          </p:cNvPr>
          <p:cNvGrpSpPr/>
          <p:nvPr/>
        </p:nvGrpSpPr>
        <p:grpSpPr>
          <a:xfrm>
            <a:off x="369335" y="2262483"/>
            <a:ext cx="1104899" cy="598355"/>
            <a:chOff x="374777" y="2262484"/>
            <a:chExt cx="1104899" cy="494940"/>
          </a:xfrm>
        </p:grpSpPr>
        <p:sp>
          <p:nvSpPr>
            <p:cNvPr id="143" name="OTLSHAPE_SL_79f05e8de72e4cc385fce875fa65517f_HeaderRectangle">
              <a:extLst>
                <a:ext uri="{FF2B5EF4-FFF2-40B4-BE49-F238E27FC236}">
                  <a16:creationId xmlns:a16="http://schemas.microsoft.com/office/drawing/2014/main" id="{3B6C005C-DF51-C63C-277B-B435DA0CDD80}"/>
                </a:ext>
              </a:extLst>
            </p:cNvPr>
            <p:cNvSpPr/>
            <p:nvPr/>
          </p:nvSpPr>
          <p:spPr>
            <a:xfrm>
              <a:off x="374777" y="2262484"/>
              <a:ext cx="1104899" cy="49494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B72BFF-D543-CF03-ED0E-3CFA2E0844E3}"/>
                </a:ext>
              </a:extLst>
            </p:cNvPr>
            <p:cNvSpPr txBox="1"/>
            <p:nvPr/>
          </p:nvSpPr>
          <p:spPr>
            <a:xfrm>
              <a:off x="449681" y="2307771"/>
              <a:ext cx="933219" cy="415498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Diseño</a:t>
              </a:r>
              <a:r>
                <a:rPr sz="700" b="1">
                  <a:latin typeface="Reddit Sans"/>
                  <a:ea typeface="Reddit Sans"/>
                </a:rPr>
                <a:t> del</a:t>
              </a:r>
              <a:r>
                <a:rPr lang="es-ES" sz="700" b="1">
                  <a:latin typeface="Reddit Sans"/>
                  <a:ea typeface="Reddit San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Servicio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Optimo (N5)</a:t>
              </a:r>
              <a:endParaRPr lang="es-ES" sz="700" b="1"/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2E78205B-540C-085C-7C57-42A624851715}"/>
              </a:ext>
            </a:extLst>
          </p:cNvPr>
          <p:cNvGrpSpPr/>
          <p:nvPr/>
        </p:nvGrpSpPr>
        <p:grpSpPr>
          <a:xfrm>
            <a:off x="374778" y="2893852"/>
            <a:ext cx="1099458" cy="582031"/>
            <a:chOff x="380220" y="2812210"/>
            <a:chExt cx="1099458" cy="358874"/>
          </a:xfrm>
        </p:grpSpPr>
        <p:sp>
          <p:nvSpPr>
            <p:cNvPr id="144" name="OTLSHAPE_SL_79f05e8de72e4cc385fce875fa65517f_HeaderRectangle">
              <a:extLst>
                <a:ext uri="{FF2B5EF4-FFF2-40B4-BE49-F238E27FC236}">
                  <a16:creationId xmlns:a16="http://schemas.microsoft.com/office/drawing/2014/main" id="{A5F021EF-C10E-00A3-2323-7E60D70FF2B4}"/>
                </a:ext>
              </a:extLst>
            </p:cNvPr>
            <p:cNvSpPr/>
            <p:nvPr/>
          </p:nvSpPr>
          <p:spPr>
            <a:xfrm>
              <a:off x="380220" y="2812210"/>
              <a:ext cx="1099458" cy="35887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311ED60-70CF-2CCC-5BB1-80EACE70EC27}"/>
                </a:ext>
              </a:extLst>
            </p:cNvPr>
            <p:cNvSpPr txBox="1"/>
            <p:nvPr/>
          </p:nvSpPr>
          <p:spPr>
            <a:xfrm>
              <a:off x="455284" y="2889756"/>
              <a:ext cx="960554" cy="22884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defRPr sz="1300" b="1">
                  <a:solidFill>
                    <a:srgbClr val="3C3C3C"/>
                  </a:solidFill>
                </a:defRPr>
              </a:pPr>
              <a:r>
                <a:rPr lang="es-CO" sz="700" b="1" err="1">
                  <a:latin typeface="Reddit Sans"/>
                  <a:ea typeface="Reddit Sans"/>
                </a:rPr>
                <a:t>Productización</a:t>
              </a:r>
              <a:r>
                <a:rPr lang="es-CO" sz="700" b="1">
                  <a:latin typeface="Reddit Sans"/>
                  <a:ea typeface="Reddit Sans"/>
                </a:rPr>
                <a:t> del Servicio </a:t>
              </a:r>
              <a:endParaRPr lang="es-CO" sz="700">
                <a:latin typeface="Reddit Sans"/>
                <a:ea typeface="Reddit Sans"/>
              </a:endParaRP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A2C45A1E-D703-2A96-A3B0-27528A0481E3}"/>
              </a:ext>
            </a:extLst>
          </p:cNvPr>
          <p:cNvGrpSpPr/>
          <p:nvPr/>
        </p:nvGrpSpPr>
        <p:grpSpPr>
          <a:xfrm>
            <a:off x="374778" y="3508896"/>
            <a:ext cx="1099458" cy="364318"/>
            <a:chOff x="374777" y="3236753"/>
            <a:chExt cx="1099458" cy="424189"/>
          </a:xfrm>
        </p:grpSpPr>
        <p:sp>
          <p:nvSpPr>
            <p:cNvPr id="145" name="OTLSHAPE_SL_79f05e8de72e4cc385fce875fa65517f_HeaderRectangle">
              <a:extLst>
                <a:ext uri="{FF2B5EF4-FFF2-40B4-BE49-F238E27FC236}">
                  <a16:creationId xmlns:a16="http://schemas.microsoft.com/office/drawing/2014/main" id="{E1B84A3B-3A8B-3783-5D29-A956A64588F1}"/>
                </a:ext>
              </a:extLst>
            </p:cNvPr>
            <p:cNvSpPr/>
            <p:nvPr/>
          </p:nvSpPr>
          <p:spPr>
            <a:xfrm>
              <a:off x="374777" y="3236753"/>
              <a:ext cx="1099458" cy="42418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19A7F53-C2C8-0962-735A-726BC7B1B042}"/>
                </a:ext>
              </a:extLst>
            </p:cNvPr>
            <p:cNvSpPr txBox="1"/>
            <p:nvPr/>
          </p:nvSpPr>
          <p:spPr>
            <a:xfrm>
              <a:off x="487318" y="3292930"/>
              <a:ext cx="895948" cy="30777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sz="700" b="1" kern="1200">
                  <a:latin typeface="Reddit Sans"/>
                  <a:ea typeface="Reddit Sans"/>
                  <a:cs typeface="+mn-cs"/>
                </a:rPr>
                <a:t>Piloto 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Cliente</a:t>
              </a:r>
              <a:r>
                <a:rPr sz="700" b="1" kern="1200">
                  <a:latin typeface="Reddit Sans"/>
                  <a:ea typeface="Reddit Sans"/>
                  <a:cs typeface="+mn-cs"/>
                </a:rPr>
                <a:t> 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Nuevo</a:t>
              </a:r>
              <a:endParaRPr sz="700" b="1" kern="1200">
                <a:latin typeface="Reddit Sans"/>
                <a:ea typeface="Reddit Sans"/>
                <a:cs typeface="+mn-cs"/>
              </a:endParaRPr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F2A19EBF-3014-9A47-AE93-48A5D6B015C7}"/>
              </a:ext>
            </a:extLst>
          </p:cNvPr>
          <p:cNvGrpSpPr/>
          <p:nvPr/>
        </p:nvGrpSpPr>
        <p:grpSpPr>
          <a:xfrm>
            <a:off x="374776" y="4330766"/>
            <a:ext cx="1099458" cy="467731"/>
            <a:chOff x="374776" y="4113052"/>
            <a:chExt cx="1099458" cy="467731"/>
          </a:xfrm>
        </p:grpSpPr>
        <p:sp>
          <p:nvSpPr>
            <p:cNvPr id="147" name="OTLSHAPE_SL_79f05e8de72e4cc385fce875fa65517f_HeaderRectangle">
              <a:extLst>
                <a:ext uri="{FF2B5EF4-FFF2-40B4-BE49-F238E27FC236}">
                  <a16:creationId xmlns:a16="http://schemas.microsoft.com/office/drawing/2014/main" id="{8F033BD4-E602-272F-7902-F203B6C6FADF}"/>
                </a:ext>
              </a:extLst>
            </p:cNvPr>
            <p:cNvSpPr/>
            <p:nvPr/>
          </p:nvSpPr>
          <p:spPr>
            <a:xfrm>
              <a:off x="374776" y="4113052"/>
              <a:ext cx="1099458" cy="4677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F79083F-6844-07ED-2968-D80C5002C8E9}"/>
                </a:ext>
              </a:extLst>
            </p:cNvPr>
            <p:cNvSpPr txBox="1"/>
            <p:nvPr/>
          </p:nvSpPr>
          <p:spPr>
            <a:xfrm>
              <a:off x="609071" y="4147458"/>
              <a:ext cx="625492" cy="415498"/>
            </a:xfrm>
            <a:prstGeom prst="rect">
              <a:avLst/>
            </a:prstGeom>
            <a:noFill/>
          </p:spPr>
          <p:txBody>
            <a:bodyPr wrap="non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700" b="1" kern="1200">
                  <a:latin typeface="Reddit Sans"/>
                  <a:ea typeface="Reddit Sans"/>
                  <a:cs typeface="+mn-cs"/>
                </a:rPr>
                <a:t>Transición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kern="1200">
                  <a:latin typeface="Reddit Sans"/>
                  <a:ea typeface="Reddit Sans"/>
                  <a:cs typeface="+mn-cs"/>
                </a:rPr>
                <a:t>Clientes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kern="1200">
                  <a:latin typeface="Reddit Sans"/>
                  <a:ea typeface="Reddit Sans"/>
                  <a:cs typeface="+mn-cs"/>
                </a:rPr>
                <a:t>Existentes</a:t>
              </a:r>
              <a:endParaRPr lang="es-ES" sz="700">
                <a:cs typeface="+mn-cs"/>
              </a:endParaRPr>
            </a:p>
          </p:txBody>
        </p: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BFA47FE2-A6AF-D00F-83A0-B091DEA1B9F5}"/>
              </a:ext>
            </a:extLst>
          </p:cNvPr>
          <p:cNvGrpSpPr/>
          <p:nvPr/>
        </p:nvGrpSpPr>
        <p:grpSpPr>
          <a:xfrm>
            <a:off x="374775" y="3938881"/>
            <a:ext cx="1099458" cy="358874"/>
            <a:chOff x="374775" y="3715724"/>
            <a:chExt cx="1099458" cy="358874"/>
          </a:xfrm>
        </p:grpSpPr>
        <p:sp>
          <p:nvSpPr>
            <p:cNvPr id="146" name="OTLSHAPE_SL_79f05e8de72e4cc385fce875fa65517f_HeaderRectangle">
              <a:extLst>
                <a:ext uri="{FF2B5EF4-FFF2-40B4-BE49-F238E27FC236}">
                  <a16:creationId xmlns:a16="http://schemas.microsoft.com/office/drawing/2014/main" id="{8B6280EC-8BC9-4B04-CDFE-3ECF08AD4E33}"/>
                </a:ext>
              </a:extLst>
            </p:cNvPr>
            <p:cNvSpPr/>
            <p:nvPr/>
          </p:nvSpPr>
          <p:spPr>
            <a:xfrm>
              <a:off x="374775" y="3715724"/>
              <a:ext cx="1099458" cy="35887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19D1D67-A365-B731-0ABC-A7A7C6C203BC}"/>
                </a:ext>
              </a:extLst>
            </p:cNvPr>
            <p:cNvSpPr txBox="1"/>
            <p:nvPr/>
          </p:nvSpPr>
          <p:spPr>
            <a:xfrm>
              <a:off x="422099" y="3731078"/>
              <a:ext cx="987914" cy="30777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sz="700" b="1" kern="1200">
                  <a:latin typeface="Reddit Sans"/>
                  <a:ea typeface="Reddit Sans"/>
                  <a:cs typeface="+mn-cs"/>
                </a:rPr>
                <a:t>Lanzamiento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 servicio nuevo</a:t>
              </a:r>
              <a:endParaRPr lang="es-ES" sz="700" b="1" kern="1200">
                <a:latin typeface="Reddit Sans"/>
                <a:ea typeface="Reddit Sans"/>
              </a:endParaRPr>
            </a:p>
          </p:txBody>
        </p:sp>
      </p:grp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87602290-382C-F064-EF7A-3172019619BC}"/>
              </a:ext>
            </a:extLst>
          </p:cNvPr>
          <p:cNvSpPr/>
          <p:nvPr/>
        </p:nvSpPr>
        <p:spPr>
          <a:xfrm>
            <a:off x="1558717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E6283EB-B92E-463D-4350-C26DBFB19BB3}"/>
              </a:ext>
            </a:extLst>
          </p:cNvPr>
          <p:cNvSpPr txBox="1"/>
          <p:nvPr/>
        </p:nvSpPr>
        <p:spPr>
          <a:xfrm>
            <a:off x="326570" y="922562"/>
            <a:ext cx="1181103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rgbClr val="00717D"/>
                </a:solidFill>
                <a:ea typeface="Reddit Sans"/>
              </a:rPr>
              <a:t>Modelos de entrega de las Mesas de Servicio 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13549EC-2702-C3B7-5164-A7E93EE6C9C7}"/>
              </a:ext>
            </a:extLst>
          </p:cNvPr>
          <p:cNvSpPr txBox="1"/>
          <p:nvPr/>
        </p:nvSpPr>
        <p:spPr>
          <a:xfrm>
            <a:off x="375556" y="1374321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75B2EC64-AAEB-80A0-2E7C-B337049F02B0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Diseño del Servicio Autónomo e Inteligente (N5)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BB1913D-BF6A-E67C-53B8-E57EF62C7319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 (N3)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86C6AFD-758B-AA33-CDAE-D4A668DAB4D6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Piloto y Transición Clientes</a:t>
            </a:r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B1D377E7-02CC-BB00-D36D-1FAE90E89AE5}"/>
              </a:ext>
            </a:extLst>
          </p:cNvPr>
          <p:cNvSpPr/>
          <p:nvPr/>
        </p:nvSpPr>
        <p:spPr>
          <a:xfrm>
            <a:off x="6303910" y="3762644"/>
            <a:ext cx="1037191" cy="11038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</a:t>
            </a:r>
            <a:r>
              <a:rPr lang="es-ES" sz="600" b="1" kern="1200" dirty="0">
                <a:solidFill>
                  <a:srgbClr val="000000"/>
                </a:solidFill>
                <a:latin typeface="Reddit Sans"/>
                <a:ea typeface="Reddit Sans"/>
              </a:rPr>
              <a:t>comercial</a:t>
            </a:r>
            <a:endParaRPr lang="es-ES" sz="600" b="1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89AA025D-ACC2-8BE3-3531-ADBA5332DDF4}"/>
              </a:ext>
            </a:extLst>
          </p:cNvPr>
          <p:cNvSpPr/>
          <p:nvPr/>
        </p:nvSpPr>
        <p:spPr>
          <a:xfrm>
            <a:off x="6314800" y="3637460"/>
            <a:ext cx="1026301" cy="10493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4D62D34E-3794-458E-ABAD-31CA8C1D18B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0B432EA-1C9F-4EC7-E4B8-D3B837082F02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6EF5295-96C4-926C-84C5-95FD93FA591B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424CC519-BBF4-FA42-F777-459CCC693C13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4775264B-67DF-405A-6101-AE5518412D5D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B455B26-C013-533E-9B69-0018318D53BB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3127475-4A1E-FC30-8FF4-FF4CB0FE1276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23F92958-03E3-48E4-ABF8-B161B4E7E99D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3DCAA23E-04B7-F20D-CDAA-8E36F3814F35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3C4D310E-DE01-6E94-DE7F-85ED2574567E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4C2861A-81F4-1E62-DAC6-B6325FD369D9}"/>
              </a:ext>
            </a:extLst>
          </p:cNvPr>
          <p:cNvCxnSpPr>
            <a:cxnSpLocks/>
          </p:cNvCxnSpPr>
          <p:nvPr/>
        </p:nvCxnSpPr>
        <p:spPr>
          <a:xfrm>
            <a:off x="6928758" y="1274987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B892158-E68C-874C-E15B-A40E40D8E5B1}"/>
              </a:ext>
            </a:extLst>
          </p:cNvPr>
          <p:cNvCxnSpPr/>
          <p:nvPr/>
        </p:nvCxnSpPr>
        <p:spPr>
          <a:xfrm flipV="1">
            <a:off x="1523999" y="2857500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ector recto de flecha 155">
            <a:extLst>
              <a:ext uri="{FF2B5EF4-FFF2-40B4-BE49-F238E27FC236}">
                <a16:creationId xmlns:a16="http://schemas.microsoft.com/office/drawing/2014/main" id="{629336BF-83C6-1FDF-8604-320CB4C9F9EC}"/>
              </a:ext>
            </a:extLst>
          </p:cNvPr>
          <p:cNvCxnSpPr>
            <a:cxnSpLocks/>
          </p:cNvCxnSpPr>
          <p:nvPr/>
        </p:nvCxnSpPr>
        <p:spPr>
          <a:xfrm flipV="1">
            <a:off x="1518556" y="3494313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1E2018A3-62EE-970D-B821-D3A2DB070167}"/>
              </a:ext>
            </a:extLst>
          </p:cNvPr>
          <p:cNvCxnSpPr>
            <a:cxnSpLocks/>
          </p:cNvCxnSpPr>
          <p:nvPr/>
        </p:nvCxnSpPr>
        <p:spPr>
          <a:xfrm flipV="1">
            <a:off x="1523998" y="3891642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5D54C481-8D29-2F15-8A8C-D54259A86D14}"/>
              </a:ext>
            </a:extLst>
          </p:cNvPr>
          <p:cNvCxnSpPr>
            <a:cxnSpLocks/>
          </p:cNvCxnSpPr>
          <p:nvPr/>
        </p:nvCxnSpPr>
        <p:spPr>
          <a:xfrm flipV="1">
            <a:off x="1562098" y="4299855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DBE4934-27B3-8AF2-9806-755794E991C9}"/>
              </a:ext>
            </a:extLst>
          </p:cNvPr>
          <p:cNvSpPr txBox="1"/>
          <p:nvPr/>
        </p:nvSpPr>
        <p:spPr>
          <a:xfrm>
            <a:off x="1475014" y="1662792"/>
            <a:ext cx="126274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Levantar lecciones aprendidas mesas de servicio operación actual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4CD09477-E38C-EE17-621C-734ED54B0F30}"/>
              </a:ext>
            </a:extLst>
          </p:cNvPr>
          <p:cNvSpPr/>
          <p:nvPr/>
        </p:nvSpPr>
        <p:spPr>
          <a:xfrm>
            <a:off x="1662132" y="21297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23CEA72B-8F42-C6E5-CC5E-7DDBE220B673}"/>
              </a:ext>
            </a:extLst>
          </p:cNvPr>
          <p:cNvSpPr txBox="1"/>
          <p:nvPr/>
        </p:nvSpPr>
        <p:spPr>
          <a:xfrm>
            <a:off x="1600198" y="2000250"/>
            <a:ext cx="113755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Caracterizar las mesas de servicio (mercado)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F5625070-A44A-26FA-CB75-DFA50D0F1E47}"/>
              </a:ext>
            </a:extLst>
          </p:cNvPr>
          <p:cNvSpPr/>
          <p:nvPr/>
        </p:nvSpPr>
        <p:spPr>
          <a:xfrm>
            <a:off x="7007016" y="4682486"/>
            <a:ext cx="1058254" cy="10493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A379B0E7-4465-0A6B-A743-F2DF6B6596A7}"/>
              </a:ext>
            </a:extLst>
          </p:cNvPr>
          <p:cNvSpPr txBox="1"/>
          <p:nvPr/>
        </p:nvSpPr>
        <p:spPr>
          <a:xfrm>
            <a:off x="6939643" y="4596491"/>
            <a:ext cx="120831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*Identificar costos de transición al servicio nuevo</a:t>
            </a:r>
            <a:endParaRPr lang="es-ES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AB6E717F-283D-DA6F-377A-7BA7C716D90D}"/>
              </a:ext>
            </a:extLst>
          </p:cNvPr>
          <p:cNvSpPr/>
          <p:nvPr/>
        </p:nvSpPr>
        <p:spPr>
          <a:xfrm>
            <a:off x="2538431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72F19235-8B32-8B77-8033-22BE696285D4}"/>
              </a:ext>
            </a:extLst>
          </p:cNvPr>
          <p:cNvSpPr txBox="1"/>
          <p:nvPr/>
        </p:nvSpPr>
        <p:spPr>
          <a:xfrm>
            <a:off x="2465614" y="1815191"/>
            <a:ext cx="2264228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Diagrama inicial del servicio estandarizado a alto nivel</a:t>
            </a:r>
            <a:endParaRPr lang="es-ES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3B49FF8A-C846-7D49-A553-59A612C6B5A3}"/>
              </a:ext>
            </a:extLst>
          </p:cNvPr>
          <p:cNvGrpSpPr/>
          <p:nvPr/>
        </p:nvGrpSpPr>
        <p:grpSpPr>
          <a:xfrm>
            <a:off x="3828389" y="2691490"/>
            <a:ext cx="3225551" cy="184666"/>
            <a:chOff x="3790289" y="2647947"/>
            <a:chExt cx="3225551" cy="184666"/>
          </a:xfrm>
        </p:grpSpPr>
        <p:sp>
          <p:nvSpPr>
            <p:cNvPr id="171" name="Rounded Rectangle 21">
              <a:extLst>
                <a:ext uri="{FF2B5EF4-FFF2-40B4-BE49-F238E27FC236}">
                  <a16:creationId xmlns:a16="http://schemas.microsoft.com/office/drawing/2014/main" id="{5AA448EF-F0A3-4DD8-5DCE-B892C81C46D9}"/>
                </a:ext>
              </a:extLst>
            </p:cNvPr>
            <p:cNvSpPr/>
            <p:nvPr/>
          </p:nvSpPr>
          <p:spPr>
            <a:xfrm>
              <a:off x="3790289" y="2695842"/>
              <a:ext cx="3137426" cy="83169"/>
            </a:xfrm>
            <a:prstGeom prst="roundRect">
              <a:avLst/>
            </a:prstGeom>
            <a:solidFill>
              <a:schemeClr val="accent2">
                <a:lumMod val="25000"/>
                <a:lumOff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72" name="CuadroTexto 171">
              <a:extLst>
                <a:ext uri="{FF2B5EF4-FFF2-40B4-BE49-F238E27FC236}">
                  <a16:creationId xmlns:a16="http://schemas.microsoft.com/office/drawing/2014/main" id="{E9FE6999-A6A7-E2E8-7379-1C52E53878E7}"/>
                </a:ext>
              </a:extLst>
            </p:cNvPr>
            <p:cNvSpPr txBox="1"/>
            <p:nvPr/>
          </p:nvSpPr>
          <p:spPr>
            <a:xfrm>
              <a:off x="3848096" y="2647947"/>
              <a:ext cx="3167744" cy="184666"/>
            </a:xfrm>
            <a:prstGeom prst="rect">
              <a:avLst/>
            </a:prstGeom>
            <a:noFill/>
            <a:ln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s-ES" sz="600">
                  <a:latin typeface="Reddit Sans"/>
                </a:rPr>
                <a:t>Piloto herramientas/agentes </a:t>
              </a:r>
              <a:r>
                <a:rPr lang="es-ES" sz="600" err="1">
                  <a:latin typeface="Reddit Sans"/>
                </a:rPr>
                <a:t>pa</a:t>
              </a:r>
              <a:r>
                <a:rPr lang="es-ES" sz="600">
                  <a:latin typeface="Reddit Sans"/>
                </a:rPr>
                <a:t>ra las mesas de servicio (</a:t>
              </a:r>
              <a:r>
                <a:rPr lang="es-ES" sz="600" err="1">
                  <a:latin typeface="Reddit Sans"/>
                </a:rPr>
                <a:t>reuso</a:t>
              </a:r>
              <a:r>
                <a:rPr lang="es-ES" sz="600">
                  <a:latin typeface="Reddit Sans"/>
                </a:rPr>
                <a:t> o construcción nuevas)</a:t>
              </a:r>
              <a:endParaRPr lang="es-ES"/>
            </a:p>
          </p:txBody>
        </p:sp>
      </p:grp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891BC76A-4C2F-3071-5AD9-7A5D38D13446}"/>
              </a:ext>
            </a:extLst>
          </p:cNvPr>
          <p:cNvSpPr/>
          <p:nvPr/>
        </p:nvSpPr>
        <p:spPr>
          <a:xfrm>
            <a:off x="6054516" y="2260415"/>
            <a:ext cx="1384826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40BC8697-7EC2-FDD0-5975-6A6E6FED0E64}"/>
              </a:ext>
            </a:extLst>
          </p:cNvPr>
          <p:cNvSpPr/>
          <p:nvPr/>
        </p:nvSpPr>
        <p:spPr>
          <a:xfrm>
            <a:off x="6702221" y="105043"/>
            <a:ext cx="1809364" cy="12671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Historias de usuario servicio optimo</a:t>
            </a: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E2AA5A9D-22D0-3A10-B9C4-093CEFEACE2B}"/>
              </a:ext>
            </a:extLst>
          </p:cNvPr>
          <p:cNvSpPr/>
          <p:nvPr/>
        </p:nvSpPr>
        <p:spPr>
          <a:xfrm>
            <a:off x="6990689" y="4350472"/>
            <a:ext cx="437769" cy="831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E451BAF3-B5C4-E221-DC3C-F6D781574CA8}"/>
              </a:ext>
            </a:extLst>
          </p:cNvPr>
          <p:cNvSpPr txBox="1"/>
          <p:nvPr/>
        </p:nvSpPr>
        <p:spPr>
          <a:xfrm>
            <a:off x="6885216" y="4253591"/>
            <a:ext cx="121375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*Priorizar las mesas a </a:t>
            </a:r>
            <a:r>
              <a:rPr lang="es-CO" sz="600" dirty="0" err="1">
                <a:latin typeface="Reddit Sans"/>
              </a:rPr>
              <a:t>transicionar</a:t>
            </a:r>
            <a:endParaRPr lang="es-CO" sz="600">
              <a:latin typeface="Reddit Sans"/>
            </a:endParaRP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15FA741A-E940-6E97-15B5-7C4C823EEF99}"/>
              </a:ext>
            </a:extLst>
          </p:cNvPr>
          <p:cNvSpPr/>
          <p:nvPr/>
        </p:nvSpPr>
        <p:spPr>
          <a:xfrm>
            <a:off x="7540415" y="4448442"/>
            <a:ext cx="1210654" cy="1049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DC2B6ADF-0848-643D-DBF6-0201E25A007D}"/>
              </a:ext>
            </a:extLst>
          </p:cNvPr>
          <p:cNvSpPr txBox="1"/>
          <p:nvPr/>
        </p:nvSpPr>
        <p:spPr>
          <a:xfrm>
            <a:off x="7619998" y="4378775"/>
            <a:ext cx="126818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*Iniciar creación plan de transición </a:t>
            </a:r>
            <a:r>
              <a:rPr lang="es-ES" sz="600" dirty="0">
                <a:latin typeface="Reddit Sans"/>
              </a:rPr>
              <a:t>operación actual</a:t>
            </a:r>
            <a:endParaRPr lang="es-ES" dirty="0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32B49168-0274-3E40-263F-6ECCBD77DB41}"/>
              </a:ext>
            </a:extLst>
          </p:cNvPr>
          <p:cNvSpPr/>
          <p:nvPr/>
        </p:nvSpPr>
        <p:spPr>
          <a:xfrm>
            <a:off x="4725480" y="2919000"/>
            <a:ext cx="803149" cy="94053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C2B6B279-8305-CE42-86A5-4A577DCCAD64}"/>
              </a:ext>
            </a:extLst>
          </p:cNvPr>
          <p:cNvSpPr/>
          <p:nvPr/>
        </p:nvSpPr>
        <p:spPr>
          <a:xfrm>
            <a:off x="6707663" y="268332"/>
            <a:ext cx="1809365" cy="12671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Validación y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feedback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 del servicio</a:t>
            </a:r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D5B128C5-B672-C7F9-4B8C-6FB231567AE3}"/>
              </a:ext>
            </a:extLst>
          </p:cNvPr>
          <p:cNvSpPr/>
          <p:nvPr/>
        </p:nvSpPr>
        <p:spPr>
          <a:xfrm>
            <a:off x="6723991" y="437058"/>
            <a:ext cx="1787593" cy="12671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 comercial y operación</a:t>
            </a:r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DA53FA94-1164-92A0-D3E8-C53C805AA8AD}"/>
              </a:ext>
            </a:extLst>
          </p:cNvPr>
          <p:cNvSpPr txBox="1"/>
          <p:nvPr/>
        </p:nvSpPr>
        <p:spPr>
          <a:xfrm>
            <a:off x="4675414" y="2876550"/>
            <a:ext cx="1191986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Validación y </a:t>
            </a:r>
            <a:r>
              <a:rPr lang="es-ES" sz="600">
                <a:latin typeface="Reddit Sans"/>
              </a:rPr>
              <a:t>feedback</a:t>
            </a:r>
            <a:endParaRPr lang="es-ES" sz="600" dirty="0">
              <a:latin typeface="Reddit Sans"/>
            </a:endParaRPr>
          </a:p>
        </p:txBody>
      </p:sp>
      <p:sp>
        <p:nvSpPr>
          <p:cNvPr id="194" name="Rounded Rectangle 21">
            <a:extLst>
              <a:ext uri="{FF2B5EF4-FFF2-40B4-BE49-F238E27FC236}">
                <a16:creationId xmlns:a16="http://schemas.microsoft.com/office/drawing/2014/main" id="{DAA21406-89E2-459A-4A5A-DDECF6872EE9}"/>
              </a:ext>
            </a:extLst>
          </p:cNvPr>
          <p:cNvSpPr/>
          <p:nvPr/>
        </p:nvSpPr>
        <p:spPr>
          <a:xfrm>
            <a:off x="5635414" y="2919001"/>
            <a:ext cx="1793037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5" name="CuadroTexto 194">
            <a:extLst>
              <a:ext uri="{FF2B5EF4-FFF2-40B4-BE49-F238E27FC236}">
                <a16:creationId xmlns:a16="http://schemas.microsoft.com/office/drawing/2014/main" id="{08D72159-319B-C816-9563-22D50CE9EB72}"/>
              </a:ext>
            </a:extLst>
          </p:cNvPr>
          <p:cNvSpPr txBox="1"/>
          <p:nvPr/>
        </p:nvSpPr>
        <p:spPr>
          <a:xfrm>
            <a:off x="5568041" y="2871108"/>
            <a:ext cx="2313214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Diseñarla calculadora del servicio (plantilla de estimación)</a:t>
            </a:r>
          </a:p>
        </p:txBody>
      </p:sp>
      <p:sp>
        <p:nvSpPr>
          <p:cNvPr id="196" name="Estrella: 5 puntas 195">
            <a:extLst>
              <a:ext uri="{FF2B5EF4-FFF2-40B4-BE49-F238E27FC236}">
                <a16:creationId xmlns:a16="http://schemas.microsoft.com/office/drawing/2014/main" id="{345742A8-1631-D27D-8C78-D70987FD74A9}"/>
              </a:ext>
            </a:extLst>
          </p:cNvPr>
          <p:cNvSpPr/>
          <p:nvPr/>
        </p:nvSpPr>
        <p:spPr>
          <a:xfrm>
            <a:off x="7341327" y="1478279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8CA14C9F-39C7-1063-9EFF-6685956A8DE9}"/>
              </a:ext>
            </a:extLst>
          </p:cNvPr>
          <p:cNvSpPr/>
          <p:nvPr/>
        </p:nvSpPr>
        <p:spPr>
          <a:xfrm>
            <a:off x="5066211" y="144777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78FAB60E-601B-0A3C-2095-2B4DD2724FB6}"/>
              </a:ext>
            </a:extLst>
          </p:cNvPr>
          <p:cNvSpPr txBox="1"/>
          <p:nvPr/>
        </p:nvSpPr>
        <p:spPr>
          <a:xfrm>
            <a:off x="5203374" y="94701"/>
            <a:ext cx="14532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Entrega incremental del servicio a clientes nuevos</a:t>
            </a:r>
            <a:endParaRPr lang="es-ES"/>
          </a:p>
        </p:txBody>
      </p:sp>
      <p:sp>
        <p:nvSpPr>
          <p:cNvPr id="199" name="Rounded Rectangle 21">
            <a:extLst>
              <a:ext uri="{FF2B5EF4-FFF2-40B4-BE49-F238E27FC236}">
                <a16:creationId xmlns:a16="http://schemas.microsoft.com/office/drawing/2014/main" id="{48978DE4-B3E0-0B34-EF8D-C00F491B9C54}"/>
              </a:ext>
            </a:extLst>
          </p:cNvPr>
          <p:cNvSpPr/>
          <p:nvPr/>
        </p:nvSpPr>
        <p:spPr>
          <a:xfrm>
            <a:off x="5591874" y="3098616"/>
            <a:ext cx="2255680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0" name="CuadroTexto 199">
            <a:extLst>
              <a:ext uri="{FF2B5EF4-FFF2-40B4-BE49-F238E27FC236}">
                <a16:creationId xmlns:a16="http://schemas.microsoft.com/office/drawing/2014/main" id="{B6201EDC-CC68-5DD5-5D2C-5382B78A97E6}"/>
              </a:ext>
            </a:extLst>
          </p:cNvPr>
          <p:cNvSpPr txBox="1"/>
          <p:nvPr/>
        </p:nvSpPr>
        <p:spPr>
          <a:xfrm>
            <a:off x="5529938" y="3050716"/>
            <a:ext cx="3450773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Creación de colaterales servicio nuevo equipo comercial (contratos, propuestas, </a:t>
            </a:r>
            <a:r>
              <a:rPr lang="es-ES" sz="600" err="1">
                <a:latin typeface="Reddit Sans"/>
              </a:rPr>
              <a:t>wbs</a:t>
            </a:r>
            <a:r>
              <a:rPr lang="es-ES" sz="600">
                <a:latin typeface="Reddit Sans"/>
              </a:rPr>
              <a:t>, ...)</a:t>
            </a:r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A5943974-5799-F84A-1E6E-4C5D982EC9A5}"/>
              </a:ext>
            </a:extLst>
          </p:cNvPr>
          <p:cNvSpPr/>
          <p:nvPr/>
        </p:nvSpPr>
        <p:spPr>
          <a:xfrm>
            <a:off x="6103508" y="3512273"/>
            <a:ext cx="1384821" cy="99496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 evolución del servicio</a:t>
            </a:r>
            <a:endParaRPr lang="es-ES"/>
          </a:p>
        </p:txBody>
      </p:sp>
      <p:sp>
        <p:nvSpPr>
          <p:cNvPr id="205" name="Rounded Rectangle 21">
            <a:extLst>
              <a:ext uri="{FF2B5EF4-FFF2-40B4-BE49-F238E27FC236}">
                <a16:creationId xmlns:a16="http://schemas.microsoft.com/office/drawing/2014/main" id="{B9738A09-EF12-CD41-21D1-CC5398A921D7}"/>
              </a:ext>
            </a:extLst>
          </p:cNvPr>
          <p:cNvSpPr/>
          <p:nvPr/>
        </p:nvSpPr>
        <p:spPr>
          <a:xfrm>
            <a:off x="6054516" y="3294555"/>
            <a:ext cx="1820252" cy="99497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EAB8AC16-1A75-B07B-67E5-8D9032D8199F}"/>
              </a:ext>
            </a:extLst>
          </p:cNvPr>
          <p:cNvSpPr txBox="1"/>
          <p:nvPr/>
        </p:nvSpPr>
        <p:spPr>
          <a:xfrm>
            <a:off x="6047011" y="3241218"/>
            <a:ext cx="3341916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Creación de colaterales servicio</a:t>
            </a:r>
            <a:r>
              <a:rPr lang="es-ES" sz="600">
                <a:latin typeface="Reddit Sans"/>
              </a:rPr>
              <a:t> nuevos equipo de la operación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9EC06F50-C9B0-C182-6C30-B084237CFC3F}"/>
              </a:ext>
            </a:extLst>
          </p:cNvPr>
          <p:cNvSpPr/>
          <p:nvPr/>
        </p:nvSpPr>
        <p:spPr>
          <a:xfrm>
            <a:off x="7447886" y="4159969"/>
            <a:ext cx="1346726" cy="8861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BD3B7044-81A8-6135-06D6-F5AE7632D3C3}"/>
              </a:ext>
            </a:extLst>
          </p:cNvPr>
          <p:cNvSpPr txBox="1"/>
          <p:nvPr/>
        </p:nvSpPr>
        <p:spPr>
          <a:xfrm>
            <a:off x="7391399" y="4019543"/>
            <a:ext cx="1328057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Inicio actualización del servicio en la herramienta de procesos</a:t>
            </a:r>
            <a:endParaRPr lang="es-ES" err="1"/>
          </a:p>
        </p:txBody>
      </p:sp>
      <p:sp>
        <p:nvSpPr>
          <p:cNvPr id="3" name="Rounded Rectangle 21">
            <a:extLst>
              <a:ext uri="{FF2B5EF4-FFF2-40B4-BE49-F238E27FC236}">
                <a16:creationId xmlns:a16="http://schemas.microsoft.com/office/drawing/2014/main" id="{90E54E0B-872A-A20E-E58D-2A3DB519666B}"/>
              </a:ext>
            </a:extLst>
          </p:cNvPr>
          <p:cNvSpPr/>
          <p:nvPr/>
        </p:nvSpPr>
        <p:spPr>
          <a:xfrm>
            <a:off x="6718549" y="627558"/>
            <a:ext cx="1803920" cy="115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CO" sz="600" kern="1200">
                <a:solidFill>
                  <a:srgbClr val="000000"/>
                </a:solidFill>
                <a:latin typeface="Reddit Sans"/>
                <a:ea typeface="Reddit Sans"/>
              </a:rPr>
              <a:t>Historias de usuario transición operación actual</a:t>
            </a:r>
            <a:endParaRPr lang="es-CO">
              <a:cs typeface="Arial"/>
            </a:endParaRPr>
          </a:p>
        </p:txBody>
      </p:sp>
      <p:sp>
        <p:nvSpPr>
          <p:cNvPr id="4" name="Estrella: 5 puntas 3">
            <a:extLst>
              <a:ext uri="{FF2B5EF4-FFF2-40B4-BE49-F238E27FC236}">
                <a16:creationId xmlns:a16="http://schemas.microsoft.com/office/drawing/2014/main" id="{7E875DD3-6A84-8D65-6E5E-57D641E500DC}"/>
              </a:ext>
            </a:extLst>
          </p:cNvPr>
          <p:cNvSpPr/>
          <p:nvPr/>
        </p:nvSpPr>
        <p:spPr>
          <a:xfrm>
            <a:off x="5066210" y="552991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5F121AE-BB57-C217-BE3F-22156438CCB7}"/>
              </a:ext>
            </a:extLst>
          </p:cNvPr>
          <p:cNvSpPr txBox="1"/>
          <p:nvPr/>
        </p:nvSpPr>
        <p:spPr>
          <a:xfrm>
            <a:off x="5203374" y="502915"/>
            <a:ext cx="1453239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nuevo</a:t>
            </a:r>
            <a:endParaRPr lang="es-ES"/>
          </a:p>
        </p:txBody>
      </p:sp>
      <p:sp>
        <p:nvSpPr>
          <p:cNvPr id="6" name="Estrella: 5 puntas 5">
            <a:extLst>
              <a:ext uri="{FF2B5EF4-FFF2-40B4-BE49-F238E27FC236}">
                <a16:creationId xmlns:a16="http://schemas.microsoft.com/office/drawing/2014/main" id="{03BCFCD6-8B00-0022-AEB9-F83BC0A815EF}"/>
              </a:ext>
            </a:extLst>
          </p:cNvPr>
          <p:cNvSpPr/>
          <p:nvPr/>
        </p:nvSpPr>
        <p:spPr>
          <a:xfrm>
            <a:off x="3182982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strella: 5 puntas 6">
            <a:extLst>
              <a:ext uri="{FF2B5EF4-FFF2-40B4-BE49-F238E27FC236}">
                <a16:creationId xmlns:a16="http://schemas.microsoft.com/office/drawing/2014/main" id="{8AABABBB-F742-B5D8-247A-0A26DEDF21CB}"/>
              </a:ext>
            </a:extLst>
          </p:cNvPr>
          <p:cNvSpPr/>
          <p:nvPr/>
        </p:nvSpPr>
        <p:spPr>
          <a:xfrm>
            <a:off x="4930139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4A52948B-8E14-97F4-1295-422D19890ECD}"/>
              </a:ext>
            </a:extLst>
          </p:cNvPr>
          <p:cNvSpPr/>
          <p:nvPr/>
        </p:nvSpPr>
        <p:spPr>
          <a:xfrm>
            <a:off x="6748053" y="14782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EA2BFDA0-7740-6B2F-3B49-C7E6E9279FED}"/>
              </a:ext>
            </a:extLst>
          </p:cNvPr>
          <p:cNvGrpSpPr/>
          <p:nvPr/>
        </p:nvGrpSpPr>
        <p:grpSpPr>
          <a:xfrm>
            <a:off x="8837920" y="4677043"/>
            <a:ext cx="288441" cy="66839"/>
            <a:chOff x="7466320" y="4883873"/>
            <a:chExt cx="1034112" cy="94052"/>
          </a:xfrm>
        </p:grpSpPr>
        <p:sp>
          <p:nvSpPr>
            <p:cNvPr id="210" name="Rounded Rectangle 25">
              <a:extLst>
                <a:ext uri="{FF2B5EF4-FFF2-40B4-BE49-F238E27FC236}">
                  <a16:creationId xmlns:a16="http://schemas.microsoft.com/office/drawing/2014/main" id="{48BA21B8-BFDD-F15E-4383-2279F41541CA}"/>
                </a:ext>
              </a:extLst>
            </p:cNvPr>
            <p:cNvSpPr/>
            <p:nvPr/>
          </p:nvSpPr>
          <p:spPr>
            <a:xfrm>
              <a:off x="7490456" y="4883873"/>
              <a:ext cx="1009976" cy="9405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2" name="Triángulo rectángulo 11">
              <a:extLst>
                <a:ext uri="{FF2B5EF4-FFF2-40B4-BE49-F238E27FC236}">
                  <a16:creationId xmlns:a16="http://schemas.microsoft.com/office/drawing/2014/main" id="{F1358A03-719B-5171-138E-75FE23A85588}"/>
                </a:ext>
              </a:extLst>
            </p:cNvPr>
            <p:cNvSpPr/>
            <p:nvPr/>
          </p:nvSpPr>
          <p:spPr>
            <a:xfrm rot="5400000">
              <a:off x="7937126" y="4413676"/>
              <a:ext cx="76202" cy="1017814"/>
            </a:xfrm>
            <a:prstGeom prst="rtTriangl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DC6312B8-45DC-0FA5-B54B-684D5FA8E8CD}"/>
              </a:ext>
            </a:extLst>
          </p:cNvPr>
          <p:cNvGrpSpPr/>
          <p:nvPr/>
        </p:nvGrpSpPr>
        <p:grpSpPr>
          <a:xfrm>
            <a:off x="369335" y="1625669"/>
            <a:ext cx="1104897" cy="609244"/>
            <a:chOff x="369335" y="1625669"/>
            <a:chExt cx="1104897" cy="609244"/>
          </a:xfrm>
        </p:grpSpPr>
        <p:sp>
          <p:nvSpPr>
            <p:cNvPr id="13" name="OTLSHAPE_SL_79f05e8de72e4cc385fce875fa65517f_HeaderRectangle">
              <a:extLst>
                <a:ext uri="{FF2B5EF4-FFF2-40B4-BE49-F238E27FC236}">
                  <a16:creationId xmlns:a16="http://schemas.microsoft.com/office/drawing/2014/main" id="{A5A41D1C-ECCD-1965-0B93-F231803E5857}"/>
                </a:ext>
              </a:extLst>
            </p:cNvPr>
            <p:cNvSpPr/>
            <p:nvPr/>
          </p:nvSpPr>
          <p:spPr>
            <a:xfrm>
              <a:off x="369335" y="1625669"/>
              <a:ext cx="1104897" cy="6092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2957911-061F-EF33-370D-FACCC14DD2FC}"/>
                </a:ext>
              </a:extLst>
            </p:cNvPr>
            <p:cNvSpPr txBox="1"/>
            <p:nvPr/>
          </p:nvSpPr>
          <p:spPr>
            <a:xfrm>
              <a:off x="460566" y="1730827"/>
              <a:ext cx="927777" cy="415498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700" b="1">
                  <a:latin typeface="Reddit Sans"/>
                  <a:ea typeface="Reddit Sans"/>
                </a:rPr>
                <a:t>Evaluación inicial de la </a:t>
              </a:r>
              <a:r>
                <a:rPr lang="es-CO" sz="700" b="1" err="1">
                  <a:latin typeface="Reddit Sans"/>
                  <a:ea typeface="Reddit Sans"/>
                </a:rPr>
                <a:t>operacion</a:t>
              </a:r>
              <a:r>
                <a:rPr lang="es-CO" sz="700" b="1">
                  <a:latin typeface="Reddit Sans"/>
                  <a:ea typeface="Reddit Sans"/>
                </a:rPr>
                <a:t> y el mercado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5952968-E528-18D7-B377-B7716762F11D}"/>
              </a:ext>
            </a:extLst>
          </p:cNvPr>
          <p:cNvSpPr txBox="1"/>
          <p:nvPr/>
        </p:nvSpPr>
        <p:spPr>
          <a:xfrm>
            <a:off x="8577942" y="4542062"/>
            <a:ext cx="92528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*Inicio habilitación clientes actuales</a:t>
            </a:r>
            <a:endParaRPr lang="es-E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598BE0B-C466-DD8F-80A1-A8A324128967}"/>
              </a:ext>
            </a:extLst>
          </p:cNvPr>
          <p:cNvSpPr/>
          <p:nvPr/>
        </p:nvSpPr>
        <p:spPr>
          <a:xfrm>
            <a:off x="2979302" y="2091687"/>
            <a:ext cx="399669" cy="94053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E6BC3E3-D257-EDEF-07F5-30B8EEB9B332}"/>
              </a:ext>
            </a:extLst>
          </p:cNvPr>
          <p:cNvSpPr txBox="1"/>
          <p:nvPr/>
        </p:nvSpPr>
        <p:spPr>
          <a:xfrm>
            <a:off x="2917370" y="2038351"/>
            <a:ext cx="1807029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err="1">
                <a:latin typeface="Reddit Sans"/>
              </a:rPr>
              <a:t>Alineac</a:t>
            </a:r>
            <a:r>
              <a:rPr lang="es-ES" sz="600">
                <a:latin typeface="Reddit Sans"/>
              </a:rPr>
              <a:t>ión de </a:t>
            </a:r>
            <a:r>
              <a:rPr lang="es-ES" sz="600" err="1">
                <a:latin typeface="Reddit Sans"/>
              </a:rPr>
              <a:t>espectivas</a:t>
            </a:r>
            <a:r>
              <a:rPr lang="es-ES" sz="600">
                <a:latin typeface="Reddit Sans"/>
              </a:rPr>
              <a:t> servicio nuevo</a:t>
            </a:r>
            <a:endParaRPr lang="es-ES"/>
          </a:p>
        </p:txBody>
      </p: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D009B94A-EF1C-08A8-06FC-149CCDBC00D3}"/>
              </a:ext>
            </a:extLst>
          </p:cNvPr>
          <p:cNvCxnSpPr>
            <a:cxnSpLocks/>
          </p:cNvCxnSpPr>
          <p:nvPr/>
        </p:nvCxnSpPr>
        <p:spPr>
          <a:xfrm flipV="1">
            <a:off x="1529442" y="2215242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21">
            <a:extLst>
              <a:ext uri="{FF2B5EF4-FFF2-40B4-BE49-F238E27FC236}">
                <a16:creationId xmlns:a16="http://schemas.microsoft.com/office/drawing/2014/main" id="{614464EC-FCB6-4BE8-6D9F-80112B5B3953}"/>
              </a:ext>
            </a:extLst>
          </p:cNvPr>
          <p:cNvSpPr/>
          <p:nvPr/>
        </p:nvSpPr>
        <p:spPr>
          <a:xfrm>
            <a:off x="3599787" y="2478129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DE3FB594-06DE-EA01-5312-44503C7BB7FF}"/>
              </a:ext>
            </a:extLst>
          </p:cNvPr>
          <p:cNvSpPr/>
          <p:nvPr/>
        </p:nvSpPr>
        <p:spPr>
          <a:xfrm>
            <a:off x="3382074" y="2260414"/>
            <a:ext cx="960282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AD443C5D-CC75-E4FA-3A09-1F052E15C89A}"/>
              </a:ext>
            </a:extLst>
          </p:cNvPr>
          <p:cNvSpPr txBox="1"/>
          <p:nvPr/>
        </p:nvSpPr>
        <p:spPr>
          <a:xfrm>
            <a:off x="3363679" y="2212516"/>
            <a:ext cx="1094017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Definir modelo de </a:t>
            </a:r>
            <a:r>
              <a:rPr lang="es-ES" sz="600">
                <a:latin typeface="Reddit Sans"/>
              </a:rPr>
              <a:t>Niveles de servicio</a:t>
            </a:r>
            <a:endParaRPr lang="es-ES"/>
          </a:p>
        </p:txBody>
      </p:sp>
      <p:sp>
        <p:nvSpPr>
          <p:cNvPr id="40" name="Rounded Rectangle 21">
            <a:extLst>
              <a:ext uri="{FF2B5EF4-FFF2-40B4-BE49-F238E27FC236}">
                <a16:creationId xmlns:a16="http://schemas.microsoft.com/office/drawing/2014/main" id="{B5CB48ED-556A-F9CD-BFC4-1785DFE9D990}"/>
              </a:ext>
            </a:extLst>
          </p:cNvPr>
          <p:cNvSpPr/>
          <p:nvPr/>
        </p:nvSpPr>
        <p:spPr>
          <a:xfrm>
            <a:off x="5608203" y="2445473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B8BD911-F65E-3726-A354-D8F2AAAC33B5}"/>
              </a:ext>
            </a:extLst>
          </p:cNvPr>
          <p:cNvSpPr txBox="1"/>
          <p:nvPr/>
        </p:nvSpPr>
        <p:spPr>
          <a:xfrm>
            <a:off x="5540824" y="2408460"/>
            <a:ext cx="2024743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Definir herramientas (agentes/</a:t>
            </a:r>
            <a:r>
              <a:rPr lang="es-ES" sz="600" dirty="0" err="1">
                <a:latin typeface="Reddit Sans"/>
              </a:rPr>
              <a:t>re-uso</a:t>
            </a:r>
            <a:r>
              <a:rPr lang="es-ES" sz="600" dirty="0">
                <a:latin typeface="Reddit Sans"/>
              </a:rPr>
              <a:t>) de las mesas 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DD07EE8-6464-7F19-B080-B039E37AB1EA}"/>
              </a:ext>
            </a:extLst>
          </p:cNvPr>
          <p:cNvSpPr txBox="1"/>
          <p:nvPr/>
        </p:nvSpPr>
        <p:spPr>
          <a:xfrm>
            <a:off x="3809994" y="2555415"/>
            <a:ext cx="1110345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roles + RACI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951AAA8-2D7D-0CA7-6335-100335DE90A3}"/>
              </a:ext>
            </a:extLst>
          </p:cNvPr>
          <p:cNvSpPr txBox="1"/>
          <p:nvPr/>
        </p:nvSpPr>
        <p:spPr>
          <a:xfrm>
            <a:off x="3499752" y="2446559"/>
            <a:ext cx="1110345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Definir métricas (</a:t>
            </a:r>
            <a:r>
              <a:rPr lang="es-ES" sz="600" dirty="0" err="1">
                <a:latin typeface="Reddit Sans"/>
              </a:rPr>
              <a:t>KPIs</a:t>
            </a:r>
            <a:r>
              <a:rPr lang="es-ES" sz="600" dirty="0">
                <a:latin typeface="Reddit Sans"/>
              </a:rPr>
              <a:t>, SLA)</a:t>
            </a:r>
            <a:endParaRPr lang="es-ES" dirty="0" err="1"/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5604C38D-0085-1DF8-A4A9-5D057A04EDF0}"/>
              </a:ext>
            </a:extLst>
          </p:cNvPr>
          <p:cNvSpPr/>
          <p:nvPr/>
        </p:nvSpPr>
        <p:spPr>
          <a:xfrm>
            <a:off x="8083724" y="3887829"/>
            <a:ext cx="857576" cy="9949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</a:t>
            </a:r>
            <a:r>
              <a:rPr lang="es-ES" sz="600" b="1" kern="1200" dirty="0">
                <a:solidFill>
                  <a:srgbClr val="000000"/>
                </a:solidFill>
                <a:latin typeface="Reddit Sans"/>
                <a:ea typeface="Reddit Sans"/>
              </a:rPr>
              <a:t>comercial</a:t>
            </a:r>
            <a:endParaRPr lang="es-ES" sz="600" b="1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6" name="Rounded Rectangle 25">
            <a:extLst>
              <a:ext uri="{FF2B5EF4-FFF2-40B4-BE49-F238E27FC236}">
                <a16:creationId xmlns:a16="http://schemas.microsoft.com/office/drawing/2014/main" id="{98F2831E-44EA-C163-5BB8-4D35B8F182CF}"/>
              </a:ext>
            </a:extLst>
          </p:cNvPr>
          <p:cNvSpPr/>
          <p:nvPr/>
        </p:nvSpPr>
        <p:spPr>
          <a:xfrm>
            <a:off x="8089170" y="4002131"/>
            <a:ext cx="1053517" cy="10493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50" name="Rounded Rectangle 21">
            <a:extLst>
              <a:ext uri="{FF2B5EF4-FFF2-40B4-BE49-F238E27FC236}">
                <a16:creationId xmlns:a16="http://schemas.microsoft.com/office/drawing/2014/main" id="{AB52B9E1-596C-C4DD-60CB-8A734DF52202}"/>
              </a:ext>
            </a:extLst>
          </p:cNvPr>
          <p:cNvSpPr/>
          <p:nvPr/>
        </p:nvSpPr>
        <p:spPr>
          <a:xfrm>
            <a:off x="4421659" y="22658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B3E2C3E-2F9C-412E-DE52-937399774F41}"/>
              </a:ext>
            </a:extLst>
          </p:cNvPr>
          <p:cNvSpPr txBox="1"/>
          <p:nvPr/>
        </p:nvSpPr>
        <p:spPr>
          <a:xfrm>
            <a:off x="4354282" y="2212517"/>
            <a:ext cx="1475016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de operación (hibrido)</a:t>
            </a:r>
            <a:endParaRPr lang="es-ES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510278FA-4908-7510-D203-73B1B75C3C60}"/>
              </a:ext>
            </a:extLst>
          </p:cNvPr>
          <p:cNvSpPr txBox="1"/>
          <p:nvPr/>
        </p:nvSpPr>
        <p:spPr>
          <a:xfrm>
            <a:off x="6030686" y="2207076"/>
            <a:ext cx="2111830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Piloto </a:t>
            </a:r>
            <a:r>
              <a:rPr lang="es-ES" sz="600" err="1">
                <a:latin typeface="Reddit Sans"/>
              </a:rPr>
              <a:t>dashboards</a:t>
            </a:r>
            <a:r>
              <a:rPr lang="es-ES" sz="600">
                <a:latin typeface="Reddit Sans"/>
              </a:rPr>
              <a:t> ejecutivos internos PersonalSoft</a:t>
            </a:r>
            <a:endParaRPr lang="es-ES" err="1"/>
          </a:p>
        </p:txBody>
      </p:sp>
      <p:sp>
        <p:nvSpPr>
          <p:cNvPr id="51" name="Rounded Rectangle 21">
            <a:extLst>
              <a:ext uri="{FF2B5EF4-FFF2-40B4-BE49-F238E27FC236}">
                <a16:creationId xmlns:a16="http://schemas.microsoft.com/office/drawing/2014/main" id="{18413F46-DF2D-3C4E-2366-6FC1823683F3}"/>
              </a:ext>
            </a:extLst>
          </p:cNvPr>
          <p:cNvSpPr/>
          <p:nvPr/>
        </p:nvSpPr>
        <p:spPr>
          <a:xfrm>
            <a:off x="4612160" y="2429144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C6E094D-C314-D131-57A1-7E1E26C7CBCC}"/>
              </a:ext>
            </a:extLst>
          </p:cNvPr>
          <p:cNvSpPr txBox="1"/>
          <p:nvPr/>
        </p:nvSpPr>
        <p:spPr>
          <a:xfrm>
            <a:off x="4571994" y="2381245"/>
            <a:ext cx="1110345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Definir modelo de </a:t>
            </a:r>
            <a:r>
              <a:rPr lang="es-ES" sz="600">
                <a:latin typeface="Reddit Sans"/>
              </a:rPr>
              <a:t>gestión</a:t>
            </a:r>
            <a:r>
              <a:rPr lang="es-ES" sz="600" dirty="0">
                <a:latin typeface="Reddit Sans"/>
              </a:rPr>
              <a:t> del conocimiento</a:t>
            </a:r>
            <a:endParaRPr lang="es-ES" dirty="0"/>
          </a:p>
        </p:txBody>
      </p:sp>
      <p:sp>
        <p:nvSpPr>
          <p:cNvPr id="52" name="Rounded Rectangle 21">
            <a:extLst>
              <a:ext uri="{FF2B5EF4-FFF2-40B4-BE49-F238E27FC236}">
                <a16:creationId xmlns:a16="http://schemas.microsoft.com/office/drawing/2014/main" id="{E0C56D19-418E-2BC5-0681-FE529D9B1084}"/>
              </a:ext>
            </a:extLst>
          </p:cNvPr>
          <p:cNvSpPr/>
          <p:nvPr/>
        </p:nvSpPr>
        <p:spPr>
          <a:xfrm>
            <a:off x="6337545" y="2603315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12554-0A89-CF23-18D7-6F78405A368B}"/>
              </a:ext>
            </a:extLst>
          </p:cNvPr>
          <p:cNvSpPr txBox="1"/>
          <p:nvPr/>
        </p:nvSpPr>
        <p:spPr>
          <a:xfrm>
            <a:off x="6286495" y="2555417"/>
            <a:ext cx="1115787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de costos</a:t>
            </a:r>
            <a:endParaRPr lang="es-ES"/>
          </a:p>
        </p:txBody>
      </p:sp>
      <p:sp>
        <p:nvSpPr>
          <p:cNvPr id="54" name="Rounded Rectangle 21">
            <a:extLst>
              <a:ext uri="{FF2B5EF4-FFF2-40B4-BE49-F238E27FC236}">
                <a16:creationId xmlns:a16="http://schemas.microsoft.com/office/drawing/2014/main" id="{BCFC53A2-9C13-C102-BE39-C99A0E9B154C}"/>
              </a:ext>
            </a:extLst>
          </p:cNvPr>
          <p:cNvSpPr/>
          <p:nvPr/>
        </p:nvSpPr>
        <p:spPr>
          <a:xfrm>
            <a:off x="5798706" y="3735427"/>
            <a:ext cx="345237" cy="8317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0F529657-2A3B-078B-47D3-66C4943B1C9D}"/>
              </a:ext>
            </a:extLst>
          </p:cNvPr>
          <p:cNvSpPr txBox="1"/>
          <p:nvPr/>
        </p:nvSpPr>
        <p:spPr>
          <a:xfrm>
            <a:off x="5682337" y="3616774"/>
            <a:ext cx="78377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Seleccionar cliente piloto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929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5F327D-4348-70E7-13D6-32A2BAE2F8BE}"/>
              </a:ext>
            </a:extLst>
          </p:cNvPr>
          <p:cNvSpPr txBox="1"/>
          <p:nvPr/>
        </p:nvSpPr>
        <p:spPr>
          <a:xfrm>
            <a:off x="332015" y="884464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F4156A76-728E-D91D-CFF1-BF69AF932F73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E1A0AA3D-88E5-3D13-D465-B35D6F9C4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183768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sz="1400" b="0"/>
              <a:t>Servicio Optimo y Estandarizado</a:t>
            </a:r>
            <a:endParaRPr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3FA27DD-8793-A77E-F267-901278F387A3}"/>
              </a:ext>
            </a:extLst>
          </p:cNvPr>
          <p:cNvSpPr txBox="1"/>
          <p:nvPr/>
        </p:nvSpPr>
        <p:spPr>
          <a:xfrm>
            <a:off x="185054" y="1281789"/>
            <a:ext cx="103959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chemeClr val="accent5">
                    <a:lumMod val="76000"/>
                  </a:schemeClr>
                </a:solidFill>
              </a:rPr>
              <a:t>Modelos</a:t>
            </a:r>
            <a:r>
              <a:rPr lang="es-ES" sz="700" b="1" u="none" strike="noStrike" baseline="0">
                <a:solidFill>
                  <a:schemeClr val="accent5">
                    <a:lumMod val="76000"/>
                  </a:schemeClr>
                </a:solidFill>
              </a:rPr>
              <a:t> </a:t>
            </a:r>
            <a:r>
              <a:rPr lang="es-ES" sz="700" b="1">
                <a:solidFill>
                  <a:schemeClr val="accent5">
                    <a:lumMod val="76000"/>
                  </a:schemeClr>
                </a:solidFill>
              </a:rPr>
              <a:t>de entrega de las Mesas de Servicio</a:t>
            </a:r>
            <a:endParaRPr lang="es-ES" sz="700" b="1">
              <a:solidFill>
                <a:schemeClr val="accent5">
                  <a:lumMod val="76000"/>
                </a:schemeClr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E9408C5F-E950-AF15-64CE-64E635604BF3}"/>
              </a:ext>
            </a:extLst>
          </p:cNvPr>
          <p:cNvSpPr/>
          <p:nvPr/>
        </p:nvSpPr>
        <p:spPr>
          <a:xfrm>
            <a:off x="1229096" y="1313904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Diseño del Servicio Autónomo e Inteligente (N5)</a:t>
            </a:r>
            <a:endParaRPr lang="es-ES" sz="9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3A53E36D-15CA-5D71-2B69-A70F4DDB6310}"/>
              </a:ext>
            </a:extLst>
          </p:cNvPr>
          <p:cNvSpPr/>
          <p:nvPr/>
        </p:nvSpPr>
        <p:spPr>
          <a:xfrm>
            <a:off x="4364185" y="1313907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 (N3)</a:t>
            </a:r>
            <a:endParaRPr lang="es-ES" sz="9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E414F6A8-1018-D7BC-1DD7-6692C22AEF41}"/>
              </a:ext>
            </a:extLst>
          </p:cNvPr>
          <p:cNvSpPr/>
          <p:nvPr/>
        </p:nvSpPr>
        <p:spPr>
          <a:xfrm>
            <a:off x="6617525" y="1308461"/>
            <a:ext cx="1877241" cy="28684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Piloto y Transición Clientes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9633E68C-6E3F-DB3B-22B6-05B421634494}"/>
              </a:ext>
            </a:extLst>
          </p:cNvPr>
          <p:cNvSpPr/>
          <p:nvPr/>
        </p:nvSpPr>
        <p:spPr>
          <a:xfrm>
            <a:off x="1224351" y="1604767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B050ACB-3FB6-E019-C71A-4572E0D00025}"/>
              </a:ext>
            </a:extLst>
          </p:cNvPr>
          <p:cNvSpPr txBox="1"/>
          <p:nvPr/>
        </p:nvSpPr>
        <p:spPr>
          <a:xfrm>
            <a:off x="4000500" y="1602918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723865-5A41-F725-C91B-0057835821BF}"/>
              </a:ext>
            </a:extLst>
          </p:cNvPr>
          <p:cNvSpPr txBox="1"/>
          <p:nvPr/>
        </p:nvSpPr>
        <p:spPr>
          <a:xfrm>
            <a:off x="7222670" y="1602919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0CD3CD7E-9620-69A8-67EC-DED704E8E1E1}"/>
              </a:ext>
            </a:extLst>
          </p:cNvPr>
          <p:cNvCxnSpPr/>
          <p:nvPr/>
        </p:nvCxnSpPr>
        <p:spPr>
          <a:xfrm>
            <a:off x="6618514" y="1612447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E04F3D4-2E69-CCF8-C888-FC89A4983DD7}"/>
              </a:ext>
            </a:extLst>
          </p:cNvPr>
          <p:cNvSpPr txBox="1"/>
          <p:nvPr/>
        </p:nvSpPr>
        <p:spPr>
          <a:xfrm>
            <a:off x="1963509" y="1786617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4970034-3526-F52C-92F3-D759F2021FAF}"/>
              </a:ext>
            </a:extLst>
          </p:cNvPr>
          <p:cNvSpPr txBox="1"/>
          <p:nvPr/>
        </p:nvSpPr>
        <p:spPr>
          <a:xfrm>
            <a:off x="3710665" y="1792060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8A3F251-7D3F-1B69-7AB5-392781C71481}"/>
              </a:ext>
            </a:extLst>
          </p:cNvPr>
          <p:cNvSpPr txBox="1"/>
          <p:nvPr/>
        </p:nvSpPr>
        <p:spPr>
          <a:xfrm>
            <a:off x="5343521" y="1786617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BE015285-C0C4-0359-3C2B-226C613353D8}"/>
              </a:ext>
            </a:extLst>
          </p:cNvPr>
          <p:cNvSpPr txBox="1"/>
          <p:nvPr/>
        </p:nvSpPr>
        <p:spPr>
          <a:xfrm>
            <a:off x="7123337" y="1786617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45014E92-E35F-0381-2BD8-5CDA490D1AB8}"/>
              </a:ext>
            </a:extLst>
          </p:cNvPr>
          <p:cNvCxnSpPr/>
          <p:nvPr/>
        </p:nvCxnSpPr>
        <p:spPr>
          <a:xfrm>
            <a:off x="3042558" y="1819274"/>
            <a:ext cx="18504" cy="25676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3F2F33F-D377-1629-4288-1ADCDA614014}"/>
              </a:ext>
            </a:extLst>
          </p:cNvPr>
          <p:cNvCxnSpPr>
            <a:cxnSpLocks/>
          </p:cNvCxnSpPr>
          <p:nvPr/>
        </p:nvCxnSpPr>
        <p:spPr>
          <a:xfrm>
            <a:off x="4887686" y="1792059"/>
            <a:ext cx="13062" cy="2605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F5C5A59F-D40D-E871-B46E-4447C66ED326}"/>
              </a:ext>
            </a:extLst>
          </p:cNvPr>
          <p:cNvCxnSpPr>
            <a:cxnSpLocks/>
          </p:cNvCxnSpPr>
          <p:nvPr/>
        </p:nvCxnSpPr>
        <p:spPr>
          <a:xfrm>
            <a:off x="6645728" y="1797502"/>
            <a:ext cx="34835" cy="258943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C991B8E-021B-EC77-E034-CBEA633B4016}"/>
              </a:ext>
            </a:extLst>
          </p:cNvPr>
          <p:cNvSpPr txBox="1"/>
          <p:nvPr/>
        </p:nvSpPr>
        <p:spPr>
          <a:xfrm>
            <a:off x="1202869" y="2288720"/>
            <a:ext cx="1850572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Lecciones aprendidas mesas de servicio operación actual 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Estudio de mercado clientes actuales y empresas </a:t>
            </a:r>
            <a:r>
              <a:rPr lang="es-ES" sz="700">
                <a:latin typeface="Reddit Sans"/>
              </a:rPr>
              <a:t>competidoras</a:t>
            </a:r>
            <a:endParaRPr lang="es-ES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Oferta de valor del servicio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Flujo del servicio optimo: diagrama </a:t>
            </a:r>
            <a:r>
              <a:rPr lang="es-ES" sz="700">
                <a:latin typeface="Reddit Sans"/>
              </a:rPr>
              <a:t>de procesos a alto nivel (personas, tecnología</a:t>
            </a:r>
            <a:r>
              <a:rPr lang="es-ES" sz="700" dirty="0">
                <a:latin typeface="Reddit Sans"/>
              </a:rPr>
              <a:t>, herramientas)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Validación del diagrama inicial del servicio de mesas de servicio de nueva generación con la dirección</a:t>
            </a:r>
            <a:endParaRPr lang="es-ES" sz="700" dirty="0">
              <a:latin typeface="Reddit Sans"/>
            </a:endParaRP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FC94FAC-A03D-2BBF-4601-BBD72FF20A2A}"/>
              </a:ext>
            </a:extLst>
          </p:cNvPr>
          <p:cNvSpPr txBox="1"/>
          <p:nvPr/>
        </p:nvSpPr>
        <p:spPr>
          <a:xfrm>
            <a:off x="3053440" y="2288720"/>
            <a:ext cx="1850572" cy="19236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 err="1">
                <a:latin typeface="Reddit Sans"/>
                <a:ea typeface="Reddit Sans"/>
              </a:rPr>
              <a:t>Definici</a:t>
            </a:r>
            <a:r>
              <a:rPr lang="es-ES" sz="700" dirty="0">
                <a:latin typeface="Reddit Sans"/>
                <a:ea typeface="Reddit Sans"/>
              </a:rPr>
              <a:t>ón </a:t>
            </a:r>
            <a:r>
              <a:rPr lang="es-ES" sz="700">
                <a:latin typeface="Reddit Sans"/>
                <a:ea typeface="Reddit Sans"/>
              </a:rPr>
              <a:t>de los modelos</a:t>
            </a:r>
            <a:r>
              <a:rPr lang="es-ES" sz="700" dirty="0">
                <a:latin typeface="Reddit Sans"/>
                <a:ea typeface="Reddit Sans"/>
              </a:rPr>
              <a:t> de los niveles de servicio (N0-N5)</a:t>
            </a: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Definición del modelo de operación (hibrido)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Definición de las </a:t>
            </a:r>
            <a:r>
              <a:rPr lang="es-ES" sz="700">
                <a:latin typeface="Reddit Sans"/>
              </a:rPr>
              <a:t>métricas</a:t>
            </a: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Empezar a definir el modelo de gestión de </a:t>
            </a:r>
            <a:r>
              <a:rPr lang="es-ES" sz="700">
                <a:latin typeface="Reddit Sans"/>
              </a:rPr>
              <a:t>conocimiento</a:t>
            </a:r>
            <a:r>
              <a:rPr lang="es-ES" sz="700" dirty="0">
                <a:latin typeface="Reddit Sans"/>
              </a:rPr>
              <a:t> 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Iniciar el </a:t>
            </a:r>
            <a:r>
              <a:rPr lang="es-ES" sz="700" dirty="0" err="1">
                <a:latin typeface="Reddit Sans"/>
              </a:rPr>
              <a:t>pil</a:t>
            </a:r>
            <a:r>
              <a:rPr lang="es-ES" sz="700" dirty="0">
                <a:latin typeface="Reddit Sans"/>
              </a:rPr>
              <a:t>oto de las herramientas de las mesas de servicio (agentes/</a:t>
            </a:r>
            <a:r>
              <a:rPr lang="es-ES" sz="700" dirty="0" err="1">
                <a:latin typeface="Reddit Sans"/>
              </a:rPr>
              <a:t>re-uso</a:t>
            </a:r>
            <a:r>
              <a:rPr lang="es-ES" sz="700" dirty="0">
                <a:latin typeface="Reddit Sans"/>
              </a:rPr>
              <a:t>)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Validación y </a:t>
            </a:r>
            <a:r>
              <a:rPr lang="es-ES" sz="700" dirty="0" err="1">
                <a:latin typeface="Reddit Sans"/>
              </a:rPr>
              <a:t>feedback</a:t>
            </a:r>
            <a:r>
              <a:rPr lang="es-ES" sz="700" dirty="0">
                <a:latin typeface="Reddit Sans"/>
              </a:rPr>
              <a:t> de las definiciones del servicio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D67D610-C9FA-B84E-1049-D4AA7C737DDC}"/>
              </a:ext>
            </a:extLst>
          </p:cNvPr>
          <p:cNvSpPr txBox="1"/>
          <p:nvPr/>
        </p:nvSpPr>
        <p:spPr>
          <a:xfrm>
            <a:off x="4855026" y="2288720"/>
            <a:ext cx="1850572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Definición de las herramientas de mesa de servicio como de los </a:t>
            </a:r>
            <a:r>
              <a:rPr lang="es-ES" sz="700" dirty="0" err="1">
                <a:latin typeface="Reddit Sans"/>
              </a:rPr>
              <a:t>doashboard</a:t>
            </a:r>
            <a:r>
              <a:rPr lang="es-ES" sz="700" dirty="0">
                <a:latin typeface="Reddit Sans"/>
              </a:rPr>
              <a:t> para la operación de las mesas de servicio en </a:t>
            </a:r>
            <a:r>
              <a:rPr lang="es-ES" sz="700" dirty="0" err="1">
                <a:latin typeface="Reddit Sans"/>
              </a:rPr>
              <a:t>PersonalSoft</a:t>
            </a: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Definir el modelo de costos</a:t>
            </a: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Crear la plantilla de </a:t>
            </a:r>
            <a:r>
              <a:rPr lang="es-ES" sz="700" err="1">
                <a:latin typeface="Reddit Sans"/>
              </a:rPr>
              <a:t>estimaci</a:t>
            </a:r>
            <a:r>
              <a:rPr lang="es-ES" sz="700">
                <a:latin typeface="Reddit Sans"/>
              </a:rPr>
              <a:t>ón del servicio para el equipo comercial (como se va a vender el servicio)</a:t>
            </a: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 dirty="0">
                <a:latin typeface="Reddit Sans"/>
              </a:rPr>
              <a:t>Inicio </a:t>
            </a:r>
            <a:r>
              <a:rPr lang="es-ES" sz="700">
                <a:latin typeface="Reddit Sans"/>
              </a:rPr>
              <a:t>creación colaterales comercial (contratos, propuestas, presentaciones, …)</a:t>
            </a:r>
          </a:p>
          <a:p>
            <a:pPr marL="171450" indent="-171450">
              <a:buFont typeface="Arial"/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 dirty="0">
                <a:latin typeface="Reddit Sans"/>
              </a:rPr>
              <a:t>Inicio </a:t>
            </a:r>
            <a:r>
              <a:rPr lang="es-ES" sz="700">
                <a:latin typeface="Reddit Sans"/>
              </a:rPr>
              <a:t>creación</a:t>
            </a:r>
            <a:r>
              <a:rPr lang="es-ES" sz="700" dirty="0">
                <a:latin typeface="Reddit Sans"/>
              </a:rPr>
              <a:t> colaterales para la </a:t>
            </a:r>
            <a:r>
              <a:rPr lang="es-ES" sz="700">
                <a:latin typeface="Reddit Sans"/>
              </a:rPr>
              <a:t>operación</a:t>
            </a:r>
          </a:p>
          <a:p>
            <a:pPr marL="171450" indent="-171450">
              <a:buFont typeface="Arial"/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Seleccionar cliente piloto para el nuevo servicio</a:t>
            </a:r>
          </a:p>
          <a:p>
            <a:pPr marL="171450" indent="-171450">
              <a:buFont typeface="Arial"/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Inicio</a:t>
            </a:r>
            <a:r>
              <a:rPr lang="es-ES" sz="700" dirty="0">
                <a:latin typeface="Reddit Sans"/>
              </a:rPr>
              <a:t> habilitaciones equipo </a:t>
            </a:r>
            <a:r>
              <a:rPr lang="es-ES" sz="700" b="1" dirty="0">
                <a:latin typeface="Reddit Sans"/>
              </a:rPr>
              <a:t>comercial </a:t>
            </a:r>
            <a:r>
              <a:rPr lang="es-ES" sz="700" dirty="0">
                <a:latin typeface="Reddit Sans"/>
              </a:rPr>
              <a:t>y </a:t>
            </a:r>
            <a:r>
              <a:rPr lang="es-ES" sz="700" b="1">
                <a:latin typeface="Reddit Sans"/>
              </a:rPr>
              <a:t>operación para el cliente piloto.</a:t>
            </a:r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3C497DDC-BF2A-0C01-A11A-988B41A22048}"/>
              </a:ext>
            </a:extLst>
          </p:cNvPr>
          <p:cNvSpPr txBox="1"/>
          <p:nvPr/>
        </p:nvSpPr>
        <p:spPr>
          <a:xfrm>
            <a:off x="6705597" y="2272391"/>
            <a:ext cx="1975758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Arial,Sans-Serif"/>
              <a:buChar char="•"/>
            </a:pPr>
            <a:r>
              <a:rPr lang="es-ES" sz="700" dirty="0">
                <a:latin typeface="Reddit Sans"/>
                <a:ea typeface="Reddit Sans"/>
              </a:rPr>
              <a:t>Finalización </a:t>
            </a:r>
            <a:r>
              <a:rPr lang="es-ES" sz="700" dirty="0" err="1">
                <a:latin typeface="Reddit Sans"/>
                <a:ea typeface="Reddit Sans"/>
              </a:rPr>
              <a:t>colat</a:t>
            </a:r>
            <a:r>
              <a:rPr lang="es-ES" sz="700" dirty="0">
                <a:latin typeface="Reddit Sans"/>
                <a:ea typeface="Reddit Sans"/>
              </a:rPr>
              <a:t>erales equipo comercial y </a:t>
            </a:r>
            <a:r>
              <a:rPr lang="es-ES" sz="700" dirty="0" err="1">
                <a:latin typeface="Reddit Sans"/>
                <a:ea typeface="Reddit Sans"/>
              </a:rPr>
              <a:t>operción</a:t>
            </a:r>
            <a:r>
              <a:rPr lang="es-ES" sz="700" dirty="0">
                <a:latin typeface="Reddit Sans"/>
                <a:ea typeface="Reddit Sans"/>
              </a:rPr>
              <a:t> (contratos, plantillas de estimación, presentaciones, propuestas, …)</a:t>
            </a: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 dirty="0">
                <a:latin typeface="Reddit Sans"/>
                <a:ea typeface="Reddit Sans"/>
              </a:rPr>
              <a:t>Inicio actualización/creación del servicio en  la herramienta de procesos de </a:t>
            </a:r>
            <a:r>
              <a:rPr lang="es-ES" sz="700" dirty="0" err="1">
                <a:latin typeface="Reddit Sans"/>
                <a:ea typeface="Reddit Sans"/>
              </a:rPr>
              <a:t>PersonalSoft</a:t>
            </a: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Habilitaciones equipo comercial  del servicio nuevo</a:t>
            </a: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Habilitaciones equipo de la operación del servicio nuevo</a:t>
            </a: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 dirty="0">
                <a:latin typeface="Reddit Sans"/>
                <a:ea typeface="Reddit Sans"/>
              </a:rPr>
              <a:t>*Priorizar las mesas de servicio a </a:t>
            </a:r>
            <a:r>
              <a:rPr lang="es-ES" sz="700" dirty="0" err="1">
                <a:latin typeface="Reddit Sans"/>
                <a:ea typeface="Reddit Sans"/>
              </a:rPr>
              <a:t>transicionar</a:t>
            </a: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</p:txBody>
      </p:sp>
      <p:sp>
        <p:nvSpPr>
          <p:cNvPr id="9" name="Estrella: 5 puntas 8">
            <a:extLst>
              <a:ext uri="{FF2B5EF4-FFF2-40B4-BE49-F238E27FC236}">
                <a16:creationId xmlns:a16="http://schemas.microsoft.com/office/drawing/2014/main" id="{30D04E13-5961-BFEB-AEC7-DA3787F178A5}"/>
              </a:ext>
            </a:extLst>
          </p:cNvPr>
          <p:cNvSpPr/>
          <p:nvPr/>
        </p:nvSpPr>
        <p:spPr>
          <a:xfrm>
            <a:off x="7025640" y="1821179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strella: 5 puntas 12">
            <a:extLst>
              <a:ext uri="{FF2B5EF4-FFF2-40B4-BE49-F238E27FC236}">
                <a16:creationId xmlns:a16="http://schemas.microsoft.com/office/drawing/2014/main" id="{EA9F544E-B379-6D5B-81BC-FBAE2C91A372}"/>
              </a:ext>
            </a:extLst>
          </p:cNvPr>
          <p:cNvSpPr/>
          <p:nvPr/>
        </p:nvSpPr>
        <p:spPr>
          <a:xfrm>
            <a:off x="6960325" y="1284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E0A2E35-84DC-CEE0-73CD-30C9F3A5114D}"/>
              </a:ext>
            </a:extLst>
          </p:cNvPr>
          <p:cNvSpPr txBox="1"/>
          <p:nvPr/>
        </p:nvSpPr>
        <p:spPr>
          <a:xfrm>
            <a:off x="7097488" y="78372"/>
            <a:ext cx="14532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Entrega incremental del servicio a clientes nuevos</a:t>
            </a:r>
            <a:endParaRPr lang="es-ES"/>
          </a:p>
        </p:txBody>
      </p:sp>
      <p:sp>
        <p:nvSpPr>
          <p:cNvPr id="17" name="Estrella: 5 puntas 16">
            <a:extLst>
              <a:ext uri="{FF2B5EF4-FFF2-40B4-BE49-F238E27FC236}">
                <a16:creationId xmlns:a16="http://schemas.microsoft.com/office/drawing/2014/main" id="{FC3DFC75-74E1-51A8-7F8E-625467DB5484}"/>
              </a:ext>
            </a:extLst>
          </p:cNvPr>
          <p:cNvSpPr/>
          <p:nvPr/>
        </p:nvSpPr>
        <p:spPr>
          <a:xfrm>
            <a:off x="6960324" y="536662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71BEDAA-B323-ED74-9C28-B217DF7137F5}"/>
              </a:ext>
            </a:extLst>
          </p:cNvPr>
          <p:cNvSpPr txBox="1"/>
          <p:nvPr/>
        </p:nvSpPr>
        <p:spPr>
          <a:xfrm>
            <a:off x="7097488" y="486586"/>
            <a:ext cx="1453239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nuevo</a:t>
            </a:r>
            <a:endParaRPr lang="es-ES"/>
          </a:p>
        </p:txBody>
      </p:sp>
      <p:sp>
        <p:nvSpPr>
          <p:cNvPr id="21" name="Estrella: 5 puntas 20">
            <a:extLst>
              <a:ext uri="{FF2B5EF4-FFF2-40B4-BE49-F238E27FC236}">
                <a16:creationId xmlns:a16="http://schemas.microsoft.com/office/drawing/2014/main" id="{A9737F9F-D3F2-5470-00F8-436C71167D9B}"/>
              </a:ext>
            </a:extLst>
          </p:cNvPr>
          <p:cNvSpPr/>
          <p:nvPr/>
        </p:nvSpPr>
        <p:spPr>
          <a:xfrm>
            <a:off x="2796539" y="18211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Estrella: 5 puntas 21">
            <a:extLst>
              <a:ext uri="{FF2B5EF4-FFF2-40B4-BE49-F238E27FC236}">
                <a16:creationId xmlns:a16="http://schemas.microsoft.com/office/drawing/2014/main" id="{3323DB7D-E6AF-D9B3-5FE5-1007D719A064}"/>
              </a:ext>
            </a:extLst>
          </p:cNvPr>
          <p:cNvSpPr/>
          <p:nvPr/>
        </p:nvSpPr>
        <p:spPr>
          <a:xfrm>
            <a:off x="4690653" y="18211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Estrella: 5 puntas 23">
            <a:extLst>
              <a:ext uri="{FF2B5EF4-FFF2-40B4-BE49-F238E27FC236}">
                <a16:creationId xmlns:a16="http://schemas.microsoft.com/office/drawing/2014/main" id="{FC5683D6-CCD0-0EA4-CECD-5BB0CA1CEA71}"/>
              </a:ext>
            </a:extLst>
          </p:cNvPr>
          <p:cNvSpPr/>
          <p:nvPr/>
        </p:nvSpPr>
        <p:spPr>
          <a:xfrm>
            <a:off x="6492238" y="18211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1D456E-D1E4-5551-44B5-59EA84D46039}"/>
              </a:ext>
            </a:extLst>
          </p:cNvPr>
          <p:cNvSpPr txBox="1"/>
          <p:nvPr/>
        </p:nvSpPr>
        <p:spPr>
          <a:xfrm>
            <a:off x="5125807" y="1982560"/>
            <a:ext cx="130628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 err="1">
                <a:solidFill>
                  <a:srgbClr val="8DB5F8"/>
                </a:solidFill>
              </a:rPr>
              <a:t>Productización</a:t>
            </a:r>
            <a:r>
              <a:rPr lang="es-ES" sz="600" i="1" dirty="0">
                <a:solidFill>
                  <a:srgbClr val="8DB5F8"/>
                </a:solidFill>
              </a:rPr>
              <a:t> del servicio y habilitaciones equipo comercial y operación</a:t>
            </a:r>
            <a:endParaRPr lang="es-ES" sz="600" dirty="0">
              <a:solidFill>
                <a:srgbClr val="8DB5F8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B6FB371-87F0-7E92-F471-19FA2BBF8849}"/>
              </a:ext>
            </a:extLst>
          </p:cNvPr>
          <p:cNvSpPr txBox="1"/>
          <p:nvPr/>
        </p:nvSpPr>
        <p:spPr>
          <a:xfrm>
            <a:off x="3329664" y="2004329"/>
            <a:ext cx="12954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>
                <a:solidFill>
                  <a:srgbClr val="8DB5F8"/>
                </a:solidFill>
              </a:rPr>
              <a:t>Diseño Servicio Mesas de Servicio de Nueva </a:t>
            </a:r>
            <a:r>
              <a:rPr lang="es-ES" sz="600" i="1">
                <a:solidFill>
                  <a:srgbClr val="8DB5F8"/>
                </a:solidFill>
              </a:rPr>
              <a:t>Generación</a:t>
            </a:r>
            <a:endParaRPr lang="es-ES" sz="600" i="1" dirty="0">
              <a:solidFill>
                <a:srgbClr val="8DB5F8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130E0D-C440-ECFE-4914-FF321BBB5531}"/>
              </a:ext>
            </a:extLst>
          </p:cNvPr>
          <p:cNvSpPr txBox="1"/>
          <p:nvPr/>
        </p:nvSpPr>
        <p:spPr>
          <a:xfrm>
            <a:off x="6720562" y="1982557"/>
            <a:ext cx="16764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>
                <a:solidFill>
                  <a:srgbClr val="8DB5F8"/>
                </a:solidFill>
              </a:rPr>
              <a:t>Lanzamiento, definición de procesos, y empezar transición </a:t>
            </a:r>
            <a:r>
              <a:rPr lang="es-ES" sz="600" i="1">
                <a:solidFill>
                  <a:srgbClr val="8DB5F8"/>
                </a:solidFill>
              </a:rPr>
              <a:t>clientes</a:t>
            </a:r>
            <a:r>
              <a:rPr lang="es-ES" sz="600" i="1" dirty="0">
                <a:solidFill>
                  <a:srgbClr val="8DB5F8"/>
                </a:solidFill>
              </a:rPr>
              <a:t> actuales</a:t>
            </a:r>
            <a:endParaRPr lang="es-ES" sz="600" dirty="0">
              <a:solidFill>
                <a:srgbClr val="8DB5F8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C368C-4BDE-93D1-8D67-93C0CFC01E83}"/>
              </a:ext>
            </a:extLst>
          </p:cNvPr>
          <p:cNvSpPr txBox="1"/>
          <p:nvPr/>
        </p:nvSpPr>
        <p:spPr>
          <a:xfrm>
            <a:off x="1473650" y="1982554"/>
            <a:ext cx="1322616" cy="287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>
                <a:solidFill>
                  <a:srgbClr val="8DB5F8"/>
                </a:solidFill>
              </a:rPr>
              <a:t>Evaluación de la operación</a:t>
            </a:r>
            <a:r>
              <a:rPr lang="es-ES" sz="600" i="1">
                <a:solidFill>
                  <a:srgbClr val="8DB5F8"/>
                </a:solidFill>
              </a:rPr>
              <a:t> y boceto inicial del servicio</a:t>
            </a:r>
          </a:p>
        </p:txBody>
      </p:sp>
    </p:spTree>
    <p:extLst>
      <p:ext uri="{BB962C8B-B14F-4D97-AF65-F5344CB8AC3E}">
        <p14:creationId xmlns:p14="http://schemas.microsoft.com/office/powerpoint/2010/main" val="748627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14</Slides>
  <Notes>11</Notes>
  <HiddenSlides>4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14</vt:i4>
      </vt:variant>
    </vt:vector>
  </HeadingPairs>
  <TitlesOfParts>
    <vt:vector size="16" baseType="lpstr">
      <vt:lpstr>Simple Light</vt:lpstr>
      <vt:lpstr>Tema de Office</vt:lpstr>
      <vt:lpstr>Mesa de Servicio de Nueva Generación</vt:lpstr>
      <vt:lpstr>Valor del Servicio</vt:lpstr>
      <vt:lpstr>Algunos dolores de la operación actual de las Mesas de Servicio</vt:lpstr>
      <vt:lpstr>Presentación de PowerPoint</vt:lpstr>
      <vt:lpstr>Mesas de Servicio Actuales</vt:lpstr>
      <vt:lpstr>Roadmap 2026</vt:lpstr>
      <vt:lpstr>Nivel de Madurez de las Mesas de Servicio – A dónde queremos llegar</vt:lpstr>
      <vt:lpstr>Presentación de PowerPoint</vt:lpstr>
      <vt:lpstr>Roadmap Mesa de Servicios de Nueva Generación Modelos de Transición</vt:lpstr>
      <vt:lpstr>Roadmap Mesa de Servicios de Nueva Generación Modelos de Transición</vt:lpstr>
      <vt:lpstr>Roadmap Mesa de Servicios de Nueva Generación Servicio Optimo y Estandarizado</vt:lpstr>
      <vt:lpstr>Roadmap Mesa de Servicios de Nueva Generación Servicio Optimo y Estandarizado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846</cp:revision>
  <dcterms:modified xsi:type="dcterms:W3CDTF">2026-07-02T23:23:01Z</dcterms:modified>
</cp:coreProperties>
</file>