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6" r:id="rId10"/>
    <p:sldId id="267" r:id="rId11"/>
    <p:sldId id="268" r:id="rId12"/>
  </p:sldIdLst>
  <p:sldSz cx="9144000" cy="5143500" type="screen16x9"/>
  <p:notesSz cx="6858000" cy="9144000"/>
  <p:embeddedFontLst>
    <p:embeddedFont>
      <p:font typeface="Reddit Sans" panose="020B0604020202020204" charset="0"/>
      <p:regular r:id="rId14"/>
      <p:bold r:id="rId15"/>
      <p:italic r:id="rId16"/>
      <p:boldItalic r:id="rId17"/>
    </p:embeddedFont>
    <p:embeddedFont>
      <p:font typeface="Reddit Sans ExtraBold" panose="020B0604020202020204" charset="0"/>
      <p:bold r:id="rId18"/>
      <p:boldItalic r:id="rId19"/>
    </p:embeddedFont>
    <p:embeddedFont>
      <p:font typeface="Reddit Sans Light" panose="020B0604020202020204" charset="0"/>
      <p:regular r:id="rId20"/>
      <p:bold r:id="rId21"/>
      <p:italic r:id="rId22"/>
      <p:boldItalic r:id="rId23"/>
    </p:embeddedFont>
    <p:embeddedFont>
      <p:font typeface="Reddit Sans Medium" panose="020B0604020202020204" charset="0"/>
      <p:regular r:id="rId24"/>
      <p:bold r:id="rId25"/>
      <p:italic r:id="rId26"/>
      <p:boldItalic r:id="rId27"/>
    </p:embeddedFont>
    <p:embeddedFont>
      <p:font typeface="Reddit Sans SemiBold" panose="020B0604020202020204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4" roundtripDataSignature="AMtx7mjbXstnVTn4VoWkkWw8RkcDPqyO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FEE7CD7-7DD5-4E0E-8F7E-406774204185}">
  <a:tblStyle styleId="{1FEE7CD7-7DD5-4E0E-8F7E-4067742041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46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font" Target="fonts/font18.fntdata"/><Relationship Id="rId44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font" Target="fonts/font17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e80574407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e80574407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7" name="Google Shape;13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" name="Google Shape;15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657f5ba65c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g3657f5ba65c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57f5ba65c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57f5ba65c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e8057440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7e8057440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g37e80574407_0_7" title="textura.jpg"/>
          <p:cNvPicPr preferRelativeResize="0"/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g37e80574407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19" name="Google Shape;19;g37e80574407_0_7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20" name="Google Shape;20;g37e80574407_0_7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7e80574407_0_7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43" name="Google Shape;43;g37e80574407_0_46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44" name="Google Shape;44;g37e80574407_0_46" title="isotipo_pos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g37e80574407_0_46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4000"/>
              <a:buNone/>
              <a:defRPr sz="40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54" name="Google Shape;54;p12" title="isotipo_ne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p14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04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1" name="Google Shape;71;p16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5" name="Google Shape;75;p15" title="Recurso 1.png"/>
          <p:cNvPicPr preferRelativeResize="0"/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 title="Recurso 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9" name="Google Shape;79;g37e80574407_0_110" title="Recurso 1.png"/>
          <p:cNvPicPr preferRelativeResize="0"/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g37e80574407_0_110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g37e80574407_0_110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100"/>
              <a:buFont typeface="Reddit Sans Black"/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  <a:sym typeface="Reddit Sans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dit Sans Light"/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  <a:sym typeface="Reddit San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6">
          <p15:clr>
            <a:srgbClr val="E46962"/>
          </p15:clr>
        </p15:guide>
        <p15:guide id="2" orient="horz" pos="2903">
          <p15:clr>
            <a:srgbClr val="E46962"/>
          </p15:clr>
        </p15:guide>
        <p15:guide id="3" pos="28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657177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88" name="Google Shape;88;p17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>
            <a:spLocks noGrp="1"/>
          </p:cNvSpPr>
          <p:nvPr>
            <p:ph type="body" idx="2"/>
          </p:nvPr>
        </p:nvSpPr>
        <p:spPr>
          <a:xfrm>
            <a:off x="450000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54C7C093-64D9-3144-9EE6-858CDE2C30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2BC"/>
              </a:buClr>
              <a:buSzPts val="12000"/>
              <a:buNone/>
              <a:defRPr sz="12000">
                <a:solidFill>
                  <a:srgbClr val="0072B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98" name="Google Shape;98;p19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7">
          <p15:clr>
            <a:srgbClr val="E46962"/>
          </p15:clr>
        </p15:guide>
        <p15:guide id="2" pos="283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dit Sans"/>
              <a:buNone/>
              <a:defRPr sz="2800" b="1" i="0" u="none" strike="noStrike" cap="none">
                <a:solidFill>
                  <a:schemeClr val="dk1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4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e80574407_0_130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Mesa de Servicio de Proxima Generación</a:t>
            </a:r>
            <a:endParaRPr dirty="0"/>
          </a:p>
        </p:txBody>
      </p:sp>
      <p:sp>
        <p:nvSpPr>
          <p:cNvPr id="110" name="Google Shape;110;g37e80574407_0_130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dirty="0" err="1"/>
              <a:t>Roadmap</a:t>
            </a:r>
            <a:r>
              <a:rPr lang="es-CO" dirty="0"/>
              <a:t> Julio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"/>
          <p:cNvSpPr txBox="1">
            <a:spLocks noGrp="1"/>
          </p:cNvSpPr>
          <p:nvPr>
            <p:ph type="subTitle" idx="1"/>
          </p:nvPr>
        </p:nvSpPr>
        <p:spPr>
          <a:xfrm>
            <a:off x="526200" y="4037050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" sz="1200" b="1">
                <a:latin typeface="Reddit Sans"/>
                <a:ea typeface="Reddit Sans"/>
                <a:cs typeface="Reddit Sans"/>
                <a:sym typeface="Reddit Sans"/>
              </a:rPr>
              <a:t>Texto o reseña alusiva a la imagen</a:t>
            </a:r>
            <a:endParaRPr/>
          </a:p>
        </p:txBody>
      </p:sp>
      <p:sp>
        <p:nvSpPr>
          <p:cNvPr id="116" name="Google Shape;116;p4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00">
                <a:solidFill>
                  <a:srgbClr val="222222"/>
                </a:solidFill>
                <a:highlight>
                  <a:srgbClr val="FFFFFF"/>
                </a:highlight>
              </a:rPr>
              <a:t>Vivimos en “modo solución”.</a:t>
            </a:r>
            <a:endParaRPr sz="1400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400"/>
              <a:buNone/>
            </a:pPr>
            <a:r>
              <a:rPr lang="es" sz="1400">
                <a:solidFill>
                  <a:srgbClr val="222222"/>
                </a:solidFill>
                <a:highlight>
                  <a:srgbClr val="FFFFFF"/>
                </a:highlight>
              </a:rPr>
              <a:t>Es nuestra forma de pensar, de actuar, de enfrentar cualquier desafío. No se trata de tener la respuesta de todo, sino de hacer lo posible por conseguirla.</a:t>
            </a:r>
            <a:endParaRPr sz="1400"/>
          </a:p>
        </p:txBody>
      </p:sp>
      <p:pic>
        <p:nvPicPr>
          <p:cNvPr id="117" name="Google Shape;117;p4" title="marquilla2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88125" y="1325700"/>
            <a:ext cx="2552850" cy="255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4998"/>
              <a:buFont typeface="Arial"/>
              <a:buNone/>
            </a:pPr>
            <a:r>
              <a:rPr lang="es" sz="1800" dirty="0">
                <a:solidFill>
                  <a:srgbClr val="263474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Título</a:t>
            </a:r>
            <a:endParaRPr dirty="0"/>
          </a:p>
        </p:txBody>
      </p:sp>
      <p:cxnSp>
        <p:nvCxnSpPr>
          <p:cNvPr id="119" name="Google Shape;119;p4"/>
          <p:cNvCxnSpPr/>
          <p:nvPr/>
        </p:nvCxnSpPr>
        <p:spPr>
          <a:xfrm rot="10800000" flipH="1">
            <a:off x="450000" y="942950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Título + Contenido Clásico</a:t>
            </a:r>
            <a:endParaRPr/>
          </a:p>
        </p:txBody>
      </p:sp>
      <p:sp>
        <p:nvSpPr>
          <p:cNvPr id="125" name="Google Shape;125;g3657f5ba65c_1_28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361350" y="504411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</a:pPr>
            <a:r>
              <a:rPr lang="es" sz="4000">
                <a:highlight>
                  <a:srgbClr val="FFFFFF"/>
                </a:highlight>
              </a:rPr>
              <a:t>Herramientas personalizadas que optimizan procesos</a:t>
            </a:r>
            <a:endParaRPr sz="4000"/>
          </a:p>
        </p:txBody>
      </p:sp>
      <p:sp>
        <p:nvSpPr>
          <p:cNvPr id="131" name="Google Shape;131;p2"/>
          <p:cNvSpPr txBox="1">
            <a:spLocks noGrp="1"/>
          </p:cNvSpPr>
          <p:nvPr>
            <p:ph type="body" idx="1"/>
          </p:nvPr>
        </p:nvSpPr>
        <p:spPr>
          <a:xfrm>
            <a:off x="361350" y="2815250"/>
            <a:ext cx="56172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400"/>
              <a:buNone/>
            </a:pPr>
            <a:r>
              <a:rPr lang="es" sz="1400" dirty="0">
                <a:solidFill>
                  <a:srgbClr val="222222"/>
                </a:solidFill>
              </a:rPr>
              <a:t>Mediante ingeniería de procesos, desarrollo de software y automatización, brindamos soluciones innovadoras, confiables y sostenibles, permitiendo a nuestros clientes enfocarse en su negocio, diferenciarse y liderar con eficiencia.</a:t>
            </a:r>
            <a:endParaRPr sz="1400" dirty="0"/>
          </a:p>
        </p:txBody>
      </p:sp>
      <p:cxnSp>
        <p:nvCxnSpPr>
          <p:cNvPr id="133" name="Google Shape;133;p2"/>
          <p:cNvCxnSpPr/>
          <p:nvPr/>
        </p:nvCxnSpPr>
        <p:spPr>
          <a:xfrm rot="10800000" flipH="1">
            <a:off x="0" y="2651850"/>
            <a:ext cx="5743800" cy="36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4" name="Google Shape;134;p2" title="isotipo_po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4E772C19-61FD-9E01-8D45-04096758E3D3}"/>
              </a:ext>
            </a:extLst>
          </p:cNvPr>
          <p:cNvSpPr/>
          <p:nvPr/>
        </p:nvSpPr>
        <p:spPr>
          <a:xfrm>
            <a:off x="6206836" y="0"/>
            <a:ext cx="2937164" cy="5143500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32" name="Google Shape;132;p2" title="textura 1.jpg"/>
          <p:cNvPicPr preferRelativeResize="0"/>
          <p:nvPr/>
        </p:nvPicPr>
        <p:blipFill rotWithShape="1">
          <a:blip r:embed="rId4">
            <a:alphaModFix/>
          </a:blip>
          <a:srcRect l="37172" r="5841"/>
          <a:stretch/>
        </p:blipFill>
        <p:spPr>
          <a:xfrm>
            <a:off x="6206836" y="0"/>
            <a:ext cx="29310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31;p2">
            <a:extLst>
              <a:ext uri="{FF2B5EF4-FFF2-40B4-BE49-F238E27FC236}">
                <a16:creationId xmlns:a16="http://schemas.microsoft.com/office/drawing/2014/main" id="{F3B0B781-D2F3-B908-B13C-3BE7B1D26DB5}"/>
              </a:ext>
            </a:extLst>
          </p:cNvPr>
          <p:cNvSpPr txBox="1">
            <a:spLocks/>
          </p:cNvSpPr>
          <p:nvPr/>
        </p:nvSpPr>
        <p:spPr>
          <a:xfrm>
            <a:off x="6636640" y="2070014"/>
            <a:ext cx="2230895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pPr marL="0" indent="0" algn="ctr">
              <a:spcAft>
                <a:spcPts val="1200"/>
              </a:spcAft>
              <a:buFont typeface="Reddit Sans"/>
              <a:buNone/>
            </a:pPr>
            <a:r>
              <a:rPr lang="es-MX" dirty="0">
                <a:solidFill>
                  <a:schemeClr val="bg1">
                    <a:lumMod val="95000"/>
                  </a:schemeClr>
                </a:solidFill>
              </a:rPr>
              <a:t>Inserta aquí una fotografía o imagen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"/>
          <p:cNvSpPr txBox="1">
            <a:spLocks noGrp="1"/>
          </p:cNvSpPr>
          <p:nvPr>
            <p:ph type="title"/>
          </p:nvPr>
        </p:nvSpPr>
        <p:spPr>
          <a:xfrm>
            <a:off x="490250" y="1101350"/>
            <a:ext cx="83130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s" sz="5100" dirty="0"/>
              <a:t>La unión de personas</a:t>
            </a:r>
            <a:endParaRPr sz="51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s" sz="5100" dirty="0"/>
              <a:t>y tecnología puede</a:t>
            </a:r>
            <a:endParaRPr sz="51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s" sz="5100" dirty="0"/>
              <a:t>transformar el mundo </a:t>
            </a:r>
            <a:endParaRPr sz="5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4999"/>
              <a:buFont typeface="Arial"/>
              <a:buNone/>
            </a:pPr>
            <a:r>
              <a:rPr lang="es" sz="1800" dirty="0">
                <a:solidFill>
                  <a:srgbClr val="263474"/>
                </a:solidFill>
                <a:latin typeface="Reddit Sans" pitchFamily="2" charset="0"/>
                <a:ea typeface="Reddit Sans" pitchFamily="2" charset="0"/>
                <a:cs typeface="Reddit Sans Medium"/>
                <a:sym typeface="Reddit Sans Medium"/>
              </a:rPr>
              <a:t>Título</a:t>
            </a:r>
            <a:endParaRPr dirty="0"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5" name="Google Shape;145;p5"/>
          <p:cNvSpPr txBox="1">
            <a:spLocks noGrp="1"/>
          </p:cNvSpPr>
          <p:nvPr>
            <p:ph type="body" idx="1"/>
          </p:nvPr>
        </p:nvSpPr>
        <p:spPr>
          <a:xfrm>
            <a:off x="4771900" y="2957750"/>
            <a:ext cx="3587400" cy="12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400"/>
              <a:buNone/>
            </a:pPr>
            <a:r>
              <a:rPr lang="es" sz="1400">
                <a:solidFill>
                  <a:schemeClr val="dk1"/>
                </a:solidFill>
                <a:highlight>
                  <a:srgbClr val="FFFFFF"/>
                </a:highlight>
              </a:rPr>
              <a:t>Ofrecemos</a:t>
            </a:r>
            <a:r>
              <a:rPr lang="es" sz="1400">
                <a:solidFill>
                  <a:schemeClr val="dk1"/>
                </a:solidFill>
              </a:rPr>
              <a:t> </a:t>
            </a:r>
            <a:r>
              <a:rPr lang="es" sz="1400">
                <a:solidFill>
                  <a:schemeClr val="dk1"/>
                </a:solidFill>
                <a:highlight>
                  <a:srgbClr val="FFFFFF"/>
                </a:highlight>
              </a:rPr>
              <a:t>soluciones innovadoras que optimizan procesos, potencian </a:t>
            </a:r>
            <a:r>
              <a:rPr lang="es" sz="1400">
                <a:solidFill>
                  <a:schemeClr val="dk1"/>
                </a:solidFill>
              </a:rPr>
              <a:t>el</a:t>
            </a:r>
            <a:r>
              <a:rPr lang="es" sz="1400">
                <a:solidFill>
                  <a:schemeClr val="dk1"/>
                </a:solidFill>
                <a:highlight>
                  <a:srgbClr val="FFFFFF"/>
                </a:highlight>
              </a:rPr>
              <a:t> conocimiento y aceleran la transformación digital de las empresas.</a:t>
            </a:r>
            <a:endParaRPr sz="1400"/>
          </a:p>
        </p:txBody>
      </p:sp>
      <p:sp>
        <p:nvSpPr>
          <p:cNvPr id="146" name="Google Shape;146;p5"/>
          <p:cNvSpPr txBox="1">
            <a:spLocks noGrp="1"/>
          </p:cNvSpPr>
          <p:nvPr>
            <p:ph type="title" idx="2"/>
          </p:nvPr>
        </p:nvSpPr>
        <p:spPr>
          <a:xfrm>
            <a:off x="463050" y="1089100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</a:pPr>
            <a:r>
              <a:rPr lang="es" dirty="0"/>
              <a:t>Hacemos que tu estrategia se desarrolle.</a:t>
            </a:r>
            <a:endParaRPr dirty="0"/>
          </a:p>
        </p:txBody>
      </p:sp>
      <p:cxnSp>
        <p:nvCxnSpPr>
          <p:cNvPr id="147" name="Google Shape;147;p5"/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8"/>
          <p:cNvSpPr txBox="1">
            <a:spLocks noGrp="1"/>
          </p:cNvSpPr>
          <p:nvPr>
            <p:ph type="title"/>
          </p:nvPr>
        </p:nvSpPr>
        <p:spPr>
          <a:xfrm>
            <a:off x="348009" y="378118"/>
            <a:ext cx="1572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s" dirty="0"/>
              <a:t>Estadísticas</a:t>
            </a:r>
            <a:endParaRPr dirty="0"/>
          </a:p>
        </p:txBody>
      </p:sp>
      <p:pic>
        <p:nvPicPr>
          <p:cNvPr id="153" name="Google Shape;153;p8" title="Puntuación obtenid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67475" y="1409825"/>
            <a:ext cx="3323076" cy="2054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8" title="Puntuación obtenida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9850" y="2008713"/>
            <a:ext cx="2792949" cy="1726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8" title="Puntuación obtenida"/>
          <p:cNvPicPr preferRelativeResize="0"/>
          <p:nvPr/>
        </p:nvPicPr>
        <p:blipFill rotWithShape="1">
          <a:blip r:embed="rId5">
            <a:alphaModFix/>
          </a:blip>
          <a:srcRect l="18813" r="16757"/>
          <a:stretch/>
        </p:blipFill>
        <p:spPr>
          <a:xfrm>
            <a:off x="3276750" y="1893975"/>
            <a:ext cx="2038524" cy="195645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8"/>
          <p:cNvSpPr txBox="1"/>
          <p:nvPr/>
        </p:nvSpPr>
        <p:spPr>
          <a:xfrm>
            <a:off x="3951600" y="2711675"/>
            <a:ext cx="688800" cy="3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" sz="1800" b="0" i="0" u="none" strike="noStrike" cap="none">
                <a:solidFill>
                  <a:srgbClr val="0072BC"/>
                </a:solidFill>
                <a:latin typeface="Reddit Sans ExtraBold"/>
                <a:ea typeface="Reddit Sans ExtraBold"/>
                <a:cs typeface="Reddit Sans ExtraBold"/>
                <a:sym typeface="Reddit Sans ExtraBold"/>
              </a:rPr>
              <a:t>30%</a:t>
            </a:r>
            <a:endParaRPr sz="1800" b="0" i="0" u="none" strike="noStrike" cap="none">
              <a:solidFill>
                <a:srgbClr val="0072BC"/>
              </a:solidFill>
              <a:latin typeface="Reddit Sans ExtraBold"/>
              <a:ea typeface="Reddit Sans ExtraBold"/>
              <a:cs typeface="Reddit Sans ExtraBold"/>
              <a:sym typeface="Reddit Sans ExtraBold"/>
            </a:endParaRPr>
          </a:p>
        </p:txBody>
      </p:sp>
      <p:cxnSp>
        <p:nvCxnSpPr>
          <p:cNvPr id="157" name="Google Shape;157;p8"/>
          <p:cNvCxnSpPr/>
          <p:nvPr/>
        </p:nvCxnSpPr>
        <p:spPr>
          <a:xfrm rot="10800000" flipH="1">
            <a:off x="408437" y="772355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3" name="Google Shape;163;g3657f5ba65c_1_4"/>
          <p:cNvGraphicFramePr/>
          <p:nvPr/>
        </p:nvGraphicFramePr>
        <p:xfrm>
          <a:off x="449992" y="2146625"/>
          <a:ext cx="3778700" cy="1610845"/>
        </p:xfrm>
        <a:graphic>
          <a:graphicData uri="http://schemas.openxmlformats.org/drawingml/2006/table">
            <a:tbl>
              <a:tblPr>
                <a:noFill/>
                <a:tableStyleId>{1FEE7CD7-7DD5-4E0E-8F7E-406774204185}</a:tableStyleId>
              </a:tblPr>
              <a:tblGrid>
                <a:gridCol w="944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4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9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 b="1">
                          <a:solidFill>
                            <a:schemeClr val="lt1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Título</a:t>
                      </a:r>
                      <a:endParaRPr sz="1100" b="1">
                        <a:solidFill>
                          <a:schemeClr val="lt1"/>
                        </a:solidFill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91425" marR="91425" marT="91425" marB="91425" anchor="ctr">
                    <a:solidFill>
                      <a:srgbClr val="26347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100" b="1">
                          <a:solidFill>
                            <a:schemeClr val="lt1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Título</a:t>
                      </a:r>
                      <a:endParaRPr sz="1100" b="1">
                        <a:solidFill>
                          <a:schemeClr val="lt1"/>
                        </a:solidFill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91425" marR="91425" marT="91425" marB="91425" anchor="ctr">
                    <a:solidFill>
                      <a:srgbClr val="26347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100" b="1">
                          <a:solidFill>
                            <a:schemeClr val="lt1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Título</a:t>
                      </a:r>
                      <a:endParaRPr sz="1100" b="1">
                        <a:solidFill>
                          <a:schemeClr val="lt1"/>
                        </a:solidFill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91425" marR="91425" marT="91425" marB="91425" anchor="ctr">
                    <a:solidFill>
                      <a:srgbClr val="26347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100" b="1">
                          <a:solidFill>
                            <a:schemeClr val="lt1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Título</a:t>
                      </a:r>
                      <a:endParaRPr sz="1100" b="1">
                        <a:solidFill>
                          <a:schemeClr val="lt1"/>
                        </a:solidFill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91425" marR="91425" marT="91425" marB="91425" anchor="ctr">
                    <a:solidFill>
                      <a:srgbClr val="263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7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latin typeface="Reddit Sans Light"/>
                          <a:ea typeface="Reddit Sans Light"/>
                          <a:cs typeface="Reddit Sans Light"/>
                          <a:sym typeface="Reddit Sans Light"/>
                        </a:rPr>
                        <a:t>Contenido</a:t>
                      </a: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7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7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4" name="Google Shape;164;g3657f5ba65c_1_4"/>
          <p:cNvSpPr txBox="1">
            <a:spLocks noGrp="1"/>
          </p:cNvSpPr>
          <p:nvPr>
            <p:ph type="title"/>
          </p:nvPr>
        </p:nvSpPr>
        <p:spPr>
          <a:xfrm>
            <a:off x="371899" y="3796400"/>
            <a:ext cx="3527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53191"/>
              <a:buNone/>
            </a:pPr>
            <a:r>
              <a:rPr lang="es" sz="939"/>
              <a:t>Gráfica 1.0</a:t>
            </a:r>
            <a:endParaRPr sz="939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53191"/>
              <a:buNone/>
            </a:pPr>
            <a:endParaRPr sz="939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00618"/>
              <a:buNone/>
            </a:pPr>
            <a:r>
              <a:rPr lang="es" sz="717" b="0">
                <a:latin typeface="Reddit Sans Light"/>
                <a:ea typeface="Reddit Sans Light"/>
                <a:cs typeface="Reddit Sans Light"/>
                <a:sym typeface="Reddit Sans Light"/>
              </a:rPr>
              <a:t>Lorem ipsum dolor sit amet, consectetuer adipiscing elit, sed diam nonummy nibh euismod tincidunt ut laoreet dolore magna aliquam erat volutpat.</a:t>
            </a:r>
            <a:endParaRPr sz="717" b="0">
              <a:latin typeface="Reddit Sans Light"/>
              <a:ea typeface="Reddit Sans Light"/>
              <a:cs typeface="Reddit Sans Light"/>
              <a:sym typeface="Reddit Sans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53191"/>
              <a:buNone/>
            </a:pPr>
            <a:endParaRPr sz="939"/>
          </a:p>
        </p:txBody>
      </p:sp>
      <p:pic>
        <p:nvPicPr>
          <p:cNvPr id="165" name="Google Shape;165;g3657f5ba65c_1_4" title="Ventas por Client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21557" y="1664625"/>
            <a:ext cx="3335301" cy="24567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6" name="Google Shape;166;g3657f5ba65c_1_4"/>
          <p:cNvCxnSpPr/>
          <p:nvPr/>
        </p:nvCxnSpPr>
        <p:spPr>
          <a:xfrm rot="10800000" flipH="1">
            <a:off x="449992" y="774400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Google Shape;152;p8">
            <a:extLst>
              <a:ext uri="{FF2B5EF4-FFF2-40B4-BE49-F238E27FC236}">
                <a16:creationId xmlns:a16="http://schemas.microsoft.com/office/drawing/2014/main" id="{F04EF38D-0E4A-5EF5-3AD8-9D4D20942A8F}"/>
              </a:ext>
            </a:extLst>
          </p:cNvPr>
          <p:cNvSpPr txBox="1">
            <a:spLocks/>
          </p:cNvSpPr>
          <p:nvPr/>
        </p:nvSpPr>
        <p:spPr>
          <a:xfrm>
            <a:off x="348008" y="378118"/>
            <a:ext cx="2506027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Font typeface="Reddit Sans"/>
              <a:buNone/>
              <a:defRPr sz="1600" b="1" i="0" u="none" strike="noStrike" cap="none">
                <a:solidFill>
                  <a:srgbClr val="0E337C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CO" dirty="0"/>
              <a:t>Modelo de gráficos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657f5ba65c_1_33"/>
          <p:cNvSpPr txBox="1">
            <a:spLocks noGrp="1"/>
          </p:cNvSpPr>
          <p:nvPr>
            <p:ph type="title"/>
          </p:nvPr>
        </p:nvSpPr>
        <p:spPr>
          <a:xfrm>
            <a:off x="340575" y="445025"/>
            <a:ext cx="8211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cxnSp>
        <p:nvCxnSpPr>
          <p:cNvPr id="179" name="Google Shape;179;g3657f5ba65c_1_33"/>
          <p:cNvCxnSpPr/>
          <p:nvPr/>
        </p:nvCxnSpPr>
        <p:spPr>
          <a:xfrm rot="10800000" flipH="1">
            <a:off x="394425" y="824004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94A79B9-6C1E-3AD9-A5AD-1411B720267C}"/>
              </a:ext>
            </a:extLst>
          </p:cNvPr>
          <p:cNvSpPr txBox="1"/>
          <p:nvPr/>
        </p:nvSpPr>
        <p:spPr>
          <a:xfrm>
            <a:off x="309802" y="171450"/>
            <a:ext cx="396698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42900">
              <a:buClrTx/>
              <a:defRPr sz="2400" b="1">
                <a:solidFill>
                  <a:srgbClr val="005DAA"/>
                </a:solidFill>
              </a:defRPr>
            </a:pPr>
            <a:r>
              <a:rPr sz="1800" b="1" kern="1200">
                <a:solidFill>
                  <a:srgbClr val="005DAA"/>
                </a:solidFill>
                <a:latin typeface="Calibri"/>
                <a:ea typeface="+mn-ea"/>
                <a:cs typeface="+mn-cs"/>
              </a:rPr>
              <a:t>Roadmap – Mesa de Servicios Gen Next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939C0A0-F78B-26FB-35C3-0DF367381D0F}"/>
              </a:ext>
            </a:extLst>
          </p:cNvPr>
          <p:cNvSpPr/>
          <p:nvPr/>
        </p:nvSpPr>
        <p:spPr>
          <a:xfrm>
            <a:off x="1441371" y="617220"/>
            <a:ext cx="1474470" cy="308610"/>
          </a:xfrm>
          <a:prstGeom prst="round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buClrTx/>
              <a:defRPr sz="1500" b="1">
                <a:solidFill>
                  <a:srgbClr val="FFFFFF"/>
                </a:solidFill>
              </a:defRPr>
            </a:pPr>
            <a:r>
              <a:rPr sz="1125" b="1" kern="1200">
                <a:solidFill>
                  <a:srgbClr val="FFFFFF"/>
                </a:solidFill>
                <a:latin typeface="Calibri"/>
              </a:rPr>
              <a:t>JULIO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D8C6FB3-5EB4-B448-9671-D96A3EE0D15B}"/>
              </a:ext>
            </a:extLst>
          </p:cNvPr>
          <p:cNvSpPr/>
          <p:nvPr/>
        </p:nvSpPr>
        <p:spPr>
          <a:xfrm>
            <a:off x="3190161" y="617220"/>
            <a:ext cx="1474470" cy="308610"/>
          </a:xfrm>
          <a:prstGeom prst="round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buClrTx/>
              <a:defRPr sz="1500" b="1">
                <a:solidFill>
                  <a:srgbClr val="FFFFFF"/>
                </a:solidFill>
              </a:defRPr>
            </a:pPr>
            <a:r>
              <a:rPr sz="1125" b="1" kern="1200">
                <a:solidFill>
                  <a:srgbClr val="FFFFFF"/>
                </a:solidFill>
                <a:latin typeface="Calibri"/>
              </a:rPr>
              <a:t>AGOSTO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D6DD0B1-6981-ADCE-9A63-2BE90E5AB6DE}"/>
              </a:ext>
            </a:extLst>
          </p:cNvPr>
          <p:cNvSpPr/>
          <p:nvPr/>
        </p:nvSpPr>
        <p:spPr>
          <a:xfrm>
            <a:off x="4938950" y="617220"/>
            <a:ext cx="1474470" cy="308610"/>
          </a:xfrm>
          <a:prstGeom prst="round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buClrTx/>
              <a:defRPr sz="1500" b="1">
                <a:solidFill>
                  <a:srgbClr val="FFFFFF"/>
                </a:solidFill>
              </a:defRPr>
            </a:pPr>
            <a:r>
              <a:rPr sz="1125" b="1" kern="1200">
                <a:solidFill>
                  <a:srgbClr val="FFFFFF"/>
                </a:solidFill>
                <a:latin typeface="Calibri"/>
              </a:rPr>
              <a:t>SEPTIEMBRE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BC30886-9C32-0ACF-7A1C-8E1068F4DAD0}"/>
              </a:ext>
            </a:extLst>
          </p:cNvPr>
          <p:cNvSpPr/>
          <p:nvPr/>
        </p:nvSpPr>
        <p:spPr>
          <a:xfrm>
            <a:off x="6687741" y="617220"/>
            <a:ext cx="1474470" cy="308610"/>
          </a:xfrm>
          <a:prstGeom prst="round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buClrTx/>
              <a:defRPr sz="1500" b="1">
                <a:solidFill>
                  <a:srgbClr val="FFFFFF"/>
                </a:solidFill>
              </a:defRPr>
            </a:pPr>
            <a:r>
              <a:rPr sz="1125" b="1" kern="1200">
                <a:solidFill>
                  <a:srgbClr val="FFFFFF"/>
                </a:solidFill>
                <a:latin typeface="Calibri"/>
              </a:rPr>
              <a:t>OCTUBRE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EC308A-0DB1-6308-5482-ED31B745D7B0}"/>
              </a:ext>
            </a:extLst>
          </p:cNvPr>
          <p:cNvSpPr/>
          <p:nvPr/>
        </p:nvSpPr>
        <p:spPr>
          <a:xfrm>
            <a:off x="1441371" y="548640"/>
            <a:ext cx="13716" cy="397764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buClrTx/>
            </a:pPr>
            <a:endParaRPr sz="1350" kern="12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681B69-BF4F-7D75-D336-E899A489E532}"/>
              </a:ext>
            </a:extLst>
          </p:cNvPr>
          <p:cNvSpPr/>
          <p:nvPr/>
        </p:nvSpPr>
        <p:spPr>
          <a:xfrm>
            <a:off x="3190161" y="548640"/>
            <a:ext cx="13716" cy="397764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buClrTx/>
            </a:pPr>
            <a:endParaRPr sz="1350" kern="12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AB684A-5098-18CC-F5E6-5738A8037341}"/>
              </a:ext>
            </a:extLst>
          </p:cNvPr>
          <p:cNvSpPr/>
          <p:nvPr/>
        </p:nvSpPr>
        <p:spPr>
          <a:xfrm>
            <a:off x="4938950" y="548640"/>
            <a:ext cx="13716" cy="397764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buClrTx/>
            </a:pPr>
            <a:endParaRPr sz="1350" kern="12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D993E9-33D8-4643-1988-F1B759EDF40C}"/>
              </a:ext>
            </a:extLst>
          </p:cNvPr>
          <p:cNvSpPr/>
          <p:nvPr/>
        </p:nvSpPr>
        <p:spPr>
          <a:xfrm>
            <a:off x="6687741" y="548640"/>
            <a:ext cx="13716" cy="397764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buClrTx/>
            </a:pPr>
            <a:endParaRPr sz="1350" kern="12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293FFA-CD2A-ABC1-2AEB-9F6C9FC44D86}"/>
              </a:ext>
            </a:extLst>
          </p:cNvPr>
          <p:cNvSpPr/>
          <p:nvPr/>
        </p:nvSpPr>
        <p:spPr>
          <a:xfrm>
            <a:off x="8436530" y="548640"/>
            <a:ext cx="13716" cy="397764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buClrTx/>
            </a:pPr>
            <a:endParaRPr sz="1350" kern="12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A63FBE-46B5-4862-2D4D-07C043C6306D}"/>
              </a:ext>
            </a:extLst>
          </p:cNvPr>
          <p:cNvSpPr txBox="1"/>
          <p:nvPr/>
        </p:nvSpPr>
        <p:spPr>
          <a:xfrm>
            <a:off x="1269922" y="4560570"/>
            <a:ext cx="556563" cy="207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Calibri"/>
                <a:ea typeface="+mn-ea"/>
                <a:cs typeface="+mn-cs"/>
              </a:rPr>
              <a:t>◆ Diseño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B308C1-A6E5-709D-FB81-27C64144065B}"/>
              </a:ext>
            </a:extLst>
          </p:cNvPr>
          <p:cNvSpPr txBox="1"/>
          <p:nvPr/>
        </p:nvSpPr>
        <p:spPr>
          <a:xfrm>
            <a:off x="3018711" y="4560570"/>
            <a:ext cx="516488" cy="207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Calibri"/>
                <a:ea typeface="+mn-ea"/>
                <a:cs typeface="+mn-cs"/>
              </a:rPr>
              <a:t>◆ Piloto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78FDA9-E53C-F51C-D866-2E56D8E459A4}"/>
              </a:ext>
            </a:extLst>
          </p:cNvPr>
          <p:cNvSpPr txBox="1"/>
          <p:nvPr/>
        </p:nvSpPr>
        <p:spPr>
          <a:xfrm>
            <a:off x="4767501" y="4560570"/>
            <a:ext cx="792205" cy="207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Calibri"/>
                <a:ea typeface="+mn-ea"/>
                <a:cs typeface="+mn-cs"/>
              </a:rPr>
              <a:t>◆ Lanzamiento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B601F8-5566-9947-256D-59532ADDFB50}"/>
              </a:ext>
            </a:extLst>
          </p:cNvPr>
          <p:cNvSpPr txBox="1"/>
          <p:nvPr/>
        </p:nvSpPr>
        <p:spPr>
          <a:xfrm>
            <a:off x="6516291" y="4560570"/>
            <a:ext cx="798617" cy="207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Calibri"/>
                <a:ea typeface="+mn-ea"/>
                <a:cs typeface="+mn-cs"/>
              </a:rPr>
              <a:t>◆ 1ª Transición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A4F3FE-1C5B-6E47-FF5C-99E4D82DB120}"/>
              </a:ext>
            </a:extLst>
          </p:cNvPr>
          <p:cNvSpPr txBox="1"/>
          <p:nvPr/>
        </p:nvSpPr>
        <p:spPr>
          <a:xfrm>
            <a:off x="8265081" y="4560570"/>
            <a:ext cx="575799" cy="207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Calibri"/>
                <a:ea typeface="+mn-ea"/>
                <a:cs typeface="+mn-cs"/>
              </a:rPr>
              <a:t>◆ Go Live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B72BFF-D543-CF03-ED0E-3CFA2E0844E3}"/>
              </a:ext>
            </a:extLst>
          </p:cNvPr>
          <p:cNvSpPr txBox="1"/>
          <p:nvPr/>
        </p:nvSpPr>
        <p:spPr>
          <a:xfrm>
            <a:off x="275511" y="1028700"/>
            <a:ext cx="745717" cy="24237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975" b="1" kern="1200">
                <a:solidFill>
                  <a:srgbClr val="3C3C3C"/>
                </a:solidFill>
                <a:latin typeface="Calibri"/>
                <a:ea typeface="+mn-ea"/>
                <a:cs typeface="+mn-cs"/>
              </a:rPr>
              <a:t>Evaluación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003B07D-04F6-78F7-D8F6-6DA02BED7F5B}"/>
              </a:ext>
            </a:extLst>
          </p:cNvPr>
          <p:cNvSpPr/>
          <p:nvPr/>
        </p:nvSpPr>
        <p:spPr>
          <a:xfrm>
            <a:off x="1441371" y="1062990"/>
            <a:ext cx="1573911" cy="1920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buClrTx/>
            </a:pPr>
            <a:endParaRPr sz="1350" kern="12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11ED60-70CF-2CCC-5BB1-80EACE70EC27}"/>
              </a:ext>
            </a:extLst>
          </p:cNvPr>
          <p:cNvSpPr txBox="1"/>
          <p:nvPr/>
        </p:nvSpPr>
        <p:spPr>
          <a:xfrm>
            <a:off x="275511" y="1543050"/>
            <a:ext cx="1165704" cy="24237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975" b="1" kern="1200">
                <a:solidFill>
                  <a:srgbClr val="3C3C3C"/>
                </a:solidFill>
                <a:latin typeface="Calibri"/>
                <a:ea typeface="+mn-ea"/>
                <a:cs typeface="+mn-cs"/>
              </a:rPr>
              <a:t>Diseño del Servicio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4A19B58-55FF-C918-B3BC-7F505AD79924}"/>
              </a:ext>
            </a:extLst>
          </p:cNvPr>
          <p:cNvSpPr/>
          <p:nvPr/>
        </p:nvSpPr>
        <p:spPr>
          <a:xfrm>
            <a:off x="2665524" y="1577340"/>
            <a:ext cx="1923669" cy="192024"/>
          </a:xfrm>
          <a:prstGeom prst="round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buClrTx/>
            </a:pPr>
            <a:endParaRPr sz="1350" kern="12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9A7F53-C2C8-0962-735A-726BC7B1B042}"/>
              </a:ext>
            </a:extLst>
          </p:cNvPr>
          <p:cNvSpPr txBox="1"/>
          <p:nvPr/>
        </p:nvSpPr>
        <p:spPr>
          <a:xfrm>
            <a:off x="275512" y="2057400"/>
            <a:ext cx="955711" cy="24237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975" b="1" kern="1200">
                <a:solidFill>
                  <a:srgbClr val="3C3C3C"/>
                </a:solidFill>
                <a:latin typeface="Calibri"/>
                <a:ea typeface="+mn-ea"/>
                <a:cs typeface="+mn-cs"/>
              </a:rPr>
              <a:t>Productización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5C661008-415C-5F72-7E44-2956E3A4CDD8}"/>
              </a:ext>
            </a:extLst>
          </p:cNvPr>
          <p:cNvSpPr/>
          <p:nvPr/>
        </p:nvSpPr>
        <p:spPr>
          <a:xfrm>
            <a:off x="3539920" y="2091690"/>
            <a:ext cx="1923668" cy="1920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buClrTx/>
            </a:pPr>
            <a:endParaRPr sz="1350" kern="12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AEF34C-2044-34BA-1734-6610B832F445}"/>
              </a:ext>
            </a:extLst>
          </p:cNvPr>
          <p:cNvSpPr txBox="1"/>
          <p:nvPr/>
        </p:nvSpPr>
        <p:spPr>
          <a:xfrm>
            <a:off x="275512" y="2571750"/>
            <a:ext cx="1005403" cy="24237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975" b="1" kern="1200">
                <a:solidFill>
                  <a:srgbClr val="3C3C3C"/>
                </a:solidFill>
                <a:latin typeface="Calibri"/>
                <a:ea typeface="+mn-ea"/>
                <a:cs typeface="+mn-cs"/>
              </a:rPr>
              <a:t>Automatización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6FE02691-6AD0-28DB-36DF-929D72715B83}"/>
              </a:ext>
            </a:extLst>
          </p:cNvPr>
          <p:cNvSpPr/>
          <p:nvPr/>
        </p:nvSpPr>
        <p:spPr>
          <a:xfrm>
            <a:off x="4589193" y="2606040"/>
            <a:ext cx="2448306" cy="192024"/>
          </a:xfrm>
          <a:prstGeom prst="round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buClrTx/>
            </a:pPr>
            <a:endParaRPr sz="1350" kern="12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79083F-6844-07ED-2968-D80C5002C8E9}"/>
              </a:ext>
            </a:extLst>
          </p:cNvPr>
          <p:cNvSpPr txBox="1"/>
          <p:nvPr/>
        </p:nvSpPr>
        <p:spPr>
          <a:xfrm>
            <a:off x="275511" y="3086100"/>
            <a:ext cx="720069" cy="24237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975" b="1" kern="1200">
                <a:solidFill>
                  <a:srgbClr val="3C3C3C"/>
                </a:solidFill>
                <a:latin typeface="Calibri"/>
                <a:ea typeface="+mn-ea"/>
                <a:cs typeface="+mn-cs"/>
              </a:rPr>
              <a:t>Transición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E730F2C-530C-FEBE-75F6-BF9AD65B70F8}"/>
              </a:ext>
            </a:extLst>
          </p:cNvPr>
          <p:cNvSpPr/>
          <p:nvPr/>
        </p:nvSpPr>
        <p:spPr>
          <a:xfrm>
            <a:off x="5988226" y="3120390"/>
            <a:ext cx="2098547" cy="1920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buClrTx/>
            </a:pPr>
            <a:endParaRPr sz="1350" kern="12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9D1D67-A365-B731-0ABC-A7A7C6C203BC}"/>
              </a:ext>
            </a:extLst>
          </p:cNvPr>
          <p:cNvSpPr txBox="1"/>
          <p:nvPr/>
        </p:nvSpPr>
        <p:spPr>
          <a:xfrm>
            <a:off x="275511" y="3600450"/>
            <a:ext cx="1188146" cy="24237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975" b="1" kern="1200">
                <a:solidFill>
                  <a:srgbClr val="3C3C3C"/>
                </a:solidFill>
                <a:latin typeface="Calibri"/>
                <a:ea typeface="+mn-ea"/>
                <a:cs typeface="+mn-cs"/>
              </a:rPr>
              <a:t>Evolución Continua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A9D95A31-02C1-1E23-0CDF-4DF0FAF87B38}"/>
              </a:ext>
            </a:extLst>
          </p:cNvPr>
          <p:cNvSpPr/>
          <p:nvPr/>
        </p:nvSpPr>
        <p:spPr>
          <a:xfrm>
            <a:off x="7037500" y="3634740"/>
            <a:ext cx="1224152" cy="192024"/>
          </a:xfrm>
          <a:prstGeom prst="round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buClrTx/>
            </a:pPr>
            <a:endParaRPr sz="1350" kern="12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9568E5-1891-39A4-50E5-92A4EAEE38E6}"/>
              </a:ext>
            </a:extLst>
          </p:cNvPr>
          <p:cNvSpPr txBox="1"/>
          <p:nvPr/>
        </p:nvSpPr>
        <p:spPr>
          <a:xfrm>
            <a:off x="275511" y="4251960"/>
            <a:ext cx="356700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42900">
              <a:buClrTx/>
              <a:defRPr sz="1200">
                <a:solidFill>
                  <a:srgbClr val="505050"/>
                </a:solidFill>
              </a:defRPr>
            </a:pPr>
            <a:r>
              <a:rPr sz="900" kern="1200">
                <a:solidFill>
                  <a:srgbClr val="505050"/>
                </a:solidFill>
                <a:latin typeface="Calibri"/>
                <a:ea typeface="+mn-ea"/>
                <a:cs typeface="+mn-cs"/>
              </a:rPr>
              <a:t>Clientes objetivo:  SURA   |   Bancolombia   |   XM   |   AES   |   Medicarte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We make it happen</a:t>
            </a:r>
            <a:endParaRPr/>
          </a:p>
        </p:txBody>
      </p:sp>
      <p:sp>
        <p:nvSpPr>
          <p:cNvPr id="189" name="Google Shape;189;p6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¡Gracias!</a:t>
            </a:r>
            <a:endParaRPr/>
          </a:p>
        </p:txBody>
      </p:sp>
      <p:sp>
        <p:nvSpPr>
          <p:cNvPr id="190" name="Google Shape;190;p6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Centro Empresarial Ciudad del Río C2, Cra. 48 #20-114, Oficina 1026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+57 324 549 77 70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251</Words>
  <Application>Microsoft Office PowerPoint</Application>
  <PresentationFormat>Presentación en pantalla (16:9)</PresentationFormat>
  <Paragraphs>48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20" baseType="lpstr">
      <vt:lpstr>Arial</vt:lpstr>
      <vt:lpstr>Reddit Sans Medium</vt:lpstr>
      <vt:lpstr>Calibri</vt:lpstr>
      <vt:lpstr>Reddit Sans Light</vt:lpstr>
      <vt:lpstr>Reddit Sans</vt:lpstr>
      <vt:lpstr>Reddit Sans SemiBold</vt:lpstr>
      <vt:lpstr>Reddit Sans Black</vt:lpstr>
      <vt:lpstr>Reddit Sans ExtraBold</vt:lpstr>
      <vt:lpstr>Simple Light</vt:lpstr>
      <vt:lpstr>Mesa de Servicio de Proxima Generación</vt:lpstr>
      <vt:lpstr>Título</vt:lpstr>
      <vt:lpstr>Título + Contenido Clásico</vt:lpstr>
      <vt:lpstr>Herramientas personalizadas que optimizan procesos</vt:lpstr>
      <vt:lpstr>La unión de personas y tecnología puede transformar el mundo </vt:lpstr>
      <vt:lpstr>Título</vt:lpstr>
      <vt:lpstr>Estadísticas</vt:lpstr>
      <vt:lpstr>Gráfica 1.0  Lorem ipsum dolor sit amet, consectetuer adipiscing elit, sed diam nonummy nibh euismod tincidunt ut laoreet dolore magna aliquam erat volutpat. </vt:lpstr>
      <vt:lpstr>Presentación de PowerPoint</vt:lpstr>
      <vt:lpstr>Presentación de PowerPoint</vt:lpstr>
      <vt:lpstr>We make it happen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Natalia Zartha Suarez</cp:lastModifiedBy>
  <cp:revision>4</cp:revision>
  <dcterms:modified xsi:type="dcterms:W3CDTF">2026-07-01T20:39:35Z</dcterms:modified>
</cp:coreProperties>
</file>