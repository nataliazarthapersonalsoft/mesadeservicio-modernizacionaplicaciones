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../media/image--708ef2de1.png"/><Relationship Id="rId2" Type="http://schemas.openxmlformats.org/officeDocument/2006/relationships/image" Target="../media/image-505b5b1.png"/><Relationship Id="rId3" Type="http://schemas.openxmlformats.org/officeDocument/2006/relationships/image" Target="../media/image--327b961e1.png"/><Relationship Id="rId4" Type="http://schemas.openxmlformats.org/officeDocument/2006/relationships/image" Target="../media/image--6dbe241e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../media/image-59794c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../media/image-72cbd1.png"/><Relationship Id="rId2" Type="http://schemas.openxmlformats.org/officeDocument/2006/relationships/image" Target="../media/image--6f6e6a9e1.png"/><Relationship Id="rId3" Type="http://schemas.openxmlformats.org/officeDocument/2006/relationships/image" Target="../media/image--21641d9e1.png"/><Relationship Id="rId4" Type="http://schemas.openxmlformats.org/officeDocument/2006/relationships/image" Target="../media/image-1369f1.png"/><Relationship Id="rId5" Type="http://schemas.openxmlformats.org/officeDocument/2006/relationships/image" Target="../media/image--3a4e131e1.png"/><Relationship Id="rId6" Type="http://schemas.openxmlformats.org/officeDocument/2006/relationships/image" Target="../media/image-505b5b2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../media/image--5107849e1.png"/><Relationship Id="rId2" Type="http://schemas.openxmlformats.org/officeDocument/2006/relationships/image" Target="../media/image-3c0be2e1.png"/><Relationship Id="rId3" Type="http://schemas.openxmlformats.org/officeDocument/2006/relationships/image" Target="../media/image--664449e1.png"/><Relationship Id="rId4" Type="http://schemas.openxmlformats.org/officeDocument/2006/relationships/image" Target="../media/image-327946a1.png"/><Relationship Id="rId5" Type="http://schemas.openxmlformats.org/officeDocument/2006/relationships/image" Target="../media/image--63bd839e1.png"/><Relationship Id="rId6" Type="http://schemas.openxmlformats.org/officeDocument/2006/relationships/image" Target="../media/image--26c90fde1.png"/><Relationship Id="rId7" Type="http://schemas.openxmlformats.org/officeDocument/2006/relationships/image" Target="../media/image--5a47b8de1.png"/><Relationship Id="rId8" Type="http://schemas.openxmlformats.org/officeDocument/2006/relationships/image" Target="../media/image--38c1a09e1.png"/><Relationship Id="rId9" Type="http://schemas.openxmlformats.org/officeDocument/2006/relationships/image" Target="../media/image-213ef1.png"/><Relationship Id="rId10" Type="http://schemas.openxmlformats.org/officeDocument/2006/relationships/image" Target="../media/image-0-42f65e1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../media/image--7e0fef5e1.png"/><Relationship Id="rId2" Type="http://schemas.openxmlformats.org/officeDocument/2006/relationships/image" Target="../media/image--55db581e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../media/image--3d302e1e1.png"/><Relationship Id="rId2" Type="http://schemas.openxmlformats.org/officeDocument/2006/relationships/image" Target="../media/image--38c1a09e2.png"/><Relationship Id="rId3" Type="http://schemas.openxmlformats.org/officeDocument/2006/relationships/image" Target="../media/image-29d4e1.png"/><Relationship Id="rId4" Type="http://schemas.openxmlformats.org/officeDocument/2006/relationships/image" Target="../media/image-0-42f65e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../media/image-3f1.png"/><Relationship Id="rId2" Type="http://schemas.openxmlformats.org/officeDocument/2006/relationships/image" Target="../media/image-15a92da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1175296"/>
            <a:ext cx="11068050" cy="21937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fontAlgn="ctr" algn="l">
              <a:lnSpc>
                <a:spcPts val="1728"/>
              </a:lnSpc>
            </a:pPr>
            <a:r>
              <a:rPr lang="en-US" sz="1500" spc="-90" kern="0" dirty="0">
                <a:solidFill>
                  <a:srgbClr val="22AAEE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Transformación Tecnológica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76250" y="1634430"/>
            <a:ext cx="11068050" cy="54858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fontAlgn="ctr" algn="l">
              <a:lnSpc>
                <a:spcPts val="4320"/>
              </a:lnSpc>
              <a:spcBef>
                <a:spcPts val="1851"/>
              </a:spcBef>
            </a:pPr>
            <a:r>
              <a:rPr lang="en-US" sz="3750" spc="-225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Mesa de Servicio de Nueva Generación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76250" y="2333030"/>
            <a:ext cx="11068050" cy="26327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fontAlgn="ctr" algn="l">
              <a:lnSpc>
                <a:spcPts val="2074"/>
              </a:lnSpc>
              <a:spcBef>
                <a:spcPts val="1158"/>
              </a:spcBef>
            </a:pPr>
            <a:r>
              <a:rPr lang="en-US" sz="1800" spc="-108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Evolución Estratégica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76250" y="2764482"/>
            <a:ext cx="11449050" cy="57328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fontAlgn="ctr" algn="l">
              <a:lnSpc>
                <a:spcPts val="2257"/>
              </a:lnSpc>
              <a:spcBef>
                <a:spcPts val="1299"/>
              </a:spcBef>
            </a:pPr>
            <a:r>
              <a:rPr lang="en-US" sz="1650" spc="-33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Nuestro objetivo es evolucionar hacia un soporte tecnológico proactivo que actúe como motor de valor, convirtiendo las</a:t>
            </a:r>
            <a:br>
              <a:rPr lang="en-US" sz="1650" spc="-33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650" spc="-33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operaciones de TI en una ventaja competitiva sostenible.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76250" y="3525441"/>
            <a:ext cx="11068050" cy="26327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fontAlgn="ctr" algn="l">
              <a:lnSpc>
                <a:spcPts val="2074"/>
              </a:lnSpc>
              <a:spcBef>
                <a:spcPts val="1449"/>
              </a:spcBef>
            </a:pPr>
            <a:r>
              <a:rPr lang="en-US" sz="1800" spc="-108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Pilares de Transformación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76250" y="4017615"/>
            <a:ext cx="11068050" cy="166523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fontAlgn="ctr" algn="l" marL="241300" indent="-241300">
              <a:lnSpc>
                <a:spcPts val="1901"/>
              </a:lnSpc>
              <a:spcBef>
                <a:spcPts val="1767"/>
              </a:spcBef>
              <a:buClr>
                <a:srgbClr val="22aaee"/>
              </a:buClr>
              <a:buSzPct val="120000"/>
              <a:buChar char="•"/>
            </a:pPr>
            <a:r>
              <a:rPr lang="en-US" sz="1650" spc="-99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Integración de IA para la resolución autónoma de incidentes.</a:t>
            </a:r>
            <a:endParaRPr lang="en-US" dirty="0"/>
          </a:p>
          <a:p>
            <a:pPr fontAlgn="ctr" algn="l" marL="241300" indent="-241300">
              <a:lnSpc>
                <a:spcPts val="1901"/>
              </a:lnSpc>
              <a:spcBef>
                <a:spcPts val="1800"/>
              </a:spcBef>
              <a:buClr>
                <a:srgbClr val="22aaee"/>
              </a:buClr>
              <a:buSzPct val="120000"/>
              <a:buChar char="•"/>
            </a:pPr>
            <a:r>
              <a:rPr lang="en-US" sz="1650" spc="-99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Optimización de la experiencia del usuario final (Digital Employee Experience).</a:t>
            </a:r>
            <a:endParaRPr lang="en-US" dirty="0"/>
          </a:p>
          <a:p>
            <a:pPr fontAlgn="ctr" algn="l" marL="241300" indent="-241300">
              <a:lnSpc>
                <a:spcPts val="1901"/>
              </a:lnSpc>
              <a:spcBef>
                <a:spcPts val="1800"/>
              </a:spcBef>
              <a:buClr>
                <a:srgbClr val="22aaee"/>
              </a:buClr>
              <a:buSzPct val="120000"/>
              <a:buChar char="•"/>
            </a:pPr>
            <a:r>
              <a:rPr lang="en-US" sz="1650" spc="-99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Implementación de analítica predictiva para la reducción de deuda técnica.</a:t>
            </a:r>
            <a:endParaRPr lang="en-US" dirty="0"/>
          </a:p>
          <a:p>
            <a:pPr fontAlgn="ctr" algn="l" marL="241300" indent="-241300">
              <a:lnSpc>
                <a:spcPts val="1901"/>
              </a:lnSpc>
              <a:spcBef>
                <a:spcPts val="1800"/>
              </a:spcBef>
              <a:buClr>
                <a:srgbClr val="22aaee"/>
              </a:buClr>
              <a:buSzPct val="120000"/>
              <a:buChar char="•"/>
            </a:pPr>
            <a:r>
              <a:rPr lang="en-US" sz="1650" spc="-99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Consolidación de flujos de trabajo automatizados para acelerar la entrega de servicios.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3375" y="378172"/>
            <a:ext cx="11525250" cy="54858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4320"/>
              </a:lnSpc>
            </a:pPr>
            <a:r>
              <a:rPr lang="en-US" sz="3750" spc="-225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Valor del Servicio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3375" y="1038969"/>
            <a:ext cx="11525250" cy="28664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2257"/>
              </a:lnSpc>
              <a:spcBef>
                <a:spcPts val="867"/>
              </a:spcBef>
            </a:pPr>
            <a:r>
              <a:rPr lang="en-US" sz="1650" spc="-33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Transformar el soporte de costo operativo a ventaja competitiva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76250" y="2905125"/>
            <a:ext cx="2667000" cy="2671763"/>
          </a:xfrm>
          <a:prstGeom prst="rect">
            <a:avLst/>
          </a:prstGeom>
          <a:solidFill>
            <a:srgbClr val="22AAEE"/>
          </a:solidFill>
          <a:ln>
            <a:miter lim="800000"/>
          </a:ln>
        </p:spPr>
      </p:sp>
      <p:sp>
        <p:nvSpPr>
          <p:cNvPr id="5" name="Text 3"/>
          <p:cNvSpPr/>
          <p:nvPr/>
        </p:nvSpPr>
        <p:spPr>
          <a:xfrm>
            <a:off x="762000" y="3401913"/>
            <a:ext cx="2381250" cy="28515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2246"/>
              </a:lnSpc>
            </a:pPr>
            <a:r>
              <a:rPr lang="en-US" sz="1950" spc="-117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Estandarización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62000" y="3761780"/>
            <a:ext cx="2484388" cy="130299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2052"/>
              </a:lnSpc>
              <a:spcBef>
                <a:spcPts val="577"/>
              </a:spcBef>
            </a:pP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Implementación de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procesos claros, roles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definidos y gestión de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conocimiento potenciada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con IA.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1452563" y="2547938"/>
            <a:ext cx="714375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08ECD"/>
            </a:solidFill>
            <a:prstDash val="solid"/>
            <a:miter lim="800000"/>
          </a:ln>
        </p:spPr>
      </p:sp>
      <p:pic>
        <p:nvPicPr>
          <p:cNvPr id="8" name="Image 0" descr="-708ef2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8133" y="2775367"/>
            <a:ext cx="352425" cy="25717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333750" y="2905125"/>
            <a:ext cx="2667000" cy="2671763"/>
          </a:xfrm>
          <a:prstGeom prst="rect">
            <a:avLst/>
          </a:prstGeom>
          <a:solidFill>
            <a:srgbClr val="1C8EC6"/>
          </a:solidFill>
          <a:ln>
            <a:miter lim="800000"/>
          </a:ln>
        </p:spPr>
      </p:sp>
      <p:sp>
        <p:nvSpPr>
          <p:cNvPr id="10" name="Text 7"/>
          <p:cNvSpPr/>
          <p:nvPr/>
        </p:nvSpPr>
        <p:spPr>
          <a:xfrm>
            <a:off x="3619500" y="3401913"/>
            <a:ext cx="2381250" cy="57030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2246"/>
              </a:lnSpc>
            </a:pPr>
            <a:r>
              <a:rPr lang="en-US" sz="1950" spc="-117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Beneficios para el</a:t>
            </a:r>
            <a:br>
              <a:rPr lang="en-US" sz="1950" spc="-117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</a:br>
            <a:r>
              <a:rPr lang="en-US" sz="1950" spc="-117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Cliente</a:t>
            </a: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3619500" y="4046934"/>
            <a:ext cx="2468166" cy="78179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2052"/>
              </a:lnSpc>
              <a:spcBef>
                <a:spcPts val="577"/>
              </a:spcBef>
            </a:pP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Cumplimiento estricto de</a:t>
            </a:r>
            <a:b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SLAs y acceso a</a:t>
            </a:r>
            <a:b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visibilidad en tiempo real.</a:t>
            </a: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4310063" y="2547938"/>
            <a:ext cx="714375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66E99"/>
            </a:solidFill>
            <a:prstDash val="solid"/>
            <a:miter lim="800000"/>
          </a:ln>
        </p:spPr>
      </p:sp>
      <p:pic>
        <p:nvPicPr>
          <p:cNvPr id="13" name="Image 1" descr="505b5b6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3075" y="2792109"/>
            <a:ext cx="381000" cy="2286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191250" y="2905125"/>
            <a:ext cx="2667000" cy="2671763"/>
          </a:xfrm>
          <a:prstGeom prst="rect">
            <a:avLst/>
          </a:prstGeom>
          <a:solidFill>
            <a:srgbClr val="17719F"/>
          </a:solidFill>
          <a:ln>
            <a:miter lim="800000"/>
          </a:ln>
        </p:spPr>
      </p:sp>
      <p:sp>
        <p:nvSpPr>
          <p:cNvPr id="15" name="Text 11"/>
          <p:cNvSpPr/>
          <p:nvPr/>
        </p:nvSpPr>
        <p:spPr>
          <a:xfrm>
            <a:off x="6477000" y="3401913"/>
            <a:ext cx="2381250" cy="57030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2246"/>
              </a:lnSpc>
            </a:pPr>
            <a:r>
              <a:rPr lang="en-US" sz="1950" spc="-117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Beneficios para</a:t>
            </a:r>
            <a:br>
              <a:rPr lang="en-US" sz="1950" spc="-117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</a:br>
            <a:r>
              <a:rPr lang="en-US" sz="1950" spc="-117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PersonalSoft</a:t>
            </a: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6477000" y="4046934"/>
            <a:ext cx="2381250" cy="130299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2052"/>
              </a:lnSpc>
              <a:spcBef>
                <a:spcPts val="577"/>
              </a:spcBef>
            </a:pP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Optimización de</a:t>
            </a:r>
            <a:b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márgenes operativos</a:t>
            </a:r>
            <a:b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mediante la</a:t>
            </a:r>
            <a:b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automatización</a:t>
            </a:r>
            <a:b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inteligente.</a:t>
            </a:r>
            <a:endParaRPr lang="en-US" dirty="0"/>
          </a:p>
        </p:txBody>
      </p:sp>
      <p:sp>
        <p:nvSpPr>
          <p:cNvPr id="17" name="Shape 13"/>
          <p:cNvSpPr/>
          <p:nvPr/>
        </p:nvSpPr>
        <p:spPr>
          <a:xfrm>
            <a:off x="7167563" y="2547938"/>
            <a:ext cx="714375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15172"/>
            </a:solidFill>
            <a:prstDash val="solid"/>
            <a:miter lim="800000"/>
          </a:ln>
        </p:spPr>
      </p:sp>
      <p:pic>
        <p:nvPicPr>
          <p:cNvPr id="18" name="Image 2" descr="-327b961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2433" y="2783736"/>
            <a:ext cx="285750" cy="238125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9048750" y="2905125"/>
            <a:ext cx="2667000" cy="2671763"/>
          </a:xfrm>
          <a:prstGeom prst="rect">
            <a:avLst/>
          </a:prstGeom>
          <a:solidFill>
            <a:srgbClr val="115577"/>
          </a:solidFill>
          <a:ln>
            <a:miter lim="800000"/>
          </a:ln>
        </p:spPr>
      </p:sp>
      <p:sp>
        <p:nvSpPr>
          <p:cNvPr id="20" name="Text 15"/>
          <p:cNvSpPr/>
          <p:nvPr/>
        </p:nvSpPr>
        <p:spPr>
          <a:xfrm>
            <a:off x="9334500" y="3401913"/>
            <a:ext cx="2381250" cy="57030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2246"/>
              </a:lnSpc>
            </a:pPr>
            <a:r>
              <a:rPr lang="en-US" sz="1950" spc="-117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Impacto en el</a:t>
            </a:r>
            <a:br>
              <a:rPr lang="en-US" sz="1950" spc="-117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</a:br>
            <a:r>
              <a:rPr lang="en-US" sz="1950" spc="-117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Mercado</a:t>
            </a:r>
            <a:endParaRPr lang="en-US" dirty="0"/>
          </a:p>
        </p:txBody>
      </p:sp>
      <p:sp>
        <p:nvSpPr>
          <p:cNvPr id="21" name="Text 16"/>
          <p:cNvSpPr/>
          <p:nvPr/>
        </p:nvSpPr>
        <p:spPr>
          <a:xfrm>
            <a:off x="9334500" y="4046934"/>
            <a:ext cx="2456111" cy="104239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2052"/>
              </a:lnSpc>
              <a:spcBef>
                <a:spcPts val="577"/>
              </a:spcBef>
            </a:pP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Posicionamiento como</a:t>
            </a:r>
            <a:b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proveedor estratégico</a:t>
            </a:r>
            <a:b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basado en datos y</a:t>
            </a:r>
            <a:b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herramientas avanzadas.</a:t>
            </a:r>
            <a:endParaRPr lang="en-US" dirty="0"/>
          </a:p>
        </p:txBody>
      </p:sp>
      <p:sp>
        <p:nvSpPr>
          <p:cNvPr id="22" name="Shape 17"/>
          <p:cNvSpPr/>
          <p:nvPr/>
        </p:nvSpPr>
        <p:spPr>
          <a:xfrm>
            <a:off x="10025063" y="2547938"/>
            <a:ext cx="714375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B354A"/>
            </a:solidFill>
            <a:prstDash val="solid"/>
            <a:miter lim="800000"/>
          </a:ln>
        </p:spPr>
      </p:sp>
      <p:pic>
        <p:nvPicPr>
          <p:cNvPr id="23" name="Image 3" descr="-6dbe241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39931" y="2741877"/>
            <a:ext cx="285750" cy="3238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3375" y="378172"/>
            <a:ext cx="11525250" cy="54858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4320"/>
              </a:lnSpc>
            </a:pPr>
            <a:r>
              <a:rPr lang="en-US" sz="3750" spc="-225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Desafíos de la Operación Actual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3375" y="1038969"/>
            <a:ext cx="11525250" cy="28664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2257"/>
              </a:lnSpc>
              <a:spcBef>
                <a:spcPts val="867"/>
              </a:spcBef>
            </a:pPr>
            <a:r>
              <a:rPr lang="en-US" sz="1650" spc="-33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Identificación de puntos críticos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76250" y="1743075"/>
            <a:ext cx="4476750" cy="4638675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miter lim="800000"/>
          </a:ln>
        </p:spPr>
      </p:sp>
      <p:pic>
        <p:nvPicPr>
          <p:cNvPr id="5" name="Image 0" descr="a tangled knot of ropes">    </p:cNvPr>
          <p:cNvPicPr>
            <a:picLocks noChangeAspect="1"/>
          </p:cNvPicPr>
          <p:nvPr/>
        </p:nvPicPr>
        <p:blipFill>
          <a:blip r:embed="rId1"/>
          <a:srcRect l="1745" r="1745" t="0" b="0"/>
          <a:stretch/>
        </p:blipFill>
        <p:spPr>
          <a:xfrm>
            <a:off x="476250" y="1743075"/>
            <a:ext cx="4476750" cy="46386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29250" y="2116038"/>
            <a:ext cx="3190875" cy="390033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 marL="241300" indent="-241300">
              <a:lnSpc>
                <a:spcPts val="2246"/>
              </a:lnSpc>
              <a:buClr>
                <a:srgbClr val="22aaee"/>
              </a:buClr>
              <a:buSzPct val="120000"/>
              <a:buChar char="•"/>
            </a:pPr>
            <a:r>
              <a:rPr lang="en-US" sz="1950" spc="-117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Ausencia de estándares</a:t>
            </a:r>
            <a:endParaRPr lang="en-US" dirty="0"/>
          </a:p>
          <a:p>
            <a:pPr fontAlgn="ctr" algn="l" lvl="1" marL="241300" indent="0">
              <a:lnSpc>
                <a:spcPts val="2052"/>
              </a:lnSpc>
              <a:spcBef>
                <a:spcPts val="430"/>
              </a:spcBef>
              <a:buNone/>
            </a:pP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Falta de niveles de servicio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(N1/N2/N3) y roles claramente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definidos.</a:t>
            </a:r>
            <a:endParaRPr lang="en-US" dirty="0"/>
          </a:p>
          <a:p>
            <a:pPr fontAlgn="ctr" algn="l" marL="241300" indent="-241300">
              <a:lnSpc>
                <a:spcPts val="2246"/>
              </a:lnSpc>
              <a:spcBef>
                <a:spcPts val="2055"/>
              </a:spcBef>
              <a:buClr>
                <a:srgbClr val="22aaee"/>
              </a:buClr>
              <a:buSzPct val="120000"/>
              <a:buChar char="•"/>
            </a:pPr>
            <a:r>
              <a:rPr lang="en-US" sz="1950" spc="-117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Modelo económico</a:t>
            </a:r>
            <a:endParaRPr lang="en-US" dirty="0"/>
          </a:p>
          <a:p>
            <a:pPr fontAlgn="ctr" algn="l" lvl="1" marL="241300" indent="0">
              <a:lnSpc>
                <a:spcPts val="2052"/>
              </a:lnSpc>
              <a:spcBef>
                <a:spcPts val="430"/>
              </a:spcBef>
              <a:buNone/>
            </a:pP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Estructura indexada a FTE que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impone barreras críticas para el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escalamiento.</a:t>
            </a:r>
            <a:endParaRPr lang="en-US" dirty="0"/>
          </a:p>
          <a:p>
            <a:pPr fontAlgn="ctr" algn="l" marL="241300" indent="-241300">
              <a:lnSpc>
                <a:spcPts val="2246"/>
              </a:lnSpc>
              <a:spcBef>
                <a:spcPts val="2055"/>
              </a:spcBef>
              <a:buClr>
                <a:srgbClr val="22aaee"/>
              </a:buClr>
              <a:buSzPct val="120000"/>
              <a:buChar char="•"/>
            </a:pPr>
            <a:r>
              <a:rPr lang="en-US" sz="1950" spc="-117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Dependencia humana</a:t>
            </a:r>
            <a:endParaRPr lang="en-US" dirty="0"/>
          </a:p>
          <a:p>
            <a:pPr fontAlgn="ctr" algn="l" lvl="1" marL="241300" indent="0">
              <a:lnSpc>
                <a:spcPts val="2052"/>
              </a:lnSpc>
              <a:spcBef>
                <a:spcPts val="430"/>
              </a:spcBef>
              <a:buNone/>
            </a:pP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Conocimiento tácito no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documentado, generando un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alto riesgo de 'Bus Factor'.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8715375" y="2116038"/>
            <a:ext cx="3190875" cy="3032671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 marL="241300" indent="-241300">
              <a:lnSpc>
                <a:spcPts val="2246"/>
              </a:lnSpc>
              <a:buClr>
                <a:srgbClr val="22aaee"/>
              </a:buClr>
              <a:buSzPct val="120000"/>
              <a:buChar char="•"/>
            </a:pPr>
            <a:r>
              <a:rPr lang="en-US" sz="1950" spc="-117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Falta de observabilidad</a:t>
            </a:r>
            <a:endParaRPr lang="en-US" dirty="0"/>
          </a:p>
          <a:p>
            <a:pPr fontAlgn="ctr" algn="l" lvl="1" marL="241300" indent="0">
              <a:lnSpc>
                <a:spcPts val="2052"/>
              </a:lnSpc>
              <a:spcBef>
                <a:spcPts val="430"/>
              </a:spcBef>
              <a:buNone/>
            </a:pP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Dependencia de KPIs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empíricos, dispersión de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herramientas y procesos de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reporte manuales.</a:t>
            </a:r>
            <a:endParaRPr lang="en-US" dirty="0"/>
          </a:p>
          <a:p>
            <a:pPr fontAlgn="ctr" algn="l" marL="241300" indent="-241300">
              <a:lnSpc>
                <a:spcPts val="2246"/>
              </a:lnSpc>
              <a:spcBef>
                <a:spcPts val="2055"/>
              </a:spcBef>
              <a:buClr>
                <a:srgbClr val="22aaee"/>
              </a:buClr>
              <a:buSzPct val="120000"/>
              <a:buChar char="•"/>
            </a:pPr>
            <a:r>
              <a:rPr lang="en-US" sz="1950" spc="-117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Brecha en Preventa</a:t>
            </a:r>
            <a:endParaRPr lang="en-US" dirty="0"/>
          </a:p>
          <a:p>
            <a:pPr fontAlgn="ctr" algn="l" lvl="1" marL="241300" indent="0">
              <a:lnSpc>
                <a:spcPts val="2052"/>
              </a:lnSpc>
              <a:spcBef>
                <a:spcPts val="430"/>
              </a:spcBef>
              <a:buNone/>
            </a:pP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Desalineación entre la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expectativa comercial y la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realidad operativa, resultando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en sub-dimensionamiento.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3375" y="378172"/>
            <a:ext cx="11525250" cy="54858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4320"/>
              </a:lnSpc>
            </a:pPr>
            <a:r>
              <a:rPr lang="en-US" sz="3750" spc="-225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¿Por qué evolucionar?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3375" y="1038969"/>
            <a:ext cx="11525250" cy="28664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2257"/>
              </a:lnSpc>
              <a:spcBef>
                <a:spcPts val="867"/>
              </a:spcBef>
            </a:pPr>
            <a:r>
              <a:rPr lang="en-US" sz="1650" spc="-33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Superando las limitaciones operativas mediante IA y automatización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1095375" y="2314575"/>
            <a:ext cx="714375" cy="714375"/>
          </a:xfrm>
          <a:prstGeom prst="ellipse">
            <a:avLst/>
          </a:prstGeom>
          <a:solidFill>
            <a:srgbClr val="FFD9AD"/>
          </a:solidFill>
          <a:ln>
            <a:miter lim="800000"/>
          </a:ln>
        </p:spPr>
      </p:sp>
      <p:pic>
        <p:nvPicPr>
          <p:cNvPr id="5" name="Image 0" descr="72cbd8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9317" y="2508518"/>
            <a:ext cx="323850" cy="3238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000250" y="2267545"/>
            <a:ext cx="4143375" cy="26327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2074"/>
              </a:lnSpc>
            </a:pPr>
            <a:r>
              <a:rPr lang="en-US" sz="1800" spc="-108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Gobierno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2000250" y="2609701"/>
            <a:ext cx="4248448" cy="52119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2052"/>
              </a:lnSpc>
              <a:spcBef>
                <a:spcPts val="610"/>
              </a:spcBef>
            </a:pP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Falta de marcos de control y estandarización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en los procesos actuales.</a:t>
            </a: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1095375" y="3552825"/>
            <a:ext cx="714375" cy="714375"/>
          </a:xfrm>
          <a:prstGeom prst="ellipse">
            <a:avLst/>
          </a:prstGeom>
          <a:solidFill>
            <a:srgbClr val="FEC088"/>
          </a:solidFill>
          <a:ln>
            <a:miter lim="800000"/>
          </a:ln>
        </p:spPr>
      </p:sp>
      <p:pic>
        <p:nvPicPr>
          <p:cNvPr id="9" name="Image 1" descr="-6f6e6a9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502" y="3780238"/>
            <a:ext cx="323850" cy="25717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000250" y="3505795"/>
            <a:ext cx="4143375" cy="26327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2074"/>
              </a:lnSpc>
            </a:pPr>
            <a:r>
              <a:rPr lang="en-US" sz="1800" spc="-108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Escalabilidad</a:t>
            </a: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2000250" y="3847951"/>
            <a:ext cx="4183112" cy="52119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2052"/>
              </a:lnSpc>
              <a:spcBef>
                <a:spcPts val="610"/>
              </a:spcBef>
            </a:pP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Incapacidad para manejar volúmenes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crecientes de solicitudes de forma eficiente.</a:t>
            </a:r>
            <a:endParaRPr lang="en-US" dirty="0"/>
          </a:p>
        </p:txBody>
      </p:sp>
      <p:sp>
        <p:nvSpPr>
          <p:cNvPr id="12" name="Shape 8"/>
          <p:cNvSpPr/>
          <p:nvPr/>
        </p:nvSpPr>
        <p:spPr>
          <a:xfrm>
            <a:off x="1095375" y="4791075"/>
            <a:ext cx="714375" cy="714375"/>
          </a:xfrm>
          <a:prstGeom prst="ellipse">
            <a:avLst/>
          </a:prstGeom>
          <a:solidFill>
            <a:srgbClr val="FD864D"/>
          </a:solidFill>
          <a:ln>
            <a:miter lim="800000"/>
          </a:ln>
        </p:spPr>
      </p:sp>
      <p:pic>
        <p:nvPicPr>
          <p:cNvPr id="13" name="Image 2" descr="-21641d9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3502" y="4943157"/>
            <a:ext cx="304800" cy="40005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000250" y="4744045"/>
            <a:ext cx="4143375" cy="26327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2074"/>
              </a:lnSpc>
            </a:pPr>
            <a:r>
              <a:rPr lang="en-US" sz="1800" spc="-108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Automatización</a:t>
            </a:r>
            <a:endParaRPr lang="en-US" dirty="0"/>
          </a:p>
        </p:txBody>
      </p:sp>
      <p:sp>
        <p:nvSpPr>
          <p:cNvPr id="15" name="Text 10"/>
          <p:cNvSpPr/>
          <p:nvPr/>
        </p:nvSpPr>
        <p:spPr>
          <a:xfrm>
            <a:off x="2000250" y="5086201"/>
            <a:ext cx="4326880" cy="52119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2052"/>
              </a:lnSpc>
              <a:spcBef>
                <a:spcPts val="610"/>
              </a:spcBef>
            </a:pP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Dependencia excesiva en procesos manuales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que generan cuellos de botella y errores.</a:t>
            </a:r>
            <a:endParaRPr lang="en-US" dirty="0"/>
          </a:p>
        </p:txBody>
      </p:sp>
      <p:sp>
        <p:nvSpPr>
          <p:cNvPr id="16" name="Shape 11"/>
          <p:cNvSpPr/>
          <p:nvPr/>
        </p:nvSpPr>
        <p:spPr>
          <a:xfrm>
            <a:off x="6334125" y="2314575"/>
            <a:ext cx="714375" cy="714375"/>
          </a:xfrm>
          <a:prstGeom prst="ellipse">
            <a:avLst/>
          </a:prstGeom>
          <a:solidFill>
            <a:srgbClr val="FF8000"/>
          </a:solidFill>
          <a:ln>
            <a:miter lim="800000"/>
          </a:ln>
        </p:spPr>
      </p:sp>
      <p:pic>
        <p:nvPicPr>
          <p:cNvPr id="17" name="Image 3" descr="1369f96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2235" y="2500144"/>
            <a:ext cx="323850" cy="3429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239000" y="2267545"/>
            <a:ext cx="4143375" cy="26327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2074"/>
              </a:lnSpc>
            </a:pPr>
            <a:r>
              <a:rPr lang="en-US" sz="1800" spc="-108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Observabilidad</a:t>
            </a:r>
            <a:endParaRPr lang="en-US" dirty="0"/>
          </a:p>
        </p:txBody>
      </p:sp>
      <p:sp>
        <p:nvSpPr>
          <p:cNvPr id="19" name="Text 13"/>
          <p:cNvSpPr/>
          <p:nvPr/>
        </p:nvSpPr>
        <p:spPr>
          <a:xfrm>
            <a:off x="7239000" y="2609701"/>
            <a:ext cx="4143375" cy="52119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2052"/>
              </a:lnSpc>
              <a:spcBef>
                <a:spcPts val="610"/>
              </a:spcBef>
            </a:pP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Limitada visibilidad sobre el estado de los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servicios y métricas de desempeño.</a:t>
            </a:r>
            <a:endParaRPr lang="en-US" dirty="0"/>
          </a:p>
        </p:txBody>
      </p:sp>
      <p:sp>
        <p:nvSpPr>
          <p:cNvPr id="20" name="Shape 14"/>
          <p:cNvSpPr/>
          <p:nvPr/>
        </p:nvSpPr>
        <p:spPr>
          <a:xfrm>
            <a:off x="6334125" y="3552825"/>
            <a:ext cx="714375" cy="714375"/>
          </a:xfrm>
          <a:prstGeom prst="ellipse">
            <a:avLst/>
          </a:prstGeom>
          <a:solidFill>
            <a:srgbClr val="FF797A"/>
          </a:solidFill>
          <a:ln>
            <a:miter lim="800000"/>
          </a:ln>
        </p:spPr>
      </p:sp>
      <p:pic>
        <p:nvPicPr>
          <p:cNvPr id="21" name="Image 4" descr="-3a4e131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7832" y="3744674"/>
            <a:ext cx="247650" cy="32385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239000" y="3505795"/>
            <a:ext cx="4143375" cy="26327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2074"/>
              </a:lnSpc>
            </a:pPr>
            <a:r>
              <a:rPr lang="en-US" sz="1800" spc="-108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Preventa</a:t>
            </a:r>
            <a:endParaRPr lang="en-US" dirty="0"/>
          </a:p>
        </p:txBody>
      </p:sp>
      <p:sp>
        <p:nvSpPr>
          <p:cNvPr id="23" name="Text 16"/>
          <p:cNvSpPr/>
          <p:nvPr/>
        </p:nvSpPr>
        <p:spPr>
          <a:xfrm>
            <a:off x="7239000" y="3847951"/>
            <a:ext cx="4358134" cy="52119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2052"/>
              </a:lnSpc>
              <a:spcBef>
                <a:spcPts val="610"/>
              </a:spcBef>
            </a:pP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Debilidad en la alineación estratégica entre las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necesidades de negocio y los servicios.</a:t>
            </a:r>
            <a:endParaRPr lang="en-US" dirty="0"/>
          </a:p>
        </p:txBody>
      </p:sp>
      <p:sp>
        <p:nvSpPr>
          <p:cNvPr id="24" name="Shape 17"/>
          <p:cNvSpPr/>
          <p:nvPr/>
        </p:nvSpPr>
        <p:spPr>
          <a:xfrm>
            <a:off x="6334125" y="4791075"/>
            <a:ext cx="714375" cy="714375"/>
          </a:xfrm>
          <a:prstGeom prst="ellipse">
            <a:avLst/>
          </a:prstGeom>
          <a:solidFill>
            <a:srgbClr val="FFD9AD"/>
          </a:solidFill>
          <a:ln>
            <a:miter lim="800000"/>
          </a:ln>
        </p:spPr>
      </p:sp>
      <p:pic>
        <p:nvPicPr>
          <p:cNvPr id="25" name="Image 5" descr="505b5b62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7138" y="5035246"/>
            <a:ext cx="381000" cy="2286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239000" y="4744045"/>
            <a:ext cx="4143375" cy="26327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2074"/>
              </a:lnSpc>
            </a:pPr>
            <a:r>
              <a:rPr lang="en-US" sz="1800" spc="-108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Talento</a:t>
            </a:r>
            <a:endParaRPr lang="en-US" dirty="0"/>
          </a:p>
        </p:txBody>
      </p:sp>
      <p:sp>
        <p:nvSpPr>
          <p:cNvPr id="27" name="Text 19"/>
          <p:cNvSpPr/>
          <p:nvPr/>
        </p:nvSpPr>
        <p:spPr>
          <a:xfrm>
            <a:off x="7239000" y="5086201"/>
            <a:ext cx="4273451" cy="78179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2052"/>
              </a:lnSpc>
              <a:spcBef>
                <a:spcPts val="610"/>
              </a:spcBef>
            </a:pP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Dificultad para optimizar la carga de trabajo y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enfocar el valor humano en tareas de alto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impacto.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3375" y="378172"/>
            <a:ext cx="11525250" cy="54858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4320"/>
              </a:lnSpc>
            </a:pPr>
            <a:r>
              <a:rPr lang="en-US" sz="3750" spc="-225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Nivel de Madurez (ITIL v5)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3375" y="1038969"/>
            <a:ext cx="11525250" cy="28664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2257"/>
              </a:lnSpc>
              <a:spcBef>
                <a:spcPts val="867"/>
              </a:spcBef>
            </a:pPr>
            <a:r>
              <a:rPr lang="en-US" sz="1650" spc="-33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Hoja de ruta hacia la optimización</a:t>
            </a:r>
            <a:endParaRPr lang="en-US" dirty="0"/>
          </a:p>
        </p:txBody>
      </p:sp>
      <p:pic>
        <p:nvPicPr>
          <p:cNvPr id="4" name="Image 0" descr="-5107849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250" y="2556272"/>
            <a:ext cx="2400300" cy="119062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23875" y="3066455"/>
            <a:ext cx="2019300" cy="26327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2074"/>
              </a:lnSpc>
            </a:pPr>
            <a:r>
              <a:rPr lang="en-US" sz="1800" spc="-108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N1 Inicial</a:t>
            </a: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762000" y="3877717"/>
            <a:ext cx="2069574" cy="130299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2052"/>
              </a:lnSpc>
            </a:pP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Enfoque reactivo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total; alto riesgo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operativo debido a la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alta rotación de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personal.</a:t>
            </a: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1438275" y="2318147"/>
            <a:ext cx="476250" cy="47625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08ECD"/>
            </a:solidFill>
            <a:prstDash val="solid"/>
            <a:miter lim="800000"/>
          </a:ln>
        </p:spPr>
      </p:sp>
      <p:pic>
        <p:nvPicPr>
          <p:cNvPr id="8" name="Image 1" descr="3c0be2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8710" y="2444651"/>
            <a:ext cx="200025" cy="228600"/>
          </a:xfrm>
          <a:prstGeom prst="rect">
            <a:avLst/>
          </a:prstGeom>
        </p:spPr>
      </p:pic>
      <p:pic>
        <p:nvPicPr>
          <p:cNvPr id="9" name="Image 2" descr="-664449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6050" y="2556272"/>
            <a:ext cx="2400300" cy="119062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019425" y="2937867"/>
            <a:ext cx="1733550" cy="52655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2074"/>
              </a:lnSpc>
            </a:pPr>
            <a:r>
              <a:rPr lang="en-US" sz="1800" spc="-108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N2</a:t>
            </a:r>
            <a:br>
              <a:rPr lang="en-US" sz="1800" spc="-108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</a:br>
            <a:r>
              <a:rPr lang="en-US" sz="1800" spc="-108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Administrado</a:t>
            </a:r>
            <a:endParaRPr lang="en-US" dirty="0"/>
          </a:p>
        </p:txBody>
      </p:sp>
      <p:sp>
        <p:nvSpPr>
          <p:cNvPr id="11" name="Text 6"/>
          <p:cNvSpPr/>
          <p:nvPr/>
        </p:nvSpPr>
        <p:spPr>
          <a:xfrm>
            <a:off x="2971800" y="3877717"/>
            <a:ext cx="2086392" cy="156358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2052"/>
              </a:lnSpc>
            </a:pP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Procesos ejecutados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localmente; uso de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herramientas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principalmente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como bitácoras de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registro.</a:t>
            </a:r>
            <a:endParaRPr lang="en-US" dirty="0"/>
          </a:p>
        </p:txBody>
      </p:sp>
      <p:sp>
        <p:nvSpPr>
          <p:cNvPr id="12" name="Shape 7"/>
          <p:cNvSpPr/>
          <p:nvPr/>
        </p:nvSpPr>
        <p:spPr>
          <a:xfrm>
            <a:off x="3648075" y="2318147"/>
            <a:ext cx="476250" cy="47625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875A3"/>
            </a:solidFill>
            <a:prstDash val="solid"/>
            <a:miter lim="800000"/>
          </a:ln>
        </p:spPr>
      </p:sp>
      <p:pic>
        <p:nvPicPr>
          <p:cNvPr id="13" name="Image 3" descr="327946a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3879" y="2446046"/>
            <a:ext cx="171450" cy="219075"/>
          </a:xfrm>
          <a:prstGeom prst="rect">
            <a:avLst/>
          </a:prstGeom>
        </p:spPr>
      </p:pic>
      <p:pic>
        <p:nvPicPr>
          <p:cNvPr id="14" name="Image 4" descr="-63bd839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5850" y="2556272"/>
            <a:ext cx="2400300" cy="1190625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229225" y="3066455"/>
            <a:ext cx="1733550" cy="26327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2074"/>
              </a:lnSpc>
            </a:pPr>
            <a:r>
              <a:rPr lang="en-US" sz="1800" spc="-108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N3 Definido</a:t>
            </a:r>
            <a:endParaRPr lang="en-US" dirty="0"/>
          </a:p>
        </p:txBody>
      </p:sp>
      <p:sp>
        <p:nvSpPr>
          <p:cNvPr id="16" name="Text 9"/>
          <p:cNvSpPr/>
          <p:nvPr/>
        </p:nvSpPr>
        <p:spPr>
          <a:xfrm>
            <a:off x="5181600" y="3877717"/>
            <a:ext cx="2023884" cy="182418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2052"/>
              </a:lnSpc>
            </a:pP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Procesos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estandarizados a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nivel organizacional;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implementación de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RACI, ANS y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Catálogo de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Servicios.</a:t>
            </a:r>
            <a:endParaRPr lang="en-US" dirty="0"/>
          </a:p>
        </p:txBody>
      </p:sp>
      <p:sp>
        <p:nvSpPr>
          <p:cNvPr id="17" name="Shape 10"/>
          <p:cNvSpPr/>
          <p:nvPr/>
        </p:nvSpPr>
        <p:spPr>
          <a:xfrm>
            <a:off x="5857875" y="2318147"/>
            <a:ext cx="476250" cy="47625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46086"/>
            </a:solidFill>
            <a:prstDash val="solid"/>
            <a:miter lim="800000"/>
          </a:ln>
        </p:spPr>
      </p:sp>
      <p:pic>
        <p:nvPicPr>
          <p:cNvPr id="18" name="Image 5" descr="-26c90fd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78798" y="2439070"/>
            <a:ext cx="238125" cy="238125"/>
          </a:xfrm>
          <a:prstGeom prst="rect">
            <a:avLst/>
          </a:prstGeom>
        </p:spPr>
      </p:pic>
      <p:pic>
        <p:nvPicPr>
          <p:cNvPr id="19" name="Image 6" descr="-5a47b8d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05650" y="2556272"/>
            <a:ext cx="2400300" cy="1190625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7439025" y="2937867"/>
            <a:ext cx="1733550" cy="52655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2074"/>
              </a:lnSpc>
            </a:pPr>
            <a:r>
              <a:rPr lang="en-US" sz="1800" spc="-108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N4</a:t>
            </a:r>
            <a:br>
              <a:rPr lang="en-US" sz="1800" spc="-108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</a:br>
            <a:r>
              <a:rPr lang="en-US" sz="1800" spc="-108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Cuantitativo</a:t>
            </a:r>
            <a:endParaRPr lang="en-US" dirty="0"/>
          </a:p>
        </p:txBody>
      </p:sp>
      <p:sp>
        <p:nvSpPr>
          <p:cNvPr id="21" name="Text 12"/>
          <p:cNvSpPr/>
          <p:nvPr/>
        </p:nvSpPr>
        <p:spPr>
          <a:xfrm>
            <a:off x="7391400" y="3877717"/>
            <a:ext cx="2055138" cy="130299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2052"/>
              </a:lnSpc>
            </a:pP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Gestión basada en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datos reales;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medición precisa del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costo por ticket y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rendimiento.</a:t>
            </a:r>
            <a:endParaRPr lang="en-US" dirty="0"/>
          </a:p>
        </p:txBody>
      </p:sp>
      <p:sp>
        <p:nvSpPr>
          <p:cNvPr id="22" name="Shape 13"/>
          <p:cNvSpPr/>
          <p:nvPr/>
        </p:nvSpPr>
        <p:spPr>
          <a:xfrm>
            <a:off x="8067675" y="2318147"/>
            <a:ext cx="476250" cy="47625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F4A68"/>
            </a:solidFill>
            <a:prstDash val="solid"/>
            <a:miter lim="800000"/>
          </a:ln>
        </p:spPr>
      </p:sp>
      <p:pic>
        <p:nvPicPr>
          <p:cNvPr id="23" name="Image 7" descr="-38c1a09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10922" y="2475346"/>
            <a:ext cx="190500" cy="161925"/>
          </a:xfrm>
          <a:prstGeom prst="rect">
            <a:avLst/>
          </a:prstGeom>
        </p:spPr>
      </p:pic>
      <p:pic>
        <p:nvPicPr>
          <p:cNvPr id="24" name="Image 8" descr="213ef762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15450" y="2556272"/>
            <a:ext cx="2400300" cy="1190625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9648825" y="3066455"/>
            <a:ext cx="1733550" cy="26327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2074"/>
              </a:lnSpc>
            </a:pPr>
            <a:r>
              <a:rPr lang="en-US" sz="1800" spc="-108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N5 Optimizado</a:t>
            </a:r>
            <a:endParaRPr lang="en-US" dirty="0"/>
          </a:p>
        </p:txBody>
      </p:sp>
      <p:sp>
        <p:nvSpPr>
          <p:cNvPr id="26" name="Text 15"/>
          <p:cNvSpPr/>
          <p:nvPr/>
        </p:nvSpPr>
        <p:spPr>
          <a:xfrm>
            <a:off x="9601200" y="3877717"/>
            <a:ext cx="2084903" cy="130299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2052"/>
              </a:lnSpc>
            </a:pP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Foco en la mejora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continua; integración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 sistemas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automatizados y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autónomos.</a:t>
            </a:r>
            <a:endParaRPr lang="en-US" dirty="0"/>
          </a:p>
        </p:txBody>
      </p:sp>
      <p:sp>
        <p:nvSpPr>
          <p:cNvPr id="27" name="Shape 16"/>
          <p:cNvSpPr/>
          <p:nvPr/>
        </p:nvSpPr>
        <p:spPr>
          <a:xfrm>
            <a:off x="10277475" y="2318147"/>
            <a:ext cx="476250" cy="47625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B354A"/>
            </a:solidFill>
            <a:prstDash val="solid"/>
            <a:miter lim="800000"/>
          </a:ln>
        </p:spPr>
      </p:sp>
      <p:pic>
        <p:nvPicPr>
          <p:cNvPr id="28" name="Image 9" descr="0-42f65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415141" y="2458605"/>
            <a:ext cx="200025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3375" y="378172"/>
            <a:ext cx="11525250" cy="54858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4320"/>
              </a:lnSpc>
            </a:pPr>
            <a:r>
              <a:rPr lang="en-US" sz="3750" spc="-225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Roadmap de Implementación (Q3 - Q4 2026)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3375" y="1038969"/>
            <a:ext cx="11525250" cy="28664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2257"/>
              </a:lnSpc>
              <a:spcBef>
                <a:spcPts val="867"/>
              </a:spcBef>
            </a:pPr>
            <a:r>
              <a:rPr lang="en-US" sz="1650" spc="-33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Fases de Transición</a:t>
            </a:r>
            <a:endParaRPr lang="en-US" dirty="0"/>
          </a:p>
        </p:txBody>
      </p:sp>
      <p:pic>
        <p:nvPicPr>
          <p:cNvPr id="4" name="Image 0" descr="-7e0fef5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347913"/>
            <a:ext cx="12192000" cy="39052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514725" y="4438650"/>
            <a:ext cx="1809750" cy="37296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1469"/>
              </a:lnSpc>
            </a:pPr>
            <a:r>
              <a:rPr lang="en-US" sz="1275" spc="-77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Julio: Diseño</a:t>
            </a:r>
            <a:br>
              <a:rPr lang="en-US" sz="1275" spc="-77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</a:br>
            <a:r>
              <a:rPr lang="en-US" sz="1275" spc="-77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Estratégico</a:t>
            </a: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3514725" y="4896148"/>
            <a:ext cx="1858268" cy="53131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1395"/>
              </a:lnSpc>
              <a:spcBef>
                <a:spcPts val="653"/>
              </a:spcBef>
            </a:pPr>
            <a:r>
              <a:rPr lang="en-US" sz="1020" spc="-2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Definición de la oferta de</a:t>
            </a:r>
            <a:br>
              <a:rPr lang="en-US" sz="1020" spc="-2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020" spc="-2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valor y estructura de</a:t>
            </a:r>
            <a:br>
              <a:rPr lang="en-US" sz="1020" spc="-2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020" spc="-2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desglose de trabajo (WBS).</a:t>
            </a:r>
            <a:endParaRPr lang="en-US" dirty="0"/>
          </a:p>
        </p:txBody>
      </p:sp>
      <p:pic>
        <p:nvPicPr>
          <p:cNvPr id="7" name="Image 1" descr="-55db581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5150" y="4519613"/>
            <a:ext cx="190500" cy="1905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762625" y="2266950"/>
            <a:ext cx="1809750" cy="18648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1469"/>
              </a:lnSpc>
            </a:pPr>
            <a:r>
              <a:rPr lang="en-US" sz="1275" spc="-77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Agosto: Pre-pilotos</a:t>
            </a: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5762625" y="2537966"/>
            <a:ext cx="1809750" cy="53131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1395"/>
              </a:lnSpc>
              <a:spcBef>
                <a:spcPts val="653"/>
              </a:spcBef>
            </a:pPr>
            <a:r>
              <a:rPr lang="en-US" sz="1020" spc="-2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Ejecución de pre-pilotos</a:t>
            </a:r>
            <a:br>
              <a:rPr lang="en-US" sz="1020" spc="-2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020" spc="-2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internos y refinamiento de</a:t>
            </a:r>
            <a:br>
              <a:rPr lang="en-US" sz="1020" spc="-2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020" spc="-2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procesos.</a:t>
            </a:r>
            <a:endParaRPr lang="en-US" dirty="0"/>
          </a:p>
        </p:txBody>
      </p:sp>
      <p:pic>
        <p:nvPicPr>
          <p:cNvPr id="10" name="Image 2" descr="-55db581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675" y="3033713"/>
            <a:ext cx="190500" cy="1905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477000" y="4619625"/>
            <a:ext cx="1809750" cy="18648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1469"/>
              </a:lnSpc>
            </a:pPr>
            <a:r>
              <a:rPr lang="en-US" sz="1275" spc="-77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Septiembre: Piloto</a:t>
            </a:r>
            <a:endParaRPr lang="en-US" dirty="0"/>
          </a:p>
        </p:txBody>
      </p:sp>
      <p:sp>
        <p:nvSpPr>
          <p:cNvPr id="12" name="Text 7"/>
          <p:cNvSpPr/>
          <p:nvPr/>
        </p:nvSpPr>
        <p:spPr>
          <a:xfrm>
            <a:off x="6453708" y="4890641"/>
            <a:ext cx="1856333" cy="354211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1395"/>
              </a:lnSpc>
              <a:spcBef>
                <a:spcPts val="653"/>
              </a:spcBef>
            </a:pPr>
            <a:r>
              <a:rPr lang="en-US" sz="1020" spc="-2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Diseño y ejecución del</a:t>
            </a:r>
            <a:br>
              <a:rPr lang="en-US" sz="1020" spc="-2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020" spc="-2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piloto con cliente existente.</a:t>
            </a:r>
            <a:endParaRPr lang="en-US" dirty="0"/>
          </a:p>
        </p:txBody>
      </p:sp>
      <p:pic>
        <p:nvPicPr>
          <p:cNvPr id="13" name="Image 3" descr="-55db581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8950" y="5500688"/>
            <a:ext cx="190500" cy="1905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286875" y="3981450"/>
            <a:ext cx="1835944" cy="18648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1469"/>
              </a:lnSpc>
            </a:pPr>
            <a:r>
              <a:rPr lang="en-US" sz="1275" spc="-77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Octubre: Transferencia</a:t>
            </a:r>
            <a:endParaRPr lang="en-US" dirty="0"/>
          </a:p>
        </p:txBody>
      </p:sp>
      <p:sp>
        <p:nvSpPr>
          <p:cNvPr id="15" name="Text 9"/>
          <p:cNvSpPr/>
          <p:nvPr/>
        </p:nvSpPr>
        <p:spPr>
          <a:xfrm>
            <a:off x="9286875" y="4252466"/>
            <a:ext cx="1858119" cy="70842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1395"/>
              </a:lnSpc>
              <a:spcBef>
                <a:spcPts val="653"/>
              </a:spcBef>
            </a:pPr>
            <a:r>
              <a:rPr lang="en-US" sz="1020" spc="-2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Estrategias de</a:t>
            </a:r>
            <a:br>
              <a:rPr lang="en-US" sz="1020" spc="-2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020" spc="-2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transferencia de</a:t>
            </a:r>
            <a:br>
              <a:rPr lang="en-US" sz="1020" spc="-2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020" spc="-2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conocimiento y desarrollo</a:t>
            </a:r>
            <a:br>
              <a:rPr lang="en-US" sz="1020" spc="-2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020" spc="-2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 colaterales comerciales.</a:t>
            </a:r>
            <a:endParaRPr lang="en-US" dirty="0"/>
          </a:p>
        </p:txBody>
      </p:sp>
      <p:pic>
        <p:nvPicPr>
          <p:cNvPr id="16" name="Image 4" descr="-55db581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7775" y="4052888"/>
            <a:ext cx="19050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3375" y="378172"/>
            <a:ext cx="11525250" cy="54858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4320"/>
              </a:lnSpc>
            </a:pPr>
            <a:r>
              <a:rPr lang="en-US" sz="3750" spc="-225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Modelos de Transición: Waves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3375" y="1038969"/>
            <a:ext cx="11525250" cy="28664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2257"/>
              </a:lnSpc>
              <a:spcBef>
                <a:spcPts val="867"/>
              </a:spcBef>
            </a:pPr>
            <a:r>
              <a:rPr lang="en-US" sz="1650" spc="-33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Evolución estratégica de capacidades y servicios</a:t>
            </a:r>
            <a:endParaRPr lang="en-US" dirty="0"/>
          </a:p>
        </p:txBody>
      </p:sp>
      <p:pic>
        <p:nvPicPr>
          <p:cNvPr id="4" name="Image 0" descr="-3d302e1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250" y="3078212"/>
            <a:ext cx="5715000" cy="119062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23875" y="3588425"/>
            <a:ext cx="5334000" cy="26327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2074"/>
              </a:lnSpc>
            </a:pPr>
            <a:r>
              <a:rPr lang="en-US" sz="1800" spc="-108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Wave 1 (Sura + Bancolombia)</a:t>
            </a: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762000" y="4399687"/>
            <a:ext cx="5334000" cy="52119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2052"/>
              </a:lnSpc>
            </a:pP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Evaluación y estandarización de prácticas base y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lanzamiento de pilotos de dashboards ejecutivos.</a:t>
            </a: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3095625" y="2840087"/>
            <a:ext cx="476250" cy="47625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08ECD"/>
            </a:solidFill>
            <a:prstDash val="solid"/>
            <a:miter lim="800000"/>
          </a:ln>
        </p:spPr>
      </p:sp>
      <p:pic>
        <p:nvPicPr>
          <p:cNvPr id="8" name="Image 1" descr="-38c1a09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872" y="2997286"/>
            <a:ext cx="190500" cy="161925"/>
          </a:xfrm>
          <a:prstGeom prst="rect">
            <a:avLst/>
          </a:prstGeom>
        </p:spPr>
      </p:pic>
      <p:pic>
        <p:nvPicPr>
          <p:cNvPr id="9" name="Image 2" descr="29d4e06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0750" y="3078212"/>
            <a:ext cx="5715000" cy="119062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334125" y="3588425"/>
            <a:ext cx="5048250" cy="26327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2074"/>
              </a:lnSpc>
            </a:pPr>
            <a:r>
              <a:rPr lang="en-US" sz="1800" spc="-108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Wave 2 (XM, AES, Medicarte)</a:t>
            </a:r>
            <a:endParaRPr lang="en-US" dirty="0"/>
          </a:p>
        </p:txBody>
      </p:sp>
      <p:sp>
        <p:nvSpPr>
          <p:cNvPr id="11" name="Text 6"/>
          <p:cNvSpPr/>
          <p:nvPr/>
        </p:nvSpPr>
        <p:spPr>
          <a:xfrm>
            <a:off x="6286500" y="4399687"/>
            <a:ext cx="5414367" cy="52119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2052"/>
              </a:lnSpc>
            </a:pP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Lanzamiento diferencial, habilitación técnica de equipos y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evolución continua basada en resultados.</a:t>
            </a:r>
            <a:endParaRPr lang="en-US" dirty="0"/>
          </a:p>
        </p:txBody>
      </p:sp>
      <p:sp>
        <p:nvSpPr>
          <p:cNvPr id="12" name="Shape 7"/>
          <p:cNvSpPr/>
          <p:nvPr/>
        </p:nvSpPr>
        <p:spPr>
          <a:xfrm>
            <a:off x="8620125" y="2840087"/>
            <a:ext cx="476250" cy="47625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B354A"/>
            </a:solidFill>
            <a:prstDash val="solid"/>
            <a:miter lim="800000"/>
          </a:ln>
        </p:spPr>
      </p:sp>
      <p:pic>
        <p:nvPicPr>
          <p:cNvPr id="13" name="Image 3" descr="0-42f65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7790" y="2980546"/>
            <a:ext cx="200025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3375" y="378172"/>
            <a:ext cx="11525250" cy="54858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4320"/>
              </a:lnSpc>
            </a:pPr>
            <a:r>
              <a:rPr lang="en-US" sz="3750" spc="-225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Entregables Clave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3375" y="1038969"/>
            <a:ext cx="11525250" cy="28664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2257"/>
              </a:lnSpc>
              <a:spcBef>
                <a:spcPts val="867"/>
              </a:spcBef>
            </a:pPr>
            <a:r>
              <a:rPr lang="en-US" sz="1650" spc="-33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Documentación y herramientas estratégicas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52500" y="3073301"/>
            <a:ext cx="5238750" cy="199027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 marL="241300" indent="-241300">
              <a:lnSpc>
                <a:spcPts val="2246"/>
              </a:lnSpc>
              <a:buClr>
                <a:srgbClr val="22aaee"/>
              </a:buClr>
              <a:buSzPct val="120000"/>
              <a:buChar char="•"/>
            </a:pPr>
            <a:r>
              <a:rPr lang="en-US" sz="1950" spc="-117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Business Service Blueprint y Oferta de Valor</a:t>
            </a:r>
            <a:endParaRPr lang="en-US" dirty="0"/>
          </a:p>
          <a:p>
            <a:pPr fontAlgn="ctr" algn="l" lvl="1" marL="241300" indent="0">
              <a:lnSpc>
                <a:spcPts val="2052"/>
              </a:lnSpc>
              <a:spcBef>
                <a:spcPts val="430"/>
              </a:spcBef>
              <a:buNone/>
            </a:pP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Definición clara del servicio y su propuesta de valor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diferenciada.</a:t>
            </a:r>
            <a:endParaRPr lang="en-US" dirty="0"/>
          </a:p>
          <a:p>
            <a:pPr fontAlgn="ctr" algn="l" marL="241300" indent="-241300">
              <a:lnSpc>
                <a:spcPts val="2246"/>
              </a:lnSpc>
              <a:spcBef>
                <a:spcPts val="2055"/>
              </a:spcBef>
              <a:buClr>
                <a:srgbClr val="22aaee"/>
              </a:buClr>
              <a:buSzPct val="120000"/>
              <a:buChar char="•"/>
            </a:pPr>
            <a:r>
              <a:rPr lang="en-US" sz="1950" spc="-117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Plantillas comerciales</a:t>
            </a:r>
            <a:endParaRPr lang="en-US" dirty="0"/>
          </a:p>
          <a:p>
            <a:pPr fontAlgn="ctr" algn="l" lvl="1" marL="241300" indent="0">
              <a:lnSpc>
                <a:spcPts val="2052"/>
              </a:lnSpc>
              <a:spcBef>
                <a:spcPts val="430"/>
              </a:spcBef>
              <a:buNone/>
            </a:pP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Estandarización de herramientas de venta: Estimación,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Propuesta y Contrato.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286500" y="3073301"/>
            <a:ext cx="5290245" cy="199027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 marL="241300" indent="-241300">
              <a:lnSpc>
                <a:spcPts val="2246"/>
              </a:lnSpc>
              <a:buClr>
                <a:srgbClr val="22aaee"/>
              </a:buClr>
              <a:buSzPct val="120000"/>
              <a:buChar char="•"/>
            </a:pPr>
            <a:r>
              <a:rPr lang="en-US" sz="1950" spc="-117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Calculadora del servicio</a:t>
            </a:r>
            <a:endParaRPr lang="en-US" dirty="0"/>
          </a:p>
          <a:p>
            <a:pPr fontAlgn="ctr" algn="l" lvl="1" marL="241300" indent="0">
              <a:lnSpc>
                <a:spcPts val="2052"/>
              </a:lnSpc>
              <a:spcBef>
                <a:spcPts val="430"/>
              </a:spcBef>
              <a:buNone/>
            </a:pP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Herramienta técnica para el costeo y valoración precisa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del servicio.</a:t>
            </a:r>
            <a:endParaRPr lang="en-US" dirty="0"/>
          </a:p>
          <a:p>
            <a:pPr fontAlgn="ctr" algn="l" marL="241300" indent="-241300">
              <a:lnSpc>
                <a:spcPts val="2246"/>
              </a:lnSpc>
              <a:spcBef>
                <a:spcPts val="2055"/>
              </a:spcBef>
              <a:buClr>
                <a:srgbClr val="22aaee"/>
              </a:buClr>
              <a:buSzPct val="120000"/>
              <a:buChar char="•"/>
            </a:pPr>
            <a:r>
              <a:rPr lang="en-US" sz="1950" spc="-117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Dashboards ejecutivos y modelos de gestión</a:t>
            </a:r>
            <a:endParaRPr lang="en-US" dirty="0"/>
          </a:p>
          <a:p>
            <a:pPr fontAlgn="ctr" algn="l" lvl="1" marL="241300" indent="0">
              <a:lnSpc>
                <a:spcPts val="2052"/>
              </a:lnSpc>
              <a:spcBef>
                <a:spcPts val="430"/>
              </a:spcBef>
              <a:buNone/>
            </a:pP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Seguimiento de indicadores (ANS, gestión de incidentes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y control de cambios).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 professional handshake">    </p:cNvPr>
          <p:cNvPicPr>
            <a:picLocks noChangeAspect="1"/>
          </p:cNvPicPr>
          <p:nvPr/>
        </p:nvPicPr>
        <p:blipFill>
          <a:blip r:embed="rId1"/>
          <a:srcRect l="311" r="311" t="0" b="0"/>
          <a:stretch/>
        </p:blipFill>
        <p:spPr>
          <a:xfrm>
            <a:off x="0" y="0"/>
            <a:ext cx="6096000" cy="6134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67500" y="1791593"/>
            <a:ext cx="5238750" cy="153590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6048"/>
              </a:lnSpc>
            </a:pPr>
            <a:r>
              <a:rPr lang="en-US" sz="5250" spc="-315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Información de</a:t>
            </a:r>
            <a:br>
              <a:rPr lang="en-US" sz="5250" spc="-315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</a:br>
            <a:r>
              <a:rPr lang="en-US" sz="5250" spc="-315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Contacto</a:t>
            </a: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6667500" y="3428702"/>
            <a:ext cx="5238750" cy="24139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1901"/>
              </a:lnSpc>
            </a:pPr>
            <a:r>
              <a:rPr lang="en-US" sz="1650" spc="-99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Centro Empresarial Ciudad del Río, Medellín</a:t>
            </a:r>
            <a:endParaRPr lang="en-US" dirty="0"/>
          </a:p>
        </p:txBody>
      </p:sp>
      <p:sp>
        <p:nvSpPr>
          <p:cNvPr id="5" name="Shape 2"/>
          <p:cNvSpPr/>
          <p:nvPr/>
        </p:nvSpPr>
        <p:spPr>
          <a:xfrm>
            <a:off x="6667500" y="3862388"/>
            <a:ext cx="342900" cy="342900"/>
          </a:xfrm>
          <a:prstGeom prst="ellipse">
            <a:avLst/>
          </a:prstGeom>
          <a:solidFill>
            <a:srgbClr val="22AAEE"/>
          </a:solidFill>
          <a:ln>
            <a:miter lim="800000"/>
          </a:ln>
        </p:spPr>
      </p:sp>
      <p:pic>
        <p:nvPicPr>
          <p:cNvPr id="6" name="Image 1" descr="15a92da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0637" y="3963516"/>
            <a:ext cx="142875" cy="1428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153275" y="3891855"/>
            <a:ext cx="4752975" cy="28664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2257"/>
              </a:lnSpc>
            </a:pPr>
            <a:r>
              <a:rPr lang="en-US" sz="1650" spc="-33" kern="0" dirty="0">
                <a:solidFill>
                  <a:srgbClr val="33333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+57 324 549 77 70</a:t>
            </a:r>
            <a:endParaRPr lang="en-US" dirty="0"/>
          </a:p>
        </p:txBody>
      </p:sp>
      <p:sp>
        <p:nvSpPr>
          <p:cNvPr id="8" name="Shape 4"/>
          <p:cNvSpPr/>
          <p:nvPr/>
        </p:nvSpPr>
        <p:spPr>
          <a:xfrm>
            <a:off x="0" y="6134100"/>
            <a:ext cx="12192000" cy="723900"/>
          </a:xfrm>
          <a:prstGeom prst="rect">
            <a:avLst/>
          </a:prstGeom>
          <a:solidFill>
            <a:srgbClr val="222222"/>
          </a:solidFill>
          <a:ln>
            <a:miter lim="800000"/>
          </a:ln>
        </p:spPr>
      </p:sp>
      <p:sp>
        <p:nvSpPr>
          <p:cNvPr id="9" name="Text 5"/>
          <p:cNvSpPr/>
          <p:nvPr/>
        </p:nvSpPr>
        <p:spPr>
          <a:xfrm>
            <a:off x="4668113" y="6376690"/>
            <a:ext cx="2855774" cy="24139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fontAlgn="ctr" algn="ctr">
              <a:lnSpc>
                <a:spcPts val="1901"/>
              </a:lnSpc>
            </a:pPr>
            <a:r>
              <a:rPr lang="en-US" sz="1650" spc="-99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We make it happen. ¡Gracias!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39ce5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Beautiful.ai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subject>Presentation</dc:subject>
  <dc:creator>Beautiful.ai</dc:creator>
  <cp:lastModifiedBy>Beautiful.ai</cp:lastModifiedBy>
  <cp:revision>1</cp:revision>
  <dcterms:created xsi:type="dcterms:W3CDTF">2026-07-08T22:48:12Z</dcterms:created>
  <dcterms:modified xsi:type="dcterms:W3CDTF">2026-07-08T22:48:12Z</dcterms:modified>
</cp:coreProperties>
</file>