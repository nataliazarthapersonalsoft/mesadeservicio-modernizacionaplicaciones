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0ef8cba2.png"/><Relationship Id="rId2" Type="http://schemas.openxmlformats.org/officeDocument/2006/relationships/image" Target="../media/image--1387e0de.png"/><Relationship Id="rId3" Type="http://schemas.openxmlformats.org/officeDocument/2006/relationships/image" Target="../media/image-0-aeb55e.png"/><Relationship Id="rId4" Type="http://schemas.openxmlformats.org/officeDocument/2006/relationships/image" Target="../media/image-493e4ae2.png"/><Relationship Id="rId5" Type="http://schemas.openxmlformats.org/officeDocument/2006/relationships/image" Target="../media/image--4ed946de.png"/><Relationship Id="rId6" Type="http://schemas.openxmlformats.org/officeDocument/2006/relationships/image" Target="../media/image--39ac36de.png"/><Relationship Id="rId7" Type="http://schemas.openxmlformats.org/officeDocument/2006/relationships/image" Target="../media/image-169ddb6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-3c3db0d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0ef8cba1.png"/><Relationship Id="rId2" Type="http://schemas.openxmlformats.org/officeDocument/2006/relationships/image" Target="../media/image--1440bf9e1.png"/><Relationship Id="rId3" Type="http://schemas.openxmlformats.org/officeDocument/2006/relationships/image" Target="../media/image-0-aeb55e1.png"/><Relationship Id="rId4" Type="http://schemas.openxmlformats.org/officeDocument/2006/relationships/image" Target="../media/image--2183d71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-7257245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Mesa de Servicio de Nueva Generación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Roadmap Julio - Diciembre 2026</a:t>
            </a:r>
            <a:endParaRPr lang="en-US" dirty="0"/>
          </a:p>
        </p:txBody>
      </p:sp>
      <p:pic>
        <p:nvPicPr>
          <p:cNvPr id="4" name="Image 0" descr="0ef8cb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812" y="4038600"/>
            <a:ext cx="12239625" cy="57150"/>
          </a:xfrm>
          <a:prstGeom prst="rect">
            <a:avLst/>
          </a:prstGeom>
        </p:spPr>
      </p:pic>
      <p:pic>
        <p:nvPicPr>
          <p:cNvPr id="5" name="Image 1" descr="-1387e0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38" y="3021806"/>
            <a:ext cx="28575" cy="1057275"/>
          </a:xfrm>
          <a:prstGeom prst="rect">
            <a:avLst/>
          </a:prstGeom>
        </p:spPr>
      </p:pic>
      <p:pic>
        <p:nvPicPr>
          <p:cNvPr id="6" name="Image 2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638" y="3971925"/>
            <a:ext cx="180975" cy="180975"/>
          </a:xfrm>
          <a:prstGeom prst="rect">
            <a:avLst/>
          </a:prstGeom>
        </p:spPr>
      </p:pic>
      <p:pic>
        <p:nvPicPr>
          <p:cNvPr id="7" name="Image 3" descr="493e4a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338" y="4048125"/>
            <a:ext cx="28575" cy="752475"/>
          </a:xfrm>
          <a:prstGeom prst="rect">
            <a:avLst/>
          </a:prstGeom>
        </p:spPr>
      </p:pic>
      <p:pic>
        <p:nvPicPr>
          <p:cNvPr id="8" name="Image 4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38" y="3971925"/>
            <a:ext cx="180975" cy="180975"/>
          </a:xfrm>
          <a:prstGeom prst="rect">
            <a:avLst/>
          </a:prstGeom>
        </p:spPr>
      </p:pic>
      <p:pic>
        <p:nvPicPr>
          <p:cNvPr id="9" name="Image 5" descr="-1387e0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838" y="3021806"/>
            <a:ext cx="28575" cy="1057275"/>
          </a:xfrm>
          <a:prstGeom prst="rect">
            <a:avLst/>
          </a:prstGeom>
        </p:spPr>
      </p:pic>
      <p:pic>
        <p:nvPicPr>
          <p:cNvPr id="10" name="Image 6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638" y="3971925"/>
            <a:ext cx="180975" cy="180975"/>
          </a:xfrm>
          <a:prstGeom prst="rect">
            <a:avLst/>
          </a:prstGeom>
        </p:spPr>
      </p:pic>
      <p:sp>
        <p:nvSpPr>
          <p:cNvPr id="11" name="Shape 2"/>
          <p:cNvSpPr/>
          <p:nvPr/>
        </p:nvSpPr>
        <p:spPr>
          <a:xfrm>
            <a:off x="1476375" y="2464594"/>
            <a:ext cx="571500" cy="57150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pic>
        <p:nvPicPr>
          <p:cNvPr id="12" name="Image 7" descr="-4ed946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390" y="2633141"/>
            <a:ext cx="333375" cy="238125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2143125" y="2642622"/>
            <a:ext cx="5238750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Julio - Agosto</a:t>
            </a:r>
            <a:endParaRPr lang="en-US" dirty="0"/>
          </a:p>
        </p:txBody>
      </p:sp>
      <p:sp>
        <p:nvSpPr>
          <p:cNvPr id="14" name="Text 4"/>
          <p:cNvSpPr/>
          <p:nvPr/>
        </p:nvSpPr>
        <p:spPr>
          <a:xfrm>
            <a:off x="2143125" y="2962305"/>
            <a:ext cx="52387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Diagnóstico y Optimización</a:t>
            </a:r>
            <a:endParaRPr lang="en-US" dirty="0"/>
          </a:p>
        </p:txBody>
      </p:sp>
      <p:sp>
        <p:nvSpPr>
          <p:cNvPr id="15" name="Text 5"/>
          <p:cNvSpPr/>
          <p:nvPr/>
        </p:nvSpPr>
        <p:spPr>
          <a:xfrm>
            <a:off x="2143125" y="3304461"/>
            <a:ext cx="5238750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Evaluación de capacidades actuales y optimización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 de automatización.</a:t>
            </a:r>
            <a:endParaRPr lang="en-US" dirty="0"/>
          </a:p>
        </p:txBody>
      </p:sp>
      <p:sp>
        <p:nvSpPr>
          <p:cNvPr id="16" name="Shape 6"/>
          <p:cNvSpPr/>
          <p:nvPr/>
        </p:nvSpPr>
        <p:spPr>
          <a:xfrm>
            <a:off x="4333875" y="4783931"/>
            <a:ext cx="571500" cy="57150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pic>
        <p:nvPicPr>
          <p:cNvPr id="17" name="Image 8" descr="-39ac36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2377" y="4942432"/>
            <a:ext cx="257175" cy="25717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5000625" y="4961959"/>
            <a:ext cx="6000750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Septiembre - Octubre</a:t>
            </a:r>
            <a:endParaRPr lang="en-US" dirty="0"/>
          </a:p>
        </p:txBody>
      </p:sp>
      <p:sp>
        <p:nvSpPr>
          <p:cNvPr id="19" name="Text 8"/>
          <p:cNvSpPr/>
          <p:nvPr/>
        </p:nvSpPr>
        <p:spPr>
          <a:xfrm>
            <a:off x="5000625" y="5281642"/>
            <a:ext cx="60007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Implementación de IA</a:t>
            </a:r>
            <a:endParaRPr lang="en-US" dirty="0"/>
          </a:p>
        </p:txBody>
      </p:sp>
      <p:sp>
        <p:nvSpPr>
          <p:cNvPr id="20" name="Text 9"/>
          <p:cNvSpPr/>
          <p:nvPr/>
        </p:nvSpPr>
        <p:spPr>
          <a:xfrm>
            <a:off x="5000625" y="5623798"/>
            <a:ext cx="6158210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Lanzamiento de canales autogestionados e integración de IA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resolución nivel 1.</a:t>
            </a:r>
            <a:endParaRPr lang="en-US" dirty="0"/>
          </a:p>
        </p:txBody>
      </p:sp>
      <p:sp>
        <p:nvSpPr>
          <p:cNvPr id="21" name="Shape 10"/>
          <p:cNvSpPr/>
          <p:nvPr/>
        </p:nvSpPr>
        <p:spPr>
          <a:xfrm>
            <a:off x="7191375" y="2464594"/>
            <a:ext cx="571500" cy="57150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pic>
        <p:nvPicPr>
          <p:cNvPr id="22" name="Image 9" descr="169ddb6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6483" y="2609702"/>
            <a:ext cx="285750" cy="28575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858125" y="2642622"/>
            <a:ext cx="4238625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Noviembre - Diciembre</a:t>
            </a:r>
            <a:endParaRPr lang="en-US" dirty="0"/>
          </a:p>
        </p:txBody>
      </p:sp>
      <p:sp>
        <p:nvSpPr>
          <p:cNvPr id="24" name="Text 12"/>
          <p:cNvSpPr/>
          <p:nvPr/>
        </p:nvSpPr>
        <p:spPr>
          <a:xfrm>
            <a:off x="7858125" y="2962305"/>
            <a:ext cx="423862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Consolidación Operativa</a:t>
            </a:r>
            <a:endParaRPr lang="en-US" dirty="0"/>
          </a:p>
        </p:txBody>
      </p:sp>
      <p:sp>
        <p:nvSpPr>
          <p:cNvPr id="25" name="Text 13"/>
          <p:cNvSpPr/>
          <p:nvPr/>
        </p:nvSpPr>
        <p:spPr>
          <a:xfrm>
            <a:off x="7858125" y="3304461"/>
            <a:ext cx="4238625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Análisis predictivo, mejora de experiencia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usuario y cierre del nuevo modelo.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Valor del Servicio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transformación de un costo operativo a una ventaja competitiva.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43075"/>
            <a:ext cx="4476750" cy="46386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growing bar graph representing business growth">    </p:cNvPr>
          <p:cNvPicPr>
            <a:picLocks noChangeAspect="1"/>
          </p:cNvPicPr>
          <p:nvPr/>
        </p:nvPicPr>
        <p:blipFill>
          <a:blip r:embed="rId1"/>
          <a:srcRect l="1745" r="1745" t="0" b="0"/>
          <a:stretch/>
        </p:blipFill>
        <p:spPr>
          <a:xfrm>
            <a:off x="476250" y="1743075"/>
            <a:ext cx="4476750" cy="4638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2768501"/>
            <a:ext cx="6477000" cy="259734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246"/>
              </a:lnSpc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el cliente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Garantía de SLAs cumplidos y visibilidad completa en tiempo real.</a:t>
            </a:r>
            <a:endParaRPr lang="en-US" dirty="0"/>
          </a:p>
          <a:p>
            <a:pPr fontAlgn="ctr" algn="l" marL="241300" indent="-241300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PersonalSoft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Optimización de la rentabilidad mediante la automatización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procesos.</a:t>
            </a:r>
            <a:endParaRPr lang="en-US" dirty="0"/>
          </a:p>
          <a:p>
            <a:pPr fontAlgn="ctr" algn="l" marL="241300" indent="-241300">
              <a:lnSpc>
                <a:spcPts val="2246"/>
              </a:lnSpc>
              <a:spcBef>
                <a:spcPts val="2055"/>
              </a:spcBef>
              <a:buClr>
                <a:srgbClr val="22aaee"/>
              </a:buClr>
              <a:buSzPct val="120000"/>
              <a:buChar char="•"/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el mercado</a:t>
            </a:r>
            <a:endParaRPr lang="en-US" dirty="0"/>
          </a:p>
          <a:p>
            <a:pPr fontAlgn="ctr" algn="l" lvl="1" marL="241300" indent="0">
              <a:lnSpc>
                <a:spcPts val="2052"/>
              </a:lnSpc>
              <a:spcBef>
                <a:spcPts val="430"/>
              </a:spcBef>
              <a:buNone/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Diferenciación estratégica basada en datos y evolución continua.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Cronograma Completo de Actividades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Hoja de ruta estratégica para la implementación y optimización operativa</a:t>
            </a:r>
            <a:endParaRPr lang="en-US" dirty="0"/>
          </a:p>
        </p:txBody>
      </p:sp>
      <p:pic>
        <p:nvPicPr>
          <p:cNvPr id="4" name="Image 0" descr="0ef8cb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812" y="4038600"/>
            <a:ext cx="12239625" cy="57150"/>
          </a:xfrm>
          <a:prstGeom prst="rect">
            <a:avLst/>
          </a:prstGeom>
        </p:spPr>
      </p:pic>
      <p:pic>
        <p:nvPicPr>
          <p:cNvPr id="5" name="Image 1" descr="-1440bf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27" y="1795463"/>
            <a:ext cx="28575" cy="2286000"/>
          </a:xfrm>
          <a:prstGeom prst="rect">
            <a:avLst/>
          </a:prstGeom>
        </p:spPr>
      </p:pic>
      <p:pic>
        <p:nvPicPr>
          <p:cNvPr id="6" name="Image 2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127" y="3971925"/>
            <a:ext cx="180975" cy="180975"/>
          </a:xfrm>
          <a:prstGeom prst="rect">
            <a:avLst/>
          </a:prstGeom>
        </p:spPr>
      </p:pic>
      <p:pic>
        <p:nvPicPr>
          <p:cNvPr id="7" name="Image 3" descr="-2183d7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198" y="4048125"/>
            <a:ext cx="28575" cy="923925"/>
          </a:xfrm>
          <a:prstGeom prst="rect">
            <a:avLst/>
          </a:prstGeom>
        </p:spPr>
      </p:pic>
      <p:pic>
        <p:nvPicPr>
          <p:cNvPr id="8" name="Image 4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998" y="3971925"/>
            <a:ext cx="180975" cy="180975"/>
          </a:xfrm>
          <a:prstGeom prst="rect">
            <a:avLst/>
          </a:prstGeom>
        </p:spPr>
      </p:pic>
      <p:pic>
        <p:nvPicPr>
          <p:cNvPr id="9" name="Image 5" descr="-1440bf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069" y="1795463"/>
            <a:ext cx="28575" cy="2286000"/>
          </a:xfrm>
          <a:prstGeom prst="rect">
            <a:avLst/>
          </a:prstGeom>
        </p:spPr>
      </p:pic>
      <p:pic>
        <p:nvPicPr>
          <p:cNvPr id="10" name="Image 6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869" y="3971925"/>
            <a:ext cx="180975" cy="180975"/>
          </a:xfrm>
          <a:prstGeom prst="rect">
            <a:avLst/>
          </a:prstGeom>
        </p:spPr>
      </p:pic>
      <p:pic>
        <p:nvPicPr>
          <p:cNvPr id="11" name="Image 7" descr="-2183d7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940" y="4048125"/>
            <a:ext cx="28575" cy="923925"/>
          </a:xfrm>
          <a:prstGeom prst="rect">
            <a:avLst/>
          </a:prstGeom>
        </p:spPr>
      </p:pic>
      <p:pic>
        <p:nvPicPr>
          <p:cNvPr id="12" name="Image 8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740" y="3971925"/>
            <a:ext cx="180975" cy="180975"/>
          </a:xfrm>
          <a:prstGeom prst="rect">
            <a:avLst/>
          </a:prstGeom>
        </p:spPr>
      </p:pic>
      <p:pic>
        <p:nvPicPr>
          <p:cNvPr id="13" name="Image 9" descr="-1440bf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715" y="1795463"/>
            <a:ext cx="28575" cy="2286000"/>
          </a:xfrm>
          <a:prstGeom prst="rect">
            <a:avLst/>
          </a:prstGeom>
        </p:spPr>
      </p:pic>
      <p:pic>
        <p:nvPicPr>
          <p:cNvPr id="14" name="Image 10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515" y="3971925"/>
            <a:ext cx="180975" cy="180975"/>
          </a:xfrm>
          <a:prstGeom prst="rect">
            <a:avLst/>
          </a:prstGeom>
        </p:spPr>
      </p:pic>
      <p:pic>
        <p:nvPicPr>
          <p:cNvPr id="15" name="Image 11" descr="-2183d7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0586" y="4048125"/>
            <a:ext cx="28575" cy="923925"/>
          </a:xfrm>
          <a:prstGeom prst="rect">
            <a:avLst/>
          </a:prstGeom>
        </p:spPr>
      </p:pic>
      <p:pic>
        <p:nvPicPr>
          <p:cNvPr id="16" name="Image 12" descr="0-aeb5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386" y="3971925"/>
            <a:ext cx="180975" cy="180975"/>
          </a:xfrm>
          <a:prstGeom prst="rect">
            <a:avLst/>
          </a:prstGeom>
        </p:spPr>
      </p:pic>
      <p:sp>
        <p:nvSpPr>
          <p:cNvPr id="17" name="Shape 2"/>
          <p:cNvSpPr/>
          <p:nvPr/>
        </p:nvSpPr>
        <p:spPr>
          <a:xfrm>
            <a:off x="1043880" y="1676418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18" name="Text 3"/>
          <p:cNvSpPr/>
          <p:nvPr/>
        </p:nvSpPr>
        <p:spPr>
          <a:xfrm>
            <a:off x="1272540" y="1635353"/>
            <a:ext cx="3008412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Julio</a:t>
            </a:r>
            <a:endParaRPr lang="en-US" dirty="0"/>
          </a:p>
        </p:txBody>
      </p:sp>
      <p:sp>
        <p:nvSpPr>
          <p:cNvPr id="19" name="Text 4"/>
          <p:cNvSpPr/>
          <p:nvPr/>
        </p:nvSpPr>
        <p:spPr>
          <a:xfrm>
            <a:off x="1272540" y="1955036"/>
            <a:ext cx="3008412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Diagnóstico y Diseño</a:t>
            </a:r>
            <a:endParaRPr lang="en-US" dirty="0"/>
          </a:p>
        </p:txBody>
      </p:sp>
      <p:sp>
        <p:nvSpPr>
          <p:cNvPr id="20" name="Text 5"/>
          <p:cNvSpPr/>
          <p:nvPr/>
        </p:nvSpPr>
        <p:spPr>
          <a:xfrm>
            <a:off x="1272540" y="2297192"/>
            <a:ext cx="3140333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Auditoría de procesos actuales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diseño de arquitectura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servicio.</a:t>
            </a:r>
            <a:endParaRPr lang="en-US" dirty="0"/>
          </a:p>
        </p:txBody>
      </p:sp>
      <p:sp>
        <p:nvSpPr>
          <p:cNvPr id="21" name="Shape 6"/>
          <p:cNvSpPr/>
          <p:nvPr/>
        </p:nvSpPr>
        <p:spPr>
          <a:xfrm>
            <a:off x="2676674" y="4952869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22" name="Text 7"/>
          <p:cNvSpPr/>
          <p:nvPr/>
        </p:nvSpPr>
        <p:spPr>
          <a:xfrm>
            <a:off x="2905397" y="4911953"/>
            <a:ext cx="3008412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Agosto</a:t>
            </a:r>
            <a:endParaRPr lang="en-US" dirty="0"/>
          </a:p>
        </p:txBody>
      </p:sp>
      <p:sp>
        <p:nvSpPr>
          <p:cNvPr id="23" name="Text 8"/>
          <p:cNvSpPr/>
          <p:nvPr/>
        </p:nvSpPr>
        <p:spPr>
          <a:xfrm>
            <a:off x="2905397" y="5231636"/>
            <a:ext cx="3008412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Implementación</a:t>
            </a:r>
            <a:endParaRPr lang="en-US" dirty="0"/>
          </a:p>
        </p:txBody>
      </p:sp>
      <p:sp>
        <p:nvSpPr>
          <p:cNvPr id="24" name="Text 9"/>
          <p:cNvSpPr/>
          <p:nvPr/>
        </p:nvSpPr>
        <p:spPr>
          <a:xfrm>
            <a:off x="2905397" y="5573792"/>
            <a:ext cx="3137059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 de automatización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despliegue de pilotos.</a:t>
            </a:r>
            <a:endParaRPr lang="en-US" dirty="0"/>
          </a:p>
        </p:txBody>
      </p:sp>
      <p:sp>
        <p:nvSpPr>
          <p:cNvPr id="25" name="Shape 10"/>
          <p:cNvSpPr/>
          <p:nvPr/>
        </p:nvSpPr>
        <p:spPr>
          <a:xfrm>
            <a:off x="4309616" y="1676418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26" name="Text 11"/>
          <p:cNvSpPr/>
          <p:nvPr/>
        </p:nvSpPr>
        <p:spPr>
          <a:xfrm>
            <a:off x="4538254" y="1635353"/>
            <a:ext cx="3008412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Septiembre</a:t>
            </a:r>
            <a:endParaRPr lang="en-US" dirty="0"/>
          </a:p>
        </p:txBody>
      </p:sp>
      <p:sp>
        <p:nvSpPr>
          <p:cNvPr id="27" name="Text 12"/>
          <p:cNvSpPr/>
          <p:nvPr/>
        </p:nvSpPr>
        <p:spPr>
          <a:xfrm>
            <a:off x="4538254" y="1955036"/>
            <a:ext cx="3008412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Capacitación</a:t>
            </a:r>
            <a:endParaRPr lang="en-US" dirty="0"/>
          </a:p>
        </p:txBody>
      </p:sp>
      <p:sp>
        <p:nvSpPr>
          <p:cNvPr id="28" name="Text 13"/>
          <p:cNvSpPr/>
          <p:nvPr/>
        </p:nvSpPr>
        <p:spPr>
          <a:xfrm>
            <a:off x="4538254" y="2297192"/>
            <a:ext cx="3008412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Estandarización de KPIs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habilitación comercial.</a:t>
            </a:r>
            <a:endParaRPr lang="en-US" dirty="0"/>
          </a:p>
        </p:txBody>
      </p:sp>
      <p:sp>
        <p:nvSpPr>
          <p:cNvPr id="29" name="Shape 14"/>
          <p:cNvSpPr/>
          <p:nvPr/>
        </p:nvSpPr>
        <p:spPr>
          <a:xfrm>
            <a:off x="5942409" y="4952869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0" name="Text 15"/>
          <p:cNvSpPr/>
          <p:nvPr/>
        </p:nvSpPr>
        <p:spPr>
          <a:xfrm>
            <a:off x="6171111" y="4911953"/>
            <a:ext cx="3008412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Octubre</a:t>
            </a:r>
            <a:endParaRPr lang="en-US" dirty="0"/>
          </a:p>
        </p:txBody>
      </p:sp>
      <p:sp>
        <p:nvSpPr>
          <p:cNvPr id="31" name="Text 16"/>
          <p:cNvSpPr/>
          <p:nvPr/>
        </p:nvSpPr>
        <p:spPr>
          <a:xfrm>
            <a:off x="6171111" y="5231636"/>
            <a:ext cx="3008412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Go-live</a:t>
            </a:r>
            <a:endParaRPr lang="en-US" dirty="0"/>
          </a:p>
        </p:txBody>
      </p:sp>
      <p:sp>
        <p:nvSpPr>
          <p:cNvPr id="32" name="Text 17"/>
          <p:cNvSpPr/>
          <p:nvPr/>
        </p:nvSpPr>
        <p:spPr>
          <a:xfrm>
            <a:off x="6171111" y="5573792"/>
            <a:ext cx="3008412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Migración de procesos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lanzamiento de dashboards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ejecutivos.</a:t>
            </a:r>
            <a:endParaRPr lang="en-US" dirty="0"/>
          </a:p>
        </p:txBody>
      </p:sp>
      <p:sp>
        <p:nvSpPr>
          <p:cNvPr id="33" name="Shape 18"/>
          <p:cNvSpPr/>
          <p:nvPr/>
        </p:nvSpPr>
        <p:spPr>
          <a:xfrm>
            <a:off x="7575352" y="1676418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4" name="Text 19"/>
          <p:cNvSpPr/>
          <p:nvPr/>
        </p:nvSpPr>
        <p:spPr>
          <a:xfrm>
            <a:off x="7803969" y="1635353"/>
            <a:ext cx="4073575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Noviembre</a:t>
            </a:r>
            <a:endParaRPr lang="en-US" dirty="0"/>
          </a:p>
        </p:txBody>
      </p:sp>
      <p:sp>
        <p:nvSpPr>
          <p:cNvPr id="35" name="Text 20"/>
          <p:cNvSpPr/>
          <p:nvPr/>
        </p:nvSpPr>
        <p:spPr>
          <a:xfrm>
            <a:off x="7803969" y="1955036"/>
            <a:ext cx="40735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Optimización</a:t>
            </a:r>
            <a:endParaRPr lang="en-US" dirty="0"/>
          </a:p>
        </p:txBody>
      </p:sp>
      <p:sp>
        <p:nvSpPr>
          <p:cNvPr id="36" name="Text 21"/>
          <p:cNvSpPr/>
          <p:nvPr/>
        </p:nvSpPr>
        <p:spPr>
          <a:xfrm>
            <a:off x="7803969" y="2297192"/>
            <a:ext cx="4073575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Ajustes basados en feedback y estabilidad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operativa.</a:t>
            </a:r>
            <a:endParaRPr lang="en-US" dirty="0"/>
          </a:p>
        </p:txBody>
      </p:sp>
      <p:sp>
        <p:nvSpPr>
          <p:cNvPr id="37" name="Shape 22"/>
          <p:cNvSpPr/>
          <p:nvPr/>
        </p:nvSpPr>
        <p:spPr>
          <a:xfrm>
            <a:off x="9208145" y="4952869"/>
            <a:ext cx="133350" cy="13335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8" name="Text 23"/>
          <p:cNvSpPr/>
          <p:nvPr/>
        </p:nvSpPr>
        <p:spPr>
          <a:xfrm>
            <a:off x="9436826" y="4911953"/>
            <a:ext cx="2440781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Diciembre</a:t>
            </a:r>
            <a:endParaRPr lang="en-US" dirty="0"/>
          </a:p>
        </p:txBody>
      </p:sp>
      <p:sp>
        <p:nvSpPr>
          <p:cNvPr id="39" name="Text 24"/>
          <p:cNvSpPr/>
          <p:nvPr/>
        </p:nvSpPr>
        <p:spPr>
          <a:xfrm>
            <a:off x="9436826" y="5231636"/>
            <a:ext cx="2440781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  <a:spcBef>
                <a:spcPts val="774"/>
              </a:spcBef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Cierre y Planificación</a:t>
            </a:r>
            <a:endParaRPr lang="en-US" dirty="0"/>
          </a:p>
        </p:txBody>
      </p:sp>
      <p:sp>
        <p:nvSpPr>
          <p:cNvPr id="40" name="Text 25"/>
          <p:cNvSpPr/>
          <p:nvPr/>
        </p:nvSpPr>
        <p:spPr>
          <a:xfrm>
            <a:off x="9436826" y="5573792"/>
            <a:ext cx="2473077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Evaluación anual, reporte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beneficios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planificación 2027.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Entregables Finales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Resultados estratégicos del proyecto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43075"/>
            <a:ext cx="4476750" cy="46386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stack of organized documents and a professional digital tablet">    </p:cNvPr>
          <p:cNvPicPr>
            <a:picLocks noChangeAspect="1"/>
          </p:cNvPicPr>
          <p:nvPr/>
        </p:nvPicPr>
        <p:blipFill>
          <a:blip r:embed="rId1"/>
          <a:srcRect l="1745" r="1745" t="0" b="0"/>
          <a:stretch/>
        </p:blipFill>
        <p:spPr>
          <a:xfrm>
            <a:off x="476250" y="1743075"/>
            <a:ext cx="4476750" cy="46386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29250" y="1809006"/>
            <a:ext cx="3190875" cy="451812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22aaee"/>
              </a:buClr>
              <a:buSzPct val="120000"/>
              <a:buChar char="•"/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Oferta de valor y flujos de</a:t>
            </a:r>
            <a:b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servicio</a:t>
            </a:r>
            <a:endParaRPr lang="en-US" dirty="0"/>
          </a:p>
          <a:p>
            <a:pPr fontAlgn="ctr" algn="l" lvl="1" marL="254000" indent="0">
              <a:lnSpc>
                <a:spcPts val="1949"/>
              </a:lnSpc>
              <a:spcBef>
                <a:spcPts val="408"/>
              </a:spcBef>
              <a:buNone/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Rediseño estratégico enfocado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maximizar el impacto y la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eficiencia operativa.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1953"/>
              </a:spcBef>
              <a:buClr>
                <a:srgbClr val="22aaee"/>
              </a:buClr>
              <a:buSzPct val="120000"/>
              <a:buChar char="•"/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Modelos operativos y</a:t>
            </a:r>
            <a:b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niveles de servicio</a:t>
            </a:r>
            <a:endParaRPr lang="en-US" dirty="0"/>
          </a:p>
          <a:p>
            <a:pPr fontAlgn="ctr" algn="l" lvl="1" marL="254000" indent="0">
              <a:lnSpc>
                <a:spcPts val="1949"/>
              </a:lnSpc>
              <a:spcBef>
                <a:spcPts val="408"/>
              </a:spcBef>
              <a:buNone/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Definición de esquemas de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trabajo híbridos y acuerdos de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calidad establecidos.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1953"/>
              </a:spcBef>
              <a:buClr>
                <a:srgbClr val="22aaee"/>
              </a:buClr>
              <a:buSzPct val="120000"/>
              <a:buChar char="•"/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Dashboards ejecutivos y</a:t>
            </a:r>
            <a:b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automatización</a:t>
            </a:r>
            <a:endParaRPr lang="en-US" dirty="0"/>
          </a:p>
          <a:p>
            <a:pPr fontAlgn="ctr" algn="l" lvl="1" marL="254000" indent="0">
              <a:lnSpc>
                <a:spcPts val="1949"/>
              </a:lnSpc>
              <a:spcBef>
                <a:spcPts val="408"/>
              </a:spcBef>
              <a:buNone/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Implementación de visualización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tiempo real potenciada por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inteligencia artificial.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715375" y="1809006"/>
            <a:ext cx="3190875" cy="265673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 marL="241300" indent="-241300">
              <a:lnSpc>
                <a:spcPts val="2134"/>
              </a:lnSpc>
              <a:buClr>
                <a:srgbClr val="22aaee"/>
              </a:buClr>
              <a:buSzPct val="120000"/>
              <a:buChar char="•"/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Colaterales comerciales</a:t>
            </a:r>
            <a:endParaRPr lang="en-US" dirty="0"/>
          </a:p>
          <a:p>
            <a:pPr fontAlgn="ctr" algn="l" lvl="1" marL="254000" indent="0">
              <a:lnSpc>
                <a:spcPts val="1949"/>
              </a:lnSpc>
              <a:spcBef>
                <a:spcPts val="408"/>
              </a:spcBef>
              <a:buNone/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Actualización de activos de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comunicación alineados con la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nueva propuesta de valor.</a:t>
            </a:r>
            <a:endParaRPr lang="en-US" dirty="0"/>
          </a:p>
          <a:p>
            <a:pPr fontAlgn="ctr" algn="l" marL="241300" indent="-241300">
              <a:lnSpc>
                <a:spcPts val="2134"/>
              </a:lnSpc>
              <a:spcBef>
                <a:spcPts val="1953"/>
              </a:spcBef>
              <a:buClr>
                <a:srgbClr val="22aaee"/>
              </a:buClr>
              <a:buSzPct val="120000"/>
              <a:buChar char="•"/>
            </a:pP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Plan de transición y</a:t>
            </a:r>
            <a:b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52" spc="-111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acompañamiento</a:t>
            </a:r>
            <a:endParaRPr lang="en-US" dirty="0"/>
          </a:p>
          <a:p>
            <a:pPr fontAlgn="ctr" algn="l" lvl="1" marL="254000" indent="0">
              <a:lnSpc>
                <a:spcPts val="1949"/>
              </a:lnSpc>
              <a:spcBef>
                <a:spcPts val="408"/>
              </a:spcBef>
              <a:buNone/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Estrategia integral para garantizar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una migración fluida de los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clientes.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9ce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Beautiful.ai</cp:lastModifiedBy>
  <cp:revision>1</cp:revision>
  <dcterms:created xsi:type="dcterms:W3CDTF">2026-07-09T13:13:04Z</dcterms:created>
  <dcterms:modified xsi:type="dcterms:W3CDTF">2026-07-09T13:13:04Z</dcterms:modified>
</cp:coreProperties>
</file>