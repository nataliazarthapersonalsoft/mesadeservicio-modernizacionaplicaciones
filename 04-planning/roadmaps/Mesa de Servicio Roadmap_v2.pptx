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23"/>
  </p:notesMasterIdLst>
  <p:sldIdLst>
    <p:sldId id="257" r:id="rId2"/>
    <p:sldId id="260" r:id="rId3"/>
    <p:sldId id="293" r:id="rId4"/>
    <p:sldId id="2577" r:id="rId5"/>
    <p:sldId id="258" r:id="rId6"/>
    <p:sldId id="256" r:id="rId7"/>
    <p:sldId id="2583" r:id="rId8"/>
    <p:sldId id="323" r:id="rId9"/>
    <p:sldId id="324" r:id="rId10"/>
    <p:sldId id="335" r:id="rId11"/>
    <p:sldId id="276" r:id="rId12"/>
    <p:sldId id="259" r:id="rId13"/>
    <p:sldId id="299" r:id="rId14"/>
    <p:sldId id="290" r:id="rId15"/>
    <p:sldId id="2584" r:id="rId16"/>
    <p:sldId id="291" r:id="rId17"/>
    <p:sldId id="336" r:id="rId18"/>
    <p:sldId id="337" r:id="rId19"/>
    <p:sldId id="274" r:id="rId20"/>
    <p:sldId id="267" r:id="rId21"/>
    <p:sldId id="268" r:id="rId22"/>
  </p:sldIdLst>
  <p:sldSz cx="9144000" cy="5143500" type="screen16x9"/>
  <p:notesSz cx="6858000" cy="9144000"/>
  <p:embeddedFontLst>
    <p:embeddedFont>
      <p:font typeface="Reddit Sans" panose="020B0604020202020204" charset="0"/>
      <p:regular r:id="rId24"/>
      <p:bold r:id="rId25"/>
      <p:italic r:id="rId26"/>
      <p:boldItalic r:id="rId27"/>
    </p:embeddedFont>
    <p:embeddedFont>
      <p:font typeface="Reddit Sans SemiBold" panose="020B0604020202020204" charset="0"/>
      <p:regular r:id="rId28"/>
      <p:bold r:id="rId29"/>
      <p:italic r:id="rId30"/>
      <p:boldItalic r:id="rId31"/>
    </p:embeddedFont>
    <p:embeddedFont>
      <p:font typeface="Segoe UI" panose="020B0502040204020203" pitchFamily="3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7FA"/>
    <a:srgbClr val="EDF1F5"/>
    <a:srgbClr val="E7F1FC"/>
    <a:srgbClr val="F5F0F0"/>
    <a:srgbClr val="D5F3F5"/>
    <a:srgbClr val="E8FFFB"/>
    <a:srgbClr val="D5F7F6"/>
    <a:srgbClr val="215578"/>
    <a:srgbClr val="FF6A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90218A-4479-C29A-84CF-1399553CE037}" v="194" dt="2026-07-14T20:50:04.452"/>
    <p1510:client id="{3137FB3B-0FB0-FB46-D4C2-7F573DF29F0F}" v="1595" dt="2026-07-15T14:50:40.591"/>
    <p1510:client id="{32B8E174-767D-4DB2-AA69-CFB074D13A53}" v="132" dt="2026-07-15T13:41:45.104"/>
    <p1510:client id="{A4D7076A-696D-D229-ED63-E2C4D39422DC}" v="50" dt="2026-07-14T16:15:14.380"/>
    <p1510:client id="{DEB8B53B-B343-5024-9996-65E1F20645BE}" v="423" dt="2026-07-14T22:33:31.143"/>
    <p1510:client id="{E6583D1B-5579-E2B1-2DDD-5B21E6C8A18A}" v="389" dt="2026-07-15T13:40:32.176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46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ersonalsoftsas-my.sharepoint.com/personal/nzsuarez_personalsoft_com/Documents/Microsoft%20Copilot%20Chat%20Files/caracterizacion_mesas_servicio_actuales_v1.md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/>
              <a:t>Plataforma &amp; Talento</a:t>
            </a:r>
          </a:p>
          <a:p>
            <a:pPr>
              <a:buNone/>
            </a:pPr>
            <a:r>
              <a:rPr lang="en-US" b="1" dirty="0" err="1"/>
              <a:t>Herramientas</a:t>
            </a:r>
            <a:r>
              <a:rPr lang="en-US" b="1" dirty="0"/>
              <a:t> </a:t>
            </a:r>
            <a:r>
              <a:rPr lang="en-US" b="1" dirty="0" err="1"/>
              <a:t>heterogéneas</a:t>
            </a:r>
            <a:r>
              <a:rPr lang="en-US" b="1" dirty="0"/>
              <a:t> y con baja </a:t>
            </a:r>
            <a:r>
              <a:rPr lang="en-US" b="1" dirty="0" err="1"/>
              <a:t>integración</a:t>
            </a:r>
            <a:r>
              <a:rPr lang="en-US" b="1" dirty="0"/>
              <a:t>, </a:t>
            </a:r>
            <a:r>
              <a:rPr lang="en-US" b="1" dirty="0" err="1"/>
              <a:t>sumado</a:t>
            </a:r>
            <a:r>
              <a:rPr lang="en-US" b="1" dirty="0"/>
              <a:t> a </a:t>
            </a:r>
            <a:r>
              <a:rPr lang="en-US" b="1" dirty="0" err="1"/>
              <a:t>dependencia</a:t>
            </a:r>
            <a:r>
              <a:rPr lang="en-US" b="1" dirty="0"/>
              <a:t> de personal </a:t>
            </a:r>
            <a:r>
              <a:rPr lang="en-US" b="1" dirty="0" err="1"/>
              <a:t>especializado</a:t>
            </a:r>
            <a:r>
              <a:rPr lang="en-US" b="1" dirty="0"/>
              <a:t> y </a:t>
            </a:r>
            <a:r>
              <a:rPr lang="en-US" b="1" dirty="0" err="1"/>
              <a:t>ausencia</a:t>
            </a:r>
            <a:r>
              <a:rPr lang="en-US" b="1" dirty="0"/>
              <a:t> de </a:t>
            </a:r>
            <a:r>
              <a:rPr lang="en-US" b="1" dirty="0" err="1"/>
              <a:t>rutas</a:t>
            </a:r>
            <a:r>
              <a:rPr lang="en-US" b="1" dirty="0"/>
              <a:t> de </a:t>
            </a:r>
            <a:r>
              <a:rPr lang="en-US" b="1" dirty="0" err="1"/>
              <a:t>crecimiento</a:t>
            </a:r>
            <a:r>
              <a:rPr lang="en-US" b="1" dirty="0"/>
              <a:t> </a:t>
            </a:r>
            <a:r>
              <a:rPr lang="en-US" b="1" dirty="0" err="1"/>
              <a:t>estandarizadas</a:t>
            </a:r>
            <a:r>
              <a:rPr lang="en-US" b="1" dirty="0"/>
              <a:t>.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[</a:t>
            </a:r>
            <a:r>
              <a:rPr lang="en-US" dirty="0" err="1">
                <a:hlinkClick r:id="rId3"/>
              </a:rPr>
              <a:t>personalso</a:t>
            </a:r>
            <a:r>
              <a:rPr lang="en-US" dirty="0">
                <a:hlinkClick r:id="rId3"/>
              </a:rPr>
              <a:t>...epoint.com]</a:t>
            </a:r>
            <a:endParaRPr lang="es-ES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39536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E23A2-FAEC-0E46-FE8C-B06D6EC9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9EFBB9C-687B-F226-78EA-89C5DDDFE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A15902-5BB0-7308-0B42-E185A2E8A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ITO (Information Technology Outsourcing)</a:t>
            </a:r>
            <a:endParaRPr lang="es-ES"/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infraestructura</a:t>
            </a:r>
            <a:r>
              <a:rPr lang="en-US"/>
              <a:t> y </a:t>
            </a:r>
            <a:r>
              <a:rPr lang="en-US" err="1"/>
              <a:t>tecnología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BPO (Business Process Outsourcing)</a:t>
            </a:r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procesos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KPO (Knowledge Process Outsourcing)</a:t>
            </a:r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procesos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</a:t>
            </a:r>
            <a:r>
              <a:rPr lang="en-US" err="1"/>
              <a:t>basados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y expertise de </a:t>
            </a:r>
            <a:r>
              <a:rPr lang="en-US" err="1"/>
              <a:t>negocio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b="1"/>
              <a:t>KCS (Knowledge-Centered Service)</a:t>
            </a:r>
            <a:r>
              <a:rPr lang="en-US"/>
              <a:t>: </a:t>
            </a:r>
            <a:r>
              <a:rPr lang="en-US" err="1"/>
              <a:t>metodología</a:t>
            </a:r>
            <a:r>
              <a:rPr lang="en-US"/>
              <a:t> para </a:t>
            </a:r>
            <a:r>
              <a:rPr lang="en-US" err="1"/>
              <a:t>gestionar</a:t>
            </a:r>
            <a:r>
              <a:rPr lang="en-US"/>
              <a:t> y </a:t>
            </a:r>
            <a:r>
              <a:rPr lang="en-US" err="1"/>
              <a:t>compartir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dentro</a:t>
            </a:r>
            <a:r>
              <a:rPr lang="en-US"/>
              <a:t> de </a:t>
            </a:r>
            <a:r>
              <a:rPr lang="en-US" err="1"/>
              <a:t>equipos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técnico</a:t>
            </a:r>
            <a:r>
              <a:rPr lang="en-US"/>
              <a:t>, </a:t>
            </a:r>
            <a:r>
              <a:rPr lang="en-US" err="1"/>
              <a:t>creando</a:t>
            </a:r>
            <a:r>
              <a:rPr lang="en-US"/>
              <a:t> y </a:t>
            </a:r>
            <a:r>
              <a:rPr lang="en-US" err="1"/>
              <a:t>reutilizando</a:t>
            </a:r>
            <a:r>
              <a:rPr lang="en-US"/>
              <a:t> </a:t>
            </a:r>
            <a:r>
              <a:rPr lang="en-US" err="1"/>
              <a:t>artículos</a:t>
            </a:r>
            <a:r>
              <a:rPr lang="en-US"/>
              <a:t> de </a:t>
            </a:r>
            <a:r>
              <a:rPr lang="en-US" err="1"/>
              <a:t>conocimiento</a:t>
            </a:r>
            <a:r>
              <a:rPr lang="en-US"/>
              <a:t> para resolver </a:t>
            </a:r>
            <a:r>
              <a:rPr lang="en-US" err="1"/>
              <a:t>incidentes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rápido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/>
              <a:t>CMDB: Configuration Management Database (Base de Datos de </a:t>
            </a:r>
            <a:r>
              <a:rPr lang="en-US" err="1"/>
              <a:t>Gestión</a:t>
            </a:r>
            <a:r>
              <a:rPr lang="en-US"/>
              <a:t> de la </a:t>
            </a:r>
            <a:r>
              <a:rPr lang="en-US" err="1"/>
              <a:t>Configuración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XLA: Experience Level Agreement (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AIOps: Artificial Intelligence for IT Operations (IA para </a:t>
            </a:r>
            <a:r>
              <a:rPr lang="en-US" err="1"/>
              <a:t>Operaciones</a:t>
            </a:r>
            <a:r>
              <a:rPr lang="en-US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La </a:t>
            </a:r>
            <a:r>
              <a:rPr lang="en-US" err="1"/>
              <a:t>línea</a:t>
            </a:r>
            <a:r>
              <a:rPr lang="en-US"/>
              <a:t> temporal de la imagen </a:t>
            </a:r>
            <a:r>
              <a:rPr lang="en-US" err="1"/>
              <a:t>muestra</a:t>
            </a:r>
            <a:r>
              <a:rPr lang="en-US"/>
              <a:t> la </a:t>
            </a:r>
            <a:r>
              <a:rPr lang="en-US" err="1"/>
              <a:t>evolución</a:t>
            </a:r>
            <a:r>
              <a:rPr lang="en-US"/>
              <a:t> </a:t>
            </a:r>
            <a:r>
              <a:rPr lang="en-US" err="1"/>
              <a:t>aproximada</a:t>
            </a:r>
            <a:r>
              <a:rPr lang="en-US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174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/>
              <a:t>Shift-Left: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busca</a:t>
            </a:r>
            <a:r>
              <a:rPr lang="en-US"/>
              <a:t> resolver </a:t>
            </a:r>
            <a:r>
              <a:rPr lang="en-US" err="1"/>
              <a:t>incidentes</a:t>
            </a:r>
            <a:r>
              <a:rPr lang="en-US"/>
              <a:t> y solicitudes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cercanos</a:t>
            </a:r>
            <a:r>
              <a:rPr lang="en-US"/>
              <a:t> al </a:t>
            </a:r>
            <a:r>
              <a:rPr lang="en-US" err="1"/>
              <a:t>usuario</a:t>
            </a:r>
            <a:r>
              <a:rPr lang="en-US"/>
              <a:t>, </a:t>
            </a:r>
            <a:r>
              <a:rPr lang="en-US" err="1"/>
              <a:t>reduciendo</a:t>
            </a:r>
            <a:r>
              <a:rPr lang="en-US"/>
              <a:t> </a:t>
            </a:r>
            <a:r>
              <a:rPr lang="en-US" err="1"/>
              <a:t>escalaciones</a:t>
            </a:r>
            <a:r>
              <a:rPr lang="en-US"/>
              <a:t> y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atención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 (Knowledge-Centered Service):</a:t>
            </a:r>
            <a:r>
              <a:rPr lang="en-US"/>
              <a:t> </a:t>
            </a:r>
            <a:r>
              <a:rPr lang="en-US" err="1"/>
              <a:t>Metodología</a:t>
            </a:r>
            <a:r>
              <a:rPr lang="en-US"/>
              <a:t> para </a:t>
            </a:r>
            <a:r>
              <a:rPr lang="en-US" err="1"/>
              <a:t>crear</a:t>
            </a:r>
            <a:r>
              <a:rPr lang="en-US"/>
              <a:t>, </a:t>
            </a:r>
            <a:r>
              <a:rPr lang="en-US" err="1"/>
              <a:t>compartir</a:t>
            </a:r>
            <a:r>
              <a:rPr lang="en-US"/>
              <a:t> y </a:t>
            </a:r>
            <a:r>
              <a:rPr lang="en-US" err="1"/>
              <a:t>reutilizar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incidentes</a:t>
            </a:r>
            <a:r>
              <a:rPr lang="en-US"/>
              <a:t> y solicitudes.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SLA (Service Level Agreement):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define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tiempos</a:t>
            </a:r>
            <a:r>
              <a:rPr lang="en-US"/>
              <a:t> y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servicio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el </a:t>
            </a:r>
            <a:r>
              <a:rPr lang="en-US" err="1"/>
              <a:t>equipo</a:t>
            </a:r>
            <a:r>
              <a:rPr lang="en-US"/>
              <a:t> de TI </a:t>
            </a:r>
            <a:r>
              <a:rPr lang="en-US" err="1"/>
              <a:t>debe</a:t>
            </a:r>
            <a:r>
              <a:rPr lang="en-US"/>
              <a:t> </a:t>
            </a:r>
            <a:r>
              <a:rPr lang="en-US" err="1"/>
              <a:t>cumplir</a:t>
            </a:r>
            <a:r>
              <a:rPr lang="en-US"/>
              <a:t> con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usuarios</a:t>
            </a:r>
            <a:r>
              <a:rPr lang="en-US"/>
              <a:t> o </a:t>
            </a:r>
            <a:r>
              <a:rPr lang="en-US" err="1"/>
              <a:t>clientes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218359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KEDB (Known Error Database):</a:t>
            </a:r>
            <a:r>
              <a:rPr lang="en-US"/>
              <a:t> Base de </a:t>
            </a:r>
            <a:r>
              <a:rPr lang="en-US" err="1"/>
              <a:t>datos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almacena</a:t>
            </a:r>
            <a:r>
              <a:rPr lang="en-US"/>
              <a:t> </a:t>
            </a:r>
            <a:r>
              <a:rPr lang="en-US" err="1"/>
              <a:t>errores</a:t>
            </a:r>
            <a:r>
              <a:rPr lang="en-US"/>
              <a:t> </a:t>
            </a:r>
            <a:r>
              <a:rPr lang="en-US" err="1"/>
              <a:t>conocidos</a:t>
            </a:r>
            <a:r>
              <a:rPr lang="en-US"/>
              <a:t>, sus </a:t>
            </a:r>
            <a:r>
              <a:rPr lang="en-US" err="1"/>
              <a:t>causas</a:t>
            </a:r>
            <a:r>
              <a:rPr lang="en-US"/>
              <a:t> </a:t>
            </a:r>
            <a:r>
              <a:rPr lang="en-US" err="1"/>
              <a:t>identificadas</a:t>
            </a:r>
            <a:r>
              <a:rPr lang="en-US"/>
              <a:t> y </a:t>
            </a:r>
            <a:r>
              <a:rPr lang="en-US" err="1"/>
              <a:t>soluciones</a:t>
            </a:r>
            <a:r>
              <a:rPr lang="en-US"/>
              <a:t> </a:t>
            </a:r>
            <a:r>
              <a:rPr lang="en-US" err="1"/>
              <a:t>temporales</a:t>
            </a:r>
            <a:r>
              <a:rPr lang="en-US"/>
              <a:t> o </a:t>
            </a:r>
            <a:r>
              <a:rPr lang="en-US" err="1"/>
              <a:t>definitivas</a:t>
            </a:r>
            <a:r>
              <a:rPr lang="en-US"/>
              <a:t> para </a:t>
            </a:r>
            <a:r>
              <a:rPr lang="en-US" err="1"/>
              <a:t>acelerar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incidentes</a:t>
            </a:r>
            <a:r>
              <a:rPr lang="en-US"/>
              <a:t>.</a:t>
            </a:r>
            <a:endParaRPr lang="en-US" b="1"/>
          </a:p>
          <a:p>
            <a:r>
              <a:rPr lang="en-US" b="1"/>
              <a:t>AIOps (Artificial Intelligence for IT Operations):</a:t>
            </a:r>
            <a:r>
              <a:rPr lang="en-US"/>
              <a:t> Uso de </a:t>
            </a:r>
            <a:r>
              <a:rPr lang="en-US" err="1"/>
              <a:t>inteligencia</a:t>
            </a:r>
            <a:r>
              <a:rPr lang="en-US"/>
              <a:t> artificial y machine learning para </a:t>
            </a:r>
            <a:r>
              <a:rPr lang="en-US" err="1"/>
              <a:t>monitorear</a:t>
            </a:r>
            <a:r>
              <a:rPr lang="en-US"/>
              <a:t>, </a:t>
            </a:r>
            <a:r>
              <a:rPr lang="en-US" err="1"/>
              <a:t>detectar</a:t>
            </a:r>
            <a:r>
              <a:rPr lang="en-US"/>
              <a:t>, </a:t>
            </a:r>
            <a:r>
              <a:rPr lang="en-US" err="1"/>
              <a:t>analizar</a:t>
            </a:r>
            <a:r>
              <a:rPr lang="en-US"/>
              <a:t> y resolver </a:t>
            </a:r>
            <a:r>
              <a:rPr lang="en-US" err="1"/>
              <a:t>problemas</a:t>
            </a:r>
            <a:r>
              <a:rPr lang="en-US"/>
              <a:t> de TI de forma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rápida</a:t>
            </a:r>
            <a:r>
              <a:rPr lang="en-US"/>
              <a:t> y </a:t>
            </a:r>
            <a:r>
              <a:rPr lang="en-US" err="1"/>
              <a:t>automatizada</a:t>
            </a:r>
            <a:r>
              <a:rPr lang="en-US"/>
              <a:t>.</a:t>
            </a:r>
          </a:p>
          <a:p>
            <a:pPr marL="285750" indent="-285750">
              <a:buChar char="•"/>
            </a:pPr>
            <a:r>
              <a:rPr lang="en-US" b="1"/>
              <a:t>PIR (Post Implementation Review):</a:t>
            </a:r>
            <a:r>
              <a:rPr lang="en-US"/>
              <a:t> </a:t>
            </a:r>
            <a:r>
              <a:rPr lang="en-US" err="1"/>
              <a:t>Revisión</a:t>
            </a:r>
            <a:r>
              <a:rPr lang="en-US"/>
              <a:t> posterior a la </a:t>
            </a:r>
            <a:r>
              <a:rPr lang="en-US" err="1"/>
              <a:t>implementación</a:t>
            </a:r>
            <a:r>
              <a:rPr lang="en-US"/>
              <a:t> para </a:t>
            </a:r>
            <a:r>
              <a:rPr lang="en-US" err="1"/>
              <a:t>evaluar</a:t>
            </a:r>
            <a:r>
              <a:rPr lang="en-US"/>
              <a:t> </a:t>
            </a:r>
            <a:r>
              <a:rPr lang="en-US" err="1"/>
              <a:t>resultados</a:t>
            </a:r>
            <a:r>
              <a:rPr lang="en-US"/>
              <a:t>, </a:t>
            </a:r>
            <a:r>
              <a:rPr lang="en-US" err="1"/>
              <a:t>identificar</a:t>
            </a:r>
            <a:r>
              <a:rPr lang="en-US"/>
              <a:t> </a:t>
            </a:r>
            <a:r>
              <a:rPr lang="en-US" err="1"/>
              <a:t>lecciones</a:t>
            </a:r>
            <a:r>
              <a:rPr lang="en-US"/>
              <a:t> </a:t>
            </a:r>
            <a:r>
              <a:rPr lang="en-US" err="1"/>
              <a:t>aprendidas</a:t>
            </a:r>
            <a:r>
              <a:rPr lang="en-US"/>
              <a:t> y </a:t>
            </a:r>
            <a:r>
              <a:rPr lang="en-US" err="1"/>
              <a:t>oportunidades</a:t>
            </a:r>
            <a:r>
              <a:rPr lang="en-US"/>
              <a:t> de </a:t>
            </a:r>
            <a:r>
              <a:rPr lang="en-US" err="1"/>
              <a:t>mejora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 (Knowledge-Centered Service):</a:t>
            </a:r>
            <a:r>
              <a:rPr lang="en-US"/>
              <a:t> </a:t>
            </a:r>
            <a:r>
              <a:rPr lang="en-US" err="1"/>
              <a:t>Metodología</a:t>
            </a:r>
            <a:r>
              <a:rPr lang="en-US"/>
              <a:t> de </a:t>
            </a:r>
            <a:r>
              <a:rPr lang="en-US" err="1"/>
              <a:t>gestión</a:t>
            </a:r>
            <a:r>
              <a:rPr lang="en-US"/>
              <a:t> del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documenta y </a:t>
            </a:r>
            <a:r>
              <a:rPr lang="en-US" err="1"/>
              <a:t>reutiliza</a:t>
            </a:r>
            <a:r>
              <a:rPr lang="en-US"/>
              <a:t> </a:t>
            </a:r>
            <a:r>
              <a:rPr lang="en-US" err="1"/>
              <a:t>soluciones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la </a:t>
            </a:r>
            <a:r>
              <a:rPr lang="en-US" err="1"/>
              <a:t>atención</a:t>
            </a:r>
            <a:r>
              <a:rPr lang="en-US"/>
              <a:t> de </a:t>
            </a:r>
            <a:r>
              <a:rPr lang="en-US" err="1"/>
              <a:t>incidencias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IA (</a:t>
            </a:r>
            <a:r>
              <a:rPr lang="en-US" b="1" err="1"/>
              <a:t>Inteligencia</a:t>
            </a:r>
            <a:r>
              <a:rPr lang="en-US" b="1"/>
              <a:t> Artificial):</a:t>
            </a:r>
            <a:r>
              <a:rPr lang="en-US"/>
              <a:t> </a:t>
            </a:r>
            <a:r>
              <a:rPr lang="en-US" err="1"/>
              <a:t>Tecnología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permite</a:t>
            </a:r>
            <a:r>
              <a:rPr lang="en-US"/>
              <a:t>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sistemas</a:t>
            </a:r>
            <a:r>
              <a:rPr lang="en-US"/>
              <a:t> </a:t>
            </a:r>
            <a:r>
              <a:rPr lang="en-US" err="1"/>
              <a:t>analizar</a:t>
            </a:r>
            <a:r>
              <a:rPr lang="en-US"/>
              <a:t> </a:t>
            </a:r>
            <a:r>
              <a:rPr lang="en-US" err="1"/>
              <a:t>información</a:t>
            </a:r>
            <a:r>
              <a:rPr lang="en-US"/>
              <a:t>, </a:t>
            </a:r>
            <a:r>
              <a:rPr lang="en-US" err="1"/>
              <a:t>aprender</a:t>
            </a:r>
            <a:r>
              <a:rPr lang="en-US"/>
              <a:t> </a:t>
            </a:r>
            <a:r>
              <a:rPr lang="en-US" err="1"/>
              <a:t>patrones</a:t>
            </a:r>
            <a:r>
              <a:rPr lang="en-US"/>
              <a:t>, </a:t>
            </a:r>
            <a:r>
              <a:rPr lang="en-US" err="1"/>
              <a:t>generar</a:t>
            </a:r>
            <a:r>
              <a:rPr lang="en-US"/>
              <a:t> </a:t>
            </a:r>
            <a:r>
              <a:rPr lang="en-US" err="1"/>
              <a:t>contenido</a:t>
            </a:r>
            <a:r>
              <a:rPr lang="en-US"/>
              <a:t> y </a:t>
            </a:r>
            <a:r>
              <a:rPr lang="en-US" err="1"/>
              <a:t>automatizar</a:t>
            </a:r>
            <a:r>
              <a:rPr lang="en-US"/>
              <a:t> </a:t>
            </a:r>
            <a:r>
              <a:rPr lang="en-US" err="1"/>
              <a:t>tareas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86478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s-ES"/>
              <a:t>Procesos comunes de ITSM (</a:t>
            </a:r>
            <a:r>
              <a:rPr lang="es-ES" b="1"/>
              <a:t>Gestión de Servicios de TI</a:t>
            </a:r>
            <a:r>
              <a:rPr lang="es-ES"/>
              <a:t> (</a:t>
            </a:r>
            <a:r>
              <a:rPr lang="es-ES" i="1" err="1"/>
              <a:t>Information</a:t>
            </a:r>
            <a:r>
              <a:rPr lang="es-ES" i="1"/>
              <a:t> </a:t>
            </a:r>
            <a:r>
              <a:rPr lang="es-ES" i="1" err="1"/>
              <a:t>Technology</a:t>
            </a:r>
            <a:r>
              <a:rPr lang="es-ES" i="1"/>
              <a:t> Service Management</a:t>
            </a:r>
            <a:r>
              <a:rPr lang="es-ES"/>
              <a:t>).</a:t>
            </a:r>
          </a:p>
          <a:p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Incidentes</a:t>
            </a:r>
            <a:r>
              <a:rPr lang="en-US"/>
              <a:t> (Incident Management)</a:t>
            </a:r>
          </a:p>
          <a:p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Problemas</a:t>
            </a:r>
            <a:r>
              <a:rPr lang="en-US"/>
              <a:t> (Problem Management)</a:t>
            </a:r>
          </a:p>
          <a:p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Cambios</a:t>
            </a:r>
            <a:r>
              <a:rPr lang="en-US"/>
              <a:t> (Change Management)</a:t>
            </a:r>
          </a:p>
          <a:p>
            <a:r>
              <a:rPr lang="en-US" err="1"/>
              <a:t>Gestión</a:t>
            </a:r>
            <a:r>
              <a:rPr lang="en-US"/>
              <a:t> de Solicitudes de Servicio (Service Request Management)</a:t>
            </a:r>
          </a:p>
          <a:p>
            <a:r>
              <a:rPr lang="en-US" err="1"/>
              <a:t>Gestión</a:t>
            </a:r>
            <a:r>
              <a:rPr lang="en-US"/>
              <a:t> de Activos de TI (IT Asset Management)</a:t>
            </a:r>
          </a:p>
          <a:p>
            <a:r>
              <a:rPr lang="en-US" err="1"/>
              <a:t>Gestión</a:t>
            </a:r>
            <a:r>
              <a:rPr lang="en-US"/>
              <a:t> del </a:t>
            </a:r>
            <a:r>
              <a:rPr lang="en-US" err="1"/>
              <a:t>Conocimiento</a:t>
            </a:r>
            <a:r>
              <a:rPr lang="en-US"/>
              <a:t> (Knowledge Management)</a:t>
            </a:r>
            <a:endParaRPr lang="es-ES"/>
          </a:p>
          <a:p>
            <a:endParaRPr lang="en-US"/>
          </a:p>
          <a:p>
            <a:endParaRPr lang="en-US"/>
          </a:p>
          <a:p>
            <a:pPr marL="158750" indent="0">
              <a:buNone/>
            </a:pPr>
            <a:r>
              <a:rPr lang="en-US"/>
              <a:t>CMDB (Configuration Management Database)</a:t>
            </a:r>
          </a:p>
          <a:p>
            <a:endParaRPr lang="en-US"/>
          </a:p>
          <a:p>
            <a:endParaRPr lang="en-US"/>
          </a:p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>
          <a:extLst>
            <a:ext uri="{FF2B5EF4-FFF2-40B4-BE49-F238E27FC236}">
              <a16:creationId xmlns:a16="http://schemas.microsoft.com/office/drawing/2014/main" id="{BCD01516-5342-9072-64B0-023487624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>
            <a:extLst>
              <a:ext uri="{FF2B5EF4-FFF2-40B4-BE49-F238E27FC236}">
                <a16:creationId xmlns:a16="http://schemas.microsoft.com/office/drawing/2014/main" id="{14A04A17-1A56-8A9E-8746-455E76076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>
            <a:extLst>
              <a:ext uri="{FF2B5EF4-FFF2-40B4-BE49-F238E27FC236}">
                <a16:creationId xmlns:a16="http://schemas.microsoft.com/office/drawing/2014/main" id="{7DBAD8DA-D4CF-86DB-4383-94F0F78966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/>
              <a:t>Riesgos: Planes de Cuentas y Transición</a:t>
            </a:r>
          </a:p>
          <a:p>
            <a:pPr marL="0" indent="0">
              <a:buNone/>
            </a:pPr>
            <a:endParaRPr lang="es-ES"/>
          </a:p>
          <a:p>
            <a:pPr marL="0" indent="0">
              <a:buNone/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4820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>
          <a:extLst>
            <a:ext uri="{FF2B5EF4-FFF2-40B4-BE49-F238E27FC236}">
              <a16:creationId xmlns:a16="http://schemas.microsoft.com/office/drawing/2014/main" id="{634535DC-828A-23E7-2B2D-01DAEAC9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>
            <a:extLst>
              <a:ext uri="{FF2B5EF4-FFF2-40B4-BE49-F238E27FC236}">
                <a16:creationId xmlns:a16="http://schemas.microsoft.com/office/drawing/2014/main" id="{A2F79C93-E403-8459-FDD8-1EC63790BB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>
            <a:extLst>
              <a:ext uri="{FF2B5EF4-FFF2-40B4-BE49-F238E27FC236}">
                <a16:creationId xmlns:a16="http://schemas.microsoft.com/office/drawing/2014/main" id="{061D3D3A-8612-CFD5-4060-C464C3FC3C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/>
              <a:t>Riesgos: Planes de Cuentas y Transición</a:t>
            </a:r>
          </a:p>
          <a:p>
            <a:pPr marL="0" indent="0">
              <a:buNone/>
            </a:pPr>
            <a:endParaRPr lang="es-ES"/>
          </a:p>
          <a:p>
            <a:pPr marL="0" indent="0">
              <a:buNone/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847668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b="1">
                <a:solidFill>
                  <a:schemeClr val="tx1"/>
                </a:solidFill>
              </a:rPr>
              <a:t>Modelo de Soporte </a:t>
            </a:r>
            <a:r>
              <a:rPr lang="es-ES">
                <a:solidFill>
                  <a:schemeClr val="tx1"/>
                </a:solidFill>
              </a:rPr>
              <a:t> </a:t>
            </a:r>
            <a:endParaRPr lang="es-ES"/>
          </a:p>
          <a:p>
            <a:pPr marL="0" indent="0">
              <a:buNone/>
            </a:pPr>
            <a:r>
              <a:rPr lang="en-US" b="1">
                <a:solidFill>
                  <a:schemeClr val="tx1"/>
                </a:solidFill>
              </a:rPr>
              <a:t>Shift-left:</a:t>
            </a:r>
            <a:r>
              <a:rPr lang="en-US">
                <a:solidFill>
                  <a:schemeClr val="tx1"/>
                </a:solidFill>
              </a:rPr>
              <a:t> resolver antes, </a:t>
            </a:r>
            <a:r>
              <a:rPr lang="en-US" err="1">
                <a:solidFill>
                  <a:schemeClr val="tx1"/>
                </a:solidFill>
              </a:rPr>
              <a:t>escalar</a:t>
            </a:r>
            <a:r>
              <a:rPr lang="en-US">
                <a:solidFill>
                  <a:schemeClr val="tx1"/>
                </a:solidFill>
              </a:rPr>
              <a:t> 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 y </a:t>
            </a:r>
            <a:r>
              <a:rPr lang="en-US" err="1">
                <a:solidFill>
                  <a:schemeClr val="tx1"/>
                </a:solidFill>
              </a:rPr>
              <a:t>dejar</a:t>
            </a:r>
            <a:r>
              <a:rPr lang="en-US">
                <a:solidFill>
                  <a:schemeClr val="tx1"/>
                </a:solidFill>
              </a:rPr>
              <a:t> </a:t>
            </a:r>
            <a:r>
              <a:rPr lang="en-US" err="1">
                <a:solidFill>
                  <a:schemeClr val="tx1"/>
                </a:solidFill>
              </a:rPr>
              <a:t>evidencia</a:t>
            </a:r>
            <a:endParaRPr lang="en-US" err="1"/>
          </a:p>
          <a:p>
            <a:pPr marL="0" indent="0">
              <a:buNone/>
            </a:pPr>
            <a:endParaRPr lang="es-ES"/>
          </a:p>
          <a:p>
            <a:pPr marL="171450" indent="-171450"/>
            <a:r>
              <a:rPr lang="en-US" b="1"/>
              <a:t>FCR:</a:t>
            </a:r>
            <a:r>
              <a:rPr lang="en-US"/>
              <a:t> </a:t>
            </a:r>
            <a:r>
              <a:rPr lang="en-US" err="1"/>
              <a:t>Resolución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Primer Contacto (</a:t>
            </a:r>
            <a:r>
              <a:rPr lang="en-US" i="1"/>
              <a:t>First Contact Resolution</a:t>
            </a:r>
            <a:r>
              <a:rPr lang="en-US"/>
              <a:t>).</a:t>
            </a:r>
            <a:endParaRPr lang="es-ES"/>
          </a:p>
          <a:p>
            <a:pPr marL="171450" indent="-171450"/>
            <a:r>
              <a:rPr lang="en-US" b="1"/>
              <a:t>MTTR:</a:t>
            </a:r>
            <a:r>
              <a:rPr lang="en-US"/>
              <a:t> Tiempo Medio de </a:t>
            </a:r>
            <a:r>
              <a:rPr lang="en-US" err="1"/>
              <a:t>Resolución</a:t>
            </a:r>
            <a:r>
              <a:rPr lang="en-US"/>
              <a:t> (</a:t>
            </a:r>
            <a:r>
              <a:rPr lang="en-US" i="1"/>
              <a:t>Mean Time to Resolution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SLA: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Servicio (</a:t>
            </a:r>
            <a:r>
              <a:rPr lang="en-US" i="1"/>
              <a:t>Service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CMDB:</a:t>
            </a:r>
            <a:r>
              <a:rPr lang="en-US"/>
              <a:t> Base de Datos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Configuración</a:t>
            </a:r>
            <a:r>
              <a:rPr lang="en-US"/>
              <a:t> (</a:t>
            </a:r>
            <a:r>
              <a:rPr lang="en-US" i="1"/>
              <a:t>Configuration Management Database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KPI:</a:t>
            </a:r>
            <a:r>
              <a:rPr lang="en-US"/>
              <a:t> </a:t>
            </a:r>
            <a:r>
              <a:rPr lang="en-US" err="1"/>
              <a:t>Indicador</a:t>
            </a:r>
            <a:r>
              <a:rPr lang="en-US"/>
              <a:t> Clave de </a:t>
            </a:r>
            <a:r>
              <a:rPr lang="en-US" err="1"/>
              <a:t>Desempeño</a:t>
            </a:r>
            <a:r>
              <a:rPr lang="en-US"/>
              <a:t> (</a:t>
            </a:r>
            <a:r>
              <a:rPr lang="en-US" i="1"/>
              <a:t>Key Performance Indicator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KCS:</a:t>
            </a:r>
            <a:r>
              <a:rPr lang="en-US"/>
              <a:t> Servicio </a:t>
            </a:r>
            <a:r>
              <a:rPr lang="en-US" err="1"/>
              <a:t>Centrado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Conocimiento</a:t>
            </a:r>
            <a:r>
              <a:rPr lang="en-US"/>
              <a:t> (</a:t>
            </a:r>
            <a:r>
              <a:rPr lang="en-US" i="1"/>
              <a:t>Knowledge-Centered Service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CSAT:</a:t>
            </a:r>
            <a:r>
              <a:rPr lang="en-US"/>
              <a:t>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Cliente</a:t>
            </a:r>
            <a:r>
              <a:rPr lang="en-US"/>
              <a:t> (</a:t>
            </a:r>
            <a:r>
              <a:rPr lang="en-US" i="1"/>
              <a:t>Customer Satisfaction Score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IA: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Artificial.</a:t>
            </a:r>
          </a:p>
          <a:p>
            <a:pPr marL="171450" indent="-171450"/>
            <a:r>
              <a:rPr lang="en-US" b="1"/>
              <a:t>AIOps: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para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 marL="171450" indent="-171450"/>
            <a:r>
              <a:rPr lang="en-US" b="1"/>
              <a:t>XLA: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 (</a:t>
            </a:r>
            <a:r>
              <a:rPr lang="en-US" i="1"/>
              <a:t>Experience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DEX:</a:t>
            </a:r>
            <a:r>
              <a:rPr lang="en-US"/>
              <a:t> </a:t>
            </a:r>
            <a:r>
              <a:rPr lang="en-US" err="1"/>
              <a:t>Experiencia</a:t>
            </a:r>
            <a:r>
              <a:rPr lang="en-US"/>
              <a:t> Digital del </a:t>
            </a:r>
            <a:r>
              <a:rPr lang="en-US" err="1"/>
              <a:t>Empleado</a:t>
            </a:r>
            <a:r>
              <a:rPr lang="en-US"/>
              <a:t> (</a:t>
            </a:r>
            <a:r>
              <a:rPr lang="en-US" i="1"/>
              <a:t>Digital Employee Experience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N0:</a:t>
            </a:r>
            <a:r>
              <a:rPr lang="en-US"/>
              <a:t> Nivel de </a:t>
            </a:r>
            <a:r>
              <a:rPr lang="en-US" err="1"/>
              <a:t>autoservicio</a:t>
            </a:r>
            <a:r>
              <a:rPr lang="en-US"/>
              <a:t> </a:t>
            </a:r>
            <a:r>
              <a:rPr lang="en-US" err="1"/>
              <a:t>mediante</a:t>
            </a:r>
            <a:r>
              <a:rPr lang="en-US"/>
              <a:t> portal, chatbot o base de </a:t>
            </a:r>
            <a:r>
              <a:rPr lang="en-US" err="1"/>
              <a:t>conocimiento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Deflection:</a:t>
            </a:r>
            <a:r>
              <a:rPr lang="en-US"/>
              <a:t> Casos </a:t>
            </a:r>
            <a:r>
              <a:rPr lang="en-US" err="1"/>
              <a:t>resueltos</a:t>
            </a:r>
            <a:r>
              <a:rPr lang="en-US"/>
              <a:t> sin </a:t>
            </a:r>
            <a:r>
              <a:rPr lang="en-US" err="1"/>
              <a:t>generar</a:t>
            </a:r>
            <a:r>
              <a:rPr lang="en-US"/>
              <a:t> ticket o sin </a:t>
            </a:r>
            <a:r>
              <a:rPr lang="en-US" err="1"/>
              <a:t>intervención</a:t>
            </a:r>
            <a:r>
              <a:rPr lang="en-US"/>
              <a:t> humana.</a:t>
            </a:r>
          </a:p>
          <a:p>
            <a:pPr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5004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(NUEVAS OFERTAS: cuales servicios volver obsoletos, servicios </a:t>
            </a:r>
            <a:r>
              <a:rPr lang="es-ES" b="1" err="1">
                <a:solidFill>
                  <a:srgbClr val="0C2362"/>
                </a:solidFill>
                <a:highlight>
                  <a:srgbClr val="FFFF00"/>
                </a:highlight>
              </a:rPr>
              <a:t>lights</a:t>
            </a: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, servicios de operación)</a:t>
            </a:r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3547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2" r:id="rId10"/>
    <p:sldLayoutId id="2147483664" r:id="rId11"/>
    <p:sldLayoutId id="2147483665" r:id="rId12"/>
    <p:sldLayoutId id="214748367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hyperlink" Target="https://fr.slideshare.net/slideshow/dit-yvol4iss03/29363674" TargetMode="External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hyperlink" Target="https://www.tcs.com/insights/blogs/generative-ai-outcome-based-pricing-models-service-desk" TargetMode="External"/><Relationship Id="rId3" Type="http://schemas.openxmlformats.org/officeDocument/2006/relationships/image" Target="../media/image21.png"/><Relationship Id="rId7" Type="http://schemas.openxmlformats.org/officeDocument/2006/relationships/image" Target="../media/image10.png"/><Relationship Id="rId12" Type="http://schemas.openxmlformats.org/officeDocument/2006/relationships/hyperlink" Target="https://www.peoplecert.org/news-and-announcements/itil-version-5-explaine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hyperlink" Target="https://www.brilo.ai/resources/agentic-ai-statistics" TargetMode="External"/><Relationship Id="rId5" Type="http://schemas.openxmlformats.org/officeDocument/2006/relationships/image" Target="../media/image23.png"/><Relationship Id="rId10" Type="http://schemas.openxmlformats.org/officeDocument/2006/relationships/hyperlink" Target="https://www.dynatrace.com/news/press-release/pulse-of-agentic-ai-2026/" TargetMode="External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7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29.png"/><Relationship Id="rId10" Type="http://schemas.openxmlformats.org/officeDocument/2006/relationships/image" Target="../media/image33.svg"/><Relationship Id="rId4" Type="http://schemas.openxmlformats.org/officeDocument/2006/relationships/image" Target="../media/image28.png"/><Relationship Id="rId9" Type="http://schemas.openxmlformats.org/officeDocument/2006/relationships/image" Target="../media/image32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 (Next Gen)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365600" y="3511861"/>
            <a:ext cx="8473458" cy="4279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CO" sz="1600" dirty="0">
                <a:solidFill>
                  <a:schemeClr val="bg1"/>
                </a:solidFill>
              </a:rPr>
              <a:t>Operación actual de las mesas de servicio, porque evolucionarlas y </a:t>
            </a:r>
            <a:r>
              <a:rPr lang="es-CO" sz="1600" dirty="0" err="1">
                <a:solidFill>
                  <a:schemeClr val="bg1"/>
                </a:solidFill>
              </a:rPr>
              <a:t>Roadmap</a:t>
            </a:r>
            <a:r>
              <a:rPr lang="es-CO" sz="1600" dirty="0">
                <a:solidFill>
                  <a:schemeClr val="bg1"/>
                </a:solidFill>
              </a:rPr>
              <a:t> Q3 - Q4 2026</a:t>
            </a:r>
            <a:endParaRPr lang="es-E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324797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Que busca la Mesa de Servicio de Nueva Generación</a:t>
            </a:r>
            <a:endParaRPr lang="es" b="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BCF2-EE01-6D83-5D06-4586A338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Beneficios eperados de la Mesa de Servicio de Nueva Generación (Servicio Optimo)</a:t>
            </a:r>
            <a:endParaRPr lang="es-ES" b="0">
              <a:solidFill>
                <a:srgbClr val="000000"/>
              </a:solidFill>
            </a:endParaRPr>
          </a:p>
          <a:p>
            <a:endParaRPr lang="es-E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BF19AD-F8F2-0227-5C5D-35F560455039}"/>
              </a:ext>
            </a:extLst>
          </p:cNvPr>
          <p:cNvSpPr/>
          <p:nvPr/>
        </p:nvSpPr>
        <p:spPr>
          <a:xfrm>
            <a:off x="362631" y="2075430"/>
            <a:ext cx="2000250" cy="2003822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C8E3B2-4CB0-C217-88A2-862FED04A2A7}"/>
              </a:ext>
            </a:extLst>
          </p:cNvPr>
          <p:cNvSpPr/>
          <p:nvPr/>
        </p:nvSpPr>
        <p:spPr>
          <a:xfrm>
            <a:off x="576943" y="2448021"/>
            <a:ext cx="1785938" cy="21386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Estandarización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F53944-A721-5660-BB35-2B3C14C6F607}"/>
              </a:ext>
            </a:extLst>
          </p:cNvPr>
          <p:cNvSpPr/>
          <p:nvPr/>
        </p:nvSpPr>
        <p:spPr>
          <a:xfrm>
            <a:off x="576943" y="2717921"/>
            <a:ext cx="186329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claros, roles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 </a:t>
            </a: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0F6CE983-277E-8877-C358-C73FDBF3938C}"/>
              </a:ext>
            </a:extLst>
          </p:cNvPr>
          <p:cNvSpPr/>
          <p:nvPr/>
        </p:nvSpPr>
        <p:spPr>
          <a:xfrm>
            <a:off x="1094866" y="180754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6C87E7BC-F0F6-71EA-6AC0-03CA0898D287}"/>
              </a:ext>
            </a:extLst>
          </p:cNvPr>
          <p:cNvSpPr/>
          <p:nvPr/>
        </p:nvSpPr>
        <p:spPr>
          <a:xfrm>
            <a:off x="2505756" y="2075430"/>
            <a:ext cx="2000250" cy="2003822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9BF6E43-E894-41CB-6D47-AB7652BB9D97}"/>
              </a:ext>
            </a:extLst>
          </p:cNvPr>
          <p:cNvSpPr/>
          <p:nvPr/>
        </p:nvSpPr>
        <p:spPr>
          <a:xfrm>
            <a:off x="2720068" y="2448021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Cliente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C27C298-2FAF-45D2-D222-D4184FA81DC4}"/>
              </a:ext>
            </a:extLst>
          </p:cNvPr>
          <p:cNvSpPr/>
          <p:nvPr/>
        </p:nvSpPr>
        <p:spPr>
          <a:xfrm>
            <a:off x="2720068" y="2931786"/>
            <a:ext cx="1851125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SLAs y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acceso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visibilidad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tiempo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real.</a:t>
            </a:r>
            <a:endParaRPr lang="en-US" sz="110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D3C69D3B-6A78-0313-1DCF-A7B19A3404C7}"/>
              </a:ext>
            </a:extLst>
          </p:cNvPr>
          <p:cNvSpPr/>
          <p:nvPr/>
        </p:nvSpPr>
        <p:spPr>
          <a:xfrm>
            <a:off x="3237991" y="180754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05b5b62.png">
            <a:extLst>
              <a:ext uri="{FF2B5EF4-FFF2-40B4-BE49-F238E27FC236}">
                <a16:creationId xmlns:a16="http://schemas.microsoft.com/office/drawing/2014/main" id="{354B2D46-3F5F-26B4-EEC3-BE4FA53D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749" y="1990668"/>
            <a:ext cx="285750" cy="171450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0A06C67C-F345-06AF-B4CB-E301A7094EBC}"/>
              </a:ext>
            </a:extLst>
          </p:cNvPr>
          <p:cNvSpPr/>
          <p:nvPr/>
        </p:nvSpPr>
        <p:spPr>
          <a:xfrm>
            <a:off x="4648881" y="2075430"/>
            <a:ext cx="2000250" cy="2003822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B5A262B-C92D-AC7D-1F5B-10E0529A17AC}"/>
              </a:ext>
            </a:extLst>
          </p:cNvPr>
          <p:cNvSpPr/>
          <p:nvPr/>
        </p:nvSpPr>
        <p:spPr>
          <a:xfrm>
            <a:off x="4863193" y="2448021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PersonalSoft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C89C9C3-E661-7BC7-90BC-A4415D498B88}"/>
              </a:ext>
            </a:extLst>
          </p:cNvPr>
          <p:cNvSpPr/>
          <p:nvPr/>
        </p:nvSpPr>
        <p:spPr>
          <a:xfrm>
            <a:off x="4863193" y="2931786"/>
            <a:ext cx="1785938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Optimización de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márgenes operativos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mediante la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inteligente.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227AA1F-A86A-1059-3E9E-9D70E5E23345}"/>
              </a:ext>
            </a:extLst>
          </p:cNvPr>
          <p:cNvSpPr/>
          <p:nvPr/>
        </p:nvSpPr>
        <p:spPr>
          <a:xfrm>
            <a:off x="5381116" y="180754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-327b961e.png">
            <a:extLst>
              <a:ext uri="{FF2B5EF4-FFF2-40B4-BE49-F238E27FC236}">
                <a16:creationId xmlns:a16="http://schemas.microsoft.com/office/drawing/2014/main" id="{E4F0CB68-F772-0EEC-85B3-E8E083F7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268" y="1984388"/>
            <a:ext cx="214313" cy="178594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4D8DA01-70F2-AD94-BCB0-0E80F975BA52}"/>
              </a:ext>
            </a:extLst>
          </p:cNvPr>
          <p:cNvSpPr/>
          <p:nvPr/>
        </p:nvSpPr>
        <p:spPr>
          <a:xfrm>
            <a:off x="6792006" y="2075430"/>
            <a:ext cx="2000250" cy="2003822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876DDF71-25E4-1FB7-BAE4-F9D4681992AB}"/>
              </a:ext>
            </a:extLst>
          </p:cNvPr>
          <p:cNvSpPr/>
          <p:nvPr/>
        </p:nvSpPr>
        <p:spPr>
          <a:xfrm>
            <a:off x="7006318" y="2448021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Impacto en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Mercado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6C13925F-AC98-F240-4399-90C6DBDB9C64}"/>
              </a:ext>
            </a:extLst>
          </p:cNvPr>
          <p:cNvSpPr/>
          <p:nvPr/>
        </p:nvSpPr>
        <p:spPr>
          <a:xfrm>
            <a:off x="7006319" y="2931787"/>
            <a:ext cx="1842083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Posicionamiento como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proveedor estratégico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basado en datos y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avanzadas.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8127BF9B-08B2-3BA9-575E-545DA3D857F7}"/>
              </a:ext>
            </a:extLst>
          </p:cNvPr>
          <p:cNvSpPr/>
          <p:nvPr/>
        </p:nvSpPr>
        <p:spPr>
          <a:xfrm>
            <a:off x="7524241" y="180754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-6dbe241e.png">
            <a:extLst>
              <a:ext uri="{FF2B5EF4-FFF2-40B4-BE49-F238E27FC236}">
                <a16:creationId xmlns:a16="http://schemas.microsoft.com/office/drawing/2014/main" id="{263F34D4-4A07-6E98-B32B-1881409F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5391" y="1952994"/>
            <a:ext cx="214313" cy="242888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2B7F778D-5F66-74AF-32CC-84352651A0C6}"/>
              </a:ext>
            </a:extLst>
          </p:cNvPr>
          <p:cNvSpPr/>
          <p:nvPr/>
        </p:nvSpPr>
        <p:spPr>
          <a:xfrm>
            <a:off x="391545" y="626827"/>
            <a:ext cx="5791881" cy="2857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Transformar el soporte de costo operativo a ventaja competitiva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" name="Gráfico 2" descr="Marcador contorno">
            <a:extLst>
              <a:ext uri="{FF2B5EF4-FFF2-40B4-BE49-F238E27FC236}">
                <a16:creationId xmlns:a16="http://schemas.microsoft.com/office/drawing/2014/main" id="{899E42DB-34A8-3D42-7FA8-C3CDBBC41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7428" y="1907721"/>
            <a:ext cx="332015" cy="326572"/>
          </a:xfrm>
          <a:prstGeom prst="rect">
            <a:avLst/>
          </a:prstGeom>
        </p:spPr>
      </p:pic>
      <p:pic>
        <p:nvPicPr>
          <p:cNvPr id="5" name="Gráfico 6" descr="Diana con relleno sólido">
            <a:extLst>
              <a:ext uri="{FF2B5EF4-FFF2-40B4-BE49-F238E27FC236}">
                <a16:creationId xmlns:a16="http://schemas.microsoft.com/office/drawing/2014/main" id="{30664D31-7980-9DC7-D952-39F7E0D5E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6287" y="704849"/>
            <a:ext cx="533400" cy="538844"/>
          </a:xfrm>
          <a:prstGeom prst="rect">
            <a:avLst/>
          </a:prstGeom>
        </p:spPr>
      </p:pic>
      <p:sp>
        <p:nvSpPr>
          <p:cNvPr id="7" name="Text 6">
            <a:extLst>
              <a:ext uri="{FF2B5EF4-FFF2-40B4-BE49-F238E27FC236}">
                <a16:creationId xmlns:a16="http://schemas.microsoft.com/office/drawing/2014/main" id="{D73067EA-462D-AC3B-A37F-02C6FD7451E3}"/>
              </a:ext>
            </a:extLst>
          </p:cNvPr>
          <p:cNvSpPr/>
          <p:nvPr/>
        </p:nvSpPr>
        <p:spPr>
          <a:xfrm>
            <a:off x="5653599" y="772610"/>
            <a:ext cx="3034734" cy="2083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200" kern="0" spc="-81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augmentation a un servicio gestionado, medible y evolutivo.</a:t>
            </a:r>
            <a:endParaRPr lang="en-US" sz="1200" kern="0" spc="-81">
              <a:solidFill>
                <a:srgbClr val="00B050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7824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>
            <a:extLst>
              <a:ext uri="{FF2B5EF4-FFF2-40B4-BE49-F238E27FC236}">
                <a16:creationId xmlns:a16="http://schemas.microsoft.com/office/drawing/2014/main" id="{EF145EE0-E561-FEDD-0C89-684520E996B9}"/>
              </a:ext>
            </a:extLst>
          </p:cNvPr>
          <p:cNvSpPr/>
          <p:nvPr/>
        </p:nvSpPr>
        <p:spPr>
          <a:xfrm>
            <a:off x="2215243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8BFDA1F-B97B-FF8B-A810-F7E06937EFF1}"/>
              </a:ext>
            </a:extLst>
          </p:cNvPr>
          <p:cNvSpPr/>
          <p:nvPr/>
        </p:nvSpPr>
        <p:spPr>
          <a:xfrm>
            <a:off x="2389414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11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6FD97E7-60D9-A9C3-3133-8B4DB1EDCFCF}"/>
              </a:ext>
            </a:extLst>
          </p:cNvPr>
          <p:cNvSpPr/>
          <p:nvPr/>
        </p:nvSpPr>
        <p:spPr>
          <a:xfrm>
            <a:off x="2389414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Mesas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9A2EAD06-D9DA-48BD-49DD-24A84487FEAA}"/>
              </a:ext>
            </a:extLst>
          </p:cNvPr>
          <p:cNvSpPr/>
          <p:nvPr/>
        </p:nvSpPr>
        <p:spPr>
          <a:xfrm>
            <a:off x="3773968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3C601815-30F7-DFDA-B98B-2FB993338CB6}"/>
              </a:ext>
            </a:extLst>
          </p:cNvPr>
          <p:cNvSpPr/>
          <p:nvPr/>
        </p:nvSpPr>
        <p:spPr>
          <a:xfrm>
            <a:off x="393181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17490"/>
                </a:solidFill>
                <a:latin typeface="Reddit Sans Light"/>
                <a:ea typeface="Calibri"/>
                <a:cs typeface="Reddit Sans Light"/>
              </a:rPr>
              <a:t>57</a:t>
            </a:r>
            <a:endParaRPr lang="en-US" sz="300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43A6272A-CFCF-7A50-12C1-F31339E8BE35}"/>
              </a:ext>
            </a:extLst>
          </p:cNvPr>
          <p:cNvSpPr/>
          <p:nvPr/>
        </p:nvSpPr>
        <p:spPr>
          <a:xfrm>
            <a:off x="3931811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FTE </a:t>
            </a: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19F71853-6564-A7BC-D8B0-D167CA5F647F}"/>
              </a:ext>
            </a:extLst>
          </p:cNvPr>
          <p:cNvSpPr/>
          <p:nvPr/>
        </p:nvSpPr>
        <p:spPr>
          <a:xfrm>
            <a:off x="5387122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73794636-C541-3A48-3C9E-D80BB73EC66F}"/>
              </a:ext>
            </a:extLst>
          </p:cNvPr>
          <p:cNvSpPr/>
          <p:nvPr/>
        </p:nvSpPr>
        <p:spPr>
          <a:xfrm>
            <a:off x="5572179" y="975469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B3261E"/>
                </a:solidFill>
                <a:latin typeface="Reddit Sans Light"/>
                <a:ea typeface="Calibri"/>
                <a:cs typeface="Reddit Sans Light"/>
              </a:rPr>
              <a:t>2</a:t>
            </a: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BB954CE0-F03D-7590-5363-C3A58DAE5E55}"/>
              </a:ext>
            </a:extLst>
          </p:cNvPr>
          <p:cNvSpPr/>
          <p:nvPr/>
        </p:nvSpPr>
        <p:spPr>
          <a:xfrm>
            <a:off x="5572179" y="1524109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En N3</a:t>
            </a:r>
            <a:endParaRPr lang="en-US" sz="950"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9FDC9B93-707B-C2BF-913D-568E2AAC1F34}"/>
              </a:ext>
            </a:extLst>
          </p:cNvPr>
          <p:cNvSpPr/>
          <p:nvPr/>
        </p:nvSpPr>
        <p:spPr>
          <a:xfrm>
            <a:off x="648461" y="947601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89DA9FAC-E29B-87AD-F1AC-8D3881AC4186}"/>
              </a:ext>
            </a:extLst>
          </p:cNvPr>
          <p:cNvSpPr/>
          <p:nvPr/>
        </p:nvSpPr>
        <p:spPr>
          <a:xfrm>
            <a:off x="844404" y="959140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4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EAACE51-BC11-9F28-D4EB-E90BA7B2AA55}"/>
              </a:ext>
            </a:extLst>
          </p:cNvPr>
          <p:cNvSpPr/>
          <p:nvPr/>
        </p:nvSpPr>
        <p:spPr>
          <a:xfrm>
            <a:off x="844404" y="1469680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Clientes</a:t>
            </a:r>
            <a:endParaRPr lang="en-US" sz="975" err="1">
              <a:latin typeface="Reddit Sans Light"/>
              <a:cs typeface="Reddit Sans Light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8C4996C0-D6D7-24E3-25E1-EB43CBF58650}"/>
              </a:ext>
            </a:extLst>
          </p:cNvPr>
          <p:cNvSpPr/>
          <p:nvPr/>
        </p:nvSpPr>
        <p:spPr>
          <a:xfrm>
            <a:off x="332014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CC30066-899D-3C09-3059-9BB6B2602527}"/>
              </a:ext>
            </a:extLst>
          </p:cNvPr>
          <p:cNvSpPr/>
          <p:nvPr/>
        </p:nvSpPr>
        <p:spPr>
          <a:xfrm>
            <a:off x="332014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4CF1C35-E4D3-0C6A-7A97-AF081690E26D}"/>
              </a:ext>
            </a:extLst>
          </p:cNvPr>
          <p:cNvSpPr/>
          <p:nvPr/>
        </p:nvSpPr>
        <p:spPr>
          <a:xfrm>
            <a:off x="434884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N1 · Operación Reactiva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39053475-1421-F7C8-AD15-75DB9723B730}"/>
              </a:ext>
            </a:extLst>
          </p:cNvPr>
          <p:cNvSpPr/>
          <p:nvPr/>
        </p:nvSpPr>
        <p:spPr>
          <a:xfrm>
            <a:off x="1931669" y="2006781"/>
            <a:ext cx="81751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3564960B-23C8-45DA-2745-C36574CC176D}"/>
              </a:ext>
            </a:extLst>
          </p:cNvPr>
          <p:cNvSpPr/>
          <p:nvPr/>
        </p:nvSpPr>
        <p:spPr>
          <a:xfrm>
            <a:off x="443698" y="3070042"/>
            <a:ext cx="2539636" cy="703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</a:t>
            </a: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Integración</a:t>
            </a: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Datos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Emma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Emma </a:t>
            </a: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Iseries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09E80C49-1784-AFE6-C216-5CE00A928742}"/>
              </a:ext>
            </a:extLst>
          </p:cNvPr>
          <p:cNvSpPr/>
          <p:nvPr/>
        </p:nvSpPr>
        <p:spPr>
          <a:xfrm>
            <a:off x="3267238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54F05A97-B24A-C53A-D343-169FE3831E11}"/>
              </a:ext>
            </a:extLst>
          </p:cNvPr>
          <p:cNvSpPr/>
          <p:nvPr/>
        </p:nvSpPr>
        <p:spPr>
          <a:xfrm>
            <a:off x="3267238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92BEB23B-D0A0-26DC-FF99-9ABFEA148B3D}"/>
              </a:ext>
            </a:extLst>
          </p:cNvPr>
          <p:cNvSpPr/>
          <p:nvPr/>
        </p:nvSpPr>
        <p:spPr>
          <a:xfrm>
            <a:off x="3370108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N2 · Herramienta 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C5DEF9A-FFC6-13CE-8541-DF862A2A84FA}"/>
              </a:ext>
            </a:extLst>
          </p:cNvPr>
          <p:cNvSpPr/>
          <p:nvPr/>
        </p:nvSpPr>
        <p:spPr>
          <a:xfrm>
            <a:off x="4888665" y="1990453"/>
            <a:ext cx="76853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2653892-AC8C-CBD6-79C1-85AAC042BB70}"/>
              </a:ext>
            </a:extLst>
          </p:cNvPr>
          <p:cNvSpPr/>
          <p:nvPr/>
        </p:nvSpPr>
        <p:spPr>
          <a:xfrm>
            <a:off x="2996183" y="2944042"/>
            <a:ext cx="1815737" cy="53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endParaRPr lang="en-US" sz="100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Venta Digital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endParaRPr lang="en-US" sz="100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Canales </a:t>
            </a: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Masivos</a:t>
            </a:r>
            <a:endParaRPr lang="en-US" sz="100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Shape 23">
            <a:extLst>
              <a:ext uri="{FF2B5EF4-FFF2-40B4-BE49-F238E27FC236}">
                <a16:creationId xmlns:a16="http://schemas.microsoft.com/office/drawing/2014/main" id="{F6DB335E-8497-36B2-29D1-A99F72ACCB5F}"/>
              </a:ext>
            </a:extLst>
          </p:cNvPr>
          <p:cNvSpPr/>
          <p:nvPr/>
        </p:nvSpPr>
        <p:spPr>
          <a:xfrm>
            <a:off x="6202462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9CCE7CF-3E2A-DC0B-B2FA-FE8DB1E34887}"/>
              </a:ext>
            </a:extLst>
          </p:cNvPr>
          <p:cNvSpPr/>
          <p:nvPr/>
        </p:nvSpPr>
        <p:spPr>
          <a:xfrm>
            <a:off x="6202462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4436C922-BFF7-8292-582C-A83FAA29A772}"/>
              </a:ext>
            </a:extLst>
          </p:cNvPr>
          <p:cNvSpPr/>
          <p:nvPr/>
        </p:nvSpPr>
        <p:spPr>
          <a:xfrm>
            <a:off x="6289003" y="1936024"/>
            <a:ext cx="40930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N3</a:t>
            </a:r>
            <a:endParaRPr lang="en-US" sz="975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4552EAD8-AA87-92D6-6974-D301B38A6547}"/>
              </a:ext>
            </a:extLst>
          </p:cNvPr>
          <p:cNvSpPr/>
          <p:nvPr/>
        </p:nvSpPr>
        <p:spPr>
          <a:xfrm>
            <a:off x="7987174" y="1990453"/>
            <a:ext cx="60524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2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3A66E8B3-3227-F4DF-9117-22E082EE5136}"/>
              </a:ext>
            </a:extLst>
          </p:cNvPr>
          <p:cNvSpPr/>
          <p:nvPr/>
        </p:nvSpPr>
        <p:spPr>
          <a:xfrm>
            <a:off x="6339622" y="24160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spcAft>
                <a:spcPts val="225"/>
              </a:spcAft>
              <a:buNone/>
            </a:pPr>
            <a:endParaRPr lang="en-US" sz="938">
              <a:latin typeface="Reddit Sans Light"/>
              <a:cs typeface="Reddit Sans Light"/>
            </a:endParaRPr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3617E2F5-3A18-ACE4-E271-63674AA1C2BA}"/>
              </a:ext>
            </a:extLst>
          </p:cNvPr>
          <p:cNvSpPr/>
          <p:nvPr/>
        </p:nvSpPr>
        <p:spPr>
          <a:xfrm>
            <a:off x="342900" y="4349931"/>
            <a:ext cx="8455914" cy="327225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690CF84A-296B-2272-5D41-DB6EC483EA01}"/>
              </a:ext>
            </a:extLst>
          </p:cNvPr>
          <p:cNvSpPr/>
          <p:nvPr/>
        </p:nvSpPr>
        <p:spPr>
          <a:xfrm>
            <a:off x="480060" y="4366260"/>
            <a:ext cx="8181594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este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levantamiento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inicial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no se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incluyó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a MEDICARTE,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ya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que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actualmente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se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encuentra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proceso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de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empalme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.</a:t>
            </a:r>
            <a:endParaRPr lang="es-ES" sz="1100" b="1">
              <a:solidFill>
                <a:schemeClr val="accent1">
                  <a:lumMod val="49000"/>
                </a:schemeClr>
              </a:solidFill>
              <a:latin typeface="Reddit Sans Light"/>
              <a:cs typeface="Reddit Sans Light"/>
            </a:endParaRPr>
          </a:p>
          <a:p>
            <a:endParaRPr lang="en-US" sz="950" b="1">
              <a:solidFill>
                <a:schemeClr val="accent1">
                  <a:lumMod val="49000"/>
                </a:schemeClr>
              </a:solidFill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3" name="Text 22">
            <a:extLst>
              <a:ext uri="{FF2B5EF4-FFF2-40B4-BE49-F238E27FC236}">
                <a16:creationId xmlns:a16="http://schemas.microsoft.com/office/drawing/2014/main" id="{7A8C7BD1-9176-A15B-5946-3D3FC0332A13}"/>
              </a:ext>
            </a:extLst>
          </p:cNvPr>
          <p:cNvSpPr/>
          <p:nvPr/>
        </p:nvSpPr>
        <p:spPr>
          <a:xfrm>
            <a:off x="6289111" y="2944042"/>
            <a:ext cx="1321721" cy="31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25"/>
              </a:spcAft>
              <a:buNone/>
            </a:pP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endParaRPr lang="en-US" sz="100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pic>
        <p:nvPicPr>
          <p:cNvPr id="4" name="Gráfico 3" descr="The logo of , showing a stylized leaf above the site name in bold, modern font. Links to the homepage.">
            <a:extLst>
              <a:ext uri="{FF2B5EF4-FFF2-40B4-BE49-F238E27FC236}">
                <a16:creationId xmlns:a16="http://schemas.microsoft.com/office/drawing/2014/main" id="{A0D4B0DF-F4E8-7E49-32F1-8519B02EC3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224" y="2364921"/>
            <a:ext cx="487137" cy="206829"/>
          </a:xfrm>
          <a:prstGeom prst="rect">
            <a:avLst/>
          </a:prstGeom>
        </p:spPr>
      </p:pic>
      <p:pic>
        <p:nvPicPr>
          <p:cNvPr id="7" name="Gráfico 6" descr="Logo Bancolombia">
            <a:extLst>
              <a:ext uri="{FF2B5EF4-FFF2-40B4-BE49-F238E27FC236}">
                <a16:creationId xmlns:a16="http://schemas.microsoft.com/office/drawing/2014/main" id="{43D69C67-E535-7C60-A4E0-120FBA08E3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6722" y="2673122"/>
            <a:ext cx="1326697" cy="374197"/>
          </a:xfrm>
          <a:prstGeom prst="rect">
            <a:avLst/>
          </a:prstGeom>
        </p:spPr>
      </p:pic>
      <p:pic>
        <p:nvPicPr>
          <p:cNvPr id="9" name="Gráfico 8" descr="logo Sura">
            <a:extLst>
              <a:ext uri="{FF2B5EF4-FFF2-40B4-BE49-F238E27FC236}">
                <a16:creationId xmlns:a16="http://schemas.microsoft.com/office/drawing/2014/main" id="{76884242-5B78-E8F5-196D-24CD953435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54853" y="2400299"/>
            <a:ext cx="987879" cy="342901"/>
          </a:xfrm>
          <a:prstGeom prst="rect">
            <a:avLst/>
          </a:prstGeom>
        </p:spPr>
      </p:pic>
      <p:pic>
        <p:nvPicPr>
          <p:cNvPr id="11" name="Imagen 10" descr="Logo">
            <a:extLst>
              <a:ext uri="{FF2B5EF4-FFF2-40B4-BE49-F238E27FC236}">
                <a16:creationId xmlns:a16="http://schemas.microsoft.com/office/drawing/2014/main" id="{895562EC-799E-D3C4-DC5A-4BE673F21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3321" y="2363561"/>
            <a:ext cx="778331" cy="410937"/>
          </a:xfrm>
          <a:prstGeom prst="rect">
            <a:avLst/>
          </a:prstGeom>
        </p:spPr>
      </p:pic>
      <p:pic>
        <p:nvPicPr>
          <p:cNvPr id="15" name="Gráfico 14" descr="logo Sura">
            <a:extLst>
              <a:ext uri="{FF2B5EF4-FFF2-40B4-BE49-F238E27FC236}">
                <a16:creationId xmlns:a16="http://schemas.microsoft.com/office/drawing/2014/main" id="{4E0D61E5-7B27-245D-52E8-8BECA618E7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5010" y="2427513"/>
            <a:ext cx="987879" cy="342901"/>
          </a:xfrm>
          <a:prstGeom prst="rect">
            <a:avLst/>
          </a:prstGeom>
        </p:spPr>
      </p:pic>
      <p:pic>
        <p:nvPicPr>
          <p:cNvPr id="17" name="Imagen 16" descr="Logo">
            <a:extLst>
              <a:ext uri="{FF2B5EF4-FFF2-40B4-BE49-F238E27FC236}">
                <a16:creationId xmlns:a16="http://schemas.microsoft.com/office/drawing/2014/main" id="{5A463B06-EF9E-16FF-193B-A64DB0EEF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3478" y="2390775"/>
            <a:ext cx="778331" cy="410937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3D4FF19C-DA59-E7C8-94CD-FC7572D8F0DB}"/>
              </a:ext>
            </a:extLst>
          </p:cNvPr>
          <p:cNvSpPr txBox="1"/>
          <p:nvPr/>
        </p:nvSpPr>
        <p:spPr>
          <a:xfrm>
            <a:off x="7364185" y="2724149"/>
            <a:ext cx="1741715" cy="4343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1000" b="0" i="0">
                <a:solidFill>
                  <a:srgbClr val="000000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>
              <a:lnSpc>
                <a:spcPts val="1575"/>
              </a:lnSpc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HU</a:t>
            </a:r>
            <a:r>
              <a:rPr lang="en-US" sz="1000" b="0" i="0" u="none" strike="noStrike" baseline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 </a:t>
            </a:r>
            <a:r>
              <a:rPr lang="en-US" sz="1000" b="0" i="0" u="none" strike="noStrike" baseline="0" err="1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Evolutivas</a:t>
            </a: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57F8888-D775-3BF7-793F-61267ABCCDC6}"/>
              </a:ext>
            </a:extLst>
          </p:cNvPr>
          <p:cNvSpPr/>
          <p:nvPr/>
        </p:nvSpPr>
        <p:spPr>
          <a:xfrm>
            <a:off x="4819540" y="2922271"/>
            <a:ext cx="961209" cy="57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s-CO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 App Criticas – Garantías de Energía</a:t>
            </a:r>
          </a:p>
        </p:txBody>
      </p:sp>
      <p:sp>
        <p:nvSpPr>
          <p:cNvPr id="29" name="ttl">
            <a:extLst>
              <a:ext uri="{FF2B5EF4-FFF2-40B4-BE49-F238E27FC236}">
                <a16:creationId xmlns:a16="http://schemas.microsoft.com/office/drawing/2014/main" id="{D6522D37-9C92-E81E-6C63-45AC32BF548F}"/>
              </a:ext>
            </a:extLst>
          </p:cNvPr>
          <p:cNvSpPr txBox="1">
            <a:spLocks noGrp="1"/>
          </p:cNvSpPr>
          <p:nvPr/>
        </p:nvSpPr>
        <p:spPr>
          <a:xfrm>
            <a:off x="330925" y="173083"/>
            <a:ext cx="3173187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170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Nuestra Operación Actual</a:t>
            </a:r>
          </a:p>
        </p:txBody>
      </p:sp>
      <p:sp>
        <p:nvSpPr>
          <p:cNvPr id="33" name="sub">
            <a:extLst>
              <a:ext uri="{FF2B5EF4-FFF2-40B4-BE49-F238E27FC236}">
                <a16:creationId xmlns:a16="http://schemas.microsoft.com/office/drawing/2014/main" id="{5A023ACB-452D-09FE-CAB0-D835DE0CC855}"/>
              </a:ext>
            </a:extLst>
          </p:cNvPr>
          <p:cNvSpPr txBox="1">
            <a:spLocks noGrp="1"/>
          </p:cNvSpPr>
          <p:nvPr/>
        </p:nvSpPr>
        <p:spPr>
          <a:xfrm>
            <a:off x="330925" y="566928"/>
            <a:ext cx="3222173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lnSpcReduction="10000"/>
          </a:bodyPr>
          <a:lstStyle/>
          <a:p>
            <a:pPr algn="l"/>
            <a:r>
              <a:rPr lang="es-ES" sz="1000">
                <a:solidFill>
                  <a:srgbClr val="6B7280"/>
                </a:solidFill>
                <a:latin typeface="Reddit Sans"/>
                <a:ea typeface="Reddit Sans"/>
              </a:rPr>
              <a:t>Banca y Seguros · Energía y </a:t>
            </a:r>
            <a:r>
              <a:rPr lang="es-ES" sz="1000" err="1">
                <a:solidFill>
                  <a:srgbClr val="6B7280"/>
                </a:solidFill>
                <a:latin typeface="Reddit Sans"/>
                <a:ea typeface="Reddit Sans"/>
              </a:rPr>
              <a:t>Utilities</a:t>
            </a:r>
          </a:p>
        </p:txBody>
      </p:sp>
      <p:sp>
        <p:nvSpPr>
          <p:cNvPr id="2" name="Shape 10">
            <a:extLst>
              <a:ext uri="{FF2B5EF4-FFF2-40B4-BE49-F238E27FC236}">
                <a16:creationId xmlns:a16="http://schemas.microsoft.com/office/drawing/2014/main" id="{EF0FF842-835D-9AA8-2EFA-E7A5FB04F8CE}"/>
              </a:ext>
            </a:extLst>
          </p:cNvPr>
          <p:cNvSpPr/>
          <p:nvPr/>
        </p:nvSpPr>
        <p:spPr>
          <a:xfrm>
            <a:off x="6929518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F7D46063-4A67-428F-7409-01FA53B4BB0F}"/>
              </a:ext>
            </a:extLst>
          </p:cNvPr>
          <p:cNvSpPr/>
          <p:nvPr/>
        </p:nvSpPr>
        <p:spPr>
          <a:xfrm>
            <a:off x="712546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3000" b="1">
              <a:solidFill>
                <a:srgbClr val="1F7A4D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EE68B4E7-36CA-E303-43C9-E5B05500E214}"/>
              </a:ext>
            </a:extLst>
          </p:cNvPr>
          <p:cNvSpPr/>
          <p:nvPr/>
        </p:nvSpPr>
        <p:spPr>
          <a:xfrm>
            <a:off x="7125461" y="14805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Applicaciones</a:t>
            </a:r>
            <a:endParaRPr lang="en-US" sz="975" err="1">
              <a:latin typeface="Reddit Sans Light"/>
              <a:cs typeface="Reddit Sans Light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6041C1E6-7FE4-0BE7-8E9A-439271DA0562}"/>
              </a:ext>
            </a:extLst>
          </p:cNvPr>
          <p:cNvSpPr/>
          <p:nvPr/>
        </p:nvSpPr>
        <p:spPr>
          <a:xfrm>
            <a:off x="7038375" y="975468"/>
            <a:ext cx="10727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rgbClr val="7030A0"/>
                </a:solidFill>
                <a:latin typeface="Reddit Sans Light"/>
                <a:ea typeface="Calibri"/>
                <a:cs typeface="Arial"/>
              </a:rPr>
              <a:t>Más de </a:t>
            </a:r>
            <a:endParaRPr lang="en-US" sz="3000" b="1">
              <a:solidFill>
                <a:srgbClr val="7030A0"/>
              </a:solidFill>
              <a:latin typeface="Reddit Sans Light"/>
              <a:ea typeface="Calibri"/>
              <a:cs typeface="Arial"/>
            </a:endParaRPr>
          </a:p>
          <a:p>
            <a:pPr algn="ctr"/>
            <a:r>
              <a:rPr lang="en-US" sz="3000" b="1">
                <a:solidFill>
                  <a:srgbClr val="7030A0"/>
                </a:solidFill>
                <a:latin typeface="Reddit Sans Light"/>
                <a:ea typeface="Calibri"/>
                <a:cs typeface="Arial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4143833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8888" y="223758"/>
            <a:ext cx="8643938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Desafíos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de la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Operación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Actual</a:t>
            </a:r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58888" y="637713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Identificación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puntos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críticos</a:t>
            </a:r>
            <a:endParaRPr lang="en-US" sz="1200" err="1">
              <a:latin typeface="Reddit Sans"/>
              <a:ea typeface="Reddit San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935866" y="552886"/>
            <a:ext cx="2393156" cy="44220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Ausencia de estándares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Falta de niveles de servicio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(N1/N2/N3) y roles claramente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definidos.</a:t>
            </a:r>
            <a:endParaRPr lang="es-CO" sz="10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económico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 indexada a FTE que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impone barreras críticas para el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escalamiento.</a:t>
            </a:r>
            <a:endParaRPr lang="es-CO" sz="1000"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Herramientas de gestión de conocimiento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to tácito no</a:t>
            </a:r>
            <a:br>
              <a:rPr lang="es-CO" sz="1000" kern="0" spc="-23">
                <a:latin typeface="Reddit Sans"/>
                <a:ea typeface="Reddit Sans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documentado, g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enerand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 un</a:t>
            </a:r>
            <a:br>
              <a:rPr lang="es-CO" sz="1000" kern="0" spc="-23">
                <a:latin typeface="Reddit Sans"/>
                <a:ea typeface="Reddit Sans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alto riesgo de 'Bus Factor'. Curvas de aprendizaje muy altos. Para que un </a:t>
            </a:r>
            <a:r>
              <a:rPr lang="es-CO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Softer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tenga independencia y </a:t>
            </a:r>
            <a:r>
              <a:rPr lang="es-CO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autonomia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en la </a:t>
            </a:r>
            <a:r>
              <a:rPr lang="es-CO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operacipon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cliente puede tomar hasta de 6 mese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 (XM).</a:t>
            </a:r>
          </a:p>
        </p:txBody>
      </p:sp>
      <p:sp>
        <p:nvSpPr>
          <p:cNvPr id="7" name="Text 4"/>
          <p:cNvSpPr/>
          <p:nvPr/>
        </p:nvSpPr>
        <p:spPr>
          <a:xfrm>
            <a:off x="6400460" y="552886"/>
            <a:ext cx="2393156" cy="431013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n-US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Fal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ta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observabilidad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Dependencia de </a:t>
            </a:r>
            <a:r>
              <a:rPr lang="es-CO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KPIs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empíricos, dispersión de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y procesos de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reporte manuales.</a:t>
            </a:r>
            <a:endParaRPr lang="es-CO" sz="10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Brecha en Preventa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Desalineación entre la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expectativa comercial y la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realidad operativa, resultando</a:t>
            </a:r>
            <a:br>
              <a:rPr lang="es-CO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 </a:t>
            </a:r>
            <a:r>
              <a:rPr lang="es-CO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sub-dimensionamiento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</a:rPr>
              <a:t>Dimensión de la Capacidad y Roles del equipo</a:t>
            </a:r>
          </a:p>
          <a:p>
            <a:pPr marL="180975" lvl="1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No hay claridad en los roles y perfiles para dimensionar las mesas de servicio por niveles.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marL="180975" indent="-180975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  <a:cs typeface="Arial"/>
              </a:rPr>
              <a:t>Tareas manuales para gestionar los recargos</a:t>
            </a:r>
            <a:endParaRPr lang="en-US" sz="1000">
              <a:cs typeface="Arial"/>
            </a:endParaRPr>
          </a:p>
        </p:txBody>
      </p:sp>
      <p:pic>
        <p:nvPicPr>
          <p:cNvPr id="20" name="Ilustracion Desaf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16" y="1246699"/>
            <a:ext cx="2448886" cy="1646486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123AE74-6D32-0FDF-671E-BDBBD5EA8815}"/>
              </a:ext>
            </a:extLst>
          </p:cNvPr>
          <p:cNvSpPr/>
          <p:nvPr/>
        </p:nvSpPr>
        <p:spPr>
          <a:xfrm>
            <a:off x="251051" y="3067485"/>
            <a:ext cx="3519827" cy="197275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Dimensión de la disponibilidad del equipo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Disponibilidad 7x24 sin tener en cuenta la tecnología que soporta, y verse reflejado en horas extras que no hace parte de la bolsa de horas que paga el cliente. (XM)</a:t>
            </a:r>
          </a:p>
          <a:p>
            <a:pPr marL="180975" lvl="1" indent="-180975" fontAlgn="ctr">
              <a:lnSpc>
                <a:spcPts val="1685"/>
              </a:lnSpc>
              <a:buClr>
                <a:srgbClr val="22AAEE"/>
              </a:buClr>
              <a:buSzPct val="120000"/>
              <a:buFont typeface="Arial"/>
              <a:buChar char="•"/>
            </a:pPr>
            <a:endParaRPr lang="es-CO" sz="10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Font typeface="Arial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</a:rPr>
              <a:t>Pla n Carrera</a:t>
            </a:r>
          </a:p>
          <a:p>
            <a:pPr fontAlgn="ctr">
              <a:lnSpc>
                <a:spcPts val="1685"/>
              </a:lnSpc>
              <a:buClr>
                <a:srgbClr val="22AAEE"/>
              </a:buClr>
              <a:buSzPct val="120000"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 Crecimiento profesional estandarizado por etapas en cada   mesa de soporte.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281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Falta de marcos de control y estandarización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en los procesos actuales. (Hay un coordinador para varias mesas)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5879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Crecimiento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basado en FTE, limitando la capacidad de escalar eficientemente.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8477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latin typeface="Reddit Sans"/>
                <a:ea typeface="Reddit Sans"/>
              </a:rPr>
              <a:t>Alta dependencia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de tareas manuales y procesos operativos repetitivos. (Gestión de recargos y horas ext</a:t>
            </a:r>
            <a:r>
              <a:rPr lang="es-CO" sz="900">
                <a:latin typeface="Reddit Sans"/>
                <a:ea typeface="Reddit Sans"/>
              </a:rPr>
              <a:t>ras)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075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latin typeface="Reddit Sans"/>
                <a:ea typeface="Reddit Sans"/>
              </a:rPr>
              <a:t>Conocimiento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concentrado en personas, generando riesgos de contin</a:t>
            </a:r>
            <a:r>
              <a:rPr lang="es-CO" sz="900">
                <a:latin typeface="Reddit Sans"/>
                <a:ea typeface="Reddit Sans"/>
              </a:rPr>
              <a:t>uidad. No </a:t>
            </a:r>
            <a:r>
              <a:rPr lang="es-CO" sz="900" dirty="0">
                <a:latin typeface="Reddit Sans"/>
                <a:ea typeface="Reddit Sans"/>
              </a:rPr>
              <a:t>hay herramientas de gestión de conocimiento.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  <a:endParaRPr lang="es-CO" sz="11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 err="1">
                <a:solidFill>
                  <a:srgbClr val="505050"/>
                </a:solidFill>
                <a:latin typeface="Reddit Sans"/>
                <a:ea typeface="Reddit Sans"/>
              </a:rPr>
              <a:t>KPIs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 y SLA definidos de forma diferente entre mesas, limitando la visibilidad y la gestión unificada del servicio.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55879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 err="1">
                <a:latin typeface="Reddit Sans"/>
                <a:ea typeface="Reddit Sans"/>
              </a:rPr>
              <a:t>Onboarding</a:t>
            </a:r>
            <a:r>
              <a:rPr lang="es-CO" sz="900" dirty="0">
                <a:latin typeface="Reddit Sans"/>
                <a:ea typeface="Reddit Sans"/>
              </a:rPr>
              <a:t> con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alta fricción y dependencia de personal clave para alcanzar autonomía operativa.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8477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Desalineación entre la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expectativa comercial y la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realidad operativa, resultando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en </a:t>
            </a:r>
            <a:r>
              <a:rPr lang="es-CO" sz="900" dirty="0" err="1">
                <a:solidFill>
                  <a:srgbClr val="505050"/>
                </a:solidFill>
                <a:latin typeface="Reddit Sans"/>
                <a:ea typeface="Reddit Sans"/>
              </a:rPr>
              <a:t>sub-dimensionamiento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n-US" sz="900" dirty="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1075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Capacidad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Dependencia de personal 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especializado, cobertura limitada y ausencia de rutas de crecimiento estandarizadas</a:t>
            </a:r>
            <a:endParaRPr lang="es-CO"/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1431" y="4275473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 dirty="0">
                <a:latin typeface="Reddit Sans"/>
                <a:ea typeface="Reddit Sans"/>
              </a:rPr>
              <a:t>La Mesa de Servicio de Nueva Generación de ser </a:t>
            </a:r>
            <a:r>
              <a:rPr lang="en-US" sz="1050" dirty="0" err="1">
                <a:latin typeface="Reddit Sans"/>
                <a:ea typeface="Reddit Sans"/>
              </a:rPr>
              <a:t>una</a:t>
            </a:r>
            <a:r>
              <a:rPr lang="en-US" sz="1050" dirty="0">
                <a:latin typeface="Reddit Sans"/>
                <a:ea typeface="Reddit Sans"/>
              </a:rPr>
              <a:t> </a:t>
            </a:r>
            <a:r>
              <a:rPr sz="1050" dirty="0" err="1">
                <a:latin typeface="Reddit Sans"/>
                <a:ea typeface="Reddit Sans"/>
              </a:rPr>
              <a:t>operación</a:t>
            </a:r>
            <a:r>
              <a:rPr sz="1050" dirty="0">
                <a:latin typeface="Reddit Sans"/>
                <a:ea typeface="Reddit Sans"/>
              </a:rPr>
              <a:t> </a:t>
            </a:r>
            <a:r>
              <a:rPr sz="1050" dirty="0" err="1">
                <a:latin typeface="Reddit Sans"/>
                <a:ea typeface="Reddit Sans"/>
              </a:rPr>
              <a:t>estandarizada</a:t>
            </a:r>
            <a:r>
              <a:rPr sz="1050" dirty="0">
                <a:latin typeface="Reddit Sans"/>
                <a:ea typeface="Reddit Sans"/>
              </a:rPr>
              <a:t>, </a:t>
            </a:r>
            <a:r>
              <a:rPr sz="1050" dirty="0" err="1">
                <a:latin typeface="Reddit Sans"/>
                <a:ea typeface="Reddit Sans"/>
              </a:rPr>
              <a:t>automatizada</a:t>
            </a:r>
            <a:r>
              <a:rPr sz="1050" dirty="0">
                <a:latin typeface="Reddit Sans"/>
                <a:ea typeface="Reddit Sans"/>
              </a:rPr>
              <a:t>, </a:t>
            </a:r>
            <a:r>
              <a:rPr sz="1050" dirty="0" err="1">
                <a:latin typeface="Reddit Sans"/>
                <a:ea typeface="Reddit Sans"/>
              </a:rPr>
              <a:t>medible</a:t>
            </a:r>
            <a:r>
              <a:rPr sz="1050" dirty="0">
                <a:latin typeface="Reddit Sans"/>
                <a:ea typeface="Reddit Sans"/>
              </a:rPr>
              <a:t> y </a:t>
            </a:r>
            <a:r>
              <a:rPr sz="1050" dirty="0" err="1">
                <a:latin typeface="Reddit Sans"/>
                <a:ea typeface="Reddit Sans"/>
              </a:rPr>
              <a:t>habilitada</a:t>
            </a:r>
            <a:r>
              <a:rPr sz="1050" dirty="0">
                <a:latin typeface="Reddit Sans"/>
                <a:ea typeface="Reddit Sans"/>
              </a:rPr>
              <a:t> </a:t>
            </a:r>
            <a:r>
              <a:rPr sz="1050" dirty="0" err="1">
                <a:latin typeface="Reddit Sans"/>
                <a:ea typeface="Reddit Sans"/>
              </a:rPr>
              <a:t>por</a:t>
            </a:r>
            <a:r>
              <a:rPr sz="1050" dirty="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419100" y="541564"/>
            <a:ext cx="457200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000">
                <a:solidFill>
                  <a:srgbClr val="6E6E6E"/>
                </a:solidFill>
                <a:latin typeface="Reddit Sans"/>
                <a:ea typeface="Reddit Sans"/>
              </a:rPr>
              <a:t>Principales brechas en el modelo operativo </a:t>
            </a:r>
            <a:r>
              <a:rPr lang="es-CO" sz="10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actual</a:t>
            </a:r>
            <a:endParaRPr lang="es-CO" sz="1000"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29F7-1267-1991-7F32-6D05A710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102"/>
          <p:cNvSpPr/>
          <p:nvPr/>
        </p:nvSpPr>
        <p:spPr>
          <a:xfrm>
            <a:off x="502920" y="822960"/>
            <a:ext cx="8138160" cy="51206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E2E6EA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" name="Caption">
            <a:extLst>
              <a:ext uri="{FF2B5EF4-FFF2-40B4-BE49-F238E27FC236}">
                <a16:creationId xmlns:a16="http://schemas.microsoft.com/office/drawing/2014/main" id="{F51B6F8F-CFDF-9B40-AAA2-D9EFBD076B89}"/>
              </a:ext>
            </a:extLst>
          </p:cNvPr>
          <p:cNvSpPr txBox="1"/>
          <p:nvPr/>
        </p:nvSpPr>
        <p:spPr>
          <a:xfrm>
            <a:off x="341414" y="4660743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700">
                <a:solidFill>
                  <a:schemeClr val="bg2"/>
                </a:solidFill>
                <a:latin typeface="Reddit Sans"/>
                <a:ea typeface="Reddit Sans"/>
              </a:rPr>
              <a:t>Fuentes: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3"/>
              </a:rPr>
              <a:t>DITY/SlideShare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4"/>
              </a:rPr>
              <a:t>ServiceNow Newsroom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5"/>
              </a:rPr>
              <a:t>Ivanti</a:t>
            </a:r>
            <a:endParaRPr lang="es-ES" sz="700">
              <a:solidFill>
                <a:srgbClr val="E6EDF3"/>
              </a:solidFill>
              <a:latin typeface="Reddit Sans"/>
              <a:ea typeface="Reddit Sans"/>
            </a:endParaRPr>
          </a:p>
        </p:txBody>
      </p:sp>
      <p:sp>
        <p:nvSpPr>
          <p:cNvPr id="101" name="tx101"/>
          <p:cNvSpPr txBox="1"/>
          <p:nvPr/>
        </p:nvSpPr>
        <p:spPr>
          <a:xfrm>
            <a:off x="2743200" y="548640"/>
            <a:ext cx="3657600" cy="21945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/>
            <a:r>
              <a:rPr lang="es-ES" sz="1000">
                <a:solidFill>
                  <a:srgbClr val="5A6B7B"/>
                </a:solidFill>
                <a:latin typeface="Reddit Sans"/>
                <a:ea typeface="Reddit Sans"/>
              </a:rPr>
              <a:t>Evolución del Valor</a:t>
            </a:r>
            <a:endParaRPr lang="es-ES"/>
          </a:p>
        </p:txBody>
      </p:sp>
      <p:sp>
        <p:nvSpPr>
          <p:cNvPr id="103" name="tx103"/>
          <p:cNvSpPr txBox="1"/>
          <p:nvPr/>
        </p:nvSpPr>
        <p:spPr>
          <a:xfrm>
            <a:off x="1234440" y="859536"/>
            <a:ext cx="128016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1F3A5B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04" name="tx104"/>
          <p:cNvSpPr txBox="1"/>
          <p:nvPr/>
        </p:nvSpPr>
        <p:spPr>
          <a:xfrm>
            <a:off x="960120" y="1115568"/>
            <a:ext cx="182880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Infraestructura</a:t>
            </a:r>
          </a:p>
        </p:txBody>
      </p:sp>
      <p:sp>
        <p:nvSpPr>
          <p:cNvPr id="105" name="sh105"/>
          <p:cNvSpPr/>
          <p:nvPr/>
        </p:nvSpPr>
        <p:spPr>
          <a:xfrm>
            <a:off x="1874520" y="896112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6" name="sh106"/>
          <p:cNvSpPr/>
          <p:nvPr/>
        </p:nvSpPr>
        <p:spPr>
          <a:xfrm>
            <a:off x="1874520" y="1005840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7" name="sh107"/>
          <p:cNvSpPr/>
          <p:nvPr/>
        </p:nvSpPr>
        <p:spPr>
          <a:xfrm>
            <a:off x="1874520" y="1115568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8" name="sh108"/>
          <p:cNvSpPr/>
          <p:nvPr/>
        </p:nvSpPr>
        <p:spPr>
          <a:xfrm>
            <a:off x="2542032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9" name="tx109"/>
          <p:cNvSpPr txBox="1"/>
          <p:nvPr/>
        </p:nvSpPr>
        <p:spPr>
          <a:xfrm>
            <a:off x="4138749" y="854094"/>
            <a:ext cx="605246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2E7E85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10" name="tx110"/>
          <p:cNvSpPr txBox="1"/>
          <p:nvPr/>
        </p:nvSpPr>
        <p:spPr>
          <a:xfrm>
            <a:off x="4042954" y="1115568"/>
            <a:ext cx="173736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Procesos</a:t>
            </a:r>
          </a:p>
        </p:txBody>
      </p:sp>
      <p:sp>
        <p:nvSpPr>
          <p:cNvPr id="111" name="sh111"/>
          <p:cNvSpPr/>
          <p:nvPr/>
        </p:nvSpPr>
        <p:spPr>
          <a:xfrm>
            <a:off x="4800600" y="877824"/>
            <a:ext cx="310896" cy="31089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2" name="sh112"/>
          <p:cNvSpPr/>
          <p:nvPr/>
        </p:nvSpPr>
        <p:spPr>
          <a:xfrm>
            <a:off x="5532120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4E9A3B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3" name="tx113"/>
          <p:cNvSpPr txBox="1"/>
          <p:nvPr/>
        </p:nvSpPr>
        <p:spPr>
          <a:xfrm>
            <a:off x="7113814" y="854094"/>
            <a:ext cx="804455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4E9A3B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14" name="tx114"/>
          <p:cNvSpPr txBox="1"/>
          <p:nvPr/>
        </p:nvSpPr>
        <p:spPr>
          <a:xfrm>
            <a:off x="6720840" y="1115568"/>
            <a:ext cx="19202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Conocimiento del negocio</a:t>
            </a:r>
          </a:p>
        </p:txBody>
      </p:sp>
      <p:sp>
        <p:nvSpPr>
          <p:cNvPr id="116" name="sh116"/>
          <p:cNvSpPr/>
          <p:nvPr/>
        </p:nvSpPr>
        <p:spPr>
          <a:xfrm>
            <a:off x="960120" y="2320747"/>
            <a:ext cx="7269480" cy="21946"/>
          </a:xfrm>
          <a:prstGeom prst="roundRect">
            <a:avLst>
              <a:gd name="adj" fmla="val 5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7" name="arrowtip"/>
          <p:cNvSpPr/>
          <p:nvPr/>
        </p:nvSpPr>
        <p:spPr>
          <a:xfrm>
            <a:off x="8193024" y="2281428"/>
            <a:ext cx="146304" cy="100584"/>
          </a:xfrm>
          <a:prstGeom prst="rightArrow">
            <a:avLst>
              <a:gd name="adj1" fmla="val 40000"/>
              <a:gd name="adj2" fmla="val 6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8" name="sh118"/>
          <p:cNvSpPr/>
          <p:nvPr/>
        </p:nvSpPr>
        <p:spPr>
          <a:xfrm>
            <a:off x="594360" y="1965960"/>
            <a:ext cx="731520" cy="731520"/>
          </a:xfrm>
          <a:prstGeom prst="ellipse">
            <a:avLst/>
          </a:prstGeom>
          <a:solidFill>
            <a:srgbClr val="78746B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19" name="sh119"/>
          <p:cNvSpPr/>
          <p:nvPr/>
        </p:nvSpPr>
        <p:spPr>
          <a:xfrm>
            <a:off x="1920240" y="1965960"/>
            <a:ext cx="731520" cy="731520"/>
          </a:xfrm>
          <a:prstGeom prst="ellipse">
            <a:avLst/>
          </a:prstGeom>
          <a:solidFill>
            <a:srgbClr val="2E7E85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20" name="sh120"/>
          <p:cNvSpPr/>
          <p:nvPr/>
        </p:nvSpPr>
        <p:spPr>
          <a:xfrm>
            <a:off x="3246120" y="1965960"/>
            <a:ext cx="731520" cy="731520"/>
          </a:xfrm>
          <a:prstGeom prst="ellipse">
            <a:avLst/>
          </a:prstGeom>
          <a:solidFill>
            <a:srgbClr val="A447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21" name="sh121"/>
          <p:cNvSpPr/>
          <p:nvPr/>
        </p:nvSpPr>
        <p:spPr>
          <a:xfrm>
            <a:off x="4572000" y="1965960"/>
            <a:ext cx="731520" cy="731520"/>
          </a:xfrm>
          <a:prstGeom prst="ellipse">
            <a:avLst/>
          </a:prstGeom>
          <a:solidFill>
            <a:srgbClr val="8B4357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22" name="sh122"/>
          <p:cNvSpPr/>
          <p:nvPr/>
        </p:nvSpPr>
        <p:spPr>
          <a:xfrm>
            <a:off x="5897880" y="1965960"/>
            <a:ext cx="731520" cy="731520"/>
          </a:xfrm>
          <a:prstGeom prst="ellipse">
            <a:avLst/>
          </a:prstGeom>
          <a:solidFill>
            <a:srgbClr val="D2A0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23" name="sh123"/>
          <p:cNvSpPr/>
          <p:nvPr/>
        </p:nvSpPr>
        <p:spPr>
          <a:xfrm>
            <a:off x="7452360" y="1965960"/>
            <a:ext cx="731520" cy="731520"/>
          </a:xfrm>
          <a:prstGeom prst="ellipse">
            <a:avLst/>
          </a:prstGeom>
          <a:solidFill>
            <a:srgbClr val="24406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AUTONO</a:t>
            </a:r>
          </a:p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MO</a:t>
            </a:r>
          </a:p>
        </p:txBody>
      </p:sp>
      <p:sp>
        <p:nvSpPr>
          <p:cNvPr id="124" name="tx124"/>
          <p:cNvSpPr txBox="1"/>
          <p:nvPr/>
        </p:nvSpPr>
        <p:spPr>
          <a:xfrm>
            <a:off x="320040" y="1572768"/>
            <a:ext cx="128016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5A6B7B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125" name="tx125"/>
          <p:cNvSpPr txBox="1"/>
          <p:nvPr/>
        </p:nvSpPr>
        <p:spPr>
          <a:xfrm>
            <a:off x="148154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2E7E85"/>
                </a:solidFill>
                <a:latin typeface="Reddit Sans"/>
                <a:ea typeface="Reddit Sans"/>
              </a:rPr>
              <a:t>Service </a:t>
            </a:r>
            <a:r>
              <a:rPr lang="es-ES" sz="900" b="1" err="1">
                <a:solidFill>
                  <a:srgbClr val="2E7E85"/>
                </a:solidFill>
                <a:latin typeface="Reddit Sans"/>
                <a:ea typeface="Reddit Sans"/>
              </a:rPr>
              <a:t>Desk</a:t>
            </a:r>
            <a:endParaRPr lang="es-ES" sz="900" b="1">
              <a:solidFill>
                <a:srgbClr val="2E7E85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ITIL v2/v3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2001–2007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126" name="tx126"/>
          <p:cNvSpPr txBox="1"/>
          <p:nvPr/>
        </p:nvSpPr>
        <p:spPr>
          <a:xfrm>
            <a:off x="413330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8B4357"/>
                </a:solidFill>
                <a:latin typeface="Reddit Sans"/>
                <a:ea typeface="Reddit Sans"/>
              </a:rPr>
              <a:t>Digital </a:t>
            </a:r>
            <a:r>
              <a:rPr lang="es-ES" sz="900" b="1" err="1">
                <a:solidFill>
                  <a:srgbClr val="8B4357"/>
                </a:solidFill>
                <a:latin typeface="Reddit Sans"/>
                <a:ea typeface="Reddit Sans"/>
              </a:rPr>
              <a:t>Workplace</a:t>
            </a:r>
            <a:endParaRPr lang="es-ES" sz="900" b="1">
              <a:solidFill>
                <a:srgbClr val="8B4357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2015–2020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NLP, 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Chatbot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27" name="tx127"/>
          <p:cNvSpPr txBox="1"/>
          <p:nvPr/>
        </p:nvSpPr>
        <p:spPr>
          <a:xfrm>
            <a:off x="7034349" y="1476974"/>
            <a:ext cx="160020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err="1">
                <a:solidFill>
                  <a:srgbClr val="24406A"/>
                </a:solidFill>
                <a:latin typeface="Reddit Sans"/>
                <a:ea typeface="Reddit Sans"/>
              </a:rPr>
              <a:t>Autonomo</a:t>
            </a:r>
            <a:endParaRPr lang="es-ES" sz="900" b="1">
              <a:solidFill>
                <a:srgbClr val="24406A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Service 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Desk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2023–2026+</a:t>
            </a:r>
          </a:p>
          <a:p>
            <a:pPr algn="ctr">
              <a:lnSpc>
                <a:spcPct val="95000"/>
              </a:lnSpc>
            </a:pP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Agentic</a:t>
            </a: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128" name="tx128"/>
          <p:cNvSpPr txBox="1"/>
          <p:nvPr/>
        </p:nvSpPr>
        <p:spPr>
          <a:xfrm>
            <a:off x="182880" y="2761488"/>
            <a:ext cx="15544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33383D"/>
                </a:solidFill>
                <a:latin typeface="Reddit Sans"/>
                <a:ea typeface="Reddit Sans"/>
              </a:rPr>
              <a:t>Help </a:t>
            </a:r>
            <a:r>
              <a:rPr lang="es-ES" sz="900" b="1" err="1">
                <a:solidFill>
                  <a:srgbClr val="33383D"/>
                </a:solidFill>
                <a:latin typeface="Reddit Sans"/>
                <a:ea typeface="Reddit Sans"/>
              </a:rPr>
              <a:t>Desk</a:t>
            </a:r>
            <a:endParaRPr lang="es-ES" sz="900" b="1">
              <a:solidFill>
                <a:srgbClr val="33383D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1970s–90s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129" name="tx129"/>
          <p:cNvSpPr txBox="1"/>
          <p:nvPr/>
        </p:nvSpPr>
        <p:spPr>
          <a:xfrm>
            <a:off x="2743200" y="2761488"/>
            <a:ext cx="173736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A4472A"/>
                </a:solidFill>
                <a:latin typeface="Reddit Sans"/>
                <a:ea typeface="Reddit Sans"/>
              </a:rPr>
              <a:t>Enterprise Service</a:t>
            </a:r>
          </a:p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A4472A"/>
                </a:solidFill>
                <a:latin typeface="Reddit Sans"/>
                <a:ea typeface="Reddit Sans"/>
              </a:rPr>
              <a:t>Management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2010–2016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130" name="tx130"/>
          <p:cNvSpPr txBox="1"/>
          <p:nvPr/>
        </p:nvSpPr>
        <p:spPr>
          <a:xfrm>
            <a:off x="5372100" y="2761488"/>
            <a:ext cx="17830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C08A1E"/>
                </a:solidFill>
                <a:latin typeface="Reddit Sans"/>
                <a:ea typeface="Reddit Sans"/>
              </a:rPr>
              <a:t>AITSM (Artificial </a:t>
            </a:r>
            <a:r>
              <a:rPr lang="es-ES" sz="900" b="1" err="1">
                <a:solidFill>
                  <a:srgbClr val="C08A1E"/>
                </a:solidFill>
                <a:latin typeface="Reddit Sans"/>
                <a:ea typeface="Reddit Sans"/>
              </a:rPr>
              <a:t>Intelligence</a:t>
            </a:r>
            <a:endParaRPr lang="es-ES" sz="900" b="1">
              <a:solidFill>
                <a:srgbClr val="C08A1E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900" b="1" err="1">
                <a:solidFill>
                  <a:srgbClr val="C08A1E"/>
                </a:solidFill>
                <a:latin typeface="Reddit Sans"/>
                <a:ea typeface="Reddit Sans"/>
              </a:rPr>
              <a:t>for</a:t>
            </a:r>
            <a:r>
              <a:rPr lang="es-ES" sz="900" b="1">
                <a:solidFill>
                  <a:srgbClr val="C08A1E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2020–2023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AI-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Augmented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GenAI · 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AIOps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31" name="sh131"/>
          <p:cNvSpPr/>
          <p:nvPr/>
        </p:nvSpPr>
        <p:spPr>
          <a:xfrm>
            <a:off x="609601" y="3447939"/>
            <a:ext cx="5613543" cy="1075074"/>
          </a:xfrm>
          <a:prstGeom prst="roundRect">
            <a:avLst>
              <a:gd name="adj" fmla="val 8000"/>
            </a:avLst>
          </a:prstGeom>
          <a:ln w="1270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4" name="tx134"/>
          <p:cNvSpPr txBox="1"/>
          <p:nvPr/>
        </p:nvSpPr>
        <p:spPr>
          <a:xfrm>
            <a:off x="1395548" y="3522617"/>
            <a:ext cx="2834640" cy="38404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La evolución de la mesa no es hacia más tickets. </a:t>
            </a:r>
          </a:p>
          <a:p>
            <a:pPr algn="l">
              <a:lnSpc>
                <a:spcPct val="95000"/>
              </a:lnSpc>
            </a:pPr>
            <a:r>
              <a:rPr lang="es-ES" sz="900" b="1">
                <a:solidFill>
                  <a:schemeClr val="accent5"/>
                </a:solidFill>
                <a:latin typeface="Reddit Sans"/>
                <a:ea typeface="Reddit Sans"/>
              </a:rPr>
              <a:t>Es hacia más conocimiento del negocio</a:t>
            </a: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35" name="sh135"/>
          <p:cNvSpPr/>
          <p:nvPr/>
        </p:nvSpPr>
        <p:spPr>
          <a:xfrm>
            <a:off x="1002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6" name="tx136"/>
          <p:cNvSpPr txBox="1"/>
          <p:nvPr/>
        </p:nvSpPr>
        <p:spPr>
          <a:xfrm>
            <a:off x="728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37" name="tx137"/>
          <p:cNvSpPr txBox="1"/>
          <p:nvPr/>
        </p:nvSpPr>
        <p:spPr>
          <a:xfrm>
            <a:off x="609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tecnología</a:t>
            </a:r>
          </a:p>
        </p:txBody>
      </p:sp>
      <p:cxnSp>
        <p:nvCxnSpPr>
          <p:cNvPr id="138" name="cx138"/>
          <p:cNvCxnSpPr/>
          <p:nvPr/>
        </p:nvCxnSpPr>
        <p:spPr>
          <a:xfrm>
            <a:off x="1280813" y="4091723"/>
            <a:ext cx="817300" cy="0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39" name="sh139"/>
          <p:cNvSpPr/>
          <p:nvPr/>
        </p:nvSpPr>
        <p:spPr>
          <a:xfrm>
            <a:off x="2145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0" name="tx140"/>
          <p:cNvSpPr txBox="1"/>
          <p:nvPr/>
        </p:nvSpPr>
        <p:spPr>
          <a:xfrm>
            <a:off x="1871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41" name="tx141"/>
          <p:cNvSpPr txBox="1"/>
          <p:nvPr/>
        </p:nvSpPr>
        <p:spPr>
          <a:xfrm>
            <a:off x="1752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procesos</a:t>
            </a:r>
          </a:p>
        </p:txBody>
      </p:sp>
      <p:cxnSp>
        <p:nvCxnSpPr>
          <p:cNvPr id="142" name="cx142"/>
          <p:cNvCxnSpPr/>
          <p:nvPr/>
        </p:nvCxnSpPr>
        <p:spPr>
          <a:xfrm flipV="1">
            <a:off x="2461912" y="4091723"/>
            <a:ext cx="828186" cy="5442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43" name="sh143"/>
          <p:cNvSpPr/>
          <p:nvPr/>
        </p:nvSpPr>
        <p:spPr>
          <a:xfrm>
            <a:off x="3288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4" name="tx144"/>
          <p:cNvSpPr txBox="1"/>
          <p:nvPr/>
        </p:nvSpPr>
        <p:spPr>
          <a:xfrm>
            <a:off x="3014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45" name="tx145"/>
          <p:cNvSpPr txBox="1"/>
          <p:nvPr/>
        </p:nvSpPr>
        <p:spPr>
          <a:xfrm>
            <a:off x="2895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conocimiento y valor</a:t>
            </a:r>
          </a:p>
        </p:txBody>
      </p:sp>
      <p:sp>
        <p:nvSpPr>
          <p:cNvPr id="146" name="sh146"/>
          <p:cNvSpPr/>
          <p:nvPr/>
        </p:nvSpPr>
        <p:spPr>
          <a:xfrm>
            <a:off x="4353197" y="3496927"/>
            <a:ext cx="1832064" cy="971657"/>
          </a:xfrm>
          <a:prstGeom prst="roundRect">
            <a:avLst>
              <a:gd name="adj" fmla="val 8000"/>
            </a:avLst>
          </a:prstGeom>
          <a:solidFill>
            <a:srgbClr val="FBFCFD"/>
          </a:solidFill>
          <a:ln w="9525">
            <a:solidFill>
              <a:srgbClr val="DCE1E6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0" name="tx150"/>
          <p:cNvSpPr txBox="1"/>
          <p:nvPr/>
        </p:nvSpPr>
        <p:spPr>
          <a:xfrm>
            <a:off x="4934494" y="3557669"/>
            <a:ext cx="118872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KCS + IA habilita el salto final:</a:t>
            </a:r>
          </a:p>
        </p:txBody>
      </p:sp>
      <p:sp>
        <p:nvSpPr>
          <p:cNvPr id="151" name="tx151"/>
          <p:cNvSpPr txBox="1"/>
          <p:nvPr/>
        </p:nvSpPr>
        <p:spPr>
          <a:xfrm>
            <a:off x="4477294" y="4078877"/>
            <a:ext cx="1627632" cy="4114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850">
                <a:solidFill>
                  <a:srgbClr val="4E9A3B"/>
                </a:solidFill>
                <a:latin typeface="Reddit Sans"/>
                <a:ea typeface="Reddit Sans"/>
              </a:rPr>
              <a:t>de soporte operativo a experto en el negocio del cliente.</a:t>
            </a:r>
          </a:p>
        </p:txBody>
      </p:sp>
      <p:sp>
        <p:nvSpPr>
          <p:cNvPr id="152" name="sh152"/>
          <p:cNvSpPr/>
          <p:nvPr/>
        </p:nvSpPr>
        <p:spPr>
          <a:xfrm>
            <a:off x="7031300" y="2903656"/>
            <a:ext cx="1709711" cy="166834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6AA84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4" name="tx154"/>
          <p:cNvSpPr txBox="1"/>
          <p:nvPr/>
        </p:nvSpPr>
        <p:spPr>
          <a:xfrm>
            <a:off x="7585165" y="3049526"/>
            <a:ext cx="1325881" cy="3500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 b="1">
                <a:solidFill>
                  <a:srgbClr val="1F5FA6"/>
                </a:solidFill>
                <a:latin typeface="Reddit Sans"/>
                <a:ea typeface="Reddit Sans"/>
              </a:rPr>
              <a:t>KCS + IA</a:t>
            </a:r>
          </a:p>
        </p:txBody>
      </p:sp>
      <p:sp>
        <p:nvSpPr>
          <p:cNvPr id="155" name="tx155"/>
          <p:cNvSpPr txBox="1"/>
          <p:nvPr/>
        </p:nvSpPr>
        <p:spPr>
          <a:xfrm>
            <a:off x="7525293" y="3245250"/>
            <a:ext cx="1325881" cy="32091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50" b="1">
                <a:solidFill>
                  <a:srgbClr val="4E9A3B"/>
                </a:solidFill>
                <a:latin typeface="Reddit Sans"/>
                <a:ea typeface="Reddit Sans"/>
              </a:rPr>
              <a:t>Servicio Centrado en el conocimiento + IA</a:t>
            </a:r>
          </a:p>
        </p:txBody>
      </p:sp>
      <p:sp>
        <p:nvSpPr>
          <p:cNvPr id="156" name="sh156"/>
          <p:cNvSpPr/>
          <p:nvPr/>
        </p:nvSpPr>
        <p:spPr>
          <a:xfrm>
            <a:off x="7119474" y="3528278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7" name="chk157"/>
          <p:cNvSpPr/>
          <p:nvPr/>
        </p:nvSpPr>
        <p:spPr>
          <a:xfrm>
            <a:off x="7142334" y="3578352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8" name="tx158"/>
          <p:cNvSpPr txBox="1"/>
          <p:nvPr/>
        </p:nvSpPr>
        <p:spPr>
          <a:xfrm>
            <a:off x="7289509" y="3533287"/>
            <a:ext cx="1478498" cy="2412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Entiende procesos y contexto del negocio</a:t>
            </a:r>
          </a:p>
        </p:txBody>
      </p:sp>
      <p:sp>
        <p:nvSpPr>
          <p:cNvPr id="159" name="sh159"/>
          <p:cNvSpPr/>
          <p:nvPr/>
        </p:nvSpPr>
        <p:spPr>
          <a:xfrm>
            <a:off x="7124917" y="3795196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0" name="chk160"/>
          <p:cNvSpPr/>
          <p:nvPr/>
        </p:nvSpPr>
        <p:spPr>
          <a:xfrm>
            <a:off x="7147777" y="3845270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1" name="tx161"/>
          <p:cNvSpPr txBox="1"/>
          <p:nvPr/>
        </p:nvSpPr>
        <p:spPr>
          <a:xfrm>
            <a:off x="7289509" y="3811090"/>
            <a:ext cx="1478498" cy="1595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Aprende continuamente</a:t>
            </a:r>
          </a:p>
        </p:txBody>
      </p:sp>
      <p:sp>
        <p:nvSpPr>
          <p:cNvPr id="164" name="tx164"/>
          <p:cNvSpPr txBox="1"/>
          <p:nvPr/>
        </p:nvSpPr>
        <p:spPr>
          <a:xfrm>
            <a:off x="7289509" y="4023580"/>
            <a:ext cx="1478498" cy="1269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167" name="tx167"/>
          <p:cNvSpPr txBox="1"/>
          <p:nvPr/>
        </p:nvSpPr>
        <p:spPr>
          <a:xfrm>
            <a:off x="7289509" y="4257839"/>
            <a:ext cx="1478498" cy="214012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Genera insights que impulsan decisiones del negocio</a:t>
            </a:r>
          </a:p>
        </p:txBody>
      </p:sp>
      <p:sp>
        <p:nvSpPr>
          <p:cNvPr id="19" name="sh156">
            <a:extLst>
              <a:ext uri="{FF2B5EF4-FFF2-40B4-BE49-F238E27FC236}">
                <a16:creationId xmlns:a16="http://schemas.microsoft.com/office/drawing/2014/main" id="{67FC85B7-0471-BD57-0EEA-926B6D7E11AF}"/>
              </a:ext>
            </a:extLst>
          </p:cNvPr>
          <p:cNvSpPr/>
          <p:nvPr/>
        </p:nvSpPr>
        <p:spPr>
          <a:xfrm>
            <a:off x="7130360" y="4018135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8" name="chk157">
            <a:extLst>
              <a:ext uri="{FF2B5EF4-FFF2-40B4-BE49-F238E27FC236}">
                <a16:creationId xmlns:a16="http://schemas.microsoft.com/office/drawing/2014/main" id="{CA5CD075-26E9-7525-F97B-27B4E6CC5599}"/>
              </a:ext>
            </a:extLst>
          </p:cNvPr>
          <p:cNvSpPr/>
          <p:nvPr/>
        </p:nvSpPr>
        <p:spPr>
          <a:xfrm>
            <a:off x="7153220" y="4068209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9" name="sh156">
            <a:extLst>
              <a:ext uri="{FF2B5EF4-FFF2-40B4-BE49-F238E27FC236}">
                <a16:creationId xmlns:a16="http://schemas.microsoft.com/office/drawing/2014/main" id="{6878BAD3-69E3-D4B4-B264-E00658969181}"/>
              </a:ext>
            </a:extLst>
          </p:cNvPr>
          <p:cNvSpPr/>
          <p:nvPr/>
        </p:nvSpPr>
        <p:spPr>
          <a:xfrm>
            <a:off x="7135802" y="4263063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" name="chk157">
            <a:extLst>
              <a:ext uri="{FF2B5EF4-FFF2-40B4-BE49-F238E27FC236}">
                <a16:creationId xmlns:a16="http://schemas.microsoft.com/office/drawing/2014/main" id="{5D929F3B-7B25-48A0-1401-0F9689F8E439}"/>
              </a:ext>
            </a:extLst>
          </p:cNvPr>
          <p:cNvSpPr/>
          <p:nvPr/>
        </p:nvSpPr>
        <p:spPr>
          <a:xfrm>
            <a:off x="7158662" y="4313137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C56E2FE0-0F1A-F310-964C-B93592B0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1" y="200392"/>
            <a:ext cx="4232270" cy="349543"/>
          </a:xfrm>
        </p:spPr>
        <p:txBody>
          <a:bodyPr>
            <a:noAutofit/>
          </a:bodyPr>
          <a:lstStyle/>
          <a:p>
            <a:r>
              <a:rPr lang="es-ES" sz="1700"/>
              <a:t>Evolución de las Mesas de Servicio</a:t>
            </a:r>
          </a:p>
        </p:txBody>
      </p:sp>
      <p:pic>
        <p:nvPicPr>
          <p:cNvPr id="36" name="Gráfico 35" descr="Cerebro izquierdo y derecho contorno">
            <a:extLst>
              <a:ext uri="{FF2B5EF4-FFF2-40B4-BE49-F238E27FC236}">
                <a16:creationId xmlns:a16="http://schemas.microsoft.com/office/drawing/2014/main" id="{9532999D-ADD0-70CE-B18B-F8759E9FE0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5235" y="808264"/>
            <a:ext cx="391887" cy="391887"/>
          </a:xfrm>
          <a:prstGeom prst="rect">
            <a:avLst/>
          </a:prstGeom>
        </p:spPr>
      </p:pic>
      <p:pic>
        <p:nvPicPr>
          <p:cNvPr id="37" name="Gráfico 36" descr="Cerebro izquierdo y derecho contorno">
            <a:extLst>
              <a:ext uri="{FF2B5EF4-FFF2-40B4-BE49-F238E27FC236}">
                <a16:creationId xmlns:a16="http://schemas.microsoft.com/office/drawing/2014/main" id="{111C11F9-F362-DA76-330D-395349C0C8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4763" y="3007178"/>
            <a:ext cx="391887" cy="391887"/>
          </a:xfrm>
          <a:prstGeom prst="rect">
            <a:avLst/>
          </a:prstGeom>
        </p:spPr>
      </p:pic>
      <p:pic>
        <p:nvPicPr>
          <p:cNvPr id="38" name="Gráfico 37" descr="Cerebro izquierdo y derecho contorno">
            <a:extLst>
              <a:ext uri="{FF2B5EF4-FFF2-40B4-BE49-F238E27FC236}">
                <a16:creationId xmlns:a16="http://schemas.microsoft.com/office/drawing/2014/main" id="{BDD95D7E-1F97-6F11-FEC3-910C23238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82042" y="3959679"/>
            <a:ext cx="266701" cy="266701"/>
          </a:xfrm>
          <a:prstGeom prst="rect">
            <a:avLst/>
          </a:prstGeom>
        </p:spPr>
      </p:pic>
      <p:sp>
        <p:nvSpPr>
          <p:cNvPr id="42" name="sh105">
            <a:extLst>
              <a:ext uri="{FF2B5EF4-FFF2-40B4-BE49-F238E27FC236}">
                <a16:creationId xmlns:a16="http://schemas.microsoft.com/office/drawing/2014/main" id="{F37F5088-1162-15C7-BE90-D6E46E9C99A9}"/>
              </a:ext>
            </a:extLst>
          </p:cNvPr>
          <p:cNvSpPr/>
          <p:nvPr/>
        </p:nvSpPr>
        <p:spPr>
          <a:xfrm>
            <a:off x="1058090" y="3998541"/>
            <a:ext cx="160020" cy="47898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3" name="sh106">
            <a:extLst>
              <a:ext uri="{FF2B5EF4-FFF2-40B4-BE49-F238E27FC236}">
                <a16:creationId xmlns:a16="http://schemas.microsoft.com/office/drawing/2014/main" id="{9ED5DA7E-48A9-2DD6-2766-B56A15E5B616}"/>
              </a:ext>
            </a:extLst>
          </p:cNvPr>
          <p:cNvSpPr/>
          <p:nvPr/>
        </p:nvSpPr>
        <p:spPr>
          <a:xfrm>
            <a:off x="1058090" y="4059283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4" name="sh107">
            <a:extLst>
              <a:ext uri="{FF2B5EF4-FFF2-40B4-BE49-F238E27FC236}">
                <a16:creationId xmlns:a16="http://schemas.microsoft.com/office/drawing/2014/main" id="{E4C56738-86C2-D18A-E718-4C02C6A6A7F2}"/>
              </a:ext>
            </a:extLst>
          </p:cNvPr>
          <p:cNvSpPr/>
          <p:nvPr/>
        </p:nvSpPr>
        <p:spPr>
          <a:xfrm>
            <a:off x="1058090" y="4120025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sh111">
            <a:extLst>
              <a:ext uri="{FF2B5EF4-FFF2-40B4-BE49-F238E27FC236}">
                <a16:creationId xmlns:a16="http://schemas.microsoft.com/office/drawing/2014/main" id="{206352A0-CD8E-6A64-6B7A-DA9F38054DD7}"/>
              </a:ext>
            </a:extLst>
          </p:cNvPr>
          <p:cNvSpPr/>
          <p:nvPr/>
        </p:nvSpPr>
        <p:spPr>
          <a:xfrm>
            <a:off x="2193471" y="3996580"/>
            <a:ext cx="191154" cy="21292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47" name="Gráfico 46" descr="Diana con relleno sólido">
            <a:extLst>
              <a:ext uri="{FF2B5EF4-FFF2-40B4-BE49-F238E27FC236}">
                <a16:creationId xmlns:a16="http://schemas.microsoft.com/office/drawing/2014/main" id="{994BC6AB-3A9E-A40D-1607-2813104FB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2065" y="3524248"/>
            <a:ext cx="342902" cy="342902"/>
          </a:xfrm>
          <a:prstGeom prst="rect">
            <a:avLst/>
          </a:prstGeom>
        </p:spPr>
      </p:pic>
      <p:grpSp>
        <p:nvGrpSpPr>
          <p:cNvPr id="50" name="Grupo 49">
            <a:extLst>
              <a:ext uri="{FF2B5EF4-FFF2-40B4-BE49-F238E27FC236}">
                <a16:creationId xmlns:a16="http://schemas.microsoft.com/office/drawing/2014/main" id="{55C920BB-F812-1854-93FD-AEB99B45AEE6}"/>
              </a:ext>
            </a:extLst>
          </p:cNvPr>
          <p:cNvGrpSpPr/>
          <p:nvPr/>
        </p:nvGrpSpPr>
        <p:grpSpPr>
          <a:xfrm>
            <a:off x="882799" y="3528677"/>
            <a:ext cx="337458" cy="315688"/>
            <a:chOff x="180670" y="2821106"/>
            <a:chExt cx="435429" cy="408215"/>
          </a:xfrm>
        </p:grpSpPr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06F0B3BA-0715-48B0-715F-7F094B2C4C98}"/>
                </a:ext>
              </a:extLst>
            </p:cNvPr>
            <p:cNvSpPr/>
            <p:nvPr/>
          </p:nvSpPr>
          <p:spPr>
            <a:xfrm>
              <a:off x="180670" y="2821106"/>
              <a:ext cx="435429" cy="408215"/>
            </a:xfrm>
            <a:prstGeom prst="ellipse">
              <a:avLst/>
            </a:prstGeom>
            <a:noFill/>
            <a:ln w="127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48" name="Gráfico 47" descr="Usuarios contorno">
              <a:extLst>
                <a:ext uri="{FF2B5EF4-FFF2-40B4-BE49-F238E27FC236}">
                  <a16:creationId xmlns:a16="http://schemas.microsoft.com/office/drawing/2014/main" id="{5B3FD962-1B8A-5DFC-1929-1EFA44420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9487" y="2838450"/>
              <a:ext cx="321132" cy="3211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67911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504ED-8B97-81B2-4F4C-21B23196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/>
              <a:t>7 Tendencias que definen el mercado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914D8E-EF4F-E49C-D425-6F1DA6C85EAE}"/>
              </a:ext>
            </a:extLst>
          </p:cNvPr>
          <p:cNvSpPr/>
          <p:nvPr/>
        </p:nvSpPr>
        <p:spPr>
          <a:xfrm>
            <a:off x="329974" y="1177869"/>
            <a:ext cx="2000250" cy="1577408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B283EB-57A8-42D5-CE59-F1D70F74631A}"/>
              </a:ext>
            </a:extLst>
          </p:cNvPr>
          <p:cNvSpPr/>
          <p:nvPr/>
        </p:nvSpPr>
        <p:spPr>
          <a:xfrm>
            <a:off x="544286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140BA4D-F980-4124-1CF0-2198CE56A45B}"/>
              </a:ext>
            </a:extLst>
          </p:cNvPr>
          <p:cNvSpPr/>
          <p:nvPr/>
        </p:nvSpPr>
        <p:spPr>
          <a:xfrm>
            <a:off x="544286" y="1686839"/>
            <a:ext cx="1856817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modelos de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lenguaje para la automatización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creativa y analítica.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129B338D-5614-647D-E3E6-D2E11960480B}"/>
              </a:ext>
            </a:extLst>
          </p:cNvPr>
          <p:cNvSpPr/>
          <p:nvPr/>
        </p:nvSpPr>
        <p:spPr>
          <a:xfrm>
            <a:off x="106220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0" descr="-250ad3de.png">
            <a:extLst>
              <a:ext uri="{FF2B5EF4-FFF2-40B4-BE49-F238E27FC236}">
                <a16:creationId xmlns:a16="http://schemas.microsoft.com/office/drawing/2014/main" id="{B69AE644-2A42-B766-51B8-70F60D0D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296" y="1046016"/>
            <a:ext cx="350044" cy="292894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5E70DEB-F9B2-1D78-1292-7BE533CE32D9}"/>
              </a:ext>
            </a:extLst>
          </p:cNvPr>
          <p:cNvSpPr/>
          <p:nvPr/>
        </p:nvSpPr>
        <p:spPr>
          <a:xfrm>
            <a:off x="2473099" y="1177869"/>
            <a:ext cx="2000250" cy="1577408"/>
          </a:xfrm>
          <a:prstGeom prst="rect">
            <a:avLst/>
          </a:prstGeom>
          <a:solidFill>
            <a:srgbClr val="1F9CD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9B0020B-9630-E782-722E-3CEB80025705}"/>
              </a:ext>
            </a:extLst>
          </p:cNvPr>
          <p:cNvSpPr/>
          <p:nvPr/>
        </p:nvSpPr>
        <p:spPr>
          <a:xfrm>
            <a:off x="268741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Agentic 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48E31E9-9B04-0A0E-1EB2-562A6D4B5520}"/>
              </a:ext>
            </a:extLst>
          </p:cNvPr>
          <p:cNvSpPr/>
          <p:nvPr/>
        </p:nvSpPr>
        <p:spPr>
          <a:xfrm>
            <a:off x="268741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sistemas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 capaces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ejecutar procesos complejos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 intervención humana.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4494A8F9-2CA1-EE94-50DD-07B6319B31F7}"/>
              </a:ext>
            </a:extLst>
          </p:cNvPr>
          <p:cNvSpPr/>
          <p:nvPr/>
        </p:nvSpPr>
        <p:spPr>
          <a:xfrm>
            <a:off x="320533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719bd22.png">
            <a:extLst>
              <a:ext uri="{FF2B5EF4-FFF2-40B4-BE49-F238E27FC236}">
                <a16:creationId xmlns:a16="http://schemas.microsoft.com/office/drawing/2014/main" id="{3F0F8949-CEF4-3624-F5AE-3799455C0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5093" y="1058572"/>
            <a:ext cx="271463" cy="242888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1A331B34-3EDC-F8F7-950A-E16FB0391DB2}"/>
              </a:ext>
            </a:extLst>
          </p:cNvPr>
          <p:cNvSpPr/>
          <p:nvPr/>
        </p:nvSpPr>
        <p:spPr>
          <a:xfrm>
            <a:off x="4616224" y="1177869"/>
            <a:ext cx="2000250" cy="1577408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DE1921A-6D04-7054-5B36-D540BA7EF308}"/>
              </a:ext>
            </a:extLst>
          </p:cNvPr>
          <p:cNvSpPr/>
          <p:nvPr/>
        </p:nvSpPr>
        <p:spPr>
          <a:xfrm>
            <a:off x="4830536" y="1470964"/>
            <a:ext cx="1785938" cy="3422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KCS (Knowledge</a:t>
            </a:r>
            <a:b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Centered Service)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9878086-71B8-D5D4-C28C-28BED7DAF15C}"/>
              </a:ext>
            </a:extLst>
          </p:cNvPr>
          <p:cNvSpPr/>
          <p:nvPr/>
        </p:nvSpPr>
        <p:spPr>
          <a:xfrm>
            <a:off x="4830536" y="1857953"/>
            <a:ext cx="178593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Maximización del valor del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 en la resolución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incidencias.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62E42AE-F2EA-E4AB-4C57-AF5C20E60CB7}"/>
              </a:ext>
            </a:extLst>
          </p:cNvPr>
          <p:cNvSpPr/>
          <p:nvPr/>
        </p:nvSpPr>
        <p:spPr>
          <a:xfrm>
            <a:off x="534845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0016b4a2.png">
            <a:extLst>
              <a:ext uri="{FF2B5EF4-FFF2-40B4-BE49-F238E27FC236}">
                <a16:creationId xmlns:a16="http://schemas.microsoft.com/office/drawing/2014/main" id="{1D6E04B2-8B63-78D6-9D55-1E6D92951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2168" y="1058573"/>
            <a:ext cx="185738" cy="242888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D4162BD6-CC4C-6409-52B4-AD0C1344ED64}"/>
              </a:ext>
            </a:extLst>
          </p:cNvPr>
          <p:cNvSpPr/>
          <p:nvPr/>
        </p:nvSpPr>
        <p:spPr>
          <a:xfrm>
            <a:off x="6759349" y="1177869"/>
            <a:ext cx="2000250" cy="1577408"/>
          </a:xfrm>
          <a:prstGeom prst="rect">
            <a:avLst/>
          </a:prstGeom>
          <a:solidFill>
            <a:srgbClr val="1A80B3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A8919F73-7DAD-D929-DD8E-4444AF5D4FB0}"/>
              </a:ext>
            </a:extLst>
          </p:cNvPr>
          <p:cNvSpPr/>
          <p:nvPr/>
        </p:nvSpPr>
        <p:spPr>
          <a:xfrm>
            <a:off x="697366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Shift-Left</a:t>
            </a:r>
            <a:endParaRPr lang="en-US" sz="1150" kern="0" spc="-7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8D368FF9-9D8F-56EF-7E1D-19F517A0F602}"/>
              </a:ext>
            </a:extLst>
          </p:cNvPr>
          <p:cNvSpPr/>
          <p:nvPr/>
        </p:nvSpPr>
        <p:spPr>
          <a:xfrm>
            <a:off x="697366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Estrategia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trasladar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la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resolución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problemas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etapas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temprana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 o al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s-E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Para anticipar, automatizar y resolver. </a:t>
            </a:r>
            <a:endParaRPr lang="en-US" sz="900" kern="0" spc="-18">
              <a:solidFill>
                <a:srgbClr val="FFFFFF">
                  <a:alpha val="80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FBF9F1F8-8EF8-9FDC-4671-08D01B901A07}"/>
              </a:ext>
            </a:extLst>
          </p:cNvPr>
          <p:cNvSpPr/>
          <p:nvPr/>
        </p:nvSpPr>
        <p:spPr>
          <a:xfrm>
            <a:off x="749158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01f2aa22.png">
            <a:extLst>
              <a:ext uri="{FF2B5EF4-FFF2-40B4-BE49-F238E27FC236}">
                <a16:creationId xmlns:a16="http://schemas.microsoft.com/office/drawing/2014/main" id="{D6F53355-D8DC-9F6D-10CF-C1B3B891E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317" y="1086864"/>
            <a:ext cx="221456" cy="192881"/>
          </a:xfrm>
          <a:prstGeom prst="rect">
            <a:avLst/>
          </a:prstGeom>
        </p:spPr>
      </p:pic>
      <p:sp>
        <p:nvSpPr>
          <p:cNvPr id="44" name="Shape 18">
            <a:extLst>
              <a:ext uri="{FF2B5EF4-FFF2-40B4-BE49-F238E27FC236}">
                <a16:creationId xmlns:a16="http://schemas.microsoft.com/office/drawing/2014/main" id="{81737293-8CAF-169F-7774-5574CAB89C32}"/>
              </a:ext>
            </a:extLst>
          </p:cNvPr>
          <p:cNvSpPr/>
          <p:nvPr/>
        </p:nvSpPr>
        <p:spPr>
          <a:xfrm>
            <a:off x="329974" y="3056504"/>
            <a:ext cx="2714625" cy="1435894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020F63A-F911-8F36-EA07-8CC6B000F0CA}"/>
              </a:ext>
            </a:extLst>
          </p:cNvPr>
          <p:cNvSpPr/>
          <p:nvPr/>
        </p:nvSpPr>
        <p:spPr>
          <a:xfrm>
            <a:off x="544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</a:rPr>
              <a:t>De SLA  a Outcomes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9306C6FE-541D-EC45-829C-43F54F164A86}"/>
              </a:ext>
            </a:extLst>
          </p:cNvPr>
          <p:cNvSpPr/>
          <p:nvPr/>
        </p:nvSpPr>
        <p:spPr>
          <a:xfrm>
            <a:off x="544286" y="3652560"/>
            <a:ext cx="2500313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orientado a resultados de negocio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tangibles más que a la mera entrega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3381207-CB2F-887C-8F55-E7829979166C}"/>
              </a:ext>
            </a:extLst>
          </p:cNvPr>
          <p:cNvSpPr/>
          <p:nvPr/>
        </p:nvSpPr>
        <p:spPr>
          <a:xfrm>
            <a:off x="1419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2" name="Image 4" descr="-327b961e.png">
            <a:extLst>
              <a:ext uri="{FF2B5EF4-FFF2-40B4-BE49-F238E27FC236}">
                <a16:creationId xmlns:a16="http://schemas.microsoft.com/office/drawing/2014/main" id="{385C9FAC-1EAE-4F2C-78FC-347EE93075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0548" y="2965462"/>
            <a:ext cx="214313" cy="178594"/>
          </a:xfrm>
          <a:prstGeom prst="rect">
            <a:avLst/>
          </a:prstGeom>
        </p:spPr>
      </p:pic>
      <p:sp>
        <p:nvSpPr>
          <p:cNvPr id="54" name="Shape 22">
            <a:extLst>
              <a:ext uri="{FF2B5EF4-FFF2-40B4-BE49-F238E27FC236}">
                <a16:creationId xmlns:a16="http://schemas.microsoft.com/office/drawing/2014/main" id="{823B772D-821C-8266-2E30-C973A89E2810}"/>
              </a:ext>
            </a:extLst>
          </p:cNvPr>
          <p:cNvSpPr/>
          <p:nvPr/>
        </p:nvSpPr>
        <p:spPr>
          <a:xfrm>
            <a:off x="3187474" y="3056504"/>
            <a:ext cx="2714625" cy="1435894"/>
          </a:xfrm>
          <a:prstGeom prst="rect">
            <a:avLst/>
          </a:prstGeom>
          <a:solidFill>
            <a:srgbClr val="14638B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AFE3D3EA-0E11-55F8-EB0A-B9BC9EDDE1DE}"/>
              </a:ext>
            </a:extLst>
          </p:cNvPr>
          <p:cNvSpPr/>
          <p:nvPr/>
        </p:nvSpPr>
        <p:spPr>
          <a:xfrm>
            <a:off x="34017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Observabilidad predictiva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E6251BF-E52F-C8C2-CF80-4D95449F579A}"/>
              </a:ext>
            </a:extLst>
          </p:cNvPr>
          <p:cNvSpPr/>
          <p:nvPr/>
        </p:nvSpPr>
        <p:spPr>
          <a:xfrm>
            <a:off x="3401787" y="3652561"/>
            <a:ext cx="2568959" cy="3125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Uso de análisis avanzado para prevenir fallos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antes de que afecten al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AD745265-C508-4540-E17D-28FB8AC17B20}"/>
              </a:ext>
            </a:extLst>
          </p:cNvPr>
          <p:cNvSpPr/>
          <p:nvPr/>
        </p:nvSpPr>
        <p:spPr>
          <a:xfrm>
            <a:off x="42768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E435E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62" name="Image 5" descr="53d78b62.png">
            <a:extLst>
              <a:ext uri="{FF2B5EF4-FFF2-40B4-BE49-F238E27FC236}">
                <a16:creationId xmlns:a16="http://schemas.microsoft.com/office/drawing/2014/main" id="{2243BDA0-3EE6-B4D8-E202-6A592148B6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2934" y="2971741"/>
            <a:ext cx="271463" cy="171450"/>
          </a:xfrm>
          <a:prstGeom prst="rect">
            <a:avLst/>
          </a:prstGeom>
        </p:spPr>
      </p:pic>
      <p:sp>
        <p:nvSpPr>
          <p:cNvPr id="64" name="Shape 26">
            <a:extLst>
              <a:ext uri="{FF2B5EF4-FFF2-40B4-BE49-F238E27FC236}">
                <a16:creationId xmlns:a16="http://schemas.microsoft.com/office/drawing/2014/main" id="{B77E5D54-B14F-B6EC-AB4F-43CD1959D409}"/>
              </a:ext>
            </a:extLst>
          </p:cNvPr>
          <p:cNvSpPr/>
          <p:nvPr/>
        </p:nvSpPr>
        <p:spPr>
          <a:xfrm>
            <a:off x="6044974" y="3056504"/>
            <a:ext cx="2714625" cy="1435894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AC13772-6B2B-1805-9F2C-BE7527D8F87D}"/>
              </a:ext>
            </a:extLst>
          </p:cNvPr>
          <p:cNvSpPr/>
          <p:nvPr/>
        </p:nvSpPr>
        <p:spPr>
          <a:xfrm>
            <a:off x="6259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ITIL v5 y </a:t>
            </a:r>
            <a:r>
              <a:rPr lang="en-US" sz="1150" kern="0" spc="-7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gobernanza</a:t>
            </a: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de 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6BD73C05-F811-6AF0-FFFA-E66F7E23F43B}"/>
              </a:ext>
            </a:extLst>
          </p:cNvPr>
          <p:cNvSpPr/>
          <p:nvPr/>
        </p:nvSpPr>
        <p:spPr>
          <a:xfrm>
            <a:off x="6259286" y="3652560"/>
            <a:ext cx="260947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de las mejores prácticas en gestión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servicios TI hacia la agilidad y la entrega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0" name="Shape 29">
            <a:extLst>
              <a:ext uri="{FF2B5EF4-FFF2-40B4-BE49-F238E27FC236}">
                <a16:creationId xmlns:a16="http://schemas.microsoft.com/office/drawing/2014/main" id="{E94EB440-EC53-083D-BFC4-1EE5C94A2D2B}"/>
              </a:ext>
            </a:extLst>
          </p:cNvPr>
          <p:cNvSpPr/>
          <p:nvPr/>
        </p:nvSpPr>
        <p:spPr>
          <a:xfrm>
            <a:off x="7134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72" name="Image 6" descr="-41d531de.png">
            <a:extLst>
              <a:ext uri="{FF2B5EF4-FFF2-40B4-BE49-F238E27FC236}">
                <a16:creationId xmlns:a16="http://schemas.microsoft.com/office/drawing/2014/main" id="{D2EB6A91-662C-2B40-DF02-ED238C53DE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989" y="2927792"/>
            <a:ext cx="242888" cy="264319"/>
          </a:xfrm>
          <a:prstGeom prst="rect">
            <a:avLst/>
          </a:prstGeom>
        </p:spPr>
      </p:pic>
      <p:sp>
        <p:nvSpPr>
          <p:cNvPr id="74" name="Text 1">
            <a:extLst>
              <a:ext uri="{FF2B5EF4-FFF2-40B4-BE49-F238E27FC236}">
                <a16:creationId xmlns:a16="http://schemas.microsoft.com/office/drawing/2014/main" id="{6B0BC869-E49D-8227-2FBE-24674CEC764E}"/>
              </a:ext>
            </a:extLst>
          </p:cNvPr>
          <p:cNvSpPr/>
          <p:nvPr/>
        </p:nvSpPr>
        <p:spPr>
          <a:xfrm>
            <a:off x="424203" y="6213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Fuerzas clave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transformarán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el panorama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tecnológico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para 2026</a:t>
            </a:r>
            <a:endParaRPr lang="en-US" sz="1200">
              <a:solidFill>
                <a:srgbClr val="595959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4E27D539-EC37-BF1A-9CD2-6991246DA26C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0"/>
              </a:rPr>
              <a:t>Dynatrace AI Observability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1"/>
              </a:rPr>
              <a:t>Gartner Agentic AI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2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3"/>
              </a:rPr>
              <a:t>TCS IT Services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  <p:sp>
        <p:nvSpPr>
          <p:cNvPr id="9" name="dsc">
            <a:extLst>
              <a:ext uri="{FF2B5EF4-FFF2-40B4-BE49-F238E27FC236}">
                <a16:creationId xmlns:a16="http://schemas.microsoft.com/office/drawing/2014/main" id="{DE123EA4-048D-1CF1-FB61-0FBA8172EB8B}"/>
              </a:ext>
            </a:extLst>
          </p:cNvPr>
          <p:cNvSpPr txBox="1">
            <a:spLocks noGrp="1"/>
          </p:cNvSpPr>
          <p:nvPr/>
        </p:nvSpPr>
        <p:spPr>
          <a:xfrm>
            <a:off x="431292" y="2435135"/>
            <a:ext cx="1852749" cy="3563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-26.6% tiempo de respuesta (GenAI)  ·  +34.6% resoluciones más rápidas (GenAI)</a:t>
            </a:r>
          </a:p>
        </p:txBody>
      </p:sp>
      <p:sp>
        <p:nvSpPr>
          <p:cNvPr id="13" name="dsc">
            <a:extLst>
              <a:ext uri="{FF2B5EF4-FFF2-40B4-BE49-F238E27FC236}">
                <a16:creationId xmlns:a16="http://schemas.microsoft.com/office/drawing/2014/main" id="{3AD27F7B-18E7-2C7B-964E-4CB9DA4FA951}"/>
              </a:ext>
            </a:extLst>
          </p:cNvPr>
          <p:cNvSpPr txBox="1">
            <a:spLocks noGrp="1"/>
          </p:cNvSpPr>
          <p:nvPr/>
        </p:nvSpPr>
        <p:spPr>
          <a:xfrm>
            <a:off x="425850" y="4248258"/>
            <a:ext cx="2554877" cy="36184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Contratos TI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enterprise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serán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outcome-based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(tendencia global)</a:t>
            </a:r>
          </a:p>
        </p:txBody>
      </p:sp>
      <p:sp>
        <p:nvSpPr>
          <p:cNvPr id="17" name="dsc">
            <a:extLst>
              <a:ext uri="{FF2B5EF4-FFF2-40B4-BE49-F238E27FC236}">
                <a16:creationId xmlns:a16="http://schemas.microsoft.com/office/drawing/2014/main" id="{56332DE8-D940-2B20-2898-004B2255ECC1}"/>
              </a:ext>
            </a:extLst>
          </p:cNvPr>
          <p:cNvSpPr txBox="1">
            <a:spLocks noGrp="1"/>
          </p:cNvSpPr>
          <p:nvPr/>
        </p:nvSpPr>
        <p:spPr>
          <a:xfrm>
            <a:off x="6140848" y="4245863"/>
            <a:ext cx="2701834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8 etapas · 6C AI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Capability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Model · gobernanza IA ya no es opcional</a:t>
            </a:r>
          </a:p>
        </p:txBody>
      </p:sp>
      <p:sp>
        <p:nvSpPr>
          <p:cNvPr id="21" name="dsc">
            <a:extLst>
              <a:ext uri="{FF2B5EF4-FFF2-40B4-BE49-F238E27FC236}">
                <a16:creationId xmlns:a16="http://schemas.microsoft.com/office/drawing/2014/main" id="{FE20A471-0E69-78AA-DF4E-916811427E3C}"/>
              </a:ext>
            </a:extLst>
          </p:cNvPr>
          <p:cNvSpPr txBox="1">
            <a:spLocks noGrp="1"/>
          </p:cNvSpPr>
          <p:nvPr/>
        </p:nvSpPr>
        <p:spPr>
          <a:xfrm>
            <a:off x="2569247" y="2418808"/>
            <a:ext cx="1809206" cy="361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25" name="dsc">
            <a:extLst>
              <a:ext uri="{FF2B5EF4-FFF2-40B4-BE49-F238E27FC236}">
                <a16:creationId xmlns:a16="http://schemas.microsoft.com/office/drawing/2014/main" id="{7E61382C-ABF6-44B9-5EFD-081A36190A97}"/>
              </a:ext>
            </a:extLst>
          </p:cNvPr>
          <p:cNvSpPr txBox="1">
            <a:spLocks noGrp="1"/>
          </p:cNvSpPr>
          <p:nvPr/>
        </p:nvSpPr>
        <p:spPr>
          <a:xfrm>
            <a:off x="6890875" y="2470839"/>
            <a:ext cx="1907176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N3: USD 104/ticket → N0: USD 2/ticket, cada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deflección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= ahorro medible</a:t>
            </a:r>
            <a:endParaRPr lang="es-ES" sz="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6237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46302" y="1435895"/>
            <a:ext cx="2053829" cy="2300288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4720" y="2126271"/>
            <a:ext cx="183699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Evolución</a:t>
            </a:r>
            <a:r>
              <a:rPr lang="en-US" sz="1200" kern="0" spc="-37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Estratégica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8164" y="2368266"/>
            <a:ext cx="191010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Transformación de la mesa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 servicio de un costo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operativo a un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diferenciador competitivo.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2471568" y="1435895"/>
            <a:ext cx="2053829" cy="2300288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2637661" y="2126271"/>
            <a:ext cx="17216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Estandarización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2477" y="2368266"/>
            <a:ext cx="1792010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Implementación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procesos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estandarizados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garantizar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consistencia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y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calidad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la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entrega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servicio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4596834" y="1435895"/>
            <a:ext cx="2053829" cy="2300288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1"/>
          <p:cNvSpPr/>
          <p:nvPr/>
        </p:nvSpPr>
        <p:spPr>
          <a:xfrm>
            <a:off x="4741495" y="2102049"/>
            <a:ext cx="176450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50" kern="0" spc="-35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Inteligencia</a:t>
            </a:r>
            <a:r>
              <a:rPr lang="en-US" sz="1150" kern="0" spc="-35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Artificial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4703499" y="2331877"/>
            <a:ext cx="1840498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Integración de IA para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optimizar la resolución,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reducir el tiempo de espera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y potenciar el autoservicio.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6722100" y="1435895"/>
            <a:ext cx="2053829" cy="2300288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6831042" y="2126271"/>
            <a:ext cx="18359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Escalabilidad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791929" y="2368266"/>
            <a:ext cx="1914168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Arquitectura diseñada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adaptarse al crecimiento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del negocio y responder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dinámicamente a la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demanda.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D68F6702-9E35-68AC-3981-F297FCE87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Pilares de </a:t>
            </a:r>
            <a:r>
              <a:rPr lang="en-US" err="1"/>
              <a:t>Transformación</a:t>
            </a:r>
            <a:r>
              <a:rPr lang="en-US"/>
              <a:t> de la Mesa de Servicio de Nueva Generación</a:t>
            </a:r>
          </a:p>
          <a:p>
            <a:endParaRPr lang="en-US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E2BE2F5D-6B45-AFD1-619A-6D03B70946B0}"/>
              </a:ext>
            </a:extLst>
          </p:cNvPr>
          <p:cNvSpPr/>
          <p:nvPr/>
        </p:nvSpPr>
        <p:spPr>
          <a:xfrm>
            <a:off x="1029552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" name="Image 0" descr="-250ad3de.png">
            <a:extLst>
              <a:ext uri="{FF2B5EF4-FFF2-40B4-BE49-F238E27FC236}">
                <a16:creationId xmlns:a16="http://schemas.microsoft.com/office/drawing/2014/main" id="{5AC447DE-0819-B613-0FB9-E53A727E1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639" y="1329045"/>
            <a:ext cx="350044" cy="292894"/>
          </a:xfrm>
          <a:prstGeom prst="rect">
            <a:avLst/>
          </a:prstGeom>
        </p:spPr>
      </p:pic>
      <p:sp>
        <p:nvSpPr>
          <p:cNvPr id="23" name="Shape 9">
            <a:extLst>
              <a:ext uri="{FF2B5EF4-FFF2-40B4-BE49-F238E27FC236}">
                <a16:creationId xmlns:a16="http://schemas.microsoft.com/office/drawing/2014/main" id="{99F0F72D-FC79-0B39-BBF4-A9DF785BE4ED}"/>
              </a:ext>
            </a:extLst>
          </p:cNvPr>
          <p:cNvSpPr/>
          <p:nvPr/>
        </p:nvSpPr>
        <p:spPr>
          <a:xfrm>
            <a:off x="3172677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5" name="Image 1" descr="5719bd22.png">
            <a:extLst>
              <a:ext uri="{FF2B5EF4-FFF2-40B4-BE49-F238E27FC236}">
                <a16:creationId xmlns:a16="http://schemas.microsoft.com/office/drawing/2014/main" id="{DE48BFB1-AB7C-B425-DE1E-781AEFE4F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436" y="1341601"/>
            <a:ext cx="271463" cy="242888"/>
          </a:xfrm>
          <a:prstGeom prst="rect">
            <a:avLst/>
          </a:prstGeom>
        </p:spPr>
      </p:pic>
      <p:sp>
        <p:nvSpPr>
          <p:cNvPr id="27" name="Shape 13">
            <a:extLst>
              <a:ext uri="{FF2B5EF4-FFF2-40B4-BE49-F238E27FC236}">
                <a16:creationId xmlns:a16="http://schemas.microsoft.com/office/drawing/2014/main" id="{93F7AD4E-A1AC-21CC-67FA-79517C44E647}"/>
              </a:ext>
            </a:extLst>
          </p:cNvPr>
          <p:cNvSpPr/>
          <p:nvPr/>
        </p:nvSpPr>
        <p:spPr>
          <a:xfrm>
            <a:off x="5315802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0" name="Image 2" descr="0016b4a2.png">
            <a:extLst>
              <a:ext uri="{FF2B5EF4-FFF2-40B4-BE49-F238E27FC236}">
                <a16:creationId xmlns:a16="http://schemas.microsoft.com/office/drawing/2014/main" id="{B12021B2-B4F0-A9E1-B1CC-9801061B3D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511" y="1341602"/>
            <a:ext cx="185738" cy="242888"/>
          </a:xfrm>
          <a:prstGeom prst="rect">
            <a:avLst/>
          </a:prstGeom>
        </p:spPr>
      </p:pic>
      <p:sp>
        <p:nvSpPr>
          <p:cNvPr id="32" name="Shape 21">
            <a:extLst>
              <a:ext uri="{FF2B5EF4-FFF2-40B4-BE49-F238E27FC236}">
                <a16:creationId xmlns:a16="http://schemas.microsoft.com/office/drawing/2014/main" id="{574D9646-9E0A-C5CD-35F8-FD90A529CD90}"/>
              </a:ext>
            </a:extLst>
          </p:cNvPr>
          <p:cNvSpPr/>
          <p:nvPr/>
        </p:nvSpPr>
        <p:spPr>
          <a:xfrm>
            <a:off x="7531725" y="1161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4" name="Image 4" descr="-327b961e.png">
            <a:extLst>
              <a:ext uri="{FF2B5EF4-FFF2-40B4-BE49-F238E27FC236}">
                <a16:creationId xmlns:a16="http://schemas.microsoft.com/office/drawing/2014/main" id="{3F2E2606-B309-CAEB-D629-9114EE94DD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2877" y="1338048"/>
            <a:ext cx="214313" cy="17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44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2824C2-5851-4B30-A813-E41E5F7F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5C7D09-6597-9A73-052C-BF55A5EC7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829" y="167735"/>
            <a:ext cx="5358942" cy="572700"/>
          </a:xfrm>
        </p:spPr>
        <p:txBody>
          <a:bodyPr>
            <a:normAutofit/>
          </a:bodyPr>
          <a:lstStyle/>
          <a:p>
            <a:r>
              <a:rPr lang="en-US" err="1"/>
              <a:t>Propuesta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Diferenciará</a:t>
            </a:r>
            <a:r>
              <a:rPr lang="en-US"/>
              <a:t> a </a:t>
            </a:r>
            <a:r>
              <a:rPr lang="en-US" err="1"/>
              <a:t>PersonalSoft</a:t>
            </a:r>
            <a:r>
              <a:rPr lang="en-US"/>
              <a:t>?</a:t>
            </a:r>
            <a:endParaRPr lang="es-CO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3F7E5399-AB8B-0CC3-BAFE-BC4DEC7817BA}"/>
              </a:ext>
            </a:extLst>
          </p:cNvPr>
          <p:cNvSpPr/>
          <p:nvPr/>
        </p:nvSpPr>
        <p:spPr>
          <a:xfrm>
            <a:off x="1014753" y="1055191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0" descr="23a43ce2.png">
            <a:extLst>
              <a:ext uri="{FF2B5EF4-FFF2-40B4-BE49-F238E27FC236}">
                <a16:creationId xmlns:a16="http://schemas.microsoft.com/office/drawing/2014/main" id="{41476C43-838D-5395-6766-A4257D3C2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060" y="1408889"/>
            <a:ext cx="421481" cy="357188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67DAA90A-80EF-E42D-4050-80A6E8ADD948}"/>
              </a:ext>
            </a:extLst>
          </p:cNvPr>
          <p:cNvSpPr/>
          <p:nvPr/>
        </p:nvSpPr>
        <p:spPr>
          <a:xfrm>
            <a:off x="221797" y="2198638"/>
            <a:ext cx="2657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 Madurez (N0-N5)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642D4E88-336B-F04F-F544-BBEF975D9B86}"/>
              </a:ext>
            </a:extLst>
          </p:cNvPr>
          <p:cNvSpPr/>
          <p:nvPr/>
        </p:nvSpPr>
        <p:spPr>
          <a:xfrm>
            <a:off x="171754" y="2553226"/>
            <a:ext cx="2822876" cy="14403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capacidades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tecnológicas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,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garant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izando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un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crecimiento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continuo y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medible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6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claros (N0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a N5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)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17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practicas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operativas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519155E2-5407-A0FF-6341-7B62C30F89D8}"/>
              </a:ext>
            </a:extLst>
          </p:cNvPr>
          <p:cNvSpPr/>
          <p:nvPr/>
        </p:nvSpPr>
        <p:spPr>
          <a:xfrm>
            <a:off x="3943691" y="1055191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9" name="Image 1" descr="-6ff4ae9e.png">
            <a:extLst>
              <a:ext uri="{FF2B5EF4-FFF2-40B4-BE49-F238E27FC236}">
                <a16:creationId xmlns:a16="http://schemas.microsoft.com/office/drawing/2014/main" id="{22176A99-9CBF-BF88-4F8D-F1501819E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2047" y="1396336"/>
            <a:ext cx="521494" cy="385763"/>
          </a:xfrm>
          <a:prstGeom prst="rect">
            <a:avLst/>
          </a:prstGeom>
        </p:spPr>
      </p:pic>
      <p:sp>
        <p:nvSpPr>
          <p:cNvPr id="31" name="Text 6">
            <a:extLst>
              <a:ext uri="{FF2B5EF4-FFF2-40B4-BE49-F238E27FC236}">
                <a16:creationId xmlns:a16="http://schemas.microsoft.com/office/drawing/2014/main" id="{159BA64C-A6AB-FD21-09D3-E82FCABB4EFD}"/>
              </a:ext>
            </a:extLst>
          </p:cNvPr>
          <p:cNvSpPr/>
          <p:nvPr/>
        </p:nvSpPr>
        <p:spPr>
          <a:xfrm>
            <a:off x="3090013" y="2198638"/>
            <a:ext cx="277891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Operación gestionada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BEB01E3E-E9CD-A0FA-17BC-0E51CBA8276E}"/>
              </a:ext>
            </a:extLst>
          </p:cNvPr>
          <p:cNvSpPr/>
          <p:nvPr/>
        </p:nvSpPr>
        <p:spPr>
          <a:xfrm>
            <a:off x="3033730" y="2553226"/>
            <a:ext cx="295679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58"/>
              </a:spcBef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integrales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TI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permiten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clientes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delega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complejidad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enfocarse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sus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objetivos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Roles, RACI,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catálogo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ANS/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XLA,gobierno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mensual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continua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condatos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900">
              <a:latin typeface="Reddit Sans"/>
              <a:ea typeface="Reddit Sans"/>
              <a:cs typeface="Arial"/>
            </a:endParaRPr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1C261187-D52B-FE7A-269C-5CFB63641245}"/>
              </a:ext>
            </a:extLst>
          </p:cNvPr>
          <p:cNvSpPr/>
          <p:nvPr/>
        </p:nvSpPr>
        <p:spPr>
          <a:xfrm>
            <a:off x="6872628" y="1055191"/>
            <a:ext cx="1071563" cy="1071563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7" name="Image 2" descr="7f5c7a62.png">
            <a:extLst>
              <a:ext uri="{FF2B5EF4-FFF2-40B4-BE49-F238E27FC236}">
                <a16:creationId xmlns:a16="http://schemas.microsoft.com/office/drawing/2014/main" id="{33EC4EDE-F651-9304-15A2-D22758CEA5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541" y="1408890"/>
            <a:ext cx="485775" cy="364331"/>
          </a:xfrm>
          <a:prstGeom prst="rect">
            <a:avLst/>
          </a:prstGeom>
        </p:spPr>
      </p:pic>
      <p:sp>
        <p:nvSpPr>
          <p:cNvPr id="39" name="Text 9">
            <a:extLst>
              <a:ext uri="{FF2B5EF4-FFF2-40B4-BE49-F238E27FC236}">
                <a16:creationId xmlns:a16="http://schemas.microsoft.com/office/drawing/2014/main" id="{9C03FED1-9CCF-7B4D-C7C1-2F078EF73B17}"/>
              </a:ext>
            </a:extLst>
          </p:cNvPr>
          <p:cNvSpPr/>
          <p:nvPr/>
        </p:nvSpPr>
        <p:spPr>
          <a:xfrm>
            <a:off x="6051097" y="2198638"/>
            <a:ext cx="271462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 aplicada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F2E67AF8-7A4C-5763-498B-6599249FC76A}"/>
              </a:ext>
            </a:extLst>
          </p:cNvPr>
          <p:cNvSpPr/>
          <p:nvPr/>
        </p:nvSpPr>
        <p:spPr>
          <a:xfrm>
            <a:off x="5997806" y="2553226"/>
            <a:ext cx="288652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Integración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avanzada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KEDB y AIOps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resolución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predecir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maximizar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eficiencia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Observabilidad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predictiva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desde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el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diseno</a:t>
            </a:r>
            <a:endParaRPr lang="es-ES" sz="900"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Correlacion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automatica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alertas-incidentes</a:t>
            </a:r>
            <a:endParaRPr lang="en-US" sz="9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El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sabe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exactamente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cuesta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subir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n-US" sz="9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Bef>
                <a:spcPts val="458"/>
              </a:spcBef>
            </a:pP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12ADA9BB-4A9E-0367-1CF1-948E185EE846}"/>
              </a:ext>
            </a:extLst>
          </p:cNvPr>
          <p:cNvSpPr/>
          <p:nvPr/>
        </p:nvSpPr>
        <p:spPr>
          <a:xfrm>
            <a:off x="445974" y="632270"/>
            <a:ext cx="3680053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Factores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clave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impulsan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nuestra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propuesta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valor</a:t>
            </a:r>
            <a:endParaRPr lang="en-US" sz="1000">
              <a:latin typeface="Reddit Sans"/>
              <a:ea typeface="Reddit Sans"/>
              <a:cs typeface="Arial"/>
            </a:endParaRPr>
          </a:p>
        </p:txBody>
      </p:sp>
      <p:pic>
        <p:nvPicPr>
          <p:cNvPr id="3" name="Gráfico 2" descr="Diana con relleno sólido">
            <a:extLst>
              <a:ext uri="{FF2B5EF4-FFF2-40B4-BE49-F238E27FC236}">
                <a16:creationId xmlns:a16="http://schemas.microsoft.com/office/drawing/2014/main" id="{B532D1DA-62DB-AF5D-BEA5-FE51482BEA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17620" y="356506"/>
            <a:ext cx="489859" cy="489859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6C97A291-6DD5-2A8B-A083-00380257ABFF}"/>
              </a:ext>
            </a:extLst>
          </p:cNvPr>
          <p:cNvSpPr/>
          <p:nvPr/>
        </p:nvSpPr>
        <p:spPr>
          <a:xfrm>
            <a:off x="5419556" y="402496"/>
            <a:ext cx="3181690" cy="73629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200" kern="0" spc="-81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200" kern="0" spc="-81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200" kern="0" spc="-81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200" kern="0" spc="-81">
              <a:solidFill>
                <a:srgbClr val="00B050"/>
              </a:solidFill>
              <a:latin typeface="Reddit Sans"/>
              <a:ea typeface="Reddit Sans"/>
            </a:endParaRPr>
          </a:p>
        </p:txBody>
      </p:sp>
      <p:sp>
        <p:nvSpPr>
          <p:cNvPr id="6" name="sh252">
            <a:extLst>
              <a:ext uri="{FF2B5EF4-FFF2-40B4-BE49-F238E27FC236}">
                <a16:creationId xmlns:a16="http://schemas.microsoft.com/office/drawing/2014/main" id="{3FCF0047-8933-7822-DE51-5EF0301E7A2F}"/>
              </a:ext>
            </a:extLst>
          </p:cNvPr>
          <p:cNvSpPr/>
          <p:nvPr/>
        </p:nvSpPr>
        <p:spPr>
          <a:xfrm>
            <a:off x="302405" y="3798461"/>
            <a:ext cx="8375904" cy="663375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9525">
            <a:solidFill>
              <a:srgbClr val="C9D6E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8" name="sh253">
            <a:extLst>
              <a:ext uri="{FF2B5EF4-FFF2-40B4-BE49-F238E27FC236}">
                <a16:creationId xmlns:a16="http://schemas.microsoft.com/office/drawing/2014/main" id="{A4711A96-2E02-5B7F-AB70-32D759AC8F18}"/>
              </a:ext>
            </a:extLst>
          </p:cNvPr>
          <p:cNvSpPr/>
          <p:nvPr/>
        </p:nvSpPr>
        <p:spPr>
          <a:xfrm>
            <a:off x="444790" y="3880975"/>
            <a:ext cx="836023" cy="498348"/>
          </a:xfrm>
          <a:prstGeom prst="roundRect">
            <a:avLst>
              <a:gd name="adj" fmla="val 14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00" b="1">
                <a:solidFill>
                  <a:schemeClr val="bg1"/>
                </a:solidFill>
                <a:latin typeface="Reddit Sans"/>
                <a:ea typeface="Reddit Sans"/>
              </a:rPr>
              <a:t>NUESTRO</a:t>
            </a:r>
          </a:p>
          <a:p>
            <a:pPr algn="ctr">
              <a:lnSpc>
                <a:spcPct val="100000"/>
              </a:lnSpc>
            </a:pPr>
            <a:r>
              <a:rPr lang="es-ES" sz="700" b="1">
                <a:solidFill>
                  <a:schemeClr val="bg1"/>
                </a:solidFill>
                <a:latin typeface="Reddit Sans"/>
                <a:ea typeface="Reddit Sans"/>
              </a:rPr>
              <a:t>DIFERENCIAL</a:t>
            </a:r>
          </a:p>
        </p:txBody>
      </p:sp>
      <p:sp>
        <p:nvSpPr>
          <p:cNvPr id="10" name="tx254">
            <a:extLst>
              <a:ext uri="{FF2B5EF4-FFF2-40B4-BE49-F238E27FC236}">
                <a16:creationId xmlns:a16="http://schemas.microsoft.com/office/drawing/2014/main" id="{15C7CCA4-B275-41FE-D4D4-8AA203FA8BDF}"/>
              </a:ext>
            </a:extLst>
          </p:cNvPr>
          <p:cNvSpPr txBox="1"/>
          <p:nvPr/>
        </p:nvSpPr>
        <p:spPr>
          <a:xfrm>
            <a:off x="1381397" y="3844399"/>
            <a:ext cx="1801586" cy="538842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100" b="1">
                <a:solidFill>
                  <a:srgbClr val="1C3D75"/>
                </a:solidFill>
                <a:latin typeface="Reddit Sans"/>
                <a:ea typeface="Reddit Sans"/>
              </a:rPr>
              <a:t>PIR + KCS + IA</a:t>
            </a:r>
          </a:p>
          <a:p>
            <a:pPr algn="l">
              <a:lnSpc>
                <a:spcPct val="92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Servicio centrado en el conocimiento potenciado con IA</a:t>
            </a:r>
          </a:p>
        </p:txBody>
      </p:sp>
      <p:sp>
        <p:nvSpPr>
          <p:cNvPr id="12" name="sh255">
            <a:extLst>
              <a:ext uri="{FF2B5EF4-FFF2-40B4-BE49-F238E27FC236}">
                <a16:creationId xmlns:a16="http://schemas.microsoft.com/office/drawing/2014/main" id="{E13C5680-E6D6-A7CE-1BB6-2F8A7E523EE6}"/>
              </a:ext>
            </a:extLst>
          </p:cNvPr>
          <p:cNvSpPr/>
          <p:nvPr/>
        </p:nvSpPr>
        <p:spPr>
          <a:xfrm>
            <a:off x="3583272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" name="tx257">
            <a:extLst>
              <a:ext uri="{FF2B5EF4-FFF2-40B4-BE49-F238E27FC236}">
                <a16:creationId xmlns:a16="http://schemas.microsoft.com/office/drawing/2014/main" id="{3B77A922-BF26-B0AC-6F5F-E6C40571B605}"/>
              </a:ext>
            </a:extLst>
          </p:cNvPr>
          <p:cNvSpPr txBox="1"/>
          <p:nvPr/>
        </p:nvSpPr>
        <p:spPr>
          <a:xfrm>
            <a:off x="3182765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Aprende del negocio</a:t>
            </a:r>
          </a:p>
        </p:txBody>
      </p:sp>
      <p:sp>
        <p:nvSpPr>
          <p:cNvPr id="17" name="sh258">
            <a:extLst>
              <a:ext uri="{FF2B5EF4-FFF2-40B4-BE49-F238E27FC236}">
                <a16:creationId xmlns:a16="http://schemas.microsoft.com/office/drawing/2014/main" id="{00316C50-EA8E-5BE4-1A47-6A654861EC79}"/>
              </a:ext>
            </a:extLst>
          </p:cNvPr>
          <p:cNvSpPr/>
          <p:nvPr/>
        </p:nvSpPr>
        <p:spPr>
          <a:xfrm>
            <a:off x="4667751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" name="tx260">
            <a:extLst>
              <a:ext uri="{FF2B5EF4-FFF2-40B4-BE49-F238E27FC236}">
                <a16:creationId xmlns:a16="http://schemas.microsoft.com/office/drawing/2014/main" id="{26B1A932-C2DB-DADC-4534-F28C529D035F}"/>
              </a:ext>
            </a:extLst>
          </p:cNvPr>
          <p:cNvSpPr txBox="1"/>
          <p:nvPr/>
        </p:nvSpPr>
        <p:spPr>
          <a:xfrm>
            <a:off x="4267243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Captura y organiza conocimiento</a:t>
            </a:r>
          </a:p>
        </p:txBody>
      </p:sp>
      <p:sp>
        <p:nvSpPr>
          <p:cNvPr id="23" name="tx263">
            <a:extLst>
              <a:ext uri="{FF2B5EF4-FFF2-40B4-BE49-F238E27FC236}">
                <a16:creationId xmlns:a16="http://schemas.microsoft.com/office/drawing/2014/main" id="{2944330A-BDEF-3D2A-4BD9-4B0FF041F6C6}"/>
              </a:ext>
            </a:extLst>
          </p:cNvPr>
          <p:cNvSpPr txBox="1"/>
          <p:nvPr/>
        </p:nvSpPr>
        <p:spPr>
          <a:xfrm>
            <a:off x="5351722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Genera conocimiento reutilizable</a:t>
            </a:r>
          </a:p>
        </p:txBody>
      </p:sp>
      <p:sp>
        <p:nvSpPr>
          <p:cNvPr id="26" name="sh264">
            <a:extLst>
              <a:ext uri="{FF2B5EF4-FFF2-40B4-BE49-F238E27FC236}">
                <a16:creationId xmlns:a16="http://schemas.microsoft.com/office/drawing/2014/main" id="{B18DB786-6B8E-E125-6CFA-B4EB9A6717EB}"/>
              </a:ext>
            </a:extLst>
          </p:cNvPr>
          <p:cNvSpPr/>
          <p:nvPr/>
        </p:nvSpPr>
        <p:spPr>
          <a:xfrm>
            <a:off x="6836707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" name="sh265">
            <a:extLst>
              <a:ext uri="{FF2B5EF4-FFF2-40B4-BE49-F238E27FC236}">
                <a16:creationId xmlns:a16="http://schemas.microsoft.com/office/drawing/2014/main" id="{06DCF077-67B8-7BA0-168A-AEC21E08C9BC}"/>
              </a:ext>
            </a:extLst>
          </p:cNvPr>
          <p:cNvSpPr/>
          <p:nvPr/>
        </p:nvSpPr>
        <p:spPr>
          <a:xfrm>
            <a:off x="6931636" y="3882838"/>
            <a:ext cx="57031" cy="57031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sh266">
            <a:extLst>
              <a:ext uri="{FF2B5EF4-FFF2-40B4-BE49-F238E27FC236}">
                <a16:creationId xmlns:a16="http://schemas.microsoft.com/office/drawing/2014/main" id="{043FE2B4-41F6-C694-BA99-22EB9ABF4DEB}"/>
              </a:ext>
            </a:extLst>
          </p:cNvPr>
          <p:cNvSpPr/>
          <p:nvPr/>
        </p:nvSpPr>
        <p:spPr>
          <a:xfrm>
            <a:off x="6901824" y="3925875"/>
            <a:ext cx="116655" cy="90731"/>
          </a:xfrm>
          <a:prstGeom prst="chord">
            <a:avLst>
              <a:gd name="adj1" fmla="val 0"/>
              <a:gd name="adj2" fmla="val 1080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8" name="tx267">
            <a:extLst>
              <a:ext uri="{FF2B5EF4-FFF2-40B4-BE49-F238E27FC236}">
                <a16:creationId xmlns:a16="http://schemas.microsoft.com/office/drawing/2014/main" id="{9DDB0707-2A85-7A38-2872-B634C5515A53}"/>
              </a:ext>
            </a:extLst>
          </p:cNvPr>
          <p:cNvSpPr txBox="1"/>
          <p:nvPr/>
        </p:nvSpPr>
        <p:spPr>
          <a:xfrm>
            <a:off x="6436200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42" name="sh268">
            <a:extLst>
              <a:ext uri="{FF2B5EF4-FFF2-40B4-BE49-F238E27FC236}">
                <a16:creationId xmlns:a16="http://schemas.microsoft.com/office/drawing/2014/main" id="{675B400C-B91A-52BE-3D21-AC327C2911DE}"/>
              </a:ext>
            </a:extLst>
          </p:cNvPr>
          <p:cNvSpPr/>
          <p:nvPr/>
        </p:nvSpPr>
        <p:spPr>
          <a:xfrm>
            <a:off x="7921186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tx271">
            <a:extLst>
              <a:ext uri="{FF2B5EF4-FFF2-40B4-BE49-F238E27FC236}">
                <a16:creationId xmlns:a16="http://schemas.microsoft.com/office/drawing/2014/main" id="{494B5F5F-484D-35EC-5039-FFAEC9C29B95}"/>
              </a:ext>
            </a:extLst>
          </p:cNvPr>
          <p:cNvSpPr txBox="1"/>
          <p:nvPr/>
        </p:nvSpPr>
        <p:spPr>
          <a:xfrm>
            <a:off x="7520679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Entiende los procesos de negocio del cliente</a:t>
            </a:r>
          </a:p>
        </p:txBody>
      </p:sp>
      <p:pic>
        <p:nvPicPr>
          <p:cNvPr id="47" name="Gráfico 46" descr="Cerebro izquierdo y derecho contorno">
            <a:extLst>
              <a:ext uri="{FF2B5EF4-FFF2-40B4-BE49-F238E27FC236}">
                <a16:creationId xmlns:a16="http://schemas.microsoft.com/office/drawing/2014/main" id="{D68A3DFB-8BC7-F2B0-CB69-E09EBBB051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89563" y="3839935"/>
            <a:ext cx="223159" cy="223159"/>
          </a:xfrm>
          <a:prstGeom prst="rect">
            <a:avLst/>
          </a:prstGeom>
        </p:spPr>
      </p:pic>
      <p:pic>
        <p:nvPicPr>
          <p:cNvPr id="49" name="Gráfico 48" descr="Diana con relleno sólido">
            <a:extLst>
              <a:ext uri="{FF2B5EF4-FFF2-40B4-BE49-F238E27FC236}">
                <a16:creationId xmlns:a16="http://schemas.microsoft.com/office/drawing/2014/main" id="{A70C7D64-379E-7D29-7281-C55F6D30E1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46573" y="3829048"/>
            <a:ext cx="212274" cy="212274"/>
          </a:xfrm>
          <a:prstGeom prst="rect">
            <a:avLst/>
          </a:prstGeom>
        </p:spPr>
      </p:pic>
      <p:pic>
        <p:nvPicPr>
          <p:cNvPr id="51" name="Gráfico 50" descr="Libro abierto contorno">
            <a:extLst>
              <a:ext uri="{FF2B5EF4-FFF2-40B4-BE49-F238E27FC236}">
                <a16:creationId xmlns:a16="http://schemas.microsoft.com/office/drawing/2014/main" id="{9B0E33F2-FF87-8740-F4B1-334F5195C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64528" y="3831771"/>
            <a:ext cx="239488" cy="239488"/>
          </a:xfrm>
          <a:prstGeom prst="rect">
            <a:avLst/>
          </a:prstGeom>
        </p:spPr>
      </p:pic>
      <p:sp>
        <p:nvSpPr>
          <p:cNvPr id="53" name="sh264">
            <a:extLst>
              <a:ext uri="{FF2B5EF4-FFF2-40B4-BE49-F238E27FC236}">
                <a16:creationId xmlns:a16="http://schemas.microsoft.com/office/drawing/2014/main" id="{BC70FFC0-1CC0-6F62-7EDF-80DF271D5B4B}"/>
              </a:ext>
            </a:extLst>
          </p:cNvPr>
          <p:cNvSpPr/>
          <p:nvPr/>
        </p:nvSpPr>
        <p:spPr>
          <a:xfrm>
            <a:off x="5688264" y="3841568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55" name="Gráfico 54" descr="Mejora continua con relleno sólido">
            <a:extLst>
              <a:ext uri="{FF2B5EF4-FFF2-40B4-BE49-F238E27FC236}">
                <a16:creationId xmlns:a16="http://schemas.microsoft.com/office/drawing/2014/main" id="{96E3415A-3B7A-D07E-BA4F-5CACD13CB4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57850" y="3807279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664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F9C8408C-F9F1-4FF9-8A83-3AF25EB4B75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Integraciones claves para 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al ecosistema del cliente</a:t>
            </a:r>
            <a:endParaRPr lang="es-ES" sz="1650" b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F99B6CF-84D4-4913-B588-3CAA65AFEC04}"/>
              </a:ext>
            </a:extLst>
          </p:cNvPr>
          <p:cNvSpPr>
            <a:spLocks noGrp="1"/>
          </p:cNvSpPr>
          <p:nvPr/>
        </p:nvSpPr>
        <p:spPr>
          <a:xfrm>
            <a:off x="334736" y="586468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" name="layer">
            <a:extLst>
              <a:ext uri="{FF2B5EF4-FFF2-40B4-BE49-F238E27FC236}">
                <a16:creationId xmlns:a16="http://schemas.microsoft.com/office/drawing/2014/main" id="{538C9A7E-8E60-4323-A090-E364358D7022}"/>
              </a:ext>
            </a:extLst>
          </p:cNvPr>
          <p:cNvSpPr>
            <a:spLocks noGrp="1"/>
          </p:cNvSpPr>
          <p:nvPr/>
        </p:nvSpPr>
        <p:spPr>
          <a:xfrm>
            <a:off x="1224643" y="925287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2A7AB53-8090-466F-9893-E73B6DD61BF6}"/>
              </a:ext>
            </a:extLst>
          </p:cNvPr>
          <p:cNvSpPr>
            <a:spLocks noGrp="1"/>
          </p:cNvSpPr>
          <p:nvPr/>
        </p:nvSpPr>
        <p:spPr>
          <a:xfrm>
            <a:off x="1447800" y="1017815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163B8C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Canales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C575430-6193-4C63-B135-4BA439C7DE11}"/>
              </a:ext>
            </a:extLst>
          </p:cNvPr>
          <p:cNvSpPr>
            <a:spLocks noGrp="1"/>
          </p:cNvSpPr>
          <p:nvPr/>
        </p:nvSpPr>
        <p:spPr>
          <a:xfrm>
            <a:off x="3173186" y="1034144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Portal, chat, WhatsApp, correo, teléfono, API/AIOps</a:t>
            </a:r>
          </a:p>
        </p:txBody>
      </p:sp>
      <p:sp>
        <p:nvSpPr>
          <p:cNvPr id="6" name="layer">
            <a:extLst>
              <a:ext uri="{FF2B5EF4-FFF2-40B4-BE49-F238E27FC236}">
                <a16:creationId xmlns:a16="http://schemas.microsoft.com/office/drawing/2014/main" id="{C441F295-83F4-4548-A6D0-5F51F8A20A11}"/>
              </a:ext>
            </a:extLst>
          </p:cNvPr>
          <p:cNvSpPr>
            <a:spLocks noGrp="1"/>
          </p:cNvSpPr>
          <p:nvPr/>
        </p:nvSpPr>
        <p:spPr>
          <a:xfrm>
            <a:off x="1224643" y="1396094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898201E-55B3-4B70-8B4D-953CD3C750D9}"/>
              </a:ext>
            </a:extLst>
          </p:cNvPr>
          <p:cNvSpPr>
            <a:spLocks noGrp="1"/>
          </p:cNvSpPr>
          <p:nvPr/>
        </p:nvSpPr>
        <p:spPr>
          <a:xfrm>
            <a:off x="1447800" y="148318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087B83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ITSM / CMDB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6FBB9CD-0D24-4B36-BB67-F65BDD529EB6}"/>
              </a:ext>
            </a:extLst>
          </p:cNvPr>
          <p:cNvSpPr>
            <a:spLocks noGrp="1"/>
          </p:cNvSpPr>
          <p:nvPr/>
        </p:nvSpPr>
        <p:spPr>
          <a:xfrm>
            <a:off x="3124200" y="1439637"/>
            <a:ext cx="3984171" cy="285749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ServiceNow, 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BMC Helix, Jira</a:t>
            </a: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 SM, ADO, ManageEngine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 o herramienta propia de </a:t>
            </a:r>
            <a:r>
              <a:rPr lang="es-ES" sz="900" err="1">
                <a:solidFill>
                  <a:srgbClr val="172033"/>
                </a:solidFill>
                <a:latin typeface="Reddit Sans"/>
                <a:ea typeface="Reddit Sans"/>
              </a:rPr>
              <a:t>PersonalSo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ft</a:t>
            </a:r>
            <a:endParaRPr sz="90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9" name="layer">
            <a:extLst>
              <a:ext uri="{FF2B5EF4-FFF2-40B4-BE49-F238E27FC236}">
                <a16:creationId xmlns:a16="http://schemas.microsoft.com/office/drawing/2014/main" id="{26BFFD6D-0A44-4AC4-A766-262D23846206}"/>
              </a:ext>
            </a:extLst>
          </p:cNvPr>
          <p:cNvSpPr>
            <a:spLocks noGrp="1"/>
          </p:cNvSpPr>
          <p:nvPr/>
        </p:nvSpPr>
        <p:spPr>
          <a:xfrm>
            <a:off x="1224643" y="2329544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F4A7BE-BEA4-46EA-82AD-493EDB21D41D}"/>
              </a:ext>
            </a:extLst>
          </p:cNvPr>
          <p:cNvSpPr>
            <a:spLocks noGrp="1"/>
          </p:cNvSpPr>
          <p:nvPr/>
        </p:nvSpPr>
        <p:spPr>
          <a:xfrm>
            <a:off x="1447800" y="2422073"/>
            <a:ext cx="1755321" cy="166008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7057E9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Gestión del Conocimiento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E697010-83B8-4D18-BC4D-85D49DAAC087}"/>
              </a:ext>
            </a:extLst>
          </p:cNvPr>
          <p:cNvSpPr>
            <a:spLocks noGrp="1"/>
          </p:cNvSpPr>
          <p:nvPr/>
        </p:nvSpPr>
        <p:spPr>
          <a:xfrm>
            <a:off x="3140529" y="2438401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KEDB, KCS, Confluence, SharePoint, artículos generados</a:t>
            </a:r>
          </a:p>
        </p:txBody>
      </p:sp>
      <p:sp>
        <p:nvSpPr>
          <p:cNvPr id="12" name="layer">
            <a:extLst>
              <a:ext uri="{FF2B5EF4-FFF2-40B4-BE49-F238E27FC236}">
                <a16:creationId xmlns:a16="http://schemas.microsoft.com/office/drawing/2014/main" id="{8BF0411D-3DEB-4455-A21F-FC69D475C426}"/>
              </a:ext>
            </a:extLst>
          </p:cNvPr>
          <p:cNvSpPr>
            <a:spLocks noGrp="1"/>
          </p:cNvSpPr>
          <p:nvPr/>
        </p:nvSpPr>
        <p:spPr>
          <a:xfrm>
            <a:off x="1224643" y="3241222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03620C4-45AF-4D52-95EC-0BFF40943DD5}"/>
              </a:ext>
            </a:extLst>
          </p:cNvPr>
          <p:cNvSpPr>
            <a:spLocks noGrp="1"/>
          </p:cNvSpPr>
          <p:nvPr/>
        </p:nvSpPr>
        <p:spPr>
          <a:xfrm>
            <a:off x="1447800" y="333375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20835A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IA / AIOps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9BD8F76-D60B-442D-9E63-D036643AD169}"/>
              </a:ext>
            </a:extLst>
          </p:cNvPr>
          <p:cNvSpPr>
            <a:spLocks noGrp="1"/>
          </p:cNvSpPr>
          <p:nvPr/>
        </p:nvSpPr>
        <p:spPr>
          <a:xfrm>
            <a:off x="3140529" y="3377293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Agent assist, NLP, observabilidad, correlación y runbooks</a:t>
            </a:r>
          </a:p>
        </p:txBody>
      </p:sp>
      <p:sp>
        <p:nvSpPr>
          <p:cNvPr id="15" name="layer">
            <a:extLst>
              <a:ext uri="{FF2B5EF4-FFF2-40B4-BE49-F238E27FC236}">
                <a16:creationId xmlns:a16="http://schemas.microsoft.com/office/drawing/2014/main" id="{950D358F-F7D6-460D-A2BD-B9DE783BE7B6}"/>
              </a:ext>
            </a:extLst>
          </p:cNvPr>
          <p:cNvSpPr>
            <a:spLocks noGrp="1"/>
          </p:cNvSpPr>
          <p:nvPr/>
        </p:nvSpPr>
        <p:spPr>
          <a:xfrm>
            <a:off x="1224643" y="3706586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302AD2D-E25D-4A10-98EF-2CFC1129B8AF}"/>
              </a:ext>
            </a:extLst>
          </p:cNvPr>
          <p:cNvSpPr>
            <a:spLocks noGrp="1"/>
          </p:cNvSpPr>
          <p:nvPr/>
        </p:nvSpPr>
        <p:spPr>
          <a:xfrm>
            <a:off x="1447800" y="381000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D47A00"/>
                </a:solidFill>
              </a:defRPr>
            </a:pPr>
            <a:r>
              <a:rPr lang="es-CO" sz="1000" b="1">
                <a:solidFill>
                  <a:srgbClr val="4285F4"/>
                </a:solidFill>
                <a:latin typeface="Reddit Sans"/>
                <a:ea typeface="Reddit Sans"/>
              </a:rPr>
              <a:t>Gobierno y Procesos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DA952B-A53E-4E8D-BD2E-66B9B2C37131}"/>
              </a:ext>
            </a:extLst>
          </p:cNvPr>
          <p:cNvSpPr>
            <a:spLocks noGrp="1"/>
          </p:cNvSpPr>
          <p:nvPr/>
        </p:nvSpPr>
        <p:spPr>
          <a:xfrm>
            <a:off x="3140529" y="3810000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Dashboards, SLA/XLA, CSAT, auditoría IA, cumplimiento</a:t>
            </a:r>
          </a:p>
        </p:txBody>
      </p:sp>
      <p:sp>
        <p:nvSpPr>
          <p:cNvPr id="18" name="layer">
            <a:extLst>
              <a:ext uri="{FF2B5EF4-FFF2-40B4-BE49-F238E27FC236}">
                <a16:creationId xmlns:a16="http://schemas.microsoft.com/office/drawing/2014/main" id="{B8C261E1-F43F-4731-B424-1A96046B6A54}"/>
              </a:ext>
            </a:extLst>
          </p:cNvPr>
          <p:cNvSpPr>
            <a:spLocks noGrp="1"/>
          </p:cNvSpPr>
          <p:nvPr/>
        </p:nvSpPr>
        <p:spPr>
          <a:xfrm>
            <a:off x="1224643" y="4166507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346C4B4-DF1D-4BD3-AFE6-7C0818FC1818}"/>
              </a:ext>
            </a:extLst>
          </p:cNvPr>
          <p:cNvSpPr>
            <a:spLocks noGrp="1"/>
          </p:cNvSpPr>
          <p:nvPr/>
        </p:nvSpPr>
        <p:spPr>
          <a:xfrm>
            <a:off x="1447800" y="4264478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013" b="1">
                <a:solidFill>
                  <a:srgbClr val="5B667A"/>
                </a:solidFill>
              </a:defRPr>
            </a:pPr>
            <a:r>
              <a:rPr lang="es-CO" sz="1000" b="1">
                <a:solidFill>
                  <a:srgbClr val="4285F4"/>
                </a:solidFill>
                <a:latin typeface="Reddit Sans"/>
                <a:ea typeface="Reddit Sans"/>
              </a:rPr>
              <a:t>Seguridad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940D614-BA13-44F4-9ED4-A5C358C8EB51}"/>
              </a:ext>
            </a:extLst>
          </p:cNvPr>
          <p:cNvSpPr>
            <a:spLocks noGrp="1"/>
          </p:cNvSpPr>
          <p:nvPr/>
        </p:nvSpPr>
        <p:spPr>
          <a:xfrm>
            <a:off x="3140529" y="4264478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SSO/IAM, VPN, cifrado, backup, ISO 27001 / ISO 42001</a:t>
            </a:r>
          </a:p>
        </p:txBody>
      </p:sp>
      <p:sp>
        <p:nvSpPr>
          <p:cNvPr id="32" name="layer">
            <a:extLst>
              <a:ext uri="{FF2B5EF4-FFF2-40B4-BE49-F238E27FC236}">
                <a16:creationId xmlns:a16="http://schemas.microsoft.com/office/drawing/2014/main" id="{5F424765-A3B7-75EB-CC8E-257F0966A113}"/>
              </a:ext>
            </a:extLst>
          </p:cNvPr>
          <p:cNvSpPr>
            <a:spLocks noGrp="1"/>
          </p:cNvSpPr>
          <p:nvPr/>
        </p:nvSpPr>
        <p:spPr>
          <a:xfrm>
            <a:off x="1224643" y="2781300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80BE3AE4-31DB-C001-E9DB-39E1AC31B079}"/>
              </a:ext>
            </a:extLst>
          </p:cNvPr>
          <p:cNvSpPr>
            <a:spLocks noGrp="1"/>
          </p:cNvSpPr>
          <p:nvPr/>
        </p:nvSpPr>
        <p:spPr>
          <a:xfrm>
            <a:off x="1447800" y="2879272"/>
            <a:ext cx="1755321" cy="166008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7057E9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Plan Carrera</a:t>
            </a:r>
            <a:endParaRPr lang="es-ES">
              <a:solidFill>
                <a:srgbClr val="4285F4"/>
              </a:solidFill>
            </a:endParaRP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2E4D44B1-35E5-C0F3-2257-0E34041856DA}"/>
              </a:ext>
            </a:extLst>
          </p:cNvPr>
          <p:cNvSpPr>
            <a:spLocks noGrp="1"/>
          </p:cNvSpPr>
          <p:nvPr/>
        </p:nvSpPr>
        <p:spPr>
          <a:xfrm>
            <a:off x="3124200" y="2879271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Promoción del equipo de soporte por etapas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37" name="layer">
            <a:extLst>
              <a:ext uri="{FF2B5EF4-FFF2-40B4-BE49-F238E27FC236}">
                <a16:creationId xmlns:a16="http://schemas.microsoft.com/office/drawing/2014/main" id="{8B902749-85FD-7ABB-B6E0-4E7E0E00F557}"/>
              </a:ext>
            </a:extLst>
          </p:cNvPr>
          <p:cNvSpPr>
            <a:spLocks noGrp="1"/>
          </p:cNvSpPr>
          <p:nvPr/>
        </p:nvSpPr>
        <p:spPr>
          <a:xfrm>
            <a:off x="1224643" y="1869623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0269905F-E1D3-7332-0256-19DCFB31895E}"/>
              </a:ext>
            </a:extLst>
          </p:cNvPr>
          <p:cNvSpPr>
            <a:spLocks noGrp="1"/>
          </p:cNvSpPr>
          <p:nvPr/>
        </p:nvSpPr>
        <p:spPr>
          <a:xfrm>
            <a:off x="1447800" y="1973037"/>
            <a:ext cx="2370365" cy="204107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087B83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Framework de Automatizaciones</a:t>
            </a:r>
            <a:endParaRPr lang="es-ES" err="1">
              <a:solidFill>
                <a:srgbClr val="4285F4"/>
              </a:solidFill>
            </a:endParaRPr>
          </a:p>
        </p:txBody>
      </p:sp>
      <p:sp>
        <p:nvSpPr>
          <p:cNvPr id="39" name="text">
            <a:extLst>
              <a:ext uri="{FF2B5EF4-FFF2-40B4-BE49-F238E27FC236}">
                <a16:creationId xmlns:a16="http://schemas.microsoft.com/office/drawing/2014/main" id="{18378113-F2A3-8E42-2E64-80BA4CB7738D}"/>
              </a:ext>
            </a:extLst>
          </p:cNvPr>
          <p:cNvSpPr>
            <a:spLocks noGrp="1"/>
          </p:cNvSpPr>
          <p:nvPr/>
        </p:nvSpPr>
        <p:spPr>
          <a:xfrm>
            <a:off x="3467100" y="1973037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Para las mesas de soporte Nivel 2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s" err="1"/>
              <a:t>Roadmap</a:t>
            </a:r>
            <a:r>
              <a:rPr lang="es"/>
              <a:t> Q3 –Q4 2026</a:t>
            </a:r>
          </a:p>
        </p:txBody>
      </p:sp>
      <p:sp>
        <p:nvSpPr>
          <p:cNvPr id="125" name="Google Shape;125;g3657f5ba65c_1_28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Mesas de Servicios de Nueva Generación (Next Gen)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D6FCB9-FC7C-5B0D-602F-B3ABFA8D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76;g3657f5ba65c_1_33">
            <a:extLst>
              <a:ext uri="{FF2B5EF4-FFF2-40B4-BE49-F238E27FC236}">
                <a16:creationId xmlns:a16="http://schemas.microsoft.com/office/drawing/2014/main" id="{C60CE0AF-7CFC-F237-2764-F5C723A6965C}"/>
              </a:ext>
            </a:extLst>
          </p:cNvPr>
          <p:cNvSpPr txBox="1">
            <a:spLocks/>
          </p:cNvSpPr>
          <p:nvPr/>
        </p:nvSpPr>
        <p:spPr>
          <a:xfrm>
            <a:off x="297034" y="265414"/>
            <a:ext cx="7536083" cy="8611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Roadmap</a:t>
            </a:r>
            <a:r>
              <a:rPr lang="es-ES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 de Implementación Mesa de Servicios de Nueva Generación </a:t>
            </a:r>
            <a:r>
              <a:rPr lang="en-US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(Q3 - Q4 2026)</a:t>
            </a:r>
            <a:endParaRPr lang="es-ES">
              <a:sym typeface="Reddit Sans"/>
            </a:endParaRPr>
          </a:p>
          <a:p>
            <a:r>
              <a:rPr lang="es-ES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Servicio Optimo y Estandarizado</a:t>
            </a:r>
            <a:endParaRPr lang="es-ES"/>
          </a:p>
        </p:txBody>
      </p:sp>
      <p:pic>
        <p:nvPicPr>
          <p:cNvPr id="8" name="Image 0" descr="0ef8cba2.png">
            <a:extLst>
              <a:ext uri="{FF2B5EF4-FFF2-40B4-BE49-F238E27FC236}">
                <a16:creationId xmlns:a16="http://schemas.microsoft.com/office/drawing/2014/main" id="{A60937F7-7E9D-F21C-3BFB-74E7880C8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859" y="3028950"/>
            <a:ext cx="9179719" cy="42863"/>
          </a:xfrm>
          <a:prstGeom prst="rect">
            <a:avLst/>
          </a:prstGeom>
        </p:spPr>
      </p:pic>
      <p:pic>
        <p:nvPicPr>
          <p:cNvPr id="10" name="Image 1" descr="-1440bf9e.png">
            <a:extLst>
              <a:ext uri="{FF2B5EF4-FFF2-40B4-BE49-F238E27FC236}">
                <a16:creationId xmlns:a16="http://schemas.microsoft.com/office/drawing/2014/main" id="{A323692D-0BC5-CBF1-32F2-3DA41F127B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46" y="1346597"/>
            <a:ext cx="21431" cy="1714500"/>
          </a:xfrm>
          <a:prstGeom prst="rect">
            <a:avLst/>
          </a:prstGeom>
        </p:spPr>
      </p:pic>
      <p:pic>
        <p:nvPicPr>
          <p:cNvPr id="12" name="Image 2" descr="0-aeb55e.png">
            <a:extLst>
              <a:ext uri="{FF2B5EF4-FFF2-40B4-BE49-F238E27FC236}">
                <a16:creationId xmlns:a16="http://schemas.microsoft.com/office/drawing/2014/main" id="{E616F815-CBDE-C7B1-0C9D-792335283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96" y="2978944"/>
            <a:ext cx="135731" cy="135731"/>
          </a:xfrm>
          <a:prstGeom prst="rect">
            <a:avLst/>
          </a:prstGeom>
        </p:spPr>
      </p:pic>
      <p:pic>
        <p:nvPicPr>
          <p:cNvPr id="14" name="Image 3" descr="-2183d71e.png">
            <a:extLst>
              <a:ext uri="{FF2B5EF4-FFF2-40B4-BE49-F238E27FC236}">
                <a16:creationId xmlns:a16="http://schemas.microsoft.com/office/drawing/2014/main" id="{E6A5BAED-95C2-9078-9B83-22AE0E006D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6899" y="3036094"/>
            <a:ext cx="21431" cy="692944"/>
          </a:xfrm>
          <a:prstGeom prst="rect">
            <a:avLst/>
          </a:prstGeom>
        </p:spPr>
      </p:pic>
      <p:pic>
        <p:nvPicPr>
          <p:cNvPr id="16" name="Image 4" descr="0-aeb55e.png">
            <a:extLst>
              <a:ext uri="{FF2B5EF4-FFF2-40B4-BE49-F238E27FC236}">
                <a16:creationId xmlns:a16="http://schemas.microsoft.com/office/drawing/2014/main" id="{94DA267A-BBAF-3AC6-08C9-C5A8DD6AC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9749" y="2978944"/>
            <a:ext cx="135731" cy="135731"/>
          </a:xfrm>
          <a:prstGeom prst="rect">
            <a:avLst/>
          </a:prstGeom>
        </p:spPr>
      </p:pic>
      <p:pic>
        <p:nvPicPr>
          <p:cNvPr id="18" name="Image 5" descr="-1440bf9e.png">
            <a:extLst>
              <a:ext uri="{FF2B5EF4-FFF2-40B4-BE49-F238E27FC236}">
                <a16:creationId xmlns:a16="http://schemas.microsoft.com/office/drawing/2014/main" id="{A8676186-F68B-58D8-85F9-4C0FD9F11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552" y="1346597"/>
            <a:ext cx="21431" cy="1714500"/>
          </a:xfrm>
          <a:prstGeom prst="rect">
            <a:avLst/>
          </a:prstGeom>
        </p:spPr>
      </p:pic>
      <p:pic>
        <p:nvPicPr>
          <p:cNvPr id="20" name="Image 6" descr="0-aeb55e.png">
            <a:extLst>
              <a:ext uri="{FF2B5EF4-FFF2-40B4-BE49-F238E27FC236}">
                <a16:creationId xmlns:a16="http://schemas.microsoft.com/office/drawing/2014/main" id="{CBF6016A-7225-E3A2-3C5B-A8B16A6C5A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4402" y="2978944"/>
            <a:ext cx="135731" cy="135731"/>
          </a:xfrm>
          <a:prstGeom prst="rect">
            <a:avLst/>
          </a:prstGeom>
        </p:spPr>
      </p:pic>
      <p:pic>
        <p:nvPicPr>
          <p:cNvPr id="22" name="Image 7" descr="-2183d71e.png">
            <a:extLst>
              <a:ext uri="{FF2B5EF4-FFF2-40B4-BE49-F238E27FC236}">
                <a16:creationId xmlns:a16="http://schemas.microsoft.com/office/drawing/2014/main" id="{CCE43E15-74EC-1715-4AAF-8B292E218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206" y="3036094"/>
            <a:ext cx="21431" cy="692944"/>
          </a:xfrm>
          <a:prstGeom prst="rect">
            <a:avLst/>
          </a:prstGeom>
        </p:spPr>
      </p:pic>
      <p:pic>
        <p:nvPicPr>
          <p:cNvPr id="24" name="Image 8" descr="0-aeb55e.png">
            <a:extLst>
              <a:ext uri="{FF2B5EF4-FFF2-40B4-BE49-F238E27FC236}">
                <a16:creationId xmlns:a16="http://schemas.microsoft.com/office/drawing/2014/main" id="{8A9D9FF7-769B-0548-ED95-3D51A817DB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6" y="2978944"/>
            <a:ext cx="135731" cy="135731"/>
          </a:xfrm>
          <a:prstGeom prst="rect">
            <a:avLst/>
          </a:prstGeom>
        </p:spPr>
      </p:pic>
      <p:pic>
        <p:nvPicPr>
          <p:cNvPr id="26" name="Image 9" descr="-1440bf9e.png">
            <a:extLst>
              <a:ext uri="{FF2B5EF4-FFF2-40B4-BE49-F238E27FC236}">
                <a16:creationId xmlns:a16="http://schemas.microsoft.com/office/drawing/2014/main" id="{D2578697-3A67-84F8-3C0A-31406242C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787" y="1346597"/>
            <a:ext cx="21431" cy="1714500"/>
          </a:xfrm>
          <a:prstGeom prst="rect">
            <a:avLst/>
          </a:prstGeom>
        </p:spPr>
      </p:pic>
      <p:pic>
        <p:nvPicPr>
          <p:cNvPr id="28" name="Image 10" descr="0-aeb55e.png">
            <a:extLst>
              <a:ext uri="{FF2B5EF4-FFF2-40B4-BE49-F238E27FC236}">
                <a16:creationId xmlns:a16="http://schemas.microsoft.com/office/drawing/2014/main" id="{E6913D40-79F8-4B8F-96D0-863BD15AB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637" y="2978944"/>
            <a:ext cx="135731" cy="135731"/>
          </a:xfrm>
          <a:prstGeom prst="rect">
            <a:avLst/>
          </a:prstGeom>
        </p:spPr>
      </p:pic>
      <p:pic>
        <p:nvPicPr>
          <p:cNvPr id="32" name="Image 12" descr="0-aeb55e.png">
            <a:extLst>
              <a:ext uri="{FF2B5EF4-FFF2-40B4-BE49-F238E27FC236}">
                <a16:creationId xmlns:a16="http://schemas.microsoft.com/office/drawing/2014/main" id="{D4E047C4-4509-0032-2117-BF2C969CFB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290" y="2978944"/>
            <a:ext cx="135731" cy="135731"/>
          </a:xfrm>
          <a:prstGeom prst="rect">
            <a:avLst/>
          </a:prstGeom>
        </p:spPr>
      </p:pic>
      <p:sp>
        <p:nvSpPr>
          <p:cNvPr id="34" name="Shape 2">
            <a:extLst>
              <a:ext uri="{FF2B5EF4-FFF2-40B4-BE49-F238E27FC236}">
                <a16:creationId xmlns:a16="http://schemas.microsoft.com/office/drawing/2014/main" id="{6BEA199E-A0D2-0F11-46EE-8E5F1096BB87}"/>
              </a:ext>
            </a:extLst>
          </p:cNvPr>
          <p:cNvSpPr/>
          <p:nvPr/>
        </p:nvSpPr>
        <p:spPr>
          <a:xfrm>
            <a:off x="782910" y="1257313"/>
            <a:ext cx="100013" cy="100013"/>
          </a:xfrm>
          <a:prstGeom prst="ellipse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F79AFF45-D7D1-9B3E-7F9D-5C344B67B1B5}"/>
              </a:ext>
            </a:extLst>
          </p:cNvPr>
          <p:cNvSpPr/>
          <p:nvPr/>
        </p:nvSpPr>
        <p:spPr>
          <a:xfrm>
            <a:off x="954405" y="1226515"/>
            <a:ext cx="2256309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Julio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C9D7385B-6E16-ACDC-1442-4423CB662B97}"/>
              </a:ext>
            </a:extLst>
          </p:cNvPr>
          <p:cNvSpPr/>
          <p:nvPr/>
        </p:nvSpPr>
        <p:spPr>
          <a:xfrm>
            <a:off x="954405" y="1466277"/>
            <a:ext cx="225630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556"/>
              </a:lnSpc>
              <a:spcBef>
                <a:spcPts val="581"/>
              </a:spcBef>
            </a:pPr>
            <a:r>
              <a:rPr lang="es-CO" kern="0" spc="-81">
                <a:solidFill>
                  <a:srgbClr val="333333"/>
                </a:solidFill>
                <a:latin typeface="Reddit Sans"/>
                <a:ea typeface="Reddit Sans"/>
              </a:rPr>
              <a:t>Diagnóstico estado actual de la operación y estudio de mercado</a:t>
            </a:r>
            <a:endParaRPr lang="en-US" kern="0" spc="-81">
              <a:solidFill>
                <a:srgbClr val="333333"/>
              </a:solidFill>
              <a:latin typeface="Reddit Sans"/>
              <a:ea typeface="Reddit Sans"/>
            </a:endParaRPr>
          </a:p>
          <a:p>
            <a:pPr>
              <a:lnSpc>
                <a:spcPts val="1556"/>
              </a:lnSpc>
              <a:spcBef>
                <a:spcPts val="581"/>
              </a:spcBef>
            </a:pPr>
            <a:endParaRPr lang="en-US" kern="0" spc="-81">
              <a:solidFill>
                <a:srgbClr val="333333"/>
              </a:solidFill>
              <a:latin typeface="Reddit Sans"/>
              <a:ea typeface="Reddit Sans"/>
            </a:endParaRPr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11651C04-9FB5-BC5B-1E3A-1DD160856B31}"/>
              </a:ext>
            </a:extLst>
          </p:cNvPr>
          <p:cNvSpPr/>
          <p:nvPr/>
        </p:nvSpPr>
        <p:spPr>
          <a:xfrm>
            <a:off x="2007505" y="3714652"/>
            <a:ext cx="100013" cy="100013"/>
          </a:xfrm>
          <a:prstGeom prst="ellipse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AFC88252-91AB-BDDC-2AC6-693F2A1838D5}"/>
              </a:ext>
            </a:extLst>
          </p:cNvPr>
          <p:cNvSpPr/>
          <p:nvPr/>
        </p:nvSpPr>
        <p:spPr>
          <a:xfrm>
            <a:off x="2179048" y="3683965"/>
            <a:ext cx="2256309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Agosto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CA36DFE1-B217-F249-4A90-F4871FBB1F7B}"/>
              </a:ext>
            </a:extLst>
          </p:cNvPr>
          <p:cNvSpPr/>
          <p:nvPr/>
        </p:nvSpPr>
        <p:spPr>
          <a:xfrm>
            <a:off x="2179048" y="3923727"/>
            <a:ext cx="225630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556"/>
              </a:lnSpc>
              <a:spcBef>
                <a:spcPts val="581"/>
              </a:spcBef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Diseño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</a:rPr>
              <a:t> del Servicio</a:t>
            </a:r>
            <a:endParaRPr lang="es-ES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173E176F-78C9-6A9B-0342-CFD7ABA4E25A}"/>
              </a:ext>
            </a:extLst>
          </p:cNvPr>
          <p:cNvSpPr/>
          <p:nvPr/>
        </p:nvSpPr>
        <p:spPr>
          <a:xfrm>
            <a:off x="2173605" y="4278315"/>
            <a:ext cx="2352794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539"/>
              </a:lnSpc>
              <a:spcBef>
                <a:spcPts val="458"/>
              </a:spcBef>
            </a:pPr>
            <a:r>
              <a:rPr lang="es-E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Diseño modelo operativo servicio optimo – Funcional y piloto de herramientas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  <a:p>
            <a:pPr>
              <a:lnSpc>
                <a:spcPts val="1539"/>
              </a:lnSpc>
              <a:spcBef>
                <a:spcPts val="458"/>
              </a:spcBef>
            </a:pP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E640B52C-DC88-FB34-7B27-0D8C14CCE92A}"/>
              </a:ext>
            </a:extLst>
          </p:cNvPr>
          <p:cNvSpPr/>
          <p:nvPr/>
        </p:nvSpPr>
        <p:spPr>
          <a:xfrm>
            <a:off x="3232212" y="1257313"/>
            <a:ext cx="100013" cy="100013"/>
          </a:xfrm>
          <a:prstGeom prst="ellipse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2" name="Text 11">
            <a:extLst>
              <a:ext uri="{FF2B5EF4-FFF2-40B4-BE49-F238E27FC236}">
                <a16:creationId xmlns:a16="http://schemas.microsoft.com/office/drawing/2014/main" id="{9A0CD8B4-72C1-3DBD-D6CA-5D4631751025}"/>
              </a:ext>
            </a:extLst>
          </p:cNvPr>
          <p:cNvSpPr/>
          <p:nvPr/>
        </p:nvSpPr>
        <p:spPr>
          <a:xfrm>
            <a:off x="3403691" y="1226515"/>
            <a:ext cx="2256309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Septiembre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9064F45C-FC6E-253E-F3BF-ADD5DB650413}"/>
              </a:ext>
            </a:extLst>
          </p:cNvPr>
          <p:cNvSpPr/>
          <p:nvPr/>
        </p:nvSpPr>
        <p:spPr>
          <a:xfrm>
            <a:off x="3403691" y="1466277"/>
            <a:ext cx="225630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556"/>
              </a:lnSpc>
              <a:spcBef>
                <a:spcPts val="581"/>
              </a:spcBef>
            </a:pPr>
            <a:r>
              <a:rPr lang="es-CO" kern="0" spc="-81">
                <a:solidFill>
                  <a:srgbClr val="333333"/>
                </a:solidFill>
                <a:latin typeface="Reddit Sans"/>
                <a:ea typeface="Reddit Sans"/>
              </a:rPr>
              <a:t>Productización y habilitación</a:t>
            </a:r>
            <a:r>
              <a:rPr lang="es-CO" sz="9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 </a:t>
            </a:r>
            <a:endParaRPr lang="en-US" sz="900" kern="0" spc="-8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>
              <a:lnSpc>
                <a:spcPts val="1556"/>
              </a:lnSpc>
              <a:spcBef>
                <a:spcPts val="581"/>
              </a:spcBef>
            </a:pPr>
            <a:endParaRPr lang="en-US" kern="0" spc="-81">
              <a:solidFill>
                <a:srgbClr val="333333"/>
              </a:solidFill>
              <a:latin typeface="Reddit Sans"/>
              <a:ea typeface="Reddit Sans"/>
            </a:endParaRPr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2F5E7761-3D4C-73E5-9A48-2ED97379677A}"/>
              </a:ext>
            </a:extLst>
          </p:cNvPr>
          <p:cNvSpPr/>
          <p:nvPr/>
        </p:nvSpPr>
        <p:spPr>
          <a:xfrm>
            <a:off x="3403691" y="1962380"/>
            <a:ext cx="2256309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539"/>
              </a:lnSpc>
              <a:spcBef>
                <a:spcPts val="458"/>
              </a:spcBef>
            </a:pPr>
            <a:r>
              <a:rPr lang="es-E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Productización</a:t>
            </a:r>
            <a:r>
              <a:rPr lang="es-E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servicio y habilitaciones equipo comercial y operación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  <a:p>
            <a:pPr>
              <a:lnSpc>
                <a:spcPts val="1539"/>
              </a:lnSpc>
              <a:spcBef>
                <a:spcPts val="458"/>
              </a:spcBef>
            </a:pP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58" name="Shape 14">
            <a:extLst>
              <a:ext uri="{FF2B5EF4-FFF2-40B4-BE49-F238E27FC236}">
                <a16:creationId xmlns:a16="http://schemas.microsoft.com/office/drawing/2014/main" id="{A4CA83DC-2500-21F2-1A44-7E17212A97AA}"/>
              </a:ext>
            </a:extLst>
          </p:cNvPr>
          <p:cNvSpPr/>
          <p:nvPr/>
        </p:nvSpPr>
        <p:spPr>
          <a:xfrm>
            <a:off x="4456807" y="3714652"/>
            <a:ext cx="100013" cy="100013"/>
          </a:xfrm>
          <a:prstGeom prst="ellipse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65178570-EB21-6844-8A4F-33B4F27D6FC9}"/>
              </a:ext>
            </a:extLst>
          </p:cNvPr>
          <p:cNvSpPr/>
          <p:nvPr/>
        </p:nvSpPr>
        <p:spPr>
          <a:xfrm>
            <a:off x="4628333" y="3683965"/>
            <a:ext cx="2256309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Octubre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FB142EBC-64B4-B329-8DF7-DE33D2F0033E}"/>
              </a:ext>
            </a:extLst>
          </p:cNvPr>
          <p:cNvSpPr/>
          <p:nvPr/>
        </p:nvSpPr>
        <p:spPr>
          <a:xfrm>
            <a:off x="4628333" y="3923727"/>
            <a:ext cx="319792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556"/>
              </a:lnSpc>
              <a:spcBef>
                <a:spcPts val="581"/>
              </a:spcBef>
            </a:pPr>
            <a:r>
              <a:rPr lang="es-CO" kern="0" spc="-81">
                <a:solidFill>
                  <a:srgbClr val="333333"/>
                </a:solidFill>
                <a:latin typeface="Reddit Sans"/>
                <a:ea typeface="Reddit Sans"/>
              </a:rPr>
              <a:t>Actualización de Procesos y transición</a:t>
            </a:r>
            <a:endParaRPr lang="en-US" kern="0" spc="-81">
              <a:solidFill>
                <a:srgbClr val="333333"/>
              </a:solidFill>
              <a:latin typeface="Reddit Sans"/>
              <a:ea typeface="Reddit Sans"/>
            </a:endParaRPr>
          </a:p>
          <a:p>
            <a:pPr>
              <a:lnSpc>
                <a:spcPts val="1556"/>
              </a:lnSpc>
              <a:spcBef>
                <a:spcPts val="581"/>
              </a:spcBef>
            </a:pPr>
            <a:endParaRPr lang="en-US" kern="0" spc="-81">
              <a:solidFill>
                <a:srgbClr val="333333"/>
              </a:solidFill>
              <a:latin typeface="Reddit Sans"/>
              <a:ea typeface="Reddit Sans"/>
            </a:endParaRPr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2EA52BB2-7CC3-E9EA-18CA-27E814EC25A8}"/>
              </a:ext>
            </a:extLst>
          </p:cNvPr>
          <p:cNvSpPr/>
          <p:nvPr/>
        </p:nvSpPr>
        <p:spPr>
          <a:xfrm>
            <a:off x="4612004" y="4278316"/>
            <a:ext cx="2256309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539"/>
              </a:lnSpc>
              <a:spcBef>
                <a:spcPts val="458"/>
              </a:spcBef>
            </a:pPr>
            <a:r>
              <a:rPr lang="es-E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Definición de procesos, y empezar transición clientes actuales.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619C0033-BA76-5877-380A-810A97C24754}"/>
              </a:ext>
            </a:extLst>
          </p:cNvPr>
          <p:cNvSpPr/>
          <p:nvPr/>
        </p:nvSpPr>
        <p:spPr>
          <a:xfrm>
            <a:off x="5681514" y="1257313"/>
            <a:ext cx="100013" cy="100013"/>
          </a:xfrm>
          <a:prstGeom prst="ellipse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5345CA53-8C85-5100-6AC2-019D3516D91C}"/>
              </a:ext>
            </a:extLst>
          </p:cNvPr>
          <p:cNvSpPr/>
          <p:nvPr/>
        </p:nvSpPr>
        <p:spPr>
          <a:xfrm>
            <a:off x="5852977" y="1226515"/>
            <a:ext cx="3055181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Noviembre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C8347A32-D1C1-36F2-5492-946191A511DD}"/>
              </a:ext>
            </a:extLst>
          </p:cNvPr>
          <p:cNvSpPr/>
          <p:nvPr/>
        </p:nvSpPr>
        <p:spPr>
          <a:xfrm>
            <a:off x="5852977" y="1466277"/>
            <a:ext cx="3055181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556"/>
              </a:lnSpc>
              <a:spcBef>
                <a:spcPts val="581"/>
              </a:spcBef>
            </a:pPr>
            <a:r>
              <a:rPr lang="es-CO" kern="0" spc="-81" err="1">
                <a:solidFill>
                  <a:srgbClr val="333333"/>
                </a:solidFill>
                <a:latin typeface="Reddit Sans"/>
                <a:ea typeface="Reddit Sans"/>
              </a:rPr>
              <a:t>Evoluci</a:t>
            </a:r>
            <a:r>
              <a:rPr lang="es-CO" kern="0" spc="-81">
                <a:solidFill>
                  <a:srgbClr val="333333"/>
                </a:solidFill>
                <a:latin typeface="Reddit Sans"/>
                <a:ea typeface="Reddit Sans"/>
              </a:rPr>
              <a:t>ón</a:t>
            </a:r>
            <a:endParaRPr lang="es-ES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9F0338E4-0A35-5395-9CFE-BD7C6086F8D8}"/>
              </a:ext>
            </a:extLst>
          </p:cNvPr>
          <p:cNvSpPr/>
          <p:nvPr/>
        </p:nvSpPr>
        <p:spPr>
          <a:xfrm>
            <a:off x="5852977" y="1962380"/>
            <a:ext cx="2592539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Ajustes basados en feedback y estabilidad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operativa.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EA73940A-C56C-2C44-5D9C-01BCBC0740C0}"/>
              </a:ext>
            </a:extLst>
          </p:cNvPr>
          <p:cNvSpPr/>
          <p:nvPr/>
        </p:nvSpPr>
        <p:spPr>
          <a:xfrm>
            <a:off x="954201" y="2006597"/>
            <a:ext cx="1731158" cy="39304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spcBef>
                <a:spcPts val="490"/>
              </a:spcBef>
            </a:pPr>
            <a:r>
              <a:rPr lang="es-E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Evaluación de la operación y diagrama inicial del servicio.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329198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5">
          <a:extLst>
            <a:ext uri="{FF2B5EF4-FFF2-40B4-BE49-F238E27FC236}">
              <a16:creationId xmlns:a16="http://schemas.microsoft.com/office/drawing/2014/main" id="{C121F98C-3EAC-8630-140F-CEEEA81F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57f5ba65c_1_33">
            <a:extLst>
              <a:ext uri="{FF2B5EF4-FFF2-40B4-BE49-F238E27FC236}">
                <a16:creationId xmlns:a16="http://schemas.microsoft.com/office/drawing/2014/main" id="{2D3DF4C5-CD7B-DCEC-650A-2076589595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1" y="113013"/>
            <a:ext cx="4362899" cy="632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Mesa de Servicios de Nueva Generación</a:t>
            </a:r>
            <a:br>
              <a:rPr lang="es-ES"/>
            </a:br>
            <a:r>
              <a:rPr lang="es-ES" b="0"/>
              <a:t>Servicio Optimo y Estandarizado</a:t>
            </a:r>
          </a:p>
        </p:txBody>
      </p:sp>
      <p:cxnSp>
        <p:nvCxnSpPr>
          <p:cNvPr id="179" name="Google Shape;179;g3657f5ba65c_1_33">
            <a:extLst>
              <a:ext uri="{FF2B5EF4-FFF2-40B4-BE49-F238E27FC236}">
                <a16:creationId xmlns:a16="http://schemas.microsoft.com/office/drawing/2014/main" id="{38CB1BF6-BBA6-8E28-4BF9-9CF69853C3F7}"/>
              </a:ext>
            </a:extLst>
          </p:cNvPr>
          <p:cNvCxnSpPr/>
          <p:nvPr/>
        </p:nvCxnSpPr>
        <p:spPr>
          <a:xfrm>
            <a:off x="372654" y="776603"/>
            <a:ext cx="8125071" cy="3858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9" name="Grupo 38">
            <a:extLst>
              <a:ext uri="{FF2B5EF4-FFF2-40B4-BE49-F238E27FC236}">
                <a16:creationId xmlns:a16="http://schemas.microsoft.com/office/drawing/2014/main" id="{FA1F7DBB-D02F-2DEE-B4BF-614D08F329E1}"/>
              </a:ext>
            </a:extLst>
          </p:cNvPr>
          <p:cNvGrpSpPr/>
          <p:nvPr/>
        </p:nvGrpSpPr>
        <p:grpSpPr>
          <a:xfrm>
            <a:off x="369335" y="2240713"/>
            <a:ext cx="1110341" cy="1197067"/>
            <a:chOff x="374777" y="2262484"/>
            <a:chExt cx="1104899" cy="494940"/>
          </a:xfrm>
        </p:grpSpPr>
        <p:sp>
          <p:nvSpPr>
            <p:cNvPr id="143" name="OTLSHAPE_SL_79f05e8de72e4cc385fce875fa65517f_HeaderRectangle">
              <a:extLst>
                <a:ext uri="{FF2B5EF4-FFF2-40B4-BE49-F238E27FC236}">
                  <a16:creationId xmlns:a16="http://schemas.microsoft.com/office/drawing/2014/main" id="{6C16EE13-B032-B85B-1504-9605D1C8EE25}"/>
                </a:ext>
              </a:extLst>
            </p:cNvPr>
            <p:cNvSpPr/>
            <p:nvPr/>
          </p:nvSpPr>
          <p:spPr>
            <a:xfrm>
              <a:off x="374777" y="2262484"/>
              <a:ext cx="1104899" cy="494940"/>
            </a:xfrm>
            <a:prstGeom prst="rect">
              <a:avLst/>
            </a:prstGeom>
            <a:solidFill>
              <a:schemeClr val="bg1"/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800">
                <a:latin typeface="Reddit Sans"/>
                <a:ea typeface="Reddit Sans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963B7-288B-A4BF-1DCD-153ADE5CE91A}"/>
                </a:ext>
              </a:extLst>
            </p:cNvPr>
            <p:cNvSpPr txBox="1"/>
            <p:nvPr/>
          </p:nvSpPr>
          <p:spPr>
            <a:xfrm>
              <a:off x="455124" y="2399564"/>
              <a:ext cx="960433" cy="29268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800" b="1">
                  <a:latin typeface="Reddit Sans"/>
                  <a:ea typeface="Reddit Sans"/>
                </a:rPr>
                <a:t>Diseño y Productización </a:t>
              </a:r>
              <a:r>
                <a:rPr sz="800" b="1">
                  <a:latin typeface="Reddit Sans"/>
                  <a:ea typeface="Reddit Sans"/>
                </a:rPr>
                <a:t>del</a:t>
              </a:r>
              <a:r>
                <a:rPr lang="es-ES" sz="800" b="1">
                  <a:latin typeface="Reddit Sans"/>
                  <a:ea typeface="Reddit San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800" b="1">
                  <a:latin typeface="Reddit Sans"/>
                  <a:ea typeface="Reddit Sans"/>
                </a:rPr>
                <a:t>Servicio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800" b="1">
                  <a:latin typeface="Reddit Sans"/>
                  <a:ea typeface="Reddit Sans"/>
                </a:rPr>
                <a:t>Optimo (N5)</a:t>
              </a: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83696145-9F54-4D8F-4384-A812F58B4A0E}"/>
              </a:ext>
            </a:extLst>
          </p:cNvPr>
          <p:cNvGrpSpPr/>
          <p:nvPr/>
        </p:nvGrpSpPr>
        <p:grpSpPr>
          <a:xfrm>
            <a:off x="369336" y="3492567"/>
            <a:ext cx="1110343" cy="663673"/>
            <a:chOff x="380220" y="2812210"/>
            <a:chExt cx="1099458" cy="358874"/>
          </a:xfrm>
        </p:grpSpPr>
        <p:sp>
          <p:nvSpPr>
            <p:cNvPr id="144" name="OTLSHAPE_SL_79f05e8de72e4cc385fce875fa65517f_HeaderRectangle">
              <a:extLst>
                <a:ext uri="{FF2B5EF4-FFF2-40B4-BE49-F238E27FC236}">
                  <a16:creationId xmlns:a16="http://schemas.microsoft.com/office/drawing/2014/main" id="{FFE1C5D7-8270-2EED-3C26-B124A668C90C}"/>
                </a:ext>
              </a:extLst>
            </p:cNvPr>
            <p:cNvSpPr/>
            <p:nvPr/>
          </p:nvSpPr>
          <p:spPr>
            <a:xfrm>
              <a:off x="380220" y="2812210"/>
              <a:ext cx="1099458" cy="358874"/>
            </a:xfrm>
            <a:prstGeom prst="rect">
              <a:avLst/>
            </a:prstGeom>
            <a:solidFill>
              <a:schemeClr val="bg1"/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800">
                <a:latin typeface="Reddit Sans"/>
                <a:ea typeface="Reddit Sans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9C1A8DA-6D6B-B140-7192-5C9076793FC5}"/>
                </a:ext>
              </a:extLst>
            </p:cNvPr>
            <p:cNvSpPr txBox="1"/>
            <p:nvPr/>
          </p:nvSpPr>
          <p:spPr>
            <a:xfrm>
              <a:off x="455365" y="2898024"/>
              <a:ext cx="960554" cy="18307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defRPr sz="1300" b="1">
                  <a:solidFill>
                    <a:srgbClr val="3C3C3C"/>
                  </a:solidFill>
                </a:defRPr>
              </a:pPr>
              <a:r>
                <a:rPr lang="es-CO" sz="800" b="1">
                  <a:latin typeface="Reddit Sans"/>
                  <a:ea typeface="Reddit Sans"/>
                </a:rPr>
                <a:t>Habilitación del Servicio Optimo</a:t>
              </a:r>
              <a:endParaRPr lang="es-CO" sz="800">
                <a:latin typeface="Reddit Sans"/>
                <a:ea typeface="Reddit Sans"/>
              </a:endParaRPr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16221CA3-E7B3-957B-18B7-DC1C10BC6571}"/>
              </a:ext>
            </a:extLst>
          </p:cNvPr>
          <p:cNvGrpSpPr/>
          <p:nvPr/>
        </p:nvGrpSpPr>
        <p:grpSpPr>
          <a:xfrm>
            <a:off x="369334" y="4189255"/>
            <a:ext cx="1110343" cy="549631"/>
            <a:chOff x="374776" y="4113052"/>
            <a:chExt cx="1099458" cy="537127"/>
          </a:xfrm>
        </p:grpSpPr>
        <p:sp>
          <p:nvSpPr>
            <p:cNvPr id="147" name="OTLSHAPE_SL_79f05e8de72e4cc385fce875fa65517f_HeaderRectangle">
              <a:extLst>
                <a:ext uri="{FF2B5EF4-FFF2-40B4-BE49-F238E27FC236}">
                  <a16:creationId xmlns:a16="http://schemas.microsoft.com/office/drawing/2014/main" id="{AEF0F027-BBF4-D92E-9BE1-D4C14964217E}"/>
                </a:ext>
              </a:extLst>
            </p:cNvPr>
            <p:cNvSpPr/>
            <p:nvPr/>
          </p:nvSpPr>
          <p:spPr>
            <a:xfrm>
              <a:off x="374776" y="4113052"/>
              <a:ext cx="1099458" cy="467731"/>
            </a:xfrm>
            <a:prstGeom prst="rect">
              <a:avLst/>
            </a:prstGeom>
            <a:solidFill>
              <a:schemeClr val="bg1"/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800">
                <a:latin typeface="Reddit Sans"/>
                <a:ea typeface="Reddit San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8D7DC06-B57E-62F5-577F-ED2309A30092}"/>
                </a:ext>
              </a:extLst>
            </p:cNvPr>
            <p:cNvSpPr txBox="1"/>
            <p:nvPr/>
          </p:nvSpPr>
          <p:spPr>
            <a:xfrm>
              <a:off x="485113" y="4199016"/>
              <a:ext cx="938029" cy="45116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800" b="1" kern="1200">
                  <a:latin typeface="Reddit Sans"/>
                  <a:ea typeface="Reddit Sans"/>
                  <a:cs typeface="+mn-cs"/>
                </a:rPr>
                <a:t>Transición</a:t>
              </a:r>
              <a:r>
                <a:rPr lang="es-ES" sz="800" b="1" kern="1200">
                  <a:latin typeface="Reddit Sans"/>
                  <a:ea typeface="Reddit Sans"/>
                  <a:cs typeface="+mn-c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800" b="1" kern="1200">
                  <a:latin typeface="Reddit Sans"/>
                  <a:ea typeface="Reddit Sans"/>
                  <a:cs typeface="+mn-cs"/>
                </a:rPr>
                <a:t>Clientes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800" b="1" kern="1200">
                  <a:latin typeface="Reddit Sans"/>
                  <a:ea typeface="Reddit Sans"/>
                  <a:cs typeface="+mn-cs"/>
                </a:rPr>
                <a:t>Existentes</a:t>
              </a:r>
              <a:endParaRPr lang="es-ES" sz="800">
                <a:latin typeface="Reddit Sans"/>
                <a:ea typeface="Reddit Sans"/>
                <a:cs typeface="+mn-cs"/>
              </a:endParaRPr>
            </a:p>
          </p:txBody>
        </p:sp>
      </p:grp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9911FF49-DC72-F530-EBD6-6B2C25D73C40}"/>
              </a:ext>
            </a:extLst>
          </p:cNvPr>
          <p:cNvSpPr/>
          <p:nvPr/>
        </p:nvSpPr>
        <p:spPr>
          <a:xfrm>
            <a:off x="1558717" y="1541962"/>
            <a:ext cx="900411" cy="366193"/>
          </a:xfrm>
          <a:prstGeom prst="roundRect">
            <a:avLst/>
          </a:prstGeom>
          <a:solidFill>
            <a:schemeClr val="bg1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33C86C9-8351-0614-D81A-06A00B0E7DF8}"/>
              </a:ext>
            </a:extLst>
          </p:cNvPr>
          <p:cNvSpPr txBox="1"/>
          <p:nvPr/>
        </p:nvSpPr>
        <p:spPr>
          <a:xfrm>
            <a:off x="375556" y="906234"/>
            <a:ext cx="1110347" cy="374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>
                <a:solidFill>
                  <a:srgbClr val="00717D"/>
                </a:solidFill>
                <a:latin typeface="Reddit Sans"/>
                <a:ea typeface="Reddit Sans"/>
              </a:rPr>
              <a:t>Modelos de entrega de las Mesas de Servicio de Nueva </a:t>
            </a:r>
            <a:r>
              <a:rPr lang="es-ES" sz="600" i="1" err="1">
                <a:solidFill>
                  <a:srgbClr val="00717D"/>
                </a:solidFill>
                <a:latin typeface="Reddit Sans"/>
                <a:ea typeface="Reddit Sans"/>
              </a:rPr>
              <a:t>Generaci</a:t>
            </a:r>
            <a:r>
              <a:rPr lang="es-ES" sz="600" i="1">
                <a:solidFill>
                  <a:srgbClr val="00717D"/>
                </a:solidFill>
                <a:latin typeface="Reddit Sans"/>
                <a:ea typeface="Reddit Sans"/>
              </a:rPr>
              <a:t>ón </a:t>
            </a:r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6382B717-C215-9586-0C14-654C3B4DDC0B}"/>
              </a:ext>
            </a:extLst>
          </p:cNvPr>
          <p:cNvSpPr/>
          <p:nvPr/>
        </p:nvSpPr>
        <p:spPr>
          <a:xfrm>
            <a:off x="4045123" y="3512272"/>
            <a:ext cx="1102506" cy="262781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comerciales</a:t>
            </a: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F4DB8385-54D7-60E5-0527-FD1274CCC5D2}"/>
              </a:ext>
            </a:extLst>
          </p:cNvPr>
          <p:cNvSpPr/>
          <p:nvPr/>
        </p:nvSpPr>
        <p:spPr>
          <a:xfrm>
            <a:off x="4583972" y="3833405"/>
            <a:ext cx="960987" cy="246449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3B261526-EF33-B2DF-A98E-BEF00671F067}"/>
              </a:ext>
            </a:extLst>
          </p:cNvPr>
          <p:cNvSpPr/>
          <p:nvPr/>
        </p:nvSpPr>
        <p:spPr>
          <a:xfrm>
            <a:off x="1534595" y="11965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>
              <a:latin typeface="Reddit Sans"/>
              <a:ea typeface="Reddit Sans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2450AB9-867D-C8A7-DFF7-6A0EDC4A796E}"/>
              </a:ext>
            </a:extLst>
          </p:cNvPr>
          <p:cNvSpPr txBox="1"/>
          <p:nvPr/>
        </p:nvSpPr>
        <p:spPr>
          <a:xfrm>
            <a:off x="4316186" y="11947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Q3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B9B2C632-D675-2574-24E7-F05E58B67A34}"/>
              </a:ext>
            </a:extLst>
          </p:cNvPr>
          <p:cNvSpPr txBox="1"/>
          <p:nvPr/>
        </p:nvSpPr>
        <p:spPr>
          <a:xfrm>
            <a:off x="7538356" y="11947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Q4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77E854F4-C2A7-494F-9814-0D65844E953B}"/>
              </a:ext>
            </a:extLst>
          </p:cNvPr>
          <p:cNvCxnSpPr/>
          <p:nvPr/>
        </p:nvCxnSpPr>
        <p:spPr>
          <a:xfrm>
            <a:off x="6934200" y="12042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88C7B6FA-4D2E-17BA-E219-6E2B880E0B94}"/>
              </a:ext>
            </a:extLst>
          </p:cNvPr>
          <p:cNvSpPr txBox="1"/>
          <p:nvPr/>
        </p:nvSpPr>
        <p:spPr>
          <a:xfrm>
            <a:off x="2279195" y="13784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DE0BA9B-85D9-893D-02AA-43387A104DA6}"/>
              </a:ext>
            </a:extLst>
          </p:cNvPr>
          <p:cNvSpPr txBox="1"/>
          <p:nvPr/>
        </p:nvSpPr>
        <p:spPr>
          <a:xfrm>
            <a:off x="4026351" y="13838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C735DE2-D0F8-2232-A888-7347C71FE748}"/>
              </a:ext>
            </a:extLst>
          </p:cNvPr>
          <p:cNvSpPr txBox="1"/>
          <p:nvPr/>
        </p:nvSpPr>
        <p:spPr>
          <a:xfrm>
            <a:off x="5659207" y="13784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8517EEC8-0689-3FB6-7542-296FD3516CD8}"/>
              </a:ext>
            </a:extLst>
          </p:cNvPr>
          <p:cNvSpPr txBox="1"/>
          <p:nvPr/>
        </p:nvSpPr>
        <p:spPr>
          <a:xfrm>
            <a:off x="7439023" y="13784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B8D9AA85-D001-24C3-3364-7AC719A427B2}"/>
              </a:ext>
            </a:extLst>
          </p:cNvPr>
          <p:cNvCxnSpPr/>
          <p:nvPr/>
        </p:nvCxnSpPr>
        <p:spPr>
          <a:xfrm>
            <a:off x="3363686" y="14110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9B5A6607-AB3D-F27C-416F-F3BB7E059F2A}"/>
              </a:ext>
            </a:extLst>
          </p:cNvPr>
          <p:cNvCxnSpPr>
            <a:cxnSpLocks/>
          </p:cNvCxnSpPr>
          <p:nvPr/>
        </p:nvCxnSpPr>
        <p:spPr>
          <a:xfrm>
            <a:off x="5083628" y="13784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BCD917FC-1786-17FD-42AB-06BA124DBFBD}"/>
              </a:ext>
            </a:extLst>
          </p:cNvPr>
          <p:cNvCxnSpPr>
            <a:cxnSpLocks/>
          </p:cNvCxnSpPr>
          <p:nvPr/>
        </p:nvCxnSpPr>
        <p:spPr>
          <a:xfrm>
            <a:off x="6868887" y="1372958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72A2CD6-6E9B-EA84-0DC2-9B7350B59577}"/>
              </a:ext>
            </a:extLst>
          </p:cNvPr>
          <p:cNvSpPr txBox="1"/>
          <p:nvPr/>
        </p:nvSpPr>
        <p:spPr>
          <a:xfrm>
            <a:off x="1556657" y="1624691"/>
            <a:ext cx="903516" cy="2387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chemeClr val="tx1"/>
                </a:solidFill>
                <a:latin typeface="Reddit Sans"/>
                <a:ea typeface="Reddit Sans"/>
                <a:cs typeface="+mn-cs"/>
              </a:rPr>
              <a:t>Levantar lecciones aprendidas mesas de servicio operación actual</a:t>
            </a:r>
            <a:endParaRPr lang="es-ES" sz="600" kern="120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7D22CFC5-B3A2-EBAD-084C-F113C86A02F9}"/>
              </a:ext>
            </a:extLst>
          </p:cNvPr>
          <p:cNvSpPr/>
          <p:nvPr/>
        </p:nvSpPr>
        <p:spPr>
          <a:xfrm>
            <a:off x="1662132" y="1933846"/>
            <a:ext cx="845983" cy="273665"/>
          </a:xfrm>
          <a:prstGeom prst="roundRect">
            <a:avLst/>
          </a:prstGeom>
          <a:solidFill>
            <a:schemeClr val="bg1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785E18AD-CD1C-C2AE-A02A-DB9543853C98}"/>
              </a:ext>
            </a:extLst>
          </p:cNvPr>
          <p:cNvSpPr txBox="1"/>
          <p:nvPr/>
        </p:nvSpPr>
        <p:spPr>
          <a:xfrm>
            <a:off x="1605641" y="1945821"/>
            <a:ext cx="963387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Caracterizar las mesas de servicio (mercado)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9FC1D5E0-CEE7-396C-35CD-CE57B82CB9D7}"/>
              </a:ext>
            </a:extLst>
          </p:cNvPr>
          <p:cNvSpPr/>
          <p:nvPr/>
        </p:nvSpPr>
        <p:spPr>
          <a:xfrm>
            <a:off x="6870946" y="4475657"/>
            <a:ext cx="1074584" cy="268223"/>
          </a:xfrm>
          <a:prstGeom prst="roundRect">
            <a:avLst/>
          </a:prstGeom>
          <a:noFill/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130AC089-52A0-57DE-4EF6-A870849161A4}"/>
              </a:ext>
            </a:extLst>
          </p:cNvPr>
          <p:cNvSpPr txBox="1"/>
          <p:nvPr/>
        </p:nvSpPr>
        <p:spPr>
          <a:xfrm>
            <a:off x="6852558" y="4476748"/>
            <a:ext cx="120831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*Identificar costos de transición al servicio nuevo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9CBF511A-8C27-08A2-FB1D-730D65364C33}"/>
              </a:ext>
            </a:extLst>
          </p:cNvPr>
          <p:cNvSpPr/>
          <p:nvPr/>
        </p:nvSpPr>
        <p:spPr>
          <a:xfrm>
            <a:off x="2511218" y="1629045"/>
            <a:ext cx="867754" cy="273666"/>
          </a:xfrm>
          <a:prstGeom prst="roundRect">
            <a:avLst/>
          </a:prstGeom>
          <a:solidFill>
            <a:schemeClr val="bg1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AB86449B-EDC5-BF0C-769F-14142C091898}"/>
              </a:ext>
            </a:extLst>
          </p:cNvPr>
          <p:cNvSpPr txBox="1"/>
          <p:nvPr/>
        </p:nvSpPr>
        <p:spPr>
          <a:xfrm>
            <a:off x="2465613" y="1630135"/>
            <a:ext cx="96338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Business Service Blue </a:t>
            </a:r>
            <a:r>
              <a:rPr lang="es-ES" sz="600" err="1">
                <a:latin typeface="Reddit Sans"/>
                <a:ea typeface="Reddit Sans"/>
              </a:rPr>
              <a:t>Print</a:t>
            </a:r>
            <a:endParaRPr lang="es-ES" err="1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E752F488-CC0B-2A12-AF8B-5278E4372119}"/>
              </a:ext>
            </a:extLst>
          </p:cNvPr>
          <p:cNvGrpSpPr/>
          <p:nvPr/>
        </p:nvGrpSpPr>
        <p:grpSpPr>
          <a:xfrm>
            <a:off x="3766419" y="2591143"/>
            <a:ext cx="2185984" cy="256227"/>
            <a:chOff x="3801287" y="2683441"/>
            <a:chExt cx="3176660" cy="180283"/>
          </a:xfrm>
        </p:grpSpPr>
        <p:sp>
          <p:nvSpPr>
            <p:cNvPr id="171" name="Rounded Rectangle 21">
              <a:extLst>
                <a:ext uri="{FF2B5EF4-FFF2-40B4-BE49-F238E27FC236}">
                  <a16:creationId xmlns:a16="http://schemas.microsoft.com/office/drawing/2014/main" id="{DC4725BD-ED8B-65C7-C15E-3A28C20E37B0}"/>
                </a:ext>
              </a:extLst>
            </p:cNvPr>
            <p:cNvSpPr/>
            <p:nvPr/>
          </p:nvSpPr>
          <p:spPr>
            <a:xfrm>
              <a:off x="3801287" y="2684353"/>
              <a:ext cx="3126428" cy="17937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342900"/>
              <a:endParaRPr lang="es-ES" sz="600" kern="1200">
                <a:solidFill>
                  <a:srgbClr val="000000"/>
                </a:solidFill>
                <a:latin typeface="Reddit Sans"/>
                <a:ea typeface="Reddit Sans"/>
              </a:endParaRPr>
            </a:p>
          </p:txBody>
        </p:sp>
        <p:sp>
          <p:nvSpPr>
            <p:cNvPr id="172" name="CuadroTexto 171">
              <a:extLst>
                <a:ext uri="{FF2B5EF4-FFF2-40B4-BE49-F238E27FC236}">
                  <a16:creationId xmlns:a16="http://schemas.microsoft.com/office/drawing/2014/main" id="{00525969-E2DC-EFD9-ED20-2FE91A11D63B}"/>
                </a:ext>
              </a:extLst>
            </p:cNvPr>
            <p:cNvSpPr txBox="1"/>
            <p:nvPr/>
          </p:nvSpPr>
          <p:spPr>
            <a:xfrm>
              <a:off x="3810203" y="2683441"/>
              <a:ext cx="3167744" cy="129932"/>
            </a:xfrm>
            <a:prstGeom prst="rect">
              <a:avLst/>
            </a:prstGeom>
            <a:noFill/>
            <a:ln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s-ES" sz="600">
                  <a:latin typeface="Reddit Sans"/>
                  <a:ea typeface="Reddit Sans"/>
                </a:rPr>
                <a:t>Clientes pioneros con herramienta (agentes/</a:t>
              </a:r>
              <a:r>
                <a:rPr lang="es-ES" sz="600" err="1">
                  <a:latin typeface="Reddit Sans"/>
                  <a:ea typeface="Reddit Sans"/>
                </a:rPr>
                <a:t>reuso</a:t>
              </a:r>
              <a:r>
                <a:rPr lang="es-ES" sz="600">
                  <a:latin typeface="Reddit Sans"/>
                  <a:ea typeface="Reddit Sans"/>
                </a:rPr>
                <a:t>) </a:t>
              </a:r>
            </a:p>
          </p:txBody>
        </p:sp>
      </p:grp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235C75B2-0720-AB3E-D85A-CE8EBA10A54E}"/>
              </a:ext>
            </a:extLst>
          </p:cNvPr>
          <p:cNvSpPr/>
          <p:nvPr/>
        </p:nvSpPr>
        <p:spPr>
          <a:xfrm>
            <a:off x="6032745" y="2875461"/>
            <a:ext cx="1199769" cy="306320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3ADF37BD-7406-6FE1-0D8F-7A7C24C7885B}"/>
              </a:ext>
            </a:extLst>
          </p:cNvPr>
          <p:cNvSpPr/>
          <p:nvPr/>
        </p:nvSpPr>
        <p:spPr>
          <a:xfrm>
            <a:off x="1749220" y="4803319"/>
            <a:ext cx="241822" cy="132153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B852DB45-3B81-C168-A565-CF9B308C09B6}"/>
              </a:ext>
            </a:extLst>
          </p:cNvPr>
          <p:cNvSpPr/>
          <p:nvPr/>
        </p:nvSpPr>
        <p:spPr>
          <a:xfrm>
            <a:off x="6234134" y="4149088"/>
            <a:ext cx="873195" cy="273665"/>
          </a:xfrm>
          <a:prstGeom prst="roundRect">
            <a:avLst/>
          </a:prstGeom>
          <a:noFill/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5B16DE53-D4DE-C70C-39F3-FC931AADA4B0}"/>
              </a:ext>
            </a:extLst>
          </p:cNvPr>
          <p:cNvSpPr txBox="1"/>
          <p:nvPr/>
        </p:nvSpPr>
        <p:spPr>
          <a:xfrm>
            <a:off x="6204860" y="4139290"/>
            <a:ext cx="121375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*Priorizar las mesas a </a:t>
            </a:r>
            <a:r>
              <a:rPr lang="es-CO" sz="600" err="1">
                <a:latin typeface="Reddit Sans"/>
              </a:rPr>
              <a:t>transicionar</a:t>
            </a:r>
            <a:endParaRPr lang="es-CO" sz="600">
              <a:latin typeface="Reddit Sans"/>
            </a:endParaRP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F257AA23-8634-C9B4-87B8-9993F08348BB}"/>
              </a:ext>
            </a:extLst>
          </p:cNvPr>
          <p:cNvSpPr/>
          <p:nvPr/>
        </p:nvSpPr>
        <p:spPr>
          <a:xfrm>
            <a:off x="7480544" y="4154528"/>
            <a:ext cx="1210654" cy="257340"/>
          </a:xfrm>
          <a:prstGeom prst="roundRect">
            <a:avLst/>
          </a:prstGeom>
          <a:noFill/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F6DF06AC-2B92-27BB-9E76-9C8C0E343E14}"/>
              </a:ext>
            </a:extLst>
          </p:cNvPr>
          <p:cNvSpPr txBox="1"/>
          <p:nvPr/>
        </p:nvSpPr>
        <p:spPr>
          <a:xfrm>
            <a:off x="7505698" y="4155616"/>
            <a:ext cx="1295402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*Iniciar creación plan de transición operación actual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13BB3D3C-4DB4-2B26-0D9C-8236B9B00E2F}"/>
              </a:ext>
            </a:extLst>
          </p:cNvPr>
          <p:cNvSpPr/>
          <p:nvPr/>
        </p:nvSpPr>
        <p:spPr>
          <a:xfrm>
            <a:off x="4747251" y="2880900"/>
            <a:ext cx="569107" cy="208353"/>
          </a:xfrm>
          <a:prstGeom prst="round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69242A1A-CFCC-7241-9272-CB6D3310AD2C}"/>
              </a:ext>
            </a:extLst>
          </p:cNvPr>
          <p:cNvSpPr/>
          <p:nvPr/>
        </p:nvSpPr>
        <p:spPr>
          <a:xfrm>
            <a:off x="3305877" y="4803319"/>
            <a:ext cx="241823" cy="132152"/>
          </a:xfrm>
          <a:prstGeom prst="round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08D6132C-C29E-E7B2-0106-9635E581A731}"/>
              </a:ext>
            </a:extLst>
          </p:cNvPr>
          <p:cNvSpPr/>
          <p:nvPr/>
        </p:nvSpPr>
        <p:spPr>
          <a:xfrm>
            <a:off x="4922406" y="4803319"/>
            <a:ext cx="241821" cy="121269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35C228B1-781B-BAD8-69B0-A7CCEFD1E869}"/>
              </a:ext>
            </a:extLst>
          </p:cNvPr>
          <p:cNvSpPr txBox="1"/>
          <p:nvPr/>
        </p:nvSpPr>
        <p:spPr>
          <a:xfrm>
            <a:off x="4751612" y="2849337"/>
            <a:ext cx="57150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Validación y feedback</a:t>
            </a:r>
          </a:p>
        </p:txBody>
      </p: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464215F9-CEEA-62F0-BA84-D614981A3481}"/>
              </a:ext>
            </a:extLst>
          </p:cNvPr>
          <p:cNvSpPr/>
          <p:nvPr/>
        </p:nvSpPr>
        <p:spPr>
          <a:xfrm>
            <a:off x="6383382" y="357049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C971DD1A-006B-5A36-179F-DADD98D62599}"/>
              </a:ext>
            </a:extLst>
          </p:cNvPr>
          <p:cNvSpPr txBox="1"/>
          <p:nvPr/>
        </p:nvSpPr>
        <p:spPr>
          <a:xfrm>
            <a:off x="6515103" y="306973"/>
            <a:ext cx="194309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>
                <a:latin typeface="Reddit Sans"/>
                <a:ea typeface="Reddit Sans"/>
              </a:rPr>
              <a:t>Entrega incremental del servicio optimizado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78627ABC-B033-ACB5-9116-D15DBA26E4D0}"/>
              </a:ext>
            </a:extLst>
          </p:cNvPr>
          <p:cNvSpPr/>
          <p:nvPr/>
        </p:nvSpPr>
        <p:spPr>
          <a:xfrm>
            <a:off x="6604251" y="3185703"/>
            <a:ext cx="628266" cy="279108"/>
          </a:xfrm>
          <a:prstGeom prst="roundRect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 evolución del servicio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354F3CF7-3B44-4804-4507-4688F15B07CD}"/>
              </a:ext>
            </a:extLst>
          </p:cNvPr>
          <p:cNvSpPr/>
          <p:nvPr/>
        </p:nvSpPr>
        <p:spPr>
          <a:xfrm>
            <a:off x="7496869" y="2772038"/>
            <a:ext cx="1074586" cy="366199"/>
          </a:xfrm>
          <a:prstGeom prst="roundRect">
            <a:avLst/>
          </a:prstGeom>
          <a:solidFill>
            <a:schemeClr val="bg1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E7E92352-92D2-B042-D209-2B6C74FD0871}"/>
              </a:ext>
            </a:extLst>
          </p:cNvPr>
          <p:cNvSpPr txBox="1"/>
          <p:nvPr/>
        </p:nvSpPr>
        <p:spPr>
          <a:xfrm>
            <a:off x="7505698" y="2794902"/>
            <a:ext cx="1137559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Publicación de los procesos del servicio actualizado en el SIG</a:t>
            </a:r>
          </a:p>
        </p:txBody>
      </p:sp>
      <p:sp>
        <p:nvSpPr>
          <p:cNvPr id="3" name="Rounded Rectangle 21">
            <a:extLst>
              <a:ext uri="{FF2B5EF4-FFF2-40B4-BE49-F238E27FC236}">
                <a16:creationId xmlns:a16="http://schemas.microsoft.com/office/drawing/2014/main" id="{A538B210-777B-CFB2-08B8-4F56103C285D}"/>
              </a:ext>
            </a:extLst>
          </p:cNvPr>
          <p:cNvSpPr/>
          <p:nvPr/>
        </p:nvSpPr>
        <p:spPr>
          <a:xfrm>
            <a:off x="6849178" y="4803319"/>
            <a:ext cx="241820" cy="121267"/>
          </a:xfrm>
          <a:prstGeom prst="roundRect">
            <a:avLst/>
          </a:prstGeom>
          <a:noFill/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CO" sz="600" kern="1200">
              <a:solidFill>
                <a:srgbClr val="000000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6" name="Estrella: 5 puntas 5">
            <a:extLst>
              <a:ext uri="{FF2B5EF4-FFF2-40B4-BE49-F238E27FC236}">
                <a16:creationId xmlns:a16="http://schemas.microsoft.com/office/drawing/2014/main" id="{62C9E1E2-2A0A-DDA0-313C-D4063CC24BD9}"/>
              </a:ext>
            </a:extLst>
          </p:cNvPr>
          <p:cNvSpPr/>
          <p:nvPr/>
        </p:nvSpPr>
        <p:spPr>
          <a:xfrm>
            <a:off x="3182982" y="14238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7" name="Estrella: 5 puntas 6">
            <a:extLst>
              <a:ext uri="{FF2B5EF4-FFF2-40B4-BE49-F238E27FC236}">
                <a16:creationId xmlns:a16="http://schemas.microsoft.com/office/drawing/2014/main" id="{F4F32DF4-F537-1FC7-522F-C37FCC299D4C}"/>
              </a:ext>
            </a:extLst>
          </p:cNvPr>
          <p:cNvSpPr/>
          <p:nvPr/>
        </p:nvSpPr>
        <p:spPr>
          <a:xfrm>
            <a:off x="4930139" y="14238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C99ADC09-5820-8259-469E-293F5061C063}"/>
              </a:ext>
            </a:extLst>
          </p:cNvPr>
          <p:cNvSpPr/>
          <p:nvPr/>
        </p:nvSpPr>
        <p:spPr>
          <a:xfrm>
            <a:off x="6748053" y="1440176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grpSp>
        <p:nvGrpSpPr>
          <p:cNvPr id="44" name="Grupo 43">
            <a:extLst>
              <a:ext uri="{FF2B5EF4-FFF2-40B4-BE49-F238E27FC236}">
                <a16:creationId xmlns:a16="http://schemas.microsoft.com/office/drawing/2014/main" id="{6FFDA85E-B72E-D0F4-3B05-5F146D411815}"/>
              </a:ext>
            </a:extLst>
          </p:cNvPr>
          <p:cNvGrpSpPr/>
          <p:nvPr/>
        </p:nvGrpSpPr>
        <p:grpSpPr>
          <a:xfrm>
            <a:off x="369335" y="1440612"/>
            <a:ext cx="1104897" cy="689933"/>
            <a:chOff x="369335" y="1625669"/>
            <a:chExt cx="1104897" cy="689933"/>
          </a:xfrm>
        </p:grpSpPr>
        <p:sp>
          <p:nvSpPr>
            <p:cNvPr id="13" name="OTLSHAPE_SL_79f05e8de72e4cc385fce875fa65517f_HeaderRectangle">
              <a:extLst>
                <a:ext uri="{FF2B5EF4-FFF2-40B4-BE49-F238E27FC236}">
                  <a16:creationId xmlns:a16="http://schemas.microsoft.com/office/drawing/2014/main" id="{E3D8032F-2E8E-4EA2-DA09-3602227C831B}"/>
                </a:ext>
              </a:extLst>
            </p:cNvPr>
            <p:cNvSpPr/>
            <p:nvPr/>
          </p:nvSpPr>
          <p:spPr>
            <a:xfrm>
              <a:off x="369335" y="1625669"/>
              <a:ext cx="1104897" cy="609244"/>
            </a:xfrm>
            <a:prstGeom prst="rect">
              <a:avLst/>
            </a:prstGeom>
            <a:solidFill>
              <a:schemeClr val="bg1"/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800">
                <a:latin typeface="Reddit Sans"/>
                <a:ea typeface="Reddit San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91FDAEE1-4DA3-FE50-6199-004E909D4174}"/>
                </a:ext>
              </a:extLst>
            </p:cNvPr>
            <p:cNvSpPr txBox="1"/>
            <p:nvPr/>
          </p:nvSpPr>
          <p:spPr>
            <a:xfrm>
              <a:off x="460566" y="1730827"/>
              <a:ext cx="927777" cy="58477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800" b="1">
                  <a:latin typeface="Reddit Sans"/>
                  <a:ea typeface="Reddit Sans"/>
                </a:rPr>
                <a:t>Evaluación inicial de la operación y el mercado</a:t>
              </a:r>
            </a:p>
          </p:txBody>
        </p:sp>
      </p:grp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E760ADA-0672-AFB1-9D9C-E4FDDFF93795}"/>
              </a:ext>
            </a:extLst>
          </p:cNvPr>
          <p:cNvSpPr/>
          <p:nvPr/>
        </p:nvSpPr>
        <p:spPr>
          <a:xfrm>
            <a:off x="2756145" y="1928402"/>
            <a:ext cx="845982" cy="273668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6B7E8F6-4C9F-CD3A-6BD9-EECDBAC34F88}"/>
              </a:ext>
            </a:extLst>
          </p:cNvPr>
          <p:cNvSpPr txBox="1"/>
          <p:nvPr/>
        </p:nvSpPr>
        <p:spPr>
          <a:xfrm>
            <a:off x="2732312" y="1891391"/>
            <a:ext cx="89263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Alineación de </a:t>
            </a:r>
            <a:r>
              <a:rPr lang="es-CO" sz="600" err="1">
                <a:latin typeface="Reddit Sans"/>
                <a:ea typeface="Reddit Sans"/>
              </a:rPr>
              <a:t>espectivas</a:t>
            </a:r>
            <a:r>
              <a:rPr lang="es-ES" sz="600">
                <a:latin typeface="Reddit Sans"/>
                <a:ea typeface="Reddit Sans"/>
              </a:rPr>
              <a:t> servicio nuevo</a:t>
            </a:r>
            <a:endParaRPr lang="es-ES">
              <a:latin typeface="Reddit Sans"/>
              <a:ea typeface="Reddit Sans"/>
            </a:endParaRPr>
          </a:p>
        </p:txBody>
      </p: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04ACA115-4C5F-9C6D-E748-96D27275F808}"/>
              </a:ext>
            </a:extLst>
          </p:cNvPr>
          <p:cNvCxnSpPr>
            <a:cxnSpLocks/>
          </p:cNvCxnSpPr>
          <p:nvPr/>
        </p:nvCxnSpPr>
        <p:spPr>
          <a:xfrm flipV="1">
            <a:off x="370114" y="2177142"/>
            <a:ext cx="8125278" cy="42638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8" name="Rounded Rectangle 21">
            <a:extLst>
              <a:ext uri="{FF2B5EF4-FFF2-40B4-BE49-F238E27FC236}">
                <a16:creationId xmlns:a16="http://schemas.microsoft.com/office/drawing/2014/main" id="{371BF19F-E47E-7575-0699-8DB276917E27}"/>
              </a:ext>
            </a:extLst>
          </p:cNvPr>
          <p:cNvSpPr/>
          <p:nvPr/>
        </p:nvSpPr>
        <p:spPr>
          <a:xfrm>
            <a:off x="3387516" y="2222314"/>
            <a:ext cx="758898" cy="333539"/>
          </a:xfrm>
          <a:prstGeom prst="roundRect">
            <a:avLst/>
          </a:prstGeom>
          <a:solidFill>
            <a:schemeClr val="bg1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50FAD2C-E0ED-A90A-C5AD-43EBE9565C7C}"/>
              </a:ext>
            </a:extLst>
          </p:cNvPr>
          <p:cNvSpPr txBox="1"/>
          <p:nvPr/>
        </p:nvSpPr>
        <p:spPr>
          <a:xfrm>
            <a:off x="3412664" y="2217959"/>
            <a:ext cx="767445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Definir modelo de Niveles de servicio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50" name="Rounded Rectangle 21">
            <a:extLst>
              <a:ext uri="{FF2B5EF4-FFF2-40B4-BE49-F238E27FC236}">
                <a16:creationId xmlns:a16="http://schemas.microsoft.com/office/drawing/2014/main" id="{F60CA91B-051E-48FA-30E4-EA0E6677BBDE}"/>
              </a:ext>
            </a:extLst>
          </p:cNvPr>
          <p:cNvSpPr/>
          <p:nvPr/>
        </p:nvSpPr>
        <p:spPr>
          <a:xfrm>
            <a:off x="4182174" y="2222315"/>
            <a:ext cx="1036481" cy="333537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C18EC99-AC6B-CC22-50D0-2E0A5395F4FD}"/>
              </a:ext>
            </a:extLst>
          </p:cNvPr>
          <p:cNvSpPr txBox="1"/>
          <p:nvPr/>
        </p:nvSpPr>
        <p:spPr>
          <a:xfrm>
            <a:off x="4207323" y="2207073"/>
            <a:ext cx="1055918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Definir modelo operativo de alto nivel (hibrido) - funcional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BB1C42E6-881A-D8F5-CAFF-E0E57A259397}"/>
              </a:ext>
            </a:extLst>
          </p:cNvPr>
          <p:cNvSpPr txBox="1"/>
          <p:nvPr/>
        </p:nvSpPr>
        <p:spPr>
          <a:xfrm>
            <a:off x="6101443" y="2838446"/>
            <a:ext cx="1077687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  <a:ea typeface="Reddit Sans"/>
              </a:rPr>
              <a:t>Herramientas </a:t>
            </a:r>
            <a:r>
              <a:rPr lang="es-ES" sz="600" dirty="0" err="1">
                <a:latin typeface="Reddit Sans"/>
                <a:ea typeface="Reddit Sans"/>
              </a:rPr>
              <a:t>dashboards</a:t>
            </a:r>
            <a:r>
              <a:rPr lang="es-ES" sz="600" dirty="0">
                <a:latin typeface="Reddit Sans"/>
                <a:ea typeface="Reddit Sans"/>
              </a:rPr>
              <a:t> ejecutivos para </a:t>
            </a:r>
            <a:r>
              <a:rPr lang="es-ES" sz="600" dirty="0" err="1">
                <a:latin typeface="Reddit Sans"/>
                <a:ea typeface="Reddit Sans"/>
              </a:rPr>
              <a:t>PersonalSoft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2" name="Estrella: 5 puntas 1">
            <a:extLst>
              <a:ext uri="{FF2B5EF4-FFF2-40B4-BE49-F238E27FC236}">
                <a16:creationId xmlns:a16="http://schemas.microsoft.com/office/drawing/2014/main" id="{B8FAE66B-99D4-F1B4-2648-8255BABF4C0F}"/>
              </a:ext>
            </a:extLst>
          </p:cNvPr>
          <p:cNvSpPr/>
          <p:nvPr/>
        </p:nvSpPr>
        <p:spPr>
          <a:xfrm>
            <a:off x="8397239" y="14238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F9B99828-2D07-8A72-6CA7-9E3531082954}"/>
              </a:ext>
            </a:extLst>
          </p:cNvPr>
          <p:cNvSpPr/>
          <p:nvPr/>
        </p:nvSpPr>
        <p:spPr>
          <a:xfrm>
            <a:off x="5357830" y="2216873"/>
            <a:ext cx="1188883" cy="333539"/>
          </a:xfrm>
          <a:prstGeom prst="roundRect">
            <a:avLst/>
          </a:prstGeom>
          <a:solidFill>
            <a:schemeClr val="bg1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9D15E50-5117-F19C-BD5E-5029639E80A9}"/>
              </a:ext>
            </a:extLst>
          </p:cNvPr>
          <p:cNvSpPr txBox="1"/>
          <p:nvPr/>
        </p:nvSpPr>
        <p:spPr>
          <a:xfrm>
            <a:off x="5393863" y="2250615"/>
            <a:ext cx="112123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Definir modelo operativo de alto nivel - </a:t>
            </a:r>
            <a:r>
              <a:rPr lang="es-ES" sz="600" err="1">
                <a:latin typeface="Reddit Sans"/>
                <a:ea typeface="Reddit Sans"/>
              </a:rPr>
              <a:t>operació</a:t>
            </a:r>
            <a:r>
              <a:rPr lang="es-ES" sz="600">
                <a:latin typeface="Reddit Sans"/>
                <a:ea typeface="Reddit Sans"/>
              </a:rPr>
              <a:t>n</a:t>
            </a:r>
          </a:p>
        </p:txBody>
      </p:sp>
      <p:sp>
        <p:nvSpPr>
          <p:cNvPr id="9" name="Rounded Rectangle 25">
            <a:extLst>
              <a:ext uri="{FF2B5EF4-FFF2-40B4-BE49-F238E27FC236}">
                <a16:creationId xmlns:a16="http://schemas.microsoft.com/office/drawing/2014/main" id="{37882BB2-7745-6B2C-47FA-247DABAAA7A1}"/>
              </a:ext>
            </a:extLst>
          </p:cNvPr>
          <p:cNvSpPr/>
          <p:nvPr/>
        </p:nvSpPr>
        <p:spPr>
          <a:xfrm>
            <a:off x="8393965" y="3583030"/>
            <a:ext cx="525564" cy="458721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b="1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41FB8C1-F80B-2D3D-533D-BC99790B6FDC}"/>
              </a:ext>
            </a:extLst>
          </p:cNvPr>
          <p:cNvSpPr txBox="1"/>
          <p:nvPr/>
        </p:nvSpPr>
        <p:spPr>
          <a:xfrm>
            <a:off x="8430985" y="3595004"/>
            <a:ext cx="674917" cy="46166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*Inicio habilitación clientes actuales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45ADD8BD-740F-64F3-D7D6-539EBEB8C081}"/>
              </a:ext>
            </a:extLst>
          </p:cNvPr>
          <p:cNvSpPr txBox="1"/>
          <p:nvPr/>
        </p:nvSpPr>
        <p:spPr>
          <a:xfrm>
            <a:off x="6917872" y="903514"/>
            <a:ext cx="1577980" cy="2884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/>
            <a:r>
              <a:rPr lang="es" sz="800" b="1">
                <a:solidFill>
                  <a:srgbClr val="4285F4"/>
                </a:solidFill>
                <a:latin typeface="Reddit Sans"/>
                <a:ea typeface="Reddit Sans"/>
              </a:rPr>
              <a:t>Transición de los Servicios Reactivos</a:t>
            </a:r>
          </a:p>
        </p:txBody>
      </p:sp>
      <p:sp>
        <p:nvSpPr>
          <p:cNvPr id="20" name="modelo predictivo">
            <a:extLst>
              <a:ext uri="{FF2B5EF4-FFF2-40B4-BE49-F238E27FC236}">
                <a16:creationId xmlns:a16="http://schemas.microsoft.com/office/drawing/2014/main" id="{F39ACAF5-7AA3-47E3-D075-69EC11A6DB0B}"/>
              </a:ext>
            </a:extLst>
          </p:cNvPr>
          <p:cNvSpPr txBox="1"/>
          <p:nvPr/>
        </p:nvSpPr>
        <p:spPr>
          <a:xfrm>
            <a:off x="5059136" y="903515"/>
            <a:ext cx="1850123" cy="2884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800" b="1">
                <a:solidFill>
                  <a:srgbClr val="4285F4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24" name="modelo autonomo">
            <a:extLst>
              <a:ext uri="{FF2B5EF4-FFF2-40B4-BE49-F238E27FC236}">
                <a16:creationId xmlns:a16="http://schemas.microsoft.com/office/drawing/2014/main" id="{E3B39F12-F70E-0DC7-D6DD-8387EAF488C8}"/>
              </a:ext>
            </a:extLst>
          </p:cNvPr>
          <p:cNvSpPr txBox="1"/>
          <p:nvPr/>
        </p:nvSpPr>
        <p:spPr>
          <a:xfrm>
            <a:off x="1534886" y="903515"/>
            <a:ext cx="3505502" cy="2884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/>
            <a:r>
              <a:rPr lang="es" sz="800" b="1">
                <a:solidFill>
                  <a:srgbClr val="4285F4"/>
                </a:solidFill>
                <a:latin typeface="Reddit Sans"/>
                <a:ea typeface="Reddit Sans"/>
              </a:rPr>
              <a:t>Diseño del Servicio Optimo (Autónomo e Inteligente)</a:t>
            </a:r>
            <a:endParaRPr lang="es" sz="800" b="1">
              <a:solidFill>
                <a:srgbClr val="4285F4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CB4CB287-F766-C906-9C52-4A08CCF3DCA4}"/>
              </a:ext>
            </a:extLst>
          </p:cNvPr>
          <p:cNvSpPr txBox="1"/>
          <p:nvPr/>
        </p:nvSpPr>
        <p:spPr>
          <a:xfrm>
            <a:off x="1953985" y="4803319"/>
            <a:ext cx="1453244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</a:rPr>
              <a:t>Historias de usuario servicio optimo</a:t>
            </a:r>
            <a:r>
              <a:rPr sz="600" b="0" i="0">
                <a:solidFill>
                  <a:srgbClr val="000000"/>
                </a:solidFill>
                <a:latin typeface="Reddit Sans"/>
                <a:ea typeface="Reddit Sans"/>
                <a:cs typeface="Reddit Sans"/>
              </a:rPr>
              <a:t>​</a:t>
            </a:r>
            <a:endParaRPr lang="es-E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3B7FB45E-6F33-7855-0C6A-FE7BC99FEC38}"/>
              </a:ext>
            </a:extLst>
          </p:cNvPr>
          <p:cNvSpPr txBox="1"/>
          <p:nvPr/>
        </p:nvSpPr>
        <p:spPr>
          <a:xfrm>
            <a:off x="3510643" y="4803319"/>
            <a:ext cx="1534886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</a:rPr>
              <a:t>Validación y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</a:rPr>
              <a:t>feedback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</a:rPr>
              <a:t> del servicio</a:t>
            </a:r>
            <a:r>
              <a:rPr sz="600" b="0" i="0">
                <a:solidFill>
                  <a:srgbClr val="000000"/>
                </a:solidFill>
                <a:latin typeface="Reddit Sans"/>
                <a:ea typeface="Reddit Sans"/>
                <a:cs typeface="Reddit Sans"/>
              </a:rPr>
              <a:t>​</a:t>
            </a:r>
            <a:endParaRPr lang="es-ES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717DA2C6-2641-B97F-F306-9EA565DDE8CA}"/>
              </a:ext>
            </a:extLst>
          </p:cNvPr>
          <p:cNvSpPr txBox="1"/>
          <p:nvPr/>
        </p:nvSpPr>
        <p:spPr>
          <a:xfrm>
            <a:off x="5116285" y="4803319"/>
            <a:ext cx="1703616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</a:rPr>
              <a:t>Habilitaciones equipo comercial y operación</a:t>
            </a:r>
            <a:r>
              <a:rPr sz="600" b="0" i="0">
                <a:solidFill>
                  <a:srgbClr val="000000"/>
                </a:solidFill>
                <a:latin typeface="Reddit Sans"/>
                <a:ea typeface="Reddit Sans"/>
                <a:cs typeface="Reddit Sans"/>
              </a:rPr>
              <a:t>​</a:t>
            </a:r>
            <a:endParaRPr lang="es-ES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37C5EDD-562B-C011-62B5-EF2727FB1B83}"/>
              </a:ext>
            </a:extLst>
          </p:cNvPr>
          <p:cNvSpPr txBox="1"/>
          <p:nvPr/>
        </p:nvSpPr>
        <p:spPr>
          <a:xfrm>
            <a:off x="7043058" y="4803319"/>
            <a:ext cx="1387929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600" b="0" i="0" u="none" strike="noStrike" baseline="0">
                <a:solidFill>
                  <a:srgbClr val="000000"/>
                </a:solidFill>
                <a:latin typeface="Reddit Sans"/>
              </a:rPr>
              <a:t>Transición operación actual</a:t>
            </a:r>
            <a:r>
              <a:rPr sz="600" b="0" i="0">
                <a:solidFill>
                  <a:srgbClr val="000000"/>
                </a:solidFill>
                <a:latin typeface="Reddit Sans"/>
                <a:ea typeface="Reddit Sans"/>
                <a:cs typeface="Reddit Sans"/>
              </a:rPr>
              <a:t>​</a:t>
            </a:r>
            <a:endParaRPr lang="es-ES"/>
          </a:p>
        </p:txBody>
      </p:sp>
      <p:sp>
        <p:nvSpPr>
          <p:cNvPr id="21" name="Rounded Rectangle 21">
            <a:extLst>
              <a:ext uri="{FF2B5EF4-FFF2-40B4-BE49-F238E27FC236}">
                <a16:creationId xmlns:a16="http://schemas.microsoft.com/office/drawing/2014/main" id="{3FFF05AF-C28B-CE34-6D15-ECEE198D5A92}"/>
              </a:ext>
            </a:extLst>
          </p:cNvPr>
          <p:cNvSpPr/>
          <p:nvPr/>
        </p:nvSpPr>
        <p:spPr>
          <a:xfrm>
            <a:off x="344963" y="4803319"/>
            <a:ext cx="241822" cy="132153"/>
          </a:xfrm>
          <a:prstGeom prst="roundRect">
            <a:avLst/>
          </a:prstGeom>
          <a:solidFill>
            <a:schemeClr val="bg1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F30FEAD6-A913-B9D7-B10E-0974E0C049CD}"/>
              </a:ext>
            </a:extLst>
          </p:cNvPr>
          <p:cNvSpPr txBox="1"/>
          <p:nvPr/>
        </p:nvSpPr>
        <p:spPr>
          <a:xfrm>
            <a:off x="549728" y="4781548"/>
            <a:ext cx="1273630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</a:rPr>
              <a:t>Historias de usuario </a:t>
            </a:r>
            <a:r>
              <a:rPr lang="es-ES" sz="600">
                <a:latin typeface="Reddit Sans"/>
              </a:rPr>
              <a:t>cumplidas</a:t>
            </a:r>
            <a:endParaRPr lang="es-ES" sz="600">
              <a:ea typeface="Reddit Sans"/>
            </a:endParaRPr>
          </a:p>
        </p:txBody>
      </p:sp>
      <p:cxnSp>
        <p:nvCxnSpPr>
          <p:cNvPr id="31" name="Conector recto de flecha 30">
            <a:extLst>
              <a:ext uri="{FF2B5EF4-FFF2-40B4-BE49-F238E27FC236}">
                <a16:creationId xmlns:a16="http://schemas.microsoft.com/office/drawing/2014/main" id="{F1477217-D662-37D9-381D-3DECB80E7AB4}"/>
              </a:ext>
            </a:extLst>
          </p:cNvPr>
          <p:cNvCxnSpPr>
            <a:cxnSpLocks/>
          </p:cNvCxnSpPr>
          <p:nvPr/>
        </p:nvCxnSpPr>
        <p:spPr>
          <a:xfrm flipV="1">
            <a:off x="370114" y="3445327"/>
            <a:ext cx="8125278" cy="42638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343BDC2D-EF97-1E87-6CD6-617E2031C44B}"/>
              </a:ext>
            </a:extLst>
          </p:cNvPr>
          <p:cNvCxnSpPr>
            <a:cxnSpLocks/>
          </p:cNvCxnSpPr>
          <p:nvPr/>
        </p:nvCxnSpPr>
        <p:spPr>
          <a:xfrm flipV="1">
            <a:off x="375557" y="4131127"/>
            <a:ext cx="8125278" cy="42638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0" name="Flecha: a la derecha 39">
            <a:extLst>
              <a:ext uri="{FF2B5EF4-FFF2-40B4-BE49-F238E27FC236}">
                <a16:creationId xmlns:a16="http://schemas.microsoft.com/office/drawing/2014/main" id="{328C6039-F41A-0B39-BA6E-E76D69673B97}"/>
              </a:ext>
            </a:extLst>
          </p:cNvPr>
          <p:cNvSpPr/>
          <p:nvPr/>
        </p:nvSpPr>
        <p:spPr>
          <a:xfrm>
            <a:off x="5015594" y="996059"/>
            <a:ext cx="156539" cy="141736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Flecha: a la derecha 48">
            <a:extLst>
              <a:ext uri="{FF2B5EF4-FFF2-40B4-BE49-F238E27FC236}">
                <a16:creationId xmlns:a16="http://schemas.microsoft.com/office/drawing/2014/main" id="{880EDA8E-B2EE-DC9C-1D30-35342465C4F3}"/>
              </a:ext>
            </a:extLst>
          </p:cNvPr>
          <p:cNvSpPr/>
          <p:nvPr/>
        </p:nvSpPr>
        <p:spPr>
          <a:xfrm>
            <a:off x="6817179" y="996059"/>
            <a:ext cx="156539" cy="141736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8539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>
          <a:extLst>
            <a:ext uri="{FF2B5EF4-FFF2-40B4-BE49-F238E27FC236}">
              <a16:creationId xmlns:a16="http://schemas.microsoft.com/office/drawing/2014/main" id="{32E8D982-9AAD-A245-3573-9AC7891B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4E8AF98A-743F-6AB4-8570-4A975B90152D}"/>
              </a:ext>
            </a:extLst>
          </p:cNvPr>
          <p:cNvCxnSpPr>
            <a:cxnSpLocks/>
          </p:cNvCxnSpPr>
          <p:nvPr/>
        </p:nvCxnSpPr>
        <p:spPr>
          <a:xfrm>
            <a:off x="4686299" y="1389287"/>
            <a:ext cx="13063" cy="296499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64D76D04-5281-F613-94DD-DC5E0CEA51D8}"/>
              </a:ext>
            </a:extLst>
          </p:cNvPr>
          <p:cNvCxnSpPr>
            <a:cxnSpLocks/>
          </p:cNvCxnSpPr>
          <p:nvPr/>
        </p:nvCxnSpPr>
        <p:spPr>
          <a:xfrm>
            <a:off x="6226629" y="1394728"/>
            <a:ext cx="13063" cy="2872469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Google Shape;176;g3657f5ba65c_1_33">
            <a:extLst>
              <a:ext uri="{FF2B5EF4-FFF2-40B4-BE49-F238E27FC236}">
                <a16:creationId xmlns:a16="http://schemas.microsoft.com/office/drawing/2014/main" id="{A7BE3A66-14EA-6750-05CA-EBED43FC16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1" y="113013"/>
            <a:ext cx="4362899" cy="632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Mesa de Servicios de Nueva Generación</a:t>
            </a:r>
            <a:br>
              <a:rPr lang="es-ES"/>
            </a:br>
            <a:r>
              <a:rPr lang="es-ES" b="0"/>
              <a:t>Servicio Optimo y Estandarizado</a:t>
            </a:r>
          </a:p>
        </p:txBody>
      </p:sp>
      <p:cxnSp>
        <p:nvCxnSpPr>
          <p:cNvPr id="179" name="Google Shape;179;g3657f5ba65c_1_33">
            <a:extLst>
              <a:ext uri="{FF2B5EF4-FFF2-40B4-BE49-F238E27FC236}">
                <a16:creationId xmlns:a16="http://schemas.microsoft.com/office/drawing/2014/main" id="{F9EC48FA-04F8-FBC1-4ECD-F0C9C67845B0}"/>
              </a:ext>
            </a:extLst>
          </p:cNvPr>
          <p:cNvCxnSpPr/>
          <p:nvPr/>
        </p:nvCxnSpPr>
        <p:spPr>
          <a:xfrm>
            <a:off x="372654" y="776603"/>
            <a:ext cx="8125071" cy="3858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C87571-ABA7-9B4F-F3EA-9AB61D2C5847}"/>
              </a:ext>
            </a:extLst>
          </p:cNvPr>
          <p:cNvSpPr txBox="1"/>
          <p:nvPr/>
        </p:nvSpPr>
        <p:spPr>
          <a:xfrm>
            <a:off x="2703421" y="2202140"/>
            <a:ext cx="2189804" cy="374571"/>
          </a:xfrm>
          <a:prstGeom prst="roundRect">
            <a:avLst/>
          </a:prstGeom>
          <a:solidFill>
            <a:srgbClr val="F0F7FA"/>
          </a:solidFill>
          <a:ln>
            <a:solidFill>
              <a:srgbClr val="4472C4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800" b="1">
                <a:latin typeface="Reddit Sans"/>
                <a:ea typeface="Reddit Sans"/>
              </a:rPr>
              <a:t>Diseño y lanzamiento </a:t>
            </a:r>
            <a:r>
              <a:rPr sz="800" b="1" dirty="0">
                <a:latin typeface="Reddit Sans"/>
                <a:ea typeface="Reddit Sans"/>
              </a:rPr>
              <a:t>del</a:t>
            </a:r>
            <a:r>
              <a:rPr lang="es-ES" sz="800" b="1" dirty="0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800" b="1">
                <a:latin typeface="Reddit Sans"/>
                <a:ea typeface="Reddit Sans"/>
              </a:rPr>
              <a:t>Servicio Optimo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A4CB1A-2D80-E8CB-641B-F7052BE965E4}"/>
              </a:ext>
            </a:extLst>
          </p:cNvPr>
          <p:cNvSpPr txBox="1"/>
          <p:nvPr/>
        </p:nvSpPr>
        <p:spPr>
          <a:xfrm>
            <a:off x="3578926" y="3428108"/>
            <a:ext cx="2642405" cy="238363"/>
          </a:xfrm>
          <a:prstGeom prst="roundRect">
            <a:avLst/>
          </a:prstGeom>
          <a:solidFill>
            <a:srgbClr val="F0F7FA"/>
          </a:solidFill>
          <a:ln>
            <a:solidFill>
              <a:srgbClr val="4472C4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CO" sz="800" b="1">
                <a:latin typeface="Reddit Sans"/>
                <a:ea typeface="Reddit Sans"/>
              </a:rPr>
              <a:t>GTM. Habilitación</a:t>
            </a:r>
            <a:r>
              <a:rPr lang="es-CO" sz="800" b="1" dirty="0">
                <a:latin typeface="Reddit Sans"/>
                <a:ea typeface="Reddit Sans"/>
              </a:rPr>
              <a:t> del Servicio Optimo</a:t>
            </a:r>
            <a:endParaRPr lang="es-CO" sz="800" dirty="0">
              <a:latin typeface="Reddit Sans"/>
              <a:ea typeface="Reddit San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1A6018-D343-1CE9-BA9D-464E1558698F}"/>
              </a:ext>
            </a:extLst>
          </p:cNvPr>
          <p:cNvSpPr txBox="1"/>
          <p:nvPr/>
        </p:nvSpPr>
        <p:spPr>
          <a:xfrm>
            <a:off x="3577748" y="4113932"/>
            <a:ext cx="4174931" cy="238363"/>
          </a:xfrm>
          <a:prstGeom prst="roundRect">
            <a:avLst/>
          </a:prstGeom>
          <a:solidFill>
            <a:srgbClr val="F0F7FA"/>
          </a:solidFill>
          <a:ln>
            <a:solidFill>
              <a:srgbClr val="4472C4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CO" sz="800" b="1" kern="1200">
                <a:solidFill>
                  <a:srgbClr val="3C3C3C"/>
                </a:solidFill>
                <a:latin typeface="Reddit Sans"/>
                <a:ea typeface="Reddit Sans"/>
                <a:cs typeface="+mn-cs"/>
              </a:rPr>
              <a:t>Activar</a:t>
            </a:r>
            <a:r>
              <a:rPr lang="es-CO" sz="800" b="1" kern="1200" dirty="0">
                <a:solidFill>
                  <a:srgbClr val="3C3C3C"/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lang="es-ES" sz="800" b="1" kern="1200" dirty="0">
                <a:solidFill>
                  <a:srgbClr val="3C3C3C"/>
                </a:solidFill>
                <a:latin typeface="Reddit Sans"/>
                <a:ea typeface="Reddit Sans"/>
                <a:cs typeface="+mn-cs"/>
              </a:rPr>
              <a:t>planes de transición y las habilitaciones de los clientes actuales.</a:t>
            </a:r>
            <a:endParaRPr lang="es-ES" sz="800" kern="1200" dirty="0">
              <a:latin typeface="Reddit Sans"/>
              <a:ea typeface="Reddit Sans"/>
              <a:cs typeface="+mn-cs"/>
            </a:endParaRP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EAB21D30-7935-62C4-3C2F-2C20FD9423B8}"/>
              </a:ext>
            </a:extLst>
          </p:cNvPr>
          <p:cNvSpPr/>
          <p:nvPr/>
        </p:nvSpPr>
        <p:spPr>
          <a:xfrm>
            <a:off x="837909" y="1250982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>
              <a:latin typeface="Reddit Sans"/>
              <a:ea typeface="Reddit Sans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C1CA1AF-030B-740E-3E3C-240BF3228B10}"/>
              </a:ext>
            </a:extLst>
          </p:cNvPr>
          <p:cNvSpPr txBox="1"/>
          <p:nvPr/>
        </p:nvSpPr>
        <p:spPr>
          <a:xfrm>
            <a:off x="3619500" y="1249133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Q3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619DD324-67D7-71B4-1C2E-94DAAFD59FE4}"/>
              </a:ext>
            </a:extLst>
          </p:cNvPr>
          <p:cNvSpPr txBox="1"/>
          <p:nvPr/>
        </p:nvSpPr>
        <p:spPr>
          <a:xfrm>
            <a:off x="6841670" y="124913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Q4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1DF3BFF7-D040-4D79-3CBB-EB0EE6159C41}"/>
              </a:ext>
            </a:extLst>
          </p:cNvPr>
          <p:cNvCxnSpPr/>
          <p:nvPr/>
        </p:nvCxnSpPr>
        <p:spPr>
          <a:xfrm>
            <a:off x="6237514" y="1258662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529F9278-BFDC-9119-5C4C-DBF4E6B21D28}"/>
              </a:ext>
            </a:extLst>
          </p:cNvPr>
          <p:cNvSpPr txBox="1"/>
          <p:nvPr/>
        </p:nvSpPr>
        <p:spPr>
          <a:xfrm>
            <a:off x="1582509" y="1432832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3388D2B-9F48-6F89-8119-49A1EB257106}"/>
              </a:ext>
            </a:extLst>
          </p:cNvPr>
          <p:cNvSpPr txBox="1"/>
          <p:nvPr/>
        </p:nvSpPr>
        <p:spPr>
          <a:xfrm>
            <a:off x="3329665" y="1438275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A334D70A-8104-84CC-E03F-BE28CEFC8A23}"/>
              </a:ext>
            </a:extLst>
          </p:cNvPr>
          <p:cNvSpPr txBox="1"/>
          <p:nvPr/>
        </p:nvSpPr>
        <p:spPr>
          <a:xfrm>
            <a:off x="4962521" y="1432832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D44D52BD-707D-2028-C90F-A22C7F6E3705}"/>
              </a:ext>
            </a:extLst>
          </p:cNvPr>
          <p:cNvSpPr txBox="1"/>
          <p:nvPr/>
        </p:nvSpPr>
        <p:spPr>
          <a:xfrm>
            <a:off x="6742337" y="1432832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  <a:latin typeface="Reddit Sans"/>
                <a:ea typeface="Reddit Sans"/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0FE64CD2-B213-B903-5988-437A41361CBB}"/>
              </a:ext>
            </a:extLst>
          </p:cNvPr>
          <p:cNvCxnSpPr/>
          <p:nvPr/>
        </p:nvCxnSpPr>
        <p:spPr>
          <a:xfrm flipH="1">
            <a:off x="2663735" y="1421946"/>
            <a:ext cx="8707" cy="2932339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50593D31-408E-E920-0D02-B38D368995F6}"/>
              </a:ext>
            </a:extLst>
          </p:cNvPr>
          <p:cNvSpPr/>
          <p:nvPr/>
        </p:nvSpPr>
        <p:spPr>
          <a:xfrm>
            <a:off x="6443253" y="161106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78BF40C1-563D-2C86-777C-D1162309142C}"/>
              </a:ext>
            </a:extLst>
          </p:cNvPr>
          <p:cNvSpPr txBox="1"/>
          <p:nvPr/>
        </p:nvSpPr>
        <p:spPr>
          <a:xfrm>
            <a:off x="6553203" y="111030"/>
            <a:ext cx="181791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 dirty="0">
                <a:latin typeface="Reddit Sans"/>
                <a:ea typeface="Reddit Sans"/>
              </a:rPr>
              <a:t>Entrega incremental del servicio optimizado con validación y </a:t>
            </a:r>
            <a:r>
              <a:rPr lang="es-ES" sz="700" dirty="0" err="1">
                <a:latin typeface="Reddit Sans"/>
                <a:ea typeface="Reddit Sans"/>
              </a:rPr>
              <a:t>feedback</a:t>
            </a:r>
            <a:r>
              <a:rPr lang="es-ES" sz="700" dirty="0">
                <a:latin typeface="Reddit Sans"/>
                <a:ea typeface="Reddit Sans"/>
              </a:rPr>
              <a:t> (equipo comercial, y/o clientes actuales)</a:t>
            </a:r>
          </a:p>
        </p:txBody>
      </p:sp>
      <p:sp>
        <p:nvSpPr>
          <p:cNvPr id="6" name="Estrella: 5 puntas 5">
            <a:extLst>
              <a:ext uri="{FF2B5EF4-FFF2-40B4-BE49-F238E27FC236}">
                <a16:creationId xmlns:a16="http://schemas.microsoft.com/office/drawing/2014/main" id="{673A847B-85AE-F5B5-206F-C11CC51C36CF}"/>
              </a:ext>
            </a:extLst>
          </p:cNvPr>
          <p:cNvSpPr/>
          <p:nvPr/>
        </p:nvSpPr>
        <p:spPr>
          <a:xfrm>
            <a:off x="2486296" y="1478277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7" name="Estrella: 5 puntas 6">
            <a:extLst>
              <a:ext uri="{FF2B5EF4-FFF2-40B4-BE49-F238E27FC236}">
                <a16:creationId xmlns:a16="http://schemas.microsoft.com/office/drawing/2014/main" id="{803E5F29-7AF9-03D0-5BF8-67C5D30DA182}"/>
              </a:ext>
            </a:extLst>
          </p:cNvPr>
          <p:cNvSpPr/>
          <p:nvPr/>
        </p:nvSpPr>
        <p:spPr>
          <a:xfrm>
            <a:off x="4233453" y="1478277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9CA2B3C9-697E-0E1A-DA85-CB2172BFE186}"/>
              </a:ext>
            </a:extLst>
          </p:cNvPr>
          <p:cNvSpPr/>
          <p:nvPr/>
        </p:nvSpPr>
        <p:spPr>
          <a:xfrm>
            <a:off x="6051367" y="1494605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7A64693-A91B-CACF-5D24-8822253F6B62}"/>
              </a:ext>
            </a:extLst>
          </p:cNvPr>
          <p:cNvSpPr txBox="1"/>
          <p:nvPr/>
        </p:nvSpPr>
        <p:spPr>
          <a:xfrm>
            <a:off x="1026623" y="1828800"/>
            <a:ext cx="1613576" cy="374571"/>
          </a:xfrm>
          <a:prstGeom prst="roundRect">
            <a:avLst/>
          </a:prstGeom>
          <a:solidFill>
            <a:srgbClr val="F0F7FA"/>
          </a:solidFill>
          <a:ln>
            <a:solidFill>
              <a:srgbClr val="4472C4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CO" sz="800" b="1">
                <a:latin typeface="Reddit Sans"/>
                <a:ea typeface="Reddit Sans"/>
              </a:rPr>
              <a:t>Evaluación inicial de la operación y el mercado</a:t>
            </a:r>
          </a:p>
        </p:txBody>
      </p:sp>
      <p:sp>
        <p:nvSpPr>
          <p:cNvPr id="2" name="Estrella: 5 puntas 1">
            <a:extLst>
              <a:ext uri="{FF2B5EF4-FFF2-40B4-BE49-F238E27FC236}">
                <a16:creationId xmlns:a16="http://schemas.microsoft.com/office/drawing/2014/main" id="{035BA390-BE1E-F7CB-9945-C04CCBF66E83}"/>
              </a:ext>
            </a:extLst>
          </p:cNvPr>
          <p:cNvSpPr/>
          <p:nvPr/>
        </p:nvSpPr>
        <p:spPr>
          <a:xfrm>
            <a:off x="7700553" y="1478277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C6B3F273-BBBB-D7C6-50DA-1C33AD7F7AC5}"/>
              </a:ext>
            </a:extLst>
          </p:cNvPr>
          <p:cNvSpPr txBox="1"/>
          <p:nvPr/>
        </p:nvSpPr>
        <p:spPr>
          <a:xfrm>
            <a:off x="6221186" y="957943"/>
            <a:ext cx="1577980" cy="28847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91425" tIns="91425" rIns="91425" bIns="91425" anchor="ctr"/>
          <a:lstStyle/>
          <a:p>
            <a:pPr algn="ctr"/>
            <a:r>
              <a:rPr lang="es" sz="900" b="1">
                <a:solidFill>
                  <a:srgbClr val="0070C0"/>
                </a:solidFill>
                <a:latin typeface="Reddit Sans"/>
                <a:ea typeface="Reddit Sans"/>
              </a:rPr>
              <a:t>Transición de los Servicios Reactivos</a:t>
            </a:r>
          </a:p>
        </p:txBody>
      </p:sp>
      <p:sp>
        <p:nvSpPr>
          <p:cNvPr id="20" name="modelo predictivo">
            <a:extLst>
              <a:ext uri="{FF2B5EF4-FFF2-40B4-BE49-F238E27FC236}">
                <a16:creationId xmlns:a16="http://schemas.microsoft.com/office/drawing/2014/main" id="{0C2B6B87-4C50-2F0B-E8DD-8C5216C3BD89}"/>
              </a:ext>
            </a:extLst>
          </p:cNvPr>
          <p:cNvSpPr txBox="1"/>
          <p:nvPr/>
        </p:nvSpPr>
        <p:spPr>
          <a:xfrm>
            <a:off x="4362450" y="957944"/>
            <a:ext cx="1850123" cy="28847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900" b="1">
                <a:solidFill>
                  <a:srgbClr val="0070C0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24" name="modelo autonomo">
            <a:extLst>
              <a:ext uri="{FF2B5EF4-FFF2-40B4-BE49-F238E27FC236}">
                <a16:creationId xmlns:a16="http://schemas.microsoft.com/office/drawing/2014/main" id="{B6D2BCE1-2929-E84D-95F5-669E761ED101}"/>
              </a:ext>
            </a:extLst>
          </p:cNvPr>
          <p:cNvSpPr txBox="1"/>
          <p:nvPr/>
        </p:nvSpPr>
        <p:spPr>
          <a:xfrm>
            <a:off x="838200" y="957944"/>
            <a:ext cx="3505502" cy="28847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/>
            <a:r>
              <a:rPr lang="es" sz="900" b="1">
                <a:solidFill>
                  <a:srgbClr val="0070C0"/>
                </a:solidFill>
                <a:latin typeface="Reddit Sans"/>
                <a:ea typeface="Reddit Sans"/>
              </a:rPr>
              <a:t>Diseño del Servicio Optimo (Autónomo e Inteligente)</a:t>
            </a:r>
            <a:endParaRPr lang="es" sz="900" b="1">
              <a:solidFill>
                <a:srgbClr val="0070C0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0" name="Flecha: a la derecha 39">
            <a:extLst>
              <a:ext uri="{FF2B5EF4-FFF2-40B4-BE49-F238E27FC236}">
                <a16:creationId xmlns:a16="http://schemas.microsoft.com/office/drawing/2014/main" id="{48980433-1C39-C62D-38EA-1252BE9207F9}"/>
              </a:ext>
            </a:extLst>
          </p:cNvPr>
          <p:cNvSpPr/>
          <p:nvPr/>
        </p:nvSpPr>
        <p:spPr>
          <a:xfrm>
            <a:off x="4318908" y="1050488"/>
            <a:ext cx="156539" cy="141736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Flecha: a la derecha 48">
            <a:extLst>
              <a:ext uri="{FF2B5EF4-FFF2-40B4-BE49-F238E27FC236}">
                <a16:creationId xmlns:a16="http://schemas.microsoft.com/office/drawing/2014/main" id="{1C217A81-5C82-550E-2C77-7E6EAF3C4AC1}"/>
              </a:ext>
            </a:extLst>
          </p:cNvPr>
          <p:cNvSpPr/>
          <p:nvPr/>
        </p:nvSpPr>
        <p:spPr>
          <a:xfrm>
            <a:off x="6120493" y="1050488"/>
            <a:ext cx="156539" cy="141736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4CEB71DB-5AF0-2E2D-E835-C0F2326C3B94}"/>
              </a:ext>
            </a:extLst>
          </p:cNvPr>
          <p:cNvSpPr txBox="1"/>
          <p:nvPr/>
        </p:nvSpPr>
        <p:spPr>
          <a:xfrm>
            <a:off x="4657406" y="2648454"/>
            <a:ext cx="1743491" cy="374571"/>
          </a:xfrm>
          <a:prstGeom prst="roundRect">
            <a:avLst/>
          </a:prstGeom>
          <a:solidFill>
            <a:srgbClr val="F0F7FA"/>
          </a:solidFill>
          <a:ln>
            <a:solidFill>
              <a:srgbClr val="4472C4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800" b="1" dirty="0">
                <a:latin typeface="Reddit Sans"/>
                <a:ea typeface="Reddit Sans"/>
              </a:rPr>
              <a:t>Productización comercial del  Servicio Optimo</a:t>
            </a:r>
            <a:endParaRPr lang="es-ES" dirty="0"/>
          </a:p>
        </p:txBody>
      </p:sp>
      <p:sp>
        <p:nvSpPr>
          <p:cNvPr id="42" name="TextBox 16">
            <a:extLst>
              <a:ext uri="{FF2B5EF4-FFF2-40B4-BE49-F238E27FC236}">
                <a16:creationId xmlns:a16="http://schemas.microsoft.com/office/drawing/2014/main" id="{8BB8880B-688F-F041-F30E-42AD73998F91}"/>
              </a:ext>
            </a:extLst>
          </p:cNvPr>
          <p:cNvSpPr txBox="1"/>
          <p:nvPr/>
        </p:nvSpPr>
        <p:spPr>
          <a:xfrm>
            <a:off x="6442663" y="3067553"/>
            <a:ext cx="1357047" cy="510778"/>
          </a:xfrm>
          <a:prstGeom prst="roundRect">
            <a:avLst/>
          </a:prstGeom>
          <a:solidFill>
            <a:srgbClr val="F0F7FA"/>
          </a:solidFill>
          <a:ln>
            <a:solidFill>
              <a:srgbClr val="4472C4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800">
                <a:latin typeface="Reddit Sans"/>
                <a:ea typeface="Reddit Sans"/>
              </a:rPr>
              <a:t>Publicación de los procesos del servicio actualizado en el SIG.</a:t>
            </a:r>
            <a:endParaRPr lang="en-US" sz="80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525079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88EA4-9536-D92A-FAD3-5FFC7AF74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641B8E2-AC66-2A31-D14C-E9F1D7EE5A03}"/>
              </a:ext>
            </a:extLst>
          </p:cNvPr>
          <p:cNvSpPr txBox="1"/>
          <p:nvPr/>
        </p:nvSpPr>
        <p:spPr>
          <a:xfrm>
            <a:off x="332015" y="873578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E6FA17E1-EF69-D12E-C503-E3D9AA4767AF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A475C892-4D38-DA7C-4F25-6E45B1F622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183768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</a:t>
            </a:r>
            <a:r>
              <a:rPr lang="es-ES" u="sng"/>
              <a:t>Detallado </a:t>
            </a:r>
            <a:r>
              <a:rPr lang="es-ES"/>
              <a:t>Mesa de Servicios de Nueva Generación</a:t>
            </a:r>
            <a:br>
              <a:rPr lang="es-ES"/>
            </a:br>
            <a:r>
              <a:rPr lang="es-ES" sz="1400" b="0"/>
              <a:t>Servicio Optimo y Estandarizado</a:t>
            </a:r>
            <a:endParaRPr/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19F34074-72D7-4A57-1D14-6426BCABDA56}"/>
              </a:ext>
            </a:extLst>
          </p:cNvPr>
          <p:cNvSpPr/>
          <p:nvPr/>
        </p:nvSpPr>
        <p:spPr>
          <a:xfrm>
            <a:off x="952208" y="1517682"/>
            <a:ext cx="7272393" cy="17253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09F73FF-EA22-D2D8-02F8-6720FF585073}"/>
              </a:ext>
            </a:extLst>
          </p:cNvPr>
          <p:cNvSpPr txBox="1"/>
          <p:nvPr/>
        </p:nvSpPr>
        <p:spPr>
          <a:xfrm>
            <a:off x="3728357" y="1515833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F17DDB-50E2-6382-23F0-557CA40C1DBA}"/>
              </a:ext>
            </a:extLst>
          </p:cNvPr>
          <p:cNvSpPr txBox="1"/>
          <p:nvPr/>
        </p:nvSpPr>
        <p:spPr>
          <a:xfrm>
            <a:off x="6950527" y="151583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97D91316-0A1B-C6D5-BAFF-994FF30D0857}"/>
              </a:ext>
            </a:extLst>
          </p:cNvPr>
          <p:cNvCxnSpPr/>
          <p:nvPr/>
        </p:nvCxnSpPr>
        <p:spPr>
          <a:xfrm>
            <a:off x="6346371" y="1525362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9C8A955-4820-E290-226E-044738189EC8}"/>
              </a:ext>
            </a:extLst>
          </p:cNvPr>
          <p:cNvSpPr txBox="1"/>
          <p:nvPr/>
        </p:nvSpPr>
        <p:spPr>
          <a:xfrm>
            <a:off x="1691366" y="1699532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92CC98EA-6FE1-3027-13C8-7259A1DBED2B}"/>
              </a:ext>
            </a:extLst>
          </p:cNvPr>
          <p:cNvSpPr txBox="1"/>
          <p:nvPr/>
        </p:nvSpPr>
        <p:spPr>
          <a:xfrm>
            <a:off x="3438522" y="1704975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EA40A48-12DB-A918-6908-E517838F2345}"/>
              </a:ext>
            </a:extLst>
          </p:cNvPr>
          <p:cNvSpPr txBox="1"/>
          <p:nvPr/>
        </p:nvSpPr>
        <p:spPr>
          <a:xfrm>
            <a:off x="5071378" y="1699532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CDA8D5E-F835-6BF2-16E7-3AF4BCBB38EB}"/>
              </a:ext>
            </a:extLst>
          </p:cNvPr>
          <p:cNvSpPr txBox="1"/>
          <p:nvPr/>
        </p:nvSpPr>
        <p:spPr>
          <a:xfrm>
            <a:off x="6851194" y="1699532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C32A06FE-AAD3-1122-511C-72EB1EE9BADB}"/>
              </a:ext>
            </a:extLst>
          </p:cNvPr>
          <p:cNvCxnSpPr/>
          <p:nvPr/>
        </p:nvCxnSpPr>
        <p:spPr>
          <a:xfrm flipH="1">
            <a:off x="2701833" y="1732189"/>
            <a:ext cx="14151" cy="30248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F5106E74-F56B-088A-36FE-908CD0A9B3C9}"/>
              </a:ext>
            </a:extLst>
          </p:cNvPr>
          <p:cNvCxnSpPr>
            <a:cxnSpLocks/>
          </p:cNvCxnSpPr>
          <p:nvPr/>
        </p:nvCxnSpPr>
        <p:spPr>
          <a:xfrm flipH="1">
            <a:off x="4612277" y="1710416"/>
            <a:ext cx="8708" cy="3030310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18F59FD7-C030-AB68-E6CE-19E9D4F1A134}"/>
              </a:ext>
            </a:extLst>
          </p:cNvPr>
          <p:cNvCxnSpPr>
            <a:cxnSpLocks/>
          </p:cNvCxnSpPr>
          <p:nvPr/>
        </p:nvCxnSpPr>
        <p:spPr>
          <a:xfrm>
            <a:off x="6357258" y="1704975"/>
            <a:ext cx="29390" cy="2943223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12C89E0-C8B0-A253-980D-DD15E71DCD94}"/>
              </a:ext>
            </a:extLst>
          </p:cNvPr>
          <p:cNvSpPr txBox="1"/>
          <p:nvPr/>
        </p:nvSpPr>
        <p:spPr>
          <a:xfrm>
            <a:off x="957941" y="2305050"/>
            <a:ext cx="1747157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Lecciones aprendidas mesas de servicio operación actual </a:t>
            </a:r>
            <a:endParaRPr lang="es-ES"/>
          </a:p>
          <a:p>
            <a:pPr marL="171450" indent="-171450">
              <a:buChar char="•"/>
            </a:pPr>
            <a:endParaRPr lang="es-ES" sz="80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Caracterización de las mesas de servicio</a:t>
            </a:r>
          </a:p>
          <a:p>
            <a:pPr marL="171450" indent="-171450">
              <a:buChar char="•"/>
            </a:pPr>
            <a:endParaRPr lang="es-ES" sz="80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Oferta de valor del servicio</a:t>
            </a:r>
          </a:p>
          <a:p>
            <a:pPr marL="171450" indent="-171450">
              <a:buChar char="•"/>
            </a:pPr>
            <a:endParaRPr lang="es-ES" sz="80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Flujo del servicio optimo: diagrama de procesos a alto nivel (personas, tecnología, </a:t>
            </a:r>
            <a:r>
              <a:rPr lang="es-ES" sz="800">
                <a:latin typeface="Reddit Sans"/>
              </a:rPr>
              <a:t>herramientas).</a:t>
            </a:r>
          </a:p>
        </p:txBody>
      </p:sp>
      <p:sp>
        <p:nvSpPr>
          <p:cNvPr id="60" name="CuadroTexto 60"/>
          <p:cNvSpPr txBox="1"/>
          <p:nvPr/>
        </p:nvSpPr>
        <p:spPr>
          <a:xfrm>
            <a:off x="2743198" y="2305050"/>
            <a:ext cx="1747157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Modelo de niveles de servicio definido</a:t>
            </a:r>
            <a:endParaRPr lang="es-ES" sz="800"/>
          </a:p>
          <a:p>
            <a:pPr marL="171450" indent="-171450">
              <a:buChar char="•"/>
            </a:pPr>
            <a:endParaRPr lang="es-ES" sz="800">
              <a:latin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Modelo operativo (hibrido-IA) funcional alto nivel: </a:t>
            </a:r>
            <a:r>
              <a:rPr lang="es-ES" sz="600">
                <a:latin typeface="Reddit Sans"/>
                <a:ea typeface="Reddit Sans"/>
              </a:rPr>
              <a:t>Modelo de incidentes, Modelo de solicitudes, Modelo de gestión de catálogo y portfolio del cliente, Modelo de gestión de cambios, Métricas y ANS</a:t>
            </a:r>
          </a:p>
          <a:p>
            <a:endParaRPr lang="en-US" sz="8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Diagrama del nuevo servicio optimo</a:t>
            </a:r>
          </a:p>
          <a:p>
            <a:pPr marL="171450" indent="-171450">
              <a:buChar char="•"/>
            </a:pPr>
            <a:endParaRPr lang="es-ES" sz="80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  <a:ea typeface="Reddit Sans"/>
              </a:rPr>
              <a:t>Habilitaciones equipos comercial y de operación del servicio optimo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Clientes pioneros con herramienta (agentes/</a:t>
            </a:r>
            <a:r>
              <a:rPr lang="es-ES" sz="800" dirty="0" err="1">
                <a:latin typeface="Reddit Sans"/>
              </a:rPr>
              <a:t>reuso</a:t>
            </a:r>
            <a:r>
              <a:rPr lang="es-ES" sz="800" dirty="0">
                <a:latin typeface="Reddit Sans"/>
              </a:rPr>
              <a:t>) </a:t>
            </a:r>
            <a:endParaRPr lang="es-ES"/>
          </a:p>
        </p:txBody>
      </p:sp>
      <p:sp>
        <p:nvSpPr>
          <p:cNvPr id="61" name="CuadroTexto 61"/>
          <p:cNvSpPr txBox="1"/>
          <p:nvPr/>
        </p:nvSpPr>
        <p:spPr>
          <a:xfrm>
            <a:off x="4757054" y="2305052"/>
            <a:ext cx="1556657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Modelo operativo; equipo de operación: </a:t>
            </a:r>
            <a:r>
              <a:rPr lang="es-ES" sz="600" dirty="0">
                <a:latin typeface="Reddit Sans"/>
                <a:ea typeface="Reddit Sans"/>
              </a:rPr>
              <a:t>Modelo de costos, Colaterales para comercial : propuestas, contrato, </a:t>
            </a:r>
            <a:r>
              <a:rPr lang="es-ES" sz="600" dirty="0" err="1">
                <a:latin typeface="Reddit Sans"/>
                <a:ea typeface="Reddit Sans"/>
              </a:rPr>
              <a:t>wbs</a:t>
            </a:r>
            <a:r>
              <a:rPr lang="es-ES" sz="600" dirty="0">
                <a:latin typeface="Reddit Sans"/>
                <a:ea typeface="Reddit Sans"/>
              </a:rPr>
              <a:t>, plantilla de estimación del </a:t>
            </a:r>
            <a:r>
              <a:rPr lang="es-ES" sz="600" dirty="0" err="1">
                <a:latin typeface="Reddit Sans"/>
                <a:ea typeface="Reddit Sans"/>
              </a:rPr>
              <a:t>servicioy</a:t>
            </a:r>
            <a:r>
              <a:rPr lang="es-ES" sz="600" dirty="0">
                <a:latin typeface="Reddit Sans"/>
                <a:ea typeface="Reddit Sans"/>
              </a:rPr>
              <a:t> Colaterales para la operación</a:t>
            </a:r>
          </a:p>
          <a:p>
            <a:pPr marL="171450" indent="-171450">
              <a:buChar char="•"/>
            </a:pPr>
            <a:endParaRPr lang="es-ES" sz="800">
              <a:ea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  <a:ea typeface="Reddit Sans"/>
              </a:rPr>
              <a:t>Modelo del servicio optimizado</a:t>
            </a:r>
            <a:endParaRPr lang="es-ES" sz="800">
              <a:latin typeface="Reddit Sans"/>
            </a:endParaRPr>
          </a:p>
          <a:p>
            <a:pPr marL="171450" indent="-171450">
              <a:buChar char="•"/>
            </a:pPr>
            <a:endParaRPr lang="es-ES" sz="80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Herramientas para </a:t>
            </a:r>
            <a:r>
              <a:rPr lang="es-ES" sz="800" dirty="0" err="1">
                <a:latin typeface="Reddit Sans"/>
              </a:rPr>
              <a:t>Dashboards</a:t>
            </a:r>
            <a:r>
              <a:rPr lang="es-ES" sz="800" dirty="0">
                <a:latin typeface="Reddit Sans"/>
              </a:rPr>
              <a:t> ejecutivos para </a:t>
            </a:r>
            <a:r>
              <a:rPr lang="es-ES" sz="800" dirty="0" err="1">
                <a:latin typeface="Reddit Sans"/>
              </a:rPr>
              <a:t>PersonalSoft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endParaRPr lang="es-ES" sz="800">
              <a:latin typeface="Reddit Sans"/>
            </a:endParaRPr>
          </a:p>
        </p:txBody>
      </p:sp>
      <p:sp>
        <p:nvSpPr>
          <p:cNvPr id="62" name="CuadroTexto 62"/>
          <p:cNvSpPr txBox="1"/>
          <p:nvPr/>
        </p:nvSpPr>
        <p:spPr>
          <a:xfrm>
            <a:off x="6531427" y="2305051"/>
            <a:ext cx="1513114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Publicación de los procesos del servicio</a:t>
            </a:r>
            <a:r>
              <a:rPr lang="es-ES" sz="800" dirty="0">
                <a:latin typeface="Reddit Sans"/>
              </a:rPr>
              <a:t> </a:t>
            </a:r>
            <a:r>
              <a:rPr lang="es-ES" sz="800">
                <a:latin typeface="Reddit Sans"/>
              </a:rPr>
              <a:t>actualizado en el SIG.</a:t>
            </a: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873C535-05E5-3B79-6186-48D67E1BE9C7}"/>
              </a:ext>
            </a:extLst>
          </p:cNvPr>
          <p:cNvSpPr txBox="1"/>
          <p:nvPr/>
        </p:nvSpPr>
        <p:spPr>
          <a:xfrm>
            <a:off x="4853664" y="1895475"/>
            <a:ext cx="1306286" cy="4385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50" spc="-1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Productización</a:t>
            </a:r>
            <a:r>
              <a:rPr lang="es-ES" sz="750" spc="-1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del servicio y habilitaciones equipo comercial y operación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F28BDA-1B26-2A30-0811-4C2DC5BAD3E9}"/>
              </a:ext>
            </a:extLst>
          </p:cNvPr>
          <p:cNvSpPr txBox="1"/>
          <p:nvPr/>
        </p:nvSpPr>
        <p:spPr>
          <a:xfrm>
            <a:off x="3057521" y="1917244"/>
            <a:ext cx="1295400" cy="3231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50" spc="-1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Diseño modelo operativo servicio optimo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1ACACBF-DB7A-16E8-A02C-4587D79934F4}"/>
              </a:ext>
            </a:extLst>
          </p:cNvPr>
          <p:cNvSpPr txBox="1"/>
          <p:nvPr/>
        </p:nvSpPr>
        <p:spPr>
          <a:xfrm>
            <a:off x="6448419" y="1895472"/>
            <a:ext cx="1676400" cy="2077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50" spc="-1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Publicación de procesos en el SIG.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BD75088-D6C8-494F-5E13-31169AF87D86}"/>
              </a:ext>
            </a:extLst>
          </p:cNvPr>
          <p:cNvSpPr txBox="1"/>
          <p:nvPr/>
        </p:nvSpPr>
        <p:spPr>
          <a:xfrm>
            <a:off x="1201507" y="1895469"/>
            <a:ext cx="1322616" cy="4385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50" spc="-1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Evaluación de la operación y diagrama inicial del servicio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F9120A6-3C4A-6C9A-3D47-FB3915929649}"/>
              </a:ext>
            </a:extLst>
          </p:cNvPr>
          <p:cNvSpPr txBox="1"/>
          <p:nvPr/>
        </p:nvSpPr>
        <p:spPr>
          <a:xfrm>
            <a:off x="870856" y="4634595"/>
            <a:ext cx="7320644" cy="221337"/>
          </a:xfrm>
          <a:prstGeom prst="roundRect">
            <a:avLst/>
          </a:prstGeom>
          <a:solidFill>
            <a:srgbClr val="F0F7FA"/>
          </a:solidFill>
          <a:ln>
            <a:solidFill>
              <a:schemeClr val="accent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 b="0" i="0" u="none" strike="noStrike" baseline="0" dirty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Observaciónes</a:t>
            </a:r>
            <a:r>
              <a:rPr lang="es-ES" sz="700" b="0" i="0" u="none" strike="noStrike" baseline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:</a:t>
            </a:r>
            <a:r>
              <a:rPr lang="en-US" sz="700" b="0" i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  <a:r>
              <a:rPr lang="en-US" sz="700" dirty="0">
                <a:latin typeface="Reddit Sans"/>
                <a:ea typeface="Segoe UI"/>
                <a:cs typeface="Segoe UI"/>
              </a:rPr>
              <a:t> </a:t>
            </a:r>
            <a:r>
              <a:rPr lang="es-ES" sz="700" b="0" i="0" u="none" strike="noStrike" baseline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Durante todo el proceso debemos mirar los planes de transición y las habilitaciones de los clientes actuales.</a:t>
            </a:r>
            <a:r>
              <a:rPr lang="es-ES" sz="700" b="0" i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  <a:endParaRPr lang="es-ES" sz="700" b="0" i="0" dirty="0">
              <a:solidFill>
                <a:srgbClr val="000000"/>
              </a:solidFill>
              <a:ea typeface="Segoe UI"/>
            </a:endParaRPr>
          </a:p>
        </p:txBody>
      </p:sp>
      <p:sp>
        <p:nvSpPr>
          <p:cNvPr id="28" name="modelo reactivo">
            <a:extLst>
              <a:ext uri="{FF2B5EF4-FFF2-40B4-BE49-F238E27FC236}">
                <a16:creationId xmlns:a16="http://schemas.microsoft.com/office/drawing/2014/main" id="{46B93125-EC3B-48A6-5435-0DA6499F8893}"/>
              </a:ext>
            </a:extLst>
          </p:cNvPr>
          <p:cNvSpPr txBox="1"/>
          <p:nvPr/>
        </p:nvSpPr>
        <p:spPr>
          <a:xfrm>
            <a:off x="6487886" y="1213758"/>
            <a:ext cx="1577980" cy="28847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91425" tIns="91425" rIns="91425" bIns="91425" anchor="ctr"/>
          <a:lstStyle/>
          <a:p>
            <a:pPr algn="ctr"/>
            <a:r>
              <a:rPr lang="es" sz="900" b="1">
                <a:solidFill>
                  <a:srgbClr val="0070C0"/>
                </a:solidFill>
                <a:latin typeface="Reddit Sans"/>
                <a:ea typeface="Reddit Sans"/>
              </a:rPr>
              <a:t>Transición de los Servicios Reactivos</a:t>
            </a:r>
          </a:p>
        </p:txBody>
      </p:sp>
      <p:sp>
        <p:nvSpPr>
          <p:cNvPr id="32" name="modelo predictivo">
            <a:extLst>
              <a:ext uri="{FF2B5EF4-FFF2-40B4-BE49-F238E27FC236}">
                <a16:creationId xmlns:a16="http://schemas.microsoft.com/office/drawing/2014/main" id="{251EB475-4F55-6083-DEFF-C319F698B7B7}"/>
              </a:ext>
            </a:extLst>
          </p:cNvPr>
          <p:cNvSpPr txBox="1"/>
          <p:nvPr/>
        </p:nvSpPr>
        <p:spPr>
          <a:xfrm>
            <a:off x="4629150" y="1213759"/>
            <a:ext cx="1850123" cy="28847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900" b="1">
                <a:solidFill>
                  <a:srgbClr val="0070C0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36" name="modelo autonomo">
            <a:extLst>
              <a:ext uri="{FF2B5EF4-FFF2-40B4-BE49-F238E27FC236}">
                <a16:creationId xmlns:a16="http://schemas.microsoft.com/office/drawing/2014/main" id="{9AE33D4D-FC08-2029-9DE0-778F355A211E}"/>
              </a:ext>
            </a:extLst>
          </p:cNvPr>
          <p:cNvSpPr txBox="1"/>
          <p:nvPr/>
        </p:nvSpPr>
        <p:spPr>
          <a:xfrm>
            <a:off x="1104900" y="1213759"/>
            <a:ext cx="3505502" cy="28847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/>
            <a:r>
              <a:rPr lang="es" sz="900" b="1">
                <a:solidFill>
                  <a:srgbClr val="0070C0"/>
                </a:solidFill>
                <a:latin typeface="Reddit Sans"/>
                <a:ea typeface="Reddit Sans"/>
              </a:rPr>
              <a:t>Diseño del Servicio Optimo (Autónomo e Inteligente)</a:t>
            </a:r>
            <a:endParaRPr lang="es" sz="900" b="1">
              <a:solidFill>
                <a:srgbClr val="0070C0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0" name="Flecha: a la derecha 39">
            <a:extLst>
              <a:ext uri="{FF2B5EF4-FFF2-40B4-BE49-F238E27FC236}">
                <a16:creationId xmlns:a16="http://schemas.microsoft.com/office/drawing/2014/main" id="{54F0D5B3-84CD-88B6-7907-8318EB045C0F}"/>
              </a:ext>
            </a:extLst>
          </p:cNvPr>
          <p:cNvSpPr/>
          <p:nvPr/>
        </p:nvSpPr>
        <p:spPr>
          <a:xfrm>
            <a:off x="4585608" y="1306303"/>
            <a:ext cx="156539" cy="141736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Flecha: a la derecha 43">
            <a:extLst>
              <a:ext uri="{FF2B5EF4-FFF2-40B4-BE49-F238E27FC236}">
                <a16:creationId xmlns:a16="http://schemas.microsoft.com/office/drawing/2014/main" id="{F9A647AB-49B2-7B1F-FC5B-F54D040320A8}"/>
              </a:ext>
            </a:extLst>
          </p:cNvPr>
          <p:cNvSpPr/>
          <p:nvPr/>
        </p:nvSpPr>
        <p:spPr>
          <a:xfrm>
            <a:off x="6387193" y="1306303"/>
            <a:ext cx="156539" cy="141736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Estrella: 5 puntas 47">
            <a:extLst>
              <a:ext uri="{FF2B5EF4-FFF2-40B4-BE49-F238E27FC236}">
                <a16:creationId xmlns:a16="http://schemas.microsoft.com/office/drawing/2014/main" id="{793826F1-59A3-095E-4303-2E9183DE31BB}"/>
              </a:ext>
            </a:extLst>
          </p:cNvPr>
          <p:cNvSpPr/>
          <p:nvPr/>
        </p:nvSpPr>
        <p:spPr>
          <a:xfrm>
            <a:off x="6601096" y="220978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3E1D2EF6-6182-E5E5-41DF-7EB9F70339D2}"/>
              </a:ext>
            </a:extLst>
          </p:cNvPr>
          <p:cNvSpPr txBox="1"/>
          <p:nvPr/>
        </p:nvSpPr>
        <p:spPr>
          <a:xfrm>
            <a:off x="6700161" y="187230"/>
            <a:ext cx="1801581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 dirty="0">
                <a:latin typeface="Reddit Sans"/>
                <a:ea typeface="Reddit Sans"/>
              </a:rPr>
              <a:t>Entrega incremental del servicio optimizado con validación y </a:t>
            </a:r>
            <a:r>
              <a:rPr lang="es-ES" sz="700" dirty="0" err="1">
                <a:latin typeface="Reddit Sans"/>
                <a:ea typeface="Reddit Sans"/>
              </a:rPr>
              <a:t>feedback</a:t>
            </a:r>
            <a:r>
              <a:rPr lang="es-ES" sz="700" dirty="0">
                <a:latin typeface="Reddit Sans"/>
                <a:ea typeface="Reddit Sans"/>
              </a:rPr>
              <a:t> (equipo comercial, y/o clientes actuales)</a:t>
            </a:r>
          </a:p>
        </p:txBody>
      </p:sp>
      <p:sp>
        <p:nvSpPr>
          <p:cNvPr id="54" name="Estrella: 5 puntas 53">
            <a:extLst>
              <a:ext uri="{FF2B5EF4-FFF2-40B4-BE49-F238E27FC236}">
                <a16:creationId xmlns:a16="http://schemas.microsoft.com/office/drawing/2014/main" id="{518EF389-C601-EEF0-D4AB-22ABDEF62A9A}"/>
              </a:ext>
            </a:extLst>
          </p:cNvPr>
          <p:cNvSpPr/>
          <p:nvPr/>
        </p:nvSpPr>
        <p:spPr>
          <a:xfrm>
            <a:off x="2573382" y="1728648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56" name="Estrella: 5 puntas 55">
            <a:extLst>
              <a:ext uri="{FF2B5EF4-FFF2-40B4-BE49-F238E27FC236}">
                <a16:creationId xmlns:a16="http://schemas.microsoft.com/office/drawing/2014/main" id="{A6E49D0B-7D1F-A049-1E14-981FCC78B0DC}"/>
              </a:ext>
            </a:extLst>
          </p:cNvPr>
          <p:cNvSpPr/>
          <p:nvPr/>
        </p:nvSpPr>
        <p:spPr>
          <a:xfrm>
            <a:off x="4320539" y="1728648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58" name="Estrella: 5 puntas 57">
            <a:extLst>
              <a:ext uri="{FF2B5EF4-FFF2-40B4-BE49-F238E27FC236}">
                <a16:creationId xmlns:a16="http://schemas.microsoft.com/office/drawing/2014/main" id="{366DE212-358A-02EB-D841-E758D41129B3}"/>
              </a:ext>
            </a:extLst>
          </p:cNvPr>
          <p:cNvSpPr/>
          <p:nvPr/>
        </p:nvSpPr>
        <p:spPr>
          <a:xfrm>
            <a:off x="6138453" y="1744976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  <p:sp>
        <p:nvSpPr>
          <p:cNvPr id="63" name="Estrella: 5 puntas 62">
            <a:extLst>
              <a:ext uri="{FF2B5EF4-FFF2-40B4-BE49-F238E27FC236}">
                <a16:creationId xmlns:a16="http://schemas.microsoft.com/office/drawing/2014/main" id="{FB7C3C89-30B2-2BFA-5E99-EC28EAD8A868}"/>
              </a:ext>
            </a:extLst>
          </p:cNvPr>
          <p:cNvSpPr/>
          <p:nvPr/>
        </p:nvSpPr>
        <p:spPr>
          <a:xfrm>
            <a:off x="7787639" y="1728648"/>
            <a:ext cx="97972" cy="114301"/>
          </a:xfrm>
          <a:prstGeom prst="star5">
            <a:avLst/>
          </a:prstGeom>
          <a:solidFill>
            <a:schemeClr val="accent5"/>
          </a:solidFill>
          <a:ln w="63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395429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116389" y="4657779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02" y="1737590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653874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866" y="1737590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654921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288" y="1737590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649689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8709" y="1737590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76896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5687" y="1737590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64340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609" y="1737590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5372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633149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896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20118" y="20222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/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20121" y="30433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485435" y="3522979"/>
            <a:ext cx="11572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automatización. Portal de autoservicio, base de conocimiento, FAQ, chatbot, IA generativa.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681503" y="3037859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35931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18781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187814" y="3522980"/>
            <a:ext cx="1277031" cy="91806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585267" y="3021530"/>
            <a:ext cx="1168174" cy="29200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</a:t>
            </a:r>
            <a:br>
              <a:rPr lang="en-US" sz="1000" kern="0" spc="-31">
                <a:latin typeface="Reddit Sans"/>
                <a:ea typeface="Reddit Sans"/>
                <a:cs typeface="Geist Semi Bold" pitchFamily="34" charset="-120"/>
              </a:rPr>
            </a:b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Ingeniería)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03947" y="3522023"/>
            <a:ext cx="1174357" cy="10105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complejos. Ingenieros senior, arquitectos o especialistas que resuelven problemas complejos y causa raíz.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42592" y="30215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086135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5773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28493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0B55AC2E-1F99-440A-C595-08997A02FCA5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sp>
        <p:nvSpPr>
          <p:cNvPr id="9" name="Titulo">
            <a:extLst>
              <a:ext uri="{FF2B5EF4-FFF2-40B4-BE49-F238E27FC236}">
                <a16:creationId xmlns:a16="http://schemas.microsoft.com/office/drawing/2014/main" id="{559C00E6-28C4-F4E7-6254-770B61ECB125}"/>
              </a:ext>
            </a:extLst>
          </p:cNvPr>
          <p:cNvSpPr txBox="1">
            <a:spLocks/>
          </p:cNvSpPr>
          <p:nvPr/>
        </p:nvSpPr>
        <p:spPr>
          <a:xfrm>
            <a:off x="356829" y="265706"/>
            <a:ext cx="8211000" cy="572700"/>
          </a:xfrm>
          <a:prstGeom prst="rect">
            <a:avLst/>
          </a:prstGeom>
        </p:spPr>
        <p:txBody>
          <a:bodyPr lIns="91440" tIns="45720" rIns="91440" bIns="4572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Modelo de 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Madurez de las Mesas de Servicio – A dónde queremos llegar</a:t>
            </a: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30" y="1110342"/>
            <a:ext cx="2775407" cy="3701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4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252108" y="1110342"/>
            <a:ext cx="2682879" cy="3701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6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6052458" y="1110342"/>
            <a:ext cx="2683629" cy="3701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accent5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accent5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3" name="Flecha: a la derecha 2">
            <a:extLst>
              <a:ext uri="{FF2B5EF4-FFF2-40B4-BE49-F238E27FC236}">
                <a16:creationId xmlns:a16="http://schemas.microsoft.com/office/drawing/2014/main" id="{D6F8662C-AF95-CD1F-BD84-55CD88025DED}"/>
              </a:ext>
            </a:extLst>
          </p:cNvPr>
          <p:cNvSpPr/>
          <p:nvPr/>
        </p:nvSpPr>
        <p:spPr>
          <a:xfrm rot="21480000">
            <a:off x="2994960" y="1110097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9EB25F40-DE60-C469-0319-5DD9E369693F}"/>
              </a:ext>
            </a:extLst>
          </p:cNvPr>
          <p:cNvSpPr/>
          <p:nvPr/>
        </p:nvSpPr>
        <p:spPr>
          <a:xfrm rot="21480000">
            <a:off x="5770817" y="1110097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353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modelo reactivo">
            <a:extLst>
              <a:ext uri="{FF2B5EF4-FFF2-40B4-BE49-F238E27FC236}">
                <a16:creationId xmlns:a16="http://schemas.microsoft.com/office/drawing/2014/main" id="{63B05839-3D71-AE88-305C-0E928050B2A8}"/>
              </a:ext>
            </a:extLst>
          </p:cNvPr>
          <p:cNvSpPr txBox="1"/>
          <p:nvPr/>
        </p:nvSpPr>
        <p:spPr>
          <a:xfrm>
            <a:off x="351065" y="3671205"/>
            <a:ext cx="8523064" cy="664029"/>
          </a:xfrm>
          <a:prstGeom prst="rect">
            <a:avLst/>
          </a:prstGeom>
          <a:solidFill>
            <a:srgbClr val="FCF4EB"/>
          </a:solidFill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111" name="Text 18">
            <a:extLst>
              <a:ext uri="{FF2B5EF4-FFF2-40B4-BE49-F238E27FC236}">
                <a16:creationId xmlns:a16="http://schemas.microsoft.com/office/drawing/2014/main" id="{571A3787-9D32-BB3B-CFF1-3FDDDE399B63}"/>
              </a:ext>
            </a:extLst>
          </p:cNvPr>
          <p:cNvSpPr/>
          <p:nvPr/>
        </p:nvSpPr>
        <p:spPr>
          <a:xfrm>
            <a:off x="370454" y="485020"/>
            <a:ext cx="9388248" cy="346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06"/>
              </a:lnSpc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: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Reducción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costos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experiencia del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usuario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final 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través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la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transferencia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8BADBF-C619-14FE-378A-ED427D78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730" y="200392"/>
            <a:ext cx="7111542" cy="572700"/>
          </a:xfrm>
        </p:spPr>
        <p:txBody>
          <a:bodyPr>
            <a:normAutofit/>
          </a:bodyPr>
          <a:lstStyle/>
          <a:p>
            <a:r>
              <a:rPr lang="es-CO"/>
              <a:t>Modelo de Madurez de la Mesa de Servicio de Nueva Generación</a:t>
            </a: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58221" y="2433703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371136" y="2717436"/>
            <a:ext cx="1445760" cy="63807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Portal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base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FAQ, chatbot, IA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generativa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817574" y="2460917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52259" y="2864393"/>
            <a:ext cx="1233489" cy="56731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225914" y="2444588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900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040858" y="2864394"/>
            <a:ext cx="1641700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  <a:endParaRPr lang="es-ES"/>
          </a:p>
          <a:p>
            <a:pPr 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841081" y="2444587"/>
            <a:ext cx="994003" cy="27023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 Ingeniería)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42047" y="2906981"/>
            <a:ext cx="1490042" cy="6840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Ingenieros senior,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arquitectos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resuelven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 causa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raíz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292964" y="2460916"/>
            <a:ext cx="1070202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292963" y="29514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762534" y="2444587"/>
            <a:ext cx="994003" cy="38548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900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88364" y="2962365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1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078289" y="4554365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5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29" y="1028700"/>
            <a:ext cx="2682879" cy="353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16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159579" y="1028700"/>
            <a:ext cx="2682879" cy="353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17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5959929" y="1028700"/>
            <a:ext cx="2683629" cy="353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chemeClr val="accent5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accent5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119" name="text">
            <a:extLst>
              <a:ext uri="{FF2B5EF4-FFF2-40B4-BE49-F238E27FC236}">
                <a16:creationId xmlns:a16="http://schemas.microsoft.com/office/drawing/2014/main" id="{6A0163D3-21EE-1E11-51FD-D7661AE05DB5}"/>
              </a:ext>
            </a:extLst>
          </p:cNvPr>
          <p:cNvSpPr>
            <a:spLocks noGrp="1"/>
          </p:cNvSpPr>
          <p:nvPr/>
        </p:nvSpPr>
        <p:spPr>
          <a:xfrm>
            <a:off x="419101" y="3875315"/>
            <a:ext cx="1521276" cy="3891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Deflexión &gt;30%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Disponible 24x7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Resuelve solicitudes frecuentes</a:t>
            </a:r>
          </a:p>
        </p:txBody>
      </p:sp>
      <p:sp>
        <p:nvSpPr>
          <p:cNvPr id="121" name="text">
            <a:extLst>
              <a:ext uri="{FF2B5EF4-FFF2-40B4-BE49-F238E27FC236}">
                <a16:creationId xmlns:a16="http://schemas.microsoft.com/office/drawing/2014/main" id="{3AFE1D91-0A1E-C722-7EDC-B63FC372E59A}"/>
              </a:ext>
            </a:extLst>
          </p:cNvPr>
          <p:cNvSpPr>
            <a:spLocks noGrp="1"/>
          </p:cNvSpPr>
          <p:nvPr/>
        </p:nvSpPr>
        <p:spPr>
          <a:xfrm>
            <a:off x="1631497" y="3799113"/>
            <a:ext cx="1657348" cy="6721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&lt;65%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MTTR &gt;12h, Sin N0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Sin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catálogo</a:t>
            </a:r>
            <a:endParaRPr sz="600" err="1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Registro y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categorización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Comunicación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al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usuar</a:t>
            </a: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io</a:t>
            </a:r>
            <a:endParaRPr sz="60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3" name="text">
            <a:extLst>
              <a:ext uri="{FF2B5EF4-FFF2-40B4-BE49-F238E27FC236}">
                <a16:creationId xmlns:a16="http://schemas.microsoft.com/office/drawing/2014/main" id="{547BC0BF-FA4F-37FF-8A9D-B708AC4C5B20}"/>
              </a:ext>
            </a:extLst>
          </p:cNvPr>
          <p:cNvSpPr>
            <a:spLocks noGrp="1"/>
          </p:cNvSpPr>
          <p:nvPr/>
        </p:nvSpPr>
        <p:spPr>
          <a:xfrm>
            <a:off x="3159579" y="3761014"/>
            <a:ext cx="1341665" cy="4980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65–74%, MTTR 8–12h</a:t>
            </a:r>
            <a:endParaRPr lang="es-ES"/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SLA, Catálogo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CMDB, KPI, 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Diagnóstico avanzado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Soporte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aplicativo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/campo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Coordinación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proveedores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5" name="text">
            <a:extLst>
              <a:ext uri="{FF2B5EF4-FFF2-40B4-BE49-F238E27FC236}">
                <a16:creationId xmlns:a16="http://schemas.microsoft.com/office/drawing/2014/main" id="{794BC2E2-347C-8C8B-051E-E54E1FE8FF29}"/>
              </a:ext>
            </a:extLst>
          </p:cNvPr>
          <p:cNvSpPr>
            <a:spLocks noGrp="1"/>
          </p:cNvSpPr>
          <p:nvPr/>
        </p:nvSpPr>
        <p:spPr>
          <a:xfrm>
            <a:off x="4682219" y="3875314"/>
            <a:ext cx="1162050" cy="3401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≥75%, MTTR 4–8h,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20–35% N0 activo KCS, Gobierno formal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7" name="text">
            <a:extLst>
              <a:ext uri="{FF2B5EF4-FFF2-40B4-BE49-F238E27FC236}">
                <a16:creationId xmlns:a16="http://schemas.microsoft.com/office/drawing/2014/main" id="{53F00BD8-6D22-3BE4-05A1-97E1A6CCB8CE}"/>
              </a:ext>
            </a:extLst>
          </p:cNvPr>
          <p:cNvSpPr>
            <a:spLocks noGrp="1"/>
          </p:cNvSpPr>
          <p:nvPr/>
        </p:nvSpPr>
        <p:spPr>
          <a:xfrm>
            <a:off x="6172201" y="3853543"/>
            <a:ext cx="1162050" cy="487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≥80%, MTTR &lt;4h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35–55% CSAT ≥88%, IA +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XLA medidos DEX monitoreado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A96091D-9F50-1CD6-469D-68CA4CF1A06D}"/>
              </a:ext>
            </a:extLst>
          </p:cNvPr>
          <p:cNvSpPr txBox="1"/>
          <p:nvPr/>
        </p:nvSpPr>
        <p:spPr>
          <a:xfrm>
            <a:off x="7538358" y="3845379"/>
            <a:ext cx="132805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≥85%, MTTR &lt;2h, Deflection ≥55%, CSAT ≥92 ( 50% tickets sin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agente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humano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), Pricing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outcomes Next Gen</a:t>
            </a:r>
            <a:endParaRPr lang="es-ES"/>
          </a:p>
        </p:txBody>
      </p:sp>
      <p:pic>
        <p:nvPicPr>
          <p:cNvPr id="7" name="Image 0" descr="-5107849e.png">
            <a:extLst>
              <a:ext uri="{FF2B5EF4-FFF2-40B4-BE49-F238E27FC236}">
                <a16:creationId xmlns:a16="http://schemas.microsoft.com/office/drawing/2014/main" id="{D7030BB5-D81F-8A9B-D14D-E4816EDD8C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791"/>
          <a:stretch>
            <a:fillRect/>
          </a:stretch>
        </p:blipFill>
        <p:spPr>
          <a:xfrm>
            <a:off x="346302" y="1623290"/>
            <a:ext cx="1587953" cy="762341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CE0E936A-956B-122D-BFA8-E372482D127B}"/>
              </a:ext>
            </a:extLst>
          </p:cNvPr>
          <p:cNvSpPr/>
          <p:nvPr/>
        </p:nvSpPr>
        <p:spPr>
          <a:xfrm>
            <a:off x="1067820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1" descr="3c0be2e2.png">
            <a:extLst>
              <a:ext uri="{FF2B5EF4-FFF2-40B4-BE49-F238E27FC236}">
                <a16:creationId xmlns:a16="http://schemas.microsoft.com/office/drawing/2014/main" id="{8EF2DF72-B7CA-CF2D-D74B-A517760722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147" y="1501474"/>
            <a:ext cx="150019" cy="171450"/>
          </a:xfrm>
          <a:prstGeom prst="rect">
            <a:avLst/>
          </a:prstGeom>
        </p:spPr>
      </p:pic>
      <p:pic>
        <p:nvPicPr>
          <p:cNvPr id="14" name="Image 2" descr="-664449e.png">
            <a:extLst>
              <a:ext uri="{FF2B5EF4-FFF2-40B4-BE49-F238E27FC236}">
                <a16:creationId xmlns:a16="http://schemas.microsoft.com/office/drawing/2014/main" id="{A1582877-2845-A03C-32D2-1A85967107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791"/>
          <a:stretch>
            <a:fillRect/>
          </a:stretch>
        </p:blipFill>
        <p:spPr>
          <a:xfrm>
            <a:off x="3173866" y="1623290"/>
            <a:ext cx="1587953" cy="762341"/>
          </a:xfrm>
          <a:prstGeom prst="rect">
            <a:avLst/>
          </a:prstGeom>
        </p:spPr>
      </p:pic>
      <p:sp>
        <p:nvSpPr>
          <p:cNvPr id="16" name="Text 5">
            <a:extLst>
              <a:ext uri="{FF2B5EF4-FFF2-40B4-BE49-F238E27FC236}">
                <a16:creationId xmlns:a16="http://schemas.microsoft.com/office/drawing/2014/main" id="{8D275D42-FC06-CB3B-ED05-1FDA82A995D0}"/>
              </a:ext>
            </a:extLst>
          </p:cNvPr>
          <p:cNvSpPr/>
          <p:nvPr/>
        </p:nvSpPr>
        <p:spPr>
          <a:xfrm>
            <a:off x="3380355" y="17951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10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8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 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F311DA5D-85F9-EF7E-0DBC-696CBCB217F4}"/>
              </a:ext>
            </a:extLst>
          </p:cNvPr>
          <p:cNvSpPr/>
          <p:nvPr/>
        </p:nvSpPr>
        <p:spPr>
          <a:xfrm>
            <a:off x="3922599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1" name="Image 3" descr="327946a2.png">
            <a:extLst>
              <a:ext uri="{FF2B5EF4-FFF2-40B4-BE49-F238E27FC236}">
                <a16:creationId xmlns:a16="http://schemas.microsoft.com/office/drawing/2014/main" id="{89AAF305-04C7-A7A6-1B1E-572C4489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9452" y="1502521"/>
            <a:ext cx="128588" cy="164306"/>
          </a:xfrm>
          <a:prstGeom prst="rect">
            <a:avLst/>
          </a:prstGeom>
        </p:spPr>
      </p:pic>
      <p:pic>
        <p:nvPicPr>
          <p:cNvPr id="23" name="Image 4" descr="-63bd839e.png">
            <a:extLst>
              <a:ext uri="{FF2B5EF4-FFF2-40B4-BE49-F238E27FC236}">
                <a16:creationId xmlns:a16="http://schemas.microsoft.com/office/drawing/2014/main" id="{097DBBD1-C1FE-AD50-E484-99B251D98CA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1791"/>
          <a:stretch>
            <a:fillRect/>
          </a:stretch>
        </p:blipFill>
        <p:spPr>
          <a:xfrm>
            <a:off x="4586288" y="1623290"/>
            <a:ext cx="1587953" cy="762341"/>
          </a:xfrm>
          <a:prstGeom prst="rect">
            <a:avLst/>
          </a:prstGeom>
        </p:spPr>
      </p:pic>
      <p:sp>
        <p:nvSpPr>
          <p:cNvPr id="25" name="Text 8">
            <a:extLst>
              <a:ext uri="{FF2B5EF4-FFF2-40B4-BE49-F238E27FC236}">
                <a16:creationId xmlns:a16="http://schemas.microsoft.com/office/drawing/2014/main" id="{8819F641-ED11-F5E7-B494-AD9088894EB1}"/>
              </a:ext>
            </a:extLst>
          </p:cNvPr>
          <p:cNvSpPr/>
          <p:nvPr/>
        </p:nvSpPr>
        <p:spPr>
          <a:xfrm>
            <a:off x="4819991" y="17936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9735C04-2AAB-A364-8A0B-4AAFAA048837}"/>
              </a:ext>
            </a:extLst>
          </p:cNvPr>
          <p:cNvSpPr/>
          <p:nvPr/>
        </p:nvSpPr>
        <p:spPr>
          <a:xfrm>
            <a:off x="5318692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1" name="Image 5" descr="-26c90fde.png">
            <a:extLst>
              <a:ext uri="{FF2B5EF4-FFF2-40B4-BE49-F238E27FC236}">
                <a16:creationId xmlns:a16="http://schemas.microsoft.com/office/drawing/2014/main" id="{DB1CF924-B9A3-50B7-8B36-3EFDC47640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9385" y="1497289"/>
            <a:ext cx="178594" cy="178594"/>
          </a:xfrm>
          <a:prstGeom prst="rect">
            <a:avLst/>
          </a:prstGeom>
        </p:spPr>
      </p:pic>
      <p:pic>
        <p:nvPicPr>
          <p:cNvPr id="33" name="Image 6" descr="-5a47b8de.png">
            <a:extLst>
              <a:ext uri="{FF2B5EF4-FFF2-40B4-BE49-F238E27FC236}">
                <a16:creationId xmlns:a16="http://schemas.microsoft.com/office/drawing/2014/main" id="{D2B6653F-E423-32E1-9D6C-0D06F169B9B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1791"/>
          <a:stretch>
            <a:fillRect/>
          </a:stretch>
        </p:blipFill>
        <p:spPr>
          <a:xfrm>
            <a:off x="5998709" y="1623290"/>
            <a:ext cx="1587953" cy="762341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2ED1896B-6CEA-F362-6EF4-FC81D471FCA4}"/>
              </a:ext>
            </a:extLst>
          </p:cNvPr>
          <p:cNvSpPr/>
          <p:nvPr/>
        </p:nvSpPr>
        <p:spPr>
          <a:xfrm>
            <a:off x="6194312" y="17951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10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3EF448C5-3034-AA2D-ED42-2518C9EF93E7}"/>
              </a:ext>
            </a:extLst>
          </p:cNvPr>
          <p:cNvSpPr/>
          <p:nvPr/>
        </p:nvSpPr>
        <p:spPr>
          <a:xfrm>
            <a:off x="6731113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9" name="Image 7" descr="-38c1a09e.png">
            <a:extLst>
              <a:ext uri="{FF2B5EF4-FFF2-40B4-BE49-F238E27FC236}">
                <a16:creationId xmlns:a16="http://schemas.microsoft.com/office/drawing/2014/main" id="{F396E1C1-A8CE-901C-95AC-22936F3A8F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8549" y="1524496"/>
            <a:ext cx="142875" cy="121444"/>
          </a:xfrm>
          <a:prstGeom prst="rect">
            <a:avLst/>
          </a:prstGeom>
        </p:spPr>
      </p:pic>
      <p:pic>
        <p:nvPicPr>
          <p:cNvPr id="41" name="Image 8" descr="213ef762.png">
            <a:extLst>
              <a:ext uri="{FF2B5EF4-FFF2-40B4-BE49-F238E27FC236}">
                <a16:creationId xmlns:a16="http://schemas.microsoft.com/office/drawing/2014/main" id="{5F70A49D-A042-9267-5520-7A9BFD59D08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11489"/>
          <a:stretch>
            <a:fillRect/>
          </a:stretch>
        </p:blipFill>
        <p:spPr>
          <a:xfrm>
            <a:off x="7405687" y="1623290"/>
            <a:ext cx="1593396" cy="762341"/>
          </a:xfrm>
          <a:prstGeom prst="rect">
            <a:avLst/>
          </a:prstGeom>
        </p:spPr>
      </p:pic>
      <p:sp>
        <p:nvSpPr>
          <p:cNvPr id="43" name="Text 14">
            <a:extLst>
              <a:ext uri="{FF2B5EF4-FFF2-40B4-BE49-F238E27FC236}">
                <a16:creationId xmlns:a16="http://schemas.microsoft.com/office/drawing/2014/main" id="{903377EE-A204-8525-2591-F8E74F4C0951}"/>
              </a:ext>
            </a:extLst>
          </p:cNvPr>
          <p:cNvSpPr/>
          <p:nvPr/>
        </p:nvSpPr>
        <p:spPr>
          <a:xfrm>
            <a:off x="7672048" y="17936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E19CC8D3-4053-57DD-6225-E9BC171FB24F}"/>
              </a:ext>
            </a:extLst>
          </p:cNvPr>
          <p:cNvSpPr/>
          <p:nvPr/>
        </p:nvSpPr>
        <p:spPr>
          <a:xfrm>
            <a:off x="8116320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7" name="Image 9" descr="0-42f65e.png">
            <a:extLst>
              <a:ext uri="{FF2B5EF4-FFF2-40B4-BE49-F238E27FC236}">
                <a16:creationId xmlns:a16="http://schemas.microsoft.com/office/drawing/2014/main" id="{EF30B9F6-D122-74A9-CB1D-5FA2EFD46A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19570" y="1511940"/>
            <a:ext cx="150019" cy="150019"/>
          </a:xfrm>
          <a:prstGeom prst="rect">
            <a:avLst/>
          </a:prstGeom>
        </p:spPr>
      </p:pic>
      <p:pic>
        <p:nvPicPr>
          <p:cNvPr id="49" name="Image 2" descr="-664449e.png">
            <a:extLst>
              <a:ext uri="{FF2B5EF4-FFF2-40B4-BE49-F238E27FC236}">
                <a16:creationId xmlns:a16="http://schemas.microsoft.com/office/drawing/2014/main" id="{F61E15C5-C1B7-5717-48D6-6A9F268CDE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791"/>
          <a:stretch>
            <a:fillRect/>
          </a:stretch>
        </p:blipFill>
        <p:spPr>
          <a:xfrm>
            <a:off x="1769609" y="1623290"/>
            <a:ext cx="1587953" cy="762341"/>
          </a:xfrm>
          <a:prstGeom prst="rect">
            <a:avLst/>
          </a:prstGeom>
        </p:spPr>
      </p:pic>
      <p:sp>
        <p:nvSpPr>
          <p:cNvPr id="51" name="Shape 7">
            <a:extLst>
              <a:ext uri="{FF2B5EF4-FFF2-40B4-BE49-F238E27FC236}">
                <a16:creationId xmlns:a16="http://schemas.microsoft.com/office/drawing/2014/main" id="{F7C4A675-DBE4-E8F0-463F-AEF61CBEE550}"/>
              </a:ext>
            </a:extLst>
          </p:cNvPr>
          <p:cNvSpPr/>
          <p:nvPr/>
        </p:nvSpPr>
        <p:spPr>
          <a:xfrm>
            <a:off x="2387713" y="13848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3" name="Image 3" descr="327946a2.png">
            <a:extLst>
              <a:ext uri="{FF2B5EF4-FFF2-40B4-BE49-F238E27FC236}">
                <a16:creationId xmlns:a16="http://schemas.microsoft.com/office/drawing/2014/main" id="{F1C21463-EA58-3108-134A-8037AFA278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4566" y="1480749"/>
            <a:ext cx="128588" cy="164306"/>
          </a:xfrm>
          <a:prstGeom prst="rect">
            <a:avLst/>
          </a:prstGeom>
        </p:spPr>
      </p:pic>
      <p:sp>
        <p:nvSpPr>
          <p:cNvPr id="56" name="Text 2">
            <a:extLst>
              <a:ext uri="{FF2B5EF4-FFF2-40B4-BE49-F238E27FC236}">
                <a16:creationId xmlns:a16="http://schemas.microsoft.com/office/drawing/2014/main" id="{B1C886E2-3106-45EE-9F68-BCD9BBE6C2FD}"/>
              </a:ext>
            </a:extLst>
          </p:cNvPr>
          <p:cNvSpPr/>
          <p:nvPr/>
        </p:nvSpPr>
        <p:spPr>
          <a:xfrm>
            <a:off x="1846148" y="17610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1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8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60" name="Text 2">
            <a:extLst>
              <a:ext uri="{FF2B5EF4-FFF2-40B4-BE49-F238E27FC236}">
                <a16:creationId xmlns:a16="http://schemas.microsoft.com/office/drawing/2014/main" id="{4D3FF078-130B-5832-985C-9EE82C25E355}"/>
              </a:ext>
            </a:extLst>
          </p:cNvPr>
          <p:cNvSpPr/>
          <p:nvPr/>
        </p:nvSpPr>
        <p:spPr>
          <a:xfrm>
            <a:off x="420118" y="17936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8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 sz="800">
              <a:cs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DFE464B-88CB-4058-A515-5B4D29982FC9}"/>
              </a:ext>
            </a:extLst>
          </p:cNvPr>
          <p:cNvSpPr txBox="1"/>
          <p:nvPr/>
        </p:nvSpPr>
        <p:spPr>
          <a:xfrm>
            <a:off x="3287486" y="4346120"/>
            <a:ext cx="2710543" cy="276999"/>
          </a:xfrm>
          <a:prstGeom prst="rect">
            <a:avLst/>
          </a:prstGeom>
          <a:solidFill>
            <a:srgbClr val="ECDFF7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b="1">
                <a:latin typeface="Reddit Sans"/>
                <a:cs typeface="Segoe UI"/>
              </a:rPr>
              <a:t>Framework de Automatización</a:t>
            </a:r>
            <a:endParaRPr lang="es-ES"/>
          </a:p>
          <a:p>
            <a:pPr algn="ctr"/>
            <a:r>
              <a:rPr lang="es-ES" sz="600">
                <a:latin typeface="Reddit Sans"/>
                <a:cs typeface="Segoe UI"/>
              </a:rPr>
              <a:t>Equipo de: </a:t>
            </a:r>
            <a:r>
              <a:rPr lang="es-ES" sz="600" err="1">
                <a:latin typeface="Reddit Sans"/>
                <a:cs typeface="Segoe UI"/>
              </a:rPr>
              <a:t>Ivan</a:t>
            </a:r>
            <a:r>
              <a:rPr lang="es-ES" sz="600">
                <a:latin typeface="Reddit Sans"/>
                <a:cs typeface="Segoe UI"/>
              </a:rPr>
              <a:t>, Steve, </a:t>
            </a:r>
            <a:r>
              <a:rPr lang="es-ES" sz="600" err="1">
                <a:latin typeface="Reddit Sans"/>
                <a:cs typeface="Segoe UI"/>
              </a:rPr>
              <a:t>Andres</a:t>
            </a:r>
            <a:r>
              <a:rPr lang="es-ES" sz="600">
                <a:latin typeface="Reddit Sans"/>
                <a:cs typeface="Segoe UI"/>
              </a:rPr>
              <a:t> Camilo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321AB28-6119-68AE-8B18-068F2552C9F3}"/>
              </a:ext>
            </a:extLst>
          </p:cNvPr>
          <p:cNvSpPr txBox="1"/>
          <p:nvPr/>
        </p:nvSpPr>
        <p:spPr>
          <a:xfrm>
            <a:off x="371274" y="3488291"/>
            <a:ext cx="8507186" cy="29238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Modelo de Soporte</a:t>
            </a:r>
            <a:endParaRPr lang="es-ES" sz="700">
              <a:solidFill>
                <a:schemeClr val="tx1"/>
              </a:solidFill>
              <a:latin typeface="Reddit Sans"/>
              <a:ea typeface="Reddit Sans"/>
              <a:cs typeface="Reddit Sans Light"/>
            </a:endParaRPr>
          </a:p>
          <a:p>
            <a:pPr algn="ctr"/>
            <a:r>
              <a:rPr lang="en-US" sz="6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Shift-left: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 resolver antes,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escalar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mejor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y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dejar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evidencia</a:t>
            </a:r>
            <a:endParaRPr lang="en-US" sz="600">
              <a:solidFill>
                <a:schemeClr val="tx1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8" name="CuadroTexto 63">
            <a:extLst>
              <a:ext uri="{FF2B5EF4-FFF2-40B4-BE49-F238E27FC236}">
                <a16:creationId xmlns:a16="http://schemas.microsoft.com/office/drawing/2014/main" id="{37FE7B86-FD12-E2EA-3CA6-6E8E7B52B529}"/>
              </a:ext>
            </a:extLst>
          </p:cNvPr>
          <p:cNvSpPr txBox="1"/>
          <p:nvPr/>
        </p:nvSpPr>
        <p:spPr>
          <a:xfrm>
            <a:off x="370116" y="4340677"/>
            <a:ext cx="1562097" cy="744107"/>
          </a:xfrm>
          <a:prstGeom prst="rect">
            <a:avLst/>
          </a:prstGeom>
          <a:solidFill>
            <a:srgbClr val="ECDFF7"/>
          </a:solidFill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N0: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Banking</a:t>
            </a:r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solution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  <a:endParaRPr lang="es-ES"/>
          </a:p>
          <a:p>
            <a:pPr algn="ctr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Radar para temas regulatorios del estado, ministerios (XM).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Multi-industria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con bases de conocimiento que la hacen especializada.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Anticipar eventos y radar para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compomientos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inusuales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DB82DF6-E59E-D321-86F8-D56A03DEB9D3}"/>
              </a:ext>
            </a:extLst>
          </p:cNvPr>
          <p:cNvSpPr txBox="1"/>
          <p:nvPr/>
        </p:nvSpPr>
        <p:spPr>
          <a:xfrm rot="16200000">
            <a:off x="-93222" y="4624059"/>
            <a:ext cx="740229" cy="184666"/>
          </a:xfrm>
          <a:prstGeom prst="rect">
            <a:avLst/>
          </a:prstGeom>
          <a:solidFill>
            <a:srgbClr val="CBACE3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b="1" err="1">
                <a:latin typeface="Reddit Sans Light"/>
                <a:cs typeface="Reddit Sans Light"/>
              </a:rPr>
              <a:t>Herranientas</a:t>
            </a:r>
            <a:endParaRPr lang="es-ES" sz="600" b="1">
              <a:latin typeface="Reddit Sans Light"/>
              <a:cs typeface="Reddit Sans Light"/>
            </a:endParaRP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0BCAE883-7C7A-5268-C234-8F9C761DB906}"/>
              </a:ext>
            </a:extLst>
          </p:cNvPr>
          <p:cNvSpPr/>
          <p:nvPr/>
        </p:nvSpPr>
        <p:spPr>
          <a:xfrm rot="21480000">
            <a:off x="2994960" y="1061111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4078012A-BE74-5265-FF66-6E34FE87F1FE}"/>
              </a:ext>
            </a:extLst>
          </p:cNvPr>
          <p:cNvSpPr/>
          <p:nvPr/>
        </p:nvSpPr>
        <p:spPr>
          <a:xfrm rot="21480000">
            <a:off x="5770817" y="1061111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0121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">
            <a:extLst>
              <a:ext uri="{FF2B5EF4-FFF2-40B4-BE49-F238E27FC236}">
                <a16:creationId xmlns:a16="http://schemas.microsoft.com/office/drawing/2014/main" id="{CB511400-F229-BAC6-42B8-ECED4C310BC8}"/>
              </a:ext>
            </a:extLst>
          </p:cNvPr>
          <p:cNvSpPr/>
          <p:nvPr/>
        </p:nvSpPr>
        <p:spPr>
          <a:xfrm>
            <a:off x="373516" y="1555638"/>
            <a:ext cx="2053829" cy="3105830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07ACC083-B532-C457-72C8-86F96CE7FDDB}"/>
              </a:ext>
            </a:extLst>
          </p:cNvPr>
          <p:cNvSpPr/>
          <p:nvPr/>
        </p:nvSpPr>
        <p:spPr>
          <a:xfrm>
            <a:off x="2498782" y="1555638"/>
            <a:ext cx="2053829" cy="3105830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4503163C-1193-FB3F-F6BA-CD9C1B36622F}"/>
              </a:ext>
            </a:extLst>
          </p:cNvPr>
          <p:cNvSpPr/>
          <p:nvPr/>
        </p:nvSpPr>
        <p:spPr>
          <a:xfrm>
            <a:off x="4624048" y="1555638"/>
            <a:ext cx="2053829" cy="3105830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A6ABB46D-CA31-1415-F77A-E18E693F3262}"/>
              </a:ext>
            </a:extLst>
          </p:cNvPr>
          <p:cNvSpPr/>
          <p:nvPr/>
        </p:nvSpPr>
        <p:spPr>
          <a:xfrm>
            <a:off x="6749314" y="1555638"/>
            <a:ext cx="2053829" cy="3105830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445FDA1-29EC-4E5B-95DF-C2143677E632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Propuesta Inicial del Catálogo Modular de Servicios</a:t>
            </a:r>
            <a:endParaRPr lang="es-ES" sz="1000">
              <a:latin typeface="Reddit Sans"/>
              <a:ea typeface="Reddit Sans"/>
            </a:endParaRP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C32E812-1E96-4B8F-BDAB-AE226E591314}"/>
              </a:ext>
            </a:extLst>
          </p:cNvPr>
          <p:cNvSpPr>
            <a:spLocks noGrp="1"/>
          </p:cNvSpPr>
          <p:nvPr/>
        </p:nvSpPr>
        <p:spPr>
          <a:xfrm>
            <a:off x="340179" y="575582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 base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gestionada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más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capacidades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inmersas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complementarios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8AD8619-10B5-4238-9B73-346B04B397C6}"/>
              </a:ext>
            </a:extLst>
          </p:cNvPr>
          <p:cNvSpPr>
            <a:spLocks noGrp="1"/>
          </p:cNvSpPr>
          <p:nvPr/>
        </p:nvSpPr>
        <p:spPr>
          <a:xfrm>
            <a:off x="623206" y="2174422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163B8C"/>
                </a:solidFill>
              </a:defRPr>
            </a:pP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Base 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Operativa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46911AD-3B4A-490F-9268-24A2545FBB20}"/>
              </a:ext>
            </a:extLst>
          </p:cNvPr>
          <p:cNvSpPr>
            <a:spLocks noGrp="1"/>
          </p:cNvSpPr>
          <p:nvPr/>
        </p:nvSpPr>
        <p:spPr>
          <a:xfrm>
            <a:off x="623207" y="3205843"/>
            <a:ext cx="1504950" cy="6912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Punto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único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contacto</a:t>
            </a:r>
            <a:endParaRPr lang="es-ES" sz="800" err="1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incidentes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solicitudes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ANS/SLA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por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prioridad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Reporte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98BAD0B-EB72-4DFE-9B81-AB5F6B1AE321}"/>
              </a:ext>
            </a:extLst>
          </p:cNvPr>
          <p:cNvSpPr>
            <a:spLocks noGrp="1"/>
          </p:cNvSpPr>
          <p:nvPr/>
        </p:nvSpPr>
        <p:spPr>
          <a:xfrm>
            <a:off x="2792184" y="2174422"/>
            <a:ext cx="1504950" cy="383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087B83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Capacidades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 Next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 Gen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9B008AD-B51F-4765-BB05-C041ECA5211F}"/>
              </a:ext>
            </a:extLst>
          </p:cNvPr>
          <p:cNvSpPr>
            <a:spLocks noGrp="1"/>
          </p:cNvSpPr>
          <p:nvPr/>
        </p:nvSpPr>
        <p:spPr>
          <a:xfrm>
            <a:off x="2797628" y="3249386"/>
            <a:ext cx="1499508" cy="821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Portal N0 y agente virtual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KEDB/KCS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Agent assist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AIOps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observabilidad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SLA + XLA + DEX</a:t>
            </a:r>
            <a:endParaRPr lang="es-ES" sz="800" b="0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7B05ABA-D5CF-44AA-A0AB-6F671F7283F3}"/>
              </a:ext>
            </a:extLst>
          </p:cNvPr>
          <p:cNvSpPr>
            <a:spLocks noGrp="1"/>
          </p:cNvSpPr>
          <p:nvPr/>
        </p:nvSpPr>
        <p:spPr>
          <a:xfrm>
            <a:off x="4928506" y="2174422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20835A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Servicios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 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Inmersos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89B904-18CD-43B6-978E-47C9F1181ABD}"/>
              </a:ext>
            </a:extLst>
          </p:cNvPr>
          <p:cNvSpPr>
            <a:spLocks noGrp="1"/>
          </p:cNvSpPr>
          <p:nvPr/>
        </p:nvSpPr>
        <p:spPr>
          <a:xfrm>
            <a:off x="4928506" y="3249386"/>
            <a:ext cx="1434193" cy="772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RACI y gobierno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Catálogo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alcance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problemas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Disponibilidad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Change enablement</a:t>
            </a:r>
            <a:endParaRPr sz="800">
              <a:solidFill>
                <a:srgbClr val="595959"/>
              </a:solidFill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Mejora continua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Evolutivos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B9178B-1F8D-456C-A96D-759C1FB56DFC}"/>
              </a:ext>
            </a:extLst>
          </p:cNvPr>
          <p:cNvSpPr>
            <a:spLocks noGrp="1"/>
          </p:cNvSpPr>
          <p:nvPr/>
        </p:nvSpPr>
        <p:spPr>
          <a:xfrm>
            <a:off x="7102927" y="2109108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D47A00"/>
                </a:solidFill>
              </a:defRPr>
            </a:pP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Servicios 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Complementarios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4377773-95C5-4298-9334-E2E6C731C576}"/>
              </a:ext>
            </a:extLst>
          </p:cNvPr>
          <p:cNvSpPr>
            <a:spLocks noGrp="1"/>
          </p:cNvSpPr>
          <p:nvPr/>
        </p:nvSpPr>
        <p:spPr>
          <a:xfrm>
            <a:off x="7064828" y="2650672"/>
            <a:ext cx="1624692" cy="11974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Assessment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del Nivel de Madurez de la Mesa de Servicio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Modernización 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de aplicaciones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Capacitaciones identificadas en mesas de servicio (por </a:t>
            </a: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volmuetria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 tickets)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Seguridad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DevOps / </a:t>
            </a:r>
            <a:r>
              <a:rPr sz="800" err="1">
                <a:solidFill>
                  <a:srgbClr val="595959"/>
                </a:solidFill>
                <a:latin typeface="Reddit Sans"/>
                <a:ea typeface="Reddit Sans"/>
              </a:rPr>
              <a:t>automatización</a:t>
            </a:r>
            <a:endParaRPr sz="80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Performance engineering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datos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 </a:t>
            </a: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IA</a:t>
            </a:r>
          </a:p>
        </p:txBody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69C95DC6-388A-6B8F-971A-B933C2E933F0}"/>
              </a:ext>
            </a:extLst>
          </p:cNvPr>
          <p:cNvSpPr/>
          <p:nvPr/>
        </p:nvSpPr>
        <p:spPr>
          <a:xfrm>
            <a:off x="368073" y="958963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38E257A-0E3D-D50C-B766-757016C7109A}"/>
              </a:ext>
            </a:extLst>
          </p:cNvPr>
          <p:cNvSpPr/>
          <p:nvPr/>
        </p:nvSpPr>
        <p:spPr>
          <a:xfrm>
            <a:off x="3398865" y="1129596"/>
            <a:ext cx="2368042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 Servicio Integral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59" name="Image 0" descr="-51c0485e.png">
            <a:extLst>
              <a:ext uri="{FF2B5EF4-FFF2-40B4-BE49-F238E27FC236}">
                <a16:creationId xmlns:a16="http://schemas.microsoft.com/office/drawing/2014/main" id="{02CE5549-DF29-9F01-69B9-302A1F81A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173" y="1690696"/>
            <a:ext cx="257175" cy="285750"/>
          </a:xfrm>
          <a:prstGeom prst="rect">
            <a:avLst/>
          </a:prstGeom>
        </p:spPr>
      </p:pic>
      <p:pic>
        <p:nvPicPr>
          <p:cNvPr id="61" name="Image 1" descr="7a1d5e62.png">
            <a:extLst>
              <a:ext uri="{FF2B5EF4-FFF2-40B4-BE49-F238E27FC236}">
                <a16:creationId xmlns:a16="http://schemas.microsoft.com/office/drawing/2014/main" id="{C37A1F31-8948-26B7-BA87-929A1500C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0985" y="1697401"/>
            <a:ext cx="300038" cy="300038"/>
          </a:xfrm>
          <a:prstGeom prst="rect">
            <a:avLst/>
          </a:prstGeom>
        </p:spPr>
      </p:pic>
      <p:pic>
        <p:nvPicPr>
          <p:cNvPr id="63" name="Image 2" descr="5fb69d22.png">
            <a:extLst>
              <a:ext uri="{FF2B5EF4-FFF2-40B4-BE49-F238E27FC236}">
                <a16:creationId xmlns:a16="http://schemas.microsoft.com/office/drawing/2014/main" id="{4ED6D8A5-149C-8D64-187D-5582CF4CA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2323" y="1731729"/>
            <a:ext cx="300038" cy="264319"/>
          </a:xfrm>
          <a:prstGeom prst="rect">
            <a:avLst/>
          </a:prstGeom>
        </p:spPr>
      </p:pic>
      <p:pic>
        <p:nvPicPr>
          <p:cNvPr id="64" name="Image 2" descr="5fb69d22.png">
            <a:extLst>
              <a:ext uri="{FF2B5EF4-FFF2-40B4-BE49-F238E27FC236}">
                <a16:creationId xmlns:a16="http://schemas.microsoft.com/office/drawing/2014/main" id="{70171854-E5AF-3AFE-2F30-6E06F4011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8451" y="1731729"/>
            <a:ext cx="300038" cy="264319"/>
          </a:xfrm>
          <a:prstGeom prst="rect">
            <a:avLst/>
          </a:prstGeom>
        </p:spPr>
      </p:pic>
      <p:sp>
        <p:nvSpPr>
          <p:cNvPr id="65" name="CuadroTexto 64">
            <a:extLst>
              <a:ext uri="{FF2B5EF4-FFF2-40B4-BE49-F238E27FC236}">
                <a16:creationId xmlns:a16="http://schemas.microsoft.com/office/drawing/2014/main" id="{8AC04C55-5236-1115-ED09-496275098826}"/>
              </a:ext>
            </a:extLst>
          </p:cNvPr>
          <p:cNvSpPr txBox="1"/>
          <p:nvPr/>
        </p:nvSpPr>
        <p:spPr>
          <a:xfrm>
            <a:off x="489857" y="2452007"/>
            <a:ext cx="181791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685800" fontAlgn="ctr">
              <a:spcBef>
                <a:spcPts val="482"/>
              </a:spcBef>
            </a:pP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fundamental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centrales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soporte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garantizan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estabilidad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continuidad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80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67" name="Text 9">
            <a:extLst>
              <a:ext uri="{FF2B5EF4-FFF2-40B4-BE49-F238E27FC236}">
                <a16:creationId xmlns:a16="http://schemas.microsoft.com/office/drawing/2014/main" id="{F5CBAACB-E4AC-C922-AD11-4E0E17911830}"/>
              </a:ext>
            </a:extLst>
          </p:cNvPr>
          <p:cNvSpPr/>
          <p:nvPr/>
        </p:nvSpPr>
        <p:spPr>
          <a:xfrm>
            <a:off x="2644814" y="2548501"/>
            <a:ext cx="1905831" cy="6566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Innovación tecnológica y soluciones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de próxima generación con enfoque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 IA, automatización y escalabilidad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futura.</a:t>
            </a:r>
            <a:endParaRPr lang="es-ES"/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354A2E1B-2A3F-FA73-160F-B1496F7F573D}"/>
              </a:ext>
            </a:extLst>
          </p:cNvPr>
          <p:cNvSpPr/>
          <p:nvPr/>
        </p:nvSpPr>
        <p:spPr>
          <a:xfrm>
            <a:off x="4858580" y="2417873"/>
            <a:ext cx="157812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Funcionalidades integradas de forma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nativa en la experiencia operativa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para optimizar flujos de trabajo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mediante integración profunda.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96576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21</Slides>
  <Notes>16</Notes>
  <HiddenSlides>11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2" baseType="lpstr">
      <vt:lpstr>Simple Light</vt:lpstr>
      <vt:lpstr>Mesa de Servicio de Nueva Generación (Next Gen)</vt:lpstr>
      <vt:lpstr>Que busca la Mesa de Servicio de Nueva Generación</vt:lpstr>
      <vt:lpstr>Beneficios eperados de la Mesa de Servicio de Nueva Generación (Servicio Optimo) </vt:lpstr>
      <vt:lpstr>Presentación de PowerPoint</vt:lpstr>
      <vt:lpstr>Presentación de PowerPoint</vt:lpstr>
      <vt:lpstr>Presentación de PowerPoint</vt:lpstr>
      <vt:lpstr>Evolución de las Mesas de Servicio</vt:lpstr>
      <vt:lpstr>7 Tendencias que definen el mercado</vt:lpstr>
      <vt:lpstr>Pilares de Transformación de la Mesa de Servicio de Nueva Generación </vt:lpstr>
      <vt:lpstr>Propuesta que Diferenciará a PersonalSoft?</vt:lpstr>
      <vt:lpstr>Presentación de PowerPoint</vt:lpstr>
      <vt:lpstr>Roadmap Q3 –Q4 2026</vt:lpstr>
      <vt:lpstr>Presentación de PowerPoint</vt:lpstr>
      <vt:lpstr>Roadmap Mesa de Servicios de Nueva Generación Servicio Optimo y Estandarizado</vt:lpstr>
      <vt:lpstr>Roadmap Mesa de Servicios de Nueva Generación Servicio Optimo y Estandarizado</vt:lpstr>
      <vt:lpstr>Roadmap Detallado Mesa de Servicios de Nueva Generación Servicio Optimo y Estandarizado</vt:lpstr>
      <vt:lpstr>Presentación de PowerPoint</vt:lpstr>
      <vt:lpstr>Modelo de Madurez de la Mesa de Servicio de Nueva Generación</vt:lpstr>
      <vt:lpstr>Presentación de PowerPoint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816</cp:revision>
  <dcterms:modified xsi:type="dcterms:W3CDTF">2026-07-15T15:07:13Z</dcterms:modified>
</cp:coreProperties>
</file>