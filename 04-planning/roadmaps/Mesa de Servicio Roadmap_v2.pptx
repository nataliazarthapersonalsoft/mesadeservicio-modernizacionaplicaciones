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</p:sldMasterIdLst>
  <p:notesMasterIdLst>
    <p:notesMasterId r:id="rId20"/>
  </p:notesMasterIdLst>
  <p:sldIdLst>
    <p:sldId id="257" r:id="rId2"/>
    <p:sldId id="260" r:id="rId3"/>
    <p:sldId id="293" r:id="rId4"/>
    <p:sldId id="258" r:id="rId5"/>
    <p:sldId id="256" r:id="rId6"/>
    <p:sldId id="262" r:id="rId7"/>
    <p:sldId id="259" r:id="rId8"/>
    <p:sldId id="295" r:id="rId9"/>
    <p:sldId id="336" r:id="rId10"/>
    <p:sldId id="286" r:id="rId11"/>
    <p:sldId id="287" r:id="rId12"/>
    <p:sldId id="299" r:id="rId13"/>
    <p:sldId id="296" r:id="rId14"/>
    <p:sldId id="298" r:id="rId15"/>
    <p:sldId id="290" r:id="rId16"/>
    <p:sldId id="291" r:id="rId17"/>
    <p:sldId id="267" r:id="rId18"/>
    <p:sldId id="268" r:id="rId19"/>
  </p:sldIdLst>
  <p:sldSz cx="9144000" cy="5143500" type="screen16x9"/>
  <p:notesSz cx="6858000" cy="9144000"/>
  <p:embeddedFontLst>
    <p:embeddedFont>
      <p:font typeface="Reddit Sans" panose="020B0604020202020204" charset="0"/>
      <p:regular r:id="rId21"/>
      <p:bold r:id="rId22"/>
      <p:italic r:id="rId23"/>
      <p:boldItalic r:id="rId24"/>
    </p:embeddedFont>
    <p:embeddedFont>
      <p:font typeface="Reddit Sans Medium" panose="020B0604020202020204" charset="0"/>
      <p:regular r:id="rId25"/>
      <p:bold r:id="rId26"/>
      <p:italic r:id="rId27"/>
      <p:boldItalic r:id="rId28"/>
    </p:embeddedFont>
    <p:embeddedFont>
      <p:font typeface="Reddit Sans SemiBold" panose="020B060402020202020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44" roundtripDataSignature="AMtx7mjbXstnVTn4VoWkkWw8RkcDPqyO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F1FC"/>
    <a:srgbClr val="215578"/>
    <a:srgbClr val="FF6A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280C2B-5988-815C-EF96-C693F916AB29}" v="7" dt="2026-07-09T14:25:15.577"/>
    <p1510:client id="{34B3065B-3CE0-1436-1D1E-4E6D06E1C338}" v="525" dt="2026-07-09T14:16:41.449"/>
    <p1510:client id="{42F75DD7-A174-D58A-A693-BD1BDDDBFB90}" v="2" dt="2026-07-08T19:20:45.760"/>
    <p1510:client id="{74B6B66A-3B11-2FFD-B4B7-5A18AADD1CF0}" v="853" dt="2026-07-09T15:11:32.357"/>
    <p1510:client id="{D590E92A-E2FF-048E-9B6D-EA10A9881047}" v="788" dt="2026-07-09T21:54:32.099"/>
  </p1510:revLst>
</p1510:revInfo>
</file>

<file path=ppt/tableStyles.xml><?xml version="1.0" encoding="utf-8"?>
<a:tblStyleLst xmlns:a="http://schemas.openxmlformats.org/drawingml/2006/main" def="{1FEE7CD7-7DD5-4E0E-8F7E-406774204185}">
  <a:tblStyle styleId="{1FEE7CD7-7DD5-4E0E-8F7E-40677420418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21" Type="http://schemas.openxmlformats.org/officeDocument/2006/relationships/font" Target="fonts/font1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4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e80574407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7e80574407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57f5ba65c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57f5ba65c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657f5ba65c_1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657f5ba65c_1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s-ES"/>
              <a:t>Riesgos: Planes de Cuentas y Transición</a:t>
            </a:r>
          </a:p>
          <a:p>
            <a:pPr marL="0" indent="0">
              <a:buNone/>
            </a:pPr>
            <a:endParaRPr lang="es-ES"/>
          </a:p>
          <a:p>
            <a:pPr marL="0" indent="0">
              <a:buNone/>
            </a:pPr>
            <a:endParaRPr lang="es-E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>
          <a:extLst>
            <a:ext uri="{FF2B5EF4-FFF2-40B4-BE49-F238E27FC236}">
              <a16:creationId xmlns:a16="http://schemas.microsoft.com/office/drawing/2014/main" id="{BCD01516-5342-9072-64B0-023487624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657f5ba65c_1_33:notes">
            <a:extLst>
              <a:ext uri="{FF2B5EF4-FFF2-40B4-BE49-F238E27FC236}">
                <a16:creationId xmlns:a16="http://schemas.microsoft.com/office/drawing/2014/main" id="{14A04A17-1A56-8A9E-8746-455E76076B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657f5ba65c_1_33:notes">
            <a:extLst>
              <a:ext uri="{FF2B5EF4-FFF2-40B4-BE49-F238E27FC236}">
                <a16:creationId xmlns:a16="http://schemas.microsoft.com/office/drawing/2014/main" id="{7DBAD8DA-D4CF-86DB-4383-94F0F78966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s-ES"/>
              <a:t>Riesgos: Planes de Cuentas y Transición</a:t>
            </a:r>
          </a:p>
          <a:p>
            <a:pPr marL="0" indent="0">
              <a:buNone/>
            </a:pPr>
            <a:endParaRPr lang="es-ES"/>
          </a:p>
          <a:p>
            <a:pPr marL="0" indent="0">
              <a:buNone/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848204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7e80574407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37e80574407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stático">
  <p:cSld name="TITLE_1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g37e80574407_0_7" title="textura.jpg"/>
          <p:cNvPicPr preferRelativeResize="0"/>
          <p:nvPr/>
        </p:nvPicPr>
        <p:blipFill rotWithShape="1">
          <a:blip r:embed="rId2">
            <a:alphaModFix/>
          </a:blip>
          <a:srcRect t="219" b="209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g37e80574407_0_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19" name="Google Shape;19;g37e80574407_0_7"/>
          <p:cNvSpPr txBox="1"/>
          <p:nvPr/>
        </p:nvSpPr>
        <p:spPr>
          <a:xfrm>
            <a:off x="8028325" y="442300"/>
            <a:ext cx="919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Reddit Sans SemiBold"/>
              <a:ea typeface="Reddit Sans SemiBold"/>
              <a:cs typeface="Reddit Sans SemiBold"/>
              <a:sym typeface="Reddit Sans SemiBold"/>
            </a:endParaRPr>
          </a:p>
        </p:txBody>
      </p:sp>
      <p:pic>
        <p:nvPicPr>
          <p:cNvPr id="20" name="Google Shape;20;g37e80574407_0_7" title="logo_ne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998" y="4438648"/>
            <a:ext cx="1770700" cy="17043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g37e80574407_0_7"/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22" name="Google Shape;22;g37e80574407_0_7"/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+ Contenido Clásico">
  <p:cSld name="TITLE_1_1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7e80574407_0_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43" name="Google Shape;43;g37e80574407_0_46"/>
          <p:cNvSpPr txBox="1"/>
          <p:nvPr/>
        </p:nvSpPr>
        <p:spPr>
          <a:xfrm>
            <a:off x="8028325" y="442300"/>
            <a:ext cx="919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Reddit Sans SemiBold"/>
              <a:ea typeface="Reddit Sans SemiBold"/>
              <a:cs typeface="Reddit Sans SemiBold"/>
              <a:sym typeface="Reddit Sans SemiBold"/>
            </a:endParaRPr>
          </a:p>
        </p:txBody>
      </p:sp>
      <p:pic>
        <p:nvPicPr>
          <p:cNvPr id="44" name="Google Shape;44;g37e80574407_0_46" title="isotipo_pos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0953"/>
            <a:ext cx="540000" cy="2799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g37e80574407_0_46"/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g37e80574407_0_46"/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title"/>
          </p:nvPr>
        </p:nvSpPr>
        <p:spPr>
          <a:xfrm>
            <a:off x="361350" y="494725"/>
            <a:ext cx="5567400" cy="19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4000"/>
              <a:buNone/>
              <a:defRPr sz="40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1"/>
          </p:nvPr>
        </p:nvSpPr>
        <p:spPr>
          <a:xfrm>
            <a:off x="311700" y="2815250"/>
            <a:ext cx="5666700" cy="13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0072BC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title"/>
          </p:nvPr>
        </p:nvSpPr>
        <p:spPr>
          <a:xfrm>
            <a:off x="336750" y="1267200"/>
            <a:ext cx="8135700" cy="26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54" name="Google Shape;54;p12" title="isotipo_neg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4103"/>
            <a:ext cx="540000" cy="27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21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464275" y="3428125"/>
            <a:ext cx="3476700" cy="8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4939500" y="1208600"/>
            <a:ext cx="3612000" cy="3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1600"/>
              <a:buNone/>
              <a:defRPr sz="16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61" name="Google Shape;61;p13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  <p15:guide id="2" pos="5388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0" y="-5675"/>
            <a:ext cx="4572000" cy="51435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" name="Google Shape;64;p14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68675" y="655450"/>
            <a:ext cx="39645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body" idx="1"/>
          </p:nvPr>
        </p:nvSpPr>
        <p:spPr>
          <a:xfrm>
            <a:off x="4858700" y="1311925"/>
            <a:ext cx="3694800" cy="30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title" idx="2"/>
          </p:nvPr>
        </p:nvSpPr>
        <p:spPr>
          <a:xfrm>
            <a:off x="412475" y="1495950"/>
            <a:ext cx="3734400" cy="29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04">
          <p15:clr>
            <a:srgbClr val="E46962"/>
          </p15:clr>
        </p15:guide>
        <p15:guide id="2" pos="5387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_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71" name="Google Shape;71;p16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0;p13">
            <a:extLst>
              <a:ext uri="{FF2B5EF4-FFF2-40B4-BE49-F238E27FC236}">
                <a16:creationId xmlns:a16="http://schemas.microsoft.com/office/drawing/2014/main" id="{BA34F530-57E1-3ACD-6780-261D7941DA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1600"/>
              <a:buNone/>
              <a:defRPr sz="16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  <p15:guide id="2" pos="538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erre" type="blank">
  <p:cSld name="BLANK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75" name="Google Shape;75;p15" title="Recurso 1.png"/>
          <p:cNvPicPr preferRelativeResize="0"/>
          <p:nvPr/>
        </p:nvPicPr>
        <p:blipFill rotWithShape="1">
          <a:blip r:embed="rId2">
            <a:alphaModFix/>
          </a:blip>
          <a:srcRect b="7379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 title="Recurso 4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0050" y="2265624"/>
            <a:ext cx="4803901" cy="4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radecimiento">
  <p:cSld name="BLANK_1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e80574407_0_1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79" name="Google Shape;79;g37e80574407_0_110" title="Recurso 1.png"/>
          <p:cNvPicPr preferRelativeResize="0"/>
          <p:nvPr/>
        </p:nvPicPr>
        <p:blipFill rotWithShape="1">
          <a:blip r:embed="rId2">
            <a:alphaModFix/>
          </a:blip>
          <a:srcRect b="7381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g37e80574407_0_110" title="logo_ne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998" y="4438648"/>
            <a:ext cx="1770700" cy="17043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g37e80574407_0_110"/>
          <p:cNvSpPr txBox="1">
            <a:spLocks noGrp="1"/>
          </p:cNvSpPr>
          <p:nvPr>
            <p:ph type="title"/>
          </p:nvPr>
        </p:nvSpPr>
        <p:spPr>
          <a:xfrm>
            <a:off x="4087108" y="4327063"/>
            <a:ext cx="4548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2" name="Google Shape;82;g37e80574407_0_110"/>
          <p:cNvSpPr txBox="1">
            <a:spLocks noGrp="1"/>
          </p:cNvSpPr>
          <p:nvPr>
            <p:ph type="ctrTitle" idx="2"/>
          </p:nvPr>
        </p:nvSpPr>
        <p:spPr>
          <a:xfrm>
            <a:off x="450000" y="1827750"/>
            <a:ext cx="81000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100"/>
              <a:buFont typeface="Reddit Sans Black"/>
              <a:buNone/>
              <a:defRPr sz="6100" b="0">
                <a:solidFill>
                  <a:schemeClr val="lt1"/>
                </a:solidFill>
                <a:latin typeface="Reddit Sans Black"/>
                <a:ea typeface="Reddit Sans Black"/>
                <a:cs typeface="Reddit Sans Black"/>
                <a:sym typeface="Reddit Sans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9pPr>
          </a:lstStyle>
          <a:p>
            <a:endParaRPr/>
          </a:p>
        </p:txBody>
      </p:sp>
      <p:sp>
        <p:nvSpPr>
          <p:cNvPr id="83" name="Google Shape;83;g37e80574407_0_110"/>
          <p:cNvSpPr txBox="1">
            <a:spLocks noGrp="1"/>
          </p:cNvSpPr>
          <p:nvPr>
            <p:ph type="title" idx="3"/>
          </p:nvPr>
        </p:nvSpPr>
        <p:spPr>
          <a:xfrm>
            <a:off x="4087108" y="446138"/>
            <a:ext cx="4548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dit Sans Light"/>
              <a:buNone/>
              <a:defRPr sz="900" b="0">
                <a:solidFill>
                  <a:schemeClr val="lt1"/>
                </a:solidFill>
                <a:latin typeface="Reddit Sans Light"/>
                <a:ea typeface="Reddit Sans Light"/>
                <a:cs typeface="Reddit Sans Light"/>
                <a:sym typeface="Reddit Sans Ligh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386">
          <p15:clr>
            <a:srgbClr val="E46962"/>
          </p15:clr>
        </p15:guide>
        <p15:guide id="2" orient="horz" pos="2903">
          <p15:clr>
            <a:srgbClr val="E46962"/>
          </p15:clr>
        </p15:guide>
        <p15:guide id="3" pos="2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userDrawn="1">
  <p:cSld name="TITLE_AND_TWO_COLUMNS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4657177" y="1152475"/>
            <a:ext cx="3896100" cy="3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88" name="Google Shape;88;p17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 txBox="1">
            <a:spLocks noGrp="1"/>
          </p:cNvSpPr>
          <p:nvPr>
            <p:ph type="body" idx="2"/>
          </p:nvPr>
        </p:nvSpPr>
        <p:spPr>
          <a:xfrm>
            <a:off x="450000" y="1152475"/>
            <a:ext cx="3896100" cy="3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" name="Google Shape;60;p13">
            <a:extLst>
              <a:ext uri="{FF2B5EF4-FFF2-40B4-BE49-F238E27FC236}">
                <a16:creationId xmlns:a16="http://schemas.microsoft.com/office/drawing/2014/main" id="{54C7C093-64D9-3144-9EE6-858CDE2C30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1600"/>
              <a:buNone/>
              <a:defRPr sz="16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  <p15:guide id="2" pos="5387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12000"/>
              <a:buNone/>
              <a:defRPr sz="12000">
                <a:solidFill>
                  <a:srgbClr val="0072BC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450000" y="2959950"/>
            <a:ext cx="8101500" cy="13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98" name="Google Shape;98;p19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387">
          <p15:clr>
            <a:srgbClr val="E46962"/>
          </p15:clr>
        </p15:guide>
        <p15:guide id="2" pos="283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07800" y="1827720"/>
            <a:ext cx="8536320" cy="15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endParaRPr lang="es-CO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>
              <a:spcBef>
                <a:spcPts val="1417"/>
              </a:spcBef>
              <a:buNone/>
              <a:defRPr/>
            </a:lvl1pPr>
          </a:lstStyle>
          <a:p>
            <a:pPr indent="0">
              <a:spcBef>
                <a:spcPts val="1063"/>
              </a:spcBef>
              <a:buNone/>
            </a:pPr>
            <a:endParaRPr lang="es-CO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72251460-32DC-45C6-B957-D4BECA177940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94437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3547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dit Sans"/>
              <a:buNone/>
              <a:defRPr sz="2800" b="1" i="0" u="none" strike="noStrike" cap="none">
                <a:solidFill>
                  <a:schemeClr val="dk1"/>
                </a:solidFill>
                <a:latin typeface="Reddit Sans"/>
                <a:ea typeface="Reddit Sans"/>
                <a:cs typeface="Reddit Sans"/>
                <a:sym typeface="Reddi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eddit Sans"/>
              <a:buChar char="●"/>
              <a:defRPr sz="18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●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●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61" r:id="rId9"/>
    <p:sldLayoutId id="2147483662" r:id="rId10"/>
    <p:sldLayoutId id="2147483664" r:id="rId11"/>
    <p:sldLayoutId id="2147483665" r:id="rId12"/>
    <p:sldLayoutId id="2147483675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e80574407_0_130"/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en-US"/>
              <a:t>Mesa de Servicio de Nueva Generación</a:t>
            </a:r>
            <a:endParaRPr err="1"/>
          </a:p>
        </p:txBody>
      </p:sp>
      <p:sp>
        <p:nvSpPr>
          <p:cNvPr id="110" name="Google Shape;110;g37e80574407_0_130"/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err="1"/>
              <a:t>Roadmap</a:t>
            </a:r>
            <a:r>
              <a:rPr lang="es-CO"/>
              <a:t> Julio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"/>
          <p:cNvSpPr txBox="1">
            <a:spLocks noGrp="1"/>
          </p:cNvSpPr>
          <p:nvPr>
            <p:ph type="title"/>
          </p:nvPr>
        </p:nvSpPr>
        <p:spPr>
          <a:xfrm>
            <a:off x="361350" y="324797"/>
            <a:ext cx="5567400" cy="19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">
                <a:highlight>
                  <a:srgbClr val="FFFFFF"/>
                </a:highlight>
              </a:rPr>
              <a:t>Que busca la Mesa de Servicio de Nueva Generación</a:t>
            </a:r>
            <a:endParaRPr lang="es" b="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131" name="Google Shape;131;p2"/>
          <p:cNvSpPr txBox="1">
            <a:spLocks noGrp="1"/>
          </p:cNvSpPr>
          <p:nvPr>
            <p:ph type="body" idx="1"/>
          </p:nvPr>
        </p:nvSpPr>
        <p:spPr>
          <a:xfrm>
            <a:off x="361349" y="2820693"/>
            <a:ext cx="5383159" cy="1554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14999"/>
              </a:lnSpc>
              <a:spcAft>
                <a:spcPts val="1200"/>
              </a:spcAft>
              <a:buNone/>
            </a:pPr>
            <a:r>
              <a:rPr lang="es">
                <a:solidFill>
                  <a:srgbClr val="222222"/>
                </a:solidFill>
                <a:highlight>
                  <a:srgbClr val="FFFFFF"/>
                </a:highlight>
              </a:rPr>
              <a:t>La Mesa de Servicio de Nueva Generación transforma el soporte tecnológico de un costo operativo a una ventaja competitiva sostenible en el tiempo. Estandariza la operación con roles claros, procesos definidos y conocimiento institucionalizado con IA. Convirtiendo la mesa en un servicio predecible, medible y escalable en donde el cliente puede crecer y confiar. </a:t>
            </a:r>
            <a:endParaRPr lang="es-ES"/>
          </a:p>
        </p:txBody>
      </p:sp>
      <p:cxnSp>
        <p:nvCxnSpPr>
          <p:cNvPr id="133" name="Google Shape;133;p2"/>
          <p:cNvCxnSpPr/>
          <p:nvPr/>
        </p:nvCxnSpPr>
        <p:spPr>
          <a:xfrm rot="10800000" flipH="1">
            <a:off x="0" y="2651850"/>
            <a:ext cx="5743800" cy="3600"/>
          </a:xfrm>
          <a:prstGeom prst="straightConnector1">
            <a:avLst/>
          </a:prstGeom>
          <a:noFill/>
          <a:ln w="19050" cap="flat" cmpd="sng">
            <a:solidFill>
              <a:srgbClr val="0E337C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34" name="Google Shape;134;p2" title="isotipo_p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000" y="4540953"/>
            <a:ext cx="540000" cy="27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4E772C19-61FD-9E01-8D45-04096758E3D3}"/>
              </a:ext>
            </a:extLst>
          </p:cNvPr>
          <p:cNvSpPr/>
          <p:nvPr/>
        </p:nvSpPr>
        <p:spPr>
          <a:xfrm>
            <a:off x="6206836" y="0"/>
            <a:ext cx="2937164" cy="5143500"/>
          </a:xfrm>
          <a:prstGeom prst="rect">
            <a:avLst/>
          </a:prstGeom>
          <a:noFill/>
          <a:ln w="63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32" name="Google Shape;132;p2" title="textura 1.jpg"/>
          <p:cNvPicPr preferRelativeResize="0"/>
          <p:nvPr/>
        </p:nvPicPr>
        <p:blipFill rotWithShape="1">
          <a:blip r:embed="rId4">
            <a:alphaModFix/>
          </a:blip>
          <a:srcRect l="37172" r="5841"/>
          <a:stretch/>
        </p:blipFill>
        <p:spPr>
          <a:xfrm>
            <a:off x="6206836" y="0"/>
            <a:ext cx="29310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BCF2-EE01-6D83-5D06-4586A3383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Beneficios eperados de la Mesa de Servicio de Nueva Generación (Servicio Optimo)</a:t>
            </a:r>
            <a:endParaRPr lang="es-ES" b="0">
              <a:solidFill>
                <a:srgbClr val="000000"/>
              </a:solidFill>
            </a:endParaRPr>
          </a:p>
          <a:p>
            <a:endParaRPr lang="es-E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5BF19AD-F8F2-0227-5C5D-35F560455039}"/>
              </a:ext>
            </a:extLst>
          </p:cNvPr>
          <p:cNvSpPr/>
          <p:nvPr/>
        </p:nvSpPr>
        <p:spPr>
          <a:xfrm>
            <a:off x="335417" y="1759744"/>
            <a:ext cx="2000250" cy="2003822"/>
          </a:xfrm>
          <a:prstGeom prst="rect">
            <a:avLst/>
          </a:prstGeom>
          <a:solidFill>
            <a:srgbClr val="22AAEE"/>
          </a:solidFill>
          <a:ln>
            <a:miter lim="800000"/>
          </a:ln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3C8E3B2-4CB0-C217-88A2-862FED04A2A7}"/>
              </a:ext>
            </a:extLst>
          </p:cNvPr>
          <p:cNvSpPr/>
          <p:nvPr/>
        </p:nvSpPr>
        <p:spPr>
          <a:xfrm>
            <a:off x="549729" y="2132335"/>
            <a:ext cx="1785938" cy="21386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685"/>
              </a:lnSpc>
            </a:pPr>
            <a:r>
              <a:rPr lang="en-US" sz="1463" kern="0" spc="-8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Estandarización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CAF53944-A721-5660-BB35-2B3C14C6F607}"/>
              </a:ext>
            </a:extLst>
          </p:cNvPr>
          <p:cNvSpPr/>
          <p:nvPr/>
        </p:nvSpPr>
        <p:spPr>
          <a:xfrm>
            <a:off x="549729" y="2402235"/>
            <a:ext cx="1863291" cy="9772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539"/>
              </a:lnSpc>
              <a:spcBef>
                <a:spcPts val="433"/>
              </a:spcBef>
            </a:pPr>
            <a:r>
              <a:rPr lang="en-US" sz="11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Implementación</a:t>
            </a:r>
            <a:r>
              <a:rPr lang="en-US" sz="11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de</a:t>
            </a:r>
            <a:br>
              <a:rPr lang="en-US" sz="11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procesos</a:t>
            </a:r>
            <a:r>
              <a:rPr lang="en-US" sz="11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claros, roles</a:t>
            </a:r>
            <a:br>
              <a:rPr lang="en-US" sz="11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definidos</a:t>
            </a:r>
            <a:r>
              <a:rPr lang="en-US" sz="11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y </a:t>
            </a:r>
            <a:r>
              <a:rPr lang="en-US" sz="11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gestión</a:t>
            </a:r>
            <a:r>
              <a:rPr lang="en-US" sz="11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de</a:t>
            </a:r>
            <a:br>
              <a:rPr lang="en-US" sz="11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conocimiento</a:t>
            </a:r>
            <a:r>
              <a:rPr lang="en-US" sz="11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.</a:t>
            </a:r>
            <a:endParaRPr lang="en-US" sz="1100" kern="0" spc="-23">
              <a:solidFill>
                <a:srgbClr val="000000">
                  <a:alpha val="55000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0F6CE983-277E-8877-C358-C73FDBF3938C}"/>
              </a:ext>
            </a:extLst>
          </p:cNvPr>
          <p:cNvSpPr/>
          <p:nvPr/>
        </p:nvSpPr>
        <p:spPr>
          <a:xfrm>
            <a:off x="1067652" y="1491854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08ECD"/>
            </a:solidFill>
            <a:prstDash val="solid"/>
            <a:miter lim="800000"/>
          </a:ln>
        </p:spPr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6C87E7BC-F0F6-71EA-6AC0-03CA0898D287}"/>
              </a:ext>
            </a:extLst>
          </p:cNvPr>
          <p:cNvSpPr/>
          <p:nvPr/>
        </p:nvSpPr>
        <p:spPr>
          <a:xfrm>
            <a:off x="2478542" y="1759744"/>
            <a:ext cx="2000250" cy="2003822"/>
          </a:xfrm>
          <a:prstGeom prst="rect">
            <a:avLst/>
          </a:prstGeom>
          <a:solidFill>
            <a:srgbClr val="1C8EC6"/>
          </a:solidFill>
          <a:ln>
            <a:miter lim="800000"/>
          </a:ln>
        </p:spPr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59BF6E43-E894-41CB-6D47-AB7652BB9D97}"/>
              </a:ext>
            </a:extLst>
          </p:cNvPr>
          <p:cNvSpPr/>
          <p:nvPr/>
        </p:nvSpPr>
        <p:spPr>
          <a:xfrm>
            <a:off x="2692854" y="2132335"/>
            <a:ext cx="1785938" cy="4277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685"/>
              </a:lnSpc>
            </a:pPr>
            <a:r>
              <a:rPr lang="en-US" sz="1463" kern="0" spc="-88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Beneficios para el</a:t>
            </a:r>
            <a:br>
              <a:rPr lang="en-US" sz="1463" kern="0" spc="-88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</a:br>
            <a:r>
              <a:rPr lang="en-US" sz="1463" kern="0" spc="-88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Cliente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BC27C298-2FAF-45D2-D222-D4184FA81DC4}"/>
              </a:ext>
            </a:extLst>
          </p:cNvPr>
          <p:cNvSpPr/>
          <p:nvPr/>
        </p:nvSpPr>
        <p:spPr>
          <a:xfrm>
            <a:off x="2692854" y="2616100"/>
            <a:ext cx="1851125" cy="58634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539"/>
              </a:lnSpc>
              <a:spcBef>
                <a:spcPts val="433"/>
              </a:spcBef>
            </a:pPr>
            <a:r>
              <a:rPr lang="en-US" sz="1100" kern="0" spc="-23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Cumplimiento</a:t>
            </a:r>
            <a:r>
              <a:rPr lang="en-US" sz="1100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de</a:t>
            </a:r>
            <a:br>
              <a:rPr lang="en-US" sz="11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00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SLAs y </a:t>
            </a:r>
            <a:r>
              <a:rPr lang="en-US" sz="1100" kern="0" spc="-23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acceso</a:t>
            </a:r>
            <a:r>
              <a:rPr lang="en-US" sz="1100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a</a:t>
            </a:r>
            <a:br>
              <a:rPr lang="en-US" sz="11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00" kern="0" spc="-23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visibilidad</a:t>
            </a:r>
            <a:r>
              <a:rPr lang="en-US" sz="1100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1100" kern="0" spc="-23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en</a:t>
            </a:r>
            <a:r>
              <a:rPr lang="en-US" sz="1100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1100" kern="0" spc="-23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tiempo</a:t>
            </a:r>
            <a:r>
              <a:rPr lang="en-US" sz="1100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real.</a:t>
            </a:r>
            <a:endParaRPr lang="en-US" sz="1100">
              <a:latin typeface="Reddit Sans"/>
              <a:ea typeface="Reddit Sans"/>
            </a:endParaRPr>
          </a:p>
        </p:txBody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D3C69D3B-6A78-0313-1DCF-A7B19A3404C7}"/>
              </a:ext>
            </a:extLst>
          </p:cNvPr>
          <p:cNvSpPr/>
          <p:nvPr/>
        </p:nvSpPr>
        <p:spPr>
          <a:xfrm>
            <a:off x="3210777" y="1491854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66E99"/>
            </a:solidFill>
            <a:prstDash val="solid"/>
            <a:miter lim="800000"/>
          </a:ln>
        </p:spPr>
      </p:sp>
      <p:pic>
        <p:nvPicPr>
          <p:cNvPr id="22" name="Image 1" descr="505b5b62.png">
            <a:extLst>
              <a:ext uri="{FF2B5EF4-FFF2-40B4-BE49-F238E27FC236}">
                <a16:creationId xmlns:a16="http://schemas.microsoft.com/office/drawing/2014/main" id="{354B2D46-3F5F-26B4-EEC3-BE4FA53D5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0535" y="1674982"/>
            <a:ext cx="285750" cy="171450"/>
          </a:xfrm>
          <a:prstGeom prst="rect">
            <a:avLst/>
          </a:prstGeom>
        </p:spPr>
      </p:pic>
      <p:sp>
        <p:nvSpPr>
          <p:cNvPr id="24" name="Shape 10">
            <a:extLst>
              <a:ext uri="{FF2B5EF4-FFF2-40B4-BE49-F238E27FC236}">
                <a16:creationId xmlns:a16="http://schemas.microsoft.com/office/drawing/2014/main" id="{0A06C67C-F345-06AF-B4CB-E301A7094EBC}"/>
              </a:ext>
            </a:extLst>
          </p:cNvPr>
          <p:cNvSpPr/>
          <p:nvPr/>
        </p:nvSpPr>
        <p:spPr>
          <a:xfrm>
            <a:off x="4621667" y="1759744"/>
            <a:ext cx="2000250" cy="2003822"/>
          </a:xfrm>
          <a:prstGeom prst="rect">
            <a:avLst/>
          </a:prstGeom>
          <a:solidFill>
            <a:srgbClr val="17719F"/>
          </a:solidFill>
          <a:ln>
            <a:miter lim="800000"/>
          </a:ln>
        </p:spPr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4B5A262B-C92D-AC7D-1F5B-10E0529A17AC}"/>
              </a:ext>
            </a:extLst>
          </p:cNvPr>
          <p:cNvSpPr/>
          <p:nvPr/>
        </p:nvSpPr>
        <p:spPr>
          <a:xfrm>
            <a:off x="4835979" y="2132335"/>
            <a:ext cx="1785938" cy="4277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685"/>
              </a:lnSpc>
            </a:pPr>
            <a:r>
              <a:rPr lang="en-US" sz="1463" kern="0" spc="-88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Beneficios para</a:t>
            </a:r>
            <a:br>
              <a:rPr lang="en-US" sz="1463" kern="0" spc="-88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</a:br>
            <a:r>
              <a:rPr lang="en-US" sz="1463" kern="0" spc="-88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PersonalSoft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1C89C9C3-E661-7BC7-90BC-A4415D498B88}"/>
              </a:ext>
            </a:extLst>
          </p:cNvPr>
          <p:cNvSpPr/>
          <p:nvPr/>
        </p:nvSpPr>
        <p:spPr>
          <a:xfrm>
            <a:off x="4835979" y="2616100"/>
            <a:ext cx="1785938" cy="9772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539"/>
              </a:lnSpc>
              <a:spcBef>
                <a:spcPts val="433"/>
              </a:spcBef>
            </a:pPr>
            <a: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Optimización de</a:t>
            </a:r>
            <a:b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márgenes operativos</a:t>
            </a:r>
            <a:b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mediante la</a:t>
            </a:r>
            <a:b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automatización</a:t>
            </a:r>
            <a:b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inteligente.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A227AA1F-A86A-1059-3E9E-9D70E5E23345}"/>
              </a:ext>
            </a:extLst>
          </p:cNvPr>
          <p:cNvSpPr/>
          <p:nvPr/>
        </p:nvSpPr>
        <p:spPr>
          <a:xfrm>
            <a:off x="5353902" y="1491854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15172"/>
            </a:solidFill>
            <a:prstDash val="solid"/>
            <a:miter lim="800000"/>
          </a:ln>
        </p:spPr>
      </p:sp>
      <p:pic>
        <p:nvPicPr>
          <p:cNvPr id="32" name="Image 2" descr="-327b961e.png">
            <a:extLst>
              <a:ext uri="{FF2B5EF4-FFF2-40B4-BE49-F238E27FC236}">
                <a16:creationId xmlns:a16="http://schemas.microsoft.com/office/drawing/2014/main" id="{E4F0CB68-F772-0EEC-85B3-E8E083F7C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5054" y="1668702"/>
            <a:ext cx="214313" cy="178594"/>
          </a:xfrm>
          <a:prstGeom prst="rect">
            <a:avLst/>
          </a:prstGeom>
        </p:spPr>
      </p:pic>
      <p:sp>
        <p:nvSpPr>
          <p:cNvPr id="34" name="Shape 14">
            <a:extLst>
              <a:ext uri="{FF2B5EF4-FFF2-40B4-BE49-F238E27FC236}">
                <a16:creationId xmlns:a16="http://schemas.microsoft.com/office/drawing/2014/main" id="{A4D8DA01-70F2-AD94-BCB0-0E80F975BA52}"/>
              </a:ext>
            </a:extLst>
          </p:cNvPr>
          <p:cNvSpPr/>
          <p:nvPr/>
        </p:nvSpPr>
        <p:spPr>
          <a:xfrm>
            <a:off x="6764792" y="1759744"/>
            <a:ext cx="2000250" cy="2003822"/>
          </a:xfrm>
          <a:prstGeom prst="rect">
            <a:avLst/>
          </a:prstGeom>
          <a:solidFill>
            <a:srgbClr val="115577"/>
          </a:solidFill>
          <a:ln>
            <a:miter lim="800000"/>
          </a:ln>
        </p:spPr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876DDF71-25E4-1FB7-BAE4-F9D4681992AB}"/>
              </a:ext>
            </a:extLst>
          </p:cNvPr>
          <p:cNvSpPr/>
          <p:nvPr/>
        </p:nvSpPr>
        <p:spPr>
          <a:xfrm>
            <a:off x="6979104" y="2132335"/>
            <a:ext cx="1785938" cy="4277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685"/>
              </a:lnSpc>
            </a:pPr>
            <a:r>
              <a:rPr lang="en-US" sz="1463" kern="0" spc="-88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Impacto en el</a:t>
            </a:r>
            <a:br>
              <a:rPr lang="en-US" sz="1463" kern="0" spc="-88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</a:br>
            <a:r>
              <a:rPr lang="en-US" sz="1463" kern="0" spc="-88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Mercado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6C13925F-AC98-F240-4399-90C6DBDB9C64}"/>
              </a:ext>
            </a:extLst>
          </p:cNvPr>
          <p:cNvSpPr/>
          <p:nvPr/>
        </p:nvSpPr>
        <p:spPr>
          <a:xfrm>
            <a:off x="6979105" y="2616101"/>
            <a:ext cx="1842083" cy="78179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539"/>
              </a:lnSpc>
              <a:spcBef>
                <a:spcPts val="433"/>
              </a:spcBef>
            </a:pPr>
            <a: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Posicionamiento como</a:t>
            </a:r>
            <a:b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proveedor estratégico</a:t>
            </a:r>
            <a:b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basado en datos y</a:t>
            </a:r>
            <a:b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herramientas avanzadas.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40" name="Shape 17">
            <a:extLst>
              <a:ext uri="{FF2B5EF4-FFF2-40B4-BE49-F238E27FC236}">
                <a16:creationId xmlns:a16="http://schemas.microsoft.com/office/drawing/2014/main" id="{8127BF9B-08B2-3BA9-575E-545DA3D857F7}"/>
              </a:ext>
            </a:extLst>
          </p:cNvPr>
          <p:cNvSpPr/>
          <p:nvPr/>
        </p:nvSpPr>
        <p:spPr>
          <a:xfrm>
            <a:off x="7497027" y="1491854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B354A"/>
            </a:solidFill>
            <a:prstDash val="solid"/>
            <a:miter lim="800000"/>
          </a:ln>
        </p:spPr>
      </p:sp>
      <p:pic>
        <p:nvPicPr>
          <p:cNvPr id="42" name="Image 3" descr="-6dbe241e.png">
            <a:extLst>
              <a:ext uri="{FF2B5EF4-FFF2-40B4-BE49-F238E27FC236}">
                <a16:creationId xmlns:a16="http://schemas.microsoft.com/office/drawing/2014/main" id="{263F34D4-4A07-6E98-B32B-1881409F7A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77" y="1637308"/>
            <a:ext cx="214313" cy="242888"/>
          </a:xfrm>
          <a:prstGeom prst="rect">
            <a:avLst/>
          </a:prstGeom>
        </p:spPr>
      </p:pic>
      <p:sp>
        <p:nvSpPr>
          <p:cNvPr id="44" name="Text 1">
            <a:extLst>
              <a:ext uri="{FF2B5EF4-FFF2-40B4-BE49-F238E27FC236}">
                <a16:creationId xmlns:a16="http://schemas.microsoft.com/office/drawing/2014/main" id="{2B7F778D-5F66-74AF-32CC-84352651A0C6}"/>
              </a:ext>
            </a:extLst>
          </p:cNvPr>
          <p:cNvSpPr/>
          <p:nvPr/>
        </p:nvSpPr>
        <p:spPr>
          <a:xfrm>
            <a:off x="391545" y="626827"/>
            <a:ext cx="5791881" cy="28573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693"/>
              </a:lnSpc>
              <a:spcBef>
                <a:spcPts val="650"/>
              </a:spcBef>
            </a:pPr>
            <a:r>
              <a:rPr lang="en-US" sz="1238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Transformar el soporte de costo operativo a ventaja competitiva</a:t>
            </a:r>
            <a:endParaRPr lang="en-US" sz="1013">
              <a:latin typeface="Reddit Sans"/>
              <a:ea typeface="Reddit Sans"/>
            </a:endParaRPr>
          </a:p>
        </p:txBody>
      </p:sp>
      <p:pic>
        <p:nvPicPr>
          <p:cNvPr id="3" name="Gráfico 2" descr="Marcador contorno">
            <a:extLst>
              <a:ext uri="{FF2B5EF4-FFF2-40B4-BE49-F238E27FC236}">
                <a16:creationId xmlns:a16="http://schemas.microsoft.com/office/drawing/2014/main" id="{899E42DB-34A8-3D42-7FA8-C3CDBBC417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0214" y="1592035"/>
            <a:ext cx="332015" cy="326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248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0031" y="283629"/>
            <a:ext cx="8643938" cy="41143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3240"/>
              </a:lnSpc>
            </a:pPr>
            <a:r>
              <a:rPr lang="en-US" sz="1600" b="1" err="1">
                <a:solidFill>
                  <a:srgbClr val="0E337C"/>
                </a:solidFill>
                <a:latin typeface="Reddit Sans"/>
                <a:ea typeface="Reddit Sans"/>
              </a:rPr>
              <a:t>Desafíos</a:t>
            </a:r>
            <a:r>
              <a:rPr lang="en-US" sz="1600" b="1">
                <a:solidFill>
                  <a:srgbClr val="0E337C"/>
                </a:solidFill>
                <a:latin typeface="Reddit Sans"/>
                <a:ea typeface="Reddit Sans"/>
              </a:rPr>
              <a:t> de la </a:t>
            </a:r>
            <a:r>
              <a:rPr lang="en-US" sz="1600" b="1" err="1">
                <a:solidFill>
                  <a:srgbClr val="0E337C"/>
                </a:solidFill>
                <a:latin typeface="Reddit Sans"/>
                <a:ea typeface="Reddit Sans"/>
              </a:rPr>
              <a:t>Operación</a:t>
            </a:r>
            <a:r>
              <a:rPr lang="en-US" sz="1600" b="1">
                <a:solidFill>
                  <a:srgbClr val="0E337C"/>
                </a:solidFill>
                <a:latin typeface="Reddit Sans"/>
                <a:ea typeface="Reddit Sans"/>
              </a:rPr>
              <a:t> Actual</a:t>
            </a:r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250031" y="697584"/>
            <a:ext cx="8643938" cy="21498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693"/>
              </a:lnSpc>
              <a:spcBef>
                <a:spcPts val="650"/>
              </a:spcBef>
            </a:pPr>
            <a:r>
              <a:rPr lang="en-US" sz="12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Identificación</a:t>
            </a:r>
            <a:r>
              <a:rPr lang="en-US" sz="12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de puntos </a:t>
            </a:r>
            <a:r>
              <a:rPr lang="en-US" sz="12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críticos</a:t>
            </a:r>
            <a:endParaRPr lang="en-US" sz="1200" err="1">
              <a:latin typeface="Reddit Sans"/>
              <a:ea typeface="Reddit Sans"/>
            </a:endParaRPr>
          </a:p>
        </p:txBody>
      </p:sp>
      <p:sp>
        <p:nvSpPr>
          <p:cNvPr id="6" name="Text 3"/>
          <p:cNvSpPr/>
          <p:nvPr/>
        </p:nvSpPr>
        <p:spPr>
          <a:xfrm>
            <a:off x="3963080" y="1042743"/>
            <a:ext cx="2393156" cy="442203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975" indent="-180975" algn="l" fontAlgn="ctr">
              <a:lnSpc>
                <a:spcPts val="1685"/>
              </a:lnSpc>
              <a:buClr>
                <a:srgbClr val="22AAEE"/>
              </a:buClr>
              <a:buSzPct val="120000"/>
              <a:buChar char="•"/>
            </a:pPr>
            <a:r>
              <a:rPr lang="es-CO" sz="1200" kern="0" spc="-88" dirty="0" err="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Ausencia</a:t>
            </a:r>
            <a:r>
              <a:rPr lang="es-CO" sz="1200" kern="0" spc="-88" dirty="0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 de </a:t>
            </a:r>
            <a:r>
              <a:rPr lang="es-CO" sz="1200" kern="0" spc="-88" dirty="0" err="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estándares</a:t>
            </a:r>
            <a:endParaRPr lang="es-CO" sz="1200" dirty="0" err="1">
              <a:latin typeface="Reddit Sans"/>
              <a:ea typeface="Reddit Sans"/>
            </a:endParaRPr>
          </a:p>
          <a:p>
            <a:pPr marL="180975" lvl="1" indent="0" algn="l" fontAlgn="ctr">
              <a:lnSpc>
                <a:spcPts val="1539"/>
              </a:lnSpc>
              <a:spcBef>
                <a:spcPts val="323"/>
              </a:spcBef>
              <a:buNone/>
            </a:pPr>
            <a:r>
              <a:rPr lang="es-CO" sz="12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Falta de </a:t>
            </a:r>
            <a:r>
              <a:rPr lang="es-CO" sz="1200" kern="0" spc="-23" dirty="0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niveles</a:t>
            </a:r>
            <a:r>
              <a:rPr lang="es-CO" sz="12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de servicio</a:t>
            </a:r>
            <a:br>
              <a:rPr lang="es-CO" sz="1200" kern="0" spc="-23" dirty="0">
                <a:latin typeface="Reddit Sans"/>
                <a:ea typeface="Reddit Sans"/>
                <a:cs typeface="Inter Medium" pitchFamily="34" charset="-120"/>
              </a:rPr>
            </a:br>
            <a:r>
              <a:rPr lang="es-CO" sz="12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(N1/N2/N3) y roles claramente</a:t>
            </a:r>
            <a:br>
              <a:rPr lang="es-CO" sz="1200" kern="0" spc="-23" dirty="0">
                <a:latin typeface="Reddit Sans"/>
                <a:ea typeface="Reddit Sans"/>
                <a:cs typeface="Inter Medium" pitchFamily="34" charset="-120"/>
              </a:rPr>
            </a:br>
            <a:r>
              <a:rPr lang="es-CO" sz="12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definidos.</a:t>
            </a:r>
            <a:endParaRPr lang="es-CO" sz="1200" dirty="0">
              <a:latin typeface="Reddit Sans"/>
              <a:ea typeface="Reddit Sans"/>
            </a:endParaRPr>
          </a:p>
          <a:p>
            <a:pPr marL="180975" indent="-180975" algn="l" fontAlgn="ctr">
              <a:lnSpc>
                <a:spcPts val="1685"/>
              </a:lnSpc>
              <a:spcBef>
                <a:spcPts val="1541"/>
              </a:spcBef>
              <a:buClr>
                <a:srgbClr val="22AAEE"/>
              </a:buClr>
              <a:buSzPct val="120000"/>
              <a:buChar char="•"/>
            </a:pPr>
            <a:r>
              <a:rPr lang="es-CO" sz="1200" kern="0" spc="-8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Modelo económico</a:t>
            </a:r>
            <a:endParaRPr lang="es-CO" sz="1200">
              <a:latin typeface="Reddit Sans"/>
              <a:ea typeface="Reddit Sans"/>
            </a:endParaRPr>
          </a:p>
          <a:p>
            <a:pPr marL="180975" lvl="1" indent="0" algn="l" fontAlgn="ctr">
              <a:lnSpc>
                <a:spcPts val="1539"/>
              </a:lnSpc>
              <a:spcBef>
                <a:spcPts val="323"/>
              </a:spcBef>
              <a:buNone/>
            </a:pPr>
            <a:r>
              <a:rPr lang="es-CO" sz="12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Estructura </a:t>
            </a:r>
            <a:r>
              <a:rPr lang="es-CO" sz="1200" kern="0" spc="-23" dirty="0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indexada</a:t>
            </a:r>
            <a:r>
              <a:rPr lang="es-CO" sz="12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a FTE </a:t>
            </a:r>
            <a:r>
              <a:rPr lang="es-CO" sz="1200" kern="0" spc="-23" dirty="0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que</a:t>
            </a:r>
            <a:br>
              <a:rPr lang="es-CO" sz="1200" kern="0" spc="-23" dirty="0">
                <a:latin typeface="Reddit Sans"/>
                <a:ea typeface="Reddit Sans"/>
                <a:cs typeface="Inter Medium" pitchFamily="34" charset="-120"/>
              </a:rPr>
            </a:br>
            <a:r>
              <a:rPr lang="es-CO" sz="1200" kern="0" spc="-23" dirty="0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impone</a:t>
            </a:r>
            <a:r>
              <a:rPr lang="es-CO" sz="12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barreras </a:t>
            </a:r>
            <a:r>
              <a:rPr lang="es-CO" sz="1200" kern="0" spc="-23" dirty="0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críticas</a:t>
            </a:r>
            <a:r>
              <a:rPr lang="es-CO" sz="12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para el</a:t>
            </a:r>
            <a:br>
              <a:rPr lang="es-CO" sz="1200" kern="0" spc="-23" dirty="0">
                <a:latin typeface="Reddit Sans"/>
                <a:ea typeface="Reddit Sans"/>
                <a:cs typeface="Inter Medium" pitchFamily="34" charset="-120"/>
              </a:rPr>
            </a:br>
            <a:r>
              <a:rPr lang="es-CO" sz="1200" kern="0" spc="-23" dirty="0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escalamiento</a:t>
            </a:r>
            <a:r>
              <a:rPr lang="es-CO" sz="12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.</a:t>
            </a:r>
            <a:endParaRPr lang="es-CO" sz="1200" dirty="0">
              <a:latin typeface="Reddit Sans"/>
              <a:ea typeface="Reddit Sans"/>
            </a:endParaRPr>
          </a:p>
          <a:p>
            <a:pPr marL="180975" indent="-180975" fontAlgn="ctr">
              <a:lnSpc>
                <a:spcPts val="1685"/>
              </a:lnSpc>
              <a:spcBef>
                <a:spcPts val="1541"/>
              </a:spcBef>
              <a:buClr>
                <a:srgbClr val="22AAEE"/>
              </a:buClr>
              <a:buSzPct val="120000"/>
              <a:buChar char="•"/>
            </a:pPr>
            <a:r>
              <a:rPr lang="es-CO" sz="1200" kern="0" spc="-88" dirty="0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Herramientas de </a:t>
            </a:r>
            <a:r>
              <a:rPr lang="es-CO" sz="1200" kern="0" spc="-8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gestión</a:t>
            </a:r>
            <a:r>
              <a:rPr lang="es-CO" sz="1200" kern="0" spc="-88" dirty="0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 de conocimiento</a:t>
            </a:r>
            <a:endParaRPr lang="es-CO" sz="1200" kern="0" spc="-88" dirty="0">
              <a:solidFill>
                <a:srgbClr val="333333"/>
              </a:solidFill>
              <a:latin typeface="Reddit Sans"/>
              <a:ea typeface="Reddit Sans"/>
            </a:endParaRPr>
          </a:p>
          <a:p>
            <a:pPr marL="180975" lvl="1" fontAlgn="ctr">
              <a:lnSpc>
                <a:spcPts val="1539"/>
              </a:lnSpc>
              <a:spcBef>
                <a:spcPts val="323"/>
              </a:spcBef>
            </a:pPr>
            <a:r>
              <a:rPr lang="es-CO" sz="12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Conocimien</a:t>
            </a:r>
            <a:r>
              <a:rPr lang="es-CO" sz="12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to tácito no</a:t>
            </a:r>
            <a:br>
              <a:rPr lang="es-CO" sz="1200" kern="0" spc="-23" dirty="0">
                <a:latin typeface="Reddit Sans"/>
                <a:ea typeface="Reddit Sans"/>
              </a:rPr>
            </a:br>
            <a:r>
              <a:rPr lang="es-CO" sz="12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documentado, g</a:t>
            </a:r>
            <a:r>
              <a:rPr lang="es-CO" sz="12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enerand</a:t>
            </a:r>
            <a:r>
              <a:rPr lang="es-CO" sz="12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o un</a:t>
            </a:r>
            <a:br>
              <a:rPr lang="es-CO" sz="1200" kern="0" spc="-23" dirty="0">
                <a:latin typeface="Reddit Sans"/>
                <a:ea typeface="Reddit Sans"/>
              </a:rPr>
            </a:br>
            <a:r>
              <a:rPr lang="es-CO" sz="12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alto riesgo de 'Bus Factor'. Curvas de aprendizaje muy altos, hasta de 6 mese</a:t>
            </a:r>
            <a:r>
              <a:rPr lang="en-US" sz="12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s para </a:t>
            </a:r>
            <a:r>
              <a:rPr lang="en-US" sz="1200" kern="0" spc="-23" dirty="0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clientes</a:t>
            </a:r>
            <a:r>
              <a:rPr lang="en-US" sz="12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1200" kern="0" spc="-23" dirty="0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criticos</a:t>
            </a:r>
            <a:r>
              <a:rPr lang="en-US" sz="12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(XM).</a:t>
            </a:r>
          </a:p>
        </p:txBody>
      </p:sp>
      <p:sp>
        <p:nvSpPr>
          <p:cNvPr id="7" name="Text 4"/>
          <p:cNvSpPr/>
          <p:nvPr/>
        </p:nvSpPr>
        <p:spPr>
          <a:xfrm>
            <a:off x="6427674" y="1042743"/>
            <a:ext cx="2393156" cy="341750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975" indent="-180975" algn="l" fontAlgn="ctr">
              <a:lnSpc>
                <a:spcPts val="1685"/>
              </a:lnSpc>
              <a:buClr>
                <a:srgbClr val="22AAEE"/>
              </a:buClr>
              <a:buSzPct val="120000"/>
              <a:buChar char="•"/>
            </a:pPr>
            <a:r>
              <a:rPr lang="en-US" sz="1200" kern="0" spc="-88" dirty="0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Fal</a:t>
            </a:r>
            <a:r>
              <a:rPr lang="es-CO" sz="1200" kern="0" spc="-88" dirty="0" err="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ta</a:t>
            </a:r>
            <a:r>
              <a:rPr lang="es-CO" sz="1200" kern="0" spc="-88" dirty="0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 de </a:t>
            </a:r>
            <a:r>
              <a:rPr lang="es-CO" sz="1200" kern="0" spc="-88" dirty="0" err="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observabilidad</a:t>
            </a:r>
            <a:endParaRPr lang="es-CO" sz="1200" dirty="0" err="1">
              <a:latin typeface="Reddit Sans"/>
              <a:ea typeface="Reddit Sans"/>
            </a:endParaRPr>
          </a:p>
          <a:p>
            <a:pPr marL="180975" lvl="1" indent="0" algn="l" fontAlgn="ctr">
              <a:lnSpc>
                <a:spcPts val="1539"/>
              </a:lnSpc>
              <a:spcBef>
                <a:spcPts val="323"/>
              </a:spcBef>
              <a:buNone/>
            </a:pPr>
            <a:r>
              <a:rPr lang="es-CO" sz="12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Dependencia de </a:t>
            </a:r>
            <a:r>
              <a:rPr lang="es-CO" sz="1200" kern="0" spc="-23" dirty="0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KPIs</a:t>
            </a:r>
            <a:br>
              <a:rPr lang="es-CO" sz="1200" kern="0" spc="-23" dirty="0">
                <a:latin typeface="Reddit Sans"/>
                <a:ea typeface="Reddit Sans"/>
                <a:cs typeface="Inter Medium" pitchFamily="34" charset="-120"/>
              </a:rPr>
            </a:br>
            <a:r>
              <a:rPr lang="es-CO" sz="12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empíricos, dispersión de</a:t>
            </a:r>
            <a:br>
              <a:rPr lang="es-CO" sz="1200" kern="0" spc="-23" dirty="0">
                <a:latin typeface="Reddit Sans"/>
                <a:ea typeface="Reddit Sans"/>
                <a:cs typeface="Inter Medium" pitchFamily="34" charset="-120"/>
              </a:rPr>
            </a:br>
            <a:r>
              <a:rPr lang="es-CO" sz="12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herramientas y procesos de</a:t>
            </a:r>
            <a:br>
              <a:rPr lang="es-CO" sz="1200" kern="0" spc="-23" dirty="0">
                <a:latin typeface="Reddit Sans"/>
                <a:ea typeface="Reddit Sans"/>
                <a:cs typeface="Inter Medium" pitchFamily="34" charset="-120"/>
              </a:rPr>
            </a:br>
            <a:r>
              <a:rPr lang="es-CO" sz="12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reporte manuales.</a:t>
            </a:r>
            <a:endParaRPr lang="es-CO" sz="1200" dirty="0">
              <a:latin typeface="Reddit Sans"/>
              <a:ea typeface="Reddit Sans"/>
            </a:endParaRPr>
          </a:p>
          <a:p>
            <a:pPr marL="180975" indent="-180975" algn="l" fontAlgn="ctr">
              <a:lnSpc>
                <a:spcPts val="1685"/>
              </a:lnSpc>
              <a:spcBef>
                <a:spcPts val="1541"/>
              </a:spcBef>
              <a:buClr>
                <a:srgbClr val="22AAEE"/>
              </a:buClr>
              <a:buSzPct val="120000"/>
              <a:buChar char="•"/>
            </a:pPr>
            <a:r>
              <a:rPr lang="es-CO" sz="1200" kern="0" spc="-88" dirty="0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Brecha </a:t>
            </a:r>
            <a:r>
              <a:rPr lang="es-CO" sz="1200" kern="0" spc="-88" dirty="0" err="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en</a:t>
            </a:r>
            <a:r>
              <a:rPr lang="es-CO" sz="1200" kern="0" spc="-88" dirty="0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 </a:t>
            </a:r>
            <a:r>
              <a:rPr lang="es-CO" sz="1200" kern="0" spc="-88" dirty="0" err="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Preventa</a:t>
            </a:r>
            <a:endParaRPr lang="es-CO" sz="1200" dirty="0" err="1">
              <a:latin typeface="Reddit Sans"/>
              <a:ea typeface="Reddit Sans"/>
            </a:endParaRPr>
          </a:p>
          <a:p>
            <a:pPr marL="180975" lvl="1" indent="0" algn="l" fontAlgn="ctr">
              <a:lnSpc>
                <a:spcPts val="1539"/>
              </a:lnSpc>
              <a:spcBef>
                <a:spcPts val="323"/>
              </a:spcBef>
              <a:buNone/>
            </a:pPr>
            <a:r>
              <a:rPr lang="es-CO" sz="12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Desalineación entre la</a:t>
            </a:r>
            <a:br>
              <a:rPr lang="es-CO" sz="1200" kern="0" spc="-23" dirty="0">
                <a:latin typeface="Reddit Sans"/>
                <a:ea typeface="Reddit Sans"/>
                <a:cs typeface="Inter Medium" pitchFamily="34" charset="-120"/>
              </a:rPr>
            </a:br>
            <a:r>
              <a:rPr lang="es-CO" sz="12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expectativa comercial y la</a:t>
            </a:r>
            <a:br>
              <a:rPr lang="es-CO" sz="1200" kern="0" spc="-23" dirty="0">
                <a:latin typeface="Reddit Sans"/>
                <a:ea typeface="Reddit Sans"/>
                <a:cs typeface="Inter Medium" pitchFamily="34" charset="-120"/>
              </a:rPr>
            </a:br>
            <a:r>
              <a:rPr lang="es-CO" sz="12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realidad operativa, resultando</a:t>
            </a:r>
            <a:br>
              <a:rPr lang="es-CO" sz="1200" kern="0" spc="-23" dirty="0">
                <a:latin typeface="Reddit Sans"/>
                <a:ea typeface="Reddit Sans"/>
                <a:cs typeface="Inter Medium" pitchFamily="34" charset="-120"/>
              </a:rPr>
            </a:br>
            <a:r>
              <a:rPr lang="es-CO" sz="12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en </a:t>
            </a:r>
            <a:r>
              <a:rPr lang="es-CO" sz="1200" kern="0" spc="-23" dirty="0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sub-dimensionamiento</a:t>
            </a:r>
            <a:r>
              <a:rPr lang="es-CO" sz="12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.</a:t>
            </a:r>
          </a:p>
          <a:p>
            <a:pPr marL="180975" indent="-180975" fontAlgn="ctr">
              <a:lnSpc>
                <a:spcPts val="1685"/>
              </a:lnSpc>
              <a:spcBef>
                <a:spcPts val="1541"/>
              </a:spcBef>
              <a:buFont typeface="Arial,Sans-Serif"/>
              <a:buChar char="•"/>
            </a:pPr>
            <a:r>
              <a:rPr lang="es-CO" sz="1200" kern="0" spc="-23">
                <a:solidFill>
                  <a:srgbClr val="333333"/>
                </a:solidFill>
                <a:latin typeface="Reddit Sans"/>
                <a:ea typeface="Reddit Sans"/>
              </a:rPr>
              <a:t>Dimensión de la Capacidad y Roles del equipo</a:t>
            </a:r>
          </a:p>
          <a:p>
            <a:pPr marL="180975" lvl="1">
              <a:lnSpc>
                <a:spcPts val="1539"/>
              </a:lnSpc>
              <a:spcBef>
                <a:spcPts val="323"/>
              </a:spcBef>
            </a:pPr>
            <a:r>
              <a:rPr lang="es-CO" sz="12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No hay </a:t>
            </a:r>
            <a:r>
              <a:rPr lang="es-CO" sz="1200" kern="0" spc="-23" dirty="0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claridad</a:t>
            </a:r>
            <a:r>
              <a:rPr lang="es-CO" sz="12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 </a:t>
            </a:r>
            <a:r>
              <a:rPr lang="es-CO" sz="1200" kern="0" spc="-23" dirty="0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en</a:t>
            </a:r>
            <a:r>
              <a:rPr lang="es-CO" sz="12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 </a:t>
            </a:r>
            <a:r>
              <a:rPr lang="es-CO" sz="1200" kern="0" spc="-23" dirty="0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los</a:t>
            </a:r>
            <a:r>
              <a:rPr lang="es-CO" sz="12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 roles y </a:t>
            </a:r>
            <a:r>
              <a:rPr lang="es-CO" sz="1200" kern="0" spc="-23" dirty="0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perfiles</a:t>
            </a:r>
            <a:r>
              <a:rPr lang="es-CO" sz="12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 para </a:t>
            </a:r>
            <a:r>
              <a:rPr lang="es-CO" sz="1200" kern="0" spc="-23" dirty="0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dimensionar</a:t>
            </a:r>
            <a:r>
              <a:rPr lang="es-CO" sz="12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 las mesas de </a:t>
            </a:r>
            <a:r>
              <a:rPr lang="es-CO" sz="1200" kern="0" spc="-23" dirty="0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servicio</a:t>
            </a:r>
            <a:r>
              <a:rPr lang="es-CO" sz="12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 </a:t>
            </a:r>
            <a:r>
              <a:rPr lang="es-CO" sz="1200" kern="0" spc="-23" dirty="0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por</a:t>
            </a:r>
            <a:r>
              <a:rPr lang="es-CO" sz="12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 </a:t>
            </a:r>
            <a:r>
              <a:rPr lang="es-CO" sz="1200" kern="0" spc="-23" dirty="0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niveles</a:t>
            </a:r>
            <a:r>
              <a:rPr lang="en-US" sz="12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.</a:t>
            </a:r>
            <a:endParaRPr lang="en-US" spc="-23" dirty="0">
              <a:solidFill>
                <a:srgbClr val="000000">
                  <a:alpha val="55000"/>
                </a:srgbClr>
              </a:solidFill>
              <a:latin typeface="Arial"/>
              <a:ea typeface="Reddit Sans"/>
              <a:cs typeface="Arial"/>
            </a:endParaRPr>
          </a:p>
        </p:txBody>
      </p:sp>
      <p:pic>
        <p:nvPicPr>
          <p:cNvPr id="20" name="Ilustracion Desafi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588" y="1077970"/>
            <a:ext cx="3200000" cy="2169000"/>
          </a:xfrm>
          <a:prstGeom prst="rect">
            <a:avLst/>
          </a:prstGeom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F123AE74-6D32-0FDF-671E-BDBBD5EA8815}"/>
              </a:ext>
            </a:extLst>
          </p:cNvPr>
          <p:cNvSpPr/>
          <p:nvPr/>
        </p:nvSpPr>
        <p:spPr>
          <a:xfrm>
            <a:off x="218394" y="3394056"/>
            <a:ext cx="3519827" cy="154276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975" indent="-180975" fontAlgn="ctr">
              <a:lnSpc>
                <a:spcPts val="1685"/>
              </a:lnSpc>
              <a:buClr>
                <a:srgbClr val="22AAEE"/>
              </a:buClr>
              <a:buSzPct val="120000"/>
              <a:buChar char="•"/>
            </a:pPr>
            <a:r>
              <a:rPr lang="es-CO" sz="1200" kern="0" spc="-8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Dimensión</a:t>
            </a:r>
            <a:r>
              <a:rPr lang="es-CO" sz="1200" kern="0" spc="-88" dirty="0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 de la disponibilidad del equipo</a:t>
            </a:r>
            <a:endParaRPr lang="es-CO" sz="1200" kern="0" spc="-88" dirty="0">
              <a:solidFill>
                <a:srgbClr val="333333"/>
              </a:solidFill>
              <a:latin typeface="Reddit Sans"/>
              <a:ea typeface="Reddit Sans"/>
            </a:endParaRPr>
          </a:p>
          <a:p>
            <a:pPr marL="180975" lvl="1" fontAlgn="ctr">
              <a:lnSpc>
                <a:spcPts val="1539"/>
              </a:lnSpc>
              <a:spcBef>
                <a:spcPts val="323"/>
              </a:spcBef>
            </a:pPr>
            <a:r>
              <a:rPr lang="es-CO" sz="12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Disponibilidad 7x24 sin tener en cuenta la </a:t>
            </a:r>
            <a:r>
              <a:rPr lang="es-CO" sz="12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tecnología</a:t>
            </a:r>
            <a:r>
              <a:rPr lang="es-CO" sz="12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que soporta, y verse reflejado en horas extras que no hace parte de la bolsa de horas que paga el cliente. (XM)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4091" y="205740"/>
            <a:ext cx="685800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400" b="1">
                <a:solidFill>
                  <a:srgbClr val="213F7D"/>
                </a:solidFill>
              </a:defRPr>
            </a:pPr>
            <a:r>
              <a:rPr lang="es-CO" sz="1600" b="1">
                <a:solidFill>
                  <a:srgbClr val="0E337C"/>
                </a:solidFill>
                <a:latin typeface="Reddit Sans"/>
                <a:ea typeface="Reddit Sans"/>
                <a:sym typeface="Reddit Sans"/>
              </a:rPr>
              <a:t>¿Por qué evolucionar la Mesa de Servicios?</a:t>
            </a:r>
            <a:endParaRPr lang="es-CO" sz="1600" b="1">
              <a:solidFill>
                <a:srgbClr val="0E337C"/>
              </a:solidFill>
              <a:latin typeface="Reddit Sans"/>
              <a:ea typeface="Reddit San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378381" y="994410"/>
            <a:ext cx="1954530" cy="10629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>
                <a:latin typeface="Reddit Sans"/>
                <a:ea typeface="Reddit Sans"/>
              </a:rPr>
              <a:t>Gobierno</a:t>
            </a: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Falta de </a:t>
            </a: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marcos</a:t>
            </a: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 de control y </a:t>
            </a: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estandarización</a:t>
            </a:r>
            <a:b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</a:b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en</a:t>
            </a: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 </a:t>
            </a: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los</a:t>
            </a: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 </a:t>
            </a: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procesos</a:t>
            </a: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 </a:t>
            </a: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actuales</a:t>
            </a: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.</a:t>
            </a:r>
            <a:endParaRPr lang="es-CO" sz="900">
              <a:solidFill>
                <a:srgbClr val="505050"/>
              </a:solidFill>
              <a:latin typeface="Reddit Sans"/>
              <a:ea typeface="Reddit San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504361" y="994410"/>
            <a:ext cx="1954530" cy="10629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>
                <a:latin typeface="Reddit Sans"/>
                <a:ea typeface="Reddit Sans"/>
              </a:rPr>
              <a:t>Escalabilidad</a:t>
            </a: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s-CO" sz="900">
                <a:solidFill>
                  <a:srgbClr val="505050"/>
                </a:solidFill>
                <a:latin typeface="Reddit Sans"/>
                <a:ea typeface="Reddit Sans"/>
              </a:rPr>
              <a:t>Crecimiento</a:t>
            </a:r>
            <a:br>
              <a:rPr lang="es-CO" sz="900">
                <a:latin typeface="Reddit Sans"/>
                <a:ea typeface="Reddit Sans"/>
              </a:rPr>
            </a:br>
            <a:r>
              <a:rPr lang="es-CO" sz="900">
                <a:solidFill>
                  <a:srgbClr val="505050"/>
                </a:solidFill>
                <a:latin typeface="Reddit Sans"/>
                <a:ea typeface="Reddit Sans"/>
              </a:rPr>
              <a:t>basado en FTE</a:t>
            </a:r>
            <a:endParaRPr lang="es-CO" sz="900"/>
          </a:p>
        </p:txBody>
      </p:sp>
      <p:sp>
        <p:nvSpPr>
          <p:cNvPr id="5" name="Rounded Rectangle 4"/>
          <p:cNvSpPr/>
          <p:nvPr/>
        </p:nvSpPr>
        <p:spPr>
          <a:xfrm>
            <a:off x="4630341" y="994410"/>
            <a:ext cx="1954530" cy="10629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>
                <a:latin typeface="Reddit Sans"/>
                <a:ea typeface="Reddit Sans"/>
              </a:rPr>
              <a:t>Automatización</a:t>
            </a: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s-CO" sz="900">
                <a:latin typeface="Reddit Sans"/>
                <a:ea typeface="Reddit Sans"/>
              </a:rPr>
              <a:t>Alta dependencia</a:t>
            </a:r>
            <a:br>
              <a:rPr lang="es-CO" sz="900">
                <a:latin typeface="Reddit Sans"/>
                <a:ea typeface="Reddit Sans"/>
              </a:rPr>
            </a:br>
            <a:r>
              <a:rPr lang="es-CO" sz="900">
                <a:latin typeface="Reddit Sans"/>
                <a:ea typeface="Reddit Sans"/>
              </a:rPr>
              <a:t>de tareas manuales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56321" y="994410"/>
            <a:ext cx="1954530" cy="10629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>
                <a:latin typeface="Reddit Sans"/>
                <a:ea typeface="Reddit Sans"/>
              </a:rPr>
              <a:t>Conocimiento</a:t>
            </a: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s-CO" sz="900">
                <a:latin typeface="Reddit Sans"/>
                <a:ea typeface="Reddit Sans"/>
              </a:rPr>
              <a:t>Conocimiento</a:t>
            </a:r>
            <a:br>
              <a:rPr lang="es-CO" sz="900">
                <a:latin typeface="Reddit Sans"/>
                <a:ea typeface="Reddit Sans"/>
              </a:rPr>
            </a:br>
            <a:r>
              <a:rPr lang="es-CO" sz="900">
                <a:latin typeface="Reddit Sans"/>
                <a:ea typeface="Reddit Sans"/>
              </a:rPr>
              <a:t>concentrado en personas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8381" y="2297429"/>
            <a:ext cx="1954530" cy="10629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 err="1">
                <a:latin typeface="Reddit Sans"/>
                <a:ea typeface="Reddit Sans"/>
              </a:rPr>
              <a:t>Observabilidad</a:t>
            </a:r>
            <a:endParaRPr lang="es-CO" sz="1100"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s-CO" sz="900" err="1">
                <a:latin typeface="Reddit Sans"/>
                <a:ea typeface="Reddit Sans"/>
              </a:rPr>
              <a:t>KPIs</a:t>
            </a:r>
            <a:r>
              <a:rPr lang="es-CO" sz="900">
                <a:latin typeface="Reddit Sans"/>
                <a:ea typeface="Reddit Sans"/>
              </a:rPr>
              <a:t> y SLA</a:t>
            </a:r>
            <a:br>
              <a:rPr lang="es-CO" sz="900">
                <a:latin typeface="Reddit Sans"/>
                <a:ea typeface="Reddit Sans"/>
              </a:rPr>
            </a:br>
            <a:r>
              <a:rPr lang="es-CO" sz="900">
                <a:latin typeface="Reddit Sans"/>
                <a:ea typeface="Reddit Sans"/>
              </a:rPr>
              <a:t>sin estandarizar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04361" y="2297429"/>
            <a:ext cx="1954530" cy="10629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>
                <a:latin typeface="Reddit Sans"/>
                <a:ea typeface="Reddit Sans"/>
              </a:rPr>
              <a:t>Transición</a:t>
            </a: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s-CO" sz="900" err="1">
                <a:latin typeface="Reddit Sans"/>
                <a:ea typeface="Reddit Sans"/>
              </a:rPr>
              <a:t>Onboarding</a:t>
            </a:r>
            <a:r>
              <a:rPr lang="es-CO" sz="900">
                <a:latin typeface="Reddit Sans"/>
                <a:ea typeface="Reddit Sans"/>
              </a:rPr>
              <a:t> con</a:t>
            </a:r>
            <a:br>
              <a:rPr lang="es-CO" sz="900">
                <a:latin typeface="Reddit Sans"/>
                <a:ea typeface="Reddit Sans"/>
              </a:rPr>
            </a:br>
            <a:r>
              <a:rPr lang="es-CO" sz="900">
                <a:latin typeface="Reddit Sans"/>
                <a:ea typeface="Reddit Sans"/>
              </a:rPr>
              <a:t>alta fricción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30341" y="2297429"/>
            <a:ext cx="1954530" cy="10629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>
                <a:latin typeface="Reddit Sans"/>
                <a:ea typeface="Reddit Sans"/>
              </a:rPr>
              <a:t>Preventa</a:t>
            </a: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Debilidad</a:t>
            </a: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 </a:t>
            </a: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en</a:t>
            </a: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 la </a:t>
            </a: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alineación</a:t>
            </a: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 </a:t>
            </a: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estratégica</a:t>
            </a: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 entre las</a:t>
            </a:r>
            <a:b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</a:b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necesidades</a:t>
            </a: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 de </a:t>
            </a: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negocio</a:t>
            </a: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 y </a:t>
            </a: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los</a:t>
            </a: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 </a:t>
            </a:r>
            <a:r>
              <a:rPr lang="en-US" sz="900" err="1">
                <a:solidFill>
                  <a:srgbClr val="505050"/>
                </a:solidFill>
                <a:latin typeface="Reddit Sans"/>
                <a:ea typeface="Reddit Sans"/>
              </a:rPr>
              <a:t>servicios</a:t>
            </a:r>
            <a:r>
              <a:rPr lang="en-US" sz="900">
                <a:solidFill>
                  <a:srgbClr val="505050"/>
                </a:solidFill>
                <a:latin typeface="Reddit Sans"/>
                <a:ea typeface="Reddit Sans"/>
              </a:rPr>
              <a:t>.</a:t>
            </a:r>
            <a:endParaRPr lang="es-CO" sz="900">
              <a:solidFill>
                <a:srgbClr val="505050"/>
              </a:solidFill>
              <a:latin typeface="Reddit Sans"/>
              <a:ea typeface="Reddit San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756321" y="2297429"/>
            <a:ext cx="1954530" cy="10629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>
                <a:latin typeface="Reddit Sans"/>
                <a:ea typeface="Reddit Sans"/>
              </a:rPr>
              <a:t>Plataforma &amp; Talento</a:t>
            </a: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s-CO" sz="900">
                <a:latin typeface="Reddit Sans"/>
                <a:ea typeface="Reddit Sans"/>
              </a:rPr>
              <a:t>Retención y</a:t>
            </a:r>
            <a:br>
              <a:rPr lang="es-CO" sz="900">
                <a:latin typeface="Reddit Sans"/>
                <a:ea typeface="Reddit Sans"/>
              </a:rPr>
            </a:br>
            <a:r>
              <a:rPr lang="es-CO" sz="900">
                <a:latin typeface="Reddit Sans"/>
                <a:ea typeface="Reddit Sans"/>
              </a:rPr>
              <a:t>especialización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481" y="4053296"/>
            <a:ext cx="8298180" cy="342900"/>
          </a:xfrm>
          <a:prstGeom prst="roundRect">
            <a:avLst/>
          </a:prstGeom>
          <a:solidFill>
            <a:srgbClr val="213F7D"/>
          </a:solidFill>
          <a:ln>
            <a:solidFill>
              <a:srgbClr val="213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lang="en-US" sz="1050">
                <a:latin typeface="Reddit Sans"/>
                <a:ea typeface="Reddit Sans"/>
              </a:rPr>
              <a:t> Mesa de Servicio de Nueva Generación</a:t>
            </a:r>
            <a:r>
              <a:rPr sz="1050">
                <a:latin typeface="Reddit Sans"/>
                <a:ea typeface="Reddit Sans"/>
              </a:rPr>
              <a:t>: </a:t>
            </a:r>
            <a:r>
              <a:rPr lang="en-US" sz="1050">
                <a:latin typeface="Reddit Sans"/>
                <a:ea typeface="Reddit Sans"/>
              </a:rPr>
              <a:t>Una</a:t>
            </a:r>
            <a:r>
              <a:rPr sz="1050">
                <a:latin typeface="Reddit Sans"/>
                <a:ea typeface="Reddit Sans"/>
              </a:rPr>
              <a:t> </a:t>
            </a:r>
            <a:r>
              <a:rPr sz="1050" err="1">
                <a:latin typeface="Reddit Sans"/>
                <a:ea typeface="Reddit Sans"/>
              </a:rPr>
              <a:t>operación</a:t>
            </a:r>
            <a:r>
              <a:rPr sz="1050">
                <a:latin typeface="Reddit Sans"/>
                <a:ea typeface="Reddit Sans"/>
              </a:rPr>
              <a:t> </a:t>
            </a:r>
            <a:r>
              <a:rPr sz="1050" err="1">
                <a:latin typeface="Reddit Sans"/>
                <a:ea typeface="Reddit Sans"/>
              </a:rPr>
              <a:t>estandarizada</a:t>
            </a:r>
            <a:r>
              <a:rPr sz="1050">
                <a:latin typeface="Reddit Sans"/>
                <a:ea typeface="Reddit Sans"/>
              </a:rPr>
              <a:t>, </a:t>
            </a:r>
            <a:r>
              <a:rPr sz="1050" err="1">
                <a:latin typeface="Reddit Sans"/>
                <a:ea typeface="Reddit Sans"/>
              </a:rPr>
              <a:t>automatizada</a:t>
            </a:r>
            <a:r>
              <a:rPr sz="1050">
                <a:latin typeface="Reddit Sans"/>
                <a:ea typeface="Reddit Sans"/>
              </a:rPr>
              <a:t>, </a:t>
            </a:r>
            <a:r>
              <a:rPr sz="1050" err="1">
                <a:latin typeface="Reddit Sans"/>
                <a:ea typeface="Reddit Sans"/>
              </a:rPr>
              <a:t>medible</a:t>
            </a:r>
            <a:r>
              <a:rPr sz="1050">
                <a:latin typeface="Reddit Sans"/>
                <a:ea typeface="Reddit Sans"/>
              </a:rPr>
              <a:t> y </a:t>
            </a:r>
            <a:r>
              <a:rPr sz="1050" err="1">
                <a:latin typeface="Reddit Sans"/>
                <a:ea typeface="Reddit Sans"/>
              </a:rPr>
              <a:t>habilitada</a:t>
            </a:r>
            <a:r>
              <a:rPr sz="1050">
                <a:latin typeface="Reddit Sans"/>
                <a:ea typeface="Reddit Sans"/>
              </a:rPr>
              <a:t> </a:t>
            </a:r>
            <a:r>
              <a:rPr sz="1050" err="1">
                <a:latin typeface="Reddit Sans"/>
                <a:ea typeface="Reddit Sans"/>
              </a:rPr>
              <a:t>por</a:t>
            </a:r>
            <a:r>
              <a:rPr sz="1050">
                <a:latin typeface="Reddit Sans"/>
                <a:ea typeface="Reddit Sans"/>
              </a:rPr>
              <a:t> IA.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4A00E2-8AA6-B2EC-C394-830FBBB47CA4}"/>
              </a:ext>
            </a:extLst>
          </p:cNvPr>
          <p:cNvSpPr txBox="1"/>
          <p:nvPr/>
        </p:nvSpPr>
        <p:spPr>
          <a:xfrm>
            <a:off x="419100" y="541564"/>
            <a:ext cx="457200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1000">
                <a:solidFill>
                  <a:srgbClr val="6E6E6E"/>
                </a:solidFill>
                <a:latin typeface="Reddit Sans"/>
                <a:ea typeface="Reddit Sans"/>
              </a:rPr>
              <a:t>Principales brechas en el modelo operativo </a:t>
            </a:r>
            <a:r>
              <a:rPr lang="es-CO" sz="1000" b="0" i="0" u="none" strike="noStrike" baseline="0">
                <a:solidFill>
                  <a:srgbClr val="6E6E6E"/>
                </a:solidFill>
                <a:latin typeface="Reddit Sans"/>
                <a:ea typeface="Reddit Sans"/>
              </a:rPr>
              <a:t>actual</a:t>
            </a:r>
            <a:endParaRPr lang="es-CO" sz="1000">
              <a:latin typeface="Reddit Sans"/>
              <a:ea typeface="Reddit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 txBox="1">
            <a:spLocks noGrp="1"/>
          </p:cNvSpPr>
          <p:nvPr>
            <p:ph type="title"/>
          </p:nvPr>
        </p:nvSpPr>
        <p:spPr>
          <a:xfrm>
            <a:off x="359550" y="404904"/>
            <a:ext cx="39645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>
              <a:buClr>
                <a:schemeClr val="dk1"/>
              </a:buClr>
              <a:buSzPct val="54999"/>
            </a:pPr>
            <a:r>
              <a:rPr lang="es" sz="1800">
                <a:solidFill>
                  <a:srgbClr val="263474"/>
                </a:solidFill>
                <a:sym typeface="Reddit Sans Medium"/>
              </a:rPr>
              <a:t>Mesas de Servicio Actuales</a:t>
            </a:r>
            <a:endParaRPr>
              <a:latin typeface="Reddit Sans" pitchFamily="2" charset="0"/>
              <a:ea typeface="Reddit Sans" pitchFamily="2" charset="0"/>
            </a:endParaRPr>
          </a:p>
        </p:txBody>
      </p:sp>
      <p:sp>
        <p:nvSpPr>
          <p:cNvPr id="146" name="Google Shape;146;p5"/>
          <p:cNvSpPr txBox="1">
            <a:spLocks noGrp="1"/>
          </p:cNvSpPr>
          <p:nvPr>
            <p:ph type="title" idx="2"/>
          </p:nvPr>
        </p:nvSpPr>
        <p:spPr>
          <a:xfrm>
            <a:off x="463050" y="1464657"/>
            <a:ext cx="3757500" cy="19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s"/>
              <a:t>Nuestros Operación Actual</a:t>
            </a:r>
          </a:p>
        </p:txBody>
      </p:sp>
      <p:cxnSp>
        <p:nvCxnSpPr>
          <p:cNvPr id="147" name="Google Shape;147;p5"/>
          <p:cNvCxnSpPr/>
          <p:nvPr/>
        </p:nvCxnSpPr>
        <p:spPr>
          <a:xfrm rot="10800000" flipH="1">
            <a:off x="442269" y="612577"/>
            <a:ext cx="8103300" cy="28800"/>
          </a:xfrm>
          <a:prstGeom prst="straightConnector1">
            <a:avLst/>
          </a:prstGeom>
          <a:noFill/>
          <a:ln w="19050" cap="flat" cmpd="sng">
            <a:solidFill>
              <a:srgbClr val="0E337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5495EA2D-6DD3-3FCA-401B-6EC35075AA0A}"/>
              </a:ext>
            </a:extLst>
          </p:cNvPr>
          <p:cNvSpPr txBox="1"/>
          <p:nvPr/>
        </p:nvSpPr>
        <p:spPr>
          <a:xfrm>
            <a:off x="4844143" y="797380"/>
            <a:ext cx="3695702" cy="39626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1875"/>
              </a:lnSpc>
            </a:pPr>
            <a:r>
              <a:rPr lang="es-ES" sz="1100" b="1" i="0" u="none" strike="noStrike" baseline="0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Banca y Seguros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SURA, Bancolombia ·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Especialización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: continuidad de canales transaccionales, cumplimiento SFC/SOX,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gestión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de fraude en tiempo real y BCP/DRP.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1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Energía</a:t>
            </a:r>
            <a:r>
              <a:rPr lang="es-ES" sz="1100" b="1" i="0" u="none" strike="noStrike" baseline="0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 y </a:t>
            </a:r>
            <a:r>
              <a:rPr lang="es-ES" sz="1100" b="1" i="0" u="none" strike="noStrike" baseline="0" err="1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Utilities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XM, AES ·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Especialización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: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operación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critica 24x7, monitoreo de infraestructura y aplicaciones, </a:t>
            </a:r>
            <a:r>
              <a:rPr lang="es-ES" sz="1100" b="0" i="0" u="none" strike="noStrike" baseline="0" err="1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observabilidad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y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gestión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de eventos de alta criticidad.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1" i="0" u="none" strike="noStrike" baseline="0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Salud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Medicarte ·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Especialización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: continuidad asistencial,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protección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de datos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clínicos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(Habeas Data / Supersalud), interoperabilidad RIPS/PISIS y trazabilidad de historia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clínica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.</a:t>
            </a:r>
            <a:r>
              <a:rPr lang="es-E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ctr"/>
            <a:endParaRPr lang="es-E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57f5ba65c_1_28"/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rPr lang="es" err="1"/>
              <a:t>Roadmap</a:t>
            </a:r>
            <a:r>
              <a:rPr lang="es"/>
              <a:t> 2026</a:t>
            </a:r>
          </a:p>
        </p:txBody>
      </p:sp>
      <p:sp>
        <p:nvSpPr>
          <p:cNvPr id="125" name="Google Shape;125;g3657f5ba65c_1_28"/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/>
            <a:r>
              <a:rPr lang="es-ES"/>
              <a:t>Mesas de Servicios de Nueva Generación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AAA57A6C-32F2-75F4-88EA-B8E0A09981D4}"/>
              </a:ext>
            </a:extLst>
          </p:cNvPr>
          <p:cNvSpPr/>
          <p:nvPr/>
        </p:nvSpPr>
        <p:spPr>
          <a:xfrm>
            <a:off x="429645" y="664927"/>
            <a:ext cx="8643938" cy="21498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693"/>
              </a:lnSpc>
              <a:spcBef>
                <a:spcPts val="650"/>
              </a:spcBef>
            </a:pPr>
            <a:r>
              <a:rPr lang="en-US" sz="12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Hoja de Ruta </a:t>
            </a:r>
            <a:r>
              <a:rPr lang="en-US" sz="12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hacia</a:t>
            </a:r>
            <a:r>
              <a:rPr lang="en-US" sz="12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12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una</a:t>
            </a:r>
            <a:r>
              <a:rPr lang="en-US" sz="12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Mesa de Servicio Optima</a:t>
            </a:r>
            <a:endParaRPr lang="en-US" sz="1200">
              <a:latin typeface="Reddit Sans"/>
              <a:ea typeface="Reddit Sans"/>
            </a:endParaRPr>
          </a:p>
        </p:txBody>
      </p:sp>
      <p:pic>
        <p:nvPicPr>
          <p:cNvPr id="6" name="Image 0" descr="-5107849e.png">
            <a:extLst>
              <a:ext uri="{FF2B5EF4-FFF2-40B4-BE49-F238E27FC236}">
                <a16:creationId xmlns:a16="http://schemas.microsoft.com/office/drawing/2014/main" id="{025A2F5B-4420-8B7D-A5CD-CD10AC42B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531" y="1383804"/>
            <a:ext cx="1800225" cy="892969"/>
          </a:xfrm>
          <a:prstGeom prst="rect">
            <a:avLst/>
          </a:prstGeom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2B7F3142-1B3C-F53E-4B3E-7B21A44A2ACF}"/>
              </a:ext>
            </a:extLst>
          </p:cNvPr>
          <p:cNvSpPr/>
          <p:nvPr/>
        </p:nvSpPr>
        <p:spPr>
          <a:xfrm>
            <a:off x="469106" y="1668471"/>
            <a:ext cx="1514475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35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N1 </a:t>
            </a:r>
            <a:endParaRPr lang="en-US" sz="1013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1350" kern="0" spc="-81" dirty="0" err="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Inicial</a:t>
            </a:r>
            <a:r>
              <a:rPr lang="en-US" kern="0" spc="-81" dirty="0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 (ad-hoc)</a:t>
            </a:r>
            <a:endParaRPr lang="en-US" sz="1000" dirty="0" err="1">
              <a:latin typeface="Reddit Sans"/>
              <a:ea typeface="Reddit Sans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DB0E0144-FE35-46F9-4A8B-187F695CCC76}"/>
              </a:ext>
            </a:extLst>
          </p:cNvPr>
          <p:cNvSpPr/>
          <p:nvPr/>
        </p:nvSpPr>
        <p:spPr>
          <a:xfrm>
            <a:off x="538843" y="2374888"/>
            <a:ext cx="1552181" cy="9772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539"/>
              </a:lnSpc>
            </a:pP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Enfoque reactivo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total; alto riesgo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operativo debido a la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alta rotación de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personal.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7830D6CD-2965-65C2-C44F-73D909086768}"/>
              </a:ext>
            </a:extLst>
          </p:cNvPr>
          <p:cNvSpPr/>
          <p:nvPr/>
        </p:nvSpPr>
        <p:spPr>
          <a:xfrm>
            <a:off x="1046049" y="1205210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08ECD"/>
            </a:solidFill>
            <a:prstDash val="solid"/>
            <a:miter lim="800000"/>
          </a:ln>
        </p:spPr>
      </p:sp>
      <p:pic>
        <p:nvPicPr>
          <p:cNvPr id="14" name="Image 1" descr="3c0be2e2.png">
            <a:extLst>
              <a:ext uri="{FF2B5EF4-FFF2-40B4-BE49-F238E27FC236}">
                <a16:creationId xmlns:a16="http://schemas.microsoft.com/office/drawing/2014/main" id="{2BAEFFC3-BBC3-4F56-0BB0-1AB1DC8D3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376" y="1300088"/>
            <a:ext cx="150019" cy="171450"/>
          </a:xfrm>
          <a:prstGeom prst="rect">
            <a:avLst/>
          </a:prstGeom>
        </p:spPr>
      </p:pic>
      <p:pic>
        <p:nvPicPr>
          <p:cNvPr id="16" name="Image 2" descr="-664449e.png">
            <a:extLst>
              <a:ext uri="{FF2B5EF4-FFF2-40B4-BE49-F238E27FC236}">
                <a16:creationId xmlns:a16="http://schemas.microsoft.com/office/drawing/2014/main" id="{4FA09899-345D-B4C2-9FC3-93F74178DF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881" y="1383804"/>
            <a:ext cx="1800225" cy="892969"/>
          </a:xfrm>
          <a:prstGeom prst="rect">
            <a:avLst/>
          </a:prstGeom>
        </p:spPr>
      </p:pic>
      <p:sp>
        <p:nvSpPr>
          <p:cNvPr id="18" name="Text 5">
            <a:extLst>
              <a:ext uri="{FF2B5EF4-FFF2-40B4-BE49-F238E27FC236}">
                <a16:creationId xmlns:a16="http://schemas.microsoft.com/office/drawing/2014/main" id="{A44D84DC-C0F1-0569-CFE0-09EC7CC1CCB3}"/>
              </a:ext>
            </a:extLst>
          </p:cNvPr>
          <p:cNvSpPr/>
          <p:nvPr/>
        </p:nvSpPr>
        <p:spPr>
          <a:xfrm>
            <a:off x="2231912" y="1670000"/>
            <a:ext cx="1300163" cy="3949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35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N2</a:t>
            </a:r>
            <a:br>
              <a:rPr lang="en-US" sz="135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</a:br>
            <a:r>
              <a:rPr lang="en-US" sz="135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Administrado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2785EF54-D1E2-0161-32A0-B1DFB63A88B2}"/>
              </a:ext>
            </a:extLst>
          </p:cNvPr>
          <p:cNvSpPr/>
          <p:nvPr/>
        </p:nvSpPr>
        <p:spPr>
          <a:xfrm>
            <a:off x="2196193" y="2374888"/>
            <a:ext cx="1564794" cy="117269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539"/>
              </a:lnSpc>
            </a:pP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Procesos ejecutados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localmente; uso de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herramientas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principalmente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como bitácoras de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registro.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0C2E1FBF-E2B1-DCBF-083D-7CB44AFF58B9}"/>
              </a:ext>
            </a:extLst>
          </p:cNvPr>
          <p:cNvSpPr/>
          <p:nvPr/>
        </p:nvSpPr>
        <p:spPr>
          <a:xfrm>
            <a:off x="2703399" y="1205210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875A3"/>
            </a:solidFill>
            <a:prstDash val="solid"/>
            <a:miter lim="800000"/>
          </a:ln>
        </p:spPr>
      </p:sp>
      <p:pic>
        <p:nvPicPr>
          <p:cNvPr id="24" name="Image 3" descr="327946a2.png">
            <a:extLst>
              <a:ext uri="{FF2B5EF4-FFF2-40B4-BE49-F238E27FC236}">
                <a16:creationId xmlns:a16="http://schemas.microsoft.com/office/drawing/2014/main" id="{3DAAC64B-07A8-B167-0972-44DA0BFF36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0252" y="1301135"/>
            <a:ext cx="128588" cy="164306"/>
          </a:xfrm>
          <a:prstGeom prst="rect">
            <a:avLst/>
          </a:prstGeom>
        </p:spPr>
      </p:pic>
      <p:pic>
        <p:nvPicPr>
          <p:cNvPr id="26" name="Image 4" descr="-63bd839e.png">
            <a:extLst>
              <a:ext uri="{FF2B5EF4-FFF2-40B4-BE49-F238E27FC236}">
                <a16:creationId xmlns:a16="http://schemas.microsoft.com/office/drawing/2014/main" id="{0F7F6763-F632-B591-CFCC-533414C1BA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9231" y="1383804"/>
            <a:ext cx="1800225" cy="892969"/>
          </a:xfrm>
          <a:prstGeom prst="rect">
            <a:avLst/>
          </a:prstGeom>
        </p:spPr>
      </p:pic>
      <p:sp>
        <p:nvSpPr>
          <p:cNvPr id="28" name="Text 8">
            <a:extLst>
              <a:ext uri="{FF2B5EF4-FFF2-40B4-BE49-F238E27FC236}">
                <a16:creationId xmlns:a16="http://schemas.microsoft.com/office/drawing/2014/main" id="{E16478B5-9185-1FAB-1BFF-09DDB5386380}"/>
              </a:ext>
            </a:extLst>
          </p:cNvPr>
          <p:cNvSpPr/>
          <p:nvPr/>
        </p:nvSpPr>
        <p:spPr>
          <a:xfrm>
            <a:off x="3965462" y="1668471"/>
            <a:ext cx="1300163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35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N3 </a:t>
            </a:r>
            <a:endParaRPr lang="en-US" sz="1013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135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Definido</a:t>
            </a:r>
            <a:endParaRPr lang="en-US" sz="1000" err="1">
              <a:latin typeface="Reddit Sans"/>
              <a:ea typeface="Reddit Sans"/>
            </a:endParaRPr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BA595339-8B98-A293-5C7E-2FCFAC6424A2}"/>
              </a:ext>
            </a:extLst>
          </p:cNvPr>
          <p:cNvSpPr/>
          <p:nvPr/>
        </p:nvSpPr>
        <p:spPr>
          <a:xfrm>
            <a:off x="3853543" y="2374888"/>
            <a:ext cx="1517913" cy="136814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539"/>
              </a:lnSpc>
            </a:pP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Procesos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estandarizados a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nivel organizacional;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implementación de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RACI, ANS y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Catálogo de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Servicios.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32" name="Shape 10">
            <a:extLst>
              <a:ext uri="{FF2B5EF4-FFF2-40B4-BE49-F238E27FC236}">
                <a16:creationId xmlns:a16="http://schemas.microsoft.com/office/drawing/2014/main" id="{5AD75E81-2F9A-CC01-4969-9BD06029BBE4}"/>
              </a:ext>
            </a:extLst>
          </p:cNvPr>
          <p:cNvSpPr/>
          <p:nvPr/>
        </p:nvSpPr>
        <p:spPr>
          <a:xfrm>
            <a:off x="4360749" y="1205210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46086"/>
            </a:solidFill>
            <a:prstDash val="solid"/>
            <a:miter lim="800000"/>
          </a:ln>
        </p:spPr>
      </p:sp>
      <p:pic>
        <p:nvPicPr>
          <p:cNvPr id="34" name="Image 5" descr="-26c90fde.png">
            <a:extLst>
              <a:ext uri="{FF2B5EF4-FFF2-40B4-BE49-F238E27FC236}">
                <a16:creationId xmlns:a16="http://schemas.microsoft.com/office/drawing/2014/main" id="{6A814EFE-248D-AE88-5C21-920E62BE27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1442" y="1295903"/>
            <a:ext cx="178594" cy="178594"/>
          </a:xfrm>
          <a:prstGeom prst="rect">
            <a:avLst/>
          </a:prstGeom>
        </p:spPr>
      </p:pic>
      <p:pic>
        <p:nvPicPr>
          <p:cNvPr id="36" name="Image 6" descr="-5a47b8de.png">
            <a:extLst>
              <a:ext uri="{FF2B5EF4-FFF2-40B4-BE49-F238E27FC236}">
                <a16:creationId xmlns:a16="http://schemas.microsoft.com/office/drawing/2014/main" id="{B585481D-9680-20D6-619C-7D836A7A1F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6581" y="1383804"/>
            <a:ext cx="1800225" cy="892969"/>
          </a:xfrm>
          <a:prstGeom prst="rect">
            <a:avLst/>
          </a:prstGeom>
        </p:spPr>
      </p:pic>
      <p:sp>
        <p:nvSpPr>
          <p:cNvPr id="38" name="Text 11">
            <a:extLst>
              <a:ext uri="{FF2B5EF4-FFF2-40B4-BE49-F238E27FC236}">
                <a16:creationId xmlns:a16="http://schemas.microsoft.com/office/drawing/2014/main" id="{6C33AB01-C07A-8656-D5BE-7DE50DE1CC15}"/>
              </a:ext>
            </a:extLst>
          </p:cNvPr>
          <p:cNvSpPr/>
          <p:nvPr/>
        </p:nvSpPr>
        <p:spPr>
          <a:xfrm>
            <a:off x="5546612" y="1670000"/>
            <a:ext cx="1300163" cy="3949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35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N4</a:t>
            </a:r>
            <a:br>
              <a:rPr lang="en-US" sz="135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</a:br>
            <a:r>
              <a:rPr lang="en-US" sz="135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Cuantitativo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40" name="Text 12">
            <a:extLst>
              <a:ext uri="{FF2B5EF4-FFF2-40B4-BE49-F238E27FC236}">
                <a16:creationId xmlns:a16="http://schemas.microsoft.com/office/drawing/2014/main" id="{07E30602-2173-2EE9-432A-6A9A28EEFCB5}"/>
              </a:ext>
            </a:extLst>
          </p:cNvPr>
          <p:cNvSpPr/>
          <p:nvPr/>
        </p:nvSpPr>
        <p:spPr>
          <a:xfrm>
            <a:off x="5510893" y="2374888"/>
            <a:ext cx="1541354" cy="9772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539"/>
              </a:lnSpc>
            </a:pP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Gestión basada en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datos reales;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medición precisa del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costo por ticket y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rendimiento.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42" name="Shape 13">
            <a:extLst>
              <a:ext uri="{FF2B5EF4-FFF2-40B4-BE49-F238E27FC236}">
                <a16:creationId xmlns:a16="http://schemas.microsoft.com/office/drawing/2014/main" id="{D69523D0-8F13-6DAA-9641-7DB56C402C36}"/>
              </a:ext>
            </a:extLst>
          </p:cNvPr>
          <p:cNvSpPr/>
          <p:nvPr/>
        </p:nvSpPr>
        <p:spPr>
          <a:xfrm>
            <a:off x="6018099" y="1205210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F4A68"/>
            </a:solidFill>
            <a:prstDash val="solid"/>
            <a:miter lim="800000"/>
          </a:ln>
        </p:spPr>
      </p:sp>
      <p:pic>
        <p:nvPicPr>
          <p:cNvPr id="44" name="Image 7" descr="-38c1a09e.png">
            <a:extLst>
              <a:ext uri="{FF2B5EF4-FFF2-40B4-BE49-F238E27FC236}">
                <a16:creationId xmlns:a16="http://schemas.microsoft.com/office/drawing/2014/main" id="{A0A0F9AD-C340-CEAA-304F-D2A531547EE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5535" y="1323110"/>
            <a:ext cx="142875" cy="121444"/>
          </a:xfrm>
          <a:prstGeom prst="rect">
            <a:avLst/>
          </a:prstGeom>
        </p:spPr>
      </p:pic>
      <p:pic>
        <p:nvPicPr>
          <p:cNvPr id="46" name="Image 8" descr="213ef762.png">
            <a:extLst>
              <a:ext uri="{FF2B5EF4-FFF2-40B4-BE49-F238E27FC236}">
                <a16:creationId xmlns:a16="http://schemas.microsoft.com/office/drawing/2014/main" id="{19FA836F-0F22-CD69-D6C6-A760FA03FC1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53931" y="1383804"/>
            <a:ext cx="1800225" cy="892969"/>
          </a:xfrm>
          <a:prstGeom prst="rect">
            <a:avLst/>
          </a:prstGeom>
        </p:spPr>
      </p:pic>
      <p:sp>
        <p:nvSpPr>
          <p:cNvPr id="48" name="Text 14">
            <a:extLst>
              <a:ext uri="{FF2B5EF4-FFF2-40B4-BE49-F238E27FC236}">
                <a16:creationId xmlns:a16="http://schemas.microsoft.com/office/drawing/2014/main" id="{7B511D7F-7B49-579D-3BF1-D899571FB036}"/>
              </a:ext>
            </a:extLst>
          </p:cNvPr>
          <p:cNvSpPr/>
          <p:nvPr/>
        </p:nvSpPr>
        <p:spPr>
          <a:xfrm>
            <a:off x="7301934" y="1668471"/>
            <a:ext cx="1300163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35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N5 </a:t>
            </a:r>
            <a:endParaRPr lang="en-US" sz="1013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135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Optimizado</a:t>
            </a:r>
            <a:endParaRPr lang="en-US" sz="1000" err="1">
              <a:latin typeface="Reddit Sans"/>
              <a:ea typeface="Reddit Sans"/>
            </a:endParaRPr>
          </a:p>
        </p:txBody>
      </p:sp>
      <p:sp>
        <p:nvSpPr>
          <p:cNvPr id="50" name="Text 15">
            <a:extLst>
              <a:ext uri="{FF2B5EF4-FFF2-40B4-BE49-F238E27FC236}">
                <a16:creationId xmlns:a16="http://schemas.microsoft.com/office/drawing/2014/main" id="{574307D0-96AF-295B-3AD4-C71772235FD5}"/>
              </a:ext>
            </a:extLst>
          </p:cNvPr>
          <p:cNvSpPr/>
          <p:nvPr/>
        </p:nvSpPr>
        <p:spPr>
          <a:xfrm>
            <a:off x="7168244" y="2374888"/>
            <a:ext cx="1563677" cy="9772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539"/>
              </a:lnSpc>
            </a:pP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Foco en la mejora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continua; integración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de sistemas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automatizados y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autónomos.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3F73D084-F2D1-9FE2-155F-A5B29A764FC7}"/>
              </a:ext>
            </a:extLst>
          </p:cNvPr>
          <p:cNvSpPr/>
          <p:nvPr/>
        </p:nvSpPr>
        <p:spPr>
          <a:xfrm>
            <a:off x="7675449" y="1205210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chemeClr val="accent5">
                <a:lumMod val="40000"/>
                <a:lumOff val="60000"/>
              </a:schemeClr>
            </a:solidFill>
            <a:prstDash val="solid"/>
            <a:miter lim="800000"/>
          </a:ln>
        </p:spPr>
      </p:sp>
      <p:pic>
        <p:nvPicPr>
          <p:cNvPr id="54" name="Image 9" descr="0-42f65e.png">
            <a:extLst>
              <a:ext uri="{FF2B5EF4-FFF2-40B4-BE49-F238E27FC236}">
                <a16:creationId xmlns:a16="http://schemas.microsoft.com/office/drawing/2014/main" id="{9904F87E-5766-FFA3-616F-BE1F470CEB1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78699" y="1310554"/>
            <a:ext cx="150019" cy="150019"/>
          </a:xfrm>
          <a:prstGeom prst="rect">
            <a:avLst/>
          </a:prstGeom>
        </p:spPr>
      </p:pic>
      <p:sp>
        <p:nvSpPr>
          <p:cNvPr id="56" name="Titulo">
            <a:extLst>
              <a:ext uri="{FF2B5EF4-FFF2-40B4-BE49-F238E27FC236}">
                <a16:creationId xmlns:a16="http://schemas.microsoft.com/office/drawing/2014/main" id="{51019247-4535-AC63-A22B-9B9685D1D887}"/>
              </a:ext>
            </a:extLst>
          </p:cNvPr>
          <p:cNvSpPr txBox="1">
            <a:spLocks/>
          </p:cNvSpPr>
          <p:nvPr/>
        </p:nvSpPr>
        <p:spPr>
          <a:xfrm>
            <a:off x="340500" y="200392"/>
            <a:ext cx="8211000" cy="5727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1600" b="1">
                <a:solidFill>
                  <a:srgbClr val="0E337C"/>
                </a:solidFill>
                <a:latin typeface="Reddit Sans"/>
                <a:ea typeface="Reddit Sans"/>
              </a:rPr>
              <a:t>N</a:t>
            </a:r>
            <a:r>
              <a:rPr lang="es-ES" sz="1600" b="1">
                <a:solidFill>
                  <a:srgbClr val="0E337C"/>
                </a:solidFill>
                <a:latin typeface="Reddit Sans"/>
                <a:ea typeface="Reddit Sans"/>
                <a:sym typeface="Reddit Sans"/>
              </a:rPr>
              <a:t>ivel de Madurez de las Mesas de Servicio – A dónde queremos llegar</a:t>
            </a:r>
          </a:p>
        </p:txBody>
      </p:sp>
      <p:sp>
        <p:nvSpPr>
          <p:cNvPr id="58" name="modelo reactivo">
            <a:extLst>
              <a:ext uri="{FF2B5EF4-FFF2-40B4-BE49-F238E27FC236}">
                <a16:creationId xmlns:a16="http://schemas.microsoft.com/office/drawing/2014/main" id="{1B3F5D90-A9DD-AA8E-5717-437F49F01ED9}"/>
              </a:ext>
            </a:extLst>
          </p:cNvPr>
          <p:cNvSpPr txBox="1"/>
          <p:nvPr/>
        </p:nvSpPr>
        <p:spPr>
          <a:xfrm>
            <a:off x="419101" y="3782786"/>
            <a:ext cx="2682879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91425" tIns="91425" rIns="91425" bIns="91425" anchor="ctr"/>
          <a:lstStyle/>
          <a:p>
            <a:pPr algn="ctr">
              <a:buNone/>
            </a:pPr>
            <a:r>
              <a:rPr lang="es" sz="1000" b="1">
                <a:solidFill>
                  <a:srgbClr val="633806"/>
                </a:solidFill>
                <a:latin typeface="Reddit Sans"/>
                <a:ea typeface="Reddit Sans"/>
              </a:rPr>
              <a:t>Reactivo y Crecimiento Automatizado</a:t>
            </a:r>
          </a:p>
        </p:txBody>
      </p:sp>
      <p:sp>
        <p:nvSpPr>
          <p:cNvPr id="60" name="modelo predictivo">
            <a:extLst>
              <a:ext uri="{FF2B5EF4-FFF2-40B4-BE49-F238E27FC236}">
                <a16:creationId xmlns:a16="http://schemas.microsoft.com/office/drawing/2014/main" id="{D958AA7E-C7E0-1C6C-4E73-F7B12B60E0C0}"/>
              </a:ext>
            </a:extLst>
          </p:cNvPr>
          <p:cNvSpPr txBox="1"/>
          <p:nvPr/>
        </p:nvSpPr>
        <p:spPr>
          <a:xfrm>
            <a:off x="3219451" y="3782786"/>
            <a:ext cx="2682879" cy="457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1425" tIns="91425" rIns="91425" bIns="91425" anchor="ctr"/>
          <a:lstStyle/>
          <a:p>
            <a:pPr algn="ctr">
              <a:buNone/>
            </a:pPr>
            <a:r>
              <a:rPr lang="es" sz="1000" b="1">
                <a:solidFill>
                  <a:srgbClr val="0E337C"/>
                </a:solidFill>
                <a:latin typeface="Reddit Sans"/>
                <a:ea typeface="Reddit Sans"/>
              </a:rPr>
              <a:t>Predictivo y Evolutivo</a:t>
            </a:r>
          </a:p>
        </p:txBody>
      </p:sp>
      <p:sp>
        <p:nvSpPr>
          <p:cNvPr id="62" name="modelo autonomo">
            <a:extLst>
              <a:ext uri="{FF2B5EF4-FFF2-40B4-BE49-F238E27FC236}">
                <a16:creationId xmlns:a16="http://schemas.microsoft.com/office/drawing/2014/main" id="{9C3E79B6-7E49-442E-1A5D-A95BFAC020A4}"/>
              </a:ext>
            </a:extLst>
          </p:cNvPr>
          <p:cNvSpPr txBox="1"/>
          <p:nvPr/>
        </p:nvSpPr>
        <p:spPr>
          <a:xfrm>
            <a:off x="6019801" y="3782786"/>
            <a:ext cx="2683629" cy="457200"/>
          </a:xfrm>
          <a:prstGeom prst="rect">
            <a:avLst/>
          </a:prstGeom>
          <a:solidFill>
            <a:srgbClr val="215578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lIns="91425" tIns="91425" rIns="91425" bIns="91425" anchor="ctr"/>
          <a:lstStyle/>
          <a:p>
            <a:pPr algn="ctr">
              <a:buNone/>
            </a:pPr>
            <a:r>
              <a:rPr lang="es" sz="1000" b="1">
                <a:solidFill>
                  <a:schemeClr val="bg1"/>
                </a:solidFill>
                <a:latin typeface="Reddit Sans"/>
                <a:ea typeface="Reddit Sans"/>
              </a:rPr>
              <a:t>Autónomo e Inteligente</a:t>
            </a:r>
            <a:endParaRPr lang="es" sz="1000" b="1">
              <a:solidFill>
                <a:schemeClr val="bg1"/>
              </a:solidFill>
              <a:latin typeface="Reddit Sans"/>
              <a:ea typeface="Reddit San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50392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9B3F8-F6E6-BAD1-E2A6-02EAC1C66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53">
            <a:extLst>
              <a:ext uri="{FF2B5EF4-FFF2-40B4-BE49-F238E27FC236}">
                <a16:creationId xmlns:a16="http://schemas.microsoft.com/office/drawing/2014/main" id="{DAB75E3A-25F9-CD28-DF18-093D1347404F}"/>
              </a:ext>
            </a:extLst>
          </p:cNvPr>
          <p:cNvSpPr/>
          <p:nvPr/>
        </p:nvSpPr>
        <p:spPr>
          <a:xfrm>
            <a:off x="8116389" y="4657779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6B7280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11 / 12</a:t>
            </a:r>
            <a:endParaRPr lang="en-US" sz="800">
              <a:latin typeface="Reddit Sans" panose="020B0604020202020204" charset="0"/>
              <a:ea typeface="Reddit Sans" panose="020B0604020202020204" charset="0"/>
            </a:endParaRPr>
          </a:p>
        </p:txBody>
      </p:sp>
      <p:pic>
        <p:nvPicPr>
          <p:cNvPr id="4" name="Image 0" descr="-5107849e.png">
            <a:extLst>
              <a:ext uri="{FF2B5EF4-FFF2-40B4-BE49-F238E27FC236}">
                <a16:creationId xmlns:a16="http://schemas.microsoft.com/office/drawing/2014/main" id="{28A82C43-E3C6-C6CD-BAC6-F81E06F09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302" y="1737590"/>
            <a:ext cx="1587953" cy="892969"/>
          </a:xfrm>
          <a:prstGeom prst="rect">
            <a:avLst/>
          </a:prstGeom>
        </p:spPr>
      </p:pic>
      <p:sp>
        <p:nvSpPr>
          <p:cNvPr id="18" name="Shape 4">
            <a:extLst>
              <a:ext uri="{FF2B5EF4-FFF2-40B4-BE49-F238E27FC236}">
                <a16:creationId xmlns:a16="http://schemas.microsoft.com/office/drawing/2014/main" id="{F0C4D562-BBCB-B7C0-4400-98FB4BD2D720}"/>
              </a:ext>
            </a:extLst>
          </p:cNvPr>
          <p:cNvSpPr/>
          <p:nvPr/>
        </p:nvSpPr>
        <p:spPr>
          <a:xfrm>
            <a:off x="1067820" y="1558996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08ECD"/>
            </a:solidFill>
            <a:prstDash val="solid"/>
            <a:miter lim="800000"/>
          </a:ln>
        </p:spPr>
      </p:sp>
      <p:pic>
        <p:nvPicPr>
          <p:cNvPr id="26" name="Image 1" descr="3c0be2e2.png">
            <a:extLst>
              <a:ext uri="{FF2B5EF4-FFF2-40B4-BE49-F238E27FC236}">
                <a16:creationId xmlns:a16="http://schemas.microsoft.com/office/drawing/2014/main" id="{A674CBB6-8DD1-14B6-CCC7-EC33E782E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147" y="1653874"/>
            <a:ext cx="150019" cy="171450"/>
          </a:xfrm>
          <a:prstGeom prst="rect">
            <a:avLst/>
          </a:prstGeom>
        </p:spPr>
      </p:pic>
      <p:pic>
        <p:nvPicPr>
          <p:cNvPr id="30" name="Image 2" descr="-664449e.png">
            <a:extLst>
              <a:ext uri="{FF2B5EF4-FFF2-40B4-BE49-F238E27FC236}">
                <a16:creationId xmlns:a16="http://schemas.microsoft.com/office/drawing/2014/main" id="{1F13A14C-37E0-CE3B-9F72-1DB8E0C237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3866" y="1737590"/>
            <a:ext cx="1587953" cy="892969"/>
          </a:xfrm>
          <a:prstGeom prst="rect">
            <a:avLst/>
          </a:prstGeom>
        </p:spPr>
      </p:pic>
      <p:sp>
        <p:nvSpPr>
          <p:cNvPr id="55" name="Text 5">
            <a:extLst>
              <a:ext uri="{FF2B5EF4-FFF2-40B4-BE49-F238E27FC236}">
                <a16:creationId xmlns:a16="http://schemas.microsoft.com/office/drawing/2014/main" id="{5DF28F97-723F-C4DB-468E-C7C0CB50E22F}"/>
              </a:ext>
            </a:extLst>
          </p:cNvPr>
          <p:cNvSpPr/>
          <p:nvPr/>
        </p:nvSpPr>
        <p:spPr>
          <a:xfrm>
            <a:off x="3380355" y="2023786"/>
            <a:ext cx="1300163" cy="3949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350" kern="0" spc="-81" dirty="0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N2</a:t>
            </a:r>
            <a:br>
              <a:rPr lang="en-US" sz="1350" kern="0" spc="-81" dirty="0">
                <a:latin typeface="Reddit Sans"/>
                <a:ea typeface="Reddit Sans"/>
                <a:cs typeface="Inter SemiBold" pitchFamily="34" charset="-120"/>
              </a:rPr>
            </a:br>
            <a:r>
              <a:rPr lang="en-US" sz="1350" kern="0" spc="-81" dirty="0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Administrado</a:t>
            </a:r>
            <a:r>
              <a:rPr lang="en-US" kern="0" spc="-81" dirty="0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 </a:t>
            </a:r>
            <a:r>
              <a:rPr lang="en-US" sz="1000" kern="0" spc="-81" dirty="0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(</a:t>
            </a:r>
            <a:r>
              <a:rPr lang="en-US" sz="1000" kern="0" spc="-81" dirty="0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Repetible</a:t>
            </a:r>
            <a:r>
              <a:rPr lang="en-US" sz="1000" kern="0" spc="-81" dirty="0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)</a:t>
            </a:r>
            <a:endParaRPr lang="en-US" sz="1000" dirty="0">
              <a:latin typeface="Reddit Sans"/>
              <a:ea typeface="Reddit Sans"/>
            </a:endParaRPr>
          </a:p>
        </p:txBody>
      </p:sp>
      <p:sp>
        <p:nvSpPr>
          <p:cNvPr id="57" name="Shape 7">
            <a:extLst>
              <a:ext uri="{FF2B5EF4-FFF2-40B4-BE49-F238E27FC236}">
                <a16:creationId xmlns:a16="http://schemas.microsoft.com/office/drawing/2014/main" id="{FD8B39D4-C8B2-E74C-26AB-ACD88FE59515}"/>
              </a:ext>
            </a:extLst>
          </p:cNvPr>
          <p:cNvSpPr/>
          <p:nvPr/>
        </p:nvSpPr>
        <p:spPr>
          <a:xfrm>
            <a:off x="3922599" y="1558996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875A3"/>
            </a:solidFill>
            <a:prstDash val="solid"/>
            <a:miter lim="800000"/>
          </a:ln>
        </p:spPr>
      </p:sp>
      <p:pic>
        <p:nvPicPr>
          <p:cNvPr id="59" name="Image 3" descr="327946a2.png">
            <a:extLst>
              <a:ext uri="{FF2B5EF4-FFF2-40B4-BE49-F238E27FC236}">
                <a16:creationId xmlns:a16="http://schemas.microsoft.com/office/drawing/2014/main" id="{FB5A92C4-8F66-9AAA-69E2-390963ABE9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9452" y="1654921"/>
            <a:ext cx="128588" cy="164306"/>
          </a:xfrm>
          <a:prstGeom prst="rect">
            <a:avLst/>
          </a:prstGeom>
        </p:spPr>
      </p:pic>
      <p:pic>
        <p:nvPicPr>
          <p:cNvPr id="61" name="Image 4" descr="-63bd839e.png">
            <a:extLst>
              <a:ext uri="{FF2B5EF4-FFF2-40B4-BE49-F238E27FC236}">
                <a16:creationId xmlns:a16="http://schemas.microsoft.com/office/drawing/2014/main" id="{BE029EAD-2420-5D09-340A-4230612EDA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6288" y="1737590"/>
            <a:ext cx="1587953" cy="892969"/>
          </a:xfrm>
          <a:prstGeom prst="rect">
            <a:avLst/>
          </a:prstGeom>
        </p:spPr>
      </p:pic>
      <p:sp>
        <p:nvSpPr>
          <p:cNvPr id="63" name="Text 8">
            <a:extLst>
              <a:ext uri="{FF2B5EF4-FFF2-40B4-BE49-F238E27FC236}">
                <a16:creationId xmlns:a16="http://schemas.microsoft.com/office/drawing/2014/main" id="{82F79720-243B-C485-D65F-3CFA0FFF7672}"/>
              </a:ext>
            </a:extLst>
          </p:cNvPr>
          <p:cNvSpPr/>
          <p:nvPr/>
        </p:nvSpPr>
        <p:spPr>
          <a:xfrm>
            <a:off x="4819991" y="2022257"/>
            <a:ext cx="1300163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35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N3 </a:t>
            </a:r>
            <a:endParaRPr lang="en-US" sz="1013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1350" kern="0" spc="-81" dirty="0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Definido</a:t>
            </a:r>
            <a:r>
              <a:rPr lang="en-US" kern="0" spc="-81" dirty="0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 </a:t>
            </a:r>
            <a:r>
              <a:rPr lang="en-US" sz="1000" kern="0" spc="-81" dirty="0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(</a:t>
            </a:r>
            <a:r>
              <a:rPr lang="en-US" sz="1000" kern="0" spc="-81" dirty="0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Estandarizado</a:t>
            </a:r>
            <a:r>
              <a:rPr lang="en-US" sz="1000" kern="0" spc="-81" dirty="0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)</a:t>
            </a:r>
            <a:endParaRPr lang="en-US" sz="1000" dirty="0" err="1">
              <a:latin typeface="Reddit Sans"/>
              <a:ea typeface="Reddit Sans"/>
            </a:endParaRPr>
          </a:p>
        </p:txBody>
      </p:sp>
      <p:sp>
        <p:nvSpPr>
          <p:cNvPr id="65" name="Shape 10">
            <a:extLst>
              <a:ext uri="{FF2B5EF4-FFF2-40B4-BE49-F238E27FC236}">
                <a16:creationId xmlns:a16="http://schemas.microsoft.com/office/drawing/2014/main" id="{21FD19DC-D90C-6EC9-6E4F-5BEDF21DF408}"/>
              </a:ext>
            </a:extLst>
          </p:cNvPr>
          <p:cNvSpPr/>
          <p:nvPr/>
        </p:nvSpPr>
        <p:spPr>
          <a:xfrm>
            <a:off x="5318692" y="1558996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46086"/>
            </a:solidFill>
            <a:prstDash val="solid"/>
            <a:miter lim="800000"/>
          </a:ln>
        </p:spPr>
      </p:sp>
      <p:pic>
        <p:nvPicPr>
          <p:cNvPr id="67" name="Image 5" descr="-26c90fde.png">
            <a:extLst>
              <a:ext uri="{FF2B5EF4-FFF2-40B4-BE49-F238E27FC236}">
                <a16:creationId xmlns:a16="http://schemas.microsoft.com/office/drawing/2014/main" id="{B762074A-AAB6-4547-B8EE-8780C8481E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9385" y="1649689"/>
            <a:ext cx="178594" cy="178594"/>
          </a:xfrm>
          <a:prstGeom prst="rect">
            <a:avLst/>
          </a:prstGeom>
        </p:spPr>
      </p:pic>
      <p:pic>
        <p:nvPicPr>
          <p:cNvPr id="69" name="Image 6" descr="-5a47b8de.png">
            <a:extLst>
              <a:ext uri="{FF2B5EF4-FFF2-40B4-BE49-F238E27FC236}">
                <a16:creationId xmlns:a16="http://schemas.microsoft.com/office/drawing/2014/main" id="{13BE99D7-74B0-2391-0FBD-845DA3B4F6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8709" y="1737590"/>
            <a:ext cx="1587953" cy="892969"/>
          </a:xfrm>
          <a:prstGeom prst="rect">
            <a:avLst/>
          </a:prstGeom>
        </p:spPr>
      </p:pic>
      <p:sp>
        <p:nvSpPr>
          <p:cNvPr id="71" name="Text 11">
            <a:extLst>
              <a:ext uri="{FF2B5EF4-FFF2-40B4-BE49-F238E27FC236}">
                <a16:creationId xmlns:a16="http://schemas.microsoft.com/office/drawing/2014/main" id="{923C29D6-5D27-7DC6-4DBE-60F29FCE2D59}"/>
              </a:ext>
            </a:extLst>
          </p:cNvPr>
          <p:cNvSpPr/>
          <p:nvPr/>
        </p:nvSpPr>
        <p:spPr>
          <a:xfrm>
            <a:off x="6194312" y="2023786"/>
            <a:ext cx="1300163" cy="3949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350" kern="0" spc="-81" dirty="0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N4</a:t>
            </a:r>
            <a:br>
              <a:rPr lang="en-US" sz="1350" kern="0" spc="-81" dirty="0">
                <a:latin typeface="Reddit Sans"/>
                <a:ea typeface="Reddit Sans"/>
                <a:cs typeface="Inter SemiBold" pitchFamily="34" charset="-120"/>
              </a:rPr>
            </a:br>
            <a:r>
              <a:rPr lang="en-US" sz="1350" kern="0" spc="-81" dirty="0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Cuantitativo</a:t>
            </a:r>
            <a:r>
              <a:rPr lang="en-US" kern="0" spc="-81" dirty="0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 </a:t>
            </a:r>
            <a:endParaRPr lang="en-US" sz="1000" dirty="0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1000" kern="0" spc="-81" dirty="0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(</a:t>
            </a:r>
            <a:r>
              <a:rPr lang="en-US" sz="1000" kern="0" spc="-81" dirty="0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Medido</a:t>
            </a:r>
            <a:r>
              <a:rPr lang="en-US" sz="1000" kern="0" spc="-81" dirty="0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)</a:t>
            </a:r>
            <a:endParaRPr lang="en-US" sz="1000" dirty="0">
              <a:latin typeface="Reddit Sans"/>
              <a:ea typeface="Reddit Sans"/>
            </a:endParaRPr>
          </a:p>
        </p:txBody>
      </p:sp>
      <p:sp>
        <p:nvSpPr>
          <p:cNvPr id="73" name="Shape 13">
            <a:extLst>
              <a:ext uri="{FF2B5EF4-FFF2-40B4-BE49-F238E27FC236}">
                <a16:creationId xmlns:a16="http://schemas.microsoft.com/office/drawing/2014/main" id="{EAE13724-053A-BD9A-CCE1-974841A3BA84}"/>
              </a:ext>
            </a:extLst>
          </p:cNvPr>
          <p:cNvSpPr/>
          <p:nvPr/>
        </p:nvSpPr>
        <p:spPr>
          <a:xfrm>
            <a:off x="6731113" y="1558996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F4A68"/>
            </a:solidFill>
            <a:prstDash val="solid"/>
            <a:miter lim="800000"/>
          </a:ln>
        </p:spPr>
      </p:sp>
      <p:pic>
        <p:nvPicPr>
          <p:cNvPr id="75" name="Image 7" descr="-38c1a09e.png">
            <a:extLst>
              <a:ext uri="{FF2B5EF4-FFF2-40B4-BE49-F238E27FC236}">
                <a16:creationId xmlns:a16="http://schemas.microsoft.com/office/drawing/2014/main" id="{AF53E443-8DCE-DF12-6949-7E648F53C7B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38549" y="1676896"/>
            <a:ext cx="142875" cy="121444"/>
          </a:xfrm>
          <a:prstGeom prst="rect">
            <a:avLst/>
          </a:prstGeom>
        </p:spPr>
      </p:pic>
      <p:pic>
        <p:nvPicPr>
          <p:cNvPr id="77" name="Image 8" descr="213ef762.png">
            <a:extLst>
              <a:ext uri="{FF2B5EF4-FFF2-40B4-BE49-F238E27FC236}">
                <a16:creationId xmlns:a16="http://schemas.microsoft.com/office/drawing/2014/main" id="{04243153-891A-29F4-1B88-B88850432D7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05687" y="1737590"/>
            <a:ext cx="1593396" cy="892969"/>
          </a:xfrm>
          <a:prstGeom prst="rect">
            <a:avLst/>
          </a:prstGeom>
        </p:spPr>
      </p:pic>
      <p:sp>
        <p:nvSpPr>
          <p:cNvPr id="79" name="Text 14">
            <a:extLst>
              <a:ext uri="{FF2B5EF4-FFF2-40B4-BE49-F238E27FC236}">
                <a16:creationId xmlns:a16="http://schemas.microsoft.com/office/drawing/2014/main" id="{98771CCD-97D5-379D-8D6C-BAA750BCE49B}"/>
              </a:ext>
            </a:extLst>
          </p:cNvPr>
          <p:cNvSpPr/>
          <p:nvPr/>
        </p:nvSpPr>
        <p:spPr>
          <a:xfrm>
            <a:off x="7672048" y="2022257"/>
            <a:ext cx="1300163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35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N5 </a:t>
            </a:r>
            <a:endParaRPr lang="en-US" sz="1013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1350" kern="0" spc="-81" dirty="0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Optimizado</a:t>
            </a:r>
            <a:r>
              <a:rPr lang="en-US" kern="0" spc="-81" dirty="0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 </a:t>
            </a:r>
            <a:r>
              <a:rPr lang="en-US" sz="1000" kern="0" spc="-81" dirty="0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(</a:t>
            </a:r>
            <a:r>
              <a:rPr lang="en-US" sz="1000" kern="0" spc="-81" dirty="0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Innovación</a:t>
            </a:r>
            <a:r>
              <a:rPr lang="en-US" sz="1000" kern="0" spc="-81" dirty="0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)</a:t>
            </a:r>
            <a:endParaRPr lang="en-US" sz="1000" dirty="0" err="1">
              <a:latin typeface="Reddit Sans"/>
              <a:ea typeface="Reddit Sans"/>
            </a:endParaRPr>
          </a:p>
        </p:txBody>
      </p:sp>
      <p:sp>
        <p:nvSpPr>
          <p:cNvPr id="81" name="Shape 16">
            <a:extLst>
              <a:ext uri="{FF2B5EF4-FFF2-40B4-BE49-F238E27FC236}">
                <a16:creationId xmlns:a16="http://schemas.microsoft.com/office/drawing/2014/main" id="{38987B1E-6DD7-970E-0FEB-10AF76909320}"/>
              </a:ext>
            </a:extLst>
          </p:cNvPr>
          <p:cNvSpPr/>
          <p:nvPr/>
        </p:nvSpPr>
        <p:spPr>
          <a:xfrm>
            <a:off x="8116320" y="1558996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chemeClr val="accent5">
                <a:lumMod val="40000"/>
                <a:lumOff val="60000"/>
              </a:schemeClr>
            </a:solidFill>
            <a:prstDash val="solid"/>
            <a:miter lim="800000"/>
          </a:ln>
        </p:spPr>
      </p:sp>
      <p:pic>
        <p:nvPicPr>
          <p:cNvPr id="83" name="Image 9" descr="0-42f65e.png">
            <a:extLst>
              <a:ext uri="{FF2B5EF4-FFF2-40B4-BE49-F238E27FC236}">
                <a16:creationId xmlns:a16="http://schemas.microsoft.com/office/drawing/2014/main" id="{33A8465C-B0B1-510B-1801-04A57CC9FEB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19570" y="1664340"/>
            <a:ext cx="150019" cy="150019"/>
          </a:xfrm>
          <a:prstGeom prst="rect">
            <a:avLst/>
          </a:prstGeom>
        </p:spPr>
      </p:pic>
      <p:pic>
        <p:nvPicPr>
          <p:cNvPr id="84" name="Image 2" descr="-664449e.png">
            <a:extLst>
              <a:ext uri="{FF2B5EF4-FFF2-40B4-BE49-F238E27FC236}">
                <a16:creationId xmlns:a16="http://schemas.microsoft.com/office/drawing/2014/main" id="{2A88DC55-04E6-F620-17B1-89D9F39C16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9609" y="1737590"/>
            <a:ext cx="1587953" cy="892969"/>
          </a:xfrm>
          <a:prstGeom prst="rect">
            <a:avLst/>
          </a:prstGeom>
        </p:spPr>
      </p:pic>
      <p:sp>
        <p:nvSpPr>
          <p:cNvPr id="85" name="Shape 7">
            <a:extLst>
              <a:ext uri="{FF2B5EF4-FFF2-40B4-BE49-F238E27FC236}">
                <a16:creationId xmlns:a16="http://schemas.microsoft.com/office/drawing/2014/main" id="{53543F60-C102-3C33-EF36-AE86EA803AD0}"/>
              </a:ext>
            </a:extLst>
          </p:cNvPr>
          <p:cNvSpPr/>
          <p:nvPr/>
        </p:nvSpPr>
        <p:spPr>
          <a:xfrm>
            <a:off x="2387713" y="1537224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875A3"/>
            </a:solidFill>
            <a:prstDash val="solid"/>
            <a:miter lim="800000"/>
          </a:ln>
        </p:spPr>
      </p:sp>
      <p:pic>
        <p:nvPicPr>
          <p:cNvPr id="86" name="Image 3" descr="327946a2.png">
            <a:extLst>
              <a:ext uri="{FF2B5EF4-FFF2-40B4-BE49-F238E27FC236}">
                <a16:creationId xmlns:a16="http://schemas.microsoft.com/office/drawing/2014/main" id="{5C861F17-BA45-B4AB-A8CD-5767C29200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4566" y="1633149"/>
            <a:ext cx="128588" cy="164306"/>
          </a:xfrm>
          <a:prstGeom prst="rect">
            <a:avLst/>
          </a:prstGeom>
        </p:spPr>
      </p:pic>
      <p:sp>
        <p:nvSpPr>
          <p:cNvPr id="10" name="Text 2">
            <a:extLst>
              <a:ext uri="{FF2B5EF4-FFF2-40B4-BE49-F238E27FC236}">
                <a16:creationId xmlns:a16="http://schemas.microsoft.com/office/drawing/2014/main" id="{779D3D85-E7C1-EF5B-F7ED-4F5AF8C77598}"/>
              </a:ext>
            </a:extLst>
          </p:cNvPr>
          <p:cNvSpPr/>
          <p:nvPr/>
        </p:nvSpPr>
        <p:spPr>
          <a:xfrm>
            <a:off x="1846148" y="1989600"/>
            <a:ext cx="1514475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35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N1 </a:t>
            </a:r>
            <a:endParaRPr lang="en-US" sz="1013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1350" kern="0" spc="-81" dirty="0" err="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Inicial</a:t>
            </a:r>
            <a:r>
              <a:rPr lang="en-US" kern="0" spc="-81" dirty="0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 </a:t>
            </a:r>
            <a:endParaRPr lang="en-US" sz="1000" dirty="0" err="1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100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(ad-hoc)</a:t>
            </a:r>
            <a:endParaRPr lang="en-US" sz="1000">
              <a:latin typeface="Reddit Sans"/>
              <a:ea typeface="Reddit Sans"/>
            </a:endParaRPr>
          </a:p>
        </p:txBody>
      </p:sp>
      <p:sp>
        <p:nvSpPr>
          <p:cNvPr id="87" name="Text 2">
            <a:extLst>
              <a:ext uri="{FF2B5EF4-FFF2-40B4-BE49-F238E27FC236}">
                <a16:creationId xmlns:a16="http://schemas.microsoft.com/office/drawing/2014/main" id="{35C07F31-663C-02DC-57E2-69D87BA37C94}"/>
              </a:ext>
            </a:extLst>
          </p:cNvPr>
          <p:cNvSpPr/>
          <p:nvPr/>
        </p:nvSpPr>
        <p:spPr>
          <a:xfrm>
            <a:off x="420118" y="2022256"/>
            <a:ext cx="1509033" cy="55124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N0</a:t>
            </a:r>
            <a:endParaRPr lang="en-US" sz="1013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kern="0" spc="-81" dirty="0" err="1">
                <a:solidFill>
                  <a:srgbClr val="333333"/>
                </a:solidFill>
                <a:latin typeface="Reddit Sans"/>
                <a:ea typeface="Reddit Sans"/>
              </a:rPr>
              <a:t>Autoservicio</a:t>
            </a:r>
            <a:r>
              <a:rPr lang="en-US" kern="0" spc="-81" dirty="0">
                <a:solidFill>
                  <a:srgbClr val="333333"/>
                </a:solidFill>
                <a:latin typeface="Reddit Sans"/>
                <a:ea typeface="Reddit Sans"/>
              </a:rPr>
              <a:t> </a:t>
            </a:r>
          </a:p>
          <a:p>
            <a:pPr algn="ctr">
              <a:lnSpc>
                <a:spcPts val="1556"/>
              </a:lnSpc>
            </a:pPr>
            <a:r>
              <a:rPr lang="en-US" sz="1000" kern="0" spc="-81" dirty="0">
                <a:solidFill>
                  <a:srgbClr val="333333"/>
                </a:solidFill>
                <a:latin typeface="Reddit Sans"/>
                <a:ea typeface="Reddit Sans"/>
              </a:rPr>
              <a:t>(Base de </a:t>
            </a:r>
            <a:r>
              <a:rPr lang="en-US" sz="1000" kern="0" spc="-81" dirty="0" err="1">
                <a:solidFill>
                  <a:srgbClr val="333333"/>
                </a:solidFill>
                <a:latin typeface="Reddit Sans"/>
                <a:ea typeface="Reddit Sans"/>
              </a:rPr>
              <a:t>Conocimiento</a:t>
            </a:r>
            <a:r>
              <a:rPr lang="en-US" sz="1000" kern="0" spc="-81" dirty="0">
                <a:solidFill>
                  <a:srgbClr val="333333"/>
                </a:solidFill>
                <a:latin typeface="Reddit Sans"/>
                <a:ea typeface="Reddit Sans"/>
              </a:rPr>
              <a:t>)</a:t>
            </a:r>
            <a:endParaRPr lang="en-US"/>
          </a:p>
        </p:txBody>
      </p:sp>
      <p:sp>
        <p:nvSpPr>
          <p:cNvPr id="89" name="Text 3">
            <a:extLst>
              <a:ext uri="{FF2B5EF4-FFF2-40B4-BE49-F238E27FC236}">
                <a16:creationId xmlns:a16="http://schemas.microsoft.com/office/drawing/2014/main" id="{F2FF73B3-1390-A22D-2CBB-8FA99D797BF5}"/>
              </a:ext>
            </a:extLst>
          </p:cNvPr>
          <p:cNvSpPr/>
          <p:nvPr/>
        </p:nvSpPr>
        <p:spPr>
          <a:xfrm>
            <a:off x="420121" y="3043302"/>
            <a:ext cx="1168174" cy="1460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51"/>
              </a:lnSpc>
            </a:pPr>
            <a:r>
              <a:rPr lang="en-US" sz="1013" kern="0" spc="-31" dirty="0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N0 - Autoservicio</a:t>
            </a:r>
            <a:endParaRPr lang="en-US" sz="1013" dirty="0">
              <a:latin typeface="Reddit Sans"/>
              <a:ea typeface="Reddit Sans"/>
            </a:endParaRPr>
          </a:p>
        </p:txBody>
      </p:sp>
      <p:sp>
        <p:nvSpPr>
          <p:cNvPr id="91" name="Text 4">
            <a:extLst>
              <a:ext uri="{FF2B5EF4-FFF2-40B4-BE49-F238E27FC236}">
                <a16:creationId xmlns:a16="http://schemas.microsoft.com/office/drawing/2014/main" id="{BCD4A989-F3C9-74F4-B3A1-776A44C3F5BA}"/>
              </a:ext>
            </a:extLst>
          </p:cNvPr>
          <p:cNvSpPr/>
          <p:nvPr/>
        </p:nvSpPr>
        <p:spPr>
          <a:xfrm>
            <a:off x="485435" y="3522979"/>
            <a:ext cx="1157289" cy="97008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39"/>
              </a:lnSpc>
              <a:spcBef>
                <a:spcPts val="349"/>
              </a:spcBef>
            </a:pPr>
            <a:r>
              <a:rPr lang="en-US" sz="700" kern="0" spc="-34" dirty="0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Empoderamiento</a:t>
            </a:r>
            <a:r>
              <a:rPr lang="en-US" sz="700" kern="0" spc="-34" dirty="0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del </a:t>
            </a:r>
            <a:r>
              <a:rPr lang="en-US" sz="700" kern="0" spc="-34" dirty="0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usuario</a:t>
            </a:r>
            <a:br>
              <a:rPr lang="en-US" sz="700" kern="0" spc="-34" dirty="0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</a:br>
            <a:r>
              <a:rPr lang="en-US" sz="700" kern="0" spc="-34" dirty="0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mediante</a:t>
            </a:r>
            <a:r>
              <a:rPr lang="en-US" sz="700" kern="0" spc="-34" dirty="0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700" kern="0" spc="-34" dirty="0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portales</a:t>
            </a:r>
            <a:r>
              <a:rPr lang="en-US" sz="700" kern="0" spc="-34" dirty="0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de</a:t>
            </a:r>
            <a:br>
              <a:rPr lang="en-US" sz="700" kern="0" spc="-34" dirty="0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</a:br>
            <a:r>
              <a:rPr lang="en-US" sz="700" kern="0" spc="-34" dirty="0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conocimiento</a:t>
            </a:r>
            <a:r>
              <a:rPr lang="en-US" sz="700" kern="0" spc="-34" dirty="0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y</a:t>
            </a:r>
            <a:br>
              <a:rPr lang="en-US" sz="700" kern="0" spc="-34" dirty="0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</a:br>
            <a:r>
              <a:rPr lang="en-US" sz="700" kern="0" spc="-34" dirty="0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automatización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. Portal de autoservicio, base de conocimiento, FAQ, chatbot, IA generativa.</a:t>
            </a:r>
            <a:endParaRPr lang="en-US" sz="700" kern="0" spc="-34" dirty="0">
              <a:solidFill>
                <a:srgbClr val="000000">
                  <a:alpha val="64999"/>
                </a:srgbClr>
              </a:solidFill>
              <a:latin typeface="Reddit Sans"/>
              <a:ea typeface="Reddit Sans"/>
            </a:endParaRPr>
          </a:p>
          <a:p>
            <a:pPr algn="ctr">
              <a:lnSpc>
                <a:spcPts val="1139"/>
              </a:lnSpc>
              <a:spcBef>
                <a:spcPts val="349"/>
              </a:spcBef>
            </a:pPr>
            <a:endParaRPr lang="en-US" sz="700" kern="0" spc="-34" dirty="0">
              <a:solidFill>
                <a:srgbClr val="000000">
                  <a:alpha val="64999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93" name="Text 6">
            <a:extLst>
              <a:ext uri="{FF2B5EF4-FFF2-40B4-BE49-F238E27FC236}">
                <a16:creationId xmlns:a16="http://schemas.microsoft.com/office/drawing/2014/main" id="{62F9342F-4771-9447-1B13-EB610D36734E}"/>
              </a:ext>
            </a:extLst>
          </p:cNvPr>
          <p:cNvSpPr/>
          <p:nvPr/>
        </p:nvSpPr>
        <p:spPr>
          <a:xfrm>
            <a:off x="1681503" y="3037859"/>
            <a:ext cx="1168174" cy="1460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51"/>
              </a:lnSpc>
            </a:pPr>
            <a:r>
              <a:rPr lang="en-US" sz="10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N1 - Service Desk / Call Center</a:t>
            </a:r>
            <a:endParaRPr lang="en-US" sz="1013" dirty="0">
              <a:latin typeface="Reddit Sans"/>
              <a:ea typeface="Reddit Sans"/>
            </a:endParaRPr>
          </a:p>
        </p:txBody>
      </p:sp>
      <p:sp>
        <p:nvSpPr>
          <p:cNvPr id="95" name="Text 7">
            <a:extLst>
              <a:ext uri="{FF2B5EF4-FFF2-40B4-BE49-F238E27FC236}">
                <a16:creationId xmlns:a16="http://schemas.microsoft.com/office/drawing/2014/main" id="{E94328EF-E313-6F3C-1B6C-123BAA19D77A}"/>
              </a:ext>
            </a:extLst>
          </p:cNvPr>
          <p:cNvSpPr/>
          <p:nvPr/>
        </p:nvSpPr>
        <p:spPr>
          <a:xfrm>
            <a:off x="1735931" y="3522979"/>
            <a:ext cx="1168174" cy="57819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39"/>
              </a:lnSpc>
              <a:spcBef>
                <a:spcPts val="349"/>
              </a:spcBef>
            </a:pPr>
            <a:r>
              <a:rPr lang="en-US" sz="700" kern="0" spc="-34" dirty="0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Primer </a:t>
            </a:r>
            <a:r>
              <a:rPr lang="en-US" sz="700" kern="0" spc="-34" dirty="0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nivel</a:t>
            </a:r>
            <a:r>
              <a:rPr lang="en-US" sz="700" kern="0" spc="-34" dirty="0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de </a:t>
            </a:r>
            <a:r>
              <a:rPr lang="en-US" sz="700" kern="0" spc="-34" dirty="0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contacto</a:t>
            </a:r>
            <a:r>
              <a:rPr lang="en-US" sz="700" kern="0" spc="-34" dirty="0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;</a:t>
            </a:r>
            <a:br>
              <a:rPr lang="en-US" sz="700" kern="0" spc="-34" dirty="0"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 dirty="0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resolución</a:t>
            </a:r>
            <a:r>
              <a:rPr lang="en-US" sz="700" kern="0" spc="-34" dirty="0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de </a:t>
            </a:r>
            <a:r>
              <a:rPr lang="en-US" sz="700" kern="0" spc="-34" dirty="0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incidencias</a:t>
            </a:r>
            <a:br>
              <a:rPr lang="en-US" sz="700" kern="0" spc="-34" dirty="0"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 dirty="0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comunes</a:t>
            </a:r>
            <a:r>
              <a:rPr lang="en-US" sz="700" kern="0" spc="-34" dirty="0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y </a:t>
            </a:r>
            <a:r>
              <a:rPr lang="en-US" sz="700" kern="0" spc="-34" dirty="0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gestión</a:t>
            </a:r>
            <a:r>
              <a:rPr lang="en-US" sz="700" kern="0" spc="-34" dirty="0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de</a:t>
            </a:r>
            <a:br>
              <a:rPr lang="en-US" sz="700" kern="0" spc="-34" dirty="0"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 dirty="0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peticiones</a:t>
            </a:r>
            <a:r>
              <a:rPr lang="en-US" sz="700" kern="0" spc="-34" dirty="0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(</a:t>
            </a:r>
            <a:r>
              <a:rPr lang="en-US" sz="700" kern="0" spc="-34" dirty="0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registro</a:t>
            </a:r>
            <a:r>
              <a:rPr lang="en-US" sz="700" kern="0" spc="-34" dirty="0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de tickets).</a:t>
            </a:r>
            <a:endParaRPr lang="en-US" sz="700" dirty="0">
              <a:solidFill>
                <a:srgbClr val="000000">
                  <a:alpha val="64999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97" name="Text 9">
            <a:extLst>
              <a:ext uri="{FF2B5EF4-FFF2-40B4-BE49-F238E27FC236}">
                <a16:creationId xmlns:a16="http://schemas.microsoft.com/office/drawing/2014/main" id="{37490370-97BA-0714-A222-17496C8769A9}"/>
              </a:ext>
            </a:extLst>
          </p:cNvPr>
          <p:cNvSpPr/>
          <p:nvPr/>
        </p:nvSpPr>
        <p:spPr>
          <a:xfrm>
            <a:off x="3187814" y="3021530"/>
            <a:ext cx="1168174" cy="1460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51"/>
              </a:lnSpc>
            </a:pPr>
            <a:r>
              <a:rPr lang="en-US" sz="1000" kern="0" spc="-31" dirty="0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N2 - </a:t>
            </a:r>
            <a:r>
              <a:rPr lang="en-US" sz="1000" kern="0" spc="-31" dirty="0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Soporte</a:t>
            </a:r>
            <a:r>
              <a:rPr lang="en-US" sz="1000" kern="0" spc="-31" dirty="0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 </a:t>
            </a:r>
            <a:r>
              <a:rPr lang="en-US" sz="1000" kern="0" spc="-31" dirty="0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Especializado</a:t>
            </a:r>
            <a:endParaRPr lang="en-US" sz="1013" dirty="0" err="1">
              <a:latin typeface="Reddit Sans"/>
              <a:ea typeface="Reddit Sans"/>
            </a:endParaRPr>
          </a:p>
        </p:txBody>
      </p:sp>
      <p:sp>
        <p:nvSpPr>
          <p:cNvPr id="99" name="Text 10">
            <a:extLst>
              <a:ext uri="{FF2B5EF4-FFF2-40B4-BE49-F238E27FC236}">
                <a16:creationId xmlns:a16="http://schemas.microsoft.com/office/drawing/2014/main" id="{97C3240B-77E4-C022-93ED-8F91CC2B1840}"/>
              </a:ext>
            </a:extLst>
          </p:cNvPr>
          <p:cNvSpPr/>
          <p:nvPr/>
        </p:nvSpPr>
        <p:spPr>
          <a:xfrm>
            <a:off x="3187814" y="3522980"/>
            <a:ext cx="1277031" cy="91806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39"/>
              </a:lnSpc>
              <a:spcBef>
                <a:spcPts val="349"/>
              </a:spcBef>
            </a:pPr>
            <a:r>
              <a:rPr lang="en-US" sz="700" kern="0" spc="-34" dirty="0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Especialistas</a:t>
            </a:r>
            <a:r>
              <a:rPr lang="en-US" sz="700" kern="0" spc="-34" dirty="0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</a:t>
            </a:r>
            <a:r>
              <a:rPr lang="en-US" sz="700" kern="0" spc="-34" dirty="0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técnicos</a:t>
            </a:r>
            <a:r>
              <a:rPr lang="en-US" sz="700" kern="0" spc="-34" dirty="0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para la</a:t>
            </a:r>
            <a:br>
              <a:rPr lang="en-US" sz="700" kern="0" spc="-34" dirty="0"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 dirty="0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resolución</a:t>
            </a:r>
            <a:r>
              <a:rPr lang="en-US" sz="700" kern="0" spc="-34" dirty="0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de </a:t>
            </a:r>
            <a:r>
              <a:rPr lang="en-US" sz="700" kern="0" spc="-34" dirty="0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pr</a:t>
            </a:r>
            <a:r>
              <a:rPr lang="en-US" sz="700" kern="0" spc="-34" dirty="0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oblemas</a:t>
            </a:r>
            <a:r>
              <a:rPr lang="en-US" sz="700" kern="0" spc="-34" dirty="0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de</a:t>
            </a:r>
            <a:br>
              <a:rPr lang="en-US" sz="700" kern="0" spc="-34" dirty="0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</a:br>
            <a:r>
              <a:rPr lang="en-US" sz="700" kern="0" spc="-34" dirty="0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mayor </a:t>
            </a:r>
            <a:r>
              <a:rPr lang="en-US" sz="700" kern="0" spc="-34" dirty="0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complejidad</a:t>
            </a:r>
            <a:r>
              <a:rPr lang="en-US" sz="700" kern="0" spc="-34" dirty="0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. </a:t>
            </a:r>
            <a:r>
              <a:rPr lang="en-US" sz="700" kern="0" spc="-34" dirty="0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Equipos</a:t>
            </a:r>
            <a:r>
              <a:rPr lang="en-US" sz="700" kern="0" spc="-34" dirty="0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700" kern="0" spc="-34" dirty="0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técnicos</a:t>
            </a:r>
            <a:r>
              <a:rPr lang="en-US" sz="700" kern="0" spc="-34" dirty="0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con </a:t>
            </a:r>
            <a:r>
              <a:rPr lang="en-US" sz="700" kern="0" spc="-34" dirty="0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conocimientos</a:t>
            </a:r>
            <a:r>
              <a:rPr lang="en-US" sz="700" kern="0" spc="-34" dirty="0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700" kern="0" spc="-34" dirty="0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específicos</a:t>
            </a:r>
          </a:p>
          <a:p>
            <a:pPr algn="ctr">
              <a:lnSpc>
                <a:spcPts val="1139"/>
              </a:lnSpc>
              <a:spcBef>
                <a:spcPts val="349"/>
              </a:spcBef>
            </a:pPr>
            <a:r>
              <a:rPr lang="en-US" sz="700" kern="0" spc="-34" dirty="0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de </a:t>
            </a:r>
            <a:r>
              <a:rPr lang="en-US" sz="700" kern="0" spc="-34" dirty="0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aplicaciones</a:t>
            </a:r>
            <a:r>
              <a:rPr lang="en-US" sz="700" kern="0" spc="-34" dirty="0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, </a:t>
            </a:r>
            <a:r>
              <a:rPr lang="en-US" sz="700" kern="0" spc="-34" dirty="0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infraestructura</a:t>
            </a:r>
            <a:r>
              <a:rPr lang="en-US" sz="700" kern="0" spc="-34" dirty="0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o </a:t>
            </a:r>
            <a:r>
              <a:rPr lang="en-US" sz="700" kern="0" spc="-34" dirty="0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procesos</a:t>
            </a:r>
            <a:r>
              <a:rPr lang="en-US" sz="700" kern="0" spc="-34" dirty="0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.</a:t>
            </a:r>
          </a:p>
          <a:p>
            <a:pPr algn="ctr">
              <a:lnSpc>
                <a:spcPts val="1139"/>
              </a:lnSpc>
              <a:spcBef>
                <a:spcPts val="349"/>
              </a:spcBef>
            </a:pPr>
            <a:endParaRPr lang="en-US" sz="700" kern="0" spc="-34" dirty="0">
              <a:solidFill>
                <a:srgbClr val="000000">
                  <a:alpha val="64999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101" name="Text 12">
            <a:extLst>
              <a:ext uri="{FF2B5EF4-FFF2-40B4-BE49-F238E27FC236}">
                <a16:creationId xmlns:a16="http://schemas.microsoft.com/office/drawing/2014/main" id="{A9BCBE2F-4218-9ACB-DB9C-9B726C052719}"/>
              </a:ext>
            </a:extLst>
          </p:cNvPr>
          <p:cNvSpPr/>
          <p:nvPr/>
        </p:nvSpPr>
        <p:spPr>
          <a:xfrm>
            <a:off x="4585267" y="3021530"/>
            <a:ext cx="1168174" cy="29200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51"/>
              </a:lnSpc>
            </a:pPr>
            <a:r>
              <a:rPr lang="en-US" sz="1000" kern="0" spc="-31" dirty="0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N3 – </a:t>
            </a:r>
            <a:r>
              <a:rPr lang="en-US" sz="1000" kern="0" spc="-31" dirty="0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Soporte</a:t>
            </a:r>
            <a:r>
              <a:rPr lang="en-US" sz="1000" kern="0" spc="-31" dirty="0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 </a:t>
            </a:r>
            <a:r>
              <a:rPr lang="en-US" sz="1000" kern="0" spc="-31" dirty="0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Expertos</a:t>
            </a:r>
            <a:r>
              <a:rPr lang="en-US" sz="1000" kern="0" spc="-31" dirty="0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 (Nivel de</a:t>
            </a:r>
            <a:br>
              <a:rPr lang="en-US" sz="1000" kern="0" spc="-31" dirty="0">
                <a:latin typeface="Reddit Sans"/>
                <a:ea typeface="Reddit Sans"/>
                <a:cs typeface="Geist Semi Bold" pitchFamily="34" charset="-120"/>
              </a:rPr>
            </a:br>
            <a:r>
              <a:rPr lang="en-US" sz="1000" kern="0" spc="-31" dirty="0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Ingeniería)</a:t>
            </a:r>
            <a:endParaRPr lang="en-US" sz="1000" dirty="0">
              <a:latin typeface="Reddit Sans"/>
              <a:ea typeface="Reddit Sans"/>
            </a:endParaRPr>
          </a:p>
        </p:txBody>
      </p:sp>
      <p:sp>
        <p:nvSpPr>
          <p:cNvPr id="103" name="Text 13">
            <a:extLst>
              <a:ext uri="{FF2B5EF4-FFF2-40B4-BE49-F238E27FC236}">
                <a16:creationId xmlns:a16="http://schemas.microsoft.com/office/drawing/2014/main" id="{B1F36C76-C0F3-5C68-2A77-558B0B008630}"/>
              </a:ext>
            </a:extLst>
          </p:cNvPr>
          <p:cNvSpPr/>
          <p:nvPr/>
        </p:nvSpPr>
        <p:spPr>
          <a:xfrm>
            <a:off x="4603947" y="3522023"/>
            <a:ext cx="1174357" cy="101059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39"/>
              </a:lnSpc>
              <a:spcBef>
                <a:spcPts val="349"/>
              </a:spcBef>
            </a:pPr>
            <a:r>
              <a:rPr lang="en-US" sz="700" kern="0" spc="-34" dirty="0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Análisis</a:t>
            </a:r>
            <a:r>
              <a:rPr lang="en-US" sz="700" kern="0" spc="-34" dirty="0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profundo y </a:t>
            </a:r>
            <a:r>
              <a:rPr lang="en-US" sz="700" kern="0" spc="-34" dirty="0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resolució</a:t>
            </a:r>
            <a:r>
              <a:rPr lang="en-US" sz="700" kern="0" spc="-34" dirty="0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n</a:t>
            </a:r>
            <a:br>
              <a:rPr lang="en-US" sz="700" kern="0" spc="-34" dirty="0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</a:br>
            <a:r>
              <a:rPr lang="en-US" sz="700" kern="0" spc="-34" dirty="0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de </a:t>
            </a:r>
            <a:r>
              <a:rPr lang="en-US" sz="700" kern="0" spc="-34" dirty="0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fallos</a:t>
            </a:r>
            <a:r>
              <a:rPr lang="en-US" sz="700" kern="0" spc="-34" dirty="0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700" kern="0" spc="-34" dirty="0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críticos</a:t>
            </a:r>
            <a:r>
              <a:rPr lang="en-US" sz="700" kern="0" spc="-34" dirty="0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o </a:t>
            </a:r>
            <a:r>
              <a:rPr lang="en-US" sz="700" kern="0" spc="-34" dirty="0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incidentes</a:t>
            </a:r>
            <a:br>
              <a:rPr lang="en-US" sz="700" kern="0" spc="-34" dirty="0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</a:br>
            <a:r>
              <a:rPr lang="en-US" sz="700" kern="0" spc="-34" dirty="0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complejos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. Ingenieros senior, arquitectos o especialistas que resuelven problemas complejos y causa raíz.</a:t>
            </a:r>
            <a:endParaRPr lang="en-US" sz="700" kern="0" spc="-34" dirty="0">
              <a:solidFill>
                <a:srgbClr val="000000">
                  <a:alpha val="64999"/>
                </a:srgbClr>
              </a:solidFill>
              <a:latin typeface="Reddit Sans"/>
              <a:ea typeface="Reddit Sans"/>
            </a:endParaRPr>
          </a:p>
          <a:p>
            <a:pPr algn="ctr">
              <a:lnSpc>
                <a:spcPts val="1139"/>
              </a:lnSpc>
              <a:spcBef>
                <a:spcPts val="349"/>
              </a:spcBef>
            </a:pPr>
            <a:endParaRPr lang="en-US" sz="700" kern="0" spc="-34" dirty="0">
              <a:solidFill>
                <a:srgbClr val="000000">
                  <a:alpha val="64999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105" name="Text 15">
            <a:extLst>
              <a:ext uri="{FF2B5EF4-FFF2-40B4-BE49-F238E27FC236}">
                <a16:creationId xmlns:a16="http://schemas.microsoft.com/office/drawing/2014/main" id="{A42066F1-E260-A830-0FC4-F0D7BE34F845}"/>
              </a:ext>
            </a:extLst>
          </p:cNvPr>
          <p:cNvSpPr/>
          <p:nvPr/>
        </p:nvSpPr>
        <p:spPr>
          <a:xfrm>
            <a:off x="6042592" y="3021531"/>
            <a:ext cx="1168174" cy="1460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51"/>
              </a:lnSpc>
            </a:pPr>
            <a:r>
              <a:rPr lang="en-US" sz="1000" kern="0" spc="-31" dirty="0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N4 – Terceros (</a:t>
            </a:r>
            <a:r>
              <a:rPr lang="en-US" sz="1000" kern="0" spc="-31" dirty="0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Proveedor</a:t>
            </a:r>
            <a:r>
              <a:rPr lang="en-US" sz="1000" kern="0" spc="-31" dirty="0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 / Fabricante)</a:t>
            </a:r>
            <a:endParaRPr lang="en-US" sz="1013" dirty="0">
              <a:latin typeface="Reddit Sans"/>
              <a:ea typeface="Reddit Sans"/>
            </a:endParaRPr>
          </a:p>
        </p:txBody>
      </p:sp>
      <p:sp>
        <p:nvSpPr>
          <p:cNvPr id="107" name="Text 16">
            <a:extLst>
              <a:ext uri="{FF2B5EF4-FFF2-40B4-BE49-F238E27FC236}">
                <a16:creationId xmlns:a16="http://schemas.microsoft.com/office/drawing/2014/main" id="{8B48FAD4-7C5D-C451-9662-AE6726204DD7}"/>
              </a:ext>
            </a:extLst>
          </p:cNvPr>
          <p:cNvSpPr/>
          <p:nvPr/>
        </p:nvSpPr>
        <p:spPr>
          <a:xfrm>
            <a:off x="6086135" y="3522979"/>
            <a:ext cx="1168174" cy="57819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39"/>
              </a:lnSpc>
              <a:spcBef>
                <a:spcPts val="349"/>
              </a:spcBef>
            </a:pPr>
            <a:r>
              <a:rPr lang="en-US" sz="700" kern="0" spc="-34" dirty="0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Gestión de proveedores</a:t>
            </a:r>
            <a:br>
              <a:rPr lang="en-US" sz="700" kern="0" spc="-34" dirty="0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 dirty="0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externos y servicios</a:t>
            </a:r>
            <a:br>
              <a:rPr lang="en-US" sz="700" kern="0" spc="-34" dirty="0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 dirty="0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especializados fuera de la</a:t>
            </a:r>
            <a:br>
              <a:rPr lang="en-US" sz="700" kern="0" spc="-34" dirty="0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 dirty="0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organización.</a:t>
            </a:r>
            <a:endParaRPr lang="en-US" sz="700" dirty="0">
              <a:latin typeface="Reddit Sans"/>
              <a:ea typeface="Reddit Sans"/>
            </a:endParaRPr>
          </a:p>
        </p:txBody>
      </p:sp>
      <p:sp>
        <p:nvSpPr>
          <p:cNvPr id="112" name="Text 15">
            <a:extLst>
              <a:ext uri="{FF2B5EF4-FFF2-40B4-BE49-F238E27FC236}">
                <a16:creationId xmlns:a16="http://schemas.microsoft.com/office/drawing/2014/main" id="{7D187DF5-439C-F565-0F64-B429BB33A832}"/>
              </a:ext>
            </a:extLst>
          </p:cNvPr>
          <p:cNvSpPr/>
          <p:nvPr/>
        </p:nvSpPr>
        <p:spPr>
          <a:xfrm>
            <a:off x="7457734" y="3021530"/>
            <a:ext cx="1168174" cy="1460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51"/>
              </a:lnSpc>
            </a:pPr>
            <a:r>
              <a:rPr lang="en-US" sz="1000" kern="0" spc="-31" dirty="0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N5 – </a:t>
            </a:r>
            <a:r>
              <a:rPr lang="en-US" sz="1000" kern="0" spc="-31" dirty="0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Soporte</a:t>
            </a:r>
            <a:r>
              <a:rPr lang="en-US" sz="1000" kern="0" spc="-31" dirty="0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 </a:t>
            </a:r>
            <a:r>
              <a:rPr lang="en-US" sz="1000" kern="0" spc="-31" dirty="0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Autonomo</a:t>
            </a:r>
            <a:endParaRPr lang="en-US" sz="1013" dirty="0" err="1">
              <a:latin typeface="Reddit Sans"/>
              <a:ea typeface="Reddit Sans"/>
            </a:endParaRPr>
          </a:p>
        </p:txBody>
      </p:sp>
      <p:sp>
        <p:nvSpPr>
          <p:cNvPr id="113" name="Text 16">
            <a:extLst>
              <a:ext uri="{FF2B5EF4-FFF2-40B4-BE49-F238E27FC236}">
                <a16:creationId xmlns:a16="http://schemas.microsoft.com/office/drawing/2014/main" id="{912B63C2-055A-1F1D-198B-175975F73992}"/>
              </a:ext>
            </a:extLst>
          </p:cNvPr>
          <p:cNvSpPr/>
          <p:nvPr/>
        </p:nvSpPr>
        <p:spPr>
          <a:xfrm>
            <a:off x="7528493" y="3522979"/>
            <a:ext cx="1168174" cy="57819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</a:rPr>
              <a:t>IA, automatización, auto-remediación, AIOps y operaciones predictivas.</a:t>
            </a:r>
            <a:endParaRPr lang="es-ES" sz="700" kern="0" spc="-34">
              <a:solidFill>
                <a:srgbClr val="000000">
                  <a:alpha val="65000"/>
                </a:srgbClr>
              </a:solidFill>
              <a:latin typeface="Reddit Sans"/>
              <a:ea typeface="Reddit Sans"/>
            </a:endParaRPr>
          </a:p>
          <a:p>
            <a:pPr algn="ctr">
              <a:lnSpc>
                <a:spcPts val="1139"/>
              </a:lnSpc>
              <a:spcBef>
                <a:spcPts val="349"/>
              </a:spcBef>
            </a:pPr>
            <a:endParaRPr lang="en-US" sz="700" kern="0" spc="-34" dirty="0">
              <a:solidFill>
                <a:srgbClr val="000000">
                  <a:alpha val="65000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0B55AC2E-1F99-440A-C595-08997A02FCA5}"/>
              </a:ext>
            </a:extLst>
          </p:cNvPr>
          <p:cNvSpPr/>
          <p:nvPr/>
        </p:nvSpPr>
        <p:spPr>
          <a:xfrm>
            <a:off x="429645" y="664927"/>
            <a:ext cx="8643938" cy="21498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693"/>
              </a:lnSpc>
              <a:spcBef>
                <a:spcPts val="650"/>
              </a:spcBef>
            </a:pPr>
            <a:r>
              <a:rPr lang="en-US" sz="12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Hoja de Ruta </a:t>
            </a:r>
            <a:r>
              <a:rPr lang="en-US" sz="12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hacia</a:t>
            </a:r>
            <a:r>
              <a:rPr lang="en-US" sz="12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12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una</a:t>
            </a:r>
            <a:r>
              <a:rPr lang="en-US" sz="12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Mesa de Servicio Optima</a:t>
            </a:r>
            <a:endParaRPr lang="en-US" sz="1200">
              <a:latin typeface="Reddit Sans"/>
              <a:ea typeface="Reddit Sans"/>
            </a:endParaRPr>
          </a:p>
        </p:txBody>
      </p:sp>
      <p:sp>
        <p:nvSpPr>
          <p:cNvPr id="9" name="Titulo">
            <a:extLst>
              <a:ext uri="{FF2B5EF4-FFF2-40B4-BE49-F238E27FC236}">
                <a16:creationId xmlns:a16="http://schemas.microsoft.com/office/drawing/2014/main" id="{559C00E6-28C4-F4E7-6254-770B61ECB125}"/>
              </a:ext>
            </a:extLst>
          </p:cNvPr>
          <p:cNvSpPr txBox="1">
            <a:spLocks/>
          </p:cNvSpPr>
          <p:nvPr/>
        </p:nvSpPr>
        <p:spPr>
          <a:xfrm>
            <a:off x="356829" y="265706"/>
            <a:ext cx="8211000" cy="5727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1600" b="1">
                <a:solidFill>
                  <a:srgbClr val="0E337C"/>
                </a:solidFill>
                <a:latin typeface="Reddit Sans"/>
                <a:ea typeface="Reddit Sans"/>
              </a:rPr>
              <a:t>N</a:t>
            </a:r>
            <a:r>
              <a:rPr lang="es-ES" sz="1600" b="1">
                <a:solidFill>
                  <a:srgbClr val="0E337C"/>
                </a:solidFill>
                <a:latin typeface="Reddit Sans"/>
                <a:ea typeface="Reddit Sans"/>
                <a:sym typeface="Reddit Sans"/>
              </a:rPr>
              <a:t>ivel de Madurez de las Mesas de Servicio – A dónde queremos llegar</a:t>
            </a:r>
          </a:p>
        </p:txBody>
      </p:sp>
      <p:sp>
        <p:nvSpPr>
          <p:cNvPr id="12" name="modelo reactivo">
            <a:extLst>
              <a:ext uri="{FF2B5EF4-FFF2-40B4-BE49-F238E27FC236}">
                <a16:creationId xmlns:a16="http://schemas.microsoft.com/office/drawing/2014/main" id="{8F4CC718-2E8E-86BA-065B-7203DA818D05}"/>
              </a:ext>
            </a:extLst>
          </p:cNvPr>
          <p:cNvSpPr txBox="1"/>
          <p:nvPr/>
        </p:nvSpPr>
        <p:spPr>
          <a:xfrm>
            <a:off x="359230" y="1110342"/>
            <a:ext cx="2775407" cy="3701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91425" tIns="91425" rIns="91425" bIns="91425" anchor="ctr"/>
          <a:lstStyle/>
          <a:p>
            <a:pPr algn="ctr">
              <a:buNone/>
            </a:pPr>
            <a:r>
              <a:rPr lang="es" sz="1000" b="1">
                <a:solidFill>
                  <a:srgbClr val="633806"/>
                </a:solidFill>
                <a:latin typeface="Reddit Sans"/>
                <a:ea typeface="Reddit Sans"/>
              </a:rPr>
              <a:t>Reactivo y Crecimiento Automatizado</a:t>
            </a:r>
          </a:p>
        </p:txBody>
      </p:sp>
      <p:sp>
        <p:nvSpPr>
          <p:cNvPr id="14" name="modelo predictivo">
            <a:extLst>
              <a:ext uri="{FF2B5EF4-FFF2-40B4-BE49-F238E27FC236}">
                <a16:creationId xmlns:a16="http://schemas.microsoft.com/office/drawing/2014/main" id="{8F4DFA52-E4C3-F9FA-35AC-2B9DDB2580D8}"/>
              </a:ext>
            </a:extLst>
          </p:cNvPr>
          <p:cNvSpPr txBox="1"/>
          <p:nvPr/>
        </p:nvSpPr>
        <p:spPr>
          <a:xfrm>
            <a:off x="3252108" y="1110342"/>
            <a:ext cx="2682879" cy="3701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1425" tIns="91425" rIns="91425" bIns="91425" anchor="ctr"/>
          <a:lstStyle/>
          <a:p>
            <a:pPr algn="ctr">
              <a:buNone/>
            </a:pPr>
            <a:r>
              <a:rPr lang="es" sz="1000" b="1">
                <a:solidFill>
                  <a:srgbClr val="0E337C"/>
                </a:solidFill>
                <a:latin typeface="Reddit Sans"/>
                <a:ea typeface="Reddit Sans"/>
              </a:rPr>
              <a:t>Predictivo y Evolutivo</a:t>
            </a:r>
          </a:p>
        </p:txBody>
      </p:sp>
      <p:sp>
        <p:nvSpPr>
          <p:cNvPr id="16" name="modelo autonomo">
            <a:extLst>
              <a:ext uri="{FF2B5EF4-FFF2-40B4-BE49-F238E27FC236}">
                <a16:creationId xmlns:a16="http://schemas.microsoft.com/office/drawing/2014/main" id="{1595092C-43F6-10F5-9638-E2CA995E11C0}"/>
              </a:ext>
            </a:extLst>
          </p:cNvPr>
          <p:cNvSpPr txBox="1"/>
          <p:nvPr/>
        </p:nvSpPr>
        <p:spPr>
          <a:xfrm>
            <a:off x="6052458" y="1110342"/>
            <a:ext cx="2683629" cy="370115"/>
          </a:xfrm>
          <a:prstGeom prst="rect">
            <a:avLst/>
          </a:prstGeom>
          <a:solidFill>
            <a:srgbClr val="215578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lIns="91425" tIns="91425" rIns="91425" bIns="91425" anchor="ctr"/>
          <a:lstStyle/>
          <a:p>
            <a:pPr algn="ctr">
              <a:buNone/>
            </a:pPr>
            <a:r>
              <a:rPr lang="es" sz="1000" b="1">
                <a:solidFill>
                  <a:schemeClr val="bg1"/>
                </a:solidFill>
                <a:latin typeface="Reddit Sans"/>
                <a:ea typeface="Reddit Sans"/>
              </a:rPr>
              <a:t>Autónomo e Inteligente</a:t>
            </a:r>
            <a:endParaRPr lang="es" sz="1000" b="1">
              <a:solidFill>
                <a:schemeClr val="bg1"/>
              </a:solidFill>
              <a:latin typeface="Reddit Sans"/>
              <a:ea typeface="Reddit San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16353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657f5ba65c_1_33"/>
          <p:cNvSpPr txBox="1">
            <a:spLocks noGrp="1"/>
          </p:cNvSpPr>
          <p:nvPr>
            <p:ph type="title"/>
          </p:nvPr>
        </p:nvSpPr>
        <p:spPr>
          <a:xfrm>
            <a:off x="329691" y="107571"/>
            <a:ext cx="4836427" cy="6380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s-ES" err="1"/>
              <a:t>Roadmap</a:t>
            </a:r>
            <a:r>
              <a:rPr lang="es-ES"/>
              <a:t> </a:t>
            </a:r>
            <a:r>
              <a:rPr lang="es-ES" u="sng"/>
              <a:t>Detallado </a:t>
            </a:r>
            <a:r>
              <a:rPr lang="es-ES"/>
              <a:t>Mesa de Servicios de Nueva Generación</a:t>
            </a:r>
            <a:br>
              <a:rPr lang="es-ES"/>
            </a:br>
            <a:r>
              <a:rPr lang="es-ES" b="0"/>
              <a:t>Servicio Optimo y Estandarizado</a:t>
            </a:r>
          </a:p>
        </p:txBody>
      </p:sp>
      <p:cxnSp>
        <p:nvCxnSpPr>
          <p:cNvPr id="179" name="Google Shape;179;g3657f5ba65c_1_33"/>
          <p:cNvCxnSpPr/>
          <p:nvPr/>
        </p:nvCxnSpPr>
        <p:spPr>
          <a:xfrm rot="10800000" flipH="1">
            <a:off x="394425" y="824004"/>
            <a:ext cx="8103300" cy="28800"/>
          </a:xfrm>
          <a:prstGeom prst="straightConnector1">
            <a:avLst/>
          </a:prstGeom>
          <a:noFill/>
          <a:ln w="19050" cap="flat" cmpd="sng">
            <a:solidFill>
              <a:srgbClr val="0E337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39" name="Grupo 38">
            <a:extLst>
              <a:ext uri="{FF2B5EF4-FFF2-40B4-BE49-F238E27FC236}">
                <a16:creationId xmlns:a16="http://schemas.microsoft.com/office/drawing/2014/main" id="{00DF15F0-FF17-5A64-3A08-576CB041A069}"/>
              </a:ext>
            </a:extLst>
          </p:cNvPr>
          <p:cNvGrpSpPr/>
          <p:nvPr/>
        </p:nvGrpSpPr>
        <p:grpSpPr>
          <a:xfrm>
            <a:off x="369335" y="2262483"/>
            <a:ext cx="1104899" cy="598355"/>
            <a:chOff x="374777" y="2262484"/>
            <a:chExt cx="1104899" cy="494940"/>
          </a:xfrm>
        </p:grpSpPr>
        <p:sp>
          <p:nvSpPr>
            <p:cNvPr id="143" name="OTLSHAPE_SL_79f05e8de72e4cc385fce875fa65517f_HeaderRectangle">
              <a:extLst>
                <a:ext uri="{FF2B5EF4-FFF2-40B4-BE49-F238E27FC236}">
                  <a16:creationId xmlns:a16="http://schemas.microsoft.com/office/drawing/2014/main" id="{3B6C005C-DF51-C63C-277B-B435DA0CDD80}"/>
                </a:ext>
              </a:extLst>
            </p:cNvPr>
            <p:cNvSpPr/>
            <p:nvPr/>
          </p:nvSpPr>
          <p:spPr>
            <a:xfrm>
              <a:off x="374777" y="2262484"/>
              <a:ext cx="1104899" cy="4949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>
              <a:miter lim="400000"/>
            </a:ln>
          </p:spPr>
          <p:txBody>
            <a:bodyPr lIns="34289" rIns="34289" anchor="ctr"/>
            <a:lstStyle>
              <a:defPPr>
                <a:defRPr lang="es-CO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>
                  <a:solidFill>
                    <a:srgbClr val="FFFFFF"/>
                  </a:solidFill>
                </a:defRPr>
              </a:pPr>
              <a:endParaRPr sz="1013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2B72BFF-D543-CF03-ED0E-3CFA2E0844E3}"/>
                </a:ext>
              </a:extLst>
            </p:cNvPr>
            <p:cNvSpPr txBox="1"/>
            <p:nvPr/>
          </p:nvSpPr>
          <p:spPr>
            <a:xfrm>
              <a:off x="449681" y="2307771"/>
              <a:ext cx="933219" cy="415498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algn="ctr" defTabSz="342900">
                <a:buClrTx/>
                <a:defRPr sz="1300" b="1">
                  <a:solidFill>
                    <a:srgbClr val="3C3C3C"/>
                  </a:solidFill>
                </a:defRPr>
              </a:pPr>
              <a:r>
                <a:rPr lang="es-ES" sz="700" b="1">
                  <a:latin typeface="Reddit Sans"/>
                  <a:ea typeface="Reddit Sans"/>
                </a:rPr>
                <a:t>Diseño</a:t>
              </a:r>
              <a:r>
                <a:rPr sz="700" b="1">
                  <a:latin typeface="Reddit Sans"/>
                  <a:ea typeface="Reddit Sans"/>
                </a:rPr>
                <a:t> del</a:t>
              </a:r>
              <a:r>
                <a:rPr lang="es-ES" sz="700" b="1">
                  <a:latin typeface="Reddit Sans"/>
                  <a:ea typeface="Reddit Sans"/>
                </a:rPr>
                <a:t> </a:t>
              </a:r>
            </a:p>
            <a:p>
              <a:pPr algn="ctr" defTabSz="342900">
                <a:buClrTx/>
                <a:defRPr sz="1300" b="1">
                  <a:solidFill>
                    <a:srgbClr val="3C3C3C"/>
                  </a:solidFill>
                </a:defRPr>
              </a:pPr>
              <a:r>
                <a:rPr lang="es-ES" sz="700" b="1">
                  <a:latin typeface="Reddit Sans"/>
                  <a:ea typeface="Reddit Sans"/>
                </a:rPr>
                <a:t>Servicio </a:t>
              </a:r>
            </a:p>
            <a:p>
              <a:pPr algn="ctr" defTabSz="342900">
                <a:buClrTx/>
                <a:defRPr sz="1300" b="1">
                  <a:solidFill>
                    <a:srgbClr val="3C3C3C"/>
                  </a:solidFill>
                </a:defRPr>
              </a:pPr>
              <a:r>
                <a:rPr lang="es-ES" sz="700" b="1">
                  <a:latin typeface="Reddit Sans"/>
                  <a:ea typeface="Reddit Sans"/>
                </a:rPr>
                <a:t>Optimo (N5)</a:t>
              </a:r>
              <a:endParaRPr lang="es-ES" sz="700" b="1"/>
            </a:p>
          </p:txBody>
        </p:sp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2E78205B-540C-085C-7C57-42A624851715}"/>
              </a:ext>
            </a:extLst>
          </p:cNvPr>
          <p:cNvGrpSpPr/>
          <p:nvPr/>
        </p:nvGrpSpPr>
        <p:grpSpPr>
          <a:xfrm>
            <a:off x="374778" y="2893852"/>
            <a:ext cx="1099458" cy="582031"/>
            <a:chOff x="380220" y="2812210"/>
            <a:chExt cx="1099458" cy="358874"/>
          </a:xfrm>
        </p:grpSpPr>
        <p:sp>
          <p:nvSpPr>
            <p:cNvPr id="144" name="OTLSHAPE_SL_79f05e8de72e4cc385fce875fa65517f_HeaderRectangle">
              <a:extLst>
                <a:ext uri="{FF2B5EF4-FFF2-40B4-BE49-F238E27FC236}">
                  <a16:creationId xmlns:a16="http://schemas.microsoft.com/office/drawing/2014/main" id="{A5F021EF-C10E-00A3-2323-7E60D70FF2B4}"/>
                </a:ext>
              </a:extLst>
            </p:cNvPr>
            <p:cNvSpPr/>
            <p:nvPr/>
          </p:nvSpPr>
          <p:spPr>
            <a:xfrm>
              <a:off x="380220" y="2812210"/>
              <a:ext cx="1099458" cy="35887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>
              <a:miter lim="400000"/>
            </a:ln>
          </p:spPr>
          <p:txBody>
            <a:bodyPr lIns="34289" rIns="34289" anchor="ctr"/>
            <a:lstStyle>
              <a:defPPr>
                <a:defRPr lang="es-CO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>
                  <a:solidFill>
                    <a:srgbClr val="FFFFFF"/>
                  </a:solidFill>
                </a:defRPr>
              </a:pPr>
              <a:endParaRPr sz="1013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311ED60-70CF-2CCC-5BB1-80EACE70EC27}"/>
                </a:ext>
              </a:extLst>
            </p:cNvPr>
            <p:cNvSpPr txBox="1"/>
            <p:nvPr/>
          </p:nvSpPr>
          <p:spPr>
            <a:xfrm>
              <a:off x="455284" y="2889756"/>
              <a:ext cx="960554" cy="228847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algn="ctr" defTabSz="342900">
                <a:defRPr sz="1300" b="1">
                  <a:solidFill>
                    <a:srgbClr val="3C3C3C"/>
                  </a:solidFill>
                </a:defRPr>
              </a:pPr>
              <a:r>
                <a:rPr lang="es-CO" sz="700" b="1" err="1">
                  <a:latin typeface="Reddit Sans"/>
                  <a:ea typeface="Reddit Sans"/>
                </a:rPr>
                <a:t>Productización</a:t>
              </a:r>
              <a:r>
                <a:rPr lang="es-CO" sz="700" b="1">
                  <a:latin typeface="Reddit Sans"/>
                  <a:ea typeface="Reddit Sans"/>
                </a:rPr>
                <a:t> del Servicio </a:t>
              </a:r>
              <a:endParaRPr lang="es-CO" sz="700">
                <a:latin typeface="Reddit Sans"/>
                <a:ea typeface="Reddit Sans"/>
              </a:endParaRPr>
            </a:p>
          </p:txBody>
        </p: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A2C45A1E-D703-2A96-A3B0-27528A0481E3}"/>
              </a:ext>
            </a:extLst>
          </p:cNvPr>
          <p:cNvGrpSpPr/>
          <p:nvPr/>
        </p:nvGrpSpPr>
        <p:grpSpPr>
          <a:xfrm>
            <a:off x="374778" y="3508896"/>
            <a:ext cx="1099458" cy="364318"/>
            <a:chOff x="374777" y="3236753"/>
            <a:chExt cx="1099458" cy="424189"/>
          </a:xfrm>
        </p:grpSpPr>
        <p:sp>
          <p:nvSpPr>
            <p:cNvPr id="145" name="OTLSHAPE_SL_79f05e8de72e4cc385fce875fa65517f_HeaderRectangle">
              <a:extLst>
                <a:ext uri="{FF2B5EF4-FFF2-40B4-BE49-F238E27FC236}">
                  <a16:creationId xmlns:a16="http://schemas.microsoft.com/office/drawing/2014/main" id="{E1B84A3B-3A8B-3783-5D29-A956A64588F1}"/>
                </a:ext>
              </a:extLst>
            </p:cNvPr>
            <p:cNvSpPr/>
            <p:nvPr/>
          </p:nvSpPr>
          <p:spPr>
            <a:xfrm>
              <a:off x="374777" y="3236753"/>
              <a:ext cx="1099458" cy="42418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>
              <a:miter lim="400000"/>
            </a:ln>
          </p:spPr>
          <p:txBody>
            <a:bodyPr lIns="34289" rIns="34289" anchor="ctr"/>
            <a:lstStyle>
              <a:defPPr>
                <a:defRPr lang="es-CO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>
                  <a:solidFill>
                    <a:srgbClr val="FFFFFF"/>
                  </a:solidFill>
                </a:defRPr>
              </a:pPr>
              <a:endParaRPr sz="1013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19A7F53-C2C8-0962-735A-726BC7B1B042}"/>
                </a:ext>
              </a:extLst>
            </p:cNvPr>
            <p:cNvSpPr txBox="1"/>
            <p:nvPr/>
          </p:nvSpPr>
          <p:spPr>
            <a:xfrm>
              <a:off x="487318" y="3292930"/>
              <a:ext cx="895948" cy="307777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algn="ctr" defTabSz="342900">
                <a:buClrTx/>
                <a:defRPr sz="1300" b="1">
                  <a:solidFill>
                    <a:srgbClr val="3C3C3C"/>
                  </a:solidFill>
                </a:defRPr>
              </a:pPr>
              <a:r>
                <a:rPr sz="700" b="1" kern="1200">
                  <a:latin typeface="Reddit Sans"/>
                  <a:ea typeface="Reddit Sans"/>
                  <a:cs typeface="+mn-cs"/>
                </a:rPr>
                <a:t>Piloto </a:t>
              </a:r>
              <a:r>
                <a:rPr lang="es-ES" sz="700" b="1" kern="1200">
                  <a:latin typeface="Reddit Sans"/>
                  <a:ea typeface="Reddit Sans"/>
                  <a:cs typeface="+mn-cs"/>
                </a:rPr>
                <a:t>Cliente</a:t>
              </a:r>
              <a:r>
                <a:rPr sz="700" b="1" kern="1200">
                  <a:latin typeface="Reddit Sans"/>
                  <a:ea typeface="Reddit Sans"/>
                  <a:cs typeface="+mn-cs"/>
                </a:rPr>
                <a:t> </a:t>
              </a:r>
              <a:r>
                <a:rPr lang="es-ES" sz="700" b="1" kern="1200">
                  <a:latin typeface="Reddit Sans"/>
                  <a:ea typeface="Reddit Sans"/>
                  <a:cs typeface="+mn-cs"/>
                </a:rPr>
                <a:t>Nuevo</a:t>
              </a:r>
              <a:endParaRPr sz="700" b="1" kern="1200">
                <a:latin typeface="Reddit Sans"/>
                <a:ea typeface="Reddit Sans"/>
                <a:cs typeface="+mn-cs"/>
              </a:endParaRPr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F2A19EBF-3014-9A47-AE93-48A5D6B015C7}"/>
              </a:ext>
            </a:extLst>
          </p:cNvPr>
          <p:cNvGrpSpPr/>
          <p:nvPr/>
        </p:nvGrpSpPr>
        <p:grpSpPr>
          <a:xfrm>
            <a:off x="374776" y="4330766"/>
            <a:ext cx="1099458" cy="467731"/>
            <a:chOff x="374776" y="4113052"/>
            <a:chExt cx="1099458" cy="467731"/>
          </a:xfrm>
        </p:grpSpPr>
        <p:sp>
          <p:nvSpPr>
            <p:cNvPr id="147" name="OTLSHAPE_SL_79f05e8de72e4cc385fce875fa65517f_HeaderRectangle">
              <a:extLst>
                <a:ext uri="{FF2B5EF4-FFF2-40B4-BE49-F238E27FC236}">
                  <a16:creationId xmlns:a16="http://schemas.microsoft.com/office/drawing/2014/main" id="{8F033BD4-E602-272F-7902-F203B6C6FADF}"/>
                </a:ext>
              </a:extLst>
            </p:cNvPr>
            <p:cNvSpPr/>
            <p:nvPr/>
          </p:nvSpPr>
          <p:spPr>
            <a:xfrm>
              <a:off x="374776" y="4113052"/>
              <a:ext cx="1099458" cy="46773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>
              <a:miter lim="400000"/>
            </a:ln>
          </p:spPr>
          <p:txBody>
            <a:bodyPr lIns="34289" rIns="34289" anchor="ctr"/>
            <a:lstStyle>
              <a:defPPr>
                <a:defRPr lang="es-CO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>
                  <a:solidFill>
                    <a:srgbClr val="FFFFFF"/>
                  </a:solidFill>
                </a:defRPr>
              </a:pPr>
              <a:endParaRPr sz="1013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F79083F-6844-07ED-2968-D80C5002C8E9}"/>
                </a:ext>
              </a:extLst>
            </p:cNvPr>
            <p:cNvSpPr txBox="1"/>
            <p:nvPr/>
          </p:nvSpPr>
          <p:spPr>
            <a:xfrm>
              <a:off x="609071" y="4147458"/>
              <a:ext cx="625492" cy="415498"/>
            </a:xfrm>
            <a:prstGeom prst="rect">
              <a:avLst/>
            </a:prstGeom>
            <a:noFill/>
          </p:spPr>
          <p:txBody>
            <a:bodyPr wrap="none" lIns="91440" tIns="45720" rIns="91440" bIns="45720" anchor="t">
              <a:spAutoFit/>
            </a:bodyPr>
            <a:lstStyle/>
            <a:p>
              <a:pPr algn="ctr" defTabSz="342900">
                <a:buClrTx/>
                <a:defRPr sz="1300" b="1">
                  <a:solidFill>
                    <a:srgbClr val="3C3C3C"/>
                  </a:solidFill>
                </a:defRPr>
              </a:pPr>
              <a:r>
                <a:rPr lang="es-CO" sz="700" b="1" kern="1200">
                  <a:latin typeface="Reddit Sans"/>
                  <a:ea typeface="Reddit Sans"/>
                  <a:cs typeface="+mn-cs"/>
                </a:rPr>
                <a:t>Transición</a:t>
              </a:r>
              <a:r>
                <a:rPr lang="es-ES" sz="700" b="1" kern="1200">
                  <a:latin typeface="Reddit Sans"/>
                  <a:ea typeface="Reddit Sans"/>
                  <a:cs typeface="+mn-cs"/>
                </a:rPr>
                <a:t> </a:t>
              </a:r>
            </a:p>
            <a:p>
              <a:pPr algn="ctr" defTabSz="342900">
                <a:buClrTx/>
                <a:defRPr sz="1300" b="1">
                  <a:solidFill>
                    <a:srgbClr val="3C3C3C"/>
                  </a:solidFill>
                </a:defRPr>
              </a:pPr>
              <a:r>
                <a:rPr lang="es-ES" sz="700" b="1" kern="1200">
                  <a:latin typeface="Reddit Sans"/>
                  <a:ea typeface="Reddit Sans"/>
                  <a:cs typeface="+mn-cs"/>
                </a:rPr>
                <a:t>Clientes </a:t>
              </a:r>
            </a:p>
            <a:p>
              <a:pPr algn="ctr" defTabSz="342900">
                <a:buClrTx/>
                <a:defRPr sz="1300" b="1">
                  <a:solidFill>
                    <a:srgbClr val="3C3C3C"/>
                  </a:solidFill>
                </a:defRPr>
              </a:pPr>
              <a:r>
                <a:rPr lang="es-ES" sz="700" b="1" kern="1200">
                  <a:latin typeface="Reddit Sans"/>
                  <a:ea typeface="Reddit Sans"/>
                  <a:cs typeface="+mn-cs"/>
                </a:rPr>
                <a:t>Existentes</a:t>
              </a:r>
              <a:endParaRPr lang="es-ES" sz="700">
                <a:cs typeface="+mn-cs"/>
              </a:endParaRP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BFA47FE2-A6AF-D00F-83A0-B091DEA1B9F5}"/>
              </a:ext>
            </a:extLst>
          </p:cNvPr>
          <p:cNvGrpSpPr/>
          <p:nvPr/>
        </p:nvGrpSpPr>
        <p:grpSpPr>
          <a:xfrm>
            <a:off x="374775" y="3938881"/>
            <a:ext cx="1099458" cy="358874"/>
            <a:chOff x="374775" y="3715724"/>
            <a:chExt cx="1099458" cy="358874"/>
          </a:xfrm>
        </p:grpSpPr>
        <p:sp>
          <p:nvSpPr>
            <p:cNvPr id="146" name="OTLSHAPE_SL_79f05e8de72e4cc385fce875fa65517f_HeaderRectangle">
              <a:extLst>
                <a:ext uri="{FF2B5EF4-FFF2-40B4-BE49-F238E27FC236}">
                  <a16:creationId xmlns:a16="http://schemas.microsoft.com/office/drawing/2014/main" id="{8B6280EC-8BC9-4B04-CDFE-3ECF08AD4E33}"/>
                </a:ext>
              </a:extLst>
            </p:cNvPr>
            <p:cNvSpPr/>
            <p:nvPr/>
          </p:nvSpPr>
          <p:spPr>
            <a:xfrm>
              <a:off x="374775" y="3715724"/>
              <a:ext cx="1099458" cy="35887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>
              <a:miter lim="400000"/>
            </a:ln>
          </p:spPr>
          <p:txBody>
            <a:bodyPr lIns="34289" rIns="34289" anchor="ctr"/>
            <a:lstStyle>
              <a:defPPr>
                <a:defRPr lang="es-CO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>
                  <a:solidFill>
                    <a:srgbClr val="FFFFFF"/>
                  </a:solidFill>
                </a:defRPr>
              </a:pPr>
              <a:endParaRPr sz="1013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19D1D67-A365-B731-0ABC-A7A7C6C203BC}"/>
                </a:ext>
              </a:extLst>
            </p:cNvPr>
            <p:cNvSpPr txBox="1"/>
            <p:nvPr/>
          </p:nvSpPr>
          <p:spPr>
            <a:xfrm>
              <a:off x="422099" y="3731078"/>
              <a:ext cx="987914" cy="307777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algn="ctr" defTabSz="342900">
                <a:buClrTx/>
                <a:defRPr sz="1300" b="1">
                  <a:solidFill>
                    <a:srgbClr val="3C3C3C"/>
                  </a:solidFill>
                </a:defRPr>
              </a:pPr>
              <a:r>
                <a:rPr sz="700" b="1" kern="1200">
                  <a:latin typeface="Reddit Sans"/>
                  <a:ea typeface="Reddit Sans"/>
                  <a:cs typeface="+mn-cs"/>
                </a:rPr>
                <a:t>Lanzamiento</a:t>
              </a:r>
              <a:r>
                <a:rPr lang="es-ES" sz="700" b="1" kern="1200">
                  <a:latin typeface="Reddit Sans"/>
                  <a:ea typeface="Reddit Sans"/>
                  <a:cs typeface="+mn-cs"/>
                </a:rPr>
                <a:t> servicio nuevo</a:t>
              </a:r>
              <a:endParaRPr lang="es-ES" sz="700" b="1" kern="1200">
                <a:latin typeface="Reddit Sans"/>
                <a:ea typeface="Reddit Sans"/>
              </a:endParaRPr>
            </a:p>
          </p:txBody>
        </p:sp>
      </p:grpSp>
      <p:sp>
        <p:nvSpPr>
          <p:cNvPr id="18" name="Rounded Rectangle 21">
            <a:extLst>
              <a:ext uri="{FF2B5EF4-FFF2-40B4-BE49-F238E27FC236}">
                <a16:creationId xmlns:a16="http://schemas.microsoft.com/office/drawing/2014/main" id="{87602290-382C-F064-EF7A-3172019619BC}"/>
              </a:ext>
            </a:extLst>
          </p:cNvPr>
          <p:cNvSpPr/>
          <p:nvPr/>
        </p:nvSpPr>
        <p:spPr>
          <a:xfrm>
            <a:off x="1558717" y="1863087"/>
            <a:ext cx="845983" cy="88610"/>
          </a:xfrm>
          <a:prstGeom prst="round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8E6283EB-B92E-463D-4350-C26DBFB19BB3}"/>
              </a:ext>
            </a:extLst>
          </p:cNvPr>
          <p:cNvSpPr txBox="1"/>
          <p:nvPr/>
        </p:nvSpPr>
        <p:spPr>
          <a:xfrm>
            <a:off x="326570" y="922562"/>
            <a:ext cx="118110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700" b="1">
                <a:solidFill>
                  <a:srgbClr val="00717D"/>
                </a:solidFill>
                <a:ea typeface="Reddit Sans"/>
              </a:rPr>
              <a:t>Modelos de entrega de las Mesas de Servicio 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613549EC-2702-C3B7-5164-A7E93EE6C9C7}"/>
              </a:ext>
            </a:extLst>
          </p:cNvPr>
          <p:cNvSpPr txBox="1"/>
          <p:nvPr/>
        </p:nvSpPr>
        <p:spPr>
          <a:xfrm>
            <a:off x="375556" y="1374321"/>
            <a:ext cx="1039586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1000" b="1">
                <a:solidFill>
                  <a:schemeClr val="tx1"/>
                </a:solidFill>
                <a:latin typeface="Reddit Sans"/>
              </a:rPr>
              <a:t>Fases</a:t>
            </a:r>
            <a:endParaRPr lang="es-ES">
              <a:solidFill>
                <a:schemeClr val="tx1"/>
              </a:solidFill>
            </a:endParaRPr>
          </a:p>
        </p:txBody>
      </p:sp>
      <p:sp>
        <p:nvSpPr>
          <p:cNvPr id="30" name="Rounded Rectangle 2">
            <a:extLst>
              <a:ext uri="{FF2B5EF4-FFF2-40B4-BE49-F238E27FC236}">
                <a16:creationId xmlns:a16="http://schemas.microsoft.com/office/drawing/2014/main" id="{75B2EC64-AAEB-80A0-2E7C-B337049F02B0}"/>
              </a:ext>
            </a:extLst>
          </p:cNvPr>
          <p:cNvSpPr/>
          <p:nvPr/>
        </p:nvSpPr>
        <p:spPr>
          <a:xfrm>
            <a:off x="1544782" y="943790"/>
            <a:ext cx="3134542" cy="281396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 defTabSz="342900">
              <a:defRPr sz="1500" b="1">
                <a:solidFill>
                  <a:srgbClr val="FFFFFF"/>
                </a:solidFill>
              </a:defRPr>
            </a:pPr>
            <a:r>
              <a:rPr lang="es-ES" sz="900" b="1" kern="1200">
                <a:solidFill>
                  <a:schemeClr val="tx1"/>
                </a:solidFill>
                <a:latin typeface="Reddit Sans"/>
                <a:ea typeface="Reddit Sans"/>
              </a:rPr>
              <a:t>Diseño del Servicio Autónomo e Inteligente (N5)</a:t>
            </a:r>
            <a:endParaRPr lang="es-ES" sz="900">
              <a:solidFill>
                <a:schemeClr val="tx1"/>
              </a:solidFill>
              <a:cs typeface="Arial"/>
            </a:endParaRPr>
          </a:p>
        </p:txBody>
      </p:sp>
      <p:sp>
        <p:nvSpPr>
          <p:cNvPr id="31" name="Rounded Rectangle 2">
            <a:extLst>
              <a:ext uri="{FF2B5EF4-FFF2-40B4-BE49-F238E27FC236}">
                <a16:creationId xmlns:a16="http://schemas.microsoft.com/office/drawing/2014/main" id="{1BB1913D-BF6A-E67C-53B8-E57EF62C7319}"/>
              </a:ext>
            </a:extLst>
          </p:cNvPr>
          <p:cNvSpPr/>
          <p:nvPr/>
        </p:nvSpPr>
        <p:spPr>
          <a:xfrm>
            <a:off x="4679871" y="943793"/>
            <a:ext cx="2236469" cy="286838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 defTabSz="342900">
              <a:defRPr sz="1500" b="1">
                <a:solidFill>
                  <a:srgbClr val="FFFFFF"/>
                </a:solidFill>
              </a:defRPr>
            </a:pPr>
            <a:r>
              <a:rPr lang="es-ES" sz="900" b="1" kern="1200">
                <a:solidFill>
                  <a:schemeClr val="tx1"/>
                </a:solidFill>
                <a:latin typeface="Reddit Sans"/>
                <a:ea typeface="Reddit Sans"/>
              </a:rPr>
              <a:t>Predictivo y Evolutivo (N3)</a:t>
            </a:r>
            <a:endParaRPr lang="es-ES" sz="900">
              <a:solidFill>
                <a:schemeClr val="tx1"/>
              </a:solidFill>
              <a:cs typeface="Arial"/>
            </a:endParaRPr>
          </a:p>
        </p:txBody>
      </p:sp>
      <p:sp>
        <p:nvSpPr>
          <p:cNvPr id="32" name="Rounded Rectangle 2">
            <a:extLst>
              <a:ext uri="{FF2B5EF4-FFF2-40B4-BE49-F238E27FC236}">
                <a16:creationId xmlns:a16="http://schemas.microsoft.com/office/drawing/2014/main" id="{686C6AFD-758B-AA33-CDAE-D4A668DAB4D6}"/>
              </a:ext>
            </a:extLst>
          </p:cNvPr>
          <p:cNvSpPr/>
          <p:nvPr/>
        </p:nvSpPr>
        <p:spPr>
          <a:xfrm>
            <a:off x="6938654" y="943790"/>
            <a:ext cx="1561557" cy="286839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 defTabSz="342900">
              <a:defRPr sz="1500" b="1">
                <a:solidFill>
                  <a:srgbClr val="FFFFFF"/>
                </a:solidFill>
              </a:defRPr>
            </a:pPr>
            <a:r>
              <a:rPr lang="es-ES" sz="900" kern="1200">
                <a:solidFill>
                  <a:schemeClr val="tx1"/>
                </a:solidFill>
                <a:latin typeface="Reddit Sans"/>
                <a:ea typeface="Reddit Sans"/>
                <a:cs typeface="Arial"/>
              </a:rPr>
              <a:t>Piloto y Transición Clientes</a:t>
            </a:r>
          </a:p>
        </p:txBody>
      </p:sp>
      <p:sp>
        <p:nvSpPr>
          <p:cNvPr id="131" name="Rounded Rectangle 25">
            <a:extLst>
              <a:ext uri="{FF2B5EF4-FFF2-40B4-BE49-F238E27FC236}">
                <a16:creationId xmlns:a16="http://schemas.microsoft.com/office/drawing/2014/main" id="{B1D377E7-02CC-BB00-D36D-1FAE90E89AE5}"/>
              </a:ext>
            </a:extLst>
          </p:cNvPr>
          <p:cNvSpPr/>
          <p:nvPr/>
        </p:nvSpPr>
        <p:spPr>
          <a:xfrm>
            <a:off x="6303910" y="3762644"/>
            <a:ext cx="1037191" cy="11038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r>
              <a:rPr lang="es-ES" sz="600" kern="1200">
                <a:solidFill>
                  <a:srgbClr val="000000"/>
                </a:solidFill>
                <a:latin typeface="Reddit Sans"/>
                <a:ea typeface="Reddit Sans"/>
              </a:rPr>
              <a:t>Equipos </a:t>
            </a:r>
            <a:r>
              <a:rPr lang="es-ES" sz="600" b="1" kern="1200">
                <a:solidFill>
                  <a:srgbClr val="000000"/>
                </a:solidFill>
                <a:latin typeface="Reddit Sans"/>
                <a:ea typeface="Reddit Sans"/>
              </a:rPr>
              <a:t>comercial</a:t>
            </a:r>
          </a:p>
        </p:txBody>
      </p:sp>
      <p:sp>
        <p:nvSpPr>
          <p:cNvPr id="132" name="Rounded Rectangle 25">
            <a:extLst>
              <a:ext uri="{FF2B5EF4-FFF2-40B4-BE49-F238E27FC236}">
                <a16:creationId xmlns:a16="http://schemas.microsoft.com/office/drawing/2014/main" id="{89AA025D-ACC2-8BE3-3531-ADBA5332DDF4}"/>
              </a:ext>
            </a:extLst>
          </p:cNvPr>
          <p:cNvSpPr/>
          <p:nvPr/>
        </p:nvSpPr>
        <p:spPr>
          <a:xfrm>
            <a:off x="6314800" y="3637460"/>
            <a:ext cx="1026301" cy="10493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r>
              <a:rPr lang="es-ES" sz="600" kern="1200">
                <a:solidFill>
                  <a:srgbClr val="000000"/>
                </a:solidFill>
                <a:latin typeface="Reddit Sans"/>
                <a:ea typeface="Reddit Sans"/>
              </a:rPr>
              <a:t>Equipos de la </a:t>
            </a:r>
            <a:r>
              <a:rPr lang="es-ES" sz="600" b="1" kern="1200">
                <a:solidFill>
                  <a:srgbClr val="000000"/>
                </a:solidFill>
                <a:latin typeface="Reddit Sans"/>
                <a:ea typeface="Reddit Sans"/>
              </a:rPr>
              <a:t>operación</a:t>
            </a:r>
          </a:p>
        </p:txBody>
      </p:sp>
      <p:sp>
        <p:nvSpPr>
          <p:cNvPr id="140" name="OTLSHAPE_TB_00000000000000000000000000000000_ScaleContainer">
            <a:extLst>
              <a:ext uri="{FF2B5EF4-FFF2-40B4-BE49-F238E27FC236}">
                <a16:creationId xmlns:a16="http://schemas.microsoft.com/office/drawing/2014/main" id="{4D62D34E-3794-458E-ABAD-31CA8C1D18B7}"/>
              </a:ext>
            </a:extLst>
          </p:cNvPr>
          <p:cNvSpPr/>
          <p:nvPr/>
        </p:nvSpPr>
        <p:spPr>
          <a:xfrm>
            <a:off x="1534595" y="1234653"/>
            <a:ext cx="6962150" cy="183417"/>
          </a:xfrm>
          <a:prstGeom prst="roundRect">
            <a:avLst>
              <a:gd name="adj" fmla="val 16667"/>
            </a:avLst>
          </a:prstGeom>
          <a:solidFill>
            <a:srgbClr val="44546A"/>
          </a:solidFill>
          <a:ln w="12700">
            <a:miter lim="400000"/>
          </a:ln>
        </p:spPr>
        <p:txBody>
          <a:bodyPr lIns="34289" rIns="34289" anchor="ctr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 sz="1013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10B432EA-1C9F-4EC7-E4B8-D3B837082F02}"/>
              </a:ext>
            </a:extLst>
          </p:cNvPr>
          <p:cNvSpPr txBox="1"/>
          <p:nvPr/>
        </p:nvSpPr>
        <p:spPr>
          <a:xfrm>
            <a:off x="4316186" y="1232804"/>
            <a:ext cx="1039586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800" b="1">
                <a:solidFill>
                  <a:srgbClr val="FFFFFF"/>
                </a:solidFill>
                <a:latin typeface="Reddit Sans"/>
              </a:rPr>
              <a:t>Q3</a:t>
            </a:r>
            <a:endParaRPr lang="es-ES" sz="800">
              <a:solidFill>
                <a:srgbClr val="FFFFFF"/>
              </a:solidFill>
            </a:endParaRP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76EF5295-96C4-926C-84C5-95FD93FA591B}"/>
              </a:ext>
            </a:extLst>
          </p:cNvPr>
          <p:cNvSpPr txBox="1"/>
          <p:nvPr/>
        </p:nvSpPr>
        <p:spPr>
          <a:xfrm>
            <a:off x="7538356" y="1232805"/>
            <a:ext cx="1039586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800" b="1">
                <a:solidFill>
                  <a:srgbClr val="FFFFFF"/>
                </a:solidFill>
                <a:latin typeface="Reddit Sans"/>
              </a:rPr>
              <a:t>Q4</a:t>
            </a:r>
            <a:endParaRPr lang="es-ES" sz="800">
              <a:solidFill>
                <a:srgbClr val="FFFFFF"/>
              </a:solidFill>
            </a:endParaRPr>
          </a:p>
        </p:txBody>
      </p:sp>
      <p:cxnSp>
        <p:nvCxnSpPr>
          <p:cNvPr id="141" name="Conector recto de flecha 140">
            <a:extLst>
              <a:ext uri="{FF2B5EF4-FFF2-40B4-BE49-F238E27FC236}">
                <a16:creationId xmlns:a16="http://schemas.microsoft.com/office/drawing/2014/main" id="{424CC519-BBF4-FA42-F777-459CCC693C13}"/>
              </a:ext>
            </a:extLst>
          </p:cNvPr>
          <p:cNvCxnSpPr/>
          <p:nvPr/>
        </p:nvCxnSpPr>
        <p:spPr>
          <a:xfrm>
            <a:off x="6934200" y="1242333"/>
            <a:ext cx="2177" cy="171448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CuadroTexto 147">
            <a:extLst>
              <a:ext uri="{FF2B5EF4-FFF2-40B4-BE49-F238E27FC236}">
                <a16:creationId xmlns:a16="http://schemas.microsoft.com/office/drawing/2014/main" id="{4775264B-67DF-405A-6101-AE5518412D5D}"/>
              </a:ext>
            </a:extLst>
          </p:cNvPr>
          <p:cNvSpPr txBox="1"/>
          <p:nvPr/>
        </p:nvSpPr>
        <p:spPr>
          <a:xfrm>
            <a:off x="2279195" y="1416503"/>
            <a:ext cx="751115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000">
                <a:solidFill>
                  <a:schemeClr val="bg2"/>
                </a:solidFill>
              </a:rPr>
              <a:t>Julio</a:t>
            </a:r>
          </a:p>
        </p:txBody>
      </p:sp>
      <p:sp>
        <p:nvSpPr>
          <p:cNvPr id="149" name="CuadroTexto 148">
            <a:extLst>
              <a:ext uri="{FF2B5EF4-FFF2-40B4-BE49-F238E27FC236}">
                <a16:creationId xmlns:a16="http://schemas.microsoft.com/office/drawing/2014/main" id="{DB455B26-C013-533E-9B69-0018318D53BB}"/>
              </a:ext>
            </a:extLst>
          </p:cNvPr>
          <p:cNvSpPr txBox="1"/>
          <p:nvPr/>
        </p:nvSpPr>
        <p:spPr>
          <a:xfrm>
            <a:off x="4026351" y="1421946"/>
            <a:ext cx="751115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000">
                <a:solidFill>
                  <a:schemeClr val="bg2"/>
                </a:solidFill>
              </a:rPr>
              <a:t>Agosto</a:t>
            </a:r>
          </a:p>
        </p:txBody>
      </p:sp>
      <p:sp>
        <p:nvSpPr>
          <p:cNvPr id="150" name="CuadroTexto 149">
            <a:extLst>
              <a:ext uri="{FF2B5EF4-FFF2-40B4-BE49-F238E27FC236}">
                <a16:creationId xmlns:a16="http://schemas.microsoft.com/office/drawing/2014/main" id="{83127475-4A1E-FC30-8FF4-FF4CB0FE1276}"/>
              </a:ext>
            </a:extLst>
          </p:cNvPr>
          <p:cNvSpPr txBox="1"/>
          <p:nvPr/>
        </p:nvSpPr>
        <p:spPr>
          <a:xfrm>
            <a:off x="5659207" y="1416503"/>
            <a:ext cx="1094015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000">
                <a:solidFill>
                  <a:schemeClr val="bg2"/>
                </a:solidFill>
              </a:rPr>
              <a:t>Septiembre</a:t>
            </a:r>
          </a:p>
        </p:txBody>
      </p:sp>
      <p:sp>
        <p:nvSpPr>
          <p:cNvPr id="151" name="CuadroTexto 150">
            <a:extLst>
              <a:ext uri="{FF2B5EF4-FFF2-40B4-BE49-F238E27FC236}">
                <a16:creationId xmlns:a16="http://schemas.microsoft.com/office/drawing/2014/main" id="{23F92958-03E3-48E4-ABF8-B161B4E7E99D}"/>
              </a:ext>
            </a:extLst>
          </p:cNvPr>
          <p:cNvSpPr txBox="1"/>
          <p:nvPr/>
        </p:nvSpPr>
        <p:spPr>
          <a:xfrm>
            <a:off x="7439023" y="1416503"/>
            <a:ext cx="821873" cy="251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000">
                <a:solidFill>
                  <a:schemeClr val="bg2"/>
                </a:solidFill>
              </a:rPr>
              <a:t>Octubre</a:t>
            </a:r>
          </a:p>
        </p:txBody>
      </p:sp>
      <p:cxnSp>
        <p:nvCxnSpPr>
          <p:cNvPr id="152" name="Conector recto de flecha 151">
            <a:extLst>
              <a:ext uri="{FF2B5EF4-FFF2-40B4-BE49-F238E27FC236}">
                <a16:creationId xmlns:a16="http://schemas.microsoft.com/office/drawing/2014/main" id="{3DCAA23E-04B7-F20D-CDAA-8E36F3814F35}"/>
              </a:ext>
            </a:extLst>
          </p:cNvPr>
          <p:cNvCxnSpPr/>
          <p:nvPr/>
        </p:nvCxnSpPr>
        <p:spPr>
          <a:xfrm>
            <a:off x="3363686" y="1449160"/>
            <a:ext cx="7620" cy="3367767"/>
          </a:xfrm>
          <a:prstGeom prst="straightConnector1">
            <a:avLst/>
          </a:prstGeom>
          <a:ln w="12700">
            <a:solidFill>
              <a:schemeClr val="bg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ector recto de flecha 152">
            <a:extLst>
              <a:ext uri="{FF2B5EF4-FFF2-40B4-BE49-F238E27FC236}">
                <a16:creationId xmlns:a16="http://schemas.microsoft.com/office/drawing/2014/main" id="{3C4D310E-DE01-6E94-DE7F-85ED2574567E}"/>
              </a:ext>
            </a:extLst>
          </p:cNvPr>
          <p:cNvCxnSpPr>
            <a:cxnSpLocks/>
          </p:cNvCxnSpPr>
          <p:nvPr/>
        </p:nvCxnSpPr>
        <p:spPr>
          <a:xfrm>
            <a:off x="5083628" y="1416502"/>
            <a:ext cx="7620" cy="3367767"/>
          </a:xfrm>
          <a:prstGeom prst="straightConnector1">
            <a:avLst/>
          </a:prstGeom>
          <a:ln w="12700">
            <a:solidFill>
              <a:schemeClr val="bg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ector recto de flecha 153">
            <a:extLst>
              <a:ext uri="{FF2B5EF4-FFF2-40B4-BE49-F238E27FC236}">
                <a16:creationId xmlns:a16="http://schemas.microsoft.com/office/drawing/2014/main" id="{94C2861A-81F4-1E62-DAC6-B6325FD369D9}"/>
              </a:ext>
            </a:extLst>
          </p:cNvPr>
          <p:cNvCxnSpPr>
            <a:cxnSpLocks/>
          </p:cNvCxnSpPr>
          <p:nvPr/>
        </p:nvCxnSpPr>
        <p:spPr>
          <a:xfrm>
            <a:off x="6928758" y="1274987"/>
            <a:ext cx="7620" cy="3367767"/>
          </a:xfrm>
          <a:prstGeom prst="straightConnector1">
            <a:avLst/>
          </a:prstGeom>
          <a:ln w="12700">
            <a:solidFill>
              <a:schemeClr val="bg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ector recto de flecha 154">
            <a:extLst>
              <a:ext uri="{FF2B5EF4-FFF2-40B4-BE49-F238E27FC236}">
                <a16:creationId xmlns:a16="http://schemas.microsoft.com/office/drawing/2014/main" id="{AB892158-E68C-874C-E15B-A40E40D8E5B1}"/>
              </a:ext>
            </a:extLst>
          </p:cNvPr>
          <p:cNvCxnSpPr/>
          <p:nvPr/>
        </p:nvCxnSpPr>
        <p:spPr>
          <a:xfrm flipV="1">
            <a:off x="1523999" y="2857500"/>
            <a:ext cx="6949622" cy="31751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Conector recto de flecha 155">
            <a:extLst>
              <a:ext uri="{FF2B5EF4-FFF2-40B4-BE49-F238E27FC236}">
                <a16:creationId xmlns:a16="http://schemas.microsoft.com/office/drawing/2014/main" id="{629336BF-83C6-1FDF-8604-320CB4C9F9EC}"/>
              </a:ext>
            </a:extLst>
          </p:cNvPr>
          <p:cNvCxnSpPr>
            <a:cxnSpLocks/>
          </p:cNvCxnSpPr>
          <p:nvPr/>
        </p:nvCxnSpPr>
        <p:spPr>
          <a:xfrm flipV="1">
            <a:off x="1518556" y="3494313"/>
            <a:ext cx="6949622" cy="31751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Conector recto de flecha 156">
            <a:extLst>
              <a:ext uri="{FF2B5EF4-FFF2-40B4-BE49-F238E27FC236}">
                <a16:creationId xmlns:a16="http://schemas.microsoft.com/office/drawing/2014/main" id="{1E2018A3-62EE-970D-B821-D3A2DB070167}"/>
              </a:ext>
            </a:extLst>
          </p:cNvPr>
          <p:cNvCxnSpPr>
            <a:cxnSpLocks/>
          </p:cNvCxnSpPr>
          <p:nvPr/>
        </p:nvCxnSpPr>
        <p:spPr>
          <a:xfrm flipV="1">
            <a:off x="1523998" y="3891642"/>
            <a:ext cx="6949622" cy="31751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onector recto de flecha 157">
            <a:extLst>
              <a:ext uri="{FF2B5EF4-FFF2-40B4-BE49-F238E27FC236}">
                <a16:creationId xmlns:a16="http://schemas.microsoft.com/office/drawing/2014/main" id="{5D54C481-8D29-2F15-8A8C-D54259A86D14}"/>
              </a:ext>
            </a:extLst>
          </p:cNvPr>
          <p:cNvCxnSpPr>
            <a:cxnSpLocks/>
          </p:cNvCxnSpPr>
          <p:nvPr/>
        </p:nvCxnSpPr>
        <p:spPr>
          <a:xfrm flipV="1">
            <a:off x="1562098" y="4299855"/>
            <a:ext cx="6949622" cy="31751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CuadroTexto 158">
            <a:extLst>
              <a:ext uri="{FF2B5EF4-FFF2-40B4-BE49-F238E27FC236}">
                <a16:creationId xmlns:a16="http://schemas.microsoft.com/office/drawing/2014/main" id="{FDBE4934-27B3-8AF2-9806-755794E991C9}"/>
              </a:ext>
            </a:extLst>
          </p:cNvPr>
          <p:cNvSpPr txBox="1"/>
          <p:nvPr/>
        </p:nvSpPr>
        <p:spPr>
          <a:xfrm>
            <a:off x="1475014" y="1662792"/>
            <a:ext cx="126274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latin typeface="Reddit Sans"/>
              </a:rPr>
              <a:t>Levantar lecciones aprendidas mesas de servicio operación actual</a:t>
            </a:r>
            <a:endParaRPr lang="es-ES"/>
          </a:p>
        </p:txBody>
      </p:sp>
      <p:sp>
        <p:nvSpPr>
          <p:cNvPr id="160" name="Rounded Rectangle 21">
            <a:extLst>
              <a:ext uri="{FF2B5EF4-FFF2-40B4-BE49-F238E27FC236}">
                <a16:creationId xmlns:a16="http://schemas.microsoft.com/office/drawing/2014/main" id="{4CD09477-E38C-EE17-621C-734ED54B0F30}"/>
              </a:ext>
            </a:extLst>
          </p:cNvPr>
          <p:cNvSpPr/>
          <p:nvPr/>
        </p:nvSpPr>
        <p:spPr>
          <a:xfrm>
            <a:off x="1662132" y="2129787"/>
            <a:ext cx="845983" cy="88610"/>
          </a:xfrm>
          <a:prstGeom prst="round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61" name="CuadroTexto 160">
            <a:extLst>
              <a:ext uri="{FF2B5EF4-FFF2-40B4-BE49-F238E27FC236}">
                <a16:creationId xmlns:a16="http://schemas.microsoft.com/office/drawing/2014/main" id="{23CEA72B-8F42-C6E5-CC5E-7DDBE220B673}"/>
              </a:ext>
            </a:extLst>
          </p:cNvPr>
          <p:cNvSpPr txBox="1"/>
          <p:nvPr/>
        </p:nvSpPr>
        <p:spPr>
          <a:xfrm>
            <a:off x="1600198" y="2000250"/>
            <a:ext cx="113755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latin typeface="Reddit Sans"/>
              </a:rPr>
              <a:t>Caracterizar las mesas de servicio (mercado)</a:t>
            </a:r>
          </a:p>
        </p:txBody>
      </p:sp>
      <p:sp>
        <p:nvSpPr>
          <p:cNvPr id="162" name="Rounded Rectangle 21">
            <a:extLst>
              <a:ext uri="{FF2B5EF4-FFF2-40B4-BE49-F238E27FC236}">
                <a16:creationId xmlns:a16="http://schemas.microsoft.com/office/drawing/2014/main" id="{F5625070-A44A-26FA-CB75-DFA50D0F1E47}"/>
              </a:ext>
            </a:extLst>
          </p:cNvPr>
          <p:cNvSpPr/>
          <p:nvPr/>
        </p:nvSpPr>
        <p:spPr>
          <a:xfrm>
            <a:off x="7007016" y="4682486"/>
            <a:ext cx="1058254" cy="10493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63" name="CuadroTexto 162">
            <a:extLst>
              <a:ext uri="{FF2B5EF4-FFF2-40B4-BE49-F238E27FC236}">
                <a16:creationId xmlns:a16="http://schemas.microsoft.com/office/drawing/2014/main" id="{A379B0E7-4465-0A6B-A743-F2DF6B6596A7}"/>
              </a:ext>
            </a:extLst>
          </p:cNvPr>
          <p:cNvSpPr txBox="1"/>
          <p:nvPr/>
        </p:nvSpPr>
        <p:spPr>
          <a:xfrm>
            <a:off x="6939643" y="4596491"/>
            <a:ext cx="120831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latin typeface="Reddit Sans"/>
              </a:rPr>
              <a:t>*Identificar costos de transición al servicio nuevo</a:t>
            </a:r>
            <a:endParaRPr lang="es-ES" err="1"/>
          </a:p>
        </p:txBody>
      </p:sp>
      <p:sp>
        <p:nvSpPr>
          <p:cNvPr id="164" name="Rounded Rectangle 21">
            <a:extLst>
              <a:ext uri="{FF2B5EF4-FFF2-40B4-BE49-F238E27FC236}">
                <a16:creationId xmlns:a16="http://schemas.microsoft.com/office/drawing/2014/main" id="{AB6E717F-283D-DA6F-377A-7BA7C716D90D}"/>
              </a:ext>
            </a:extLst>
          </p:cNvPr>
          <p:cNvSpPr/>
          <p:nvPr/>
        </p:nvSpPr>
        <p:spPr>
          <a:xfrm>
            <a:off x="2538431" y="1863087"/>
            <a:ext cx="845983" cy="88610"/>
          </a:xfrm>
          <a:prstGeom prst="round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65" name="CuadroTexto 164">
            <a:extLst>
              <a:ext uri="{FF2B5EF4-FFF2-40B4-BE49-F238E27FC236}">
                <a16:creationId xmlns:a16="http://schemas.microsoft.com/office/drawing/2014/main" id="{72F19235-8B32-8B77-8033-22BE696285D4}"/>
              </a:ext>
            </a:extLst>
          </p:cNvPr>
          <p:cNvSpPr txBox="1"/>
          <p:nvPr/>
        </p:nvSpPr>
        <p:spPr>
          <a:xfrm>
            <a:off x="2465614" y="1815191"/>
            <a:ext cx="2264228" cy="1846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latin typeface="Reddit Sans"/>
              </a:rPr>
              <a:t>Diagrama inicial del servicio estandarizado a alto nivel</a:t>
            </a:r>
            <a:endParaRPr lang="es-ES"/>
          </a:p>
        </p:txBody>
      </p:sp>
      <p:grpSp>
        <p:nvGrpSpPr>
          <p:cNvPr id="47" name="Grupo 46">
            <a:extLst>
              <a:ext uri="{FF2B5EF4-FFF2-40B4-BE49-F238E27FC236}">
                <a16:creationId xmlns:a16="http://schemas.microsoft.com/office/drawing/2014/main" id="{3B49FF8A-C846-7D49-A553-59A612C6B5A3}"/>
              </a:ext>
            </a:extLst>
          </p:cNvPr>
          <p:cNvGrpSpPr/>
          <p:nvPr/>
        </p:nvGrpSpPr>
        <p:grpSpPr>
          <a:xfrm>
            <a:off x="3828389" y="2691490"/>
            <a:ext cx="3225551" cy="276999"/>
            <a:chOff x="3790289" y="2647947"/>
            <a:chExt cx="3225551" cy="276999"/>
          </a:xfrm>
        </p:grpSpPr>
        <p:sp>
          <p:nvSpPr>
            <p:cNvPr id="171" name="Rounded Rectangle 21">
              <a:extLst>
                <a:ext uri="{FF2B5EF4-FFF2-40B4-BE49-F238E27FC236}">
                  <a16:creationId xmlns:a16="http://schemas.microsoft.com/office/drawing/2014/main" id="{5AA448EF-F0A3-4DD8-5DCE-B892C81C46D9}"/>
                </a:ext>
              </a:extLst>
            </p:cNvPr>
            <p:cNvSpPr/>
            <p:nvPr/>
          </p:nvSpPr>
          <p:spPr>
            <a:xfrm>
              <a:off x="3790289" y="2695842"/>
              <a:ext cx="3137426" cy="83169"/>
            </a:xfrm>
            <a:prstGeom prst="roundRect">
              <a:avLst/>
            </a:prstGeom>
            <a:solidFill>
              <a:schemeClr val="accent2">
                <a:lumMod val="25000"/>
                <a:lumOff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342900"/>
              <a:endParaRPr lang="es-ES" sz="600" kern="1200">
                <a:solidFill>
                  <a:srgbClr val="000000"/>
                </a:solidFill>
                <a:latin typeface="Reddit Sans"/>
                <a:ea typeface="Reddit Sans"/>
              </a:endParaRPr>
            </a:p>
          </p:txBody>
        </p:sp>
        <p:sp>
          <p:nvSpPr>
            <p:cNvPr id="172" name="CuadroTexto 171">
              <a:extLst>
                <a:ext uri="{FF2B5EF4-FFF2-40B4-BE49-F238E27FC236}">
                  <a16:creationId xmlns:a16="http://schemas.microsoft.com/office/drawing/2014/main" id="{E9FE6999-A6A7-E2E8-7379-1C52E53878E7}"/>
                </a:ext>
              </a:extLst>
            </p:cNvPr>
            <p:cNvSpPr txBox="1"/>
            <p:nvPr/>
          </p:nvSpPr>
          <p:spPr>
            <a:xfrm>
              <a:off x="3848096" y="2647947"/>
              <a:ext cx="3167744" cy="276999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s-ES" sz="600">
                  <a:latin typeface="Reddit Sans"/>
                </a:rPr>
                <a:t>Piloto herramientas/agentes/automatizaciones para las mesas de servicio (</a:t>
              </a:r>
              <a:r>
                <a:rPr lang="es-ES" sz="600" err="1">
                  <a:latin typeface="Reddit Sans"/>
                </a:rPr>
                <a:t>reuso</a:t>
              </a:r>
              <a:r>
                <a:rPr lang="es-ES" sz="600">
                  <a:latin typeface="Reddit Sans"/>
                </a:rPr>
                <a:t> o construcción nuevas)</a:t>
              </a:r>
              <a:endParaRPr lang="es-ES"/>
            </a:p>
          </p:txBody>
        </p:sp>
      </p:grpSp>
      <p:sp>
        <p:nvSpPr>
          <p:cNvPr id="173" name="Rounded Rectangle 21">
            <a:extLst>
              <a:ext uri="{FF2B5EF4-FFF2-40B4-BE49-F238E27FC236}">
                <a16:creationId xmlns:a16="http://schemas.microsoft.com/office/drawing/2014/main" id="{891BC76A-4C2F-3071-5AD9-7A5D38D13446}"/>
              </a:ext>
            </a:extLst>
          </p:cNvPr>
          <p:cNvSpPr/>
          <p:nvPr/>
        </p:nvSpPr>
        <p:spPr>
          <a:xfrm>
            <a:off x="6054516" y="2260415"/>
            <a:ext cx="1384826" cy="83168"/>
          </a:xfrm>
          <a:prstGeom prst="round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74" name="Rounded Rectangle 21">
            <a:extLst>
              <a:ext uri="{FF2B5EF4-FFF2-40B4-BE49-F238E27FC236}">
                <a16:creationId xmlns:a16="http://schemas.microsoft.com/office/drawing/2014/main" id="{40BC8697-7EC2-FDD0-5975-6A6E6FED0E64}"/>
              </a:ext>
            </a:extLst>
          </p:cNvPr>
          <p:cNvSpPr/>
          <p:nvPr/>
        </p:nvSpPr>
        <p:spPr>
          <a:xfrm>
            <a:off x="6778421" y="105043"/>
            <a:ext cx="1733164" cy="126711"/>
          </a:xfrm>
          <a:prstGeom prst="round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r>
              <a:rPr lang="es-ES" sz="600" kern="1200">
                <a:solidFill>
                  <a:srgbClr val="000000"/>
                </a:solidFill>
                <a:latin typeface="Reddit Sans"/>
                <a:ea typeface="Reddit Sans"/>
              </a:rPr>
              <a:t>Historias de usuario servicio optimo</a:t>
            </a:r>
          </a:p>
        </p:txBody>
      </p:sp>
      <p:sp>
        <p:nvSpPr>
          <p:cNvPr id="178" name="Rounded Rectangle 21">
            <a:extLst>
              <a:ext uri="{FF2B5EF4-FFF2-40B4-BE49-F238E27FC236}">
                <a16:creationId xmlns:a16="http://schemas.microsoft.com/office/drawing/2014/main" id="{E2AA5A9D-22D0-3A10-B9C4-093CEFEACE2B}"/>
              </a:ext>
            </a:extLst>
          </p:cNvPr>
          <p:cNvSpPr/>
          <p:nvPr/>
        </p:nvSpPr>
        <p:spPr>
          <a:xfrm>
            <a:off x="6990689" y="4350472"/>
            <a:ext cx="437769" cy="8316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80" name="CuadroTexto 179">
            <a:extLst>
              <a:ext uri="{FF2B5EF4-FFF2-40B4-BE49-F238E27FC236}">
                <a16:creationId xmlns:a16="http://schemas.microsoft.com/office/drawing/2014/main" id="{E451BAF3-B5C4-E221-DC3C-F6D781574CA8}"/>
              </a:ext>
            </a:extLst>
          </p:cNvPr>
          <p:cNvSpPr txBox="1"/>
          <p:nvPr/>
        </p:nvSpPr>
        <p:spPr>
          <a:xfrm>
            <a:off x="6885216" y="4253591"/>
            <a:ext cx="121375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latin typeface="Reddit Sans"/>
              </a:rPr>
              <a:t>*Priorizar las mesas a </a:t>
            </a:r>
            <a:r>
              <a:rPr lang="es-CO" sz="600" err="1">
                <a:latin typeface="Reddit Sans"/>
              </a:rPr>
              <a:t>transicionar</a:t>
            </a:r>
            <a:endParaRPr lang="es-CO" sz="600">
              <a:latin typeface="Reddit Sans"/>
            </a:endParaRPr>
          </a:p>
        </p:txBody>
      </p:sp>
      <p:sp>
        <p:nvSpPr>
          <p:cNvPr id="181" name="Rounded Rectangle 21">
            <a:extLst>
              <a:ext uri="{FF2B5EF4-FFF2-40B4-BE49-F238E27FC236}">
                <a16:creationId xmlns:a16="http://schemas.microsoft.com/office/drawing/2014/main" id="{15FA741A-E940-6E97-15B5-7C4C823EEF99}"/>
              </a:ext>
            </a:extLst>
          </p:cNvPr>
          <p:cNvSpPr/>
          <p:nvPr/>
        </p:nvSpPr>
        <p:spPr>
          <a:xfrm>
            <a:off x="7540415" y="4448442"/>
            <a:ext cx="1210654" cy="10494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82" name="CuadroTexto 181">
            <a:extLst>
              <a:ext uri="{FF2B5EF4-FFF2-40B4-BE49-F238E27FC236}">
                <a16:creationId xmlns:a16="http://schemas.microsoft.com/office/drawing/2014/main" id="{DC2B6ADF-0848-643D-DBF6-0201E25A007D}"/>
              </a:ext>
            </a:extLst>
          </p:cNvPr>
          <p:cNvSpPr txBox="1"/>
          <p:nvPr/>
        </p:nvSpPr>
        <p:spPr>
          <a:xfrm>
            <a:off x="7619998" y="4378775"/>
            <a:ext cx="126818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latin typeface="Reddit Sans"/>
              </a:rPr>
              <a:t>*Iniciar creación plan de transición operación actual</a:t>
            </a:r>
            <a:endParaRPr lang="es-ES"/>
          </a:p>
        </p:txBody>
      </p:sp>
      <p:sp>
        <p:nvSpPr>
          <p:cNvPr id="185" name="Rounded Rectangle 25">
            <a:extLst>
              <a:ext uri="{FF2B5EF4-FFF2-40B4-BE49-F238E27FC236}">
                <a16:creationId xmlns:a16="http://schemas.microsoft.com/office/drawing/2014/main" id="{32B49168-0274-3E40-263F-6ECCBD77DB41}"/>
              </a:ext>
            </a:extLst>
          </p:cNvPr>
          <p:cNvSpPr/>
          <p:nvPr/>
        </p:nvSpPr>
        <p:spPr>
          <a:xfrm>
            <a:off x="4725480" y="2919000"/>
            <a:ext cx="803149" cy="94053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700" kern="12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86" name="Rounded Rectangle 21">
            <a:extLst>
              <a:ext uri="{FF2B5EF4-FFF2-40B4-BE49-F238E27FC236}">
                <a16:creationId xmlns:a16="http://schemas.microsoft.com/office/drawing/2014/main" id="{C2B6B279-8305-CE42-86A5-4A577DCCAD64}"/>
              </a:ext>
            </a:extLst>
          </p:cNvPr>
          <p:cNvSpPr/>
          <p:nvPr/>
        </p:nvSpPr>
        <p:spPr>
          <a:xfrm>
            <a:off x="6783863" y="268332"/>
            <a:ext cx="1733165" cy="12671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r>
              <a:rPr lang="es-ES" sz="600" kern="1200">
                <a:solidFill>
                  <a:srgbClr val="000000"/>
                </a:solidFill>
                <a:latin typeface="Reddit Sans"/>
                <a:ea typeface="Reddit Sans"/>
                <a:cs typeface="Arial"/>
              </a:rPr>
              <a:t>Validación y </a:t>
            </a:r>
            <a:r>
              <a:rPr lang="es-ES" sz="600" kern="1200" err="1">
                <a:solidFill>
                  <a:srgbClr val="000000"/>
                </a:solidFill>
                <a:latin typeface="Reddit Sans"/>
                <a:ea typeface="Reddit Sans"/>
                <a:cs typeface="Arial"/>
              </a:rPr>
              <a:t>feedback</a:t>
            </a:r>
            <a:r>
              <a:rPr lang="es-ES" sz="600" kern="1200">
                <a:solidFill>
                  <a:srgbClr val="000000"/>
                </a:solidFill>
                <a:latin typeface="Reddit Sans"/>
                <a:ea typeface="Reddit Sans"/>
                <a:cs typeface="Arial"/>
              </a:rPr>
              <a:t> del servicio</a:t>
            </a:r>
          </a:p>
        </p:txBody>
      </p:sp>
      <p:sp>
        <p:nvSpPr>
          <p:cNvPr id="187" name="Rounded Rectangle 21">
            <a:extLst>
              <a:ext uri="{FF2B5EF4-FFF2-40B4-BE49-F238E27FC236}">
                <a16:creationId xmlns:a16="http://schemas.microsoft.com/office/drawing/2014/main" id="{D5B128C5-B672-C7F9-4B8C-6FB231567AE3}"/>
              </a:ext>
            </a:extLst>
          </p:cNvPr>
          <p:cNvSpPr/>
          <p:nvPr/>
        </p:nvSpPr>
        <p:spPr>
          <a:xfrm>
            <a:off x="6800191" y="437058"/>
            <a:ext cx="1711393" cy="12671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r>
              <a:rPr lang="es-ES" sz="600" kern="1200">
                <a:solidFill>
                  <a:srgbClr val="000000"/>
                </a:solidFill>
                <a:latin typeface="Reddit Sans"/>
                <a:ea typeface="Reddit Sans"/>
              </a:rPr>
              <a:t>Habilitaciones equipo comercial y operación</a:t>
            </a:r>
          </a:p>
        </p:txBody>
      </p:sp>
      <p:sp>
        <p:nvSpPr>
          <p:cNvPr id="189" name="CuadroTexto 188">
            <a:extLst>
              <a:ext uri="{FF2B5EF4-FFF2-40B4-BE49-F238E27FC236}">
                <a16:creationId xmlns:a16="http://schemas.microsoft.com/office/drawing/2014/main" id="{DA53FA94-1164-92A0-D3E8-C53C805AA8AD}"/>
              </a:ext>
            </a:extLst>
          </p:cNvPr>
          <p:cNvSpPr txBox="1"/>
          <p:nvPr/>
        </p:nvSpPr>
        <p:spPr>
          <a:xfrm>
            <a:off x="4675414" y="2876550"/>
            <a:ext cx="1191986" cy="1846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latin typeface="Reddit Sans"/>
              </a:rPr>
              <a:t>Validación y feedback</a:t>
            </a:r>
          </a:p>
        </p:txBody>
      </p:sp>
      <p:sp>
        <p:nvSpPr>
          <p:cNvPr id="194" name="Rounded Rectangle 21">
            <a:extLst>
              <a:ext uri="{FF2B5EF4-FFF2-40B4-BE49-F238E27FC236}">
                <a16:creationId xmlns:a16="http://schemas.microsoft.com/office/drawing/2014/main" id="{DAA21406-89E2-459A-4A5A-DDECF6872EE9}"/>
              </a:ext>
            </a:extLst>
          </p:cNvPr>
          <p:cNvSpPr/>
          <p:nvPr/>
        </p:nvSpPr>
        <p:spPr>
          <a:xfrm>
            <a:off x="5635414" y="2919001"/>
            <a:ext cx="1793037" cy="88610"/>
          </a:xfrm>
          <a:prstGeom prst="round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95" name="CuadroTexto 194">
            <a:extLst>
              <a:ext uri="{FF2B5EF4-FFF2-40B4-BE49-F238E27FC236}">
                <a16:creationId xmlns:a16="http://schemas.microsoft.com/office/drawing/2014/main" id="{08D72159-319B-C816-9563-22D50CE9EB72}"/>
              </a:ext>
            </a:extLst>
          </p:cNvPr>
          <p:cNvSpPr txBox="1"/>
          <p:nvPr/>
        </p:nvSpPr>
        <p:spPr>
          <a:xfrm>
            <a:off x="5568041" y="2871108"/>
            <a:ext cx="2313214" cy="184666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latin typeface="Reddit Sans"/>
              </a:rPr>
              <a:t>Diseñarla calculadora del servicio (plantilla de estimación)</a:t>
            </a:r>
          </a:p>
        </p:txBody>
      </p:sp>
      <p:sp>
        <p:nvSpPr>
          <p:cNvPr id="199" name="Rounded Rectangle 21">
            <a:extLst>
              <a:ext uri="{FF2B5EF4-FFF2-40B4-BE49-F238E27FC236}">
                <a16:creationId xmlns:a16="http://schemas.microsoft.com/office/drawing/2014/main" id="{48978DE4-B3E0-0B34-EF8D-C00F491B9C54}"/>
              </a:ext>
            </a:extLst>
          </p:cNvPr>
          <p:cNvSpPr/>
          <p:nvPr/>
        </p:nvSpPr>
        <p:spPr>
          <a:xfrm>
            <a:off x="5591874" y="3098616"/>
            <a:ext cx="2255680" cy="83169"/>
          </a:xfrm>
          <a:prstGeom prst="round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200" name="CuadroTexto 199">
            <a:extLst>
              <a:ext uri="{FF2B5EF4-FFF2-40B4-BE49-F238E27FC236}">
                <a16:creationId xmlns:a16="http://schemas.microsoft.com/office/drawing/2014/main" id="{B6201EDC-CC68-5DD5-5D2C-5382B78A97E6}"/>
              </a:ext>
            </a:extLst>
          </p:cNvPr>
          <p:cNvSpPr txBox="1"/>
          <p:nvPr/>
        </p:nvSpPr>
        <p:spPr>
          <a:xfrm>
            <a:off x="5529938" y="3050716"/>
            <a:ext cx="3450773" cy="184666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latin typeface="Reddit Sans"/>
              </a:rPr>
              <a:t>Creación de colaterales servicio nuevo equipo comercial (contratos, propuestas, </a:t>
            </a:r>
            <a:r>
              <a:rPr lang="es-ES" sz="600" err="1">
                <a:latin typeface="Reddit Sans"/>
              </a:rPr>
              <a:t>wbs</a:t>
            </a:r>
            <a:r>
              <a:rPr lang="es-ES" sz="600">
                <a:latin typeface="Reddit Sans"/>
              </a:rPr>
              <a:t>, ...)</a:t>
            </a:r>
          </a:p>
        </p:txBody>
      </p:sp>
      <p:sp>
        <p:nvSpPr>
          <p:cNvPr id="204" name="Rounded Rectangle 21">
            <a:extLst>
              <a:ext uri="{FF2B5EF4-FFF2-40B4-BE49-F238E27FC236}">
                <a16:creationId xmlns:a16="http://schemas.microsoft.com/office/drawing/2014/main" id="{A5943974-5799-F84A-1E6E-4C5D982EC9A5}"/>
              </a:ext>
            </a:extLst>
          </p:cNvPr>
          <p:cNvSpPr/>
          <p:nvPr/>
        </p:nvSpPr>
        <p:spPr>
          <a:xfrm>
            <a:off x="6103508" y="3512273"/>
            <a:ext cx="1384821" cy="99496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r>
              <a:rPr lang="es-ES" sz="600" kern="1200">
                <a:solidFill>
                  <a:srgbClr val="000000"/>
                </a:solidFill>
                <a:latin typeface="Reddit Sans"/>
                <a:ea typeface="Reddit Sans"/>
              </a:rPr>
              <a:t>Validación y  evolución del servicio</a:t>
            </a:r>
            <a:endParaRPr lang="es-ES"/>
          </a:p>
        </p:txBody>
      </p:sp>
      <p:sp>
        <p:nvSpPr>
          <p:cNvPr id="205" name="Rounded Rectangle 21">
            <a:extLst>
              <a:ext uri="{FF2B5EF4-FFF2-40B4-BE49-F238E27FC236}">
                <a16:creationId xmlns:a16="http://schemas.microsoft.com/office/drawing/2014/main" id="{B9738A09-EF12-CD41-21D1-CC5398A921D7}"/>
              </a:ext>
            </a:extLst>
          </p:cNvPr>
          <p:cNvSpPr/>
          <p:nvPr/>
        </p:nvSpPr>
        <p:spPr>
          <a:xfrm>
            <a:off x="6059959" y="3365312"/>
            <a:ext cx="1820252" cy="99497"/>
          </a:xfrm>
          <a:prstGeom prst="round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206" name="CuadroTexto 205">
            <a:extLst>
              <a:ext uri="{FF2B5EF4-FFF2-40B4-BE49-F238E27FC236}">
                <a16:creationId xmlns:a16="http://schemas.microsoft.com/office/drawing/2014/main" id="{EAB8AC16-1A75-B07B-67E5-8D9032D8199F}"/>
              </a:ext>
            </a:extLst>
          </p:cNvPr>
          <p:cNvSpPr txBox="1"/>
          <p:nvPr/>
        </p:nvSpPr>
        <p:spPr>
          <a:xfrm>
            <a:off x="6052454" y="3328304"/>
            <a:ext cx="3341916" cy="184666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latin typeface="Reddit Sans"/>
                <a:ea typeface="Reddit Sans"/>
              </a:rPr>
              <a:t>Creación de colaterales servicio</a:t>
            </a:r>
            <a:r>
              <a:rPr lang="es-ES" sz="600">
                <a:latin typeface="Reddit Sans"/>
              </a:rPr>
              <a:t> nuevos equipo de la operación</a:t>
            </a:r>
            <a:endParaRPr lang="es-ES"/>
          </a:p>
        </p:txBody>
      </p:sp>
      <p:sp>
        <p:nvSpPr>
          <p:cNvPr id="207" name="Rounded Rectangle 21">
            <a:extLst>
              <a:ext uri="{FF2B5EF4-FFF2-40B4-BE49-F238E27FC236}">
                <a16:creationId xmlns:a16="http://schemas.microsoft.com/office/drawing/2014/main" id="{9EC06F50-C9B0-C182-6C30-B084237CFC3F}"/>
              </a:ext>
            </a:extLst>
          </p:cNvPr>
          <p:cNvSpPr/>
          <p:nvPr/>
        </p:nvSpPr>
        <p:spPr>
          <a:xfrm>
            <a:off x="7447886" y="4159969"/>
            <a:ext cx="1346726" cy="88612"/>
          </a:xfrm>
          <a:prstGeom prst="round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208" name="CuadroTexto 207">
            <a:extLst>
              <a:ext uri="{FF2B5EF4-FFF2-40B4-BE49-F238E27FC236}">
                <a16:creationId xmlns:a16="http://schemas.microsoft.com/office/drawing/2014/main" id="{BD3B7044-81A8-6135-06D6-F5AE7632D3C3}"/>
              </a:ext>
            </a:extLst>
          </p:cNvPr>
          <p:cNvSpPr txBox="1"/>
          <p:nvPr/>
        </p:nvSpPr>
        <p:spPr>
          <a:xfrm>
            <a:off x="7391399" y="4019543"/>
            <a:ext cx="1328057" cy="27699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latin typeface="Reddit Sans"/>
              </a:rPr>
              <a:t>Inicio actualización del servicio en la herramienta de procesos</a:t>
            </a:r>
            <a:endParaRPr lang="es-ES" err="1"/>
          </a:p>
        </p:txBody>
      </p:sp>
      <p:sp>
        <p:nvSpPr>
          <p:cNvPr id="3" name="Rounded Rectangle 21">
            <a:extLst>
              <a:ext uri="{FF2B5EF4-FFF2-40B4-BE49-F238E27FC236}">
                <a16:creationId xmlns:a16="http://schemas.microsoft.com/office/drawing/2014/main" id="{90E54E0B-872A-A20E-E58D-2A3DB519666B}"/>
              </a:ext>
            </a:extLst>
          </p:cNvPr>
          <p:cNvSpPr/>
          <p:nvPr/>
        </p:nvSpPr>
        <p:spPr>
          <a:xfrm>
            <a:off x="6794749" y="627558"/>
            <a:ext cx="1727720" cy="115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r>
              <a:rPr lang="es-CO" sz="600" kern="1200">
                <a:solidFill>
                  <a:srgbClr val="000000"/>
                </a:solidFill>
                <a:latin typeface="Reddit Sans"/>
                <a:ea typeface="Reddit Sans"/>
              </a:rPr>
              <a:t>Transición operación actual</a:t>
            </a:r>
            <a:endParaRPr lang="es-CO">
              <a:cs typeface="Arial"/>
            </a:endParaRPr>
          </a:p>
        </p:txBody>
      </p:sp>
      <p:sp>
        <p:nvSpPr>
          <p:cNvPr id="6" name="Estrella: 5 puntas 5">
            <a:extLst>
              <a:ext uri="{FF2B5EF4-FFF2-40B4-BE49-F238E27FC236}">
                <a16:creationId xmlns:a16="http://schemas.microsoft.com/office/drawing/2014/main" id="{03BCFCD6-8B00-0022-AEB9-F83BC0A815EF}"/>
              </a:ext>
            </a:extLst>
          </p:cNvPr>
          <p:cNvSpPr/>
          <p:nvPr/>
        </p:nvSpPr>
        <p:spPr>
          <a:xfrm>
            <a:off x="3182982" y="1461948"/>
            <a:ext cx="97972" cy="114301"/>
          </a:xfrm>
          <a:prstGeom prst="star5">
            <a:avLst/>
          </a:prstGeom>
          <a:solidFill>
            <a:schemeClr val="accent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Estrella: 5 puntas 6">
            <a:extLst>
              <a:ext uri="{FF2B5EF4-FFF2-40B4-BE49-F238E27FC236}">
                <a16:creationId xmlns:a16="http://schemas.microsoft.com/office/drawing/2014/main" id="{8AABABBB-F742-B5D8-247A-0A26DEDF21CB}"/>
              </a:ext>
            </a:extLst>
          </p:cNvPr>
          <p:cNvSpPr/>
          <p:nvPr/>
        </p:nvSpPr>
        <p:spPr>
          <a:xfrm>
            <a:off x="4930139" y="1461948"/>
            <a:ext cx="97972" cy="114301"/>
          </a:xfrm>
          <a:prstGeom prst="star5">
            <a:avLst/>
          </a:prstGeom>
          <a:solidFill>
            <a:schemeClr val="accent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Estrella: 5 puntas 7">
            <a:extLst>
              <a:ext uri="{FF2B5EF4-FFF2-40B4-BE49-F238E27FC236}">
                <a16:creationId xmlns:a16="http://schemas.microsoft.com/office/drawing/2014/main" id="{4A52948B-8E14-97F4-1295-422D19890ECD}"/>
              </a:ext>
            </a:extLst>
          </p:cNvPr>
          <p:cNvSpPr/>
          <p:nvPr/>
        </p:nvSpPr>
        <p:spPr>
          <a:xfrm>
            <a:off x="6748053" y="1478276"/>
            <a:ext cx="97972" cy="114301"/>
          </a:xfrm>
          <a:prstGeom prst="star5">
            <a:avLst/>
          </a:prstGeom>
          <a:solidFill>
            <a:schemeClr val="accent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EA2BFDA0-7740-6B2F-3B49-C7E6E9279FED}"/>
              </a:ext>
            </a:extLst>
          </p:cNvPr>
          <p:cNvGrpSpPr/>
          <p:nvPr/>
        </p:nvGrpSpPr>
        <p:grpSpPr>
          <a:xfrm>
            <a:off x="8837920" y="4677043"/>
            <a:ext cx="288441" cy="66839"/>
            <a:chOff x="7466320" y="4883873"/>
            <a:chExt cx="1034112" cy="94052"/>
          </a:xfrm>
        </p:grpSpPr>
        <p:sp>
          <p:nvSpPr>
            <p:cNvPr id="210" name="Rounded Rectangle 25">
              <a:extLst>
                <a:ext uri="{FF2B5EF4-FFF2-40B4-BE49-F238E27FC236}">
                  <a16:creationId xmlns:a16="http://schemas.microsoft.com/office/drawing/2014/main" id="{48BA21B8-BFDD-F15E-4383-2279F41541CA}"/>
                </a:ext>
              </a:extLst>
            </p:cNvPr>
            <p:cNvSpPr/>
            <p:nvPr/>
          </p:nvSpPr>
          <p:spPr>
            <a:xfrm>
              <a:off x="7490456" y="4883873"/>
              <a:ext cx="1009976" cy="94052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342900"/>
              <a:endParaRPr lang="es-ES" sz="600" kern="1200">
                <a:solidFill>
                  <a:srgbClr val="000000"/>
                </a:solidFill>
                <a:latin typeface="Reddit Sans"/>
                <a:ea typeface="Reddit Sans"/>
              </a:endParaRPr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F1358A03-719B-5171-138E-75FE23A85588}"/>
                </a:ext>
              </a:extLst>
            </p:cNvPr>
            <p:cNvSpPr/>
            <p:nvPr/>
          </p:nvSpPr>
          <p:spPr>
            <a:xfrm rot="5400000">
              <a:off x="7937126" y="4413676"/>
              <a:ext cx="76202" cy="1017814"/>
            </a:xfrm>
            <a:prstGeom prst="rtTriangl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44" name="Grupo 43">
            <a:extLst>
              <a:ext uri="{FF2B5EF4-FFF2-40B4-BE49-F238E27FC236}">
                <a16:creationId xmlns:a16="http://schemas.microsoft.com/office/drawing/2014/main" id="{DC6312B8-45DC-0FA5-B54B-684D5FA8E8CD}"/>
              </a:ext>
            </a:extLst>
          </p:cNvPr>
          <p:cNvGrpSpPr/>
          <p:nvPr/>
        </p:nvGrpSpPr>
        <p:grpSpPr>
          <a:xfrm>
            <a:off x="369335" y="1625669"/>
            <a:ext cx="1104897" cy="609244"/>
            <a:chOff x="369335" y="1625669"/>
            <a:chExt cx="1104897" cy="609244"/>
          </a:xfrm>
        </p:grpSpPr>
        <p:sp>
          <p:nvSpPr>
            <p:cNvPr id="13" name="OTLSHAPE_SL_79f05e8de72e4cc385fce875fa65517f_HeaderRectangle">
              <a:extLst>
                <a:ext uri="{FF2B5EF4-FFF2-40B4-BE49-F238E27FC236}">
                  <a16:creationId xmlns:a16="http://schemas.microsoft.com/office/drawing/2014/main" id="{A5A41D1C-ECCD-1965-0B93-F231803E5857}"/>
                </a:ext>
              </a:extLst>
            </p:cNvPr>
            <p:cNvSpPr/>
            <p:nvPr/>
          </p:nvSpPr>
          <p:spPr>
            <a:xfrm>
              <a:off x="369335" y="1625669"/>
              <a:ext cx="1104897" cy="60924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>
              <a:miter lim="400000"/>
            </a:ln>
          </p:spPr>
          <p:txBody>
            <a:bodyPr lIns="34289" rIns="34289" anchor="ctr"/>
            <a:lstStyle>
              <a:defPPr>
                <a:defRPr lang="es-CO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>
                  <a:solidFill>
                    <a:srgbClr val="FFFFFF"/>
                  </a:solidFill>
                </a:defRPr>
              </a:pPr>
              <a:endParaRPr sz="1013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92957911-061F-EF33-370D-FACCC14DD2FC}"/>
                </a:ext>
              </a:extLst>
            </p:cNvPr>
            <p:cNvSpPr txBox="1"/>
            <p:nvPr/>
          </p:nvSpPr>
          <p:spPr>
            <a:xfrm>
              <a:off x="460566" y="1730827"/>
              <a:ext cx="927777" cy="415498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algn="ctr" defTabSz="342900">
                <a:buClrTx/>
                <a:defRPr sz="1300" b="1">
                  <a:solidFill>
                    <a:srgbClr val="3C3C3C"/>
                  </a:solidFill>
                </a:defRPr>
              </a:pPr>
              <a:r>
                <a:rPr lang="es-CO" sz="700" b="1">
                  <a:latin typeface="Reddit Sans"/>
                  <a:ea typeface="Reddit Sans"/>
                </a:rPr>
                <a:t>Evaluación inicial de la </a:t>
              </a:r>
              <a:r>
                <a:rPr lang="es-CO" sz="700" b="1" err="1">
                  <a:latin typeface="Reddit Sans"/>
                  <a:ea typeface="Reddit Sans"/>
                </a:rPr>
                <a:t>operacion</a:t>
              </a:r>
              <a:r>
                <a:rPr lang="es-CO" sz="700" b="1">
                  <a:latin typeface="Reddit Sans"/>
                  <a:ea typeface="Reddit Sans"/>
                </a:rPr>
                <a:t> y el mercado</a:t>
              </a:r>
            </a:p>
          </p:txBody>
        </p:sp>
      </p:grp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5952968-E528-18D7-B377-B7716762F11D}"/>
              </a:ext>
            </a:extLst>
          </p:cNvPr>
          <p:cNvSpPr txBox="1"/>
          <p:nvPr/>
        </p:nvSpPr>
        <p:spPr>
          <a:xfrm>
            <a:off x="8577942" y="4542062"/>
            <a:ext cx="92528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latin typeface="Reddit Sans"/>
              </a:rPr>
              <a:t>*Inicio habilitación clientes actuales</a:t>
            </a:r>
            <a:endParaRPr lang="es-E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598BE0B-C466-DD8F-80A1-A8A324128967}"/>
              </a:ext>
            </a:extLst>
          </p:cNvPr>
          <p:cNvSpPr/>
          <p:nvPr/>
        </p:nvSpPr>
        <p:spPr>
          <a:xfrm>
            <a:off x="2979302" y="2091687"/>
            <a:ext cx="399669" cy="94053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E6BC3E3-D257-EDEF-07F5-30B8EEB9B332}"/>
              </a:ext>
            </a:extLst>
          </p:cNvPr>
          <p:cNvSpPr txBox="1"/>
          <p:nvPr/>
        </p:nvSpPr>
        <p:spPr>
          <a:xfrm>
            <a:off x="2917370" y="2038351"/>
            <a:ext cx="1807029" cy="1846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 err="1">
                <a:latin typeface="Reddit Sans"/>
              </a:rPr>
              <a:t>Alineac</a:t>
            </a:r>
            <a:r>
              <a:rPr lang="es-ES" sz="600">
                <a:latin typeface="Reddit Sans"/>
              </a:rPr>
              <a:t>ión de </a:t>
            </a:r>
            <a:r>
              <a:rPr lang="es-ES" sz="600" err="1">
                <a:latin typeface="Reddit Sans"/>
              </a:rPr>
              <a:t>espectivas</a:t>
            </a:r>
            <a:r>
              <a:rPr lang="es-ES" sz="600">
                <a:latin typeface="Reddit Sans"/>
              </a:rPr>
              <a:t> servicio nuevo</a:t>
            </a:r>
            <a:endParaRPr lang="es-ES"/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D009B94A-EF1C-08A8-06FC-149CCDBC00D3}"/>
              </a:ext>
            </a:extLst>
          </p:cNvPr>
          <p:cNvCxnSpPr>
            <a:cxnSpLocks/>
          </p:cNvCxnSpPr>
          <p:nvPr/>
        </p:nvCxnSpPr>
        <p:spPr>
          <a:xfrm flipV="1">
            <a:off x="1529442" y="2215242"/>
            <a:ext cx="6949622" cy="31751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21">
            <a:extLst>
              <a:ext uri="{FF2B5EF4-FFF2-40B4-BE49-F238E27FC236}">
                <a16:creationId xmlns:a16="http://schemas.microsoft.com/office/drawing/2014/main" id="{614464EC-FCB6-4BE8-6D9F-80112B5B3953}"/>
              </a:ext>
            </a:extLst>
          </p:cNvPr>
          <p:cNvSpPr/>
          <p:nvPr/>
        </p:nvSpPr>
        <p:spPr>
          <a:xfrm>
            <a:off x="3637888" y="2478129"/>
            <a:ext cx="818769" cy="83168"/>
          </a:xfrm>
          <a:prstGeom prst="round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38" name="Rounded Rectangle 21">
            <a:extLst>
              <a:ext uri="{FF2B5EF4-FFF2-40B4-BE49-F238E27FC236}">
                <a16:creationId xmlns:a16="http://schemas.microsoft.com/office/drawing/2014/main" id="{DE3FB594-06DE-EA01-5312-44503C7BB7FF}"/>
              </a:ext>
            </a:extLst>
          </p:cNvPr>
          <p:cNvSpPr/>
          <p:nvPr/>
        </p:nvSpPr>
        <p:spPr>
          <a:xfrm>
            <a:off x="3382074" y="2260414"/>
            <a:ext cx="960282" cy="83168"/>
          </a:xfrm>
          <a:prstGeom prst="round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AD443C5D-CC75-E4FA-3A09-1F052E15C89A}"/>
              </a:ext>
            </a:extLst>
          </p:cNvPr>
          <p:cNvSpPr txBox="1"/>
          <p:nvPr/>
        </p:nvSpPr>
        <p:spPr>
          <a:xfrm>
            <a:off x="3363679" y="2163530"/>
            <a:ext cx="1094017" cy="27699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latin typeface="Reddit Sans"/>
              </a:rPr>
              <a:t>Definir modelo de Niveles de servicio</a:t>
            </a:r>
            <a:endParaRPr lang="es-ES"/>
          </a:p>
        </p:txBody>
      </p:sp>
      <p:sp>
        <p:nvSpPr>
          <p:cNvPr id="40" name="Rounded Rectangle 21">
            <a:extLst>
              <a:ext uri="{FF2B5EF4-FFF2-40B4-BE49-F238E27FC236}">
                <a16:creationId xmlns:a16="http://schemas.microsoft.com/office/drawing/2014/main" id="{B5CB48ED-556A-F9CD-BFC4-1785DFE9D990}"/>
              </a:ext>
            </a:extLst>
          </p:cNvPr>
          <p:cNvSpPr/>
          <p:nvPr/>
        </p:nvSpPr>
        <p:spPr>
          <a:xfrm>
            <a:off x="5608203" y="2445473"/>
            <a:ext cx="845983" cy="88610"/>
          </a:xfrm>
          <a:prstGeom prst="round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EB8BD911-F65E-3726-A354-D8F2AAAC33B5}"/>
              </a:ext>
            </a:extLst>
          </p:cNvPr>
          <p:cNvSpPr txBox="1"/>
          <p:nvPr/>
        </p:nvSpPr>
        <p:spPr>
          <a:xfrm>
            <a:off x="5540824" y="2408460"/>
            <a:ext cx="2024743" cy="184666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latin typeface="Reddit Sans"/>
              </a:rPr>
              <a:t>Definir herramientas (agentes/</a:t>
            </a:r>
            <a:r>
              <a:rPr lang="es-ES" sz="600" err="1">
                <a:latin typeface="Reddit Sans"/>
              </a:rPr>
              <a:t>re-uso</a:t>
            </a:r>
            <a:r>
              <a:rPr lang="es-ES" sz="600">
                <a:latin typeface="Reddit Sans"/>
              </a:rPr>
              <a:t>) de las mesas </a:t>
            </a:r>
            <a:endParaRPr lang="es-ES"/>
          </a:p>
        </p:txBody>
      </p:sp>
      <p:grpSp>
        <p:nvGrpSpPr>
          <p:cNvPr id="57" name="Grupo 56">
            <a:extLst>
              <a:ext uri="{FF2B5EF4-FFF2-40B4-BE49-F238E27FC236}">
                <a16:creationId xmlns:a16="http://schemas.microsoft.com/office/drawing/2014/main" id="{2F870D29-33D7-3DAA-5690-A737705040E2}"/>
              </a:ext>
            </a:extLst>
          </p:cNvPr>
          <p:cNvGrpSpPr/>
          <p:nvPr/>
        </p:nvGrpSpPr>
        <p:grpSpPr>
          <a:xfrm>
            <a:off x="4073317" y="2560858"/>
            <a:ext cx="1130050" cy="184666"/>
            <a:chOff x="4367231" y="2566301"/>
            <a:chExt cx="1130050" cy="184666"/>
          </a:xfrm>
        </p:grpSpPr>
        <p:sp>
          <p:nvSpPr>
            <p:cNvPr id="49" name="Rounded Rectangle 21">
              <a:extLst>
                <a:ext uri="{FF2B5EF4-FFF2-40B4-BE49-F238E27FC236}">
                  <a16:creationId xmlns:a16="http://schemas.microsoft.com/office/drawing/2014/main" id="{78BCCFF6-52DE-1F0A-746F-277D3F38DBA8}"/>
                </a:ext>
              </a:extLst>
            </p:cNvPr>
            <p:cNvSpPr/>
            <p:nvPr/>
          </p:nvSpPr>
          <p:spPr>
            <a:xfrm>
              <a:off x="4367231" y="2603316"/>
              <a:ext cx="845983" cy="88610"/>
            </a:xfrm>
            <a:prstGeom prst="roundRect">
              <a:avLst/>
            </a:prstGeom>
            <a:solidFill>
              <a:schemeClr val="accent2">
                <a:lumMod val="25000"/>
                <a:lumOff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342900"/>
              <a:endParaRPr lang="es-ES" sz="600" kern="1200">
                <a:solidFill>
                  <a:srgbClr val="000000"/>
                </a:solidFill>
                <a:latin typeface="Reddit Sans"/>
                <a:ea typeface="Reddit Sans"/>
              </a:endParaRP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EDD07EE8-6464-7F19-B080-B039E37AB1EA}"/>
                </a:ext>
              </a:extLst>
            </p:cNvPr>
            <p:cNvSpPr txBox="1"/>
            <p:nvPr/>
          </p:nvSpPr>
          <p:spPr>
            <a:xfrm>
              <a:off x="4386936" y="2566301"/>
              <a:ext cx="1110345" cy="184666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s-ES" sz="600">
                  <a:latin typeface="Reddit Sans"/>
                </a:rPr>
                <a:t>Definir roles + RACI</a:t>
              </a:r>
            </a:p>
          </p:txBody>
        </p: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951AAA8-2D7D-0CA7-6335-100335DE90A3}"/>
              </a:ext>
            </a:extLst>
          </p:cNvPr>
          <p:cNvSpPr txBox="1"/>
          <p:nvPr/>
        </p:nvSpPr>
        <p:spPr>
          <a:xfrm>
            <a:off x="3554177" y="2364917"/>
            <a:ext cx="1126675" cy="27699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latin typeface="Reddit Sans"/>
              </a:rPr>
              <a:t>Definir métricas por nivel de servicio (</a:t>
            </a:r>
            <a:r>
              <a:rPr lang="es-ES" sz="600" err="1">
                <a:latin typeface="Reddit Sans"/>
              </a:rPr>
              <a:t>KPIs</a:t>
            </a:r>
            <a:r>
              <a:rPr lang="es-ES" sz="600">
                <a:latin typeface="Reddit Sans"/>
              </a:rPr>
              <a:t>, SLA)</a:t>
            </a:r>
            <a:endParaRPr lang="es-ES" err="1"/>
          </a:p>
        </p:txBody>
      </p:sp>
      <p:sp>
        <p:nvSpPr>
          <p:cNvPr id="45" name="Rounded Rectangle 25">
            <a:extLst>
              <a:ext uri="{FF2B5EF4-FFF2-40B4-BE49-F238E27FC236}">
                <a16:creationId xmlns:a16="http://schemas.microsoft.com/office/drawing/2014/main" id="{5604C38D-0085-1DF8-A4A9-5D057A04EDF0}"/>
              </a:ext>
            </a:extLst>
          </p:cNvPr>
          <p:cNvSpPr/>
          <p:nvPr/>
        </p:nvSpPr>
        <p:spPr>
          <a:xfrm>
            <a:off x="8083724" y="3887829"/>
            <a:ext cx="857576" cy="9949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r>
              <a:rPr lang="es-ES" sz="600" kern="1200">
                <a:solidFill>
                  <a:srgbClr val="000000"/>
                </a:solidFill>
                <a:latin typeface="Reddit Sans"/>
                <a:ea typeface="Reddit Sans"/>
              </a:rPr>
              <a:t>Equipos </a:t>
            </a:r>
            <a:r>
              <a:rPr lang="es-ES" sz="600" b="1" kern="1200">
                <a:solidFill>
                  <a:srgbClr val="000000"/>
                </a:solidFill>
                <a:latin typeface="Reddit Sans"/>
                <a:ea typeface="Reddit Sans"/>
              </a:rPr>
              <a:t>comercial</a:t>
            </a:r>
          </a:p>
        </p:txBody>
      </p:sp>
      <p:sp>
        <p:nvSpPr>
          <p:cNvPr id="46" name="Rounded Rectangle 25">
            <a:extLst>
              <a:ext uri="{FF2B5EF4-FFF2-40B4-BE49-F238E27FC236}">
                <a16:creationId xmlns:a16="http://schemas.microsoft.com/office/drawing/2014/main" id="{98F2831E-44EA-C163-5BB8-4D35B8F182CF}"/>
              </a:ext>
            </a:extLst>
          </p:cNvPr>
          <p:cNvSpPr/>
          <p:nvPr/>
        </p:nvSpPr>
        <p:spPr>
          <a:xfrm>
            <a:off x="8089170" y="4002131"/>
            <a:ext cx="1053517" cy="10493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r>
              <a:rPr lang="es-ES" sz="600" kern="1200">
                <a:solidFill>
                  <a:srgbClr val="000000"/>
                </a:solidFill>
                <a:latin typeface="Reddit Sans"/>
                <a:ea typeface="Reddit Sans"/>
              </a:rPr>
              <a:t>Equipos de la </a:t>
            </a:r>
            <a:r>
              <a:rPr lang="es-ES" sz="600" b="1" kern="1200">
                <a:solidFill>
                  <a:srgbClr val="000000"/>
                </a:solidFill>
                <a:latin typeface="Reddit Sans"/>
                <a:ea typeface="Reddit Sans"/>
              </a:rPr>
              <a:t>operación</a:t>
            </a:r>
          </a:p>
        </p:txBody>
      </p:sp>
      <p:sp>
        <p:nvSpPr>
          <p:cNvPr id="50" name="Rounded Rectangle 21">
            <a:extLst>
              <a:ext uri="{FF2B5EF4-FFF2-40B4-BE49-F238E27FC236}">
                <a16:creationId xmlns:a16="http://schemas.microsoft.com/office/drawing/2014/main" id="{AB52B9E1-596C-C4DD-60CB-8A734DF52202}"/>
              </a:ext>
            </a:extLst>
          </p:cNvPr>
          <p:cNvSpPr/>
          <p:nvPr/>
        </p:nvSpPr>
        <p:spPr>
          <a:xfrm>
            <a:off x="4421659" y="2265858"/>
            <a:ext cx="845983" cy="88610"/>
          </a:xfrm>
          <a:prstGeom prst="round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6B3E2C3E-2F9C-412E-DE52-937399774F41}"/>
              </a:ext>
            </a:extLst>
          </p:cNvPr>
          <p:cNvSpPr txBox="1"/>
          <p:nvPr/>
        </p:nvSpPr>
        <p:spPr>
          <a:xfrm>
            <a:off x="4354282" y="2212517"/>
            <a:ext cx="1475016" cy="184666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latin typeface="Reddit Sans"/>
              </a:rPr>
              <a:t>Definir modelo de operación (hibrido)</a:t>
            </a:r>
            <a:endParaRPr lang="es-ES"/>
          </a:p>
        </p:txBody>
      </p:sp>
      <p:sp>
        <p:nvSpPr>
          <p:cNvPr id="175" name="CuadroTexto 174">
            <a:extLst>
              <a:ext uri="{FF2B5EF4-FFF2-40B4-BE49-F238E27FC236}">
                <a16:creationId xmlns:a16="http://schemas.microsoft.com/office/drawing/2014/main" id="{510278FA-4908-7510-D203-73B1B75C3C60}"/>
              </a:ext>
            </a:extLst>
          </p:cNvPr>
          <p:cNvSpPr txBox="1"/>
          <p:nvPr/>
        </p:nvSpPr>
        <p:spPr>
          <a:xfrm>
            <a:off x="6030686" y="2207076"/>
            <a:ext cx="2111830" cy="184666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latin typeface="Reddit Sans"/>
              </a:rPr>
              <a:t>Piloto </a:t>
            </a:r>
            <a:r>
              <a:rPr lang="es-ES" sz="600" err="1">
                <a:latin typeface="Reddit Sans"/>
              </a:rPr>
              <a:t>dashboards</a:t>
            </a:r>
            <a:r>
              <a:rPr lang="es-ES" sz="600">
                <a:latin typeface="Reddit Sans"/>
              </a:rPr>
              <a:t> ejecutivos internos PersonalSoft</a:t>
            </a:r>
            <a:endParaRPr lang="es-ES" err="1"/>
          </a:p>
        </p:txBody>
      </p:sp>
      <p:sp>
        <p:nvSpPr>
          <p:cNvPr id="51" name="Rounded Rectangle 21">
            <a:extLst>
              <a:ext uri="{FF2B5EF4-FFF2-40B4-BE49-F238E27FC236}">
                <a16:creationId xmlns:a16="http://schemas.microsoft.com/office/drawing/2014/main" id="{18413F46-DF2D-3C4E-2366-6FC1823683F3}"/>
              </a:ext>
            </a:extLst>
          </p:cNvPr>
          <p:cNvSpPr/>
          <p:nvPr/>
        </p:nvSpPr>
        <p:spPr>
          <a:xfrm>
            <a:off x="4612160" y="2429144"/>
            <a:ext cx="845983" cy="88610"/>
          </a:xfrm>
          <a:prstGeom prst="round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C6E094D-C314-D131-57A1-7E1E26C7CBCC}"/>
              </a:ext>
            </a:extLst>
          </p:cNvPr>
          <p:cNvSpPr txBox="1"/>
          <p:nvPr/>
        </p:nvSpPr>
        <p:spPr>
          <a:xfrm>
            <a:off x="4571994" y="2381245"/>
            <a:ext cx="1110345" cy="27699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latin typeface="Reddit Sans"/>
              </a:rPr>
              <a:t>Definir modelo de gestión del conocimiento</a:t>
            </a:r>
            <a:endParaRPr lang="es-ES"/>
          </a:p>
        </p:txBody>
      </p:sp>
      <p:sp>
        <p:nvSpPr>
          <p:cNvPr id="52" name="Rounded Rectangle 21">
            <a:extLst>
              <a:ext uri="{FF2B5EF4-FFF2-40B4-BE49-F238E27FC236}">
                <a16:creationId xmlns:a16="http://schemas.microsoft.com/office/drawing/2014/main" id="{E0C56D19-418E-2BC5-0681-FE529D9B1084}"/>
              </a:ext>
            </a:extLst>
          </p:cNvPr>
          <p:cNvSpPr/>
          <p:nvPr/>
        </p:nvSpPr>
        <p:spPr>
          <a:xfrm>
            <a:off x="6337545" y="2603315"/>
            <a:ext cx="845983" cy="88610"/>
          </a:xfrm>
          <a:prstGeom prst="round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AB12554-0A89-CF23-18D7-6F78405A368B}"/>
              </a:ext>
            </a:extLst>
          </p:cNvPr>
          <p:cNvSpPr txBox="1"/>
          <p:nvPr/>
        </p:nvSpPr>
        <p:spPr>
          <a:xfrm>
            <a:off x="6286495" y="2555417"/>
            <a:ext cx="1115787" cy="184666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latin typeface="Reddit Sans"/>
              </a:rPr>
              <a:t>Definir modelo de costos</a:t>
            </a:r>
            <a:endParaRPr lang="es-ES"/>
          </a:p>
        </p:txBody>
      </p:sp>
      <p:sp>
        <p:nvSpPr>
          <p:cNvPr id="54" name="Rounded Rectangle 21">
            <a:extLst>
              <a:ext uri="{FF2B5EF4-FFF2-40B4-BE49-F238E27FC236}">
                <a16:creationId xmlns:a16="http://schemas.microsoft.com/office/drawing/2014/main" id="{BCFC53A2-9C13-C102-BE39-C99A0E9B154C}"/>
              </a:ext>
            </a:extLst>
          </p:cNvPr>
          <p:cNvSpPr/>
          <p:nvPr/>
        </p:nvSpPr>
        <p:spPr>
          <a:xfrm>
            <a:off x="5798706" y="3735427"/>
            <a:ext cx="345237" cy="83170"/>
          </a:xfrm>
          <a:prstGeom prst="round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0F529657-2A3B-078B-47D3-66C4943B1C9D}"/>
              </a:ext>
            </a:extLst>
          </p:cNvPr>
          <p:cNvSpPr txBox="1"/>
          <p:nvPr/>
        </p:nvSpPr>
        <p:spPr>
          <a:xfrm>
            <a:off x="5747651" y="3660317"/>
            <a:ext cx="783773" cy="27699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latin typeface="Reddit Sans"/>
              </a:rPr>
              <a:t>Seleccionar cliente piloto</a:t>
            </a:r>
            <a:endParaRPr lang="es-ES"/>
          </a:p>
        </p:txBody>
      </p:sp>
      <p:sp>
        <p:nvSpPr>
          <p:cNvPr id="55" name="Rounded Rectangle 21">
            <a:extLst>
              <a:ext uri="{FF2B5EF4-FFF2-40B4-BE49-F238E27FC236}">
                <a16:creationId xmlns:a16="http://schemas.microsoft.com/office/drawing/2014/main" id="{00426129-434B-8D0D-9C60-1E68091C63EC}"/>
              </a:ext>
            </a:extLst>
          </p:cNvPr>
          <p:cNvSpPr/>
          <p:nvPr/>
        </p:nvSpPr>
        <p:spPr>
          <a:xfrm>
            <a:off x="5047587" y="2592428"/>
            <a:ext cx="818769" cy="94052"/>
          </a:xfrm>
          <a:prstGeom prst="round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5490D9F1-A9F7-97A1-721F-378B1E9F885C}"/>
              </a:ext>
            </a:extLst>
          </p:cNvPr>
          <p:cNvSpPr txBox="1"/>
          <p:nvPr/>
        </p:nvSpPr>
        <p:spPr>
          <a:xfrm>
            <a:off x="5029193" y="2549974"/>
            <a:ext cx="1191987" cy="184666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latin typeface="Reddit Sans"/>
              </a:rPr>
              <a:t>Definir modelo de reportes</a:t>
            </a:r>
            <a:endParaRPr lang="es-ES"/>
          </a:p>
        </p:txBody>
      </p:sp>
      <p:sp>
        <p:nvSpPr>
          <p:cNvPr id="58" name="Rounded Rectangle 21">
            <a:extLst>
              <a:ext uri="{FF2B5EF4-FFF2-40B4-BE49-F238E27FC236}">
                <a16:creationId xmlns:a16="http://schemas.microsoft.com/office/drawing/2014/main" id="{EF8B4CEC-C070-B08C-0B1A-F971011D418F}"/>
              </a:ext>
            </a:extLst>
          </p:cNvPr>
          <p:cNvSpPr/>
          <p:nvPr/>
        </p:nvSpPr>
        <p:spPr>
          <a:xfrm>
            <a:off x="3425620" y="2744827"/>
            <a:ext cx="345237" cy="83170"/>
          </a:xfrm>
          <a:prstGeom prst="round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CD996D83-BAC9-A3E8-7418-F643A8D37D3F}"/>
              </a:ext>
            </a:extLst>
          </p:cNvPr>
          <p:cNvSpPr txBox="1"/>
          <p:nvPr/>
        </p:nvSpPr>
        <p:spPr>
          <a:xfrm>
            <a:off x="3336464" y="2631618"/>
            <a:ext cx="636819" cy="46166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latin typeface="Reddit Sans"/>
              </a:rPr>
              <a:t>Definir modelo de gestión de ANS</a:t>
            </a:r>
            <a:endParaRPr lang="es-ES"/>
          </a:p>
        </p:txBody>
      </p:sp>
      <p:sp>
        <p:nvSpPr>
          <p:cNvPr id="60" name="Estrella: 5 puntas 59">
            <a:extLst>
              <a:ext uri="{FF2B5EF4-FFF2-40B4-BE49-F238E27FC236}">
                <a16:creationId xmlns:a16="http://schemas.microsoft.com/office/drawing/2014/main" id="{279D39A8-EEA1-B7CB-D3A1-548D18A4BE7E}"/>
              </a:ext>
            </a:extLst>
          </p:cNvPr>
          <p:cNvSpPr/>
          <p:nvPr/>
        </p:nvSpPr>
        <p:spPr>
          <a:xfrm>
            <a:off x="5126082" y="215534"/>
            <a:ext cx="97972" cy="114301"/>
          </a:xfrm>
          <a:prstGeom prst="star5">
            <a:avLst/>
          </a:prstGeom>
          <a:solidFill>
            <a:schemeClr val="accent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B1144FFA-101E-6ACC-CC87-6146704D41E3}"/>
              </a:ext>
            </a:extLst>
          </p:cNvPr>
          <p:cNvSpPr txBox="1"/>
          <p:nvPr/>
        </p:nvSpPr>
        <p:spPr>
          <a:xfrm>
            <a:off x="5263245" y="165458"/>
            <a:ext cx="145323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700"/>
              <a:t>Entrega incremental del servicio optimizado</a:t>
            </a:r>
            <a:endParaRPr lang="es-ES"/>
          </a:p>
        </p:txBody>
      </p:sp>
      <p:sp>
        <p:nvSpPr>
          <p:cNvPr id="128" name="Estrella: 5 puntas 127">
            <a:extLst>
              <a:ext uri="{FF2B5EF4-FFF2-40B4-BE49-F238E27FC236}">
                <a16:creationId xmlns:a16="http://schemas.microsoft.com/office/drawing/2014/main" id="{70897EEC-0DC2-834C-A185-85E34A9136AF}"/>
              </a:ext>
            </a:extLst>
          </p:cNvPr>
          <p:cNvSpPr/>
          <p:nvPr/>
        </p:nvSpPr>
        <p:spPr>
          <a:xfrm>
            <a:off x="8397239" y="1461948"/>
            <a:ext cx="97972" cy="114301"/>
          </a:xfrm>
          <a:prstGeom prst="star5">
            <a:avLst/>
          </a:prstGeom>
          <a:solidFill>
            <a:schemeClr val="accent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2929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5F327D-4348-70E7-13D6-32A2BAE2F8BE}"/>
              </a:ext>
            </a:extLst>
          </p:cNvPr>
          <p:cNvSpPr txBox="1"/>
          <p:nvPr/>
        </p:nvSpPr>
        <p:spPr>
          <a:xfrm>
            <a:off x="332015" y="873578"/>
            <a:ext cx="4572000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600" b="1" i="0" u="none" strike="noStrike" baseline="0">
                <a:solidFill>
                  <a:srgbClr val="0E337C"/>
                </a:solidFill>
                <a:latin typeface="Reddit Sans"/>
              </a:rPr>
              <a:t>Entregables</a:t>
            </a:r>
            <a:endParaRPr lang="es-ES"/>
          </a:p>
          <a:p>
            <a:pPr algn="ctr"/>
            <a:endParaRPr lang="es-ES"/>
          </a:p>
        </p:txBody>
      </p:sp>
      <p:cxnSp>
        <p:nvCxnSpPr>
          <p:cNvPr id="7" name="Google Shape;179;g3657f5ba65c_1_33">
            <a:extLst>
              <a:ext uri="{FF2B5EF4-FFF2-40B4-BE49-F238E27FC236}">
                <a16:creationId xmlns:a16="http://schemas.microsoft.com/office/drawing/2014/main" id="{F4156A76-728E-D91D-CFF1-BF69AF932F73}"/>
              </a:ext>
            </a:extLst>
          </p:cNvPr>
          <p:cNvCxnSpPr/>
          <p:nvPr/>
        </p:nvCxnSpPr>
        <p:spPr>
          <a:xfrm rot="10800000" flipH="1">
            <a:off x="394425" y="824004"/>
            <a:ext cx="8103300" cy="28800"/>
          </a:xfrm>
          <a:prstGeom prst="straightConnector1">
            <a:avLst/>
          </a:prstGeom>
          <a:noFill/>
          <a:ln w="19050" cap="flat" cmpd="sng">
            <a:solidFill>
              <a:srgbClr val="0E337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76;g3657f5ba65c_1_33">
            <a:extLst>
              <a:ext uri="{FF2B5EF4-FFF2-40B4-BE49-F238E27FC236}">
                <a16:creationId xmlns:a16="http://schemas.microsoft.com/office/drawing/2014/main" id="{E1A0AA3D-88E5-3D13-D465-B35D6F9C45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9690" y="183768"/>
            <a:ext cx="5554885" cy="6162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s-ES" err="1"/>
              <a:t>Roadmap</a:t>
            </a:r>
            <a:r>
              <a:rPr lang="es-ES"/>
              <a:t> </a:t>
            </a:r>
            <a:r>
              <a:rPr lang="es-ES" u="sng"/>
              <a:t>Detallado </a:t>
            </a:r>
            <a:r>
              <a:rPr lang="es-ES"/>
              <a:t>Mesa de Servicios de Nueva Generación</a:t>
            </a:r>
            <a:br>
              <a:rPr lang="es-ES"/>
            </a:br>
            <a:r>
              <a:rPr lang="es-ES" sz="1400" b="0"/>
              <a:t>Servicio Optimo y Estandarizado</a:t>
            </a:r>
            <a:endParaRPr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3FA27DD-8793-A77E-F267-901278F387A3}"/>
              </a:ext>
            </a:extLst>
          </p:cNvPr>
          <p:cNvSpPr txBox="1"/>
          <p:nvPr/>
        </p:nvSpPr>
        <p:spPr>
          <a:xfrm>
            <a:off x="332011" y="1249132"/>
            <a:ext cx="70757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700" b="1">
                <a:solidFill>
                  <a:schemeClr val="accent5">
                    <a:lumMod val="76000"/>
                  </a:schemeClr>
                </a:solidFill>
              </a:rPr>
              <a:t>Modelos</a:t>
            </a:r>
            <a:r>
              <a:rPr lang="es-ES" sz="700" b="1" u="none" strike="noStrike" baseline="0">
                <a:solidFill>
                  <a:schemeClr val="accent5">
                    <a:lumMod val="76000"/>
                  </a:schemeClr>
                </a:solidFill>
              </a:rPr>
              <a:t> </a:t>
            </a:r>
            <a:r>
              <a:rPr lang="es-ES" sz="700" b="1">
                <a:solidFill>
                  <a:schemeClr val="accent5">
                    <a:lumMod val="76000"/>
                  </a:schemeClr>
                </a:solidFill>
              </a:rPr>
              <a:t>de entrega de las Mesas de Servicio</a:t>
            </a:r>
            <a:endParaRPr lang="es-ES" sz="700" b="1">
              <a:solidFill>
                <a:schemeClr val="accent5">
                  <a:lumMod val="76000"/>
                </a:schemeClr>
              </a:solidFill>
              <a:ea typeface="Reddit Sans"/>
            </a:endParaRPr>
          </a:p>
        </p:txBody>
      </p:sp>
      <p:sp>
        <p:nvSpPr>
          <p:cNvPr id="23" name="Rounded Rectangle 2">
            <a:extLst>
              <a:ext uri="{FF2B5EF4-FFF2-40B4-BE49-F238E27FC236}">
                <a16:creationId xmlns:a16="http://schemas.microsoft.com/office/drawing/2014/main" id="{E9408C5F-E950-AF15-64CE-64E635604BF3}"/>
              </a:ext>
            </a:extLst>
          </p:cNvPr>
          <p:cNvSpPr/>
          <p:nvPr/>
        </p:nvSpPr>
        <p:spPr>
          <a:xfrm>
            <a:off x="1000496" y="1292133"/>
            <a:ext cx="3134542" cy="281396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 defTabSz="342900">
              <a:defRPr sz="1500" b="1">
                <a:solidFill>
                  <a:srgbClr val="FFFFFF"/>
                </a:solidFill>
              </a:defRPr>
            </a:pPr>
            <a:r>
              <a:rPr lang="es-ES" sz="900" b="1" kern="1200">
                <a:solidFill>
                  <a:schemeClr val="tx1"/>
                </a:solidFill>
                <a:latin typeface="Reddit Sans"/>
                <a:ea typeface="Reddit Sans"/>
              </a:rPr>
              <a:t>Diseño del Servicio Autónomo e Inteligente (N5)</a:t>
            </a:r>
            <a:endParaRPr lang="es-ES" sz="900" kern="1200">
              <a:solidFill>
                <a:schemeClr val="tx1"/>
              </a:solidFill>
              <a:latin typeface="Reddit Sans"/>
              <a:ea typeface="Reddit Sans"/>
            </a:endParaRPr>
          </a:p>
        </p:txBody>
      </p:sp>
      <p:sp>
        <p:nvSpPr>
          <p:cNvPr id="25" name="Rounded Rectangle 2">
            <a:extLst>
              <a:ext uri="{FF2B5EF4-FFF2-40B4-BE49-F238E27FC236}">
                <a16:creationId xmlns:a16="http://schemas.microsoft.com/office/drawing/2014/main" id="{3A53E36D-15CA-5D71-2B69-A70F4DDB6310}"/>
              </a:ext>
            </a:extLst>
          </p:cNvPr>
          <p:cNvSpPr/>
          <p:nvPr/>
        </p:nvSpPr>
        <p:spPr>
          <a:xfrm>
            <a:off x="4135585" y="1292136"/>
            <a:ext cx="2236469" cy="286838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 defTabSz="342900">
              <a:defRPr sz="1500" b="1">
                <a:solidFill>
                  <a:srgbClr val="FFFFFF"/>
                </a:solidFill>
              </a:defRPr>
            </a:pPr>
            <a:r>
              <a:rPr lang="es-ES" sz="900" b="1" kern="1200">
                <a:solidFill>
                  <a:schemeClr val="tx1"/>
                </a:solidFill>
                <a:latin typeface="Reddit Sans"/>
                <a:ea typeface="Reddit Sans"/>
              </a:rPr>
              <a:t>Predictivo y Evolutivo (N3)</a:t>
            </a:r>
            <a:endParaRPr lang="es-ES" sz="900" kern="1200">
              <a:solidFill>
                <a:schemeClr val="tx1"/>
              </a:solidFill>
              <a:latin typeface="Reddit Sans"/>
              <a:ea typeface="Reddit Sans"/>
            </a:endParaRPr>
          </a:p>
        </p:txBody>
      </p:sp>
      <p:sp>
        <p:nvSpPr>
          <p:cNvPr id="27" name="Rounded Rectangle 2">
            <a:extLst>
              <a:ext uri="{FF2B5EF4-FFF2-40B4-BE49-F238E27FC236}">
                <a16:creationId xmlns:a16="http://schemas.microsoft.com/office/drawing/2014/main" id="{E414F6A8-1018-D7BC-1DD7-6692C22AEF41}"/>
              </a:ext>
            </a:extLst>
          </p:cNvPr>
          <p:cNvSpPr/>
          <p:nvPr/>
        </p:nvSpPr>
        <p:spPr>
          <a:xfrm>
            <a:off x="6388925" y="1286690"/>
            <a:ext cx="1877241" cy="286840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 defTabSz="342900">
              <a:defRPr sz="1500" b="1">
                <a:solidFill>
                  <a:srgbClr val="FFFFFF"/>
                </a:solidFill>
              </a:defRPr>
            </a:pPr>
            <a:r>
              <a:rPr lang="es-ES" sz="900" kern="1200">
                <a:solidFill>
                  <a:schemeClr val="tx1"/>
                </a:solidFill>
                <a:latin typeface="Reddit Sans"/>
                <a:ea typeface="Reddit Sans"/>
                <a:cs typeface="Arial"/>
              </a:rPr>
              <a:t>Piloto y Transición Clientes</a:t>
            </a:r>
          </a:p>
        </p:txBody>
      </p:sp>
      <p:sp>
        <p:nvSpPr>
          <p:cNvPr id="29" name="OTLSHAPE_TB_00000000000000000000000000000000_ScaleContainer">
            <a:extLst>
              <a:ext uri="{FF2B5EF4-FFF2-40B4-BE49-F238E27FC236}">
                <a16:creationId xmlns:a16="http://schemas.microsoft.com/office/drawing/2014/main" id="{9633E68C-6E3F-DB3B-22B6-05B421634494}"/>
              </a:ext>
            </a:extLst>
          </p:cNvPr>
          <p:cNvSpPr/>
          <p:nvPr/>
        </p:nvSpPr>
        <p:spPr>
          <a:xfrm>
            <a:off x="995751" y="1582996"/>
            <a:ext cx="7272393" cy="172532"/>
          </a:xfrm>
          <a:prstGeom prst="roundRect">
            <a:avLst>
              <a:gd name="adj" fmla="val 16667"/>
            </a:avLst>
          </a:prstGeom>
          <a:solidFill>
            <a:srgbClr val="44546A"/>
          </a:solidFill>
          <a:ln w="12700">
            <a:miter lim="400000"/>
          </a:ln>
        </p:spPr>
        <p:txBody>
          <a:bodyPr lIns="34289" rIns="34289" anchor="ctr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 sz="1013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4B050ACB-3FB6-E019-C71A-4572E0D00025}"/>
              </a:ext>
            </a:extLst>
          </p:cNvPr>
          <p:cNvSpPr txBox="1"/>
          <p:nvPr/>
        </p:nvSpPr>
        <p:spPr>
          <a:xfrm>
            <a:off x="3771900" y="1581147"/>
            <a:ext cx="1039586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800" b="1">
                <a:solidFill>
                  <a:srgbClr val="FFFFFF"/>
                </a:solidFill>
                <a:latin typeface="Reddit Sans"/>
              </a:rPr>
              <a:t>Q3</a:t>
            </a:r>
            <a:endParaRPr lang="es-ES" sz="800">
              <a:solidFill>
                <a:srgbClr val="FFFFFF"/>
              </a:solidFill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A9723865-5A41-F725-C91B-0057835821BF}"/>
              </a:ext>
            </a:extLst>
          </p:cNvPr>
          <p:cNvSpPr txBox="1"/>
          <p:nvPr/>
        </p:nvSpPr>
        <p:spPr>
          <a:xfrm>
            <a:off x="6994070" y="1581148"/>
            <a:ext cx="1039586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800" b="1">
                <a:solidFill>
                  <a:srgbClr val="FFFFFF"/>
                </a:solidFill>
                <a:latin typeface="Reddit Sans"/>
              </a:rPr>
              <a:t>Q4</a:t>
            </a:r>
            <a:endParaRPr lang="es-ES" sz="800">
              <a:solidFill>
                <a:srgbClr val="FFFFFF"/>
              </a:solidFill>
            </a:endParaRPr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0CD3CD7E-9620-69A8-67EC-DED704E8E1E1}"/>
              </a:ext>
            </a:extLst>
          </p:cNvPr>
          <p:cNvCxnSpPr/>
          <p:nvPr/>
        </p:nvCxnSpPr>
        <p:spPr>
          <a:xfrm>
            <a:off x="6389914" y="1590676"/>
            <a:ext cx="2177" cy="171448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uadroTexto 36">
            <a:extLst>
              <a:ext uri="{FF2B5EF4-FFF2-40B4-BE49-F238E27FC236}">
                <a16:creationId xmlns:a16="http://schemas.microsoft.com/office/drawing/2014/main" id="{EE04F3D4-2E69-CCF8-C888-FC89A4983DD7}"/>
              </a:ext>
            </a:extLst>
          </p:cNvPr>
          <p:cNvSpPr txBox="1"/>
          <p:nvPr/>
        </p:nvSpPr>
        <p:spPr>
          <a:xfrm>
            <a:off x="1734909" y="1764846"/>
            <a:ext cx="751115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000">
                <a:solidFill>
                  <a:schemeClr val="bg2"/>
                </a:solidFill>
              </a:rPr>
              <a:t>Julio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B4970034-3526-F52C-92F3-D759F2021FAF}"/>
              </a:ext>
            </a:extLst>
          </p:cNvPr>
          <p:cNvSpPr txBox="1"/>
          <p:nvPr/>
        </p:nvSpPr>
        <p:spPr>
          <a:xfrm>
            <a:off x="3482065" y="1770289"/>
            <a:ext cx="751115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000">
                <a:solidFill>
                  <a:schemeClr val="bg2"/>
                </a:solidFill>
              </a:rPr>
              <a:t>Agosto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F8A3F251-7D3F-1B69-7AB5-392781C71481}"/>
              </a:ext>
            </a:extLst>
          </p:cNvPr>
          <p:cNvSpPr txBox="1"/>
          <p:nvPr/>
        </p:nvSpPr>
        <p:spPr>
          <a:xfrm>
            <a:off x="5114921" y="1764846"/>
            <a:ext cx="1094015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000">
                <a:solidFill>
                  <a:schemeClr val="bg2"/>
                </a:solidFill>
              </a:rPr>
              <a:t>Septiembre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BE015285-C0C4-0359-3C2B-226C613353D8}"/>
              </a:ext>
            </a:extLst>
          </p:cNvPr>
          <p:cNvSpPr txBox="1"/>
          <p:nvPr/>
        </p:nvSpPr>
        <p:spPr>
          <a:xfrm>
            <a:off x="6894737" y="1764846"/>
            <a:ext cx="821873" cy="251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000">
                <a:solidFill>
                  <a:schemeClr val="bg2"/>
                </a:solidFill>
              </a:rPr>
              <a:t>Octubre</a:t>
            </a:r>
          </a:p>
        </p:txBody>
      </p: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45014E92-E35F-0381-2BD8-5CDA490D1AB8}"/>
              </a:ext>
            </a:extLst>
          </p:cNvPr>
          <p:cNvCxnSpPr/>
          <p:nvPr/>
        </p:nvCxnSpPr>
        <p:spPr>
          <a:xfrm flipH="1">
            <a:off x="2745376" y="1797503"/>
            <a:ext cx="14151" cy="3024867"/>
          </a:xfrm>
          <a:prstGeom prst="straightConnector1">
            <a:avLst/>
          </a:prstGeom>
          <a:ln w="12700">
            <a:solidFill>
              <a:schemeClr val="bg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93F2F33F-D377-1629-4288-1ADCDA614014}"/>
              </a:ext>
            </a:extLst>
          </p:cNvPr>
          <p:cNvCxnSpPr>
            <a:cxnSpLocks/>
          </p:cNvCxnSpPr>
          <p:nvPr/>
        </p:nvCxnSpPr>
        <p:spPr>
          <a:xfrm flipH="1">
            <a:off x="4655820" y="1775730"/>
            <a:ext cx="8708" cy="3030310"/>
          </a:xfrm>
          <a:prstGeom prst="straightConnector1">
            <a:avLst/>
          </a:prstGeom>
          <a:ln w="12700">
            <a:solidFill>
              <a:schemeClr val="bg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de flecha 48">
            <a:extLst>
              <a:ext uri="{FF2B5EF4-FFF2-40B4-BE49-F238E27FC236}">
                <a16:creationId xmlns:a16="http://schemas.microsoft.com/office/drawing/2014/main" id="{F5C5A59F-D40D-E871-B46E-4447C66ED326}"/>
              </a:ext>
            </a:extLst>
          </p:cNvPr>
          <p:cNvCxnSpPr>
            <a:cxnSpLocks/>
          </p:cNvCxnSpPr>
          <p:nvPr/>
        </p:nvCxnSpPr>
        <p:spPr>
          <a:xfrm>
            <a:off x="6400801" y="1770289"/>
            <a:ext cx="29390" cy="2943223"/>
          </a:xfrm>
          <a:prstGeom prst="straightConnector1">
            <a:avLst/>
          </a:prstGeom>
          <a:ln w="12700">
            <a:solidFill>
              <a:schemeClr val="bg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uadroTexto 52">
            <a:extLst>
              <a:ext uri="{FF2B5EF4-FFF2-40B4-BE49-F238E27FC236}">
                <a16:creationId xmlns:a16="http://schemas.microsoft.com/office/drawing/2014/main" id="{DC991B8E-021B-EC77-E034-CBEA633B4016}"/>
              </a:ext>
            </a:extLst>
          </p:cNvPr>
          <p:cNvSpPr txBox="1"/>
          <p:nvPr/>
        </p:nvSpPr>
        <p:spPr>
          <a:xfrm>
            <a:off x="996041" y="2261507"/>
            <a:ext cx="1747157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Char char="•"/>
            </a:pPr>
            <a:r>
              <a:rPr lang="es-ES" sz="700">
                <a:latin typeface="Reddit Sans"/>
              </a:rPr>
              <a:t>Lecciones aprendidas mesas de servicio operación actual </a:t>
            </a:r>
          </a:p>
          <a:p>
            <a:pPr marL="171450" indent="-171450">
              <a:buChar char="•"/>
            </a:pPr>
            <a:endParaRPr lang="es-ES" sz="700">
              <a:latin typeface="Reddit Sans"/>
            </a:endParaRPr>
          </a:p>
          <a:p>
            <a:pPr marL="171450" indent="-171450">
              <a:buChar char="•"/>
            </a:pPr>
            <a:r>
              <a:rPr lang="es-ES" sz="700">
                <a:latin typeface="Reddit Sans"/>
              </a:rPr>
              <a:t>Estudio de mercado clientes actuales y empresas competidoras</a:t>
            </a:r>
            <a:endParaRPr lang="es-ES"/>
          </a:p>
          <a:p>
            <a:pPr marL="171450" indent="-171450">
              <a:buChar char="•"/>
            </a:pPr>
            <a:endParaRPr lang="es-ES" sz="700">
              <a:latin typeface="Reddit Sans"/>
            </a:endParaRPr>
          </a:p>
          <a:p>
            <a:pPr marL="171450" indent="-171450">
              <a:buChar char="•"/>
            </a:pPr>
            <a:r>
              <a:rPr lang="es-ES" sz="700">
                <a:latin typeface="Reddit Sans"/>
              </a:rPr>
              <a:t>Oferta de valor del servicio</a:t>
            </a:r>
          </a:p>
          <a:p>
            <a:pPr marL="171450" indent="-171450">
              <a:buChar char="•"/>
            </a:pPr>
            <a:endParaRPr lang="es-ES" sz="700">
              <a:latin typeface="Reddit Sans"/>
            </a:endParaRPr>
          </a:p>
          <a:p>
            <a:pPr marL="171450" indent="-171450">
              <a:buChar char="•"/>
            </a:pPr>
            <a:r>
              <a:rPr lang="es-ES" sz="700">
                <a:latin typeface="Reddit Sans"/>
              </a:rPr>
              <a:t>Flujo del servicio optimo: diagrama de procesos a alto nivel (personas, tecnología, herramientas)</a:t>
            </a:r>
          </a:p>
          <a:p>
            <a:pPr marL="171450" indent="-171450">
              <a:buChar char="•"/>
            </a:pPr>
            <a:endParaRPr lang="es-ES" sz="700">
              <a:latin typeface="Reddit Sans"/>
            </a:endParaRPr>
          </a:p>
          <a:p>
            <a:pPr marL="171450" indent="-171450">
              <a:buChar char="•"/>
            </a:pPr>
            <a:r>
              <a:rPr lang="es-ES" sz="700">
                <a:latin typeface="Reddit Sans"/>
              </a:rPr>
              <a:t>Validación del diagrama inicial del servicio de mesas de servicio de nueva generación con la dirección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BFC94FAC-A03D-2BBF-4601-BBD72FF20A2A}"/>
              </a:ext>
            </a:extLst>
          </p:cNvPr>
          <p:cNvSpPr txBox="1"/>
          <p:nvPr/>
        </p:nvSpPr>
        <p:spPr>
          <a:xfrm>
            <a:off x="2732312" y="2261507"/>
            <a:ext cx="1937658" cy="270843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Char char="•"/>
            </a:pPr>
            <a:r>
              <a:rPr lang="es-ES" sz="700">
                <a:latin typeface="Reddit Sans"/>
                <a:ea typeface="Reddit Sans"/>
              </a:rPr>
              <a:t>Definición de los modelos de los niveles de servicio (N0-N5) (soporte, estabilización)</a:t>
            </a:r>
            <a:endParaRPr lang="es-ES" sz="700">
              <a:latin typeface="Reddit Sans"/>
            </a:endParaRPr>
          </a:p>
          <a:p>
            <a:pPr marL="628650" lvl="1" indent="-171450">
              <a:buFont typeface="Courier New"/>
              <a:buChar char="o"/>
            </a:pPr>
            <a:r>
              <a:rPr lang="es-ES" sz="600">
                <a:latin typeface="Reddit Sans"/>
                <a:ea typeface="Reddit Sans"/>
              </a:rPr>
              <a:t>Modelo de incidentes</a:t>
            </a:r>
          </a:p>
          <a:p>
            <a:pPr marL="628650" lvl="1" indent="-171450">
              <a:buFont typeface="Courier New"/>
              <a:buChar char="o"/>
            </a:pPr>
            <a:r>
              <a:rPr lang="es-ES" sz="600">
                <a:latin typeface="Reddit Sans"/>
                <a:ea typeface="Reddit Sans"/>
              </a:rPr>
              <a:t>Modelo de solicitudes</a:t>
            </a:r>
          </a:p>
          <a:p>
            <a:pPr marL="628650" lvl="1" indent="-171450">
              <a:buFont typeface="Courier New"/>
              <a:buChar char="o"/>
            </a:pPr>
            <a:r>
              <a:rPr lang="es-ES" sz="600">
                <a:latin typeface="Reddit Sans"/>
                <a:ea typeface="Reddit Sans"/>
              </a:rPr>
              <a:t>Modelo de gestión de catálogo y portfolio del cliente</a:t>
            </a:r>
          </a:p>
          <a:p>
            <a:pPr marL="628650" lvl="1" indent="-171450">
              <a:buFont typeface="Courier New"/>
              <a:buChar char="o"/>
            </a:pPr>
            <a:r>
              <a:rPr lang="es-ES" sz="600">
                <a:latin typeface="Reddit Sans"/>
                <a:ea typeface="Reddit Sans"/>
              </a:rPr>
              <a:t>Modelo de gestión de cambios</a:t>
            </a:r>
          </a:p>
          <a:p>
            <a:pPr marL="171450" indent="-171450">
              <a:buChar char="•"/>
            </a:pPr>
            <a:endParaRPr lang="es-ES" sz="700">
              <a:latin typeface="Reddit Sans"/>
              <a:ea typeface="Reddit Sans"/>
            </a:endParaRPr>
          </a:p>
          <a:p>
            <a:pPr marL="171450" indent="-171450">
              <a:buChar char="•"/>
            </a:pPr>
            <a:r>
              <a:rPr lang="es-ES" sz="700">
                <a:latin typeface="Reddit Sans"/>
              </a:rPr>
              <a:t>Definición del modelo de operación (hibrido)</a:t>
            </a:r>
          </a:p>
          <a:p>
            <a:pPr marL="171450" indent="-171450">
              <a:buChar char="•"/>
            </a:pPr>
            <a:endParaRPr lang="es-ES" sz="700">
              <a:latin typeface="Reddit Sans"/>
            </a:endParaRPr>
          </a:p>
          <a:p>
            <a:pPr marL="171450" indent="-171450">
              <a:buChar char="•"/>
            </a:pPr>
            <a:r>
              <a:rPr lang="es-ES" sz="700">
                <a:latin typeface="Reddit Sans"/>
              </a:rPr>
              <a:t>Definición de las métricas por nivel de servicio y reportes</a:t>
            </a:r>
          </a:p>
          <a:p>
            <a:pPr marL="171450" indent="-171450">
              <a:buChar char="•"/>
            </a:pPr>
            <a:endParaRPr lang="es-ES" sz="700">
              <a:latin typeface="Reddit Sans"/>
            </a:endParaRPr>
          </a:p>
          <a:p>
            <a:pPr marL="171450" indent="-171450">
              <a:buChar char="•"/>
            </a:pPr>
            <a:r>
              <a:rPr lang="es-ES" sz="700">
                <a:latin typeface="Reddit Sans"/>
                <a:ea typeface="Reddit Sans"/>
              </a:rPr>
              <a:t>Definición modelo de gestión de  </a:t>
            </a:r>
            <a:r>
              <a:rPr lang="es-ES" sz="700">
                <a:latin typeface="Reddit Sans"/>
              </a:rPr>
              <a:t>ANS</a:t>
            </a:r>
          </a:p>
          <a:p>
            <a:pPr marL="171450" indent="-171450">
              <a:buChar char="•"/>
            </a:pPr>
            <a:endParaRPr lang="es-ES" sz="700">
              <a:latin typeface="Reddit Sans"/>
            </a:endParaRPr>
          </a:p>
          <a:p>
            <a:pPr marL="171450" indent="-171450">
              <a:buChar char="•"/>
            </a:pPr>
            <a:r>
              <a:rPr lang="es-ES" sz="700">
                <a:latin typeface="Reddit Sans"/>
              </a:rPr>
              <a:t>Empezar a definir el modelo de gestión de conocimiento </a:t>
            </a:r>
          </a:p>
          <a:p>
            <a:pPr marL="171450" indent="-171450">
              <a:buChar char="•"/>
            </a:pPr>
            <a:endParaRPr lang="es-ES" sz="700">
              <a:latin typeface="Reddit Sans"/>
            </a:endParaRPr>
          </a:p>
          <a:p>
            <a:pPr marL="171450" indent="-171450">
              <a:buChar char="•"/>
            </a:pPr>
            <a:r>
              <a:rPr lang="es-ES" sz="700">
                <a:latin typeface="Reddit Sans"/>
              </a:rPr>
              <a:t>Iniciar el piloto de las herramientas de las mesas de servicio (agentes/</a:t>
            </a:r>
            <a:r>
              <a:rPr lang="es-ES" sz="700" err="1">
                <a:latin typeface="Reddit Sans"/>
              </a:rPr>
              <a:t>re-uso</a:t>
            </a:r>
            <a:r>
              <a:rPr lang="es-ES" sz="700">
                <a:latin typeface="Reddit Sans"/>
              </a:rPr>
              <a:t>)</a:t>
            </a:r>
          </a:p>
          <a:p>
            <a:pPr marL="171450" indent="-171450">
              <a:buChar char="•"/>
            </a:pPr>
            <a:endParaRPr lang="es-ES" sz="700">
              <a:latin typeface="Reddit Sans"/>
            </a:endParaRPr>
          </a:p>
          <a:p>
            <a:pPr marL="171450" indent="-171450">
              <a:buChar char="•"/>
            </a:pPr>
            <a:r>
              <a:rPr lang="es-ES" sz="700">
                <a:latin typeface="Reddit Sans"/>
              </a:rPr>
              <a:t>Validación y </a:t>
            </a:r>
            <a:r>
              <a:rPr lang="es-ES" sz="700" err="1">
                <a:latin typeface="Reddit Sans"/>
              </a:rPr>
              <a:t>feedback</a:t>
            </a:r>
            <a:r>
              <a:rPr lang="es-ES" sz="700">
                <a:latin typeface="Reddit Sans"/>
              </a:rPr>
              <a:t> de las definiciones del servicio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4D67D610-C9FA-B84E-1049-D4AA7C737DDC}"/>
              </a:ext>
            </a:extLst>
          </p:cNvPr>
          <p:cNvSpPr txBox="1"/>
          <p:nvPr/>
        </p:nvSpPr>
        <p:spPr>
          <a:xfrm>
            <a:off x="4626426" y="2266949"/>
            <a:ext cx="1850572" cy="27853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Char char="•"/>
            </a:pPr>
            <a:r>
              <a:rPr lang="es-ES" sz="700">
                <a:latin typeface="Reddit Sans"/>
              </a:rPr>
              <a:t>Definición de las herramientas de mesa de servicio como de los </a:t>
            </a:r>
            <a:r>
              <a:rPr lang="es-ES" sz="700" err="1">
                <a:latin typeface="Reddit Sans"/>
              </a:rPr>
              <a:t>doashboard</a:t>
            </a:r>
            <a:r>
              <a:rPr lang="es-ES" sz="700">
                <a:latin typeface="Reddit Sans"/>
              </a:rPr>
              <a:t> para la operación de las mesas de servicio en </a:t>
            </a:r>
            <a:r>
              <a:rPr lang="es-ES" sz="700" err="1">
                <a:latin typeface="Reddit Sans"/>
              </a:rPr>
              <a:t>PersonalSoft</a:t>
            </a:r>
            <a:endParaRPr lang="es-ES" sz="700">
              <a:latin typeface="Reddit Sans"/>
            </a:endParaRPr>
          </a:p>
          <a:p>
            <a:pPr marL="171450" indent="-171450">
              <a:buFont typeface="Arial"/>
              <a:buChar char="•"/>
            </a:pPr>
            <a:endParaRPr lang="es-ES" sz="700">
              <a:latin typeface="Reddit Sans"/>
            </a:endParaRPr>
          </a:p>
          <a:p>
            <a:pPr marL="171450" indent="-171450">
              <a:buFont typeface="Arial"/>
              <a:buChar char="•"/>
            </a:pPr>
            <a:r>
              <a:rPr lang="es-ES" sz="700">
                <a:latin typeface="Reddit Sans"/>
              </a:rPr>
              <a:t>Definir modelo de reportes </a:t>
            </a:r>
          </a:p>
          <a:p>
            <a:pPr marL="171450" indent="-171450">
              <a:buFont typeface="Arial"/>
              <a:buChar char="•"/>
            </a:pPr>
            <a:endParaRPr lang="es-ES" sz="700">
              <a:latin typeface="Reddit Sans"/>
            </a:endParaRPr>
          </a:p>
          <a:p>
            <a:pPr marL="171450" indent="-171450">
              <a:buFont typeface="Arial"/>
              <a:buChar char="•"/>
            </a:pPr>
            <a:r>
              <a:rPr lang="es-ES" sz="700">
                <a:latin typeface="Reddit Sans"/>
              </a:rPr>
              <a:t>Definir el modelo de costos</a:t>
            </a:r>
          </a:p>
          <a:p>
            <a:pPr marL="171450" indent="-171450">
              <a:buChar char="•"/>
            </a:pPr>
            <a:endParaRPr lang="es-ES" sz="700">
              <a:latin typeface="Reddit Sans"/>
            </a:endParaRPr>
          </a:p>
          <a:p>
            <a:pPr marL="171450" indent="-171450">
              <a:buChar char="•"/>
            </a:pPr>
            <a:r>
              <a:rPr lang="es-ES" sz="700">
                <a:latin typeface="Reddit Sans"/>
              </a:rPr>
              <a:t>Crear la plantilla de </a:t>
            </a:r>
            <a:r>
              <a:rPr lang="es-ES" sz="700" err="1">
                <a:latin typeface="Reddit Sans"/>
              </a:rPr>
              <a:t>estimaci</a:t>
            </a:r>
            <a:r>
              <a:rPr lang="es-ES" sz="700">
                <a:latin typeface="Reddit Sans"/>
              </a:rPr>
              <a:t>ón del servicio para el equipo comercial (como se va a vender el servicio)</a:t>
            </a:r>
          </a:p>
          <a:p>
            <a:pPr marL="171450" indent="-171450">
              <a:buFont typeface="Arial"/>
              <a:buChar char="•"/>
            </a:pPr>
            <a:endParaRPr lang="es-ES" sz="700">
              <a:latin typeface="Reddit Sans"/>
            </a:endParaRPr>
          </a:p>
          <a:p>
            <a:pPr marL="171450" indent="-171450">
              <a:buFont typeface="Arial"/>
              <a:buChar char="•"/>
            </a:pPr>
            <a:r>
              <a:rPr lang="es-ES" sz="700">
                <a:latin typeface="Reddit Sans"/>
              </a:rPr>
              <a:t>Inicio creación colaterales comercial (contratos, propuestas, presentaciones, …)</a:t>
            </a:r>
          </a:p>
          <a:p>
            <a:pPr marL="171450" indent="-171450">
              <a:buFont typeface="Arial"/>
              <a:buChar char="•"/>
            </a:pPr>
            <a:endParaRPr lang="es-ES" sz="700">
              <a:latin typeface="Reddit Sans"/>
            </a:endParaRPr>
          </a:p>
          <a:p>
            <a:pPr marL="171450" indent="-171450">
              <a:buFont typeface="Arial"/>
              <a:buChar char="•"/>
            </a:pPr>
            <a:r>
              <a:rPr lang="es-ES" sz="700">
                <a:latin typeface="Reddit Sans"/>
              </a:rPr>
              <a:t>Inicio creación colaterales para la operación</a:t>
            </a:r>
          </a:p>
          <a:p>
            <a:pPr marL="171450" indent="-171450">
              <a:buFont typeface="Arial"/>
              <a:buChar char="•"/>
            </a:pPr>
            <a:endParaRPr lang="es-ES" sz="700">
              <a:latin typeface="Reddit Sans"/>
            </a:endParaRPr>
          </a:p>
          <a:p>
            <a:pPr marL="171450" indent="-171450">
              <a:buFont typeface="Arial"/>
              <a:buChar char="•"/>
            </a:pPr>
            <a:r>
              <a:rPr lang="es-ES" sz="700">
                <a:latin typeface="Reddit Sans"/>
              </a:rPr>
              <a:t>Seleccionar cliente piloto para el nuevo servicio</a:t>
            </a:r>
          </a:p>
          <a:p>
            <a:pPr marL="171450" indent="-171450">
              <a:buFont typeface="Arial"/>
              <a:buChar char="•"/>
            </a:pPr>
            <a:endParaRPr lang="es-ES" sz="700">
              <a:latin typeface="Reddit Sans"/>
            </a:endParaRPr>
          </a:p>
          <a:p>
            <a:pPr marL="171450" indent="-171450">
              <a:buFont typeface="Arial"/>
              <a:buChar char="•"/>
            </a:pPr>
            <a:r>
              <a:rPr lang="es-ES" sz="700">
                <a:latin typeface="Reddit Sans"/>
              </a:rPr>
              <a:t>Inicio habilitaciones equipo </a:t>
            </a:r>
            <a:r>
              <a:rPr lang="es-ES" sz="700" b="1">
                <a:latin typeface="Reddit Sans"/>
              </a:rPr>
              <a:t>comercial </a:t>
            </a:r>
            <a:r>
              <a:rPr lang="es-ES" sz="700">
                <a:latin typeface="Reddit Sans"/>
              </a:rPr>
              <a:t>y </a:t>
            </a:r>
            <a:r>
              <a:rPr lang="es-ES" sz="700" b="1">
                <a:latin typeface="Reddit Sans"/>
              </a:rPr>
              <a:t>operación para el cliente piloto.</a:t>
            </a:r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3C497DDC-BF2A-0C01-A11A-988B41A22048}"/>
              </a:ext>
            </a:extLst>
          </p:cNvPr>
          <p:cNvSpPr txBox="1"/>
          <p:nvPr/>
        </p:nvSpPr>
        <p:spPr>
          <a:xfrm>
            <a:off x="6487882" y="2256062"/>
            <a:ext cx="1850573" cy="24567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Arial,Sans-Serif"/>
              <a:buChar char="•"/>
            </a:pPr>
            <a:r>
              <a:rPr lang="es-ES" sz="700">
                <a:latin typeface="Reddit Sans"/>
                <a:ea typeface="Reddit Sans"/>
              </a:rPr>
              <a:t>Finalización </a:t>
            </a:r>
            <a:r>
              <a:rPr lang="es-ES" sz="700" err="1">
                <a:latin typeface="Reddit Sans"/>
                <a:ea typeface="Reddit Sans"/>
              </a:rPr>
              <a:t>colat</a:t>
            </a:r>
            <a:r>
              <a:rPr lang="es-ES" sz="700">
                <a:latin typeface="Reddit Sans"/>
                <a:ea typeface="Reddit Sans"/>
              </a:rPr>
              <a:t>erales equipo comercial y </a:t>
            </a:r>
            <a:r>
              <a:rPr lang="es-ES" sz="700" err="1">
                <a:latin typeface="Reddit Sans"/>
                <a:ea typeface="Reddit Sans"/>
              </a:rPr>
              <a:t>operción</a:t>
            </a:r>
            <a:r>
              <a:rPr lang="es-ES" sz="700">
                <a:latin typeface="Reddit Sans"/>
                <a:ea typeface="Reddit Sans"/>
              </a:rPr>
              <a:t> (contratos, plantillas de estimación, presentaciones, propuestas, …)</a:t>
            </a:r>
          </a:p>
          <a:p>
            <a:pPr marL="171450" indent="-171450">
              <a:buFont typeface="Arial,Sans-Serif"/>
              <a:buChar char="•"/>
            </a:pPr>
            <a:endParaRPr lang="es-ES" sz="700">
              <a:latin typeface="Reddit Sans"/>
              <a:ea typeface="Reddit Sans"/>
            </a:endParaRPr>
          </a:p>
          <a:p>
            <a:pPr marL="171450" indent="-171450">
              <a:buFont typeface="Arial,Sans-Serif"/>
              <a:buChar char="•"/>
            </a:pPr>
            <a:r>
              <a:rPr lang="es-ES" sz="700">
                <a:latin typeface="Reddit Sans"/>
                <a:ea typeface="Reddit Sans"/>
              </a:rPr>
              <a:t>Inicio actualización/creación del servicio en  la herramienta de procesos de </a:t>
            </a:r>
            <a:r>
              <a:rPr lang="es-ES" sz="700" err="1">
                <a:latin typeface="Reddit Sans"/>
                <a:ea typeface="Reddit Sans"/>
              </a:rPr>
              <a:t>PersonalSoft</a:t>
            </a:r>
            <a:endParaRPr lang="es-ES" sz="700">
              <a:latin typeface="Reddit Sans"/>
              <a:ea typeface="Reddit Sans"/>
            </a:endParaRPr>
          </a:p>
          <a:p>
            <a:pPr marL="171450" indent="-171450">
              <a:buFont typeface="Arial,Sans-Serif"/>
              <a:buChar char="•"/>
            </a:pPr>
            <a:endParaRPr lang="es-ES" sz="700">
              <a:latin typeface="Reddit Sans"/>
              <a:ea typeface="Reddit Sans"/>
            </a:endParaRPr>
          </a:p>
          <a:p>
            <a:pPr marL="171450" indent="-171450">
              <a:buFont typeface="Arial,Sans-Serif"/>
              <a:buChar char="•"/>
            </a:pPr>
            <a:r>
              <a:rPr lang="es-ES" sz="700">
                <a:latin typeface="Reddit Sans"/>
                <a:ea typeface="Reddit Sans"/>
              </a:rPr>
              <a:t>Habilitaciones equipo comercial  del servicio nuevo</a:t>
            </a:r>
          </a:p>
          <a:p>
            <a:pPr marL="171450" indent="-171450">
              <a:buFont typeface="Arial,Sans-Serif"/>
              <a:buChar char="•"/>
            </a:pPr>
            <a:endParaRPr lang="es-ES" sz="700">
              <a:latin typeface="Reddit Sans"/>
              <a:ea typeface="Reddit Sans"/>
            </a:endParaRPr>
          </a:p>
          <a:p>
            <a:pPr marL="171450" indent="-171450">
              <a:buFont typeface="Arial,Sans-Serif"/>
              <a:buChar char="•"/>
            </a:pPr>
            <a:r>
              <a:rPr lang="es-ES" sz="700">
                <a:latin typeface="Reddit Sans"/>
                <a:ea typeface="Reddit Sans"/>
              </a:rPr>
              <a:t>Habilitaciones equipo de la operación del servicio nuevo</a:t>
            </a:r>
          </a:p>
          <a:p>
            <a:pPr marL="171450" indent="-171450">
              <a:buFont typeface="Arial,Sans-Serif"/>
              <a:buChar char="•"/>
            </a:pPr>
            <a:endParaRPr lang="es-ES" sz="700">
              <a:latin typeface="Reddit Sans"/>
              <a:ea typeface="Reddit Sans"/>
            </a:endParaRPr>
          </a:p>
          <a:p>
            <a:pPr marL="171450" indent="-171450">
              <a:buFont typeface="Arial,Sans-Serif"/>
              <a:buChar char="•"/>
            </a:pPr>
            <a:r>
              <a:rPr lang="es-ES" sz="700">
                <a:latin typeface="Reddit Sans"/>
                <a:ea typeface="Reddit Sans"/>
              </a:rPr>
              <a:t>*Priorizar las mesas de servicio a </a:t>
            </a:r>
            <a:r>
              <a:rPr lang="es-ES" sz="700" err="1">
                <a:latin typeface="Reddit Sans"/>
                <a:ea typeface="Reddit Sans"/>
              </a:rPr>
              <a:t>transicionar</a:t>
            </a:r>
          </a:p>
          <a:p>
            <a:pPr marL="171450" indent="-171450">
              <a:buFont typeface="Arial,Sans-Serif"/>
              <a:buChar char="•"/>
            </a:pPr>
            <a:endParaRPr lang="es-ES" sz="700">
              <a:latin typeface="Reddit Sans"/>
              <a:ea typeface="Reddit Sans"/>
            </a:endParaRPr>
          </a:p>
          <a:p>
            <a:pPr marL="171450" indent="-171450">
              <a:buFont typeface="Arial,Sans-Serif"/>
              <a:buChar char="•"/>
            </a:pPr>
            <a:endParaRPr lang="es-ES" sz="700">
              <a:latin typeface="Reddit Sans"/>
              <a:ea typeface="Reddit Sans"/>
            </a:endParaRPr>
          </a:p>
          <a:p>
            <a:pPr marL="171450" indent="-171450">
              <a:buFont typeface="Arial,Sans-Serif"/>
              <a:buChar char="•"/>
            </a:pPr>
            <a:endParaRPr lang="es-ES" sz="700">
              <a:latin typeface="Reddit Sans"/>
              <a:ea typeface="Reddit Sans"/>
            </a:endParaRPr>
          </a:p>
          <a:p>
            <a:pPr marL="171450" indent="-171450">
              <a:buFont typeface="Arial,Sans-Serif"/>
              <a:buChar char="•"/>
            </a:pPr>
            <a:endParaRPr lang="es-ES" sz="700">
              <a:latin typeface="Reddit Sans"/>
              <a:ea typeface="Reddit Sans"/>
            </a:endParaRPr>
          </a:p>
          <a:p>
            <a:pPr marL="171450" indent="-171450">
              <a:buFont typeface="Arial,Sans-Serif"/>
              <a:buChar char="•"/>
            </a:pPr>
            <a:endParaRPr lang="es-ES" sz="700">
              <a:latin typeface="Reddit Sans"/>
              <a:ea typeface="Reddit Sans"/>
            </a:endParaRPr>
          </a:p>
        </p:txBody>
      </p:sp>
      <p:sp>
        <p:nvSpPr>
          <p:cNvPr id="9" name="Estrella: 5 puntas 8">
            <a:extLst>
              <a:ext uri="{FF2B5EF4-FFF2-40B4-BE49-F238E27FC236}">
                <a16:creationId xmlns:a16="http://schemas.microsoft.com/office/drawing/2014/main" id="{30D04E13-5961-BFEB-AEC7-DA3787F178A5}"/>
              </a:ext>
            </a:extLst>
          </p:cNvPr>
          <p:cNvSpPr/>
          <p:nvPr/>
        </p:nvSpPr>
        <p:spPr>
          <a:xfrm>
            <a:off x="6797040" y="1799408"/>
            <a:ext cx="97972" cy="114301"/>
          </a:xfrm>
          <a:prstGeom prst="star5">
            <a:avLst/>
          </a:prstGeom>
          <a:solidFill>
            <a:srgbClr val="92D05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strella: 5 puntas 12">
            <a:extLst>
              <a:ext uri="{FF2B5EF4-FFF2-40B4-BE49-F238E27FC236}">
                <a16:creationId xmlns:a16="http://schemas.microsoft.com/office/drawing/2014/main" id="{EA9F544E-B379-6D5B-81BC-FBAE2C91A372}"/>
              </a:ext>
            </a:extLst>
          </p:cNvPr>
          <p:cNvSpPr/>
          <p:nvPr/>
        </p:nvSpPr>
        <p:spPr>
          <a:xfrm>
            <a:off x="6960325" y="128448"/>
            <a:ext cx="97972" cy="114301"/>
          </a:xfrm>
          <a:prstGeom prst="star5">
            <a:avLst/>
          </a:prstGeom>
          <a:solidFill>
            <a:schemeClr val="accent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E0A2E35-84DC-CEE0-73CD-30C9F3A5114D}"/>
              </a:ext>
            </a:extLst>
          </p:cNvPr>
          <p:cNvSpPr txBox="1"/>
          <p:nvPr/>
        </p:nvSpPr>
        <p:spPr>
          <a:xfrm>
            <a:off x="7097488" y="78372"/>
            <a:ext cx="145323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700"/>
              <a:t>Entrega incremental del servicio a clientes nuevos</a:t>
            </a:r>
            <a:endParaRPr lang="es-ES"/>
          </a:p>
        </p:txBody>
      </p:sp>
      <p:sp>
        <p:nvSpPr>
          <p:cNvPr id="17" name="Estrella: 5 puntas 16">
            <a:extLst>
              <a:ext uri="{FF2B5EF4-FFF2-40B4-BE49-F238E27FC236}">
                <a16:creationId xmlns:a16="http://schemas.microsoft.com/office/drawing/2014/main" id="{FC3DFC75-74E1-51A8-7F8E-625467DB5484}"/>
              </a:ext>
            </a:extLst>
          </p:cNvPr>
          <p:cNvSpPr/>
          <p:nvPr/>
        </p:nvSpPr>
        <p:spPr>
          <a:xfrm>
            <a:off x="6960324" y="536662"/>
            <a:ext cx="97972" cy="114301"/>
          </a:xfrm>
          <a:prstGeom prst="star5">
            <a:avLst/>
          </a:prstGeom>
          <a:solidFill>
            <a:srgbClr val="92D05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71BEDAA-B323-ED74-9C28-B217DF7137F5}"/>
              </a:ext>
            </a:extLst>
          </p:cNvPr>
          <p:cNvSpPr txBox="1"/>
          <p:nvPr/>
        </p:nvSpPr>
        <p:spPr>
          <a:xfrm>
            <a:off x="7097488" y="486586"/>
            <a:ext cx="1453239" cy="2000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700"/>
              <a:t>Lanzamiento servicio nuevo</a:t>
            </a:r>
            <a:endParaRPr lang="es-ES"/>
          </a:p>
        </p:txBody>
      </p:sp>
      <p:sp>
        <p:nvSpPr>
          <p:cNvPr id="21" name="Estrella: 5 puntas 20">
            <a:extLst>
              <a:ext uri="{FF2B5EF4-FFF2-40B4-BE49-F238E27FC236}">
                <a16:creationId xmlns:a16="http://schemas.microsoft.com/office/drawing/2014/main" id="{A9737F9F-D3F2-5470-00F8-436C71167D9B}"/>
              </a:ext>
            </a:extLst>
          </p:cNvPr>
          <p:cNvSpPr/>
          <p:nvPr/>
        </p:nvSpPr>
        <p:spPr>
          <a:xfrm>
            <a:off x="2567939" y="1799405"/>
            <a:ext cx="97972" cy="114301"/>
          </a:xfrm>
          <a:prstGeom prst="star5">
            <a:avLst/>
          </a:prstGeom>
          <a:solidFill>
            <a:schemeClr val="accent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Estrella: 5 puntas 21">
            <a:extLst>
              <a:ext uri="{FF2B5EF4-FFF2-40B4-BE49-F238E27FC236}">
                <a16:creationId xmlns:a16="http://schemas.microsoft.com/office/drawing/2014/main" id="{3323DB7D-E6AF-D9B3-5FE5-1007D719A064}"/>
              </a:ext>
            </a:extLst>
          </p:cNvPr>
          <p:cNvSpPr/>
          <p:nvPr/>
        </p:nvSpPr>
        <p:spPr>
          <a:xfrm>
            <a:off x="4462053" y="1799405"/>
            <a:ext cx="97972" cy="114301"/>
          </a:xfrm>
          <a:prstGeom prst="star5">
            <a:avLst/>
          </a:prstGeom>
          <a:solidFill>
            <a:schemeClr val="accent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Estrella: 5 puntas 23">
            <a:extLst>
              <a:ext uri="{FF2B5EF4-FFF2-40B4-BE49-F238E27FC236}">
                <a16:creationId xmlns:a16="http://schemas.microsoft.com/office/drawing/2014/main" id="{FC5683D6-CCD0-0EA4-CECD-5BB0CA1CEA71}"/>
              </a:ext>
            </a:extLst>
          </p:cNvPr>
          <p:cNvSpPr/>
          <p:nvPr/>
        </p:nvSpPr>
        <p:spPr>
          <a:xfrm>
            <a:off x="6263638" y="1799405"/>
            <a:ext cx="97972" cy="114301"/>
          </a:xfrm>
          <a:prstGeom prst="star5">
            <a:avLst/>
          </a:prstGeom>
          <a:solidFill>
            <a:schemeClr val="accent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B1D456E-D1E4-5551-44B5-59EA84D46039}"/>
              </a:ext>
            </a:extLst>
          </p:cNvPr>
          <p:cNvSpPr txBox="1"/>
          <p:nvPr/>
        </p:nvSpPr>
        <p:spPr>
          <a:xfrm>
            <a:off x="4897207" y="1960789"/>
            <a:ext cx="1306286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600" i="1">
                <a:solidFill>
                  <a:srgbClr val="8DB5F8"/>
                </a:solidFill>
              </a:rPr>
              <a:t>Diseño Modelo Operativo de alto nivel – Operación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B6FB371-87F0-7E92-F471-19FA2BBF8849}"/>
              </a:ext>
            </a:extLst>
          </p:cNvPr>
          <p:cNvSpPr txBox="1"/>
          <p:nvPr/>
        </p:nvSpPr>
        <p:spPr>
          <a:xfrm>
            <a:off x="3101064" y="1982558"/>
            <a:ext cx="12954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600" i="1">
                <a:solidFill>
                  <a:srgbClr val="8DB5F8"/>
                </a:solidFill>
              </a:rPr>
              <a:t>Diseño Modelo Operativo de alto nivel -  Funcional Comercial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5130E0D-C440-ECFE-4914-FF321BBB5531}"/>
              </a:ext>
            </a:extLst>
          </p:cNvPr>
          <p:cNvSpPr txBox="1"/>
          <p:nvPr/>
        </p:nvSpPr>
        <p:spPr>
          <a:xfrm>
            <a:off x="6491962" y="1960786"/>
            <a:ext cx="16764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600" i="1">
                <a:solidFill>
                  <a:srgbClr val="8DB5F8"/>
                </a:solidFill>
              </a:rPr>
              <a:t>Definición de procesos, y empezar transición clientes actuales</a:t>
            </a:r>
            <a:endParaRPr lang="es-ES" sz="600">
              <a:solidFill>
                <a:srgbClr val="8DB5F8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D0C368C-4BDE-93D1-8D67-93C0CFC01E83}"/>
              </a:ext>
            </a:extLst>
          </p:cNvPr>
          <p:cNvSpPr txBox="1"/>
          <p:nvPr/>
        </p:nvSpPr>
        <p:spPr>
          <a:xfrm>
            <a:off x="1245050" y="1960783"/>
            <a:ext cx="1322616" cy="287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600" i="1">
                <a:solidFill>
                  <a:srgbClr val="8DB5F8"/>
                </a:solidFill>
              </a:rPr>
              <a:t>Evaluación de la operación y diagrama inicial del servicio</a:t>
            </a:r>
          </a:p>
        </p:txBody>
      </p:sp>
    </p:spTree>
    <p:extLst>
      <p:ext uri="{BB962C8B-B14F-4D97-AF65-F5344CB8AC3E}">
        <p14:creationId xmlns:p14="http://schemas.microsoft.com/office/powerpoint/2010/main" val="748627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6FCB9-FC7C-5B0D-602F-B3ABFA8D4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76;g3657f5ba65c_1_33">
            <a:extLst>
              <a:ext uri="{FF2B5EF4-FFF2-40B4-BE49-F238E27FC236}">
                <a16:creationId xmlns:a16="http://schemas.microsoft.com/office/drawing/2014/main" id="{C60CE0AF-7CFC-F237-2764-F5C723A6965C}"/>
              </a:ext>
            </a:extLst>
          </p:cNvPr>
          <p:cNvSpPr txBox="1">
            <a:spLocks/>
          </p:cNvSpPr>
          <p:nvPr/>
        </p:nvSpPr>
        <p:spPr>
          <a:xfrm>
            <a:off x="297034" y="265414"/>
            <a:ext cx="7536083" cy="8611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b="1" err="1">
                <a:solidFill>
                  <a:srgbClr val="0E337C"/>
                </a:solidFill>
                <a:latin typeface="Reddit Sans"/>
                <a:ea typeface="Reddit Sans"/>
                <a:sym typeface="Reddit Sans"/>
              </a:rPr>
              <a:t>Roadmap</a:t>
            </a:r>
            <a:r>
              <a:rPr lang="es-ES" b="1">
                <a:solidFill>
                  <a:srgbClr val="0E337C"/>
                </a:solidFill>
                <a:latin typeface="Reddit Sans"/>
                <a:ea typeface="Reddit Sans"/>
                <a:sym typeface="Reddit Sans"/>
              </a:rPr>
              <a:t> de Implementación Mesa de Servicios de Nueva Generación </a:t>
            </a:r>
            <a:r>
              <a:rPr lang="en-US" b="1">
                <a:solidFill>
                  <a:srgbClr val="0E337C"/>
                </a:solidFill>
                <a:latin typeface="Reddit Sans"/>
                <a:ea typeface="Reddit Sans"/>
                <a:sym typeface="Reddit Sans"/>
              </a:rPr>
              <a:t>(Q3 - Q4 2026)</a:t>
            </a:r>
            <a:endParaRPr lang="es-ES">
              <a:sym typeface="Reddit Sans"/>
            </a:endParaRPr>
          </a:p>
          <a:p>
            <a:r>
              <a:rPr lang="es-ES">
                <a:solidFill>
                  <a:srgbClr val="0E337C"/>
                </a:solidFill>
                <a:latin typeface="Reddit Sans"/>
                <a:ea typeface="Reddit Sans"/>
                <a:sym typeface="Reddit Sans"/>
              </a:rPr>
              <a:t>Servicio Optimo y Estandarizado</a:t>
            </a:r>
            <a:endParaRPr lang="es-ES"/>
          </a:p>
        </p:txBody>
      </p:sp>
      <p:pic>
        <p:nvPicPr>
          <p:cNvPr id="8" name="Image 0" descr="0ef8cba2.png">
            <a:extLst>
              <a:ext uri="{FF2B5EF4-FFF2-40B4-BE49-F238E27FC236}">
                <a16:creationId xmlns:a16="http://schemas.microsoft.com/office/drawing/2014/main" id="{A60937F7-7E9D-F21C-3BFB-74E7880C8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859" y="3028950"/>
            <a:ext cx="9179719" cy="42863"/>
          </a:xfrm>
          <a:prstGeom prst="rect">
            <a:avLst/>
          </a:prstGeom>
        </p:spPr>
      </p:pic>
      <p:pic>
        <p:nvPicPr>
          <p:cNvPr id="10" name="Image 1" descr="-1440bf9e.png">
            <a:extLst>
              <a:ext uri="{FF2B5EF4-FFF2-40B4-BE49-F238E27FC236}">
                <a16:creationId xmlns:a16="http://schemas.microsoft.com/office/drawing/2014/main" id="{A323692D-0BC5-CBF1-32F2-3DA41F127B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246" y="1346597"/>
            <a:ext cx="21431" cy="1714500"/>
          </a:xfrm>
          <a:prstGeom prst="rect">
            <a:avLst/>
          </a:prstGeom>
        </p:spPr>
      </p:pic>
      <p:pic>
        <p:nvPicPr>
          <p:cNvPr id="12" name="Image 2" descr="0-aeb55e.png">
            <a:extLst>
              <a:ext uri="{FF2B5EF4-FFF2-40B4-BE49-F238E27FC236}">
                <a16:creationId xmlns:a16="http://schemas.microsoft.com/office/drawing/2014/main" id="{E616F815-CBDE-C7B1-0C9D-7923352832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096" y="2978944"/>
            <a:ext cx="135731" cy="135731"/>
          </a:xfrm>
          <a:prstGeom prst="rect">
            <a:avLst/>
          </a:prstGeom>
        </p:spPr>
      </p:pic>
      <p:pic>
        <p:nvPicPr>
          <p:cNvPr id="14" name="Image 3" descr="-2183d71e.png">
            <a:extLst>
              <a:ext uri="{FF2B5EF4-FFF2-40B4-BE49-F238E27FC236}">
                <a16:creationId xmlns:a16="http://schemas.microsoft.com/office/drawing/2014/main" id="{E6A5BAED-95C2-9078-9B83-22AE0E006D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6899" y="3036094"/>
            <a:ext cx="21431" cy="692944"/>
          </a:xfrm>
          <a:prstGeom prst="rect">
            <a:avLst/>
          </a:prstGeom>
        </p:spPr>
      </p:pic>
      <p:pic>
        <p:nvPicPr>
          <p:cNvPr id="16" name="Image 4" descr="0-aeb55e.png">
            <a:extLst>
              <a:ext uri="{FF2B5EF4-FFF2-40B4-BE49-F238E27FC236}">
                <a16:creationId xmlns:a16="http://schemas.microsoft.com/office/drawing/2014/main" id="{94DA267A-BBAF-3AC6-08C9-C5A8DD6ACD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9749" y="2978944"/>
            <a:ext cx="135731" cy="135731"/>
          </a:xfrm>
          <a:prstGeom prst="rect">
            <a:avLst/>
          </a:prstGeom>
        </p:spPr>
      </p:pic>
      <p:pic>
        <p:nvPicPr>
          <p:cNvPr id="18" name="Image 5" descr="-1440bf9e.png">
            <a:extLst>
              <a:ext uri="{FF2B5EF4-FFF2-40B4-BE49-F238E27FC236}">
                <a16:creationId xmlns:a16="http://schemas.microsoft.com/office/drawing/2014/main" id="{A8676186-F68B-58D8-85F9-4C0FD9F11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1552" y="1346597"/>
            <a:ext cx="21431" cy="1714500"/>
          </a:xfrm>
          <a:prstGeom prst="rect">
            <a:avLst/>
          </a:prstGeom>
        </p:spPr>
      </p:pic>
      <p:pic>
        <p:nvPicPr>
          <p:cNvPr id="20" name="Image 6" descr="0-aeb55e.png">
            <a:extLst>
              <a:ext uri="{FF2B5EF4-FFF2-40B4-BE49-F238E27FC236}">
                <a16:creationId xmlns:a16="http://schemas.microsoft.com/office/drawing/2014/main" id="{CBF6016A-7225-E3A2-3C5B-A8B16A6C5A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4402" y="2978944"/>
            <a:ext cx="135731" cy="135731"/>
          </a:xfrm>
          <a:prstGeom prst="rect">
            <a:avLst/>
          </a:prstGeom>
        </p:spPr>
      </p:pic>
      <p:pic>
        <p:nvPicPr>
          <p:cNvPr id="22" name="Image 7" descr="-2183d71e.png">
            <a:extLst>
              <a:ext uri="{FF2B5EF4-FFF2-40B4-BE49-F238E27FC236}">
                <a16:creationId xmlns:a16="http://schemas.microsoft.com/office/drawing/2014/main" id="{CCE43E15-74EC-1715-4AAF-8B292E218F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206" y="3036094"/>
            <a:ext cx="21431" cy="692944"/>
          </a:xfrm>
          <a:prstGeom prst="rect">
            <a:avLst/>
          </a:prstGeom>
        </p:spPr>
      </p:pic>
      <p:pic>
        <p:nvPicPr>
          <p:cNvPr id="24" name="Image 8" descr="0-aeb55e.png">
            <a:extLst>
              <a:ext uri="{FF2B5EF4-FFF2-40B4-BE49-F238E27FC236}">
                <a16:creationId xmlns:a16="http://schemas.microsoft.com/office/drawing/2014/main" id="{8A9D9FF7-769B-0548-ED95-3D51A817DB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9056" y="2978944"/>
            <a:ext cx="135731" cy="135731"/>
          </a:xfrm>
          <a:prstGeom prst="rect">
            <a:avLst/>
          </a:prstGeom>
        </p:spPr>
      </p:pic>
      <p:pic>
        <p:nvPicPr>
          <p:cNvPr id="26" name="Image 9" descr="-1440bf9e.png">
            <a:extLst>
              <a:ext uri="{FF2B5EF4-FFF2-40B4-BE49-F238E27FC236}">
                <a16:creationId xmlns:a16="http://schemas.microsoft.com/office/drawing/2014/main" id="{D2578697-3A67-84F8-3C0A-31406242C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0787" y="1346597"/>
            <a:ext cx="21431" cy="1714500"/>
          </a:xfrm>
          <a:prstGeom prst="rect">
            <a:avLst/>
          </a:prstGeom>
        </p:spPr>
      </p:pic>
      <p:pic>
        <p:nvPicPr>
          <p:cNvPr id="28" name="Image 10" descr="0-aeb55e.png">
            <a:extLst>
              <a:ext uri="{FF2B5EF4-FFF2-40B4-BE49-F238E27FC236}">
                <a16:creationId xmlns:a16="http://schemas.microsoft.com/office/drawing/2014/main" id="{E6913D40-79F8-4B8F-96D0-863BD15AB1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3637" y="2978944"/>
            <a:ext cx="135731" cy="135731"/>
          </a:xfrm>
          <a:prstGeom prst="rect">
            <a:avLst/>
          </a:prstGeom>
        </p:spPr>
      </p:pic>
      <p:pic>
        <p:nvPicPr>
          <p:cNvPr id="30" name="Image 11" descr="-2183d71e.png">
            <a:extLst>
              <a:ext uri="{FF2B5EF4-FFF2-40B4-BE49-F238E27FC236}">
                <a16:creationId xmlns:a16="http://schemas.microsoft.com/office/drawing/2014/main" id="{C4C7122F-104F-2756-0375-BDCF2DA792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5440" y="3036094"/>
            <a:ext cx="21431" cy="692944"/>
          </a:xfrm>
          <a:prstGeom prst="rect">
            <a:avLst/>
          </a:prstGeom>
        </p:spPr>
      </p:pic>
      <p:pic>
        <p:nvPicPr>
          <p:cNvPr id="32" name="Image 12" descr="0-aeb55e.png">
            <a:extLst>
              <a:ext uri="{FF2B5EF4-FFF2-40B4-BE49-F238E27FC236}">
                <a16:creationId xmlns:a16="http://schemas.microsoft.com/office/drawing/2014/main" id="{D4E047C4-4509-0032-2117-BF2C969CFB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8290" y="2978944"/>
            <a:ext cx="135731" cy="135731"/>
          </a:xfrm>
          <a:prstGeom prst="rect">
            <a:avLst/>
          </a:prstGeom>
        </p:spPr>
      </p:pic>
      <p:sp>
        <p:nvSpPr>
          <p:cNvPr id="34" name="Shape 2">
            <a:extLst>
              <a:ext uri="{FF2B5EF4-FFF2-40B4-BE49-F238E27FC236}">
                <a16:creationId xmlns:a16="http://schemas.microsoft.com/office/drawing/2014/main" id="{6BEA199E-A0D2-0F11-46EE-8E5F1096BB87}"/>
              </a:ext>
            </a:extLst>
          </p:cNvPr>
          <p:cNvSpPr/>
          <p:nvPr/>
        </p:nvSpPr>
        <p:spPr>
          <a:xfrm>
            <a:off x="782910" y="1257313"/>
            <a:ext cx="100013" cy="100013"/>
          </a:xfrm>
          <a:prstGeom prst="ellipse">
            <a:avLst/>
          </a:prstGeom>
          <a:solidFill>
            <a:srgbClr val="22AAEE"/>
          </a:solidFill>
          <a:ln>
            <a:miter lim="800000"/>
          </a:ln>
        </p:spPr>
      </p:sp>
      <p:sp>
        <p:nvSpPr>
          <p:cNvPr id="36" name="Text 3">
            <a:extLst>
              <a:ext uri="{FF2B5EF4-FFF2-40B4-BE49-F238E27FC236}">
                <a16:creationId xmlns:a16="http://schemas.microsoft.com/office/drawing/2014/main" id="{F79AFF45-D7D1-9B3E-7F9D-5C344B67B1B5}"/>
              </a:ext>
            </a:extLst>
          </p:cNvPr>
          <p:cNvSpPr/>
          <p:nvPr/>
        </p:nvSpPr>
        <p:spPr>
          <a:xfrm>
            <a:off x="954405" y="1226515"/>
            <a:ext cx="2256309" cy="16453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296"/>
              </a:lnSpc>
            </a:pPr>
            <a:r>
              <a:rPr lang="en-US" sz="1125" kern="0" spc="-6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Julio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C9D7385B-6E16-ACDC-1442-4423CB662B97}"/>
              </a:ext>
            </a:extLst>
          </p:cNvPr>
          <p:cNvSpPr/>
          <p:nvPr/>
        </p:nvSpPr>
        <p:spPr>
          <a:xfrm>
            <a:off x="954405" y="1466277"/>
            <a:ext cx="2256309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556"/>
              </a:lnSpc>
              <a:spcBef>
                <a:spcPts val="581"/>
              </a:spcBef>
            </a:pPr>
            <a:r>
              <a:rPr lang="es-CO" kern="0" spc="-81">
                <a:solidFill>
                  <a:srgbClr val="333333"/>
                </a:solidFill>
                <a:latin typeface="Reddit Sans"/>
                <a:ea typeface="Reddit Sans"/>
              </a:rPr>
              <a:t>Diagnóstico estado actual de la operación y estudio de mercado</a:t>
            </a:r>
            <a:endParaRPr lang="en-US" kern="0" spc="-81">
              <a:solidFill>
                <a:srgbClr val="333333"/>
              </a:solidFill>
              <a:latin typeface="Reddit Sans"/>
              <a:ea typeface="Reddit Sans"/>
            </a:endParaRPr>
          </a:p>
          <a:p>
            <a:pPr>
              <a:lnSpc>
                <a:spcPts val="1556"/>
              </a:lnSpc>
              <a:spcBef>
                <a:spcPts val="581"/>
              </a:spcBef>
            </a:pPr>
            <a:endParaRPr lang="en-US" kern="0" spc="-81">
              <a:solidFill>
                <a:srgbClr val="333333"/>
              </a:solidFill>
              <a:latin typeface="Reddit Sans"/>
              <a:ea typeface="Reddit Sans"/>
            </a:endParaRPr>
          </a:p>
        </p:txBody>
      </p:sp>
      <p:sp>
        <p:nvSpPr>
          <p:cNvPr id="42" name="Shape 6">
            <a:extLst>
              <a:ext uri="{FF2B5EF4-FFF2-40B4-BE49-F238E27FC236}">
                <a16:creationId xmlns:a16="http://schemas.microsoft.com/office/drawing/2014/main" id="{11651C04-9FB5-BC5B-1E3A-1DD160856B31}"/>
              </a:ext>
            </a:extLst>
          </p:cNvPr>
          <p:cNvSpPr/>
          <p:nvPr/>
        </p:nvSpPr>
        <p:spPr>
          <a:xfrm>
            <a:off x="2007505" y="3714652"/>
            <a:ext cx="100013" cy="100013"/>
          </a:xfrm>
          <a:prstGeom prst="ellipse">
            <a:avLst/>
          </a:prstGeom>
          <a:solidFill>
            <a:srgbClr val="22AAEE"/>
          </a:solidFill>
          <a:ln>
            <a:miter lim="800000"/>
          </a:ln>
        </p:spPr>
      </p:sp>
      <p:sp>
        <p:nvSpPr>
          <p:cNvPr id="44" name="Text 7">
            <a:extLst>
              <a:ext uri="{FF2B5EF4-FFF2-40B4-BE49-F238E27FC236}">
                <a16:creationId xmlns:a16="http://schemas.microsoft.com/office/drawing/2014/main" id="{AFC88252-91AB-BDDC-2AC6-693F2A1838D5}"/>
              </a:ext>
            </a:extLst>
          </p:cNvPr>
          <p:cNvSpPr/>
          <p:nvPr/>
        </p:nvSpPr>
        <p:spPr>
          <a:xfrm>
            <a:off x="2179048" y="3683965"/>
            <a:ext cx="2256309" cy="16453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296"/>
              </a:lnSpc>
            </a:pPr>
            <a:r>
              <a:rPr lang="en-US" sz="1125" kern="0" spc="-6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Agosto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46" name="Text 8">
            <a:extLst>
              <a:ext uri="{FF2B5EF4-FFF2-40B4-BE49-F238E27FC236}">
                <a16:creationId xmlns:a16="http://schemas.microsoft.com/office/drawing/2014/main" id="{CA36DFE1-B217-F249-4A90-F4871FBB1F7B}"/>
              </a:ext>
            </a:extLst>
          </p:cNvPr>
          <p:cNvSpPr/>
          <p:nvPr/>
        </p:nvSpPr>
        <p:spPr>
          <a:xfrm>
            <a:off x="2179048" y="3923727"/>
            <a:ext cx="2256309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556"/>
              </a:lnSpc>
              <a:spcBef>
                <a:spcPts val="581"/>
              </a:spcBef>
            </a:pPr>
            <a:r>
              <a:rPr lang="en-US" sz="135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Implementación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48" name="Text 9">
            <a:extLst>
              <a:ext uri="{FF2B5EF4-FFF2-40B4-BE49-F238E27FC236}">
                <a16:creationId xmlns:a16="http://schemas.microsoft.com/office/drawing/2014/main" id="{173E176F-78C9-6A9B-0342-CFD7ABA4E25A}"/>
              </a:ext>
            </a:extLst>
          </p:cNvPr>
          <p:cNvSpPr/>
          <p:nvPr/>
        </p:nvSpPr>
        <p:spPr>
          <a:xfrm>
            <a:off x="2179048" y="4180344"/>
            <a:ext cx="2352794" cy="39089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539"/>
              </a:lnSpc>
              <a:spcBef>
                <a:spcPts val="458"/>
              </a:spcBef>
            </a:pPr>
            <a:r>
              <a:rPr lang="es-ES" sz="11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Diseño modelo operativo servicio optimo – Funcional y piloto de herramientas</a:t>
            </a:r>
            <a:endParaRPr lang="en-US" sz="1100" kern="0" spc="-23">
              <a:solidFill>
                <a:srgbClr val="000000">
                  <a:alpha val="55000"/>
                </a:srgbClr>
              </a:solidFill>
              <a:latin typeface="Reddit Sans"/>
              <a:ea typeface="Reddit Sans"/>
            </a:endParaRPr>
          </a:p>
          <a:p>
            <a:pPr>
              <a:lnSpc>
                <a:spcPts val="1539"/>
              </a:lnSpc>
              <a:spcBef>
                <a:spcPts val="458"/>
              </a:spcBef>
            </a:pPr>
            <a:endParaRPr lang="en-US" sz="1100" kern="0" spc="-23">
              <a:solidFill>
                <a:srgbClr val="000000">
                  <a:alpha val="55000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50" name="Shape 10">
            <a:extLst>
              <a:ext uri="{FF2B5EF4-FFF2-40B4-BE49-F238E27FC236}">
                <a16:creationId xmlns:a16="http://schemas.microsoft.com/office/drawing/2014/main" id="{E640B52C-DC88-FB34-7B27-0D8C14CCE92A}"/>
              </a:ext>
            </a:extLst>
          </p:cNvPr>
          <p:cNvSpPr/>
          <p:nvPr/>
        </p:nvSpPr>
        <p:spPr>
          <a:xfrm>
            <a:off x="3232212" y="1257313"/>
            <a:ext cx="100013" cy="100013"/>
          </a:xfrm>
          <a:prstGeom prst="ellipse">
            <a:avLst/>
          </a:prstGeom>
          <a:solidFill>
            <a:srgbClr val="22AAEE"/>
          </a:solidFill>
          <a:ln>
            <a:miter lim="800000"/>
          </a:ln>
        </p:spPr>
      </p:sp>
      <p:sp>
        <p:nvSpPr>
          <p:cNvPr id="52" name="Text 11">
            <a:extLst>
              <a:ext uri="{FF2B5EF4-FFF2-40B4-BE49-F238E27FC236}">
                <a16:creationId xmlns:a16="http://schemas.microsoft.com/office/drawing/2014/main" id="{9A0CD8B4-72C1-3DBD-D6CA-5D4631751025}"/>
              </a:ext>
            </a:extLst>
          </p:cNvPr>
          <p:cNvSpPr/>
          <p:nvPr/>
        </p:nvSpPr>
        <p:spPr>
          <a:xfrm>
            <a:off x="3403691" y="1226515"/>
            <a:ext cx="2256309" cy="16453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296"/>
              </a:lnSpc>
            </a:pPr>
            <a:r>
              <a:rPr lang="en-US" sz="1125" kern="0" spc="-6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Septiembre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54" name="Text 12">
            <a:extLst>
              <a:ext uri="{FF2B5EF4-FFF2-40B4-BE49-F238E27FC236}">
                <a16:creationId xmlns:a16="http://schemas.microsoft.com/office/drawing/2014/main" id="{9064F45C-FC6E-253E-F3BF-ADD5DB650413}"/>
              </a:ext>
            </a:extLst>
          </p:cNvPr>
          <p:cNvSpPr/>
          <p:nvPr/>
        </p:nvSpPr>
        <p:spPr>
          <a:xfrm>
            <a:off x="3403691" y="1466277"/>
            <a:ext cx="2256309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556"/>
              </a:lnSpc>
              <a:spcBef>
                <a:spcPts val="581"/>
              </a:spcBef>
            </a:pPr>
            <a:r>
              <a:rPr lang="es-CO" kern="0" spc="-81">
                <a:solidFill>
                  <a:srgbClr val="333333"/>
                </a:solidFill>
                <a:latin typeface="Reddit Sans"/>
                <a:ea typeface="Reddit Sans"/>
              </a:rPr>
              <a:t>Productización y habilitación</a:t>
            </a:r>
            <a:r>
              <a:rPr lang="es-CO" sz="90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 </a:t>
            </a:r>
            <a:endParaRPr lang="en-US" sz="900" kern="0" spc="-81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>
              <a:lnSpc>
                <a:spcPts val="1556"/>
              </a:lnSpc>
              <a:spcBef>
                <a:spcPts val="581"/>
              </a:spcBef>
            </a:pPr>
            <a:endParaRPr lang="en-US" kern="0" spc="-81">
              <a:solidFill>
                <a:srgbClr val="333333"/>
              </a:solidFill>
              <a:latin typeface="Reddit Sans"/>
              <a:ea typeface="Reddit Sans"/>
            </a:endParaRPr>
          </a:p>
        </p:txBody>
      </p:sp>
      <p:sp>
        <p:nvSpPr>
          <p:cNvPr id="56" name="Text 13">
            <a:extLst>
              <a:ext uri="{FF2B5EF4-FFF2-40B4-BE49-F238E27FC236}">
                <a16:creationId xmlns:a16="http://schemas.microsoft.com/office/drawing/2014/main" id="{2F5E7761-3D4C-73E5-9A48-2ED97379677A}"/>
              </a:ext>
            </a:extLst>
          </p:cNvPr>
          <p:cNvSpPr/>
          <p:nvPr/>
        </p:nvSpPr>
        <p:spPr>
          <a:xfrm>
            <a:off x="3403691" y="1722894"/>
            <a:ext cx="2256309" cy="39089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539"/>
              </a:lnSpc>
              <a:spcBef>
                <a:spcPts val="458"/>
              </a:spcBef>
            </a:pPr>
            <a:r>
              <a:rPr lang="es-ES" sz="11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Productización</a:t>
            </a:r>
            <a:r>
              <a:rPr lang="es-ES" sz="11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del servicio y habilitaciones equipo comercial y operación</a:t>
            </a:r>
            <a:endParaRPr lang="en-US" sz="1100" kern="0" spc="-23">
              <a:solidFill>
                <a:srgbClr val="000000">
                  <a:alpha val="55000"/>
                </a:srgbClr>
              </a:solidFill>
              <a:latin typeface="Reddit Sans"/>
              <a:ea typeface="Reddit Sans"/>
            </a:endParaRPr>
          </a:p>
          <a:p>
            <a:pPr>
              <a:lnSpc>
                <a:spcPts val="1539"/>
              </a:lnSpc>
              <a:spcBef>
                <a:spcPts val="458"/>
              </a:spcBef>
            </a:pPr>
            <a:endParaRPr lang="en-US" sz="1100" kern="0" spc="-23">
              <a:solidFill>
                <a:srgbClr val="000000">
                  <a:alpha val="55000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58" name="Shape 14">
            <a:extLst>
              <a:ext uri="{FF2B5EF4-FFF2-40B4-BE49-F238E27FC236}">
                <a16:creationId xmlns:a16="http://schemas.microsoft.com/office/drawing/2014/main" id="{A4CA83DC-2500-21F2-1A44-7E17212A97AA}"/>
              </a:ext>
            </a:extLst>
          </p:cNvPr>
          <p:cNvSpPr/>
          <p:nvPr/>
        </p:nvSpPr>
        <p:spPr>
          <a:xfrm>
            <a:off x="4456807" y="3714652"/>
            <a:ext cx="100013" cy="100013"/>
          </a:xfrm>
          <a:prstGeom prst="ellipse">
            <a:avLst/>
          </a:prstGeom>
          <a:solidFill>
            <a:srgbClr val="22AAEE"/>
          </a:solidFill>
          <a:ln>
            <a:miter lim="800000"/>
          </a:ln>
        </p:spPr>
      </p:sp>
      <p:sp>
        <p:nvSpPr>
          <p:cNvPr id="60" name="Text 15">
            <a:extLst>
              <a:ext uri="{FF2B5EF4-FFF2-40B4-BE49-F238E27FC236}">
                <a16:creationId xmlns:a16="http://schemas.microsoft.com/office/drawing/2014/main" id="{65178570-EB21-6844-8A4F-33B4F27D6FC9}"/>
              </a:ext>
            </a:extLst>
          </p:cNvPr>
          <p:cNvSpPr/>
          <p:nvPr/>
        </p:nvSpPr>
        <p:spPr>
          <a:xfrm>
            <a:off x="4628333" y="3683965"/>
            <a:ext cx="2256309" cy="16453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296"/>
              </a:lnSpc>
            </a:pPr>
            <a:r>
              <a:rPr lang="en-US" sz="1125" kern="0" spc="-6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Octubre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62" name="Text 16">
            <a:extLst>
              <a:ext uri="{FF2B5EF4-FFF2-40B4-BE49-F238E27FC236}">
                <a16:creationId xmlns:a16="http://schemas.microsoft.com/office/drawing/2014/main" id="{FB142EBC-64B4-B329-8DF7-DE33D2F0033E}"/>
              </a:ext>
            </a:extLst>
          </p:cNvPr>
          <p:cNvSpPr/>
          <p:nvPr/>
        </p:nvSpPr>
        <p:spPr>
          <a:xfrm>
            <a:off x="4628333" y="3923727"/>
            <a:ext cx="2256309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556"/>
              </a:lnSpc>
              <a:spcBef>
                <a:spcPts val="581"/>
              </a:spcBef>
            </a:pPr>
            <a:r>
              <a:rPr lang="en-US" sz="135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Go-</a:t>
            </a:r>
            <a:r>
              <a:rPr lang="en-US" kern="0" spc="-81">
                <a:solidFill>
                  <a:srgbClr val="333333"/>
                </a:solidFill>
                <a:latin typeface="Reddit Sans"/>
                <a:ea typeface="Reddit Sans"/>
              </a:rPr>
              <a:t>live </a:t>
            </a:r>
            <a:r>
              <a:rPr lang="es-CO" kern="0" spc="-81">
                <a:solidFill>
                  <a:srgbClr val="333333"/>
                </a:solidFill>
                <a:latin typeface="Reddit Sans"/>
                <a:ea typeface="Reddit Sans"/>
              </a:rPr>
              <a:t>Actualización de Procesos y transición</a:t>
            </a:r>
            <a:endParaRPr lang="en-US" kern="0" spc="-81">
              <a:solidFill>
                <a:srgbClr val="333333"/>
              </a:solidFill>
              <a:latin typeface="Reddit Sans"/>
              <a:ea typeface="Reddit Sans"/>
            </a:endParaRPr>
          </a:p>
          <a:p>
            <a:pPr>
              <a:lnSpc>
                <a:spcPts val="1556"/>
              </a:lnSpc>
              <a:spcBef>
                <a:spcPts val="581"/>
              </a:spcBef>
            </a:pPr>
            <a:endParaRPr lang="en-US" kern="0" spc="-81">
              <a:solidFill>
                <a:srgbClr val="333333"/>
              </a:solidFill>
              <a:latin typeface="Reddit Sans"/>
              <a:ea typeface="Reddit Sans"/>
            </a:endParaRPr>
          </a:p>
        </p:txBody>
      </p:sp>
      <p:sp>
        <p:nvSpPr>
          <p:cNvPr id="64" name="Text 17">
            <a:extLst>
              <a:ext uri="{FF2B5EF4-FFF2-40B4-BE49-F238E27FC236}">
                <a16:creationId xmlns:a16="http://schemas.microsoft.com/office/drawing/2014/main" id="{2EA52BB2-7CC3-E9EA-18CA-27E814EC25A8}"/>
              </a:ext>
            </a:extLst>
          </p:cNvPr>
          <p:cNvSpPr/>
          <p:nvPr/>
        </p:nvSpPr>
        <p:spPr>
          <a:xfrm>
            <a:off x="4628333" y="4376287"/>
            <a:ext cx="2256309" cy="58634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539"/>
              </a:lnSpc>
              <a:spcBef>
                <a:spcPts val="458"/>
              </a:spcBef>
            </a:pPr>
            <a:r>
              <a:rPr lang="es-ES" sz="11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Definición de procesos, y empezar transición clientes actuales.</a:t>
            </a:r>
            <a:endParaRPr lang="en-US" sz="1100" kern="0" spc="-23">
              <a:solidFill>
                <a:srgbClr val="000000">
                  <a:alpha val="55000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66" name="Shape 18">
            <a:extLst>
              <a:ext uri="{FF2B5EF4-FFF2-40B4-BE49-F238E27FC236}">
                <a16:creationId xmlns:a16="http://schemas.microsoft.com/office/drawing/2014/main" id="{619C0033-BA76-5877-380A-810A97C24754}"/>
              </a:ext>
            </a:extLst>
          </p:cNvPr>
          <p:cNvSpPr/>
          <p:nvPr/>
        </p:nvSpPr>
        <p:spPr>
          <a:xfrm>
            <a:off x="5681514" y="1257313"/>
            <a:ext cx="100013" cy="100013"/>
          </a:xfrm>
          <a:prstGeom prst="ellipse">
            <a:avLst/>
          </a:prstGeom>
          <a:solidFill>
            <a:srgbClr val="22AAEE"/>
          </a:solidFill>
          <a:ln>
            <a:miter lim="800000"/>
          </a:ln>
        </p:spPr>
      </p:sp>
      <p:sp>
        <p:nvSpPr>
          <p:cNvPr id="68" name="Text 19">
            <a:extLst>
              <a:ext uri="{FF2B5EF4-FFF2-40B4-BE49-F238E27FC236}">
                <a16:creationId xmlns:a16="http://schemas.microsoft.com/office/drawing/2014/main" id="{5345CA53-8C85-5100-6AC2-019D3516D91C}"/>
              </a:ext>
            </a:extLst>
          </p:cNvPr>
          <p:cNvSpPr/>
          <p:nvPr/>
        </p:nvSpPr>
        <p:spPr>
          <a:xfrm>
            <a:off x="5852977" y="1226515"/>
            <a:ext cx="3055181" cy="16453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296"/>
              </a:lnSpc>
            </a:pPr>
            <a:r>
              <a:rPr lang="en-US" sz="1125" kern="0" spc="-6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Noviembre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70" name="Text 20">
            <a:extLst>
              <a:ext uri="{FF2B5EF4-FFF2-40B4-BE49-F238E27FC236}">
                <a16:creationId xmlns:a16="http://schemas.microsoft.com/office/drawing/2014/main" id="{C8347A32-D1C1-36F2-5492-946191A511DD}"/>
              </a:ext>
            </a:extLst>
          </p:cNvPr>
          <p:cNvSpPr/>
          <p:nvPr/>
        </p:nvSpPr>
        <p:spPr>
          <a:xfrm>
            <a:off x="5852977" y="1466277"/>
            <a:ext cx="3055181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556"/>
              </a:lnSpc>
              <a:spcBef>
                <a:spcPts val="581"/>
              </a:spcBef>
            </a:pPr>
            <a:r>
              <a:rPr lang="es-CO" sz="1350" kern="0" spc="-81" err="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Optimización</a:t>
            </a:r>
            <a:endParaRPr lang="es-CO" sz="1000" err="1">
              <a:latin typeface="Reddit Sans"/>
              <a:ea typeface="Reddit Sans"/>
            </a:endParaRPr>
          </a:p>
        </p:txBody>
      </p:sp>
      <p:sp>
        <p:nvSpPr>
          <p:cNvPr id="72" name="Text 21">
            <a:extLst>
              <a:ext uri="{FF2B5EF4-FFF2-40B4-BE49-F238E27FC236}">
                <a16:creationId xmlns:a16="http://schemas.microsoft.com/office/drawing/2014/main" id="{9F0338E4-0A35-5395-9CFE-BD7C6086F8D8}"/>
              </a:ext>
            </a:extLst>
          </p:cNvPr>
          <p:cNvSpPr/>
          <p:nvPr/>
        </p:nvSpPr>
        <p:spPr>
          <a:xfrm>
            <a:off x="5852977" y="1722894"/>
            <a:ext cx="3055181" cy="39089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539"/>
              </a:lnSpc>
              <a:spcBef>
                <a:spcPts val="458"/>
              </a:spcBef>
            </a:pP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Ajustes basados en feedback y estabilidad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operativa.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74" name="Shape 22">
            <a:extLst>
              <a:ext uri="{FF2B5EF4-FFF2-40B4-BE49-F238E27FC236}">
                <a16:creationId xmlns:a16="http://schemas.microsoft.com/office/drawing/2014/main" id="{CF03D62C-7097-ADE2-CB96-57316CA462B8}"/>
              </a:ext>
            </a:extLst>
          </p:cNvPr>
          <p:cNvSpPr/>
          <p:nvPr/>
        </p:nvSpPr>
        <p:spPr>
          <a:xfrm>
            <a:off x="6906109" y="3714652"/>
            <a:ext cx="100013" cy="100013"/>
          </a:xfrm>
          <a:prstGeom prst="ellipse">
            <a:avLst/>
          </a:prstGeom>
          <a:solidFill>
            <a:srgbClr val="22AAEE"/>
          </a:solidFill>
          <a:ln>
            <a:miter lim="800000"/>
          </a:ln>
        </p:spPr>
      </p:sp>
      <p:sp>
        <p:nvSpPr>
          <p:cNvPr id="76" name="Text 23">
            <a:extLst>
              <a:ext uri="{FF2B5EF4-FFF2-40B4-BE49-F238E27FC236}">
                <a16:creationId xmlns:a16="http://schemas.microsoft.com/office/drawing/2014/main" id="{2105EB70-02EB-4864-8140-D5F5EFDBE28A}"/>
              </a:ext>
            </a:extLst>
          </p:cNvPr>
          <p:cNvSpPr/>
          <p:nvPr/>
        </p:nvSpPr>
        <p:spPr>
          <a:xfrm>
            <a:off x="7077620" y="3683965"/>
            <a:ext cx="1830586" cy="16453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296"/>
              </a:lnSpc>
            </a:pPr>
            <a:r>
              <a:rPr lang="en-US" sz="1125" kern="0" spc="-6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Diciembre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82" name="Text 3">
            <a:extLst>
              <a:ext uri="{FF2B5EF4-FFF2-40B4-BE49-F238E27FC236}">
                <a16:creationId xmlns:a16="http://schemas.microsoft.com/office/drawing/2014/main" id="{EA73940A-C56C-2C44-5D9C-01BCBC0740C0}"/>
              </a:ext>
            </a:extLst>
          </p:cNvPr>
          <p:cNvSpPr/>
          <p:nvPr/>
        </p:nvSpPr>
        <p:spPr>
          <a:xfrm>
            <a:off x="954201" y="1914068"/>
            <a:ext cx="1731158" cy="39304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spcBef>
                <a:spcPts val="490"/>
              </a:spcBef>
            </a:pPr>
            <a:r>
              <a:rPr lang="es-ES" sz="11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Evaluación de la operación y diagrama inicial del servicio.</a:t>
            </a:r>
            <a:endParaRPr lang="en-US" sz="1100" kern="0" spc="-23">
              <a:solidFill>
                <a:srgbClr val="000000">
                  <a:alpha val="55000"/>
                </a:srgbClr>
              </a:solidFill>
              <a:latin typeface="Reddit Sans"/>
              <a:ea typeface="Reddit Sans"/>
            </a:endParaRPr>
          </a:p>
        </p:txBody>
      </p:sp>
    </p:spTree>
    <p:extLst>
      <p:ext uri="{BB962C8B-B14F-4D97-AF65-F5344CB8AC3E}">
        <p14:creationId xmlns:p14="http://schemas.microsoft.com/office/powerpoint/2010/main" val="33291988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-7e0fef5e.png">
            <a:extLst>
              <a:ext uri="{FF2B5EF4-FFF2-40B4-BE49-F238E27FC236}">
                <a16:creationId xmlns:a16="http://schemas.microsoft.com/office/drawing/2014/main" id="{9081EFD8-8BC2-1002-5B32-54B306FAD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0935"/>
            <a:ext cx="9144000" cy="2928938"/>
          </a:xfrm>
          <a:prstGeom prst="rect">
            <a:avLst/>
          </a:prstGeom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0D4ED862-4F08-A424-50D4-AB2DF5ABB3A9}"/>
              </a:ext>
            </a:extLst>
          </p:cNvPr>
          <p:cNvSpPr/>
          <p:nvPr/>
        </p:nvSpPr>
        <p:spPr>
          <a:xfrm>
            <a:off x="2636044" y="3328988"/>
            <a:ext cx="1357313" cy="27972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102"/>
              </a:lnSpc>
            </a:pPr>
            <a:r>
              <a:rPr lang="es-CO" sz="950" kern="0" spc="-5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Julio:  Diagnóstico estado actual de la operación y estudio de mercado</a:t>
            </a:r>
            <a:endParaRPr lang="es-CO" sz="950" kern="0" spc="-58">
              <a:solidFill>
                <a:srgbClr val="333333"/>
              </a:solidFill>
              <a:latin typeface="Reddit Sans"/>
              <a:ea typeface="Reddit Sans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F623A7C2-BDFA-8904-52AA-6C72B1A48816}"/>
              </a:ext>
            </a:extLst>
          </p:cNvPr>
          <p:cNvSpPr/>
          <p:nvPr/>
        </p:nvSpPr>
        <p:spPr>
          <a:xfrm>
            <a:off x="2657815" y="3797297"/>
            <a:ext cx="1393701" cy="39848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046"/>
              </a:lnSpc>
              <a:spcBef>
                <a:spcPts val="490"/>
              </a:spcBef>
            </a:pPr>
            <a:r>
              <a:rPr lang="es-ES" sz="750" kern="0" spc="-1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Evaluación de la operación y diagrama inicial del servicio</a:t>
            </a:r>
            <a:endParaRPr lang="en-US" sz="750" kern="0" spc="-15">
              <a:solidFill>
                <a:srgbClr val="000000">
                  <a:alpha val="55000"/>
                </a:srgbClr>
              </a:solidFill>
              <a:latin typeface="Reddit Sans"/>
              <a:ea typeface="Reddit Sans"/>
            </a:endParaRPr>
          </a:p>
          <a:p>
            <a:pPr>
              <a:lnSpc>
                <a:spcPts val="1046"/>
              </a:lnSpc>
              <a:spcBef>
                <a:spcPts val="490"/>
              </a:spcBef>
            </a:pPr>
            <a:r>
              <a:rPr lang="en-US" sz="750" kern="0" spc="-1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.</a:t>
            </a:r>
          </a:p>
        </p:txBody>
      </p:sp>
      <p:pic>
        <p:nvPicPr>
          <p:cNvPr id="12" name="Image 1" descr="-55db581e.png">
            <a:extLst>
              <a:ext uri="{FF2B5EF4-FFF2-40B4-BE49-F238E27FC236}">
                <a16:creationId xmlns:a16="http://schemas.microsoft.com/office/drawing/2014/main" id="{851E9E20-50C8-644C-3195-12A58CAA7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8863" y="3389710"/>
            <a:ext cx="142875" cy="142875"/>
          </a:xfrm>
          <a:prstGeom prst="rect">
            <a:avLst/>
          </a:prstGeom>
        </p:spPr>
      </p:pic>
      <p:sp>
        <p:nvSpPr>
          <p:cNvPr id="14" name="Text 4">
            <a:extLst>
              <a:ext uri="{FF2B5EF4-FFF2-40B4-BE49-F238E27FC236}">
                <a16:creationId xmlns:a16="http://schemas.microsoft.com/office/drawing/2014/main" id="{180D001D-C088-2DCE-5242-74A66F1EB33B}"/>
              </a:ext>
            </a:extLst>
          </p:cNvPr>
          <p:cNvSpPr/>
          <p:nvPr/>
        </p:nvSpPr>
        <p:spPr>
          <a:xfrm>
            <a:off x="4321969" y="1700212"/>
            <a:ext cx="1357313" cy="13986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102"/>
              </a:lnSpc>
            </a:pPr>
            <a:r>
              <a:rPr lang="es-CO" sz="950" kern="0" spc="-5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Agosto: </a:t>
            </a:r>
            <a:r>
              <a:rPr lang="es-CO" sz="900" kern="0" spc="-5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Diseño</a:t>
            </a:r>
            <a:br>
              <a:rPr lang="es-CO" sz="900" kern="0" spc="-58">
                <a:latin typeface="Reddit Sans"/>
                <a:ea typeface="Reddit Sans"/>
                <a:cs typeface="Inter SemiBold" pitchFamily="34" charset="-120"/>
              </a:rPr>
            </a:br>
            <a:r>
              <a:rPr lang="es-CO" sz="900" kern="0" spc="-5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Estratégico</a:t>
            </a:r>
            <a:endParaRPr lang="es-CO" sz="900" kern="0" spc="-58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l">
              <a:lnSpc>
                <a:spcPts val="1102"/>
              </a:lnSpc>
            </a:pPr>
            <a:endParaRPr lang="en-US" sz="950" kern="0" spc="-58">
              <a:solidFill>
                <a:srgbClr val="333333"/>
              </a:solidFill>
              <a:latin typeface="Reddit Sans"/>
              <a:ea typeface="Reddit Sans"/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872ED995-302E-B110-D36B-9A8F17952942}"/>
              </a:ext>
            </a:extLst>
          </p:cNvPr>
          <p:cNvSpPr/>
          <p:nvPr/>
        </p:nvSpPr>
        <p:spPr>
          <a:xfrm>
            <a:off x="4321969" y="2017775"/>
            <a:ext cx="1357313" cy="39848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046"/>
              </a:lnSpc>
              <a:spcBef>
                <a:spcPts val="490"/>
              </a:spcBef>
            </a:pPr>
            <a:r>
              <a:rPr lang="es-ES" sz="750" kern="0" spc="-1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Diseño modelo operativo servicio optimo – Funcional y piloto de herramientas</a:t>
            </a:r>
          </a:p>
          <a:p>
            <a:pPr>
              <a:lnSpc>
                <a:spcPts val="1046"/>
              </a:lnSpc>
              <a:spcBef>
                <a:spcPts val="490"/>
              </a:spcBef>
            </a:pPr>
            <a:endParaRPr lang="en-US" sz="750" kern="0" spc="-15">
              <a:solidFill>
                <a:srgbClr val="000000">
                  <a:alpha val="55000"/>
                </a:srgbClr>
              </a:solidFill>
              <a:latin typeface="Reddit Sans"/>
              <a:ea typeface="Reddit Sans"/>
            </a:endParaRPr>
          </a:p>
        </p:txBody>
      </p:sp>
      <p:pic>
        <p:nvPicPr>
          <p:cNvPr id="18" name="Image 2" descr="-55db581e.png">
            <a:extLst>
              <a:ext uri="{FF2B5EF4-FFF2-40B4-BE49-F238E27FC236}">
                <a16:creationId xmlns:a16="http://schemas.microsoft.com/office/drawing/2014/main" id="{376D71BC-DCE0-1669-913C-04874DC46D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0506" y="2275285"/>
            <a:ext cx="142875" cy="142875"/>
          </a:xfrm>
          <a:prstGeom prst="rect">
            <a:avLst/>
          </a:prstGeom>
        </p:spPr>
      </p:pic>
      <p:sp>
        <p:nvSpPr>
          <p:cNvPr id="20" name="Text 6">
            <a:extLst>
              <a:ext uri="{FF2B5EF4-FFF2-40B4-BE49-F238E27FC236}">
                <a16:creationId xmlns:a16="http://schemas.microsoft.com/office/drawing/2014/main" id="{8864DD84-0688-19A5-35E9-00B345A769F3}"/>
              </a:ext>
            </a:extLst>
          </p:cNvPr>
          <p:cNvSpPr/>
          <p:nvPr/>
        </p:nvSpPr>
        <p:spPr>
          <a:xfrm>
            <a:off x="4857750" y="3464719"/>
            <a:ext cx="1357313" cy="13986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102"/>
              </a:lnSpc>
            </a:pPr>
            <a:r>
              <a:rPr lang="es-CO" sz="950" kern="0" spc="-5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Septiembre: </a:t>
            </a:r>
            <a:r>
              <a:rPr lang="es-CO" sz="950" kern="0" spc="-58" err="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Productización</a:t>
            </a:r>
            <a:r>
              <a:rPr lang="es-CO" sz="950" kern="0" spc="-5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 y habilitación </a:t>
            </a:r>
            <a:endParaRPr lang="es-CO" sz="1000">
              <a:latin typeface="Reddit Sans"/>
              <a:ea typeface="Reddit Sans"/>
            </a:endParaRPr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DBDF3A45-E792-6AAE-6626-EBB2D97415B9}"/>
              </a:ext>
            </a:extLst>
          </p:cNvPr>
          <p:cNvSpPr/>
          <p:nvPr/>
        </p:nvSpPr>
        <p:spPr>
          <a:xfrm>
            <a:off x="4856610" y="3863924"/>
            <a:ext cx="1392250" cy="2656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046"/>
              </a:lnSpc>
              <a:spcBef>
                <a:spcPts val="490"/>
              </a:spcBef>
            </a:pPr>
            <a:r>
              <a:rPr lang="es-ES" sz="750" kern="0" spc="-1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Productización</a:t>
            </a:r>
            <a:r>
              <a:rPr lang="es-ES" sz="750" kern="0" spc="-1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del servicio y habilitaciones equipo comercial y operación</a:t>
            </a:r>
            <a:endParaRPr lang="en-US" sz="750" kern="0" spc="-15">
              <a:solidFill>
                <a:srgbClr val="000000">
                  <a:alpha val="55000"/>
                </a:srgbClr>
              </a:solidFill>
              <a:latin typeface="Reddit Sans"/>
              <a:ea typeface="Reddit Sans"/>
            </a:endParaRPr>
          </a:p>
          <a:p>
            <a:pPr>
              <a:lnSpc>
                <a:spcPts val="1046"/>
              </a:lnSpc>
              <a:spcBef>
                <a:spcPts val="490"/>
              </a:spcBef>
            </a:pPr>
            <a:endParaRPr lang="en-US" sz="750" kern="0" spc="-15">
              <a:solidFill>
                <a:srgbClr val="000000">
                  <a:alpha val="55000"/>
                </a:srgbClr>
              </a:solidFill>
              <a:latin typeface="Reddit Sans"/>
              <a:ea typeface="Reddit Sans"/>
            </a:endParaRPr>
          </a:p>
        </p:txBody>
      </p:sp>
      <p:pic>
        <p:nvPicPr>
          <p:cNvPr id="24" name="Image 3" descr="-55db581e.png">
            <a:extLst>
              <a:ext uri="{FF2B5EF4-FFF2-40B4-BE49-F238E27FC236}">
                <a16:creationId xmlns:a16="http://schemas.microsoft.com/office/drawing/2014/main" id="{C0F2AFF4-1F06-7AA6-0B91-6A4F1C94E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9213" y="4125516"/>
            <a:ext cx="142875" cy="142875"/>
          </a:xfrm>
          <a:prstGeom prst="rect">
            <a:avLst/>
          </a:prstGeom>
        </p:spPr>
      </p:pic>
      <p:sp>
        <p:nvSpPr>
          <p:cNvPr id="26" name="Text 8">
            <a:extLst>
              <a:ext uri="{FF2B5EF4-FFF2-40B4-BE49-F238E27FC236}">
                <a16:creationId xmlns:a16="http://schemas.microsoft.com/office/drawing/2014/main" id="{FA016CB2-F297-6317-C304-9A81375C059F}"/>
              </a:ext>
            </a:extLst>
          </p:cNvPr>
          <p:cNvSpPr/>
          <p:nvPr/>
        </p:nvSpPr>
        <p:spPr>
          <a:xfrm>
            <a:off x="6965156" y="2986087"/>
            <a:ext cx="1387843" cy="40111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102"/>
              </a:lnSpc>
            </a:pPr>
            <a:r>
              <a:rPr lang="es-CO" sz="950" kern="0" spc="-5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Octubre: Actualización de Procesos y transición</a:t>
            </a:r>
            <a:endParaRPr lang="es-CO" sz="1000">
              <a:latin typeface="Reddit Sans"/>
              <a:ea typeface="Reddit Sans"/>
            </a:endParaRPr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28B968DF-FFFD-9BC1-451C-B0787EDEA227}"/>
              </a:ext>
            </a:extLst>
          </p:cNvPr>
          <p:cNvSpPr/>
          <p:nvPr/>
        </p:nvSpPr>
        <p:spPr>
          <a:xfrm>
            <a:off x="6965157" y="3330863"/>
            <a:ext cx="1393589" cy="53131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046"/>
              </a:lnSpc>
              <a:spcBef>
                <a:spcPts val="490"/>
              </a:spcBef>
            </a:pPr>
            <a:r>
              <a:rPr lang="en-US" sz="750" kern="0" spc="-1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s-ES" sz="750" kern="0" spc="-1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Definición de procesos, y empezar transición clientes actuales</a:t>
            </a:r>
            <a:endParaRPr lang="en-US" sz="750" kern="0" spc="-15">
              <a:solidFill>
                <a:srgbClr val="000000">
                  <a:alpha val="55000"/>
                </a:srgbClr>
              </a:solidFill>
              <a:latin typeface="Reddit Sans"/>
              <a:ea typeface="Reddit Sans"/>
            </a:endParaRPr>
          </a:p>
          <a:p>
            <a:pPr>
              <a:lnSpc>
                <a:spcPts val="1046"/>
              </a:lnSpc>
              <a:spcBef>
                <a:spcPts val="490"/>
              </a:spcBef>
            </a:pPr>
            <a:endParaRPr lang="en-US" sz="750" kern="0" spc="-15">
              <a:solidFill>
                <a:srgbClr val="000000">
                  <a:alpha val="55000"/>
                </a:srgbClr>
              </a:solidFill>
              <a:latin typeface="Reddit Sans"/>
              <a:ea typeface="Reddit Sans"/>
            </a:endParaRPr>
          </a:p>
        </p:txBody>
      </p:sp>
      <p:pic>
        <p:nvPicPr>
          <p:cNvPr id="30" name="Image 4" descr="-55db581e.png">
            <a:extLst>
              <a:ext uri="{FF2B5EF4-FFF2-40B4-BE49-F238E27FC236}">
                <a16:creationId xmlns:a16="http://schemas.microsoft.com/office/drawing/2014/main" id="{10B7EDF4-E129-0F08-6E00-158DF13FD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0831" y="3039666"/>
            <a:ext cx="142875" cy="142875"/>
          </a:xfrm>
          <a:prstGeom prst="rect">
            <a:avLst/>
          </a:prstGeom>
        </p:spPr>
      </p:pic>
      <p:sp>
        <p:nvSpPr>
          <p:cNvPr id="32" name="Google Shape;176;g3657f5ba65c_1_33">
            <a:extLst>
              <a:ext uri="{FF2B5EF4-FFF2-40B4-BE49-F238E27FC236}">
                <a16:creationId xmlns:a16="http://schemas.microsoft.com/office/drawing/2014/main" id="{928FE99D-9304-701C-27B5-1C9177E3E592}"/>
              </a:ext>
            </a:extLst>
          </p:cNvPr>
          <p:cNvSpPr txBox="1">
            <a:spLocks/>
          </p:cNvSpPr>
          <p:nvPr/>
        </p:nvSpPr>
        <p:spPr>
          <a:xfrm>
            <a:off x="297034" y="265414"/>
            <a:ext cx="7536083" cy="8611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b="1" err="1">
                <a:solidFill>
                  <a:srgbClr val="0E337C"/>
                </a:solidFill>
                <a:latin typeface="Reddit Sans"/>
                <a:ea typeface="Reddit Sans"/>
                <a:sym typeface="Reddit Sans"/>
              </a:rPr>
              <a:t>Roadmap</a:t>
            </a:r>
            <a:r>
              <a:rPr lang="es-ES" b="1">
                <a:solidFill>
                  <a:srgbClr val="0E337C"/>
                </a:solidFill>
                <a:latin typeface="Reddit Sans"/>
                <a:ea typeface="Reddit Sans"/>
                <a:sym typeface="Reddit Sans"/>
              </a:rPr>
              <a:t> de Implementación Mesa de Servicios de Nueva Generación </a:t>
            </a:r>
            <a:r>
              <a:rPr lang="en-US" b="1">
                <a:solidFill>
                  <a:srgbClr val="0E337C"/>
                </a:solidFill>
                <a:latin typeface="Reddit Sans"/>
                <a:ea typeface="Reddit Sans"/>
                <a:sym typeface="Reddit Sans"/>
              </a:rPr>
              <a:t>(Q3 - Q4 2026)</a:t>
            </a:r>
            <a:endParaRPr lang="es-ES">
              <a:sym typeface="Reddit Sans"/>
            </a:endParaRPr>
          </a:p>
          <a:p>
            <a:r>
              <a:rPr lang="es-ES">
                <a:solidFill>
                  <a:srgbClr val="0E337C"/>
                </a:solidFill>
                <a:latin typeface="Reddit Sans"/>
                <a:ea typeface="Reddit Sans"/>
                <a:sym typeface="Reddit Sans"/>
              </a:rPr>
              <a:t>Servicio Optimo y Estandarizado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49334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76;g3657f5ba65c_1_33">
            <a:extLst>
              <a:ext uri="{FF2B5EF4-FFF2-40B4-BE49-F238E27FC236}">
                <a16:creationId xmlns:a16="http://schemas.microsoft.com/office/drawing/2014/main" id="{731C319C-5CE4-306E-FE78-71C45FB806DC}"/>
              </a:ext>
            </a:extLst>
          </p:cNvPr>
          <p:cNvSpPr txBox="1">
            <a:spLocks/>
          </p:cNvSpPr>
          <p:nvPr/>
        </p:nvSpPr>
        <p:spPr>
          <a:xfrm>
            <a:off x="297034" y="265414"/>
            <a:ext cx="7536083" cy="8611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b="1" err="1">
                <a:solidFill>
                  <a:srgbClr val="0E337C"/>
                </a:solidFill>
                <a:latin typeface="Reddit Sans"/>
                <a:ea typeface="Reddit Sans"/>
                <a:sym typeface="Reddit Sans"/>
              </a:rPr>
              <a:t>Roadmap</a:t>
            </a:r>
            <a:r>
              <a:rPr lang="es-ES" b="1">
                <a:solidFill>
                  <a:srgbClr val="0E337C"/>
                </a:solidFill>
                <a:latin typeface="Reddit Sans"/>
                <a:ea typeface="Reddit Sans"/>
                <a:sym typeface="Reddit Sans"/>
              </a:rPr>
              <a:t> de Implementación Mesa de Servicios de Nueva Generación </a:t>
            </a:r>
            <a:r>
              <a:rPr lang="en-US" b="1">
                <a:solidFill>
                  <a:srgbClr val="0E337C"/>
                </a:solidFill>
                <a:latin typeface="Reddit Sans"/>
                <a:ea typeface="Reddit Sans"/>
                <a:sym typeface="Reddit Sans"/>
              </a:rPr>
              <a:t>(Q3 - Q4 2026)</a:t>
            </a:r>
            <a:endParaRPr lang="es-ES">
              <a:sym typeface="Reddit Sans"/>
            </a:endParaRPr>
          </a:p>
          <a:p>
            <a:r>
              <a:rPr lang="es-ES">
                <a:solidFill>
                  <a:srgbClr val="0E337C"/>
                </a:solidFill>
                <a:latin typeface="Reddit Sans"/>
                <a:ea typeface="Reddit Sans"/>
                <a:sym typeface="Reddit Sans"/>
              </a:rPr>
              <a:t>Servicio Optimo y Estandarizado</a:t>
            </a:r>
            <a:endParaRPr lang="es-ES"/>
          </a:p>
        </p:txBody>
      </p:sp>
      <p:pic>
        <p:nvPicPr>
          <p:cNvPr id="8" name="Image 0" descr="0ef8cba2.png">
            <a:extLst>
              <a:ext uri="{FF2B5EF4-FFF2-40B4-BE49-F238E27FC236}">
                <a16:creationId xmlns:a16="http://schemas.microsoft.com/office/drawing/2014/main" id="{3E0DC70C-6287-B394-8F92-9F623AE1C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859" y="3028950"/>
            <a:ext cx="9179719" cy="42863"/>
          </a:xfrm>
          <a:prstGeom prst="rect">
            <a:avLst/>
          </a:prstGeom>
        </p:spPr>
      </p:pic>
      <p:pic>
        <p:nvPicPr>
          <p:cNvPr id="10" name="Image 1" descr="-1440bf9e.png">
            <a:extLst>
              <a:ext uri="{FF2B5EF4-FFF2-40B4-BE49-F238E27FC236}">
                <a16:creationId xmlns:a16="http://schemas.microsoft.com/office/drawing/2014/main" id="{1B417EAE-54B9-E7F7-1A8F-72C7BB505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246" y="1346597"/>
            <a:ext cx="21431" cy="1714500"/>
          </a:xfrm>
          <a:prstGeom prst="rect">
            <a:avLst/>
          </a:prstGeom>
        </p:spPr>
      </p:pic>
      <p:pic>
        <p:nvPicPr>
          <p:cNvPr id="12" name="Image 2" descr="0-aeb55e.png">
            <a:extLst>
              <a:ext uri="{FF2B5EF4-FFF2-40B4-BE49-F238E27FC236}">
                <a16:creationId xmlns:a16="http://schemas.microsoft.com/office/drawing/2014/main" id="{5EE3B505-9246-4768-78BC-5624E3FF4E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096" y="2978944"/>
            <a:ext cx="135731" cy="135731"/>
          </a:xfrm>
          <a:prstGeom prst="rect">
            <a:avLst/>
          </a:prstGeom>
        </p:spPr>
      </p:pic>
      <p:pic>
        <p:nvPicPr>
          <p:cNvPr id="14" name="Image 3" descr="-2183d71e.png">
            <a:extLst>
              <a:ext uri="{FF2B5EF4-FFF2-40B4-BE49-F238E27FC236}">
                <a16:creationId xmlns:a16="http://schemas.microsoft.com/office/drawing/2014/main" id="{AADD1AE6-E333-A850-7B81-1ED301C5FB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6899" y="3036094"/>
            <a:ext cx="21431" cy="692944"/>
          </a:xfrm>
          <a:prstGeom prst="rect">
            <a:avLst/>
          </a:prstGeom>
        </p:spPr>
      </p:pic>
      <p:pic>
        <p:nvPicPr>
          <p:cNvPr id="16" name="Image 4" descr="0-aeb55e.png">
            <a:extLst>
              <a:ext uri="{FF2B5EF4-FFF2-40B4-BE49-F238E27FC236}">
                <a16:creationId xmlns:a16="http://schemas.microsoft.com/office/drawing/2014/main" id="{4BEE2065-C06D-B56D-D3AE-54727090E8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9749" y="2978944"/>
            <a:ext cx="135731" cy="135731"/>
          </a:xfrm>
          <a:prstGeom prst="rect">
            <a:avLst/>
          </a:prstGeom>
        </p:spPr>
      </p:pic>
      <p:pic>
        <p:nvPicPr>
          <p:cNvPr id="18" name="Image 5" descr="-1440bf9e.png">
            <a:extLst>
              <a:ext uri="{FF2B5EF4-FFF2-40B4-BE49-F238E27FC236}">
                <a16:creationId xmlns:a16="http://schemas.microsoft.com/office/drawing/2014/main" id="{E4033AAD-DF7D-4265-7B2F-E65AE661E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1552" y="1346597"/>
            <a:ext cx="21431" cy="1714500"/>
          </a:xfrm>
          <a:prstGeom prst="rect">
            <a:avLst/>
          </a:prstGeom>
        </p:spPr>
      </p:pic>
      <p:pic>
        <p:nvPicPr>
          <p:cNvPr id="20" name="Image 6" descr="0-aeb55e.png">
            <a:extLst>
              <a:ext uri="{FF2B5EF4-FFF2-40B4-BE49-F238E27FC236}">
                <a16:creationId xmlns:a16="http://schemas.microsoft.com/office/drawing/2014/main" id="{C0C6265F-F895-0C32-D1CE-0BAA7FE26F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4402" y="2978944"/>
            <a:ext cx="135731" cy="135731"/>
          </a:xfrm>
          <a:prstGeom prst="rect">
            <a:avLst/>
          </a:prstGeom>
        </p:spPr>
      </p:pic>
      <p:pic>
        <p:nvPicPr>
          <p:cNvPr id="22" name="Image 7" descr="-2183d71e.png">
            <a:extLst>
              <a:ext uri="{FF2B5EF4-FFF2-40B4-BE49-F238E27FC236}">
                <a16:creationId xmlns:a16="http://schemas.microsoft.com/office/drawing/2014/main" id="{6CC016D6-364C-B3D8-327E-4D3D12781B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206" y="3036094"/>
            <a:ext cx="21431" cy="692944"/>
          </a:xfrm>
          <a:prstGeom prst="rect">
            <a:avLst/>
          </a:prstGeom>
        </p:spPr>
      </p:pic>
      <p:pic>
        <p:nvPicPr>
          <p:cNvPr id="24" name="Image 8" descr="0-aeb55e.png">
            <a:extLst>
              <a:ext uri="{FF2B5EF4-FFF2-40B4-BE49-F238E27FC236}">
                <a16:creationId xmlns:a16="http://schemas.microsoft.com/office/drawing/2014/main" id="{A0E88C03-DA60-B216-6691-BEFA3E9FAC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9056" y="2978944"/>
            <a:ext cx="135731" cy="135731"/>
          </a:xfrm>
          <a:prstGeom prst="rect">
            <a:avLst/>
          </a:prstGeom>
        </p:spPr>
      </p:pic>
      <p:pic>
        <p:nvPicPr>
          <p:cNvPr id="26" name="Image 9" descr="-1440bf9e.png">
            <a:extLst>
              <a:ext uri="{FF2B5EF4-FFF2-40B4-BE49-F238E27FC236}">
                <a16:creationId xmlns:a16="http://schemas.microsoft.com/office/drawing/2014/main" id="{A2D8C1BA-AB84-2746-D1F5-F2095AE80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0787" y="1346597"/>
            <a:ext cx="21431" cy="1714500"/>
          </a:xfrm>
          <a:prstGeom prst="rect">
            <a:avLst/>
          </a:prstGeom>
        </p:spPr>
      </p:pic>
      <p:pic>
        <p:nvPicPr>
          <p:cNvPr id="28" name="Image 10" descr="0-aeb55e.png">
            <a:extLst>
              <a:ext uri="{FF2B5EF4-FFF2-40B4-BE49-F238E27FC236}">
                <a16:creationId xmlns:a16="http://schemas.microsoft.com/office/drawing/2014/main" id="{150F8F03-0AC4-666E-CFF6-6039113930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3637" y="2978944"/>
            <a:ext cx="135731" cy="135731"/>
          </a:xfrm>
          <a:prstGeom prst="rect">
            <a:avLst/>
          </a:prstGeom>
        </p:spPr>
      </p:pic>
      <p:pic>
        <p:nvPicPr>
          <p:cNvPr id="30" name="Image 11" descr="-2183d71e.png">
            <a:extLst>
              <a:ext uri="{FF2B5EF4-FFF2-40B4-BE49-F238E27FC236}">
                <a16:creationId xmlns:a16="http://schemas.microsoft.com/office/drawing/2014/main" id="{1AA76AD8-25AA-91BF-93DF-3459F56BC8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5440" y="3036094"/>
            <a:ext cx="21431" cy="692944"/>
          </a:xfrm>
          <a:prstGeom prst="rect">
            <a:avLst/>
          </a:prstGeom>
        </p:spPr>
      </p:pic>
      <p:pic>
        <p:nvPicPr>
          <p:cNvPr id="32" name="Image 12" descr="0-aeb55e.png">
            <a:extLst>
              <a:ext uri="{FF2B5EF4-FFF2-40B4-BE49-F238E27FC236}">
                <a16:creationId xmlns:a16="http://schemas.microsoft.com/office/drawing/2014/main" id="{AB07EC34-2DD5-E38A-E040-415320AC1F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8290" y="2978944"/>
            <a:ext cx="135731" cy="135731"/>
          </a:xfrm>
          <a:prstGeom prst="rect">
            <a:avLst/>
          </a:prstGeom>
        </p:spPr>
      </p:pic>
      <p:sp>
        <p:nvSpPr>
          <p:cNvPr id="34" name="Shape 2">
            <a:extLst>
              <a:ext uri="{FF2B5EF4-FFF2-40B4-BE49-F238E27FC236}">
                <a16:creationId xmlns:a16="http://schemas.microsoft.com/office/drawing/2014/main" id="{CCC49033-C088-6703-00F6-5087EE4916C3}"/>
              </a:ext>
            </a:extLst>
          </p:cNvPr>
          <p:cNvSpPr/>
          <p:nvPr/>
        </p:nvSpPr>
        <p:spPr>
          <a:xfrm>
            <a:off x="782910" y="1257313"/>
            <a:ext cx="100013" cy="100013"/>
          </a:xfrm>
          <a:prstGeom prst="ellipse">
            <a:avLst/>
          </a:prstGeom>
          <a:solidFill>
            <a:srgbClr val="22AAEE"/>
          </a:solidFill>
          <a:ln>
            <a:miter lim="800000"/>
          </a:ln>
        </p:spPr>
      </p:sp>
      <p:sp>
        <p:nvSpPr>
          <p:cNvPr id="36" name="Text 3">
            <a:extLst>
              <a:ext uri="{FF2B5EF4-FFF2-40B4-BE49-F238E27FC236}">
                <a16:creationId xmlns:a16="http://schemas.microsoft.com/office/drawing/2014/main" id="{4A56E1A6-B6B5-C94F-8622-0A8B0D5434BD}"/>
              </a:ext>
            </a:extLst>
          </p:cNvPr>
          <p:cNvSpPr/>
          <p:nvPr/>
        </p:nvSpPr>
        <p:spPr>
          <a:xfrm>
            <a:off x="954405" y="1226515"/>
            <a:ext cx="2256309" cy="16453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296"/>
              </a:lnSpc>
            </a:pPr>
            <a:r>
              <a:rPr lang="en-US" sz="1125" kern="0" spc="-6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Julio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08947F01-0586-E7A5-6C61-2C64603C7EE2}"/>
              </a:ext>
            </a:extLst>
          </p:cNvPr>
          <p:cNvSpPr/>
          <p:nvPr/>
        </p:nvSpPr>
        <p:spPr>
          <a:xfrm>
            <a:off x="954405" y="1466277"/>
            <a:ext cx="2256309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556"/>
              </a:lnSpc>
              <a:spcBef>
                <a:spcPts val="581"/>
              </a:spcBef>
            </a:pPr>
            <a:r>
              <a:rPr lang="es-CO" kern="0" spc="-81">
                <a:solidFill>
                  <a:srgbClr val="333333"/>
                </a:solidFill>
                <a:latin typeface="Reddit Sans"/>
                <a:ea typeface="Reddit Sans"/>
              </a:rPr>
              <a:t>Diagnóstico estado actual de la operación y estudio de mercado</a:t>
            </a:r>
            <a:endParaRPr lang="en-US" kern="0" spc="-81">
              <a:solidFill>
                <a:srgbClr val="333333"/>
              </a:solidFill>
              <a:latin typeface="Reddit Sans"/>
              <a:ea typeface="Reddit Sans"/>
            </a:endParaRPr>
          </a:p>
          <a:p>
            <a:pPr>
              <a:lnSpc>
                <a:spcPts val="1556"/>
              </a:lnSpc>
              <a:spcBef>
                <a:spcPts val="581"/>
              </a:spcBef>
            </a:pPr>
            <a:endParaRPr lang="en-US" kern="0" spc="-81">
              <a:solidFill>
                <a:srgbClr val="333333"/>
              </a:solidFill>
              <a:latin typeface="Reddit Sans"/>
              <a:ea typeface="Reddit Sans"/>
            </a:endParaRPr>
          </a:p>
        </p:txBody>
      </p:sp>
      <p:sp>
        <p:nvSpPr>
          <p:cNvPr id="42" name="Shape 6">
            <a:extLst>
              <a:ext uri="{FF2B5EF4-FFF2-40B4-BE49-F238E27FC236}">
                <a16:creationId xmlns:a16="http://schemas.microsoft.com/office/drawing/2014/main" id="{3818D115-73C0-6381-7412-FE9388CD77B5}"/>
              </a:ext>
            </a:extLst>
          </p:cNvPr>
          <p:cNvSpPr/>
          <p:nvPr/>
        </p:nvSpPr>
        <p:spPr>
          <a:xfrm>
            <a:off x="2007505" y="3714652"/>
            <a:ext cx="100013" cy="100013"/>
          </a:xfrm>
          <a:prstGeom prst="ellipse">
            <a:avLst/>
          </a:prstGeom>
          <a:solidFill>
            <a:srgbClr val="22AAEE"/>
          </a:solidFill>
          <a:ln>
            <a:miter lim="800000"/>
          </a:ln>
        </p:spPr>
      </p:sp>
      <p:sp>
        <p:nvSpPr>
          <p:cNvPr id="44" name="Text 7">
            <a:extLst>
              <a:ext uri="{FF2B5EF4-FFF2-40B4-BE49-F238E27FC236}">
                <a16:creationId xmlns:a16="http://schemas.microsoft.com/office/drawing/2014/main" id="{512682AA-952B-802E-5219-D19AB0BB0042}"/>
              </a:ext>
            </a:extLst>
          </p:cNvPr>
          <p:cNvSpPr/>
          <p:nvPr/>
        </p:nvSpPr>
        <p:spPr>
          <a:xfrm>
            <a:off x="2179048" y="3683965"/>
            <a:ext cx="2256309" cy="16453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296"/>
              </a:lnSpc>
            </a:pPr>
            <a:r>
              <a:rPr lang="en-US" sz="1125" kern="0" spc="-6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Agosto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46" name="Text 8">
            <a:extLst>
              <a:ext uri="{FF2B5EF4-FFF2-40B4-BE49-F238E27FC236}">
                <a16:creationId xmlns:a16="http://schemas.microsoft.com/office/drawing/2014/main" id="{F312195D-556C-8729-A28C-B9CDEBBDF2B8}"/>
              </a:ext>
            </a:extLst>
          </p:cNvPr>
          <p:cNvSpPr/>
          <p:nvPr/>
        </p:nvSpPr>
        <p:spPr>
          <a:xfrm>
            <a:off x="2179048" y="3923727"/>
            <a:ext cx="2256309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556"/>
              </a:lnSpc>
              <a:spcBef>
                <a:spcPts val="581"/>
              </a:spcBef>
            </a:pPr>
            <a:r>
              <a:rPr lang="en-US" sz="135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Implementación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48" name="Text 9">
            <a:extLst>
              <a:ext uri="{FF2B5EF4-FFF2-40B4-BE49-F238E27FC236}">
                <a16:creationId xmlns:a16="http://schemas.microsoft.com/office/drawing/2014/main" id="{C6A2396A-7852-A6B4-86FD-F05548254BF6}"/>
              </a:ext>
            </a:extLst>
          </p:cNvPr>
          <p:cNvSpPr/>
          <p:nvPr/>
        </p:nvSpPr>
        <p:spPr>
          <a:xfrm>
            <a:off x="2179048" y="4180344"/>
            <a:ext cx="2352794" cy="39089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539"/>
              </a:lnSpc>
              <a:spcBef>
                <a:spcPts val="458"/>
              </a:spcBef>
            </a:pPr>
            <a:r>
              <a:rPr lang="es-ES" sz="11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Diseño modelo operativo servicio optimo – Funcional y piloto de herramientas</a:t>
            </a:r>
            <a:endParaRPr lang="en-US" sz="1100" kern="0" spc="-23">
              <a:solidFill>
                <a:srgbClr val="000000">
                  <a:alpha val="55000"/>
                </a:srgbClr>
              </a:solidFill>
              <a:latin typeface="Reddit Sans"/>
              <a:ea typeface="Reddit Sans"/>
            </a:endParaRPr>
          </a:p>
          <a:p>
            <a:pPr>
              <a:lnSpc>
                <a:spcPts val="1539"/>
              </a:lnSpc>
              <a:spcBef>
                <a:spcPts val="458"/>
              </a:spcBef>
            </a:pPr>
            <a:endParaRPr lang="en-US" sz="1100" kern="0" spc="-23">
              <a:solidFill>
                <a:srgbClr val="000000">
                  <a:alpha val="55000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50" name="Shape 10">
            <a:extLst>
              <a:ext uri="{FF2B5EF4-FFF2-40B4-BE49-F238E27FC236}">
                <a16:creationId xmlns:a16="http://schemas.microsoft.com/office/drawing/2014/main" id="{4839F593-61FD-3D19-C102-F2780D59C33D}"/>
              </a:ext>
            </a:extLst>
          </p:cNvPr>
          <p:cNvSpPr/>
          <p:nvPr/>
        </p:nvSpPr>
        <p:spPr>
          <a:xfrm>
            <a:off x="3232212" y="1257313"/>
            <a:ext cx="100013" cy="100013"/>
          </a:xfrm>
          <a:prstGeom prst="ellipse">
            <a:avLst/>
          </a:prstGeom>
          <a:solidFill>
            <a:srgbClr val="22AAEE"/>
          </a:solidFill>
          <a:ln>
            <a:miter lim="800000"/>
          </a:ln>
        </p:spPr>
      </p:sp>
      <p:sp>
        <p:nvSpPr>
          <p:cNvPr id="52" name="Text 11">
            <a:extLst>
              <a:ext uri="{FF2B5EF4-FFF2-40B4-BE49-F238E27FC236}">
                <a16:creationId xmlns:a16="http://schemas.microsoft.com/office/drawing/2014/main" id="{7CD4DCF4-D471-8687-6316-C630042B9C27}"/>
              </a:ext>
            </a:extLst>
          </p:cNvPr>
          <p:cNvSpPr/>
          <p:nvPr/>
        </p:nvSpPr>
        <p:spPr>
          <a:xfrm>
            <a:off x="3403691" y="1226515"/>
            <a:ext cx="2256309" cy="16453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296"/>
              </a:lnSpc>
            </a:pPr>
            <a:r>
              <a:rPr lang="en-US" sz="1125" kern="0" spc="-6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Septiembre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54" name="Text 12">
            <a:extLst>
              <a:ext uri="{FF2B5EF4-FFF2-40B4-BE49-F238E27FC236}">
                <a16:creationId xmlns:a16="http://schemas.microsoft.com/office/drawing/2014/main" id="{1A4148E8-A1D6-9F82-26AF-2633B9BFFF35}"/>
              </a:ext>
            </a:extLst>
          </p:cNvPr>
          <p:cNvSpPr/>
          <p:nvPr/>
        </p:nvSpPr>
        <p:spPr>
          <a:xfrm>
            <a:off x="3403691" y="1466277"/>
            <a:ext cx="2256309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556"/>
              </a:lnSpc>
              <a:spcBef>
                <a:spcPts val="581"/>
              </a:spcBef>
            </a:pPr>
            <a:r>
              <a:rPr lang="es-CO" kern="0" spc="-81">
                <a:solidFill>
                  <a:srgbClr val="333333"/>
                </a:solidFill>
                <a:latin typeface="Reddit Sans"/>
                <a:ea typeface="Reddit Sans"/>
              </a:rPr>
              <a:t>Productización y habilitación</a:t>
            </a:r>
            <a:r>
              <a:rPr lang="es-CO" sz="90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 </a:t>
            </a:r>
            <a:endParaRPr lang="en-US" sz="900" kern="0" spc="-81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>
              <a:lnSpc>
                <a:spcPts val="1556"/>
              </a:lnSpc>
              <a:spcBef>
                <a:spcPts val="581"/>
              </a:spcBef>
            </a:pPr>
            <a:endParaRPr lang="en-US" kern="0" spc="-81">
              <a:solidFill>
                <a:srgbClr val="333333"/>
              </a:solidFill>
              <a:latin typeface="Reddit Sans"/>
              <a:ea typeface="Reddit Sans"/>
            </a:endParaRPr>
          </a:p>
        </p:txBody>
      </p:sp>
      <p:sp>
        <p:nvSpPr>
          <p:cNvPr id="56" name="Text 13">
            <a:extLst>
              <a:ext uri="{FF2B5EF4-FFF2-40B4-BE49-F238E27FC236}">
                <a16:creationId xmlns:a16="http://schemas.microsoft.com/office/drawing/2014/main" id="{E9F1577C-2E44-B004-277D-4261433C7B23}"/>
              </a:ext>
            </a:extLst>
          </p:cNvPr>
          <p:cNvSpPr/>
          <p:nvPr/>
        </p:nvSpPr>
        <p:spPr>
          <a:xfrm>
            <a:off x="3403691" y="1722894"/>
            <a:ext cx="2256309" cy="39089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539"/>
              </a:lnSpc>
              <a:spcBef>
                <a:spcPts val="458"/>
              </a:spcBef>
            </a:pPr>
            <a:r>
              <a:rPr lang="es-ES" sz="11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Productización</a:t>
            </a:r>
            <a:r>
              <a:rPr lang="es-ES" sz="11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del servicio y habilitaciones equipo comercial y operación</a:t>
            </a:r>
            <a:endParaRPr lang="en-US" sz="1100" kern="0" spc="-23">
              <a:solidFill>
                <a:srgbClr val="000000">
                  <a:alpha val="55000"/>
                </a:srgbClr>
              </a:solidFill>
              <a:latin typeface="Reddit Sans"/>
              <a:ea typeface="Reddit Sans"/>
            </a:endParaRPr>
          </a:p>
          <a:p>
            <a:pPr>
              <a:lnSpc>
                <a:spcPts val="1539"/>
              </a:lnSpc>
              <a:spcBef>
                <a:spcPts val="458"/>
              </a:spcBef>
            </a:pPr>
            <a:endParaRPr lang="en-US" sz="1100" kern="0" spc="-23">
              <a:solidFill>
                <a:srgbClr val="000000">
                  <a:alpha val="55000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58" name="Shape 14">
            <a:extLst>
              <a:ext uri="{FF2B5EF4-FFF2-40B4-BE49-F238E27FC236}">
                <a16:creationId xmlns:a16="http://schemas.microsoft.com/office/drawing/2014/main" id="{801AFBC0-A7C3-FCBC-C40A-DEE8D55B45EA}"/>
              </a:ext>
            </a:extLst>
          </p:cNvPr>
          <p:cNvSpPr/>
          <p:nvPr/>
        </p:nvSpPr>
        <p:spPr>
          <a:xfrm>
            <a:off x="4456807" y="3714652"/>
            <a:ext cx="100013" cy="100013"/>
          </a:xfrm>
          <a:prstGeom prst="ellipse">
            <a:avLst/>
          </a:prstGeom>
          <a:solidFill>
            <a:srgbClr val="22AAEE"/>
          </a:solidFill>
          <a:ln>
            <a:miter lim="800000"/>
          </a:ln>
        </p:spPr>
      </p:sp>
      <p:sp>
        <p:nvSpPr>
          <p:cNvPr id="60" name="Text 15">
            <a:extLst>
              <a:ext uri="{FF2B5EF4-FFF2-40B4-BE49-F238E27FC236}">
                <a16:creationId xmlns:a16="http://schemas.microsoft.com/office/drawing/2014/main" id="{55784AA7-F015-04D2-5AE6-3BC27C24316E}"/>
              </a:ext>
            </a:extLst>
          </p:cNvPr>
          <p:cNvSpPr/>
          <p:nvPr/>
        </p:nvSpPr>
        <p:spPr>
          <a:xfrm>
            <a:off x="4628333" y="3683965"/>
            <a:ext cx="2256309" cy="16453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296"/>
              </a:lnSpc>
            </a:pPr>
            <a:r>
              <a:rPr lang="en-US" sz="1125" kern="0" spc="-6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Octubre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62" name="Text 16">
            <a:extLst>
              <a:ext uri="{FF2B5EF4-FFF2-40B4-BE49-F238E27FC236}">
                <a16:creationId xmlns:a16="http://schemas.microsoft.com/office/drawing/2014/main" id="{BAD920E4-3BB0-A502-F5CE-E2D230056EEE}"/>
              </a:ext>
            </a:extLst>
          </p:cNvPr>
          <p:cNvSpPr/>
          <p:nvPr/>
        </p:nvSpPr>
        <p:spPr>
          <a:xfrm>
            <a:off x="4628333" y="3923727"/>
            <a:ext cx="2256309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556"/>
              </a:lnSpc>
              <a:spcBef>
                <a:spcPts val="581"/>
              </a:spcBef>
            </a:pPr>
            <a:r>
              <a:rPr lang="en-US" sz="135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Go-</a:t>
            </a:r>
            <a:r>
              <a:rPr lang="en-US" kern="0" spc="-81">
                <a:solidFill>
                  <a:srgbClr val="333333"/>
                </a:solidFill>
                <a:latin typeface="Reddit Sans"/>
                <a:ea typeface="Reddit Sans"/>
              </a:rPr>
              <a:t>live </a:t>
            </a:r>
            <a:r>
              <a:rPr lang="es-CO" kern="0" spc="-81">
                <a:solidFill>
                  <a:srgbClr val="333333"/>
                </a:solidFill>
                <a:latin typeface="Reddit Sans"/>
                <a:ea typeface="Reddit Sans"/>
              </a:rPr>
              <a:t>Actualización de Procesos y transición</a:t>
            </a:r>
            <a:endParaRPr lang="en-US" kern="0" spc="-81">
              <a:solidFill>
                <a:srgbClr val="333333"/>
              </a:solidFill>
              <a:latin typeface="Reddit Sans"/>
              <a:ea typeface="Reddit Sans"/>
            </a:endParaRPr>
          </a:p>
          <a:p>
            <a:pPr>
              <a:lnSpc>
                <a:spcPts val="1556"/>
              </a:lnSpc>
              <a:spcBef>
                <a:spcPts val="581"/>
              </a:spcBef>
            </a:pPr>
            <a:endParaRPr lang="en-US" kern="0" spc="-81">
              <a:solidFill>
                <a:srgbClr val="333333"/>
              </a:solidFill>
              <a:latin typeface="Reddit Sans"/>
              <a:ea typeface="Reddit Sans"/>
            </a:endParaRPr>
          </a:p>
        </p:txBody>
      </p:sp>
      <p:sp>
        <p:nvSpPr>
          <p:cNvPr id="64" name="Text 17">
            <a:extLst>
              <a:ext uri="{FF2B5EF4-FFF2-40B4-BE49-F238E27FC236}">
                <a16:creationId xmlns:a16="http://schemas.microsoft.com/office/drawing/2014/main" id="{2BF21968-FC6C-64AC-6D22-7745BD2CBEBB}"/>
              </a:ext>
            </a:extLst>
          </p:cNvPr>
          <p:cNvSpPr/>
          <p:nvPr/>
        </p:nvSpPr>
        <p:spPr>
          <a:xfrm>
            <a:off x="4628333" y="4376287"/>
            <a:ext cx="2256309" cy="58634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539"/>
              </a:lnSpc>
              <a:spcBef>
                <a:spcPts val="458"/>
              </a:spcBef>
            </a:pPr>
            <a:r>
              <a:rPr lang="es-ES" sz="11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Definición de procesos, y empezar transición clientes actuales.</a:t>
            </a:r>
            <a:endParaRPr lang="en-US" sz="1100" kern="0" spc="-23">
              <a:solidFill>
                <a:srgbClr val="000000">
                  <a:alpha val="55000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66" name="Shape 18">
            <a:extLst>
              <a:ext uri="{FF2B5EF4-FFF2-40B4-BE49-F238E27FC236}">
                <a16:creationId xmlns:a16="http://schemas.microsoft.com/office/drawing/2014/main" id="{C152B160-2065-C59A-A0EC-9A4331C2F5E6}"/>
              </a:ext>
            </a:extLst>
          </p:cNvPr>
          <p:cNvSpPr/>
          <p:nvPr/>
        </p:nvSpPr>
        <p:spPr>
          <a:xfrm>
            <a:off x="5681514" y="1257313"/>
            <a:ext cx="100013" cy="100013"/>
          </a:xfrm>
          <a:prstGeom prst="ellipse">
            <a:avLst/>
          </a:prstGeom>
          <a:solidFill>
            <a:srgbClr val="22AAEE"/>
          </a:solidFill>
          <a:ln>
            <a:miter lim="800000"/>
          </a:ln>
        </p:spPr>
      </p:sp>
      <p:sp>
        <p:nvSpPr>
          <p:cNvPr id="68" name="Text 19">
            <a:extLst>
              <a:ext uri="{FF2B5EF4-FFF2-40B4-BE49-F238E27FC236}">
                <a16:creationId xmlns:a16="http://schemas.microsoft.com/office/drawing/2014/main" id="{742FCF3E-502D-C8C9-8C8E-F17E8ED3EB6C}"/>
              </a:ext>
            </a:extLst>
          </p:cNvPr>
          <p:cNvSpPr/>
          <p:nvPr/>
        </p:nvSpPr>
        <p:spPr>
          <a:xfrm>
            <a:off x="5852977" y="1226515"/>
            <a:ext cx="3055181" cy="16453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296"/>
              </a:lnSpc>
            </a:pPr>
            <a:r>
              <a:rPr lang="en-US" sz="1125" kern="0" spc="-6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Noviembre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70" name="Text 20">
            <a:extLst>
              <a:ext uri="{FF2B5EF4-FFF2-40B4-BE49-F238E27FC236}">
                <a16:creationId xmlns:a16="http://schemas.microsoft.com/office/drawing/2014/main" id="{75DADC94-D55A-4EA6-E227-83F4C10073D4}"/>
              </a:ext>
            </a:extLst>
          </p:cNvPr>
          <p:cNvSpPr/>
          <p:nvPr/>
        </p:nvSpPr>
        <p:spPr>
          <a:xfrm>
            <a:off x="5852977" y="1466277"/>
            <a:ext cx="3055181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556"/>
              </a:lnSpc>
              <a:spcBef>
                <a:spcPts val="581"/>
              </a:spcBef>
            </a:pPr>
            <a:r>
              <a:rPr lang="es-CO" sz="135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Optimización</a:t>
            </a:r>
            <a:endParaRPr lang="es-CO" sz="1000">
              <a:latin typeface="Reddit Sans"/>
              <a:ea typeface="Reddit Sans"/>
            </a:endParaRPr>
          </a:p>
        </p:txBody>
      </p:sp>
      <p:sp>
        <p:nvSpPr>
          <p:cNvPr id="72" name="Text 21">
            <a:extLst>
              <a:ext uri="{FF2B5EF4-FFF2-40B4-BE49-F238E27FC236}">
                <a16:creationId xmlns:a16="http://schemas.microsoft.com/office/drawing/2014/main" id="{C2E25639-963D-804A-D187-9D3264436437}"/>
              </a:ext>
            </a:extLst>
          </p:cNvPr>
          <p:cNvSpPr/>
          <p:nvPr/>
        </p:nvSpPr>
        <p:spPr>
          <a:xfrm>
            <a:off x="5852977" y="1722894"/>
            <a:ext cx="3055181" cy="39089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539"/>
              </a:lnSpc>
              <a:spcBef>
                <a:spcPts val="458"/>
              </a:spcBef>
            </a:pP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Ajustes basados en feedback y estabilidad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operativa.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74" name="Shape 22">
            <a:extLst>
              <a:ext uri="{FF2B5EF4-FFF2-40B4-BE49-F238E27FC236}">
                <a16:creationId xmlns:a16="http://schemas.microsoft.com/office/drawing/2014/main" id="{9B8E9EA2-42FF-8D0A-61B9-2E83D91ADF50}"/>
              </a:ext>
            </a:extLst>
          </p:cNvPr>
          <p:cNvSpPr/>
          <p:nvPr/>
        </p:nvSpPr>
        <p:spPr>
          <a:xfrm>
            <a:off x="6906109" y="3714652"/>
            <a:ext cx="100013" cy="100013"/>
          </a:xfrm>
          <a:prstGeom prst="ellipse">
            <a:avLst/>
          </a:prstGeom>
          <a:solidFill>
            <a:srgbClr val="22AAEE"/>
          </a:solidFill>
          <a:ln>
            <a:miter lim="800000"/>
          </a:ln>
        </p:spPr>
      </p:sp>
      <p:sp>
        <p:nvSpPr>
          <p:cNvPr id="76" name="Text 23">
            <a:extLst>
              <a:ext uri="{FF2B5EF4-FFF2-40B4-BE49-F238E27FC236}">
                <a16:creationId xmlns:a16="http://schemas.microsoft.com/office/drawing/2014/main" id="{7661DFB5-EFEE-0506-26AC-FA4C7D2BC0A9}"/>
              </a:ext>
            </a:extLst>
          </p:cNvPr>
          <p:cNvSpPr/>
          <p:nvPr/>
        </p:nvSpPr>
        <p:spPr>
          <a:xfrm>
            <a:off x="7077620" y="3683965"/>
            <a:ext cx="1830586" cy="16453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296"/>
              </a:lnSpc>
            </a:pPr>
            <a:r>
              <a:rPr lang="en-US" sz="1125" kern="0" spc="-6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Diciembre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78" name="Text 24">
            <a:extLst>
              <a:ext uri="{FF2B5EF4-FFF2-40B4-BE49-F238E27FC236}">
                <a16:creationId xmlns:a16="http://schemas.microsoft.com/office/drawing/2014/main" id="{7B226B2D-DC32-03C6-532A-7A1B56DAEB30}"/>
              </a:ext>
            </a:extLst>
          </p:cNvPr>
          <p:cNvSpPr/>
          <p:nvPr/>
        </p:nvSpPr>
        <p:spPr>
          <a:xfrm>
            <a:off x="7077620" y="3923727"/>
            <a:ext cx="1830586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556"/>
              </a:lnSpc>
              <a:spcBef>
                <a:spcPts val="581"/>
              </a:spcBef>
            </a:pPr>
            <a:r>
              <a:rPr lang="en-US" sz="135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Cierre y Planificación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80" name="Text 25">
            <a:extLst>
              <a:ext uri="{FF2B5EF4-FFF2-40B4-BE49-F238E27FC236}">
                <a16:creationId xmlns:a16="http://schemas.microsoft.com/office/drawing/2014/main" id="{D7B3818D-C4E9-1587-C287-52F7E702ACDB}"/>
              </a:ext>
            </a:extLst>
          </p:cNvPr>
          <p:cNvSpPr/>
          <p:nvPr/>
        </p:nvSpPr>
        <p:spPr>
          <a:xfrm>
            <a:off x="7077620" y="4180344"/>
            <a:ext cx="1854808" cy="58634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539"/>
              </a:lnSpc>
              <a:spcBef>
                <a:spcPts val="458"/>
              </a:spcBef>
            </a:pP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Evaluación anual, reporte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de beneficios y</a:t>
            </a:r>
            <a:b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planificación 2027.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82" name="Text 3">
            <a:extLst>
              <a:ext uri="{FF2B5EF4-FFF2-40B4-BE49-F238E27FC236}">
                <a16:creationId xmlns:a16="http://schemas.microsoft.com/office/drawing/2014/main" id="{CAB29267-7AA4-118A-5DBE-FB7E7F4F0018}"/>
              </a:ext>
            </a:extLst>
          </p:cNvPr>
          <p:cNvSpPr/>
          <p:nvPr/>
        </p:nvSpPr>
        <p:spPr>
          <a:xfrm>
            <a:off x="954201" y="1914068"/>
            <a:ext cx="1731158" cy="39304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spcBef>
                <a:spcPts val="490"/>
              </a:spcBef>
            </a:pPr>
            <a:r>
              <a:rPr lang="es-ES" sz="11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Evaluación de la operación y diagrama inicial del servicio.</a:t>
            </a:r>
            <a:endParaRPr lang="en-US" sz="1100" kern="0" spc="-23">
              <a:solidFill>
                <a:srgbClr val="000000">
                  <a:alpha val="55000"/>
                </a:srgbClr>
              </a:solidFill>
              <a:latin typeface="Reddit Sans"/>
              <a:ea typeface="Reddit Sans"/>
            </a:endParaRPr>
          </a:p>
        </p:txBody>
      </p:sp>
    </p:spTree>
    <p:extLst>
      <p:ext uri="{BB962C8B-B14F-4D97-AF65-F5344CB8AC3E}">
        <p14:creationId xmlns:p14="http://schemas.microsoft.com/office/powerpoint/2010/main" val="1820027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>
          <a:extLst>
            <a:ext uri="{FF2B5EF4-FFF2-40B4-BE49-F238E27FC236}">
              <a16:creationId xmlns:a16="http://schemas.microsoft.com/office/drawing/2014/main" id="{C121F98C-3EAC-8630-140F-CEEEA81FD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657f5ba65c_1_33">
            <a:extLst>
              <a:ext uri="{FF2B5EF4-FFF2-40B4-BE49-F238E27FC236}">
                <a16:creationId xmlns:a16="http://schemas.microsoft.com/office/drawing/2014/main" id="{2D3DF4C5-CD7B-DCEC-650A-2076589595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9691" y="113013"/>
            <a:ext cx="4362899" cy="6325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s-ES" err="1"/>
              <a:t>Roadmap</a:t>
            </a:r>
            <a:r>
              <a:rPr lang="es-ES"/>
              <a:t> Mesa de Servicios de Nueva Generación</a:t>
            </a:r>
            <a:br>
              <a:rPr lang="es-ES"/>
            </a:br>
            <a:r>
              <a:rPr lang="es-ES" b="0"/>
              <a:t>Servicio Optimo y Estandarizado</a:t>
            </a:r>
          </a:p>
        </p:txBody>
      </p:sp>
      <p:cxnSp>
        <p:nvCxnSpPr>
          <p:cNvPr id="179" name="Google Shape;179;g3657f5ba65c_1_33">
            <a:extLst>
              <a:ext uri="{FF2B5EF4-FFF2-40B4-BE49-F238E27FC236}">
                <a16:creationId xmlns:a16="http://schemas.microsoft.com/office/drawing/2014/main" id="{38CB1BF6-BBA6-8E28-4BF9-9CF69853C3F7}"/>
              </a:ext>
            </a:extLst>
          </p:cNvPr>
          <p:cNvCxnSpPr/>
          <p:nvPr/>
        </p:nvCxnSpPr>
        <p:spPr>
          <a:xfrm>
            <a:off x="372654" y="814703"/>
            <a:ext cx="8125071" cy="3858"/>
          </a:xfrm>
          <a:prstGeom prst="straightConnector1">
            <a:avLst/>
          </a:prstGeom>
          <a:noFill/>
          <a:ln w="19050" cap="flat" cmpd="sng">
            <a:solidFill>
              <a:srgbClr val="0E337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39" name="Grupo 38">
            <a:extLst>
              <a:ext uri="{FF2B5EF4-FFF2-40B4-BE49-F238E27FC236}">
                <a16:creationId xmlns:a16="http://schemas.microsoft.com/office/drawing/2014/main" id="{FA1F7DBB-D02F-2DEE-B4BF-614D08F329E1}"/>
              </a:ext>
            </a:extLst>
          </p:cNvPr>
          <p:cNvGrpSpPr/>
          <p:nvPr/>
        </p:nvGrpSpPr>
        <p:grpSpPr>
          <a:xfrm>
            <a:off x="369335" y="2278813"/>
            <a:ext cx="1110341" cy="1197067"/>
            <a:chOff x="374777" y="2262484"/>
            <a:chExt cx="1104899" cy="494940"/>
          </a:xfrm>
        </p:grpSpPr>
        <p:sp>
          <p:nvSpPr>
            <p:cNvPr id="143" name="OTLSHAPE_SL_79f05e8de72e4cc385fce875fa65517f_HeaderRectangle">
              <a:extLst>
                <a:ext uri="{FF2B5EF4-FFF2-40B4-BE49-F238E27FC236}">
                  <a16:creationId xmlns:a16="http://schemas.microsoft.com/office/drawing/2014/main" id="{6C16EE13-B032-B85B-1504-9605D1C8EE25}"/>
                </a:ext>
              </a:extLst>
            </p:cNvPr>
            <p:cNvSpPr/>
            <p:nvPr/>
          </p:nvSpPr>
          <p:spPr>
            <a:xfrm>
              <a:off x="374777" y="2262484"/>
              <a:ext cx="1104899" cy="4949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>
              <a:miter lim="400000"/>
            </a:ln>
          </p:spPr>
          <p:txBody>
            <a:bodyPr lIns="34289" rIns="34289" anchor="ctr"/>
            <a:lstStyle>
              <a:defPPr>
                <a:defRPr lang="es-CO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>
                  <a:solidFill>
                    <a:srgbClr val="FFFFFF"/>
                  </a:solidFill>
                </a:defRPr>
              </a:pPr>
              <a:endParaRPr sz="1013">
                <a:latin typeface="Reddit Sans"/>
                <a:ea typeface="Reddit San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FF963B7-288B-A4BF-1DCD-153ADE5CE91A}"/>
                </a:ext>
              </a:extLst>
            </p:cNvPr>
            <p:cNvSpPr txBox="1"/>
            <p:nvPr/>
          </p:nvSpPr>
          <p:spPr>
            <a:xfrm>
              <a:off x="455124" y="2399564"/>
              <a:ext cx="960433" cy="216331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algn="ctr" defTabSz="342900">
                <a:buClrTx/>
                <a:defRPr sz="1300" b="1">
                  <a:solidFill>
                    <a:srgbClr val="3C3C3C"/>
                  </a:solidFill>
                </a:defRPr>
              </a:pPr>
              <a:r>
                <a:rPr lang="es-ES" sz="700" b="1">
                  <a:latin typeface="Reddit Sans"/>
                  <a:ea typeface="Reddit Sans"/>
                </a:rPr>
                <a:t>Diseño y Productización </a:t>
              </a:r>
              <a:r>
                <a:rPr sz="700" b="1">
                  <a:latin typeface="Reddit Sans"/>
                  <a:ea typeface="Reddit Sans"/>
                </a:rPr>
                <a:t>del</a:t>
              </a:r>
              <a:r>
                <a:rPr lang="es-ES" sz="700" b="1">
                  <a:latin typeface="Reddit Sans"/>
                  <a:ea typeface="Reddit Sans"/>
                </a:rPr>
                <a:t> </a:t>
              </a:r>
            </a:p>
            <a:p>
              <a:pPr algn="ctr" defTabSz="342900">
                <a:buClrTx/>
                <a:defRPr sz="1300" b="1">
                  <a:solidFill>
                    <a:srgbClr val="3C3C3C"/>
                  </a:solidFill>
                </a:defRPr>
              </a:pPr>
              <a:r>
                <a:rPr lang="es-ES" sz="700" b="1">
                  <a:latin typeface="Reddit Sans"/>
                  <a:ea typeface="Reddit Sans"/>
                </a:rPr>
                <a:t>Servicio </a:t>
              </a:r>
            </a:p>
            <a:p>
              <a:pPr algn="ctr" defTabSz="342900">
                <a:buClrTx/>
                <a:defRPr sz="1300" b="1">
                  <a:solidFill>
                    <a:srgbClr val="3C3C3C"/>
                  </a:solidFill>
                </a:defRPr>
              </a:pPr>
              <a:r>
                <a:rPr lang="es-ES" sz="700" b="1">
                  <a:latin typeface="Reddit Sans"/>
                  <a:ea typeface="Reddit Sans"/>
                </a:rPr>
                <a:t>Optimo (N5)</a:t>
              </a:r>
            </a:p>
          </p:txBody>
        </p:sp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83696145-9F54-4D8F-4384-A812F58B4A0E}"/>
              </a:ext>
            </a:extLst>
          </p:cNvPr>
          <p:cNvGrpSpPr/>
          <p:nvPr/>
        </p:nvGrpSpPr>
        <p:grpSpPr>
          <a:xfrm>
            <a:off x="369336" y="3530667"/>
            <a:ext cx="1110343" cy="663673"/>
            <a:chOff x="380220" y="2812210"/>
            <a:chExt cx="1099458" cy="358874"/>
          </a:xfrm>
        </p:grpSpPr>
        <p:sp>
          <p:nvSpPr>
            <p:cNvPr id="144" name="OTLSHAPE_SL_79f05e8de72e4cc385fce875fa65517f_HeaderRectangle">
              <a:extLst>
                <a:ext uri="{FF2B5EF4-FFF2-40B4-BE49-F238E27FC236}">
                  <a16:creationId xmlns:a16="http://schemas.microsoft.com/office/drawing/2014/main" id="{FFE1C5D7-8270-2EED-3C26-B124A668C90C}"/>
                </a:ext>
              </a:extLst>
            </p:cNvPr>
            <p:cNvSpPr/>
            <p:nvPr/>
          </p:nvSpPr>
          <p:spPr>
            <a:xfrm>
              <a:off x="380220" y="2812210"/>
              <a:ext cx="1099458" cy="35887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>
              <a:miter lim="400000"/>
            </a:ln>
          </p:spPr>
          <p:txBody>
            <a:bodyPr lIns="34289" rIns="34289" anchor="ctr"/>
            <a:lstStyle>
              <a:defPPr>
                <a:defRPr lang="es-CO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>
                  <a:solidFill>
                    <a:srgbClr val="FFFFFF"/>
                  </a:solidFill>
                </a:defRPr>
              </a:pPr>
              <a:endParaRPr sz="1013">
                <a:latin typeface="Reddit Sans"/>
                <a:ea typeface="Reddit Sans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9C1A8DA-6D6B-B140-7192-5C9076793FC5}"/>
                </a:ext>
              </a:extLst>
            </p:cNvPr>
            <p:cNvSpPr txBox="1"/>
            <p:nvPr/>
          </p:nvSpPr>
          <p:spPr>
            <a:xfrm>
              <a:off x="455365" y="2898024"/>
              <a:ext cx="960554" cy="133566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algn="ctr" defTabSz="342900">
                <a:defRPr sz="1300" b="1">
                  <a:solidFill>
                    <a:srgbClr val="3C3C3C"/>
                  </a:solidFill>
                </a:defRPr>
              </a:pPr>
              <a:r>
                <a:rPr lang="es-CO" sz="700" b="1">
                  <a:latin typeface="Reddit Sans"/>
                  <a:ea typeface="Reddit Sans"/>
                </a:rPr>
                <a:t>Habilitación del Servicio Optimo</a:t>
              </a:r>
              <a:endParaRPr lang="es-CO" sz="700">
                <a:latin typeface="Reddit Sans"/>
                <a:ea typeface="Reddit Sans"/>
              </a:endParaRPr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16221CA3-E7B3-957B-18B7-DC1C10BC6571}"/>
              </a:ext>
            </a:extLst>
          </p:cNvPr>
          <p:cNvGrpSpPr/>
          <p:nvPr/>
        </p:nvGrpSpPr>
        <p:grpSpPr>
          <a:xfrm>
            <a:off x="369334" y="4227351"/>
            <a:ext cx="1110343" cy="478619"/>
            <a:chOff x="374776" y="4113052"/>
            <a:chExt cx="1099458" cy="467731"/>
          </a:xfrm>
        </p:grpSpPr>
        <p:sp>
          <p:nvSpPr>
            <p:cNvPr id="147" name="OTLSHAPE_SL_79f05e8de72e4cc385fce875fa65517f_HeaderRectangle">
              <a:extLst>
                <a:ext uri="{FF2B5EF4-FFF2-40B4-BE49-F238E27FC236}">
                  <a16:creationId xmlns:a16="http://schemas.microsoft.com/office/drawing/2014/main" id="{AEF0F027-BBF4-D92E-9BE1-D4C14964217E}"/>
                </a:ext>
              </a:extLst>
            </p:cNvPr>
            <p:cNvSpPr/>
            <p:nvPr/>
          </p:nvSpPr>
          <p:spPr>
            <a:xfrm>
              <a:off x="374776" y="4113052"/>
              <a:ext cx="1099458" cy="46773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>
              <a:miter lim="400000"/>
            </a:ln>
          </p:spPr>
          <p:txBody>
            <a:bodyPr lIns="34289" rIns="34289" anchor="ctr"/>
            <a:lstStyle>
              <a:defPPr>
                <a:defRPr lang="es-CO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>
                  <a:solidFill>
                    <a:srgbClr val="FFFFFF"/>
                  </a:solidFill>
                </a:defRPr>
              </a:pPr>
              <a:endParaRPr sz="1013">
                <a:latin typeface="Reddit Sans"/>
                <a:ea typeface="Reddit Sans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8D7DC06-B57E-62F5-577F-ED2309A30092}"/>
                </a:ext>
              </a:extLst>
            </p:cNvPr>
            <p:cNvSpPr txBox="1"/>
            <p:nvPr/>
          </p:nvSpPr>
          <p:spPr>
            <a:xfrm>
              <a:off x="609071" y="4161783"/>
              <a:ext cx="636218" cy="406046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algn="ctr" defTabSz="342900">
                <a:buClrTx/>
                <a:defRPr sz="1300" b="1">
                  <a:solidFill>
                    <a:srgbClr val="3C3C3C"/>
                  </a:solidFill>
                </a:defRPr>
              </a:pPr>
              <a:r>
                <a:rPr lang="es-CO" sz="700" b="1" kern="1200">
                  <a:latin typeface="Reddit Sans"/>
                  <a:ea typeface="Reddit Sans"/>
                  <a:cs typeface="+mn-cs"/>
                </a:rPr>
                <a:t>Transición</a:t>
              </a:r>
              <a:r>
                <a:rPr lang="es-ES" sz="700" b="1" kern="1200">
                  <a:latin typeface="Reddit Sans"/>
                  <a:ea typeface="Reddit Sans"/>
                  <a:cs typeface="+mn-cs"/>
                </a:rPr>
                <a:t> </a:t>
              </a:r>
            </a:p>
            <a:p>
              <a:pPr algn="ctr" defTabSz="342900">
                <a:buClrTx/>
                <a:defRPr sz="1300" b="1">
                  <a:solidFill>
                    <a:srgbClr val="3C3C3C"/>
                  </a:solidFill>
                </a:defRPr>
              </a:pPr>
              <a:r>
                <a:rPr lang="es-ES" sz="700" b="1" kern="1200">
                  <a:latin typeface="Reddit Sans"/>
                  <a:ea typeface="Reddit Sans"/>
                  <a:cs typeface="+mn-cs"/>
                </a:rPr>
                <a:t>Clientes </a:t>
              </a:r>
            </a:p>
            <a:p>
              <a:pPr algn="ctr" defTabSz="342900">
                <a:buClrTx/>
                <a:defRPr sz="1300" b="1">
                  <a:solidFill>
                    <a:srgbClr val="3C3C3C"/>
                  </a:solidFill>
                </a:defRPr>
              </a:pPr>
              <a:r>
                <a:rPr lang="es-ES" sz="700" b="1" kern="1200">
                  <a:latin typeface="Reddit Sans"/>
                  <a:ea typeface="Reddit Sans"/>
                  <a:cs typeface="+mn-cs"/>
                </a:rPr>
                <a:t>Existentes</a:t>
              </a:r>
              <a:endParaRPr lang="es-ES" sz="700">
                <a:latin typeface="Reddit Sans"/>
                <a:ea typeface="Reddit Sans"/>
                <a:cs typeface="+mn-cs"/>
              </a:endParaRPr>
            </a:p>
          </p:txBody>
        </p:sp>
      </p:grpSp>
      <p:sp>
        <p:nvSpPr>
          <p:cNvPr id="18" name="Rounded Rectangle 21">
            <a:extLst>
              <a:ext uri="{FF2B5EF4-FFF2-40B4-BE49-F238E27FC236}">
                <a16:creationId xmlns:a16="http://schemas.microsoft.com/office/drawing/2014/main" id="{9911FF49-DC72-F530-EBD6-6B2C25D73C40}"/>
              </a:ext>
            </a:extLst>
          </p:cNvPr>
          <p:cNvSpPr/>
          <p:nvPr/>
        </p:nvSpPr>
        <p:spPr>
          <a:xfrm>
            <a:off x="1558717" y="1661704"/>
            <a:ext cx="900411" cy="27910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833C86C9-8351-0614-D81A-06A00B0E7DF8}"/>
              </a:ext>
            </a:extLst>
          </p:cNvPr>
          <p:cNvSpPr txBox="1"/>
          <p:nvPr/>
        </p:nvSpPr>
        <p:spPr>
          <a:xfrm>
            <a:off x="375556" y="944334"/>
            <a:ext cx="1110347" cy="374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600" i="1">
                <a:solidFill>
                  <a:srgbClr val="00717D"/>
                </a:solidFill>
                <a:latin typeface="Reddit Sans"/>
                <a:ea typeface="Reddit Sans"/>
              </a:rPr>
              <a:t>Modelos de entrega de las Mesas de Servicio de Nueva </a:t>
            </a:r>
            <a:r>
              <a:rPr lang="es-ES" sz="600" i="1" err="1">
                <a:solidFill>
                  <a:srgbClr val="00717D"/>
                </a:solidFill>
                <a:latin typeface="Reddit Sans"/>
                <a:ea typeface="Reddit Sans"/>
              </a:rPr>
              <a:t>Generaci</a:t>
            </a:r>
            <a:r>
              <a:rPr lang="es-ES" sz="600" i="1">
                <a:solidFill>
                  <a:srgbClr val="00717D"/>
                </a:solidFill>
                <a:latin typeface="Reddit Sans"/>
                <a:ea typeface="Reddit Sans"/>
              </a:rPr>
              <a:t>ón 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759E3EBD-220D-0BCC-6D20-77DDF0190206}"/>
              </a:ext>
            </a:extLst>
          </p:cNvPr>
          <p:cNvSpPr txBox="1"/>
          <p:nvPr/>
        </p:nvSpPr>
        <p:spPr>
          <a:xfrm>
            <a:off x="375556" y="1374321"/>
            <a:ext cx="1039586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1000" b="1">
                <a:solidFill>
                  <a:schemeClr val="tx1"/>
                </a:solidFill>
                <a:latin typeface="Reddit Sans"/>
                <a:ea typeface="Reddit Sans"/>
              </a:rPr>
              <a:t>Fases</a:t>
            </a:r>
            <a:endParaRPr lang="es-ES">
              <a:solidFill>
                <a:schemeClr val="tx1"/>
              </a:solidFill>
              <a:latin typeface="Reddit Sans"/>
              <a:ea typeface="Reddit Sans"/>
            </a:endParaRPr>
          </a:p>
        </p:txBody>
      </p:sp>
      <p:sp>
        <p:nvSpPr>
          <p:cNvPr id="131" name="Rounded Rectangle 25">
            <a:extLst>
              <a:ext uri="{FF2B5EF4-FFF2-40B4-BE49-F238E27FC236}">
                <a16:creationId xmlns:a16="http://schemas.microsoft.com/office/drawing/2014/main" id="{6382B717-C215-9586-0C14-654C3B4DDC0B}"/>
              </a:ext>
            </a:extLst>
          </p:cNvPr>
          <p:cNvSpPr/>
          <p:nvPr/>
        </p:nvSpPr>
        <p:spPr>
          <a:xfrm>
            <a:off x="5400394" y="3572143"/>
            <a:ext cx="1102506" cy="26278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r>
              <a:rPr lang="es-ES" sz="600" kern="1200">
                <a:solidFill>
                  <a:srgbClr val="000000"/>
                </a:solidFill>
                <a:latin typeface="Reddit Sans"/>
                <a:ea typeface="Reddit Sans"/>
              </a:rPr>
              <a:t>Equipos </a:t>
            </a:r>
            <a:r>
              <a:rPr lang="es-ES" sz="600" b="1" kern="1200">
                <a:solidFill>
                  <a:srgbClr val="000000"/>
                </a:solidFill>
                <a:latin typeface="Reddit Sans"/>
                <a:ea typeface="Reddit Sans"/>
              </a:rPr>
              <a:t>comercial</a:t>
            </a:r>
          </a:p>
        </p:txBody>
      </p:sp>
      <p:sp>
        <p:nvSpPr>
          <p:cNvPr id="132" name="Rounded Rectangle 25">
            <a:extLst>
              <a:ext uri="{FF2B5EF4-FFF2-40B4-BE49-F238E27FC236}">
                <a16:creationId xmlns:a16="http://schemas.microsoft.com/office/drawing/2014/main" id="{F4DB8385-54D7-60E5-0527-FD1274CCC5D2}"/>
              </a:ext>
            </a:extLst>
          </p:cNvPr>
          <p:cNvSpPr/>
          <p:nvPr/>
        </p:nvSpPr>
        <p:spPr>
          <a:xfrm>
            <a:off x="5939243" y="3893276"/>
            <a:ext cx="960987" cy="24644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r>
              <a:rPr lang="es-ES" sz="600" kern="1200">
                <a:solidFill>
                  <a:srgbClr val="000000"/>
                </a:solidFill>
                <a:latin typeface="Reddit Sans"/>
                <a:ea typeface="Reddit Sans"/>
              </a:rPr>
              <a:t>Equipos de la </a:t>
            </a:r>
            <a:r>
              <a:rPr lang="es-ES" sz="600" b="1" kern="1200">
                <a:solidFill>
                  <a:srgbClr val="000000"/>
                </a:solidFill>
                <a:latin typeface="Reddit Sans"/>
                <a:ea typeface="Reddit Sans"/>
              </a:rPr>
              <a:t>operación</a:t>
            </a:r>
          </a:p>
        </p:txBody>
      </p:sp>
      <p:sp>
        <p:nvSpPr>
          <p:cNvPr id="140" name="OTLSHAPE_TB_00000000000000000000000000000000_ScaleContainer">
            <a:extLst>
              <a:ext uri="{FF2B5EF4-FFF2-40B4-BE49-F238E27FC236}">
                <a16:creationId xmlns:a16="http://schemas.microsoft.com/office/drawing/2014/main" id="{3B261526-EF33-B2DF-A98E-BEF00671F067}"/>
              </a:ext>
            </a:extLst>
          </p:cNvPr>
          <p:cNvSpPr/>
          <p:nvPr/>
        </p:nvSpPr>
        <p:spPr>
          <a:xfrm>
            <a:off x="1534595" y="1234653"/>
            <a:ext cx="6962150" cy="183417"/>
          </a:xfrm>
          <a:prstGeom prst="roundRect">
            <a:avLst>
              <a:gd name="adj" fmla="val 16667"/>
            </a:avLst>
          </a:prstGeom>
          <a:solidFill>
            <a:srgbClr val="44546A"/>
          </a:solidFill>
          <a:ln w="12700">
            <a:miter lim="400000"/>
          </a:ln>
        </p:spPr>
        <p:txBody>
          <a:bodyPr lIns="34289" rIns="34289" anchor="ctr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 sz="1013">
              <a:latin typeface="Reddit Sans"/>
              <a:ea typeface="Reddit Sans"/>
            </a:endParaRP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12450AB9-867D-C8A7-DFF7-6A0EDC4A796E}"/>
              </a:ext>
            </a:extLst>
          </p:cNvPr>
          <p:cNvSpPr txBox="1"/>
          <p:nvPr/>
        </p:nvSpPr>
        <p:spPr>
          <a:xfrm>
            <a:off x="4316186" y="1232804"/>
            <a:ext cx="1039586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800" b="1">
                <a:solidFill>
                  <a:srgbClr val="FFFFFF"/>
                </a:solidFill>
                <a:latin typeface="Reddit Sans"/>
                <a:ea typeface="Reddit Sans"/>
              </a:rPr>
              <a:t>Q3</a:t>
            </a:r>
            <a:endParaRPr lang="es-ES" sz="800">
              <a:solidFill>
                <a:srgbClr val="FFFFFF"/>
              </a:solidFill>
              <a:latin typeface="Reddit Sans"/>
              <a:ea typeface="Reddit Sans"/>
            </a:endParaRP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B9B2C632-D675-2574-24E7-F05E58B67A34}"/>
              </a:ext>
            </a:extLst>
          </p:cNvPr>
          <p:cNvSpPr txBox="1"/>
          <p:nvPr/>
        </p:nvSpPr>
        <p:spPr>
          <a:xfrm>
            <a:off x="7538356" y="1232805"/>
            <a:ext cx="1039586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800" b="1">
                <a:solidFill>
                  <a:srgbClr val="FFFFFF"/>
                </a:solidFill>
                <a:latin typeface="Reddit Sans"/>
                <a:ea typeface="Reddit Sans"/>
              </a:rPr>
              <a:t>Q4</a:t>
            </a:r>
            <a:endParaRPr lang="es-ES" sz="800">
              <a:solidFill>
                <a:srgbClr val="FFFFFF"/>
              </a:solidFill>
              <a:latin typeface="Reddit Sans"/>
              <a:ea typeface="Reddit Sans"/>
            </a:endParaRPr>
          </a:p>
        </p:txBody>
      </p:sp>
      <p:cxnSp>
        <p:nvCxnSpPr>
          <p:cNvPr id="141" name="Conector recto de flecha 140">
            <a:extLst>
              <a:ext uri="{FF2B5EF4-FFF2-40B4-BE49-F238E27FC236}">
                <a16:creationId xmlns:a16="http://schemas.microsoft.com/office/drawing/2014/main" id="{77E854F4-C2A7-494F-9814-0D65844E953B}"/>
              </a:ext>
            </a:extLst>
          </p:cNvPr>
          <p:cNvCxnSpPr/>
          <p:nvPr/>
        </p:nvCxnSpPr>
        <p:spPr>
          <a:xfrm>
            <a:off x="6934200" y="1242333"/>
            <a:ext cx="2177" cy="171448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CuadroTexto 147">
            <a:extLst>
              <a:ext uri="{FF2B5EF4-FFF2-40B4-BE49-F238E27FC236}">
                <a16:creationId xmlns:a16="http://schemas.microsoft.com/office/drawing/2014/main" id="{88C7B6FA-4D2E-17BA-E219-6E2B880E0B94}"/>
              </a:ext>
            </a:extLst>
          </p:cNvPr>
          <p:cNvSpPr txBox="1"/>
          <p:nvPr/>
        </p:nvSpPr>
        <p:spPr>
          <a:xfrm>
            <a:off x="2279195" y="1416503"/>
            <a:ext cx="751115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000">
                <a:solidFill>
                  <a:schemeClr val="bg2"/>
                </a:solidFill>
                <a:latin typeface="Reddit Sans"/>
                <a:ea typeface="Reddit Sans"/>
              </a:rPr>
              <a:t>Julio</a:t>
            </a:r>
          </a:p>
        </p:txBody>
      </p:sp>
      <p:sp>
        <p:nvSpPr>
          <p:cNvPr id="149" name="CuadroTexto 148">
            <a:extLst>
              <a:ext uri="{FF2B5EF4-FFF2-40B4-BE49-F238E27FC236}">
                <a16:creationId xmlns:a16="http://schemas.microsoft.com/office/drawing/2014/main" id="{0DE0BA9B-85D9-893D-02AA-43387A104DA6}"/>
              </a:ext>
            </a:extLst>
          </p:cNvPr>
          <p:cNvSpPr txBox="1"/>
          <p:nvPr/>
        </p:nvSpPr>
        <p:spPr>
          <a:xfrm>
            <a:off x="4026351" y="1421946"/>
            <a:ext cx="751115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000">
                <a:solidFill>
                  <a:schemeClr val="bg2"/>
                </a:solidFill>
                <a:latin typeface="Reddit Sans"/>
                <a:ea typeface="Reddit Sans"/>
              </a:rPr>
              <a:t>Agosto</a:t>
            </a:r>
          </a:p>
        </p:txBody>
      </p:sp>
      <p:sp>
        <p:nvSpPr>
          <p:cNvPr id="150" name="CuadroTexto 149">
            <a:extLst>
              <a:ext uri="{FF2B5EF4-FFF2-40B4-BE49-F238E27FC236}">
                <a16:creationId xmlns:a16="http://schemas.microsoft.com/office/drawing/2014/main" id="{8C735DE2-D0F8-2232-A888-7347C71FE748}"/>
              </a:ext>
            </a:extLst>
          </p:cNvPr>
          <p:cNvSpPr txBox="1"/>
          <p:nvPr/>
        </p:nvSpPr>
        <p:spPr>
          <a:xfrm>
            <a:off x="5659207" y="1416503"/>
            <a:ext cx="1094015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000">
                <a:solidFill>
                  <a:schemeClr val="bg2"/>
                </a:solidFill>
                <a:latin typeface="Reddit Sans"/>
                <a:ea typeface="Reddit Sans"/>
              </a:rPr>
              <a:t>Septiembre</a:t>
            </a:r>
          </a:p>
        </p:txBody>
      </p:sp>
      <p:sp>
        <p:nvSpPr>
          <p:cNvPr id="151" name="CuadroTexto 150">
            <a:extLst>
              <a:ext uri="{FF2B5EF4-FFF2-40B4-BE49-F238E27FC236}">
                <a16:creationId xmlns:a16="http://schemas.microsoft.com/office/drawing/2014/main" id="{8517EEC8-0689-3FB6-7542-296FD3516CD8}"/>
              </a:ext>
            </a:extLst>
          </p:cNvPr>
          <p:cNvSpPr txBox="1"/>
          <p:nvPr/>
        </p:nvSpPr>
        <p:spPr>
          <a:xfrm>
            <a:off x="7439023" y="1416503"/>
            <a:ext cx="821873" cy="251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000">
                <a:solidFill>
                  <a:schemeClr val="bg2"/>
                </a:solidFill>
                <a:latin typeface="Reddit Sans"/>
                <a:ea typeface="Reddit Sans"/>
              </a:rPr>
              <a:t>Octubre</a:t>
            </a:r>
          </a:p>
        </p:txBody>
      </p:sp>
      <p:cxnSp>
        <p:nvCxnSpPr>
          <p:cNvPr id="152" name="Conector recto de flecha 151">
            <a:extLst>
              <a:ext uri="{FF2B5EF4-FFF2-40B4-BE49-F238E27FC236}">
                <a16:creationId xmlns:a16="http://schemas.microsoft.com/office/drawing/2014/main" id="{B8D9AA85-D001-24C3-3364-7AC719A427B2}"/>
              </a:ext>
            </a:extLst>
          </p:cNvPr>
          <p:cNvCxnSpPr/>
          <p:nvPr/>
        </p:nvCxnSpPr>
        <p:spPr>
          <a:xfrm>
            <a:off x="3363686" y="1449160"/>
            <a:ext cx="7620" cy="3367767"/>
          </a:xfrm>
          <a:prstGeom prst="straightConnector1">
            <a:avLst/>
          </a:prstGeom>
          <a:ln w="12700">
            <a:solidFill>
              <a:schemeClr val="bg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ector recto de flecha 152">
            <a:extLst>
              <a:ext uri="{FF2B5EF4-FFF2-40B4-BE49-F238E27FC236}">
                <a16:creationId xmlns:a16="http://schemas.microsoft.com/office/drawing/2014/main" id="{9B5A6607-AB3D-F27C-416F-F3BB7E059F2A}"/>
              </a:ext>
            </a:extLst>
          </p:cNvPr>
          <p:cNvCxnSpPr>
            <a:cxnSpLocks/>
          </p:cNvCxnSpPr>
          <p:nvPr/>
        </p:nvCxnSpPr>
        <p:spPr>
          <a:xfrm>
            <a:off x="5083628" y="1416502"/>
            <a:ext cx="7620" cy="3367767"/>
          </a:xfrm>
          <a:prstGeom prst="straightConnector1">
            <a:avLst/>
          </a:prstGeom>
          <a:ln w="12700">
            <a:solidFill>
              <a:schemeClr val="bg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ector recto de flecha 153">
            <a:extLst>
              <a:ext uri="{FF2B5EF4-FFF2-40B4-BE49-F238E27FC236}">
                <a16:creationId xmlns:a16="http://schemas.microsoft.com/office/drawing/2014/main" id="{BCD917FC-1786-17FD-42AB-06BA124DBFBD}"/>
              </a:ext>
            </a:extLst>
          </p:cNvPr>
          <p:cNvCxnSpPr>
            <a:cxnSpLocks/>
          </p:cNvCxnSpPr>
          <p:nvPr/>
        </p:nvCxnSpPr>
        <p:spPr>
          <a:xfrm>
            <a:off x="6868887" y="1411058"/>
            <a:ext cx="7620" cy="3367767"/>
          </a:xfrm>
          <a:prstGeom prst="straightConnector1">
            <a:avLst/>
          </a:prstGeom>
          <a:ln w="12700">
            <a:solidFill>
              <a:schemeClr val="bg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ector recto de flecha 154">
            <a:extLst>
              <a:ext uri="{FF2B5EF4-FFF2-40B4-BE49-F238E27FC236}">
                <a16:creationId xmlns:a16="http://schemas.microsoft.com/office/drawing/2014/main" id="{B09638D5-B7BD-75EE-D915-FA76D14BFAC8}"/>
              </a:ext>
            </a:extLst>
          </p:cNvPr>
          <p:cNvCxnSpPr/>
          <p:nvPr/>
        </p:nvCxnSpPr>
        <p:spPr>
          <a:xfrm flipV="1">
            <a:off x="1529442" y="3510643"/>
            <a:ext cx="6949622" cy="31751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onector recto de flecha 157">
            <a:extLst>
              <a:ext uri="{FF2B5EF4-FFF2-40B4-BE49-F238E27FC236}">
                <a16:creationId xmlns:a16="http://schemas.microsoft.com/office/drawing/2014/main" id="{B792CCEE-F9DA-9FD4-33EC-028D268BB735}"/>
              </a:ext>
            </a:extLst>
          </p:cNvPr>
          <p:cNvCxnSpPr>
            <a:cxnSpLocks/>
          </p:cNvCxnSpPr>
          <p:nvPr/>
        </p:nvCxnSpPr>
        <p:spPr>
          <a:xfrm flipV="1">
            <a:off x="1502227" y="4169226"/>
            <a:ext cx="6949622" cy="31751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CuadroTexto 158">
            <a:extLst>
              <a:ext uri="{FF2B5EF4-FFF2-40B4-BE49-F238E27FC236}">
                <a16:creationId xmlns:a16="http://schemas.microsoft.com/office/drawing/2014/main" id="{F72A2CD6-6E9B-EA84-0DC2-9B7350B59577}"/>
              </a:ext>
            </a:extLst>
          </p:cNvPr>
          <p:cNvSpPr txBox="1"/>
          <p:nvPr/>
        </p:nvSpPr>
        <p:spPr>
          <a:xfrm>
            <a:off x="1534885" y="1624692"/>
            <a:ext cx="109945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latin typeface="Reddit Sans"/>
                <a:ea typeface="Reddit Sans"/>
              </a:rPr>
              <a:t>Levantar lecciones aprendidas mesas de servicio operación actual</a:t>
            </a:r>
            <a:endParaRPr lang="es-ES">
              <a:latin typeface="Reddit Sans"/>
              <a:ea typeface="Reddit Sans"/>
            </a:endParaRPr>
          </a:p>
        </p:txBody>
      </p:sp>
      <p:sp>
        <p:nvSpPr>
          <p:cNvPr id="160" name="Rounded Rectangle 21">
            <a:extLst>
              <a:ext uri="{FF2B5EF4-FFF2-40B4-BE49-F238E27FC236}">
                <a16:creationId xmlns:a16="http://schemas.microsoft.com/office/drawing/2014/main" id="{7D22CFC5-B3A2-EBAD-084C-F113C86A02F9}"/>
              </a:ext>
            </a:extLst>
          </p:cNvPr>
          <p:cNvSpPr/>
          <p:nvPr/>
        </p:nvSpPr>
        <p:spPr>
          <a:xfrm>
            <a:off x="1662132" y="1988274"/>
            <a:ext cx="845983" cy="23556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61" name="CuadroTexto 160">
            <a:extLst>
              <a:ext uri="{FF2B5EF4-FFF2-40B4-BE49-F238E27FC236}">
                <a16:creationId xmlns:a16="http://schemas.microsoft.com/office/drawing/2014/main" id="{785E18AD-CD1C-C2AE-A02A-DB9543853C98}"/>
              </a:ext>
            </a:extLst>
          </p:cNvPr>
          <p:cNvSpPr txBox="1"/>
          <p:nvPr/>
        </p:nvSpPr>
        <p:spPr>
          <a:xfrm>
            <a:off x="1638298" y="1978477"/>
            <a:ext cx="99604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latin typeface="Reddit Sans"/>
              </a:rPr>
              <a:t>Caracterizar las mesas de servicio (mercado)</a:t>
            </a:r>
          </a:p>
        </p:txBody>
      </p:sp>
      <p:sp>
        <p:nvSpPr>
          <p:cNvPr id="162" name="Rounded Rectangle 21">
            <a:extLst>
              <a:ext uri="{FF2B5EF4-FFF2-40B4-BE49-F238E27FC236}">
                <a16:creationId xmlns:a16="http://schemas.microsoft.com/office/drawing/2014/main" id="{9FC1D5E0-CEE7-396C-35CD-CE57B82CB9D7}"/>
              </a:ext>
            </a:extLst>
          </p:cNvPr>
          <p:cNvSpPr/>
          <p:nvPr/>
        </p:nvSpPr>
        <p:spPr>
          <a:xfrm>
            <a:off x="6854618" y="4502872"/>
            <a:ext cx="1090912" cy="28455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63" name="CuadroTexto 162">
            <a:extLst>
              <a:ext uri="{FF2B5EF4-FFF2-40B4-BE49-F238E27FC236}">
                <a16:creationId xmlns:a16="http://schemas.microsoft.com/office/drawing/2014/main" id="{130AC089-52A0-57DE-4EF6-A870849161A4}"/>
              </a:ext>
            </a:extLst>
          </p:cNvPr>
          <p:cNvSpPr txBox="1"/>
          <p:nvPr/>
        </p:nvSpPr>
        <p:spPr>
          <a:xfrm>
            <a:off x="6825343" y="4514848"/>
            <a:ext cx="120831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latin typeface="Reddit Sans"/>
                <a:ea typeface="Reddit Sans"/>
              </a:rPr>
              <a:t>*Identificar costos de transición al servicio nuevo</a:t>
            </a:r>
            <a:endParaRPr lang="es-ES" err="1">
              <a:latin typeface="Reddit Sans"/>
              <a:ea typeface="Reddit Sans"/>
            </a:endParaRPr>
          </a:p>
        </p:txBody>
      </p:sp>
      <p:sp>
        <p:nvSpPr>
          <p:cNvPr id="164" name="Rounded Rectangle 21">
            <a:extLst>
              <a:ext uri="{FF2B5EF4-FFF2-40B4-BE49-F238E27FC236}">
                <a16:creationId xmlns:a16="http://schemas.microsoft.com/office/drawing/2014/main" id="{9CBF511A-8C27-08A2-FB1D-730D65364C33}"/>
              </a:ext>
            </a:extLst>
          </p:cNvPr>
          <p:cNvSpPr/>
          <p:nvPr/>
        </p:nvSpPr>
        <p:spPr>
          <a:xfrm>
            <a:off x="2511218" y="1667145"/>
            <a:ext cx="867754" cy="27366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65" name="CuadroTexto 164">
            <a:extLst>
              <a:ext uri="{FF2B5EF4-FFF2-40B4-BE49-F238E27FC236}">
                <a16:creationId xmlns:a16="http://schemas.microsoft.com/office/drawing/2014/main" id="{AB86449B-EDC5-BF0C-769F-14142C091898}"/>
              </a:ext>
            </a:extLst>
          </p:cNvPr>
          <p:cNvSpPr txBox="1"/>
          <p:nvPr/>
        </p:nvSpPr>
        <p:spPr>
          <a:xfrm>
            <a:off x="2460170" y="1624692"/>
            <a:ext cx="9633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latin typeface="Reddit Sans"/>
                <a:ea typeface="Reddit Sans"/>
              </a:rPr>
              <a:t>Diagrama inicial del servicio estandarizado alto nivel</a:t>
            </a:r>
            <a:endParaRPr lang="es-ES">
              <a:latin typeface="Reddit Sans"/>
              <a:ea typeface="Reddit Sans"/>
            </a:endParaRPr>
          </a:p>
        </p:txBody>
      </p:sp>
      <p:grpSp>
        <p:nvGrpSpPr>
          <p:cNvPr id="47" name="Grupo 46">
            <a:extLst>
              <a:ext uri="{FF2B5EF4-FFF2-40B4-BE49-F238E27FC236}">
                <a16:creationId xmlns:a16="http://schemas.microsoft.com/office/drawing/2014/main" id="{E752F488-CC0B-2A12-AF8B-5278E4372119}"/>
              </a:ext>
            </a:extLst>
          </p:cNvPr>
          <p:cNvGrpSpPr/>
          <p:nvPr/>
        </p:nvGrpSpPr>
        <p:grpSpPr>
          <a:xfrm>
            <a:off x="3760977" y="2634686"/>
            <a:ext cx="3143926" cy="277000"/>
            <a:chOff x="3801287" y="2683441"/>
            <a:chExt cx="3176660" cy="194899"/>
          </a:xfrm>
        </p:grpSpPr>
        <p:sp>
          <p:nvSpPr>
            <p:cNvPr id="171" name="Rounded Rectangle 21">
              <a:extLst>
                <a:ext uri="{FF2B5EF4-FFF2-40B4-BE49-F238E27FC236}">
                  <a16:creationId xmlns:a16="http://schemas.microsoft.com/office/drawing/2014/main" id="{DC4725BD-ED8B-65C7-C15E-3A28C20E37B0}"/>
                </a:ext>
              </a:extLst>
            </p:cNvPr>
            <p:cNvSpPr/>
            <p:nvPr/>
          </p:nvSpPr>
          <p:spPr>
            <a:xfrm>
              <a:off x="3801287" y="2684353"/>
              <a:ext cx="3126428" cy="179371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342900"/>
              <a:endParaRPr lang="es-ES" sz="600" kern="1200">
                <a:solidFill>
                  <a:srgbClr val="000000"/>
                </a:solidFill>
                <a:latin typeface="Reddit Sans"/>
                <a:ea typeface="Reddit Sans"/>
              </a:endParaRPr>
            </a:p>
          </p:txBody>
        </p:sp>
        <p:sp>
          <p:nvSpPr>
            <p:cNvPr id="172" name="CuadroTexto 171">
              <a:extLst>
                <a:ext uri="{FF2B5EF4-FFF2-40B4-BE49-F238E27FC236}">
                  <a16:creationId xmlns:a16="http://schemas.microsoft.com/office/drawing/2014/main" id="{00525969-E2DC-EFD9-ED20-2FE91A11D63B}"/>
                </a:ext>
              </a:extLst>
            </p:cNvPr>
            <p:cNvSpPr txBox="1"/>
            <p:nvPr/>
          </p:nvSpPr>
          <p:spPr>
            <a:xfrm>
              <a:off x="3810203" y="2683441"/>
              <a:ext cx="3167744" cy="194899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s-ES" sz="600">
                  <a:latin typeface="Reddit Sans"/>
                  <a:ea typeface="Reddit Sans"/>
                </a:rPr>
                <a:t>Piloto herramientas/agentes/automatizaciones para las mesas de servicio (</a:t>
              </a:r>
              <a:r>
                <a:rPr lang="es-ES" sz="600" err="1">
                  <a:latin typeface="Reddit Sans"/>
                  <a:ea typeface="Reddit Sans"/>
                </a:rPr>
                <a:t>reuso</a:t>
              </a:r>
              <a:r>
                <a:rPr lang="es-ES" sz="600">
                  <a:latin typeface="Reddit Sans"/>
                  <a:ea typeface="Reddit Sans"/>
                </a:rPr>
                <a:t> o construcción nuevas)</a:t>
              </a:r>
              <a:endParaRPr lang="es-ES">
                <a:latin typeface="Reddit Sans"/>
                <a:ea typeface="Reddit Sans"/>
              </a:endParaRPr>
            </a:p>
          </p:txBody>
        </p:sp>
      </p:grpSp>
      <p:sp>
        <p:nvSpPr>
          <p:cNvPr id="173" name="Rounded Rectangle 21">
            <a:extLst>
              <a:ext uri="{FF2B5EF4-FFF2-40B4-BE49-F238E27FC236}">
                <a16:creationId xmlns:a16="http://schemas.microsoft.com/office/drawing/2014/main" id="{235C75B2-0720-AB3E-D85A-CE8EBA10A54E}"/>
              </a:ext>
            </a:extLst>
          </p:cNvPr>
          <p:cNvSpPr/>
          <p:nvPr/>
        </p:nvSpPr>
        <p:spPr>
          <a:xfrm>
            <a:off x="6223245" y="2989760"/>
            <a:ext cx="1014713" cy="2791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74" name="Rounded Rectangle 21">
            <a:extLst>
              <a:ext uri="{FF2B5EF4-FFF2-40B4-BE49-F238E27FC236}">
                <a16:creationId xmlns:a16="http://schemas.microsoft.com/office/drawing/2014/main" id="{3ADF37BD-7406-6FE1-0D8F-7A7C24C7885B}"/>
              </a:ext>
            </a:extLst>
          </p:cNvPr>
          <p:cNvSpPr/>
          <p:nvPr/>
        </p:nvSpPr>
        <p:spPr>
          <a:xfrm>
            <a:off x="6903606" y="110485"/>
            <a:ext cx="241822" cy="13215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78" name="Rounded Rectangle 21">
            <a:extLst>
              <a:ext uri="{FF2B5EF4-FFF2-40B4-BE49-F238E27FC236}">
                <a16:creationId xmlns:a16="http://schemas.microsoft.com/office/drawing/2014/main" id="{B852DB45-3B81-C168-A565-CF9B308C09B6}"/>
              </a:ext>
            </a:extLst>
          </p:cNvPr>
          <p:cNvSpPr/>
          <p:nvPr/>
        </p:nvSpPr>
        <p:spPr>
          <a:xfrm>
            <a:off x="6234134" y="4187188"/>
            <a:ext cx="873195" cy="2736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80" name="CuadroTexto 179">
            <a:extLst>
              <a:ext uri="{FF2B5EF4-FFF2-40B4-BE49-F238E27FC236}">
                <a16:creationId xmlns:a16="http://schemas.microsoft.com/office/drawing/2014/main" id="{5B16DE53-D4DE-C70C-39F3-FC931AADA4B0}"/>
              </a:ext>
            </a:extLst>
          </p:cNvPr>
          <p:cNvSpPr txBox="1"/>
          <p:nvPr/>
        </p:nvSpPr>
        <p:spPr>
          <a:xfrm>
            <a:off x="6232074" y="4182833"/>
            <a:ext cx="121375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latin typeface="Reddit Sans"/>
              </a:rPr>
              <a:t>*Priorizar las mesas a </a:t>
            </a:r>
            <a:r>
              <a:rPr lang="es-CO" sz="600" err="1">
                <a:latin typeface="Reddit Sans"/>
              </a:rPr>
              <a:t>transicionar</a:t>
            </a:r>
            <a:endParaRPr lang="es-CO" sz="600">
              <a:latin typeface="Reddit Sans"/>
            </a:endParaRPr>
          </a:p>
        </p:txBody>
      </p:sp>
      <p:sp>
        <p:nvSpPr>
          <p:cNvPr id="181" name="Rounded Rectangle 21">
            <a:extLst>
              <a:ext uri="{FF2B5EF4-FFF2-40B4-BE49-F238E27FC236}">
                <a16:creationId xmlns:a16="http://schemas.microsoft.com/office/drawing/2014/main" id="{F257AA23-8634-C9B4-87B8-9993F08348BB}"/>
              </a:ext>
            </a:extLst>
          </p:cNvPr>
          <p:cNvSpPr/>
          <p:nvPr/>
        </p:nvSpPr>
        <p:spPr>
          <a:xfrm>
            <a:off x="7480544" y="4192628"/>
            <a:ext cx="1210654" cy="25734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82" name="CuadroTexto 181">
            <a:extLst>
              <a:ext uri="{FF2B5EF4-FFF2-40B4-BE49-F238E27FC236}">
                <a16:creationId xmlns:a16="http://schemas.microsoft.com/office/drawing/2014/main" id="{F6DF06AC-2B92-27BB-9E76-9C8C0E343E14}"/>
              </a:ext>
            </a:extLst>
          </p:cNvPr>
          <p:cNvSpPr txBox="1"/>
          <p:nvPr/>
        </p:nvSpPr>
        <p:spPr>
          <a:xfrm>
            <a:off x="7511141" y="4182831"/>
            <a:ext cx="126818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latin typeface="Reddit Sans"/>
                <a:ea typeface="Reddit Sans"/>
              </a:rPr>
              <a:t>*Iniciar creación plan de transición operación actual</a:t>
            </a:r>
            <a:endParaRPr lang="es-ES">
              <a:latin typeface="Reddit Sans"/>
              <a:ea typeface="Reddit Sans"/>
            </a:endParaRPr>
          </a:p>
        </p:txBody>
      </p:sp>
      <p:sp>
        <p:nvSpPr>
          <p:cNvPr id="185" name="Rounded Rectangle 25">
            <a:extLst>
              <a:ext uri="{FF2B5EF4-FFF2-40B4-BE49-F238E27FC236}">
                <a16:creationId xmlns:a16="http://schemas.microsoft.com/office/drawing/2014/main" id="{13BB3D3C-4DB4-2B26-0D9C-8236B9B00E2F}"/>
              </a:ext>
            </a:extLst>
          </p:cNvPr>
          <p:cNvSpPr/>
          <p:nvPr/>
        </p:nvSpPr>
        <p:spPr>
          <a:xfrm>
            <a:off x="4747251" y="2919000"/>
            <a:ext cx="569107" cy="208353"/>
          </a:xfrm>
          <a:prstGeom prst="roundRect">
            <a:avLst/>
          </a:prstGeom>
          <a:solidFill>
            <a:schemeClr val="accent6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700" kern="12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86" name="Rounded Rectangle 21">
            <a:extLst>
              <a:ext uri="{FF2B5EF4-FFF2-40B4-BE49-F238E27FC236}">
                <a16:creationId xmlns:a16="http://schemas.microsoft.com/office/drawing/2014/main" id="{69242A1A-CFCC-7241-9272-CB6D3310AD2C}"/>
              </a:ext>
            </a:extLst>
          </p:cNvPr>
          <p:cNvSpPr/>
          <p:nvPr/>
        </p:nvSpPr>
        <p:spPr>
          <a:xfrm>
            <a:off x="6909048" y="273774"/>
            <a:ext cx="241823" cy="132152"/>
          </a:xfrm>
          <a:prstGeom prst="roundRect">
            <a:avLst/>
          </a:prstGeom>
          <a:solidFill>
            <a:schemeClr val="accent6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>
              <a:solidFill>
                <a:srgbClr val="000000"/>
              </a:solidFill>
              <a:latin typeface="Reddit Sans"/>
              <a:ea typeface="Reddit Sans"/>
              <a:cs typeface="Arial"/>
            </a:endParaRPr>
          </a:p>
        </p:txBody>
      </p:sp>
      <p:sp>
        <p:nvSpPr>
          <p:cNvPr id="187" name="Rounded Rectangle 21">
            <a:extLst>
              <a:ext uri="{FF2B5EF4-FFF2-40B4-BE49-F238E27FC236}">
                <a16:creationId xmlns:a16="http://schemas.microsoft.com/office/drawing/2014/main" id="{08D6132C-C29E-E7B2-0106-9635E581A731}"/>
              </a:ext>
            </a:extLst>
          </p:cNvPr>
          <p:cNvSpPr/>
          <p:nvPr/>
        </p:nvSpPr>
        <p:spPr>
          <a:xfrm>
            <a:off x="6914492" y="431616"/>
            <a:ext cx="241821" cy="12126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89" name="CuadroTexto 188">
            <a:extLst>
              <a:ext uri="{FF2B5EF4-FFF2-40B4-BE49-F238E27FC236}">
                <a16:creationId xmlns:a16="http://schemas.microsoft.com/office/drawing/2014/main" id="{35C228B1-781B-BAD8-69B0-A7CCEFD1E869}"/>
              </a:ext>
            </a:extLst>
          </p:cNvPr>
          <p:cNvSpPr txBox="1"/>
          <p:nvPr/>
        </p:nvSpPr>
        <p:spPr>
          <a:xfrm>
            <a:off x="4751612" y="2887437"/>
            <a:ext cx="57150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latin typeface="Reddit Sans"/>
              </a:rPr>
              <a:t>Validación y feedback</a:t>
            </a:r>
          </a:p>
        </p:txBody>
      </p:sp>
      <p:sp>
        <p:nvSpPr>
          <p:cNvPr id="197" name="Estrella: 5 puntas 196">
            <a:extLst>
              <a:ext uri="{FF2B5EF4-FFF2-40B4-BE49-F238E27FC236}">
                <a16:creationId xmlns:a16="http://schemas.microsoft.com/office/drawing/2014/main" id="{464215F9-CEEA-62F0-BA84-D614981A3481}"/>
              </a:ext>
            </a:extLst>
          </p:cNvPr>
          <p:cNvSpPr/>
          <p:nvPr/>
        </p:nvSpPr>
        <p:spPr>
          <a:xfrm>
            <a:off x="5126082" y="215534"/>
            <a:ext cx="97972" cy="114301"/>
          </a:xfrm>
          <a:prstGeom prst="star5">
            <a:avLst/>
          </a:prstGeom>
          <a:solidFill>
            <a:schemeClr val="accent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latin typeface="Reddit Sans"/>
              <a:ea typeface="Reddit Sans"/>
            </a:endParaRPr>
          </a:p>
        </p:txBody>
      </p:sp>
      <p:sp>
        <p:nvSpPr>
          <p:cNvPr id="198" name="CuadroTexto 197">
            <a:extLst>
              <a:ext uri="{FF2B5EF4-FFF2-40B4-BE49-F238E27FC236}">
                <a16:creationId xmlns:a16="http://schemas.microsoft.com/office/drawing/2014/main" id="{C971DD1A-006B-5A36-179F-DADD98D62599}"/>
              </a:ext>
            </a:extLst>
          </p:cNvPr>
          <p:cNvSpPr txBox="1"/>
          <p:nvPr/>
        </p:nvSpPr>
        <p:spPr>
          <a:xfrm>
            <a:off x="5263245" y="165458"/>
            <a:ext cx="145323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700">
                <a:latin typeface="Reddit Sans"/>
                <a:ea typeface="Reddit Sans"/>
              </a:rPr>
              <a:t>Entrega incremental del servicio optimizado</a:t>
            </a:r>
            <a:endParaRPr lang="es-ES">
              <a:latin typeface="Reddit Sans"/>
              <a:ea typeface="Reddit Sans"/>
            </a:endParaRPr>
          </a:p>
        </p:txBody>
      </p:sp>
      <p:sp>
        <p:nvSpPr>
          <p:cNvPr id="204" name="Rounded Rectangle 21">
            <a:extLst>
              <a:ext uri="{FF2B5EF4-FFF2-40B4-BE49-F238E27FC236}">
                <a16:creationId xmlns:a16="http://schemas.microsoft.com/office/drawing/2014/main" id="{78627ABC-B033-ACB5-9116-D15DBA26E4D0}"/>
              </a:ext>
            </a:extLst>
          </p:cNvPr>
          <p:cNvSpPr/>
          <p:nvPr/>
        </p:nvSpPr>
        <p:spPr>
          <a:xfrm>
            <a:off x="6598808" y="3272789"/>
            <a:ext cx="628266" cy="279108"/>
          </a:xfrm>
          <a:prstGeom prst="roundRect">
            <a:avLst/>
          </a:prstGeom>
          <a:solidFill>
            <a:schemeClr val="accent6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r>
              <a:rPr lang="es-ES" sz="600" kern="1200">
                <a:solidFill>
                  <a:srgbClr val="000000"/>
                </a:solidFill>
                <a:latin typeface="Reddit Sans"/>
                <a:ea typeface="Reddit Sans"/>
              </a:rPr>
              <a:t>Validación y  evolución del servicio</a:t>
            </a:r>
            <a:endParaRPr lang="es-ES">
              <a:latin typeface="Reddit Sans"/>
              <a:ea typeface="Reddit Sans"/>
            </a:endParaRPr>
          </a:p>
        </p:txBody>
      </p:sp>
      <p:sp>
        <p:nvSpPr>
          <p:cNvPr id="207" name="Rounded Rectangle 21">
            <a:extLst>
              <a:ext uri="{FF2B5EF4-FFF2-40B4-BE49-F238E27FC236}">
                <a16:creationId xmlns:a16="http://schemas.microsoft.com/office/drawing/2014/main" id="{354F3CF7-3B44-4804-4507-4688F15B07CD}"/>
              </a:ext>
            </a:extLst>
          </p:cNvPr>
          <p:cNvSpPr/>
          <p:nvPr/>
        </p:nvSpPr>
        <p:spPr>
          <a:xfrm>
            <a:off x="7496869" y="2810138"/>
            <a:ext cx="1074586" cy="3661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208" name="CuadroTexto 207">
            <a:extLst>
              <a:ext uri="{FF2B5EF4-FFF2-40B4-BE49-F238E27FC236}">
                <a16:creationId xmlns:a16="http://schemas.microsoft.com/office/drawing/2014/main" id="{E7E92352-92D2-B042-D209-2B6C74FD0871}"/>
              </a:ext>
            </a:extLst>
          </p:cNvPr>
          <p:cNvSpPr txBox="1"/>
          <p:nvPr/>
        </p:nvSpPr>
        <p:spPr>
          <a:xfrm>
            <a:off x="7505698" y="2833002"/>
            <a:ext cx="1137559" cy="3693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latin typeface="Reddit Sans"/>
                <a:ea typeface="Reddit Sans"/>
              </a:rPr>
              <a:t>Inicio actualización del servicio en la herramienta de procesos</a:t>
            </a:r>
            <a:endParaRPr lang="es-ES" err="1">
              <a:latin typeface="Reddit Sans"/>
              <a:ea typeface="Reddit Sans"/>
            </a:endParaRPr>
          </a:p>
        </p:txBody>
      </p:sp>
      <p:sp>
        <p:nvSpPr>
          <p:cNvPr id="3" name="Rounded Rectangle 21">
            <a:extLst>
              <a:ext uri="{FF2B5EF4-FFF2-40B4-BE49-F238E27FC236}">
                <a16:creationId xmlns:a16="http://schemas.microsoft.com/office/drawing/2014/main" id="{A538B210-777B-CFB2-08B8-4F56103C285D}"/>
              </a:ext>
            </a:extLst>
          </p:cNvPr>
          <p:cNvSpPr/>
          <p:nvPr/>
        </p:nvSpPr>
        <p:spPr>
          <a:xfrm>
            <a:off x="6914492" y="600344"/>
            <a:ext cx="241820" cy="12126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CO" sz="600" kern="1200">
              <a:solidFill>
                <a:srgbClr val="000000"/>
              </a:solidFill>
              <a:latin typeface="Reddit Sans"/>
              <a:ea typeface="Reddit Sans"/>
              <a:cs typeface="Arial"/>
            </a:endParaRPr>
          </a:p>
        </p:txBody>
      </p:sp>
      <p:sp>
        <p:nvSpPr>
          <p:cNvPr id="6" name="Estrella: 5 puntas 5">
            <a:extLst>
              <a:ext uri="{FF2B5EF4-FFF2-40B4-BE49-F238E27FC236}">
                <a16:creationId xmlns:a16="http://schemas.microsoft.com/office/drawing/2014/main" id="{62C9E1E2-2A0A-DDA0-313C-D4063CC24BD9}"/>
              </a:ext>
            </a:extLst>
          </p:cNvPr>
          <p:cNvSpPr/>
          <p:nvPr/>
        </p:nvSpPr>
        <p:spPr>
          <a:xfrm>
            <a:off x="3182982" y="1461948"/>
            <a:ext cx="97972" cy="114301"/>
          </a:xfrm>
          <a:prstGeom prst="star5">
            <a:avLst/>
          </a:prstGeom>
          <a:solidFill>
            <a:schemeClr val="accent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latin typeface="Reddit Sans"/>
              <a:ea typeface="Reddit Sans"/>
            </a:endParaRPr>
          </a:p>
        </p:txBody>
      </p:sp>
      <p:sp>
        <p:nvSpPr>
          <p:cNvPr id="7" name="Estrella: 5 puntas 6">
            <a:extLst>
              <a:ext uri="{FF2B5EF4-FFF2-40B4-BE49-F238E27FC236}">
                <a16:creationId xmlns:a16="http://schemas.microsoft.com/office/drawing/2014/main" id="{F4F32DF4-F537-1FC7-522F-C37FCC299D4C}"/>
              </a:ext>
            </a:extLst>
          </p:cNvPr>
          <p:cNvSpPr/>
          <p:nvPr/>
        </p:nvSpPr>
        <p:spPr>
          <a:xfrm>
            <a:off x="4930139" y="1461948"/>
            <a:ext cx="97972" cy="114301"/>
          </a:xfrm>
          <a:prstGeom prst="star5">
            <a:avLst/>
          </a:prstGeom>
          <a:solidFill>
            <a:schemeClr val="accent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latin typeface="Reddit Sans"/>
              <a:ea typeface="Reddit Sans"/>
            </a:endParaRPr>
          </a:p>
        </p:txBody>
      </p:sp>
      <p:sp>
        <p:nvSpPr>
          <p:cNvPr id="8" name="Estrella: 5 puntas 7">
            <a:extLst>
              <a:ext uri="{FF2B5EF4-FFF2-40B4-BE49-F238E27FC236}">
                <a16:creationId xmlns:a16="http://schemas.microsoft.com/office/drawing/2014/main" id="{C99ADC09-5820-8259-469E-293F5061C063}"/>
              </a:ext>
            </a:extLst>
          </p:cNvPr>
          <p:cNvSpPr/>
          <p:nvPr/>
        </p:nvSpPr>
        <p:spPr>
          <a:xfrm>
            <a:off x="6748053" y="1478276"/>
            <a:ext cx="97972" cy="114301"/>
          </a:xfrm>
          <a:prstGeom prst="star5">
            <a:avLst/>
          </a:prstGeom>
          <a:solidFill>
            <a:schemeClr val="accent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latin typeface="Reddit Sans"/>
              <a:ea typeface="Reddit Sans"/>
            </a:endParaRPr>
          </a:p>
        </p:txBody>
      </p:sp>
      <p:grpSp>
        <p:nvGrpSpPr>
          <p:cNvPr id="44" name="Grupo 43">
            <a:extLst>
              <a:ext uri="{FF2B5EF4-FFF2-40B4-BE49-F238E27FC236}">
                <a16:creationId xmlns:a16="http://schemas.microsoft.com/office/drawing/2014/main" id="{6FFDA85E-B72E-D0F4-3B05-5F146D411815}"/>
              </a:ext>
            </a:extLst>
          </p:cNvPr>
          <p:cNvGrpSpPr/>
          <p:nvPr/>
        </p:nvGrpSpPr>
        <p:grpSpPr>
          <a:xfrm>
            <a:off x="369335" y="1625669"/>
            <a:ext cx="1104897" cy="609244"/>
            <a:chOff x="369335" y="1625669"/>
            <a:chExt cx="1104897" cy="609244"/>
          </a:xfrm>
        </p:grpSpPr>
        <p:sp>
          <p:nvSpPr>
            <p:cNvPr id="13" name="OTLSHAPE_SL_79f05e8de72e4cc385fce875fa65517f_HeaderRectangle">
              <a:extLst>
                <a:ext uri="{FF2B5EF4-FFF2-40B4-BE49-F238E27FC236}">
                  <a16:creationId xmlns:a16="http://schemas.microsoft.com/office/drawing/2014/main" id="{E3D8032F-2E8E-4EA2-DA09-3602227C831B}"/>
                </a:ext>
              </a:extLst>
            </p:cNvPr>
            <p:cNvSpPr/>
            <p:nvPr/>
          </p:nvSpPr>
          <p:spPr>
            <a:xfrm>
              <a:off x="369335" y="1625669"/>
              <a:ext cx="1104897" cy="60924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>
              <a:miter lim="400000"/>
            </a:ln>
          </p:spPr>
          <p:txBody>
            <a:bodyPr lIns="34289" rIns="34289" anchor="ctr"/>
            <a:lstStyle>
              <a:defPPr>
                <a:defRPr lang="es-CO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>
                  <a:solidFill>
                    <a:srgbClr val="FFFFFF"/>
                  </a:solidFill>
                </a:defRPr>
              </a:pPr>
              <a:endParaRPr sz="1013">
                <a:latin typeface="Reddit Sans"/>
                <a:ea typeface="Reddit Sans"/>
              </a:endParaRP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91FDAEE1-4DA3-FE50-6199-004E909D4174}"/>
                </a:ext>
              </a:extLst>
            </p:cNvPr>
            <p:cNvSpPr txBox="1"/>
            <p:nvPr/>
          </p:nvSpPr>
          <p:spPr>
            <a:xfrm>
              <a:off x="460566" y="1730827"/>
              <a:ext cx="927777" cy="415498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algn="ctr" defTabSz="342900">
                <a:buClrTx/>
                <a:defRPr sz="1300" b="1">
                  <a:solidFill>
                    <a:srgbClr val="3C3C3C"/>
                  </a:solidFill>
                </a:defRPr>
              </a:pPr>
              <a:r>
                <a:rPr lang="es-CO" sz="700" b="1">
                  <a:latin typeface="Reddit Sans"/>
                  <a:ea typeface="Reddit Sans"/>
                </a:rPr>
                <a:t>Evaluación inicial de la operación y el mercado</a:t>
              </a:r>
            </a:p>
          </p:txBody>
        </p:sp>
      </p:grp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E760ADA-0672-AFB1-9D9C-E4FDDFF93795}"/>
              </a:ext>
            </a:extLst>
          </p:cNvPr>
          <p:cNvSpPr/>
          <p:nvPr/>
        </p:nvSpPr>
        <p:spPr>
          <a:xfrm>
            <a:off x="2810574" y="1950173"/>
            <a:ext cx="742568" cy="300883"/>
          </a:xfrm>
          <a:prstGeom prst="roundRect">
            <a:avLst/>
          </a:prstGeom>
          <a:solidFill>
            <a:schemeClr val="accent6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6B7E8F6-4C9F-CD3A-6BD9-EECDBAC34F88}"/>
              </a:ext>
            </a:extLst>
          </p:cNvPr>
          <p:cNvSpPr txBox="1"/>
          <p:nvPr/>
        </p:nvSpPr>
        <p:spPr>
          <a:xfrm>
            <a:off x="2808511" y="1907720"/>
            <a:ext cx="83820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 err="1">
                <a:latin typeface="Reddit Sans"/>
                <a:ea typeface="Reddit Sans"/>
              </a:rPr>
              <a:t>Alineac</a:t>
            </a:r>
            <a:r>
              <a:rPr lang="es-ES" sz="600">
                <a:latin typeface="Reddit Sans"/>
                <a:ea typeface="Reddit Sans"/>
              </a:rPr>
              <a:t>ión de </a:t>
            </a:r>
            <a:r>
              <a:rPr lang="es-ES" sz="600" err="1">
                <a:latin typeface="Reddit Sans"/>
                <a:ea typeface="Reddit Sans"/>
              </a:rPr>
              <a:t>espectivas</a:t>
            </a:r>
            <a:r>
              <a:rPr lang="es-ES" sz="600">
                <a:latin typeface="Reddit Sans"/>
                <a:ea typeface="Reddit Sans"/>
              </a:rPr>
              <a:t> servicio nuevo</a:t>
            </a:r>
            <a:endParaRPr lang="es-ES">
              <a:latin typeface="Reddit Sans"/>
              <a:ea typeface="Reddit Sans"/>
            </a:endParaRP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04ACA115-4C5F-9C6D-E748-96D27275F808}"/>
              </a:ext>
            </a:extLst>
          </p:cNvPr>
          <p:cNvCxnSpPr>
            <a:cxnSpLocks/>
          </p:cNvCxnSpPr>
          <p:nvPr/>
        </p:nvCxnSpPr>
        <p:spPr>
          <a:xfrm flipV="1">
            <a:off x="1529442" y="2215242"/>
            <a:ext cx="6949622" cy="31751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21">
            <a:extLst>
              <a:ext uri="{FF2B5EF4-FFF2-40B4-BE49-F238E27FC236}">
                <a16:creationId xmlns:a16="http://schemas.microsoft.com/office/drawing/2014/main" id="{371BF19F-E47E-7575-0699-8DB276917E27}"/>
              </a:ext>
            </a:extLst>
          </p:cNvPr>
          <p:cNvSpPr/>
          <p:nvPr/>
        </p:nvSpPr>
        <p:spPr>
          <a:xfrm>
            <a:off x="3387516" y="2260414"/>
            <a:ext cx="758898" cy="33353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D50FAD2C-E0ED-A90A-C5AD-43EBE9565C7C}"/>
              </a:ext>
            </a:extLst>
          </p:cNvPr>
          <p:cNvSpPr txBox="1"/>
          <p:nvPr/>
        </p:nvSpPr>
        <p:spPr>
          <a:xfrm>
            <a:off x="3412664" y="2256059"/>
            <a:ext cx="767445" cy="3693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latin typeface="Reddit Sans"/>
                <a:ea typeface="Reddit Sans"/>
              </a:rPr>
              <a:t>Definir modelo de Niveles de servicio</a:t>
            </a:r>
            <a:endParaRPr lang="es-ES">
              <a:latin typeface="Reddit Sans"/>
              <a:ea typeface="Reddit Sans"/>
            </a:endParaRPr>
          </a:p>
        </p:txBody>
      </p:sp>
      <p:sp>
        <p:nvSpPr>
          <p:cNvPr id="50" name="Rounded Rectangle 21">
            <a:extLst>
              <a:ext uri="{FF2B5EF4-FFF2-40B4-BE49-F238E27FC236}">
                <a16:creationId xmlns:a16="http://schemas.microsoft.com/office/drawing/2014/main" id="{F60CA91B-051E-48FA-30E4-EA0E6677BBDE}"/>
              </a:ext>
            </a:extLst>
          </p:cNvPr>
          <p:cNvSpPr/>
          <p:nvPr/>
        </p:nvSpPr>
        <p:spPr>
          <a:xfrm>
            <a:off x="4236603" y="2260415"/>
            <a:ext cx="1036481" cy="33353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C18EC99-AC6B-CC22-50D0-2E0A5395F4FD}"/>
              </a:ext>
            </a:extLst>
          </p:cNvPr>
          <p:cNvSpPr txBox="1"/>
          <p:nvPr/>
        </p:nvSpPr>
        <p:spPr>
          <a:xfrm>
            <a:off x="4223652" y="2261502"/>
            <a:ext cx="1055918" cy="3693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latin typeface="Reddit Sans"/>
                <a:ea typeface="Reddit Sans"/>
              </a:rPr>
              <a:t>Definir modelo operativo de alto nivel (hibrido) - funcional</a:t>
            </a:r>
            <a:endParaRPr lang="es-ES">
              <a:latin typeface="Reddit Sans"/>
              <a:ea typeface="Reddit Sans"/>
            </a:endParaRPr>
          </a:p>
        </p:txBody>
      </p:sp>
      <p:sp>
        <p:nvSpPr>
          <p:cNvPr id="175" name="CuadroTexto 174">
            <a:extLst>
              <a:ext uri="{FF2B5EF4-FFF2-40B4-BE49-F238E27FC236}">
                <a16:creationId xmlns:a16="http://schemas.microsoft.com/office/drawing/2014/main" id="{BB1C42E6-881A-D8F5-CAFF-E0E57A259397}"/>
              </a:ext>
            </a:extLst>
          </p:cNvPr>
          <p:cNvSpPr txBox="1"/>
          <p:nvPr/>
        </p:nvSpPr>
        <p:spPr>
          <a:xfrm>
            <a:off x="6221185" y="2947302"/>
            <a:ext cx="1017816" cy="37477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latin typeface="Reddit Sans"/>
                <a:ea typeface="Reddit Sans"/>
              </a:rPr>
              <a:t>Piloto herramientas </a:t>
            </a:r>
            <a:r>
              <a:rPr lang="es-ES" sz="600" err="1">
                <a:latin typeface="Reddit Sans"/>
                <a:ea typeface="Reddit Sans"/>
              </a:rPr>
              <a:t>dashboards</a:t>
            </a:r>
            <a:r>
              <a:rPr lang="es-ES" sz="600">
                <a:latin typeface="Reddit Sans"/>
                <a:ea typeface="Reddit Sans"/>
              </a:rPr>
              <a:t> ejecutivos para </a:t>
            </a:r>
            <a:r>
              <a:rPr lang="es-ES" sz="600" err="1">
                <a:latin typeface="Reddit Sans"/>
                <a:ea typeface="Reddit Sans"/>
              </a:rPr>
              <a:t>PersonalSoft</a:t>
            </a:r>
            <a:endParaRPr lang="es-ES" err="1">
              <a:latin typeface="Reddit Sans"/>
              <a:ea typeface="Reddit Sans"/>
            </a:endParaRPr>
          </a:p>
        </p:txBody>
      </p:sp>
      <p:sp>
        <p:nvSpPr>
          <p:cNvPr id="2" name="Estrella: 5 puntas 1">
            <a:extLst>
              <a:ext uri="{FF2B5EF4-FFF2-40B4-BE49-F238E27FC236}">
                <a16:creationId xmlns:a16="http://schemas.microsoft.com/office/drawing/2014/main" id="{B8FAE66B-99D4-F1B4-2648-8255BABF4C0F}"/>
              </a:ext>
            </a:extLst>
          </p:cNvPr>
          <p:cNvSpPr/>
          <p:nvPr/>
        </p:nvSpPr>
        <p:spPr>
          <a:xfrm>
            <a:off x="8397239" y="1461948"/>
            <a:ext cx="97972" cy="114301"/>
          </a:xfrm>
          <a:prstGeom prst="star5">
            <a:avLst/>
          </a:prstGeom>
          <a:solidFill>
            <a:schemeClr val="accent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latin typeface="Reddit Sans"/>
              <a:ea typeface="Reddit Sans"/>
            </a:endParaRPr>
          </a:p>
        </p:txBody>
      </p:sp>
      <p:sp>
        <p:nvSpPr>
          <p:cNvPr id="5" name="Rounded Rectangle 21">
            <a:extLst>
              <a:ext uri="{FF2B5EF4-FFF2-40B4-BE49-F238E27FC236}">
                <a16:creationId xmlns:a16="http://schemas.microsoft.com/office/drawing/2014/main" id="{F9B99828-2D07-8A72-6CA7-9E3531082954}"/>
              </a:ext>
            </a:extLst>
          </p:cNvPr>
          <p:cNvSpPr/>
          <p:nvPr/>
        </p:nvSpPr>
        <p:spPr>
          <a:xfrm>
            <a:off x="5357830" y="2254973"/>
            <a:ext cx="1188883" cy="33353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kern="12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9D15E50-5117-F19C-BD5E-5029639E80A9}"/>
              </a:ext>
            </a:extLst>
          </p:cNvPr>
          <p:cNvSpPr txBox="1"/>
          <p:nvPr/>
        </p:nvSpPr>
        <p:spPr>
          <a:xfrm>
            <a:off x="5393863" y="2288715"/>
            <a:ext cx="1121233" cy="27699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latin typeface="Reddit Sans"/>
                <a:ea typeface="Reddit Sans"/>
              </a:rPr>
              <a:t>Definir modelo operativo de alto nivel - </a:t>
            </a:r>
            <a:r>
              <a:rPr lang="es-ES" sz="600" err="1">
                <a:latin typeface="Reddit Sans"/>
                <a:ea typeface="Reddit Sans"/>
              </a:rPr>
              <a:t>operació</a:t>
            </a:r>
            <a:r>
              <a:rPr lang="es-ES" sz="600">
                <a:latin typeface="Reddit Sans"/>
                <a:ea typeface="Reddit Sans"/>
              </a:rPr>
              <a:t>n</a:t>
            </a:r>
          </a:p>
        </p:txBody>
      </p:sp>
      <p:sp>
        <p:nvSpPr>
          <p:cNvPr id="9" name="Rounded Rectangle 25">
            <a:extLst>
              <a:ext uri="{FF2B5EF4-FFF2-40B4-BE49-F238E27FC236}">
                <a16:creationId xmlns:a16="http://schemas.microsoft.com/office/drawing/2014/main" id="{37882BB2-7745-6B2C-47FA-247DABAAA7A1}"/>
              </a:ext>
            </a:extLst>
          </p:cNvPr>
          <p:cNvSpPr/>
          <p:nvPr/>
        </p:nvSpPr>
        <p:spPr>
          <a:xfrm>
            <a:off x="8366751" y="3708215"/>
            <a:ext cx="552778" cy="37163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342900"/>
            <a:endParaRPr lang="es-ES" sz="600" b="1" kern="12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41FB8C1-F80B-2D3D-533D-BC99790B6FDC}"/>
              </a:ext>
            </a:extLst>
          </p:cNvPr>
          <p:cNvSpPr txBox="1"/>
          <p:nvPr/>
        </p:nvSpPr>
        <p:spPr>
          <a:xfrm>
            <a:off x="8365671" y="3682090"/>
            <a:ext cx="67491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>
                <a:latin typeface="Reddit Sans"/>
                <a:ea typeface="Reddit Sans"/>
              </a:rPr>
              <a:t>*Inicio habilitación clientes actuales</a:t>
            </a:r>
            <a:endParaRPr lang="es-ES">
              <a:latin typeface="Reddit Sans"/>
              <a:ea typeface="Reddit Sans"/>
            </a:endParaRPr>
          </a:p>
        </p:txBody>
      </p:sp>
      <p:sp>
        <p:nvSpPr>
          <p:cNvPr id="12" name="modelo reactivo">
            <a:extLst>
              <a:ext uri="{FF2B5EF4-FFF2-40B4-BE49-F238E27FC236}">
                <a16:creationId xmlns:a16="http://schemas.microsoft.com/office/drawing/2014/main" id="{45ADD8BD-740F-64F3-D7D6-539EBEB8C081}"/>
              </a:ext>
            </a:extLst>
          </p:cNvPr>
          <p:cNvSpPr txBox="1"/>
          <p:nvPr/>
        </p:nvSpPr>
        <p:spPr>
          <a:xfrm>
            <a:off x="6917872" y="941614"/>
            <a:ext cx="1577980" cy="2884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91425" tIns="91425" rIns="91425" bIns="91425" anchor="ctr"/>
          <a:lstStyle/>
          <a:p>
            <a:pPr algn="ctr"/>
            <a:r>
              <a:rPr lang="es" sz="800" b="1">
                <a:solidFill>
                  <a:srgbClr val="633806"/>
                </a:solidFill>
                <a:latin typeface="Reddit Sans"/>
                <a:ea typeface="Reddit Sans"/>
              </a:rPr>
              <a:t>Transición de los Servicios Reactivos</a:t>
            </a:r>
          </a:p>
        </p:txBody>
      </p:sp>
      <p:sp>
        <p:nvSpPr>
          <p:cNvPr id="20" name="modelo predictivo">
            <a:extLst>
              <a:ext uri="{FF2B5EF4-FFF2-40B4-BE49-F238E27FC236}">
                <a16:creationId xmlns:a16="http://schemas.microsoft.com/office/drawing/2014/main" id="{F39ACAF5-7AA3-47E3-D075-69EC11A6DB0B}"/>
              </a:ext>
            </a:extLst>
          </p:cNvPr>
          <p:cNvSpPr txBox="1"/>
          <p:nvPr/>
        </p:nvSpPr>
        <p:spPr>
          <a:xfrm>
            <a:off x="5059136" y="941615"/>
            <a:ext cx="1850123" cy="28847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1425" tIns="91425" rIns="91425" bIns="91425" anchor="ctr"/>
          <a:lstStyle/>
          <a:p>
            <a:pPr algn="ctr">
              <a:buNone/>
            </a:pPr>
            <a:r>
              <a:rPr lang="es" sz="800" b="1">
                <a:solidFill>
                  <a:srgbClr val="0E337C"/>
                </a:solidFill>
                <a:latin typeface="Reddit Sans"/>
                <a:ea typeface="Reddit Sans"/>
              </a:rPr>
              <a:t>Predictivo y Evolutivo</a:t>
            </a:r>
          </a:p>
        </p:txBody>
      </p:sp>
      <p:sp>
        <p:nvSpPr>
          <p:cNvPr id="24" name="modelo autonomo">
            <a:extLst>
              <a:ext uri="{FF2B5EF4-FFF2-40B4-BE49-F238E27FC236}">
                <a16:creationId xmlns:a16="http://schemas.microsoft.com/office/drawing/2014/main" id="{E3B39F12-F70E-0DC7-D6DD-8387EAF488C8}"/>
              </a:ext>
            </a:extLst>
          </p:cNvPr>
          <p:cNvSpPr txBox="1"/>
          <p:nvPr/>
        </p:nvSpPr>
        <p:spPr>
          <a:xfrm>
            <a:off x="1534886" y="941615"/>
            <a:ext cx="3505502" cy="288472"/>
          </a:xfrm>
          <a:prstGeom prst="rect">
            <a:avLst/>
          </a:prstGeom>
          <a:solidFill>
            <a:srgbClr val="215578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lIns="91425" tIns="91425" rIns="91425" bIns="91425" anchor="ctr"/>
          <a:lstStyle/>
          <a:p>
            <a:pPr algn="ctr"/>
            <a:r>
              <a:rPr lang="es" sz="800" b="1">
                <a:solidFill>
                  <a:schemeClr val="bg1"/>
                </a:solidFill>
                <a:latin typeface="Reddit Sans"/>
                <a:ea typeface="Reddit Sans"/>
              </a:rPr>
              <a:t>Diseño del Servicio Optimo (Autónomo e Inteligente)</a:t>
            </a:r>
            <a:endParaRPr lang="es" sz="800" b="1">
              <a:solidFill>
                <a:schemeClr val="bg1"/>
              </a:solidFill>
              <a:latin typeface="Reddit Sans"/>
              <a:ea typeface="Reddit Sans"/>
              <a:cs typeface="Arial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B4CB287-F766-C906-9C52-4A08CCF3DCA4}"/>
              </a:ext>
            </a:extLst>
          </p:cNvPr>
          <p:cNvSpPr txBox="1"/>
          <p:nvPr/>
        </p:nvSpPr>
        <p:spPr>
          <a:xfrm>
            <a:off x="7108371" y="73477"/>
            <a:ext cx="1453244" cy="1846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 b="0" i="0" u="none" strike="noStrike" baseline="0">
                <a:solidFill>
                  <a:srgbClr val="000000"/>
                </a:solidFill>
                <a:latin typeface="Reddit Sans"/>
              </a:rPr>
              <a:t>Historias de usuario servicio optimo</a:t>
            </a:r>
            <a:r>
              <a:rPr sz="600" b="0" i="0">
                <a:solidFill>
                  <a:srgbClr val="000000"/>
                </a:solidFill>
                <a:latin typeface="Reddit Sans"/>
                <a:ea typeface="Reddit Sans"/>
                <a:cs typeface="Reddit Sans"/>
              </a:rPr>
              <a:t>​</a:t>
            </a:r>
            <a:endParaRPr lang="es-ES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3B7FB45E-6F33-7855-0C6A-FE7BC99FEC38}"/>
              </a:ext>
            </a:extLst>
          </p:cNvPr>
          <p:cNvSpPr txBox="1"/>
          <p:nvPr/>
        </p:nvSpPr>
        <p:spPr>
          <a:xfrm>
            <a:off x="7113814" y="225880"/>
            <a:ext cx="1534886" cy="1846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 b="0" i="0" u="none" strike="noStrike" baseline="0">
                <a:solidFill>
                  <a:srgbClr val="000000"/>
                </a:solidFill>
                <a:latin typeface="Reddit Sans"/>
              </a:rPr>
              <a:t>Validación y </a:t>
            </a:r>
            <a:r>
              <a:rPr lang="es-ES" sz="600" b="0" i="0" u="none" strike="noStrike" baseline="0" err="1">
                <a:solidFill>
                  <a:srgbClr val="000000"/>
                </a:solidFill>
                <a:latin typeface="Reddit Sans"/>
              </a:rPr>
              <a:t>feedback</a:t>
            </a:r>
            <a:r>
              <a:rPr lang="es-ES" sz="600" b="0" i="0" u="none" strike="noStrike" baseline="0">
                <a:solidFill>
                  <a:srgbClr val="000000"/>
                </a:solidFill>
                <a:latin typeface="Reddit Sans"/>
              </a:rPr>
              <a:t> del servicio</a:t>
            </a:r>
            <a:r>
              <a:rPr sz="600" b="0" i="0">
                <a:solidFill>
                  <a:srgbClr val="000000"/>
                </a:solidFill>
                <a:latin typeface="Reddit Sans"/>
                <a:ea typeface="Reddit Sans"/>
                <a:cs typeface="Reddit Sans"/>
              </a:rPr>
              <a:t>​</a:t>
            </a:r>
            <a:endParaRPr lang="es-ES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717DA2C6-2641-B97F-F306-9EA565DDE8CA}"/>
              </a:ext>
            </a:extLst>
          </p:cNvPr>
          <p:cNvSpPr txBox="1"/>
          <p:nvPr/>
        </p:nvSpPr>
        <p:spPr>
          <a:xfrm>
            <a:off x="7108371" y="405494"/>
            <a:ext cx="1703616" cy="1846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 b="0" i="0" u="none" strike="noStrike" baseline="0">
                <a:solidFill>
                  <a:srgbClr val="000000"/>
                </a:solidFill>
                <a:latin typeface="Reddit Sans"/>
              </a:rPr>
              <a:t>Habilitaciones equipo comercial y operación</a:t>
            </a:r>
            <a:r>
              <a:rPr sz="600" b="0" i="0">
                <a:solidFill>
                  <a:srgbClr val="000000"/>
                </a:solidFill>
                <a:latin typeface="Reddit Sans"/>
                <a:ea typeface="Reddit Sans"/>
                <a:cs typeface="Reddit Sans"/>
              </a:rPr>
              <a:t>​</a:t>
            </a:r>
            <a:endParaRPr lang="es-ES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E37C5EDD-562B-C011-62B5-EF2727FB1B83}"/>
              </a:ext>
            </a:extLst>
          </p:cNvPr>
          <p:cNvSpPr txBox="1"/>
          <p:nvPr/>
        </p:nvSpPr>
        <p:spPr>
          <a:xfrm>
            <a:off x="7108372" y="563336"/>
            <a:ext cx="1387929" cy="1846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600" b="0" i="0" u="none" strike="noStrike" baseline="0">
                <a:solidFill>
                  <a:srgbClr val="000000"/>
                </a:solidFill>
                <a:latin typeface="Reddit Sans"/>
              </a:rPr>
              <a:t>Transición operación actual</a:t>
            </a:r>
            <a:r>
              <a:rPr sz="600" b="0" i="0">
                <a:solidFill>
                  <a:srgbClr val="000000"/>
                </a:solidFill>
                <a:latin typeface="Reddit Sans"/>
                <a:ea typeface="Reddit Sans"/>
                <a:cs typeface="Reddit Sans"/>
              </a:rPr>
              <a:t>​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585394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88EA4-9536-D92A-FAD3-5FFC7AF74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4641B8E2-AC66-2A31-D14C-E9F1D7EE5A03}"/>
              </a:ext>
            </a:extLst>
          </p:cNvPr>
          <p:cNvSpPr txBox="1"/>
          <p:nvPr/>
        </p:nvSpPr>
        <p:spPr>
          <a:xfrm>
            <a:off x="332015" y="873578"/>
            <a:ext cx="4572000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600" b="1" i="0" u="none" strike="noStrike" baseline="0">
                <a:solidFill>
                  <a:srgbClr val="0E337C"/>
                </a:solidFill>
                <a:latin typeface="Reddit Sans"/>
              </a:rPr>
              <a:t>Entregables</a:t>
            </a:r>
            <a:endParaRPr lang="es-ES"/>
          </a:p>
          <a:p>
            <a:pPr algn="ctr"/>
            <a:endParaRPr lang="es-ES"/>
          </a:p>
        </p:txBody>
      </p:sp>
      <p:cxnSp>
        <p:nvCxnSpPr>
          <p:cNvPr id="7" name="Google Shape;179;g3657f5ba65c_1_33">
            <a:extLst>
              <a:ext uri="{FF2B5EF4-FFF2-40B4-BE49-F238E27FC236}">
                <a16:creationId xmlns:a16="http://schemas.microsoft.com/office/drawing/2014/main" id="{E6FA17E1-EF69-D12E-C503-E3D9AA4767AF}"/>
              </a:ext>
            </a:extLst>
          </p:cNvPr>
          <p:cNvCxnSpPr/>
          <p:nvPr/>
        </p:nvCxnSpPr>
        <p:spPr>
          <a:xfrm rot="10800000" flipH="1">
            <a:off x="394425" y="824004"/>
            <a:ext cx="8103300" cy="28800"/>
          </a:xfrm>
          <a:prstGeom prst="straightConnector1">
            <a:avLst/>
          </a:prstGeom>
          <a:noFill/>
          <a:ln w="19050" cap="flat" cmpd="sng">
            <a:solidFill>
              <a:srgbClr val="0E337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76;g3657f5ba65c_1_33">
            <a:extLst>
              <a:ext uri="{FF2B5EF4-FFF2-40B4-BE49-F238E27FC236}">
                <a16:creationId xmlns:a16="http://schemas.microsoft.com/office/drawing/2014/main" id="{A475C892-4D38-DA7C-4F25-6E45B1F622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9690" y="183768"/>
            <a:ext cx="5554885" cy="6162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s-ES" err="1"/>
              <a:t>Roadmap</a:t>
            </a:r>
            <a:r>
              <a:rPr lang="es-ES"/>
              <a:t> </a:t>
            </a:r>
            <a:r>
              <a:rPr lang="es-ES" u="sng"/>
              <a:t>Detallado </a:t>
            </a:r>
            <a:r>
              <a:rPr lang="es-ES"/>
              <a:t>Mesa de Servicios de Nueva Generación</a:t>
            </a:r>
            <a:br>
              <a:rPr lang="es-ES"/>
            </a:br>
            <a:r>
              <a:rPr lang="es-ES" sz="1400" b="0"/>
              <a:t>Servicio Optimo y Estandarizado</a:t>
            </a:r>
            <a:endParaRPr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550BBAD-2BE0-02C6-E657-DB3053B74EC0}"/>
              </a:ext>
            </a:extLst>
          </p:cNvPr>
          <p:cNvSpPr txBox="1"/>
          <p:nvPr/>
        </p:nvSpPr>
        <p:spPr>
          <a:xfrm>
            <a:off x="332011" y="1249132"/>
            <a:ext cx="707576" cy="7540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600" i="1">
                <a:solidFill>
                  <a:srgbClr val="00717D"/>
                </a:solidFill>
              </a:rPr>
              <a:t>Modelos</a:t>
            </a:r>
            <a:r>
              <a:rPr lang="es-ES" sz="600" i="1" u="none" strike="noStrike" baseline="0">
                <a:solidFill>
                  <a:srgbClr val="00717D"/>
                </a:solidFill>
              </a:rPr>
              <a:t> </a:t>
            </a:r>
            <a:r>
              <a:rPr lang="es-ES" sz="600" i="1">
                <a:solidFill>
                  <a:srgbClr val="00717D"/>
                </a:solidFill>
              </a:rPr>
              <a:t>de entrega de las Mesas de Servicio de Nueva Generación </a:t>
            </a:r>
            <a:endParaRPr lang="es-ES" sz="600"/>
          </a:p>
          <a:p>
            <a:pPr algn="ctr"/>
            <a:endParaRPr lang="es-ES" sz="700" b="1">
              <a:solidFill>
                <a:schemeClr val="accent5">
                  <a:lumMod val="76000"/>
                </a:schemeClr>
              </a:solidFill>
              <a:ea typeface="Reddit Sans"/>
            </a:endParaRPr>
          </a:p>
        </p:txBody>
      </p:sp>
      <p:sp>
        <p:nvSpPr>
          <p:cNvPr id="29" name="OTLSHAPE_TB_00000000000000000000000000000000_ScaleContainer">
            <a:extLst>
              <a:ext uri="{FF2B5EF4-FFF2-40B4-BE49-F238E27FC236}">
                <a16:creationId xmlns:a16="http://schemas.microsoft.com/office/drawing/2014/main" id="{19F34074-72D7-4A57-1D14-6426BCABDA56}"/>
              </a:ext>
            </a:extLst>
          </p:cNvPr>
          <p:cNvSpPr/>
          <p:nvPr/>
        </p:nvSpPr>
        <p:spPr>
          <a:xfrm>
            <a:off x="995751" y="1582996"/>
            <a:ext cx="7272393" cy="172532"/>
          </a:xfrm>
          <a:prstGeom prst="roundRect">
            <a:avLst>
              <a:gd name="adj" fmla="val 16667"/>
            </a:avLst>
          </a:prstGeom>
          <a:solidFill>
            <a:srgbClr val="44546A"/>
          </a:solidFill>
          <a:ln w="12700">
            <a:miter lim="400000"/>
          </a:ln>
        </p:spPr>
        <p:txBody>
          <a:bodyPr lIns="34289" rIns="34289" anchor="ctr"/>
          <a:lstStyle>
            <a:defPPr>
              <a:defRPr lang="es-CO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 sz="1013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A09F73FF-EA22-D2D8-02F8-6720FF585073}"/>
              </a:ext>
            </a:extLst>
          </p:cNvPr>
          <p:cNvSpPr txBox="1"/>
          <p:nvPr/>
        </p:nvSpPr>
        <p:spPr>
          <a:xfrm>
            <a:off x="3771900" y="1581147"/>
            <a:ext cx="1039586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800" b="1">
                <a:solidFill>
                  <a:srgbClr val="FFFFFF"/>
                </a:solidFill>
                <a:latin typeface="Reddit Sans"/>
              </a:rPr>
              <a:t>Q3</a:t>
            </a:r>
            <a:endParaRPr lang="es-ES" sz="800">
              <a:solidFill>
                <a:srgbClr val="FFFFFF"/>
              </a:solidFill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11F17DDB-50E2-6382-23F0-557CA40C1DBA}"/>
              </a:ext>
            </a:extLst>
          </p:cNvPr>
          <p:cNvSpPr txBox="1"/>
          <p:nvPr/>
        </p:nvSpPr>
        <p:spPr>
          <a:xfrm>
            <a:off x="6994070" y="1581148"/>
            <a:ext cx="1039586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800" b="1">
                <a:solidFill>
                  <a:srgbClr val="FFFFFF"/>
                </a:solidFill>
                <a:latin typeface="Reddit Sans"/>
              </a:rPr>
              <a:t>Q4</a:t>
            </a:r>
            <a:endParaRPr lang="es-ES" sz="800">
              <a:solidFill>
                <a:srgbClr val="FFFFFF"/>
              </a:solidFill>
            </a:endParaRPr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97D91316-0A1B-C6D5-BAFF-994FF30D0857}"/>
              </a:ext>
            </a:extLst>
          </p:cNvPr>
          <p:cNvCxnSpPr/>
          <p:nvPr/>
        </p:nvCxnSpPr>
        <p:spPr>
          <a:xfrm>
            <a:off x="6389914" y="1590676"/>
            <a:ext cx="2177" cy="171448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uadroTexto 36">
            <a:extLst>
              <a:ext uri="{FF2B5EF4-FFF2-40B4-BE49-F238E27FC236}">
                <a16:creationId xmlns:a16="http://schemas.microsoft.com/office/drawing/2014/main" id="{B9C8A955-4820-E290-226E-044738189EC8}"/>
              </a:ext>
            </a:extLst>
          </p:cNvPr>
          <p:cNvSpPr txBox="1"/>
          <p:nvPr/>
        </p:nvSpPr>
        <p:spPr>
          <a:xfrm>
            <a:off x="1734909" y="1764846"/>
            <a:ext cx="751115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000">
                <a:solidFill>
                  <a:schemeClr val="bg2"/>
                </a:solidFill>
              </a:rPr>
              <a:t>Julio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92CC98EA-6FE1-3027-13C8-7259A1DBED2B}"/>
              </a:ext>
            </a:extLst>
          </p:cNvPr>
          <p:cNvSpPr txBox="1"/>
          <p:nvPr/>
        </p:nvSpPr>
        <p:spPr>
          <a:xfrm>
            <a:off x="3482065" y="1770289"/>
            <a:ext cx="751115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000">
                <a:solidFill>
                  <a:schemeClr val="bg2"/>
                </a:solidFill>
              </a:rPr>
              <a:t>Agosto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FEA40A48-12DB-A918-6908-E517838F2345}"/>
              </a:ext>
            </a:extLst>
          </p:cNvPr>
          <p:cNvSpPr txBox="1"/>
          <p:nvPr/>
        </p:nvSpPr>
        <p:spPr>
          <a:xfrm>
            <a:off x="5114921" y="1764846"/>
            <a:ext cx="1094015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000">
                <a:solidFill>
                  <a:schemeClr val="bg2"/>
                </a:solidFill>
              </a:rPr>
              <a:t>Septiembre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0CDA8D5E-F835-6BF2-16E7-3AF4BCBB38EB}"/>
              </a:ext>
            </a:extLst>
          </p:cNvPr>
          <p:cNvSpPr txBox="1"/>
          <p:nvPr/>
        </p:nvSpPr>
        <p:spPr>
          <a:xfrm>
            <a:off x="6894737" y="1764846"/>
            <a:ext cx="821873" cy="251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000">
                <a:solidFill>
                  <a:schemeClr val="bg2"/>
                </a:solidFill>
              </a:rPr>
              <a:t>Octubre</a:t>
            </a:r>
          </a:p>
        </p:txBody>
      </p: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C32A06FE-AAD3-1122-511C-72EB1EE9BADB}"/>
              </a:ext>
            </a:extLst>
          </p:cNvPr>
          <p:cNvCxnSpPr/>
          <p:nvPr/>
        </p:nvCxnSpPr>
        <p:spPr>
          <a:xfrm flipH="1">
            <a:off x="2745376" y="1797503"/>
            <a:ext cx="14151" cy="3024867"/>
          </a:xfrm>
          <a:prstGeom prst="straightConnector1">
            <a:avLst/>
          </a:prstGeom>
          <a:ln w="12700">
            <a:solidFill>
              <a:schemeClr val="bg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F5106E74-F56B-088A-36FE-908CD0A9B3C9}"/>
              </a:ext>
            </a:extLst>
          </p:cNvPr>
          <p:cNvCxnSpPr>
            <a:cxnSpLocks/>
          </p:cNvCxnSpPr>
          <p:nvPr/>
        </p:nvCxnSpPr>
        <p:spPr>
          <a:xfrm flipH="1">
            <a:off x="4655820" y="1775730"/>
            <a:ext cx="8708" cy="3030310"/>
          </a:xfrm>
          <a:prstGeom prst="straightConnector1">
            <a:avLst/>
          </a:prstGeom>
          <a:ln w="12700">
            <a:solidFill>
              <a:schemeClr val="bg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de flecha 48">
            <a:extLst>
              <a:ext uri="{FF2B5EF4-FFF2-40B4-BE49-F238E27FC236}">
                <a16:creationId xmlns:a16="http://schemas.microsoft.com/office/drawing/2014/main" id="{18F59FD7-C030-AB68-E6CE-19E9D4F1A134}"/>
              </a:ext>
            </a:extLst>
          </p:cNvPr>
          <p:cNvCxnSpPr>
            <a:cxnSpLocks/>
          </p:cNvCxnSpPr>
          <p:nvPr/>
        </p:nvCxnSpPr>
        <p:spPr>
          <a:xfrm>
            <a:off x="6400801" y="1770289"/>
            <a:ext cx="29390" cy="2943223"/>
          </a:xfrm>
          <a:prstGeom prst="straightConnector1">
            <a:avLst/>
          </a:prstGeom>
          <a:ln w="12700">
            <a:solidFill>
              <a:schemeClr val="bg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uadroTexto 52">
            <a:extLst>
              <a:ext uri="{FF2B5EF4-FFF2-40B4-BE49-F238E27FC236}">
                <a16:creationId xmlns:a16="http://schemas.microsoft.com/office/drawing/2014/main" id="{D12C89E0-C8B0-A253-980D-DD15E71DCD94}"/>
              </a:ext>
            </a:extLst>
          </p:cNvPr>
          <p:cNvSpPr txBox="1"/>
          <p:nvPr/>
        </p:nvSpPr>
        <p:spPr>
          <a:xfrm>
            <a:off x="1001484" y="2446564"/>
            <a:ext cx="174715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Char char="•"/>
            </a:pPr>
            <a:r>
              <a:rPr lang="es-ES" sz="800">
                <a:latin typeface="Reddit Sans"/>
              </a:rPr>
              <a:t>Lecciones aprendidas mesas de servicio operación actual </a:t>
            </a:r>
          </a:p>
          <a:p>
            <a:pPr marL="171450" indent="-171450">
              <a:buChar char="•"/>
            </a:pPr>
            <a:endParaRPr lang="es-ES" sz="800">
              <a:latin typeface="Reddit Sans"/>
            </a:endParaRPr>
          </a:p>
          <a:p>
            <a:pPr marL="171450" indent="-171450">
              <a:buChar char="•"/>
            </a:pPr>
            <a:r>
              <a:rPr lang="es-ES" sz="800">
                <a:latin typeface="Reddit Sans"/>
              </a:rPr>
              <a:t>Oferta de valor del servicio</a:t>
            </a:r>
          </a:p>
          <a:p>
            <a:pPr marL="171450" indent="-171450">
              <a:buChar char="•"/>
            </a:pPr>
            <a:endParaRPr lang="es-ES" sz="800">
              <a:latin typeface="Reddit Sans"/>
            </a:endParaRPr>
          </a:p>
          <a:p>
            <a:pPr marL="171450" indent="-171450">
              <a:buChar char="•"/>
            </a:pPr>
            <a:r>
              <a:rPr lang="es-ES" sz="800">
                <a:latin typeface="Reddit Sans"/>
              </a:rPr>
              <a:t>Flujo del servicio optimo: diagrama de procesos a alto nivel (personas, tecnología, herramientas)</a:t>
            </a:r>
          </a:p>
        </p:txBody>
      </p:sp>
      <p:sp>
        <p:nvSpPr>
          <p:cNvPr id="60" name="CuadroTexto 60"/>
          <p:cNvSpPr txBox="1"/>
          <p:nvPr/>
        </p:nvSpPr>
        <p:spPr>
          <a:xfrm>
            <a:off x="2786741" y="2446564"/>
            <a:ext cx="1747157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Char char="•"/>
            </a:pPr>
            <a:r>
              <a:rPr lang="es-ES" sz="800">
                <a:latin typeface="Reddit Sans"/>
              </a:rPr>
              <a:t>Modelo de niveles de servicio definido</a:t>
            </a:r>
            <a:endParaRPr lang="es-ES" sz="800"/>
          </a:p>
          <a:p>
            <a:pPr marL="171450" indent="-171450">
              <a:buChar char="•"/>
            </a:pPr>
            <a:endParaRPr lang="es-ES" sz="800">
              <a:latin typeface="Reddit Sans"/>
            </a:endParaRPr>
          </a:p>
          <a:p>
            <a:pPr marL="171450" indent="-171450">
              <a:buFont typeface="Arial,Sans-Serif"/>
              <a:buChar char="•"/>
            </a:pPr>
            <a:r>
              <a:rPr lang="es-ES" sz="800">
                <a:latin typeface="Reddit Sans"/>
                <a:ea typeface="Reddit Sans"/>
              </a:rPr>
              <a:t>Modelo operativo (hibrido) funcional alto nivel: </a:t>
            </a:r>
            <a:r>
              <a:rPr lang="es-ES" sz="600">
                <a:latin typeface="Reddit Sans"/>
                <a:ea typeface="Reddit Sans"/>
              </a:rPr>
              <a:t>Modelo de incidentes, Modelo de solicitudes, Modelo de gestión de catálogo y portfolio del cliente, Modelo de gestión de cambios, Métricas y ANS</a:t>
            </a:r>
          </a:p>
          <a:p>
            <a:endParaRPr lang="en-US" sz="800">
              <a:latin typeface="Reddit Sans"/>
              <a:ea typeface="Reddit Sans"/>
            </a:endParaRPr>
          </a:p>
          <a:p>
            <a:pPr marL="171450" indent="-171450">
              <a:buFont typeface="Arial,Sans-Serif"/>
              <a:buChar char="•"/>
            </a:pPr>
            <a:r>
              <a:rPr lang="es-ES" sz="800">
                <a:latin typeface="Reddit Sans"/>
                <a:ea typeface="Reddit Sans"/>
              </a:rPr>
              <a:t>Diagrama del servicio optimo de alto nivel</a:t>
            </a:r>
            <a:endParaRPr lang="en-US" sz="800">
              <a:latin typeface="Reddit Sans"/>
              <a:ea typeface="Reddit Sans"/>
            </a:endParaRPr>
          </a:p>
          <a:p>
            <a:pPr marL="171450" indent="-171450">
              <a:buChar char="•"/>
            </a:pPr>
            <a:endParaRPr lang="es-ES" sz="800">
              <a:latin typeface="Reddit Sans"/>
            </a:endParaRPr>
          </a:p>
          <a:p>
            <a:pPr marL="171450" indent="-171450">
              <a:buChar char="•"/>
            </a:pPr>
            <a:r>
              <a:rPr lang="es-ES" sz="800">
                <a:latin typeface="Reddit Sans"/>
              </a:rPr>
              <a:t>Piloto de herramientas y automatización (agentes/</a:t>
            </a:r>
            <a:r>
              <a:rPr lang="es-ES" sz="800" err="1">
                <a:latin typeface="Reddit Sans"/>
              </a:rPr>
              <a:t>reuso</a:t>
            </a:r>
            <a:r>
              <a:rPr lang="es-ES" sz="800">
                <a:latin typeface="Reddit Sans"/>
              </a:rPr>
              <a:t>) para las mesas de servicio</a:t>
            </a:r>
          </a:p>
        </p:txBody>
      </p:sp>
      <p:sp>
        <p:nvSpPr>
          <p:cNvPr id="61" name="CuadroTexto 61"/>
          <p:cNvSpPr txBox="1"/>
          <p:nvPr/>
        </p:nvSpPr>
        <p:spPr>
          <a:xfrm>
            <a:off x="4800597" y="2446566"/>
            <a:ext cx="1556657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Char char="•"/>
            </a:pPr>
            <a:r>
              <a:rPr lang="es-ES" sz="800">
                <a:latin typeface="Reddit Sans"/>
              </a:rPr>
              <a:t>Modelo operativo; equipo de operación: </a:t>
            </a:r>
            <a:r>
              <a:rPr lang="es-ES" sz="600">
                <a:latin typeface="Reddit Sans"/>
                <a:ea typeface="Reddit Sans"/>
              </a:rPr>
              <a:t>Modelo de costos, Colaterales para comercial : propuestas, contrato, </a:t>
            </a:r>
            <a:r>
              <a:rPr lang="es-ES" sz="600" err="1">
                <a:latin typeface="Reddit Sans"/>
                <a:ea typeface="Reddit Sans"/>
              </a:rPr>
              <a:t>wbs</a:t>
            </a:r>
            <a:r>
              <a:rPr lang="es-ES" sz="600">
                <a:latin typeface="Reddit Sans"/>
                <a:ea typeface="Reddit Sans"/>
              </a:rPr>
              <a:t>, plantilla de estimación del </a:t>
            </a:r>
            <a:r>
              <a:rPr lang="es-ES" sz="600" err="1">
                <a:latin typeface="Reddit Sans"/>
                <a:ea typeface="Reddit Sans"/>
              </a:rPr>
              <a:t>servicioy</a:t>
            </a:r>
            <a:r>
              <a:rPr lang="es-ES" sz="600">
                <a:latin typeface="Reddit Sans"/>
                <a:ea typeface="Reddit Sans"/>
              </a:rPr>
              <a:t> Colaterales para la operación</a:t>
            </a:r>
          </a:p>
          <a:p>
            <a:pPr marL="171450" indent="-171450">
              <a:buChar char="•"/>
            </a:pPr>
            <a:endParaRPr lang="es-ES" sz="800">
              <a:ea typeface="Reddit Sans"/>
            </a:endParaRPr>
          </a:p>
          <a:p>
            <a:pPr marL="171450" indent="-171450">
              <a:buChar char="•"/>
            </a:pPr>
            <a:r>
              <a:rPr lang="es-ES" sz="800">
                <a:latin typeface="Reddit Sans"/>
                <a:ea typeface="Reddit Sans"/>
              </a:rPr>
              <a:t>Diagrama del servicio optimo</a:t>
            </a:r>
            <a:endParaRPr lang="es-ES" sz="800">
              <a:latin typeface="Reddit Sans"/>
            </a:endParaRPr>
          </a:p>
          <a:p>
            <a:pPr marL="171450" indent="-171450">
              <a:buChar char="•"/>
            </a:pPr>
            <a:endParaRPr lang="es-ES" sz="800">
              <a:latin typeface="Reddit Sans"/>
              <a:ea typeface="Reddit Sans"/>
            </a:endParaRPr>
          </a:p>
          <a:p>
            <a:pPr marL="171450" indent="-171450">
              <a:buChar char="•"/>
            </a:pPr>
            <a:r>
              <a:rPr lang="es-ES" sz="800">
                <a:latin typeface="Reddit Sans"/>
              </a:rPr>
              <a:t>Piloto de herramientas para </a:t>
            </a:r>
            <a:r>
              <a:rPr lang="es-ES" sz="800" err="1">
                <a:latin typeface="Reddit Sans"/>
              </a:rPr>
              <a:t>Dashboards</a:t>
            </a:r>
            <a:r>
              <a:rPr lang="es-ES" sz="800">
                <a:latin typeface="Reddit Sans"/>
              </a:rPr>
              <a:t> ejecutivos para </a:t>
            </a:r>
            <a:r>
              <a:rPr lang="es-ES" sz="800" err="1">
                <a:latin typeface="Reddit Sans"/>
              </a:rPr>
              <a:t>PersonalSoft</a:t>
            </a:r>
            <a:endParaRPr lang="es-ES" sz="800">
              <a:latin typeface="Reddit Sans"/>
            </a:endParaRPr>
          </a:p>
          <a:p>
            <a:pPr marL="171450" indent="-171450">
              <a:buChar char="•"/>
            </a:pPr>
            <a:endParaRPr lang="es-ES" sz="800">
              <a:latin typeface="Reddit Sans"/>
            </a:endParaRPr>
          </a:p>
          <a:p>
            <a:pPr marL="171450" indent="-171450">
              <a:buChar char="•"/>
            </a:pPr>
            <a:r>
              <a:rPr lang="es-ES" sz="800">
                <a:latin typeface="Reddit Sans"/>
              </a:rPr>
              <a:t>Habilitaciones equipos comercial y de operación del servicio optimo</a:t>
            </a:r>
            <a:endParaRPr lang="es-ES" sz="800"/>
          </a:p>
          <a:p>
            <a:endParaRPr lang="es-ES" sz="800">
              <a:latin typeface="Reddit Sans"/>
            </a:endParaRPr>
          </a:p>
        </p:txBody>
      </p:sp>
      <p:sp>
        <p:nvSpPr>
          <p:cNvPr id="62" name="CuadroTexto 62"/>
          <p:cNvSpPr txBox="1"/>
          <p:nvPr/>
        </p:nvSpPr>
        <p:spPr>
          <a:xfrm>
            <a:off x="6574970" y="2446565"/>
            <a:ext cx="151311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Char char="•"/>
            </a:pPr>
            <a:r>
              <a:rPr lang="es-ES" sz="800">
                <a:latin typeface="Reddit Sans"/>
              </a:rPr>
              <a:t>Inicio servicio actualizado en la herramienta de procesos</a:t>
            </a:r>
            <a:endParaRPr lang="es-ES" sz="800"/>
          </a:p>
          <a:p>
            <a:pPr marL="171450" indent="-171450">
              <a:buChar char="•"/>
            </a:pPr>
            <a:endParaRPr lang="es-ES" sz="800">
              <a:latin typeface="Reddit Sans"/>
            </a:endParaRPr>
          </a:p>
          <a:p>
            <a:pPr marL="171450" indent="-171450">
              <a:buChar char="•"/>
            </a:pPr>
            <a:r>
              <a:rPr lang="es-ES" sz="800">
                <a:latin typeface="Reddit Sans"/>
              </a:rPr>
              <a:t>Plan de transición de clientes actuales</a:t>
            </a:r>
            <a:endParaRPr lang="es-ES" sz="800"/>
          </a:p>
          <a:p>
            <a:pPr marL="171450" indent="-171450">
              <a:buChar char="•"/>
            </a:pPr>
            <a:endParaRPr lang="es-ES" sz="800">
              <a:latin typeface="Reddit Sans"/>
            </a:endParaRPr>
          </a:p>
          <a:p>
            <a:pPr marL="171450" indent="-171450">
              <a:buChar char="•"/>
            </a:pPr>
            <a:r>
              <a:rPr lang="es-ES" sz="800">
                <a:latin typeface="Reddit Sans"/>
              </a:rPr>
              <a:t>Inicio de habilitación de clientes actuales</a:t>
            </a:r>
            <a:endParaRPr lang="es-ES" sz="800"/>
          </a:p>
        </p:txBody>
      </p:sp>
      <p:sp>
        <p:nvSpPr>
          <p:cNvPr id="9" name="Estrella: 5 puntas 8">
            <a:extLst>
              <a:ext uri="{FF2B5EF4-FFF2-40B4-BE49-F238E27FC236}">
                <a16:creationId xmlns:a16="http://schemas.microsoft.com/office/drawing/2014/main" id="{B6F09777-54D8-74E2-89C1-54BB30882E23}"/>
              </a:ext>
            </a:extLst>
          </p:cNvPr>
          <p:cNvSpPr/>
          <p:nvPr/>
        </p:nvSpPr>
        <p:spPr>
          <a:xfrm>
            <a:off x="6797040" y="1799408"/>
            <a:ext cx="97972" cy="114301"/>
          </a:xfrm>
          <a:prstGeom prst="star5">
            <a:avLst/>
          </a:prstGeom>
          <a:solidFill>
            <a:srgbClr val="92D05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strella: 5 puntas 12">
            <a:extLst>
              <a:ext uri="{FF2B5EF4-FFF2-40B4-BE49-F238E27FC236}">
                <a16:creationId xmlns:a16="http://schemas.microsoft.com/office/drawing/2014/main" id="{D1A0A80E-8FA3-834D-DF99-BF988B9E4497}"/>
              </a:ext>
            </a:extLst>
          </p:cNvPr>
          <p:cNvSpPr/>
          <p:nvPr/>
        </p:nvSpPr>
        <p:spPr>
          <a:xfrm>
            <a:off x="6960325" y="128448"/>
            <a:ext cx="97972" cy="114301"/>
          </a:xfrm>
          <a:prstGeom prst="star5">
            <a:avLst/>
          </a:prstGeom>
          <a:solidFill>
            <a:schemeClr val="accent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65C8536-5F8E-D34A-7D05-0ED2772DD9B5}"/>
              </a:ext>
            </a:extLst>
          </p:cNvPr>
          <p:cNvSpPr txBox="1"/>
          <p:nvPr/>
        </p:nvSpPr>
        <p:spPr>
          <a:xfrm>
            <a:off x="7097488" y="78372"/>
            <a:ext cx="145323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700"/>
              <a:t>Entrega incremental del servicio a clientes nuevos</a:t>
            </a:r>
            <a:endParaRPr lang="es-ES"/>
          </a:p>
        </p:txBody>
      </p:sp>
      <p:sp>
        <p:nvSpPr>
          <p:cNvPr id="17" name="Estrella: 5 puntas 16">
            <a:extLst>
              <a:ext uri="{FF2B5EF4-FFF2-40B4-BE49-F238E27FC236}">
                <a16:creationId xmlns:a16="http://schemas.microsoft.com/office/drawing/2014/main" id="{320E3FB5-C277-3674-B696-84C5BC90F642}"/>
              </a:ext>
            </a:extLst>
          </p:cNvPr>
          <p:cNvSpPr/>
          <p:nvPr/>
        </p:nvSpPr>
        <p:spPr>
          <a:xfrm>
            <a:off x="6960324" y="536662"/>
            <a:ext cx="97972" cy="114301"/>
          </a:xfrm>
          <a:prstGeom prst="star5">
            <a:avLst/>
          </a:prstGeom>
          <a:solidFill>
            <a:srgbClr val="92D05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CC52062-7600-997B-1AE8-90735B249C32}"/>
              </a:ext>
            </a:extLst>
          </p:cNvPr>
          <p:cNvSpPr txBox="1"/>
          <p:nvPr/>
        </p:nvSpPr>
        <p:spPr>
          <a:xfrm>
            <a:off x="7097488" y="486586"/>
            <a:ext cx="1453239" cy="2000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700"/>
              <a:t>Lanzamiento servicio nuevo</a:t>
            </a:r>
            <a:endParaRPr lang="es-ES"/>
          </a:p>
        </p:txBody>
      </p:sp>
      <p:sp>
        <p:nvSpPr>
          <p:cNvPr id="21" name="Estrella: 5 puntas 20">
            <a:extLst>
              <a:ext uri="{FF2B5EF4-FFF2-40B4-BE49-F238E27FC236}">
                <a16:creationId xmlns:a16="http://schemas.microsoft.com/office/drawing/2014/main" id="{14E40151-C892-1051-08AA-10F96CDC54A8}"/>
              </a:ext>
            </a:extLst>
          </p:cNvPr>
          <p:cNvSpPr/>
          <p:nvPr/>
        </p:nvSpPr>
        <p:spPr>
          <a:xfrm>
            <a:off x="2567939" y="1799405"/>
            <a:ext cx="97972" cy="114301"/>
          </a:xfrm>
          <a:prstGeom prst="star5">
            <a:avLst/>
          </a:prstGeom>
          <a:solidFill>
            <a:schemeClr val="accent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Estrella: 5 puntas 21">
            <a:extLst>
              <a:ext uri="{FF2B5EF4-FFF2-40B4-BE49-F238E27FC236}">
                <a16:creationId xmlns:a16="http://schemas.microsoft.com/office/drawing/2014/main" id="{B6883CD6-1E25-BFAB-1DDA-317C81FAAC53}"/>
              </a:ext>
            </a:extLst>
          </p:cNvPr>
          <p:cNvSpPr/>
          <p:nvPr/>
        </p:nvSpPr>
        <p:spPr>
          <a:xfrm>
            <a:off x="4462053" y="1799405"/>
            <a:ext cx="97972" cy="114301"/>
          </a:xfrm>
          <a:prstGeom prst="star5">
            <a:avLst/>
          </a:prstGeom>
          <a:solidFill>
            <a:schemeClr val="accent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Estrella: 5 puntas 23">
            <a:extLst>
              <a:ext uri="{FF2B5EF4-FFF2-40B4-BE49-F238E27FC236}">
                <a16:creationId xmlns:a16="http://schemas.microsoft.com/office/drawing/2014/main" id="{CFF97C90-2F0F-A5E7-32D2-DD68201E52F8}"/>
              </a:ext>
            </a:extLst>
          </p:cNvPr>
          <p:cNvSpPr/>
          <p:nvPr/>
        </p:nvSpPr>
        <p:spPr>
          <a:xfrm>
            <a:off x="6263638" y="1799405"/>
            <a:ext cx="97972" cy="114301"/>
          </a:xfrm>
          <a:prstGeom prst="star5">
            <a:avLst/>
          </a:prstGeom>
          <a:solidFill>
            <a:schemeClr val="accent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873C535-05E5-3B79-6186-48D67E1BE9C7}"/>
              </a:ext>
            </a:extLst>
          </p:cNvPr>
          <p:cNvSpPr txBox="1"/>
          <p:nvPr/>
        </p:nvSpPr>
        <p:spPr>
          <a:xfrm>
            <a:off x="4897207" y="1960789"/>
            <a:ext cx="1306286" cy="4385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750" spc="-1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Productización</a:t>
            </a:r>
            <a:r>
              <a:rPr lang="es-ES" sz="750" spc="-1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del servicio y habilitaciones equipo comercial y operación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EF28BDA-1B26-2A30-0811-4C2DC5BAD3E9}"/>
              </a:ext>
            </a:extLst>
          </p:cNvPr>
          <p:cNvSpPr txBox="1"/>
          <p:nvPr/>
        </p:nvSpPr>
        <p:spPr>
          <a:xfrm>
            <a:off x="3101064" y="1982558"/>
            <a:ext cx="1295400" cy="4385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750" spc="-1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Diseño modelo operativo servicio optimo y piloto de herramientas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1ACACBF-DB7A-16E8-A02C-4587D79934F4}"/>
              </a:ext>
            </a:extLst>
          </p:cNvPr>
          <p:cNvSpPr txBox="1"/>
          <p:nvPr/>
        </p:nvSpPr>
        <p:spPr>
          <a:xfrm>
            <a:off x="6491962" y="1960786"/>
            <a:ext cx="1676400" cy="3231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750" spc="-1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Definición de procesos, y empezar transición clientes actuales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BD75088-D6C8-494F-5E13-31169AF87D86}"/>
              </a:ext>
            </a:extLst>
          </p:cNvPr>
          <p:cNvSpPr txBox="1"/>
          <p:nvPr/>
        </p:nvSpPr>
        <p:spPr>
          <a:xfrm>
            <a:off x="1245050" y="1960783"/>
            <a:ext cx="1322616" cy="4385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750" spc="-1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Evaluación de la operación y diagrama inicial del servicio</a:t>
            </a:r>
          </a:p>
        </p:txBody>
      </p:sp>
      <p:sp>
        <p:nvSpPr>
          <p:cNvPr id="10" name="modelo reactivo">
            <a:extLst>
              <a:ext uri="{FF2B5EF4-FFF2-40B4-BE49-F238E27FC236}">
                <a16:creationId xmlns:a16="http://schemas.microsoft.com/office/drawing/2014/main" id="{720A78B1-6920-23CB-2C9A-1016BB1D27FF}"/>
              </a:ext>
            </a:extLst>
          </p:cNvPr>
          <p:cNvSpPr txBox="1"/>
          <p:nvPr/>
        </p:nvSpPr>
        <p:spPr>
          <a:xfrm>
            <a:off x="6379030" y="1284514"/>
            <a:ext cx="1888221" cy="2939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91425" tIns="91425" rIns="91425" bIns="91425" anchor="ctr"/>
          <a:lstStyle/>
          <a:p>
            <a:pPr algn="ctr"/>
            <a:r>
              <a:rPr lang="es" sz="800" b="1">
                <a:solidFill>
                  <a:srgbClr val="633806"/>
                </a:solidFill>
                <a:latin typeface="Reddit Sans"/>
                <a:ea typeface="Reddit Sans"/>
              </a:rPr>
              <a:t>Transición de los Servicios Reactivos</a:t>
            </a:r>
          </a:p>
        </p:txBody>
      </p:sp>
      <p:sp>
        <p:nvSpPr>
          <p:cNvPr id="14" name="modelo predictivo">
            <a:extLst>
              <a:ext uri="{FF2B5EF4-FFF2-40B4-BE49-F238E27FC236}">
                <a16:creationId xmlns:a16="http://schemas.microsoft.com/office/drawing/2014/main" id="{3CEB62A4-1323-F8BB-B4D2-2CD7DDD9946E}"/>
              </a:ext>
            </a:extLst>
          </p:cNvPr>
          <p:cNvSpPr txBox="1"/>
          <p:nvPr/>
        </p:nvSpPr>
        <p:spPr>
          <a:xfrm>
            <a:off x="4569279" y="1284514"/>
            <a:ext cx="1812023" cy="2939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1425" tIns="91425" rIns="91425" bIns="91425" anchor="ctr"/>
          <a:lstStyle/>
          <a:p>
            <a:pPr algn="ctr">
              <a:buNone/>
            </a:pPr>
            <a:r>
              <a:rPr lang="es" sz="800" b="1">
                <a:solidFill>
                  <a:srgbClr val="0E337C"/>
                </a:solidFill>
                <a:latin typeface="Reddit Sans"/>
                <a:ea typeface="Reddit Sans"/>
              </a:rPr>
              <a:t>Predictivo y Evolutivo</a:t>
            </a:r>
          </a:p>
        </p:txBody>
      </p:sp>
      <p:sp>
        <p:nvSpPr>
          <p:cNvPr id="18" name="modelo autonomo">
            <a:extLst>
              <a:ext uri="{FF2B5EF4-FFF2-40B4-BE49-F238E27FC236}">
                <a16:creationId xmlns:a16="http://schemas.microsoft.com/office/drawing/2014/main" id="{8EE0933D-DC98-07FE-49B6-FB4B59DD6550}"/>
              </a:ext>
            </a:extLst>
          </p:cNvPr>
          <p:cNvSpPr txBox="1"/>
          <p:nvPr/>
        </p:nvSpPr>
        <p:spPr>
          <a:xfrm>
            <a:off x="1039587" y="1284514"/>
            <a:ext cx="3652458" cy="293915"/>
          </a:xfrm>
          <a:prstGeom prst="rect">
            <a:avLst/>
          </a:prstGeom>
          <a:solidFill>
            <a:srgbClr val="215578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lIns="91425" tIns="91425" rIns="91425" bIns="91425" anchor="ctr"/>
          <a:lstStyle/>
          <a:p>
            <a:pPr algn="ctr"/>
            <a:r>
              <a:rPr lang="es" sz="800" b="1">
                <a:solidFill>
                  <a:schemeClr val="bg1"/>
                </a:solidFill>
                <a:latin typeface="Reddit Sans"/>
                <a:ea typeface="Reddit Sans"/>
              </a:rPr>
              <a:t>Diseño del Servicio Optimo (Autónomo e Inteligente)</a:t>
            </a:r>
            <a:endParaRPr lang="es" sz="800" b="1">
              <a:solidFill>
                <a:schemeClr val="bg1"/>
              </a:solidFill>
              <a:latin typeface="Reddit Sans"/>
              <a:ea typeface="Reddit San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95429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 txBox="1">
            <a:spLocks noGrp="1"/>
          </p:cNvSpPr>
          <p:nvPr>
            <p:ph type="title"/>
          </p:nvPr>
        </p:nvSpPr>
        <p:spPr>
          <a:xfrm>
            <a:off x="4087108" y="4327063"/>
            <a:ext cx="45489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We make it happen</a:t>
            </a:r>
            <a:endParaRPr/>
          </a:p>
        </p:txBody>
      </p:sp>
      <p:sp>
        <p:nvSpPr>
          <p:cNvPr id="189" name="Google Shape;189;p6"/>
          <p:cNvSpPr txBox="1">
            <a:spLocks noGrp="1"/>
          </p:cNvSpPr>
          <p:nvPr>
            <p:ph type="ctrTitle" idx="2"/>
          </p:nvPr>
        </p:nvSpPr>
        <p:spPr>
          <a:xfrm>
            <a:off x="450000" y="1827750"/>
            <a:ext cx="8100000" cy="159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¡Gracias!</a:t>
            </a:r>
            <a:endParaRPr/>
          </a:p>
        </p:txBody>
      </p:sp>
      <p:sp>
        <p:nvSpPr>
          <p:cNvPr id="190" name="Google Shape;190;p6"/>
          <p:cNvSpPr txBox="1">
            <a:spLocks noGrp="1"/>
          </p:cNvSpPr>
          <p:nvPr>
            <p:ph type="title" idx="3"/>
          </p:nvPr>
        </p:nvSpPr>
        <p:spPr>
          <a:xfrm>
            <a:off x="4087108" y="446138"/>
            <a:ext cx="45489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Centro Empresarial Ciudad del Río C2, Cra. 48 #20-114, Oficina 1026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+57 324 549 77 70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Presentación en pantalla (16:9)</PresentationFormat>
  <Slides>18</Slides>
  <Notes>9</Notes>
  <HiddenSlides>5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19" baseType="lpstr">
      <vt:lpstr>Simple Light</vt:lpstr>
      <vt:lpstr>Mesa de Servicio de Nueva Generación</vt:lpstr>
      <vt:lpstr>Que busca la Mesa de Servicio de Nueva Generación</vt:lpstr>
      <vt:lpstr>Beneficios eperados de la Mesa de Servicio de Nueva Generación (Servicio Optimo) </vt:lpstr>
      <vt:lpstr>Presentación de PowerPoint</vt:lpstr>
      <vt:lpstr>Presentación de PowerPoint</vt:lpstr>
      <vt:lpstr>Mesas de Servicio Actuales</vt:lpstr>
      <vt:lpstr>Roadmap 2026</vt:lpstr>
      <vt:lpstr>Presentación de PowerPoint</vt:lpstr>
      <vt:lpstr>Presentación de PowerPoint</vt:lpstr>
      <vt:lpstr>Roadmap Detallado Mesa de Servicios de Nueva Generación Servicio Optimo y Estandarizado</vt:lpstr>
      <vt:lpstr>Roadmap Detallado Mesa de Servicios de Nueva Generación Servicio Optimo y Estandarizado</vt:lpstr>
      <vt:lpstr>Presentación de PowerPoint</vt:lpstr>
      <vt:lpstr>Presentación de PowerPoint</vt:lpstr>
      <vt:lpstr>Presentación de PowerPoint</vt:lpstr>
      <vt:lpstr>Roadmap Mesa de Servicios de Nueva Generación Servicio Optimo y Estandarizado</vt:lpstr>
      <vt:lpstr>Roadmap Detallado Mesa de Servicios de Nueva Generación Servicio Optimo y Estandarizado</vt:lpstr>
      <vt:lpstr>Presentación de PowerPoint</vt:lpstr>
      <vt:lpstr>We make it happen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110</cp:revision>
  <dcterms:modified xsi:type="dcterms:W3CDTF">2026-07-09T22:16:22Z</dcterms:modified>
</cp:coreProperties>
</file>