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02E87B-5F4F-48BD-BA54-47A2A568CCD6}" v="9" dt="2026-07-01T19:48:17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66B7F-C1E0-BF5F-BBC5-D86AF4B4A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A2363D-A42D-2C63-F32E-905293FDE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ACD276-1DD0-0CD7-02D6-4C2FF64F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51ED15-D86B-0C88-EE2A-72542D98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5D2EF-2775-C00B-8E78-18ED72CF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8699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A561C-F5A1-15CC-D7F6-2A9405EF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1BF457-90A2-CE82-2EC5-90479D81A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238A7E-A919-7C1A-05AD-F4C1C318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E520AB-1ADE-2DB8-692E-2042373D9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1C1BCE-17E2-F67B-86ED-8BDB8A59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5594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C3793-9FC1-B140-0B94-2B01756FA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66E08B-81B9-9DAA-E97B-00F3430C4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810E7-68AC-E93A-002E-30B5F57E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AB4330-4AB2-8F68-A3E3-63873E08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D020A4-7F50-0113-4225-20AC7F57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20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C9108-59BF-30A3-AFF4-F077AC7B6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C078F9-2587-DBAB-A644-4E1975032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B03EAC-2F17-D3D1-E782-9089CD988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40EA9D-66D0-86FF-3D8E-1EB65B82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A41F0B-C345-E0BA-6988-3F4E3A9B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8FB241-DF59-2830-6F1A-C3201749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825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1B311-1241-80CF-73B2-BB817484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0BDFFE-774F-8571-C8BB-8E5FD519E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1E21A8-439F-B026-29A5-8B8CE6A59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2D12F0-03DE-2BDE-AACB-1188666A9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06D3CC-C385-A19E-C857-DBE5065C3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AB53DC-0135-BEFB-FA43-7DDC166A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7F21BC2-CB4C-A192-85BB-33AE65E4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5DD1A0B-CD23-18F8-40C7-D795572A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68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FDD8F-DF04-33E8-C4A5-F2C7A194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9D0CE2-6578-C1B6-29E6-0F8B7F4F2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C83775-7F5B-3A3C-4A03-DEE8AE15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8FAB5A-A49F-87DA-4E50-2A07767F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761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E767292-39B1-D517-B4D8-83805CAF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D26AA9-7DE4-D265-4B28-215CD08E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B0A940-FEBA-D80A-9DDE-7659555C5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395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D52B5-47C0-40FF-843F-AF27FE6B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C1CDB3-8493-6B73-44BA-7FF380A74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234E10-1BB5-CDFA-184A-5EA3F1D18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09DD96-F1C3-F0B8-B5B4-8E2DAA1E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CE09EB1-C5D0-17C6-87B1-6C5A2A7E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6A3150-8671-A1FB-4E6D-780DBCA5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048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03207-CFD8-32D0-A183-142A1CEC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44B881-8157-372A-9641-44D7EDD0D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EC4A14-96AC-B958-2A2F-5348B8AB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1A1F04-0949-7E73-C564-E875168C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30D50E-BB44-D0E7-724A-738BF0B3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BE2EAE-8380-678B-7A58-8E640AFAD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46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46143-5189-2CC2-0A5E-6702BF226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733EA6-CA6D-B21E-61E6-158325A0F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E12B1F-2A45-4676-E335-256BB9F1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496F75-5502-A8DC-27D7-1A18866D2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19B9BF-645F-70ED-F10E-2FA216AB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6248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A1F59F-7752-CC0B-2141-BBD8F9C61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B65C4A8-0764-2383-C11A-C787ADE26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F28F1D-25D4-0DA9-6A38-8AE9DFD4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03CF1-E1FA-DA16-3567-A104391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065B8-D334-52E5-02CE-E54C608C3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914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673835-782C-38E1-CE3A-3E08B980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1D803B-37A7-9589-720D-48E337FD3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1A9091-CDB4-CB4C-08AF-2E85709742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1405E-B85B-4064-80DA-213C39C17242}" type="datetimeFigureOut">
              <a:rPr lang="es-CO" smtClean="0"/>
              <a:t>1/07/2026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5A2ED3-C47F-6C7F-531A-ABADE877F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A55F58-0C4F-BABD-CD0B-369F954FA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E4299-C89A-4586-BE16-B55F826CB80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833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026D8-7190-5BE2-5531-9D2A04AB61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859783-D3AA-A690-1BD4-4A01E662E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5367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9B3132-F925-53E0-3409-4CA045D9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Especializaciones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727B2C-E995-8210-6586-3B64631B4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Operaciones de TI</a:t>
            </a:r>
            <a:r>
              <a:rPr lang="es-CO"/>
              <a:t>: Aplicaciones, infraestructura</a:t>
            </a:r>
          </a:p>
          <a:p>
            <a:endParaRPr lang="es-CO"/>
          </a:p>
          <a:p>
            <a:r>
              <a:rPr lang="es-CO"/>
              <a:t>Seguridad: Ataques</a:t>
            </a:r>
          </a:p>
          <a:p>
            <a:endParaRPr lang="es-CO"/>
          </a:p>
          <a:p>
            <a:r>
              <a:rPr lang="es-CO"/>
              <a:t>Fraude: Eventos maliciosos en tiempo real</a:t>
            </a:r>
          </a:p>
          <a:p>
            <a:endParaRPr lang="es-CO"/>
          </a:p>
          <a:p>
            <a:r>
              <a:rPr lang="es-CO"/>
              <a:t>Reputación de marca: Redes sociales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576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1A9F5-7F61-A601-488F-28F41932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Road Map – Mesa de Servicio Gen Next</a:t>
            </a:r>
            <a:endParaRPr lang="es-CO"/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D24F8F77-9E50-CC4B-5647-35B6B8D391D5}"/>
              </a:ext>
            </a:extLst>
          </p:cNvPr>
          <p:cNvCxnSpPr>
            <a:cxnSpLocks/>
          </p:cNvCxnSpPr>
          <p:nvPr/>
        </p:nvCxnSpPr>
        <p:spPr>
          <a:xfrm>
            <a:off x="1121262" y="3724391"/>
            <a:ext cx="9573242" cy="40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218F5DB-36F3-1354-5E26-094349FA68E7}"/>
              </a:ext>
            </a:extLst>
          </p:cNvPr>
          <p:cNvSpPr txBox="1"/>
          <p:nvPr/>
        </p:nvSpPr>
        <p:spPr>
          <a:xfrm>
            <a:off x="11070738" y="3538215"/>
            <a:ext cx="12011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/>
              <a:t>Línea de Tiempo </a:t>
            </a:r>
          </a:p>
          <a:p>
            <a:r>
              <a:rPr lang="es-MX" sz="1100"/>
              <a:t>Jul – Oct 2026</a:t>
            </a:r>
            <a:endParaRPr lang="es-CO" sz="110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FE40971-FD16-AE0E-9EA8-4C6D0B3FBC22}"/>
              </a:ext>
            </a:extLst>
          </p:cNvPr>
          <p:cNvCxnSpPr>
            <a:cxnSpLocks/>
          </p:cNvCxnSpPr>
          <p:nvPr/>
        </p:nvCxnSpPr>
        <p:spPr>
          <a:xfrm>
            <a:off x="3923137" y="3542259"/>
            <a:ext cx="0" cy="347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B7520F3-3ADE-B860-80D5-7616732E425E}"/>
              </a:ext>
            </a:extLst>
          </p:cNvPr>
          <p:cNvCxnSpPr>
            <a:cxnSpLocks/>
          </p:cNvCxnSpPr>
          <p:nvPr/>
        </p:nvCxnSpPr>
        <p:spPr>
          <a:xfrm>
            <a:off x="6467215" y="3591042"/>
            <a:ext cx="0" cy="347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BF4DD5A-368C-E9A0-C157-A49777F048EA}"/>
              </a:ext>
            </a:extLst>
          </p:cNvPr>
          <p:cNvSpPr txBox="1"/>
          <p:nvPr/>
        </p:nvSpPr>
        <p:spPr>
          <a:xfrm>
            <a:off x="25693" y="1166115"/>
            <a:ext cx="1035861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100" b="1"/>
            </a:lvl1pPr>
          </a:lstStyle>
          <a:p>
            <a:r>
              <a:rPr lang="es-MX"/>
              <a:t>SURA</a:t>
            </a:r>
          </a:p>
          <a:p>
            <a:r>
              <a:rPr lang="es-MX"/>
              <a:t>Bancolombia</a:t>
            </a:r>
          </a:p>
          <a:p>
            <a:r>
              <a:rPr lang="es-MX"/>
              <a:t>XM</a:t>
            </a:r>
          </a:p>
          <a:p>
            <a:r>
              <a:rPr lang="es-MX"/>
              <a:t>AES</a:t>
            </a:r>
          </a:p>
          <a:p>
            <a:r>
              <a:rPr lang="es-MX"/>
              <a:t>Medicarte</a:t>
            </a:r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A070707D-D53F-D183-51C4-7D7436384BA3}"/>
              </a:ext>
            </a:extLst>
          </p:cNvPr>
          <p:cNvSpPr txBox="1"/>
          <p:nvPr/>
        </p:nvSpPr>
        <p:spPr>
          <a:xfrm>
            <a:off x="-39755" y="4065514"/>
            <a:ext cx="1533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/>
              <a:t>Nuevos Servicio </a:t>
            </a:r>
            <a:endParaRPr lang="es-CO" sz="1400" b="1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C72A6C5-C499-E040-8BE7-165292609813}"/>
              </a:ext>
            </a:extLst>
          </p:cNvPr>
          <p:cNvSpPr txBox="1"/>
          <p:nvPr/>
        </p:nvSpPr>
        <p:spPr>
          <a:xfrm>
            <a:off x="251332" y="4621259"/>
            <a:ext cx="1620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/>
              <a:t>Diseño de Servicio</a:t>
            </a:r>
            <a:endParaRPr lang="es-CO" sz="140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0CFFAA7-B36D-5FEC-F292-B4B826574D87}"/>
              </a:ext>
            </a:extLst>
          </p:cNvPr>
          <p:cNvSpPr txBox="1"/>
          <p:nvPr/>
        </p:nvSpPr>
        <p:spPr>
          <a:xfrm>
            <a:off x="0" y="2052160"/>
            <a:ext cx="2001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/>
              <a:t>Transición del Servicio y Organizacional </a:t>
            </a:r>
            <a:endParaRPr lang="es-CO" sz="140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9E6A148-69D8-0B54-EDF2-8E53F5198992}"/>
              </a:ext>
            </a:extLst>
          </p:cNvPr>
          <p:cNvSpPr txBox="1"/>
          <p:nvPr/>
        </p:nvSpPr>
        <p:spPr>
          <a:xfrm>
            <a:off x="-17324" y="5383732"/>
            <a:ext cx="20644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b="1"/>
              <a:t>Capacidad del Servicio</a:t>
            </a:r>
            <a:endParaRPr lang="es-CO" sz="1400" b="1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F343A2E-C4F0-E4BD-A81D-0F05489FECEB}"/>
              </a:ext>
            </a:extLst>
          </p:cNvPr>
          <p:cNvSpPr txBox="1"/>
          <p:nvPr/>
        </p:nvSpPr>
        <p:spPr>
          <a:xfrm>
            <a:off x="161676" y="5744098"/>
            <a:ext cx="173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/>
              <a:t>Procesos, ANS y KPI</a:t>
            </a:r>
            <a:endParaRPr lang="es-CO" sz="140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3E52DDF-66FA-1160-5001-89242A1DE182}"/>
              </a:ext>
            </a:extLst>
          </p:cNvPr>
          <p:cNvSpPr txBox="1"/>
          <p:nvPr/>
        </p:nvSpPr>
        <p:spPr>
          <a:xfrm>
            <a:off x="161676" y="6492875"/>
            <a:ext cx="2428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/>
              <a:t>Automatización &amp; Tecnología</a:t>
            </a:r>
            <a:endParaRPr lang="es-CO" sz="140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814F544-AD73-4CC3-03E7-AB24ADBB11A6}"/>
              </a:ext>
            </a:extLst>
          </p:cNvPr>
          <p:cNvSpPr txBox="1"/>
          <p:nvPr/>
        </p:nvSpPr>
        <p:spPr>
          <a:xfrm>
            <a:off x="3656076" y="3949586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400"/>
            </a:lvl1pPr>
          </a:lstStyle>
          <a:p>
            <a:r>
              <a:rPr lang="es-MX"/>
              <a:t>Julio</a:t>
            </a:r>
            <a:endParaRPr lang="es-CO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BB703C9-FA30-25FD-F049-1A4341D52478}"/>
              </a:ext>
            </a:extLst>
          </p:cNvPr>
          <p:cNvSpPr txBox="1"/>
          <p:nvPr/>
        </p:nvSpPr>
        <p:spPr>
          <a:xfrm>
            <a:off x="6088681" y="3952062"/>
            <a:ext cx="757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400"/>
            </a:lvl1pPr>
          </a:lstStyle>
          <a:p>
            <a:r>
              <a:rPr lang="es-MX"/>
              <a:t>Agosto </a:t>
            </a:r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1E89C5D-CE75-48D2-AEA5-FBD991358E27}"/>
              </a:ext>
            </a:extLst>
          </p:cNvPr>
          <p:cNvSpPr txBox="1"/>
          <p:nvPr/>
        </p:nvSpPr>
        <p:spPr>
          <a:xfrm>
            <a:off x="7893661" y="3949586"/>
            <a:ext cx="111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400"/>
            </a:lvl1pPr>
          </a:lstStyle>
          <a:p>
            <a:r>
              <a:rPr lang="es-MX"/>
              <a:t>Septiembre </a:t>
            </a:r>
            <a:endParaRPr lang="es-CO"/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BB95CE4C-9F10-E180-647C-379581D914CC}"/>
              </a:ext>
            </a:extLst>
          </p:cNvPr>
          <p:cNvCxnSpPr>
            <a:cxnSpLocks/>
          </p:cNvCxnSpPr>
          <p:nvPr/>
        </p:nvCxnSpPr>
        <p:spPr>
          <a:xfrm>
            <a:off x="8425979" y="3604057"/>
            <a:ext cx="0" cy="347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99AB17-CFDB-AF68-DF76-B4E07ACA209F}"/>
              </a:ext>
            </a:extLst>
          </p:cNvPr>
          <p:cNvSpPr txBox="1"/>
          <p:nvPr/>
        </p:nvSpPr>
        <p:spPr>
          <a:xfrm>
            <a:off x="10119863" y="3949586"/>
            <a:ext cx="858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O"/>
            </a:defPPr>
            <a:lvl1pPr>
              <a:defRPr sz="1400"/>
            </a:lvl1pPr>
          </a:lstStyle>
          <a:p>
            <a:r>
              <a:rPr lang="es-MX"/>
              <a:t>Octubre </a:t>
            </a:r>
            <a:endParaRPr lang="es-CO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8A48EDD-668D-F726-5FB9-BB83C555C6D6}"/>
              </a:ext>
            </a:extLst>
          </p:cNvPr>
          <p:cNvSpPr txBox="1"/>
          <p:nvPr/>
        </p:nvSpPr>
        <p:spPr>
          <a:xfrm flipH="1">
            <a:off x="1934108" y="2588158"/>
            <a:ext cx="18300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400"/>
            </a:lvl1pPr>
          </a:lstStyle>
          <a:p>
            <a:r>
              <a:rPr lang="es-MX" sz="1050"/>
              <a:t>Reactivo y crecimiento automatizado</a:t>
            </a:r>
            <a:endParaRPr lang="es-CO" sz="1050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CDE1F307-61EE-257C-4A47-7CBE3FE2807B}"/>
              </a:ext>
            </a:extLst>
          </p:cNvPr>
          <p:cNvCxnSpPr>
            <a:cxnSpLocks/>
          </p:cNvCxnSpPr>
          <p:nvPr/>
        </p:nvCxnSpPr>
        <p:spPr>
          <a:xfrm>
            <a:off x="3386001" y="2807470"/>
            <a:ext cx="526039" cy="917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24F98F94-AFE7-6177-3375-315B540FA81C}"/>
              </a:ext>
            </a:extLst>
          </p:cNvPr>
          <p:cNvCxnSpPr>
            <a:cxnSpLocks/>
          </p:cNvCxnSpPr>
          <p:nvPr/>
        </p:nvCxnSpPr>
        <p:spPr>
          <a:xfrm flipV="1">
            <a:off x="2900343" y="3714194"/>
            <a:ext cx="1012513" cy="22492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0D7BCD2F-DAFE-8D24-F060-1B7ACC275222}"/>
              </a:ext>
            </a:extLst>
          </p:cNvPr>
          <p:cNvCxnSpPr>
            <a:cxnSpLocks/>
          </p:cNvCxnSpPr>
          <p:nvPr/>
        </p:nvCxnSpPr>
        <p:spPr>
          <a:xfrm flipV="1">
            <a:off x="5453886" y="3740293"/>
            <a:ext cx="1012513" cy="22492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2371E3F-78E6-3800-27E5-E62AE30157B8}"/>
              </a:ext>
            </a:extLst>
          </p:cNvPr>
          <p:cNvSpPr txBox="1"/>
          <p:nvPr/>
        </p:nvSpPr>
        <p:spPr>
          <a:xfrm flipH="1">
            <a:off x="4890452" y="2533296"/>
            <a:ext cx="13026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400"/>
            </a:lvl1pPr>
          </a:lstStyle>
          <a:p>
            <a:r>
              <a:rPr lang="es-MX" sz="1050"/>
              <a:t>Predictivo y Evolutivo</a:t>
            </a:r>
            <a:endParaRPr lang="es-CO" sz="1050"/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A46B742C-15BD-2CDD-2D20-21075AF17EEF}"/>
              </a:ext>
            </a:extLst>
          </p:cNvPr>
          <p:cNvCxnSpPr>
            <a:cxnSpLocks/>
          </p:cNvCxnSpPr>
          <p:nvPr/>
        </p:nvCxnSpPr>
        <p:spPr>
          <a:xfrm>
            <a:off x="5930078" y="2834722"/>
            <a:ext cx="526039" cy="917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766B3B3B-DDBE-7268-1A6D-809304B7E47E}"/>
              </a:ext>
            </a:extLst>
          </p:cNvPr>
          <p:cNvCxnSpPr>
            <a:cxnSpLocks/>
          </p:cNvCxnSpPr>
          <p:nvPr/>
        </p:nvCxnSpPr>
        <p:spPr>
          <a:xfrm>
            <a:off x="7888841" y="2820816"/>
            <a:ext cx="526039" cy="917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9E75F49-D7FF-2C2E-66C4-21AAB774C30D}"/>
              </a:ext>
            </a:extLst>
          </p:cNvPr>
          <p:cNvSpPr txBox="1"/>
          <p:nvPr/>
        </p:nvSpPr>
        <p:spPr>
          <a:xfrm flipH="1">
            <a:off x="7738307" y="2549207"/>
            <a:ext cx="324025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sz="1400"/>
            </a:lvl1pPr>
          </a:lstStyle>
          <a:p>
            <a:r>
              <a:rPr lang="es-MX" sz="1050"/>
              <a:t>“Gemelos Digitales” Operación</a:t>
            </a:r>
            <a:endParaRPr lang="es-CO" sz="1050"/>
          </a:p>
        </p:txBody>
      </p: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E840B15E-69CD-7943-FB17-13CC897669D1}"/>
              </a:ext>
            </a:extLst>
          </p:cNvPr>
          <p:cNvCxnSpPr>
            <a:cxnSpLocks/>
          </p:cNvCxnSpPr>
          <p:nvPr/>
        </p:nvCxnSpPr>
        <p:spPr>
          <a:xfrm flipV="1">
            <a:off x="7395766" y="3748494"/>
            <a:ext cx="1012513" cy="22492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13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20D06-7F7D-D8A5-01CD-FC8485D0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66912F-812F-7B3C-A74F-FDCD019EF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400"/>
              <a:t>Operación: SLA(TA+TR+TS), </a:t>
            </a:r>
            <a:r>
              <a:rPr lang="es-MX" sz="2400" err="1"/>
              <a:t>Throutput</a:t>
            </a:r>
            <a:r>
              <a:rPr lang="es-MX" sz="2400"/>
              <a:t>, Penalidades -&gt; Cero</a:t>
            </a:r>
          </a:p>
          <a:p>
            <a:pPr lvl="1"/>
            <a:r>
              <a:rPr lang="es-MX" sz="2000" err="1"/>
              <a:t>Atención:Tareas</a:t>
            </a:r>
            <a:r>
              <a:rPr lang="es-MX" sz="2000"/>
              <a:t> repetitivas</a:t>
            </a:r>
          </a:p>
          <a:p>
            <a:pPr lvl="1"/>
            <a:r>
              <a:rPr lang="es-MX" sz="2000"/>
              <a:t>Disminución del </a:t>
            </a:r>
            <a:r>
              <a:rPr lang="es-MX" sz="2000" err="1"/>
              <a:t>Throutput</a:t>
            </a:r>
            <a:r>
              <a:rPr lang="es-MX" sz="2000"/>
              <a:t> -&gt; Ejecutar/Coordinar Causas Raíces</a:t>
            </a:r>
          </a:p>
          <a:p>
            <a:pPr lvl="1"/>
            <a:r>
              <a:rPr lang="es-MX" sz="2000"/>
              <a:t>AS-IS: Base económica FTE</a:t>
            </a:r>
          </a:p>
          <a:p>
            <a:pPr lvl="1"/>
            <a:r>
              <a:rPr lang="es-MX" sz="2000"/>
              <a:t>Automatización: nueva base económica </a:t>
            </a:r>
            <a:r>
              <a:rPr lang="es-MX" sz="2000" err="1"/>
              <a:t>Automzatización</a:t>
            </a:r>
            <a:r>
              <a:rPr lang="es-MX" sz="2000"/>
              <a:t> que se traslada al costo</a:t>
            </a:r>
          </a:p>
          <a:p>
            <a:r>
              <a:rPr lang="es-MX" sz="2400"/>
              <a:t>Monitoreo -&gt; Observabilidad</a:t>
            </a:r>
          </a:p>
          <a:p>
            <a:pPr lvl="1"/>
            <a:r>
              <a:rPr lang="es-MX" sz="2000"/>
              <a:t>Reactivo</a:t>
            </a:r>
          </a:p>
          <a:p>
            <a:pPr lvl="1"/>
            <a:r>
              <a:rPr lang="es-MX" sz="2000"/>
              <a:t>Preventivo</a:t>
            </a:r>
          </a:p>
          <a:p>
            <a:r>
              <a:rPr lang="es-MX" sz="2400"/>
              <a:t>Evolución del servicio: Modernización, control de seguridad y </a:t>
            </a:r>
            <a:r>
              <a:rPr lang="es-MX" sz="2400" err="1"/>
              <a:t>reddución</a:t>
            </a:r>
            <a:r>
              <a:rPr lang="es-MX" sz="2400"/>
              <a:t> de vulnerabilidades, </a:t>
            </a:r>
            <a:r>
              <a:rPr lang="es-MX" sz="2400" err="1"/>
              <a:t>skill</a:t>
            </a:r>
            <a:r>
              <a:rPr lang="es-MX" sz="2400"/>
              <a:t> de </a:t>
            </a:r>
            <a:r>
              <a:rPr lang="es-MX" sz="2400" err="1"/>
              <a:t>staffing</a:t>
            </a:r>
            <a:r>
              <a:rPr lang="es-MX" sz="2400"/>
              <a:t> actualizados.</a:t>
            </a:r>
          </a:p>
          <a:p>
            <a:endParaRPr lang="es-MX" sz="2400"/>
          </a:p>
          <a:p>
            <a:pPr marL="457200" lvl="1" indent="0">
              <a:buNone/>
            </a:pPr>
            <a:endParaRPr lang="es-MX" sz="2000"/>
          </a:p>
          <a:p>
            <a:endParaRPr lang="es-CO" sz="2400"/>
          </a:p>
        </p:txBody>
      </p:sp>
    </p:spTree>
    <p:extLst>
      <p:ext uri="{BB962C8B-B14F-4D97-AF65-F5344CB8AC3E}">
        <p14:creationId xmlns:p14="http://schemas.microsoft.com/office/powerpoint/2010/main" val="37032374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5" baseType="lpstr">
      <vt:lpstr>Tema de Office</vt:lpstr>
      <vt:lpstr>Presentación de PowerPoint</vt:lpstr>
      <vt:lpstr>Especializaciones</vt:lpstr>
      <vt:lpstr>Road Map – Mesa de Servicio Gen Next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Jhon Fredy Jimenez Vélez</dc:creator>
  <cp:revision>2</cp:revision>
  <dcterms:created xsi:type="dcterms:W3CDTF">2026-07-01T19:02:18Z</dcterms:created>
  <dcterms:modified xsi:type="dcterms:W3CDTF">2026-07-01T20:32:00Z</dcterms:modified>
</cp:coreProperties>
</file>