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11"/>
  </p:notesMasterIdLst>
  <p:sldIdLst>
    <p:sldId id="293" r:id="rId3"/>
    <p:sldId id="306" r:id="rId4"/>
    <p:sldId id="318" r:id="rId5"/>
    <p:sldId id="273" r:id="rId6"/>
    <p:sldId id="274" r:id="rId7"/>
    <p:sldId id="319" r:id="rId8"/>
    <p:sldId id="320" r:id="rId9"/>
    <p:sldId id="321" r:id="rId10"/>
  </p:sldIdLst>
  <p:sldSz cx="9144000" cy="5143500" type="screen16x9"/>
  <p:notesSz cx="6858000" cy="9144000"/>
  <p:embeddedFontLst>
    <p:embeddedFont>
      <p:font typeface="Reddit Sans" panose="020B0604020202020204" charset="0"/>
      <p:regular r:id="rId12"/>
      <p:bold r:id="rId13"/>
      <p:italic r:id="rId14"/>
      <p:boldItalic r:id="rId15"/>
    </p:embeddedFont>
    <p:embeddedFont>
      <p:font typeface="Reddit Sans SemiBold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C7AEB-803E-58E8-3032-67EAC5529C77}" v="1406" dt="2026-07-08T21:07:31.329"/>
    <p1510:client id="{8CFE1048-07CD-42CF-A5E3-F35DEFEF98BF}" v="1632" dt="2026-07-08T20:34:32.701"/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55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6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1" r:id="rId3"/>
    <p:sldLayoutId id="2147483673" r:id="rId4"/>
    <p:sldLayoutId id="2147483664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invgate.com/itsm-statistics" TargetMode="External"/><Relationship Id="rId3" Type="http://schemas.openxmlformats.org/officeDocument/2006/relationships/hyperlink" Target="https://www.thinkhdi.com/~/media/HDICorp/Files/Standards/HDI-SC-Standard-v-5-0.pdf" TargetMode="External"/><Relationship Id="rId7" Type="http://schemas.openxmlformats.org/officeDocument/2006/relationships/hyperlink" Target="https://www.givainc.com/blog/shift-left-analysis-how-to-guide-maximize-it-service-management-itsm-efficiency/" TargetMode="External"/><Relationship Id="rId2" Type="http://schemas.openxmlformats.org/officeDocument/2006/relationships/hyperlink" Target="https://www.sqmgroup.com/resources/library/blog/what-good-first-call-resolution-rat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shservice.com/assets/resources/freshservice/freshservice-it-service-management-benchmark-report-2024.pdf" TargetMode="External"/><Relationship Id="rId5" Type="http://schemas.openxmlformats.org/officeDocument/2006/relationships/hyperlink" Target="https://kwestra.com/service-desk-kpis/" TargetMode="External"/><Relationship Id="rId4" Type="http://schemas.openxmlformats.org/officeDocument/2006/relationships/hyperlink" Target="https://www.metricnet.com/service-desk-benchmark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icnet.com/service-desk-benchmarks/" TargetMode="External"/><Relationship Id="rId2" Type="http://schemas.openxmlformats.org/officeDocument/2006/relationships/hyperlink" Target="https://www.thinkhdi.com/~/media/HDICorp/Files/Standards/HDI-SC-Standard-v-5-0.pdf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ivainc.com/blog/shift-left-analysis-how-to-guide-maximize-it-service-management-itsm-efficienc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" name="dec1"/>
          <p:cNvSpPr>
            <a:spLocks noGrp="1"/>
          </p:cNvSpPr>
          <p:nvPr/>
        </p:nvSpPr>
        <p:spPr>
          <a:xfrm>
            <a:off x="6217920" y="0"/>
            <a:ext cx="2286000" cy="5143500"/>
          </a:xfrm>
          <a:prstGeom prst="rect">
            <a:avLst/>
          </a:prstGeom>
          <a:solidFill>
            <a:srgbClr val="132A6B"/>
          </a:solidFill>
          <a:ln>
            <a:noFill/>
          </a:ln>
        </p:spPr>
      </p:sp>
      <p:sp>
        <p:nvSpPr>
          <p:cNvPr id="4" name="dec2"/>
          <p:cNvSpPr>
            <a:spLocks noGrp="1"/>
          </p:cNvSpPr>
          <p:nvPr/>
        </p:nvSpPr>
        <p:spPr>
          <a:xfrm>
            <a:off x="6766560" y="0"/>
            <a:ext cx="1828800" cy="5143500"/>
          </a:xfrm>
          <a:prstGeom prst="rect">
            <a:avLst/>
          </a:prstGeom>
          <a:solidFill>
            <a:srgbClr val="0F2060"/>
          </a:solidFill>
          <a:ln>
            <a:noFill/>
          </a:ln>
        </p:spPr>
      </p:sp>
      <p:sp>
        <p:nvSpPr>
          <p:cNvPr id="5" name="bot"/>
          <p:cNvSpPr>
            <a:spLocks noGrp="1"/>
          </p:cNvSpPr>
          <p:nvPr/>
        </p:nvSpPr>
        <p:spPr>
          <a:xfrm>
            <a:off x="0" y="3931920"/>
            <a:ext cx="9144000" cy="54864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6" name="ttl1"/>
          <p:cNvSpPr txBox="1">
            <a:spLocks noGrp="1"/>
          </p:cNvSpPr>
          <p:nvPr/>
        </p:nvSpPr>
        <p:spPr>
          <a:xfrm>
            <a:off x="457200" y="91440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4000" b="1" dirty="0">
                <a:solidFill>
                  <a:srgbClr val="FFFFFF"/>
                </a:solidFill>
                <a:latin typeface="Calibri"/>
              </a:rPr>
              <a:t>Mesas de Servicio</a:t>
            </a:r>
          </a:p>
        </p:txBody>
      </p:sp>
      <p:sp>
        <p:nvSpPr>
          <p:cNvPr id="7" name="ttl2"/>
          <p:cNvSpPr txBox="1">
            <a:spLocks noGrp="1"/>
          </p:cNvSpPr>
          <p:nvPr/>
        </p:nvSpPr>
        <p:spPr>
          <a:xfrm>
            <a:off x="457200" y="1664208"/>
            <a:ext cx="566928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3200" b="1" dirty="0">
                <a:solidFill>
                  <a:srgbClr val="C8DDFF"/>
                </a:solidFill>
                <a:latin typeface="Calibri"/>
              </a:rPr>
              <a:t>de Nueva Generacion</a:t>
            </a:r>
          </a:p>
        </p:txBody>
      </p:sp>
      <p:sp>
        <p:nvSpPr>
          <p:cNvPr id="8" name="sub"/>
          <p:cNvSpPr txBox="1">
            <a:spLocks noGrp="1"/>
          </p:cNvSpPr>
          <p:nvPr/>
        </p:nvSpPr>
        <p:spPr>
          <a:xfrm>
            <a:off x="457200" y="2249424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100" dirty="0">
                <a:solidFill>
                  <a:srgbClr val="8AB0E8"/>
                </a:solidFill>
                <a:latin typeface="Calibri"/>
              </a:rPr>
              <a:t>Diagnostico Actual · Estado de las 12 Mesas · Julio 2026</a:t>
            </a:r>
          </a:p>
        </p:txBody>
      </p:sp>
      <p:sp>
        <p:nvSpPr>
          <p:cNvPr id="10" name="dn"/>
          <p:cNvSpPr txBox="1">
            <a:spLocks noGrp="1"/>
          </p:cNvSpPr>
          <p:nvPr/>
        </p:nvSpPr>
        <p:spPr>
          <a:xfrm>
            <a:off x="457200" y="3968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200" b="1" dirty="0">
                <a:solidFill>
                  <a:srgbClr val="FFFFFF"/>
                </a:solidFill>
                <a:latin typeface="Calibri"/>
              </a:rPr>
              <a:t>12</a:t>
            </a:r>
            <a:r>
              <a:rPr lang="es-ES" sz="1000" dirty="0">
                <a:solidFill>
                  <a:srgbClr val="D6E8FF"/>
                </a:solidFill>
                <a:latin typeface="Calibri"/>
              </a:rPr>
              <a:t>  mesas activas</a:t>
            </a:r>
          </a:p>
        </p:txBody>
      </p:sp>
      <p:sp>
        <p:nvSpPr>
          <p:cNvPr id="12" name="dn"/>
          <p:cNvSpPr txBox="1">
            <a:spLocks noGrp="1"/>
          </p:cNvSpPr>
          <p:nvPr/>
        </p:nvSpPr>
        <p:spPr>
          <a:xfrm>
            <a:off x="2286000" y="3968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200" b="1" dirty="0">
                <a:solidFill>
                  <a:srgbClr val="FFFFFF"/>
                </a:solidFill>
                <a:latin typeface="Calibri"/>
              </a:rPr>
              <a:t>69</a:t>
            </a:r>
            <a:r>
              <a:rPr lang="es-ES" sz="1000" dirty="0">
                <a:solidFill>
                  <a:srgbClr val="D6E8FF"/>
                </a:solidFill>
                <a:latin typeface="Calibri"/>
              </a:rPr>
              <a:t>  FTE totales</a:t>
            </a:r>
          </a:p>
        </p:txBody>
      </p:sp>
      <p:sp>
        <p:nvSpPr>
          <p:cNvPr id="14" name="dn"/>
          <p:cNvSpPr txBox="1">
            <a:spLocks noGrp="1"/>
          </p:cNvSpPr>
          <p:nvPr/>
        </p:nvSpPr>
        <p:spPr>
          <a:xfrm>
            <a:off x="4114800" y="3968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200" b="1" dirty="0">
                <a:solidFill>
                  <a:srgbClr val="FFFFFF"/>
                </a:solidFill>
                <a:latin typeface="Calibri"/>
              </a:rPr>
              <a:t>5</a:t>
            </a:r>
            <a:r>
              <a:rPr lang="es-ES" sz="1000" dirty="0">
                <a:solidFill>
                  <a:srgbClr val="D6E8FF"/>
                </a:solidFill>
                <a:latin typeface="Calibri"/>
              </a:rPr>
              <a:t>  clientes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47472" y="100584"/>
            <a:ext cx="7717536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¿Dónde estamos? — 12 Mesas, 5 Clientes, 0 en N3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47472" y="585216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60" dirty="0">
                <a:solidFill>
                  <a:srgbClr val="D6E8FF"/>
                </a:solidFill>
                <a:latin typeface="Calibri"/>
              </a:rPr>
              <a:t>Ninguna mesa ha llegado al nivel minimo de madurez (N3) · Meta Wave 1: todas a N3 antes de Dic 2026</a:t>
            </a:r>
          </a:p>
        </p:txBody>
      </p:sp>
      <p:sp>
        <p:nvSpPr>
          <p:cNvPr id="10" name="kb"/>
          <p:cNvSpPr>
            <a:spLocks noGrp="1"/>
          </p:cNvSpPr>
          <p:nvPr/>
        </p:nvSpPr>
        <p:spPr>
          <a:xfrm>
            <a:off x="320040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11" name="kt"/>
          <p:cNvSpPr>
            <a:spLocks noGrp="1"/>
          </p:cNvSpPr>
          <p:nvPr/>
        </p:nvSpPr>
        <p:spPr>
          <a:xfrm>
            <a:off x="320040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" name="kn"/>
          <p:cNvSpPr txBox="1">
            <a:spLocks noGrp="1"/>
          </p:cNvSpPr>
          <p:nvPr/>
        </p:nvSpPr>
        <p:spPr>
          <a:xfrm>
            <a:off x="320040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2600" b="1" dirty="0">
                <a:solidFill>
                  <a:srgbClr val="1A3A8F"/>
                </a:solidFill>
                <a:latin typeface="Calibri"/>
              </a:rPr>
              <a:t>12</a:t>
            </a:r>
          </a:p>
        </p:txBody>
      </p:sp>
      <p:sp>
        <p:nvSpPr>
          <p:cNvPr id="13" name="kl"/>
          <p:cNvSpPr txBox="1">
            <a:spLocks noGrp="1"/>
          </p:cNvSpPr>
          <p:nvPr/>
        </p:nvSpPr>
        <p:spPr>
          <a:xfrm>
            <a:off x="393192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dirty="0">
                <a:solidFill>
                  <a:srgbClr val="1A3A8F"/>
                </a:solidFill>
                <a:latin typeface="Calibri"/>
              </a:rPr>
              <a:t>mesas
levantadas</a:t>
            </a:r>
          </a:p>
        </p:txBody>
      </p:sp>
      <p:sp>
        <p:nvSpPr>
          <p:cNvPr id="15" name="kb"/>
          <p:cNvSpPr>
            <a:spLocks noGrp="1"/>
          </p:cNvSpPr>
          <p:nvPr/>
        </p:nvSpPr>
        <p:spPr>
          <a:xfrm>
            <a:off x="2258568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E8EDF8"/>
          </a:solidFill>
          <a:ln w="12700">
            <a:solidFill>
              <a:srgbClr val="0D1B5E"/>
            </a:solidFill>
          </a:ln>
        </p:spPr>
      </p:sp>
      <p:sp>
        <p:nvSpPr>
          <p:cNvPr id="16" name="kt"/>
          <p:cNvSpPr>
            <a:spLocks noGrp="1"/>
          </p:cNvSpPr>
          <p:nvPr/>
        </p:nvSpPr>
        <p:spPr>
          <a:xfrm>
            <a:off x="2258568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7" name="kn"/>
          <p:cNvSpPr txBox="1">
            <a:spLocks noGrp="1"/>
          </p:cNvSpPr>
          <p:nvPr/>
        </p:nvSpPr>
        <p:spPr>
          <a:xfrm>
            <a:off x="2258568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2600" b="1" dirty="0">
                <a:solidFill>
                  <a:srgbClr val="0D1B5E"/>
                </a:solidFill>
                <a:latin typeface="Calibri"/>
              </a:rPr>
              <a:t>69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2331720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dirty="0">
                <a:solidFill>
                  <a:srgbClr val="0D1B5E"/>
                </a:solidFill>
                <a:latin typeface="Calibri"/>
              </a:rPr>
              <a:t>FTE
totales</a:t>
            </a:r>
          </a:p>
        </p:txBody>
      </p:sp>
      <p:sp>
        <p:nvSpPr>
          <p:cNvPr id="20" name="kb"/>
          <p:cNvSpPr>
            <a:spLocks noGrp="1"/>
          </p:cNvSpPr>
          <p:nvPr/>
        </p:nvSpPr>
        <p:spPr>
          <a:xfrm>
            <a:off x="4197096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</p:sp>
      <p:sp>
        <p:nvSpPr>
          <p:cNvPr id="21" name="kt"/>
          <p:cNvSpPr>
            <a:spLocks noGrp="1"/>
          </p:cNvSpPr>
          <p:nvPr/>
        </p:nvSpPr>
        <p:spPr>
          <a:xfrm>
            <a:off x="4197096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22" name="kn"/>
          <p:cNvSpPr txBox="1">
            <a:spLocks noGrp="1"/>
          </p:cNvSpPr>
          <p:nvPr/>
        </p:nvSpPr>
        <p:spPr>
          <a:xfrm>
            <a:off x="4197096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2600" b="1" dirty="0">
                <a:solidFill>
                  <a:srgbClr val="B91C1C"/>
                </a:solidFill>
                <a:latin typeface="Calibri"/>
              </a:rPr>
              <a:t>0</a:t>
            </a:r>
          </a:p>
        </p:txBody>
      </p:sp>
      <p:sp>
        <p:nvSpPr>
          <p:cNvPr id="23" name="kl"/>
          <p:cNvSpPr txBox="1">
            <a:spLocks noGrp="1"/>
          </p:cNvSpPr>
          <p:nvPr/>
        </p:nvSpPr>
        <p:spPr>
          <a:xfrm>
            <a:off x="4270248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dirty="0">
                <a:solidFill>
                  <a:srgbClr val="B91C1C"/>
                </a:solidFill>
                <a:latin typeface="Calibri"/>
              </a:rPr>
              <a:t>mesas en
N3 META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6135624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E4F4F6"/>
          </a:solidFill>
          <a:ln w="12700">
            <a:solidFill>
              <a:srgbClr val="1B7B85"/>
            </a:solidFill>
          </a:ln>
        </p:spPr>
      </p:sp>
      <p:sp>
        <p:nvSpPr>
          <p:cNvPr id="26" name="kt"/>
          <p:cNvSpPr>
            <a:spLocks noGrp="1"/>
          </p:cNvSpPr>
          <p:nvPr/>
        </p:nvSpPr>
        <p:spPr>
          <a:xfrm>
            <a:off x="6135624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27" name="kn"/>
          <p:cNvSpPr txBox="1">
            <a:spLocks noGrp="1"/>
          </p:cNvSpPr>
          <p:nvPr/>
        </p:nvSpPr>
        <p:spPr>
          <a:xfrm>
            <a:off x="6135624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2600" b="1" dirty="0">
                <a:solidFill>
                  <a:srgbClr val="1B7B85"/>
                </a:solidFill>
                <a:latin typeface="Calibri"/>
              </a:rPr>
              <a:t>5</a:t>
            </a:r>
          </a:p>
        </p:txBody>
      </p:sp>
      <p:sp>
        <p:nvSpPr>
          <p:cNvPr id="28" name="kl"/>
          <p:cNvSpPr txBox="1">
            <a:spLocks noGrp="1"/>
          </p:cNvSpPr>
          <p:nvPr/>
        </p:nvSpPr>
        <p:spPr>
          <a:xfrm>
            <a:off x="6208776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dirty="0">
                <a:solidFill>
                  <a:srgbClr val="1B7B85"/>
                </a:solidFill>
                <a:latin typeface="Calibri"/>
              </a:rPr>
              <a:t>clientes
activos</a:t>
            </a:r>
          </a:p>
        </p:txBody>
      </p:sp>
      <p:sp>
        <p:nvSpPr>
          <p:cNvPr id="30" name="bg2"/>
          <p:cNvSpPr>
            <a:spLocks noGrp="1"/>
          </p:cNvSpPr>
          <p:nvPr/>
        </p:nvSpPr>
        <p:spPr>
          <a:xfrm>
            <a:off x="320040" y="1737360"/>
            <a:ext cx="7717536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</p:sp>
      <p:sp>
        <p:nvSpPr>
          <p:cNvPr id="31" name="nb"/>
          <p:cNvSpPr>
            <a:spLocks noGrp="1"/>
          </p:cNvSpPr>
          <p:nvPr/>
        </p:nvSpPr>
        <p:spPr>
          <a:xfrm>
            <a:off x="320040" y="1737360"/>
            <a:ext cx="786384" cy="91440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32" name="nt"/>
          <p:cNvSpPr txBox="1">
            <a:spLocks noGrp="1"/>
          </p:cNvSpPr>
          <p:nvPr/>
        </p:nvSpPr>
        <p:spPr>
          <a:xfrm>
            <a:off x="320040" y="1810512"/>
            <a:ext cx="786384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60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33" name="nl"/>
          <p:cNvSpPr txBox="1">
            <a:spLocks noGrp="1"/>
          </p:cNvSpPr>
          <p:nvPr/>
        </p:nvSpPr>
        <p:spPr>
          <a:xfrm>
            <a:off x="320040" y="2286000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40" name="mc"/>
          <p:cNvSpPr>
            <a:spLocks noGrp="1"/>
          </p:cNvSpPr>
          <p:nvPr/>
        </p:nvSpPr>
        <p:spPr>
          <a:xfrm>
            <a:off x="1161288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41" name="mb"/>
          <p:cNvSpPr>
            <a:spLocks noGrp="1"/>
          </p:cNvSpPr>
          <p:nvPr/>
        </p:nvSpPr>
        <p:spPr>
          <a:xfrm>
            <a:off x="1161288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42" name="mt"/>
          <p:cNvSpPr txBox="1">
            <a:spLocks noGrp="1"/>
          </p:cNvSpPr>
          <p:nvPr/>
        </p:nvSpPr>
        <p:spPr>
          <a:xfrm>
            <a:off x="1216152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B91C1C"/>
                </a:solidFill>
                <a:latin typeface="Calibri"/>
              </a:rPr>
              <a:t>AES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Energia · 4 FTE</a:t>
            </a:r>
          </a:p>
        </p:txBody>
      </p:sp>
      <p:sp>
        <p:nvSpPr>
          <p:cNvPr id="43" name="mc"/>
          <p:cNvSpPr>
            <a:spLocks noGrp="1"/>
          </p:cNvSpPr>
          <p:nvPr/>
        </p:nvSpPr>
        <p:spPr>
          <a:xfrm>
            <a:off x="2138389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44" name="mb"/>
          <p:cNvSpPr>
            <a:spLocks noGrp="1"/>
          </p:cNvSpPr>
          <p:nvPr/>
        </p:nvSpPr>
        <p:spPr>
          <a:xfrm>
            <a:off x="2138389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45" name="mt"/>
          <p:cNvSpPr txBox="1">
            <a:spLocks noGrp="1"/>
          </p:cNvSpPr>
          <p:nvPr/>
        </p:nvSpPr>
        <p:spPr>
          <a:xfrm>
            <a:off x="2193253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B91C1C"/>
                </a:solidFill>
                <a:latin typeface="Calibri"/>
              </a:rPr>
              <a:t>BCO COES Integracion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Banca · 7 FTE</a:t>
            </a:r>
          </a:p>
        </p:txBody>
      </p:sp>
      <p:sp>
        <p:nvSpPr>
          <p:cNvPr id="46" name="mc"/>
          <p:cNvSpPr>
            <a:spLocks noGrp="1"/>
          </p:cNvSpPr>
          <p:nvPr/>
        </p:nvSpPr>
        <p:spPr>
          <a:xfrm>
            <a:off x="3115491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47" name="mb"/>
          <p:cNvSpPr>
            <a:spLocks noGrp="1"/>
          </p:cNvSpPr>
          <p:nvPr/>
        </p:nvSpPr>
        <p:spPr>
          <a:xfrm>
            <a:off x="3115491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48" name="mt"/>
          <p:cNvSpPr txBox="1">
            <a:spLocks noGrp="1"/>
          </p:cNvSpPr>
          <p:nvPr/>
        </p:nvSpPr>
        <p:spPr>
          <a:xfrm>
            <a:off x="3170355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B91C1C"/>
                </a:solidFill>
                <a:latin typeface="Calibri"/>
              </a:rPr>
              <a:t>BCO COES Datos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Banca · 7 FTE</a:t>
            </a:r>
          </a:p>
        </p:txBody>
      </p:sp>
      <p:sp>
        <p:nvSpPr>
          <p:cNvPr id="49" name="mc"/>
          <p:cNvSpPr>
            <a:spLocks noGrp="1"/>
          </p:cNvSpPr>
          <p:nvPr/>
        </p:nvSpPr>
        <p:spPr>
          <a:xfrm>
            <a:off x="4092593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0" name="mb"/>
          <p:cNvSpPr>
            <a:spLocks noGrp="1"/>
          </p:cNvSpPr>
          <p:nvPr/>
        </p:nvSpPr>
        <p:spPr>
          <a:xfrm>
            <a:off x="4092593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1" name="mt"/>
          <p:cNvSpPr txBox="1">
            <a:spLocks noGrp="1"/>
          </p:cNvSpPr>
          <p:nvPr/>
        </p:nvSpPr>
        <p:spPr>
          <a:xfrm>
            <a:off x="4147457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B91C1C"/>
                </a:solidFill>
                <a:latin typeface="Calibri"/>
              </a:rPr>
              <a:t>BCO Soporte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Banca · 13 FTE</a:t>
            </a:r>
          </a:p>
        </p:txBody>
      </p:sp>
      <p:sp>
        <p:nvSpPr>
          <p:cNvPr id="52" name="mc"/>
          <p:cNvSpPr>
            <a:spLocks noGrp="1"/>
          </p:cNvSpPr>
          <p:nvPr/>
        </p:nvSpPr>
        <p:spPr>
          <a:xfrm>
            <a:off x="5069694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3" name="mb"/>
          <p:cNvSpPr>
            <a:spLocks noGrp="1"/>
          </p:cNvSpPr>
          <p:nvPr/>
        </p:nvSpPr>
        <p:spPr>
          <a:xfrm>
            <a:off x="5069694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4" name="mt"/>
          <p:cNvSpPr txBox="1">
            <a:spLocks noGrp="1"/>
          </p:cNvSpPr>
          <p:nvPr/>
        </p:nvSpPr>
        <p:spPr>
          <a:xfrm>
            <a:off x="5124558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B91C1C"/>
                </a:solidFill>
                <a:latin typeface="Calibri"/>
              </a:rPr>
              <a:t>BCO COES Emma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Banca · 4 FTE</a:t>
            </a:r>
          </a:p>
        </p:txBody>
      </p:sp>
      <p:sp>
        <p:nvSpPr>
          <p:cNvPr id="55" name="mc"/>
          <p:cNvSpPr>
            <a:spLocks noGrp="1"/>
          </p:cNvSpPr>
          <p:nvPr/>
        </p:nvSpPr>
        <p:spPr>
          <a:xfrm>
            <a:off x="6046796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6" name="mb"/>
          <p:cNvSpPr>
            <a:spLocks noGrp="1"/>
          </p:cNvSpPr>
          <p:nvPr/>
        </p:nvSpPr>
        <p:spPr>
          <a:xfrm>
            <a:off x="6046796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7" name="mt"/>
          <p:cNvSpPr txBox="1">
            <a:spLocks noGrp="1"/>
          </p:cNvSpPr>
          <p:nvPr/>
        </p:nvSpPr>
        <p:spPr>
          <a:xfrm>
            <a:off x="6101660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B91C1C"/>
                </a:solidFill>
                <a:latin typeface="Calibri"/>
              </a:rPr>
              <a:t>BCO Emma iSeries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Banca · 1 FTE</a:t>
            </a:r>
          </a:p>
        </p:txBody>
      </p:sp>
      <p:sp>
        <p:nvSpPr>
          <p:cNvPr id="58" name="mc"/>
          <p:cNvSpPr>
            <a:spLocks noGrp="1"/>
          </p:cNvSpPr>
          <p:nvPr/>
        </p:nvSpPr>
        <p:spPr>
          <a:xfrm>
            <a:off x="7023898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9" name="mb"/>
          <p:cNvSpPr>
            <a:spLocks noGrp="1"/>
          </p:cNvSpPr>
          <p:nvPr/>
        </p:nvSpPr>
        <p:spPr>
          <a:xfrm>
            <a:off x="7023898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60" name="mt"/>
          <p:cNvSpPr txBox="1">
            <a:spLocks noGrp="1"/>
          </p:cNvSpPr>
          <p:nvPr/>
        </p:nvSpPr>
        <p:spPr>
          <a:xfrm>
            <a:off x="7078762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B91C1C"/>
                </a:solidFill>
                <a:latin typeface="Calibri"/>
              </a:rPr>
              <a:t>MEDICARTE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Salud · 12 FTE</a:t>
            </a:r>
          </a:p>
        </p:txBody>
      </p:sp>
      <p:sp>
        <p:nvSpPr>
          <p:cNvPr id="80" name="bg2"/>
          <p:cNvSpPr>
            <a:spLocks noGrp="1"/>
          </p:cNvSpPr>
          <p:nvPr/>
        </p:nvSpPr>
        <p:spPr>
          <a:xfrm>
            <a:off x="320040" y="2761488"/>
            <a:ext cx="7717536" cy="9144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9050">
            <a:solidFill>
              <a:srgbClr val="D6E8FF"/>
            </a:solidFill>
          </a:ln>
        </p:spPr>
      </p:sp>
      <p:sp>
        <p:nvSpPr>
          <p:cNvPr id="81" name="nb"/>
          <p:cNvSpPr>
            <a:spLocks noGrp="1"/>
          </p:cNvSpPr>
          <p:nvPr/>
        </p:nvSpPr>
        <p:spPr>
          <a:xfrm>
            <a:off x="320040" y="2761488"/>
            <a:ext cx="786384" cy="914400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2" name="nt"/>
          <p:cNvSpPr txBox="1">
            <a:spLocks noGrp="1"/>
          </p:cNvSpPr>
          <p:nvPr/>
        </p:nvSpPr>
        <p:spPr>
          <a:xfrm>
            <a:off x="320040" y="2834640"/>
            <a:ext cx="786384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6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83" name="nl"/>
          <p:cNvSpPr txBox="1">
            <a:spLocks noGrp="1"/>
          </p:cNvSpPr>
          <p:nvPr/>
        </p:nvSpPr>
        <p:spPr>
          <a:xfrm>
            <a:off x="320040" y="3310128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Admin.</a:t>
            </a:r>
          </a:p>
        </p:txBody>
      </p:sp>
      <p:sp>
        <p:nvSpPr>
          <p:cNvPr id="90" name="mc"/>
          <p:cNvSpPr>
            <a:spLocks noGrp="1"/>
          </p:cNvSpPr>
          <p:nvPr/>
        </p:nvSpPr>
        <p:spPr>
          <a:xfrm>
            <a:off x="1161288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1" name="mb"/>
          <p:cNvSpPr>
            <a:spLocks noGrp="1"/>
          </p:cNvSpPr>
          <p:nvPr/>
        </p:nvSpPr>
        <p:spPr>
          <a:xfrm>
            <a:off x="1161288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2" name="mt"/>
          <p:cNvSpPr txBox="1">
            <a:spLocks noGrp="1"/>
          </p:cNvSpPr>
          <p:nvPr/>
        </p:nvSpPr>
        <p:spPr>
          <a:xfrm>
            <a:off x="1216152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1A3A8F"/>
                </a:solidFill>
                <a:latin typeface="Calibri"/>
              </a:rPr>
              <a:t>SURA Cotizadores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Seguros · 8 FTE</a:t>
            </a:r>
          </a:p>
        </p:txBody>
      </p:sp>
      <p:sp>
        <p:nvSpPr>
          <p:cNvPr id="93" name="mc"/>
          <p:cNvSpPr>
            <a:spLocks noGrp="1"/>
          </p:cNvSpPr>
          <p:nvPr/>
        </p:nvSpPr>
        <p:spPr>
          <a:xfrm>
            <a:off x="2529230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4" name="mb"/>
          <p:cNvSpPr>
            <a:spLocks noGrp="1"/>
          </p:cNvSpPr>
          <p:nvPr/>
        </p:nvSpPr>
        <p:spPr>
          <a:xfrm>
            <a:off x="2529230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5" name="mt"/>
          <p:cNvSpPr txBox="1">
            <a:spLocks noGrp="1"/>
          </p:cNvSpPr>
          <p:nvPr/>
        </p:nvSpPr>
        <p:spPr>
          <a:xfrm>
            <a:off x="2584094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1A3A8F"/>
                </a:solidFill>
                <a:latin typeface="Calibri"/>
              </a:rPr>
              <a:t>SURA Venta Digital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Seguros · 2 FTE</a:t>
            </a:r>
          </a:p>
        </p:txBody>
      </p:sp>
      <p:sp>
        <p:nvSpPr>
          <p:cNvPr id="96" name="mc"/>
          <p:cNvSpPr>
            <a:spLocks noGrp="1"/>
          </p:cNvSpPr>
          <p:nvPr/>
        </p:nvSpPr>
        <p:spPr>
          <a:xfrm>
            <a:off x="3897172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7" name="mb"/>
          <p:cNvSpPr>
            <a:spLocks noGrp="1"/>
          </p:cNvSpPr>
          <p:nvPr/>
        </p:nvSpPr>
        <p:spPr>
          <a:xfrm>
            <a:off x="3897172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8" name="mt"/>
          <p:cNvSpPr txBox="1">
            <a:spLocks noGrp="1"/>
          </p:cNvSpPr>
          <p:nvPr/>
        </p:nvSpPr>
        <p:spPr>
          <a:xfrm>
            <a:off x="3952036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1A3A8F"/>
                </a:solidFill>
                <a:latin typeface="Calibri"/>
              </a:rPr>
              <a:t>SURA Automatizacion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Seguros · 6 FTE</a:t>
            </a:r>
          </a:p>
        </p:txBody>
      </p:sp>
      <p:sp>
        <p:nvSpPr>
          <p:cNvPr id="99" name="mc"/>
          <p:cNvSpPr>
            <a:spLocks noGrp="1"/>
          </p:cNvSpPr>
          <p:nvPr/>
        </p:nvSpPr>
        <p:spPr>
          <a:xfrm>
            <a:off x="5265115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0" name="mb"/>
          <p:cNvSpPr>
            <a:spLocks noGrp="1"/>
          </p:cNvSpPr>
          <p:nvPr/>
        </p:nvSpPr>
        <p:spPr>
          <a:xfrm>
            <a:off x="5265115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01" name="mt"/>
          <p:cNvSpPr txBox="1">
            <a:spLocks noGrp="1"/>
          </p:cNvSpPr>
          <p:nvPr/>
        </p:nvSpPr>
        <p:spPr>
          <a:xfrm>
            <a:off x="5319979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1A3A8F"/>
                </a:solidFill>
                <a:latin typeface="Calibri"/>
              </a:rPr>
              <a:t>SURA Canales Masivos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Seguros · 1 FTE</a:t>
            </a:r>
          </a:p>
        </p:txBody>
      </p:sp>
      <p:sp>
        <p:nvSpPr>
          <p:cNvPr id="102" name="mc"/>
          <p:cNvSpPr>
            <a:spLocks noGrp="1"/>
          </p:cNvSpPr>
          <p:nvPr/>
        </p:nvSpPr>
        <p:spPr>
          <a:xfrm>
            <a:off x="6633057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3" name="mb"/>
          <p:cNvSpPr>
            <a:spLocks noGrp="1"/>
          </p:cNvSpPr>
          <p:nvPr/>
        </p:nvSpPr>
        <p:spPr>
          <a:xfrm>
            <a:off x="6633057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04" name="mt"/>
          <p:cNvSpPr txBox="1">
            <a:spLocks noGrp="1"/>
          </p:cNvSpPr>
          <p:nvPr/>
        </p:nvSpPr>
        <p:spPr>
          <a:xfrm>
            <a:off x="6687921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s-ES" sz="780" b="1" dirty="0">
                <a:solidFill>
                  <a:srgbClr val="1A3A8F"/>
                </a:solidFill>
                <a:latin typeface="Calibri"/>
              </a:rPr>
              <a:t>XM Apps Criticas</a:t>
            </a:r>
          </a:p>
          <a:p>
            <a:pPr algn="ctr"/>
            <a:r>
              <a:rPr lang="es-ES" sz="700" i="1" dirty="0">
                <a:solidFill>
                  <a:srgbClr val="5A6475"/>
                </a:solidFill>
                <a:latin typeface="Calibri"/>
              </a:rPr>
              <a:t>Energia · 4 FTE</a:t>
            </a:r>
          </a:p>
        </p:txBody>
      </p:sp>
      <p:sp>
        <p:nvSpPr>
          <p:cNvPr id="150" name="n3bg"/>
          <p:cNvSpPr>
            <a:spLocks noGrp="1"/>
          </p:cNvSpPr>
          <p:nvPr/>
        </p:nvSpPr>
        <p:spPr>
          <a:xfrm>
            <a:off x="320040" y="3785616"/>
            <a:ext cx="7717536" cy="54864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9050">
            <a:solidFill>
              <a:srgbClr val="0E6B3C"/>
            </a:solidFill>
          </a:ln>
        </p:spPr>
      </p:sp>
      <p:sp>
        <p:nvSpPr>
          <p:cNvPr id="151" name="n3b"/>
          <p:cNvSpPr>
            <a:spLocks noGrp="1"/>
          </p:cNvSpPr>
          <p:nvPr/>
        </p:nvSpPr>
        <p:spPr>
          <a:xfrm>
            <a:off x="320040" y="3785616"/>
            <a:ext cx="786384" cy="548640"/>
          </a:xfrm>
          <a:prstGeom prst="roundRect">
            <a:avLst>
              <a:gd name="adj" fmla="val 10000"/>
            </a:avLst>
          </a:prstGeom>
          <a:solidFill>
            <a:srgbClr val="0E6B3C"/>
          </a:solidFill>
          <a:ln>
            <a:noFill/>
          </a:ln>
        </p:spPr>
      </p:sp>
      <p:sp>
        <p:nvSpPr>
          <p:cNvPr id="152" name="n3t"/>
          <p:cNvSpPr txBox="1">
            <a:spLocks noGrp="1"/>
          </p:cNvSpPr>
          <p:nvPr/>
        </p:nvSpPr>
        <p:spPr>
          <a:xfrm>
            <a:off x="320040" y="3840480"/>
            <a:ext cx="786384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600" b="1" dirty="0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153" name="n3l"/>
          <p:cNvSpPr txBox="1">
            <a:spLocks noGrp="1"/>
          </p:cNvSpPr>
          <p:nvPr/>
        </p:nvSpPr>
        <p:spPr>
          <a:xfrm>
            <a:off x="320040" y="4151376"/>
            <a:ext cx="78638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154" name="n3d"/>
          <p:cNvSpPr txBox="1">
            <a:spLocks noGrp="1"/>
          </p:cNvSpPr>
          <p:nvPr/>
        </p:nvSpPr>
        <p:spPr>
          <a:xfrm>
            <a:off x="1188720" y="387705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60" b="1" dirty="0">
                <a:solidFill>
                  <a:srgbClr val="0E6B3C"/>
                </a:solidFill>
                <a:latin typeface="Calibri"/>
              </a:rPr>
              <a:t>RACI · ANS firmado · Catalogo activo · KEDB · KPIs en tiempo real · Gobierno claro</a:t>
            </a:r>
          </a:p>
          <a:p>
            <a:pPr algn="l"/>
            <a:r>
              <a:rPr lang="es-ES" sz="860" i="1" dirty="0">
                <a:solidFill>
                  <a:srgbClr val="0E6B3C"/>
                </a:solidFill>
                <a:latin typeface="Calibri"/>
              </a:rPr>
              <a:t>Ninguna mesa ha llegado aqui aun — es la meta para todas antes de Diciembre 2026</a:t>
            </a:r>
          </a:p>
        </p:txBody>
      </p:sp>
      <p:sp>
        <p:nvSpPr>
          <p:cNvPr id="155" name="n3g"/>
          <p:cNvSpPr>
            <a:spLocks noGrp="1"/>
          </p:cNvSpPr>
          <p:nvPr/>
        </p:nvSpPr>
        <p:spPr>
          <a:xfrm>
            <a:off x="5486400" y="3858768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0E6B3C"/>
          </a:solidFill>
          <a:ln>
            <a:noFill/>
          </a:ln>
        </p:spPr>
      </p:sp>
      <p:sp>
        <p:nvSpPr>
          <p:cNvPr id="156" name="n3gt"/>
          <p:cNvSpPr txBox="1">
            <a:spLocks noGrp="1"/>
          </p:cNvSpPr>
          <p:nvPr/>
        </p:nvSpPr>
        <p:spPr>
          <a:xfrm>
            <a:off x="5486400" y="3858768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Calibri"/>
              </a:rPr>
              <a:t>★  META WAVE 1 — Dic 2026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5A6475"/>
                </a:solidFill>
                <a:latin typeface="Calibri"/>
              </a:rPr>
              <a:t>Fuente: Levantamiento interno PersonalSoft · Julio 2026 · Excel Levantamiento_Mesas_Julio_2026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" name="n1b"/>
          <p:cNvSpPr>
            <a:spLocks noGrp="1"/>
          </p:cNvSpPr>
          <p:nvPr/>
        </p:nvSpPr>
        <p:spPr>
          <a:xfrm>
            <a:off x="320040" y="10972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n1t"/>
          <p:cNvSpPr txBox="1">
            <a:spLocks noGrp="1"/>
          </p:cNvSpPr>
          <p:nvPr/>
        </p:nvSpPr>
        <p:spPr>
          <a:xfrm>
            <a:off x="320040" y="109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400" b="1" dirty="0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877824" y="109728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900" b="1" dirty="0">
                <a:solidFill>
                  <a:srgbClr val="FFFFFF"/>
                </a:solidFill>
                <a:latin typeface="Calibri"/>
              </a:rPr>
              <a:t>Nivel N1 — Inicial · 7 Mesas · Sin Gobierno Estandarizado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347472" y="585216"/>
            <a:ext cx="771753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20" dirty="0">
                <a:solidFill>
                  <a:srgbClr val="FFCCCC"/>
                </a:solidFill>
                <a:latin typeface="Calibri"/>
              </a:rPr>
              <a:t>AES · Bancolombia COES (5 mesas) · MEDICARTE · Caracteristica comun: operacion reactiva, sin RACI, sin metricas formales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2523744" cy="3639312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5875">
            <a:solidFill>
              <a:srgbClr val="B91C1C"/>
            </a:solidFill>
          </a:ln>
        </p:spPr>
      </p:sp>
      <p:sp>
        <p:nvSpPr>
          <p:cNvPr id="11" name="ch"/>
          <p:cNvSpPr>
            <a:spLocks noGrp="1"/>
          </p:cNvSpPr>
          <p:nvPr/>
        </p:nvSpPr>
        <p:spPr>
          <a:xfrm>
            <a:off x="274320" y="804672"/>
            <a:ext cx="2523744" cy="347472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12" name="ch2"/>
          <p:cNvSpPr>
            <a:spLocks noGrp="1"/>
          </p:cNvSpPr>
          <p:nvPr/>
        </p:nvSpPr>
        <p:spPr>
          <a:xfrm>
            <a:off x="274320" y="1024128"/>
            <a:ext cx="2523744" cy="128016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3" name="ct"/>
          <p:cNvSpPr txBox="1">
            <a:spLocks noGrp="1"/>
          </p:cNvSpPr>
          <p:nvPr/>
        </p:nvSpPr>
        <p:spPr>
          <a:xfrm>
            <a:off x="365760" y="85039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000" b="1" dirty="0">
                <a:solidFill>
                  <a:srgbClr val="FFFFFF"/>
                </a:solidFill>
                <a:latin typeface="Calibri"/>
              </a:rPr>
              <a:t>AES — Soporte IT/OT</a:t>
            </a:r>
          </a:p>
        </p:txBody>
      </p:sp>
      <p:sp>
        <p:nvSpPr>
          <p:cNvPr id="14" name="cm"/>
          <p:cNvSpPr txBox="1">
            <a:spLocks noGrp="1"/>
          </p:cNvSpPr>
          <p:nvPr/>
        </p:nvSpPr>
        <p:spPr>
          <a:xfrm>
            <a:off x="365760" y="118872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90" i="1" dirty="0">
                <a:solidFill>
                  <a:srgbClr val="5A6475"/>
                </a:solidFill>
                <a:latin typeface="Calibri"/>
              </a:rPr>
              <a:t>Energia · 4 FTE · ServiceNow (del cliente) · Staffing</a:t>
            </a:r>
          </a:p>
        </p:txBody>
      </p:sp>
      <p:sp>
        <p:nvSpPr>
          <p:cNvPr id="15" name="ca"/>
          <p:cNvSpPr txBox="1">
            <a:spLocks noGrp="1"/>
          </p:cNvSpPr>
          <p:nvPr/>
        </p:nvSpPr>
        <p:spPr>
          <a:xfrm>
            <a:off x="365760" y="1371600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00" b="1" dirty="0">
                <a:solidFill>
                  <a:srgbClr val="B45309"/>
                </a:solidFill>
                <a:latin typeface="Calibri"/>
              </a:rPr>
              <a:t>⚠ RFP pendiente · Contrato fin Nov 2026 · OPORTUNIDAD</a:t>
            </a:r>
          </a:p>
        </p:txBody>
      </p:sp>
      <p:sp>
        <p:nvSpPr>
          <p:cNvPr id="16" name="kb"/>
          <p:cNvSpPr>
            <a:spLocks noGrp="1"/>
          </p:cNvSpPr>
          <p:nvPr/>
        </p:nvSpPr>
        <p:spPr>
          <a:xfrm>
            <a:off x="365760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7" name="kv"/>
          <p:cNvSpPr txBox="1">
            <a:spLocks noGrp="1"/>
          </p:cNvSpPr>
          <p:nvPr/>
        </p:nvSpPr>
        <p:spPr>
          <a:xfrm>
            <a:off x="365760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1A3A8F"/>
                </a:solidFill>
                <a:latin typeface="Calibri"/>
              </a:rPr>
              <a:t>4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365760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FTE</a:t>
            </a:r>
          </a:p>
        </p:txBody>
      </p:sp>
      <p:sp>
        <p:nvSpPr>
          <p:cNvPr id="19" name="kb"/>
          <p:cNvSpPr>
            <a:spLocks noGrp="1"/>
          </p:cNvSpPr>
          <p:nvPr/>
        </p:nvSpPr>
        <p:spPr>
          <a:xfrm>
            <a:off x="950976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20" name="kv"/>
          <p:cNvSpPr txBox="1">
            <a:spLocks noGrp="1"/>
          </p:cNvSpPr>
          <p:nvPr/>
        </p:nvSpPr>
        <p:spPr>
          <a:xfrm>
            <a:off x="950976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1" name="kl"/>
          <p:cNvSpPr txBox="1">
            <a:spLocks noGrp="1"/>
          </p:cNvSpPr>
          <p:nvPr/>
        </p:nvSpPr>
        <p:spPr>
          <a:xfrm>
            <a:off x="950976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Tickets</a:t>
            </a:r>
          </a:p>
        </p:txBody>
      </p:sp>
      <p:sp>
        <p:nvSpPr>
          <p:cNvPr id="22" name="kb"/>
          <p:cNvSpPr>
            <a:spLocks noGrp="1"/>
          </p:cNvSpPr>
          <p:nvPr/>
        </p:nvSpPr>
        <p:spPr>
          <a:xfrm>
            <a:off x="1536192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23" name="kv"/>
          <p:cNvSpPr txBox="1">
            <a:spLocks noGrp="1"/>
          </p:cNvSpPr>
          <p:nvPr/>
        </p:nvSpPr>
        <p:spPr>
          <a:xfrm>
            <a:off x="1536192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4" name="kl"/>
          <p:cNvSpPr txBox="1">
            <a:spLocks noGrp="1"/>
          </p:cNvSpPr>
          <p:nvPr/>
        </p:nvSpPr>
        <p:spPr>
          <a:xfrm>
            <a:off x="1536192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2121408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26" name="kv"/>
          <p:cNvSpPr txBox="1">
            <a:spLocks noGrp="1"/>
          </p:cNvSpPr>
          <p:nvPr/>
        </p:nvSpPr>
        <p:spPr>
          <a:xfrm>
            <a:off x="2121408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7" name="kl"/>
          <p:cNvSpPr txBox="1">
            <a:spLocks noGrp="1"/>
          </p:cNvSpPr>
          <p:nvPr/>
        </p:nvSpPr>
        <p:spPr>
          <a:xfrm>
            <a:off x="2121408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8" name="sep"/>
          <p:cNvSpPr>
            <a:spLocks noGrp="1"/>
          </p:cNvSpPr>
          <p:nvPr/>
        </p:nvSpPr>
        <p:spPr>
          <a:xfrm>
            <a:off x="365760" y="2011680"/>
            <a:ext cx="23408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9" name="d"/>
          <p:cNvSpPr txBox="1">
            <a:spLocks noGrp="1"/>
          </p:cNvSpPr>
          <p:nvPr/>
        </p:nvSpPr>
        <p:spPr>
          <a:xfrm>
            <a:off x="365760" y="20665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Postura 100% reactiva — sin proceso formal de gestion</a:t>
            </a:r>
          </a:p>
        </p:txBody>
      </p:sp>
      <p:sp>
        <p:nvSpPr>
          <p:cNvPr id="29" name="d"/>
          <p:cNvSpPr txBox="1">
            <a:spLocks noGrp="1"/>
          </p:cNvSpPr>
          <p:nvPr/>
        </p:nvSpPr>
        <p:spPr>
          <a:xfrm>
            <a:off x="365760" y="23408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metricas ni KPIs — nadie sabe si el servicio es bueno</a:t>
            </a:r>
          </a:p>
        </p:txBody>
      </p:sp>
      <p:sp>
        <p:nvSpPr>
          <p:cNvPr id="30" name="d"/>
          <p:cNvSpPr txBox="1">
            <a:spLocks noGrp="1"/>
          </p:cNvSpPr>
          <p:nvPr/>
        </p:nvSpPr>
        <p:spPr>
          <a:xfrm>
            <a:off x="365760" y="26151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comercial — volumetria mal estimada en preventa</a:t>
            </a:r>
          </a:p>
        </p:txBody>
      </p:sp>
      <p:sp>
        <p:nvSpPr>
          <p:cNvPr id="31" name="d"/>
          <p:cNvSpPr txBox="1">
            <a:spLocks noGrp="1"/>
          </p:cNvSpPr>
          <p:nvPr/>
        </p:nvSpPr>
        <p:spPr>
          <a:xfrm>
            <a:off x="365760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de personal sin modelo de demanda</a:t>
            </a:r>
          </a:p>
        </p:txBody>
      </p:sp>
      <p:sp>
        <p:nvSpPr>
          <p:cNvPr id="32" name="d"/>
          <p:cNvSpPr txBox="1">
            <a:spLocks noGrp="1"/>
          </p:cNvSpPr>
          <p:nvPr/>
        </p:nvSpPr>
        <p:spPr>
          <a:xfrm>
            <a:off x="365760" y="316382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gobierno — sin RACI ni ANS formales</a:t>
            </a:r>
          </a:p>
        </p:txBody>
      </p:sp>
      <p:sp>
        <p:nvSpPr>
          <p:cNvPr id="33" name="d"/>
          <p:cNvSpPr txBox="1">
            <a:spLocks noGrp="1"/>
          </p:cNvSpPr>
          <p:nvPr/>
        </p:nvSpPr>
        <p:spPr>
          <a:xfrm>
            <a:off x="365760" y="34381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Herramientas: ServiceNow es del cliente, PS paga licencia</a:t>
            </a:r>
          </a:p>
        </p:txBody>
      </p:sp>
      <p:sp>
        <p:nvSpPr>
          <p:cNvPr id="34" name="d"/>
          <p:cNvSpPr txBox="1">
            <a:spLocks noGrp="1"/>
          </p:cNvSpPr>
          <p:nvPr/>
        </p:nvSpPr>
        <p:spPr>
          <a:xfrm>
            <a:off x="365760" y="37124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Roles sin definir — criterio individual, no modelo</a:t>
            </a:r>
          </a:p>
        </p:txBody>
      </p:sp>
      <p:sp>
        <p:nvSpPr>
          <p:cNvPr id="28" name="d"/>
          <p:cNvSpPr txBox="1">
            <a:spLocks noGrp="1"/>
          </p:cNvSpPr>
          <p:nvPr/>
        </p:nvSpPr>
        <p:spPr>
          <a:xfrm>
            <a:off x="365760" y="39867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Scope creep — solicitudes absorben al equipo</a:t>
            </a:r>
          </a:p>
        </p:txBody>
      </p:sp>
      <p:sp>
        <p:nvSpPr>
          <p:cNvPr id="50" name="card"/>
          <p:cNvSpPr>
            <a:spLocks noGrp="1"/>
          </p:cNvSpPr>
          <p:nvPr/>
        </p:nvSpPr>
        <p:spPr>
          <a:xfrm>
            <a:off x="2907792" y="804672"/>
            <a:ext cx="2523744" cy="3639312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 w="15875">
            <a:solidFill>
              <a:srgbClr val="0D1B5E"/>
            </a:solidFill>
          </a:ln>
        </p:spPr>
      </p:sp>
      <p:sp>
        <p:nvSpPr>
          <p:cNvPr id="51" name="ch"/>
          <p:cNvSpPr>
            <a:spLocks noGrp="1"/>
          </p:cNvSpPr>
          <p:nvPr/>
        </p:nvSpPr>
        <p:spPr>
          <a:xfrm>
            <a:off x="2907792" y="804672"/>
            <a:ext cx="2523744" cy="347472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52" name="ch2"/>
          <p:cNvSpPr>
            <a:spLocks noGrp="1"/>
          </p:cNvSpPr>
          <p:nvPr/>
        </p:nvSpPr>
        <p:spPr>
          <a:xfrm>
            <a:off x="2907792" y="1024128"/>
            <a:ext cx="2523744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53" name="ct"/>
          <p:cNvSpPr txBox="1">
            <a:spLocks noGrp="1"/>
          </p:cNvSpPr>
          <p:nvPr/>
        </p:nvSpPr>
        <p:spPr>
          <a:xfrm>
            <a:off x="2999232" y="85039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000" b="1" dirty="0">
                <a:solidFill>
                  <a:srgbClr val="FFFFFF"/>
                </a:solidFill>
                <a:latin typeface="Calibri"/>
              </a:rPr>
              <a:t>BCO — 5 Mesas COES</a:t>
            </a:r>
          </a:p>
        </p:txBody>
      </p:sp>
      <p:sp>
        <p:nvSpPr>
          <p:cNvPr id="54" name="cm"/>
          <p:cNvSpPr txBox="1">
            <a:spLocks noGrp="1"/>
          </p:cNvSpPr>
          <p:nvPr/>
        </p:nvSpPr>
        <p:spPr>
          <a:xfrm>
            <a:off x="2999232" y="118872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90" i="1" dirty="0">
                <a:solidFill>
                  <a:srgbClr val="5A6475"/>
                </a:solidFill>
                <a:latin typeface="Calibri"/>
              </a:rPr>
              <a:t>Banca · 32 FTE totales · Helix BMC · Virginia &amp; Lina</a:t>
            </a:r>
          </a:p>
        </p:txBody>
      </p:sp>
      <p:sp>
        <p:nvSpPr>
          <p:cNvPr id="55" name="ca"/>
          <p:cNvSpPr txBox="1">
            <a:spLocks noGrp="1"/>
          </p:cNvSpPr>
          <p:nvPr/>
        </p:nvSpPr>
        <p:spPr>
          <a:xfrm>
            <a:off x="2999232" y="1371600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00" b="1" dirty="0">
                <a:solidFill>
                  <a:srgbClr val="1B7B85"/>
                </a:solidFill>
                <a:latin typeface="Calibri"/>
              </a:rPr>
              <a:t>✓ Levantamiento completo Julio 2026</a:t>
            </a:r>
          </a:p>
        </p:txBody>
      </p:sp>
      <p:sp>
        <p:nvSpPr>
          <p:cNvPr id="56" name="kb"/>
          <p:cNvSpPr>
            <a:spLocks noGrp="1"/>
          </p:cNvSpPr>
          <p:nvPr/>
        </p:nvSpPr>
        <p:spPr>
          <a:xfrm>
            <a:off x="2999232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57" name="kv"/>
          <p:cNvSpPr txBox="1">
            <a:spLocks noGrp="1"/>
          </p:cNvSpPr>
          <p:nvPr/>
        </p:nvSpPr>
        <p:spPr>
          <a:xfrm>
            <a:off x="2999232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58" name="kl"/>
          <p:cNvSpPr txBox="1">
            <a:spLocks noGrp="1"/>
          </p:cNvSpPr>
          <p:nvPr/>
        </p:nvSpPr>
        <p:spPr>
          <a:xfrm>
            <a:off x="2999232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FTE</a:t>
            </a:r>
          </a:p>
        </p:txBody>
      </p:sp>
      <p:sp>
        <p:nvSpPr>
          <p:cNvPr id="59" name="kb"/>
          <p:cNvSpPr>
            <a:spLocks noGrp="1"/>
          </p:cNvSpPr>
          <p:nvPr/>
        </p:nvSpPr>
        <p:spPr>
          <a:xfrm>
            <a:off x="3584448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60" name="kv"/>
          <p:cNvSpPr txBox="1">
            <a:spLocks noGrp="1"/>
          </p:cNvSpPr>
          <p:nvPr/>
        </p:nvSpPr>
        <p:spPr>
          <a:xfrm>
            <a:off x="3584448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5A6475"/>
                </a:solidFill>
                <a:latin typeface="Calibri"/>
              </a:rPr>
              <a:t>700-3K/mesa</a:t>
            </a:r>
          </a:p>
        </p:txBody>
      </p:sp>
      <p:sp>
        <p:nvSpPr>
          <p:cNvPr id="61" name="kl"/>
          <p:cNvSpPr txBox="1">
            <a:spLocks noGrp="1"/>
          </p:cNvSpPr>
          <p:nvPr/>
        </p:nvSpPr>
        <p:spPr>
          <a:xfrm>
            <a:off x="3584448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Tickets</a:t>
            </a:r>
          </a:p>
        </p:txBody>
      </p:sp>
      <p:sp>
        <p:nvSpPr>
          <p:cNvPr id="62" name="kb"/>
          <p:cNvSpPr>
            <a:spLocks noGrp="1"/>
          </p:cNvSpPr>
          <p:nvPr/>
        </p:nvSpPr>
        <p:spPr>
          <a:xfrm>
            <a:off x="4169664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63" name="kv"/>
          <p:cNvSpPr txBox="1">
            <a:spLocks noGrp="1"/>
          </p:cNvSpPr>
          <p:nvPr/>
        </p:nvSpPr>
        <p:spPr>
          <a:xfrm>
            <a:off x="4169664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0E6B3C"/>
                </a:solidFill>
                <a:latin typeface="Calibri"/>
              </a:rPr>
              <a:t>0.5-3h</a:t>
            </a:r>
          </a:p>
        </p:txBody>
      </p:sp>
      <p:sp>
        <p:nvSpPr>
          <p:cNvPr id="64" name="kl"/>
          <p:cNvSpPr txBox="1">
            <a:spLocks noGrp="1"/>
          </p:cNvSpPr>
          <p:nvPr/>
        </p:nvSpPr>
        <p:spPr>
          <a:xfrm>
            <a:off x="4169664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65" name="kb"/>
          <p:cNvSpPr>
            <a:spLocks noGrp="1"/>
          </p:cNvSpPr>
          <p:nvPr/>
        </p:nvSpPr>
        <p:spPr>
          <a:xfrm>
            <a:off x="4754880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66" name="kv"/>
          <p:cNvSpPr txBox="1">
            <a:spLocks noGrp="1"/>
          </p:cNvSpPr>
          <p:nvPr/>
        </p:nvSpPr>
        <p:spPr>
          <a:xfrm>
            <a:off x="4754880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B91C1C"/>
                </a:solidFill>
                <a:latin typeface="Calibri"/>
              </a:rPr>
              <a:t>Sin ANS</a:t>
            </a:r>
          </a:p>
        </p:txBody>
      </p:sp>
      <p:sp>
        <p:nvSpPr>
          <p:cNvPr id="67" name="kl"/>
          <p:cNvSpPr txBox="1">
            <a:spLocks noGrp="1"/>
          </p:cNvSpPr>
          <p:nvPr/>
        </p:nvSpPr>
        <p:spPr>
          <a:xfrm>
            <a:off x="4754880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35" name="sep"/>
          <p:cNvSpPr>
            <a:spLocks noGrp="1"/>
          </p:cNvSpPr>
          <p:nvPr/>
        </p:nvSpPr>
        <p:spPr>
          <a:xfrm>
            <a:off x="2999232" y="2011680"/>
            <a:ext cx="23408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36" name="d"/>
          <p:cNvSpPr txBox="1">
            <a:spLocks noGrp="1"/>
          </p:cNvSpPr>
          <p:nvPr/>
        </p:nvSpPr>
        <p:spPr>
          <a:xfrm>
            <a:off x="2999232" y="20665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sin modelo — criterio experto individual</a:t>
            </a:r>
          </a:p>
        </p:txBody>
      </p:sp>
      <p:sp>
        <p:nvSpPr>
          <p:cNvPr id="37" name="d"/>
          <p:cNvSpPr txBox="1">
            <a:spLocks noGrp="1"/>
          </p:cNvSpPr>
          <p:nvPr/>
        </p:nvSpPr>
        <p:spPr>
          <a:xfrm>
            <a:off x="2999232" y="23408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SLA formal — solo ANS del Banco y COES</a:t>
            </a:r>
          </a:p>
        </p:txBody>
      </p:sp>
      <p:sp>
        <p:nvSpPr>
          <p:cNvPr id="38" name="d"/>
          <p:cNvSpPr txBox="1">
            <a:spLocks noGrp="1"/>
          </p:cNvSpPr>
          <p:nvPr/>
        </p:nvSpPr>
        <p:spPr>
          <a:xfrm>
            <a:off x="2999232" y="26151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costo/ticket calculado — dato no disponible</a:t>
            </a:r>
          </a:p>
        </p:txBody>
      </p:sp>
      <p:sp>
        <p:nvSpPr>
          <p:cNvPr id="39" name="d"/>
          <p:cNvSpPr txBox="1">
            <a:spLocks noGrp="1"/>
          </p:cNvSpPr>
          <p:nvPr/>
        </p:nvSpPr>
        <p:spPr>
          <a:xfrm>
            <a:off x="2999232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vendido vs ejecutado — volumetria sin datos</a:t>
            </a:r>
          </a:p>
        </p:txBody>
      </p:sp>
      <p:sp>
        <p:nvSpPr>
          <p:cNvPr id="40" name="d"/>
          <p:cNvSpPr txBox="1">
            <a:spLocks noGrp="1"/>
          </p:cNvSpPr>
          <p:nvPr/>
        </p:nvSpPr>
        <p:spPr>
          <a:xfrm>
            <a:off x="2999232" y="316382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41" name="d"/>
          <p:cNvSpPr txBox="1">
            <a:spLocks noGrp="1"/>
          </p:cNvSpPr>
          <p:nvPr/>
        </p:nvSpPr>
        <p:spPr>
          <a:xfrm>
            <a:off x="2999232" y="34381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Rotacion de personal — perdida de conocimiento</a:t>
            </a:r>
          </a:p>
        </p:txBody>
      </p:sp>
      <p:sp>
        <p:nvSpPr>
          <p:cNvPr id="42" name="d"/>
          <p:cNvSpPr txBox="1">
            <a:spLocks noGrp="1"/>
          </p:cNvSpPr>
          <p:nvPr/>
        </p:nvSpPr>
        <p:spPr>
          <a:xfrm>
            <a:off x="2999232" y="37124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COES Integracion 7FTE · Datos 7FTE · Soporte 13FTE</a:t>
            </a:r>
          </a:p>
        </p:txBody>
      </p:sp>
      <p:sp>
        <p:nvSpPr>
          <p:cNvPr id="68" name="d"/>
          <p:cNvSpPr txBox="1">
            <a:spLocks noGrp="1"/>
          </p:cNvSpPr>
          <p:nvPr/>
        </p:nvSpPr>
        <p:spPr>
          <a:xfrm>
            <a:off x="2999232" y="39867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COES Emma 4FTE · Emma iSeries 1FTE</a:t>
            </a:r>
          </a:p>
        </p:txBody>
      </p:sp>
      <p:sp>
        <p:nvSpPr>
          <p:cNvPr id="90" name="card"/>
          <p:cNvSpPr>
            <a:spLocks noGrp="1"/>
          </p:cNvSpPr>
          <p:nvPr/>
        </p:nvSpPr>
        <p:spPr>
          <a:xfrm>
            <a:off x="5541264" y="804672"/>
            <a:ext cx="2523744" cy="3639312"/>
          </a:xfrm>
          <a:prstGeom prst="roundRect">
            <a:avLst>
              <a:gd name="adj" fmla="val 12000"/>
            </a:avLst>
          </a:prstGeom>
          <a:solidFill>
            <a:srgbClr val="E4F4F6"/>
          </a:solidFill>
          <a:ln w="15875">
            <a:solidFill>
              <a:srgbClr val="1B7B85"/>
            </a:solidFill>
          </a:ln>
        </p:spPr>
      </p:sp>
      <p:sp>
        <p:nvSpPr>
          <p:cNvPr id="91" name="ch"/>
          <p:cNvSpPr>
            <a:spLocks noGrp="1"/>
          </p:cNvSpPr>
          <p:nvPr/>
        </p:nvSpPr>
        <p:spPr>
          <a:xfrm>
            <a:off x="5541264" y="804672"/>
            <a:ext cx="2523744" cy="347472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92" name="ch2"/>
          <p:cNvSpPr>
            <a:spLocks noGrp="1"/>
          </p:cNvSpPr>
          <p:nvPr/>
        </p:nvSpPr>
        <p:spPr>
          <a:xfrm>
            <a:off x="5541264" y="1024128"/>
            <a:ext cx="2523744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93" name="ct"/>
          <p:cNvSpPr txBox="1">
            <a:spLocks noGrp="1"/>
          </p:cNvSpPr>
          <p:nvPr/>
        </p:nvSpPr>
        <p:spPr>
          <a:xfrm>
            <a:off x="5632704" y="85039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000" b="1" dirty="0">
                <a:solidFill>
                  <a:srgbClr val="FFFFFF"/>
                </a:solidFill>
                <a:latin typeface="Calibri"/>
              </a:rPr>
              <a:t>MEDICARTE — Mesa IT</a:t>
            </a:r>
          </a:p>
        </p:txBody>
      </p:sp>
      <p:sp>
        <p:nvSpPr>
          <p:cNvPr id="94" name="cm"/>
          <p:cNvSpPr txBox="1">
            <a:spLocks noGrp="1"/>
          </p:cNvSpPr>
          <p:nvPr/>
        </p:nvSpPr>
        <p:spPr>
          <a:xfrm>
            <a:off x="5632704" y="118872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90" i="1" dirty="0">
                <a:solidFill>
                  <a:srgbClr val="5A6475"/>
                </a:solidFill>
                <a:latin typeface="Calibri"/>
              </a:rPr>
              <a:t>Salud (EPS/IPS) · 12 FTE · Herramienta por definir</a:t>
            </a:r>
          </a:p>
        </p:txBody>
      </p:sp>
      <p:sp>
        <p:nvSpPr>
          <p:cNvPr id="95" name="ca"/>
          <p:cNvSpPr txBox="1">
            <a:spLocks noGrp="1"/>
          </p:cNvSpPr>
          <p:nvPr/>
        </p:nvSpPr>
        <p:spPr>
          <a:xfrm>
            <a:off x="5632704" y="1371600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00" b="1" dirty="0">
                <a:solidFill>
                  <a:srgbClr val="0E6B3C"/>
                </a:solidFill>
                <a:latin typeface="Calibri"/>
              </a:rPr>
              <a:t>★ Mejor desempeno de las 12 mesas — referencia</a:t>
            </a:r>
          </a:p>
        </p:txBody>
      </p:sp>
      <p:sp>
        <p:nvSpPr>
          <p:cNvPr id="96" name="kb"/>
          <p:cNvSpPr>
            <a:spLocks noGrp="1"/>
          </p:cNvSpPr>
          <p:nvPr/>
        </p:nvSpPr>
        <p:spPr>
          <a:xfrm>
            <a:off x="5632704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7" name="kv"/>
          <p:cNvSpPr txBox="1">
            <a:spLocks noGrp="1"/>
          </p:cNvSpPr>
          <p:nvPr/>
        </p:nvSpPr>
        <p:spPr>
          <a:xfrm>
            <a:off x="5632704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1A3A8F"/>
                </a:solidFill>
                <a:latin typeface="Calibri"/>
              </a:rPr>
              <a:t>12</a:t>
            </a:r>
          </a:p>
        </p:txBody>
      </p:sp>
      <p:sp>
        <p:nvSpPr>
          <p:cNvPr id="98" name="kl"/>
          <p:cNvSpPr txBox="1">
            <a:spLocks noGrp="1"/>
          </p:cNvSpPr>
          <p:nvPr/>
        </p:nvSpPr>
        <p:spPr>
          <a:xfrm>
            <a:off x="5632704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FTE</a:t>
            </a:r>
          </a:p>
        </p:txBody>
      </p:sp>
      <p:sp>
        <p:nvSpPr>
          <p:cNvPr id="99" name="kb"/>
          <p:cNvSpPr>
            <a:spLocks noGrp="1"/>
          </p:cNvSpPr>
          <p:nvPr/>
        </p:nvSpPr>
        <p:spPr>
          <a:xfrm>
            <a:off x="6217920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0" name="kv"/>
          <p:cNvSpPr txBox="1">
            <a:spLocks noGrp="1"/>
          </p:cNvSpPr>
          <p:nvPr/>
        </p:nvSpPr>
        <p:spPr>
          <a:xfrm>
            <a:off x="6217920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0E6B3C"/>
                </a:solidFill>
                <a:latin typeface="Calibri"/>
              </a:rPr>
              <a:t>68%</a:t>
            </a:r>
          </a:p>
        </p:txBody>
      </p:sp>
      <p:sp>
        <p:nvSpPr>
          <p:cNvPr id="101" name="kl"/>
          <p:cNvSpPr txBox="1">
            <a:spLocks noGrp="1"/>
          </p:cNvSpPr>
          <p:nvPr/>
        </p:nvSpPr>
        <p:spPr>
          <a:xfrm>
            <a:off x="6217920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FCR</a:t>
            </a:r>
          </a:p>
        </p:txBody>
      </p:sp>
      <p:sp>
        <p:nvSpPr>
          <p:cNvPr id="102" name="kb"/>
          <p:cNvSpPr>
            <a:spLocks noGrp="1"/>
          </p:cNvSpPr>
          <p:nvPr/>
        </p:nvSpPr>
        <p:spPr>
          <a:xfrm>
            <a:off x="6803136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3" name="kv"/>
          <p:cNvSpPr txBox="1">
            <a:spLocks noGrp="1"/>
          </p:cNvSpPr>
          <p:nvPr/>
        </p:nvSpPr>
        <p:spPr>
          <a:xfrm>
            <a:off x="6803136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0E6B3C"/>
                </a:solidFill>
                <a:latin typeface="Calibri"/>
              </a:rPr>
              <a:t>0.55h ✓</a:t>
            </a:r>
          </a:p>
        </p:txBody>
      </p:sp>
      <p:sp>
        <p:nvSpPr>
          <p:cNvPr id="104" name="kl"/>
          <p:cNvSpPr txBox="1">
            <a:spLocks noGrp="1"/>
          </p:cNvSpPr>
          <p:nvPr/>
        </p:nvSpPr>
        <p:spPr>
          <a:xfrm>
            <a:off x="6803136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105" name="kb"/>
          <p:cNvSpPr>
            <a:spLocks noGrp="1"/>
          </p:cNvSpPr>
          <p:nvPr/>
        </p:nvSpPr>
        <p:spPr>
          <a:xfrm>
            <a:off x="7388352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6" name="kv"/>
          <p:cNvSpPr txBox="1">
            <a:spLocks noGrp="1"/>
          </p:cNvSpPr>
          <p:nvPr/>
        </p:nvSpPr>
        <p:spPr>
          <a:xfrm>
            <a:off x="7388352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40" b="1" dirty="0">
                <a:solidFill>
                  <a:srgbClr val="0E6B3C"/>
                </a:solidFill>
                <a:latin typeface="Calibri"/>
              </a:rPr>
              <a:t>89%</a:t>
            </a:r>
          </a:p>
        </p:txBody>
      </p:sp>
      <p:sp>
        <p:nvSpPr>
          <p:cNvPr id="107" name="kl"/>
          <p:cNvSpPr txBox="1">
            <a:spLocks noGrp="1"/>
          </p:cNvSpPr>
          <p:nvPr/>
        </p:nvSpPr>
        <p:spPr>
          <a:xfrm>
            <a:off x="7388352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43" name="sep"/>
          <p:cNvSpPr>
            <a:spLocks noGrp="1"/>
          </p:cNvSpPr>
          <p:nvPr/>
        </p:nvSpPr>
        <p:spPr>
          <a:xfrm>
            <a:off x="5632704" y="2011680"/>
            <a:ext cx="23408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44" name="d"/>
          <p:cNvSpPr txBox="1">
            <a:spLocks noGrp="1"/>
          </p:cNvSpPr>
          <p:nvPr/>
        </p:nvSpPr>
        <p:spPr>
          <a:xfrm>
            <a:off x="5632704" y="20665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FCR 68% — referencia para todas las otras mesas</a:t>
            </a:r>
          </a:p>
        </p:txBody>
      </p:sp>
      <p:sp>
        <p:nvSpPr>
          <p:cNvPr id="45" name="d"/>
          <p:cNvSpPr txBox="1">
            <a:spLocks noGrp="1"/>
          </p:cNvSpPr>
          <p:nvPr/>
        </p:nvSpPr>
        <p:spPr>
          <a:xfrm>
            <a:off x="5632704" y="23408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MTTR 0.55h — unica mesa bajo 4h (world-class)</a:t>
            </a:r>
          </a:p>
        </p:txBody>
      </p:sp>
      <p:sp>
        <p:nvSpPr>
          <p:cNvPr id="46" name="d"/>
          <p:cNvSpPr txBox="1">
            <a:spLocks noGrp="1"/>
          </p:cNvSpPr>
          <p:nvPr/>
        </p:nvSpPr>
        <p:spPr>
          <a:xfrm>
            <a:off x="5632704" y="26151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SLA 89% — ya cerca de meta 92%</a:t>
            </a:r>
          </a:p>
        </p:txBody>
      </p:sp>
      <p:sp>
        <p:nvSpPr>
          <p:cNvPr id="47" name="d"/>
          <p:cNvSpPr txBox="1">
            <a:spLocks noGrp="1"/>
          </p:cNvSpPr>
          <p:nvPr/>
        </p:nvSpPr>
        <p:spPr>
          <a:xfrm>
            <a:off x="5632704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8% autoservicio N0 — unica con deflexion activa</a:t>
            </a:r>
          </a:p>
        </p:txBody>
      </p:sp>
      <p:sp>
        <p:nvSpPr>
          <p:cNvPr id="48" name="d"/>
          <p:cNvSpPr txBox="1">
            <a:spLocks noGrp="1"/>
          </p:cNvSpPr>
          <p:nvPr/>
        </p:nvSpPr>
        <p:spPr>
          <a:xfrm>
            <a:off x="5632704" y="316382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12 FTE — tickets/mes aun sin levantar en Excel</a:t>
            </a:r>
          </a:p>
        </p:txBody>
      </p:sp>
      <p:sp>
        <p:nvSpPr>
          <p:cNvPr id="49" name="d"/>
          <p:cNvSpPr txBox="1">
            <a:spLocks noGrp="1"/>
          </p:cNvSpPr>
          <p:nvPr/>
        </p:nvSpPr>
        <p:spPr>
          <a:xfrm>
            <a:off x="5632704" y="34381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 ITSM sin formalizar</a:t>
            </a:r>
          </a:p>
        </p:txBody>
      </p:sp>
      <p:sp>
        <p:nvSpPr>
          <p:cNvPr id="69" name="d"/>
          <p:cNvSpPr txBox="1">
            <a:spLocks noGrp="1"/>
          </p:cNvSpPr>
          <p:nvPr/>
        </p:nvSpPr>
        <p:spPr>
          <a:xfrm>
            <a:off x="5632704" y="37124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900" b="1" dirty="0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Alta presion regulatoria Minsalud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5A6475"/>
                </a:solidFill>
                <a:latin typeface="Calibri"/>
              </a:rPr>
              <a:t>Fuente: Levantamiento interno PS · Julio 2026 · Reuniones: Michael Arevalo (AES) · Virginia &amp; Lina (BCO/COES) · Excel Levantamiento_Mesas_Julio_2026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" name="n2b"/>
          <p:cNvSpPr>
            <a:spLocks noGrp="1"/>
          </p:cNvSpPr>
          <p:nvPr/>
        </p:nvSpPr>
        <p:spPr>
          <a:xfrm>
            <a:off x="320040" y="10972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n2t"/>
          <p:cNvSpPr txBox="1">
            <a:spLocks noGrp="1"/>
          </p:cNvSpPr>
          <p:nvPr/>
        </p:nvSpPr>
        <p:spPr>
          <a:xfrm>
            <a:off x="320040" y="109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400" b="1" dirty="0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877824" y="109728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900" b="1" dirty="0">
                <a:solidFill>
                  <a:srgbClr val="FFFFFF"/>
                </a:solidFill>
                <a:latin typeface="Calibri"/>
              </a:rPr>
              <a:t>Nivel N2 — Administrado · 5 Mesas · Herramienta Activa sin Gobierno Central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347472" y="585216"/>
            <a:ext cx="771753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20" dirty="0">
                <a:solidFill>
                  <a:srgbClr val="D6E8FF"/>
                </a:solidFill>
                <a:latin typeface="Calibri"/>
              </a:rPr>
              <a:t>SURA (4 mesas) · XM · 21 FTE · 1.615 tickets/mes levantados (solo SURA+XM) · Renovaciones SURA en Aug/Dic 2026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11" name="ch"/>
          <p:cNvSpPr>
            <a:spLocks noGrp="1"/>
          </p:cNvSpPr>
          <p:nvPr/>
        </p:nvSpPr>
        <p:spPr>
          <a:xfrm>
            <a:off x="274320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" name="ch2"/>
          <p:cNvSpPr>
            <a:spLocks noGrp="1"/>
          </p:cNvSpPr>
          <p:nvPr/>
        </p:nvSpPr>
        <p:spPr>
          <a:xfrm>
            <a:off x="274320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29184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b="1" dirty="0">
                <a:solidFill>
                  <a:srgbClr val="FFFFFF"/>
                </a:solidFill>
                <a:latin typeface="Calibri"/>
              </a:rPr>
              <a:t>SURA
Cotizadores</a:t>
            </a:r>
          </a:p>
        </p:txBody>
      </p:sp>
      <p:sp>
        <p:nvSpPr>
          <p:cNvPr id="14" name="ci"/>
          <p:cNvSpPr txBox="1">
            <a:spLocks noGrp="1"/>
          </p:cNvSpPr>
          <p:nvPr/>
        </p:nvSpPr>
        <p:spPr>
          <a:xfrm>
            <a:off x="329184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60" i="1" dirty="0">
                <a:solidFill>
                  <a:srgbClr val="5A6475"/>
                </a:solidFill>
                <a:latin typeface="Calibri"/>
              </a:rPr>
              <a:t>FTE:8 · BMC Remedy</a:t>
            </a:r>
          </a:p>
        </p:txBody>
      </p:sp>
      <p:sp>
        <p:nvSpPr>
          <p:cNvPr id="15" name="ca"/>
          <p:cNvSpPr txBox="1">
            <a:spLocks noGrp="1"/>
          </p:cNvSpPr>
          <p:nvPr/>
        </p:nvSpPr>
        <p:spPr>
          <a:xfrm>
            <a:off x="329184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1A3A8F"/>
                </a:solidFill>
                <a:latin typeface="Calibri"/>
              </a:rPr>
              <a:t>Renovacion Aug · Competencia 2027</a:t>
            </a:r>
          </a:p>
        </p:txBody>
      </p:sp>
      <p:sp>
        <p:nvSpPr>
          <p:cNvPr id="16" name="kb"/>
          <p:cNvSpPr>
            <a:spLocks noGrp="1"/>
          </p:cNvSpPr>
          <p:nvPr/>
        </p:nvSpPr>
        <p:spPr>
          <a:xfrm>
            <a:off x="329184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7" name="kv"/>
          <p:cNvSpPr txBox="1">
            <a:spLocks noGrp="1"/>
          </p:cNvSpPr>
          <p:nvPr/>
        </p:nvSpPr>
        <p:spPr>
          <a:xfrm>
            <a:off x="329184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668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329184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19" name="kb"/>
          <p:cNvSpPr>
            <a:spLocks noGrp="1"/>
          </p:cNvSpPr>
          <p:nvPr/>
        </p:nvSpPr>
        <p:spPr>
          <a:xfrm>
            <a:off x="1042416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0" name="kv"/>
          <p:cNvSpPr txBox="1">
            <a:spLocks noGrp="1"/>
          </p:cNvSpPr>
          <p:nvPr/>
        </p:nvSpPr>
        <p:spPr>
          <a:xfrm>
            <a:off x="1042416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24.6h</a:t>
            </a:r>
          </a:p>
        </p:txBody>
      </p:sp>
      <p:sp>
        <p:nvSpPr>
          <p:cNvPr id="21" name="kl"/>
          <p:cNvSpPr txBox="1">
            <a:spLocks noGrp="1"/>
          </p:cNvSpPr>
          <p:nvPr/>
        </p:nvSpPr>
        <p:spPr>
          <a:xfrm>
            <a:off x="1042416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22" name="kb"/>
          <p:cNvSpPr>
            <a:spLocks noGrp="1"/>
          </p:cNvSpPr>
          <p:nvPr/>
        </p:nvSpPr>
        <p:spPr>
          <a:xfrm>
            <a:off x="329184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3" name="kv"/>
          <p:cNvSpPr txBox="1">
            <a:spLocks noGrp="1"/>
          </p:cNvSpPr>
          <p:nvPr/>
        </p:nvSpPr>
        <p:spPr>
          <a:xfrm>
            <a:off x="329184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70%</a:t>
            </a:r>
          </a:p>
        </p:txBody>
      </p:sp>
      <p:sp>
        <p:nvSpPr>
          <p:cNvPr id="24" name="kl"/>
          <p:cNvSpPr txBox="1">
            <a:spLocks noGrp="1"/>
          </p:cNvSpPr>
          <p:nvPr/>
        </p:nvSpPr>
        <p:spPr>
          <a:xfrm>
            <a:off x="329184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1042416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6" name="kv"/>
          <p:cNvSpPr txBox="1">
            <a:spLocks noGrp="1"/>
          </p:cNvSpPr>
          <p:nvPr/>
        </p:nvSpPr>
        <p:spPr>
          <a:xfrm>
            <a:off x="1042416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USD $40</a:t>
            </a:r>
          </a:p>
        </p:txBody>
      </p:sp>
      <p:sp>
        <p:nvSpPr>
          <p:cNvPr id="27" name="kl"/>
          <p:cNvSpPr txBox="1">
            <a:spLocks noGrp="1"/>
          </p:cNvSpPr>
          <p:nvPr/>
        </p:nvSpPr>
        <p:spPr>
          <a:xfrm>
            <a:off x="1042416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8" name="sep"/>
          <p:cNvSpPr>
            <a:spLocks noGrp="1"/>
          </p:cNvSpPr>
          <p:nvPr/>
        </p:nvSpPr>
        <p:spPr>
          <a:xfrm>
            <a:off x="329184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9" name="db"/>
          <p:cNvSpPr>
            <a:spLocks noGrp="1"/>
          </p:cNvSpPr>
          <p:nvPr/>
        </p:nvSpPr>
        <p:spPr>
          <a:xfrm>
            <a:off x="329184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9" name="dbar"/>
          <p:cNvSpPr>
            <a:spLocks noGrp="1"/>
          </p:cNvSpPr>
          <p:nvPr/>
        </p:nvSpPr>
        <p:spPr>
          <a:xfrm>
            <a:off x="329184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30" name="dt"/>
          <p:cNvSpPr txBox="1">
            <a:spLocks noGrp="1"/>
          </p:cNvSpPr>
          <p:nvPr/>
        </p:nvSpPr>
        <p:spPr>
          <a:xfrm>
            <a:off x="420624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SLAs incumplidos
con penalizaciones</a:t>
            </a:r>
          </a:p>
        </p:txBody>
      </p:sp>
      <p:sp>
        <p:nvSpPr>
          <p:cNvPr id="31" name="db"/>
          <p:cNvSpPr>
            <a:spLocks noGrp="1"/>
          </p:cNvSpPr>
          <p:nvPr/>
        </p:nvSpPr>
        <p:spPr>
          <a:xfrm>
            <a:off x="329184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32" name="dbar"/>
          <p:cNvSpPr>
            <a:spLocks noGrp="1"/>
          </p:cNvSpPr>
          <p:nvPr/>
        </p:nvSpPr>
        <p:spPr>
          <a:xfrm>
            <a:off x="329184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33" name="dt"/>
          <p:cNvSpPr txBox="1">
            <a:spLocks noGrp="1"/>
          </p:cNvSpPr>
          <p:nvPr/>
        </p:nvSpPr>
        <p:spPr>
          <a:xfrm>
            <a:off x="420624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autoservicio
todo por call</a:t>
            </a:r>
          </a:p>
        </p:txBody>
      </p:sp>
      <p:sp>
        <p:nvSpPr>
          <p:cNvPr id="34" name="db"/>
          <p:cNvSpPr>
            <a:spLocks noGrp="1"/>
          </p:cNvSpPr>
          <p:nvPr/>
        </p:nvSpPr>
        <p:spPr>
          <a:xfrm>
            <a:off x="329184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35" name="dbar"/>
          <p:cNvSpPr>
            <a:spLocks noGrp="1"/>
          </p:cNvSpPr>
          <p:nvPr/>
        </p:nvSpPr>
        <p:spPr>
          <a:xfrm>
            <a:off x="329184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36" name="dt"/>
          <p:cNvSpPr txBox="1">
            <a:spLocks noGrp="1"/>
          </p:cNvSpPr>
          <p:nvPr/>
        </p:nvSpPr>
        <p:spPr>
          <a:xfrm>
            <a:off x="420624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Roles sin definir
N1+N2+N3 = 1 persona</a:t>
            </a:r>
          </a:p>
        </p:txBody>
      </p:sp>
      <p:sp>
        <p:nvSpPr>
          <p:cNvPr id="37" name="db"/>
          <p:cNvSpPr>
            <a:spLocks noGrp="1"/>
          </p:cNvSpPr>
          <p:nvPr/>
        </p:nvSpPr>
        <p:spPr>
          <a:xfrm>
            <a:off x="329184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38" name="dbar"/>
          <p:cNvSpPr>
            <a:spLocks noGrp="1"/>
          </p:cNvSpPr>
          <p:nvPr/>
        </p:nvSpPr>
        <p:spPr>
          <a:xfrm>
            <a:off x="329184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8" name="dt"/>
          <p:cNvSpPr txBox="1">
            <a:spLocks noGrp="1"/>
          </p:cNvSpPr>
          <p:nvPr/>
        </p:nvSpPr>
        <p:spPr>
          <a:xfrm>
            <a:off x="420624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Brechas vendido
vs ejecutado</a:t>
            </a:r>
          </a:p>
        </p:txBody>
      </p:sp>
      <p:sp>
        <p:nvSpPr>
          <p:cNvPr id="40" name="card"/>
          <p:cNvSpPr>
            <a:spLocks noGrp="1"/>
          </p:cNvSpPr>
          <p:nvPr/>
        </p:nvSpPr>
        <p:spPr>
          <a:xfrm>
            <a:off x="1865376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41" name="ch"/>
          <p:cNvSpPr>
            <a:spLocks noGrp="1"/>
          </p:cNvSpPr>
          <p:nvPr/>
        </p:nvSpPr>
        <p:spPr>
          <a:xfrm>
            <a:off x="1865376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2" name="ch2"/>
          <p:cNvSpPr>
            <a:spLocks noGrp="1"/>
          </p:cNvSpPr>
          <p:nvPr/>
        </p:nvSpPr>
        <p:spPr>
          <a:xfrm>
            <a:off x="1865376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3" name="cn"/>
          <p:cNvSpPr txBox="1">
            <a:spLocks noGrp="1"/>
          </p:cNvSpPr>
          <p:nvPr/>
        </p:nvSpPr>
        <p:spPr>
          <a:xfrm>
            <a:off x="1920240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b="1" dirty="0">
                <a:solidFill>
                  <a:srgbClr val="FFFFFF"/>
                </a:solidFill>
                <a:latin typeface="Calibri"/>
              </a:rPr>
              <a:t>SURA
Venta Digital</a:t>
            </a:r>
          </a:p>
        </p:txBody>
      </p:sp>
      <p:sp>
        <p:nvSpPr>
          <p:cNvPr id="44" name="ci"/>
          <p:cNvSpPr txBox="1">
            <a:spLocks noGrp="1"/>
          </p:cNvSpPr>
          <p:nvPr/>
        </p:nvSpPr>
        <p:spPr>
          <a:xfrm>
            <a:off x="1920240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60" i="1" dirty="0">
                <a:solidFill>
                  <a:srgbClr val="5A6475"/>
                </a:solidFill>
                <a:latin typeface="Calibri"/>
              </a:rPr>
              <a:t>FTE:2 · BMC Remedy</a:t>
            </a:r>
          </a:p>
        </p:txBody>
      </p:sp>
      <p:sp>
        <p:nvSpPr>
          <p:cNvPr id="45" name="ca"/>
          <p:cNvSpPr txBox="1">
            <a:spLocks noGrp="1"/>
          </p:cNvSpPr>
          <p:nvPr/>
        </p:nvSpPr>
        <p:spPr>
          <a:xfrm>
            <a:off x="1920240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1A3A8F"/>
                </a:solidFill>
                <a:latin typeface="Calibri"/>
              </a:rPr>
              <a:t>Renovacion Aug · Mesa joven 7m</a:t>
            </a:r>
          </a:p>
        </p:txBody>
      </p:sp>
      <p:sp>
        <p:nvSpPr>
          <p:cNvPr id="46" name="kb"/>
          <p:cNvSpPr>
            <a:spLocks noGrp="1"/>
          </p:cNvSpPr>
          <p:nvPr/>
        </p:nvSpPr>
        <p:spPr>
          <a:xfrm>
            <a:off x="1920240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47" name="kv"/>
          <p:cNvSpPr txBox="1">
            <a:spLocks noGrp="1"/>
          </p:cNvSpPr>
          <p:nvPr/>
        </p:nvSpPr>
        <p:spPr>
          <a:xfrm>
            <a:off x="1920240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174</a:t>
            </a:r>
          </a:p>
        </p:txBody>
      </p:sp>
      <p:sp>
        <p:nvSpPr>
          <p:cNvPr id="48" name="kl"/>
          <p:cNvSpPr txBox="1">
            <a:spLocks noGrp="1"/>
          </p:cNvSpPr>
          <p:nvPr/>
        </p:nvSpPr>
        <p:spPr>
          <a:xfrm>
            <a:off x="1920240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49" name="kb"/>
          <p:cNvSpPr>
            <a:spLocks noGrp="1"/>
          </p:cNvSpPr>
          <p:nvPr/>
        </p:nvSpPr>
        <p:spPr>
          <a:xfrm>
            <a:off x="2633472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0" name="kv"/>
          <p:cNvSpPr txBox="1">
            <a:spLocks noGrp="1"/>
          </p:cNvSpPr>
          <p:nvPr/>
        </p:nvSpPr>
        <p:spPr>
          <a:xfrm>
            <a:off x="2633472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12.4h</a:t>
            </a:r>
          </a:p>
        </p:txBody>
      </p:sp>
      <p:sp>
        <p:nvSpPr>
          <p:cNvPr id="51" name="kl"/>
          <p:cNvSpPr txBox="1">
            <a:spLocks noGrp="1"/>
          </p:cNvSpPr>
          <p:nvPr/>
        </p:nvSpPr>
        <p:spPr>
          <a:xfrm>
            <a:off x="2633472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52" name="kb"/>
          <p:cNvSpPr>
            <a:spLocks noGrp="1"/>
          </p:cNvSpPr>
          <p:nvPr/>
        </p:nvSpPr>
        <p:spPr>
          <a:xfrm>
            <a:off x="1920240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3" name="kv"/>
          <p:cNvSpPr txBox="1">
            <a:spLocks noGrp="1"/>
          </p:cNvSpPr>
          <p:nvPr/>
        </p:nvSpPr>
        <p:spPr>
          <a:xfrm>
            <a:off x="1920240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74%</a:t>
            </a:r>
          </a:p>
        </p:txBody>
      </p:sp>
      <p:sp>
        <p:nvSpPr>
          <p:cNvPr id="54" name="kl"/>
          <p:cNvSpPr txBox="1">
            <a:spLocks noGrp="1"/>
          </p:cNvSpPr>
          <p:nvPr/>
        </p:nvSpPr>
        <p:spPr>
          <a:xfrm>
            <a:off x="1920240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55" name="kb"/>
          <p:cNvSpPr>
            <a:spLocks noGrp="1"/>
          </p:cNvSpPr>
          <p:nvPr/>
        </p:nvSpPr>
        <p:spPr>
          <a:xfrm>
            <a:off x="2633472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6" name="kv"/>
          <p:cNvSpPr txBox="1">
            <a:spLocks noGrp="1"/>
          </p:cNvSpPr>
          <p:nvPr/>
        </p:nvSpPr>
        <p:spPr>
          <a:xfrm>
            <a:off x="2633472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USD $39</a:t>
            </a:r>
          </a:p>
        </p:txBody>
      </p:sp>
      <p:sp>
        <p:nvSpPr>
          <p:cNvPr id="57" name="kl"/>
          <p:cNvSpPr txBox="1">
            <a:spLocks noGrp="1"/>
          </p:cNvSpPr>
          <p:nvPr/>
        </p:nvSpPr>
        <p:spPr>
          <a:xfrm>
            <a:off x="2633472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39" name="sep"/>
          <p:cNvSpPr>
            <a:spLocks noGrp="1"/>
          </p:cNvSpPr>
          <p:nvPr/>
        </p:nvSpPr>
        <p:spPr>
          <a:xfrm>
            <a:off x="1920240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59" name="db"/>
          <p:cNvSpPr>
            <a:spLocks noGrp="1"/>
          </p:cNvSpPr>
          <p:nvPr/>
        </p:nvSpPr>
        <p:spPr>
          <a:xfrm>
            <a:off x="1920240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60" name="dbar"/>
          <p:cNvSpPr>
            <a:spLocks noGrp="1"/>
          </p:cNvSpPr>
          <p:nvPr/>
        </p:nvSpPr>
        <p:spPr>
          <a:xfrm>
            <a:off x="1920240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61" name="dt"/>
          <p:cNvSpPr txBox="1">
            <a:spLocks noGrp="1"/>
          </p:cNvSpPr>
          <p:nvPr/>
        </p:nvSpPr>
        <p:spPr>
          <a:xfrm>
            <a:off x="2011680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SLAs incumplidos
con penalizaciones</a:t>
            </a:r>
          </a:p>
        </p:txBody>
      </p:sp>
      <p:sp>
        <p:nvSpPr>
          <p:cNvPr id="62" name="db"/>
          <p:cNvSpPr>
            <a:spLocks noGrp="1"/>
          </p:cNvSpPr>
          <p:nvPr/>
        </p:nvSpPr>
        <p:spPr>
          <a:xfrm>
            <a:off x="1920240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63" name="dbar"/>
          <p:cNvSpPr>
            <a:spLocks noGrp="1"/>
          </p:cNvSpPr>
          <p:nvPr/>
        </p:nvSpPr>
        <p:spPr>
          <a:xfrm>
            <a:off x="1920240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64" name="dt"/>
          <p:cNvSpPr txBox="1">
            <a:spLocks noGrp="1"/>
          </p:cNvSpPr>
          <p:nvPr/>
        </p:nvSpPr>
        <p:spPr>
          <a:xfrm>
            <a:off x="2011680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dashboard
sin visibilidad</a:t>
            </a:r>
          </a:p>
        </p:txBody>
      </p:sp>
      <p:sp>
        <p:nvSpPr>
          <p:cNvPr id="65" name="db"/>
          <p:cNvSpPr>
            <a:spLocks noGrp="1"/>
          </p:cNvSpPr>
          <p:nvPr/>
        </p:nvSpPr>
        <p:spPr>
          <a:xfrm>
            <a:off x="1920240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66" name="dbar"/>
          <p:cNvSpPr>
            <a:spLocks noGrp="1"/>
          </p:cNvSpPr>
          <p:nvPr/>
        </p:nvSpPr>
        <p:spPr>
          <a:xfrm>
            <a:off x="1920240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67" name="dt"/>
          <p:cNvSpPr txBox="1">
            <a:spLocks noGrp="1"/>
          </p:cNvSpPr>
          <p:nvPr/>
        </p:nvSpPr>
        <p:spPr>
          <a:xfrm>
            <a:off x="2011680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Alcance no
controlado</a:t>
            </a:r>
          </a:p>
        </p:txBody>
      </p:sp>
      <p:sp>
        <p:nvSpPr>
          <p:cNvPr id="68" name="db"/>
          <p:cNvSpPr>
            <a:spLocks noGrp="1"/>
          </p:cNvSpPr>
          <p:nvPr/>
        </p:nvSpPr>
        <p:spPr>
          <a:xfrm>
            <a:off x="1920240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69" name="dbar"/>
          <p:cNvSpPr>
            <a:spLocks noGrp="1"/>
          </p:cNvSpPr>
          <p:nvPr/>
        </p:nvSpPr>
        <p:spPr>
          <a:xfrm>
            <a:off x="1920240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8" name="dt"/>
          <p:cNvSpPr txBox="1">
            <a:spLocks noGrp="1"/>
          </p:cNvSpPr>
          <p:nvPr/>
        </p:nvSpPr>
        <p:spPr>
          <a:xfrm>
            <a:off x="2011680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metricas
def. formales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3456432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71" name="ch"/>
          <p:cNvSpPr>
            <a:spLocks noGrp="1"/>
          </p:cNvSpPr>
          <p:nvPr/>
        </p:nvSpPr>
        <p:spPr>
          <a:xfrm>
            <a:off x="3456432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72" name="ch2"/>
          <p:cNvSpPr>
            <a:spLocks noGrp="1"/>
          </p:cNvSpPr>
          <p:nvPr/>
        </p:nvSpPr>
        <p:spPr>
          <a:xfrm>
            <a:off x="3456432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73" name="cn"/>
          <p:cNvSpPr txBox="1">
            <a:spLocks noGrp="1"/>
          </p:cNvSpPr>
          <p:nvPr/>
        </p:nvSpPr>
        <p:spPr>
          <a:xfrm>
            <a:off x="3511296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b="1" dirty="0">
                <a:solidFill>
                  <a:srgbClr val="FFFFFF"/>
                </a:solidFill>
                <a:latin typeface="Calibri"/>
              </a:rPr>
              <a:t>SURA
Automatizacion</a:t>
            </a:r>
          </a:p>
        </p:txBody>
      </p:sp>
      <p:sp>
        <p:nvSpPr>
          <p:cNvPr id="74" name="ci"/>
          <p:cNvSpPr txBox="1">
            <a:spLocks noGrp="1"/>
          </p:cNvSpPr>
          <p:nvPr/>
        </p:nvSpPr>
        <p:spPr>
          <a:xfrm>
            <a:off x="3511296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60" i="1" dirty="0">
                <a:solidFill>
                  <a:srgbClr val="5A6475"/>
                </a:solidFill>
                <a:latin typeface="Calibri"/>
              </a:rPr>
              <a:t>FTE:6 · BMC+Azure</a:t>
            </a:r>
          </a:p>
        </p:txBody>
      </p:sp>
      <p:sp>
        <p:nvSpPr>
          <p:cNvPr id="75" name="ca"/>
          <p:cNvSpPr txBox="1">
            <a:spLocks noGrp="1"/>
          </p:cNvSpPr>
          <p:nvPr/>
        </p:nvSpPr>
        <p:spPr>
          <a:xfrm>
            <a:off x="3511296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1A3A8F"/>
                </a:solidFill>
                <a:latin typeface="Calibri"/>
              </a:rPr>
              <a:t>Renovacion Aug · Oportunidad N3</a:t>
            </a:r>
          </a:p>
        </p:txBody>
      </p:sp>
      <p:sp>
        <p:nvSpPr>
          <p:cNvPr id="76" name="kb"/>
          <p:cNvSpPr>
            <a:spLocks noGrp="1"/>
          </p:cNvSpPr>
          <p:nvPr/>
        </p:nvSpPr>
        <p:spPr>
          <a:xfrm>
            <a:off x="3511296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77" name="kv"/>
          <p:cNvSpPr txBox="1">
            <a:spLocks noGrp="1"/>
          </p:cNvSpPr>
          <p:nvPr/>
        </p:nvSpPr>
        <p:spPr>
          <a:xfrm>
            <a:off x="3511296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512</a:t>
            </a:r>
          </a:p>
        </p:txBody>
      </p:sp>
      <p:sp>
        <p:nvSpPr>
          <p:cNvPr id="78" name="kl"/>
          <p:cNvSpPr txBox="1">
            <a:spLocks noGrp="1"/>
          </p:cNvSpPr>
          <p:nvPr/>
        </p:nvSpPr>
        <p:spPr>
          <a:xfrm>
            <a:off x="3511296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79" name="kb"/>
          <p:cNvSpPr>
            <a:spLocks noGrp="1"/>
          </p:cNvSpPr>
          <p:nvPr/>
        </p:nvSpPr>
        <p:spPr>
          <a:xfrm>
            <a:off x="4224528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0" name="kv"/>
          <p:cNvSpPr txBox="1">
            <a:spLocks noGrp="1"/>
          </p:cNvSpPr>
          <p:nvPr/>
        </p:nvSpPr>
        <p:spPr>
          <a:xfrm>
            <a:off x="4224528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0E6B3C"/>
                </a:solidFill>
                <a:latin typeface="Calibri"/>
              </a:rPr>
              <a:t>3.0h</a:t>
            </a:r>
          </a:p>
        </p:txBody>
      </p:sp>
      <p:sp>
        <p:nvSpPr>
          <p:cNvPr id="81" name="kl"/>
          <p:cNvSpPr txBox="1">
            <a:spLocks noGrp="1"/>
          </p:cNvSpPr>
          <p:nvPr/>
        </p:nvSpPr>
        <p:spPr>
          <a:xfrm>
            <a:off x="4224528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82" name="kb"/>
          <p:cNvSpPr>
            <a:spLocks noGrp="1"/>
          </p:cNvSpPr>
          <p:nvPr/>
        </p:nvSpPr>
        <p:spPr>
          <a:xfrm>
            <a:off x="3511296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3" name="kv"/>
          <p:cNvSpPr txBox="1">
            <a:spLocks noGrp="1"/>
          </p:cNvSpPr>
          <p:nvPr/>
        </p:nvSpPr>
        <p:spPr>
          <a:xfrm>
            <a:off x="3511296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0E6B3C"/>
                </a:solidFill>
                <a:latin typeface="Calibri"/>
              </a:rPr>
              <a:t>98%</a:t>
            </a:r>
          </a:p>
        </p:txBody>
      </p:sp>
      <p:sp>
        <p:nvSpPr>
          <p:cNvPr id="84" name="kl"/>
          <p:cNvSpPr txBox="1">
            <a:spLocks noGrp="1"/>
          </p:cNvSpPr>
          <p:nvPr/>
        </p:nvSpPr>
        <p:spPr>
          <a:xfrm>
            <a:off x="3511296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85" name="kb"/>
          <p:cNvSpPr>
            <a:spLocks noGrp="1"/>
          </p:cNvSpPr>
          <p:nvPr/>
        </p:nvSpPr>
        <p:spPr>
          <a:xfrm>
            <a:off x="4224528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6" name="kv"/>
          <p:cNvSpPr txBox="1">
            <a:spLocks noGrp="1"/>
          </p:cNvSpPr>
          <p:nvPr/>
        </p:nvSpPr>
        <p:spPr>
          <a:xfrm>
            <a:off x="4224528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USD $39</a:t>
            </a:r>
          </a:p>
        </p:txBody>
      </p:sp>
      <p:sp>
        <p:nvSpPr>
          <p:cNvPr id="87" name="kl"/>
          <p:cNvSpPr txBox="1">
            <a:spLocks noGrp="1"/>
          </p:cNvSpPr>
          <p:nvPr/>
        </p:nvSpPr>
        <p:spPr>
          <a:xfrm>
            <a:off x="4224528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89" name="sep"/>
          <p:cNvSpPr>
            <a:spLocks noGrp="1"/>
          </p:cNvSpPr>
          <p:nvPr/>
        </p:nvSpPr>
        <p:spPr>
          <a:xfrm>
            <a:off x="3511296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90" name="db"/>
          <p:cNvSpPr>
            <a:spLocks noGrp="1"/>
          </p:cNvSpPr>
          <p:nvPr/>
        </p:nvSpPr>
        <p:spPr>
          <a:xfrm>
            <a:off x="3511296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91" name="dbar"/>
          <p:cNvSpPr>
            <a:spLocks noGrp="1"/>
          </p:cNvSpPr>
          <p:nvPr/>
        </p:nvSpPr>
        <p:spPr>
          <a:xfrm>
            <a:off x="3511296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2" name="dt"/>
          <p:cNvSpPr txBox="1">
            <a:spLocks noGrp="1"/>
          </p:cNvSpPr>
          <p:nvPr/>
        </p:nvSpPr>
        <p:spPr>
          <a:xfrm>
            <a:off x="3602736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autoservicio
todo por call</a:t>
            </a:r>
          </a:p>
        </p:txBody>
      </p:sp>
      <p:sp>
        <p:nvSpPr>
          <p:cNvPr id="93" name="db"/>
          <p:cNvSpPr>
            <a:spLocks noGrp="1"/>
          </p:cNvSpPr>
          <p:nvPr/>
        </p:nvSpPr>
        <p:spPr>
          <a:xfrm>
            <a:off x="3511296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94" name="dbar"/>
          <p:cNvSpPr>
            <a:spLocks noGrp="1"/>
          </p:cNvSpPr>
          <p:nvPr/>
        </p:nvSpPr>
        <p:spPr>
          <a:xfrm>
            <a:off x="3511296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5" name="dt"/>
          <p:cNvSpPr txBox="1">
            <a:spLocks noGrp="1"/>
          </p:cNvSpPr>
          <p:nvPr/>
        </p:nvSpPr>
        <p:spPr>
          <a:xfrm>
            <a:off x="3602736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Modernizaciones
disfrazadas de soporte</a:t>
            </a:r>
          </a:p>
        </p:txBody>
      </p:sp>
      <p:sp>
        <p:nvSpPr>
          <p:cNvPr id="96" name="db"/>
          <p:cNvSpPr>
            <a:spLocks noGrp="1"/>
          </p:cNvSpPr>
          <p:nvPr/>
        </p:nvSpPr>
        <p:spPr>
          <a:xfrm>
            <a:off x="3511296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97" name="dbar"/>
          <p:cNvSpPr>
            <a:spLocks noGrp="1"/>
          </p:cNvSpPr>
          <p:nvPr/>
        </p:nvSpPr>
        <p:spPr>
          <a:xfrm>
            <a:off x="3511296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8" name="dt"/>
          <p:cNvSpPr txBox="1">
            <a:spLocks noGrp="1"/>
          </p:cNvSpPr>
          <p:nvPr/>
        </p:nvSpPr>
        <p:spPr>
          <a:xfrm>
            <a:off x="3602736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dashboard
sin visibilidad</a:t>
            </a:r>
          </a:p>
        </p:txBody>
      </p:sp>
      <p:sp>
        <p:nvSpPr>
          <p:cNvPr id="99" name="db"/>
          <p:cNvSpPr>
            <a:spLocks noGrp="1"/>
          </p:cNvSpPr>
          <p:nvPr/>
        </p:nvSpPr>
        <p:spPr>
          <a:xfrm>
            <a:off x="3511296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9" name="dbar"/>
          <p:cNvSpPr>
            <a:spLocks noGrp="1"/>
          </p:cNvSpPr>
          <p:nvPr/>
        </p:nvSpPr>
        <p:spPr>
          <a:xfrm>
            <a:off x="3511296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8" name="dt"/>
          <p:cNvSpPr txBox="1">
            <a:spLocks noGrp="1"/>
          </p:cNvSpPr>
          <p:nvPr/>
        </p:nvSpPr>
        <p:spPr>
          <a:xfrm>
            <a:off x="3602736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Roles sin definir
por mesa</a:t>
            </a:r>
          </a:p>
        </p:txBody>
      </p:sp>
      <p:sp>
        <p:nvSpPr>
          <p:cNvPr id="100" name="card"/>
          <p:cNvSpPr>
            <a:spLocks noGrp="1"/>
          </p:cNvSpPr>
          <p:nvPr/>
        </p:nvSpPr>
        <p:spPr>
          <a:xfrm>
            <a:off x="5047488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</p:sp>
      <p:sp>
        <p:nvSpPr>
          <p:cNvPr id="101" name="ch"/>
          <p:cNvSpPr>
            <a:spLocks noGrp="1"/>
          </p:cNvSpPr>
          <p:nvPr/>
        </p:nvSpPr>
        <p:spPr>
          <a:xfrm>
            <a:off x="5047488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02" name="ch2"/>
          <p:cNvSpPr>
            <a:spLocks noGrp="1"/>
          </p:cNvSpPr>
          <p:nvPr/>
        </p:nvSpPr>
        <p:spPr>
          <a:xfrm>
            <a:off x="5047488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03" name="cn"/>
          <p:cNvSpPr txBox="1">
            <a:spLocks noGrp="1"/>
          </p:cNvSpPr>
          <p:nvPr/>
        </p:nvSpPr>
        <p:spPr>
          <a:xfrm>
            <a:off x="5102352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b="1" dirty="0">
                <a:solidFill>
                  <a:srgbClr val="FFFFFF"/>
                </a:solidFill>
                <a:latin typeface="Calibri"/>
              </a:rPr>
              <a:t>SURA Canales
Masivos</a:t>
            </a:r>
          </a:p>
        </p:txBody>
      </p:sp>
      <p:sp>
        <p:nvSpPr>
          <p:cNvPr id="104" name="ci"/>
          <p:cNvSpPr txBox="1">
            <a:spLocks noGrp="1"/>
          </p:cNvSpPr>
          <p:nvPr/>
        </p:nvSpPr>
        <p:spPr>
          <a:xfrm>
            <a:off x="5102352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60" i="1" dirty="0">
                <a:solidFill>
                  <a:srgbClr val="5A6475"/>
                </a:solidFill>
                <a:latin typeface="Calibri"/>
              </a:rPr>
              <a:t>FTE:1 · BMC Remedy</a:t>
            </a:r>
          </a:p>
        </p:txBody>
      </p:sp>
      <p:sp>
        <p:nvSpPr>
          <p:cNvPr id="105" name="ca"/>
          <p:cNvSpPr txBox="1">
            <a:spLocks noGrp="1"/>
          </p:cNvSpPr>
          <p:nvPr/>
        </p:nvSpPr>
        <p:spPr>
          <a:xfrm>
            <a:off x="5102352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B91C1C"/>
                </a:solidFill>
                <a:latin typeface="Calibri"/>
              </a:rPr>
              <a:t>🚨 1 FTE — bus factor critico</a:t>
            </a:r>
          </a:p>
        </p:txBody>
      </p:sp>
      <p:sp>
        <p:nvSpPr>
          <p:cNvPr id="106" name="kb"/>
          <p:cNvSpPr>
            <a:spLocks noGrp="1"/>
          </p:cNvSpPr>
          <p:nvPr/>
        </p:nvSpPr>
        <p:spPr>
          <a:xfrm>
            <a:off x="5102352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07" name="kv"/>
          <p:cNvSpPr txBox="1">
            <a:spLocks noGrp="1"/>
          </p:cNvSpPr>
          <p:nvPr/>
        </p:nvSpPr>
        <p:spPr>
          <a:xfrm>
            <a:off x="5102352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171</a:t>
            </a:r>
          </a:p>
        </p:txBody>
      </p:sp>
      <p:sp>
        <p:nvSpPr>
          <p:cNvPr id="108" name="kl"/>
          <p:cNvSpPr txBox="1">
            <a:spLocks noGrp="1"/>
          </p:cNvSpPr>
          <p:nvPr/>
        </p:nvSpPr>
        <p:spPr>
          <a:xfrm>
            <a:off x="5102352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109" name="kb"/>
          <p:cNvSpPr>
            <a:spLocks noGrp="1"/>
          </p:cNvSpPr>
          <p:nvPr/>
        </p:nvSpPr>
        <p:spPr>
          <a:xfrm>
            <a:off x="5815584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0" name="kv"/>
          <p:cNvSpPr txBox="1">
            <a:spLocks noGrp="1"/>
          </p:cNvSpPr>
          <p:nvPr/>
        </p:nvSpPr>
        <p:spPr>
          <a:xfrm>
            <a:off x="5815584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17.9h</a:t>
            </a:r>
          </a:p>
        </p:txBody>
      </p:sp>
      <p:sp>
        <p:nvSpPr>
          <p:cNvPr id="111" name="kl"/>
          <p:cNvSpPr txBox="1">
            <a:spLocks noGrp="1"/>
          </p:cNvSpPr>
          <p:nvPr/>
        </p:nvSpPr>
        <p:spPr>
          <a:xfrm>
            <a:off x="5815584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112" name="kb"/>
          <p:cNvSpPr>
            <a:spLocks noGrp="1"/>
          </p:cNvSpPr>
          <p:nvPr/>
        </p:nvSpPr>
        <p:spPr>
          <a:xfrm>
            <a:off x="5102352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3" name="kv"/>
          <p:cNvSpPr txBox="1">
            <a:spLocks noGrp="1"/>
          </p:cNvSpPr>
          <p:nvPr/>
        </p:nvSpPr>
        <p:spPr>
          <a:xfrm>
            <a:off x="5102352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72%</a:t>
            </a:r>
          </a:p>
        </p:txBody>
      </p:sp>
      <p:sp>
        <p:nvSpPr>
          <p:cNvPr id="114" name="kl"/>
          <p:cNvSpPr txBox="1">
            <a:spLocks noGrp="1"/>
          </p:cNvSpPr>
          <p:nvPr/>
        </p:nvSpPr>
        <p:spPr>
          <a:xfrm>
            <a:off x="5102352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115" name="kb"/>
          <p:cNvSpPr>
            <a:spLocks noGrp="1"/>
          </p:cNvSpPr>
          <p:nvPr/>
        </p:nvSpPr>
        <p:spPr>
          <a:xfrm>
            <a:off x="5815584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6" name="kv"/>
          <p:cNvSpPr txBox="1">
            <a:spLocks noGrp="1"/>
          </p:cNvSpPr>
          <p:nvPr/>
        </p:nvSpPr>
        <p:spPr>
          <a:xfrm>
            <a:off x="5815584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0E6B3C"/>
                </a:solidFill>
                <a:latin typeface="Calibri"/>
              </a:rPr>
              <a:t>USD $20</a:t>
            </a:r>
          </a:p>
        </p:txBody>
      </p:sp>
      <p:sp>
        <p:nvSpPr>
          <p:cNvPr id="117" name="kl"/>
          <p:cNvSpPr txBox="1">
            <a:spLocks noGrp="1"/>
          </p:cNvSpPr>
          <p:nvPr/>
        </p:nvSpPr>
        <p:spPr>
          <a:xfrm>
            <a:off x="5815584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120" name="sep"/>
          <p:cNvSpPr>
            <a:spLocks noGrp="1"/>
          </p:cNvSpPr>
          <p:nvPr/>
        </p:nvSpPr>
        <p:spPr>
          <a:xfrm>
            <a:off x="5102352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121" name="db"/>
          <p:cNvSpPr>
            <a:spLocks noGrp="1"/>
          </p:cNvSpPr>
          <p:nvPr/>
        </p:nvSpPr>
        <p:spPr>
          <a:xfrm>
            <a:off x="5102352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22" name="dbar"/>
          <p:cNvSpPr>
            <a:spLocks noGrp="1"/>
          </p:cNvSpPr>
          <p:nvPr/>
        </p:nvSpPr>
        <p:spPr>
          <a:xfrm>
            <a:off x="5102352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3" name="dt"/>
          <p:cNvSpPr txBox="1">
            <a:spLocks noGrp="1"/>
          </p:cNvSpPr>
          <p:nvPr/>
        </p:nvSpPr>
        <p:spPr>
          <a:xfrm>
            <a:off x="5193792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SLAs incumplidos
con penalizaciones</a:t>
            </a:r>
          </a:p>
        </p:txBody>
      </p:sp>
      <p:sp>
        <p:nvSpPr>
          <p:cNvPr id="124" name="db"/>
          <p:cNvSpPr>
            <a:spLocks noGrp="1"/>
          </p:cNvSpPr>
          <p:nvPr/>
        </p:nvSpPr>
        <p:spPr>
          <a:xfrm>
            <a:off x="5102352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25" name="dbar"/>
          <p:cNvSpPr>
            <a:spLocks noGrp="1"/>
          </p:cNvSpPr>
          <p:nvPr/>
        </p:nvSpPr>
        <p:spPr>
          <a:xfrm>
            <a:off x="5102352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6" name="dt"/>
          <p:cNvSpPr txBox="1">
            <a:spLocks noGrp="1"/>
          </p:cNvSpPr>
          <p:nvPr/>
        </p:nvSpPr>
        <p:spPr>
          <a:xfrm>
            <a:off x="5193792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1 FTE solo
riesgo operacional</a:t>
            </a:r>
          </a:p>
        </p:txBody>
      </p:sp>
      <p:sp>
        <p:nvSpPr>
          <p:cNvPr id="127" name="db"/>
          <p:cNvSpPr>
            <a:spLocks noGrp="1"/>
          </p:cNvSpPr>
          <p:nvPr/>
        </p:nvSpPr>
        <p:spPr>
          <a:xfrm>
            <a:off x="5102352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28" name="dbar"/>
          <p:cNvSpPr>
            <a:spLocks noGrp="1"/>
          </p:cNvSpPr>
          <p:nvPr/>
        </p:nvSpPr>
        <p:spPr>
          <a:xfrm>
            <a:off x="5102352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9" name="dt"/>
          <p:cNvSpPr txBox="1">
            <a:spLocks noGrp="1"/>
          </p:cNvSpPr>
          <p:nvPr/>
        </p:nvSpPr>
        <p:spPr>
          <a:xfrm>
            <a:off x="5193792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metricas
ni visibilidad</a:t>
            </a:r>
          </a:p>
        </p:txBody>
      </p:sp>
      <p:sp>
        <p:nvSpPr>
          <p:cNvPr id="149" name="db"/>
          <p:cNvSpPr>
            <a:spLocks noGrp="1"/>
          </p:cNvSpPr>
          <p:nvPr/>
        </p:nvSpPr>
        <p:spPr>
          <a:xfrm>
            <a:off x="5102352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50" name="dbar"/>
          <p:cNvSpPr>
            <a:spLocks noGrp="1"/>
          </p:cNvSpPr>
          <p:nvPr/>
        </p:nvSpPr>
        <p:spPr>
          <a:xfrm>
            <a:off x="5102352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18" name="dt"/>
          <p:cNvSpPr txBox="1">
            <a:spLocks noGrp="1"/>
          </p:cNvSpPr>
          <p:nvPr/>
        </p:nvSpPr>
        <p:spPr>
          <a:xfrm>
            <a:off x="5193792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Scope creep
equipo absorbe todo</a:t>
            </a:r>
          </a:p>
        </p:txBody>
      </p:sp>
      <p:sp>
        <p:nvSpPr>
          <p:cNvPr id="130" name="card"/>
          <p:cNvSpPr>
            <a:spLocks noGrp="1"/>
          </p:cNvSpPr>
          <p:nvPr/>
        </p:nvSpPr>
        <p:spPr>
          <a:xfrm>
            <a:off x="6638544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131" name="ch"/>
          <p:cNvSpPr>
            <a:spLocks noGrp="1"/>
          </p:cNvSpPr>
          <p:nvPr/>
        </p:nvSpPr>
        <p:spPr>
          <a:xfrm>
            <a:off x="6638544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32" name="ch2"/>
          <p:cNvSpPr>
            <a:spLocks noGrp="1"/>
          </p:cNvSpPr>
          <p:nvPr/>
        </p:nvSpPr>
        <p:spPr>
          <a:xfrm>
            <a:off x="6638544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33" name="cn"/>
          <p:cNvSpPr txBox="1">
            <a:spLocks noGrp="1"/>
          </p:cNvSpPr>
          <p:nvPr/>
        </p:nvSpPr>
        <p:spPr>
          <a:xfrm>
            <a:off x="6693408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b="1" dirty="0">
                <a:solidFill>
                  <a:srgbClr val="FFFFFF"/>
                </a:solidFill>
                <a:latin typeface="Calibri"/>
              </a:rPr>
              <a:t>XM
Apps Criticas</a:t>
            </a:r>
          </a:p>
        </p:txBody>
      </p:sp>
      <p:sp>
        <p:nvSpPr>
          <p:cNvPr id="134" name="ci"/>
          <p:cNvSpPr txBox="1">
            <a:spLocks noGrp="1"/>
          </p:cNvSpPr>
          <p:nvPr/>
        </p:nvSpPr>
        <p:spPr>
          <a:xfrm>
            <a:off x="6693408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60" i="1" dirty="0">
                <a:solidFill>
                  <a:srgbClr val="5A6475"/>
                </a:solidFill>
                <a:latin typeface="Calibri"/>
              </a:rPr>
              <a:t>FTE:4 · ServiceNow</a:t>
            </a:r>
          </a:p>
        </p:txBody>
      </p:sp>
      <p:sp>
        <p:nvSpPr>
          <p:cNvPr id="135" name="ca"/>
          <p:cNvSpPr txBox="1">
            <a:spLocks noGrp="1"/>
          </p:cNvSpPr>
          <p:nvPr/>
        </p:nvSpPr>
        <p:spPr>
          <a:xfrm>
            <a:off x="6693408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40" b="1" dirty="0">
                <a:solidFill>
                  <a:srgbClr val="1A3A8F"/>
                </a:solidFill>
                <a:latin typeface="Calibri"/>
              </a:rPr>
              <a:t>Vigente jul 2027 · 24x7 · 14 comps.</a:t>
            </a:r>
          </a:p>
        </p:txBody>
      </p:sp>
      <p:sp>
        <p:nvSpPr>
          <p:cNvPr id="136" name="kb"/>
          <p:cNvSpPr>
            <a:spLocks noGrp="1"/>
          </p:cNvSpPr>
          <p:nvPr/>
        </p:nvSpPr>
        <p:spPr>
          <a:xfrm>
            <a:off x="6693408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37" name="kv"/>
          <p:cNvSpPr txBox="1">
            <a:spLocks noGrp="1"/>
          </p:cNvSpPr>
          <p:nvPr/>
        </p:nvSpPr>
        <p:spPr>
          <a:xfrm>
            <a:off x="6693408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90</a:t>
            </a:r>
          </a:p>
        </p:txBody>
      </p:sp>
      <p:sp>
        <p:nvSpPr>
          <p:cNvPr id="138" name="kl"/>
          <p:cNvSpPr txBox="1">
            <a:spLocks noGrp="1"/>
          </p:cNvSpPr>
          <p:nvPr/>
        </p:nvSpPr>
        <p:spPr>
          <a:xfrm>
            <a:off x="6693408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139" name="kb"/>
          <p:cNvSpPr>
            <a:spLocks noGrp="1"/>
          </p:cNvSpPr>
          <p:nvPr/>
        </p:nvSpPr>
        <p:spPr>
          <a:xfrm>
            <a:off x="7406640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0" name="kv"/>
          <p:cNvSpPr txBox="1">
            <a:spLocks noGrp="1"/>
          </p:cNvSpPr>
          <p:nvPr/>
        </p:nvSpPr>
        <p:spPr>
          <a:xfrm>
            <a:off x="7406640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41" name="kl"/>
          <p:cNvSpPr txBox="1">
            <a:spLocks noGrp="1"/>
          </p:cNvSpPr>
          <p:nvPr/>
        </p:nvSpPr>
        <p:spPr>
          <a:xfrm>
            <a:off x="7406640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142" name="kb"/>
          <p:cNvSpPr>
            <a:spLocks noGrp="1"/>
          </p:cNvSpPr>
          <p:nvPr/>
        </p:nvSpPr>
        <p:spPr>
          <a:xfrm>
            <a:off x="6693408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3" name="kv"/>
          <p:cNvSpPr txBox="1">
            <a:spLocks noGrp="1"/>
          </p:cNvSpPr>
          <p:nvPr/>
        </p:nvSpPr>
        <p:spPr>
          <a:xfrm>
            <a:off x="6693408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44" name="kl"/>
          <p:cNvSpPr txBox="1">
            <a:spLocks noGrp="1"/>
          </p:cNvSpPr>
          <p:nvPr/>
        </p:nvSpPr>
        <p:spPr>
          <a:xfrm>
            <a:off x="6693408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145" name="kb"/>
          <p:cNvSpPr>
            <a:spLocks noGrp="1"/>
          </p:cNvSpPr>
          <p:nvPr/>
        </p:nvSpPr>
        <p:spPr>
          <a:xfrm>
            <a:off x="7406640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6" name="kv"/>
          <p:cNvSpPr txBox="1">
            <a:spLocks noGrp="1"/>
          </p:cNvSpPr>
          <p:nvPr/>
        </p:nvSpPr>
        <p:spPr>
          <a:xfrm>
            <a:off x="7406640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B91C1C"/>
                </a:solidFill>
                <a:latin typeface="Calibri"/>
              </a:rPr>
              <a:t>USD $149</a:t>
            </a:r>
          </a:p>
        </p:txBody>
      </p:sp>
      <p:sp>
        <p:nvSpPr>
          <p:cNvPr id="147" name="kl"/>
          <p:cNvSpPr txBox="1">
            <a:spLocks noGrp="1"/>
          </p:cNvSpPr>
          <p:nvPr/>
        </p:nvSpPr>
        <p:spPr>
          <a:xfrm>
            <a:off x="7406640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151" name="sep"/>
          <p:cNvSpPr>
            <a:spLocks noGrp="1"/>
          </p:cNvSpPr>
          <p:nvPr/>
        </p:nvSpPr>
        <p:spPr>
          <a:xfrm>
            <a:off x="6693408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152" name="db"/>
          <p:cNvSpPr>
            <a:spLocks noGrp="1"/>
          </p:cNvSpPr>
          <p:nvPr/>
        </p:nvSpPr>
        <p:spPr>
          <a:xfrm>
            <a:off x="6693408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53" name="dbar"/>
          <p:cNvSpPr>
            <a:spLocks noGrp="1"/>
          </p:cNvSpPr>
          <p:nvPr/>
        </p:nvSpPr>
        <p:spPr>
          <a:xfrm>
            <a:off x="6693408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4" name="dt"/>
          <p:cNvSpPr txBox="1">
            <a:spLocks noGrp="1"/>
          </p:cNvSpPr>
          <p:nvPr/>
        </p:nvSpPr>
        <p:spPr>
          <a:xfrm>
            <a:off x="6784848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KEDB
gestion informal</a:t>
            </a:r>
          </a:p>
        </p:txBody>
      </p:sp>
      <p:sp>
        <p:nvSpPr>
          <p:cNvPr id="155" name="db"/>
          <p:cNvSpPr>
            <a:spLocks noGrp="1"/>
          </p:cNvSpPr>
          <p:nvPr/>
        </p:nvSpPr>
        <p:spPr>
          <a:xfrm>
            <a:off x="6693408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56" name="dbar"/>
          <p:cNvSpPr>
            <a:spLocks noGrp="1"/>
          </p:cNvSpPr>
          <p:nvPr/>
        </p:nvSpPr>
        <p:spPr>
          <a:xfrm>
            <a:off x="6693408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7" name="dt"/>
          <p:cNvSpPr txBox="1">
            <a:spLocks noGrp="1"/>
          </p:cNvSpPr>
          <p:nvPr/>
        </p:nvSpPr>
        <p:spPr>
          <a:xfrm>
            <a:off x="6784848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4 FTE para 24x7
muy justo</a:t>
            </a:r>
          </a:p>
        </p:txBody>
      </p:sp>
      <p:sp>
        <p:nvSpPr>
          <p:cNvPr id="158" name="db"/>
          <p:cNvSpPr>
            <a:spLocks noGrp="1"/>
          </p:cNvSpPr>
          <p:nvPr/>
        </p:nvSpPr>
        <p:spPr>
          <a:xfrm>
            <a:off x="6693408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59" name="dbar"/>
          <p:cNvSpPr>
            <a:spLocks noGrp="1"/>
          </p:cNvSpPr>
          <p:nvPr/>
        </p:nvSpPr>
        <p:spPr>
          <a:xfrm>
            <a:off x="6693408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60" name="dt"/>
          <p:cNvSpPr txBox="1">
            <a:spLocks noGrp="1"/>
          </p:cNvSpPr>
          <p:nvPr/>
        </p:nvSpPr>
        <p:spPr>
          <a:xfrm>
            <a:off x="6784848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metricas
ni CSAT formal</a:t>
            </a:r>
          </a:p>
        </p:txBody>
      </p:sp>
      <p:sp>
        <p:nvSpPr>
          <p:cNvPr id="161" name="db"/>
          <p:cNvSpPr>
            <a:spLocks noGrp="1"/>
          </p:cNvSpPr>
          <p:nvPr/>
        </p:nvSpPr>
        <p:spPr>
          <a:xfrm>
            <a:off x="6693408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62" name="dbar"/>
          <p:cNvSpPr>
            <a:spLocks noGrp="1"/>
          </p:cNvSpPr>
          <p:nvPr/>
        </p:nvSpPr>
        <p:spPr>
          <a:xfrm>
            <a:off x="6693408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48" name="dt"/>
          <p:cNvSpPr txBox="1">
            <a:spLocks noGrp="1"/>
          </p:cNvSpPr>
          <p:nvPr/>
        </p:nvSpPr>
        <p:spPr>
          <a:xfrm>
            <a:off x="6784848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Licencia SN
paga PersonalSoft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5A6475"/>
                </a:solidFill>
                <a:latin typeface="Calibri"/>
              </a:rPr>
              <a:t>Fuente: Levantamiento interno PS · Julio 2026 · Reunion Elsy Marin (SURA) · Diego Serna (XM) · Excel Levantamiento_Mesas_Julio_2026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47472" y="100584"/>
            <a:ext cx="7717536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Mapa de Dolores Criticos — Las 12 Mesas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47472" y="585216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60" dirty="0">
                <a:solidFill>
                  <a:srgbClr val="D6E8FF"/>
                </a:solidFill>
                <a:latin typeface="Calibri"/>
              </a:rPr>
              <a:t>● Confirmado · ◐ Parcial · ○ No identificado · Agrupado por categoria</a:t>
            </a:r>
          </a:p>
        </p:txBody>
      </p:sp>
      <p:sp>
        <p:nvSpPr>
          <p:cNvPr id="10" name="dhdr"/>
          <p:cNvSpPr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t"/>
          <p:cNvSpPr txBox="1"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sura_hdr"/>
          <p:cNvSpPr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solidFill>
            <a:srgbClr val="1E2F80"/>
          </a:solidFill>
          <a:ln>
            <a:noFill/>
          </a:ln>
        </p:spPr>
      </p:sp>
      <p:sp>
        <p:nvSpPr>
          <p:cNvPr id="13" name="sura_ht"/>
          <p:cNvSpPr txBox="1"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ch"/>
          <p:cNvSpPr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3" name="cht"/>
          <p:cNvSpPr txBox="1"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ch"/>
          <p:cNvSpPr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5" name="cht"/>
          <p:cNvSpPr txBox="1"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ch"/>
          <p:cNvSpPr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7" name="cht"/>
          <p:cNvSpPr txBox="1"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ch"/>
          <p:cNvSpPr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9" name="cht"/>
          <p:cNvSpPr txBox="1"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0" name="ch"/>
          <p:cNvSpPr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1" name="cht"/>
          <p:cNvSpPr txBox="1"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2" name="ch"/>
          <p:cNvSpPr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ht"/>
          <p:cNvSpPr txBox="1"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COES-I</a:t>
            </a:r>
          </a:p>
        </p:txBody>
      </p:sp>
      <p:sp>
        <p:nvSpPr>
          <p:cNvPr id="34" name="ch"/>
          <p:cNvSpPr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5" name="cht"/>
          <p:cNvSpPr txBox="1"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COES-D</a:t>
            </a:r>
          </a:p>
        </p:txBody>
      </p:sp>
      <p:sp>
        <p:nvSpPr>
          <p:cNvPr id="36" name="ch"/>
          <p:cNvSpPr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7" name="cht"/>
          <p:cNvSpPr txBox="1"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Sop.</a:t>
            </a:r>
          </a:p>
        </p:txBody>
      </p:sp>
      <p:sp>
        <p:nvSpPr>
          <p:cNvPr id="38" name="ch"/>
          <p:cNvSpPr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9" name="cht"/>
          <p:cNvSpPr txBox="1"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Emma</a:t>
            </a:r>
          </a:p>
        </p:txBody>
      </p:sp>
      <p:sp>
        <p:nvSpPr>
          <p:cNvPr id="40" name="ch"/>
          <p:cNvSpPr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1" name="cht"/>
          <p:cNvSpPr txBox="1"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iSeries</a:t>
            </a:r>
          </a:p>
        </p:txBody>
      </p:sp>
      <p:sp>
        <p:nvSpPr>
          <p:cNvPr id="42" name="ch"/>
          <p:cNvSpPr>
            <a:spLocks noGrp="1"/>
          </p:cNvSpPr>
          <p:nvPr/>
        </p:nvSpPr>
        <p:spPr>
          <a:xfrm>
            <a:off x="7406640" y="987552"/>
            <a:ext cx="411480" cy="219456"/>
          </a:xfrm>
          <a:prstGeom prst="rect">
            <a:avLst/>
          </a:prstGeom>
          <a:solidFill>
            <a:srgbClr val="0E6B3C"/>
          </a:solidFill>
          <a:ln>
            <a:noFill/>
          </a:ln>
        </p:spPr>
      </p:sp>
      <p:sp>
        <p:nvSpPr>
          <p:cNvPr id="43" name="cht"/>
          <p:cNvSpPr txBox="1">
            <a:spLocks noGrp="1"/>
          </p:cNvSpPr>
          <p:nvPr/>
        </p:nvSpPr>
        <p:spPr>
          <a:xfrm>
            <a:off x="74066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MEDI-
CAR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722376" y="1207008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777240" y="120700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"/>
          <p:cNvSpPr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5" name="ct2"/>
          <p:cNvSpPr txBox="1"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" name="c"/>
          <p:cNvSpPr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6" name="ct2"/>
          <p:cNvSpPr txBox="1"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" name="c"/>
          <p:cNvSpPr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7" name="ct2"/>
          <p:cNvSpPr txBox="1"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8" name="c"/>
          <p:cNvSpPr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8" name="ct2"/>
          <p:cNvSpPr txBox="1"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9" name="ct2"/>
          <p:cNvSpPr txBox="1"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0" name="ct2"/>
          <p:cNvSpPr txBox="1"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1" name="ct2"/>
          <p:cNvSpPr txBox="1"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" name="c"/>
          <p:cNvSpPr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2" name="ct2"/>
          <p:cNvSpPr txBox="1"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3" name="ct2"/>
          <p:cNvSpPr txBox="1"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" name="c"/>
          <p:cNvSpPr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4" name="ct2"/>
          <p:cNvSpPr txBox="1"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5" name="ct2"/>
          <p:cNvSpPr txBox="1"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4" name="c"/>
          <p:cNvSpPr>
            <a:spLocks noGrp="1"/>
          </p:cNvSpPr>
          <p:nvPr/>
        </p:nvSpPr>
        <p:spPr>
          <a:xfrm>
            <a:off x="7406640" y="120700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6" name="ct2"/>
          <p:cNvSpPr txBox="1">
            <a:spLocks noGrp="1"/>
          </p:cNvSpPr>
          <p:nvPr/>
        </p:nvSpPr>
        <p:spPr>
          <a:xfrm>
            <a:off x="74066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" name="db"/>
          <p:cNvSpPr>
            <a:spLocks noGrp="1"/>
          </p:cNvSpPr>
          <p:nvPr/>
        </p:nvSpPr>
        <p:spPr>
          <a:xfrm>
            <a:off x="722376" y="1426464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46" name="dt"/>
          <p:cNvSpPr txBox="1">
            <a:spLocks noGrp="1"/>
          </p:cNvSpPr>
          <p:nvPr/>
        </p:nvSpPr>
        <p:spPr>
          <a:xfrm>
            <a:off x="777240" y="142646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47" name="c"/>
          <p:cNvSpPr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8" name="ct2"/>
          <p:cNvSpPr txBox="1"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9" name="c"/>
          <p:cNvSpPr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0" name="ct2"/>
          <p:cNvSpPr txBox="1"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" name="c"/>
          <p:cNvSpPr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7" name="ct2"/>
          <p:cNvSpPr txBox="1"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2" name="c"/>
          <p:cNvSpPr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8" name="ct2"/>
          <p:cNvSpPr txBox="1"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3" name="c"/>
          <p:cNvSpPr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9" name="ct2"/>
          <p:cNvSpPr txBox="1"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" name="c"/>
          <p:cNvSpPr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0" name="ct2"/>
          <p:cNvSpPr txBox="1"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" name="c"/>
          <p:cNvSpPr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1" name="ct2"/>
          <p:cNvSpPr txBox="1"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6" name="c"/>
          <p:cNvSpPr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2" name="ct2"/>
          <p:cNvSpPr txBox="1"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7" name="c"/>
          <p:cNvSpPr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3" name="ct2"/>
          <p:cNvSpPr txBox="1"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8" name="c"/>
          <p:cNvSpPr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4" name="ct2"/>
          <p:cNvSpPr txBox="1"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9" name="c"/>
          <p:cNvSpPr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5" name="ct2"/>
          <p:cNvSpPr txBox="1"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0" name="c"/>
          <p:cNvSpPr>
            <a:spLocks noGrp="1"/>
          </p:cNvSpPr>
          <p:nvPr/>
        </p:nvSpPr>
        <p:spPr>
          <a:xfrm>
            <a:off x="74066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6" name="ct2"/>
          <p:cNvSpPr txBox="1">
            <a:spLocks noGrp="1"/>
          </p:cNvSpPr>
          <p:nvPr/>
        </p:nvSpPr>
        <p:spPr>
          <a:xfrm>
            <a:off x="74066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61" name="db"/>
          <p:cNvSpPr>
            <a:spLocks noGrp="1"/>
          </p:cNvSpPr>
          <p:nvPr/>
        </p:nvSpPr>
        <p:spPr>
          <a:xfrm>
            <a:off x="722376" y="1645920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62" name="dt"/>
          <p:cNvSpPr txBox="1">
            <a:spLocks noGrp="1"/>
          </p:cNvSpPr>
          <p:nvPr/>
        </p:nvSpPr>
        <p:spPr>
          <a:xfrm>
            <a:off x="777240" y="164592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Catalogo de servicios desactualizado</a:t>
            </a:r>
          </a:p>
        </p:txBody>
      </p:sp>
      <p:sp>
        <p:nvSpPr>
          <p:cNvPr id="63" name="c"/>
          <p:cNvSpPr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48" name="ct2"/>
          <p:cNvSpPr txBox="1"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49" name="c"/>
          <p:cNvSpPr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50" name="ct2"/>
          <p:cNvSpPr txBox="1"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1" name="c"/>
          <p:cNvSpPr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7" name="ct2"/>
          <p:cNvSpPr txBox="1"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2" name="c"/>
          <p:cNvSpPr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8" name="ct2"/>
          <p:cNvSpPr txBox="1"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3" name="c"/>
          <p:cNvSpPr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9" name="ct2"/>
          <p:cNvSpPr txBox="1"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4" name="c"/>
          <p:cNvSpPr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0" name="ct2"/>
          <p:cNvSpPr txBox="1"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5" name="c"/>
          <p:cNvSpPr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1" name="ct2"/>
          <p:cNvSpPr txBox="1"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6" name="c"/>
          <p:cNvSpPr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2" name="ct2"/>
          <p:cNvSpPr txBox="1"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7" name="c"/>
          <p:cNvSpPr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3" name="ct2"/>
          <p:cNvSpPr txBox="1"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8" name="c"/>
          <p:cNvSpPr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4" name="ct2"/>
          <p:cNvSpPr txBox="1"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9" name="c"/>
          <p:cNvSpPr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5" name="ct2"/>
          <p:cNvSpPr txBox="1"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0" name="c"/>
          <p:cNvSpPr>
            <a:spLocks noGrp="1"/>
          </p:cNvSpPr>
          <p:nvPr/>
        </p:nvSpPr>
        <p:spPr>
          <a:xfrm>
            <a:off x="7406640" y="1645920"/>
            <a:ext cx="411480" cy="219456"/>
          </a:xfrm>
          <a:prstGeom prst="rect">
            <a:avLst/>
          </a:prstGeom>
          <a:solidFill>
            <a:srgbClr val="F0F4FA"/>
          </a:solidFill>
          <a:ln w="6350">
            <a:solidFill>
              <a:srgbClr val="C8D6E8"/>
            </a:solidFill>
          </a:ln>
        </p:spPr>
      </p:sp>
      <p:sp>
        <p:nvSpPr>
          <p:cNvPr id="136" name="ct2"/>
          <p:cNvSpPr txBox="1">
            <a:spLocks noGrp="1"/>
          </p:cNvSpPr>
          <p:nvPr/>
        </p:nvSpPr>
        <p:spPr>
          <a:xfrm>
            <a:off x="74066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5A6475"/>
                </a:solidFill>
                <a:latin typeface="Calibri"/>
              </a:rPr>
              <a:t>○</a:t>
            </a:r>
          </a:p>
        </p:txBody>
      </p:sp>
      <p:sp>
        <p:nvSpPr>
          <p:cNvPr id="461" name="cb"/>
          <p:cNvSpPr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2" name="ct"/>
          <p:cNvSpPr txBox="1"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1A3A8F"/>
                </a:solidFill>
                <a:latin typeface="Calibri"/>
              </a:rPr>
              <a:t>OPS</a:t>
            </a:r>
          </a:p>
        </p:txBody>
      </p:sp>
      <p:sp>
        <p:nvSpPr>
          <p:cNvPr id="463" name="db"/>
          <p:cNvSpPr>
            <a:spLocks noGrp="1"/>
          </p:cNvSpPr>
          <p:nvPr/>
        </p:nvSpPr>
        <p:spPr>
          <a:xfrm>
            <a:off x="722376" y="1865376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4" name="dt"/>
          <p:cNvSpPr txBox="1">
            <a:spLocks noGrp="1"/>
          </p:cNvSpPr>
          <p:nvPr/>
        </p:nvSpPr>
        <p:spPr>
          <a:xfrm>
            <a:off x="777240" y="186537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465" name="c"/>
          <p:cNvSpPr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66" name="ct2"/>
          <p:cNvSpPr txBox="1"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67" name="c"/>
          <p:cNvSpPr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68" name="ct2"/>
          <p:cNvSpPr txBox="1"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9" name="c"/>
          <p:cNvSpPr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7" name="ct2"/>
          <p:cNvSpPr txBox="1"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70" name="c"/>
          <p:cNvSpPr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8" name="ct2"/>
          <p:cNvSpPr txBox="1"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1" name="c"/>
          <p:cNvSpPr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9" name="ct2"/>
          <p:cNvSpPr txBox="1"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2" name="c"/>
          <p:cNvSpPr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0" name="ct2"/>
          <p:cNvSpPr txBox="1"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3" name="c"/>
          <p:cNvSpPr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1" name="ct2"/>
          <p:cNvSpPr txBox="1"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4" name="c"/>
          <p:cNvSpPr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2" name="ct2"/>
          <p:cNvSpPr txBox="1"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5" name="c"/>
          <p:cNvSpPr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3" name="ct2"/>
          <p:cNvSpPr txBox="1"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6" name="c"/>
          <p:cNvSpPr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4" name="ct2"/>
          <p:cNvSpPr txBox="1"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7" name="c"/>
          <p:cNvSpPr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5" name="ct2"/>
          <p:cNvSpPr txBox="1"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8" name="c"/>
          <p:cNvSpPr>
            <a:spLocks noGrp="1"/>
          </p:cNvSpPr>
          <p:nvPr/>
        </p:nvSpPr>
        <p:spPr>
          <a:xfrm>
            <a:off x="74066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46" name="ct2"/>
          <p:cNvSpPr txBox="1">
            <a:spLocks noGrp="1"/>
          </p:cNvSpPr>
          <p:nvPr/>
        </p:nvSpPr>
        <p:spPr>
          <a:xfrm>
            <a:off x="74066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79" name="db"/>
          <p:cNvSpPr>
            <a:spLocks noGrp="1"/>
          </p:cNvSpPr>
          <p:nvPr/>
        </p:nvSpPr>
        <p:spPr>
          <a:xfrm>
            <a:off x="722376" y="2084832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80" name="dt"/>
          <p:cNvSpPr txBox="1">
            <a:spLocks noGrp="1"/>
          </p:cNvSpPr>
          <p:nvPr/>
        </p:nvSpPr>
        <p:spPr>
          <a:xfrm>
            <a:off x="777240" y="208483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autoservicio — todo por call</a:t>
            </a:r>
          </a:p>
        </p:txBody>
      </p:sp>
      <p:sp>
        <p:nvSpPr>
          <p:cNvPr id="481" name="c"/>
          <p:cNvSpPr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2" name="ct2"/>
          <p:cNvSpPr txBox="1"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3" name="c"/>
          <p:cNvSpPr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4" name="ct2"/>
          <p:cNvSpPr txBox="1"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5" name="c"/>
          <p:cNvSpPr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7" name="ct2"/>
          <p:cNvSpPr txBox="1"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6" name="c"/>
          <p:cNvSpPr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8" name="ct2"/>
          <p:cNvSpPr txBox="1"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7" name="c"/>
          <p:cNvSpPr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9" name="ct2"/>
          <p:cNvSpPr txBox="1"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8" name="c"/>
          <p:cNvSpPr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0" name="ct2"/>
          <p:cNvSpPr txBox="1"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9" name="c"/>
          <p:cNvSpPr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1" name="ct2"/>
          <p:cNvSpPr txBox="1"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0" name="c"/>
          <p:cNvSpPr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2" name="ct2"/>
          <p:cNvSpPr txBox="1"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1" name="c"/>
          <p:cNvSpPr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3" name="ct2"/>
          <p:cNvSpPr txBox="1"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2" name="c"/>
          <p:cNvSpPr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4" name="ct2"/>
          <p:cNvSpPr txBox="1"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3" name="c"/>
          <p:cNvSpPr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5" name="ct2"/>
          <p:cNvSpPr txBox="1"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4" name="c"/>
          <p:cNvSpPr>
            <a:spLocks noGrp="1"/>
          </p:cNvSpPr>
          <p:nvPr/>
        </p:nvSpPr>
        <p:spPr>
          <a:xfrm>
            <a:off x="74066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6" name="ct2"/>
          <p:cNvSpPr txBox="1">
            <a:spLocks noGrp="1"/>
          </p:cNvSpPr>
          <p:nvPr/>
        </p:nvSpPr>
        <p:spPr>
          <a:xfrm>
            <a:off x="74066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5" name="db"/>
          <p:cNvSpPr>
            <a:spLocks noGrp="1"/>
          </p:cNvSpPr>
          <p:nvPr/>
        </p:nvSpPr>
        <p:spPr>
          <a:xfrm>
            <a:off x="722376" y="2304288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96" name="dt"/>
          <p:cNvSpPr txBox="1">
            <a:spLocks noGrp="1"/>
          </p:cNvSpPr>
          <p:nvPr/>
        </p:nvSpPr>
        <p:spPr>
          <a:xfrm>
            <a:off x="777240" y="230428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497" name="c"/>
          <p:cNvSpPr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98" name="ct2"/>
          <p:cNvSpPr txBox="1"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9" name="c"/>
          <p:cNvSpPr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01" name="ct2"/>
          <p:cNvSpPr txBox="1"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2" name="c"/>
          <p:cNvSpPr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7" name="ct2"/>
          <p:cNvSpPr txBox="1"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3" name="c"/>
          <p:cNvSpPr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8" name="ct2"/>
          <p:cNvSpPr txBox="1"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4" name="c"/>
          <p:cNvSpPr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59" name="ct2"/>
          <p:cNvSpPr txBox="1"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5" name="c"/>
          <p:cNvSpPr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0" name="ct2"/>
          <p:cNvSpPr txBox="1"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6" name="c"/>
          <p:cNvSpPr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1" name="ct2"/>
          <p:cNvSpPr txBox="1"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7" name="c"/>
          <p:cNvSpPr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2" name="ct2"/>
          <p:cNvSpPr txBox="1"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8" name="c"/>
          <p:cNvSpPr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3" name="ct2"/>
          <p:cNvSpPr txBox="1"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9" name="c"/>
          <p:cNvSpPr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4" name="ct2"/>
          <p:cNvSpPr txBox="1"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0" name="c"/>
          <p:cNvSpPr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5" name="ct2"/>
          <p:cNvSpPr txBox="1"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1" name="c"/>
          <p:cNvSpPr>
            <a:spLocks noGrp="1"/>
          </p:cNvSpPr>
          <p:nvPr/>
        </p:nvSpPr>
        <p:spPr>
          <a:xfrm>
            <a:off x="74066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6" name="ct2"/>
          <p:cNvSpPr txBox="1">
            <a:spLocks noGrp="1"/>
          </p:cNvSpPr>
          <p:nvPr/>
        </p:nvSpPr>
        <p:spPr>
          <a:xfrm>
            <a:off x="74066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64" name="db"/>
          <p:cNvSpPr>
            <a:spLocks noGrp="1"/>
          </p:cNvSpPr>
          <p:nvPr/>
        </p:nvSpPr>
        <p:spPr>
          <a:xfrm>
            <a:off x="722376" y="2523744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65" name="dt"/>
          <p:cNvSpPr txBox="1">
            <a:spLocks noGrp="1"/>
          </p:cNvSpPr>
          <p:nvPr/>
        </p:nvSpPr>
        <p:spPr>
          <a:xfrm>
            <a:off x="777240" y="25237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66" name="c"/>
          <p:cNvSpPr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7" name="ct2"/>
          <p:cNvSpPr txBox="1"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8" name="c"/>
          <p:cNvSpPr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9" name="ct2"/>
          <p:cNvSpPr txBox="1"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0" name="c"/>
          <p:cNvSpPr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7" name="ct2"/>
          <p:cNvSpPr txBox="1"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1" name="c"/>
          <p:cNvSpPr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8" name="ct2"/>
          <p:cNvSpPr txBox="1"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2" name="c"/>
          <p:cNvSpPr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9" name="ct2"/>
          <p:cNvSpPr txBox="1"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3" name="c"/>
          <p:cNvSpPr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0" name="ct2"/>
          <p:cNvSpPr txBox="1"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4" name="c"/>
          <p:cNvSpPr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1" name="ct2"/>
          <p:cNvSpPr txBox="1"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5" name="c"/>
          <p:cNvSpPr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2" name="ct2"/>
          <p:cNvSpPr txBox="1"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6" name="c"/>
          <p:cNvSpPr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3" name="ct2"/>
          <p:cNvSpPr txBox="1"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7" name="c"/>
          <p:cNvSpPr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4" name="ct2"/>
          <p:cNvSpPr txBox="1"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8" name="c"/>
          <p:cNvSpPr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5" name="ct2"/>
          <p:cNvSpPr txBox="1"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9" name="c"/>
          <p:cNvSpPr>
            <a:spLocks noGrp="1"/>
          </p:cNvSpPr>
          <p:nvPr/>
        </p:nvSpPr>
        <p:spPr>
          <a:xfrm>
            <a:off x="74066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6" name="ct2"/>
          <p:cNvSpPr txBox="1">
            <a:spLocks noGrp="1"/>
          </p:cNvSpPr>
          <p:nvPr/>
        </p:nvSpPr>
        <p:spPr>
          <a:xfrm>
            <a:off x="74066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80" name="cb"/>
          <p:cNvSpPr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1" name="ct"/>
          <p:cNvSpPr txBox="1"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1B7B85"/>
                </a:solidFill>
                <a:latin typeface="Calibri"/>
              </a:rPr>
              <a:t>MET</a:t>
            </a:r>
          </a:p>
        </p:txBody>
      </p:sp>
      <p:sp>
        <p:nvSpPr>
          <p:cNvPr id="82" name="db"/>
          <p:cNvSpPr>
            <a:spLocks noGrp="1"/>
          </p:cNvSpPr>
          <p:nvPr/>
        </p:nvSpPr>
        <p:spPr>
          <a:xfrm>
            <a:off x="722376" y="2743200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3" name="dt"/>
          <p:cNvSpPr txBox="1">
            <a:spLocks noGrp="1"/>
          </p:cNvSpPr>
          <p:nvPr/>
        </p:nvSpPr>
        <p:spPr>
          <a:xfrm>
            <a:off x="777240" y="274320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84" name="c"/>
          <p:cNvSpPr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5" name="ct2"/>
          <p:cNvSpPr txBox="1"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6" name="c"/>
          <p:cNvSpPr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7" name="ct2"/>
          <p:cNvSpPr txBox="1"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8" name="c"/>
          <p:cNvSpPr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7" name="ct2"/>
          <p:cNvSpPr txBox="1"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9" name="c"/>
          <p:cNvSpPr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8" name="ct2"/>
          <p:cNvSpPr txBox="1"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0" name="c"/>
          <p:cNvSpPr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9" name="ct2"/>
          <p:cNvSpPr txBox="1"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1" name="c"/>
          <p:cNvSpPr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0" name="ct2"/>
          <p:cNvSpPr txBox="1"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2" name="c"/>
          <p:cNvSpPr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1" name="ct2"/>
          <p:cNvSpPr txBox="1"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3" name="c"/>
          <p:cNvSpPr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2" name="ct2"/>
          <p:cNvSpPr txBox="1"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4" name="c"/>
          <p:cNvSpPr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3" name="ct2"/>
          <p:cNvSpPr txBox="1"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5" name="c"/>
          <p:cNvSpPr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4" name="ct2"/>
          <p:cNvSpPr txBox="1"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6" name="c"/>
          <p:cNvSpPr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5" name="ct2"/>
          <p:cNvSpPr txBox="1"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7" name="c"/>
          <p:cNvSpPr>
            <a:spLocks noGrp="1"/>
          </p:cNvSpPr>
          <p:nvPr/>
        </p:nvSpPr>
        <p:spPr>
          <a:xfrm>
            <a:off x="7406640" y="2743200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86" name="ct2"/>
          <p:cNvSpPr txBox="1">
            <a:spLocks noGrp="1"/>
          </p:cNvSpPr>
          <p:nvPr/>
        </p:nvSpPr>
        <p:spPr>
          <a:xfrm>
            <a:off x="74066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98" name="db"/>
          <p:cNvSpPr>
            <a:spLocks noGrp="1"/>
          </p:cNvSpPr>
          <p:nvPr/>
        </p:nvSpPr>
        <p:spPr>
          <a:xfrm>
            <a:off x="722376" y="2962656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99" name="dt"/>
          <p:cNvSpPr txBox="1">
            <a:spLocks noGrp="1"/>
          </p:cNvSpPr>
          <p:nvPr/>
        </p:nvSpPr>
        <p:spPr>
          <a:xfrm>
            <a:off x="777240" y="296265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dashboard ejecutivo</a:t>
            </a:r>
          </a:p>
        </p:txBody>
      </p:sp>
      <p:sp>
        <p:nvSpPr>
          <p:cNvPr id="257" name="c"/>
          <p:cNvSpPr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58" name="ct2"/>
          <p:cNvSpPr txBox="1"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59" name="c"/>
          <p:cNvSpPr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60" name="ct2"/>
          <p:cNvSpPr txBox="1"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1" name="c"/>
          <p:cNvSpPr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7" name="ct2"/>
          <p:cNvSpPr txBox="1"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2" name="c"/>
          <p:cNvSpPr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88" name="ct2"/>
          <p:cNvSpPr txBox="1"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3" name="c"/>
          <p:cNvSpPr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9" name="ct2"/>
          <p:cNvSpPr txBox="1"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4" name="c"/>
          <p:cNvSpPr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0" name="ct2"/>
          <p:cNvSpPr txBox="1"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5" name="c"/>
          <p:cNvSpPr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1" name="ct2"/>
          <p:cNvSpPr txBox="1"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6" name="c"/>
          <p:cNvSpPr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2" name="ct2"/>
          <p:cNvSpPr txBox="1"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7" name="c"/>
          <p:cNvSpPr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3" name="ct2"/>
          <p:cNvSpPr txBox="1"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8" name="c"/>
          <p:cNvSpPr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4" name="ct2"/>
          <p:cNvSpPr txBox="1"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9" name="c"/>
          <p:cNvSpPr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5" name="ct2"/>
          <p:cNvSpPr txBox="1"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0" name="c"/>
          <p:cNvSpPr>
            <a:spLocks noGrp="1"/>
          </p:cNvSpPr>
          <p:nvPr/>
        </p:nvSpPr>
        <p:spPr>
          <a:xfrm>
            <a:off x="740664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96" name="ct2"/>
          <p:cNvSpPr txBox="1">
            <a:spLocks noGrp="1"/>
          </p:cNvSpPr>
          <p:nvPr/>
        </p:nvSpPr>
        <p:spPr>
          <a:xfrm>
            <a:off x="74066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71" name="cb"/>
          <p:cNvSpPr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2" name="ct"/>
          <p:cNvSpPr txBox="1"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73" name="db"/>
          <p:cNvSpPr>
            <a:spLocks noGrp="1"/>
          </p:cNvSpPr>
          <p:nvPr/>
        </p:nvSpPr>
        <p:spPr>
          <a:xfrm>
            <a:off x="722376" y="3182112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4" name="dt"/>
          <p:cNvSpPr txBox="1">
            <a:spLocks noGrp="1"/>
          </p:cNvSpPr>
          <p:nvPr/>
        </p:nvSpPr>
        <p:spPr>
          <a:xfrm>
            <a:off x="777240" y="318211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75" name="c"/>
          <p:cNvSpPr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6" name="ct2"/>
          <p:cNvSpPr txBox="1"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7" name="c"/>
          <p:cNvSpPr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8" name="ct2"/>
          <p:cNvSpPr txBox="1"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9" name="c"/>
          <p:cNvSpPr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7" name="ct2"/>
          <p:cNvSpPr txBox="1"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0" name="c"/>
          <p:cNvSpPr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8" name="ct2"/>
          <p:cNvSpPr txBox="1"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1" name="c"/>
          <p:cNvSpPr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9" name="ct2"/>
          <p:cNvSpPr txBox="1"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2" name="c"/>
          <p:cNvSpPr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0" name="ct2"/>
          <p:cNvSpPr txBox="1"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3" name="c"/>
          <p:cNvSpPr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1" name="ct2"/>
          <p:cNvSpPr txBox="1"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4" name="c"/>
          <p:cNvSpPr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2" name="ct2"/>
          <p:cNvSpPr txBox="1"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5" name="c"/>
          <p:cNvSpPr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3" name="ct2"/>
          <p:cNvSpPr txBox="1"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6" name="c"/>
          <p:cNvSpPr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4" name="ct2"/>
          <p:cNvSpPr txBox="1"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7" name="c"/>
          <p:cNvSpPr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5" name="ct2"/>
          <p:cNvSpPr txBox="1"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8" name="c"/>
          <p:cNvSpPr>
            <a:spLocks noGrp="1"/>
          </p:cNvSpPr>
          <p:nvPr/>
        </p:nvSpPr>
        <p:spPr>
          <a:xfrm>
            <a:off x="74066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6" name="ct2"/>
          <p:cNvSpPr txBox="1">
            <a:spLocks noGrp="1"/>
          </p:cNvSpPr>
          <p:nvPr/>
        </p:nvSpPr>
        <p:spPr>
          <a:xfrm>
            <a:off x="74066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9" name="db"/>
          <p:cNvSpPr>
            <a:spLocks noGrp="1"/>
          </p:cNvSpPr>
          <p:nvPr/>
        </p:nvSpPr>
        <p:spPr>
          <a:xfrm>
            <a:off x="722376" y="3401568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90" name="dt"/>
          <p:cNvSpPr txBox="1">
            <a:spLocks noGrp="1"/>
          </p:cNvSpPr>
          <p:nvPr/>
        </p:nvSpPr>
        <p:spPr>
          <a:xfrm>
            <a:off x="777240" y="340156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91" name="c"/>
          <p:cNvSpPr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2" name="ct2"/>
          <p:cNvSpPr txBox="1"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3" name="c"/>
          <p:cNvSpPr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4" name="ct2"/>
          <p:cNvSpPr txBox="1"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5" name="c"/>
          <p:cNvSpPr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7" name="ct2"/>
          <p:cNvSpPr txBox="1"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6" name="c"/>
          <p:cNvSpPr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8" name="ct2"/>
          <p:cNvSpPr txBox="1"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7" name="c"/>
          <p:cNvSpPr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9" name="ct2"/>
          <p:cNvSpPr txBox="1"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8" name="c"/>
          <p:cNvSpPr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0" name="ct2"/>
          <p:cNvSpPr txBox="1"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9" name="c"/>
          <p:cNvSpPr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1" name="ct2"/>
          <p:cNvSpPr txBox="1"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0" name="c"/>
          <p:cNvSpPr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2" name="ct2"/>
          <p:cNvSpPr txBox="1"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1" name="c"/>
          <p:cNvSpPr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3" name="ct2"/>
          <p:cNvSpPr txBox="1"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2" name="c"/>
          <p:cNvSpPr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4" name="ct2"/>
          <p:cNvSpPr txBox="1"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3" name="c"/>
          <p:cNvSpPr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5" name="ct2"/>
          <p:cNvSpPr txBox="1"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4" name="c"/>
          <p:cNvSpPr>
            <a:spLocks noGrp="1"/>
          </p:cNvSpPr>
          <p:nvPr/>
        </p:nvSpPr>
        <p:spPr>
          <a:xfrm>
            <a:off x="7406640" y="340156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16" name="ct2"/>
          <p:cNvSpPr txBox="1">
            <a:spLocks noGrp="1"/>
          </p:cNvSpPr>
          <p:nvPr/>
        </p:nvSpPr>
        <p:spPr>
          <a:xfrm>
            <a:off x="74066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05" name="db"/>
          <p:cNvSpPr>
            <a:spLocks noGrp="1"/>
          </p:cNvSpPr>
          <p:nvPr/>
        </p:nvSpPr>
        <p:spPr>
          <a:xfrm>
            <a:off x="722376" y="3621024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306" name="dt"/>
          <p:cNvSpPr txBox="1">
            <a:spLocks noGrp="1"/>
          </p:cNvSpPr>
          <p:nvPr/>
        </p:nvSpPr>
        <p:spPr>
          <a:xfrm>
            <a:off x="777240" y="362102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307" name="c"/>
          <p:cNvSpPr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08" name="ct2"/>
          <p:cNvSpPr txBox="1"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09" name="c"/>
          <p:cNvSpPr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10" name="ct2"/>
          <p:cNvSpPr txBox="1"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1" name="c"/>
          <p:cNvSpPr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7" name="ct2"/>
          <p:cNvSpPr txBox="1"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2" name="c"/>
          <p:cNvSpPr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18" name="ct2"/>
          <p:cNvSpPr txBox="1"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313" name="c"/>
          <p:cNvSpPr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9" name="ct2"/>
          <p:cNvSpPr txBox="1"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4" name="c"/>
          <p:cNvSpPr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0" name="ct2"/>
          <p:cNvSpPr txBox="1"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5" name="c"/>
          <p:cNvSpPr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1" name="ct2"/>
          <p:cNvSpPr txBox="1"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6" name="c"/>
          <p:cNvSpPr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2" name="ct2"/>
          <p:cNvSpPr txBox="1"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7" name="c"/>
          <p:cNvSpPr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3" name="ct2"/>
          <p:cNvSpPr txBox="1"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8" name="c"/>
          <p:cNvSpPr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4" name="ct2"/>
          <p:cNvSpPr txBox="1"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9" name="c"/>
          <p:cNvSpPr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5" name="ct2"/>
          <p:cNvSpPr txBox="1"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2" name="c"/>
          <p:cNvSpPr>
            <a:spLocks noGrp="1"/>
          </p:cNvSpPr>
          <p:nvPr/>
        </p:nvSpPr>
        <p:spPr>
          <a:xfrm>
            <a:off x="74066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6" name="ct2"/>
          <p:cNvSpPr txBox="1">
            <a:spLocks noGrp="1"/>
          </p:cNvSpPr>
          <p:nvPr/>
        </p:nvSpPr>
        <p:spPr>
          <a:xfrm>
            <a:off x="74066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3" name="cb"/>
          <p:cNvSpPr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4" name="ct"/>
          <p:cNvSpPr txBox="1"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6B2D5E"/>
                </a:solidFill>
                <a:latin typeface="Calibri"/>
              </a:rPr>
              <a:t>COM</a:t>
            </a:r>
          </a:p>
        </p:txBody>
      </p:sp>
      <p:sp>
        <p:nvSpPr>
          <p:cNvPr id="515" name="db"/>
          <p:cNvSpPr>
            <a:spLocks noGrp="1"/>
          </p:cNvSpPr>
          <p:nvPr/>
        </p:nvSpPr>
        <p:spPr>
          <a:xfrm>
            <a:off x="722376" y="3840480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6" name="dt"/>
          <p:cNvSpPr txBox="1">
            <a:spLocks noGrp="1"/>
          </p:cNvSpPr>
          <p:nvPr/>
        </p:nvSpPr>
        <p:spPr>
          <a:xfrm>
            <a:off x="777240" y="384048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517" name="c"/>
          <p:cNvSpPr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18" name="ct2"/>
          <p:cNvSpPr txBox="1"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19" name="c"/>
          <p:cNvSpPr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20" name="ct2"/>
          <p:cNvSpPr txBox="1"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1" name="c"/>
          <p:cNvSpPr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7" name="ct2"/>
          <p:cNvSpPr txBox="1"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2" name="c"/>
          <p:cNvSpPr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8" name="ct2"/>
          <p:cNvSpPr txBox="1"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3" name="c"/>
          <p:cNvSpPr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9" name="ct2"/>
          <p:cNvSpPr txBox="1"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4" name="c"/>
          <p:cNvSpPr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0" name="ct2"/>
          <p:cNvSpPr txBox="1"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5" name="c"/>
          <p:cNvSpPr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1" name="ct2"/>
          <p:cNvSpPr txBox="1"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6" name="c"/>
          <p:cNvSpPr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2" name="ct2"/>
          <p:cNvSpPr txBox="1"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7" name="c"/>
          <p:cNvSpPr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3" name="ct2"/>
          <p:cNvSpPr txBox="1"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8" name="c"/>
          <p:cNvSpPr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4" name="ct2"/>
          <p:cNvSpPr txBox="1"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9" name="c"/>
          <p:cNvSpPr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5" name="ct2"/>
          <p:cNvSpPr txBox="1"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30" name="c"/>
          <p:cNvSpPr>
            <a:spLocks noGrp="1"/>
          </p:cNvSpPr>
          <p:nvPr/>
        </p:nvSpPr>
        <p:spPr>
          <a:xfrm>
            <a:off x="74066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6" name="ct2"/>
          <p:cNvSpPr txBox="1">
            <a:spLocks noGrp="1"/>
          </p:cNvSpPr>
          <p:nvPr/>
        </p:nvSpPr>
        <p:spPr>
          <a:xfrm>
            <a:off x="74066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31" name="db"/>
          <p:cNvSpPr>
            <a:spLocks noGrp="1"/>
          </p:cNvSpPr>
          <p:nvPr/>
        </p:nvSpPr>
        <p:spPr>
          <a:xfrm>
            <a:off x="722376" y="4059936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32" name="dt"/>
          <p:cNvSpPr txBox="1">
            <a:spLocks noGrp="1"/>
          </p:cNvSpPr>
          <p:nvPr/>
        </p:nvSpPr>
        <p:spPr>
          <a:xfrm>
            <a:off x="777240" y="405993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KEDB — gestion informal</a:t>
            </a:r>
          </a:p>
        </p:txBody>
      </p:sp>
      <p:sp>
        <p:nvSpPr>
          <p:cNvPr id="533" name="c"/>
          <p:cNvSpPr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4" name="ct2"/>
          <p:cNvSpPr txBox="1"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5" name="c"/>
          <p:cNvSpPr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6" name="ct2"/>
          <p:cNvSpPr txBox="1"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7" name="c"/>
          <p:cNvSpPr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7" name="ct2"/>
          <p:cNvSpPr txBox="1"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8" name="c"/>
          <p:cNvSpPr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8" name="ct2"/>
          <p:cNvSpPr txBox="1"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9" name="c"/>
          <p:cNvSpPr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9" name="ct2"/>
          <p:cNvSpPr txBox="1"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0" name="c"/>
          <p:cNvSpPr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0" name="ct2"/>
          <p:cNvSpPr txBox="1"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1" name="c"/>
          <p:cNvSpPr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1" name="ct2"/>
          <p:cNvSpPr txBox="1"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2" name="c"/>
          <p:cNvSpPr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2" name="ct2"/>
          <p:cNvSpPr txBox="1"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3" name="c"/>
          <p:cNvSpPr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3" name="ct2"/>
          <p:cNvSpPr txBox="1"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4" name="c"/>
          <p:cNvSpPr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4" name="ct2"/>
          <p:cNvSpPr txBox="1"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5" name="c"/>
          <p:cNvSpPr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5" name="ct2"/>
          <p:cNvSpPr txBox="1"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6" name="c"/>
          <p:cNvSpPr>
            <a:spLocks noGrp="1"/>
          </p:cNvSpPr>
          <p:nvPr/>
        </p:nvSpPr>
        <p:spPr>
          <a:xfrm>
            <a:off x="74066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6" name="ct2"/>
          <p:cNvSpPr txBox="1">
            <a:spLocks noGrp="1"/>
          </p:cNvSpPr>
          <p:nvPr/>
        </p:nvSpPr>
        <p:spPr>
          <a:xfrm>
            <a:off x="74066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7" name="db"/>
          <p:cNvSpPr>
            <a:spLocks noGrp="1"/>
          </p:cNvSpPr>
          <p:nvPr/>
        </p:nvSpPr>
        <p:spPr>
          <a:xfrm>
            <a:off x="722376" y="4279392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48" name="dt"/>
          <p:cNvSpPr txBox="1">
            <a:spLocks noGrp="1"/>
          </p:cNvSpPr>
          <p:nvPr/>
        </p:nvSpPr>
        <p:spPr>
          <a:xfrm>
            <a:off x="777240" y="427939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549" name="c"/>
          <p:cNvSpPr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0" name="ct2"/>
          <p:cNvSpPr txBox="1"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1" name="c"/>
          <p:cNvSpPr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2" name="ct2"/>
          <p:cNvSpPr txBox="1"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3" name="c"/>
          <p:cNvSpPr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7" name="ct2"/>
          <p:cNvSpPr txBox="1"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4" name="c"/>
          <p:cNvSpPr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8" name="ct2"/>
          <p:cNvSpPr txBox="1"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5" name="c"/>
          <p:cNvSpPr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9" name="ct2"/>
          <p:cNvSpPr txBox="1"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6" name="c"/>
          <p:cNvSpPr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50" name="ct2"/>
          <p:cNvSpPr txBox="1"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7" name="c"/>
          <p:cNvSpPr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1" name="ct2"/>
          <p:cNvSpPr txBox="1"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8" name="c"/>
          <p:cNvSpPr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2" name="ct2"/>
          <p:cNvSpPr txBox="1"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9" name="c"/>
          <p:cNvSpPr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3" name="ct2"/>
          <p:cNvSpPr txBox="1"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0" name="c"/>
          <p:cNvSpPr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4" name="ct2"/>
          <p:cNvSpPr txBox="1"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1" name="c"/>
          <p:cNvSpPr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5" name="ct2"/>
          <p:cNvSpPr txBox="1"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2" name="c"/>
          <p:cNvSpPr>
            <a:spLocks noGrp="1"/>
          </p:cNvSpPr>
          <p:nvPr/>
        </p:nvSpPr>
        <p:spPr>
          <a:xfrm>
            <a:off x="74066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6" name="ct2"/>
          <p:cNvSpPr txBox="1">
            <a:spLocks noGrp="1"/>
          </p:cNvSpPr>
          <p:nvPr/>
        </p:nvSpPr>
        <p:spPr>
          <a:xfrm>
            <a:off x="74066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5A6475"/>
                </a:solidFill>
                <a:latin typeface="Calibri"/>
              </a:rPr>
              <a:t>Fuente: Levantamiento interno PersonalSoft · Julio 2026 · Excel Levantamiento_Mesas_Julio_2026 · Transcripts reuniones Julio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47472" y="100584"/>
            <a:ext cx="7717536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Capacidad Instalada y Costo por Ticket vs Industria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47472" y="585216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60" dirty="0">
                <a:solidFill>
                  <a:srgbClr val="F8F0F6"/>
                </a:solidFill>
                <a:latin typeface="Calibri"/>
              </a:rPr>
              <a:t>Formula: FTE × 160h/mes × $88.000 COP ÷ tickets/mes = Costo/ticket  ·  TRM $4.200 COP/USD  ·  Referencia industria N1-N2: USD $35/ticket</a:t>
            </a:r>
          </a:p>
        </p:txBody>
      </p:sp>
      <p:sp>
        <p:nvSpPr>
          <p:cNvPr id="10" name="kb"/>
          <p:cNvSpPr>
            <a:spLocks noGrp="1"/>
          </p:cNvSpPr>
          <p:nvPr/>
        </p:nvSpPr>
        <p:spPr>
          <a:xfrm>
            <a:off x="320040" y="804672"/>
            <a:ext cx="2377440" cy="786384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</p:sp>
      <p:sp>
        <p:nvSpPr>
          <p:cNvPr id="11" name="kt"/>
          <p:cNvSpPr>
            <a:spLocks noGrp="1"/>
          </p:cNvSpPr>
          <p:nvPr/>
        </p:nvSpPr>
        <p:spPr>
          <a:xfrm>
            <a:off x="320040" y="804672"/>
            <a:ext cx="2377440" cy="54864"/>
          </a:xfrm>
          <a:prstGeom prst="roundRect">
            <a:avLst>
              <a:gd name="adj" fmla="val 14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12" name="kn"/>
          <p:cNvSpPr txBox="1">
            <a:spLocks noGrp="1"/>
          </p:cNvSpPr>
          <p:nvPr/>
        </p:nvSpPr>
        <p:spPr>
          <a:xfrm>
            <a:off x="320040" y="89611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2600" b="1" dirty="0">
                <a:solidFill>
                  <a:srgbClr val="B91C1C"/>
                </a:solidFill>
                <a:latin typeface="Calibri"/>
              </a:rPr>
              <a:t>USD 35</a:t>
            </a:r>
          </a:p>
        </p:txBody>
      </p:sp>
      <p:sp>
        <p:nvSpPr>
          <p:cNvPr id="13" name="kl"/>
          <p:cNvSpPr txBox="1">
            <a:spLocks noGrp="1"/>
          </p:cNvSpPr>
          <p:nvPr/>
        </p:nvSpPr>
        <p:spPr>
          <a:xfrm>
            <a:off x="393192" y="1335024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dirty="0">
                <a:solidFill>
                  <a:srgbClr val="B91C1C"/>
                </a:solidFill>
                <a:latin typeface="Calibri"/>
              </a:rPr>
              <a:t>Industria N1-N2
Gartner/MetricNet</a:t>
            </a:r>
          </a:p>
        </p:txBody>
      </p:sp>
      <p:sp>
        <p:nvSpPr>
          <p:cNvPr id="15" name="arr"/>
          <p:cNvSpPr txBox="1">
            <a:spLocks noGrp="1"/>
          </p:cNvSpPr>
          <p:nvPr/>
        </p:nvSpPr>
        <p:spPr>
          <a:xfrm>
            <a:off x="2834640" y="107899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800" b="1" dirty="0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6" name="kb"/>
          <p:cNvSpPr>
            <a:spLocks noGrp="1"/>
          </p:cNvSpPr>
          <p:nvPr/>
        </p:nvSpPr>
        <p:spPr>
          <a:xfrm>
            <a:off x="3337560" y="804672"/>
            <a:ext cx="2377440" cy="786384"/>
          </a:xfrm>
          <a:prstGeom prst="roundRect">
            <a:avLst>
              <a:gd name="adj" fmla="val 14000"/>
            </a:avLst>
          </a:prstGeom>
          <a:solidFill>
            <a:srgbClr val="FEF9C3"/>
          </a:solidFill>
          <a:ln w="12700">
            <a:solidFill>
              <a:srgbClr val="B45309"/>
            </a:solidFill>
          </a:ln>
        </p:spPr>
      </p:sp>
      <p:sp>
        <p:nvSpPr>
          <p:cNvPr id="16" name="kt"/>
          <p:cNvSpPr>
            <a:spLocks noGrp="1"/>
          </p:cNvSpPr>
          <p:nvPr/>
        </p:nvSpPr>
        <p:spPr>
          <a:xfrm>
            <a:off x="3337560" y="804672"/>
            <a:ext cx="2377440" cy="54864"/>
          </a:xfrm>
          <a:prstGeom prst="roundRect">
            <a:avLst>
              <a:gd name="adj" fmla="val 14000"/>
            </a:avLst>
          </a:prstGeom>
          <a:solidFill>
            <a:srgbClr val="B45309"/>
          </a:solidFill>
          <a:ln>
            <a:noFill/>
          </a:ln>
        </p:spPr>
      </p:sp>
      <p:sp>
        <p:nvSpPr>
          <p:cNvPr id="17" name="kn"/>
          <p:cNvSpPr txBox="1">
            <a:spLocks noGrp="1"/>
          </p:cNvSpPr>
          <p:nvPr/>
        </p:nvSpPr>
        <p:spPr>
          <a:xfrm>
            <a:off x="3337560" y="89611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2600" b="1" dirty="0">
                <a:solidFill>
                  <a:srgbClr val="B45309"/>
                </a:solidFill>
                <a:latin typeface="Calibri"/>
              </a:rPr>
              <a:t>8.85h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3410712" y="1335024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dirty="0">
                <a:solidFill>
                  <a:srgbClr val="B45309"/>
                </a:solidFill>
                <a:latin typeface="Calibri"/>
              </a:rPr>
              <a:t>MTTR promedio
industria (HDI)</a:t>
            </a:r>
          </a:p>
        </p:txBody>
      </p:sp>
      <p:sp>
        <p:nvSpPr>
          <p:cNvPr id="7" name="arr"/>
          <p:cNvSpPr txBox="1">
            <a:spLocks noGrp="1"/>
          </p:cNvSpPr>
          <p:nvPr/>
        </p:nvSpPr>
        <p:spPr>
          <a:xfrm>
            <a:off x="5852160" y="107899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800" b="1" dirty="0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20" name="kb"/>
          <p:cNvSpPr>
            <a:spLocks noGrp="1"/>
          </p:cNvSpPr>
          <p:nvPr/>
        </p:nvSpPr>
        <p:spPr>
          <a:xfrm>
            <a:off x="6355080" y="804672"/>
            <a:ext cx="2377440" cy="786384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12700">
            <a:solidFill>
              <a:srgbClr val="0E6B3C"/>
            </a:solidFill>
          </a:ln>
        </p:spPr>
      </p:sp>
      <p:sp>
        <p:nvSpPr>
          <p:cNvPr id="21" name="kt"/>
          <p:cNvSpPr>
            <a:spLocks noGrp="1"/>
          </p:cNvSpPr>
          <p:nvPr/>
        </p:nvSpPr>
        <p:spPr>
          <a:xfrm>
            <a:off x="6355080" y="804672"/>
            <a:ext cx="2377440" cy="54864"/>
          </a:xfrm>
          <a:prstGeom prst="roundRect">
            <a:avLst>
              <a:gd name="adj" fmla="val 14000"/>
            </a:avLst>
          </a:prstGeom>
          <a:solidFill>
            <a:srgbClr val="0E6B3C"/>
          </a:solidFill>
          <a:ln>
            <a:noFill/>
          </a:ln>
        </p:spPr>
      </p:sp>
      <p:sp>
        <p:nvSpPr>
          <p:cNvPr id="22" name="kn"/>
          <p:cNvSpPr txBox="1">
            <a:spLocks noGrp="1"/>
          </p:cNvSpPr>
          <p:nvPr/>
        </p:nvSpPr>
        <p:spPr>
          <a:xfrm>
            <a:off x="6355080" y="89611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2600" b="1" dirty="0">
                <a:solidFill>
                  <a:srgbClr val="0E6B3C"/>
                </a:solidFill>
                <a:latin typeface="Calibri"/>
              </a:rPr>
              <a:t>USD 15</a:t>
            </a:r>
          </a:p>
        </p:txBody>
      </p:sp>
      <p:sp>
        <p:nvSpPr>
          <p:cNvPr id="23" name="kl"/>
          <p:cNvSpPr txBox="1">
            <a:spLocks noGrp="1"/>
          </p:cNvSpPr>
          <p:nvPr/>
        </p:nvSpPr>
        <p:spPr>
          <a:xfrm>
            <a:off x="6428232" y="1335024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40" dirty="0">
                <a:solidFill>
                  <a:srgbClr val="0E6B3C"/>
                </a:solidFill>
                <a:latin typeface="Calibri"/>
              </a:rPr>
              <a:t>Meta PS N3
-57% vs industria</a:t>
            </a:r>
          </a:p>
        </p:txBody>
      </p:sp>
      <p:sp>
        <p:nvSpPr>
          <p:cNvPr id="30" name="thdr"/>
          <p:cNvSpPr>
            <a:spLocks noGrp="1"/>
          </p:cNvSpPr>
          <p:nvPr/>
        </p:nvSpPr>
        <p:spPr>
          <a:xfrm>
            <a:off x="320040" y="1700784"/>
            <a:ext cx="7955279" cy="347472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31" name="th"/>
          <p:cNvSpPr txBox="1">
            <a:spLocks noGrp="1"/>
          </p:cNvSpPr>
          <p:nvPr/>
        </p:nvSpPr>
        <p:spPr>
          <a:xfrm>
            <a:off x="320040" y="1700784"/>
            <a:ext cx="1316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1636776" y="1700784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2203704" y="1700784"/>
            <a:ext cx="329184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4" name="th"/>
          <p:cNvSpPr txBox="1">
            <a:spLocks noGrp="1"/>
          </p:cNvSpPr>
          <p:nvPr/>
        </p:nvSpPr>
        <p:spPr>
          <a:xfrm>
            <a:off x="2532888" y="1700784"/>
            <a:ext cx="329184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35" name="th"/>
          <p:cNvSpPr txBox="1">
            <a:spLocks noGrp="1"/>
          </p:cNvSpPr>
          <p:nvPr/>
        </p:nvSpPr>
        <p:spPr>
          <a:xfrm>
            <a:off x="2862072" y="1700784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Tix
/mes</a:t>
            </a:r>
          </a:p>
        </p:txBody>
      </p:sp>
      <p:sp>
        <p:nvSpPr>
          <p:cNvPr id="36" name="th"/>
          <p:cNvSpPr txBox="1">
            <a:spLocks noGrp="1"/>
          </p:cNvSpPr>
          <p:nvPr/>
        </p:nvSpPr>
        <p:spPr>
          <a:xfrm>
            <a:off x="3374136" y="1700784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MTTR</a:t>
            </a:r>
          </a:p>
        </p:txBody>
      </p:sp>
      <p:sp>
        <p:nvSpPr>
          <p:cNvPr id="37" name="th"/>
          <p:cNvSpPr txBox="1">
            <a:spLocks noGrp="1"/>
          </p:cNvSpPr>
          <p:nvPr/>
        </p:nvSpPr>
        <p:spPr>
          <a:xfrm>
            <a:off x="3886200" y="17007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SLA%</a:t>
            </a:r>
          </a:p>
        </p:txBody>
      </p:sp>
      <p:sp>
        <p:nvSpPr>
          <p:cNvPr id="38" name="th"/>
          <p:cNvSpPr txBox="1">
            <a:spLocks noGrp="1"/>
          </p:cNvSpPr>
          <p:nvPr/>
        </p:nvSpPr>
        <p:spPr>
          <a:xfrm>
            <a:off x="4343400" y="1700784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Costo/mes
COP</a:t>
            </a:r>
          </a:p>
        </p:txBody>
      </p:sp>
      <p:sp>
        <p:nvSpPr>
          <p:cNvPr id="39" name="th"/>
          <p:cNvSpPr txBox="1">
            <a:spLocks noGrp="1"/>
          </p:cNvSpPr>
          <p:nvPr/>
        </p:nvSpPr>
        <p:spPr>
          <a:xfrm>
            <a:off x="5202936" y="1700784"/>
            <a:ext cx="6766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40" name="th"/>
          <p:cNvSpPr txBox="1">
            <a:spLocks noGrp="1"/>
          </p:cNvSpPr>
          <p:nvPr/>
        </p:nvSpPr>
        <p:spPr>
          <a:xfrm>
            <a:off x="5879592" y="1700784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vs Ind.
$35</a:t>
            </a:r>
          </a:p>
        </p:txBody>
      </p:sp>
      <p:sp>
        <p:nvSpPr>
          <p:cNvPr id="8" name="rb"/>
          <p:cNvSpPr>
            <a:spLocks noGrp="1"/>
          </p:cNvSpPr>
          <p:nvPr/>
        </p:nvSpPr>
        <p:spPr>
          <a:xfrm>
            <a:off x="320040" y="2048256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41" name="c"/>
          <p:cNvSpPr txBox="1">
            <a:spLocks noGrp="1"/>
          </p:cNvSpPr>
          <p:nvPr/>
        </p:nvSpPr>
        <p:spPr>
          <a:xfrm>
            <a:off x="320040" y="2048256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1636776" y="2048256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2203704" y="204825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44" name="c"/>
          <p:cNvSpPr txBox="1">
            <a:spLocks noGrp="1"/>
          </p:cNvSpPr>
          <p:nvPr/>
        </p:nvSpPr>
        <p:spPr>
          <a:xfrm>
            <a:off x="2532888" y="204825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45" name="c"/>
          <p:cNvSpPr txBox="1">
            <a:spLocks noGrp="1"/>
          </p:cNvSpPr>
          <p:nvPr/>
        </p:nvSpPr>
        <p:spPr>
          <a:xfrm>
            <a:off x="2862072" y="204825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46" name="c"/>
          <p:cNvSpPr txBox="1">
            <a:spLocks noGrp="1"/>
          </p:cNvSpPr>
          <p:nvPr/>
        </p:nvSpPr>
        <p:spPr>
          <a:xfrm>
            <a:off x="3374136" y="204825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24.6h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3886200" y="204825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70%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4343400" y="2048256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5202936" y="2048256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5879592" y="2048256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+$5</a:t>
            </a:r>
          </a:p>
        </p:txBody>
      </p:sp>
      <p:sp>
        <p:nvSpPr>
          <p:cNvPr id="55" name="rb"/>
          <p:cNvSpPr>
            <a:spLocks noGrp="1"/>
          </p:cNvSpPr>
          <p:nvPr/>
        </p:nvSpPr>
        <p:spPr>
          <a:xfrm>
            <a:off x="320040" y="2340864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6" name="c"/>
          <p:cNvSpPr txBox="1">
            <a:spLocks noGrp="1"/>
          </p:cNvSpPr>
          <p:nvPr/>
        </p:nvSpPr>
        <p:spPr>
          <a:xfrm>
            <a:off x="320040" y="2340864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1636776" y="2340864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2203704" y="234086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59" name="c"/>
          <p:cNvSpPr txBox="1">
            <a:spLocks noGrp="1"/>
          </p:cNvSpPr>
          <p:nvPr/>
        </p:nvSpPr>
        <p:spPr>
          <a:xfrm>
            <a:off x="2532888" y="234086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60" name="c"/>
          <p:cNvSpPr txBox="1">
            <a:spLocks noGrp="1"/>
          </p:cNvSpPr>
          <p:nvPr/>
        </p:nvSpPr>
        <p:spPr>
          <a:xfrm>
            <a:off x="2862072" y="234086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61" name="c"/>
          <p:cNvSpPr txBox="1">
            <a:spLocks noGrp="1"/>
          </p:cNvSpPr>
          <p:nvPr/>
        </p:nvSpPr>
        <p:spPr>
          <a:xfrm>
            <a:off x="3374136" y="234086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12.4h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3886200" y="234086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74%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4343400" y="2340864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5202936" y="2340864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5879592" y="2340864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+$4</a:t>
            </a:r>
          </a:p>
        </p:txBody>
      </p:sp>
      <p:sp>
        <p:nvSpPr>
          <p:cNvPr id="70" name="rb"/>
          <p:cNvSpPr>
            <a:spLocks noGrp="1"/>
          </p:cNvSpPr>
          <p:nvPr/>
        </p:nvSpPr>
        <p:spPr>
          <a:xfrm>
            <a:off x="320040" y="2633472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71" name="c"/>
          <p:cNvSpPr txBox="1">
            <a:spLocks noGrp="1"/>
          </p:cNvSpPr>
          <p:nvPr/>
        </p:nvSpPr>
        <p:spPr>
          <a:xfrm>
            <a:off x="320040" y="2633472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1636776" y="2633472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2203704" y="263347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74" name="c"/>
          <p:cNvSpPr txBox="1">
            <a:spLocks noGrp="1"/>
          </p:cNvSpPr>
          <p:nvPr/>
        </p:nvSpPr>
        <p:spPr>
          <a:xfrm>
            <a:off x="2532888" y="263347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75" name="c"/>
          <p:cNvSpPr txBox="1">
            <a:spLocks noGrp="1"/>
          </p:cNvSpPr>
          <p:nvPr/>
        </p:nvSpPr>
        <p:spPr>
          <a:xfrm>
            <a:off x="2862072" y="263347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76" name="c"/>
          <p:cNvSpPr txBox="1">
            <a:spLocks noGrp="1"/>
          </p:cNvSpPr>
          <p:nvPr/>
        </p:nvSpPr>
        <p:spPr>
          <a:xfrm>
            <a:off x="3374136" y="263347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3.0h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3886200" y="263347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98%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4343400" y="2633472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5202936" y="2633472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5879592" y="2633472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+$4</a:t>
            </a:r>
          </a:p>
        </p:txBody>
      </p:sp>
      <p:sp>
        <p:nvSpPr>
          <p:cNvPr id="85" name="rb"/>
          <p:cNvSpPr>
            <a:spLocks noGrp="1"/>
          </p:cNvSpPr>
          <p:nvPr/>
        </p:nvSpPr>
        <p:spPr>
          <a:xfrm>
            <a:off x="320040" y="2926080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86" name="c"/>
          <p:cNvSpPr txBox="1">
            <a:spLocks noGrp="1"/>
          </p:cNvSpPr>
          <p:nvPr/>
        </p:nvSpPr>
        <p:spPr>
          <a:xfrm>
            <a:off x="320040" y="2926080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1636776" y="292608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2203704" y="2926080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89" name="c"/>
          <p:cNvSpPr txBox="1">
            <a:spLocks noGrp="1"/>
          </p:cNvSpPr>
          <p:nvPr/>
        </p:nvSpPr>
        <p:spPr>
          <a:xfrm>
            <a:off x="2532888" y="2926080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90" name="c"/>
          <p:cNvSpPr txBox="1">
            <a:spLocks noGrp="1"/>
          </p:cNvSpPr>
          <p:nvPr/>
        </p:nvSpPr>
        <p:spPr>
          <a:xfrm>
            <a:off x="2862072" y="2926080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91" name="c"/>
          <p:cNvSpPr txBox="1">
            <a:spLocks noGrp="1"/>
          </p:cNvSpPr>
          <p:nvPr/>
        </p:nvSpPr>
        <p:spPr>
          <a:xfrm>
            <a:off x="3374136" y="2926080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17.9h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3886200" y="292608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72%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4343400" y="2926080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5202936" y="2926080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5879592" y="2926080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-$15</a:t>
            </a:r>
          </a:p>
        </p:txBody>
      </p:sp>
      <p:sp>
        <p:nvSpPr>
          <p:cNvPr id="100" name="rb"/>
          <p:cNvSpPr>
            <a:spLocks noGrp="1"/>
          </p:cNvSpPr>
          <p:nvPr/>
        </p:nvSpPr>
        <p:spPr>
          <a:xfrm>
            <a:off x="320040" y="3218688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101" name="c"/>
          <p:cNvSpPr txBox="1">
            <a:spLocks noGrp="1"/>
          </p:cNvSpPr>
          <p:nvPr/>
        </p:nvSpPr>
        <p:spPr>
          <a:xfrm>
            <a:off x="320040" y="321868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1636776" y="3218688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XM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2203704" y="3218688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104" name="c"/>
          <p:cNvSpPr txBox="1">
            <a:spLocks noGrp="1"/>
          </p:cNvSpPr>
          <p:nvPr/>
        </p:nvSpPr>
        <p:spPr>
          <a:xfrm>
            <a:off x="2532888" y="3218688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05" name="c"/>
          <p:cNvSpPr txBox="1">
            <a:spLocks noGrp="1"/>
          </p:cNvSpPr>
          <p:nvPr/>
        </p:nvSpPr>
        <p:spPr>
          <a:xfrm>
            <a:off x="2862072" y="321868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106" name="c"/>
          <p:cNvSpPr txBox="1">
            <a:spLocks noGrp="1"/>
          </p:cNvSpPr>
          <p:nvPr/>
        </p:nvSpPr>
        <p:spPr>
          <a:xfrm>
            <a:off x="3374136" y="321868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3886200" y="32186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4343400" y="3218688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5202936" y="3218688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5879592" y="3218688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+$114</a:t>
            </a:r>
          </a:p>
        </p:txBody>
      </p:sp>
      <p:sp>
        <p:nvSpPr>
          <p:cNvPr id="115" name="rb"/>
          <p:cNvSpPr>
            <a:spLocks noGrp="1"/>
          </p:cNvSpPr>
          <p:nvPr/>
        </p:nvSpPr>
        <p:spPr>
          <a:xfrm>
            <a:off x="320040" y="3511296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16" name="c"/>
          <p:cNvSpPr txBox="1">
            <a:spLocks noGrp="1"/>
          </p:cNvSpPr>
          <p:nvPr/>
        </p:nvSpPr>
        <p:spPr>
          <a:xfrm>
            <a:off x="320040" y="3511296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1636776" y="3511296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AES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2203704" y="35112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119" name="c"/>
          <p:cNvSpPr txBox="1">
            <a:spLocks noGrp="1"/>
          </p:cNvSpPr>
          <p:nvPr/>
        </p:nvSpPr>
        <p:spPr>
          <a:xfrm>
            <a:off x="2532888" y="35112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20" name="c"/>
          <p:cNvSpPr txBox="1">
            <a:spLocks noGrp="1"/>
          </p:cNvSpPr>
          <p:nvPr/>
        </p:nvSpPr>
        <p:spPr>
          <a:xfrm>
            <a:off x="2862072" y="351129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1" name="c"/>
          <p:cNvSpPr txBox="1">
            <a:spLocks noGrp="1"/>
          </p:cNvSpPr>
          <p:nvPr/>
        </p:nvSpPr>
        <p:spPr>
          <a:xfrm>
            <a:off x="3374136" y="351129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3886200" y="351129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4343400" y="3511296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5202936" y="3511296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5879592" y="3511296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30" name="rb"/>
          <p:cNvSpPr>
            <a:spLocks noGrp="1"/>
          </p:cNvSpPr>
          <p:nvPr/>
        </p:nvSpPr>
        <p:spPr>
          <a:xfrm>
            <a:off x="320040" y="3803904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131" name="c"/>
          <p:cNvSpPr txBox="1">
            <a:spLocks noGrp="1"/>
          </p:cNvSpPr>
          <p:nvPr/>
        </p:nvSpPr>
        <p:spPr>
          <a:xfrm>
            <a:off x="320040" y="3803904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(5 mesas)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1636776" y="3803904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BCO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2203704" y="380390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134" name="c"/>
          <p:cNvSpPr txBox="1">
            <a:spLocks noGrp="1"/>
          </p:cNvSpPr>
          <p:nvPr/>
        </p:nvSpPr>
        <p:spPr>
          <a:xfrm>
            <a:off x="2532888" y="380390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32</a:t>
            </a:r>
          </a:p>
        </p:txBody>
      </p:sp>
      <p:sp>
        <p:nvSpPr>
          <p:cNvPr id="135" name="c"/>
          <p:cNvSpPr txBox="1">
            <a:spLocks noGrp="1"/>
          </p:cNvSpPr>
          <p:nvPr/>
        </p:nvSpPr>
        <p:spPr>
          <a:xfrm>
            <a:off x="2862072" y="380390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36" name="c"/>
          <p:cNvSpPr txBox="1">
            <a:spLocks noGrp="1"/>
          </p:cNvSpPr>
          <p:nvPr/>
        </p:nvSpPr>
        <p:spPr>
          <a:xfrm>
            <a:off x="3374136" y="380390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3886200" y="380390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4343400" y="3803904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$450.6M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5202936" y="3803904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5879592" y="3803904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45" name="rb"/>
          <p:cNvSpPr>
            <a:spLocks noGrp="1"/>
          </p:cNvSpPr>
          <p:nvPr/>
        </p:nvSpPr>
        <p:spPr>
          <a:xfrm>
            <a:off x="320040" y="4096512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46" name="c"/>
          <p:cNvSpPr txBox="1">
            <a:spLocks noGrp="1"/>
          </p:cNvSpPr>
          <p:nvPr/>
        </p:nvSpPr>
        <p:spPr>
          <a:xfrm>
            <a:off x="320040" y="4096512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MEDICARTE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1636776" y="4096512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5A6475"/>
                </a:solidFill>
                <a:latin typeface="Calibri"/>
              </a:rPr>
              <a:t>MED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2203704" y="409651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149" name="c"/>
          <p:cNvSpPr txBox="1">
            <a:spLocks noGrp="1"/>
          </p:cNvSpPr>
          <p:nvPr/>
        </p:nvSpPr>
        <p:spPr>
          <a:xfrm>
            <a:off x="2532888" y="409651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150" name="c"/>
          <p:cNvSpPr txBox="1">
            <a:spLocks noGrp="1"/>
          </p:cNvSpPr>
          <p:nvPr/>
        </p:nvSpPr>
        <p:spPr>
          <a:xfrm>
            <a:off x="2862072" y="409651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1" name="c"/>
          <p:cNvSpPr txBox="1">
            <a:spLocks noGrp="1"/>
          </p:cNvSpPr>
          <p:nvPr/>
        </p:nvSpPr>
        <p:spPr>
          <a:xfrm>
            <a:off x="3374136" y="409651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0.6h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3886200" y="409651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B45309"/>
                </a:solidFill>
                <a:latin typeface="Calibri"/>
              </a:rPr>
              <a:t>89%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4343400" y="4096512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5202936" y="4096512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5879592" y="4096512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00" name="tot"/>
          <p:cNvSpPr>
            <a:spLocks noGrp="1"/>
          </p:cNvSpPr>
          <p:nvPr/>
        </p:nvSpPr>
        <p:spPr>
          <a:xfrm>
            <a:off x="320040" y="4389120"/>
            <a:ext cx="7955279" cy="274320"/>
          </a:xfrm>
          <a:prstGeom prst="rect">
            <a:avLst/>
          </a:prstGeom>
          <a:solidFill>
            <a:srgbClr val="F8F0F6"/>
          </a:solidFill>
          <a:ln w="12700">
            <a:solidFill>
              <a:srgbClr val="6B2D5E"/>
            </a:solidFill>
          </a:ln>
        </p:spPr>
      </p:sp>
      <p:sp>
        <p:nvSpPr>
          <p:cNvPr id="201" name="tc"/>
          <p:cNvSpPr txBox="1">
            <a:spLocks noGrp="1"/>
          </p:cNvSpPr>
          <p:nvPr/>
        </p:nvSpPr>
        <p:spPr>
          <a:xfrm>
            <a:off x="320040" y="4389120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202" name="tc"/>
          <p:cNvSpPr txBox="1">
            <a:spLocks noGrp="1"/>
          </p:cNvSpPr>
          <p:nvPr/>
        </p:nvSpPr>
        <p:spPr>
          <a:xfrm>
            <a:off x="1636776" y="438912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203" name="tc"/>
          <p:cNvSpPr txBox="1">
            <a:spLocks noGrp="1"/>
          </p:cNvSpPr>
          <p:nvPr/>
        </p:nvSpPr>
        <p:spPr>
          <a:xfrm>
            <a:off x="2203704" y="438912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204" name="tc"/>
          <p:cNvSpPr txBox="1">
            <a:spLocks noGrp="1"/>
          </p:cNvSpPr>
          <p:nvPr/>
        </p:nvSpPr>
        <p:spPr>
          <a:xfrm>
            <a:off x="2532888" y="438912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205" name="tc"/>
          <p:cNvSpPr txBox="1">
            <a:spLocks noGrp="1"/>
          </p:cNvSpPr>
          <p:nvPr/>
        </p:nvSpPr>
        <p:spPr>
          <a:xfrm>
            <a:off x="2862072" y="438912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206" name="tc"/>
          <p:cNvSpPr txBox="1">
            <a:spLocks noGrp="1"/>
          </p:cNvSpPr>
          <p:nvPr/>
        </p:nvSpPr>
        <p:spPr>
          <a:xfrm>
            <a:off x="3374136" y="438912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14.5h</a:t>
            </a:r>
          </a:p>
        </p:txBody>
      </p:sp>
      <p:sp>
        <p:nvSpPr>
          <p:cNvPr id="207" name="tc"/>
          <p:cNvSpPr txBox="1">
            <a:spLocks noGrp="1"/>
          </p:cNvSpPr>
          <p:nvPr/>
        </p:nvSpPr>
        <p:spPr>
          <a:xfrm>
            <a:off x="3886200" y="43891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78.5%</a:t>
            </a:r>
          </a:p>
        </p:txBody>
      </p:sp>
      <p:sp>
        <p:nvSpPr>
          <p:cNvPr id="208" name="tc"/>
          <p:cNvSpPr txBox="1">
            <a:spLocks noGrp="1"/>
          </p:cNvSpPr>
          <p:nvPr/>
        </p:nvSpPr>
        <p:spPr>
          <a:xfrm>
            <a:off x="4343400" y="4389120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$239M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5202936" y="4389120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5879592" y="4389120"/>
            <a:ext cx="6035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00" b="1" dirty="0">
                <a:solidFill>
                  <a:srgbClr val="6B2D5E"/>
                </a:solidFill>
                <a:latin typeface="Calibri"/>
              </a:rPr>
              <a:t>+$2</a:t>
            </a:r>
          </a:p>
        </p:txBody>
      </p:sp>
      <p:sp>
        <p:nvSpPr>
          <p:cNvPr id="9" name="ib"/>
          <p:cNvSpPr>
            <a:spLocks noGrp="1"/>
          </p:cNvSpPr>
          <p:nvPr/>
        </p:nvSpPr>
        <p:spPr>
          <a:xfrm>
            <a:off x="320040" y="4718304"/>
            <a:ext cx="5120640" cy="402336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B45309"/>
            </a:solidFill>
          </a:ln>
        </p:spPr>
      </p:sp>
      <p:sp>
        <p:nvSpPr>
          <p:cNvPr id="211" name="it"/>
          <p:cNvSpPr txBox="1">
            <a:spLocks noGrp="1"/>
          </p:cNvSpPr>
          <p:nvPr/>
        </p:nvSpPr>
        <p:spPr>
          <a:xfrm>
            <a:off x="411480" y="475488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B45309"/>
                </a:solidFill>
                <a:latin typeface="Calibri"/>
              </a:rPr>
              <a:t>¿Por qué cuesta mas? </a:t>
            </a:r>
            <a:r>
              <a:rPr lang="es-ES" sz="860" dirty="0">
                <a:solidFill>
                  <a:srgbClr val="B45309"/>
                </a:solidFill>
                <a:latin typeface="Calibri"/>
              </a:rPr>
              <a:t>MTTR alto (24.5h) + sin autoservicio + 0% deflexion N0 → cada ticket consume horas de FTE senior completo.</a:t>
            </a:r>
          </a:p>
        </p:txBody>
      </p:sp>
      <p:sp>
        <p:nvSpPr>
          <p:cNvPr id="212" name="ib2"/>
          <p:cNvSpPr>
            <a:spLocks noGrp="1"/>
          </p:cNvSpPr>
          <p:nvPr/>
        </p:nvSpPr>
        <p:spPr>
          <a:xfrm>
            <a:off x="5577840" y="4718304"/>
            <a:ext cx="2697480" cy="40233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0E6B3C"/>
            </a:solidFill>
          </a:ln>
        </p:spPr>
      </p:sp>
      <p:sp>
        <p:nvSpPr>
          <p:cNvPr id="213" name="it2"/>
          <p:cNvSpPr txBox="1">
            <a:spLocks noGrp="1"/>
          </p:cNvSpPr>
          <p:nvPr/>
        </p:nvSpPr>
        <p:spPr>
          <a:xfrm>
            <a:off x="5669280" y="475488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0E6B3C"/>
                </a:solidFill>
                <a:latin typeface="Calibri"/>
              </a:rPr>
              <a:t>Ahorro potencial con N3:</a:t>
            </a:r>
          </a:p>
          <a:p>
            <a:pPr algn="l"/>
            <a:r>
              <a:rPr lang="es-ES" sz="860" dirty="0">
                <a:solidFill>
                  <a:srgbClr val="0E6B3C"/>
                </a:solidFill>
                <a:latin typeface="Calibri"/>
              </a:rPr>
              <a:t>~$143M COP/mes solo en SURA</a:t>
            </a:r>
          </a:p>
        </p:txBody>
      </p:sp>
      <p:sp>
        <p:nvSpPr>
          <p:cNvPr id="22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00" b="1" u="sng" dirty="0">
                <a:solidFill>
                  <a:srgbClr val="0F0000"/>
                </a:solidFill>
                <a:latin typeface="Calibri"/>
                <a:hlinkClick r:id=""/>
              </a:rPr>
              <a:t>HDI Standard</a:t>
            </a:r>
            <a:r>
              <a:rPr lang="es-ES" sz="780" dirty="0">
                <a:solidFill>
                  <a:srgbClr val="5A6475"/>
                </a:solidFill>
                <a:latin typeface="Calibri"/>
              </a:rPr>
              <a:t>  · </a:t>
            </a:r>
            <a:r>
              <a:rPr lang="es-ES" sz="100" b="1" u="sng" dirty="0">
                <a:solidFill>
                  <a:srgbClr val="0F0000"/>
                </a:solidFill>
                <a:latin typeface="Calibri"/>
                <a:hlinkClick r:id=""/>
              </a:rPr>
              <a:t>MetricNet MTTR</a:t>
            </a:r>
            <a:r>
              <a:rPr lang="es-ES" sz="780" dirty="0">
                <a:solidFill>
                  <a:srgbClr val="5A6475"/>
                </a:solidFill>
                <a:latin typeface="Calibri"/>
              </a:rPr>
              <a:t>  · </a:t>
            </a:r>
            <a:r>
              <a:rPr lang="es-ES" sz="100" b="1" u="sng" dirty="0">
                <a:solidFill>
                  <a:srgbClr val="0F0000"/>
                </a:solidFill>
                <a:latin typeface="Calibri"/>
                <a:hlinkClick r:id=""/>
              </a:rPr>
              <a:t>Gartner Cost per Ticket</a:t>
            </a:r>
            <a:r>
              <a:rPr lang="es-ES" sz="780" i="1" dirty="0">
                <a:solidFill>
                  <a:srgbClr val="5A6475"/>
                </a:solidFill>
                <a:latin typeface="Calibri"/>
              </a:rPr>
              <a:t>  · Levantamiento interno PS · Excel Levantamiento_Mesas_Julio_2026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ttl"/>
          <p:cNvSpPr txBox="1">
            <a:spLocks noGrp="1"/>
          </p:cNvSpPr>
          <p:nvPr/>
        </p:nvSpPr>
        <p:spPr>
          <a:xfrm>
            <a:off x="320040" y="91440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2200" b="1" dirty="0">
                <a:solidFill>
                  <a:srgbClr val="0D1B5E"/>
                </a:solidFill>
                <a:latin typeface="Calibri"/>
              </a:rPr>
              <a:t>Benchmarks de Industria vs Mesas Actuales PersonalSoft</a:t>
            </a:r>
          </a:p>
        </p:txBody>
      </p:sp>
      <p:sp>
        <p:nvSpPr>
          <p:cNvPr id="4" name="sub"/>
          <p:cNvSpPr txBox="1">
            <a:spLocks noGrp="1"/>
          </p:cNvSpPr>
          <p:nvPr/>
        </p:nvSpPr>
        <p:spPr>
          <a:xfrm>
            <a:off x="320040" y="512064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Promedio industria  ·  World-Class  ·  PS Mesas Actuales  ·  Gen Next Objetivo (N3-N5)  ·  Supuesto: $88.000 COP/hora-FTE · 1 USD = $4.200 COP</a:t>
            </a:r>
          </a:p>
        </p:txBody>
      </p:sp>
      <p:sp>
        <p:nvSpPr>
          <p:cNvPr id="5" name="hl"/>
          <p:cNvSpPr>
            <a:spLocks noGrp="1"/>
          </p:cNvSpPr>
          <p:nvPr/>
        </p:nvSpPr>
        <p:spPr>
          <a:xfrm>
            <a:off x="320040" y="731520"/>
            <a:ext cx="763524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0" name="lb"/>
          <p:cNvSpPr>
            <a:spLocks noGrp="1"/>
          </p:cNvSpPr>
          <p:nvPr/>
        </p:nvSpPr>
        <p:spPr>
          <a:xfrm>
            <a:off x="320040" y="786384"/>
            <a:ext cx="128016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1" name="lt"/>
          <p:cNvSpPr txBox="1">
            <a:spLocks noGrp="1"/>
          </p:cNvSpPr>
          <p:nvPr/>
        </p:nvSpPr>
        <p:spPr>
          <a:xfrm>
            <a:off x="48463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Industria promedio</a:t>
            </a:r>
          </a:p>
        </p:txBody>
      </p:sp>
      <p:sp>
        <p:nvSpPr>
          <p:cNvPr id="12" name="lb"/>
          <p:cNvSpPr>
            <a:spLocks noGrp="1"/>
          </p:cNvSpPr>
          <p:nvPr/>
        </p:nvSpPr>
        <p:spPr>
          <a:xfrm>
            <a:off x="1874520" y="786384"/>
            <a:ext cx="128016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lt"/>
          <p:cNvSpPr txBox="1">
            <a:spLocks noGrp="1"/>
          </p:cNvSpPr>
          <p:nvPr/>
        </p:nvSpPr>
        <p:spPr>
          <a:xfrm>
            <a:off x="203911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World-Class</a:t>
            </a:r>
          </a:p>
        </p:txBody>
      </p:sp>
      <p:sp>
        <p:nvSpPr>
          <p:cNvPr id="14" name="lb"/>
          <p:cNvSpPr>
            <a:spLocks noGrp="1"/>
          </p:cNvSpPr>
          <p:nvPr/>
        </p:nvSpPr>
        <p:spPr>
          <a:xfrm>
            <a:off x="3429000" y="786384"/>
            <a:ext cx="128016" cy="128016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5" name="lt"/>
          <p:cNvSpPr txBox="1">
            <a:spLocks noGrp="1"/>
          </p:cNvSpPr>
          <p:nvPr/>
        </p:nvSpPr>
        <p:spPr>
          <a:xfrm>
            <a:off x="359359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Gen Next N5</a:t>
            </a:r>
          </a:p>
        </p:txBody>
      </p:sp>
      <p:sp>
        <p:nvSpPr>
          <p:cNvPr id="16" name="lb"/>
          <p:cNvSpPr>
            <a:spLocks noGrp="1"/>
          </p:cNvSpPr>
          <p:nvPr/>
        </p:nvSpPr>
        <p:spPr>
          <a:xfrm>
            <a:off x="4983480" y="786384"/>
            <a:ext cx="128016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7" name="lt"/>
          <p:cNvSpPr txBox="1">
            <a:spLocks noGrp="1"/>
          </p:cNvSpPr>
          <p:nvPr/>
        </p:nvSpPr>
        <p:spPr>
          <a:xfrm>
            <a:off x="514807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PS Mesas Actuales</a:t>
            </a:r>
          </a:p>
        </p:txBody>
      </p:sp>
      <p:sp>
        <p:nvSpPr>
          <p:cNvPr id="18" name="lb"/>
          <p:cNvSpPr>
            <a:spLocks noGrp="1"/>
          </p:cNvSpPr>
          <p:nvPr/>
        </p:nvSpPr>
        <p:spPr>
          <a:xfrm>
            <a:off x="6537960" y="786384"/>
            <a:ext cx="128016" cy="128016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19" name="lt"/>
          <p:cNvSpPr txBox="1">
            <a:spLocks noGrp="1"/>
          </p:cNvSpPr>
          <p:nvPr/>
        </p:nvSpPr>
        <p:spPr>
          <a:xfrm>
            <a:off x="670255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PS — Buena referencia</a:t>
            </a:r>
          </a:p>
        </p:txBody>
      </p:sp>
      <p:sp>
        <p:nvSpPr>
          <p:cNvPr id="20" name="fh"/>
          <p:cNvSpPr txBox="1">
            <a:spLocks noGrp="1"/>
          </p:cNvSpPr>
          <p:nvPr/>
        </p:nvSpPr>
        <p:spPr>
          <a:xfrm>
            <a:off x="320040" y="969264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FCR (First Contact Resolution)</a:t>
            </a:r>
          </a:p>
        </p:txBody>
      </p:sp>
      <p:sp>
        <p:nvSpPr>
          <p:cNvPr id="21" name="tr"/>
          <p:cNvSpPr>
            <a:spLocks noGrp="1"/>
          </p:cNvSpPr>
          <p:nvPr/>
        </p:nvSpPr>
        <p:spPr>
          <a:xfrm>
            <a:off x="320040" y="126187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22" name="fl"/>
          <p:cNvSpPr>
            <a:spLocks noGrp="1"/>
          </p:cNvSpPr>
          <p:nvPr/>
        </p:nvSpPr>
        <p:spPr>
          <a:xfrm>
            <a:off x="320040" y="1261872"/>
            <a:ext cx="1745772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3" name="lb"/>
          <p:cNvSpPr txBox="1">
            <a:spLocks noGrp="1"/>
          </p:cNvSpPr>
          <p:nvPr/>
        </p:nvSpPr>
        <p:spPr>
          <a:xfrm>
            <a:off x="393192" y="1261872"/>
            <a:ext cx="165433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24" name="l1"/>
          <p:cNvSpPr txBox="1">
            <a:spLocks noGrp="1"/>
          </p:cNvSpPr>
          <p:nvPr/>
        </p:nvSpPr>
        <p:spPr>
          <a:xfrm>
            <a:off x="320040" y="15179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Promedio industria</a:t>
            </a:r>
          </a:p>
        </p:txBody>
      </p:sp>
      <p:sp>
        <p:nvSpPr>
          <p:cNvPr id="25" name="tr"/>
          <p:cNvSpPr>
            <a:spLocks noGrp="1"/>
          </p:cNvSpPr>
          <p:nvPr/>
        </p:nvSpPr>
        <p:spPr>
          <a:xfrm>
            <a:off x="320040" y="1719072"/>
            <a:ext cx="2359152" cy="237744"/>
          </a:xfrm>
          <a:prstGeom prst="rect">
            <a:avLst/>
          </a:prstGeom>
          <a:solidFill>
            <a:srgbClr val="D6DCE8"/>
          </a:solidFill>
          <a:ln>
            <a:noFill/>
          </a:ln>
        </p:spPr>
      </p:sp>
      <p:sp>
        <p:nvSpPr>
          <p:cNvPr id="26" name="fl"/>
          <p:cNvSpPr>
            <a:spLocks noGrp="1"/>
          </p:cNvSpPr>
          <p:nvPr/>
        </p:nvSpPr>
        <p:spPr>
          <a:xfrm>
            <a:off x="320040" y="1719072"/>
            <a:ext cx="1887321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7" name="lb"/>
          <p:cNvSpPr txBox="1">
            <a:spLocks noGrp="1"/>
          </p:cNvSpPr>
          <p:nvPr/>
        </p:nvSpPr>
        <p:spPr>
          <a:xfrm>
            <a:off x="393192" y="1719072"/>
            <a:ext cx="1795881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80%+</a:t>
            </a:r>
          </a:p>
        </p:txBody>
      </p:sp>
      <p:sp>
        <p:nvSpPr>
          <p:cNvPr id="28" name="l2"/>
          <p:cNvSpPr txBox="1">
            <a:spLocks noGrp="1"/>
          </p:cNvSpPr>
          <p:nvPr/>
        </p:nvSpPr>
        <p:spPr>
          <a:xfrm>
            <a:off x="320040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World-Class</a:t>
            </a:r>
          </a:p>
        </p:txBody>
      </p:sp>
      <p:sp>
        <p:nvSpPr>
          <p:cNvPr id="29" name="tr"/>
          <p:cNvSpPr>
            <a:spLocks noGrp="1"/>
          </p:cNvSpPr>
          <p:nvPr/>
        </p:nvSpPr>
        <p:spPr>
          <a:xfrm>
            <a:off x="320040" y="2176272"/>
            <a:ext cx="2359152" cy="237744"/>
          </a:xfrm>
          <a:prstGeom prst="rect">
            <a:avLst/>
          </a:prstGeom>
          <a:solidFill>
            <a:srgbClr val="F5EDD4"/>
          </a:solidFill>
          <a:ln>
            <a:noFill/>
          </a:ln>
        </p:spPr>
      </p:sp>
      <p:sp>
        <p:nvSpPr>
          <p:cNvPr id="30" name="fl"/>
          <p:cNvSpPr>
            <a:spLocks noGrp="1"/>
          </p:cNvSpPr>
          <p:nvPr/>
        </p:nvSpPr>
        <p:spPr>
          <a:xfrm>
            <a:off x="320040" y="2176272"/>
            <a:ext cx="2005279" cy="237744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1" name="lb"/>
          <p:cNvSpPr txBox="1">
            <a:spLocks noGrp="1"/>
          </p:cNvSpPr>
          <p:nvPr/>
        </p:nvSpPr>
        <p:spPr>
          <a:xfrm>
            <a:off x="393192" y="2176272"/>
            <a:ext cx="1913839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85%+</a:t>
            </a:r>
          </a:p>
        </p:txBody>
      </p:sp>
      <p:sp>
        <p:nvSpPr>
          <p:cNvPr id="32" name="l3"/>
          <p:cNvSpPr txBox="1">
            <a:spLocks noGrp="1"/>
          </p:cNvSpPr>
          <p:nvPr/>
        </p:nvSpPr>
        <p:spPr>
          <a:xfrm>
            <a:off x="320040" y="24323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Gen Next Objetivo (N5)</a:t>
            </a:r>
          </a:p>
        </p:txBody>
      </p:sp>
      <p:sp>
        <p:nvSpPr>
          <p:cNvPr id="33" name="ps_fcr"/>
          <p:cNvSpPr>
            <a:spLocks noGrp="1"/>
          </p:cNvSpPr>
          <p:nvPr/>
        </p:nvSpPr>
        <p:spPr>
          <a:xfrm>
            <a:off x="320040" y="2633472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34" name="ps_fcrl"/>
          <p:cNvSpPr txBox="1">
            <a:spLocks noGrp="1"/>
          </p:cNvSpPr>
          <p:nvPr/>
        </p:nvSpPr>
        <p:spPr>
          <a:xfrm>
            <a:off x="411480" y="2633472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70" b="1" dirty="0">
                <a:solidFill>
                  <a:srgbClr val="C00000"/>
                </a:solidFill>
                <a:latin typeface="Calibri"/>
              </a:rPr>
              <a:t>PS: No medido — 0 mesas tienen FCR formal</a:t>
            </a:r>
          </a:p>
        </p:txBody>
      </p:sp>
      <p:sp>
        <p:nvSpPr>
          <p:cNvPr id="35" name="med_fcr"/>
          <p:cNvSpPr>
            <a:spLocks noGrp="1"/>
          </p:cNvSpPr>
          <p:nvPr/>
        </p:nvSpPr>
        <p:spPr>
          <a:xfrm>
            <a:off x="320040" y="2926080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A6B3C"/>
            </a:solidFill>
          </a:ln>
        </p:spPr>
      </p:sp>
      <p:sp>
        <p:nvSpPr>
          <p:cNvPr id="36" name="med_fcrl"/>
          <p:cNvSpPr txBox="1">
            <a:spLocks noGrp="1"/>
          </p:cNvSpPr>
          <p:nvPr/>
        </p:nvSpPr>
        <p:spPr>
          <a:xfrm>
            <a:off x="411480" y="2926080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70" b="1" dirty="0">
                <a:solidFill>
                  <a:srgbClr val="1A6B3C"/>
                </a:solidFill>
                <a:latin typeface="Calibri"/>
              </a:rPr>
              <a:t>MEDICARTE: 68% FCR  ·  0.55h MTTR  ·  89% SLA ✓</a:t>
            </a:r>
          </a:p>
        </p:txBody>
      </p:sp>
      <p:sp>
        <p:nvSpPr>
          <p:cNvPr id="40" name="dh"/>
          <p:cNvSpPr txBox="1">
            <a:spLocks noGrp="1"/>
          </p:cNvSpPr>
          <p:nvPr/>
        </p:nvSpPr>
        <p:spPr>
          <a:xfrm>
            <a:off x="320040" y="3255264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Deflection Rate (N0 Autoservicio)</a:t>
            </a:r>
          </a:p>
        </p:txBody>
      </p:sp>
      <p:sp>
        <p:nvSpPr>
          <p:cNvPr id="41" name="tr"/>
          <p:cNvSpPr>
            <a:spLocks noGrp="1"/>
          </p:cNvSpPr>
          <p:nvPr/>
        </p:nvSpPr>
        <p:spPr>
          <a:xfrm>
            <a:off x="320040" y="3529584"/>
            <a:ext cx="2359152" cy="237744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42" name="fl"/>
          <p:cNvSpPr>
            <a:spLocks noGrp="1"/>
          </p:cNvSpPr>
          <p:nvPr/>
        </p:nvSpPr>
        <p:spPr>
          <a:xfrm>
            <a:off x="320040" y="3529584"/>
            <a:ext cx="542604" cy="237744"/>
          </a:xfrm>
          <a:prstGeom prst="rect">
            <a:avLst/>
          </a:prstGeom>
          <a:solidFill>
            <a:srgbClr val="838383"/>
          </a:solidFill>
          <a:ln>
            <a:noFill/>
          </a:ln>
        </p:spPr>
      </p:sp>
      <p:sp>
        <p:nvSpPr>
          <p:cNvPr id="43" name="lb"/>
          <p:cNvSpPr txBox="1">
            <a:spLocks noGrp="1"/>
          </p:cNvSpPr>
          <p:nvPr/>
        </p:nvSpPr>
        <p:spPr>
          <a:xfrm>
            <a:off x="393192" y="3529584"/>
            <a:ext cx="451164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23%  industria</a:t>
            </a:r>
          </a:p>
        </p:txBody>
      </p:sp>
      <p:sp>
        <p:nvSpPr>
          <p:cNvPr id="44" name="tr"/>
          <p:cNvSpPr>
            <a:spLocks noGrp="1"/>
          </p:cNvSpPr>
          <p:nvPr/>
        </p:nvSpPr>
        <p:spPr>
          <a:xfrm>
            <a:off x="320040" y="382219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45" name="fl"/>
          <p:cNvSpPr>
            <a:spLocks noGrp="1"/>
          </p:cNvSpPr>
          <p:nvPr/>
        </p:nvSpPr>
        <p:spPr>
          <a:xfrm>
            <a:off x="320040" y="3822192"/>
            <a:ext cx="1179576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46" name="lb"/>
          <p:cNvSpPr txBox="1">
            <a:spLocks noGrp="1"/>
          </p:cNvSpPr>
          <p:nvPr/>
        </p:nvSpPr>
        <p:spPr>
          <a:xfrm>
            <a:off x="393192" y="382219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50%  maduro</a:t>
            </a:r>
          </a:p>
        </p:txBody>
      </p:sp>
      <p:sp>
        <p:nvSpPr>
          <p:cNvPr id="47" name="tr"/>
          <p:cNvSpPr>
            <a:spLocks noGrp="1"/>
          </p:cNvSpPr>
          <p:nvPr/>
        </p:nvSpPr>
        <p:spPr>
          <a:xfrm>
            <a:off x="320040" y="4114800"/>
            <a:ext cx="2359152" cy="237744"/>
          </a:xfrm>
          <a:prstGeom prst="rect">
            <a:avLst/>
          </a:prstGeom>
          <a:solidFill>
            <a:srgbClr val="F5EDD4"/>
          </a:solidFill>
          <a:ln>
            <a:noFill/>
          </a:ln>
        </p:spPr>
      </p:sp>
      <p:sp>
        <p:nvSpPr>
          <p:cNvPr id="48" name="fl"/>
          <p:cNvSpPr>
            <a:spLocks noGrp="1"/>
          </p:cNvSpPr>
          <p:nvPr/>
        </p:nvSpPr>
        <p:spPr>
          <a:xfrm>
            <a:off x="320040" y="4114800"/>
            <a:ext cx="2005279" cy="237744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9" name="lb"/>
          <p:cNvSpPr txBox="1">
            <a:spLocks noGrp="1"/>
          </p:cNvSpPr>
          <p:nvPr/>
        </p:nvSpPr>
        <p:spPr>
          <a:xfrm>
            <a:off x="393192" y="4114800"/>
            <a:ext cx="1913839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85%+  Gen Next IA agéntica</a:t>
            </a:r>
          </a:p>
        </p:txBody>
      </p:sp>
      <p:sp>
        <p:nvSpPr>
          <p:cNvPr id="50" name="ps_def"/>
          <p:cNvSpPr>
            <a:spLocks noGrp="1"/>
          </p:cNvSpPr>
          <p:nvPr/>
        </p:nvSpPr>
        <p:spPr>
          <a:xfrm>
            <a:off x="320040" y="4407408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51" name="ps_defl"/>
          <p:cNvSpPr txBox="1">
            <a:spLocks noGrp="1"/>
          </p:cNvSpPr>
          <p:nvPr/>
        </p:nvSpPr>
        <p:spPr>
          <a:xfrm>
            <a:off x="411480" y="4407408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70" b="1" dirty="0">
                <a:solidFill>
                  <a:srgbClr val="C00000"/>
                </a:solidFill>
                <a:latin typeface="Calibri"/>
              </a:rPr>
              <a:t>PS: 0% deflexion — ninguna mesa tiene N0</a:t>
            </a:r>
          </a:p>
        </p:txBody>
      </p:sp>
      <p:sp>
        <p:nvSpPr>
          <p:cNvPr id="52" name="defnota"/>
          <p:cNvSpPr txBox="1">
            <a:spLocks noGrp="1"/>
          </p:cNvSpPr>
          <p:nvPr/>
        </p:nvSpPr>
        <p:spPr>
          <a:xfrm>
            <a:off x="320040" y="4700016"/>
            <a:ext cx="235915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Next Gen IA agéntica (casos líderes)</a:t>
            </a:r>
          </a:p>
        </p:txBody>
      </p:sp>
      <p:sp>
        <p:nvSpPr>
          <p:cNvPr id="60" name="mh"/>
          <p:cNvSpPr txBox="1">
            <a:spLocks noGrp="1"/>
          </p:cNvSpPr>
          <p:nvPr/>
        </p:nvSpPr>
        <p:spPr>
          <a:xfrm>
            <a:off x="2834640" y="969264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MTTR (Mean Time to Resolution)</a:t>
            </a:r>
          </a:p>
        </p:txBody>
      </p:sp>
      <p:sp>
        <p:nvSpPr>
          <p:cNvPr id="70" name="tr"/>
          <p:cNvSpPr>
            <a:spLocks noGrp="1"/>
          </p:cNvSpPr>
          <p:nvPr/>
        </p:nvSpPr>
        <p:spPr>
          <a:xfrm>
            <a:off x="2834640" y="1261872"/>
            <a:ext cx="2359152" cy="237744"/>
          </a:xfrm>
          <a:prstGeom prst="rect">
            <a:avLst/>
          </a:prstGeom>
          <a:solidFill>
            <a:srgbClr val="F5E6E0"/>
          </a:solidFill>
          <a:ln>
            <a:noFill/>
          </a:ln>
        </p:spPr>
      </p:sp>
      <p:sp>
        <p:nvSpPr>
          <p:cNvPr id="71" name="fl"/>
          <p:cNvSpPr>
            <a:spLocks noGrp="1"/>
          </p:cNvSpPr>
          <p:nvPr/>
        </p:nvSpPr>
        <p:spPr>
          <a:xfrm>
            <a:off x="2834640" y="1261872"/>
            <a:ext cx="695949" cy="237744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72" name="lb"/>
          <p:cNvSpPr txBox="1">
            <a:spLocks noGrp="1"/>
          </p:cNvSpPr>
          <p:nvPr/>
        </p:nvSpPr>
        <p:spPr>
          <a:xfrm>
            <a:off x="2907792" y="1261872"/>
            <a:ext cx="604509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8.85h  Bueno (promedio industria)</a:t>
            </a:r>
          </a:p>
        </p:txBody>
      </p:sp>
      <p:sp>
        <p:nvSpPr>
          <p:cNvPr id="73" name="ms"/>
          <p:cNvSpPr txBox="1">
            <a:spLocks noGrp="1"/>
          </p:cNvSpPr>
          <p:nvPr/>
        </p:nvSpPr>
        <p:spPr>
          <a:xfrm>
            <a:off x="2834640" y="15179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Bueno / Promedio</a:t>
            </a:r>
          </a:p>
        </p:txBody>
      </p:sp>
      <p:sp>
        <p:nvSpPr>
          <p:cNvPr id="75" name="tr"/>
          <p:cNvSpPr>
            <a:spLocks noGrp="1"/>
          </p:cNvSpPr>
          <p:nvPr/>
        </p:nvSpPr>
        <p:spPr>
          <a:xfrm>
            <a:off x="2834640" y="171907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76" name="fl"/>
          <p:cNvSpPr>
            <a:spLocks noGrp="1"/>
          </p:cNvSpPr>
          <p:nvPr/>
        </p:nvSpPr>
        <p:spPr>
          <a:xfrm>
            <a:off x="2834640" y="1719072"/>
            <a:ext cx="314553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7" name="lb"/>
          <p:cNvSpPr txBox="1">
            <a:spLocks noGrp="1"/>
          </p:cNvSpPr>
          <p:nvPr/>
        </p:nvSpPr>
        <p:spPr>
          <a:xfrm>
            <a:off x="2907792" y="1719072"/>
            <a:ext cx="223113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menor 4h  World-Class</a:t>
            </a:r>
          </a:p>
        </p:txBody>
      </p:sp>
      <p:sp>
        <p:nvSpPr>
          <p:cNvPr id="78" name="ms"/>
          <p:cNvSpPr txBox="1">
            <a:spLocks noGrp="1"/>
          </p:cNvSpPr>
          <p:nvPr/>
        </p:nvSpPr>
        <p:spPr>
          <a:xfrm>
            <a:off x="2834640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World-Class</a:t>
            </a:r>
          </a:p>
        </p:txBody>
      </p:sp>
      <p:sp>
        <p:nvSpPr>
          <p:cNvPr id="80" name="tr"/>
          <p:cNvSpPr>
            <a:spLocks noGrp="1"/>
          </p:cNvSpPr>
          <p:nvPr/>
        </p:nvSpPr>
        <p:spPr>
          <a:xfrm>
            <a:off x="2834640" y="2176272"/>
            <a:ext cx="2359152" cy="237744"/>
          </a:xfrm>
          <a:prstGeom prst="rect">
            <a:avLst/>
          </a:prstGeom>
          <a:solidFill>
            <a:srgbClr val="D6DCE8"/>
          </a:solidFill>
          <a:ln>
            <a:noFill/>
          </a:ln>
        </p:spPr>
      </p:sp>
      <p:sp>
        <p:nvSpPr>
          <p:cNvPr id="81" name="fl"/>
          <p:cNvSpPr>
            <a:spLocks noGrp="1"/>
          </p:cNvSpPr>
          <p:nvPr/>
        </p:nvSpPr>
        <p:spPr>
          <a:xfrm>
            <a:off x="2834640" y="2176272"/>
            <a:ext cx="78638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2" name="lb"/>
          <p:cNvSpPr txBox="1">
            <a:spLocks noGrp="1"/>
          </p:cNvSpPr>
          <p:nvPr/>
        </p:nvSpPr>
        <p:spPr>
          <a:xfrm>
            <a:off x="2907792" y="217627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90" b="1" dirty="0">
                <a:solidFill>
                  <a:srgbClr val="FFFFFF"/>
                </a:solidFill>
                <a:latin typeface="Calibri"/>
              </a:rPr>
              <a:t>menor 1h  Gen Next (N5)</a:t>
            </a:r>
          </a:p>
        </p:txBody>
      </p:sp>
      <p:sp>
        <p:nvSpPr>
          <p:cNvPr id="83" name="ms"/>
          <p:cNvSpPr txBox="1">
            <a:spLocks noGrp="1"/>
          </p:cNvSpPr>
          <p:nvPr/>
        </p:nvSpPr>
        <p:spPr>
          <a:xfrm>
            <a:off x="2834640" y="24323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20" i="1" dirty="0">
                <a:solidFill>
                  <a:srgbClr val="6B7280"/>
                </a:solidFill>
                <a:latin typeface="Calibri"/>
              </a:rPr>
              <a:t>Gen Next N5</a:t>
            </a:r>
          </a:p>
        </p:txBody>
      </p:sp>
      <p:sp>
        <p:nvSpPr>
          <p:cNvPr id="85" name="pb"/>
          <p:cNvSpPr>
            <a:spLocks noGrp="1"/>
          </p:cNvSpPr>
          <p:nvPr/>
        </p:nvSpPr>
        <p:spPr>
          <a:xfrm>
            <a:off x="2834640" y="2688336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86" name="pf"/>
          <p:cNvSpPr>
            <a:spLocks noGrp="1"/>
          </p:cNvSpPr>
          <p:nvPr/>
        </p:nvSpPr>
        <p:spPr>
          <a:xfrm>
            <a:off x="2834640" y="2688336"/>
            <a:ext cx="234342" cy="237744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87" name="pl"/>
          <p:cNvSpPr txBox="1">
            <a:spLocks noGrp="1"/>
          </p:cNvSpPr>
          <p:nvPr/>
        </p:nvSpPr>
        <p:spPr>
          <a:xfrm>
            <a:off x="2889504" y="2688336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20" b="1" dirty="0">
                <a:solidFill>
                  <a:srgbClr val="1A6B3C"/>
                </a:solidFill>
                <a:latin typeface="Calibri"/>
              </a:rPr>
              <a:t>SURA Automatizacion: 2.98h ✓</a:t>
            </a:r>
          </a:p>
        </p:txBody>
      </p:sp>
      <p:sp>
        <p:nvSpPr>
          <p:cNvPr id="89" name="pb"/>
          <p:cNvSpPr>
            <a:spLocks noGrp="1"/>
          </p:cNvSpPr>
          <p:nvPr/>
        </p:nvSpPr>
        <p:spPr>
          <a:xfrm>
            <a:off x="2834640" y="3090672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0" name="pf"/>
          <p:cNvSpPr>
            <a:spLocks noGrp="1"/>
          </p:cNvSpPr>
          <p:nvPr/>
        </p:nvSpPr>
        <p:spPr>
          <a:xfrm>
            <a:off x="2834640" y="3090672"/>
            <a:ext cx="973543" cy="237744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91" name="pl"/>
          <p:cNvSpPr txBox="1">
            <a:spLocks noGrp="1"/>
          </p:cNvSpPr>
          <p:nvPr/>
        </p:nvSpPr>
        <p:spPr>
          <a:xfrm>
            <a:off x="2889504" y="3090672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Venta Digital: 12.38h</a:t>
            </a:r>
          </a:p>
        </p:txBody>
      </p:sp>
      <p:sp>
        <p:nvSpPr>
          <p:cNvPr id="93" name="pb"/>
          <p:cNvSpPr>
            <a:spLocks noGrp="1"/>
          </p:cNvSpPr>
          <p:nvPr/>
        </p:nvSpPr>
        <p:spPr>
          <a:xfrm>
            <a:off x="2834640" y="3493008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4" name="pf"/>
          <p:cNvSpPr>
            <a:spLocks noGrp="1"/>
          </p:cNvSpPr>
          <p:nvPr/>
        </p:nvSpPr>
        <p:spPr>
          <a:xfrm>
            <a:off x="2834640" y="3493008"/>
            <a:ext cx="1409200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5" name="pl"/>
          <p:cNvSpPr txBox="1">
            <a:spLocks noGrp="1"/>
          </p:cNvSpPr>
          <p:nvPr/>
        </p:nvSpPr>
        <p:spPr>
          <a:xfrm>
            <a:off x="2889504" y="3493008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Canales Masivos: 17.92h ⚠</a:t>
            </a:r>
          </a:p>
        </p:txBody>
      </p:sp>
      <p:sp>
        <p:nvSpPr>
          <p:cNvPr id="97" name="pb"/>
          <p:cNvSpPr>
            <a:spLocks noGrp="1"/>
          </p:cNvSpPr>
          <p:nvPr/>
        </p:nvSpPr>
        <p:spPr>
          <a:xfrm>
            <a:off x="2834640" y="3895344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8" name="pf"/>
          <p:cNvSpPr>
            <a:spLocks noGrp="1"/>
          </p:cNvSpPr>
          <p:nvPr/>
        </p:nvSpPr>
        <p:spPr>
          <a:xfrm>
            <a:off x="2834640" y="3895344"/>
            <a:ext cx="1932931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9" name="pl"/>
          <p:cNvSpPr txBox="1">
            <a:spLocks noGrp="1"/>
          </p:cNvSpPr>
          <p:nvPr/>
        </p:nvSpPr>
        <p:spPr>
          <a:xfrm>
            <a:off x="2889504" y="3895344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Cotizadores: 24.58h 🔴</a:t>
            </a:r>
          </a:p>
        </p:txBody>
      </p:sp>
      <p:sp>
        <p:nvSpPr>
          <p:cNvPr id="100" name="gih"/>
          <p:cNvSpPr txBox="1">
            <a:spLocks noGrp="1"/>
          </p:cNvSpPr>
          <p:nvPr/>
        </p:nvSpPr>
        <p:spPr>
          <a:xfrm>
            <a:off x="2834640" y="4389120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Impacto GenAI en Metricas</a:t>
            </a:r>
          </a:p>
        </p:txBody>
      </p:sp>
      <p:sp>
        <p:nvSpPr>
          <p:cNvPr id="105" name="gr"/>
          <p:cNvSpPr>
            <a:spLocks noGrp="1"/>
          </p:cNvSpPr>
          <p:nvPr/>
        </p:nvSpPr>
        <p:spPr>
          <a:xfrm>
            <a:off x="2834640" y="4663440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106" name="gm"/>
          <p:cNvSpPr txBox="1">
            <a:spLocks noGrp="1"/>
          </p:cNvSpPr>
          <p:nvPr/>
        </p:nvSpPr>
        <p:spPr>
          <a:xfrm>
            <a:off x="2889504" y="4663440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↓ MTTR</a:t>
            </a:r>
          </a:p>
        </p:txBody>
      </p:sp>
      <p:sp>
        <p:nvSpPr>
          <p:cNvPr id="107" name="gv"/>
          <p:cNvSpPr txBox="1">
            <a:spLocks noGrp="1"/>
          </p:cNvSpPr>
          <p:nvPr/>
        </p:nvSpPr>
        <p:spPr>
          <a:xfrm>
            <a:off x="4187952" y="4663440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r"/>
            <a:r>
              <a:rPr lang="es-ES" sz="940" b="1" dirty="0">
                <a:solidFill>
                  <a:srgbClr val="C00000"/>
                </a:solidFill>
                <a:latin typeface="Calibri"/>
              </a:rPr>
              <a:t>-26.6%</a:t>
            </a:r>
          </a:p>
        </p:txBody>
      </p:sp>
      <p:sp>
        <p:nvSpPr>
          <p:cNvPr id="108" name="gr"/>
          <p:cNvSpPr>
            <a:spLocks noGrp="1"/>
          </p:cNvSpPr>
          <p:nvPr/>
        </p:nvSpPr>
        <p:spPr>
          <a:xfrm>
            <a:off x="2834640" y="4919472"/>
            <a:ext cx="23591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09" name="gm"/>
          <p:cNvSpPr txBox="1">
            <a:spLocks noGrp="1"/>
          </p:cNvSpPr>
          <p:nvPr/>
        </p:nvSpPr>
        <p:spPr>
          <a:xfrm>
            <a:off x="2889504" y="491947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Resolucion</a:t>
            </a:r>
          </a:p>
        </p:txBody>
      </p:sp>
      <p:sp>
        <p:nvSpPr>
          <p:cNvPr id="110" name="gv"/>
          <p:cNvSpPr txBox="1">
            <a:spLocks noGrp="1"/>
          </p:cNvSpPr>
          <p:nvPr/>
        </p:nvSpPr>
        <p:spPr>
          <a:xfrm>
            <a:off x="4187952" y="4919472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r"/>
            <a:r>
              <a:rPr lang="es-ES" sz="940" b="1" dirty="0">
                <a:solidFill>
                  <a:srgbClr val="1A6B3C"/>
                </a:solidFill>
                <a:latin typeface="Calibri"/>
              </a:rPr>
              <a:t>+34.6%</a:t>
            </a:r>
          </a:p>
        </p:txBody>
      </p:sp>
      <p:sp>
        <p:nvSpPr>
          <p:cNvPr id="111" name="gr"/>
          <p:cNvSpPr>
            <a:spLocks noGrp="1"/>
          </p:cNvSpPr>
          <p:nvPr/>
        </p:nvSpPr>
        <p:spPr>
          <a:xfrm>
            <a:off x="2834640" y="5175504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112" name="gm"/>
          <p:cNvSpPr txBox="1">
            <a:spLocks noGrp="1"/>
          </p:cNvSpPr>
          <p:nvPr/>
        </p:nvSpPr>
        <p:spPr>
          <a:xfrm>
            <a:off x="2889504" y="517550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CSAT c/espera</a:t>
            </a:r>
          </a:p>
        </p:txBody>
      </p:sp>
      <p:sp>
        <p:nvSpPr>
          <p:cNvPr id="113" name="gv"/>
          <p:cNvSpPr txBox="1">
            <a:spLocks noGrp="1"/>
          </p:cNvSpPr>
          <p:nvPr/>
        </p:nvSpPr>
        <p:spPr>
          <a:xfrm>
            <a:off x="4187952" y="5175504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r"/>
            <a:r>
              <a:rPr lang="es-ES" sz="940" b="1" dirty="0">
                <a:solidFill>
                  <a:srgbClr val="1A6B3C"/>
                </a:solidFill>
                <a:latin typeface="Calibri"/>
              </a:rPr>
              <a:t>+15-22 pts</a:t>
            </a:r>
          </a:p>
        </p:txBody>
      </p:sp>
      <p:sp>
        <p:nvSpPr>
          <p:cNvPr id="114" name="gr"/>
          <p:cNvSpPr>
            <a:spLocks noGrp="1"/>
          </p:cNvSpPr>
          <p:nvPr/>
        </p:nvSpPr>
        <p:spPr>
          <a:xfrm>
            <a:off x="2834640" y="5431536"/>
            <a:ext cx="23591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15" name="gm"/>
          <p:cNvSpPr txBox="1">
            <a:spLocks noGrp="1"/>
          </p:cNvSpPr>
          <p:nvPr/>
        </p:nvSpPr>
        <p:spPr>
          <a:xfrm>
            <a:off x="2889504" y="543153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FCR con KCS+IA</a:t>
            </a:r>
          </a:p>
        </p:txBody>
      </p:sp>
      <p:sp>
        <p:nvSpPr>
          <p:cNvPr id="116" name="gv"/>
          <p:cNvSpPr txBox="1">
            <a:spLocks noGrp="1"/>
          </p:cNvSpPr>
          <p:nvPr/>
        </p:nvSpPr>
        <p:spPr>
          <a:xfrm>
            <a:off x="4187952" y="5431536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r"/>
            <a:r>
              <a:rPr lang="es-ES" sz="940" b="1" dirty="0">
                <a:solidFill>
                  <a:srgbClr val="1A6B3C"/>
                </a:solidFill>
                <a:latin typeface="Calibri"/>
              </a:rPr>
              <a:t>5-7 pts</a:t>
            </a:r>
          </a:p>
        </p:txBody>
      </p:sp>
      <p:sp>
        <p:nvSpPr>
          <p:cNvPr id="120" name="ch"/>
          <p:cNvSpPr txBox="1">
            <a:spLocks noGrp="1"/>
          </p:cNvSpPr>
          <p:nvPr/>
        </p:nvSpPr>
        <p:spPr>
          <a:xfrm>
            <a:off x="5358384" y="96926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Costo por Ticket (USD)</a:t>
            </a:r>
          </a:p>
        </p:txBody>
      </p:sp>
      <p:sp>
        <p:nvSpPr>
          <p:cNvPr id="130" name="fl"/>
          <p:cNvSpPr>
            <a:spLocks noGrp="1"/>
          </p:cNvSpPr>
          <p:nvPr/>
        </p:nvSpPr>
        <p:spPr>
          <a:xfrm>
            <a:off x="5358384" y="1261872"/>
            <a:ext cx="33410" cy="219456"/>
          </a:xfrm>
          <a:prstGeom prst="rect">
            <a:avLst/>
          </a:prstGeom>
          <a:solidFill>
            <a:srgbClr val="2A6B3C"/>
          </a:solidFill>
          <a:ln>
            <a:noFill/>
          </a:ln>
        </p:spPr>
      </p:sp>
      <p:sp>
        <p:nvSpPr>
          <p:cNvPr id="131" name="cl"/>
          <p:cNvSpPr txBox="1">
            <a:spLocks noGrp="1"/>
          </p:cNvSpPr>
          <p:nvPr/>
        </p:nvSpPr>
        <p:spPr>
          <a:xfrm>
            <a:off x="5413248" y="1261872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N0: $2</a:t>
            </a:r>
          </a:p>
        </p:txBody>
      </p:sp>
      <p:sp>
        <p:nvSpPr>
          <p:cNvPr id="132" name="cd"/>
          <p:cNvSpPr txBox="1">
            <a:spLocks noGrp="1"/>
          </p:cNvSpPr>
          <p:nvPr/>
        </p:nvSpPr>
        <p:spPr>
          <a:xfrm>
            <a:off x="5483234" y="1261872"/>
            <a:ext cx="251776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Autoservicio</a:t>
            </a:r>
          </a:p>
        </p:txBody>
      </p:sp>
      <p:sp>
        <p:nvSpPr>
          <p:cNvPr id="134" name="fl"/>
          <p:cNvSpPr>
            <a:spLocks noGrp="1"/>
          </p:cNvSpPr>
          <p:nvPr/>
        </p:nvSpPr>
        <p:spPr>
          <a:xfrm>
            <a:off x="5358384" y="1609344"/>
            <a:ext cx="46775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35" name="cl"/>
          <p:cNvSpPr txBox="1">
            <a:spLocks noGrp="1"/>
          </p:cNvSpPr>
          <p:nvPr/>
        </p:nvSpPr>
        <p:spPr>
          <a:xfrm>
            <a:off x="5413248" y="1609344"/>
            <a:ext cx="394598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N1: $22-35</a:t>
            </a:r>
          </a:p>
        </p:txBody>
      </p:sp>
      <p:sp>
        <p:nvSpPr>
          <p:cNvPr id="136" name="cd"/>
          <p:cNvSpPr txBox="1">
            <a:spLocks noGrp="1"/>
          </p:cNvSpPr>
          <p:nvPr/>
        </p:nvSpPr>
        <p:spPr>
          <a:xfrm>
            <a:off x="5917574" y="1609344"/>
            <a:ext cx="208342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1er contacto</a:t>
            </a:r>
          </a:p>
        </p:txBody>
      </p:sp>
      <p:sp>
        <p:nvSpPr>
          <p:cNvPr id="138" name="fl"/>
          <p:cNvSpPr>
            <a:spLocks noGrp="1"/>
          </p:cNvSpPr>
          <p:nvPr/>
        </p:nvSpPr>
        <p:spPr>
          <a:xfrm>
            <a:off x="5358384" y="1956816"/>
            <a:ext cx="1152671" cy="219456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39" name="cl"/>
          <p:cNvSpPr txBox="1">
            <a:spLocks noGrp="1"/>
          </p:cNvSpPr>
          <p:nvPr/>
        </p:nvSpPr>
        <p:spPr>
          <a:xfrm>
            <a:off x="5413248" y="1956816"/>
            <a:ext cx="1079519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N2: $69</a:t>
            </a:r>
          </a:p>
        </p:txBody>
      </p:sp>
      <p:sp>
        <p:nvSpPr>
          <p:cNvPr id="140" name="cd"/>
          <p:cNvSpPr txBox="1">
            <a:spLocks noGrp="1"/>
          </p:cNvSpPr>
          <p:nvPr/>
        </p:nvSpPr>
        <p:spPr>
          <a:xfrm>
            <a:off x="6602495" y="1956816"/>
            <a:ext cx="1398505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Tecnico</a:t>
            </a:r>
          </a:p>
        </p:txBody>
      </p:sp>
      <p:sp>
        <p:nvSpPr>
          <p:cNvPr id="142" name="fl"/>
          <p:cNvSpPr>
            <a:spLocks noGrp="1"/>
          </p:cNvSpPr>
          <p:nvPr/>
        </p:nvSpPr>
        <p:spPr>
          <a:xfrm>
            <a:off x="5358384" y="2304288"/>
            <a:ext cx="1737360" cy="219456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143" name="cl"/>
          <p:cNvSpPr txBox="1">
            <a:spLocks noGrp="1"/>
          </p:cNvSpPr>
          <p:nvPr/>
        </p:nvSpPr>
        <p:spPr>
          <a:xfrm>
            <a:off x="5413248" y="2304288"/>
            <a:ext cx="1664208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40" b="1" dirty="0">
                <a:solidFill>
                  <a:srgbClr val="FFFFFF"/>
                </a:solidFill>
                <a:latin typeface="Calibri"/>
              </a:rPr>
              <a:t>N3: $104</a:t>
            </a:r>
          </a:p>
        </p:txBody>
      </p:sp>
      <p:sp>
        <p:nvSpPr>
          <p:cNvPr id="144" name="cd"/>
          <p:cNvSpPr txBox="1">
            <a:spLocks noGrp="1"/>
          </p:cNvSpPr>
          <p:nvPr/>
        </p:nvSpPr>
        <p:spPr>
          <a:xfrm>
            <a:off x="7187184" y="2304288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Arquitecto</a:t>
            </a:r>
          </a:p>
        </p:txBody>
      </p:sp>
      <p:sp>
        <p:nvSpPr>
          <p:cNvPr id="146" name="slbg"/>
          <p:cNvSpPr>
            <a:spLocks noGrp="1"/>
          </p:cNvSpPr>
          <p:nvPr/>
        </p:nvSpPr>
        <p:spPr>
          <a:xfrm>
            <a:off x="5358384" y="2651760"/>
            <a:ext cx="2596896" cy="292608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147" name="slt"/>
          <p:cNvSpPr txBox="1">
            <a:spLocks noGrp="1"/>
          </p:cNvSpPr>
          <p:nvPr/>
        </p:nvSpPr>
        <p:spPr>
          <a:xfrm>
            <a:off x="5449824" y="265176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860" b="1" dirty="0">
                <a:solidFill>
                  <a:srgbClr val="1A6B3C"/>
                </a:solidFill>
                <a:latin typeface="Calibri"/>
              </a:rPr>
              <a:t>↓ Shift-Left: cada punto de deflexion = ahorro $22-102</a:t>
            </a:r>
          </a:p>
        </p:txBody>
      </p:sp>
      <p:sp>
        <p:nvSpPr>
          <p:cNvPr id="148" name="psbg"/>
          <p:cNvSpPr>
            <a:spLocks noGrp="1"/>
          </p:cNvSpPr>
          <p:nvPr/>
        </p:nvSpPr>
        <p:spPr>
          <a:xfrm>
            <a:off x="5358384" y="2999232"/>
            <a:ext cx="2596896" cy="58521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149" name="psh"/>
          <p:cNvSpPr txBox="1">
            <a:spLocks noGrp="1"/>
          </p:cNvSpPr>
          <p:nvPr/>
        </p:nvSpPr>
        <p:spPr>
          <a:xfrm>
            <a:off x="5449824" y="3017520"/>
            <a:ext cx="241401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92400E"/>
                </a:solidFill>
                <a:latin typeface="Calibri"/>
              </a:rPr>
              <a:t>PS Mesas Actuales — Costo/ticket calculado</a:t>
            </a:r>
          </a:p>
        </p:txBody>
      </p:sp>
      <p:sp>
        <p:nvSpPr>
          <p:cNvPr id="150" name="psr"/>
          <p:cNvSpPr txBox="1">
            <a:spLocks noGrp="1"/>
          </p:cNvSpPr>
          <p:nvPr/>
        </p:nvSpPr>
        <p:spPr>
          <a:xfrm>
            <a:off x="5449824" y="3218688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Cotizadores: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$40  vs $35 ind. +$5</a:t>
            </a:r>
          </a:p>
        </p:txBody>
      </p:sp>
      <p:sp>
        <p:nvSpPr>
          <p:cNvPr id="151" name="psr"/>
          <p:cNvSpPr txBox="1">
            <a:spLocks noGrp="1"/>
          </p:cNvSpPr>
          <p:nvPr/>
        </p:nvSpPr>
        <p:spPr>
          <a:xfrm>
            <a:off x="5449824" y="3346704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SURA Automatizacion: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$39  vs $35 ind. +$4</a:t>
            </a:r>
          </a:p>
        </p:txBody>
      </p:sp>
      <p:sp>
        <p:nvSpPr>
          <p:cNvPr id="152" name="psr"/>
          <p:cNvSpPr txBox="1">
            <a:spLocks noGrp="1"/>
          </p:cNvSpPr>
          <p:nvPr/>
        </p:nvSpPr>
        <p:spPr>
          <a:xfrm>
            <a:off x="5449824" y="3474720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XM Apps Criticas: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$149  4 FTE / 90 tix/mes ⚠</a:t>
            </a:r>
          </a:p>
        </p:txBody>
      </p:sp>
      <p:sp>
        <p:nvSpPr>
          <p:cNvPr id="155" name="csath"/>
          <p:cNvSpPr txBox="1">
            <a:spLocks noGrp="1"/>
          </p:cNvSpPr>
          <p:nvPr/>
        </p:nvSpPr>
        <p:spPr>
          <a:xfrm>
            <a:off x="5358384" y="3657600"/>
            <a:ext cx="259689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100" b="1" dirty="0">
                <a:solidFill>
                  <a:srgbClr val="0D1B5E"/>
                </a:solidFill>
                <a:latin typeface="Calibri"/>
              </a:rPr>
              <a:t>CSAT Objetivo</a:t>
            </a:r>
          </a:p>
        </p:txBody>
      </p:sp>
      <p:sp>
        <p:nvSpPr>
          <p:cNvPr id="156" name="dout"/>
          <p:cNvSpPr>
            <a:spLocks noGrp="1"/>
          </p:cNvSpPr>
          <p:nvPr/>
        </p:nvSpPr>
        <p:spPr>
          <a:xfrm>
            <a:off x="5815584" y="3931920"/>
            <a:ext cx="1280160" cy="128016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44450">
            <a:solidFill>
              <a:srgbClr val="1B7B85"/>
            </a:solidFill>
          </a:ln>
        </p:spPr>
      </p:sp>
      <p:sp>
        <p:nvSpPr>
          <p:cNvPr id="157" name="din"/>
          <p:cNvSpPr>
            <a:spLocks noGrp="1"/>
          </p:cNvSpPr>
          <p:nvPr/>
        </p:nvSpPr>
        <p:spPr>
          <a:xfrm>
            <a:off x="6035040" y="4151376"/>
            <a:ext cx="841248" cy="841248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8" name="dn"/>
          <p:cNvSpPr txBox="1">
            <a:spLocks noGrp="1"/>
          </p:cNvSpPr>
          <p:nvPr/>
        </p:nvSpPr>
        <p:spPr>
          <a:xfrm>
            <a:off x="5815584" y="416966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600" b="1" dirty="0">
                <a:solidFill>
                  <a:srgbClr val="0D1B5E"/>
                </a:solidFill>
                <a:latin typeface="Calibri"/>
              </a:rPr>
              <a:t>73-86%</a:t>
            </a:r>
          </a:p>
        </p:txBody>
      </p:sp>
      <p:sp>
        <p:nvSpPr>
          <p:cNvPr id="159" name="dl"/>
          <p:cNvSpPr txBox="1">
            <a:spLocks noGrp="1"/>
          </p:cNvSpPr>
          <p:nvPr/>
        </p:nvSpPr>
        <p:spPr>
          <a:xfrm>
            <a:off x="5815584" y="462686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20" dirty="0">
                <a:solidFill>
                  <a:srgbClr val="6B7280"/>
                </a:solidFill>
                <a:latin typeface="Calibri"/>
              </a:rPr>
              <a:t>industria</a:t>
            </a:r>
          </a:p>
        </p:txBody>
      </p:sp>
      <p:sp>
        <p:nvSpPr>
          <p:cNvPr id="160" name="dn5"/>
          <p:cNvSpPr txBox="1">
            <a:spLocks noGrp="1"/>
          </p:cNvSpPr>
          <p:nvPr/>
        </p:nvSpPr>
        <p:spPr>
          <a:xfrm>
            <a:off x="5815584" y="480974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80" b="1" dirty="0">
                <a:solidFill>
                  <a:srgbClr val="B45309"/>
                </a:solidFill>
                <a:latin typeface="Calibri"/>
              </a:rPr>
              <a:t>≥92% N5</a:t>
            </a:r>
          </a:p>
        </p:txBody>
      </p:sp>
      <p:sp>
        <p:nvSpPr>
          <p:cNvPr id="161" name="ps_cs"/>
          <p:cNvSpPr>
            <a:spLocks noGrp="1"/>
          </p:cNvSpPr>
          <p:nvPr/>
        </p:nvSpPr>
        <p:spPr>
          <a:xfrm>
            <a:off x="7223760" y="3931920"/>
            <a:ext cx="676656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162" name="ps_cst"/>
          <p:cNvSpPr txBox="1">
            <a:spLocks noGrp="1"/>
          </p:cNvSpPr>
          <p:nvPr/>
        </p:nvSpPr>
        <p:spPr>
          <a:xfrm>
            <a:off x="7278624" y="40965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PS:</a:t>
            </a:r>
          </a:p>
          <a:p>
            <a:pPr algn="l"/>
            <a:r>
              <a:rPr lang="es-ES" sz="840" dirty="0">
                <a:solidFill>
                  <a:srgbClr val="C00000"/>
                </a:solidFill>
                <a:latin typeface="Calibri"/>
              </a:rPr>
              <a:t>Sin CSAT</a:t>
            </a:r>
          </a:p>
          <a:p>
            <a:pPr algn="l"/>
            <a:r>
              <a:rPr lang="es-ES" sz="840" dirty="0">
                <a:solidFill>
                  <a:srgbClr val="C00000"/>
                </a:solidFill>
                <a:latin typeface="Calibri"/>
              </a:rPr>
              <a:t>formal</a:t>
            </a:r>
          </a:p>
        </p:txBody>
      </p:sp>
      <p:sp>
        <p:nvSpPr>
          <p:cNvPr id="180" name="src"/>
          <p:cNvSpPr txBox="1">
            <a:spLocks noGrp="1"/>
          </p:cNvSpPr>
          <p:nvPr/>
        </p:nvSpPr>
        <p:spPr>
          <a:xfrm>
            <a:off x="320040" y="437083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00" b="1" dirty="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2"/>
              </a:rPr>
              <a:t>SQM Group FCR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3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4"/>
              </a:rPr>
              <a:t>MetricNet/HDI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5"/>
              </a:rPr>
              <a:t>HelpDeskFocus / IrisAgent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6"/>
              </a:rPr>
              <a:t>Freshservice Benchmark 2024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7"/>
              </a:rPr>
              <a:t>HDI metrics / Giva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5"/>
              </a:rPr>
              <a:t>Kwestra servicedesk KPIs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u="sng" dirty="0">
                <a:solidFill>
                  <a:srgbClr val="1A3A8F"/>
                </a:solidFill>
                <a:latin typeface="Calibri"/>
                <a:hlinkClick r:id="rId8"/>
              </a:rPr>
              <a:t>InvGate ITSM Statistics</a:t>
            </a:r>
          </a:p>
        </p:txBody>
      </p:sp>
      <p:sp>
        <p:nvSpPr>
          <p:cNvPr id="181" name="srclev"/>
          <p:cNvSpPr txBox="1">
            <a:spLocks noGrp="1"/>
          </p:cNvSpPr>
          <p:nvPr/>
        </p:nvSpPr>
        <p:spPr>
          <a:xfrm>
            <a:off x="320040" y="4535424"/>
            <a:ext cx="7772400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Datos PS: Levantamiento interno PersonalSoft · Excel Levantamiento_Mesas_Julio_2026 · Transcripts reuniones: Elsy Marin (SURA), Michael Arevalo (AES), Diego Serna (XM), Virginia &amp; Lina (BCO), Bancolombia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Metodologia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8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9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MEDICARTE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MEDI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</p:sp>
      <p:sp>
        <p:nvSpPr>
          <p:cNvPr id="13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80" b="1" dirty="0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4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15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16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7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8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19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44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60" b="1" dirty="0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 dirty="0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 dirty="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 dirty="0">
                <a:solidFill>
                  <a:srgbClr val="1A6B3C"/>
                </a:solidFill>
                <a:latin typeface="Calibri"/>
              </a:rPr>
              <a:t>✓  MEDICARTE — Mejor desempeño: </a:t>
            </a:r>
            <a:r>
              <a:rPr lang="es-ES" sz="840" dirty="0">
                <a:solidFill>
                  <a:srgbClr val="1A6B3C"/>
                </a:solidFill>
                <a:latin typeface="Calibri"/>
              </a:rPr>
              <a:t>FCR 68% · MTTR 0.55h · SLA 89% · 8% autoservicio N0. Unica mesa con metricas formales. Referencia de como deberian verse todas.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Transcripts: Elsy Marin (SURA), Michael Arevalo (AES), Diego Serna (XM), Virginia &amp; Lina (BCO), Bancolombia · Benchmarks: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2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3"/>
              </a:rPr>
              <a:t>MetricNet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4"/>
              </a:rPr>
              <a:t>Gartner Cost per Ticket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2654</Words>
  <Application>Microsoft Office PowerPoint</Application>
  <PresentationFormat>Presentación en pantalla (16:9)</PresentationFormat>
  <Paragraphs>786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Calibri</vt:lpstr>
      <vt:lpstr>Reddit Sans Light</vt:lpstr>
      <vt:lpstr>Reddit Sans SemiBold</vt:lpstr>
      <vt:lpstr>Reddit Sans Black</vt:lpstr>
      <vt:lpstr>Arial</vt:lpstr>
      <vt:lpstr>Reddit Sans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1365</cp:revision>
  <dcterms:modified xsi:type="dcterms:W3CDTF">2026-07-12T15:20:40Z</dcterms:modified>
</cp:coreProperties>
</file>