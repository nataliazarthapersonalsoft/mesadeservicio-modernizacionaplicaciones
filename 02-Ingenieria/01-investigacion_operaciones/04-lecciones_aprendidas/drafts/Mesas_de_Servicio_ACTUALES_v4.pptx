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11"/>
  </p:notesMasterIdLst>
  <p:sldIdLst>
    <p:sldId id="293" r:id="rId3"/>
    <p:sldId id="306" r:id="rId4"/>
    <p:sldId id="318" r:id="rId5"/>
    <p:sldId id="273" r:id="rId6"/>
    <p:sldId id="274" r:id="rId7"/>
    <p:sldId id="319" r:id="rId8"/>
    <p:sldId id="320" r:id="rId9"/>
    <p:sldId id="321" r:id="rId10"/>
  </p:sldIdLst>
  <p:sldSz cx="9144000" cy="5143500" type="screen16x9"/>
  <p:notesSz cx="6858000" cy="9144000"/>
  <p:embeddedFontLst>
    <p:embeddedFont>
      <p:font typeface="Reddit Sans" panose="020B0604020202020204" charset="0"/>
      <p:regular r:id="rId12"/>
      <p:bold r:id="rId13"/>
      <p:italic r:id="rId14"/>
      <p:boldItalic r:id="rId15"/>
    </p:embeddedFont>
    <p:embeddedFont>
      <p:font typeface="Reddit Sans SemiBol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6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invgate.com/itsm-statistics" TargetMode="External"/><Relationship Id="rId3" Type="http://schemas.openxmlformats.org/officeDocument/2006/relationships/hyperlink" Target="https://www.thinkhdi.com/~/media/HDICorp/Files/Standards/HDI-SC-Standard-v-5-0.pdf" TargetMode="External"/><Relationship Id="rId7" Type="http://schemas.openxmlformats.org/officeDocument/2006/relationships/hyperlink" Target="https://www.givainc.com/blog/shift-left-analysis-how-to-guide-maximize-it-service-management-itsm-efficiency/" TargetMode="External"/><Relationship Id="rId2" Type="http://schemas.openxmlformats.org/officeDocument/2006/relationships/hyperlink" Target="https://www.sqmgroup.com/resources/library/blog/what-good-first-call-resolution-rat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shservice.com/assets/resources/freshservice/freshservice-it-service-management-benchmark-report-2024.pdf" TargetMode="External"/><Relationship Id="rId5" Type="http://schemas.openxmlformats.org/officeDocument/2006/relationships/hyperlink" Target="https://kwestra.com/service-desk-kpis/" TargetMode="External"/><Relationship Id="rId4" Type="http://schemas.openxmlformats.org/officeDocument/2006/relationships/hyperlink" Target="https://www.metricnet.com/service-desk-benchmark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Diagnostico actual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Clasificacion por Nivel de Madurez — Donde estamos hoy?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12 mesas · 5 clientes · Julio 2026 · Levantamiento interno PersonalSoft</a:t>
            </a:r>
          </a:p>
        </p:txBody>
      </p:sp>
      <p:sp>
        <p:nvSpPr>
          <p:cNvPr id="10" name="bg2"/>
          <p:cNvSpPr>
            <a:spLocks noGrp="1"/>
          </p:cNvSpPr>
          <p:nvPr/>
        </p:nvSpPr>
        <p:spPr>
          <a:xfrm>
            <a:off x="320040" y="786384"/>
            <a:ext cx="7818120" cy="120700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C00000"/>
            </a:solidFill>
          </a:ln>
        </p:spPr>
      </p:sp>
      <p:sp>
        <p:nvSpPr>
          <p:cNvPr id="11" name="nb"/>
          <p:cNvSpPr>
            <a:spLocks noGrp="1"/>
          </p:cNvSpPr>
          <p:nvPr/>
        </p:nvSpPr>
        <p:spPr>
          <a:xfrm>
            <a:off x="320040" y="786384"/>
            <a:ext cx="713232" cy="120700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nt"/>
          <p:cNvSpPr txBox="1">
            <a:spLocks noGrp="1"/>
          </p:cNvSpPr>
          <p:nvPr/>
        </p:nvSpPr>
        <p:spPr>
          <a:xfrm>
            <a:off x="320040" y="877824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3" name="nl"/>
          <p:cNvSpPr txBox="1">
            <a:spLocks noGrp="1"/>
          </p:cNvSpPr>
          <p:nvPr/>
        </p:nvSpPr>
        <p:spPr>
          <a:xfrm>
            <a:off x="320040" y="142646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4" name="nd"/>
          <p:cNvSpPr txBox="1">
            <a:spLocks noGrp="1"/>
          </p:cNvSpPr>
          <p:nvPr/>
        </p:nvSpPr>
        <p:spPr>
          <a:xfrm>
            <a:off x="1097280" y="8595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Reactivo total · sin gobierno</a:t>
            </a:r>
          </a:p>
        </p:txBody>
      </p:sp>
      <p:sp>
        <p:nvSpPr>
          <p:cNvPr id="15" name="ns"/>
          <p:cNvSpPr txBox="1">
            <a:spLocks noGrp="1"/>
          </p:cNvSpPr>
          <p:nvPr/>
        </p:nvSpPr>
        <p:spPr>
          <a:xfrm>
            <a:off x="1097280" y="113385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Sin RACI · Sin KEDB · Sin ANS</a:t>
            </a:r>
          </a:p>
        </p:txBody>
      </p:sp>
      <p:sp>
        <p:nvSpPr>
          <p:cNvPr id="20" name="mc"/>
          <p:cNvSpPr>
            <a:spLocks noGrp="1"/>
          </p:cNvSpPr>
          <p:nvPr/>
        </p:nvSpPr>
        <p:spPr>
          <a:xfrm>
            <a:off x="2578608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1" name="mb"/>
          <p:cNvSpPr>
            <a:spLocks noGrp="1"/>
          </p:cNvSpPr>
          <p:nvPr/>
        </p:nvSpPr>
        <p:spPr>
          <a:xfrm>
            <a:off x="2578608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2" name="mn"/>
          <p:cNvSpPr txBox="1">
            <a:spLocks noGrp="1"/>
          </p:cNvSpPr>
          <p:nvPr/>
        </p:nvSpPr>
        <p:spPr>
          <a:xfrm>
            <a:off x="2633472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AES</a:t>
            </a:r>
          </a:p>
        </p:txBody>
      </p:sp>
      <p:sp>
        <p:nvSpPr>
          <p:cNvPr id="23" name="mi"/>
          <p:cNvSpPr txBox="1">
            <a:spLocks noGrp="1"/>
          </p:cNvSpPr>
          <p:nvPr/>
        </p:nvSpPr>
        <p:spPr>
          <a:xfrm>
            <a:off x="2633472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Soporte IT/OT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Energia · 4 FTE</a:t>
            </a:r>
          </a:p>
        </p:txBody>
      </p:sp>
      <p:sp>
        <p:nvSpPr>
          <p:cNvPr id="24" name="mc"/>
          <p:cNvSpPr>
            <a:spLocks noGrp="1"/>
          </p:cNvSpPr>
          <p:nvPr/>
        </p:nvSpPr>
        <p:spPr>
          <a:xfrm>
            <a:off x="3364992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5" name="mb"/>
          <p:cNvSpPr>
            <a:spLocks noGrp="1"/>
          </p:cNvSpPr>
          <p:nvPr/>
        </p:nvSpPr>
        <p:spPr>
          <a:xfrm>
            <a:off x="3364992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6" name="mn"/>
          <p:cNvSpPr txBox="1">
            <a:spLocks noGrp="1"/>
          </p:cNvSpPr>
          <p:nvPr/>
        </p:nvSpPr>
        <p:spPr>
          <a:xfrm>
            <a:off x="3419856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BCO COES
Integracion</a:t>
            </a:r>
          </a:p>
        </p:txBody>
      </p:sp>
      <p:sp>
        <p:nvSpPr>
          <p:cNvPr id="27" name="mi"/>
          <p:cNvSpPr txBox="1">
            <a:spLocks noGrp="1"/>
          </p:cNvSpPr>
          <p:nvPr/>
        </p:nvSpPr>
        <p:spPr>
          <a:xfrm>
            <a:off x="3419856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Banca · 7 FTE</a:t>
            </a:r>
          </a:p>
        </p:txBody>
      </p:sp>
      <p:sp>
        <p:nvSpPr>
          <p:cNvPr id="28" name="mc"/>
          <p:cNvSpPr>
            <a:spLocks noGrp="1"/>
          </p:cNvSpPr>
          <p:nvPr/>
        </p:nvSpPr>
        <p:spPr>
          <a:xfrm>
            <a:off x="4151376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9" name="mb"/>
          <p:cNvSpPr>
            <a:spLocks noGrp="1"/>
          </p:cNvSpPr>
          <p:nvPr/>
        </p:nvSpPr>
        <p:spPr>
          <a:xfrm>
            <a:off x="4151376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0" name="mn"/>
          <p:cNvSpPr txBox="1">
            <a:spLocks noGrp="1"/>
          </p:cNvSpPr>
          <p:nvPr/>
        </p:nvSpPr>
        <p:spPr>
          <a:xfrm>
            <a:off x="4206240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BCO COES
Datos</a:t>
            </a:r>
          </a:p>
        </p:txBody>
      </p:sp>
      <p:sp>
        <p:nvSpPr>
          <p:cNvPr id="31" name="mi"/>
          <p:cNvSpPr txBox="1">
            <a:spLocks noGrp="1"/>
          </p:cNvSpPr>
          <p:nvPr/>
        </p:nvSpPr>
        <p:spPr>
          <a:xfrm>
            <a:off x="4206240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Banca · 7 FTE</a:t>
            </a:r>
          </a:p>
        </p:txBody>
      </p:sp>
      <p:sp>
        <p:nvSpPr>
          <p:cNvPr id="32" name="mc"/>
          <p:cNvSpPr>
            <a:spLocks noGrp="1"/>
          </p:cNvSpPr>
          <p:nvPr/>
        </p:nvSpPr>
        <p:spPr>
          <a:xfrm>
            <a:off x="4937760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3" name="mb"/>
          <p:cNvSpPr>
            <a:spLocks noGrp="1"/>
          </p:cNvSpPr>
          <p:nvPr/>
        </p:nvSpPr>
        <p:spPr>
          <a:xfrm>
            <a:off x="4937760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4" name="mn"/>
          <p:cNvSpPr txBox="1">
            <a:spLocks noGrp="1"/>
          </p:cNvSpPr>
          <p:nvPr/>
        </p:nvSpPr>
        <p:spPr>
          <a:xfrm>
            <a:off x="4992624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BCO
Soporte</a:t>
            </a:r>
          </a:p>
        </p:txBody>
      </p:sp>
      <p:sp>
        <p:nvSpPr>
          <p:cNvPr id="35" name="mi"/>
          <p:cNvSpPr txBox="1">
            <a:spLocks noGrp="1"/>
          </p:cNvSpPr>
          <p:nvPr/>
        </p:nvSpPr>
        <p:spPr>
          <a:xfrm>
            <a:off x="4992624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Aplicaciones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Banca · 13 FTE</a:t>
            </a:r>
          </a:p>
        </p:txBody>
      </p:sp>
      <p:sp>
        <p:nvSpPr>
          <p:cNvPr id="36" name="mc"/>
          <p:cNvSpPr>
            <a:spLocks noGrp="1"/>
          </p:cNvSpPr>
          <p:nvPr/>
        </p:nvSpPr>
        <p:spPr>
          <a:xfrm>
            <a:off x="5724144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7" name="mb"/>
          <p:cNvSpPr>
            <a:spLocks noGrp="1"/>
          </p:cNvSpPr>
          <p:nvPr/>
        </p:nvSpPr>
        <p:spPr>
          <a:xfrm>
            <a:off x="5724144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8" name="mn"/>
          <p:cNvSpPr txBox="1">
            <a:spLocks noGrp="1"/>
          </p:cNvSpPr>
          <p:nvPr/>
        </p:nvSpPr>
        <p:spPr>
          <a:xfrm>
            <a:off x="5779008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BCO COES
Emma</a:t>
            </a:r>
          </a:p>
        </p:txBody>
      </p:sp>
      <p:sp>
        <p:nvSpPr>
          <p:cNvPr id="39" name="mi"/>
          <p:cNvSpPr txBox="1">
            <a:spLocks noGrp="1"/>
          </p:cNvSpPr>
          <p:nvPr/>
        </p:nvSpPr>
        <p:spPr>
          <a:xfrm>
            <a:off x="5779008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Banca · 4 FTE</a:t>
            </a:r>
          </a:p>
        </p:txBody>
      </p:sp>
      <p:sp>
        <p:nvSpPr>
          <p:cNvPr id="40" name="mc"/>
          <p:cNvSpPr>
            <a:spLocks noGrp="1"/>
          </p:cNvSpPr>
          <p:nvPr/>
        </p:nvSpPr>
        <p:spPr>
          <a:xfrm>
            <a:off x="6510528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41" name="mb"/>
          <p:cNvSpPr>
            <a:spLocks noGrp="1"/>
          </p:cNvSpPr>
          <p:nvPr/>
        </p:nvSpPr>
        <p:spPr>
          <a:xfrm>
            <a:off x="6510528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2" name="mn"/>
          <p:cNvSpPr txBox="1">
            <a:spLocks noGrp="1"/>
          </p:cNvSpPr>
          <p:nvPr/>
        </p:nvSpPr>
        <p:spPr>
          <a:xfrm>
            <a:off x="6565392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BCO Emma
iSeries</a:t>
            </a:r>
          </a:p>
        </p:txBody>
      </p:sp>
      <p:sp>
        <p:nvSpPr>
          <p:cNvPr id="43" name="mi"/>
          <p:cNvSpPr txBox="1">
            <a:spLocks noGrp="1"/>
          </p:cNvSpPr>
          <p:nvPr/>
        </p:nvSpPr>
        <p:spPr>
          <a:xfrm>
            <a:off x="6565392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iSeries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Banca · 1 FTE</a:t>
            </a:r>
          </a:p>
        </p:txBody>
      </p:sp>
      <p:sp>
        <p:nvSpPr>
          <p:cNvPr id="44" name="mc"/>
          <p:cNvSpPr>
            <a:spLocks noGrp="1"/>
          </p:cNvSpPr>
          <p:nvPr/>
        </p:nvSpPr>
        <p:spPr>
          <a:xfrm>
            <a:off x="7296912" y="859536"/>
            <a:ext cx="7498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45" name="mb"/>
          <p:cNvSpPr>
            <a:spLocks noGrp="1"/>
          </p:cNvSpPr>
          <p:nvPr/>
        </p:nvSpPr>
        <p:spPr>
          <a:xfrm>
            <a:off x="7296912" y="859536"/>
            <a:ext cx="74980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6" name="mn"/>
          <p:cNvSpPr txBox="1">
            <a:spLocks noGrp="1"/>
          </p:cNvSpPr>
          <p:nvPr/>
        </p:nvSpPr>
        <p:spPr>
          <a:xfrm>
            <a:off x="7351776" y="914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00000"/>
                </a:solidFill>
                <a:latin typeface="Calibri"/>
              </a:rPr>
              <a:t>MEDICARTE</a:t>
            </a:r>
          </a:p>
        </p:txBody>
      </p:sp>
      <p:sp>
        <p:nvSpPr>
          <p:cNvPr id="47" name="mi"/>
          <p:cNvSpPr txBox="1">
            <a:spLocks noGrp="1"/>
          </p:cNvSpPr>
          <p:nvPr/>
        </p:nvSpPr>
        <p:spPr>
          <a:xfrm>
            <a:off x="7351776" y="122529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Mesa IT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Salud · 12 FTE</a:t>
            </a:r>
          </a:p>
        </p:txBody>
      </p:sp>
      <p:sp>
        <p:nvSpPr>
          <p:cNvPr id="100" name="bg2"/>
          <p:cNvSpPr>
            <a:spLocks noGrp="1"/>
          </p:cNvSpPr>
          <p:nvPr/>
        </p:nvSpPr>
        <p:spPr>
          <a:xfrm>
            <a:off x="320040" y="2121408"/>
            <a:ext cx="7818120" cy="120700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</p:sp>
      <p:sp>
        <p:nvSpPr>
          <p:cNvPr id="101" name="nb"/>
          <p:cNvSpPr>
            <a:spLocks noGrp="1"/>
          </p:cNvSpPr>
          <p:nvPr/>
        </p:nvSpPr>
        <p:spPr>
          <a:xfrm>
            <a:off x="320040" y="2121408"/>
            <a:ext cx="713232" cy="1207008"/>
          </a:xfrm>
          <a:prstGeom prst="roundRect">
            <a:avLst>
              <a:gd name="adj" fmla="val 12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02" name="nt"/>
          <p:cNvSpPr txBox="1">
            <a:spLocks noGrp="1"/>
          </p:cNvSpPr>
          <p:nvPr/>
        </p:nvSpPr>
        <p:spPr>
          <a:xfrm>
            <a:off x="320040" y="2212848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03" name="nl"/>
          <p:cNvSpPr txBox="1">
            <a:spLocks noGrp="1"/>
          </p:cNvSpPr>
          <p:nvPr/>
        </p:nvSpPr>
        <p:spPr>
          <a:xfrm>
            <a:off x="320040" y="276148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Admin.</a:t>
            </a:r>
          </a:p>
        </p:txBody>
      </p:sp>
      <p:sp>
        <p:nvSpPr>
          <p:cNvPr id="104" name="nd"/>
          <p:cNvSpPr txBox="1">
            <a:spLocks noGrp="1"/>
          </p:cNvSpPr>
          <p:nvPr/>
        </p:nvSpPr>
        <p:spPr>
          <a:xfrm>
            <a:off x="1097280" y="219456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Procesos por mesa · herramienta</a:t>
            </a:r>
          </a:p>
        </p:txBody>
      </p:sp>
      <p:sp>
        <p:nvSpPr>
          <p:cNvPr id="105" name="ns"/>
          <p:cNvSpPr txBox="1">
            <a:spLocks noGrp="1"/>
          </p:cNvSpPr>
          <p:nvPr/>
        </p:nvSpPr>
        <p:spPr>
          <a:xfrm>
            <a:off x="1097280" y="246888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92400E"/>
                </a:solidFill>
                <a:latin typeface="Calibri"/>
              </a:rPr>
              <a:t>Sin gobierno centralizado · Sin RACI</a:t>
            </a:r>
          </a:p>
        </p:txBody>
      </p:sp>
      <p:sp>
        <p:nvSpPr>
          <p:cNvPr id="110" name="mc"/>
          <p:cNvSpPr>
            <a:spLocks noGrp="1"/>
          </p:cNvSpPr>
          <p:nvPr/>
        </p:nvSpPr>
        <p:spPr>
          <a:xfrm>
            <a:off x="2578608" y="2194560"/>
            <a:ext cx="106070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111" name="mb"/>
          <p:cNvSpPr>
            <a:spLocks noGrp="1"/>
          </p:cNvSpPr>
          <p:nvPr/>
        </p:nvSpPr>
        <p:spPr>
          <a:xfrm>
            <a:off x="2578608" y="2194560"/>
            <a:ext cx="1060704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12" name="mn"/>
          <p:cNvSpPr txBox="1">
            <a:spLocks noGrp="1"/>
          </p:cNvSpPr>
          <p:nvPr/>
        </p:nvSpPr>
        <p:spPr>
          <a:xfrm>
            <a:off x="2633472" y="2249424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Cotizadores</a:t>
            </a:r>
          </a:p>
        </p:txBody>
      </p:sp>
      <p:sp>
        <p:nvSpPr>
          <p:cNvPr id="113" name="mi"/>
          <p:cNvSpPr txBox="1">
            <a:spLocks noGrp="1"/>
          </p:cNvSpPr>
          <p:nvPr/>
        </p:nvSpPr>
        <p:spPr>
          <a:xfrm>
            <a:off x="2633472" y="2560320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114" name="mc"/>
          <p:cNvSpPr>
            <a:spLocks noGrp="1"/>
          </p:cNvSpPr>
          <p:nvPr/>
        </p:nvSpPr>
        <p:spPr>
          <a:xfrm>
            <a:off x="3730752" y="2194560"/>
            <a:ext cx="106070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115" name="mb"/>
          <p:cNvSpPr>
            <a:spLocks noGrp="1"/>
          </p:cNvSpPr>
          <p:nvPr/>
        </p:nvSpPr>
        <p:spPr>
          <a:xfrm>
            <a:off x="3730752" y="2194560"/>
            <a:ext cx="1060704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16" name="mn"/>
          <p:cNvSpPr txBox="1">
            <a:spLocks noGrp="1"/>
          </p:cNvSpPr>
          <p:nvPr/>
        </p:nvSpPr>
        <p:spPr>
          <a:xfrm>
            <a:off x="3785616" y="2249424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Venta Digital</a:t>
            </a:r>
          </a:p>
        </p:txBody>
      </p:sp>
      <p:sp>
        <p:nvSpPr>
          <p:cNvPr id="117" name="mi"/>
          <p:cNvSpPr txBox="1">
            <a:spLocks noGrp="1"/>
          </p:cNvSpPr>
          <p:nvPr/>
        </p:nvSpPr>
        <p:spPr>
          <a:xfrm>
            <a:off x="3785616" y="2560320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118" name="mc"/>
          <p:cNvSpPr>
            <a:spLocks noGrp="1"/>
          </p:cNvSpPr>
          <p:nvPr/>
        </p:nvSpPr>
        <p:spPr>
          <a:xfrm>
            <a:off x="4882896" y="2194560"/>
            <a:ext cx="106070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119" name="mb"/>
          <p:cNvSpPr>
            <a:spLocks noGrp="1"/>
          </p:cNvSpPr>
          <p:nvPr/>
        </p:nvSpPr>
        <p:spPr>
          <a:xfrm>
            <a:off x="4882896" y="2194560"/>
            <a:ext cx="1060704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0" name="mn"/>
          <p:cNvSpPr txBox="1">
            <a:spLocks noGrp="1"/>
          </p:cNvSpPr>
          <p:nvPr/>
        </p:nvSpPr>
        <p:spPr>
          <a:xfrm>
            <a:off x="4937760" y="2249424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Automatizacion</a:t>
            </a:r>
          </a:p>
        </p:txBody>
      </p:sp>
      <p:sp>
        <p:nvSpPr>
          <p:cNvPr id="121" name="mi"/>
          <p:cNvSpPr txBox="1">
            <a:spLocks noGrp="1"/>
          </p:cNvSpPr>
          <p:nvPr/>
        </p:nvSpPr>
        <p:spPr>
          <a:xfrm>
            <a:off x="4937760" y="2560320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Seguros · 6 FTE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BMC+Azure</a:t>
            </a:r>
          </a:p>
        </p:txBody>
      </p:sp>
      <p:sp>
        <p:nvSpPr>
          <p:cNvPr id="122" name="mc"/>
          <p:cNvSpPr>
            <a:spLocks noGrp="1"/>
          </p:cNvSpPr>
          <p:nvPr/>
        </p:nvSpPr>
        <p:spPr>
          <a:xfrm>
            <a:off x="6035040" y="2194560"/>
            <a:ext cx="106070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123" name="mb"/>
          <p:cNvSpPr>
            <a:spLocks noGrp="1"/>
          </p:cNvSpPr>
          <p:nvPr/>
        </p:nvSpPr>
        <p:spPr>
          <a:xfrm>
            <a:off x="6035040" y="2194560"/>
            <a:ext cx="1060704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4" name="mn"/>
          <p:cNvSpPr txBox="1">
            <a:spLocks noGrp="1"/>
          </p:cNvSpPr>
          <p:nvPr/>
        </p:nvSpPr>
        <p:spPr>
          <a:xfrm>
            <a:off x="6089904" y="2249424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Canales
Masivos</a:t>
            </a:r>
          </a:p>
        </p:txBody>
      </p:sp>
      <p:sp>
        <p:nvSpPr>
          <p:cNvPr id="125" name="mi"/>
          <p:cNvSpPr txBox="1">
            <a:spLocks noGrp="1"/>
          </p:cNvSpPr>
          <p:nvPr/>
        </p:nvSpPr>
        <p:spPr>
          <a:xfrm>
            <a:off x="6089904" y="2560320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Seguros · 1 FTE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126" name="mc"/>
          <p:cNvSpPr>
            <a:spLocks noGrp="1"/>
          </p:cNvSpPr>
          <p:nvPr/>
        </p:nvSpPr>
        <p:spPr>
          <a:xfrm>
            <a:off x="7187184" y="2194560"/>
            <a:ext cx="106070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127" name="mb"/>
          <p:cNvSpPr>
            <a:spLocks noGrp="1"/>
          </p:cNvSpPr>
          <p:nvPr/>
        </p:nvSpPr>
        <p:spPr>
          <a:xfrm>
            <a:off x="7187184" y="2194560"/>
            <a:ext cx="1060704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8" name="mn"/>
          <p:cNvSpPr txBox="1">
            <a:spLocks noGrp="1"/>
          </p:cNvSpPr>
          <p:nvPr/>
        </p:nvSpPr>
        <p:spPr>
          <a:xfrm>
            <a:off x="7242048" y="2249424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92400E"/>
                </a:solidFill>
                <a:latin typeface="Calibri"/>
              </a:rPr>
              <a:t>XM — Apps
Criticas</a:t>
            </a:r>
          </a:p>
        </p:txBody>
      </p:sp>
      <p:sp>
        <p:nvSpPr>
          <p:cNvPr id="129" name="mi"/>
          <p:cNvSpPr txBox="1">
            <a:spLocks noGrp="1"/>
          </p:cNvSpPr>
          <p:nvPr/>
        </p:nvSpPr>
        <p:spPr>
          <a:xfrm>
            <a:off x="7242048" y="2560320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dirty="0">
                <a:solidFill>
                  <a:srgbClr val="0D1B5E"/>
                </a:solidFill>
                <a:latin typeface="Calibri"/>
              </a:rPr>
              <a:t>Energia · 4 FTE</a:t>
            </a:r>
          </a:p>
          <a:p>
            <a:pPr algn="ctr"/>
            <a:r>
              <a:rPr lang="es-ES" sz="700" i="1" dirty="0">
                <a:solidFill>
                  <a:srgbClr val="6B7280"/>
                </a:solidFill>
                <a:latin typeface="Calibri"/>
              </a:rPr>
              <a:t>ServiceNow</a:t>
            </a:r>
          </a:p>
        </p:txBody>
      </p:sp>
      <p:sp>
        <p:nvSpPr>
          <p:cNvPr id="200" name="n3bg"/>
          <p:cNvSpPr>
            <a:spLocks noGrp="1"/>
          </p:cNvSpPr>
          <p:nvPr/>
        </p:nvSpPr>
        <p:spPr>
          <a:xfrm>
            <a:off x="320040" y="3456432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9050">
            <a:solidFill>
              <a:srgbClr val="1A6B3C"/>
            </a:solidFill>
          </a:ln>
        </p:spPr>
      </p:sp>
      <p:sp>
        <p:nvSpPr>
          <p:cNvPr id="201" name="n3b"/>
          <p:cNvSpPr>
            <a:spLocks noGrp="1"/>
          </p:cNvSpPr>
          <p:nvPr/>
        </p:nvSpPr>
        <p:spPr>
          <a:xfrm>
            <a:off x="320040" y="3456432"/>
            <a:ext cx="713232" cy="65836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02" name="n3t"/>
          <p:cNvSpPr txBox="1">
            <a:spLocks noGrp="1"/>
          </p:cNvSpPr>
          <p:nvPr/>
        </p:nvSpPr>
        <p:spPr>
          <a:xfrm>
            <a:off x="320040" y="3511296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203" name="n3l"/>
          <p:cNvSpPr txBox="1">
            <a:spLocks noGrp="1"/>
          </p:cNvSpPr>
          <p:nvPr/>
        </p:nvSpPr>
        <p:spPr>
          <a:xfrm>
            <a:off x="320040" y="385876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Definido</a:t>
            </a:r>
          </a:p>
        </p:txBody>
      </p:sp>
      <p:sp>
        <p:nvSpPr>
          <p:cNvPr id="204" name="n3d"/>
          <p:cNvSpPr txBox="1">
            <a:spLocks noGrp="1"/>
          </p:cNvSpPr>
          <p:nvPr/>
        </p:nvSpPr>
        <p:spPr>
          <a:xfrm>
            <a:off x="1097280" y="35478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b="1" dirty="0">
                <a:solidFill>
                  <a:srgbClr val="1A6B3C"/>
                </a:solidFill>
                <a:latin typeface="Calibri"/>
              </a:rPr>
              <a:t>RACI + ANS + Catalogo activo · KEDB · KPIs tiempo real · Gobierno claro</a:t>
            </a:r>
          </a:p>
        </p:txBody>
      </p:sp>
      <p:sp>
        <p:nvSpPr>
          <p:cNvPr id="205" name="n3s"/>
          <p:cNvSpPr txBox="1">
            <a:spLocks noGrp="1"/>
          </p:cNvSpPr>
          <p:nvPr/>
        </p:nvSpPr>
        <p:spPr>
          <a:xfrm>
            <a:off x="1097280" y="382219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i="1" dirty="0">
                <a:solidFill>
                  <a:srgbClr val="1A6B3C"/>
                </a:solidFill>
                <a:latin typeface="Calibri"/>
              </a:rPr>
              <a:t>Ninguna mesa llego a N3 aun — objetivo Wave 1 para todas antes de dic 2026</a:t>
            </a:r>
          </a:p>
        </p:txBody>
      </p:sp>
      <p:sp>
        <p:nvSpPr>
          <p:cNvPr id="206" name="n3goal"/>
          <p:cNvSpPr>
            <a:spLocks noGrp="1"/>
          </p:cNvSpPr>
          <p:nvPr/>
        </p:nvSpPr>
        <p:spPr>
          <a:xfrm>
            <a:off x="5029200" y="3547872"/>
            <a:ext cx="3017520" cy="47548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07" name="n3goalt"/>
          <p:cNvSpPr txBox="1">
            <a:spLocks noGrp="1"/>
          </p:cNvSpPr>
          <p:nvPr/>
        </p:nvSpPr>
        <p:spPr>
          <a:xfrm>
            <a:off x="5029200" y="354787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META WAVE 1 — Diciembre 2026</a:t>
            </a:r>
          </a:p>
        </p:txBody>
      </p:sp>
      <p:sp>
        <p:nvSpPr>
          <p:cNvPr id="21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Julio 2026 · Excel Levantamiento_Mesas_Julio_2026 · Transcripts: Elsy Marin (SURA), Michael Arevalo (AES), Diego Serna (XM), Virginia &amp; Lina (BCO), Bancolombia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N1 — Inicial: 7 Mesas Reactivas sin Gobierno Estandarizado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FFCCCC"/>
                </a:solidFill>
                <a:latin typeface="Calibri"/>
              </a:rPr>
              <a:t>AES · Bancolombia COES (5 mesas) · MEDICARTE · Caracteristica comun: todo lo resuelve una persona clave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5875">
            <a:solidFill>
              <a:srgbClr val="C00000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60704"/>
            <a:ext cx="2523744" cy="14630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65760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cf"/>
          <p:cNvSpPr txBox="1">
            <a:spLocks noGrp="1"/>
          </p:cNvSpPr>
          <p:nvPr/>
        </p:nvSpPr>
        <p:spPr>
          <a:xfrm>
            <a:off x="365760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4  ·  ServiceNow  ·  Energia · Central Hidroelectrica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65760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▷ Staffing · RFP pendiente · Fin Aug-Nov 2026 · OPORTUNIDAD</a:t>
            </a:r>
          </a:p>
        </p:txBody>
      </p:sp>
      <p:sp>
        <p:nvSpPr>
          <p:cNvPr id="16" name="sep"/>
          <p:cNvSpPr>
            <a:spLocks noGrp="1"/>
          </p:cNvSpPr>
          <p:nvPr/>
        </p:nvSpPr>
        <p:spPr>
          <a:xfrm>
            <a:off x="365760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7" name="d"/>
          <p:cNvSpPr txBox="1">
            <a:spLocks noGrp="1"/>
          </p:cNvSpPr>
          <p:nvPr/>
        </p:nvSpPr>
        <p:spPr>
          <a:xfrm>
            <a:off x="365760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65760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ni KPIs — nadie mide si el servicio es bueno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65760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— volumetria mal estimada en preventa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65760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de personal sin modelo de demanda estandarizado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65760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Herramientas fragmentadas — licencia ServiceNow es del cliente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65760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gobierno — sin RACI ni ANS formales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65760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Roles sin definir — criterio individual no modelo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65760" y="359359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solicitudes fuera del alcance absorbe al equipo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65760" y="385876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Escalamiento ineficiente — rebotes entre niveles</a:t>
            </a:r>
          </a:p>
        </p:txBody>
      </p:sp>
      <p:sp>
        <p:nvSpPr>
          <p:cNvPr id="40" name="card"/>
          <p:cNvSpPr>
            <a:spLocks noGrp="1"/>
          </p:cNvSpPr>
          <p:nvPr/>
        </p:nvSpPr>
        <p:spPr>
          <a:xfrm>
            <a:off x="2907792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41" name="chdr"/>
          <p:cNvSpPr>
            <a:spLocks noGrp="1"/>
          </p:cNvSpPr>
          <p:nvPr/>
        </p:nvSpPr>
        <p:spPr>
          <a:xfrm>
            <a:off x="2907792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chdr2"/>
          <p:cNvSpPr>
            <a:spLocks noGrp="1"/>
          </p:cNvSpPr>
          <p:nvPr/>
        </p:nvSpPr>
        <p:spPr>
          <a:xfrm>
            <a:off x="2907792" y="1060704"/>
            <a:ext cx="2523744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3" name="cn"/>
          <p:cNvSpPr txBox="1">
            <a:spLocks noGrp="1"/>
          </p:cNvSpPr>
          <p:nvPr/>
        </p:nvSpPr>
        <p:spPr>
          <a:xfrm>
            <a:off x="2999232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BCO — 5 Mesas COES</a:t>
            </a:r>
          </a:p>
        </p:txBody>
      </p:sp>
      <p:sp>
        <p:nvSpPr>
          <p:cNvPr id="44" name="cf"/>
          <p:cNvSpPr txBox="1">
            <a:spLocks noGrp="1"/>
          </p:cNvSpPr>
          <p:nvPr/>
        </p:nvSpPr>
        <p:spPr>
          <a:xfrm>
            <a:off x="2999232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32 total  ·  Helix (BMC)  ·  Banca · Bancolombia</a:t>
            </a:r>
          </a:p>
        </p:txBody>
      </p:sp>
      <p:sp>
        <p:nvSpPr>
          <p:cNvPr id="45" name="cc"/>
          <p:cNvSpPr txBox="1">
            <a:spLocks noGrp="1"/>
          </p:cNvSpPr>
          <p:nvPr/>
        </p:nvSpPr>
        <p:spPr>
          <a:xfrm>
            <a:off x="2999232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1A3A8F"/>
                </a:solidFill>
                <a:latin typeface="Calibri"/>
              </a:rPr>
              <a:t>▷ Levantamiento completo Julio 2026 · Virginia y Lina</a:t>
            </a:r>
          </a:p>
        </p:txBody>
      </p:sp>
      <p:sp>
        <p:nvSpPr>
          <p:cNvPr id="46" name="sep"/>
          <p:cNvSpPr>
            <a:spLocks noGrp="1"/>
          </p:cNvSpPr>
          <p:nvPr/>
        </p:nvSpPr>
        <p:spPr>
          <a:xfrm>
            <a:off x="2999232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7" name="d"/>
          <p:cNvSpPr txBox="1">
            <a:spLocks noGrp="1"/>
          </p:cNvSpPr>
          <p:nvPr/>
        </p:nvSpPr>
        <p:spPr>
          <a:xfrm>
            <a:off x="2999232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estandarizado — criterio experto individual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2999232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vendido vs ejecutado — volumetria sin datos reales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2999232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700 a 3.000 tickets/mes por mesa — sin SLA formal (solo ANS Banco y COES)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2999232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Rotacion de personal — perdida de conocimiento critico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2999232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2999232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MTTR: 30 min a 3h por mesa / Disponibilidad: 7x24</a:t>
            </a:r>
          </a:p>
        </p:txBody>
      </p:sp>
      <p:sp>
        <p:nvSpPr>
          <p:cNvPr id="53" name="d"/>
          <p:cNvSpPr txBox="1">
            <a:spLocks noGrp="1"/>
          </p:cNvSpPr>
          <p:nvPr/>
        </p:nvSpPr>
        <p:spPr>
          <a:xfrm>
            <a:off x="2999232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costo/ticket calculado — 'no manejo esa informacion'</a:t>
            </a:r>
          </a:p>
        </p:txBody>
      </p:sp>
      <p:sp>
        <p:nvSpPr>
          <p:cNvPr id="54" name="d"/>
          <p:cNvSpPr txBox="1">
            <a:spLocks noGrp="1"/>
          </p:cNvSpPr>
          <p:nvPr/>
        </p:nvSpPr>
        <p:spPr>
          <a:xfrm>
            <a:off x="2999232" y="359359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definicion clara de roles entre COES Integracion, Datos, Soporte, Emma, Emma iSeries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5541264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71" name="chdr"/>
          <p:cNvSpPr>
            <a:spLocks noGrp="1"/>
          </p:cNvSpPr>
          <p:nvPr/>
        </p:nvSpPr>
        <p:spPr>
          <a:xfrm>
            <a:off x="5541264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72" name="chdr2"/>
          <p:cNvSpPr>
            <a:spLocks noGrp="1"/>
          </p:cNvSpPr>
          <p:nvPr/>
        </p:nvSpPr>
        <p:spPr>
          <a:xfrm>
            <a:off x="5541264" y="1060704"/>
            <a:ext cx="252374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3" name="cn"/>
          <p:cNvSpPr txBox="1">
            <a:spLocks noGrp="1"/>
          </p:cNvSpPr>
          <p:nvPr/>
        </p:nvSpPr>
        <p:spPr>
          <a:xfrm>
            <a:off x="5632704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74" name="cf"/>
          <p:cNvSpPr txBox="1">
            <a:spLocks noGrp="1"/>
          </p:cNvSpPr>
          <p:nvPr/>
        </p:nvSpPr>
        <p:spPr>
          <a:xfrm>
            <a:off x="5632704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12  ·  Por definir  ·  Salud (EPS/IPS)</a:t>
            </a:r>
          </a:p>
        </p:txBody>
      </p:sp>
      <p:sp>
        <p:nvSpPr>
          <p:cNvPr id="75" name="cc"/>
          <p:cNvSpPr txBox="1">
            <a:spLocks noGrp="1"/>
          </p:cNvSpPr>
          <p:nvPr/>
        </p:nvSpPr>
        <p:spPr>
          <a:xfrm>
            <a:off x="5632704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1B7B85"/>
                </a:solidFill>
                <a:latin typeface="Calibri"/>
              </a:rPr>
              <a:t>▷ FCR 68% · MTTR 0.55h · SLA 89% · 8% autoservicio N0 — MEJOR desempeno</a:t>
            </a:r>
          </a:p>
        </p:txBody>
      </p:sp>
      <p:sp>
        <p:nvSpPr>
          <p:cNvPr id="76" name="sep"/>
          <p:cNvSpPr>
            <a:spLocks noGrp="1"/>
          </p:cNvSpPr>
          <p:nvPr/>
        </p:nvSpPr>
        <p:spPr>
          <a:xfrm>
            <a:off x="5632704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77" name="d"/>
          <p:cNvSpPr txBox="1">
            <a:spLocks noGrp="1"/>
          </p:cNvSpPr>
          <p:nvPr/>
        </p:nvSpPr>
        <p:spPr>
          <a:xfrm>
            <a:off x="5632704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FCR 68% — referencia de lo que deberan lograr todas las mesas</a:t>
            </a:r>
          </a:p>
        </p:txBody>
      </p:sp>
      <p:sp>
        <p:nvSpPr>
          <p:cNvPr id="78" name="d"/>
          <p:cNvSpPr txBox="1">
            <a:spLocks noGrp="1"/>
          </p:cNvSpPr>
          <p:nvPr/>
        </p:nvSpPr>
        <p:spPr>
          <a:xfrm>
            <a:off x="5632704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MTTR 0.55h — unica mesa bajo 4h · referencia world-class</a:t>
            </a:r>
          </a:p>
        </p:txBody>
      </p:sp>
      <p:sp>
        <p:nvSpPr>
          <p:cNvPr id="79" name="d"/>
          <p:cNvSpPr txBox="1">
            <a:spLocks noGrp="1"/>
          </p:cNvSpPr>
          <p:nvPr/>
        </p:nvSpPr>
        <p:spPr>
          <a:xfrm>
            <a:off x="5632704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SLA 89% — ya cerca de meta 92%</a:t>
            </a:r>
          </a:p>
        </p:txBody>
      </p:sp>
      <p:sp>
        <p:nvSpPr>
          <p:cNvPr id="80" name="d"/>
          <p:cNvSpPr txBox="1">
            <a:spLocks noGrp="1"/>
          </p:cNvSpPr>
          <p:nvPr/>
        </p:nvSpPr>
        <p:spPr>
          <a:xfrm>
            <a:off x="5632704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8% autoservicio N0 — unica mesa con deflexion activa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5632704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12 FTE — sin tickets/mes levantados aun en Excel</a:t>
            </a:r>
          </a:p>
        </p:txBody>
      </p:sp>
      <p:sp>
        <p:nvSpPr>
          <p:cNvPr id="82" name="d"/>
          <p:cNvSpPr txBox="1">
            <a:spLocks noGrp="1"/>
          </p:cNvSpPr>
          <p:nvPr/>
        </p:nvSpPr>
        <p:spPr>
          <a:xfrm>
            <a:off x="5632704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 ITSM aun sin formalizar</a:t>
            </a:r>
          </a:p>
        </p:txBody>
      </p:sp>
      <p:sp>
        <p:nvSpPr>
          <p:cNvPr id="83" name="d"/>
          <p:cNvSpPr txBox="1">
            <a:spLocks noGrp="1"/>
          </p:cNvSpPr>
          <p:nvPr/>
        </p:nvSpPr>
        <p:spPr>
          <a:xfrm>
            <a:off x="5632704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Alta presion regulatoria Minsalud — compliance pendiente de revisar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Reunion con Michael Arevalo (AES) · Virginia y Lina (BCO/COES) · Excel Levantamiento_Mesas_Julio_2026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N2 — Administrado: Procesos por Mesa, Herramienta Activa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FEF9E7"/>
                </a:solidFill>
                <a:latin typeface="Calibri"/>
              </a:rPr>
              <a:t>SURA (Cotizadores · Venta Digital · Automatizacion · Canales Masivos) · XM · 15 FTE total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29184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Cotizadores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329184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29184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Competencia 2027</a:t>
            </a:r>
          </a:p>
        </p:txBody>
      </p:sp>
      <p:sp>
        <p:nvSpPr>
          <p:cNvPr id="16" name="d"/>
          <p:cNvSpPr txBox="1">
            <a:spLocks noGrp="1"/>
          </p:cNvSpPr>
          <p:nvPr/>
        </p:nvSpPr>
        <p:spPr>
          <a:xfrm>
            <a:off x="329184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17" name="d"/>
          <p:cNvSpPr txBox="1">
            <a:spLocks noGrp="1"/>
          </p:cNvSpPr>
          <p:nvPr/>
        </p:nvSpPr>
        <p:spPr>
          <a:xfrm>
            <a:off x="329184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29184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 — N1, N2 y N3 misma persona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29184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29184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por perfil, no por modelo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29184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perdida de conocimiento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29184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 sin integracion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29184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29184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29184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claro — sin RACI</a:t>
            </a:r>
          </a:p>
        </p:txBody>
      </p:sp>
      <p:sp>
        <p:nvSpPr>
          <p:cNvPr id="26" name="d"/>
          <p:cNvSpPr txBox="1">
            <a:spLocks noGrp="1"/>
          </p:cNvSpPr>
          <p:nvPr/>
        </p:nvSpPr>
        <p:spPr>
          <a:xfrm>
            <a:off x="329184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27" name="d"/>
          <p:cNvSpPr txBox="1">
            <a:spLocks noGrp="1"/>
          </p:cNvSpPr>
          <p:nvPr/>
        </p:nvSpPr>
        <p:spPr>
          <a:xfrm>
            <a:off x="329184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35" name="card"/>
          <p:cNvSpPr>
            <a:spLocks noGrp="1"/>
          </p:cNvSpPr>
          <p:nvPr/>
        </p:nvSpPr>
        <p:spPr>
          <a:xfrm>
            <a:off x="1865376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36" name="chdr"/>
          <p:cNvSpPr>
            <a:spLocks noGrp="1"/>
          </p:cNvSpPr>
          <p:nvPr/>
        </p:nvSpPr>
        <p:spPr>
          <a:xfrm>
            <a:off x="1865376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7" name="chdr2"/>
          <p:cNvSpPr>
            <a:spLocks noGrp="1"/>
          </p:cNvSpPr>
          <p:nvPr/>
        </p:nvSpPr>
        <p:spPr>
          <a:xfrm>
            <a:off x="1865376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8" name="cn"/>
          <p:cNvSpPr txBox="1">
            <a:spLocks noGrp="1"/>
          </p:cNvSpPr>
          <p:nvPr/>
        </p:nvSpPr>
        <p:spPr>
          <a:xfrm>
            <a:off x="1920240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Venta Digital</a:t>
            </a:r>
          </a:p>
        </p:txBody>
      </p:sp>
      <p:sp>
        <p:nvSpPr>
          <p:cNvPr id="39" name="ci"/>
          <p:cNvSpPr txBox="1">
            <a:spLocks noGrp="1"/>
          </p:cNvSpPr>
          <p:nvPr/>
        </p:nvSpPr>
        <p:spPr>
          <a:xfrm>
            <a:off x="1920240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40" name="cc"/>
          <p:cNvSpPr txBox="1">
            <a:spLocks noGrp="1"/>
          </p:cNvSpPr>
          <p:nvPr/>
        </p:nvSpPr>
        <p:spPr>
          <a:xfrm>
            <a:off x="1920240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Mesa joven 7 meses</a:t>
            </a:r>
          </a:p>
        </p:txBody>
      </p:sp>
      <p:sp>
        <p:nvSpPr>
          <p:cNvPr id="41" name="d"/>
          <p:cNvSpPr txBox="1">
            <a:spLocks noGrp="1"/>
          </p:cNvSpPr>
          <p:nvPr/>
        </p:nvSpPr>
        <p:spPr>
          <a:xfrm>
            <a:off x="1920240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42" name="d"/>
          <p:cNvSpPr txBox="1">
            <a:spLocks noGrp="1"/>
          </p:cNvSpPr>
          <p:nvPr/>
        </p:nvSpPr>
        <p:spPr>
          <a:xfrm>
            <a:off x="1920240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43" name="d"/>
          <p:cNvSpPr txBox="1">
            <a:spLocks noGrp="1"/>
          </p:cNvSpPr>
          <p:nvPr/>
        </p:nvSpPr>
        <p:spPr>
          <a:xfrm>
            <a:off x="1920240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sin visibilidad ejecutiva</a:t>
            </a:r>
          </a:p>
        </p:txBody>
      </p:sp>
      <p:sp>
        <p:nvSpPr>
          <p:cNvPr id="44" name="d"/>
          <p:cNvSpPr txBox="1">
            <a:spLocks noGrp="1"/>
          </p:cNvSpPr>
          <p:nvPr/>
        </p:nvSpPr>
        <p:spPr>
          <a:xfrm>
            <a:off x="1920240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Alcance no controlado</a:t>
            </a:r>
          </a:p>
        </p:txBody>
      </p:sp>
      <p:sp>
        <p:nvSpPr>
          <p:cNvPr id="45" name="d"/>
          <p:cNvSpPr txBox="1">
            <a:spLocks noGrp="1"/>
          </p:cNvSpPr>
          <p:nvPr/>
        </p:nvSpPr>
        <p:spPr>
          <a:xfrm>
            <a:off x="1920240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46" name="d"/>
          <p:cNvSpPr txBox="1">
            <a:spLocks noGrp="1"/>
          </p:cNvSpPr>
          <p:nvPr/>
        </p:nvSpPr>
        <p:spPr>
          <a:xfrm>
            <a:off x="1920240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47" name="d"/>
          <p:cNvSpPr txBox="1">
            <a:spLocks noGrp="1"/>
          </p:cNvSpPr>
          <p:nvPr/>
        </p:nvSpPr>
        <p:spPr>
          <a:xfrm>
            <a:off x="1920240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conocimiento fragil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1920240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1920240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Reportes manuales sin trazabilidad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1920240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1920240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1920240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60" name="card"/>
          <p:cNvSpPr>
            <a:spLocks noGrp="1"/>
          </p:cNvSpPr>
          <p:nvPr/>
        </p:nvSpPr>
        <p:spPr>
          <a:xfrm>
            <a:off x="3456432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61" name="chdr"/>
          <p:cNvSpPr>
            <a:spLocks noGrp="1"/>
          </p:cNvSpPr>
          <p:nvPr/>
        </p:nvSpPr>
        <p:spPr>
          <a:xfrm>
            <a:off x="3456432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62" name="chdr2"/>
          <p:cNvSpPr>
            <a:spLocks noGrp="1"/>
          </p:cNvSpPr>
          <p:nvPr/>
        </p:nvSpPr>
        <p:spPr>
          <a:xfrm>
            <a:off x="3456432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63" name="cn"/>
          <p:cNvSpPr txBox="1">
            <a:spLocks noGrp="1"/>
          </p:cNvSpPr>
          <p:nvPr/>
        </p:nvSpPr>
        <p:spPr>
          <a:xfrm>
            <a:off x="3511296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Automatizacion</a:t>
            </a:r>
          </a:p>
        </p:txBody>
      </p:sp>
      <p:sp>
        <p:nvSpPr>
          <p:cNvPr id="64" name="ci"/>
          <p:cNvSpPr txBox="1">
            <a:spLocks noGrp="1"/>
          </p:cNvSpPr>
          <p:nvPr/>
        </p:nvSpPr>
        <p:spPr>
          <a:xfrm>
            <a:off x="3511296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FTE:6 · BMC+Azure</a:t>
            </a:r>
          </a:p>
        </p:txBody>
      </p:sp>
      <p:sp>
        <p:nvSpPr>
          <p:cNvPr id="65" name="cc"/>
          <p:cNvSpPr txBox="1">
            <a:spLocks noGrp="1"/>
          </p:cNvSpPr>
          <p:nvPr/>
        </p:nvSpPr>
        <p:spPr>
          <a:xfrm>
            <a:off x="3511296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Oportunidad estand.</a:t>
            </a:r>
          </a:p>
        </p:txBody>
      </p:sp>
      <p:sp>
        <p:nvSpPr>
          <p:cNvPr id="66" name="d"/>
          <p:cNvSpPr txBox="1">
            <a:spLocks noGrp="1"/>
          </p:cNvSpPr>
          <p:nvPr/>
        </p:nvSpPr>
        <p:spPr>
          <a:xfrm>
            <a:off x="3511296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67" name="d"/>
          <p:cNvSpPr txBox="1">
            <a:spLocks noGrp="1"/>
          </p:cNvSpPr>
          <p:nvPr/>
        </p:nvSpPr>
        <p:spPr>
          <a:xfrm>
            <a:off x="3511296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visibilidad — sin dashboard</a:t>
            </a:r>
          </a:p>
        </p:txBody>
      </p:sp>
      <p:sp>
        <p:nvSpPr>
          <p:cNvPr id="68" name="d"/>
          <p:cNvSpPr txBox="1">
            <a:spLocks noGrp="1"/>
          </p:cNvSpPr>
          <p:nvPr/>
        </p:nvSpPr>
        <p:spPr>
          <a:xfrm>
            <a:off x="3511296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modernizaciones disfrazadas</a:t>
            </a:r>
          </a:p>
        </p:txBody>
      </p:sp>
      <p:sp>
        <p:nvSpPr>
          <p:cNvPr id="69" name="d"/>
          <p:cNvSpPr txBox="1">
            <a:spLocks noGrp="1"/>
          </p:cNvSpPr>
          <p:nvPr/>
        </p:nvSpPr>
        <p:spPr>
          <a:xfrm>
            <a:off x="3511296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70" name="d"/>
          <p:cNvSpPr txBox="1">
            <a:spLocks noGrp="1"/>
          </p:cNvSpPr>
          <p:nvPr/>
        </p:nvSpPr>
        <p:spPr>
          <a:xfrm>
            <a:off x="3511296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71" name="d"/>
          <p:cNvSpPr txBox="1">
            <a:spLocks noGrp="1"/>
          </p:cNvSpPr>
          <p:nvPr/>
        </p:nvSpPr>
        <p:spPr>
          <a:xfrm>
            <a:off x="3511296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72" name="d"/>
          <p:cNvSpPr txBox="1">
            <a:spLocks noGrp="1"/>
          </p:cNvSpPr>
          <p:nvPr/>
        </p:nvSpPr>
        <p:spPr>
          <a:xfrm>
            <a:off x="3511296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de personal</a:t>
            </a:r>
          </a:p>
        </p:txBody>
      </p:sp>
      <p:sp>
        <p:nvSpPr>
          <p:cNvPr id="73" name="d"/>
          <p:cNvSpPr txBox="1">
            <a:spLocks noGrp="1"/>
          </p:cNvSpPr>
          <p:nvPr/>
        </p:nvSpPr>
        <p:spPr>
          <a:xfrm>
            <a:off x="3511296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74" name="d"/>
          <p:cNvSpPr txBox="1">
            <a:spLocks noGrp="1"/>
          </p:cNvSpPr>
          <p:nvPr/>
        </p:nvSpPr>
        <p:spPr>
          <a:xfrm>
            <a:off x="3511296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Escalamientos excesivos</a:t>
            </a:r>
          </a:p>
        </p:txBody>
      </p:sp>
      <p:sp>
        <p:nvSpPr>
          <p:cNvPr id="75" name="d"/>
          <p:cNvSpPr txBox="1">
            <a:spLocks noGrp="1"/>
          </p:cNvSpPr>
          <p:nvPr/>
        </p:nvSpPr>
        <p:spPr>
          <a:xfrm>
            <a:off x="3511296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76" name="d"/>
          <p:cNvSpPr txBox="1">
            <a:spLocks noGrp="1"/>
          </p:cNvSpPr>
          <p:nvPr/>
        </p:nvSpPr>
        <p:spPr>
          <a:xfrm>
            <a:off x="3511296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77" name="d"/>
          <p:cNvSpPr txBox="1">
            <a:spLocks noGrp="1"/>
          </p:cNvSpPr>
          <p:nvPr/>
        </p:nvSpPr>
        <p:spPr>
          <a:xfrm>
            <a:off x="3511296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85" name="card"/>
          <p:cNvSpPr>
            <a:spLocks noGrp="1"/>
          </p:cNvSpPr>
          <p:nvPr/>
        </p:nvSpPr>
        <p:spPr>
          <a:xfrm>
            <a:off x="5047488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12700">
            <a:solidFill>
              <a:srgbClr val="C00000"/>
            </a:solidFill>
          </a:ln>
        </p:spPr>
      </p:sp>
      <p:sp>
        <p:nvSpPr>
          <p:cNvPr id="86" name="chdr"/>
          <p:cNvSpPr>
            <a:spLocks noGrp="1"/>
          </p:cNvSpPr>
          <p:nvPr/>
        </p:nvSpPr>
        <p:spPr>
          <a:xfrm>
            <a:off x="5047488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7" name="chdr2"/>
          <p:cNvSpPr>
            <a:spLocks noGrp="1"/>
          </p:cNvSpPr>
          <p:nvPr/>
        </p:nvSpPr>
        <p:spPr>
          <a:xfrm>
            <a:off x="5047488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88" name="cn"/>
          <p:cNvSpPr txBox="1">
            <a:spLocks noGrp="1"/>
          </p:cNvSpPr>
          <p:nvPr/>
        </p:nvSpPr>
        <p:spPr>
          <a:xfrm>
            <a:off x="5102352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Canales Masivos</a:t>
            </a:r>
          </a:p>
        </p:txBody>
      </p:sp>
      <p:sp>
        <p:nvSpPr>
          <p:cNvPr id="89" name="ci"/>
          <p:cNvSpPr txBox="1">
            <a:spLocks noGrp="1"/>
          </p:cNvSpPr>
          <p:nvPr/>
        </p:nvSpPr>
        <p:spPr>
          <a:xfrm>
            <a:off x="5102352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FTE:1 · BMC Remedy</a:t>
            </a:r>
          </a:p>
        </p:txBody>
      </p:sp>
      <p:sp>
        <p:nvSpPr>
          <p:cNvPr id="90" name="cc"/>
          <p:cNvSpPr txBox="1">
            <a:spLocks noGrp="1"/>
          </p:cNvSpPr>
          <p:nvPr/>
        </p:nvSpPr>
        <p:spPr>
          <a:xfrm>
            <a:off x="5102352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C00000"/>
                </a:solidFill>
                <a:latin typeface="Calibri"/>
              </a:rPr>
              <a:t>RIESGO: 1 FTE — bus factor critico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5102352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5102352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1 FTE solo — bus factor critico</a:t>
            </a:r>
          </a:p>
        </p:txBody>
      </p:sp>
      <p:sp>
        <p:nvSpPr>
          <p:cNvPr id="93" name="d"/>
          <p:cNvSpPr txBox="1">
            <a:spLocks noGrp="1"/>
          </p:cNvSpPr>
          <p:nvPr/>
        </p:nvSpPr>
        <p:spPr>
          <a:xfrm>
            <a:off x="5102352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94" name="d"/>
          <p:cNvSpPr txBox="1">
            <a:spLocks noGrp="1"/>
          </p:cNvSpPr>
          <p:nvPr/>
        </p:nvSpPr>
        <p:spPr>
          <a:xfrm>
            <a:off x="5102352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visibilidad</a:t>
            </a:r>
          </a:p>
        </p:txBody>
      </p:sp>
      <p:sp>
        <p:nvSpPr>
          <p:cNvPr id="95" name="d"/>
          <p:cNvSpPr txBox="1">
            <a:spLocks noGrp="1"/>
          </p:cNvSpPr>
          <p:nvPr/>
        </p:nvSpPr>
        <p:spPr>
          <a:xfrm>
            <a:off x="5102352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equipo absorbe todo</a:t>
            </a:r>
          </a:p>
        </p:txBody>
      </p:sp>
      <p:sp>
        <p:nvSpPr>
          <p:cNvPr id="96" name="d"/>
          <p:cNvSpPr txBox="1">
            <a:spLocks noGrp="1"/>
          </p:cNvSpPr>
          <p:nvPr/>
        </p:nvSpPr>
        <p:spPr>
          <a:xfrm>
            <a:off x="5102352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97" name="d"/>
          <p:cNvSpPr txBox="1">
            <a:spLocks noGrp="1"/>
          </p:cNvSpPr>
          <p:nvPr/>
        </p:nvSpPr>
        <p:spPr>
          <a:xfrm>
            <a:off x="5102352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98" name="d"/>
          <p:cNvSpPr txBox="1">
            <a:spLocks noGrp="1"/>
          </p:cNvSpPr>
          <p:nvPr/>
        </p:nvSpPr>
        <p:spPr>
          <a:xfrm>
            <a:off x="5102352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99" name="d"/>
          <p:cNvSpPr txBox="1">
            <a:spLocks noGrp="1"/>
          </p:cNvSpPr>
          <p:nvPr/>
        </p:nvSpPr>
        <p:spPr>
          <a:xfrm>
            <a:off x="5102352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100" name="d"/>
          <p:cNvSpPr txBox="1">
            <a:spLocks noGrp="1"/>
          </p:cNvSpPr>
          <p:nvPr/>
        </p:nvSpPr>
        <p:spPr>
          <a:xfrm>
            <a:off x="5102352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= riesgo maximo</a:t>
            </a:r>
          </a:p>
        </p:txBody>
      </p:sp>
      <p:sp>
        <p:nvSpPr>
          <p:cNvPr id="101" name="d"/>
          <p:cNvSpPr txBox="1">
            <a:spLocks noGrp="1"/>
          </p:cNvSpPr>
          <p:nvPr/>
        </p:nvSpPr>
        <p:spPr>
          <a:xfrm>
            <a:off x="5102352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102" name="d"/>
          <p:cNvSpPr txBox="1">
            <a:spLocks noGrp="1"/>
          </p:cNvSpPr>
          <p:nvPr/>
        </p:nvSpPr>
        <p:spPr>
          <a:xfrm>
            <a:off x="5102352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110" name="card"/>
          <p:cNvSpPr>
            <a:spLocks noGrp="1"/>
          </p:cNvSpPr>
          <p:nvPr/>
        </p:nvSpPr>
        <p:spPr>
          <a:xfrm>
            <a:off x="6638544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1" name="chdr"/>
          <p:cNvSpPr>
            <a:spLocks noGrp="1"/>
          </p:cNvSpPr>
          <p:nvPr/>
        </p:nvSpPr>
        <p:spPr>
          <a:xfrm>
            <a:off x="6638544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12" name="chdr2"/>
          <p:cNvSpPr>
            <a:spLocks noGrp="1"/>
          </p:cNvSpPr>
          <p:nvPr/>
        </p:nvSpPr>
        <p:spPr>
          <a:xfrm>
            <a:off x="6638544" y="1005840"/>
            <a:ext cx="1536192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3" name="cn"/>
          <p:cNvSpPr txBox="1">
            <a:spLocks noGrp="1"/>
          </p:cNvSpPr>
          <p:nvPr/>
        </p:nvSpPr>
        <p:spPr>
          <a:xfrm>
            <a:off x="6693408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XM — Apps Criticas</a:t>
            </a:r>
          </a:p>
        </p:txBody>
      </p:sp>
      <p:sp>
        <p:nvSpPr>
          <p:cNvPr id="114" name="ci"/>
          <p:cNvSpPr txBox="1">
            <a:spLocks noGrp="1"/>
          </p:cNvSpPr>
          <p:nvPr/>
        </p:nvSpPr>
        <p:spPr>
          <a:xfrm>
            <a:off x="6693408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FTE:4 · ServiceNow</a:t>
            </a:r>
          </a:p>
        </p:txBody>
      </p:sp>
      <p:sp>
        <p:nvSpPr>
          <p:cNvPr id="115" name="cc"/>
          <p:cNvSpPr txBox="1">
            <a:spLocks noGrp="1"/>
          </p:cNvSpPr>
          <p:nvPr/>
        </p:nvSpPr>
        <p:spPr>
          <a:xfrm>
            <a:off x="6693408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Vigente jul 2027 · 24x7 · 14 comps.</a:t>
            </a:r>
          </a:p>
        </p:txBody>
      </p:sp>
      <p:sp>
        <p:nvSpPr>
          <p:cNvPr id="116" name="d"/>
          <p:cNvSpPr txBox="1">
            <a:spLocks noGrp="1"/>
          </p:cNvSpPr>
          <p:nvPr/>
        </p:nvSpPr>
        <p:spPr>
          <a:xfrm>
            <a:off x="6693408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17" name="d"/>
          <p:cNvSpPr txBox="1">
            <a:spLocks noGrp="1"/>
          </p:cNvSpPr>
          <p:nvPr/>
        </p:nvSpPr>
        <p:spPr>
          <a:xfrm>
            <a:off x="6693408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reportes manuales</a:t>
            </a:r>
          </a:p>
        </p:txBody>
      </p:sp>
      <p:sp>
        <p:nvSpPr>
          <p:cNvPr id="118" name="d"/>
          <p:cNvSpPr txBox="1">
            <a:spLocks noGrp="1"/>
          </p:cNvSpPr>
          <p:nvPr/>
        </p:nvSpPr>
        <p:spPr>
          <a:xfrm>
            <a:off x="6693408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19" name="d"/>
          <p:cNvSpPr txBox="1">
            <a:spLocks noGrp="1"/>
          </p:cNvSpPr>
          <p:nvPr/>
        </p:nvSpPr>
        <p:spPr>
          <a:xfrm>
            <a:off x="6693408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— sin RACI formal</a:t>
            </a:r>
          </a:p>
        </p:txBody>
      </p:sp>
      <p:sp>
        <p:nvSpPr>
          <p:cNvPr id="120" name="d"/>
          <p:cNvSpPr txBox="1">
            <a:spLocks noGrp="1"/>
          </p:cNvSpPr>
          <p:nvPr/>
        </p:nvSpPr>
        <p:spPr>
          <a:xfrm>
            <a:off x="6693408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121" name="d"/>
          <p:cNvSpPr txBox="1">
            <a:spLocks noGrp="1"/>
          </p:cNvSpPr>
          <p:nvPr/>
        </p:nvSpPr>
        <p:spPr>
          <a:xfrm>
            <a:off x="6693408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122" name="d"/>
          <p:cNvSpPr txBox="1">
            <a:spLocks noGrp="1"/>
          </p:cNvSpPr>
          <p:nvPr/>
        </p:nvSpPr>
        <p:spPr>
          <a:xfrm>
            <a:off x="6693408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CSAT — solo encuesta anual</a:t>
            </a:r>
          </a:p>
        </p:txBody>
      </p:sp>
      <p:sp>
        <p:nvSpPr>
          <p:cNvPr id="123" name="d"/>
          <p:cNvSpPr txBox="1">
            <a:spLocks noGrp="1"/>
          </p:cNvSpPr>
          <p:nvPr/>
        </p:nvSpPr>
        <p:spPr>
          <a:xfrm>
            <a:off x="6693408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 — 4 FTE para 24x7</a:t>
            </a:r>
          </a:p>
        </p:txBody>
      </p:sp>
      <p:sp>
        <p:nvSpPr>
          <p:cNvPr id="124" name="d"/>
          <p:cNvSpPr txBox="1">
            <a:spLocks noGrp="1"/>
          </p:cNvSpPr>
          <p:nvPr/>
        </p:nvSpPr>
        <p:spPr>
          <a:xfrm>
            <a:off x="6693408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125" name="d"/>
          <p:cNvSpPr txBox="1">
            <a:spLocks noGrp="1"/>
          </p:cNvSpPr>
          <p:nvPr/>
        </p:nvSpPr>
        <p:spPr>
          <a:xfrm>
            <a:off x="6693408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Disponibilidad mal dimensionada</a:t>
            </a:r>
          </a:p>
        </p:txBody>
      </p:sp>
      <p:sp>
        <p:nvSpPr>
          <p:cNvPr id="126" name="d"/>
          <p:cNvSpPr txBox="1">
            <a:spLocks noGrp="1"/>
          </p:cNvSpPr>
          <p:nvPr/>
        </p:nvSpPr>
        <p:spPr>
          <a:xfrm>
            <a:off x="6693408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4 personas en 14 componentes</a:t>
            </a:r>
          </a:p>
        </p:txBody>
      </p:sp>
      <p:sp>
        <p:nvSpPr>
          <p:cNvPr id="127" name="d"/>
          <p:cNvSpPr txBox="1">
            <a:spLocks noGrp="1"/>
          </p:cNvSpPr>
          <p:nvPr/>
        </p:nvSpPr>
        <p:spPr>
          <a:xfrm>
            <a:off x="6693408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Licencia ServiceNow la paga PS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Reunion con Elsy Marin (SURA) y Diego Serna (XM) · Excel Levantamiento_Mesas_Julio_2026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Mapa de Dolores Criticos — Consolidado por Cliente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● Confirmado  ◐ Parcial  ○ No identificado — 18 dolores · 5 clientes</a:t>
            </a:r>
          </a:p>
        </p:txBody>
      </p:sp>
      <p:sp>
        <p:nvSpPr>
          <p:cNvPr id="10" name="dhdr"/>
          <p:cNvSpPr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drt"/>
          <p:cNvSpPr txBox="1"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ch"/>
          <p:cNvSpPr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cht"/>
          <p:cNvSpPr txBox="1"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SURA
(5 mesas)</a:t>
            </a:r>
          </a:p>
        </p:txBody>
      </p:sp>
      <p:sp>
        <p:nvSpPr>
          <p:cNvPr id="14" name="ch"/>
          <p:cNvSpPr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cht"/>
          <p:cNvSpPr txBox="1"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16" name="ch"/>
          <p:cNvSpPr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7" name="cht"/>
          <p:cNvSpPr txBox="1"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18" name="ch"/>
          <p:cNvSpPr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9" name="cht"/>
          <p:cNvSpPr txBox="1"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BCO
(5 mesas)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886968" y="1207008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941832" y="120700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ell"/>
          <p:cNvSpPr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5" name="celt"/>
          <p:cNvSpPr txBox="1"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" name="cell"/>
          <p:cNvSpPr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6" name="celt"/>
          <p:cNvSpPr txBox="1"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" name="cell"/>
          <p:cNvSpPr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7" name="celt"/>
          <p:cNvSpPr txBox="1"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" name="cell"/>
          <p:cNvSpPr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08" name="celt"/>
          <p:cNvSpPr txBox="1"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" name="cell"/>
          <p:cNvSpPr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9" name="celt"/>
          <p:cNvSpPr txBox="1"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12" name="db"/>
          <p:cNvSpPr>
            <a:spLocks noGrp="1"/>
          </p:cNvSpPr>
          <p:nvPr/>
        </p:nvSpPr>
        <p:spPr>
          <a:xfrm>
            <a:off x="886968" y="1408176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13" name="dt"/>
          <p:cNvSpPr txBox="1">
            <a:spLocks noGrp="1"/>
          </p:cNvSpPr>
          <p:nvPr/>
        </p:nvSpPr>
        <p:spPr>
          <a:xfrm>
            <a:off x="941832" y="140817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114" name="cell"/>
          <p:cNvSpPr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5" name="celt"/>
          <p:cNvSpPr txBox="1"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" name="cell"/>
          <p:cNvSpPr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6" name="celt"/>
          <p:cNvSpPr txBox="1"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3" name="cell"/>
          <p:cNvSpPr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7" name="celt"/>
          <p:cNvSpPr txBox="1"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" name="cell"/>
          <p:cNvSpPr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8" name="celt"/>
          <p:cNvSpPr txBox="1"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5" name="cell"/>
          <p:cNvSpPr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19" name="celt"/>
          <p:cNvSpPr txBox="1"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22" name="db"/>
          <p:cNvSpPr>
            <a:spLocks noGrp="1"/>
          </p:cNvSpPr>
          <p:nvPr/>
        </p:nvSpPr>
        <p:spPr>
          <a:xfrm>
            <a:off x="886968" y="1609344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23" name="dt"/>
          <p:cNvSpPr txBox="1">
            <a:spLocks noGrp="1"/>
          </p:cNvSpPr>
          <p:nvPr/>
        </p:nvSpPr>
        <p:spPr>
          <a:xfrm>
            <a:off x="941832" y="160934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desact.</a:t>
            </a:r>
          </a:p>
        </p:txBody>
      </p:sp>
      <p:sp>
        <p:nvSpPr>
          <p:cNvPr id="124" name="cell"/>
          <p:cNvSpPr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5" name="celt"/>
          <p:cNvSpPr txBox="1"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6" name="cell"/>
          <p:cNvSpPr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6" name="celt"/>
          <p:cNvSpPr txBox="1"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" name="cell"/>
          <p:cNvSpPr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7" name="celt"/>
          <p:cNvSpPr txBox="1"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8" name="cell"/>
          <p:cNvSpPr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8" name="celt"/>
          <p:cNvSpPr txBox="1"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9" name="cell"/>
          <p:cNvSpPr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9" name="celt"/>
          <p:cNvSpPr txBox="1"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0" name="cb"/>
          <p:cNvSpPr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1" name="ct"/>
          <p:cNvSpPr txBox="1"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92400E"/>
                </a:solidFill>
                <a:latin typeface="Calibri"/>
              </a:rPr>
              <a:t>OPS</a:t>
            </a:r>
          </a:p>
        </p:txBody>
      </p:sp>
      <p:sp>
        <p:nvSpPr>
          <p:cNvPr id="132" name="db"/>
          <p:cNvSpPr>
            <a:spLocks noGrp="1"/>
          </p:cNvSpPr>
          <p:nvPr/>
        </p:nvSpPr>
        <p:spPr>
          <a:xfrm>
            <a:off x="886968" y="1810512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3" name="dt"/>
          <p:cNvSpPr txBox="1">
            <a:spLocks noGrp="1"/>
          </p:cNvSpPr>
          <p:nvPr/>
        </p:nvSpPr>
        <p:spPr>
          <a:xfrm>
            <a:off x="941832" y="181051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34" name="cell"/>
          <p:cNvSpPr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5" name="celt"/>
          <p:cNvSpPr txBox="1"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0" name="cell"/>
          <p:cNvSpPr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6" name="celt"/>
          <p:cNvSpPr txBox="1"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1" name="cell"/>
          <p:cNvSpPr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7" name="celt"/>
          <p:cNvSpPr txBox="1"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2" name="cell"/>
          <p:cNvSpPr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8" name="celt"/>
          <p:cNvSpPr txBox="1"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3" name="cell"/>
          <p:cNvSpPr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9" name="celt"/>
          <p:cNvSpPr txBox="1"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42" name="db"/>
          <p:cNvSpPr>
            <a:spLocks noGrp="1"/>
          </p:cNvSpPr>
          <p:nvPr/>
        </p:nvSpPr>
        <p:spPr>
          <a:xfrm>
            <a:off x="886968" y="2011680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43" name="dt"/>
          <p:cNvSpPr txBox="1">
            <a:spLocks noGrp="1"/>
          </p:cNvSpPr>
          <p:nvPr/>
        </p:nvSpPr>
        <p:spPr>
          <a:xfrm>
            <a:off x="941832" y="201168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144" name="cell"/>
          <p:cNvSpPr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5" name="celt"/>
          <p:cNvSpPr txBox="1"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4" name="cell"/>
          <p:cNvSpPr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6" name="celt"/>
          <p:cNvSpPr txBox="1"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5" name="cell"/>
          <p:cNvSpPr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7" name="celt"/>
          <p:cNvSpPr txBox="1"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6" name="cell"/>
          <p:cNvSpPr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8" name="celt"/>
          <p:cNvSpPr txBox="1"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7" name="cell"/>
          <p:cNvSpPr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9" name="celt"/>
          <p:cNvSpPr txBox="1"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52" name="db"/>
          <p:cNvSpPr>
            <a:spLocks noGrp="1"/>
          </p:cNvSpPr>
          <p:nvPr/>
        </p:nvSpPr>
        <p:spPr>
          <a:xfrm>
            <a:off x="886968" y="2212848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53" name="dt"/>
          <p:cNvSpPr txBox="1">
            <a:spLocks noGrp="1"/>
          </p:cNvSpPr>
          <p:nvPr/>
        </p:nvSpPr>
        <p:spPr>
          <a:xfrm>
            <a:off x="941832" y="221284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ctrl.</a:t>
            </a:r>
          </a:p>
        </p:txBody>
      </p:sp>
      <p:sp>
        <p:nvSpPr>
          <p:cNvPr id="154" name="cell"/>
          <p:cNvSpPr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5" name="celt"/>
          <p:cNvSpPr txBox="1"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8" name="cell"/>
          <p:cNvSpPr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6" name="celt"/>
          <p:cNvSpPr txBox="1"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9" name="cell"/>
          <p:cNvSpPr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7" name="celt"/>
          <p:cNvSpPr txBox="1"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0" name="cell"/>
          <p:cNvSpPr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8" name="celt"/>
          <p:cNvSpPr txBox="1"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1" name="cell"/>
          <p:cNvSpPr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9" name="celt"/>
          <p:cNvSpPr txBox="1"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62" name="db"/>
          <p:cNvSpPr>
            <a:spLocks noGrp="1"/>
          </p:cNvSpPr>
          <p:nvPr/>
        </p:nvSpPr>
        <p:spPr>
          <a:xfrm>
            <a:off x="886968" y="2414016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63" name="dt"/>
          <p:cNvSpPr txBox="1">
            <a:spLocks noGrp="1"/>
          </p:cNvSpPr>
          <p:nvPr/>
        </p:nvSpPr>
        <p:spPr>
          <a:xfrm>
            <a:off x="941832" y="241401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164" name="cell"/>
          <p:cNvSpPr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5" name="celt"/>
          <p:cNvSpPr txBox="1"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2" name="cell"/>
          <p:cNvSpPr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6" name="celt"/>
          <p:cNvSpPr txBox="1"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3" name="cell"/>
          <p:cNvSpPr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7" name="celt"/>
          <p:cNvSpPr txBox="1"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4" name="cell"/>
          <p:cNvSpPr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8" name="celt"/>
          <p:cNvSpPr txBox="1"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" name="cell"/>
          <p:cNvSpPr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9" name="celt"/>
          <p:cNvSpPr txBox="1"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170" name="cb"/>
          <p:cNvSpPr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1" name="ct"/>
          <p:cNvSpPr txBox="1"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1A6B3C"/>
                </a:solidFill>
                <a:latin typeface="Calibri"/>
              </a:rPr>
              <a:t>MET</a:t>
            </a:r>
          </a:p>
        </p:txBody>
      </p:sp>
      <p:sp>
        <p:nvSpPr>
          <p:cNvPr id="172" name="db"/>
          <p:cNvSpPr>
            <a:spLocks noGrp="1"/>
          </p:cNvSpPr>
          <p:nvPr/>
        </p:nvSpPr>
        <p:spPr>
          <a:xfrm>
            <a:off x="886968" y="2615184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3" name="dt"/>
          <p:cNvSpPr txBox="1">
            <a:spLocks noGrp="1"/>
          </p:cNvSpPr>
          <p:nvPr/>
        </p:nvSpPr>
        <p:spPr>
          <a:xfrm>
            <a:off x="941832" y="261518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174" name="cell"/>
          <p:cNvSpPr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5" name="celt"/>
          <p:cNvSpPr txBox="1"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" name="cell"/>
          <p:cNvSpPr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6" name="celt"/>
          <p:cNvSpPr txBox="1"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7" name="cell"/>
          <p:cNvSpPr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7" name="celt"/>
          <p:cNvSpPr txBox="1"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8" name="cell"/>
          <p:cNvSpPr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8" name="celt"/>
          <p:cNvSpPr txBox="1"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9" name="cell"/>
          <p:cNvSpPr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9" name="celt"/>
          <p:cNvSpPr txBox="1"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82" name="db"/>
          <p:cNvSpPr>
            <a:spLocks noGrp="1"/>
          </p:cNvSpPr>
          <p:nvPr/>
        </p:nvSpPr>
        <p:spPr>
          <a:xfrm>
            <a:off x="886968" y="2816352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83" name="dt"/>
          <p:cNvSpPr txBox="1">
            <a:spLocks noGrp="1"/>
          </p:cNvSpPr>
          <p:nvPr/>
        </p:nvSpPr>
        <p:spPr>
          <a:xfrm>
            <a:off x="941832" y="281635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ni visibilidad</a:t>
            </a:r>
          </a:p>
        </p:txBody>
      </p:sp>
      <p:sp>
        <p:nvSpPr>
          <p:cNvPr id="184" name="cell"/>
          <p:cNvSpPr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85" name="celt"/>
          <p:cNvSpPr txBox="1"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50" name="cell"/>
          <p:cNvSpPr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6" name="celt"/>
          <p:cNvSpPr txBox="1"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1" name="cell"/>
          <p:cNvSpPr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7" name="celt"/>
          <p:cNvSpPr txBox="1"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2" name="cell"/>
          <p:cNvSpPr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8" name="celt"/>
          <p:cNvSpPr txBox="1"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3" name="cell"/>
          <p:cNvSpPr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9" name="celt"/>
          <p:cNvSpPr txBox="1"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92" name="db"/>
          <p:cNvSpPr>
            <a:spLocks noGrp="1"/>
          </p:cNvSpPr>
          <p:nvPr/>
        </p:nvSpPr>
        <p:spPr>
          <a:xfrm>
            <a:off x="886968" y="3017520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93" name="dt"/>
          <p:cNvSpPr txBox="1">
            <a:spLocks noGrp="1"/>
          </p:cNvSpPr>
          <p:nvPr/>
        </p:nvSpPr>
        <p:spPr>
          <a:xfrm>
            <a:off x="941832" y="301752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Reportes manuales</a:t>
            </a:r>
          </a:p>
        </p:txBody>
      </p:sp>
      <p:sp>
        <p:nvSpPr>
          <p:cNvPr id="194" name="cell"/>
          <p:cNvSpPr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5" name="celt"/>
          <p:cNvSpPr txBox="1"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4" name="cell"/>
          <p:cNvSpPr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6" name="celt"/>
          <p:cNvSpPr txBox="1"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5" name="cell"/>
          <p:cNvSpPr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7" name="celt"/>
          <p:cNvSpPr txBox="1"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6" name="cell"/>
          <p:cNvSpPr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8" name="celt"/>
          <p:cNvSpPr txBox="1"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7" name="cell"/>
          <p:cNvSpPr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99" name="celt"/>
          <p:cNvSpPr txBox="1"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0" name="cb"/>
          <p:cNvSpPr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1" name="ct"/>
          <p:cNvSpPr txBox="1"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02" name="db"/>
          <p:cNvSpPr>
            <a:spLocks noGrp="1"/>
          </p:cNvSpPr>
          <p:nvPr/>
        </p:nvSpPr>
        <p:spPr>
          <a:xfrm>
            <a:off x="886968" y="3218688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3" name="dt"/>
          <p:cNvSpPr txBox="1">
            <a:spLocks noGrp="1"/>
          </p:cNvSpPr>
          <p:nvPr/>
        </p:nvSpPr>
        <p:spPr>
          <a:xfrm>
            <a:off x="941832" y="321868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x call</a:t>
            </a:r>
          </a:p>
        </p:txBody>
      </p:sp>
      <p:sp>
        <p:nvSpPr>
          <p:cNvPr id="204" name="cell"/>
          <p:cNvSpPr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5" name="celt"/>
          <p:cNvSpPr txBox="1"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8" name="cell"/>
          <p:cNvSpPr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6" name="celt"/>
          <p:cNvSpPr txBox="1"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9" name="cell"/>
          <p:cNvSpPr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7" name="celt"/>
          <p:cNvSpPr txBox="1"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0" name="cell"/>
          <p:cNvSpPr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8" name="celt"/>
          <p:cNvSpPr txBox="1"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1" name="cell"/>
          <p:cNvSpPr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9" name="celt"/>
          <p:cNvSpPr txBox="1"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12" name="db"/>
          <p:cNvSpPr>
            <a:spLocks noGrp="1"/>
          </p:cNvSpPr>
          <p:nvPr/>
        </p:nvSpPr>
        <p:spPr>
          <a:xfrm>
            <a:off x="886968" y="3419856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13" name="dt"/>
          <p:cNvSpPr txBox="1">
            <a:spLocks noGrp="1"/>
          </p:cNvSpPr>
          <p:nvPr/>
        </p:nvSpPr>
        <p:spPr>
          <a:xfrm>
            <a:off x="941832" y="341985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14" name="cell"/>
          <p:cNvSpPr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5" name="celt"/>
          <p:cNvSpPr txBox="1"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2" name="cell"/>
          <p:cNvSpPr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6" name="celt"/>
          <p:cNvSpPr txBox="1"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3" name="cell"/>
          <p:cNvSpPr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7" name="celt"/>
          <p:cNvSpPr txBox="1"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48" name="cell"/>
          <p:cNvSpPr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8" name="celt"/>
          <p:cNvSpPr txBox="1"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49" name="cell"/>
          <p:cNvSpPr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9" name="celt"/>
          <p:cNvSpPr txBox="1"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2" name="db"/>
          <p:cNvSpPr>
            <a:spLocks noGrp="1"/>
          </p:cNvSpPr>
          <p:nvPr/>
        </p:nvSpPr>
        <p:spPr>
          <a:xfrm>
            <a:off x="886968" y="3621024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23" name="dt"/>
          <p:cNvSpPr txBox="1">
            <a:spLocks noGrp="1"/>
          </p:cNvSpPr>
          <p:nvPr/>
        </p:nvSpPr>
        <p:spPr>
          <a:xfrm>
            <a:off x="941832" y="3621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24" name="cell"/>
          <p:cNvSpPr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5" name="celt"/>
          <p:cNvSpPr txBox="1"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0" name="cell"/>
          <p:cNvSpPr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6" name="celt"/>
          <p:cNvSpPr txBox="1"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1" name="cell"/>
          <p:cNvSpPr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7" name="celt"/>
          <p:cNvSpPr txBox="1"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2" name="cell"/>
          <p:cNvSpPr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8" name="celt"/>
          <p:cNvSpPr txBox="1"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3" name="cell"/>
          <p:cNvSpPr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9" name="celt"/>
          <p:cNvSpPr txBox="1"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32" name="db"/>
          <p:cNvSpPr>
            <a:spLocks noGrp="1"/>
          </p:cNvSpPr>
          <p:nvPr/>
        </p:nvSpPr>
        <p:spPr>
          <a:xfrm>
            <a:off x="886968" y="3822192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33" name="dt"/>
          <p:cNvSpPr txBox="1">
            <a:spLocks noGrp="1"/>
          </p:cNvSpPr>
          <p:nvPr/>
        </p:nvSpPr>
        <p:spPr>
          <a:xfrm>
            <a:off x="941832" y="382219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234" name="cell"/>
          <p:cNvSpPr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5" name="celt"/>
          <p:cNvSpPr txBox="1"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4" name="cell"/>
          <p:cNvSpPr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6" name="celt"/>
          <p:cNvSpPr txBox="1"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5" name="cell"/>
          <p:cNvSpPr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7" name="celt"/>
          <p:cNvSpPr txBox="1"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6" name="cell"/>
          <p:cNvSpPr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38" name="celt"/>
          <p:cNvSpPr txBox="1"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57" name="cell"/>
          <p:cNvSpPr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9" name="celt"/>
          <p:cNvSpPr txBox="1"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42" name="db"/>
          <p:cNvSpPr>
            <a:spLocks noGrp="1"/>
          </p:cNvSpPr>
          <p:nvPr/>
        </p:nvSpPr>
        <p:spPr>
          <a:xfrm>
            <a:off x="886968" y="4023360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43" name="dt"/>
          <p:cNvSpPr txBox="1">
            <a:spLocks noGrp="1"/>
          </p:cNvSpPr>
          <p:nvPr/>
        </p:nvSpPr>
        <p:spPr>
          <a:xfrm>
            <a:off x="941832" y="402336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Reskilling constante del staff</a:t>
            </a:r>
          </a:p>
        </p:txBody>
      </p:sp>
      <p:sp>
        <p:nvSpPr>
          <p:cNvPr id="244" name="cell"/>
          <p:cNvSpPr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5" name="celt"/>
          <p:cNvSpPr txBox="1"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8" name="cell"/>
          <p:cNvSpPr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6" name="celt"/>
          <p:cNvSpPr txBox="1"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9" name="cell"/>
          <p:cNvSpPr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7" name="celt"/>
          <p:cNvSpPr txBox="1"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60" name="cell"/>
          <p:cNvSpPr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8" name="celt"/>
          <p:cNvSpPr txBox="1"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61" name="cell"/>
          <p:cNvSpPr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49" name="celt"/>
          <p:cNvSpPr txBox="1"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0" name="cb"/>
          <p:cNvSpPr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1" name="ct"/>
          <p:cNvSpPr txBox="1"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C00000"/>
                </a:solidFill>
                <a:latin typeface="Calibri"/>
              </a:rPr>
              <a:t>COM</a:t>
            </a:r>
          </a:p>
        </p:txBody>
      </p:sp>
      <p:sp>
        <p:nvSpPr>
          <p:cNvPr id="252" name="db"/>
          <p:cNvSpPr>
            <a:spLocks noGrp="1"/>
          </p:cNvSpPr>
          <p:nvPr/>
        </p:nvSpPr>
        <p:spPr>
          <a:xfrm>
            <a:off x="886968" y="4224528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3" name="dt"/>
          <p:cNvSpPr txBox="1">
            <a:spLocks noGrp="1"/>
          </p:cNvSpPr>
          <p:nvPr/>
        </p:nvSpPr>
        <p:spPr>
          <a:xfrm>
            <a:off x="941832" y="422452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54" name="cell"/>
          <p:cNvSpPr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5" name="celt"/>
          <p:cNvSpPr txBox="1"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2" name="cell"/>
          <p:cNvSpPr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6" name="celt"/>
          <p:cNvSpPr txBox="1"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3" name="cell"/>
          <p:cNvSpPr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7" name="celt"/>
          <p:cNvSpPr txBox="1"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4" name="cell"/>
          <p:cNvSpPr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8" name="celt"/>
          <p:cNvSpPr txBox="1"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5" name="cell"/>
          <p:cNvSpPr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9" name="celt"/>
          <p:cNvSpPr txBox="1"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62" name="db"/>
          <p:cNvSpPr>
            <a:spLocks noGrp="1"/>
          </p:cNvSpPr>
          <p:nvPr/>
        </p:nvSpPr>
        <p:spPr>
          <a:xfrm>
            <a:off x="886968" y="4425696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63" name="dt"/>
          <p:cNvSpPr txBox="1">
            <a:spLocks noGrp="1"/>
          </p:cNvSpPr>
          <p:nvPr/>
        </p:nvSpPr>
        <p:spPr>
          <a:xfrm>
            <a:off x="941832" y="442569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264" name="cell"/>
          <p:cNvSpPr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5" name="celt"/>
          <p:cNvSpPr txBox="1"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6" name="cell"/>
          <p:cNvSpPr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6" name="celt"/>
          <p:cNvSpPr txBox="1"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7" name="cell"/>
          <p:cNvSpPr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7" name="celt"/>
          <p:cNvSpPr txBox="1"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8" name="cell"/>
          <p:cNvSpPr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8" name="celt"/>
          <p:cNvSpPr txBox="1"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9" name="cell"/>
          <p:cNvSpPr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69" name="celt"/>
          <p:cNvSpPr txBox="1"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72" name="db"/>
          <p:cNvSpPr>
            <a:spLocks noGrp="1"/>
          </p:cNvSpPr>
          <p:nvPr/>
        </p:nvSpPr>
        <p:spPr>
          <a:xfrm>
            <a:off x="886968" y="4626864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73" name="dt"/>
          <p:cNvSpPr txBox="1">
            <a:spLocks noGrp="1"/>
          </p:cNvSpPr>
          <p:nvPr/>
        </p:nvSpPr>
        <p:spPr>
          <a:xfrm>
            <a:off x="941832" y="462686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274" name="cell"/>
          <p:cNvSpPr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5" name="celt"/>
          <p:cNvSpPr txBox="1"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0" name="cell"/>
          <p:cNvSpPr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6" name="celt"/>
          <p:cNvSpPr txBox="1"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1" name="cell"/>
          <p:cNvSpPr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7" name="celt"/>
          <p:cNvSpPr txBox="1"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2" name="cell"/>
          <p:cNvSpPr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8" name="celt"/>
          <p:cNvSpPr txBox="1"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3" name="cell"/>
          <p:cNvSpPr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9" name="celt"/>
          <p:cNvSpPr txBox="1"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Excel Levantamiento_Mesas_Julio_2026 · Reuniones con Elsy Marin, Michael Arevalo, Diego Serna, Virginia y Lina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Capacidad Instalada y Costo por Ticket — Comparacion con la Industria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F0D0E8"/>
                </a:solidFill>
                <a:latin typeface="Calibri"/>
              </a:rPr>
              <a:t>Supuesto: $88.000 COP/hora-FTE · TRM: $4.200 COP/USD · Fuente: Levantamiento interno PS · Julio 2026</a:t>
            </a:r>
          </a:p>
        </p:txBody>
      </p:sp>
      <p:sp>
        <p:nvSpPr>
          <p:cNvPr id="10" name="rb"/>
          <p:cNvSpPr>
            <a:spLocks noGrp="1"/>
          </p:cNvSpPr>
          <p:nvPr/>
        </p:nvSpPr>
        <p:spPr>
          <a:xfrm>
            <a:off x="32004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5875">
            <a:solidFill>
              <a:srgbClr val="C00000"/>
            </a:solidFill>
          </a:ln>
        </p:spPr>
      </p:sp>
      <p:sp>
        <p:nvSpPr>
          <p:cNvPr id="11" name="rbar"/>
          <p:cNvSpPr>
            <a:spLocks noGrp="1"/>
          </p:cNvSpPr>
          <p:nvPr/>
        </p:nvSpPr>
        <p:spPr>
          <a:xfrm>
            <a:off x="32004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rn"/>
          <p:cNvSpPr txBox="1">
            <a:spLocks noGrp="1"/>
          </p:cNvSpPr>
          <p:nvPr/>
        </p:nvSpPr>
        <p:spPr>
          <a:xfrm>
            <a:off x="32004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000" b="1" dirty="0">
                <a:solidFill>
                  <a:srgbClr val="C00000"/>
                </a:solidFill>
                <a:latin typeface="Calibri"/>
              </a:rPr>
              <a:t>USD 35</a:t>
            </a:r>
          </a:p>
        </p:txBody>
      </p:sp>
      <p:sp>
        <p:nvSpPr>
          <p:cNvPr id="13" name="rl"/>
          <p:cNvSpPr txBox="1">
            <a:spLocks noGrp="1"/>
          </p:cNvSpPr>
          <p:nvPr/>
        </p:nvSpPr>
        <p:spPr>
          <a:xfrm>
            <a:off x="39319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Costo/ticket industria
N1-N2 promedio</a:t>
            </a:r>
          </a:p>
        </p:txBody>
      </p:sp>
      <p:sp>
        <p:nvSpPr>
          <p:cNvPr id="14" name="rs"/>
          <p:cNvSpPr txBox="1">
            <a:spLocks noGrp="1"/>
          </p:cNvSpPr>
          <p:nvPr/>
        </p:nvSpPr>
        <p:spPr>
          <a:xfrm>
            <a:off x="39319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Gartner / MetricNet 2024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33756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5875">
            <a:solidFill>
              <a:srgbClr val="92400E"/>
            </a:solidFill>
          </a:ln>
        </p:spPr>
      </p:sp>
      <p:sp>
        <p:nvSpPr>
          <p:cNvPr id="15" name="rbar"/>
          <p:cNvSpPr>
            <a:spLocks noGrp="1"/>
          </p:cNvSpPr>
          <p:nvPr/>
        </p:nvSpPr>
        <p:spPr>
          <a:xfrm>
            <a:off x="333756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6" name="rn"/>
          <p:cNvSpPr txBox="1">
            <a:spLocks noGrp="1"/>
          </p:cNvSpPr>
          <p:nvPr/>
        </p:nvSpPr>
        <p:spPr>
          <a:xfrm>
            <a:off x="333756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000" b="1" dirty="0">
                <a:solidFill>
                  <a:srgbClr val="92400E"/>
                </a:solidFill>
                <a:latin typeface="Calibri"/>
              </a:rPr>
              <a:t>8.85h</a:t>
            </a:r>
          </a:p>
        </p:txBody>
      </p:sp>
      <p:sp>
        <p:nvSpPr>
          <p:cNvPr id="17" name="rl"/>
          <p:cNvSpPr txBox="1">
            <a:spLocks noGrp="1"/>
          </p:cNvSpPr>
          <p:nvPr/>
        </p:nvSpPr>
        <p:spPr>
          <a:xfrm>
            <a:off x="341071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92400E"/>
                </a:solidFill>
                <a:latin typeface="Calibri"/>
              </a:rPr>
              <a:t>MTTR promedio industria
(tiempo resolución)</a:t>
            </a:r>
          </a:p>
        </p:txBody>
      </p:sp>
      <p:sp>
        <p:nvSpPr>
          <p:cNvPr id="18" name="rs"/>
          <p:cNvSpPr txBox="1">
            <a:spLocks noGrp="1"/>
          </p:cNvSpPr>
          <p:nvPr/>
        </p:nvSpPr>
        <p:spPr>
          <a:xfrm>
            <a:off x="341071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HDI Standard / MetricNet</a:t>
            </a:r>
          </a:p>
        </p:txBody>
      </p:sp>
      <p:sp>
        <p:nvSpPr>
          <p:cNvPr id="7" name="rb"/>
          <p:cNvSpPr>
            <a:spLocks noGrp="1"/>
          </p:cNvSpPr>
          <p:nvPr/>
        </p:nvSpPr>
        <p:spPr>
          <a:xfrm>
            <a:off x="635508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19" name="rbar"/>
          <p:cNvSpPr>
            <a:spLocks noGrp="1"/>
          </p:cNvSpPr>
          <p:nvPr/>
        </p:nvSpPr>
        <p:spPr>
          <a:xfrm>
            <a:off x="635508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0" name="rn"/>
          <p:cNvSpPr txBox="1">
            <a:spLocks noGrp="1"/>
          </p:cNvSpPr>
          <p:nvPr/>
        </p:nvSpPr>
        <p:spPr>
          <a:xfrm>
            <a:off x="635508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000" b="1" dirty="0">
                <a:solidFill>
                  <a:srgbClr val="1A6B3C"/>
                </a:solidFill>
                <a:latin typeface="Calibri"/>
              </a:rPr>
              <a:t>USD 15</a:t>
            </a:r>
          </a:p>
        </p:txBody>
      </p:sp>
      <p:sp>
        <p:nvSpPr>
          <p:cNvPr id="21" name="rl"/>
          <p:cNvSpPr txBox="1">
            <a:spLocks noGrp="1"/>
          </p:cNvSpPr>
          <p:nvPr/>
        </p:nvSpPr>
        <p:spPr>
          <a:xfrm>
            <a:off x="642823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6B3C"/>
                </a:solidFill>
                <a:latin typeface="Calibri"/>
              </a:rPr>
              <a:t>Meta costo/ticket N3
PersonalSoft Wave 1</a:t>
            </a:r>
          </a:p>
        </p:txBody>
      </p:sp>
      <p:sp>
        <p:nvSpPr>
          <p:cNvPr id="22" name="rs"/>
          <p:cNvSpPr txBox="1">
            <a:spLocks noGrp="1"/>
          </p:cNvSpPr>
          <p:nvPr/>
        </p:nvSpPr>
        <p:spPr>
          <a:xfrm>
            <a:off x="642823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-57% vs industria actual</a:t>
            </a:r>
          </a:p>
        </p:txBody>
      </p:sp>
      <p:sp>
        <p:nvSpPr>
          <p:cNvPr id="8" name="arr"/>
          <p:cNvSpPr txBox="1">
            <a:spLocks noGrp="1"/>
          </p:cNvSpPr>
          <p:nvPr/>
        </p:nvSpPr>
        <p:spPr>
          <a:xfrm>
            <a:off x="2788920" y="1078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9" name="arr"/>
          <p:cNvSpPr txBox="1">
            <a:spLocks noGrp="1"/>
          </p:cNvSpPr>
          <p:nvPr/>
        </p:nvSpPr>
        <p:spPr>
          <a:xfrm>
            <a:off x="5806440" y="1078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20040" y="1737360"/>
            <a:ext cx="7955279" cy="347472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20040" y="1737360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Mesa de Servicio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1764792" y="17373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2148840" y="173736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Tickets/mes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2807208" y="173736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MTTR (h)</a:t>
            </a:r>
          </a:p>
        </p:txBody>
      </p:sp>
      <p:sp>
        <p:nvSpPr>
          <p:cNvPr id="35" name="th"/>
          <p:cNvSpPr txBox="1">
            <a:spLocks noGrp="1"/>
          </p:cNvSpPr>
          <p:nvPr/>
        </p:nvSpPr>
        <p:spPr>
          <a:xfrm>
            <a:off x="3374136" y="1737360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6" name="th"/>
          <p:cNvSpPr txBox="1">
            <a:spLocks noGrp="1"/>
          </p:cNvSpPr>
          <p:nvPr/>
        </p:nvSpPr>
        <p:spPr>
          <a:xfrm>
            <a:off x="3849624" y="17373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Costo total/mes
(COP)</a:t>
            </a:r>
          </a:p>
        </p:txBody>
      </p:sp>
      <p:sp>
        <p:nvSpPr>
          <p:cNvPr id="37" name="th"/>
          <p:cNvSpPr txBox="1">
            <a:spLocks noGrp="1"/>
          </p:cNvSpPr>
          <p:nvPr/>
        </p:nvSpPr>
        <p:spPr>
          <a:xfrm>
            <a:off x="4946904" y="17373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Costo/ticket
(COP)</a:t>
            </a:r>
          </a:p>
        </p:txBody>
      </p:sp>
      <p:sp>
        <p:nvSpPr>
          <p:cNvPr id="38" name="th"/>
          <p:cNvSpPr txBox="1">
            <a:spLocks noGrp="1"/>
          </p:cNvSpPr>
          <p:nvPr/>
        </p:nvSpPr>
        <p:spPr>
          <a:xfrm>
            <a:off x="5861304" y="173736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Costo/ticket
(USD)</a:t>
            </a:r>
          </a:p>
        </p:txBody>
      </p:sp>
      <p:sp>
        <p:nvSpPr>
          <p:cNvPr id="39" name="th"/>
          <p:cNvSpPr txBox="1">
            <a:spLocks noGrp="1"/>
          </p:cNvSpPr>
          <p:nvPr/>
        </p:nvSpPr>
        <p:spPr>
          <a:xfrm>
            <a:off x="6629400" y="1737360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vs Industria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320040" y="208483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320040" y="208483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1764792" y="208483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148840" y="208483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2807208" y="208483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24.6h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3374136" y="208483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3849624" y="20848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4946904" y="2084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5861304" y="208483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$40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6629400" y="208483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+$+5</a:t>
            </a:r>
          </a:p>
        </p:txBody>
      </p:sp>
      <p:sp>
        <p:nvSpPr>
          <p:cNvPr id="23" name="nb"/>
          <p:cNvSpPr>
            <a:spLocks noGrp="1"/>
          </p:cNvSpPr>
          <p:nvPr/>
        </p:nvSpPr>
        <p:spPr>
          <a:xfrm>
            <a:off x="1618488" y="217627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24" name="nt"/>
          <p:cNvSpPr txBox="1">
            <a:spLocks noGrp="1"/>
          </p:cNvSpPr>
          <p:nvPr/>
        </p:nvSpPr>
        <p:spPr>
          <a:xfrm>
            <a:off x="1618488" y="217627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55" name="rb"/>
          <p:cNvSpPr>
            <a:spLocks noGrp="1"/>
          </p:cNvSpPr>
          <p:nvPr/>
        </p:nvSpPr>
        <p:spPr>
          <a:xfrm>
            <a:off x="320040" y="245059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56" name="c"/>
          <p:cNvSpPr txBox="1">
            <a:spLocks noGrp="1"/>
          </p:cNvSpPr>
          <p:nvPr/>
        </p:nvSpPr>
        <p:spPr>
          <a:xfrm>
            <a:off x="320040" y="245059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1764792" y="245059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2148840" y="245059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9" name="c"/>
          <p:cNvSpPr txBox="1">
            <a:spLocks noGrp="1"/>
          </p:cNvSpPr>
          <p:nvPr/>
        </p:nvSpPr>
        <p:spPr>
          <a:xfrm>
            <a:off x="2807208" y="245059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12.4h</a:t>
            </a:r>
          </a:p>
        </p:txBody>
      </p:sp>
      <p:sp>
        <p:nvSpPr>
          <p:cNvPr id="60" name="c"/>
          <p:cNvSpPr txBox="1">
            <a:spLocks noGrp="1"/>
          </p:cNvSpPr>
          <p:nvPr/>
        </p:nvSpPr>
        <p:spPr>
          <a:xfrm>
            <a:off x="3374136" y="245059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61" name="c"/>
          <p:cNvSpPr txBox="1">
            <a:spLocks noGrp="1"/>
          </p:cNvSpPr>
          <p:nvPr/>
        </p:nvSpPr>
        <p:spPr>
          <a:xfrm>
            <a:off x="3849624" y="24505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4946904" y="24505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5861304" y="245059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$39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6629400" y="245059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+$+4</a:t>
            </a:r>
          </a:p>
        </p:txBody>
      </p:sp>
      <p:sp>
        <p:nvSpPr>
          <p:cNvPr id="25" name="nb"/>
          <p:cNvSpPr>
            <a:spLocks noGrp="1"/>
          </p:cNvSpPr>
          <p:nvPr/>
        </p:nvSpPr>
        <p:spPr>
          <a:xfrm>
            <a:off x="1618488" y="254203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26" name="nt"/>
          <p:cNvSpPr txBox="1">
            <a:spLocks noGrp="1"/>
          </p:cNvSpPr>
          <p:nvPr/>
        </p:nvSpPr>
        <p:spPr>
          <a:xfrm>
            <a:off x="1618488" y="25420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320040" y="281635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1" name="c"/>
          <p:cNvSpPr txBox="1">
            <a:spLocks noGrp="1"/>
          </p:cNvSpPr>
          <p:nvPr/>
        </p:nvSpPr>
        <p:spPr>
          <a:xfrm>
            <a:off x="320040" y="281635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1764792" y="281635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2148840" y="281635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74" name="c"/>
          <p:cNvSpPr txBox="1">
            <a:spLocks noGrp="1"/>
          </p:cNvSpPr>
          <p:nvPr/>
        </p:nvSpPr>
        <p:spPr>
          <a:xfrm>
            <a:off x="2807208" y="281635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6B3C"/>
                </a:solidFill>
                <a:latin typeface="Calibri"/>
              </a:rPr>
              <a:t>3.0h</a:t>
            </a:r>
          </a:p>
        </p:txBody>
      </p:sp>
      <p:sp>
        <p:nvSpPr>
          <p:cNvPr id="75" name="c"/>
          <p:cNvSpPr txBox="1">
            <a:spLocks noGrp="1"/>
          </p:cNvSpPr>
          <p:nvPr/>
        </p:nvSpPr>
        <p:spPr>
          <a:xfrm>
            <a:off x="3374136" y="281635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3849624" y="28163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4946904" y="281635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5861304" y="281635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$39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6629400" y="281635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+$+4</a:t>
            </a:r>
          </a:p>
        </p:txBody>
      </p:sp>
      <p:sp>
        <p:nvSpPr>
          <p:cNvPr id="27" name="nb"/>
          <p:cNvSpPr>
            <a:spLocks noGrp="1"/>
          </p:cNvSpPr>
          <p:nvPr/>
        </p:nvSpPr>
        <p:spPr>
          <a:xfrm>
            <a:off x="1618488" y="290779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28" name="nt"/>
          <p:cNvSpPr txBox="1">
            <a:spLocks noGrp="1"/>
          </p:cNvSpPr>
          <p:nvPr/>
        </p:nvSpPr>
        <p:spPr>
          <a:xfrm>
            <a:off x="1618488" y="290779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85" name="rb"/>
          <p:cNvSpPr>
            <a:spLocks noGrp="1"/>
          </p:cNvSpPr>
          <p:nvPr/>
        </p:nvSpPr>
        <p:spPr>
          <a:xfrm>
            <a:off x="320040" y="318211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86" name="c"/>
          <p:cNvSpPr txBox="1">
            <a:spLocks noGrp="1"/>
          </p:cNvSpPr>
          <p:nvPr/>
        </p:nvSpPr>
        <p:spPr>
          <a:xfrm>
            <a:off x="320040" y="318211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1764792" y="318211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2148840" y="318211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9" name="c"/>
          <p:cNvSpPr txBox="1">
            <a:spLocks noGrp="1"/>
          </p:cNvSpPr>
          <p:nvPr/>
        </p:nvSpPr>
        <p:spPr>
          <a:xfrm>
            <a:off x="2807208" y="318211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17.9h</a:t>
            </a:r>
          </a:p>
        </p:txBody>
      </p:sp>
      <p:sp>
        <p:nvSpPr>
          <p:cNvPr id="90" name="c"/>
          <p:cNvSpPr txBox="1">
            <a:spLocks noGrp="1"/>
          </p:cNvSpPr>
          <p:nvPr/>
        </p:nvSpPr>
        <p:spPr>
          <a:xfrm>
            <a:off x="3374136" y="318211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91" name="c"/>
          <p:cNvSpPr txBox="1">
            <a:spLocks noGrp="1"/>
          </p:cNvSpPr>
          <p:nvPr/>
        </p:nvSpPr>
        <p:spPr>
          <a:xfrm>
            <a:off x="3849624" y="31821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4946904" y="318211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5861304" y="318211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$20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6629400" y="318211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6B3C"/>
                </a:solidFill>
                <a:latin typeface="Calibri"/>
              </a:rPr>
              <a:t>$-15</a:t>
            </a:r>
          </a:p>
        </p:txBody>
      </p:sp>
      <p:sp>
        <p:nvSpPr>
          <p:cNvPr id="29" name="nb"/>
          <p:cNvSpPr>
            <a:spLocks noGrp="1"/>
          </p:cNvSpPr>
          <p:nvPr/>
        </p:nvSpPr>
        <p:spPr>
          <a:xfrm>
            <a:off x="1618488" y="327355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50" name="nt"/>
          <p:cNvSpPr txBox="1">
            <a:spLocks noGrp="1"/>
          </p:cNvSpPr>
          <p:nvPr/>
        </p:nvSpPr>
        <p:spPr>
          <a:xfrm>
            <a:off x="1618488" y="327355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00" name="rb"/>
          <p:cNvSpPr>
            <a:spLocks noGrp="1"/>
          </p:cNvSpPr>
          <p:nvPr/>
        </p:nvSpPr>
        <p:spPr>
          <a:xfrm>
            <a:off x="320040" y="354787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1" name="c"/>
          <p:cNvSpPr txBox="1">
            <a:spLocks noGrp="1"/>
          </p:cNvSpPr>
          <p:nvPr/>
        </p:nvSpPr>
        <p:spPr>
          <a:xfrm>
            <a:off x="320040" y="354787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1764792" y="354787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2148840" y="354787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104" name="c"/>
          <p:cNvSpPr txBox="1">
            <a:spLocks noGrp="1"/>
          </p:cNvSpPr>
          <p:nvPr/>
        </p:nvSpPr>
        <p:spPr>
          <a:xfrm>
            <a:off x="2807208" y="354787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5" name="c"/>
          <p:cNvSpPr txBox="1">
            <a:spLocks noGrp="1"/>
          </p:cNvSpPr>
          <p:nvPr/>
        </p:nvSpPr>
        <p:spPr>
          <a:xfrm>
            <a:off x="3374136" y="354787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92400E"/>
                </a:solidFill>
                <a:latin typeface="Calibri"/>
              </a:rPr>
              <a:t>N/D</a:t>
            </a:r>
          </a:p>
        </p:txBody>
      </p:sp>
      <p:sp>
        <p:nvSpPr>
          <p:cNvPr id="106" name="c"/>
          <p:cNvSpPr txBox="1">
            <a:spLocks noGrp="1"/>
          </p:cNvSpPr>
          <p:nvPr/>
        </p:nvSpPr>
        <p:spPr>
          <a:xfrm>
            <a:off x="3849624" y="3547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4946904" y="35478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5861304" y="354787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$149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6629400" y="354787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+$+114</a:t>
            </a:r>
          </a:p>
        </p:txBody>
      </p:sp>
      <p:sp>
        <p:nvSpPr>
          <p:cNvPr id="51" name="nb"/>
          <p:cNvSpPr>
            <a:spLocks noGrp="1"/>
          </p:cNvSpPr>
          <p:nvPr/>
        </p:nvSpPr>
        <p:spPr>
          <a:xfrm>
            <a:off x="1618488" y="363931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52" name="nt"/>
          <p:cNvSpPr txBox="1">
            <a:spLocks noGrp="1"/>
          </p:cNvSpPr>
          <p:nvPr/>
        </p:nvSpPr>
        <p:spPr>
          <a:xfrm>
            <a:off x="1618488" y="363931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15" name="rb"/>
          <p:cNvSpPr>
            <a:spLocks noGrp="1"/>
          </p:cNvSpPr>
          <p:nvPr/>
        </p:nvSpPr>
        <p:spPr>
          <a:xfrm>
            <a:off x="320040" y="391363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116" name="c"/>
          <p:cNvSpPr txBox="1">
            <a:spLocks noGrp="1"/>
          </p:cNvSpPr>
          <p:nvPr/>
        </p:nvSpPr>
        <p:spPr>
          <a:xfrm>
            <a:off x="320040" y="391363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1764792" y="391363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2148840" y="391363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9" name="c"/>
          <p:cNvSpPr txBox="1">
            <a:spLocks noGrp="1"/>
          </p:cNvSpPr>
          <p:nvPr/>
        </p:nvSpPr>
        <p:spPr>
          <a:xfrm>
            <a:off x="2807208" y="391363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c"/>
          <p:cNvSpPr txBox="1">
            <a:spLocks noGrp="1"/>
          </p:cNvSpPr>
          <p:nvPr/>
        </p:nvSpPr>
        <p:spPr>
          <a:xfrm>
            <a:off x="3374136" y="391363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92400E"/>
                </a:solidFill>
                <a:latin typeface="Calibri"/>
              </a:rPr>
              <a:t>N/D</a:t>
            </a:r>
          </a:p>
        </p:txBody>
      </p:sp>
      <p:sp>
        <p:nvSpPr>
          <p:cNvPr id="121" name="c"/>
          <p:cNvSpPr txBox="1">
            <a:spLocks noGrp="1"/>
          </p:cNvSpPr>
          <p:nvPr/>
        </p:nvSpPr>
        <p:spPr>
          <a:xfrm>
            <a:off x="3849624" y="39136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4946904" y="39136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5861304" y="391363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6629400" y="391363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53" name="nb"/>
          <p:cNvSpPr>
            <a:spLocks noGrp="1"/>
          </p:cNvSpPr>
          <p:nvPr/>
        </p:nvSpPr>
        <p:spPr>
          <a:xfrm>
            <a:off x="1618488" y="400507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54" name="nt"/>
          <p:cNvSpPr txBox="1">
            <a:spLocks noGrp="1"/>
          </p:cNvSpPr>
          <p:nvPr/>
        </p:nvSpPr>
        <p:spPr>
          <a:xfrm>
            <a:off x="1618488" y="400507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50" name="totbg"/>
          <p:cNvSpPr>
            <a:spLocks noGrp="1"/>
          </p:cNvSpPr>
          <p:nvPr/>
        </p:nvSpPr>
        <p:spPr>
          <a:xfrm>
            <a:off x="320040" y="4279392"/>
            <a:ext cx="7955279" cy="347472"/>
          </a:xfrm>
          <a:prstGeom prst="rect">
            <a:avLst/>
          </a:prstGeom>
          <a:solidFill>
            <a:srgbClr val="EDE9FE"/>
          </a:solidFill>
          <a:ln w="15875">
            <a:solidFill>
              <a:srgbClr val="6B2D5E"/>
            </a:solidFill>
          </a:ln>
        </p:spPr>
      </p:sp>
      <p:sp>
        <p:nvSpPr>
          <p:cNvPr id="160" name="tc"/>
          <p:cNvSpPr txBox="1">
            <a:spLocks noGrp="1"/>
          </p:cNvSpPr>
          <p:nvPr/>
        </p:nvSpPr>
        <p:spPr>
          <a:xfrm>
            <a:off x="320040" y="427939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61" name="tc"/>
          <p:cNvSpPr txBox="1">
            <a:spLocks noGrp="1"/>
          </p:cNvSpPr>
          <p:nvPr/>
        </p:nvSpPr>
        <p:spPr>
          <a:xfrm>
            <a:off x="1764792" y="4279392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62" name="tc"/>
          <p:cNvSpPr txBox="1">
            <a:spLocks noGrp="1"/>
          </p:cNvSpPr>
          <p:nvPr/>
        </p:nvSpPr>
        <p:spPr>
          <a:xfrm>
            <a:off x="2148840" y="427939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63" name="tc"/>
          <p:cNvSpPr txBox="1">
            <a:spLocks noGrp="1"/>
          </p:cNvSpPr>
          <p:nvPr/>
        </p:nvSpPr>
        <p:spPr>
          <a:xfrm>
            <a:off x="2807208" y="42793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Promedio 14.5h</a:t>
            </a:r>
          </a:p>
        </p:txBody>
      </p:sp>
      <p:sp>
        <p:nvSpPr>
          <p:cNvPr id="164" name="tc"/>
          <p:cNvSpPr txBox="1">
            <a:spLocks noGrp="1"/>
          </p:cNvSpPr>
          <p:nvPr/>
        </p:nvSpPr>
        <p:spPr>
          <a:xfrm>
            <a:off x="3374136" y="4279392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Prom. 78.5%</a:t>
            </a:r>
          </a:p>
        </p:txBody>
      </p:sp>
      <p:sp>
        <p:nvSpPr>
          <p:cNvPr id="165" name="tc"/>
          <p:cNvSpPr txBox="1">
            <a:spLocks noGrp="1"/>
          </p:cNvSpPr>
          <p:nvPr/>
        </p:nvSpPr>
        <p:spPr>
          <a:xfrm>
            <a:off x="3849624" y="4279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$239.4M</a:t>
            </a:r>
          </a:p>
        </p:txBody>
      </p:sp>
      <p:sp>
        <p:nvSpPr>
          <p:cNvPr id="166" name="tc"/>
          <p:cNvSpPr txBox="1">
            <a:spLocks noGrp="1"/>
          </p:cNvSpPr>
          <p:nvPr/>
        </p:nvSpPr>
        <p:spPr>
          <a:xfrm>
            <a:off x="4946904" y="42793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167" name="tc"/>
          <p:cNvSpPr txBox="1">
            <a:spLocks noGrp="1"/>
          </p:cNvSpPr>
          <p:nvPr/>
        </p:nvSpPr>
        <p:spPr>
          <a:xfrm>
            <a:off x="5861304" y="427939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6B2D5E"/>
                </a:solidFill>
                <a:latin typeface="Calibri"/>
              </a:rPr>
              <a:t>USD $37</a:t>
            </a:r>
          </a:p>
        </p:txBody>
      </p:sp>
      <p:sp>
        <p:nvSpPr>
          <p:cNvPr id="168" name="tc"/>
          <p:cNvSpPr txBox="1">
            <a:spLocks noGrp="1"/>
          </p:cNvSpPr>
          <p:nvPr/>
        </p:nvSpPr>
        <p:spPr>
          <a:xfrm>
            <a:off x="6629400" y="4279392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C00000"/>
                </a:solidFill>
                <a:latin typeface="Calibri"/>
              </a:rPr>
              <a:t>+$2 vs ind.</a:t>
            </a:r>
          </a:p>
        </p:txBody>
      </p:sp>
      <p:sp>
        <p:nvSpPr>
          <p:cNvPr id="200" name="ins1bg"/>
          <p:cNvSpPr>
            <a:spLocks noGrp="1"/>
          </p:cNvSpPr>
          <p:nvPr/>
        </p:nvSpPr>
        <p:spPr>
          <a:xfrm>
            <a:off x="320040" y="4681728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</p:sp>
      <p:sp>
        <p:nvSpPr>
          <p:cNvPr id="201" name="ins1t"/>
          <p:cNvSpPr txBox="1">
            <a:spLocks noGrp="1"/>
          </p:cNvSpPr>
          <p:nvPr/>
        </p:nvSpPr>
        <p:spPr>
          <a:xfrm>
            <a:off x="457200" y="4718304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¿Por que cuesta mas que la industria?  </a:t>
            </a:r>
            <a:r>
              <a:rPr lang="es-ES" sz="860" dirty="0">
                <a:solidFill>
                  <a:srgbClr val="92400E"/>
                </a:solidFill>
                <a:latin typeface="Calibri"/>
              </a:rPr>
              <a:t>MTTR alto (hasta 24.5h) + sin autoservicio + 0% deflexion N0 → cada ticket consume horas completas de FTE senior</a:t>
            </a:r>
          </a:p>
        </p:txBody>
      </p:sp>
      <p:sp>
        <p:nvSpPr>
          <p:cNvPr id="205" name="ins2bg"/>
          <p:cNvSpPr>
            <a:spLocks noGrp="1"/>
          </p:cNvSpPr>
          <p:nvPr/>
        </p:nvSpPr>
        <p:spPr>
          <a:xfrm>
            <a:off x="320040" y="5285232"/>
            <a:ext cx="5166360" cy="475488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06" name="ins2t"/>
          <p:cNvSpPr txBox="1">
            <a:spLocks noGrp="1"/>
          </p:cNvSpPr>
          <p:nvPr/>
        </p:nvSpPr>
        <p:spPr>
          <a:xfrm>
            <a:off x="457200" y="5285232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b="1" dirty="0">
                <a:solidFill>
                  <a:srgbClr val="1A6B3C"/>
                </a:solidFill>
                <a:latin typeface="Calibri"/>
              </a:rPr>
              <a:t>Potencial de ahorro con N3 Gen Next:  </a:t>
            </a:r>
            <a:r>
              <a:rPr lang="es-ES" sz="860" dirty="0">
                <a:solidFill>
                  <a:srgbClr val="1A6B3C"/>
                </a:solidFill>
                <a:latin typeface="Calibri"/>
              </a:rPr>
              <a:t>Si se reduce a USD $15/ticket → ahorro $143M COP/mes solo en SURA (4 mesas)</a:t>
            </a:r>
          </a:p>
        </p:txBody>
      </p:sp>
      <p:sp>
        <p:nvSpPr>
          <p:cNvPr id="210" name="kpibg"/>
          <p:cNvSpPr>
            <a:spLocks noGrp="1"/>
          </p:cNvSpPr>
          <p:nvPr/>
        </p:nvSpPr>
        <p:spPr>
          <a:xfrm>
            <a:off x="5577840" y="4681728"/>
            <a:ext cx="2697480" cy="1078992"/>
          </a:xfrm>
          <a:prstGeom prst="roundRect">
            <a:avLst>
              <a:gd name="adj" fmla="val 12000"/>
            </a:avLst>
          </a:prstGeom>
          <a:solidFill>
            <a:srgbClr val="F5E6F0"/>
          </a:solidFill>
          <a:ln w="15875">
            <a:solidFill>
              <a:srgbClr val="6B2D5E"/>
            </a:solidFill>
          </a:ln>
        </p:spPr>
      </p:sp>
      <p:sp>
        <p:nvSpPr>
          <p:cNvPr id="211" name="kpihdr"/>
          <p:cNvSpPr>
            <a:spLocks noGrp="1"/>
          </p:cNvSpPr>
          <p:nvPr/>
        </p:nvSpPr>
        <p:spPr>
          <a:xfrm>
            <a:off x="5577840" y="4681728"/>
            <a:ext cx="2697480" cy="274320"/>
          </a:xfrm>
          <a:prstGeom prst="roundRect">
            <a:avLst>
              <a:gd name="adj" fmla="val 12000"/>
            </a:avLst>
          </a:prstGeom>
          <a:solidFill>
            <a:srgbClr val="6B2D5E"/>
          </a:solidFill>
          <a:ln>
            <a:noFill/>
          </a:ln>
        </p:spPr>
      </p:sp>
      <p:sp>
        <p:nvSpPr>
          <p:cNvPr id="212" name="kpihdrt"/>
          <p:cNvSpPr txBox="1">
            <a:spLocks noGrp="1"/>
          </p:cNvSpPr>
          <p:nvPr/>
        </p:nvSpPr>
        <p:spPr>
          <a:xfrm>
            <a:off x="5577840" y="468172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OPORTUNIDAD ECONOMICA</a:t>
            </a:r>
          </a:p>
        </p:txBody>
      </p:sp>
      <p:sp>
        <p:nvSpPr>
          <p:cNvPr id="215" name="kn"/>
          <p:cNvSpPr txBox="1">
            <a:spLocks noGrp="1"/>
          </p:cNvSpPr>
          <p:nvPr/>
        </p:nvSpPr>
        <p:spPr>
          <a:xfrm>
            <a:off x="5669280" y="501091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6B2D5E"/>
                </a:solidFill>
                <a:latin typeface="Calibri"/>
              </a:rPr>
              <a:t>$143M COP/mes</a:t>
            </a:r>
          </a:p>
        </p:txBody>
      </p:sp>
      <p:sp>
        <p:nvSpPr>
          <p:cNvPr id="216" name="kl"/>
          <p:cNvSpPr txBox="1">
            <a:spLocks noGrp="1"/>
          </p:cNvSpPr>
          <p:nvPr/>
        </p:nvSpPr>
        <p:spPr>
          <a:xfrm>
            <a:off x="6995160" y="501091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ahorro potencial SURA → N3</a:t>
            </a:r>
          </a:p>
        </p:txBody>
      </p:sp>
      <p:sp>
        <p:nvSpPr>
          <p:cNvPr id="217" name="kn"/>
          <p:cNvSpPr txBox="1">
            <a:spLocks noGrp="1"/>
          </p:cNvSpPr>
          <p:nvPr/>
        </p:nvSpPr>
        <p:spPr>
          <a:xfrm>
            <a:off x="5669280" y="51937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6B2D5E"/>
                </a:solidFill>
                <a:latin typeface="Calibri"/>
              </a:rPr>
              <a:t>17 FTE · 1.525 tix/mes</a:t>
            </a:r>
          </a:p>
        </p:txBody>
      </p:sp>
      <p:sp>
        <p:nvSpPr>
          <p:cNvPr id="218" name="kl"/>
          <p:cNvSpPr txBox="1">
            <a:spLocks noGrp="1"/>
          </p:cNvSpPr>
          <p:nvPr/>
        </p:nvSpPr>
        <p:spPr>
          <a:xfrm>
            <a:off x="6995160" y="519379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capacidad SURA levantada</a:t>
            </a:r>
          </a:p>
        </p:txBody>
      </p:sp>
      <p:sp>
        <p:nvSpPr>
          <p:cNvPr id="219" name="kn"/>
          <p:cNvSpPr txBox="1">
            <a:spLocks noGrp="1"/>
          </p:cNvSpPr>
          <p:nvPr/>
        </p:nvSpPr>
        <p:spPr>
          <a:xfrm>
            <a:off x="5669280" y="537667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6B2D5E"/>
                </a:solidFill>
                <a:latin typeface="Calibri"/>
              </a:rPr>
              <a:t>SLA prom. 78.5%</a:t>
            </a:r>
          </a:p>
        </p:txBody>
      </p:sp>
      <p:sp>
        <p:nvSpPr>
          <p:cNvPr id="220" name="kl"/>
          <p:cNvSpPr txBox="1">
            <a:spLocks noGrp="1"/>
          </p:cNvSpPr>
          <p:nvPr/>
        </p:nvSpPr>
        <p:spPr>
          <a:xfrm>
            <a:off x="6995160" y="537667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vs meta 92% N3</a:t>
            </a:r>
          </a:p>
        </p:txBody>
      </p:sp>
      <p:sp>
        <p:nvSpPr>
          <p:cNvPr id="221" name="kn"/>
          <p:cNvSpPr txBox="1">
            <a:spLocks noGrp="1"/>
          </p:cNvSpPr>
          <p:nvPr/>
        </p:nvSpPr>
        <p:spPr>
          <a:xfrm>
            <a:off x="5669280" y="55595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6B2D5E"/>
                </a:solidFill>
                <a:latin typeface="Calibri"/>
              </a:rPr>
              <a:t>-57% costo/ticket</a:t>
            </a:r>
          </a:p>
        </p:txBody>
      </p:sp>
      <p:sp>
        <p:nvSpPr>
          <p:cNvPr id="222" name="kl"/>
          <p:cNvSpPr txBox="1">
            <a:spLocks noGrp="1"/>
          </p:cNvSpPr>
          <p:nvPr/>
        </p:nvSpPr>
        <p:spPr>
          <a:xfrm>
            <a:off x="6995160" y="555955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al llegar a N3 USD $15</a:t>
            </a:r>
          </a:p>
        </p:txBody>
      </p:sp>
      <p:sp>
        <p:nvSpPr>
          <p:cNvPr id="3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Julio 2026 · Excel Levantamiento_Mesas_Julio_2026 · Supuesto: $88.000 COP/hora-FTE · Benchmarks: HDI Standard · MetricNet · Gartner Cost per Ticket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ttl"/>
          <p:cNvSpPr txBox="1">
            <a:spLocks noGrp="1"/>
          </p:cNvSpPr>
          <p:nvPr/>
        </p:nvSpPr>
        <p:spPr>
          <a:xfrm>
            <a:off x="320040" y="91440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2200" b="1" dirty="0">
                <a:solidFill>
                  <a:srgbClr val="0D1B5E"/>
                </a:solidFill>
                <a:latin typeface="Calibri"/>
              </a:rPr>
              <a:t>Benchmarks de Industria vs Mesas Actuales PersonalSoft</a:t>
            </a:r>
          </a:p>
        </p:txBody>
      </p:sp>
      <p:sp>
        <p:nvSpPr>
          <p:cNvPr id="4" name="sub"/>
          <p:cNvSpPr txBox="1">
            <a:spLocks noGrp="1"/>
          </p:cNvSpPr>
          <p:nvPr/>
        </p:nvSpPr>
        <p:spPr>
          <a:xfrm>
            <a:off x="320040" y="512064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Promedio industria  ·  World-Class  ·  PS Mesas Actuales  ·  Gen Next Objetivo (N3-N5)  ·  Supuesto: $88.000 COP/hora-FTE · 1 USD = $4.200 COP</a:t>
            </a:r>
          </a:p>
        </p:txBody>
      </p:sp>
      <p:sp>
        <p:nvSpPr>
          <p:cNvPr id="5" name="hl"/>
          <p:cNvSpPr>
            <a:spLocks noGrp="1"/>
          </p:cNvSpPr>
          <p:nvPr/>
        </p:nvSpPr>
        <p:spPr>
          <a:xfrm>
            <a:off x="320040" y="731520"/>
            <a:ext cx="763524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lb"/>
          <p:cNvSpPr>
            <a:spLocks noGrp="1"/>
          </p:cNvSpPr>
          <p:nvPr/>
        </p:nvSpPr>
        <p:spPr>
          <a:xfrm>
            <a:off x="320040" y="786384"/>
            <a:ext cx="128016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" name="lt"/>
          <p:cNvSpPr txBox="1">
            <a:spLocks noGrp="1"/>
          </p:cNvSpPr>
          <p:nvPr/>
        </p:nvSpPr>
        <p:spPr>
          <a:xfrm>
            <a:off x="48463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Industria promedio</a:t>
            </a:r>
          </a:p>
        </p:txBody>
      </p:sp>
      <p:sp>
        <p:nvSpPr>
          <p:cNvPr id="12" name="lb"/>
          <p:cNvSpPr>
            <a:spLocks noGrp="1"/>
          </p:cNvSpPr>
          <p:nvPr/>
        </p:nvSpPr>
        <p:spPr>
          <a:xfrm>
            <a:off x="1874520" y="786384"/>
            <a:ext cx="128016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lt"/>
          <p:cNvSpPr txBox="1">
            <a:spLocks noGrp="1"/>
          </p:cNvSpPr>
          <p:nvPr/>
        </p:nvSpPr>
        <p:spPr>
          <a:xfrm>
            <a:off x="203911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World-Class</a:t>
            </a:r>
          </a:p>
        </p:txBody>
      </p:sp>
      <p:sp>
        <p:nvSpPr>
          <p:cNvPr id="14" name="lb"/>
          <p:cNvSpPr>
            <a:spLocks noGrp="1"/>
          </p:cNvSpPr>
          <p:nvPr/>
        </p:nvSpPr>
        <p:spPr>
          <a:xfrm>
            <a:off x="3429000" y="786384"/>
            <a:ext cx="128016" cy="12801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5" name="lt"/>
          <p:cNvSpPr txBox="1">
            <a:spLocks noGrp="1"/>
          </p:cNvSpPr>
          <p:nvPr/>
        </p:nvSpPr>
        <p:spPr>
          <a:xfrm>
            <a:off x="359359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Gen Next N5</a:t>
            </a:r>
          </a:p>
        </p:txBody>
      </p:sp>
      <p:sp>
        <p:nvSpPr>
          <p:cNvPr id="16" name="lb"/>
          <p:cNvSpPr>
            <a:spLocks noGrp="1"/>
          </p:cNvSpPr>
          <p:nvPr/>
        </p:nvSpPr>
        <p:spPr>
          <a:xfrm>
            <a:off x="4983480" y="786384"/>
            <a:ext cx="128016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7" name="lt"/>
          <p:cNvSpPr txBox="1">
            <a:spLocks noGrp="1"/>
          </p:cNvSpPr>
          <p:nvPr/>
        </p:nvSpPr>
        <p:spPr>
          <a:xfrm>
            <a:off x="514807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Mesas Actuales</a:t>
            </a:r>
          </a:p>
        </p:txBody>
      </p:sp>
      <p:sp>
        <p:nvSpPr>
          <p:cNvPr id="18" name="lb"/>
          <p:cNvSpPr>
            <a:spLocks noGrp="1"/>
          </p:cNvSpPr>
          <p:nvPr/>
        </p:nvSpPr>
        <p:spPr>
          <a:xfrm>
            <a:off x="6537960" y="786384"/>
            <a:ext cx="128016" cy="128016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19" name="lt"/>
          <p:cNvSpPr txBox="1">
            <a:spLocks noGrp="1"/>
          </p:cNvSpPr>
          <p:nvPr/>
        </p:nvSpPr>
        <p:spPr>
          <a:xfrm>
            <a:off x="670255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— Buena referencia</a:t>
            </a:r>
          </a:p>
        </p:txBody>
      </p:sp>
      <p:sp>
        <p:nvSpPr>
          <p:cNvPr id="20" name="fh"/>
          <p:cNvSpPr txBox="1">
            <a:spLocks noGrp="1"/>
          </p:cNvSpPr>
          <p:nvPr/>
        </p:nvSpPr>
        <p:spPr>
          <a:xfrm>
            <a:off x="3200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FCR (First Contact Resolution)</a:t>
            </a:r>
          </a:p>
        </p:txBody>
      </p:sp>
      <p:sp>
        <p:nvSpPr>
          <p:cNvPr id="21" name="tr"/>
          <p:cNvSpPr>
            <a:spLocks noGrp="1"/>
          </p:cNvSpPr>
          <p:nvPr/>
        </p:nvSpPr>
        <p:spPr>
          <a:xfrm>
            <a:off x="320040" y="12618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22" name="fl"/>
          <p:cNvSpPr>
            <a:spLocks noGrp="1"/>
          </p:cNvSpPr>
          <p:nvPr/>
        </p:nvSpPr>
        <p:spPr>
          <a:xfrm>
            <a:off x="320040" y="1261872"/>
            <a:ext cx="1745772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3" name="lb"/>
          <p:cNvSpPr txBox="1">
            <a:spLocks noGrp="1"/>
          </p:cNvSpPr>
          <p:nvPr/>
        </p:nvSpPr>
        <p:spPr>
          <a:xfrm>
            <a:off x="393192" y="1261872"/>
            <a:ext cx="165433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24" name="l1"/>
          <p:cNvSpPr txBox="1">
            <a:spLocks noGrp="1"/>
          </p:cNvSpPr>
          <p:nvPr/>
        </p:nvSpPr>
        <p:spPr>
          <a:xfrm>
            <a:off x="3200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Promedio industria</a:t>
            </a:r>
          </a:p>
        </p:txBody>
      </p:sp>
      <p:sp>
        <p:nvSpPr>
          <p:cNvPr id="25" name="tr"/>
          <p:cNvSpPr>
            <a:spLocks noGrp="1"/>
          </p:cNvSpPr>
          <p:nvPr/>
        </p:nvSpPr>
        <p:spPr>
          <a:xfrm>
            <a:off x="320040" y="17190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26" name="fl"/>
          <p:cNvSpPr>
            <a:spLocks noGrp="1"/>
          </p:cNvSpPr>
          <p:nvPr/>
        </p:nvSpPr>
        <p:spPr>
          <a:xfrm>
            <a:off x="320040" y="1719072"/>
            <a:ext cx="1887321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7" name="lb"/>
          <p:cNvSpPr txBox="1">
            <a:spLocks noGrp="1"/>
          </p:cNvSpPr>
          <p:nvPr/>
        </p:nvSpPr>
        <p:spPr>
          <a:xfrm>
            <a:off x="393192" y="1719072"/>
            <a:ext cx="1795881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80%+</a:t>
            </a:r>
          </a:p>
        </p:txBody>
      </p:sp>
      <p:sp>
        <p:nvSpPr>
          <p:cNvPr id="28" name="l2"/>
          <p:cNvSpPr txBox="1">
            <a:spLocks noGrp="1"/>
          </p:cNvSpPr>
          <p:nvPr/>
        </p:nvSpPr>
        <p:spPr>
          <a:xfrm>
            <a:off x="3200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29" name="tr"/>
          <p:cNvSpPr>
            <a:spLocks noGrp="1"/>
          </p:cNvSpPr>
          <p:nvPr/>
        </p:nvSpPr>
        <p:spPr>
          <a:xfrm>
            <a:off x="320040" y="2176272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30" name="fl"/>
          <p:cNvSpPr>
            <a:spLocks noGrp="1"/>
          </p:cNvSpPr>
          <p:nvPr/>
        </p:nvSpPr>
        <p:spPr>
          <a:xfrm>
            <a:off x="320040" y="2176272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1" name="lb"/>
          <p:cNvSpPr txBox="1">
            <a:spLocks noGrp="1"/>
          </p:cNvSpPr>
          <p:nvPr/>
        </p:nvSpPr>
        <p:spPr>
          <a:xfrm>
            <a:off x="393192" y="2176272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85%+</a:t>
            </a:r>
          </a:p>
        </p:txBody>
      </p:sp>
      <p:sp>
        <p:nvSpPr>
          <p:cNvPr id="32" name="l3"/>
          <p:cNvSpPr txBox="1">
            <a:spLocks noGrp="1"/>
          </p:cNvSpPr>
          <p:nvPr/>
        </p:nvSpPr>
        <p:spPr>
          <a:xfrm>
            <a:off x="3200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Gen Next Objetivo (N5)</a:t>
            </a:r>
          </a:p>
        </p:txBody>
      </p:sp>
      <p:sp>
        <p:nvSpPr>
          <p:cNvPr id="33" name="ps_fcr"/>
          <p:cNvSpPr>
            <a:spLocks noGrp="1"/>
          </p:cNvSpPr>
          <p:nvPr/>
        </p:nvSpPr>
        <p:spPr>
          <a:xfrm>
            <a:off x="320040" y="2633472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34" name="ps_fcrl"/>
          <p:cNvSpPr txBox="1">
            <a:spLocks noGrp="1"/>
          </p:cNvSpPr>
          <p:nvPr/>
        </p:nvSpPr>
        <p:spPr>
          <a:xfrm>
            <a:off x="411480" y="2633472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70" b="1" dirty="0">
                <a:solidFill>
                  <a:srgbClr val="C00000"/>
                </a:solidFill>
                <a:latin typeface="Calibri"/>
              </a:rPr>
              <a:t>PS: No medido — 0 mesas tienen FCR formal</a:t>
            </a:r>
          </a:p>
        </p:txBody>
      </p:sp>
      <p:sp>
        <p:nvSpPr>
          <p:cNvPr id="35" name="med_fcr"/>
          <p:cNvSpPr>
            <a:spLocks noGrp="1"/>
          </p:cNvSpPr>
          <p:nvPr/>
        </p:nvSpPr>
        <p:spPr>
          <a:xfrm>
            <a:off x="320040" y="2926080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36" name="med_fcrl"/>
          <p:cNvSpPr txBox="1">
            <a:spLocks noGrp="1"/>
          </p:cNvSpPr>
          <p:nvPr/>
        </p:nvSpPr>
        <p:spPr>
          <a:xfrm>
            <a:off x="411480" y="2926080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70" b="1" dirty="0">
                <a:solidFill>
                  <a:srgbClr val="1A6B3C"/>
                </a:solidFill>
                <a:latin typeface="Calibri"/>
              </a:rPr>
              <a:t>MEDICARTE: 68% FCR  ·  0.55h MTTR  ·  89% SLA ✓</a:t>
            </a:r>
          </a:p>
        </p:txBody>
      </p:sp>
      <p:sp>
        <p:nvSpPr>
          <p:cNvPr id="40" name="dh"/>
          <p:cNvSpPr txBox="1">
            <a:spLocks noGrp="1"/>
          </p:cNvSpPr>
          <p:nvPr/>
        </p:nvSpPr>
        <p:spPr>
          <a:xfrm>
            <a:off x="320040" y="3255264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Deflection Rate (N0 Autoservicio)</a:t>
            </a:r>
          </a:p>
        </p:txBody>
      </p:sp>
      <p:sp>
        <p:nvSpPr>
          <p:cNvPr id="41" name="tr"/>
          <p:cNvSpPr>
            <a:spLocks noGrp="1"/>
          </p:cNvSpPr>
          <p:nvPr/>
        </p:nvSpPr>
        <p:spPr>
          <a:xfrm>
            <a:off x="320040" y="3529584"/>
            <a:ext cx="2359152" cy="237744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42" name="fl"/>
          <p:cNvSpPr>
            <a:spLocks noGrp="1"/>
          </p:cNvSpPr>
          <p:nvPr/>
        </p:nvSpPr>
        <p:spPr>
          <a:xfrm>
            <a:off x="320040" y="3529584"/>
            <a:ext cx="542604" cy="237744"/>
          </a:xfrm>
          <a:prstGeom prst="rect">
            <a:avLst/>
          </a:prstGeom>
          <a:solidFill>
            <a:srgbClr val="838383"/>
          </a:solidFill>
          <a:ln>
            <a:noFill/>
          </a:ln>
        </p:spPr>
      </p:sp>
      <p:sp>
        <p:nvSpPr>
          <p:cNvPr id="43" name="lb"/>
          <p:cNvSpPr txBox="1">
            <a:spLocks noGrp="1"/>
          </p:cNvSpPr>
          <p:nvPr/>
        </p:nvSpPr>
        <p:spPr>
          <a:xfrm>
            <a:off x="393192" y="3529584"/>
            <a:ext cx="45116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23%  industria</a:t>
            </a:r>
          </a:p>
        </p:txBody>
      </p:sp>
      <p:sp>
        <p:nvSpPr>
          <p:cNvPr id="44" name="tr"/>
          <p:cNvSpPr>
            <a:spLocks noGrp="1"/>
          </p:cNvSpPr>
          <p:nvPr/>
        </p:nvSpPr>
        <p:spPr>
          <a:xfrm>
            <a:off x="320040" y="382219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45" name="fl"/>
          <p:cNvSpPr>
            <a:spLocks noGrp="1"/>
          </p:cNvSpPr>
          <p:nvPr/>
        </p:nvSpPr>
        <p:spPr>
          <a:xfrm>
            <a:off x="320040" y="3822192"/>
            <a:ext cx="1179576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6" name="lb"/>
          <p:cNvSpPr txBox="1">
            <a:spLocks noGrp="1"/>
          </p:cNvSpPr>
          <p:nvPr/>
        </p:nvSpPr>
        <p:spPr>
          <a:xfrm>
            <a:off x="393192" y="382219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50%  maduro</a:t>
            </a:r>
          </a:p>
        </p:txBody>
      </p:sp>
      <p:sp>
        <p:nvSpPr>
          <p:cNvPr id="47" name="tr"/>
          <p:cNvSpPr>
            <a:spLocks noGrp="1"/>
          </p:cNvSpPr>
          <p:nvPr/>
        </p:nvSpPr>
        <p:spPr>
          <a:xfrm>
            <a:off x="320040" y="4114800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48" name="fl"/>
          <p:cNvSpPr>
            <a:spLocks noGrp="1"/>
          </p:cNvSpPr>
          <p:nvPr/>
        </p:nvSpPr>
        <p:spPr>
          <a:xfrm>
            <a:off x="320040" y="4114800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9" name="lb"/>
          <p:cNvSpPr txBox="1">
            <a:spLocks noGrp="1"/>
          </p:cNvSpPr>
          <p:nvPr/>
        </p:nvSpPr>
        <p:spPr>
          <a:xfrm>
            <a:off x="393192" y="4114800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85%+  Gen Next IA agéntica</a:t>
            </a:r>
          </a:p>
        </p:txBody>
      </p:sp>
      <p:sp>
        <p:nvSpPr>
          <p:cNvPr id="50" name="ps_def"/>
          <p:cNvSpPr>
            <a:spLocks noGrp="1"/>
          </p:cNvSpPr>
          <p:nvPr/>
        </p:nvSpPr>
        <p:spPr>
          <a:xfrm>
            <a:off x="320040" y="4407408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51" name="ps_defl"/>
          <p:cNvSpPr txBox="1">
            <a:spLocks noGrp="1"/>
          </p:cNvSpPr>
          <p:nvPr/>
        </p:nvSpPr>
        <p:spPr>
          <a:xfrm>
            <a:off x="411480" y="4407408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70" b="1" dirty="0">
                <a:solidFill>
                  <a:srgbClr val="C00000"/>
                </a:solidFill>
                <a:latin typeface="Calibri"/>
              </a:rPr>
              <a:t>PS: 0% deflexion — ninguna mesa tiene N0</a:t>
            </a:r>
          </a:p>
        </p:txBody>
      </p:sp>
      <p:sp>
        <p:nvSpPr>
          <p:cNvPr id="52" name="defnota"/>
          <p:cNvSpPr txBox="1">
            <a:spLocks noGrp="1"/>
          </p:cNvSpPr>
          <p:nvPr/>
        </p:nvSpPr>
        <p:spPr>
          <a:xfrm>
            <a:off x="320040" y="4700016"/>
            <a:ext cx="235915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Next Gen IA agéntica (casos líderes)</a:t>
            </a:r>
          </a:p>
        </p:txBody>
      </p:sp>
      <p:sp>
        <p:nvSpPr>
          <p:cNvPr id="60" name="mh"/>
          <p:cNvSpPr txBox="1">
            <a:spLocks noGrp="1"/>
          </p:cNvSpPr>
          <p:nvPr/>
        </p:nvSpPr>
        <p:spPr>
          <a:xfrm>
            <a:off x="28346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MTTR (Mean Time to Resolution)</a:t>
            </a:r>
          </a:p>
        </p:txBody>
      </p:sp>
      <p:sp>
        <p:nvSpPr>
          <p:cNvPr id="70" name="tr"/>
          <p:cNvSpPr>
            <a:spLocks noGrp="1"/>
          </p:cNvSpPr>
          <p:nvPr/>
        </p:nvSpPr>
        <p:spPr>
          <a:xfrm>
            <a:off x="2834640" y="1261872"/>
            <a:ext cx="2359152" cy="237744"/>
          </a:xfrm>
          <a:prstGeom prst="rect">
            <a:avLst/>
          </a:prstGeom>
          <a:solidFill>
            <a:srgbClr val="F5E6E0"/>
          </a:solidFill>
          <a:ln>
            <a:noFill/>
          </a:ln>
        </p:spPr>
      </p:sp>
      <p:sp>
        <p:nvSpPr>
          <p:cNvPr id="71" name="fl"/>
          <p:cNvSpPr>
            <a:spLocks noGrp="1"/>
          </p:cNvSpPr>
          <p:nvPr/>
        </p:nvSpPr>
        <p:spPr>
          <a:xfrm>
            <a:off x="2834640" y="1261872"/>
            <a:ext cx="695949" cy="237744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72" name="lb"/>
          <p:cNvSpPr txBox="1">
            <a:spLocks noGrp="1"/>
          </p:cNvSpPr>
          <p:nvPr/>
        </p:nvSpPr>
        <p:spPr>
          <a:xfrm>
            <a:off x="2907792" y="1261872"/>
            <a:ext cx="60450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8.85h  Bueno (promedio industria)</a:t>
            </a:r>
          </a:p>
        </p:txBody>
      </p:sp>
      <p:sp>
        <p:nvSpPr>
          <p:cNvPr id="73" name="ms"/>
          <p:cNvSpPr txBox="1">
            <a:spLocks noGrp="1"/>
          </p:cNvSpPr>
          <p:nvPr/>
        </p:nvSpPr>
        <p:spPr>
          <a:xfrm>
            <a:off x="28346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Bueno / Promedio</a:t>
            </a:r>
          </a:p>
        </p:txBody>
      </p:sp>
      <p:sp>
        <p:nvSpPr>
          <p:cNvPr id="75" name="tr"/>
          <p:cNvSpPr>
            <a:spLocks noGrp="1"/>
          </p:cNvSpPr>
          <p:nvPr/>
        </p:nvSpPr>
        <p:spPr>
          <a:xfrm>
            <a:off x="2834640" y="17190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76" name="fl"/>
          <p:cNvSpPr>
            <a:spLocks noGrp="1"/>
          </p:cNvSpPr>
          <p:nvPr/>
        </p:nvSpPr>
        <p:spPr>
          <a:xfrm>
            <a:off x="2834640" y="1719072"/>
            <a:ext cx="314553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7" name="lb"/>
          <p:cNvSpPr txBox="1">
            <a:spLocks noGrp="1"/>
          </p:cNvSpPr>
          <p:nvPr/>
        </p:nvSpPr>
        <p:spPr>
          <a:xfrm>
            <a:off x="2907792" y="1719072"/>
            <a:ext cx="223113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menor 4h  World-Class</a:t>
            </a:r>
          </a:p>
        </p:txBody>
      </p:sp>
      <p:sp>
        <p:nvSpPr>
          <p:cNvPr id="78" name="ms"/>
          <p:cNvSpPr txBox="1">
            <a:spLocks noGrp="1"/>
          </p:cNvSpPr>
          <p:nvPr/>
        </p:nvSpPr>
        <p:spPr>
          <a:xfrm>
            <a:off x="28346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80" name="tr"/>
          <p:cNvSpPr>
            <a:spLocks noGrp="1"/>
          </p:cNvSpPr>
          <p:nvPr/>
        </p:nvSpPr>
        <p:spPr>
          <a:xfrm>
            <a:off x="2834640" y="21762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81" name="fl"/>
          <p:cNvSpPr>
            <a:spLocks noGrp="1"/>
          </p:cNvSpPr>
          <p:nvPr/>
        </p:nvSpPr>
        <p:spPr>
          <a:xfrm>
            <a:off x="2834640" y="2176272"/>
            <a:ext cx="78638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2" name="lb"/>
          <p:cNvSpPr txBox="1">
            <a:spLocks noGrp="1"/>
          </p:cNvSpPr>
          <p:nvPr/>
        </p:nvSpPr>
        <p:spPr>
          <a:xfrm>
            <a:off x="2907792" y="217627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menor 1h  Gen Next (N5)</a:t>
            </a:r>
          </a:p>
        </p:txBody>
      </p:sp>
      <p:sp>
        <p:nvSpPr>
          <p:cNvPr id="83" name="ms"/>
          <p:cNvSpPr txBox="1">
            <a:spLocks noGrp="1"/>
          </p:cNvSpPr>
          <p:nvPr/>
        </p:nvSpPr>
        <p:spPr>
          <a:xfrm>
            <a:off x="28346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Gen Next N5</a:t>
            </a:r>
          </a:p>
        </p:txBody>
      </p:sp>
      <p:sp>
        <p:nvSpPr>
          <p:cNvPr id="85" name="pb"/>
          <p:cNvSpPr>
            <a:spLocks noGrp="1"/>
          </p:cNvSpPr>
          <p:nvPr/>
        </p:nvSpPr>
        <p:spPr>
          <a:xfrm>
            <a:off x="2834640" y="2688336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86" name="pf"/>
          <p:cNvSpPr>
            <a:spLocks noGrp="1"/>
          </p:cNvSpPr>
          <p:nvPr/>
        </p:nvSpPr>
        <p:spPr>
          <a:xfrm>
            <a:off x="2834640" y="2688336"/>
            <a:ext cx="234342" cy="237744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87" name="pl"/>
          <p:cNvSpPr txBox="1">
            <a:spLocks noGrp="1"/>
          </p:cNvSpPr>
          <p:nvPr/>
        </p:nvSpPr>
        <p:spPr>
          <a:xfrm>
            <a:off x="2889504" y="268833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b="1" dirty="0">
                <a:solidFill>
                  <a:srgbClr val="1A6B3C"/>
                </a:solidFill>
                <a:latin typeface="Calibri"/>
              </a:rPr>
              <a:t>SURA Automatizacion: 2.98h ✓</a:t>
            </a:r>
          </a:p>
        </p:txBody>
      </p:sp>
      <p:sp>
        <p:nvSpPr>
          <p:cNvPr id="89" name="pb"/>
          <p:cNvSpPr>
            <a:spLocks noGrp="1"/>
          </p:cNvSpPr>
          <p:nvPr/>
        </p:nvSpPr>
        <p:spPr>
          <a:xfrm>
            <a:off x="2834640" y="3090672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0" name="pf"/>
          <p:cNvSpPr>
            <a:spLocks noGrp="1"/>
          </p:cNvSpPr>
          <p:nvPr/>
        </p:nvSpPr>
        <p:spPr>
          <a:xfrm>
            <a:off x="2834640" y="3090672"/>
            <a:ext cx="973543" cy="237744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91" name="pl"/>
          <p:cNvSpPr txBox="1">
            <a:spLocks noGrp="1"/>
          </p:cNvSpPr>
          <p:nvPr/>
        </p:nvSpPr>
        <p:spPr>
          <a:xfrm>
            <a:off x="2889504" y="3090672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Venta Digital: 12.38h</a:t>
            </a:r>
          </a:p>
        </p:txBody>
      </p:sp>
      <p:sp>
        <p:nvSpPr>
          <p:cNvPr id="93" name="pb"/>
          <p:cNvSpPr>
            <a:spLocks noGrp="1"/>
          </p:cNvSpPr>
          <p:nvPr/>
        </p:nvSpPr>
        <p:spPr>
          <a:xfrm>
            <a:off x="2834640" y="3493008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4" name="pf"/>
          <p:cNvSpPr>
            <a:spLocks noGrp="1"/>
          </p:cNvSpPr>
          <p:nvPr/>
        </p:nvSpPr>
        <p:spPr>
          <a:xfrm>
            <a:off x="2834640" y="3493008"/>
            <a:ext cx="1409200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5" name="pl"/>
          <p:cNvSpPr txBox="1">
            <a:spLocks noGrp="1"/>
          </p:cNvSpPr>
          <p:nvPr/>
        </p:nvSpPr>
        <p:spPr>
          <a:xfrm>
            <a:off x="2889504" y="3493008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Canales Masivos: 17.92h ⚠</a:t>
            </a:r>
          </a:p>
        </p:txBody>
      </p:sp>
      <p:sp>
        <p:nvSpPr>
          <p:cNvPr id="97" name="pb"/>
          <p:cNvSpPr>
            <a:spLocks noGrp="1"/>
          </p:cNvSpPr>
          <p:nvPr/>
        </p:nvSpPr>
        <p:spPr>
          <a:xfrm>
            <a:off x="2834640" y="389534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8" name="pf"/>
          <p:cNvSpPr>
            <a:spLocks noGrp="1"/>
          </p:cNvSpPr>
          <p:nvPr/>
        </p:nvSpPr>
        <p:spPr>
          <a:xfrm>
            <a:off x="2834640" y="3895344"/>
            <a:ext cx="1932931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9" name="pl"/>
          <p:cNvSpPr txBox="1">
            <a:spLocks noGrp="1"/>
          </p:cNvSpPr>
          <p:nvPr/>
        </p:nvSpPr>
        <p:spPr>
          <a:xfrm>
            <a:off x="2889504" y="3895344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Cotizadores: 24.58h 🔴</a:t>
            </a:r>
          </a:p>
        </p:txBody>
      </p:sp>
      <p:sp>
        <p:nvSpPr>
          <p:cNvPr id="100" name="gih"/>
          <p:cNvSpPr txBox="1">
            <a:spLocks noGrp="1"/>
          </p:cNvSpPr>
          <p:nvPr/>
        </p:nvSpPr>
        <p:spPr>
          <a:xfrm>
            <a:off x="2834640" y="4389120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Impacto GenAI en Metricas</a:t>
            </a:r>
          </a:p>
        </p:txBody>
      </p:sp>
      <p:sp>
        <p:nvSpPr>
          <p:cNvPr id="105" name="gr"/>
          <p:cNvSpPr>
            <a:spLocks noGrp="1"/>
          </p:cNvSpPr>
          <p:nvPr/>
        </p:nvSpPr>
        <p:spPr>
          <a:xfrm>
            <a:off x="2834640" y="4663440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06" name="gm"/>
          <p:cNvSpPr txBox="1">
            <a:spLocks noGrp="1"/>
          </p:cNvSpPr>
          <p:nvPr/>
        </p:nvSpPr>
        <p:spPr>
          <a:xfrm>
            <a:off x="2889504" y="4663440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↓ MTTR</a:t>
            </a:r>
          </a:p>
        </p:txBody>
      </p:sp>
      <p:sp>
        <p:nvSpPr>
          <p:cNvPr id="107" name="gv"/>
          <p:cNvSpPr txBox="1">
            <a:spLocks noGrp="1"/>
          </p:cNvSpPr>
          <p:nvPr/>
        </p:nvSpPr>
        <p:spPr>
          <a:xfrm>
            <a:off x="4187952" y="4663440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940" b="1" dirty="0">
                <a:solidFill>
                  <a:srgbClr val="C00000"/>
                </a:solidFill>
                <a:latin typeface="Calibri"/>
              </a:rPr>
              <a:t>-26.6%</a:t>
            </a:r>
          </a:p>
        </p:txBody>
      </p:sp>
      <p:sp>
        <p:nvSpPr>
          <p:cNvPr id="108" name="gr"/>
          <p:cNvSpPr>
            <a:spLocks noGrp="1"/>
          </p:cNvSpPr>
          <p:nvPr/>
        </p:nvSpPr>
        <p:spPr>
          <a:xfrm>
            <a:off x="2834640" y="4919472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9" name="gm"/>
          <p:cNvSpPr txBox="1">
            <a:spLocks noGrp="1"/>
          </p:cNvSpPr>
          <p:nvPr/>
        </p:nvSpPr>
        <p:spPr>
          <a:xfrm>
            <a:off x="2889504" y="491947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Resolucion</a:t>
            </a:r>
          </a:p>
        </p:txBody>
      </p:sp>
      <p:sp>
        <p:nvSpPr>
          <p:cNvPr id="110" name="gv"/>
          <p:cNvSpPr txBox="1">
            <a:spLocks noGrp="1"/>
          </p:cNvSpPr>
          <p:nvPr/>
        </p:nvSpPr>
        <p:spPr>
          <a:xfrm>
            <a:off x="4187952" y="4919472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+34.6%</a:t>
            </a:r>
          </a:p>
        </p:txBody>
      </p:sp>
      <p:sp>
        <p:nvSpPr>
          <p:cNvPr id="111" name="gr"/>
          <p:cNvSpPr>
            <a:spLocks noGrp="1"/>
          </p:cNvSpPr>
          <p:nvPr/>
        </p:nvSpPr>
        <p:spPr>
          <a:xfrm>
            <a:off x="2834640" y="517550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12" name="gm"/>
          <p:cNvSpPr txBox="1">
            <a:spLocks noGrp="1"/>
          </p:cNvSpPr>
          <p:nvPr/>
        </p:nvSpPr>
        <p:spPr>
          <a:xfrm>
            <a:off x="2889504" y="517550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CSAT c/espera</a:t>
            </a:r>
          </a:p>
        </p:txBody>
      </p:sp>
      <p:sp>
        <p:nvSpPr>
          <p:cNvPr id="113" name="gv"/>
          <p:cNvSpPr txBox="1">
            <a:spLocks noGrp="1"/>
          </p:cNvSpPr>
          <p:nvPr/>
        </p:nvSpPr>
        <p:spPr>
          <a:xfrm>
            <a:off x="4187952" y="5175504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+15-22 pts</a:t>
            </a:r>
          </a:p>
        </p:txBody>
      </p:sp>
      <p:sp>
        <p:nvSpPr>
          <p:cNvPr id="114" name="gr"/>
          <p:cNvSpPr>
            <a:spLocks noGrp="1"/>
          </p:cNvSpPr>
          <p:nvPr/>
        </p:nvSpPr>
        <p:spPr>
          <a:xfrm>
            <a:off x="2834640" y="5431536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15" name="gm"/>
          <p:cNvSpPr txBox="1">
            <a:spLocks noGrp="1"/>
          </p:cNvSpPr>
          <p:nvPr/>
        </p:nvSpPr>
        <p:spPr>
          <a:xfrm>
            <a:off x="2889504" y="543153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FCR con KCS+IA</a:t>
            </a:r>
          </a:p>
        </p:txBody>
      </p:sp>
      <p:sp>
        <p:nvSpPr>
          <p:cNvPr id="116" name="gv"/>
          <p:cNvSpPr txBox="1">
            <a:spLocks noGrp="1"/>
          </p:cNvSpPr>
          <p:nvPr/>
        </p:nvSpPr>
        <p:spPr>
          <a:xfrm>
            <a:off x="4187952" y="5431536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5-7 pts</a:t>
            </a:r>
          </a:p>
        </p:txBody>
      </p:sp>
      <p:sp>
        <p:nvSpPr>
          <p:cNvPr id="120" name="ch"/>
          <p:cNvSpPr txBox="1">
            <a:spLocks noGrp="1"/>
          </p:cNvSpPr>
          <p:nvPr/>
        </p:nvSpPr>
        <p:spPr>
          <a:xfrm>
            <a:off x="5358384" y="96926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Costo por Ticket (USD)</a:t>
            </a:r>
          </a:p>
        </p:txBody>
      </p:sp>
      <p:sp>
        <p:nvSpPr>
          <p:cNvPr id="130" name="fl"/>
          <p:cNvSpPr>
            <a:spLocks noGrp="1"/>
          </p:cNvSpPr>
          <p:nvPr/>
        </p:nvSpPr>
        <p:spPr>
          <a:xfrm>
            <a:off x="5358384" y="1261872"/>
            <a:ext cx="33410" cy="219456"/>
          </a:xfrm>
          <a:prstGeom prst="rect">
            <a:avLst/>
          </a:prstGeom>
          <a:solidFill>
            <a:srgbClr val="2A6B3C"/>
          </a:solidFill>
          <a:ln>
            <a:noFill/>
          </a:ln>
        </p:spPr>
      </p:sp>
      <p:sp>
        <p:nvSpPr>
          <p:cNvPr id="131" name="cl"/>
          <p:cNvSpPr txBox="1">
            <a:spLocks noGrp="1"/>
          </p:cNvSpPr>
          <p:nvPr/>
        </p:nvSpPr>
        <p:spPr>
          <a:xfrm>
            <a:off x="5413248" y="12618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N0: $2</a:t>
            </a:r>
          </a:p>
        </p:txBody>
      </p:sp>
      <p:sp>
        <p:nvSpPr>
          <p:cNvPr id="132" name="cd"/>
          <p:cNvSpPr txBox="1">
            <a:spLocks noGrp="1"/>
          </p:cNvSpPr>
          <p:nvPr/>
        </p:nvSpPr>
        <p:spPr>
          <a:xfrm>
            <a:off x="5483234" y="1261872"/>
            <a:ext cx="251776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Autoservicio</a:t>
            </a:r>
          </a:p>
        </p:txBody>
      </p:sp>
      <p:sp>
        <p:nvSpPr>
          <p:cNvPr id="134" name="fl"/>
          <p:cNvSpPr>
            <a:spLocks noGrp="1"/>
          </p:cNvSpPr>
          <p:nvPr/>
        </p:nvSpPr>
        <p:spPr>
          <a:xfrm>
            <a:off x="5358384" y="1609344"/>
            <a:ext cx="46775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35" name="cl"/>
          <p:cNvSpPr txBox="1">
            <a:spLocks noGrp="1"/>
          </p:cNvSpPr>
          <p:nvPr/>
        </p:nvSpPr>
        <p:spPr>
          <a:xfrm>
            <a:off x="5413248" y="1609344"/>
            <a:ext cx="39459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N1: $22-35</a:t>
            </a:r>
          </a:p>
        </p:txBody>
      </p:sp>
      <p:sp>
        <p:nvSpPr>
          <p:cNvPr id="136" name="cd"/>
          <p:cNvSpPr txBox="1">
            <a:spLocks noGrp="1"/>
          </p:cNvSpPr>
          <p:nvPr/>
        </p:nvSpPr>
        <p:spPr>
          <a:xfrm>
            <a:off x="5917574" y="1609344"/>
            <a:ext cx="208342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1er contacto</a:t>
            </a:r>
          </a:p>
        </p:txBody>
      </p:sp>
      <p:sp>
        <p:nvSpPr>
          <p:cNvPr id="138" name="fl"/>
          <p:cNvSpPr>
            <a:spLocks noGrp="1"/>
          </p:cNvSpPr>
          <p:nvPr/>
        </p:nvSpPr>
        <p:spPr>
          <a:xfrm>
            <a:off x="5358384" y="1956816"/>
            <a:ext cx="1152671" cy="21945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9" name="cl"/>
          <p:cNvSpPr txBox="1">
            <a:spLocks noGrp="1"/>
          </p:cNvSpPr>
          <p:nvPr/>
        </p:nvSpPr>
        <p:spPr>
          <a:xfrm>
            <a:off x="5413248" y="1956816"/>
            <a:ext cx="107951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N2: $69</a:t>
            </a:r>
          </a:p>
        </p:txBody>
      </p:sp>
      <p:sp>
        <p:nvSpPr>
          <p:cNvPr id="140" name="cd"/>
          <p:cNvSpPr txBox="1">
            <a:spLocks noGrp="1"/>
          </p:cNvSpPr>
          <p:nvPr/>
        </p:nvSpPr>
        <p:spPr>
          <a:xfrm>
            <a:off x="6602495" y="1956816"/>
            <a:ext cx="139850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Tecnico</a:t>
            </a:r>
          </a:p>
        </p:txBody>
      </p:sp>
      <p:sp>
        <p:nvSpPr>
          <p:cNvPr id="142" name="fl"/>
          <p:cNvSpPr>
            <a:spLocks noGrp="1"/>
          </p:cNvSpPr>
          <p:nvPr/>
        </p:nvSpPr>
        <p:spPr>
          <a:xfrm>
            <a:off x="5358384" y="2304288"/>
            <a:ext cx="1737360" cy="219456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143" name="cl"/>
          <p:cNvSpPr txBox="1">
            <a:spLocks noGrp="1"/>
          </p:cNvSpPr>
          <p:nvPr/>
        </p:nvSpPr>
        <p:spPr>
          <a:xfrm>
            <a:off x="5413248" y="2304288"/>
            <a:ext cx="16642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N3: $104</a:t>
            </a:r>
          </a:p>
        </p:txBody>
      </p:sp>
      <p:sp>
        <p:nvSpPr>
          <p:cNvPr id="144" name="cd"/>
          <p:cNvSpPr txBox="1">
            <a:spLocks noGrp="1"/>
          </p:cNvSpPr>
          <p:nvPr/>
        </p:nvSpPr>
        <p:spPr>
          <a:xfrm>
            <a:off x="7187184" y="2304288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Arquitecto</a:t>
            </a:r>
          </a:p>
        </p:txBody>
      </p:sp>
      <p:sp>
        <p:nvSpPr>
          <p:cNvPr id="146" name="slbg"/>
          <p:cNvSpPr>
            <a:spLocks noGrp="1"/>
          </p:cNvSpPr>
          <p:nvPr/>
        </p:nvSpPr>
        <p:spPr>
          <a:xfrm>
            <a:off x="5358384" y="2651760"/>
            <a:ext cx="2596896" cy="292608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147" name="slt"/>
          <p:cNvSpPr txBox="1">
            <a:spLocks noGrp="1"/>
          </p:cNvSpPr>
          <p:nvPr/>
        </p:nvSpPr>
        <p:spPr>
          <a:xfrm>
            <a:off x="5449824" y="265176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↓ Shift-Left: cada punto de deflexion = ahorro $22-102</a:t>
            </a:r>
          </a:p>
        </p:txBody>
      </p:sp>
      <p:sp>
        <p:nvSpPr>
          <p:cNvPr id="148" name="psbg"/>
          <p:cNvSpPr>
            <a:spLocks noGrp="1"/>
          </p:cNvSpPr>
          <p:nvPr/>
        </p:nvSpPr>
        <p:spPr>
          <a:xfrm>
            <a:off x="5358384" y="2999232"/>
            <a:ext cx="2596896" cy="58521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149" name="psh"/>
          <p:cNvSpPr txBox="1">
            <a:spLocks noGrp="1"/>
          </p:cNvSpPr>
          <p:nvPr/>
        </p:nvSpPr>
        <p:spPr>
          <a:xfrm>
            <a:off x="5449824" y="3017520"/>
            <a:ext cx="24140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PS Mesas Actuales — Costo/ticket calculado</a:t>
            </a:r>
          </a:p>
        </p:txBody>
      </p:sp>
      <p:sp>
        <p:nvSpPr>
          <p:cNvPr id="150" name="psr"/>
          <p:cNvSpPr txBox="1">
            <a:spLocks noGrp="1"/>
          </p:cNvSpPr>
          <p:nvPr/>
        </p:nvSpPr>
        <p:spPr>
          <a:xfrm>
            <a:off x="5449824" y="3218688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Cotizadores: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$40  vs $35 ind. +$5</a:t>
            </a:r>
          </a:p>
        </p:txBody>
      </p:sp>
      <p:sp>
        <p:nvSpPr>
          <p:cNvPr id="151" name="psr"/>
          <p:cNvSpPr txBox="1">
            <a:spLocks noGrp="1"/>
          </p:cNvSpPr>
          <p:nvPr/>
        </p:nvSpPr>
        <p:spPr>
          <a:xfrm>
            <a:off x="5449824" y="3346704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Automatizacion: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$39  vs $35 ind. +$4</a:t>
            </a:r>
          </a:p>
        </p:txBody>
      </p:sp>
      <p:sp>
        <p:nvSpPr>
          <p:cNvPr id="152" name="psr"/>
          <p:cNvSpPr txBox="1">
            <a:spLocks noGrp="1"/>
          </p:cNvSpPr>
          <p:nvPr/>
        </p:nvSpPr>
        <p:spPr>
          <a:xfrm>
            <a:off x="5449824" y="3474720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XM Apps Criticas: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$149  4 FTE / 90 tix/mes ⚠</a:t>
            </a:r>
          </a:p>
        </p:txBody>
      </p:sp>
      <p:sp>
        <p:nvSpPr>
          <p:cNvPr id="155" name="csath"/>
          <p:cNvSpPr txBox="1">
            <a:spLocks noGrp="1"/>
          </p:cNvSpPr>
          <p:nvPr/>
        </p:nvSpPr>
        <p:spPr>
          <a:xfrm>
            <a:off x="5358384" y="3657600"/>
            <a:ext cx="259689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0D1B5E"/>
                </a:solidFill>
                <a:latin typeface="Calibri"/>
              </a:rPr>
              <a:t>CSAT Objetivo</a:t>
            </a:r>
          </a:p>
        </p:txBody>
      </p:sp>
      <p:sp>
        <p:nvSpPr>
          <p:cNvPr id="156" name="dout"/>
          <p:cNvSpPr>
            <a:spLocks noGrp="1"/>
          </p:cNvSpPr>
          <p:nvPr/>
        </p:nvSpPr>
        <p:spPr>
          <a:xfrm>
            <a:off x="5815584" y="3931920"/>
            <a:ext cx="1280160" cy="128016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44450">
            <a:solidFill>
              <a:srgbClr val="1B7B85"/>
            </a:solidFill>
          </a:ln>
        </p:spPr>
      </p:sp>
      <p:sp>
        <p:nvSpPr>
          <p:cNvPr id="157" name="din"/>
          <p:cNvSpPr>
            <a:spLocks noGrp="1"/>
          </p:cNvSpPr>
          <p:nvPr/>
        </p:nvSpPr>
        <p:spPr>
          <a:xfrm>
            <a:off x="6035040" y="4151376"/>
            <a:ext cx="841248" cy="841248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8" name="dn"/>
          <p:cNvSpPr txBox="1">
            <a:spLocks noGrp="1"/>
          </p:cNvSpPr>
          <p:nvPr/>
        </p:nvSpPr>
        <p:spPr>
          <a:xfrm>
            <a:off x="5815584" y="416966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600" b="1" dirty="0">
                <a:solidFill>
                  <a:srgbClr val="0D1B5E"/>
                </a:solidFill>
                <a:latin typeface="Calibri"/>
              </a:rPr>
              <a:t>73-86%</a:t>
            </a:r>
          </a:p>
        </p:txBody>
      </p:sp>
      <p:sp>
        <p:nvSpPr>
          <p:cNvPr id="159" name="dl"/>
          <p:cNvSpPr txBox="1">
            <a:spLocks noGrp="1"/>
          </p:cNvSpPr>
          <p:nvPr/>
        </p:nvSpPr>
        <p:spPr>
          <a:xfrm>
            <a:off x="5815584" y="462686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dirty="0">
                <a:solidFill>
                  <a:srgbClr val="6B7280"/>
                </a:solidFill>
                <a:latin typeface="Calibri"/>
              </a:rPr>
              <a:t>industria</a:t>
            </a:r>
          </a:p>
        </p:txBody>
      </p:sp>
      <p:sp>
        <p:nvSpPr>
          <p:cNvPr id="160" name="dn5"/>
          <p:cNvSpPr txBox="1">
            <a:spLocks noGrp="1"/>
          </p:cNvSpPr>
          <p:nvPr/>
        </p:nvSpPr>
        <p:spPr>
          <a:xfrm>
            <a:off x="5815584" y="480974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B45309"/>
                </a:solidFill>
                <a:latin typeface="Calibri"/>
              </a:rPr>
              <a:t>≥92% N5</a:t>
            </a:r>
          </a:p>
        </p:txBody>
      </p:sp>
      <p:sp>
        <p:nvSpPr>
          <p:cNvPr id="161" name="ps_cs"/>
          <p:cNvSpPr>
            <a:spLocks noGrp="1"/>
          </p:cNvSpPr>
          <p:nvPr/>
        </p:nvSpPr>
        <p:spPr>
          <a:xfrm>
            <a:off x="7223760" y="3931920"/>
            <a:ext cx="676656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162" name="ps_cst"/>
          <p:cNvSpPr txBox="1">
            <a:spLocks noGrp="1"/>
          </p:cNvSpPr>
          <p:nvPr/>
        </p:nvSpPr>
        <p:spPr>
          <a:xfrm>
            <a:off x="7278624" y="40965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PS: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Sin CSAT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formal</a:t>
            </a:r>
          </a:p>
        </p:txBody>
      </p:sp>
      <p:sp>
        <p:nvSpPr>
          <p:cNvPr id="180" name="src"/>
          <p:cNvSpPr txBox="1">
            <a:spLocks noGrp="1"/>
          </p:cNvSpPr>
          <p:nvPr/>
        </p:nvSpPr>
        <p:spPr>
          <a:xfrm>
            <a:off x="320040" y="437083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b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2"/>
              </a:rPr>
              <a:t>SQM Group FCR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3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4"/>
              </a:rPr>
              <a:t>MetricNet/HDI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5"/>
              </a:rPr>
              <a:t>HelpDeskFocus / IrisAgent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6"/>
              </a:rPr>
              <a:t>Freshservice Benchmark 2024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7"/>
              </a:rPr>
              <a:t>HDI metrics / Giva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5"/>
              </a:rPr>
              <a:t>Kwestra servicedesk KPIs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8"/>
              </a:rPr>
              <a:t>InvGate ITSM Statistics</a:t>
            </a:r>
          </a:p>
        </p:txBody>
      </p:sp>
      <p:sp>
        <p:nvSpPr>
          <p:cNvPr id="181" name="srclev"/>
          <p:cNvSpPr txBox="1">
            <a:spLocks noGrp="1"/>
          </p:cNvSpPr>
          <p:nvPr/>
        </p:nvSpPr>
        <p:spPr>
          <a:xfrm>
            <a:off x="320040" y="4535424"/>
            <a:ext cx="7772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Datos PS: Levantamiento interno PersonalSoft · Excel Levantamiento_Mesas_Julio_2026 · Transcripts reuniones: Elsy Marin (SURA), Michael Arevalo (AES), Diego Serna (XM), Virginia &amp; Lina (BCO), Bancolombia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Metodologia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MEDICARTE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MEDI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68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660" b="1" dirty="0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b="1" dirty="0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 dirty="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✓  MEDICARTE — Mejor desempeño: </a:t>
            </a:r>
            <a:r>
              <a:rPr lang="es-ES" sz="840" dirty="0">
                <a:solidFill>
                  <a:srgbClr val="1A6B3C"/>
                </a:solidFill>
                <a:latin typeface="Calibri"/>
              </a:rPr>
              <a:t>FCR 68% · MTTR 0.55h · SLA 89% · 8% autoservicio N0. Unica mesa con metricas formales. Referencia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Transcripts: Elsy Marin (SURA), Michael Arevalo (AES), Diego Serna (XM), Virginia &amp; Lina (BCO), Bancolombia · Benchmarks: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2779</Words>
  <Application>Microsoft Office PowerPoint</Application>
  <PresentationFormat>Presentación en pantalla (16:9)</PresentationFormat>
  <Paragraphs>661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Calibri</vt:lpstr>
      <vt:lpstr>Reddit Sans Light</vt:lpstr>
      <vt:lpstr>Reddit Sans SemiBold</vt:lpstr>
      <vt:lpstr>Reddit Sans Black</vt:lpstr>
      <vt:lpstr>Arial</vt:lpstr>
      <vt:lpstr>Reddit Sans</vt:lpstr>
      <vt:lpstr>Simple Light</vt:lpstr>
      <vt:lpstr>Simple Light</vt:lpstr>
      <vt:lpstr>Mesas de Servicio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1365</cp:revision>
  <dcterms:modified xsi:type="dcterms:W3CDTF">2026-07-12T15:07:22Z</dcterms:modified>
</cp:coreProperties>
</file>